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college needs a synthetic poster image while respecting consent and image rights. The visible slide states: The consent-safe poster</a:t>
            </a:r>
          </a:p>
          <a:p/>
          <a:p>
            <a:r>
              <a:t>A team requests a synthetic poster. The output looks vivid but may show a recognisable person. How do generation and review interact? Reveal that the case will be revisited after four short concept cycles.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college needs a synthetic poster image while respecting consent and image rights. The visible slide states: A team requests a synthetic poster. The output looks vivid but may show a recognisable person. How do generation and review interact?</a:t>
            </a:r>
          </a:p>
          <a:p/>
          <a:p>
            <a:r>
              <a:t>Choose an initial answer and name one piece of evidence you need. Accept reasonable uncertainty; record the initial votes to revisit at the end.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college needs a synthetic poster image while respecting consent and image rights. The visible slide states: We will predict, connect an analogy, trace a mechanism, work an example, then explain a decision. Point to the four named ideas, then show where the notebook experiment fits.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college needs a synthetic poster image while respecting consent and image rights. The visible slide states: Which direction is used while preparing training pairs?</a:t>
            </a:r>
          </a:p>
          <a:p/>
          <a:p>
            <a:r>
              <a:t>Make a choice before we explain the diagram. The intended answer is Forward: progressively add noise to a clean example. The tempting claim is The model learns by removing noise before any noise is added. Do not show which card is correct until the reveal.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college needs a synthetic poster image while respecting consent and image rights. The visible slide states: A photograph becomes harder to see as fog builds in small steps.</a:t>
            </a:r>
          </a:p>
          <a:p/>
          <a:p>
            <a:r>
              <a:t>What matches our case, and where does the analogy stop? The boundary is: Noise is mathematically sampled; real fog is not the model’s training process.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college needs a synthetic poster image while respecting consent and image rights. The visible slide states: Match each everyday part to the technical part.</a:t>
            </a:r>
          </a:p>
          <a:p/>
          <a:p>
            <a:r>
              <a:t>Analogy limit: Noise is mathematically sampled; real fog is not the model’s training process. The three precise mappings are [['Clear image', 'training example'], ['Added fog', 'forward noise'], ['Fog level', 'time step']].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college needs a synthetic poster image while respecting consent and image rights. The visible slide states: In a common training setup, progressively add noise to a clean image.</a:t>
            </a:r>
          </a:p>
          <a:p/>
          <a:p>
            <a:r>
              <a:t>Trace the arrows from left to right. The weekly example is: At low noise the L-shaped grid remains visible; at high noise most cells are obscured. State what the analogy does not explain: Noise is mathematically sampled; real fog is not the model’s training process.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college needs a synthetic poster image while respecting consent and image rights. The visible slide states: At low noise the L-shaped grid remains visible; at high noise most cells are obscured.</a:t>
            </a:r>
          </a:p>
          <a:p/>
          <a:p>
            <a:r>
              <a:t>Point to the evidence before giving your conclusion. The expected reasoning concludes: Forward: progressively add noise to a clean example. Distinguish measured results from illustrative numbers.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college needs a synthetic poster image while respecting consent and image rights. The visible slide states: Forward: progressively add noise to a clean example.</a:t>
            </a:r>
          </a:p>
          <a:p/>
          <a:p>
            <a:r>
              <a:t>Tempting mistake: The model learns by removing noise before any noise is added. The earlier question was Which direction is used while preparing training pairs? Ask how this differs from the wrong claim.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college needs a synthetic poster image while respecting consent and image rights. The visible slide states: What extra information makes the toy restoration easier?</a:t>
            </a:r>
          </a:p>
          <a:p/>
          <a:p>
            <a:r>
              <a:t>Make a choice before we explain the diagram. The intended answer is It has access to the original clean grid. The tempting claim is The toy denoiser proves real model image quality. Do not show which card is correct until the reveal.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college needs a synthetic poster image while respecting consent and image rights. The visible slide states: A restorer removes a little fog at a time after learning from many examples.</a:t>
            </a:r>
          </a:p>
          <a:p/>
          <a:p>
            <a:r>
              <a:t>What matches our case, and where does the analogy stop? The boundary is: A real model does not secretly have the exact clean target at generation time.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college needs a synthetic poster image while respecting consent and image rights. The visible slide states: Match each everyday part to the technical part.</a:t>
            </a:r>
          </a:p>
          <a:p/>
          <a:p>
            <a:r>
              <a:t>Analogy limit: A real model does not secretly have the exact clean target at generation time. The three precise mappings are [['Cloudy view', 'noisy sample'], ['Estimated fog', 'model prediction'], ['Clearer view', 'next step']].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college needs a synthetic poster image while respecting consent and image rights. The visible slide states: A learned model estimates how to remove noise at each step; the course simulation uses the known clean target.</a:t>
            </a:r>
          </a:p>
          <a:p/>
          <a:p>
            <a:r>
              <a:t>Trace the arrows from left to right. The weekly example is: The prepared notebook’s toy restorer uses a clean target to illustrate steps; label that shortcut. State what the analogy does not explain: A real model does not secretly have the exact clean target at generation time.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college needs a synthetic poster image while respecting consent and image rights. The visible slide states: The prepared notebook’s toy restorer uses a clean target to illustrate steps; label that shortcut.</a:t>
            </a:r>
          </a:p>
          <a:p/>
          <a:p>
            <a:r>
              <a:t>Point to the evidence before giving your conclusion. The expected reasoning concludes: It has access to the original clean grid. Distinguish measured results from illustrative numbers.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college needs a synthetic poster image while respecting consent and image rights. The visible slide states: It has access to the original clean grid.</a:t>
            </a:r>
          </a:p>
          <a:p/>
          <a:p>
            <a:r>
              <a:t>Tempting mistake: The toy denoiser proves real model image quality. The earlier question was What extra information makes the toy restoration easier? Ask how this differs from the wrong claim.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college needs a synthetic poster image while respecting consent and image rights. The visible slide states: What stays fixed in a fair output comparison?</a:t>
            </a:r>
          </a:p>
          <a:p/>
          <a:p>
            <a:r>
              <a:t>Make a choice before we explain the diagram. The intended answer is Keep the brief and checklist fixed; record changed generation settings. The tempting claim is A detailed prompt guarantees exact text in images. Do not show which card is correct until the reveal.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college needs a synthetic poster image while respecting consent and image rights. The visible slide states: A poster brief steers an artist, but leaves room for choices.</a:t>
            </a:r>
          </a:p>
          <a:p/>
          <a:p>
            <a:r>
              <a:t>What matches our case, and where does the analogy stop? The boundary is: The brief does not guarantee that every requested detail appears correctly.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college needs a synthetic poster image while respecting consent and image rights. The visible slide states: Match each everyday part to the technical part.</a:t>
            </a:r>
          </a:p>
          <a:p/>
          <a:p>
            <a:r>
              <a:t>Analogy limit: The brief does not guarantee that every requested detail appears correctly. The three precise mappings are [['Brief', 'text condition'], ['Artist decisions', 'denoising path'], ['Draft poster', 'output']].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college needs a synthetic poster image while respecting consent and image rights. The visible slide states: Text or other inputs can guide generation. The condition does not guarantee accurate details.</a:t>
            </a:r>
          </a:p>
          <a:p/>
          <a:p>
            <a:r>
              <a:t>Trace the arrows from left to right. The weekly example is: Use “blue campus poster” for both trials; compare date lettering and layout separately. State what the analogy does not explain: The brief does not guarantee that every requested detail appears correctly.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college needs a synthetic poster image while respecting consent and image rights. The visible slide states: Use “blue campus poster” for both trials; compare date lettering and layout separately.</a:t>
            </a:r>
          </a:p>
          <a:p/>
          <a:p>
            <a:r>
              <a:t>Point to the evidence before giving your conclusion. The expected reasoning concludes: Keep the brief and checklist fixed; record changed generation settings. Distinguish measured results from illustrative numbers.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college needs a synthetic poster image while respecting consent and image rights. The visible slide states: Keep the brief and checklist fixed; record changed generation settings.</a:t>
            </a:r>
          </a:p>
          <a:p/>
          <a:p>
            <a:r>
              <a:t>Tempting mistake: A detailed prompt guarantees exact text in images. The earlier question was What stays fixed in a fair output comparison? Ask how this differs from the wrong claim.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college needs a synthetic poster image while respecting consent and image rights. The visible slide states: What two reasons justify holding this image?</a:t>
            </a:r>
          </a:p>
          <a:p/>
          <a:p>
            <a:r>
              <a:t>Make a choice before we explain the diagram. The intended answer is Consent is unresolved and the date detail is incorrect. The tempting claim is A synthetic image needs no rights or quality review. Do not show which card is correct until the reveal.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college needs a synthetic poster image while respecting consent and image rights. The visible slide states: A print editor checks a draft before it reaches the public.</a:t>
            </a:r>
          </a:p>
          <a:p/>
          <a:p>
            <a:r>
              <a:t>What matches our case, and where does the analogy stop? The boundary is: A release form cannot be inferred from pixels; ask for documented permission.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college needs a synthetic poster image while respecting consent and image rights. The visible slide states: Match each everyday part to the technical part.</a:t>
            </a:r>
          </a:p>
          <a:p/>
          <a:p>
            <a:r>
              <a:t>Analogy limit: A release form cannot be inferred from pixels; ask for documented permission. The three precise mappings are [['Draft', 'generated image'], ['Release form', 'consent check'], ['Proofread', 'image detail check']].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college needs a synthetic poster image while respecting consent and image rights. The visible slide states: Check whether text, people, permissions and task-specific details meet the brief.</a:t>
            </a:r>
          </a:p>
          <a:p/>
          <a:p>
            <a:r>
              <a:t>Trace the arrows from left to right. The weekly example is: The poster is attractive, but a face resembles a classmate and the date is wrong: hold publication. State what the analogy does not explain: A release form cannot be inferred from pixels; ask for documented permission.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college needs a synthetic poster image while respecting consent and image rights. The visible slide states: The poster is attractive, but a face resembles a classmate and the date is wrong: hold publication.</a:t>
            </a:r>
          </a:p>
          <a:p/>
          <a:p>
            <a:r>
              <a:t>Point to the evidence before giving your conclusion. The expected reasoning concludes: Consent is unresolved and the date detail is incorrect. Distinguish measured results from illustrative numbers.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college needs a synthetic poster image while respecting consent and image rights. The visible slide states: Consent is unresolved and the date detail is incorrect.</a:t>
            </a:r>
          </a:p>
          <a:p/>
          <a:p>
            <a:r>
              <a:t>Tempting mistake: A synthetic image needs no rights or quality review. The earlier question was What two reasons justify holding this image? Ask how this differs from the wrong claim.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college needs a synthetic poster image while respecting consent and image rights. The visible slide states: Noise obscures the L at high strength.</a:t>
            </a:r>
          </a:p>
          <a:p/>
          <a:p>
            <a:r>
              <a:t>A toy restoration with access to the clean target restores it; a real model does not have that target. Have one student point to an exact source word or number for each conclusion.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college needs a synthetic poster image while respecting consent and image rights. The visible slide states: Run a denoising illustration and a consent checklist.</a:t>
            </a:r>
          </a:p>
          <a:p/>
          <a:p>
            <a:r>
              <a:t>Read the original output before editing. Use Week_03_Lab.ipynb. This lab is a prepared classroom demonstration with its limitations documented.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college needs a synthetic poster image while respecting consent and image rights. The visible slide states: Locate the supplied input, the transformation, the checking line and the printed result. The weekly lab change is: Increase noise strength from 0.15 to 0.45 and compare measured error.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college needs a synthetic poster image while respecting consent and image rights. The visible slide states: Increase noise strength from 0.15 to 0.45 and compare measured error.</a:t>
            </a:r>
          </a:p>
          <a:p/>
          <a:p>
            <a:r>
              <a:t>What should change in the result? What stays fixed? Ask learners to write their prediction before rerunning the cell.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college needs a synthetic poster image while respecting consent and image rights. The visible slide states: Record the input, the one changed setting, the observed result and a reason for any difference. The required evidence is: Step comparison and three task-specific image observations.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needs a synthetic poster image while respecting consent and image rights. The visible slide states: Mean absolute pixel error; plus a human quality checklist</a:t>
            </a:r>
          </a:p>
          <a:p/>
          <a:p>
            <a:r>
              <a:t>Write the numerator, denominator and one failure case. Where a measure is qualitative, show the concrete source comparison. Example: A toy restoration with access to the clean target restores it; a real model does not have that target.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needs a synthetic poster image while respecting consent and image rights. The visible slide states: Plausible wrong claim: Removing random noise with the original image in hand reproduces diffusion generation.</a:t>
            </a:r>
          </a:p>
          <a:p/>
          <a:p>
            <a:r>
              <a:t>Correct it using the case evidence. The correction is This exercise visualizes steps only. Actual generation uses learned denoising without a clean target at inference.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needs a synthetic poster image while respecting consent and image rights. The visible slide states: A poster has readable-looking text that spells the event date incorrectly. Which check catches the error?</a:t>
            </a:r>
          </a:p>
          <a:p/>
          <a:p>
            <a:r>
              <a:t>Explain which source or test would settle it. This is a fresh scenario, so ask for a reason before accepting either short answer.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needs a synthetic poster image while respecting consent and image rights. The visible slide states: Without reading the slide, name the input, one processing step and the check. Your partner should ask “How do you know?” Listen for a causal explanation and one limitation, then revisit a difficult arrow on the board.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needs a synthetic poster image while respecting consent and image rights. The visible slide states: Distinguish noising during training from denoising during generation.</a:t>
            </a:r>
          </a:p>
          <a:p/>
          <a:p>
            <a:r>
              <a:t>Write a short answer, then compare with the guide. Model answer after discussion: Training creates corrupted examples and learns a reverse prediction. Generation applies learned reverse steps to a noise sample. Practice marks: 4.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needs a synthetic poster image while respecting consent and image rights. The visible slide states: Does conditioning guarantee the requested text will be correct?</a:t>
            </a:r>
          </a:p>
          <a:p/>
          <a:p>
            <a:r>
              <a:t>Write a short answer, then compare with the guide. Model answer after discussion: No. The condition guides generation; the resulting image still needs inspection. Practice marks: 4.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college needs a synthetic poster image while respecting consent and image rights. The visible slide states: Step comparison and three task-specific image observations.</a:t>
            </a:r>
          </a:p>
          <a:p/>
          <a:p>
            <a:r>
              <a:t>Include the one changed input and an error explanation. This weekly evidence receives formative feedback according to the module sequence; refer to the assessment brief for graded work.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needs a synthetic poster image while respecting consent and image rights. The visible slide states: Noise becomes an image through repeated learned denoising; check consent and details.</a:t>
            </a:r>
          </a:p>
          <a:p/>
          <a:p>
            <a:r>
              <a:t>Read the linked official sources in the Word guide and redraw one diagram from memory. Return to the opening vote and ask whether the evidence changed anyone’s mind. The next week builds on this outcome: Explain the denoising idea and judge an image with a consistent checklist. The target is: Explain the denoising idea and judge an image with a consistent checklist.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03 · Diffusion and generated media</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consent-safe poster</a:t>
            </a:r>
          </a:p>
          <a:p>
            <a:pPr>
              <a:defRPr sz="1800" b="0">
                <a:solidFill>
                  <a:srgbClr val="182B40"/>
                </a:solidFill>
                <a:latin typeface="Aptos"/>
              </a:defRPr>
            </a:pPr>
          </a:p>
          <a:p>
            <a:pPr>
              <a:defRPr sz="1800" b="0">
                <a:solidFill>
                  <a:srgbClr val="182B40"/>
                </a:solidFill>
                <a:latin typeface="Aptos"/>
              </a:defRPr>
            </a:pPr>
            <a:r>
              <a:t>A team requests a synthetic poster. The output looks vivid but may show a recognisable person. How do generation and review interact?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01 / 40</a:t>
            </a:r>
          </a:p>
        </p:txBody>
      </p:sp>
      <p:pic>
        <p:nvPicPr>
          <p:cNvPr id="9" name="Picture 8" descr="s01-7d03bf16f1e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team requests a synthetic poster. The output looks vivid but may show a recognisable person. How do generation and review interact?</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02 / 40</a:t>
            </a:r>
          </a:p>
        </p:txBody>
      </p:sp>
      <p:pic>
        <p:nvPicPr>
          <p:cNvPr id="9" name="Picture 8" descr="s02-3c8f8b5908a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03 / 40</a:t>
            </a:r>
          </a:p>
        </p:txBody>
      </p:sp>
      <p:pic>
        <p:nvPicPr>
          <p:cNvPr id="9" name="Picture 8" descr="s03-a49250dccd1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Forward noising</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direction is used while preparing training pairs?</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04 / 40</a:t>
            </a:r>
          </a:p>
        </p:txBody>
      </p:sp>
      <p:pic>
        <p:nvPicPr>
          <p:cNvPr id="9" name="Picture 8" descr="s04-d144490e74b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Forward noising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photograph becomes harder to see as fog builds in small steps.</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05 / 40</a:t>
            </a:r>
          </a:p>
        </p:txBody>
      </p:sp>
      <p:pic>
        <p:nvPicPr>
          <p:cNvPr id="9" name="Picture 8" descr="s05-cd71ce4441c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Forward noising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Noise is mathematically sampled; real fog is not the model’s training process.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06 / 40</a:t>
            </a:r>
          </a:p>
        </p:txBody>
      </p:sp>
      <p:pic>
        <p:nvPicPr>
          <p:cNvPr id="9" name="Picture 8" descr="s06-9595e05f8ed9.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Forward noising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In a common training setup, progressively add noise to a clean image.</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07 / 40</a:t>
            </a:r>
          </a:p>
        </p:txBody>
      </p:sp>
      <p:pic>
        <p:nvPicPr>
          <p:cNvPr id="9" name="Picture 8" descr="s07-5fc75878d9a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Forward noising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At low noise the L-shaped grid remains visible; at high noise most cells are obscured.</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08 / 40</a:t>
            </a:r>
          </a:p>
        </p:txBody>
      </p:sp>
      <p:pic>
        <p:nvPicPr>
          <p:cNvPr id="9" name="Picture 8" descr="s08-2d59a249d15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Forward noising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Forward: progressively add noise to a clean example.</a:t>
            </a:r>
          </a:p>
          <a:p>
            <a:pPr>
              <a:defRPr sz="1800" b="0">
                <a:solidFill>
                  <a:srgbClr val="182B40"/>
                </a:solidFill>
                <a:latin typeface="Aptos"/>
              </a:defRPr>
            </a:pPr>
          </a:p>
          <a:p>
            <a:pPr>
              <a:defRPr sz="1800" b="0">
                <a:solidFill>
                  <a:srgbClr val="182B40"/>
                </a:solidFill>
                <a:latin typeface="Aptos"/>
              </a:defRPr>
            </a:pPr>
            <a:r>
              <a:t>Tempting mistake: The model learns by removing noise before any noise is added.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09 / 40</a:t>
            </a:r>
          </a:p>
        </p:txBody>
      </p:sp>
      <p:pic>
        <p:nvPicPr>
          <p:cNvPr id="9" name="Picture 8" descr="s09-6a2e1068aed8.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Denoising model</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extra information makes the toy restoration easier?</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10 / 40</a:t>
            </a:r>
          </a:p>
        </p:txBody>
      </p:sp>
      <p:pic>
        <p:nvPicPr>
          <p:cNvPr id="9" name="Picture 8" descr="s10-648b1b4e6859.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Denoising model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restorer removes a little fog at a time after learning from many examples.</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11 / 40</a:t>
            </a:r>
          </a:p>
        </p:txBody>
      </p:sp>
      <p:pic>
        <p:nvPicPr>
          <p:cNvPr id="9" name="Picture 8" descr="s11-9a367568e97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Denoising model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real model does not secretly have the exact clean target at generation time.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12 / 40</a:t>
            </a:r>
          </a:p>
        </p:txBody>
      </p:sp>
      <p:pic>
        <p:nvPicPr>
          <p:cNvPr id="9" name="Picture 8" descr="s12-b2b360c75b5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Denoising model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learned model estimates how to remove noise at each step; the course simulation uses the known clean target.</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13 / 40</a:t>
            </a:r>
          </a:p>
        </p:txBody>
      </p:sp>
      <p:pic>
        <p:nvPicPr>
          <p:cNvPr id="9" name="Picture 8" descr="s13-9fbe70fe4f27.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Denoising model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prepared notebook’s toy restorer uses a clean target to illustrate steps; label that shortcut.</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14 / 40</a:t>
            </a:r>
          </a:p>
        </p:txBody>
      </p:sp>
      <p:pic>
        <p:nvPicPr>
          <p:cNvPr id="9" name="Picture 8" descr="s14-4d4f91e663b5.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Denoising model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It has access to the original clean grid.</a:t>
            </a:r>
          </a:p>
          <a:p>
            <a:pPr>
              <a:defRPr sz="1800" b="0">
                <a:solidFill>
                  <a:srgbClr val="182B40"/>
                </a:solidFill>
                <a:latin typeface="Aptos"/>
              </a:defRPr>
            </a:pPr>
          </a:p>
          <a:p>
            <a:pPr>
              <a:defRPr sz="1800" b="0">
                <a:solidFill>
                  <a:srgbClr val="182B40"/>
                </a:solidFill>
                <a:latin typeface="Aptos"/>
              </a:defRPr>
            </a:pPr>
            <a:r>
              <a:t>Tempting mistake: The toy denoiser proves real model image quality.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15 / 40</a:t>
            </a:r>
          </a:p>
        </p:txBody>
      </p:sp>
      <p:pic>
        <p:nvPicPr>
          <p:cNvPr id="9" name="Picture 8" descr="s15-4a64764d1f49.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Conditioning</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stays fixed in a fair output comparison?</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16 / 40</a:t>
            </a:r>
          </a:p>
        </p:txBody>
      </p:sp>
      <p:pic>
        <p:nvPicPr>
          <p:cNvPr id="9" name="Picture 8" descr="s16-1b9bfddecec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Conditioning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poster brief steers an artist, but leaves room for choices.</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17 / 40</a:t>
            </a:r>
          </a:p>
        </p:txBody>
      </p:sp>
      <p:pic>
        <p:nvPicPr>
          <p:cNvPr id="9" name="Picture 8" descr="s17-bf5c3577c708.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Conditioning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The brief does not guarantee that every requested detail appears correctly.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18 / 40</a:t>
            </a:r>
          </a:p>
        </p:txBody>
      </p:sp>
      <p:pic>
        <p:nvPicPr>
          <p:cNvPr id="9" name="Picture 8" descr="s18-8f513b1ee340.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Conditioning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Text or other inputs can guide generation. The condition does not guarantee accurate details.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19 / 40</a:t>
            </a:r>
          </a:p>
        </p:txBody>
      </p:sp>
      <p:pic>
        <p:nvPicPr>
          <p:cNvPr id="9" name="Picture 8" descr="s19-1f98c7df4c57.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Conditioning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Use “blue campus poster” for both trials; compare date lettering and layout separately.</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20 / 40</a:t>
            </a:r>
          </a:p>
        </p:txBody>
      </p:sp>
      <p:pic>
        <p:nvPicPr>
          <p:cNvPr id="9" name="Picture 8" descr="s20-09140e50abe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Conditioning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Keep the brief and checklist fixed; record changed generation settings.</a:t>
            </a:r>
          </a:p>
          <a:p>
            <a:pPr>
              <a:defRPr sz="1800" b="0">
                <a:solidFill>
                  <a:srgbClr val="182B40"/>
                </a:solidFill>
                <a:latin typeface="Aptos"/>
              </a:defRPr>
            </a:pPr>
          </a:p>
          <a:p>
            <a:pPr>
              <a:defRPr sz="1800" b="0">
                <a:solidFill>
                  <a:srgbClr val="182B40"/>
                </a:solidFill>
                <a:latin typeface="Aptos"/>
              </a:defRPr>
            </a:pPr>
            <a:r>
              <a:t>Tempting mistake: A detailed prompt guarantees exact text in images.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21 / 40</a:t>
            </a:r>
          </a:p>
        </p:txBody>
      </p:sp>
      <p:pic>
        <p:nvPicPr>
          <p:cNvPr id="9" name="Picture 8" descr="s21-a341d13cc93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Image review</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two reasons justify holding this image?</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22 / 40</a:t>
            </a:r>
          </a:p>
        </p:txBody>
      </p:sp>
      <p:pic>
        <p:nvPicPr>
          <p:cNvPr id="9" name="Picture 8" descr="s22-6ef5bf6dab7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Image review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print editor checks a draft before it reaches the public.</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23 / 40</a:t>
            </a:r>
          </a:p>
        </p:txBody>
      </p:sp>
      <p:pic>
        <p:nvPicPr>
          <p:cNvPr id="9" name="Picture 8" descr="s23-a3b0ba47597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Image review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release form cannot be inferred from pixels; ask for documented permission.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24 / 40</a:t>
            </a:r>
          </a:p>
        </p:txBody>
      </p:sp>
      <p:pic>
        <p:nvPicPr>
          <p:cNvPr id="9" name="Picture 8" descr="s24-0ff2165201f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Image review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Check whether text, people, permissions and task-specific details meet the brief.</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25 / 40</a:t>
            </a:r>
          </a:p>
        </p:txBody>
      </p:sp>
      <p:pic>
        <p:nvPicPr>
          <p:cNvPr id="9" name="Picture 8" descr="s25-bc2ee2f1292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Image review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poster is attractive, but a face resembles a classmate and the date is wrong: hold publication.</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26 / 40</a:t>
            </a:r>
          </a:p>
        </p:txBody>
      </p:sp>
      <p:pic>
        <p:nvPicPr>
          <p:cNvPr id="9" name="Picture 8" descr="s26-bb0ec591eca7.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Image review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Consent is unresolved and the date detail is incorrect.</a:t>
            </a:r>
          </a:p>
          <a:p>
            <a:pPr>
              <a:defRPr sz="1800" b="0">
                <a:solidFill>
                  <a:srgbClr val="182B40"/>
                </a:solidFill>
                <a:latin typeface="Aptos"/>
              </a:defRPr>
            </a:pPr>
          </a:p>
          <a:p>
            <a:pPr>
              <a:defRPr sz="1800" b="0">
                <a:solidFill>
                  <a:srgbClr val="182B40"/>
                </a:solidFill>
                <a:latin typeface="Aptos"/>
              </a:defRPr>
            </a:pPr>
            <a:r>
              <a:t>Tempting mistake: A synthetic image needs no rights or quality review.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27 / 40</a:t>
            </a:r>
          </a:p>
        </p:txBody>
      </p:sp>
      <p:pic>
        <p:nvPicPr>
          <p:cNvPr id="9" name="Picture 8" descr="s27-34286d557a18.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Noise obscures the L at high strength.</a:t>
            </a:r>
          </a:p>
          <a:p>
            <a:pPr>
              <a:defRPr sz="1800" b="0">
                <a:solidFill>
                  <a:srgbClr val="182B40"/>
                </a:solidFill>
                <a:latin typeface="Aptos"/>
              </a:defRPr>
            </a:pPr>
          </a:p>
          <a:p>
            <a:pPr>
              <a:defRPr sz="1800" b="0">
                <a:solidFill>
                  <a:srgbClr val="182B40"/>
                </a:solidFill>
                <a:latin typeface="Aptos"/>
              </a:defRPr>
            </a:pPr>
            <a:r>
              <a:t>A toy restoration with access to the clean target restores it; a real model does not have that target.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28 / 40</a:t>
            </a:r>
          </a:p>
        </p:txBody>
      </p:sp>
      <p:pic>
        <p:nvPicPr>
          <p:cNvPr id="9" name="Picture 8" descr="s28-562e7c3b93f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Run a denoising illustration and a consent checklist.</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29 / 40</a:t>
            </a:r>
          </a:p>
        </p:txBody>
      </p:sp>
      <p:pic>
        <p:nvPicPr>
          <p:cNvPr id="9" name="Picture 8" descr="s29-9d3ef8e809e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30 / 40</a:t>
            </a:r>
          </a:p>
        </p:txBody>
      </p:sp>
      <p:pic>
        <p:nvPicPr>
          <p:cNvPr id="9" name="Picture 8" descr="s30-08b0b77ecaa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Increase noise strength from 0.15 to 0.45 and compare measured error.</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31 / 40</a:t>
            </a:r>
          </a:p>
        </p:txBody>
      </p:sp>
      <p:pic>
        <p:nvPicPr>
          <p:cNvPr id="9" name="Picture 8" descr="s31-3bfc0ca2166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32 / 40</a:t>
            </a:r>
          </a:p>
        </p:txBody>
      </p:sp>
      <p:pic>
        <p:nvPicPr>
          <p:cNvPr id="9" name="Picture 8" descr="s32-e70d13d240f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Mean absolute pixel error; plus a human quality checklist</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33 / 40</a:t>
            </a:r>
          </a:p>
        </p:txBody>
      </p:sp>
      <p:pic>
        <p:nvPicPr>
          <p:cNvPr id="9" name="Picture 8" descr="s33-27dee737e1e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Removing random noise with the original image in hand reproduces diffusion generation.</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34 / 40</a:t>
            </a:r>
          </a:p>
        </p:txBody>
      </p:sp>
      <p:pic>
        <p:nvPicPr>
          <p:cNvPr id="9" name="Picture 8" descr="s34-73f9aeecea1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poster has readable-looking text that spells the event date incorrectly. Which check catches the error?</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35 / 40</a:t>
            </a:r>
          </a:p>
        </p:txBody>
      </p:sp>
      <p:pic>
        <p:nvPicPr>
          <p:cNvPr id="9" name="Picture 8" descr="s35-03817b02ca1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36 / 40</a:t>
            </a:r>
          </a:p>
        </p:txBody>
      </p:sp>
      <p:pic>
        <p:nvPicPr>
          <p:cNvPr id="9" name="Picture 8" descr="s36-d397a36fd448.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Distinguish noising during training from denoising during generation.</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37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Does conditioning guarantee the requested text will be correct?</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38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Step comparison and three task-specific image observations.</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39 / 40</a:t>
            </a:r>
          </a:p>
        </p:txBody>
      </p:sp>
      <p:pic>
        <p:nvPicPr>
          <p:cNvPr id="9" name="Picture 8" descr="s39-c232379b67c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03</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Noise becomes an image through repeated learned denoising; check consent and details.</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03    •    40 / 40</a:t>
            </a:r>
          </a:p>
        </p:txBody>
      </p:sp>
      <p:pic>
        <p:nvPicPr>
          <p:cNvPr id="9" name="Picture 8" descr="s03-a49250dccd1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