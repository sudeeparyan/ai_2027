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xml" ContentType="application/vnd.openxmlformats-officedocument.presentationml.notesSlide+xml"/>
  <Override PartName="/ppt/notesSlides/notesSlide40.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 id="282" r:id="rId34"/>
    <p:sldId id="283" r:id="rId35"/>
    <p:sldId id="284" r:id="rId36"/>
    <p:sldId id="285" r:id="rId37"/>
    <p:sldId id="286" r:id="rId38"/>
    <p:sldId id="287" r:id="rId39"/>
    <p:sldId id="288" r:id="rId40"/>
    <p:sldId id="289" r:id="rId41"/>
    <p:sldId id="290" r:id="rId42"/>
    <p:sldId id="291" r:id="rId43"/>
    <p:sldId id="292" r:id="rId44"/>
    <p:sldId id="293" r:id="rId45"/>
    <p:sldId id="294" r:id="rId46"/>
    <p:sldId id="295" r:id="rId47"/>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 Id="rId32" Type="http://schemas.openxmlformats.org/officeDocument/2006/relationships/slide" Target="slides/slide25.xml"/><Relationship Id="rId33" Type="http://schemas.openxmlformats.org/officeDocument/2006/relationships/slide" Target="slides/slide26.xml"/><Relationship Id="rId34" Type="http://schemas.openxmlformats.org/officeDocument/2006/relationships/slide" Target="slides/slide27.xml"/><Relationship Id="rId35" Type="http://schemas.openxmlformats.org/officeDocument/2006/relationships/slide" Target="slides/slide28.xml"/><Relationship Id="rId36" Type="http://schemas.openxmlformats.org/officeDocument/2006/relationships/slide" Target="slides/slide29.xml"/><Relationship Id="rId37" Type="http://schemas.openxmlformats.org/officeDocument/2006/relationships/slide" Target="slides/slide30.xml"/><Relationship Id="rId38" Type="http://schemas.openxmlformats.org/officeDocument/2006/relationships/slide" Target="slides/slide31.xml"/><Relationship Id="rId39" Type="http://schemas.openxmlformats.org/officeDocument/2006/relationships/slide" Target="slides/slide32.xml"/><Relationship Id="rId40" Type="http://schemas.openxmlformats.org/officeDocument/2006/relationships/slide" Target="slides/slide33.xml"/><Relationship Id="rId41" Type="http://schemas.openxmlformats.org/officeDocument/2006/relationships/slide" Target="slides/slide34.xml"/><Relationship Id="rId42" Type="http://schemas.openxmlformats.org/officeDocument/2006/relationships/slide" Target="slides/slide35.xml"/><Relationship Id="rId43" Type="http://schemas.openxmlformats.org/officeDocument/2006/relationships/slide" Target="slides/slide36.xml"/><Relationship Id="rId44" Type="http://schemas.openxmlformats.org/officeDocument/2006/relationships/slide" Target="slides/slide37.xml"/><Relationship Id="rId45" Type="http://schemas.openxmlformats.org/officeDocument/2006/relationships/slide" Target="slides/slide38.xml"/><Relationship Id="rId46" Type="http://schemas.openxmlformats.org/officeDocument/2006/relationships/slide" Target="slides/slide39.xml"/><Relationship Id="rId47" Type="http://schemas.openxmlformats.org/officeDocument/2006/relationships/slide" Target="slides/slide40.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6.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7.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8.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9.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0.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TEACHER SCRIPT — OPEN. Show the visual for ten seconds, then ask for an initial decision. Do not reveal the answer yet. Ask a student to name the source or measurement that would change their mind. This week’s case is: A synthetic invoice image has fields supplied by a prepared transcription. The visible slide states: The €54 invoice</a:t>
            </a:r>
          </a:p>
          <a:p/>
          <a:p>
            <a:r>
              <a:t>An invoice image lists two items at €20 and €5 tax, yet displays €54 total. A model reads €54 correctly. Should the payment pass? Reveal that the case will be revisited after four short concept cycles. The target is: Distinguish reading from independently checking a document value. Listen for an explanation of the actual arrow or calculation, not just a repeated label. If the answer is unsupported, mark that uncertainty and return to the source. Before moving on, ask for the main idea and one concrete change to the worked example.</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TEACHER SCRIPT — QUESTION. Take a show of hands for each choice before showing the mechanism. Ask pairs to defend a choice with evidence. Save the strongest wrong reason for the reveal later in this cycle. This week’s case is: A synthetic invoice image has fields supplied by a prepared transcription. The visible slide states: An invoice image lists two items at €20 and €5 tax, yet displays €54 total. A model reads €54 correctly. Should the payment pass?</a:t>
            </a:r>
          </a:p>
          <a:p/>
          <a:p>
            <a:r>
              <a:t>Choose an initial answer and name one piece of evidence you need. Accept reasonable uncertainty; record the initial votes to revisit at the end. The target is: Distinguish reading from independently checking a document value. Listen for an explanation of the actual arrow or calculation, not just a repeated label. If the answer is unsupported, mark that uncertainty and return to the source. Before moving on, ask for the main idea and one concrete change to the worked example.</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TEACHER SCRIPT — OPEN. Show the visual for ten seconds, then ask for an initial decision. Do not reveal the answer yet. Ask a student to name the source or measurement that would change their mind. This week’s case is: A synthetic invoice image has fields supplied by a prepared transcription. The visible slide states: We will predict, connect an analogy, trace a mechanism, work an example, then explain a decision. Point to the four named ideas, then show where the notebook experiment fits. The target is: Distinguish reading from independently checking a document value. Listen for an explanation of the actual arrow or calculation, not just a repeated label. If the answer is unsupported, mark that uncertainty and return to the source. Before moving on, ask for the main idea and one concrete change to the worked example.</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TEACHER SCRIPT — QUESTION. Take a show of hands for each choice before showing the mechanism. Ask pairs to defend a choice with evidence. Save the strongest wrong reason for the reveal later in this cycle. This week’s case is: A synthetic invoice image has fields supplied by a prepared transcription. The visible slide states: What capability is represented by the supplied transcription?</a:t>
            </a:r>
          </a:p>
          <a:p/>
          <a:p>
            <a:r>
              <a:t>Make a choice before we explain the diagram. The intended answer is An upstream reading step, whose accuracy still needs checking. The tempting claim is The notebook itself recognises image pixels. Do not show which card is correct until the reveal. The target is: Distinguish reading from independently checking a document value. Listen for an explanation of the actual arrow or calculation, not just a repeated label. If the answer is unsupported, mark that uncertainty and return to the source. Before moving on, ask for the main idea and one concrete change to the worked example.</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TEACHER SCRIPT — ANALOGY. Begin with the familiar scene. Invite learners to describe each part in everyday language. Then ask where the comparison might fail before introducing the technical vocabulary. This week’s case is: A synthetic invoice image has fields supplied by a prepared transcription. The visible slide states: A person can read a photo and a text note together.</a:t>
            </a:r>
          </a:p>
          <a:p/>
          <a:p>
            <a:r>
              <a:t>What matches our case, and where does the analogy stop? The boundary is: This notebook uses a prepared transcription; it does not run OCR or test a vision model. The target is: Distinguish reading from independently checking a document value. Listen for an explanation of the actual arrow or calculation, not just a repeated label. If the answer is unsupported, mark that uncertainty and return to the source. Before moving on, ask for the main idea and one concrete change to the worked example.</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TEACHER SCRIPT — MAPPING. Point from each familiar element to the corresponding technical element. Have students cover the right column and reconstruct the three matches. Read the limitation aloud. This week’s case is: A synthetic invoice image has fields supplied by a prepared transcription. The visible slide states: Match each everyday part to the technical part.</a:t>
            </a:r>
          </a:p>
          <a:p/>
          <a:p>
            <a:r>
              <a:t>Analogy limit: This notebook uses a prepared transcription; it does not run OCR or test a vision model. The three precise mappings are [['Photo', 'visual input'], ['Reader', 'OCR or vision step'], ['Typed note', 'transcribed text']]. The target is: Distinguish reading from independently checking a document value. Listen for an explanation of the actual arrow or calculation, not just a repeated label. If the answer is unsupported, mark that uncertainty and return to the source. Before moving on, ask for the main idea and one concrete change to the worked example.</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TEACHER SCRIPT — MECHANISM. Trace every arrow slowly from the input to the output. Ask what information crosses the boundary at each arrow. Pause if students confuse a simplified notebook with a trained model. This week’s case is: A synthetic invoice image has fields supplied by a prepared transcription. The visible slide states: A system may process text, images or other signals. Here the transcription stands in for an image reader.</a:t>
            </a:r>
          </a:p>
          <a:p/>
          <a:p>
            <a:r>
              <a:t>Trace the arrows from left to right. The weekly example is: The prepared text records quantity 2, unit price €20, tax €5 and listed total €54. State what the analogy does not explain: This notebook uses a prepared transcription; it does not run OCR or test a vision model. The target is: Distinguish reading from independently checking a document value. Listen for an explanation of the actual arrow or calculation, not just a repeated label. If the answer is unsupported, mark that uncertainty and return to the source. Before moving on, ask for the main idea and one concrete change to the worked example.</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TEACHER SCRIPT — WORKED. Work the specific numbers or source wording aloud. Give students thirty seconds to write a conclusion, then ask which source line or calculation supports it. This week’s case is: A synthetic invoice image has fields supplied by a prepared transcription. The visible slide states: The prepared text records quantity 2, unit price €20, tax €5 and listed total €54.</a:t>
            </a:r>
          </a:p>
          <a:p/>
          <a:p>
            <a:r>
              <a:t>Point to the evidence before giving your conclusion. The expected reasoning concludes: An upstream reading step, whose accuracy still needs checking. Distinguish measured results from illustrative numbers. The target is: Distinguish reading from independently checking a document value. Listen for an explanation of the actual arrow or calculation, not just a repeated label. If the answer is unsupported, mark that uncertainty and return to the source. Before moving on, ask for the main idea and one concrete change to the worked example.</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TEACHER SCRIPT — REVEAL. Return to the earlier choice. Explain the correct answer and why the tempting claim fails. Ask one learner to say the answer in a single sentence without reading it. This week’s case is: A synthetic invoice image has fields supplied by a prepared transcription. The visible slide states: An upstream reading step, whose accuracy still needs checking.</a:t>
            </a:r>
          </a:p>
          <a:p/>
          <a:p>
            <a:r>
              <a:t>Tempting mistake: The notebook itself recognises image pixels. The earlier question was What capability is represented by the supplied transcription? Ask how this differs from the wrong claim. The target is: Distinguish reading from independently checking a document value. Listen for an explanation of the actual arrow or calculation, not just a repeated label. If the answer is unsupported, mark that uncertainty and return to the source. Before moving on, ask for the main idea and one concrete change to the worked example.</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TEACHER SCRIPT — QUESTION. Take a show of hands for each choice before showing the mechanism. Ask pairs to defend a choice with evidence. Save the strongest wrong reason for the reveal later in this cycle. This week’s case is: A synthetic invoice image has fields supplied by a prepared transcription. The visible slide states: What does a source pointer let another person do?</a:t>
            </a:r>
          </a:p>
          <a:p/>
          <a:p>
            <a:r>
              <a:t>Make a choice before we explain the diagram. The intended answer is Find and verify the value in the original document. The tempting claim is A correctly formatted field proves its source. Do not show which card is correct until the reveal. The target is: Distinguish reading from independently checking a document value. Listen for an explanation of the actual arrow or calculation, not just a repeated label. If the answer is unsupported, mark that uncertainty and return to the source. Before moving on, ask for the main idea and one concrete change to the worked example.</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TEACHER SCRIPT — ANALOGY. Begin with the familiar scene. Invite learners to describe each part in everyday language. Then ask where the comparison might fail before introducing the technical vocabulary. This week’s case is: A synthetic invoice image has fields supplied by a prepared transcription. The visible slide states: An auditor writes the page and line beside every copied number.</a:t>
            </a:r>
          </a:p>
          <a:p/>
          <a:p>
            <a:r>
              <a:t>What matches our case, and where does the analogy stop? The boundary is: A pointer can be wrong or ambiguous, especially with poor image quality. The target is: Distinguish reading from independently checking a document value. Listen for an explanation of the actual arrow or calculation, not just a repeated label. If the answer is unsupported, mark that uncertainty and return to the source. Before moving on, ask for the main idea and one concrete change to the worked example.</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TEACHER SCRIPT — MAPPING. Point from each familiar element to the corresponding technical element. Have students cover the right column and reconstruct the three matches. Read the limitation aloud. This week’s case is: A synthetic invoice image has fields supplied by a prepared transcription. The visible slide states: Match each everyday part to the technical part.</a:t>
            </a:r>
          </a:p>
          <a:p/>
          <a:p>
            <a:r>
              <a:t>Analogy limit: A pointer can be wrong or ambiguous, especially with poor image quality. The three precise mappings are [['Printed number', 'visible field'], ['Copied value', 'extraction'], ['Page pointer', 'source location']]. The target is: Distinguish reading from independently checking a document value. Listen for an explanation of the actual arrow or calculation, not just a repeated label. If the answer is unsupported, mark that uncertainty and return to the source. Before moving on, ask for the main idea and one concrete change to the worked example.</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TEACHER SCRIPT — MECHANISM. Trace every arrow slowly from the input to the output. Ask what information crosses the boundary at each arrow. Pause if students confuse a simplified notebook with a trained model. This week’s case is: A synthetic invoice image has fields supplied by a prepared transcription. The visible slide states: Read fields present in the document and retain a pointer to the source.</a:t>
            </a:r>
          </a:p>
          <a:p/>
          <a:p>
            <a:r>
              <a:t>Trace the arrows from left to right. The weekly example is: Record “listed_total = €54” with the invoice field location; keep calculation separate. State what the analogy does not explain: A pointer can be wrong or ambiguous, especially with poor image quality. The target is: Distinguish reading from independently checking a document value. Listen for an explanation of the actual arrow or calculation, not just a repeated label. If the answer is unsupported, mark that uncertainty and return to the source. Before moving on, ask for the main idea and one concrete change to the worked example.</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TEACHER SCRIPT — WORKED. Work the specific numbers or source wording aloud. Give students thirty seconds to write a conclusion, then ask which source line or calculation supports it. This week’s case is: A synthetic invoice image has fields supplied by a prepared transcription. The visible slide states: Record “listed_total = €54” with the invoice field location; keep calculation separate.</a:t>
            </a:r>
          </a:p>
          <a:p/>
          <a:p>
            <a:r>
              <a:t>Point to the evidence before giving your conclusion. The expected reasoning concludes: Find and verify the value in the original document. Distinguish measured results from illustrative numbers. The target is: Distinguish reading from independently checking a document value. Listen for an explanation of the actual arrow or calculation, not just a repeated label. If the answer is unsupported, mark that uncertainty and return to the source. Before moving on, ask for the main idea and one concrete change to the worked example.</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TEACHER SCRIPT — REVEAL. Return to the earlier choice. Explain the correct answer and why the tempting claim fails. Ask one learner to say the answer in a single sentence without reading it. This week’s case is: A synthetic invoice image has fields supplied by a prepared transcription. The visible slide states: Find and verify the value in the original document.</a:t>
            </a:r>
          </a:p>
          <a:p/>
          <a:p>
            <a:r>
              <a:t>Tempting mistake: A correctly formatted field proves its source. The earlier question was What does a source pointer let another person do? Ask how this differs from the wrong claim. The target is: Distinguish reading from independently checking a document value. Listen for an explanation of the actual arrow or calculation, not just a repeated label. If the answer is unsupported, mark that uncertainty and return to the source. Before moving on, ask for the main idea and one concrete change to the worked example.</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TEACHER SCRIPT — QUESTION. Take a show of hands for each choice before showing the mechanism. Ask pairs to defend a choice with evidence. Save the strongest wrong reason for the reveal later in this cycle. This week’s case is: A synthetic invoice image has fields supplied by a prepared transcription. The visible slide states: Does reading €54 correctly make it a correct payable total?</a:t>
            </a:r>
          </a:p>
          <a:p/>
          <a:p>
            <a:r>
              <a:t>Make a choice before we explain the diagram. The intended answer is No. The independent arithmetic disagrees by €9. The tempting claim is Accurate OCR implies accurate arithmetic. Do not show which card is correct until the reveal. The target is: Distinguish reading from independently checking a document value. Listen for an explanation of the actual arrow or calculation, not just a repeated label. If the answer is unsupported, mark that uncertainty and return to the source. Before moving on, ask for the main idea and one concrete change to the worked example.</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TEACHER SCRIPT — ANALOGY. Begin with the familiar scene. Invite learners to describe each part in everyday language. Then ask where the comparison might fail before introducing the technical vocabulary. This week’s case is: A synthetic invoice image has fields supplied by a prepared transcription. The visible slide states: A cashier recomputes a bill instead of trusting the printed sum.</a:t>
            </a:r>
          </a:p>
          <a:p/>
          <a:p>
            <a:r>
              <a:t>What matches our case, and where does the analogy stop? The boundary is: Real invoices may have discounts and other rules; specify the case assumptions. The target is: Distinguish reading from independently checking a document value. Listen for an explanation of the actual arrow or calculation, not just a repeated label. If the answer is unsupported, mark that uncertainty and return to the source. Before moving on, ask for the main idea and one concrete change to the worked example.</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TEACHER SCRIPT — MAPPING. Point from each familiar element to the corresponding technical element. Have students cover the right column and reconstruct the three matches. Read the limitation aloud. This week’s case is: A synthetic invoice image has fields supplied by a prepared transcription. The visible slide states: Match each everyday part to the technical part.</a:t>
            </a:r>
          </a:p>
          <a:p/>
          <a:p>
            <a:r>
              <a:t>Analogy limit: Real invoices may have discounts and other rules; specify the case assumptions. The three precise mappings are [['Items', '2 × €20'], ['Tax', '€5'], ['Independent sum', '€45']]. The target is: Distinguish reading from independently checking a document value. Listen for an explanation of the actual arrow or calculation, not just a repeated label. If the answer is unsupported, mark that uncertainty and return to the source. Before moving on, ask for the main idea and one concrete change to the worked example.</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TEACHER SCRIPT — MECHANISM. Trace every arrow slowly from the input to the output. Ask what information crosses the boundary at each arrow. Pause if students confuse a simplified notebook with a trained model. This week’s case is: A synthetic invoice image has fields supplied by a prepared transcription. The visible slide states: Recalculate totals and compare against the listed values.</a:t>
            </a:r>
          </a:p>
          <a:p/>
          <a:p>
            <a:r>
              <a:t>Trace the arrows from left to right. The weekly example is: 2 × €20 + €5 = €45; listed total €54, a €9 discrepancy. State what the analogy does not explain: Real invoices may have discounts and other rules; specify the case assumptions. The target is: Distinguish reading from independently checking a document value. Listen for an explanation of the actual arrow or calculation, not just a repeated label. If the answer is unsupported, mark that uncertainty and return to the source. Before moving on, ask for the main idea and one concrete change to the worked example.</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TEACHER SCRIPT — WORKED. Work the specific numbers or source wording aloud. Give students thirty seconds to write a conclusion, then ask which source line or calculation supports it. This week’s case is: A synthetic invoice image has fields supplied by a prepared transcription. The visible slide states: 2 × €20 + €5 = €45; listed total €54, a €9 discrepancy.</a:t>
            </a:r>
          </a:p>
          <a:p/>
          <a:p>
            <a:r>
              <a:t>Point to the evidence before giving your conclusion. The expected reasoning concludes: No. The independent arithmetic disagrees by €9. Distinguish measured results from illustrative numbers. The target is: Distinguish reading from independently checking a document value. Listen for an explanation of the actual arrow or calculation, not just a repeated label. If the answer is unsupported, mark that uncertainty and return to the source. Before moving on, ask for the main idea and one concrete change to the worked example.</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TEACHER SCRIPT — REVEAL. Return to the earlier choice. Explain the correct answer and why the tempting claim fails. Ask one learner to say the answer in a single sentence without reading it. This week’s case is: A synthetic invoice image has fields supplied by a prepared transcription. The visible slide states: No. The independent arithmetic disagrees by €9.</a:t>
            </a:r>
          </a:p>
          <a:p/>
          <a:p>
            <a:r>
              <a:t>Tempting mistake: Accurate OCR implies accurate arithmetic. The earlier question was Does reading €54 correctly make it a correct payable total? Ask how this differs from the wrong claim. The target is: Distinguish reading from independently checking a document value. Listen for an explanation of the actual arrow or calculation, not just a repeated label. If the answer is unsupported, mark that uncertainty and return to the source. Before moving on, ask for the main idea and one concrete change to the worked example.</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TEACHER SCRIPT — QUESTION. Take a show of hands for each choice before showing the mechanism. Ask pairs to defend a choice with evidence. Save the strongest wrong reason for the reveal later in this cycle. This week’s case is: A synthetic invoice image has fields supplied by a prepared transcription. The visible slide states: What would be unsafe to store?</a:t>
            </a:r>
          </a:p>
          <a:p/>
          <a:p>
            <a:r>
              <a:t>Make a choice before we explain the diagram. The intended answer is A guessed invoice ID presented as certain. The tempting claim is A plausible guess should be saved silently. Do not show which card is correct until the reveal. The target is: Distinguish reading from independently checking a document value. Listen for an explanation of the actual arrow or calculation, not just a repeated label. If the answer is unsupported, mark that uncertainty and return to the source. Before moving on, ask for the main idea and one concrete change to the worked example.</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TEACHER SCRIPT — ANALOGY. Begin with the familiar scene. Invite learners to describe each part in everyday language. Then ask where the comparison might fail before introducing the technical vocabulary. This week’s case is: A synthetic invoice image has fields supplied by a prepared transcription. The visible slide states: A reviewer marks an unreadable receipt field with a question mark.</a:t>
            </a:r>
          </a:p>
          <a:p/>
          <a:p>
            <a:r>
              <a:t>What matches our case, and where does the analogy stop? The boundary is: Uncertainty needs a clear workflow; marking everything uncertain is unhelpful. The target is: Distinguish reading from independently checking a document value. Listen for an explanation of the actual arrow or calculation, not just a repeated label. If the answer is unsupported, mark that uncertainty and return to the source. Before moving on, ask for the main idea and one concrete change to the worked example.</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TEACHER SCRIPT — MAPPING. Point from each familiar element to the corresponding technical element. Have students cover the right column and reconstruct the three matches. Read the limitation aloud. This week’s case is: A synthetic invoice image has fields supplied by a prepared transcription. The visible slide states: Match each everyday part to the technical part.</a:t>
            </a:r>
          </a:p>
          <a:p/>
          <a:p>
            <a:r>
              <a:t>Analogy limit: Uncertainty needs a clear workflow; marking everything uncertain is unhelpful. The three precise mappings are [['Blurred area', 'uncertain observation'], ['Question mark', 'review flag'], ['Second look', 'verification']]. The target is: Distinguish reading from independently checking a document value. Listen for an explanation of the actual arrow or calculation, not just a repeated label. If the answer is unsupported, mark that uncertainty and return to the source. Before moving on, ask for the main idea and one concrete change to the worked example.</a:t>
            </a:r>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TEACHER SCRIPT — MECHANISM. Trace every arrow slowly from the input to the output. Ask what information crosses the boundary at each arrow. Pause if students confuse a simplified notebook with a trained model. This week’s case is: A synthetic invoice image has fields supplied by a prepared transcription. The visible slide states: Mark unreadable or absent fields for review rather than inventing a value.</a:t>
            </a:r>
          </a:p>
          <a:p/>
          <a:p>
            <a:r>
              <a:t>Trace the arrows from left to right. The weekly example is: If INV-08/INV-03 cannot be distinguished, store an uncertain ID and request review. State what the analogy does not explain: Uncertainty needs a clear workflow; marking everything uncertain is unhelpful. The target is: Distinguish reading from independently checking a document value. Listen for an explanation of the actual arrow or calculation, not just a repeated label. If the answer is unsupported, mark that uncertainty and return to the source. Before moving on, ask for the main idea and one concrete change to the worked example.</a:t>
            </a:r>
          </a:p>
        </p:txBody>
      </p:sp>
      <p:sp>
        <p:nvSpPr>
          <p:cNvPr id="4" name="Slide Number Placeholder 3"/>
          <p:cNvSpPr>
            <a:spLocks noGrp="1"/>
          </p:cNvSpPr>
          <p:nvPr>
            <p:ph type="sldNum" idx="5" sz="quarter"/>
          </p:nvPr>
        </p:nvSpPr>
        <p:spPr/>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TEACHER SCRIPT — WORKED. Work the specific numbers or source wording aloud. Give students thirty seconds to write a conclusion, then ask which source line or calculation supports it. This week’s case is: A synthetic invoice image has fields supplied by a prepared transcription. The visible slide states: If INV-08/INV-03 cannot be distinguished, store an uncertain ID and request review.</a:t>
            </a:r>
          </a:p>
          <a:p/>
          <a:p>
            <a:r>
              <a:t>Point to the evidence before giving your conclusion. The expected reasoning concludes: A guessed invoice ID presented as certain. Distinguish measured results from illustrative numbers. The target is: Distinguish reading from independently checking a document value. Listen for an explanation of the actual arrow or calculation, not just a repeated label. If the answer is unsupported, mark that uncertainty and return to the source. Before moving on, ask for the main idea and one concrete change to the worked example.</a:t>
            </a:r>
          </a:p>
        </p:txBody>
      </p:sp>
      <p:sp>
        <p:nvSpPr>
          <p:cNvPr id="4" name="Slide Number Placeholder 3"/>
          <p:cNvSpPr>
            <a:spLocks noGrp="1"/>
          </p:cNvSpPr>
          <p:nvPr>
            <p:ph type="sldNum" idx="5" sz="quarter"/>
          </p:nvPr>
        </p:nvSpPr>
        <p:spPr/>
      </p:sp>
    </p:spTree>
  </p:cSld>
  <p:clrMapOvr>
    <a:masterClrMapping/>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TEACHER SCRIPT — REVEAL. Return to the earlier choice. Explain the correct answer and why the tempting claim fails. Ask one learner to say the answer in a single sentence without reading it. This week’s case is: A synthetic invoice image has fields supplied by a prepared transcription. The visible slide states: A guessed invoice ID presented as certain.</a:t>
            </a:r>
          </a:p>
          <a:p/>
          <a:p>
            <a:r>
              <a:t>Tempting mistake: A plausible guess should be saved silently. The earlier question was What would be unsafe to store? Ask how this differs from the wrong claim. The target is: Distinguish reading from independently checking a document value. Listen for an explanation of the actual arrow or calculation, not just a repeated label. If the answer is unsupported, mark that uncertainty and return to the source. Before moving on, ask for the main idea and one concrete change to the worked example.</a:t>
            </a:r>
          </a:p>
        </p:txBody>
      </p:sp>
      <p:sp>
        <p:nvSpPr>
          <p:cNvPr id="4" name="Slide Number Placeholder 3"/>
          <p:cNvSpPr>
            <a:spLocks noGrp="1"/>
          </p:cNvSpPr>
          <p:nvPr>
            <p:ph type="sldNum" idx="5" sz="quarter"/>
          </p:nvPr>
        </p:nvSpPr>
        <p:spPr/>
      </p:sp>
    </p:spTree>
  </p:cSld>
  <p:clrMapOvr>
    <a:masterClrMapping/>
  </p:clrMapOvr>
</p:notes>
</file>

<file path=ppt/notesSlides/notesSlide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TEACHER SCRIPT — WORKED. Work the specific numbers or source wording aloud. Give students thirty seconds to write a conclusion, then ask which source line or calculation supports it. This week’s case is: A synthetic invoice image has fields supplied by a prepared transcription. The visible slide states: Calculated total is €45.</a:t>
            </a:r>
          </a:p>
          <a:p/>
          <a:p>
            <a:r>
              <a:t>Listed total of €54 triggers review, even if transcription is syntactically valid. Have one student point to an exact source word or number for each conclusion. The target is: Distinguish reading from independently checking a document value. Listen for an explanation of the actual arrow or calculation, not just a repeated label. If the answer is unsupported, mark that uncertainty and return to the source. Before moving on, ask for the main idea and one concrete change to the worked example.</a:t>
            </a:r>
          </a:p>
        </p:txBody>
      </p:sp>
      <p:sp>
        <p:nvSpPr>
          <p:cNvPr id="4" name="Slide Number Placeholder 3"/>
          <p:cNvSpPr>
            <a:spLocks noGrp="1"/>
          </p:cNvSpPr>
          <p:nvPr>
            <p:ph type="sldNum" idx="5" sz="quarter"/>
          </p:nvPr>
        </p:nvSpPr>
        <p:spPr/>
      </p:sp>
    </p:spTree>
  </p:cSld>
  <p:clrMapOvr>
    <a:masterClrMapping/>
  </p:clrMapOvr>
</p:notes>
</file>

<file path=ppt/notesSlides/notesSlide2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TEACHER SCRIPT — PRACTICE. Open the matching notebook and demonstrate the first run. Have learners predict one change, run only that change, and record input, setting, output and an error explanation. This week’s case is: A synthetic invoice image has fields supplied by a prepared transcription. The visible slide states: Check two synthetic invoices, including a mismatched total.</a:t>
            </a:r>
          </a:p>
          <a:p/>
          <a:p>
            <a:r>
              <a:t>Read the original output before editing. Use Week_10_Lab.ipynb. This lab is a prepared classroom demonstration with its limitations documented. The target is: Distinguish reading from independently checking a document value. Listen for an explanation of the actual arrow or calculation, not just a repeated label. If the answer is unsupported, mark that uncertainty and return to the source. Before moving on, ask for the main idea and one concrete change to the worked example.</a:t>
            </a:r>
          </a:p>
        </p:txBody>
      </p:sp>
      <p:sp>
        <p:nvSpPr>
          <p:cNvPr id="4" name="Slide Number Placeholder 3"/>
          <p:cNvSpPr>
            <a:spLocks noGrp="1"/>
          </p:cNvSpPr>
          <p:nvPr>
            <p:ph type="sldNum" idx="5" sz="quarter"/>
          </p:nvPr>
        </p:nvSpPr>
        <p:spPr/>
      </p:sp>
    </p:spTree>
  </p:cSld>
  <p:clrMapOvr>
    <a:masterClrMapping/>
  </p:clrMapOvr>
</p:notes>
</file>

<file path=ppt/notesSlides/notesSlide3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TEACHER SCRIPT — PRACTICE. Open the matching notebook and demonstrate the first run. Have learners predict one change, run only that change, and record input, setting, output and an error explanation. This week’s case is: A synthetic invoice image has fields supplied by a prepared transcription. The visible slide states: Locate the supplied input, the transformation, the checking line and the printed result. The weekly lab change is: Correct the listed total and rerun the checker. The target is: Distinguish reading from independently checking a document value. Listen for an explanation of the actual arrow or calculation, not just a repeated label. If the answer is unsupported, mark that uncertainty and return to the source. Before moving on, ask for the main idea and one concrete change to the worked example.</a:t>
            </a:r>
          </a:p>
        </p:txBody>
      </p:sp>
      <p:sp>
        <p:nvSpPr>
          <p:cNvPr id="4" name="Slide Number Placeholder 3"/>
          <p:cNvSpPr>
            <a:spLocks noGrp="1"/>
          </p:cNvSpPr>
          <p:nvPr>
            <p:ph type="sldNum" idx="5" sz="quarter"/>
          </p:nvPr>
        </p:nvSpPr>
        <p:spPr/>
      </p:sp>
    </p:spTree>
  </p:cSld>
  <p:clrMapOvr>
    <a:masterClrMapping/>
  </p:clrMapOvr>
</p:notes>
</file>

<file path=ppt/notesSlides/notesSlide3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TEACHER SCRIPT — PRACTICE. Open the matching notebook and demonstrate the first run. Have learners predict one change, run only that change, and record input, setting, output and an error explanation. This week’s case is: A synthetic invoice image has fields supplied by a prepared transcription. The visible slide states: Correct the listed total and rerun the checker.</a:t>
            </a:r>
          </a:p>
          <a:p/>
          <a:p>
            <a:r>
              <a:t>What should change in the result? What stays fixed? Ask learners to write their prediction before rerunning the cell. The target is: Distinguish reading from independently checking a document value. Listen for an explanation of the actual arrow or calculation, not just a repeated label. If the answer is unsupported, mark that uncertainty and return to the source. Before moving on, ask for the main idea and one concrete change to the worked example.</a:t>
            </a:r>
          </a:p>
        </p:txBody>
      </p:sp>
      <p:sp>
        <p:nvSpPr>
          <p:cNvPr id="4" name="Slide Number Placeholder 3"/>
          <p:cNvSpPr>
            <a:spLocks noGrp="1"/>
          </p:cNvSpPr>
          <p:nvPr>
            <p:ph type="sldNum" idx="5" sz="quarter"/>
          </p:nvPr>
        </p:nvSpPr>
        <p:spPr/>
      </p:sp>
    </p:spTree>
  </p:cSld>
  <p:clrMapOvr>
    <a:masterClrMapping/>
  </p:clrMapOvr>
</p:notes>
</file>

<file path=ppt/notesSlides/notesSlide3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TEACHER SCRIPT — PRACTICE. Open the matching notebook and demonstrate the first run. Have learners predict one change, run only that change, and record input, setting, output and an error explanation. This week’s case is: A synthetic invoice image has fields supplied by a prepared transcription. The visible slide states: Record the input, the one changed setting, the observed result and a reason for any difference. The required evidence is: Source-linked field table and calculation. The target is: Distinguish reading from independently checking a document value. Listen for an explanation of the actual arrow or calculation, not just a repeated label. If the answer is unsupported, mark that uncertainty and return to the source. Before moving on, ask for the main idea and one concrete change to the worked example.</a:t>
            </a:r>
          </a:p>
        </p:txBody>
      </p:sp>
      <p:sp>
        <p:nvSpPr>
          <p:cNvPr id="4" name="Slide Number Placeholder 3"/>
          <p:cNvSpPr>
            <a:spLocks noGrp="1"/>
          </p:cNvSpPr>
          <p:nvPr>
            <p:ph type="sldNum" idx="5" sz="quarter"/>
          </p:nvPr>
        </p:nvSpPr>
        <p:spPr/>
      </p:sp>
    </p:spTree>
  </p:cSld>
  <p:clrMapOvr>
    <a:masterClrMapping/>
  </p:clrMapOvr>
</p:notes>
</file>

<file path=ppt/notesSlides/notesSlide3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TEACHER SCRIPT — CHECK. Use this as a brief formative check. Ask for the conclusion, the evidence and one limitation. Revisit disagreements in the review session and offer an extension only after the core task. This week’s case is: A synthetic invoice image has fields supplied by a prepared transcription. The visible slide states: Number of correctly checked fields / fields reviewed</a:t>
            </a:r>
          </a:p>
          <a:p/>
          <a:p>
            <a:r>
              <a:t>Write the numerator, denominator and one failure case. Where a measure is qualitative, show the concrete source comparison. Example: Listed total of €54 triggers review, even if transcription is syntactically valid. The target is: Distinguish reading from independently checking a document value. Listen for an explanation of the actual arrow or calculation, not just a repeated label. If the answer is unsupported, mark that uncertainty and return to the source. Before moving on, ask for the main idea and one concrete change to the worked example.</a:t>
            </a:r>
          </a:p>
        </p:txBody>
      </p:sp>
      <p:sp>
        <p:nvSpPr>
          <p:cNvPr id="4" name="Slide Number Placeholder 3"/>
          <p:cNvSpPr>
            <a:spLocks noGrp="1"/>
          </p:cNvSpPr>
          <p:nvPr>
            <p:ph type="sldNum" idx="5" sz="quarter"/>
          </p:nvPr>
        </p:nvSpPr>
        <p:spPr/>
      </p:sp>
    </p:spTree>
  </p:cSld>
  <p:clrMapOvr>
    <a:masterClrMapping/>
  </p:clrMapOvr>
</p:notes>
</file>

<file path=ppt/notesSlides/notesSlide3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TEACHER SCRIPT — CHECK. Use this as a brief formative check. Ask for the conclusion, the evidence and one limitation. Revisit disagreements in the review session and offer an extension only after the core task. This week’s case is: A synthetic invoice image has fields supplied by a prepared transcription. The visible slide states: Plausible wrong claim: The notebook performs OCR on a real image.</a:t>
            </a:r>
          </a:p>
          <a:p/>
          <a:p>
            <a:r>
              <a:t>Correct it using the case evidence. The correction is This core lab uses prepared transcription to teach verification. Image/OCR integration is an optional extension. The target is: Distinguish reading from independently checking a document value. Listen for an explanation of the actual arrow or calculation, not just a repeated label. If the answer is unsupported, mark that uncertainty and return to the source. Before moving on, ask for the main idea and one concrete change to the worked example.</a:t>
            </a:r>
          </a:p>
        </p:txBody>
      </p:sp>
      <p:sp>
        <p:nvSpPr>
          <p:cNvPr id="4" name="Slide Number Placeholder 3"/>
          <p:cNvSpPr>
            <a:spLocks noGrp="1"/>
          </p:cNvSpPr>
          <p:nvPr>
            <p:ph type="sldNum" idx="5" sz="quarter"/>
          </p:nvPr>
        </p:nvSpPr>
        <p:spPr/>
      </p:sp>
    </p:spTree>
  </p:cSld>
  <p:clrMapOvr>
    <a:masterClrMapping/>
  </p:clrMapOvr>
</p:notes>
</file>

<file path=ppt/notesSlides/notesSlide3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TEACHER SCRIPT — CHECK. Use this as a brief formative check. Ask for the conclusion, the evidence and one limitation. Revisit disagreements in the review session and offer an extension only after the core task. This week’s case is: A synthetic invoice image has fields supplied by a prepared transcription. The visible slide states: A blurred invoice number looks like INV-08 or INV-03. Which field should be marked uncertain?</a:t>
            </a:r>
          </a:p>
          <a:p/>
          <a:p>
            <a:r>
              <a:t>Explain which source or test would settle it. This is a fresh scenario, so ask for a reason before accepting either short answer. The target is: Distinguish reading from independently checking a document value. Listen for an explanation of the actual arrow or calculation, not just a repeated label. If the answer is unsupported, mark that uncertainty and return to the source. Before moving on, ask for the main idea and one concrete change to the worked example.</a:t>
            </a:r>
          </a:p>
        </p:txBody>
      </p:sp>
      <p:sp>
        <p:nvSpPr>
          <p:cNvPr id="4" name="Slide Number Placeholder 3"/>
          <p:cNvSpPr>
            <a:spLocks noGrp="1"/>
          </p:cNvSpPr>
          <p:nvPr>
            <p:ph type="sldNum" idx="5" sz="quarter"/>
          </p:nvPr>
        </p:nvSpPr>
        <p:spPr/>
      </p:sp>
    </p:spTree>
  </p:cSld>
  <p:clrMapOvr>
    <a:masterClrMapping/>
  </p:clrMapOvr>
</p:notes>
</file>

<file path=ppt/notesSlides/notesSlide3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TEACHER SCRIPT — CHECK. Use this as a brief formative check. Ask for the conclusion, the evidence and one limitation. Revisit disagreements in the review session and offer an extension only after the core task. This week’s case is: A synthetic invoice image has fields supplied by a prepared transcription. The visible slide states: Without reading the slide, name the input, one processing step and the check. Your partner should ask “How do you know?” Listen for a causal explanation and one limitation, then revisit a difficult arrow on the board. The target is: Distinguish reading from independently checking a document value. Listen for an explanation of the actual arrow or calculation, not just a repeated label. If the answer is unsupported, mark that uncertainty and return to the source. Before moving on, ask for the main idea and one concrete change to the worked example.</a:t>
            </a:r>
          </a:p>
        </p:txBody>
      </p:sp>
      <p:sp>
        <p:nvSpPr>
          <p:cNvPr id="4" name="Slide Number Placeholder 3"/>
          <p:cNvSpPr>
            <a:spLocks noGrp="1"/>
          </p:cNvSpPr>
          <p:nvPr>
            <p:ph type="sldNum" idx="5" sz="quarter"/>
          </p:nvPr>
        </p:nvSpPr>
        <p:spPr/>
      </p:sp>
    </p:spTree>
  </p:cSld>
  <p:clrMapOvr>
    <a:masterClrMapping/>
  </p:clrMapOvr>
</p:notes>
</file>

<file path=ppt/notesSlides/notesSlide3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TEACHER SCRIPT — CHECK. Use this as a brief formative check. Ask for the conclusion, the evidence and one limitation. Revisit disagreements in the review session and offer an extension only after the core task. This week’s case is: A synthetic invoice image has fields supplied by a prepared transcription. The visible slide states: What is the difference between extraction and verification?</a:t>
            </a:r>
          </a:p>
          <a:p/>
          <a:p>
            <a:r>
              <a:t>Write a short answer, then compare with the guide. Model answer after discussion: Extraction records the visible value. Verification checks it against arithmetic, evidence or rules. Practice marks: 4. The target is: Distinguish reading from independently checking a document value. Listen for an explanation of the actual arrow or calculation, not just a repeated label. If the answer is unsupported, mark that uncertainty and return to the source. Before moving on, ask for the main idea and one concrete change to the worked example.</a:t>
            </a:r>
          </a:p>
        </p:txBody>
      </p:sp>
      <p:sp>
        <p:nvSpPr>
          <p:cNvPr id="4" name="Slide Number Placeholder 3"/>
          <p:cNvSpPr>
            <a:spLocks noGrp="1"/>
          </p:cNvSpPr>
          <p:nvPr>
            <p:ph type="sldNum" idx="5" sz="quarter"/>
          </p:nvPr>
        </p:nvSpPr>
        <p:spPr/>
      </p:sp>
    </p:spTree>
  </p:cSld>
  <p:clrMapOvr>
    <a:masterClrMapping/>
  </p:clrMapOvr>
</p:notes>
</file>

<file path=ppt/notesSlides/notesSlide3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TEACHER SCRIPT — CHECK. Use this as a brief formative check. Ask for the conclusion, the evidence and one limitation. Revisit disagreements in the review session and offer an extension only after the core task. This week’s case is: A synthetic invoice image has fields supplied by a prepared transcription. The visible slide states: Calculate the total for 2 × 20 plus 5 tax.</a:t>
            </a:r>
          </a:p>
          <a:p/>
          <a:p>
            <a:r>
              <a:t>Write a short answer, then compare with the guide. Model answer after discussion: 45. A listed value of 54 differs by 9 and should be reviewed. Practice marks: 4. The target is: Distinguish reading from independently checking a document value. Listen for an explanation of the actual arrow or calculation, not just a repeated label. If the answer is unsupported, mark that uncertainty and return to the source. Before moving on, ask for the main idea and one concrete change to the worked example.</a:t>
            </a:r>
          </a:p>
        </p:txBody>
      </p:sp>
      <p:sp>
        <p:nvSpPr>
          <p:cNvPr id="4" name="Slide Number Placeholder 3"/>
          <p:cNvSpPr>
            <a:spLocks noGrp="1"/>
          </p:cNvSpPr>
          <p:nvPr>
            <p:ph type="sldNum" idx="5" sz="quarter"/>
          </p:nvPr>
        </p:nvSpPr>
        <p:spPr/>
      </p:sp>
    </p:spTree>
  </p:cSld>
  <p:clrMapOvr>
    <a:masterClrMapping/>
  </p:clrMapOvr>
</p:notes>
</file>

<file path=ppt/notesSlides/notesSlide3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TEACHER SCRIPT — PRACTICE. Open the matching notebook and demonstrate the first run. Have learners predict one change, run only that change, and record input, setting, output and an error explanation. This week’s case is: A synthetic invoice image has fields supplied by a prepared transcription. The visible slide states: Source-linked field table and calculation.</a:t>
            </a:r>
          </a:p>
          <a:p/>
          <a:p>
            <a:r>
              <a:t>Include the one changed input and an error explanation. This weekly evidence receives formative feedback according to the module sequence; refer to the assessment brief for graded work. The target is: Distinguish reading from independently checking a document value. Listen for an explanation of the actual arrow or calculation, not just a repeated label. If the answer is unsupported, mark that uncertainty and return to the source. Before moving on, ask for the main idea and one concrete change to the worked example.</a:t>
            </a:r>
          </a:p>
        </p:txBody>
      </p:sp>
      <p:sp>
        <p:nvSpPr>
          <p:cNvPr id="4" name="Slide Number Placeholder 3"/>
          <p:cNvSpPr>
            <a:spLocks noGrp="1"/>
          </p:cNvSpPr>
          <p:nvPr>
            <p:ph type="sldNum" idx="5" sz="quarter"/>
          </p:nvPr>
        </p:nvSpPr>
        <p:spPr/>
      </p:sp>
    </p:spTree>
  </p:cSld>
  <p:clrMapOvr>
    <a:masterClrMapping/>
  </p:clrMapOvr>
</p:notes>
</file>

<file path=ppt/notesSlides/notesSlide4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TEACHER SCRIPT — CHECK. Use this as a brief formative check. Ask for the conclusion, the evidence and one limitation. Revisit disagreements in the review session and offer an extension only after the core task. This week’s case is: A synthetic invoice image has fields supplied by a prepared transcription. The visible slide states: Read the source, preserve field pointers, calculate independently, and flag discrepancies.</a:t>
            </a:r>
          </a:p>
          <a:p/>
          <a:p>
            <a:r>
              <a:t>Read the linked official sources in the Word guide and redraw one diagram from memory. Return to the opening vote and ask whether the evidence changed anyone’s mind. The next week builds on this outcome: Distinguish reading from independently checking a document value. The target is: Distinguish reading from independently checking a document value. Listen for an explanation of the actual arrow or calculation, not just a repeated label. If the answer is unsupported, mark that uncertainty and return to the source. Before moving on, ask for the main idea and one concrete change to the worked example.</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0.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
          </a:xfrm>
          <a:prstGeom prst="rect">
            <a:avLst/>
          </a:prstGeom>
          <a:solidFill>
            <a:srgbClr val="255E9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10896"/>
            <a:ext cx="10881360" cy="576072"/>
          </a:xfrm>
          <a:prstGeom prst="rect">
            <a:avLst/>
          </a:prstGeom>
          <a:noFill/>
        </p:spPr>
        <p:txBody>
          <a:bodyPr wrap="square" lIns="22860" rIns="22860" tIns="9144">
            <a:spAutoFit/>
          </a:bodyPr>
          <a:lstStyle/>
          <a:p>
            <a:pPr>
              <a:defRPr sz="2700" b="1">
                <a:solidFill>
                  <a:srgbClr val="182B40"/>
                </a:solidFill>
                <a:latin typeface="Aptos"/>
              </a:defRPr>
            </a:pPr>
            <a:r>
              <a:t>Week 10 · Working with an image or document</a:t>
            </a:r>
          </a:p>
        </p:txBody>
      </p:sp>
      <p:sp>
        <p:nvSpPr>
          <p:cNvPr id="4" name="Rectangle 3"/>
          <p:cNvSpPr/>
          <p:nvPr/>
        </p:nvSpPr>
        <p:spPr>
          <a:xfrm>
            <a:off x="594360" y="1362456"/>
            <a:ext cx="64008" cy="4544568"/>
          </a:xfrm>
          <a:prstGeom prst="rect">
            <a:avLst/>
          </a:prstGeom>
          <a:solidFill>
            <a:srgbClr val="255E9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41248" y="1371600"/>
            <a:ext cx="3511296" cy="320040"/>
          </a:xfrm>
          <a:prstGeom prst="rect">
            <a:avLst/>
          </a:prstGeom>
          <a:noFill/>
        </p:spPr>
        <p:txBody>
          <a:bodyPr wrap="square" lIns="22860" rIns="22860" tIns="9144">
            <a:spAutoFit/>
          </a:bodyPr>
          <a:lstStyle/>
          <a:p>
            <a:pPr>
              <a:defRPr sz="1100" b="1">
                <a:solidFill>
                  <a:srgbClr val="255E9C"/>
                </a:solidFill>
                <a:latin typeface="Aptos"/>
              </a:defRPr>
            </a:pPr>
            <a:r>
              <a:t>OPEN  /  WEEK 10</a:t>
            </a:r>
          </a:p>
        </p:txBody>
      </p:sp>
      <p:sp>
        <p:nvSpPr>
          <p:cNvPr id="6" name="TextBox 5"/>
          <p:cNvSpPr txBox="1"/>
          <p:nvPr/>
        </p:nvSpPr>
        <p:spPr>
          <a:xfrm>
            <a:off x="841248" y="1847088"/>
            <a:ext cx="3557016" cy="3986784"/>
          </a:xfrm>
          <a:prstGeom prst="rect">
            <a:avLst/>
          </a:prstGeom>
          <a:noFill/>
        </p:spPr>
        <p:txBody>
          <a:bodyPr wrap="square" lIns="22860" rIns="22860" tIns="9144">
            <a:spAutoFit/>
          </a:bodyPr>
          <a:lstStyle/>
          <a:p>
            <a:pPr>
              <a:defRPr sz="1800" b="0">
                <a:solidFill>
                  <a:srgbClr val="182B40"/>
                </a:solidFill>
                <a:latin typeface="Aptos"/>
              </a:defRPr>
            </a:pPr>
            <a:r>
              <a:t>The €54 invoice</a:t>
            </a:r>
          </a:p>
          <a:p>
            <a:pPr>
              <a:defRPr sz="1800" b="0">
                <a:solidFill>
                  <a:srgbClr val="182B40"/>
                </a:solidFill>
                <a:latin typeface="Aptos"/>
              </a:defRPr>
            </a:pPr>
          </a:p>
          <a:p>
            <a:pPr>
              <a:defRPr sz="1800" b="0">
                <a:solidFill>
                  <a:srgbClr val="182B40"/>
                </a:solidFill>
                <a:latin typeface="Aptos"/>
              </a:defRPr>
            </a:pPr>
            <a:r>
              <a:t>An invoice image lists two items at €20 and €5 tax, yet displays €54 total. A model reads €54 correctly. Should the payment pass?</a:t>
            </a:r>
          </a:p>
        </p:txBody>
      </p:sp>
      <p:sp>
        <p:nvSpPr>
          <p:cNvPr id="7" name="Rectangle 6"/>
          <p:cNvSpPr/>
          <p:nvPr/>
        </p:nvSpPr>
        <p:spPr>
          <a:xfrm>
            <a:off x="594360" y="6391656"/>
            <a:ext cx="10899648" cy="16459"/>
          </a:xfrm>
          <a:prstGeom prst="rect">
            <a:avLst/>
          </a:prstGeom>
          <a:solidFill>
            <a:srgbClr val="EBF5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21792" y="6510528"/>
            <a:ext cx="10826496" cy="219456"/>
          </a:xfrm>
          <a:prstGeom prst="rect">
            <a:avLst/>
          </a:prstGeom>
          <a:noFill/>
        </p:spPr>
        <p:txBody>
          <a:bodyPr wrap="square" lIns="22860" rIns="22860" tIns="9144">
            <a:spAutoFit/>
          </a:bodyPr>
          <a:lstStyle/>
          <a:p>
            <a:pPr>
              <a:defRPr sz="900" b="0">
                <a:solidFill>
                  <a:srgbClr val="445665"/>
                </a:solidFill>
                <a:latin typeface="Aptos"/>
              </a:defRPr>
            </a:pPr>
            <a:r>
              <a:t>GENERATIVE AI 2027    •    WEEK 10    •    01 / 40</a:t>
            </a:r>
          </a:p>
        </p:txBody>
      </p:sp>
      <p:sp>
        <p:nvSpPr>
          <p:cNvPr id="9" name="Rounded Rectangle 8"/>
          <p:cNvSpPr/>
          <p:nvPr/>
        </p:nvSpPr>
        <p:spPr>
          <a:xfrm>
            <a:off x="4700016" y="1344168"/>
            <a:ext cx="6793992" cy="4727448"/>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ounded Rectangle 9"/>
          <p:cNvSpPr/>
          <p:nvPr/>
        </p:nvSpPr>
        <p:spPr>
          <a:xfrm>
            <a:off x="4892040" y="1508760"/>
            <a:ext cx="6263640" cy="3566160"/>
          </a:xfrm>
          <a:prstGeom prst="roundRect">
            <a:avLst/>
          </a:prstGeom>
          <a:solidFill>
            <a:srgbClr val="EBF5FB"/>
          </a:solidFill>
          <a:ln>
            <a:solidFill>
              <a:srgbClr val="EBF5FB"/>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700" b="1">
                <a:solidFill>
                  <a:srgbClr val="182B40"/>
                </a:solidFill>
                <a:latin typeface="Aptos"/>
              </a:defRPr>
            </a:pPr>
          </a:p>
        </p:txBody>
      </p:sp>
      <p:sp>
        <p:nvSpPr>
          <p:cNvPr id="11" name="TextBox 10"/>
          <p:cNvSpPr txBox="1"/>
          <p:nvPr/>
        </p:nvSpPr>
        <p:spPr>
          <a:xfrm>
            <a:off x="5257800" y="1773936"/>
            <a:ext cx="5486400" cy="502920"/>
          </a:xfrm>
          <a:prstGeom prst="rect">
            <a:avLst/>
          </a:prstGeom>
          <a:noFill/>
        </p:spPr>
        <p:txBody>
          <a:bodyPr wrap="square" lIns="0" rIns="0">
            <a:spAutoFit/>
          </a:bodyPr>
          <a:lstStyle/>
          <a:p>
            <a:pPr>
              <a:defRPr sz="2000" b="1">
                <a:solidFill>
                  <a:srgbClr val="255E9C"/>
                </a:solidFill>
                <a:latin typeface="Aptos"/>
              </a:defRPr>
            </a:pPr>
            <a:r>
              <a:t>INVOICE  /  INV-04</a:t>
            </a:r>
          </a:p>
        </p:txBody>
      </p:sp>
      <p:sp>
        <p:nvSpPr>
          <p:cNvPr id="12" name="TextBox 11"/>
          <p:cNvSpPr txBox="1"/>
          <p:nvPr/>
        </p:nvSpPr>
        <p:spPr>
          <a:xfrm>
            <a:off x="5394960" y="2423160"/>
            <a:ext cx="3017520" cy="365760"/>
          </a:xfrm>
          <a:prstGeom prst="rect">
            <a:avLst/>
          </a:prstGeom>
          <a:noFill/>
        </p:spPr>
        <p:txBody>
          <a:bodyPr wrap="square" lIns="0" rIns="0">
            <a:spAutoFit/>
          </a:bodyPr>
          <a:lstStyle/>
          <a:p>
            <a:pPr>
              <a:defRPr sz="1600" b="0">
                <a:solidFill>
                  <a:srgbClr val="182B40"/>
                </a:solidFill>
                <a:latin typeface="Aptos"/>
              </a:defRPr>
            </a:pPr>
            <a:r>
              <a:t>Quantity</a:t>
            </a:r>
          </a:p>
        </p:txBody>
      </p:sp>
      <p:sp>
        <p:nvSpPr>
          <p:cNvPr id="13" name="TextBox 12"/>
          <p:cNvSpPr txBox="1"/>
          <p:nvPr/>
        </p:nvSpPr>
        <p:spPr>
          <a:xfrm>
            <a:off x="8869680" y="2423160"/>
            <a:ext cx="1417320" cy="365760"/>
          </a:xfrm>
          <a:prstGeom prst="rect">
            <a:avLst/>
          </a:prstGeom>
          <a:noFill/>
        </p:spPr>
        <p:txBody>
          <a:bodyPr wrap="square" lIns="0" rIns="0">
            <a:spAutoFit/>
          </a:bodyPr>
          <a:lstStyle/>
          <a:p>
            <a:pPr>
              <a:defRPr sz="1700" b="1">
                <a:solidFill>
                  <a:srgbClr val="182B40"/>
                </a:solidFill>
                <a:latin typeface="Aptos"/>
              </a:defRPr>
            </a:pPr>
            <a:r>
              <a:t>2</a:t>
            </a:r>
          </a:p>
        </p:txBody>
      </p:sp>
      <p:sp>
        <p:nvSpPr>
          <p:cNvPr id="14" name="TextBox 13"/>
          <p:cNvSpPr txBox="1"/>
          <p:nvPr/>
        </p:nvSpPr>
        <p:spPr>
          <a:xfrm>
            <a:off x="5394960" y="2944368"/>
            <a:ext cx="3017520" cy="365760"/>
          </a:xfrm>
          <a:prstGeom prst="rect">
            <a:avLst/>
          </a:prstGeom>
          <a:noFill/>
        </p:spPr>
        <p:txBody>
          <a:bodyPr wrap="square" lIns="0" rIns="0">
            <a:spAutoFit/>
          </a:bodyPr>
          <a:lstStyle/>
          <a:p>
            <a:pPr>
              <a:defRPr sz="1600" b="0">
                <a:solidFill>
                  <a:srgbClr val="182B40"/>
                </a:solidFill>
                <a:latin typeface="Aptos"/>
              </a:defRPr>
            </a:pPr>
            <a:r>
              <a:t>Unit price</a:t>
            </a:r>
          </a:p>
        </p:txBody>
      </p:sp>
      <p:sp>
        <p:nvSpPr>
          <p:cNvPr id="15" name="TextBox 14"/>
          <p:cNvSpPr txBox="1"/>
          <p:nvPr/>
        </p:nvSpPr>
        <p:spPr>
          <a:xfrm>
            <a:off x="8869680" y="2944368"/>
            <a:ext cx="1417320" cy="365760"/>
          </a:xfrm>
          <a:prstGeom prst="rect">
            <a:avLst/>
          </a:prstGeom>
          <a:noFill/>
        </p:spPr>
        <p:txBody>
          <a:bodyPr wrap="square" lIns="0" rIns="0">
            <a:spAutoFit/>
          </a:bodyPr>
          <a:lstStyle/>
          <a:p>
            <a:pPr>
              <a:defRPr sz="1700" b="1">
                <a:solidFill>
                  <a:srgbClr val="182B40"/>
                </a:solidFill>
                <a:latin typeface="Aptos"/>
              </a:defRPr>
            </a:pPr>
            <a:r>
              <a:t>€20</a:t>
            </a:r>
          </a:p>
        </p:txBody>
      </p:sp>
      <p:sp>
        <p:nvSpPr>
          <p:cNvPr id="16" name="TextBox 15"/>
          <p:cNvSpPr txBox="1"/>
          <p:nvPr/>
        </p:nvSpPr>
        <p:spPr>
          <a:xfrm>
            <a:off x="5394960" y="3465576"/>
            <a:ext cx="3017520" cy="365760"/>
          </a:xfrm>
          <a:prstGeom prst="rect">
            <a:avLst/>
          </a:prstGeom>
          <a:noFill/>
        </p:spPr>
        <p:txBody>
          <a:bodyPr wrap="square" lIns="0" rIns="0">
            <a:spAutoFit/>
          </a:bodyPr>
          <a:lstStyle/>
          <a:p>
            <a:pPr>
              <a:defRPr sz="1600" b="0">
                <a:solidFill>
                  <a:srgbClr val="182B40"/>
                </a:solidFill>
                <a:latin typeface="Aptos"/>
              </a:defRPr>
            </a:pPr>
            <a:r>
              <a:t>Tax</a:t>
            </a:r>
          </a:p>
        </p:txBody>
      </p:sp>
      <p:sp>
        <p:nvSpPr>
          <p:cNvPr id="17" name="TextBox 16"/>
          <p:cNvSpPr txBox="1"/>
          <p:nvPr/>
        </p:nvSpPr>
        <p:spPr>
          <a:xfrm>
            <a:off x="8869680" y="3465576"/>
            <a:ext cx="1417320" cy="365760"/>
          </a:xfrm>
          <a:prstGeom prst="rect">
            <a:avLst/>
          </a:prstGeom>
          <a:noFill/>
        </p:spPr>
        <p:txBody>
          <a:bodyPr wrap="square" lIns="0" rIns="0">
            <a:spAutoFit/>
          </a:bodyPr>
          <a:lstStyle/>
          <a:p>
            <a:pPr>
              <a:defRPr sz="1700" b="1">
                <a:solidFill>
                  <a:srgbClr val="182B40"/>
                </a:solidFill>
                <a:latin typeface="Aptos"/>
              </a:defRPr>
            </a:pPr>
            <a:r>
              <a:t>€5</a:t>
            </a:r>
          </a:p>
        </p:txBody>
      </p:sp>
      <p:sp>
        <p:nvSpPr>
          <p:cNvPr id="18" name="TextBox 17"/>
          <p:cNvSpPr txBox="1"/>
          <p:nvPr/>
        </p:nvSpPr>
        <p:spPr>
          <a:xfrm>
            <a:off x="5394960" y="3986783"/>
            <a:ext cx="3017520" cy="365760"/>
          </a:xfrm>
          <a:prstGeom prst="rect">
            <a:avLst/>
          </a:prstGeom>
          <a:noFill/>
        </p:spPr>
        <p:txBody>
          <a:bodyPr wrap="square" lIns="0" rIns="0">
            <a:spAutoFit/>
          </a:bodyPr>
          <a:lstStyle/>
          <a:p>
            <a:pPr>
              <a:defRPr sz="1600" b="0">
                <a:solidFill>
                  <a:srgbClr val="182B40"/>
                </a:solidFill>
                <a:latin typeface="Aptos"/>
              </a:defRPr>
            </a:pPr>
            <a:r>
              <a:t>Listed total</a:t>
            </a:r>
          </a:p>
        </p:txBody>
      </p:sp>
      <p:sp>
        <p:nvSpPr>
          <p:cNvPr id="19" name="TextBox 18"/>
          <p:cNvSpPr txBox="1"/>
          <p:nvPr/>
        </p:nvSpPr>
        <p:spPr>
          <a:xfrm>
            <a:off x="8869680" y="3986783"/>
            <a:ext cx="1417320" cy="365760"/>
          </a:xfrm>
          <a:prstGeom prst="rect">
            <a:avLst/>
          </a:prstGeom>
          <a:noFill/>
        </p:spPr>
        <p:txBody>
          <a:bodyPr wrap="square" lIns="0" rIns="0">
            <a:spAutoFit/>
          </a:bodyPr>
          <a:lstStyle/>
          <a:p>
            <a:pPr>
              <a:defRPr sz="1700" b="1">
                <a:solidFill>
                  <a:srgbClr val="B74945"/>
                </a:solidFill>
                <a:latin typeface="Aptos"/>
              </a:defRPr>
            </a:pPr>
            <a:r>
              <a:t>€54</a:t>
            </a:r>
          </a:p>
        </p:txBody>
      </p:sp>
      <p:sp>
        <p:nvSpPr>
          <p:cNvPr id="20" name="TextBox 19"/>
          <p:cNvSpPr txBox="1"/>
          <p:nvPr/>
        </p:nvSpPr>
        <p:spPr>
          <a:xfrm>
            <a:off x="5074920" y="5257800"/>
            <a:ext cx="5760720" cy="457200"/>
          </a:xfrm>
          <a:prstGeom prst="rect">
            <a:avLst/>
          </a:prstGeom>
          <a:noFill/>
        </p:spPr>
        <p:txBody>
          <a:bodyPr wrap="square" lIns="0" rIns="0">
            <a:spAutoFit/>
          </a:bodyPr>
          <a:lstStyle/>
          <a:p>
            <a:pPr>
              <a:defRPr sz="1700" b="1">
                <a:solidFill>
                  <a:srgbClr val="117E6E"/>
                </a:solidFill>
                <a:latin typeface="Aptos"/>
              </a:defRPr>
            </a:pPr>
            <a:r>
              <a:t>Calculated total = €45. Flag the mismatch.</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
          </a:xfrm>
          <a:prstGeom prst="rect">
            <a:avLst/>
          </a:prstGeom>
          <a:solidFill>
            <a:srgbClr val="C7682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10896"/>
            <a:ext cx="10881360" cy="576072"/>
          </a:xfrm>
          <a:prstGeom prst="rect">
            <a:avLst/>
          </a:prstGeom>
          <a:noFill/>
        </p:spPr>
        <p:txBody>
          <a:bodyPr wrap="square" lIns="22860" rIns="22860" tIns="9144">
            <a:spAutoFit/>
          </a:bodyPr>
          <a:lstStyle/>
          <a:p>
            <a:pPr>
              <a:defRPr sz="2700" b="1">
                <a:solidFill>
                  <a:srgbClr val="182B40"/>
                </a:solidFill>
                <a:latin typeface="Aptos"/>
              </a:defRPr>
            </a:pPr>
            <a:r>
              <a:t>First vote: what would you do?</a:t>
            </a:r>
          </a:p>
        </p:txBody>
      </p:sp>
      <p:sp>
        <p:nvSpPr>
          <p:cNvPr id="4" name="Rectangle 3"/>
          <p:cNvSpPr/>
          <p:nvPr/>
        </p:nvSpPr>
        <p:spPr>
          <a:xfrm>
            <a:off x="594360" y="1362456"/>
            <a:ext cx="64008" cy="4544568"/>
          </a:xfrm>
          <a:prstGeom prst="rect">
            <a:avLst/>
          </a:prstGeom>
          <a:solidFill>
            <a:srgbClr val="C7682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41248" y="1371600"/>
            <a:ext cx="3511296" cy="320040"/>
          </a:xfrm>
          <a:prstGeom prst="rect">
            <a:avLst/>
          </a:prstGeom>
          <a:noFill/>
        </p:spPr>
        <p:txBody>
          <a:bodyPr wrap="square" lIns="22860" rIns="22860" tIns="9144">
            <a:spAutoFit/>
          </a:bodyPr>
          <a:lstStyle/>
          <a:p>
            <a:pPr>
              <a:defRPr sz="1100" b="1">
                <a:solidFill>
                  <a:srgbClr val="C7682C"/>
                </a:solidFill>
                <a:latin typeface="Aptos"/>
              </a:defRPr>
            </a:pPr>
            <a:r>
              <a:t>QUESTION  /  WEEK 10</a:t>
            </a:r>
          </a:p>
        </p:txBody>
      </p:sp>
      <p:sp>
        <p:nvSpPr>
          <p:cNvPr id="6" name="TextBox 5"/>
          <p:cNvSpPr txBox="1"/>
          <p:nvPr/>
        </p:nvSpPr>
        <p:spPr>
          <a:xfrm>
            <a:off x="841248" y="1847088"/>
            <a:ext cx="3557016" cy="3986784"/>
          </a:xfrm>
          <a:prstGeom prst="rect">
            <a:avLst/>
          </a:prstGeom>
          <a:noFill/>
        </p:spPr>
        <p:txBody>
          <a:bodyPr wrap="square" lIns="22860" rIns="22860" tIns="9144">
            <a:spAutoFit/>
          </a:bodyPr>
          <a:lstStyle/>
          <a:p>
            <a:pPr>
              <a:defRPr sz="1800" b="0">
                <a:solidFill>
                  <a:srgbClr val="182B40"/>
                </a:solidFill>
                <a:latin typeface="Aptos"/>
              </a:defRPr>
            </a:pPr>
            <a:r>
              <a:t>An invoice image lists two items at €20 and €5 tax, yet displays €54 total. A model reads €54 correctly. Should the payment pass?</a:t>
            </a:r>
          </a:p>
          <a:p>
            <a:pPr>
              <a:defRPr sz="1800" b="0">
                <a:solidFill>
                  <a:srgbClr val="182B40"/>
                </a:solidFill>
                <a:latin typeface="Aptos"/>
              </a:defRPr>
            </a:pPr>
          </a:p>
          <a:p>
            <a:pPr>
              <a:defRPr sz="1800" b="0">
                <a:solidFill>
                  <a:srgbClr val="182B40"/>
                </a:solidFill>
                <a:latin typeface="Aptos"/>
              </a:defRPr>
            </a:pPr>
            <a:r>
              <a:t>Choose an initial answer and name one piece of evidence you need.</a:t>
            </a:r>
          </a:p>
        </p:txBody>
      </p:sp>
      <p:sp>
        <p:nvSpPr>
          <p:cNvPr id="7" name="Rectangle 6"/>
          <p:cNvSpPr/>
          <p:nvPr/>
        </p:nvSpPr>
        <p:spPr>
          <a:xfrm>
            <a:off x="594360" y="6391656"/>
            <a:ext cx="10899648" cy="16459"/>
          </a:xfrm>
          <a:prstGeom prst="rect">
            <a:avLst/>
          </a:prstGeom>
          <a:solidFill>
            <a:srgbClr val="EBF5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21792" y="6510528"/>
            <a:ext cx="10826496" cy="219456"/>
          </a:xfrm>
          <a:prstGeom prst="rect">
            <a:avLst/>
          </a:prstGeom>
          <a:noFill/>
        </p:spPr>
        <p:txBody>
          <a:bodyPr wrap="square" lIns="22860" rIns="22860" tIns="9144">
            <a:spAutoFit/>
          </a:bodyPr>
          <a:lstStyle/>
          <a:p>
            <a:pPr>
              <a:defRPr sz="900" b="0">
                <a:solidFill>
                  <a:srgbClr val="445665"/>
                </a:solidFill>
                <a:latin typeface="Aptos"/>
              </a:defRPr>
            </a:pPr>
            <a:r>
              <a:t>GENERATIVE AI 2027    •    WEEK 10    •    02 / 40</a:t>
            </a:r>
          </a:p>
        </p:txBody>
      </p:sp>
      <p:sp>
        <p:nvSpPr>
          <p:cNvPr id="9" name="Rounded Rectangle 8"/>
          <p:cNvSpPr/>
          <p:nvPr/>
        </p:nvSpPr>
        <p:spPr>
          <a:xfrm>
            <a:off x="4700016" y="1344168"/>
            <a:ext cx="6793992" cy="4727448"/>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5074920" y="1581912"/>
            <a:ext cx="6126480" cy="411480"/>
          </a:xfrm>
          <a:prstGeom prst="rect">
            <a:avLst/>
          </a:prstGeom>
          <a:noFill/>
        </p:spPr>
        <p:txBody>
          <a:bodyPr wrap="square" lIns="22860" rIns="22860" tIns="9144">
            <a:spAutoFit/>
          </a:bodyPr>
          <a:lstStyle/>
          <a:p>
            <a:pPr>
              <a:defRPr sz="1600" b="1">
                <a:solidFill>
                  <a:srgbClr val="255E9C"/>
                </a:solidFill>
                <a:latin typeface="Aptos"/>
              </a:defRPr>
            </a:pPr>
            <a:r>
              <a:t>VOTE FIRST  •  GIVE A REASON</a:t>
            </a:r>
          </a:p>
        </p:txBody>
      </p:sp>
      <p:sp>
        <p:nvSpPr>
          <p:cNvPr id="11" name="Rounded Rectangle 10"/>
          <p:cNvSpPr/>
          <p:nvPr/>
        </p:nvSpPr>
        <p:spPr>
          <a:xfrm>
            <a:off x="5074920" y="2212848"/>
            <a:ext cx="6080760" cy="1115568"/>
          </a:xfrm>
          <a:prstGeom prst="roundRect">
            <a:avLst/>
          </a:prstGeom>
          <a:solidFill>
            <a:srgbClr val="EBF5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5212080" y="2322576"/>
            <a:ext cx="5806440" cy="914400"/>
          </a:xfrm>
          <a:prstGeom prst="rect">
            <a:avLst/>
          </a:prstGeom>
          <a:noFill/>
        </p:spPr>
        <p:txBody>
          <a:bodyPr wrap="square" lIns="22860" rIns="22860" tIns="9144" anchor="ctr">
            <a:spAutoFit/>
          </a:bodyPr>
          <a:lstStyle/>
          <a:p>
            <a:pPr algn="ctr">
              <a:defRPr sz="1600" b="1">
                <a:solidFill>
                  <a:srgbClr val="182B40"/>
                </a:solidFill>
                <a:latin typeface="Aptos"/>
              </a:defRPr>
            </a:pPr>
            <a:r>
              <a:t>A  Accept the first plausible result</a:t>
            </a:r>
          </a:p>
        </p:txBody>
      </p:sp>
      <p:sp>
        <p:nvSpPr>
          <p:cNvPr id="13" name="Rounded Rectangle 12"/>
          <p:cNvSpPr/>
          <p:nvPr/>
        </p:nvSpPr>
        <p:spPr>
          <a:xfrm>
            <a:off x="5074920" y="3657600"/>
            <a:ext cx="6080760" cy="1115568"/>
          </a:xfrm>
          <a:prstGeom prst="roundRect">
            <a:avLst/>
          </a:prstGeom>
          <a:solidFill>
            <a:srgbClr val="FFF9E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5212080" y="3767328"/>
            <a:ext cx="5806440" cy="914400"/>
          </a:xfrm>
          <a:prstGeom prst="rect">
            <a:avLst/>
          </a:prstGeom>
          <a:noFill/>
        </p:spPr>
        <p:txBody>
          <a:bodyPr wrap="square" lIns="22860" rIns="22860" tIns="9144" anchor="ctr">
            <a:spAutoFit/>
          </a:bodyPr>
          <a:lstStyle/>
          <a:p>
            <a:pPr algn="ctr">
              <a:defRPr sz="1600" b="1">
                <a:solidFill>
                  <a:srgbClr val="182B40"/>
                </a:solidFill>
                <a:latin typeface="Aptos"/>
              </a:defRPr>
            </a:pPr>
            <a:r>
              <a:t>B  Check the source or measurement</a:t>
            </a:r>
          </a:p>
        </p:txBody>
      </p:sp>
      <p:sp>
        <p:nvSpPr>
          <p:cNvPr id="15" name="TextBox 14"/>
          <p:cNvSpPr txBox="1"/>
          <p:nvPr/>
        </p:nvSpPr>
        <p:spPr>
          <a:xfrm>
            <a:off x="5120640" y="5303520"/>
            <a:ext cx="5806440" cy="411480"/>
          </a:xfrm>
          <a:prstGeom prst="rect">
            <a:avLst/>
          </a:prstGeom>
          <a:noFill/>
        </p:spPr>
        <p:txBody>
          <a:bodyPr wrap="square" lIns="22860" rIns="22860" tIns="9144">
            <a:spAutoFit/>
          </a:bodyPr>
          <a:lstStyle/>
          <a:p>
            <a:pPr>
              <a:defRPr sz="1600" b="1">
                <a:solidFill>
                  <a:srgbClr val="117E6E"/>
                </a:solidFill>
                <a:latin typeface="Aptos"/>
              </a:defRPr>
            </a:pPr>
            <a:r>
              <a:t>Which source or test could settle this?</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
          </a:xfrm>
          <a:prstGeom prst="rect">
            <a:avLst/>
          </a:prstGeom>
          <a:solidFill>
            <a:srgbClr val="255E9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10896"/>
            <a:ext cx="10881360" cy="576072"/>
          </a:xfrm>
          <a:prstGeom prst="rect">
            <a:avLst/>
          </a:prstGeom>
          <a:noFill/>
        </p:spPr>
        <p:txBody>
          <a:bodyPr wrap="square" lIns="22860" rIns="22860" tIns="9144">
            <a:spAutoFit/>
          </a:bodyPr>
          <a:lstStyle/>
          <a:p>
            <a:pPr>
              <a:defRPr sz="2700" b="1">
                <a:solidFill>
                  <a:srgbClr val="182B40"/>
                </a:solidFill>
                <a:latin typeface="Aptos"/>
              </a:defRPr>
            </a:pPr>
            <a:r>
              <a:t>The journey through today’s case</a:t>
            </a:r>
          </a:p>
        </p:txBody>
      </p:sp>
      <p:sp>
        <p:nvSpPr>
          <p:cNvPr id="4" name="Rectangle 3"/>
          <p:cNvSpPr/>
          <p:nvPr/>
        </p:nvSpPr>
        <p:spPr>
          <a:xfrm>
            <a:off x="594360" y="1362456"/>
            <a:ext cx="64008" cy="4544568"/>
          </a:xfrm>
          <a:prstGeom prst="rect">
            <a:avLst/>
          </a:prstGeom>
          <a:solidFill>
            <a:srgbClr val="255E9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41248" y="1371600"/>
            <a:ext cx="3511296" cy="320040"/>
          </a:xfrm>
          <a:prstGeom prst="rect">
            <a:avLst/>
          </a:prstGeom>
          <a:noFill/>
        </p:spPr>
        <p:txBody>
          <a:bodyPr wrap="square" lIns="22860" rIns="22860" tIns="9144">
            <a:spAutoFit/>
          </a:bodyPr>
          <a:lstStyle/>
          <a:p>
            <a:pPr>
              <a:defRPr sz="1100" b="1">
                <a:solidFill>
                  <a:srgbClr val="255E9C"/>
                </a:solidFill>
                <a:latin typeface="Aptos"/>
              </a:defRPr>
            </a:pPr>
            <a:r>
              <a:t>OPEN  /  WEEK 10</a:t>
            </a:r>
          </a:p>
        </p:txBody>
      </p:sp>
      <p:sp>
        <p:nvSpPr>
          <p:cNvPr id="6" name="TextBox 5"/>
          <p:cNvSpPr txBox="1"/>
          <p:nvPr/>
        </p:nvSpPr>
        <p:spPr>
          <a:xfrm>
            <a:off x="841248" y="1847088"/>
            <a:ext cx="3557016" cy="3986784"/>
          </a:xfrm>
          <a:prstGeom prst="rect">
            <a:avLst/>
          </a:prstGeom>
          <a:noFill/>
        </p:spPr>
        <p:txBody>
          <a:bodyPr wrap="square" lIns="22860" rIns="22860" tIns="9144">
            <a:spAutoFit/>
          </a:bodyPr>
          <a:lstStyle/>
          <a:p>
            <a:pPr>
              <a:defRPr sz="1800" b="0">
                <a:solidFill>
                  <a:srgbClr val="182B40"/>
                </a:solidFill>
                <a:latin typeface="Aptos"/>
              </a:defRPr>
            </a:pPr>
            <a:r>
              <a:t>We will predict, connect an analogy, trace a mechanism, work an example, then explain a decision.</a:t>
            </a:r>
          </a:p>
        </p:txBody>
      </p:sp>
      <p:sp>
        <p:nvSpPr>
          <p:cNvPr id="7" name="Rectangle 6"/>
          <p:cNvSpPr/>
          <p:nvPr/>
        </p:nvSpPr>
        <p:spPr>
          <a:xfrm>
            <a:off x="594360" y="6391656"/>
            <a:ext cx="10899648" cy="16459"/>
          </a:xfrm>
          <a:prstGeom prst="rect">
            <a:avLst/>
          </a:prstGeom>
          <a:solidFill>
            <a:srgbClr val="EBF5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21792" y="6510528"/>
            <a:ext cx="10826496" cy="219456"/>
          </a:xfrm>
          <a:prstGeom prst="rect">
            <a:avLst/>
          </a:prstGeom>
          <a:noFill/>
        </p:spPr>
        <p:txBody>
          <a:bodyPr wrap="square" lIns="22860" rIns="22860" tIns="9144">
            <a:spAutoFit/>
          </a:bodyPr>
          <a:lstStyle/>
          <a:p>
            <a:pPr>
              <a:defRPr sz="900" b="0">
                <a:solidFill>
                  <a:srgbClr val="445665"/>
                </a:solidFill>
                <a:latin typeface="Aptos"/>
              </a:defRPr>
            </a:pPr>
            <a:r>
              <a:t>GENERATIVE AI 2027    •    WEEK 10    •    03 / 40</a:t>
            </a:r>
          </a:p>
        </p:txBody>
      </p:sp>
      <p:sp>
        <p:nvSpPr>
          <p:cNvPr id="9" name="Rounded Rectangle 8"/>
          <p:cNvSpPr/>
          <p:nvPr/>
        </p:nvSpPr>
        <p:spPr>
          <a:xfrm>
            <a:off x="4700016" y="1344168"/>
            <a:ext cx="6793992" cy="4727448"/>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ounded Rectangle 9"/>
          <p:cNvSpPr/>
          <p:nvPr/>
        </p:nvSpPr>
        <p:spPr>
          <a:xfrm>
            <a:off x="5074920" y="1600200"/>
            <a:ext cx="658368" cy="822960"/>
          </a:xfrm>
          <a:prstGeom prst="roundRect">
            <a:avLst/>
          </a:prstGeom>
          <a:solidFill>
            <a:srgbClr val="EFF7F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5212080" y="1709928"/>
            <a:ext cx="384048" cy="621792"/>
          </a:xfrm>
          <a:prstGeom prst="rect">
            <a:avLst/>
          </a:prstGeom>
          <a:noFill/>
        </p:spPr>
        <p:txBody>
          <a:bodyPr wrap="square" lIns="22860" rIns="22860" tIns="9144" anchor="ctr">
            <a:spAutoFit/>
          </a:bodyPr>
          <a:lstStyle/>
          <a:p>
            <a:pPr algn="ctr">
              <a:defRPr sz="1800" b="1">
                <a:solidFill>
                  <a:srgbClr val="255E9C"/>
                </a:solidFill>
                <a:latin typeface="Aptos"/>
              </a:defRPr>
            </a:pPr>
            <a:r>
              <a:t>1</a:t>
            </a:r>
          </a:p>
        </p:txBody>
      </p:sp>
      <p:sp>
        <p:nvSpPr>
          <p:cNvPr id="12" name="Rounded Rectangle 11"/>
          <p:cNvSpPr/>
          <p:nvPr/>
        </p:nvSpPr>
        <p:spPr>
          <a:xfrm>
            <a:off x="5916168" y="1600200"/>
            <a:ext cx="5138928" cy="822960"/>
          </a:xfrm>
          <a:prstGeom prst="roundRect">
            <a:avLst/>
          </a:prstGeom>
          <a:solidFill>
            <a:srgbClr val="EBF5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053328" y="1709928"/>
            <a:ext cx="4864608" cy="621792"/>
          </a:xfrm>
          <a:prstGeom prst="rect">
            <a:avLst/>
          </a:prstGeom>
          <a:noFill/>
        </p:spPr>
        <p:txBody>
          <a:bodyPr wrap="square" lIns="22860" rIns="22860" tIns="9144" anchor="ctr">
            <a:spAutoFit/>
          </a:bodyPr>
          <a:lstStyle/>
          <a:p>
            <a:pPr algn="ctr">
              <a:defRPr sz="1600" b="1">
                <a:solidFill>
                  <a:srgbClr val="182B40"/>
                </a:solidFill>
                <a:latin typeface="Aptos"/>
              </a:defRPr>
            </a:pPr>
            <a:r>
              <a:t>Multimodal input</a:t>
            </a:r>
          </a:p>
        </p:txBody>
      </p:sp>
      <p:sp>
        <p:nvSpPr>
          <p:cNvPr id="14" name="Rounded Rectangle 13"/>
          <p:cNvSpPr/>
          <p:nvPr/>
        </p:nvSpPr>
        <p:spPr>
          <a:xfrm>
            <a:off x="5074920" y="2551176"/>
            <a:ext cx="658368" cy="822960"/>
          </a:xfrm>
          <a:prstGeom prst="roundRect">
            <a:avLst/>
          </a:prstGeom>
          <a:solidFill>
            <a:srgbClr val="EBF5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5212080" y="2660904"/>
            <a:ext cx="384048" cy="621792"/>
          </a:xfrm>
          <a:prstGeom prst="rect">
            <a:avLst/>
          </a:prstGeom>
          <a:noFill/>
        </p:spPr>
        <p:txBody>
          <a:bodyPr wrap="square" lIns="22860" rIns="22860" tIns="9144" anchor="ctr">
            <a:spAutoFit/>
          </a:bodyPr>
          <a:lstStyle/>
          <a:p>
            <a:pPr algn="ctr">
              <a:defRPr sz="1800" b="1">
                <a:solidFill>
                  <a:srgbClr val="255E9C"/>
                </a:solidFill>
                <a:latin typeface="Aptos"/>
              </a:defRPr>
            </a:pPr>
            <a:r>
              <a:t>2</a:t>
            </a:r>
          </a:p>
        </p:txBody>
      </p:sp>
      <p:sp>
        <p:nvSpPr>
          <p:cNvPr id="16" name="Rounded Rectangle 15"/>
          <p:cNvSpPr/>
          <p:nvPr/>
        </p:nvSpPr>
        <p:spPr>
          <a:xfrm>
            <a:off x="5916168" y="2551176"/>
            <a:ext cx="5138928" cy="822960"/>
          </a:xfrm>
          <a:prstGeom prst="roundRect">
            <a:avLst/>
          </a:prstGeom>
          <a:solidFill>
            <a:srgbClr val="EFF7F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053328" y="2660904"/>
            <a:ext cx="4864608" cy="621792"/>
          </a:xfrm>
          <a:prstGeom prst="rect">
            <a:avLst/>
          </a:prstGeom>
          <a:noFill/>
        </p:spPr>
        <p:txBody>
          <a:bodyPr wrap="square" lIns="22860" rIns="22860" tIns="9144" anchor="ctr">
            <a:spAutoFit/>
          </a:bodyPr>
          <a:lstStyle/>
          <a:p>
            <a:pPr algn="ctr">
              <a:defRPr sz="1600" b="1">
                <a:solidFill>
                  <a:srgbClr val="182B40"/>
                </a:solidFill>
                <a:latin typeface="Aptos"/>
              </a:defRPr>
            </a:pPr>
            <a:r>
              <a:t>Extraction</a:t>
            </a:r>
          </a:p>
        </p:txBody>
      </p:sp>
      <p:sp>
        <p:nvSpPr>
          <p:cNvPr id="18" name="Rounded Rectangle 17"/>
          <p:cNvSpPr/>
          <p:nvPr/>
        </p:nvSpPr>
        <p:spPr>
          <a:xfrm>
            <a:off x="5074920" y="3502152"/>
            <a:ext cx="658368" cy="822960"/>
          </a:xfrm>
          <a:prstGeom prst="roundRect">
            <a:avLst/>
          </a:prstGeom>
          <a:solidFill>
            <a:srgbClr val="EFF7F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5212080" y="3611880"/>
            <a:ext cx="384048" cy="621792"/>
          </a:xfrm>
          <a:prstGeom prst="rect">
            <a:avLst/>
          </a:prstGeom>
          <a:noFill/>
        </p:spPr>
        <p:txBody>
          <a:bodyPr wrap="square" lIns="22860" rIns="22860" tIns="9144" anchor="ctr">
            <a:spAutoFit/>
          </a:bodyPr>
          <a:lstStyle/>
          <a:p>
            <a:pPr algn="ctr">
              <a:defRPr sz="1800" b="1">
                <a:solidFill>
                  <a:srgbClr val="255E9C"/>
                </a:solidFill>
                <a:latin typeface="Aptos"/>
              </a:defRPr>
            </a:pPr>
            <a:r>
              <a:t>3</a:t>
            </a:r>
          </a:p>
        </p:txBody>
      </p:sp>
      <p:sp>
        <p:nvSpPr>
          <p:cNvPr id="20" name="Rounded Rectangle 19"/>
          <p:cNvSpPr/>
          <p:nvPr/>
        </p:nvSpPr>
        <p:spPr>
          <a:xfrm>
            <a:off x="5916168" y="3502152"/>
            <a:ext cx="5138928" cy="822960"/>
          </a:xfrm>
          <a:prstGeom prst="roundRect">
            <a:avLst/>
          </a:prstGeom>
          <a:solidFill>
            <a:srgbClr val="EBF5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6053328" y="3611880"/>
            <a:ext cx="4864608" cy="621792"/>
          </a:xfrm>
          <a:prstGeom prst="rect">
            <a:avLst/>
          </a:prstGeom>
          <a:noFill/>
        </p:spPr>
        <p:txBody>
          <a:bodyPr wrap="square" lIns="22860" rIns="22860" tIns="9144" anchor="ctr">
            <a:spAutoFit/>
          </a:bodyPr>
          <a:lstStyle/>
          <a:p>
            <a:pPr algn="ctr">
              <a:defRPr sz="1600" b="1">
                <a:solidFill>
                  <a:srgbClr val="182B40"/>
                </a:solidFill>
                <a:latin typeface="Aptos"/>
              </a:defRPr>
            </a:pPr>
            <a:r>
              <a:t>Verification</a:t>
            </a:r>
          </a:p>
        </p:txBody>
      </p:sp>
      <p:sp>
        <p:nvSpPr>
          <p:cNvPr id="22" name="Rounded Rectangle 21"/>
          <p:cNvSpPr/>
          <p:nvPr/>
        </p:nvSpPr>
        <p:spPr>
          <a:xfrm>
            <a:off x="5074920" y="4453128"/>
            <a:ext cx="658368" cy="822960"/>
          </a:xfrm>
          <a:prstGeom prst="roundRect">
            <a:avLst/>
          </a:prstGeom>
          <a:solidFill>
            <a:srgbClr val="EBF5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5212080" y="4562856"/>
            <a:ext cx="384048" cy="621792"/>
          </a:xfrm>
          <a:prstGeom prst="rect">
            <a:avLst/>
          </a:prstGeom>
          <a:noFill/>
        </p:spPr>
        <p:txBody>
          <a:bodyPr wrap="square" lIns="22860" rIns="22860" tIns="9144" anchor="ctr">
            <a:spAutoFit/>
          </a:bodyPr>
          <a:lstStyle/>
          <a:p>
            <a:pPr algn="ctr">
              <a:defRPr sz="1800" b="1">
                <a:solidFill>
                  <a:srgbClr val="255E9C"/>
                </a:solidFill>
                <a:latin typeface="Aptos"/>
              </a:defRPr>
            </a:pPr>
            <a:r>
              <a:t>4</a:t>
            </a:r>
          </a:p>
        </p:txBody>
      </p:sp>
      <p:sp>
        <p:nvSpPr>
          <p:cNvPr id="24" name="Rounded Rectangle 23"/>
          <p:cNvSpPr/>
          <p:nvPr/>
        </p:nvSpPr>
        <p:spPr>
          <a:xfrm>
            <a:off x="5916168" y="4453128"/>
            <a:ext cx="5138928" cy="822960"/>
          </a:xfrm>
          <a:prstGeom prst="roundRect">
            <a:avLst/>
          </a:prstGeom>
          <a:solidFill>
            <a:srgbClr val="EFF7F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053328" y="4562856"/>
            <a:ext cx="4864608" cy="621792"/>
          </a:xfrm>
          <a:prstGeom prst="rect">
            <a:avLst/>
          </a:prstGeom>
          <a:noFill/>
        </p:spPr>
        <p:txBody>
          <a:bodyPr wrap="square" lIns="22860" rIns="22860" tIns="9144" anchor="ctr">
            <a:spAutoFit/>
          </a:bodyPr>
          <a:lstStyle/>
          <a:p>
            <a:pPr algn="ctr">
              <a:defRPr sz="1600" b="1">
                <a:solidFill>
                  <a:srgbClr val="182B40"/>
                </a:solidFill>
                <a:latin typeface="Aptos"/>
              </a:defRPr>
            </a:pPr>
            <a:r>
              <a:t>Uncertainty</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
          </a:xfrm>
          <a:prstGeom prst="rect">
            <a:avLst/>
          </a:prstGeom>
          <a:solidFill>
            <a:srgbClr val="C7682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10896"/>
            <a:ext cx="10881360" cy="576072"/>
          </a:xfrm>
          <a:prstGeom prst="rect">
            <a:avLst/>
          </a:prstGeom>
          <a:noFill/>
        </p:spPr>
        <p:txBody>
          <a:bodyPr wrap="square" lIns="22860" rIns="22860" tIns="9144">
            <a:spAutoFit/>
          </a:bodyPr>
          <a:lstStyle/>
          <a:p>
            <a:pPr>
              <a:defRPr sz="2700" b="1">
                <a:solidFill>
                  <a:srgbClr val="182B40"/>
                </a:solidFill>
                <a:latin typeface="Aptos"/>
              </a:defRPr>
            </a:pPr>
            <a:r>
              <a:t>1. Predict · Multimodal input</a:t>
            </a:r>
          </a:p>
        </p:txBody>
      </p:sp>
      <p:sp>
        <p:nvSpPr>
          <p:cNvPr id="4" name="Rectangle 3"/>
          <p:cNvSpPr/>
          <p:nvPr/>
        </p:nvSpPr>
        <p:spPr>
          <a:xfrm>
            <a:off x="594360" y="1362456"/>
            <a:ext cx="64008" cy="4544568"/>
          </a:xfrm>
          <a:prstGeom prst="rect">
            <a:avLst/>
          </a:prstGeom>
          <a:solidFill>
            <a:srgbClr val="C7682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41248" y="1371600"/>
            <a:ext cx="3511296" cy="320040"/>
          </a:xfrm>
          <a:prstGeom prst="rect">
            <a:avLst/>
          </a:prstGeom>
          <a:noFill/>
        </p:spPr>
        <p:txBody>
          <a:bodyPr wrap="square" lIns="22860" rIns="22860" tIns="9144">
            <a:spAutoFit/>
          </a:bodyPr>
          <a:lstStyle/>
          <a:p>
            <a:pPr>
              <a:defRPr sz="1100" b="1">
                <a:solidFill>
                  <a:srgbClr val="C7682C"/>
                </a:solidFill>
                <a:latin typeface="Aptos"/>
              </a:defRPr>
            </a:pPr>
            <a:r>
              <a:t>QUESTION  /  WEEK 10</a:t>
            </a:r>
          </a:p>
        </p:txBody>
      </p:sp>
      <p:sp>
        <p:nvSpPr>
          <p:cNvPr id="6" name="TextBox 5"/>
          <p:cNvSpPr txBox="1"/>
          <p:nvPr/>
        </p:nvSpPr>
        <p:spPr>
          <a:xfrm>
            <a:off x="841248" y="1847088"/>
            <a:ext cx="3557016" cy="3986784"/>
          </a:xfrm>
          <a:prstGeom prst="rect">
            <a:avLst/>
          </a:prstGeom>
          <a:noFill/>
        </p:spPr>
        <p:txBody>
          <a:bodyPr wrap="square" lIns="22860" rIns="22860" tIns="9144">
            <a:spAutoFit/>
          </a:bodyPr>
          <a:lstStyle/>
          <a:p>
            <a:pPr>
              <a:defRPr sz="1800" b="0">
                <a:solidFill>
                  <a:srgbClr val="182B40"/>
                </a:solidFill>
                <a:latin typeface="Aptos"/>
              </a:defRPr>
            </a:pPr>
            <a:r>
              <a:t>What capability is represented by the supplied transcription?</a:t>
            </a:r>
          </a:p>
          <a:p>
            <a:pPr>
              <a:defRPr sz="1800" b="0">
                <a:solidFill>
                  <a:srgbClr val="182B40"/>
                </a:solidFill>
                <a:latin typeface="Aptos"/>
              </a:defRPr>
            </a:pPr>
          </a:p>
          <a:p>
            <a:pPr>
              <a:defRPr sz="1800" b="0">
                <a:solidFill>
                  <a:srgbClr val="182B40"/>
                </a:solidFill>
                <a:latin typeface="Aptos"/>
              </a:defRPr>
            </a:pPr>
            <a:r>
              <a:t>Make a choice before we explain the diagram.</a:t>
            </a:r>
          </a:p>
        </p:txBody>
      </p:sp>
      <p:sp>
        <p:nvSpPr>
          <p:cNvPr id="7" name="Rectangle 6"/>
          <p:cNvSpPr/>
          <p:nvPr/>
        </p:nvSpPr>
        <p:spPr>
          <a:xfrm>
            <a:off x="594360" y="6391656"/>
            <a:ext cx="10899648" cy="16459"/>
          </a:xfrm>
          <a:prstGeom prst="rect">
            <a:avLst/>
          </a:prstGeom>
          <a:solidFill>
            <a:srgbClr val="EBF5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21792" y="6510528"/>
            <a:ext cx="10826496" cy="219456"/>
          </a:xfrm>
          <a:prstGeom prst="rect">
            <a:avLst/>
          </a:prstGeom>
          <a:noFill/>
        </p:spPr>
        <p:txBody>
          <a:bodyPr wrap="square" lIns="22860" rIns="22860" tIns="9144">
            <a:spAutoFit/>
          </a:bodyPr>
          <a:lstStyle/>
          <a:p>
            <a:pPr>
              <a:defRPr sz="900" b="0">
                <a:solidFill>
                  <a:srgbClr val="445665"/>
                </a:solidFill>
                <a:latin typeface="Aptos"/>
              </a:defRPr>
            </a:pPr>
            <a:r>
              <a:t>GENERATIVE AI 2027    •    WEEK 10    •    04 / 40</a:t>
            </a:r>
          </a:p>
        </p:txBody>
      </p:sp>
      <p:sp>
        <p:nvSpPr>
          <p:cNvPr id="9" name="Rounded Rectangle 8"/>
          <p:cNvSpPr/>
          <p:nvPr/>
        </p:nvSpPr>
        <p:spPr>
          <a:xfrm>
            <a:off x="4700016" y="1344168"/>
            <a:ext cx="6793992" cy="4727448"/>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5074920" y="1581912"/>
            <a:ext cx="6126480" cy="411480"/>
          </a:xfrm>
          <a:prstGeom prst="rect">
            <a:avLst/>
          </a:prstGeom>
          <a:noFill/>
        </p:spPr>
        <p:txBody>
          <a:bodyPr wrap="square" lIns="22860" rIns="22860" tIns="9144">
            <a:spAutoFit/>
          </a:bodyPr>
          <a:lstStyle/>
          <a:p>
            <a:pPr>
              <a:defRPr sz="1600" b="1">
                <a:solidFill>
                  <a:srgbClr val="255E9C"/>
                </a:solidFill>
                <a:latin typeface="Aptos"/>
              </a:defRPr>
            </a:pPr>
            <a:r>
              <a:t>VOTE FIRST  •  GIVE A REASON</a:t>
            </a:r>
          </a:p>
        </p:txBody>
      </p:sp>
      <p:sp>
        <p:nvSpPr>
          <p:cNvPr id="11" name="Rounded Rectangle 10"/>
          <p:cNvSpPr/>
          <p:nvPr/>
        </p:nvSpPr>
        <p:spPr>
          <a:xfrm>
            <a:off x="5074920" y="2212848"/>
            <a:ext cx="6080760" cy="1115568"/>
          </a:xfrm>
          <a:prstGeom prst="roundRect">
            <a:avLst/>
          </a:prstGeom>
          <a:solidFill>
            <a:srgbClr val="EBF5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5212080" y="2322576"/>
            <a:ext cx="5806440" cy="914400"/>
          </a:xfrm>
          <a:prstGeom prst="rect">
            <a:avLst/>
          </a:prstGeom>
          <a:noFill/>
        </p:spPr>
        <p:txBody>
          <a:bodyPr wrap="square" lIns="22860" rIns="22860" tIns="9144" anchor="ctr">
            <a:spAutoFit/>
          </a:bodyPr>
          <a:lstStyle/>
          <a:p>
            <a:pPr algn="ctr">
              <a:defRPr sz="1600" b="1">
                <a:solidFill>
                  <a:srgbClr val="182B40"/>
                </a:solidFill>
                <a:latin typeface="Aptos"/>
              </a:defRPr>
            </a:pPr>
            <a:r>
              <a:t>A  An upstream reading step, whose accuracy still needs checking.</a:t>
            </a:r>
          </a:p>
        </p:txBody>
      </p:sp>
      <p:sp>
        <p:nvSpPr>
          <p:cNvPr id="13" name="Rounded Rectangle 12"/>
          <p:cNvSpPr/>
          <p:nvPr/>
        </p:nvSpPr>
        <p:spPr>
          <a:xfrm>
            <a:off x="5074920" y="3657600"/>
            <a:ext cx="6080760" cy="1115568"/>
          </a:xfrm>
          <a:prstGeom prst="roundRect">
            <a:avLst/>
          </a:prstGeom>
          <a:solidFill>
            <a:srgbClr val="FFF9E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5212080" y="3767328"/>
            <a:ext cx="5806440" cy="914400"/>
          </a:xfrm>
          <a:prstGeom prst="rect">
            <a:avLst/>
          </a:prstGeom>
          <a:noFill/>
        </p:spPr>
        <p:txBody>
          <a:bodyPr wrap="square" lIns="22860" rIns="22860" tIns="9144" anchor="ctr">
            <a:spAutoFit/>
          </a:bodyPr>
          <a:lstStyle/>
          <a:p>
            <a:pPr algn="ctr">
              <a:defRPr sz="1600" b="1">
                <a:solidFill>
                  <a:srgbClr val="182B40"/>
                </a:solidFill>
                <a:latin typeface="Aptos"/>
              </a:defRPr>
            </a:pPr>
            <a:r>
              <a:t>B  The notebook itself recognises image pixels.</a:t>
            </a:r>
          </a:p>
        </p:txBody>
      </p:sp>
      <p:sp>
        <p:nvSpPr>
          <p:cNvPr id="15" name="TextBox 14"/>
          <p:cNvSpPr txBox="1"/>
          <p:nvPr/>
        </p:nvSpPr>
        <p:spPr>
          <a:xfrm>
            <a:off x="5120640" y="5303520"/>
            <a:ext cx="5806440" cy="411480"/>
          </a:xfrm>
          <a:prstGeom prst="rect">
            <a:avLst/>
          </a:prstGeom>
          <a:noFill/>
        </p:spPr>
        <p:txBody>
          <a:bodyPr wrap="square" lIns="22860" rIns="22860" tIns="9144">
            <a:spAutoFit/>
          </a:bodyPr>
          <a:lstStyle/>
          <a:p>
            <a:pPr>
              <a:defRPr sz="1600" b="1">
                <a:solidFill>
                  <a:srgbClr val="117E6E"/>
                </a:solidFill>
                <a:latin typeface="Aptos"/>
              </a:defRPr>
            </a:pPr>
            <a:r>
              <a:t>Which source or test could settle this?</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
          </a:xfrm>
          <a:prstGeom prst="rect">
            <a:avLst/>
          </a:prstGeom>
          <a:solidFill>
            <a:srgbClr val="C7682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10896"/>
            <a:ext cx="10881360" cy="576072"/>
          </a:xfrm>
          <a:prstGeom prst="rect">
            <a:avLst/>
          </a:prstGeom>
          <a:noFill/>
        </p:spPr>
        <p:txBody>
          <a:bodyPr wrap="square" lIns="22860" rIns="22860" tIns="9144">
            <a:spAutoFit/>
          </a:bodyPr>
          <a:lstStyle/>
          <a:p>
            <a:pPr>
              <a:defRPr sz="2700" b="1">
                <a:solidFill>
                  <a:srgbClr val="182B40"/>
                </a:solidFill>
                <a:latin typeface="Aptos"/>
              </a:defRPr>
            </a:pPr>
            <a:r>
              <a:t>Multimodal input · a familiar picture</a:t>
            </a:r>
          </a:p>
        </p:txBody>
      </p:sp>
      <p:sp>
        <p:nvSpPr>
          <p:cNvPr id="4" name="Rectangle 3"/>
          <p:cNvSpPr/>
          <p:nvPr/>
        </p:nvSpPr>
        <p:spPr>
          <a:xfrm>
            <a:off x="594360" y="1362456"/>
            <a:ext cx="64008" cy="4544568"/>
          </a:xfrm>
          <a:prstGeom prst="rect">
            <a:avLst/>
          </a:prstGeom>
          <a:solidFill>
            <a:srgbClr val="C7682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41248" y="1371600"/>
            <a:ext cx="3511296" cy="320040"/>
          </a:xfrm>
          <a:prstGeom prst="rect">
            <a:avLst/>
          </a:prstGeom>
          <a:noFill/>
        </p:spPr>
        <p:txBody>
          <a:bodyPr wrap="square" lIns="22860" rIns="22860" tIns="9144">
            <a:spAutoFit/>
          </a:bodyPr>
          <a:lstStyle/>
          <a:p>
            <a:pPr>
              <a:defRPr sz="1100" b="1">
                <a:solidFill>
                  <a:srgbClr val="C7682C"/>
                </a:solidFill>
                <a:latin typeface="Aptos"/>
              </a:defRPr>
            </a:pPr>
            <a:r>
              <a:t>ANALOGY  /  WEEK 10</a:t>
            </a:r>
          </a:p>
        </p:txBody>
      </p:sp>
      <p:sp>
        <p:nvSpPr>
          <p:cNvPr id="6" name="TextBox 5"/>
          <p:cNvSpPr txBox="1"/>
          <p:nvPr/>
        </p:nvSpPr>
        <p:spPr>
          <a:xfrm>
            <a:off x="841248" y="1847088"/>
            <a:ext cx="3557016" cy="3986784"/>
          </a:xfrm>
          <a:prstGeom prst="rect">
            <a:avLst/>
          </a:prstGeom>
          <a:noFill/>
        </p:spPr>
        <p:txBody>
          <a:bodyPr wrap="square" lIns="22860" rIns="22860" tIns="9144">
            <a:spAutoFit/>
          </a:bodyPr>
          <a:lstStyle/>
          <a:p>
            <a:pPr>
              <a:defRPr sz="1800" b="0">
                <a:solidFill>
                  <a:srgbClr val="182B40"/>
                </a:solidFill>
                <a:latin typeface="Aptos"/>
              </a:defRPr>
            </a:pPr>
            <a:r>
              <a:t>A person can read a photo and a text note together.</a:t>
            </a:r>
          </a:p>
          <a:p>
            <a:pPr>
              <a:defRPr sz="1800" b="0">
                <a:solidFill>
                  <a:srgbClr val="182B40"/>
                </a:solidFill>
                <a:latin typeface="Aptos"/>
              </a:defRPr>
            </a:pPr>
          </a:p>
          <a:p>
            <a:pPr>
              <a:defRPr sz="1800" b="0">
                <a:solidFill>
                  <a:srgbClr val="182B40"/>
                </a:solidFill>
                <a:latin typeface="Aptos"/>
              </a:defRPr>
            </a:pPr>
            <a:r>
              <a:t>What matches our case, and where does the analogy stop?</a:t>
            </a:r>
          </a:p>
        </p:txBody>
      </p:sp>
      <p:sp>
        <p:nvSpPr>
          <p:cNvPr id="7" name="Rectangle 6"/>
          <p:cNvSpPr/>
          <p:nvPr/>
        </p:nvSpPr>
        <p:spPr>
          <a:xfrm>
            <a:off x="594360" y="6391656"/>
            <a:ext cx="10899648" cy="16459"/>
          </a:xfrm>
          <a:prstGeom prst="rect">
            <a:avLst/>
          </a:prstGeom>
          <a:solidFill>
            <a:srgbClr val="EBF5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21792" y="6510528"/>
            <a:ext cx="10826496" cy="219456"/>
          </a:xfrm>
          <a:prstGeom prst="rect">
            <a:avLst/>
          </a:prstGeom>
          <a:noFill/>
        </p:spPr>
        <p:txBody>
          <a:bodyPr wrap="square" lIns="22860" rIns="22860" tIns="9144">
            <a:spAutoFit/>
          </a:bodyPr>
          <a:lstStyle/>
          <a:p>
            <a:pPr>
              <a:defRPr sz="900" b="0">
                <a:solidFill>
                  <a:srgbClr val="445665"/>
                </a:solidFill>
                <a:latin typeface="Aptos"/>
              </a:defRPr>
            </a:pPr>
            <a:r>
              <a:t>GENERATIVE AI 2027    •    WEEK 10    •    05 / 40</a:t>
            </a:r>
          </a:p>
        </p:txBody>
      </p:sp>
      <p:sp>
        <p:nvSpPr>
          <p:cNvPr id="9" name="Rounded Rectangle 8"/>
          <p:cNvSpPr/>
          <p:nvPr/>
        </p:nvSpPr>
        <p:spPr>
          <a:xfrm>
            <a:off x="4700016" y="1344168"/>
            <a:ext cx="6793992" cy="4727448"/>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5074920" y="1591056"/>
            <a:ext cx="5943600" cy="749808"/>
          </a:xfrm>
          <a:prstGeom prst="rect">
            <a:avLst/>
          </a:prstGeom>
          <a:noFill/>
        </p:spPr>
        <p:txBody>
          <a:bodyPr wrap="square" lIns="22860" rIns="22860" tIns="9144">
            <a:spAutoFit/>
          </a:bodyPr>
          <a:lstStyle/>
          <a:p>
            <a:pPr>
              <a:defRPr sz="1800" b="1">
                <a:solidFill>
                  <a:srgbClr val="255E9C"/>
                </a:solidFill>
                <a:latin typeface="Aptos"/>
              </a:defRPr>
            </a:pPr>
            <a:r>
              <a:t>A person can read a photo and a text note together.</a:t>
            </a:r>
          </a:p>
        </p:txBody>
      </p:sp>
      <p:sp>
        <p:nvSpPr>
          <p:cNvPr id="11" name="Rounded Rectangle 10"/>
          <p:cNvSpPr/>
          <p:nvPr/>
        </p:nvSpPr>
        <p:spPr>
          <a:xfrm>
            <a:off x="5532120" y="2542032"/>
            <a:ext cx="768096" cy="768096"/>
          </a:xfrm>
          <a:prstGeom prst="roundRect">
            <a:avLst/>
          </a:prstGeom>
          <a:solidFill>
            <a:srgbClr val="255E9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5669279" y="2724912"/>
            <a:ext cx="493776" cy="402336"/>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5989320" y="2798064"/>
            <a:ext cx="91440" cy="91440"/>
          </a:xfrm>
          <a:prstGeom prst="ellipse">
            <a:avLst/>
          </a:prstGeom>
          <a:solidFill>
            <a:srgbClr val="255E9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14" name="Connector 13"/>
          <p:cNvCxnSpPr/>
          <p:nvPr/>
        </p:nvCxnSpPr>
        <p:spPr>
          <a:xfrm flipV="1">
            <a:off x="5733288" y="2889504"/>
            <a:ext cx="164592" cy="146304"/>
          </a:xfrm>
          <a:prstGeom prst="line">
            <a:avLst/>
          </a:prstGeom>
          <a:ln w="27940">
            <a:solidFill>
              <a:srgbClr val="255E9C"/>
            </a:solidFill>
          </a:ln>
        </p:spPr>
        <p:style>
          <a:lnRef idx="2">
            <a:schemeClr val="accent1"/>
          </a:lnRef>
          <a:fillRef idx="0">
            <a:schemeClr val="accent1"/>
          </a:fillRef>
          <a:effectRef idx="1">
            <a:schemeClr val="accent1"/>
          </a:effectRef>
          <a:fontRef idx="minor">
            <a:schemeClr val="tx1"/>
          </a:fontRef>
        </p:style>
      </p:cxnSp>
      <p:sp>
        <p:nvSpPr>
          <p:cNvPr id="15" name="Chevron 14"/>
          <p:cNvSpPr/>
          <p:nvPr/>
        </p:nvSpPr>
        <p:spPr>
          <a:xfrm>
            <a:off x="5815584" y="2825496"/>
            <a:ext cx="146304" cy="128016"/>
          </a:xfrm>
          <a:prstGeom prst="chevron">
            <a:avLst/>
          </a:prstGeom>
          <a:solidFill>
            <a:srgbClr val="255E9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16" name="Connector 15"/>
          <p:cNvCxnSpPr/>
          <p:nvPr/>
        </p:nvCxnSpPr>
        <p:spPr>
          <a:xfrm>
            <a:off x="5897880" y="2889504"/>
            <a:ext cx="173736" cy="164592"/>
          </a:xfrm>
          <a:prstGeom prst="line">
            <a:avLst/>
          </a:prstGeom>
          <a:ln w="27940">
            <a:solidFill>
              <a:srgbClr val="255E9C"/>
            </a:solidFill>
          </a:ln>
        </p:spPr>
        <p:style>
          <a:lnRef idx="2">
            <a:schemeClr val="accent1"/>
          </a:lnRef>
          <a:fillRef idx="0">
            <a:schemeClr val="accent1"/>
          </a:fillRef>
          <a:effectRef idx="1">
            <a:schemeClr val="accent1"/>
          </a:effectRef>
          <a:fontRef idx="minor">
            <a:schemeClr val="tx1"/>
          </a:fontRef>
        </p:style>
      </p:cxnSp>
      <p:sp>
        <p:nvSpPr>
          <p:cNvPr id="17" name="Chevron 16"/>
          <p:cNvSpPr/>
          <p:nvPr/>
        </p:nvSpPr>
        <p:spPr>
          <a:xfrm>
            <a:off x="5989320" y="2990088"/>
            <a:ext cx="146304" cy="128016"/>
          </a:xfrm>
          <a:prstGeom prst="chevron">
            <a:avLst/>
          </a:prstGeom>
          <a:solidFill>
            <a:srgbClr val="255E9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ounded Rectangle 17"/>
          <p:cNvSpPr/>
          <p:nvPr/>
        </p:nvSpPr>
        <p:spPr>
          <a:xfrm>
            <a:off x="5001768" y="3456432"/>
            <a:ext cx="1874519" cy="1060704"/>
          </a:xfrm>
          <a:prstGeom prst="roundRect">
            <a:avLst/>
          </a:prstGeom>
          <a:solidFill>
            <a:srgbClr val="EBF5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5138928" y="3566160"/>
            <a:ext cx="1600199" cy="859536"/>
          </a:xfrm>
          <a:prstGeom prst="rect">
            <a:avLst/>
          </a:prstGeom>
          <a:noFill/>
        </p:spPr>
        <p:txBody>
          <a:bodyPr wrap="square" lIns="22860" rIns="22860" tIns="9144" anchor="ctr">
            <a:spAutoFit/>
          </a:bodyPr>
          <a:lstStyle/>
          <a:p>
            <a:pPr algn="ctr">
              <a:defRPr sz="1600" b="1">
                <a:solidFill>
                  <a:srgbClr val="182B40"/>
                </a:solidFill>
                <a:latin typeface="Aptos"/>
              </a:defRPr>
            </a:pPr>
            <a:r>
              <a:t>Photo</a:t>
            </a:r>
          </a:p>
        </p:txBody>
      </p:sp>
      <p:cxnSp>
        <p:nvCxnSpPr>
          <p:cNvPr id="20" name="Connector 19"/>
          <p:cNvCxnSpPr/>
          <p:nvPr/>
        </p:nvCxnSpPr>
        <p:spPr>
          <a:xfrm>
            <a:off x="6903720" y="3977639"/>
            <a:ext cx="210311" cy="0"/>
          </a:xfrm>
          <a:prstGeom prst="line">
            <a:avLst/>
          </a:prstGeom>
          <a:ln w="27940">
            <a:solidFill>
              <a:srgbClr val="255E9C"/>
            </a:solidFill>
          </a:ln>
        </p:spPr>
        <p:style>
          <a:lnRef idx="2">
            <a:schemeClr val="accent1"/>
          </a:lnRef>
          <a:fillRef idx="0">
            <a:schemeClr val="accent1"/>
          </a:fillRef>
          <a:effectRef idx="1">
            <a:schemeClr val="accent1"/>
          </a:effectRef>
          <a:fontRef idx="minor">
            <a:schemeClr val="tx1"/>
          </a:fontRef>
        </p:style>
      </p:cxnSp>
      <p:sp>
        <p:nvSpPr>
          <p:cNvPr id="21" name="Chevron 20"/>
          <p:cNvSpPr/>
          <p:nvPr/>
        </p:nvSpPr>
        <p:spPr>
          <a:xfrm>
            <a:off x="7031736" y="3913631"/>
            <a:ext cx="146304" cy="128016"/>
          </a:xfrm>
          <a:prstGeom prst="chevron">
            <a:avLst/>
          </a:prstGeom>
          <a:solidFill>
            <a:srgbClr val="255E9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ounded Rectangle 21"/>
          <p:cNvSpPr/>
          <p:nvPr/>
        </p:nvSpPr>
        <p:spPr>
          <a:xfrm>
            <a:off x="7671815" y="2542032"/>
            <a:ext cx="768096" cy="768096"/>
          </a:xfrm>
          <a:prstGeom prst="roundRect">
            <a:avLst/>
          </a:prstGeom>
          <a:solidFill>
            <a:srgbClr val="117E6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Oval 22"/>
          <p:cNvSpPr/>
          <p:nvPr/>
        </p:nvSpPr>
        <p:spPr>
          <a:xfrm>
            <a:off x="7836407" y="2788920"/>
            <a:ext cx="128016" cy="128016"/>
          </a:xfrm>
          <a:prstGeom prst="ellipse">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8147303" y="2788920"/>
            <a:ext cx="128016" cy="128016"/>
          </a:xfrm>
          <a:prstGeom prst="ellipse">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Oval 24"/>
          <p:cNvSpPr/>
          <p:nvPr/>
        </p:nvSpPr>
        <p:spPr>
          <a:xfrm>
            <a:off x="7991855" y="3026664"/>
            <a:ext cx="128016" cy="128016"/>
          </a:xfrm>
          <a:prstGeom prst="ellipse">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ounded Rectangle 25"/>
          <p:cNvSpPr/>
          <p:nvPr/>
        </p:nvSpPr>
        <p:spPr>
          <a:xfrm>
            <a:off x="7141464" y="3456432"/>
            <a:ext cx="1874519" cy="1060704"/>
          </a:xfrm>
          <a:prstGeom prst="roundRect">
            <a:avLst/>
          </a:prstGeom>
          <a:solidFill>
            <a:srgbClr val="EFF7F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7278624" y="3566160"/>
            <a:ext cx="1600199" cy="859536"/>
          </a:xfrm>
          <a:prstGeom prst="rect">
            <a:avLst/>
          </a:prstGeom>
          <a:noFill/>
        </p:spPr>
        <p:txBody>
          <a:bodyPr wrap="square" lIns="22860" rIns="22860" tIns="9144" anchor="ctr">
            <a:spAutoFit/>
          </a:bodyPr>
          <a:lstStyle/>
          <a:p>
            <a:pPr algn="ctr">
              <a:defRPr sz="1600" b="1">
                <a:solidFill>
                  <a:srgbClr val="182B40"/>
                </a:solidFill>
                <a:latin typeface="Aptos"/>
              </a:defRPr>
            </a:pPr>
            <a:r>
              <a:t>Reader</a:t>
            </a:r>
          </a:p>
        </p:txBody>
      </p:sp>
      <p:cxnSp>
        <p:nvCxnSpPr>
          <p:cNvPr id="28" name="Connector 27"/>
          <p:cNvCxnSpPr/>
          <p:nvPr/>
        </p:nvCxnSpPr>
        <p:spPr>
          <a:xfrm>
            <a:off x="9043416" y="3977639"/>
            <a:ext cx="210312" cy="0"/>
          </a:xfrm>
          <a:prstGeom prst="line">
            <a:avLst/>
          </a:prstGeom>
          <a:ln w="27940">
            <a:solidFill>
              <a:srgbClr val="255E9C"/>
            </a:solidFill>
          </a:ln>
        </p:spPr>
        <p:style>
          <a:lnRef idx="2">
            <a:schemeClr val="accent1"/>
          </a:lnRef>
          <a:fillRef idx="0">
            <a:schemeClr val="accent1"/>
          </a:fillRef>
          <a:effectRef idx="1">
            <a:schemeClr val="accent1"/>
          </a:effectRef>
          <a:fontRef idx="minor">
            <a:schemeClr val="tx1"/>
          </a:fontRef>
        </p:style>
      </p:cxnSp>
      <p:sp>
        <p:nvSpPr>
          <p:cNvPr id="29" name="Chevron 28"/>
          <p:cNvSpPr/>
          <p:nvPr/>
        </p:nvSpPr>
        <p:spPr>
          <a:xfrm>
            <a:off x="9171432" y="3913631"/>
            <a:ext cx="146304" cy="128016"/>
          </a:xfrm>
          <a:prstGeom prst="chevron">
            <a:avLst/>
          </a:prstGeom>
          <a:solidFill>
            <a:srgbClr val="255E9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ounded Rectangle 29"/>
          <p:cNvSpPr/>
          <p:nvPr/>
        </p:nvSpPr>
        <p:spPr>
          <a:xfrm>
            <a:off x="9811511" y="2542032"/>
            <a:ext cx="768096" cy="768096"/>
          </a:xfrm>
          <a:prstGeom prst="roundRect">
            <a:avLst/>
          </a:prstGeom>
          <a:solidFill>
            <a:srgbClr val="C7682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ounded Rectangle 30"/>
          <p:cNvSpPr/>
          <p:nvPr/>
        </p:nvSpPr>
        <p:spPr>
          <a:xfrm>
            <a:off x="9948672" y="2743200"/>
            <a:ext cx="493776" cy="347472"/>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ounded Rectangle 31"/>
          <p:cNvSpPr/>
          <p:nvPr/>
        </p:nvSpPr>
        <p:spPr>
          <a:xfrm>
            <a:off x="10040111" y="2907792"/>
            <a:ext cx="41148" cy="41148"/>
          </a:xfrm>
          <a:prstGeom prst="roundRect">
            <a:avLst/>
          </a:prstGeom>
          <a:solidFill>
            <a:srgbClr val="C7682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ounded Rectangle 32"/>
          <p:cNvSpPr/>
          <p:nvPr/>
        </p:nvSpPr>
        <p:spPr>
          <a:xfrm>
            <a:off x="10158984" y="2907792"/>
            <a:ext cx="41148" cy="41148"/>
          </a:xfrm>
          <a:prstGeom prst="roundRect">
            <a:avLst/>
          </a:prstGeom>
          <a:solidFill>
            <a:srgbClr val="C7682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Rounded Rectangle 33"/>
          <p:cNvSpPr/>
          <p:nvPr/>
        </p:nvSpPr>
        <p:spPr>
          <a:xfrm>
            <a:off x="10277855" y="2907792"/>
            <a:ext cx="41148" cy="41148"/>
          </a:xfrm>
          <a:prstGeom prst="roundRect">
            <a:avLst/>
          </a:prstGeom>
          <a:solidFill>
            <a:srgbClr val="C7682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Rounded Rectangle 34"/>
          <p:cNvSpPr/>
          <p:nvPr/>
        </p:nvSpPr>
        <p:spPr>
          <a:xfrm>
            <a:off x="9281159" y="3456432"/>
            <a:ext cx="1874519" cy="1060704"/>
          </a:xfrm>
          <a:prstGeom prst="roundRect">
            <a:avLst/>
          </a:prstGeom>
          <a:solidFill>
            <a:srgbClr val="FFF9E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9418319" y="3566160"/>
            <a:ext cx="1600199" cy="859536"/>
          </a:xfrm>
          <a:prstGeom prst="rect">
            <a:avLst/>
          </a:prstGeom>
          <a:noFill/>
        </p:spPr>
        <p:txBody>
          <a:bodyPr wrap="square" lIns="22860" rIns="22860" tIns="9144" anchor="ctr">
            <a:spAutoFit/>
          </a:bodyPr>
          <a:lstStyle/>
          <a:p>
            <a:pPr algn="ctr">
              <a:defRPr sz="1600" b="1">
                <a:solidFill>
                  <a:srgbClr val="182B40"/>
                </a:solidFill>
                <a:latin typeface="Aptos"/>
              </a:defRPr>
            </a:pPr>
            <a:r>
              <a:t>Typed note</a:t>
            </a:r>
          </a:p>
        </p:txBody>
      </p:sp>
      <p:sp>
        <p:nvSpPr>
          <p:cNvPr id="37" name="TextBox 36"/>
          <p:cNvSpPr txBox="1"/>
          <p:nvPr/>
        </p:nvSpPr>
        <p:spPr>
          <a:xfrm>
            <a:off x="5074920" y="4983480"/>
            <a:ext cx="6126480" cy="429768"/>
          </a:xfrm>
          <a:prstGeom prst="rect">
            <a:avLst/>
          </a:prstGeom>
          <a:noFill/>
        </p:spPr>
        <p:txBody>
          <a:bodyPr wrap="square" lIns="22860" rIns="22860" tIns="9144">
            <a:spAutoFit/>
          </a:bodyPr>
          <a:lstStyle/>
          <a:p>
            <a:pPr>
              <a:defRPr sz="1600" b="1">
                <a:solidFill>
                  <a:srgbClr val="117E6E"/>
                </a:solidFill>
                <a:latin typeface="Aptos"/>
              </a:defRPr>
            </a:pPr>
            <a:r>
              <a:t>What matches the technical process?</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
          </a:xfrm>
          <a:prstGeom prst="rect">
            <a:avLst/>
          </a:prstGeom>
          <a:solidFill>
            <a:srgbClr val="117E6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10896"/>
            <a:ext cx="10881360" cy="576072"/>
          </a:xfrm>
          <a:prstGeom prst="rect">
            <a:avLst/>
          </a:prstGeom>
          <a:noFill/>
        </p:spPr>
        <p:txBody>
          <a:bodyPr wrap="square" lIns="22860" rIns="22860" tIns="9144">
            <a:spAutoFit/>
          </a:bodyPr>
          <a:lstStyle/>
          <a:p>
            <a:pPr>
              <a:defRPr sz="2700" b="1">
                <a:solidFill>
                  <a:srgbClr val="182B40"/>
                </a:solidFill>
                <a:latin typeface="Aptos"/>
              </a:defRPr>
            </a:pPr>
            <a:r>
              <a:t>Multimodal input · map the parts</a:t>
            </a:r>
          </a:p>
        </p:txBody>
      </p:sp>
      <p:sp>
        <p:nvSpPr>
          <p:cNvPr id="4" name="Rectangle 3"/>
          <p:cNvSpPr/>
          <p:nvPr/>
        </p:nvSpPr>
        <p:spPr>
          <a:xfrm>
            <a:off x="594360" y="1362456"/>
            <a:ext cx="64008" cy="4544568"/>
          </a:xfrm>
          <a:prstGeom prst="rect">
            <a:avLst/>
          </a:prstGeom>
          <a:solidFill>
            <a:srgbClr val="117E6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41248" y="1371600"/>
            <a:ext cx="3511296" cy="320040"/>
          </a:xfrm>
          <a:prstGeom prst="rect">
            <a:avLst/>
          </a:prstGeom>
          <a:noFill/>
        </p:spPr>
        <p:txBody>
          <a:bodyPr wrap="square" lIns="22860" rIns="22860" tIns="9144">
            <a:spAutoFit/>
          </a:bodyPr>
          <a:lstStyle/>
          <a:p>
            <a:pPr>
              <a:defRPr sz="1100" b="1">
                <a:solidFill>
                  <a:srgbClr val="117E6E"/>
                </a:solidFill>
                <a:latin typeface="Aptos"/>
              </a:defRPr>
            </a:pPr>
            <a:r>
              <a:t>MAPPING  /  WEEK 10</a:t>
            </a:r>
          </a:p>
        </p:txBody>
      </p:sp>
      <p:sp>
        <p:nvSpPr>
          <p:cNvPr id="6" name="TextBox 5"/>
          <p:cNvSpPr txBox="1"/>
          <p:nvPr/>
        </p:nvSpPr>
        <p:spPr>
          <a:xfrm>
            <a:off x="841248" y="1847088"/>
            <a:ext cx="3557016" cy="3986784"/>
          </a:xfrm>
          <a:prstGeom prst="rect">
            <a:avLst/>
          </a:prstGeom>
          <a:noFill/>
        </p:spPr>
        <p:txBody>
          <a:bodyPr wrap="square" lIns="22860" rIns="22860" tIns="9144">
            <a:spAutoFit/>
          </a:bodyPr>
          <a:lstStyle/>
          <a:p>
            <a:pPr>
              <a:defRPr sz="1800" b="0">
                <a:solidFill>
                  <a:srgbClr val="182B40"/>
                </a:solidFill>
                <a:latin typeface="Aptos"/>
              </a:defRPr>
            </a:pPr>
            <a:r>
              <a:t>Match each everyday part to the technical part.</a:t>
            </a:r>
          </a:p>
          <a:p>
            <a:pPr>
              <a:defRPr sz="1800" b="0">
                <a:solidFill>
                  <a:srgbClr val="182B40"/>
                </a:solidFill>
                <a:latin typeface="Aptos"/>
              </a:defRPr>
            </a:pPr>
          </a:p>
          <a:p>
            <a:pPr>
              <a:defRPr sz="1800" b="0">
                <a:solidFill>
                  <a:srgbClr val="182B40"/>
                </a:solidFill>
                <a:latin typeface="Aptos"/>
              </a:defRPr>
            </a:pPr>
            <a:r>
              <a:t>Analogy limit: This notebook uses a prepared transcription; it does not run OCR or test a vision model.</a:t>
            </a:r>
          </a:p>
        </p:txBody>
      </p:sp>
      <p:sp>
        <p:nvSpPr>
          <p:cNvPr id="7" name="Rectangle 6"/>
          <p:cNvSpPr/>
          <p:nvPr/>
        </p:nvSpPr>
        <p:spPr>
          <a:xfrm>
            <a:off x="594360" y="6391656"/>
            <a:ext cx="10899648" cy="16459"/>
          </a:xfrm>
          <a:prstGeom prst="rect">
            <a:avLst/>
          </a:prstGeom>
          <a:solidFill>
            <a:srgbClr val="EBF5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21792" y="6510528"/>
            <a:ext cx="10826496" cy="219456"/>
          </a:xfrm>
          <a:prstGeom prst="rect">
            <a:avLst/>
          </a:prstGeom>
          <a:noFill/>
        </p:spPr>
        <p:txBody>
          <a:bodyPr wrap="square" lIns="22860" rIns="22860" tIns="9144">
            <a:spAutoFit/>
          </a:bodyPr>
          <a:lstStyle/>
          <a:p>
            <a:pPr>
              <a:defRPr sz="900" b="0">
                <a:solidFill>
                  <a:srgbClr val="445665"/>
                </a:solidFill>
                <a:latin typeface="Aptos"/>
              </a:defRPr>
            </a:pPr>
            <a:r>
              <a:t>GENERATIVE AI 2027    •    WEEK 10    •    06 / 40</a:t>
            </a:r>
          </a:p>
        </p:txBody>
      </p:sp>
      <p:sp>
        <p:nvSpPr>
          <p:cNvPr id="9" name="Rounded Rectangle 8"/>
          <p:cNvSpPr/>
          <p:nvPr/>
        </p:nvSpPr>
        <p:spPr>
          <a:xfrm>
            <a:off x="4700016" y="1344168"/>
            <a:ext cx="6793992" cy="4727448"/>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5074920" y="1572768"/>
            <a:ext cx="6035040" cy="384048"/>
          </a:xfrm>
          <a:prstGeom prst="rect">
            <a:avLst/>
          </a:prstGeom>
          <a:noFill/>
        </p:spPr>
        <p:txBody>
          <a:bodyPr wrap="square" lIns="22860" rIns="22860" tIns="9144">
            <a:spAutoFit/>
          </a:bodyPr>
          <a:lstStyle/>
          <a:p>
            <a:pPr>
              <a:defRPr sz="1500" b="1">
                <a:solidFill>
                  <a:srgbClr val="255E9C"/>
                </a:solidFill>
                <a:latin typeface="Aptos"/>
              </a:defRPr>
            </a:pPr>
            <a:r>
              <a:t>FAMILIAR SCENE                  TECHNICAL IDEA</a:t>
            </a:r>
          </a:p>
        </p:txBody>
      </p:sp>
      <p:sp>
        <p:nvSpPr>
          <p:cNvPr id="11" name="Rounded Rectangle 10"/>
          <p:cNvSpPr/>
          <p:nvPr/>
        </p:nvSpPr>
        <p:spPr>
          <a:xfrm>
            <a:off x="5029200" y="2084831"/>
            <a:ext cx="2578608" cy="777240"/>
          </a:xfrm>
          <a:prstGeom prst="roundRect">
            <a:avLst/>
          </a:prstGeom>
          <a:solidFill>
            <a:srgbClr val="EBF5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5166360" y="2194560"/>
            <a:ext cx="2304288" cy="576072"/>
          </a:xfrm>
          <a:prstGeom prst="rect">
            <a:avLst/>
          </a:prstGeom>
          <a:noFill/>
        </p:spPr>
        <p:txBody>
          <a:bodyPr wrap="square" lIns="22860" rIns="22860" tIns="9144" anchor="ctr">
            <a:spAutoFit/>
          </a:bodyPr>
          <a:lstStyle/>
          <a:p>
            <a:pPr algn="ctr">
              <a:defRPr sz="1500" b="1">
                <a:solidFill>
                  <a:srgbClr val="182B40"/>
                </a:solidFill>
                <a:latin typeface="Aptos"/>
              </a:defRPr>
            </a:pPr>
            <a:r>
              <a:t>Photo</a:t>
            </a:r>
          </a:p>
        </p:txBody>
      </p:sp>
      <p:cxnSp>
        <p:nvCxnSpPr>
          <p:cNvPr id="13" name="Connector 12"/>
          <p:cNvCxnSpPr/>
          <p:nvPr/>
        </p:nvCxnSpPr>
        <p:spPr>
          <a:xfrm>
            <a:off x="7699248" y="2468879"/>
            <a:ext cx="256031" cy="0"/>
          </a:xfrm>
          <a:prstGeom prst="line">
            <a:avLst/>
          </a:prstGeom>
          <a:ln w="27940">
            <a:solidFill>
              <a:srgbClr val="255E9C"/>
            </a:solidFill>
          </a:ln>
        </p:spPr>
        <p:style>
          <a:lnRef idx="2">
            <a:schemeClr val="accent1"/>
          </a:lnRef>
          <a:fillRef idx="0">
            <a:schemeClr val="accent1"/>
          </a:fillRef>
          <a:effectRef idx="1">
            <a:schemeClr val="accent1"/>
          </a:effectRef>
          <a:fontRef idx="minor">
            <a:schemeClr val="tx1"/>
          </a:fontRef>
        </p:style>
      </p:cxnSp>
      <p:sp>
        <p:nvSpPr>
          <p:cNvPr id="14" name="Chevron 13"/>
          <p:cNvSpPr/>
          <p:nvPr/>
        </p:nvSpPr>
        <p:spPr>
          <a:xfrm>
            <a:off x="7872983" y="2404872"/>
            <a:ext cx="146304" cy="128016"/>
          </a:xfrm>
          <a:prstGeom prst="chevron">
            <a:avLst/>
          </a:prstGeom>
          <a:solidFill>
            <a:srgbClr val="255E9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ounded Rectangle 14"/>
          <p:cNvSpPr/>
          <p:nvPr/>
        </p:nvSpPr>
        <p:spPr>
          <a:xfrm>
            <a:off x="8101583" y="2084831"/>
            <a:ext cx="3054096" cy="777240"/>
          </a:xfrm>
          <a:prstGeom prst="roundRect">
            <a:avLst/>
          </a:prstGeom>
          <a:solidFill>
            <a:srgbClr val="EFF7F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238744" y="2194560"/>
            <a:ext cx="2779776" cy="576072"/>
          </a:xfrm>
          <a:prstGeom prst="rect">
            <a:avLst/>
          </a:prstGeom>
          <a:noFill/>
        </p:spPr>
        <p:txBody>
          <a:bodyPr wrap="square" lIns="22860" rIns="22860" tIns="9144" anchor="ctr">
            <a:spAutoFit/>
          </a:bodyPr>
          <a:lstStyle/>
          <a:p>
            <a:pPr algn="ctr">
              <a:defRPr sz="1500" b="1">
                <a:solidFill>
                  <a:srgbClr val="182B40"/>
                </a:solidFill>
                <a:latin typeface="Aptos"/>
              </a:defRPr>
            </a:pPr>
            <a:r>
              <a:t>visual input</a:t>
            </a:r>
          </a:p>
        </p:txBody>
      </p:sp>
      <p:sp>
        <p:nvSpPr>
          <p:cNvPr id="17" name="Rounded Rectangle 16"/>
          <p:cNvSpPr/>
          <p:nvPr/>
        </p:nvSpPr>
        <p:spPr>
          <a:xfrm>
            <a:off x="5029200" y="3136391"/>
            <a:ext cx="2578608" cy="777240"/>
          </a:xfrm>
          <a:prstGeom prst="roundRect">
            <a:avLst/>
          </a:prstGeom>
          <a:solidFill>
            <a:srgbClr val="EBF5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5166360" y="3246120"/>
            <a:ext cx="2304288" cy="576072"/>
          </a:xfrm>
          <a:prstGeom prst="rect">
            <a:avLst/>
          </a:prstGeom>
          <a:noFill/>
        </p:spPr>
        <p:txBody>
          <a:bodyPr wrap="square" lIns="22860" rIns="22860" tIns="9144" anchor="ctr">
            <a:spAutoFit/>
          </a:bodyPr>
          <a:lstStyle/>
          <a:p>
            <a:pPr algn="ctr">
              <a:defRPr sz="1500" b="1">
                <a:solidFill>
                  <a:srgbClr val="182B40"/>
                </a:solidFill>
                <a:latin typeface="Aptos"/>
              </a:defRPr>
            </a:pPr>
            <a:r>
              <a:t>Reader</a:t>
            </a:r>
          </a:p>
        </p:txBody>
      </p:sp>
      <p:cxnSp>
        <p:nvCxnSpPr>
          <p:cNvPr id="19" name="Connector 18"/>
          <p:cNvCxnSpPr/>
          <p:nvPr/>
        </p:nvCxnSpPr>
        <p:spPr>
          <a:xfrm>
            <a:off x="7699248" y="3520439"/>
            <a:ext cx="256031" cy="0"/>
          </a:xfrm>
          <a:prstGeom prst="line">
            <a:avLst/>
          </a:prstGeom>
          <a:ln w="27940">
            <a:solidFill>
              <a:srgbClr val="255E9C"/>
            </a:solidFill>
          </a:ln>
        </p:spPr>
        <p:style>
          <a:lnRef idx="2">
            <a:schemeClr val="accent1"/>
          </a:lnRef>
          <a:fillRef idx="0">
            <a:schemeClr val="accent1"/>
          </a:fillRef>
          <a:effectRef idx="1">
            <a:schemeClr val="accent1"/>
          </a:effectRef>
          <a:fontRef idx="minor">
            <a:schemeClr val="tx1"/>
          </a:fontRef>
        </p:style>
      </p:cxnSp>
      <p:sp>
        <p:nvSpPr>
          <p:cNvPr id="20" name="Chevron 19"/>
          <p:cNvSpPr/>
          <p:nvPr/>
        </p:nvSpPr>
        <p:spPr>
          <a:xfrm>
            <a:off x="7872983" y="3456432"/>
            <a:ext cx="146304" cy="128016"/>
          </a:xfrm>
          <a:prstGeom prst="chevron">
            <a:avLst/>
          </a:prstGeom>
          <a:solidFill>
            <a:srgbClr val="255E9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ounded Rectangle 20"/>
          <p:cNvSpPr/>
          <p:nvPr/>
        </p:nvSpPr>
        <p:spPr>
          <a:xfrm>
            <a:off x="8101583" y="3136391"/>
            <a:ext cx="3054096" cy="777240"/>
          </a:xfrm>
          <a:prstGeom prst="roundRect">
            <a:avLst/>
          </a:prstGeom>
          <a:solidFill>
            <a:srgbClr val="EFF7F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8238744" y="3246120"/>
            <a:ext cx="2779776" cy="576072"/>
          </a:xfrm>
          <a:prstGeom prst="rect">
            <a:avLst/>
          </a:prstGeom>
          <a:noFill/>
        </p:spPr>
        <p:txBody>
          <a:bodyPr wrap="square" lIns="22860" rIns="22860" tIns="9144" anchor="ctr">
            <a:spAutoFit/>
          </a:bodyPr>
          <a:lstStyle/>
          <a:p>
            <a:pPr algn="ctr">
              <a:defRPr sz="1500" b="1">
                <a:solidFill>
                  <a:srgbClr val="182B40"/>
                </a:solidFill>
                <a:latin typeface="Aptos"/>
              </a:defRPr>
            </a:pPr>
            <a:r>
              <a:t>OCR or vision step</a:t>
            </a:r>
          </a:p>
        </p:txBody>
      </p:sp>
      <p:sp>
        <p:nvSpPr>
          <p:cNvPr id="23" name="Rounded Rectangle 22"/>
          <p:cNvSpPr/>
          <p:nvPr/>
        </p:nvSpPr>
        <p:spPr>
          <a:xfrm>
            <a:off x="5029200" y="4187952"/>
            <a:ext cx="2578608" cy="777240"/>
          </a:xfrm>
          <a:prstGeom prst="roundRect">
            <a:avLst/>
          </a:prstGeom>
          <a:solidFill>
            <a:srgbClr val="EBF5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5166360" y="4297680"/>
            <a:ext cx="2304288" cy="576072"/>
          </a:xfrm>
          <a:prstGeom prst="rect">
            <a:avLst/>
          </a:prstGeom>
          <a:noFill/>
        </p:spPr>
        <p:txBody>
          <a:bodyPr wrap="square" lIns="22860" rIns="22860" tIns="9144" anchor="ctr">
            <a:spAutoFit/>
          </a:bodyPr>
          <a:lstStyle/>
          <a:p>
            <a:pPr algn="ctr">
              <a:defRPr sz="1500" b="1">
                <a:solidFill>
                  <a:srgbClr val="182B40"/>
                </a:solidFill>
                <a:latin typeface="Aptos"/>
              </a:defRPr>
            </a:pPr>
            <a:r>
              <a:t>Typed note</a:t>
            </a:r>
          </a:p>
        </p:txBody>
      </p:sp>
      <p:cxnSp>
        <p:nvCxnSpPr>
          <p:cNvPr id="25" name="Connector 24"/>
          <p:cNvCxnSpPr/>
          <p:nvPr/>
        </p:nvCxnSpPr>
        <p:spPr>
          <a:xfrm>
            <a:off x="7699248" y="4572000"/>
            <a:ext cx="256031" cy="0"/>
          </a:xfrm>
          <a:prstGeom prst="line">
            <a:avLst/>
          </a:prstGeom>
          <a:ln w="27940">
            <a:solidFill>
              <a:srgbClr val="255E9C"/>
            </a:solidFill>
          </a:ln>
        </p:spPr>
        <p:style>
          <a:lnRef idx="2">
            <a:schemeClr val="accent1"/>
          </a:lnRef>
          <a:fillRef idx="0">
            <a:schemeClr val="accent1"/>
          </a:fillRef>
          <a:effectRef idx="1">
            <a:schemeClr val="accent1"/>
          </a:effectRef>
          <a:fontRef idx="minor">
            <a:schemeClr val="tx1"/>
          </a:fontRef>
        </p:style>
      </p:cxnSp>
      <p:sp>
        <p:nvSpPr>
          <p:cNvPr id="26" name="Chevron 25"/>
          <p:cNvSpPr/>
          <p:nvPr/>
        </p:nvSpPr>
        <p:spPr>
          <a:xfrm>
            <a:off x="7872983" y="4507992"/>
            <a:ext cx="146304" cy="128016"/>
          </a:xfrm>
          <a:prstGeom prst="chevron">
            <a:avLst/>
          </a:prstGeom>
          <a:solidFill>
            <a:srgbClr val="255E9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ounded Rectangle 26"/>
          <p:cNvSpPr/>
          <p:nvPr/>
        </p:nvSpPr>
        <p:spPr>
          <a:xfrm>
            <a:off x="8101583" y="4187952"/>
            <a:ext cx="3054096" cy="777240"/>
          </a:xfrm>
          <a:prstGeom prst="roundRect">
            <a:avLst/>
          </a:prstGeom>
          <a:solidFill>
            <a:srgbClr val="EFF7F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8238744" y="4297680"/>
            <a:ext cx="2779776" cy="576072"/>
          </a:xfrm>
          <a:prstGeom prst="rect">
            <a:avLst/>
          </a:prstGeom>
          <a:noFill/>
        </p:spPr>
        <p:txBody>
          <a:bodyPr wrap="square" lIns="22860" rIns="22860" tIns="9144" anchor="ctr">
            <a:spAutoFit/>
          </a:bodyPr>
          <a:lstStyle/>
          <a:p>
            <a:pPr algn="ctr">
              <a:defRPr sz="1500" b="1">
                <a:solidFill>
                  <a:srgbClr val="182B40"/>
                </a:solidFill>
                <a:latin typeface="Aptos"/>
              </a:defRPr>
            </a:pPr>
            <a:r>
              <a:t>transcribed text</a:t>
            </a:r>
          </a:p>
        </p:txBody>
      </p:sp>
      <p:sp>
        <p:nvSpPr>
          <p:cNvPr id="29" name="TextBox 28"/>
          <p:cNvSpPr txBox="1"/>
          <p:nvPr/>
        </p:nvSpPr>
        <p:spPr>
          <a:xfrm>
            <a:off x="5120640" y="5385816"/>
            <a:ext cx="5943600" cy="411480"/>
          </a:xfrm>
          <a:prstGeom prst="rect">
            <a:avLst/>
          </a:prstGeom>
          <a:noFill/>
        </p:spPr>
        <p:txBody>
          <a:bodyPr wrap="square" lIns="22860" rIns="22860" tIns="9144">
            <a:spAutoFit/>
          </a:bodyPr>
          <a:lstStyle/>
          <a:p>
            <a:pPr>
              <a:defRPr sz="1500" b="1">
                <a:solidFill>
                  <a:srgbClr val="C7682C"/>
                </a:solidFill>
                <a:latin typeface="Aptos"/>
              </a:defRPr>
            </a:pPr>
            <a:r>
              <a:t>The analogy has a limit. Read it on the left.</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
          </a:xfrm>
          <a:prstGeom prst="rect">
            <a:avLst/>
          </a:prstGeom>
          <a:solidFill>
            <a:srgbClr val="255E9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10896"/>
            <a:ext cx="10881360" cy="576072"/>
          </a:xfrm>
          <a:prstGeom prst="rect">
            <a:avLst/>
          </a:prstGeom>
          <a:noFill/>
        </p:spPr>
        <p:txBody>
          <a:bodyPr wrap="square" lIns="22860" rIns="22860" tIns="9144">
            <a:spAutoFit/>
          </a:bodyPr>
          <a:lstStyle/>
          <a:p>
            <a:pPr>
              <a:defRPr sz="2700" b="1">
                <a:solidFill>
                  <a:srgbClr val="182B40"/>
                </a:solidFill>
                <a:latin typeface="Aptos"/>
              </a:defRPr>
            </a:pPr>
            <a:r>
              <a:t>Multimodal input · how it works</a:t>
            </a:r>
          </a:p>
        </p:txBody>
      </p:sp>
      <p:sp>
        <p:nvSpPr>
          <p:cNvPr id="4" name="Rectangle 3"/>
          <p:cNvSpPr/>
          <p:nvPr/>
        </p:nvSpPr>
        <p:spPr>
          <a:xfrm>
            <a:off x="594360" y="1362456"/>
            <a:ext cx="64008" cy="4544568"/>
          </a:xfrm>
          <a:prstGeom prst="rect">
            <a:avLst/>
          </a:prstGeom>
          <a:solidFill>
            <a:srgbClr val="255E9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41248" y="1371600"/>
            <a:ext cx="3511296" cy="320040"/>
          </a:xfrm>
          <a:prstGeom prst="rect">
            <a:avLst/>
          </a:prstGeom>
          <a:noFill/>
        </p:spPr>
        <p:txBody>
          <a:bodyPr wrap="square" lIns="22860" rIns="22860" tIns="9144">
            <a:spAutoFit/>
          </a:bodyPr>
          <a:lstStyle/>
          <a:p>
            <a:pPr>
              <a:defRPr sz="1100" b="1">
                <a:solidFill>
                  <a:srgbClr val="255E9C"/>
                </a:solidFill>
                <a:latin typeface="Aptos"/>
              </a:defRPr>
            </a:pPr>
            <a:r>
              <a:t>MECHANISM  /  WEEK 10</a:t>
            </a:r>
          </a:p>
        </p:txBody>
      </p:sp>
      <p:sp>
        <p:nvSpPr>
          <p:cNvPr id="6" name="TextBox 5"/>
          <p:cNvSpPr txBox="1"/>
          <p:nvPr/>
        </p:nvSpPr>
        <p:spPr>
          <a:xfrm>
            <a:off x="841248" y="1847088"/>
            <a:ext cx="3557016" cy="3986784"/>
          </a:xfrm>
          <a:prstGeom prst="rect">
            <a:avLst/>
          </a:prstGeom>
          <a:noFill/>
        </p:spPr>
        <p:txBody>
          <a:bodyPr wrap="square" lIns="22860" rIns="22860" tIns="9144">
            <a:spAutoFit/>
          </a:bodyPr>
          <a:lstStyle/>
          <a:p>
            <a:pPr>
              <a:defRPr sz="1800" b="0">
                <a:solidFill>
                  <a:srgbClr val="182B40"/>
                </a:solidFill>
                <a:latin typeface="Aptos"/>
              </a:defRPr>
            </a:pPr>
            <a:r>
              <a:t>A system may process text, images or other signals. Here the transcription stands in for an image reader.</a:t>
            </a:r>
          </a:p>
          <a:p>
            <a:pPr>
              <a:defRPr sz="1800" b="0">
                <a:solidFill>
                  <a:srgbClr val="182B40"/>
                </a:solidFill>
                <a:latin typeface="Aptos"/>
              </a:defRPr>
            </a:pPr>
          </a:p>
          <a:p>
            <a:pPr>
              <a:defRPr sz="1800" b="0">
                <a:solidFill>
                  <a:srgbClr val="182B40"/>
                </a:solidFill>
                <a:latin typeface="Aptos"/>
              </a:defRPr>
            </a:pPr>
            <a:r>
              <a:t>Trace the arrows from left to right.</a:t>
            </a:r>
          </a:p>
        </p:txBody>
      </p:sp>
      <p:sp>
        <p:nvSpPr>
          <p:cNvPr id="7" name="Rectangle 6"/>
          <p:cNvSpPr/>
          <p:nvPr/>
        </p:nvSpPr>
        <p:spPr>
          <a:xfrm>
            <a:off x="594360" y="6391656"/>
            <a:ext cx="10899648" cy="16459"/>
          </a:xfrm>
          <a:prstGeom prst="rect">
            <a:avLst/>
          </a:prstGeom>
          <a:solidFill>
            <a:srgbClr val="EBF5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21792" y="6510528"/>
            <a:ext cx="10826496" cy="219456"/>
          </a:xfrm>
          <a:prstGeom prst="rect">
            <a:avLst/>
          </a:prstGeom>
          <a:noFill/>
        </p:spPr>
        <p:txBody>
          <a:bodyPr wrap="square" lIns="22860" rIns="22860" tIns="9144">
            <a:spAutoFit/>
          </a:bodyPr>
          <a:lstStyle/>
          <a:p>
            <a:pPr>
              <a:defRPr sz="900" b="0">
                <a:solidFill>
                  <a:srgbClr val="445665"/>
                </a:solidFill>
                <a:latin typeface="Aptos"/>
              </a:defRPr>
            </a:pPr>
            <a:r>
              <a:t>GENERATIVE AI 2027    •    WEEK 10    •    07 / 40</a:t>
            </a:r>
          </a:p>
        </p:txBody>
      </p:sp>
      <p:sp>
        <p:nvSpPr>
          <p:cNvPr id="9" name="Rounded Rectangle 8"/>
          <p:cNvSpPr/>
          <p:nvPr/>
        </p:nvSpPr>
        <p:spPr>
          <a:xfrm>
            <a:off x="4700016" y="1344168"/>
            <a:ext cx="6793992" cy="4727448"/>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5074920" y="1572768"/>
            <a:ext cx="6035040" cy="384048"/>
          </a:xfrm>
          <a:prstGeom prst="rect">
            <a:avLst/>
          </a:prstGeom>
          <a:noFill/>
        </p:spPr>
        <p:txBody>
          <a:bodyPr wrap="square" lIns="22860" rIns="22860" tIns="9144">
            <a:spAutoFit/>
          </a:bodyPr>
          <a:lstStyle/>
          <a:p>
            <a:pPr>
              <a:defRPr sz="1500" b="1">
                <a:solidFill>
                  <a:srgbClr val="255E9C"/>
                </a:solidFill>
                <a:latin typeface="Aptos"/>
              </a:defRPr>
            </a:pPr>
            <a:r>
              <a:t>FOLLOW THE DATA THROUGH EACH ARROW</a:t>
            </a:r>
          </a:p>
        </p:txBody>
      </p:sp>
      <p:sp>
        <p:nvSpPr>
          <p:cNvPr id="11" name="Rounded Rectangle 10"/>
          <p:cNvSpPr/>
          <p:nvPr/>
        </p:nvSpPr>
        <p:spPr>
          <a:xfrm>
            <a:off x="5257800" y="2029968"/>
            <a:ext cx="5532120" cy="603504"/>
          </a:xfrm>
          <a:prstGeom prst="roundRect">
            <a:avLst/>
          </a:prstGeom>
          <a:solidFill>
            <a:srgbClr val="EBF5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5394960" y="2139696"/>
            <a:ext cx="5257800" cy="402336"/>
          </a:xfrm>
          <a:prstGeom prst="rect">
            <a:avLst/>
          </a:prstGeom>
          <a:noFill/>
        </p:spPr>
        <p:txBody>
          <a:bodyPr wrap="square" lIns="22860" rIns="22860" tIns="9144" anchor="ctr">
            <a:spAutoFit/>
          </a:bodyPr>
          <a:lstStyle/>
          <a:p>
            <a:pPr algn="ctr">
              <a:defRPr sz="1500" b="1">
                <a:solidFill>
                  <a:srgbClr val="182B40"/>
                </a:solidFill>
                <a:latin typeface="Aptos"/>
              </a:defRPr>
            </a:pPr>
            <a:r>
              <a:t>Image or scan</a:t>
            </a:r>
          </a:p>
        </p:txBody>
      </p:sp>
      <p:cxnSp>
        <p:nvCxnSpPr>
          <p:cNvPr id="13" name="Connector 12"/>
          <p:cNvCxnSpPr/>
          <p:nvPr/>
        </p:nvCxnSpPr>
        <p:spPr>
          <a:xfrm>
            <a:off x="8019288" y="2651760"/>
            <a:ext cx="0" cy="210312"/>
          </a:xfrm>
          <a:prstGeom prst="line">
            <a:avLst/>
          </a:prstGeom>
          <a:ln w="27940">
            <a:solidFill>
              <a:srgbClr val="255E9C"/>
            </a:solidFill>
          </a:ln>
        </p:spPr>
        <p:style>
          <a:lnRef idx="2">
            <a:schemeClr val="accent1"/>
          </a:lnRef>
          <a:fillRef idx="0">
            <a:schemeClr val="accent1"/>
          </a:fillRef>
          <a:effectRef idx="1">
            <a:schemeClr val="accent1"/>
          </a:effectRef>
          <a:fontRef idx="minor">
            <a:schemeClr val="tx1"/>
          </a:fontRef>
        </p:style>
      </p:cxnSp>
      <p:sp>
        <p:nvSpPr>
          <p:cNvPr id="14" name="Chevron 13"/>
          <p:cNvSpPr/>
          <p:nvPr/>
        </p:nvSpPr>
        <p:spPr>
          <a:xfrm>
            <a:off x="7936992" y="2798064"/>
            <a:ext cx="146304" cy="128016"/>
          </a:xfrm>
          <a:prstGeom prst="chevron">
            <a:avLst/>
          </a:prstGeom>
          <a:solidFill>
            <a:srgbClr val="255E9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ounded Rectangle 14"/>
          <p:cNvSpPr/>
          <p:nvPr/>
        </p:nvSpPr>
        <p:spPr>
          <a:xfrm>
            <a:off x="5257800" y="2898648"/>
            <a:ext cx="5532120" cy="603504"/>
          </a:xfrm>
          <a:prstGeom prst="roundRect">
            <a:avLst/>
          </a:prstGeom>
          <a:solidFill>
            <a:srgbClr val="EFF7F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5394960" y="3008376"/>
            <a:ext cx="5257800" cy="402336"/>
          </a:xfrm>
          <a:prstGeom prst="rect">
            <a:avLst/>
          </a:prstGeom>
          <a:noFill/>
        </p:spPr>
        <p:txBody>
          <a:bodyPr wrap="square" lIns="22860" rIns="22860" tIns="9144" anchor="ctr">
            <a:spAutoFit/>
          </a:bodyPr>
          <a:lstStyle/>
          <a:p>
            <a:pPr algn="ctr">
              <a:defRPr sz="1500" b="1">
                <a:solidFill>
                  <a:srgbClr val="182B40"/>
                </a:solidFill>
                <a:latin typeface="Aptos"/>
              </a:defRPr>
            </a:pPr>
            <a:r>
              <a:t>Vision/OCR reader</a:t>
            </a:r>
          </a:p>
        </p:txBody>
      </p:sp>
      <p:cxnSp>
        <p:nvCxnSpPr>
          <p:cNvPr id="17" name="Connector 16"/>
          <p:cNvCxnSpPr/>
          <p:nvPr/>
        </p:nvCxnSpPr>
        <p:spPr>
          <a:xfrm>
            <a:off x="8019288" y="3520440"/>
            <a:ext cx="0" cy="210312"/>
          </a:xfrm>
          <a:prstGeom prst="line">
            <a:avLst/>
          </a:prstGeom>
          <a:ln w="27940">
            <a:solidFill>
              <a:srgbClr val="255E9C"/>
            </a:solidFill>
          </a:ln>
        </p:spPr>
        <p:style>
          <a:lnRef idx="2">
            <a:schemeClr val="accent1"/>
          </a:lnRef>
          <a:fillRef idx="0">
            <a:schemeClr val="accent1"/>
          </a:fillRef>
          <a:effectRef idx="1">
            <a:schemeClr val="accent1"/>
          </a:effectRef>
          <a:fontRef idx="minor">
            <a:schemeClr val="tx1"/>
          </a:fontRef>
        </p:style>
      </p:cxnSp>
      <p:sp>
        <p:nvSpPr>
          <p:cNvPr id="18" name="Chevron 17"/>
          <p:cNvSpPr/>
          <p:nvPr/>
        </p:nvSpPr>
        <p:spPr>
          <a:xfrm>
            <a:off x="7936992" y="3666744"/>
            <a:ext cx="146304" cy="128016"/>
          </a:xfrm>
          <a:prstGeom prst="chevron">
            <a:avLst/>
          </a:prstGeom>
          <a:solidFill>
            <a:srgbClr val="255E9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ounded Rectangle 18"/>
          <p:cNvSpPr/>
          <p:nvPr/>
        </p:nvSpPr>
        <p:spPr>
          <a:xfrm>
            <a:off x="5257800" y="3767328"/>
            <a:ext cx="5532120" cy="603504"/>
          </a:xfrm>
          <a:prstGeom prst="roundRect">
            <a:avLst/>
          </a:prstGeom>
          <a:solidFill>
            <a:srgbClr val="EBF5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5394960" y="3877056"/>
            <a:ext cx="5257800" cy="402336"/>
          </a:xfrm>
          <a:prstGeom prst="rect">
            <a:avLst/>
          </a:prstGeom>
          <a:noFill/>
        </p:spPr>
        <p:txBody>
          <a:bodyPr wrap="square" lIns="22860" rIns="22860" tIns="9144" anchor="ctr">
            <a:spAutoFit/>
          </a:bodyPr>
          <a:lstStyle/>
          <a:p>
            <a:pPr algn="ctr">
              <a:defRPr sz="1500" b="1">
                <a:solidFill>
                  <a:srgbClr val="182B40"/>
                </a:solidFill>
                <a:latin typeface="Aptos"/>
              </a:defRPr>
            </a:pPr>
            <a:r>
              <a:t>Transcribed text</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
          </a:xfrm>
          <a:prstGeom prst="rect">
            <a:avLst/>
          </a:prstGeom>
          <a:solidFill>
            <a:srgbClr val="117E6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10896"/>
            <a:ext cx="10881360" cy="576072"/>
          </a:xfrm>
          <a:prstGeom prst="rect">
            <a:avLst/>
          </a:prstGeom>
          <a:noFill/>
        </p:spPr>
        <p:txBody>
          <a:bodyPr wrap="square" lIns="22860" rIns="22860" tIns="9144">
            <a:spAutoFit/>
          </a:bodyPr>
          <a:lstStyle/>
          <a:p>
            <a:pPr>
              <a:defRPr sz="2700" b="1">
                <a:solidFill>
                  <a:srgbClr val="182B40"/>
                </a:solidFill>
                <a:latin typeface="Aptos"/>
              </a:defRPr>
            </a:pPr>
            <a:r>
              <a:t>Multimodal input · work one case</a:t>
            </a:r>
          </a:p>
        </p:txBody>
      </p:sp>
      <p:sp>
        <p:nvSpPr>
          <p:cNvPr id="4" name="Rectangle 3"/>
          <p:cNvSpPr/>
          <p:nvPr/>
        </p:nvSpPr>
        <p:spPr>
          <a:xfrm>
            <a:off x="594360" y="1362456"/>
            <a:ext cx="64008" cy="4544568"/>
          </a:xfrm>
          <a:prstGeom prst="rect">
            <a:avLst/>
          </a:prstGeom>
          <a:solidFill>
            <a:srgbClr val="117E6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41248" y="1371600"/>
            <a:ext cx="3511296" cy="320040"/>
          </a:xfrm>
          <a:prstGeom prst="rect">
            <a:avLst/>
          </a:prstGeom>
          <a:noFill/>
        </p:spPr>
        <p:txBody>
          <a:bodyPr wrap="square" lIns="22860" rIns="22860" tIns="9144">
            <a:spAutoFit/>
          </a:bodyPr>
          <a:lstStyle/>
          <a:p>
            <a:pPr>
              <a:defRPr sz="1100" b="1">
                <a:solidFill>
                  <a:srgbClr val="117E6E"/>
                </a:solidFill>
                <a:latin typeface="Aptos"/>
              </a:defRPr>
            </a:pPr>
            <a:r>
              <a:t>WORKED  /  WEEK 10</a:t>
            </a:r>
          </a:p>
        </p:txBody>
      </p:sp>
      <p:sp>
        <p:nvSpPr>
          <p:cNvPr id="6" name="TextBox 5"/>
          <p:cNvSpPr txBox="1"/>
          <p:nvPr/>
        </p:nvSpPr>
        <p:spPr>
          <a:xfrm>
            <a:off x="841248" y="1847088"/>
            <a:ext cx="3557016" cy="3986784"/>
          </a:xfrm>
          <a:prstGeom prst="rect">
            <a:avLst/>
          </a:prstGeom>
          <a:noFill/>
        </p:spPr>
        <p:txBody>
          <a:bodyPr wrap="square" lIns="22860" rIns="22860" tIns="9144">
            <a:spAutoFit/>
          </a:bodyPr>
          <a:lstStyle/>
          <a:p>
            <a:pPr>
              <a:defRPr sz="1800" b="0">
                <a:solidFill>
                  <a:srgbClr val="182B40"/>
                </a:solidFill>
                <a:latin typeface="Aptos"/>
              </a:defRPr>
            </a:pPr>
            <a:r>
              <a:t>The prepared text records quantity 2, unit price €20, tax €5 and listed total €54.</a:t>
            </a:r>
          </a:p>
          <a:p>
            <a:pPr>
              <a:defRPr sz="1800" b="0">
                <a:solidFill>
                  <a:srgbClr val="182B40"/>
                </a:solidFill>
                <a:latin typeface="Aptos"/>
              </a:defRPr>
            </a:pPr>
          </a:p>
          <a:p>
            <a:pPr>
              <a:defRPr sz="1800" b="0">
                <a:solidFill>
                  <a:srgbClr val="182B40"/>
                </a:solidFill>
                <a:latin typeface="Aptos"/>
              </a:defRPr>
            </a:pPr>
            <a:r>
              <a:t>Point to the evidence before giving your conclusion.</a:t>
            </a:r>
          </a:p>
        </p:txBody>
      </p:sp>
      <p:sp>
        <p:nvSpPr>
          <p:cNvPr id="7" name="Rectangle 6"/>
          <p:cNvSpPr/>
          <p:nvPr/>
        </p:nvSpPr>
        <p:spPr>
          <a:xfrm>
            <a:off x="594360" y="6391656"/>
            <a:ext cx="10899648" cy="16459"/>
          </a:xfrm>
          <a:prstGeom prst="rect">
            <a:avLst/>
          </a:prstGeom>
          <a:solidFill>
            <a:srgbClr val="EBF5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21792" y="6510528"/>
            <a:ext cx="10826496" cy="219456"/>
          </a:xfrm>
          <a:prstGeom prst="rect">
            <a:avLst/>
          </a:prstGeom>
          <a:noFill/>
        </p:spPr>
        <p:txBody>
          <a:bodyPr wrap="square" lIns="22860" rIns="22860" tIns="9144">
            <a:spAutoFit/>
          </a:bodyPr>
          <a:lstStyle/>
          <a:p>
            <a:pPr>
              <a:defRPr sz="900" b="0">
                <a:solidFill>
                  <a:srgbClr val="445665"/>
                </a:solidFill>
                <a:latin typeface="Aptos"/>
              </a:defRPr>
            </a:pPr>
            <a:r>
              <a:t>GENERATIVE AI 2027    •    WEEK 10    •    08 / 40</a:t>
            </a:r>
          </a:p>
        </p:txBody>
      </p:sp>
      <p:sp>
        <p:nvSpPr>
          <p:cNvPr id="9" name="Rounded Rectangle 8"/>
          <p:cNvSpPr/>
          <p:nvPr/>
        </p:nvSpPr>
        <p:spPr>
          <a:xfrm>
            <a:off x="4700016" y="1344168"/>
            <a:ext cx="6793992" cy="4727448"/>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5102352" y="1719072"/>
            <a:ext cx="5760720" cy="283464"/>
          </a:xfrm>
          <a:prstGeom prst="rect">
            <a:avLst/>
          </a:prstGeom>
          <a:noFill/>
        </p:spPr>
        <p:txBody>
          <a:bodyPr wrap="square" lIns="22860" rIns="22860" tIns="9144">
            <a:spAutoFit/>
          </a:bodyPr>
          <a:lstStyle/>
          <a:p>
            <a:pPr>
              <a:defRPr sz="1300" b="1">
                <a:solidFill>
                  <a:srgbClr val="255E9C"/>
                </a:solidFill>
                <a:latin typeface="Aptos"/>
              </a:defRPr>
            </a:pPr>
            <a:r>
              <a:t>GIVEN</a:t>
            </a:r>
          </a:p>
        </p:txBody>
      </p:sp>
      <p:sp>
        <p:nvSpPr>
          <p:cNvPr id="11" name="Rounded Rectangle 10"/>
          <p:cNvSpPr/>
          <p:nvPr/>
        </p:nvSpPr>
        <p:spPr>
          <a:xfrm>
            <a:off x="5065776" y="2048255"/>
            <a:ext cx="6035040" cy="950976"/>
          </a:xfrm>
          <a:prstGeom prst="roundRect">
            <a:avLst/>
          </a:prstGeom>
          <a:solidFill>
            <a:srgbClr val="EBF5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5202936" y="2157984"/>
            <a:ext cx="5760720" cy="749808"/>
          </a:xfrm>
          <a:prstGeom prst="rect">
            <a:avLst/>
          </a:prstGeom>
          <a:noFill/>
        </p:spPr>
        <p:txBody>
          <a:bodyPr wrap="square" lIns="22860" rIns="22860" tIns="9144" anchor="ctr">
            <a:spAutoFit/>
          </a:bodyPr>
          <a:lstStyle/>
          <a:p>
            <a:pPr algn="ctr">
              <a:defRPr sz="1500" b="1">
                <a:solidFill>
                  <a:srgbClr val="182B40"/>
                </a:solidFill>
                <a:latin typeface="Aptos"/>
              </a:defRPr>
            </a:pPr>
            <a:r>
              <a:t>The prepared text records quantity 2, unit price €20, tax €5 and listed total €54.</a:t>
            </a:r>
          </a:p>
        </p:txBody>
      </p:sp>
      <p:sp>
        <p:nvSpPr>
          <p:cNvPr id="13" name="TextBox 12"/>
          <p:cNvSpPr txBox="1"/>
          <p:nvPr/>
        </p:nvSpPr>
        <p:spPr>
          <a:xfrm>
            <a:off x="5102352" y="3072384"/>
            <a:ext cx="5760720" cy="283464"/>
          </a:xfrm>
          <a:prstGeom prst="rect">
            <a:avLst/>
          </a:prstGeom>
          <a:noFill/>
        </p:spPr>
        <p:txBody>
          <a:bodyPr wrap="square" lIns="22860" rIns="22860" tIns="9144">
            <a:spAutoFit/>
          </a:bodyPr>
          <a:lstStyle/>
          <a:p>
            <a:pPr>
              <a:defRPr sz="1300" b="1">
                <a:solidFill>
                  <a:srgbClr val="C7682C"/>
                </a:solidFill>
                <a:latin typeface="Aptos"/>
              </a:defRPr>
            </a:pPr>
            <a:r>
              <a:t>QUESTION</a:t>
            </a:r>
          </a:p>
        </p:txBody>
      </p:sp>
      <p:sp>
        <p:nvSpPr>
          <p:cNvPr id="14" name="Rounded Rectangle 13"/>
          <p:cNvSpPr/>
          <p:nvPr/>
        </p:nvSpPr>
        <p:spPr>
          <a:xfrm>
            <a:off x="5065776" y="3401568"/>
            <a:ext cx="6035040" cy="950976"/>
          </a:xfrm>
          <a:prstGeom prst="roundRect">
            <a:avLst/>
          </a:prstGeom>
          <a:solidFill>
            <a:srgbClr val="FFF9E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5202936" y="3511296"/>
            <a:ext cx="5760720" cy="749808"/>
          </a:xfrm>
          <a:prstGeom prst="rect">
            <a:avLst/>
          </a:prstGeom>
          <a:noFill/>
        </p:spPr>
        <p:txBody>
          <a:bodyPr wrap="square" lIns="22860" rIns="22860" tIns="9144" anchor="ctr">
            <a:spAutoFit/>
          </a:bodyPr>
          <a:lstStyle/>
          <a:p>
            <a:pPr algn="ctr">
              <a:defRPr sz="1500" b="1">
                <a:solidFill>
                  <a:srgbClr val="182B40"/>
                </a:solidFill>
                <a:latin typeface="Aptos"/>
              </a:defRPr>
            </a:pPr>
            <a:r>
              <a:t>What capability is represented by the supplied transcription?</a:t>
            </a:r>
          </a:p>
        </p:txBody>
      </p:sp>
      <p:sp>
        <p:nvSpPr>
          <p:cNvPr id="16" name="TextBox 15"/>
          <p:cNvSpPr txBox="1"/>
          <p:nvPr/>
        </p:nvSpPr>
        <p:spPr>
          <a:xfrm>
            <a:off x="5102352" y="4425696"/>
            <a:ext cx="5760720" cy="283464"/>
          </a:xfrm>
          <a:prstGeom prst="rect">
            <a:avLst/>
          </a:prstGeom>
          <a:noFill/>
        </p:spPr>
        <p:txBody>
          <a:bodyPr wrap="square" lIns="22860" rIns="22860" tIns="9144">
            <a:spAutoFit/>
          </a:bodyPr>
          <a:lstStyle/>
          <a:p>
            <a:pPr>
              <a:defRPr sz="1300" b="1">
                <a:solidFill>
                  <a:srgbClr val="117E6E"/>
                </a:solidFill>
                <a:latin typeface="Aptos"/>
              </a:defRPr>
            </a:pPr>
            <a:r>
              <a:t>SUPPORTED ANSWER</a:t>
            </a:r>
          </a:p>
        </p:txBody>
      </p:sp>
      <p:sp>
        <p:nvSpPr>
          <p:cNvPr id="17" name="Rounded Rectangle 16"/>
          <p:cNvSpPr/>
          <p:nvPr/>
        </p:nvSpPr>
        <p:spPr>
          <a:xfrm>
            <a:off x="5065776" y="4754880"/>
            <a:ext cx="6035040" cy="950976"/>
          </a:xfrm>
          <a:prstGeom prst="roundRect">
            <a:avLst/>
          </a:prstGeom>
          <a:solidFill>
            <a:srgbClr val="EFF7F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5202936" y="4864608"/>
            <a:ext cx="5760720" cy="749808"/>
          </a:xfrm>
          <a:prstGeom prst="rect">
            <a:avLst/>
          </a:prstGeom>
          <a:noFill/>
        </p:spPr>
        <p:txBody>
          <a:bodyPr wrap="square" lIns="22860" rIns="22860" tIns="9144" anchor="ctr">
            <a:spAutoFit/>
          </a:bodyPr>
          <a:lstStyle/>
          <a:p>
            <a:pPr algn="ctr">
              <a:defRPr sz="1500" b="1">
                <a:solidFill>
                  <a:srgbClr val="182B40"/>
                </a:solidFill>
                <a:latin typeface="Aptos"/>
              </a:defRPr>
            </a:pPr>
            <a:r>
              <a:t>An upstream reading step, whose accuracy still needs checking.</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
          </a:xfrm>
          <a:prstGeom prst="rect">
            <a:avLst/>
          </a:prstGeom>
          <a:solidFill>
            <a:srgbClr val="117E6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10896"/>
            <a:ext cx="10881360" cy="576072"/>
          </a:xfrm>
          <a:prstGeom prst="rect">
            <a:avLst/>
          </a:prstGeom>
          <a:noFill/>
        </p:spPr>
        <p:txBody>
          <a:bodyPr wrap="square" lIns="22860" rIns="22860" tIns="9144">
            <a:spAutoFit/>
          </a:bodyPr>
          <a:lstStyle/>
          <a:p>
            <a:pPr>
              <a:defRPr sz="2700" b="1">
                <a:solidFill>
                  <a:srgbClr val="182B40"/>
                </a:solidFill>
                <a:latin typeface="Aptos"/>
              </a:defRPr>
            </a:pPr>
            <a:r>
              <a:t>Multimodal input · answer and explain</a:t>
            </a:r>
          </a:p>
        </p:txBody>
      </p:sp>
      <p:sp>
        <p:nvSpPr>
          <p:cNvPr id="4" name="Rectangle 3"/>
          <p:cNvSpPr/>
          <p:nvPr/>
        </p:nvSpPr>
        <p:spPr>
          <a:xfrm>
            <a:off x="594360" y="1362456"/>
            <a:ext cx="64008" cy="4544568"/>
          </a:xfrm>
          <a:prstGeom prst="rect">
            <a:avLst/>
          </a:prstGeom>
          <a:solidFill>
            <a:srgbClr val="117E6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41248" y="1371600"/>
            <a:ext cx="3511296" cy="320040"/>
          </a:xfrm>
          <a:prstGeom prst="rect">
            <a:avLst/>
          </a:prstGeom>
          <a:noFill/>
        </p:spPr>
        <p:txBody>
          <a:bodyPr wrap="square" lIns="22860" rIns="22860" tIns="9144">
            <a:spAutoFit/>
          </a:bodyPr>
          <a:lstStyle/>
          <a:p>
            <a:pPr>
              <a:defRPr sz="1100" b="1">
                <a:solidFill>
                  <a:srgbClr val="117E6E"/>
                </a:solidFill>
                <a:latin typeface="Aptos"/>
              </a:defRPr>
            </a:pPr>
            <a:r>
              <a:t>REVEAL  /  WEEK 10</a:t>
            </a:r>
          </a:p>
        </p:txBody>
      </p:sp>
      <p:sp>
        <p:nvSpPr>
          <p:cNvPr id="6" name="TextBox 5"/>
          <p:cNvSpPr txBox="1"/>
          <p:nvPr/>
        </p:nvSpPr>
        <p:spPr>
          <a:xfrm>
            <a:off x="841248" y="1847088"/>
            <a:ext cx="3557016" cy="3986784"/>
          </a:xfrm>
          <a:prstGeom prst="rect">
            <a:avLst/>
          </a:prstGeom>
          <a:noFill/>
        </p:spPr>
        <p:txBody>
          <a:bodyPr wrap="square" lIns="22860" rIns="22860" tIns="9144">
            <a:spAutoFit/>
          </a:bodyPr>
          <a:lstStyle/>
          <a:p>
            <a:pPr>
              <a:defRPr sz="1800" b="0">
                <a:solidFill>
                  <a:srgbClr val="182B40"/>
                </a:solidFill>
                <a:latin typeface="Aptos"/>
              </a:defRPr>
            </a:pPr>
            <a:r>
              <a:t>An upstream reading step, whose accuracy still needs checking.</a:t>
            </a:r>
          </a:p>
          <a:p>
            <a:pPr>
              <a:defRPr sz="1800" b="0">
                <a:solidFill>
                  <a:srgbClr val="182B40"/>
                </a:solidFill>
                <a:latin typeface="Aptos"/>
              </a:defRPr>
            </a:pPr>
          </a:p>
          <a:p>
            <a:pPr>
              <a:defRPr sz="1800" b="0">
                <a:solidFill>
                  <a:srgbClr val="182B40"/>
                </a:solidFill>
                <a:latin typeface="Aptos"/>
              </a:defRPr>
            </a:pPr>
            <a:r>
              <a:t>Tempting mistake: The notebook itself recognises image pixels.</a:t>
            </a:r>
          </a:p>
        </p:txBody>
      </p:sp>
      <p:sp>
        <p:nvSpPr>
          <p:cNvPr id="7" name="Rectangle 6"/>
          <p:cNvSpPr/>
          <p:nvPr/>
        </p:nvSpPr>
        <p:spPr>
          <a:xfrm>
            <a:off x="594360" y="6391656"/>
            <a:ext cx="10899648" cy="16459"/>
          </a:xfrm>
          <a:prstGeom prst="rect">
            <a:avLst/>
          </a:prstGeom>
          <a:solidFill>
            <a:srgbClr val="EBF5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21792" y="6510528"/>
            <a:ext cx="10826496" cy="219456"/>
          </a:xfrm>
          <a:prstGeom prst="rect">
            <a:avLst/>
          </a:prstGeom>
          <a:noFill/>
        </p:spPr>
        <p:txBody>
          <a:bodyPr wrap="square" lIns="22860" rIns="22860" tIns="9144">
            <a:spAutoFit/>
          </a:bodyPr>
          <a:lstStyle/>
          <a:p>
            <a:pPr>
              <a:defRPr sz="900" b="0">
                <a:solidFill>
                  <a:srgbClr val="445665"/>
                </a:solidFill>
                <a:latin typeface="Aptos"/>
              </a:defRPr>
            </a:pPr>
            <a:r>
              <a:t>GENERATIVE AI 2027    •    WEEK 10    •    09 / 40</a:t>
            </a:r>
          </a:p>
        </p:txBody>
      </p:sp>
      <p:sp>
        <p:nvSpPr>
          <p:cNvPr id="9" name="Rounded Rectangle 8"/>
          <p:cNvSpPr/>
          <p:nvPr/>
        </p:nvSpPr>
        <p:spPr>
          <a:xfrm>
            <a:off x="4700016" y="1344168"/>
            <a:ext cx="6793992" cy="4727448"/>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5074920" y="1581912"/>
            <a:ext cx="5852160" cy="365760"/>
          </a:xfrm>
          <a:prstGeom prst="rect">
            <a:avLst/>
          </a:prstGeom>
          <a:noFill/>
        </p:spPr>
        <p:txBody>
          <a:bodyPr wrap="square" lIns="22860" rIns="22860" tIns="9144">
            <a:spAutoFit/>
          </a:bodyPr>
          <a:lstStyle/>
          <a:p>
            <a:pPr>
              <a:defRPr sz="1500" b="1">
                <a:solidFill>
                  <a:srgbClr val="255E9C"/>
                </a:solidFill>
                <a:latin typeface="Aptos"/>
              </a:defRPr>
            </a:pPr>
            <a:r>
              <a:t>TEST THE CLAIM AGAINST THE EVIDENCE</a:t>
            </a:r>
          </a:p>
        </p:txBody>
      </p:sp>
      <p:sp>
        <p:nvSpPr>
          <p:cNvPr id="11" name="TextBox 10"/>
          <p:cNvSpPr txBox="1"/>
          <p:nvPr/>
        </p:nvSpPr>
        <p:spPr>
          <a:xfrm>
            <a:off x="5084064" y="2066543"/>
            <a:ext cx="5669280" cy="320040"/>
          </a:xfrm>
          <a:prstGeom prst="rect">
            <a:avLst/>
          </a:prstGeom>
          <a:noFill/>
        </p:spPr>
        <p:txBody>
          <a:bodyPr wrap="square" lIns="22860" rIns="22860" tIns="9144">
            <a:spAutoFit/>
          </a:bodyPr>
          <a:lstStyle/>
          <a:p>
            <a:pPr>
              <a:defRPr sz="1300" b="1">
                <a:solidFill>
                  <a:srgbClr val="B74945"/>
                </a:solidFill>
                <a:latin typeface="Aptos"/>
              </a:defRPr>
            </a:pPr>
            <a:r>
              <a:t>TEMPTING CLAIM</a:t>
            </a:r>
          </a:p>
        </p:txBody>
      </p:sp>
      <p:sp>
        <p:nvSpPr>
          <p:cNvPr id="12" name="Rounded Rectangle 11"/>
          <p:cNvSpPr/>
          <p:nvPr/>
        </p:nvSpPr>
        <p:spPr>
          <a:xfrm>
            <a:off x="5047488" y="2441448"/>
            <a:ext cx="6126480" cy="1014984"/>
          </a:xfrm>
          <a:prstGeom prst="roundRect">
            <a:avLst/>
          </a:prstGeom>
          <a:solidFill>
            <a:srgbClr val="FDEF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5184648" y="2551176"/>
            <a:ext cx="5852160" cy="813816"/>
          </a:xfrm>
          <a:prstGeom prst="rect">
            <a:avLst/>
          </a:prstGeom>
          <a:noFill/>
        </p:spPr>
        <p:txBody>
          <a:bodyPr wrap="square" lIns="22860" rIns="22860" tIns="9144" anchor="ctr">
            <a:spAutoFit/>
          </a:bodyPr>
          <a:lstStyle/>
          <a:p>
            <a:pPr algn="ctr">
              <a:defRPr sz="1500" b="1">
                <a:solidFill>
                  <a:srgbClr val="182B40"/>
                </a:solidFill>
                <a:latin typeface="Aptos"/>
              </a:defRPr>
            </a:pPr>
            <a:r>
              <a:t>The notebook itself recognises image pixels.</a:t>
            </a:r>
          </a:p>
        </p:txBody>
      </p:sp>
      <p:sp>
        <p:nvSpPr>
          <p:cNvPr id="14" name="TextBox 13"/>
          <p:cNvSpPr txBox="1"/>
          <p:nvPr/>
        </p:nvSpPr>
        <p:spPr>
          <a:xfrm>
            <a:off x="5084064" y="3666744"/>
            <a:ext cx="5669280" cy="320040"/>
          </a:xfrm>
          <a:prstGeom prst="rect">
            <a:avLst/>
          </a:prstGeom>
          <a:noFill/>
        </p:spPr>
        <p:txBody>
          <a:bodyPr wrap="square" lIns="22860" rIns="22860" tIns="9144">
            <a:spAutoFit/>
          </a:bodyPr>
          <a:lstStyle/>
          <a:p>
            <a:pPr>
              <a:defRPr sz="1300" b="1">
                <a:solidFill>
                  <a:srgbClr val="117E6E"/>
                </a:solidFill>
                <a:latin typeface="Aptos"/>
              </a:defRPr>
            </a:pPr>
            <a:r>
              <a:t>SUPPORTED EXPLANATION</a:t>
            </a:r>
          </a:p>
        </p:txBody>
      </p:sp>
      <p:sp>
        <p:nvSpPr>
          <p:cNvPr id="15" name="Rounded Rectangle 14"/>
          <p:cNvSpPr/>
          <p:nvPr/>
        </p:nvSpPr>
        <p:spPr>
          <a:xfrm>
            <a:off x="5047488" y="4050791"/>
            <a:ext cx="6126480" cy="1005840"/>
          </a:xfrm>
          <a:prstGeom prst="roundRect">
            <a:avLst/>
          </a:prstGeom>
          <a:solidFill>
            <a:srgbClr val="EFF7F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5184648" y="4160520"/>
            <a:ext cx="5852160" cy="804672"/>
          </a:xfrm>
          <a:prstGeom prst="rect">
            <a:avLst/>
          </a:prstGeom>
          <a:noFill/>
        </p:spPr>
        <p:txBody>
          <a:bodyPr wrap="square" lIns="22860" rIns="22860" tIns="9144" anchor="ctr">
            <a:spAutoFit/>
          </a:bodyPr>
          <a:lstStyle/>
          <a:p>
            <a:pPr algn="ctr">
              <a:defRPr sz="1500" b="1">
                <a:solidFill>
                  <a:srgbClr val="182B40"/>
                </a:solidFill>
                <a:latin typeface="Aptos"/>
              </a:defRPr>
            </a:pPr>
            <a:r>
              <a:t>An upstream reading step, whose accuracy still needs checking.</a:t>
            </a:r>
          </a:p>
        </p:txBody>
      </p:sp>
      <p:sp>
        <p:nvSpPr>
          <p:cNvPr id="17" name="TextBox 16"/>
          <p:cNvSpPr txBox="1"/>
          <p:nvPr/>
        </p:nvSpPr>
        <p:spPr>
          <a:xfrm>
            <a:off x="5120640" y="5321808"/>
            <a:ext cx="5897880" cy="566928"/>
          </a:xfrm>
          <a:prstGeom prst="rect">
            <a:avLst/>
          </a:prstGeom>
          <a:noFill/>
        </p:spPr>
        <p:txBody>
          <a:bodyPr wrap="square" lIns="22860" rIns="22860" tIns="9144">
            <a:spAutoFit/>
          </a:bodyPr>
          <a:lstStyle/>
          <a:p>
            <a:pPr>
              <a:defRPr sz="1300" b="0">
                <a:solidFill>
                  <a:srgbClr val="445665"/>
                </a:solidFill>
                <a:latin typeface="Aptos"/>
              </a:defRPr>
            </a:pPr>
            <a:r>
              <a:t>This notebook uses a prepared transcription; it does not run OCR or test a vision model.</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
          </a:xfrm>
          <a:prstGeom prst="rect">
            <a:avLst/>
          </a:prstGeom>
          <a:solidFill>
            <a:srgbClr val="C7682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10896"/>
            <a:ext cx="10881360" cy="576072"/>
          </a:xfrm>
          <a:prstGeom prst="rect">
            <a:avLst/>
          </a:prstGeom>
          <a:noFill/>
        </p:spPr>
        <p:txBody>
          <a:bodyPr wrap="square" lIns="22860" rIns="22860" tIns="9144">
            <a:spAutoFit/>
          </a:bodyPr>
          <a:lstStyle/>
          <a:p>
            <a:pPr>
              <a:defRPr sz="2700" b="1">
                <a:solidFill>
                  <a:srgbClr val="182B40"/>
                </a:solidFill>
                <a:latin typeface="Aptos"/>
              </a:defRPr>
            </a:pPr>
            <a:r>
              <a:t>2. Predict · Extraction</a:t>
            </a:r>
          </a:p>
        </p:txBody>
      </p:sp>
      <p:sp>
        <p:nvSpPr>
          <p:cNvPr id="4" name="Rectangle 3"/>
          <p:cNvSpPr/>
          <p:nvPr/>
        </p:nvSpPr>
        <p:spPr>
          <a:xfrm>
            <a:off x="594360" y="1362456"/>
            <a:ext cx="64008" cy="4544568"/>
          </a:xfrm>
          <a:prstGeom prst="rect">
            <a:avLst/>
          </a:prstGeom>
          <a:solidFill>
            <a:srgbClr val="C7682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41248" y="1371600"/>
            <a:ext cx="3511296" cy="320040"/>
          </a:xfrm>
          <a:prstGeom prst="rect">
            <a:avLst/>
          </a:prstGeom>
          <a:noFill/>
        </p:spPr>
        <p:txBody>
          <a:bodyPr wrap="square" lIns="22860" rIns="22860" tIns="9144">
            <a:spAutoFit/>
          </a:bodyPr>
          <a:lstStyle/>
          <a:p>
            <a:pPr>
              <a:defRPr sz="1100" b="1">
                <a:solidFill>
                  <a:srgbClr val="C7682C"/>
                </a:solidFill>
                <a:latin typeface="Aptos"/>
              </a:defRPr>
            </a:pPr>
            <a:r>
              <a:t>QUESTION  /  WEEK 10</a:t>
            </a:r>
          </a:p>
        </p:txBody>
      </p:sp>
      <p:sp>
        <p:nvSpPr>
          <p:cNvPr id="6" name="TextBox 5"/>
          <p:cNvSpPr txBox="1"/>
          <p:nvPr/>
        </p:nvSpPr>
        <p:spPr>
          <a:xfrm>
            <a:off x="841248" y="1847088"/>
            <a:ext cx="3557016" cy="3986784"/>
          </a:xfrm>
          <a:prstGeom prst="rect">
            <a:avLst/>
          </a:prstGeom>
          <a:noFill/>
        </p:spPr>
        <p:txBody>
          <a:bodyPr wrap="square" lIns="22860" rIns="22860" tIns="9144">
            <a:spAutoFit/>
          </a:bodyPr>
          <a:lstStyle/>
          <a:p>
            <a:pPr>
              <a:defRPr sz="1800" b="0">
                <a:solidFill>
                  <a:srgbClr val="182B40"/>
                </a:solidFill>
                <a:latin typeface="Aptos"/>
              </a:defRPr>
            </a:pPr>
            <a:r>
              <a:t>What does a source pointer let another person do?</a:t>
            </a:r>
          </a:p>
          <a:p>
            <a:pPr>
              <a:defRPr sz="1800" b="0">
                <a:solidFill>
                  <a:srgbClr val="182B40"/>
                </a:solidFill>
                <a:latin typeface="Aptos"/>
              </a:defRPr>
            </a:pPr>
          </a:p>
          <a:p>
            <a:pPr>
              <a:defRPr sz="1800" b="0">
                <a:solidFill>
                  <a:srgbClr val="182B40"/>
                </a:solidFill>
                <a:latin typeface="Aptos"/>
              </a:defRPr>
            </a:pPr>
            <a:r>
              <a:t>Make a choice before we explain the diagram.</a:t>
            </a:r>
          </a:p>
        </p:txBody>
      </p:sp>
      <p:sp>
        <p:nvSpPr>
          <p:cNvPr id="7" name="Rectangle 6"/>
          <p:cNvSpPr/>
          <p:nvPr/>
        </p:nvSpPr>
        <p:spPr>
          <a:xfrm>
            <a:off x="594360" y="6391656"/>
            <a:ext cx="10899648" cy="16459"/>
          </a:xfrm>
          <a:prstGeom prst="rect">
            <a:avLst/>
          </a:prstGeom>
          <a:solidFill>
            <a:srgbClr val="EBF5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21792" y="6510528"/>
            <a:ext cx="10826496" cy="219456"/>
          </a:xfrm>
          <a:prstGeom prst="rect">
            <a:avLst/>
          </a:prstGeom>
          <a:noFill/>
        </p:spPr>
        <p:txBody>
          <a:bodyPr wrap="square" lIns="22860" rIns="22860" tIns="9144">
            <a:spAutoFit/>
          </a:bodyPr>
          <a:lstStyle/>
          <a:p>
            <a:pPr>
              <a:defRPr sz="900" b="0">
                <a:solidFill>
                  <a:srgbClr val="445665"/>
                </a:solidFill>
                <a:latin typeface="Aptos"/>
              </a:defRPr>
            </a:pPr>
            <a:r>
              <a:t>GENERATIVE AI 2027    •    WEEK 10    •    10 / 40</a:t>
            </a:r>
          </a:p>
        </p:txBody>
      </p:sp>
      <p:sp>
        <p:nvSpPr>
          <p:cNvPr id="9" name="Rounded Rectangle 8"/>
          <p:cNvSpPr/>
          <p:nvPr/>
        </p:nvSpPr>
        <p:spPr>
          <a:xfrm>
            <a:off x="4700016" y="1344168"/>
            <a:ext cx="6793992" cy="4727448"/>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5074920" y="1581912"/>
            <a:ext cx="6126480" cy="411480"/>
          </a:xfrm>
          <a:prstGeom prst="rect">
            <a:avLst/>
          </a:prstGeom>
          <a:noFill/>
        </p:spPr>
        <p:txBody>
          <a:bodyPr wrap="square" lIns="22860" rIns="22860" tIns="9144">
            <a:spAutoFit/>
          </a:bodyPr>
          <a:lstStyle/>
          <a:p>
            <a:pPr>
              <a:defRPr sz="1600" b="1">
                <a:solidFill>
                  <a:srgbClr val="255E9C"/>
                </a:solidFill>
                <a:latin typeface="Aptos"/>
              </a:defRPr>
            </a:pPr>
            <a:r>
              <a:t>VOTE FIRST  •  GIVE A REASON</a:t>
            </a:r>
          </a:p>
        </p:txBody>
      </p:sp>
      <p:sp>
        <p:nvSpPr>
          <p:cNvPr id="11" name="Rounded Rectangle 10"/>
          <p:cNvSpPr/>
          <p:nvPr/>
        </p:nvSpPr>
        <p:spPr>
          <a:xfrm>
            <a:off x="5074920" y="2212848"/>
            <a:ext cx="6080760" cy="1115568"/>
          </a:xfrm>
          <a:prstGeom prst="roundRect">
            <a:avLst/>
          </a:prstGeom>
          <a:solidFill>
            <a:srgbClr val="EBF5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5212080" y="2322576"/>
            <a:ext cx="5806440" cy="914400"/>
          </a:xfrm>
          <a:prstGeom prst="rect">
            <a:avLst/>
          </a:prstGeom>
          <a:noFill/>
        </p:spPr>
        <p:txBody>
          <a:bodyPr wrap="square" lIns="22860" rIns="22860" tIns="9144" anchor="ctr">
            <a:spAutoFit/>
          </a:bodyPr>
          <a:lstStyle/>
          <a:p>
            <a:pPr algn="ctr">
              <a:defRPr sz="1600" b="1">
                <a:solidFill>
                  <a:srgbClr val="182B40"/>
                </a:solidFill>
                <a:latin typeface="Aptos"/>
              </a:defRPr>
            </a:pPr>
            <a:r>
              <a:t>A  Find and verify the value in the original document.</a:t>
            </a:r>
          </a:p>
        </p:txBody>
      </p:sp>
      <p:sp>
        <p:nvSpPr>
          <p:cNvPr id="13" name="Rounded Rectangle 12"/>
          <p:cNvSpPr/>
          <p:nvPr/>
        </p:nvSpPr>
        <p:spPr>
          <a:xfrm>
            <a:off x="5074920" y="3657600"/>
            <a:ext cx="6080760" cy="1115568"/>
          </a:xfrm>
          <a:prstGeom prst="roundRect">
            <a:avLst/>
          </a:prstGeom>
          <a:solidFill>
            <a:srgbClr val="FFF9E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5212080" y="3767328"/>
            <a:ext cx="5806440" cy="914400"/>
          </a:xfrm>
          <a:prstGeom prst="rect">
            <a:avLst/>
          </a:prstGeom>
          <a:noFill/>
        </p:spPr>
        <p:txBody>
          <a:bodyPr wrap="square" lIns="22860" rIns="22860" tIns="9144" anchor="ctr">
            <a:spAutoFit/>
          </a:bodyPr>
          <a:lstStyle/>
          <a:p>
            <a:pPr algn="ctr">
              <a:defRPr sz="1600" b="1">
                <a:solidFill>
                  <a:srgbClr val="182B40"/>
                </a:solidFill>
                <a:latin typeface="Aptos"/>
              </a:defRPr>
            </a:pPr>
            <a:r>
              <a:t>B  A correctly formatted field proves its source.</a:t>
            </a:r>
          </a:p>
        </p:txBody>
      </p:sp>
      <p:sp>
        <p:nvSpPr>
          <p:cNvPr id="15" name="TextBox 14"/>
          <p:cNvSpPr txBox="1"/>
          <p:nvPr/>
        </p:nvSpPr>
        <p:spPr>
          <a:xfrm>
            <a:off x="5120640" y="5303520"/>
            <a:ext cx="5806440" cy="411480"/>
          </a:xfrm>
          <a:prstGeom prst="rect">
            <a:avLst/>
          </a:prstGeom>
          <a:noFill/>
        </p:spPr>
        <p:txBody>
          <a:bodyPr wrap="square" lIns="22860" rIns="22860" tIns="9144">
            <a:spAutoFit/>
          </a:bodyPr>
          <a:lstStyle/>
          <a:p>
            <a:pPr>
              <a:defRPr sz="1600" b="1">
                <a:solidFill>
                  <a:srgbClr val="117E6E"/>
                </a:solidFill>
                <a:latin typeface="Aptos"/>
              </a:defRPr>
            </a:pPr>
            <a:r>
              <a:t>Which source or test could settle this?</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
          </a:xfrm>
          <a:prstGeom prst="rect">
            <a:avLst/>
          </a:prstGeom>
          <a:solidFill>
            <a:srgbClr val="C7682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10896"/>
            <a:ext cx="10881360" cy="576072"/>
          </a:xfrm>
          <a:prstGeom prst="rect">
            <a:avLst/>
          </a:prstGeom>
          <a:noFill/>
        </p:spPr>
        <p:txBody>
          <a:bodyPr wrap="square" lIns="22860" rIns="22860" tIns="9144">
            <a:spAutoFit/>
          </a:bodyPr>
          <a:lstStyle/>
          <a:p>
            <a:pPr>
              <a:defRPr sz="2700" b="1">
                <a:solidFill>
                  <a:srgbClr val="182B40"/>
                </a:solidFill>
                <a:latin typeface="Aptos"/>
              </a:defRPr>
            </a:pPr>
            <a:r>
              <a:t>Extraction · a familiar picture</a:t>
            </a:r>
          </a:p>
        </p:txBody>
      </p:sp>
      <p:sp>
        <p:nvSpPr>
          <p:cNvPr id="4" name="Rectangle 3"/>
          <p:cNvSpPr/>
          <p:nvPr/>
        </p:nvSpPr>
        <p:spPr>
          <a:xfrm>
            <a:off x="594360" y="1362456"/>
            <a:ext cx="64008" cy="4544568"/>
          </a:xfrm>
          <a:prstGeom prst="rect">
            <a:avLst/>
          </a:prstGeom>
          <a:solidFill>
            <a:srgbClr val="C7682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41248" y="1371600"/>
            <a:ext cx="3511296" cy="320040"/>
          </a:xfrm>
          <a:prstGeom prst="rect">
            <a:avLst/>
          </a:prstGeom>
          <a:noFill/>
        </p:spPr>
        <p:txBody>
          <a:bodyPr wrap="square" lIns="22860" rIns="22860" tIns="9144">
            <a:spAutoFit/>
          </a:bodyPr>
          <a:lstStyle/>
          <a:p>
            <a:pPr>
              <a:defRPr sz="1100" b="1">
                <a:solidFill>
                  <a:srgbClr val="C7682C"/>
                </a:solidFill>
                <a:latin typeface="Aptos"/>
              </a:defRPr>
            </a:pPr>
            <a:r>
              <a:t>ANALOGY  /  WEEK 10</a:t>
            </a:r>
          </a:p>
        </p:txBody>
      </p:sp>
      <p:sp>
        <p:nvSpPr>
          <p:cNvPr id="6" name="TextBox 5"/>
          <p:cNvSpPr txBox="1"/>
          <p:nvPr/>
        </p:nvSpPr>
        <p:spPr>
          <a:xfrm>
            <a:off x="841248" y="1847088"/>
            <a:ext cx="3557016" cy="3986784"/>
          </a:xfrm>
          <a:prstGeom prst="rect">
            <a:avLst/>
          </a:prstGeom>
          <a:noFill/>
        </p:spPr>
        <p:txBody>
          <a:bodyPr wrap="square" lIns="22860" rIns="22860" tIns="9144">
            <a:spAutoFit/>
          </a:bodyPr>
          <a:lstStyle/>
          <a:p>
            <a:pPr>
              <a:defRPr sz="1800" b="0">
                <a:solidFill>
                  <a:srgbClr val="182B40"/>
                </a:solidFill>
                <a:latin typeface="Aptos"/>
              </a:defRPr>
            </a:pPr>
            <a:r>
              <a:t>An auditor writes the page and line beside every copied number.</a:t>
            </a:r>
          </a:p>
          <a:p>
            <a:pPr>
              <a:defRPr sz="1800" b="0">
                <a:solidFill>
                  <a:srgbClr val="182B40"/>
                </a:solidFill>
                <a:latin typeface="Aptos"/>
              </a:defRPr>
            </a:pPr>
          </a:p>
          <a:p>
            <a:pPr>
              <a:defRPr sz="1800" b="0">
                <a:solidFill>
                  <a:srgbClr val="182B40"/>
                </a:solidFill>
                <a:latin typeface="Aptos"/>
              </a:defRPr>
            </a:pPr>
            <a:r>
              <a:t>What matches our case, and where does the analogy stop?</a:t>
            </a:r>
          </a:p>
        </p:txBody>
      </p:sp>
      <p:sp>
        <p:nvSpPr>
          <p:cNvPr id="7" name="Rectangle 6"/>
          <p:cNvSpPr/>
          <p:nvPr/>
        </p:nvSpPr>
        <p:spPr>
          <a:xfrm>
            <a:off x="594360" y="6391656"/>
            <a:ext cx="10899648" cy="16459"/>
          </a:xfrm>
          <a:prstGeom prst="rect">
            <a:avLst/>
          </a:prstGeom>
          <a:solidFill>
            <a:srgbClr val="EBF5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21792" y="6510528"/>
            <a:ext cx="10826496" cy="219456"/>
          </a:xfrm>
          <a:prstGeom prst="rect">
            <a:avLst/>
          </a:prstGeom>
          <a:noFill/>
        </p:spPr>
        <p:txBody>
          <a:bodyPr wrap="square" lIns="22860" rIns="22860" tIns="9144">
            <a:spAutoFit/>
          </a:bodyPr>
          <a:lstStyle/>
          <a:p>
            <a:pPr>
              <a:defRPr sz="900" b="0">
                <a:solidFill>
                  <a:srgbClr val="445665"/>
                </a:solidFill>
                <a:latin typeface="Aptos"/>
              </a:defRPr>
            </a:pPr>
            <a:r>
              <a:t>GENERATIVE AI 2027    •    WEEK 10    •    11 / 40</a:t>
            </a:r>
          </a:p>
        </p:txBody>
      </p:sp>
      <p:sp>
        <p:nvSpPr>
          <p:cNvPr id="9" name="Rounded Rectangle 8"/>
          <p:cNvSpPr/>
          <p:nvPr/>
        </p:nvSpPr>
        <p:spPr>
          <a:xfrm>
            <a:off x="4700016" y="1344168"/>
            <a:ext cx="6793992" cy="4727448"/>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5074920" y="1591056"/>
            <a:ext cx="5943600" cy="749808"/>
          </a:xfrm>
          <a:prstGeom prst="rect">
            <a:avLst/>
          </a:prstGeom>
          <a:noFill/>
        </p:spPr>
        <p:txBody>
          <a:bodyPr wrap="square" lIns="22860" rIns="22860" tIns="9144">
            <a:spAutoFit/>
          </a:bodyPr>
          <a:lstStyle/>
          <a:p>
            <a:pPr>
              <a:defRPr sz="1800" b="1">
                <a:solidFill>
                  <a:srgbClr val="255E9C"/>
                </a:solidFill>
                <a:latin typeface="Aptos"/>
              </a:defRPr>
            </a:pPr>
            <a:r>
              <a:t>An auditor writes the page and line beside every copied number.</a:t>
            </a:r>
          </a:p>
        </p:txBody>
      </p:sp>
      <p:sp>
        <p:nvSpPr>
          <p:cNvPr id="11" name="Rounded Rectangle 10"/>
          <p:cNvSpPr/>
          <p:nvPr/>
        </p:nvSpPr>
        <p:spPr>
          <a:xfrm>
            <a:off x="5532120" y="2542032"/>
            <a:ext cx="768096" cy="768096"/>
          </a:xfrm>
          <a:prstGeom prst="roundRect">
            <a:avLst/>
          </a:prstGeom>
          <a:solidFill>
            <a:srgbClr val="255E9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5687568" y="2999232"/>
            <a:ext cx="100584" cy="146304"/>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5852159" y="2871216"/>
            <a:ext cx="100584" cy="27432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6016752" y="2734056"/>
            <a:ext cx="100584" cy="41148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ounded Rectangle 14"/>
          <p:cNvSpPr/>
          <p:nvPr/>
        </p:nvSpPr>
        <p:spPr>
          <a:xfrm>
            <a:off x="5001768" y="3456432"/>
            <a:ext cx="1874519" cy="1060704"/>
          </a:xfrm>
          <a:prstGeom prst="roundRect">
            <a:avLst/>
          </a:prstGeom>
          <a:solidFill>
            <a:srgbClr val="EBF5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5138928" y="3566160"/>
            <a:ext cx="1600199" cy="859536"/>
          </a:xfrm>
          <a:prstGeom prst="rect">
            <a:avLst/>
          </a:prstGeom>
          <a:noFill/>
        </p:spPr>
        <p:txBody>
          <a:bodyPr wrap="square" lIns="22860" rIns="22860" tIns="9144" anchor="ctr">
            <a:spAutoFit/>
          </a:bodyPr>
          <a:lstStyle/>
          <a:p>
            <a:pPr algn="ctr">
              <a:defRPr sz="1600" b="1">
                <a:solidFill>
                  <a:srgbClr val="182B40"/>
                </a:solidFill>
                <a:latin typeface="Aptos"/>
              </a:defRPr>
            </a:pPr>
            <a:r>
              <a:t>Printed number</a:t>
            </a:r>
          </a:p>
        </p:txBody>
      </p:sp>
      <p:cxnSp>
        <p:nvCxnSpPr>
          <p:cNvPr id="17" name="Connector 16"/>
          <p:cNvCxnSpPr/>
          <p:nvPr/>
        </p:nvCxnSpPr>
        <p:spPr>
          <a:xfrm>
            <a:off x="6903720" y="3977639"/>
            <a:ext cx="210311" cy="0"/>
          </a:xfrm>
          <a:prstGeom prst="line">
            <a:avLst/>
          </a:prstGeom>
          <a:ln w="27940">
            <a:solidFill>
              <a:srgbClr val="255E9C"/>
            </a:solidFill>
          </a:ln>
        </p:spPr>
        <p:style>
          <a:lnRef idx="2">
            <a:schemeClr val="accent1"/>
          </a:lnRef>
          <a:fillRef idx="0">
            <a:schemeClr val="accent1"/>
          </a:fillRef>
          <a:effectRef idx="1">
            <a:schemeClr val="accent1"/>
          </a:effectRef>
          <a:fontRef idx="minor">
            <a:schemeClr val="tx1"/>
          </a:fontRef>
        </p:style>
      </p:cxnSp>
      <p:sp>
        <p:nvSpPr>
          <p:cNvPr id="18" name="Chevron 17"/>
          <p:cNvSpPr/>
          <p:nvPr/>
        </p:nvSpPr>
        <p:spPr>
          <a:xfrm>
            <a:off x="7031736" y="3913631"/>
            <a:ext cx="146304" cy="128016"/>
          </a:xfrm>
          <a:prstGeom prst="chevron">
            <a:avLst/>
          </a:prstGeom>
          <a:solidFill>
            <a:srgbClr val="255E9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ounded Rectangle 18"/>
          <p:cNvSpPr/>
          <p:nvPr/>
        </p:nvSpPr>
        <p:spPr>
          <a:xfrm>
            <a:off x="7671815" y="2542032"/>
            <a:ext cx="768096" cy="768096"/>
          </a:xfrm>
          <a:prstGeom prst="roundRect">
            <a:avLst/>
          </a:prstGeom>
          <a:solidFill>
            <a:srgbClr val="117E6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Oval 19"/>
          <p:cNvSpPr/>
          <p:nvPr/>
        </p:nvSpPr>
        <p:spPr>
          <a:xfrm>
            <a:off x="7836407" y="2788920"/>
            <a:ext cx="128016" cy="128016"/>
          </a:xfrm>
          <a:prstGeom prst="ellipse">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Oval 20"/>
          <p:cNvSpPr/>
          <p:nvPr/>
        </p:nvSpPr>
        <p:spPr>
          <a:xfrm>
            <a:off x="8147303" y="2788920"/>
            <a:ext cx="128016" cy="128016"/>
          </a:xfrm>
          <a:prstGeom prst="ellipse">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Oval 21"/>
          <p:cNvSpPr/>
          <p:nvPr/>
        </p:nvSpPr>
        <p:spPr>
          <a:xfrm>
            <a:off x="7991855" y="3026664"/>
            <a:ext cx="128016" cy="128016"/>
          </a:xfrm>
          <a:prstGeom prst="ellipse">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ounded Rectangle 22"/>
          <p:cNvSpPr/>
          <p:nvPr/>
        </p:nvSpPr>
        <p:spPr>
          <a:xfrm>
            <a:off x="7141464" y="3456432"/>
            <a:ext cx="1874519" cy="1060704"/>
          </a:xfrm>
          <a:prstGeom prst="roundRect">
            <a:avLst/>
          </a:prstGeom>
          <a:solidFill>
            <a:srgbClr val="EFF7F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7278624" y="3566160"/>
            <a:ext cx="1600199" cy="859536"/>
          </a:xfrm>
          <a:prstGeom prst="rect">
            <a:avLst/>
          </a:prstGeom>
          <a:noFill/>
        </p:spPr>
        <p:txBody>
          <a:bodyPr wrap="square" lIns="22860" rIns="22860" tIns="9144" anchor="ctr">
            <a:spAutoFit/>
          </a:bodyPr>
          <a:lstStyle/>
          <a:p>
            <a:pPr algn="ctr">
              <a:defRPr sz="1600" b="1">
                <a:solidFill>
                  <a:srgbClr val="182B40"/>
                </a:solidFill>
                <a:latin typeface="Aptos"/>
              </a:defRPr>
            </a:pPr>
            <a:r>
              <a:t>Copied value</a:t>
            </a:r>
          </a:p>
        </p:txBody>
      </p:sp>
      <p:cxnSp>
        <p:nvCxnSpPr>
          <p:cNvPr id="25" name="Connector 24"/>
          <p:cNvCxnSpPr/>
          <p:nvPr/>
        </p:nvCxnSpPr>
        <p:spPr>
          <a:xfrm>
            <a:off x="9043416" y="3977639"/>
            <a:ext cx="210312" cy="0"/>
          </a:xfrm>
          <a:prstGeom prst="line">
            <a:avLst/>
          </a:prstGeom>
          <a:ln w="27940">
            <a:solidFill>
              <a:srgbClr val="255E9C"/>
            </a:solidFill>
          </a:ln>
        </p:spPr>
        <p:style>
          <a:lnRef idx="2">
            <a:schemeClr val="accent1"/>
          </a:lnRef>
          <a:fillRef idx="0">
            <a:schemeClr val="accent1"/>
          </a:fillRef>
          <a:effectRef idx="1">
            <a:schemeClr val="accent1"/>
          </a:effectRef>
          <a:fontRef idx="minor">
            <a:schemeClr val="tx1"/>
          </a:fontRef>
        </p:style>
      </p:cxnSp>
      <p:sp>
        <p:nvSpPr>
          <p:cNvPr id="26" name="Chevron 25"/>
          <p:cNvSpPr/>
          <p:nvPr/>
        </p:nvSpPr>
        <p:spPr>
          <a:xfrm>
            <a:off x="9171432" y="3913631"/>
            <a:ext cx="146304" cy="128016"/>
          </a:xfrm>
          <a:prstGeom prst="chevron">
            <a:avLst/>
          </a:prstGeom>
          <a:solidFill>
            <a:srgbClr val="255E9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ounded Rectangle 26"/>
          <p:cNvSpPr/>
          <p:nvPr/>
        </p:nvSpPr>
        <p:spPr>
          <a:xfrm>
            <a:off x="9811511" y="2542032"/>
            <a:ext cx="768096" cy="768096"/>
          </a:xfrm>
          <a:prstGeom prst="roundRect">
            <a:avLst/>
          </a:prstGeom>
          <a:solidFill>
            <a:srgbClr val="C7682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10012680" y="2697480"/>
            <a:ext cx="365760" cy="475488"/>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10067543" y="2779776"/>
            <a:ext cx="256032" cy="22860"/>
          </a:xfrm>
          <a:prstGeom prst="rect">
            <a:avLst/>
          </a:prstGeom>
          <a:solidFill>
            <a:srgbClr val="C7682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10067543" y="2880360"/>
            <a:ext cx="256032" cy="22860"/>
          </a:xfrm>
          <a:prstGeom prst="rect">
            <a:avLst/>
          </a:prstGeom>
          <a:solidFill>
            <a:srgbClr val="C7682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ectangle 30"/>
          <p:cNvSpPr/>
          <p:nvPr/>
        </p:nvSpPr>
        <p:spPr>
          <a:xfrm>
            <a:off x="10067543" y="2980944"/>
            <a:ext cx="256032" cy="22860"/>
          </a:xfrm>
          <a:prstGeom prst="rect">
            <a:avLst/>
          </a:prstGeom>
          <a:solidFill>
            <a:srgbClr val="C7682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ounded Rectangle 31"/>
          <p:cNvSpPr/>
          <p:nvPr/>
        </p:nvSpPr>
        <p:spPr>
          <a:xfrm>
            <a:off x="9281159" y="3456432"/>
            <a:ext cx="1874519" cy="1060704"/>
          </a:xfrm>
          <a:prstGeom prst="roundRect">
            <a:avLst/>
          </a:prstGeom>
          <a:solidFill>
            <a:srgbClr val="FFF9E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9418319" y="3566160"/>
            <a:ext cx="1600199" cy="859536"/>
          </a:xfrm>
          <a:prstGeom prst="rect">
            <a:avLst/>
          </a:prstGeom>
          <a:noFill/>
        </p:spPr>
        <p:txBody>
          <a:bodyPr wrap="square" lIns="22860" rIns="22860" tIns="9144" anchor="ctr">
            <a:spAutoFit/>
          </a:bodyPr>
          <a:lstStyle/>
          <a:p>
            <a:pPr algn="ctr">
              <a:defRPr sz="1600" b="1">
                <a:solidFill>
                  <a:srgbClr val="182B40"/>
                </a:solidFill>
                <a:latin typeface="Aptos"/>
              </a:defRPr>
            </a:pPr>
            <a:r>
              <a:t>Page pointer</a:t>
            </a:r>
          </a:p>
        </p:txBody>
      </p:sp>
      <p:sp>
        <p:nvSpPr>
          <p:cNvPr id="34" name="TextBox 33"/>
          <p:cNvSpPr txBox="1"/>
          <p:nvPr/>
        </p:nvSpPr>
        <p:spPr>
          <a:xfrm>
            <a:off x="5074920" y="4983480"/>
            <a:ext cx="6126480" cy="429768"/>
          </a:xfrm>
          <a:prstGeom prst="rect">
            <a:avLst/>
          </a:prstGeom>
          <a:noFill/>
        </p:spPr>
        <p:txBody>
          <a:bodyPr wrap="square" lIns="22860" rIns="22860" tIns="9144">
            <a:spAutoFit/>
          </a:bodyPr>
          <a:lstStyle/>
          <a:p>
            <a:pPr>
              <a:defRPr sz="1600" b="1">
                <a:solidFill>
                  <a:srgbClr val="117E6E"/>
                </a:solidFill>
                <a:latin typeface="Aptos"/>
              </a:defRPr>
            </a:pPr>
            <a:r>
              <a:t>What matches the technical process?</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
          </a:xfrm>
          <a:prstGeom prst="rect">
            <a:avLst/>
          </a:prstGeom>
          <a:solidFill>
            <a:srgbClr val="117E6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10896"/>
            <a:ext cx="10881360" cy="576072"/>
          </a:xfrm>
          <a:prstGeom prst="rect">
            <a:avLst/>
          </a:prstGeom>
          <a:noFill/>
        </p:spPr>
        <p:txBody>
          <a:bodyPr wrap="square" lIns="22860" rIns="22860" tIns="9144">
            <a:spAutoFit/>
          </a:bodyPr>
          <a:lstStyle/>
          <a:p>
            <a:pPr>
              <a:defRPr sz="2700" b="1">
                <a:solidFill>
                  <a:srgbClr val="182B40"/>
                </a:solidFill>
                <a:latin typeface="Aptos"/>
              </a:defRPr>
            </a:pPr>
            <a:r>
              <a:t>Extraction · map the parts</a:t>
            </a:r>
          </a:p>
        </p:txBody>
      </p:sp>
      <p:sp>
        <p:nvSpPr>
          <p:cNvPr id="4" name="Rectangle 3"/>
          <p:cNvSpPr/>
          <p:nvPr/>
        </p:nvSpPr>
        <p:spPr>
          <a:xfrm>
            <a:off x="594360" y="1362456"/>
            <a:ext cx="64008" cy="4544568"/>
          </a:xfrm>
          <a:prstGeom prst="rect">
            <a:avLst/>
          </a:prstGeom>
          <a:solidFill>
            <a:srgbClr val="117E6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41248" y="1371600"/>
            <a:ext cx="3511296" cy="320040"/>
          </a:xfrm>
          <a:prstGeom prst="rect">
            <a:avLst/>
          </a:prstGeom>
          <a:noFill/>
        </p:spPr>
        <p:txBody>
          <a:bodyPr wrap="square" lIns="22860" rIns="22860" tIns="9144">
            <a:spAutoFit/>
          </a:bodyPr>
          <a:lstStyle/>
          <a:p>
            <a:pPr>
              <a:defRPr sz="1100" b="1">
                <a:solidFill>
                  <a:srgbClr val="117E6E"/>
                </a:solidFill>
                <a:latin typeface="Aptos"/>
              </a:defRPr>
            </a:pPr>
            <a:r>
              <a:t>MAPPING  /  WEEK 10</a:t>
            </a:r>
          </a:p>
        </p:txBody>
      </p:sp>
      <p:sp>
        <p:nvSpPr>
          <p:cNvPr id="6" name="TextBox 5"/>
          <p:cNvSpPr txBox="1"/>
          <p:nvPr/>
        </p:nvSpPr>
        <p:spPr>
          <a:xfrm>
            <a:off x="841248" y="1847088"/>
            <a:ext cx="3557016" cy="3986784"/>
          </a:xfrm>
          <a:prstGeom prst="rect">
            <a:avLst/>
          </a:prstGeom>
          <a:noFill/>
        </p:spPr>
        <p:txBody>
          <a:bodyPr wrap="square" lIns="22860" rIns="22860" tIns="9144">
            <a:spAutoFit/>
          </a:bodyPr>
          <a:lstStyle/>
          <a:p>
            <a:pPr>
              <a:defRPr sz="1800" b="0">
                <a:solidFill>
                  <a:srgbClr val="182B40"/>
                </a:solidFill>
                <a:latin typeface="Aptos"/>
              </a:defRPr>
            </a:pPr>
            <a:r>
              <a:t>Match each everyday part to the technical part.</a:t>
            </a:r>
          </a:p>
          <a:p>
            <a:pPr>
              <a:defRPr sz="1800" b="0">
                <a:solidFill>
                  <a:srgbClr val="182B40"/>
                </a:solidFill>
                <a:latin typeface="Aptos"/>
              </a:defRPr>
            </a:pPr>
          </a:p>
          <a:p>
            <a:pPr>
              <a:defRPr sz="1800" b="0">
                <a:solidFill>
                  <a:srgbClr val="182B40"/>
                </a:solidFill>
                <a:latin typeface="Aptos"/>
              </a:defRPr>
            </a:pPr>
            <a:r>
              <a:t>Analogy limit: A pointer can be wrong or ambiguous, especially with poor image quality.</a:t>
            </a:r>
          </a:p>
        </p:txBody>
      </p:sp>
      <p:sp>
        <p:nvSpPr>
          <p:cNvPr id="7" name="Rectangle 6"/>
          <p:cNvSpPr/>
          <p:nvPr/>
        </p:nvSpPr>
        <p:spPr>
          <a:xfrm>
            <a:off x="594360" y="6391656"/>
            <a:ext cx="10899648" cy="16459"/>
          </a:xfrm>
          <a:prstGeom prst="rect">
            <a:avLst/>
          </a:prstGeom>
          <a:solidFill>
            <a:srgbClr val="EBF5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21792" y="6510528"/>
            <a:ext cx="10826496" cy="219456"/>
          </a:xfrm>
          <a:prstGeom prst="rect">
            <a:avLst/>
          </a:prstGeom>
          <a:noFill/>
        </p:spPr>
        <p:txBody>
          <a:bodyPr wrap="square" lIns="22860" rIns="22860" tIns="9144">
            <a:spAutoFit/>
          </a:bodyPr>
          <a:lstStyle/>
          <a:p>
            <a:pPr>
              <a:defRPr sz="900" b="0">
                <a:solidFill>
                  <a:srgbClr val="445665"/>
                </a:solidFill>
                <a:latin typeface="Aptos"/>
              </a:defRPr>
            </a:pPr>
            <a:r>
              <a:t>GENERATIVE AI 2027    •    WEEK 10    •    12 / 40</a:t>
            </a:r>
          </a:p>
        </p:txBody>
      </p:sp>
      <p:sp>
        <p:nvSpPr>
          <p:cNvPr id="9" name="Rounded Rectangle 8"/>
          <p:cNvSpPr/>
          <p:nvPr/>
        </p:nvSpPr>
        <p:spPr>
          <a:xfrm>
            <a:off x="4700016" y="1344168"/>
            <a:ext cx="6793992" cy="4727448"/>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5074920" y="1572768"/>
            <a:ext cx="6035040" cy="384048"/>
          </a:xfrm>
          <a:prstGeom prst="rect">
            <a:avLst/>
          </a:prstGeom>
          <a:noFill/>
        </p:spPr>
        <p:txBody>
          <a:bodyPr wrap="square" lIns="22860" rIns="22860" tIns="9144">
            <a:spAutoFit/>
          </a:bodyPr>
          <a:lstStyle/>
          <a:p>
            <a:pPr>
              <a:defRPr sz="1500" b="1">
                <a:solidFill>
                  <a:srgbClr val="255E9C"/>
                </a:solidFill>
                <a:latin typeface="Aptos"/>
              </a:defRPr>
            </a:pPr>
            <a:r>
              <a:t>FAMILIAR SCENE                  TECHNICAL IDEA</a:t>
            </a:r>
          </a:p>
        </p:txBody>
      </p:sp>
      <p:sp>
        <p:nvSpPr>
          <p:cNvPr id="11" name="Rounded Rectangle 10"/>
          <p:cNvSpPr/>
          <p:nvPr/>
        </p:nvSpPr>
        <p:spPr>
          <a:xfrm>
            <a:off x="5029200" y="2084831"/>
            <a:ext cx="2578608" cy="777240"/>
          </a:xfrm>
          <a:prstGeom prst="roundRect">
            <a:avLst/>
          </a:prstGeom>
          <a:solidFill>
            <a:srgbClr val="EBF5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5166360" y="2194560"/>
            <a:ext cx="2304288" cy="576072"/>
          </a:xfrm>
          <a:prstGeom prst="rect">
            <a:avLst/>
          </a:prstGeom>
          <a:noFill/>
        </p:spPr>
        <p:txBody>
          <a:bodyPr wrap="square" lIns="22860" rIns="22860" tIns="9144" anchor="ctr">
            <a:spAutoFit/>
          </a:bodyPr>
          <a:lstStyle/>
          <a:p>
            <a:pPr algn="ctr">
              <a:defRPr sz="1500" b="1">
                <a:solidFill>
                  <a:srgbClr val="182B40"/>
                </a:solidFill>
                <a:latin typeface="Aptos"/>
              </a:defRPr>
            </a:pPr>
            <a:r>
              <a:t>Printed number</a:t>
            </a:r>
          </a:p>
        </p:txBody>
      </p:sp>
      <p:cxnSp>
        <p:nvCxnSpPr>
          <p:cNvPr id="13" name="Connector 12"/>
          <p:cNvCxnSpPr/>
          <p:nvPr/>
        </p:nvCxnSpPr>
        <p:spPr>
          <a:xfrm>
            <a:off x="7699248" y="2468879"/>
            <a:ext cx="256031" cy="0"/>
          </a:xfrm>
          <a:prstGeom prst="line">
            <a:avLst/>
          </a:prstGeom>
          <a:ln w="27940">
            <a:solidFill>
              <a:srgbClr val="255E9C"/>
            </a:solidFill>
          </a:ln>
        </p:spPr>
        <p:style>
          <a:lnRef idx="2">
            <a:schemeClr val="accent1"/>
          </a:lnRef>
          <a:fillRef idx="0">
            <a:schemeClr val="accent1"/>
          </a:fillRef>
          <a:effectRef idx="1">
            <a:schemeClr val="accent1"/>
          </a:effectRef>
          <a:fontRef idx="minor">
            <a:schemeClr val="tx1"/>
          </a:fontRef>
        </p:style>
      </p:cxnSp>
      <p:sp>
        <p:nvSpPr>
          <p:cNvPr id="14" name="Chevron 13"/>
          <p:cNvSpPr/>
          <p:nvPr/>
        </p:nvSpPr>
        <p:spPr>
          <a:xfrm>
            <a:off x="7872983" y="2404872"/>
            <a:ext cx="146304" cy="128016"/>
          </a:xfrm>
          <a:prstGeom prst="chevron">
            <a:avLst/>
          </a:prstGeom>
          <a:solidFill>
            <a:srgbClr val="255E9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ounded Rectangle 14"/>
          <p:cNvSpPr/>
          <p:nvPr/>
        </p:nvSpPr>
        <p:spPr>
          <a:xfrm>
            <a:off x="8101583" y="2084831"/>
            <a:ext cx="3054096" cy="777240"/>
          </a:xfrm>
          <a:prstGeom prst="roundRect">
            <a:avLst/>
          </a:prstGeom>
          <a:solidFill>
            <a:srgbClr val="EFF7F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238744" y="2194560"/>
            <a:ext cx="2779776" cy="576072"/>
          </a:xfrm>
          <a:prstGeom prst="rect">
            <a:avLst/>
          </a:prstGeom>
          <a:noFill/>
        </p:spPr>
        <p:txBody>
          <a:bodyPr wrap="square" lIns="22860" rIns="22860" tIns="9144" anchor="ctr">
            <a:spAutoFit/>
          </a:bodyPr>
          <a:lstStyle/>
          <a:p>
            <a:pPr algn="ctr">
              <a:defRPr sz="1500" b="1">
                <a:solidFill>
                  <a:srgbClr val="182B40"/>
                </a:solidFill>
                <a:latin typeface="Aptos"/>
              </a:defRPr>
            </a:pPr>
            <a:r>
              <a:t>visible field</a:t>
            </a:r>
          </a:p>
        </p:txBody>
      </p:sp>
      <p:sp>
        <p:nvSpPr>
          <p:cNvPr id="17" name="Rounded Rectangle 16"/>
          <p:cNvSpPr/>
          <p:nvPr/>
        </p:nvSpPr>
        <p:spPr>
          <a:xfrm>
            <a:off x="5029200" y="3136391"/>
            <a:ext cx="2578608" cy="777240"/>
          </a:xfrm>
          <a:prstGeom prst="roundRect">
            <a:avLst/>
          </a:prstGeom>
          <a:solidFill>
            <a:srgbClr val="EBF5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5166360" y="3246120"/>
            <a:ext cx="2304288" cy="576072"/>
          </a:xfrm>
          <a:prstGeom prst="rect">
            <a:avLst/>
          </a:prstGeom>
          <a:noFill/>
        </p:spPr>
        <p:txBody>
          <a:bodyPr wrap="square" lIns="22860" rIns="22860" tIns="9144" anchor="ctr">
            <a:spAutoFit/>
          </a:bodyPr>
          <a:lstStyle/>
          <a:p>
            <a:pPr algn="ctr">
              <a:defRPr sz="1500" b="1">
                <a:solidFill>
                  <a:srgbClr val="182B40"/>
                </a:solidFill>
                <a:latin typeface="Aptos"/>
              </a:defRPr>
            </a:pPr>
            <a:r>
              <a:t>Copied value</a:t>
            </a:r>
          </a:p>
        </p:txBody>
      </p:sp>
      <p:cxnSp>
        <p:nvCxnSpPr>
          <p:cNvPr id="19" name="Connector 18"/>
          <p:cNvCxnSpPr/>
          <p:nvPr/>
        </p:nvCxnSpPr>
        <p:spPr>
          <a:xfrm>
            <a:off x="7699248" y="3520439"/>
            <a:ext cx="256031" cy="0"/>
          </a:xfrm>
          <a:prstGeom prst="line">
            <a:avLst/>
          </a:prstGeom>
          <a:ln w="27940">
            <a:solidFill>
              <a:srgbClr val="255E9C"/>
            </a:solidFill>
          </a:ln>
        </p:spPr>
        <p:style>
          <a:lnRef idx="2">
            <a:schemeClr val="accent1"/>
          </a:lnRef>
          <a:fillRef idx="0">
            <a:schemeClr val="accent1"/>
          </a:fillRef>
          <a:effectRef idx="1">
            <a:schemeClr val="accent1"/>
          </a:effectRef>
          <a:fontRef idx="minor">
            <a:schemeClr val="tx1"/>
          </a:fontRef>
        </p:style>
      </p:cxnSp>
      <p:sp>
        <p:nvSpPr>
          <p:cNvPr id="20" name="Chevron 19"/>
          <p:cNvSpPr/>
          <p:nvPr/>
        </p:nvSpPr>
        <p:spPr>
          <a:xfrm>
            <a:off x="7872983" y="3456432"/>
            <a:ext cx="146304" cy="128016"/>
          </a:xfrm>
          <a:prstGeom prst="chevron">
            <a:avLst/>
          </a:prstGeom>
          <a:solidFill>
            <a:srgbClr val="255E9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ounded Rectangle 20"/>
          <p:cNvSpPr/>
          <p:nvPr/>
        </p:nvSpPr>
        <p:spPr>
          <a:xfrm>
            <a:off x="8101583" y="3136391"/>
            <a:ext cx="3054096" cy="777240"/>
          </a:xfrm>
          <a:prstGeom prst="roundRect">
            <a:avLst/>
          </a:prstGeom>
          <a:solidFill>
            <a:srgbClr val="EFF7F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8238744" y="3246120"/>
            <a:ext cx="2779776" cy="576072"/>
          </a:xfrm>
          <a:prstGeom prst="rect">
            <a:avLst/>
          </a:prstGeom>
          <a:noFill/>
        </p:spPr>
        <p:txBody>
          <a:bodyPr wrap="square" lIns="22860" rIns="22860" tIns="9144" anchor="ctr">
            <a:spAutoFit/>
          </a:bodyPr>
          <a:lstStyle/>
          <a:p>
            <a:pPr algn="ctr">
              <a:defRPr sz="1500" b="1">
                <a:solidFill>
                  <a:srgbClr val="182B40"/>
                </a:solidFill>
                <a:latin typeface="Aptos"/>
              </a:defRPr>
            </a:pPr>
            <a:r>
              <a:t>extraction</a:t>
            </a:r>
          </a:p>
        </p:txBody>
      </p:sp>
      <p:sp>
        <p:nvSpPr>
          <p:cNvPr id="23" name="Rounded Rectangle 22"/>
          <p:cNvSpPr/>
          <p:nvPr/>
        </p:nvSpPr>
        <p:spPr>
          <a:xfrm>
            <a:off x="5029200" y="4187952"/>
            <a:ext cx="2578608" cy="777240"/>
          </a:xfrm>
          <a:prstGeom prst="roundRect">
            <a:avLst/>
          </a:prstGeom>
          <a:solidFill>
            <a:srgbClr val="EBF5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5166360" y="4297680"/>
            <a:ext cx="2304288" cy="576072"/>
          </a:xfrm>
          <a:prstGeom prst="rect">
            <a:avLst/>
          </a:prstGeom>
          <a:noFill/>
        </p:spPr>
        <p:txBody>
          <a:bodyPr wrap="square" lIns="22860" rIns="22860" tIns="9144" anchor="ctr">
            <a:spAutoFit/>
          </a:bodyPr>
          <a:lstStyle/>
          <a:p>
            <a:pPr algn="ctr">
              <a:defRPr sz="1500" b="1">
                <a:solidFill>
                  <a:srgbClr val="182B40"/>
                </a:solidFill>
                <a:latin typeface="Aptos"/>
              </a:defRPr>
            </a:pPr>
            <a:r>
              <a:t>Page pointer</a:t>
            </a:r>
          </a:p>
        </p:txBody>
      </p:sp>
      <p:cxnSp>
        <p:nvCxnSpPr>
          <p:cNvPr id="25" name="Connector 24"/>
          <p:cNvCxnSpPr/>
          <p:nvPr/>
        </p:nvCxnSpPr>
        <p:spPr>
          <a:xfrm>
            <a:off x="7699248" y="4572000"/>
            <a:ext cx="256031" cy="0"/>
          </a:xfrm>
          <a:prstGeom prst="line">
            <a:avLst/>
          </a:prstGeom>
          <a:ln w="27940">
            <a:solidFill>
              <a:srgbClr val="255E9C"/>
            </a:solidFill>
          </a:ln>
        </p:spPr>
        <p:style>
          <a:lnRef idx="2">
            <a:schemeClr val="accent1"/>
          </a:lnRef>
          <a:fillRef idx="0">
            <a:schemeClr val="accent1"/>
          </a:fillRef>
          <a:effectRef idx="1">
            <a:schemeClr val="accent1"/>
          </a:effectRef>
          <a:fontRef idx="minor">
            <a:schemeClr val="tx1"/>
          </a:fontRef>
        </p:style>
      </p:cxnSp>
      <p:sp>
        <p:nvSpPr>
          <p:cNvPr id="26" name="Chevron 25"/>
          <p:cNvSpPr/>
          <p:nvPr/>
        </p:nvSpPr>
        <p:spPr>
          <a:xfrm>
            <a:off x="7872983" y="4507992"/>
            <a:ext cx="146304" cy="128016"/>
          </a:xfrm>
          <a:prstGeom prst="chevron">
            <a:avLst/>
          </a:prstGeom>
          <a:solidFill>
            <a:srgbClr val="255E9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ounded Rectangle 26"/>
          <p:cNvSpPr/>
          <p:nvPr/>
        </p:nvSpPr>
        <p:spPr>
          <a:xfrm>
            <a:off x="8101583" y="4187952"/>
            <a:ext cx="3054096" cy="777240"/>
          </a:xfrm>
          <a:prstGeom prst="roundRect">
            <a:avLst/>
          </a:prstGeom>
          <a:solidFill>
            <a:srgbClr val="EFF7F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8238744" y="4297680"/>
            <a:ext cx="2779776" cy="576072"/>
          </a:xfrm>
          <a:prstGeom prst="rect">
            <a:avLst/>
          </a:prstGeom>
          <a:noFill/>
        </p:spPr>
        <p:txBody>
          <a:bodyPr wrap="square" lIns="22860" rIns="22860" tIns="9144" anchor="ctr">
            <a:spAutoFit/>
          </a:bodyPr>
          <a:lstStyle/>
          <a:p>
            <a:pPr algn="ctr">
              <a:defRPr sz="1500" b="1">
                <a:solidFill>
                  <a:srgbClr val="182B40"/>
                </a:solidFill>
                <a:latin typeface="Aptos"/>
              </a:defRPr>
            </a:pPr>
            <a:r>
              <a:t>source location</a:t>
            </a:r>
          </a:p>
        </p:txBody>
      </p:sp>
      <p:sp>
        <p:nvSpPr>
          <p:cNvPr id="29" name="TextBox 28"/>
          <p:cNvSpPr txBox="1"/>
          <p:nvPr/>
        </p:nvSpPr>
        <p:spPr>
          <a:xfrm>
            <a:off x="5120640" y="5385816"/>
            <a:ext cx="5943600" cy="411480"/>
          </a:xfrm>
          <a:prstGeom prst="rect">
            <a:avLst/>
          </a:prstGeom>
          <a:noFill/>
        </p:spPr>
        <p:txBody>
          <a:bodyPr wrap="square" lIns="22860" rIns="22860" tIns="9144">
            <a:spAutoFit/>
          </a:bodyPr>
          <a:lstStyle/>
          <a:p>
            <a:pPr>
              <a:defRPr sz="1500" b="1">
                <a:solidFill>
                  <a:srgbClr val="C7682C"/>
                </a:solidFill>
                <a:latin typeface="Aptos"/>
              </a:defRPr>
            </a:pPr>
            <a:r>
              <a:t>The analogy has a limit. Read it on the left.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
          </a:xfrm>
          <a:prstGeom prst="rect">
            <a:avLst/>
          </a:prstGeom>
          <a:solidFill>
            <a:srgbClr val="255E9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10896"/>
            <a:ext cx="10881360" cy="576072"/>
          </a:xfrm>
          <a:prstGeom prst="rect">
            <a:avLst/>
          </a:prstGeom>
          <a:noFill/>
        </p:spPr>
        <p:txBody>
          <a:bodyPr wrap="square" lIns="22860" rIns="22860" tIns="9144">
            <a:spAutoFit/>
          </a:bodyPr>
          <a:lstStyle/>
          <a:p>
            <a:pPr>
              <a:defRPr sz="2700" b="1">
                <a:solidFill>
                  <a:srgbClr val="182B40"/>
                </a:solidFill>
                <a:latin typeface="Aptos"/>
              </a:defRPr>
            </a:pPr>
            <a:r>
              <a:t>Extraction · how it works</a:t>
            </a:r>
          </a:p>
        </p:txBody>
      </p:sp>
      <p:sp>
        <p:nvSpPr>
          <p:cNvPr id="4" name="Rectangle 3"/>
          <p:cNvSpPr/>
          <p:nvPr/>
        </p:nvSpPr>
        <p:spPr>
          <a:xfrm>
            <a:off x="594360" y="1362456"/>
            <a:ext cx="64008" cy="4544568"/>
          </a:xfrm>
          <a:prstGeom prst="rect">
            <a:avLst/>
          </a:prstGeom>
          <a:solidFill>
            <a:srgbClr val="255E9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41248" y="1371600"/>
            <a:ext cx="3511296" cy="320040"/>
          </a:xfrm>
          <a:prstGeom prst="rect">
            <a:avLst/>
          </a:prstGeom>
          <a:noFill/>
        </p:spPr>
        <p:txBody>
          <a:bodyPr wrap="square" lIns="22860" rIns="22860" tIns="9144">
            <a:spAutoFit/>
          </a:bodyPr>
          <a:lstStyle/>
          <a:p>
            <a:pPr>
              <a:defRPr sz="1100" b="1">
                <a:solidFill>
                  <a:srgbClr val="255E9C"/>
                </a:solidFill>
                <a:latin typeface="Aptos"/>
              </a:defRPr>
            </a:pPr>
            <a:r>
              <a:t>MECHANISM  /  WEEK 10</a:t>
            </a:r>
          </a:p>
        </p:txBody>
      </p:sp>
      <p:sp>
        <p:nvSpPr>
          <p:cNvPr id="6" name="TextBox 5"/>
          <p:cNvSpPr txBox="1"/>
          <p:nvPr/>
        </p:nvSpPr>
        <p:spPr>
          <a:xfrm>
            <a:off x="841248" y="1847088"/>
            <a:ext cx="3557016" cy="3986784"/>
          </a:xfrm>
          <a:prstGeom prst="rect">
            <a:avLst/>
          </a:prstGeom>
          <a:noFill/>
        </p:spPr>
        <p:txBody>
          <a:bodyPr wrap="square" lIns="22860" rIns="22860" tIns="9144">
            <a:spAutoFit/>
          </a:bodyPr>
          <a:lstStyle/>
          <a:p>
            <a:pPr>
              <a:defRPr sz="1800" b="0">
                <a:solidFill>
                  <a:srgbClr val="182B40"/>
                </a:solidFill>
                <a:latin typeface="Aptos"/>
              </a:defRPr>
            </a:pPr>
            <a:r>
              <a:t>Read fields present in the document and retain a pointer to the source.</a:t>
            </a:r>
          </a:p>
          <a:p>
            <a:pPr>
              <a:defRPr sz="1800" b="0">
                <a:solidFill>
                  <a:srgbClr val="182B40"/>
                </a:solidFill>
                <a:latin typeface="Aptos"/>
              </a:defRPr>
            </a:pPr>
          </a:p>
          <a:p>
            <a:pPr>
              <a:defRPr sz="1800" b="0">
                <a:solidFill>
                  <a:srgbClr val="182B40"/>
                </a:solidFill>
                <a:latin typeface="Aptos"/>
              </a:defRPr>
            </a:pPr>
            <a:r>
              <a:t>Trace the arrows from left to right.</a:t>
            </a:r>
          </a:p>
        </p:txBody>
      </p:sp>
      <p:sp>
        <p:nvSpPr>
          <p:cNvPr id="7" name="Rectangle 6"/>
          <p:cNvSpPr/>
          <p:nvPr/>
        </p:nvSpPr>
        <p:spPr>
          <a:xfrm>
            <a:off x="594360" y="6391656"/>
            <a:ext cx="10899648" cy="16459"/>
          </a:xfrm>
          <a:prstGeom prst="rect">
            <a:avLst/>
          </a:prstGeom>
          <a:solidFill>
            <a:srgbClr val="EBF5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21792" y="6510528"/>
            <a:ext cx="10826496" cy="219456"/>
          </a:xfrm>
          <a:prstGeom prst="rect">
            <a:avLst/>
          </a:prstGeom>
          <a:noFill/>
        </p:spPr>
        <p:txBody>
          <a:bodyPr wrap="square" lIns="22860" rIns="22860" tIns="9144">
            <a:spAutoFit/>
          </a:bodyPr>
          <a:lstStyle/>
          <a:p>
            <a:pPr>
              <a:defRPr sz="900" b="0">
                <a:solidFill>
                  <a:srgbClr val="445665"/>
                </a:solidFill>
                <a:latin typeface="Aptos"/>
              </a:defRPr>
            </a:pPr>
            <a:r>
              <a:t>GENERATIVE AI 2027    •    WEEK 10    •    13 / 40</a:t>
            </a:r>
          </a:p>
        </p:txBody>
      </p:sp>
      <p:sp>
        <p:nvSpPr>
          <p:cNvPr id="9" name="Rounded Rectangle 8"/>
          <p:cNvSpPr/>
          <p:nvPr/>
        </p:nvSpPr>
        <p:spPr>
          <a:xfrm>
            <a:off x="4700016" y="1344168"/>
            <a:ext cx="6793992" cy="4727448"/>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5074920" y="1572768"/>
            <a:ext cx="6035040" cy="384048"/>
          </a:xfrm>
          <a:prstGeom prst="rect">
            <a:avLst/>
          </a:prstGeom>
          <a:noFill/>
        </p:spPr>
        <p:txBody>
          <a:bodyPr wrap="square" lIns="22860" rIns="22860" tIns="9144">
            <a:spAutoFit/>
          </a:bodyPr>
          <a:lstStyle/>
          <a:p>
            <a:pPr>
              <a:defRPr sz="1500" b="1">
                <a:solidFill>
                  <a:srgbClr val="255E9C"/>
                </a:solidFill>
                <a:latin typeface="Aptos"/>
              </a:defRPr>
            </a:pPr>
            <a:r>
              <a:t>FOLLOW THE DATA THROUGH EACH ARROW</a:t>
            </a:r>
          </a:p>
        </p:txBody>
      </p:sp>
      <p:sp>
        <p:nvSpPr>
          <p:cNvPr id="11" name="Rounded Rectangle 10"/>
          <p:cNvSpPr/>
          <p:nvPr/>
        </p:nvSpPr>
        <p:spPr>
          <a:xfrm>
            <a:off x="5257800" y="2029968"/>
            <a:ext cx="5532120" cy="603504"/>
          </a:xfrm>
          <a:prstGeom prst="roundRect">
            <a:avLst/>
          </a:prstGeom>
          <a:solidFill>
            <a:srgbClr val="EBF5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5394960" y="2139696"/>
            <a:ext cx="5257800" cy="402336"/>
          </a:xfrm>
          <a:prstGeom prst="rect">
            <a:avLst/>
          </a:prstGeom>
          <a:noFill/>
        </p:spPr>
        <p:txBody>
          <a:bodyPr wrap="square" lIns="22860" rIns="22860" tIns="9144" anchor="ctr">
            <a:spAutoFit/>
          </a:bodyPr>
          <a:lstStyle/>
          <a:p>
            <a:pPr algn="ctr">
              <a:defRPr sz="1500" b="1">
                <a:solidFill>
                  <a:srgbClr val="182B40"/>
                </a:solidFill>
                <a:latin typeface="Aptos"/>
              </a:defRPr>
            </a:pPr>
            <a:r>
              <a:t>Visible field</a:t>
            </a:r>
          </a:p>
        </p:txBody>
      </p:sp>
      <p:cxnSp>
        <p:nvCxnSpPr>
          <p:cNvPr id="13" name="Connector 12"/>
          <p:cNvCxnSpPr/>
          <p:nvPr/>
        </p:nvCxnSpPr>
        <p:spPr>
          <a:xfrm>
            <a:off x="8019288" y="2651760"/>
            <a:ext cx="0" cy="210312"/>
          </a:xfrm>
          <a:prstGeom prst="line">
            <a:avLst/>
          </a:prstGeom>
          <a:ln w="27940">
            <a:solidFill>
              <a:srgbClr val="255E9C"/>
            </a:solidFill>
          </a:ln>
        </p:spPr>
        <p:style>
          <a:lnRef idx="2">
            <a:schemeClr val="accent1"/>
          </a:lnRef>
          <a:fillRef idx="0">
            <a:schemeClr val="accent1"/>
          </a:fillRef>
          <a:effectRef idx="1">
            <a:schemeClr val="accent1"/>
          </a:effectRef>
          <a:fontRef idx="minor">
            <a:schemeClr val="tx1"/>
          </a:fontRef>
        </p:style>
      </p:cxnSp>
      <p:sp>
        <p:nvSpPr>
          <p:cNvPr id="14" name="Chevron 13"/>
          <p:cNvSpPr/>
          <p:nvPr/>
        </p:nvSpPr>
        <p:spPr>
          <a:xfrm>
            <a:off x="7936992" y="2798064"/>
            <a:ext cx="146304" cy="128016"/>
          </a:xfrm>
          <a:prstGeom prst="chevron">
            <a:avLst/>
          </a:prstGeom>
          <a:solidFill>
            <a:srgbClr val="255E9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ounded Rectangle 14"/>
          <p:cNvSpPr/>
          <p:nvPr/>
        </p:nvSpPr>
        <p:spPr>
          <a:xfrm>
            <a:off x="5257800" y="2898648"/>
            <a:ext cx="5532120" cy="603504"/>
          </a:xfrm>
          <a:prstGeom prst="roundRect">
            <a:avLst/>
          </a:prstGeom>
          <a:solidFill>
            <a:srgbClr val="EFF7F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5394960" y="3008376"/>
            <a:ext cx="5257800" cy="402336"/>
          </a:xfrm>
          <a:prstGeom prst="rect">
            <a:avLst/>
          </a:prstGeom>
          <a:noFill/>
        </p:spPr>
        <p:txBody>
          <a:bodyPr wrap="square" lIns="22860" rIns="22860" tIns="9144" anchor="ctr">
            <a:spAutoFit/>
          </a:bodyPr>
          <a:lstStyle/>
          <a:p>
            <a:pPr algn="ctr">
              <a:defRPr sz="1500" b="1">
                <a:solidFill>
                  <a:srgbClr val="182B40"/>
                </a:solidFill>
                <a:latin typeface="Aptos"/>
              </a:defRPr>
            </a:pPr>
            <a:r>
              <a:t>Extract exact value</a:t>
            </a:r>
          </a:p>
        </p:txBody>
      </p:sp>
      <p:cxnSp>
        <p:nvCxnSpPr>
          <p:cNvPr id="17" name="Connector 16"/>
          <p:cNvCxnSpPr/>
          <p:nvPr/>
        </p:nvCxnSpPr>
        <p:spPr>
          <a:xfrm>
            <a:off x="8019288" y="3520440"/>
            <a:ext cx="0" cy="210312"/>
          </a:xfrm>
          <a:prstGeom prst="line">
            <a:avLst/>
          </a:prstGeom>
          <a:ln w="27940">
            <a:solidFill>
              <a:srgbClr val="255E9C"/>
            </a:solidFill>
          </a:ln>
        </p:spPr>
        <p:style>
          <a:lnRef idx="2">
            <a:schemeClr val="accent1"/>
          </a:lnRef>
          <a:fillRef idx="0">
            <a:schemeClr val="accent1"/>
          </a:fillRef>
          <a:effectRef idx="1">
            <a:schemeClr val="accent1"/>
          </a:effectRef>
          <a:fontRef idx="minor">
            <a:schemeClr val="tx1"/>
          </a:fontRef>
        </p:style>
      </p:cxnSp>
      <p:sp>
        <p:nvSpPr>
          <p:cNvPr id="18" name="Chevron 17"/>
          <p:cNvSpPr/>
          <p:nvPr/>
        </p:nvSpPr>
        <p:spPr>
          <a:xfrm>
            <a:off x="7936992" y="3666744"/>
            <a:ext cx="146304" cy="128016"/>
          </a:xfrm>
          <a:prstGeom prst="chevron">
            <a:avLst/>
          </a:prstGeom>
          <a:solidFill>
            <a:srgbClr val="255E9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ounded Rectangle 18"/>
          <p:cNvSpPr/>
          <p:nvPr/>
        </p:nvSpPr>
        <p:spPr>
          <a:xfrm>
            <a:off x="5257800" y="3767328"/>
            <a:ext cx="5532120" cy="603504"/>
          </a:xfrm>
          <a:prstGeom prst="roundRect">
            <a:avLst/>
          </a:prstGeom>
          <a:solidFill>
            <a:srgbClr val="EBF5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5394960" y="3877056"/>
            <a:ext cx="5257800" cy="402336"/>
          </a:xfrm>
          <a:prstGeom prst="rect">
            <a:avLst/>
          </a:prstGeom>
          <a:noFill/>
        </p:spPr>
        <p:txBody>
          <a:bodyPr wrap="square" lIns="22860" rIns="22860" tIns="9144" anchor="ctr">
            <a:spAutoFit/>
          </a:bodyPr>
          <a:lstStyle/>
          <a:p>
            <a:pPr algn="ctr">
              <a:defRPr sz="1500" b="1">
                <a:solidFill>
                  <a:srgbClr val="182B40"/>
                </a:solidFill>
                <a:latin typeface="Aptos"/>
              </a:defRPr>
            </a:pPr>
            <a:r>
              <a:t>Source pointer</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
          </a:xfrm>
          <a:prstGeom prst="rect">
            <a:avLst/>
          </a:prstGeom>
          <a:solidFill>
            <a:srgbClr val="117E6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10896"/>
            <a:ext cx="10881360" cy="576072"/>
          </a:xfrm>
          <a:prstGeom prst="rect">
            <a:avLst/>
          </a:prstGeom>
          <a:noFill/>
        </p:spPr>
        <p:txBody>
          <a:bodyPr wrap="square" lIns="22860" rIns="22860" tIns="9144">
            <a:spAutoFit/>
          </a:bodyPr>
          <a:lstStyle/>
          <a:p>
            <a:pPr>
              <a:defRPr sz="2700" b="1">
                <a:solidFill>
                  <a:srgbClr val="182B40"/>
                </a:solidFill>
                <a:latin typeface="Aptos"/>
              </a:defRPr>
            </a:pPr>
            <a:r>
              <a:t>Extraction · work one case</a:t>
            </a:r>
          </a:p>
        </p:txBody>
      </p:sp>
      <p:sp>
        <p:nvSpPr>
          <p:cNvPr id="4" name="Rectangle 3"/>
          <p:cNvSpPr/>
          <p:nvPr/>
        </p:nvSpPr>
        <p:spPr>
          <a:xfrm>
            <a:off x="594360" y="1362456"/>
            <a:ext cx="64008" cy="4544568"/>
          </a:xfrm>
          <a:prstGeom prst="rect">
            <a:avLst/>
          </a:prstGeom>
          <a:solidFill>
            <a:srgbClr val="117E6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41248" y="1371600"/>
            <a:ext cx="3511296" cy="320040"/>
          </a:xfrm>
          <a:prstGeom prst="rect">
            <a:avLst/>
          </a:prstGeom>
          <a:noFill/>
        </p:spPr>
        <p:txBody>
          <a:bodyPr wrap="square" lIns="22860" rIns="22860" tIns="9144">
            <a:spAutoFit/>
          </a:bodyPr>
          <a:lstStyle/>
          <a:p>
            <a:pPr>
              <a:defRPr sz="1100" b="1">
                <a:solidFill>
                  <a:srgbClr val="117E6E"/>
                </a:solidFill>
                <a:latin typeface="Aptos"/>
              </a:defRPr>
            </a:pPr>
            <a:r>
              <a:t>WORKED  /  WEEK 10</a:t>
            </a:r>
          </a:p>
        </p:txBody>
      </p:sp>
      <p:sp>
        <p:nvSpPr>
          <p:cNvPr id="6" name="TextBox 5"/>
          <p:cNvSpPr txBox="1"/>
          <p:nvPr/>
        </p:nvSpPr>
        <p:spPr>
          <a:xfrm>
            <a:off x="841248" y="1847088"/>
            <a:ext cx="3557016" cy="3986784"/>
          </a:xfrm>
          <a:prstGeom prst="rect">
            <a:avLst/>
          </a:prstGeom>
          <a:noFill/>
        </p:spPr>
        <p:txBody>
          <a:bodyPr wrap="square" lIns="22860" rIns="22860" tIns="9144">
            <a:spAutoFit/>
          </a:bodyPr>
          <a:lstStyle/>
          <a:p>
            <a:pPr>
              <a:defRPr sz="1800" b="0">
                <a:solidFill>
                  <a:srgbClr val="182B40"/>
                </a:solidFill>
                <a:latin typeface="Aptos"/>
              </a:defRPr>
            </a:pPr>
            <a:r>
              <a:t>Record “listed_total = €54” with the invoice field location; keep calculation separate.</a:t>
            </a:r>
          </a:p>
          <a:p>
            <a:pPr>
              <a:defRPr sz="1800" b="0">
                <a:solidFill>
                  <a:srgbClr val="182B40"/>
                </a:solidFill>
                <a:latin typeface="Aptos"/>
              </a:defRPr>
            </a:pPr>
          </a:p>
          <a:p>
            <a:pPr>
              <a:defRPr sz="1800" b="0">
                <a:solidFill>
                  <a:srgbClr val="182B40"/>
                </a:solidFill>
                <a:latin typeface="Aptos"/>
              </a:defRPr>
            </a:pPr>
            <a:r>
              <a:t>Point to the evidence before giving your conclusion.</a:t>
            </a:r>
          </a:p>
        </p:txBody>
      </p:sp>
      <p:sp>
        <p:nvSpPr>
          <p:cNvPr id="7" name="Rectangle 6"/>
          <p:cNvSpPr/>
          <p:nvPr/>
        </p:nvSpPr>
        <p:spPr>
          <a:xfrm>
            <a:off x="594360" y="6391656"/>
            <a:ext cx="10899648" cy="16459"/>
          </a:xfrm>
          <a:prstGeom prst="rect">
            <a:avLst/>
          </a:prstGeom>
          <a:solidFill>
            <a:srgbClr val="EBF5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21792" y="6510528"/>
            <a:ext cx="10826496" cy="219456"/>
          </a:xfrm>
          <a:prstGeom prst="rect">
            <a:avLst/>
          </a:prstGeom>
          <a:noFill/>
        </p:spPr>
        <p:txBody>
          <a:bodyPr wrap="square" lIns="22860" rIns="22860" tIns="9144">
            <a:spAutoFit/>
          </a:bodyPr>
          <a:lstStyle/>
          <a:p>
            <a:pPr>
              <a:defRPr sz="900" b="0">
                <a:solidFill>
                  <a:srgbClr val="445665"/>
                </a:solidFill>
                <a:latin typeface="Aptos"/>
              </a:defRPr>
            </a:pPr>
            <a:r>
              <a:t>GENERATIVE AI 2027    •    WEEK 10    •    14 / 40</a:t>
            </a:r>
          </a:p>
        </p:txBody>
      </p:sp>
      <p:sp>
        <p:nvSpPr>
          <p:cNvPr id="9" name="Rounded Rectangle 8"/>
          <p:cNvSpPr/>
          <p:nvPr/>
        </p:nvSpPr>
        <p:spPr>
          <a:xfrm>
            <a:off x="4700016" y="1344168"/>
            <a:ext cx="6793992" cy="4727448"/>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5102352" y="1719072"/>
            <a:ext cx="5760720" cy="283464"/>
          </a:xfrm>
          <a:prstGeom prst="rect">
            <a:avLst/>
          </a:prstGeom>
          <a:noFill/>
        </p:spPr>
        <p:txBody>
          <a:bodyPr wrap="square" lIns="22860" rIns="22860" tIns="9144">
            <a:spAutoFit/>
          </a:bodyPr>
          <a:lstStyle/>
          <a:p>
            <a:pPr>
              <a:defRPr sz="1300" b="1">
                <a:solidFill>
                  <a:srgbClr val="255E9C"/>
                </a:solidFill>
                <a:latin typeface="Aptos"/>
              </a:defRPr>
            </a:pPr>
            <a:r>
              <a:t>GIVEN</a:t>
            </a:r>
          </a:p>
        </p:txBody>
      </p:sp>
      <p:sp>
        <p:nvSpPr>
          <p:cNvPr id="11" name="Rounded Rectangle 10"/>
          <p:cNvSpPr/>
          <p:nvPr/>
        </p:nvSpPr>
        <p:spPr>
          <a:xfrm>
            <a:off x="5065776" y="2048255"/>
            <a:ext cx="6035040" cy="950976"/>
          </a:xfrm>
          <a:prstGeom prst="roundRect">
            <a:avLst/>
          </a:prstGeom>
          <a:solidFill>
            <a:srgbClr val="EBF5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5202936" y="2157984"/>
            <a:ext cx="5760720" cy="749808"/>
          </a:xfrm>
          <a:prstGeom prst="rect">
            <a:avLst/>
          </a:prstGeom>
          <a:noFill/>
        </p:spPr>
        <p:txBody>
          <a:bodyPr wrap="square" lIns="22860" rIns="22860" tIns="9144" anchor="ctr">
            <a:spAutoFit/>
          </a:bodyPr>
          <a:lstStyle/>
          <a:p>
            <a:pPr algn="ctr">
              <a:defRPr sz="1500" b="1">
                <a:solidFill>
                  <a:srgbClr val="182B40"/>
                </a:solidFill>
                <a:latin typeface="Aptos"/>
              </a:defRPr>
            </a:pPr>
            <a:r>
              <a:t>Record “listed_total = €54” with the invoice field location; keep calculation separate.</a:t>
            </a:r>
          </a:p>
        </p:txBody>
      </p:sp>
      <p:sp>
        <p:nvSpPr>
          <p:cNvPr id="13" name="TextBox 12"/>
          <p:cNvSpPr txBox="1"/>
          <p:nvPr/>
        </p:nvSpPr>
        <p:spPr>
          <a:xfrm>
            <a:off x="5102352" y="3072384"/>
            <a:ext cx="5760720" cy="283464"/>
          </a:xfrm>
          <a:prstGeom prst="rect">
            <a:avLst/>
          </a:prstGeom>
          <a:noFill/>
        </p:spPr>
        <p:txBody>
          <a:bodyPr wrap="square" lIns="22860" rIns="22860" tIns="9144">
            <a:spAutoFit/>
          </a:bodyPr>
          <a:lstStyle/>
          <a:p>
            <a:pPr>
              <a:defRPr sz="1300" b="1">
                <a:solidFill>
                  <a:srgbClr val="C7682C"/>
                </a:solidFill>
                <a:latin typeface="Aptos"/>
              </a:defRPr>
            </a:pPr>
            <a:r>
              <a:t>QUESTION</a:t>
            </a:r>
          </a:p>
        </p:txBody>
      </p:sp>
      <p:sp>
        <p:nvSpPr>
          <p:cNvPr id="14" name="Rounded Rectangle 13"/>
          <p:cNvSpPr/>
          <p:nvPr/>
        </p:nvSpPr>
        <p:spPr>
          <a:xfrm>
            <a:off x="5065776" y="3401568"/>
            <a:ext cx="6035040" cy="950976"/>
          </a:xfrm>
          <a:prstGeom prst="roundRect">
            <a:avLst/>
          </a:prstGeom>
          <a:solidFill>
            <a:srgbClr val="FFF9E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5202936" y="3511296"/>
            <a:ext cx="5760720" cy="749808"/>
          </a:xfrm>
          <a:prstGeom prst="rect">
            <a:avLst/>
          </a:prstGeom>
          <a:noFill/>
        </p:spPr>
        <p:txBody>
          <a:bodyPr wrap="square" lIns="22860" rIns="22860" tIns="9144" anchor="ctr">
            <a:spAutoFit/>
          </a:bodyPr>
          <a:lstStyle/>
          <a:p>
            <a:pPr algn="ctr">
              <a:defRPr sz="1500" b="1">
                <a:solidFill>
                  <a:srgbClr val="182B40"/>
                </a:solidFill>
                <a:latin typeface="Aptos"/>
              </a:defRPr>
            </a:pPr>
            <a:r>
              <a:t>What does a source pointer let another person do?</a:t>
            </a:r>
          </a:p>
        </p:txBody>
      </p:sp>
      <p:sp>
        <p:nvSpPr>
          <p:cNvPr id="16" name="TextBox 15"/>
          <p:cNvSpPr txBox="1"/>
          <p:nvPr/>
        </p:nvSpPr>
        <p:spPr>
          <a:xfrm>
            <a:off x="5102352" y="4425696"/>
            <a:ext cx="5760720" cy="283464"/>
          </a:xfrm>
          <a:prstGeom prst="rect">
            <a:avLst/>
          </a:prstGeom>
          <a:noFill/>
        </p:spPr>
        <p:txBody>
          <a:bodyPr wrap="square" lIns="22860" rIns="22860" tIns="9144">
            <a:spAutoFit/>
          </a:bodyPr>
          <a:lstStyle/>
          <a:p>
            <a:pPr>
              <a:defRPr sz="1300" b="1">
                <a:solidFill>
                  <a:srgbClr val="117E6E"/>
                </a:solidFill>
                <a:latin typeface="Aptos"/>
              </a:defRPr>
            </a:pPr>
            <a:r>
              <a:t>SUPPORTED ANSWER</a:t>
            </a:r>
          </a:p>
        </p:txBody>
      </p:sp>
      <p:sp>
        <p:nvSpPr>
          <p:cNvPr id="17" name="Rounded Rectangle 16"/>
          <p:cNvSpPr/>
          <p:nvPr/>
        </p:nvSpPr>
        <p:spPr>
          <a:xfrm>
            <a:off x="5065776" y="4754880"/>
            <a:ext cx="6035040" cy="950976"/>
          </a:xfrm>
          <a:prstGeom prst="roundRect">
            <a:avLst/>
          </a:prstGeom>
          <a:solidFill>
            <a:srgbClr val="EFF7F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5202936" y="4864608"/>
            <a:ext cx="5760720" cy="749808"/>
          </a:xfrm>
          <a:prstGeom prst="rect">
            <a:avLst/>
          </a:prstGeom>
          <a:noFill/>
        </p:spPr>
        <p:txBody>
          <a:bodyPr wrap="square" lIns="22860" rIns="22860" tIns="9144" anchor="ctr">
            <a:spAutoFit/>
          </a:bodyPr>
          <a:lstStyle/>
          <a:p>
            <a:pPr algn="ctr">
              <a:defRPr sz="1500" b="1">
                <a:solidFill>
                  <a:srgbClr val="182B40"/>
                </a:solidFill>
                <a:latin typeface="Aptos"/>
              </a:defRPr>
            </a:pPr>
            <a:r>
              <a:t>Find and verify the value in the original document.</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
          </a:xfrm>
          <a:prstGeom prst="rect">
            <a:avLst/>
          </a:prstGeom>
          <a:solidFill>
            <a:srgbClr val="117E6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10896"/>
            <a:ext cx="10881360" cy="576072"/>
          </a:xfrm>
          <a:prstGeom prst="rect">
            <a:avLst/>
          </a:prstGeom>
          <a:noFill/>
        </p:spPr>
        <p:txBody>
          <a:bodyPr wrap="square" lIns="22860" rIns="22860" tIns="9144">
            <a:spAutoFit/>
          </a:bodyPr>
          <a:lstStyle/>
          <a:p>
            <a:pPr>
              <a:defRPr sz="2700" b="1">
                <a:solidFill>
                  <a:srgbClr val="182B40"/>
                </a:solidFill>
                <a:latin typeface="Aptos"/>
              </a:defRPr>
            </a:pPr>
            <a:r>
              <a:t>Extraction · answer and explain</a:t>
            </a:r>
          </a:p>
        </p:txBody>
      </p:sp>
      <p:sp>
        <p:nvSpPr>
          <p:cNvPr id="4" name="Rectangle 3"/>
          <p:cNvSpPr/>
          <p:nvPr/>
        </p:nvSpPr>
        <p:spPr>
          <a:xfrm>
            <a:off x="594360" y="1362456"/>
            <a:ext cx="64008" cy="4544568"/>
          </a:xfrm>
          <a:prstGeom prst="rect">
            <a:avLst/>
          </a:prstGeom>
          <a:solidFill>
            <a:srgbClr val="117E6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41248" y="1371600"/>
            <a:ext cx="3511296" cy="320040"/>
          </a:xfrm>
          <a:prstGeom prst="rect">
            <a:avLst/>
          </a:prstGeom>
          <a:noFill/>
        </p:spPr>
        <p:txBody>
          <a:bodyPr wrap="square" lIns="22860" rIns="22860" tIns="9144">
            <a:spAutoFit/>
          </a:bodyPr>
          <a:lstStyle/>
          <a:p>
            <a:pPr>
              <a:defRPr sz="1100" b="1">
                <a:solidFill>
                  <a:srgbClr val="117E6E"/>
                </a:solidFill>
                <a:latin typeface="Aptos"/>
              </a:defRPr>
            </a:pPr>
            <a:r>
              <a:t>REVEAL  /  WEEK 10</a:t>
            </a:r>
          </a:p>
        </p:txBody>
      </p:sp>
      <p:sp>
        <p:nvSpPr>
          <p:cNvPr id="6" name="TextBox 5"/>
          <p:cNvSpPr txBox="1"/>
          <p:nvPr/>
        </p:nvSpPr>
        <p:spPr>
          <a:xfrm>
            <a:off x="841248" y="1847088"/>
            <a:ext cx="3557016" cy="3986784"/>
          </a:xfrm>
          <a:prstGeom prst="rect">
            <a:avLst/>
          </a:prstGeom>
          <a:noFill/>
        </p:spPr>
        <p:txBody>
          <a:bodyPr wrap="square" lIns="22860" rIns="22860" tIns="9144">
            <a:spAutoFit/>
          </a:bodyPr>
          <a:lstStyle/>
          <a:p>
            <a:pPr>
              <a:defRPr sz="1800" b="0">
                <a:solidFill>
                  <a:srgbClr val="182B40"/>
                </a:solidFill>
                <a:latin typeface="Aptos"/>
              </a:defRPr>
            </a:pPr>
            <a:r>
              <a:t>Find and verify the value in the original document.</a:t>
            </a:r>
          </a:p>
          <a:p>
            <a:pPr>
              <a:defRPr sz="1800" b="0">
                <a:solidFill>
                  <a:srgbClr val="182B40"/>
                </a:solidFill>
                <a:latin typeface="Aptos"/>
              </a:defRPr>
            </a:pPr>
          </a:p>
          <a:p>
            <a:pPr>
              <a:defRPr sz="1800" b="0">
                <a:solidFill>
                  <a:srgbClr val="182B40"/>
                </a:solidFill>
                <a:latin typeface="Aptos"/>
              </a:defRPr>
            </a:pPr>
            <a:r>
              <a:t>Tempting mistake: A correctly formatted field proves its source.</a:t>
            </a:r>
          </a:p>
        </p:txBody>
      </p:sp>
      <p:sp>
        <p:nvSpPr>
          <p:cNvPr id="7" name="Rectangle 6"/>
          <p:cNvSpPr/>
          <p:nvPr/>
        </p:nvSpPr>
        <p:spPr>
          <a:xfrm>
            <a:off x="594360" y="6391656"/>
            <a:ext cx="10899648" cy="16459"/>
          </a:xfrm>
          <a:prstGeom prst="rect">
            <a:avLst/>
          </a:prstGeom>
          <a:solidFill>
            <a:srgbClr val="EBF5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21792" y="6510528"/>
            <a:ext cx="10826496" cy="219456"/>
          </a:xfrm>
          <a:prstGeom prst="rect">
            <a:avLst/>
          </a:prstGeom>
          <a:noFill/>
        </p:spPr>
        <p:txBody>
          <a:bodyPr wrap="square" lIns="22860" rIns="22860" tIns="9144">
            <a:spAutoFit/>
          </a:bodyPr>
          <a:lstStyle/>
          <a:p>
            <a:pPr>
              <a:defRPr sz="900" b="0">
                <a:solidFill>
                  <a:srgbClr val="445665"/>
                </a:solidFill>
                <a:latin typeface="Aptos"/>
              </a:defRPr>
            </a:pPr>
            <a:r>
              <a:t>GENERATIVE AI 2027    •    WEEK 10    •    15 / 40</a:t>
            </a:r>
          </a:p>
        </p:txBody>
      </p:sp>
      <p:sp>
        <p:nvSpPr>
          <p:cNvPr id="9" name="Rounded Rectangle 8"/>
          <p:cNvSpPr/>
          <p:nvPr/>
        </p:nvSpPr>
        <p:spPr>
          <a:xfrm>
            <a:off x="4700016" y="1344168"/>
            <a:ext cx="6793992" cy="4727448"/>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5074920" y="1581912"/>
            <a:ext cx="5852160" cy="365760"/>
          </a:xfrm>
          <a:prstGeom prst="rect">
            <a:avLst/>
          </a:prstGeom>
          <a:noFill/>
        </p:spPr>
        <p:txBody>
          <a:bodyPr wrap="square" lIns="22860" rIns="22860" tIns="9144">
            <a:spAutoFit/>
          </a:bodyPr>
          <a:lstStyle/>
          <a:p>
            <a:pPr>
              <a:defRPr sz="1500" b="1">
                <a:solidFill>
                  <a:srgbClr val="255E9C"/>
                </a:solidFill>
                <a:latin typeface="Aptos"/>
              </a:defRPr>
            </a:pPr>
            <a:r>
              <a:t>TEST THE CLAIM AGAINST THE EVIDENCE</a:t>
            </a:r>
          </a:p>
        </p:txBody>
      </p:sp>
      <p:sp>
        <p:nvSpPr>
          <p:cNvPr id="11" name="TextBox 10"/>
          <p:cNvSpPr txBox="1"/>
          <p:nvPr/>
        </p:nvSpPr>
        <p:spPr>
          <a:xfrm>
            <a:off x="5084064" y="2066543"/>
            <a:ext cx="5669280" cy="320040"/>
          </a:xfrm>
          <a:prstGeom prst="rect">
            <a:avLst/>
          </a:prstGeom>
          <a:noFill/>
        </p:spPr>
        <p:txBody>
          <a:bodyPr wrap="square" lIns="22860" rIns="22860" tIns="9144">
            <a:spAutoFit/>
          </a:bodyPr>
          <a:lstStyle/>
          <a:p>
            <a:pPr>
              <a:defRPr sz="1300" b="1">
                <a:solidFill>
                  <a:srgbClr val="B74945"/>
                </a:solidFill>
                <a:latin typeface="Aptos"/>
              </a:defRPr>
            </a:pPr>
            <a:r>
              <a:t>TEMPTING CLAIM</a:t>
            </a:r>
          </a:p>
        </p:txBody>
      </p:sp>
      <p:sp>
        <p:nvSpPr>
          <p:cNvPr id="12" name="Rounded Rectangle 11"/>
          <p:cNvSpPr/>
          <p:nvPr/>
        </p:nvSpPr>
        <p:spPr>
          <a:xfrm>
            <a:off x="5047488" y="2441448"/>
            <a:ext cx="6126480" cy="1014984"/>
          </a:xfrm>
          <a:prstGeom prst="roundRect">
            <a:avLst/>
          </a:prstGeom>
          <a:solidFill>
            <a:srgbClr val="FDEF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5184648" y="2551176"/>
            <a:ext cx="5852160" cy="813816"/>
          </a:xfrm>
          <a:prstGeom prst="rect">
            <a:avLst/>
          </a:prstGeom>
          <a:noFill/>
        </p:spPr>
        <p:txBody>
          <a:bodyPr wrap="square" lIns="22860" rIns="22860" tIns="9144" anchor="ctr">
            <a:spAutoFit/>
          </a:bodyPr>
          <a:lstStyle/>
          <a:p>
            <a:pPr algn="ctr">
              <a:defRPr sz="1500" b="1">
                <a:solidFill>
                  <a:srgbClr val="182B40"/>
                </a:solidFill>
                <a:latin typeface="Aptos"/>
              </a:defRPr>
            </a:pPr>
            <a:r>
              <a:t>A correctly formatted field proves its source.</a:t>
            </a:r>
          </a:p>
        </p:txBody>
      </p:sp>
      <p:sp>
        <p:nvSpPr>
          <p:cNvPr id="14" name="TextBox 13"/>
          <p:cNvSpPr txBox="1"/>
          <p:nvPr/>
        </p:nvSpPr>
        <p:spPr>
          <a:xfrm>
            <a:off x="5084064" y="3666744"/>
            <a:ext cx="5669280" cy="320040"/>
          </a:xfrm>
          <a:prstGeom prst="rect">
            <a:avLst/>
          </a:prstGeom>
          <a:noFill/>
        </p:spPr>
        <p:txBody>
          <a:bodyPr wrap="square" lIns="22860" rIns="22860" tIns="9144">
            <a:spAutoFit/>
          </a:bodyPr>
          <a:lstStyle/>
          <a:p>
            <a:pPr>
              <a:defRPr sz="1300" b="1">
                <a:solidFill>
                  <a:srgbClr val="117E6E"/>
                </a:solidFill>
                <a:latin typeface="Aptos"/>
              </a:defRPr>
            </a:pPr>
            <a:r>
              <a:t>SUPPORTED EXPLANATION</a:t>
            </a:r>
          </a:p>
        </p:txBody>
      </p:sp>
      <p:sp>
        <p:nvSpPr>
          <p:cNvPr id="15" name="Rounded Rectangle 14"/>
          <p:cNvSpPr/>
          <p:nvPr/>
        </p:nvSpPr>
        <p:spPr>
          <a:xfrm>
            <a:off x="5047488" y="4050791"/>
            <a:ext cx="6126480" cy="1005840"/>
          </a:xfrm>
          <a:prstGeom prst="roundRect">
            <a:avLst/>
          </a:prstGeom>
          <a:solidFill>
            <a:srgbClr val="EFF7F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5184648" y="4160520"/>
            <a:ext cx="5852160" cy="804672"/>
          </a:xfrm>
          <a:prstGeom prst="rect">
            <a:avLst/>
          </a:prstGeom>
          <a:noFill/>
        </p:spPr>
        <p:txBody>
          <a:bodyPr wrap="square" lIns="22860" rIns="22860" tIns="9144" anchor="ctr">
            <a:spAutoFit/>
          </a:bodyPr>
          <a:lstStyle/>
          <a:p>
            <a:pPr algn="ctr">
              <a:defRPr sz="1500" b="1">
                <a:solidFill>
                  <a:srgbClr val="182B40"/>
                </a:solidFill>
                <a:latin typeface="Aptos"/>
              </a:defRPr>
            </a:pPr>
            <a:r>
              <a:t>Find and verify the value in the original document.</a:t>
            </a:r>
          </a:p>
        </p:txBody>
      </p:sp>
      <p:sp>
        <p:nvSpPr>
          <p:cNvPr id="17" name="TextBox 16"/>
          <p:cNvSpPr txBox="1"/>
          <p:nvPr/>
        </p:nvSpPr>
        <p:spPr>
          <a:xfrm>
            <a:off x="5120640" y="5321808"/>
            <a:ext cx="5897880" cy="566928"/>
          </a:xfrm>
          <a:prstGeom prst="rect">
            <a:avLst/>
          </a:prstGeom>
          <a:noFill/>
        </p:spPr>
        <p:txBody>
          <a:bodyPr wrap="square" lIns="22860" rIns="22860" tIns="9144">
            <a:spAutoFit/>
          </a:bodyPr>
          <a:lstStyle/>
          <a:p>
            <a:pPr>
              <a:defRPr sz="1300" b="0">
                <a:solidFill>
                  <a:srgbClr val="445665"/>
                </a:solidFill>
                <a:latin typeface="Aptos"/>
              </a:defRPr>
            </a:pPr>
            <a:r>
              <a:t>A pointer can be wrong or ambiguous, especially with poor image quality.</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
          </a:xfrm>
          <a:prstGeom prst="rect">
            <a:avLst/>
          </a:prstGeom>
          <a:solidFill>
            <a:srgbClr val="C7682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10896"/>
            <a:ext cx="10881360" cy="576072"/>
          </a:xfrm>
          <a:prstGeom prst="rect">
            <a:avLst/>
          </a:prstGeom>
          <a:noFill/>
        </p:spPr>
        <p:txBody>
          <a:bodyPr wrap="square" lIns="22860" rIns="22860" tIns="9144">
            <a:spAutoFit/>
          </a:bodyPr>
          <a:lstStyle/>
          <a:p>
            <a:pPr>
              <a:defRPr sz="2700" b="1">
                <a:solidFill>
                  <a:srgbClr val="182B40"/>
                </a:solidFill>
                <a:latin typeface="Aptos"/>
              </a:defRPr>
            </a:pPr>
            <a:r>
              <a:t>3. Predict · Verification</a:t>
            </a:r>
          </a:p>
        </p:txBody>
      </p:sp>
      <p:sp>
        <p:nvSpPr>
          <p:cNvPr id="4" name="Rectangle 3"/>
          <p:cNvSpPr/>
          <p:nvPr/>
        </p:nvSpPr>
        <p:spPr>
          <a:xfrm>
            <a:off x="594360" y="1362456"/>
            <a:ext cx="64008" cy="4544568"/>
          </a:xfrm>
          <a:prstGeom prst="rect">
            <a:avLst/>
          </a:prstGeom>
          <a:solidFill>
            <a:srgbClr val="C7682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41248" y="1371600"/>
            <a:ext cx="3511296" cy="320040"/>
          </a:xfrm>
          <a:prstGeom prst="rect">
            <a:avLst/>
          </a:prstGeom>
          <a:noFill/>
        </p:spPr>
        <p:txBody>
          <a:bodyPr wrap="square" lIns="22860" rIns="22860" tIns="9144">
            <a:spAutoFit/>
          </a:bodyPr>
          <a:lstStyle/>
          <a:p>
            <a:pPr>
              <a:defRPr sz="1100" b="1">
                <a:solidFill>
                  <a:srgbClr val="C7682C"/>
                </a:solidFill>
                <a:latin typeface="Aptos"/>
              </a:defRPr>
            </a:pPr>
            <a:r>
              <a:t>QUESTION  /  WEEK 10</a:t>
            </a:r>
          </a:p>
        </p:txBody>
      </p:sp>
      <p:sp>
        <p:nvSpPr>
          <p:cNvPr id="6" name="TextBox 5"/>
          <p:cNvSpPr txBox="1"/>
          <p:nvPr/>
        </p:nvSpPr>
        <p:spPr>
          <a:xfrm>
            <a:off x="841248" y="1847088"/>
            <a:ext cx="3557016" cy="3986784"/>
          </a:xfrm>
          <a:prstGeom prst="rect">
            <a:avLst/>
          </a:prstGeom>
          <a:noFill/>
        </p:spPr>
        <p:txBody>
          <a:bodyPr wrap="square" lIns="22860" rIns="22860" tIns="9144">
            <a:spAutoFit/>
          </a:bodyPr>
          <a:lstStyle/>
          <a:p>
            <a:pPr>
              <a:defRPr sz="1800" b="0">
                <a:solidFill>
                  <a:srgbClr val="182B40"/>
                </a:solidFill>
                <a:latin typeface="Aptos"/>
              </a:defRPr>
            </a:pPr>
            <a:r>
              <a:t>Does reading €54 correctly make it a correct payable total?</a:t>
            </a:r>
          </a:p>
          <a:p>
            <a:pPr>
              <a:defRPr sz="1800" b="0">
                <a:solidFill>
                  <a:srgbClr val="182B40"/>
                </a:solidFill>
                <a:latin typeface="Aptos"/>
              </a:defRPr>
            </a:pPr>
          </a:p>
          <a:p>
            <a:pPr>
              <a:defRPr sz="1800" b="0">
                <a:solidFill>
                  <a:srgbClr val="182B40"/>
                </a:solidFill>
                <a:latin typeface="Aptos"/>
              </a:defRPr>
            </a:pPr>
            <a:r>
              <a:t>Make a choice before we explain the diagram.</a:t>
            </a:r>
          </a:p>
        </p:txBody>
      </p:sp>
      <p:sp>
        <p:nvSpPr>
          <p:cNvPr id="7" name="Rectangle 6"/>
          <p:cNvSpPr/>
          <p:nvPr/>
        </p:nvSpPr>
        <p:spPr>
          <a:xfrm>
            <a:off x="594360" y="6391656"/>
            <a:ext cx="10899648" cy="16459"/>
          </a:xfrm>
          <a:prstGeom prst="rect">
            <a:avLst/>
          </a:prstGeom>
          <a:solidFill>
            <a:srgbClr val="EBF5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21792" y="6510528"/>
            <a:ext cx="10826496" cy="219456"/>
          </a:xfrm>
          <a:prstGeom prst="rect">
            <a:avLst/>
          </a:prstGeom>
          <a:noFill/>
        </p:spPr>
        <p:txBody>
          <a:bodyPr wrap="square" lIns="22860" rIns="22860" tIns="9144">
            <a:spAutoFit/>
          </a:bodyPr>
          <a:lstStyle/>
          <a:p>
            <a:pPr>
              <a:defRPr sz="900" b="0">
                <a:solidFill>
                  <a:srgbClr val="445665"/>
                </a:solidFill>
                <a:latin typeface="Aptos"/>
              </a:defRPr>
            </a:pPr>
            <a:r>
              <a:t>GENERATIVE AI 2027    •    WEEK 10    •    16 / 40</a:t>
            </a:r>
          </a:p>
        </p:txBody>
      </p:sp>
      <p:sp>
        <p:nvSpPr>
          <p:cNvPr id="9" name="Rounded Rectangle 8"/>
          <p:cNvSpPr/>
          <p:nvPr/>
        </p:nvSpPr>
        <p:spPr>
          <a:xfrm>
            <a:off x="4700016" y="1344168"/>
            <a:ext cx="6793992" cy="4727448"/>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5074920" y="1581912"/>
            <a:ext cx="6126480" cy="411480"/>
          </a:xfrm>
          <a:prstGeom prst="rect">
            <a:avLst/>
          </a:prstGeom>
          <a:noFill/>
        </p:spPr>
        <p:txBody>
          <a:bodyPr wrap="square" lIns="22860" rIns="22860" tIns="9144">
            <a:spAutoFit/>
          </a:bodyPr>
          <a:lstStyle/>
          <a:p>
            <a:pPr>
              <a:defRPr sz="1600" b="1">
                <a:solidFill>
                  <a:srgbClr val="255E9C"/>
                </a:solidFill>
                <a:latin typeface="Aptos"/>
              </a:defRPr>
            </a:pPr>
            <a:r>
              <a:t>VOTE FIRST  •  GIVE A REASON</a:t>
            </a:r>
          </a:p>
        </p:txBody>
      </p:sp>
      <p:sp>
        <p:nvSpPr>
          <p:cNvPr id="11" name="Rounded Rectangle 10"/>
          <p:cNvSpPr/>
          <p:nvPr/>
        </p:nvSpPr>
        <p:spPr>
          <a:xfrm>
            <a:off x="5074920" y="2212848"/>
            <a:ext cx="6080760" cy="1115568"/>
          </a:xfrm>
          <a:prstGeom prst="roundRect">
            <a:avLst/>
          </a:prstGeom>
          <a:solidFill>
            <a:srgbClr val="EBF5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5212080" y="2322576"/>
            <a:ext cx="5806440" cy="914400"/>
          </a:xfrm>
          <a:prstGeom prst="rect">
            <a:avLst/>
          </a:prstGeom>
          <a:noFill/>
        </p:spPr>
        <p:txBody>
          <a:bodyPr wrap="square" lIns="22860" rIns="22860" tIns="9144" anchor="ctr">
            <a:spAutoFit/>
          </a:bodyPr>
          <a:lstStyle/>
          <a:p>
            <a:pPr algn="ctr">
              <a:defRPr sz="1600" b="1">
                <a:solidFill>
                  <a:srgbClr val="182B40"/>
                </a:solidFill>
                <a:latin typeface="Aptos"/>
              </a:defRPr>
            </a:pPr>
            <a:r>
              <a:t>A  No. The independent arithmetic disagrees by €9.</a:t>
            </a:r>
          </a:p>
        </p:txBody>
      </p:sp>
      <p:sp>
        <p:nvSpPr>
          <p:cNvPr id="13" name="Rounded Rectangle 12"/>
          <p:cNvSpPr/>
          <p:nvPr/>
        </p:nvSpPr>
        <p:spPr>
          <a:xfrm>
            <a:off x="5074920" y="3657600"/>
            <a:ext cx="6080760" cy="1115568"/>
          </a:xfrm>
          <a:prstGeom prst="roundRect">
            <a:avLst/>
          </a:prstGeom>
          <a:solidFill>
            <a:srgbClr val="FFF9E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5212080" y="3767328"/>
            <a:ext cx="5806440" cy="914400"/>
          </a:xfrm>
          <a:prstGeom prst="rect">
            <a:avLst/>
          </a:prstGeom>
          <a:noFill/>
        </p:spPr>
        <p:txBody>
          <a:bodyPr wrap="square" lIns="22860" rIns="22860" tIns="9144" anchor="ctr">
            <a:spAutoFit/>
          </a:bodyPr>
          <a:lstStyle/>
          <a:p>
            <a:pPr algn="ctr">
              <a:defRPr sz="1600" b="1">
                <a:solidFill>
                  <a:srgbClr val="182B40"/>
                </a:solidFill>
                <a:latin typeface="Aptos"/>
              </a:defRPr>
            </a:pPr>
            <a:r>
              <a:t>B  Accurate OCR implies accurate arithmetic.</a:t>
            </a:r>
          </a:p>
        </p:txBody>
      </p:sp>
      <p:sp>
        <p:nvSpPr>
          <p:cNvPr id="15" name="TextBox 14"/>
          <p:cNvSpPr txBox="1"/>
          <p:nvPr/>
        </p:nvSpPr>
        <p:spPr>
          <a:xfrm>
            <a:off x="5120640" y="5303520"/>
            <a:ext cx="5806440" cy="411480"/>
          </a:xfrm>
          <a:prstGeom prst="rect">
            <a:avLst/>
          </a:prstGeom>
          <a:noFill/>
        </p:spPr>
        <p:txBody>
          <a:bodyPr wrap="square" lIns="22860" rIns="22860" tIns="9144">
            <a:spAutoFit/>
          </a:bodyPr>
          <a:lstStyle/>
          <a:p>
            <a:pPr>
              <a:defRPr sz="1600" b="1">
                <a:solidFill>
                  <a:srgbClr val="117E6E"/>
                </a:solidFill>
                <a:latin typeface="Aptos"/>
              </a:defRPr>
            </a:pPr>
            <a:r>
              <a:t>Which source or test could settle this?</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
          </a:xfrm>
          <a:prstGeom prst="rect">
            <a:avLst/>
          </a:prstGeom>
          <a:solidFill>
            <a:srgbClr val="C7682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10896"/>
            <a:ext cx="10881360" cy="576072"/>
          </a:xfrm>
          <a:prstGeom prst="rect">
            <a:avLst/>
          </a:prstGeom>
          <a:noFill/>
        </p:spPr>
        <p:txBody>
          <a:bodyPr wrap="square" lIns="22860" rIns="22860" tIns="9144">
            <a:spAutoFit/>
          </a:bodyPr>
          <a:lstStyle/>
          <a:p>
            <a:pPr>
              <a:defRPr sz="2700" b="1">
                <a:solidFill>
                  <a:srgbClr val="182B40"/>
                </a:solidFill>
                <a:latin typeface="Aptos"/>
              </a:defRPr>
            </a:pPr>
            <a:r>
              <a:t>Verification · a familiar picture</a:t>
            </a:r>
          </a:p>
        </p:txBody>
      </p:sp>
      <p:sp>
        <p:nvSpPr>
          <p:cNvPr id="4" name="Rectangle 3"/>
          <p:cNvSpPr/>
          <p:nvPr/>
        </p:nvSpPr>
        <p:spPr>
          <a:xfrm>
            <a:off x="594360" y="1362456"/>
            <a:ext cx="64008" cy="4544568"/>
          </a:xfrm>
          <a:prstGeom prst="rect">
            <a:avLst/>
          </a:prstGeom>
          <a:solidFill>
            <a:srgbClr val="C7682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41248" y="1371600"/>
            <a:ext cx="3511296" cy="320040"/>
          </a:xfrm>
          <a:prstGeom prst="rect">
            <a:avLst/>
          </a:prstGeom>
          <a:noFill/>
        </p:spPr>
        <p:txBody>
          <a:bodyPr wrap="square" lIns="22860" rIns="22860" tIns="9144">
            <a:spAutoFit/>
          </a:bodyPr>
          <a:lstStyle/>
          <a:p>
            <a:pPr>
              <a:defRPr sz="1100" b="1">
                <a:solidFill>
                  <a:srgbClr val="C7682C"/>
                </a:solidFill>
                <a:latin typeface="Aptos"/>
              </a:defRPr>
            </a:pPr>
            <a:r>
              <a:t>ANALOGY  /  WEEK 10</a:t>
            </a:r>
          </a:p>
        </p:txBody>
      </p:sp>
      <p:sp>
        <p:nvSpPr>
          <p:cNvPr id="6" name="TextBox 5"/>
          <p:cNvSpPr txBox="1"/>
          <p:nvPr/>
        </p:nvSpPr>
        <p:spPr>
          <a:xfrm>
            <a:off x="841248" y="1847088"/>
            <a:ext cx="3557016" cy="3986784"/>
          </a:xfrm>
          <a:prstGeom prst="rect">
            <a:avLst/>
          </a:prstGeom>
          <a:noFill/>
        </p:spPr>
        <p:txBody>
          <a:bodyPr wrap="square" lIns="22860" rIns="22860" tIns="9144">
            <a:spAutoFit/>
          </a:bodyPr>
          <a:lstStyle/>
          <a:p>
            <a:pPr>
              <a:defRPr sz="1800" b="0">
                <a:solidFill>
                  <a:srgbClr val="182B40"/>
                </a:solidFill>
                <a:latin typeface="Aptos"/>
              </a:defRPr>
            </a:pPr>
            <a:r>
              <a:t>A cashier recomputes a bill instead of trusting the printed sum.</a:t>
            </a:r>
          </a:p>
          <a:p>
            <a:pPr>
              <a:defRPr sz="1800" b="0">
                <a:solidFill>
                  <a:srgbClr val="182B40"/>
                </a:solidFill>
                <a:latin typeface="Aptos"/>
              </a:defRPr>
            </a:pPr>
          </a:p>
          <a:p>
            <a:pPr>
              <a:defRPr sz="1800" b="0">
                <a:solidFill>
                  <a:srgbClr val="182B40"/>
                </a:solidFill>
                <a:latin typeface="Aptos"/>
              </a:defRPr>
            </a:pPr>
            <a:r>
              <a:t>What matches our case, and where does the analogy stop?</a:t>
            </a:r>
          </a:p>
        </p:txBody>
      </p:sp>
      <p:sp>
        <p:nvSpPr>
          <p:cNvPr id="7" name="Rectangle 6"/>
          <p:cNvSpPr/>
          <p:nvPr/>
        </p:nvSpPr>
        <p:spPr>
          <a:xfrm>
            <a:off x="594360" y="6391656"/>
            <a:ext cx="10899648" cy="16459"/>
          </a:xfrm>
          <a:prstGeom prst="rect">
            <a:avLst/>
          </a:prstGeom>
          <a:solidFill>
            <a:srgbClr val="EBF5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21792" y="6510528"/>
            <a:ext cx="10826496" cy="219456"/>
          </a:xfrm>
          <a:prstGeom prst="rect">
            <a:avLst/>
          </a:prstGeom>
          <a:noFill/>
        </p:spPr>
        <p:txBody>
          <a:bodyPr wrap="square" lIns="22860" rIns="22860" tIns="9144">
            <a:spAutoFit/>
          </a:bodyPr>
          <a:lstStyle/>
          <a:p>
            <a:pPr>
              <a:defRPr sz="900" b="0">
                <a:solidFill>
                  <a:srgbClr val="445665"/>
                </a:solidFill>
                <a:latin typeface="Aptos"/>
              </a:defRPr>
            </a:pPr>
            <a:r>
              <a:t>GENERATIVE AI 2027    •    WEEK 10    •    17 / 40</a:t>
            </a:r>
          </a:p>
        </p:txBody>
      </p:sp>
      <p:sp>
        <p:nvSpPr>
          <p:cNvPr id="9" name="Rounded Rectangle 8"/>
          <p:cNvSpPr/>
          <p:nvPr/>
        </p:nvSpPr>
        <p:spPr>
          <a:xfrm>
            <a:off x="4700016" y="1344168"/>
            <a:ext cx="6793992" cy="4727448"/>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5074920" y="1591056"/>
            <a:ext cx="5943600" cy="749808"/>
          </a:xfrm>
          <a:prstGeom prst="rect">
            <a:avLst/>
          </a:prstGeom>
          <a:noFill/>
        </p:spPr>
        <p:txBody>
          <a:bodyPr wrap="square" lIns="22860" rIns="22860" tIns="9144">
            <a:spAutoFit/>
          </a:bodyPr>
          <a:lstStyle/>
          <a:p>
            <a:pPr>
              <a:defRPr sz="1800" b="1">
                <a:solidFill>
                  <a:srgbClr val="255E9C"/>
                </a:solidFill>
                <a:latin typeface="Aptos"/>
              </a:defRPr>
            </a:pPr>
            <a:r>
              <a:t>A cashier recomputes a bill instead of trusting the printed sum.</a:t>
            </a:r>
          </a:p>
        </p:txBody>
      </p:sp>
      <p:sp>
        <p:nvSpPr>
          <p:cNvPr id="11" name="Rounded Rectangle 10"/>
          <p:cNvSpPr/>
          <p:nvPr/>
        </p:nvSpPr>
        <p:spPr>
          <a:xfrm>
            <a:off x="5532120" y="2542032"/>
            <a:ext cx="768096" cy="768096"/>
          </a:xfrm>
          <a:prstGeom prst="roundRect">
            <a:avLst/>
          </a:prstGeom>
          <a:solidFill>
            <a:srgbClr val="255E9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5696712" y="2788920"/>
            <a:ext cx="128016" cy="128016"/>
          </a:xfrm>
          <a:prstGeom prst="ellipse">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6007607" y="2788920"/>
            <a:ext cx="128016" cy="128016"/>
          </a:xfrm>
          <a:prstGeom prst="ellipse">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5852159" y="3026664"/>
            <a:ext cx="128016" cy="128016"/>
          </a:xfrm>
          <a:prstGeom prst="ellipse">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ounded Rectangle 14"/>
          <p:cNvSpPr/>
          <p:nvPr/>
        </p:nvSpPr>
        <p:spPr>
          <a:xfrm>
            <a:off x="5001768" y="3456432"/>
            <a:ext cx="1874519" cy="1060704"/>
          </a:xfrm>
          <a:prstGeom prst="roundRect">
            <a:avLst/>
          </a:prstGeom>
          <a:solidFill>
            <a:srgbClr val="EBF5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5138928" y="3566160"/>
            <a:ext cx="1600199" cy="859536"/>
          </a:xfrm>
          <a:prstGeom prst="rect">
            <a:avLst/>
          </a:prstGeom>
          <a:noFill/>
        </p:spPr>
        <p:txBody>
          <a:bodyPr wrap="square" lIns="22860" rIns="22860" tIns="9144" anchor="ctr">
            <a:spAutoFit/>
          </a:bodyPr>
          <a:lstStyle/>
          <a:p>
            <a:pPr algn="ctr">
              <a:defRPr sz="1600" b="1">
                <a:solidFill>
                  <a:srgbClr val="182B40"/>
                </a:solidFill>
                <a:latin typeface="Aptos"/>
              </a:defRPr>
            </a:pPr>
            <a:r>
              <a:t>Items</a:t>
            </a:r>
          </a:p>
        </p:txBody>
      </p:sp>
      <p:cxnSp>
        <p:nvCxnSpPr>
          <p:cNvPr id="17" name="Connector 16"/>
          <p:cNvCxnSpPr/>
          <p:nvPr/>
        </p:nvCxnSpPr>
        <p:spPr>
          <a:xfrm>
            <a:off x="6903720" y="3977639"/>
            <a:ext cx="210311" cy="0"/>
          </a:xfrm>
          <a:prstGeom prst="line">
            <a:avLst/>
          </a:prstGeom>
          <a:ln w="27940">
            <a:solidFill>
              <a:srgbClr val="255E9C"/>
            </a:solidFill>
          </a:ln>
        </p:spPr>
        <p:style>
          <a:lnRef idx="2">
            <a:schemeClr val="accent1"/>
          </a:lnRef>
          <a:fillRef idx="0">
            <a:schemeClr val="accent1"/>
          </a:fillRef>
          <a:effectRef idx="1">
            <a:schemeClr val="accent1"/>
          </a:effectRef>
          <a:fontRef idx="minor">
            <a:schemeClr val="tx1"/>
          </a:fontRef>
        </p:style>
      </p:cxnSp>
      <p:sp>
        <p:nvSpPr>
          <p:cNvPr id="18" name="Chevron 17"/>
          <p:cNvSpPr/>
          <p:nvPr/>
        </p:nvSpPr>
        <p:spPr>
          <a:xfrm>
            <a:off x="7031736" y="3913631"/>
            <a:ext cx="146304" cy="128016"/>
          </a:xfrm>
          <a:prstGeom prst="chevron">
            <a:avLst/>
          </a:prstGeom>
          <a:solidFill>
            <a:srgbClr val="255E9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ounded Rectangle 18"/>
          <p:cNvSpPr/>
          <p:nvPr/>
        </p:nvSpPr>
        <p:spPr>
          <a:xfrm>
            <a:off x="7671815" y="2542032"/>
            <a:ext cx="768096" cy="768096"/>
          </a:xfrm>
          <a:prstGeom prst="roundRect">
            <a:avLst/>
          </a:prstGeom>
          <a:solidFill>
            <a:srgbClr val="117E6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Oval 19"/>
          <p:cNvSpPr/>
          <p:nvPr/>
        </p:nvSpPr>
        <p:spPr>
          <a:xfrm>
            <a:off x="7836407" y="2788920"/>
            <a:ext cx="128016" cy="128016"/>
          </a:xfrm>
          <a:prstGeom prst="ellipse">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Oval 20"/>
          <p:cNvSpPr/>
          <p:nvPr/>
        </p:nvSpPr>
        <p:spPr>
          <a:xfrm>
            <a:off x="8147303" y="2788920"/>
            <a:ext cx="128016" cy="128016"/>
          </a:xfrm>
          <a:prstGeom prst="ellipse">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Oval 21"/>
          <p:cNvSpPr/>
          <p:nvPr/>
        </p:nvSpPr>
        <p:spPr>
          <a:xfrm>
            <a:off x="7991855" y="3026664"/>
            <a:ext cx="128016" cy="128016"/>
          </a:xfrm>
          <a:prstGeom prst="ellipse">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ounded Rectangle 22"/>
          <p:cNvSpPr/>
          <p:nvPr/>
        </p:nvSpPr>
        <p:spPr>
          <a:xfrm>
            <a:off x="7141464" y="3456432"/>
            <a:ext cx="1874519" cy="1060704"/>
          </a:xfrm>
          <a:prstGeom prst="roundRect">
            <a:avLst/>
          </a:prstGeom>
          <a:solidFill>
            <a:srgbClr val="EFF7F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7278624" y="3566160"/>
            <a:ext cx="1600199" cy="859536"/>
          </a:xfrm>
          <a:prstGeom prst="rect">
            <a:avLst/>
          </a:prstGeom>
          <a:noFill/>
        </p:spPr>
        <p:txBody>
          <a:bodyPr wrap="square" lIns="22860" rIns="22860" tIns="9144" anchor="ctr">
            <a:spAutoFit/>
          </a:bodyPr>
          <a:lstStyle/>
          <a:p>
            <a:pPr algn="ctr">
              <a:defRPr sz="1600" b="1">
                <a:solidFill>
                  <a:srgbClr val="182B40"/>
                </a:solidFill>
                <a:latin typeface="Aptos"/>
              </a:defRPr>
            </a:pPr>
            <a:r>
              <a:t>Tax</a:t>
            </a:r>
          </a:p>
        </p:txBody>
      </p:sp>
      <p:cxnSp>
        <p:nvCxnSpPr>
          <p:cNvPr id="25" name="Connector 24"/>
          <p:cNvCxnSpPr/>
          <p:nvPr/>
        </p:nvCxnSpPr>
        <p:spPr>
          <a:xfrm>
            <a:off x="9043416" y="3977639"/>
            <a:ext cx="210312" cy="0"/>
          </a:xfrm>
          <a:prstGeom prst="line">
            <a:avLst/>
          </a:prstGeom>
          <a:ln w="27940">
            <a:solidFill>
              <a:srgbClr val="255E9C"/>
            </a:solidFill>
          </a:ln>
        </p:spPr>
        <p:style>
          <a:lnRef idx="2">
            <a:schemeClr val="accent1"/>
          </a:lnRef>
          <a:fillRef idx="0">
            <a:schemeClr val="accent1"/>
          </a:fillRef>
          <a:effectRef idx="1">
            <a:schemeClr val="accent1"/>
          </a:effectRef>
          <a:fontRef idx="minor">
            <a:schemeClr val="tx1"/>
          </a:fontRef>
        </p:style>
      </p:cxnSp>
      <p:sp>
        <p:nvSpPr>
          <p:cNvPr id="26" name="Chevron 25"/>
          <p:cNvSpPr/>
          <p:nvPr/>
        </p:nvSpPr>
        <p:spPr>
          <a:xfrm>
            <a:off x="9171432" y="3913631"/>
            <a:ext cx="146304" cy="128016"/>
          </a:xfrm>
          <a:prstGeom prst="chevron">
            <a:avLst/>
          </a:prstGeom>
          <a:solidFill>
            <a:srgbClr val="255E9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ounded Rectangle 26"/>
          <p:cNvSpPr/>
          <p:nvPr/>
        </p:nvSpPr>
        <p:spPr>
          <a:xfrm>
            <a:off x="9811511" y="2542032"/>
            <a:ext cx="768096" cy="768096"/>
          </a:xfrm>
          <a:prstGeom prst="roundRect">
            <a:avLst/>
          </a:prstGeom>
          <a:solidFill>
            <a:srgbClr val="C7682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9966959" y="2999232"/>
            <a:ext cx="100584" cy="146304"/>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10131551" y="2871216"/>
            <a:ext cx="100584" cy="27432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10296143" y="2734056"/>
            <a:ext cx="100584" cy="41148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ounded Rectangle 30"/>
          <p:cNvSpPr/>
          <p:nvPr/>
        </p:nvSpPr>
        <p:spPr>
          <a:xfrm>
            <a:off x="9281159" y="3456432"/>
            <a:ext cx="1874519" cy="1060704"/>
          </a:xfrm>
          <a:prstGeom prst="roundRect">
            <a:avLst/>
          </a:prstGeom>
          <a:solidFill>
            <a:srgbClr val="FFF9E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9418319" y="3566160"/>
            <a:ext cx="1600199" cy="859536"/>
          </a:xfrm>
          <a:prstGeom prst="rect">
            <a:avLst/>
          </a:prstGeom>
          <a:noFill/>
        </p:spPr>
        <p:txBody>
          <a:bodyPr wrap="square" lIns="22860" rIns="22860" tIns="9144" anchor="ctr">
            <a:spAutoFit/>
          </a:bodyPr>
          <a:lstStyle/>
          <a:p>
            <a:pPr algn="ctr">
              <a:defRPr sz="1600" b="1">
                <a:solidFill>
                  <a:srgbClr val="182B40"/>
                </a:solidFill>
                <a:latin typeface="Aptos"/>
              </a:defRPr>
            </a:pPr>
            <a:r>
              <a:t>Independent sum</a:t>
            </a:r>
          </a:p>
        </p:txBody>
      </p:sp>
      <p:sp>
        <p:nvSpPr>
          <p:cNvPr id="33" name="TextBox 32"/>
          <p:cNvSpPr txBox="1"/>
          <p:nvPr/>
        </p:nvSpPr>
        <p:spPr>
          <a:xfrm>
            <a:off x="5074920" y="4983480"/>
            <a:ext cx="6126480" cy="429768"/>
          </a:xfrm>
          <a:prstGeom prst="rect">
            <a:avLst/>
          </a:prstGeom>
          <a:noFill/>
        </p:spPr>
        <p:txBody>
          <a:bodyPr wrap="square" lIns="22860" rIns="22860" tIns="9144">
            <a:spAutoFit/>
          </a:bodyPr>
          <a:lstStyle/>
          <a:p>
            <a:pPr>
              <a:defRPr sz="1600" b="1">
                <a:solidFill>
                  <a:srgbClr val="117E6E"/>
                </a:solidFill>
                <a:latin typeface="Aptos"/>
              </a:defRPr>
            </a:pPr>
            <a:r>
              <a:t>What matches the technical process?</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
          </a:xfrm>
          <a:prstGeom prst="rect">
            <a:avLst/>
          </a:prstGeom>
          <a:solidFill>
            <a:srgbClr val="117E6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10896"/>
            <a:ext cx="10881360" cy="576072"/>
          </a:xfrm>
          <a:prstGeom prst="rect">
            <a:avLst/>
          </a:prstGeom>
          <a:noFill/>
        </p:spPr>
        <p:txBody>
          <a:bodyPr wrap="square" lIns="22860" rIns="22860" tIns="9144">
            <a:spAutoFit/>
          </a:bodyPr>
          <a:lstStyle/>
          <a:p>
            <a:pPr>
              <a:defRPr sz="2700" b="1">
                <a:solidFill>
                  <a:srgbClr val="182B40"/>
                </a:solidFill>
                <a:latin typeface="Aptos"/>
              </a:defRPr>
            </a:pPr>
            <a:r>
              <a:t>Verification · map the parts</a:t>
            </a:r>
          </a:p>
        </p:txBody>
      </p:sp>
      <p:sp>
        <p:nvSpPr>
          <p:cNvPr id="4" name="Rectangle 3"/>
          <p:cNvSpPr/>
          <p:nvPr/>
        </p:nvSpPr>
        <p:spPr>
          <a:xfrm>
            <a:off x="594360" y="1362456"/>
            <a:ext cx="64008" cy="4544568"/>
          </a:xfrm>
          <a:prstGeom prst="rect">
            <a:avLst/>
          </a:prstGeom>
          <a:solidFill>
            <a:srgbClr val="117E6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41248" y="1371600"/>
            <a:ext cx="3511296" cy="320040"/>
          </a:xfrm>
          <a:prstGeom prst="rect">
            <a:avLst/>
          </a:prstGeom>
          <a:noFill/>
        </p:spPr>
        <p:txBody>
          <a:bodyPr wrap="square" lIns="22860" rIns="22860" tIns="9144">
            <a:spAutoFit/>
          </a:bodyPr>
          <a:lstStyle/>
          <a:p>
            <a:pPr>
              <a:defRPr sz="1100" b="1">
                <a:solidFill>
                  <a:srgbClr val="117E6E"/>
                </a:solidFill>
                <a:latin typeface="Aptos"/>
              </a:defRPr>
            </a:pPr>
            <a:r>
              <a:t>MAPPING  /  WEEK 10</a:t>
            </a:r>
          </a:p>
        </p:txBody>
      </p:sp>
      <p:sp>
        <p:nvSpPr>
          <p:cNvPr id="6" name="TextBox 5"/>
          <p:cNvSpPr txBox="1"/>
          <p:nvPr/>
        </p:nvSpPr>
        <p:spPr>
          <a:xfrm>
            <a:off x="841248" y="1847088"/>
            <a:ext cx="3557016" cy="3986784"/>
          </a:xfrm>
          <a:prstGeom prst="rect">
            <a:avLst/>
          </a:prstGeom>
          <a:noFill/>
        </p:spPr>
        <p:txBody>
          <a:bodyPr wrap="square" lIns="22860" rIns="22860" tIns="9144">
            <a:spAutoFit/>
          </a:bodyPr>
          <a:lstStyle/>
          <a:p>
            <a:pPr>
              <a:defRPr sz="1800" b="0">
                <a:solidFill>
                  <a:srgbClr val="182B40"/>
                </a:solidFill>
                <a:latin typeface="Aptos"/>
              </a:defRPr>
            </a:pPr>
            <a:r>
              <a:t>Match each everyday part to the technical part.</a:t>
            </a:r>
          </a:p>
          <a:p>
            <a:pPr>
              <a:defRPr sz="1800" b="0">
                <a:solidFill>
                  <a:srgbClr val="182B40"/>
                </a:solidFill>
                <a:latin typeface="Aptos"/>
              </a:defRPr>
            </a:pPr>
          </a:p>
          <a:p>
            <a:pPr>
              <a:defRPr sz="1800" b="0">
                <a:solidFill>
                  <a:srgbClr val="182B40"/>
                </a:solidFill>
                <a:latin typeface="Aptos"/>
              </a:defRPr>
            </a:pPr>
            <a:r>
              <a:t>Analogy limit: Real invoices may have discounts and other rules; specify the case assumptions.</a:t>
            </a:r>
          </a:p>
        </p:txBody>
      </p:sp>
      <p:sp>
        <p:nvSpPr>
          <p:cNvPr id="7" name="Rectangle 6"/>
          <p:cNvSpPr/>
          <p:nvPr/>
        </p:nvSpPr>
        <p:spPr>
          <a:xfrm>
            <a:off x="594360" y="6391656"/>
            <a:ext cx="10899648" cy="16459"/>
          </a:xfrm>
          <a:prstGeom prst="rect">
            <a:avLst/>
          </a:prstGeom>
          <a:solidFill>
            <a:srgbClr val="EBF5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21792" y="6510528"/>
            <a:ext cx="10826496" cy="219456"/>
          </a:xfrm>
          <a:prstGeom prst="rect">
            <a:avLst/>
          </a:prstGeom>
          <a:noFill/>
        </p:spPr>
        <p:txBody>
          <a:bodyPr wrap="square" lIns="22860" rIns="22860" tIns="9144">
            <a:spAutoFit/>
          </a:bodyPr>
          <a:lstStyle/>
          <a:p>
            <a:pPr>
              <a:defRPr sz="900" b="0">
                <a:solidFill>
                  <a:srgbClr val="445665"/>
                </a:solidFill>
                <a:latin typeface="Aptos"/>
              </a:defRPr>
            </a:pPr>
            <a:r>
              <a:t>GENERATIVE AI 2027    •    WEEK 10    •    18 / 40</a:t>
            </a:r>
          </a:p>
        </p:txBody>
      </p:sp>
      <p:sp>
        <p:nvSpPr>
          <p:cNvPr id="9" name="Rounded Rectangle 8"/>
          <p:cNvSpPr/>
          <p:nvPr/>
        </p:nvSpPr>
        <p:spPr>
          <a:xfrm>
            <a:off x="4700016" y="1344168"/>
            <a:ext cx="6793992" cy="4727448"/>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5074920" y="1572768"/>
            <a:ext cx="6035040" cy="384048"/>
          </a:xfrm>
          <a:prstGeom prst="rect">
            <a:avLst/>
          </a:prstGeom>
          <a:noFill/>
        </p:spPr>
        <p:txBody>
          <a:bodyPr wrap="square" lIns="22860" rIns="22860" tIns="9144">
            <a:spAutoFit/>
          </a:bodyPr>
          <a:lstStyle/>
          <a:p>
            <a:pPr>
              <a:defRPr sz="1500" b="1">
                <a:solidFill>
                  <a:srgbClr val="255E9C"/>
                </a:solidFill>
                <a:latin typeface="Aptos"/>
              </a:defRPr>
            </a:pPr>
            <a:r>
              <a:t>FAMILIAR SCENE                  TECHNICAL IDEA</a:t>
            </a:r>
          </a:p>
        </p:txBody>
      </p:sp>
      <p:sp>
        <p:nvSpPr>
          <p:cNvPr id="11" name="Rounded Rectangle 10"/>
          <p:cNvSpPr/>
          <p:nvPr/>
        </p:nvSpPr>
        <p:spPr>
          <a:xfrm>
            <a:off x="5029200" y="2084831"/>
            <a:ext cx="2578608" cy="777240"/>
          </a:xfrm>
          <a:prstGeom prst="roundRect">
            <a:avLst/>
          </a:prstGeom>
          <a:solidFill>
            <a:srgbClr val="EBF5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5166360" y="2194560"/>
            <a:ext cx="2304288" cy="576072"/>
          </a:xfrm>
          <a:prstGeom prst="rect">
            <a:avLst/>
          </a:prstGeom>
          <a:noFill/>
        </p:spPr>
        <p:txBody>
          <a:bodyPr wrap="square" lIns="22860" rIns="22860" tIns="9144" anchor="ctr">
            <a:spAutoFit/>
          </a:bodyPr>
          <a:lstStyle/>
          <a:p>
            <a:pPr algn="ctr">
              <a:defRPr sz="1500" b="1">
                <a:solidFill>
                  <a:srgbClr val="182B40"/>
                </a:solidFill>
                <a:latin typeface="Aptos"/>
              </a:defRPr>
            </a:pPr>
            <a:r>
              <a:t>Items</a:t>
            </a:r>
          </a:p>
        </p:txBody>
      </p:sp>
      <p:cxnSp>
        <p:nvCxnSpPr>
          <p:cNvPr id="13" name="Connector 12"/>
          <p:cNvCxnSpPr/>
          <p:nvPr/>
        </p:nvCxnSpPr>
        <p:spPr>
          <a:xfrm>
            <a:off x="7699248" y="2468879"/>
            <a:ext cx="256031" cy="0"/>
          </a:xfrm>
          <a:prstGeom prst="line">
            <a:avLst/>
          </a:prstGeom>
          <a:ln w="27940">
            <a:solidFill>
              <a:srgbClr val="255E9C"/>
            </a:solidFill>
          </a:ln>
        </p:spPr>
        <p:style>
          <a:lnRef idx="2">
            <a:schemeClr val="accent1"/>
          </a:lnRef>
          <a:fillRef idx="0">
            <a:schemeClr val="accent1"/>
          </a:fillRef>
          <a:effectRef idx="1">
            <a:schemeClr val="accent1"/>
          </a:effectRef>
          <a:fontRef idx="minor">
            <a:schemeClr val="tx1"/>
          </a:fontRef>
        </p:style>
      </p:cxnSp>
      <p:sp>
        <p:nvSpPr>
          <p:cNvPr id="14" name="Chevron 13"/>
          <p:cNvSpPr/>
          <p:nvPr/>
        </p:nvSpPr>
        <p:spPr>
          <a:xfrm>
            <a:off x="7872983" y="2404872"/>
            <a:ext cx="146304" cy="128016"/>
          </a:xfrm>
          <a:prstGeom prst="chevron">
            <a:avLst/>
          </a:prstGeom>
          <a:solidFill>
            <a:srgbClr val="255E9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ounded Rectangle 14"/>
          <p:cNvSpPr/>
          <p:nvPr/>
        </p:nvSpPr>
        <p:spPr>
          <a:xfrm>
            <a:off x="8101583" y="2084831"/>
            <a:ext cx="3054096" cy="777240"/>
          </a:xfrm>
          <a:prstGeom prst="roundRect">
            <a:avLst/>
          </a:prstGeom>
          <a:solidFill>
            <a:srgbClr val="EFF7F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238744" y="2194560"/>
            <a:ext cx="2779776" cy="576072"/>
          </a:xfrm>
          <a:prstGeom prst="rect">
            <a:avLst/>
          </a:prstGeom>
          <a:noFill/>
        </p:spPr>
        <p:txBody>
          <a:bodyPr wrap="square" lIns="22860" rIns="22860" tIns="9144" anchor="ctr">
            <a:spAutoFit/>
          </a:bodyPr>
          <a:lstStyle/>
          <a:p>
            <a:pPr algn="ctr">
              <a:defRPr sz="1500" b="1">
                <a:solidFill>
                  <a:srgbClr val="182B40"/>
                </a:solidFill>
                <a:latin typeface="Aptos"/>
              </a:defRPr>
            </a:pPr>
            <a:r>
              <a:t>2 × €20</a:t>
            </a:r>
          </a:p>
        </p:txBody>
      </p:sp>
      <p:sp>
        <p:nvSpPr>
          <p:cNvPr id="17" name="Rounded Rectangle 16"/>
          <p:cNvSpPr/>
          <p:nvPr/>
        </p:nvSpPr>
        <p:spPr>
          <a:xfrm>
            <a:off x="5029200" y="3136391"/>
            <a:ext cx="2578608" cy="777240"/>
          </a:xfrm>
          <a:prstGeom prst="roundRect">
            <a:avLst/>
          </a:prstGeom>
          <a:solidFill>
            <a:srgbClr val="EBF5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5166360" y="3246120"/>
            <a:ext cx="2304288" cy="576072"/>
          </a:xfrm>
          <a:prstGeom prst="rect">
            <a:avLst/>
          </a:prstGeom>
          <a:noFill/>
        </p:spPr>
        <p:txBody>
          <a:bodyPr wrap="square" lIns="22860" rIns="22860" tIns="9144" anchor="ctr">
            <a:spAutoFit/>
          </a:bodyPr>
          <a:lstStyle/>
          <a:p>
            <a:pPr algn="ctr">
              <a:defRPr sz="1500" b="1">
                <a:solidFill>
                  <a:srgbClr val="182B40"/>
                </a:solidFill>
                <a:latin typeface="Aptos"/>
              </a:defRPr>
            </a:pPr>
            <a:r>
              <a:t>Tax</a:t>
            </a:r>
          </a:p>
        </p:txBody>
      </p:sp>
      <p:cxnSp>
        <p:nvCxnSpPr>
          <p:cNvPr id="19" name="Connector 18"/>
          <p:cNvCxnSpPr/>
          <p:nvPr/>
        </p:nvCxnSpPr>
        <p:spPr>
          <a:xfrm>
            <a:off x="7699248" y="3520439"/>
            <a:ext cx="256031" cy="0"/>
          </a:xfrm>
          <a:prstGeom prst="line">
            <a:avLst/>
          </a:prstGeom>
          <a:ln w="27940">
            <a:solidFill>
              <a:srgbClr val="255E9C"/>
            </a:solidFill>
          </a:ln>
        </p:spPr>
        <p:style>
          <a:lnRef idx="2">
            <a:schemeClr val="accent1"/>
          </a:lnRef>
          <a:fillRef idx="0">
            <a:schemeClr val="accent1"/>
          </a:fillRef>
          <a:effectRef idx="1">
            <a:schemeClr val="accent1"/>
          </a:effectRef>
          <a:fontRef idx="minor">
            <a:schemeClr val="tx1"/>
          </a:fontRef>
        </p:style>
      </p:cxnSp>
      <p:sp>
        <p:nvSpPr>
          <p:cNvPr id="20" name="Chevron 19"/>
          <p:cNvSpPr/>
          <p:nvPr/>
        </p:nvSpPr>
        <p:spPr>
          <a:xfrm>
            <a:off x="7872983" y="3456432"/>
            <a:ext cx="146304" cy="128016"/>
          </a:xfrm>
          <a:prstGeom prst="chevron">
            <a:avLst/>
          </a:prstGeom>
          <a:solidFill>
            <a:srgbClr val="255E9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ounded Rectangle 20"/>
          <p:cNvSpPr/>
          <p:nvPr/>
        </p:nvSpPr>
        <p:spPr>
          <a:xfrm>
            <a:off x="8101583" y="3136391"/>
            <a:ext cx="3054096" cy="777240"/>
          </a:xfrm>
          <a:prstGeom prst="roundRect">
            <a:avLst/>
          </a:prstGeom>
          <a:solidFill>
            <a:srgbClr val="EFF7F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8238744" y="3246120"/>
            <a:ext cx="2779776" cy="576072"/>
          </a:xfrm>
          <a:prstGeom prst="rect">
            <a:avLst/>
          </a:prstGeom>
          <a:noFill/>
        </p:spPr>
        <p:txBody>
          <a:bodyPr wrap="square" lIns="22860" rIns="22860" tIns="9144" anchor="ctr">
            <a:spAutoFit/>
          </a:bodyPr>
          <a:lstStyle/>
          <a:p>
            <a:pPr algn="ctr">
              <a:defRPr sz="1500" b="1">
                <a:solidFill>
                  <a:srgbClr val="182B40"/>
                </a:solidFill>
                <a:latin typeface="Aptos"/>
              </a:defRPr>
            </a:pPr>
            <a:r>
              <a:t>€5</a:t>
            </a:r>
          </a:p>
        </p:txBody>
      </p:sp>
      <p:sp>
        <p:nvSpPr>
          <p:cNvPr id="23" name="Rounded Rectangle 22"/>
          <p:cNvSpPr/>
          <p:nvPr/>
        </p:nvSpPr>
        <p:spPr>
          <a:xfrm>
            <a:off x="5029200" y="4187952"/>
            <a:ext cx="2578608" cy="777240"/>
          </a:xfrm>
          <a:prstGeom prst="roundRect">
            <a:avLst/>
          </a:prstGeom>
          <a:solidFill>
            <a:srgbClr val="EBF5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5166360" y="4297680"/>
            <a:ext cx="2304288" cy="576072"/>
          </a:xfrm>
          <a:prstGeom prst="rect">
            <a:avLst/>
          </a:prstGeom>
          <a:noFill/>
        </p:spPr>
        <p:txBody>
          <a:bodyPr wrap="square" lIns="22860" rIns="22860" tIns="9144" anchor="ctr">
            <a:spAutoFit/>
          </a:bodyPr>
          <a:lstStyle/>
          <a:p>
            <a:pPr algn="ctr">
              <a:defRPr sz="1500" b="1">
                <a:solidFill>
                  <a:srgbClr val="182B40"/>
                </a:solidFill>
                <a:latin typeface="Aptos"/>
              </a:defRPr>
            </a:pPr>
            <a:r>
              <a:t>Independent sum</a:t>
            </a:r>
          </a:p>
        </p:txBody>
      </p:sp>
      <p:cxnSp>
        <p:nvCxnSpPr>
          <p:cNvPr id="25" name="Connector 24"/>
          <p:cNvCxnSpPr/>
          <p:nvPr/>
        </p:nvCxnSpPr>
        <p:spPr>
          <a:xfrm>
            <a:off x="7699248" y="4572000"/>
            <a:ext cx="256031" cy="0"/>
          </a:xfrm>
          <a:prstGeom prst="line">
            <a:avLst/>
          </a:prstGeom>
          <a:ln w="27940">
            <a:solidFill>
              <a:srgbClr val="255E9C"/>
            </a:solidFill>
          </a:ln>
        </p:spPr>
        <p:style>
          <a:lnRef idx="2">
            <a:schemeClr val="accent1"/>
          </a:lnRef>
          <a:fillRef idx="0">
            <a:schemeClr val="accent1"/>
          </a:fillRef>
          <a:effectRef idx="1">
            <a:schemeClr val="accent1"/>
          </a:effectRef>
          <a:fontRef idx="minor">
            <a:schemeClr val="tx1"/>
          </a:fontRef>
        </p:style>
      </p:cxnSp>
      <p:sp>
        <p:nvSpPr>
          <p:cNvPr id="26" name="Chevron 25"/>
          <p:cNvSpPr/>
          <p:nvPr/>
        </p:nvSpPr>
        <p:spPr>
          <a:xfrm>
            <a:off x="7872983" y="4507992"/>
            <a:ext cx="146304" cy="128016"/>
          </a:xfrm>
          <a:prstGeom prst="chevron">
            <a:avLst/>
          </a:prstGeom>
          <a:solidFill>
            <a:srgbClr val="255E9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ounded Rectangle 26"/>
          <p:cNvSpPr/>
          <p:nvPr/>
        </p:nvSpPr>
        <p:spPr>
          <a:xfrm>
            <a:off x="8101583" y="4187952"/>
            <a:ext cx="3054096" cy="777240"/>
          </a:xfrm>
          <a:prstGeom prst="roundRect">
            <a:avLst/>
          </a:prstGeom>
          <a:solidFill>
            <a:srgbClr val="EFF7F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8238744" y="4297680"/>
            <a:ext cx="2779776" cy="576072"/>
          </a:xfrm>
          <a:prstGeom prst="rect">
            <a:avLst/>
          </a:prstGeom>
          <a:noFill/>
        </p:spPr>
        <p:txBody>
          <a:bodyPr wrap="square" lIns="22860" rIns="22860" tIns="9144" anchor="ctr">
            <a:spAutoFit/>
          </a:bodyPr>
          <a:lstStyle/>
          <a:p>
            <a:pPr algn="ctr">
              <a:defRPr sz="1500" b="1">
                <a:solidFill>
                  <a:srgbClr val="182B40"/>
                </a:solidFill>
                <a:latin typeface="Aptos"/>
              </a:defRPr>
            </a:pPr>
            <a:r>
              <a:t>€45</a:t>
            </a:r>
          </a:p>
        </p:txBody>
      </p:sp>
      <p:sp>
        <p:nvSpPr>
          <p:cNvPr id="29" name="TextBox 28"/>
          <p:cNvSpPr txBox="1"/>
          <p:nvPr/>
        </p:nvSpPr>
        <p:spPr>
          <a:xfrm>
            <a:off x="5120640" y="5385816"/>
            <a:ext cx="5943600" cy="411480"/>
          </a:xfrm>
          <a:prstGeom prst="rect">
            <a:avLst/>
          </a:prstGeom>
          <a:noFill/>
        </p:spPr>
        <p:txBody>
          <a:bodyPr wrap="square" lIns="22860" rIns="22860" tIns="9144">
            <a:spAutoFit/>
          </a:bodyPr>
          <a:lstStyle/>
          <a:p>
            <a:pPr>
              <a:defRPr sz="1500" b="1">
                <a:solidFill>
                  <a:srgbClr val="C7682C"/>
                </a:solidFill>
                <a:latin typeface="Aptos"/>
              </a:defRPr>
            </a:pPr>
            <a:r>
              <a:t>The analogy has a limit. Read it on the left.</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
          </a:xfrm>
          <a:prstGeom prst="rect">
            <a:avLst/>
          </a:prstGeom>
          <a:solidFill>
            <a:srgbClr val="255E9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10896"/>
            <a:ext cx="10881360" cy="576072"/>
          </a:xfrm>
          <a:prstGeom prst="rect">
            <a:avLst/>
          </a:prstGeom>
          <a:noFill/>
        </p:spPr>
        <p:txBody>
          <a:bodyPr wrap="square" lIns="22860" rIns="22860" tIns="9144">
            <a:spAutoFit/>
          </a:bodyPr>
          <a:lstStyle/>
          <a:p>
            <a:pPr>
              <a:defRPr sz="2700" b="1">
                <a:solidFill>
                  <a:srgbClr val="182B40"/>
                </a:solidFill>
                <a:latin typeface="Aptos"/>
              </a:defRPr>
            </a:pPr>
            <a:r>
              <a:t>Verification · how it works</a:t>
            </a:r>
          </a:p>
        </p:txBody>
      </p:sp>
      <p:sp>
        <p:nvSpPr>
          <p:cNvPr id="4" name="Rectangle 3"/>
          <p:cNvSpPr/>
          <p:nvPr/>
        </p:nvSpPr>
        <p:spPr>
          <a:xfrm>
            <a:off x="594360" y="1362456"/>
            <a:ext cx="64008" cy="4544568"/>
          </a:xfrm>
          <a:prstGeom prst="rect">
            <a:avLst/>
          </a:prstGeom>
          <a:solidFill>
            <a:srgbClr val="255E9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41248" y="1371600"/>
            <a:ext cx="3511296" cy="320040"/>
          </a:xfrm>
          <a:prstGeom prst="rect">
            <a:avLst/>
          </a:prstGeom>
          <a:noFill/>
        </p:spPr>
        <p:txBody>
          <a:bodyPr wrap="square" lIns="22860" rIns="22860" tIns="9144">
            <a:spAutoFit/>
          </a:bodyPr>
          <a:lstStyle/>
          <a:p>
            <a:pPr>
              <a:defRPr sz="1100" b="1">
                <a:solidFill>
                  <a:srgbClr val="255E9C"/>
                </a:solidFill>
                <a:latin typeface="Aptos"/>
              </a:defRPr>
            </a:pPr>
            <a:r>
              <a:t>MECHANISM  /  WEEK 10</a:t>
            </a:r>
          </a:p>
        </p:txBody>
      </p:sp>
      <p:sp>
        <p:nvSpPr>
          <p:cNvPr id="6" name="TextBox 5"/>
          <p:cNvSpPr txBox="1"/>
          <p:nvPr/>
        </p:nvSpPr>
        <p:spPr>
          <a:xfrm>
            <a:off x="841248" y="1847088"/>
            <a:ext cx="3557016" cy="3986784"/>
          </a:xfrm>
          <a:prstGeom prst="rect">
            <a:avLst/>
          </a:prstGeom>
          <a:noFill/>
        </p:spPr>
        <p:txBody>
          <a:bodyPr wrap="square" lIns="22860" rIns="22860" tIns="9144">
            <a:spAutoFit/>
          </a:bodyPr>
          <a:lstStyle/>
          <a:p>
            <a:pPr>
              <a:defRPr sz="1800" b="0">
                <a:solidFill>
                  <a:srgbClr val="182B40"/>
                </a:solidFill>
                <a:latin typeface="Aptos"/>
              </a:defRPr>
            </a:pPr>
            <a:r>
              <a:t>Recalculate totals and compare against the listed values.</a:t>
            </a:r>
          </a:p>
          <a:p>
            <a:pPr>
              <a:defRPr sz="1800" b="0">
                <a:solidFill>
                  <a:srgbClr val="182B40"/>
                </a:solidFill>
                <a:latin typeface="Aptos"/>
              </a:defRPr>
            </a:pPr>
          </a:p>
          <a:p>
            <a:pPr>
              <a:defRPr sz="1800" b="0">
                <a:solidFill>
                  <a:srgbClr val="182B40"/>
                </a:solidFill>
                <a:latin typeface="Aptos"/>
              </a:defRPr>
            </a:pPr>
            <a:r>
              <a:t>Trace the arrows from left to right.</a:t>
            </a:r>
          </a:p>
        </p:txBody>
      </p:sp>
      <p:sp>
        <p:nvSpPr>
          <p:cNvPr id="7" name="Rectangle 6"/>
          <p:cNvSpPr/>
          <p:nvPr/>
        </p:nvSpPr>
        <p:spPr>
          <a:xfrm>
            <a:off x="594360" y="6391656"/>
            <a:ext cx="10899648" cy="16459"/>
          </a:xfrm>
          <a:prstGeom prst="rect">
            <a:avLst/>
          </a:prstGeom>
          <a:solidFill>
            <a:srgbClr val="EBF5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21792" y="6510528"/>
            <a:ext cx="10826496" cy="219456"/>
          </a:xfrm>
          <a:prstGeom prst="rect">
            <a:avLst/>
          </a:prstGeom>
          <a:noFill/>
        </p:spPr>
        <p:txBody>
          <a:bodyPr wrap="square" lIns="22860" rIns="22860" tIns="9144">
            <a:spAutoFit/>
          </a:bodyPr>
          <a:lstStyle/>
          <a:p>
            <a:pPr>
              <a:defRPr sz="900" b="0">
                <a:solidFill>
                  <a:srgbClr val="445665"/>
                </a:solidFill>
                <a:latin typeface="Aptos"/>
              </a:defRPr>
            </a:pPr>
            <a:r>
              <a:t>GENERATIVE AI 2027    •    WEEK 10    •    19 / 40</a:t>
            </a:r>
          </a:p>
        </p:txBody>
      </p:sp>
      <p:sp>
        <p:nvSpPr>
          <p:cNvPr id="9" name="Rounded Rectangle 8"/>
          <p:cNvSpPr/>
          <p:nvPr/>
        </p:nvSpPr>
        <p:spPr>
          <a:xfrm>
            <a:off x="4700016" y="1344168"/>
            <a:ext cx="6793992" cy="4727448"/>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5074920" y="1572768"/>
            <a:ext cx="6035040" cy="384048"/>
          </a:xfrm>
          <a:prstGeom prst="rect">
            <a:avLst/>
          </a:prstGeom>
          <a:noFill/>
        </p:spPr>
        <p:txBody>
          <a:bodyPr wrap="square" lIns="22860" rIns="22860" tIns="9144">
            <a:spAutoFit/>
          </a:bodyPr>
          <a:lstStyle/>
          <a:p>
            <a:pPr>
              <a:defRPr sz="1500" b="1">
                <a:solidFill>
                  <a:srgbClr val="255E9C"/>
                </a:solidFill>
                <a:latin typeface="Aptos"/>
              </a:defRPr>
            </a:pPr>
            <a:r>
              <a:t>FOLLOW THE DATA THROUGH EACH ARROW</a:t>
            </a:r>
          </a:p>
        </p:txBody>
      </p:sp>
      <p:sp>
        <p:nvSpPr>
          <p:cNvPr id="11" name="Rounded Rectangle 10"/>
          <p:cNvSpPr/>
          <p:nvPr/>
        </p:nvSpPr>
        <p:spPr>
          <a:xfrm>
            <a:off x="5257800" y="2029968"/>
            <a:ext cx="5532120" cy="603504"/>
          </a:xfrm>
          <a:prstGeom prst="roundRect">
            <a:avLst/>
          </a:prstGeom>
          <a:solidFill>
            <a:srgbClr val="EBF5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5394960" y="2139696"/>
            <a:ext cx="5257800" cy="402336"/>
          </a:xfrm>
          <a:prstGeom prst="rect">
            <a:avLst/>
          </a:prstGeom>
          <a:noFill/>
        </p:spPr>
        <p:txBody>
          <a:bodyPr wrap="square" lIns="22860" rIns="22860" tIns="9144" anchor="ctr">
            <a:spAutoFit/>
          </a:bodyPr>
          <a:lstStyle/>
          <a:p>
            <a:pPr algn="ctr">
              <a:defRPr sz="1500" b="1">
                <a:solidFill>
                  <a:srgbClr val="182B40"/>
                </a:solidFill>
                <a:latin typeface="Aptos"/>
              </a:defRPr>
            </a:pPr>
            <a:r>
              <a:t>Quantity × price</a:t>
            </a:r>
          </a:p>
        </p:txBody>
      </p:sp>
      <p:cxnSp>
        <p:nvCxnSpPr>
          <p:cNvPr id="13" name="Connector 12"/>
          <p:cNvCxnSpPr/>
          <p:nvPr/>
        </p:nvCxnSpPr>
        <p:spPr>
          <a:xfrm>
            <a:off x="8019288" y="2651760"/>
            <a:ext cx="0" cy="210312"/>
          </a:xfrm>
          <a:prstGeom prst="line">
            <a:avLst/>
          </a:prstGeom>
          <a:ln w="27940">
            <a:solidFill>
              <a:srgbClr val="255E9C"/>
            </a:solidFill>
          </a:ln>
        </p:spPr>
        <p:style>
          <a:lnRef idx="2">
            <a:schemeClr val="accent1"/>
          </a:lnRef>
          <a:fillRef idx="0">
            <a:schemeClr val="accent1"/>
          </a:fillRef>
          <a:effectRef idx="1">
            <a:schemeClr val="accent1"/>
          </a:effectRef>
          <a:fontRef idx="minor">
            <a:schemeClr val="tx1"/>
          </a:fontRef>
        </p:style>
      </p:cxnSp>
      <p:sp>
        <p:nvSpPr>
          <p:cNvPr id="14" name="Chevron 13"/>
          <p:cNvSpPr/>
          <p:nvPr/>
        </p:nvSpPr>
        <p:spPr>
          <a:xfrm>
            <a:off x="7936992" y="2798064"/>
            <a:ext cx="146304" cy="128016"/>
          </a:xfrm>
          <a:prstGeom prst="chevron">
            <a:avLst/>
          </a:prstGeom>
          <a:solidFill>
            <a:srgbClr val="255E9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ounded Rectangle 14"/>
          <p:cNvSpPr/>
          <p:nvPr/>
        </p:nvSpPr>
        <p:spPr>
          <a:xfrm>
            <a:off x="5257800" y="2898648"/>
            <a:ext cx="5532120" cy="603504"/>
          </a:xfrm>
          <a:prstGeom prst="roundRect">
            <a:avLst/>
          </a:prstGeom>
          <a:solidFill>
            <a:srgbClr val="EFF7F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5394960" y="3008376"/>
            <a:ext cx="5257800" cy="402336"/>
          </a:xfrm>
          <a:prstGeom prst="rect">
            <a:avLst/>
          </a:prstGeom>
          <a:noFill/>
        </p:spPr>
        <p:txBody>
          <a:bodyPr wrap="square" lIns="22860" rIns="22860" tIns="9144" anchor="ctr">
            <a:spAutoFit/>
          </a:bodyPr>
          <a:lstStyle/>
          <a:p>
            <a:pPr algn="ctr">
              <a:defRPr sz="1500" b="1">
                <a:solidFill>
                  <a:srgbClr val="182B40"/>
                </a:solidFill>
                <a:latin typeface="Aptos"/>
              </a:defRPr>
            </a:pPr>
            <a:r>
              <a:t>Add tax</a:t>
            </a:r>
          </a:p>
        </p:txBody>
      </p:sp>
      <p:cxnSp>
        <p:nvCxnSpPr>
          <p:cNvPr id="17" name="Connector 16"/>
          <p:cNvCxnSpPr/>
          <p:nvPr/>
        </p:nvCxnSpPr>
        <p:spPr>
          <a:xfrm>
            <a:off x="8019288" y="3520440"/>
            <a:ext cx="0" cy="210312"/>
          </a:xfrm>
          <a:prstGeom prst="line">
            <a:avLst/>
          </a:prstGeom>
          <a:ln w="27940">
            <a:solidFill>
              <a:srgbClr val="255E9C"/>
            </a:solidFill>
          </a:ln>
        </p:spPr>
        <p:style>
          <a:lnRef idx="2">
            <a:schemeClr val="accent1"/>
          </a:lnRef>
          <a:fillRef idx="0">
            <a:schemeClr val="accent1"/>
          </a:fillRef>
          <a:effectRef idx="1">
            <a:schemeClr val="accent1"/>
          </a:effectRef>
          <a:fontRef idx="minor">
            <a:schemeClr val="tx1"/>
          </a:fontRef>
        </p:style>
      </p:cxnSp>
      <p:sp>
        <p:nvSpPr>
          <p:cNvPr id="18" name="Chevron 17"/>
          <p:cNvSpPr/>
          <p:nvPr/>
        </p:nvSpPr>
        <p:spPr>
          <a:xfrm>
            <a:off x="7936992" y="3666744"/>
            <a:ext cx="146304" cy="128016"/>
          </a:xfrm>
          <a:prstGeom prst="chevron">
            <a:avLst/>
          </a:prstGeom>
          <a:solidFill>
            <a:srgbClr val="255E9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ounded Rectangle 18"/>
          <p:cNvSpPr/>
          <p:nvPr/>
        </p:nvSpPr>
        <p:spPr>
          <a:xfrm>
            <a:off x="5257800" y="3767328"/>
            <a:ext cx="5532120" cy="603504"/>
          </a:xfrm>
          <a:prstGeom prst="roundRect">
            <a:avLst/>
          </a:prstGeom>
          <a:solidFill>
            <a:srgbClr val="EBF5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5394960" y="3877056"/>
            <a:ext cx="5257800" cy="402336"/>
          </a:xfrm>
          <a:prstGeom prst="rect">
            <a:avLst/>
          </a:prstGeom>
          <a:noFill/>
        </p:spPr>
        <p:txBody>
          <a:bodyPr wrap="square" lIns="22860" rIns="22860" tIns="9144" anchor="ctr">
            <a:spAutoFit/>
          </a:bodyPr>
          <a:lstStyle/>
          <a:p>
            <a:pPr algn="ctr">
              <a:defRPr sz="1500" b="1">
                <a:solidFill>
                  <a:srgbClr val="182B40"/>
                </a:solidFill>
                <a:latin typeface="Aptos"/>
              </a:defRPr>
            </a:pPr>
            <a:r>
              <a:t>Compare listed total</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
          </a:xfrm>
          <a:prstGeom prst="rect">
            <a:avLst/>
          </a:prstGeom>
          <a:solidFill>
            <a:srgbClr val="117E6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10896"/>
            <a:ext cx="10881360" cy="576072"/>
          </a:xfrm>
          <a:prstGeom prst="rect">
            <a:avLst/>
          </a:prstGeom>
          <a:noFill/>
        </p:spPr>
        <p:txBody>
          <a:bodyPr wrap="square" lIns="22860" rIns="22860" tIns="9144">
            <a:spAutoFit/>
          </a:bodyPr>
          <a:lstStyle/>
          <a:p>
            <a:pPr>
              <a:defRPr sz="2700" b="1">
                <a:solidFill>
                  <a:srgbClr val="182B40"/>
                </a:solidFill>
                <a:latin typeface="Aptos"/>
              </a:defRPr>
            </a:pPr>
            <a:r>
              <a:t>Verification · work one case</a:t>
            </a:r>
          </a:p>
        </p:txBody>
      </p:sp>
      <p:sp>
        <p:nvSpPr>
          <p:cNvPr id="4" name="Rectangle 3"/>
          <p:cNvSpPr/>
          <p:nvPr/>
        </p:nvSpPr>
        <p:spPr>
          <a:xfrm>
            <a:off x="594360" y="1362456"/>
            <a:ext cx="64008" cy="4544568"/>
          </a:xfrm>
          <a:prstGeom prst="rect">
            <a:avLst/>
          </a:prstGeom>
          <a:solidFill>
            <a:srgbClr val="117E6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41248" y="1371600"/>
            <a:ext cx="3511296" cy="320040"/>
          </a:xfrm>
          <a:prstGeom prst="rect">
            <a:avLst/>
          </a:prstGeom>
          <a:noFill/>
        </p:spPr>
        <p:txBody>
          <a:bodyPr wrap="square" lIns="22860" rIns="22860" tIns="9144">
            <a:spAutoFit/>
          </a:bodyPr>
          <a:lstStyle/>
          <a:p>
            <a:pPr>
              <a:defRPr sz="1100" b="1">
                <a:solidFill>
                  <a:srgbClr val="117E6E"/>
                </a:solidFill>
                <a:latin typeface="Aptos"/>
              </a:defRPr>
            </a:pPr>
            <a:r>
              <a:t>WORKED  /  WEEK 10</a:t>
            </a:r>
          </a:p>
        </p:txBody>
      </p:sp>
      <p:sp>
        <p:nvSpPr>
          <p:cNvPr id="6" name="TextBox 5"/>
          <p:cNvSpPr txBox="1"/>
          <p:nvPr/>
        </p:nvSpPr>
        <p:spPr>
          <a:xfrm>
            <a:off x="841248" y="1847088"/>
            <a:ext cx="3557016" cy="3986784"/>
          </a:xfrm>
          <a:prstGeom prst="rect">
            <a:avLst/>
          </a:prstGeom>
          <a:noFill/>
        </p:spPr>
        <p:txBody>
          <a:bodyPr wrap="square" lIns="22860" rIns="22860" tIns="9144">
            <a:spAutoFit/>
          </a:bodyPr>
          <a:lstStyle/>
          <a:p>
            <a:pPr>
              <a:defRPr sz="1800" b="0">
                <a:solidFill>
                  <a:srgbClr val="182B40"/>
                </a:solidFill>
                <a:latin typeface="Aptos"/>
              </a:defRPr>
            </a:pPr>
            <a:r>
              <a:t>2 × €20 + €5 = €45; listed total €54, a €9 discrepancy.</a:t>
            </a:r>
          </a:p>
          <a:p>
            <a:pPr>
              <a:defRPr sz="1800" b="0">
                <a:solidFill>
                  <a:srgbClr val="182B40"/>
                </a:solidFill>
                <a:latin typeface="Aptos"/>
              </a:defRPr>
            </a:pPr>
          </a:p>
          <a:p>
            <a:pPr>
              <a:defRPr sz="1800" b="0">
                <a:solidFill>
                  <a:srgbClr val="182B40"/>
                </a:solidFill>
                <a:latin typeface="Aptos"/>
              </a:defRPr>
            </a:pPr>
            <a:r>
              <a:t>Point to the evidence before giving your conclusion.</a:t>
            </a:r>
          </a:p>
        </p:txBody>
      </p:sp>
      <p:sp>
        <p:nvSpPr>
          <p:cNvPr id="7" name="Rectangle 6"/>
          <p:cNvSpPr/>
          <p:nvPr/>
        </p:nvSpPr>
        <p:spPr>
          <a:xfrm>
            <a:off x="594360" y="6391656"/>
            <a:ext cx="10899648" cy="16459"/>
          </a:xfrm>
          <a:prstGeom prst="rect">
            <a:avLst/>
          </a:prstGeom>
          <a:solidFill>
            <a:srgbClr val="EBF5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21792" y="6510528"/>
            <a:ext cx="10826496" cy="219456"/>
          </a:xfrm>
          <a:prstGeom prst="rect">
            <a:avLst/>
          </a:prstGeom>
          <a:noFill/>
        </p:spPr>
        <p:txBody>
          <a:bodyPr wrap="square" lIns="22860" rIns="22860" tIns="9144">
            <a:spAutoFit/>
          </a:bodyPr>
          <a:lstStyle/>
          <a:p>
            <a:pPr>
              <a:defRPr sz="900" b="0">
                <a:solidFill>
                  <a:srgbClr val="445665"/>
                </a:solidFill>
                <a:latin typeface="Aptos"/>
              </a:defRPr>
            </a:pPr>
            <a:r>
              <a:t>GENERATIVE AI 2027    •    WEEK 10    •    20 / 40</a:t>
            </a:r>
          </a:p>
        </p:txBody>
      </p:sp>
      <p:sp>
        <p:nvSpPr>
          <p:cNvPr id="9" name="Rounded Rectangle 8"/>
          <p:cNvSpPr/>
          <p:nvPr/>
        </p:nvSpPr>
        <p:spPr>
          <a:xfrm>
            <a:off x="4700016" y="1344168"/>
            <a:ext cx="6793992" cy="4727448"/>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5102352" y="1719072"/>
            <a:ext cx="5760720" cy="283464"/>
          </a:xfrm>
          <a:prstGeom prst="rect">
            <a:avLst/>
          </a:prstGeom>
          <a:noFill/>
        </p:spPr>
        <p:txBody>
          <a:bodyPr wrap="square" lIns="22860" rIns="22860" tIns="9144">
            <a:spAutoFit/>
          </a:bodyPr>
          <a:lstStyle/>
          <a:p>
            <a:pPr>
              <a:defRPr sz="1300" b="1">
                <a:solidFill>
                  <a:srgbClr val="255E9C"/>
                </a:solidFill>
                <a:latin typeface="Aptos"/>
              </a:defRPr>
            </a:pPr>
            <a:r>
              <a:t>GIVEN</a:t>
            </a:r>
          </a:p>
        </p:txBody>
      </p:sp>
      <p:sp>
        <p:nvSpPr>
          <p:cNvPr id="11" name="Rounded Rectangle 10"/>
          <p:cNvSpPr/>
          <p:nvPr/>
        </p:nvSpPr>
        <p:spPr>
          <a:xfrm>
            <a:off x="5065776" y="2048255"/>
            <a:ext cx="6035040" cy="950976"/>
          </a:xfrm>
          <a:prstGeom prst="roundRect">
            <a:avLst/>
          </a:prstGeom>
          <a:solidFill>
            <a:srgbClr val="EBF5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5202936" y="2157984"/>
            <a:ext cx="5760720" cy="749808"/>
          </a:xfrm>
          <a:prstGeom prst="rect">
            <a:avLst/>
          </a:prstGeom>
          <a:noFill/>
        </p:spPr>
        <p:txBody>
          <a:bodyPr wrap="square" lIns="22860" rIns="22860" tIns="9144" anchor="ctr">
            <a:spAutoFit/>
          </a:bodyPr>
          <a:lstStyle/>
          <a:p>
            <a:pPr algn="ctr">
              <a:defRPr sz="1500" b="1">
                <a:solidFill>
                  <a:srgbClr val="182B40"/>
                </a:solidFill>
                <a:latin typeface="Aptos"/>
              </a:defRPr>
            </a:pPr>
            <a:r>
              <a:t>2 × €20 + €5 = €45; listed total €54, a €9 discrepancy.</a:t>
            </a:r>
          </a:p>
        </p:txBody>
      </p:sp>
      <p:sp>
        <p:nvSpPr>
          <p:cNvPr id="13" name="TextBox 12"/>
          <p:cNvSpPr txBox="1"/>
          <p:nvPr/>
        </p:nvSpPr>
        <p:spPr>
          <a:xfrm>
            <a:off x="5102352" y="3072384"/>
            <a:ext cx="5760720" cy="283464"/>
          </a:xfrm>
          <a:prstGeom prst="rect">
            <a:avLst/>
          </a:prstGeom>
          <a:noFill/>
        </p:spPr>
        <p:txBody>
          <a:bodyPr wrap="square" lIns="22860" rIns="22860" tIns="9144">
            <a:spAutoFit/>
          </a:bodyPr>
          <a:lstStyle/>
          <a:p>
            <a:pPr>
              <a:defRPr sz="1300" b="1">
                <a:solidFill>
                  <a:srgbClr val="C7682C"/>
                </a:solidFill>
                <a:latin typeface="Aptos"/>
              </a:defRPr>
            </a:pPr>
            <a:r>
              <a:t>QUESTION</a:t>
            </a:r>
          </a:p>
        </p:txBody>
      </p:sp>
      <p:sp>
        <p:nvSpPr>
          <p:cNvPr id="14" name="Rounded Rectangle 13"/>
          <p:cNvSpPr/>
          <p:nvPr/>
        </p:nvSpPr>
        <p:spPr>
          <a:xfrm>
            <a:off x="5065776" y="3401568"/>
            <a:ext cx="6035040" cy="950976"/>
          </a:xfrm>
          <a:prstGeom prst="roundRect">
            <a:avLst/>
          </a:prstGeom>
          <a:solidFill>
            <a:srgbClr val="FFF9E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5202936" y="3511296"/>
            <a:ext cx="5760720" cy="749808"/>
          </a:xfrm>
          <a:prstGeom prst="rect">
            <a:avLst/>
          </a:prstGeom>
          <a:noFill/>
        </p:spPr>
        <p:txBody>
          <a:bodyPr wrap="square" lIns="22860" rIns="22860" tIns="9144" anchor="ctr">
            <a:spAutoFit/>
          </a:bodyPr>
          <a:lstStyle/>
          <a:p>
            <a:pPr algn="ctr">
              <a:defRPr sz="1500" b="1">
                <a:solidFill>
                  <a:srgbClr val="182B40"/>
                </a:solidFill>
                <a:latin typeface="Aptos"/>
              </a:defRPr>
            </a:pPr>
            <a:r>
              <a:t>Does reading €54 correctly make it a correct payable total?</a:t>
            </a:r>
          </a:p>
        </p:txBody>
      </p:sp>
      <p:sp>
        <p:nvSpPr>
          <p:cNvPr id="16" name="TextBox 15"/>
          <p:cNvSpPr txBox="1"/>
          <p:nvPr/>
        </p:nvSpPr>
        <p:spPr>
          <a:xfrm>
            <a:off x="5102352" y="4425696"/>
            <a:ext cx="5760720" cy="283464"/>
          </a:xfrm>
          <a:prstGeom prst="rect">
            <a:avLst/>
          </a:prstGeom>
          <a:noFill/>
        </p:spPr>
        <p:txBody>
          <a:bodyPr wrap="square" lIns="22860" rIns="22860" tIns="9144">
            <a:spAutoFit/>
          </a:bodyPr>
          <a:lstStyle/>
          <a:p>
            <a:pPr>
              <a:defRPr sz="1300" b="1">
                <a:solidFill>
                  <a:srgbClr val="117E6E"/>
                </a:solidFill>
                <a:latin typeface="Aptos"/>
              </a:defRPr>
            </a:pPr>
            <a:r>
              <a:t>SUPPORTED ANSWER</a:t>
            </a:r>
          </a:p>
        </p:txBody>
      </p:sp>
      <p:sp>
        <p:nvSpPr>
          <p:cNvPr id="17" name="Rounded Rectangle 16"/>
          <p:cNvSpPr/>
          <p:nvPr/>
        </p:nvSpPr>
        <p:spPr>
          <a:xfrm>
            <a:off x="5065776" y="4754880"/>
            <a:ext cx="6035040" cy="950976"/>
          </a:xfrm>
          <a:prstGeom prst="roundRect">
            <a:avLst/>
          </a:prstGeom>
          <a:solidFill>
            <a:srgbClr val="EFF7F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5202936" y="4864608"/>
            <a:ext cx="5760720" cy="749808"/>
          </a:xfrm>
          <a:prstGeom prst="rect">
            <a:avLst/>
          </a:prstGeom>
          <a:noFill/>
        </p:spPr>
        <p:txBody>
          <a:bodyPr wrap="square" lIns="22860" rIns="22860" tIns="9144" anchor="ctr">
            <a:spAutoFit/>
          </a:bodyPr>
          <a:lstStyle/>
          <a:p>
            <a:pPr algn="ctr">
              <a:defRPr sz="1500" b="1">
                <a:solidFill>
                  <a:srgbClr val="182B40"/>
                </a:solidFill>
                <a:latin typeface="Aptos"/>
              </a:defRPr>
            </a:pPr>
            <a:r>
              <a:t>No. The independent arithmetic disagrees by €9.</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
          </a:xfrm>
          <a:prstGeom prst="rect">
            <a:avLst/>
          </a:prstGeom>
          <a:solidFill>
            <a:srgbClr val="117E6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10896"/>
            <a:ext cx="10881360" cy="576072"/>
          </a:xfrm>
          <a:prstGeom prst="rect">
            <a:avLst/>
          </a:prstGeom>
          <a:noFill/>
        </p:spPr>
        <p:txBody>
          <a:bodyPr wrap="square" lIns="22860" rIns="22860" tIns="9144">
            <a:spAutoFit/>
          </a:bodyPr>
          <a:lstStyle/>
          <a:p>
            <a:pPr>
              <a:defRPr sz="2700" b="1">
                <a:solidFill>
                  <a:srgbClr val="182B40"/>
                </a:solidFill>
                <a:latin typeface="Aptos"/>
              </a:defRPr>
            </a:pPr>
            <a:r>
              <a:t>Verification · answer and explain</a:t>
            </a:r>
          </a:p>
        </p:txBody>
      </p:sp>
      <p:sp>
        <p:nvSpPr>
          <p:cNvPr id="4" name="Rectangle 3"/>
          <p:cNvSpPr/>
          <p:nvPr/>
        </p:nvSpPr>
        <p:spPr>
          <a:xfrm>
            <a:off x="594360" y="1362456"/>
            <a:ext cx="64008" cy="4544568"/>
          </a:xfrm>
          <a:prstGeom prst="rect">
            <a:avLst/>
          </a:prstGeom>
          <a:solidFill>
            <a:srgbClr val="117E6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41248" y="1371600"/>
            <a:ext cx="3511296" cy="320040"/>
          </a:xfrm>
          <a:prstGeom prst="rect">
            <a:avLst/>
          </a:prstGeom>
          <a:noFill/>
        </p:spPr>
        <p:txBody>
          <a:bodyPr wrap="square" lIns="22860" rIns="22860" tIns="9144">
            <a:spAutoFit/>
          </a:bodyPr>
          <a:lstStyle/>
          <a:p>
            <a:pPr>
              <a:defRPr sz="1100" b="1">
                <a:solidFill>
                  <a:srgbClr val="117E6E"/>
                </a:solidFill>
                <a:latin typeface="Aptos"/>
              </a:defRPr>
            </a:pPr>
            <a:r>
              <a:t>REVEAL  /  WEEK 10</a:t>
            </a:r>
          </a:p>
        </p:txBody>
      </p:sp>
      <p:sp>
        <p:nvSpPr>
          <p:cNvPr id="6" name="TextBox 5"/>
          <p:cNvSpPr txBox="1"/>
          <p:nvPr/>
        </p:nvSpPr>
        <p:spPr>
          <a:xfrm>
            <a:off x="841248" y="1847088"/>
            <a:ext cx="3557016" cy="3986784"/>
          </a:xfrm>
          <a:prstGeom prst="rect">
            <a:avLst/>
          </a:prstGeom>
          <a:noFill/>
        </p:spPr>
        <p:txBody>
          <a:bodyPr wrap="square" lIns="22860" rIns="22860" tIns="9144">
            <a:spAutoFit/>
          </a:bodyPr>
          <a:lstStyle/>
          <a:p>
            <a:pPr>
              <a:defRPr sz="1800" b="0">
                <a:solidFill>
                  <a:srgbClr val="182B40"/>
                </a:solidFill>
                <a:latin typeface="Aptos"/>
              </a:defRPr>
            </a:pPr>
            <a:r>
              <a:t>No. The independent arithmetic disagrees by €9.</a:t>
            </a:r>
          </a:p>
          <a:p>
            <a:pPr>
              <a:defRPr sz="1800" b="0">
                <a:solidFill>
                  <a:srgbClr val="182B40"/>
                </a:solidFill>
                <a:latin typeface="Aptos"/>
              </a:defRPr>
            </a:pPr>
          </a:p>
          <a:p>
            <a:pPr>
              <a:defRPr sz="1800" b="0">
                <a:solidFill>
                  <a:srgbClr val="182B40"/>
                </a:solidFill>
                <a:latin typeface="Aptos"/>
              </a:defRPr>
            </a:pPr>
            <a:r>
              <a:t>Tempting mistake: Accurate OCR implies accurate arithmetic.</a:t>
            </a:r>
          </a:p>
        </p:txBody>
      </p:sp>
      <p:sp>
        <p:nvSpPr>
          <p:cNvPr id="7" name="Rectangle 6"/>
          <p:cNvSpPr/>
          <p:nvPr/>
        </p:nvSpPr>
        <p:spPr>
          <a:xfrm>
            <a:off x="594360" y="6391656"/>
            <a:ext cx="10899648" cy="16459"/>
          </a:xfrm>
          <a:prstGeom prst="rect">
            <a:avLst/>
          </a:prstGeom>
          <a:solidFill>
            <a:srgbClr val="EBF5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21792" y="6510528"/>
            <a:ext cx="10826496" cy="219456"/>
          </a:xfrm>
          <a:prstGeom prst="rect">
            <a:avLst/>
          </a:prstGeom>
          <a:noFill/>
        </p:spPr>
        <p:txBody>
          <a:bodyPr wrap="square" lIns="22860" rIns="22860" tIns="9144">
            <a:spAutoFit/>
          </a:bodyPr>
          <a:lstStyle/>
          <a:p>
            <a:pPr>
              <a:defRPr sz="900" b="0">
                <a:solidFill>
                  <a:srgbClr val="445665"/>
                </a:solidFill>
                <a:latin typeface="Aptos"/>
              </a:defRPr>
            </a:pPr>
            <a:r>
              <a:t>GENERATIVE AI 2027    •    WEEK 10    •    21 / 40</a:t>
            </a:r>
          </a:p>
        </p:txBody>
      </p:sp>
      <p:sp>
        <p:nvSpPr>
          <p:cNvPr id="9" name="Rounded Rectangle 8"/>
          <p:cNvSpPr/>
          <p:nvPr/>
        </p:nvSpPr>
        <p:spPr>
          <a:xfrm>
            <a:off x="4700016" y="1344168"/>
            <a:ext cx="6793992" cy="4727448"/>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5074920" y="1581912"/>
            <a:ext cx="5852160" cy="365760"/>
          </a:xfrm>
          <a:prstGeom prst="rect">
            <a:avLst/>
          </a:prstGeom>
          <a:noFill/>
        </p:spPr>
        <p:txBody>
          <a:bodyPr wrap="square" lIns="22860" rIns="22860" tIns="9144">
            <a:spAutoFit/>
          </a:bodyPr>
          <a:lstStyle/>
          <a:p>
            <a:pPr>
              <a:defRPr sz="1500" b="1">
                <a:solidFill>
                  <a:srgbClr val="255E9C"/>
                </a:solidFill>
                <a:latin typeface="Aptos"/>
              </a:defRPr>
            </a:pPr>
            <a:r>
              <a:t>TEST THE CLAIM AGAINST THE EVIDENCE</a:t>
            </a:r>
          </a:p>
        </p:txBody>
      </p:sp>
      <p:sp>
        <p:nvSpPr>
          <p:cNvPr id="11" name="TextBox 10"/>
          <p:cNvSpPr txBox="1"/>
          <p:nvPr/>
        </p:nvSpPr>
        <p:spPr>
          <a:xfrm>
            <a:off x="5084064" y="2066543"/>
            <a:ext cx="5669280" cy="320040"/>
          </a:xfrm>
          <a:prstGeom prst="rect">
            <a:avLst/>
          </a:prstGeom>
          <a:noFill/>
        </p:spPr>
        <p:txBody>
          <a:bodyPr wrap="square" lIns="22860" rIns="22860" tIns="9144">
            <a:spAutoFit/>
          </a:bodyPr>
          <a:lstStyle/>
          <a:p>
            <a:pPr>
              <a:defRPr sz="1300" b="1">
                <a:solidFill>
                  <a:srgbClr val="B74945"/>
                </a:solidFill>
                <a:latin typeface="Aptos"/>
              </a:defRPr>
            </a:pPr>
            <a:r>
              <a:t>TEMPTING CLAIM</a:t>
            </a:r>
          </a:p>
        </p:txBody>
      </p:sp>
      <p:sp>
        <p:nvSpPr>
          <p:cNvPr id="12" name="Rounded Rectangle 11"/>
          <p:cNvSpPr/>
          <p:nvPr/>
        </p:nvSpPr>
        <p:spPr>
          <a:xfrm>
            <a:off x="5047488" y="2441448"/>
            <a:ext cx="6126480" cy="1014984"/>
          </a:xfrm>
          <a:prstGeom prst="roundRect">
            <a:avLst/>
          </a:prstGeom>
          <a:solidFill>
            <a:srgbClr val="FDEF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5184648" y="2551176"/>
            <a:ext cx="5852160" cy="813816"/>
          </a:xfrm>
          <a:prstGeom prst="rect">
            <a:avLst/>
          </a:prstGeom>
          <a:noFill/>
        </p:spPr>
        <p:txBody>
          <a:bodyPr wrap="square" lIns="22860" rIns="22860" tIns="9144" anchor="ctr">
            <a:spAutoFit/>
          </a:bodyPr>
          <a:lstStyle/>
          <a:p>
            <a:pPr algn="ctr">
              <a:defRPr sz="1500" b="1">
                <a:solidFill>
                  <a:srgbClr val="182B40"/>
                </a:solidFill>
                <a:latin typeface="Aptos"/>
              </a:defRPr>
            </a:pPr>
            <a:r>
              <a:t>Accurate OCR implies accurate arithmetic.</a:t>
            </a:r>
          </a:p>
        </p:txBody>
      </p:sp>
      <p:sp>
        <p:nvSpPr>
          <p:cNvPr id="14" name="TextBox 13"/>
          <p:cNvSpPr txBox="1"/>
          <p:nvPr/>
        </p:nvSpPr>
        <p:spPr>
          <a:xfrm>
            <a:off x="5084064" y="3666744"/>
            <a:ext cx="5669280" cy="320040"/>
          </a:xfrm>
          <a:prstGeom prst="rect">
            <a:avLst/>
          </a:prstGeom>
          <a:noFill/>
        </p:spPr>
        <p:txBody>
          <a:bodyPr wrap="square" lIns="22860" rIns="22860" tIns="9144">
            <a:spAutoFit/>
          </a:bodyPr>
          <a:lstStyle/>
          <a:p>
            <a:pPr>
              <a:defRPr sz="1300" b="1">
                <a:solidFill>
                  <a:srgbClr val="117E6E"/>
                </a:solidFill>
                <a:latin typeface="Aptos"/>
              </a:defRPr>
            </a:pPr>
            <a:r>
              <a:t>SUPPORTED EXPLANATION</a:t>
            </a:r>
          </a:p>
        </p:txBody>
      </p:sp>
      <p:sp>
        <p:nvSpPr>
          <p:cNvPr id="15" name="Rounded Rectangle 14"/>
          <p:cNvSpPr/>
          <p:nvPr/>
        </p:nvSpPr>
        <p:spPr>
          <a:xfrm>
            <a:off x="5047488" y="4050791"/>
            <a:ext cx="6126480" cy="1005840"/>
          </a:xfrm>
          <a:prstGeom prst="roundRect">
            <a:avLst/>
          </a:prstGeom>
          <a:solidFill>
            <a:srgbClr val="EFF7F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5184648" y="4160520"/>
            <a:ext cx="5852160" cy="804672"/>
          </a:xfrm>
          <a:prstGeom prst="rect">
            <a:avLst/>
          </a:prstGeom>
          <a:noFill/>
        </p:spPr>
        <p:txBody>
          <a:bodyPr wrap="square" lIns="22860" rIns="22860" tIns="9144" anchor="ctr">
            <a:spAutoFit/>
          </a:bodyPr>
          <a:lstStyle/>
          <a:p>
            <a:pPr algn="ctr">
              <a:defRPr sz="1500" b="1">
                <a:solidFill>
                  <a:srgbClr val="182B40"/>
                </a:solidFill>
                <a:latin typeface="Aptos"/>
              </a:defRPr>
            </a:pPr>
            <a:r>
              <a:t>No. The independent arithmetic disagrees by €9.</a:t>
            </a:r>
          </a:p>
        </p:txBody>
      </p:sp>
      <p:sp>
        <p:nvSpPr>
          <p:cNvPr id="17" name="TextBox 16"/>
          <p:cNvSpPr txBox="1"/>
          <p:nvPr/>
        </p:nvSpPr>
        <p:spPr>
          <a:xfrm>
            <a:off x="5120640" y="5321808"/>
            <a:ext cx="5897880" cy="566928"/>
          </a:xfrm>
          <a:prstGeom prst="rect">
            <a:avLst/>
          </a:prstGeom>
          <a:noFill/>
        </p:spPr>
        <p:txBody>
          <a:bodyPr wrap="square" lIns="22860" rIns="22860" tIns="9144">
            <a:spAutoFit/>
          </a:bodyPr>
          <a:lstStyle/>
          <a:p>
            <a:pPr>
              <a:defRPr sz="1300" b="0">
                <a:solidFill>
                  <a:srgbClr val="445665"/>
                </a:solidFill>
                <a:latin typeface="Aptos"/>
              </a:defRPr>
            </a:pPr>
            <a:r>
              <a:t>Real invoices may have discounts and other rules; specify the case assumptions.</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
          </a:xfrm>
          <a:prstGeom prst="rect">
            <a:avLst/>
          </a:prstGeom>
          <a:solidFill>
            <a:srgbClr val="C7682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10896"/>
            <a:ext cx="10881360" cy="576072"/>
          </a:xfrm>
          <a:prstGeom prst="rect">
            <a:avLst/>
          </a:prstGeom>
          <a:noFill/>
        </p:spPr>
        <p:txBody>
          <a:bodyPr wrap="square" lIns="22860" rIns="22860" tIns="9144">
            <a:spAutoFit/>
          </a:bodyPr>
          <a:lstStyle/>
          <a:p>
            <a:pPr>
              <a:defRPr sz="2700" b="1">
                <a:solidFill>
                  <a:srgbClr val="182B40"/>
                </a:solidFill>
                <a:latin typeface="Aptos"/>
              </a:defRPr>
            </a:pPr>
            <a:r>
              <a:t>4. Predict · Uncertainty</a:t>
            </a:r>
          </a:p>
        </p:txBody>
      </p:sp>
      <p:sp>
        <p:nvSpPr>
          <p:cNvPr id="4" name="Rectangle 3"/>
          <p:cNvSpPr/>
          <p:nvPr/>
        </p:nvSpPr>
        <p:spPr>
          <a:xfrm>
            <a:off x="594360" y="1362456"/>
            <a:ext cx="64008" cy="4544568"/>
          </a:xfrm>
          <a:prstGeom prst="rect">
            <a:avLst/>
          </a:prstGeom>
          <a:solidFill>
            <a:srgbClr val="C7682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41248" y="1371600"/>
            <a:ext cx="3511296" cy="320040"/>
          </a:xfrm>
          <a:prstGeom prst="rect">
            <a:avLst/>
          </a:prstGeom>
          <a:noFill/>
        </p:spPr>
        <p:txBody>
          <a:bodyPr wrap="square" lIns="22860" rIns="22860" tIns="9144">
            <a:spAutoFit/>
          </a:bodyPr>
          <a:lstStyle/>
          <a:p>
            <a:pPr>
              <a:defRPr sz="1100" b="1">
                <a:solidFill>
                  <a:srgbClr val="C7682C"/>
                </a:solidFill>
                <a:latin typeface="Aptos"/>
              </a:defRPr>
            </a:pPr>
            <a:r>
              <a:t>QUESTION  /  WEEK 10</a:t>
            </a:r>
          </a:p>
        </p:txBody>
      </p:sp>
      <p:sp>
        <p:nvSpPr>
          <p:cNvPr id="6" name="TextBox 5"/>
          <p:cNvSpPr txBox="1"/>
          <p:nvPr/>
        </p:nvSpPr>
        <p:spPr>
          <a:xfrm>
            <a:off x="841248" y="1847088"/>
            <a:ext cx="3557016" cy="3986784"/>
          </a:xfrm>
          <a:prstGeom prst="rect">
            <a:avLst/>
          </a:prstGeom>
          <a:noFill/>
        </p:spPr>
        <p:txBody>
          <a:bodyPr wrap="square" lIns="22860" rIns="22860" tIns="9144">
            <a:spAutoFit/>
          </a:bodyPr>
          <a:lstStyle/>
          <a:p>
            <a:pPr>
              <a:defRPr sz="1800" b="0">
                <a:solidFill>
                  <a:srgbClr val="182B40"/>
                </a:solidFill>
                <a:latin typeface="Aptos"/>
              </a:defRPr>
            </a:pPr>
            <a:r>
              <a:t>What would be unsafe to store?</a:t>
            </a:r>
          </a:p>
          <a:p>
            <a:pPr>
              <a:defRPr sz="1800" b="0">
                <a:solidFill>
                  <a:srgbClr val="182B40"/>
                </a:solidFill>
                <a:latin typeface="Aptos"/>
              </a:defRPr>
            </a:pPr>
          </a:p>
          <a:p>
            <a:pPr>
              <a:defRPr sz="1800" b="0">
                <a:solidFill>
                  <a:srgbClr val="182B40"/>
                </a:solidFill>
                <a:latin typeface="Aptos"/>
              </a:defRPr>
            </a:pPr>
            <a:r>
              <a:t>Make a choice before we explain the diagram.</a:t>
            </a:r>
          </a:p>
        </p:txBody>
      </p:sp>
      <p:sp>
        <p:nvSpPr>
          <p:cNvPr id="7" name="Rectangle 6"/>
          <p:cNvSpPr/>
          <p:nvPr/>
        </p:nvSpPr>
        <p:spPr>
          <a:xfrm>
            <a:off x="594360" y="6391656"/>
            <a:ext cx="10899648" cy="16459"/>
          </a:xfrm>
          <a:prstGeom prst="rect">
            <a:avLst/>
          </a:prstGeom>
          <a:solidFill>
            <a:srgbClr val="EBF5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21792" y="6510528"/>
            <a:ext cx="10826496" cy="219456"/>
          </a:xfrm>
          <a:prstGeom prst="rect">
            <a:avLst/>
          </a:prstGeom>
          <a:noFill/>
        </p:spPr>
        <p:txBody>
          <a:bodyPr wrap="square" lIns="22860" rIns="22860" tIns="9144">
            <a:spAutoFit/>
          </a:bodyPr>
          <a:lstStyle/>
          <a:p>
            <a:pPr>
              <a:defRPr sz="900" b="0">
                <a:solidFill>
                  <a:srgbClr val="445665"/>
                </a:solidFill>
                <a:latin typeface="Aptos"/>
              </a:defRPr>
            </a:pPr>
            <a:r>
              <a:t>GENERATIVE AI 2027    •    WEEK 10    •    22 / 40</a:t>
            </a:r>
          </a:p>
        </p:txBody>
      </p:sp>
      <p:sp>
        <p:nvSpPr>
          <p:cNvPr id="9" name="Rounded Rectangle 8"/>
          <p:cNvSpPr/>
          <p:nvPr/>
        </p:nvSpPr>
        <p:spPr>
          <a:xfrm>
            <a:off x="4700016" y="1344168"/>
            <a:ext cx="6793992" cy="4727448"/>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5074920" y="1581912"/>
            <a:ext cx="6126480" cy="411480"/>
          </a:xfrm>
          <a:prstGeom prst="rect">
            <a:avLst/>
          </a:prstGeom>
          <a:noFill/>
        </p:spPr>
        <p:txBody>
          <a:bodyPr wrap="square" lIns="22860" rIns="22860" tIns="9144">
            <a:spAutoFit/>
          </a:bodyPr>
          <a:lstStyle/>
          <a:p>
            <a:pPr>
              <a:defRPr sz="1600" b="1">
                <a:solidFill>
                  <a:srgbClr val="255E9C"/>
                </a:solidFill>
                <a:latin typeface="Aptos"/>
              </a:defRPr>
            </a:pPr>
            <a:r>
              <a:t>VOTE FIRST  •  GIVE A REASON</a:t>
            </a:r>
          </a:p>
        </p:txBody>
      </p:sp>
      <p:sp>
        <p:nvSpPr>
          <p:cNvPr id="11" name="Rounded Rectangle 10"/>
          <p:cNvSpPr/>
          <p:nvPr/>
        </p:nvSpPr>
        <p:spPr>
          <a:xfrm>
            <a:off x="5074920" y="2212848"/>
            <a:ext cx="6080760" cy="1115568"/>
          </a:xfrm>
          <a:prstGeom prst="roundRect">
            <a:avLst/>
          </a:prstGeom>
          <a:solidFill>
            <a:srgbClr val="EBF5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5212080" y="2322576"/>
            <a:ext cx="5806440" cy="914400"/>
          </a:xfrm>
          <a:prstGeom prst="rect">
            <a:avLst/>
          </a:prstGeom>
          <a:noFill/>
        </p:spPr>
        <p:txBody>
          <a:bodyPr wrap="square" lIns="22860" rIns="22860" tIns="9144" anchor="ctr">
            <a:spAutoFit/>
          </a:bodyPr>
          <a:lstStyle/>
          <a:p>
            <a:pPr algn="ctr">
              <a:defRPr sz="1600" b="1">
                <a:solidFill>
                  <a:srgbClr val="182B40"/>
                </a:solidFill>
                <a:latin typeface="Aptos"/>
              </a:defRPr>
            </a:pPr>
            <a:r>
              <a:t>A  A guessed invoice ID presented as certain.</a:t>
            </a:r>
          </a:p>
        </p:txBody>
      </p:sp>
      <p:sp>
        <p:nvSpPr>
          <p:cNvPr id="13" name="Rounded Rectangle 12"/>
          <p:cNvSpPr/>
          <p:nvPr/>
        </p:nvSpPr>
        <p:spPr>
          <a:xfrm>
            <a:off x="5074920" y="3657600"/>
            <a:ext cx="6080760" cy="1115568"/>
          </a:xfrm>
          <a:prstGeom prst="roundRect">
            <a:avLst/>
          </a:prstGeom>
          <a:solidFill>
            <a:srgbClr val="FFF9E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5212080" y="3767328"/>
            <a:ext cx="5806440" cy="914400"/>
          </a:xfrm>
          <a:prstGeom prst="rect">
            <a:avLst/>
          </a:prstGeom>
          <a:noFill/>
        </p:spPr>
        <p:txBody>
          <a:bodyPr wrap="square" lIns="22860" rIns="22860" tIns="9144" anchor="ctr">
            <a:spAutoFit/>
          </a:bodyPr>
          <a:lstStyle/>
          <a:p>
            <a:pPr algn="ctr">
              <a:defRPr sz="1600" b="1">
                <a:solidFill>
                  <a:srgbClr val="182B40"/>
                </a:solidFill>
                <a:latin typeface="Aptos"/>
              </a:defRPr>
            </a:pPr>
            <a:r>
              <a:t>B  A plausible guess should be saved silently.</a:t>
            </a:r>
          </a:p>
        </p:txBody>
      </p:sp>
      <p:sp>
        <p:nvSpPr>
          <p:cNvPr id="15" name="TextBox 14"/>
          <p:cNvSpPr txBox="1"/>
          <p:nvPr/>
        </p:nvSpPr>
        <p:spPr>
          <a:xfrm>
            <a:off x="5120640" y="5303520"/>
            <a:ext cx="5806440" cy="411480"/>
          </a:xfrm>
          <a:prstGeom prst="rect">
            <a:avLst/>
          </a:prstGeom>
          <a:noFill/>
        </p:spPr>
        <p:txBody>
          <a:bodyPr wrap="square" lIns="22860" rIns="22860" tIns="9144">
            <a:spAutoFit/>
          </a:bodyPr>
          <a:lstStyle/>
          <a:p>
            <a:pPr>
              <a:defRPr sz="1600" b="1">
                <a:solidFill>
                  <a:srgbClr val="117E6E"/>
                </a:solidFill>
                <a:latin typeface="Aptos"/>
              </a:defRPr>
            </a:pPr>
            <a:r>
              <a:t>Which source or test could settle this?</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
          </a:xfrm>
          <a:prstGeom prst="rect">
            <a:avLst/>
          </a:prstGeom>
          <a:solidFill>
            <a:srgbClr val="C7682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10896"/>
            <a:ext cx="10881360" cy="576072"/>
          </a:xfrm>
          <a:prstGeom prst="rect">
            <a:avLst/>
          </a:prstGeom>
          <a:noFill/>
        </p:spPr>
        <p:txBody>
          <a:bodyPr wrap="square" lIns="22860" rIns="22860" tIns="9144">
            <a:spAutoFit/>
          </a:bodyPr>
          <a:lstStyle/>
          <a:p>
            <a:pPr>
              <a:defRPr sz="2700" b="1">
                <a:solidFill>
                  <a:srgbClr val="182B40"/>
                </a:solidFill>
                <a:latin typeface="Aptos"/>
              </a:defRPr>
            </a:pPr>
            <a:r>
              <a:t>Uncertainty · a familiar picture</a:t>
            </a:r>
          </a:p>
        </p:txBody>
      </p:sp>
      <p:sp>
        <p:nvSpPr>
          <p:cNvPr id="4" name="Rectangle 3"/>
          <p:cNvSpPr/>
          <p:nvPr/>
        </p:nvSpPr>
        <p:spPr>
          <a:xfrm>
            <a:off x="594360" y="1362456"/>
            <a:ext cx="64008" cy="4544568"/>
          </a:xfrm>
          <a:prstGeom prst="rect">
            <a:avLst/>
          </a:prstGeom>
          <a:solidFill>
            <a:srgbClr val="C7682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41248" y="1371600"/>
            <a:ext cx="3511296" cy="320040"/>
          </a:xfrm>
          <a:prstGeom prst="rect">
            <a:avLst/>
          </a:prstGeom>
          <a:noFill/>
        </p:spPr>
        <p:txBody>
          <a:bodyPr wrap="square" lIns="22860" rIns="22860" tIns="9144">
            <a:spAutoFit/>
          </a:bodyPr>
          <a:lstStyle/>
          <a:p>
            <a:pPr>
              <a:defRPr sz="1100" b="1">
                <a:solidFill>
                  <a:srgbClr val="C7682C"/>
                </a:solidFill>
                <a:latin typeface="Aptos"/>
              </a:defRPr>
            </a:pPr>
            <a:r>
              <a:t>ANALOGY  /  WEEK 10</a:t>
            </a:r>
          </a:p>
        </p:txBody>
      </p:sp>
      <p:sp>
        <p:nvSpPr>
          <p:cNvPr id="6" name="TextBox 5"/>
          <p:cNvSpPr txBox="1"/>
          <p:nvPr/>
        </p:nvSpPr>
        <p:spPr>
          <a:xfrm>
            <a:off x="841248" y="1847088"/>
            <a:ext cx="3557016" cy="3986784"/>
          </a:xfrm>
          <a:prstGeom prst="rect">
            <a:avLst/>
          </a:prstGeom>
          <a:noFill/>
        </p:spPr>
        <p:txBody>
          <a:bodyPr wrap="square" lIns="22860" rIns="22860" tIns="9144">
            <a:spAutoFit/>
          </a:bodyPr>
          <a:lstStyle/>
          <a:p>
            <a:pPr>
              <a:defRPr sz="1800" b="0">
                <a:solidFill>
                  <a:srgbClr val="182B40"/>
                </a:solidFill>
                <a:latin typeface="Aptos"/>
              </a:defRPr>
            </a:pPr>
            <a:r>
              <a:t>A reviewer marks an unreadable receipt field with a question mark.</a:t>
            </a:r>
          </a:p>
          <a:p>
            <a:pPr>
              <a:defRPr sz="1800" b="0">
                <a:solidFill>
                  <a:srgbClr val="182B40"/>
                </a:solidFill>
                <a:latin typeface="Aptos"/>
              </a:defRPr>
            </a:pPr>
          </a:p>
          <a:p>
            <a:pPr>
              <a:defRPr sz="1800" b="0">
                <a:solidFill>
                  <a:srgbClr val="182B40"/>
                </a:solidFill>
                <a:latin typeface="Aptos"/>
              </a:defRPr>
            </a:pPr>
            <a:r>
              <a:t>What matches our case, and where does the analogy stop?</a:t>
            </a:r>
          </a:p>
        </p:txBody>
      </p:sp>
      <p:sp>
        <p:nvSpPr>
          <p:cNvPr id="7" name="Rectangle 6"/>
          <p:cNvSpPr/>
          <p:nvPr/>
        </p:nvSpPr>
        <p:spPr>
          <a:xfrm>
            <a:off x="594360" y="6391656"/>
            <a:ext cx="10899648" cy="16459"/>
          </a:xfrm>
          <a:prstGeom prst="rect">
            <a:avLst/>
          </a:prstGeom>
          <a:solidFill>
            <a:srgbClr val="EBF5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21792" y="6510528"/>
            <a:ext cx="10826496" cy="219456"/>
          </a:xfrm>
          <a:prstGeom prst="rect">
            <a:avLst/>
          </a:prstGeom>
          <a:noFill/>
        </p:spPr>
        <p:txBody>
          <a:bodyPr wrap="square" lIns="22860" rIns="22860" tIns="9144">
            <a:spAutoFit/>
          </a:bodyPr>
          <a:lstStyle/>
          <a:p>
            <a:pPr>
              <a:defRPr sz="900" b="0">
                <a:solidFill>
                  <a:srgbClr val="445665"/>
                </a:solidFill>
                <a:latin typeface="Aptos"/>
              </a:defRPr>
            </a:pPr>
            <a:r>
              <a:t>GENERATIVE AI 2027    •    WEEK 10    •    23 / 40</a:t>
            </a:r>
          </a:p>
        </p:txBody>
      </p:sp>
      <p:sp>
        <p:nvSpPr>
          <p:cNvPr id="9" name="Rounded Rectangle 8"/>
          <p:cNvSpPr/>
          <p:nvPr/>
        </p:nvSpPr>
        <p:spPr>
          <a:xfrm>
            <a:off x="4700016" y="1344168"/>
            <a:ext cx="6793992" cy="4727448"/>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5074920" y="1591056"/>
            <a:ext cx="5943600" cy="749808"/>
          </a:xfrm>
          <a:prstGeom prst="rect">
            <a:avLst/>
          </a:prstGeom>
          <a:noFill/>
        </p:spPr>
        <p:txBody>
          <a:bodyPr wrap="square" lIns="22860" rIns="22860" tIns="9144">
            <a:spAutoFit/>
          </a:bodyPr>
          <a:lstStyle/>
          <a:p>
            <a:pPr>
              <a:defRPr sz="1800" b="1">
                <a:solidFill>
                  <a:srgbClr val="255E9C"/>
                </a:solidFill>
                <a:latin typeface="Aptos"/>
              </a:defRPr>
            </a:pPr>
            <a:r>
              <a:t>A reviewer marks an unreadable receipt field with a question mark.</a:t>
            </a:r>
          </a:p>
        </p:txBody>
      </p:sp>
      <p:sp>
        <p:nvSpPr>
          <p:cNvPr id="11" name="Rounded Rectangle 10"/>
          <p:cNvSpPr/>
          <p:nvPr/>
        </p:nvSpPr>
        <p:spPr>
          <a:xfrm>
            <a:off x="5532120" y="2542032"/>
            <a:ext cx="768096" cy="768096"/>
          </a:xfrm>
          <a:prstGeom prst="roundRect">
            <a:avLst/>
          </a:prstGeom>
          <a:solidFill>
            <a:srgbClr val="255E9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5696712" y="2788920"/>
            <a:ext cx="128016" cy="128016"/>
          </a:xfrm>
          <a:prstGeom prst="ellipse">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6007607" y="2788920"/>
            <a:ext cx="128016" cy="128016"/>
          </a:xfrm>
          <a:prstGeom prst="ellipse">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5852159" y="3026664"/>
            <a:ext cx="128016" cy="128016"/>
          </a:xfrm>
          <a:prstGeom prst="ellipse">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ounded Rectangle 14"/>
          <p:cNvSpPr/>
          <p:nvPr/>
        </p:nvSpPr>
        <p:spPr>
          <a:xfrm>
            <a:off x="5001768" y="3456432"/>
            <a:ext cx="1874519" cy="1060704"/>
          </a:xfrm>
          <a:prstGeom prst="roundRect">
            <a:avLst/>
          </a:prstGeom>
          <a:solidFill>
            <a:srgbClr val="EBF5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5138928" y="3566160"/>
            <a:ext cx="1600199" cy="859536"/>
          </a:xfrm>
          <a:prstGeom prst="rect">
            <a:avLst/>
          </a:prstGeom>
          <a:noFill/>
        </p:spPr>
        <p:txBody>
          <a:bodyPr wrap="square" lIns="22860" rIns="22860" tIns="9144" anchor="ctr">
            <a:spAutoFit/>
          </a:bodyPr>
          <a:lstStyle/>
          <a:p>
            <a:pPr algn="ctr">
              <a:defRPr sz="1600" b="1">
                <a:solidFill>
                  <a:srgbClr val="182B40"/>
                </a:solidFill>
                <a:latin typeface="Aptos"/>
              </a:defRPr>
            </a:pPr>
            <a:r>
              <a:t>Blurred area</a:t>
            </a:r>
          </a:p>
        </p:txBody>
      </p:sp>
      <p:cxnSp>
        <p:nvCxnSpPr>
          <p:cNvPr id="17" name="Connector 16"/>
          <p:cNvCxnSpPr/>
          <p:nvPr/>
        </p:nvCxnSpPr>
        <p:spPr>
          <a:xfrm>
            <a:off x="6903720" y="3977639"/>
            <a:ext cx="210311" cy="0"/>
          </a:xfrm>
          <a:prstGeom prst="line">
            <a:avLst/>
          </a:prstGeom>
          <a:ln w="27940">
            <a:solidFill>
              <a:srgbClr val="255E9C"/>
            </a:solidFill>
          </a:ln>
        </p:spPr>
        <p:style>
          <a:lnRef idx="2">
            <a:schemeClr val="accent1"/>
          </a:lnRef>
          <a:fillRef idx="0">
            <a:schemeClr val="accent1"/>
          </a:fillRef>
          <a:effectRef idx="1">
            <a:schemeClr val="accent1"/>
          </a:effectRef>
          <a:fontRef idx="minor">
            <a:schemeClr val="tx1"/>
          </a:fontRef>
        </p:style>
      </p:cxnSp>
      <p:sp>
        <p:nvSpPr>
          <p:cNvPr id="18" name="Chevron 17"/>
          <p:cNvSpPr/>
          <p:nvPr/>
        </p:nvSpPr>
        <p:spPr>
          <a:xfrm>
            <a:off x="7031736" y="3913631"/>
            <a:ext cx="146304" cy="128016"/>
          </a:xfrm>
          <a:prstGeom prst="chevron">
            <a:avLst/>
          </a:prstGeom>
          <a:solidFill>
            <a:srgbClr val="255E9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ounded Rectangle 18"/>
          <p:cNvSpPr/>
          <p:nvPr/>
        </p:nvSpPr>
        <p:spPr>
          <a:xfrm>
            <a:off x="7671815" y="2542032"/>
            <a:ext cx="768096" cy="768096"/>
          </a:xfrm>
          <a:prstGeom prst="roundRect">
            <a:avLst/>
          </a:prstGeom>
          <a:solidFill>
            <a:srgbClr val="117E6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ounded Rectangle 19"/>
          <p:cNvSpPr/>
          <p:nvPr/>
        </p:nvSpPr>
        <p:spPr>
          <a:xfrm>
            <a:off x="7808975" y="2743200"/>
            <a:ext cx="493776" cy="347472"/>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ounded Rectangle 20"/>
          <p:cNvSpPr/>
          <p:nvPr/>
        </p:nvSpPr>
        <p:spPr>
          <a:xfrm>
            <a:off x="7900415" y="2907792"/>
            <a:ext cx="41148" cy="41148"/>
          </a:xfrm>
          <a:prstGeom prst="roundRect">
            <a:avLst/>
          </a:prstGeom>
          <a:solidFill>
            <a:srgbClr val="117E6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ounded Rectangle 21"/>
          <p:cNvSpPr/>
          <p:nvPr/>
        </p:nvSpPr>
        <p:spPr>
          <a:xfrm>
            <a:off x="8019288" y="2907792"/>
            <a:ext cx="41148" cy="41148"/>
          </a:xfrm>
          <a:prstGeom prst="roundRect">
            <a:avLst/>
          </a:prstGeom>
          <a:solidFill>
            <a:srgbClr val="117E6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ounded Rectangle 22"/>
          <p:cNvSpPr/>
          <p:nvPr/>
        </p:nvSpPr>
        <p:spPr>
          <a:xfrm>
            <a:off x="8138159" y="2907792"/>
            <a:ext cx="41148" cy="41148"/>
          </a:xfrm>
          <a:prstGeom prst="roundRect">
            <a:avLst/>
          </a:prstGeom>
          <a:solidFill>
            <a:srgbClr val="117E6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ounded Rectangle 23"/>
          <p:cNvSpPr/>
          <p:nvPr/>
        </p:nvSpPr>
        <p:spPr>
          <a:xfrm>
            <a:off x="7141464" y="3456432"/>
            <a:ext cx="1874519" cy="1060704"/>
          </a:xfrm>
          <a:prstGeom prst="roundRect">
            <a:avLst/>
          </a:prstGeom>
          <a:solidFill>
            <a:srgbClr val="EFF7F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7278624" y="3566160"/>
            <a:ext cx="1600199" cy="859536"/>
          </a:xfrm>
          <a:prstGeom prst="rect">
            <a:avLst/>
          </a:prstGeom>
          <a:noFill/>
        </p:spPr>
        <p:txBody>
          <a:bodyPr wrap="square" lIns="22860" rIns="22860" tIns="9144" anchor="ctr">
            <a:spAutoFit/>
          </a:bodyPr>
          <a:lstStyle/>
          <a:p>
            <a:pPr algn="ctr">
              <a:defRPr sz="1600" b="1">
                <a:solidFill>
                  <a:srgbClr val="182B40"/>
                </a:solidFill>
                <a:latin typeface="Aptos"/>
              </a:defRPr>
            </a:pPr>
            <a:r>
              <a:t>Question mark</a:t>
            </a:r>
          </a:p>
        </p:txBody>
      </p:sp>
      <p:cxnSp>
        <p:nvCxnSpPr>
          <p:cNvPr id="26" name="Connector 25"/>
          <p:cNvCxnSpPr/>
          <p:nvPr/>
        </p:nvCxnSpPr>
        <p:spPr>
          <a:xfrm>
            <a:off x="9043416" y="3977639"/>
            <a:ext cx="210312" cy="0"/>
          </a:xfrm>
          <a:prstGeom prst="line">
            <a:avLst/>
          </a:prstGeom>
          <a:ln w="27940">
            <a:solidFill>
              <a:srgbClr val="255E9C"/>
            </a:solidFill>
          </a:ln>
        </p:spPr>
        <p:style>
          <a:lnRef idx="2">
            <a:schemeClr val="accent1"/>
          </a:lnRef>
          <a:fillRef idx="0">
            <a:schemeClr val="accent1"/>
          </a:fillRef>
          <a:effectRef idx="1">
            <a:schemeClr val="accent1"/>
          </a:effectRef>
          <a:fontRef idx="minor">
            <a:schemeClr val="tx1"/>
          </a:fontRef>
        </p:style>
      </p:cxnSp>
      <p:sp>
        <p:nvSpPr>
          <p:cNvPr id="27" name="Chevron 26"/>
          <p:cNvSpPr/>
          <p:nvPr/>
        </p:nvSpPr>
        <p:spPr>
          <a:xfrm>
            <a:off x="9171432" y="3913631"/>
            <a:ext cx="146304" cy="128016"/>
          </a:xfrm>
          <a:prstGeom prst="chevron">
            <a:avLst/>
          </a:prstGeom>
          <a:solidFill>
            <a:srgbClr val="255E9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ounded Rectangle 27"/>
          <p:cNvSpPr/>
          <p:nvPr/>
        </p:nvSpPr>
        <p:spPr>
          <a:xfrm>
            <a:off x="9811511" y="2542032"/>
            <a:ext cx="768096" cy="768096"/>
          </a:xfrm>
          <a:prstGeom prst="roundRect">
            <a:avLst/>
          </a:prstGeom>
          <a:solidFill>
            <a:srgbClr val="C7682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9976103" y="2788920"/>
            <a:ext cx="128016" cy="128016"/>
          </a:xfrm>
          <a:prstGeom prst="ellipse">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Oval 29"/>
          <p:cNvSpPr/>
          <p:nvPr/>
        </p:nvSpPr>
        <p:spPr>
          <a:xfrm>
            <a:off x="10286999" y="2788920"/>
            <a:ext cx="128016" cy="128016"/>
          </a:xfrm>
          <a:prstGeom prst="ellipse">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Oval 30"/>
          <p:cNvSpPr/>
          <p:nvPr/>
        </p:nvSpPr>
        <p:spPr>
          <a:xfrm>
            <a:off x="10131551" y="3026664"/>
            <a:ext cx="128016" cy="128016"/>
          </a:xfrm>
          <a:prstGeom prst="ellipse">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ounded Rectangle 31"/>
          <p:cNvSpPr/>
          <p:nvPr/>
        </p:nvSpPr>
        <p:spPr>
          <a:xfrm>
            <a:off x="9281159" y="3456432"/>
            <a:ext cx="1874519" cy="1060704"/>
          </a:xfrm>
          <a:prstGeom prst="roundRect">
            <a:avLst/>
          </a:prstGeom>
          <a:solidFill>
            <a:srgbClr val="FFF9E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9418319" y="3566160"/>
            <a:ext cx="1600199" cy="859536"/>
          </a:xfrm>
          <a:prstGeom prst="rect">
            <a:avLst/>
          </a:prstGeom>
          <a:noFill/>
        </p:spPr>
        <p:txBody>
          <a:bodyPr wrap="square" lIns="22860" rIns="22860" tIns="9144" anchor="ctr">
            <a:spAutoFit/>
          </a:bodyPr>
          <a:lstStyle/>
          <a:p>
            <a:pPr algn="ctr">
              <a:defRPr sz="1600" b="1">
                <a:solidFill>
                  <a:srgbClr val="182B40"/>
                </a:solidFill>
                <a:latin typeface="Aptos"/>
              </a:defRPr>
            </a:pPr>
            <a:r>
              <a:t>Second look</a:t>
            </a:r>
          </a:p>
        </p:txBody>
      </p:sp>
      <p:sp>
        <p:nvSpPr>
          <p:cNvPr id="34" name="TextBox 33"/>
          <p:cNvSpPr txBox="1"/>
          <p:nvPr/>
        </p:nvSpPr>
        <p:spPr>
          <a:xfrm>
            <a:off x="5074920" y="4983480"/>
            <a:ext cx="6126480" cy="429768"/>
          </a:xfrm>
          <a:prstGeom prst="rect">
            <a:avLst/>
          </a:prstGeom>
          <a:noFill/>
        </p:spPr>
        <p:txBody>
          <a:bodyPr wrap="square" lIns="22860" rIns="22860" tIns="9144">
            <a:spAutoFit/>
          </a:bodyPr>
          <a:lstStyle/>
          <a:p>
            <a:pPr>
              <a:defRPr sz="1600" b="1">
                <a:solidFill>
                  <a:srgbClr val="117E6E"/>
                </a:solidFill>
                <a:latin typeface="Aptos"/>
              </a:defRPr>
            </a:pPr>
            <a:r>
              <a:t>What matches the technical process?</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
          </a:xfrm>
          <a:prstGeom prst="rect">
            <a:avLst/>
          </a:prstGeom>
          <a:solidFill>
            <a:srgbClr val="117E6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10896"/>
            <a:ext cx="10881360" cy="576072"/>
          </a:xfrm>
          <a:prstGeom prst="rect">
            <a:avLst/>
          </a:prstGeom>
          <a:noFill/>
        </p:spPr>
        <p:txBody>
          <a:bodyPr wrap="square" lIns="22860" rIns="22860" tIns="9144">
            <a:spAutoFit/>
          </a:bodyPr>
          <a:lstStyle/>
          <a:p>
            <a:pPr>
              <a:defRPr sz="2700" b="1">
                <a:solidFill>
                  <a:srgbClr val="182B40"/>
                </a:solidFill>
                <a:latin typeface="Aptos"/>
              </a:defRPr>
            </a:pPr>
            <a:r>
              <a:t>Uncertainty · map the parts</a:t>
            </a:r>
          </a:p>
        </p:txBody>
      </p:sp>
      <p:sp>
        <p:nvSpPr>
          <p:cNvPr id="4" name="Rectangle 3"/>
          <p:cNvSpPr/>
          <p:nvPr/>
        </p:nvSpPr>
        <p:spPr>
          <a:xfrm>
            <a:off x="594360" y="1362456"/>
            <a:ext cx="64008" cy="4544568"/>
          </a:xfrm>
          <a:prstGeom prst="rect">
            <a:avLst/>
          </a:prstGeom>
          <a:solidFill>
            <a:srgbClr val="117E6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41248" y="1371600"/>
            <a:ext cx="3511296" cy="320040"/>
          </a:xfrm>
          <a:prstGeom prst="rect">
            <a:avLst/>
          </a:prstGeom>
          <a:noFill/>
        </p:spPr>
        <p:txBody>
          <a:bodyPr wrap="square" lIns="22860" rIns="22860" tIns="9144">
            <a:spAutoFit/>
          </a:bodyPr>
          <a:lstStyle/>
          <a:p>
            <a:pPr>
              <a:defRPr sz="1100" b="1">
                <a:solidFill>
                  <a:srgbClr val="117E6E"/>
                </a:solidFill>
                <a:latin typeface="Aptos"/>
              </a:defRPr>
            </a:pPr>
            <a:r>
              <a:t>MAPPING  /  WEEK 10</a:t>
            </a:r>
          </a:p>
        </p:txBody>
      </p:sp>
      <p:sp>
        <p:nvSpPr>
          <p:cNvPr id="6" name="TextBox 5"/>
          <p:cNvSpPr txBox="1"/>
          <p:nvPr/>
        </p:nvSpPr>
        <p:spPr>
          <a:xfrm>
            <a:off x="841248" y="1847088"/>
            <a:ext cx="3557016" cy="3986784"/>
          </a:xfrm>
          <a:prstGeom prst="rect">
            <a:avLst/>
          </a:prstGeom>
          <a:noFill/>
        </p:spPr>
        <p:txBody>
          <a:bodyPr wrap="square" lIns="22860" rIns="22860" tIns="9144">
            <a:spAutoFit/>
          </a:bodyPr>
          <a:lstStyle/>
          <a:p>
            <a:pPr>
              <a:defRPr sz="1800" b="0">
                <a:solidFill>
                  <a:srgbClr val="182B40"/>
                </a:solidFill>
                <a:latin typeface="Aptos"/>
              </a:defRPr>
            </a:pPr>
            <a:r>
              <a:t>Match each everyday part to the technical part.</a:t>
            </a:r>
          </a:p>
          <a:p>
            <a:pPr>
              <a:defRPr sz="1800" b="0">
                <a:solidFill>
                  <a:srgbClr val="182B40"/>
                </a:solidFill>
                <a:latin typeface="Aptos"/>
              </a:defRPr>
            </a:pPr>
          </a:p>
          <a:p>
            <a:pPr>
              <a:defRPr sz="1800" b="0">
                <a:solidFill>
                  <a:srgbClr val="182B40"/>
                </a:solidFill>
                <a:latin typeface="Aptos"/>
              </a:defRPr>
            </a:pPr>
            <a:r>
              <a:t>Analogy limit: Uncertainty needs a clear workflow; marking everything uncertain is unhelpful.</a:t>
            </a:r>
          </a:p>
        </p:txBody>
      </p:sp>
      <p:sp>
        <p:nvSpPr>
          <p:cNvPr id="7" name="Rectangle 6"/>
          <p:cNvSpPr/>
          <p:nvPr/>
        </p:nvSpPr>
        <p:spPr>
          <a:xfrm>
            <a:off x="594360" y="6391656"/>
            <a:ext cx="10899648" cy="16459"/>
          </a:xfrm>
          <a:prstGeom prst="rect">
            <a:avLst/>
          </a:prstGeom>
          <a:solidFill>
            <a:srgbClr val="EBF5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21792" y="6510528"/>
            <a:ext cx="10826496" cy="219456"/>
          </a:xfrm>
          <a:prstGeom prst="rect">
            <a:avLst/>
          </a:prstGeom>
          <a:noFill/>
        </p:spPr>
        <p:txBody>
          <a:bodyPr wrap="square" lIns="22860" rIns="22860" tIns="9144">
            <a:spAutoFit/>
          </a:bodyPr>
          <a:lstStyle/>
          <a:p>
            <a:pPr>
              <a:defRPr sz="900" b="0">
                <a:solidFill>
                  <a:srgbClr val="445665"/>
                </a:solidFill>
                <a:latin typeface="Aptos"/>
              </a:defRPr>
            </a:pPr>
            <a:r>
              <a:t>GENERATIVE AI 2027    •    WEEK 10    •    24 / 40</a:t>
            </a:r>
          </a:p>
        </p:txBody>
      </p:sp>
      <p:sp>
        <p:nvSpPr>
          <p:cNvPr id="9" name="Rounded Rectangle 8"/>
          <p:cNvSpPr/>
          <p:nvPr/>
        </p:nvSpPr>
        <p:spPr>
          <a:xfrm>
            <a:off x="4700016" y="1344168"/>
            <a:ext cx="6793992" cy="4727448"/>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5074920" y="1572768"/>
            <a:ext cx="6035040" cy="384048"/>
          </a:xfrm>
          <a:prstGeom prst="rect">
            <a:avLst/>
          </a:prstGeom>
          <a:noFill/>
        </p:spPr>
        <p:txBody>
          <a:bodyPr wrap="square" lIns="22860" rIns="22860" tIns="9144">
            <a:spAutoFit/>
          </a:bodyPr>
          <a:lstStyle/>
          <a:p>
            <a:pPr>
              <a:defRPr sz="1500" b="1">
                <a:solidFill>
                  <a:srgbClr val="255E9C"/>
                </a:solidFill>
                <a:latin typeface="Aptos"/>
              </a:defRPr>
            </a:pPr>
            <a:r>
              <a:t>FAMILIAR SCENE                  TECHNICAL IDEA</a:t>
            </a:r>
          </a:p>
        </p:txBody>
      </p:sp>
      <p:sp>
        <p:nvSpPr>
          <p:cNvPr id="11" name="Rounded Rectangle 10"/>
          <p:cNvSpPr/>
          <p:nvPr/>
        </p:nvSpPr>
        <p:spPr>
          <a:xfrm>
            <a:off x="5029200" y="2084831"/>
            <a:ext cx="2578608" cy="777240"/>
          </a:xfrm>
          <a:prstGeom prst="roundRect">
            <a:avLst/>
          </a:prstGeom>
          <a:solidFill>
            <a:srgbClr val="EBF5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5166360" y="2194560"/>
            <a:ext cx="2304288" cy="576072"/>
          </a:xfrm>
          <a:prstGeom prst="rect">
            <a:avLst/>
          </a:prstGeom>
          <a:noFill/>
        </p:spPr>
        <p:txBody>
          <a:bodyPr wrap="square" lIns="22860" rIns="22860" tIns="9144" anchor="ctr">
            <a:spAutoFit/>
          </a:bodyPr>
          <a:lstStyle/>
          <a:p>
            <a:pPr algn="ctr">
              <a:defRPr sz="1500" b="1">
                <a:solidFill>
                  <a:srgbClr val="182B40"/>
                </a:solidFill>
                <a:latin typeface="Aptos"/>
              </a:defRPr>
            </a:pPr>
            <a:r>
              <a:t>Blurred area</a:t>
            </a:r>
          </a:p>
        </p:txBody>
      </p:sp>
      <p:cxnSp>
        <p:nvCxnSpPr>
          <p:cNvPr id="13" name="Connector 12"/>
          <p:cNvCxnSpPr/>
          <p:nvPr/>
        </p:nvCxnSpPr>
        <p:spPr>
          <a:xfrm>
            <a:off x="7699248" y="2468879"/>
            <a:ext cx="256031" cy="0"/>
          </a:xfrm>
          <a:prstGeom prst="line">
            <a:avLst/>
          </a:prstGeom>
          <a:ln w="27940">
            <a:solidFill>
              <a:srgbClr val="255E9C"/>
            </a:solidFill>
          </a:ln>
        </p:spPr>
        <p:style>
          <a:lnRef idx="2">
            <a:schemeClr val="accent1"/>
          </a:lnRef>
          <a:fillRef idx="0">
            <a:schemeClr val="accent1"/>
          </a:fillRef>
          <a:effectRef idx="1">
            <a:schemeClr val="accent1"/>
          </a:effectRef>
          <a:fontRef idx="minor">
            <a:schemeClr val="tx1"/>
          </a:fontRef>
        </p:style>
      </p:cxnSp>
      <p:sp>
        <p:nvSpPr>
          <p:cNvPr id="14" name="Chevron 13"/>
          <p:cNvSpPr/>
          <p:nvPr/>
        </p:nvSpPr>
        <p:spPr>
          <a:xfrm>
            <a:off x="7872983" y="2404872"/>
            <a:ext cx="146304" cy="128016"/>
          </a:xfrm>
          <a:prstGeom prst="chevron">
            <a:avLst/>
          </a:prstGeom>
          <a:solidFill>
            <a:srgbClr val="255E9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ounded Rectangle 14"/>
          <p:cNvSpPr/>
          <p:nvPr/>
        </p:nvSpPr>
        <p:spPr>
          <a:xfrm>
            <a:off x="8101583" y="2084831"/>
            <a:ext cx="3054096" cy="777240"/>
          </a:xfrm>
          <a:prstGeom prst="roundRect">
            <a:avLst/>
          </a:prstGeom>
          <a:solidFill>
            <a:srgbClr val="EFF7F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238744" y="2194560"/>
            <a:ext cx="2779776" cy="576072"/>
          </a:xfrm>
          <a:prstGeom prst="rect">
            <a:avLst/>
          </a:prstGeom>
          <a:noFill/>
        </p:spPr>
        <p:txBody>
          <a:bodyPr wrap="square" lIns="22860" rIns="22860" tIns="9144" anchor="ctr">
            <a:spAutoFit/>
          </a:bodyPr>
          <a:lstStyle/>
          <a:p>
            <a:pPr algn="ctr">
              <a:defRPr sz="1500" b="1">
                <a:solidFill>
                  <a:srgbClr val="182B40"/>
                </a:solidFill>
                <a:latin typeface="Aptos"/>
              </a:defRPr>
            </a:pPr>
            <a:r>
              <a:t>uncertain observation</a:t>
            </a:r>
          </a:p>
        </p:txBody>
      </p:sp>
      <p:sp>
        <p:nvSpPr>
          <p:cNvPr id="17" name="Rounded Rectangle 16"/>
          <p:cNvSpPr/>
          <p:nvPr/>
        </p:nvSpPr>
        <p:spPr>
          <a:xfrm>
            <a:off x="5029200" y="3136391"/>
            <a:ext cx="2578608" cy="777240"/>
          </a:xfrm>
          <a:prstGeom prst="roundRect">
            <a:avLst/>
          </a:prstGeom>
          <a:solidFill>
            <a:srgbClr val="EBF5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5166360" y="3246120"/>
            <a:ext cx="2304288" cy="576072"/>
          </a:xfrm>
          <a:prstGeom prst="rect">
            <a:avLst/>
          </a:prstGeom>
          <a:noFill/>
        </p:spPr>
        <p:txBody>
          <a:bodyPr wrap="square" lIns="22860" rIns="22860" tIns="9144" anchor="ctr">
            <a:spAutoFit/>
          </a:bodyPr>
          <a:lstStyle/>
          <a:p>
            <a:pPr algn="ctr">
              <a:defRPr sz="1500" b="1">
                <a:solidFill>
                  <a:srgbClr val="182B40"/>
                </a:solidFill>
                <a:latin typeface="Aptos"/>
              </a:defRPr>
            </a:pPr>
            <a:r>
              <a:t>Question mark</a:t>
            </a:r>
          </a:p>
        </p:txBody>
      </p:sp>
      <p:cxnSp>
        <p:nvCxnSpPr>
          <p:cNvPr id="19" name="Connector 18"/>
          <p:cNvCxnSpPr/>
          <p:nvPr/>
        </p:nvCxnSpPr>
        <p:spPr>
          <a:xfrm>
            <a:off x="7699248" y="3520439"/>
            <a:ext cx="256031" cy="0"/>
          </a:xfrm>
          <a:prstGeom prst="line">
            <a:avLst/>
          </a:prstGeom>
          <a:ln w="27940">
            <a:solidFill>
              <a:srgbClr val="255E9C"/>
            </a:solidFill>
          </a:ln>
        </p:spPr>
        <p:style>
          <a:lnRef idx="2">
            <a:schemeClr val="accent1"/>
          </a:lnRef>
          <a:fillRef idx="0">
            <a:schemeClr val="accent1"/>
          </a:fillRef>
          <a:effectRef idx="1">
            <a:schemeClr val="accent1"/>
          </a:effectRef>
          <a:fontRef idx="minor">
            <a:schemeClr val="tx1"/>
          </a:fontRef>
        </p:style>
      </p:cxnSp>
      <p:sp>
        <p:nvSpPr>
          <p:cNvPr id="20" name="Chevron 19"/>
          <p:cNvSpPr/>
          <p:nvPr/>
        </p:nvSpPr>
        <p:spPr>
          <a:xfrm>
            <a:off x="7872983" y="3456432"/>
            <a:ext cx="146304" cy="128016"/>
          </a:xfrm>
          <a:prstGeom prst="chevron">
            <a:avLst/>
          </a:prstGeom>
          <a:solidFill>
            <a:srgbClr val="255E9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ounded Rectangle 20"/>
          <p:cNvSpPr/>
          <p:nvPr/>
        </p:nvSpPr>
        <p:spPr>
          <a:xfrm>
            <a:off x="8101583" y="3136391"/>
            <a:ext cx="3054096" cy="777240"/>
          </a:xfrm>
          <a:prstGeom prst="roundRect">
            <a:avLst/>
          </a:prstGeom>
          <a:solidFill>
            <a:srgbClr val="EFF7F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8238744" y="3246120"/>
            <a:ext cx="2779776" cy="576072"/>
          </a:xfrm>
          <a:prstGeom prst="rect">
            <a:avLst/>
          </a:prstGeom>
          <a:noFill/>
        </p:spPr>
        <p:txBody>
          <a:bodyPr wrap="square" lIns="22860" rIns="22860" tIns="9144" anchor="ctr">
            <a:spAutoFit/>
          </a:bodyPr>
          <a:lstStyle/>
          <a:p>
            <a:pPr algn="ctr">
              <a:defRPr sz="1500" b="1">
                <a:solidFill>
                  <a:srgbClr val="182B40"/>
                </a:solidFill>
                <a:latin typeface="Aptos"/>
              </a:defRPr>
            </a:pPr>
            <a:r>
              <a:t>review flag</a:t>
            </a:r>
          </a:p>
        </p:txBody>
      </p:sp>
      <p:sp>
        <p:nvSpPr>
          <p:cNvPr id="23" name="Rounded Rectangle 22"/>
          <p:cNvSpPr/>
          <p:nvPr/>
        </p:nvSpPr>
        <p:spPr>
          <a:xfrm>
            <a:off x="5029200" y="4187952"/>
            <a:ext cx="2578608" cy="777240"/>
          </a:xfrm>
          <a:prstGeom prst="roundRect">
            <a:avLst/>
          </a:prstGeom>
          <a:solidFill>
            <a:srgbClr val="EBF5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5166360" y="4297680"/>
            <a:ext cx="2304288" cy="576072"/>
          </a:xfrm>
          <a:prstGeom prst="rect">
            <a:avLst/>
          </a:prstGeom>
          <a:noFill/>
        </p:spPr>
        <p:txBody>
          <a:bodyPr wrap="square" lIns="22860" rIns="22860" tIns="9144" anchor="ctr">
            <a:spAutoFit/>
          </a:bodyPr>
          <a:lstStyle/>
          <a:p>
            <a:pPr algn="ctr">
              <a:defRPr sz="1500" b="1">
                <a:solidFill>
                  <a:srgbClr val="182B40"/>
                </a:solidFill>
                <a:latin typeface="Aptos"/>
              </a:defRPr>
            </a:pPr>
            <a:r>
              <a:t>Second look</a:t>
            </a:r>
          </a:p>
        </p:txBody>
      </p:sp>
      <p:cxnSp>
        <p:nvCxnSpPr>
          <p:cNvPr id="25" name="Connector 24"/>
          <p:cNvCxnSpPr/>
          <p:nvPr/>
        </p:nvCxnSpPr>
        <p:spPr>
          <a:xfrm>
            <a:off x="7699248" y="4572000"/>
            <a:ext cx="256031" cy="0"/>
          </a:xfrm>
          <a:prstGeom prst="line">
            <a:avLst/>
          </a:prstGeom>
          <a:ln w="27940">
            <a:solidFill>
              <a:srgbClr val="255E9C"/>
            </a:solidFill>
          </a:ln>
        </p:spPr>
        <p:style>
          <a:lnRef idx="2">
            <a:schemeClr val="accent1"/>
          </a:lnRef>
          <a:fillRef idx="0">
            <a:schemeClr val="accent1"/>
          </a:fillRef>
          <a:effectRef idx="1">
            <a:schemeClr val="accent1"/>
          </a:effectRef>
          <a:fontRef idx="minor">
            <a:schemeClr val="tx1"/>
          </a:fontRef>
        </p:style>
      </p:cxnSp>
      <p:sp>
        <p:nvSpPr>
          <p:cNvPr id="26" name="Chevron 25"/>
          <p:cNvSpPr/>
          <p:nvPr/>
        </p:nvSpPr>
        <p:spPr>
          <a:xfrm>
            <a:off x="7872983" y="4507992"/>
            <a:ext cx="146304" cy="128016"/>
          </a:xfrm>
          <a:prstGeom prst="chevron">
            <a:avLst/>
          </a:prstGeom>
          <a:solidFill>
            <a:srgbClr val="255E9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ounded Rectangle 26"/>
          <p:cNvSpPr/>
          <p:nvPr/>
        </p:nvSpPr>
        <p:spPr>
          <a:xfrm>
            <a:off x="8101583" y="4187952"/>
            <a:ext cx="3054096" cy="777240"/>
          </a:xfrm>
          <a:prstGeom prst="roundRect">
            <a:avLst/>
          </a:prstGeom>
          <a:solidFill>
            <a:srgbClr val="EFF7F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8238744" y="4297680"/>
            <a:ext cx="2779776" cy="576072"/>
          </a:xfrm>
          <a:prstGeom prst="rect">
            <a:avLst/>
          </a:prstGeom>
          <a:noFill/>
        </p:spPr>
        <p:txBody>
          <a:bodyPr wrap="square" lIns="22860" rIns="22860" tIns="9144" anchor="ctr">
            <a:spAutoFit/>
          </a:bodyPr>
          <a:lstStyle/>
          <a:p>
            <a:pPr algn="ctr">
              <a:defRPr sz="1500" b="1">
                <a:solidFill>
                  <a:srgbClr val="182B40"/>
                </a:solidFill>
                <a:latin typeface="Aptos"/>
              </a:defRPr>
            </a:pPr>
            <a:r>
              <a:t>verification</a:t>
            </a:r>
          </a:p>
        </p:txBody>
      </p:sp>
      <p:sp>
        <p:nvSpPr>
          <p:cNvPr id="29" name="TextBox 28"/>
          <p:cNvSpPr txBox="1"/>
          <p:nvPr/>
        </p:nvSpPr>
        <p:spPr>
          <a:xfrm>
            <a:off x="5120640" y="5385816"/>
            <a:ext cx="5943600" cy="411480"/>
          </a:xfrm>
          <a:prstGeom prst="rect">
            <a:avLst/>
          </a:prstGeom>
          <a:noFill/>
        </p:spPr>
        <p:txBody>
          <a:bodyPr wrap="square" lIns="22860" rIns="22860" tIns="9144">
            <a:spAutoFit/>
          </a:bodyPr>
          <a:lstStyle/>
          <a:p>
            <a:pPr>
              <a:defRPr sz="1500" b="1">
                <a:solidFill>
                  <a:srgbClr val="C7682C"/>
                </a:solidFill>
                <a:latin typeface="Aptos"/>
              </a:defRPr>
            </a:pPr>
            <a:r>
              <a:t>The analogy has a limit. Read it on the left.</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
          </a:xfrm>
          <a:prstGeom prst="rect">
            <a:avLst/>
          </a:prstGeom>
          <a:solidFill>
            <a:srgbClr val="255E9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10896"/>
            <a:ext cx="10881360" cy="576072"/>
          </a:xfrm>
          <a:prstGeom prst="rect">
            <a:avLst/>
          </a:prstGeom>
          <a:noFill/>
        </p:spPr>
        <p:txBody>
          <a:bodyPr wrap="square" lIns="22860" rIns="22860" tIns="9144">
            <a:spAutoFit/>
          </a:bodyPr>
          <a:lstStyle/>
          <a:p>
            <a:pPr>
              <a:defRPr sz="2700" b="1">
                <a:solidFill>
                  <a:srgbClr val="182B40"/>
                </a:solidFill>
                <a:latin typeface="Aptos"/>
              </a:defRPr>
            </a:pPr>
            <a:r>
              <a:t>Uncertainty · how it works</a:t>
            </a:r>
          </a:p>
        </p:txBody>
      </p:sp>
      <p:sp>
        <p:nvSpPr>
          <p:cNvPr id="4" name="Rectangle 3"/>
          <p:cNvSpPr/>
          <p:nvPr/>
        </p:nvSpPr>
        <p:spPr>
          <a:xfrm>
            <a:off x="594360" y="1362456"/>
            <a:ext cx="64008" cy="4544568"/>
          </a:xfrm>
          <a:prstGeom prst="rect">
            <a:avLst/>
          </a:prstGeom>
          <a:solidFill>
            <a:srgbClr val="255E9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41248" y="1371600"/>
            <a:ext cx="3511296" cy="320040"/>
          </a:xfrm>
          <a:prstGeom prst="rect">
            <a:avLst/>
          </a:prstGeom>
          <a:noFill/>
        </p:spPr>
        <p:txBody>
          <a:bodyPr wrap="square" lIns="22860" rIns="22860" tIns="9144">
            <a:spAutoFit/>
          </a:bodyPr>
          <a:lstStyle/>
          <a:p>
            <a:pPr>
              <a:defRPr sz="1100" b="1">
                <a:solidFill>
                  <a:srgbClr val="255E9C"/>
                </a:solidFill>
                <a:latin typeface="Aptos"/>
              </a:defRPr>
            </a:pPr>
            <a:r>
              <a:t>MECHANISM  /  WEEK 10</a:t>
            </a:r>
          </a:p>
        </p:txBody>
      </p:sp>
      <p:sp>
        <p:nvSpPr>
          <p:cNvPr id="6" name="TextBox 5"/>
          <p:cNvSpPr txBox="1"/>
          <p:nvPr/>
        </p:nvSpPr>
        <p:spPr>
          <a:xfrm>
            <a:off x="841248" y="1847088"/>
            <a:ext cx="3557016" cy="3986784"/>
          </a:xfrm>
          <a:prstGeom prst="rect">
            <a:avLst/>
          </a:prstGeom>
          <a:noFill/>
        </p:spPr>
        <p:txBody>
          <a:bodyPr wrap="square" lIns="22860" rIns="22860" tIns="9144">
            <a:spAutoFit/>
          </a:bodyPr>
          <a:lstStyle/>
          <a:p>
            <a:pPr>
              <a:defRPr sz="1800" b="0">
                <a:solidFill>
                  <a:srgbClr val="182B40"/>
                </a:solidFill>
                <a:latin typeface="Aptos"/>
              </a:defRPr>
            </a:pPr>
            <a:r>
              <a:t>Mark unreadable or absent fields for review rather than inventing a value.</a:t>
            </a:r>
          </a:p>
          <a:p>
            <a:pPr>
              <a:defRPr sz="1800" b="0">
                <a:solidFill>
                  <a:srgbClr val="182B40"/>
                </a:solidFill>
                <a:latin typeface="Aptos"/>
              </a:defRPr>
            </a:pPr>
          </a:p>
          <a:p>
            <a:pPr>
              <a:defRPr sz="1800" b="0">
                <a:solidFill>
                  <a:srgbClr val="182B40"/>
                </a:solidFill>
                <a:latin typeface="Aptos"/>
              </a:defRPr>
            </a:pPr>
            <a:r>
              <a:t>Trace the arrows from left to right.</a:t>
            </a:r>
          </a:p>
        </p:txBody>
      </p:sp>
      <p:sp>
        <p:nvSpPr>
          <p:cNvPr id="7" name="Rectangle 6"/>
          <p:cNvSpPr/>
          <p:nvPr/>
        </p:nvSpPr>
        <p:spPr>
          <a:xfrm>
            <a:off x="594360" y="6391656"/>
            <a:ext cx="10899648" cy="16459"/>
          </a:xfrm>
          <a:prstGeom prst="rect">
            <a:avLst/>
          </a:prstGeom>
          <a:solidFill>
            <a:srgbClr val="EBF5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21792" y="6510528"/>
            <a:ext cx="10826496" cy="219456"/>
          </a:xfrm>
          <a:prstGeom prst="rect">
            <a:avLst/>
          </a:prstGeom>
          <a:noFill/>
        </p:spPr>
        <p:txBody>
          <a:bodyPr wrap="square" lIns="22860" rIns="22860" tIns="9144">
            <a:spAutoFit/>
          </a:bodyPr>
          <a:lstStyle/>
          <a:p>
            <a:pPr>
              <a:defRPr sz="900" b="0">
                <a:solidFill>
                  <a:srgbClr val="445665"/>
                </a:solidFill>
                <a:latin typeface="Aptos"/>
              </a:defRPr>
            </a:pPr>
            <a:r>
              <a:t>GENERATIVE AI 2027    •    WEEK 10    •    25 / 40</a:t>
            </a:r>
          </a:p>
        </p:txBody>
      </p:sp>
      <p:sp>
        <p:nvSpPr>
          <p:cNvPr id="9" name="Rounded Rectangle 8"/>
          <p:cNvSpPr/>
          <p:nvPr/>
        </p:nvSpPr>
        <p:spPr>
          <a:xfrm>
            <a:off x="4700016" y="1344168"/>
            <a:ext cx="6793992" cy="4727448"/>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5074920" y="1572768"/>
            <a:ext cx="6035040" cy="384048"/>
          </a:xfrm>
          <a:prstGeom prst="rect">
            <a:avLst/>
          </a:prstGeom>
          <a:noFill/>
        </p:spPr>
        <p:txBody>
          <a:bodyPr wrap="square" lIns="22860" rIns="22860" tIns="9144">
            <a:spAutoFit/>
          </a:bodyPr>
          <a:lstStyle/>
          <a:p>
            <a:pPr>
              <a:defRPr sz="1500" b="1">
                <a:solidFill>
                  <a:srgbClr val="255E9C"/>
                </a:solidFill>
                <a:latin typeface="Aptos"/>
              </a:defRPr>
            </a:pPr>
            <a:r>
              <a:t>FOLLOW THE DATA THROUGH EACH ARROW</a:t>
            </a:r>
          </a:p>
        </p:txBody>
      </p:sp>
      <p:sp>
        <p:nvSpPr>
          <p:cNvPr id="11" name="Rounded Rectangle 10"/>
          <p:cNvSpPr/>
          <p:nvPr/>
        </p:nvSpPr>
        <p:spPr>
          <a:xfrm>
            <a:off x="5257800" y="2029968"/>
            <a:ext cx="5532120" cy="603504"/>
          </a:xfrm>
          <a:prstGeom prst="roundRect">
            <a:avLst/>
          </a:prstGeom>
          <a:solidFill>
            <a:srgbClr val="EBF5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5394960" y="2139696"/>
            <a:ext cx="5257800" cy="402336"/>
          </a:xfrm>
          <a:prstGeom prst="rect">
            <a:avLst/>
          </a:prstGeom>
          <a:noFill/>
        </p:spPr>
        <p:txBody>
          <a:bodyPr wrap="square" lIns="22860" rIns="22860" tIns="9144" anchor="ctr">
            <a:spAutoFit/>
          </a:bodyPr>
          <a:lstStyle/>
          <a:p>
            <a:pPr algn="ctr">
              <a:defRPr sz="1500" b="1">
                <a:solidFill>
                  <a:srgbClr val="182B40"/>
                </a:solidFill>
                <a:latin typeface="Aptos"/>
              </a:defRPr>
            </a:pPr>
            <a:r>
              <a:t>Blurred or absent field</a:t>
            </a:r>
          </a:p>
        </p:txBody>
      </p:sp>
      <p:cxnSp>
        <p:nvCxnSpPr>
          <p:cNvPr id="13" name="Connector 12"/>
          <p:cNvCxnSpPr/>
          <p:nvPr/>
        </p:nvCxnSpPr>
        <p:spPr>
          <a:xfrm>
            <a:off x="8019288" y="2651760"/>
            <a:ext cx="0" cy="210312"/>
          </a:xfrm>
          <a:prstGeom prst="line">
            <a:avLst/>
          </a:prstGeom>
          <a:ln w="27940">
            <a:solidFill>
              <a:srgbClr val="255E9C"/>
            </a:solidFill>
          </a:ln>
        </p:spPr>
        <p:style>
          <a:lnRef idx="2">
            <a:schemeClr val="accent1"/>
          </a:lnRef>
          <a:fillRef idx="0">
            <a:schemeClr val="accent1"/>
          </a:fillRef>
          <a:effectRef idx="1">
            <a:schemeClr val="accent1"/>
          </a:effectRef>
          <a:fontRef idx="minor">
            <a:schemeClr val="tx1"/>
          </a:fontRef>
        </p:style>
      </p:cxnSp>
      <p:sp>
        <p:nvSpPr>
          <p:cNvPr id="14" name="Chevron 13"/>
          <p:cNvSpPr/>
          <p:nvPr/>
        </p:nvSpPr>
        <p:spPr>
          <a:xfrm>
            <a:off x="7936992" y="2798064"/>
            <a:ext cx="146304" cy="128016"/>
          </a:xfrm>
          <a:prstGeom prst="chevron">
            <a:avLst/>
          </a:prstGeom>
          <a:solidFill>
            <a:srgbClr val="255E9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ounded Rectangle 14"/>
          <p:cNvSpPr/>
          <p:nvPr/>
        </p:nvSpPr>
        <p:spPr>
          <a:xfrm>
            <a:off x="5257800" y="2898648"/>
            <a:ext cx="5532120" cy="603504"/>
          </a:xfrm>
          <a:prstGeom prst="roundRect">
            <a:avLst/>
          </a:prstGeom>
          <a:solidFill>
            <a:srgbClr val="EFF7F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5394960" y="3008376"/>
            <a:ext cx="5257800" cy="402336"/>
          </a:xfrm>
          <a:prstGeom prst="rect">
            <a:avLst/>
          </a:prstGeom>
          <a:noFill/>
        </p:spPr>
        <p:txBody>
          <a:bodyPr wrap="square" lIns="22860" rIns="22860" tIns="9144" anchor="ctr">
            <a:spAutoFit/>
          </a:bodyPr>
          <a:lstStyle/>
          <a:p>
            <a:pPr algn="ctr">
              <a:defRPr sz="1500" b="1">
                <a:solidFill>
                  <a:srgbClr val="182B40"/>
                </a:solidFill>
                <a:latin typeface="Aptos"/>
              </a:defRPr>
            </a:pPr>
            <a:r>
              <a:t>Mark uncertain</a:t>
            </a:r>
          </a:p>
        </p:txBody>
      </p:sp>
      <p:cxnSp>
        <p:nvCxnSpPr>
          <p:cNvPr id="17" name="Connector 16"/>
          <p:cNvCxnSpPr/>
          <p:nvPr/>
        </p:nvCxnSpPr>
        <p:spPr>
          <a:xfrm>
            <a:off x="8019288" y="3520440"/>
            <a:ext cx="0" cy="210312"/>
          </a:xfrm>
          <a:prstGeom prst="line">
            <a:avLst/>
          </a:prstGeom>
          <a:ln w="27940">
            <a:solidFill>
              <a:srgbClr val="255E9C"/>
            </a:solidFill>
          </a:ln>
        </p:spPr>
        <p:style>
          <a:lnRef idx="2">
            <a:schemeClr val="accent1"/>
          </a:lnRef>
          <a:fillRef idx="0">
            <a:schemeClr val="accent1"/>
          </a:fillRef>
          <a:effectRef idx="1">
            <a:schemeClr val="accent1"/>
          </a:effectRef>
          <a:fontRef idx="minor">
            <a:schemeClr val="tx1"/>
          </a:fontRef>
        </p:style>
      </p:cxnSp>
      <p:sp>
        <p:nvSpPr>
          <p:cNvPr id="18" name="Chevron 17"/>
          <p:cNvSpPr/>
          <p:nvPr/>
        </p:nvSpPr>
        <p:spPr>
          <a:xfrm>
            <a:off x="7936992" y="3666744"/>
            <a:ext cx="146304" cy="128016"/>
          </a:xfrm>
          <a:prstGeom prst="chevron">
            <a:avLst/>
          </a:prstGeom>
          <a:solidFill>
            <a:srgbClr val="255E9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ounded Rectangle 18"/>
          <p:cNvSpPr/>
          <p:nvPr/>
        </p:nvSpPr>
        <p:spPr>
          <a:xfrm>
            <a:off x="5257800" y="3767328"/>
            <a:ext cx="5532120" cy="603504"/>
          </a:xfrm>
          <a:prstGeom prst="roundRect">
            <a:avLst/>
          </a:prstGeom>
          <a:solidFill>
            <a:srgbClr val="EBF5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5394960" y="3877056"/>
            <a:ext cx="5257800" cy="402336"/>
          </a:xfrm>
          <a:prstGeom prst="rect">
            <a:avLst/>
          </a:prstGeom>
          <a:noFill/>
        </p:spPr>
        <p:txBody>
          <a:bodyPr wrap="square" lIns="22860" rIns="22860" tIns="9144" anchor="ctr">
            <a:spAutoFit/>
          </a:bodyPr>
          <a:lstStyle/>
          <a:p>
            <a:pPr algn="ctr">
              <a:defRPr sz="1500" b="1">
                <a:solidFill>
                  <a:srgbClr val="182B40"/>
                </a:solidFill>
                <a:latin typeface="Aptos"/>
              </a:defRPr>
            </a:pPr>
            <a:r>
              <a:t>Send for review</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
          </a:xfrm>
          <a:prstGeom prst="rect">
            <a:avLst/>
          </a:prstGeom>
          <a:solidFill>
            <a:srgbClr val="117E6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10896"/>
            <a:ext cx="10881360" cy="576072"/>
          </a:xfrm>
          <a:prstGeom prst="rect">
            <a:avLst/>
          </a:prstGeom>
          <a:noFill/>
        </p:spPr>
        <p:txBody>
          <a:bodyPr wrap="square" lIns="22860" rIns="22860" tIns="9144">
            <a:spAutoFit/>
          </a:bodyPr>
          <a:lstStyle/>
          <a:p>
            <a:pPr>
              <a:defRPr sz="2700" b="1">
                <a:solidFill>
                  <a:srgbClr val="182B40"/>
                </a:solidFill>
                <a:latin typeface="Aptos"/>
              </a:defRPr>
            </a:pPr>
            <a:r>
              <a:t>Uncertainty · work one case</a:t>
            </a:r>
          </a:p>
        </p:txBody>
      </p:sp>
      <p:sp>
        <p:nvSpPr>
          <p:cNvPr id="4" name="Rectangle 3"/>
          <p:cNvSpPr/>
          <p:nvPr/>
        </p:nvSpPr>
        <p:spPr>
          <a:xfrm>
            <a:off x="594360" y="1362456"/>
            <a:ext cx="64008" cy="4544568"/>
          </a:xfrm>
          <a:prstGeom prst="rect">
            <a:avLst/>
          </a:prstGeom>
          <a:solidFill>
            <a:srgbClr val="117E6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41248" y="1371600"/>
            <a:ext cx="3511296" cy="320040"/>
          </a:xfrm>
          <a:prstGeom prst="rect">
            <a:avLst/>
          </a:prstGeom>
          <a:noFill/>
        </p:spPr>
        <p:txBody>
          <a:bodyPr wrap="square" lIns="22860" rIns="22860" tIns="9144">
            <a:spAutoFit/>
          </a:bodyPr>
          <a:lstStyle/>
          <a:p>
            <a:pPr>
              <a:defRPr sz="1100" b="1">
                <a:solidFill>
                  <a:srgbClr val="117E6E"/>
                </a:solidFill>
                <a:latin typeface="Aptos"/>
              </a:defRPr>
            </a:pPr>
            <a:r>
              <a:t>WORKED  /  WEEK 10</a:t>
            </a:r>
          </a:p>
        </p:txBody>
      </p:sp>
      <p:sp>
        <p:nvSpPr>
          <p:cNvPr id="6" name="TextBox 5"/>
          <p:cNvSpPr txBox="1"/>
          <p:nvPr/>
        </p:nvSpPr>
        <p:spPr>
          <a:xfrm>
            <a:off x="841248" y="1847088"/>
            <a:ext cx="3557016" cy="3986784"/>
          </a:xfrm>
          <a:prstGeom prst="rect">
            <a:avLst/>
          </a:prstGeom>
          <a:noFill/>
        </p:spPr>
        <p:txBody>
          <a:bodyPr wrap="square" lIns="22860" rIns="22860" tIns="9144">
            <a:spAutoFit/>
          </a:bodyPr>
          <a:lstStyle/>
          <a:p>
            <a:pPr>
              <a:defRPr sz="1800" b="0">
                <a:solidFill>
                  <a:srgbClr val="182B40"/>
                </a:solidFill>
                <a:latin typeface="Aptos"/>
              </a:defRPr>
            </a:pPr>
            <a:r>
              <a:t>If INV-08/INV-03 cannot be distinguished, store an uncertain ID and request review.</a:t>
            </a:r>
          </a:p>
          <a:p>
            <a:pPr>
              <a:defRPr sz="1800" b="0">
                <a:solidFill>
                  <a:srgbClr val="182B40"/>
                </a:solidFill>
                <a:latin typeface="Aptos"/>
              </a:defRPr>
            </a:pPr>
          </a:p>
          <a:p>
            <a:pPr>
              <a:defRPr sz="1800" b="0">
                <a:solidFill>
                  <a:srgbClr val="182B40"/>
                </a:solidFill>
                <a:latin typeface="Aptos"/>
              </a:defRPr>
            </a:pPr>
            <a:r>
              <a:t>Point to the evidence before giving your conclusion.</a:t>
            </a:r>
          </a:p>
        </p:txBody>
      </p:sp>
      <p:sp>
        <p:nvSpPr>
          <p:cNvPr id="7" name="Rectangle 6"/>
          <p:cNvSpPr/>
          <p:nvPr/>
        </p:nvSpPr>
        <p:spPr>
          <a:xfrm>
            <a:off x="594360" y="6391656"/>
            <a:ext cx="10899648" cy="16459"/>
          </a:xfrm>
          <a:prstGeom prst="rect">
            <a:avLst/>
          </a:prstGeom>
          <a:solidFill>
            <a:srgbClr val="EBF5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21792" y="6510528"/>
            <a:ext cx="10826496" cy="219456"/>
          </a:xfrm>
          <a:prstGeom prst="rect">
            <a:avLst/>
          </a:prstGeom>
          <a:noFill/>
        </p:spPr>
        <p:txBody>
          <a:bodyPr wrap="square" lIns="22860" rIns="22860" tIns="9144">
            <a:spAutoFit/>
          </a:bodyPr>
          <a:lstStyle/>
          <a:p>
            <a:pPr>
              <a:defRPr sz="900" b="0">
                <a:solidFill>
                  <a:srgbClr val="445665"/>
                </a:solidFill>
                <a:latin typeface="Aptos"/>
              </a:defRPr>
            </a:pPr>
            <a:r>
              <a:t>GENERATIVE AI 2027    •    WEEK 10    •    26 / 40</a:t>
            </a:r>
          </a:p>
        </p:txBody>
      </p:sp>
      <p:sp>
        <p:nvSpPr>
          <p:cNvPr id="9" name="Rounded Rectangle 8"/>
          <p:cNvSpPr/>
          <p:nvPr/>
        </p:nvSpPr>
        <p:spPr>
          <a:xfrm>
            <a:off x="4700016" y="1344168"/>
            <a:ext cx="6793992" cy="4727448"/>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5102352" y="1719072"/>
            <a:ext cx="5760720" cy="283464"/>
          </a:xfrm>
          <a:prstGeom prst="rect">
            <a:avLst/>
          </a:prstGeom>
          <a:noFill/>
        </p:spPr>
        <p:txBody>
          <a:bodyPr wrap="square" lIns="22860" rIns="22860" tIns="9144">
            <a:spAutoFit/>
          </a:bodyPr>
          <a:lstStyle/>
          <a:p>
            <a:pPr>
              <a:defRPr sz="1300" b="1">
                <a:solidFill>
                  <a:srgbClr val="255E9C"/>
                </a:solidFill>
                <a:latin typeface="Aptos"/>
              </a:defRPr>
            </a:pPr>
            <a:r>
              <a:t>GIVEN</a:t>
            </a:r>
          </a:p>
        </p:txBody>
      </p:sp>
      <p:sp>
        <p:nvSpPr>
          <p:cNvPr id="11" name="Rounded Rectangle 10"/>
          <p:cNvSpPr/>
          <p:nvPr/>
        </p:nvSpPr>
        <p:spPr>
          <a:xfrm>
            <a:off x="5065776" y="2048255"/>
            <a:ext cx="6035040" cy="950976"/>
          </a:xfrm>
          <a:prstGeom prst="roundRect">
            <a:avLst/>
          </a:prstGeom>
          <a:solidFill>
            <a:srgbClr val="EBF5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5202936" y="2157984"/>
            <a:ext cx="5760720" cy="749808"/>
          </a:xfrm>
          <a:prstGeom prst="rect">
            <a:avLst/>
          </a:prstGeom>
          <a:noFill/>
        </p:spPr>
        <p:txBody>
          <a:bodyPr wrap="square" lIns="22860" rIns="22860" tIns="9144" anchor="ctr">
            <a:spAutoFit/>
          </a:bodyPr>
          <a:lstStyle/>
          <a:p>
            <a:pPr algn="ctr">
              <a:defRPr sz="1500" b="1">
                <a:solidFill>
                  <a:srgbClr val="182B40"/>
                </a:solidFill>
                <a:latin typeface="Aptos"/>
              </a:defRPr>
            </a:pPr>
            <a:r>
              <a:t>If INV-08/INV-03 cannot be distinguished, store an uncertain ID and request review.</a:t>
            </a:r>
          </a:p>
        </p:txBody>
      </p:sp>
      <p:sp>
        <p:nvSpPr>
          <p:cNvPr id="13" name="TextBox 12"/>
          <p:cNvSpPr txBox="1"/>
          <p:nvPr/>
        </p:nvSpPr>
        <p:spPr>
          <a:xfrm>
            <a:off x="5102352" y="3072384"/>
            <a:ext cx="5760720" cy="283464"/>
          </a:xfrm>
          <a:prstGeom prst="rect">
            <a:avLst/>
          </a:prstGeom>
          <a:noFill/>
        </p:spPr>
        <p:txBody>
          <a:bodyPr wrap="square" lIns="22860" rIns="22860" tIns="9144">
            <a:spAutoFit/>
          </a:bodyPr>
          <a:lstStyle/>
          <a:p>
            <a:pPr>
              <a:defRPr sz="1300" b="1">
                <a:solidFill>
                  <a:srgbClr val="C7682C"/>
                </a:solidFill>
                <a:latin typeface="Aptos"/>
              </a:defRPr>
            </a:pPr>
            <a:r>
              <a:t>QUESTION</a:t>
            </a:r>
          </a:p>
        </p:txBody>
      </p:sp>
      <p:sp>
        <p:nvSpPr>
          <p:cNvPr id="14" name="Rounded Rectangle 13"/>
          <p:cNvSpPr/>
          <p:nvPr/>
        </p:nvSpPr>
        <p:spPr>
          <a:xfrm>
            <a:off x="5065776" y="3401568"/>
            <a:ext cx="6035040" cy="950976"/>
          </a:xfrm>
          <a:prstGeom prst="roundRect">
            <a:avLst/>
          </a:prstGeom>
          <a:solidFill>
            <a:srgbClr val="FFF9E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5202936" y="3511296"/>
            <a:ext cx="5760720" cy="749808"/>
          </a:xfrm>
          <a:prstGeom prst="rect">
            <a:avLst/>
          </a:prstGeom>
          <a:noFill/>
        </p:spPr>
        <p:txBody>
          <a:bodyPr wrap="square" lIns="22860" rIns="22860" tIns="9144" anchor="ctr">
            <a:spAutoFit/>
          </a:bodyPr>
          <a:lstStyle/>
          <a:p>
            <a:pPr algn="ctr">
              <a:defRPr sz="1500" b="1">
                <a:solidFill>
                  <a:srgbClr val="182B40"/>
                </a:solidFill>
                <a:latin typeface="Aptos"/>
              </a:defRPr>
            </a:pPr>
            <a:r>
              <a:t>What would be unsafe to store?</a:t>
            </a:r>
          </a:p>
        </p:txBody>
      </p:sp>
      <p:sp>
        <p:nvSpPr>
          <p:cNvPr id="16" name="TextBox 15"/>
          <p:cNvSpPr txBox="1"/>
          <p:nvPr/>
        </p:nvSpPr>
        <p:spPr>
          <a:xfrm>
            <a:off x="5102352" y="4425696"/>
            <a:ext cx="5760720" cy="283464"/>
          </a:xfrm>
          <a:prstGeom prst="rect">
            <a:avLst/>
          </a:prstGeom>
          <a:noFill/>
        </p:spPr>
        <p:txBody>
          <a:bodyPr wrap="square" lIns="22860" rIns="22860" tIns="9144">
            <a:spAutoFit/>
          </a:bodyPr>
          <a:lstStyle/>
          <a:p>
            <a:pPr>
              <a:defRPr sz="1300" b="1">
                <a:solidFill>
                  <a:srgbClr val="117E6E"/>
                </a:solidFill>
                <a:latin typeface="Aptos"/>
              </a:defRPr>
            </a:pPr>
            <a:r>
              <a:t>SUPPORTED ANSWER</a:t>
            </a:r>
          </a:p>
        </p:txBody>
      </p:sp>
      <p:sp>
        <p:nvSpPr>
          <p:cNvPr id="17" name="Rounded Rectangle 16"/>
          <p:cNvSpPr/>
          <p:nvPr/>
        </p:nvSpPr>
        <p:spPr>
          <a:xfrm>
            <a:off x="5065776" y="4754880"/>
            <a:ext cx="6035040" cy="950976"/>
          </a:xfrm>
          <a:prstGeom prst="roundRect">
            <a:avLst/>
          </a:prstGeom>
          <a:solidFill>
            <a:srgbClr val="EFF7F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5202936" y="4864608"/>
            <a:ext cx="5760720" cy="749808"/>
          </a:xfrm>
          <a:prstGeom prst="rect">
            <a:avLst/>
          </a:prstGeom>
          <a:noFill/>
        </p:spPr>
        <p:txBody>
          <a:bodyPr wrap="square" lIns="22860" rIns="22860" tIns="9144" anchor="ctr">
            <a:spAutoFit/>
          </a:bodyPr>
          <a:lstStyle/>
          <a:p>
            <a:pPr algn="ctr">
              <a:defRPr sz="1500" b="1">
                <a:solidFill>
                  <a:srgbClr val="182B40"/>
                </a:solidFill>
                <a:latin typeface="Aptos"/>
              </a:defRPr>
            </a:pPr>
            <a:r>
              <a:t>A guessed invoice ID presented as certain.</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
          </a:xfrm>
          <a:prstGeom prst="rect">
            <a:avLst/>
          </a:prstGeom>
          <a:solidFill>
            <a:srgbClr val="117E6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10896"/>
            <a:ext cx="10881360" cy="576072"/>
          </a:xfrm>
          <a:prstGeom prst="rect">
            <a:avLst/>
          </a:prstGeom>
          <a:noFill/>
        </p:spPr>
        <p:txBody>
          <a:bodyPr wrap="square" lIns="22860" rIns="22860" tIns="9144">
            <a:spAutoFit/>
          </a:bodyPr>
          <a:lstStyle/>
          <a:p>
            <a:pPr>
              <a:defRPr sz="2700" b="1">
                <a:solidFill>
                  <a:srgbClr val="182B40"/>
                </a:solidFill>
                <a:latin typeface="Aptos"/>
              </a:defRPr>
            </a:pPr>
            <a:r>
              <a:t>Uncertainty · answer and explain</a:t>
            </a:r>
          </a:p>
        </p:txBody>
      </p:sp>
      <p:sp>
        <p:nvSpPr>
          <p:cNvPr id="4" name="Rectangle 3"/>
          <p:cNvSpPr/>
          <p:nvPr/>
        </p:nvSpPr>
        <p:spPr>
          <a:xfrm>
            <a:off x="594360" y="1362456"/>
            <a:ext cx="64008" cy="4544568"/>
          </a:xfrm>
          <a:prstGeom prst="rect">
            <a:avLst/>
          </a:prstGeom>
          <a:solidFill>
            <a:srgbClr val="117E6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41248" y="1371600"/>
            <a:ext cx="3511296" cy="320040"/>
          </a:xfrm>
          <a:prstGeom prst="rect">
            <a:avLst/>
          </a:prstGeom>
          <a:noFill/>
        </p:spPr>
        <p:txBody>
          <a:bodyPr wrap="square" lIns="22860" rIns="22860" tIns="9144">
            <a:spAutoFit/>
          </a:bodyPr>
          <a:lstStyle/>
          <a:p>
            <a:pPr>
              <a:defRPr sz="1100" b="1">
                <a:solidFill>
                  <a:srgbClr val="117E6E"/>
                </a:solidFill>
                <a:latin typeface="Aptos"/>
              </a:defRPr>
            </a:pPr>
            <a:r>
              <a:t>REVEAL  /  WEEK 10</a:t>
            </a:r>
          </a:p>
        </p:txBody>
      </p:sp>
      <p:sp>
        <p:nvSpPr>
          <p:cNvPr id="6" name="TextBox 5"/>
          <p:cNvSpPr txBox="1"/>
          <p:nvPr/>
        </p:nvSpPr>
        <p:spPr>
          <a:xfrm>
            <a:off x="841248" y="1847088"/>
            <a:ext cx="3557016" cy="3986784"/>
          </a:xfrm>
          <a:prstGeom prst="rect">
            <a:avLst/>
          </a:prstGeom>
          <a:noFill/>
        </p:spPr>
        <p:txBody>
          <a:bodyPr wrap="square" lIns="22860" rIns="22860" tIns="9144">
            <a:spAutoFit/>
          </a:bodyPr>
          <a:lstStyle/>
          <a:p>
            <a:pPr>
              <a:defRPr sz="1800" b="0">
                <a:solidFill>
                  <a:srgbClr val="182B40"/>
                </a:solidFill>
                <a:latin typeface="Aptos"/>
              </a:defRPr>
            </a:pPr>
            <a:r>
              <a:t>A guessed invoice ID presented as certain.</a:t>
            </a:r>
          </a:p>
          <a:p>
            <a:pPr>
              <a:defRPr sz="1800" b="0">
                <a:solidFill>
                  <a:srgbClr val="182B40"/>
                </a:solidFill>
                <a:latin typeface="Aptos"/>
              </a:defRPr>
            </a:pPr>
          </a:p>
          <a:p>
            <a:pPr>
              <a:defRPr sz="1800" b="0">
                <a:solidFill>
                  <a:srgbClr val="182B40"/>
                </a:solidFill>
                <a:latin typeface="Aptos"/>
              </a:defRPr>
            </a:pPr>
            <a:r>
              <a:t>Tempting mistake: A plausible guess should be saved silently.</a:t>
            </a:r>
          </a:p>
        </p:txBody>
      </p:sp>
      <p:sp>
        <p:nvSpPr>
          <p:cNvPr id="7" name="Rectangle 6"/>
          <p:cNvSpPr/>
          <p:nvPr/>
        </p:nvSpPr>
        <p:spPr>
          <a:xfrm>
            <a:off x="594360" y="6391656"/>
            <a:ext cx="10899648" cy="16459"/>
          </a:xfrm>
          <a:prstGeom prst="rect">
            <a:avLst/>
          </a:prstGeom>
          <a:solidFill>
            <a:srgbClr val="EBF5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21792" y="6510528"/>
            <a:ext cx="10826496" cy="219456"/>
          </a:xfrm>
          <a:prstGeom prst="rect">
            <a:avLst/>
          </a:prstGeom>
          <a:noFill/>
        </p:spPr>
        <p:txBody>
          <a:bodyPr wrap="square" lIns="22860" rIns="22860" tIns="9144">
            <a:spAutoFit/>
          </a:bodyPr>
          <a:lstStyle/>
          <a:p>
            <a:pPr>
              <a:defRPr sz="900" b="0">
                <a:solidFill>
                  <a:srgbClr val="445665"/>
                </a:solidFill>
                <a:latin typeface="Aptos"/>
              </a:defRPr>
            </a:pPr>
            <a:r>
              <a:t>GENERATIVE AI 2027    •    WEEK 10    •    27 / 40</a:t>
            </a:r>
          </a:p>
        </p:txBody>
      </p:sp>
      <p:sp>
        <p:nvSpPr>
          <p:cNvPr id="9" name="Rounded Rectangle 8"/>
          <p:cNvSpPr/>
          <p:nvPr/>
        </p:nvSpPr>
        <p:spPr>
          <a:xfrm>
            <a:off x="4700016" y="1344168"/>
            <a:ext cx="6793992" cy="4727448"/>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5074920" y="1581912"/>
            <a:ext cx="5852160" cy="365760"/>
          </a:xfrm>
          <a:prstGeom prst="rect">
            <a:avLst/>
          </a:prstGeom>
          <a:noFill/>
        </p:spPr>
        <p:txBody>
          <a:bodyPr wrap="square" lIns="22860" rIns="22860" tIns="9144">
            <a:spAutoFit/>
          </a:bodyPr>
          <a:lstStyle/>
          <a:p>
            <a:pPr>
              <a:defRPr sz="1500" b="1">
                <a:solidFill>
                  <a:srgbClr val="255E9C"/>
                </a:solidFill>
                <a:latin typeface="Aptos"/>
              </a:defRPr>
            </a:pPr>
            <a:r>
              <a:t>TEST THE CLAIM AGAINST THE EVIDENCE</a:t>
            </a:r>
          </a:p>
        </p:txBody>
      </p:sp>
      <p:sp>
        <p:nvSpPr>
          <p:cNvPr id="11" name="TextBox 10"/>
          <p:cNvSpPr txBox="1"/>
          <p:nvPr/>
        </p:nvSpPr>
        <p:spPr>
          <a:xfrm>
            <a:off x="5084064" y="2066543"/>
            <a:ext cx="5669280" cy="320040"/>
          </a:xfrm>
          <a:prstGeom prst="rect">
            <a:avLst/>
          </a:prstGeom>
          <a:noFill/>
        </p:spPr>
        <p:txBody>
          <a:bodyPr wrap="square" lIns="22860" rIns="22860" tIns="9144">
            <a:spAutoFit/>
          </a:bodyPr>
          <a:lstStyle/>
          <a:p>
            <a:pPr>
              <a:defRPr sz="1300" b="1">
                <a:solidFill>
                  <a:srgbClr val="B74945"/>
                </a:solidFill>
                <a:latin typeface="Aptos"/>
              </a:defRPr>
            </a:pPr>
            <a:r>
              <a:t>TEMPTING CLAIM</a:t>
            </a:r>
          </a:p>
        </p:txBody>
      </p:sp>
      <p:sp>
        <p:nvSpPr>
          <p:cNvPr id="12" name="Rounded Rectangle 11"/>
          <p:cNvSpPr/>
          <p:nvPr/>
        </p:nvSpPr>
        <p:spPr>
          <a:xfrm>
            <a:off x="5047488" y="2441448"/>
            <a:ext cx="6126480" cy="1014984"/>
          </a:xfrm>
          <a:prstGeom prst="roundRect">
            <a:avLst/>
          </a:prstGeom>
          <a:solidFill>
            <a:srgbClr val="FDEF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5184648" y="2551176"/>
            <a:ext cx="5852160" cy="813816"/>
          </a:xfrm>
          <a:prstGeom prst="rect">
            <a:avLst/>
          </a:prstGeom>
          <a:noFill/>
        </p:spPr>
        <p:txBody>
          <a:bodyPr wrap="square" lIns="22860" rIns="22860" tIns="9144" anchor="ctr">
            <a:spAutoFit/>
          </a:bodyPr>
          <a:lstStyle/>
          <a:p>
            <a:pPr algn="ctr">
              <a:defRPr sz="1500" b="1">
                <a:solidFill>
                  <a:srgbClr val="182B40"/>
                </a:solidFill>
                <a:latin typeface="Aptos"/>
              </a:defRPr>
            </a:pPr>
            <a:r>
              <a:t>A plausible guess should be saved silently.</a:t>
            </a:r>
          </a:p>
        </p:txBody>
      </p:sp>
      <p:sp>
        <p:nvSpPr>
          <p:cNvPr id="14" name="TextBox 13"/>
          <p:cNvSpPr txBox="1"/>
          <p:nvPr/>
        </p:nvSpPr>
        <p:spPr>
          <a:xfrm>
            <a:off x="5084064" y="3666744"/>
            <a:ext cx="5669280" cy="320040"/>
          </a:xfrm>
          <a:prstGeom prst="rect">
            <a:avLst/>
          </a:prstGeom>
          <a:noFill/>
        </p:spPr>
        <p:txBody>
          <a:bodyPr wrap="square" lIns="22860" rIns="22860" tIns="9144">
            <a:spAutoFit/>
          </a:bodyPr>
          <a:lstStyle/>
          <a:p>
            <a:pPr>
              <a:defRPr sz="1300" b="1">
                <a:solidFill>
                  <a:srgbClr val="117E6E"/>
                </a:solidFill>
                <a:latin typeface="Aptos"/>
              </a:defRPr>
            </a:pPr>
            <a:r>
              <a:t>SUPPORTED EXPLANATION</a:t>
            </a:r>
          </a:p>
        </p:txBody>
      </p:sp>
      <p:sp>
        <p:nvSpPr>
          <p:cNvPr id="15" name="Rounded Rectangle 14"/>
          <p:cNvSpPr/>
          <p:nvPr/>
        </p:nvSpPr>
        <p:spPr>
          <a:xfrm>
            <a:off x="5047488" y="4050791"/>
            <a:ext cx="6126480" cy="1005840"/>
          </a:xfrm>
          <a:prstGeom prst="roundRect">
            <a:avLst/>
          </a:prstGeom>
          <a:solidFill>
            <a:srgbClr val="EFF7F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5184648" y="4160520"/>
            <a:ext cx="5852160" cy="804672"/>
          </a:xfrm>
          <a:prstGeom prst="rect">
            <a:avLst/>
          </a:prstGeom>
          <a:noFill/>
        </p:spPr>
        <p:txBody>
          <a:bodyPr wrap="square" lIns="22860" rIns="22860" tIns="9144" anchor="ctr">
            <a:spAutoFit/>
          </a:bodyPr>
          <a:lstStyle/>
          <a:p>
            <a:pPr algn="ctr">
              <a:defRPr sz="1500" b="1">
                <a:solidFill>
                  <a:srgbClr val="182B40"/>
                </a:solidFill>
                <a:latin typeface="Aptos"/>
              </a:defRPr>
            </a:pPr>
            <a:r>
              <a:t>A guessed invoice ID presented as certain.</a:t>
            </a:r>
          </a:p>
        </p:txBody>
      </p:sp>
      <p:sp>
        <p:nvSpPr>
          <p:cNvPr id="17" name="TextBox 16"/>
          <p:cNvSpPr txBox="1"/>
          <p:nvPr/>
        </p:nvSpPr>
        <p:spPr>
          <a:xfrm>
            <a:off x="5120640" y="5321808"/>
            <a:ext cx="5897880" cy="566928"/>
          </a:xfrm>
          <a:prstGeom prst="rect">
            <a:avLst/>
          </a:prstGeom>
          <a:noFill/>
        </p:spPr>
        <p:txBody>
          <a:bodyPr wrap="square" lIns="22860" rIns="22860" tIns="9144">
            <a:spAutoFit/>
          </a:bodyPr>
          <a:lstStyle/>
          <a:p>
            <a:pPr>
              <a:defRPr sz="1300" b="0">
                <a:solidFill>
                  <a:srgbClr val="445665"/>
                </a:solidFill>
                <a:latin typeface="Aptos"/>
              </a:defRPr>
            </a:pPr>
            <a:r>
              <a:t>Uncertainty needs a clear workflow; marking everything uncertain is unhelpful.</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
          </a:xfrm>
          <a:prstGeom prst="rect">
            <a:avLst/>
          </a:prstGeom>
          <a:solidFill>
            <a:srgbClr val="117E6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10896"/>
            <a:ext cx="10881360" cy="576072"/>
          </a:xfrm>
          <a:prstGeom prst="rect">
            <a:avLst/>
          </a:prstGeom>
          <a:noFill/>
        </p:spPr>
        <p:txBody>
          <a:bodyPr wrap="square" lIns="22860" rIns="22860" tIns="9144">
            <a:spAutoFit/>
          </a:bodyPr>
          <a:lstStyle/>
          <a:p>
            <a:pPr>
              <a:defRPr sz="2700" b="1">
                <a:solidFill>
                  <a:srgbClr val="182B40"/>
                </a:solidFill>
                <a:latin typeface="Aptos"/>
              </a:defRPr>
            </a:pPr>
            <a:r>
              <a:t>Evidence trail: input → result</a:t>
            </a:r>
          </a:p>
        </p:txBody>
      </p:sp>
      <p:sp>
        <p:nvSpPr>
          <p:cNvPr id="4" name="Rectangle 3"/>
          <p:cNvSpPr/>
          <p:nvPr/>
        </p:nvSpPr>
        <p:spPr>
          <a:xfrm>
            <a:off x="594360" y="1362456"/>
            <a:ext cx="64008" cy="4544568"/>
          </a:xfrm>
          <a:prstGeom prst="rect">
            <a:avLst/>
          </a:prstGeom>
          <a:solidFill>
            <a:srgbClr val="117E6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41248" y="1371600"/>
            <a:ext cx="3511296" cy="320040"/>
          </a:xfrm>
          <a:prstGeom prst="rect">
            <a:avLst/>
          </a:prstGeom>
          <a:noFill/>
        </p:spPr>
        <p:txBody>
          <a:bodyPr wrap="square" lIns="22860" rIns="22860" tIns="9144">
            <a:spAutoFit/>
          </a:bodyPr>
          <a:lstStyle/>
          <a:p>
            <a:pPr>
              <a:defRPr sz="1100" b="1">
                <a:solidFill>
                  <a:srgbClr val="117E6E"/>
                </a:solidFill>
                <a:latin typeface="Aptos"/>
              </a:defRPr>
            </a:pPr>
            <a:r>
              <a:t>WORKED  /  WEEK 10</a:t>
            </a:r>
          </a:p>
        </p:txBody>
      </p:sp>
      <p:sp>
        <p:nvSpPr>
          <p:cNvPr id="6" name="TextBox 5"/>
          <p:cNvSpPr txBox="1"/>
          <p:nvPr/>
        </p:nvSpPr>
        <p:spPr>
          <a:xfrm>
            <a:off x="841248" y="1847088"/>
            <a:ext cx="3557016" cy="3986784"/>
          </a:xfrm>
          <a:prstGeom prst="rect">
            <a:avLst/>
          </a:prstGeom>
          <a:noFill/>
        </p:spPr>
        <p:txBody>
          <a:bodyPr wrap="square" lIns="22860" rIns="22860" tIns="9144">
            <a:spAutoFit/>
          </a:bodyPr>
          <a:lstStyle/>
          <a:p>
            <a:pPr>
              <a:defRPr sz="1800" b="0">
                <a:solidFill>
                  <a:srgbClr val="182B40"/>
                </a:solidFill>
                <a:latin typeface="Aptos"/>
              </a:defRPr>
            </a:pPr>
            <a:r>
              <a:t>Calculated total is €45.</a:t>
            </a:r>
          </a:p>
          <a:p>
            <a:pPr>
              <a:defRPr sz="1800" b="0">
                <a:solidFill>
                  <a:srgbClr val="182B40"/>
                </a:solidFill>
                <a:latin typeface="Aptos"/>
              </a:defRPr>
            </a:pPr>
          </a:p>
          <a:p>
            <a:pPr>
              <a:defRPr sz="1800" b="0">
                <a:solidFill>
                  <a:srgbClr val="182B40"/>
                </a:solidFill>
                <a:latin typeface="Aptos"/>
              </a:defRPr>
            </a:pPr>
            <a:r>
              <a:t>Listed total of €54 triggers review, even if transcription is syntactically valid.</a:t>
            </a:r>
          </a:p>
        </p:txBody>
      </p:sp>
      <p:sp>
        <p:nvSpPr>
          <p:cNvPr id="7" name="Rectangle 6"/>
          <p:cNvSpPr/>
          <p:nvPr/>
        </p:nvSpPr>
        <p:spPr>
          <a:xfrm>
            <a:off x="594360" y="6391656"/>
            <a:ext cx="10899648" cy="16459"/>
          </a:xfrm>
          <a:prstGeom prst="rect">
            <a:avLst/>
          </a:prstGeom>
          <a:solidFill>
            <a:srgbClr val="EBF5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21792" y="6510528"/>
            <a:ext cx="10826496" cy="219456"/>
          </a:xfrm>
          <a:prstGeom prst="rect">
            <a:avLst/>
          </a:prstGeom>
          <a:noFill/>
        </p:spPr>
        <p:txBody>
          <a:bodyPr wrap="square" lIns="22860" rIns="22860" tIns="9144">
            <a:spAutoFit/>
          </a:bodyPr>
          <a:lstStyle/>
          <a:p>
            <a:pPr>
              <a:defRPr sz="900" b="0">
                <a:solidFill>
                  <a:srgbClr val="445665"/>
                </a:solidFill>
                <a:latin typeface="Aptos"/>
              </a:defRPr>
            </a:pPr>
            <a:r>
              <a:t>GENERATIVE AI 2027    •    WEEK 10    •    28 / 40</a:t>
            </a:r>
          </a:p>
        </p:txBody>
      </p:sp>
      <p:sp>
        <p:nvSpPr>
          <p:cNvPr id="9" name="Rounded Rectangle 8"/>
          <p:cNvSpPr/>
          <p:nvPr/>
        </p:nvSpPr>
        <p:spPr>
          <a:xfrm>
            <a:off x="4700016" y="1344168"/>
            <a:ext cx="6793992" cy="4727448"/>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5102352" y="1719072"/>
            <a:ext cx="5760720" cy="283464"/>
          </a:xfrm>
          <a:prstGeom prst="rect">
            <a:avLst/>
          </a:prstGeom>
          <a:noFill/>
        </p:spPr>
        <p:txBody>
          <a:bodyPr wrap="square" lIns="22860" rIns="22860" tIns="9144">
            <a:spAutoFit/>
          </a:bodyPr>
          <a:lstStyle/>
          <a:p>
            <a:pPr>
              <a:defRPr sz="1300" b="1">
                <a:solidFill>
                  <a:srgbClr val="255E9C"/>
                </a:solidFill>
                <a:latin typeface="Aptos"/>
              </a:defRPr>
            </a:pPr>
            <a:r>
              <a:t>GIVEN</a:t>
            </a:r>
          </a:p>
        </p:txBody>
      </p:sp>
      <p:sp>
        <p:nvSpPr>
          <p:cNvPr id="11" name="Rounded Rectangle 10"/>
          <p:cNvSpPr/>
          <p:nvPr/>
        </p:nvSpPr>
        <p:spPr>
          <a:xfrm>
            <a:off x="5065776" y="2048255"/>
            <a:ext cx="6035040" cy="950976"/>
          </a:xfrm>
          <a:prstGeom prst="roundRect">
            <a:avLst/>
          </a:prstGeom>
          <a:solidFill>
            <a:srgbClr val="EBF5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5202936" y="2157984"/>
            <a:ext cx="5760720" cy="749808"/>
          </a:xfrm>
          <a:prstGeom prst="rect">
            <a:avLst/>
          </a:prstGeom>
          <a:noFill/>
        </p:spPr>
        <p:txBody>
          <a:bodyPr wrap="square" lIns="22860" rIns="22860" tIns="9144" anchor="ctr">
            <a:spAutoFit/>
          </a:bodyPr>
          <a:lstStyle/>
          <a:p>
            <a:pPr algn="ctr">
              <a:defRPr sz="1500" b="1">
                <a:solidFill>
                  <a:srgbClr val="182B40"/>
                </a:solidFill>
                <a:latin typeface="Aptos"/>
              </a:defRPr>
            </a:pPr>
            <a:r>
              <a:t>Invoice shows 2 items at €20 plus €5 tax.</a:t>
            </a:r>
          </a:p>
        </p:txBody>
      </p:sp>
      <p:sp>
        <p:nvSpPr>
          <p:cNvPr id="13" name="TextBox 12"/>
          <p:cNvSpPr txBox="1"/>
          <p:nvPr/>
        </p:nvSpPr>
        <p:spPr>
          <a:xfrm>
            <a:off x="5102352" y="3072384"/>
            <a:ext cx="5760720" cy="283464"/>
          </a:xfrm>
          <a:prstGeom prst="rect">
            <a:avLst/>
          </a:prstGeom>
          <a:noFill/>
        </p:spPr>
        <p:txBody>
          <a:bodyPr wrap="square" lIns="22860" rIns="22860" tIns="9144">
            <a:spAutoFit/>
          </a:bodyPr>
          <a:lstStyle/>
          <a:p>
            <a:pPr>
              <a:defRPr sz="1300" b="1">
                <a:solidFill>
                  <a:srgbClr val="C7682C"/>
                </a:solidFill>
                <a:latin typeface="Aptos"/>
              </a:defRPr>
            </a:pPr>
            <a:r>
              <a:t>QUESTION</a:t>
            </a:r>
          </a:p>
        </p:txBody>
      </p:sp>
      <p:sp>
        <p:nvSpPr>
          <p:cNvPr id="14" name="Rounded Rectangle 13"/>
          <p:cNvSpPr/>
          <p:nvPr/>
        </p:nvSpPr>
        <p:spPr>
          <a:xfrm>
            <a:off x="5065776" y="3401568"/>
            <a:ext cx="6035040" cy="950976"/>
          </a:xfrm>
          <a:prstGeom prst="roundRect">
            <a:avLst/>
          </a:prstGeom>
          <a:solidFill>
            <a:srgbClr val="FFF9E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5202936" y="3511296"/>
            <a:ext cx="5760720" cy="749808"/>
          </a:xfrm>
          <a:prstGeom prst="rect">
            <a:avLst/>
          </a:prstGeom>
          <a:noFill/>
        </p:spPr>
        <p:txBody>
          <a:bodyPr wrap="square" lIns="22860" rIns="22860" tIns="9144" anchor="ctr">
            <a:spAutoFit/>
          </a:bodyPr>
          <a:lstStyle/>
          <a:p>
            <a:pPr algn="ctr">
              <a:defRPr sz="1500" b="1">
                <a:solidFill>
                  <a:srgbClr val="182B40"/>
                </a:solidFill>
                <a:latin typeface="Aptos"/>
              </a:defRPr>
            </a:pPr>
            <a:r>
              <a:t>Calculated total is €45.</a:t>
            </a:r>
          </a:p>
        </p:txBody>
      </p:sp>
      <p:sp>
        <p:nvSpPr>
          <p:cNvPr id="16" name="TextBox 15"/>
          <p:cNvSpPr txBox="1"/>
          <p:nvPr/>
        </p:nvSpPr>
        <p:spPr>
          <a:xfrm>
            <a:off x="5102352" y="4425696"/>
            <a:ext cx="5760720" cy="283464"/>
          </a:xfrm>
          <a:prstGeom prst="rect">
            <a:avLst/>
          </a:prstGeom>
          <a:noFill/>
        </p:spPr>
        <p:txBody>
          <a:bodyPr wrap="square" lIns="22860" rIns="22860" tIns="9144">
            <a:spAutoFit/>
          </a:bodyPr>
          <a:lstStyle/>
          <a:p>
            <a:pPr>
              <a:defRPr sz="1300" b="1">
                <a:solidFill>
                  <a:srgbClr val="117E6E"/>
                </a:solidFill>
                <a:latin typeface="Aptos"/>
              </a:defRPr>
            </a:pPr>
            <a:r>
              <a:t>SUPPORTED ANSWER</a:t>
            </a:r>
          </a:p>
        </p:txBody>
      </p:sp>
      <p:sp>
        <p:nvSpPr>
          <p:cNvPr id="17" name="Rounded Rectangle 16"/>
          <p:cNvSpPr/>
          <p:nvPr/>
        </p:nvSpPr>
        <p:spPr>
          <a:xfrm>
            <a:off x="5065776" y="4754880"/>
            <a:ext cx="6035040" cy="950976"/>
          </a:xfrm>
          <a:prstGeom prst="roundRect">
            <a:avLst/>
          </a:prstGeom>
          <a:solidFill>
            <a:srgbClr val="EFF7F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5202936" y="4864608"/>
            <a:ext cx="5760720" cy="749808"/>
          </a:xfrm>
          <a:prstGeom prst="rect">
            <a:avLst/>
          </a:prstGeom>
          <a:noFill/>
        </p:spPr>
        <p:txBody>
          <a:bodyPr wrap="square" lIns="22860" rIns="22860" tIns="9144" anchor="ctr">
            <a:spAutoFit/>
          </a:bodyPr>
          <a:lstStyle/>
          <a:p>
            <a:pPr algn="ctr">
              <a:defRPr sz="1500" b="1">
                <a:solidFill>
                  <a:srgbClr val="182B40"/>
                </a:solidFill>
                <a:latin typeface="Aptos"/>
              </a:defRPr>
            </a:pPr>
            <a:r>
              <a:t>Listed total of €54 triggers review, even if transcription is syntactically valid.</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
          </a:xfrm>
          <a:prstGeom prst="rect">
            <a:avLst/>
          </a:prstGeom>
          <a:solidFill>
            <a:srgbClr val="255E9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10896"/>
            <a:ext cx="10881360" cy="576072"/>
          </a:xfrm>
          <a:prstGeom prst="rect">
            <a:avLst/>
          </a:prstGeom>
          <a:noFill/>
        </p:spPr>
        <p:txBody>
          <a:bodyPr wrap="square" lIns="22860" rIns="22860" tIns="9144">
            <a:spAutoFit/>
          </a:bodyPr>
          <a:lstStyle/>
          <a:p>
            <a:pPr>
              <a:defRPr sz="2700" b="1">
                <a:solidFill>
                  <a:srgbClr val="182B40"/>
                </a:solidFill>
                <a:latin typeface="Aptos"/>
              </a:defRPr>
            </a:pPr>
            <a:r>
              <a:t>Notebook: run the prepared example</a:t>
            </a:r>
          </a:p>
        </p:txBody>
      </p:sp>
      <p:sp>
        <p:nvSpPr>
          <p:cNvPr id="4" name="Rectangle 3"/>
          <p:cNvSpPr/>
          <p:nvPr/>
        </p:nvSpPr>
        <p:spPr>
          <a:xfrm>
            <a:off x="594360" y="1362456"/>
            <a:ext cx="64008" cy="4544568"/>
          </a:xfrm>
          <a:prstGeom prst="rect">
            <a:avLst/>
          </a:prstGeom>
          <a:solidFill>
            <a:srgbClr val="255E9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41248" y="1371600"/>
            <a:ext cx="3511296" cy="320040"/>
          </a:xfrm>
          <a:prstGeom prst="rect">
            <a:avLst/>
          </a:prstGeom>
          <a:noFill/>
        </p:spPr>
        <p:txBody>
          <a:bodyPr wrap="square" lIns="22860" rIns="22860" tIns="9144">
            <a:spAutoFit/>
          </a:bodyPr>
          <a:lstStyle/>
          <a:p>
            <a:pPr>
              <a:defRPr sz="1100" b="1">
                <a:solidFill>
                  <a:srgbClr val="255E9C"/>
                </a:solidFill>
                <a:latin typeface="Aptos"/>
              </a:defRPr>
            </a:pPr>
            <a:r>
              <a:t>PRACTICE  /  WEEK 10</a:t>
            </a:r>
          </a:p>
        </p:txBody>
      </p:sp>
      <p:sp>
        <p:nvSpPr>
          <p:cNvPr id="6" name="TextBox 5"/>
          <p:cNvSpPr txBox="1"/>
          <p:nvPr/>
        </p:nvSpPr>
        <p:spPr>
          <a:xfrm>
            <a:off x="841248" y="1847088"/>
            <a:ext cx="3557016" cy="3986784"/>
          </a:xfrm>
          <a:prstGeom prst="rect">
            <a:avLst/>
          </a:prstGeom>
          <a:noFill/>
        </p:spPr>
        <p:txBody>
          <a:bodyPr wrap="square" lIns="22860" rIns="22860" tIns="9144">
            <a:spAutoFit/>
          </a:bodyPr>
          <a:lstStyle/>
          <a:p>
            <a:pPr>
              <a:defRPr sz="1800" b="0">
                <a:solidFill>
                  <a:srgbClr val="182B40"/>
                </a:solidFill>
                <a:latin typeface="Aptos"/>
              </a:defRPr>
            </a:pPr>
            <a:r>
              <a:t>Check two synthetic invoices, including a mismatched total.</a:t>
            </a:r>
          </a:p>
          <a:p>
            <a:pPr>
              <a:defRPr sz="1800" b="0">
                <a:solidFill>
                  <a:srgbClr val="182B40"/>
                </a:solidFill>
                <a:latin typeface="Aptos"/>
              </a:defRPr>
            </a:pPr>
          </a:p>
          <a:p>
            <a:pPr>
              <a:defRPr sz="1800" b="0">
                <a:solidFill>
                  <a:srgbClr val="182B40"/>
                </a:solidFill>
                <a:latin typeface="Aptos"/>
              </a:defRPr>
            </a:pPr>
            <a:r>
              <a:t>Read the original output before editing.</a:t>
            </a:r>
          </a:p>
        </p:txBody>
      </p:sp>
      <p:sp>
        <p:nvSpPr>
          <p:cNvPr id="7" name="Rectangle 6"/>
          <p:cNvSpPr/>
          <p:nvPr/>
        </p:nvSpPr>
        <p:spPr>
          <a:xfrm>
            <a:off x="594360" y="6391656"/>
            <a:ext cx="10899648" cy="16459"/>
          </a:xfrm>
          <a:prstGeom prst="rect">
            <a:avLst/>
          </a:prstGeom>
          <a:solidFill>
            <a:srgbClr val="EBF5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21792" y="6510528"/>
            <a:ext cx="10826496" cy="219456"/>
          </a:xfrm>
          <a:prstGeom prst="rect">
            <a:avLst/>
          </a:prstGeom>
          <a:noFill/>
        </p:spPr>
        <p:txBody>
          <a:bodyPr wrap="square" lIns="22860" rIns="22860" tIns="9144">
            <a:spAutoFit/>
          </a:bodyPr>
          <a:lstStyle/>
          <a:p>
            <a:pPr>
              <a:defRPr sz="900" b="0">
                <a:solidFill>
                  <a:srgbClr val="445665"/>
                </a:solidFill>
                <a:latin typeface="Aptos"/>
              </a:defRPr>
            </a:pPr>
            <a:r>
              <a:t>GENERATIVE AI 2027    •    WEEK 10    •    29 / 40</a:t>
            </a:r>
          </a:p>
        </p:txBody>
      </p:sp>
      <p:sp>
        <p:nvSpPr>
          <p:cNvPr id="9" name="Rounded Rectangle 8"/>
          <p:cNvSpPr/>
          <p:nvPr/>
        </p:nvSpPr>
        <p:spPr>
          <a:xfrm>
            <a:off x="4700016" y="1344168"/>
            <a:ext cx="6793992" cy="4727448"/>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ounded Rectangle 9"/>
          <p:cNvSpPr/>
          <p:nvPr/>
        </p:nvSpPr>
        <p:spPr>
          <a:xfrm>
            <a:off x="5074920" y="1600200"/>
            <a:ext cx="658368" cy="822960"/>
          </a:xfrm>
          <a:prstGeom prst="roundRect">
            <a:avLst/>
          </a:prstGeom>
          <a:solidFill>
            <a:srgbClr val="EFF7F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5212080" y="1709928"/>
            <a:ext cx="384048" cy="621792"/>
          </a:xfrm>
          <a:prstGeom prst="rect">
            <a:avLst/>
          </a:prstGeom>
          <a:noFill/>
        </p:spPr>
        <p:txBody>
          <a:bodyPr wrap="square" lIns="22860" rIns="22860" tIns="9144" anchor="ctr">
            <a:spAutoFit/>
          </a:bodyPr>
          <a:lstStyle/>
          <a:p>
            <a:pPr algn="ctr">
              <a:defRPr sz="1800" b="1">
                <a:solidFill>
                  <a:srgbClr val="255E9C"/>
                </a:solidFill>
                <a:latin typeface="Aptos"/>
              </a:defRPr>
            </a:pPr>
            <a:r>
              <a:t>1</a:t>
            </a:r>
          </a:p>
        </p:txBody>
      </p:sp>
      <p:sp>
        <p:nvSpPr>
          <p:cNvPr id="12" name="Rounded Rectangle 11"/>
          <p:cNvSpPr/>
          <p:nvPr/>
        </p:nvSpPr>
        <p:spPr>
          <a:xfrm>
            <a:off x="5916168" y="1600200"/>
            <a:ext cx="5138928" cy="822960"/>
          </a:xfrm>
          <a:prstGeom prst="roundRect">
            <a:avLst/>
          </a:prstGeom>
          <a:solidFill>
            <a:srgbClr val="EBF5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053328" y="1709928"/>
            <a:ext cx="4864608" cy="621792"/>
          </a:xfrm>
          <a:prstGeom prst="rect">
            <a:avLst/>
          </a:prstGeom>
          <a:noFill/>
        </p:spPr>
        <p:txBody>
          <a:bodyPr wrap="square" lIns="22860" rIns="22860" tIns="9144" anchor="ctr">
            <a:spAutoFit/>
          </a:bodyPr>
          <a:lstStyle/>
          <a:p>
            <a:pPr algn="ctr">
              <a:defRPr sz="1600" b="1">
                <a:solidFill>
                  <a:srgbClr val="182B40"/>
                </a:solidFill>
                <a:latin typeface="Aptos"/>
              </a:defRPr>
            </a:pPr>
            <a:r>
              <a:t>Inspect a synthetic source transcription</a:t>
            </a:r>
          </a:p>
        </p:txBody>
      </p:sp>
      <p:sp>
        <p:nvSpPr>
          <p:cNvPr id="14" name="Rounded Rectangle 13"/>
          <p:cNvSpPr/>
          <p:nvPr/>
        </p:nvSpPr>
        <p:spPr>
          <a:xfrm>
            <a:off x="5074920" y="2551176"/>
            <a:ext cx="658368" cy="822960"/>
          </a:xfrm>
          <a:prstGeom prst="roundRect">
            <a:avLst/>
          </a:prstGeom>
          <a:solidFill>
            <a:srgbClr val="EBF5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5212080" y="2660904"/>
            <a:ext cx="384048" cy="621792"/>
          </a:xfrm>
          <a:prstGeom prst="rect">
            <a:avLst/>
          </a:prstGeom>
          <a:noFill/>
        </p:spPr>
        <p:txBody>
          <a:bodyPr wrap="square" lIns="22860" rIns="22860" tIns="9144" anchor="ctr">
            <a:spAutoFit/>
          </a:bodyPr>
          <a:lstStyle/>
          <a:p>
            <a:pPr algn="ctr">
              <a:defRPr sz="1800" b="1">
                <a:solidFill>
                  <a:srgbClr val="255E9C"/>
                </a:solidFill>
                <a:latin typeface="Aptos"/>
              </a:defRPr>
            </a:pPr>
            <a:r>
              <a:t>2</a:t>
            </a:r>
          </a:p>
        </p:txBody>
      </p:sp>
      <p:sp>
        <p:nvSpPr>
          <p:cNvPr id="16" name="Rounded Rectangle 15"/>
          <p:cNvSpPr/>
          <p:nvPr/>
        </p:nvSpPr>
        <p:spPr>
          <a:xfrm>
            <a:off x="5916168" y="2551176"/>
            <a:ext cx="5138928" cy="822960"/>
          </a:xfrm>
          <a:prstGeom prst="roundRect">
            <a:avLst/>
          </a:prstGeom>
          <a:solidFill>
            <a:srgbClr val="EFF7F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053328" y="2660904"/>
            <a:ext cx="4864608" cy="621792"/>
          </a:xfrm>
          <a:prstGeom prst="rect">
            <a:avLst/>
          </a:prstGeom>
          <a:noFill/>
        </p:spPr>
        <p:txBody>
          <a:bodyPr wrap="square" lIns="22860" rIns="22860" tIns="9144" anchor="ctr">
            <a:spAutoFit/>
          </a:bodyPr>
          <a:lstStyle/>
          <a:p>
            <a:pPr algn="ctr">
              <a:defRPr sz="1600" b="1">
                <a:solidFill>
                  <a:srgbClr val="182B40"/>
                </a:solidFill>
                <a:latin typeface="Aptos"/>
              </a:defRPr>
            </a:pPr>
            <a:r>
              <a:t>Extract amount, quantity, tax and stated total</a:t>
            </a:r>
          </a:p>
        </p:txBody>
      </p:sp>
      <p:sp>
        <p:nvSpPr>
          <p:cNvPr id="18" name="Rounded Rectangle 17"/>
          <p:cNvSpPr/>
          <p:nvPr/>
        </p:nvSpPr>
        <p:spPr>
          <a:xfrm>
            <a:off x="5074920" y="3502152"/>
            <a:ext cx="658368" cy="822960"/>
          </a:xfrm>
          <a:prstGeom prst="roundRect">
            <a:avLst/>
          </a:prstGeom>
          <a:solidFill>
            <a:srgbClr val="EFF7F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5212080" y="3611880"/>
            <a:ext cx="384048" cy="621792"/>
          </a:xfrm>
          <a:prstGeom prst="rect">
            <a:avLst/>
          </a:prstGeom>
          <a:noFill/>
        </p:spPr>
        <p:txBody>
          <a:bodyPr wrap="square" lIns="22860" rIns="22860" tIns="9144" anchor="ctr">
            <a:spAutoFit/>
          </a:bodyPr>
          <a:lstStyle/>
          <a:p>
            <a:pPr algn="ctr">
              <a:defRPr sz="1800" b="1">
                <a:solidFill>
                  <a:srgbClr val="255E9C"/>
                </a:solidFill>
                <a:latin typeface="Aptos"/>
              </a:defRPr>
            </a:pPr>
            <a:r>
              <a:t>3</a:t>
            </a:r>
          </a:p>
        </p:txBody>
      </p:sp>
      <p:sp>
        <p:nvSpPr>
          <p:cNvPr id="20" name="Rounded Rectangle 19"/>
          <p:cNvSpPr/>
          <p:nvPr/>
        </p:nvSpPr>
        <p:spPr>
          <a:xfrm>
            <a:off x="5916168" y="3502152"/>
            <a:ext cx="5138928" cy="822960"/>
          </a:xfrm>
          <a:prstGeom prst="roundRect">
            <a:avLst/>
          </a:prstGeom>
          <a:solidFill>
            <a:srgbClr val="EBF5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6053328" y="3611880"/>
            <a:ext cx="4864608" cy="621792"/>
          </a:xfrm>
          <a:prstGeom prst="rect">
            <a:avLst/>
          </a:prstGeom>
          <a:noFill/>
        </p:spPr>
        <p:txBody>
          <a:bodyPr wrap="square" lIns="22860" rIns="22860" tIns="9144" anchor="ctr">
            <a:spAutoFit/>
          </a:bodyPr>
          <a:lstStyle/>
          <a:p>
            <a:pPr algn="ctr">
              <a:defRPr sz="1600" b="1">
                <a:solidFill>
                  <a:srgbClr val="182B40"/>
                </a:solidFill>
                <a:latin typeface="Aptos"/>
              </a:defRPr>
            </a:pPr>
            <a:r>
              <a:t>Calculate the expected total independently</a:t>
            </a:r>
          </a:p>
        </p:txBody>
      </p:sp>
      <p:sp>
        <p:nvSpPr>
          <p:cNvPr id="22" name="Rounded Rectangle 21"/>
          <p:cNvSpPr/>
          <p:nvPr/>
        </p:nvSpPr>
        <p:spPr>
          <a:xfrm>
            <a:off x="5074920" y="4453128"/>
            <a:ext cx="658368" cy="822960"/>
          </a:xfrm>
          <a:prstGeom prst="roundRect">
            <a:avLst/>
          </a:prstGeom>
          <a:solidFill>
            <a:srgbClr val="EBF5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5212080" y="4562856"/>
            <a:ext cx="384048" cy="621792"/>
          </a:xfrm>
          <a:prstGeom prst="rect">
            <a:avLst/>
          </a:prstGeom>
          <a:noFill/>
        </p:spPr>
        <p:txBody>
          <a:bodyPr wrap="square" lIns="22860" rIns="22860" tIns="9144" anchor="ctr">
            <a:spAutoFit/>
          </a:bodyPr>
          <a:lstStyle/>
          <a:p>
            <a:pPr algn="ctr">
              <a:defRPr sz="1800" b="1">
                <a:solidFill>
                  <a:srgbClr val="255E9C"/>
                </a:solidFill>
                <a:latin typeface="Aptos"/>
              </a:defRPr>
            </a:pPr>
            <a:r>
              <a:t>4</a:t>
            </a:r>
          </a:p>
        </p:txBody>
      </p:sp>
      <p:sp>
        <p:nvSpPr>
          <p:cNvPr id="24" name="Rounded Rectangle 23"/>
          <p:cNvSpPr/>
          <p:nvPr/>
        </p:nvSpPr>
        <p:spPr>
          <a:xfrm>
            <a:off x="5916168" y="4453128"/>
            <a:ext cx="5138928" cy="822960"/>
          </a:xfrm>
          <a:prstGeom prst="roundRect">
            <a:avLst/>
          </a:prstGeom>
          <a:solidFill>
            <a:srgbClr val="EFF7F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053328" y="4562856"/>
            <a:ext cx="4864608" cy="621792"/>
          </a:xfrm>
          <a:prstGeom prst="rect">
            <a:avLst/>
          </a:prstGeom>
          <a:noFill/>
        </p:spPr>
        <p:txBody>
          <a:bodyPr wrap="square" lIns="22860" rIns="22860" tIns="9144" anchor="ctr">
            <a:spAutoFit/>
          </a:bodyPr>
          <a:lstStyle/>
          <a:p>
            <a:pPr algn="ctr">
              <a:defRPr sz="1600" b="1">
                <a:solidFill>
                  <a:srgbClr val="182B40"/>
                </a:solidFill>
                <a:latin typeface="Aptos"/>
              </a:defRPr>
            </a:pPr>
            <a:r>
              <a:t>Flag mismatches and retain the source ID</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
          </a:xfrm>
          <a:prstGeom prst="rect">
            <a:avLst/>
          </a:prstGeom>
          <a:solidFill>
            <a:srgbClr val="255E9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10896"/>
            <a:ext cx="10881360" cy="576072"/>
          </a:xfrm>
          <a:prstGeom prst="rect">
            <a:avLst/>
          </a:prstGeom>
          <a:noFill/>
        </p:spPr>
        <p:txBody>
          <a:bodyPr wrap="square" lIns="22860" rIns="22860" tIns="9144">
            <a:spAutoFit/>
          </a:bodyPr>
          <a:lstStyle/>
          <a:p>
            <a:pPr>
              <a:defRPr sz="2700" b="1">
                <a:solidFill>
                  <a:srgbClr val="182B40"/>
                </a:solidFill>
                <a:latin typeface="Aptos"/>
              </a:defRPr>
            </a:pPr>
            <a:r>
              <a:t>Find the input and check in Python</a:t>
            </a:r>
          </a:p>
        </p:txBody>
      </p:sp>
      <p:sp>
        <p:nvSpPr>
          <p:cNvPr id="4" name="Rectangle 3"/>
          <p:cNvSpPr/>
          <p:nvPr/>
        </p:nvSpPr>
        <p:spPr>
          <a:xfrm>
            <a:off x="594360" y="1362456"/>
            <a:ext cx="64008" cy="4544568"/>
          </a:xfrm>
          <a:prstGeom prst="rect">
            <a:avLst/>
          </a:prstGeom>
          <a:solidFill>
            <a:srgbClr val="255E9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41248" y="1371600"/>
            <a:ext cx="3511296" cy="320040"/>
          </a:xfrm>
          <a:prstGeom prst="rect">
            <a:avLst/>
          </a:prstGeom>
          <a:noFill/>
        </p:spPr>
        <p:txBody>
          <a:bodyPr wrap="square" lIns="22860" rIns="22860" tIns="9144">
            <a:spAutoFit/>
          </a:bodyPr>
          <a:lstStyle/>
          <a:p>
            <a:pPr>
              <a:defRPr sz="1100" b="1">
                <a:solidFill>
                  <a:srgbClr val="255E9C"/>
                </a:solidFill>
                <a:latin typeface="Aptos"/>
              </a:defRPr>
            </a:pPr>
            <a:r>
              <a:t>PRACTICE  /  WEEK 10</a:t>
            </a:r>
          </a:p>
        </p:txBody>
      </p:sp>
      <p:sp>
        <p:nvSpPr>
          <p:cNvPr id="6" name="TextBox 5"/>
          <p:cNvSpPr txBox="1"/>
          <p:nvPr/>
        </p:nvSpPr>
        <p:spPr>
          <a:xfrm>
            <a:off x="841248" y="1847088"/>
            <a:ext cx="3557016" cy="3986784"/>
          </a:xfrm>
          <a:prstGeom prst="rect">
            <a:avLst/>
          </a:prstGeom>
          <a:noFill/>
        </p:spPr>
        <p:txBody>
          <a:bodyPr wrap="square" lIns="22860" rIns="22860" tIns="9144">
            <a:spAutoFit/>
          </a:bodyPr>
          <a:lstStyle/>
          <a:p>
            <a:pPr>
              <a:defRPr sz="1800" b="0">
                <a:solidFill>
                  <a:srgbClr val="182B40"/>
                </a:solidFill>
                <a:latin typeface="Aptos"/>
              </a:defRPr>
            </a:pPr>
            <a:r>
              <a:t>Locate the supplied input, the transformation, the checking line and the printed result.</a:t>
            </a:r>
          </a:p>
        </p:txBody>
      </p:sp>
      <p:sp>
        <p:nvSpPr>
          <p:cNvPr id="7" name="Rectangle 6"/>
          <p:cNvSpPr/>
          <p:nvPr/>
        </p:nvSpPr>
        <p:spPr>
          <a:xfrm>
            <a:off x="594360" y="6391656"/>
            <a:ext cx="10899648" cy="16459"/>
          </a:xfrm>
          <a:prstGeom prst="rect">
            <a:avLst/>
          </a:prstGeom>
          <a:solidFill>
            <a:srgbClr val="EBF5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21792" y="6510528"/>
            <a:ext cx="10826496" cy="219456"/>
          </a:xfrm>
          <a:prstGeom prst="rect">
            <a:avLst/>
          </a:prstGeom>
          <a:noFill/>
        </p:spPr>
        <p:txBody>
          <a:bodyPr wrap="square" lIns="22860" rIns="22860" tIns="9144">
            <a:spAutoFit/>
          </a:bodyPr>
          <a:lstStyle/>
          <a:p>
            <a:pPr>
              <a:defRPr sz="900" b="0">
                <a:solidFill>
                  <a:srgbClr val="445665"/>
                </a:solidFill>
                <a:latin typeface="Aptos"/>
              </a:defRPr>
            </a:pPr>
            <a:r>
              <a:t>GENERATIVE AI 2027    •    WEEK 10    •    30 / 40</a:t>
            </a:r>
          </a:p>
        </p:txBody>
      </p:sp>
      <p:sp>
        <p:nvSpPr>
          <p:cNvPr id="9" name="Rounded Rectangle 8"/>
          <p:cNvSpPr/>
          <p:nvPr/>
        </p:nvSpPr>
        <p:spPr>
          <a:xfrm>
            <a:off x="4700016" y="1344168"/>
            <a:ext cx="6793992" cy="4727448"/>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5074920" y="1572768"/>
            <a:ext cx="6035040" cy="384048"/>
          </a:xfrm>
          <a:prstGeom prst="rect">
            <a:avLst/>
          </a:prstGeom>
          <a:noFill/>
        </p:spPr>
        <p:txBody>
          <a:bodyPr wrap="square" lIns="22860" rIns="22860" tIns="9144">
            <a:spAutoFit/>
          </a:bodyPr>
          <a:lstStyle/>
          <a:p>
            <a:pPr>
              <a:defRPr sz="1500" b="1">
                <a:solidFill>
                  <a:srgbClr val="255E9C"/>
                </a:solidFill>
                <a:latin typeface="Aptos"/>
              </a:defRPr>
            </a:pPr>
            <a:r>
              <a:t>FOLLOW THE DATA THROUGH EACH ARROW</a:t>
            </a:r>
          </a:p>
        </p:txBody>
      </p:sp>
      <p:sp>
        <p:nvSpPr>
          <p:cNvPr id="11" name="Rounded Rectangle 10"/>
          <p:cNvSpPr/>
          <p:nvPr/>
        </p:nvSpPr>
        <p:spPr>
          <a:xfrm>
            <a:off x="5257800" y="2029968"/>
            <a:ext cx="5532120" cy="603504"/>
          </a:xfrm>
          <a:prstGeom prst="roundRect">
            <a:avLst/>
          </a:prstGeom>
          <a:solidFill>
            <a:srgbClr val="EBF5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5394960" y="2139696"/>
            <a:ext cx="5257800" cy="402336"/>
          </a:xfrm>
          <a:prstGeom prst="rect">
            <a:avLst/>
          </a:prstGeom>
          <a:noFill/>
        </p:spPr>
        <p:txBody>
          <a:bodyPr wrap="square" lIns="22860" rIns="22860" tIns="9144" anchor="ctr">
            <a:spAutoFit/>
          </a:bodyPr>
          <a:lstStyle/>
          <a:p>
            <a:pPr algn="ctr">
              <a:defRPr sz="1500" b="1">
                <a:solidFill>
                  <a:srgbClr val="182B40"/>
                </a:solidFill>
                <a:latin typeface="Aptos"/>
              </a:defRPr>
            </a:pPr>
            <a:r>
              <a:t>Input data</a:t>
            </a:r>
          </a:p>
        </p:txBody>
      </p:sp>
      <p:cxnSp>
        <p:nvCxnSpPr>
          <p:cNvPr id="13" name="Connector 12"/>
          <p:cNvCxnSpPr/>
          <p:nvPr/>
        </p:nvCxnSpPr>
        <p:spPr>
          <a:xfrm>
            <a:off x="8019288" y="2651760"/>
            <a:ext cx="0" cy="210312"/>
          </a:xfrm>
          <a:prstGeom prst="line">
            <a:avLst/>
          </a:prstGeom>
          <a:ln w="27940">
            <a:solidFill>
              <a:srgbClr val="255E9C"/>
            </a:solidFill>
          </a:ln>
        </p:spPr>
        <p:style>
          <a:lnRef idx="2">
            <a:schemeClr val="accent1"/>
          </a:lnRef>
          <a:fillRef idx="0">
            <a:schemeClr val="accent1"/>
          </a:fillRef>
          <a:effectRef idx="1">
            <a:schemeClr val="accent1"/>
          </a:effectRef>
          <a:fontRef idx="minor">
            <a:schemeClr val="tx1"/>
          </a:fontRef>
        </p:style>
      </p:cxnSp>
      <p:sp>
        <p:nvSpPr>
          <p:cNvPr id="14" name="Chevron 13"/>
          <p:cNvSpPr/>
          <p:nvPr/>
        </p:nvSpPr>
        <p:spPr>
          <a:xfrm>
            <a:off x="7936992" y="2798064"/>
            <a:ext cx="146304" cy="128016"/>
          </a:xfrm>
          <a:prstGeom prst="chevron">
            <a:avLst/>
          </a:prstGeom>
          <a:solidFill>
            <a:srgbClr val="255E9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ounded Rectangle 14"/>
          <p:cNvSpPr/>
          <p:nvPr/>
        </p:nvSpPr>
        <p:spPr>
          <a:xfrm>
            <a:off x="5257800" y="2898648"/>
            <a:ext cx="5532120" cy="603504"/>
          </a:xfrm>
          <a:prstGeom prst="roundRect">
            <a:avLst/>
          </a:prstGeom>
          <a:solidFill>
            <a:srgbClr val="EFF7F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5394960" y="3008376"/>
            <a:ext cx="5257800" cy="402336"/>
          </a:xfrm>
          <a:prstGeom prst="rect">
            <a:avLst/>
          </a:prstGeom>
          <a:noFill/>
        </p:spPr>
        <p:txBody>
          <a:bodyPr wrap="square" lIns="22860" rIns="22860" tIns="9144" anchor="ctr">
            <a:spAutoFit/>
          </a:bodyPr>
          <a:lstStyle/>
          <a:p>
            <a:pPr algn="ctr">
              <a:defRPr sz="1500" b="1">
                <a:solidFill>
                  <a:srgbClr val="182B40"/>
                </a:solidFill>
                <a:latin typeface="Aptos"/>
              </a:defRPr>
            </a:pPr>
            <a:r>
              <a:t>Python operation</a:t>
            </a:r>
          </a:p>
        </p:txBody>
      </p:sp>
      <p:cxnSp>
        <p:nvCxnSpPr>
          <p:cNvPr id="17" name="Connector 16"/>
          <p:cNvCxnSpPr/>
          <p:nvPr/>
        </p:nvCxnSpPr>
        <p:spPr>
          <a:xfrm>
            <a:off x="8019288" y="3520440"/>
            <a:ext cx="0" cy="210312"/>
          </a:xfrm>
          <a:prstGeom prst="line">
            <a:avLst/>
          </a:prstGeom>
          <a:ln w="27940">
            <a:solidFill>
              <a:srgbClr val="255E9C"/>
            </a:solidFill>
          </a:ln>
        </p:spPr>
        <p:style>
          <a:lnRef idx="2">
            <a:schemeClr val="accent1"/>
          </a:lnRef>
          <a:fillRef idx="0">
            <a:schemeClr val="accent1"/>
          </a:fillRef>
          <a:effectRef idx="1">
            <a:schemeClr val="accent1"/>
          </a:effectRef>
          <a:fontRef idx="minor">
            <a:schemeClr val="tx1"/>
          </a:fontRef>
        </p:style>
      </p:cxnSp>
      <p:sp>
        <p:nvSpPr>
          <p:cNvPr id="18" name="Chevron 17"/>
          <p:cNvSpPr/>
          <p:nvPr/>
        </p:nvSpPr>
        <p:spPr>
          <a:xfrm>
            <a:off x="7936992" y="3666744"/>
            <a:ext cx="146304" cy="128016"/>
          </a:xfrm>
          <a:prstGeom prst="chevron">
            <a:avLst/>
          </a:prstGeom>
          <a:solidFill>
            <a:srgbClr val="255E9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ounded Rectangle 18"/>
          <p:cNvSpPr/>
          <p:nvPr/>
        </p:nvSpPr>
        <p:spPr>
          <a:xfrm>
            <a:off x="5257800" y="3767328"/>
            <a:ext cx="5532120" cy="603504"/>
          </a:xfrm>
          <a:prstGeom prst="roundRect">
            <a:avLst/>
          </a:prstGeom>
          <a:solidFill>
            <a:srgbClr val="EBF5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5394960" y="3877056"/>
            <a:ext cx="5257800" cy="402336"/>
          </a:xfrm>
          <a:prstGeom prst="rect">
            <a:avLst/>
          </a:prstGeom>
          <a:noFill/>
        </p:spPr>
        <p:txBody>
          <a:bodyPr wrap="square" lIns="22860" rIns="22860" tIns="9144" anchor="ctr">
            <a:spAutoFit/>
          </a:bodyPr>
          <a:lstStyle/>
          <a:p>
            <a:pPr algn="ctr">
              <a:defRPr sz="1500" b="1">
                <a:solidFill>
                  <a:srgbClr val="182B40"/>
                </a:solidFill>
                <a:latin typeface="Aptos"/>
              </a:defRPr>
            </a:pPr>
            <a:r>
              <a:t>Check</a:t>
            </a:r>
          </a:p>
        </p:txBody>
      </p:sp>
      <p:cxnSp>
        <p:nvCxnSpPr>
          <p:cNvPr id="21" name="Connector 20"/>
          <p:cNvCxnSpPr/>
          <p:nvPr/>
        </p:nvCxnSpPr>
        <p:spPr>
          <a:xfrm>
            <a:off x="8019288" y="4389120"/>
            <a:ext cx="0" cy="210312"/>
          </a:xfrm>
          <a:prstGeom prst="line">
            <a:avLst/>
          </a:prstGeom>
          <a:ln w="27940">
            <a:solidFill>
              <a:srgbClr val="255E9C"/>
            </a:solidFill>
          </a:ln>
        </p:spPr>
        <p:style>
          <a:lnRef idx="2">
            <a:schemeClr val="accent1"/>
          </a:lnRef>
          <a:fillRef idx="0">
            <a:schemeClr val="accent1"/>
          </a:fillRef>
          <a:effectRef idx="1">
            <a:schemeClr val="accent1"/>
          </a:effectRef>
          <a:fontRef idx="minor">
            <a:schemeClr val="tx1"/>
          </a:fontRef>
        </p:style>
      </p:cxnSp>
      <p:sp>
        <p:nvSpPr>
          <p:cNvPr id="22" name="Chevron 21"/>
          <p:cNvSpPr/>
          <p:nvPr/>
        </p:nvSpPr>
        <p:spPr>
          <a:xfrm>
            <a:off x="7936992" y="4535424"/>
            <a:ext cx="146304" cy="128016"/>
          </a:xfrm>
          <a:prstGeom prst="chevron">
            <a:avLst/>
          </a:prstGeom>
          <a:solidFill>
            <a:srgbClr val="255E9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ounded Rectangle 22"/>
          <p:cNvSpPr/>
          <p:nvPr/>
        </p:nvSpPr>
        <p:spPr>
          <a:xfrm>
            <a:off x="5257800" y="4636008"/>
            <a:ext cx="5532120" cy="603504"/>
          </a:xfrm>
          <a:prstGeom prst="roundRect">
            <a:avLst/>
          </a:prstGeom>
          <a:solidFill>
            <a:srgbClr val="EFF7F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5394960" y="4745736"/>
            <a:ext cx="5257800" cy="402336"/>
          </a:xfrm>
          <a:prstGeom prst="rect">
            <a:avLst/>
          </a:prstGeom>
          <a:noFill/>
        </p:spPr>
        <p:txBody>
          <a:bodyPr wrap="square" lIns="22860" rIns="22860" tIns="9144" anchor="ctr">
            <a:spAutoFit/>
          </a:bodyPr>
          <a:lstStyle/>
          <a:p>
            <a:pPr algn="ctr">
              <a:defRPr sz="1500" b="1">
                <a:solidFill>
                  <a:srgbClr val="182B40"/>
                </a:solidFill>
                <a:latin typeface="Aptos"/>
              </a:defRPr>
            </a:pPr>
            <a:r>
              <a:t>Recorded result</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
          </a:xfrm>
          <a:prstGeom prst="rect">
            <a:avLst/>
          </a:prstGeom>
          <a:solidFill>
            <a:srgbClr val="255E9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10896"/>
            <a:ext cx="10881360" cy="576072"/>
          </a:xfrm>
          <a:prstGeom prst="rect">
            <a:avLst/>
          </a:prstGeom>
          <a:noFill/>
        </p:spPr>
        <p:txBody>
          <a:bodyPr wrap="square" lIns="22860" rIns="22860" tIns="9144">
            <a:spAutoFit/>
          </a:bodyPr>
          <a:lstStyle/>
          <a:p>
            <a:pPr>
              <a:defRPr sz="2700" b="1">
                <a:solidFill>
                  <a:srgbClr val="182B40"/>
                </a:solidFill>
                <a:latin typeface="Aptos"/>
              </a:defRPr>
            </a:pPr>
            <a:r>
              <a:t>Predict one controlled change</a:t>
            </a:r>
          </a:p>
        </p:txBody>
      </p:sp>
      <p:sp>
        <p:nvSpPr>
          <p:cNvPr id="4" name="Rectangle 3"/>
          <p:cNvSpPr/>
          <p:nvPr/>
        </p:nvSpPr>
        <p:spPr>
          <a:xfrm>
            <a:off x="594360" y="1362456"/>
            <a:ext cx="64008" cy="4544568"/>
          </a:xfrm>
          <a:prstGeom prst="rect">
            <a:avLst/>
          </a:prstGeom>
          <a:solidFill>
            <a:srgbClr val="255E9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41248" y="1371600"/>
            <a:ext cx="3511296" cy="320040"/>
          </a:xfrm>
          <a:prstGeom prst="rect">
            <a:avLst/>
          </a:prstGeom>
          <a:noFill/>
        </p:spPr>
        <p:txBody>
          <a:bodyPr wrap="square" lIns="22860" rIns="22860" tIns="9144">
            <a:spAutoFit/>
          </a:bodyPr>
          <a:lstStyle/>
          <a:p>
            <a:pPr>
              <a:defRPr sz="1100" b="1">
                <a:solidFill>
                  <a:srgbClr val="255E9C"/>
                </a:solidFill>
                <a:latin typeface="Aptos"/>
              </a:defRPr>
            </a:pPr>
            <a:r>
              <a:t>PRACTICE  /  WEEK 10</a:t>
            </a:r>
          </a:p>
        </p:txBody>
      </p:sp>
      <p:sp>
        <p:nvSpPr>
          <p:cNvPr id="6" name="TextBox 5"/>
          <p:cNvSpPr txBox="1"/>
          <p:nvPr/>
        </p:nvSpPr>
        <p:spPr>
          <a:xfrm>
            <a:off x="841248" y="1847088"/>
            <a:ext cx="3557016" cy="3986784"/>
          </a:xfrm>
          <a:prstGeom prst="rect">
            <a:avLst/>
          </a:prstGeom>
          <a:noFill/>
        </p:spPr>
        <p:txBody>
          <a:bodyPr wrap="square" lIns="22860" rIns="22860" tIns="9144">
            <a:spAutoFit/>
          </a:bodyPr>
          <a:lstStyle/>
          <a:p>
            <a:pPr>
              <a:defRPr sz="1800" b="0">
                <a:solidFill>
                  <a:srgbClr val="182B40"/>
                </a:solidFill>
                <a:latin typeface="Aptos"/>
              </a:defRPr>
            </a:pPr>
            <a:r>
              <a:t>Correct the listed total and rerun the checker.</a:t>
            </a:r>
          </a:p>
          <a:p>
            <a:pPr>
              <a:defRPr sz="1800" b="0">
                <a:solidFill>
                  <a:srgbClr val="182B40"/>
                </a:solidFill>
                <a:latin typeface="Aptos"/>
              </a:defRPr>
            </a:pPr>
          </a:p>
          <a:p>
            <a:pPr>
              <a:defRPr sz="1800" b="0">
                <a:solidFill>
                  <a:srgbClr val="182B40"/>
                </a:solidFill>
                <a:latin typeface="Aptos"/>
              </a:defRPr>
            </a:pPr>
            <a:r>
              <a:t>What should change in the result? What stays fixed?</a:t>
            </a:r>
          </a:p>
        </p:txBody>
      </p:sp>
      <p:sp>
        <p:nvSpPr>
          <p:cNvPr id="7" name="Rectangle 6"/>
          <p:cNvSpPr/>
          <p:nvPr/>
        </p:nvSpPr>
        <p:spPr>
          <a:xfrm>
            <a:off x="594360" y="6391656"/>
            <a:ext cx="10899648" cy="16459"/>
          </a:xfrm>
          <a:prstGeom prst="rect">
            <a:avLst/>
          </a:prstGeom>
          <a:solidFill>
            <a:srgbClr val="EBF5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21792" y="6510528"/>
            <a:ext cx="10826496" cy="219456"/>
          </a:xfrm>
          <a:prstGeom prst="rect">
            <a:avLst/>
          </a:prstGeom>
          <a:noFill/>
        </p:spPr>
        <p:txBody>
          <a:bodyPr wrap="square" lIns="22860" rIns="22860" tIns="9144">
            <a:spAutoFit/>
          </a:bodyPr>
          <a:lstStyle/>
          <a:p>
            <a:pPr>
              <a:defRPr sz="900" b="0">
                <a:solidFill>
                  <a:srgbClr val="445665"/>
                </a:solidFill>
                <a:latin typeface="Aptos"/>
              </a:defRPr>
            </a:pPr>
            <a:r>
              <a:t>GENERATIVE AI 2027    •    WEEK 10    •    31 / 40</a:t>
            </a:r>
          </a:p>
        </p:txBody>
      </p:sp>
      <p:sp>
        <p:nvSpPr>
          <p:cNvPr id="9" name="Rounded Rectangle 8"/>
          <p:cNvSpPr/>
          <p:nvPr/>
        </p:nvSpPr>
        <p:spPr>
          <a:xfrm>
            <a:off x="4700016" y="1344168"/>
            <a:ext cx="6793992" cy="4727448"/>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ounded Rectangle 9"/>
          <p:cNvSpPr/>
          <p:nvPr/>
        </p:nvSpPr>
        <p:spPr>
          <a:xfrm>
            <a:off x="4983480" y="2084831"/>
            <a:ext cx="2816352" cy="2057400"/>
          </a:xfrm>
          <a:prstGeom prst="roundRect">
            <a:avLst/>
          </a:prstGeom>
          <a:solidFill>
            <a:srgbClr val="EBF5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5120640" y="2194560"/>
            <a:ext cx="2542032" cy="1856231"/>
          </a:xfrm>
          <a:prstGeom prst="rect">
            <a:avLst/>
          </a:prstGeom>
          <a:noFill/>
        </p:spPr>
        <p:txBody>
          <a:bodyPr wrap="square" lIns="22860" rIns="22860" tIns="9144" anchor="ctr">
            <a:spAutoFit/>
          </a:bodyPr>
          <a:lstStyle/>
          <a:p>
            <a:pPr algn="ctr">
              <a:defRPr sz="1800" b="1">
                <a:solidFill>
                  <a:srgbClr val="182B40"/>
                </a:solidFill>
                <a:latin typeface="Aptos"/>
              </a:defRPr>
            </a:pPr>
            <a:r>
              <a:t>Before: original case</a:t>
            </a:r>
          </a:p>
        </p:txBody>
      </p:sp>
      <p:sp>
        <p:nvSpPr>
          <p:cNvPr id="12" name="Rounded Rectangle 11"/>
          <p:cNvSpPr/>
          <p:nvPr/>
        </p:nvSpPr>
        <p:spPr>
          <a:xfrm>
            <a:off x="8247888" y="2084831"/>
            <a:ext cx="2816352" cy="2057400"/>
          </a:xfrm>
          <a:prstGeom prst="roundRect">
            <a:avLst/>
          </a:prstGeom>
          <a:solidFill>
            <a:srgbClr val="EFF7F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385048" y="2194560"/>
            <a:ext cx="2542032" cy="1856231"/>
          </a:xfrm>
          <a:prstGeom prst="rect">
            <a:avLst/>
          </a:prstGeom>
          <a:noFill/>
        </p:spPr>
        <p:txBody>
          <a:bodyPr wrap="square" lIns="22860" rIns="22860" tIns="9144" anchor="ctr">
            <a:spAutoFit/>
          </a:bodyPr>
          <a:lstStyle/>
          <a:p>
            <a:pPr algn="ctr">
              <a:defRPr sz="1800" b="1">
                <a:solidFill>
                  <a:srgbClr val="182B40"/>
                </a:solidFill>
                <a:latin typeface="Aptos"/>
              </a:defRPr>
            </a:pPr>
            <a:r>
              <a:t>After: one change</a:t>
            </a:r>
          </a:p>
        </p:txBody>
      </p:sp>
      <p:sp>
        <p:nvSpPr>
          <p:cNvPr id="14" name="TextBox 13"/>
          <p:cNvSpPr txBox="1"/>
          <p:nvPr/>
        </p:nvSpPr>
        <p:spPr>
          <a:xfrm>
            <a:off x="5047488" y="4709160"/>
            <a:ext cx="5989320" cy="612648"/>
          </a:xfrm>
          <a:prstGeom prst="rect">
            <a:avLst/>
          </a:prstGeom>
          <a:noFill/>
        </p:spPr>
        <p:txBody>
          <a:bodyPr wrap="square" lIns="22860" rIns="22860" tIns="9144">
            <a:spAutoFit/>
          </a:bodyPr>
          <a:lstStyle/>
          <a:p>
            <a:pPr>
              <a:defRPr sz="1600" b="1">
                <a:solidFill>
                  <a:srgbClr val="117E6E"/>
                </a:solidFill>
                <a:latin typeface="Aptos"/>
              </a:defRPr>
            </a:pPr>
            <a:r>
              <a:t>Keep all other inputs fixed.</a:t>
            </a: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
          </a:xfrm>
          <a:prstGeom prst="rect">
            <a:avLst/>
          </a:prstGeom>
          <a:solidFill>
            <a:srgbClr val="255E9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10896"/>
            <a:ext cx="10881360" cy="576072"/>
          </a:xfrm>
          <a:prstGeom prst="rect">
            <a:avLst/>
          </a:prstGeom>
          <a:noFill/>
        </p:spPr>
        <p:txBody>
          <a:bodyPr wrap="square" lIns="22860" rIns="22860" tIns="9144">
            <a:spAutoFit/>
          </a:bodyPr>
          <a:lstStyle/>
          <a:p>
            <a:pPr>
              <a:defRPr sz="2700" b="1">
                <a:solidFill>
                  <a:srgbClr val="182B40"/>
                </a:solidFill>
                <a:latin typeface="Aptos"/>
              </a:defRPr>
            </a:pPr>
            <a:r>
              <a:t>Run, compare and record</a:t>
            </a:r>
          </a:p>
        </p:txBody>
      </p:sp>
      <p:sp>
        <p:nvSpPr>
          <p:cNvPr id="4" name="Rectangle 3"/>
          <p:cNvSpPr/>
          <p:nvPr/>
        </p:nvSpPr>
        <p:spPr>
          <a:xfrm>
            <a:off x="594360" y="1362456"/>
            <a:ext cx="64008" cy="4544568"/>
          </a:xfrm>
          <a:prstGeom prst="rect">
            <a:avLst/>
          </a:prstGeom>
          <a:solidFill>
            <a:srgbClr val="255E9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41248" y="1371600"/>
            <a:ext cx="3511296" cy="320040"/>
          </a:xfrm>
          <a:prstGeom prst="rect">
            <a:avLst/>
          </a:prstGeom>
          <a:noFill/>
        </p:spPr>
        <p:txBody>
          <a:bodyPr wrap="square" lIns="22860" rIns="22860" tIns="9144">
            <a:spAutoFit/>
          </a:bodyPr>
          <a:lstStyle/>
          <a:p>
            <a:pPr>
              <a:defRPr sz="1100" b="1">
                <a:solidFill>
                  <a:srgbClr val="255E9C"/>
                </a:solidFill>
                <a:latin typeface="Aptos"/>
              </a:defRPr>
            </a:pPr>
            <a:r>
              <a:t>PRACTICE  /  WEEK 10</a:t>
            </a:r>
          </a:p>
        </p:txBody>
      </p:sp>
      <p:sp>
        <p:nvSpPr>
          <p:cNvPr id="6" name="TextBox 5"/>
          <p:cNvSpPr txBox="1"/>
          <p:nvPr/>
        </p:nvSpPr>
        <p:spPr>
          <a:xfrm>
            <a:off x="841248" y="1847088"/>
            <a:ext cx="3557016" cy="3986784"/>
          </a:xfrm>
          <a:prstGeom prst="rect">
            <a:avLst/>
          </a:prstGeom>
          <a:noFill/>
        </p:spPr>
        <p:txBody>
          <a:bodyPr wrap="square" lIns="22860" rIns="22860" tIns="9144">
            <a:spAutoFit/>
          </a:bodyPr>
          <a:lstStyle/>
          <a:p>
            <a:pPr>
              <a:defRPr sz="1800" b="0">
                <a:solidFill>
                  <a:srgbClr val="182B40"/>
                </a:solidFill>
                <a:latin typeface="Aptos"/>
              </a:defRPr>
            </a:pPr>
            <a:r>
              <a:t>Record the input, the one changed setting, the observed result and a reason for any difference.</a:t>
            </a:r>
          </a:p>
        </p:txBody>
      </p:sp>
      <p:sp>
        <p:nvSpPr>
          <p:cNvPr id="7" name="Rectangle 6"/>
          <p:cNvSpPr/>
          <p:nvPr/>
        </p:nvSpPr>
        <p:spPr>
          <a:xfrm>
            <a:off x="594360" y="6391656"/>
            <a:ext cx="10899648" cy="16459"/>
          </a:xfrm>
          <a:prstGeom prst="rect">
            <a:avLst/>
          </a:prstGeom>
          <a:solidFill>
            <a:srgbClr val="EBF5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21792" y="6510528"/>
            <a:ext cx="10826496" cy="219456"/>
          </a:xfrm>
          <a:prstGeom prst="rect">
            <a:avLst/>
          </a:prstGeom>
          <a:noFill/>
        </p:spPr>
        <p:txBody>
          <a:bodyPr wrap="square" lIns="22860" rIns="22860" tIns="9144">
            <a:spAutoFit/>
          </a:bodyPr>
          <a:lstStyle/>
          <a:p>
            <a:pPr>
              <a:defRPr sz="900" b="0">
                <a:solidFill>
                  <a:srgbClr val="445665"/>
                </a:solidFill>
                <a:latin typeface="Aptos"/>
              </a:defRPr>
            </a:pPr>
            <a:r>
              <a:t>GENERATIVE AI 2027    •    WEEK 10    •    32 / 40</a:t>
            </a:r>
          </a:p>
        </p:txBody>
      </p:sp>
      <p:sp>
        <p:nvSpPr>
          <p:cNvPr id="9" name="Rounded Rectangle 8"/>
          <p:cNvSpPr/>
          <p:nvPr/>
        </p:nvSpPr>
        <p:spPr>
          <a:xfrm>
            <a:off x="4700016" y="1344168"/>
            <a:ext cx="6793992" cy="4727448"/>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ounded Rectangle 9"/>
          <p:cNvSpPr/>
          <p:nvPr/>
        </p:nvSpPr>
        <p:spPr>
          <a:xfrm>
            <a:off x="5029200" y="1792224"/>
            <a:ext cx="1908047" cy="640080"/>
          </a:xfrm>
          <a:prstGeom prst="roundRect">
            <a:avLst/>
          </a:prstGeom>
          <a:solidFill>
            <a:srgbClr val="EBF5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5166360" y="1901952"/>
            <a:ext cx="1633727" cy="438912"/>
          </a:xfrm>
          <a:prstGeom prst="rect">
            <a:avLst/>
          </a:prstGeom>
          <a:noFill/>
        </p:spPr>
        <p:txBody>
          <a:bodyPr wrap="square" lIns="22860" rIns="22860" tIns="9144" anchor="ctr">
            <a:spAutoFit/>
          </a:bodyPr>
          <a:lstStyle/>
          <a:p>
            <a:pPr algn="ctr">
              <a:defRPr sz="1400" b="1">
                <a:solidFill>
                  <a:srgbClr val="182B40"/>
                </a:solidFill>
                <a:latin typeface="Aptos"/>
              </a:defRPr>
            </a:pPr>
            <a:r>
              <a:t>Input</a:t>
            </a:r>
          </a:p>
        </p:txBody>
      </p:sp>
      <p:sp>
        <p:nvSpPr>
          <p:cNvPr id="12" name="Rounded Rectangle 11"/>
          <p:cNvSpPr/>
          <p:nvPr/>
        </p:nvSpPr>
        <p:spPr>
          <a:xfrm>
            <a:off x="7010399" y="1792224"/>
            <a:ext cx="1908047" cy="640080"/>
          </a:xfrm>
          <a:prstGeom prst="roundRect">
            <a:avLst/>
          </a:prstGeom>
          <a:solidFill>
            <a:srgbClr val="EBF5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147560" y="1901952"/>
            <a:ext cx="1633727" cy="438912"/>
          </a:xfrm>
          <a:prstGeom prst="rect">
            <a:avLst/>
          </a:prstGeom>
          <a:noFill/>
        </p:spPr>
        <p:txBody>
          <a:bodyPr wrap="square" lIns="22860" rIns="22860" tIns="9144" anchor="ctr">
            <a:spAutoFit/>
          </a:bodyPr>
          <a:lstStyle/>
          <a:p>
            <a:pPr algn="ctr">
              <a:defRPr sz="1400" b="1">
                <a:solidFill>
                  <a:srgbClr val="182B40"/>
                </a:solidFill>
                <a:latin typeface="Aptos"/>
              </a:defRPr>
            </a:pPr>
            <a:r>
              <a:t>Setting</a:t>
            </a:r>
          </a:p>
        </p:txBody>
      </p:sp>
      <p:sp>
        <p:nvSpPr>
          <p:cNvPr id="14" name="Rounded Rectangle 13"/>
          <p:cNvSpPr/>
          <p:nvPr/>
        </p:nvSpPr>
        <p:spPr>
          <a:xfrm>
            <a:off x="8991599" y="1792224"/>
            <a:ext cx="1908047" cy="640080"/>
          </a:xfrm>
          <a:prstGeom prst="roundRect">
            <a:avLst/>
          </a:prstGeom>
          <a:solidFill>
            <a:srgbClr val="EBF5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9128760" y="1901952"/>
            <a:ext cx="1633727" cy="438912"/>
          </a:xfrm>
          <a:prstGeom prst="rect">
            <a:avLst/>
          </a:prstGeom>
          <a:noFill/>
        </p:spPr>
        <p:txBody>
          <a:bodyPr wrap="square" lIns="22860" rIns="22860" tIns="9144" anchor="ctr">
            <a:spAutoFit/>
          </a:bodyPr>
          <a:lstStyle/>
          <a:p>
            <a:pPr algn="ctr">
              <a:defRPr sz="1400" b="1">
                <a:solidFill>
                  <a:srgbClr val="182B40"/>
                </a:solidFill>
                <a:latin typeface="Aptos"/>
              </a:defRPr>
            </a:pPr>
            <a:r>
              <a:t>Result</a:t>
            </a:r>
          </a:p>
        </p:txBody>
      </p:sp>
      <p:sp>
        <p:nvSpPr>
          <p:cNvPr id="16" name="Rounded Rectangle 15"/>
          <p:cNvSpPr/>
          <p:nvPr/>
        </p:nvSpPr>
        <p:spPr>
          <a:xfrm>
            <a:off x="5029200" y="2560320"/>
            <a:ext cx="1908047" cy="640080"/>
          </a:xfrm>
          <a:prstGeom prst="roundRect">
            <a:avLst/>
          </a:prstGeom>
          <a:solidFill>
            <a:srgbClr val="EFF7F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5166360" y="2670048"/>
            <a:ext cx="1633727" cy="438912"/>
          </a:xfrm>
          <a:prstGeom prst="rect">
            <a:avLst/>
          </a:prstGeom>
          <a:noFill/>
        </p:spPr>
        <p:txBody>
          <a:bodyPr wrap="square" lIns="22860" rIns="22860" tIns="9144" anchor="ctr">
            <a:spAutoFit/>
          </a:bodyPr>
          <a:lstStyle/>
          <a:p>
            <a:pPr algn="ctr">
              <a:defRPr sz="1400" b="1">
                <a:solidFill>
                  <a:srgbClr val="182B40"/>
                </a:solidFill>
                <a:latin typeface="Aptos"/>
              </a:defRPr>
            </a:pPr>
            <a:r>
              <a:t>Original</a:t>
            </a:r>
          </a:p>
        </p:txBody>
      </p:sp>
      <p:sp>
        <p:nvSpPr>
          <p:cNvPr id="18" name="Rounded Rectangle 17"/>
          <p:cNvSpPr/>
          <p:nvPr/>
        </p:nvSpPr>
        <p:spPr>
          <a:xfrm>
            <a:off x="7010399" y="2560320"/>
            <a:ext cx="1908047" cy="640080"/>
          </a:xfrm>
          <a:prstGeom prst="roundRect">
            <a:avLst/>
          </a:prstGeom>
          <a:solidFill>
            <a:srgbClr val="EFF7F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7147560" y="2670048"/>
            <a:ext cx="1633727" cy="438912"/>
          </a:xfrm>
          <a:prstGeom prst="rect">
            <a:avLst/>
          </a:prstGeom>
          <a:noFill/>
        </p:spPr>
        <p:txBody>
          <a:bodyPr wrap="square" lIns="22860" rIns="22860" tIns="9144" anchor="ctr">
            <a:spAutoFit/>
          </a:bodyPr>
          <a:lstStyle/>
          <a:p>
            <a:pPr algn="ctr">
              <a:defRPr sz="1400" b="1">
                <a:solidFill>
                  <a:srgbClr val="182B40"/>
                </a:solidFill>
                <a:latin typeface="Aptos"/>
              </a:defRPr>
            </a:pPr>
            <a:r>
              <a:t>baseline</a:t>
            </a:r>
          </a:p>
        </p:txBody>
      </p:sp>
      <p:sp>
        <p:nvSpPr>
          <p:cNvPr id="20" name="Rounded Rectangle 19"/>
          <p:cNvSpPr/>
          <p:nvPr/>
        </p:nvSpPr>
        <p:spPr>
          <a:xfrm>
            <a:off x="8991599" y="2560320"/>
            <a:ext cx="1908047" cy="640080"/>
          </a:xfrm>
          <a:prstGeom prst="roundRect">
            <a:avLst/>
          </a:prstGeom>
          <a:solidFill>
            <a:srgbClr val="EFF7F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9128760" y="2670048"/>
            <a:ext cx="1633727" cy="438912"/>
          </a:xfrm>
          <a:prstGeom prst="rect">
            <a:avLst/>
          </a:prstGeom>
          <a:noFill/>
        </p:spPr>
        <p:txBody>
          <a:bodyPr wrap="square" lIns="22860" rIns="22860" tIns="9144" anchor="ctr">
            <a:spAutoFit/>
          </a:bodyPr>
          <a:lstStyle/>
          <a:p>
            <a:pPr algn="ctr">
              <a:defRPr sz="1400" b="1">
                <a:solidFill>
                  <a:srgbClr val="182B40"/>
                </a:solidFill>
                <a:latin typeface="Aptos"/>
              </a:defRPr>
            </a:pPr>
            <a:r>
              <a:t>record</a:t>
            </a:r>
          </a:p>
        </p:txBody>
      </p:sp>
      <p:sp>
        <p:nvSpPr>
          <p:cNvPr id="22" name="Rounded Rectangle 21"/>
          <p:cNvSpPr/>
          <p:nvPr/>
        </p:nvSpPr>
        <p:spPr>
          <a:xfrm>
            <a:off x="5029200" y="3328415"/>
            <a:ext cx="1908047" cy="640080"/>
          </a:xfrm>
          <a:prstGeom prst="round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5166360" y="3438144"/>
            <a:ext cx="1633727" cy="438912"/>
          </a:xfrm>
          <a:prstGeom prst="rect">
            <a:avLst/>
          </a:prstGeom>
          <a:noFill/>
        </p:spPr>
        <p:txBody>
          <a:bodyPr wrap="square" lIns="22860" rIns="22860" tIns="9144" anchor="ctr">
            <a:spAutoFit/>
          </a:bodyPr>
          <a:lstStyle/>
          <a:p>
            <a:pPr algn="ctr">
              <a:defRPr sz="1400" b="1">
                <a:solidFill>
                  <a:srgbClr val="182B40"/>
                </a:solidFill>
                <a:latin typeface="Aptos"/>
              </a:defRPr>
            </a:pPr>
            <a:r>
              <a:t>Changed</a:t>
            </a:r>
          </a:p>
        </p:txBody>
      </p:sp>
      <p:sp>
        <p:nvSpPr>
          <p:cNvPr id="24" name="Rounded Rectangle 23"/>
          <p:cNvSpPr/>
          <p:nvPr/>
        </p:nvSpPr>
        <p:spPr>
          <a:xfrm>
            <a:off x="7010399" y="3328415"/>
            <a:ext cx="1908047" cy="640080"/>
          </a:xfrm>
          <a:prstGeom prst="round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7147560" y="3438144"/>
            <a:ext cx="1633727" cy="438912"/>
          </a:xfrm>
          <a:prstGeom prst="rect">
            <a:avLst/>
          </a:prstGeom>
          <a:noFill/>
        </p:spPr>
        <p:txBody>
          <a:bodyPr wrap="square" lIns="22860" rIns="22860" tIns="9144" anchor="ctr">
            <a:spAutoFit/>
          </a:bodyPr>
          <a:lstStyle/>
          <a:p>
            <a:pPr algn="ctr">
              <a:defRPr sz="1400" b="1">
                <a:solidFill>
                  <a:srgbClr val="182B40"/>
                </a:solidFill>
                <a:latin typeface="Aptos"/>
              </a:defRPr>
            </a:pPr>
            <a:r>
              <a:t>one edit</a:t>
            </a:r>
          </a:p>
        </p:txBody>
      </p:sp>
      <p:sp>
        <p:nvSpPr>
          <p:cNvPr id="26" name="Rounded Rectangle 25"/>
          <p:cNvSpPr/>
          <p:nvPr/>
        </p:nvSpPr>
        <p:spPr>
          <a:xfrm>
            <a:off x="8991599" y="3328415"/>
            <a:ext cx="1908047" cy="640080"/>
          </a:xfrm>
          <a:prstGeom prst="round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9128760" y="3438144"/>
            <a:ext cx="1633727" cy="438912"/>
          </a:xfrm>
          <a:prstGeom prst="rect">
            <a:avLst/>
          </a:prstGeom>
          <a:noFill/>
        </p:spPr>
        <p:txBody>
          <a:bodyPr wrap="square" lIns="22860" rIns="22860" tIns="9144" anchor="ctr">
            <a:spAutoFit/>
          </a:bodyPr>
          <a:lstStyle/>
          <a:p>
            <a:pPr algn="ctr">
              <a:defRPr sz="1400" b="1">
                <a:solidFill>
                  <a:srgbClr val="182B40"/>
                </a:solidFill>
                <a:latin typeface="Aptos"/>
              </a:defRPr>
            </a:pPr>
            <a:r>
              <a:t>compare</a:t>
            </a:r>
          </a:p>
        </p:txBody>
      </p:sp>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
          </a:xfrm>
          <a:prstGeom prst="rect">
            <a:avLst/>
          </a:prstGeom>
          <a:solidFill>
            <a:srgbClr val="C7682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10896"/>
            <a:ext cx="10881360" cy="576072"/>
          </a:xfrm>
          <a:prstGeom prst="rect">
            <a:avLst/>
          </a:prstGeom>
          <a:noFill/>
        </p:spPr>
        <p:txBody>
          <a:bodyPr wrap="square" lIns="22860" rIns="22860" tIns="9144">
            <a:spAutoFit/>
          </a:bodyPr>
          <a:lstStyle/>
          <a:p>
            <a:pPr>
              <a:defRPr sz="2700" b="1">
                <a:solidFill>
                  <a:srgbClr val="182B40"/>
                </a:solidFill>
                <a:latin typeface="Aptos"/>
              </a:defRPr>
            </a:pPr>
            <a:r>
              <a:t>Measure without hiding the denominator</a:t>
            </a:r>
          </a:p>
        </p:txBody>
      </p:sp>
      <p:sp>
        <p:nvSpPr>
          <p:cNvPr id="4" name="Rectangle 3"/>
          <p:cNvSpPr/>
          <p:nvPr/>
        </p:nvSpPr>
        <p:spPr>
          <a:xfrm>
            <a:off x="594360" y="1362456"/>
            <a:ext cx="64008" cy="4544568"/>
          </a:xfrm>
          <a:prstGeom prst="rect">
            <a:avLst/>
          </a:prstGeom>
          <a:solidFill>
            <a:srgbClr val="C7682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41248" y="1371600"/>
            <a:ext cx="3511296" cy="320040"/>
          </a:xfrm>
          <a:prstGeom prst="rect">
            <a:avLst/>
          </a:prstGeom>
          <a:noFill/>
        </p:spPr>
        <p:txBody>
          <a:bodyPr wrap="square" lIns="22860" rIns="22860" tIns="9144">
            <a:spAutoFit/>
          </a:bodyPr>
          <a:lstStyle/>
          <a:p>
            <a:pPr>
              <a:defRPr sz="1100" b="1">
                <a:solidFill>
                  <a:srgbClr val="C7682C"/>
                </a:solidFill>
                <a:latin typeface="Aptos"/>
              </a:defRPr>
            </a:pPr>
            <a:r>
              <a:t>CHECK  /  WEEK 10</a:t>
            </a:r>
          </a:p>
        </p:txBody>
      </p:sp>
      <p:sp>
        <p:nvSpPr>
          <p:cNvPr id="6" name="TextBox 5"/>
          <p:cNvSpPr txBox="1"/>
          <p:nvPr/>
        </p:nvSpPr>
        <p:spPr>
          <a:xfrm>
            <a:off x="841248" y="1847088"/>
            <a:ext cx="3557016" cy="3986784"/>
          </a:xfrm>
          <a:prstGeom prst="rect">
            <a:avLst/>
          </a:prstGeom>
          <a:noFill/>
        </p:spPr>
        <p:txBody>
          <a:bodyPr wrap="square" lIns="22860" rIns="22860" tIns="9144">
            <a:spAutoFit/>
          </a:bodyPr>
          <a:lstStyle/>
          <a:p>
            <a:pPr>
              <a:defRPr sz="1800" b="0">
                <a:solidFill>
                  <a:srgbClr val="182B40"/>
                </a:solidFill>
                <a:latin typeface="Aptos"/>
              </a:defRPr>
            </a:pPr>
            <a:r>
              <a:t>Number of correctly checked fields / fields reviewed</a:t>
            </a:r>
          </a:p>
          <a:p>
            <a:pPr>
              <a:defRPr sz="1800" b="0">
                <a:solidFill>
                  <a:srgbClr val="182B40"/>
                </a:solidFill>
                <a:latin typeface="Aptos"/>
              </a:defRPr>
            </a:pPr>
          </a:p>
          <a:p>
            <a:pPr>
              <a:defRPr sz="1800" b="0">
                <a:solidFill>
                  <a:srgbClr val="182B40"/>
                </a:solidFill>
                <a:latin typeface="Aptos"/>
              </a:defRPr>
            </a:pPr>
            <a:r>
              <a:t>Write the numerator, denominator and one failure case.</a:t>
            </a:r>
          </a:p>
        </p:txBody>
      </p:sp>
      <p:sp>
        <p:nvSpPr>
          <p:cNvPr id="7" name="Rectangle 6"/>
          <p:cNvSpPr/>
          <p:nvPr/>
        </p:nvSpPr>
        <p:spPr>
          <a:xfrm>
            <a:off x="594360" y="6391656"/>
            <a:ext cx="10899648" cy="16459"/>
          </a:xfrm>
          <a:prstGeom prst="rect">
            <a:avLst/>
          </a:prstGeom>
          <a:solidFill>
            <a:srgbClr val="EBF5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21792" y="6510528"/>
            <a:ext cx="10826496" cy="219456"/>
          </a:xfrm>
          <a:prstGeom prst="rect">
            <a:avLst/>
          </a:prstGeom>
          <a:noFill/>
        </p:spPr>
        <p:txBody>
          <a:bodyPr wrap="square" lIns="22860" rIns="22860" tIns="9144">
            <a:spAutoFit/>
          </a:bodyPr>
          <a:lstStyle/>
          <a:p>
            <a:pPr>
              <a:defRPr sz="900" b="0">
                <a:solidFill>
                  <a:srgbClr val="445665"/>
                </a:solidFill>
                <a:latin typeface="Aptos"/>
              </a:defRPr>
            </a:pPr>
            <a:r>
              <a:t>GENERATIVE AI 2027    •    WEEK 10    •    33 / 40</a:t>
            </a:r>
          </a:p>
        </p:txBody>
      </p:sp>
      <p:sp>
        <p:nvSpPr>
          <p:cNvPr id="9" name="Rounded Rectangle 8"/>
          <p:cNvSpPr/>
          <p:nvPr/>
        </p:nvSpPr>
        <p:spPr>
          <a:xfrm>
            <a:off x="4700016" y="1344168"/>
            <a:ext cx="6793992" cy="4727448"/>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5074920" y="1572768"/>
            <a:ext cx="6035040" cy="384048"/>
          </a:xfrm>
          <a:prstGeom prst="rect">
            <a:avLst/>
          </a:prstGeom>
          <a:noFill/>
        </p:spPr>
        <p:txBody>
          <a:bodyPr wrap="square" lIns="22860" rIns="22860" tIns="9144">
            <a:spAutoFit/>
          </a:bodyPr>
          <a:lstStyle/>
          <a:p>
            <a:pPr>
              <a:defRPr sz="1500" b="1">
                <a:solidFill>
                  <a:srgbClr val="255E9C"/>
                </a:solidFill>
                <a:latin typeface="Aptos"/>
              </a:defRPr>
            </a:pPr>
            <a:r>
              <a:t>FOLLOW THE DATA THROUGH EACH ARROW</a:t>
            </a:r>
          </a:p>
        </p:txBody>
      </p:sp>
      <p:sp>
        <p:nvSpPr>
          <p:cNvPr id="11" name="Rounded Rectangle 10"/>
          <p:cNvSpPr/>
          <p:nvPr/>
        </p:nvSpPr>
        <p:spPr>
          <a:xfrm>
            <a:off x="5257800" y="2029968"/>
            <a:ext cx="5532120" cy="603504"/>
          </a:xfrm>
          <a:prstGeom prst="roundRect">
            <a:avLst/>
          </a:prstGeom>
          <a:solidFill>
            <a:srgbClr val="EBF5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5394960" y="2139696"/>
            <a:ext cx="5257800" cy="402336"/>
          </a:xfrm>
          <a:prstGeom prst="rect">
            <a:avLst/>
          </a:prstGeom>
          <a:noFill/>
        </p:spPr>
        <p:txBody>
          <a:bodyPr wrap="square" lIns="22860" rIns="22860" tIns="9144" anchor="ctr">
            <a:spAutoFit/>
          </a:bodyPr>
          <a:lstStyle/>
          <a:p>
            <a:pPr algn="ctr">
              <a:defRPr sz="1500" b="1">
                <a:solidFill>
                  <a:srgbClr val="182B40"/>
                </a:solidFill>
                <a:latin typeface="Aptos"/>
              </a:defRPr>
            </a:pPr>
            <a:r>
              <a:t>Define success</a:t>
            </a:r>
          </a:p>
        </p:txBody>
      </p:sp>
      <p:cxnSp>
        <p:nvCxnSpPr>
          <p:cNvPr id="13" name="Connector 12"/>
          <p:cNvCxnSpPr/>
          <p:nvPr/>
        </p:nvCxnSpPr>
        <p:spPr>
          <a:xfrm>
            <a:off x="8019288" y="2651760"/>
            <a:ext cx="0" cy="210312"/>
          </a:xfrm>
          <a:prstGeom prst="line">
            <a:avLst/>
          </a:prstGeom>
          <a:ln w="27940">
            <a:solidFill>
              <a:srgbClr val="255E9C"/>
            </a:solidFill>
          </a:ln>
        </p:spPr>
        <p:style>
          <a:lnRef idx="2">
            <a:schemeClr val="accent1"/>
          </a:lnRef>
          <a:fillRef idx="0">
            <a:schemeClr val="accent1"/>
          </a:fillRef>
          <a:effectRef idx="1">
            <a:schemeClr val="accent1"/>
          </a:effectRef>
          <a:fontRef idx="minor">
            <a:schemeClr val="tx1"/>
          </a:fontRef>
        </p:style>
      </p:cxnSp>
      <p:sp>
        <p:nvSpPr>
          <p:cNvPr id="14" name="Chevron 13"/>
          <p:cNvSpPr/>
          <p:nvPr/>
        </p:nvSpPr>
        <p:spPr>
          <a:xfrm>
            <a:off x="7936992" y="2798064"/>
            <a:ext cx="146304" cy="128016"/>
          </a:xfrm>
          <a:prstGeom prst="chevron">
            <a:avLst/>
          </a:prstGeom>
          <a:solidFill>
            <a:srgbClr val="255E9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ounded Rectangle 14"/>
          <p:cNvSpPr/>
          <p:nvPr/>
        </p:nvSpPr>
        <p:spPr>
          <a:xfrm>
            <a:off x="5257800" y="2898648"/>
            <a:ext cx="5532120" cy="603504"/>
          </a:xfrm>
          <a:prstGeom prst="roundRect">
            <a:avLst/>
          </a:prstGeom>
          <a:solidFill>
            <a:srgbClr val="EFF7F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5394960" y="3008376"/>
            <a:ext cx="5257800" cy="402336"/>
          </a:xfrm>
          <a:prstGeom prst="rect">
            <a:avLst/>
          </a:prstGeom>
          <a:noFill/>
        </p:spPr>
        <p:txBody>
          <a:bodyPr wrap="square" lIns="22860" rIns="22860" tIns="9144" anchor="ctr">
            <a:spAutoFit/>
          </a:bodyPr>
          <a:lstStyle/>
          <a:p>
            <a:pPr algn="ctr">
              <a:defRPr sz="1500" b="1">
                <a:solidFill>
                  <a:srgbClr val="182B40"/>
                </a:solidFill>
                <a:latin typeface="Aptos"/>
              </a:defRPr>
            </a:pPr>
            <a:r>
              <a:t>Count successes</a:t>
            </a:r>
          </a:p>
        </p:txBody>
      </p:sp>
      <p:cxnSp>
        <p:nvCxnSpPr>
          <p:cNvPr id="17" name="Connector 16"/>
          <p:cNvCxnSpPr/>
          <p:nvPr/>
        </p:nvCxnSpPr>
        <p:spPr>
          <a:xfrm>
            <a:off x="8019288" y="3520440"/>
            <a:ext cx="0" cy="210312"/>
          </a:xfrm>
          <a:prstGeom prst="line">
            <a:avLst/>
          </a:prstGeom>
          <a:ln w="27940">
            <a:solidFill>
              <a:srgbClr val="255E9C"/>
            </a:solidFill>
          </a:ln>
        </p:spPr>
        <p:style>
          <a:lnRef idx="2">
            <a:schemeClr val="accent1"/>
          </a:lnRef>
          <a:fillRef idx="0">
            <a:schemeClr val="accent1"/>
          </a:fillRef>
          <a:effectRef idx="1">
            <a:schemeClr val="accent1"/>
          </a:effectRef>
          <a:fontRef idx="minor">
            <a:schemeClr val="tx1"/>
          </a:fontRef>
        </p:style>
      </p:cxnSp>
      <p:sp>
        <p:nvSpPr>
          <p:cNvPr id="18" name="Chevron 17"/>
          <p:cNvSpPr/>
          <p:nvPr/>
        </p:nvSpPr>
        <p:spPr>
          <a:xfrm>
            <a:off x="7936992" y="3666744"/>
            <a:ext cx="146304" cy="128016"/>
          </a:xfrm>
          <a:prstGeom prst="chevron">
            <a:avLst/>
          </a:prstGeom>
          <a:solidFill>
            <a:srgbClr val="255E9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ounded Rectangle 18"/>
          <p:cNvSpPr/>
          <p:nvPr/>
        </p:nvSpPr>
        <p:spPr>
          <a:xfrm>
            <a:off x="5257800" y="3767328"/>
            <a:ext cx="5532120" cy="603504"/>
          </a:xfrm>
          <a:prstGeom prst="roundRect">
            <a:avLst/>
          </a:prstGeom>
          <a:solidFill>
            <a:srgbClr val="EBF5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5394960" y="3877056"/>
            <a:ext cx="5257800" cy="402336"/>
          </a:xfrm>
          <a:prstGeom prst="rect">
            <a:avLst/>
          </a:prstGeom>
          <a:noFill/>
        </p:spPr>
        <p:txBody>
          <a:bodyPr wrap="square" lIns="22860" rIns="22860" tIns="9144" anchor="ctr">
            <a:spAutoFit/>
          </a:bodyPr>
          <a:lstStyle/>
          <a:p>
            <a:pPr algn="ctr">
              <a:defRPr sz="1500" b="1">
                <a:solidFill>
                  <a:srgbClr val="182B40"/>
                </a:solidFill>
                <a:latin typeface="Aptos"/>
              </a:defRPr>
            </a:pPr>
            <a:r>
              <a:t>Count cases</a:t>
            </a:r>
          </a:p>
        </p:txBody>
      </p:sp>
      <p:cxnSp>
        <p:nvCxnSpPr>
          <p:cNvPr id="21" name="Connector 20"/>
          <p:cNvCxnSpPr/>
          <p:nvPr/>
        </p:nvCxnSpPr>
        <p:spPr>
          <a:xfrm>
            <a:off x="8019288" y="4389120"/>
            <a:ext cx="0" cy="210312"/>
          </a:xfrm>
          <a:prstGeom prst="line">
            <a:avLst/>
          </a:prstGeom>
          <a:ln w="27940">
            <a:solidFill>
              <a:srgbClr val="255E9C"/>
            </a:solidFill>
          </a:ln>
        </p:spPr>
        <p:style>
          <a:lnRef idx="2">
            <a:schemeClr val="accent1"/>
          </a:lnRef>
          <a:fillRef idx="0">
            <a:schemeClr val="accent1"/>
          </a:fillRef>
          <a:effectRef idx="1">
            <a:schemeClr val="accent1"/>
          </a:effectRef>
          <a:fontRef idx="minor">
            <a:schemeClr val="tx1"/>
          </a:fontRef>
        </p:style>
      </p:cxnSp>
      <p:sp>
        <p:nvSpPr>
          <p:cNvPr id="22" name="Chevron 21"/>
          <p:cNvSpPr/>
          <p:nvPr/>
        </p:nvSpPr>
        <p:spPr>
          <a:xfrm>
            <a:off x="7936992" y="4535424"/>
            <a:ext cx="146304" cy="128016"/>
          </a:xfrm>
          <a:prstGeom prst="chevron">
            <a:avLst/>
          </a:prstGeom>
          <a:solidFill>
            <a:srgbClr val="255E9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ounded Rectangle 22"/>
          <p:cNvSpPr/>
          <p:nvPr/>
        </p:nvSpPr>
        <p:spPr>
          <a:xfrm>
            <a:off x="5257800" y="4636008"/>
            <a:ext cx="5532120" cy="603504"/>
          </a:xfrm>
          <a:prstGeom prst="roundRect">
            <a:avLst/>
          </a:prstGeom>
          <a:solidFill>
            <a:srgbClr val="EFF7F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5394960" y="4745736"/>
            <a:ext cx="5257800" cy="402336"/>
          </a:xfrm>
          <a:prstGeom prst="rect">
            <a:avLst/>
          </a:prstGeom>
          <a:noFill/>
        </p:spPr>
        <p:txBody>
          <a:bodyPr wrap="square" lIns="22860" rIns="22860" tIns="9144" anchor="ctr">
            <a:spAutoFit/>
          </a:bodyPr>
          <a:lstStyle/>
          <a:p>
            <a:pPr algn="ctr">
              <a:defRPr sz="1500" b="1">
                <a:solidFill>
                  <a:srgbClr val="182B40"/>
                </a:solidFill>
                <a:latin typeface="Aptos"/>
              </a:defRPr>
            </a:pPr>
            <a:r>
              <a:t>Inspect errors</a:t>
            </a:r>
          </a:p>
        </p:txBody>
      </p:sp>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
          </a:xfrm>
          <a:prstGeom prst="rect">
            <a:avLst/>
          </a:prstGeom>
          <a:solidFill>
            <a:srgbClr val="C7682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10896"/>
            <a:ext cx="10881360" cy="576072"/>
          </a:xfrm>
          <a:prstGeom prst="rect">
            <a:avLst/>
          </a:prstGeom>
          <a:noFill/>
        </p:spPr>
        <p:txBody>
          <a:bodyPr wrap="square" lIns="22860" rIns="22860" tIns="9144">
            <a:spAutoFit/>
          </a:bodyPr>
          <a:lstStyle/>
          <a:p>
            <a:pPr>
              <a:defRPr sz="2700" b="1">
                <a:solidFill>
                  <a:srgbClr val="182B40"/>
                </a:solidFill>
                <a:latin typeface="Aptos"/>
              </a:defRPr>
            </a:pPr>
            <a:r>
              <a:t>Error detective: find the layer</a:t>
            </a:r>
          </a:p>
        </p:txBody>
      </p:sp>
      <p:sp>
        <p:nvSpPr>
          <p:cNvPr id="4" name="Rectangle 3"/>
          <p:cNvSpPr/>
          <p:nvPr/>
        </p:nvSpPr>
        <p:spPr>
          <a:xfrm>
            <a:off x="594360" y="1362456"/>
            <a:ext cx="64008" cy="4544568"/>
          </a:xfrm>
          <a:prstGeom prst="rect">
            <a:avLst/>
          </a:prstGeom>
          <a:solidFill>
            <a:srgbClr val="C7682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41248" y="1371600"/>
            <a:ext cx="3511296" cy="320040"/>
          </a:xfrm>
          <a:prstGeom prst="rect">
            <a:avLst/>
          </a:prstGeom>
          <a:noFill/>
        </p:spPr>
        <p:txBody>
          <a:bodyPr wrap="square" lIns="22860" rIns="22860" tIns="9144">
            <a:spAutoFit/>
          </a:bodyPr>
          <a:lstStyle/>
          <a:p>
            <a:pPr>
              <a:defRPr sz="1100" b="1">
                <a:solidFill>
                  <a:srgbClr val="C7682C"/>
                </a:solidFill>
                <a:latin typeface="Aptos"/>
              </a:defRPr>
            </a:pPr>
            <a:r>
              <a:t>CHECK  /  WEEK 10</a:t>
            </a:r>
          </a:p>
        </p:txBody>
      </p:sp>
      <p:sp>
        <p:nvSpPr>
          <p:cNvPr id="6" name="TextBox 5"/>
          <p:cNvSpPr txBox="1"/>
          <p:nvPr/>
        </p:nvSpPr>
        <p:spPr>
          <a:xfrm>
            <a:off x="841248" y="1847088"/>
            <a:ext cx="3557016" cy="3986784"/>
          </a:xfrm>
          <a:prstGeom prst="rect">
            <a:avLst/>
          </a:prstGeom>
          <a:noFill/>
        </p:spPr>
        <p:txBody>
          <a:bodyPr wrap="square" lIns="22860" rIns="22860" tIns="9144">
            <a:spAutoFit/>
          </a:bodyPr>
          <a:lstStyle/>
          <a:p>
            <a:pPr>
              <a:defRPr sz="1800" b="0">
                <a:solidFill>
                  <a:srgbClr val="182B40"/>
                </a:solidFill>
                <a:latin typeface="Aptos"/>
              </a:defRPr>
            </a:pPr>
            <a:r>
              <a:t>Plausible wrong claim: The notebook performs OCR on a real image.</a:t>
            </a:r>
          </a:p>
          <a:p>
            <a:pPr>
              <a:defRPr sz="1800" b="0">
                <a:solidFill>
                  <a:srgbClr val="182B40"/>
                </a:solidFill>
                <a:latin typeface="Aptos"/>
              </a:defRPr>
            </a:pPr>
          </a:p>
          <a:p>
            <a:pPr>
              <a:defRPr sz="1800" b="0">
                <a:solidFill>
                  <a:srgbClr val="182B40"/>
                </a:solidFill>
                <a:latin typeface="Aptos"/>
              </a:defRPr>
            </a:pPr>
            <a:r>
              <a:t>Correct it using the case evidence.</a:t>
            </a:r>
          </a:p>
        </p:txBody>
      </p:sp>
      <p:sp>
        <p:nvSpPr>
          <p:cNvPr id="7" name="Rectangle 6"/>
          <p:cNvSpPr/>
          <p:nvPr/>
        </p:nvSpPr>
        <p:spPr>
          <a:xfrm>
            <a:off x="594360" y="6391656"/>
            <a:ext cx="10899648" cy="16459"/>
          </a:xfrm>
          <a:prstGeom prst="rect">
            <a:avLst/>
          </a:prstGeom>
          <a:solidFill>
            <a:srgbClr val="EBF5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21792" y="6510528"/>
            <a:ext cx="10826496" cy="219456"/>
          </a:xfrm>
          <a:prstGeom prst="rect">
            <a:avLst/>
          </a:prstGeom>
          <a:noFill/>
        </p:spPr>
        <p:txBody>
          <a:bodyPr wrap="square" lIns="22860" rIns="22860" tIns="9144">
            <a:spAutoFit/>
          </a:bodyPr>
          <a:lstStyle/>
          <a:p>
            <a:pPr>
              <a:defRPr sz="900" b="0">
                <a:solidFill>
                  <a:srgbClr val="445665"/>
                </a:solidFill>
                <a:latin typeface="Aptos"/>
              </a:defRPr>
            </a:pPr>
            <a:r>
              <a:t>GENERATIVE AI 2027    •    WEEK 10    •    34 / 40</a:t>
            </a:r>
          </a:p>
        </p:txBody>
      </p:sp>
      <p:sp>
        <p:nvSpPr>
          <p:cNvPr id="9" name="Rounded Rectangle 8"/>
          <p:cNvSpPr/>
          <p:nvPr/>
        </p:nvSpPr>
        <p:spPr>
          <a:xfrm>
            <a:off x="4700016" y="1344168"/>
            <a:ext cx="6793992" cy="4727448"/>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5074920" y="1581912"/>
            <a:ext cx="5852160" cy="365760"/>
          </a:xfrm>
          <a:prstGeom prst="rect">
            <a:avLst/>
          </a:prstGeom>
          <a:noFill/>
        </p:spPr>
        <p:txBody>
          <a:bodyPr wrap="square" lIns="22860" rIns="22860" tIns="9144">
            <a:spAutoFit/>
          </a:bodyPr>
          <a:lstStyle/>
          <a:p>
            <a:pPr>
              <a:defRPr sz="1500" b="1">
                <a:solidFill>
                  <a:srgbClr val="255E9C"/>
                </a:solidFill>
                <a:latin typeface="Aptos"/>
              </a:defRPr>
            </a:pPr>
            <a:r>
              <a:t>TEST THE CLAIM AGAINST THE EVIDENCE</a:t>
            </a:r>
          </a:p>
        </p:txBody>
      </p:sp>
      <p:sp>
        <p:nvSpPr>
          <p:cNvPr id="11" name="TextBox 10"/>
          <p:cNvSpPr txBox="1"/>
          <p:nvPr/>
        </p:nvSpPr>
        <p:spPr>
          <a:xfrm>
            <a:off x="5084064" y="2066543"/>
            <a:ext cx="5669280" cy="320040"/>
          </a:xfrm>
          <a:prstGeom prst="rect">
            <a:avLst/>
          </a:prstGeom>
          <a:noFill/>
        </p:spPr>
        <p:txBody>
          <a:bodyPr wrap="square" lIns="22860" rIns="22860" tIns="9144">
            <a:spAutoFit/>
          </a:bodyPr>
          <a:lstStyle/>
          <a:p>
            <a:pPr>
              <a:defRPr sz="1300" b="1">
                <a:solidFill>
                  <a:srgbClr val="B74945"/>
                </a:solidFill>
                <a:latin typeface="Aptos"/>
              </a:defRPr>
            </a:pPr>
            <a:r>
              <a:t>TEMPTING CLAIM</a:t>
            </a:r>
          </a:p>
        </p:txBody>
      </p:sp>
      <p:sp>
        <p:nvSpPr>
          <p:cNvPr id="12" name="Rounded Rectangle 11"/>
          <p:cNvSpPr/>
          <p:nvPr/>
        </p:nvSpPr>
        <p:spPr>
          <a:xfrm>
            <a:off x="5047488" y="2441448"/>
            <a:ext cx="6126480" cy="1014984"/>
          </a:xfrm>
          <a:prstGeom prst="roundRect">
            <a:avLst/>
          </a:prstGeom>
          <a:solidFill>
            <a:srgbClr val="FDEF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5184648" y="2551176"/>
            <a:ext cx="5852160" cy="813816"/>
          </a:xfrm>
          <a:prstGeom prst="rect">
            <a:avLst/>
          </a:prstGeom>
          <a:noFill/>
        </p:spPr>
        <p:txBody>
          <a:bodyPr wrap="square" lIns="22860" rIns="22860" tIns="9144" anchor="ctr">
            <a:spAutoFit/>
          </a:bodyPr>
          <a:lstStyle/>
          <a:p>
            <a:pPr algn="ctr">
              <a:defRPr sz="1500" b="1">
                <a:solidFill>
                  <a:srgbClr val="182B40"/>
                </a:solidFill>
                <a:latin typeface="Aptos"/>
              </a:defRPr>
            </a:pPr>
            <a:r>
              <a:t>The notebook performs OCR on a real image.</a:t>
            </a:r>
          </a:p>
        </p:txBody>
      </p:sp>
      <p:sp>
        <p:nvSpPr>
          <p:cNvPr id="14" name="TextBox 13"/>
          <p:cNvSpPr txBox="1"/>
          <p:nvPr/>
        </p:nvSpPr>
        <p:spPr>
          <a:xfrm>
            <a:off x="5084064" y="3666744"/>
            <a:ext cx="5669280" cy="320040"/>
          </a:xfrm>
          <a:prstGeom prst="rect">
            <a:avLst/>
          </a:prstGeom>
          <a:noFill/>
        </p:spPr>
        <p:txBody>
          <a:bodyPr wrap="square" lIns="22860" rIns="22860" tIns="9144">
            <a:spAutoFit/>
          </a:bodyPr>
          <a:lstStyle/>
          <a:p>
            <a:pPr>
              <a:defRPr sz="1300" b="1">
                <a:solidFill>
                  <a:srgbClr val="117E6E"/>
                </a:solidFill>
                <a:latin typeface="Aptos"/>
              </a:defRPr>
            </a:pPr>
            <a:r>
              <a:t>SUPPORTED EXPLANATION</a:t>
            </a:r>
          </a:p>
        </p:txBody>
      </p:sp>
      <p:sp>
        <p:nvSpPr>
          <p:cNvPr id="15" name="Rounded Rectangle 14"/>
          <p:cNvSpPr/>
          <p:nvPr/>
        </p:nvSpPr>
        <p:spPr>
          <a:xfrm>
            <a:off x="5047488" y="4050791"/>
            <a:ext cx="6126480" cy="1005840"/>
          </a:xfrm>
          <a:prstGeom prst="roundRect">
            <a:avLst/>
          </a:prstGeom>
          <a:solidFill>
            <a:srgbClr val="EFF7F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5184648" y="4160520"/>
            <a:ext cx="5852160" cy="804672"/>
          </a:xfrm>
          <a:prstGeom prst="rect">
            <a:avLst/>
          </a:prstGeom>
          <a:noFill/>
        </p:spPr>
        <p:txBody>
          <a:bodyPr wrap="square" lIns="22860" rIns="22860" tIns="9144" anchor="ctr">
            <a:spAutoFit/>
          </a:bodyPr>
          <a:lstStyle/>
          <a:p>
            <a:pPr algn="ctr">
              <a:defRPr sz="1500" b="1">
                <a:solidFill>
                  <a:srgbClr val="182B40"/>
                </a:solidFill>
                <a:latin typeface="Aptos"/>
              </a:defRPr>
            </a:pPr>
            <a:r>
              <a:t>This core lab uses prepared transcription to teach verification. Image/OCR integration is an optional extension.</a:t>
            </a:r>
          </a:p>
        </p:txBody>
      </p:sp>
      <p:sp>
        <p:nvSpPr>
          <p:cNvPr id="17" name="TextBox 16"/>
          <p:cNvSpPr txBox="1"/>
          <p:nvPr/>
        </p:nvSpPr>
        <p:spPr>
          <a:xfrm>
            <a:off x="5120640" y="5321808"/>
            <a:ext cx="5897880" cy="566928"/>
          </a:xfrm>
          <a:prstGeom prst="rect">
            <a:avLst/>
          </a:prstGeom>
          <a:noFill/>
        </p:spPr>
        <p:txBody>
          <a:bodyPr wrap="square" lIns="22860" rIns="22860" tIns="9144">
            <a:spAutoFit/>
          </a:bodyPr>
          <a:lstStyle/>
          <a:p>
            <a:pPr>
              <a:defRPr sz="1300" b="0">
                <a:solidFill>
                  <a:srgbClr val="445665"/>
                </a:solidFill>
                <a:latin typeface="Aptos"/>
              </a:defRPr>
            </a:pPr>
            <a:r>
              <a:t>Name a test that would catch this failure.</a:t>
            </a:r>
          </a:p>
        </p:txBody>
      </p:sp>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
          </a:xfrm>
          <a:prstGeom prst="rect">
            <a:avLst/>
          </a:prstGeom>
          <a:solidFill>
            <a:srgbClr val="C7682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10896"/>
            <a:ext cx="10881360" cy="576072"/>
          </a:xfrm>
          <a:prstGeom prst="rect">
            <a:avLst/>
          </a:prstGeom>
          <a:noFill/>
        </p:spPr>
        <p:txBody>
          <a:bodyPr wrap="square" lIns="22860" rIns="22860" tIns="9144">
            <a:spAutoFit/>
          </a:bodyPr>
          <a:lstStyle/>
          <a:p>
            <a:pPr>
              <a:defRPr sz="2700" b="1">
                <a:solidFill>
                  <a:srgbClr val="182B40"/>
                </a:solidFill>
                <a:latin typeface="Aptos"/>
              </a:defRPr>
            </a:pPr>
            <a:r>
              <a:t>Transfer to a new situation</a:t>
            </a:r>
          </a:p>
        </p:txBody>
      </p:sp>
      <p:sp>
        <p:nvSpPr>
          <p:cNvPr id="4" name="Rectangle 3"/>
          <p:cNvSpPr/>
          <p:nvPr/>
        </p:nvSpPr>
        <p:spPr>
          <a:xfrm>
            <a:off x="594360" y="1362456"/>
            <a:ext cx="64008" cy="4544568"/>
          </a:xfrm>
          <a:prstGeom prst="rect">
            <a:avLst/>
          </a:prstGeom>
          <a:solidFill>
            <a:srgbClr val="C7682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41248" y="1371600"/>
            <a:ext cx="3511296" cy="320040"/>
          </a:xfrm>
          <a:prstGeom prst="rect">
            <a:avLst/>
          </a:prstGeom>
          <a:noFill/>
        </p:spPr>
        <p:txBody>
          <a:bodyPr wrap="square" lIns="22860" rIns="22860" tIns="9144">
            <a:spAutoFit/>
          </a:bodyPr>
          <a:lstStyle/>
          <a:p>
            <a:pPr>
              <a:defRPr sz="1100" b="1">
                <a:solidFill>
                  <a:srgbClr val="C7682C"/>
                </a:solidFill>
                <a:latin typeface="Aptos"/>
              </a:defRPr>
            </a:pPr>
            <a:r>
              <a:t>CHECK  /  WEEK 10</a:t>
            </a:r>
          </a:p>
        </p:txBody>
      </p:sp>
      <p:sp>
        <p:nvSpPr>
          <p:cNvPr id="6" name="TextBox 5"/>
          <p:cNvSpPr txBox="1"/>
          <p:nvPr/>
        </p:nvSpPr>
        <p:spPr>
          <a:xfrm>
            <a:off x="841248" y="1847088"/>
            <a:ext cx="3557016" cy="3986784"/>
          </a:xfrm>
          <a:prstGeom prst="rect">
            <a:avLst/>
          </a:prstGeom>
          <a:noFill/>
        </p:spPr>
        <p:txBody>
          <a:bodyPr wrap="square" lIns="22860" rIns="22860" tIns="9144">
            <a:spAutoFit/>
          </a:bodyPr>
          <a:lstStyle/>
          <a:p>
            <a:pPr>
              <a:defRPr sz="1800" b="0">
                <a:solidFill>
                  <a:srgbClr val="182B40"/>
                </a:solidFill>
                <a:latin typeface="Aptos"/>
              </a:defRPr>
            </a:pPr>
            <a:r>
              <a:t>A blurred invoice number looks like INV-08 or INV-03. Which field should be marked uncertain?</a:t>
            </a:r>
          </a:p>
          <a:p>
            <a:pPr>
              <a:defRPr sz="1800" b="0">
                <a:solidFill>
                  <a:srgbClr val="182B40"/>
                </a:solidFill>
                <a:latin typeface="Aptos"/>
              </a:defRPr>
            </a:pPr>
          </a:p>
          <a:p>
            <a:pPr>
              <a:defRPr sz="1800" b="0">
                <a:solidFill>
                  <a:srgbClr val="182B40"/>
                </a:solidFill>
                <a:latin typeface="Aptos"/>
              </a:defRPr>
            </a:pPr>
            <a:r>
              <a:t>Explain which source or test would settle it.</a:t>
            </a:r>
          </a:p>
        </p:txBody>
      </p:sp>
      <p:sp>
        <p:nvSpPr>
          <p:cNvPr id="7" name="Rectangle 6"/>
          <p:cNvSpPr/>
          <p:nvPr/>
        </p:nvSpPr>
        <p:spPr>
          <a:xfrm>
            <a:off x="594360" y="6391656"/>
            <a:ext cx="10899648" cy="16459"/>
          </a:xfrm>
          <a:prstGeom prst="rect">
            <a:avLst/>
          </a:prstGeom>
          <a:solidFill>
            <a:srgbClr val="EBF5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21792" y="6510528"/>
            <a:ext cx="10826496" cy="219456"/>
          </a:xfrm>
          <a:prstGeom prst="rect">
            <a:avLst/>
          </a:prstGeom>
          <a:noFill/>
        </p:spPr>
        <p:txBody>
          <a:bodyPr wrap="square" lIns="22860" rIns="22860" tIns="9144">
            <a:spAutoFit/>
          </a:bodyPr>
          <a:lstStyle/>
          <a:p>
            <a:pPr>
              <a:defRPr sz="900" b="0">
                <a:solidFill>
                  <a:srgbClr val="445665"/>
                </a:solidFill>
                <a:latin typeface="Aptos"/>
              </a:defRPr>
            </a:pPr>
            <a:r>
              <a:t>GENERATIVE AI 2027    •    WEEK 10    •    35 / 40</a:t>
            </a:r>
          </a:p>
        </p:txBody>
      </p:sp>
      <p:sp>
        <p:nvSpPr>
          <p:cNvPr id="9" name="Rounded Rectangle 8"/>
          <p:cNvSpPr/>
          <p:nvPr/>
        </p:nvSpPr>
        <p:spPr>
          <a:xfrm>
            <a:off x="4700016" y="1344168"/>
            <a:ext cx="6793992" cy="4727448"/>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5074920" y="1581912"/>
            <a:ext cx="6126480" cy="411480"/>
          </a:xfrm>
          <a:prstGeom prst="rect">
            <a:avLst/>
          </a:prstGeom>
          <a:noFill/>
        </p:spPr>
        <p:txBody>
          <a:bodyPr wrap="square" lIns="22860" rIns="22860" tIns="9144">
            <a:spAutoFit/>
          </a:bodyPr>
          <a:lstStyle/>
          <a:p>
            <a:pPr>
              <a:defRPr sz="1600" b="1">
                <a:solidFill>
                  <a:srgbClr val="255E9C"/>
                </a:solidFill>
                <a:latin typeface="Aptos"/>
              </a:defRPr>
            </a:pPr>
            <a:r>
              <a:t>VOTE FIRST  •  GIVE A REASON</a:t>
            </a:r>
          </a:p>
        </p:txBody>
      </p:sp>
      <p:sp>
        <p:nvSpPr>
          <p:cNvPr id="11" name="Rounded Rectangle 10"/>
          <p:cNvSpPr/>
          <p:nvPr/>
        </p:nvSpPr>
        <p:spPr>
          <a:xfrm>
            <a:off x="5074920" y="2212848"/>
            <a:ext cx="6080760" cy="1115568"/>
          </a:xfrm>
          <a:prstGeom prst="roundRect">
            <a:avLst/>
          </a:prstGeom>
          <a:solidFill>
            <a:srgbClr val="EBF5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5212080" y="2322576"/>
            <a:ext cx="5806440" cy="914400"/>
          </a:xfrm>
          <a:prstGeom prst="rect">
            <a:avLst/>
          </a:prstGeom>
          <a:noFill/>
        </p:spPr>
        <p:txBody>
          <a:bodyPr wrap="square" lIns="22860" rIns="22860" tIns="9144" anchor="ctr">
            <a:spAutoFit/>
          </a:bodyPr>
          <a:lstStyle/>
          <a:p>
            <a:pPr algn="ctr">
              <a:defRPr sz="1600" b="1">
                <a:solidFill>
                  <a:srgbClr val="182B40"/>
                </a:solidFill>
                <a:latin typeface="Aptos"/>
              </a:defRPr>
            </a:pPr>
            <a:r>
              <a:t>A  Use the visible evidence</a:t>
            </a:r>
          </a:p>
        </p:txBody>
      </p:sp>
      <p:sp>
        <p:nvSpPr>
          <p:cNvPr id="13" name="Rounded Rectangle 12"/>
          <p:cNvSpPr/>
          <p:nvPr/>
        </p:nvSpPr>
        <p:spPr>
          <a:xfrm>
            <a:off x="5074920" y="3657600"/>
            <a:ext cx="6080760" cy="1115568"/>
          </a:xfrm>
          <a:prstGeom prst="roundRect">
            <a:avLst/>
          </a:prstGeom>
          <a:solidFill>
            <a:srgbClr val="FFF9E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5212080" y="3767328"/>
            <a:ext cx="5806440" cy="914400"/>
          </a:xfrm>
          <a:prstGeom prst="rect">
            <a:avLst/>
          </a:prstGeom>
          <a:noFill/>
        </p:spPr>
        <p:txBody>
          <a:bodyPr wrap="square" lIns="22860" rIns="22860" tIns="9144" anchor="ctr">
            <a:spAutoFit/>
          </a:bodyPr>
          <a:lstStyle/>
          <a:p>
            <a:pPr algn="ctr">
              <a:defRPr sz="1600" b="1">
                <a:solidFill>
                  <a:srgbClr val="182B40"/>
                </a:solidFill>
                <a:latin typeface="Aptos"/>
              </a:defRPr>
            </a:pPr>
            <a:r>
              <a:t>B  Flag missing or unsafe evidence</a:t>
            </a:r>
          </a:p>
        </p:txBody>
      </p:sp>
      <p:sp>
        <p:nvSpPr>
          <p:cNvPr id="15" name="TextBox 14"/>
          <p:cNvSpPr txBox="1"/>
          <p:nvPr/>
        </p:nvSpPr>
        <p:spPr>
          <a:xfrm>
            <a:off x="5120640" y="5303520"/>
            <a:ext cx="5806440" cy="411480"/>
          </a:xfrm>
          <a:prstGeom prst="rect">
            <a:avLst/>
          </a:prstGeom>
          <a:noFill/>
        </p:spPr>
        <p:txBody>
          <a:bodyPr wrap="square" lIns="22860" rIns="22860" tIns="9144">
            <a:spAutoFit/>
          </a:bodyPr>
          <a:lstStyle/>
          <a:p>
            <a:pPr>
              <a:defRPr sz="1600" b="1">
                <a:solidFill>
                  <a:srgbClr val="117E6E"/>
                </a:solidFill>
                <a:latin typeface="Aptos"/>
              </a:defRPr>
            </a:pPr>
            <a:r>
              <a:t>Which source or test could settle this?</a:t>
            </a:r>
          </a:p>
        </p:txBody>
      </p:sp>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
          </a:xfrm>
          <a:prstGeom prst="rect">
            <a:avLst/>
          </a:prstGeom>
          <a:solidFill>
            <a:srgbClr val="C7682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10896"/>
            <a:ext cx="10881360" cy="576072"/>
          </a:xfrm>
          <a:prstGeom prst="rect">
            <a:avLst/>
          </a:prstGeom>
          <a:noFill/>
        </p:spPr>
        <p:txBody>
          <a:bodyPr wrap="square" lIns="22860" rIns="22860" tIns="9144">
            <a:spAutoFit/>
          </a:bodyPr>
          <a:lstStyle/>
          <a:p>
            <a:pPr>
              <a:defRPr sz="2700" b="1">
                <a:solidFill>
                  <a:srgbClr val="182B40"/>
                </a:solidFill>
                <a:latin typeface="Aptos"/>
              </a:defRPr>
            </a:pPr>
            <a:r>
              <a:t>Explain it to a partner</a:t>
            </a:r>
          </a:p>
        </p:txBody>
      </p:sp>
      <p:sp>
        <p:nvSpPr>
          <p:cNvPr id="4" name="Rectangle 3"/>
          <p:cNvSpPr/>
          <p:nvPr/>
        </p:nvSpPr>
        <p:spPr>
          <a:xfrm>
            <a:off x="594360" y="1362456"/>
            <a:ext cx="64008" cy="4544568"/>
          </a:xfrm>
          <a:prstGeom prst="rect">
            <a:avLst/>
          </a:prstGeom>
          <a:solidFill>
            <a:srgbClr val="C7682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41248" y="1371600"/>
            <a:ext cx="3511296" cy="320040"/>
          </a:xfrm>
          <a:prstGeom prst="rect">
            <a:avLst/>
          </a:prstGeom>
          <a:noFill/>
        </p:spPr>
        <p:txBody>
          <a:bodyPr wrap="square" lIns="22860" rIns="22860" tIns="9144">
            <a:spAutoFit/>
          </a:bodyPr>
          <a:lstStyle/>
          <a:p>
            <a:pPr>
              <a:defRPr sz="1100" b="1">
                <a:solidFill>
                  <a:srgbClr val="C7682C"/>
                </a:solidFill>
                <a:latin typeface="Aptos"/>
              </a:defRPr>
            </a:pPr>
            <a:r>
              <a:t>CHECK  /  WEEK 10</a:t>
            </a:r>
          </a:p>
        </p:txBody>
      </p:sp>
      <p:sp>
        <p:nvSpPr>
          <p:cNvPr id="6" name="TextBox 5"/>
          <p:cNvSpPr txBox="1"/>
          <p:nvPr/>
        </p:nvSpPr>
        <p:spPr>
          <a:xfrm>
            <a:off x="841248" y="1847088"/>
            <a:ext cx="3557016" cy="3986784"/>
          </a:xfrm>
          <a:prstGeom prst="rect">
            <a:avLst/>
          </a:prstGeom>
          <a:noFill/>
        </p:spPr>
        <p:txBody>
          <a:bodyPr wrap="square" lIns="22860" rIns="22860" tIns="9144">
            <a:spAutoFit/>
          </a:bodyPr>
          <a:lstStyle/>
          <a:p>
            <a:pPr>
              <a:defRPr sz="1800" b="0">
                <a:solidFill>
                  <a:srgbClr val="182B40"/>
                </a:solidFill>
                <a:latin typeface="Aptos"/>
              </a:defRPr>
            </a:pPr>
            <a:r>
              <a:t>Without reading the slide, name the input, one processing step and the check. Your partner should ask “How do you know?”</a:t>
            </a:r>
          </a:p>
        </p:txBody>
      </p:sp>
      <p:sp>
        <p:nvSpPr>
          <p:cNvPr id="7" name="Rectangle 6"/>
          <p:cNvSpPr/>
          <p:nvPr/>
        </p:nvSpPr>
        <p:spPr>
          <a:xfrm>
            <a:off x="594360" y="6391656"/>
            <a:ext cx="10899648" cy="16459"/>
          </a:xfrm>
          <a:prstGeom prst="rect">
            <a:avLst/>
          </a:prstGeom>
          <a:solidFill>
            <a:srgbClr val="EBF5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21792" y="6510528"/>
            <a:ext cx="10826496" cy="219456"/>
          </a:xfrm>
          <a:prstGeom prst="rect">
            <a:avLst/>
          </a:prstGeom>
          <a:noFill/>
        </p:spPr>
        <p:txBody>
          <a:bodyPr wrap="square" lIns="22860" rIns="22860" tIns="9144">
            <a:spAutoFit/>
          </a:bodyPr>
          <a:lstStyle/>
          <a:p>
            <a:pPr>
              <a:defRPr sz="900" b="0">
                <a:solidFill>
                  <a:srgbClr val="445665"/>
                </a:solidFill>
                <a:latin typeface="Aptos"/>
              </a:defRPr>
            </a:pPr>
            <a:r>
              <a:t>GENERATIVE AI 2027    •    WEEK 10    •    36 / 40</a:t>
            </a:r>
          </a:p>
        </p:txBody>
      </p:sp>
      <p:sp>
        <p:nvSpPr>
          <p:cNvPr id="9" name="Rounded Rectangle 8"/>
          <p:cNvSpPr/>
          <p:nvPr/>
        </p:nvSpPr>
        <p:spPr>
          <a:xfrm>
            <a:off x="4700016" y="1344168"/>
            <a:ext cx="6793992" cy="4727448"/>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5074920" y="1572768"/>
            <a:ext cx="6035040" cy="384048"/>
          </a:xfrm>
          <a:prstGeom prst="rect">
            <a:avLst/>
          </a:prstGeom>
          <a:noFill/>
        </p:spPr>
        <p:txBody>
          <a:bodyPr wrap="square" lIns="22860" rIns="22860" tIns="9144">
            <a:spAutoFit/>
          </a:bodyPr>
          <a:lstStyle/>
          <a:p>
            <a:pPr>
              <a:defRPr sz="1500" b="1">
                <a:solidFill>
                  <a:srgbClr val="255E9C"/>
                </a:solidFill>
                <a:latin typeface="Aptos"/>
              </a:defRPr>
            </a:pPr>
            <a:r>
              <a:t>FOLLOW THE DATA THROUGH EACH ARROW</a:t>
            </a:r>
          </a:p>
        </p:txBody>
      </p:sp>
      <p:sp>
        <p:nvSpPr>
          <p:cNvPr id="11" name="Rounded Rectangle 10"/>
          <p:cNvSpPr/>
          <p:nvPr/>
        </p:nvSpPr>
        <p:spPr>
          <a:xfrm>
            <a:off x="5257800" y="2029968"/>
            <a:ext cx="5532120" cy="603504"/>
          </a:xfrm>
          <a:prstGeom prst="roundRect">
            <a:avLst/>
          </a:prstGeom>
          <a:solidFill>
            <a:srgbClr val="EBF5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5394960" y="2139696"/>
            <a:ext cx="5257800" cy="402336"/>
          </a:xfrm>
          <a:prstGeom prst="rect">
            <a:avLst/>
          </a:prstGeom>
          <a:noFill/>
        </p:spPr>
        <p:txBody>
          <a:bodyPr wrap="square" lIns="22860" rIns="22860" tIns="9144" anchor="ctr">
            <a:spAutoFit/>
          </a:bodyPr>
          <a:lstStyle/>
          <a:p>
            <a:pPr algn="ctr">
              <a:defRPr sz="1500" b="1">
                <a:solidFill>
                  <a:srgbClr val="182B40"/>
                </a:solidFill>
                <a:latin typeface="Aptos"/>
              </a:defRPr>
            </a:pPr>
            <a:r>
              <a:t>Invoice image</a:t>
            </a:r>
          </a:p>
        </p:txBody>
      </p:sp>
      <p:cxnSp>
        <p:nvCxnSpPr>
          <p:cNvPr id="13" name="Connector 12"/>
          <p:cNvCxnSpPr/>
          <p:nvPr/>
        </p:nvCxnSpPr>
        <p:spPr>
          <a:xfrm>
            <a:off x="8019288" y="2651760"/>
            <a:ext cx="0" cy="210312"/>
          </a:xfrm>
          <a:prstGeom prst="line">
            <a:avLst/>
          </a:prstGeom>
          <a:ln w="27940">
            <a:solidFill>
              <a:srgbClr val="255E9C"/>
            </a:solidFill>
          </a:ln>
        </p:spPr>
        <p:style>
          <a:lnRef idx="2">
            <a:schemeClr val="accent1"/>
          </a:lnRef>
          <a:fillRef idx="0">
            <a:schemeClr val="accent1"/>
          </a:fillRef>
          <a:effectRef idx="1">
            <a:schemeClr val="accent1"/>
          </a:effectRef>
          <a:fontRef idx="minor">
            <a:schemeClr val="tx1"/>
          </a:fontRef>
        </p:style>
      </p:cxnSp>
      <p:sp>
        <p:nvSpPr>
          <p:cNvPr id="14" name="Chevron 13"/>
          <p:cNvSpPr/>
          <p:nvPr/>
        </p:nvSpPr>
        <p:spPr>
          <a:xfrm>
            <a:off x="7936992" y="2798064"/>
            <a:ext cx="146304" cy="128016"/>
          </a:xfrm>
          <a:prstGeom prst="chevron">
            <a:avLst/>
          </a:prstGeom>
          <a:solidFill>
            <a:srgbClr val="255E9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ounded Rectangle 14"/>
          <p:cNvSpPr/>
          <p:nvPr/>
        </p:nvSpPr>
        <p:spPr>
          <a:xfrm>
            <a:off x="5257800" y="2898648"/>
            <a:ext cx="5532120" cy="603504"/>
          </a:xfrm>
          <a:prstGeom prst="roundRect">
            <a:avLst/>
          </a:prstGeom>
          <a:solidFill>
            <a:srgbClr val="EFF7F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5394960" y="3008376"/>
            <a:ext cx="5257800" cy="402336"/>
          </a:xfrm>
          <a:prstGeom prst="rect">
            <a:avLst/>
          </a:prstGeom>
          <a:noFill/>
        </p:spPr>
        <p:txBody>
          <a:bodyPr wrap="square" lIns="22860" rIns="22860" tIns="9144" anchor="ctr">
            <a:spAutoFit/>
          </a:bodyPr>
          <a:lstStyle/>
          <a:p>
            <a:pPr algn="ctr">
              <a:defRPr sz="1500" b="1">
                <a:solidFill>
                  <a:srgbClr val="182B40"/>
                </a:solidFill>
                <a:latin typeface="Aptos"/>
              </a:defRPr>
            </a:pPr>
            <a:r>
              <a:t>Prepared text</a:t>
            </a:r>
          </a:p>
        </p:txBody>
      </p:sp>
      <p:cxnSp>
        <p:nvCxnSpPr>
          <p:cNvPr id="17" name="Connector 16"/>
          <p:cNvCxnSpPr/>
          <p:nvPr/>
        </p:nvCxnSpPr>
        <p:spPr>
          <a:xfrm>
            <a:off x="8019288" y="3520440"/>
            <a:ext cx="0" cy="210312"/>
          </a:xfrm>
          <a:prstGeom prst="line">
            <a:avLst/>
          </a:prstGeom>
          <a:ln w="27940">
            <a:solidFill>
              <a:srgbClr val="255E9C"/>
            </a:solidFill>
          </a:ln>
        </p:spPr>
        <p:style>
          <a:lnRef idx="2">
            <a:schemeClr val="accent1"/>
          </a:lnRef>
          <a:fillRef idx="0">
            <a:schemeClr val="accent1"/>
          </a:fillRef>
          <a:effectRef idx="1">
            <a:schemeClr val="accent1"/>
          </a:effectRef>
          <a:fontRef idx="minor">
            <a:schemeClr val="tx1"/>
          </a:fontRef>
        </p:style>
      </p:cxnSp>
      <p:sp>
        <p:nvSpPr>
          <p:cNvPr id="18" name="Chevron 17"/>
          <p:cNvSpPr/>
          <p:nvPr/>
        </p:nvSpPr>
        <p:spPr>
          <a:xfrm>
            <a:off x="7936992" y="3666744"/>
            <a:ext cx="146304" cy="128016"/>
          </a:xfrm>
          <a:prstGeom prst="chevron">
            <a:avLst/>
          </a:prstGeom>
          <a:solidFill>
            <a:srgbClr val="255E9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ounded Rectangle 18"/>
          <p:cNvSpPr/>
          <p:nvPr/>
        </p:nvSpPr>
        <p:spPr>
          <a:xfrm>
            <a:off x="5257800" y="3767328"/>
            <a:ext cx="5532120" cy="603504"/>
          </a:xfrm>
          <a:prstGeom prst="roundRect">
            <a:avLst/>
          </a:prstGeom>
          <a:solidFill>
            <a:srgbClr val="EBF5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5394960" y="3877056"/>
            <a:ext cx="5257800" cy="402336"/>
          </a:xfrm>
          <a:prstGeom prst="rect">
            <a:avLst/>
          </a:prstGeom>
          <a:noFill/>
        </p:spPr>
        <p:txBody>
          <a:bodyPr wrap="square" lIns="22860" rIns="22860" tIns="9144" anchor="ctr">
            <a:spAutoFit/>
          </a:bodyPr>
          <a:lstStyle/>
          <a:p>
            <a:pPr algn="ctr">
              <a:defRPr sz="1500" b="1">
                <a:solidFill>
                  <a:srgbClr val="182B40"/>
                </a:solidFill>
                <a:latin typeface="Aptos"/>
              </a:defRPr>
            </a:pPr>
            <a:r>
              <a:t>Flag mismatch</a:t>
            </a:r>
          </a:p>
        </p:txBody>
      </p:sp>
    </p:spTree>
  </p:cSld>
  <p:clrMapOvr>
    <a:masterClrMapping/>
  </p:clrMapOvr>
</p:sld>
</file>

<file path=ppt/slides/slide3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
          </a:xfrm>
          <a:prstGeom prst="rect">
            <a:avLst/>
          </a:prstGeom>
          <a:solidFill>
            <a:srgbClr val="C7682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10896"/>
            <a:ext cx="10881360" cy="576072"/>
          </a:xfrm>
          <a:prstGeom prst="rect">
            <a:avLst/>
          </a:prstGeom>
          <a:noFill/>
        </p:spPr>
        <p:txBody>
          <a:bodyPr wrap="square" lIns="22860" rIns="22860" tIns="9144">
            <a:spAutoFit/>
          </a:bodyPr>
          <a:lstStyle/>
          <a:p>
            <a:pPr>
              <a:defRPr sz="2700" b="1">
                <a:solidFill>
                  <a:srgbClr val="182B40"/>
                </a:solidFill>
                <a:latin typeface="Aptos"/>
              </a:defRPr>
            </a:pPr>
            <a:r>
              <a:t>Exam rehearsal · explain and apply</a:t>
            </a:r>
          </a:p>
        </p:txBody>
      </p:sp>
      <p:sp>
        <p:nvSpPr>
          <p:cNvPr id="4" name="Rectangle 3"/>
          <p:cNvSpPr/>
          <p:nvPr/>
        </p:nvSpPr>
        <p:spPr>
          <a:xfrm>
            <a:off x="594360" y="1362456"/>
            <a:ext cx="64008" cy="4544568"/>
          </a:xfrm>
          <a:prstGeom prst="rect">
            <a:avLst/>
          </a:prstGeom>
          <a:solidFill>
            <a:srgbClr val="C7682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41248" y="1371600"/>
            <a:ext cx="3511296" cy="320040"/>
          </a:xfrm>
          <a:prstGeom prst="rect">
            <a:avLst/>
          </a:prstGeom>
          <a:noFill/>
        </p:spPr>
        <p:txBody>
          <a:bodyPr wrap="square" lIns="22860" rIns="22860" tIns="9144">
            <a:spAutoFit/>
          </a:bodyPr>
          <a:lstStyle/>
          <a:p>
            <a:pPr>
              <a:defRPr sz="1100" b="1">
                <a:solidFill>
                  <a:srgbClr val="C7682C"/>
                </a:solidFill>
                <a:latin typeface="Aptos"/>
              </a:defRPr>
            </a:pPr>
            <a:r>
              <a:t>CHECK  /  WEEK 10</a:t>
            </a:r>
          </a:p>
        </p:txBody>
      </p:sp>
      <p:sp>
        <p:nvSpPr>
          <p:cNvPr id="6" name="TextBox 5"/>
          <p:cNvSpPr txBox="1"/>
          <p:nvPr/>
        </p:nvSpPr>
        <p:spPr>
          <a:xfrm>
            <a:off x="841248" y="1847088"/>
            <a:ext cx="3557016" cy="3986784"/>
          </a:xfrm>
          <a:prstGeom prst="rect">
            <a:avLst/>
          </a:prstGeom>
          <a:noFill/>
        </p:spPr>
        <p:txBody>
          <a:bodyPr wrap="square" lIns="22860" rIns="22860" tIns="9144">
            <a:spAutoFit/>
          </a:bodyPr>
          <a:lstStyle/>
          <a:p>
            <a:pPr>
              <a:defRPr sz="1800" b="0">
                <a:solidFill>
                  <a:srgbClr val="182B40"/>
                </a:solidFill>
                <a:latin typeface="Aptos"/>
              </a:defRPr>
            </a:pPr>
            <a:r>
              <a:t>What is the difference between extraction and verification?</a:t>
            </a:r>
          </a:p>
          <a:p>
            <a:pPr>
              <a:defRPr sz="1800" b="0">
                <a:solidFill>
                  <a:srgbClr val="182B40"/>
                </a:solidFill>
                <a:latin typeface="Aptos"/>
              </a:defRPr>
            </a:pPr>
          </a:p>
          <a:p>
            <a:pPr>
              <a:defRPr sz="1800" b="0">
                <a:solidFill>
                  <a:srgbClr val="182B40"/>
                </a:solidFill>
                <a:latin typeface="Aptos"/>
              </a:defRPr>
            </a:pPr>
            <a:r>
              <a:t>Write a short answer, then compare with the guide.</a:t>
            </a:r>
          </a:p>
        </p:txBody>
      </p:sp>
      <p:sp>
        <p:nvSpPr>
          <p:cNvPr id="7" name="Rectangle 6"/>
          <p:cNvSpPr/>
          <p:nvPr/>
        </p:nvSpPr>
        <p:spPr>
          <a:xfrm>
            <a:off x="594360" y="6391656"/>
            <a:ext cx="10899648" cy="16459"/>
          </a:xfrm>
          <a:prstGeom prst="rect">
            <a:avLst/>
          </a:prstGeom>
          <a:solidFill>
            <a:srgbClr val="EBF5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21792" y="6510528"/>
            <a:ext cx="10826496" cy="219456"/>
          </a:xfrm>
          <a:prstGeom prst="rect">
            <a:avLst/>
          </a:prstGeom>
          <a:noFill/>
        </p:spPr>
        <p:txBody>
          <a:bodyPr wrap="square" lIns="22860" rIns="22860" tIns="9144">
            <a:spAutoFit/>
          </a:bodyPr>
          <a:lstStyle/>
          <a:p>
            <a:pPr>
              <a:defRPr sz="900" b="0">
                <a:solidFill>
                  <a:srgbClr val="445665"/>
                </a:solidFill>
                <a:latin typeface="Aptos"/>
              </a:defRPr>
            </a:pPr>
            <a:r>
              <a:t>GENERATIVE AI 2027    •    WEEK 10    •    37 / 40</a:t>
            </a:r>
          </a:p>
        </p:txBody>
      </p:sp>
      <p:sp>
        <p:nvSpPr>
          <p:cNvPr id="9" name="Rounded Rectangle 8"/>
          <p:cNvSpPr/>
          <p:nvPr/>
        </p:nvSpPr>
        <p:spPr>
          <a:xfrm>
            <a:off x="4700016" y="1344168"/>
            <a:ext cx="6793992" cy="4727448"/>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ounded Rectangle 9"/>
          <p:cNvSpPr/>
          <p:nvPr/>
        </p:nvSpPr>
        <p:spPr>
          <a:xfrm>
            <a:off x="5074920" y="1600200"/>
            <a:ext cx="658368" cy="822960"/>
          </a:xfrm>
          <a:prstGeom prst="roundRect">
            <a:avLst/>
          </a:prstGeom>
          <a:solidFill>
            <a:srgbClr val="EFF7F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5212080" y="1709928"/>
            <a:ext cx="384048" cy="621792"/>
          </a:xfrm>
          <a:prstGeom prst="rect">
            <a:avLst/>
          </a:prstGeom>
          <a:noFill/>
        </p:spPr>
        <p:txBody>
          <a:bodyPr wrap="square" lIns="22860" rIns="22860" tIns="9144" anchor="ctr">
            <a:spAutoFit/>
          </a:bodyPr>
          <a:lstStyle/>
          <a:p>
            <a:pPr algn="ctr">
              <a:defRPr sz="1800" b="1">
                <a:solidFill>
                  <a:srgbClr val="255E9C"/>
                </a:solidFill>
                <a:latin typeface="Aptos"/>
              </a:defRPr>
            </a:pPr>
            <a:r>
              <a:t>1</a:t>
            </a:r>
          </a:p>
        </p:txBody>
      </p:sp>
      <p:sp>
        <p:nvSpPr>
          <p:cNvPr id="12" name="Rounded Rectangle 11"/>
          <p:cNvSpPr/>
          <p:nvPr/>
        </p:nvSpPr>
        <p:spPr>
          <a:xfrm>
            <a:off x="5916168" y="1600200"/>
            <a:ext cx="5138928" cy="822960"/>
          </a:xfrm>
          <a:prstGeom prst="roundRect">
            <a:avLst/>
          </a:prstGeom>
          <a:solidFill>
            <a:srgbClr val="EBF5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053328" y="1709928"/>
            <a:ext cx="4864608" cy="621792"/>
          </a:xfrm>
          <a:prstGeom prst="rect">
            <a:avLst/>
          </a:prstGeom>
          <a:noFill/>
        </p:spPr>
        <p:txBody>
          <a:bodyPr wrap="square" lIns="22860" rIns="22860" tIns="9144" anchor="ctr">
            <a:spAutoFit/>
          </a:bodyPr>
          <a:lstStyle/>
          <a:p>
            <a:pPr algn="ctr">
              <a:defRPr sz="1600" b="1">
                <a:solidFill>
                  <a:srgbClr val="182B40"/>
                </a:solidFill>
                <a:latin typeface="Aptos"/>
              </a:defRPr>
            </a:pPr>
            <a:r>
              <a:t>State the core idea</a:t>
            </a:r>
          </a:p>
        </p:txBody>
      </p:sp>
      <p:sp>
        <p:nvSpPr>
          <p:cNvPr id="14" name="Rounded Rectangle 13"/>
          <p:cNvSpPr/>
          <p:nvPr/>
        </p:nvSpPr>
        <p:spPr>
          <a:xfrm>
            <a:off x="5074920" y="2551176"/>
            <a:ext cx="658368" cy="822960"/>
          </a:xfrm>
          <a:prstGeom prst="roundRect">
            <a:avLst/>
          </a:prstGeom>
          <a:solidFill>
            <a:srgbClr val="EBF5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5212080" y="2660904"/>
            <a:ext cx="384048" cy="621792"/>
          </a:xfrm>
          <a:prstGeom prst="rect">
            <a:avLst/>
          </a:prstGeom>
          <a:noFill/>
        </p:spPr>
        <p:txBody>
          <a:bodyPr wrap="square" lIns="22860" rIns="22860" tIns="9144" anchor="ctr">
            <a:spAutoFit/>
          </a:bodyPr>
          <a:lstStyle/>
          <a:p>
            <a:pPr algn="ctr">
              <a:defRPr sz="1800" b="1">
                <a:solidFill>
                  <a:srgbClr val="255E9C"/>
                </a:solidFill>
                <a:latin typeface="Aptos"/>
              </a:defRPr>
            </a:pPr>
            <a:r>
              <a:t>2</a:t>
            </a:r>
          </a:p>
        </p:txBody>
      </p:sp>
      <p:sp>
        <p:nvSpPr>
          <p:cNvPr id="16" name="Rounded Rectangle 15"/>
          <p:cNvSpPr/>
          <p:nvPr/>
        </p:nvSpPr>
        <p:spPr>
          <a:xfrm>
            <a:off x="5916168" y="2551176"/>
            <a:ext cx="5138928" cy="822960"/>
          </a:xfrm>
          <a:prstGeom prst="roundRect">
            <a:avLst/>
          </a:prstGeom>
          <a:solidFill>
            <a:srgbClr val="EFF7F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053328" y="2660904"/>
            <a:ext cx="4864608" cy="621792"/>
          </a:xfrm>
          <a:prstGeom prst="rect">
            <a:avLst/>
          </a:prstGeom>
          <a:noFill/>
        </p:spPr>
        <p:txBody>
          <a:bodyPr wrap="square" lIns="22860" rIns="22860" tIns="9144" anchor="ctr">
            <a:spAutoFit/>
          </a:bodyPr>
          <a:lstStyle/>
          <a:p>
            <a:pPr algn="ctr">
              <a:defRPr sz="1600" b="1">
                <a:solidFill>
                  <a:srgbClr val="182B40"/>
                </a:solidFill>
                <a:latin typeface="Aptos"/>
              </a:defRPr>
            </a:pPr>
            <a:r>
              <a:t>Use a case detail or calculation</a:t>
            </a:r>
          </a:p>
        </p:txBody>
      </p:sp>
      <p:sp>
        <p:nvSpPr>
          <p:cNvPr id="18" name="Rounded Rectangle 17"/>
          <p:cNvSpPr/>
          <p:nvPr/>
        </p:nvSpPr>
        <p:spPr>
          <a:xfrm>
            <a:off x="5074920" y="3502152"/>
            <a:ext cx="658368" cy="822960"/>
          </a:xfrm>
          <a:prstGeom prst="roundRect">
            <a:avLst/>
          </a:prstGeom>
          <a:solidFill>
            <a:srgbClr val="EFF7F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5212080" y="3611880"/>
            <a:ext cx="384048" cy="621792"/>
          </a:xfrm>
          <a:prstGeom prst="rect">
            <a:avLst/>
          </a:prstGeom>
          <a:noFill/>
        </p:spPr>
        <p:txBody>
          <a:bodyPr wrap="square" lIns="22860" rIns="22860" tIns="9144" anchor="ctr">
            <a:spAutoFit/>
          </a:bodyPr>
          <a:lstStyle/>
          <a:p>
            <a:pPr algn="ctr">
              <a:defRPr sz="1800" b="1">
                <a:solidFill>
                  <a:srgbClr val="255E9C"/>
                </a:solidFill>
                <a:latin typeface="Aptos"/>
              </a:defRPr>
            </a:pPr>
            <a:r>
              <a:t>3</a:t>
            </a:r>
          </a:p>
        </p:txBody>
      </p:sp>
      <p:sp>
        <p:nvSpPr>
          <p:cNvPr id="20" name="Rounded Rectangle 19"/>
          <p:cNvSpPr/>
          <p:nvPr/>
        </p:nvSpPr>
        <p:spPr>
          <a:xfrm>
            <a:off x="5916168" y="3502152"/>
            <a:ext cx="5138928" cy="822960"/>
          </a:xfrm>
          <a:prstGeom prst="roundRect">
            <a:avLst/>
          </a:prstGeom>
          <a:solidFill>
            <a:srgbClr val="EBF5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6053328" y="3611880"/>
            <a:ext cx="4864608" cy="621792"/>
          </a:xfrm>
          <a:prstGeom prst="rect">
            <a:avLst/>
          </a:prstGeom>
          <a:noFill/>
        </p:spPr>
        <p:txBody>
          <a:bodyPr wrap="square" lIns="22860" rIns="22860" tIns="9144" anchor="ctr">
            <a:spAutoFit/>
          </a:bodyPr>
          <a:lstStyle/>
          <a:p>
            <a:pPr algn="ctr">
              <a:defRPr sz="1600" b="1">
                <a:solidFill>
                  <a:srgbClr val="182B40"/>
                </a:solidFill>
                <a:latin typeface="Aptos"/>
              </a:defRPr>
            </a:pPr>
            <a:r>
              <a:t>Add a limitation</a:t>
            </a:r>
          </a:p>
        </p:txBody>
      </p:sp>
      <p:sp>
        <p:nvSpPr>
          <p:cNvPr id="22" name="Rounded Rectangle 21"/>
          <p:cNvSpPr/>
          <p:nvPr/>
        </p:nvSpPr>
        <p:spPr>
          <a:xfrm>
            <a:off x="5074920" y="4453128"/>
            <a:ext cx="658368" cy="822960"/>
          </a:xfrm>
          <a:prstGeom prst="roundRect">
            <a:avLst/>
          </a:prstGeom>
          <a:solidFill>
            <a:srgbClr val="EBF5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5212080" y="4562856"/>
            <a:ext cx="384048" cy="621792"/>
          </a:xfrm>
          <a:prstGeom prst="rect">
            <a:avLst/>
          </a:prstGeom>
          <a:noFill/>
        </p:spPr>
        <p:txBody>
          <a:bodyPr wrap="square" lIns="22860" rIns="22860" tIns="9144" anchor="ctr">
            <a:spAutoFit/>
          </a:bodyPr>
          <a:lstStyle/>
          <a:p>
            <a:pPr algn="ctr">
              <a:defRPr sz="1800" b="1">
                <a:solidFill>
                  <a:srgbClr val="255E9C"/>
                </a:solidFill>
                <a:latin typeface="Aptos"/>
              </a:defRPr>
            </a:pPr>
            <a:r>
              <a:t>4</a:t>
            </a:r>
          </a:p>
        </p:txBody>
      </p:sp>
      <p:sp>
        <p:nvSpPr>
          <p:cNvPr id="24" name="Rounded Rectangle 23"/>
          <p:cNvSpPr/>
          <p:nvPr/>
        </p:nvSpPr>
        <p:spPr>
          <a:xfrm>
            <a:off x="5916168" y="4453128"/>
            <a:ext cx="5138928" cy="822960"/>
          </a:xfrm>
          <a:prstGeom prst="roundRect">
            <a:avLst/>
          </a:prstGeom>
          <a:solidFill>
            <a:srgbClr val="EFF7F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053328" y="4562856"/>
            <a:ext cx="4864608" cy="621792"/>
          </a:xfrm>
          <a:prstGeom prst="rect">
            <a:avLst/>
          </a:prstGeom>
          <a:noFill/>
        </p:spPr>
        <p:txBody>
          <a:bodyPr wrap="square" lIns="22860" rIns="22860" tIns="9144" anchor="ctr">
            <a:spAutoFit/>
          </a:bodyPr>
          <a:lstStyle/>
          <a:p>
            <a:pPr algn="ctr">
              <a:defRPr sz="1600" b="1">
                <a:solidFill>
                  <a:srgbClr val="182B40"/>
                </a:solidFill>
                <a:latin typeface="Aptos"/>
              </a:defRPr>
            </a:pPr>
            <a:r>
              <a:t>Compare with the Word guide</a:t>
            </a:r>
          </a:p>
        </p:txBody>
      </p:sp>
    </p:spTree>
  </p:cSld>
  <p:clrMapOvr>
    <a:masterClrMapping/>
  </p:clrMapOvr>
</p:sld>
</file>

<file path=ppt/slides/slide3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
          </a:xfrm>
          <a:prstGeom prst="rect">
            <a:avLst/>
          </a:prstGeom>
          <a:solidFill>
            <a:srgbClr val="C7682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10896"/>
            <a:ext cx="10881360" cy="576072"/>
          </a:xfrm>
          <a:prstGeom prst="rect">
            <a:avLst/>
          </a:prstGeom>
          <a:noFill/>
        </p:spPr>
        <p:txBody>
          <a:bodyPr wrap="square" lIns="22860" rIns="22860" tIns="9144">
            <a:spAutoFit/>
          </a:bodyPr>
          <a:lstStyle/>
          <a:p>
            <a:pPr>
              <a:defRPr sz="2700" b="1">
                <a:solidFill>
                  <a:srgbClr val="182B40"/>
                </a:solidFill>
                <a:latin typeface="Aptos"/>
              </a:defRPr>
            </a:pPr>
            <a:r>
              <a:t>Exam rehearsal · explain and apply</a:t>
            </a:r>
          </a:p>
        </p:txBody>
      </p:sp>
      <p:sp>
        <p:nvSpPr>
          <p:cNvPr id="4" name="Rectangle 3"/>
          <p:cNvSpPr/>
          <p:nvPr/>
        </p:nvSpPr>
        <p:spPr>
          <a:xfrm>
            <a:off x="594360" y="1362456"/>
            <a:ext cx="64008" cy="4544568"/>
          </a:xfrm>
          <a:prstGeom prst="rect">
            <a:avLst/>
          </a:prstGeom>
          <a:solidFill>
            <a:srgbClr val="C7682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41248" y="1371600"/>
            <a:ext cx="3511296" cy="320040"/>
          </a:xfrm>
          <a:prstGeom prst="rect">
            <a:avLst/>
          </a:prstGeom>
          <a:noFill/>
        </p:spPr>
        <p:txBody>
          <a:bodyPr wrap="square" lIns="22860" rIns="22860" tIns="9144">
            <a:spAutoFit/>
          </a:bodyPr>
          <a:lstStyle/>
          <a:p>
            <a:pPr>
              <a:defRPr sz="1100" b="1">
                <a:solidFill>
                  <a:srgbClr val="C7682C"/>
                </a:solidFill>
                <a:latin typeface="Aptos"/>
              </a:defRPr>
            </a:pPr>
            <a:r>
              <a:t>CHECK  /  WEEK 10</a:t>
            </a:r>
          </a:p>
        </p:txBody>
      </p:sp>
      <p:sp>
        <p:nvSpPr>
          <p:cNvPr id="6" name="TextBox 5"/>
          <p:cNvSpPr txBox="1"/>
          <p:nvPr/>
        </p:nvSpPr>
        <p:spPr>
          <a:xfrm>
            <a:off x="841248" y="1847088"/>
            <a:ext cx="3557016" cy="3986784"/>
          </a:xfrm>
          <a:prstGeom prst="rect">
            <a:avLst/>
          </a:prstGeom>
          <a:noFill/>
        </p:spPr>
        <p:txBody>
          <a:bodyPr wrap="square" lIns="22860" rIns="22860" tIns="9144">
            <a:spAutoFit/>
          </a:bodyPr>
          <a:lstStyle/>
          <a:p>
            <a:pPr>
              <a:defRPr sz="1800" b="0">
                <a:solidFill>
                  <a:srgbClr val="182B40"/>
                </a:solidFill>
                <a:latin typeface="Aptos"/>
              </a:defRPr>
            </a:pPr>
            <a:r>
              <a:t>Calculate the total for 2 × 20 plus 5 tax.</a:t>
            </a:r>
          </a:p>
          <a:p>
            <a:pPr>
              <a:defRPr sz="1800" b="0">
                <a:solidFill>
                  <a:srgbClr val="182B40"/>
                </a:solidFill>
                <a:latin typeface="Aptos"/>
              </a:defRPr>
            </a:pPr>
          </a:p>
          <a:p>
            <a:pPr>
              <a:defRPr sz="1800" b="0">
                <a:solidFill>
                  <a:srgbClr val="182B40"/>
                </a:solidFill>
                <a:latin typeface="Aptos"/>
              </a:defRPr>
            </a:pPr>
            <a:r>
              <a:t>Write a short answer, then compare with the guide.</a:t>
            </a:r>
          </a:p>
        </p:txBody>
      </p:sp>
      <p:sp>
        <p:nvSpPr>
          <p:cNvPr id="7" name="Rectangle 6"/>
          <p:cNvSpPr/>
          <p:nvPr/>
        </p:nvSpPr>
        <p:spPr>
          <a:xfrm>
            <a:off x="594360" y="6391656"/>
            <a:ext cx="10899648" cy="16459"/>
          </a:xfrm>
          <a:prstGeom prst="rect">
            <a:avLst/>
          </a:prstGeom>
          <a:solidFill>
            <a:srgbClr val="EBF5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21792" y="6510528"/>
            <a:ext cx="10826496" cy="219456"/>
          </a:xfrm>
          <a:prstGeom prst="rect">
            <a:avLst/>
          </a:prstGeom>
          <a:noFill/>
        </p:spPr>
        <p:txBody>
          <a:bodyPr wrap="square" lIns="22860" rIns="22860" tIns="9144">
            <a:spAutoFit/>
          </a:bodyPr>
          <a:lstStyle/>
          <a:p>
            <a:pPr>
              <a:defRPr sz="900" b="0">
                <a:solidFill>
                  <a:srgbClr val="445665"/>
                </a:solidFill>
                <a:latin typeface="Aptos"/>
              </a:defRPr>
            </a:pPr>
            <a:r>
              <a:t>GENERATIVE AI 2027    •    WEEK 10    •    38 / 40</a:t>
            </a:r>
          </a:p>
        </p:txBody>
      </p:sp>
      <p:sp>
        <p:nvSpPr>
          <p:cNvPr id="9" name="Rounded Rectangle 8"/>
          <p:cNvSpPr/>
          <p:nvPr/>
        </p:nvSpPr>
        <p:spPr>
          <a:xfrm>
            <a:off x="4700016" y="1344168"/>
            <a:ext cx="6793992" cy="4727448"/>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ounded Rectangle 9"/>
          <p:cNvSpPr/>
          <p:nvPr/>
        </p:nvSpPr>
        <p:spPr>
          <a:xfrm>
            <a:off x="5074920" y="1600200"/>
            <a:ext cx="658368" cy="822960"/>
          </a:xfrm>
          <a:prstGeom prst="roundRect">
            <a:avLst/>
          </a:prstGeom>
          <a:solidFill>
            <a:srgbClr val="EFF7F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5212080" y="1709928"/>
            <a:ext cx="384048" cy="621792"/>
          </a:xfrm>
          <a:prstGeom prst="rect">
            <a:avLst/>
          </a:prstGeom>
          <a:noFill/>
        </p:spPr>
        <p:txBody>
          <a:bodyPr wrap="square" lIns="22860" rIns="22860" tIns="9144" anchor="ctr">
            <a:spAutoFit/>
          </a:bodyPr>
          <a:lstStyle/>
          <a:p>
            <a:pPr algn="ctr">
              <a:defRPr sz="1800" b="1">
                <a:solidFill>
                  <a:srgbClr val="255E9C"/>
                </a:solidFill>
                <a:latin typeface="Aptos"/>
              </a:defRPr>
            </a:pPr>
            <a:r>
              <a:t>1</a:t>
            </a:r>
          </a:p>
        </p:txBody>
      </p:sp>
      <p:sp>
        <p:nvSpPr>
          <p:cNvPr id="12" name="Rounded Rectangle 11"/>
          <p:cNvSpPr/>
          <p:nvPr/>
        </p:nvSpPr>
        <p:spPr>
          <a:xfrm>
            <a:off x="5916168" y="1600200"/>
            <a:ext cx="5138928" cy="822960"/>
          </a:xfrm>
          <a:prstGeom prst="roundRect">
            <a:avLst/>
          </a:prstGeom>
          <a:solidFill>
            <a:srgbClr val="EBF5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053328" y="1709928"/>
            <a:ext cx="4864608" cy="621792"/>
          </a:xfrm>
          <a:prstGeom prst="rect">
            <a:avLst/>
          </a:prstGeom>
          <a:noFill/>
        </p:spPr>
        <p:txBody>
          <a:bodyPr wrap="square" lIns="22860" rIns="22860" tIns="9144" anchor="ctr">
            <a:spAutoFit/>
          </a:bodyPr>
          <a:lstStyle/>
          <a:p>
            <a:pPr algn="ctr">
              <a:defRPr sz="1600" b="1">
                <a:solidFill>
                  <a:srgbClr val="182B40"/>
                </a:solidFill>
                <a:latin typeface="Aptos"/>
              </a:defRPr>
            </a:pPr>
            <a:r>
              <a:t>State the core idea</a:t>
            </a:r>
          </a:p>
        </p:txBody>
      </p:sp>
      <p:sp>
        <p:nvSpPr>
          <p:cNvPr id="14" name="Rounded Rectangle 13"/>
          <p:cNvSpPr/>
          <p:nvPr/>
        </p:nvSpPr>
        <p:spPr>
          <a:xfrm>
            <a:off x="5074920" y="2551176"/>
            <a:ext cx="658368" cy="822960"/>
          </a:xfrm>
          <a:prstGeom prst="roundRect">
            <a:avLst/>
          </a:prstGeom>
          <a:solidFill>
            <a:srgbClr val="EBF5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5212080" y="2660904"/>
            <a:ext cx="384048" cy="621792"/>
          </a:xfrm>
          <a:prstGeom prst="rect">
            <a:avLst/>
          </a:prstGeom>
          <a:noFill/>
        </p:spPr>
        <p:txBody>
          <a:bodyPr wrap="square" lIns="22860" rIns="22860" tIns="9144" anchor="ctr">
            <a:spAutoFit/>
          </a:bodyPr>
          <a:lstStyle/>
          <a:p>
            <a:pPr algn="ctr">
              <a:defRPr sz="1800" b="1">
                <a:solidFill>
                  <a:srgbClr val="255E9C"/>
                </a:solidFill>
                <a:latin typeface="Aptos"/>
              </a:defRPr>
            </a:pPr>
            <a:r>
              <a:t>2</a:t>
            </a:r>
          </a:p>
        </p:txBody>
      </p:sp>
      <p:sp>
        <p:nvSpPr>
          <p:cNvPr id="16" name="Rounded Rectangle 15"/>
          <p:cNvSpPr/>
          <p:nvPr/>
        </p:nvSpPr>
        <p:spPr>
          <a:xfrm>
            <a:off x="5916168" y="2551176"/>
            <a:ext cx="5138928" cy="822960"/>
          </a:xfrm>
          <a:prstGeom prst="roundRect">
            <a:avLst/>
          </a:prstGeom>
          <a:solidFill>
            <a:srgbClr val="EFF7F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053328" y="2660904"/>
            <a:ext cx="4864608" cy="621792"/>
          </a:xfrm>
          <a:prstGeom prst="rect">
            <a:avLst/>
          </a:prstGeom>
          <a:noFill/>
        </p:spPr>
        <p:txBody>
          <a:bodyPr wrap="square" lIns="22860" rIns="22860" tIns="9144" anchor="ctr">
            <a:spAutoFit/>
          </a:bodyPr>
          <a:lstStyle/>
          <a:p>
            <a:pPr algn="ctr">
              <a:defRPr sz="1600" b="1">
                <a:solidFill>
                  <a:srgbClr val="182B40"/>
                </a:solidFill>
                <a:latin typeface="Aptos"/>
              </a:defRPr>
            </a:pPr>
            <a:r>
              <a:t>Use a case detail or calculation</a:t>
            </a:r>
          </a:p>
        </p:txBody>
      </p:sp>
      <p:sp>
        <p:nvSpPr>
          <p:cNvPr id="18" name="Rounded Rectangle 17"/>
          <p:cNvSpPr/>
          <p:nvPr/>
        </p:nvSpPr>
        <p:spPr>
          <a:xfrm>
            <a:off x="5074920" y="3502152"/>
            <a:ext cx="658368" cy="822960"/>
          </a:xfrm>
          <a:prstGeom prst="roundRect">
            <a:avLst/>
          </a:prstGeom>
          <a:solidFill>
            <a:srgbClr val="EFF7F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5212080" y="3611880"/>
            <a:ext cx="384048" cy="621792"/>
          </a:xfrm>
          <a:prstGeom prst="rect">
            <a:avLst/>
          </a:prstGeom>
          <a:noFill/>
        </p:spPr>
        <p:txBody>
          <a:bodyPr wrap="square" lIns="22860" rIns="22860" tIns="9144" anchor="ctr">
            <a:spAutoFit/>
          </a:bodyPr>
          <a:lstStyle/>
          <a:p>
            <a:pPr algn="ctr">
              <a:defRPr sz="1800" b="1">
                <a:solidFill>
                  <a:srgbClr val="255E9C"/>
                </a:solidFill>
                <a:latin typeface="Aptos"/>
              </a:defRPr>
            </a:pPr>
            <a:r>
              <a:t>3</a:t>
            </a:r>
          </a:p>
        </p:txBody>
      </p:sp>
      <p:sp>
        <p:nvSpPr>
          <p:cNvPr id="20" name="Rounded Rectangle 19"/>
          <p:cNvSpPr/>
          <p:nvPr/>
        </p:nvSpPr>
        <p:spPr>
          <a:xfrm>
            <a:off x="5916168" y="3502152"/>
            <a:ext cx="5138928" cy="822960"/>
          </a:xfrm>
          <a:prstGeom prst="roundRect">
            <a:avLst/>
          </a:prstGeom>
          <a:solidFill>
            <a:srgbClr val="EBF5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6053328" y="3611880"/>
            <a:ext cx="4864608" cy="621792"/>
          </a:xfrm>
          <a:prstGeom prst="rect">
            <a:avLst/>
          </a:prstGeom>
          <a:noFill/>
        </p:spPr>
        <p:txBody>
          <a:bodyPr wrap="square" lIns="22860" rIns="22860" tIns="9144" anchor="ctr">
            <a:spAutoFit/>
          </a:bodyPr>
          <a:lstStyle/>
          <a:p>
            <a:pPr algn="ctr">
              <a:defRPr sz="1600" b="1">
                <a:solidFill>
                  <a:srgbClr val="182B40"/>
                </a:solidFill>
                <a:latin typeface="Aptos"/>
              </a:defRPr>
            </a:pPr>
            <a:r>
              <a:t>Add a limitation</a:t>
            </a:r>
          </a:p>
        </p:txBody>
      </p:sp>
      <p:sp>
        <p:nvSpPr>
          <p:cNvPr id="22" name="Rounded Rectangle 21"/>
          <p:cNvSpPr/>
          <p:nvPr/>
        </p:nvSpPr>
        <p:spPr>
          <a:xfrm>
            <a:off x="5074920" y="4453128"/>
            <a:ext cx="658368" cy="822960"/>
          </a:xfrm>
          <a:prstGeom prst="roundRect">
            <a:avLst/>
          </a:prstGeom>
          <a:solidFill>
            <a:srgbClr val="EBF5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5212080" y="4562856"/>
            <a:ext cx="384048" cy="621792"/>
          </a:xfrm>
          <a:prstGeom prst="rect">
            <a:avLst/>
          </a:prstGeom>
          <a:noFill/>
        </p:spPr>
        <p:txBody>
          <a:bodyPr wrap="square" lIns="22860" rIns="22860" tIns="9144" anchor="ctr">
            <a:spAutoFit/>
          </a:bodyPr>
          <a:lstStyle/>
          <a:p>
            <a:pPr algn="ctr">
              <a:defRPr sz="1800" b="1">
                <a:solidFill>
                  <a:srgbClr val="255E9C"/>
                </a:solidFill>
                <a:latin typeface="Aptos"/>
              </a:defRPr>
            </a:pPr>
            <a:r>
              <a:t>4</a:t>
            </a:r>
          </a:p>
        </p:txBody>
      </p:sp>
      <p:sp>
        <p:nvSpPr>
          <p:cNvPr id="24" name="Rounded Rectangle 23"/>
          <p:cNvSpPr/>
          <p:nvPr/>
        </p:nvSpPr>
        <p:spPr>
          <a:xfrm>
            <a:off x="5916168" y="4453128"/>
            <a:ext cx="5138928" cy="822960"/>
          </a:xfrm>
          <a:prstGeom prst="roundRect">
            <a:avLst/>
          </a:prstGeom>
          <a:solidFill>
            <a:srgbClr val="EFF7F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053328" y="4562856"/>
            <a:ext cx="4864608" cy="621792"/>
          </a:xfrm>
          <a:prstGeom prst="rect">
            <a:avLst/>
          </a:prstGeom>
          <a:noFill/>
        </p:spPr>
        <p:txBody>
          <a:bodyPr wrap="square" lIns="22860" rIns="22860" tIns="9144" anchor="ctr">
            <a:spAutoFit/>
          </a:bodyPr>
          <a:lstStyle/>
          <a:p>
            <a:pPr algn="ctr">
              <a:defRPr sz="1600" b="1">
                <a:solidFill>
                  <a:srgbClr val="182B40"/>
                </a:solidFill>
                <a:latin typeface="Aptos"/>
              </a:defRPr>
            </a:pPr>
            <a:r>
              <a:t>Compare with the Word guide</a:t>
            </a:r>
          </a:p>
        </p:txBody>
      </p:sp>
    </p:spTree>
  </p:cSld>
  <p:clrMapOvr>
    <a:masterClrMapping/>
  </p:clrMapOvr>
</p:sld>
</file>

<file path=ppt/slides/slide3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
          </a:xfrm>
          <a:prstGeom prst="rect">
            <a:avLst/>
          </a:prstGeom>
          <a:solidFill>
            <a:srgbClr val="255E9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10896"/>
            <a:ext cx="10881360" cy="576072"/>
          </a:xfrm>
          <a:prstGeom prst="rect">
            <a:avLst/>
          </a:prstGeom>
          <a:noFill/>
        </p:spPr>
        <p:txBody>
          <a:bodyPr wrap="square" lIns="22860" rIns="22860" tIns="9144">
            <a:spAutoFit/>
          </a:bodyPr>
          <a:lstStyle/>
          <a:p>
            <a:pPr>
              <a:defRPr sz="2700" b="1">
                <a:solidFill>
                  <a:srgbClr val="182B40"/>
                </a:solidFill>
                <a:latin typeface="Aptos"/>
              </a:defRPr>
            </a:pPr>
            <a:r>
              <a:t>What to hand in</a:t>
            </a:r>
          </a:p>
        </p:txBody>
      </p:sp>
      <p:sp>
        <p:nvSpPr>
          <p:cNvPr id="4" name="Rectangle 3"/>
          <p:cNvSpPr/>
          <p:nvPr/>
        </p:nvSpPr>
        <p:spPr>
          <a:xfrm>
            <a:off x="594360" y="1362456"/>
            <a:ext cx="64008" cy="4544568"/>
          </a:xfrm>
          <a:prstGeom prst="rect">
            <a:avLst/>
          </a:prstGeom>
          <a:solidFill>
            <a:srgbClr val="255E9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41248" y="1371600"/>
            <a:ext cx="3511296" cy="320040"/>
          </a:xfrm>
          <a:prstGeom prst="rect">
            <a:avLst/>
          </a:prstGeom>
          <a:noFill/>
        </p:spPr>
        <p:txBody>
          <a:bodyPr wrap="square" lIns="22860" rIns="22860" tIns="9144">
            <a:spAutoFit/>
          </a:bodyPr>
          <a:lstStyle/>
          <a:p>
            <a:pPr>
              <a:defRPr sz="1100" b="1">
                <a:solidFill>
                  <a:srgbClr val="255E9C"/>
                </a:solidFill>
                <a:latin typeface="Aptos"/>
              </a:defRPr>
            </a:pPr>
            <a:r>
              <a:t>PRACTICE  /  WEEK 10</a:t>
            </a:r>
          </a:p>
        </p:txBody>
      </p:sp>
      <p:sp>
        <p:nvSpPr>
          <p:cNvPr id="6" name="TextBox 5"/>
          <p:cNvSpPr txBox="1"/>
          <p:nvPr/>
        </p:nvSpPr>
        <p:spPr>
          <a:xfrm>
            <a:off x="841248" y="1847088"/>
            <a:ext cx="3557016" cy="3986784"/>
          </a:xfrm>
          <a:prstGeom prst="rect">
            <a:avLst/>
          </a:prstGeom>
          <a:noFill/>
        </p:spPr>
        <p:txBody>
          <a:bodyPr wrap="square" lIns="22860" rIns="22860" tIns="9144">
            <a:spAutoFit/>
          </a:bodyPr>
          <a:lstStyle/>
          <a:p>
            <a:pPr>
              <a:defRPr sz="1800" b="0">
                <a:solidFill>
                  <a:srgbClr val="182B40"/>
                </a:solidFill>
                <a:latin typeface="Aptos"/>
              </a:defRPr>
            </a:pPr>
            <a:r>
              <a:t>Source-linked field table and calculation.</a:t>
            </a:r>
          </a:p>
          <a:p>
            <a:pPr>
              <a:defRPr sz="1800" b="0">
                <a:solidFill>
                  <a:srgbClr val="182B40"/>
                </a:solidFill>
                <a:latin typeface="Aptos"/>
              </a:defRPr>
            </a:pPr>
          </a:p>
          <a:p>
            <a:pPr>
              <a:defRPr sz="1800" b="0">
                <a:solidFill>
                  <a:srgbClr val="182B40"/>
                </a:solidFill>
                <a:latin typeface="Aptos"/>
              </a:defRPr>
            </a:pPr>
            <a:r>
              <a:t>Include the one changed input and an error explanation.</a:t>
            </a:r>
          </a:p>
        </p:txBody>
      </p:sp>
      <p:sp>
        <p:nvSpPr>
          <p:cNvPr id="7" name="Rectangle 6"/>
          <p:cNvSpPr/>
          <p:nvPr/>
        </p:nvSpPr>
        <p:spPr>
          <a:xfrm>
            <a:off x="594360" y="6391656"/>
            <a:ext cx="10899648" cy="16459"/>
          </a:xfrm>
          <a:prstGeom prst="rect">
            <a:avLst/>
          </a:prstGeom>
          <a:solidFill>
            <a:srgbClr val="EBF5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21792" y="6510528"/>
            <a:ext cx="10826496" cy="219456"/>
          </a:xfrm>
          <a:prstGeom prst="rect">
            <a:avLst/>
          </a:prstGeom>
          <a:noFill/>
        </p:spPr>
        <p:txBody>
          <a:bodyPr wrap="square" lIns="22860" rIns="22860" tIns="9144">
            <a:spAutoFit/>
          </a:bodyPr>
          <a:lstStyle/>
          <a:p>
            <a:pPr>
              <a:defRPr sz="900" b="0">
                <a:solidFill>
                  <a:srgbClr val="445665"/>
                </a:solidFill>
                <a:latin typeface="Aptos"/>
              </a:defRPr>
            </a:pPr>
            <a:r>
              <a:t>GENERATIVE AI 2027    •    WEEK 10    •    39 / 40</a:t>
            </a:r>
          </a:p>
        </p:txBody>
      </p:sp>
      <p:sp>
        <p:nvSpPr>
          <p:cNvPr id="9" name="Rounded Rectangle 8"/>
          <p:cNvSpPr/>
          <p:nvPr/>
        </p:nvSpPr>
        <p:spPr>
          <a:xfrm>
            <a:off x="4700016" y="1344168"/>
            <a:ext cx="6793992" cy="4727448"/>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ounded Rectangle 9"/>
          <p:cNvSpPr/>
          <p:nvPr/>
        </p:nvSpPr>
        <p:spPr>
          <a:xfrm>
            <a:off x="5074920" y="1600200"/>
            <a:ext cx="658368" cy="822960"/>
          </a:xfrm>
          <a:prstGeom prst="roundRect">
            <a:avLst/>
          </a:prstGeom>
          <a:solidFill>
            <a:srgbClr val="EFF7F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5212080" y="1709928"/>
            <a:ext cx="384048" cy="621792"/>
          </a:xfrm>
          <a:prstGeom prst="rect">
            <a:avLst/>
          </a:prstGeom>
          <a:noFill/>
        </p:spPr>
        <p:txBody>
          <a:bodyPr wrap="square" lIns="22860" rIns="22860" tIns="9144" anchor="ctr">
            <a:spAutoFit/>
          </a:bodyPr>
          <a:lstStyle/>
          <a:p>
            <a:pPr algn="ctr">
              <a:defRPr sz="1800" b="1">
                <a:solidFill>
                  <a:srgbClr val="255E9C"/>
                </a:solidFill>
                <a:latin typeface="Aptos"/>
              </a:defRPr>
            </a:pPr>
            <a:r>
              <a:t>1</a:t>
            </a:r>
          </a:p>
        </p:txBody>
      </p:sp>
      <p:sp>
        <p:nvSpPr>
          <p:cNvPr id="12" name="Rounded Rectangle 11"/>
          <p:cNvSpPr/>
          <p:nvPr/>
        </p:nvSpPr>
        <p:spPr>
          <a:xfrm>
            <a:off x="5916168" y="1600200"/>
            <a:ext cx="5138928" cy="822960"/>
          </a:xfrm>
          <a:prstGeom prst="roundRect">
            <a:avLst/>
          </a:prstGeom>
          <a:solidFill>
            <a:srgbClr val="EBF5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053328" y="1709928"/>
            <a:ext cx="4864608" cy="621792"/>
          </a:xfrm>
          <a:prstGeom prst="rect">
            <a:avLst/>
          </a:prstGeom>
          <a:noFill/>
        </p:spPr>
        <p:txBody>
          <a:bodyPr wrap="square" lIns="22860" rIns="22860" tIns="9144" anchor="ctr">
            <a:spAutoFit/>
          </a:bodyPr>
          <a:lstStyle/>
          <a:p>
            <a:pPr algn="ctr">
              <a:defRPr sz="1600" b="1">
                <a:solidFill>
                  <a:srgbClr val="182B40"/>
                </a:solidFill>
                <a:latin typeface="Aptos"/>
              </a:defRPr>
            </a:pPr>
            <a:r>
              <a:t>Original run</a:t>
            </a:r>
          </a:p>
        </p:txBody>
      </p:sp>
      <p:sp>
        <p:nvSpPr>
          <p:cNvPr id="14" name="Rounded Rectangle 13"/>
          <p:cNvSpPr/>
          <p:nvPr/>
        </p:nvSpPr>
        <p:spPr>
          <a:xfrm>
            <a:off x="5074920" y="2551176"/>
            <a:ext cx="658368" cy="822960"/>
          </a:xfrm>
          <a:prstGeom prst="roundRect">
            <a:avLst/>
          </a:prstGeom>
          <a:solidFill>
            <a:srgbClr val="EBF5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5212080" y="2660904"/>
            <a:ext cx="384048" cy="621792"/>
          </a:xfrm>
          <a:prstGeom prst="rect">
            <a:avLst/>
          </a:prstGeom>
          <a:noFill/>
        </p:spPr>
        <p:txBody>
          <a:bodyPr wrap="square" lIns="22860" rIns="22860" tIns="9144" anchor="ctr">
            <a:spAutoFit/>
          </a:bodyPr>
          <a:lstStyle/>
          <a:p>
            <a:pPr algn="ctr">
              <a:defRPr sz="1800" b="1">
                <a:solidFill>
                  <a:srgbClr val="255E9C"/>
                </a:solidFill>
                <a:latin typeface="Aptos"/>
              </a:defRPr>
            </a:pPr>
            <a:r>
              <a:t>2</a:t>
            </a:r>
          </a:p>
        </p:txBody>
      </p:sp>
      <p:sp>
        <p:nvSpPr>
          <p:cNvPr id="16" name="Rounded Rectangle 15"/>
          <p:cNvSpPr/>
          <p:nvPr/>
        </p:nvSpPr>
        <p:spPr>
          <a:xfrm>
            <a:off x="5916168" y="2551176"/>
            <a:ext cx="5138928" cy="822960"/>
          </a:xfrm>
          <a:prstGeom prst="roundRect">
            <a:avLst/>
          </a:prstGeom>
          <a:solidFill>
            <a:srgbClr val="EFF7F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053328" y="2660904"/>
            <a:ext cx="4864608" cy="621792"/>
          </a:xfrm>
          <a:prstGeom prst="rect">
            <a:avLst/>
          </a:prstGeom>
          <a:noFill/>
        </p:spPr>
        <p:txBody>
          <a:bodyPr wrap="square" lIns="22860" rIns="22860" tIns="9144" anchor="ctr">
            <a:spAutoFit/>
          </a:bodyPr>
          <a:lstStyle/>
          <a:p>
            <a:pPr algn="ctr">
              <a:defRPr sz="1600" b="1">
                <a:solidFill>
                  <a:srgbClr val="182B40"/>
                </a:solidFill>
                <a:latin typeface="Aptos"/>
              </a:defRPr>
            </a:pPr>
            <a:r>
              <a:t>One changed input</a:t>
            </a:r>
          </a:p>
        </p:txBody>
      </p:sp>
      <p:sp>
        <p:nvSpPr>
          <p:cNvPr id="18" name="Rounded Rectangle 17"/>
          <p:cNvSpPr/>
          <p:nvPr/>
        </p:nvSpPr>
        <p:spPr>
          <a:xfrm>
            <a:off x="5074920" y="3502152"/>
            <a:ext cx="658368" cy="822960"/>
          </a:xfrm>
          <a:prstGeom prst="roundRect">
            <a:avLst/>
          </a:prstGeom>
          <a:solidFill>
            <a:srgbClr val="EFF7F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5212080" y="3611880"/>
            <a:ext cx="384048" cy="621792"/>
          </a:xfrm>
          <a:prstGeom prst="rect">
            <a:avLst/>
          </a:prstGeom>
          <a:noFill/>
        </p:spPr>
        <p:txBody>
          <a:bodyPr wrap="square" lIns="22860" rIns="22860" tIns="9144" anchor="ctr">
            <a:spAutoFit/>
          </a:bodyPr>
          <a:lstStyle/>
          <a:p>
            <a:pPr algn="ctr">
              <a:defRPr sz="1800" b="1">
                <a:solidFill>
                  <a:srgbClr val="255E9C"/>
                </a:solidFill>
                <a:latin typeface="Aptos"/>
              </a:defRPr>
            </a:pPr>
            <a:r>
              <a:t>3</a:t>
            </a:r>
          </a:p>
        </p:txBody>
      </p:sp>
      <p:sp>
        <p:nvSpPr>
          <p:cNvPr id="20" name="Rounded Rectangle 19"/>
          <p:cNvSpPr/>
          <p:nvPr/>
        </p:nvSpPr>
        <p:spPr>
          <a:xfrm>
            <a:off x="5916168" y="3502152"/>
            <a:ext cx="5138928" cy="822960"/>
          </a:xfrm>
          <a:prstGeom prst="roundRect">
            <a:avLst/>
          </a:prstGeom>
          <a:solidFill>
            <a:srgbClr val="EBF5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6053328" y="3611880"/>
            <a:ext cx="4864608" cy="621792"/>
          </a:xfrm>
          <a:prstGeom prst="rect">
            <a:avLst/>
          </a:prstGeom>
          <a:noFill/>
        </p:spPr>
        <p:txBody>
          <a:bodyPr wrap="square" lIns="22860" rIns="22860" tIns="9144" anchor="ctr">
            <a:spAutoFit/>
          </a:bodyPr>
          <a:lstStyle/>
          <a:p>
            <a:pPr algn="ctr">
              <a:defRPr sz="1600" b="1">
                <a:solidFill>
                  <a:srgbClr val="182B40"/>
                </a:solidFill>
                <a:latin typeface="Aptos"/>
              </a:defRPr>
            </a:pPr>
            <a:r>
              <a:t>Comparison</a:t>
            </a:r>
          </a:p>
        </p:txBody>
      </p:sp>
      <p:sp>
        <p:nvSpPr>
          <p:cNvPr id="22" name="Rounded Rectangle 21"/>
          <p:cNvSpPr/>
          <p:nvPr/>
        </p:nvSpPr>
        <p:spPr>
          <a:xfrm>
            <a:off x="5074920" y="4453128"/>
            <a:ext cx="658368" cy="822960"/>
          </a:xfrm>
          <a:prstGeom prst="roundRect">
            <a:avLst/>
          </a:prstGeom>
          <a:solidFill>
            <a:srgbClr val="EBF5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5212080" y="4562856"/>
            <a:ext cx="384048" cy="621792"/>
          </a:xfrm>
          <a:prstGeom prst="rect">
            <a:avLst/>
          </a:prstGeom>
          <a:noFill/>
        </p:spPr>
        <p:txBody>
          <a:bodyPr wrap="square" lIns="22860" rIns="22860" tIns="9144" anchor="ctr">
            <a:spAutoFit/>
          </a:bodyPr>
          <a:lstStyle/>
          <a:p>
            <a:pPr algn="ctr">
              <a:defRPr sz="1800" b="1">
                <a:solidFill>
                  <a:srgbClr val="255E9C"/>
                </a:solidFill>
                <a:latin typeface="Aptos"/>
              </a:defRPr>
            </a:pPr>
            <a:r>
              <a:t>4</a:t>
            </a:r>
          </a:p>
        </p:txBody>
      </p:sp>
      <p:sp>
        <p:nvSpPr>
          <p:cNvPr id="24" name="Rounded Rectangle 23"/>
          <p:cNvSpPr/>
          <p:nvPr/>
        </p:nvSpPr>
        <p:spPr>
          <a:xfrm>
            <a:off x="5916168" y="4453128"/>
            <a:ext cx="5138928" cy="822960"/>
          </a:xfrm>
          <a:prstGeom prst="roundRect">
            <a:avLst/>
          </a:prstGeom>
          <a:solidFill>
            <a:srgbClr val="EFF7F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053328" y="4562856"/>
            <a:ext cx="4864608" cy="621792"/>
          </a:xfrm>
          <a:prstGeom prst="rect">
            <a:avLst/>
          </a:prstGeom>
          <a:noFill/>
        </p:spPr>
        <p:txBody>
          <a:bodyPr wrap="square" lIns="22860" rIns="22860" tIns="9144" anchor="ctr">
            <a:spAutoFit/>
          </a:bodyPr>
          <a:lstStyle/>
          <a:p>
            <a:pPr algn="ctr">
              <a:defRPr sz="1600" b="1">
                <a:solidFill>
                  <a:srgbClr val="182B40"/>
                </a:solidFill>
                <a:latin typeface="Aptos"/>
              </a:defRPr>
            </a:pPr>
            <a:r>
              <a:t>Explanation + source</a:t>
            </a:r>
          </a:p>
        </p:txBody>
      </p:sp>
    </p:spTree>
  </p:cSld>
  <p:clrMapOvr>
    <a:masterClrMapping/>
  </p:clrMapOvr>
</p:sld>
</file>

<file path=ppt/slides/slide4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
          </a:xfrm>
          <a:prstGeom prst="rect">
            <a:avLst/>
          </a:prstGeom>
          <a:solidFill>
            <a:srgbClr val="C7682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10896"/>
            <a:ext cx="10881360" cy="576072"/>
          </a:xfrm>
          <a:prstGeom prst="rect">
            <a:avLst/>
          </a:prstGeom>
          <a:noFill/>
        </p:spPr>
        <p:txBody>
          <a:bodyPr wrap="square" lIns="22860" rIns="22860" tIns="9144">
            <a:spAutoFit/>
          </a:bodyPr>
          <a:lstStyle/>
          <a:p>
            <a:pPr>
              <a:defRPr sz="2700" b="1">
                <a:solidFill>
                  <a:srgbClr val="182B40"/>
                </a:solidFill>
                <a:latin typeface="Aptos"/>
              </a:defRPr>
            </a:pPr>
            <a:r>
              <a:t>Three ideas to recall next week</a:t>
            </a:r>
          </a:p>
        </p:txBody>
      </p:sp>
      <p:sp>
        <p:nvSpPr>
          <p:cNvPr id="4" name="Rectangle 3"/>
          <p:cNvSpPr/>
          <p:nvPr/>
        </p:nvSpPr>
        <p:spPr>
          <a:xfrm>
            <a:off x="594360" y="1362456"/>
            <a:ext cx="64008" cy="4544568"/>
          </a:xfrm>
          <a:prstGeom prst="rect">
            <a:avLst/>
          </a:prstGeom>
          <a:solidFill>
            <a:srgbClr val="C7682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41248" y="1371600"/>
            <a:ext cx="3511296" cy="320040"/>
          </a:xfrm>
          <a:prstGeom prst="rect">
            <a:avLst/>
          </a:prstGeom>
          <a:noFill/>
        </p:spPr>
        <p:txBody>
          <a:bodyPr wrap="square" lIns="22860" rIns="22860" tIns="9144">
            <a:spAutoFit/>
          </a:bodyPr>
          <a:lstStyle/>
          <a:p>
            <a:pPr>
              <a:defRPr sz="1100" b="1">
                <a:solidFill>
                  <a:srgbClr val="C7682C"/>
                </a:solidFill>
                <a:latin typeface="Aptos"/>
              </a:defRPr>
            </a:pPr>
            <a:r>
              <a:t>CHECK  /  WEEK 10</a:t>
            </a:r>
          </a:p>
        </p:txBody>
      </p:sp>
      <p:sp>
        <p:nvSpPr>
          <p:cNvPr id="6" name="TextBox 5"/>
          <p:cNvSpPr txBox="1"/>
          <p:nvPr/>
        </p:nvSpPr>
        <p:spPr>
          <a:xfrm>
            <a:off x="841248" y="1847088"/>
            <a:ext cx="3557016" cy="3986784"/>
          </a:xfrm>
          <a:prstGeom prst="rect">
            <a:avLst/>
          </a:prstGeom>
          <a:noFill/>
        </p:spPr>
        <p:txBody>
          <a:bodyPr wrap="square" lIns="22860" rIns="22860" tIns="9144">
            <a:spAutoFit/>
          </a:bodyPr>
          <a:lstStyle/>
          <a:p>
            <a:pPr>
              <a:defRPr sz="1800" b="0">
                <a:solidFill>
                  <a:srgbClr val="182B40"/>
                </a:solidFill>
                <a:latin typeface="Aptos"/>
              </a:defRPr>
            </a:pPr>
            <a:r>
              <a:t>Read the source, preserve field pointers, calculate independently, and flag discrepancies.</a:t>
            </a:r>
          </a:p>
          <a:p>
            <a:pPr>
              <a:defRPr sz="1800" b="0">
                <a:solidFill>
                  <a:srgbClr val="182B40"/>
                </a:solidFill>
                <a:latin typeface="Aptos"/>
              </a:defRPr>
            </a:pPr>
          </a:p>
          <a:p>
            <a:pPr>
              <a:defRPr sz="1800" b="0">
                <a:solidFill>
                  <a:srgbClr val="182B40"/>
                </a:solidFill>
                <a:latin typeface="Aptos"/>
              </a:defRPr>
            </a:pPr>
            <a:r>
              <a:t>Read the linked official sources in the Word guide and redraw one diagram from memory.</a:t>
            </a:r>
          </a:p>
        </p:txBody>
      </p:sp>
      <p:sp>
        <p:nvSpPr>
          <p:cNvPr id="7" name="Rectangle 6"/>
          <p:cNvSpPr/>
          <p:nvPr/>
        </p:nvSpPr>
        <p:spPr>
          <a:xfrm>
            <a:off x="594360" y="6391656"/>
            <a:ext cx="10899648" cy="16459"/>
          </a:xfrm>
          <a:prstGeom prst="rect">
            <a:avLst/>
          </a:prstGeom>
          <a:solidFill>
            <a:srgbClr val="EBF5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21792" y="6510528"/>
            <a:ext cx="10826496" cy="219456"/>
          </a:xfrm>
          <a:prstGeom prst="rect">
            <a:avLst/>
          </a:prstGeom>
          <a:noFill/>
        </p:spPr>
        <p:txBody>
          <a:bodyPr wrap="square" lIns="22860" rIns="22860" tIns="9144">
            <a:spAutoFit/>
          </a:bodyPr>
          <a:lstStyle/>
          <a:p>
            <a:pPr>
              <a:defRPr sz="900" b="0">
                <a:solidFill>
                  <a:srgbClr val="445665"/>
                </a:solidFill>
                <a:latin typeface="Aptos"/>
              </a:defRPr>
            </a:pPr>
            <a:r>
              <a:t>GENERATIVE AI 2027    •    WEEK 10    •    40 / 40</a:t>
            </a:r>
          </a:p>
        </p:txBody>
      </p:sp>
      <p:sp>
        <p:nvSpPr>
          <p:cNvPr id="9" name="Rounded Rectangle 8"/>
          <p:cNvSpPr/>
          <p:nvPr/>
        </p:nvSpPr>
        <p:spPr>
          <a:xfrm>
            <a:off x="4700016" y="1344168"/>
            <a:ext cx="6793992" cy="4727448"/>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ounded Rectangle 9"/>
          <p:cNvSpPr/>
          <p:nvPr/>
        </p:nvSpPr>
        <p:spPr>
          <a:xfrm>
            <a:off x="5074920" y="1600200"/>
            <a:ext cx="658368" cy="822960"/>
          </a:xfrm>
          <a:prstGeom prst="roundRect">
            <a:avLst/>
          </a:prstGeom>
          <a:solidFill>
            <a:srgbClr val="EFF7F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5212080" y="1709928"/>
            <a:ext cx="384048" cy="621792"/>
          </a:xfrm>
          <a:prstGeom prst="rect">
            <a:avLst/>
          </a:prstGeom>
          <a:noFill/>
        </p:spPr>
        <p:txBody>
          <a:bodyPr wrap="square" lIns="22860" rIns="22860" tIns="9144" anchor="ctr">
            <a:spAutoFit/>
          </a:bodyPr>
          <a:lstStyle/>
          <a:p>
            <a:pPr algn="ctr">
              <a:defRPr sz="1800" b="1">
                <a:solidFill>
                  <a:srgbClr val="255E9C"/>
                </a:solidFill>
                <a:latin typeface="Aptos"/>
              </a:defRPr>
            </a:pPr>
            <a:r>
              <a:t>1</a:t>
            </a:r>
          </a:p>
        </p:txBody>
      </p:sp>
      <p:sp>
        <p:nvSpPr>
          <p:cNvPr id="12" name="Rounded Rectangle 11"/>
          <p:cNvSpPr/>
          <p:nvPr/>
        </p:nvSpPr>
        <p:spPr>
          <a:xfrm>
            <a:off x="5916168" y="1600200"/>
            <a:ext cx="5138928" cy="822960"/>
          </a:xfrm>
          <a:prstGeom prst="roundRect">
            <a:avLst/>
          </a:prstGeom>
          <a:solidFill>
            <a:srgbClr val="EBF5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053328" y="1709928"/>
            <a:ext cx="4864608" cy="621792"/>
          </a:xfrm>
          <a:prstGeom prst="rect">
            <a:avLst/>
          </a:prstGeom>
          <a:noFill/>
        </p:spPr>
        <p:txBody>
          <a:bodyPr wrap="square" lIns="22860" rIns="22860" tIns="9144" anchor="ctr">
            <a:spAutoFit/>
          </a:bodyPr>
          <a:lstStyle/>
          <a:p>
            <a:pPr algn="ctr">
              <a:defRPr sz="1600" b="1">
                <a:solidFill>
                  <a:srgbClr val="182B40"/>
                </a:solidFill>
                <a:latin typeface="Aptos"/>
              </a:defRPr>
            </a:pPr>
            <a:r>
              <a:t>Multimodal input</a:t>
            </a:r>
          </a:p>
        </p:txBody>
      </p:sp>
      <p:sp>
        <p:nvSpPr>
          <p:cNvPr id="14" name="Rounded Rectangle 13"/>
          <p:cNvSpPr/>
          <p:nvPr/>
        </p:nvSpPr>
        <p:spPr>
          <a:xfrm>
            <a:off x="5074920" y="2551176"/>
            <a:ext cx="658368" cy="822960"/>
          </a:xfrm>
          <a:prstGeom prst="roundRect">
            <a:avLst/>
          </a:prstGeom>
          <a:solidFill>
            <a:srgbClr val="EBF5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5212080" y="2660904"/>
            <a:ext cx="384048" cy="621792"/>
          </a:xfrm>
          <a:prstGeom prst="rect">
            <a:avLst/>
          </a:prstGeom>
          <a:noFill/>
        </p:spPr>
        <p:txBody>
          <a:bodyPr wrap="square" lIns="22860" rIns="22860" tIns="9144" anchor="ctr">
            <a:spAutoFit/>
          </a:bodyPr>
          <a:lstStyle/>
          <a:p>
            <a:pPr algn="ctr">
              <a:defRPr sz="1800" b="1">
                <a:solidFill>
                  <a:srgbClr val="255E9C"/>
                </a:solidFill>
                <a:latin typeface="Aptos"/>
              </a:defRPr>
            </a:pPr>
            <a:r>
              <a:t>2</a:t>
            </a:r>
          </a:p>
        </p:txBody>
      </p:sp>
      <p:sp>
        <p:nvSpPr>
          <p:cNvPr id="16" name="Rounded Rectangle 15"/>
          <p:cNvSpPr/>
          <p:nvPr/>
        </p:nvSpPr>
        <p:spPr>
          <a:xfrm>
            <a:off x="5916168" y="2551176"/>
            <a:ext cx="5138928" cy="822960"/>
          </a:xfrm>
          <a:prstGeom prst="roundRect">
            <a:avLst/>
          </a:prstGeom>
          <a:solidFill>
            <a:srgbClr val="EFF7F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053328" y="2660904"/>
            <a:ext cx="4864608" cy="621792"/>
          </a:xfrm>
          <a:prstGeom prst="rect">
            <a:avLst/>
          </a:prstGeom>
          <a:noFill/>
        </p:spPr>
        <p:txBody>
          <a:bodyPr wrap="square" lIns="22860" rIns="22860" tIns="9144" anchor="ctr">
            <a:spAutoFit/>
          </a:bodyPr>
          <a:lstStyle/>
          <a:p>
            <a:pPr algn="ctr">
              <a:defRPr sz="1600" b="1">
                <a:solidFill>
                  <a:srgbClr val="182B40"/>
                </a:solidFill>
                <a:latin typeface="Aptos"/>
              </a:defRPr>
            </a:pPr>
            <a:r>
              <a:t>Extraction</a:t>
            </a:r>
          </a:p>
        </p:txBody>
      </p:sp>
      <p:sp>
        <p:nvSpPr>
          <p:cNvPr id="18" name="Rounded Rectangle 17"/>
          <p:cNvSpPr/>
          <p:nvPr/>
        </p:nvSpPr>
        <p:spPr>
          <a:xfrm>
            <a:off x="5074920" y="3502152"/>
            <a:ext cx="658368" cy="822960"/>
          </a:xfrm>
          <a:prstGeom prst="roundRect">
            <a:avLst/>
          </a:prstGeom>
          <a:solidFill>
            <a:srgbClr val="EFF7F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5212080" y="3611880"/>
            <a:ext cx="384048" cy="621792"/>
          </a:xfrm>
          <a:prstGeom prst="rect">
            <a:avLst/>
          </a:prstGeom>
          <a:noFill/>
        </p:spPr>
        <p:txBody>
          <a:bodyPr wrap="square" lIns="22860" rIns="22860" tIns="9144" anchor="ctr">
            <a:spAutoFit/>
          </a:bodyPr>
          <a:lstStyle/>
          <a:p>
            <a:pPr algn="ctr">
              <a:defRPr sz="1800" b="1">
                <a:solidFill>
                  <a:srgbClr val="255E9C"/>
                </a:solidFill>
                <a:latin typeface="Aptos"/>
              </a:defRPr>
            </a:pPr>
            <a:r>
              <a:t>3</a:t>
            </a:r>
          </a:p>
        </p:txBody>
      </p:sp>
      <p:sp>
        <p:nvSpPr>
          <p:cNvPr id="20" name="Rounded Rectangle 19"/>
          <p:cNvSpPr/>
          <p:nvPr/>
        </p:nvSpPr>
        <p:spPr>
          <a:xfrm>
            <a:off x="5916168" y="3502152"/>
            <a:ext cx="5138928" cy="822960"/>
          </a:xfrm>
          <a:prstGeom prst="roundRect">
            <a:avLst/>
          </a:prstGeom>
          <a:solidFill>
            <a:srgbClr val="EBF5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6053328" y="3611880"/>
            <a:ext cx="4864608" cy="621792"/>
          </a:xfrm>
          <a:prstGeom prst="rect">
            <a:avLst/>
          </a:prstGeom>
          <a:noFill/>
        </p:spPr>
        <p:txBody>
          <a:bodyPr wrap="square" lIns="22860" rIns="22860" tIns="9144" anchor="ctr">
            <a:spAutoFit/>
          </a:bodyPr>
          <a:lstStyle/>
          <a:p>
            <a:pPr algn="ctr">
              <a:defRPr sz="1600" b="1">
                <a:solidFill>
                  <a:srgbClr val="182B40"/>
                </a:solidFill>
                <a:latin typeface="Aptos"/>
              </a:defRPr>
            </a:pPr>
            <a:r>
              <a:t>Verification</a:t>
            </a:r>
          </a:p>
        </p:txBody>
      </p:sp>
      <p:sp>
        <p:nvSpPr>
          <p:cNvPr id="22" name="Rounded Rectangle 21"/>
          <p:cNvSpPr/>
          <p:nvPr/>
        </p:nvSpPr>
        <p:spPr>
          <a:xfrm>
            <a:off x="5074920" y="4453128"/>
            <a:ext cx="658368" cy="822960"/>
          </a:xfrm>
          <a:prstGeom prst="roundRect">
            <a:avLst/>
          </a:prstGeom>
          <a:solidFill>
            <a:srgbClr val="EBF5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5212080" y="4562856"/>
            <a:ext cx="384048" cy="621792"/>
          </a:xfrm>
          <a:prstGeom prst="rect">
            <a:avLst/>
          </a:prstGeom>
          <a:noFill/>
        </p:spPr>
        <p:txBody>
          <a:bodyPr wrap="square" lIns="22860" rIns="22860" tIns="9144" anchor="ctr">
            <a:spAutoFit/>
          </a:bodyPr>
          <a:lstStyle/>
          <a:p>
            <a:pPr algn="ctr">
              <a:defRPr sz="1800" b="1">
                <a:solidFill>
                  <a:srgbClr val="255E9C"/>
                </a:solidFill>
                <a:latin typeface="Aptos"/>
              </a:defRPr>
            </a:pPr>
            <a:r>
              <a:t>4</a:t>
            </a:r>
          </a:p>
        </p:txBody>
      </p:sp>
      <p:sp>
        <p:nvSpPr>
          <p:cNvPr id="24" name="Rounded Rectangle 23"/>
          <p:cNvSpPr/>
          <p:nvPr/>
        </p:nvSpPr>
        <p:spPr>
          <a:xfrm>
            <a:off x="5916168" y="4453128"/>
            <a:ext cx="5138928" cy="822960"/>
          </a:xfrm>
          <a:prstGeom prst="roundRect">
            <a:avLst/>
          </a:prstGeom>
          <a:solidFill>
            <a:srgbClr val="EFF7F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053328" y="4562856"/>
            <a:ext cx="4864608" cy="621792"/>
          </a:xfrm>
          <a:prstGeom prst="rect">
            <a:avLst/>
          </a:prstGeom>
          <a:noFill/>
        </p:spPr>
        <p:txBody>
          <a:bodyPr wrap="square" lIns="22860" rIns="22860" tIns="9144" anchor="ctr">
            <a:spAutoFit/>
          </a:bodyPr>
          <a:lstStyle/>
          <a:p>
            <a:pPr algn="ctr">
              <a:defRPr sz="1600" b="1">
                <a:solidFill>
                  <a:srgbClr val="182B40"/>
                </a:solidFill>
                <a:latin typeface="Aptos"/>
              </a:defRPr>
            </a:pPr>
            <a:r>
              <a:t>Uncertainty</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