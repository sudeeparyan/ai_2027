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college-policy assistant answers questions with policy IDs. The visible slide states: The cited deadline answer</a:t>
            </a:r>
          </a:p>
          <a:p/>
          <a:p>
            <a:r>
              <a:t>The assistant cites P3 for “two extensions,” but P3 permits one. A citation is present. Is the answer supported? Reveal that the case will be revisited after four short concept cycles.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The assistant cites P3 for “two extensions,” but P3 permits one. A citation is present. Is the answer supported?</a:t>
            </a:r>
          </a:p>
          <a:p/>
          <a:p>
            <a:r>
              <a:t>Choose an initial answer and name one piece of evidence you need. Accept reasonable uncertainty; record the initial votes to revisit at the end.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The college-policy assistant answers questions with policy IDs. The visible slide states: We will predict, connect an analogy, trace a mechanism, work an example, then explain a decision. Point to the four named ideas, then show where the notebook experiment fits.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Which step happens before drafting?</a:t>
            </a:r>
          </a:p>
          <a:p/>
          <a:p>
            <a:r>
              <a:t>Make a choice before we explain the diagram. The intended answer is Find the relevant allowed passage. The tempting claim is A citation added afterward repairs a false answer.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An open-book examiner finds the page before writing the answer.</a:t>
            </a:r>
          </a:p>
          <a:p/>
          <a:p>
            <a:r>
              <a:t>What matches our case, and where does the analogy stop? The boundary is: Retrieval can pick an irrelevant page; answer quality depends on what was found.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Retrieval can pick an irrelevant page; answer quality depends on what was found. The three precise mappings are [['Question', 'query'], ['Open page', 'retrieved passage'], ['Answer', 'cited reply']].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Retrieve relevant text for the current request, then draft an answer bounded by that text.</a:t>
            </a:r>
          </a:p>
          <a:p/>
          <a:p>
            <a:r>
              <a:t>Trace the arrows from left to right. The weekly example is: P3 states one extension in seven days; answer “one [P3]” after retrieving P3. State what the analogy does not explain: Retrieval can pick an irrelevant page; answer quality depends on what was found.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P3 states one extension in seven days; answer “one [P3]” after retrieving P3.</a:t>
            </a:r>
          </a:p>
          <a:p/>
          <a:p>
            <a:r>
              <a:t>Point to the evidence before giving your conclusion. The expected reasoning concludes: Find the relevant allowed passage.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Find the relevant allowed passage.</a:t>
            </a:r>
          </a:p>
          <a:p/>
          <a:p>
            <a:r>
              <a:t>Tempting mistake: A citation added afterward repairs a false answer. The earlier question was Which step happens before drafting?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What must be checked beyond the presence of a citation?</a:t>
            </a:r>
          </a:p>
          <a:p/>
          <a:p>
            <a:r>
              <a:t>Make a choice before we explain the diagram. The intended answer is The passage must support the exact claim. The tempting claim is Any source ID proves the sentence.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footnote is useful only when its source actually says the claim.</a:t>
            </a:r>
          </a:p>
          <a:p/>
          <a:p>
            <a:r>
              <a:t>What matches our case, and where does the analogy stop? The boundary is: Checking entailment can involve nuance; use a human for disputed cases.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Checking entailment can involve nuance; use a human for disputed cases. The three precise mappings are [['Sentence', 'claim'], ['Footnote', 'source ID'], ['Highlight', 'supporting span']].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Check every material claim against the cited passage.</a:t>
            </a:r>
          </a:p>
          <a:p/>
          <a:p>
            <a:r>
              <a:t>Trace the arrows from left to right. The weekly example is: “Two extensions [P3]” is unsupported because P3 says one, even though the ID exists. State what the analogy does not explain: Checking entailment can involve nuance; use a human for disputed cases.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“Two extensions [P3]” is unsupported because P3 says one, even though the ID exists.</a:t>
            </a:r>
          </a:p>
          <a:p/>
          <a:p>
            <a:r>
              <a:t>Point to the evidence before giving your conclusion. The expected reasoning concludes: The passage must support the exact claim.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The passage must support the exact claim.</a:t>
            </a:r>
          </a:p>
          <a:p/>
          <a:p>
            <a:r>
              <a:t>Tempting mistake: Any source ID proves the sentence. The earlier question was What must be checked beyond the presence of a citation?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What should the system say?</a:t>
            </a:r>
          </a:p>
          <a:p/>
          <a:p>
            <a:r>
              <a:t>Make a choice before we explain the diagram. The intended answer is It lacks a relevant approved source in this corpus. The tempting claim is The model should guess from common knowledge.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careful researcher leaves a blank when the archive lacks evidence.</a:t>
            </a:r>
          </a:p>
          <a:p/>
          <a:p>
            <a:r>
              <a:t>What matches our case, and where does the analogy stop? The boundary is: A retrieval miss may hide a real answer elsewhere; report the search limit.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A retrieval miss may hide a real answer elsewhere; report the search limit. The three precise mappings are [['Missing page', 'no relevant passage'], ['Blank', 'abstain'], ['Search log', 'reason']].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If approved sources lack an answer, return a clear unsupported status.</a:t>
            </a:r>
          </a:p>
          <a:p/>
          <a:p>
            <a:r>
              <a:t>Trace the arrows from left to right. The weekly example is: Ask about parking permits; none of five policies covers it, so say evidence is unavailable. State what the analogy does not explain: A retrieval miss may hide a real answer elsewhere; report the search limit.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Ask about parking permits; none of five policies covers it, so say evidence is unavailable.</a:t>
            </a:r>
          </a:p>
          <a:p/>
          <a:p>
            <a:r>
              <a:t>Point to the evidence before giving your conclusion. The expected reasoning concludes: It lacks a relevant approved source in this corpus.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It lacks a relevant approved source in this corpus.</a:t>
            </a:r>
          </a:p>
          <a:p/>
          <a:p>
            <a:r>
              <a:t>Tempting mistake: The model should guess from common knowledge. The earlier question was What should the system say?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The college-policy assistant answers questions with policy IDs. The visible slide states: Why not tune again after seeing the ten final answers?</a:t>
            </a:r>
          </a:p>
          <a:p/>
          <a:p>
            <a:r>
              <a:t>Make a choice before we explain the diagram. The intended answer is That would contaminate the independent check. The tempting claim is Reusing final questions improves an unbiased estimate. Do not show which card is correct until the reveal.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The college-policy assistant answers questions with policy IDs. The visible slide states: A practice quiz guides choices; an unopened exam checks the choice.</a:t>
            </a:r>
          </a:p>
          <a:p/>
          <a:p>
            <a:r>
              <a:t>What matches our case, and where does the analogy stop? The boundary is: Ten final cases are still a small sample; report each failure and denominator.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The college-policy assistant answers questions with policy IDs. The visible slide states: Match each everyday part to the technical part.</a:t>
            </a:r>
          </a:p>
          <a:p/>
          <a:p>
            <a:r>
              <a:t>Analogy limit: Ten final cases are still a small sample; report each failure and denominator. The three precise mappings are [['20 questions', 'development set'], ['Search setting', 'chosen configuration'], ['10 new questions', 'final check']].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The college-policy assistant answers questions with policy IDs. The visible slide states: Use 20 practice questions for improvements and keep ten separate questions for final checking.</a:t>
            </a:r>
          </a:p>
          <a:p/>
          <a:p>
            <a:r>
              <a:t>Trace the arrows from left to right. The weekly example is: Compare top-k 1 and 2 on 20 practice questions, freeze the choice, then open ten final cases. State what the analogy does not explain: Ten final cases are still a small sample; report each failure and denominator.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Compare top-k 1 and 2 on 20 practice questions, freeze the choice, then open ten final cases.</a:t>
            </a:r>
          </a:p>
          <a:p/>
          <a:p>
            <a:r>
              <a:t>Point to the evidence before giving your conclusion. The expected reasoning concludes: That would contaminate the independent check. Distinguish measured results from illustrative numbers.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The college-policy assistant answers questions with policy IDs. The visible slide states: That would contaminate the independent check.</a:t>
            </a:r>
          </a:p>
          <a:p/>
          <a:p>
            <a:r>
              <a:t>Tempting mistake: Reusing final questions improves an unbiased estimate. The earlier question was Why not tune again after seeing the ten final answers? Ask how this differs from the wrong claim.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The college-policy assistant answers questions with policy IDs. The visible slide states: Q: How many extensions are allowed?</a:t>
            </a:r>
          </a:p>
          <a:p/>
          <a:p>
            <a:r>
              <a:t>A: One deadline extension [P3]. Have one student point to an exact source word or number for each conclusion.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Run a small extractive retrieval and answer pipeline.</a:t>
            </a:r>
          </a:p>
          <a:p/>
          <a:p>
            <a:r>
              <a:t>Read the original output before editing. Use Week_07_Lab.ipynb. This lab is a prepared classroom demonstration with its limitations documented.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Locate the supplied input, the transformation, the checking line and the printed result. The weekly lab change is: Replace a relevant passage with an irrelevant one and observe abstention.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Replace a relevant passage with an irrelevant one and observe abstention.</a:t>
            </a:r>
          </a:p>
          <a:p/>
          <a:p>
            <a:r>
              <a:t>What should change in the result? What stays fixed? Ask learners to write their prediction before rerunning the cell.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Record the input, the one changed setting, the observed result and a reason for any difference. The required evidence is: Twenty-case practice table; ten final questions remain sealed for assessment.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Supported claims / checked claims and no-answer accuracy</a:t>
            </a:r>
          </a:p>
          <a:p/>
          <a:p>
            <a:r>
              <a:t>Write the numerator, denominator and one failure case. Where a measure is qualitative, show the concrete source comparison. Example: A: One deadline extension [P3].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Plausible wrong claim: A citation label proves that the cited passage supports the answer.</a:t>
            </a:r>
          </a:p>
          <a:p/>
          <a:p>
            <a:r>
              <a:t>Correct it using the case evidence. The correction is Read the passage and check that it entails the claim; a plausible-looking source tag can be wrong.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A fresh question asks about a rule absent from all five policies. What should the assistant do?</a:t>
            </a:r>
          </a:p>
          <a:p/>
          <a:p>
            <a:r>
              <a:t>Explain which source or test would settle it. This is a fresh scenario, so ask for a reason before accepting either short answer.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Without reading the slide, name the input, one processing step and the check. Your partner should ask “How do you know?” Listen for a causal explanation and one limitation, then revisit a difficult arrow on the board.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Why reserve final questions?</a:t>
            </a:r>
          </a:p>
          <a:p/>
          <a:p>
            <a:r>
              <a:t>Write a short answer, then compare with the guide. Model answer after discussion: They estimate performance on cases that did not guide tuning. Repeated tuning on them leaks evaluation information. Practice marks: 4.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Two of four material claims are supported. What is citation support?</a:t>
            </a:r>
          </a:p>
          <a:p/>
          <a:p>
            <a:r>
              <a:t>Write a short answer, then compare with the guide. Model answer after discussion: 2/4 = 50%. Check each claim against its cited evidence. Practice marks: 4.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The college-policy assistant answers questions with policy IDs. The visible slide states: Twenty-case practice table; ten final questions remain sealed for assessment.</a:t>
            </a:r>
          </a:p>
          <a:p/>
          <a:p>
            <a:r>
              <a:t>Include the one changed input and an error explanation. This weekly evidence receives formative feedback according to the module sequence; refer to the assessment brief for graded work.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The college-policy assistant answers questions with policy IDs. The visible slide states: Retrieve, answer, check each claim, and abstain without evidence.</a:t>
            </a:r>
          </a:p>
          <a:p/>
          <a:p>
            <a:r>
              <a:t>Read the linked official sources in the Word guide and redraw one diagram from memory. Return to the opening vote and ask whether the evidence changed anyone’s mind. The next week builds on this outcome: Connect retrieved evidence to an answer and abstain when support is absent. The target is: Connect retrieved evidence to an answer and abstain when support is absent.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07 · Building and checking RAG</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cited deadline answer</a:t>
            </a:r>
          </a:p>
          <a:p>
            <a:pPr>
              <a:defRPr sz="1800" b="0">
                <a:solidFill>
                  <a:srgbClr val="182B40"/>
                </a:solidFill>
                <a:latin typeface="Aptos"/>
              </a:defRPr>
            </a:pPr>
          </a:p>
          <a:p>
            <a:pPr>
              <a:defRPr sz="1800" b="0">
                <a:solidFill>
                  <a:srgbClr val="182B40"/>
                </a:solidFill>
                <a:latin typeface="Aptos"/>
              </a:defRPr>
            </a:pPr>
            <a:r>
              <a:t>The assistant cites P3 for “two extensions,” but P3 permits one. A citation is present. Is the answer supported?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86460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P1 Travel</a:t>
            </a:r>
          </a:p>
        </p:txBody>
      </p:sp>
      <p:sp>
        <p:nvSpPr>
          <p:cNvPr id="11" name="Rounded Rectangle 10"/>
          <p:cNvSpPr/>
          <p:nvPr/>
        </p:nvSpPr>
        <p:spPr>
          <a:xfrm>
            <a:off x="619048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P2 Library</a:t>
            </a:r>
          </a:p>
        </p:txBody>
      </p:sp>
      <p:sp>
        <p:nvSpPr>
          <p:cNvPr id="12" name="Rounded Rectangle 11"/>
          <p:cNvSpPr/>
          <p:nvPr/>
        </p:nvSpPr>
        <p:spPr>
          <a:xfrm>
            <a:off x="751636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P3 Deadline</a:t>
            </a:r>
          </a:p>
        </p:txBody>
      </p:sp>
      <p:sp>
        <p:nvSpPr>
          <p:cNvPr id="13" name="Rounded Rectangle 12"/>
          <p:cNvSpPr/>
          <p:nvPr/>
        </p:nvSpPr>
        <p:spPr>
          <a:xfrm>
            <a:off x="8842248" y="1874519"/>
            <a:ext cx="1170432" cy="1463040"/>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P4 Appeal</a:t>
            </a:r>
          </a:p>
        </p:txBody>
      </p:sp>
      <p:sp>
        <p:nvSpPr>
          <p:cNvPr id="14" name="Rounded Rectangle 13"/>
          <p:cNvSpPr/>
          <p:nvPr/>
        </p:nvSpPr>
        <p:spPr>
          <a:xfrm>
            <a:off x="10168128" y="1874519"/>
            <a:ext cx="1170432" cy="1463040"/>
          </a:xfrm>
          <a:prstGeom prst="roundRect">
            <a:avLst/>
          </a:prstGeom>
          <a:solidFill>
            <a:srgbClr val="FBEEEB"/>
          </a:solidFill>
          <a:ln>
            <a:solidFill>
              <a:srgbClr val="FBEE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82B40"/>
                </a:solidFill>
                <a:latin typeface="Aptos"/>
              </a:defRPr>
            </a:pPr>
            <a:r>
              <a:t>P5 Staff</a:t>
            </a:r>
          </a:p>
        </p:txBody>
      </p:sp>
      <p:sp>
        <p:nvSpPr>
          <p:cNvPr id="15" name="TextBox 14"/>
          <p:cNvSpPr txBox="1"/>
          <p:nvPr/>
        </p:nvSpPr>
        <p:spPr>
          <a:xfrm>
            <a:off x="4892040" y="3840480"/>
            <a:ext cx="6400800" cy="502920"/>
          </a:xfrm>
          <a:prstGeom prst="rect">
            <a:avLst/>
          </a:prstGeom>
          <a:noFill/>
        </p:spPr>
        <p:txBody>
          <a:bodyPr wrap="square" lIns="0" rIns="0">
            <a:spAutoFit/>
          </a:bodyPr>
          <a:lstStyle/>
          <a:p>
            <a:pPr>
              <a:defRPr sz="1700" b="1">
                <a:solidFill>
                  <a:srgbClr val="117E6E"/>
                </a:solidFill>
                <a:latin typeface="Aptos"/>
              </a:defRPr>
            </a:pPr>
            <a:r>
              <a:t>Retrieve only the policy allowed for this user</a:t>
            </a:r>
          </a:p>
        </p:txBody>
      </p:sp>
      <p:sp>
        <p:nvSpPr>
          <p:cNvPr id="16" name="Rounded Rectangle 15"/>
          <p:cNvSpPr/>
          <p:nvPr/>
        </p:nvSpPr>
        <p:spPr>
          <a:xfrm>
            <a:off x="4800600"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Question</a:t>
            </a:r>
          </a:p>
        </p:txBody>
      </p:sp>
      <p:sp>
        <p:nvSpPr>
          <p:cNvPr id="17" name="Rounded Rectangle 16"/>
          <p:cNvSpPr/>
          <p:nvPr/>
        </p:nvSpPr>
        <p:spPr>
          <a:xfrm>
            <a:off x="7074408" y="4681728"/>
            <a:ext cx="2081784" cy="1115568"/>
          </a:xfrm>
          <a:prstGeom prst="roundRect">
            <a:avLst/>
          </a:prstGeom>
          <a:solidFill>
            <a:srgbClr val="EFF7F3"/>
          </a:solidFill>
          <a:ln>
            <a:solidFill>
              <a:srgbClr val="EFF7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Allowed policy</a:t>
            </a:r>
          </a:p>
        </p:txBody>
      </p:sp>
      <p:cxnSp>
        <p:nvCxnSpPr>
          <p:cNvPr id="18" name="Connector 17"/>
          <p:cNvCxnSpPr/>
          <p:nvPr/>
        </p:nvCxnSpPr>
        <p:spPr>
          <a:xfrm>
            <a:off x="6900671"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6960108"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348216" y="4681728"/>
            <a:ext cx="2081784" cy="1115568"/>
          </a:xfrm>
          <a:prstGeom prst="roundRect">
            <a:avLst/>
          </a:prstGeom>
          <a:solidFill>
            <a:srgbClr val="EBF5FB"/>
          </a:solidFill>
          <a:ln>
            <a:solidFill>
              <a:srgbClr val="EBF5F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82B40"/>
                </a:solidFill>
                <a:latin typeface="Aptos"/>
              </a:defRPr>
            </a:pPr>
            <a:r>
              <a:t>Cited answer</a:t>
            </a:r>
          </a:p>
        </p:txBody>
      </p:sp>
      <p:cxnSp>
        <p:nvCxnSpPr>
          <p:cNvPr id="21" name="Connector 20"/>
          <p:cNvCxnSpPr/>
          <p:nvPr/>
        </p:nvCxnSpPr>
        <p:spPr>
          <a:xfrm>
            <a:off x="9174479" y="5239512"/>
            <a:ext cx="141733"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9233916" y="5170932"/>
            <a:ext cx="155448" cy="137160"/>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assistant cites P3 for “two extensions,” but P3 permits one. A citation is present. Is the answer supported?</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Accept the first plausible result</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Check the source or measurement</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RAG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Citation support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No-answer case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Test split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RAG</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step happens before drafting?</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Find the relevant allowed passage.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 citation added afterward repairs a false answer.</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open-book examiner finds the page before writing the answer.</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An open-book examiner finds the page before writing the answer.</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Question</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872983"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27847" y="2779776"/>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927847" y="2880360"/>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927847" y="2980944"/>
            <a:ext cx="256032" cy="22860"/>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Open page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Answer</a:t>
            </a:r>
          </a:p>
        </p:txBody>
      </p:sp>
      <p:sp>
        <p:nvSpPr>
          <p:cNvPr id="36" name="TextBox 35"/>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Retrieval can pick an irrelevant page; answer quality depends on what was found.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query</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Open page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retrieved passage</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Answer</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cited reply</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Retrieve relevant text for the current request, then draft an answer bounded by that text.</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Retrieve passages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Answer with source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P3 states one extension in seven days; answer “one [P3]” after retrieving P3.</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P3 states one extension in seven days; answer “one [P3]” after retrieving P3.</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Which step happens before drafting?</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Find the relevant allowed passage.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RAG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Find the relevant allowed passage.</a:t>
            </a:r>
          </a:p>
          <a:p>
            <a:pPr>
              <a:defRPr sz="1800" b="0">
                <a:solidFill>
                  <a:srgbClr val="182B40"/>
                </a:solidFill>
                <a:latin typeface="Aptos"/>
              </a:defRPr>
            </a:pPr>
          </a:p>
          <a:p>
            <a:pPr>
              <a:defRPr sz="1800" b="0">
                <a:solidFill>
                  <a:srgbClr val="182B40"/>
                </a:solidFill>
                <a:latin typeface="Aptos"/>
              </a:defRPr>
            </a:pPr>
            <a:r>
              <a:t>Tempting mistake: A citation added afterward repairs a false answer.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09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citation added afterward repairs a false answer.</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Find the relevant allowed passage.</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Retrieval can pick an irrelevant page; answer quality depends on what was found.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Citation support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must be checked beyond the presence of a citation?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The passage must support the exact claim.</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Any source ID proves the sentence.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footnote is useful only when its source actually says the claim.</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footnote is useful only when its source actually says the claim.</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Sentence</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808975"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900415"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019288"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138159" y="2907792"/>
            <a:ext cx="41148" cy="41148"/>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Footnote</a:t>
            </a:r>
          </a:p>
        </p:txBody>
      </p:sp>
      <p:cxnSp>
        <p:nvCxnSpPr>
          <p:cNvPr id="27" name="Connector 26"/>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8" name="Chevron 27"/>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Highlight</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Checking entailment can involve nuance; use a human for disputed cases.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Sentence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claim</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Footnote</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source ID</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Highlight</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supporting span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Check every material claim against the cited passage.</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Answer claim</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Cited passage</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 entailment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extensions [P3]” is unsupported because P3 says one, even though the ID exists.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“Two extensions [P3]” is unsupported because P3 says one, even though the ID exists.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must be checked beyond the presence of a citation?</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The passage must support the exact claim.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Citation support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passage must support the exact claim.</a:t>
            </a:r>
          </a:p>
          <a:p>
            <a:pPr>
              <a:defRPr sz="1800" b="0">
                <a:solidFill>
                  <a:srgbClr val="182B40"/>
                </a:solidFill>
                <a:latin typeface="Aptos"/>
              </a:defRPr>
            </a:pPr>
          </a:p>
          <a:p>
            <a:pPr>
              <a:defRPr sz="1800" b="0">
                <a:solidFill>
                  <a:srgbClr val="182B40"/>
                </a:solidFill>
                <a:latin typeface="Aptos"/>
              </a:defRPr>
            </a:pPr>
            <a:r>
              <a:t>Tempting mistake: Any source ID proves the sentence.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Any source ID proves the sentence.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The passage must support the exact claim.</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Checking entailment can involve nuance; use a human for disputed cases.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No-answer case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should the system say?</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It lacks a relevant approved source in this corpus.</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The model should guess from common knowledge.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careful researcher leaves a blank when the archive lacks evidence.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careful researcher leaves a blank when the archive lacks evidence.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733288" y="2697480"/>
            <a:ext cx="365760" cy="4754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88152" y="2779776"/>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788152" y="2880360"/>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788152" y="2980944"/>
            <a:ext cx="256032" cy="22860"/>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Missing page</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Blank</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9761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0286999"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0131551"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Search log</a:t>
            </a:r>
          </a:p>
        </p:txBody>
      </p:sp>
      <p:sp>
        <p:nvSpPr>
          <p:cNvPr id="34" name="TextBox 33"/>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retrieval miss may hide a real answer elsewhere; report the search limit.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Missing page</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no relevant passage</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Blank</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abstain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Search log</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reason</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approved sources lack an answer, return a clear unsupported status.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19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No relevant source</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Abstain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Explain missing evidence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Ask about parking permits; none of five policies covers it, so say evidence is unavailable.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Ask about parking permits; none of five policies covers it, so say evidence is unavailable.</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What should the system say?</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It lacks a relevant approved source in this corpus.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No-answer case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It lacks a relevant approved source in this corpus.</a:t>
            </a:r>
          </a:p>
          <a:p>
            <a:pPr>
              <a:defRPr sz="1800" b="0">
                <a:solidFill>
                  <a:srgbClr val="182B40"/>
                </a:solidFill>
                <a:latin typeface="Aptos"/>
              </a:defRPr>
            </a:pPr>
          </a:p>
          <a:p>
            <a:pPr>
              <a:defRPr sz="1800" b="0">
                <a:solidFill>
                  <a:srgbClr val="182B40"/>
                </a:solidFill>
                <a:latin typeface="Aptos"/>
              </a:defRPr>
            </a:pPr>
            <a:r>
              <a:t>Tempting mistake: The model should guess from common knowledge.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The model should guess from common knowledge.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It lacks a relevant approved source in this corpus.</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A retrieval miss may hide a real answer elsewhere; report the search limit.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Test split</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not tune again after seeing the ten final answers?</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That would contaminate the independent check.</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Reusing final questions improves an unbiased estimate.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practice quiz guides choices; an unopened exam checks the choice.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91056"/>
            <a:ext cx="5943600" cy="749808"/>
          </a:xfrm>
          <a:prstGeom prst="rect">
            <a:avLst/>
          </a:prstGeom>
          <a:noFill/>
        </p:spPr>
        <p:txBody>
          <a:bodyPr wrap="square" lIns="22860" rIns="22860" tIns="9144">
            <a:spAutoFit/>
          </a:bodyPr>
          <a:lstStyle/>
          <a:p>
            <a:pPr>
              <a:defRPr sz="1800" b="1">
                <a:solidFill>
                  <a:srgbClr val="255E9C"/>
                </a:solidFill>
                <a:latin typeface="Aptos"/>
              </a:defRPr>
            </a:pPr>
            <a:r>
              <a:t>A practice quiz guides choices; an unopened exam checks the choice.</a:t>
            </a:r>
          </a:p>
        </p:txBody>
      </p:sp>
      <p:sp>
        <p:nvSpPr>
          <p:cNvPr id="11" name="Rounded Rectangle 10"/>
          <p:cNvSpPr/>
          <p:nvPr/>
        </p:nvSpPr>
        <p:spPr>
          <a:xfrm>
            <a:off x="5532120" y="2542032"/>
            <a:ext cx="768096" cy="768096"/>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669279"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760720"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879592"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98464" y="2907792"/>
            <a:ext cx="41148" cy="41148"/>
          </a:xfrm>
          <a:prstGeom prst="round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001768" y="3456432"/>
            <a:ext cx="1874519" cy="10607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20 questions</a:t>
            </a:r>
          </a:p>
        </p:txBody>
      </p:sp>
      <p:cxnSp>
        <p:nvCxnSpPr>
          <p:cNvPr id="18" name="Connector 17"/>
          <p:cNvCxnSpPr/>
          <p:nvPr/>
        </p:nvCxnSpPr>
        <p:spPr>
          <a:xfrm>
            <a:off x="6903720" y="3977639"/>
            <a:ext cx="21031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9" name="Chevron 18"/>
          <p:cNvSpPr/>
          <p:nvPr/>
        </p:nvSpPr>
        <p:spPr>
          <a:xfrm>
            <a:off x="7031736"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671815" y="2542032"/>
            <a:ext cx="768096" cy="768096"/>
          </a:xfrm>
          <a:prstGeom prst="round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836407"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147303" y="2788920"/>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991855" y="3026664"/>
            <a:ext cx="128016" cy="1280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141464" y="3456432"/>
            <a:ext cx="1874519" cy="10607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78624"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Search setting</a:t>
            </a:r>
          </a:p>
        </p:txBody>
      </p:sp>
      <p:cxnSp>
        <p:nvCxnSpPr>
          <p:cNvPr id="26" name="Connector 25"/>
          <p:cNvCxnSpPr/>
          <p:nvPr/>
        </p:nvCxnSpPr>
        <p:spPr>
          <a:xfrm>
            <a:off x="9043416" y="3977639"/>
            <a:ext cx="210312"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7" name="Chevron 26"/>
          <p:cNvSpPr/>
          <p:nvPr/>
        </p:nvSpPr>
        <p:spPr>
          <a:xfrm>
            <a:off x="9171432" y="3913631"/>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811511" y="2542032"/>
            <a:ext cx="768096" cy="768096"/>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948672" y="2743200"/>
            <a:ext cx="493776" cy="3474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40111"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158984"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10277855" y="2907792"/>
            <a:ext cx="41148" cy="41148"/>
          </a:xfrm>
          <a:prstGeom prst="round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9281159" y="3456432"/>
            <a:ext cx="1874519" cy="1060704"/>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19" y="3566160"/>
            <a:ext cx="1600199" cy="859536"/>
          </a:xfrm>
          <a:prstGeom prst="rect">
            <a:avLst/>
          </a:prstGeom>
          <a:noFill/>
        </p:spPr>
        <p:txBody>
          <a:bodyPr wrap="square" lIns="22860" rIns="22860" tIns="9144" anchor="ctr">
            <a:spAutoFit/>
          </a:bodyPr>
          <a:lstStyle/>
          <a:p>
            <a:pPr algn="ctr">
              <a:defRPr sz="1600" b="1">
                <a:solidFill>
                  <a:srgbClr val="182B40"/>
                </a:solidFill>
                <a:latin typeface="Aptos"/>
              </a:defRPr>
            </a:pPr>
            <a:r>
              <a:t>10 new questions</a:t>
            </a:r>
          </a:p>
        </p:txBody>
      </p:sp>
      <p:sp>
        <p:nvSpPr>
          <p:cNvPr id="35" name="TextBox 34"/>
          <p:cNvSpPr txBox="1"/>
          <p:nvPr/>
        </p:nvSpPr>
        <p:spPr>
          <a:xfrm>
            <a:off x="5074920" y="4983480"/>
            <a:ext cx="6126480" cy="429768"/>
          </a:xfrm>
          <a:prstGeom prst="rect">
            <a:avLst/>
          </a:prstGeom>
          <a:noFill/>
        </p:spPr>
        <p:txBody>
          <a:bodyPr wrap="square" lIns="22860" rIns="22860" tIns="9144">
            <a:spAutoFit/>
          </a:bodyPr>
          <a:lstStyle/>
          <a:p>
            <a:pPr>
              <a:defRPr sz="1600" b="1">
                <a:solidFill>
                  <a:srgbClr val="117E6E"/>
                </a:solidFill>
                <a:latin typeface="Aptos"/>
              </a:defRPr>
            </a:pPr>
            <a:r>
              <a:t>What matches the technical process?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Ten final cases are still a small sample; report each failure and denominator.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FAMILIAR SCENE                  TECHNICAL IDEA</a:t>
            </a:r>
          </a:p>
        </p:txBody>
      </p:sp>
      <p:sp>
        <p:nvSpPr>
          <p:cNvPr id="11" name="Rounded Rectangle 10"/>
          <p:cNvSpPr/>
          <p:nvPr/>
        </p:nvSpPr>
        <p:spPr>
          <a:xfrm>
            <a:off x="5029200" y="208483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66360" y="219456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20 questions</a:t>
            </a:r>
          </a:p>
        </p:txBody>
      </p:sp>
      <p:cxnSp>
        <p:nvCxnSpPr>
          <p:cNvPr id="13" name="Connector 12"/>
          <p:cNvCxnSpPr/>
          <p:nvPr/>
        </p:nvCxnSpPr>
        <p:spPr>
          <a:xfrm>
            <a:off x="7699248" y="246887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872983" y="240487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01583" y="208483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219456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development set</a:t>
            </a:r>
          </a:p>
        </p:txBody>
      </p:sp>
      <p:sp>
        <p:nvSpPr>
          <p:cNvPr id="17" name="Rounded Rectangle 16"/>
          <p:cNvSpPr/>
          <p:nvPr/>
        </p:nvSpPr>
        <p:spPr>
          <a:xfrm>
            <a:off x="5029200" y="3136391"/>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66360" y="324612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Search setting</a:t>
            </a:r>
          </a:p>
        </p:txBody>
      </p:sp>
      <p:cxnSp>
        <p:nvCxnSpPr>
          <p:cNvPr id="19" name="Connector 18"/>
          <p:cNvCxnSpPr/>
          <p:nvPr/>
        </p:nvCxnSpPr>
        <p:spPr>
          <a:xfrm>
            <a:off x="7699248" y="3520439"/>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0" name="Chevron 19"/>
          <p:cNvSpPr/>
          <p:nvPr/>
        </p:nvSpPr>
        <p:spPr>
          <a:xfrm>
            <a:off x="7872983" y="345643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101583" y="3136391"/>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324612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chosen configuration</a:t>
            </a:r>
          </a:p>
        </p:txBody>
      </p:sp>
      <p:sp>
        <p:nvSpPr>
          <p:cNvPr id="23" name="Rounded Rectangle 22"/>
          <p:cNvSpPr/>
          <p:nvPr/>
        </p:nvSpPr>
        <p:spPr>
          <a:xfrm>
            <a:off x="5029200" y="4187952"/>
            <a:ext cx="2578608" cy="77724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66360" y="4297680"/>
            <a:ext cx="2304288" cy="576072"/>
          </a:xfrm>
          <a:prstGeom prst="rect">
            <a:avLst/>
          </a:prstGeom>
          <a:noFill/>
        </p:spPr>
        <p:txBody>
          <a:bodyPr wrap="square" lIns="22860" rIns="22860" tIns="9144" anchor="ctr">
            <a:spAutoFit/>
          </a:bodyPr>
          <a:lstStyle/>
          <a:p>
            <a:pPr algn="ctr">
              <a:defRPr sz="1500" b="1">
                <a:solidFill>
                  <a:srgbClr val="182B40"/>
                </a:solidFill>
                <a:latin typeface="Aptos"/>
              </a:defRPr>
            </a:pPr>
            <a:r>
              <a:t>10 new questions</a:t>
            </a:r>
          </a:p>
        </p:txBody>
      </p:sp>
      <p:cxnSp>
        <p:nvCxnSpPr>
          <p:cNvPr id="25" name="Connector 24"/>
          <p:cNvCxnSpPr/>
          <p:nvPr/>
        </p:nvCxnSpPr>
        <p:spPr>
          <a:xfrm>
            <a:off x="7699248" y="4572000"/>
            <a:ext cx="256031" cy="0"/>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6" name="Chevron 25"/>
          <p:cNvSpPr/>
          <p:nvPr/>
        </p:nvSpPr>
        <p:spPr>
          <a:xfrm>
            <a:off x="7872983" y="4507992"/>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101583" y="4187952"/>
            <a:ext cx="3054096" cy="7772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38744" y="4297680"/>
            <a:ext cx="2779776" cy="576072"/>
          </a:xfrm>
          <a:prstGeom prst="rect">
            <a:avLst/>
          </a:prstGeom>
          <a:noFill/>
        </p:spPr>
        <p:txBody>
          <a:bodyPr wrap="square" lIns="22860" rIns="22860" tIns="9144" anchor="ctr">
            <a:spAutoFit/>
          </a:bodyPr>
          <a:lstStyle/>
          <a:p>
            <a:pPr algn="ctr">
              <a:defRPr sz="1500" b="1">
                <a:solidFill>
                  <a:srgbClr val="182B40"/>
                </a:solidFill>
                <a:latin typeface="Aptos"/>
              </a:defRPr>
            </a:pPr>
            <a:r>
              <a:t>final check</a:t>
            </a:r>
          </a:p>
        </p:txBody>
      </p:sp>
      <p:sp>
        <p:nvSpPr>
          <p:cNvPr id="29" name="TextBox 28"/>
          <p:cNvSpPr txBox="1"/>
          <p:nvPr/>
        </p:nvSpPr>
        <p:spPr>
          <a:xfrm>
            <a:off x="5120640" y="5385816"/>
            <a:ext cx="5943600" cy="411480"/>
          </a:xfrm>
          <a:prstGeom prst="rect">
            <a:avLst/>
          </a:prstGeom>
          <a:noFill/>
        </p:spPr>
        <p:txBody>
          <a:bodyPr wrap="square" lIns="22860" rIns="22860" tIns="9144">
            <a:spAutoFit/>
          </a:bodyPr>
          <a:lstStyle/>
          <a:p>
            <a:pPr>
              <a:defRPr sz="1500" b="1">
                <a:solidFill>
                  <a:srgbClr val="C7682C"/>
                </a:solidFill>
                <a:latin typeface="Aptos"/>
              </a:defRPr>
            </a:pPr>
            <a:r>
              <a:t>The analogy has a limit. Read it on the left.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Use 20 practice questions for improvements and keep ten separate questions for final checking.</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20 practice cases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Choose setting</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10 final cases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Compare top-k 1 and 2 on 20 practice questions, freeze the choice, then open ten final cases.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Compare top-k 1 and 2 on 20 practice questions, freeze the choice, then open ten final cases.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Why not tune again after seeing the ten final answers?</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That would contaminate the independent check.</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Test split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That would contaminate the independent check.</a:t>
            </a:r>
          </a:p>
          <a:p>
            <a:pPr>
              <a:defRPr sz="1800" b="0">
                <a:solidFill>
                  <a:srgbClr val="182B40"/>
                </a:solidFill>
                <a:latin typeface="Aptos"/>
              </a:defRPr>
            </a:pPr>
          </a:p>
          <a:p>
            <a:pPr>
              <a:defRPr sz="1800" b="0">
                <a:solidFill>
                  <a:srgbClr val="182B40"/>
                </a:solidFill>
                <a:latin typeface="Aptos"/>
              </a:defRPr>
            </a:pPr>
            <a:r>
              <a:t>Tempting mistake: Reusing final questions improves an unbiased estimate.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Reusing final questions improves an unbiased estimate.</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That would contaminate the independent check.</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Ten final cases are still a small sample; report each failure and denominator.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Q: How many extensions are allowed?</a:t>
            </a:r>
          </a:p>
          <a:p>
            <a:pPr>
              <a:defRPr sz="1800" b="0">
                <a:solidFill>
                  <a:srgbClr val="182B40"/>
                </a:solidFill>
                <a:latin typeface="Aptos"/>
              </a:defRPr>
            </a:pPr>
          </a:p>
          <a:p>
            <a:pPr>
              <a:defRPr sz="1800" b="0">
                <a:solidFill>
                  <a:srgbClr val="182B40"/>
                </a:solidFill>
                <a:latin typeface="Aptos"/>
              </a:defRPr>
            </a:pPr>
            <a:r>
              <a:t>A: One deadline extension [P3].</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02352" y="1719072"/>
            <a:ext cx="5760720" cy="283464"/>
          </a:xfrm>
          <a:prstGeom prst="rect">
            <a:avLst/>
          </a:prstGeom>
          <a:noFill/>
        </p:spPr>
        <p:txBody>
          <a:bodyPr wrap="square" lIns="22860" rIns="22860" tIns="9144">
            <a:spAutoFit/>
          </a:bodyPr>
          <a:lstStyle/>
          <a:p>
            <a:pPr>
              <a:defRPr sz="1300" b="1">
                <a:solidFill>
                  <a:srgbClr val="255E9C"/>
                </a:solidFill>
                <a:latin typeface="Aptos"/>
              </a:defRPr>
            </a:pPr>
            <a:r>
              <a:t>GIVEN</a:t>
            </a:r>
          </a:p>
        </p:txBody>
      </p:sp>
      <p:sp>
        <p:nvSpPr>
          <p:cNvPr id="11" name="Rounded Rectangle 10"/>
          <p:cNvSpPr/>
          <p:nvPr/>
        </p:nvSpPr>
        <p:spPr>
          <a:xfrm>
            <a:off x="5065776" y="2048255"/>
            <a:ext cx="6035040" cy="950976"/>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02936" y="2157984"/>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P3: Students may request one deadline extension within seven days.</a:t>
            </a:r>
          </a:p>
        </p:txBody>
      </p:sp>
      <p:sp>
        <p:nvSpPr>
          <p:cNvPr id="13" name="TextBox 12"/>
          <p:cNvSpPr txBox="1"/>
          <p:nvPr/>
        </p:nvSpPr>
        <p:spPr>
          <a:xfrm>
            <a:off x="5102352" y="3072384"/>
            <a:ext cx="5760720" cy="283464"/>
          </a:xfrm>
          <a:prstGeom prst="rect">
            <a:avLst/>
          </a:prstGeom>
          <a:noFill/>
        </p:spPr>
        <p:txBody>
          <a:bodyPr wrap="square" lIns="22860" rIns="22860" tIns="9144">
            <a:spAutoFit/>
          </a:bodyPr>
          <a:lstStyle/>
          <a:p>
            <a:pPr>
              <a:defRPr sz="1300" b="1">
                <a:solidFill>
                  <a:srgbClr val="C7682C"/>
                </a:solidFill>
                <a:latin typeface="Aptos"/>
              </a:defRPr>
            </a:pPr>
            <a:r>
              <a:t>QUESTION</a:t>
            </a:r>
          </a:p>
        </p:txBody>
      </p:sp>
      <p:sp>
        <p:nvSpPr>
          <p:cNvPr id="14" name="Rounded Rectangle 13"/>
          <p:cNvSpPr/>
          <p:nvPr/>
        </p:nvSpPr>
        <p:spPr>
          <a:xfrm>
            <a:off x="5065776" y="3401568"/>
            <a:ext cx="6035040" cy="950976"/>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02936" y="3511296"/>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Q: How many extensions are allowed?</a:t>
            </a:r>
          </a:p>
        </p:txBody>
      </p:sp>
      <p:sp>
        <p:nvSpPr>
          <p:cNvPr id="16" name="TextBox 15"/>
          <p:cNvSpPr txBox="1"/>
          <p:nvPr/>
        </p:nvSpPr>
        <p:spPr>
          <a:xfrm>
            <a:off x="5102352" y="4425696"/>
            <a:ext cx="5760720" cy="283464"/>
          </a:xfrm>
          <a:prstGeom prst="rect">
            <a:avLst/>
          </a:prstGeom>
          <a:noFill/>
        </p:spPr>
        <p:txBody>
          <a:bodyPr wrap="square" lIns="22860" rIns="22860" tIns="9144">
            <a:spAutoFit/>
          </a:bodyPr>
          <a:lstStyle/>
          <a:p>
            <a:pPr>
              <a:defRPr sz="1300" b="1">
                <a:solidFill>
                  <a:srgbClr val="117E6E"/>
                </a:solidFill>
                <a:latin typeface="Aptos"/>
              </a:defRPr>
            </a:pPr>
            <a:r>
              <a:t>SUPPORTED ANSWER</a:t>
            </a:r>
          </a:p>
        </p:txBody>
      </p:sp>
      <p:sp>
        <p:nvSpPr>
          <p:cNvPr id="17" name="Rounded Rectangle 16"/>
          <p:cNvSpPr/>
          <p:nvPr/>
        </p:nvSpPr>
        <p:spPr>
          <a:xfrm>
            <a:off x="5065776" y="4754880"/>
            <a:ext cx="6035040" cy="950976"/>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02936" y="4864608"/>
            <a:ext cx="5760720" cy="749808"/>
          </a:xfrm>
          <a:prstGeom prst="rect">
            <a:avLst/>
          </a:prstGeom>
          <a:noFill/>
        </p:spPr>
        <p:txBody>
          <a:bodyPr wrap="square" lIns="22860" rIns="22860" tIns="9144" anchor="ctr">
            <a:spAutoFit/>
          </a:bodyPr>
          <a:lstStyle/>
          <a:p>
            <a:pPr algn="ctr">
              <a:defRPr sz="1500" b="1">
                <a:solidFill>
                  <a:srgbClr val="182B40"/>
                </a:solidFill>
                <a:latin typeface="Aptos"/>
              </a:defRPr>
            </a:pPr>
            <a:r>
              <a:t>A: One deadline extension [P3].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small extractive retrieval and answer pipeline.</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29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Search for a relevant policy</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Produce an extractive classroom answer with a source ID</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Record supported and unsupported questions</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top-1 and top-2 on practice cases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Input data</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Python operation</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Check</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Recorded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Replace a relevant passage with an irrelevant one and observe abstention.</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31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983480" y="2084831"/>
            <a:ext cx="2816352" cy="205740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20640"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Before: original case</a:t>
            </a:r>
          </a:p>
        </p:txBody>
      </p:sp>
      <p:sp>
        <p:nvSpPr>
          <p:cNvPr id="12" name="Rounded Rectangle 11"/>
          <p:cNvSpPr/>
          <p:nvPr/>
        </p:nvSpPr>
        <p:spPr>
          <a:xfrm>
            <a:off x="8247888" y="2084831"/>
            <a:ext cx="2816352" cy="205740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85048" y="2194560"/>
            <a:ext cx="2542032" cy="1856231"/>
          </a:xfrm>
          <a:prstGeom prst="rect">
            <a:avLst/>
          </a:prstGeom>
          <a:noFill/>
        </p:spPr>
        <p:txBody>
          <a:bodyPr wrap="square" lIns="22860" rIns="22860" tIns="9144" anchor="ctr">
            <a:spAutoFit/>
          </a:bodyPr>
          <a:lstStyle/>
          <a:p>
            <a:pPr algn="ctr">
              <a:defRPr sz="1800" b="1">
                <a:solidFill>
                  <a:srgbClr val="182B40"/>
                </a:solidFill>
                <a:latin typeface="Aptos"/>
              </a:defRPr>
            </a:pPr>
            <a:r>
              <a:t>After: one change</a:t>
            </a:r>
          </a:p>
        </p:txBody>
      </p:sp>
      <p:sp>
        <p:nvSpPr>
          <p:cNvPr id="14" name="TextBox 13"/>
          <p:cNvSpPr txBox="1"/>
          <p:nvPr/>
        </p:nvSpPr>
        <p:spPr>
          <a:xfrm>
            <a:off x="5047488" y="4709160"/>
            <a:ext cx="5989320" cy="612648"/>
          </a:xfrm>
          <a:prstGeom prst="rect">
            <a:avLst/>
          </a:prstGeom>
          <a:noFill/>
        </p:spPr>
        <p:txBody>
          <a:bodyPr wrap="square" lIns="22860" rIns="22860" tIns="9144">
            <a:spAutoFit/>
          </a:bodyPr>
          <a:lstStyle/>
          <a:p>
            <a:pPr>
              <a:defRPr sz="1600" b="1">
                <a:solidFill>
                  <a:srgbClr val="117E6E"/>
                </a:solidFill>
                <a:latin typeface="Aptos"/>
              </a:defRPr>
            </a:pPr>
            <a:r>
              <a:t>Keep all other inputs fixed.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32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29200"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663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Input</a:t>
            </a:r>
          </a:p>
        </p:txBody>
      </p:sp>
      <p:sp>
        <p:nvSpPr>
          <p:cNvPr id="12" name="Rounded Rectangle 11"/>
          <p:cNvSpPr/>
          <p:nvPr/>
        </p:nvSpPr>
        <p:spPr>
          <a:xfrm>
            <a:off x="70103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475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Setting</a:t>
            </a:r>
          </a:p>
        </p:txBody>
      </p:sp>
      <p:sp>
        <p:nvSpPr>
          <p:cNvPr id="14" name="Rounded Rectangle 13"/>
          <p:cNvSpPr/>
          <p:nvPr/>
        </p:nvSpPr>
        <p:spPr>
          <a:xfrm>
            <a:off x="8991599" y="1792224"/>
            <a:ext cx="1908047" cy="64008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8760" y="1901952"/>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Result</a:t>
            </a:r>
          </a:p>
        </p:txBody>
      </p:sp>
      <p:sp>
        <p:nvSpPr>
          <p:cNvPr id="16" name="Rounded Rectangle 15"/>
          <p:cNvSpPr/>
          <p:nvPr/>
        </p:nvSpPr>
        <p:spPr>
          <a:xfrm>
            <a:off x="5029200"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663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Original</a:t>
            </a:r>
          </a:p>
        </p:txBody>
      </p:sp>
      <p:sp>
        <p:nvSpPr>
          <p:cNvPr id="18" name="Rounded Rectangle 17"/>
          <p:cNvSpPr/>
          <p:nvPr/>
        </p:nvSpPr>
        <p:spPr>
          <a:xfrm>
            <a:off x="70103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475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baseline</a:t>
            </a:r>
          </a:p>
        </p:txBody>
      </p:sp>
      <p:sp>
        <p:nvSpPr>
          <p:cNvPr id="20" name="Rounded Rectangle 19"/>
          <p:cNvSpPr/>
          <p:nvPr/>
        </p:nvSpPr>
        <p:spPr>
          <a:xfrm>
            <a:off x="8991599" y="2560320"/>
            <a:ext cx="1908047" cy="64008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28760" y="2670048"/>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record</a:t>
            </a:r>
          </a:p>
        </p:txBody>
      </p:sp>
      <p:sp>
        <p:nvSpPr>
          <p:cNvPr id="22" name="Rounded Rectangle 21"/>
          <p:cNvSpPr/>
          <p:nvPr/>
        </p:nvSpPr>
        <p:spPr>
          <a:xfrm>
            <a:off x="5029200"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663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Changed</a:t>
            </a:r>
          </a:p>
        </p:txBody>
      </p:sp>
      <p:sp>
        <p:nvSpPr>
          <p:cNvPr id="24" name="Rounded Rectangle 23"/>
          <p:cNvSpPr/>
          <p:nvPr/>
        </p:nvSpPr>
        <p:spPr>
          <a:xfrm>
            <a:off x="70103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475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one edit</a:t>
            </a:r>
          </a:p>
        </p:txBody>
      </p:sp>
      <p:sp>
        <p:nvSpPr>
          <p:cNvPr id="26" name="Rounded Rectangle 25"/>
          <p:cNvSpPr/>
          <p:nvPr/>
        </p:nvSpPr>
        <p:spPr>
          <a:xfrm>
            <a:off x="8991599" y="3328415"/>
            <a:ext cx="1908047" cy="640080"/>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28760" y="3438144"/>
            <a:ext cx="1633727" cy="438912"/>
          </a:xfrm>
          <a:prstGeom prst="rect">
            <a:avLst/>
          </a:prstGeom>
          <a:noFill/>
        </p:spPr>
        <p:txBody>
          <a:bodyPr wrap="square" lIns="22860" rIns="22860" tIns="9144" anchor="ctr">
            <a:spAutoFit/>
          </a:bodyPr>
          <a:lstStyle/>
          <a:p>
            <a:pPr algn="ctr">
              <a:defRPr sz="1400" b="1">
                <a:solidFill>
                  <a:srgbClr val="182B40"/>
                </a:solidFill>
                <a:latin typeface="Aptos"/>
              </a:defRPr>
            </a:pPr>
            <a:r>
              <a:t>compare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Supported claims / checked claims and no-answer accuracy</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33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Define success</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successes</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Count cases</a:t>
            </a:r>
          </a:p>
        </p:txBody>
      </p:sp>
      <p:cxnSp>
        <p:nvCxnSpPr>
          <p:cNvPr id="21" name="Connector 20"/>
          <p:cNvCxnSpPr/>
          <p:nvPr/>
        </p:nvCxnSpPr>
        <p:spPr>
          <a:xfrm>
            <a:off x="8019288" y="438912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22" name="Chevron 21"/>
          <p:cNvSpPr/>
          <p:nvPr/>
        </p:nvSpPr>
        <p:spPr>
          <a:xfrm>
            <a:off x="7936992" y="453542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257800" y="463600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394960" y="474573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Inspect errors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citation label proves that the cited passage supports the answer.</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34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5852160" cy="365760"/>
          </a:xfrm>
          <a:prstGeom prst="rect">
            <a:avLst/>
          </a:prstGeom>
          <a:noFill/>
        </p:spPr>
        <p:txBody>
          <a:bodyPr wrap="square" lIns="22860" rIns="22860" tIns="9144">
            <a:spAutoFit/>
          </a:bodyPr>
          <a:lstStyle/>
          <a:p>
            <a:pPr>
              <a:defRPr sz="1500" b="1">
                <a:solidFill>
                  <a:srgbClr val="255E9C"/>
                </a:solidFill>
                <a:latin typeface="Aptos"/>
              </a:defRPr>
            </a:pPr>
            <a:r>
              <a:t>TEST THE CLAIM AGAINST THE EVIDENCE</a:t>
            </a:r>
          </a:p>
        </p:txBody>
      </p:sp>
      <p:sp>
        <p:nvSpPr>
          <p:cNvPr id="11" name="TextBox 10"/>
          <p:cNvSpPr txBox="1"/>
          <p:nvPr/>
        </p:nvSpPr>
        <p:spPr>
          <a:xfrm>
            <a:off x="5084064" y="2066543"/>
            <a:ext cx="5669280" cy="320040"/>
          </a:xfrm>
          <a:prstGeom prst="rect">
            <a:avLst/>
          </a:prstGeom>
          <a:noFill/>
        </p:spPr>
        <p:txBody>
          <a:bodyPr wrap="square" lIns="22860" rIns="22860" tIns="9144">
            <a:spAutoFit/>
          </a:bodyPr>
          <a:lstStyle/>
          <a:p>
            <a:pPr>
              <a:defRPr sz="1300" b="1">
                <a:solidFill>
                  <a:srgbClr val="B74945"/>
                </a:solidFill>
                <a:latin typeface="Aptos"/>
              </a:defRPr>
            </a:pPr>
            <a:r>
              <a:t>TEMPTING CLAIM</a:t>
            </a:r>
          </a:p>
        </p:txBody>
      </p:sp>
      <p:sp>
        <p:nvSpPr>
          <p:cNvPr id="12" name="Rounded Rectangle 11"/>
          <p:cNvSpPr/>
          <p:nvPr/>
        </p:nvSpPr>
        <p:spPr>
          <a:xfrm>
            <a:off x="5047488" y="2441448"/>
            <a:ext cx="6126480" cy="1014984"/>
          </a:xfrm>
          <a:prstGeom prst="roundRect">
            <a:avLst/>
          </a:prstGeom>
          <a:solidFill>
            <a:srgbClr val="FDEF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84648" y="2551176"/>
            <a:ext cx="5852160" cy="813816"/>
          </a:xfrm>
          <a:prstGeom prst="rect">
            <a:avLst/>
          </a:prstGeom>
          <a:noFill/>
        </p:spPr>
        <p:txBody>
          <a:bodyPr wrap="square" lIns="22860" rIns="22860" tIns="9144" anchor="ctr">
            <a:spAutoFit/>
          </a:bodyPr>
          <a:lstStyle/>
          <a:p>
            <a:pPr algn="ctr">
              <a:defRPr sz="1500" b="1">
                <a:solidFill>
                  <a:srgbClr val="182B40"/>
                </a:solidFill>
                <a:latin typeface="Aptos"/>
              </a:defRPr>
            </a:pPr>
            <a:r>
              <a:t>A citation label proves that the cited passage supports the answer.</a:t>
            </a:r>
          </a:p>
        </p:txBody>
      </p:sp>
      <p:sp>
        <p:nvSpPr>
          <p:cNvPr id="14" name="TextBox 13"/>
          <p:cNvSpPr txBox="1"/>
          <p:nvPr/>
        </p:nvSpPr>
        <p:spPr>
          <a:xfrm>
            <a:off x="5084064" y="3666744"/>
            <a:ext cx="5669280" cy="320040"/>
          </a:xfrm>
          <a:prstGeom prst="rect">
            <a:avLst/>
          </a:prstGeom>
          <a:noFill/>
        </p:spPr>
        <p:txBody>
          <a:bodyPr wrap="square" lIns="22860" rIns="22860" tIns="9144">
            <a:spAutoFit/>
          </a:bodyPr>
          <a:lstStyle/>
          <a:p>
            <a:pPr>
              <a:defRPr sz="1300" b="1">
                <a:solidFill>
                  <a:srgbClr val="117E6E"/>
                </a:solidFill>
                <a:latin typeface="Aptos"/>
              </a:defRPr>
            </a:pPr>
            <a:r>
              <a:t>SUPPORTED EXPLANATION</a:t>
            </a:r>
          </a:p>
        </p:txBody>
      </p:sp>
      <p:sp>
        <p:nvSpPr>
          <p:cNvPr id="15" name="Rounded Rectangle 14"/>
          <p:cNvSpPr/>
          <p:nvPr/>
        </p:nvSpPr>
        <p:spPr>
          <a:xfrm>
            <a:off x="5047488" y="4050791"/>
            <a:ext cx="6126480" cy="100584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84648" y="4160520"/>
            <a:ext cx="5852160" cy="804672"/>
          </a:xfrm>
          <a:prstGeom prst="rect">
            <a:avLst/>
          </a:prstGeom>
          <a:noFill/>
        </p:spPr>
        <p:txBody>
          <a:bodyPr wrap="square" lIns="22860" rIns="22860" tIns="9144" anchor="ctr">
            <a:spAutoFit/>
          </a:bodyPr>
          <a:lstStyle/>
          <a:p>
            <a:pPr algn="ctr">
              <a:defRPr sz="1500" b="1">
                <a:solidFill>
                  <a:srgbClr val="182B40"/>
                </a:solidFill>
                <a:latin typeface="Aptos"/>
              </a:defRPr>
            </a:pPr>
            <a:r>
              <a:t>Read the passage and check that it entails the claim; a plausible-looking source tag can be wrong.</a:t>
            </a:r>
          </a:p>
        </p:txBody>
      </p:sp>
      <p:sp>
        <p:nvSpPr>
          <p:cNvPr id="17" name="TextBox 16"/>
          <p:cNvSpPr txBox="1"/>
          <p:nvPr/>
        </p:nvSpPr>
        <p:spPr>
          <a:xfrm>
            <a:off x="5120640" y="5321808"/>
            <a:ext cx="5897880" cy="566928"/>
          </a:xfrm>
          <a:prstGeom prst="rect">
            <a:avLst/>
          </a:prstGeom>
          <a:noFill/>
        </p:spPr>
        <p:txBody>
          <a:bodyPr wrap="square" lIns="22860" rIns="22860" tIns="9144">
            <a:spAutoFit/>
          </a:bodyPr>
          <a:lstStyle/>
          <a:p>
            <a:pPr>
              <a:defRPr sz="1300" b="0">
                <a:solidFill>
                  <a:srgbClr val="445665"/>
                </a:solidFill>
                <a:latin typeface="Aptos"/>
              </a:defRPr>
            </a:pPr>
            <a:r>
              <a:t>Name a test that would catch this failure.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fresh question asks about a rule absent from all five policies. What should the assistant do?</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35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81912"/>
            <a:ext cx="6126480" cy="411480"/>
          </a:xfrm>
          <a:prstGeom prst="rect">
            <a:avLst/>
          </a:prstGeom>
          <a:noFill/>
        </p:spPr>
        <p:txBody>
          <a:bodyPr wrap="square" lIns="22860" rIns="22860" tIns="9144">
            <a:spAutoFit/>
          </a:bodyPr>
          <a:lstStyle/>
          <a:p>
            <a:pPr>
              <a:defRPr sz="1600" b="1">
                <a:solidFill>
                  <a:srgbClr val="255E9C"/>
                </a:solidFill>
                <a:latin typeface="Aptos"/>
              </a:defRPr>
            </a:pPr>
            <a:r>
              <a:t>VOTE FIRST  •  GIVE A REASON</a:t>
            </a:r>
          </a:p>
        </p:txBody>
      </p:sp>
      <p:sp>
        <p:nvSpPr>
          <p:cNvPr id="11" name="Rounded Rectangle 10"/>
          <p:cNvSpPr/>
          <p:nvPr/>
        </p:nvSpPr>
        <p:spPr>
          <a:xfrm>
            <a:off x="5074920" y="2212848"/>
            <a:ext cx="6080760" cy="1115568"/>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12080" y="2322576"/>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A  Use the visible evidence</a:t>
            </a:r>
          </a:p>
        </p:txBody>
      </p:sp>
      <p:sp>
        <p:nvSpPr>
          <p:cNvPr id="13" name="Rounded Rectangle 12"/>
          <p:cNvSpPr/>
          <p:nvPr/>
        </p:nvSpPr>
        <p:spPr>
          <a:xfrm>
            <a:off x="5074920" y="3657600"/>
            <a:ext cx="6080760" cy="1115568"/>
          </a:xfrm>
          <a:prstGeom prst="roundRect">
            <a:avLst/>
          </a:prstGeom>
          <a:solidFill>
            <a:srgbClr val="FFF9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3767328"/>
            <a:ext cx="5806440" cy="914400"/>
          </a:xfrm>
          <a:prstGeom prst="rect">
            <a:avLst/>
          </a:prstGeom>
          <a:noFill/>
        </p:spPr>
        <p:txBody>
          <a:bodyPr wrap="square" lIns="22860" rIns="22860" tIns="9144" anchor="ctr">
            <a:spAutoFit/>
          </a:bodyPr>
          <a:lstStyle/>
          <a:p>
            <a:pPr algn="ctr">
              <a:defRPr sz="1600" b="1">
                <a:solidFill>
                  <a:srgbClr val="182B40"/>
                </a:solidFill>
                <a:latin typeface="Aptos"/>
              </a:defRPr>
            </a:pPr>
            <a:r>
              <a:t>B  Flag missing or unsafe evidence</a:t>
            </a:r>
          </a:p>
        </p:txBody>
      </p:sp>
      <p:sp>
        <p:nvSpPr>
          <p:cNvPr id="15" name="TextBox 14"/>
          <p:cNvSpPr txBox="1"/>
          <p:nvPr/>
        </p:nvSpPr>
        <p:spPr>
          <a:xfrm>
            <a:off x="5120640" y="5303520"/>
            <a:ext cx="5806440" cy="411480"/>
          </a:xfrm>
          <a:prstGeom prst="rect">
            <a:avLst/>
          </a:prstGeom>
          <a:noFill/>
        </p:spPr>
        <p:txBody>
          <a:bodyPr wrap="square" lIns="22860" rIns="22860" tIns="9144">
            <a:spAutoFit/>
          </a:bodyPr>
          <a:lstStyle/>
          <a:p>
            <a:pPr>
              <a:defRPr sz="1600" b="1">
                <a:solidFill>
                  <a:srgbClr val="117E6E"/>
                </a:solidFill>
                <a:latin typeface="Aptos"/>
              </a:defRPr>
            </a:pPr>
            <a:r>
              <a:t>Which source or test could settle this?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36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74920" y="1572768"/>
            <a:ext cx="6035040" cy="384048"/>
          </a:xfrm>
          <a:prstGeom prst="rect">
            <a:avLst/>
          </a:prstGeom>
          <a:noFill/>
        </p:spPr>
        <p:txBody>
          <a:bodyPr wrap="square" lIns="22860" rIns="22860" tIns="9144">
            <a:spAutoFit/>
          </a:bodyPr>
          <a:lstStyle/>
          <a:p>
            <a:pPr>
              <a:defRPr sz="1500" b="1">
                <a:solidFill>
                  <a:srgbClr val="255E9C"/>
                </a:solidFill>
                <a:latin typeface="Aptos"/>
              </a:defRPr>
            </a:pPr>
            <a:r>
              <a:t>FOLLOW THE DATA THROUGH EACH ARROW</a:t>
            </a:r>
          </a:p>
        </p:txBody>
      </p:sp>
      <p:sp>
        <p:nvSpPr>
          <p:cNvPr id="11" name="Rounded Rectangle 10"/>
          <p:cNvSpPr/>
          <p:nvPr/>
        </p:nvSpPr>
        <p:spPr>
          <a:xfrm>
            <a:off x="5257800" y="202996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394960" y="213969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Question</a:t>
            </a:r>
          </a:p>
        </p:txBody>
      </p:sp>
      <p:cxnSp>
        <p:nvCxnSpPr>
          <p:cNvPr id="13" name="Connector 12"/>
          <p:cNvCxnSpPr/>
          <p:nvPr/>
        </p:nvCxnSpPr>
        <p:spPr>
          <a:xfrm>
            <a:off x="8019288" y="265176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4" name="Chevron 13"/>
          <p:cNvSpPr/>
          <p:nvPr/>
        </p:nvSpPr>
        <p:spPr>
          <a:xfrm>
            <a:off x="7936992" y="279806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57800" y="2898648"/>
            <a:ext cx="5532120" cy="603504"/>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94960" y="300837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Role filter</a:t>
            </a:r>
          </a:p>
        </p:txBody>
      </p:sp>
      <p:cxnSp>
        <p:nvCxnSpPr>
          <p:cNvPr id="17" name="Connector 16"/>
          <p:cNvCxnSpPr/>
          <p:nvPr/>
        </p:nvCxnSpPr>
        <p:spPr>
          <a:xfrm>
            <a:off x="8019288" y="3520440"/>
            <a:ext cx="0" cy="210312"/>
          </a:xfrm>
          <a:prstGeom prst="line">
            <a:avLst/>
          </a:prstGeom>
          <a:ln w="27940">
            <a:solidFill>
              <a:srgbClr val="255E9C"/>
            </a:solidFill>
          </a:ln>
        </p:spPr>
        <p:style>
          <a:lnRef idx="2">
            <a:schemeClr val="accent1"/>
          </a:lnRef>
          <a:fillRef idx="0">
            <a:schemeClr val="accent1"/>
          </a:fillRef>
          <a:effectRef idx="1">
            <a:schemeClr val="accent1"/>
          </a:effectRef>
          <a:fontRef idx="minor">
            <a:schemeClr val="tx1"/>
          </a:fontRef>
        </p:style>
      </p:cxnSp>
      <p:sp>
        <p:nvSpPr>
          <p:cNvPr id="18" name="Chevron 17"/>
          <p:cNvSpPr/>
          <p:nvPr/>
        </p:nvSpPr>
        <p:spPr>
          <a:xfrm>
            <a:off x="7936992" y="3666744"/>
            <a:ext cx="146304" cy="128016"/>
          </a:xfrm>
          <a:prstGeom prst="chevron">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57800" y="3767328"/>
            <a:ext cx="5532120" cy="603504"/>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94960" y="3877056"/>
            <a:ext cx="5257800" cy="402336"/>
          </a:xfrm>
          <a:prstGeom prst="rect">
            <a:avLst/>
          </a:prstGeom>
          <a:noFill/>
        </p:spPr>
        <p:txBody>
          <a:bodyPr wrap="square" lIns="22860" rIns="22860" tIns="9144" anchor="ctr">
            <a:spAutoFit/>
          </a:bodyPr>
          <a:lstStyle/>
          <a:p>
            <a:pPr algn="ctr">
              <a:defRPr sz="1500" b="1">
                <a:solidFill>
                  <a:srgbClr val="182B40"/>
                </a:solidFill>
                <a:latin typeface="Aptos"/>
              </a:defRPr>
            </a:pPr>
            <a:r>
              <a:t>Verify support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reserve final questions?</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37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Two of four material claims are supported. What is citation support?</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38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State the core idea</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Use a case detail or calculation</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Add a limitation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Compare with the Word guide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Twenty-case practice table; ten final questions remain sealed for assessment.</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39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Original run</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One changed input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Comparison</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Explanation + source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07</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Retrieve, answer, check each claim, and abstain without evidence.</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07    •    40 / 40</a:t>
            </a:r>
          </a:p>
        </p:txBody>
      </p:sp>
      <p:sp>
        <p:nvSpPr>
          <p:cNvPr id="9" name="Rounded Rectangle 8"/>
          <p:cNvSpPr/>
          <p:nvPr/>
        </p:nvSpPr>
        <p:spPr>
          <a:xfrm>
            <a:off x="4700016" y="1344168"/>
            <a:ext cx="6793992" cy="4727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074920" y="1600200"/>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0" y="1709928"/>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1</a:t>
            </a:r>
          </a:p>
        </p:txBody>
      </p:sp>
      <p:sp>
        <p:nvSpPr>
          <p:cNvPr id="12" name="Rounded Rectangle 11"/>
          <p:cNvSpPr/>
          <p:nvPr/>
        </p:nvSpPr>
        <p:spPr>
          <a:xfrm>
            <a:off x="5916168" y="1600200"/>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53328" y="1709928"/>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RAG</a:t>
            </a:r>
          </a:p>
        </p:txBody>
      </p:sp>
      <p:sp>
        <p:nvSpPr>
          <p:cNvPr id="14" name="Rounded Rectangle 13"/>
          <p:cNvSpPr/>
          <p:nvPr/>
        </p:nvSpPr>
        <p:spPr>
          <a:xfrm>
            <a:off x="5074920" y="2551176"/>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0" y="2660904"/>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2</a:t>
            </a:r>
          </a:p>
        </p:txBody>
      </p:sp>
      <p:sp>
        <p:nvSpPr>
          <p:cNvPr id="16" name="Rounded Rectangle 15"/>
          <p:cNvSpPr/>
          <p:nvPr/>
        </p:nvSpPr>
        <p:spPr>
          <a:xfrm>
            <a:off x="5916168" y="2551176"/>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53328" y="2660904"/>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Citation support</a:t>
            </a:r>
          </a:p>
        </p:txBody>
      </p:sp>
      <p:sp>
        <p:nvSpPr>
          <p:cNvPr id="18" name="Rounded Rectangle 17"/>
          <p:cNvSpPr/>
          <p:nvPr/>
        </p:nvSpPr>
        <p:spPr>
          <a:xfrm>
            <a:off x="5074920" y="3502152"/>
            <a:ext cx="65836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12080" y="3611880"/>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3</a:t>
            </a:r>
          </a:p>
        </p:txBody>
      </p:sp>
      <p:sp>
        <p:nvSpPr>
          <p:cNvPr id="20" name="Rounded Rectangle 19"/>
          <p:cNvSpPr/>
          <p:nvPr/>
        </p:nvSpPr>
        <p:spPr>
          <a:xfrm>
            <a:off x="5916168" y="3502152"/>
            <a:ext cx="513892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053328" y="3611880"/>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No-answer case</a:t>
            </a:r>
          </a:p>
        </p:txBody>
      </p:sp>
      <p:sp>
        <p:nvSpPr>
          <p:cNvPr id="22" name="Rounded Rectangle 21"/>
          <p:cNvSpPr/>
          <p:nvPr/>
        </p:nvSpPr>
        <p:spPr>
          <a:xfrm>
            <a:off x="5074920" y="4453128"/>
            <a:ext cx="658368" cy="822960"/>
          </a:xfrm>
          <a:prstGeom prst="round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0" y="4562856"/>
            <a:ext cx="384048" cy="621792"/>
          </a:xfrm>
          <a:prstGeom prst="rect">
            <a:avLst/>
          </a:prstGeom>
          <a:noFill/>
        </p:spPr>
        <p:txBody>
          <a:bodyPr wrap="square" lIns="22860" rIns="22860" tIns="9144" anchor="ctr">
            <a:spAutoFit/>
          </a:bodyPr>
          <a:lstStyle/>
          <a:p>
            <a:pPr algn="ctr">
              <a:defRPr sz="1800" b="1">
                <a:solidFill>
                  <a:srgbClr val="255E9C"/>
                </a:solidFill>
                <a:latin typeface="Aptos"/>
              </a:defRPr>
            </a:pPr>
            <a:r>
              <a:t>4</a:t>
            </a:r>
          </a:p>
        </p:txBody>
      </p:sp>
      <p:sp>
        <p:nvSpPr>
          <p:cNvPr id="24" name="Rounded Rectangle 23"/>
          <p:cNvSpPr/>
          <p:nvPr/>
        </p:nvSpPr>
        <p:spPr>
          <a:xfrm>
            <a:off x="5916168" y="4453128"/>
            <a:ext cx="5138928" cy="822960"/>
          </a:xfrm>
          <a:prstGeom prst="roundRect">
            <a:avLst/>
          </a:prstGeom>
          <a:solidFill>
            <a:srgbClr val="EFF7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53328" y="4562856"/>
            <a:ext cx="4864608" cy="621792"/>
          </a:xfrm>
          <a:prstGeom prst="rect">
            <a:avLst/>
          </a:prstGeom>
          <a:noFill/>
        </p:spPr>
        <p:txBody>
          <a:bodyPr wrap="square" lIns="22860" rIns="22860" tIns="9144" anchor="ctr">
            <a:spAutoFit/>
          </a:bodyPr>
          <a:lstStyle/>
          <a:p>
            <a:pPr algn="ctr">
              <a:defRPr sz="1600" b="1">
                <a:solidFill>
                  <a:srgbClr val="182B40"/>
                </a:solidFill>
                <a:latin typeface="Aptos"/>
              </a:defRPr>
            </a:pPr>
            <a:r>
              <a:t>Test split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