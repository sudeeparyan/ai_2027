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Five fictional college policies must answer student questions. The visible slide states: The library-renewal search</a:t>
            </a:r>
          </a:p>
          <a:p/>
          <a:p>
            <a:r>
              <a:t>A learner asks “Can I renew my book?” Policy P2 says “library loans may be extended once.” Which passage should search find? Reveal that the case will be revisited after four short concept cycles.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A learner asks “Can I renew my book?” Policy P2 says “library loans may be extended once.” Which passage should search find?</a:t>
            </a:r>
          </a:p>
          <a:p/>
          <a:p>
            <a:r>
              <a:t>Choose an initial answer and name one piece of evidence you need. Accept reasonable uncertainty; record the initial votes to revisit at the end.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Five fictional college policies must answer student questions. The visible slide states: We will predict, connect an analogy, trace a mechanism, work an example, then explain a decision. Point to the four named ideas, then show where the notebook experiment fits.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Why preserve the source ID and version?</a:t>
            </a:r>
          </a:p>
          <a:p/>
          <a:p>
            <a:r>
              <a:t>Make a choice before we explain the diagram. The intended answer is They let a learner verify the answer in the correct policy edition. The tempting claim is A chunk needs only its text.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long textbook gets labelled index cards for individual sections.</a:t>
            </a:r>
          </a:p>
          <a:p/>
          <a:p>
            <a:r>
              <a:t>What matches our case, and where does the analogy stop? The boundary is: Cutting at arbitrary length can separate a condition from its rule.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Cutting at arbitrary length can separate a condition from its rule. The three precise mappings are [['Book section', 'passage chunk'], ['Card label', 'source ID'], ['Edition', 'version']].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A short passage from a larger source; keep its document ID and version.</a:t>
            </a:r>
          </a:p>
          <a:p/>
          <a:p>
            <a:r>
              <a:t>Trace the arrows from left to right. The weekly example is: P2 becomes a short passage with ID P2 and version; keep “once” in the same passage. State what the analogy does not explain: Cutting at arbitrary length can separate a condition from its rule.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P2 becomes a short passage with ID P2 and version; keep “once” in the same passage.</a:t>
            </a:r>
          </a:p>
          <a:p/>
          <a:p>
            <a:r>
              <a:t>Point to the evidence before giving your conclusion. The expected reasoning concludes: They let a learner verify the answer in the correct policy edition.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They let a learner verify the answer in the correct policy edition.</a:t>
            </a:r>
          </a:p>
          <a:p/>
          <a:p>
            <a:r>
              <a:t>Tempting mistake: A chunk needs only its text. The earlier question was Why preserve the source ID and version?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What explains this miss?</a:t>
            </a:r>
          </a:p>
          <a:p/>
          <a:p>
            <a:r>
              <a:t>Make a choice before we explain the diagram. The intended answer is Different words express a similar intent. The tempting claim is No exact match proves no relevant policy exists.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An index finds pages that contain the exact words you entered.</a:t>
            </a:r>
          </a:p>
          <a:p/>
          <a:p>
            <a:r>
              <a:t>What matches our case, and where does the analogy stop? The boundary is: Synonyms can make a relevant passage score poorly.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Synonyms can make a relevant passage score poorly. The three precise mappings are [['Search phrase', 'query tokens'], ['Word matches', 'overlap score'], ['Top cards', 'ranked passages']].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Matches terms in a query and passage; useful when wording overlaps.</a:t>
            </a:r>
          </a:p>
          <a:p/>
          <a:p>
            <a:r>
              <a:t>Trace the arrows from left to right. The weekly example is: “renew” does not exactly match P2’s “extend”; a keyword-only search may miss it. State what the analogy does not explain: Synonyms can make a relevant passage score poorly.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“renew” does not exactly match P2’s “extend”; a keyword-only search may miss it.</a:t>
            </a:r>
          </a:p>
          <a:p/>
          <a:p>
            <a:r>
              <a:t>Point to the evidence before giving your conclusion. The expected reasoning concludes: Different words express a similar intent.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Different words express a similar intent.</a:t>
            </a:r>
          </a:p>
          <a:p/>
          <a:p>
            <a:r>
              <a:t>Tempting mistake: No exact match proves no relevant policy exists. The earlier question was What explains this miss?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Which passage ranks nearer to q in this toy calculation?</a:t>
            </a:r>
          </a:p>
          <a:p/>
          <a:p>
            <a:r>
              <a:t>Make a choice before we explain the diagram. The intended answer is P2, with the larger cosine similarity. The tempting claim is An embedding is an authoritative answer.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map places related meanings near one another.</a:t>
            </a:r>
          </a:p>
          <a:p/>
          <a:p>
            <a:r>
              <a:t>What matches our case, and where does the analogy stop? The boundary is: Similar vectors can retrieve the wrong passage; check text and permissions.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Similar vectors can retrieve the wrong passage; check text and permissions. The three precise mappings are [['Question', 'numeric embedding'], ['Policy', 'numeric embedding'], ['Distance', 'similarity']].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Compares numerical representations of text; a production embedding model can capture semantic similarity.</a:t>
            </a:r>
          </a:p>
          <a:p/>
          <a:p>
            <a:r>
              <a:t>Trace the arrows from left to right. The weekly example is: Toy vectors q=[1,0], P2=[1,1], P3=[0,1]: cosine scores about .707 and 0. State what the analogy does not explain: Similar vectors can retrieve the wrong passage; check text and permissions.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Toy vectors q=[1,0], P2=[1,1], P3=[0,1]: cosine scores about .707 and 0.</a:t>
            </a:r>
          </a:p>
          <a:p/>
          <a:p>
            <a:r>
              <a:t>Point to the evidence before giving your conclusion. The expected reasoning concludes: P2, with the larger cosine similarity.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P2, with the larger cosine similarity.</a:t>
            </a:r>
          </a:p>
          <a:p/>
          <a:p>
            <a:r>
              <a:t>Tempting mistake: An embedding is an authoritative answer. The earlier question was Which passage ranks nearer to q in this toy calculation?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Five fictional college policies must answer student questions. The visible slide states: When must the access filter apply?</a:t>
            </a:r>
          </a:p>
          <a:p/>
          <a:p>
            <a:r>
              <a:t>Make a choice before we explain the diagram. The intended answer is Before retrieval results are passed into an answer. The tempting claim is A relevant staff policy may be shown if cited. Do not show which card is correct until the reveal.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Five fictional college policies must answer student questions. The visible slide states: A library card allows entry to some shelves but not staff cabinets.</a:t>
            </a:r>
          </a:p>
          <a:p/>
          <a:p>
            <a:r>
              <a:t>What matches our case, and where does the analogy stop? The boundary is: Filtering after generation may leak details already inserted into context.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Five fictional college policies must answer student questions. The visible slide states: Match each everyday part to the technical part.</a:t>
            </a:r>
          </a:p>
          <a:p/>
          <a:p>
            <a:r>
              <a:t>Analogy limit: Filtering after generation may leak details already inserted into context. The three precise mappings are [['Student role', 'access identity'], ['Open shelf', 'allowed policy'], ['Cabinet', 'restricted source']].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Five fictional college policies must answer student questions. The visible slide states: Only retrieve passages that the current role is allowed to read.</a:t>
            </a:r>
          </a:p>
          <a:p/>
          <a:p>
            <a:r>
              <a:t>Trace the arrows from left to right. The weekly example is: Filter staff-only P5 before ranking; never supply it to the student answer stage. State what the analogy does not explain: Filtering after generation may leak details already inserted into context.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Filter staff-only P5 before ranking; never supply it to the student answer stage.</a:t>
            </a:r>
          </a:p>
          <a:p/>
          <a:p>
            <a:r>
              <a:t>Point to the evidence before giving your conclusion. The expected reasoning concludes: Before retrieval results are passed into an answer. Distinguish measured results from illustrative numbers.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Five fictional college policies must answer student questions. The visible slide states: Before retrieval results are passed into an answer.</a:t>
            </a:r>
          </a:p>
          <a:p/>
          <a:p>
            <a:r>
              <a:t>Tempting mistake: A relevant staff policy may be shown if cited. The earlier question was When must the access filter apply? Ask how this differs from the wrong claim.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Five fictional college policies must answer student questions. The visible slide states: Question uses the phrase renew a book.</a:t>
            </a:r>
          </a:p>
          <a:p/>
          <a:p>
            <a:r>
              <a:t>Exact overlap may miss P2; a simple synonym mapping improves this case but can create other misses. Have one student point to an exact source word or number for each conclusion.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Compare token overlap and the synonym proxy on a fixed corpus.</a:t>
            </a:r>
          </a:p>
          <a:p/>
          <a:p>
            <a:r>
              <a:t>Read the original output before editing. Use Week_06_Lab.ipynb. This lab is a prepared classroom demonstration with its limitations documented.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Locate the supplied input, the transformation, the checking line and the printed result. The weekly lab change is: Remove a synonym or lower top-k from 2 to 1 and compare recall.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Remove a synonym or lower top-k from 2 to 1 and compare recall.</a:t>
            </a:r>
          </a:p>
          <a:p/>
          <a:p>
            <a:r>
              <a:t>What should change in the result? What stays fixed? Ask learners to write their prediction before rerunning the cell.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Record the input, the one changed setting, the observed result and a reason for any difference. The required evidence is: Corpus manifest and retrieval misses with evidence IDs.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Recall@2 on ten labelled questions</a:t>
            </a:r>
          </a:p>
          <a:p/>
          <a:p>
            <a:r>
              <a:t>Write the numerator, denominator and one failure case. Where a measure is qualitative, show the concrete source comparison. Example: Exact overlap may miss P2; a simple synonym mapping improves this case but can create other misses.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Plausible wrong claim: The synonym mapping is a production embedding model.</a:t>
            </a:r>
          </a:p>
          <a:p/>
          <a:p>
            <a:r>
              <a:t>Correct it using the case evidence. The correction is It is an inspectable proxy for class discussion. A vector index would require a tested embedding model.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A staff-only policy has a perfect keyword match. Should the student see it?</a:t>
            </a:r>
          </a:p>
          <a:p/>
          <a:p>
            <a:r>
              <a:t>Explain which source or test would settle it. This is a fresh scenario, so ask for a reason before accepting either short answer.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Without reading the slide, name the input, one processing step and the check. Your partner should ask “How do you know?” Listen for a causal explanation and one limitation, then revisit a difficult arrow on the board.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Why keep source IDs and versions with chunks?</a:t>
            </a:r>
          </a:p>
          <a:p/>
          <a:p>
            <a:r>
              <a:t>Write a short answer, then compare with the guide. Model answer after discussion: To trace an answer to the right document and identify stale evidence. Practice marks: 4.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One relevant passage exists and appears in the top two. What is recall@2?</a:t>
            </a:r>
          </a:p>
          <a:p/>
          <a:p>
            <a:r>
              <a:t>Write a short answer, then compare with the guide. Model answer after discussion: 1/1 = 1 for that query. Average across queries with relevant evidence; handle no-answer cases separately. Practice marks: 4.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Five fictional college policies must answer student questions. The visible slide states: Corpus manifest and retrieval misses with evidence IDs.</a:t>
            </a:r>
          </a:p>
          <a:p/>
          <a:p>
            <a:r>
              <a:t>Include the one changed input and an error explanation. This weekly evidence receives formative feedback according to the module sequence; refer to the assessment brief for graded work.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Five fictional college policies must answer student questions. The visible slide states: Split with source IDs, compare retrieval methods, and filter permissions first.</a:t>
            </a:r>
          </a:p>
          <a:p/>
          <a:p>
            <a:r>
              <a:t>Read the linked official sources in the Word guide and redraw one diagram from memory. Return to the opening vote and ask whether the evidence changed anyone’s mind. The next week builds on this outcome: Compare search strategies while preserving source and access information. The target is: Compare search strategies while preserving source and access information.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06 · Finding useful information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library-renewal search</a:t>
            </a:r>
          </a:p>
          <a:p>
            <a:pPr>
              <a:defRPr sz="1800" b="0">
                <a:solidFill>
                  <a:srgbClr val="182B40"/>
                </a:solidFill>
                <a:latin typeface="Aptos"/>
              </a:defRPr>
            </a:pPr>
          </a:p>
          <a:p>
            <a:pPr>
              <a:defRPr sz="1800" b="0">
                <a:solidFill>
                  <a:srgbClr val="182B40"/>
                </a:solidFill>
                <a:latin typeface="Aptos"/>
              </a:defRPr>
            </a:pPr>
            <a:r>
              <a:t>A learner asks “Can I renew my book?” Policy P2 says “library loans may be extended once.” Which passage should search find?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01 / 40</a:t>
            </a:r>
          </a:p>
        </p:txBody>
      </p:sp>
      <p:pic>
        <p:nvPicPr>
          <p:cNvPr id="9" name="Picture 8" descr="s01-0c080453061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learner asks “Can I renew my book?” Policy P2 says “library loans may be extended once.” Which passage should search find?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03 / 40</a:t>
            </a:r>
          </a:p>
        </p:txBody>
      </p:sp>
      <p:pic>
        <p:nvPicPr>
          <p:cNvPr id="9" name="Picture 8" descr="s03-4d105ff3be8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Chunk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preserve the source ID and version?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04 / 40</a:t>
            </a:r>
          </a:p>
        </p:txBody>
      </p:sp>
      <p:pic>
        <p:nvPicPr>
          <p:cNvPr id="9" name="Picture 8" descr="s04-bf5b21f9a04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long textbook gets labelled index cards for individual sections.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05 / 40</a:t>
            </a:r>
          </a:p>
        </p:txBody>
      </p:sp>
      <p:pic>
        <p:nvPicPr>
          <p:cNvPr id="9" name="Picture 8" descr="s05-73b488219ec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Cutting at arbitrary length can separate a condition from its rule.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06 / 40</a:t>
            </a:r>
          </a:p>
        </p:txBody>
      </p:sp>
      <p:pic>
        <p:nvPicPr>
          <p:cNvPr id="9" name="Picture 8" descr="s06-ebc4f99d95b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short passage from a larger source; keep its document ID and version.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07 / 40</a:t>
            </a:r>
          </a:p>
        </p:txBody>
      </p:sp>
      <p:pic>
        <p:nvPicPr>
          <p:cNvPr id="9" name="Picture 8" descr="s07-895bb3fd975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P2 becomes a short passage with ID P2 and version; keep “once” in the same passage.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08 / 40</a:t>
            </a:r>
          </a:p>
        </p:txBody>
      </p:sp>
      <p:pic>
        <p:nvPicPr>
          <p:cNvPr id="9" name="Picture 8" descr="s08-ae7ab522af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Chunk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They let a learner verify the answer in the correct policy edition.</a:t>
            </a:r>
          </a:p>
          <a:p>
            <a:pPr>
              <a:defRPr sz="1800" b="0">
                <a:solidFill>
                  <a:srgbClr val="182B40"/>
                </a:solidFill>
                <a:latin typeface="Aptos"/>
              </a:defRPr>
            </a:pPr>
          </a:p>
          <a:p>
            <a:pPr>
              <a:defRPr sz="1800" b="0">
                <a:solidFill>
                  <a:srgbClr val="182B40"/>
                </a:solidFill>
                <a:latin typeface="Aptos"/>
              </a:defRPr>
            </a:pPr>
            <a:r>
              <a:t>Tempting mistake: A chunk needs only its text.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09 / 40</a:t>
            </a:r>
          </a:p>
        </p:txBody>
      </p:sp>
      <p:pic>
        <p:nvPicPr>
          <p:cNvPr id="9" name="Picture 8" descr="s09-f22e60fdb02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Keyword search</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explains this miss?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10 / 40</a:t>
            </a:r>
          </a:p>
        </p:txBody>
      </p:sp>
      <p:pic>
        <p:nvPicPr>
          <p:cNvPr id="9" name="Picture 8" descr="s10-b64fb13d5bf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index finds pages that contain the exact words you entered.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11 / 40</a:t>
            </a:r>
          </a:p>
        </p:txBody>
      </p:sp>
      <p:pic>
        <p:nvPicPr>
          <p:cNvPr id="9" name="Picture 8" descr="s11-24129f62dad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Synonyms can make a relevant passage score poorly.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12 / 40</a:t>
            </a:r>
          </a:p>
        </p:txBody>
      </p:sp>
      <p:pic>
        <p:nvPicPr>
          <p:cNvPr id="9" name="Picture 8" descr="s12-095a341f88a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Matches terms in a query and passage; useful when wording overlaps.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13 / 40</a:t>
            </a:r>
          </a:p>
        </p:txBody>
      </p:sp>
      <p:pic>
        <p:nvPicPr>
          <p:cNvPr id="9" name="Picture 8" descr="s13-8180137448f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“renew” does not exactly match P2’s “extend”; a keyword-only search may miss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14 / 40</a:t>
            </a:r>
          </a:p>
        </p:txBody>
      </p:sp>
      <p:pic>
        <p:nvPicPr>
          <p:cNvPr id="9" name="Picture 8" descr="s14-91494b026be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Keyword search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Different words express a similar intent.</a:t>
            </a:r>
          </a:p>
          <a:p>
            <a:pPr>
              <a:defRPr sz="1800" b="0">
                <a:solidFill>
                  <a:srgbClr val="182B40"/>
                </a:solidFill>
                <a:latin typeface="Aptos"/>
              </a:defRPr>
            </a:pPr>
          </a:p>
          <a:p>
            <a:pPr>
              <a:defRPr sz="1800" b="0">
                <a:solidFill>
                  <a:srgbClr val="182B40"/>
                </a:solidFill>
                <a:latin typeface="Aptos"/>
              </a:defRPr>
            </a:pPr>
            <a:r>
              <a:t>Tempting mistake: No exact match proves no relevant policy exists.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15 / 40</a:t>
            </a:r>
          </a:p>
        </p:txBody>
      </p:sp>
      <p:pic>
        <p:nvPicPr>
          <p:cNvPr id="9" name="Picture 8" descr="s15-7a495467c79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Vector search</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passage ranks nearer to q in this toy calculation?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16 / 40</a:t>
            </a:r>
          </a:p>
        </p:txBody>
      </p:sp>
      <p:pic>
        <p:nvPicPr>
          <p:cNvPr id="9" name="Picture 8" descr="s16-69105ea21a4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map places related meanings near one another.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17 / 40</a:t>
            </a:r>
          </a:p>
        </p:txBody>
      </p:sp>
      <p:pic>
        <p:nvPicPr>
          <p:cNvPr id="9" name="Picture 8" descr="s17-0bfbb2ecb98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Similar vectors can retrieve the wrong passage; check text and permissions.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18 / 40</a:t>
            </a:r>
          </a:p>
        </p:txBody>
      </p:sp>
      <p:pic>
        <p:nvPicPr>
          <p:cNvPr id="9" name="Picture 8" descr="s18-254ccaf5e9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Compares numerical representations of text; a production embedding model can capture semantic similarity.</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19 / 40</a:t>
            </a:r>
          </a:p>
        </p:txBody>
      </p:sp>
      <p:pic>
        <p:nvPicPr>
          <p:cNvPr id="9" name="Picture 8" descr="s19-64c67b102c5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Toy vectors q=[1,0], P2=[1,1], P3=[0,1]: cosine scores about .707 and 0.</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20 / 40</a:t>
            </a:r>
          </a:p>
        </p:txBody>
      </p:sp>
      <p:pic>
        <p:nvPicPr>
          <p:cNvPr id="9" name="Picture 8" descr="s20-d7375cb72d7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Vector search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P2, with the larger cosine similarity.</a:t>
            </a:r>
          </a:p>
          <a:p>
            <a:pPr>
              <a:defRPr sz="1800" b="0">
                <a:solidFill>
                  <a:srgbClr val="182B40"/>
                </a:solidFill>
                <a:latin typeface="Aptos"/>
              </a:defRPr>
            </a:pPr>
          </a:p>
          <a:p>
            <a:pPr>
              <a:defRPr sz="1800" b="0">
                <a:solidFill>
                  <a:srgbClr val="182B40"/>
                </a:solidFill>
                <a:latin typeface="Aptos"/>
              </a:defRPr>
            </a:pPr>
            <a:r>
              <a:t>Tempting mistake: An embedding is an authoritative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21 / 40</a:t>
            </a:r>
          </a:p>
        </p:txBody>
      </p:sp>
      <p:pic>
        <p:nvPicPr>
          <p:cNvPr id="9" name="Picture 8" descr="s21-c9008e4e50e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Access filter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must the access filter apply?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22 / 40</a:t>
            </a:r>
          </a:p>
        </p:txBody>
      </p:sp>
      <p:pic>
        <p:nvPicPr>
          <p:cNvPr id="9" name="Picture 8" descr="s22-3e4967e72b9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library card allows entry to some shelves but not staff cabinets.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23 / 40</a:t>
            </a:r>
          </a:p>
        </p:txBody>
      </p:sp>
      <p:pic>
        <p:nvPicPr>
          <p:cNvPr id="9" name="Picture 8" descr="s23-baf96178a33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Filtering after generation may leak details already inserted into context.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24 / 40</a:t>
            </a:r>
          </a:p>
        </p:txBody>
      </p:sp>
      <p:pic>
        <p:nvPicPr>
          <p:cNvPr id="9" name="Picture 8" descr="s24-768fbb8b942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Only retrieve passages that the current role is allowed to read.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25 / 40</a:t>
            </a:r>
          </a:p>
        </p:txBody>
      </p:sp>
      <p:pic>
        <p:nvPicPr>
          <p:cNvPr id="9" name="Picture 8" descr="s25-11d082ee986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Filter staff-only P5 before ranking; never supply it to the student answer stage.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26 / 40</a:t>
            </a:r>
          </a:p>
        </p:txBody>
      </p:sp>
      <p:pic>
        <p:nvPicPr>
          <p:cNvPr id="9" name="Picture 8" descr="s26-cd6db12b2f7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Access filter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Before retrieval results are passed into an answer.</a:t>
            </a:r>
          </a:p>
          <a:p>
            <a:pPr>
              <a:defRPr sz="1800" b="0">
                <a:solidFill>
                  <a:srgbClr val="182B40"/>
                </a:solidFill>
                <a:latin typeface="Aptos"/>
              </a:defRPr>
            </a:pPr>
          </a:p>
          <a:p>
            <a:pPr>
              <a:defRPr sz="1800" b="0">
                <a:solidFill>
                  <a:srgbClr val="182B40"/>
                </a:solidFill>
                <a:latin typeface="Aptos"/>
              </a:defRPr>
            </a:pPr>
            <a:r>
              <a:t>Tempting mistake: A relevant staff policy may be shown if cited.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27 / 40</a:t>
            </a:r>
          </a:p>
        </p:txBody>
      </p:sp>
      <p:pic>
        <p:nvPicPr>
          <p:cNvPr id="9" name="Picture 8" descr="s27-aed9060b7b2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Question uses the phrase renew a book.</a:t>
            </a:r>
          </a:p>
          <a:p>
            <a:pPr>
              <a:defRPr sz="1800" b="0">
                <a:solidFill>
                  <a:srgbClr val="182B40"/>
                </a:solidFill>
                <a:latin typeface="Aptos"/>
              </a:defRPr>
            </a:pPr>
          </a:p>
          <a:p>
            <a:pPr>
              <a:defRPr sz="1800" b="0">
                <a:solidFill>
                  <a:srgbClr val="182B40"/>
                </a:solidFill>
                <a:latin typeface="Aptos"/>
              </a:defRPr>
            </a:pPr>
            <a:r>
              <a:t>Exact overlap may miss P2; a simple synonym mapping improves this case but can create other misses.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28 / 40</a:t>
            </a:r>
          </a:p>
        </p:txBody>
      </p:sp>
      <p:pic>
        <p:nvPicPr>
          <p:cNvPr id="9" name="Picture 8" descr="s28-c1a5bc27cf5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token overlap and the synonym proxy on a fixed corpus.</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29 / 40</a:t>
            </a:r>
          </a:p>
        </p:txBody>
      </p:sp>
      <p:pic>
        <p:nvPicPr>
          <p:cNvPr id="9" name="Picture 8" descr="s29-9868f6c2895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Remove a synonym or lower top-k from 2 to 1 and compare recall.</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Recall@2 on ten labelled questions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The synonym mapping is a production embedding model.</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34 / 40</a:t>
            </a:r>
          </a:p>
        </p:txBody>
      </p:sp>
      <p:pic>
        <p:nvPicPr>
          <p:cNvPr id="9" name="Picture 8" descr="s34-55dca031591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staff-only policy has a perfect keyword match. Should the student see it?</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36 / 40</a:t>
            </a:r>
          </a:p>
        </p:txBody>
      </p:sp>
      <p:pic>
        <p:nvPicPr>
          <p:cNvPr id="9" name="Picture 8" descr="s36-96a54129f97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keep source IDs and versions with chunks?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One relevant passage exists and appears in the top two. What is recall@2?</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Corpus manifest and retrieval misses with evidence IDs.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06</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Split with source IDs, compare retrieval methods, and filter permissions first.</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06    •    40 / 40</a:t>
            </a:r>
          </a:p>
        </p:txBody>
      </p:sp>
      <p:pic>
        <p:nvPicPr>
          <p:cNvPr id="9" name="Picture 8" descr="s03-4d105ff3be8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