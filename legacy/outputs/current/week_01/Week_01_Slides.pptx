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student asks whether a fictional college reimburses a late bus ticket. The visible slide states: The late-bus refund</a:t>
            </a:r>
          </a:p>
          <a:p/>
          <a:p>
            <a:r>
              <a:t>A confident assistant says a late bus ticket is reimbursed. Policy P1 says student travel is not reimbursed. Would you trust the answer? Reveal that the case will be revisited after four short concept cycles.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student asks whether a fictional college reimburses a late bus ticket. The visible slide states: A confident assistant says a late bus ticket is reimbursed. Policy P1 says student travel is not reimbursed. Would you trust the answer?</a:t>
            </a:r>
          </a:p>
          <a:p/>
          <a:p>
            <a:r>
              <a:t>Choose an initial answer and name one piece of evidence you need. Accept reasonable uncertainty; record the initial votes to revisit at the end.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student asks whether a fictional college reimburses a late bus ticket. The visible slide states: We will predict, connect an analogy, trace a mechanism, work an example, then explain a decision. Point to the four named ideas, then show where the notebook experiment fits.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student asks whether a fictional college reimburses a late bus ticket. The visible slide states: Can a newly worded answer still be false?</a:t>
            </a:r>
          </a:p>
          <a:p/>
          <a:p>
            <a:r>
              <a:t>Make a choice before we explain the diagram. The intended answer is Yes. Novel wording does not establish factual support. The tempting claim is Every generated sentence is creative evidence. Do not show which card is correct until the reveal.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student asks whether a fictional college reimburses a late bus ticket. The visible slide states: A weather forecast predicts a category; a novelist writes a fresh sentence.</a:t>
            </a:r>
          </a:p>
          <a:p/>
          <a:p>
            <a:r>
              <a:t>What matches our case, and where does the analogy stop? The boundary is: A generative model also predicts the next token internally; the distinction concerns the output task.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student asks whether a fictional college reimburses a late bus ticket. The visible slide states: Match each everyday part to the technical part.</a:t>
            </a:r>
          </a:p>
          <a:p/>
          <a:p>
            <a:r>
              <a:t>Analogy limit: A generative model also predicts the next token internally; the distinction concerns the output task. The three precise mappings are [['Forecast label', 'predicted class'], ['New sentence', 'generated sequence'], ['Weather record', 'training examples']].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student asks whether a fictional college reimburses a late bus ticket. The visible slide states: A predictor assigns a label or value. A generator creates a new sequence or image. Both can make errors.</a:t>
            </a:r>
          </a:p>
          <a:p/>
          <a:p>
            <a:r>
              <a:t>Trace the arrows from left to right. The weekly example is: Given “Is travel reimbursed?”, a classifier could output NO; a generator could write “No, under P1.” State what the analogy does not explain: A generative model also predicts the next token internally; the distinction concerns the output task.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student asks whether a fictional college reimburses a late bus ticket. The visible slide states: Given “Is travel reimbursed?”, a classifier could output NO; a generator could write “No, under P1.”</a:t>
            </a:r>
          </a:p>
          <a:p/>
          <a:p>
            <a:r>
              <a:t>Point to the evidence before giving your conclusion. The expected reasoning concludes: Yes. Novel wording does not establish factual support. Distinguish measured results from illustrative numbers.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student asks whether a fictional college reimburses a late bus ticket. The visible slide states: Yes. Novel wording does not establish factual support.</a:t>
            </a:r>
          </a:p>
          <a:p/>
          <a:p>
            <a:r>
              <a:t>Tempting mistake: Every generated sentence is creative evidence. The earlier question was Can a newly worded answer still be false? Ask how this differs from the wrong claim.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student asks whether a fictional college reimburses a late bus ticket. The visible slide states: Which component can stop an unsupported answer reaching the student?</a:t>
            </a:r>
          </a:p>
          <a:p/>
          <a:p>
            <a:r>
              <a:t>Make a choice before we explain the diagram. The intended answer is The application check using P1 can flag or block it. The tempting claim is The model itself guarantees the college rule. Do not show which card is correct until the reveal.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student asks whether a fictional college reimburses a late bus ticket. The visible slide states: A cook proposes a dish; the restaurant checks ingredients and allergies before serving.</a:t>
            </a:r>
          </a:p>
          <a:p/>
          <a:p>
            <a:r>
              <a:t>What matches our case, and where does the analogy stop? The boundary is: A restaurant check is a deliberate rule; a model does not automatically enforce permissions.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student asks whether a fictional college reimburses a late bus ticket. The visible slide states: Match each everyday part to the technical part.</a:t>
            </a:r>
          </a:p>
          <a:p/>
          <a:p>
            <a:r>
              <a:t>Analogy limit: A restaurant check is a deliberate rule; a model does not automatically enforce permissions. The three precise mappings are [['Cook', 'model'], ['Ingredient sheet', 'policy P1'], ['Server check', 'application validation']].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student asks whether a fictional college reimburses a late bus ticket. The visible slide states: The model proposes words. Retrieval, permissions, validation and people decide what the application may present.</a:t>
            </a:r>
          </a:p>
          <a:p/>
          <a:p>
            <a:r>
              <a:t>Trace the arrows from left to right. The weekly example is: The model proposes “Yes”; the application compares the claim with P1 and flags it. State what the analogy does not explain: A restaurant check is a deliberate rule; a model does not automatically enforce permissions.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student asks whether a fictional college reimburses a late bus ticket. The visible slide states: The model proposes “Yes”; the application compares the claim with P1 and flags it.</a:t>
            </a:r>
          </a:p>
          <a:p/>
          <a:p>
            <a:r>
              <a:t>Point to the evidence before giving your conclusion. The expected reasoning concludes: The application check using P1 can flag or block it. Distinguish measured results from illustrative numbers.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student asks whether a fictional college reimburses a late bus ticket. The visible slide states: The application check using P1 can flag or block it.</a:t>
            </a:r>
          </a:p>
          <a:p/>
          <a:p>
            <a:r>
              <a:t>Tempting mistake: The model itself guarantees the college rule. The earlier question was Which component can stop an unsupported answer reaching the student? Ask how this differs from the wrong claim.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student asks whether a fictional college reimburses a late bus ticket. The visible slide states: What should the prompt say when P1 lacks the answer?</a:t>
            </a:r>
          </a:p>
          <a:p/>
          <a:p>
            <a:r>
              <a:t>Make a choice before we explain the diagram. The intended answer is State that the assistant should say evidence is missing. The tempting claim is Longer prompts always create true answers. Do not show which card is correct until the reveal.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student asks whether a fictional college reimburses a late bus ticket. The visible slide states: A librarian needs both the question and the correct shelf card.</a:t>
            </a:r>
          </a:p>
          <a:p/>
          <a:p>
            <a:r>
              <a:t>What matches our case, and where does the analogy stop? The boundary is: The shelf card helps only if it is relevant, current and actually used.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student asks whether a fictional college reimburses a late bus ticket. The visible slide states: Match each everyday part to the technical part.</a:t>
            </a:r>
          </a:p>
          <a:p/>
          <a:p>
            <a:r>
              <a:t>Analogy limit: The shelf card helps only if it is relevant, current and actually used. The three precise mappings are [['Request', 'task prompt'], ['Shelf card', 'supplied context P1'], ['Draft reply', 'model output']].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student asks whether a fictional college reimburses a late bus ticket. The visible slide states: A prompt states the task; context contains the supplied evidence. The model cannot reliably invent a missing policy.</a:t>
            </a:r>
          </a:p>
          <a:p/>
          <a:p>
            <a:r>
              <a:t>Trace the arrows from left to right. The weekly example is: “Answer using P1 and cite it” includes a task and source; “help me” does not. State what the analogy does not explain: The shelf card helps only if it is relevant, current and actually used.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student asks whether a fictional college reimburses a late bus ticket. The visible slide states: “Answer using P1 and cite it” includes a task and source; “help me” does not.</a:t>
            </a:r>
          </a:p>
          <a:p/>
          <a:p>
            <a:r>
              <a:t>Point to the evidence before giving your conclusion. The expected reasoning concludes: State that the assistant should say evidence is missing. Distinguish measured results from illustrative numbers.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student asks whether a fictional college reimburses a late bus ticket. The visible slide states: State that the assistant should say evidence is missing.</a:t>
            </a:r>
          </a:p>
          <a:p/>
          <a:p>
            <a:r>
              <a:t>Tempting mistake: Longer prompts always create true answers. The earlier question was What should the prompt say when P1 lacks the answer? Ask how this differs from the wrong claim.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student asks whether a fictional college reimburses a late bus ticket. The visible slide states: Why record the denominator and repeats?</a:t>
            </a:r>
          </a:p>
          <a:p/>
          <a:p>
            <a:r>
              <a:t>Make a choice before we explain the diagram. The intended answer is The denominator shows sample size; repeats show whether outputs change. The tempting claim is A 70% score means the next answer is certainly correct. Do not show which card is correct until the reveal.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student asks whether a fictional college reimburses a late bus ticket. The visible slide states: A teacher marks ten scripts against one answer key, then repeats two questions.</a:t>
            </a:r>
          </a:p>
          <a:p/>
          <a:p>
            <a:r>
              <a:t>What matches our case, and where does the analogy stop? The boundary is: One short sample cannot estimate performance in all future situations.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student asks whether a fictional college reimburses a late bus ticket. The visible slide states: Match each everyday part to the technical part.</a:t>
            </a:r>
          </a:p>
          <a:p/>
          <a:p>
            <a:r>
              <a:t>Analogy limit: One short sample cannot estimate performance in all future situations. The three precise mappings are [['Answer key', 'manual baseline'], ['Script', 'model reply'], ['Repeat', 'variability check']].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student asks whether a fictional college reimburses a late bus ticket. The visible slide states: A manual answer sheet gives us a reference. Repeated responses can vary, so record both correctness and changes.</a:t>
            </a:r>
          </a:p>
          <a:p/>
          <a:p>
            <a:r>
              <a:t>Trace the arrows from left to right. The weekly example is: Seven of ten replies are supported: 7/10 = 70%; log the three failures and two repeats. State what the analogy does not explain: One short sample cannot estimate performance in all future situations.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student asks whether a fictional college reimburses a late bus ticket. The visible slide states: Seven of ten replies are supported: 7/10 = 70%; log the three failures and two repeats.</a:t>
            </a:r>
          </a:p>
          <a:p/>
          <a:p>
            <a:r>
              <a:t>Point to the evidence before giving your conclusion. The expected reasoning concludes: The denominator shows sample size; repeats show whether outputs change. Distinguish measured results from illustrative numbers.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student asks whether a fictional college reimburses a late bus ticket. The visible slide states: The denominator shows sample size; repeats show whether outputs change.</a:t>
            </a:r>
          </a:p>
          <a:p/>
          <a:p>
            <a:r>
              <a:t>Tempting mistake: A 70% score means the next answer is certainly correct. The earlier question was Why record the denominator and repeats? Ask how this differs from the wrong claim.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student asks whether a fictional college reimburses a late bus ticket. The visible slide states: Q: Is a late bus ticket reimbursed?</a:t>
            </a:r>
          </a:p>
          <a:p/>
          <a:p>
            <a:r>
              <a:t>A: No; travel is not reimbursed [P1]. Have one student point to an exact source word or number for each conclusion.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student asks whether a fictional college reimburses a late bus ticket. The visible slide states: Run the ten-case baseline and change a single answer.</a:t>
            </a:r>
          </a:p>
          <a:p/>
          <a:p>
            <a:r>
              <a:t>Read the original output before editing. Use Week_01_Lab.ipynb. This lab is a prepared classroom demonstration with its limitations documented.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student asks whether a fictional college reimburses a late bus ticket. The visible slide states: Locate the supplied input, the transformation, the checking line and the printed result. The weekly lab change is: Change one answer to an unsupported claim and measure the score again.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student asks whether a fictional college reimburses a late bus ticket. The visible slide states: Change one answer to an unsupported claim and measure the score again.</a:t>
            </a:r>
          </a:p>
          <a:p/>
          <a:p>
            <a:r>
              <a:t>What should change in the result? What stays fixed? Ask learners to write their prediction before rerunning the cell.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student asks whether a fictional college reimburses a late bus ticket. The visible slide states: Record the input, the one changed setting, the observed result and a reason for any difference. The required evidence is: Ten-case answer table with one error analysis.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Correct supported answers / 10 questions</a:t>
            </a:r>
          </a:p>
          <a:p/>
          <a:p>
            <a:r>
              <a:t>Write the numerator, denominator and one failure case. Where a measure is qualitative, show the concrete source comparison. Example: A: No; travel is not reimbursed [P1].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Plausible wrong claim: A fluent answer is evidence that it is correct.</a:t>
            </a:r>
          </a:p>
          <a:p/>
          <a:p>
            <a:r>
              <a:t>Correct it using the case evidence. The correction is Fluency is a property of wording. Check the actual claim against the policy text.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The assistant repeats the answer twice, but one version invents an exception. Which answer belongs in the ten-case baseline?</a:t>
            </a:r>
          </a:p>
          <a:p/>
          <a:p>
            <a:r>
              <a:t>Explain which source or test would settle it. This is a fresh scenario, so ask for a reason before accepting either short answer.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Without reading the slide, name the input, one processing step and the check. Your partner should ask “How do you know?” Listen for a causal explanation and one limitation, then revisit a difficult arrow on the board.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Explain generation versus prediction with one example of each.</a:t>
            </a:r>
          </a:p>
          <a:p/>
          <a:p>
            <a:r>
              <a:t>Write a short answer, then compare with the guide. Model answer after discussion: Predict whether an email is spam: a label. Generate a reply: new text. Both use learned patterns and both can be wrong. Practice marks: 4.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Seven of ten answers are correct and supported. Calculate accuracy and name a missing check.</a:t>
            </a:r>
          </a:p>
          <a:p/>
          <a:p>
            <a:r>
              <a:t>Write a short answer, then compare with the guide. Model answer after discussion: 7/10 = 70%. Also check permissions, unsupported claims or repeated-run variation. Practice marks: 4.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student asks whether a fictional college reimburses a late bus ticket. The visible slide states: Ten-case answer table with one error analysis.</a:t>
            </a:r>
          </a:p>
          <a:p/>
          <a:p>
            <a:r>
              <a:t>Include the one changed input and an error explanation. This weekly evidence receives formative feedback according to the module sequence; refer to the assessment brief for graded work.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student asks whether a fictional college reimburses a late bus ticket. The visible slide states: A polished reply is a draft; trace its claim back to P1.</a:t>
            </a:r>
          </a:p>
          <a:p/>
          <a:p>
            <a:r>
              <a:t>Read the linked official sources in the Word guide and redraw one diagram from memory. Return to the opening vote and ask whether the evidence changed anyone’s mind. The next week builds on this outcome: Separate a model from the application that checks and delivers its output. The target is: Separate a model from the application that checks and delivers its output.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01 · What generative AI does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late-bus refund</a:t>
            </a:r>
          </a:p>
          <a:p>
            <a:pPr>
              <a:defRPr sz="1800" b="0">
                <a:solidFill>
                  <a:srgbClr val="182B40"/>
                </a:solidFill>
                <a:latin typeface="Aptos"/>
              </a:defRPr>
            </a:pPr>
          </a:p>
          <a:p>
            <a:pPr>
              <a:defRPr sz="1800" b="0">
                <a:solidFill>
                  <a:srgbClr val="182B40"/>
                </a:solidFill>
                <a:latin typeface="Aptos"/>
              </a:defRPr>
            </a:pPr>
            <a:r>
              <a:t>A confident assistant says a late bus ticket is reimbursed. Policy P1 says student travel is not reimbursed. Would you trust the answer?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01 / 40</a:t>
            </a:r>
          </a:p>
        </p:txBody>
      </p:sp>
      <p:pic>
        <p:nvPicPr>
          <p:cNvPr id="9" name="Picture 8" descr="s01-e4519643a85c.png"/>
          <p:cNvPicPr>
            <a:picLocks noChangeAspect="1"/>
          </p:cNvPicPr>
          <p:nvPr/>
        </p:nvPicPr>
        <p:blipFill>
          <a:blip r:embed="rId4"/>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confident assistant says a late bus ticket is reimbursed. Policy P1 says student travel is not reimbursed. Would you trust the answer?</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03 / 40</a:t>
            </a:r>
          </a:p>
        </p:txBody>
      </p:sp>
      <p:pic>
        <p:nvPicPr>
          <p:cNvPr id="9" name="Picture 8" descr="s03-9dfa6c4b744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Generation and prediction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Can a newly worded answer still be false?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04 / 40</a:t>
            </a:r>
          </a:p>
        </p:txBody>
      </p:sp>
      <p:pic>
        <p:nvPicPr>
          <p:cNvPr id="9" name="Picture 8" descr="s04-dc05c1a5f1f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Generation and prediction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weather forecast predicts a category; a novelist writes a fresh sentence.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05 / 40</a:t>
            </a:r>
          </a:p>
        </p:txBody>
      </p:sp>
      <p:pic>
        <p:nvPicPr>
          <p:cNvPr id="9" name="Picture 8" descr="s05-96f89b65744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Generation and prediction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generative model also predicts the next token internally; the distinction concerns the output task.</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06 / 40</a:t>
            </a:r>
          </a:p>
        </p:txBody>
      </p:sp>
      <p:pic>
        <p:nvPicPr>
          <p:cNvPr id="9" name="Picture 8" descr="s06-5a60dc13715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Generation and prediction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predictor assigns a label or value. A generator creates a new sequence or image. Both can make errors.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07 / 40</a:t>
            </a:r>
          </a:p>
        </p:txBody>
      </p:sp>
      <p:pic>
        <p:nvPicPr>
          <p:cNvPr id="9" name="Picture 8" descr="s07-b703492f68f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Generation and prediction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Given “Is travel reimbursed?”, a classifier could output NO; a generator could write “No, under P1.”</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08 / 40</a:t>
            </a:r>
          </a:p>
        </p:txBody>
      </p:sp>
      <p:pic>
        <p:nvPicPr>
          <p:cNvPr id="9" name="Picture 8" descr="s08-f262f591dfb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Generation and prediction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Yes. Novel wording does not establish factual support.</a:t>
            </a:r>
          </a:p>
          <a:p>
            <a:pPr>
              <a:defRPr sz="1800" b="0">
                <a:solidFill>
                  <a:srgbClr val="182B40"/>
                </a:solidFill>
                <a:latin typeface="Aptos"/>
              </a:defRPr>
            </a:pPr>
          </a:p>
          <a:p>
            <a:pPr>
              <a:defRPr sz="1800" b="0">
                <a:solidFill>
                  <a:srgbClr val="182B40"/>
                </a:solidFill>
                <a:latin typeface="Aptos"/>
              </a:defRPr>
            </a:pPr>
            <a:r>
              <a:t>Tempting mistake: Every generated sentence is creative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09 / 40</a:t>
            </a:r>
          </a:p>
        </p:txBody>
      </p:sp>
      <p:pic>
        <p:nvPicPr>
          <p:cNvPr id="9" name="Picture 8" descr="s09-4f596009d43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Model and system</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component can stop an unsupported answer reaching the student?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10 / 40</a:t>
            </a:r>
          </a:p>
        </p:txBody>
      </p:sp>
      <p:pic>
        <p:nvPicPr>
          <p:cNvPr id="9" name="Picture 8" descr="s10-01bb4b231ca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and system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cook proposes a dish; the restaurant checks ingredients and allergies before serving.</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11 / 40</a:t>
            </a:r>
          </a:p>
        </p:txBody>
      </p:sp>
      <p:pic>
        <p:nvPicPr>
          <p:cNvPr id="9" name="Picture 8" descr="s11-81accf37647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and system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restaurant check is a deliberate rule; a model does not automatically enforce permissions.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12 / 40</a:t>
            </a:r>
          </a:p>
        </p:txBody>
      </p:sp>
      <p:pic>
        <p:nvPicPr>
          <p:cNvPr id="9" name="Picture 8" descr="s12-a3f2a430521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and system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model proposes words. Retrieval, permissions, validation and people decide what the application may present.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13 / 40</a:t>
            </a:r>
          </a:p>
        </p:txBody>
      </p:sp>
      <p:pic>
        <p:nvPicPr>
          <p:cNvPr id="9" name="Picture 8" descr="s13-db492ad5d5c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and system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model proposes “Yes”; the application compares the claim with P1 and flags it.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14 / 40</a:t>
            </a:r>
          </a:p>
        </p:txBody>
      </p:sp>
      <p:pic>
        <p:nvPicPr>
          <p:cNvPr id="9" name="Picture 8" descr="s14-dbf9bd3d94e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and system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application check using P1 can flag or block it.</a:t>
            </a:r>
          </a:p>
          <a:p>
            <a:pPr>
              <a:defRPr sz="1800" b="0">
                <a:solidFill>
                  <a:srgbClr val="182B40"/>
                </a:solidFill>
                <a:latin typeface="Aptos"/>
              </a:defRPr>
            </a:pPr>
          </a:p>
          <a:p>
            <a:pPr>
              <a:defRPr sz="1800" b="0">
                <a:solidFill>
                  <a:srgbClr val="182B40"/>
                </a:solidFill>
                <a:latin typeface="Aptos"/>
              </a:defRPr>
            </a:pPr>
            <a:r>
              <a:t>Tempting mistake: The model itself guarantees the college rule.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15 / 40</a:t>
            </a:r>
          </a:p>
        </p:txBody>
      </p:sp>
      <p:pic>
        <p:nvPicPr>
          <p:cNvPr id="9" name="Picture 8" descr="s15-16d4ced41e8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Prompt and context</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should the prompt say when P1 lacks the answer?</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16 / 40</a:t>
            </a:r>
          </a:p>
        </p:txBody>
      </p:sp>
      <p:pic>
        <p:nvPicPr>
          <p:cNvPr id="9" name="Picture 8" descr="s16-714de70126c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 and context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librarian needs both the question and the correct shelf card.</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17 / 40</a:t>
            </a:r>
          </a:p>
        </p:txBody>
      </p:sp>
      <p:pic>
        <p:nvPicPr>
          <p:cNvPr id="9" name="Picture 8" descr="s17-421e74ce122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 and context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The shelf card helps only if it is relevant, current and actually used.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18 / 40</a:t>
            </a:r>
          </a:p>
        </p:txBody>
      </p:sp>
      <p:pic>
        <p:nvPicPr>
          <p:cNvPr id="9" name="Picture 8" descr="s18-b956b8aeb4d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 and context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prompt states the task; context contains the supplied evidence. The model cannot reliably invent a missing policy.</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19 / 40</a:t>
            </a:r>
          </a:p>
        </p:txBody>
      </p:sp>
      <p:pic>
        <p:nvPicPr>
          <p:cNvPr id="9" name="Picture 8" descr="s19-e9019a11e6f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 and context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“Answer using P1 and cite it” includes a task and source; “help me” does not.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20 / 40</a:t>
            </a:r>
          </a:p>
        </p:txBody>
      </p:sp>
      <p:pic>
        <p:nvPicPr>
          <p:cNvPr id="9" name="Picture 8" descr="s20-5f7c7046a9b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 and context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State that the assistant should say evidence is missing.</a:t>
            </a:r>
          </a:p>
          <a:p>
            <a:pPr>
              <a:defRPr sz="1800" b="0">
                <a:solidFill>
                  <a:srgbClr val="182B40"/>
                </a:solidFill>
                <a:latin typeface="Aptos"/>
              </a:defRPr>
            </a:pPr>
          </a:p>
          <a:p>
            <a:pPr>
              <a:defRPr sz="1800" b="0">
                <a:solidFill>
                  <a:srgbClr val="182B40"/>
                </a:solidFill>
                <a:latin typeface="Aptos"/>
              </a:defRPr>
            </a:pPr>
            <a:r>
              <a:t>Tempting mistake: Longer prompts always create true answers.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21 / 40</a:t>
            </a:r>
          </a:p>
        </p:txBody>
      </p:sp>
      <p:pic>
        <p:nvPicPr>
          <p:cNvPr id="9" name="Picture 8" descr="s21-23c82e25c48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Baseline and variability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record the denominator and repeats?</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22 / 40</a:t>
            </a:r>
          </a:p>
        </p:txBody>
      </p:sp>
      <p:pic>
        <p:nvPicPr>
          <p:cNvPr id="9" name="Picture 8" descr="s22-0c4a1d95d0f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Baseline and variability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teacher marks ten scripts against one answer key, then repeats two questions.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23 / 40</a:t>
            </a:r>
          </a:p>
        </p:txBody>
      </p:sp>
      <p:pic>
        <p:nvPicPr>
          <p:cNvPr id="9" name="Picture 8" descr="s23-5e8c6cbd07f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Baseline and variability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One short sample cannot estimate performance in all future situations.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24 / 40</a:t>
            </a:r>
          </a:p>
        </p:txBody>
      </p:sp>
      <p:pic>
        <p:nvPicPr>
          <p:cNvPr id="9" name="Picture 8" descr="s24-7e7945e99ac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Baseline and variability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manual answer sheet gives us a reference. Repeated responses can vary, so record both correctness and changes.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25 / 40</a:t>
            </a:r>
          </a:p>
        </p:txBody>
      </p:sp>
      <p:pic>
        <p:nvPicPr>
          <p:cNvPr id="9" name="Picture 8" descr="s25-9ae3692d6e0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Baseline and variability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Seven of ten replies are supported: 7/10 = 70%; log the three failures and two repeats.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26 / 40</a:t>
            </a:r>
          </a:p>
        </p:txBody>
      </p:sp>
      <p:pic>
        <p:nvPicPr>
          <p:cNvPr id="9" name="Picture 8" descr="s26-88fcf0f1ab2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Baseline and variability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denominator shows sample size; repeats show whether outputs change.</a:t>
            </a:r>
          </a:p>
          <a:p>
            <a:pPr>
              <a:defRPr sz="1800" b="0">
                <a:solidFill>
                  <a:srgbClr val="182B40"/>
                </a:solidFill>
                <a:latin typeface="Aptos"/>
              </a:defRPr>
            </a:pPr>
          </a:p>
          <a:p>
            <a:pPr>
              <a:defRPr sz="1800" b="0">
                <a:solidFill>
                  <a:srgbClr val="182B40"/>
                </a:solidFill>
                <a:latin typeface="Aptos"/>
              </a:defRPr>
            </a:pPr>
            <a:r>
              <a:t>Tempting mistake: A 70% score means the next answer is certainly correct.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27 / 40</a:t>
            </a:r>
          </a:p>
        </p:txBody>
      </p:sp>
      <p:pic>
        <p:nvPicPr>
          <p:cNvPr id="9" name="Picture 8" descr="s27-f529d78bf2c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Q: Is a late bus ticket reimbursed?</a:t>
            </a:r>
          </a:p>
          <a:p>
            <a:pPr>
              <a:defRPr sz="1800" b="0">
                <a:solidFill>
                  <a:srgbClr val="182B40"/>
                </a:solidFill>
                <a:latin typeface="Aptos"/>
              </a:defRPr>
            </a:pPr>
          </a:p>
          <a:p>
            <a:pPr>
              <a:defRPr sz="1800" b="0">
                <a:solidFill>
                  <a:srgbClr val="182B40"/>
                </a:solidFill>
                <a:latin typeface="Aptos"/>
              </a:defRPr>
            </a:pPr>
            <a:r>
              <a:t>A: No; travel is not reimbursed [P1].</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28 / 40</a:t>
            </a:r>
          </a:p>
        </p:txBody>
      </p:sp>
      <p:pic>
        <p:nvPicPr>
          <p:cNvPr id="9" name="Picture 8" descr="s28-8dfabdf1373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Run the ten-case baseline and change a single answer.</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29 / 40</a:t>
            </a:r>
          </a:p>
        </p:txBody>
      </p:sp>
      <p:pic>
        <p:nvPicPr>
          <p:cNvPr id="9" name="Picture 8" descr="s29-1f18dd6fffb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Change one answer to an unsupported claim and measure the score again.</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Correct supported answers / 10 questions</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 fluent answer is evidence that it is correct.</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34 / 40</a:t>
            </a:r>
          </a:p>
        </p:txBody>
      </p:sp>
      <p:pic>
        <p:nvPicPr>
          <p:cNvPr id="9" name="Picture 8" descr="s34-c12732044b9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assistant repeats the answer twice, but one version invents an exception. Which answer belongs in the ten-case baseline?</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36 / 40</a:t>
            </a:r>
          </a:p>
        </p:txBody>
      </p:sp>
      <p:pic>
        <p:nvPicPr>
          <p:cNvPr id="9" name="Picture 8" descr="s36-24dccb6e58b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Explain generation versus prediction with one example of each.</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Seven of ten answers are correct and supported. Calculate accuracy and name a missing check.</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Ten-case answer table with one error analysis.</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polished reply is a draft; trace its claim back to P1.</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01    •    40 / 40</a:t>
            </a:r>
          </a:p>
        </p:txBody>
      </p:sp>
      <p:pic>
        <p:nvPicPr>
          <p:cNvPr id="9" name="Picture 8" descr="s03-9dfa6c4b744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