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OPEN. Show the visual for ten seconds, then ask for an initial decision. Do not reveal the answer yet. Ask a student to name the source or measurement that would change their mind. This week’s case is: A fresh student question and a previously unseen failure are presented. The visible slide states: The fresh policy question</a:t>
            </a:r>
          </a:p>
          <a:p/>
          <a:p>
            <a:r>
              <a:t>A student appeals on day 12. P4 says appeals must be filed within ten days. The team must answer, cite, test and explain a fresh failure. Reveal that the case will be revisited after four short concept cycles.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fresh student question and a previously unseen failure are presented. The visible slide states: A student appeals on day 12. P4 says appeals must be filed within ten days. The team must answer, cite, test and explain a fresh failure.</a:t>
            </a:r>
          </a:p>
          <a:p/>
          <a:p>
            <a:r>
              <a:t>Choose an initial answer and name one piece of evidence you need. Accept reasonable uncertainty; record the initial votes to revisit at the end.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OPEN. Show the visual for ten seconds, then ask for an initial decision. Do not reveal the answer yet. Ask a student to name the source or measurement that would change their mind. This week’s case is: A fresh student question and a previously unseen failure are presented. The visible slide states: We will predict, connect an analogy, trace a mechanism, work an example, then explain a decision. Point to the four named ideas, then show where the notebook experiment fits.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fresh student question and a previously unseen failure are presented. The visible slide states: Which three checks precede a confident reply?</a:t>
            </a:r>
          </a:p>
          <a:p/>
          <a:p>
            <a:r>
              <a:t>Make a choice before we explain the diagram. The intended answer is Allowed source, relevant passage and supported claim. The tempting claim is An answer is valid because it includes [P4]. Do not show which card is correct until the reveal.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fresh student question and a previously unseen failure are presented. The visible slide states: A museum guide checks which rooms a visitor may enter before quoting a label.</a:t>
            </a:r>
          </a:p>
          <a:p/>
          <a:p>
            <a:r>
              <a:t>What matches our case, and where does the analogy stop? The boundary is: A citation needs to support the exact statement and the version in force.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fresh student question and a previously unseen failure are presented. The visible slide states: Match each everyday part to the technical part.</a:t>
            </a:r>
          </a:p>
          <a:p/>
          <a:p>
            <a:r>
              <a:t>Analogy limit: A citation needs to support the exact statement and the version in force. The three precise mappings are [['Visitor role', 'access check'], ['Exhibit label', 'retrieved P4'], ['Guided answer', 'cited response']].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fresh student question and a previously unseen failure are presented. The visible slide states: The student question enters retrieval, access checks, answer construction and evaluation.</a:t>
            </a:r>
          </a:p>
          <a:p/>
          <a:p>
            <a:r>
              <a:t>Trace the arrows from left to right. The weekly example is: For day 12 under the supplied ten-day P4, answer no and cite P4 with the used version. State what the analogy does not explain: A citation needs to support the exact statement and the version in force.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fresh student question and a previously unseen failure are presented. The visible slide states: For day 12 under the supplied ten-day P4, answer no and cite P4 with the used version.</a:t>
            </a:r>
          </a:p>
          <a:p/>
          <a:p>
            <a:r>
              <a:t>Point to the evidence before giving your conclusion. The expected reasoning concludes: Allowed source, relevant passage and supported claim. Distinguish measured results from illustrative numbers.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fresh student question and a previously unseen failure are presented. The visible slide states: Allowed source, relevant passage and supported claim.</a:t>
            </a:r>
          </a:p>
          <a:p/>
          <a:p>
            <a:r>
              <a:t>Tempting mistake: An answer is valid because it includes [P4]. The earlier question was Which three checks precede a confident reply? Ask how this differs from the wrong claim.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fresh student question and a previously unseen failure are presented. The visible slide states: What proves the work is yours and reproducible?</a:t>
            </a:r>
          </a:p>
          <a:p/>
          <a:p>
            <a:r>
              <a:t>Make a choice before we explain the diagram. The intended answer is The changed code, settings, inputs and explanation. The tempting claim is A polished demonstration alone proves understanding. Do not show which card is correct until the reveal.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fresh student question and a previously unseen failure are presented. The visible slide states: A science notebook shows a changed setting, observation and explanation.</a:t>
            </a:r>
          </a:p>
          <a:p/>
          <a:p>
            <a:r>
              <a:t>What matches our case, and where does the analogy stop? The boundary is: A before/after result in one toy case cannot establish general reliability.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fresh student question and a previously unseen failure are presented. The visible slide states: Match each everyday part to the technical part.</a:t>
            </a:r>
          </a:p>
          <a:p/>
          <a:p>
            <a:r>
              <a:t>Analogy limit: A before/after result in one toy case cannot establish general reliability. The three precise mappings are [['Setting change', 'your code change'], ['Measurement', 'experiment table'], ['Reason', 'individual explanation']].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fresh student question and a previously unseen failure are presented. The visible slide states: Each learner shows the part they changed and explains the choice.</a:t>
            </a:r>
          </a:p>
          <a:p/>
          <a:p>
            <a:r>
              <a:t>Trace the arrows from left to right. The weekly example is: Show baseline, chosen setting, case counts and one error that still remains. State what the analogy does not explain: A before/after result in one toy case cannot establish general reliability.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fresh student question and a previously unseen failure are presented. The visible slide states: Show baseline, chosen setting, case counts and one error that still remains.</a:t>
            </a:r>
          </a:p>
          <a:p/>
          <a:p>
            <a:r>
              <a:t>Point to the evidence before giving your conclusion. The expected reasoning concludes: The changed code, settings, inputs and explanation. Distinguish measured results from illustrative numbers.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fresh student question and a previously unseen failure are presented. The visible slide states: The changed code, settings, inputs and explanation.</a:t>
            </a:r>
          </a:p>
          <a:p/>
          <a:p>
            <a:r>
              <a:t>Tempting mistake: A polished demonstration alone proves understanding. The earlier question was What proves the work is yours and reproducible? Ask how this differs from the wrong claim.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fresh student question and a previously unseen failure are presented. The visible slide states: Which layer deserves the first test here?</a:t>
            </a:r>
          </a:p>
          <a:p/>
          <a:p>
            <a:r>
              <a:t>Make a choice before we explain the diagram. The intended answer is Answer support using the retrieved P4 passage. The tempting claim is Every wrong answer is a retrieval failure. Do not show which card is correct until the reveal.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fresh student question and a previously unseen failure are presented. The visible slide states: A mechanic diagnoses a new symptom by testing the failing part.</a:t>
            </a:r>
          </a:p>
          <a:p/>
          <a:p>
            <a:r>
              <a:t>What matches our case, and where does the analogy stop? The boundary is: Some failures cross layers; record uncertainty and test competing causes.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fresh student question and a previously unseen failure are presented. The visible slide states: Match each everyday part to the technical part.</a:t>
            </a:r>
          </a:p>
          <a:p/>
          <a:p>
            <a:r>
              <a:t>Analogy limit: Some failures cross layers; record uncertainty and test competing causes. The three precise mappings are [['Symptom', 'new failure'], ['Component', 'likely layer'], ['Check', 'targeted test']].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fresh student question and a previously unseen failure are presented. The visible slide states: A new example of a practised failure tests understanding rather than memorization.</a:t>
            </a:r>
          </a:p>
          <a:p/>
          <a:p>
            <a:r>
              <a:t>Trace the arrows from left to right. The weekly example is: If P4 is retrieved but the answer says 12 days is allowed, test claim support before changing search. State what the analogy does not explain: Some failures cross layers; record uncertainty and test competing causes.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fresh student question and a previously unseen failure are presented. The visible slide states: If P4 is retrieved but the answer says 12 days is allowed, test claim support before changing search.</a:t>
            </a:r>
          </a:p>
          <a:p/>
          <a:p>
            <a:r>
              <a:t>Point to the evidence before giving your conclusion. The expected reasoning concludes: Answer support using the retrieved P4 passage. Distinguish measured results from illustrative numbers.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fresh student question and a previously unseen failure are presented. The visible slide states: Answer support using the retrieved P4 passage.</a:t>
            </a:r>
          </a:p>
          <a:p/>
          <a:p>
            <a:r>
              <a:t>Tempting mistake: Every wrong answer is a retrieval failure. The earlier question was Which layer deserves the first test here? Ask how this differs from the wrong claim.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fresh student question and a previously unseen failure are presented. The visible slide states: What can the next maintainer reproduce?</a:t>
            </a:r>
          </a:p>
          <a:p/>
          <a:p>
            <a:r>
              <a:t>Make a choice before we explain the diagram. The intended answer is The setup, evaluation and known-failure checks from the handover. The tempting claim is The notebook is self-explanatory without instructions. Do not show which card is correct until the reveal.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fresh student question and a previously unseen failure are presented. The visible slide states: A relief teacher can run a lesson from a clear folder and known limits.</a:t>
            </a:r>
          </a:p>
          <a:p/>
          <a:p>
            <a:r>
              <a:t>What matches our case, and where does the analogy stop? The boundary is: Documentation can go stale; date versions and rerun the checks.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fresh student question and a previously unseen failure are presented. The visible slide states: Match each everyday part to the technical part.</a:t>
            </a:r>
          </a:p>
          <a:p/>
          <a:p>
            <a:r>
              <a:t>Analogy limit: Documentation can go stale; date versions and rerun the checks. The three precise mappings are [['Folder', 'setup guide'], ['Known gaps', 'limitations'], ['Trial run', 'repeatable handover']].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fresh student question and a previously unseen failure are presented. The visible slide states: Another person can run, test and review the solution from written instructions.</a:t>
            </a:r>
          </a:p>
          <a:p/>
          <a:p>
            <a:r>
              <a:t>Trace the arrows from left to right. The weekly example is: Give installation steps, source versions, test commands, role rules and rollback instructions. State what the analogy does not explain: Documentation can go stale; date versions and rerun the checks.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fresh student question and a previously unseen failure are presented. The visible slide states: Give installation steps, source versions, test commands, role rules and rollback instructions.</a:t>
            </a:r>
          </a:p>
          <a:p/>
          <a:p>
            <a:r>
              <a:t>Point to the evidence before giving your conclusion. The expected reasoning concludes: The setup, evaluation and known-failure checks from the handover. Distinguish measured results from illustrative numbers.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fresh student question and a previously unseen failure are presented. The visible slide states: The setup, evaluation and known-failure checks from the handover.</a:t>
            </a:r>
          </a:p>
          <a:p/>
          <a:p>
            <a:r>
              <a:t>Tempting mistake: The notebook is self-explanatory without instructions. The earlier question was What can the next maintainer reproduce? Ask how this differs from the wrong claim.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fresh student question and a previously unseen failure are presented. The visible slide states: Q: May I appeal on day 12?</a:t>
            </a:r>
          </a:p>
          <a:p/>
          <a:p>
            <a:r>
              <a:t>A: No; the ten-day window has passed [P4], subject to the policy version used. Have one student point to an exact source word or number for each conclusion.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fresh student question and a previously unseen failure are presented. The visible slide states: Present a self-contained end-to-end policy assistant.</a:t>
            </a:r>
          </a:p>
          <a:p/>
          <a:p>
            <a:r>
              <a:t>Read the original output before editing. Use Week_12_Lab.ipynb. This lab is a prepared classroom demonstration with its limitations documented.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fresh student question and a previously unseen failure are presented. The visible slide states: Locate the supplied input, the transformation, the checking line and the printed result. The weekly lab change is: Use a new policy version and explain which index and tests must change.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fresh student question and a previously unseen failure are presented. The visible slide states: Use a new policy version and explain which index and tests must change.</a:t>
            </a:r>
          </a:p>
          <a:p/>
          <a:p>
            <a:r>
              <a:t>What should change in the result? What stays fixed? Ask learners to write their prediction before rerunning the cell.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fresh student question and a previously unseen failure are presented. The visible slide states: Record the input, the one changed setting, the observed result and a reason for any difference. The required evidence is: Demo, test table, known limits and individual explanation.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fresh student question and a previously unseen failure are presented. The visible slide states: Task success, citation support, no-answer accuracy and access gate</a:t>
            </a:r>
          </a:p>
          <a:p/>
          <a:p>
            <a:r>
              <a:t>Write the numerator, denominator and one failure case. Where a measure is qualitative, show the concrete source comparison. Example: A: No; the ten-day window has passed [P4], subject to the policy version used.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fresh student question and a previously unseen failure are presented. The visible slide states: Plausible wrong claim: A polished demonstration without tests establishes that the system is ready.</a:t>
            </a:r>
          </a:p>
          <a:p/>
          <a:p>
            <a:r>
              <a:t>Correct it using the case evidence. The correction is Show the test cases, negative cases, access result and remaining limitations.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fresh student question and a previously unseen failure are presented. The visible slide states: A new policy edition changes the appeal window. What records, index and tests need updating?</a:t>
            </a:r>
          </a:p>
          <a:p/>
          <a:p>
            <a:r>
              <a:t>Explain which source or test would settle it. This is a fresh scenario, so ask for a reason before accepting either short answer.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fresh student question and a previously unseen failure are presented. The visible slide states: Without reading the slide, name the input, one processing step and the check. Your partner should ask “How do you know?” Listen for a causal explanation and one limitation, then revisit a difficult arrow on the board.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fresh student question and a previously unseen failure are presented. The visible slide states: What makes a fair baseline comparison?</a:t>
            </a:r>
          </a:p>
          <a:p/>
          <a:p>
            <a:r>
              <a:t>Write a short answer, then compare with the guide. Model answer after discussion: Same task, matched cases, source version and scoring rubric, with changes and variability recorded. Practice marks: 4.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fresh student question and a previously unseen failure are presented. The visible slide states: Name the four demonstration cases.</a:t>
            </a:r>
          </a:p>
          <a:p/>
          <a:p>
            <a:r>
              <a:t>Write a short answer, then compare with the guide. Model answer after discussion: Answerable, unsupported, access denied, and failure recovery. Practice marks: 4.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fresh student question and a previously unseen failure are presented. The visible slide states: Demo, test table, known limits and individual explanation.</a:t>
            </a:r>
          </a:p>
          <a:p/>
          <a:p>
            <a:r>
              <a:t>Include the one changed input and an error explanation. This weekly evidence receives formative feedback according to the module sequence; refer to the assessment brief for graded work.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fresh student question and a previously unseen failure are presented. The visible slide states: Show the question-to-evidence path, your measured change and a repeatable handover.</a:t>
            </a:r>
          </a:p>
          <a:p/>
          <a:p>
            <a:r>
              <a:t>Read the linked official sources in the Word guide and redraw one diagram from memory. Return to the opening vote and ask whether the evidence changed anyone’s mind. The next week builds on this outcome: Demonstrate the policy assistant and explain its limits with evidence.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Week 12 · Final demonstration and explanation</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OPEN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fresh policy question</a:t>
            </a:r>
          </a:p>
          <a:p>
            <a:pPr>
              <a:defRPr sz="1800" b="0">
                <a:solidFill>
                  <a:srgbClr val="182B40"/>
                </a:solidFill>
                <a:latin typeface="Aptos"/>
              </a:defRPr>
            </a:pPr>
          </a:p>
          <a:p>
            <a:pPr>
              <a:defRPr sz="1800" b="0">
                <a:solidFill>
                  <a:srgbClr val="182B40"/>
                </a:solidFill>
                <a:latin typeface="Aptos"/>
              </a:defRPr>
            </a:pPr>
            <a:r>
              <a:t>A student appeals on day 12. P4 says appeals must be filed within ten days. The team must answer, cite, test and explain a fresh failure.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01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864608" y="1874519"/>
            <a:ext cx="1170432" cy="1463040"/>
          </a:xfrm>
          <a:prstGeom prst="roundRect">
            <a:avLst/>
          </a:prstGeom>
          <a:solidFill>
            <a:srgbClr val="EBF5FB"/>
          </a:solidFill>
          <a:ln>
            <a:solidFill>
              <a:srgbClr val="EBF5F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182B40"/>
                </a:solidFill>
                <a:latin typeface="Aptos"/>
              </a:defRPr>
            </a:pPr>
            <a:r>
              <a:t>P1 Travel</a:t>
            </a:r>
          </a:p>
        </p:txBody>
      </p:sp>
      <p:sp>
        <p:nvSpPr>
          <p:cNvPr id="11" name="Rounded Rectangle 10"/>
          <p:cNvSpPr/>
          <p:nvPr/>
        </p:nvSpPr>
        <p:spPr>
          <a:xfrm>
            <a:off x="6190488" y="1874519"/>
            <a:ext cx="1170432" cy="1463040"/>
          </a:xfrm>
          <a:prstGeom prst="roundRect">
            <a:avLst/>
          </a:prstGeom>
          <a:solidFill>
            <a:srgbClr val="EBF5FB"/>
          </a:solidFill>
          <a:ln>
            <a:solidFill>
              <a:srgbClr val="EBF5F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182B40"/>
                </a:solidFill>
                <a:latin typeface="Aptos"/>
              </a:defRPr>
            </a:pPr>
            <a:r>
              <a:t>P2 Library</a:t>
            </a:r>
          </a:p>
        </p:txBody>
      </p:sp>
      <p:sp>
        <p:nvSpPr>
          <p:cNvPr id="12" name="Rounded Rectangle 11"/>
          <p:cNvSpPr/>
          <p:nvPr/>
        </p:nvSpPr>
        <p:spPr>
          <a:xfrm>
            <a:off x="7516368" y="1874519"/>
            <a:ext cx="1170432" cy="1463040"/>
          </a:xfrm>
          <a:prstGeom prst="roundRect">
            <a:avLst/>
          </a:prstGeom>
          <a:solidFill>
            <a:srgbClr val="EBF5FB"/>
          </a:solidFill>
          <a:ln>
            <a:solidFill>
              <a:srgbClr val="EBF5F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182B40"/>
                </a:solidFill>
                <a:latin typeface="Aptos"/>
              </a:defRPr>
            </a:pPr>
            <a:r>
              <a:t>P3 Deadline</a:t>
            </a:r>
          </a:p>
        </p:txBody>
      </p:sp>
      <p:sp>
        <p:nvSpPr>
          <p:cNvPr id="13" name="Rounded Rectangle 12"/>
          <p:cNvSpPr/>
          <p:nvPr/>
        </p:nvSpPr>
        <p:spPr>
          <a:xfrm>
            <a:off x="8842248" y="1874519"/>
            <a:ext cx="1170432" cy="1463040"/>
          </a:xfrm>
          <a:prstGeom prst="roundRect">
            <a:avLst/>
          </a:prstGeom>
          <a:solidFill>
            <a:srgbClr val="EBF5FB"/>
          </a:solidFill>
          <a:ln>
            <a:solidFill>
              <a:srgbClr val="EBF5F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182B40"/>
                </a:solidFill>
                <a:latin typeface="Aptos"/>
              </a:defRPr>
            </a:pPr>
            <a:r>
              <a:t>P4 Appeal</a:t>
            </a:r>
          </a:p>
        </p:txBody>
      </p:sp>
      <p:sp>
        <p:nvSpPr>
          <p:cNvPr id="14" name="Rounded Rectangle 13"/>
          <p:cNvSpPr/>
          <p:nvPr/>
        </p:nvSpPr>
        <p:spPr>
          <a:xfrm>
            <a:off x="10168128" y="1874519"/>
            <a:ext cx="1170432" cy="1463040"/>
          </a:xfrm>
          <a:prstGeom prst="roundRect">
            <a:avLst/>
          </a:prstGeom>
          <a:solidFill>
            <a:srgbClr val="FBEEEB"/>
          </a:solidFill>
          <a:ln>
            <a:solidFill>
              <a:srgbClr val="FBEE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182B40"/>
                </a:solidFill>
                <a:latin typeface="Aptos"/>
              </a:defRPr>
            </a:pPr>
            <a:r>
              <a:t>P5 Staff</a:t>
            </a:r>
          </a:p>
        </p:txBody>
      </p:sp>
      <p:sp>
        <p:nvSpPr>
          <p:cNvPr id="15" name="TextBox 14"/>
          <p:cNvSpPr txBox="1"/>
          <p:nvPr/>
        </p:nvSpPr>
        <p:spPr>
          <a:xfrm>
            <a:off x="4892040" y="3840480"/>
            <a:ext cx="6400800" cy="502920"/>
          </a:xfrm>
          <a:prstGeom prst="rect">
            <a:avLst/>
          </a:prstGeom>
          <a:noFill/>
        </p:spPr>
        <p:txBody>
          <a:bodyPr wrap="square" lIns="0" rIns="0">
            <a:spAutoFit/>
          </a:bodyPr>
          <a:lstStyle/>
          <a:p>
            <a:pPr>
              <a:defRPr sz="1700" b="1">
                <a:solidFill>
                  <a:srgbClr val="117E6E"/>
                </a:solidFill>
                <a:latin typeface="Aptos"/>
              </a:defRPr>
            </a:pPr>
            <a:r>
              <a:t>Retrieve only the policy allowed for this user</a:t>
            </a:r>
          </a:p>
        </p:txBody>
      </p:sp>
      <p:sp>
        <p:nvSpPr>
          <p:cNvPr id="16" name="Rounded Rectangle 15"/>
          <p:cNvSpPr/>
          <p:nvPr/>
        </p:nvSpPr>
        <p:spPr>
          <a:xfrm>
            <a:off x="4800600" y="4681728"/>
            <a:ext cx="2081784" cy="1115568"/>
          </a:xfrm>
          <a:prstGeom prst="roundRect">
            <a:avLst/>
          </a:prstGeom>
          <a:solidFill>
            <a:srgbClr val="EBF5FB"/>
          </a:solidFill>
          <a:ln>
            <a:solidFill>
              <a:srgbClr val="EBF5F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82B40"/>
                </a:solidFill>
                <a:latin typeface="Aptos"/>
              </a:defRPr>
            </a:pPr>
            <a:r>
              <a:t>Question</a:t>
            </a:r>
          </a:p>
        </p:txBody>
      </p:sp>
      <p:sp>
        <p:nvSpPr>
          <p:cNvPr id="17" name="Rounded Rectangle 16"/>
          <p:cNvSpPr/>
          <p:nvPr/>
        </p:nvSpPr>
        <p:spPr>
          <a:xfrm>
            <a:off x="7074408" y="4681728"/>
            <a:ext cx="2081784" cy="1115568"/>
          </a:xfrm>
          <a:prstGeom prst="roundRect">
            <a:avLst/>
          </a:prstGeom>
          <a:solidFill>
            <a:srgbClr val="EFF7F3"/>
          </a:solidFill>
          <a:ln>
            <a:solidFill>
              <a:srgbClr val="EFF7F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82B40"/>
                </a:solidFill>
                <a:latin typeface="Aptos"/>
              </a:defRPr>
            </a:pPr>
            <a:r>
              <a:t>Allowed policy</a:t>
            </a:r>
          </a:p>
        </p:txBody>
      </p:sp>
      <p:cxnSp>
        <p:nvCxnSpPr>
          <p:cNvPr id="18" name="Connector 17"/>
          <p:cNvCxnSpPr/>
          <p:nvPr/>
        </p:nvCxnSpPr>
        <p:spPr>
          <a:xfrm>
            <a:off x="6900671" y="5239512"/>
            <a:ext cx="141733"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9" name="Chevron 18"/>
          <p:cNvSpPr/>
          <p:nvPr/>
        </p:nvSpPr>
        <p:spPr>
          <a:xfrm>
            <a:off x="6960108" y="5170932"/>
            <a:ext cx="155448" cy="137160"/>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348216" y="4681728"/>
            <a:ext cx="2081784" cy="1115568"/>
          </a:xfrm>
          <a:prstGeom prst="roundRect">
            <a:avLst/>
          </a:prstGeom>
          <a:solidFill>
            <a:srgbClr val="EBF5FB"/>
          </a:solidFill>
          <a:ln>
            <a:solidFill>
              <a:srgbClr val="EBF5F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82B40"/>
                </a:solidFill>
                <a:latin typeface="Aptos"/>
              </a:defRPr>
            </a:pPr>
            <a:r>
              <a:t>Cited answer</a:t>
            </a:r>
          </a:p>
        </p:txBody>
      </p:sp>
      <p:cxnSp>
        <p:nvCxnSpPr>
          <p:cNvPr id="21" name="Connector 20"/>
          <p:cNvCxnSpPr/>
          <p:nvPr/>
        </p:nvCxnSpPr>
        <p:spPr>
          <a:xfrm>
            <a:off x="9174479" y="5239512"/>
            <a:ext cx="141733"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2" name="Chevron 21"/>
          <p:cNvSpPr/>
          <p:nvPr/>
        </p:nvSpPr>
        <p:spPr>
          <a:xfrm>
            <a:off x="9233916" y="5170932"/>
            <a:ext cx="155448" cy="137160"/>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First vote: what would you do?</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student appeals on day 12. P4 says appeals must be filed within ten days. The team must answer, cite, test and explain a fresh failure.</a:t>
            </a:r>
          </a:p>
          <a:p>
            <a:pPr>
              <a:defRPr sz="1800" b="0">
                <a:solidFill>
                  <a:srgbClr val="182B40"/>
                </a:solidFill>
                <a:latin typeface="Aptos"/>
              </a:defRPr>
            </a:pPr>
          </a:p>
          <a:p>
            <a:pPr>
              <a:defRPr sz="1800" b="0">
                <a:solidFill>
                  <a:srgbClr val="182B40"/>
                </a:solidFill>
                <a:latin typeface="Aptos"/>
              </a:defRPr>
            </a:pPr>
            <a:r>
              <a:t>Choose an initial answer and name one piece of evidence you need.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02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Accept the first plausible result</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Check the source or measurement</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The journey through today’s case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OPEN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We will predict, connect an analogy, trace a mechanism, work an example, then explain a decision.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03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Integrated system</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Attribution</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Fresh challenge</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Handover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1. Predict · Integrated system</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Which three checks precede a confident reply?</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04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Allowed source, relevant passage and supported claim.</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An answer is valid because it includes [P4].</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Integrated system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museum guide checks which rooms a visitor may enter before quoting a label.</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05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91056"/>
            <a:ext cx="5943600" cy="749808"/>
          </a:xfrm>
          <a:prstGeom prst="rect">
            <a:avLst/>
          </a:prstGeom>
          <a:noFill/>
        </p:spPr>
        <p:txBody>
          <a:bodyPr wrap="square" lIns="22860" rIns="22860" tIns="9144">
            <a:spAutoFit/>
          </a:bodyPr>
          <a:lstStyle/>
          <a:p>
            <a:pPr>
              <a:defRPr sz="1800" b="1">
                <a:solidFill>
                  <a:srgbClr val="255E9C"/>
                </a:solidFill>
                <a:latin typeface="Aptos"/>
              </a:defRPr>
            </a:pPr>
            <a:r>
              <a:t>A museum guide checks which rooms a visitor may enter before quoting a label.</a:t>
            </a:r>
          </a:p>
        </p:txBody>
      </p:sp>
      <p:sp>
        <p:nvSpPr>
          <p:cNvPr id="11" name="Rounded Rectangle 10"/>
          <p:cNvSpPr/>
          <p:nvPr/>
        </p:nvSpPr>
        <p:spPr>
          <a:xfrm>
            <a:off x="5532120" y="2542032"/>
            <a:ext cx="768096" cy="768096"/>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733288" y="2907792"/>
            <a:ext cx="365760" cy="23774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Arc 12"/>
          <p:cNvSpPr/>
          <p:nvPr/>
        </p:nvSpPr>
        <p:spPr>
          <a:xfrm>
            <a:off x="5760720" y="2670048"/>
            <a:ext cx="310896" cy="329184"/>
          </a:xfrm>
          <a:prstGeom prst="arc">
            <a:avLst/>
          </a:prstGeom>
          <a:noFill/>
          <a:ln w="381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001768" y="3456432"/>
            <a:ext cx="1874519" cy="10607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38928"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Visitor role</a:t>
            </a:r>
          </a:p>
        </p:txBody>
      </p:sp>
      <p:cxnSp>
        <p:nvCxnSpPr>
          <p:cNvPr id="16" name="Connector 15"/>
          <p:cNvCxnSpPr/>
          <p:nvPr/>
        </p:nvCxnSpPr>
        <p:spPr>
          <a:xfrm>
            <a:off x="6903720" y="3977639"/>
            <a:ext cx="21031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7" name="Chevron 16"/>
          <p:cNvSpPr/>
          <p:nvPr/>
        </p:nvSpPr>
        <p:spPr>
          <a:xfrm>
            <a:off x="7031736"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671815" y="2542032"/>
            <a:ext cx="768096" cy="768096"/>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872983" y="2697480"/>
            <a:ext cx="36576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27847" y="2779776"/>
            <a:ext cx="256032" cy="22860"/>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27847" y="2880360"/>
            <a:ext cx="256032" cy="22860"/>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927847" y="2980944"/>
            <a:ext cx="256032" cy="22860"/>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141464" y="3456432"/>
            <a:ext cx="1874519" cy="10607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78624"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Exhibit label</a:t>
            </a:r>
          </a:p>
        </p:txBody>
      </p:sp>
      <p:cxnSp>
        <p:nvCxnSpPr>
          <p:cNvPr id="25" name="Connector 24"/>
          <p:cNvCxnSpPr/>
          <p:nvPr/>
        </p:nvCxnSpPr>
        <p:spPr>
          <a:xfrm>
            <a:off x="9043416" y="3977639"/>
            <a:ext cx="210312"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9171432"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811511" y="2542032"/>
            <a:ext cx="768096" cy="768096"/>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948672" y="2743200"/>
            <a:ext cx="493776"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0040111" y="2907792"/>
            <a:ext cx="41148" cy="41148"/>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10158984" y="2907792"/>
            <a:ext cx="41148" cy="41148"/>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0277855" y="2907792"/>
            <a:ext cx="41148" cy="41148"/>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281159" y="3456432"/>
            <a:ext cx="1874519" cy="1060704"/>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418319"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Guided answer</a:t>
            </a:r>
          </a:p>
        </p:txBody>
      </p:sp>
      <p:sp>
        <p:nvSpPr>
          <p:cNvPr id="34" name="TextBox 33"/>
          <p:cNvSpPr txBox="1"/>
          <p:nvPr/>
        </p:nvSpPr>
        <p:spPr>
          <a:xfrm>
            <a:off x="5074920" y="4983480"/>
            <a:ext cx="6126480" cy="429768"/>
          </a:xfrm>
          <a:prstGeom prst="rect">
            <a:avLst/>
          </a:prstGeom>
          <a:noFill/>
        </p:spPr>
        <p:txBody>
          <a:bodyPr wrap="square" lIns="22860" rIns="22860" tIns="9144">
            <a:spAutoFit/>
          </a:bodyPr>
          <a:lstStyle/>
          <a:p>
            <a:pPr>
              <a:defRPr sz="1600" b="1">
                <a:solidFill>
                  <a:srgbClr val="117E6E"/>
                </a:solidFill>
                <a:latin typeface="Aptos"/>
              </a:defRPr>
            </a:pPr>
            <a:r>
              <a:t>What matches the technical process?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Integrated system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A citation needs to support the exact statement and the version in force.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06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FAMILIAR SCENE                  TECHNICAL IDEA</a:t>
            </a:r>
          </a:p>
        </p:txBody>
      </p:sp>
      <p:sp>
        <p:nvSpPr>
          <p:cNvPr id="11" name="Rounded Rectangle 10"/>
          <p:cNvSpPr/>
          <p:nvPr/>
        </p:nvSpPr>
        <p:spPr>
          <a:xfrm>
            <a:off x="5029200" y="208483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6360" y="219456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Visitor role</a:t>
            </a:r>
          </a:p>
        </p:txBody>
      </p:sp>
      <p:cxnSp>
        <p:nvCxnSpPr>
          <p:cNvPr id="13" name="Connector 12"/>
          <p:cNvCxnSpPr/>
          <p:nvPr/>
        </p:nvCxnSpPr>
        <p:spPr>
          <a:xfrm>
            <a:off x="7699248" y="246887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872983" y="240487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1583" y="208483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8744" y="219456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access check</a:t>
            </a:r>
          </a:p>
        </p:txBody>
      </p:sp>
      <p:sp>
        <p:nvSpPr>
          <p:cNvPr id="17" name="Rounded Rectangle 16"/>
          <p:cNvSpPr/>
          <p:nvPr/>
        </p:nvSpPr>
        <p:spPr>
          <a:xfrm>
            <a:off x="5029200" y="313639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66360" y="324612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Exhibit label</a:t>
            </a:r>
          </a:p>
        </p:txBody>
      </p:sp>
      <p:cxnSp>
        <p:nvCxnSpPr>
          <p:cNvPr id="19" name="Connector 18"/>
          <p:cNvCxnSpPr/>
          <p:nvPr/>
        </p:nvCxnSpPr>
        <p:spPr>
          <a:xfrm>
            <a:off x="7699248" y="352043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0" name="Chevron 19"/>
          <p:cNvSpPr/>
          <p:nvPr/>
        </p:nvSpPr>
        <p:spPr>
          <a:xfrm>
            <a:off x="7872983" y="345643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101583" y="313639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324612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retrieved P4</a:t>
            </a:r>
          </a:p>
        </p:txBody>
      </p:sp>
      <p:sp>
        <p:nvSpPr>
          <p:cNvPr id="23" name="Rounded Rectangle 22"/>
          <p:cNvSpPr/>
          <p:nvPr/>
        </p:nvSpPr>
        <p:spPr>
          <a:xfrm>
            <a:off x="5029200" y="4187952"/>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66360" y="429768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Guided answer</a:t>
            </a:r>
          </a:p>
        </p:txBody>
      </p:sp>
      <p:cxnSp>
        <p:nvCxnSpPr>
          <p:cNvPr id="25" name="Connector 24"/>
          <p:cNvCxnSpPr/>
          <p:nvPr/>
        </p:nvCxnSpPr>
        <p:spPr>
          <a:xfrm>
            <a:off x="7699248" y="4572000"/>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7872983" y="450799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101583" y="4187952"/>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38744" y="429768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cited response</a:t>
            </a:r>
          </a:p>
        </p:txBody>
      </p:sp>
      <p:sp>
        <p:nvSpPr>
          <p:cNvPr id="29" name="TextBox 28"/>
          <p:cNvSpPr txBox="1"/>
          <p:nvPr/>
        </p:nvSpPr>
        <p:spPr>
          <a:xfrm>
            <a:off x="5120640" y="5385816"/>
            <a:ext cx="5943600" cy="411480"/>
          </a:xfrm>
          <a:prstGeom prst="rect">
            <a:avLst/>
          </a:prstGeom>
          <a:noFill/>
        </p:spPr>
        <p:txBody>
          <a:bodyPr wrap="square" lIns="22860" rIns="22860" tIns="9144">
            <a:spAutoFit/>
          </a:bodyPr>
          <a:lstStyle/>
          <a:p>
            <a:pPr>
              <a:defRPr sz="1500" b="1">
                <a:solidFill>
                  <a:srgbClr val="C7682C"/>
                </a:solidFill>
                <a:latin typeface="Aptos"/>
              </a:defRPr>
            </a:pPr>
            <a:r>
              <a:t>The analogy has a limit. Read it on the left.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Integrated system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student question enters retrieval, access checks, answer construction and evaluation.</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07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Student question</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Retrieve allowed policy</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Check cited answer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Integrated system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For day 12 under the supplied ten-day P4, answer no and cite P4 with the used version.</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08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2352" y="1719072"/>
            <a:ext cx="5760720" cy="283464"/>
          </a:xfrm>
          <a:prstGeom prst="rect">
            <a:avLst/>
          </a:prstGeom>
          <a:noFill/>
        </p:spPr>
        <p:txBody>
          <a:bodyPr wrap="square" lIns="22860" rIns="22860" tIns="9144">
            <a:spAutoFit/>
          </a:bodyPr>
          <a:lstStyle/>
          <a:p>
            <a:pPr>
              <a:defRPr sz="1300" b="1">
                <a:solidFill>
                  <a:srgbClr val="255E9C"/>
                </a:solidFill>
                <a:latin typeface="Aptos"/>
              </a:defRPr>
            </a:pPr>
            <a:r>
              <a:t>GIVEN</a:t>
            </a:r>
          </a:p>
        </p:txBody>
      </p:sp>
      <p:sp>
        <p:nvSpPr>
          <p:cNvPr id="11" name="Rounded Rectangle 10"/>
          <p:cNvSpPr/>
          <p:nvPr/>
        </p:nvSpPr>
        <p:spPr>
          <a:xfrm>
            <a:off x="5065776" y="2048255"/>
            <a:ext cx="6035040" cy="950976"/>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2157984"/>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For day 12 under the supplied ten-day P4, answer no and cite P4 with the used version.</a:t>
            </a:r>
          </a:p>
        </p:txBody>
      </p:sp>
      <p:sp>
        <p:nvSpPr>
          <p:cNvPr id="13" name="TextBox 12"/>
          <p:cNvSpPr txBox="1"/>
          <p:nvPr/>
        </p:nvSpPr>
        <p:spPr>
          <a:xfrm>
            <a:off x="5102352" y="3072384"/>
            <a:ext cx="5760720" cy="283464"/>
          </a:xfrm>
          <a:prstGeom prst="rect">
            <a:avLst/>
          </a:prstGeom>
          <a:noFill/>
        </p:spPr>
        <p:txBody>
          <a:bodyPr wrap="square" lIns="22860" rIns="22860" tIns="9144">
            <a:spAutoFit/>
          </a:bodyPr>
          <a:lstStyle/>
          <a:p>
            <a:pPr>
              <a:defRPr sz="1300" b="1">
                <a:solidFill>
                  <a:srgbClr val="C7682C"/>
                </a:solidFill>
                <a:latin typeface="Aptos"/>
              </a:defRPr>
            </a:pPr>
            <a:r>
              <a:t>QUESTION</a:t>
            </a:r>
          </a:p>
        </p:txBody>
      </p:sp>
      <p:sp>
        <p:nvSpPr>
          <p:cNvPr id="14" name="Rounded Rectangle 13"/>
          <p:cNvSpPr/>
          <p:nvPr/>
        </p:nvSpPr>
        <p:spPr>
          <a:xfrm>
            <a:off x="5065776" y="3401568"/>
            <a:ext cx="6035040" cy="950976"/>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2936" y="3511296"/>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Which three checks precede a confident reply?</a:t>
            </a:r>
          </a:p>
        </p:txBody>
      </p:sp>
      <p:sp>
        <p:nvSpPr>
          <p:cNvPr id="16" name="TextBox 15"/>
          <p:cNvSpPr txBox="1"/>
          <p:nvPr/>
        </p:nvSpPr>
        <p:spPr>
          <a:xfrm>
            <a:off x="5102352" y="4425696"/>
            <a:ext cx="5760720" cy="283464"/>
          </a:xfrm>
          <a:prstGeom prst="rect">
            <a:avLst/>
          </a:prstGeom>
          <a:noFill/>
        </p:spPr>
        <p:txBody>
          <a:bodyPr wrap="square" lIns="22860" rIns="22860" tIns="9144">
            <a:spAutoFit/>
          </a:bodyPr>
          <a:lstStyle/>
          <a:p>
            <a:pPr>
              <a:defRPr sz="1300" b="1">
                <a:solidFill>
                  <a:srgbClr val="117E6E"/>
                </a:solidFill>
                <a:latin typeface="Aptos"/>
              </a:defRPr>
            </a:pPr>
            <a:r>
              <a:t>SUPPORTED ANSWER</a:t>
            </a:r>
          </a:p>
        </p:txBody>
      </p:sp>
      <p:sp>
        <p:nvSpPr>
          <p:cNvPr id="17" name="Rounded Rectangle 16"/>
          <p:cNvSpPr/>
          <p:nvPr/>
        </p:nvSpPr>
        <p:spPr>
          <a:xfrm>
            <a:off x="5065776" y="4754880"/>
            <a:ext cx="6035040" cy="950976"/>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4864608"/>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Allowed source, relevant passage and supported claim.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Integrated system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Allowed source, relevant passage and supported claim.</a:t>
            </a:r>
          </a:p>
          <a:p>
            <a:pPr>
              <a:defRPr sz="1800" b="0">
                <a:solidFill>
                  <a:srgbClr val="182B40"/>
                </a:solidFill>
                <a:latin typeface="Aptos"/>
              </a:defRPr>
            </a:pPr>
          </a:p>
          <a:p>
            <a:pPr>
              <a:defRPr sz="1800" b="0">
                <a:solidFill>
                  <a:srgbClr val="182B40"/>
                </a:solidFill>
                <a:latin typeface="Aptos"/>
              </a:defRPr>
            </a:pPr>
            <a:r>
              <a:t>Tempting mistake: An answer is valid because it includes [P4].</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09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5852160" cy="365760"/>
          </a:xfrm>
          <a:prstGeom prst="rect">
            <a:avLst/>
          </a:prstGeom>
          <a:noFill/>
        </p:spPr>
        <p:txBody>
          <a:bodyPr wrap="square" lIns="22860" rIns="22860" tIns="9144">
            <a:spAutoFit/>
          </a:bodyPr>
          <a:lstStyle/>
          <a:p>
            <a:pPr>
              <a:defRPr sz="1500" b="1">
                <a:solidFill>
                  <a:srgbClr val="255E9C"/>
                </a:solidFill>
                <a:latin typeface="Aptos"/>
              </a:defRPr>
            </a:pPr>
            <a:r>
              <a:t>TEST THE CLAIM AGAINST THE EVIDENCE</a:t>
            </a:r>
          </a:p>
        </p:txBody>
      </p:sp>
      <p:sp>
        <p:nvSpPr>
          <p:cNvPr id="11" name="TextBox 10"/>
          <p:cNvSpPr txBox="1"/>
          <p:nvPr/>
        </p:nvSpPr>
        <p:spPr>
          <a:xfrm>
            <a:off x="5084064" y="2066543"/>
            <a:ext cx="5669280" cy="320040"/>
          </a:xfrm>
          <a:prstGeom prst="rect">
            <a:avLst/>
          </a:prstGeom>
          <a:noFill/>
        </p:spPr>
        <p:txBody>
          <a:bodyPr wrap="square" lIns="22860" rIns="22860" tIns="9144">
            <a:spAutoFit/>
          </a:bodyPr>
          <a:lstStyle/>
          <a:p>
            <a:pPr>
              <a:defRPr sz="1300" b="1">
                <a:solidFill>
                  <a:srgbClr val="B74945"/>
                </a:solidFill>
                <a:latin typeface="Aptos"/>
              </a:defRPr>
            </a:pPr>
            <a:r>
              <a:t>TEMPTING CLAIM</a:t>
            </a:r>
          </a:p>
        </p:txBody>
      </p:sp>
      <p:sp>
        <p:nvSpPr>
          <p:cNvPr id="12" name="Rounded Rectangle 11"/>
          <p:cNvSpPr/>
          <p:nvPr/>
        </p:nvSpPr>
        <p:spPr>
          <a:xfrm>
            <a:off x="5047488" y="2441448"/>
            <a:ext cx="6126480" cy="1014984"/>
          </a:xfrm>
          <a:prstGeom prst="roundRect">
            <a:avLst/>
          </a:prstGeom>
          <a:solidFill>
            <a:srgbClr val="FD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84648" y="2551176"/>
            <a:ext cx="5852160" cy="813816"/>
          </a:xfrm>
          <a:prstGeom prst="rect">
            <a:avLst/>
          </a:prstGeom>
          <a:noFill/>
        </p:spPr>
        <p:txBody>
          <a:bodyPr wrap="square" lIns="22860" rIns="22860" tIns="9144" anchor="ctr">
            <a:spAutoFit/>
          </a:bodyPr>
          <a:lstStyle/>
          <a:p>
            <a:pPr algn="ctr">
              <a:defRPr sz="1500" b="1">
                <a:solidFill>
                  <a:srgbClr val="182B40"/>
                </a:solidFill>
                <a:latin typeface="Aptos"/>
              </a:defRPr>
            </a:pPr>
            <a:r>
              <a:t>An answer is valid because it includes [P4].</a:t>
            </a:r>
          </a:p>
        </p:txBody>
      </p:sp>
      <p:sp>
        <p:nvSpPr>
          <p:cNvPr id="14" name="TextBox 13"/>
          <p:cNvSpPr txBox="1"/>
          <p:nvPr/>
        </p:nvSpPr>
        <p:spPr>
          <a:xfrm>
            <a:off x="5084064" y="3666744"/>
            <a:ext cx="5669280" cy="320040"/>
          </a:xfrm>
          <a:prstGeom prst="rect">
            <a:avLst/>
          </a:prstGeom>
          <a:noFill/>
        </p:spPr>
        <p:txBody>
          <a:bodyPr wrap="square" lIns="22860" rIns="22860" tIns="9144">
            <a:spAutoFit/>
          </a:bodyPr>
          <a:lstStyle/>
          <a:p>
            <a:pPr>
              <a:defRPr sz="1300" b="1">
                <a:solidFill>
                  <a:srgbClr val="117E6E"/>
                </a:solidFill>
                <a:latin typeface="Aptos"/>
              </a:defRPr>
            </a:pPr>
            <a:r>
              <a:t>SUPPORTED EXPLANATION</a:t>
            </a:r>
          </a:p>
        </p:txBody>
      </p:sp>
      <p:sp>
        <p:nvSpPr>
          <p:cNvPr id="15" name="Rounded Rectangle 14"/>
          <p:cNvSpPr/>
          <p:nvPr/>
        </p:nvSpPr>
        <p:spPr>
          <a:xfrm>
            <a:off x="5047488" y="4050791"/>
            <a:ext cx="6126480" cy="10058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4160520"/>
            <a:ext cx="5852160" cy="804672"/>
          </a:xfrm>
          <a:prstGeom prst="rect">
            <a:avLst/>
          </a:prstGeom>
          <a:noFill/>
        </p:spPr>
        <p:txBody>
          <a:bodyPr wrap="square" lIns="22860" rIns="22860" tIns="9144" anchor="ctr">
            <a:spAutoFit/>
          </a:bodyPr>
          <a:lstStyle/>
          <a:p>
            <a:pPr algn="ctr">
              <a:defRPr sz="1500" b="1">
                <a:solidFill>
                  <a:srgbClr val="182B40"/>
                </a:solidFill>
                <a:latin typeface="Aptos"/>
              </a:defRPr>
            </a:pPr>
            <a:r>
              <a:t>Allowed source, relevant passage and supported claim.</a:t>
            </a:r>
          </a:p>
        </p:txBody>
      </p:sp>
      <p:sp>
        <p:nvSpPr>
          <p:cNvPr id="17" name="TextBox 16"/>
          <p:cNvSpPr txBox="1"/>
          <p:nvPr/>
        </p:nvSpPr>
        <p:spPr>
          <a:xfrm>
            <a:off x="5120640" y="5321808"/>
            <a:ext cx="5897880" cy="566928"/>
          </a:xfrm>
          <a:prstGeom prst="rect">
            <a:avLst/>
          </a:prstGeom>
          <a:noFill/>
        </p:spPr>
        <p:txBody>
          <a:bodyPr wrap="square" lIns="22860" rIns="22860" tIns="9144">
            <a:spAutoFit/>
          </a:bodyPr>
          <a:lstStyle/>
          <a:p>
            <a:pPr>
              <a:defRPr sz="1300" b="0">
                <a:solidFill>
                  <a:srgbClr val="445665"/>
                </a:solidFill>
                <a:latin typeface="Aptos"/>
              </a:defRPr>
            </a:pPr>
            <a:r>
              <a:t>A citation needs to support the exact statement and the version in force.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2. Predict · Attribution</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What proves the work is yours and reproducible?</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10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The changed code, settings, inputs and explanation.</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A polished demonstration alone proves understanding.</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Attribution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science notebook shows a changed setting, observation and explanation.</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11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91056"/>
            <a:ext cx="5943600" cy="749808"/>
          </a:xfrm>
          <a:prstGeom prst="rect">
            <a:avLst/>
          </a:prstGeom>
          <a:noFill/>
        </p:spPr>
        <p:txBody>
          <a:bodyPr wrap="square" lIns="22860" rIns="22860" tIns="9144">
            <a:spAutoFit/>
          </a:bodyPr>
          <a:lstStyle/>
          <a:p>
            <a:pPr>
              <a:defRPr sz="1800" b="1">
                <a:solidFill>
                  <a:srgbClr val="255E9C"/>
                </a:solidFill>
                <a:latin typeface="Aptos"/>
              </a:defRPr>
            </a:pPr>
            <a:r>
              <a:t>A science notebook shows a changed setting, observation and explanation.</a:t>
            </a:r>
          </a:p>
        </p:txBody>
      </p:sp>
      <p:sp>
        <p:nvSpPr>
          <p:cNvPr id="11" name="Rounded Rectangle 10"/>
          <p:cNvSpPr/>
          <p:nvPr/>
        </p:nvSpPr>
        <p:spPr>
          <a:xfrm>
            <a:off x="5532120" y="2542032"/>
            <a:ext cx="768096" cy="768096"/>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696712"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007607"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852159"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01768" y="3456432"/>
            <a:ext cx="1874519" cy="10607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38928"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Setting change</a:t>
            </a:r>
          </a:p>
        </p:txBody>
      </p:sp>
      <p:cxnSp>
        <p:nvCxnSpPr>
          <p:cNvPr id="17" name="Connector 16"/>
          <p:cNvCxnSpPr/>
          <p:nvPr/>
        </p:nvCxnSpPr>
        <p:spPr>
          <a:xfrm>
            <a:off x="6903720" y="3977639"/>
            <a:ext cx="21031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031736"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671815" y="2542032"/>
            <a:ext cx="768096" cy="768096"/>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827263" y="2999232"/>
            <a:ext cx="100584"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91855" y="2871216"/>
            <a:ext cx="100584"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56447" y="2734056"/>
            <a:ext cx="10058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141464" y="3456432"/>
            <a:ext cx="1874519" cy="10607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78624"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Measurement</a:t>
            </a:r>
          </a:p>
        </p:txBody>
      </p:sp>
      <p:cxnSp>
        <p:nvCxnSpPr>
          <p:cNvPr id="25" name="Connector 24"/>
          <p:cNvCxnSpPr/>
          <p:nvPr/>
        </p:nvCxnSpPr>
        <p:spPr>
          <a:xfrm>
            <a:off x="9043416" y="3977639"/>
            <a:ext cx="210312"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9171432"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811511" y="2542032"/>
            <a:ext cx="768096" cy="768096"/>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976103"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286999"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131551"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281159" y="3456432"/>
            <a:ext cx="1874519" cy="1060704"/>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418319"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Reason</a:t>
            </a:r>
          </a:p>
        </p:txBody>
      </p:sp>
      <p:sp>
        <p:nvSpPr>
          <p:cNvPr id="33" name="TextBox 32"/>
          <p:cNvSpPr txBox="1"/>
          <p:nvPr/>
        </p:nvSpPr>
        <p:spPr>
          <a:xfrm>
            <a:off x="5074920" y="4983480"/>
            <a:ext cx="6126480" cy="429768"/>
          </a:xfrm>
          <a:prstGeom prst="rect">
            <a:avLst/>
          </a:prstGeom>
          <a:noFill/>
        </p:spPr>
        <p:txBody>
          <a:bodyPr wrap="square" lIns="22860" rIns="22860" tIns="9144">
            <a:spAutoFit/>
          </a:bodyPr>
          <a:lstStyle/>
          <a:p>
            <a:pPr>
              <a:defRPr sz="1600" b="1">
                <a:solidFill>
                  <a:srgbClr val="117E6E"/>
                </a:solidFill>
                <a:latin typeface="Aptos"/>
              </a:defRPr>
            </a:pPr>
            <a:r>
              <a:t>What matches the technical process?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Attribution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A before/after result in one toy case cannot establish general reliability.</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12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FAMILIAR SCENE                  TECHNICAL IDEA</a:t>
            </a:r>
          </a:p>
        </p:txBody>
      </p:sp>
      <p:sp>
        <p:nvSpPr>
          <p:cNvPr id="11" name="Rounded Rectangle 10"/>
          <p:cNvSpPr/>
          <p:nvPr/>
        </p:nvSpPr>
        <p:spPr>
          <a:xfrm>
            <a:off x="5029200" y="208483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6360" y="219456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Setting change</a:t>
            </a:r>
          </a:p>
        </p:txBody>
      </p:sp>
      <p:cxnSp>
        <p:nvCxnSpPr>
          <p:cNvPr id="13" name="Connector 12"/>
          <p:cNvCxnSpPr/>
          <p:nvPr/>
        </p:nvCxnSpPr>
        <p:spPr>
          <a:xfrm>
            <a:off x="7699248" y="246887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872983" y="240487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1583" y="208483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8744" y="219456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your code change</a:t>
            </a:r>
          </a:p>
        </p:txBody>
      </p:sp>
      <p:sp>
        <p:nvSpPr>
          <p:cNvPr id="17" name="Rounded Rectangle 16"/>
          <p:cNvSpPr/>
          <p:nvPr/>
        </p:nvSpPr>
        <p:spPr>
          <a:xfrm>
            <a:off x="5029200" y="313639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66360" y="324612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Measurement</a:t>
            </a:r>
          </a:p>
        </p:txBody>
      </p:sp>
      <p:cxnSp>
        <p:nvCxnSpPr>
          <p:cNvPr id="19" name="Connector 18"/>
          <p:cNvCxnSpPr/>
          <p:nvPr/>
        </p:nvCxnSpPr>
        <p:spPr>
          <a:xfrm>
            <a:off x="7699248" y="352043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0" name="Chevron 19"/>
          <p:cNvSpPr/>
          <p:nvPr/>
        </p:nvSpPr>
        <p:spPr>
          <a:xfrm>
            <a:off x="7872983" y="345643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101583" y="313639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324612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experiment table</a:t>
            </a:r>
          </a:p>
        </p:txBody>
      </p:sp>
      <p:sp>
        <p:nvSpPr>
          <p:cNvPr id="23" name="Rounded Rectangle 22"/>
          <p:cNvSpPr/>
          <p:nvPr/>
        </p:nvSpPr>
        <p:spPr>
          <a:xfrm>
            <a:off x="5029200" y="4187952"/>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66360" y="429768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Reason</a:t>
            </a:r>
          </a:p>
        </p:txBody>
      </p:sp>
      <p:cxnSp>
        <p:nvCxnSpPr>
          <p:cNvPr id="25" name="Connector 24"/>
          <p:cNvCxnSpPr/>
          <p:nvPr/>
        </p:nvCxnSpPr>
        <p:spPr>
          <a:xfrm>
            <a:off x="7699248" y="4572000"/>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7872983" y="450799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101583" y="4187952"/>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38744" y="429768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individual explanation</a:t>
            </a:r>
          </a:p>
        </p:txBody>
      </p:sp>
      <p:sp>
        <p:nvSpPr>
          <p:cNvPr id="29" name="TextBox 28"/>
          <p:cNvSpPr txBox="1"/>
          <p:nvPr/>
        </p:nvSpPr>
        <p:spPr>
          <a:xfrm>
            <a:off x="5120640" y="5385816"/>
            <a:ext cx="5943600" cy="411480"/>
          </a:xfrm>
          <a:prstGeom prst="rect">
            <a:avLst/>
          </a:prstGeom>
          <a:noFill/>
        </p:spPr>
        <p:txBody>
          <a:bodyPr wrap="square" lIns="22860" rIns="22860" tIns="9144">
            <a:spAutoFit/>
          </a:bodyPr>
          <a:lstStyle/>
          <a:p>
            <a:pPr>
              <a:defRPr sz="1500" b="1">
                <a:solidFill>
                  <a:srgbClr val="C7682C"/>
                </a:solidFill>
                <a:latin typeface="Aptos"/>
              </a:defRPr>
            </a:pPr>
            <a:r>
              <a:t>The analogy has a limit. Read it on the left.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Attribution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Each learner shows the part they changed and explains the choice.</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13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Your code change</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Your experiment</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Your explanation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Attribution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Show baseline, chosen setting, case counts and one error that still remains.</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14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2352" y="1719072"/>
            <a:ext cx="5760720" cy="283464"/>
          </a:xfrm>
          <a:prstGeom prst="rect">
            <a:avLst/>
          </a:prstGeom>
          <a:noFill/>
        </p:spPr>
        <p:txBody>
          <a:bodyPr wrap="square" lIns="22860" rIns="22860" tIns="9144">
            <a:spAutoFit/>
          </a:bodyPr>
          <a:lstStyle/>
          <a:p>
            <a:pPr>
              <a:defRPr sz="1300" b="1">
                <a:solidFill>
                  <a:srgbClr val="255E9C"/>
                </a:solidFill>
                <a:latin typeface="Aptos"/>
              </a:defRPr>
            </a:pPr>
            <a:r>
              <a:t>GIVEN</a:t>
            </a:r>
          </a:p>
        </p:txBody>
      </p:sp>
      <p:sp>
        <p:nvSpPr>
          <p:cNvPr id="11" name="Rounded Rectangle 10"/>
          <p:cNvSpPr/>
          <p:nvPr/>
        </p:nvSpPr>
        <p:spPr>
          <a:xfrm>
            <a:off x="5065776" y="2048255"/>
            <a:ext cx="6035040" cy="950976"/>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2157984"/>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Show baseline, chosen setting, case counts and one error that still remains.</a:t>
            </a:r>
          </a:p>
        </p:txBody>
      </p:sp>
      <p:sp>
        <p:nvSpPr>
          <p:cNvPr id="13" name="TextBox 12"/>
          <p:cNvSpPr txBox="1"/>
          <p:nvPr/>
        </p:nvSpPr>
        <p:spPr>
          <a:xfrm>
            <a:off x="5102352" y="3072384"/>
            <a:ext cx="5760720" cy="283464"/>
          </a:xfrm>
          <a:prstGeom prst="rect">
            <a:avLst/>
          </a:prstGeom>
          <a:noFill/>
        </p:spPr>
        <p:txBody>
          <a:bodyPr wrap="square" lIns="22860" rIns="22860" tIns="9144">
            <a:spAutoFit/>
          </a:bodyPr>
          <a:lstStyle/>
          <a:p>
            <a:pPr>
              <a:defRPr sz="1300" b="1">
                <a:solidFill>
                  <a:srgbClr val="C7682C"/>
                </a:solidFill>
                <a:latin typeface="Aptos"/>
              </a:defRPr>
            </a:pPr>
            <a:r>
              <a:t>QUESTION</a:t>
            </a:r>
          </a:p>
        </p:txBody>
      </p:sp>
      <p:sp>
        <p:nvSpPr>
          <p:cNvPr id="14" name="Rounded Rectangle 13"/>
          <p:cNvSpPr/>
          <p:nvPr/>
        </p:nvSpPr>
        <p:spPr>
          <a:xfrm>
            <a:off x="5065776" y="3401568"/>
            <a:ext cx="6035040" cy="950976"/>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2936" y="3511296"/>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What proves the work is yours and reproducible?</a:t>
            </a:r>
          </a:p>
        </p:txBody>
      </p:sp>
      <p:sp>
        <p:nvSpPr>
          <p:cNvPr id="16" name="TextBox 15"/>
          <p:cNvSpPr txBox="1"/>
          <p:nvPr/>
        </p:nvSpPr>
        <p:spPr>
          <a:xfrm>
            <a:off x="5102352" y="4425696"/>
            <a:ext cx="5760720" cy="283464"/>
          </a:xfrm>
          <a:prstGeom prst="rect">
            <a:avLst/>
          </a:prstGeom>
          <a:noFill/>
        </p:spPr>
        <p:txBody>
          <a:bodyPr wrap="square" lIns="22860" rIns="22860" tIns="9144">
            <a:spAutoFit/>
          </a:bodyPr>
          <a:lstStyle/>
          <a:p>
            <a:pPr>
              <a:defRPr sz="1300" b="1">
                <a:solidFill>
                  <a:srgbClr val="117E6E"/>
                </a:solidFill>
                <a:latin typeface="Aptos"/>
              </a:defRPr>
            </a:pPr>
            <a:r>
              <a:t>SUPPORTED ANSWER</a:t>
            </a:r>
          </a:p>
        </p:txBody>
      </p:sp>
      <p:sp>
        <p:nvSpPr>
          <p:cNvPr id="17" name="Rounded Rectangle 16"/>
          <p:cNvSpPr/>
          <p:nvPr/>
        </p:nvSpPr>
        <p:spPr>
          <a:xfrm>
            <a:off x="5065776" y="4754880"/>
            <a:ext cx="6035040" cy="950976"/>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4864608"/>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The changed code, settings, inputs and explanation.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Attribution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changed code, settings, inputs and explanation.</a:t>
            </a:r>
          </a:p>
          <a:p>
            <a:pPr>
              <a:defRPr sz="1800" b="0">
                <a:solidFill>
                  <a:srgbClr val="182B40"/>
                </a:solidFill>
                <a:latin typeface="Aptos"/>
              </a:defRPr>
            </a:pPr>
          </a:p>
          <a:p>
            <a:pPr>
              <a:defRPr sz="1800" b="0">
                <a:solidFill>
                  <a:srgbClr val="182B40"/>
                </a:solidFill>
                <a:latin typeface="Aptos"/>
              </a:defRPr>
            </a:pPr>
            <a:r>
              <a:t>Tempting mistake: A polished demonstration alone proves understanding.</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15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5852160" cy="365760"/>
          </a:xfrm>
          <a:prstGeom prst="rect">
            <a:avLst/>
          </a:prstGeom>
          <a:noFill/>
        </p:spPr>
        <p:txBody>
          <a:bodyPr wrap="square" lIns="22860" rIns="22860" tIns="9144">
            <a:spAutoFit/>
          </a:bodyPr>
          <a:lstStyle/>
          <a:p>
            <a:pPr>
              <a:defRPr sz="1500" b="1">
                <a:solidFill>
                  <a:srgbClr val="255E9C"/>
                </a:solidFill>
                <a:latin typeface="Aptos"/>
              </a:defRPr>
            </a:pPr>
            <a:r>
              <a:t>TEST THE CLAIM AGAINST THE EVIDENCE</a:t>
            </a:r>
          </a:p>
        </p:txBody>
      </p:sp>
      <p:sp>
        <p:nvSpPr>
          <p:cNvPr id="11" name="TextBox 10"/>
          <p:cNvSpPr txBox="1"/>
          <p:nvPr/>
        </p:nvSpPr>
        <p:spPr>
          <a:xfrm>
            <a:off x="5084064" y="2066543"/>
            <a:ext cx="5669280" cy="320040"/>
          </a:xfrm>
          <a:prstGeom prst="rect">
            <a:avLst/>
          </a:prstGeom>
          <a:noFill/>
        </p:spPr>
        <p:txBody>
          <a:bodyPr wrap="square" lIns="22860" rIns="22860" tIns="9144">
            <a:spAutoFit/>
          </a:bodyPr>
          <a:lstStyle/>
          <a:p>
            <a:pPr>
              <a:defRPr sz="1300" b="1">
                <a:solidFill>
                  <a:srgbClr val="B74945"/>
                </a:solidFill>
                <a:latin typeface="Aptos"/>
              </a:defRPr>
            </a:pPr>
            <a:r>
              <a:t>TEMPTING CLAIM</a:t>
            </a:r>
          </a:p>
        </p:txBody>
      </p:sp>
      <p:sp>
        <p:nvSpPr>
          <p:cNvPr id="12" name="Rounded Rectangle 11"/>
          <p:cNvSpPr/>
          <p:nvPr/>
        </p:nvSpPr>
        <p:spPr>
          <a:xfrm>
            <a:off x="5047488" y="2441448"/>
            <a:ext cx="6126480" cy="1014984"/>
          </a:xfrm>
          <a:prstGeom prst="roundRect">
            <a:avLst/>
          </a:prstGeom>
          <a:solidFill>
            <a:srgbClr val="FD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84648" y="2551176"/>
            <a:ext cx="5852160" cy="813816"/>
          </a:xfrm>
          <a:prstGeom prst="rect">
            <a:avLst/>
          </a:prstGeom>
          <a:noFill/>
        </p:spPr>
        <p:txBody>
          <a:bodyPr wrap="square" lIns="22860" rIns="22860" tIns="9144" anchor="ctr">
            <a:spAutoFit/>
          </a:bodyPr>
          <a:lstStyle/>
          <a:p>
            <a:pPr algn="ctr">
              <a:defRPr sz="1500" b="1">
                <a:solidFill>
                  <a:srgbClr val="182B40"/>
                </a:solidFill>
                <a:latin typeface="Aptos"/>
              </a:defRPr>
            </a:pPr>
            <a:r>
              <a:t>A polished demonstration alone proves understanding.</a:t>
            </a:r>
          </a:p>
        </p:txBody>
      </p:sp>
      <p:sp>
        <p:nvSpPr>
          <p:cNvPr id="14" name="TextBox 13"/>
          <p:cNvSpPr txBox="1"/>
          <p:nvPr/>
        </p:nvSpPr>
        <p:spPr>
          <a:xfrm>
            <a:off x="5084064" y="3666744"/>
            <a:ext cx="5669280" cy="320040"/>
          </a:xfrm>
          <a:prstGeom prst="rect">
            <a:avLst/>
          </a:prstGeom>
          <a:noFill/>
        </p:spPr>
        <p:txBody>
          <a:bodyPr wrap="square" lIns="22860" rIns="22860" tIns="9144">
            <a:spAutoFit/>
          </a:bodyPr>
          <a:lstStyle/>
          <a:p>
            <a:pPr>
              <a:defRPr sz="1300" b="1">
                <a:solidFill>
                  <a:srgbClr val="117E6E"/>
                </a:solidFill>
                <a:latin typeface="Aptos"/>
              </a:defRPr>
            </a:pPr>
            <a:r>
              <a:t>SUPPORTED EXPLANATION</a:t>
            </a:r>
          </a:p>
        </p:txBody>
      </p:sp>
      <p:sp>
        <p:nvSpPr>
          <p:cNvPr id="15" name="Rounded Rectangle 14"/>
          <p:cNvSpPr/>
          <p:nvPr/>
        </p:nvSpPr>
        <p:spPr>
          <a:xfrm>
            <a:off x="5047488" y="4050791"/>
            <a:ext cx="6126480" cy="10058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4160520"/>
            <a:ext cx="5852160" cy="804672"/>
          </a:xfrm>
          <a:prstGeom prst="rect">
            <a:avLst/>
          </a:prstGeom>
          <a:noFill/>
        </p:spPr>
        <p:txBody>
          <a:bodyPr wrap="square" lIns="22860" rIns="22860" tIns="9144" anchor="ctr">
            <a:spAutoFit/>
          </a:bodyPr>
          <a:lstStyle/>
          <a:p>
            <a:pPr algn="ctr">
              <a:defRPr sz="1500" b="1">
                <a:solidFill>
                  <a:srgbClr val="182B40"/>
                </a:solidFill>
                <a:latin typeface="Aptos"/>
              </a:defRPr>
            </a:pPr>
            <a:r>
              <a:t>The changed code, settings, inputs and explanation.</a:t>
            </a:r>
          </a:p>
        </p:txBody>
      </p:sp>
      <p:sp>
        <p:nvSpPr>
          <p:cNvPr id="17" name="TextBox 16"/>
          <p:cNvSpPr txBox="1"/>
          <p:nvPr/>
        </p:nvSpPr>
        <p:spPr>
          <a:xfrm>
            <a:off x="5120640" y="5321808"/>
            <a:ext cx="5897880" cy="566928"/>
          </a:xfrm>
          <a:prstGeom prst="rect">
            <a:avLst/>
          </a:prstGeom>
          <a:noFill/>
        </p:spPr>
        <p:txBody>
          <a:bodyPr wrap="square" lIns="22860" rIns="22860" tIns="9144">
            <a:spAutoFit/>
          </a:bodyPr>
          <a:lstStyle/>
          <a:p>
            <a:pPr>
              <a:defRPr sz="1300" b="0">
                <a:solidFill>
                  <a:srgbClr val="445665"/>
                </a:solidFill>
                <a:latin typeface="Aptos"/>
              </a:defRPr>
            </a:pPr>
            <a:r>
              <a:t>A before/after result in one toy case cannot establish general reliability.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3. Predict · Fresh challenge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Which layer deserves the first test here?</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16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Answer support using the retrieved P4 passage.</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Every wrong answer is a retrieval failure.</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Fresh challenge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mechanic diagnoses a new symptom by testing the failing part.</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17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91056"/>
            <a:ext cx="5943600" cy="749808"/>
          </a:xfrm>
          <a:prstGeom prst="rect">
            <a:avLst/>
          </a:prstGeom>
          <a:noFill/>
        </p:spPr>
        <p:txBody>
          <a:bodyPr wrap="square" lIns="22860" rIns="22860" tIns="9144">
            <a:spAutoFit/>
          </a:bodyPr>
          <a:lstStyle/>
          <a:p>
            <a:pPr>
              <a:defRPr sz="1800" b="1">
                <a:solidFill>
                  <a:srgbClr val="255E9C"/>
                </a:solidFill>
                <a:latin typeface="Aptos"/>
              </a:defRPr>
            </a:pPr>
            <a:r>
              <a:t>A mechanic diagnoses a new symptom by testing the failing part.</a:t>
            </a:r>
          </a:p>
        </p:txBody>
      </p:sp>
      <p:sp>
        <p:nvSpPr>
          <p:cNvPr id="11" name="Rounded Rectangle 10"/>
          <p:cNvSpPr/>
          <p:nvPr/>
        </p:nvSpPr>
        <p:spPr>
          <a:xfrm>
            <a:off x="5532120" y="2542032"/>
            <a:ext cx="768096" cy="768096"/>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696712"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007607"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852159"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01768" y="3456432"/>
            <a:ext cx="1874519" cy="10607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38928"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Symptom</a:t>
            </a:r>
          </a:p>
        </p:txBody>
      </p:sp>
      <p:cxnSp>
        <p:nvCxnSpPr>
          <p:cNvPr id="17" name="Connector 16"/>
          <p:cNvCxnSpPr/>
          <p:nvPr/>
        </p:nvCxnSpPr>
        <p:spPr>
          <a:xfrm>
            <a:off x="6903720" y="3977639"/>
            <a:ext cx="21031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031736"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671815" y="2542032"/>
            <a:ext cx="768096" cy="768096"/>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36407"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47303"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991855"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141464" y="3456432"/>
            <a:ext cx="1874519" cy="10607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78624"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Component</a:t>
            </a:r>
          </a:p>
        </p:txBody>
      </p:sp>
      <p:cxnSp>
        <p:nvCxnSpPr>
          <p:cNvPr id="25" name="Connector 24"/>
          <p:cNvCxnSpPr/>
          <p:nvPr/>
        </p:nvCxnSpPr>
        <p:spPr>
          <a:xfrm>
            <a:off x="9043416" y="3977639"/>
            <a:ext cx="210312"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9171432"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811511" y="2542032"/>
            <a:ext cx="768096" cy="768096"/>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966959" y="2697480"/>
            <a:ext cx="457200" cy="457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10067543" y="2926080"/>
            <a:ext cx="109729" cy="91440"/>
          </a:xfrm>
          <a:prstGeom prst="line">
            <a:avLst/>
          </a:prstGeom>
          <a:ln w="27940">
            <a:solidFill>
              <a:srgbClr val="C7682C"/>
            </a:solidFill>
          </a:ln>
        </p:spPr>
        <p:style>
          <a:lnRef idx="2">
            <a:schemeClr val="accent1"/>
          </a:lnRef>
          <a:fillRef idx="0">
            <a:schemeClr val="accent1"/>
          </a:fillRef>
          <a:effectRef idx="1">
            <a:schemeClr val="accent1"/>
          </a:effectRef>
          <a:fontRef idx="minor">
            <a:schemeClr val="tx1"/>
          </a:fontRef>
        </p:style>
      </p:cxnSp>
      <p:sp>
        <p:nvSpPr>
          <p:cNvPr id="30" name="Chevron 29"/>
          <p:cNvSpPr/>
          <p:nvPr/>
        </p:nvSpPr>
        <p:spPr>
          <a:xfrm>
            <a:off x="10094976" y="2953512"/>
            <a:ext cx="146304" cy="128016"/>
          </a:xfrm>
          <a:prstGeom prst="chevron">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flipV="1">
            <a:off x="10177272" y="2807208"/>
            <a:ext cx="182879" cy="210312"/>
          </a:xfrm>
          <a:prstGeom prst="line">
            <a:avLst/>
          </a:prstGeom>
          <a:ln w="27940">
            <a:solidFill>
              <a:srgbClr val="C7682C"/>
            </a:solidFill>
          </a:ln>
        </p:spPr>
        <p:style>
          <a:lnRef idx="2">
            <a:schemeClr val="accent1"/>
          </a:lnRef>
          <a:fillRef idx="0">
            <a:schemeClr val="accent1"/>
          </a:fillRef>
          <a:effectRef idx="1">
            <a:schemeClr val="accent1"/>
          </a:effectRef>
          <a:fontRef idx="minor">
            <a:schemeClr val="tx1"/>
          </a:fontRef>
        </p:style>
      </p:cxnSp>
      <p:sp>
        <p:nvSpPr>
          <p:cNvPr id="32" name="Chevron 31"/>
          <p:cNvSpPr/>
          <p:nvPr/>
        </p:nvSpPr>
        <p:spPr>
          <a:xfrm>
            <a:off x="10277855" y="2743200"/>
            <a:ext cx="146304" cy="128016"/>
          </a:xfrm>
          <a:prstGeom prst="chevron">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281159" y="3456432"/>
            <a:ext cx="1874519" cy="1060704"/>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418319"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Check</a:t>
            </a:r>
          </a:p>
        </p:txBody>
      </p:sp>
      <p:sp>
        <p:nvSpPr>
          <p:cNvPr id="35" name="TextBox 34"/>
          <p:cNvSpPr txBox="1"/>
          <p:nvPr/>
        </p:nvSpPr>
        <p:spPr>
          <a:xfrm>
            <a:off x="5074920" y="4983480"/>
            <a:ext cx="6126480" cy="429768"/>
          </a:xfrm>
          <a:prstGeom prst="rect">
            <a:avLst/>
          </a:prstGeom>
          <a:noFill/>
        </p:spPr>
        <p:txBody>
          <a:bodyPr wrap="square" lIns="22860" rIns="22860" tIns="9144">
            <a:spAutoFit/>
          </a:bodyPr>
          <a:lstStyle/>
          <a:p>
            <a:pPr>
              <a:defRPr sz="1600" b="1">
                <a:solidFill>
                  <a:srgbClr val="117E6E"/>
                </a:solidFill>
                <a:latin typeface="Aptos"/>
              </a:defRPr>
            </a:pPr>
            <a:r>
              <a:t>What matches the technical process?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Fresh challenge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Some failures cross layers; record uncertainty and test competing causes.</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18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FAMILIAR SCENE                  TECHNICAL IDEA</a:t>
            </a:r>
          </a:p>
        </p:txBody>
      </p:sp>
      <p:sp>
        <p:nvSpPr>
          <p:cNvPr id="11" name="Rounded Rectangle 10"/>
          <p:cNvSpPr/>
          <p:nvPr/>
        </p:nvSpPr>
        <p:spPr>
          <a:xfrm>
            <a:off x="5029200" y="208483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6360" y="219456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Symptom</a:t>
            </a:r>
          </a:p>
        </p:txBody>
      </p:sp>
      <p:cxnSp>
        <p:nvCxnSpPr>
          <p:cNvPr id="13" name="Connector 12"/>
          <p:cNvCxnSpPr/>
          <p:nvPr/>
        </p:nvCxnSpPr>
        <p:spPr>
          <a:xfrm>
            <a:off x="7699248" y="246887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872983" y="240487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1583" y="208483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8744" y="219456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new failure</a:t>
            </a:r>
          </a:p>
        </p:txBody>
      </p:sp>
      <p:sp>
        <p:nvSpPr>
          <p:cNvPr id="17" name="Rounded Rectangle 16"/>
          <p:cNvSpPr/>
          <p:nvPr/>
        </p:nvSpPr>
        <p:spPr>
          <a:xfrm>
            <a:off x="5029200" y="313639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66360" y="324612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Component</a:t>
            </a:r>
          </a:p>
        </p:txBody>
      </p:sp>
      <p:cxnSp>
        <p:nvCxnSpPr>
          <p:cNvPr id="19" name="Connector 18"/>
          <p:cNvCxnSpPr/>
          <p:nvPr/>
        </p:nvCxnSpPr>
        <p:spPr>
          <a:xfrm>
            <a:off x="7699248" y="352043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0" name="Chevron 19"/>
          <p:cNvSpPr/>
          <p:nvPr/>
        </p:nvSpPr>
        <p:spPr>
          <a:xfrm>
            <a:off x="7872983" y="345643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101583" y="313639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324612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likely layer</a:t>
            </a:r>
          </a:p>
        </p:txBody>
      </p:sp>
      <p:sp>
        <p:nvSpPr>
          <p:cNvPr id="23" name="Rounded Rectangle 22"/>
          <p:cNvSpPr/>
          <p:nvPr/>
        </p:nvSpPr>
        <p:spPr>
          <a:xfrm>
            <a:off x="5029200" y="4187952"/>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66360" y="429768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Check</a:t>
            </a:r>
          </a:p>
        </p:txBody>
      </p:sp>
      <p:cxnSp>
        <p:nvCxnSpPr>
          <p:cNvPr id="25" name="Connector 24"/>
          <p:cNvCxnSpPr/>
          <p:nvPr/>
        </p:nvCxnSpPr>
        <p:spPr>
          <a:xfrm>
            <a:off x="7699248" y="4572000"/>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7872983" y="450799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101583" y="4187952"/>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38744" y="429768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targeted test</a:t>
            </a:r>
          </a:p>
        </p:txBody>
      </p:sp>
      <p:sp>
        <p:nvSpPr>
          <p:cNvPr id="29" name="TextBox 28"/>
          <p:cNvSpPr txBox="1"/>
          <p:nvPr/>
        </p:nvSpPr>
        <p:spPr>
          <a:xfrm>
            <a:off x="5120640" y="5385816"/>
            <a:ext cx="5943600" cy="411480"/>
          </a:xfrm>
          <a:prstGeom prst="rect">
            <a:avLst/>
          </a:prstGeom>
          <a:noFill/>
        </p:spPr>
        <p:txBody>
          <a:bodyPr wrap="square" lIns="22860" rIns="22860" tIns="9144">
            <a:spAutoFit/>
          </a:bodyPr>
          <a:lstStyle/>
          <a:p>
            <a:pPr>
              <a:defRPr sz="1500" b="1">
                <a:solidFill>
                  <a:srgbClr val="C7682C"/>
                </a:solidFill>
                <a:latin typeface="Aptos"/>
              </a:defRPr>
            </a:pPr>
            <a:r>
              <a:t>The analogy has a limit. Read it on the left.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Fresh challenge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new example of a practised failure tests understanding rather than memorization.</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19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New failure case</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Identify layer</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Design a test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Fresh challenge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If P4 is retrieved but the answer says 12 days is allowed, test claim support before changing search.</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20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2352" y="1719072"/>
            <a:ext cx="5760720" cy="283464"/>
          </a:xfrm>
          <a:prstGeom prst="rect">
            <a:avLst/>
          </a:prstGeom>
          <a:noFill/>
        </p:spPr>
        <p:txBody>
          <a:bodyPr wrap="square" lIns="22860" rIns="22860" tIns="9144">
            <a:spAutoFit/>
          </a:bodyPr>
          <a:lstStyle/>
          <a:p>
            <a:pPr>
              <a:defRPr sz="1300" b="1">
                <a:solidFill>
                  <a:srgbClr val="255E9C"/>
                </a:solidFill>
                <a:latin typeface="Aptos"/>
              </a:defRPr>
            </a:pPr>
            <a:r>
              <a:t>GIVEN</a:t>
            </a:r>
          </a:p>
        </p:txBody>
      </p:sp>
      <p:sp>
        <p:nvSpPr>
          <p:cNvPr id="11" name="Rounded Rectangle 10"/>
          <p:cNvSpPr/>
          <p:nvPr/>
        </p:nvSpPr>
        <p:spPr>
          <a:xfrm>
            <a:off x="5065776" y="2048255"/>
            <a:ext cx="6035040" cy="950976"/>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2157984"/>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If P4 is retrieved but the answer says 12 days is allowed, test claim support before changing search.</a:t>
            </a:r>
          </a:p>
        </p:txBody>
      </p:sp>
      <p:sp>
        <p:nvSpPr>
          <p:cNvPr id="13" name="TextBox 12"/>
          <p:cNvSpPr txBox="1"/>
          <p:nvPr/>
        </p:nvSpPr>
        <p:spPr>
          <a:xfrm>
            <a:off x="5102352" y="3072384"/>
            <a:ext cx="5760720" cy="283464"/>
          </a:xfrm>
          <a:prstGeom prst="rect">
            <a:avLst/>
          </a:prstGeom>
          <a:noFill/>
        </p:spPr>
        <p:txBody>
          <a:bodyPr wrap="square" lIns="22860" rIns="22860" tIns="9144">
            <a:spAutoFit/>
          </a:bodyPr>
          <a:lstStyle/>
          <a:p>
            <a:pPr>
              <a:defRPr sz="1300" b="1">
                <a:solidFill>
                  <a:srgbClr val="C7682C"/>
                </a:solidFill>
                <a:latin typeface="Aptos"/>
              </a:defRPr>
            </a:pPr>
            <a:r>
              <a:t>QUESTION</a:t>
            </a:r>
          </a:p>
        </p:txBody>
      </p:sp>
      <p:sp>
        <p:nvSpPr>
          <p:cNvPr id="14" name="Rounded Rectangle 13"/>
          <p:cNvSpPr/>
          <p:nvPr/>
        </p:nvSpPr>
        <p:spPr>
          <a:xfrm>
            <a:off x="5065776" y="3401568"/>
            <a:ext cx="6035040" cy="950976"/>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2936" y="3511296"/>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Which layer deserves the first test here?</a:t>
            </a:r>
          </a:p>
        </p:txBody>
      </p:sp>
      <p:sp>
        <p:nvSpPr>
          <p:cNvPr id="16" name="TextBox 15"/>
          <p:cNvSpPr txBox="1"/>
          <p:nvPr/>
        </p:nvSpPr>
        <p:spPr>
          <a:xfrm>
            <a:off x="5102352" y="4425696"/>
            <a:ext cx="5760720" cy="283464"/>
          </a:xfrm>
          <a:prstGeom prst="rect">
            <a:avLst/>
          </a:prstGeom>
          <a:noFill/>
        </p:spPr>
        <p:txBody>
          <a:bodyPr wrap="square" lIns="22860" rIns="22860" tIns="9144">
            <a:spAutoFit/>
          </a:bodyPr>
          <a:lstStyle/>
          <a:p>
            <a:pPr>
              <a:defRPr sz="1300" b="1">
                <a:solidFill>
                  <a:srgbClr val="117E6E"/>
                </a:solidFill>
                <a:latin typeface="Aptos"/>
              </a:defRPr>
            </a:pPr>
            <a:r>
              <a:t>SUPPORTED ANSWER</a:t>
            </a:r>
          </a:p>
        </p:txBody>
      </p:sp>
      <p:sp>
        <p:nvSpPr>
          <p:cNvPr id="17" name="Rounded Rectangle 16"/>
          <p:cNvSpPr/>
          <p:nvPr/>
        </p:nvSpPr>
        <p:spPr>
          <a:xfrm>
            <a:off x="5065776" y="4754880"/>
            <a:ext cx="6035040" cy="950976"/>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4864608"/>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Answer support using the retrieved P4 passage.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Fresh challenge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Answer support using the retrieved P4 passage.</a:t>
            </a:r>
          </a:p>
          <a:p>
            <a:pPr>
              <a:defRPr sz="1800" b="0">
                <a:solidFill>
                  <a:srgbClr val="182B40"/>
                </a:solidFill>
                <a:latin typeface="Aptos"/>
              </a:defRPr>
            </a:pPr>
          </a:p>
          <a:p>
            <a:pPr>
              <a:defRPr sz="1800" b="0">
                <a:solidFill>
                  <a:srgbClr val="182B40"/>
                </a:solidFill>
                <a:latin typeface="Aptos"/>
              </a:defRPr>
            </a:pPr>
            <a:r>
              <a:t>Tempting mistake: Every wrong answer is a retrieval failure.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21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5852160" cy="365760"/>
          </a:xfrm>
          <a:prstGeom prst="rect">
            <a:avLst/>
          </a:prstGeom>
          <a:noFill/>
        </p:spPr>
        <p:txBody>
          <a:bodyPr wrap="square" lIns="22860" rIns="22860" tIns="9144">
            <a:spAutoFit/>
          </a:bodyPr>
          <a:lstStyle/>
          <a:p>
            <a:pPr>
              <a:defRPr sz="1500" b="1">
                <a:solidFill>
                  <a:srgbClr val="255E9C"/>
                </a:solidFill>
                <a:latin typeface="Aptos"/>
              </a:defRPr>
            </a:pPr>
            <a:r>
              <a:t>TEST THE CLAIM AGAINST THE EVIDENCE</a:t>
            </a:r>
          </a:p>
        </p:txBody>
      </p:sp>
      <p:sp>
        <p:nvSpPr>
          <p:cNvPr id="11" name="TextBox 10"/>
          <p:cNvSpPr txBox="1"/>
          <p:nvPr/>
        </p:nvSpPr>
        <p:spPr>
          <a:xfrm>
            <a:off x="5084064" y="2066543"/>
            <a:ext cx="5669280" cy="320040"/>
          </a:xfrm>
          <a:prstGeom prst="rect">
            <a:avLst/>
          </a:prstGeom>
          <a:noFill/>
        </p:spPr>
        <p:txBody>
          <a:bodyPr wrap="square" lIns="22860" rIns="22860" tIns="9144">
            <a:spAutoFit/>
          </a:bodyPr>
          <a:lstStyle/>
          <a:p>
            <a:pPr>
              <a:defRPr sz="1300" b="1">
                <a:solidFill>
                  <a:srgbClr val="B74945"/>
                </a:solidFill>
                <a:latin typeface="Aptos"/>
              </a:defRPr>
            </a:pPr>
            <a:r>
              <a:t>TEMPTING CLAIM</a:t>
            </a:r>
          </a:p>
        </p:txBody>
      </p:sp>
      <p:sp>
        <p:nvSpPr>
          <p:cNvPr id="12" name="Rounded Rectangle 11"/>
          <p:cNvSpPr/>
          <p:nvPr/>
        </p:nvSpPr>
        <p:spPr>
          <a:xfrm>
            <a:off x="5047488" y="2441448"/>
            <a:ext cx="6126480" cy="1014984"/>
          </a:xfrm>
          <a:prstGeom prst="roundRect">
            <a:avLst/>
          </a:prstGeom>
          <a:solidFill>
            <a:srgbClr val="FD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84648" y="2551176"/>
            <a:ext cx="5852160" cy="813816"/>
          </a:xfrm>
          <a:prstGeom prst="rect">
            <a:avLst/>
          </a:prstGeom>
          <a:noFill/>
        </p:spPr>
        <p:txBody>
          <a:bodyPr wrap="square" lIns="22860" rIns="22860" tIns="9144" anchor="ctr">
            <a:spAutoFit/>
          </a:bodyPr>
          <a:lstStyle/>
          <a:p>
            <a:pPr algn="ctr">
              <a:defRPr sz="1500" b="1">
                <a:solidFill>
                  <a:srgbClr val="182B40"/>
                </a:solidFill>
                <a:latin typeface="Aptos"/>
              </a:defRPr>
            </a:pPr>
            <a:r>
              <a:t>Every wrong answer is a retrieval failure.</a:t>
            </a:r>
          </a:p>
        </p:txBody>
      </p:sp>
      <p:sp>
        <p:nvSpPr>
          <p:cNvPr id="14" name="TextBox 13"/>
          <p:cNvSpPr txBox="1"/>
          <p:nvPr/>
        </p:nvSpPr>
        <p:spPr>
          <a:xfrm>
            <a:off x="5084064" y="3666744"/>
            <a:ext cx="5669280" cy="320040"/>
          </a:xfrm>
          <a:prstGeom prst="rect">
            <a:avLst/>
          </a:prstGeom>
          <a:noFill/>
        </p:spPr>
        <p:txBody>
          <a:bodyPr wrap="square" lIns="22860" rIns="22860" tIns="9144">
            <a:spAutoFit/>
          </a:bodyPr>
          <a:lstStyle/>
          <a:p>
            <a:pPr>
              <a:defRPr sz="1300" b="1">
                <a:solidFill>
                  <a:srgbClr val="117E6E"/>
                </a:solidFill>
                <a:latin typeface="Aptos"/>
              </a:defRPr>
            </a:pPr>
            <a:r>
              <a:t>SUPPORTED EXPLANATION</a:t>
            </a:r>
          </a:p>
        </p:txBody>
      </p:sp>
      <p:sp>
        <p:nvSpPr>
          <p:cNvPr id="15" name="Rounded Rectangle 14"/>
          <p:cNvSpPr/>
          <p:nvPr/>
        </p:nvSpPr>
        <p:spPr>
          <a:xfrm>
            <a:off x="5047488" y="4050791"/>
            <a:ext cx="6126480" cy="10058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4160520"/>
            <a:ext cx="5852160" cy="804672"/>
          </a:xfrm>
          <a:prstGeom prst="rect">
            <a:avLst/>
          </a:prstGeom>
          <a:noFill/>
        </p:spPr>
        <p:txBody>
          <a:bodyPr wrap="square" lIns="22860" rIns="22860" tIns="9144" anchor="ctr">
            <a:spAutoFit/>
          </a:bodyPr>
          <a:lstStyle/>
          <a:p>
            <a:pPr algn="ctr">
              <a:defRPr sz="1500" b="1">
                <a:solidFill>
                  <a:srgbClr val="182B40"/>
                </a:solidFill>
                <a:latin typeface="Aptos"/>
              </a:defRPr>
            </a:pPr>
            <a:r>
              <a:t>Answer support using the retrieved P4 passage.</a:t>
            </a:r>
          </a:p>
        </p:txBody>
      </p:sp>
      <p:sp>
        <p:nvSpPr>
          <p:cNvPr id="17" name="TextBox 16"/>
          <p:cNvSpPr txBox="1"/>
          <p:nvPr/>
        </p:nvSpPr>
        <p:spPr>
          <a:xfrm>
            <a:off x="5120640" y="5321808"/>
            <a:ext cx="5897880" cy="566928"/>
          </a:xfrm>
          <a:prstGeom prst="rect">
            <a:avLst/>
          </a:prstGeom>
          <a:noFill/>
        </p:spPr>
        <p:txBody>
          <a:bodyPr wrap="square" lIns="22860" rIns="22860" tIns="9144">
            <a:spAutoFit/>
          </a:bodyPr>
          <a:lstStyle/>
          <a:p>
            <a:pPr>
              <a:defRPr sz="1300" b="0">
                <a:solidFill>
                  <a:srgbClr val="445665"/>
                </a:solidFill>
                <a:latin typeface="Aptos"/>
              </a:defRPr>
            </a:pPr>
            <a:r>
              <a:t>Some failures cross layers; record uncertainty and test competing causes.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4. Predict · Handover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What can the next maintainer reproduce?</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22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The setup, evaluation and known-failure checks from the handover.</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The notebook is self-explanatory without instructions.</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Handover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relief teacher can run a lesson from a clear folder and known limits.</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23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91056"/>
            <a:ext cx="5943600" cy="749808"/>
          </a:xfrm>
          <a:prstGeom prst="rect">
            <a:avLst/>
          </a:prstGeom>
          <a:noFill/>
        </p:spPr>
        <p:txBody>
          <a:bodyPr wrap="square" lIns="22860" rIns="22860" tIns="9144">
            <a:spAutoFit/>
          </a:bodyPr>
          <a:lstStyle/>
          <a:p>
            <a:pPr>
              <a:defRPr sz="1800" b="1">
                <a:solidFill>
                  <a:srgbClr val="255E9C"/>
                </a:solidFill>
                <a:latin typeface="Aptos"/>
              </a:defRPr>
            </a:pPr>
            <a:r>
              <a:t>A relief teacher can run a lesson from a clear folder and known limits.</a:t>
            </a:r>
          </a:p>
        </p:txBody>
      </p:sp>
      <p:sp>
        <p:nvSpPr>
          <p:cNvPr id="11" name="Rounded Rectangle 10"/>
          <p:cNvSpPr/>
          <p:nvPr/>
        </p:nvSpPr>
        <p:spPr>
          <a:xfrm>
            <a:off x="5532120" y="2542032"/>
            <a:ext cx="768096" cy="768096"/>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696712"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007607"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852159"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01768" y="3456432"/>
            <a:ext cx="1874519" cy="10607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38928"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Folder</a:t>
            </a:r>
          </a:p>
        </p:txBody>
      </p:sp>
      <p:cxnSp>
        <p:nvCxnSpPr>
          <p:cNvPr id="17" name="Connector 16"/>
          <p:cNvCxnSpPr/>
          <p:nvPr/>
        </p:nvCxnSpPr>
        <p:spPr>
          <a:xfrm>
            <a:off x="6903720" y="3977639"/>
            <a:ext cx="21031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031736"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671815" y="2542032"/>
            <a:ext cx="768096" cy="768096"/>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36407"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47303"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991855"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141464" y="3456432"/>
            <a:ext cx="1874519" cy="10607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78624"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Known gaps</a:t>
            </a:r>
          </a:p>
        </p:txBody>
      </p:sp>
      <p:cxnSp>
        <p:nvCxnSpPr>
          <p:cNvPr id="25" name="Connector 24"/>
          <p:cNvCxnSpPr/>
          <p:nvPr/>
        </p:nvCxnSpPr>
        <p:spPr>
          <a:xfrm>
            <a:off x="9043416" y="3977639"/>
            <a:ext cx="210312"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9171432"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811511" y="2542032"/>
            <a:ext cx="768096" cy="768096"/>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976103"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286999"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131551"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281159" y="3456432"/>
            <a:ext cx="1874519" cy="1060704"/>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418319"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Trial run</a:t>
            </a:r>
          </a:p>
        </p:txBody>
      </p:sp>
      <p:sp>
        <p:nvSpPr>
          <p:cNvPr id="33" name="TextBox 32"/>
          <p:cNvSpPr txBox="1"/>
          <p:nvPr/>
        </p:nvSpPr>
        <p:spPr>
          <a:xfrm>
            <a:off x="5074920" y="4983480"/>
            <a:ext cx="6126480" cy="429768"/>
          </a:xfrm>
          <a:prstGeom prst="rect">
            <a:avLst/>
          </a:prstGeom>
          <a:noFill/>
        </p:spPr>
        <p:txBody>
          <a:bodyPr wrap="square" lIns="22860" rIns="22860" tIns="9144">
            <a:spAutoFit/>
          </a:bodyPr>
          <a:lstStyle/>
          <a:p>
            <a:pPr>
              <a:defRPr sz="1600" b="1">
                <a:solidFill>
                  <a:srgbClr val="117E6E"/>
                </a:solidFill>
                <a:latin typeface="Aptos"/>
              </a:defRPr>
            </a:pPr>
            <a:r>
              <a:t>What matches the technical process?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Handover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Documentation can go stale; date versions and rerun the checks.</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24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FAMILIAR SCENE                  TECHNICAL IDEA</a:t>
            </a:r>
          </a:p>
        </p:txBody>
      </p:sp>
      <p:sp>
        <p:nvSpPr>
          <p:cNvPr id="11" name="Rounded Rectangle 10"/>
          <p:cNvSpPr/>
          <p:nvPr/>
        </p:nvSpPr>
        <p:spPr>
          <a:xfrm>
            <a:off x="5029200" y="208483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6360" y="219456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Folder</a:t>
            </a:r>
          </a:p>
        </p:txBody>
      </p:sp>
      <p:cxnSp>
        <p:nvCxnSpPr>
          <p:cNvPr id="13" name="Connector 12"/>
          <p:cNvCxnSpPr/>
          <p:nvPr/>
        </p:nvCxnSpPr>
        <p:spPr>
          <a:xfrm>
            <a:off x="7699248" y="246887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872983" y="240487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1583" y="208483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8744" y="219456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setup guide</a:t>
            </a:r>
          </a:p>
        </p:txBody>
      </p:sp>
      <p:sp>
        <p:nvSpPr>
          <p:cNvPr id="17" name="Rounded Rectangle 16"/>
          <p:cNvSpPr/>
          <p:nvPr/>
        </p:nvSpPr>
        <p:spPr>
          <a:xfrm>
            <a:off x="5029200" y="313639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66360" y="324612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Known gaps</a:t>
            </a:r>
          </a:p>
        </p:txBody>
      </p:sp>
      <p:cxnSp>
        <p:nvCxnSpPr>
          <p:cNvPr id="19" name="Connector 18"/>
          <p:cNvCxnSpPr/>
          <p:nvPr/>
        </p:nvCxnSpPr>
        <p:spPr>
          <a:xfrm>
            <a:off x="7699248" y="352043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0" name="Chevron 19"/>
          <p:cNvSpPr/>
          <p:nvPr/>
        </p:nvSpPr>
        <p:spPr>
          <a:xfrm>
            <a:off x="7872983" y="345643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101583" y="313639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324612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limitations</a:t>
            </a:r>
          </a:p>
        </p:txBody>
      </p:sp>
      <p:sp>
        <p:nvSpPr>
          <p:cNvPr id="23" name="Rounded Rectangle 22"/>
          <p:cNvSpPr/>
          <p:nvPr/>
        </p:nvSpPr>
        <p:spPr>
          <a:xfrm>
            <a:off x="5029200" y="4187952"/>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66360" y="429768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Trial run</a:t>
            </a:r>
          </a:p>
        </p:txBody>
      </p:sp>
      <p:cxnSp>
        <p:nvCxnSpPr>
          <p:cNvPr id="25" name="Connector 24"/>
          <p:cNvCxnSpPr/>
          <p:nvPr/>
        </p:nvCxnSpPr>
        <p:spPr>
          <a:xfrm>
            <a:off x="7699248" y="4572000"/>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7872983" y="450799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101583" y="4187952"/>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38744" y="429768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repeatable handover</a:t>
            </a:r>
          </a:p>
        </p:txBody>
      </p:sp>
      <p:sp>
        <p:nvSpPr>
          <p:cNvPr id="29" name="TextBox 28"/>
          <p:cNvSpPr txBox="1"/>
          <p:nvPr/>
        </p:nvSpPr>
        <p:spPr>
          <a:xfrm>
            <a:off x="5120640" y="5385816"/>
            <a:ext cx="5943600" cy="411480"/>
          </a:xfrm>
          <a:prstGeom prst="rect">
            <a:avLst/>
          </a:prstGeom>
          <a:noFill/>
        </p:spPr>
        <p:txBody>
          <a:bodyPr wrap="square" lIns="22860" rIns="22860" tIns="9144">
            <a:spAutoFit/>
          </a:bodyPr>
          <a:lstStyle/>
          <a:p>
            <a:pPr>
              <a:defRPr sz="1500" b="1">
                <a:solidFill>
                  <a:srgbClr val="C7682C"/>
                </a:solidFill>
                <a:latin typeface="Aptos"/>
              </a:defRPr>
            </a:pPr>
            <a:r>
              <a:t>The analogy has a limit. Read it on the left.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Handover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Another person can run, test and review the solution from written instructions.</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25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Setup guide</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Known limits</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Repeatable handover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Handover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Give installation steps, source versions, test commands, role rules and rollback instructions.</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26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2352" y="1719072"/>
            <a:ext cx="5760720" cy="283464"/>
          </a:xfrm>
          <a:prstGeom prst="rect">
            <a:avLst/>
          </a:prstGeom>
          <a:noFill/>
        </p:spPr>
        <p:txBody>
          <a:bodyPr wrap="square" lIns="22860" rIns="22860" tIns="9144">
            <a:spAutoFit/>
          </a:bodyPr>
          <a:lstStyle/>
          <a:p>
            <a:pPr>
              <a:defRPr sz="1300" b="1">
                <a:solidFill>
                  <a:srgbClr val="255E9C"/>
                </a:solidFill>
                <a:latin typeface="Aptos"/>
              </a:defRPr>
            </a:pPr>
            <a:r>
              <a:t>GIVEN</a:t>
            </a:r>
          </a:p>
        </p:txBody>
      </p:sp>
      <p:sp>
        <p:nvSpPr>
          <p:cNvPr id="11" name="Rounded Rectangle 10"/>
          <p:cNvSpPr/>
          <p:nvPr/>
        </p:nvSpPr>
        <p:spPr>
          <a:xfrm>
            <a:off x="5065776" y="2048255"/>
            <a:ext cx="6035040" cy="950976"/>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2157984"/>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Give installation steps, source versions, test commands, role rules and rollback instructions.</a:t>
            </a:r>
          </a:p>
        </p:txBody>
      </p:sp>
      <p:sp>
        <p:nvSpPr>
          <p:cNvPr id="13" name="TextBox 12"/>
          <p:cNvSpPr txBox="1"/>
          <p:nvPr/>
        </p:nvSpPr>
        <p:spPr>
          <a:xfrm>
            <a:off x="5102352" y="3072384"/>
            <a:ext cx="5760720" cy="283464"/>
          </a:xfrm>
          <a:prstGeom prst="rect">
            <a:avLst/>
          </a:prstGeom>
          <a:noFill/>
        </p:spPr>
        <p:txBody>
          <a:bodyPr wrap="square" lIns="22860" rIns="22860" tIns="9144">
            <a:spAutoFit/>
          </a:bodyPr>
          <a:lstStyle/>
          <a:p>
            <a:pPr>
              <a:defRPr sz="1300" b="1">
                <a:solidFill>
                  <a:srgbClr val="C7682C"/>
                </a:solidFill>
                <a:latin typeface="Aptos"/>
              </a:defRPr>
            </a:pPr>
            <a:r>
              <a:t>QUESTION</a:t>
            </a:r>
          </a:p>
        </p:txBody>
      </p:sp>
      <p:sp>
        <p:nvSpPr>
          <p:cNvPr id="14" name="Rounded Rectangle 13"/>
          <p:cNvSpPr/>
          <p:nvPr/>
        </p:nvSpPr>
        <p:spPr>
          <a:xfrm>
            <a:off x="5065776" y="3401568"/>
            <a:ext cx="6035040" cy="950976"/>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2936" y="3511296"/>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What can the next maintainer reproduce?</a:t>
            </a:r>
          </a:p>
        </p:txBody>
      </p:sp>
      <p:sp>
        <p:nvSpPr>
          <p:cNvPr id="16" name="TextBox 15"/>
          <p:cNvSpPr txBox="1"/>
          <p:nvPr/>
        </p:nvSpPr>
        <p:spPr>
          <a:xfrm>
            <a:off x="5102352" y="4425696"/>
            <a:ext cx="5760720" cy="283464"/>
          </a:xfrm>
          <a:prstGeom prst="rect">
            <a:avLst/>
          </a:prstGeom>
          <a:noFill/>
        </p:spPr>
        <p:txBody>
          <a:bodyPr wrap="square" lIns="22860" rIns="22860" tIns="9144">
            <a:spAutoFit/>
          </a:bodyPr>
          <a:lstStyle/>
          <a:p>
            <a:pPr>
              <a:defRPr sz="1300" b="1">
                <a:solidFill>
                  <a:srgbClr val="117E6E"/>
                </a:solidFill>
                <a:latin typeface="Aptos"/>
              </a:defRPr>
            </a:pPr>
            <a:r>
              <a:t>SUPPORTED ANSWER</a:t>
            </a:r>
          </a:p>
        </p:txBody>
      </p:sp>
      <p:sp>
        <p:nvSpPr>
          <p:cNvPr id="17" name="Rounded Rectangle 16"/>
          <p:cNvSpPr/>
          <p:nvPr/>
        </p:nvSpPr>
        <p:spPr>
          <a:xfrm>
            <a:off x="5065776" y="4754880"/>
            <a:ext cx="6035040" cy="950976"/>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4864608"/>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The setup, evaluation and known-failure checks from the handover.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Handover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setup, evaluation and known-failure checks from the handover.</a:t>
            </a:r>
          </a:p>
          <a:p>
            <a:pPr>
              <a:defRPr sz="1800" b="0">
                <a:solidFill>
                  <a:srgbClr val="182B40"/>
                </a:solidFill>
                <a:latin typeface="Aptos"/>
              </a:defRPr>
            </a:pPr>
          </a:p>
          <a:p>
            <a:pPr>
              <a:defRPr sz="1800" b="0">
                <a:solidFill>
                  <a:srgbClr val="182B40"/>
                </a:solidFill>
                <a:latin typeface="Aptos"/>
              </a:defRPr>
            </a:pPr>
            <a:r>
              <a:t>Tempting mistake: The notebook is self-explanatory without instructions.</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27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5852160" cy="365760"/>
          </a:xfrm>
          <a:prstGeom prst="rect">
            <a:avLst/>
          </a:prstGeom>
          <a:noFill/>
        </p:spPr>
        <p:txBody>
          <a:bodyPr wrap="square" lIns="22860" rIns="22860" tIns="9144">
            <a:spAutoFit/>
          </a:bodyPr>
          <a:lstStyle/>
          <a:p>
            <a:pPr>
              <a:defRPr sz="1500" b="1">
                <a:solidFill>
                  <a:srgbClr val="255E9C"/>
                </a:solidFill>
                <a:latin typeface="Aptos"/>
              </a:defRPr>
            </a:pPr>
            <a:r>
              <a:t>TEST THE CLAIM AGAINST THE EVIDENCE</a:t>
            </a:r>
          </a:p>
        </p:txBody>
      </p:sp>
      <p:sp>
        <p:nvSpPr>
          <p:cNvPr id="11" name="TextBox 10"/>
          <p:cNvSpPr txBox="1"/>
          <p:nvPr/>
        </p:nvSpPr>
        <p:spPr>
          <a:xfrm>
            <a:off x="5084064" y="2066543"/>
            <a:ext cx="5669280" cy="320040"/>
          </a:xfrm>
          <a:prstGeom prst="rect">
            <a:avLst/>
          </a:prstGeom>
          <a:noFill/>
        </p:spPr>
        <p:txBody>
          <a:bodyPr wrap="square" lIns="22860" rIns="22860" tIns="9144">
            <a:spAutoFit/>
          </a:bodyPr>
          <a:lstStyle/>
          <a:p>
            <a:pPr>
              <a:defRPr sz="1300" b="1">
                <a:solidFill>
                  <a:srgbClr val="B74945"/>
                </a:solidFill>
                <a:latin typeface="Aptos"/>
              </a:defRPr>
            </a:pPr>
            <a:r>
              <a:t>TEMPTING CLAIM</a:t>
            </a:r>
          </a:p>
        </p:txBody>
      </p:sp>
      <p:sp>
        <p:nvSpPr>
          <p:cNvPr id="12" name="Rounded Rectangle 11"/>
          <p:cNvSpPr/>
          <p:nvPr/>
        </p:nvSpPr>
        <p:spPr>
          <a:xfrm>
            <a:off x="5047488" y="2441448"/>
            <a:ext cx="6126480" cy="1014984"/>
          </a:xfrm>
          <a:prstGeom prst="roundRect">
            <a:avLst/>
          </a:prstGeom>
          <a:solidFill>
            <a:srgbClr val="FD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84648" y="2551176"/>
            <a:ext cx="5852160" cy="813816"/>
          </a:xfrm>
          <a:prstGeom prst="rect">
            <a:avLst/>
          </a:prstGeom>
          <a:noFill/>
        </p:spPr>
        <p:txBody>
          <a:bodyPr wrap="square" lIns="22860" rIns="22860" tIns="9144" anchor="ctr">
            <a:spAutoFit/>
          </a:bodyPr>
          <a:lstStyle/>
          <a:p>
            <a:pPr algn="ctr">
              <a:defRPr sz="1500" b="1">
                <a:solidFill>
                  <a:srgbClr val="182B40"/>
                </a:solidFill>
                <a:latin typeface="Aptos"/>
              </a:defRPr>
            </a:pPr>
            <a:r>
              <a:t>The notebook is self-explanatory without instructions.</a:t>
            </a:r>
          </a:p>
        </p:txBody>
      </p:sp>
      <p:sp>
        <p:nvSpPr>
          <p:cNvPr id="14" name="TextBox 13"/>
          <p:cNvSpPr txBox="1"/>
          <p:nvPr/>
        </p:nvSpPr>
        <p:spPr>
          <a:xfrm>
            <a:off x="5084064" y="3666744"/>
            <a:ext cx="5669280" cy="320040"/>
          </a:xfrm>
          <a:prstGeom prst="rect">
            <a:avLst/>
          </a:prstGeom>
          <a:noFill/>
        </p:spPr>
        <p:txBody>
          <a:bodyPr wrap="square" lIns="22860" rIns="22860" tIns="9144">
            <a:spAutoFit/>
          </a:bodyPr>
          <a:lstStyle/>
          <a:p>
            <a:pPr>
              <a:defRPr sz="1300" b="1">
                <a:solidFill>
                  <a:srgbClr val="117E6E"/>
                </a:solidFill>
                <a:latin typeface="Aptos"/>
              </a:defRPr>
            </a:pPr>
            <a:r>
              <a:t>SUPPORTED EXPLANATION</a:t>
            </a:r>
          </a:p>
        </p:txBody>
      </p:sp>
      <p:sp>
        <p:nvSpPr>
          <p:cNvPr id="15" name="Rounded Rectangle 14"/>
          <p:cNvSpPr/>
          <p:nvPr/>
        </p:nvSpPr>
        <p:spPr>
          <a:xfrm>
            <a:off x="5047488" y="4050791"/>
            <a:ext cx="6126480" cy="10058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4160520"/>
            <a:ext cx="5852160" cy="804672"/>
          </a:xfrm>
          <a:prstGeom prst="rect">
            <a:avLst/>
          </a:prstGeom>
          <a:noFill/>
        </p:spPr>
        <p:txBody>
          <a:bodyPr wrap="square" lIns="22860" rIns="22860" tIns="9144" anchor="ctr">
            <a:spAutoFit/>
          </a:bodyPr>
          <a:lstStyle/>
          <a:p>
            <a:pPr algn="ctr">
              <a:defRPr sz="1500" b="1">
                <a:solidFill>
                  <a:srgbClr val="182B40"/>
                </a:solidFill>
                <a:latin typeface="Aptos"/>
              </a:defRPr>
            </a:pPr>
            <a:r>
              <a:t>The setup, evaluation and known-failure checks from the handover.</a:t>
            </a:r>
          </a:p>
        </p:txBody>
      </p:sp>
      <p:sp>
        <p:nvSpPr>
          <p:cNvPr id="17" name="TextBox 16"/>
          <p:cNvSpPr txBox="1"/>
          <p:nvPr/>
        </p:nvSpPr>
        <p:spPr>
          <a:xfrm>
            <a:off x="5120640" y="5321808"/>
            <a:ext cx="5897880" cy="566928"/>
          </a:xfrm>
          <a:prstGeom prst="rect">
            <a:avLst/>
          </a:prstGeom>
          <a:noFill/>
        </p:spPr>
        <p:txBody>
          <a:bodyPr wrap="square" lIns="22860" rIns="22860" tIns="9144">
            <a:spAutoFit/>
          </a:bodyPr>
          <a:lstStyle/>
          <a:p>
            <a:pPr>
              <a:defRPr sz="1300" b="0">
                <a:solidFill>
                  <a:srgbClr val="445665"/>
                </a:solidFill>
                <a:latin typeface="Aptos"/>
              </a:defRPr>
            </a:pPr>
            <a:r>
              <a:t>Documentation can go stale; date versions and rerun the checks.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Evidence trail: input → result</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Q: May I appeal on day 12?</a:t>
            </a:r>
          </a:p>
          <a:p>
            <a:pPr>
              <a:defRPr sz="1800" b="0">
                <a:solidFill>
                  <a:srgbClr val="182B40"/>
                </a:solidFill>
                <a:latin typeface="Aptos"/>
              </a:defRPr>
            </a:pPr>
          </a:p>
          <a:p>
            <a:pPr>
              <a:defRPr sz="1800" b="0">
                <a:solidFill>
                  <a:srgbClr val="182B40"/>
                </a:solidFill>
                <a:latin typeface="Aptos"/>
              </a:defRPr>
            </a:pPr>
            <a:r>
              <a:t>A: No; the ten-day window has passed [P4], subject to the policy version used.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28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2352" y="1719072"/>
            <a:ext cx="5760720" cy="283464"/>
          </a:xfrm>
          <a:prstGeom prst="rect">
            <a:avLst/>
          </a:prstGeom>
          <a:noFill/>
        </p:spPr>
        <p:txBody>
          <a:bodyPr wrap="square" lIns="22860" rIns="22860" tIns="9144">
            <a:spAutoFit/>
          </a:bodyPr>
          <a:lstStyle/>
          <a:p>
            <a:pPr>
              <a:defRPr sz="1300" b="1">
                <a:solidFill>
                  <a:srgbClr val="255E9C"/>
                </a:solidFill>
                <a:latin typeface="Aptos"/>
              </a:defRPr>
            </a:pPr>
            <a:r>
              <a:t>GIVEN</a:t>
            </a:r>
          </a:p>
        </p:txBody>
      </p:sp>
      <p:sp>
        <p:nvSpPr>
          <p:cNvPr id="11" name="Rounded Rectangle 10"/>
          <p:cNvSpPr/>
          <p:nvPr/>
        </p:nvSpPr>
        <p:spPr>
          <a:xfrm>
            <a:off x="5065776" y="2048255"/>
            <a:ext cx="6035040" cy="950976"/>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2157984"/>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P4: appeals must be filed within ten days.</a:t>
            </a:r>
          </a:p>
        </p:txBody>
      </p:sp>
      <p:sp>
        <p:nvSpPr>
          <p:cNvPr id="13" name="TextBox 12"/>
          <p:cNvSpPr txBox="1"/>
          <p:nvPr/>
        </p:nvSpPr>
        <p:spPr>
          <a:xfrm>
            <a:off x="5102352" y="3072384"/>
            <a:ext cx="5760720" cy="283464"/>
          </a:xfrm>
          <a:prstGeom prst="rect">
            <a:avLst/>
          </a:prstGeom>
          <a:noFill/>
        </p:spPr>
        <p:txBody>
          <a:bodyPr wrap="square" lIns="22860" rIns="22860" tIns="9144">
            <a:spAutoFit/>
          </a:bodyPr>
          <a:lstStyle/>
          <a:p>
            <a:pPr>
              <a:defRPr sz="1300" b="1">
                <a:solidFill>
                  <a:srgbClr val="C7682C"/>
                </a:solidFill>
                <a:latin typeface="Aptos"/>
              </a:defRPr>
            </a:pPr>
            <a:r>
              <a:t>QUESTION</a:t>
            </a:r>
          </a:p>
        </p:txBody>
      </p:sp>
      <p:sp>
        <p:nvSpPr>
          <p:cNvPr id="14" name="Rounded Rectangle 13"/>
          <p:cNvSpPr/>
          <p:nvPr/>
        </p:nvSpPr>
        <p:spPr>
          <a:xfrm>
            <a:off x="5065776" y="3401568"/>
            <a:ext cx="6035040" cy="950976"/>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2936" y="3511296"/>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Q: May I appeal on day 12?</a:t>
            </a:r>
          </a:p>
        </p:txBody>
      </p:sp>
      <p:sp>
        <p:nvSpPr>
          <p:cNvPr id="16" name="TextBox 15"/>
          <p:cNvSpPr txBox="1"/>
          <p:nvPr/>
        </p:nvSpPr>
        <p:spPr>
          <a:xfrm>
            <a:off x="5102352" y="4425696"/>
            <a:ext cx="5760720" cy="283464"/>
          </a:xfrm>
          <a:prstGeom prst="rect">
            <a:avLst/>
          </a:prstGeom>
          <a:noFill/>
        </p:spPr>
        <p:txBody>
          <a:bodyPr wrap="square" lIns="22860" rIns="22860" tIns="9144">
            <a:spAutoFit/>
          </a:bodyPr>
          <a:lstStyle/>
          <a:p>
            <a:pPr>
              <a:defRPr sz="1300" b="1">
                <a:solidFill>
                  <a:srgbClr val="117E6E"/>
                </a:solidFill>
                <a:latin typeface="Aptos"/>
              </a:defRPr>
            </a:pPr>
            <a:r>
              <a:t>SUPPORTED ANSWER</a:t>
            </a:r>
          </a:p>
        </p:txBody>
      </p:sp>
      <p:sp>
        <p:nvSpPr>
          <p:cNvPr id="17" name="Rounded Rectangle 16"/>
          <p:cNvSpPr/>
          <p:nvPr/>
        </p:nvSpPr>
        <p:spPr>
          <a:xfrm>
            <a:off x="5065776" y="4754880"/>
            <a:ext cx="6035040" cy="950976"/>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4864608"/>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A: No; the ten-day window has passed [P4], subject to the policy version used.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Notebook: run the prepared example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Present a self-contained end-to-end policy assistant.</a:t>
            </a:r>
          </a:p>
          <a:p>
            <a:pPr>
              <a:defRPr sz="1800" b="0">
                <a:solidFill>
                  <a:srgbClr val="182B40"/>
                </a:solidFill>
                <a:latin typeface="Aptos"/>
              </a:defRPr>
            </a:pPr>
          </a:p>
          <a:p>
            <a:pPr>
              <a:defRPr sz="1800" b="0">
                <a:solidFill>
                  <a:srgbClr val="182B40"/>
                </a:solidFill>
                <a:latin typeface="Aptos"/>
              </a:defRPr>
            </a:pPr>
            <a:r>
              <a:t>Read the original output before editing.</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29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Run an answerable student policy question</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Run a no-answer question</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Demonstrate blocked staff-only access</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Explain one failure and propose a new test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Find the input and check in Python</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Locate the supplied input, the transformation, the checking line and the printed result.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30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Input data</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Python operation</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Check</a:t>
            </a:r>
          </a:p>
        </p:txBody>
      </p:sp>
      <p:cxnSp>
        <p:nvCxnSpPr>
          <p:cNvPr id="21" name="Connector 20"/>
          <p:cNvCxnSpPr/>
          <p:nvPr/>
        </p:nvCxnSpPr>
        <p:spPr>
          <a:xfrm>
            <a:off x="8019288" y="438912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2" name="Chevron 21"/>
          <p:cNvSpPr/>
          <p:nvPr/>
        </p:nvSpPr>
        <p:spPr>
          <a:xfrm>
            <a:off x="7936992" y="453542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257800" y="463600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94960" y="474573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Recorded result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Predict one controlled change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Use a new policy version and explain which index and tests must change.</a:t>
            </a:r>
          </a:p>
          <a:p>
            <a:pPr>
              <a:defRPr sz="1800" b="0">
                <a:solidFill>
                  <a:srgbClr val="182B40"/>
                </a:solidFill>
                <a:latin typeface="Aptos"/>
              </a:defRPr>
            </a:pPr>
          </a:p>
          <a:p>
            <a:pPr>
              <a:defRPr sz="1800" b="0">
                <a:solidFill>
                  <a:srgbClr val="182B40"/>
                </a:solidFill>
                <a:latin typeface="Aptos"/>
              </a:defRPr>
            </a:pPr>
            <a:r>
              <a:t>What should change in the result? What stays fixed?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31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83480" y="2084831"/>
            <a:ext cx="2816352" cy="205740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20640" y="2194560"/>
            <a:ext cx="2542032" cy="1856231"/>
          </a:xfrm>
          <a:prstGeom prst="rect">
            <a:avLst/>
          </a:prstGeom>
          <a:noFill/>
        </p:spPr>
        <p:txBody>
          <a:bodyPr wrap="square" lIns="22860" rIns="22860" tIns="9144" anchor="ctr">
            <a:spAutoFit/>
          </a:bodyPr>
          <a:lstStyle/>
          <a:p>
            <a:pPr algn="ctr">
              <a:defRPr sz="1800" b="1">
                <a:solidFill>
                  <a:srgbClr val="182B40"/>
                </a:solidFill>
                <a:latin typeface="Aptos"/>
              </a:defRPr>
            </a:pPr>
            <a:r>
              <a:t>Before: original case</a:t>
            </a:r>
          </a:p>
        </p:txBody>
      </p:sp>
      <p:sp>
        <p:nvSpPr>
          <p:cNvPr id="12" name="Rounded Rectangle 11"/>
          <p:cNvSpPr/>
          <p:nvPr/>
        </p:nvSpPr>
        <p:spPr>
          <a:xfrm>
            <a:off x="8247888" y="2084831"/>
            <a:ext cx="2816352" cy="205740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85048" y="2194560"/>
            <a:ext cx="2542032" cy="1856231"/>
          </a:xfrm>
          <a:prstGeom prst="rect">
            <a:avLst/>
          </a:prstGeom>
          <a:noFill/>
        </p:spPr>
        <p:txBody>
          <a:bodyPr wrap="square" lIns="22860" rIns="22860" tIns="9144" anchor="ctr">
            <a:spAutoFit/>
          </a:bodyPr>
          <a:lstStyle/>
          <a:p>
            <a:pPr algn="ctr">
              <a:defRPr sz="1800" b="1">
                <a:solidFill>
                  <a:srgbClr val="182B40"/>
                </a:solidFill>
                <a:latin typeface="Aptos"/>
              </a:defRPr>
            </a:pPr>
            <a:r>
              <a:t>After: one change</a:t>
            </a:r>
          </a:p>
        </p:txBody>
      </p:sp>
      <p:sp>
        <p:nvSpPr>
          <p:cNvPr id="14" name="TextBox 13"/>
          <p:cNvSpPr txBox="1"/>
          <p:nvPr/>
        </p:nvSpPr>
        <p:spPr>
          <a:xfrm>
            <a:off x="5047488" y="4709160"/>
            <a:ext cx="5989320" cy="612648"/>
          </a:xfrm>
          <a:prstGeom prst="rect">
            <a:avLst/>
          </a:prstGeom>
          <a:noFill/>
        </p:spPr>
        <p:txBody>
          <a:bodyPr wrap="square" lIns="22860" rIns="22860" tIns="9144">
            <a:spAutoFit/>
          </a:bodyPr>
          <a:lstStyle/>
          <a:p>
            <a:pPr>
              <a:defRPr sz="1600" b="1">
                <a:solidFill>
                  <a:srgbClr val="117E6E"/>
                </a:solidFill>
                <a:latin typeface="Aptos"/>
              </a:defRPr>
            </a:pPr>
            <a:r>
              <a:t>Keep all other inputs fixed.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Run, compare and record</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Record the input, the one changed setting, the observed result and a reason for any difference.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32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29200" y="1792224"/>
            <a:ext cx="1908047" cy="64008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66360" y="1901952"/>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Input</a:t>
            </a:r>
          </a:p>
        </p:txBody>
      </p:sp>
      <p:sp>
        <p:nvSpPr>
          <p:cNvPr id="12" name="Rounded Rectangle 11"/>
          <p:cNvSpPr/>
          <p:nvPr/>
        </p:nvSpPr>
        <p:spPr>
          <a:xfrm>
            <a:off x="7010399" y="1792224"/>
            <a:ext cx="1908047" cy="64008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47560" y="1901952"/>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Setting</a:t>
            </a:r>
          </a:p>
        </p:txBody>
      </p:sp>
      <p:sp>
        <p:nvSpPr>
          <p:cNvPr id="14" name="Rounded Rectangle 13"/>
          <p:cNvSpPr/>
          <p:nvPr/>
        </p:nvSpPr>
        <p:spPr>
          <a:xfrm>
            <a:off x="8991599" y="1792224"/>
            <a:ext cx="1908047" cy="64008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28760" y="1901952"/>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Result</a:t>
            </a:r>
          </a:p>
        </p:txBody>
      </p:sp>
      <p:sp>
        <p:nvSpPr>
          <p:cNvPr id="16" name="Rounded Rectangle 15"/>
          <p:cNvSpPr/>
          <p:nvPr/>
        </p:nvSpPr>
        <p:spPr>
          <a:xfrm>
            <a:off x="5029200" y="2560320"/>
            <a:ext cx="1908047" cy="64008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66360" y="2670048"/>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Original</a:t>
            </a:r>
          </a:p>
        </p:txBody>
      </p:sp>
      <p:sp>
        <p:nvSpPr>
          <p:cNvPr id="18" name="Rounded Rectangle 17"/>
          <p:cNvSpPr/>
          <p:nvPr/>
        </p:nvSpPr>
        <p:spPr>
          <a:xfrm>
            <a:off x="7010399" y="2560320"/>
            <a:ext cx="1908047" cy="64008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47560" y="2670048"/>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baseline</a:t>
            </a:r>
          </a:p>
        </p:txBody>
      </p:sp>
      <p:sp>
        <p:nvSpPr>
          <p:cNvPr id="20" name="Rounded Rectangle 19"/>
          <p:cNvSpPr/>
          <p:nvPr/>
        </p:nvSpPr>
        <p:spPr>
          <a:xfrm>
            <a:off x="8991599" y="2560320"/>
            <a:ext cx="1908047" cy="64008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28760" y="2670048"/>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record</a:t>
            </a:r>
          </a:p>
        </p:txBody>
      </p:sp>
      <p:sp>
        <p:nvSpPr>
          <p:cNvPr id="22" name="Rounded Rectangle 21"/>
          <p:cNvSpPr/>
          <p:nvPr/>
        </p:nvSpPr>
        <p:spPr>
          <a:xfrm>
            <a:off x="5029200" y="3328415"/>
            <a:ext cx="1908047" cy="640080"/>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66360" y="3438144"/>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Changed</a:t>
            </a:r>
          </a:p>
        </p:txBody>
      </p:sp>
      <p:sp>
        <p:nvSpPr>
          <p:cNvPr id="24" name="Rounded Rectangle 23"/>
          <p:cNvSpPr/>
          <p:nvPr/>
        </p:nvSpPr>
        <p:spPr>
          <a:xfrm>
            <a:off x="7010399" y="3328415"/>
            <a:ext cx="1908047" cy="640080"/>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47560" y="3438144"/>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one edit</a:t>
            </a:r>
          </a:p>
        </p:txBody>
      </p:sp>
      <p:sp>
        <p:nvSpPr>
          <p:cNvPr id="26" name="Rounded Rectangle 25"/>
          <p:cNvSpPr/>
          <p:nvPr/>
        </p:nvSpPr>
        <p:spPr>
          <a:xfrm>
            <a:off x="8991599" y="3328415"/>
            <a:ext cx="1908047" cy="640080"/>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28760" y="3438144"/>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compare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Measure without hiding the denominator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Task success, citation support, no-answer accuracy and access gate</a:t>
            </a:r>
          </a:p>
          <a:p>
            <a:pPr>
              <a:defRPr sz="1800" b="0">
                <a:solidFill>
                  <a:srgbClr val="182B40"/>
                </a:solidFill>
                <a:latin typeface="Aptos"/>
              </a:defRPr>
            </a:pPr>
          </a:p>
          <a:p>
            <a:pPr>
              <a:defRPr sz="1800" b="0">
                <a:solidFill>
                  <a:srgbClr val="182B40"/>
                </a:solidFill>
                <a:latin typeface="Aptos"/>
              </a:defRPr>
            </a:pPr>
            <a:r>
              <a:t>Write the numerator, denominator and one failure case.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33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Define success</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Count successes</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Count cases</a:t>
            </a:r>
          </a:p>
        </p:txBody>
      </p:sp>
      <p:cxnSp>
        <p:nvCxnSpPr>
          <p:cNvPr id="21" name="Connector 20"/>
          <p:cNvCxnSpPr/>
          <p:nvPr/>
        </p:nvCxnSpPr>
        <p:spPr>
          <a:xfrm>
            <a:off x="8019288" y="438912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2" name="Chevron 21"/>
          <p:cNvSpPr/>
          <p:nvPr/>
        </p:nvSpPr>
        <p:spPr>
          <a:xfrm>
            <a:off x="7936992" y="453542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257800" y="463600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94960" y="474573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Inspect errors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Error detective: find the layer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Plausible wrong claim: A polished demonstration without tests establishes that the system is ready.</a:t>
            </a:r>
          </a:p>
          <a:p>
            <a:pPr>
              <a:defRPr sz="1800" b="0">
                <a:solidFill>
                  <a:srgbClr val="182B40"/>
                </a:solidFill>
                <a:latin typeface="Aptos"/>
              </a:defRPr>
            </a:pPr>
          </a:p>
          <a:p>
            <a:pPr>
              <a:defRPr sz="1800" b="0">
                <a:solidFill>
                  <a:srgbClr val="182B40"/>
                </a:solidFill>
                <a:latin typeface="Aptos"/>
              </a:defRPr>
            </a:pPr>
            <a:r>
              <a:t>Correct it using the case evidence.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34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5852160" cy="365760"/>
          </a:xfrm>
          <a:prstGeom prst="rect">
            <a:avLst/>
          </a:prstGeom>
          <a:noFill/>
        </p:spPr>
        <p:txBody>
          <a:bodyPr wrap="square" lIns="22860" rIns="22860" tIns="9144">
            <a:spAutoFit/>
          </a:bodyPr>
          <a:lstStyle/>
          <a:p>
            <a:pPr>
              <a:defRPr sz="1500" b="1">
                <a:solidFill>
                  <a:srgbClr val="255E9C"/>
                </a:solidFill>
                <a:latin typeface="Aptos"/>
              </a:defRPr>
            </a:pPr>
            <a:r>
              <a:t>TEST THE CLAIM AGAINST THE EVIDENCE</a:t>
            </a:r>
          </a:p>
        </p:txBody>
      </p:sp>
      <p:sp>
        <p:nvSpPr>
          <p:cNvPr id="11" name="TextBox 10"/>
          <p:cNvSpPr txBox="1"/>
          <p:nvPr/>
        </p:nvSpPr>
        <p:spPr>
          <a:xfrm>
            <a:off x="5084064" y="2066543"/>
            <a:ext cx="5669280" cy="320040"/>
          </a:xfrm>
          <a:prstGeom prst="rect">
            <a:avLst/>
          </a:prstGeom>
          <a:noFill/>
        </p:spPr>
        <p:txBody>
          <a:bodyPr wrap="square" lIns="22860" rIns="22860" tIns="9144">
            <a:spAutoFit/>
          </a:bodyPr>
          <a:lstStyle/>
          <a:p>
            <a:pPr>
              <a:defRPr sz="1300" b="1">
                <a:solidFill>
                  <a:srgbClr val="B74945"/>
                </a:solidFill>
                <a:latin typeface="Aptos"/>
              </a:defRPr>
            </a:pPr>
            <a:r>
              <a:t>TEMPTING CLAIM</a:t>
            </a:r>
          </a:p>
        </p:txBody>
      </p:sp>
      <p:sp>
        <p:nvSpPr>
          <p:cNvPr id="12" name="Rounded Rectangle 11"/>
          <p:cNvSpPr/>
          <p:nvPr/>
        </p:nvSpPr>
        <p:spPr>
          <a:xfrm>
            <a:off x="5047488" y="2441448"/>
            <a:ext cx="6126480" cy="1014984"/>
          </a:xfrm>
          <a:prstGeom prst="roundRect">
            <a:avLst/>
          </a:prstGeom>
          <a:solidFill>
            <a:srgbClr val="FD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84648" y="2551176"/>
            <a:ext cx="5852160" cy="813816"/>
          </a:xfrm>
          <a:prstGeom prst="rect">
            <a:avLst/>
          </a:prstGeom>
          <a:noFill/>
        </p:spPr>
        <p:txBody>
          <a:bodyPr wrap="square" lIns="22860" rIns="22860" tIns="9144" anchor="ctr">
            <a:spAutoFit/>
          </a:bodyPr>
          <a:lstStyle/>
          <a:p>
            <a:pPr algn="ctr">
              <a:defRPr sz="1500" b="1">
                <a:solidFill>
                  <a:srgbClr val="182B40"/>
                </a:solidFill>
                <a:latin typeface="Aptos"/>
              </a:defRPr>
            </a:pPr>
            <a:r>
              <a:t>A polished demonstration without tests establishes that the system is ready.</a:t>
            </a:r>
          </a:p>
        </p:txBody>
      </p:sp>
      <p:sp>
        <p:nvSpPr>
          <p:cNvPr id="14" name="TextBox 13"/>
          <p:cNvSpPr txBox="1"/>
          <p:nvPr/>
        </p:nvSpPr>
        <p:spPr>
          <a:xfrm>
            <a:off x="5084064" y="3666744"/>
            <a:ext cx="5669280" cy="320040"/>
          </a:xfrm>
          <a:prstGeom prst="rect">
            <a:avLst/>
          </a:prstGeom>
          <a:noFill/>
        </p:spPr>
        <p:txBody>
          <a:bodyPr wrap="square" lIns="22860" rIns="22860" tIns="9144">
            <a:spAutoFit/>
          </a:bodyPr>
          <a:lstStyle/>
          <a:p>
            <a:pPr>
              <a:defRPr sz="1300" b="1">
                <a:solidFill>
                  <a:srgbClr val="117E6E"/>
                </a:solidFill>
                <a:latin typeface="Aptos"/>
              </a:defRPr>
            </a:pPr>
            <a:r>
              <a:t>SUPPORTED EXPLANATION</a:t>
            </a:r>
          </a:p>
        </p:txBody>
      </p:sp>
      <p:sp>
        <p:nvSpPr>
          <p:cNvPr id="15" name="Rounded Rectangle 14"/>
          <p:cNvSpPr/>
          <p:nvPr/>
        </p:nvSpPr>
        <p:spPr>
          <a:xfrm>
            <a:off x="5047488" y="4050791"/>
            <a:ext cx="6126480" cy="10058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4160520"/>
            <a:ext cx="5852160" cy="804672"/>
          </a:xfrm>
          <a:prstGeom prst="rect">
            <a:avLst/>
          </a:prstGeom>
          <a:noFill/>
        </p:spPr>
        <p:txBody>
          <a:bodyPr wrap="square" lIns="22860" rIns="22860" tIns="9144" anchor="ctr">
            <a:spAutoFit/>
          </a:bodyPr>
          <a:lstStyle/>
          <a:p>
            <a:pPr algn="ctr">
              <a:defRPr sz="1500" b="1">
                <a:solidFill>
                  <a:srgbClr val="182B40"/>
                </a:solidFill>
                <a:latin typeface="Aptos"/>
              </a:defRPr>
            </a:pPr>
            <a:r>
              <a:t>Show the test cases, negative cases, access result and remaining limitations.</a:t>
            </a:r>
          </a:p>
        </p:txBody>
      </p:sp>
      <p:sp>
        <p:nvSpPr>
          <p:cNvPr id="17" name="TextBox 16"/>
          <p:cNvSpPr txBox="1"/>
          <p:nvPr/>
        </p:nvSpPr>
        <p:spPr>
          <a:xfrm>
            <a:off x="5120640" y="5321808"/>
            <a:ext cx="5897880" cy="566928"/>
          </a:xfrm>
          <a:prstGeom prst="rect">
            <a:avLst/>
          </a:prstGeom>
          <a:noFill/>
        </p:spPr>
        <p:txBody>
          <a:bodyPr wrap="square" lIns="22860" rIns="22860" tIns="9144">
            <a:spAutoFit/>
          </a:bodyPr>
          <a:lstStyle/>
          <a:p>
            <a:pPr>
              <a:defRPr sz="1300" b="0">
                <a:solidFill>
                  <a:srgbClr val="445665"/>
                </a:solidFill>
                <a:latin typeface="Aptos"/>
              </a:defRPr>
            </a:pPr>
            <a:r>
              <a:t>Name a test that would catch this failure.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Transfer to a new situation</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new policy edition changes the appeal window. What records, index and tests need updating?</a:t>
            </a:r>
          </a:p>
          <a:p>
            <a:pPr>
              <a:defRPr sz="1800" b="0">
                <a:solidFill>
                  <a:srgbClr val="182B40"/>
                </a:solidFill>
                <a:latin typeface="Aptos"/>
              </a:defRPr>
            </a:pPr>
          </a:p>
          <a:p>
            <a:pPr>
              <a:defRPr sz="1800" b="0">
                <a:solidFill>
                  <a:srgbClr val="182B40"/>
                </a:solidFill>
                <a:latin typeface="Aptos"/>
              </a:defRPr>
            </a:pPr>
            <a:r>
              <a:t>Explain which source or test would settle it.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35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Use the visible evidence</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Flag missing or unsafe evidence</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Explain it to a partner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Without reading the slide, name the input, one processing step and the check. Your partner should ask “How do you know?”</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36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Question</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Role check</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Evidence check</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Exam rehearsal · explain and apply</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What makes a fair baseline comparison?</a:t>
            </a:r>
          </a:p>
          <a:p>
            <a:pPr>
              <a:defRPr sz="1800" b="0">
                <a:solidFill>
                  <a:srgbClr val="182B40"/>
                </a:solidFill>
                <a:latin typeface="Aptos"/>
              </a:defRPr>
            </a:pPr>
          </a:p>
          <a:p>
            <a:pPr>
              <a:defRPr sz="1800" b="0">
                <a:solidFill>
                  <a:srgbClr val="182B40"/>
                </a:solidFill>
                <a:latin typeface="Aptos"/>
              </a:defRPr>
            </a:pPr>
            <a:r>
              <a:t>Write a short answer, then compare with the guide.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37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State the core idea</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Use a case detail or calculation</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Add a limitation</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Compare with the Word guide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Exam rehearsal · explain and apply</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Name the four demonstration cases.</a:t>
            </a:r>
          </a:p>
          <a:p>
            <a:pPr>
              <a:defRPr sz="1800" b="0">
                <a:solidFill>
                  <a:srgbClr val="182B40"/>
                </a:solidFill>
                <a:latin typeface="Aptos"/>
              </a:defRPr>
            </a:pPr>
          </a:p>
          <a:p>
            <a:pPr>
              <a:defRPr sz="1800" b="0">
                <a:solidFill>
                  <a:srgbClr val="182B40"/>
                </a:solidFill>
                <a:latin typeface="Aptos"/>
              </a:defRPr>
            </a:pPr>
            <a:r>
              <a:t>Write a short answer, then compare with the guide.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38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State the core idea</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Use a case detail or calculation</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Add a limitation</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Compare with the Word guide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What to hand in</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Demo, test table, known limits and individual explanation.</a:t>
            </a:r>
          </a:p>
          <a:p>
            <a:pPr>
              <a:defRPr sz="1800" b="0">
                <a:solidFill>
                  <a:srgbClr val="182B40"/>
                </a:solidFill>
                <a:latin typeface="Aptos"/>
              </a:defRPr>
            </a:pPr>
          </a:p>
          <a:p>
            <a:pPr>
              <a:defRPr sz="1800" b="0">
                <a:solidFill>
                  <a:srgbClr val="182B40"/>
                </a:solidFill>
                <a:latin typeface="Aptos"/>
              </a:defRPr>
            </a:pPr>
            <a:r>
              <a:t>Include the one changed input and an error explanation.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39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Original run</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One changed input</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Comparison</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Explanation + source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Three ideas to recall next week</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Show the question-to-evidence path, your measured change and a repeatable handover.</a:t>
            </a:r>
          </a:p>
          <a:p>
            <a:pPr>
              <a:defRPr sz="1800" b="0">
                <a:solidFill>
                  <a:srgbClr val="182B40"/>
                </a:solidFill>
                <a:latin typeface="Aptos"/>
              </a:defRPr>
            </a:pPr>
          </a:p>
          <a:p>
            <a:pPr>
              <a:defRPr sz="1800" b="0">
                <a:solidFill>
                  <a:srgbClr val="182B40"/>
                </a:solidFill>
                <a:latin typeface="Aptos"/>
              </a:defRPr>
            </a:pPr>
            <a:r>
              <a:t>Read the linked official sources in the Word guide and redraw one diagram from memory.</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40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Integrated system</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Attribution</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Fresh challenge</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Handover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