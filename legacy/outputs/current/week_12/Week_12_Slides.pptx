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fresh student question and a previously unseen failure are presented. The visible slide states: The fresh policy question</a:t>
            </a:r>
          </a:p>
          <a:p/>
          <a:p>
            <a:r>
              <a:t>A student appeals on day 12. P4 says appeals must be filed within ten days. The team must answer, cite, test and explain a fresh failure. Reveal that the case will be revisited after four short concept cycles.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fresh student question and a previously unseen failure are presented. The visible slide states: A student appeals on day 12. P4 says appeals must be filed within ten days. The team must answer, cite, test and explain a fresh failure.</a:t>
            </a:r>
          </a:p>
          <a:p/>
          <a:p>
            <a:r>
              <a:t>Choose an initial answer and name one piece of evidence you need. Accept reasonable uncertainty; record the initial votes to revisit at the end.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fresh student question and a previously unseen failure are presented. The visible slide states: We will predict, connect an analogy, trace a mechanism, work an example, then explain a decision. Point to the four named ideas, then show where the notebook experiment fits.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fresh student question and a previously unseen failure are presented. The visible slide states: Which three checks precede a confident reply?</a:t>
            </a:r>
          </a:p>
          <a:p/>
          <a:p>
            <a:r>
              <a:t>Make a choice before we explain the diagram. The intended answer is Allowed source, relevant passage and supported claim. The tempting claim is An answer is valid because it includes [P4]. Do not show which card is correct until the reveal.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fresh student question and a previously unseen failure are presented. The visible slide states: A museum guide checks which rooms a visitor may enter before quoting a label.</a:t>
            </a:r>
          </a:p>
          <a:p/>
          <a:p>
            <a:r>
              <a:t>What matches our case, and where does the analogy stop? The boundary is: A citation needs to support the exact statement and the version in force.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fresh student question and a previously unseen failure are presented. The visible slide states: Match each everyday part to the technical part.</a:t>
            </a:r>
          </a:p>
          <a:p/>
          <a:p>
            <a:r>
              <a:t>Analogy limit: A citation needs to support the exact statement and the version in force. The three precise mappings are [['Visitor role', 'access check'], ['Exhibit label', 'retrieved P4'], ['Guided answer', 'cited response']].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fresh student question and a previously unseen failure are presented. The visible slide states: The student question enters retrieval, access checks, answer construction and evaluation.</a:t>
            </a:r>
          </a:p>
          <a:p/>
          <a:p>
            <a:r>
              <a:t>Trace the arrows from left to right. The weekly example is: For day 12 under the supplied ten-day P4, answer no and cite P4 with the used version. State what the analogy does not explain: A citation needs to support the exact statement and the version in force.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fresh student question and a previously unseen failure are presented. The visible slide states: For day 12 under the supplied ten-day P4, answer no and cite P4 with the used version.</a:t>
            </a:r>
          </a:p>
          <a:p/>
          <a:p>
            <a:r>
              <a:t>Point to the evidence before giving your conclusion. The expected reasoning concludes: Allowed source, relevant passage and supported claim. Distinguish measured results from illustrative numbers.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fresh student question and a previously unseen failure are presented. The visible slide states: Allowed source, relevant passage and supported claim.</a:t>
            </a:r>
          </a:p>
          <a:p/>
          <a:p>
            <a:r>
              <a:t>Tempting mistake: An answer is valid because it includes [P4]. The earlier question was Which three checks precede a confident reply? Ask how this differs from the wrong claim.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fresh student question and a previously unseen failure are presented. The visible slide states: What proves the work is yours and reproducible?</a:t>
            </a:r>
          </a:p>
          <a:p/>
          <a:p>
            <a:r>
              <a:t>Make a choice before we explain the diagram. The intended answer is The changed code, settings, inputs and explanation. The tempting claim is A polished demonstration alone proves understanding. Do not show which card is correct until the reveal.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fresh student question and a previously unseen failure are presented. The visible slide states: A science notebook shows a changed setting, observation and explanation.</a:t>
            </a:r>
          </a:p>
          <a:p/>
          <a:p>
            <a:r>
              <a:t>What matches our case, and where does the analogy stop? The boundary is: A before/after result in one toy case cannot establish general reliability.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fresh student question and a previously unseen failure are presented. The visible slide states: Match each everyday part to the technical part.</a:t>
            </a:r>
          </a:p>
          <a:p/>
          <a:p>
            <a:r>
              <a:t>Analogy limit: A before/after result in one toy case cannot establish general reliability. The three precise mappings are [['Setting change', 'your code change'], ['Measurement', 'experiment table'], ['Reason', 'individual explanation']].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fresh student question and a previously unseen failure are presented. The visible slide states: Each learner shows the part they changed and explains the choice.</a:t>
            </a:r>
          </a:p>
          <a:p/>
          <a:p>
            <a:r>
              <a:t>Trace the arrows from left to right. The weekly example is: Show baseline, chosen setting, case counts and one error that still remains. State what the analogy does not explain: A before/after result in one toy case cannot establish general reliability.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fresh student question and a previously unseen failure are presented. The visible slide states: Show baseline, chosen setting, case counts and one error that still remains.</a:t>
            </a:r>
          </a:p>
          <a:p/>
          <a:p>
            <a:r>
              <a:t>Point to the evidence before giving your conclusion. The expected reasoning concludes: The changed code, settings, inputs and explanation. Distinguish measured results from illustrative numbers.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fresh student question and a previously unseen failure are presented. The visible slide states: The changed code, settings, inputs and explanation.</a:t>
            </a:r>
          </a:p>
          <a:p/>
          <a:p>
            <a:r>
              <a:t>Tempting mistake: A polished demonstration alone proves understanding. The earlier question was What proves the work is yours and reproducible? Ask how this differs from the wrong claim.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fresh student question and a previously unseen failure are presented. The visible slide states: Which layer deserves the first test here?</a:t>
            </a:r>
          </a:p>
          <a:p/>
          <a:p>
            <a:r>
              <a:t>Make a choice before we explain the diagram. The intended answer is Answer support using the retrieved P4 passage. The tempting claim is Every wrong answer is a retrieval failure. Do not show which card is correct until the reveal.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fresh student question and a previously unseen failure are presented. The visible slide states: A mechanic diagnoses a new symptom by testing the failing part.</a:t>
            </a:r>
          </a:p>
          <a:p/>
          <a:p>
            <a:r>
              <a:t>What matches our case, and where does the analogy stop? The boundary is: Some failures cross layers; record uncertainty and test competing causes.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fresh student question and a previously unseen failure are presented. The visible slide states: Match each everyday part to the technical part.</a:t>
            </a:r>
          </a:p>
          <a:p/>
          <a:p>
            <a:r>
              <a:t>Analogy limit: Some failures cross layers; record uncertainty and test competing causes. The three precise mappings are [['Symptom', 'new failure'], ['Component', 'likely layer'], ['Check', 'targeted test']].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fresh student question and a previously unseen failure are presented. The visible slide states: A new example of a practised failure tests understanding rather than memorization.</a:t>
            </a:r>
          </a:p>
          <a:p/>
          <a:p>
            <a:r>
              <a:t>Trace the arrows from left to right. The weekly example is: If P4 is retrieved but the answer says 12 days is allowed, test claim support before changing search. State what the analogy does not explain: Some failures cross layers; record uncertainty and test competing causes.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fresh student question and a previously unseen failure are presented. The visible slide states: If P4 is retrieved but the answer says 12 days is allowed, test claim support before changing search.</a:t>
            </a:r>
          </a:p>
          <a:p/>
          <a:p>
            <a:r>
              <a:t>Point to the evidence before giving your conclusion. The expected reasoning concludes: Answer support using the retrieved P4 passage. Distinguish measured results from illustrative numbers.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fresh student question and a previously unseen failure are presented. The visible slide states: Answer support using the retrieved P4 passage.</a:t>
            </a:r>
          </a:p>
          <a:p/>
          <a:p>
            <a:r>
              <a:t>Tempting mistake: Every wrong answer is a retrieval failure. The earlier question was Which layer deserves the first test here? Ask how this differs from the wrong claim.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fresh student question and a previously unseen failure are presented. The visible slide states: What can the next maintainer reproduce?</a:t>
            </a:r>
          </a:p>
          <a:p/>
          <a:p>
            <a:r>
              <a:t>Make a choice before we explain the diagram. The intended answer is The setup, evaluation and known-failure checks from the handover. The tempting claim is The notebook is self-explanatory without instructions. Do not show which card is correct until the reveal.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fresh student question and a previously unseen failure are presented. The visible slide states: A relief teacher can run a lesson from a clear folder and known limits.</a:t>
            </a:r>
          </a:p>
          <a:p/>
          <a:p>
            <a:r>
              <a:t>What matches our case, and where does the analogy stop? The boundary is: Documentation can go stale; date versions and rerun the checks.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fresh student question and a previously unseen failure are presented. The visible slide states: Match each everyday part to the technical part.</a:t>
            </a:r>
          </a:p>
          <a:p/>
          <a:p>
            <a:r>
              <a:t>Analogy limit: Documentation can go stale; date versions and rerun the checks. The three precise mappings are [['Folder', 'setup guide'], ['Known gaps', 'limitations'], ['Trial run', 'repeatable handover']].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fresh student question and a previously unseen failure are presented. The visible slide states: Another person can run, test and review the solution from written instructions.</a:t>
            </a:r>
          </a:p>
          <a:p/>
          <a:p>
            <a:r>
              <a:t>Trace the arrows from left to right. The weekly example is: Give installation steps, source versions, test commands, role rules and rollback instructions. State what the analogy does not explain: Documentation can go stale; date versions and rerun the checks.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fresh student question and a previously unseen failure are presented. The visible slide states: Give installation steps, source versions, test commands, role rules and rollback instructions.</a:t>
            </a:r>
          </a:p>
          <a:p/>
          <a:p>
            <a:r>
              <a:t>Point to the evidence before giving your conclusion. The expected reasoning concludes: The setup, evaluation and known-failure checks from the handover. Distinguish measured results from illustrative numbers.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fresh student question and a previously unseen failure are presented. The visible slide states: The setup, evaluation and known-failure checks from the handover.</a:t>
            </a:r>
          </a:p>
          <a:p/>
          <a:p>
            <a:r>
              <a:t>Tempting mistake: The notebook is self-explanatory without instructions. The earlier question was What can the next maintainer reproduce? Ask how this differs from the wrong claim.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fresh student question and a previously unseen failure are presented. The visible slide states: Q: May I appeal on day 12?</a:t>
            </a:r>
          </a:p>
          <a:p/>
          <a:p>
            <a:r>
              <a:t>A: No; the ten-day window has passed [P4], subject to the policy version used. Have one student point to an exact source word or number for each conclusion.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fresh student question and a previously unseen failure are presented. The visible slide states: Present a self-contained end-to-end policy assistant.</a:t>
            </a:r>
          </a:p>
          <a:p/>
          <a:p>
            <a:r>
              <a:t>Read the original output before editing. Use Week_12_Lab.ipynb. This lab is a prepared classroom demonstration with its limitations documented.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fresh student question and a previously unseen failure are presented. The visible slide states: Locate the supplied input, the transformation, the checking line and the printed result. The weekly lab change is: Use a new policy version and explain which index and tests must change.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fresh student question and a previously unseen failure are presented. The visible slide states: Use a new policy version and explain which index and tests must change.</a:t>
            </a:r>
          </a:p>
          <a:p/>
          <a:p>
            <a:r>
              <a:t>What should change in the result? What stays fixed? Ask learners to write their prediction before rerunning the cell.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fresh student question and a previously unseen failure are presented. The visible slide states: Record the input, the one changed setting, the observed result and a reason for any difference. The required evidence is: Demo, test table, known limits and individual explanation.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fresh student question and a previously unseen failure are presented. The visible slide states: Task success, citation support, no-answer accuracy and access gate</a:t>
            </a:r>
          </a:p>
          <a:p/>
          <a:p>
            <a:r>
              <a:t>Write the numerator, denominator and one failure case. Where a measure is qualitative, show the concrete source comparison. Example: A: No; the ten-day window has passed [P4], subject to the policy version used.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fresh student question and a previously unseen failure are presented. The visible slide states: Plausible wrong claim: A polished demonstration without tests establishes that the system is ready.</a:t>
            </a:r>
          </a:p>
          <a:p/>
          <a:p>
            <a:r>
              <a:t>Correct it using the case evidence. The correction is Show the test cases, negative cases, access result and remaining limitations.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fresh student question and a previously unseen failure are presented. The visible slide states: A new policy edition changes the appeal window. What records, index and tests need updating?</a:t>
            </a:r>
          </a:p>
          <a:p/>
          <a:p>
            <a:r>
              <a:t>Explain which source or test would settle it. This is a fresh scenario, so ask for a reason before accepting either short answer.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fresh student question and a previously unseen failure are presented. The visible slide states: Without reading the slide, name the input, one processing step and the check. Your partner should ask “How do you know?” Listen for a causal explanation and one limitation, then revisit a difficult arrow on the board.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fresh student question and a previously unseen failure are presented. The visible slide states: What makes a fair baseline comparison?</a:t>
            </a:r>
          </a:p>
          <a:p/>
          <a:p>
            <a:r>
              <a:t>Write a short answer, then compare with the guide. Model answer after discussion: Same task, matched cases, source version and scoring rubric, with changes and variability recorded. Practice marks: 4.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fresh student question and a previously unseen failure are presented. The visible slide states: Name the four demonstration cases.</a:t>
            </a:r>
          </a:p>
          <a:p/>
          <a:p>
            <a:r>
              <a:t>Write a short answer, then compare with the guide. Model answer after discussion: Answerable, unsupported, access denied, and failure recovery. Practice marks: 4.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fresh student question and a previously unseen failure are presented. The visible slide states: Demo, test table, known limits and individual explanation.</a:t>
            </a:r>
          </a:p>
          <a:p/>
          <a:p>
            <a:r>
              <a:t>Include the one changed input and an error explanation. This weekly evidence receives formative feedback according to the module sequence; refer to the assessment brief for graded work.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fresh student question and a previously unseen failure are presented. The visible slide states: Show the question-to-evidence path, your measured change and a repeatable handover.</a:t>
            </a:r>
          </a:p>
          <a:p/>
          <a:p>
            <a:r>
              <a:t>Read the linked official sources in the Word guide and redraw one diagram from memory. Return to the opening vote and ask whether the evidence changed anyone’s mind. The next week builds on this outcome: Demonstrate the policy assistant and explain its limits with evidence. The target is: Demonstrate the policy assistant and explain its limits with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12 · Final demonstration and explanation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fresh policy question</a:t>
            </a:r>
          </a:p>
          <a:p>
            <a:pPr>
              <a:defRPr sz="1800" b="0">
                <a:solidFill>
                  <a:srgbClr val="182B40"/>
                </a:solidFill>
                <a:latin typeface="Aptos"/>
              </a:defRPr>
            </a:pPr>
          </a:p>
          <a:p>
            <a:pPr>
              <a:defRPr sz="1800" b="0">
                <a:solidFill>
                  <a:srgbClr val="182B40"/>
                </a:solidFill>
                <a:latin typeface="Aptos"/>
              </a:defRPr>
            </a:pPr>
            <a:r>
              <a:t>A student appeals on day 12. P4 says appeals must be filed within ten days. The team must answer, cite, test and explain a fresh failure.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01 / 40</a:t>
            </a:r>
          </a:p>
        </p:txBody>
      </p:sp>
      <p:pic>
        <p:nvPicPr>
          <p:cNvPr id="9" name="Picture 8" descr="s01-0c080453061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student appeals on day 12. P4 says appeals must be filed within ten days. The team must answer, cite, test and explain a fresh failure.</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02 / 40</a:t>
            </a:r>
          </a:p>
        </p:txBody>
      </p:sp>
      <p:pic>
        <p:nvPicPr>
          <p:cNvPr id="9" name="Picture 8" descr="s02-3c8f8b5908a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03 / 40</a:t>
            </a:r>
          </a:p>
        </p:txBody>
      </p:sp>
      <p:pic>
        <p:nvPicPr>
          <p:cNvPr id="9" name="Picture 8" descr="s03-b29bb14aa37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Integrated system</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three checks precede a confident reply?</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04 / 40</a:t>
            </a:r>
          </a:p>
        </p:txBody>
      </p:sp>
      <p:pic>
        <p:nvPicPr>
          <p:cNvPr id="9" name="Picture 8" descr="s04-ae87ee05a52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Integrated system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museum guide checks which rooms a visitor may enter before quoting a label.</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05 / 40</a:t>
            </a:r>
          </a:p>
        </p:txBody>
      </p:sp>
      <p:pic>
        <p:nvPicPr>
          <p:cNvPr id="9" name="Picture 8" descr="s05-fab9a9ec87a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Integrated system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citation needs to support the exact statement and the version in force.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06 / 40</a:t>
            </a:r>
          </a:p>
        </p:txBody>
      </p:sp>
      <p:pic>
        <p:nvPicPr>
          <p:cNvPr id="9" name="Picture 8" descr="s06-1000b7205f5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Integrated system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student question enters retrieval, access checks, answer construction and evaluation.</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07 / 40</a:t>
            </a:r>
          </a:p>
        </p:txBody>
      </p:sp>
      <p:pic>
        <p:nvPicPr>
          <p:cNvPr id="9" name="Picture 8" descr="s07-ac1f4df39f7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Integrated system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For day 12 under the supplied ten-day P4, answer no and cite P4 with the used version.</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08 / 40</a:t>
            </a:r>
          </a:p>
        </p:txBody>
      </p:sp>
      <p:pic>
        <p:nvPicPr>
          <p:cNvPr id="9" name="Picture 8" descr="s08-e001b3a117b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Integrated system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Allowed source, relevant passage and supported claim.</a:t>
            </a:r>
          </a:p>
          <a:p>
            <a:pPr>
              <a:defRPr sz="1800" b="0">
                <a:solidFill>
                  <a:srgbClr val="182B40"/>
                </a:solidFill>
                <a:latin typeface="Aptos"/>
              </a:defRPr>
            </a:pPr>
          </a:p>
          <a:p>
            <a:pPr>
              <a:defRPr sz="1800" b="0">
                <a:solidFill>
                  <a:srgbClr val="182B40"/>
                </a:solidFill>
                <a:latin typeface="Aptos"/>
              </a:defRPr>
            </a:pPr>
            <a:r>
              <a:t>Tempting mistake: An answer is valid because it includes [P4].</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09 / 40</a:t>
            </a:r>
          </a:p>
        </p:txBody>
      </p:sp>
      <p:pic>
        <p:nvPicPr>
          <p:cNvPr id="9" name="Picture 8" descr="s09-36ef53825fa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Attribution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proves the work is yours and reproducible?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10 / 40</a:t>
            </a:r>
          </a:p>
        </p:txBody>
      </p:sp>
      <p:pic>
        <p:nvPicPr>
          <p:cNvPr id="9" name="Picture 8" descr="s10-b1e55976597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Attribution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science notebook shows a changed setting, observation and explanation.</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11 / 40</a:t>
            </a:r>
          </a:p>
        </p:txBody>
      </p:sp>
      <p:pic>
        <p:nvPicPr>
          <p:cNvPr id="9" name="Picture 8" descr="s11-37c84c98aa3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Attribution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before/after result in one toy case cannot establish general reliability.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12 / 40</a:t>
            </a:r>
          </a:p>
        </p:txBody>
      </p:sp>
      <p:pic>
        <p:nvPicPr>
          <p:cNvPr id="9" name="Picture 8" descr="s12-6412d95c106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Attribution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Each learner shows the part they changed and explains the choice.</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13 / 40</a:t>
            </a:r>
          </a:p>
        </p:txBody>
      </p:sp>
      <p:pic>
        <p:nvPicPr>
          <p:cNvPr id="9" name="Picture 8" descr="s13-c6a11c2b0bc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Attribution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Show baseline, chosen setting, case counts and one error that still remains.</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14 / 40</a:t>
            </a:r>
          </a:p>
        </p:txBody>
      </p:sp>
      <p:pic>
        <p:nvPicPr>
          <p:cNvPr id="9" name="Picture 8" descr="s14-5c1e45593b7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Attribution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changed code, settings, inputs and explanation.</a:t>
            </a:r>
          </a:p>
          <a:p>
            <a:pPr>
              <a:defRPr sz="1800" b="0">
                <a:solidFill>
                  <a:srgbClr val="182B40"/>
                </a:solidFill>
                <a:latin typeface="Aptos"/>
              </a:defRPr>
            </a:pPr>
          </a:p>
          <a:p>
            <a:pPr>
              <a:defRPr sz="1800" b="0">
                <a:solidFill>
                  <a:srgbClr val="182B40"/>
                </a:solidFill>
                <a:latin typeface="Aptos"/>
              </a:defRPr>
            </a:pPr>
            <a:r>
              <a:t>Tempting mistake: A polished demonstration alone proves understanding.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15 / 40</a:t>
            </a:r>
          </a:p>
        </p:txBody>
      </p:sp>
      <p:pic>
        <p:nvPicPr>
          <p:cNvPr id="9" name="Picture 8" descr="s15-b729aef3fd0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Fresh challenge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layer deserves the first test here?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16 / 40</a:t>
            </a:r>
          </a:p>
        </p:txBody>
      </p:sp>
      <p:pic>
        <p:nvPicPr>
          <p:cNvPr id="9" name="Picture 8" descr="s16-b88e706993f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Fresh challenge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mechanic diagnoses a new symptom by testing the failing part.</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17 / 40</a:t>
            </a:r>
          </a:p>
        </p:txBody>
      </p:sp>
      <p:pic>
        <p:nvPicPr>
          <p:cNvPr id="9" name="Picture 8" descr="s17-d619ae253af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Fresh challenge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Some failures cross layers; record uncertainty and test competing causes.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18 / 40</a:t>
            </a:r>
          </a:p>
        </p:txBody>
      </p:sp>
      <p:pic>
        <p:nvPicPr>
          <p:cNvPr id="9" name="Picture 8" descr="s18-edc49c9de10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Fresh challenge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new example of a practised failure tests understanding rather than memorization.</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19 / 40</a:t>
            </a:r>
          </a:p>
        </p:txBody>
      </p:sp>
      <p:pic>
        <p:nvPicPr>
          <p:cNvPr id="9" name="Picture 8" descr="s19-6b5ffda2463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Fresh challenge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If P4 is retrieved but the answer says 12 days is allowed, test claim support before changing search.</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20 / 40</a:t>
            </a:r>
          </a:p>
        </p:txBody>
      </p:sp>
      <p:pic>
        <p:nvPicPr>
          <p:cNvPr id="9" name="Picture 8" descr="s20-3a1ae9db9d0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Fresh challenge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Answer support using the retrieved P4 passage.</a:t>
            </a:r>
          </a:p>
          <a:p>
            <a:pPr>
              <a:defRPr sz="1800" b="0">
                <a:solidFill>
                  <a:srgbClr val="182B40"/>
                </a:solidFill>
                <a:latin typeface="Aptos"/>
              </a:defRPr>
            </a:pPr>
          </a:p>
          <a:p>
            <a:pPr>
              <a:defRPr sz="1800" b="0">
                <a:solidFill>
                  <a:srgbClr val="182B40"/>
                </a:solidFill>
                <a:latin typeface="Aptos"/>
              </a:defRPr>
            </a:pPr>
            <a:r>
              <a:t>Tempting mistake: Every wrong answer is a retrieval failure.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21 / 40</a:t>
            </a:r>
          </a:p>
        </p:txBody>
      </p:sp>
      <p:pic>
        <p:nvPicPr>
          <p:cNvPr id="9" name="Picture 8" descr="s21-a9ffaea0556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Handover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can the next maintainer reproduce?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22 / 40</a:t>
            </a:r>
          </a:p>
        </p:txBody>
      </p:sp>
      <p:pic>
        <p:nvPicPr>
          <p:cNvPr id="9" name="Picture 8" descr="s22-18c8c8e4271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Handover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relief teacher can run a lesson from a clear folder and known limits.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23 / 40</a:t>
            </a:r>
          </a:p>
        </p:txBody>
      </p:sp>
      <p:pic>
        <p:nvPicPr>
          <p:cNvPr id="9" name="Picture 8" descr="s23-e0d20999438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Handover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Documentation can go stale; date versions and rerun the checks.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24 / 40</a:t>
            </a:r>
          </a:p>
        </p:txBody>
      </p:sp>
      <p:pic>
        <p:nvPicPr>
          <p:cNvPr id="9" name="Picture 8" descr="s24-95391f846d9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Handover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Another person can run, test and review the solution from written instructions.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25 / 40</a:t>
            </a:r>
          </a:p>
        </p:txBody>
      </p:sp>
      <p:pic>
        <p:nvPicPr>
          <p:cNvPr id="9" name="Picture 8" descr="s25-33147848a4b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Handover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Give installation steps, source versions, test commands, role rules and rollback instructions.</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26 / 40</a:t>
            </a:r>
          </a:p>
        </p:txBody>
      </p:sp>
      <p:pic>
        <p:nvPicPr>
          <p:cNvPr id="9" name="Picture 8" descr="s26-2e3a2a63bab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Handover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setup, evaluation and known-failure checks from the handover.</a:t>
            </a:r>
          </a:p>
          <a:p>
            <a:pPr>
              <a:defRPr sz="1800" b="0">
                <a:solidFill>
                  <a:srgbClr val="182B40"/>
                </a:solidFill>
                <a:latin typeface="Aptos"/>
              </a:defRPr>
            </a:pPr>
          </a:p>
          <a:p>
            <a:pPr>
              <a:defRPr sz="1800" b="0">
                <a:solidFill>
                  <a:srgbClr val="182B40"/>
                </a:solidFill>
                <a:latin typeface="Aptos"/>
              </a:defRPr>
            </a:pPr>
            <a:r>
              <a:t>Tempting mistake: The notebook is self-explanatory without instructions.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27 / 40</a:t>
            </a:r>
          </a:p>
        </p:txBody>
      </p:sp>
      <p:pic>
        <p:nvPicPr>
          <p:cNvPr id="9" name="Picture 8" descr="s27-10f5ebd9817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Q: May I appeal on day 12?</a:t>
            </a:r>
          </a:p>
          <a:p>
            <a:pPr>
              <a:defRPr sz="1800" b="0">
                <a:solidFill>
                  <a:srgbClr val="182B40"/>
                </a:solidFill>
                <a:latin typeface="Aptos"/>
              </a:defRPr>
            </a:pPr>
          </a:p>
          <a:p>
            <a:pPr>
              <a:defRPr sz="1800" b="0">
                <a:solidFill>
                  <a:srgbClr val="182B40"/>
                </a:solidFill>
                <a:latin typeface="Aptos"/>
              </a:defRPr>
            </a:pPr>
            <a:r>
              <a:t>A: No; the ten-day window has passed [P4], subject to the policy version used.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28 / 40</a:t>
            </a:r>
          </a:p>
        </p:txBody>
      </p:sp>
      <p:pic>
        <p:nvPicPr>
          <p:cNvPr id="9" name="Picture 8" descr="s28-5934b4b4ab5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Present a self-contained end-to-end policy assistant.</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29 / 40</a:t>
            </a:r>
          </a:p>
        </p:txBody>
      </p:sp>
      <p:pic>
        <p:nvPicPr>
          <p:cNvPr id="9" name="Picture 8" descr="s29-6930f81f847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30 / 40</a:t>
            </a:r>
          </a:p>
        </p:txBody>
      </p:sp>
      <p:pic>
        <p:nvPicPr>
          <p:cNvPr id="9" name="Picture 8" descr="s30-08b0b77ecaa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Use a new policy version and explain which index and tests must change.</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31 / 40</a:t>
            </a:r>
          </a:p>
        </p:txBody>
      </p:sp>
      <p:pic>
        <p:nvPicPr>
          <p:cNvPr id="9" name="Picture 8" descr="s31-3bfc0ca2166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32 / 40</a:t>
            </a:r>
          </a:p>
        </p:txBody>
      </p:sp>
      <p:pic>
        <p:nvPicPr>
          <p:cNvPr id="9" name="Picture 8" descr="s32-e70d13d240f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Task success, citation support, no-answer accuracy and access gate</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33 / 40</a:t>
            </a:r>
          </a:p>
        </p:txBody>
      </p:sp>
      <p:pic>
        <p:nvPicPr>
          <p:cNvPr id="9" name="Picture 8" descr="s33-27dee737e1e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A polished demonstration without tests establishes that the system is ready.</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34 / 40</a:t>
            </a:r>
          </a:p>
        </p:txBody>
      </p:sp>
      <p:pic>
        <p:nvPicPr>
          <p:cNvPr id="9" name="Picture 8" descr="s34-c642fd8d6cd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new policy edition changes the appeal window. What records, index and tests need updating?</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35 / 40</a:t>
            </a:r>
          </a:p>
        </p:txBody>
      </p:sp>
      <p:pic>
        <p:nvPicPr>
          <p:cNvPr id="9" name="Picture 8" descr="s35-03817b02ca1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36 / 40</a:t>
            </a:r>
          </a:p>
        </p:txBody>
      </p:sp>
      <p:pic>
        <p:nvPicPr>
          <p:cNvPr id="9" name="Picture 8" descr="s36-9170b0b503f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makes a fair baseline comparison?</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37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Name the four demonstration cases.</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38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Demo, test table, known limits and individual explanation.</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39 / 40</a:t>
            </a:r>
          </a:p>
        </p:txBody>
      </p:sp>
      <p:pic>
        <p:nvPicPr>
          <p:cNvPr id="9" name="Picture 8" descr="s39-c232379b67c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12</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Show the question-to-evidence path, your measured change and a repeatable handover.</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12    •    40 / 40</a:t>
            </a:r>
          </a:p>
        </p:txBody>
      </p:sp>
      <p:pic>
        <p:nvPicPr>
          <p:cNvPr id="9" name="Picture 8" descr="s03-b29bb14aa37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