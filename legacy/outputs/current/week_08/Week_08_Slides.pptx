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The assistant calculates a permitted reimbursement cap; a request to update a record needs approval. The visible slide states: The reimbursement cap tool</a:t>
            </a:r>
          </a:p>
          <a:p/>
          <a:p>
            <a:r>
              <a:t>A €55 claim has a €40 cap. The assistant may calculate the payable amount. A separate request asks it to change the cap. Which path needs approval? Reveal that the case will be revisited after four short concept cycles.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The assistant calculates a permitted reimbursement cap; a request to update a record needs approval. The visible slide states: A €55 claim has a €40 cap. The assistant may calculate the payable amount. A separate request asks it to change the cap. Which path needs approval?</a:t>
            </a:r>
          </a:p>
          <a:p/>
          <a:p>
            <a:r>
              <a:t>Choose an initial answer and name one piece of evidence you need. Accept reasonable uncertainty; record the initial votes to revisit at the end.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The assistant calculates a permitted reimbursement cap; a request to update a record needs approval. The visible slide states: We will predict, connect an analogy, trace a mechanism, work an example, then explain a decision. Point to the four named ideas, then show where the notebook experiment fits.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The assistant calculates a permitted reimbursement cap; a request to update a record needs approval. The visible slide states: What should run before the arithmetic?</a:t>
            </a:r>
          </a:p>
          <a:p/>
          <a:p>
            <a:r>
              <a:t>Make a choice before we explain the diagram. The intended answer is Type and range validation. The tempting claim is A tool call is safe because its function is simple. Do not show which card is correct until the reveal.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The assistant calculates a permitted reimbursement cap; a request to update a record needs approval. The visible slide states: A calculator performs one defined operation when given a valid number.</a:t>
            </a:r>
          </a:p>
          <a:p/>
          <a:p>
            <a:r>
              <a:t>What matches our case, and where does the analogy stop? The boundary is: The model may choose the wrong tool or arguments; inspect the call.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The assistant calculates a permitted reimbursement cap; a request to update a record needs approval. The visible slide states: Match each everyday part to the technical part.</a:t>
            </a:r>
          </a:p>
          <a:p/>
          <a:p>
            <a:r>
              <a:t>Analogy limit: The model may choose the wrong tool or arguments; inspect the call. The three precise mappings are [['Number', 'tool argument'], ['Guard', 'input validator'], ['Display', 'tool result']].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The assistant calculates a permitted reimbursement cap; a request to update a record needs approval. The visible slide states: A named operation with validated arguments, permissions and a defined result.</a:t>
            </a:r>
          </a:p>
          <a:p/>
          <a:p>
            <a:r>
              <a:t>Trace the arrows from left to right. The weekly example is: cap(55,40) returns €40; cap(−5,40) is rejected as invalid input. State what the analogy does not explain: The model may choose the wrong tool or arguments; inspect the call.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The assistant calculates a permitted reimbursement cap; a request to update a record needs approval. The visible slide states: cap(55,40) returns €40; cap(−5,40) is rejected as invalid input.</a:t>
            </a:r>
          </a:p>
          <a:p/>
          <a:p>
            <a:r>
              <a:t>Point to the evidence before giving your conclusion. The expected reasoning concludes: Type and range validation. Distinguish measured results from illustrative numbers.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The assistant calculates a permitted reimbursement cap; a request to update a record needs approval. The visible slide states: Type and range validation.</a:t>
            </a:r>
          </a:p>
          <a:p/>
          <a:p>
            <a:r>
              <a:t>Tempting mistake: A tool call is safe because its function is simple. The earlier question was What should run before the arithmetic? Ask how this differs from the wrong claim.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The assistant calculates a permitted reimbursement cap; a request to update a record needs approval. The visible slide states: Who chooses the next station in this version?</a:t>
            </a:r>
          </a:p>
          <a:p/>
          <a:p>
            <a:r>
              <a:t>Make a choice before we explain the diagram. The intended answer is The predefined workflow code. The tempting claim is A workflow must involve a free-form agent. Do not show which card is correct until the reveal.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The assistant calculates a permitted reimbursement cap; a request to update a record needs approval. The visible slide states: An assembly line follows the same stations in a fixed order.</a:t>
            </a:r>
          </a:p>
          <a:p/>
          <a:p>
            <a:r>
              <a:t>What matches our case, and where does the analogy stop? The boundary is: Real workflows can branch on validated conditions, while remaining predefined.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The assistant calculates a permitted reimbursement cap; a request to update a record needs approval. The visible slide states: Match each everyday part to the technical part.</a:t>
            </a:r>
          </a:p>
          <a:p/>
          <a:p>
            <a:r>
              <a:t>Analogy limit: Real workflows can branch on validated conditions, while remaining predefined. The three precise mappings are [['Station', 'code step'], ['Conveyor', 'workflow'], ['Finished item', 'checked result']].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The assistant calculates a permitted reimbursement cap; a request to update a record needs approval. The visible slide states: Code chooses the next step by a fixed rule.</a:t>
            </a:r>
          </a:p>
          <a:p/>
          <a:p>
            <a:r>
              <a:t>Trace the arrows from left to right. The weekly example is: Validate amount → calculate cap → format reply; a negative amount stops at validation. State what the analogy does not explain: Real workflows can branch on validated conditions, while remaining predefined.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The assistant calculates a permitted reimbursement cap; a request to update a record needs approval. The visible slide states: Validate amount → calculate cap → format reply; a negative amount stops at validation.</a:t>
            </a:r>
          </a:p>
          <a:p/>
          <a:p>
            <a:r>
              <a:t>Point to the evidence before giving your conclusion. The expected reasoning concludes: The predefined workflow code. Distinguish measured results from illustrative numbers.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The assistant calculates a permitted reimbursement cap; a request to update a record needs approval. The visible slide states: The predefined workflow code.</a:t>
            </a:r>
          </a:p>
          <a:p/>
          <a:p>
            <a:r>
              <a:t>Tempting mistake: A workflow must involve a free-form agent. The earlier question was Who chooses the next station in this version? Ask how this differs from the wrong claim.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The assistant calculates a permitted reimbursement cap; a request to update a record needs approval. The visible slide states: Can the model authorize a write by choosing a tool?</a:t>
            </a:r>
          </a:p>
          <a:p/>
          <a:p>
            <a:r>
              <a:t>Make a choice before we explain the diagram. The intended answer is No. Authorization is enforced outside the model. The tempting claim is An agent can grant itself a new permission. Do not show which card is correct until the reveal.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The assistant calculates a permitted reimbursement cap; a request to update a record needs approval. The visible slide states: A dispatcher selects among allowed services to handle a request.</a:t>
            </a:r>
          </a:p>
          <a:p/>
          <a:p>
            <a:r>
              <a:t>What matches our case, and where does the analogy stop? The boundary is: Agent choice is bounded by available tools and permissions; autonomy is limited.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The assistant calculates a permitted reimbursement cap; a request to update a record needs approval. The visible slide states: Match each everyday part to the technical part.</a:t>
            </a:r>
          </a:p>
          <a:p/>
          <a:p>
            <a:r>
              <a:t>Analogy limit: Agent choice is bounded by available tools and permissions; autonomy is limited. The three precise mappings are [['Dispatcher', 'model decision'], ['Service desk', 'tool interface'], ['Ticket', 'logged result']].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The assistant calculates a permitted reimbursement cap; a request to update a record needs approval. The visible slide states: A model may choose a next action, within the permissions and limits supplied by the application.</a:t>
            </a:r>
          </a:p>
          <a:p/>
          <a:p>
            <a:r>
              <a:t>Trace the arrows from left to right. The weekly example is: The model proposes calculator; the interface validates €55 before executing it. State what the analogy does not explain: Agent choice is bounded by available tools and permissions; autonomy is limited.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The assistant calculates a permitted reimbursement cap; a request to update a record needs approval. The visible slide states: The model proposes calculator; the interface validates €55 before executing it.</a:t>
            </a:r>
          </a:p>
          <a:p/>
          <a:p>
            <a:r>
              <a:t>Point to the evidence before giving your conclusion. The expected reasoning concludes: No. Authorization is enforced outside the model. Distinguish measured results from illustrative numbers.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The assistant calculates a permitted reimbursement cap; a request to update a record needs approval. The visible slide states: No. Authorization is enforced outside the model.</a:t>
            </a:r>
          </a:p>
          <a:p/>
          <a:p>
            <a:r>
              <a:t>Tempting mistake: An agent can grant itself a new permission. The earlier question was Can the model authorize a write by choosing a tool? Ask how this differs from the wrong claim.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The assistant calculates a permitted reimbursement cap; a request to update a record needs approval. The visible slide states: What evidence shows a write was authorized?</a:t>
            </a:r>
          </a:p>
          <a:p/>
          <a:p>
            <a:r>
              <a:t>Make a choice before we explain the diagram. The intended answer is An approval tied to the request and recorded action. The tempting claim is A polite request is enough approval. Do not show which card is correct until the reveal.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The assistant calculates a permitted reimbursement cap; a request to update a record needs approval. The visible slide states: A bank transfer waits for an authorized person to approve it.</a:t>
            </a:r>
          </a:p>
          <a:p/>
          <a:p>
            <a:r>
              <a:t>What matches our case, and where does the analogy stop? The boundary is: Some read-only actions also need controls when they reveal restricted information.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The assistant calculates a permitted reimbursement cap; a request to update a record needs approval. The visible slide states: Match each everyday part to the technical part.</a:t>
            </a:r>
          </a:p>
          <a:p/>
          <a:p>
            <a:r>
              <a:t>Analogy limit: Some read-only actions also need controls when they reveal restricted information. The three precise mappings are [['Transfer request', 'write action'], ['Approver', 'authorized reviewer'], ['Receipt', 'audit record']].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The assistant calculates a permitted reimbursement cap; a request to update a record needs approval. The visible slide states: A consequential write needs explicit review before execution and an audit record.</a:t>
            </a:r>
          </a:p>
          <a:p/>
          <a:p>
            <a:r>
              <a:t>Trace the arrows from left to right. The weekly example is: Changing the cap requires an approval record; calculation of €40 does not change the record. State what the analogy does not explain: Some read-only actions also need controls when they reveal restricted information.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The assistant calculates a permitted reimbursement cap; a request to update a record needs approval. The visible slide states: Changing the cap requires an approval record; calculation of €40 does not change the record.</a:t>
            </a:r>
          </a:p>
          <a:p/>
          <a:p>
            <a:r>
              <a:t>Point to the evidence before giving your conclusion. The expected reasoning concludes: An approval tied to the request and recorded action. Distinguish measured results from illustrative numbers.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The assistant calculates a permitted reimbursement cap; a request to update a record needs approval. The visible slide states: An approval tied to the request and recorded action.</a:t>
            </a:r>
          </a:p>
          <a:p/>
          <a:p>
            <a:r>
              <a:t>Tempting mistake: A polite request is enough approval. The earlier question was What evidence shows a write was authorized? Ask how this differs from the wrong claim.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The assistant calculates a permitted reimbursement cap; a request to update a record needs approval. The visible slide states: Read-only tool returns €40.</a:t>
            </a:r>
          </a:p>
          <a:p/>
          <a:p>
            <a:r>
              <a:t>A request to change the policy cap is denied until the authorized reviewer approves. Have one student point to an exact source word or number for each conclusion.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The assistant calculates a permitted reimbursement cap; a request to update a record needs approval. The visible slide states: Implement a calculator and approval gate simulation.</a:t>
            </a:r>
          </a:p>
          <a:p/>
          <a:p>
            <a:r>
              <a:t>Read the original output before editing. Use Week_08_Lab.ipynb. This lab is a prepared classroom demonstration with its limitations documented.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The assistant calculates a permitted reimbursement cap; a request to update a record needs approval. The visible slide states: Locate the supplied input, the transformation, the checking line and the printed result. The weekly lab change is: Try a negative amount and confirm the validator blocks it.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The assistant calculates a permitted reimbursement cap; a request to update a record needs approval. The visible slide states: Try a negative amount and confirm the validator blocks it.</a:t>
            </a:r>
          </a:p>
          <a:p/>
          <a:p>
            <a:r>
              <a:t>What should change in the result? What stays fixed? Ask learners to write their prediction before rerunning the cell.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The assistant calculates a permitted reimbursement cap; a request to update a record needs approval. The visible slide states: Record the input, the one changed setting, the observed result and a reason for any difference. The required evidence is: Tool result, blocked-request trace and approval explanation.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assistant calculates a permitted reimbursement cap; a request to update a record needs approval. The visible slide states: Unauthorized successful actions / attempted unauthorized actions (target zero)</a:t>
            </a:r>
          </a:p>
          <a:p/>
          <a:p>
            <a:r>
              <a:t>Write the numerator, denominator and one failure case. Where a measure is qualitative, show the concrete source comparison. Example: A request to change the policy cap is denied until the authorized reviewer approves.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assistant calculates a permitted reimbursement cap; a request to update a record needs approval. The visible slide states: Plausible wrong claim: A tool call chosen by a model is automatically authorized.</a:t>
            </a:r>
          </a:p>
          <a:p/>
          <a:p>
            <a:r>
              <a:t>Correct it using the case evidence. The correction is The application checks role, arguments and approval independently of the model text.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assistant calculates a permitted reimbursement cap; a request to update a record needs approval. The visible slide states: A tool receives amount −€5. What should happen before any calculation?</a:t>
            </a:r>
          </a:p>
          <a:p/>
          <a:p>
            <a:r>
              <a:t>Explain which source or test would settle it. This is a fresh scenario, so ask for a reason before accepting either short answer.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assistant calculates a permitted reimbursement cap; a request to update a record needs approval. The visible slide states: Without reading the slide, name the input, one processing step and the check. Your partner should ask “How do you know?” Listen for a causal explanation and one limitation, then revisit a difficult arrow on the board.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assistant calculates a permitted reimbursement cap; a request to update a record needs approval. The visible slide states: What distinguishes a workflow from an agent?</a:t>
            </a:r>
          </a:p>
          <a:p/>
          <a:p>
            <a:r>
              <a:t>Write a short answer, then compare with the guide. Model answer after discussion: A workflow follows predefined steps; an agent can select subsequent actions within allowed boundaries. Practice marks: 4.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assistant calculates a permitted reimbursement cap; a request to update a record needs approval. The visible slide states: Calculate a reimbursement with eligible expense 55 and cap 40.</a:t>
            </a:r>
          </a:p>
          <a:p/>
          <a:p>
            <a:r>
              <a:t>Write a short answer, then compare with the guide. Model answer after discussion: min(55,40)=40. Eligibility must already be established; the calculator does not decide it. Practice marks: 4.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The assistant calculates a permitted reimbursement cap; a request to update a record needs approval. The visible slide states: Tool result, blocked-request trace and approval explanation.</a:t>
            </a:r>
          </a:p>
          <a:p/>
          <a:p>
            <a:r>
              <a:t>Include the one changed input and an error explanation. This weekly evidence receives formative feedback according to the module sequence; refer to the assessment brief for graded work.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assistant calculates a permitted reimbursement cap; a request to update a record needs approval. The visible slide states: Validate a read-only tool; route write actions through human approval.</a:t>
            </a:r>
          </a:p>
          <a:p/>
          <a:p>
            <a:r>
              <a:t>Read the linked official sources in the Word guide and redraw one diagram from memory. Return to the opening vote and ask whether the evidence changed anyone’s mind. The next week builds on this outcome: Implement a bounded read-only tool and reason about approval for actions.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Week 08 · Tools and controlled actions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reimbursement cap tool</a:t>
            </a:r>
          </a:p>
          <a:p>
            <a:pPr>
              <a:defRPr sz="1800" b="0">
                <a:solidFill>
                  <a:srgbClr val="182B40"/>
                </a:solidFill>
                <a:latin typeface="Aptos"/>
              </a:defRPr>
            </a:pPr>
          </a:p>
          <a:p>
            <a:pPr>
              <a:defRPr sz="1800" b="0">
                <a:solidFill>
                  <a:srgbClr val="182B40"/>
                </a:solidFill>
                <a:latin typeface="Aptos"/>
              </a:defRPr>
            </a:pPr>
            <a:r>
              <a:t>A €55 claim has a €40 cap. The assistant may calculate the payable amount. A separate request asks it to change the cap. Which path needs approval?</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01 / 40</a:t>
            </a:r>
          </a:p>
        </p:txBody>
      </p:sp>
      <p:pic>
        <p:nvPicPr>
          <p:cNvPr id="9" name="Picture 8" descr="s01-c431d48a8ad9.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First vote: what would you do?</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€55 claim has a €40 cap. The assistant may calculate the payable amount. A separate request asks it to change the cap. Which path needs approval?</a:t>
            </a:r>
          </a:p>
          <a:p>
            <a:pPr>
              <a:defRPr sz="1800" b="0">
                <a:solidFill>
                  <a:srgbClr val="182B40"/>
                </a:solidFill>
                <a:latin typeface="Aptos"/>
              </a:defRPr>
            </a:pPr>
          </a:p>
          <a:p>
            <a:pPr>
              <a:defRPr sz="1800" b="0">
                <a:solidFill>
                  <a:srgbClr val="182B40"/>
                </a:solidFill>
                <a:latin typeface="Aptos"/>
              </a:defRPr>
            </a:pPr>
            <a:r>
              <a:t>Choose an initial answer and name one piece of evidence you need.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02 / 40</a:t>
            </a:r>
          </a:p>
        </p:txBody>
      </p:sp>
      <p:pic>
        <p:nvPicPr>
          <p:cNvPr id="9" name="Picture 8" descr="s02-3c8f8b5908a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The journey through today’s case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We will predict, connect an analogy, trace a mechanism, work an example, then explain a decision.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03 / 40</a:t>
            </a:r>
          </a:p>
        </p:txBody>
      </p:sp>
      <p:pic>
        <p:nvPicPr>
          <p:cNvPr id="9" name="Picture 8" descr="s03-ad9c53c33bd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1. Predict · Tool</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should run before the arithmetic?</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04 / 40</a:t>
            </a:r>
          </a:p>
        </p:txBody>
      </p:sp>
      <p:pic>
        <p:nvPicPr>
          <p:cNvPr id="9" name="Picture 8" descr="s04-27306cdc9c0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Tool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calculator performs one defined operation when given a valid number.</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05 / 40</a:t>
            </a:r>
          </a:p>
        </p:txBody>
      </p:sp>
      <p:pic>
        <p:nvPicPr>
          <p:cNvPr id="9" name="Picture 8" descr="s05-7df7aa590b6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Tool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The model may choose the wrong tool or arguments; inspect the call.</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06 / 40</a:t>
            </a:r>
          </a:p>
        </p:txBody>
      </p:sp>
      <p:pic>
        <p:nvPicPr>
          <p:cNvPr id="9" name="Picture 8" descr="s06-012687f276d8.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Tool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named operation with validated arguments, permissions and a defined result.</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07 / 40</a:t>
            </a:r>
          </a:p>
        </p:txBody>
      </p:sp>
      <p:pic>
        <p:nvPicPr>
          <p:cNvPr id="9" name="Picture 8" descr="s07-e533f3d493e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Tool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cap(55,40) returns €40; cap(−5,40) is rejected as invalid input.</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08 / 40</a:t>
            </a:r>
          </a:p>
        </p:txBody>
      </p:sp>
      <p:pic>
        <p:nvPicPr>
          <p:cNvPr id="9" name="Picture 8" descr="s08-b10768b5f148.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Tool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Type and range validation.</a:t>
            </a:r>
          </a:p>
          <a:p>
            <a:pPr>
              <a:defRPr sz="1800" b="0">
                <a:solidFill>
                  <a:srgbClr val="182B40"/>
                </a:solidFill>
                <a:latin typeface="Aptos"/>
              </a:defRPr>
            </a:pPr>
          </a:p>
          <a:p>
            <a:pPr>
              <a:defRPr sz="1800" b="0">
                <a:solidFill>
                  <a:srgbClr val="182B40"/>
                </a:solidFill>
                <a:latin typeface="Aptos"/>
              </a:defRPr>
            </a:pPr>
            <a:r>
              <a:t>Tempting mistake: A tool call is safe because its function is simple.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09 / 40</a:t>
            </a:r>
          </a:p>
        </p:txBody>
      </p:sp>
      <p:pic>
        <p:nvPicPr>
          <p:cNvPr id="9" name="Picture 8" descr="s09-9e7e5703d884.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2. Predict · Workflow</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Who chooses the next station in this version?</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10 / 40</a:t>
            </a:r>
          </a:p>
        </p:txBody>
      </p:sp>
      <p:pic>
        <p:nvPicPr>
          <p:cNvPr id="9" name="Picture 8" descr="s10-9d0453f120a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Workflow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 assembly line follows the same stations in a fixed order.</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11 / 40</a:t>
            </a:r>
          </a:p>
        </p:txBody>
      </p:sp>
      <p:pic>
        <p:nvPicPr>
          <p:cNvPr id="9" name="Picture 8" descr="s11-03d8e571b010.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Workflow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Real workflows can branch on validated conditions, while remaining predefined.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12 / 40</a:t>
            </a:r>
          </a:p>
        </p:txBody>
      </p:sp>
      <p:pic>
        <p:nvPicPr>
          <p:cNvPr id="9" name="Picture 8" descr="s12-7fd888f998c5.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Workflow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Code chooses the next step by a fixed rule.</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13 / 40</a:t>
            </a:r>
          </a:p>
        </p:txBody>
      </p:sp>
      <p:pic>
        <p:nvPicPr>
          <p:cNvPr id="9" name="Picture 8" descr="s13-5cc58e7307d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Workflow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Validate amount → calculate cap → format reply; a negative amount stops at validation.</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14 / 40</a:t>
            </a:r>
          </a:p>
        </p:txBody>
      </p:sp>
      <p:pic>
        <p:nvPicPr>
          <p:cNvPr id="9" name="Picture 8" descr="s14-4f6508e00e25.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Workflow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predefined workflow code.</a:t>
            </a:r>
          </a:p>
          <a:p>
            <a:pPr>
              <a:defRPr sz="1800" b="0">
                <a:solidFill>
                  <a:srgbClr val="182B40"/>
                </a:solidFill>
                <a:latin typeface="Aptos"/>
              </a:defRPr>
            </a:pPr>
          </a:p>
          <a:p>
            <a:pPr>
              <a:defRPr sz="1800" b="0">
                <a:solidFill>
                  <a:srgbClr val="182B40"/>
                </a:solidFill>
                <a:latin typeface="Aptos"/>
              </a:defRPr>
            </a:pPr>
            <a:r>
              <a:t>Tempting mistake: A workflow must involve a free-form agent.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15 / 40</a:t>
            </a:r>
          </a:p>
        </p:txBody>
      </p:sp>
      <p:pic>
        <p:nvPicPr>
          <p:cNvPr id="9" name="Picture 8" descr="s15-a7b69a79327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3. Predict · Agent</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Can the model authorize a write by choosing a tool?</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16 / 40</a:t>
            </a:r>
          </a:p>
        </p:txBody>
      </p:sp>
      <p:pic>
        <p:nvPicPr>
          <p:cNvPr id="9" name="Picture 8" descr="s16-309ea26ae84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Agent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dispatcher selects among allowed services to handle a request.</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17 / 40</a:t>
            </a:r>
          </a:p>
        </p:txBody>
      </p:sp>
      <p:pic>
        <p:nvPicPr>
          <p:cNvPr id="9" name="Picture 8" descr="s17-0c083181f764.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Agent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Agent choice is bounded by available tools and permissions; autonomy is limited.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18 / 40</a:t>
            </a:r>
          </a:p>
        </p:txBody>
      </p:sp>
      <p:pic>
        <p:nvPicPr>
          <p:cNvPr id="9" name="Picture 8" descr="s18-c960c260cc8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Agent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model may choose a next action, within the permissions and limits supplied by the application.</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19 / 40</a:t>
            </a:r>
          </a:p>
        </p:txBody>
      </p:sp>
      <p:pic>
        <p:nvPicPr>
          <p:cNvPr id="9" name="Picture 8" descr="s19-451d0fed48e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Agent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model proposes calculator; the interface validates €55 before executing it.</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20 / 40</a:t>
            </a:r>
          </a:p>
        </p:txBody>
      </p:sp>
      <p:pic>
        <p:nvPicPr>
          <p:cNvPr id="9" name="Picture 8" descr="s20-173fd872ee29.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Agent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No. Authorization is enforced outside the model.</a:t>
            </a:r>
          </a:p>
          <a:p>
            <a:pPr>
              <a:defRPr sz="1800" b="0">
                <a:solidFill>
                  <a:srgbClr val="182B40"/>
                </a:solidFill>
                <a:latin typeface="Aptos"/>
              </a:defRPr>
            </a:pPr>
          </a:p>
          <a:p>
            <a:pPr>
              <a:defRPr sz="1800" b="0">
                <a:solidFill>
                  <a:srgbClr val="182B40"/>
                </a:solidFill>
                <a:latin typeface="Aptos"/>
              </a:defRPr>
            </a:pPr>
            <a:r>
              <a:t>Tempting mistake: An agent can grant itself a new permission.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21 / 40</a:t>
            </a:r>
          </a:p>
        </p:txBody>
      </p:sp>
      <p:pic>
        <p:nvPicPr>
          <p:cNvPr id="9" name="Picture 8" descr="s21-3e7c07deac9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4. Predict · Approval boundary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evidence shows a write was authorized?</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22 / 40</a:t>
            </a:r>
          </a:p>
        </p:txBody>
      </p:sp>
      <p:pic>
        <p:nvPicPr>
          <p:cNvPr id="9" name="Picture 8" descr="s22-f7492abda809.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Approval boundary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bank transfer waits for an authorized person to approve it.</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23 / 40</a:t>
            </a:r>
          </a:p>
        </p:txBody>
      </p:sp>
      <p:pic>
        <p:nvPicPr>
          <p:cNvPr id="9" name="Picture 8" descr="s23-7585f99da61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Approval boundary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Some read-only actions also need controls when they reveal restricted information.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24 / 40</a:t>
            </a:r>
          </a:p>
        </p:txBody>
      </p:sp>
      <p:pic>
        <p:nvPicPr>
          <p:cNvPr id="9" name="Picture 8" descr="s24-ed3585024c28.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Approval boundary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consequential write needs explicit review before execution and an audit record.</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25 / 40</a:t>
            </a:r>
          </a:p>
        </p:txBody>
      </p:sp>
      <p:pic>
        <p:nvPicPr>
          <p:cNvPr id="9" name="Picture 8" descr="s25-4d998b22f955.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Approval boundary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Changing the cap requires an approval record; calculation of €40 does not change the record.</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26 / 40</a:t>
            </a:r>
          </a:p>
        </p:txBody>
      </p:sp>
      <p:pic>
        <p:nvPicPr>
          <p:cNvPr id="9" name="Picture 8" descr="s26-821e68bdd4a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Approval boundary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 approval tied to the request and recorded action.</a:t>
            </a:r>
          </a:p>
          <a:p>
            <a:pPr>
              <a:defRPr sz="1800" b="0">
                <a:solidFill>
                  <a:srgbClr val="182B40"/>
                </a:solidFill>
                <a:latin typeface="Aptos"/>
              </a:defRPr>
            </a:pPr>
          </a:p>
          <a:p>
            <a:pPr>
              <a:defRPr sz="1800" b="0">
                <a:solidFill>
                  <a:srgbClr val="182B40"/>
                </a:solidFill>
                <a:latin typeface="Aptos"/>
              </a:defRPr>
            </a:pPr>
            <a:r>
              <a:t>Tempting mistake: A polite request is enough approval.</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27 / 40</a:t>
            </a:r>
          </a:p>
        </p:txBody>
      </p:sp>
      <p:pic>
        <p:nvPicPr>
          <p:cNvPr id="9" name="Picture 8" descr="s27-942cd602830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trail: input → result</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Read-only tool returns €40.</a:t>
            </a:r>
          </a:p>
          <a:p>
            <a:pPr>
              <a:defRPr sz="1800" b="0">
                <a:solidFill>
                  <a:srgbClr val="182B40"/>
                </a:solidFill>
                <a:latin typeface="Aptos"/>
              </a:defRPr>
            </a:pPr>
          </a:p>
          <a:p>
            <a:pPr>
              <a:defRPr sz="1800" b="0">
                <a:solidFill>
                  <a:srgbClr val="182B40"/>
                </a:solidFill>
                <a:latin typeface="Aptos"/>
              </a:defRPr>
            </a:pPr>
            <a:r>
              <a:t>A request to change the policy cap is denied until the authorized reviewer approves.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28 / 40</a:t>
            </a:r>
          </a:p>
        </p:txBody>
      </p:sp>
      <p:pic>
        <p:nvPicPr>
          <p:cNvPr id="9" name="Picture 8" descr="s28-25f1ed3359d7.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Notebook: run the prepared example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Implement a calculator and approval gate simulation.</a:t>
            </a:r>
          </a:p>
          <a:p>
            <a:pPr>
              <a:defRPr sz="1800" b="0">
                <a:solidFill>
                  <a:srgbClr val="182B40"/>
                </a:solidFill>
                <a:latin typeface="Aptos"/>
              </a:defRPr>
            </a:pPr>
          </a:p>
          <a:p>
            <a:pPr>
              <a:defRPr sz="1800" b="0">
                <a:solidFill>
                  <a:srgbClr val="182B40"/>
                </a:solidFill>
                <a:latin typeface="Aptos"/>
              </a:defRPr>
            </a:pPr>
            <a:r>
              <a:t>Read the original output before editing.</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29 / 40</a:t>
            </a:r>
          </a:p>
        </p:txBody>
      </p:sp>
      <p:pic>
        <p:nvPicPr>
          <p:cNvPr id="9" name="Picture 8" descr="s29-c5dad21b6fd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Find the input and check in Python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Locate the supplied input, the transformation, the checking line and the printed result.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30 / 40</a:t>
            </a:r>
          </a:p>
        </p:txBody>
      </p:sp>
      <p:pic>
        <p:nvPicPr>
          <p:cNvPr id="9" name="Picture 8" descr="s30-08b0b77ecaa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Predict one controlled change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Try a negative amount and confirm the validator blocks it.</a:t>
            </a:r>
          </a:p>
          <a:p>
            <a:pPr>
              <a:defRPr sz="1800" b="0">
                <a:solidFill>
                  <a:srgbClr val="182B40"/>
                </a:solidFill>
                <a:latin typeface="Aptos"/>
              </a:defRPr>
            </a:pPr>
          </a:p>
          <a:p>
            <a:pPr>
              <a:defRPr sz="1800" b="0">
                <a:solidFill>
                  <a:srgbClr val="182B40"/>
                </a:solidFill>
                <a:latin typeface="Aptos"/>
              </a:defRPr>
            </a:pPr>
            <a:r>
              <a:t>What should change in the result? What stays fixed?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31 / 40</a:t>
            </a:r>
          </a:p>
        </p:txBody>
      </p:sp>
      <p:pic>
        <p:nvPicPr>
          <p:cNvPr id="9" name="Picture 8" descr="s31-3bfc0ca2166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Run, compare and record</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Record the input, the one changed setting, the observed result and a reason for any difference.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32 / 40</a:t>
            </a:r>
          </a:p>
        </p:txBody>
      </p:sp>
      <p:pic>
        <p:nvPicPr>
          <p:cNvPr id="9" name="Picture 8" descr="s32-e70d13d240f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Measure without hiding the denominator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Unauthorized successful actions / attempted unauthorized actions (target zero)</a:t>
            </a:r>
          </a:p>
          <a:p>
            <a:pPr>
              <a:defRPr sz="1800" b="0">
                <a:solidFill>
                  <a:srgbClr val="182B40"/>
                </a:solidFill>
                <a:latin typeface="Aptos"/>
              </a:defRPr>
            </a:pPr>
          </a:p>
          <a:p>
            <a:pPr>
              <a:defRPr sz="1800" b="0">
                <a:solidFill>
                  <a:srgbClr val="182B40"/>
                </a:solidFill>
                <a:latin typeface="Aptos"/>
              </a:defRPr>
            </a:pPr>
            <a:r>
              <a:t>Write the numerator, denominator and one failure case.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33 / 40</a:t>
            </a:r>
          </a:p>
        </p:txBody>
      </p:sp>
      <p:pic>
        <p:nvPicPr>
          <p:cNvPr id="9" name="Picture 8" descr="s33-27dee737e1e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Error detective: find the layer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Plausible wrong claim: A tool call chosen by a model is automatically authorized.</a:t>
            </a:r>
          </a:p>
          <a:p>
            <a:pPr>
              <a:defRPr sz="1800" b="0">
                <a:solidFill>
                  <a:srgbClr val="182B40"/>
                </a:solidFill>
                <a:latin typeface="Aptos"/>
              </a:defRPr>
            </a:pPr>
          </a:p>
          <a:p>
            <a:pPr>
              <a:defRPr sz="1800" b="0">
                <a:solidFill>
                  <a:srgbClr val="182B40"/>
                </a:solidFill>
                <a:latin typeface="Aptos"/>
              </a:defRPr>
            </a:pPr>
            <a:r>
              <a:t>Correct it using the case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34 / 40</a:t>
            </a:r>
          </a:p>
        </p:txBody>
      </p:sp>
      <p:pic>
        <p:nvPicPr>
          <p:cNvPr id="9" name="Picture 8" descr="s34-7a7c0482a51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Transfer to a new situation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tool receives amount −€5. What should happen before any calculation?</a:t>
            </a:r>
          </a:p>
          <a:p>
            <a:pPr>
              <a:defRPr sz="1800" b="0">
                <a:solidFill>
                  <a:srgbClr val="182B40"/>
                </a:solidFill>
                <a:latin typeface="Aptos"/>
              </a:defRPr>
            </a:pPr>
          </a:p>
          <a:p>
            <a:pPr>
              <a:defRPr sz="1800" b="0">
                <a:solidFill>
                  <a:srgbClr val="182B40"/>
                </a:solidFill>
                <a:latin typeface="Aptos"/>
              </a:defRPr>
            </a:pPr>
            <a:r>
              <a:t>Explain which source or test would settle 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35 / 40</a:t>
            </a:r>
          </a:p>
        </p:txBody>
      </p:sp>
      <p:pic>
        <p:nvPicPr>
          <p:cNvPr id="9" name="Picture 8" descr="s35-03817b02ca1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Explain it to a partner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Without reading the slide, name the input, one processing step and the check. Your partner should ask “How do you know?”</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36 / 40</a:t>
            </a:r>
          </a:p>
        </p:txBody>
      </p:sp>
      <p:pic>
        <p:nvPicPr>
          <p:cNvPr id="9" name="Picture 8" descr="s36-71eb0f87855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distinguishes a workflow from an agent?</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37 / 40</a:t>
            </a:r>
          </a:p>
        </p:txBody>
      </p:sp>
      <p:pic>
        <p:nvPicPr>
          <p:cNvPr id="9" name="Picture 8" descr="s37-b0bab297a33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Calculate a reimbursement with eligible expense 55 and cap 40.</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38 / 40</a:t>
            </a:r>
          </a:p>
        </p:txBody>
      </p:sp>
      <p:pic>
        <p:nvPicPr>
          <p:cNvPr id="9" name="Picture 8" descr="s37-b0bab297a33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What to hand in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Tool result, blocked-request trace and approval explanation.</a:t>
            </a:r>
          </a:p>
          <a:p>
            <a:pPr>
              <a:defRPr sz="1800" b="0">
                <a:solidFill>
                  <a:srgbClr val="182B40"/>
                </a:solidFill>
                <a:latin typeface="Aptos"/>
              </a:defRPr>
            </a:pPr>
          </a:p>
          <a:p>
            <a:pPr>
              <a:defRPr sz="1800" b="0">
                <a:solidFill>
                  <a:srgbClr val="182B40"/>
                </a:solidFill>
                <a:latin typeface="Aptos"/>
              </a:defRPr>
            </a:pPr>
            <a:r>
              <a:t>Include the one changed input and an error explanation.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39 / 40</a:t>
            </a:r>
          </a:p>
        </p:txBody>
      </p:sp>
      <p:pic>
        <p:nvPicPr>
          <p:cNvPr id="9" name="Picture 8" descr="s39-c232379b67c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Three ideas to recall next week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Validate a read-only tool; route write actions through human approval.</a:t>
            </a:r>
          </a:p>
          <a:p>
            <a:pPr>
              <a:defRPr sz="1800" b="0">
                <a:solidFill>
                  <a:srgbClr val="182B40"/>
                </a:solidFill>
                <a:latin typeface="Aptos"/>
              </a:defRPr>
            </a:pPr>
          </a:p>
          <a:p>
            <a:pPr>
              <a:defRPr sz="1800" b="0">
                <a:solidFill>
                  <a:srgbClr val="182B40"/>
                </a:solidFill>
                <a:latin typeface="Aptos"/>
              </a:defRPr>
            </a:pPr>
            <a:r>
              <a:t>Read the linked official sources in the Word guide and redraw one diagram from memory.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40 / 40</a:t>
            </a:r>
          </a:p>
        </p:txBody>
      </p:sp>
      <p:pic>
        <p:nvPicPr>
          <p:cNvPr id="9" name="Picture 8" descr="s03-ad9c53c33bd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