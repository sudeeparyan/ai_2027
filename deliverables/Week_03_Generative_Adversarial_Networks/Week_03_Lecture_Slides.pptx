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GAN learns to generate through a changing checker, so training and evaluating both networks matters.
Explain: GAN means generative adversarial network. The generator makes samples from random numerical codes. The discriminator learns to distinguish generated examples from dataset examples. Adversarial describes their competing training goals. After learning, the generator can make new samples without running the discriminator.
Example: The cover digits come from the archived eight-epoch lecture experiment. They demonstrate one trained system, rather than the output guaranteed by today’s shorter CPU core. Compare convincing digits with malformed ones before deciding what quality means.
Ask: Does one convincing digit prove that the generator covers every digit class?
Answer: No. Quality of one sample and coverage of the dataset’s variety are separate questions.
Watch out: A basic VAE can blur uncertain details, but neither blur nor sharpness is guaranteed by a model-family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Today’s outcomes join the GAN mechanism, its mathematical objectives, practical diagnosis and evidence-based evaluation.
Explain: An objective states what training tries to improve. Minimax describes one player minimising what another maximises. Non-saturating names the generator loss used for stronger early feedback. Coverage asks which parts of the target distribution appear. MIMLO means minimum intended module learning outcome.
Example: A complete explanation traces a fake image through two different training roles. During the discriminator update it has target zero. During the generator update its desired target is one. These targets describe goals, rather than changing whether the image came from the generator.
Ask: Which outcome helps diagnose sharp images that show only one digit class?
Answer: Evaluate coverage and diagnose collapse, rather than relying only on sharpness or training loss.
Watch out: The compact outcome phrases are prompts for the fuller objectives; show both correct implementation and a justified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Week three adds adversarial feedback to the course’s growing collection of generation mechanisms.
Explain: A VAE, or variational autoencoder, compresses and rebuilds examples through hidden codes. A GAN trains a generator with a discriminator’s feedback. An LLM, or large language model, predicts token sequences. RAG means retrieval-augmented generation: retrieve evidence before answering. Later weeks adapt, combine and deploy these components.
Example: Today’s teaching plan allocates the largest block to the objective and its gradients. The course map places GANs after VAEs and before diffusion. This order compares mechanisms; it does not rank every possible system by image quality.
Ask: Why does the lecture return to evaluation after introducing model variants?
Answer: A different architecture still needs task-specific checks of samples, coverage, cost and responsible use.
Watch out: Teaching minutes describe the classroom plan, not a measured notebook runtime or a guaranteed training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prerequisite words to explain which quantities change during a GAN update.
Explain: Weights are learned numbers inside a neural network. Binary classification chooses between two labels. A gradient describes how a small change affects a loss. The generator creates examples, while the discriminator checks their source. Detach keeps values and cuts a gradient route for an operation. Backward computes gradients; an optimiser step changes its registered weights.
Example: During the discriminator update, real images receive label one and generated images receive zero. During the generator update, the desired label for its generated image is one. This changes the training goal, rather than changing the image source or automatically changing both networks.
Ask: Does plotting a sample update neural-network weights?
Answer: No. Plotting displays values; the optimiser step performs the weight update.
Watch out: A tensor with a gradient is not evidence that its weights were stepped. Identify the selected optimiser and the detached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forger-and-checker analogy makes the two learning roles intuitive, provided we translate it into numerical operations.
Explain: The generator is the forger in this analogy. The discriminator is the checker trained using real and generated examples. Feedback means derivatives of a numerical loss. A gradient describes how a small change affects that loss. An optimiser changes its registered weights using those gradients.
Example: Imagine a forger repeatedly producing one convincing painting. Success against the current checker does not demonstrate a varied collection. For GANs, compare many generated examples with the real distribution; neither network has human intentions or receives a verbal critique.
Ask: When the discriminator optimiser steps, which network’s registered weights change?
Answer: The discriminator’s weights. Computing a derivative elsewhere does not itself perform an optimiser update.
Watch out: An accurate discriminator can yield weak minimax feedback, but its probability score alone is not the complete generator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Adversarial learning replaces a fixed realism rule with a checker learned from actual examples.
Explain: A reconstruction loss compares an output with its paired target. Uncertain pixel targets can reward average-looking intensities. A discriminator instead learns differences between generated and dataset examples. The generator uses that changing feedback to improve its outputs. The learning problem therefore has two adapting networks.
Example: A slightly shifted sharp edge can receive a large pixel penalty. Averaging possible edge positions can reduce that penalty while looking blurred. This motivates a learned checker; it does not establish that every discriminator learns the visual properties people care about.
Ask: Why does the generator’s training task change after the discriminator improves?
Answer: The same generated image is now scored by a different learned checker.
Watch out: GANs do not remove the need to specify data, objectives and evaluation; the checker can learn shortcuts or dataset biases.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Separate real inputs from generated inputs, then follow the losses into their own weight updates.
Explain: A latent code is a numerical input controlling a generated sample. G maps codes into images. D scores real and generated images. The discriminator loss separates the two sources. The generator loss asks updated D to accept generated images.
Example: A batch of B codes has shape [B,64], and the generator returns [B,1,28,28] images. Real images bypass G and join the discriminator input. Their source labels create D feedback; no matching real digit is assigned to each random code. Fixed codes let snapshots expose changes in G.
Ask: Which network is required when generating after training?
Answer: G alone generates images; D was the training checker.
Watch out: The feedback arrow means repeated training, not a pixel tensor flowing backwards. Loss gradients and optimiser steps have different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basic GAN learns a sample-based realism signal rather than an explicit probability for every possible image.
Explain: An implicit generative model provides a sampling procedure without a tractable explicit density. The generator maps a random code to an example. The discriminator learns to separate real and generated sources. Adversarial feedback depends on its current parameters. Sample-based evaluation compares generated examples with suitable reference data.
Example: For the digit task, a generator converts 64 numerical values into one image with shape [1,28,28]. No real digit is paired with that particular code. The discriminator supplies a learned signal about the resulting image, rather than a target picture to reconstruct.
Ask: Can this basic GAN directly report a tractable likelihood for the digit it generated?
Answer: No. Use sample checks and appropriate distribution comparisons instead.
Watch out: Conditional variants can also use paired reconstruction targets; the absence of a paired target describes this unconditional training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Real examples train the discriminator, while generated examples connect its feedback back to the generator.
Explain: The latent code z is a random input vector. G denotes the generator that turns it into pixels. D denotes the discriminator scoring those pixels or real examples. A solid arrow carries a tensor forward. A dashed arrow marks learning feedback or repetition.
Example: A batch of B codes has shape [B,64], and G produces [B,1,28,28]. D produces one logit per image, giving shape [B]. Sigmoid can turn each logit into a probability for diagnostics; the training loss can consume logits directly.
Ask: After training, which network is needed to create a fresh digit?
Answer: G and a new latent code are sufficient; D supplied training feedback.
Watch out: Real images bypass G in this unconditional model. Their information affects G through D, without a matching real image for each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generator creates examples, the discriminator separates sources, and their optimisers update different registered weights.
Explain: Upsampling increases the spatial size of feature grids. A convolution combines nearby input values using learned weights. The generator uses learned operations to turn codes into images. The discriminator maps images to source scores. Each network’s objective depends on the other network’s current behaviour.
Example: During one batch, D learns from real digits labelled one and generated digits labelled zero. G then asks the updated D to give its generated digits the real label. The desired label changes with the training role, even though the pixels are generated in both cases.
Ask: Must D be retained when deploying the trained generator?
Answer: Usually no. It may be reused for other purposes, but ordinary GAN generation needs only G.
Watch out: A discriminator’s confidence describes its learned source decision, not an independent guarantee of visual quality, authenticity or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ideal GAN target matches generated and real distributions; a checker score of one-half alone does not establish success.
Explain: A distribution describes how examples vary and how likely regions are. Equilibrium is a state where the ideal players have no beneficial change to make. At matching positive densities, the optimal discriminator returns one-half. Actual networks and optimisation are finite. Their updates can oscillate or miss the ideal solution.
Example: A broken checker returning 0.5 for every image would also produce one-half scores. Its outputs would not establish that random noise resembles digits. Compare samples and coverage before interpreting the score as balance between useful networks.
Ask: What extra evidence would distinguish successful matching from an ineffective checker?
Answer: Inspect generated samples, reference data and independent quality or coverage measurements.
Watch out: The forger analogy explains opposing goals; networks lack intentions, and training is not guaranteed to settle into a human-style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GAN objective states opposing goals, and its derivatives explain the practical update choices.
Explain: A value function assigns a numerical result to both players’ current choices. D maximises the original value, while G minimises it. An expectation is an average under a specified distribution. A mini-batch estimates such an average using a few examples. Alternating updates change one network at a time.
Example: Start with real score 0.9 and fake score 0.2. Their original log terms are ln(0.9) and ln(0.8). Work those numbers before introducing the optimal-discriminator derivation; each symbol then refers to an operation the class has already followed.
Ask: Which term in the basic minimax value can the generator influence directly?
Answer: The generated-example term, because its output enters D through G(z).
Watch out: Distinguish the original minimax value from the non-saturating generator loss used in the implementation; they have different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Alternating losses send different feedback while each optimiser updates its own network.
Explain: D first classifies real and detached generated images. Source labels are one for real and zero for fake. The connected fake is then scored again by updated D. G asks for target one. Repeating these updates changes both networks over time.
Example: If D assigns a fake probability 0.1, its target-one generator loss is negative ln(0.1), about 2.30. Raising that probability to 0.8 reduces this loss to about 0.22. These are illustrative values, not archived training measurements or a guarantee that every generator gradient is useful.
Ask: Why does G use target one on a generated image?
Answer: One expresses its goal: make the discriminator accept its sample as real.
Watch out: The discriminator still uses target zero for fakes in its own update. Do not confuse goal labels with source identity or loss size with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minimax value rewards D for separating sources and asks G to make generated samples harder to reject.
Explain: V is the two-player value function. x is a real example and z is a random latent code. The data distribution supplies x, while the prior supplies z. G creates an image and D gives its real-source probability. Expectations average the two log terms; log means natural logarithm.
Example: With D(real)=0.9 and D(fake)=0.2, the value estimate is ln(0.9)+ln(0.8), approximately −0.329. D seeks a larger value. G affects the second term by changing the image it sends to D; these are illustrative probabilities, not measured lab outputs.
Ask: Why does a practical discriminator loss negate this value?
Answer: Standard optimisers minimise losses, so negative value implements D’s maximising goal.
Watch out: The lab uses stable binary cross-entropy on logits. Do not apply sigmoid twice before BCEWithLogitsLoss or confuse a logit with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For a fixed generator, the ideal discriminator compares the real and generated densities at the same input.
Explain: A density describes probability mass per unit of input space. The star marks an optimal discriminator for the fixed G. The denominator adds the two source densities. JSD means Jensen–Shannon divergence, a symmetric measure of distribution difference. The ideal value equals minus log four plus twice that divergence.
Example: If the real density is 0.3 and generated density is 0.1, D* is 0.3/(0.3+0.1)=0.75. Matching positive densities give one-half. At zero JSD the ideal value is −ln(4), approximately −1.386; the full derivation is in the Word notes.
Ask: Is D* defined by this ratio where both densities are zero?
Answer: No. The zero denominator lies outside their positive support and needs separate treatment.
Watch out: The result assumes an optimal discriminator and sufficient model capacity; finite alternating training does not guarantee the ideal distribution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density picture explains the ideal source comparison without turning its shape into a convergence guarantee.
Explain: The teal distribution represents real examples. The orange distribution represents generated examples. The dashed curve is the optimal D for those fixed densities. A density’s height is not the probability of one exact continuous point. Matching positive densities give an ideal discriminator probability of one-half.
Example: On the left the supplied distributions differ; on the right they coincide. At a location with real density three times the generated density, the formula gives 0.75. These are constructed mathematical curves illustrating the equation, rather than observed digit-training statistics.
Ask: Would a flat observed discriminator curve by itself prove that the two learned distributions coincide?
Answer: No. A weak discriminator can also be uninformative; inspect samples and independent comparisons.
Watch out: The ideal-density argument explains a target. It does not prove that every finite discriminator slope supplies useful generator-weight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non-saturating objective changes early generator feedback while keeping distribution matching as the intended target.
Explain: A logit s is D’s raw source score. Sigmoid converts it to probability p. The original minimax derivative with respect to s is minus p. The non-saturating derivative is p minus one. These derivatives concern the logit path, rather than every generator weight directly.
Example: At p=0.01, the derivatives are −0.01 and −0.99. The larger non-saturating magnitude provides stronger early feedback through this local path. Backpropagation also depends on the rest of D and G, so the comparison is not a universal guarantee of healthy gradients.
Ask: Which loss gives stronger local feedback when D confidently rejects a generated sample?
Answer: The non-saturating loss, because p−1 remains near minus one.
Watch out: A large generator loss does not establish good or bad image quality; inspect how training changes samples and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fake tensor keeps its generator connection while the discriminator update uses a detached view.
Explain: Detach keeps tensor values and cuts their gradient connection for an operation. The original fake remains linked to G. D learns from real-one and fake-zero targets. Its optimiser steps only D weights. G then receives target-one feedback through a fresh D forward pass.
Example: For a fake accepted with probability 0.1, the non-saturating generator cost is about 2.30. At probability 0.8 it is about 0.22. The same pixel values can participate in two different goals, so changing the target does not make a fake become a real training example.
Ask: Why run D again after its optimiser step?
Answer: The generator loss must use the updated discriminator and a graph connected to G.
Watch out: Detaching inside g_loss_fn blocks generator learning. Gradients through D during this loss do not themselves step D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One GAN batch updates D with detached fakes, then updates G through a fresh D forward pass on connected fakes.
Explain: Detach keeps a tensor’s values while cutting its gradient connection for an operation. Zero_grad clears accumulated gradients. Backward computes derivatives through the current computation graph. Step changes the optimiser’s registered parameters. A fresh D call after its update uses its new weights.
Example: The same fake tensor can be detached for D’s loss and retained for G’s loss. D targets real as one and fake as zero. G targets its generated image as one. The complete helper definitions are in the lab and Word notes, where each operation is visible.
Ask: Why must the second loss be computed after D’s optimiser step?
Answer: It needs a fresh graph using the updated discriminator, with a connected route back to G.
Watch out: Computing D gradients during G’s backward pass does not update D unless its optimiser steps; clear gradients before its next own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When real and generated densities match on positive support, the ideal discriminator returns one-half.
Explain: The ideal ratio divides real density by the sum of both densities. If they match, the denominator is twice the numerator. A probability describes the source prediction, rather than a digit class. The minimax value is a separate numerical objective. Its matched value is minus log four.
Example: Ask students to vote before discussing options. Equal densities 0.2 and 0.2 give 0.2/0.4=0.5. The calculation concerns the ideal D; an observed half score can also come from a poor checker and needs additional evidence.
Ask: Which option gives the correct ideal source probability?
Answer: C. One-half; the real and generated sources have equal density at that input.
Watch out: A describes perfect source separation, B predicts a digit class, and D confuses the game’s value with D’s probability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GAN diagnosis combines changing losses, fixed-code images and distribution coverage rather than treating one number as success.
Explain: Instability means training behaviour changes unpredictably or fails to settle usefully. Mode collapse means generated outputs miss substantial data variety. A fixed code keeps a generator input unchanged across snapshots. Coverage checks which data regions appear. A remedy changes an identified cause or tests a plausible one.
Example: A generator may produce sharp ones and sevens while missing the other digits. A low loss against its current opponent can coexist with that failure. Keep the input codes fixed and compare the snapshots, then count classes with a classifier whose reliability you have checked.
Ask: Which observation directly challenges a claim that sharpness means complete digit coverage?
Answer: A class histogram or sample inspection showing that several digit types are absent.
Watch out: A single run cannot isolate a cause when loss, learning rates, architecture and update frequency all change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archived curves show a changing game, so inspect progress with samples and independent checks alongside losses.
Explain: A loss measures the current training objective. Each opponent update changes that objective’s context. D(real) and D(fake) are average diagnostic probabilities. A fixed-noise snapshot reuses identical latent inputs. Quality asks whether samples fit the task, while coverage asks whether varied target regions appear.
Example: These curves belong to the archived lecture DCGAN, rather than today’s bounded CPU core. D(fake) near zero says the checker rejects generated examples. Under a non-saturating loss it does not, by itself, prove that every generator gradient vanished.
Ask: What would you inspect before deciding that a fluctuating generator loss means training failed?
Answer: Fixed-code sample changes, coverage and appropriate independent measurements.
Watch out: A supervised classifier’s steadily falling training loss is not a template that the two adapting GAN networks must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eight-cluster archive makes missing modes visible, but its comparison evaluates complete training configurations.
Explain: A mode is a region of substantial probability mass. Collapse misses such regions despite plausible samples elsewhere. The target contains eight Gaussian clusters. A Wasserstein critic gives unrestricted scores instead of source probabilities. Gradient penalty encourages smooth input feedback at sampled interpolation points.
Example: The archived final standard-GAN coverage is 7 of eight modes; the WGAN-GP configuration covers 8. Their learning rates and critic-update counts also differ. The images and stored metrics support that run’s comparison, rather than proving the loss alone caused the coverage difference.
Ask: Which extra computation distinguishes the WGAN-GP configuration in this experiment?
Answer: It uses five critic updates per generator update and differentiates the gradient penalty.
Watch out: Report actual seeds, settings and coverage. Today’s short run may differ, and no toy result guarantees complete image-class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Diagnose a concrete symptom first, then choose a remedy whose mechanism addresses that symptom.
Explain: Collapse concerns missing variety. Weak gradients concern insufficient useful feedback for parameter changes. Overfitting means learning training-specific patterns that fail on new examples. Checkerboard artefacts are visible grid patterns from some upsampling designs. A moving average smooths generator parameters across training updates.
Example: If a checker accepts training digits but rejects held-out real digits, test overfitting rather than immediately increasing G’s training time. Compare appropriate augmentation and separate reference data. For repeated generated classes, inspect coverage before trying a distribution-focused remedy.
Ask: Would an extra epoch necessarily repair a collapsed generator?
Answer: No. Measure the symptom and test a targeted change, keeping other settings recorded.
Watch out: Suggested remedies are hypotheses, not guaranteed fixes; retain the fuller comparison table and explanations in the Word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WGAN changes source probabilities into critic scores, while its gradient penalty encourages a local smoothness condition.
Explain: Wasserstein distance measures the work needed to move probability mass between distributions. A critic outputs an unrestricted real score. A Lipschitz bound limits score changes relative to input movement. The input gradient measures how the score changes as an example moves. Lambda weights the penalty term.
Example: With average real score two and generated score one-half, the score gap is 1.5. For input-gradient norm 1.4 and lambda ten, the point penalty is 10×(1.4−1)²=1.6. These arithmetic examples explain the terms; they are not measured critic outputs.
Ask: Does encouraging gradient norm one at random mixed inputs prove a global Lipschitz bound?
Answer: No. It regularises sampled locations rather than certifying every possible input.
Watch out: The critic’s score is not a probability, and the penalty’s input derivative differs from the weight derivative used by an optimiser.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Stabilisation methods target different parts of the training game, so choose and evaluate them deliberately.
Explain: Spectral normalisation scales a layer using its largest singular value. TTUR means two time-scale update rule: use separate learning rates. EMA means exponential moving average of generator weights. ADA means adaptive discriminator augmentation. R1 regularisation penalises discriminator input gradients on real examples.
Example: For a small dataset, augmenting examples seen by D can reduce memorisation shortcuts. For oscillating samples, an averaged generator may give steadier outputs. Each method changes a different operation; compare actual quality and coverage while keeping the experiment’s other settings fixed.
Ask: Which method explicitly gives D and G separate learning rates?
Answer: TTUR. It changes their update speeds rather than replacing the generator architecture.
Watch out: Normalising individual layers does not automatically certify the whole network’s smoothness; shortcuts, activations and implementation details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Sharp digits of only two classes indicate a possible coverage failure that should be measured before choosing a fix.
Explain: A class histogram counts predicted labels over generated examples. Coverage concerns the variety present in the target data. Mode collapse can retain realistic-looking outputs while missing other regions. A classifier’s errors affect its histogram. A remedy should address the observed failure rather than only improving one image.
Example: A sample set mostly labelled one and seven could miss several real digit classes. Inspect images and classifier accuracy before interpreting the counts. Then test a targeted change, such as a different objective or discriminator regularisation, and record its computational cost.
Ask: Which option first checks the coverage symptom?
Answer: B. Inspect the class histogram, then test an appropriate remedy.
Watch out: A promises recovery from more training, C replaces this task with unpaired pixel matching, and D imports language-model temperature into this 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GAN variants change architectures, conditions or consistency checks while retaining adversarial feedback.
Explain: DCGAN means deep convolutional GAN. A conditional GAN receives information specifying the desired output. Pix2pix learns translation from paired images. CycleGAN learns with unpaired image domains and round-trip consistency. StyleGAN supplies style controls at several generator resolutions.
Example: A labelled-digit generator receives a digit class along with its noise code. A sketch-to-photo model instead receives an input image. These conditions serve different tasks, so the label-conditioned diagram is an example rather than a blueprint for every image translator.
Ask: Which variant would naturally use matched sketch-and-photo training pairs?
Answer: Pix2pix, which combines adversarial training with a paired reconstruction objective.
Watch out: The named methods are historical research designs. Their names do not establish current market share, universal quality or suitability for every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DCGAN generator grows a spatial feature grid into pixels through learned upsampling operations.
Explain: A transposed convolution is a learned operation that can increase spatial size. Batch normalisation rescales activations using batch or stored statistics. ReLU keeps positive activations, while LeakyReLU also passes a small negative slope. Tanh bounds the generator’s output between minus one and one. Adam uses adaptive gradient-based updates.
Example: Here [B,64] codes become [B,128,7,7], then [B,64,14,14], then [B,1,28,28]. B is the batch size; the remaining dimensions are channels, height and width. The source preserves this convolutional mechanism in the short CPU core.
Ask: Why scale real images to the same range as tanh outputs?
Answer: It prevents D from separating sources using an avoidable difference in pixel range.
Watch out: The architecture and conventional learning settings are starting choices, rather than a guarantee of convergence or a measured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trained generator converts fresh codes into images without running the discriminator.
Explain: Inference means using learned weights to produce outputs. Evaluation mode uses stored batch-normalisation statistics. A forward pass applies the learned operations once. A Gaussian code contains random values drawn from a normal distribution. Display scaling converts pixel values into a plotting range.
Example: Sixteen codes of length 64 form [16,64]. G returns [16,1,28,28], where one is the grayscale channel count. Mapping the output from negative-one-to-one into zero-to-one changes display values without updating learned weights. Reuse the same codes when comparing saved generators to isolate training changes.
Ask: Must D run to generate a new digit?
Answer: No. G generates; a separate classifier or human review can evaluate the result.
Watch out: Evaluation mode does not guarantee good images, and disabling gradients does not itself switch batch-normalisation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Fixed-code snapshots isolate changes in the generator mapping from changes in its random inputs.
Explain: An epoch is one pass over the selected training data. A snapshot records generated images at a training stage. Fixed noise reuses the same code vectors. Evaluation mode uses stored BatchNorm statistics. A changing image identity can reflect the mapping’s movement during the game.
Example: The archived grid shows the same 16 codes before training and after one, two, four and eight epochs. Several digits become readable, while some remain malformed. Today’s shorter core trains the same mechanism with a smaller budget, so it need not reproduce this archived visual progression.
Ask: If the codes changed at every snapshot, what extra source of variation would enter the comparison?
Answer: Different latent inputs could change the images even without a weight update.
Watch out: Fixed-code progress is useful evidence, but a small grid cannot establish complete class coverage or a transferable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class-conditioned GAN supplies the desired class to both networks so training can reward matching image-condition pairs.
Explain: The condition y specifies information that generation should respect. G receives noise z and y. D judges an image together with its condition. A conditional distribution describes outputs given the selected condition. Conditions can be labels, images or other representations, depending on the model.
Example: With condition seven, G should produce a plausible seven. The checker receives both the generated image and the same condition. Paired image translation can also use reconstruction feedback; its precise training pairs and discriminator input must match that task.
Ask: Why would sending the label only to G leave the checker’s task less direct?
Answer: D could judge realism without testing whether the generated image matches the requested label.
Watch out: Standard CycleGAN uses domain discriminators, rather than giving each discriminator the corresponding source image as a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Landmark GAN variants solve different supervision and control problems, so their mechanisms matter more than name recognition.
Explain: Paired examples match an input with its desired output. Pix2pix combines adversarial feedback with an L1 reconstruction loss. CycleGAN uses round-trip consistency when such pairs are absent. StyleGAN maps noise into intermediate styles used at multiple layers. BigGAN scales class-conditioned generation and uses truncated sampling.
Example: A sketch and its photograph supply a direct paired target. Separate horse and zebra collections do not. The second task needs additional constraints to relate translation to the input, while the first can compare with its matched image.
Ask: Does cycle consistency alone prove that every horse’s meaning or identity is preserved?
Answer: No. Round-trip agreement is a constraint, and semantic preservation needs separate evidence.
Watch out: Style controls can interact, and truncation can reduce variety; demonstrate and measure the claimed effect rather than treating labels as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Cycle consistency penalises failure to recover an input after translating to another domain and back.
Explain: X and Y name two image domains. G translates from X to Y, while F translates back. The L1 norm sums absolute pixel differences. Expectations average errors over examples from each domain. The total cycle loss includes both directions alongside adversarial objectives.
Example: An input [0.2,0.8] returning as [0.3,0.6] has error |0.3−0.2|+|0.6−0.8|=0.3. This two-pixel calculation illustrates one direction. Requiring that round trip limits arbitrary translations, but it can still permit hidden information or semantically wrong intermediate images.
Ask: Why include the second round trip starting from Y?
Answer: It constrains the opposite translation direction rather than checking only examples from X.
Watch out: Cycle consistency supplies indirect supervision; it does not replace evaluation of the translated image’s content or task suitability.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Interpolation explores the generator’s mapping between codes, while inversion requires extra work for a real image.
Explain: Linear interpolation combines endpoints along a straight line. Spherical interpolation follows their angular relationship. A latent norm measures a code’s length. A basic GAN has no encoder mapping arbitrary images into codes. Inversion searches for a code, or uses an added encoder, to approximate a real image.
Example: The archived figure decodes ten evenly spaced codes along each supplied path. Compare changes and malformed intermediate digits. In the lab, equal-length endpoints support constant-radius spherical interpolation; unequal random endpoints need not keep exactly one radius.
Ask: Does a smooth row of interpolated images prove that the model never memorised training examples?
Answer: No. It probes selected paths and does not test memorisation directly.
Watch out: Inspect endpoint and midpoint norms, and handle nearly parallel or zero-length codes before using the formula as a general-purpose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Evaluation compares generated samples with task requirements and reference data because a basic GAN lacks tractable explicit likelihood.
Explain: A feature vector is a numerical representation extracted by a network. A reference dataset supplies real examples for comparison. FID means Fréchet Inception Distance, using Inception image features. Coverage measures which target regions are represented. Responsible evaluation also checks consent, disclosure and possible misuse.
Example: A digit model needs recognisable samples and varied digit classes. An image-restoration model also needs faithfulness to its input. A generic visual score cannot establish either requirement alone; choose independent checks that reflect the actual task.
Ask: Why will this evaluation section remain useful when next week introduces diffusion?
Answer: The generator mechanism changes, but sample quality, coverage and checking methods still require evidence.
Watch out: Standard FID and the lab’s custom digit-feature distance use different representations and must not share an unqualified numerical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FID compares Gaussian summaries of real and generated features, rather than verifying each image or its factual correctness.
Explain: Mu names a feature mean vector. Sigma names a covariance matrix describing joint feature variation. Subscripts r and g identify real and generated sets. Trace adds matrix diagonal entries. The squared norm measures the difference between means. The matrix square-root term contributes the covariance comparison.
Example: For one-dimensional features, real mean zero and variance one versus generated mean 0.5 and variance 0.25 gives 0.25+1.25−1=0.50. These supplied values illustrate arithmetic. The lab instead extracts 128-dimensional DigitCNN features, while standard Inception FID uses a different feature network.
Ask: Would score zero establish that every original and generated image is identical?
Answer: No. Matching these summaries does not prove identity of the full distributions or individual images.
Watch out: Keep feature network, preprocessing and sample count fixed for comparisons, and label the custom lab distance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feature-space sketch shows how shifted centres and altered spread affect a Gaussian-summary distance.
Explain: An embedding maps an image into a feature vector. The mean locates the average vector. Covariance describes its spread and relationships between coordinates. The constructed panels use only two feature coordinates for visibility. Real FID compares much higher-dimensional representations.
Example: The first generated cloud resembles the supplied reference centre and spread. The second is shifted and narrow. Both effects can raise the distance, but neither term is a pure quality or diversity measurement. These constructed points illustrate the formula rather than measured GAN feature statistics.
Ask: What must remain fixed before comparing two reported feature distances?
Answer: The feature network, preprocessing, sampling protocol and number of examples.
Watch out: A visual two-dimensional projection can hide differences in other dimensions; do not equate a similar-looking scatter plot with complete distribution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complementary evaluation tools because each statistic detects some failures and misses others.
Explain: Inception Score rewards confident and varied predicted classes without comparing real examples. Generative precision concerns realism, while recall concerns coverage in a chosen feature space. KID means Kernel Inception Distance, based on a kernel comparison. Its unbiased estimator still has sampling uncertainty. Human evaluation needs a stated rubric.
Example: A generated set can show many predicted classes while containing implausible images. A single attractive sample can coexist with missing classes. Compare multiple signals and inspect disagreements; neither metric names nor a low number determine task success by themselves.
Ask: Which listed automated score never compares generated samples with real data?
Answer: Inception Score. Its classifier predictions describe confidence and class variety within the generated set.
Watch out: Report sample counts, features and uncertainty. An unbiased KID estimate is not a universal guarantee of lower error than every FID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Adversarial learning remains a useful component of restoration, efficient generation, autoencoders and audio synthesis.
Explain: Super-resolution increases image resolution while estimating missing detail. A vocoder maps a sound representation into a waveform. Distillation trains a smaller or faster generator from another model’s signals. Adversarial losses can complement reconstruction losses. Synthetic data still needs privacy and task-quality checks.
Example: Published examples include Real-ESRGAN for restoration, HiFi-GAN for audio, and SDXL-Turbo’s adversarial diffusion distillation. The SDXL-Turbo model card documents one-to-four sampling steps. These illustrate mechanisms and documented models; they do not establish current market share or a runtime on the student’s hardware.
Ask: Why might an autoencoder use both reconstruction and adversarial feedback?
Answer: Reconstruction checks input faithfulness, while the discriminator supplies a learned realism signal.
Watch out: Generated detail can be plausible but wrong. Test the relevant task, documented limits and licence before using a published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Synthetic-media responsibility combines authorised inputs, disclosure, provenance and checks of potential harms.
Explain: A deepfake misleadingly resembles an existing person, object or event. Provenance records source and edit history. Content credentials can authenticate recorded history but not every claim in an image. The liar’s dividend describes dismissing genuine evidence as fake. Detectors can fail on new generators or falsely flag real media.
Example: A synthetic training portrait used with consent and clear disclosure differs from an impersonation presented as a real person. Assess the use and evidence, rather than trusting realism. A removed credential is also not proof that an image was generated.
Ask: Can a detector alone establish that every uploaded portrait is authentic?
Answer: No. Combine source checks, disclosure, review and proportionate technical measures.
Watch out: EU Article 50 separates provider marking and deployer disclosure, with exceptions; consult the official text for the particular role 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VAE and GAN designs differ in training signals, explicit likelihood bounds and their route from images to codes.
Explain: A VAE learns an encoder and decoder with a likelihood-bound objective. Its reconstruction term checks input recovery. A basic GAN trains with a discriminator’s changing feedback. It provides sampling without a tractable explicit likelihood. GAN inversion needs extra optimisation or an added encoder.
Example: For a real digit, the VAE encoder gives a code directly. The basic GAN generator maps the other direction, from code to image. Comparing their samples still requires quality and coverage evidence; possible VAE blur and possible GAN sharpness are tendencies, not guarantees.
Ask: Can adversarial feedback and a VAE-style autoencoder appear in the same system?
Answer: Yes. Reconstruction and learned-realism objectives can be combined, as in adversarially trained autoencoders.
Watch out: Neither family name proves stable training or full coverage. Next week’s diffusion also requires measured quality and cost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diagram shows only the class-coverage experiment, so each solid arrow carries the actual next input.
Explain: Fresh codes enter the trained generator. Its images enter the digit classifier. Argmax selects each most likely digit label. Bincount converts labels into ten class counts. The coverage check compares those counts with a stated threshold.
Example: With 512 generated images, each image supplies one predicted class and the ten histogram counts sum to 512. Classifier errors can distort these counts, so inspect its held-out accuracy and sample images. The separate feature-distance and toy-ring experiments use their own inputs; their outputs do not feed this classifier pipeline.
Ask: Does a single sharp digit prove coverage of all ten classes?
Answer: No. Inspect multiple samples and the histogram, while accounting for classifier errors.
Watch out: A coverage threshold defines an operational check, not proof of the entire data distribution. Never connect independent lab exercises with a data-flow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CPU core trains a real GAN long enough to see digit shapes, traces both updates and evaluates its own outputs.
Explain: The discriminator loss uses real target one and detached fake target zero. The generator loss uses connected fake target one. Fixed-noise snapshots expose changes in G. A digit classifier supplies predicted classes and custom features. The toy ring makes missing modes directly visible.
Example: Students inspect [B,64] codes, [B,1,28,28] images and [B] source logits before training. The core runs 800 updates: four epochs of 25,600 images. On the course laptop the whole core took 4.7 minutes. The archived images came from a longer run, so today's digits can look rougher.
Ask: Does the local route require a GPU or a Gemini key?
Answer: No. Both are optional, and all core experiments and checking tasks remain local.
Watch out: Distinguish the custom DigitCNN Fréchet distance from standard FID, and report observed results rather than forcing archived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one reading that resolves a concrete uncertainty, then test the explanation with a worked example or code trace.
Explain: The original GAN paper states the game and ideal discriminator. The PyTorch tutorial implements alternating DCGAN updates. The FID paper connects feature comparisons with evaluation. A visual lecture provides another explanation of generation mechanisms. The textbook develops implementation and broader variants.
Example: A student uncertain about detach can trace the official tutorial’s discriminator and generator updates, then explain the two fake targets. A student uncertain about FID can redo the one-dimensional example before reading the higher-dimensional formula. Reading is preparation for an explanation, not evidence of a successful training run.
Ask: Which source would you consult before claiming that your custom DigitCNN number equals standard FID?
Answer: The original FID definition and the actual feature extractor and preprocessing used by both experiments.
Watch out: Keep historical papers distinct from current package documentation, and verify source details before repeating a model capability or legal 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Correct adversarial updates and convincing examples still require independent quality and coverage evidence.
Explain: G maps codes into samples. D distinguishes real and generated sources. Detach cuts a gradient route while retaining values. Non-saturating generator loss asks for real-target feedback. Mode collapse means missing substantial data variety.
Example: For probability 0.1, the illustrative generator loss is about 2.30; for 0.8 it is about 0.22. Neither value states how many digit classes appear. Two sharp images of the same digit may look successful while leaving the distribution poorly covered. Pair snapshots with class counts and documented feature comparisons.
Ask: Which route must remain connected during the generator update?
Answer: The loss must backpropagate through D and the generated image into G weights.
Watch out: Report the custom DigitCNN distance under its own name. Next week replaces the adversarial target with known noise targets, while still requiring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arxiv.org/abs/1406.2661" TargetMode="External"/><Relationship Id="rId4" Type="http://schemas.openxmlformats.org/officeDocument/2006/relationships/hyperlink" Target="https://docs.pytorch.org/tutorials/beginner/dcgan_faces_tutorial.html" TargetMode="External"/><Relationship Id="rId6" Type="http://schemas.openxmlformats.org/officeDocument/2006/relationships/hyperlink" Target="https://arxiv.org/abs/1706.08500" TargetMode="External"/><Relationship Id="rId8" Type="http://schemas.openxmlformats.org/officeDocument/2006/relationships/hyperlink" Target="https://www.youtube.com/watch?v=R8V8CbuxryI"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03</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Generative Adversarial Networks (GANs)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How a generator learns from a real/fake checker, and how to test image quality and variety</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3\cover.png">    </p:cNvPr>
          <p:cNvPicPr>
            <a:picLocks noChangeAspect="1"/>
          </p:cNvPicPr>
          <p:nvPr/>
        </p:nvPicPr>
        <p:blipFill>
          <a:blip r:embed="rId1"/>
          <a:stretch>
            <a:fillRect/>
          </a:stretch>
        </p:blipFill>
        <p:spPr>
          <a:xfrm>
            <a:off x="7818120" y="1508760"/>
            <a:ext cx="3840480" cy="3840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the GAN game</a:t>
            </a:r>
            <a:endParaRPr lang="en-US" sz="2000" dirty="0"/>
          </a:p>
        </p:txBody>
      </p:sp>
      <p:sp>
        <p:nvSpPr>
          <p:cNvPr id="9" name="Shape 7"/>
          <p:cNvSpPr/>
          <p:nvPr/>
        </p:nvSpPr>
        <p:spPr>
          <a:xfrm>
            <a:off x="548640" y="2740914"/>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274091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722626"/>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Diagnose training failures</a:t>
            </a:r>
            <a:endParaRPr lang="en-US" sz="2000" dirty="0"/>
          </a:p>
        </p:txBody>
      </p:sp>
      <p:sp>
        <p:nvSpPr>
          <p:cNvPr id="12" name="Shape 10"/>
          <p:cNvSpPr/>
          <p:nvPr/>
        </p:nvSpPr>
        <p:spPr>
          <a:xfrm>
            <a:off x="548640" y="3936492"/>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39364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918204"/>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quality and coverage</a:t>
            </a:r>
            <a:endParaRPr lang="en-US" sz="2000" dirty="0"/>
          </a:p>
        </p:txBody>
      </p:sp>
      <p:sp>
        <p:nvSpPr>
          <p:cNvPr id="15" name="Shape 13"/>
          <p:cNvSpPr/>
          <p:nvPr/>
        </p:nvSpPr>
        <p:spPr>
          <a:xfrm>
            <a:off x="548640" y="5132070"/>
            <a:ext cx="411480" cy="411480"/>
          </a:xfrm>
          <a:prstGeom prst="ellipse">
            <a:avLst/>
          </a:prstGeom>
          <a:solidFill>
            <a:srgbClr val="4F46E5"/>
          </a:solidFill>
          <a:ln w="12700">
            <a:solidFill>
              <a:srgbClr val="4F46E5"/>
            </a:solidFill>
            <a:prstDash val="solid"/>
          </a:ln>
        </p:spPr>
      </p:sp>
      <p:sp>
        <p:nvSpPr>
          <p:cNvPr id="16" name="Text 14"/>
          <p:cNvSpPr txBox="1"/>
          <p:nvPr/>
        </p:nvSpPr>
        <p:spPr>
          <a:xfrm>
            <a:off x="548640" y="513207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5113782"/>
            <a:ext cx="6903720" cy="1195578"/>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Label synthetic media</a:t>
            </a:r>
            <a:endParaRPr lang="en-US" sz="2000" dirty="0"/>
          </a:p>
        </p:txBody>
      </p:sp>
      <p:sp>
        <p:nvSpPr>
          <p:cNvPr id="18" name="Shape 16"/>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9" name="Text 17"/>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20" name="Shape 18"/>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22" name="Text 20"/>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3" name="Shape 21"/>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5" name="Text 23"/>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6" name="Shape 24"/>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8" name="Text 26"/>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FFF0E6"/>
          </a:solidFill>
          <a:ln w="15240">
            <a:solidFill>
              <a:srgbClr val="D55E00"/>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3: you are here</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Neural-network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Learned numbers transforming an input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Binary classification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Choosing between two source labels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Gradient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How change affects the loss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Generator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Random codes into generated examples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Discriminator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Distinguish real and generated sources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Detach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Keep values; cut gradient route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forger learns from a changing detective. What could go wrong?</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Detective becomes too strong.</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Forger repeats one successful painting.</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Feedback improves useful detail.</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Why adversarial learning?</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Can we learn the loss function itself?</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GAN learns from a discriminator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Alternating updates.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z[B,64]</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fake[B,1,28,28]</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scores[B]</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gradients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 weights</a:t>
            </a:r>
            <a:endParaRPr lang="en-US" sz="1441" dirty="0"/>
          </a:p>
        </p:txBody>
      </p:sp>
      <p:sp>
        <p:nvSpPr>
          <p:cNvPr id="17" name="Shape 15"/>
          <p:cNvSpPr/>
          <p:nvPr/>
        </p:nvSpPr>
        <p:spPr>
          <a:xfrm>
            <a:off x="1571235" y="4738766"/>
            <a:ext cx="0" cy="198270"/>
          </a:xfrm>
          <a:prstGeom prst="line">
            <a:avLst/>
          </a:prstGeom>
          <a:noFill/>
          <a:ln w="22860">
            <a:solidFill>
              <a:srgbClr val="0072B2"/>
            </a:solidFill>
            <a:prstDash val="solid"/>
          </a:ln>
        </p:spPr>
      </p:sp>
      <p:sp>
        <p:nvSpPr>
          <p:cNvPr id="18" name="Shape 16"/>
          <p:cNvSpPr/>
          <p:nvPr/>
        </p:nvSpPr>
        <p:spPr>
          <a:xfrm>
            <a:off x="1571235" y="4937035"/>
            <a:ext cx="3619690" cy="0"/>
          </a:xfrm>
          <a:prstGeom prst="line">
            <a:avLst/>
          </a:prstGeom>
          <a:noFill/>
          <a:ln w="22860">
            <a:solidFill>
              <a:srgbClr val="0072B2"/>
            </a:solidFill>
            <a:prstDash val="solid"/>
          </a:ln>
        </p:spPr>
      </p:sp>
      <p:sp>
        <p:nvSpPr>
          <p:cNvPr id="19" name="Shape 17"/>
          <p:cNvSpPr/>
          <p:nvPr/>
        </p:nvSpPr>
        <p:spPr>
          <a:xfrm flipV="1">
            <a:off x="5190925" y="4738766"/>
            <a:ext cx="0" cy="198270"/>
          </a:xfrm>
          <a:prstGeom prst="line">
            <a:avLst/>
          </a:prstGeom>
          <a:noFill/>
          <a:ln w="22860">
            <a:solidFill>
              <a:srgbClr val="0072B2"/>
            </a:solidFill>
            <a:prstDash val="solid"/>
            <a:tailEnd type="triangle"/>
          </a:ln>
        </p:spPr>
      </p:sp>
      <p:sp>
        <p:nvSpPr>
          <p:cNvPr id="20" name="Text 18"/>
          <p:cNvSpPr txBox="1"/>
          <p:nvPr/>
        </p:nvSpPr>
        <p:spPr>
          <a:xfrm>
            <a:off x="2734572" y="4967538"/>
            <a:ext cx="1293017"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real[B,1,28,28]</a:t>
            </a:r>
            <a:endParaRPr lang="en-US" sz="1441" dirty="0"/>
          </a:p>
        </p:txBody>
      </p:sp>
      <p:sp>
        <p:nvSpPr>
          <p:cNvPr id="21" name="Shape 19"/>
          <p:cNvSpPr/>
          <p:nvPr/>
        </p:nvSpPr>
        <p:spPr>
          <a:xfrm flipV="1">
            <a:off x="8810615" y="2191765"/>
            <a:ext cx="0" cy="747324"/>
          </a:xfrm>
          <a:prstGeom prst="line">
            <a:avLst/>
          </a:prstGeom>
          <a:noFill/>
          <a:ln w="22860">
            <a:solidFill>
              <a:srgbClr val="D55E00"/>
            </a:solidFill>
            <a:prstDash val="dash"/>
          </a:ln>
        </p:spPr>
      </p:sp>
      <p:sp>
        <p:nvSpPr>
          <p:cNvPr id="22" name="Shape 20"/>
          <p:cNvSpPr/>
          <p:nvPr/>
        </p:nvSpPr>
        <p:spPr>
          <a:xfrm flipH="1">
            <a:off x="3381080" y="2191765"/>
            <a:ext cx="5429535" cy="0"/>
          </a:xfrm>
          <a:prstGeom prst="line">
            <a:avLst/>
          </a:prstGeom>
          <a:noFill/>
          <a:ln w="22860">
            <a:solidFill>
              <a:srgbClr val="D55E00"/>
            </a:solidFill>
            <a:prstDash val="dash"/>
          </a:ln>
        </p:spPr>
      </p:sp>
      <p:sp>
        <p:nvSpPr>
          <p:cNvPr id="23" name="Shape 21"/>
          <p:cNvSpPr/>
          <p:nvPr/>
        </p:nvSpPr>
        <p:spPr>
          <a:xfrm>
            <a:off x="3381080" y="2191765"/>
            <a:ext cx="0" cy="747324"/>
          </a:xfrm>
          <a:prstGeom prst="line">
            <a:avLst/>
          </a:prstGeom>
          <a:noFill/>
          <a:ln w="22860">
            <a:solidFill>
              <a:srgbClr val="D55E00"/>
            </a:solidFill>
            <a:prstDash val="dash"/>
            <a:tailEnd type="triangle"/>
          </a:ln>
        </p:spPr>
      </p:sp>
      <p:sp>
        <p:nvSpPr>
          <p:cNvPr id="24" name="Text 22"/>
          <p:cNvSpPr txBox="1"/>
          <p:nvPr/>
        </p:nvSpPr>
        <p:spPr>
          <a:xfrm>
            <a:off x="5612622"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5" name="Shape 23"/>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6" name="Text 24"/>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a:t>
            </a:r>
            <a:endParaRPr lang="en-US" sz="1561" dirty="0"/>
          </a:p>
        </p:txBody>
      </p:sp>
      <p:sp>
        <p:nvSpPr>
          <p:cNvPr id="27" name="Text 25"/>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Codes; digits</a:t>
            </a:r>
            <a:endParaRPr lang="en-US" sz="1441" dirty="0"/>
          </a:p>
        </p:txBody>
      </p:sp>
      <p:sp>
        <p:nvSpPr>
          <p:cNvPr id="28" name="Shape 26"/>
          <p:cNvSpPr/>
          <p:nvPr/>
        </p:nvSpPr>
        <p:spPr>
          <a:xfrm>
            <a:off x="2598170" y="2939089"/>
            <a:ext cx="1565821" cy="1799677"/>
          </a:xfrm>
          <a:prstGeom prst="rect">
            <a:avLst/>
          </a:prstGeom>
          <a:solidFill>
            <a:srgbClr val="E5F7EF"/>
          </a:solidFill>
          <a:ln w="15240">
            <a:solidFill>
              <a:srgbClr val="009E73"/>
            </a:solidFill>
            <a:prstDash val="solid"/>
          </a:ln>
        </p:spPr>
      </p:sp>
      <p:sp>
        <p:nvSpPr>
          <p:cNvPr id="29" name="Text 27"/>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30" name="Text 28"/>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Images</a:t>
            </a:r>
            <a:endParaRPr lang="en-US" sz="1441" dirty="0"/>
          </a:p>
        </p:txBody>
      </p:sp>
      <p:sp>
        <p:nvSpPr>
          <p:cNvPr id="31" name="Text 29"/>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a:t>
            </a:r>
            <a:endParaRPr lang="en-US" sz="1441" dirty="0"/>
          </a:p>
        </p:txBody>
      </p:sp>
      <p:sp>
        <p:nvSpPr>
          <p:cNvPr id="32" name="Shape 30"/>
          <p:cNvSpPr/>
          <p:nvPr/>
        </p:nvSpPr>
        <p:spPr>
          <a:xfrm>
            <a:off x="4408015" y="2939089"/>
            <a:ext cx="1565821" cy="1799677"/>
          </a:xfrm>
          <a:prstGeom prst="rect">
            <a:avLst/>
          </a:prstGeom>
          <a:solidFill>
            <a:srgbClr val="E5F7EF"/>
          </a:solidFill>
          <a:ln w="15240">
            <a:solidFill>
              <a:srgbClr val="009E73"/>
            </a:solidFill>
            <a:prstDash val="solid"/>
          </a:ln>
        </p:spPr>
      </p:sp>
      <p:sp>
        <p:nvSpPr>
          <p:cNvPr id="33" name="Text 31"/>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4" name="Text 32"/>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35" name="Text 33"/>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D</a:t>
            </a:r>
            <a:endParaRPr lang="en-US" sz="1441" dirty="0"/>
          </a:p>
        </p:txBody>
      </p:sp>
      <p:sp>
        <p:nvSpPr>
          <p:cNvPr id="36" name="Shape 34"/>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37" name="Text 35"/>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Losses</a:t>
            </a:r>
            <a:endParaRPr lang="en-US" sz="1561" dirty="0"/>
          </a:p>
        </p:txBody>
      </p:sp>
      <p:sp>
        <p:nvSpPr>
          <p:cNvPr id="38" name="Text 36"/>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D/G</a:t>
            </a:r>
            <a:endParaRPr lang="en-US" sz="1441" dirty="0"/>
          </a:p>
        </p:txBody>
      </p:sp>
      <p:sp>
        <p:nvSpPr>
          <p:cNvPr id="39" name="Shape 37"/>
          <p:cNvSpPr/>
          <p:nvPr/>
        </p:nvSpPr>
        <p:spPr>
          <a:xfrm>
            <a:off x="8027705" y="2939089"/>
            <a:ext cx="1565821" cy="1799677"/>
          </a:xfrm>
          <a:prstGeom prst="rect">
            <a:avLst/>
          </a:prstGeom>
          <a:solidFill>
            <a:srgbClr val="E5F7EF"/>
          </a:solidFill>
          <a:ln w="15240">
            <a:solidFill>
              <a:srgbClr val="009E73"/>
            </a:solidFill>
            <a:prstDash val="solid"/>
          </a:ln>
        </p:spPr>
      </p:sp>
      <p:sp>
        <p:nvSpPr>
          <p:cNvPr id="40" name="Text 38"/>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41" name="Text 39"/>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Alternate</a:t>
            </a:r>
            <a:endParaRPr lang="en-US" sz="1441" dirty="0"/>
          </a:p>
        </p:txBody>
      </p:sp>
      <p:sp>
        <p:nvSpPr>
          <p:cNvPr id="42" name="Shape 40"/>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43" name="Text 41"/>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44" name="Text 42"/>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codes</a:t>
            </a:r>
            <a:endParaRPr lang="en-US" sz="1441" dirty="0"/>
          </a:p>
        </p:txBody>
      </p:sp>
      <p:sp>
        <p:nvSpPr>
          <p:cNvPr id="45" name="Shape 4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6" name="Text 4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7" name="Shape 45"/>
          <p:cNvSpPr/>
          <p:nvPr/>
        </p:nvSpPr>
        <p:spPr>
          <a:xfrm>
            <a:off x="1676436" y="5630979"/>
            <a:ext cx="198270" cy="198270"/>
          </a:xfrm>
          <a:prstGeom prst="rect">
            <a:avLst/>
          </a:prstGeom>
          <a:solidFill>
            <a:srgbClr val="E5F7EF"/>
          </a:solidFill>
          <a:ln w="15240">
            <a:solidFill>
              <a:srgbClr val="009E73"/>
            </a:solidFill>
            <a:prstDash val="solid"/>
          </a:ln>
        </p:spPr>
      </p:sp>
      <p:sp>
        <p:nvSpPr>
          <p:cNvPr id="48" name="Text 46"/>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9" name="Shape 47"/>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50" name="Text 48"/>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51" name="Shape 49"/>
          <p:cNvSpPr/>
          <p:nvPr/>
        </p:nvSpPr>
        <p:spPr>
          <a:xfrm>
            <a:off x="3568395" y="5630979"/>
            <a:ext cx="198270" cy="198270"/>
          </a:xfrm>
          <a:prstGeom prst="roundRect">
            <a:avLst>
              <a:gd name="adj" fmla="val 36895"/>
            </a:avLst>
          </a:prstGeom>
          <a:solidFill>
            <a:srgbClr val="F9EAF4"/>
          </a:solidFill>
          <a:ln w="15240">
            <a:solidFill>
              <a:srgbClr val="CC79A7"/>
            </a:solidFill>
            <a:prstDash val="solid"/>
          </a:ln>
        </p:spPr>
      </p:sp>
      <p:sp>
        <p:nvSpPr>
          <p:cNvPr id="52" name="Text 50"/>
          <p:cNvSpPr txBox="1"/>
          <p:nvPr/>
        </p:nvSpPr>
        <p:spPr>
          <a:xfrm>
            <a:off x="3827671"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53" name="Shape 51"/>
          <p:cNvSpPr/>
          <p:nvPr/>
        </p:nvSpPr>
        <p:spPr>
          <a:xfrm>
            <a:off x="4625093" y="5730113"/>
            <a:ext cx="335533" cy="0"/>
          </a:xfrm>
          <a:prstGeom prst="line">
            <a:avLst/>
          </a:prstGeom>
          <a:noFill/>
          <a:ln w="22860">
            <a:solidFill>
              <a:srgbClr val="009E73"/>
            </a:solidFill>
            <a:prstDash val="solid"/>
            <a:tailEnd type="triangle"/>
          </a:ln>
        </p:spPr>
      </p:sp>
      <p:sp>
        <p:nvSpPr>
          <p:cNvPr id="54" name="Text 52"/>
          <p:cNvSpPr txBox="1"/>
          <p:nvPr/>
        </p:nvSpPr>
        <p:spPr>
          <a:xfrm>
            <a:off x="5021632"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5" name="Shape 53"/>
          <p:cNvSpPr/>
          <p:nvPr/>
        </p:nvSpPr>
        <p:spPr>
          <a:xfrm>
            <a:off x="5650278" y="5730113"/>
            <a:ext cx="335533" cy="0"/>
          </a:xfrm>
          <a:prstGeom prst="line">
            <a:avLst/>
          </a:prstGeom>
          <a:noFill/>
          <a:ln w="22860">
            <a:solidFill>
              <a:srgbClr val="D55E00"/>
            </a:solidFill>
            <a:prstDash val="dash"/>
            <a:tailEnd type="triangle"/>
          </a:ln>
        </p:spPr>
      </p:sp>
      <p:sp>
        <p:nvSpPr>
          <p:cNvPr id="56" name="Text 54"/>
          <p:cNvSpPr txBox="1"/>
          <p:nvPr/>
        </p:nvSpPr>
        <p:spPr>
          <a:xfrm>
            <a:off x="6046817"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7" name="Text 5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Generate with which network?</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motivation: a learned loss for realism</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Pixel loss averages uncertain detail.</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 learned checker supplies realism feedback.</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Pixels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Two possible edges can average into blur.</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Learned checker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D compares real and generated samples.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GAN architecture: two networks, one game</a:t>
            </a:r>
            <a:endParaRPr lang="en-US" sz="3200" dirty="0"/>
          </a:p>
        </p:txBody>
      </p:sp>
      <p:pic>
        <p:nvPicPr>
          <p:cNvPr id="6" name="Image 0" descr="C:\Users\sudee\Downloads\Generative_AI_2027_Teaching_Pack\AI2027_Project\build\figures\week_03\gan_arch.png">    </p:cNvPr>
          <p:cNvPicPr>
            <a:picLocks noChangeAspect="1"/>
          </p:cNvPicPr>
          <p:nvPr/>
        </p:nvPicPr>
        <p:blipFill>
          <a:blip r:embed="rId1"/>
          <a:stretch>
            <a:fillRect/>
          </a:stretch>
        </p:blipFill>
        <p:spPr>
          <a:xfrm>
            <a:off x="548640" y="1513495"/>
            <a:ext cx="11094415" cy="4352219"/>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Predict: after training, which network is needed?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Generator vs. discriminator</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Generator G</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 code [B,64].</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Output: image [B,1,28,28].</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Goal: D accepts fakes.</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Discriminator D</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 real or fake image.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Output: source logit [B].</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Goal: separate sources.</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Two losses; separate updates.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822960" y="1005840"/>
            <a:ext cx="10545775" cy="4846320"/>
          </a:xfrm>
          <a:prstGeom prst="roundRect">
            <a:avLst>
              <a:gd name="adj" fmla="val 3774"/>
            </a:avLst>
          </a:prstGeom>
          <a:solidFill>
            <a:srgbClr val="EEF0FF"/>
          </a:solidFill>
          <a:ln w="12700">
            <a:solidFill>
              <a:srgbClr val="EEF0FF"/>
            </a:solidFill>
            <a:prstDash val="solid"/>
          </a:ln>
        </p:spPr>
      </p:sp>
      <p:sp>
        <p:nvSpPr>
          <p:cNvPr id="6" name="Shape 4"/>
          <p:cNvSpPr/>
          <p:nvPr/>
        </p:nvSpPr>
        <p:spPr>
          <a:xfrm>
            <a:off x="1280160" y="1463040"/>
            <a:ext cx="822960" cy="82296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1477670" y="1660550"/>
            <a:ext cx="427939" cy="427939"/>
          </a:xfrm>
          <a:prstGeom prst="rect">
            <a:avLst/>
          </a:prstGeom>
        </p:spPr>
      </p:pic>
      <p:sp>
        <p:nvSpPr>
          <p:cNvPr id="8" name="Text 5"/>
          <p:cNvSpPr txBox="1"/>
          <p:nvPr/>
        </p:nvSpPr>
        <p:spPr>
          <a:xfrm>
            <a:off x="2286000" y="1600200"/>
            <a:ext cx="7315200" cy="548640"/>
          </a:xfrm>
          <a:prstGeom prst="rect">
            <a:avLst/>
          </a:prstGeom>
          <a:noFill/>
          <a:ln/>
        </p:spPr>
        <p:txBody>
          <a:bodyPr wrap="square" lIns="50800" tIns="50800" rIns="50800" bIns="50800" rtlCol="0" anchor="ctr"/>
          <a:lstStyle/>
          <a:p>
            <a:pPr indent="0" marL="0">
              <a:buNone/>
            </a:pPr>
            <a:r>
              <a:rPr lang="en-US" sz="1600" b="1" spc="200" kern="0" dirty="0">
                <a:solidFill>
                  <a:srgbClr val="EA580C"/>
                </a:solidFill>
                <a:latin typeface="Calibri" pitchFamily="34" charset="0"/>
                <a:ea typeface="Calibri" pitchFamily="34" charset="-122"/>
                <a:cs typeface="Calibri" pitchFamily="34" charset="-120"/>
              </a:rPr>
              <a:t>ANALOGY AND ITS LIMITS</a:t>
            </a:r>
            <a:endParaRPr lang="en-US" sz="1600" dirty="0"/>
          </a:p>
        </p:txBody>
      </p:sp>
      <p:sp>
        <p:nvSpPr>
          <p:cNvPr id="9" name="Text 6"/>
          <p:cNvSpPr txBox="1"/>
          <p:nvPr/>
        </p:nvSpPr>
        <p:spPr>
          <a:xfrm>
            <a:off x="1371600" y="2377440"/>
            <a:ext cx="9448495" cy="2377440"/>
          </a:xfrm>
          <a:prstGeom prst="rect">
            <a:avLst/>
          </a:prstGeom>
          <a:noFill/>
          <a:ln/>
        </p:spPr>
        <p:txBody>
          <a:bodyPr wrap="square" lIns="50800" tIns="50800" rIns="50800" bIns="50800" rtlCol="0" anchor="ctr"/>
          <a:lstStyle/>
          <a:p>
            <a:pPr indent="0" marL="0">
              <a:buNone/>
            </a:pPr>
            <a:r>
              <a:rPr lang="en-US" sz="3400" b="1" dirty="0">
                <a:solidFill>
                  <a:srgbClr val="1E1B4B"/>
                </a:solidFill>
                <a:latin typeface="Calibri" pitchFamily="34" charset="0"/>
                <a:ea typeface="Calibri" pitchFamily="34" charset="-122"/>
                <a:cs typeface="Calibri" pitchFamily="34" charset="-120"/>
              </a:rPr>
              <a:t>G makes samples; D checks sources.</a:t>
            </a:r>
            <a:endParaRPr lang="en-US" sz="3400" dirty="0"/>
          </a:p>
        </p:txBody>
      </p:sp>
      <p:sp>
        <p:nvSpPr>
          <p:cNvPr id="10" name="Text 7"/>
          <p:cNvSpPr txBox="1"/>
          <p:nvPr/>
        </p:nvSpPr>
        <p:spPr>
          <a:xfrm>
            <a:off x="1371600" y="4754880"/>
            <a:ext cx="9448495" cy="914400"/>
          </a:xfrm>
          <a:prstGeom prst="rect">
            <a:avLst/>
          </a:prstGeom>
          <a:noFill/>
          <a:ln/>
        </p:spPr>
        <p:txBody>
          <a:bodyPr wrap="square" lIns="50800" tIns="50800" rIns="50800" bIns="50800" rtlCol="0" anchor="t"/>
          <a:lstStyle/>
          <a:p>
            <a:pPr indent="0" marL="0">
              <a:buNone/>
            </a:pPr>
            <a:r>
              <a:rPr lang="en-US" sz="1800" dirty="0">
                <a:solidFill>
                  <a:srgbClr val="1F2937"/>
                </a:solidFill>
                <a:latin typeface="Calibri" pitchFamily="34" charset="0"/>
                <a:ea typeface="Calibri" pitchFamily="34" charset="-122"/>
                <a:cs typeface="Calibri" pitchFamily="34" charset="-120"/>
              </a:rPr>
              <a:t>Both learn. Matching distributions is an ideal goal, not a training guarantee.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GAN objective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game are the networks playing, and where does it end?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the GAN training feedback comes from</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Two goals.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images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a:t>
            </a:r>
            <a:endParaRPr lang="en-US" sz="1441" dirty="0"/>
          </a:p>
        </p:txBody>
      </p:sp>
      <p:sp>
        <p:nvSpPr>
          <p:cNvPr id="15" name="Shape 13"/>
          <p:cNvSpPr/>
          <p:nvPr/>
        </p:nvSpPr>
        <p:spPr>
          <a:xfrm>
            <a:off x="1752220" y="4738766"/>
            <a:ext cx="0" cy="198270"/>
          </a:xfrm>
          <a:prstGeom prst="line">
            <a:avLst/>
          </a:prstGeom>
          <a:noFill/>
          <a:ln w="22860">
            <a:solidFill>
              <a:srgbClr val="0072B2"/>
            </a:solidFill>
            <a:prstDash val="solid"/>
          </a:ln>
        </p:spPr>
      </p:sp>
      <p:sp>
        <p:nvSpPr>
          <p:cNvPr id="16" name="Shape 14"/>
          <p:cNvSpPr/>
          <p:nvPr/>
        </p:nvSpPr>
        <p:spPr>
          <a:xfrm>
            <a:off x="1752220" y="4937035"/>
            <a:ext cx="4343628" cy="0"/>
          </a:xfrm>
          <a:prstGeom prst="line">
            <a:avLst/>
          </a:prstGeom>
          <a:noFill/>
          <a:ln w="22860">
            <a:solidFill>
              <a:srgbClr val="0072B2"/>
            </a:solidFill>
            <a:prstDash val="solid"/>
          </a:ln>
        </p:spPr>
      </p:sp>
      <p:sp>
        <p:nvSpPr>
          <p:cNvPr id="17" name="Shape 15"/>
          <p:cNvSpPr/>
          <p:nvPr/>
        </p:nvSpPr>
        <p:spPr>
          <a:xfrm flipV="1">
            <a:off x="6095848" y="4738766"/>
            <a:ext cx="0" cy="198270"/>
          </a:xfrm>
          <a:prstGeom prst="line">
            <a:avLst/>
          </a:prstGeom>
          <a:noFill/>
          <a:ln w="22860">
            <a:solidFill>
              <a:srgbClr val="0072B2"/>
            </a:solidFill>
            <a:prstDash val="solid"/>
            <a:tailEnd type="triangle"/>
          </a:ln>
        </p:spPr>
      </p:sp>
      <p:sp>
        <p:nvSpPr>
          <p:cNvPr id="18" name="Text 16"/>
          <p:cNvSpPr txBox="1"/>
          <p:nvPr/>
        </p:nvSpPr>
        <p:spPr>
          <a:xfrm>
            <a:off x="3440808" y="49675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linked fake</a:t>
            </a:r>
            <a:endParaRPr lang="en-US" sz="1441" dirty="0"/>
          </a:p>
        </p:txBody>
      </p:sp>
      <p:sp>
        <p:nvSpPr>
          <p:cNvPr id="19" name="Shape 17"/>
          <p:cNvSpPr/>
          <p:nvPr/>
        </p:nvSpPr>
        <p:spPr>
          <a:xfrm flipV="1">
            <a:off x="8267661" y="2191765"/>
            <a:ext cx="0" cy="747324"/>
          </a:xfrm>
          <a:prstGeom prst="line">
            <a:avLst/>
          </a:prstGeom>
          <a:noFill/>
          <a:ln w="22860">
            <a:solidFill>
              <a:srgbClr val="D55E00"/>
            </a:solidFill>
            <a:prstDash val="dash"/>
          </a:ln>
        </p:spPr>
      </p:sp>
      <p:sp>
        <p:nvSpPr>
          <p:cNvPr id="20" name="Shape 18"/>
          <p:cNvSpPr/>
          <p:nvPr/>
        </p:nvSpPr>
        <p:spPr>
          <a:xfrm flipH="1">
            <a:off x="1752220" y="2191765"/>
            <a:ext cx="6515442" cy="0"/>
          </a:xfrm>
          <a:prstGeom prst="line">
            <a:avLst/>
          </a:prstGeom>
          <a:noFill/>
          <a:ln w="22860">
            <a:solidFill>
              <a:srgbClr val="D55E00"/>
            </a:solidFill>
            <a:prstDash val="dash"/>
          </a:ln>
        </p:spPr>
      </p:sp>
      <p:sp>
        <p:nvSpPr>
          <p:cNvPr id="21" name="Shape 19"/>
          <p:cNvSpPr/>
          <p:nvPr/>
        </p:nvSpPr>
        <p:spPr>
          <a:xfrm>
            <a:off x="1752220" y="2191765"/>
            <a:ext cx="0" cy="747324"/>
          </a:xfrm>
          <a:prstGeom prst="line">
            <a:avLst/>
          </a:prstGeom>
          <a:noFill/>
          <a:ln w="22860">
            <a:solidFill>
              <a:srgbClr val="D55E00"/>
            </a:solidFill>
            <a:prstDash val="dash"/>
            <a:tailEnd type="triangle"/>
          </a:ln>
        </p:spPr>
      </p:sp>
      <p:sp>
        <p:nvSpPr>
          <p:cNvPr id="22" name="Text 20"/>
          <p:cNvSpPr txBox="1"/>
          <p:nvPr/>
        </p:nvSpPr>
        <p:spPr>
          <a:xfrm>
            <a:off x="4526715"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3" name="Shape 21"/>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4" name="Text 22"/>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a:t>
            </a:r>
            <a:endParaRPr lang="en-US" sz="1561" dirty="0"/>
          </a:p>
        </p:txBody>
      </p:sp>
      <p:sp>
        <p:nvSpPr>
          <p:cNvPr id="25" name="Text 23"/>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Sources</a:t>
            </a:r>
            <a:endParaRPr lang="en-US" sz="1441" dirty="0"/>
          </a:p>
        </p:txBody>
      </p:sp>
      <p:sp>
        <p:nvSpPr>
          <p:cNvPr id="26" name="Shape 24"/>
          <p:cNvSpPr/>
          <p:nvPr/>
        </p:nvSpPr>
        <p:spPr>
          <a:xfrm>
            <a:off x="2960139" y="2939089"/>
            <a:ext cx="1927790" cy="1799677"/>
          </a:xfrm>
          <a:prstGeom prst="roundRect">
            <a:avLst>
              <a:gd name="adj" fmla="val 4065"/>
            </a:avLst>
          </a:prstGeom>
          <a:solidFill>
            <a:srgbClr val="FFF0E6"/>
          </a:solidFill>
          <a:ln w="15240">
            <a:solidFill>
              <a:srgbClr val="D55E00"/>
            </a:solidFill>
            <a:prstDash val="solid"/>
          </a:ln>
        </p:spPr>
      </p:sp>
      <p:sp>
        <p:nvSpPr>
          <p:cNvPr id="27" name="Text 25"/>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 D</a:t>
            </a:r>
            <a:endParaRPr lang="en-US" sz="1561" dirty="0"/>
          </a:p>
        </p:txBody>
      </p:sp>
      <p:sp>
        <p:nvSpPr>
          <p:cNvPr id="28" name="Text 26"/>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Real=1; fake=0</a:t>
            </a:r>
            <a:endParaRPr lang="en-US" sz="1441" dirty="0"/>
          </a:p>
        </p:txBody>
      </p:sp>
      <p:sp>
        <p:nvSpPr>
          <p:cNvPr id="29" name="Text 27"/>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d_loss_fn</a:t>
            </a:r>
            <a:endParaRPr lang="en-US" sz="1441" dirty="0"/>
          </a:p>
        </p:txBody>
      </p:sp>
      <p:sp>
        <p:nvSpPr>
          <p:cNvPr id="30" name="Shape 28"/>
          <p:cNvSpPr/>
          <p:nvPr/>
        </p:nvSpPr>
        <p:spPr>
          <a:xfrm>
            <a:off x="5131953" y="2939089"/>
            <a:ext cx="1927790" cy="1799677"/>
          </a:xfrm>
          <a:prstGeom prst="rect">
            <a:avLst/>
          </a:prstGeom>
          <a:solidFill>
            <a:srgbClr val="E5F7EF"/>
          </a:solidFill>
          <a:ln w="15240">
            <a:solidFill>
              <a:srgbClr val="009E73"/>
            </a:solidFill>
            <a:prstDash val="solid"/>
          </a:ln>
        </p:spPr>
      </p:sp>
      <p:sp>
        <p:nvSpPr>
          <p:cNvPr id="31" name="Text 29"/>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Rescore</a:t>
            </a:r>
            <a:endParaRPr lang="en-US" sz="1561" dirty="0"/>
          </a:p>
        </p:txBody>
      </p:sp>
      <p:sp>
        <p:nvSpPr>
          <p:cNvPr id="32" name="Text 30"/>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a:t>
            </a:r>
            <a:endParaRPr lang="en-US" sz="1441" dirty="0"/>
          </a:p>
        </p:txBody>
      </p:sp>
      <p:sp>
        <p:nvSpPr>
          <p:cNvPr id="33" name="Shape 31"/>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4" name="Text 32"/>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 G</a:t>
            </a:r>
            <a:endParaRPr lang="en-US" sz="1561" dirty="0"/>
          </a:p>
        </p:txBody>
      </p:sp>
      <p:sp>
        <p:nvSpPr>
          <p:cNvPr id="35" name="Text 33"/>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 1</a:t>
            </a:r>
            <a:endParaRPr lang="en-US" sz="1441" dirty="0"/>
          </a:p>
        </p:txBody>
      </p:sp>
      <p:sp>
        <p:nvSpPr>
          <p:cNvPr id="36" name="Text 34"/>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g_loss_fn</a:t>
            </a:r>
            <a:endParaRPr lang="en-US" sz="1441" dirty="0"/>
          </a:p>
        </p:txBody>
      </p:sp>
      <p:sp>
        <p:nvSpPr>
          <p:cNvPr id="37" name="Shape 35"/>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8" name="Text 36"/>
          <p:cNvSpPr txBox="1"/>
          <p:nvPr/>
        </p:nvSpPr>
        <p:spPr>
          <a:xfrm>
            <a:off x="9536586"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Snapshot</a:t>
            </a:r>
            <a:endParaRPr lang="en-US" sz="1561" dirty="0"/>
          </a:p>
        </p:txBody>
      </p:sp>
      <p:sp>
        <p:nvSpPr>
          <p:cNvPr id="39" name="Text 37"/>
          <p:cNvSpPr txBox="1"/>
          <p:nvPr/>
        </p:nvSpPr>
        <p:spPr>
          <a:xfrm>
            <a:off x="9536586"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codes</a:t>
            </a:r>
            <a:endParaRPr lang="en-US" sz="1441" dirty="0"/>
          </a:p>
        </p:txBody>
      </p:sp>
      <p:sp>
        <p:nvSpPr>
          <p:cNvPr id="40" name="Text 38"/>
          <p:cNvSpPr txBox="1"/>
          <p:nvPr/>
        </p:nvSpPr>
        <p:spPr>
          <a:xfrm>
            <a:off x="9498458"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snapshots</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7" name="Shape 45"/>
          <p:cNvSpPr/>
          <p:nvPr/>
        </p:nvSpPr>
        <p:spPr>
          <a:xfrm>
            <a:off x="3568395" y="5630979"/>
            <a:ext cx="198270" cy="198270"/>
          </a:xfrm>
          <a:prstGeom prst="roundRect">
            <a:avLst>
              <a:gd name="adj" fmla="val 36895"/>
            </a:avLst>
          </a:prstGeom>
          <a:solidFill>
            <a:srgbClr val="F9EAF4"/>
          </a:solidFill>
          <a:ln w="15240">
            <a:solidFill>
              <a:srgbClr val="CC79A7"/>
            </a:solidFill>
            <a:prstDash val="solid"/>
          </a:ln>
        </p:spPr>
      </p:sp>
      <p:sp>
        <p:nvSpPr>
          <p:cNvPr id="48" name="Text 46"/>
          <p:cNvSpPr txBox="1"/>
          <p:nvPr/>
        </p:nvSpPr>
        <p:spPr>
          <a:xfrm>
            <a:off x="3827671"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9" name="Shape 47"/>
          <p:cNvSpPr/>
          <p:nvPr/>
        </p:nvSpPr>
        <p:spPr>
          <a:xfrm>
            <a:off x="4625093" y="5730113"/>
            <a:ext cx="335533" cy="0"/>
          </a:xfrm>
          <a:prstGeom prst="line">
            <a:avLst/>
          </a:prstGeom>
          <a:noFill/>
          <a:ln w="22860">
            <a:solidFill>
              <a:srgbClr val="009E73"/>
            </a:solidFill>
            <a:prstDash val="solid"/>
            <a:tailEnd type="triangle"/>
          </a:ln>
        </p:spPr>
      </p:sp>
      <p:sp>
        <p:nvSpPr>
          <p:cNvPr id="50" name="Text 48"/>
          <p:cNvSpPr txBox="1"/>
          <p:nvPr/>
        </p:nvSpPr>
        <p:spPr>
          <a:xfrm>
            <a:off x="5021632"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1" name="Shape 49"/>
          <p:cNvSpPr/>
          <p:nvPr/>
        </p:nvSpPr>
        <p:spPr>
          <a:xfrm>
            <a:off x="5650278" y="5730113"/>
            <a:ext cx="335533" cy="0"/>
          </a:xfrm>
          <a:prstGeom prst="line">
            <a:avLst/>
          </a:prstGeom>
          <a:noFill/>
          <a:ln w="22860">
            <a:solidFill>
              <a:srgbClr val="D55E00"/>
            </a:solidFill>
            <a:prstDash val="dash"/>
            <a:tailEnd type="triangle"/>
          </a:ln>
        </p:spPr>
      </p:sp>
      <p:sp>
        <p:nvSpPr>
          <p:cNvPr id="52" name="Text 50"/>
          <p:cNvSpPr txBox="1"/>
          <p:nvPr/>
        </p:nvSpPr>
        <p:spPr>
          <a:xfrm>
            <a:off x="6046817"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G target: why one?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minimax game (Goodfellow et al., 2014)</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3c35548d5c983dbd.png">    </p:cNvPr>
          <p:cNvPicPr>
            <a:picLocks noChangeAspect="1"/>
          </p:cNvPicPr>
          <p:nvPr/>
        </p:nvPicPr>
        <p:blipFill>
          <a:blip r:embed="rId1"/>
          <a:stretch>
            <a:fillRect/>
          </a:stretch>
        </p:blipFill>
        <p:spPr>
          <a:xfrm>
            <a:off x="2061820" y="1905000"/>
            <a:ext cx="8068056" cy="478536"/>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 maximises source separation.</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G minimises the fake term.</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D(x)</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real-source probability</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G(z)</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generated sample</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data</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real-data distribution</a:t>
            </a:r>
            <a:endParaRPr lang="en-US" sz="1700" dirty="0"/>
          </a:p>
        </p:txBody>
      </p:sp>
      <p:sp>
        <p:nvSpPr>
          <p:cNvPr id="17" name="Text 14"/>
          <p:cNvSpPr txBox="1"/>
          <p:nvPr/>
        </p:nvSpPr>
        <p:spPr>
          <a:xfrm>
            <a:off x="6858000" y="55046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p(z)</a:t>
            </a:r>
            <a:endParaRPr lang="en-US" sz="1800" dirty="0"/>
          </a:p>
        </p:txBody>
      </p:sp>
      <p:sp>
        <p:nvSpPr>
          <p:cNvPr id="18" name="Text 15"/>
          <p:cNvSpPr txBox="1"/>
          <p:nvPr/>
        </p:nvSpPr>
        <p:spPr>
          <a:xfrm>
            <a:off x="8046720" y="55046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noise-code distribution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optimal discriminator and what G really minimises</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d4cc7c2c9e7c16b0.png">    </p:cNvPr>
          <p:cNvPicPr>
            <a:picLocks noChangeAspect="1"/>
          </p:cNvPicPr>
          <p:nvPr/>
        </p:nvPicPr>
        <p:blipFill>
          <a:blip r:embed="rId1"/>
          <a:stretch>
            <a:fillRect/>
          </a:stretch>
        </p:blipFill>
        <p:spPr>
          <a:xfrm>
            <a:off x="4553560" y="1845056"/>
            <a:ext cx="3084576" cy="768096"/>
          </a:xfrm>
          <a:prstGeom prst="rect">
            <a:avLst/>
          </a:prstGeom>
        </p:spPr>
      </p:pic>
      <p:pic>
        <p:nvPicPr>
          <p:cNvPr id="8" name="Image 1" descr="C:\Users\sudee\Downloads\Generative_AI_2027_Teaching_Pack\AI2027_Project\build\eq\48a52671523f0a9b.png">    </p:cNvPr>
          <p:cNvPicPr>
            <a:picLocks noChangeAspect="1"/>
          </p:cNvPicPr>
          <p:nvPr/>
        </p:nvPicPr>
        <p:blipFill>
          <a:blip r:embed="rId2"/>
          <a:stretch>
            <a:fillRect/>
          </a:stretch>
        </p:blipFill>
        <p:spPr>
          <a:xfrm>
            <a:off x="3811372" y="2931160"/>
            <a:ext cx="4568952" cy="381000"/>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Fix G; compare densities.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Equal positive densities give one-half.</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g</a:t>
            </a:r>
            <a:endParaRPr lang="en-US" sz="1800" dirty="0"/>
          </a:p>
        </p:txBody>
      </p:sp>
      <p:sp>
        <p:nvSpPr>
          <p:cNvPr id="13" name="Text 9"/>
          <p:cNvSpPr txBox="1"/>
          <p:nvPr/>
        </p:nvSpPr>
        <p:spPr>
          <a:xfrm>
            <a:off x="8046720" y="4315968"/>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generated distribution</a:t>
            </a:r>
            <a:endParaRPr lang="en-US" sz="1700" dirty="0"/>
          </a:p>
        </p:txBody>
      </p:sp>
      <p:sp>
        <p:nvSpPr>
          <p:cNvPr id="14" name="Text 10"/>
          <p:cNvSpPr txBox="1"/>
          <p:nvPr/>
        </p:nvSpPr>
        <p:spPr>
          <a:xfrm>
            <a:off x="6858000" y="4980432"/>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JSD</a:t>
            </a:r>
            <a:endParaRPr lang="en-US" sz="1800" dirty="0"/>
          </a:p>
        </p:txBody>
      </p:sp>
      <p:sp>
        <p:nvSpPr>
          <p:cNvPr id="15" name="Text 11"/>
          <p:cNvSpPr txBox="1"/>
          <p:nvPr/>
        </p:nvSpPr>
        <p:spPr>
          <a:xfrm>
            <a:off x="8046720" y="4980432"/>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Jensen–Shannon divergence</a:t>
            </a:r>
            <a:endParaRPr lang="en-US" sz="1700" dirty="0"/>
          </a:p>
        </p:txBody>
      </p:sp>
      <p:sp>
        <p:nvSpPr>
          <p:cNvPr id="16" name="Text 12"/>
          <p:cNvSpPr txBox="1"/>
          <p:nvPr/>
        </p:nvSpPr>
        <p:spPr>
          <a:xfrm>
            <a:off x="6858000" y="5644896"/>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D*</a:t>
            </a:r>
            <a:endParaRPr lang="en-US" sz="1800" dirty="0"/>
          </a:p>
        </p:txBody>
      </p:sp>
      <p:sp>
        <p:nvSpPr>
          <p:cNvPr id="17" name="Text 13"/>
          <p:cNvSpPr txBox="1"/>
          <p:nvPr/>
        </p:nvSpPr>
        <p:spPr>
          <a:xfrm>
            <a:off x="8046720" y="5644896"/>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ideal discriminator</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optimal discriminator in pictures</a:t>
            </a:r>
            <a:endParaRPr lang="en-US" sz="3200" dirty="0"/>
          </a:p>
        </p:txBody>
      </p:sp>
      <p:pic>
        <p:nvPicPr>
          <p:cNvPr id="6" name="Image 0" descr="C:\Users\sudee\Downloads\Generative_AI_2027_Teaching_Pack\AI2027_Project\build\figures\week_03\optimal_d.png">    </p:cNvPr>
          <p:cNvPicPr>
            <a:picLocks noChangeAspect="1"/>
          </p:cNvPicPr>
          <p:nvPr/>
        </p:nvPicPr>
        <p:blipFill>
          <a:blip r:embed="rId1"/>
          <a:stretch>
            <a:fillRect/>
          </a:stretch>
        </p:blipFill>
        <p:spPr>
          <a:xfrm>
            <a:off x="548640" y="1641947"/>
            <a:ext cx="11094415" cy="45067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Why practitioners use the non-saturating generator loss</a:t>
            </a:r>
            <a:endParaRPr lang="en-US" sz="3100" dirty="0"/>
          </a:p>
        </p:txBody>
      </p:sp>
      <p:pic>
        <p:nvPicPr>
          <p:cNvPr id="6" name="Image 0" descr="C:\Users\sudee\Downloads\Generative_AI_2027_Teaching_Pack\AI2027_Project\build\figures\week_03\saturating.png">    </p:cNvPr>
          <p:cNvPicPr>
            <a:picLocks noChangeAspect="1"/>
          </p:cNvPicPr>
          <p:nvPr/>
        </p:nvPicPr>
        <p:blipFill>
          <a:blip r:embed="rId1"/>
          <a:stretch>
            <a:fillRect/>
          </a:stretch>
        </p:blipFill>
        <p:spPr>
          <a:xfrm>
            <a:off x="3045218" y="1481328"/>
            <a:ext cx="6101260"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Predict: which loss gives stronger early feedback?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alternating GAN update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Preserve the G route.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fake</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loss_D</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loss_G</a:t>
            </a:r>
            <a:endParaRPr lang="en-US" sz="1441" dirty="0"/>
          </a:p>
        </p:txBody>
      </p:sp>
      <p:sp>
        <p:nvSpPr>
          <p:cNvPr id="15" name="Shape 13"/>
          <p:cNvSpPr/>
          <p:nvPr/>
        </p:nvSpPr>
        <p:spPr>
          <a:xfrm>
            <a:off x="1752220" y="4738766"/>
            <a:ext cx="0" cy="198270"/>
          </a:xfrm>
          <a:prstGeom prst="line">
            <a:avLst/>
          </a:prstGeom>
          <a:noFill/>
          <a:ln w="22860">
            <a:solidFill>
              <a:srgbClr val="0072B2"/>
            </a:solidFill>
            <a:prstDash val="solid"/>
          </a:ln>
        </p:spPr>
      </p:sp>
      <p:sp>
        <p:nvSpPr>
          <p:cNvPr id="16" name="Shape 14"/>
          <p:cNvSpPr/>
          <p:nvPr/>
        </p:nvSpPr>
        <p:spPr>
          <a:xfrm>
            <a:off x="1752220" y="4937035"/>
            <a:ext cx="6515442" cy="0"/>
          </a:xfrm>
          <a:prstGeom prst="line">
            <a:avLst/>
          </a:prstGeom>
          <a:noFill/>
          <a:ln w="22860">
            <a:solidFill>
              <a:srgbClr val="0072B2"/>
            </a:solidFill>
            <a:prstDash val="solid"/>
          </a:ln>
        </p:spPr>
      </p:sp>
      <p:sp>
        <p:nvSpPr>
          <p:cNvPr id="17" name="Shape 15"/>
          <p:cNvSpPr/>
          <p:nvPr/>
        </p:nvSpPr>
        <p:spPr>
          <a:xfrm flipV="1">
            <a:off x="8267661" y="4738766"/>
            <a:ext cx="0" cy="198270"/>
          </a:xfrm>
          <a:prstGeom prst="line">
            <a:avLst/>
          </a:prstGeom>
          <a:noFill/>
          <a:ln w="22860">
            <a:solidFill>
              <a:srgbClr val="0072B2"/>
            </a:solidFill>
            <a:prstDash val="solid"/>
            <a:tailEnd type="triangle"/>
          </a:ln>
        </p:spPr>
      </p:sp>
      <p:sp>
        <p:nvSpPr>
          <p:cNvPr id="18" name="Text 16"/>
          <p:cNvSpPr txBox="1"/>
          <p:nvPr/>
        </p:nvSpPr>
        <p:spPr>
          <a:xfrm>
            <a:off x="4526715" y="49675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linked fake</a:t>
            </a:r>
            <a:endParaRPr lang="en-US" sz="1441" dirty="0"/>
          </a:p>
        </p:txBody>
      </p:sp>
      <p:sp>
        <p:nvSpPr>
          <p:cNvPr id="19" name="Shape 17"/>
          <p:cNvSpPr/>
          <p:nvPr/>
        </p:nvSpPr>
        <p:spPr>
          <a:xfrm flipV="1">
            <a:off x="10439475" y="2191765"/>
            <a:ext cx="0" cy="747324"/>
          </a:xfrm>
          <a:prstGeom prst="line">
            <a:avLst/>
          </a:prstGeom>
          <a:noFill/>
          <a:ln w="22860">
            <a:solidFill>
              <a:srgbClr val="D55E00"/>
            </a:solidFill>
            <a:prstDash val="dash"/>
          </a:ln>
        </p:spPr>
      </p:sp>
      <p:sp>
        <p:nvSpPr>
          <p:cNvPr id="20" name="Shape 18"/>
          <p:cNvSpPr/>
          <p:nvPr/>
        </p:nvSpPr>
        <p:spPr>
          <a:xfrm flipH="1">
            <a:off x="1752220" y="2191765"/>
            <a:ext cx="8687255" cy="0"/>
          </a:xfrm>
          <a:prstGeom prst="line">
            <a:avLst/>
          </a:prstGeom>
          <a:noFill/>
          <a:ln w="22860">
            <a:solidFill>
              <a:srgbClr val="D55E00"/>
            </a:solidFill>
            <a:prstDash val="dash"/>
          </a:ln>
        </p:spPr>
      </p:sp>
      <p:sp>
        <p:nvSpPr>
          <p:cNvPr id="21" name="Shape 19"/>
          <p:cNvSpPr/>
          <p:nvPr/>
        </p:nvSpPr>
        <p:spPr>
          <a:xfrm>
            <a:off x="1752220" y="2191765"/>
            <a:ext cx="0" cy="747324"/>
          </a:xfrm>
          <a:prstGeom prst="line">
            <a:avLst/>
          </a:prstGeom>
          <a:noFill/>
          <a:ln w="22860">
            <a:solidFill>
              <a:srgbClr val="D55E00"/>
            </a:solidFill>
            <a:prstDash val="dash"/>
            <a:tailEnd type="triangle"/>
          </a:ln>
        </p:spPr>
      </p:sp>
      <p:sp>
        <p:nvSpPr>
          <p:cNvPr id="22" name="Text 20"/>
          <p:cNvSpPr txBox="1"/>
          <p:nvPr/>
        </p:nvSpPr>
        <p:spPr>
          <a:xfrm>
            <a:off x="5612622"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3" name="Shape 21"/>
          <p:cNvSpPr/>
          <p:nvPr/>
        </p:nvSpPr>
        <p:spPr>
          <a:xfrm>
            <a:off x="788325" y="2939089"/>
            <a:ext cx="1927790" cy="1799677"/>
          </a:xfrm>
          <a:prstGeom prst="rect">
            <a:avLst/>
          </a:prstGeom>
          <a:solidFill>
            <a:srgbClr val="E5F7EF"/>
          </a:solidFill>
          <a:ln w="15240">
            <a:solidFill>
              <a:srgbClr val="009E73"/>
            </a:solidFill>
            <a:prstDash val="solid"/>
          </a:ln>
        </p:spPr>
      </p:sp>
      <p:sp>
        <p:nvSpPr>
          <p:cNvPr id="24" name="Text 22"/>
          <p:cNvSpPr txBox="1"/>
          <p:nvPr/>
        </p:nvSpPr>
        <p:spPr>
          <a:xfrm>
            <a:off x="849331"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5" name="Text 23"/>
          <p:cNvSpPr txBox="1"/>
          <p:nvPr/>
        </p:nvSpPr>
        <p:spPr>
          <a:xfrm>
            <a:off x="849331"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Linked</a:t>
            </a:r>
            <a:endParaRPr lang="en-US" sz="1441" dirty="0"/>
          </a:p>
        </p:txBody>
      </p:sp>
      <p:sp>
        <p:nvSpPr>
          <p:cNvPr id="26" name="Text 24"/>
          <p:cNvSpPr txBox="1"/>
          <p:nvPr/>
        </p:nvSpPr>
        <p:spPr>
          <a:xfrm>
            <a:off x="811202"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fake</a:t>
            </a:r>
            <a:endParaRPr lang="en-US" sz="1441" dirty="0"/>
          </a:p>
        </p:txBody>
      </p:sp>
      <p:sp>
        <p:nvSpPr>
          <p:cNvPr id="27" name="Shape 25"/>
          <p:cNvSpPr/>
          <p:nvPr/>
        </p:nvSpPr>
        <p:spPr>
          <a:xfrm>
            <a:off x="2960139" y="2939089"/>
            <a:ext cx="1927790" cy="1799677"/>
          </a:xfrm>
          <a:prstGeom prst="roundRect">
            <a:avLst>
              <a:gd name="adj" fmla="val 4065"/>
            </a:avLst>
          </a:prstGeom>
          <a:solidFill>
            <a:srgbClr val="FFF0E6"/>
          </a:solidFill>
          <a:ln w="15240">
            <a:solidFill>
              <a:srgbClr val="D55E00"/>
            </a:solidFill>
            <a:prstDash val="solid"/>
          </a:ln>
        </p:spPr>
      </p:sp>
      <p:sp>
        <p:nvSpPr>
          <p:cNvPr id="28" name="Text 26"/>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Detach</a:t>
            </a:r>
            <a:endParaRPr lang="en-US" sz="1561" dirty="0"/>
          </a:p>
        </p:txBody>
      </p:sp>
      <p:sp>
        <p:nvSpPr>
          <p:cNvPr id="29" name="Text 27"/>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Targets</a:t>
            </a:r>
            <a:endParaRPr lang="en-US" sz="1441" dirty="0"/>
          </a:p>
        </p:txBody>
      </p:sp>
      <p:sp>
        <p:nvSpPr>
          <p:cNvPr id="30" name="Text 28"/>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d_loss_fn</a:t>
            </a:r>
            <a:endParaRPr lang="en-US" sz="1441" dirty="0"/>
          </a:p>
        </p:txBody>
      </p:sp>
      <p:sp>
        <p:nvSpPr>
          <p:cNvPr id="31" name="Shape 29"/>
          <p:cNvSpPr/>
          <p:nvPr/>
        </p:nvSpPr>
        <p:spPr>
          <a:xfrm>
            <a:off x="5131953" y="2939089"/>
            <a:ext cx="1927790" cy="1799677"/>
          </a:xfrm>
          <a:prstGeom prst="rect">
            <a:avLst/>
          </a:prstGeom>
          <a:solidFill>
            <a:srgbClr val="E5F7EF"/>
          </a:solidFill>
          <a:ln w="15240">
            <a:solidFill>
              <a:srgbClr val="009E73"/>
            </a:solidFill>
            <a:prstDash val="solid"/>
          </a:ln>
        </p:spPr>
      </p:sp>
      <p:sp>
        <p:nvSpPr>
          <p:cNvPr id="32" name="Text 30"/>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 D</a:t>
            </a:r>
            <a:endParaRPr lang="en-US" sz="1561" dirty="0"/>
          </a:p>
        </p:txBody>
      </p:sp>
      <p:sp>
        <p:nvSpPr>
          <p:cNvPr id="33" name="Text 31"/>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34" name="Text 32"/>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opt_D</a:t>
            </a:r>
            <a:endParaRPr lang="en-US" sz="1441" dirty="0"/>
          </a:p>
        </p:txBody>
      </p:sp>
      <p:sp>
        <p:nvSpPr>
          <p:cNvPr id="35" name="Shape 33"/>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6" name="Text 34"/>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Rescore</a:t>
            </a:r>
            <a:endParaRPr lang="en-US" sz="1561" dirty="0"/>
          </a:p>
        </p:txBody>
      </p:sp>
      <p:sp>
        <p:nvSpPr>
          <p:cNvPr id="37" name="Text 35"/>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 1</a:t>
            </a:r>
            <a:endParaRPr lang="en-US" sz="1441" dirty="0"/>
          </a:p>
        </p:txBody>
      </p:sp>
      <p:sp>
        <p:nvSpPr>
          <p:cNvPr id="38" name="Text 36"/>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g_loss_fn</a:t>
            </a:r>
            <a:endParaRPr lang="en-US" sz="1441" dirty="0"/>
          </a:p>
        </p:txBody>
      </p:sp>
      <p:sp>
        <p:nvSpPr>
          <p:cNvPr id="39" name="Shape 37"/>
          <p:cNvSpPr/>
          <p:nvPr/>
        </p:nvSpPr>
        <p:spPr>
          <a:xfrm>
            <a:off x="9475580" y="2939089"/>
            <a:ext cx="1927790" cy="1799677"/>
          </a:xfrm>
          <a:prstGeom prst="rect">
            <a:avLst/>
          </a:prstGeom>
          <a:solidFill>
            <a:srgbClr val="E5F7EF"/>
          </a:solidFill>
          <a:ln w="15240">
            <a:solidFill>
              <a:srgbClr val="009E73"/>
            </a:solidFill>
            <a:prstDash val="solid"/>
          </a:ln>
        </p:spPr>
      </p:sp>
      <p:sp>
        <p:nvSpPr>
          <p:cNvPr id="40" name="Text 38"/>
          <p:cNvSpPr txBox="1"/>
          <p:nvPr/>
        </p:nvSpPr>
        <p:spPr>
          <a:xfrm>
            <a:off x="9536586"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 G</a:t>
            </a:r>
            <a:endParaRPr lang="en-US" sz="1561" dirty="0"/>
          </a:p>
        </p:txBody>
      </p:sp>
      <p:sp>
        <p:nvSpPr>
          <p:cNvPr id="41" name="Text 39"/>
          <p:cNvSpPr txBox="1"/>
          <p:nvPr/>
        </p:nvSpPr>
        <p:spPr>
          <a:xfrm>
            <a:off x="9536586"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42" name="Text 40"/>
          <p:cNvSpPr txBox="1"/>
          <p:nvPr/>
        </p:nvSpPr>
        <p:spPr>
          <a:xfrm>
            <a:off x="9498458"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opt_G</a:t>
            </a:r>
            <a:endParaRPr lang="en-US" sz="1441" dirty="0"/>
          </a:p>
        </p:txBody>
      </p:sp>
      <p:sp>
        <p:nvSpPr>
          <p:cNvPr id="43" name="Shape 41"/>
          <p:cNvSpPr/>
          <p:nvPr/>
        </p:nvSpPr>
        <p:spPr>
          <a:xfrm>
            <a:off x="788325"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047600"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1792174" y="5630979"/>
            <a:ext cx="198270" cy="198270"/>
          </a:xfrm>
          <a:prstGeom prst="roundRect">
            <a:avLst>
              <a:gd name="adj" fmla="val 36895"/>
            </a:avLst>
          </a:prstGeom>
          <a:solidFill>
            <a:srgbClr val="FFF0E6"/>
          </a:solidFill>
          <a:ln w="15240">
            <a:solidFill>
              <a:srgbClr val="D55E00"/>
            </a:solidFill>
            <a:prstDash val="solid"/>
          </a:ln>
        </p:spPr>
      </p:sp>
      <p:sp>
        <p:nvSpPr>
          <p:cNvPr id="46" name="Text 44"/>
          <p:cNvSpPr txBox="1"/>
          <p:nvPr/>
        </p:nvSpPr>
        <p:spPr>
          <a:xfrm>
            <a:off x="2051449"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7" name="Shape 45"/>
          <p:cNvSpPr/>
          <p:nvPr/>
        </p:nvSpPr>
        <p:spPr>
          <a:xfrm>
            <a:off x="2680284" y="5730113"/>
            <a:ext cx="335533" cy="0"/>
          </a:xfrm>
          <a:prstGeom prst="line">
            <a:avLst/>
          </a:prstGeom>
          <a:noFill/>
          <a:ln w="22860">
            <a:solidFill>
              <a:srgbClr val="009E73"/>
            </a:solidFill>
            <a:prstDash val="solid"/>
            <a:tailEnd type="triangle"/>
          </a:ln>
        </p:spPr>
      </p:sp>
      <p:sp>
        <p:nvSpPr>
          <p:cNvPr id="48" name="Text 46"/>
          <p:cNvSpPr txBox="1"/>
          <p:nvPr/>
        </p:nvSpPr>
        <p:spPr>
          <a:xfrm>
            <a:off x="307682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9" name="Shape 47"/>
          <p:cNvSpPr/>
          <p:nvPr/>
        </p:nvSpPr>
        <p:spPr>
          <a:xfrm>
            <a:off x="3705469" y="5730113"/>
            <a:ext cx="335533" cy="0"/>
          </a:xfrm>
          <a:prstGeom prst="line">
            <a:avLst/>
          </a:prstGeom>
          <a:noFill/>
          <a:ln w="22860">
            <a:solidFill>
              <a:srgbClr val="D55E00"/>
            </a:solidFill>
            <a:prstDash val="dash"/>
            <a:tailEnd type="triangle"/>
          </a:ln>
        </p:spPr>
      </p:sp>
      <p:sp>
        <p:nvSpPr>
          <p:cNvPr id="50" name="Text 48"/>
          <p:cNvSpPr txBox="1"/>
          <p:nvPr/>
        </p:nvSpPr>
        <p:spPr>
          <a:xfrm>
            <a:off x="4102008"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1" name="Text 4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keep fake linked?</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training step in PyTorch</a:t>
            </a:r>
            <a:endParaRPr lang="en-US" sz="3200" dirty="0"/>
          </a:p>
        </p:txBody>
      </p:sp>
      <p:sp>
        <p:nvSpPr>
          <p:cNvPr id="6" name="Shape 4"/>
          <p:cNvSpPr/>
          <p:nvPr/>
        </p:nvSpPr>
        <p:spPr>
          <a:xfrm>
            <a:off x="548640" y="1481328"/>
            <a:ext cx="6949440" cy="1897380"/>
          </a:xfrm>
          <a:prstGeom prst="roundRect">
            <a:avLst>
              <a:gd name="adj" fmla="val 4819"/>
            </a:avLst>
          </a:prstGeom>
          <a:solidFill>
            <a:srgbClr val="1E1E2E"/>
          </a:solidFill>
          <a:ln w="12700">
            <a:solidFill>
              <a:srgbClr val="1E1E2E"/>
            </a:solidFill>
            <a:prstDash val="solid"/>
          </a:ln>
        </p:spPr>
      </p:sp>
      <p:sp>
        <p:nvSpPr>
          <p:cNvPr id="7" name="Text 5"/>
          <p:cNvSpPr txBox="1"/>
          <p:nvPr/>
        </p:nvSpPr>
        <p:spPr>
          <a:xfrm>
            <a:off x="685800" y="1591056"/>
            <a:ext cx="6675120" cy="1677924"/>
          </a:xfrm>
          <a:prstGeom prst="rect">
            <a:avLst/>
          </a:prstGeom>
          <a:noFill/>
          <a:ln/>
        </p:spPr>
        <p:txBody>
          <a:bodyPr wrap="square" lIns="76200" tIns="76200" rIns="76200" bIns="76200" rtlCol="0" anchor="t"/>
          <a:lstStyle/>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fake = G(z)</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loss_D = d_loss_fn(D, real, fake)</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opt_D.zero_grad(); loss_D.backward(); opt_D.step()</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loss_G = g_loss_fn(D, fake)</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opt_G.zero_grad(); loss_G.backward(); opt_G.step()</a:t>
            </a:r>
            <a:endParaRPr lang="en-US" sz="18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Detach inside d_loss_fn.</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Use fresh D forward pass.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Step the selected optimiser.</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Equal positive real and generated densities: ideal D returns?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Perfect source labels.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The digit class.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0.5: sources indistinguishable.</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log 4.</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Training challenges and fixes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Why are GANs notoriously hard to train, and what helps?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training curves: losses do not tell you quality</a:t>
            </a:r>
            <a:endParaRPr lang="en-US" sz="3200" dirty="0"/>
          </a:p>
        </p:txBody>
      </p:sp>
      <p:pic>
        <p:nvPicPr>
          <p:cNvPr id="6" name="Image 0" descr="C:\Users\sudee\Downloads\Generative_AI_2027_Teaching_Pack\AI2027_Project\build\figures\week_03\losses.png">    </p:cNvPr>
          <p:cNvPicPr>
            <a:picLocks noChangeAspect="1"/>
          </p:cNvPicPr>
          <p:nvPr/>
        </p:nvPicPr>
        <p:blipFill>
          <a:blip r:embed="rId1"/>
          <a:stretch>
            <a:fillRect/>
          </a:stretch>
        </p:blipFill>
        <p:spPr>
          <a:xfrm>
            <a:off x="659878" y="1481328"/>
            <a:ext cx="10871940"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Archived eight-epoch DCGAN. Losses alone do not establish quality.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Mode collapse, seen in a real experiment</a:t>
            </a:r>
            <a:endParaRPr lang="en-US" sz="3200" dirty="0"/>
          </a:p>
        </p:txBody>
      </p:sp>
      <p:pic>
        <p:nvPicPr>
          <p:cNvPr id="6" name="Image 0" descr="C:\Users\sudee\Downloads\Generative_AI_2027_Teaching_Pack\AI2027_Project\build\figures\week_03\mode_collapse_slide.png">    </p:cNvPr>
          <p:cNvPicPr>
            <a:picLocks noChangeAspect="1"/>
          </p:cNvPicPr>
          <p:nvPr/>
        </p:nvPicPr>
        <p:blipFill>
          <a:blip r:embed="rId1"/>
          <a:stretch>
            <a:fillRect/>
          </a:stretch>
        </p:blipFill>
        <p:spPr>
          <a:xfrm>
            <a:off x="1865488" y="1481328"/>
            <a:ext cx="8460720"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Archived ring experiment: eight target clusters; 1,500 generated points per checkpoint.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Failure modes: symptoms and remedies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24944"/>
                <a:gridCol w="4671333"/>
                <a:gridCol w="369813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Problem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Symptom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Try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Collapse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Missing classes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Count; regularise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Weak gradients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Little improvement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Non-saturating loss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Instability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Swinging samples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Tune rates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Memorisation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Training-only confidence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Augment sources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Checkerboards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Grid artefacts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Resize; convolve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Wasserstein GAN with gradient penalty (WGAN-GP)</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19240e35ab1d6232.png">    </p:cNvPr>
          <p:cNvPicPr>
            <a:picLocks noChangeAspect="1"/>
          </p:cNvPicPr>
          <p:nvPr/>
        </p:nvPicPr>
        <p:blipFill>
          <a:blip r:embed="rId1"/>
          <a:stretch>
            <a:fillRect/>
          </a:stretch>
        </p:blipFill>
        <p:spPr>
          <a:xfrm>
            <a:off x="3608680" y="1913128"/>
            <a:ext cx="4974336" cy="536448"/>
          </a:xfrm>
          <a:prstGeom prst="rect">
            <a:avLst/>
          </a:prstGeom>
        </p:spPr>
      </p:pic>
      <p:pic>
        <p:nvPicPr>
          <p:cNvPr id="8" name="Image 1" descr="C:\Users\sudee\Downloads\Generative_AI_2027_Teaching_Pack\AI2027_Project\build\eq\85d322bdcc93fd35.png">    </p:cNvPr>
          <p:cNvPicPr>
            <a:picLocks noChangeAspect="1"/>
          </p:cNvPicPr>
          <p:nvPr/>
        </p:nvPicPr>
        <p:blipFill>
          <a:blip r:embed="rId2"/>
          <a:stretch>
            <a:fillRect/>
          </a:stretch>
        </p:blipFill>
        <p:spPr>
          <a:xfrm>
            <a:off x="2240128" y="2835656"/>
            <a:ext cx="7711440" cy="408432"/>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Critic scores are unrestricted numbers.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Penalty encourages unit input slope.</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1-Lipschitz</a:t>
            </a:r>
            <a:endParaRPr lang="en-US" sz="1800" dirty="0"/>
          </a:p>
        </p:txBody>
      </p:sp>
      <p:sp>
        <p:nvSpPr>
          <p:cNvPr id="13" name="Text 9"/>
          <p:cNvSpPr txBox="1"/>
          <p:nvPr/>
        </p:nvSpPr>
        <p:spPr>
          <a:xfrm>
            <a:off x="8046720" y="4315968"/>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bounded score changes</a:t>
            </a:r>
            <a:endParaRPr lang="en-US" sz="1700" dirty="0"/>
          </a:p>
        </p:txBody>
      </p:sp>
      <p:sp>
        <p:nvSpPr>
          <p:cNvPr id="14" name="Text 10"/>
          <p:cNvSpPr txBox="1"/>
          <p:nvPr/>
        </p:nvSpPr>
        <p:spPr>
          <a:xfrm>
            <a:off x="6858000" y="4980432"/>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a:t>
            </a:r>
            <a:endParaRPr lang="en-US" sz="1800" dirty="0"/>
          </a:p>
        </p:txBody>
      </p:sp>
      <p:sp>
        <p:nvSpPr>
          <p:cNvPr id="15" name="Text 11"/>
          <p:cNvSpPr txBox="1"/>
          <p:nvPr/>
        </p:nvSpPr>
        <p:spPr>
          <a:xfrm>
            <a:off x="8046720" y="4980432"/>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real/fake interpolated input</a:t>
            </a:r>
            <a:endParaRPr lang="en-US" sz="1700" dirty="0"/>
          </a:p>
        </p:txBody>
      </p:sp>
      <p:sp>
        <p:nvSpPr>
          <p:cNvPr id="16" name="Text 12"/>
          <p:cNvSpPr txBox="1"/>
          <p:nvPr/>
        </p:nvSpPr>
        <p:spPr>
          <a:xfrm>
            <a:off x="6858000" y="5644896"/>
            <a:ext cx="1143000" cy="66446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λ</a:t>
            </a:r>
            <a:endParaRPr lang="en-US" sz="1800" dirty="0"/>
          </a:p>
        </p:txBody>
      </p:sp>
      <p:sp>
        <p:nvSpPr>
          <p:cNvPr id="17" name="Text 13"/>
          <p:cNvSpPr txBox="1"/>
          <p:nvPr/>
        </p:nvSpPr>
        <p:spPr>
          <a:xfrm>
            <a:off x="8046720" y="5644896"/>
            <a:ext cx="3596335" cy="66446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penalty weight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Stabilisation techniques you will meet</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WGAN-GP</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Penalise input slopes.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Spectral normalisation</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Limit layer scale.</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TTUR</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Separate learning rates.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EMA</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Average generator weights.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ADA</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Adapt source augmentation.</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R1</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Penalise real-input slopes.</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Sharp samples show only 1s and 7s. First step?</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Train longer unchanged.</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Check class counts; try regularisation.</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Remove D; minimise pixels.</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Raise sampling temperature.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Variants: from DCGAN to StyleGAN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did GANs go from blurry digits to photorealistic faces?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DCGAN: the architecture that made GANs work on images</a:t>
            </a:r>
            <a:endParaRPr lang="en-US" sz="3200" dirty="0"/>
          </a:p>
        </p:txBody>
      </p:sp>
      <p:pic>
        <p:nvPicPr>
          <p:cNvPr id="6" name="Image 0" descr="C:\Users\sudee\Downloads\Generative_AI_2027_Teaching_Pack\AI2027_Project\build\figures\week_03\dcgan_arch.png">    </p:cNvPr>
          <p:cNvPicPr>
            <a:picLocks noChangeAspect="1"/>
          </p:cNvPicPr>
          <p:nvPr/>
        </p:nvPicPr>
        <p:blipFill>
          <a:blip r:embed="rId1"/>
          <a:stretch>
            <a:fillRect/>
          </a:stretch>
        </p:blipFill>
        <p:spPr>
          <a:xfrm>
            <a:off x="548640" y="1965183"/>
            <a:ext cx="11094415" cy="386032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Use the trained generator on new noise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Evaluation mode first.</a:t>
            </a:r>
            <a:endParaRPr lang="en-US" sz="1800" dirty="0"/>
          </a:p>
        </p:txBody>
      </p:sp>
      <p:sp>
        <p:nvSpPr>
          <p:cNvPr id="7" name="Shape 5"/>
          <p:cNvSpPr/>
          <p:nvPr/>
        </p:nvSpPr>
        <p:spPr>
          <a:xfrm>
            <a:off x="3259068" y="3838927"/>
            <a:ext cx="244024" cy="0"/>
          </a:xfrm>
          <a:prstGeom prst="line">
            <a:avLst/>
          </a:prstGeom>
          <a:noFill/>
          <a:ln w="22860">
            <a:solidFill>
              <a:srgbClr val="009E73"/>
            </a:solidFill>
            <a:prstDash val="solid"/>
            <a:tailEnd type="triangle"/>
          </a:ln>
        </p:spPr>
      </p:sp>
      <p:sp>
        <p:nvSpPr>
          <p:cNvPr id="8" name="Text 6"/>
          <p:cNvSpPr txBox="1"/>
          <p:nvPr/>
        </p:nvSpPr>
        <p:spPr>
          <a:xfrm>
            <a:off x="2580376"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z[B,64]</a:t>
            </a:r>
            <a:endParaRPr lang="en-US" sz="1441" dirty="0"/>
          </a:p>
        </p:txBody>
      </p:sp>
      <p:sp>
        <p:nvSpPr>
          <p:cNvPr id="9" name="Shape 7"/>
          <p:cNvSpPr/>
          <p:nvPr/>
        </p:nvSpPr>
        <p:spPr>
          <a:xfrm>
            <a:off x="5973836" y="3838927"/>
            <a:ext cx="244024" cy="0"/>
          </a:xfrm>
          <a:prstGeom prst="line">
            <a:avLst/>
          </a:prstGeom>
          <a:noFill/>
          <a:ln w="22860">
            <a:solidFill>
              <a:srgbClr val="009E73"/>
            </a:solidFill>
            <a:prstDash val="solid"/>
            <a:tailEnd type="triangle"/>
          </a:ln>
        </p:spPr>
      </p:sp>
      <p:sp>
        <p:nvSpPr>
          <p:cNvPr id="10" name="Text 8"/>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pixels[B,1,28,28]</a:t>
            </a:r>
            <a:endParaRPr lang="en-US" sz="1441" dirty="0"/>
          </a:p>
        </p:txBody>
      </p:sp>
      <p:sp>
        <p:nvSpPr>
          <p:cNvPr id="11" name="Shape 9"/>
          <p:cNvSpPr/>
          <p:nvPr/>
        </p:nvSpPr>
        <p:spPr>
          <a:xfrm>
            <a:off x="8688603" y="3838927"/>
            <a:ext cx="244024" cy="0"/>
          </a:xfrm>
          <a:prstGeom prst="line">
            <a:avLst/>
          </a:prstGeom>
          <a:noFill/>
          <a:ln w="22860">
            <a:solidFill>
              <a:srgbClr val="009E73"/>
            </a:solidFill>
            <a:prstDash val="solid"/>
            <a:tailEnd type="triangle"/>
          </a:ln>
        </p:spPr>
      </p:sp>
      <p:sp>
        <p:nvSpPr>
          <p:cNvPr id="12" name="Text 10"/>
          <p:cNvSpPr txBox="1"/>
          <p:nvPr/>
        </p:nvSpPr>
        <p:spPr>
          <a:xfrm>
            <a:off x="800991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display</a:t>
            </a:r>
            <a:endParaRPr lang="en-US" sz="1441" dirty="0"/>
          </a:p>
        </p:txBody>
      </p:sp>
      <p:sp>
        <p:nvSpPr>
          <p:cNvPr id="13" name="Shape 11"/>
          <p:cNvSpPr/>
          <p:nvPr/>
        </p:nvSpPr>
        <p:spPr>
          <a:xfrm>
            <a:off x="788325" y="2939089"/>
            <a:ext cx="2470743" cy="1799677"/>
          </a:xfrm>
          <a:prstGeom prst="roundRect">
            <a:avLst>
              <a:gd name="adj" fmla="val 4065"/>
            </a:avLst>
          </a:prstGeom>
          <a:solidFill>
            <a:srgbClr val="E4F2FB"/>
          </a:solidFill>
          <a:ln w="15240">
            <a:solidFill>
              <a:srgbClr val="0072B2"/>
            </a:solidFill>
            <a:prstDash val="solid"/>
          </a:ln>
        </p:spPr>
      </p:sp>
      <p:sp>
        <p:nvSpPr>
          <p:cNvPr id="14" name="Text 12"/>
          <p:cNvSpPr txBox="1"/>
          <p:nvPr/>
        </p:nvSpPr>
        <p:spPr>
          <a:xfrm>
            <a:off x="849331"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15" name="Text 13"/>
          <p:cNvSpPr txBox="1"/>
          <p:nvPr/>
        </p:nvSpPr>
        <p:spPr>
          <a:xfrm>
            <a:off x="849331"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Codes</a:t>
            </a:r>
            <a:endParaRPr lang="en-US" sz="1441" dirty="0"/>
          </a:p>
        </p:txBody>
      </p:sp>
      <p:sp>
        <p:nvSpPr>
          <p:cNvPr id="16" name="Text 14"/>
          <p:cNvSpPr txBox="1"/>
          <p:nvPr/>
        </p:nvSpPr>
        <p:spPr>
          <a:xfrm>
            <a:off x="811202"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torch.randn</a:t>
            </a:r>
            <a:endParaRPr lang="en-US" sz="1441" dirty="0"/>
          </a:p>
        </p:txBody>
      </p:sp>
      <p:sp>
        <p:nvSpPr>
          <p:cNvPr id="17" name="Shape 15"/>
          <p:cNvSpPr/>
          <p:nvPr/>
        </p:nvSpPr>
        <p:spPr>
          <a:xfrm>
            <a:off x="3503092" y="2939089"/>
            <a:ext cx="2470743" cy="1799677"/>
          </a:xfrm>
          <a:prstGeom prst="rect">
            <a:avLst/>
          </a:prstGeom>
          <a:solidFill>
            <a:srgbClr val="E5F7EF"/>
          </a:solidFill>
          <a:ln w="15240">
            <a:solidFill>
              <a:srgbClr val="009E73"/>
            </a:solidFill>
            <a:prstDash val="solid"/>
          </a:ln>
        </p:spPr>
      </p:sp>
      <p:sp>
        <p:nvSpPr>
          <p:cNvPr id="18" name="Text 16"/>
          <p:cNvSpPr txBox="1"/>
          <p:nvPr/>
        </p:nvSpPr>
        <p:spPr>
          <a:xfrm>
            <a:off x="3564098" y="3442998"/>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19" name="Text 17"/>
          <p:cNvSpPr txBox="1"/>
          <p:nvPr/>
        </p:nvSpPr>
        <p:spPr>
          <a:xfrm>
            <a:off x="3564098" y="3749248"/>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Layers</a:t>
            </a:r>
            <a:endParaRPr lang="en-US" sz="1441" dirty="0"/>
          </a:p>
        </p:txBody>
      </p:sp>
      <p:sp>
        <p:nvSpPr>
          <p:cNvPr id="20" name="Text 18"/>
          <p:cNvSpPr txBox="1"/>
          <p:nvPr/>
        </p:nvSpPr>
        <p:spPr>
          <a:xfrm>
            <a:off x="3525970" y="4022555"/>
            <a:ext cx="2424989"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a:t>
            </a:r>
            <a:endParaRPr lang="en-US" sz="1441" dirty="0"/>
          </a:p>
        </p:txBody>
      </p:sp>
      <p:sp>
        <p:nvSpPr>
          <p:cNvPr id="21" name="Shape 19"/>
          <p:cNvSpPr/>
          <p:nvPr/>
        </p:nvSpPr>
        <p:spPr>
          <a:xfrm>
            <a:off x="6217860" y="2939089"/>
            <a:ext cx="2470743" cy="1799677"/>
          </a:xfrm>
          <a:prstGeom prst="roundRect">
            <a:avLst>
              <a:gd name="adj" fmla="val 4065"/>
            </a:avLst>
          </a:prstGeom>
          <a:solidFill>
            <a:srgbClr val="F9EAF4"/>
          </a:solidFill>
          <a:ln w="15240">
            <a:solidFill>
              <a:srgbClr val="CC79A7"/>
            </a:solidFill>
            <a:prstDash val="solid"/>
          </a:ln>
        </p:spPr>
      </p:sp>
      <p:sp>
        <p:nvSpPr>
          <p:cNvPr id="22" name="Text 20"/>
          <p:cNvSpPr txBox="1"/>
          <p:nvPr/>
        </p:nvSpPr>
        <p:spPr>
          <a:xfrm>
            <a:off x="6278866"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Rescale</a:t>
            </a:r>
            <a:endParaRPr lang="en-US" sz="1561" dirty="0"/>
          </a:p>
        </p:txBody>
      </p:sp>
      <p:sp>
        <p:nvSpPr>
          <p:cNvPr id="23" name="Text 21"/>
          <p:cNvSpPr txBox="1"/>
          <p:nvPr/>
        </p:nvSpPr>
        <p:spPr>
          <a:xfrm>
            <a:off x="6278866"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Pixels</a:t>
            </a:r>
            <a:endParaRPr lang="en-US" sz="1441" dirty="0"/>
          </a:p>
        </p:txBody>
      </p:sp>
      <p:sp>
        <p:nvSpPr>
          <p:cNvPr id="24" name="Shape 22"/>
          <p:cNvSpPr/>
          <p:nvPr/>
        </p:nvSpPr>
        <p:spPr>
          <a:xfrm>
            <a:off x="8932627" y="2939089"/>
            <a:ext cx="2470743" cy="1799677"/>
          </a:xfrm>
          <a:prstGeom prst="roundRect">
            <a:avLst>
              <a:gd name="adj" fmla="val 4065"/>
            </a:avLst>
          </a:prstGeom>
          <a:solidFill>
            <a:srgbClr val="FFF0E6"/>
          </a:solidFill>
          <a:ln w="15240">
            <a:solidFill>
              <a:srgbClr val="D55E00"/>
            </a:solidFill>
            <a:prstDash val="solid"/>
          </a:ln>
        </p:spPr>
      </p:sp>
      <p:sp>
        <p:nvSpPr>
          <p:cNvPr id="25" name="Text 23"/>
          <p:cNvSpPr txBox="1"/>
          <p:nvPr/>
        </p:nvSpPr>
        <p:spPr>
          <a:xfrm>
            <a:off x="8993633" y="3579652"/>
            <a:ext cx="2348731"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Inspect</a:t>
            </a:r>
            <a:endParaRPr lang="en-US" sz="1561" dirty="0"/>
          </a:p>
        </p:txBody>
      </p:sp>
      <p:sp>
        <p:nvSpPr>
          <p:cNvPr id="26" name="Text 24"/>
          <p:cNvSpPr txBox="1"/>
          <p:nvPr/>
        </p:nvSpPr>
        <p:spPr>
          <a:xfrm>
            <a:off x="8993633" y="3885902"/>
            <a:ext cx="2348731"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Variety</a:t>
            </a:r>
            <a:endParaRPr lang="en-US" sz="1441" dirty="0"/>
          </a:p>
        </p:txBody>
      </p:sp>
      <p:sp>
        <p:nvSpPr>
          <p:cNvPr id="27" name="Shape 2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28" name="Text 2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29" name="Shape 27"/>
          <p:cNvSpPr/>
          <p:nvPr/>
        </p:nvSpPr>
        <p:spPr>
          <a:xfrm>
            <a:off x="1676436" y="5630979"/>
            <a:ext cx="198270" cy="198270"/>
          </a:xfrm>
          <a:prstGeom prst="rect">
            <a:avLst/>
          </a:prstGeom>
          <a:solidFill>
            <a:srgbClr val="E5F7EF"/>
          </a:solidFill>
          <a:ln w="15240">
            <a:solidFill>
              <a:srgbClr val="009E73"/>
            </a:solidFill>
            <a:prstDash val="solid"/>
          </a:ln>
        </p:spPr>
      </p:sp>
      <p:sp>
        <p:nvSpPr>
          <p:cNvPr id="30" name="Text 2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1" name="Shape 2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2" name="Text 30"/>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3" name="Shape 31"/>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4" name="Text 32"/>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5" name="Shape 33"/>
          <p:cNvSpPr/>
          <p:nvPr/>
        </p:nvSpPr>
        <p:spPr>
          <a:xfrm>
            <a:off x="4761857" y="5730113"/>
            <a:ext cx="335533" cy="0"/>
          </a:xfrm>
          <a:prstGeom prst="line">
            <a:avLst/>
          </a:prstGeom>
          <a:noFill/>
          <a:ln w="22860">
            <a:solidFill>
              <a:srgbClr val="009E73"/>
            </a:solidFill>
            <a:prstDash val="solid"/>
            <a:tailEnd type="triangle"/>
          </a:ln>
        </p:spPr>
      </p:sp>
      <p:sp>
        <p:nvSpPr>
          <p:cNvPr id="36" name="Text 34"/>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7" name="Text 35"/>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inference update weights?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DCGAN samples across training epochs</a:t>
            </a:r>
            <a:endParaRPr lang="en-US" sz="3200" dirty="0"/>
          </a:p>
        </p:txBody>
      </p:sp>
      <p:pic>
        <p:nvPicPr>
          <p:cNvPr id="6" name="Image 0" descr="C:\Users\sudee\Downloads\Generative_AI_2027_Teaching_Pack\AI2027_Project\build\figures\week_03\epochs_slide.png">    </p:cNvPr>
          <p:cNvPicPr>
            <a:picLocks noChangeAspect="1"/>
          </p:cNvPicPr>
          <p:nvPr/>
        </p:nvPicPr>
        <p:blipFill>
          <a:blip r:embed="rId1"/>
          <a:stretch>
            <a:fillRect/>
          </a:stretch>
        </p:blipFill>
        <p:spPr>
          <a:xfrm>
            <a:off x="860246" y="1481328"/>
            <a:ext cx="10471203" cy="3351276"/>
          </a:xfrm>
          <a:prstGeom prst="rect">
            <a:avLst/>
          </a:prstGeom>
        </p:spPr>
      </p:pic>
      <p:sp>
        <p:nvSpPr>
          <p:cNvPr id="7" name="Text 4"/>
          <p:cNvSpPr txBox="1"/>
          <p:nvPr/>
        </p:nvSpPr>
        <p:spPr>
          <a:xfrm>
            <a:off x="548640" y="5015484"/>
            <a:ext cx="11094415" cy="88239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Fixed codes isolate training changes.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Current shorter CPU core can differ.</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Archived eight epochs: the same sixteen codes.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Conditional GANs: choose what to generate</a:t>
            </a:r>
            <a:endParaRPr lang="en-US" sz="3200" dirty="0"/>
          </a:p>
        </p:txBody>
      </p:sp>
      <p:pic>
        <p:nvPicPr>
          <p:cNvPr id="6" name="Image 0" descr="C:\Users\sudee\Downloads\Generative_AI_2027_Teaching_Pack\AI2027_Project\build\figures\week_03\cgan.png">    </p:cNvPr>
          <p:cNvPicPr>
            <a:picLocks noChangeAspect="1"/>
          </p:cNvPicPr>
          <p:nvPr/>
        </p:nvPicPr>
        <p:blipFill>
          <a:blip r:embed="rId1"/>
          <a:stretch>
            <a:fillRect/>
          </a:stretch>
        </p:blipFill>
        <p:spPr>
          <a:xfrm>
            <a:off x="548640" y="2032017"/>
            <a:ext cx="11094415" cy="372665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Landmark GAN variants</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pix2pix</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Paired translation; reconstruction loss.</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CycleGAN</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Unpaired translation; round-trip loss.</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StyleGAN</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Style controls at multiple scales.</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BigGAN</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Class conditioning; truncation trade-off.</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CycleGAN's key idea: cycle consistency</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572ba1c329f4a635.png">    </p:cNvPr>
          <p:cNvPicPr>
            <a:picLocks noChangeAspect="1"/>
          </p:cNvPicPr>
          <p:nvPr/>
        </p:nvPicPr>
        <p:blipFill>
          <a:blip r:embed="rId1"/>
          <a:stretch>
            <a:fillRect/>
          </a:stretch>
        </p:blipFill>
        <p:spPr>
          <a:xfrm>
            <a:off x="3154528" y="1961388"/>
            <a:ext cx="5882640" cy="36576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Translate out and back.</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recovered input pixels.</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G, F</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opposite translators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 y</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domain inputs</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L1 norm</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absolute pixel differences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Latent interpolation in a GAN</a:t>
            </a:r>
            <a:endParaRPr lang="en-US" sz="3200" dirty="0"/>
          </a:p>
        </p:txBody>
      </p:sp>
      <p:pic>
        <p:nvPicPr>
          <p:cNvPr id="6" name="Image 0" descr="C:\Users\sudee\Downloads\Generative_AI_2027_Teaching_Pack\AI2027_Project\build\figures\week_03\interpolation.png">    </p:cNvPr>
          <p:cNvPicPr>
            <a:picLocks noChangeAspect="1"/>
          </p:cNvPicPr>
          <p:nvPr/>
        </p:nvPicPr>
        <p:blipFill>
          <a:blip r:embed="rId1"/>
          <a:stretch>
            <a:fillRect/>
          </a:stretch>
        </p:blipFill>
        <p:spPr>
          <a:xfrm>
            <a:off x="772395" y="1481328"/>
            <a:ext cx="10646905" cy="2955798"/>
          </a:xfrm>
          <a:prstGeom prst="rect">
            <a:avLst/>
          </a:prstGeom>
        </p:spPr>
      </p:pic>
      <p:sp>
        <p:nvSpPr>
          <p:cNvPr id="7" name="Text 4"/>
          <p:cNvSpPr txBox="1"/>
          <p:nvPr/>
        </p:nvSpPr>
        <p:spPr>
          <a:xfrm>
            <a:off x="548640" y="462000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Decode ten straight-line codes per row.</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Inspect changes and malformed outputs.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Basic GANs lack a direct encoder.</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Archived interpolation; smooth codes do not guarantee valid images.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Evaluation, applications and risks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evidence supports quality, coverage and responsible use?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Fréchet Inception Distance (FID)</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db62d9b2e665dc3a.png">    </p:cNvPr>
          <p:cNvPicPr>
            <a:picLocks noChangeAspect="1"/>
          </p:cNvPicPr>
          <p:nvPr/>
        </p:nvPicPr>
        <p:blipFill>
          <a:blip r:embed="rId1"/>
          <a:stretch>
            <a:fillRect/>
          </a:stretch>
        </p:blipFill>
        <p:spPr>
          <a:xfrm>
            <a:off x="3249016" y="1933956"/>
            <a:ext cx="5693664" cy="420624"/>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feature means and covariances.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Lower distance needs context.</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μᵣ, μ</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g</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feature means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Σᵣ, Σ</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g</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feature covariances</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Tr</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sum of diagonal entries</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FID measures, in feature space</a:t>
            </a:r>
            <a:endParaRPr lang="en-US" sz="3200" dirty="0"/>
          </a:p>
        </p:txBody>
      </p:sp>
      <p:pic>
        <p:nvPicPr>
          <p:cNvPr id="6" name="Image 0" descr="C:\Users\sudee\Downloads\Generative_AI_2027_Teaching_Pack\AI2027_Project\build\figures\week_03\fid.png">    </p:cNvPr>
          <p:cNvPicPr>
            <a:picLocks noChangeAspect="1"/>
          </p:cNvPicPr>
          <p:nvPr/>
        </p:nvPicPr>
        <p:blipFill>
          <a:blip r:embed="rId1"/>
          <a:stretch>
            <a:fillRect/>
          </a:stretch>
        </p:blipFill>
        <p:spPr>
          <a:xfrm>
            <a:off x="1346964" y="1481328"/>
            <a:ext cx="9497768" cy="482803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Evaluating GANs: the main tools</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825660"/>
                <a:gridCol w="3634377"/>
                <a:gridCol w="3634377"/>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Limit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Feature distance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Extractor-dependent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Inception Score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Confidence; variety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 real comparison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Precision and recall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Realism; coverage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Feature-dependent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KID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Feature discrepancy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Sampling noise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Human rubric</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Task usefulness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Rater variation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Published adversarial applications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Real-ESRGAN</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Restore image detail.</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SDXL-Turbo</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Adversarial diffusion distillation.</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Autoencoders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Learned reconstruction realism.</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HiFi-GAN</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Features into waveforms.</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Translation</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Change image domains.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Synthetic data</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privacy and utility.</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deepfakes and synthetic media</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consent and source history.</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Disclose synthetic-media use appropriately.</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Evaluate deception and detector errors.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Provenance</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Recorded history supports source checks.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Detection</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A score alone cannot establish authenticity.</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VAE vs. GAN: a summary for the exam</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818757"/>
                <a:gridCol w="4001264"/>
                <a:gridCol w="5274394"/>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Design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VAE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Basic GAN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Training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Reconstruction + KL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Learned source feedback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Likelihood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Computable lower bound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 tractable explicit density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Encoder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Image → code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Requires extra 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Check predicted class coverage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One evaluation route.</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z[N,64]</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images[N,1,28,28]</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scores[N,10]</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labels[N]</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counts[10]</a:t>
            </a:r>
            <a:endParaRPr lang="en-US" sz="1441" dirty="0"/>
          </a:p>
        </p:txBody>
      </p:sp>
      <p:sp>
        <p:nvSpPr>
          <p:cNvPr id="17" name="Shape 15"/>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18" name="Text 16"/>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19" name="Text 17"/>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Codes</a:t>
            </a:r>
            <a:endParaRPr lang="en-US" sz="1441" dirty="0"/>
          </a:p>
        </p:txBody>
      </p:sp>
      <p:sp>
        <p:nvSpPr>
          <p:cNvPr id="20" name="Shape 18"/>
          <p:cNvSpPr/>
          <p:nvPr/>
        </p:nvSpPr>
        <p:spPr>
          <a:xfrm>
            <a:off x="2598170" y="2939089"/>
            <a:ext cx="1565821" cy="1799677"/>
          </a:xfrm>
          <a:prstGeom prst="rect">
            <a:avLst/>
          </a:prstGeom>
          <a:solidFill>
            <a:srgbClr val="E5F7EF"/>
          </a:solidFill>
          <a:ln w="15240">
            <a:solidFill>
              <a:srgbClr val="009E73"/>
            </a:solidFill>
            <a:prstDash val="solid"/>
          </a:ln>
        </p:spPr>
      </p:sp>
      <p:sp>
        <p:nvSpPr>
          <p:cNvPr id="21" name="Text 19"/>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2" name="Text 20"/>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Images</a:t>
            </a:r>
            <a:endParaRPr lang="en-US" sz="1441" dirty="0"/>
          </a:p>
        </p:txBody>
      </p:sp>
      <p:sp>
        <p:nvSpPr>
          <p:cNvPr id="23" name="Text 21"/>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G</a:t>
            </a:r>
            <a:endParaRPr lang="en-US" sz="1441" dirty="0"/>
          </a:p>
        </p:txBody>
      </p:sp>
      <p:sp>
        <p:nvSpPr>
          <p:cNvPr id="24" name="Shape 22"/>
          <p:cNvSpPr/>
          <p:nvPr/>
        </p:nvSpPr>
        <p:spPr>
          <a:xfrm>
            <a:off x="4408015"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Classify</a:t>
            </a:r>
            <a:endParaRPr lang="en-US" sz="1561" dirty="0"/>
          </a:p>
        </p:txBody>
      </p:sp>
      <p:sp>
        <p:nvSpPr>
          <p:cNvPr id="26" name="Text 24"/>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Logits</a:t>
            </a:r>
            <a:endParaRPr lang="en-US" sz="1441" dirty="0"/>
          </a:p>
        </p:txBody>
      </p:sp>
      <p:sp>
        <p:nvSpPr>
          <p:cNvPr id="27" name="Text 25"/>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clf</a:t>
            </a:r>
            <a:endParaRPr lang="en-US" sz="1441" dirty="0"/>
          </a:p>
        </p:txBody>
      </p:sp>
      <p:sp>
        <p:nvSpPr>
          <p:cNvPr id="28" name="Shape 26"/>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29" name="Text 27"/>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Argmax</a:t>
            </a:r>
            <a:endParaRPr lang="en-US" sz="1561" dirty="0"/>
          </a:p>
        </p:txBody>
      </p:sp>
      <p:sp>
        <p:nvSpPr>
          <p:cNvPr id="30" name="Text 28"/>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Labels</a:t>
            </a:r>
            <a:endParaRPr lang="en-US" sz="1441" dirty="0"/>
          </a:p>
        </p:txBody>
      </p:sp>
      <p:sp>
        <p:nvSpPr>
          <p:cNvPr id="31" name="Shape 29"/>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2" name="Text 30"/>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Count</a:t>
            </a:r>
            <a:endParaRPr lang="en-US" sz="1561" dirty="0"/>
          </a:p>
        </p:txBody>
      </p:sp>
      <p:sp>
        <p:nvSpPr>
          <p:cNvPr id="33" name="Text 31"/>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Classes</a:t>
            </a:r>
            <a:endParaRPr lang="en-US" sz="1441" dirty="0"/>
          </a:p>
        </p:txBody>
      </p:sp>
      <p:sp>
        <p:nvSpPr>
          <p:cNvPr id="34" name="Text 32"/>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counts</a:t>
            </a:r>
            <a:endParaRPr lang="en-US" sz="1441" dirty="0"/>
          </a:p>
        </p:txBody>
      </p:sp>
      <p:sp>
        <p:nvSpPr>
          <p:cNvPr id="35" name="Shape 33"/>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36" name="Text 34"/>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37" name="Text 35"/>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Coverage</a:t>
            </a:r>
            <a:endParaRPr lang="en-US" sz="1441" dirty="0"/>
          </a:p>
        </p:txBody>
      </p:sp>
      <p:sp>
        <p:nvSpPr>
          <p:cNvPr id="38" name="Shape 36"/>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9" name="Text 37"/>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0" name="Shape 38"/>
          <p:cNvSpPr/>
          <p:nvPr/>
        </p:nvSpPr>
        <p:spPr>
          <a:xfrm>
            <a:off x="1676436" y="5630979"/>
            <a:ext cx="198270" cy="198270"/>
          </a:xfrm>
          <a:prstGeom prst="rect">
            <a:avLst/>
          </a:prstGeom>
          <a:solidFill>
            <a:srgbClr val="E5F7EF"/>
          </a:solidFill>
          <a:ln w="15240">
            <a:solidFill>
              <a:srgbClr val="009E73"/>
            </a:solidFill>
            <a:prstDash val="solid"/>
          </a:ln>
        </p:spPr>
      </p:sp>
      <p:sp>
        <p:nvSpPr>
          <p:cNvPr id="41" name="Text 39"/>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2" name="Shape 40"/>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3" name="Text 41"/>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4" name="Shape 42"/>
          <p:cNvSpPr/>
          <p:nvPr/>
        </p:nvSpPr>
        <p:spPr>
          <a:xfrm>
            <a:off x="3705159" y="5730113"/>
            <a:ext cx="335533" cy="0"/>
          </a:xfrm>
          <a:prstGeom prst="line">
            <a:avLst/>
          </a:prstGeom>
          <a:noFill/>
          <a:ln w="22860">
            <a:solidFill>
              <a:srgbClr val="009E73"/>
            </a:solidFill>
            <a:prstDash val="solid"/>
            <a:tailEnd type="triangle"/>
          </a:ln>
        </p:spPr>
      </p:sp>
      <p:sp>
        <p:nvSpPr>
          <p:cNvPr id="45" name="Text 43"/>
          <p:cNvSpPr txBox="1"/>
          <p:nvPr/>
        </p:nvSpPr>
        <p:spPr>
          <a:xfrm>
            <a:off x="41016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6" name="Text 44"/>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Sharpness proves coverage?</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3: train and diagnose a DCGAN</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Build real G and D.</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Implement both losses.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fixed-code snapshots.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Check quality and coverage.</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bounded ring training.</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4.7 minutes; GPU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Update trace, plots, checks and explanations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GAN game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Original derivation</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DCGAN tutorial</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Official implementation</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FID paper</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Evaluation definition</a:t>
            </a:r>
            <a:endParaRPr lang="en-US" sz="1500" dirty="0"/>
          </a:p>
        </p:txBody>
      </p:sp>
      <p:sp>
        <p:nvSpPr>
          <p:cNvPr id="15" name="Shape 10"/>
          <p:cNvSpPr/>
          <p:nvPr/>
        </p:nvSpPr>
        <p:spPr>
          <a:xfrm>
            <a:off x="548640" y="4023360"/>
            <a:ext cx="457200" cy="457200"/>
          </a:xfrm>
          <a:prstGeom prst="ellipse">
            <a:avLst/>
          </a:prstGeom>
          <a:solidFill>
            <a:srgbClr val="DC2626"/>
          </a:solidFill>
          <a:ln w="12700">
            <a:solidFill>
              <a:srgbClr val="DC2626"/>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MIT generative lecture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Visual explanation</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03  ·  GENERATIVE ADVERSARIAL NETWORKS (GANS)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3: what we learned</a:t>
            </a:r>
            <a:endParaRPr lang="en-US" sz="3200" dirty="0"/>
          </a:p>
        </p:txBody>
      </p:sp>
      <p:sp>
        <p:nvSpPr>
          <p:cNvPr id="6" name="Shape 4"/>
          <p:cNvSpPr/>
          <p:nvPr/>
        </p:nvSpPr>
        <p:spPr>
          <a:xfrm>
            <a:off x="946879" y="1630142"/>
            <a:ext cx="3323515" cy="1376531"/>
          </a:xfrm>
          <a:prstGeom prst="rect">
            <a:avLst/>
          </a:prstGeom>
          <a:solidFill>
            <a:srgbClr val="E5F7EF"/>
          </a:solidFill>
          <a:ln w="15240">
            <a:solidFill>
              <a:srgbClr val="009E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Generate samples.</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D</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Distinguish sources.</a:t>
            </a:r>
            <a:endParaRPr lang="en-US" sz="1523" dirty="0"/>
          </a:p>
        </p:txBody>
      </p:sp>
      <p:sp>
        <p:nvSpPr>
          <p:cNvPr id="12" name="Shape 10"/>
          <p:cNvSpPr/>
          <p:nvPr/>
        </p:nvSpPr>
        <p:spPr>
          <a:xfrm>
            <a:off x="7921301" y="1630142"/>
            <a:ext cx="3323515" cy="1376531"/>
          </a:xfrm>
          <a:prstGeom prst="roundRect">
            <a:avLst>
              <a:gd name="adj" fmla="val 5314"/>
            </a:avLst>
          </a:prstGeom>
          <a:solidFill>
            <a:srgbClr val="FFF0E6"/>
          </a:solidFill>
          <a:ln w="15240">
            <a:solidFill>
              <a:srgbClr val="D55E00"/>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Updates</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Separate goals.</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Gradients</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Keep G linked.</a:t>
            </a:r>
            <a:endParaRPr lang="en-US" sz="1523" dirty="0"/>
          </a:p>
        </p:txBody>
      </p:sp>
      <p:sp>
        <p:nvSpPr>
          <p:cNvPr id="18" name="Shape 16"/>
          <p:cNvSpPr/>
          <p:nvPr/>
        </p:nvSpPr>
        <p:spPr>
          <a:xfrm>
            <a:off x="4434090" y="3170368"/>
            <a:ext cx="3323515" cy="1376531"/>
          </a:xfrm>
          <a:prstGeom prst="roundRect">
            <a:avLst>
              <a:gd name="adj" fmla="val 5314"/>
            </a:avLst>
          </a:prstGeom>
          <a:solidFill>
            <a:srgbClr val="FFF0E6"/>
          </a:solidFill>
          <a:ln w="15240">
            <a:solidFill>
              <a:srgbClr val="D55E00"/>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Evidence</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Quality and coverage.</a:t>
            </a:r>
            <a:endParaRPr lang="en-US" sz="1523" dirty="0"/>
          </a:p>
        </p:txBody>
      </p:sp>
      <p:sp>
        <p:nvSpPr>
          <p:cNvPr id="21" name="Shape 19"/>
          <p:cNvSpPr/>
          <p:nvPr/>
        </p:nvSpPr>
        <p:spPr>
          <a:xfrm>
            <a:off x="7921301" y="3170368"/>
            <a:ext cx="3323515" cy="1376531"/>
          </a:xfrm>
          <a:prstGeom prst="rect">
            <a:avLst/>
          </a:prstGeom>
          <a:solidFill>
            <a:srgbClr val="F2F4F5"/>
          </a:solidFill>
          <a:ln w="15240">
            <a:solidFill>
              <a:srgbClr val="626B73"/>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Responsibility</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Consent; provenance; disclosure.</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Illustrative: −ln(0.1) ≈ 2.30.</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noise targets.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Why keep fake linked?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Generative Adversarial Networks (GANs)</dc:title>
  <dc:subject>Generative AI (MSc in Artificial Intelligence)</dc:subject>
  <dc:creator>Generative AI module team</dc:creator>
  <cp:lastModifiedBy>Generative AI module team</cp:lastModifiedBy>
  <cp:revision>1</cp:revision>
  <dcterms:created xsi:type="dcterms:W3CDTF">2026-10-11T21:26:00Z</dcterms:created>
  <dcterms:modified xsi:type="dcterms:W3CDTF">2026-10-11T21:26:00Z</dcterms:modified>
</cp:coreProperties>
</file>