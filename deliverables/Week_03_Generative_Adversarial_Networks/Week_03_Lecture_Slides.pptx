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3. Last week's VAEs gave us a principled likelihood-based model with a smooth latent space, but blurry samples. Today we meet the model family that was designed to produce sharp, realistic images: generative adversarial networks, or GANs, introduced by Ian Goodfellow and colleagues in 2014. The digits on this slide were produced by a small GAN trained on a laptop for these slides; you will train the same model in the lab. GANs dominated image generation from about 2016 to 2021 and their ideas are still inside many modern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two are about the game itself and its mathematics: students should be able to write the minimax objective, state the optimal discriminator and explain why we use the non-saturating loss. The third is practical diagnosis, a favourite exam topic because GAN training fails in characteristic ways. The fourth covers variants they will meet in papers and industry, the fifth evaluation metrics, especially FID which is also used for diffusion next week, and the sixth combines implementation with a responsible-AI discussion of deepfakes. This week practises MIMLO 1, 3 and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follows the descriptor's topics for this week: motivation, architecture, objective, training challenges, variants, evaluation and applications. Section two contains the mathematics; take the break after it. Section three uses real training runs, including a small experiment that shows mode collapse happening. If short of time, compress the variants section, but keep the evaluation slides because FID returns next week for diffusion models and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Neural-network weights: Learned numbers used to transform an input into a prediction. Ask: Which operation changes weights: opt.step or plotting a sample? Binary classification: Predicting between two labels, here real and generated. Ask: In this lab, is label 1 used for real or generated images during the discriminator update? Gradient: A measure of how changing a quantity would change a loss. Ask: Why must a generator receive feedback about its output to improve?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two minutes. The analogy maps directly onto a GAN: the forger is the generator, the detective is the discriminator. Useful answers: the forger needs to know how to change a fake to make it more convincing, which is the gradient. If the detective becomes perfect too fast, the forger gets no useful signal, which is the vanishing-gradient problem. If the forger finds one trick that always works and keeps repeating it, that is mode collapse. Keep these three answers on the board; each becomes a slide later. Note the limit of the analogy: in a GAN both players are trained together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motivates GANs. The key idea is that instead of writing down a loss that measures realism, such as pixel-wise error, which caused blur in VAEs, we train a second network whose job is to measure realism, and we use its judgement as the loss for the generator. We look at the architecture and the roles of the two networks. This section takes about fifteen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generative adversarial network, or GAN, contains two networks with different jobs. The generator G transforms a random latent code into an image. The discriminator D judges whether an image came from the dataset or the generator. Real images follow a separate path into D; they do not pass through G. Training alternates two updates. The discriminator learns to assign real labels to dataset images and fake labels to generated ones. The generator then learns to make its images receive the real label from the updated discriminator. Gradients from D guide G even though G never receives a matching target digit for each noise code. This creates a moving learning problem: improving either network changes the other network's task. Loss curves alone cannot show success. The lab compares fixed-code snapshots, predicted digit coverage, and a custom feature distance. Generation after training needs G and a fresh code, without D.
Worked example:
A real MNIST batch is scaled to [-1, 1]; G receives separate Gaussian codes of length 64.
G upsamples each code through 7×7, 14×14, and 28×28 feature grids.
D scores real images and detached fake images; opt_D updates D using source labels.
The original connected fakes pass through updated D; opt_G improves their real-labelled score.
After training, draw new codes and use G alone; inspect both image quality and diversity.
Check: Which networks must run to generate a new digit after training?
Answer: Only G is needed. D supplied training feedback but is not part of the generation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to last week. A pixel-wise loss says a slightly shifted sharp edge is as bad as a blurred edge, so under uncertainty the model predicts the blur. A discriminator judges the whole image: a blurry digit is easy to spot as fake, so the generator is pushed towards sharp outputs. The price is that GANs are implicit generative models: you can draw samples, but you cannot compute the probability of an image, so you cannot use likelihood for evaluation or anomaly detection. That is why evaluation later in the lecture needs sample-based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The generator takes a random noise vector, typically sixty-four to five hundred and twelve numbers from a standard Gaussian, and outputs an image. The discriminator is a binary classifier that takes an image, real or generated, and outputs the probability that it is real. The dashed arrow is the crucial part: the generator never sees real images directly. It only receives gradients that flow back through the discriminator, telling it how to change its output to be judged more real. Ask: where is the latent variable from week 1? It is z, the noise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roles. The generator is an upsampling network; the discriminator is an ordinary image classifier. After training we keep the generator and usually throw the discriminator away, although discriminators are sometimes reused as feature extractors. The key difference from every model students have trained before is in the callout: the loss of each network depends on the parameters of the other, so we are looking for an equilibrium of a two-player game rather than a minimum of a fixed function. That single fact explains most of the training difficulties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forger and detective analogy is useful, but state its limits clearly, since the course asks students to explain analogies critically. At the ideal end point the generator's samples are indistinguishable from real data, so the best the discriminator can do is output one half everywhere, a coin flip. But unlike a human forger, the generator never looks at real examples, only at the discriminator's feedback. And real training does not always converge: the two networks can oscillate, each one's improvement undoing the other's. We see both in section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gives the mathematics. We write the minimax value function from the original paper, derive the optimal discriminator for a fixed generator, show what the generator then minimises, and explain why the loss used in practice differs from the textbook one. Then we look at the training loop in code. This is the core exam material for the week; go at a steady pace and work through the optimal-discriminator derivation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equation as two expectations. The first is over real data: the discriminator wants log D of x to be high, meaning D of x near one. The second is over noise: the discriminator wants one minus D of G of z to be high, meaning fakes get low scores. So the discriminator maximises exactly the negative binary cross-entropy of a real-versus-fake classifier. The generator appears only in the second term and wants to make it small, pushing D of G of z up. In practice we alternate gradient ascent steps for D and descent steps for G on mini-batches.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Derive the first line on the board: for each x, D maximises p data times log D plus p g times log of one minus D, and setting the derivative to zero gives p data over p data plus p g. Substituting back gives minus log four plus twice the Jensen-Shannon divergence, a symmetric measure of the difference between two distributions. So, in the idealised setting with an optimal discriminator and infinite capacity, training the generator minimises a proper divergence, and the unique optimum is when the generator's distribution equals the data distribution. Real training never reaches this ideal, but it explains what the game is aiming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one-dimensional illustration. The teal area is the data distribution, the orange curve the generator's distribution, and the dashed purple line the optimal discriminator. On the left, early in training, the discriminator is close to one where only real data lives and close to zero where only fakes live, and its slope tells the generator which way to move its samples. On the right, at equilibrium, the two distributions coincide and the discriminator is flat at one half: it carries no information, and the generator receives no further push. Ask: what does a flat D look like in the lab's plots? D of real and D of fake both near one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practical detail with a big effect, also from the original paper. At the start of training the generator's samples are obviously fake, so D of G of z is near zero. The minimax generator loss, log of one minus D, is almost flat near zero, so the generator gets almost no gradient exactly when it most needs one: the curve saturates. The fix is to have the generator maximise log D of G of z instead, which is steep near zero. Both losses are optimised by the same equilibrium. In code, the non-saturating loss is simply binary cross-entropy with the fake samples labelled as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distinction is between a tensor's values and its gradient connection. fake.detach supplies the same image values to D while cutting the route back to G for that operation. This lets the discriminator learn from generated images without updating the generator from the discriminator's loss. The original fake tensor remains connected to G. After opt_D changes D's weights, g_loss_fn sends that original tensor through D and asks for the real label. This non-saturating generator objective rewards fakes that D accepts. Backpropagation follows the chain from the loss through D's operations, through the fake image, and into G's weights. The optimiser step then changes only the parameters registered with opt_G. The labels therefore serve different purposes in the two updates: fake means 0 when training D, but G's desired target is 1. Repeat this sequence for each training batch.
Worked example:
Suppose D confidently rejects a generated digit; that creates a large real-target generator cost.
During the D step, fake.detach blocks gradients from reaching G through that loss.
During the G step, g_loss_fn uses the original fake so gradients can travel through D to G.
opt_G steps G's parameters; the discriminator is a scoring route rather than the optimiser target.
Check: Why would detaching fake inside g_loss_fn stop the generator from learning?
Answer: It would cut the gradient path from the generator loss back to G's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core of GAN training, and it is what students write in the lab. First update the discriminator on a real batch labelled one and a fake batch labelled zero; the detach call is essential, otherwise the discriminator's loss would also change the generator. Then update the generator by passing the same fakes through the discriminator, this time with the label one, and backpropagating through the discriminator into the generator. Only the generator's optimiser steps in the second update. The Adam settings come from the DCGAN paper and are still a sensible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When the generator's distribution equals the data distribution, the optimal discriminator is p data divided by twice p data, which is one half everywhere. A describes a discriminator that is winning, which happens early in training or when the generator fails. C confuses the discriminator with a classifier of digit classes; a standard GAN discriminator only judges real versus fake. D is the value of the objective at equilibrium, minus log four, not the discriminator's output. In practice you rarely see exactly one half, but D values drifting towards it suggest the game is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from the break. Section three is about what goes wrong. We look at real loss curves from the DCGAN trained for these slides, see mode collapse happen in a small experiment, summarise the failure modes and their symptoms, and then cover the main stabilisation techniques, including the Wasserstein loss. This is highly practical: students will meet these problems in the lab and possibly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curves come from the DCGAN trained for today. Unlike every supervised model students have trained, the losses do not steadily fall; they fluctuate, because each update of one network changes the other's objective. A healthy run keeps the discriminator's average output on real images above its output on fakes without either collapsing to zero or one. If D of fake goes to zero and stays there, the discriminator has won and the generator's gradients vanish. The practical lesson is to monitor samples at fixed noise vectors every epoch and to compute a quality metric, which the lab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experiment on a toy problem where we can see the whole distribution. The data are eight small clusters on a ring. The top row is a standard GAN; the bottom row uses the Wasserstein loss with gradient penalty. Mode collapse means the generator covers only some of the modes, producing plausible but repetitive samples. In this run the standard GAN quickly produces tight, sharp clusters, but by step 2,000 it has dropped the bottom-left cluster entirely and never recovers it: 7 of 8 modes. The Wasserstein GAN with gradient penalty learns more slowly, sweeping across the plane at first, but covers all 8 by the end. Other seeds drop more or fewer modes, which is itself a lesson: always report seeds and repeat runs. In image terms, mode collapse is a digit generator that never draws, say, a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a practical checklist and a good exam answer structure. Link each row to the warm-up: the forger who repeats one trick is mode collapse; the detective who wins too fast gives vanishing gradients; the endless chase is non-convergence. Two remedies deserve mention by name. TTUR, the two time-scale update rule, simply uses a larger learning rate for the discriminator and comes from the same paper that introduced FID. ADA, adaptive discriminator augmentation from the StyleGAN team, lets GANs train on a few thousand images by augmenting what the discriminator sees. Checkerboard artefacts come from transposed convolutions.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Wasserstein distance, or earth mover's distance, measures how much probability mass must be moved, and how far, to turn one distribution into another. Unlike the Jensen-Shannon divergence it changes smoothly even when the distributions do not overlap, which is typical early in training on high-dimensional images. The critic must be Lipschitz, meaning its slope is bounded; the original WGAN clipped weights, which works poorly, and WGAN-GP instead penalises gradient norms different from one at random interpolates between real and fake samples. The critic is usually updated five times per generator step. This is what the bottom row of the mode-collapse experiment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techniques cover most of what modern GAN code uses. Students do not need to derive them, but should know what problem each addresses. Spectral normalisation is a one-line change in PyTorch, torch dot nn dot utils dot spectral norm, and is one of the most effective. EMA, the exponential moving average of generator weights, is also used in diffusion model training. R1 regularisation penalises the discriminator's gradient on real data and is the default in StyleGAN2. A good lab extension is to add spectral normalisation to the discriminator and compare sample quality and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Sharp but repetitive samples are the signature of mode collapse. The first step is to measure it, for example by classifying generated digits and plotting the class histogram, which students do in the lab; then apply a remedy aimed at coverage, such as the Wasserstein loss with gradient penalty, spectral normalisation or minibatch statistics. A rarely helps, since a collapsed generator often stays collapsed or hops between modes. C would produce a blurry average, essentially giving up on the adversarial idea. D confuses GANs with language models: a GAN has no temperature; the related idea is the truncation trick, which trades diversity for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surveys the variants named in the descriptor: DCGAN, which made GANs work with convolutions; conditional GANs, which let us choose what to generate; pix2pix and CycleGAN, which translate images from one domain to another; and StyleGAN, which produced the photorealistic faces that made deepfakes a public concern. We also look at real samples from the DCGAN trained for these slides and at latent interpolation.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 convolutional GAN paper by Radford, Metz and Chintala in 2015 established a set of architecture guidelines that made GAN training reliable enough to use widely. The generator starts from the noise vector, projects it to a small spatial grid, and doubles the resolution with each transposed convolution, using batch normalisation and ReLU, finishing with tanh so that pixels lie between minus one and one. The discriminator mirrors this with strided convolutions and leaky ReLU. Our lab model is exactly this architecture for 28 by 28 images, with about a million parameters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samples use fixed noise vectors, so each column shows how one generated digit evolves. Before training the output is noise. After one epoch rough strokes appear. After two to four epochs digits become recognisable and sharper than last week's VAE samples, although some are malformed. By eight epochs most samples are convincing. Notice that the same noise vector can change digit identity between epochs, a sign that the generator's mapping is still moving as the game continues. In the lab students produce this figure themselves, and on a Colab GPU each epoch takes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conditional GAN, from Mirza and Osindero in 2014, adds information to both players. The generator receives the noise and the condition, for example the label seven, and the discriminator receives an image together with a label. A real seven paired with the label three should be rejected, so the generator is forced to produce images that match their condition. The same principle extends to any kind of condition: text for text-to-image GANs, a semantic map for image synthesis, or an entire image for image-to-image translation,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landmark variants. Pix2pix needs paired examples and combines the adversarial loss with an L1 pixel loss, so outputs are both realistic and faithful to the input. CycleGAN removes the need for pairs by training two translators and requiring that translating there and back returns the original image. StyleGAN, from NVIDIA, maps noise through a mapping network into a style vector that controls each resolution of the generator separately, which gives photorealistic faces and control over coarse features like pose and fine features like hair texture. BigGAN showed that scaling up batch size and model size gives high-fidelity ImageNet samples, and popularised the truncation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paired data, an adversarial loss alone would let the generator output any realistic zebra, unrelated to the input horse. The cycle-consistency loss fixes this: translating a horse to a zebra and back must reproduce the original horse, and vice versa. This is a general idea worth remembering, using round-trip consistency as supervision when direct labels are missing; it appears again in unsupervised translation of text. Point out the limitation: cycle consistency encourages, but does not guarantee, that semantic content is preserved, and CycleGAN can hide information in imperceptible patterns to pass the cycle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VAEs, walking between two latent vectors gives smooth, plausible transitions, which shows the generator has learned a continuous mapping rather than memorising examples. A key difference from VAEs is that a standard GAN has no encoder, so we cannot directly find the latent code of a real image. GAN inversion methods optimise a latent vector to reproduce a given image, which enables editing real photos. StyleGAN's intermediate style space turned out to be particularly well organised, with directions for age, smile or pose, and this powered a wave of face-editing tools, with obvious misuse potential.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evaluation, which is required by the descriptor and by MIMLO 4, then where GANs are used today, and a responsible AI discussion of deepfakes. Because GANs have no likelihood, evaluation relies on comparing samples with real data, and the Fréchet Inception Distance is the standard. The same metrics are used for diffusion models next week and for image generation in the project, so this section has lasting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 introduced by Heusel and colleagues in 2017, is the most widely reported metric for image generators. Both sets of images are passed through an Inception network trained on ImageNet, and the two sets of feature vectors are summarised by their means and covariances. The formula is the Fréchet or Wasserstein-2 distance between two Gaussians. A generator whose samples are good but all alike will have a small covariance, so FID also penalises low diversity. Limitations: it assumes Gaussian features, is biased with small samples, and uses features learned on ImageNet, which may not suit medical images or digits. In the lab students compute FID with features from a small digit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two-dimensional illustration of what happens in the two-thousand-dimensional feature space. On the left the generated features have a similar centre and spread to the real ones, giving a low FID. On the right they are shifted, meaning the average generated image differs from the average real image, and narrow, meaning low diversity, which is exactly what mode collapse produces; both effects increase FID. Remind students that FID values are only comparable when computed with the same feature network, the same number of samples, and the same image preprocessing.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metric is sufficient, so reports should combine them. Inception Score rewards images that a classifier labels confidently and a set of images covering many classes, but it never compares with real data. Precision and recall for generative models, from 2019, separate the two things FID mixes: are samples realistic, and do they cover the data distribution. For small sample sizes KID is preferable to FID. Human evaluation remains the gold standard for realism and usefulness and must be designed properly: several raters, a clear rubric, and agreement statistics. This table maps directly onto MIMLO 4 and the project's evaluation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Diffusion models have replaced GANs as the main text-to-image generators, but GANs are far from gone. They excel where speed matters: a GAN produces an image in one forward pass, while diffusion needs many steps. So GAN-based upscalers are everywhere, and adversarial distillation, as in Stability AI's SDXL-Turbo, uses a discriminator to compress a diffusion model into one to four steps. Adversarial losses also keep the decoders of latent-diffusion autoencoders and image tokenizers sharp, and GAN vocoders are standard in speech synthesis. Point out the link to last week: the VAE inside Stable Diffusion was trained with a GAN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Adversarial training is, by design, optimised to fool a detector, so it is no surprise that GAN outputs raised the first wave of deepfake concerns. Discuss the harms concretely, including the liar's dividend, where genuine recordings are dismissed as fakes. Explain why detection alone is insufficient: detectors generalise poorly to new generators. The policy response combines provenance, meaning signed content credentials such as C2PA, watermarks, and legal duties: under Article 50 of the EU AI Act, deployers must disclose deepfakes. Week 10 returns to watermarking in detail. Ask students where their project could create synthetic media and how they would label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appears frequently in exams, so present it as a revision tool. VAEs optimise a bound on likelihood, have an encoder and train stably, but their samples blur. GANs produce sharper samples through a learned critic, but have no likelihood, no encoder, and can collapse. The two families are complementary, and modern systems combine them: VAE-GAN hybrids and autoencoders trained with adversarial losses. Next week, diffusion models achieve the quality of GANs with the stability and coverage of likelihood-based models, at the cost of many sampling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asks two separate evaluation questions: do the images resemble digits, and does the generator cover varied digits? Fixed-noise snapshots answer a visual progress question because each epoch uses the same input codes. The digit classifier estimates class coverage, but its mistakes can distort the histogram, so first check its test accuracy and inspect samples. Its hidden features also define a custom Fréchet distance. This compares two sets of feature vectors through their means and covariance matrices; it is not the standard Inception-based FID. Real-versus-real features provide a reference for finite-sample differences. Keep the feature network, preprocessing, and sample count fixed when comparing generators. The toy ring makes missing modes easy to see. WGAN-GP changes the scoring objective and adds a gradient penalty, so its training feedback differs from ordinary real/fake classification. Better toy coverage is evidence for that experiment, not a guarantee for every dataset.
Worked example:
Reuse z_fixed across epoch snapshots so image changes reflect training rather than new noise inputs.
Compare lerp and slerp images and midpoint norms; neither path guarantees valid digits.
Check the classifier's test accuracy before trusting its histogram of 2,000 generated digits.
Compare real-versus-real, epoch-1, final, and uniform-noise feature distances using the same clf.
On the eight-cluster ring, inspect both the scatter plots and modes_covered for each trained system.
Check: Can a low feature distance alone prove that every digit class is represented?
Answer: No. Inspect the coverage histogram and samples as well; the feature statistic summarises only some aspects of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mirrors the lecture. Students first implement the two losses, especially the detached path for the discriminator update. They then train and inspect fixed-noise samples. Evaluation uses a small digit classifier: its predictions estimate class coverage, and its features supply a custom Fréchet distance. This uses the FID formula with a different feature network, so its values cannot be compared directly with standard Inception FID. Check classifier accuracy before interpreting either result. Finally the ring experiment makes missing modes visible and lets students test the Wasserstein objective with gradient penalty. The trained generator and evaluation code can be reused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The essential equations are the minimax objective and the optimal discriminator; the essential practical knowledge is the non-saturating loss, the failure modes, and FID. Next week we meet diffusion models, which learn to reverse a gradual noising process. They combine the sample quality of GANs with the stable, likelihood-based training of VAEs, and they power today's image and video generators. Ask students to finish the lab, read Foster chapter 4 and, if they want the history, chapter 10 on advanced GANs including StyleGAN.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Foster chapter 4 introduces GANs with Keras code and chapter 10 covers ProGAN, StyleGAN and related work. The original Goodfellow paper is short and contains the optimal-discriminator derivation. The PyTorch DCGAN tutorial is the official reference implementation and trains on faces. Google's short GAN course has clear explanations of loss functions and common problems. The WGAN, StyleGAN and FID papers are for deeper reading.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1.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oreilly.com/library/view/generative-deep-learning/9781098134174/" TargetMode="External"/><Relationship Id="rId4" Type="http://schemas.openxmlformats.org/officeDocument/2006/relationships/hyperlink" Target="https://arxiv.org/abs/1406.2661" TargetMode="External"/><Relationship Id="rId6" Type="http://schemas.openxmlformats.org/officeDocument/2006/relationships/hyperlink" Target="https://docs.pytorch.org/tutorials/beginner/dcgan_faces_tutorial.html" TargetMode="External"/><Relationship Id="rId8" Type="http://schemas.openxmlformats.org/officeDocument/2006/relationships/hyperlink" Target="https://developers.google.com/machine-learning/gan" TargetMode="External"/><Relationship Id="rId10" Type="http://schemas.openxmlformats.org/officeDocument/2006/relationships/hyperlink" Target="https://arxiv.org/abs/1701.07875" TargetMode="External"/><Relationship Id="rId12" Type="http://schemas.openxmlformats.org/officeDocument/2006/relationships/hyperlink" Target="https://arxiv.org/abs/1812.04948" TargetMode="External"/><Relationship Id="rId14" Type="http://schemas.openxmlformats.org/officeDocument/2006/relationships/hyperlink" Target="https://arxiv.org/abs/1706.08500"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slideLayout" Target="../slideLayouts/slideLayout1.xml"/><Relationship Id="rId16"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03</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Generative Adversarial Networks (GANs)</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Learning to generate by competition: the adversarial game, its training challenges, variants and evaluation</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3\cover.png">    </p:cNvPr>
          <p:cNvPicPr>
            <a:picLocks noChangeAspect="1"/>
          </p:cNvPicPr>
          <p:nvPr/>
        </p:nvPicPr>
        <p:blipFill>
          <a:blip r:embed="rId1"/>
          <a:stretch>
            <a:fillRect/>
          </a:stretch>
        </p:blipFill>
        <p:spPr>
          <a:xfrm>
            <a:off x="7818120" y="1508760"/>
            <a:ext cx="3840480" cy="3840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Explain the motivation for </a:t>
            </a:r>
            <a:pPr indent="0" marL="0">
              <a:buNone/>
            </a:pPr>
            <a:r>
              <a:rPr lang="en-US" sz="1900" b="1" dirty="0">
                <a:solidFill>
                  <a:srgbClr val="1F2937"/>
                </a:solidFill>
                <a:latin typeface="Calibri" pitchFamily="34" charset="0"/>
                <a:ea typeface="Calibri" pitchFamily="34" charset="-122"/>
                <a:cs typeface="Calibri" pitchFamily="34" charset="-120"/>
              </a:rPr>
              <a:t>adversarial learning</a:t>
            </a:r>
            <a:pPr indent="0" marL="0">
              <a:buNone/>
            </a:pPr>
            <a:r>
              <a:rPr lang="en-US" sz="1900" dirty="0">
                <a:solidFill>
                  <a:srgbClr val="1F2937"/>
                </a:solidFill>
                <a:latin typeface="Calibri" pitchFamily="34" charset="0"/>
                <a:ea typeface="Calibri" pitchFamily="34" charset="-122"/>
                <a:cs typeface="Calibri" pitchFamily="34" charset="-120"/>
              </a:rPr>
              <a:t> and the roles of the </a:t>
            </a:r>
            <a:pPr indent="0" marL="0">
              <a:buNone/>
            </a:pPr>
            <a:r>
              <a:rPr lang="en-US" sz="1900" b="1" dirty="0">
                <a:solidFill>
                  <a:srgbClr val="1F2937"/>
                </a:solidFill>
                <a:latin typeface="Calibri" pitchFamily="34" charset="0"/>
                <a:ea typeface="Calibri" pitchFamily="34" charset="-122"/>
                <a:cs typeface="Calibri" pitchFamily="34" charset="-120"/>
              </a:rPr>
              <a:t>generator</a:t>
            </a:r>
            <a:pPr indent="0" marL="0">
              <a:buNone/>
            </a:pPr>
            <a:r>
              <a:rPr lang="en-US" sz="1900" dirty="0">
                <a:solidFill>
                  <a:srgbClr val="1F2937"/>
                </a:solidFill>
                <a:latin typeface="Calibri" pitchFamily="34" charset="0"/>
                <a:ea typeface="Calibri" pitchFamily="34" charset="-122"/>
                <a:cs typeface="Calibri" pitchFamily="34" charset="-120"/>
              </a:rPr>
              <a:t> and </a:t>
            </a:r>
            <a:pPr indent="0" marL="0">
              <a:buNone/>
            </a:pPr>
            <a:r>
              <a:rPr lang="en-US" sz="1900" b="1" dirty="0">
                <a:solidFill>
                  <a:srgbClr val="1F2937"/>
                </a:solidFill>
                <a:latin typeface="Calibri" pitchFamily="34" charset="0"/>
                <a:ea typeface="Calibri" pitchFamily="34" charset="-122"/>
                <a:cs typeface="Calibri" pitchFamily="34" charset="-120"/>
              </a:rPr>
              <a:t>discriminator</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Write the GAN </a:t>
            </a:r>
            <a:pPr indent="0" marL="0">
              <a:buNone/>
            </a:pPr>
            <a:r>
              <a:rPr lang="en-US" sz="1900" b="1" dirty="0">
                <a:solidFill>
                  <a:srgbClr val="1F2937"/>
                </a:solidFill>
                <a:latin typeface="Calibri" pitchFamily="34" charset="0"/>
                <a:ea typeface="Calibri" pitchFamily="34" charset="-122"/>
                <a:cs typeface="Calibri" pitchFamily="34" charset="-120"/>
              </a:rPr>
              <a:t>minimax objective</a:t>
            </a:r>
            <a:pPr indent="0" marL="0">
              <a:buNone/>
            </a:pPr>
            <a:r>
              <a:rPr lang="en-US" sz="1900" dirty="0">
                <a:solidFill>
                  <a:srgbClr val="1F2937"/>
                </a:solidFill>
                <a:latin typeface="Calibri" pitchFamily="34" charset="0"/>
                <a:ea typeface="Calibri" pitchFamily="34" charset="-122"/>
                <a:cs typeface="Calibri" pitchFamily="34" charset="-120"/>
              </a:rPr>
              <a:t>, derive the optimal discriminator, and explain the </a:t>
            </a:r>
            <a:pPr indent="0" marL="0">
              <a:buNone/>
            </a:pPr>
            <a:r>
              <a:rPr lang="en-US" sz="1900" b="1" dirty="0">
                <a:solidFill>
                  <a:srgbClr val="1F2937"/>
                </a:solidFill>
                <a:latin typeface="Calibri" pitchFamily="34" charset="0"/>
                <a:ea typeface="Calibri" pitchFamily="34" charset="-122"/>
                <a:cs typeface="Calibri" pitchFamily="34" charset="-120"/>
              </a:rPr>
              <a:t>non-saturating</a:t>
            </a:r>
            <a:pPr indent="0" marL="0">
              <a:buNone/>
            </a:pPr>
            <a:r>
              <a:rPr lang="en-US" sz="1900" dirty="0">
                <a:solidFill>
                  <a:srgbClr val="1F2937"/>
                </a:solidFill>
                <a:latin typeface="Calibri" pitchFamily="34" charset="0"/>
                <a:ea typeface="Calibri" pitchFamily="34" charset="-122"/>
                <a:cs typeface="Calibri" pitchFamily="34" charset="-120"/>
              </a:rPr>
              <a:t> generator loss.</a:t>
            </a:r>
            <a:endParaRPr lang="en-US" sz="19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Diagnose training problems (</a:t>
            </a:r>
            <a:pPr indent="0" marL="0">
              <a:buNone/>
            </a:pPr>
            <a:r>
              <a:rPr lang="en-US" sz="1900" b="1" dirty="0">
                <a:solidFill>
                  <a:srgbClr val="1F2937"/>
                </a:solidFill>
                <a:latin typeface="Calibri" pitchFamily="34" charset="0"/>
                <a:ea typeface="Calibri" pitchFamily="34" charset="-122"/>
                <a:cs typeface="Calibri" pitchFamily="34" charset="-120"/>
              </a:rPr>
              <a:t>mode collapse</a:t>
            </a:r>
            <a:pPr indent="0" marL="0">
              <a:buNone/>
            </a:pPr>
            <a:r>
              <a:rPr lang="en-US" sz="1900" dirty="0">
                <a:solidFill>
                  <a:srgbClr val="1F2937"/>
                </a:solidFill>
                <a:latin typeface="Calibri" pitchFamily="34" charset="0"/>
                <a:ea typeface="Calibri" pitchFamily="34" charset="-122"/>
                <a:cs typeface="Calibri" pitchFamily="34" charset="-120"/>
              </a:rPr>
              <a:t>, instability, vanishing gradients) and choose stabilisation techniques.</a:t>
            </a:r>
            <a:endParaRPr lang="en-US" sz="19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Describe key variants: </a:t>
            </a:r>
            <a:pPr indent="0" marL="0">
              <a:buNone/>
            </a:pPr>
            <a:r>
              <a:rPr lang="en-US" sz="1900" b="1" dirty="0">
                <a:solidFill>
                  <a:srgbClr val="1F2937"/>
                </a:solidFill>
                <a:latin typeface="Calibri" pitchFamily="34" charset="0"/>
                <a:ea typeface="Calibri" pitchFamily="34" charset="-122"/>
                <a:cs typeface="Calibri" pitchFamily="34" charset="-120"/>
              </a:rPr>
              <a:t>DCGAN, conditional GAN, pix2pix, CycleGAN, StyleGAN</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GANs with </a:t>
            </a:r>
            <a:pPr indent="0" marL="0">
              <a:buNone/>
            </a:pPr>
            <a:r>
              <a:rPr lang="en-US" sz="1900" b="1" dirty="0">
                <a:solidFill>
                  <a:srgbClr val="1F2937"/>
                </a:solidFill>
                <a:latin typeface="Calibri" pitchFamily="34" charset="0"/>
                <a:ea typeface="Calibri" pitchFamily="34" charset="-122"/>
                <a:cs typeface="Calibri" pitchFamily="34" charset="-120"/>
              </a:rPr>
              <a:t>FID</a:t>
            </a:r>
            <a:pPr indent="0" marL="0">
              <a:buNone/>
            </a:pPr>
            <a:r>
              <a:rPr lang="en-US" sz="1900" dirty="0">
                <a:solidFill>
                  <a:srgbClr val="1F2937"/>
                </a:solidFill>
                <a:latin typeface="Calibri" pitchFamily="34" charset="0"/>
                <a:ea typeface="Calibri" pitchFamily="34" charset="-122"/>
                <a:cs typeface="Calibri" pitchFamily="34" charset="-120"/>
              </a:rPr>
              <a:t>, Inception Score, precision/recall and human judgement.</a:t>
            </a:r>
            <a:endParaRPr lang="en-US" sz="19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Implement and train a DCGAN in PyTorch, and discuss GANs' role today and the risks of </a:t>
            </a:r>
            <a:pPr indent="0" marL="0">
              <a:buNone/>
            </a:pPr>
            <a:r>
              <a:rPr lang="en-US" sz="1900" b="1" dirty="0">
                <a:solidFill>
                  <a:srgbClr val="1F2937"/>
                </a:solidFill>
                <a:latin typeface="Calibri" pitchFamily="34" charset="0"/>
                <a:ea typeface="Calibri" pitchFamily="34" charset="-122"/>
                <a:cs typeface="Calibri" pitchFamily="34" charset="-120"/>
              </a:rPr>
              <a:t>deepfakes</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4</a:t>
            </a:r>
            <a:endParaRPr lang="en-US" sz="13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training a forger</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6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Why adversarial learning?</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15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The GAN objective</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30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Training challenges and fixes</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Variants: DCGAN to StyleGAN</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Evaluation, applications and risks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18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7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976550"/>
                <a:gridCol w="8117865"/>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Neural-network weights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Learned numbers used to transform an input into a prediction.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Binary classification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Predicting between two labels, here real and generated.</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 measure of how changing a quantity would change a loss.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How would you train an art forger if you had no rulebook for 'realistic', only a detective who compares fakes with real paintings?</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feedback would the forger need from the detective?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happens if the detective becomes perfect very quickly?</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What if the forger finds one painting that always fools the detective?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adversarial learning?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Can we learn the loss function itself?</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GAN learns from a discriminator</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Two networks learn different tasks; only the generator creates new images.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Draw inputs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Sample noise; load real digits on a parallel data path.</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train_dl / Z_DIM</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noise codes; real images bypass G</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Generate images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Map each 64-number noise code into one digit image.</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Generator / G</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fake images; real images join D</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Score real and fake</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The discriminator reads both real and generated images.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Discriminator / D</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real/fake logits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Form two losses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D separates sources; G wants its fakes accepted as real.</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d_loss_fn / g_loss_fn</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losses and gradients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Alternate updates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Update D first, then update G through the new D.</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opt_D / opt_G</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G and recorded samples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Inspect progress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fixed-noise images, class coverage, and feature distance.</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snapshots / frechet_distance</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5492344" cy="0"/>
          </a:xfrm>
          <a:prstGeom prst="line">
            <a:avLst/>
          </a:prstGeom>
          <a:noFill/>
          <a:ln w="20320">
            <a:solidFill>
              <a:srgbClr val="0F766E"/>
            </a:solidFill>
            <a:prstDash val="dash"/>
          </a:ln>
        </p:spPr>
      </p:sp>
      <p:sp>
        <p:nvSpPr>
          <p:cNvPr id="45" name="Shape 43"/>
          <p:cNvSpPr/>
          <p:nvPr/>
        </p:nvSpPr>
        <p:spPr>
          <a:xfrm>
            <a:off x="6095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Repeat generation and alternating updates on new batches using the updated G and 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motivation: a learned loss for realism</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VAEs use pixel-wise likelihoods, which reward the </a:t>
            </a:r>
            <a:pPr indent="0" marL="0">
              <a:buNone/>
            </a:pPr>
            <a:r>
              <a:rPr lang="en-US" sz="2200" b="1" dirty="0">
                <a:solidFill>
                  <a:srgbClr val="1F2937"/>
                </a:solidFill>
                <a:latin typeface="Calibri" pitchFamily="34" charset="0"/>
                <a:ea typeface="Calibri" pitchFamily="34" charset="-122"/>
                <a:cs typeface="Calibri" pitchFamily="34" charset="-120"/>
              </a:rPr>
              <a:t>average</a:t>
            </a:r>
            <a:pPr indent="0" marL="0">
              <a:buNone/>
            </a:pPr>
            <a:r>
              <a:rPr lang="en-US" sz="2200" dirty="0">
                <a:solidFill>
                  <a:srgbClr val="1F2937"/>
                </a:solidFill>
                <a:latin typeface="Calibri" pitchFamily="34" charset="0"/>
                <a:ea typeface="Calibri" pitchFamily="34" charset="-122"/>
                <a:cs typeface="Calibri" pitchFamily="34" charset="-120"/>
              </a:rPr>
              <a:t> of plausible images, and averages look blurry.</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Realism is hard to write as a formula, but a classifier can </a:t>
            </a:r>
            <a:pPr indent="0" marL="0">
              <a:buNone/>
            </a:pPr>
            <a:r>
              <a:rPr lang="en-US" sz="2200" b="1" dirty="0">
                <a:solidFill>
                  <a:srgbClr val="1F2937"/>
                </a:solidFill>
                <a:latin typeface="Calibri" pitchFamily="34" charset="0"/>
                <a:ea typeface="Calibri" pitchFamily="34" charset="-122"/>
                <a:cs typeface="Calibri" pitchFamily="34" charset="-120"/>
              </a:rPr>
              <a:t>learn</a:t>
            </a:r>
            <a:pPr indent="0" marL="0">
              <a:buNone/>
            </a:pPr>
            <a:r>
              <a:rPr lang="en-US" sz="2200" dirty="0">
                <a:solidFill>
                  <a:srgbClr val="1F2937"/>
                </a:solidFill>
                <a:latin typeface="Calibri" pitchFamily="34" charset="0"/>
                <a:ea typeface="Calibri" pitchFamily="34" charset="-122"/>
                <a:cs typeface="Calibri" pitchFamily="34" charset="-120"/>
              </a:rPr>
              <a:t> to tell real from fake.</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GANs train a </a:t>
            </a:r>
            <a:pPr indent="0" marL="0">
              <a:buNone/>
            </a:pPr>
            <a:r>
              <a:rPr lang="en-US" sz="2200" b="1" dirty="0">
                <a:solidFill>
                  <a:srgbClr val="1F2937"/>
                </a:solidFill>
                <a:latin typeface="Calibri" pitchFamily="34" charset="0"/>
                <a:ea typeface="Calibri" pitchFamily="34" charset="-122"/>
                <a:cs typeface="Calibri" pitchFamily="34" charset="-120"/>
              </a:rPr>
              <a:t>discriminator</a:t>
            </a:r>
            <a:pPr indent="0" marL="0">
              <a:buNone/>
            </a:pPr>
            <a:r>
              <a:rPr lang="en-US" sz="2200" dirty="0">
                <a:solidFill>
                  <a:srgbClr val="1F2937"/>
                </a:solidFill>
                <a:latin typeface="Calibri" pitchFamily="34" charset="0"/>
                <a:ea typeface="Calibri" pitchFamily="34" charset="-122"/>
                <a:cs typeface="Calibri" pitchFamily="34" charset="-120"/>
              </a:rPr>
              <a:t> to spot fakes and a </a:t>
            </a:r>
            <a:pPr indent="0" marL="0">
              <a:buNone/>
            </a:pPr>
            <a:r>
              <a:rPr lang="en-US" sz="2200" b="1" dirty="0">
                <a:solidFill>
                  <a:srgbClr val="1F2937"/>
                </a:solidFill>
                <a:latin typeface="Calibri" pitchFamily="34" charset="0"/>
                <a:ea typeface="Calibri" pitchFamily="34" charset="-122"/>
                <a:cs typeface="Calibri" pitchFamily="34" charset="-120"/>
              </a:rPr>
              <a:t>generator</a:t>
            </a:r>
            <a:pPr indent="0" marL="0">
              <a:buNone/>
            </a:pPr>
            <a:r>
              <a:rPr lang="en-US" sz="2200" dirty="0">
                <a:solidFill>
                  <a:srgbClr val="1F2937"/>
                </a:solidFill>
                <a:latin typeface="Calibri" pitchFamily="34" charset="0"/>
                <a:ea typeface="Calibri" pitchFamily="34" charset="-122"/>
                <a:cs typeface="Calibri" pitchFamily="34" charset="-120"/>
              </a:rPr>
              <a:t> to fool it; the discriminator acts as a learned, adaptive loss.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GANs are </a:t>
            </a:r>
            <a:pPr indent="0" marL="0">
              <a:buNone/>
            </a:pPr>
            <a:r>
              <a:rPr lang="en-US" sz="2200" b="1" dirty="0">
                <a:solidFill>
                  <a:srgbClr val="1F2937"/>
                </a:solidFill>
                <a:latin typeface="Calibri" pitchFamily="34" charset="0"/>
                <a:ea typeface="Calibri" pitchFamily="34" charset="-122"/>
                <a:cs typeface="Calibri" pitchFamily="34" charset="-120"/>
              </a:rPr>
              <a:t>implicit</a:t>
            </a:r>
            <a:pPr indent="0" marL="0">
              <a:buNone/>
            </a:pPr>
            <a:r>
              <a:rPr lang="en-US" sz="2200" dirty="0">
                <a:solidFill>
                  <a:srgbClr val="1F2937"/>
                </a:solidFill>
                <a:latin typeface="Calibri" pitchFamily="34" charset="0"/>
                <a:ea typeface="Calibri" pitchFamily="34" charset="-122"/>
                <a:cs typeface="Calibri" pitchFamily="34" charset="-120"/>
              </a:rPr>
              <a:t> models: they can sample, but give no likelihood p(x).</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Instead of 'be close to the data pixel by pixel', the generator's goal is 'be indistinguishable from the data'.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GAN architecture: two networks, one game</a:t>
            </a:r>
            <a:endParaRPr lang="en-US" sz="3200" dirty="0"/>
          </a:p>
        </p:txBody>
      </p:sp>
      <p:pic>
        <p:nvPicPr>
          <p:cNvPr id="6" name="Image 0" descr="C:\Users\sudee\Downloads\Generative_AI_2027_Teaching_Pack\AI2027_Project\build\figures\week_03\gan_arch.png">    </p:cNvPr>
          <p:cNvPicPr>
            <a:picLocks noChangeAspect="1"/>
          </p:cNvPicPr>
          <p:nvPr/>
        </p:nvPicPr>
        <p:blipFill>
          <a:blip r:embed="rId1"/>
          <a:stretch>
            <a:fillRect/>
          </a:stretch>
        </p:blipFill>
        <p:spPr>
          <a:xfrm>
            <a:off x="548640" y="1756662"/>
            <a:ext cx="11094415" cy="427736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Generator vs. discriminator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Generator G</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Input: noise z (and optionally a condition)</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Output: a sample, e.g. a 28 × 28 image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Goal: make D(G(z)) close to 1</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Architecture: upsampling (transposed convolutions)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Kept after training: this is the model you use</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Discriminator D</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Input: a real or generated sample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Output: probability (or score) that it is real</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Goal: D(x) → 1 for real, D(G(z)) → 0 for fakes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Architecture: a CNN classifier (downsampling)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Usually discarded after training</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Neither network is trained on its own: each one's loss depends on the other, which makes GAN training a game, not a plain optimisation.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822960" y="1005840"/>
            <a:ext cx="10545775" cy="4846320"/>
          </a:xfrm>
          <a:prstGeom prst="roundRect">
            <a:avLst>
              <a:gd name="adj" fmla="val 3774"/>
            </a:avLst>
          </a:prstGeom>
          <a:solidFill>
            <a:srgbClr val="EEF0FF"/>
          </a:solidFill>
          <a:ln w="12700">
            <a:solidFill>
              <a:srgbClr val="EEF0FF"/>
            </a:solidFill>
            <a:prstDash val="solid"/>
          </a:ln>
        </p:spPr>
      </p:sp>
      <p:sp>
        <p:nvSpPr>
          <p:cNvPr id="6" name="Shape 4"/>
          <p:cNvSpPr/>
          <p:nvPr/>
        </p:nvSpPr>
        <p:spPr>
          <a:xfrm>
            <a:off x="1280160" y="1463040"/>
            <a:ext cx="822960" cy="82296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1477670" y="1660550"/>
            <a:ext cx="427939" cy="427939"/>
          </a:xfrm>
          <a:prstGeom prst="rect">
            <a:avLst/>
          </a:prstGeom>
        </p:spPr>
      </p:pic>
      <p:sp>
        <p:nvSpPr>
          <p:cNvPr id="8" name="Text 5"/>
          <p:cNvSpPr txBox="1"/>
          <p:nvPr/>
        </p:nvSpPr>
        <p:spPr>
          <a:xfrm>
            <a:off x="2286000" y="1600200"/>
            <a:ext cx="7315200" cy="548640"/>
          </a:xfrm>
          <a:prstGeom prst="rect">
            <a:avLst/>
          </a:prstGeom>
          <a:noFill/>
          <a:ln/>
        </p:spPr>
        <p:txBody>
          <a:bodyPr wrap="square" lIns="50800" tIns="50800" rIns="50800" bIns="50800" rtlCol="0" anchor="ctr"/>
          <a:lstStyle/>
          <a:p>
            <a:pPr indent="0" marL="0">
              <a:buNone/>
            </a:pPr>
            <a:r>
              <a:rPr lang="en-US" sz="1600" b="1" spc="200" kern="0" dirty="0">
                <a:solidFill>
                  <a:srgbClr val="EA580C"/>
                </a:solidFill>
                <a:latin typeface="Calibri" pitchFamily="34" charset="0"/>
                <a:ea typeface="Calibri" pitchFamily="34" charset="-122"/>
                <a:cs typeface="Calibri" pitchFamily="34" charset="-120"/>
              </a:rPr>
              <a:t>ANALOGY AND ITS LIMITS</a:t>
            </a:r>
            <a:endParaRPr lang="en-US" sz="1600" dirty="0"/>
          </a:p>
        </p:txBody>
      </p:sp>
      <p:sp>
        <p:nvSpPr>
          <p:cNvPr id="9" name="Text 6"/>
          <p:cNvSpPr txBox="1"/>
          <p:nvPr/>
        </p:nvSpPr>
        <p:spPr>
          <a:xfrm>
            <a:off x="1371600" y="2377440"/>
            <a:ext cx="9448495" cy="2377440"/>
          </a:xfrm>
          <a:prstGeom prst="rect">
            <a:avLst/>
          </a:prstGeom>
          <a:noFill/>
          <a:ln/>
        </p:spPr>
        <p:txBody>
          <a:bodyPr wrap="square" lIns="50800" tIns="50800" rIns="50800" bIns="50800" rtlCol="0" anchor="ctr"/>
          <a:lstStyle/>
          <a:p>
            <a:pPr indent="0" marL="0">
              <a:buNone/>
            </a:pPr>
            <a:r>
              <a:rPr lang="en-US" sz="3400" b="1" dirty="0">
                <a:solidFill>
                  <a:srgbClr val="1E1B4B"/>
                </a:solidFill>
                <a:latin typeface="Calibri" pitchFamily="34" charset="0"/>
                <a:ea typeface="Calibri" pitchFamily="34" charset="-122"/>
                <a:cs typeface="Calibri" pitchFamily="34" charset="-120"/>
              </a:rPr>
              <a:t>Forger and detective improve together, until the detective can do no better than a coin flip.</a:t>
            </a:r>
            <a:endParaRPr lang="en-US" sz="3400" dirty="0"/>
          </a:p>
        </p:txBody>
      </p:sp>
      <p:sp>
        <p:nvSpPr>
          <p:cNvPr id="10" name="Text 7"/>
          <p:cNvSpPr txBox="1"/>
          <p:nvPr/>
        </p:nvSpPr>
        <p:spPr>
          <a:xfrm>
            <a:off x="1371600" y="4754880"/>
            <a:ext cx="9448495" cy="914400"/>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Limits: the 'forger' never sees a real painting, only the detective's gradients; and the players can also chase each other in circles instead of converging.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GAN objective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game are the networks playing, and where does it end?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minimax game (Goodfellow et al., 2014)</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3c35548d5c983dbd.png">    </p:cNvPr>
          <p:cNvPicPr>
            <a:picLocks noChangeAspect="1"/>
          </p:cNvPicPr>
          <p:nvPr/>
        </p:nvPicPr>
        <p:blipFill>
          <a:blip r:embed="rId1"/>
          <a:stretch>
            <a:fillRect/>
          </a:stretch>
        </p:blipFill>
        <p:spPr>
          <a:xfrm>
            <a:off x="2061820" y="1905000"/>
            <a:ext cx="8068056" cy="47853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 </a:t>
            </a:r>
            <a:pPr indent="0" marL="0">
              <a:buNone/>
            </a:pPr>
            <a:r>
              <a:rPr lang="en-US" sz="2000" b="1" dirty="0">
                <a:solidFill>
                  <a:srgbClr val="1F2937"/>
                </a:solidFill>
                <a:latin typeface="Calibri" pitchFamily="34" charset="0"/>
                <a:ea typeface="Calibri" pitchFamily="34" charset="-122"/>
                <a:cs typeface="Calibri" pitchFamily="34" charset="-120"/>
              </a:rPr>
              <a:t>maximises</a:t>
            </a:r>
            <a:pPr indent="0" marL="0">
              <a:buNone/>
            </a:pPr>
            <a:r>
              <a:rPr lang="en-US" sz="2000" dirty="0">
                <a:solidFill>
                  <a:srgbClr val="1F2937"/>
                </a:solidFill>
                <a:latin typeface="Calibri" pitchFamily="34" charset="0"/>
                <a:ea typeface="Calibri" pitchFamily="34" charset="-122"/>
                <a:cs typeface="Calibri" pitchFamily="34" charset="-120"/>
              </a:rPr>
              <a:t> V: output high D(x) for real data and low D(G(z)) for fakes. This is just binary cross-entropy with labels 1 and 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 </a:t>
            </a:r>
            <a:pPr indent="0" marL="0">
              <a:buNone/>
            </a:pPr>
            <a:r>
              <a:rPr lang="en-US" sz="2000" b="1" dirty="0">
                <a:solidFill>
                  <a:srgbClr val="1F2937"/>
                </a:solidFill>
                <a:latin typeface="Calibri" pitchFamily="34" charset="0"/>
                <a:ea typeface="Calibri" pitchFamily="34" charset="-122"/>
                <a:cs typeface="Calibri" pitchFamily="34" charset="-120"/>
              </a:rPr>
              <a:t>minimises</a:t>
            </a:r>
            <a:pPr indent="0" marL="0">
              <a:buNone/>
            </a:pPr>
            <a:r>
              <a:rPr lang="en-US" sz="2000" dirty="0">
                <a:solidFill>
                  <a:srgbClr val="1F2937"/>
                </a:solidFill>
                <a:latin typeface="Calibri" pitchFamily="34" charset="0"/>
                <a:ea typeface="Calibri" pitchFamily="34" charset="-122"/>
                <a:cs typeface="Calibri" pitchFamily="34" charset="-120"/>
              </a:rPr>
              <a:t> V: it can only affect the second term, by making D(G(z)) large.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Training alternates: a few gradient steps for D, then one for G.</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D(x)</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probability D assigns to x being real</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G(z)</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sample generated from noise z</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p_data</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distribution of real data</a:t>
            </a:r>
            <a:endParaRPr lang="en-US" sz="16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p(z)</a:t>
            </a:r>
            <a:endParaRPr lang="en-US" sz="17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noise prior, e.g. N(0, 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optimal discriminator and what G really minimises</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d4cc7c2c9e7c16b0.png">    </p:cNvPr>
          <p:cNvPicPr>
            <a:picLocks noChangeAspect="1"/>
          </p:cNvPicPr>
          <p:nvPr/>
        </p:nvPicPr>
        <p:blipFill>
          <a:blip r:embed="rId1"/>
          <a:stretch>
            <a:fillRect/>
          </a:stretch>
        </p:blipFill>
        <p:spPr>
          <a:xfrm>
            <a:off x="4553560" y="1845056"/>
            <a:ext cx="3084576" cy="768096"/>
          </a:xfrm>
          <a:prstGeom prst="rect">
            <a:avLst/>
          </a:prstGeom>
        </p:spPr>
      </p:pic>
      <p:pic>
        <p:nvPicPr>
          <p:cNvPr id="8" name="Image 1" descr="C:\Users\sudee\Downloads\Generative_AI_2027_Teaching_Pack\AI2027_Project\build\eq\48a52671523f0a9b.png">    </p:cNvPr>
          <p:cNvPicPr>
            <a:picLocks noChangeAspect="1"/>
          </p:cNvPicPr>
          <p:nvPr/>
        </p:nvPicPr>
        <p:blipFill>
          <a:blip r:embed="rId2"/>
          <a:stretch>
            <a:fillRect/>
          </a:stretch>
        </p:blipFill>
        <p:spPr>
          <a:xfrm>
            <a:off x="3811372" y="2931160"/>
            <a:ext cx="4568952" cy="381000"/>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For a fixed G, the best D compares the two densities point by point.</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Plugging D* in, G minimises the </a:t>
            </a:r>
            <a:pPr indent="0" marL="0">
              <a:buNone/>
            </a:pPr>
            <a:r>
              <a:rPr lang="en-US" sz="1700" b="1" dirty="0">
                <a:solidFill>
                  <a:srgbClr val="1F2937"/>
                </a:solidFill>
                <a:latin typeface="Calibri" pitchFamily="34" charset="0"/>
                <a:ea typeface="Calibri" pitchFamily="34" charset="-122"/>
                <a:cs typeface="Calibri" pitchFamily="34" charset="-120"/>
              </a:rPr>
              <a:t>Jensen–Shannon divergence</a:t>
            </a:r>
            <a:pPr indent="0" marL="0">
              <a:buNone/>
            </a:pPr>
            <a:r>
              <a:rPr lang="en-US" sz="1700" dirty="0">
                <a:solidFill>
                  <a:srgbClr val="1F2937"/>
                </a:solidFill>
                <a:latin typeface="Calibri" pitchFamily="34" charset="0"/>
                <a:ea typeface="Calibri" pitchFamily="34" charset="-122"/>
                <a:cs typeface="Calibri" pitchFamily="34" charset="-120"/>
              </a:rPr>
              <a:t> between data and generator distributions.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Global optimum: p_g = p_data, where D* = ½ everywhere and V = −log 4.</a:t>
            </a:r>
            <a:endParaRPr lang="en-US" sz="17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p_g</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distribution of G(z)</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JSD</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Jensen–Shannon divergence (≥ 0, symmetric)</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D* = ½</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 can do no better than a coin flip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optimal discriminator in pictures</a:t>
            </a:r>
            <a:endParaRPr lang="en-US" sz="3200" dirty="0"/>
          </a:p>
        </p:txBody>
      </p:sp>
      <p:pic>
        <p:nvPicPr>
          <p:cNvPr id="6" name="Image 0" descr="C:\Users\sudee\Downloads\Generative_AI_2027_Teaching_Pack\AI2027_Project\build\figures\week_03\optimal_d.png">    </p:cNvPr>
          <p:cNvPicPr>
            <a:picLocks noChangeAspect="1"/>
          </p:cNvPicPr>
          <p:nvPr/>
        </p:nvPicPr>
        <p:blipFill>
          <a:blip r:embed="rId1"/>
          <a:stretch>
            <a:fillRect/>
          </a:stretch>
        </p:blipFill>
        <p:spPr>
          <a:xfrm>
            <a:off x="548640" y="1918549"/>
            <a:ext cx="11094415" cy="39535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Why practitioners use the non-saturating generator loss</a:t>
            </a:r>
            <a:endParaRPr lang="en-US" sz="3100" dirty="0"/>
          </a:p>
        </p:txBody>
      </p:sp>
      <p:pic>
        <p:nvPicPr>
          <p:cNvPr id="6" name="Image 0" descr="C:\Users\sudee\Downloads\Generative_AI_2027_Teaching_Pack\AI2027_Project\build\figures\week_03\saturating.png">    </p:cNvPr>
          <p:cNvPicPr>
            <a:picLocks noChangeAspect="1"/>
          </p:cNvPicPr>
          <p:nvPr/>
        </p:nvPicPr>
        <p:blipFill>
          <a:blip r:embed="rId1"/>
          <a:stretch>
            <a:fillRect/>
          </a:stretch>
        </p:blipFill>
        <p:spPr>
          <a:xfrm>
            <a:off x="548640" y="1810355"/>
            <a:ext cx="6583680" cy="4169977"/>
          </a:xfrm>
          <a:prstGeom prst="rect">
            <a:avLst/>
          </a:prstGeom>
        </p:spPr>
      </p:pic>
      <p:sp>
        <p:nvSpPr>
          <p:cNvPr id="7" name="Text 4"/>
          <p:cNvSpPr txBox="1"/>
          <p:nvPr/>
        </p:nvSpPr>
        <p:spPr>
          <a:xfrm>
            <a:off x="7406640" y="1481328"/>
            <a:ext cx="423641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Early on, D easily rejects fakes: D(G(z)) ≈ 0.</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Minimax loss log(1 − D(G(z))) is </a:t>
            </a:r>
            <a:pPr indent="0" marL="0">
              <a:buNone/>
            </a:pPr>
            <a:r>
              <a:rPr lang="en-US" sz="2000" b="1" dirty="0">
                <a:solidFill>
                  <a:srgbClr val="1F2937"/>
                </a:solidFill>
                <a:latin typeface="Calibri" pitchFamily="34" charset="0"/>
                <a:ea typeface="Calibri" pitchFamily="34" charset="-122"/>
                <a:cs typeface="Calibri" pitchFamily="34" charset="-120"/>
              </a:rPr>
              <a:t>flat</a:t>
            </a:r>
            <a:pPr indent="0" marL="0">
              <a:buNone/>
            </a:pPr>
            <a:r>
              <a:rPr lang="en-US" sz="2000" dirty="0">
                <a:solidFill>
                  <a:srgbClr val="1F2937"/>
                </a:solidFill>
                <a:latin typeface="Calibri" pitchFamily="34" charset="0"/>
                <a:ea typeface="Calibri" pitchFamily="34" charset="-122"/>
                <a:cs typeface="Calibri" pitchFamily="34" charset="-120"/>
              </a:rPr>
              <a:t> there, giving tiny gradients for 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Non-saturating loss −log D(G(z)) is </a:t>
            </a:r>
            <a:pPr indent="0" marL="0">
              <a:buNone/>
            </a:pPr>
            <a:r>
              <a:rPr lang="en-US" sz="2000" b="1" dirty="0">
                <a:solidFill>
                  <a:srgbClr val="1F2937"/>
                </a:solidFill>
                <a:latin typeface="Calibri" pitchFamily="34" charset="0"/>
                <a:ea typeface="Calibri" pitchFamily="34" charset="-122"/>
                <a:cs typeface="Calibri" pitchFamily="34" charset="-120"/>
              </a:rPr>
              <a:t>steep</a:t>
            </a:r>
            <a:pPr indent="0" marL="0">
              <a:buNone/>
            </a:pPr>
            <a:r>
              <a:rPr lang="en-US" sz="2000" dirty="0">
                <a:solidFill>
                  <a:srgbClr val="1F2937"/>
                </a:solidFill>
                <a:latin typeface="Calibri" pitchFamily="34" charset="0"/>
                <a:ea typeface="Calibri" pitchFamily="34" charset="-122"/>
                <a:cs typeface="Calibri" pitchFamily="34" charset="-120"/>
              </a:rPr>
              <a:t> there: strong gradients when G is worst.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Same fixed point, much better learning; used in almost all implementations.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alternating GAN update</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Detach fakes for the D update; keep G connected for its own update.</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a:off x="872227" y="1883664"/>
            <a:ext cx="2835239" cy="1344168"/>
          </a:xfrm>
          <a:prstGeom prst="rect">
            <a:avLst/>
          </a:prstGeom>
          <a:solidFill>
            <a:srgbClr val="F5F3FF"/>
          </a:solidFill>
          <a:ln w="16510">
            <a:solidFill>
              <a:srgbClr val="4F46E5"/>
            </a:solidFill>
            <a:prstDash val="solid"/>
          </a:ln>
        </p:spPr>
      </p:sp>
      <p:sp>
        <p:nvSpPr>
          <p:cNvPr id="12" name="Text 10"/>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Make connected fakes</a:t>
            </a:r>
            <a:endParaRPr lang="en-US" sz="1900" dirty="0"/>
          </a:p>
        </p:txBody>
      </p:sp>
      <p:sp>
        <p:nvSpPr>
          <p:cNvPr id="13" name="Text 11"/>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 creates images with a gradient path to its weights.</a:t>
            </a:r>
            <a:endParaRPr lang="en-US" sz="1700" dirty="0"/>
          </a:p>
        </p:txBody>
      </p:sp>
      <p:sp>
        <p:nvSpPr>
          <p:cNvPr id="14" name="Text 12"/>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 / fake</a:t>
            </a:r>
            <a:endParaRPr lang="en-US" sz="1200" dirty="0"/>
          </a:p>
        </p:txBody>
      </p:sp>
      <p:sp>
        <p:nvSpPr>
          <p:cNvPr id="15" name="Text 13"/>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fake images with graph</a:t>
            </a:r>
            <a:endParaRPr lang="en-US" sz="1500" dirty="0"/>
          </a:p>
        </p:txBody>
      </p:sp>
      <p:sp>
        <p:nvSpPr>
          <p:cNvPr id="16" name="Shape 14"/>
          <p:cNvSpPr/>
          <p:nvPr/>
        </p:nvSpPr>
        <p:spPr>
          <a:xfrm>
            <a:off x="4678228" y="1883664"/>
            <a:ext cx="2835239" cy="1344168"/>
          </a:xfrm>
          <a:prstGeom prst="rect">
            <a:avLst/>
          </a:prstGeom>
          <a:solidFill>
            <a:srgbClr val="F5F3FF"/>
          </a:solidFill>
          <a:ln w="16510">
            <a:solidFill>
              <a:srgbClr val="4F46E5"/>
            </a:solidFill>
            <a:prstDash val="solid"/>
          </a:ln>
        </p:spPr>
      </p:sp>
      <p:sp>
        <p:nvSpPr>
          <p:cNvPr id="17" name="Text 15"/>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Detach for D</a:t>
            </a:r>
            <a:endParaRPr lang="en-US" sz="1900" dirty="0"/>
          </a:p>
        </p:txBody>
      </p:sp>
      <p:sp>
        <p:nvSpPr>
          <p:cNvPr id="18" name="Text 16"/>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Give D real images and a disconnected view of fakes.</a:t>
            </a:r>
            <a:endParaRPr lang="en-US" sz="1700" dirty="0"/>
          </a:p>
        </p:txBody>
      </p:sp>
      <p:sp>
        <p:nvSpPr>
          <p:cNvPr id="19" name="Text 17"/>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d_loss_fn</a:t>
            </a:r>
            <a:endParaRPr lang="en-US" sz="1200" dirty="0"/>
          </a:p>
        </p:txBody>
      </p:sp>
      <p:sp>
        <p:nvSpPr>
          <p:cNvPr id="20" name="Text 18"/>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real/fake D loss</a:t>
            </a:r>
            <a:endParaRPr lang="en-US" sz="1500" dirty="0"/>
          </a:p>
        </p:txBody>
      </p:sp>
      <p:sp>
        <p:nvSpPr>
          <p:cNvPr id="21" name="Shape 19"/>
          <p:cNvSpPr/>
          <p:nvPr/>
        </p:nvSpPr>
        <p:spPr>
          <a:xfrm>
            <a:off x="8484229" y="1883664"/>
            <a:ext cx="2835239" cy="1344168"/>
          </a:xfrm>
          <a:prstGeom prst="rect">
            <a:avLst/>
          </a:prstGeom>
          <a:solidFill>
            <a:srgbClr val="F5F3FF"/>
          </a:solidFill>
          <a:ln w="16510">
            <a:solidFill>
              <a:srgbClr val="4F46E5"/>
            </a:solidFill>
            <a:prstDash val="solid"/>
          </a:ln>
        </p:spPr>
      </p:sp>
      <p:sp>
        <p:nvSpPr>
          <p:cNvPr id="22" name="Text 20"/>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Update D</a:t>
            </a:r>
            <a:endParaRPr lang="en-US" sz="1900" dirty="0"/>
          </a:p>
        </p:txBody>
      </p:sp>
      <p:sp>
        <p:nvSpPr>
          <p:cNvPr id="23" name="Text 21"/>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Train D with real targets 1 and fake targets 0.</a:t>
            </a:r>
            <a:endParaRPr lang="en-US" sz="1700" dirty="0"/>
          </a:p>
        </p:txBody>
      </p:sp>
      <p:sp>
        <p:nvSpPr>
          <p:cNvPr id="24" name="Text 22"/>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opt_D</a:t>
            </a:r>
            <a:endParaRPr lang="en-US" sz="1200" dirty="0"/>
          </a:p>
        </p:txBody>
      </p:sp>
      <p:sp>
        <p:nvSpPr>
          <p:cNvPr id="25" name="Text 23"/>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updated D; original fake tensor</a:t>
            </a:r>
            <a:endParaRPr lang="en-US" sz="1500" dirty="0"/>
          </a:p>
        </p:txBody>
      </p:sp>
      <p:sp>
        <p:nvSpPr>
          <p:cNvPr id="26" name="Shape 24"/>
          <p:cNvSpPr/>
          <p:nvPr/>
        </p:nvSpPr>
        <p:spPr>
          <a:xfrm>
            <a:off x="8484229" y="3712464"/>
            <a:ext cx="2835239" cy="1344168"/>
          </a:xfrm>
          <a:prstGeom prst="rect">
            <a:avLst/>
          </a:prstGeom>
          <a:solidFill>
            <a:srgbClr val="F5F3FF"/>
          </a:solidFill>
          <a:ln w="16510">
            <a:solidFill>
              <a:srgbClr val="4F46E5"/>
            </a:solidFill>
            <a:prstDash val="solid"/>
          </a:ln>
        </p:spPr>
      </p:sp>
      <p:sp>
        <p:nvSpPr>
          <p:cNvPr id="27" name="Text 25"/>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Score original fakes</a:t>
            </a:r>
            <a:endParaRPr lang="en-US" sz="1900" dirty="0"/>
          </a:p>
        </p:txBody>
      </p:sp>
      <p:sp>
        <p:nvSpPr>
          <p:cNvPr id="28" name="Text 26"/>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Use updated D; original fakes still connect to G.</a:t>
            </a:r>
            <a:endParaRPr lang="en-US" sz="1700" dirty="0"/>
          </a:p>
        </p:txBody>
      </p:sp>
      <p:sp>
        <p:nvSpPr>
          <p:cNvPr id="29" name="Text 27"/>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g_loss_fn</a:t>
            </a:r>
            <a:endParaRPr lang="en-US" sz="1200" dirty="0"/>
          </a:p>
        </p:txBody>
      </p:sp>
      <p:sp>
        <p:nvSpPr>
          <p:cNvPr id="30" name="Text 28"/>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generator loss and gradient path</a:t>
            </a:r>
            <a:endParaRPr lang="en-US" sz="1500" dirty="0"/>
          </a:p>
        </p:txBody>
      </p:sp>
      <p:sp>
        <p:nvSpPr>
          <p:cNvPr id="31" name="Shape 29"/>
          <p:cNvSpPr/>
          <p:nvPr/>
        </p:nvSpPr>
        <p:spPr>
          <a:xfrm>
            <a:off x="4678228" y="3712464"/>
            <a:ext cx="2835239" cy="1344168"/>
          </a:xfrm>
          <a:prstGeom prst="rect">
            <a:avLst/>
          </a:prstGeom>
          <a:solidFill>
            <a:srgbClr val="F5F3FF"/>
          </a:solidFill>
          <a:ln w="16510">
            <a:solidFill>
              <a:srgbClr val="4F46E5"/>
            </a:solidFill>
            <a:prstDash val="solid"/>
          </a:ln>
        </p:spPr>
      </p:sp>
      <p:sp>
        <p:nvSpPr>
          <p:cNvPr id="32" name="Text 30"/>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Update G</a:t>
            </a:r>
            <a:endParaRPr lang="en-US" sz="1900" dirty="0"/>
          </a:p>
        </p:txBody>
      </p:sp>
      <p:sp>
        <p:nvSpPr>
          <p:cNvPr id="33" name="Text 31"/>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Backpropagate the real-target loss; step only G's optimiser.</a:t>
            </a:r>
            <a:endParaRPr lang="en-US" sz="1700" dirty="0"/>
          </a:p>
        </p:txBody>
      </p:sp>
      <p:sp>
        <p:nvSpPr>
          <p:cNvPr id="34" name="Text 32"/>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opt_G</a:t>
            </a:r>
            <a:endParaRPr lang="en-US" sz="1200" dirty="0"/>
          </a:p>
        </p:txBody>
      </p:sp>
      <p:sp>
        <p:nvSpPr>
          <p:cNvPr id="35" name="Shape 33"/>
          <p:cNvSpPr/>
          <p:nvPr/>
        </p:nvSpPr>
        <p:spPr>
          <a:xfrm>
            <a:off x="6095848" y="5422392"/>
            <a:ext cx="0" cy="109728"/>
          </a:xfrm>
          <a:prstGeom prst="line">
            <a:avLst/>
          </a:prstGeom>
          <a:noFill/>
          <a:ln w="20320">
            <a:solidFill>
              <a:srgbClr val="0F766E"/>
            </a:solidFill>
            <a:prstDash val="dash"/>
          </a:ln>
        </p:spPr>
      </p:sp>
      <p:sp>
        <p:nvSpPr>
          <p:cNvPr id="36" name="Shape 34"/>
          <p:cNvSpPr/>
          <p:nvPr/>
        </p:nvSpPr>
        <p:spPr>
          <a:xfrm flipH="1">
            <a:off x="603504" y="5532120"/>
            <a:ext cx="5492344" cy="0"/>
          </a:xfrm>
          <a:prstGeom prst="line">
            <a:avLst/>
          </a:prstGeom>
          <a:noFill/>
          <a:ln w="20320">
            <a:solidFill>
              <a:srgbClr val="0F766E"/>
            </a:solidFill>
            <a:prstDash val="dash"/>
          </a:ln>
        </p:spPr>
      </p:sp>
      <p:sp>
        <p:nvSpPr>
          <p:cNvPr id="37" name="Shape 35"/>
          <p:cNvSpPr/>
          <p:nvPr/>
        </p:nvSpPr>
        <p:spPr>
          <a:xfrm flipV="1">
            <a:off x="603504" y="1828800"/>
            <a:ext cx="0" cy="3703320"/>
          </a:xfrm>
          <a:prstGeom prst="line">
            <a:avLst/>
          </a:prstGeom>
          <a:noFill/>
          <a:ln w="20320">
            <a:solidFill>
              <a:srgbClr val="0F766E"/>
            </a:solidFill>
            <a:prstDash val="dash"/>
          </a:ln>
        </p:spPr>
      </p:sp>
      <p:sp>
        <p:nvSpPr>
          <p:cNvPr id="38" name="Shape 36"/>
          <p:cNvSpPr/>
          <p:nvPr/>
        </p:nvSpPr>
        <p:spPr>
          <a:xfrm>
            <a:off x="603504" y="1828800"/>
            <a:ext cx="1686343" cy="0"/>
          </a:xfrm>
          <a:prstGeom prst="line">
            <a:avLst/>
          </a:prstGeom>
          <a:noFill/>
          <a:ln w="20320">
            <a:solidFill>
              <a:srgbClr val="0F766E"/>
            </a:solidFill>
            <a:prstDash val="dash"/>
          </a:ln>
        </p:spPr>
      </p:sp>
      <p:sp>
        <p:nvSpPr>
          <p:cNvPr id="39" name="Shape 37"/>
          <p:cNvSpPr/>
          <p:nvPr/>
        </p:nvSpPr>
        <p:spPr>
          <a:xfrm>
            <a:off x="2289847" y="1828800"/>
            <a:ext cx="0" cy="36576"/>
          </a:xfrm>
          <a:prstGeom prst="line">
            <a:avLst/>
          </a:prstGeom>
          <a:noFill/>
          <a:ln w="20320">
            <a:solidFill>
              <a:srgbClr val="0F766E"/>
            </a:solidFill>
            <a:prstDash val="dash"/>
            <a:tailEnd type="triangle"/>
          </a:ln>
        </p:spPr>
      </p:sp>
      <p:sp>
        <p:nvSpPr>
          <p:cNvPr id="40" name="Text 38"/>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Updated G produces the fakes for the next batch's discriminator and generator updates.</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One training step in PyTorch</a:t>
            </a:r>
            <a:endParaRPr lang="en-US" sz="3200" dirty="0"/>
          </a:p>
        </p:txBody>
      </p:sp>
      <p:sp>
        <p:nvSpPr>
          <p:cNvPr id="6" name="Shape 4"/>
          <p:cNvSpPr/>
          <p:nvPr/>
        </p:nvSpPr>
        <p:spPr>
          <a:xfrm>
            <a:off x="548640" y="1481328"/>
            <a:ext cx="6949440" cy="2114296"/>
          </a:xfrm>
          <a:prstGeom prst="roundRect">
            <a:avLst>
              <a:gd name="adj" fmla="val 4325"/>
            </a:avLst>
          </a:prstGeom>
          <a:solidFill>
            <a:srgbClr val="1E1E2E"/>
          </a:solidFill>
          <a:ln w="12700">
            <a:solidFill>
              <a:srgbClr val="1E1E2E"/>
            </a:solidFill>
            <a:prstDash val="solid"/>
          </a:ln>
        </p:spPr>
      </p:sp>
      <p:sp>
        <p:nvSpPr>
          <p:cNvPr id="7" name="Text 5"/>
          <p:cNvSpPr txBox="1"/>
          <p:nvPr/>
        </p:nvSpPr>
        <p:spPr>
          <a:xfrm>
            <a:off x="685800" y="1591056"/>
            <a:ext cx="6675120" cy="1894840"/>
          </a:xfrm>
          <a:prstGeom prst="rect">
            <a:avLst/>
          </a:prstGeom>
          <a:noFill/>
          <a:ln/>
        </p:spPr>
        <p:txBody>
          <a:bodyPr wrap="square" lIns="76200" tIns="76200" rIns="76200" bIns="76200" rtlCol="0" anchor="t"/>
          <a:lstStyle/>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--- 1. discriminator step: real -&gt; 1, fake -&gt; 0</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fake = G(torch.randn(b, z_dim))</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loss_D = bce(D(x_real), ones) + bce(D(fake.detach()), zeros)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opt_D.zero_grad(); loss_D.backward(); opt_D.step()</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 </a:t>
            </a:r>
            <a:endParaRPr lang="en-US" sz="1300" dirty="0"/>
          </a:p>
          <a:p>
            <a:pPr indent="0" marL="0">
              <a:lnSpc>
                <a:spcPct val="100000"/>
              </a:lnSpc>
              <a:buNone/>
            </a:pPr>
            <a:r>
              <a:rPr lang="en-US" sz="1300" dirty="0">
                <a:solidFill>
                  <a:srgbClr val="9CA3AF"/>
                </a:solidFill>
                <a:latin typeface="Consolas" pitchFamily="34" charset="0"/>
                <a:ea typeface="Consolas" pitchFamily="34" charset="-122"/>
                <a:cs typeface="Consolas" pitchFamily="34" charset="-120"/>
              </a:rPr>
              <a:t># --- 2. generator step (non-saturating): make D call the fakes real</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loss_G = bce(D(fake), ones)</a:t>
            </a:r>
            <a:endParaRPr lang="en-US" sz="1300" dirty="0"/>
          </a:p>
          <a:p>
            <a:pPr indent="0" marL="0">
              <a:lnSpc>
                <a:spcPct val="100000"/>
              </a:lnSpc>
              <a:buNone/>
            </a:pPr>
            <a:r>
              <a:rPr lang="en-US" sz="1300" dirty="0">
                <a:solidFill>
                  <a:srgbClr val="E4E4F0"/>
                </a:solidFill>
                <a:latin typeface="Consolas" pitchFamily="34" charset="0"/>
                <a:ea typeface="Consolas" pitchFamily="34" charset="-122"/>
                <a:cs typeface="Consolas" pitchFamily="34" charset="-120"/>
              </a:rPr>
              <a:t>opt_G.zero_grad(); loss_G.backward(); opt_G.step()</a:t>
            </a:r>
            <a:endParaRPr lang="en-US" sz="13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4F46E5"/>
                </a:solidFill>
                <a:latin typeface="Consolas" pitchFamily="34" charset="0"/>
                <a:ea typeface="Consolas" pitchFamily="34" charset="-122"/>
                <a:cs typeface="Consolas" pitchFamily="34" charset="-120"/>
              </a:rPr>
              <a:t>bce</a:t>
            </a:r>
            <a:pPr indent="0" marL="0">
              <a:buNone/>
            </a:pPr>
            <a:r>
              <a:rPr lang="en-US" sz="1800" dirty="0">
                <a:solidFill>
                  <a:srgbClr val="1F2937"/>
                </a:solidFill>
                <a:latin typeface="Calibri" pitchFamily="34" charset="0"/>
                <a:ea typeface="Calibri" pitchFamily="34" charset="-122"/>
                <a:cs typeface="Calibri" pitchFamily="34" charset="-120"/>
              </a:rPr>
              <a:t> = </a:t>
            </a:r>
            <a:pPr indent="0" marL="0">
              <a:buNone/>
            </a:pPr>
            <a:r>
              <a:rPr lang="en-US" sz="1800" dirty="0">
                <a:solidFill>
                  <a:srgbClr val="4F46E5"/>
                </a:solidFill>
                <a:latin typeface="Consolas" pitchFamily="34" charset="0"/>
                <a:ea typeface="Consolas" pitchFamily="34" charset="-122"/>
                <a:cs typeface="Consolas" pitchFamily="34" charset="-120"/>
              </a:rPr>
              <a:t>BCEWithLogitsLoss</a:t>
            </a:r>
            <a:pPr indent="0" marL="0">
              <a:buNone/>
            </a:pPr>
            <a:r>
              <a:rPr lang="en-US" sz="1800" dirty="0">
                <a:solidFill>
                  <a:srgbClr val="1F2937"/>
                </a:solidFill>
                <a:latin typeface="Calibri" pitchFamily="34" charset="0"/>
                <a:ea typeface="Calibri" pitchFamily="34" charset="-122"/>
                <a:cs typeface="Calibri" pitchFamily="34" charset="-120"/>
              </a:rPr>
              <a:t>; D outputs a logit.</a:t>
            </a:r>
            <a:endParaRPr lang="en-US" sz="1800" dirty="0"/>
          </a:p>
          <a:p>
            <a:pPr marL="254000" indent="-254000">
              <a:spcAft>
                <a:spcPts val="800"/>
              </a:spcAft>
              <a:buSzPct val="100000"/>
              <a:buChar char="●"/>
            </a:pPr>
            <a:r>
              <a:rPr lang="en-US" sz="1800" dirty="0">
                <a:solidFill>
                  <a:srgbClr val="4F46E5"/>
                </a:solidFill>
                <a:latin typeface="Consolas" pitchFamily="34" charset="0"/>
                <a:ea typeface="Consolas" pitchFamily="34" charset="-122"/>
                <a:cs typeface="Consolas" pitchFamily="34" charset="-120"/>
              </a:rPr>
              <a:t>.detach()</a:t>
            </a:r>
            <a:pPr indent="0" marL="0">
              <a:buNone/>
            </a:pPr>
            <a:r>
              <a:rPr lang="en-US" sz="1800" dirty="0">
                <a:solidFill>
                  <a:srgbClr val="1F2937"/>
                </a:solidFill>
                <a:latin typeface="Calibri" pitchFamily="34" charset="0"/>
                <a:ea typeface="Calibri" pitchFamily="34" charset="-122"/>
                <a:cs typeface="Calibri" pitchFamily="34" charset="-120"/>
              </a:rPr>
              <a:t> stops the D step from updating 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The G step labels fakes as </a:t>
            </a:r>
            <a:pPr indent="0" marL="0">
              <a:buNone/>
            </a:pPr>
            <a:r>
              <a:rPr lang="en-US" sz="1800" b="1" dirty="0">
                <a:solidFill>
                  <a:srgbClr val="1F2937"/>
                </a:solidFill>
                <a:latin typeface="Calibri" pitchFamily="34" charset="0"/>
                <a:ea typeface="Calibri" pitchFamily="34" charset="-122"/>
                <a:cs typeface="Calibri" pitchFamily="34" charset="-120"/>
              </a:rPr>
              <a:t>real</a:t>
            </a:r>
            <a:pPr indent="0" marL="0">
              <a:buNone/>
            </a:pPr>
            <a:r>
              <a:rPr lang="en-US" sz="1800" dirty="0">
                <a:solidFill>
                  <a:srgbClr val="1F2937"/>
                </a:solidFill>
                <a:latin typeface="Calibri" pitchFamily="34" charset="0"/>
                <a:ea typeface="Calibri" pitchFamily="34" charset="-122"/>
                <a:cs typeface="Calibri" pitchFamily="34" charset="-120"/>
              </a:rPr>
              <a:t>: that is the non-saturating loss.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DCGAN settings: Adam, lr 2 × 10⁻⁴, β₁ = 0.5.</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At the theoretical equilibrium of a GAN, what does the optimal discriminator output for any input?</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1 for real images and 0 for fakes</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0.5 everywhere, because real and generated data are indistinguishable</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The class label of the image</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log 4</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challenges and fixes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Why are GANs notoriously hard to train, and what helps?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training curves: losses do not tell you quality</a:t>
            </a:r>
            <a:endParaRPr lang="en-US" sz="3200" dirty="0"/>
          </a:p>
        </p:txBody>
      </p:sp>
      <p:pic>
        <p:nvPicPr>
          <p:cNvPr id="6" name="Image 0" descr="C:\Users\sudee\Downloads\Generative_AI_2027_Teaching_Pack\AI2027_Project\build\figures\week_03\losses.png">    </p:cNvPr>
          <p:cNvPicPr>
            <a:picLocks noChangeAspect="1"/>
          </p:cNvPicPr>
          <p:nvPr/>
        </p:nvPicPr>
        <p:blipFill>
          <a:blip r:embed="rId1"/>
          <a:stretch>
            <a:fillRect/>
          </a:stretch>
        </p:blipFill>
        <p:spPr>
          <a:xfrm>
            <a:off x="1951343" y="1481328"/>
            <a:ext cx="8289010"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Losses oscillate instead of decreasing: each player's gain is the other's loss.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D(real) stays above D(fake): the discriminator keeps an edge; neither saturates at 0 or 1.</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Judge progress by </a:t>
            </a:r>
            <a:pPr indent="0" marL="0">
              <a:buNone/>
            </a:pPr>
            <a:r>
              <a:rPr lang="en-US" sz="1800" b="1" dirty="0">
                <a:solidFill>
                  <a:srgbClr val="1F2937"/>
                </a:solidFill>
                <a:latin typeface="Calibri" pitchFamily="34" charset="0"/>
                <a:ea typeface="Calibri" pitchFamily="34" charset="-122"/>
                <a:cs typeface="Calibri" pitchFamily="34" charset="-120"/>
              </a:rPr>
              <a:t>looking at samples</a:t>
            </a:r>
            <a:pPr indent="0" marL="0">
              <a:buNone/>
            </a:pPr>
            <a:r>
              <a:rPr lang="en-US" sz="1800" dirty="0">
                <a:solidFill>
                  <a:srgbClr val="1F2937"/>
                </a:solidFill>
                <a:latin typeface="Calibri" pitchFamily="34" charset="0"/>
                <a:ea typeface="Calibri" pitchFamily="34" charset="-122"/>
                <a:cs typeface="Calibri" pitchFamily="34" charset="-120"/>
              </a:rPr>
              <a:t> and by metrics such as FID, not by the loss.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Mode collapse, seen in a real experiment</a:t>
            </a:r>
            <a:endParaRPr lang="en-US" sz="3200" dirty="0"/>
          </a:p>
        </p:txBody>
      </p:sp>
      <p:pic>
        <p:nvPicPr>
          <p:cNvPr id="6" name="Image 0" descr="C:\Users\sudee\Downloads\Generative_AI_2027_Teaching_Pack\AI2027_Project\build\figures\week_03\mode_collapse.png">    </p:cNvPr>
          <p:cNvPicPr>
            <a:picLocks noChangeAspect="1"/>
          </p:cNvPicPr>
          <p:nvPr/>
        </p:nvPicPr>
        <p:blipFill>
          <a:blip r:embed="rId1"/>
          <a:stretch>
            <a:fillRect/>
          </a:stretch>
        </p:blipFill>
        <p:spPr>
          <a:xfrm>
            <a:off x="1997303" y="1481328"/>
            <a:ext cx="8197089"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Target: 8 Gaussian clusters on a ring (grey). Blue/green: 1,500 generated points at each training step, same network sizes.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Failure modes: symptoms and remedies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362200"/>
                <a:gridCol w="4010354"/>
                <a:gridCol w="4721861"/>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Symptom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Common remedies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Mode collapse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Samples look alike; some classes never appear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Wasserstein loss, minibatch statistics in D, unrolled or ensembled D, more diverse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Vanishing gradients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D(fake) ≈ 0, G stops improving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Non-saturating loss, weaker or regularised D, Wasserstein loss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Non-convergence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Samples keep changing style; losses oscillate wildly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Lower learning rates, TTUR, spectral normalisation, EMA of G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D overfits (small data)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D(real) → 1 on training data only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Data augmentation applied to both real and fake images (e.g. ADA)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Artefacts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Checkerboard patterns, texture sticking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Resize-then-convolve upsampling; improved architectures (StyleGAN2/3)</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Wasserstein GAN with gradient penalty (WGAN-GP)</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19240e35ab1d6232.png">    </p:cNvPr>
          <p:cNvPicPr>
            <a:picLocks noChangeAspect="1"/>
          </p:cNvPicPr>
          <p:nvPr/>
        </p:nvPicPr>
        <p:blipFill>
          <a:blip r:embed="rId1"/>
          <a:stretch>
            <a:fillRect/>
          </a:stretch>
        </p:blipFill>
        <p:spPr>
          <a:xfrm>
            <a:off x="3608680" y="1913128"/>
            <a:ext cx="4974336" cy="536448"/>
          </a:xfrm>
          <a:prstGeom prst="rect">
            <a:avLst/>
          </a:prstGeom>
        </p:spPr>
      </p:pic>
      <p:pic>
        <p:nvPicPr>
          <p:cNvPr id="8" name="Image 1" descr="C:\Users\sudee\Downloads\Generative_AI_2027_Teaching_Pack\AI2027_Project\build\eq\a90d6af3e95f5eb0.png">    </p:cNvPr>
          <p:cNvPicPr>
            <a:picLocks noChangeAspect="1"/>
          </p:cNvPicPr>
          <p:nvPr/>
        </p:nvPicPr>
        <p:blipFill>
          <a:blip r:embed="rId2"/>
          <a:stretch>
            <a:fillRect/>
          </a:stretch>
        </p:blipFill>
        <p:spPr>
          <a:xfrm>
            <a:off x="4582516" y="2835656"/>
            <a:ext cx="3026664" cy="408432"/>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The critic D outputs an unbounded </a:t>
            </a:r>
            <a:pPr indent="0" marL="0">
              <a:buNone/>
            </a:pPr>
            <a:r>
              <a:rPr lang="en-US" sz="1400" b="1" dirty="0">
                <a:solidFill>
                  <a:srgbClr val="1F2937"/>
                </a:solidFill>
                <a:latin typeface="Calibri" pitchFamily="34" charset="0"/>
                <a:ea typeface="Calibri" pitchFamily="34" charset="-122"/>
                <a:cs typeface="Calibri" pitchFamily="34" charset="-120"/>
              </a:rPr>
              <a:t>score</a:t>
            </a:r>
            <a:pPr indent="0" marL="0">
              <a:buNone/>
            </a:pPr>
            <a:r>
              <a:rPr lang="en-US" sz="1400" dirty="0">
                <a:solidFill>
                  <a:srgbClr val="1F2937"/>
                </a:solidFill>
                <a:latin typeface="Calibri" pitchFamily="34" charset="0"/>
                <a:ea typeface="Calibri" pitchFamily="34" charset="-122"/>
                <a:cs typeface="Calibri" pitchFamily="34" charset="-120"/>
              </a:rPr>
              <a:t>, not a probability; the gap in average scores estimates the </a:t>
            </a:r>
            <a:pPr indent="0" marL="0">
              <a:buNone/>
            </a:pPr>
            <a:r>
              <a:rPr lang="en-US" sz="1400" b="1" dirty="0">
                <a:solidFill>
                  <a:srgbClr val="1F2937"/>
                </a:solidFill>
                <a:latin typeface="Calibri" pitchFamily="34" charset="0"/>
                <a:ea typeface="Calibri" pitchFamily="34" charset="-122"/>
                <a:cs typeface="Calibri" pitchFamily="34" charset="-120"/>
              </a:rPr>
              <a:t>Wasserstein (earth-mover) distance</a:t>
            </a:r>
            <a:pPr indent="0" marL="0">
              <a:buNone/>
            </a:pPr>
            <a:r>
              <a:rPr lang="en-US" sz="1400" dirty="0">
                <a:solidFill>
                  <a:srgbClr val="1F2937"/>
                </a:solidFill>
                <a:latin typeface="Calibri" pitchFamily="34" charset="0"/>
                <a:ea typeface="Calibri" pitchFamily="34" charset="-122"/>
                <a:cs typeface="Calibri" pitchFamily="34" charset="-120"/>
              </a:rPr>
              <a:t>.</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It gives useful gradients even when the two distributions do not overlap, which is where JSD saturates.</a:t>
            </a:r>
            <a:endParaRPr lang="en-US" sz="1400" dirty="0"/>
          </a:p>
          <a:p>
            <a:pPr marL="254000" indent="-254000">
              <a:spcAft>
                <a:spcPts val="800"/>
              </a:spcAft>
              <a:buSzPct val="100000"/>
              <a:buChar char="●"/>
            </a:pPr>
            <a:r>
              <a:rPr lang="en-US" sz="1400" dirty="0">
                <a:solidFill>
                  <a:srgbClr val="1F2937"/>
                </a:solidFill>
                <a:latin typeface="Calibri" pitchFamily="34" charset="0"/>
                <a:ea typeface="Calibri" pitchFamily="34" charset="-122"/>
                <a:cs typeface="Calibri" pitchFamily="34" charset="-120"/>
              </a:rPr>
              <a:t>The second term (added to the critic's loss, λ = 10) keeps D smooth (1-Lipschitz) on points x̂ between real and fake samples.</a:t>
            </a:r>
            <a:endParaRPr lang="en-US" sz="14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Lipschitz</a:t>
            </a:r>
            <a:endParaRPr lang="en-US" sz="17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D is 1-Lipschitz: its slope is at most 1</a:t>
            </a:r>
            <a:endParaRPr lang="en-US" sz="16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a:t>
            </a:r>
            <a:endParaRPr lang="en-US" sz="17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random mix of a real and a fake sample</a:t>
            </a:r>
            <a:endParaRPr lang="en-US" sz="16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λ</a:t>
            </a:r>
            <a:endParaRPr lang="en-US" sz="17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penalty weight, typically 10</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Stabilisation techniques you will meet</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Wasserstein loss + GP</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Smooth distance with useful gradients; reduces mode collapse (Gulrajani et al., 2017).</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Spectral normalisation</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Divide each D layer's weights by their largest singular value: a cheap way to keep D Lipschitz.</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TTUR</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Different learning rates for D and G; provably converges under assumptions (Heusel et al., 2017).</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EMA of G weights</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Generate with a moving average of generator weights: smoother, better samples at no training cost.</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Augmentation (ADA)</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Augment real and fake images seen by D, so it cannot memorise a small dataset.</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R1 penalty</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Penalise D's gradient on real data; the default regulariser in StyleGAN2.</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Your MNIST GAN produces sharp digits, but almost all of them are 1s and 7s. What is the most appropriate first step?</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Train for many more epochs with the same settings</a:t>
            </a:r>
            <a:endParaRPr lang="en-US" sz="17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Diagnose mode collapse (class histogram of samples), then try a Wasserstein loss with gradient penalty or spectral normalisation</a:t>
            </a:r>
            <a:endParaRPr lang="en-US" sz="17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Remove the discriminator and train the generator with pixel-wise MSE</a:t>
            </a:r>
            <a:endParaRPr lang="en-US" sz="17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Raise the sampling temperature</a:t>
            </a:r>
            <a:endParaRPr lang="en-US" sz="17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Variants: from DCGAN to StyleGAN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did GANs go from blurry digits to photorealistic faces?</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DCGAN: the architecture that made GANs work on images</a:t>
            </a:r>
            <a:endParaRPr lang="en-US" sz="3200" dirty="0"/>
          </a:p>
        </p:txBody>
      </p:sp>
      <p:pic>
        <p:nvPicPr>
          <p:cNvPr id="6" name="Image 0" descr="C:\Users\sudee\Downloads\Generative_AI_2027_Teaching_Pack\AI2027_Project\build\figures\week_03\dcgan_arch.png">    </p:cNvPr>
          <p:cNvPicPr>
            <a:picLocks noChangeAspect="1"/>
          </p:cNvPicPr>
          <p:nvPr/>
        </p:nvPicPr>
        <p:blipFill>
          <a:blip r:embed="rId1"/>
          <a:stretch>
            <a:fillRect/>
          </a:stretch>
        </p:blipFill>
        <p:spPr>
          <a:xfrm>
            <a:off x="548640" y="1846922"/>
            <a:ext cx="11094415" cy="409684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DCGAN samples across training epochs</a:t>
            </a:r>
            <a:endParaRPr lang="en-US" sz="3200" dirty="0"/>
          </a:p>
        </p:txBody>
      </p:sp>
      <p:pic>
        <p:nvPicPr>
          <p:cNvPr id="6" name="Image 0" descr="C:\Users\sudee\Downloads\Generative_AI_2027_Teaching_Pack\AI2027_Project\build\figures\week_03\epochs.png">    </p:cNvPr>
          <p:cNvPicPr>
            <a:picLocks noChangeAspect="1"/>
          </p:cNvPicPr>
          <p:nvPr/>
        </p:nvPicPr>
        <p:blipFill>
          <a:blip r:embed="rId1"/>
          <a:stretch>
            <a:fillRect/>
          </a:stretch>
        </p:blipFill>
        <p:spPr>
          <a:xfrm>
            <a:off x="2114635" y="1481328"/>
            <a:ext cx="7962425"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The same 16 noise vectors decoded after each epoch (MNIST, CPU training).</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Conditional GANs: choose what to generate</a:t>
            </a:r>
            <a:endParaRPr lang="en-US" sz="3200" dirty="0"/>
          </a:p>
        </p:txBody>
      </p:sp>
      <p:pic>
        <p:nvPicPr>
          <p:cNvPr id="6" name="Image 0" descr="C:\Users\sudee\Downloads\Generative_AI_2027_Teaching_Pack\AI2027_Project\build\figures\week_03\cgan.png">    </p:cNvPr>
          <p:cNvPicPr>
            <a:picLocks noChangeAspect="1"/>
          </p:cNvPicPr>
          <p:nvPr/>
        </p:nvPicPr>
        <p:blipFill>
          <a:blip r:embed="rId1"/>
          <a:stretch>
            <a:fillRect/>
          </a:stretch>
        </p:blipFill>
        <p:spPr>
          <a:xfrm>
            <a:off x="548640" y="1523528"/>
            <a:ext cx="11094415" cy="3282878"/>
          </a:xfrm>
          <a:prstGeom prst="rect">
            <a:avLst/>
          </a:prstGeom>
        </p:spPr>
      </p:pic>
      <p:sp>
        <p:nvSpPr>
          <p:cNvPr id="7" name="Text 4"/>
          <p:cNvSpPr txBox="1"/>
          <p:nvPr/>
        </p:nvSpPr>
        <p:spPr>
          <a:xfrm>
            <a:off x="548640" y="4989286"/>
            <a:ext cx="11094415" cy="1320074"/>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Feed a condition y to </a:t>
            </a:r>
            <a:pPr indent="0" marL="0">
              <a:buNone/>
            </a:pPr>
            <a:r>
              <a:rPr lang="en-US" sz="1900" b="1" dirty="0">
                <a:solidFill>
                  <a:srgbClr val="1F2937"/>
                </a:solidFill>
                <a:latin typeface="Calibri" pitchFamily="34" charset="0"/>
                <a:ea typeface="Calibri" pitchFamily="34" charset="-122"/>
                <a:cs typeface="Calibri" pitchFamily="34" charset="-120"/>
              </a:rPr>
              <a:t>both</a:t>
            </a:r>
            <a:pPr indent="0" marL="0">
              <a:buNone/>
            </a:pPr>
            <a:r>
              <a:rPr lang="en-US" sz="1900" dirty="0">
                <a:solidFill>
                  <a:srgbClr val="1F2937"/>
                </a:solidFill>
                <a:latin typeface="Calibri" pitchFamily="34" charset="0"/>
                <a:ea typeface="Calibri" pitchFamily="34" charset="-122"/>
                <a:cs typeface="Calibri" pitchFamily="34" charset="-120"/>
              </a:rPr>
              <a:t> networks: G(z, y) and D(x, y).</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D must check that x is real </a:t>
            </a:r>
            <a:pPr indent="0" marL="0">
              <a:buNone/>
            </a:pPr>
            <a:r>
              <a:rPr lang="en-US" sz="1900" b="1" dirty="0">
                <a:solidFill>
                  <a:srgbClr val="1F2937"/>
                </a:solidFill>
                <a:latin typeface="Calibri" pitchFamily="34" charset="0"/>
                <a:ea typeface="Calibri" pitchFamily="34" charset="-122"/>
                <a:cs typeface="Calibri" pitchFamily="34" charset="-120"/>
              </a:rPr>
              <a:t>and</a:t>
            </a:r>
            <a:pPr indent="0" marL="0">
              <a:buNone/>
            </a:pPr>
            <a:r>
              <a:rPr lang="en-US" sz="1900" dirty="0">
                <a:solidFill>
                  <a:srgbClr val="1F2937"/>
                </a:solidFill>
                <a:latin typeface="Calibri" pitchFamily="34" charset="0"/>
                <a:ea typeface="Calibri" pitchFamily="34" charset="-122"/>
                <a:cs typeface="Calibri" pitchFamily="34" charset="-120"/>
              </a:rPr>
              <a:t> matches y, so G learns to respect the condition.</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Conditions: class labels, text, sketches, segmentation maps, other images.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Landmark GAN variants</a:t>
            </a:r>
            <a:endParaRPr lang="en-US" sz="3200" dirty="0"/>
          </a:p>
        </p:txBody>
      </p:sp>
      <p:sp>
        <p:nvSpPr>
          <p:cNvPr id="6" name="Shape 4"/>
          <p:cNvSpPr/>
          <p:nvPr/>
        </p:nvSpPr>
        <p:spPr>
          <a:xfrm>
            <a:off x="548640" y="1481328"/>
            <a:ext cx="541004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pix2pix (2017)</a:t>
            </a:r>
            <a:endParaRPr lang="en-US" sz="1900" dirty="0"/>
          </a:p>
        </p:txBody>
      </p:sp>
      <p:sp>
        <p:nvSpPr>
          <p:cNvPr id="10" name="Text 7"/>
          <p:cNvSpPr txBox="1"/>
          <p:nvPr/>
        </p:nvSpPr>
        <p:spPr>
          <a:xfrm>
            <a:off x="731520"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Paired image-to-image translation: sketch → photo, map → aerial. Conditional GAN + L1 loss.</a:t>
            </a:r>
            <a:endParaRPr lang="en-US" sz="1900" dirty="0"/>
          </a:p>
        </p:txBody>
      </p:sp>
      <p:sp>
        <p:nvSpPr>
          <p:cNvPr id="11" name="Shape 8"/>
          <p:cNvSpPr/>
          <p:nvPr/>
        </p:nvSpPr>
        <p:spPr>
          <a:xfrm>
            <a:off x="6233008" y="1481328"/>
            <a:ext cx="541004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641588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6547561" y="1795882"/>
            <a:ext cx="285293" cy="285293"/>
          </a:xfrm>
          <a:prstGeom prst="rect">
            <a:avLst/>
          </a:prstGeom>
        </p:spPr>
      </p:pic>
      <p:sp>
        <p:nvSpPr>
          <p:cNvPr id="14" name="Text 10"/>
          <p:cNvSpPr txBox="1"/>
          <p:nvPr/>
        </p:nvSpPr>
        <p:spPr>
          <a:xfrm>
            <a:off x="7055968" y="1645920"/>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CycleGAN (2017)</a:t>
            </a:r>
            <a:endParaRPr lang="en-US" sz="1900" dirty="0"/>
          </a:p>
        </p:txBody>
      </p:sp>
      <p:sp>
        <p:nvSpPr>
          <p:cNvPr id="15" name="Text 11"/>
          <p:cNvSpPr txBox="1"/>
          <p:nvPr/>
        </p:nvSpPr>
        <p:spPr>
          <a:xfrm>
            <a:off x="6415888" y="2304288"/>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Unpaired translation (horse ↔ zebra, summer ↔ winter) using a cycle-consistency loss.</a:t>
            </a:r>
            <a:endParaRPr lang="en-US" sz="1900" dirty="0"/>
          </a:p>
        </p:txBody>
      </p:sp>
      <p:sp>
        <p:nvSpPr>
          <p:cNvPr id="16" name="Shape 12"/>
          <p:cNvSpPr/>
          <p:nvPr/>
        </p:nvSpPr>
        <p:spPr>
          <a:xfrm>
            <a:off x="548640" y="4032504"/>
            <a:ext cx="541004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731520" y="4215384"/>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63194" y="4347058"/>
            <a:ext cx="285293" cy="285293"/>
          </a:xfrm>
          <a:prstGeom prst="rect">
            <a:avLst/>
          </a:prstGeom>
        </p:spPr>
      </p:pic>
      <p:sp>
        <p:nvSpPr>
          <p:cNvPr id="19" name="Text 14"/>
          <p:cNvSpPr txBox="1"/>
          <p:nvPr/>
        </p:nvSpPr>
        <p:spPr>
          <a:xfrm>
            <a:off x="1371600"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StyleGAN (2019–21)</a:t>
            </a:r>
            <a:endParaRPr lang="en-US" sz="1900" dirty="0"/>
          </a:p>
        </p:txBody>
      </p:sp>
      <p:sp>
        <p:nvSpPr>
          <p:cNvPr id="20" name="Text 15"/>
          <p:cNvSpPr txBox="1"/>
          <p:nvPr/>
        </p:nvSpPr>
        <p:spPr>
          <a:xfrm>
            <a:off x="731520"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Mapping network + style injection per layer: photorealistic faces, controllable coarse-to-fine styles.</a:t>
            </a:r>
            <a:endParaRPr lang="en-US" sz="1900" dirty="0"/>
          </a:p>
        </p:txBody>
      </p:sp>
      <p:sp>
        <p:nvSpPr>
          <p:cNvPr id="21" name="Shape 16"/>
          <p:cNvSpPr/>
          <p:nvPr/>
        </p:nvSpPr>
        <p:spPr>
          <a:xfrm>
            <a:off x="6233008" y="4032504"/>
            <a:ext cx="541004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6415888"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6547561" y="4347058"/>
            <a:ext cx="285293" cy="285293"/>
          </a:xfrm>
          <a:prstGeom prst="rect">
            <a:avLst/>
          </a:prstGeom>
        </p:spPr>
      </p:pic>
      <p:sp>
        <p:nvSpPr>
          <p:cNvPr id="24" name="Text 18"/>
          <p:cNvSpPr txBox="1"/>
          <p:nvPr/>
        </p:nvSpPr>
        <p:spPr>
          <a:xfrm>
            <a:off x="7055968" y="4197096"/>
            <a:ext cx="444992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BigGAN (2018)</a:t>
            </a:r>
            <a:endParaRPr lang="en-US" sz="1900" dirty="0"/>
          </a:p>
        </p:txBody>
      </p:sp>
      <p:sp>
        <p:nvSpPr>
          <p:cNvPr id="25" name="Text 19"/>
          <p:cNvSpPr txBox="1"/>
          <p:nvPr/>
        </p:nvSpPr>
        <p:spPr>
          <a:xfrm>
            <a:off x="6415888" y="4855464"/>
            <a:ext cx="504428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Class-conditional ImageNet generation at scale: large batches, truncation trick for quality vs. diversity.</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CycleGAN's key idea: cycle consistency</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572ba1c329f4a635.png">    </p:cNvPr>
          <p:cNvPicPr>
            <a:picLocks noChangeAspect="1"/>
          </p:cNvPicPr>
          <p:nvPr/>
        </p:nvPicPr>
        <p:blipFill>
          <a:blip r:embed="rId1"/>
          <a:stretch>
            <a:fillRect/>
          </a:stretch>
        </p:blipFill>
        <p:spPr>
          <a:xfrm>
            <a:off x="3154528" y="1961388"/>
            <a:ext cx="5882640" cy="36576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 translates domain X → Y (horse → zebra); F translates Y → X.</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Going there and back should return the original image; this stops G from ignoring the input.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Total loss = two adversarial losses (one per domain) + λ · cycle loss.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G, F</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two translators</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‖·‖₁</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sum of absolute pixel differences</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Latent interpolation in a GAN</a:t>
            </a:r>
            <a:endParaRPr lang="en-US" sz="3200" dirty="0"/>
          </a:p>
        </p:txBody>
      </p:sp>
      <p:pic>
        <p:nvPicPr>
          <p:cNvPr id="6" name="Image 0" descr="C:\Users\sudee\Downloads\Generative_AI_2027_Teaching_Pack\AI2027_Project\build\figures\week_03\interpolation.png">    </p:cNvPr>
          <p:cNvPicPr>
            <a:picLocks noChangeAspect="1"/>
          </p:cNvPicPr>
          <p:nvPr/>
        </p:nvPicPr>
        <p:blipFill>
          <a:blip r:embed="rId1"/>
          <a:stretch>
            <a:fillRect/>
          </a:stretch>
        </p:blipFill>
        <p:spPr>
          <a:xfrm>
            <a:off x="548640" y="1624949"/>
            <a:ext cx="11094415" cy="3080036"/>
          </a:xfrm>
          <a:prstGeom prst="rect">
            <a:avLst/>
          </a:prstGeom>
        </p:spPr>
      </p:pic>
      <p:sp>
        <p:nvSpPr>
          <p:cNvPr id="7" name="Text 4"/>
          <p:cNvSpPr txBox="1"/>
          <p:nvPr/>
        </p:nvSpPr>
        <p:spPr>
          <a:xfrm>
            <a:off x="548640" y="4887865"/>
            <a:ext cx="11094415" cy="1421495"/>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Straight lines between random noise vectors give smooth transitions, as in the VAE.</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GANs have </a:t>
            </a:r>
            <a:pPr indent="0" marL="0">
              <a:buNone/>
            </a:pPr>
            <a:r>
              <a:rPr lang="en-US" sz="1900" b="1" dirty="0">
                <a:solidFill>
                  <a:srgbClr val="1F2937"/>
                </a:solidFill>
                <a:latin typeface="Calibri" pitchFamily="34" charset="0"/>
                <a:ea typeface="Calibri" pitchFamily="34" charset="-122"/>
                <a:cs typeface="Calibri" pitchFamily="34" charset="-120"/>
              </a:rPr>
              <a:t>no encoder</a:t>
            </a:r>
            <a:pPr indent="0" marL="0">
              <a:buNone/>
            </a:pPr>
            <a:r>
              <a:rPr lang="en-US" sz="1900" dirty="0">
                <a:solidFill>
                  <a:srgbClr val="1F2937"/>
                </a:solidFill>
                <a:latin typeface="Calibri" pitchFamily="34" charset="0"/>
                <a:ea typeface="Calibri" pitchFamily="34" charset="-122"/>
                <a:cs typeface="Calibri" pitchFamily="34" charset="-120"/>
              </a:rPr>
              <a:t>: to edit a real image you must first find its z (GAN inversion).</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StyleGAN's style space made interpolation and attribute editing (age, smile, pose) practical.</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Evaluation, applications and risks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good is a generator, and where are GANs used in 2026?</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Fréchet Inception Distance (FID)</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db62d9b2e665dc3a.png">    </p:cNvPr>
          <p:cNvPicPr>
            <a:picLocks noChangeAspect="1"/>
          </p:cNvPicPr>
          <p:nvPr/>
        </p:nvPicPr>
        <p:blipFill>
          <a:blip r:embed="rId1"/>
          <a:stretch>
            <a:fillRect/>
          </a:stretch>
        </p:blipFill>
        <p:spPr>
          <a:xfrm>
            <a:off x="3249016" y="1933956"/>
            <a:ext cx="5693664" cy="42062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Embed real and generated images with a pretrained network (Inception-v3, 2048 features).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Fit a Gaussian to each set; FID is the Fréchet distance between the two Gaussians. </a:t>
            </a:r>
            <a:pPr indent="0" marL="0">
              <a:buNone/>
            </a:pPr>
            <a:r>
              <a:rPr lang="en-US" sz="1900" b="1" dirty="0">
                <a:solidFill>
                  <a:srgbClr val="1F2937"/>
                </a:solidFill>
                <a:latin typeface="Calibri" pitchFamily="34" charset="0"/>
                <a:ea typeface="Calibri" pitchFamily="34" charset="-122"/>
                <a:cs typeface="Calibri" pitchFamily="34" charset="-120"/>
              </a:rPr>
              <a:t>Lower is better</a:t>
            </a:r>
            <a:pPr indent="0" marL="0">
              <a:buNone/>
            </a:pPr>
            <a:r>
              <a:rPr lang="en-US" sz="1900" dirty="0">
                <a:solidFill>
                  <a:srgbClr val="1F2937"/>
                </a:solidFill>
                <a:latin typeface="Calibri" pitchFamily="34" charset="0"/>
                <a:ea typeface="Calibri" pitchFamily="34" charset="-122"/>
                <a:cs typeface="Calibri" pitchFamily="34" charset="-120"/>
              </a:rPr>
              <a:t>; 0 means identical statistics.</a:t>
            </a:r>
            <a:endParaRPr lang="en-US" sz="1900" dirty="0"/>
          </a:p>
          <a:p>
            <a:pPr marL="254000" indent="-254000">
              <a:spcAft>
                <a:spcPts val="800"/>
              </a:spcAft>
              <a:buSzPct val="100000"/>
              <a:buChar char="●"/>
            </a:pPr>
            <a:r>
              <a:rPr lang="en-US" sz="1900" dirty="0">
                <a:solidFill>
                  <a:srgbClr val="1F2937"/>
                </a:solidFill>
                <a:latin typeface="Calibri" pitchFamily="34" charset="0"/>
                <a:ea typeface="Calibri" pitchFamily="34" charset="-122"/>
                <a:cs typeface="Calibri" pitchFamily="34" charset="-120"/>
              </a:rPr>
              <a:t>Captures quality (means) and diversity (covariances); needs thousands of samples; depends on the feature network.</a:t>
            </a:r>
            <a:endParaRPr lang="en-US" sz="19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μ (r, g)</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mean feature vectors, real and generated</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Σ (r, g)</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feature covariance matrices</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Tr</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trace (sum of the diagonal)</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FID measures, in feature space</a:t>
            </a:r>
            <a:endParaRPr lang="en-US" sz="3200" dirty="0"/>
          </a:p>
        </p:txBody>
      </p:sp>
      <p:pic>
        <p:nvPicPr>
          <p:cNvPr id="6" name="Image 0" descr="C:\Users\sudee\Downloads\Generative_AI_2027_Teaching_Pack\AI2027_Project\build\figures\week_03\fid.png">    </p:cNvPr>
          <p:cNvPicPr>
            <a:picLocks noChangeAspect="1"/>
          </p:cNvPicPr>
          <p:nvPr/>
        </p:nvPicPr>
        <p:blipFill>
          <a:blip r:embed="rId1"/>
          <a:stretch>
            <a:fillRect/>
          </a:stretch>
        </p:blipFill>
        <p:spPr>
          <a:xfrm>
            <a:off x="774481" y="1481328"/>
            <a:ext cx="10642734" cy="4828032"/>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GANs: the main tools</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888411"/>
                <a:gridCol w="4484976"/>
                <a:gridCol w="4721028"/>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it captures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Limitations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FID (lower is better)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Quality and diversity via feature statistics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Needs ~10k samples; ImageNet features; one number mixes two aspects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Inception Score (higher)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Confident and varied class predictions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Ignores real data; fooled by class-diverse but unrealistic images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Precision &amp; recall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Separately: fidelity (precision) and coverage (recall)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Depends on feature space and neighbourhood size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KID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Like FID but unbiased for small sample sizes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Less widely reported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Human evaluation</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Realism, preference, task fit (e.g. 2-alternative choice)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Costly; needs a rubric, several raters and agreement statistics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GANs are used in 2026</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Super-resolution</a:t>
            </a:r>
            <a:endParaRPr lang="en-US" sz="19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Upscaling and restoring photos and video (e.g. Real-ESRGAN): one fast forward pass.</a:t>
            </a:r>
            <a:endParaRPr lang="en-US" sz="19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Fast diffusion</a:t>
            </a:r>
            <a:endParaRPr lang="en-US" sz="19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Adversarial diffusion distillation turns 50-step diffusion into 1–4-step generators (e.g. SDXL-Turbo).</a:t>
            </a:r>
            <a:endParaRPr lang="en-US" sz="19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Sharper autoencoders</a:t>
            </a:r>
            <a:endParaRPr lang="en-US" sz="19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Adversarial losses keep the VAE/VQ decoders inside latent diffusion and image tokenizers sharp.</a:t>
            </a:r>
            <a:endParaRPr lang="en-US" sz="19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Audio vocoders</a:t>
            </a:r>
            <a:endParaRPr lang="en-US" sz="19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GAN vocoders (e.g. HiFi-GAN) turn spectrograms into natural speech in real time.</a:t>
            </a:r>
            <a:endParaRPr lang="en-US" sz="19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Image translation</a:t>
            </a:r>
            <a:endParaRPr lang="en-US" sz="19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Domain adaptation, style transfer and simulation-to-real for robotics and medical imaging.</a:t>
            </a:r>
            <a:endParaRPr lang="en-US" sz="19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Synthetic data</a:t>
            </a:r>
            <a:endParaRPr lang="en-US" sz="19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Augmenting rare classes; tabular data generators, with privacy checks.</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deepfakes and synthetic media</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StyleGAN-quality faces (2019) made fake profile photos trivial; face-swap and voice-cloning tools followed.</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Harms: fraud, harassment and non-consensual imagery, political disinformation, and the </a:t>
            </a:r>
            <a:pPr indent="0" marL="0">
              <a:buNone/>
            </a:pPr>
            <a:r>
              <a:rPr lang="en-US" sz="2200" b="1" dirty="0">
                <a:solidFill>
                  <a:srgbClr val="1F2937"/>
                </a:solidFill>
                <a:latin typeface="Calibri" pitchFamily="34" charset="0"/>
                <a:ea typeface="Calibri" pitchFamily="34" charset="-122"/>
                <a:cs typeface="Calibri" pitchFamily="34" charset="-120"/>
              </a:rPr>
              <a:t>liar's dividend</a:t>
            </a:r>
            <a:pPr indent="0" marL="0">
              <a:buNone/>
            </a:pPr>
            <a:r>
              <a:rPr lang="en-US" sz="2200" dirty="0">
                <a:solidFill>
                  <a:srgbClr val="1F2937"/>
                </a:solidFill>
                <a:latin typeface="Calibri" pitchFamily="34" charset="0"/>
                <a:ea typeface="Calibri" pitchFamily="34" charset="-122"/>
                <a:cs typeface="Calibri" pitchFamily="34" charset="-120"/>
              </a:rPr>
              <a:t> (real evidence dismissed as fake).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Detection is an arms race</a:t>
            </a:r>
            <a:pPr indent="0" marL="0">
              <a:buNone/>
            </a:pPr>
            <a:r>
              <a:rPr lang="en-US" sz="2200" dirty="0">
                <a:solidFill>
                  <a:srgbClr val="1F2937"/>
                </a:solidFill>
                <a:latin typeface="Calibri" pitchFamily="34" charset="0"/>
                <a:ea typeface="Calibri" pitchFamily="34" charset="-122"/>
                <a:cs typeface="Calibri" pitchFamily="34" charset="-120"/>
              </a:rPr>
              <a:t>: detectors trained on one generator often fail on the next.</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Provenance and labelling</a:t>
            </a:r>
            <a:pPr indent="0" marL="0">
              <a:buNone/>
            </a:pPr>
            <a:r>
              <a:rPr lang="en-US" sz="2200" dirty="0">
                <a:solidFill>
                  <a:srgbClr val="1F2937"/>
                </a:solidFill>
                <a:latin typeface="Calibri" pitchFamily="34" charset="0"/>
                <a:ea typeface="Calibri" pitchFamily="34" charset="-122"/>
                <a:cs typeface="Calibri" pitchFamily="34" charset="-120"/>
              </a:rPr>
              <a:t>: content credentials (C2PA), watermarking, and EU AI Act Art. 50 duties to disclose deepfakes (since 2 Aug 2026).</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Data</a:t>
            </a:r>
            <a:pPr indent="0" marL="0">
              <a:buNone/>
            </a:pPr>
            <a:r>
              <a:rPr lang="en-US" sz="2200" dirty="0">
                <a:solidFill>
                  <a:srgbClr val="1F2937"/>
                </a:solidFill>
                <a:latin typeface="Calibri" pitchFamily="34" charset="0"/>
                <a:ea typeface="Calibri" pitchFamily="34" charset="-122"/>
                <a:cs typeface="Calibri" pitchFamily="34" charset="-120"/>
              </a:rPr>
              <a:t>: FFHQ-style face datasets raise consent and demographic-balance questions.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VAE vs. GAN: a summary for the exam</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683974"/>
                <a:gridCol w="4952864"/>
                <a:gridCol w="4457578"/>
              </a:tblGrid>
              <a:tr h="0">
                <a:tc>
                  <a:txBody>
                    <a:bodyPr/>
                    <a:lstStyle/>
                    <a:p>
                      <a:pPr indent="0" marL="0">
                        <a:buNone/>
                      </a:pP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VAE (week 2)</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GAN (week 3)</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Training signal</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Maximise ELBO (likelihood bound)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Two-player game with a learned discriminator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Likelihood p(x)</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Lower bound available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None (implicit model)</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Encoder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Yes: images → latent codes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No (needs GAN inversion)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Sample quality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Smooth, often blurry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Sharp, realistic</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Diversity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Good coverage of the data</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Risk of mode collapse</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Training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Stable, simple loss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Unstable; needs tricks and monitoring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Typical use today</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Autoencoder in latent diffusion; anomaly detection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Super-resolution, fast distillation, vocoders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 inspect, and evaluate a GAN</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Check visual quality and coverage with evidence beyond the training loss.</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Prepare and build</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Scale digits and connect noise-to-image and image-to-score networks.</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Generator / Discriminator</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 D, and real batches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Alternate training</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Record losses, discriminator probabilities, and fixed-code snapshots.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d_loss_fn / g_loss_fn / log</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G + snapshots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Explore codes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straight and spherical paths between noise codes.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lerp / slerp</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generated images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Check class coverage</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Train a digit classifier and count predicted generated classes.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DigitCNN / counts</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classifier feature extractor</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Compare features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real and fake feature means and covariances.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feats / frechet_distance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quality and coverage questions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Test collapse</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standard GAN and WGAN-GP on eight toy clusters.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train_toy / modes_covered</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Can a low feature distance alone prove that every digit class is represented?</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3: train and diagnose a DCGAN</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Build the DCGAN generator and discriminator for 28 × 28 images.</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the </a:t>
            </a:r>
            <a:pPr indent="0" marL="0">
              <a:buNone/>
            </a:pPr>
            <a:r>
              <a:rPr lang="en-US" sz="1700" b="1" dirty="0">
                <a:solidFill>
                  <a:srgbClr val="1F2937"/>
                </a:solidFill>
                <a:latin typeface="Calibri" pitchFamily="34" charset="0"/>
                <a:ea typeface="Calibri" pitchFamily="34" charset="-122"/>
                <a:cs typeface="Calibri" pitchFamily="34" charset="-120"/>
              </a:rPr>
              <a:t>discriminator loss</a:t>
            </a:r>
            <a:pPr indent="0" marL="0">
              <a:buNone/>
            </a:pPr>
            <a:r>
              <a:rPr lang="en-US" sz="1700" dirty="0">
                <a:solidFill>
                  <a:srgbClr val="1F2937"/>
                </a:solidFill>
                <a:latin typeface="Calibri" pitchFamily="34" charset="0"/>
                <a:ea typeface="Calibri" pitchFamily="34" charset="-122"/>
                <a:cs typeface="Calibri" pitchFamily="34" charset="-120"/>
              </a:rPr>
              <a:t> and the </a:t>
            </a:r>
            <a:pPr indent="0" marL="0">
              <a:buNone/>
            </a:pPr>
            <a:r>
              <a:rPr lang="en-US" sz="1700" b="1" dirty="0">
                <a:solidFill>
                  <a:srgbClr val="1F2937"/>
                </a:solidFill>
                <a:latin typeface="Calibri" pitchFamily="34" charset="0"/>
                <a:ea typeface="Calibri" pitchFamily="34" charset="-122"/>
                <a:cs typeface="Calibri" pitchFamily="34" charset="-120"/>
              </a:rPr>
              <a:t>non-saturating generator loss</a:t>
            </a:r>
            <a:pPr indent="0" marL="0">
              <a:buNone/>
            </a:pPr>
            <a:r>
              <a:rPr lang="en-US" sz="1700" dirty="0">
                <a:solidFill>
                  <a:srgbClr val="1F2937"/>
                </a:solidFill>
                <a:latin typeface="Calibri" pitchFamily="34" charset="0"/>
                <a:ea typeface="Calibri" pitchFamily="34" charset="-122"/>
                <a:cs typeface="Calibri" pitchFamily="34" charset="-120"/>
              </a:rPr>
              <a:t> (TODOs).</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 for several epochs; save samples from fixed noise after each epoch; plot losses, D(real) and D(fake).</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Interpolate between noise vectors; look for signs of mode collapse.</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Evaluate: class histogram and a </a:t>
            </a:r>
            <a:pPr indent="0" marL="0">
              <a:buNone/>
            </a:pPr>
            <a:r>
              <a:rPr lang="en-US" sz="1700" b="1" dirty="0">
                <a:solidFill>
                  <a:srgbClr val="1F2937"/>
                </a:solidFill>
                <a:latin typeface="Calibri" pitchFamily="34" charset="0"/>
                <a:ea typeface="Calibri" pitchFamily="34" charset="-122"/>
                <a:cs typeface="Calibri" pitchFamily="34" charset="-120"/>
              </a:rPr>
              <a:t>custom feature Fréchet distance</a:t>
            </a:r>
            <a:pPr indent="0" marL="0">
              <a:buNone/>
            </a:pPr>
            <a:r>
              <a:rPr lang="en-US" sz="1700" dirty="0">
                <a:solidFill>
                  <a:srgbClr val="1F2937"/>
                </a:solidFill>
                <a:latin typeface="Calibri" pitchFamily="34" charset="0"/>
                <a:ea typeface="Calibri" pitchFamily="34" charset="-122"/>
                <a:cs typeface="Calibri" pitchFamily="34" charset="-120"/>
              </a:rPr>
              <a:t> using a small digit classifier you train.</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Run the 2-D ring experiment: standard GAN vs. WGAN-GP; count covered modes.</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(about 15 s per epoch) or CPU (about 1–2 min per epoch)</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200" dirty="0">
                <a:solidFill>
                  <a:srgbClr val="1F2937"/>
                </a:solidFill>
                <a:latin typeface="Calibri" pitchFamily="34" charset="0"/>
                <a:ea typeface="Calibri" pitchFamily="34" charset="-122"/>
                <a:cs typeface="Calibri" pitchFamily="34" charset="-120"/>
              </a:rPr>
              <a:t>Notebook with samples per epoch, diagnostics, custom feature Fréchet distance and class histogram, ring experiment and written answers</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A GAN trains a </a:t>
            </a:r>
            <a:pPr indent="0" marL="0">
              <a:buNone/>
            </a:pPr>
            <a:r>
              <a:rPr lang="en-US" sz="1900" b="1" dirty="0">
                <a:solidFill>
                  <a:srgbClr val="1F2937"/>
                </a:solidFill>
                <a:latin typeface="Calibri" pitchFamily="34" charset="0"/>
                <a:ea typeface="Calibri" pitchFamily="34" charset="-122"/>
                <a:cs typeface="Calibri" pitchFamily="34" charset="-120"/>
              </a:rPr>
              <a:t>generator</a:t>
            </a:r>
            <a:pPr indent="0" marL="0">
              <a:buNone/>
            </a:pPr>
            <a:r>
              <a:rPr lang="en-US" sz="1900" dirty="0">
                <a:solidFill>
                  <a:srgbClr val="1F2937"/>
                </a:solidFill>
                <a:latin typeface="Calibri" pitchFamily="34" charset="0"/>
                <a:ea typeface="Calibri" pitchFamily="34" charset="-122"/>
                <a:cs typeface="Calibri" pitchFamily="34" charset="-120"/>
              </a:rPr>
              <a:t> to fool a </a:t>
            </a:r>
            <a:pPr indent="0" marL="0">
              <a:buNone/>
            </a:pPr>
            <a:r>
              <a:rPr lang="en-US" sz="1900" b="1" dirty="0">
                <a:solidFill>
                  <a:srgbClr val="1F2937"/>
                </a:solidFill>
                <a:latin typeface="Calibri" pitchFamily="34" charset="0"/>
                <a:ea typeface="Calibri" pitchFamily="34" charset="-122"/>
                <a:cs typeface="Calibri" pitchFamily="34" charset="-120"/>
              </a:rPr>
              <a:t>discriminator</a:t>
            </a:r>
            <a:pPr indent="0" marL="0">
              <a:buNone/>
            </a:pPr>
            <a:r>
              <a:rPr lang="en-US" sz="1900" dirty="0">
                <a:solidFill>
                  <a:srgbClr val="1F2937"/>
                </a:solidFill>
                <a:latin typeface="Calibri" pitchFamily="34" charset="0"/>
                <a:ea typeface="Calibri" pitchFamily="34" charset="-122"/>
                <a:cs typeface="Calibri" pitchFamily="34" charset="-120"/>
              </a:rPr>
              <a:t> that learns to tell real from fake.</a:t>
            </a:r>
            <a:endParaRPr lang="en-US" sz="19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Minimax objective; the optimal D compares densities, and G then minimises the </a:t>
            </a:r>
            <a:pPr indent="0" marL="0">
              <a:buNone/>
            </a:pPr>
            <a:r>
              <a:rPr lang="en-US" sz="1900" b="1" dirty="0">
                <a:solidFill>
                  <a:srgbClr val="1F2937"/>
                </a:solidFill>
                <a:latin typeface="Calibri" pitchFamily="34" charset="0"/>
                <a:ea typeface="Calibri" pitchFamily="34" charset="-122"/>
                <a:cs typeface="Calibri" pitchFamily="34" charset="-120"/>
              </a:rPr>
              <a:t>JSD</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Use the </a:t>
            </a:r>
            <a:pPr indent="0" marL="0">
              <a:buNone/>
            </a:pPr>
            <a:r>
              <a:rPr lang="en-US" sz="1900" b="1" dirty="0">
                <a:solidFill>
                  <a:srgbClr val="1F2937"/>
                </a:solidFill>
                <a:latin typeface="Calibri" pitchFamily="34" charset="0"/>
                <a:ea typeface="Calibri" pitchFamily="34" charset="-122"/>
                <a:cs typeface="Calibri" pitchFamily="34" charset="-120"/>
              </a:rPr>
              <a:t>non-saturating</a:t>
            </a:r>
            <a:pPr indent="0" marL="0">
              <a:buNone/>
            </a:pPr>
            <a:r>
              <a:rPr lang="en-US" sz="1900" dirty="0">
                <a:solidFill>
                  <a:srgbClr val="1F2937"/>
                </a:solidFill>
                <a:latin typeface="Calibri" pitchFamily="34" charset="0"/>
                <a:ea typeface="Calibri" pitchFamily="34" charset="-122"/>
                <a:cs typeface="Calibri" pitchFamily="34" charset="-120"/>
              </a:rPr>
              <a:t> loss −log D(G(z)) to avoid vanishing gradients early on.</a:t>
            </a:r>
            <a:endParaRPr lang="en-US" sz="19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Training is a game: monitor samples, not losses; watch for </a:t>
            </a:r>
            <a:pPr indent="0" marL="0">
              <a:buNone/>
            </a:pPr>
            <a:r>
              <a:rPr lang="en-US" sz="1900" b="1" dirty="0">
                <a:solidFill>
                  <a:srgbClr val="1F2937"/>
                </a:solidFill>
                <a:latin typeface="Calibri" pitchFamily="34" charset="0"/>
                <a:ea typeface="Calibri" pitchFamily="34" charset="-122"/>
                <a:cs typeface="Calibri" pitchFamily="34" charset="-120"/>
              </a:rPr>
              <a:t>mode collapse</a:t>
            </a:r>
            <a:pPr indent="0" marL="0">
              <a:buNone/>
            </a:pPr>
            <a:r>
              <a:rPr lang="en-US" sz="1900" dirty="0">
                <a:solidFill>
                  <a:srgbClr val="1F2937"/>
                </a:solidFill>
                <a:latin typeface="Calibri" pitchFamily="34" charset="0"/>
                <a:ea typeface="Calibri" pitchFamily="34" charset="-122"/>
                <a:cs typeface="Calibri" pitchFamily="34" charset="-120"/>
              </a:rPr>
              <a:t> and oscillation.</a:t>
            </a:r>
            <a:endParaRPr lang="en-US" sz="19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Stabilise with </a:t>
            </a:r>
            <a:pPr indent="0" marL="0">
              <a:buNone/>
            </a:pPr>
            <a:r>
              <a:rPr lang="en-US" sz="1900" b="1" dirty="0">
                <a:solidFill>
                  <a:srgbClr val="1F2937"/>
                </a:solidFill>
                <a:latin typeface="Calibri" pitchFamily="34" charset="0"/>
                <a:ea typeface="Calibri" pitchFamily="34" charset="-122"/>
                <a:cs typeface="Calibri" pitchFamily="34" charset="-120"/>
              </a:rPr>
              <a:t>WGAN-GP</a:t>
            </a:r>
            <a:pPr indent="0" marL="0">
              <a:buNone/>
            </a:pPr>
            <a:r>
              <a:rPr lang="en-US" sz="1900" dirty="0">
                <a:solidFill>
                  <a:srgbClr val="1F2937"/>
                </a:solidFill>
                <a:latin typeface="Calibri" pitchFamily="34" charset="0"/>
                <a:ea typeface="Calibri" pitchFamily="34" charset="-122"/>
                <a:cs typeface="Calibri" pitchFamily="34" charset="-120"/>
              </a:rPr>
              <a:t>, spectral normalisation, TTUR, EMA, augmentation.</a:t>
            </a:r>
            <a:endParaRPr lang="en-US" sz="19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Variants: </a:t>
            </a:r>
            <a:pPr indent="0" marL="0">
              <a:buNone/>
            </a:pPr>
            <a:r>
              <a:rPr lang="en-US" sz="1900" b="1" dirty="0">
                <a:solidFill>
                  <a:srgbClr val="1F2937"/>
                </a:solidFill>
                <a:latin typeface="Calibri" pitchFamily="34" charset="0"/>
                <a:ea typeface="Calibri" pitchFamily="34" charset="-122"/>
                <a:cs typeface="Calibri" pitchFamily="34" charset="-120"/>
              </a:rPr>
              <a:t>DCGAN, cGAN, pix2pix, CycleGAN, StyleGAN</a:t>
            </a:r>
            <a:pPr indent="0" marL="0">
              <a:buNone/>
            </a:pPr>
            <a:r>
              <a:rPr lang="en-US" sz="1900" dirty="0">
                <a:solidFill>
                  <a:srgbClr val="1F2937"/>
                </a:solidFill>
                <a:latin typeface="Calibri" pitchFamily="34" charset="0"/>
                <a:ea typeface="Calibri" pitchFamily="34" charset="-122"/>
                <a:cs typeface="Calibri" pitchFamily="34" charset="-120"/>
              </a:rPr>
              <a:t>.</a:t>
            </a:r>
            <a:endParaRPr lang="en-US" sz="19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Evaluate with </a:t>
            </a:r>
            <a:pPr indent="0" marL="0">
              <a:buNone/>
            </a:pPr>
            <a:r>
              <a:rPr lang="en-US" sz="1900" b="1" dirty="0">
                <a:solidFill>
                  <a:srgbClr val="1F2937"/>
                </a:solidFill>
                <a:latin typeface="Calibri" pitchFamily="34" charset="0"/>
                <a:ea typeface="Calibri" pitchFamily="34" charset="-122"/>
                <a:cs typeface="Calibri" pitchFamily="34" charset="-120"/>
              </a:rPr>
              <a:t>FID</a:t>
            </a:r>
            <a:pPr indent="0" marL="0">
              <a:buNone/>
            </a:pPr>
            <a:r>
              <a:rPr lang="en-US" sz="1900" dirty="0">
                <a:solidFill>
                  <a:srgbClr val="1F2937"/>
                </a:solidFill>
                <a:latin typeface="Calibri" pitchFamily="34" charset="0"/>
                <a:ea typeface="Calibri" pitchFamily="34" charset="-122"/>
                <a:cs typeface="Calibri" pitchFamily="34" charset="-120"/>
              </a:rPr>
              <a:t> (lower is better), precision/recall and humans.</a:t>
            </a:r>
            <a:endParaRPr lang="en-US" sz="19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900" dirty="0">
                <a:solidFill>
                  <a:srgbClr val="1F2937"/>
                </a:solidFill>
                <a:latin typeface="Calibri" pitchFamily="34" charset="0"/>
                <a:ea typeface="Calibri" pitchFamily="34" charset="-122"/>
                <a:cs typeface="Calibri" pitchFamily="34" charset="-120"/>
              </a:rPr>
              <a:t>Today GANs power super-resolution, fast diffusion, vocoders; deepfakes demand provenance and disclosure.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03  ·  GENERATIVE ADVERSARIAL NETWORKS (GANS)</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Foster (2023) Generative Deep Learning, 2nd ed., ch. 4 'GANs' and ch. 10 'Advanced GANs'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Goodfellow et al. (2014) Generative Adversarial Networks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original paper</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PyTorch tutorial: DCGAN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Official step-by-step implementation</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for Developers: GAN course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Short free course with exercises</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Arjovsky et al. (2017) Wasserstein GAN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Why the Wasserstein distance helps</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Karras et al. (2019) StyleGAN</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Style-based generator</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Heusel et al. (2017) TTUR and FID</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Defines the Fréchet Inception Distance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Generative Adversarial Networks (GANs)</dc:title>
  <dc:subject>Generative AI (MSc in Artificial Intelligence)</dc:subject>
  <dc:creator>Generative AI module team</dc:creator>
  <cp:lastModifiedBy>Generative AI module team</cp:lastModifiedBy>
  <cp:revision>1</cp:revision>
  <dcterms:created xsi:type="dcterms:W3CDTF">2026-10-06T20:33:48Z</dcterms:created>
  <dcterms:modified xsi:type="dcterms:W3CDTF">2026-10-06T20:33:48Z</dcterms:modified>
</cp:coreProperties>
</file>