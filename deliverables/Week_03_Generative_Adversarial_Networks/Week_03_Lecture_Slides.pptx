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3. Last week's VAEs gave us a principled likelihood-based model with a smooth latent space, but blurry samples. Today we meet the model family that was designed to produce sharp, realistic images: generative adversarial networks, or GANs, introduced by Ian Goodfellow and colleagues in 2014. The digits on this slide were produced by a small GAN trained on a laptop for these slides; you will train the same model in the lab. GANs dominated image generation from about 2016 to 2021 and their ideas are still inside many modern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two are about the game itself and its mathematics: students should be able to write the minimax objective, state the optimal discriminator and explain why we use the non-saturating loss. The third is practical diagnosis, a favourite exam topic because GAN training fails in characteristic ways. The fourth covers variants they will meet in papers and industry, the fifth evaluation metrics, especially FID which is also used for diffusion next week, and the sixth combines implementation with a responsible-AI discussion of deepfakes. This week practises MIMLO 1, 3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descriptor's topics for this week: motivation, architecture, objective, training challenges, variants, evaluation and applications. Section two contains the mathematics; take the break after it. Section three uses real training runs, including a small experiment that shows mode collapse happening. If short of time, compress the variants section, but keep the evaluation slides because FID returns next week for diffusion models and in the project.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Neural-network weights: Learned numbers used to transform an input into a prediction. Check: Which operation changes weights: opt.step or plotting a sample? Answer: opt.step changes weights, using the gradients from backward. Binary classification: Predicting between two labels, here real and generated. Check: In this lab, is label 1 used for real or generated images during the discriminator update? Answer: Real images get label 1; generated images get label 0. Gradient: A measure of how changing a quantity would change a loss. Check: Why must a generator receive feedback about its output to improve? Answer: Without feedback on its own output, it cannot tell which weight changes would make its images more realistic.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forger and detective as an analogy for two learners, each receiving a numerical loss. A discriminator that confidently rejects fakes can give weak minimax-loss derivatives. The non-saturating generator loss changes this derivative, so a high discriminator accuracy alone does not establish that all generator gradients vanish. Ask: who changes weights in each turn? Only the player whose optimiser steps. Common mistake: treating a probability score as the whole gradient. If one successful fake pattern is repeated while other real patterns disappear, that is mode collapse. We diagnose it using sample variety and coverage, not loss curves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motivates GANs. The key idea is that instead of writing down a loss that measures realism, such as pixel-wise error, which caused blur in VAEs, we train a second network whose job is to measure realism, and we use its judgement as the loss for the generator. We look at the architecture and the roles of the two networks. This section takes about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generative adversarial network, or GAN, contains two networks with different jobs. The generator G transforms a random latent code into an image. The discriminator D judges whether an image came from the dataset or the generator. Real images follow a separate path into D; they do not pass through G. Training alternates two updates. The discriminator learns to assign real labels to dataset images and fake labels to generated ones. The generator then learns to make its images receive the real label from the updated discriminator. Gradients from D guide G even though G never receives a matching target digit for each noise code. This creates a moving learning problem: improving either network changes the other network's task. Loss curves alone cannot show success. The lab compares fixed-code snapshots, predicted digit coverage, and a custom feature distance. Generation after training needs G and a fresh code, without D.
Worked example:
A real MNIST batch is scaled to [−1, 1]; G receives separate Gaussian codes of length 64.
G upsamples each code through 7×7, 14×14, and 28×28 feature grids.
D scores real images and detached fake images; opt_D updates D using source labels.
The original connected fakes pass through updated D; opt_G improves their real-labelled score.
After training, draw new codes and use G alone; inspect both image quality and diversity.
Check: Which networks must run to generate a new digit after training?
Answer: Only G is needed. D supplied training feedback but is not part of the generation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last week. A pixel-wise loss says a slightly shifted sharp edge is as bad as a blurred edge, so under uncertainty the model predicts the blur. A discriminator judges the whole image: a blurry digit is easy to spot as fake, so the generator is pushed towards sharp outputs. The price is that GANs are implicit generative models: you can draw samples, but you cannot compute the probability of an image, so direct likelihood evaluation is unavailable; other GAN-based anomaly approaches are possible. That is why evaluation later in the lecture needs sample-based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The generator takes a random noise vector, typically sixty-four to five hundred and twelve numbers from a standard Gaussian, and outputs an image. The discriminator is a binary classifier that takes an image, real or generated, and outputs the probability that it is real. The dashed arrow is the crucial part: In this basic unconditional lab, G receives real-data information through D rather than matching each code to a real image. It only receives gradients that flow back through the discriminator, telling it how to change its output to be judged more real. Ask: where is the latent variable from week 1? It is z, the noise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roles. The generator is an upsampling network; the discriminator is an ordinary image classifier. After training we keep the generator and usually throw the discriminator away, although discriminators are sometimes reused as feature extractors. The key difference from every model students have trained before is in the callout: the loss of each network depends on the parameters of the other, so we are looking for an equilibrium of a two-player game rather than a minimum of a fixed function. That single fact explains most of the training difficulties in section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forger and detective analogy is useful, but state its limits clearly, since the course asks students to explain analogies critically. At the ideal end point the generator's samples are hard to tell apart from real data, so the best the discriminator can do is output one half everywhere, a coin flip. But unlike a human forger, the generator never looks at real examples, only at the discriminator's feedback. And real training does not always converge: the two networks can oscillate, each one's improvement undoing the other's. We see both in section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gives the mathematics. We write the minimax value function from the original paper, derive the optimal discriminator for a fixed generator, show what the generator then minimises, and explain why the loss used in practice differs from the textbook one. Then we look at the training loop in code. This is the core exam material for the week; go at a steady pace and work through the optimal-discriminator derivation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GAN has two losses and two weight updates. First, D learns to label real images as 1 and generated images as 0. The fake images are detached during this step so its loss does not update G. Next, updated D rates fake images that still have a gradient path back to G. The generator loss uses target 1: it asks G to make images D accepts as real. Only G's optimiser takes a step here. Fixed-noise snapshots show how those updates changed the generated images.
Worked example:
If D gives a fake image probability 0.1, the generator's non-saturating loss is −ln(0.1), about 2.30.
If it instead gives 0.8, the generator cost is about 0.22.
G learns changes that make D's fake score higher. D learns changes that separate the two sources.
A falling loss alone cannot show whether all digit classes are covered.
Check: Why is the generator target 1 for a fake image?
Answer: Target 1 expresses G's goal: make D accept its image as real. The discriminator still uses target 0 for fakes in its own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equation as two expectations. The first is over real data: the discriminator wants log D of x to be high, meaning D of x near one. The second is over noise: the discriminator wants one minus D of G of z to be high, meaning fakes get low scores. So the discriminator maximises exactly the negative binary cross-entropy of a real-versus-fake classifier. The generator appears only in the second term and wants to make it small, pushing D of G of z up. In practice we alternate gradient ascent steps for D and descent steps for G on mini-batches.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Derive the first line on the board: for each x, D maximises p data times log D plus p g times log of one minus D, and setting the derivative to zero gives p data over p data plus p g. Substituting back gives minus log four plus twice the Jensen-Shannon divergence, a symmetric measure of the difference between two distributions. So, in the idealised setting with an optimal discriminator and infinite capacity, training the generator minimises a proper divergence, and the unique optimum is when the generator's distribution equals the data distribution. Real training never reaches this ideal, but it explains what the game is aiming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one-dimensional illustration. The teal area is the data distribution, the orange curve the generator's distribution, and the dashed purple line the optimal discriminator. On the left, early in training, the discriminator is close to one where only real data lives and close to zero where only fakes live, and its slope tells the generator which way to move its samples. On the right, at equilibrium, the two distributions coincide and the discriminator is flat at one half: it carries no information, and the generator receives no further push. Ask: what does a flat D look like in the lab's plots? D of real and D of fake both near one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practical detail with a big effect, also from the original paper. At the start of training the generator's samples are obviously fake, so D of G of z is near zero. The discriminator probability is sigmoid of a logit s. Through this sigmoid, the minimax derivative with respect to s is −D(fake), which becomes small when D rejects the image. The plot uses this logit axis. The fix is to have the generator maximise log D of G of z instead, which is steep near zero. Both losses are optimised by the same equilibrium. In code, the non-saturating loss is simply binary cross-entropy with the fake samples labelled as real.
Figure discussion prompts: Early fakes often receive small probabilities. Minimax gradients through sigmoid can be weak. Use −log D(G(z)) for stronger early feedback. This changes the objective, not the ideal matching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distinction is between a tensor's values and its gradient connection. The call fake.detach() supplies the same image values to D while cutting the route back to G for that operation. This lets the discriminator learn from generated images without updating the generator from the discriminator's loss. The original fake tensor remains connected to G. After opt_D changes D's weights, g_loss_fn sends that original tensor through D and asks for the real label. This non-saturating generator objective rewards fakes that D accepts. Backpropagation follows the chain from the loss through D's operations, through the fake image, and into G's weights. The optimiser step then changes only the parameters registered with opt_G. The labels therefore serve different purposes in the two updates: fake means 0 when training D, but G's desired target is 1. Repeat this sequence for each training batch.
Worked example:
Suppose D confidently rejects a generated digit; that creates a large real-target generator cost.
During the D step, fake.detach blocks gradients from reaching G through that loss.
During the G step, g_loss_fn uses the original fake so gradients can travel through D to G.
opt_G steps G's parameters; the discriminator is a scoring route rather than the optimiser target.
Check: Why would detaching fake inside g_loss_fn stop the generator from learning?
Answer: It would cut the gradient path from the generator loss back to G's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core of GAN training, and it is what students write in the lab. First update the discriminator on a real batch labelled one and a fake batch labelled zero; the detach call is essential, otherwise that backward pass also computes unwanted generator gradients. The discriminator optimiser still steps only D’s registered parameters. Then update the generator by passing the same fakes through the discriminator, this time with the label one, and backpropagating through the discriminator into the generator. Only the generator's optimiser steps in the second update. The Adam settings come from the DCGAN paper and are still a sensible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C. When the generator's distribution equals the data distribution, the optimal discriminator is p data divided by twice p data, which is one half everywhere. A describes a discriminator that is winning, which happens early in training or when the generator fails. B confuses the discriminator with a classifier of digit classes; a standard GAN discriminator only judges real versus fake. D is the value of the objective at equilibrium, minus log four, not the discriminator's output. In practice you rarely see exactly one half, but D values drifting towards it suggest the game is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Section three is about what goes wrong. We look at real loss curves from the DCGAN trained for these slides, see mode collapse happen in a small experiment, summarise the failure modes and their symptoms, and then cover the main stabilisation techniques, including the Wasserstein loss. This is highly practical: students will meet these problems in the lab and possibly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curves come from the DCGAN trained for today. Unlike every supervised model students have trained, the losses do not steadily fall; they fluctuate, because each update of one network changes the other's objective. A healthy run keeps the discriminator's average output on real images above its output on fakes without either collapsing to zero or one. If D(fake) stays near zero, D separates sources easily. This alone does not prove vanishing G gradients, especially with the non-saturating loss; inspect actual progress. The practical lesson is to monitor samples at fixed noise vectors every epoch and to compute a quality metric, which the lab does.
Figure discussion prompts: Each network changes the other’s task. Losses can rise and fall. Inspect fixed-noise samples. Check quality and coverage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experiment on a toy problem where we can see the whole distribution. The data are eight small clusters on a ring. The top row is a standard GAN; the bottom row uses the Wasserstein loss with gradient penalty. Mode collapse means the generator covers only some of the modes, producing plausible but repetitive samples. In this run the standard GAN quickly produces tight, sharp clusters, but by step 2,000 it has dropped the bottom-left cluster entirely and never recovers it: 7 of 8 modes. The Wasserstein GAN with gradient penalty learns more slowly, sweeping across the plane at first, but covers all 8 by the end. Other seeds drop more or fewer modes, which is itself a lesson: always report seeds and repeat runs. In image terms, mode collapse is a digit generator that never draws, say, a two.
Explain the comparison limit: the configurations also use different learning rates and five versus one critic update. The result compares systems, not the loss alone. Ask students to name the extra compute cost before attributing improved coverage solely to Wasserstein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a practical checklist and a good exam answer structure. Link each row to the warm-up: the forger who repeats one trick is mode collapse; the detective who wins too fast gives vanishing gradients; the endless chase is non-convergence. Two remedies deserve mention by name. TTUR, the two time-scale update rule, uses separate learning rates for the discriminator and generator and comes from the same paper that introduced FID. ADA, adaptive discriminator augmentation from the StyleGAN team, lets GANs train on a few thousand images by augmenting what the discriminator sees. Checkerboard artefacts come from transposed convolutions.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 produces scores rather than real/fake probabilities. Its score gap approximates a Wasserstein comparison under the required smoothness assumptions. The gradient penalty checks randomly mixed real and fake inputs. It encourages gradient norm near one at those points, rather than proving a global Lipschitz bound. Ask students to separate an input gradient used by this penalty from a weight gradient used by the optimiser. Both are derivatives, but they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techniques cover most of what modern GAN code uses. Students do not need to derive them, but should know what problem each addresses. Spectral normalisation is a one-line change in PyTorch, torch dot nn dot utils dot spectral norm, and is one of the most effective. EMA, the exponential moving average of generator weights, is also used in diffusion model training. R1 regularisation penalises the discriminator's gradient on real data and is the default in StyleGAN2. A good lab extension is to add spectral normalisation to the discriminator and compare sample quality and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Sharp but repetitive samples are the signature of mode collapse. The first step is to measure it, for example by classifying generated digits and plotting the class histogram, which students do in the lab; then apply a remedy aimed at coverage, such as the Wasserstein loss with gradient penalty, spectral normalisation or minibatch statistics. A rarely helps, since a collapsed generator often stays collapsed or hops between modes. C would produce a blurry average, essentially giving up on the adversarial idea. D confuses GANs with language models: a GAN has no temperature; the related idea is the truncation trick, which trades diversity for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surveys the variants named in the descriptor: DCGAN, which made GANs work with convolutions; conditional GANs, which let us choose what to generate; pix2pix and CycleGAN, which translate images from one domain to another; and StyleGAN, which produced the photorealistic faces that made deepfakes a public concern. We also look at real samples from the DCGAN trained for these slides and at latent interpolation.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 convolutional GAN paper by Radford, Metz and Chintala in 2015 established a set of architecture guidelines that made GAN training reliable enough to use widely. The generator starts from the noise vector, projects it to a small spatial grid, and doubles the resolution with each transposed convolution, using batch normalisation and ReLU, finishing with tanh so that pixels lie between minus one and one. The discriminator mirrors this with strided convolutions and leaky ReLU. Our lab model is exactly this architecture for 28 by 28 images, with about a million parameters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is the part needed to create new images. It takes fresh random codes and runs one forward pass through its learned layers. The discriminator supplied training feedback, but it does not need to run during generation. Evaluation mode matters because layers such as batch normalisation should use their stored statistics. Compare many samples for quality and variety. A sharp-looking sample can still come from a model that only makes a few digit classes. Use the same noise codes when comparing two saved generator versions.
Worked example:
One random code has Z_DIM = 64 values in this lab.
A batch of 16 codes produces 16 digit images.
Reuse the same 16 codes after different epochs to see the effect of training.
Count predicted classes over a larger batch to look for missing digits.
Check: Which network is needed to create a new image after training?
Answer: The trained generator G. D is used for learning feedback, while separate evaluation checks can measure the resulting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samples use fixed noise vectors, so each column shows how one generated digit evolves. Before training the output is noise. After one epoch rough strokes appear. After two to four epochs digits become recognisable and sharper than last week's VAE samples, although some are malformed. By eight epochs many samples are readable digits, but several are still malformed. Notice that the same noise vector can change digit identity between epochs, for example the tenth column, a sign that the generator's mapping is still moving as the game continues. In the lab students produce this figure themselves; ask them to record how long one epoch takes on their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conditional GAN, from Mirza and Osindero in 2014, adds information to both players. The generator receives the noise and the condition, for example the label seven, and the discriminator receives an image together with a label. A real seven paired with the label three should be rejected, so the generator is forced to produce images that match their condition. The same principle extends to any kind of condition: text for text-to-image GANs, a semantic map for image synthesis, or an entire image for image-to-image translation, which is the next slide.
Figure discussion prompts: Give condition y to both networks. G(z, y) creates a sample. D(x, y) judges the image-condition pair. A label, image or text can condition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landmark variants. Pix2pix needs paired examples and combines the adversarial loss with an L1 pixel loss, so outputs are both realistic and faithful to the input. CycleGAN removes the need for pairs by training two translators and requiring that translating there and back returns the original image. StyleGAN, from NVIDIA, maps noise through a mapping network into a style vector that controls each resolution of the generator separately, which gives photorealistic faces and control over coarse features like pose and fine features like hair texture. BigGAN showed that scaling up batch size and model size gives much more realistic ImageNet samples, and popularised the truncation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paired data, an adversarial loss alone would let the generator output any realistic zebra, unrelated to the input horse. The cycle-consistency loss fixes this: translating a horse to a zebra and back must reproduce the original horse, and vice versa. This is a general idea worth remembering, using round-trip consistency as supervision when direct labels are missing; it appears again in unsupervised translation of text. Point out the limitation: cycle consistency encourages, but does not guarantee, that semantic content is preserved, and CycleGAN can hide information in imperceptible patterns to pass the cycle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VAEs, walking between codes can show smooth transitions, but smooth interpolation does not prove absence of memorisation or guarantee plausible intermediate images. A key difference from VAEs is that a standard GAN has no encoder, so we cannot directly find the latent code of a real image. GAN inversion methods improve a latent vector to reproduce a given image, which enables editing real photos. StyleGAN's intermediate style space turned out to be particularly well organised, with directions for age, smile or pose, and this powered a wave of face-editing tools, with obvious misuse potential.
Figure discussion prompts: Choose two codes; decode points between. Inspect intermediate samples. Basic GANs have no encoder. Inversion searches for a real image’s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evaluation, which is required by the descriptor and by MIMLO 4, then where GANs are used today, and a responsible AI discussion of deepfakes. Because GANs have no likelihood, evaluation relies on comparing samples with real data, and the Fréchet Inception Distance is the standard. The same metrics are used for diffusion models next week and for image generation in the project, so this section has lasting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 compares Gaussian summaries of real and generated image features: their means and covariance matrices. Use the same feature network and image preparation for both sets. A lower score means closer feature statistics. Zero does not prove that images or full distributions are identical. Means and covariances both affect the score, so avoid calling one a pure quality measure and the other a pure diversity measure. The lab uses custom DigitCNN features rather than standard Inception FID.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two-dimensional illustration of what happens in the two-thousand-dimensional feature space. On the left the generated features have a similar centre and spread to the real ones, giving a low FID. On the right they are shifted, meaning the average generated image differs from the average real image, and narrow, meaning low diversity, which is exactly what mode collapse produces; both effects increase FID. Remind students that FID values are only comparable when computed with the same feature network, the same number of samples, and the same image preprocessing.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metric is sufficient, so reports should combine them. Inception Score rewards images that a classifier labels confidently and a set of images covering many classes, but it never compares with real data. Precision and recall for generative models, from 2019, separate the two things FID mixes: are samples realistic, and do they cover the data distribution. An unbiased KID estimator avoids the plug-in bias of empirical FID, but its variance, feature choice and sample count still matter; no metric is universally preferable. Human evaluation can assess task-specific realism and usefulness and must be designed properly: several raters, a clear rubric, and agreement statistics. This table maps directly onto MIMLO 4 and the project's evaluation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Diffusion models have replaced GANs as the main text-to-image generators, but GANs are far from gone. They excel where speed matters: a GAN produces an image in one forward pass, while diffusion needs many steps. So GAN-based upscalers are everywhere, and adversarial distillation, as in Stability AI's SDXL-Turbo, uses a discriminator to compress a diffusion model into one to four steps. Adversarial losses also keep the decoders of latent-diffusion autoencoders and image tokenizers sharp, and GAN vocoders are standard in speech synthesis. Point out the link to last week: the VAE inside Stable Diffusion was trained with a GAN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Adversarial training is, by design, optimised to fool a detector, so it is no surprise that GAN outputs raised the first wave of deepfake concerns. Discuss the harms concretely, including the liar's dividend, where genuine recordings are dismissed as fakes. Explain why detection alone is insufficient: detectors generalise poorly to new generators. The policy response combines source history (provenance), meaning signed content credentials such as C2PA, watermarks, and legal duties. Article 50 distinguishes provider marking from deployer disclosure, with scope and exceptions, including special treatment of artistic works. Read the official text for the role and use concerned. The rules apply from 2 August 2026; systems already on the market have until 2 December 2026 for the Article 50(2) marking duty only, not for every transparency duty. Week 10 returns to watermarking in detail. Ask students where their project could create synthetic media and how they would label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comparison appears frequently in exams, so present it as a revision tool. VAEs improve a bound on likelihood, have an encoder and train stably, but their samples blur. GANs produce sharper samples through a learned critic, but have no likelihood, no encoder, and can collapse. The two families are complementary, and modern systems combine them: VAE-GAN hybrids and autoencoders trained with adversarial losses. Next week, diffusion models achieve the quality of GANs with the stability and coverage of likelihood-based models, at the cost of many sampling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asks two separate evaluation questions: do the images resemble digits, and does the generator cover varied digits? Fixed-noise snapshots answer a visual progress question because each epoch uses the same input codes. The digit classifier estimates class coverage, but its mistakes can distort the histogram, so first check its test accuracy and inspect samples. Its hidden features also define a custom Fréchet distance. This compares two sets of feature vectors through their means and covariance matrices; it is not the standard Inception-based FID. Real-versus-real features provide a reference for finite-sample differences. Keep the feature network, preprocessing, and sample count fixed when comparing generators. The toy ring makes missing modes easy to see. WGAN-GP changes the scoring objective and adds a gradient penalty, so its training feedback differs from ordinary real/fake classification. Better toy coverage is evidence for that experiment, not a guarantee for every dataset.
Worked example:
Reuse z_fixed across epoch snapshots so image changes reflect training rather than new noise inputs.
Compare lerp and slerp images and midpoint norms; neither path guarantees valid digits.
Check the classifier's test accuracy before trusting its histogram of 2,000 generated digits.
Compare real-versus-real, epoch-1, final, and uniform-noise feature distances using the same clf.
On the eight-cluster ring, inspect both the scatter plots and modes_covered for each trained system.
Check: Can a low feature distance alone prove that every digit class is represented?
Answer: No. Inspect the coverage histogram and samples as well; the feature statistic summarises only some aspects of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mirrors the lecture. Students first implement the two losses, especially the detached path for the discriminator update. They then train and inspect fixed-noise samples. Evaluation uses a small digit classifier: its predictions estimate class coverage, and its features supply a custom Fréchet distance. This uses the FID formula with a different feature network, so its values cannot be compared directly with standard Inception FID. Check classifier accuracy before interpreting either result. Finally the ring experiment makes missing modes visible and lets students test the Wasserstein objective with gradient penalty. The trained generator and evaluation code can be reused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Foster chapter 4 introduces GANs with Keras code and chapter 10 covers ProGAN, StyleGAN and related work. The original Goodfellow paper is short and contains the optimal-discriminator derivation. The PyTorch DCGAN tutorial is the official reference implementation and trains on faces. Google's short GAN course has clear explanations of loss functions and common problems. The WGAN, StyleGAN and FID papers are for deeper reading. All links were last checked on 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two students to narrate the two update roles. One explains D’s real and fake labels; the other explains why G’s target for its fake image is one. Use the illustrative loss values to show what the generator wants without mistaking loss size for image quality. Point out that detach preserves pixel values while cutting a gradient route. Ask the exit question before showing the answer. Then show two equally sharp digit samples of the same class and ask why sharpness alone cannot demonstrate coverage. Close with one provenance or disclosure action and connect the next week to a fixed regression target.
Exit question: Why must fake stay linked to G during the generator update?
Answer: Gradients must travel from its loss through D and the fake image to G’s weights.
Recap the six points. The essential equations are the minimax objective and the optimal discriminator; the essential practical knowledge is the non-saturating loss, the failure modes, and FID. Next week we meet diffusion models, which learn to reverse a gradual noising process. Their known noise targets avoid the two-player adversarial game. Many produce detailed images; useful quality, coverage and cost still require evaluation. Ask students to finish the lab, read Foster chapter 4 and, if they want the history, chapter 10 on advanced GANs including StyleGAN.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arxiv.org/abs/1406.2661" TargetMode="External"/><Relationship Id="rId6" Type="http://schemas.openxmlformats.org/officeDocument/2006/relationships/hyperlink" Target="https://docs.pytorch.org/tutorials/beginner/dcgan_faces_tutorial.html" TargetMode="External"/><Relationship Id="rId8" Type="http://schemas.openxmlformats.org/officeDocument/2006/relationships/hyperlink" Target="https://developers.google.com/machine-learning/gan" TargetMode="External"/><Relationship Id="rId10" Type="http://schemas.openxmlformats.org/officeDocument/2006/relationships/hyperlink" Target="https://arxiv.org/abs/1701.07875" TargetMode="External"/><Relationship Id="rId12" Type="http://schemas.openxmlformats.org/officeDocument/2006/relationships/hyperlink" Target="https://arxiv.org/abs/1812.04948" TargetMode="External"/><Relationship Id="rId14" Type="http://schemas.openxmlformats.org/officeDocument/2006/relationships/hyperlink" Target="https://arxiv.org/abs/1706.08500"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slideLayout" Target="../slideLayouts/slideLayout1.xml"/><Relationship Id="rId1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03</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Generative Adversarial Networks (GANs)</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How a generator learns from a real/fake checker, and how to test image quality and variety</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3\cover.png">    </p:cNvPr>
          <p:cNvPicPr>
            <a:picLocks noChangeAspect="1"/>
          </p:cNvPicPr>
          <p:nvPr/>
        </p:nvPicPr>
        <p:blipFill>
          <a:blip r:embed="rId1"/>
          <a:stretch>
            <a:fillRect/>
          </a:stretch>
        </p:blipFill>
        <p:spPr>
          <a:xfrm>
            <a:off x="7818120" y="1508760"/>
            <a:ext cx="3840480" cy="3840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Trace generator and discriminator roles.</a:t>
            </a:r>
            <a:endParaRPr lang="en-US" sz="20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Read minimax and non-saturating losses.</a:t>
            </a:r>
            <a:endParaRPr lang="en-US" sz="20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Diagnose collapse and unstable training.</a:t>
            </a:r>
            <a:endParaRPr lang="en-US" sz="20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major GAN variants.</a:t>
            </a:r>
            <a:endParaRPr lang="en-US" sz="20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Evaluate sample quality and coverage.</a:t>
            </a:r>
            <a:endParaRPr lang="en-US" sz="20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Train a DCGAN and assess synthetic-media risks.</a:t>
            </a:r>
            <a:endParaRPr lang="en-US" sz="20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FFF0E6"/>
          </a:solidFill>
          <a:ln w="15240">
            <a:solidFill>
              <a:srgbClr val="D55E00"/>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3: you are here</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Neural-network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Learned numbers used to transform an input into a prediction.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Which operation changes weights: opt.step or plotting a sample?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Binary classification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Predicting between two labels, here real and generated.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 this lab, is label 1 used for real or generated images during the discriminator update?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Gradient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measure of how changing a quantity would change a loss.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Why must a generator receive feedback about its output to improve?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How would you train an art forger if you had no rulebook for 'realistic', only a detective who compares fakes with real paintings?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What feedback would the forger need from the detective?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What happens if the detective becomes perfect very quickly?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What if the forger finds one painting that always fools the detective?</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adversarial learning?</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Can we learn the loss function itself?</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GAN learns from a discriminator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Two networks learn different tasks; only the generator creates new images.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noise codes z</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fake images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real/fake logits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losses and</a:t>
            </a:r>
            <a:endParaRPr lang="en-US" sz="1441" dirty="0"/>
          </a:p>
        </p:txBody>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gradients</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trained G +</a:t>
            </a:r>
            <a:endParaRPr lang="en-US" sz="1441" dirty="0"/>
          </a:p>
        </p:txBody>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snapshots</a:t>
            </a:r>
            <a:endParaRPr lang="en-US" sz="1441" dirty="0"/>
          </a:p>
        </p:txBody>
      </p:sp>
      <p:sp>
        <p:nvSpPr>
          <p:cNvPr id="19" name="Shape 17"/>
          <p:cNvSpPr/>
          <p:nvPr/>
        </p:nvSpPr>
        <p:spPr>
          <a:xfrm>
            <a:off x="1571235" y="4738766"/>
            <a:ext cx="0" cy="198270"/>
          </a:xfrm>
          <a:prstGeom prst="line">
            <a:avLst/>
          </a:prstGeom>
          <a:noFill/>
          <a:ln w="22860">
            <a:solidFill>
              <a:srgbClr val="0072B2"/>
            </a:solidFill>
            <a:prstDash val="solid"/>
          </a:ln>
        </p:spPr>
      </p:sp>
      <p:sp>
        <p:nvSpPr>
          <p:cNvPr id="20" name="Shape 18"/>
          <p:cNvSpPr/>
          <p:nvPr/>
        </p:nvSpPr>
        <p:spPr>
          <a:xfrm>
            <a:off x="1571235" y="4937035"/>
            <a:ext cx="3619690" cy="0"/>
          </a:xfrm>
          <a:prstGeom prst="line">
            <a:avLst/>
          </a:prstGeom>
          <a:noFill/>
          <a:ln w="22860">
            <a:solidFill>
              <a:srgbClr val="0072B2"/>
            </a:solidFill>
            <a:prstDash val="solid"/>
          </a:ln>
        </p:spPr>
      </p:sp>
      <p:sp>
        <p:nvSpPr>
          <p:cNvPr id="21" name="Shape 19"/>
          <p:cNvSpPr/>
          <p:nvPr/>
        </p:nvSpPr>
        <p:spPr>
          <a:xfrm flipV="1">
            <a:off x="5190925" y="4738766"/>
            <a:ext cx="0" cy="198270"/>
          </a:xfrm>
          <a:prstGeom prst="line">
            <a:avLst/>
          </a:prstGeom>
          <a:noFill/>
          <a:ln w="22860">
            <a:solidFill>
              <a:srgbClr val="0072B2"/>
            </a:solidFill>
            <a:prstDash val="solid"/>
            <a:tailEnd type="triangle"/>
          </a:ln>
        </p:spPr>
      </p:sp>
      <p:sp>
        <p:nvSpPr>
          <p:cNvPr id="22" name="Text 20"/>
          <p:cNvSpPr txBox="1"/>
          <p:nvPr/>
        </p:nvSpPr>
        <p:spPr>
          <a:xfrm>
            <a:off x="2455835" y="4967538"/>
            <a:ext cx="1850491"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real digits (bypass G)</a:t>
            </a:r>
            <a:endParaRPr lang="en-US" sz="1441" dirty="0"/>
          </a:p>
        </p:txBody>
      </p:sp>
      <p:sp>
        <p:nvSpPr>
          <p:cNvPr id="23" name="Shape 21"/>
          <p:cNvSpPr/>
          <p:nvPr/>
        </p:nvSpPr>
        <p:spPr>
          <a:xfrm flipV="1">
            <a:off x="8810615" y="2191765"/>
            <a:ext cx="0" cy="747324"/>
          </a:xfrm>
          <a:prstGeom prst="line">
            <a:avLst/>
          </a:prstGeom>
          <a:noFill/>
          <a:ln w="22860">
            <a:solidFill>
              <a:srgbClr val="D55E00"/>
            </a:solidFill>
            <a:prstDash val="dash"/>
          </a:ln>
        </p:spPr>
      </p:sp>
      <p:sp>
        <p:nvSpPr>
          <p:cNvPr id="24" name="Shape 22"/>
          <p:cNvSpPr/>
          <p:nvPr/>
        </p:nvSpPr>
        <p:spPr>
          <a:xfrm flipH="1">
            <a:off x="3381080" y="2191765"/>
            <a:ext cx="5429535" cy="0"/>
          </a:xfrm>
          <a:prstGeom prst="line">
            <a:avLst/>
          </a:prstGeom>
          <a:noFill/>
          <a:ln w="22860">
            <a:solidFill>
              <a:srgbClr val="D55E00"/>
            </a:solidFill>
            <a:prstDash val="dash"/>
          </a:ln>
        </p:spPr>
      </p:sp>
      <p:sp>
        <p:nvSpPr>
          <p:cNvPr id="25" name="Shape 23"/>
          <p:cNvSpPr/>
          <p:nvPr/>
        </p:nvSpPr>
        <p:spPr>
          <a:xfrm>
            <a:off x="3381080" y="2191765"/>
            <a:ext cx="0" cy="747324"/>
          </a:xfrm>
          <a:prstGeom prst="line">
            <a:avLst/>
          </a:prstGeom>
          <a:noFill/>
          <a:ln w="22860">
            <a:solidFill>
              <a:srgbClr val="D55E00"/>
            </a:solidFill>
            <a:prstDash val="dash"/>
            <a:tailEnd type="triangle"/>
          </a:ln>
        </p:spPr>
      </p:sp>
      <p:sp>
        <p:nvSpPr>
          <p:cNvPr id="26" name="Text 24"/>
          <p:cNvSpPr txBox="1"/>
          <p:nvPr/>
        </p:nvSpPr>
        <p:spPr>
          <a:xfrm>
            <a:off x="3748599" y="1917238"/>
            <a:ext cx="4694498"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generation and both updates on the next batch.</a:t>
            </a:r>
            <a:endParaRPr lang="en-US" sz="1441" dirty="0"/>
          </a:p>
        </p:txBody>
      </p:sp>
      <p:sp>
        <p:nvSpPr>
          <p:cNvPr id="27" name="Shape 25"/>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8" name="Text 26"/>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Draw inputs</a:t>
            </a:r>
            <a:endParaRPr lang="en-US" sz="1561" dirty="0"/>
          </a:p>
        </p:txBody>
      </p:sp>
      <p:sp>
        <p:nvSpPr>
          <p:cNvPr id="29" name="Text 27"/>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Noise to G; real</a:t>
            </a:r>
            <a:endParaRPr lang="en-US" sz="1441" dirty="0"/>
          </a:p>
        </p:txBody>
      </p:sp>
      <p:sp>
        <p:nvSpPr>
          <p:cNvPr id="30" name="Text 28"/>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digits to D.</a:t>
            </a:r>
            <a:endParaRPr lang="en-US" sz="1441" dirty="0"/>
          </a:p>
        </p:txBody>
      </p:sp>
      <p:sp>
        <p:nvSpPr>
          <p:cNvPr id="31" name="Text 29"/>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train_dl / Z_DIM</a:t>
            </a:r>
            <a:endParaRPr lang="en-US" sz="1441" dirty="0"/>
          </a:p>
        </p:txBody>
      </p:sp>
      <p:sp>
        <p:nvSpPr>
          <p:cNvPr id="32" name="Shape 30"/>
          <p:cNvSpPr/>
          <p:nvPr/>
        </p:nvSpPr>
        <p:spPr>
          <a:xfrm>
            <a:off x="2598170" y="2939089"/>
            <a:ext cx="1565821" cy="1799677"/>
          </a:xfrm>
          <a:prstGeom prst="rect">
            <a:avLst/>
          </a:prstGeom>
          <a:solidFill>
            <a:srgbClr val="E5F7EF"/>
          </a:solidFill>
          <a:ln w="15240">
            <a:solidFill>
              <a:srgbClr val="009E73"/>
            </a:solidFill>
            <a:prstDash val="solid"/>
          </a:ln>
        </p:spPr>
      </p:sp>
      <p:sp>
        <p:nvSpPr>
          <p:cNvPr id="33" name="Text 31"/>
          <p:cNvSpPr txBox="1"/>
          <p:nvPr/>
        </p:nvSpPr>
        <p:spPr>
          <a:xfrm>
            <a:off x="265917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a:t>
            </a:r>
            <a:endParaRPr lang="en-US" sz="1561" dirty="0"/>
          </a:p>
        </p:txBody>
      </p:sp>
      <p:sp>
        <p:nvSpPr>
          <p:cNvPr id="34" name="Text 32"/>
          <p:cNvSpPr txBox="1"/>
          <p:nvPr/>
        </p:nvSpPr>
        <p:spPr>
          <a:xfrm>
            <a:off x="265917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images</a:t>
            </a:r>
            <a:endParaRPr lang="en-US" sz="1561" dirty="0"/>
          </a:p>
        </p:txBody>
      </p:sp>
      <p:sp>
        <p:nvSpPr>
          <p:cNvPr id="35" name="Text 33"/>
          <p:cNvSpPr txBox="1"/>
          <p:nvPr/>
        </p:nvSpPr>
        <p:spPr>
          <a:xfrm>
            <a:off x="265917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64-number</a:t>
            </a:r>
            <a:endParaRPr lang="en-US" sz="1441" dirty="0"/>
          </a:p>
        </p:txBody>
      </p:sp>
      <p:sp>
        <p:nvSpPr>
          <p:cNvPr id="36" name="Text 34"/>
          <p:cNvSpPr txBox="1"/>
          <p:nvPr/>
        </p:nvSpPr>
        <p:spPr>
          <a:xfrm>
            <a:off x="265917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codes become</a:t>
            </a:r>
            <a:endParaRPr lang="en-US" sz="1441" dirty="0"/>
          </a:p>
        </p:txBody>
      </p:sp>
      <p:sp>
        <p:nvSpPr>
          <p:cNvPr id="37" name="Text 35"/>
          <p:cNvSpPr txBox="1"/>
          <p:nvPr/>
        </p:nvSpPr>
        <p:spPr>
          <a:xfrm>
            <a:off x="265917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digits.</a:t>
            </a:r>
            <a:endParaRPr lang="en-US" sz="1441" dirty="0"/>
          </a:p>
        </p:txBody>
      </p:sp>
      <p:sp>
        <p:nvSpPr>
          <p:cNvPr id="38" name="Text 36"/>
          <p:cNvSpPr txBox="1"/>
          <p:nvPr/>
        </p:nvSpPr>
        <p:spPr>
          <a:xfrm>
            <a:off x="262104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a:t>
            </a:r>
            <a:endParaRPr lang="en-US" sz="1441" dirty="0"/>
          </a:p>
        </p:txBody>
      </p:sp>
      <p:sp>
        <p:nvSpPr>
          <p:cNvPr id="39" name="Shape 37"/>
          <p:cNvSpPr/>
          <p:nvPr/>
        </p:nvSpPr>
        <p:spPr>
          <a:xfrm>
            <a:off x="4408015" y="2939089"/>
            <a:ext cx="1565821" cy="1799677"/>
          </a:xfrm>
          <a:prstGeom prst="rect">
            <a:avLst/>
          </a:prstGeom>
          <a:solidFill>
            <a:srgbClr val="E5F7EF"/>
          </a:solidFill>
          <a:ln w="15240">
            <a:solidFill>
              <a:srgbClr val="009E73"/>
            </a:solidFill>
            <a:prstDash val="solid"/>
          </a:ln>
        </p:spPr>
      </p:sp>
      <p:sp>
        <p:nvSpPr>
          <p:cNvPr id="40" name="Text 38"/>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 both</a:t>
            </a:r>
            <a:endParaRPr lang="en-US" sz="1561" dirty="0"/>
          </a:p>
        </p:txBody>
      </p:sp>
      <p:sp>
        <p:nvSpPr>
          <p:cNvPr id="41" name="Text 39"/>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sources</a:t>
            </a:r>
            <a:endParaRPr lang="en-US" sz="1561" dirty="0"/>
          </a:p>
        </p:txBody>
      </p:sp>
      <p:sp>
        <p:nvSpPr>
          <p:cNvPr id="42" name="Text 40"/>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 reads real and</a:t>
            </a:r>
            <a:endParaRPr lang="en-US" sz="1441" dirty="0"/>
          </a:p>
        </p:txBody>
      </p:sp>
      <p:sp>
        <p:nvSpPr>
          <p:cNvPr id="43" name="Text 41"/>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fake images.</a:t>
            </a:r>
            <a:endParaRPr lang="en-US" sz="1441" dirty="0"/>
          </a:p>
        </p:txBody>
      </p:sp>
      <p:sp>
        <p:nvSpPr>
          <p:cNvPr id="44" name="Text 42"/>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a:t>
            </a:r>
            <a:endParaRPr lang="en-US" sz="1441" dirty="0"/>
          </a:p>
        </p:txBody>
      </p:sp>
      <p:sp>
        <p:nvSpPr>
          <p:cNvPr id="45" name="Shape 43"/>
          <p:cNvSpPr/>
          <p:nvPr/>
        </p:nvSpPr>
        <p:spPr>
          <a:xfrm>
            <a:off x="6217860" y="2939089"/>
            <a:ext cx="1565821" cy="1799677"/>
          </a:xfrm>
          <a:prstGeom prst="roundRect">
            <a:avLst>
              <a:gd name="adj" fmla="val 4672"/>
            </a:avLst>
          </a:prstGeom>
          <a:solidFill>
            <a:srgbClr val="FFF0E6"/>
          </a:solidFill>
          <a:ln w="15240">
            <a:solidFill>
              <a:srgbClr val="D55E00"/>
            </a:solidFill>
            <a:prstDash val="solid"/>
          </a:ln>
        </p:spPr>
      </p:sp>
      <p:sp>
        <p:nvSpPr>
          <p:cNvPr id="46" name="Text 44"/>
          <p:cNvSpPr txBox="1"/>
          <p:nvPr/>
        </p:nvSpPr>
        <p:spPr>
          <a:xfrm>
            <a:off x="627886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Form two</a:t>
            </a:r>
            <a:endParaRPr lang="en-US" sz="1561" dirty="0"/>
          </a:p>
        </p:txBody>
      </p:sp>
      <p:sp>
        <p:nvSpPr>
          <p:cNvPr id="47" name="Text 45"/>
          <p:cNvSpPr txBox="1"/>
          <p:nvPr/>
        </p:nvSpPr>
        <p:spPr>
          <a:xfrm>
            <a:off x="627886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losses</a:t>
            </a:r>
            <a:endParaRPr lang="en-US" sz="1561" dirty="0"/>
          </a:p>
        </p:txBody>
      </p:sp>
      <p:sp>
        <p:nvSpPr>
          <p:cNvPr id="48" name="Text 46"/>
          <p:cNvSpPr txBox="1"/>
          <p:nvPr/>
        </p:nvSpPr>
        <p:spPr>
          <a:xfrm>
            <a:off x="627886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 separates; G</a:t>
            </a:r>
            <a:endParaRPr lang="en-US" sz="1441" dirty="0"/>
          </a:p>
        </p:txBody>
      </p:sp>
      <p:sp>
        <p:nvSpPr>
          <p:cNvPr id="49" name="Text 47"/>
          <p:cNvSpPr txBox="1"/>
          <p:nvPr/>
        </p:nvSpPr>
        <p:spPr>
          <a:xfrm>
            <a:off x="627886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seeks target 1.</a:t>
            </a:r>
            <a:endParaRPr lang="en-US" sz="1441" dirty="0"/>
          </a:p>
        </p:txBody>
      </p:sp>
      <p:sp>
        <p:nvSpPr>
          <p:cNvPr id="50" name="Text 48"/>
          <p:cNvSpPr txBox="1"/>
          <p:nvPr/>
        </p:nvSpPr>
        <p:spPr>
          <a:xfrm>
            <a:off x="6240737" y="413755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d_loss_fn /</a:t>
            </a:r>
            <a:endParaRPr lang="en-US" sz="1441" dirty="0"/>
          </a:p>
        </p:txBody>
      </p:sp>
      <p:sp>
        <p:nvSpPr>
          <p:cNvPr id="51" name="Text 49"/>
          <p:cNvSpPr txBox="1"/>
          <p:nvPr/>
        </p:nvSpPr>
        <p:spPr>
          <a:xfrm>
            <a:off x="624073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g_loss_fn</a:t>
            </a:r>
            <a:endParaRPr lang="en-US" sz="1441" dirty="0"/>
          </a:p>
        </p:txBody>
      </p:sp>
      <p:sp>
        <p:nvSpPr>
          <p:cNvPr id="52" name="Shape 50"/>
          <p:cNvSpPr/>
          <p:nvPr/>
        </p:nvSpPr>
        <p:spPr>
          <a:xfrm>
            <a:off x="8027705" y="2939089"/>
            <a:ext cx="1565821" cy="1799677"/>
          </a:xfrm>
          <a:prstGeom prst="rect">
            <a:avLst/>
          </a:prstGeom>
          <a:solidFill>
            <a:srgbClr val="E5F7EF"/>
          </a:solidFill>
          <a:ln w="15240">
            <a:solidFill>
              <a:srgbClr val="009E73"/>
            </a:solidFill>
            <a:prstDash val="solid"/>
          </a:ln>
        </p:spPr>
      </p:sp>
      <p:sp>
        <p:nvSpPr>
          <p:cNvPr id="53" name="Text 51"/>
          <p:cNvSpPr txBox="1"/>
          <p:nvPr/>
        </p:nvSpPr>
        <p:spPr>
          <a:xfrm>
            <a:off x="808871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Alternate</a:t>
            </a:r>
            <a:endParaRPr lang="en-US" sz="1561" dirty="0"/>
          </a:p>
        </p:txBody>
      </p:sp>
      <p:sp>
        <p:nvSpPr>
          <p:cNvPr id="54" name="Text 52"/>
          <p:cNvSpPr txBox="1"/>
          <p:nvPr/>
        </p:nvSpPr>
        <p:spPr>
          <a:xfrm>
            <a:off x="808871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updates</a:t>
            </a:r>
            <a:endParaRPr lang="en-US" sz="1561" dirty="0"/>
          </a:p>
        </p:txBody>
      </p:sp>
      <p:sp>
        <p:nvSpPr>
          <p:cNvPr id="55" name="Text 53"/>
          <p:cNvSpPr txBox="1"/>
          <p:nvPr/>
        </p:nvSpPr>
        <p:spPr>
          <a:xfrm>
            <a:off x="808871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Step D, then</a:t>
            </a:r>
            <a:endParaRPr lang="en-US" sz="1441" dirty="0"/>
          </a:p>
        </p:txBody>
      </p:sp>
      <p:sp>
        <p:nvSpPr>
          <p:cNvPr id="56" name="Text 54"/>
          <p:cNvSpPr txBox="1"/>
          <p:nvPr/>
        </p:nvSpPr>
        <p:spPr>
          <a:xfrm>
            <a:off x="808871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step G through</a:t>
            </a:r>
            <a:endParaRPr lang="en-US" sz="1441" dirty="0"/>
          </a:p>
        </p:txBody>
      </p:sp>
      <p:sp>
        <p:nvSpPr>
          <p:cNvPr id="57" name="Text 55"/>
          <p:cNvSpPr txBox="1"/>
          <p:nvPr/>
        </p:nvSpPr>
        <p:spPr>
          <a:xfrm>
            <a:off x="808871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a:t>
            </a:r>
            <a:endParaRPr lang="en-US" sz="1441" dirty="0"/>
          </a:p>
        </p:txBody>
      </p:sp>
      <p:sp>
        <p:nvSpPr>
          <p:cNvPr id="58" name="Text 56"/>
          <p:cNvSpPr txBox="1"/>
          <p:nvPr/>
        </p:nvSpPr>
        <p:spPr>
          <a:xfrm>
            <a:off x="805058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opt_D / opt_G</a:t>
            </a:r>
            <a:endParaRPr lang="en-US" sz="1441" dirty="0"/>
          </a:p>
        </p:txBody>
      </p:sp>
      <p:sp>
        <p:nvSpPr>
          <p:cNvPr id="59" name="Shape 57"/>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60" name="Text 58"/>
          <p:cNvSpPr txBox="1"/>
          <p:nvPr/>
        </p:nvSpPr>
        <p:spPr>
          <a:xfrm>
            <a:off x="9898555"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61" name="Text 59"/>
          <p:cNvSpPr txBox="1"/>
          <p:nvPr/>
        </p:nvSpPr>
        <p:spPr>
          <a:xfrm>
            <a:off x="9898555"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progress</a:t>
            </a:r>
            <a:endParaRPr lang="en-US" sz="1561" dirty="0"/>
          </a:p>
        </p:txBody>
      </p:sp>
      <p:sp>
        <p:nvSpPr>
          <p:cNvPr id="62" name="Text 60"/>
          <p:cNvSpPr txBox="1"/>
          <p:nvPr/>
        </p:nvSpPr>
        <p:spPr>
          <a:xfrm>
            <a:off x="9898555"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Fixed-noise</a:t>
            </a:r>
            <a:endParaRPr lang="en-US" sz="1441" dirty="0"/>
          </a:p>
        </p:txBody>
      </p:sp>
      <p:sp>
        <p:nvSpPr>
          <p:cNvPr id="63" name="Text 61"/>
          <p:cNvSpPr txBox="1"/>
          <p:nvPr/>
        </p:nvSpPr>
        <p:spPr>
          <a:xfrm>
            <a:off x="9898555"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images and</a:t>
            </a:r>
            <a:endParaRPr lang="en-US" sz="1441" dirty="0"/>
          </a:p>
        </p:txBody>
      </p:sp>
      <p:sp>
        <p:nvSpPr>
          <p:cNvPr id="64" name="Text 62"/>
          <p:cNvSpPr txBox="1"/>
          <p:nvPr/>
        </p:nvSpPr>
        <p:spPr>
          <a:xfrm>
            <a:off x="9898555"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coverage.</a:t>
            </a:r>
            <a:endParaRPr lang="en-US" sz="1441" dirty="0"/>
          </a:p>
        </p:txBody>
      </p:sp>
      <p:sp>
        <p:nvSpPr>
          <p:cNvPr id="65" name="Text 63"/>
          <p:cNvSpPr txBox="1"/>
          <p:nvPr/>
        </p:nvSpPr>
        <p:spPr>
          <a:xfrm>
            <a:off x="986042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snapshots</a:t>
            </a:r>
            <a:endParaRPr lang="en-US" sz="1441" dirty="0"/>
          </a:p>
        </p:txBody>
      </p:sp>
      <p:sp>
        <p:nvSpPr>
          <p:cNvPr id="66" name="Shape 6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67" name="Text 6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68" name="Shape 66"/>
          <p:cNvSpPr/>
          <p:nvPr/>
        </p:nvSpPr>
        <p:spPr>
          <a:xfrm>
            <a:off x="2118929" y="5630979"/>
            <a:ext cx="198270" cy="198270"/>
          </a:xfrm>
          <a:prstGeom prst="rect">
            <a:avLst/>
          </a:prstGeom>
          <a:solidFill>
            <a:srgbClr val="E5F7EF"/>
          </a:solidFill>
          <a:ln w="15240">
            <a:solidFill>
              <a:srgbClr val="009E73"/>
            </a:solidFill>
            <a:prstDash val="solid"/>
          </a:ln>
        </p:spPr>
      </p:sp>
      <p:sp>
        <p:nvSpPr>
          <p:cNvPr id="69" name="Text 6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70" name="Shape 68"/>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71" name="Text 69"/>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72" name="Shape 70"/>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73" name="Text 71"/>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74" name="Shape 72"/>
          <p:cNvSpPr/>
          <p:nvPr/>
        </p:nvSpPr>
        <p:spPr>
          <a:xfrm>
            <a:off x="5804824" y="5730113"/>
            <a:ext cx="335533" cy="0"/>
          </a:xfrm>
          <a:prstGeom prst="line">
            <a:avLst/>
          </a:prstGeom>
          <a:noFill/>
          <a:ln w="22860">
            <a:solidFill>
              <a:srgbClr val="009E73"/>
            </a:solidFill>
            <a:prstDash val="solid"/>
            <a:tailEnd type="triangle"/>
          </a:ln>
        </p:spPr>
      </p:sp>
      <p:sp>
        <p:nvSpPr>
          <p:cNvPr id="75" name="Text 73"/>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76" name="Shape 74"/>
          <p:cNvSpPr/>
          <p:nvPr/>
        </p:nvSpPr>
        <p:spPr>
          <a:xfrm>
            <a:off x="7188209" y="5730113"/>
            <a:ext cx="335533" cy="0"/>
          </a:xfrm>
          <a:prstGeom prst="line">
            <a:avLst/>
          </a:prstGeom>
          <a:noFill/>
          <a:ln w="22860">
            <a:solidFill>
              <a:srgbClr val="D55E00"/>
            </a:solidFill>
            <a:prstDash val="dash"/>
            <a:tailEnd type="triangle"/>
          </a:ln>
        </p:spPr>
      </p:sp>
      <p:sp>
        <p:nvSpPr>
          <p:cNvPr id="77" name="Text 75"/>
          <p:cNvSpPr txBox="1"/>
          <p:nvPr/>
        </p:nvSpPr>
        <p:spPr>
          <a:xfrm>
            <a:off x="7584748"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78" name="Text 76"/>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Which networks must run to generate a new digit after training?</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motivation: a learned loss for realism</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Pixel losses can blur uncertain details.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 learns real-versus-generated differences.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G learns from D’s feedback.</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Basic GANs sample without a tractable likelihood.</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Learn a checker from real examples.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GAN architecture: two networks, one game</a:t>
            </a:r>
            <a:endParaRPr lang="en-US" sz="3200" dirty="0"/>
          </a:p>
        </p:txBody>
      </p:sp>
      <p:pic>
        <p:nvPicPr>
          <p:cNvPr id="6" name="Image 0" descr="C:\Users\sudee\Downloads\Generative_AI_2027_Teaching_Pack\AI2027_Project\build\figures\week_03\gan_arch.png">    </p:cNvPr>
          <p:cNvPicPr>
            <a:picLocks noChangeAspect="1"/>
          </p:cNvPicPr>
          <p:nvPr/>
        </p:nvPicPr>
        <p:blipFill>
          <a:blip r:embed="rId1"/>
          <a:stretch>
            <a:fillRect/>
          </a:stretch>
        </p:blipFill>
        <p:spPr>
          <a:xfrm>
            <a:off x="548640" y="1596260"/>
            <a:ext cx="11094415" cy="459816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Generator vs. discriminator</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Generator G</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Turns a random code z into an image.</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Learns only from D's feedback, aiming to be called real.</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Kept after training to make new images.</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Example: 64 random numbers in, a 28 × 28 digit out.</a:t>
            </a:r>
            <a:endParaRPr lang="en-US" sz="21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Discriminator D</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Gives each image a real-or-fake score.</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Learns from real images and the current fakes.</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Usually discarded after training.</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Example: a clear real digit scores 0.9; a smudge, 0.1.</a:t>
            </a:r>
            <a:endParaRPr lang="en-US" sz="21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Two networks, two losses, two updates.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822960" y="1005840"/>
            <a:ext cx="10545775" cy="4846320"/>
          </a:xfrm>
          <a:prstGeom prst="roundRect">
            <a:avLst>
              <a:gd name="adj" fmla="val 3774"/>
            </a:avLst>
          </a:prstGeom>
          <a:solidFill>
            <a:srgbClr val="EEF0FF"/>
          </a:solidFill>
          <a:ln w="12700">
            <a:solidFill>
              <a:srgbClr val="EEF0FF"/>
            </a:solidFill>
            <a:prstDash val="solid"/>
          </a:ln>
        </p:spPr>
      </p:sp>
      <p:sp>
        <p:nvSpPr>
          <p:cNvPr id="6" name="Shape 4"/>
          <p:cNvSpPr/>
          <p:nvPr/>
        </p:nvSpPr>
        <p:spPr>
          <a:xfrm>
            <a:off x="1280160" y="1463040"/>
            <a:ext cx="822960" cy="82296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1477670" y="1660550"/>
            <a:ext cx="427939" cy="427939"/>
          </a:xfrm>
          <a:prstGeom prst="rect">
            <a:avLst/>
          </a:prstGeom>
        </p:spPr>
      </p:pic>
      <p:sp>
        <p:nvSpPr>
          <p:cNvPr id="8" name="Text 5"/>
          <p:cNvSpPr txBox="1"/>
          <p:nvPr/>
        </p:nvSpPr>
        <p:spPr>
          <a:xfrm>
            <a:off x="2286000" y="1600200"/>
            <a:ext cx="7315200" cy="548640"/>
          </a:xfrm>
          <a:prstGeom prst="rect">
            <a:avLst/>
          </a:prstGeom>
          <a:noFill/>
          <a:ln/>
        </p:spPr>
        <p:txBody>
          <a:bodyPr wrap="square" lIns="50800" tIns="50800" rIns="50800" bIns="50800" rtlCol="0" anchor="ctr"/>
          <a:lstStyle/>
          <a:p>
            <a:pPr indent="0" marL="0">
              <a:buNone/>
            </a:pPr>
            <a:r>
              <a:rPr lang="en-US" sz="1600" b="1" spc="200" kern="0" dirty="0">
                <a:solidFill>
                  <a:srgbClr val="EA580C"/>
                </a:solidFill>
                <a:latin typeface="Calibri" pitchFamily="34" charset="0"/>
                <a:ea typeface="Calibri" pitchFamily="34" charset="-122"/>
                <a:cs typeface="Calibri" pitchFamily="34" charset="-120"/>
              </a:rPr>
              <a:t>ANALOGY AND ITS LIMITS</a:t>
            </a:r>
            <a:endParaRPr lang="en-US" sz="1600" dirty="0"/>
          </a:p>
        </p:txBody>
      </p:sp>
      <p:sp>
        <p:nvSpPr>
          <p:cNvPr id="9" name="Text 6"/>
          <p:cNvSpPr txBox="1"/>
          <p:nvPr/>
        </p:nvSpPr>
        <p:spPr>
          <a:xfrm>
            <a:off x="1371600" y="2377440"/>
            <a:ext cx="9448495" cy="2377440"/>
          </a:xfrm>
          <a:prstGeom prst="rect">
            <a:avLst/>
          </a:prstGeom>
          <a:noFill/>
          <a:ln/>
        </p:spPr>
        <p:txBody>
          <a:bodyPr wrap="square" lIns="50800" tIns="50800" rIns="50800" bIns="50800" rtlCol="0" anchor="ctr"/>
          <a:lstStyle/>
          <a:p>
            <a:pPr indent="0" marL="0">
              <a:buNone/>
            </a:pPr>
            <a:r>
              <a:rPr lang="en-US" sz="3400" b="1" dirty="0">
                <a:solidFill>
                  <a:srgbClr val="1E1B4B"/>
                </a:solidFill>
                <a:latin typeface="Calibri" pitchFamily="34" charset="0"/>
                <a:ea typeface="Calibri" pitchFamily="34" charset="-122"/>
                <a:cs typeface="Calibri" pitchFamily="34" charset="-120"/>
              </a:rPr>
              <a:t>The generator makes samples. The discriminator checks them. Each learns from the other.</a:t>
            </a:r>
            <a:endParaRPr lang="en-US" sz="3400" dirty="0"/>
          </a:p>
        </p:txBody>
      </p:sp>
      <p:sp>
        <p:nvSpPr>
          <p:cNvPr id="10" name="Text 7"/>
          <p:cNvSpPr txBox="1"/>
          <p:nvPr/>
        </p:nvSpPr>
        <p:spPr>
          <a:xfrm>
            <a:off x="1371600" y="4754880"/>
            <a:ext cx="9448495" cy="914400"/>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At the ideal solution, real and generated samples have the same distribution. Training may fail to reach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GAN objective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game are the networks playing, and where does it end?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the GAN training feedback comes from</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Real images train the discriminator. Its feedback trains the generator.</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real and detached</a:t>
            </a:r>
            <a:endParaRPr lang="en-US" sz="1441" dirty="0"/>
          </a:p>
        </p:txBody>
      </p:sp>
      <p:sp>
        <p:nvSpPr>
          <p:cNvPr id="9" name="Text 7"/>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fake batches</a:t>
            </a:r>
            <a:endParaRPr lang="en-US" sz="1441" dirty="0"/>
          </a:p>
        </p:txBody>
      </p:sp>
      <p:sp>
        <p:nvSpPr>
          <p:cNvPr id="10" name="Shape 8"/>
          <p:cNvSpPr/>
          <p:nvPr/>
        </p:nvSpPr>
        <p:spPr>
          <a:xfrm>
            <a:off x="4887929" y="3838927"/>
            <a:ext cx="244024" cy="0"/>
          </a:xfrm>
          <a:prstGeom prst="line">
            <a:avLst/>
          </a:prstGeom>
          <a:noFill/>
          <a:ln w="22860">
            <a:solidFill>
              <a:srgbClr val="009E73"/>
            </a:solidFill>
            <a:prstDash val="solid"/>
            <a:tailEnd type="triangle"/>
          </a:ln>
        </p:spPr>
      </p:sp>
      <p:sp>
        <p:nvSpPr>
          <p:cNvPr id="11" name="Text 9"/>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updated D</a:t>
            </a:r>
            <a:endParaRPr lang="en-US" sz="1441" dirty="0"/>
          </a:p>
        </p:txBody>
      </p:sp>
      <p:sp>
        <p:nvSpPr>
          <p:cNvPr id="12" name="Shape 10"/>
          <p:cNvSpPr/>
          <p:nvPr/>
        </p:nvSpPr>
        <p:spPr>
          <a:xfrm>
            <a:off x="7059743" y="3838927"/>
            <a:ext cx="244024" cy="0"/>
          </a:xfrm>
          <a:prstGeom prst="line">
            <a:avLst/>
          </a:prstGeom>
          <a:noFill/>
          <a:ln w="22860">
            <a:solidFill>
              <a:srgbClr val="009E73"/>
            </a:solidFill>
            <a:prstDash val="solid"/>
            <a:tailEnd type="triangle"/>
          </a:ln>
        </p:spPr>
      </p:sp>
      <p:sp>
        <p:nvSpPr>
          <p:cNvPr id="13" name="Text 11"/>
          <p:cNvSpPr txBox="1"/>
          <p:nvPr/>
        </p:nvSpPr>
        <p:spPr>
          <a:xfrm>
            <a:off x="6381051"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fake logits linked</a:t>
            </a:r>
            <a:endParaRPr lang="en-US" sz="1441" dirty="0"/>
          </a:p>
        </p:txBody>
      </p:sp>
      <p:sp>
        <p:nvSpPr>
          <p:cNvPr id="14" name="Text 12"/>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to G</a:t>
            </a:r>
            <a:endParaRPr lang="en-US" sz="1441" dirty="0"/>
          </a:p>
        </p:txBody>
      </p:sp>
      <p:sp>
        <p:nvSpPr>
          <p:cNvPr id="15" name="Shape 13"/>
          <p:cNvSpPr/>
          <p:nvPr/>
        </p:nvSpPr>
        <p:spPr>
          <a:xfrm>
            <a:off x="9231556" y="3838927"/>
            <a:ext cx="244024" cy="0"/>
          </a:xfrm>
          <a:prstGeom prst="line">
            <a:avLst/>
          </a:prstGeom>
          <a:noFill/>
          <a:ln w="22860">
            <a:solidFill>
              <a:srgbClr val="009E73"/>
            </a:solidFill>
            <a:prstDash val="solid"/>
            <a:tailEnd type="triangle"/>
          </a:ln>
        </p:spPr>
      </p:sp>
      <p:sp>
        <p:nvSpPr>
          <p:cNvPr id="16" name="Text 14"/>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updated G</a:t>
            </a:r>
            <a:endParaRPr lang="en-US" sz="1441" dirty="0"/>
          </a:p>
        </p:txBody>
      </p:sp>
      <p:sp>
        <p:nvSpPr>
          <p:cNvPr id="17" name="Shape 15"/>
          <p:cNvSpPr/>
          <p:nvPr/>
        </p:nvSpPr>
        <p:spPr>
          <a:xfrm>
            <a:off x="1752220" y="4738766"/>
            <a:ext cx="0" cy="198270"/>
          </a:xfrm>
          <a:prstGeom prst="line">
            <a:avLst/>
          </a:prstGeom>
          <a:noFill/>
          <a:ln w="22860">
            <a:solidFill>
              <a:srgbClr val="0072B2"/>
            </a:solidFill>
            <a:prstDash val="solid"/>
          </a:ln>
        </p:spPr>
      </p:sp>
      <p:sp>
        <p:nvSpPr>
          <p:cNvPr id="18" name="Shape 16"/>
          <p:cNvSpPr/>
          <p:nvPr/>
        </p:nvSpPr>
        <p:spPr>
          <a:xfrm>
            <a:off x="1752220" y="4937035"/>
            <a:ext cx="4343628" cy="0"/>
          </a:xfrm>
          <a:prstGeom prst="line">
            <a:avLst/>
          </a:prstGeom>
          <a:noFill/>
          <a:ln w="22860">
            <a:solidFill>
              <a:srgbClr val="0072B2"/>
            </a:solidFill>
            <a:prstDash val="solid"/>
          </a:ln>
        </p:spPr>
      </p:sp>
      <p:sp>
        <p:nvSpPr>
          <p:cNvPr id="19" name="Shape 17"/>
          <p:cNvSpPr/>
          <p:nvPr/>
        </p:nvSpPr>
        <p:spPr>
          <a:xfrm flipV="1">
            <a:off x="6095848" y="4738766"/>
            <a:ext cx="0" cy="198270"/>
          </a:xfrm>
          <a:prstGeom prst="line">
            <a:avLst/>
          </a:prstGeom>
          <a:noFill/>
          <a:ln w="22860">
            <a:solidFill>
              <a:srgbClr val="0072B2"/>
            </a:solidFill>
            <a:prstDash val="solid"/>
            <a:tailEnd type="triangle"/>
          </a:ln>
        </p:spPr>
      </p:sp>
      <p:sp>
        <p:nvSpPr>
          <p:cNvPr id="20" name="Text 18"/>
          <p:cNvSpPr txBox="1"/>
          <p:nvPr/>
        </p:nvSpPr>
        <p:spPr>
          <a:xfrm>
            <a:off x="2756515" y="4967538"/>
            <a:ext cx="2335037"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linked fakes (G graph kept)</a:t>
            </a:r>
            <a:endParaRPr lang="en-US" sz="1441" dirty="0"/>
          </a:p>
        </p:txBody>
      </p:sp>
      <p:sp>
        <p:nvSpPr>
          <p:cNvPr id="21" name="Shape 19"/>
          <p:cNvSpPr/>
          <p:nvPr/>
        </p:nvSpPr>
        <p:spPr>
          <a:xfrm flipV="1">
            <a:off x="8267661" y="2191765"/>
            <a:ext cx="0" cy="747324"/>
          </a:xfrm>
          <a:prstGeom prst="line">
            <a:avLst/>
          </a:prstGeom>
          <a:noFill/>
          <a:ln w="22860">
            <a:solidFill>
              <a:srgbClr val="D55E00"/>
            </a:solidFill>
            <a:prstDash val="dash"/>
          </a:ln>
        </p:spPr>
      </p:sp>
      <p:sp>
        <p:nvSpPr>
          <p:cNvPr id="22" name="Shape 20"/>
          <p:cNvSpPr/>
          <p:nvPr/>
        </p:nvSpPr>
        <p:spPr>
          <a:xfrm flipH="1">
            <a:off x="1752220" y="2191765"/>
            <a:ext cx="6515442" cy="0"/>
          </a:xfrm>
          <a:prstGeom prst="line">
            <a:avLst/>
          </a:prstGeom>
          <a:noFill/>
          <a:ln w="22860">
            <a:solidFill>
              <a:srgbClr val="D55E00"/>
            </a:solidFill>
            <a:prstDash val="dash"/>
          </a:ln>
        </p:spPr>
      </p:sp>
      <p:sp>
        <p:nvSpPr>
          <p:cNvPr id="23" name="Shape 21"/>
          <p:cNvSpPr/>
          <p:nvPr/>
        </p:nvSpPr>
        <p:spPr>
          <a:xfrm>
            <a:off x="1752220" y="2191765"/>
            <a:ext cx="0" cy="747324"/>
          </a:xfrm>
          <a:prstGeom prst="line">
            <a:avLst/>
          </a:prstGeom>
          <a:noFill/>
          <a:ln w="22860">
            <a:solidFill>
              <a:srgbClr val="D55E00"/>
            </a:solidFill>
            <a:prstDash val="dash"/>
            <a:tailEnd type="triangle"/>
          </a:ln>
        </p:spPr>
      </p:sp>
      <p:sp>
        <p:nvSpPr>
          <p:cNvPr id="24" name="Text 22"/>
          <p:cNvSpPr txBox="1"/>
          <p:nvPr/>
        </p:nvSpPr>
        <p:spPr>
          <a:xfrm>
            <a:off x="3005170" y="1917238"/>
            <a:ext cx="4009542"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both weight updates with a fresh batch.</a:t>
            </a:r>
            <a:endParaRPr lang="en-US" sz="1441" dirty="0"/>
          </a:p>
        </p:txBody>
      </p:sp>
      <p:sp>
        <p:nvSpPr>
          <p:cNvPr id="25" name="Shape 23"/>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6" name="Text 24"/>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Get real and fake</a:t>
            </a:r>
            <a:endParaRPr lang="en-US" sz="1561" dirty="0"/>
          </a:p>
        </p:txBody>
      </p:sp>
      <p:sp>
        <p:nvSpPr>
          <p:cNvPr id="27" name="Text 25"/>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Real data; G makes</a:t>
            </a:r>
            <a:endParaRPr lang="en-US" sz="1441" dirty="0"/>
          </a:p>
        </p:txBody>
      </p:sp>
      <p:sp>
        <p:nvSpPr>
          <p:cNvPr id="28" name="Text 26"/>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 fake batch.</a:t>
            </a:r>
            <a:endParaRPr lang="en-US" sz="1441" dirty="0"/>
          </a:p>
        </p:txBody>
      </p:sp>
      <p:sp>
        <p:nvSpPr>
          <p:cNvPr id="29" name="Text 27"/>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train_dl / G</a:t>
            </a:r>
            <a:endParaRPr lang="en-US" sz="1441" dirty="0"/>
          </a:p>
        </p:txBody>
      </p:sp>
      <p:sp>
        <p:nvSpPr>
          <p:cNvPr id="30" name="Shape 28"/>
          <p:cNvSpPr/>
          <p:nvPr/>
        </p:nvSpPr>
        <p:spPr>
          <a:xfrm>
            <a:off x="2960139" y="2939089"/>
            <a:ext cx="1927790" cy="1799677"/>
          </a:xfrm>
          <a:prstGeom prst="roundRect">
            <a:avLst>
              <a:gd name="adj" fmla="val 4065"/>
            </a:avLst>
          </a:prstGeom>
          <a:solidFill>
            <a:srgbClr val="FFF0E6"/>
          </a:solidFill>
          <a:ln w="15240">
            <a:solidFill>
              <a:srgbClr val="D55E00"/>
            </a:solidFill>
            <a:prstDash val="solid"/>
          </a:ln>
        </p:spPr>
      </p:sp>
      <p:sp>
        <p:nvSpPr>
          <p:cNvPr id="31" name="Text 29"/>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D</a:t>
            </a:r>
            <a:endParaRPr lang="en-US" sz="1561" dirty="0"/>
          </a:p>
        </p:txBody>
      </p:sp>
      <p:sp>
        <p:nvSpPr>
          <p:cNvPr id="32" name="Text 30"/>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Real 1; detached</a:t>
            </a:r>
            <a:endParaRPr lang="en-US" sz="1441" dirty="0"/>
          </a:p>
        </p:txBody>
      </p:sp>
      <p:sp>
        <p:nvSpPr>
          <p:cNvPr id="33" name="Text 31"/>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fake 0.</a:t>
            </a:r>
            <a:endParaRPr lang="en-US" sz="1441" dirty="0"/>
          </a:p>
        </p:txBody>
      </p:sp>
      <p:sp>
        <p:nvSpPr>
          <p:cNvPr id="34" name="Text 32"/>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d_loss_fn / opt_D</a:t>
            </a:r>
            <a:endParaRPr lang="en-US" sz="1441" dirty="0"/>
          </a:p>
        </p:txBody>
      </p:sp>
      <p:sp>
        <p:nvSpPr>
          <p:cNvPr id="35" name="Shape 33"/>
          <p:cNvSpPr/>
          <p:nvPr/>
        </p:nvSpPr>
        <p:spPr>
          <a:xfrm>
            <a:off x="5131953" y="2939089"/>
            <a:ext cx="1927790" cy="1799677"/>
          </a:xfrm>
          <a:prstGeom prst="rect">
            <a:avLst/>
          </a:prstGeom>
          <a:solidFill>
            <a:srgbClr val="E5F7EF"/>
          </a:solidFill>
          <a:ln w="15240">
            <a:solidFill>
              <a:srgbClr val="009E73"/>
            </a:solidFill>
            <a:prstDash val="solid"/>
          </a:ln>
        </p:spPr>
      </p:sp>
      <p:sp>
        <p:nvSpPr>
          <p:cNvPr id="36" name="Text 34"/>
          <p:cNvSpPr txBox="1"/>
          <p:nvPr/>
        </p:nvSpPr>
        <p:spPr>
          <a:xfrm>
            <a:off x="5192959"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Recheck linked</a:t>
            </a:r>
            <a:endParaRPr lang="en-US" sz="1561" dirty="0"/>
          </a:p>
        </p:txBody>
      </p:sp>
      <p:sp>
        <p:nvSpPr>
          <p:cNvPr id="37" name="Text 35"/>
          <p:cNvSpPr txBox="1"/>
          <p:nvPr/>
        </p:nvSpPr>
        <p:spPr>
          <a:xfrm>
            <a:off x="5192959"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fakes</a:t>
            </a:r>
            <a:endParaRPr lang="en-US" sz="1561" dirty="0"/>
          </a:p>
        </p:txBody>
      </p:sp>
      <p:sp>
        <p:nvSpPr>
          <p:cNvPr id="38" name="Text 36"/>
          <p:cNvSpPr txBox="1"/>
          <p:nvPr/>
        </p:nvSpPr>
        <p:spPr>
          <a:xfrm>
            <a:off x="5192959"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Updated D passes</a:t>
            </a:r>
            <a:endParaRPr lang="en-US" sz="1441" dirty="0"/>
          </a:p>
        </p:txBody>
      </p:sp>
      <p:sp>
        <p:nvSpPr>
          <p:cNvPr id="39" name="Text 37"/>
          <p:cNvSpPr txBox="1"/>
          <p:nvPr/>
        </p:nvSpPr>
        <p:spPr>
          <a:xfrm>
            <a:off x="5192959"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feedback to G.</a:t>
            </a:r>
            <a:endParaRPr lang="en-US" sz="1441" dirty="0"/>
          </a:p>
        </p:txBody>
      </p:sp>
      <p:sp>
        <p:nvSpPr>
          <p:cNvPr id="40" name="Text 38"/>
          <p:cNvSpPr txBox="1"/>
          <p:nvPr/>
        </p:nvSpPr>
        <p:spPr>
          <a:xfrm>
            <a:off x="5154830"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 / fake</a:t>
            </a:r>
            <a:endParaRPr lang="en-US" sz="1441" dirty="0"/>
          </a:p>
        </p:txBody>
      </p:sp>
      <p:sp>
        <p:nvSpPr>
          <p:cNvPr id="41" name="Shape 39"/>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42" name="Text 40"/>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G</a:t>
            </a:r>
            <a:endParaRPr lang="en-US" sz="1561" dirty="0"/>
          </a:p>
        </p:txBody>
      </p:sp>
      <p:sp>
        <p:nvSpPr>
          <p:cNvPr id="43" name="Text 41"/>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Fake target 1; step</a:t>
            </a:r>
            <a:endParaRPr lang="en-US" sz="1441" dirty="0"/>
          </a:p>
        </p:txBody>
      </p:sp>
      <p:sp>
        <p:nvSpPr>
          <p:cNvPr id="44" name="Text 42"/>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only G.</a:t>
            </a:r>
            <a:endParaRPr lang="en-US" sz="1441" dirty="0"/>
          </a:p>
        </p:txBody>
      </p:sp>
      <p:sp>
        <p:nvSpPr>
          <p:cNvPr id="45" name="Text 43"/>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g_loss_fn / opt_G</a:t>
            </a:r>
            <a:endParaRPr lang="en-US" sz="1441" dirty="0"/>
          </a:p>
        </p:txBody>
      </p:sp>
      <p:sp>
        <p:nvSpPr>
          <p:cNvPr id="46" name="Shape 4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47" name="Text 45"/>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Record samples</a:t>
            </a:r>
            <a:endParaRPr lang="en-US" sz="1561" dirty="0"/>
          </a:p>
        </p:txBody>
      </p:sp>
      <p:sp>
        <p:nvSpPr>
          <p:cNvPr id="48" name="Text 46"/>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Fixed noise reveals</a:t>
            </a:r>
            <a:endParaRPr lang="en-US" sz="1441" dirty="0"/>
          </a:p>
        </p:txBody>
      </p:sp>
      <p:sp>
        <p:nvSpPr>
          <p:cNvPr id="49" name="Text 47"/>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changes.</a:t>
            </a:r>
            <a:endParaRPr lang="en-US" sz="1441" dirty="0"/>
          </a:p>
        </p:txBody>
      </p:sp>
      <p:sp>
        <p:nvSpPr>
          <p:cNvPr id="50" name="Text 48"/>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snapshots</a:t>
            </a:r>
            <a:endParaRPr lang="en-US" sz="1441" dirty="0"/>
          </a:p>
        </p:txBody>
      </p:sp>
      <p:sp>
        <p:nvSpPr>
          <p:cNvPr id="51" name="Shape 4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2" name="Text 5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3" name="Shape 51"/>
          <p:cNvSpPr/>
          <p:nvPr/>
        </p:nvSpPr>
        <p:spPr>
          <a:xfrm>
            <a:off x="2118929" y="5630979"/>
            <a:ext cx="198270" cy="198270"/>
          </a:xfrm>
          <a:prstGeom prst="rect">
            <a:avLst/>
          </a:prstGeom>
          <a:solidFill>
            <a:srgbClr val="E5F7EF"/>
          </a:solidFill>
          <a:ln w="15240">
            <a:solidFill>
              <a:srgbClr val="009E73"/>
            </a:solidFill>
            <a:prstDash val="solid"/>
          </a:ln>
        </p:spPr>
      </p:sp>
      <p:sp>
        <p:nvSpPr>
          <p:cNvPr id="54" name="Text 5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5" name="Shape 53"/>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6" name="Text 54"/>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7" name="Shape 55"/>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58" name="Text 56"/>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9" name="Shape 57"/>
          <p:cNvSpPr/>
          <p:nvPr/>
        </p:nvSpPr>
        <p:spPr>
          <a:xfrm>
            <a:off x="5804824" y="5730113"/>
            <a:ext cx="335533" cy="0"/>
          </a:xfrm>
          <a:prstGeom prst="line">
            <a:avLst/>
          </a:prstGeom>
          <a:noFill/>
          <a:ln w="22860">
            <a:solidFill>
              <a:srgbClr val="009E73"/>
            </a:solidFill>
            <a:prstDash val="solid"/>
            <a:tailEnd type="triangle"/>
          </a:ln>
        </p:spPr>
      </p:sp>
      <p:sp>
        <p:nvSpPr>
          <p:cNvPr id="60" name="Text 58"/>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1" name="Shape 59"/>
          <p:cNvSpPr/>
          <p:nvPr/>
        </p:nvSpPr>
        <p:spPr>
          <a:xfrm>
            <a:off x="7188209" y="5730113"/>
            <a:ext cx="335533" cy="0"/>
          </a:xfrm>
          <a:prstGeom prst="line">
            <a:avLst/>
          </a:prstGeom>
          <a:noFill/>
          <a:ln w="22860">
            <a:solidFill>
              <a:srgbClr val="D55E00"/>
            </a:solidFill>
            <a:prstDash val="dash"/>
            <a:tailEnd type="triangle"/>
          </a:ln>
        </p:spPr>
      </p:sp>
      <p:sp>
        <p:nvSpPr>
          <p:cNvPr id="62" name="Text 60"/>
          <p:cNvSpPr txBox="1"/>
          <p:nvPr/>
        </p:nvSpPr>
        <p:spPr>
          <a:xfrm>
            <a:off x="7584748"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3" name="Text 61"/>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is the generator target 1 for a fake image?</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minimax game (Goodfellow et al., 2014)</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3c35548d5c983dbd.png">    </p:cNvPr>
          <p:cNvPicPr>
            <a:picLocks noChangeAspect="1"/>
          </p:cNvPicPr>
          <p:nvPr/>
        </p:nvPicPr>
        <p:blipFill>
          <a:blip r:embed="rId1"/>
          <a:stretch>
            <a:fillRect/>
          </a:stretch>
        </p:blipFill>
        <p:spPr>
          <a:xfrm>
            <a:off x="2061820" y="1905000"/>
            <a:ext cx="8068056" cy="478536"/>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 increases the value: separate real and fake.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 decreases it: make fakes score higher.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Alternate updates on batches.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D(x)</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probability D assigns to x being real</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G(z)</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sample generated from noise z</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p</a:t>
            </a:r>
            <a:pPr indent="0" marL="0">
              <a:buNone/>
            </a:pPr>
            <a:r>
              <a:rPr lang="en-US" sz="1700" b="1" baseline="-40000" dirty="0">
                <a:solidFill>
                  <a:srgbClr val="1E1B4B"/>
                </a:solidFill>
                <a:latin typeface="Cambria Math" pitchFamily="34" charset="0"/>
                <a:ea typeface="Cambria Math" pitchFamily="34" charset="-122"/>
                <a:cs typeface="Cambria Math" pitchFamily="34" charset="-120"/>
              </a:rPr>
              <a:t>data</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distribution of real data</a:t>
            </a:r>
            <a:endParaRPr lang="en-US" sz="1600" dirty="0"/>
          </a:p>
        </p:txBody>
      </p:sp>
      <p:sp>
        <p:nvSpPr>
          <p:cNvPr id="17" name="Text 14"/>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p(z)</a:t>
            </a:r>
            <a:endParaRPr lang="en-US" sz="1700" dirty="0"/>
          </a:p>
        </p:txBody>
      </p:sp>
      <p:sp>
        <p:nvSpPr>
          <p:cNvPr id="18" name="Text 15"/>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noise prior, e.g. N(0, I)</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optimal discriminator and what G really minimises</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d4cc7c2c9e7c16b0.png">    </p:cNvPr>
          <p:cNvPicPr>
            <a:picLocks noChangeAspect="1"/>
          </p:cNvPicPr>
          <p:nvPr/>
        </p:nvPicPr>
        <p:blipFill>
          <a:blip r:embed="rId1"/>
          <a:stretch>
            <a:fillRect/>
          </a:stretch>
        </p:blipFill>
        <p:spPr>
          <a:xfrm>
            <a:off x="4553560" y="1845056"/>
            <a:ext cx="3084576" cy="768096"/>
          </a:xfrm>
          <a:prstGeom prst="rect">
            <a:avLst/>
          </a:prstGeom>
        </p:spPr>
      </p:pic>
      <p:pic>
        <p:nvPicPr>
          <p:cNvPr id="8" name="Image 1" descr="C:\Users\sudee\Downloads\Generative_AI_2027_Teaching_Pack\AI2027_Project\build\eq\48a52671523f0a9b.png">    </p:cNvPr>
          <p:cNvPicPr>
            <a:picLocks noChangeAspect="1"/>
          </p:cNvPicPr>
          <p:nvPr/>
        </p:nvPicPr>
        <p:blipFill>
          <a:blip r:embed="rId2"/>
          <a:stretch>
            <a:fillRect/>
          </a:stretch>
        </p:blipFill>
        <p:spPr>
          <a:xfrm>
            <a:off x="3811372" y="2931160"/>
            <a:ext cx="4568952" cy="381000"/>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Fix G; ideal D compares both densities.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Equal positive densities give D* = 0.5.</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Under ideal assumptions, G seeks matching distributions.</a:t>
            </a:r>
            <a:endParaRPr lang="en-US" sz="20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p</a:t>
            </a:r>
            <a:pPr indent="0" marL="0">
              <a:buNone/>
            </a:pPr>
            <a:r>
              <a:rPr lang="en-US" sz="1700" b="1" baseline="-40000" dirty="0">
                <a:solidFill>
                  <a:srgbClr val="1E1B4B"/>
                </a:solidFill>
                <a:latin typeface="Cambria Math" pitchFamily="34" charset="0"/>
                <a:ea typeface="Cambria Math" pitchFamily="34" charset="-122"/>
                <a:cs typeface="Cambria Math" pitchFamily="34" charset="-120"/>
              </a:rPr>
              <a:t>g</a:t>
            </a:r>
            <a:endParaRPr lang="en-US" sz="17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distribution of G(z)</a:t>
            </a:r>
            <a:endParaRPr lang="en-US" sz="16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JSD</a:t>
            </a:r>
            <a:endParaRPr lang="en-US" sz="17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Jensen–Shannon divergence (≥ 0, symmetric)</a:t>
            </a:r>
            <a:endParaRPr lang="en-US" sz="16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D* = ½</a:t>
            </a:r>
            <a:endParaRPr lang="en-US" sz="17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 can do no better than a coin flip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optimal discriminator in pictures</a:t>
            </a:r>
            <a:endParaRPr lang="en-US" sz="3200" dirty="0"/>
          </a:p>
        </p:txBody>
      </p:sp>
      <p:pic>
        <p:nvPicPr>
          <p:cNvPr id="6" name="Image 0" descr="C:\Users\sudee\Downloads\Generative_AI_2027_Teaching_Pack\AI2027_Project\build\figures\week_03\optimal_d.png">    </p:cNvPr>
          <p:cNvPicPr>
            <a:picLocks noChangeAspect="1"/>
          </p:cNvPicPr>
          <p:nvPr/>
        </p:nvPicPr>
        <p:blipFill>
          <a:blip r:embed="rId1"/>
          <a:stretch>
            <a:fillRect/>
          </a:stretch>
        </p:blipFill>
        <p:spPr>
          <a:xfrm>
            <a:off x="548640" y="1641947"/>
            <a:ext cx="11094415" cy="450679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Why practitioners use the non-saturating generator loss</a:t>
            </a:r>
            <a:endParaRPr lang="en-US" sz="3100" dirty="0"/>
          </a:p>
        </p:txBody>
      </p:sp>
      <p:pic>
        <p:nvPicPr>
          <p:cNvPr id="6" name="Image 0" descr="C:\Users\sudee\Downloads\Generative_AI_2027_Teaching_Pack\AI2027_Project\build\figures\week_03\saturating.png">    </p:cNvPr>
          <p:cNvPicPr>
            <a:picLocks noChangeAspect="1"/>
          </p:cNvPicPr>
          <p:nvPr/>
        </p:nvPicPr>
        <p:blipFill>
          <a:blip r:embed="rId1"/>
          <a:stretch>
            <a:fillRect/>
          </a:stretch>
        </p:blipFill>
        <p:spPr>
          <a:xfrm>
            <a:off x="2760998" y="1481328"/>
            <a:ext cx="6669700" cy="482803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alternating GAN update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Detach fakes for the D update; keep G connected for its own update.</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fake images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D loss: real 1,</a:t>
            </a:r>
            <a:endParaRPr lang="en-US" sz="1441" dirty="0"/>
          </a:p>
        </p:txBody>
      </p:sp>
      <p:sp>
        <p:nvSpPr>
          <p:cNvPr id="11" name="Text 9"/>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fake 0</a:t>
            </a:r>
            <a:endParaRPr lang="en-US" sz="1441" dirty="0"/>
          </a:p>
        </p:txBody>
      </p:sp>
      <p:sp>
        <p:nvSpPr>
          <p:cNvPr id="12" name="Shape 10"/>
          <p:cNvSpPr/>
          <p:nvPr/>
        </p:nvSpPr>
        <p:spPr>
          <a:xfrm>
            <a:off x="7059743" y="3838927"/>
            <a:ext cx="244024" cy="0"/>
          </a:xfrm>
          <a:prstGeom prst="line">
            <a:avLst/>
          </a:prstGeom>
          <a:noFill/>
          <a:ln w="22860">
            <a:solidFill>
              <a:srgbClr val="009E73"/>
            </a:solidFill>
            <a:prstDash val="solid"/>
            <a:tailEnd type="triangle"/>
          </a:ln>
        </p:spPr>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updated D</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 loss and</a:t>
            </a:r>
            <a:endParaRPr lang="en-US" sz="1441" dirty="0"/>
          </a:p>
        </p:txBody>
      </p:sp>
      <p:sp>
        <p:nvSpPr>
          <p:cNvPr id="16" name="Text 14"/>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gradients</a:t>
            </a:r>
            <a:endParaRPr lang="en-US" sz="1441" dirty="0"/>
          </a:p>
        </p:txBody>
      </p:sp>
      <p:sp>
        <p:nvSpPr>
          <p:cNvPr id="17" name="Shape 15"/>
          <p:cNvSpPr/>
          <p:nvPr/>
        </p:nvSpPr>
        <p:spPr>
          <a:xfrm>
            <a:off x="1752220" y="4738766"/>
            <a:ext cx="0" cy="198270"/>
          </a:xfrm>
          <a:prstGeom prst="line">
            <a:avLst/>
          </a:prstGeom>
          <a:noFill/>
          <a:ln w="22860">
            <a:solidFill>
              <a:srgbClr val="0072B2"/>
            </a:solidFill>
            <a:prstDash val="solid"/>
          </a:ln>
        </p:spPr>
      </p:sp>
      <p:sp>
        <p:nvSpPr>
          <p:cNvPr id="18" name="Shape 16"/>
          <p:cNvSpPr/>
          <p:nvPr/>
        </p:nvSpPr>
        <p:spPr>
          <a:xfrm>
            <a:off x="1752220" y="4937035"/>
            <a:ext cx="6515442" cy="0"/>
          </a:xfrm>
          <a:prstGeom prst="line">
            <a:avLst/>
          </a:prstGeom>
          <a:noFill/>
          <a:ln w="22860">
            <a:solidFill>
              <a:srgbClr val="0072B2"/>
            </a:solidFill>
            <a:prstDash val="solid"/>
          </a:ln>
        </p:spPr>
      </p:sp>
      <p:sp>
        <p:nvSpPr>
          <p:cNvPr id="19" name="Shape 17"/>
          <p:cNvSpPr/>
          <p:nvPr/>
        </p:nvSpPr>
        <p:spPr>
          <a:xfrm flipV="1">
            <a:off x="8267661" y="4738766"/>
            <a:ext cx="0" cy="198270"/>
          </a:xfrm>
          <a:prstGeom prst="line">
            <a:avLst/>
          </a:prstGeom>
          <a:noFill/>
          <a:ln w="22860">
            <a:solidFill>
              <a:srgbClr val="0072B2"/>
            </a:solidFill>
            <a:prstDash val="solid"/>
            <a:tailEnd type="triangle"/>
          </a:ln>
        </p:spPr>
      </p:sp>
      <p:sp>
        <p:nvSpPr>
          <p:cNvPr id="20" name="Text 18"/>
          <p:cNvSpPr txBox="1"/>
          <p:nvPr/>
        </p:nvSpPr>
        <p:spPr>
          <a:xfrm>
            <a:off x="3826700" y="4967538"/>
            <a:ext cx="2366481"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same fakes, still linked to G</a:t>
            </a:r>
            <a:endParaRPr lang="en-US" sz="1441" dirty="0"/>
          </a:p>
        </p:txBody>
      </p:sp>
      <p:sp>
        <p:nvSpPr>
          <p:cNvPr id="21" name="Shape 19"/>
          <p:cNvSpPr/>
          <p:nvPr/>
        </p:nvSpPr>
        <p:spPr>
          <a:xfrm flipV="1">
            <a:off x="10439475" y="2191765"/>
            <a:ext cx="0" cy="747324"/>
          </a:xfrm>
          <a:prstGeom prst="line">
            <a:avLst/>
          </a:prstGeom>
          <a:noFill/>
          <a:ln w="22860">
            <a:solidFill>
              <a:srgbClr val="D55E00"/>
            </a:solidFill>
            <a:prstDash val="dash"/>
          </a:ln>
        </p:spPr>
      </p:sp>
      <p:sp>
        <p:nvSpPr>
          <p:cNvPr id="22" name="Shape 20"/>
          <p:cNvSpPr/>
          <p:nvPr/>
        </p:nvSpPr>
        <p:spPr>
          <a:xfrm flipH="1">
            <a:off x="1752220" y="2191765"/>
            <a:ext cx="8687255" cy="0"/>
          </a:xfrm>
          <a:prstGeom prst="line">
            <a:avLst/>
          </a:prstGeom>
          <a:noFill/>
          <a:ln w="22860">
            <a:solidFill>
              <a:srgbClr val="D55E00"/>
            </a:solidFill>
            <a:prstDash val="dash"/>
          </a:ln>
        </p:spPr>
      </p:sp>
      <p:sp>
        <p:nvSpPr>
          <p:cNvPr id="23" name="Shape 21"/>
          <p:cNvSpPr/>
          <p:nvPr/>
        </p:nvSpPr>
        <p:spPr>
          <a:xfrm>
            <a:off x="1752220" y="2191765"/>
            <a:ext cx="0" cy="747324"/>
          </a:xfrm>
          <a:prstGeom prst="line">
            <a:avLst/>
          </a:prstGeom>
          <a:noFill/>
          <a:ln w="22860">
            <a:solidFill>
              <a:srgbClr val="D55E00"/>
            </a:solidFill>
            <a:prstDash val="dash"/>
            <a:tailEnd type="triangle"/>
          </a:ln>
        </p:spPr>
      </p:sp>
      <p:sp>
        <p:nvSpPr>
          <p:cNvPr id="24" name="Text 22"/>
          <p:cNvSpPr txBox="1"/>
          <p:nvPr/>
        </p:nvSpPr>
        <p:spPr>
          <a:xfrm>
            <a:off x="4003847" y="1917238"/>
            <a:ext cx="4184001"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Updated G makes the next batch’s fake images.</a:t>
            </a:r>
            <a:endParaRPr lang="en-US" sz="1441" dirty="0"/>
          </a:p>
        </p:txBody>
      </p:sp>
      <p:sp>
        <p:nvSpPr>
          <p:cNvPr id="25" name="Shape 23"/>
          <p:cNvSpPr/>
          <p:nvPr/>
        </p:nvSpPr>
        <p:spPr>
          <a:xfrm>
            <a:off x="788325" y="2939089"/>
            <a:ext cx="1927790" cy="1799677"/>
          </a:xfrm>
          <a:prstGeom prst="rect">
            <a:avLst/>
          </a:prstGeom>
          <a:solidFill>
            <a:srgbClr val="E5F7EF"/>
          </a:solidFill>
          <a:ln w="15240">
            <a:solidFill>
              <a:srgbClr val="009E73"/>
            </a:solidFill>
            <a:prstDash val="solid"/>
          </a:ln>
        </p:spPr>
      </p:sp>
      <p:sp>
        <p:nvSpPr>
          <p:cNvPr id="26" name="Text 24"/>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Make linked fakes</a:t>
            </a:r>
            <a:endParaRPr lang="en-US" sz="1561" dirty="0"/>
          </a:p>
        </p:txBody>
      </p:sp>
      <p:sp>
        <p:nvSpPr>
          <p:cNvPr id="27" name="Text 25"/>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Images retain the G</a:t>
            </a:r>
            <a:endParaRPr lang="en-US" sz="1441" dirty="0"/>
          </a:p>
        </p:txBody>
      </p:sp>
      <p:sp>
        <p:nvSpPr>
          <p:cNvPr id="28" name="Text 26"/>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graph.</a:t>
            </a:r>
            <a:endParaRPr lang="en-US" sz="1441" dirty="0"/>
          </a:p>
        </p:txBody>
      </p:sp>
      <p:sp>
        <p:nvSpPr>
          <p:cNvPr id="29" name="Text 27"/>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 / fake</a:t>
            </a:r>
            <a:endParaRPr lang="en-US" sz="1441" dirty="0"/>
          </a:p>
        </p:txBody>
      </p:sp>
      <p:sp>
        <p:nvSpPr>
          <p:cNvPr id="30" name="Shape 28"/>
          <p:cNvSpPr/>
          <p:nvPr/>
        </p:nvSpPr>
        <p:spPr>
          <a:xfrm>
            <a:off x="2960139" y="2939089"/>
            <a:ext cx="1927790" cy="1799677"/>
          </a:xfrm>
          <a:prstGeom prst="rect">
            <a:avLst/>
          </a:prstGeom>
          <a:solidFill>
            <a:srgbClr val="E5F7EF"/>
          </a:solidFill>
          <a:ln w="15240">
            <a:solidFill>
              <a:srgbClr val="009E73"/>
            </a:solidFill>
            <a:prstDash val="solid"/>
          </a:ln>
        </p:spPr>
      </p:sp>
      <p:sp>
        <p:nvSpPr>
          <p:cNvPr id="31" name="Text 29"/>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Detach for D</a:t>
            </a:r>
            <a:endParaRPr lang="en-US" sz="1561" dirty="0"/>
          </a:p>
        </p:txBody>
      </p:sp>
      <p:sp>
        <p:nvSpPr>
          <p:cNvPr id="32" name="Text 30"/>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Real batch plus</a:t>
            </a:r>
            <a:endParaRPr lang="en-US" sz="1441" dirty="0"/>
          </a:p>
        </p:txBody>
      </p:sp>
      <p:sp>
        <p:nvSpPr>
          <p:cNvPr id="33" name="Text 31"/>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detached fakes.</a:t>
            </a:r>
            <a:endParaRPr lang="en-US" sz="1441" dirty="0"/>
          </a:p>
        </p:txBody>
      </p:sp>
      <p:sp>
        <p:nvSpPr>
          <p:cNvPr id="34" name="Text 32"/>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d_loss_fn</a:t>
            </a:r>
            <a:endParaRPr lang="en-US" sz="1441" dirty="0"/>
          </a:p>
        </p:txBody>
      </p:sp>
      <p:sp>
        <p:nvSpPr>
          <p:cNvPr id="35" name="Shape 33"/>
          <p:cNvSpPr/>
          <p:nvPr/>
        </p:nvSpPr>
        <p:spPr>
          <a:xfrm>
            <a:off x="5131953" y="2939089"/>
            <a:ext cx="1927790" cy="1799677"/>
          </a:xfrm>
          <a:prstGeom prst="rect">
            <a:avLst/>
          </a:prstGeom>
          <a:solidFill>
            <a:srgbClr val="E5F7EF"/>
          </a:solidFill>
          <a:ln w="15240">
            <a:solidFill>
              <a:srgbClr val="009E73"/>
            </a:solidFill>
            <a:prstDash val="solid"/>
          </a:ln>
        </p:spPr>
      </p:sp>
      <p:sp>
        <p:nvSpPr>
          <p:cNvPr id="36" name="Text 34"/>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 D</a:t>
            </a:r>
            <a:endParaRPr lang="en-US" sz="1561" dirty="0"/>
          </a:p>
        </p:txBody>
      </p:sp>
      <p:sp>
        <p:nvSpPr>
          <p:cNvPr id="37" name="Text 35"/>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Real target 1; fake</a:t>
            </a:r>
            <a:endParaRPr lang="en-US" sz="1441" dirty="0"/>
          </a:p>
        </p:txBody>
      </p:sp>
      <p:sp>
        <p:nvSpPr>
          <p:cNvPr id="38" name="Text 36"/>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target 0.</a:t>
            </a:r>
            <a:endParaRPr lang="en-US" sz="1441" dirty="0"/>
          </a:p>
        </p:txBody>
      </p:sp>
      <p:sp>
        <p:nvSpPr>
          <p:cNvPr id="39" name="Text 37"/>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opt_D</a:t>
            </a:r>
            <a:endParaRPr lang="en-US" sz="1441" dirty="0"/>
          </a:p>
        </p:txBody>
      </p:sp>
      <p:sp>
        <p:nvSpPr>
          <p:cNvPr id="40" name="Shape 38"/>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41" name="Text 39"/>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 linked fakes</a:t>
            </a:r>
            <a:endParaRPr lang="en-US" sz="1561" dirty="0"/>
          </a:p>
        </p:txBody>
      </p:sp>
      <p:sp>
        <p:nvSpPr>
          <p:cNvPr id="42" name="Text 40"/>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Updated D; original</a:t>
            </a:r>
            <a:endParaRPr lang="en-US" sz="1441" dirty="0"/>
          </a:p>
        </p:txBody>
      </p:sp>
      <p:sp>
        <p:nvSpPr>
          <p:cNvPr id="43" name="Text 41"/>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 graph.</a:t>
            </a:r>
            <a:endParaRPr lang="en-US" sz="1441" dirty="0"/>
          </a:p>
        </p:txBody>
      </p:sp>
      <p:sp>
        <p:nvSpPr>
          <p:cNvPr id="44" name="Text 42"/>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g_loss_fn</a:t>
            </a:r>
            <a:endParaRPr lang="en-US" sz="1441" dirty="0"/>
          </a:p>
        </p:txBody>
      </p:sp>
      <p:sp>
        <p:nvSpPr>
          <p:cNvPr id="45" name="Shape 43"/>
          <p:cNvSpPr/>
          <p:nvPr/>
        </p:nvSpPr>
        <p:spPr>
          <a:xfrm>
            <a:off x="9475580" y="2939089"/>
            <a:ext cx="1927790" cy="1799677"/>
          </a:xfrm>
          <a:prstGeom prst="rect">
            <a:avLst/>
          </a:prstGeom>
          <a:solidFill>
            <a:srgbClr val="E5F7EF"/>
          </a:solidFill>
          <a:ln w="15240">
            <a:solidFill>
              <a:srgbClr val="009E73"/>
            </a:solidFill>
            <a:prstDash val="solid"/>
          </a:ln>
        </p:spPr>
      </p:sp>
      <p:sp>
        <p:nvSpPr>
          <p:cNvPr id="46" name="Text 44"/>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 G</a:t>
            </a:r>
            <a:endParaRPr lang="en-US" sz="1561" dirty="0"/>
          </a:p>
        </p:txBody>
      </p:sp>
      <p:sp>
        <p:nvSpPr>
          <p:cNvPr id="47" name="Text 45"/>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Target 1; step only G</a:t>
            </a:r>
            <a:endParaRPr lang="en-US" sz="1441" dirty="0"/>
          </a:p>
        </p:txBody>
      </p:sp>
      <p:sp>
        <p:nvSpPr>
          <p:cNvPr id="48" name="Text 46"/>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weights.</a:t>
            </a:r>
            <a:endParaRPr lang="en-US" sz="1441" dirty="0"/>
          </a:p>
        </p:txBody>
      </p:sp>
      <p:sp>
        <p:nvSpPr>
          <p:cNvPr id="49" name="Text 47"/>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opt_G</a:t>
            </a:r>
            <a:endParaRPr lang="en-US" sz="1441" dirty="0"/>
          </a:p>
        </p:txBody>
      </p:sp>
      <p:sp>
        <p:nvSpPr>
          <p:cNvPr id="50" name="Shape 48"/>
          <p:cNvSpPr/>
          <p:nvPr/>
        </p:nvSpPr>
        <p:spPr>
          <a:xfrm>
            <a:off x="788325" y="5630979"/>
            <a:ext cx="198270" cy="198270"/>
          </a:xfrm>
          <a:prstGeom prst="rect">
            <a:avLst/>
          </a:prstGeom>
          <a:solidFill>
            <a:srgbClr val="E5F7EF"/>
          </a:solidFill>
          <a:ln w="15240">
            <a:solidFill>
              <a:srgbClr val="009E73"/>
            </a:solidFill>
            <a:prstDash val="solid"/>
          </a:ln>
        </p:spPr>
      </p:sp>
      <p:sp>
        <p:nvSpPr>
          <p:cNvPr id="51" name="Text 49"/>
          <p:cNvSpPr txBox="1"/>
          <p:nvPr/>
        </p:nvSpPr>
        <p:spPr>
          <a:xfrm>
            <a:off x="1047600"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2" name="Shape 50"/>
          <p:cNvSpPr/>
          <p:nvPr/>
        </p:nvSpPr>
        <p:spPr>
          <a:xfrm>
            <a:off x="1792174" y="5630979"/>
            <a:ext cx="198270" cy="198270"/>
          </a:xfrm>
          <a:prstGeom prst="roundRect">
            <a:avLst>
              <a:gd name="adj" fmla="val 36895"/>
            </a:avLst>
          </a:prstGeom>
          <a:solidFill>
            <a:srgbClr val="FFF0E6"/>
          </a:solidFill>
          <a:ln w="15240">
            <a:solidFill>
              <a:srgbClr val="D55E00"/>
            </a:solidFill>
            <a:prstDash val="solid"/>
          </a:ln>
        </p:spPr>
      </p:sp>
      <p:sp>
        <p:nvSpPr>
          <p:cNvPr id="53" name="Text 51"/>
          <p:cNvSpPr txBox="1"/>
          <p:nvPr/>
        </p:nvSpPr>
        <p:spPr>
          <a:xfrm>
            <a:off x="2051449"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4" name="Shape 52"/>
          <p:cNvSpPr/>
          <p:nvPr/>
        </p:nvSpPr>
        <p:spPr>
          <a:xfrm>
            <a:off x="3417521" y="5730113"/>
            <a:ext cx="335533" cy="0"/>
          </a:xfrm>
          <a:prstGeom prst="line">
            <a:avLst/>
          </a:prstGeom>
          <a:noFill/>
          <a:ln w="22860">
            <a:solidFill>
              <a:srgbClr val="009E73"/>
            </a:solidFill>
            <a:prstDash val="solid"/>
            <a:tailEnd type="triangle"/>
          </a:ln>
        </p:spPr>
      </p:sp>
      <p:sp>
        <p:nvSpPr>
          <p:cNvPr id="55" name="Text 53"/>
          <p:cNvSpPr txBox="1"/>
          <p:nvPr/>
        </p:nvSpPr>
        <p:spPr>
          <a:xfrm>
            <a:off x="3814060"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6" name="Shape 54"/>
          <p:cNvSpPr/>
          <p:nvPr/>
        </p:nvSpPr>
        <p:spPr>
          <a:xfrm>
            <a:off x="4800906" y="5730113"/>
            <a:ext cx="335533" cy="0"/>
          </a:xfrm>
          <a:prstGeom prst="line">
            <a:avLst/>
          </a:prstGeom>
          <a:noFill/>
          <a:ln w="22860">
            <a:solidFill>
              <a:srgbClr val="D55E00"/>
            </a:solidFill>
            <a:prstDash val="dash"/>
            <a:tailEnd type="triangle"/>
          </a:ln>
        </p:spPr>
      </p:sp>
      <p:sp>
        <p:nvSpPr>
          <p:cNvPr id="57" name="Text 55"/>
          <p:cNvSpPr txBox="1"/>
          <p:nvPr/>
        </p:nvSpPr>
        <p:spPr>
          <a:xfrm>
            <a:off x="5197445"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58" name="Text 56"/>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would detaching fake inside g_loss_fn stop the generator from learning?</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training step in PyTorch</a:t>
            </a:r>
            <a:endParaRPr lang="en-US" sz="3200" dirty="0"/>
          </a:p>
        </p:txBody>
      </p:sp>
      <p:sp>
        <p:nvSpPr>
          <p:cNvPr id="6" name="Shape 4"/>
          <p:cNvSpPr/>
          <p:nvPr/>
        </p:nvSpPr>
        <p:spPr>
          <a:xfrm>
            <a:off x="548640" y="1481328"/>
            <a:ext cx="11094415" cy="3171952"/>
          </a:xfrm>
          <a:prstGeom prst="roundRect">
            <a:avLst>
              <a:gd name="adj" fmla="val 2883"/>
            </a:avLst>
          </a:prstGeom>
          <a:solidFill>
            <a:srgbClr val="1E1E2E"/>
          </a:solidFill>
          <a:ln w="12700">
            <a:solidFill>
              <a:srgbClr val="1E1E2E"/>
            </a:solidFill>
            <a:prstDash val="solid"/>
          </a:ln>
        </p:spPr>
      </p:sp>
      <p:sp>
        <p:nvSpPr>
          <p:cNvPr id="7" name="Text 5"/>
          <p:cNvSpPr txBox="1"/>
          <p:nvPr/>
        </p:nvSpPr>
        <p:spPr>
          <a:xfrm>
            <a:off x="685800" y="1591056"/>
            <a:ext cx="10820095" cy="2952496"/>
          </a:xfrm>
          <a:prstGeom prst="rect">
            <a:avLst/>
          </a:prstGeom>
          <a:noFill/>
          <a:ln/>
        </p:spPr>
        <p:txBody>
          <a:bodyPr wrap="square" lIns="76200" tIns="76200" rIns="76200" bIns="76200" rtlCol="0" anchor="t"/>
          <a:lstStyle/>
          <a:p>
            <a:pPr indent="0" marL="0">
              <a:lnSpc>
                <a:spcPct val="100000"/>
              </a:lnSpc>
              <a:buNone/>
            </a:pPr>
            <a:r>
              <a:rPr lang="en-US" sz="2000" dirty="0">
                <a:solidFill>
                  <a:srgbClr val="9CA3AF"/>
                </a:solidFill>
                <a:latin typeface="Consolas" pitchFamily="34" charset="0"/>
                <a:ea typeface="Consolas" pitchFamily="34" charset="-122"/>
                <a:cs typeface="Consolas" pitchFamily="34" charset="-120"/>
              </a:rPr>
              <a:t># --- 1. discriminator step: real -&gt; 1, fake -&gt; 0</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fake = G(torch.randn(b, z_dim))</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loss_D = bce(D(x_real), ones) + bce(D(fake.detach()), zeros)</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opt_D.zero_grad(); loss_D.backward(); opt_D.step()</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a:t>
            </a:r>
            <a:endParaRPr lang="en-US" sz="2000" dirty="0"/>
          </a:p>
          <a:p>
            <a:pPr indent="0" marL="0">
              <a:lnSpc>
                <a:spcPct val="100000"/>
              </a:lnSpc>
              <a:buNone/>
            </a:pPr>
            <a:r>
              <a:rPr lang="en-US" sz="2000" dirty="0">
                <a:solidFill>
                  <a:srgbClr val="9CA3AF"/>
                </a:solidFill>
                <a:latin typeface="Consolas" pitchFamily="34" charset="0"/>
                <a:ea typeface="Consolas" pitchFamily="34" charset="-122"/>
                <a:cs typeface="Consolas" pitchFamily="34" charset="-120"/>
              </a:rPr>
              <a:t># --- 2. generator step (non-saturating): make D call the fakes real</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loss_G = bce(D(fake), ones)</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opt_G.zero_grad(); loss_G.backward(); opt_G.step()</a:t>
            </a:r>
            <a:endParaRPr lang="en-US" sz="2000" dirty="0"/>
          </a:p>
        </p:txBody>
      </p:sp>
      <p:sp>
        <p:nvSpPr>
          <p:cNvPr id="8" name="Text 6"/>
          <p:cNvSpPr txBox="1"/>
          <p:nvPr/>
        </p:nvSpPr>
        <p:spPr>
          <a:xfrm>
            <a:off x="548640" y="4790440"/>
            <a:ext cx="11094415" cy="1518920"/>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 targets: real 1, detached fake 0.</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G target: linked fake 1.</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Detach cuts the gradient route to 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Only the chosen optimiser steps its weights.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Where real and generated densities match and are positive, what does ideal D output?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1 for real images and 0 for fakes, as it is never fooled</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digit class of the image, as a classifier would</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0.5 everywhere, as the two densities are equal</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log 4, for real and generated inputs alike</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Training challenges and fixes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Why are GANs notoriously hard to train, and what helps?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training curves: losses do not tell you quality</a:t>
            </a:r>
            <a:endParaRPr lang="en-US" sz="3200" dirty="0"/>
          </a:p>
        </p:txBody>
      </p:sp>
      <p:pic>
        <p:nvPicPr>
          <p:cNvPr id="6" name="Image 0" descr="C:\Users\sudee\Downloads\Generative_AI_2027_Teaching_Pack\AI2027_Project\build\figures\week_03\losses.png">    </p:cNvPr>
          <p:cNvPicPr>
            <a:picLocks noChangeAspect="1"/>
          </p:cNvPicPr>
          <p:nvPr/>
        </p:nvPicPr>
        <p:blipFill>
          <a:blip r:embed="rId1"/>
          <a:stretch>
            <a:fillRect/>
          </a:stretch>
        </p:blipFill>
        <p:spPr>
          <a:xfrm>
            <a:off x="548640" y="1641879"/>
            <a:ext cx="11094415" cy="450692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Mode collapse, seen in a real experiment</a:t>
            </a:r>
            <a:endParaRPr lang="en-US" sz="3200" dirty="0"/>
          </a:p>
        </p:txBody>
      </p:sp>
      <p:pic>
        <p:nvPicPr>
          <p:cNvPr id="6" name="Image 0" descr="C:\Users\sudee\Downloads\Generative_AI_2027_Teaching_Pack\AI2027_Project\build\figures\week_03\mode_collapse_slide.png">    </p:cNvPr>
          <p:cNvPicPr>
            <a:picLocks noChangeAspect="1"/>
          </p:cNvPicPr>
          <p:nvPr/>
        </p:nvPicPr>
        <p:blipFill>
          <a:blip r:embed="rId1"/>
          <a:stretch>
            <a:fillRect/>
          </a:stretch>
        </p:blipFill>
        <p:spPr>
          <a:xfrm>
            <a:off x="2311300" y="1481328"/>
            <a:ext cx="7569095"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Target: 8 Gaussian clusters on a ring (grey). Blue/green: 1,500 generated points at each training step, same network sizes.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Failure modes: symptoms and remedies</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017166"/>
                <a:gridCol w="4118381"/>
                <a:gridCol w="4958867"/>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Common remedies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Mode collapse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Many samples look alike; some digits never appear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Count classes; WGAN-GP or spectral normalisation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Weak generator gradients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 wins easily and G stops improving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Non-saturating G loss; keep D and G balanced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Unstable training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Losses and samples swing back and forth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Lower or separate learning rates; average G's weights (EMA)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 memorises the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 trusts training images but not new real ones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Augment real and fake images (ADA)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Checkerboard artefacts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Grid-like patterns in the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Resize, then convolve, instead of transposed convolution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Wasserstein GAN with gradient penalty (WGAN-GP)</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19240e35ab1d6232.png">    </p:cNvPr>
          <p:cNvPicPr>
            <a:picLocks noChangeAspect="1"/>
          </p:cNvPicPr>
          <p:nvPr/>
        </p:nvPicPr>
        <p:blipFill>
          <a:blip r:embed="rId1"/>
          <a:stretch>
            <a:fillRect/>
          </a:stretch>
        </p:blipFill>
        <p:spPr>
          <a:xfrm>
            <a:off x="3608680" y="1913128"/>
            <a:ext cx="4974336" cy="536448"/>
          </a:xfrm>
          <a:prstGeom prst="rect">
            <a:avLst/>
          </a:prstGeom>
        </p:spPr>
      </p:pic>
      <p:pic>
        <p:nvPicPr>
          <p:cNvPr id="8" name="Image 1" descr="C:\Users\sudee\Downloads\Generative_AI_2027_Teaching_Pack\AI2027_Project\build\eq\85d322bdcc93fd35.png">    </p:cNvPr>
          <p:cNvPicPr>
            <a:picLocks noChangeAspect="1"/>
          </p:cNvPicPr>
          <p:nvPr/>
        </p:nvPicPr>
        <p:blipFill>
          <a:blip r:embed="rId2"/>
          <a:stretch>
            <a:fillRect/>
          </a:stretch>
        </p:blipFill>
        <p:spPr>
          <a:xfrm>
            <a:off x="2240128" y="2835656"/>
            <a:ext cx="7711440" cy="408432"/>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The critic D gives any real number, not a probability.</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Training widens the average score gap between real and generated images.</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The penalty keeps the critic's slope near 1 at points between real and fake.</a:t>
            </a:r>
            <a:endParaRPr lang="en-US" sz="17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‖D‖</a:t>
            </a:r>
            <a:pPr indent="0" marL="0">
              <a:buNone/>
            </a:pPr>
            <a:r>
              <a:rPr lang="en-US" sz="1700" b="1" baseline="-40000" dirty="0">
                <a:solidFill>
                  <a:srgbClr val="1E1B4B"/>
                </a:solidFill>
                <a:latin typeface="Cambria Math" pitchFamily="34" charset="0"/>
                <a:ea typeface="Cambria Math" pitchFamily="34" charset="-122"/>
                <a:cs typeface="Cambria Math" pitchFamily="34" charset="-120"/>
              </a:rPr>
              <a:t>L</a:t>
            </a:r>
            <a:pPr indent="0" marL="0">
              <a:buNone/>
            </a:pPr>
            <a:r>
              <a:rPr lang="en-US" sz="1700" b="1" dirty="0">
                <a:solidFill>
                  <a:srgbClr val="1E1B4B"/>
                </a:solidFill>
                <a:latin typeface="Cambria Math" pitchFamily="34" charset="0"/>
                <a:ea typeface="Cambria Math" pitchFamily="34" charset="-122"/>
                <a:cs typeface="Cambria Math" pitchFamily="34" charset="-120"/>
              </a:rPr>
              <a:t> ≤ 1</a:t>
            </a:r>
            <a:endParaRPr lang="en-US" sz="17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Lipschitz limit: the score cannot change faster than its input</a:t>
            </a:r>
            <a:endParaRPr lang="en-US" sz="16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a:t>
            </a:r>
            <a:endParaRPr lang="en-US" sz="17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a random point between a real and a generated image</a:t>
            </a:r>
            <a:endParaRPr lang="en-US" sz="16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λ</a:t>
            </a:r>
            <a:endParaRPr lang="en-US" sz="17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penalty weight, often 10</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Stabilisation techniques you will meet</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Wasserstein loss + GP</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Scores keep giving G useful gradients; the penalty keeps the critic smooth.</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Spectral normalisation</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Caps each D layer's scale, so D cannot change too sharply.</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TTUR</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Separate learning rates for D and G (two time-scale update rule).</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EMA of G weights</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Average G's recent weights; sample from the smoother average.</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Augmentation (ADA)</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Flip, crop or recolour real and fake images, so D cannot memorise.</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R1 penalty</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Penalise D's slope on real images so it does not overreact.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Your MNIST GAN produces sharp digits, but almost all of them are 1s and 7s. What is the most appropriate first step?</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Train for many more epochs with the same settings, hoping other digits appear</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Check the class histogram of samples, then try a Wasserstein loss or spectral normalisation</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Remove the discriminator and train the generator with pixel-wise MSE on real digits</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Raise the sampling temperature so the generator draws more varied digits</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Variants: from DCGAN to StyleGAN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did GANs go from blurry digits to photorealistic faces?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DCGAN: the architecture that made GANs work on images</a:t>
            </a:r>
            <a:endParaRPr lang="en-US" sz="3200" dirty="0"/>
          </a:p>
        </p:txBody>
      </p:sp>
      <p:pic>
        <p:nvPicPr>
          <p:cNvPr id="6" name="Image 0" descr="C:\Users\sudee\Downloads\Generative_AI_2027_Teaching_Pack\AI2027_Project\build\figures\week_03\dcgan_arch.png">    </p:cNvPr>
          <p:cNvPicPr>
            <a:picLocks noChangeAspect="1"/>
          </p:cNvPicPr>
          <p:nvPr/>
        </p:nvPicPr>
        <p:blipFill>
          <a:blip r:embed="rId1"/>
          <a:stretch>
            <a:fillRect/>
          </a:stretch>
        </p:blipFill>
        <p:spPr>
          <a:xfrm>
            <a:off x="548640" y="2007957"/>
            <a:ext cx="11094415" cy="3774775"/>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Use the trained generator on new noise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After training, the generator can create images without a discriminator call.</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fixed G weights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random codes z</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 features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generated digit</a:t>
            </a:r>
            <a:endParaRPr lang="en-US" sz="1441" dirty="0"/>
          </a:p>
        </p:txBody>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images</a:t>
            </a:r>
            <a:endParaRPr lang="en-US" sz="1441" dirty="0"/>
          </a:p>
        </p:txBody>
      </p:sp>
      <p:sp>
        <p:nvSpPr>
          <p:cNvPr id="16" name="Shape 14"/>
          <p:cNvSpPr/>
          <p:nvPr/>
        </p:nvSpPr>
        <p:spPr>
          <a:xfrm>
            <a:off x="788325" y="2939089"/>
            <a:ext cx="1927790" cy="1799677"/>
          </a:xfrm>
          <a:prstGeom prst="rect">
            <a:avLst/>
          </a:prstGeom>
          <a:solidFill>
            <a:srgbClr val="E5F7EF"/>
          </a:solidFill>
          <a:ln w="15240">
            <a:solidFill>
              <a:srgbClr val="009E73"/>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Keep trained G</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stored</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BatchNorm statistics.</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G.eval</a:t>
            </a:r>
            <a:endParaRPr lang="en-US" sz="1441" dirty="0"/>
          </a:p>
        </p:txBody>
      </p:sp>
      <p:sp>
        <p:nvSpPr>
          <p:cNvPr id="21" name="Shape 19"/>
          <p:cNvSpPr/>
          <p:nvPr/>
        </p:nvSpPr>
        <p:spPr>
          <a:xfrm>
            <a:off x="2960139" y="2939089"/>
            <a:ext cx="1927790" cy="1799677"/>
          </a:xfrm>
          <a:prstGeom prst="roundRect">
            <a:avLst>
              <a:gd name="adj" fmla="val 4065"/>
            </a:avLst>
          </a:prstGeom>
          <a:solidFill>
            <a:srgbClr val="E4F2FB"/>
          </a:solidFill>
          <a:ln w="15240">
            <a:solidFill>
              <a:srgbClr val="0072B2"/>
            </a:solidFill>
            <a:prstDash val="solid"/>
          </a:ln>
        </p:spPr>
      </p:sp>
      <p:sp>
        <p:nvSpPr>
          <p:cNvPr id="22" name="Text 20"/>
          <p:cNvSpPr txBox="1"/>
          <p:nvPr/>
        </p:nvSpPr>
        <p:spPr>
          <a:xfrm>
            <a:off x="3021145"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Draw code</a:t>
            </a:r>
            <a:endParaRPr lang="en-US" sz="1561" dirty="0"/>
          </a:p>
        </p:txBody>
      </p:sp>
      <p:sp>
        <p:nvSpPr>
          <p:cNvPr id="23" name="Text 21"/>
          <p:cNvSpPr txBox="1"/>
          <p:nvPr/>
        </p:nvSpPr>
        <p:spPr>
          <a:xfrm>
            <a:off x="3021145"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vectors</a:t>
            </a:r>
            <a:endParaRPr lang="en-US" sz="1561" dirty="0"/>
          </a:p>
        </p:txBody>
      </p:sp>
      <p:sp>
        <p:nvSpPr>
          <p:cNvPr id="24" name="Text 22"/>
          <p:cNvSpPr txBox="1"/>
          <p:nvPr/>
        </p:nvSpPr>
        <p:spPr>
          <a:xfrm>
            <a:off x="3021145"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64 Gaussian values</a:t>
            </a:r>
            <a:endParaRPr lang="en-US" sz="1441" dirty="0"/>
          </a:p>
        </p:txBody>
      </p:sp>
      <p:sp>
        <p:nvSpPr>
          <p:cNvPr id="25" name="Text 23"/>
          <p:cNvSpPr txBox="1"/>
          <p:nvPr/>
        </p:nvSpPr>
        <p:spPr>
          <a:xfrm>
            <a:off x="3021145"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per code.</a:t>
            </a:r>
            <a:endParaRPr lang="en-US" sz="1441" dirty="0"/>
          </a:p>
        </p:txBody>
      </p:sp>
      <p:sp>
        <p:nvSpPr>
          <p:cNvPr id="26" name="Text 24"/>
          <p:cNvSpPr txBox="1"/>
          <p:nvPr/>
        </p:nvSpPr>
        <p:spPr>
          <a:xfrm>
            <a:off x="2983016"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torch.randn</a:t>
            </a:r>
            <a:endParaRPr lang="en-US" sz="1441" dirty="0"/>
          </a:p>
        </p:txBody>
      </p:sp>
      <p:sp>
        <p:nvSpPr>
          <p:cNvPr id="27" name="Shape 25"/>
          <p:cNvSpPr/>
          <p:nvPr/>
        </p:nvSpPr>
        <p:spPr>
          <a:xfrm>
            <a:off x="5131953" y="2939089"/>
            <a:ext cx="1927790" cy="1799677"/>
          </a:xfrm>
          <a:prstGeom prst="rect">
            <a:avLst/>
          </a:prstGeom>
          <a:solidFill>
            <a:srgbClr val="E5F7EF"/>
          </a:solidFill>
          <a:ln w="15240">
            <a:solidFill>
              <a:srgbClr val="009E73"/>
            </a:solidFill>
            <a:prstDash val="solid"/>
          </a:ln>
        </p:spPr>
      </p:sp>
      <p:sp>
        <p:nvSpPr>
          <p:cNvPr id="28" name="Text 26"/>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Expand features</a:t>
            </a:r>
            <a:endParaRPr lang="en-US" sz="1561" dirty="0"/>
          </a:p>
        </p:txBody>
      </p:sp>
      <p:sp>
        <p:nvSpPr>
          <p:cNvPr id="29" name="Text 27"/>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Learned layers</a:t>
            </a:r>
            <a:endParaRPr lang="en-US" sz="1441" dirty="0"/>
          </a:p>
        </p:txBody>
      </p:sp>
      <p:sp>
        <p:nvSpPr>
          <p:cNvPr id="30" name="Text 28"/>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upsample.</a:t>
            </a:r>
            <a:endParaRPr lang="en-US" sz="1441" dirty="0"/>
          </a:p>
        </p:txBody>
      </p:sp>
      <p:sp>
        <p:nvSpPr>
          <p:cNvPr id="31" name="Text 29"/>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Generator.forward</a:t>
            </a:r>
            <a:endParaRPr lang="en-US" sz="1441" dirty="0"/>
          </a:p>
        </p:txBody>
      </p:sp>
      <p:sp>
        <p:nvSpPr>
          <p:cNvPr id="32" name="Shape 30"/>
          <p:cNvSpPr/>
          <p:nvPr/>
        </p:nvSpPr>
        <p:spPr>
          <a:xfrm>
            <a:off x="7303767" y="2939089"/>
            <a:ext cx="1927790" cy="1799677"/>
          </a:xfrm>
          <a:prstGeom prst="roundRect">
            <a:avLst>
              <a:gd name="adj" fmla="val 4065"/>
            </a:avLst>
          </a:prstGeom>
          <a:solidFill>
            <a:srgbClr val="F9EAF4"/>
          </a:solidFill>
          <a:ln w="15240">
            <a:solidFill>
              <a:srgbClr val="CC79A7"/>
            </a:solidFill>
            <a:prstDash val="solid"/>
          </a:ln>
        </p:spPr>
      </p:sp>
      <p:sp>
        <p:nvSpPr>
          <p:cNvPr id="33" name="Text 31"/>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Return pixels</a:t>
            </a:r>
            <a:endParaRPr lang="en-US" sz="1561" dirty="0"/>
          </a:p>
        </p:txBody>
      </p:sp>
      <p:sp>
        <p:nvSpPr>
          <p:cNvPr id="34" name="Text 32"/>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Produce 28 × 28 digit</a:t>
            </a:r>
            <a:endParaRPr lang="en-US" sz="1441" dirty="0"/>
          </a:p>
        </p:txBody>
      </p:sp>
      <p:sp>
        <p:nvSpPr>
          <p:cNvPr id="35" name="Text 33"/>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images.</a:t>
            </a:r>
            <a:endParaRPr lang="en-US" sz="1441" dirty="0"/>
          </a:p>
        </p:txBody>
      </p:sp>
      <p:sp>
        <p:nvSpPr>
          <p:cNvPr id="36" name="Text 34"/>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a:t>
            </a:r>
            <a:endParaRPr lang="en-US" sz="1441" dirty="0"/>
          </a:p>
        </p:txBody>
      </p:sp>
      <p:sp>
        <p:nvSpPr>
          <p:cNvPr id="37" name="Shape 35"/>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8" name="Text 36"/>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variety</a:t>
            </a:r>
            <a:endParaRPr lang="en-US" sz="1561" dirty="0"/>
          </a:p>
        </p:txBody>
      </p:sp>
      <p:sp>
        <p:nvSpPr>
          <p:cNvPr id="39" name="Text 37"/>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images and</a:t>
            </a:r>
            <a:endParaRPr lang="en-US" sz="1441" dirty="0"/>
          </a:p>
        </p:txBody>
      </p:sp>
      <p:sp>
        <p:nvSpPr>
          <p:cNvPr id="40" name="Text 38"/>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class counts.</a:t>
            </a:r>
            <a:endParaRPr lang="en-US" sz="1441" dirty="0"/>
          </a:p>
        </p:txBody>
      </p:sp>
      <p:sp>
        <p:nvSpPr>
          <p:cNvPr id="41" name="Text 39"/>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counts</a:t>
            </a:r>
            <a:endParaRPr lang="en-US" sz="1441" dirty="0"/>
          </a:p>
        </p:txBody>
      </p:sp>
      <p:sp>
        <p:nvSpPr>
          <p:cNvPr id="42" name="Shape 4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3" name="Text 4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4" name="Shape 42"/>
          <p:cNvSpPr/>
          <p:nvPr/>
        </p:nvSpPr>
        <p:spPr>
          <a:xfrm>
            <a:off x="2118929" y="5630979"/>
            <a:ext cx="198270" cy="198270"/>
          </a:xfrm>
          <a:prstGeom prst="rect">
            <a:avLst/>
          </a:prstGeom>
          <a:solidFill>
            <a:srgbClr val="E5F7EF"/>
          </a:solidFill>
          <a:ln w="15240">
            <a:solidFill>
              <a:srgbClr val="009E73"/>
            </a:solidFill>
            <a:prstDash val="solid"/>
          </a:ln>
        </p:spPr>
      </p:sp>
      <p:sp>
        <p:nvSpPr>
          <p:cNvPr id="45" name="Text 4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6" name="Shape 44"/>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7" name="Text 45"/>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8" name="Shape 46"/>
          <p:cNvSpPr/>
          <p:nvPr/>
        </p:nvSpPr>
        <p:spPr>
          <a:xfrm>
            <a:off x="4179476" y="5730113"/>
            <a:ext cx="335533" cy="0"/>
          </a:xfrm>
          <a:prstGeom prst="line">
            <a:avLst/>
          </a:prstGeom>
          <a:noFill/>
          <a:ln w="22860">
            <a:solidFill>
              <a:srgbClr val="009E73"/>
            </a:solidFill>
            <a:prstDash val="solid"/>
            <a:tailEnd type="triangle"/>
          </a:ln>
        </p:spPr>
      </p:sp>
      <p:sp>
        <p:nvSpPr>
          <p:cNvPr id="49" name="Text 47"/>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0" name="Text 48"/>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Which network is needed to create a new image after training?</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DCGAN samples across training epochs</a:t>
            </a:r>
            <a:endParaRPr lang="en-US" sz="3200" dirty="0"/>
          </a:p>
        </p:txBody>
      </p:sp>
      <p:pic>
        <p:nvPicPr>
          <p:cNvPr id="6" name="Image 0" descr="C:\Users\sudee\Downloads\Generative_AI_2027_Teaching_Pack\AI2027_Project\build\figures\week_03\epochs_slide.png">    </p:cNvPr>
          <p:cNvPicPr>
            <a:picLocks noChangeAspect="1"/>
          </p:cNvPicPr>
          <p:nvPr/>
        </p:nvPicPr>
        <p:blipFill>
          <a:blip r:embed="rId1"/>
          <a:stretch>
            <a:fillRect/>
          </a:stretch>
        </p:blipFill>
        <p:spPr>
          <a:xfrm>
            <a:off x="860246" y="1481328"/>
            <a:ext cx="10471203" cy="3351276"/>
          </a:xfrm>
          <a:prstGeom prst="rect">
            <a:avLst/>
          </a:prstGeom>
        </p:spPr>
      </p:pic>
      <p:sp>
        <p:nvSpPr>
          <p:cNvPr id="7" name="Text 4"/>
          <p:cNvSpPr txBox="1"/>
          <p:nvPr/>
        </p:nvSpPr>
        <p:spPr>
          <a:xfrm>
            <a:off x="548640" y="5015484"/>
            <a:ext cx="11094415" cy="8823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Each column follows one fixed noise vector through training.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Some columns change digit between epochs, because G keeps changing as D changes.</a:t>
            </a:r>
            <a:endParaRPr lang="en-US" sz="1800" dirty="0"/>
          </a:p>
        </p:txBody>
      </p:sp>
      <p:sp>
        <p:nvSpPr>
          <p:cNvPr id="8" name="Text 5"/>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The same 16 noise vectors decoded after each epoch (MNIST, CPU training).</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Conditional GANs: choose what to generate</a:t>
            </a:r>
            <a:endParaRPr lang="en-US" sz="3200" dirty="0"/>
          </a:p>
        </p:txBody>
      </p:sp>
      <p:pic>
        <p:nvPicPr>
          <p:cNvPr id="6" name="Image 0" descr="C:\Users\sudee\Downloads\Generative_AI_2027_Teaching_Pack\AI2027_Project\build\figures\week_03\cgan.png">    </p:cNvPr>
          <p:cNvPicPr>
            <a:picLocks noChangeAspect="1"/>
          </p:cNvPicPr>
          <p:nvPr/>
        </p:nvPicPr>
        <p:blipFill>
          <a:blip r:embed="rId1"/>
          <a:stretch>
            <a:fillRect/>
          </a:stretch>
        </p:blipFill>
        <p:spPr>
          <a:xfrm>
            <a:off x="548640" y="2344349"/>
            <a:ext cx="11094415" cy="310199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Landmark GAN variants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pix2pix (2017)</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Learns from matched pairs, such as a sketch and its photo; a pixel (L1) loss keeps outputs faithful.</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CycleGAN (2017)</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No pairs needed, such as horses ↔ zebras; translating there and back must return the original.</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StyleGAN (2019–21)</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Photorealistic faces with separate controls for coarse features (pose) and fine ones (hair).</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BigGAN (2018)</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Large-scale ImageNet images by class; the truncation trick trades variety for quality.</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CycleGAN's key idea: cycle consistency</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572ba1c329f4a635.png">    </p:cNvPr>
          <p:cNvPicPr>
            <a:picLocks noChangeAspect="1"/>
          </p:cNvPicPr>
          <p:nvPr/>
        </p:nvPicPr>
        <p:blipFill>
          <a:blip r:embed="rId1"/>
          <a:stretch>
            <a:fillRect/>
          </a:stretch>
        </p:blipFill>
        <p:spPr>
          <a:xfrm>
            <a:off x="3154528" y="1961388"/>
            <a:ext cx="5882640" cy="36576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 translates X → Y; F translates back.</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Compare the round-trip image with its input.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Add both cycle losses to adversarial training.</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G, F</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two translators</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‖·‖₁</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sum of absolute pixel differences</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Latent interpolation in a GAN</a:t>
            </a:r>
            <a:endParaRPr lang="en-US" sz="3200" dirty="0"/>
          </a:p>
        </p:txBody>
      </p:sp>
      <p:pic>
        <p:nvPicPr>
          <p:cNvPr id="6" name="Image 0" descr="C:\Users\sudee\Downloads\Generative_AI_2027_Teaching_Pack\AI2027_Project\build\figures\week_03\interpolation.png">    </p:cNvPr>
          <p:cNvPicPr>
            <a:picLocks noChangeAspect="1"/>
          </p:cNvPicPr>
          <p:nvPr/>
        </p:nvPicPr>
        <p:blipFill>
          <a:blip r:embed="rId1"/>
          <a:stretch>
            <a:fillRect/>
          </a:stretch>
        </p:blipFill>
        <p:spPr>
          <a:xfrm>
            <a:off x="548640" y="1624949"/>
            <a:ext cx="11094415" cy="3080036"/>
          </a:xfrm>
          <a:prstGeom prst="rect">
            <a:avLst/>
          </a:prstGeom>
        </p:spPr>
      </p:pic>
      <p:sp>
        <p:nvSpPr>
          <p:cNvPr id="7" name="Text 4"/>
          <p:cNvSpPr txBox="1"/>
          <p:nvPr/>
        </p:nvSpPr>
        <p:spPr>
          <a:xfrm>
            <a:off x="548640" y="4887865"/>
            <a:ext cx="11094415" cy="1421495"/>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Each row decodes 10 evenly spaced codes on the straight line between two random noise vectors.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Top row: a 6 closes into a 0. Bottom row: an 8 opens into a 5.</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 basic GAN has no encoder, so it cannot find the code of a real photo directly.</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Evaluation, applications and risks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good is a generator, and where are GANs used in 2026?</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Fréchet Inception Distance (FID)</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db62d9b2e665dc3a.png">    </p:cNvPr>
          <p:cNvPicPr>
            <a:picLocks noChangeAspect="1"/>
          </p:cNvPicPr>
          <p:nvPr/>
        </p:nvPicPr>
        <p:blipFill>
          <a:blip r:embed="rId1"/>
          <a:stretch>
            <a:fillRect/>
          </a:stretch>
        </p:blipFill>
        <p:spPr>
          <a:xfrm>
            <a:off x="3249016" y="1933956"/>
            <a:ext cx="5693664" cy="42062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Extract real and generated features with one network.</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Compare feature means and covariances.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Lower FID means closer Gaussian summaries, not guaranteed correctness.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μ (r, g)</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mean feature vectors, real and generated</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Σ (r, g)</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feature covariance matrices</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Tr</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trace (sum of the diagonal)</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FID measures, in feature space</a:t>
            </a:r>
            <a:endParaRPr lang="en-US" sz="3200" dirty="0"/>
          </a:p>
        </p:txBody>
      </p:sp>
      <p:pic>
        <p:nvPicPr>
          <p:cNvPr id="6" name="Image 0" descr="C:\Users\sudee\Downloads\Generative_AI_2027_Teaching_Pack\AI2027_Project\build\figures\week_03\fid.png">    </p:cNvPr>
          <p:cNvPicPr>
            <a:picLocks noChangeAspect="1"/>
          </p:cNvPicPr>
          <p:nvPr/>
        </p:nvPicPr>
        <p:blipFill>
          <a:blip r:embed="rId1"/>
          <a:stretch>
            <a:fillRect/>
          </a:stretch>
        </p:blipFill>
        <p:spPr>
          <a:xfrm>
            <a:off x="1694223" y="1481328"/>
            <a:ext cx="8803249" cy="482803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GANs: the main tools</a:t>
            </a:r>
            <a:endParaRPr lang="en-US"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508760"/>
                <a:gridCol w="4794210"/>
                <a:gridCol w="4791445"/>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it measures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Watch out for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FID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Distance between real and generated image features (lower is better)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Needs thousands of images; depends on the feature network and resizing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Inception Score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Whether a classifier finds the images confident and varied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Never compares with real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Precision / recall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Realism (precision) and coverage of real data (recall), separately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Depends on the feature space and neighbour count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KID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Like FID, but unbiased with fewer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Still noisy when images are few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Human checks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Realism and usefulness for the task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Needs a rubric and several raters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GANs are used in 2026</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Super-resolution</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Sharpen low-resolution photos or video frames in one fast pass.</a:t>
            </a:r>
            <a:endParaRPr lang="en-US" sz="22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Fast diffusion</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A discriminator helps cut diffusion to 1–4 steps (SDXL-Turbo).</a:t>
            </a:r>
            <a:endParaRPr lang="en-US" sz="22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Sharper autoencoders</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A GAN loss keeps latent-diffusion decoders sharp (week 2's VAE).</a:t>
            </a:r>
            <a:endParaRPr lang="en-US" sz="22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Audio vocoders</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Turn speech features into waveforms in real time (e.g. HiFi-GAN).</a:t>
            </a:r>
            <a:endParaRPr lang="en-US" sz="22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Image translation</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Day to night, sketch to photo, or one painting style to another.</a:t>
            </a:r>
            <a:endParaRPr lang="en-US" sz="22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Synthetic data</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Extra tabular or image records; audit them for privacy leaks.</a:t>
            </a:r>
            <a:endParaRPr lang="en-US" sz="2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deepfakes and synthetic media</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Synthetic media can impersonate or mislead.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False positives and new generators defeat detectors.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provenance and disclosure.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Use authorised data; prevent abuse.</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VAE vs. GAN: a summary for the exam</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981146"/>
                <a:gridCol w="4754749"/>
                <a:gridCol w="4358520"/>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VAE (week 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GAN (week 3)</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 signal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Rebuild the input + KL penalty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learned real-or-fake checker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Likelihood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lower bound (ELBO) can be computed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None; quality must be measured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Encoder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Yes, image → code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Basic GAN: no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Often slightly blurry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Often sharp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Coverage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Usually broad; still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Can miss whole classes (collapse)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loss to minimise; stable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Two networks in a moving game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Typical uses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Latent spaces, anomaly scores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Fast, sharp generation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 inspect, and evaluate a GAN</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Check visual quality and coverage with evidence beyond the training loss.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real batches; G</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and D</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trained G +</a:t>
            </a:r>
            <a:endParaRPr lang="en-US" sz="1441" dirty="0"/>
          </a:p>
        </p:txBody>
      </p:sp>
      <p:sp>
        <p:nvSpPr>
          <p:cNvPr id="12" name="Text 10"/>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snapshots</a:t>
            </a:r>
            <a:endParaRPr lang="en-US" sz="1441" dirty="0"/>
          </a:p>
        </p:txBody>
      </p:sp>
      <p:sp>
        <p:nvSpPr>
          <p:cNvPr id="13" name="Shape 11"/>
          <p:cNvSpPr/>
          <p:nvPr/>
        </p:nvSpPr>
        <p:spPr>
          <a:xfrm>
            <a:off x="5973836" y="3838927"/>
            <a:ext cx="244024" cy="0"/>
          </a:xfrm>
          <a:prstGeom prst="line">
            <a:avLst/>
          </a:prstGeom>
          <a:noFill/>
          <a:ln w="22860">
            <a:solidFill>
              <a:srgbClr val="009E73"/>
            </a:solidFill>
            <a:prstDash val="solid"/>
            <a:tailEnd type="triangle"/>
          </a:ln>
        </p:spPr>
      </p:sp>
      <p:sp>
        <p:nvSpPr>
          <p:cNvPr id="14" name="Text 12"/>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generated images</a:t>
            </a:r>
            <a:endParaRPr lang="en-US" sz="1441" dirty="0"/>
          </a:p>
        </p:txBody>
      </p:sp>
      <p:sp>
        <p:nvSpPr>
          <p:cNvPr id="15" name="Shape 13"/>
          <p:cNvSpPr/>
          <p:nvPr/>
        </p:nvSpPr>
        <p:spPr>
          <a:xfrm>
            <a:off x="7783680" y="3838927"/>
            <a:ext cx="244024" cy="0"/>
          </a:xfrm>
          <a:prstGeom prst="line">
            <a:avLst/>
          </a:prstGeom>
          <a:noFill/>
          <a:ln w="22860">
            <a:solidFill>
              <a:srgbClr val="009E73"/>
            </a:solidFill>
            <a:prstDash val="solid"/>
            <a:tailEnd type="triangle"/>
          </a:ln>
        </p:spPr>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classifier features</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quality/coverage</a:t>
            </a:r>
            <a:endParaRPr lang="en-US" sz="1441" dirty="0"/>
          </a:p>
        </p:txBody>
      </p:sp>
      <p:sp>
        <p:nvSpPr>
          <p:cNvPr id="19" name="Text 17"/>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evidence</a:t>
            </a:r>
            <a:endParaRPr lang="en-US" sz="1441" dirty="0"/>
          </a:p>
        </p:txBody>
      </p:sp>
      <p:sp>
        <p:nvSpPr>
          <p:cNvPr id="20" name="Shape 18"/>
          <p:cNvSpPr/>
          <p:nvPr/>
        </p:nvSpPr>
        <p:spPr>
          <a:xfrm>
            <a:off x="788325" y="2939089"/>
            <a:ext cx="1565821" cy="1799677"/>
          </a:xfrm>
          <a:prstGeom prst="rect">
            <a:avLst/>
          </a:prstGeom>
          <a:solidFill>
            <a:srgbClr val="E5F7EF"/>
          </a:solidFill>
          <a:ln w="15240">
            <a:solidFill>
              <a:srgbClr val="009E73"/>
            </a:solidFill>
            <a:prstDash val="solid"/>
          </a:ln>
        </p:spPr>
      </p:sp>
      <p:sp>
        <p:nvSpPr>
          <p:cNvPr id="21" name="Text 19"/>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 and</a:t>
            </a:r>
            <a:endParaRPr lang="en-US" sz="1561" dirty="0"/>
          </a:p>
        </p:txBody>
      </p:sp>
      <p:sp>
        <p:nvSpPr>
          <p:cNvPr id="22" name="Text 20"/>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a:t>
            </a:r>
            <a:endParaRPr lang="en-US" sz="1561" dirty="0"/>
          </a:p>
        </p:txBody>
      </p:sp>
      <p:sp>
        <p:nvSpPr>
          <p:cNvPr id="23" name="Text 21"/>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Scale images;</a:t>
            </a:r>
            <a:endParaRPr lang="en-US" sz="1441" dirty="0"/>
          </a:p>
        </p:txBody>
      </p:sp>
      <p:sp>
        <p:nvSpPr>
          <p:cNvPr id="24" name="Text 22"/>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build networks.</a:t>
            </a:r>
            <a:endParaRPr lang="en-US" sz="1441" dirty="0"/>
          </a:p>
        </p:txBody>
      </p:sp>
      <p:sp>
        <p:nvSpPr>
          <p:cNvPr id="25" name="Text 23"/>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 / D</a:t>
            </a:r>
            <a:endParaRPr lang="en-US" sz="1441" dirty="0"/>
          </a:p>
        </p:txBody>
      </p:sp>
      <p:sp>
        <p:nvSpPr>
          <p:cNvPr id="26" name="Shape 24"/>
          <p:cNvSpPr/>
          <p:nvPr/>
        </p:nvSpPr>
        <p:spPr>
          <a:xfrm>
            <a:off x="2598170" y="2939089"/>
            <a:ext cx="1565821" cy="1799677"/>
          </a:xfrm>
          <a:prstGeom prst="rect">
            <a:avLst/>
          </a:prstGeom>
          <a:solidFill>
            <a:srgbClr val="E5F7EF"/>
          </a:solidFill>
          <a:ln w="15240">
            <a:solidFill>
              <a:srgbClr val="009E73"/>
            </a:solidFill>
            <a:prstDash val="solid"/>
          </a:ln>
        </p:spPr>
      </p:sp>
      <p:sp>
        <p:nvSpPr>
          <p:cNvPr id="27" name="Text 25"/>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Alternate</a:t>
            </a:r>
            <a:endParaRPr lang="en-US" sz="1561" dirty="0"/>
          </a:p>
        </p:txBody>
      </p:sp>
      <p:sp>
        <p:nvSpPr>
          <p:cNvPr id="28" name="Text 26"/>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training</a:t>
            </a:r>
            <a:endParaRPr lang="en-US" sz="1561" dirty="0"/>
          </a:p>
        </p:txBody>
      </p:sp>
      <p:sp>
        <p:nvSpPr>
          <p:cNvPr id="29" name="Text 27"/>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Record scores</a:t>
            </a:r>
            <a:endParaRPr lang="en-US" sz="1441" dirty="0"/>
          </a:p>
        </p:txBody>
      </p:sp>
      <p:sp>
        <p:nvSpPr>
          <p:cNvPr id="30" name="Text 28"/>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snapshots.</a:t>
            </a:r>
            <a:endParaRPr lang="en-US" sz="1441" dirty="0"/>
          </a:p>
        </p:txBody>
      </p:sp>
      <p:sp>
        <p:nvSpPr>
          <p:cNvPr id="31" name="Text 29"/>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log</a:t>
            </a:r>
            <a:endParaRPr lang="en-US" sz="1441" dirty="0"/>
          </a:p>
        </p:txBody>
      </p:sp>
      <p:sp>
        <p:nvSpPr>
          <p:cNvPr id="32" name="Shape 30"/>
          <p:cNvSpPr/>
          <p:nvPr/>
        </p:nvSpPr>
        <p:spPr>
          <a:xfrm>
            <a:off x="4408015" y="2939089"/>
            <a:ext cx="1565821" cy="1799677"/>
          </a:xfrm>
          <a:prstGeom prst="roundRect">
            <a:avLst>
              <a:gd name="adj" fmla="val 4672"/>
            </a:avLst>
          </a:prstGeom>
          <a:solidFill>
            <a:srgbClr val="F9EAF4"/>
          </a:solidFill>
          <a:ln w="15240">
            <a:solidFill>
              <a:srgbClr val="CC79A7"/>
            </a:solidFill>
            <a:prstDash val="solid"/>
          </a:ln>
        </p:spPr>
      </p:sp>
      <p:sp>
        <p:nvSpPr>
          <p:cNvPr id="33" name="Text 31"/>
          <p:cNvSpPr txBox="1"/>
          <p:nvPr/>
        </p:nvSpPr>
        <p:spPr>
          <a:xfrm>
            <a:off x="4469021"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Explore codes</a:t>
            </a:r>
            <a:endParaRPr lang="en-US" sz="1561" dirty="0"/>
          </a:p>
        </p:txBody>
      </p:sp>
      <p:sp>
        <p:nvSpPr>
          <p:cNvPr id="34" name="Text 32"/>
          <p:cNvSpPr txBox="1"/>
          <p:nvPr/>
        </p:nvSpPr>
        <p:spPr>
          <a:xfrm>
            <a:off x="4469021"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Decode two</a:t>
            </a:r>
            <a:endParaRPr lang="en-US" sz="1441" dirty="0"/>
          </a:p>
        </p:txBody>
      </p:sp>
      <p:sp>
        <p:nvSpPr>
          <p:cNvPr id="35" name="Text 33"/>
          <p:cNvSpPr txBox="1"/>
          <p:nvPr/>
        </p:nvSpPr>
        <p:spPr>
          <a:xfrm>
            <a:off x="446902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interpolation</a:t>
            </a:r>
            <a:endParaRPr lang="en-US" sz="1441" dirty="0"/>
          </a:p>
        </p:txBody>
      </p:sp>
      <p:sp>
        <p:nvSpPr>
          <p:cNvPr id="36" name="Text 34"/>
          <p:cNvSpPr txBox="1"/>
          <p:nvPr/>
        </p:nvSpPr>
        <p:spPr>
          <a:xfrm>
            <a:off x="4469021"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paths.</a:t>
            </a:r>
            <a:endParaRPr lang="en-US" sz="1441" dirty="0"/>
          </a:p>
        </p:txBody>
      </p:sp>
      <p:sp>
        <p:nvSpPr>
          <p:cNvPr id="37" name="Text 35"/>
          <p:cNvSpPr txBox="1"/>
          <p:nvPr/>
        </p:nvSpPr>
        <p:spPr>
          <a:xfrm>
            <a:off x="4430892"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lerp / slerp</a:t>
            </a:r>
            <a:endParaRPr lang="en-US" sz="1441" dirty="0"/>
          </a:p>
        </p:txBody>
      </p:sp>
      <p:sp>
        <p:nvSpPr>
          <p:cNvPr id="38" name="Shape 36"/>
          <p:cNvSpPr/>
          <p:nvPr/>
        </p:nvSpPr>
        <p:spPr>
          <a:xfrm>
            <a:off x="6217860" y="2939089"/>
            <a:ext cx="1565821" cy="1799677"/>
          </a:xfrm>
          <a:prstGeom prst="roundRect">
            <a:avLst>
              <a:gd name="adj" fmla="val 4672"/>
            </a:avLst>
          </a:prstGeom>
          <a:solidFill>
            <a:srgbClr val="F9EAF4"/>
          </a:solidFill>
          <a:ln w="15240">
            <a:solidFill>
              <a:srgbClr val="CC79A7"/>
            </a:solidFill>
            <a:prstDash val="solid"/>
          </a:ln>
        </p:spPr>
      </p:sp>
      <p:sp>
        <p:nvSpPr>
          <p:cNvPr id="39" name="Text 37"/>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classes</a:t>
            </a:r>
            <a:endParaRPr lang="en-US" sz="1561" dirty="0"/>
          </a:p>
        </p:txBody>
      </p:sp>
      <p:sp>
        <p:nvSpPr>
          <p:cNvPr id="40" name="Text 38"/>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Count classifier</a:t>
            </a:r>
            <a:endParaRPr lang="en-US" sz="1441" dirty="0"/>
          </a:p>
        </p:txBody>
      </p:sp>
      <p:sp>
        <p:nvSpPr>
          <p:cNvPr id="41" name="Text 39"/>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predictions.</a:t>
            </a:r>
            <a:endParaRPr lang="en-US" sz="1441" dirty="0"/>
          </a:p>
        </p:txBody>
      </p:sp>
      <p:sp>
        <p:nvSpPr>
          <p:cNvPr id="42" name="Text 40"/>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DigitCNN / counts</a:t>
            </a:r>
            <a:endParaRPr lang="en-US" sz="1441" dirty="0"/>
          </a:p>
        </p:txBody>
      </p:sp>
      <p:sp>
        <p:nvSpPr>
          <p:cNvPr id="43" name="Shape 41"/>
          <p:cNvSpPr/>
          <p:nvPr/>
        </p:nvSpPr>
        <p:spPr>
          <a:xfrm>
            <a:off x="8027705" y="2939089"/>
            <a:ext cx="1565821" cy="1799677"/>
          </a:xfrm>
          <a:prstGeom prst="roundRect">
            <a:avLst>
              <a:gd name="adj" fmla="val 4672"/>
            </a:avLst>
          </a:prstGeom>
          <a:solidFill>
            <a:srgbClr val="F9EAF4"/>
          </a:solidFill>
          <a:ln w="15240">
            <a:solidFill>
              <a:srgbClr val="CC79A7"/>
            </a:solidFill>
            <a:prstDash val="solid"/>
          </a:ln>
        </p:spPr>
      </p:sp>
      <p:sp>
        <p:nvSpPr>
          <p:cNvPr id="44" name="Text 42"/>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45" name="Text 43"/>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features</a:t>
            </a:r>
            <a:endParaRPr lang="en-US" sz="1561" dirty="0"/>
          </a:p>
        </p:txBody>
      </p:sp>
      <p:sp>
        <p:nvSpPr>
          <p:cNvPr id="46" name="Text 44"/>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Real/fake means</a:t>
            </a:r>
            <a:endParaRPr lang="en-US" sz="1441" dirty="0"/>
          </a:p>
        </p:txBody>
      </p:sp>
      <p:sp>
        <p:nvSpPr>
          <p:cNvPr id="47" name="Text 45"/>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spreads.</a:t>
            </a:r>
            <a:endParaRPr lang="en-US" sz="1441" dirty="0"/>
          </a:p>
        </p:txBody>
      </p:sp>
      <p:sp>
        <p:nvSpPr>
          <p:cNvPr id="48" name="Text 46"/>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feats</a:t>
            </a:r>
            <a:endParaRPr lang="en-US" sz="1441" dirty="0"/>
          </a:p>
        </p:txBody>
      </p:sp>
      <p:sp>
        <p:nvSpPr>
          <p:cNvPr id="49" name="Shape 47"/>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0" name="Text 48"/>
          <p:cNvSpPr txBox="1"/>
          <p:nvPr/>
        </p:nvSpPr>
        <p:spPr>
          <a:xfrm>
            <a:off x="9898555"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Test collapse</a:t>
            </a:r>
            <a:endParaRPr lang="en-US" sz="1561" dirty="0"/>
          </a:p>
        </p:txBody>
      </p:sp>
      <p:sp>
        <p:nvSpPr>
          <p:cNvPr id="51" name="Text 49"/>
          <p:cNvSpPr txBox="1"/>
          <p:nvPr/>
        </p:nvSpPr>
        <p:spPr>
          <a:xfrm>
            <a:off x="9898555"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Count</a:t>
            </a:r>
            <a:endParaRPr lang="en-US" sz="1441" dirty="0"/>
          </a:p>
        </p:txBody>
      </p:sp>
      <p:sp>
        <p:nvSpPr>
          <p:cNvPr id="52" name="Text 50"/>
          <p:cNvSpPr txBox="1"/>
          <p:nvPr/>
        </p:nvSpPr>
        <p:spPr>
          <a:xfrm>
            <a:off x="9898555"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eight-cluster</a:t>
            </a:r>
            <a:endParaRPr lang="en-US" sz="1441" dirty="0"/>
          </a:p>
        </p:txBody>
      </p:sp>
      <p:sp>
        <p:nvSpPr>
          <p:cNvPr id="53" name="Text 51"/>
          <p:cNvSpPr txBox="1"/>
          <p:nvPr/>
        </p:nvSpPr>
        <p:spPr>
          <a:xfrm>
            <a:off x="9898555"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coverage.</a:t>
            </a:r>
            <a:endParaRPr lang="en-US" sz="1441" dirty="0"/>
          </a:p>
        </p:txBody>
      </p:sp>
      <p:sp>
        <p:nvSpPr>
          <p:cNvPr id="54" name="Text 52"/>
          <p:cNvSpPr txBox="1"/>
          <p:nvPr/>
        </p:nvSpPr>
        <p:spPr>
          <a:xfrm>
            <a:off x="9860427"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train_toy</a:t>
            </a:r>
            <a:endParaRPr lang="en-US" sz="1441" dirty="0"/>
          </a:p>
        </p:txBody>
      </p:sp>
      <p:sp>
        <p:nvSpPr>
          <p:cNvPr id="55" name="Shape 53"/>
          <p:cNvSpPr/>
          <p:nvPr/>
        </p:nvSpPr>
        <p:spPr>
          <a:xfrm>
            <a:off x="788325" y="5630979"/>
            <a:ext cx="198270" cy="198270"/>
          </a:xfrm>
          <a:prstGeom prst="rect">
            <a:avLst/>
          </a:prstGeom>
          <a:solidFill>
            <a:srgbClr val="E5F7EF"/>
          </a:solidFill>
          <a:ln w="15240">
            <a:solidFill>
              <a:srgbClr val="009E73"/>
            </a:solidFill>
            <a:prstDash val="solid"/>
          </a:ln>
        </p:spPr>
      </p:sp>
      <p:sp>
        <p:nvSpPr>
          <p:cNvPr id="56" name="Text 54"/>
          <p:cNvSpPr txBox="1"/>
          <p:nvPr/>
        </p:nvSpPr>
        <p:spPr>
          <a:xfrm>
            <a:off x="1047600"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7" name="Shape 55"/>
          <p:cNvSpPr/>
          <p:nvPr/>
        </p:nvSpPr>
        <p:spPr>
          <a:xfrm>
            <a:off x="1792174" y="5630979"/>
            <a:ext cx="198270" cy="198270"/>
          </a:xfrm>
          <a:prstGeom prst="roundRect">
            <a:avLst>
              <a:gd name="adj" fmla="val 36895"/>
            </a:avLst>
          </a:prstGeom>
          <a:solidFill>
            <a:srgbClr val="F9EAF4"/>
          </a:solidFill>
          <a:ln w="15240">
            <a:solidFill>
              <a:srgbClr val="CC79A7"/>
            </a:solidFill>
            <a:prstDash val="solid"/>
          </a:ln>
        </p:spPr>
      </p:sp>
      <p:sp>
        <p:nvSpPr>
          <p:cNvPr id="58" name="Text 56"/>
          <p:cNvSpPr txBox="1"/>
          <p:nvPr/>
        </p:nvSpPr>
        <p:spPr>
          <a:xfrm>
            <a:off x="2051449"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9" name="Shape 57"/>
          <p:cNvSpPr/>
          <p:nvPr/>
        </p:nvSpPr>
        <p:spPr>
          <a:xfrm>
            <a:off x="2848871" y="5730113"/>
            <a:ext cx="335533" cy="0"/>
          </a:xfrm>
          <a:prstGeom prst="line">
            <a:avLst/>
          </a:prstGeom>
          <a:noFill/>
          <a:ln w="22860">
            <a:solidFill>
              <a:srgbClr val="009E73"/>
            </a:solidFill>
            <a:prstDash val="solid"/>
            <a:tailEnd type="triangle"/>
          </a:ln>
        </p:spPr>
      </p:sp>
      <p:sp>
        <p:nvSpPr>
          <p:cNvPr id="60" name="Text 58"/>
          <p:cNvSpPr txBox="1"/>
          <p:nvPr/>
        </p:nvSpPr>
        <p:spPr>
          <a:xfrm>
            <a:off x="3245411"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1" name="Text 5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Can a low feature distance alone prove that every digit class is represented?</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3: train and diagnose a DCGAN</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Build G and D.</a:t>
            </a:r>
            <a:endParaRPr lang="en-US" sz="20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Implement detached D loss.</a:t>
            </a:r>
            <a:endParaRPr lang="en-US" sz="20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Implement connected G loss.</a:t>
            </a:r>
            <a:endParaRPr lang="en-US" sz="20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Inspect fixed-noise snapshots.</a:t>
            </a:r>
            <a:endParaRPr lang="en-US" sz="20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Check features and class coverage.</a:t>
            </a:r>
            <a:endParaRPr lang="en-US" sz="20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toy training configurations.</a:t>
            </a:r>
            <a:endParaRPr lang="en-US" sz="20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GPU or local CPU. About 19 min on a laptop CPU after downloads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Figures, diagnostics, distances, toy comparison, four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4 'GANs' and ch. 10 'Advanced GANs'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Core module text</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Goodfellow et al. (2014) Generative Adversarial Networks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The original paper</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PyTorch tutorial: DCGAN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Official step-by-step implementation</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for Developers: GAN course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Short free course with exercises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Arjovsky et al. (2017) Wasserstein GAN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Why the Wasserstein distance helps</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Karras et al. (2019) StyleGAN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Style-based generator</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Heusel et al. (2017) TTUR and FID</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Defines the Fréchet Inception Distance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3: what we learned</a:t>
            </a:r>
            <a:endParaRPr lang="en-US" sz="3200" dirty="0"/>
          </a:p>
        </p:txBody>
      </p:sp>
      <p:sp>
        <p:nvSpPr>
          <p:cNvPr id="6" name="Shape 4"/>
          <p:cNvSpPr/>
          <p:nvPr/>
        </p:nvSpPr>
        <p:spPr>
          <a:xfrm>
            <a:off x="946879" y="1630142"/>
            <a:ext cx="3323515" cy="1376531"/>
          </a:xfrm>
          <a:prstGeom prst="rect">
            <a:avLst/>
          </a:prstGeom>
          <a:solidFill>
            <a:srgbClr val="E5F7EF"/>
          </a:solidFill>
          <a:ln w="15240">
            <a:solidFill>
              <a:srgbClr val="009E73"/>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Generator G</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Noise codes become images;</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generation after training needs G</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alone.</a:t>
            </a:r>
            <a:endParaRPr lang="en-US" sz="1523" dirty="0"/>
          </a:p>
        </p:txBody>
      </p:sp>
      <p:sp>
        <p:nvSpPr>
          <p:cNvPr id="11" name="Shape 9"/>
          <p:cNvSpPr/>
          <p:nvPr/>
        </p:nvSpPr>
        <p:spPr>
          <a:xfrm>
            <a:off x="4434090" y="1630142"/>
            <a:ext cx="3323515" cy="1376531"/>
          </a:xfrm>
          <a:prstGeom prst="rect">
            <a:avLst/>
          </a:prstGeom>
          <a:solidFill>
            <a:srgbClr val="E5F7EF"/>
          </a:solidFill>
          <a:ln w="15240">
            <a:solidFill>
              <a:srgbClr val="009E73"/>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Discriminator D</a:t>
            </a:r>
            <a:endParaRPr lang="en-US" sz="1758" dirty="0"/>
          </a:p>
        </p:txBody>
      </p:sp>
      <p:sp>
        <p:nvSpPr>
          <p:cNvPr id="13" name="Text 11"/>
          <p:cNvSpPr txBox="1"/>
          <p:nvPr/>
        </p:nvSpPr>
        <p:spPr>
          <a:xfrm>
            <a:off x="456802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 learns to distinguish real data</a:t>
            </a:r>
            <a:endParaRPr lang="en-US" sz="1523" dirty="0"/>
          </a:p>
        </p:txBody>
      </p:sp>
      <p:sp>
        <p:nvSpPr>
          <p:cNvPr id="14" name="Text 12"/>
          <p:cNvSpPr txBox="1"/>
          <p:nvPr/>
        </p:nvSpPr>
        <p:spPr>
          <a:xfrm>
            <a:off x="456802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from generated images.</a:t>
            </a:r>
            <a:endParaRPr lang="en-US" sz="1523" dirty="0"/>
          </a:p>
        </p:txBody>
      </p:sp>
      <p:sp>
        <p:nvSpPr>
          <p:cNvPr id="15" name="Shape 13"/>
          <p:cNvSpPr/>
          <p:nvPr/>
        </p:nvSpPr>
        <p:spPr>
          <a:xfrm>
            <a:off x="7921301" y="1630142"/>
            <a:ext cx="3323515" cy="1376531"/>
          </a:xfrm>
          <a:prstGeom prst="roundRect">
            <a:avLst>
              <a:gd name="adj" fmla="val 5314"/>
            </a:avLst>
          </a:prstGeom>
          <a:solidFill>
            <a:srgbClr val="FFF0E6"/>
          </a:solidFill>
          <a:ln w="15240">
            <a:solidFill>
              <a:srgbClr val="D55E00"/>
            </a:solidFill>
            <a:prstDash val="solid"/>
          </a:ln>
        </p:spPr>
      </p:sp>
      <p:sp>
        <p:nvSpPr>
          <p:cNvPr id="16" name="Text 14"/>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Alternate updates</a:t>
            </a:r>
            <a:endParaRPr lang="en-US" sz="1758" dirty="0"/>
          </a:p>
        </p:txBody>
      </p:sp>
      <p:sp>
        <p:nvSpPr>
          <p:cNvPr id="17" name="Text 15"/>
          <p:cNvSpPr txBox="1"/>
          <p:nvPr/>
        </p:nvSpPr>
        <p:spPr>
          <a:xfrm>
            <a:off x="805523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Detach fakes for D. Keep them</a:t>
            </a:r>
            <a:endParaRPr lang="en-US" sz="1523" dirty="0"/>
          </a:p>
        </p:txBody>
      </p:sp>
      <p:sp>
        <p:nvSpPr>
          <p:cNvPr id="18" name="Text 16"/>
          <p:cNvSpPr txBox="1"/>
          <p:nvPr/>
        </p:nvSpPr>
        <p:spPr>
          <a:xfrm>
            <a:off x="805523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linked for the generator’s own</a:t>
            </a:r>
            <a:endParaRPr lang="en-US" sz="1523" dirty="0"/>
          </a:p>
        </p:txBody>
      </p:sp>
      <p:sp>
        <p:nvSpPr>
          <p:cNvPr id="19" name="Text 17"/>
          <p:cNvSpPr txBox="1"/>
          <p:nvPr/>
        </p:nvSpPr>
        <p:spPr>
          <a:xfrm>
            <a:off x="805523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update.</a:t>
            </a:r>
            <a:endParaRPr lang="en-US" sz="1523" dirty="0"/>
          </a:p>
        </p:txBody>
      </p:sp>
      <p:sp>
        <p:nvSpPr>
          <p:cNvPr id="20" name="Shape 18"/>
          <p:cNvSpPr/>
          <p:nvPr/>
        </p:nvSpPr>
        <p:spPr>
          <a:xfrm>
            <a:off x="946879" y="3170368"/>
            <a:ext cx="3323515" cy="1376531"/>
          </a:xfrm>
          <a:prstGeom prst="roundRect">
            <a:avLst>
              <a:gd name="adj" fmla="val 5314"/>
            </a:avLst>
          </a:prstGeom>
          <a:solidFill>
            <a:srgbClr val="FFF0E6"/>
          </a:solidFill>
          <a:ln w="15240">
            <a:solidFill>
              <a:srgbClr val="D55E00"/>
            </a:solidFill>
            <a:prstDash val="solid"/>
          </a:ln>
        </p:spPr>
      </p:sp>
      <p:sp>
        <p:nvSpPr>
          <p:cNvPr id="21" name="Text 19"/>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Stronger early feedback</a:t>
            </a:r>
            <a:endParaRPr lang="en-US" sz="1758" dirty="0"/>
          </a:p>
        </p:txBody>
      </p:sp>
      <p:sp>
        <p:nvSpPr>
          <p:cNvPr id="22" name="Text 20"/>
          <p:cNvSpPr txBox="1"/>
          <p:nvPr/>
        </p:nvSpPr>
        <p:spPr>
          <a:xfrm>
            <a:off x="1080812"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Non-saturating G loss asks D to</a:t>
            </a:r>
            <a:endParaRPr lang="en-US" sz="1523" dirty="0"/>
          </a:p>
        </p:txBody>
      </p:sp>
      <p:sp>
        <p:nvSpPr>
          <p:cNvPr id="23" name="Text 21"/>
          <p:cNvSpPr txBox="1"/>
          <p:nvPr/>
        </p:nvSpPr>
        <p:spPr>
          <a:xfrm>
            <a:off x="1080812"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call generated images real.</a:t>
            </a:r>
            <a:endParaRPr lang="en-US" sz="1523" dirty="0"/>
          </a:p>
        </p:txBody>
      </p:sp>
      <p:sp>
        <p:nvSpPr>
          <p:cNvPr id="24" name="Shape 22"/>
          <p:cNvSpPr/>
          <p:nvPr/>
        </p:nvSpPr>
        <p:spPr>
          <a:xfrm>
            <a:off x="4434090" y="3170368"/>
            <a:ext cx="3323515" cy="1376531"/>
          </a:xfrm>
          <a:prstGeom prst="roundRect">
            <a:avLst>
              <a:gd name="adj" fmla="val 5314"/>
            </a:avLst>
          </a:prstGeom>
          <a:solidFill>
            <a:srgbClr val="F9EAF4"/>
          </a:solidFill>
          <a:ln w="15240">
            <a:solidFill>
              <a:srgbClr val="CC79A7"/>
            </a:solidFill>
            <a:prstDash val="solid"/>
          </a:ln>
        </p:spPr>
      </p:sp>
      <p:sp>
        <p:nvSpPr>
          <p:cNvPr id="25" name="Text 23"/>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Quality and coverage</a:t>
            </a:r>
            <a:endParaRPr lang="en-US" sz="1758" dirty="0"/>
          </a:p>
        </p:txBody>
      </p:sp>
      <p:sp>
        <p:nvSpPr>
          <p:cNvPr id="26" name="Text 24"/>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Inspect fixed-code images, class</a:t>
            </a:r>
            <a:endParaRPr lang="en-US" sz="1523" dirty="0"/>
          </a:p>
        </p:txBody>
      </p:sp>
      <p:sp>
        <p:nvSpPr>
          <p:cNvPr id="27" name="Text 25"/>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counts and feature distances</a:t>
            </a:r>
            <a:endParaRPr lang="en-US" sz="1523" dirty="0"/>
          </a:p>
        </p:txBody>
      </p:sp>
      <p:sp>
        <p:nvSpPr>
          <p:cNvPr id="28" name="Text 26"/>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together.</a:t>
            </a:r>
            <a:endParaRPr lang="en-US" sz="1523" dirty="0"/>
          </a:p>
        </p:txBody>
      </p:sp>
      <p:sp>
        <p:nvSpPr>
          <p:cNvPr id="29" name="Shape 27"/>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30" name="Text 28"/>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Synthetic-media duties</a:t>
            </a:r>
            <a:endParaRPr lang="en-US" sz="1758" dirty="0"/>
          </a:p>
        </p:txBody>
      </p:sp>
      <p:sp>
        <p:nvSpPr>
          <p:cNvPr id="31" name="Text 29"/>
          <p:cNvSpPr txBox="1"/>
          <p:nvPr/>
        </p:nvSpPr>
        <p:spPr>
          <a:xfrm>
            <a:off x="805523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Use authorised data; assess</a:t>
            </a:r>
            <a:endParaRPr lang="en-US" sz="1523" dirty="0"/>
          </a:p>
        </p:txBody>
      </p:sp>
      <p:sp>
        <p:nvSpPr>
          <p:cNvPr id="32" name="Text 30"/>
          <p:cNvSpPr txBox="1"/>
          <p:nvPr/>
        </p:nvSpPr>
        <p:spPr>
          <a:xfrm>
            <a:off x="805523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misuse, provenance and</a:t>
            </a:r>
            <a:endParaRPr lang="en-US" sz="1523" dirty="0"/>
          </a:p>
        </p:txBody>
      </p:sp>
      <p:sp>
        <p:nvSpPr>
          <p:cNvPr id="33" name="Text 31"/>
          <p:cNvSpPr txBox="1"/>
          <p:nvPr/>
        </p:nvSpPr>
        <p:spPr>
          <a:xfrm>
            <a:off x="805523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disclosure.</a:t>
            </a:r>
            <a:endParaRPr lang="en-US" sz="1523" dirty="0"/>
          </a:p>
        </p:txBody>
      </p:sp>
      <p:sp>
        <p:nvSpPr>
          <p:cNvPr id="34" name="Text 32"/>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5" name="Text 33"/>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Illustrative G loss: if D(fake) = 0.1, −ln(0.1) ≈ 2.30; at 0.8 it is ≈ 0.22.</a:t>
            </a:r>
            <a:endParaRPr lang="en-US" sz="1582" dirty="0"/>
          </a:p>
        </p:txBody>
      </p:sp>
      <p:sp>
        <p:nvSpPr>
          <p:cNvPr id="36" name="Text 34"/>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4 we learn from known noise targets and generate by repeated denoising.</a:t>
            </a:r>
            <a:endParaRPr lang="en-US" sz="1523" dirty="0"/>
          </a:p>
        </p:txBody>
      </p:sp>
      <p:sp>
        <p:nvSpPr>
          <p:cNvPr id="37" name="Text 35"/>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Why must fake stay linked to G during the generator update?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Generative Adversarial Networks (GANs)</dc:title>
  <dc:subject>Generative AI (MSc in Artificial Intelligence)</dc:subject>
  <dc:creator>Generative AI module team</dc:creator>
  <cp:lastModifiedBy>Generative AI module team</cp:lastModifiedBy>
  <cp:revision>1</cp:revision>
  <dcterms:created xsi:type="dcterms:W3CDTF">2026-10-10T07:30:48Z</dcterms:created>
  <dcterms:modified xsi:type="dcterms:W3CDTF">2026-10-10T07:30:48Z</dcterms:modified>
</cp:coreProperties>
</file>