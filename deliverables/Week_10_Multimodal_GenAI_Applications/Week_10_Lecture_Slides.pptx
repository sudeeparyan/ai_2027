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Media applications need both generation and verification.
Explain: A modality is a kind of data, such as an image or audio. Multimodal models connect supported kinds of data. A vision-language model reads an image with a text question. Other models create pictures, waveforms or video. Their outputs need different checks.
Example: An invoice photograph supplies pixels; the requested answer supplies a text task. Reading EUR 20 and EUR 15 precedes computing EUR 35. For the invoice example, identify which values came from pixels and which were computed, then state how each is checked.
Ask: Does reading an image imply the model generates images?
Answer: No. The exact model and endpoint determine accepted inputs and generated outputs.
Watch out: A fluent media description can contain unsupported details.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Explain, use and evaluate multimodal systems responsibly.
Explain: The full six objectives remain in the teaching notes. We distinguish model architecture from training and inference. Inference uses learned weights to produce an output. Evaluation checks a stated task using known evidence. Responsible design includes permission, privacy, disclosure and human review.
Example: For a council invoice service, explain the VLM, check extracted amounts, compute sums, and route discrepancies to a person. For the council workflow, ask learners to assign one concrete verification action to each relevant objective before revealing the answer.
Ask: Which objective requires more than attractive outputs?
Answer: Verification and responsible application design require factual checks, consent and provenance decisions.
Watch out: One quality score cannot cover every objective or modality.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Follow the route from media inputs to checked applications.
Explain: Week 9 supplied shared representations and alignment. Today we inspect models that use those foundations. We separate reading media from generating media. Training explains where capabilities come from; evaluation establishes their limits. The final application pattern combines model inference with code and human review.
Example: A chart-reading route returns text; a lighthouse prompt follows a diffusion route to pixels. They require different known answers and quality checks.
Ask: Where should evaluation happen in this sequence?
Answer: After each relevant operation, with evidence appropriate to that task, before trusting or publishing the result.
Watch out: Archived examples demonstrate one configuration, rather than universal capability.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Name inputs, outputs and evidence before choosing a model.
Explain: A modality is a kind of data. A VLM uses images with text to generate an answer. Autoregressive generation predicts one next token using an existing prefix. Ground truth is a known reference answer. These terms describe different parts of a workflow.
Example: For our chart, pixels and a question are inputs; the answer is text. The source list fixes Thursday at 25.
Ask: Which item is ground truth: the model answer or the plotted source?
Answer: The known source data. Compare the answer with it rather than treating confident wording as a reference.
Watch out: A VLM reads images; this does not imply it generates image pixels.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A receipt workflow separates reading, arithmetic and privacy.
Explain: Reading turns visible symbols into candidate values. Arithmetic combines those values using explicit operations. Verification checks both the reading and the calculation. Receipts may reveal names, locations or payment details. A synthetic receipt lets us examine errors without exposing a real person.
Example: Four people share EUR 35 equally: code computes EUR 8.75 each. A misread EUR 350 creates a different answer despite correct division.
Ask: Can a correctly calculated split still be wrong?
Answer: Yes. The calculation can use misread amounts, an omitted item or an unsuitable splitting rule.
Watch out: Valid numeric output does not show that the value matches the receipt.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A VLM generates text conditioned on visual evidence.
Explain: VLM means vision-language model. An encoder converts pixels into learned features. A bridge makes those features usable by a language component. The language component predicts answer tokens using the image and question. Audio and video support depend on the exact architecture and endpoint.
Example: Ask which bar is tallest in a known chart. Image features provide evidence while question tokens specify the requested property.
Ask: What is the bridge connecting?
Answer: Visual feature vectors and the representation accepted by the language component; it is a learned mapping.
Watch out: A family name alone does not specify every supported input or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Choose a route and check its actual output.
Explain: A task names the input and desired output. Preparation converts input into the representation the selected model expects. Generation produces answer text, image pixels or a waveform. Evaluation checks properties specific to that output. Permission and disclosure apply throughout the application.
Example: A chart question needs a VLM and known-answer checking. A lighthouse description needs image generation and visual inspection instead.
Ask: Can the same score evaluate both outputs?
Answer: No. Answer accuracy checks known facts; image alignment and human inspection address different properties of generated pictures.
Watch out: These are alternative routes, rather than one model that performs every modality.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Modular bridges and joint multimodal training organise learning differently.
Explain: Modular systems connect separately pretrained components. A projector maps visual features into the language representation. Joint multimodal training uses mixed supported data in the training recipe. Native is a broad design description, rather than a guarantee of every modality. Check the particular checkpoint and endpoint.
Example: The left route encodes image pixels, projects features and predicts words. The right route represents supported media within jointly trained components.
Ask: Which approach can reuse an existing image encoder and LLM?
Answer: The modular approach, provided its connecting projector is trained to make the components work together.
Watch out: Do not interpret native multimodal as universal media generation.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Capabilities are tasks with specific inputs and outputs.
Explain: Captioning describes an image in text. OCR reads visible characters; document understanding links those fields to a task. Chart reading also needs correct axes and units. Video systems may inspect sampled frames, missing brief events. Speech and screen tasks need their own accuracy and permission checks.
Example: Alt text names visible objects; an invoice task extracts an identifier. Neither task authorises a screen agent to submit a form.
Ask: Which chart mistake can survive a fluent answer?
Answer: Reading the wrong axis or units, or inventing a value; compare the answer with the chart evidence.
Watch out: A useful description may still require review before accessibility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Compare exact model capabilities rather than treating families as interchangeable.
Explain: Hosted models run through a provider service. Open weights can be downloaded subject to their licence. A family may include several sizes and endpoints. Their media inputs, generated outputs and context limits can differ. The CPU lab selects a small image-to-text checkpoint, not an image generator.
Example: SmolVLM-256M is the proposed local core; the archived results used Qwen3-VL-2B. Different checkpoints can produce different factual answers.
Ask: Why is a family comparison insufficient for deployment?
Answer: The exact checkpoint, endpoint, licence, task evaluation and hardware requirements must also be checked.
Watch out: Capabilities and provider terms change; the table is an illustrative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A VLM generates new answer tokens using visual features and the question.
Explain: The processor prepares image pixels and text token IDs. A vision encoder creates feature vectors. A learned connection makes those features available to language generation. The question tokens also reach the language component. Generation repeats next-token prediction until the answer ends or reaches its cap.
Example: The question asks for Thursday tickets; the chart supplies visual evidence. The decoder reads only tokens generated after the input prefix.
Ask: Why remove the input prefix when decoding?
Answer: To return the new answer rather than repeat the question and chat formatting; the input remains evidence for generation.
Watch out: The diagram is a conceptual modular path; exact internal components vary across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Inspect archived captions claim by claim against the photographs.
Explain: A caption is generated answer text about an image. Fluent wording can include locations or objects unsupported by the pixels. The archived captions came from a specific Qwen3-VL-2B run. The new CPU core uses a smaller checkpoint. Its captions must be evaluated independently.
Example: The archived temple caption describes a lake and a hill. Point to the visible evidence before accepting those phrases. temple: “A traditional Chinese pagoda with red walls and orange-tiled roofs stands majestically on a hill overlooking…”; flower: “A close-up of a vibrant, peach-colored dahlia flower with a soft, blurred green background.”
Ask: What should happen to an unsupported caption detail?
Answer: Remove it, mark uncertainty or review the source; attractive prose is insufficient evidence for a factual claim.
Watch out: Stored captions are measured examples, not answers promised by the current 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Resolution changes visual detail and computation.
Explain: A patch is a small image region represented by a feature vector. A simple patch model divides an image into a grid. Tiles may preserve local detail while increasing visual work. Video sampling adds a time dimension and can miss brief events. Processor rules vary across models.
Example: A 336-by-336 image divided into 14-by-14 patches has 24 patches per side, giving 24 times 24 equals 576.
Ask: Does doubling resolution guarantee correct OCR?
Answer: No. It may preserve characters, but model training, compression, layout and the task still affect accuracy.
Watch out: This grid calculation illustrates one design; it is not every model's visual-token 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Invoice reading produces a reply, while a limited scoring rule produces only a match flag.
Explain: A rendered fictional invoice supplies pixels without personal data. The ask function gives its image and a question to the VLM. A reference is a known answer from the fictional source. The score function compares a substring or the first number with that reference. It returns zero or one, without extracting amounts or calculating totals.
Example: The source lines are 40 times EUR 0.50 and 2 times EUR 7.50. Python separately computes EUR 35 from those known line items before image questions run. That calculation is outside the diagram, and never receives the score flag as an amount.
Ask: Does score return validated invoice amounts?
Answer: No. It returns a limited match flag; inspect the full reply and source.
Watch out: Correct addition cannot repair an incorrectly read quantity or price.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Known chart and invoice data reveal reading and calculation errors.
Explain: Ground truth is a known reference answer. We create the chart and fictional invoice from explicit data. This makes factual checking possible without another model judging the answer. The archived run read several fields correctly but missed the chart sum. The CPU core reports its own results separately.
Example: The chart total is 12 + 30 + 18 + 25 + 9 = 94; compare the complete archived reply with this known value. Qwen3-VL-2B-Instruct answered 5 of 6 questions correctly: missed “What is the total number of tickets from Monday to…” (said “60”, gold 94).
Ask: Which check separates arithmetic from reading?
Answer: Extract and verify individual values, then sum them in code and compare the result with the requested total.
Watch out: A correct field format or high self-reported confidence does not establish a correct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Extract checked values and compute totals in code.
Explain: A VLM supplies candidate fields from an image. Validation checks field types and required structure. Source checking establishes whether those fields match the document. Code then performs arithmetic reproducibly. The printed total remains another value to cross-check, rather than an unquestionable authority.
Example: For two invoice lines, 40 times EUR 0.50 equals EUR 20 and 2 times EUR 7.50 equals EUR 15.
Ask: How should 200 invoice line items be totalled?
Answer: C. Extract checked fields, sum them in code and compare the result with the printed total; review mismatches.
Watch out: Increasing sampling temperature does not make visual reading more reliable.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Training connects visual representations with useful responses.
Explain: Pretraining learns general representations from many examples. Alignment training connects representations from different components. Visual instruction tuning uses image questions and desired answers. Adaptation targets a narrower domain using representative data. The lab performs inference with existing weights rather than training a VLM.
Example: An image-caption pair says a blue cup; an instruction pair asks its colour and answers blue. A new photograph tests generalisation.
Ask: What must stay separate from adaptation examples?
Answer: A held-out test set representing the intended users, layouts and tasks, so evaluation can expose generalisation errors.
Watch out: Training on a test image makes later success a weak measure of generalisation.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Paired alignment and visual instructions teach different connections.
Explain: A modular recipe begins with pretrained vision and language components. Alignment uses paired images and captions to train their projector. Visual instruction tuning uses image questions with desired responses. Some methods freeze components or add LoRA matrices. Held-out images test performance beyond the training examples.
Example: A cup-caption pair trains alignment; a colour question with target blue trains a visual task. A new cup photograph supplies a test.
Ask: Does the lab train the illustrated bridge?
Answer: No. It loads existing model weights and measures inference; this scene explains a possible training recipe.
Watch out: The arrows carry examples or resulting weights, not a guarantee that all recipes update the same components.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A typical recipe trains the bridge before visual instruction responses.
Explain: A pretrained image encoder supplies feature vectors. A pretrained language model supplies text generation. Alignment pre-training updates their connecting projector using paired examples. Visual instruction tuning uses questions and target responses. Preference or domain adaptation may follow, depending on the chosen recipe.
Example: Train a bridge with a cup caption, then teach the question What colour is the cup? Test a different cup image.
Ask: Does every training stage update every component?
Answer: No. Recipes can freeze the image encoder, train the projector, or selectively adapt language weights such as LoRA matrices.
Watch out: The diagram is a conceptual training recipe; the lab loads pretrained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Training data must represent both the media and the task.
Explain: Paired data connects an image with a caption or audio with a transcript. Interleaved documents contain several kinds of data in context. Task labels can specify chart values, document fields or object positions. Synthetic examples still require correctness checks. Permission and licence review precede training.
Example: A rendered chart supplies pixels, a question and an exact target of 25. A wrong label teaches the wrong association despite clean pixels.
Ask: Why remove duplicates across train and test sets?
Answer: Repeated images or near-identical layouts can inflate reported performance without demonstrating useful generalisation.
Watch out: More examples cannot compensate for systematically wrong labels or inappropriate data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Adapt a model only after defining and measuring the domain task.
Explain: A domain is the intended setting, such as a particular invoice layout. Begin with prompting and checked extraction. A labelled evaluation set identifies persistent reading or formatting failures. LoRA trains small added matrices for parameter-efficient adaptation. Some recipes also update the visual bridge.
Example: If a model repeatedly misreads a company's item codes, compare improved image preparation and prompting before training on permissioned examples.
Ask: What evidence justifies fine-tuning?
Answer: A repeatable task error on representative held-out images, plus enough correct training examples and a meaningful evaluation plan.
Watch out: A successful demonstration on one familiar document is insufficient justification for adaptation.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Generation routes create different media and need different checks.
Explain: A text-to-image route produces pixels conditioned on words. Image editing also conditions on an existing picture. Text-to-speech produces sound samples or intermediate audio tokens. Music and video add timing and continuity requirements. A VLM that reads images usually produces answer text instead.
Example: The prompt a lighthouse at sunset creates an image; asking what is visible in that image requests a text answer from another route.
Ask: Why should the output modality be named first?
Answer: It determines the model, preprocessing, output representation, appropriate evaluation and likely resource requirements.
Watch out: A single multimodal interface can hide several distinct models behind different routes.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Map each requested output to its generating operation.
Explain: Diffusion progressively transforms a noisy representation into an image. Editing begins from a partly noised existing representation. A vocoder converts acoustic features into a waveform. Audio-codec models generate discrete sound segments represented as token IDs. Video models represent both space and time.
Example: Trace words to image pixels, then trace words to sound samples. Both routes are conditional generation, but their data and failures differ.
Ask: Which route tests whether a chart answer is true?
Answer: The VLM reading route with known-value checking; image or audio generation metrics answer different questions.
Watch out: A model-family example in the notes is not a promise that every variant supports every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Distilled diffusion generates quickly but still needs visual inspection.
Explain: Distillation trains a smaller-step sampling procedure from a more expensive process. The archived SD-Turbo experiment used two denoising steps. Its guidance scale was zero under that model's recipe. CLIP compared the generated images with prompt embeddings. The full generator remains an optional extension in the CPU lab.
Example: The lighthouse, robot and ramen prompts produced stored images. Compare own-prompt scores with other-prompt scores. CLIP score against its own prompt 29.2–36.0 vs other prompts 7.8–11.5: each own-prompt score exceeded the mean score for the other prompts in this run.
Ask: Can a good similarity score prove every requested object is present?
Answer: No. Inspect object count, text, composition and artefacts directly; a global similarity score can miss individual errors.
Watch out: Do not apply another diffusion model's preferred guidance settings without checking its recipe.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Editing strength controls starting noise rather than overall quality.
Explain: Image-to-image generation encodes an existing picture. The pipeline adds partial noise before denoising with the new prompt. Higher strength generally permits larger departures from the input. The schedule also depends on step count and rounding. Hold the prompt and seed fixed when comparing settings.
Example: With four requested steps, strengths 0.3, 0.6 and 0.9 start at approximately one, two and three effective denoising steps.
Ask: What should be compared beside each edit?
Answer: The original image, prompt, seed, strength, effective schedule and visible preservation of the original scene.
Watch out: A higher setting can change more without improving the result or achieving the requested style.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Editing tools constrain different parts of an image-generation task.
Explain: Inpainting changes a masked region. Outpainting extends the canvas beyond its original boundaries. A control guide constrains structure using edges, depth or pose. Instruction editing describes the desired change in words. Personalisation adapts a model toward a subject or style using example images.
Example: Replacing a damaged sign inside a mask differs from making the entire scene look like winter. Evaluate what changed outside the intended region.
Ask: Why does personalisation require permission and licence checks?
Answer: Training examples may depict identifiable people or copyrighted work, and generated outputs can imitate likeness or protected material.
Watch out: A technical ability to imitate a subject does not supply authority to do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Speech generation creates sound; recognition checks recovered words.
Explain: TTS means text-to-speech. A waveform is a sequence of sound samples. The sampling rate states how many samples represent one second. ASR means automatic speech recognition and converts sound into text. Voice imitation adds consent and impersonation risks beyond ordinary speech synthesis.
Example: A 16,000-sample waveform at 16,000 samples per second lasts one second. Preserve this rate when passing the waveform to a recogniser.
Ask: Does a zero-error transcript prove natural speech?
Answer: No. It establishes recovered words through one recogniser, while naturalness, pronunciation, timing and listener experience need further checks.
Watch out: Changing a sampling-rate label without resampling changes the sound's interpreted speed.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Music and video need temporal quality and rights checks.
Explain: Music models may generate audio-codec tokens or denoise sound representations. Video models represent both spatial content and temporal changes. Temporal consistency means details remain coherent across frames. Sound and motion may need synchronisation. These tasks can require substantial compute and careful licence review.
Example: A cup may look correct in each isolated frame yet change colour or disappear across the clip. Watch the sequence rather than one thumbnail.
Ask: Which video error is invisible in a single frame?
Answer: Identity drift, broken motion, flicker or mismatched sound timing; evaluation must inspect transitions and the complete sequence.
Watch out: Plausible frames and attractive music do not establish rights, physics or faithful prompt execution.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Increasing editing strength allows a larger departure from the input.
Explain: Strength controls how much starting noise is used in image-to-image editing. It changes the starting point for denoising. Guidance scale controls the influence of a conditioning signal in applicable recipes. These are different settings. Comparisons should hold the input, prompt and random seed fixed.
Example: At four requested steps, changing strength from 0.3 to 0.9 changes the effective denoising schedule as well as retained input information.
Ask: What does increasing strength from 0.3 to 0.9 do?
Answer: D. It adds more starting noise and can produce larger changes; it does not guarantee sharper output or raise guidance scale.
Watch out: A strength slider is a controlled comparison, rather than a universal quality ranking.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Evaluation begins with the actual question the system must answer.
Explain: A metric is a measurement tied to a task. Known answers check factual reading. Image-text similarity checks part of prompt alignment. Speech word error rate checks disagreement with a reference transcript. Human evaluation can examine naturalness, usefulness and unsupported claims omitted by automatic measures.
Example: For a generated image of two red cups, count cups directly as well as comparing its CLIP score. The two checks can disagree.
Ask: Why is one score insufficient for all media?
Answer: Different outputs have different errors and user requirements; each metric observes a limited aspect of quality.
Watch out: An impressive number is weak evidence if its task, reference set and limitations are unspecified.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Choose task-specific metrics and a matching human rubric.
Explain: FID compares distributions of image features, rather than checking one image's truth. CLIP measures image-text embedding similarity. VQA accuracy compares answers with known references. WER counts word edits relative to a transcript. POPE-style probes check object claims, while human review examines missed defects.
Example: For speech, compare reference words with recognised words and listen separately. For invoices, compare each extracted field with a checked source.
Ask: What additional evaluation does low WER need?
Answer: Human listening for naturalness and pronunciation, plus tests covering names, numbers, accents, timing and the intended users.
Watch out: Benchmark names in a table do not make a small classroom sample a full benchmark.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A hallucination is a claim unsupported by the available evidence.
Explain: A model may name an absent object or invent document text. Leading questions can encourage a yes response. Present and absent probes help reveal this bias. Inspect the full answer alongside the image and reference. A small classroom probe has narrower scope than a published benchmark.
Example: Ask whether the flower photograph contains a flower, then whether it contains a dog. Qwen3-VL-2B-Instruct: 6 of 6 yes/no probes correct; it said “yes” to 0 of 4 absent objects or fields.
Ask: Does six correct probes establish freedom from hallucination?
Answer: No. They describe that sample and configuration; varied images, questions and failure analysis are needed for wider claims.
Watch out: Report absent-object performance separately instead of hiding yes bias inside one overall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Human evaluation needs a controlled comparison and explicit criteria.
Explain: A rubric states what raters should judge. Randomising display order reduces position bias. Blind comparisons can hide system identities from raters. Include representative content, languages and user groups. Rater agreement measures consistency, rather than proving that their judgements are correct.
Example: Two raters compare generated invoice summaries for field correctness, omitted details and unsupported claims, using the same scoring instructions.
Ask: Why record disagreement instead of averaging it away?
Answer: Disagreement may reveal unclear criteria, ambiguous evidence or different user needs; it informs the evaluation and review process.
Watch out: An attractive image can win preference while failing a critical factual or safety requirement.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Responsible applications combine useful tasks with safeguards.
Explain: Synthetic media can help accessibility, education and design. The same methods can enable impersonation or misleading evidence. Consent concerns permission to depict or imitate a person. Provenance records origin and edits, rather than the truth of a depicted event. Review must match the stakes of the application.
Example: A fictional training invoice permits experimentation; a real customer invoice introduces private details and a consequential workflow requiring stricter handling.
Ask: Which safeguards are needed before publishing generated media?
Answer: Appropriate permissions, rights checks, visible disclosure, provenance where available, factual review and a clear route for correction.
Watch out: Technical success does not establish that the intended use is appropriate or lawful.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Realistic synthetic media can harm people even when technically impressive.
Explain: Impersonation can deceive someone about who is speaking. Non-consensual imagery can damage dignity and safety. Disinformation can misrepresent events or public figures. The liar's dividend means genuine evidence may be dismissed because convincing fakes exist. Synthetic identities can enable targeted harassment.
Example: A convincing fake voice asking for an urgent bank transfer creates a verification problem: independently contact the person through a known channel.
Ask: What separates a creative demo from an impersonation risk?
Answer: Permission, audience expectations, clear labelling, context and the potential for others to mistake it for a real person or event.
Watch out: A disclaimer hidden in metadata may never reach the person who hears or sees the media.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Provenance tools describe origin with different limitations.
Explain: Visible labels inform viewers directly. C2PA credentials cryptographically sign provenance assertions about an asset. Invisible watermarks embed a detectable signal when supported by the generator. Detection classifiers estimate origin and can make mistakes. These layers complement factual review rather than replacing it.
Example: Re-saving a labelled PNG as JPEG can remove ordinary text fields. This experiment tests unsigned metadata, not the robustness of signed C2PA credentials.
Ask: Does a valid content credential prove the scene occurred?
Answer: No. It can support an origin or editing history claim; the depicted event still needs independent factual evidence.
Watch out: Article 50 has different provider and deployer duties, scope and exceptions; consult the official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Disclosure decisions depend on how an edited image will be used.
Explain: An edit can change brightness or remove meaningful evidence. Viewers may interpret an image differently in family, news and insurance contexts. A visible label reaches viewers without metadata inspection. An edit history can support review when tools and platforms preserve it. Neither guarantees scene truth.
Example: Removing a stranger from a family portrait has different consequences from removing a witness from a news photograph or damage from an insurance image.
Ask: Where should an AI-edit label appear?
Answer: Where the relevant viewer encounters the media, with a description sufficient to understand the consequential edit and supporting history where available.
Watch out: A generic label can hide an important alteration if its wording does not explain the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Permission and rights checks belong before data collection or imitation.
Explain: Faces, voices and document details may identify a person. Data minimisation means collecting only what the task needs. A lawful basis supports applicable personal-data processing. Model and dataset licences can restrict permitted use. Likeness and output rights also depend on context and jurisdiction.
Example: Use the fictional invoice in this lab. A customer's real scan may contain addresses, identifiers and bank details unnecessary for teaching totals.
Ask: What should be checked before cloning a classmate's voice?
Answer: Explicit permission, the intended audience and use, data handling, licence conditions, disclosure and safeguards against impersonation.
Watch out: Access to a photograph or recording does not itself grant permission for every processing or generation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Useful applications need verification designed around their users.
Explain: Accessibility tools provide descriptions or captions people rely on. Document workflows extract fields before code validates and routes them. Voice services need clear pronunciation and a human handover path. Education tools need teacher review. Inspection systems require confirmation of alerts and missed defects.
Example: An invoice system routes a candidate amount to code, while an accessibility description must remove unsupported objects before reaching the user.
Ask: Which application needs a different error tolerance from concept art?
Answer: Invoices, accessibility and inspection can create concrete harms from factual errors, so their evaluation and review thresholds must reflect that use.
Watch out: A generic multimodal accuracy score does not capture every application's consequences.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Emerging trends are hypotheses to evaluate on exact systems.
Explain: Any-to-any describes systems connecting several supported media routes. Live interaction adds delay and interruption requirements. Video generation aims for longer coherent motion and sound. World-model research represents changes in an environment. Smaller checkpoints may enable local deployment, with capability and resource trade-offs.
Example: A small local VLM can read a simple chart while failing a dense invoice. Test the actual task before extrapolating from a demonstration.
Ask: How should a 2027 capability forecast be presented?
Answer: As a direction or hypothesis with a date and scope, distinct from measured performance on a named model and evaluation set.
Watch out: Family marketing, impressive demonstrations and research trends are not guarantees for a deployed endpoint.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Perceive with a model, verify with code, then review consequential outputs.
Explain: Input review checks quality and permission before inference. The VLM extracts candidate fields rather than authenticated facts. Code checks values, formats and arithmetic. The application then uses the checked result within its task. Human review and disclosure address consequential uncertainties before an output is shared.
Example: Read an invoice, compare extracted EUR 20 and EUR 15 with the image, sum EUR 35 in code, and review any discrepancy.
Ask: Why keep source checking before calculation?
Answer: A correct calculation can use incorrectly extracted inputs; preserving evidence lets reviewers find the cause and correct the workflow.
Watch out: The arrows carry fields and results, rather than proving that every earlier stage succeeded.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Record evidence and decisions so a multimodal workflow can be reviewed.
Explain: State the purpose and people affected before selecting a model. Record permission, applicable licences and personal-data handling. Test unsupported claims as well as reading errors. Apply appropriate disclosure and provenance measures. Record exact versions, settings and measured results so later changes can be compared.
Example: A report lists the VLM checkpoint, processor resolution, questions, references, full replies and mismatches. It also explains who reviewed failures.
Ask: What should accompany a reported accuracy?
Answer: The evaluation sample, reference answers, configuration, error types and limitations, so another person can assess what the number establishes.
Watch out: A checklist entry needs supporting evidence rather than an unsupported tick or a model's self-assurance.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The CPU core checks real image reading against known evidence.
Explain: The core renders known chart and invoice values. A small VLM generates capped answers and captions. The score helper compares replies with references using a limited heuristic. The last block reviews scores rather than receiving an image. Separate exercises calculate known totals and inspect original-image metadata.
Example: The source chart sums to 94. Compare each reply with its full reference before inspecting archived diffusion and speech examples.
Ask: Does the score helper establish every factual claim?
Answer: No. A matching substring or first number can occur in a wrong reply; inspect the source and complete answer.
Watch out: Diffusion, CLIP and speech inference are optional extensions, retained separately from the bounded 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The CPU core runs local reading and verification; heavy generation is optional.
Explain: The shared setup defaults to CPU in Colab and local VS Code. A small VLM performs bounded image-to-text inference. Known chart and invoice values supply references. Stored diffusion and speech outputs support inspection without loading those models. Optional extensions retain real generation, editing, CLIP and speech experiments.
Example: Core inference uses capped image resolution and short deterministic answers. Change one setting, inspect the result, and compare its errors with known data.
Ask: Is an external API or GPU needed for the core?
Answer: No. Optional API switches start disabled and preserve a local answer; a GPU and heavy model execution are optional extensions.
Watch out: Keep current CPU core timings separate from archived full experiments, first downloads and optional stretches.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Use primary explanations and exact model documentation for further study.
Explain: The readings connect architecture, training and task evaluation. The small-model card explains the lab's proposed VLM route. Original CLIP research explains shared image-text representations. C2PA specifications define provenance assertions and verification. The lecture video offers another worked explanation of generative modelling foundations.
Example: Read the SmolVLM card before changing checkpoints, then compare your actual inputs, output task and hardware with its supported use.
Ask: Which source should resolve a model-specific preparation question?
Answer: The exact model card and official processor documentation, checked against the installed version and the observed tensors.
Watch out: A family overview or old tutorial may describe a different checkpoint, endpoint or library interface.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Connect each media route with its task-specific evidence.
Explain: A VLM reads images and generates answer text. Alignment and instruction examples explain how its components learn to cooperate. Diffusion and TTS generate different output representations. Evaluation checks facts, alignment, recovered words and human quality separately. Permission and provenance accompany those technical checks.
Example: An invoice can have correct arithmetic with a misread line; a generated voice can have zero WER but sound unnatural.
Ask: What common principle connects these failures?
Answer: A partial check can succeed while another essential property fails; name the property and collect its own evidence.
Watch out: Do not infer complete correctness from fluent text, one metric or a signed origin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image" Target="../media/image-35-4.png"/><Relationship Id="rId5" Type="http://schemas.openxmlformats.org/officeDocument/2006/relationships/slideLayout" Target="../slideLayouts/slideLayout1.xml"/><Relationship Id="rId6"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image" Target="../media/image-44-3.png"/><Relationship Id="rId4" Type="http://schemas.openxmlformats.org/officeDocument/2006/relationships/slideLayout" Target="../slideLayouts/slideLayout1.xml"/><Relationship Id="rId5"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2" Type="http://schemas.openxmlformats.org/officeDocument/2006/relationships/hyperlink" Target="https://huggingface.co/HuggingFaceTB/SmolVLM-256M-Instruct" TargetMode="External"/><Relationship Id="rId4" Type="http://schemas.openxmlformats.org/officeDocument/2006/relationships/hyperlink" Target="https://arxiv.org/abs/2103.00020" TargetMode="External"/><Relationship Id="rId6" Type="http://schemas.openxmlformats.org/officeDocument/2006/relationships/hyperlink" Target="https://arxiv.org/abs/2304.08485" TargetMode="External"/><Relationship Id="rId8" Type="http://schemas.openxmlformats.org/officeDocument/2006/relationships/hyperlink" Target="https://spec.c2pa.org/specifications/specifications/2.3/index.html" TargetMode="External"/><Relationship Id="rId10" Type="http://schemas.openxmlformats.org/officeDocument/2006/relationships/hyperlink" Target="https://www.youtube.com/watch?v=R8V8CbuxryI" TargetMode="External"/><Relationship Id="rId1" Type="http://schemas.openxmlformats.org/officeDocument/2006/relationships/image" Target="../media/image-45-1.png"/><Relationship Id="rId3" Type="http://schemas.openxmlformats.org/officeDocument/2006/relationships/image" Target="../media/image-45-2.png"/><Relationship Id="rId5" Type="http://schemas.openxmlformats.org/officeDocument/2006/relationships/image" Target="../media/image-45-3.png"/><Relationship Id="rId7" Type="http://schemas.openxmlformats.org/officeDocument/2006/relationships/image" Target="../media/image-45-4.png"/><Relationship Id="rId9" Type="http://schemas.openxmlformats.org/officeDocument/2006/relationships/image" Target="../media/image-45-5.png"/><Relationship Id="rId11" Type="http://schemas.openxmlformats.org/officeDocument/2006/relationships/slideLayout" Target="../slideLayouts/slideLayout1.xml"/><Relationship Id="rId1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1B4B"/>
        </a:solidFill>
      </p:bgPr>
    </p:bg>
    <p:spTree>
      <p:nvGrpSpPr>
        <p:cNvPr id="1" name=""/>
        <p:cNvGrpSpPr/>
        <p:nvPr/>
      </p:nvGrpSpPr>
      <p:grpSpPr>
        <a:xfrm>
          <a:off x="0" y="0"/>
          <a:ext cx="0" cy="0"/>
          <a:chOff x="0" y="0"/>
          <a:chExt cx="0" cy="0"/>
        </a:xfrm>
      </p:grpSpPr>
      <p:sp>
        <p:nvSpPr>
          <p:cNvPr id="2" name="Shape 0"/>
          <p:cNvSpPr/>
          <p:nvPr/>
        </p:nvSpPr>
        <p:spPr>
          <a:xfrm>
            <a:off x="731520" y="1051560"/>
            <a:ext cx="1737360" cy="457200"/>
          </a:xfrm>
          <a:prstGeom prst="roundRect">
            <a:avLst>
              <a:gd name="adj" fmla="val 20000"/>
            </a:avLst>
          </a:prstGeom>
          <a:solidFill>
            <a:srgbClr val="EA580C"/>
          </a:solidFill>
          <a:ln w="12700">
            <a:solidFill>
              <a:srgbClr val="EA580C"/>
            </a:solidFill>
            <a:prstDash val="solid"/>
          </a:ln>
        </p:spPr>
      </p:sp>
      <p:sp>
        <p:nvSpPr>
          <p:cNvPr id="3" name="Text 1"/>
          <p:cNvSpPr txBox="1"/>
          <p:nvPr/>
        </p:nvSpPr>
        <p:spPr>
          <a:xfrm>
            <a:off x="731520" y="1051560"/>
            <a:ext cx="1737360" cy="457200"/>
          </a:xfrm>
          <a:prstGeom prst="rect">
            <a:avLst/>
          </a:prstGeom>
          <a:noFill/>
          <a:ln/>
        </p:spPr>
        <p:txBody>
          <a:bodyPr wrap="square" lIns="0" tIns="0" rIns="0" bIns="0" rtlCol="0" anchor="ctr"/>
          <a:lstStyle/>
          <a:p>
            <a:pPr algn="ctr" indent="0" marL="0">
              <a:buNone/>
            </a:pPr>
            <a:r>
              <a:rPr lang="en-US" sz="1600" b="1" spc="200" kern="0" dirty="0">
                <a:solidFill>
                  <a:srgbClr val="FFFFFF"/>
                </a:solidFill>
                <a:latin typeface="Calibri" pitchFamily="34" charset="0"/>
                <a:ea typeface="Calibri" pitchFamily="34" charset="-122"/>
                <a:cs typeface="Calibri" pitchFamily="34" charset="-120"/>
              </a:rPr>
              <a:t>WEEK 10</a:t>
            </a:r>
            <a:endParaRPr lang="en-US" sz="1600" dirty="0"/>
          </a:p>
        </p:txBody>
      </p:sp>
      <p:sp>
        <p:nvSpPr>
          <p:cNvPr id="4" name="Text 2"/>
          <p:cNvSpPr txBox="1"/>
          <p:nvPr/>
        </p:nvSpPr>
        <p:spPr>
          <a:xfrm>
            <a:off x="731520" y="1737360"/>
            <a:ext cx="6766560" cy="2103120"/>
          </a:xfrm>
          <a:prstGeom prst="rect">
            <a:avLst/>
          </a:prstGeom>
          <a:noFill/>
          <a:ln/>
        </p:spPr>
        <p:txBody>
          <a:bodyPr wrap="square" lIns="0" tIns="0" rIns="0" bIns="0" rtlCol="0" anchor="b"/>
          <a:lstStyle/>
          <a:p>
            <a:pPr indent="0" marL="0">
              <a:lnSpc>
                <a:spcPct val="95000"/>
              </a:lnSpc>
              <a:buNone/>
            </a:pPr>
            <a:r>
              <a:rPr lang="en-US" sz="4500" b="1" dirty="0">
                <a:solidFill>
                  <a:srgbClr val="FFFFFF"/>
                </a:solidFill>
                <a:latin typeface="Calibri" pitchFamily="34" charset="0"/>
                <a:ea typeface="Calibri" pitchFamily="34" charset="-122"/>
                <a:cs typeface="Calibri" pitchFamily="34" charset="-120"/>
              </a:rPr>
              <a:t>Multimodal Generative AI Applications</a:t>
            </a:r>
            <a:endParaRPr lang="en-US" sz="4500" dirty="0"/>
          </a:p>
        </p:txBody>
      </p:sp>
      <p:sp>
        <p:nvSpPr>
          <p:cNvPr id="5" name="Text 3"/>
          <p:cNvSpPr txBox="1"/>
          <p:nvPr/>
        </p:nvSpPr>
        <p:spPr>
          <a:xfrm>
            <a:off x="731520" y="3977640"/>
            <a:ext cx="6766560" cy="1097280"/>
          </a:xfrm>
          <a:prstGeom prst="rect">
            <a:avLst/>
          </a:prstGeom>
          <a:noFill/>
          <a:ln/>
        </p:spPr>
        <p:txBody>
          <a:bodyPr wrap="square" lIns="0" tIns="0" rIns="0" bIns="0" rtlCol="0" anchor="t"/>
          <a:lstStyle/>
          <a:p>
            <a:pPr indent="0" marL="0">
              <a:buNone/>
            </a:pPr>
            <a:r>
              <a:rPr lang="en-US" sz="2000" dirty="0">
                <a:solidFill>
                  <a:srgbClr val="C7D2FE"/>
                </a:solidFill>
                <a:latin typeface="Calibri" pitchFamily="34" charset="0"/>
                <a:ea typeface="Calibri" pitchFamily="34" charset="-122"/>
                <a:cs typeface="Calibri" pitchFamily="34" charset="-120"/>
              </a:rPr>
              <a:t>Read and generate media, inspect each stage, and verify what the model claims</a:t>
            </a:r>
            <a:endParaRPr lang="en-US" sz="2000" dirty="0"/>
          </a:p>
        </p:txBody>
      </p:sp>
      <p:sp>
        <p:nvSpPr>
          <p:cNvPr id="6" name="Text 4"/>
          <p:cNvSpPr txBox="1"/>
          <p:nvPr/>
        </p:nvSpPr>
        <p:spPr>
          <a:xfrm>
            <a:off x="731520" y="5897880"/>
            <a:ext cx="8229600" cy="365760"/>
          </a:xfrm>
          <a:prstGeom prst="rect">
            <a:avLst/>
          </a:prstGeom>
          <a:noFill/>
          <a:ln/>
        </p:spPr>
        <p:txBody>
          <a:bodyPr wrap="square" lIns="0" tIns="0" rIns="0" bIns="0" rtlCol="0" anchor="t"/>
          <a:lstStyle/>
          <a:p>
            <a:pPr indent="0" marL="0">
              <a:buNone/>
            </a:pPr>
            <a:r>
              <a:rPr lang="en-US" sz="1400" dirty="0">
                <a:solidFill>
                  <a:srgbClr val="C7D2FE"/>
                </a:solidFill>
                <a:latin typeface="Calibri" pitchFamily="34" charset="0"/>
                <a:ea typeface="Calibri" pitchFamily="34" charset="-122"/>
                <a:cs typeface="Calibri" pitchFamily="34" charset="-120"/>
              </a:rPr>
              <a:t>MSc in Artificial Intelligence  ·  Generative AI  ·  2-hour lecture</a:t>
            </a:r>
            <a:endParaRPr lang="en-US" sz="1400" dirty="0"/>
          </a:p>
        </p:txBody>
      </p:sp>
      <p:pic>
        <p:nvPicPr>
          <p:cNvPr id="7" name="Image 0" descr="C:\Users\sudee\Downloads\Generative_AI_2027_Teaching_Pack\AI2027_Project\build\figures\week_10\cover.png">    </p:cNvPr>
          <p:cNvPicPr>
            <a:picLocks noChangeAspect="1"/>
          </p:cNvPicPr>
          <p:nvPr/>
        </p:nvPicPr>
        <p:blipFill>
          <a:blip r:embed="rId1"/>
          <a:stretch>
            <a:fillRect/>
          </a:stretch>
        </p:blipFill>
        <p:spPr>
          <a:xfrm>
            <a:off x="7818120" y="1520258"/>
            <a:ext cx="3840480" cy="381748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10  ·  MULTIMODAL GENERATIVE AI APPLICATIONS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2</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By the end of this week you can…</a:t>
            </a:r>
            <a:endParaRPr lang="en-US" sz="3200" dirty="0"/>
          </a:p>
        </p:txBody>
      </p:sp>
      <p:sp>
        <p:nvSpPr>
          <p:cNvPr id="6" name="Shape 4"/>
          <p:cNvSpPr/>
          <p:nvPr/>
        </p:nvSpPr>
        <p:spPr>
          <a:xfrm>
            <a:off x="548640" y="1545336"/>
            <a:ext cx="411480" cy="411480"/>
          </a:xfrm>
          <a:prstGeom prst="ellipse">
            <a:avLst/>
          </a:prstGeom>
          <a:solidFill>
            <a:srgbClr val="4F46E5"/>
          </a:solidFill>
          <a:ln w="12700">
            <a:solidFill>
              <a:srgbClr val="4F46E5"/>
            </a:solidFill>
            <a:prstDash val="solid"/>
          </a:ln>
        </p:spPr>
      </p:sp>
      <p:sp>
        <p:nvSpPr>
          <p:cNvPr id="7" name="Text 5"/>
          <p:cNvSpPr txBox="1"/>
          <p:nvPr/>
        </p:nvSpPr>
        <p:spPr>
          <a:xfrm>
            <a:off x="548640" y="1545336"/>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txBox="1"/>
          <p:nvPr/>
        </p:nvSpPr>
        <p:spPr>
          <a:xfrm>
            <a:off x="1143000" y="1527048"/>
            <a:ext cx="6903720" cy="1195578"/>
          </a:xfrm>
          <a:prstGeom prst="rect">
            <a:avLst/>
          </a:prstGeom>
          <a:noFill/>
          <a:ln/>
        </p:spPr>
        <p:txBody>
          <a:bodyPr wrap="square" lIns="50800" tIns="50800" rIns="50800" bIns="50800" rtlCol="0" anchor="t"/>
          <a:lstStyle/>
          <a:p>
            <a:pPr indent="0" marL="0">
              <a:buNone/>
            </a:pPr>
            <a:r>
              <a:rPr lang="en-US" sz="2000" dirty="0">
                <a:solidFill>
                  <a:srgbClr val="1F2937"/>
                </a:solidFill>
                <a:latin typeface="Calibri" pitchFamily="34" charset="0"/>
                <a:ea typeface="Calibri" pitchFamily="34" charset="-122"/>
                <a:cs typeface="Calibri" pitchFamily="34" charset="-120"/>
              </a:rPr>
              <a:t>Read media.</a:t>
            </a:r>
            <a:endParaRPr lang="en-US" sz="2000" dirty="0"/>
          </a:p>
        </p:txBody>
      </p:sp>
      <p:sp>
        <p:nvSpPr>
          <p:cNvPr id="9" name="Shape 7"/>
          <p:cNvSpPr/>
          <p:nvPr/>
        </p:nvSpPr>
        <p:spPr>
          <a:xfrm>
            <a:off x="548640" y="2740914"/>
            <a:ext cx="411480" cy="411480"/>
          </a:xfrm>
          <a:prstGeom prst="ellipse">
            <a:avLst/>
          </a:prstGeom>
          <a:solidFill>
            <a:srgbClr val="4F46E5"/>
          </a:solidFill>
          <a:ln w="12700">
            <a:solidFill>
              <a:srgbClr val="4F46E5"/>
            </a:solidFill>
            <a:prstDash val="solid"/>
          </a:ln>
        </p:spPr>
      </p:sp>
      <p:sp>
        <p:nvSpPr>
          <p:cNvPr id="10" name="Text 8"/>
          <p:cNvSpPr txBox="1"/>
          <p:nvPr/>
        </p:nvSpPr>
        <p:spPr>
          <a:xfrm>
            <a:off x="548640" y="2740914"/>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txBox="1"/>
          <p:nvPr/>
        </p:nvSpPr>
        <p:spPr>
          <a:xfrm>
            <a:off x="1143000" y="2722626"/>
            <a:ext cx="6903720" cy="1195578"/>
          </a:xfrm>
          <a:prstGeom prst="rect">
            <a:avLst/>
          </a:prstGeom>
          <a:noFill/>
          <a:ln/>
        </p:spPr>
        <p:txBody>
          <a:bodyPr wrap="square" lIns="50800" tIns="50800" rIns="50800" bIns="50800" rtlCol="0" anchor="t"/>
          <a:lstStyle/>
          <a:p>
            <a:pPr indent="0" marL="0">
              <a:buNone/>
            </a:pPr>
            <a:r>
              <a:rPr lang="en-US" sz="2000" dirty="0">
                <a:solidFill>
                  <a:srgbClr val="1F2937"/>
                </a:solidFill>
                <a:latin typeface="Calibri" pitchFamily="34" charset="0"/>
                <a:ea typeface="Calibri" pitchFamily="34" charset="-122"/>
                <a:cs typeface="Calibri" pitchFamily="34" charset="-120"/>
              </a:rPr>
              <a:t>Trace training.</a:t>
            </a:r>
            <a:endParaRPr lang="en-US" sz="2000" dirty="0"/>
          </a:p>
        </p:txBody>
      </p:sp>
      <p:sp>
        <p:nvSpPr>
          <p:cNvPr id="12" name="Shape 10"/>
          <p:cNvSpPr/>
          <p:nvPr/>
        </p:nvSpPr>
        <p:spPr>
          <a:xfrm>
            <a:off x="548640" y="3936492"/>
            <a:ext cx="411480" cy="411480"/>
          </a:xfrm>
          <a:prstGeom prst="ellipse">
            <a:avLst/>
          </a:prstGeom>
          <a:solidFill>
            <a:srgbClr val="4F46E5"/>
          </a:solidFill>
          <a:ln w="12700">
            <a:solidFill>
              <a:srgbClr val="4F46E5"/>
            </a:solidFill>
            <a:prstDash val="solid"/>
          </a:ln>
        </p:spPr>
      </p:sp>
      <p:sp>
        <p:nvSpPr>
          <p:cNvPr id="13" name="Text 11"/>
          <p:cNvSpPr txBox="1"/>
          <p:nvPr/>
        </p:nvSpPr>
        <p:spPr>
          <a:xfrm>
            <a:off x="548640" y="3936492"/>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txBox="1"/>
          <p:nvPr/>
        </p:nvSpPr>
        <p:spPr>
          <a:xfrm>
            <a:off x="1143000" y="3918204"/>
            <a:ext cx="6903720" cy="1195578"/>
          </a:xfrm>
          <a:prstGeom prst="rect">
            <a:avLst/>
          </a:prstGeom>
          <a:noFill/>
          <a:ln/>
        </p:spPr>
        <p:txBody>
          <a:bodyPr wrap="square" lIns="50800" tIns="50800" rIns="50800" bIns="50800" rtlCol="0" anchor="t"/>
          <a:lstStyle/>
          <a:p>
            <a:pPr indent="0" marL="0">
              <a:buNone/>
            </a:pPr>
            <a:r>
              <a:rPr lang="en-US" sz="2000" dirty="0">
                <a:solidFill>
                  <a:srgbClr val="1F2937"/>
                </a:solidFill>
                <a:latin typeface="Calibri" pitchFamily="34" charset="0"/>
                <a:ea typeface="Calibri" pitchFamily="34" charset="-122"/>
                <a:cs typeface="Calibri" pitchFamily="34" charset="-120"/>
              </a:rPr>
              <a:t>Generate responsibly.</a:t>
            </a:r>
            <a:endParaRPr lang="en-US" sz="2000" dirty="0"/>
          </a:p>
        </p:txBody>
      </p:sp>
      <p:sp>
        <p:nvSpPr>
          <p:cNvPr id="15" name="Shape 13"/>
          <p:cNvSpPr/>
          <p:nvPr/>
        </p:nvSpPr>
        <p:spPr>
          <a:xfrm>
            <a:off x="548640" y="5132070"/>
            <a:ext cx="411480" cy="411480"/>
          </a:xfrm>
          <a:prstGeom prst="ellipse">
            <a:avLst/>
          </a:prstGeom>
          <a:solidFill>
            <a:srgbClr val="4F46E5"/>
          </a:solidFill>
          <a:ln w="12700">
            <a:solidFill>
              <a:srgbClr val="4F46E5"/>
            </a:solidFill>
            <a:prstDash val="solid"/>
          </a:ln>
        </p:spPr>
      </p:sp>
      <p:sp>
        <p:nvSpPr>
          <p:cNvPr id="16" name="Text 14"/>
          <p:cNvSpPr txBox="1"/>
          <p:nvPr/>
        </p:nvSpPr>
        <p:spPr>
          <a:xfrm>
            <a:off x="548640" y="513207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7" name="Text 15"/>
          <p:cNvSpPr txBox="1"/>
          <p:nvPr/>
        </p:nvSpPr>
        <p:spPr>
          <a:xfrm>
            <a:off x="1143000" y="5113782"/>
            <a:ext cx="6903720" cy="1195578"/>
          </a:xfrm>
          <a:prstGeom prst="rect">
            <a:avLst/>
          </a:prstGeom>
          <a:noFill/>
          <a:ln/>
        </p:spPr>
        <p:txBody>
          <a:bodyPr wrap="square" lIns="50800" tIns="50800" rIns="50800" bIns="50800" rtlCol="0" anchor="t"/>
          <a:lstStyle/>
          <a:p>
            <a:pPr indent="0" marL="0">
              <a:buNone/>
            </a:pPr>
            <a:r>
              <a:rPr lang="en-US" sz="2000" dirty="0">
                <a:solidFill>
                  <a:srgbClr val="1F2937"/>
                </a:solidFill>
                <a:latin typeface="Calibri" pitchFamily="34" charset="0"/>
                <a:ea typeface="Calibri" pitchFamily="34" charset="-122"/>
                <a:cs typeface="Calibri" pitchFamily="34" charset="-120"/>
              </a:rPr>
              <a:t>Evaluate tasks.</a:t>
            </a:r>
            <a:endParaRPr lang="en-US" sz="2000" dirty="0"/>
          </a:p>
        </p:txBody>
      </p:sp>
      <p:sp>
        <p:nvSpPr>
          <p:cNvPr id="18" name="Shape 16"/>
          <p:cNvSpPr/>
          <p:nvPr/>
        </p:nvSpPr>
        <p:spPr>
          <a:xfrm>
            <a:off x="8458200" y="1527048"/>
            <a:ext cx="3184855" cy="4782312"/>
          </a:xfrm>
          <a:prstGeom prst="roundRect">
            <a:avLst>
              <a:gd name="adj" fmla="val 3445"/>
            </a:avLst>
          </a:prstGeom>
          <a:solidFill>
            <a:srgbClr val="EEF0FF"/>
          </a:solidFill>
          <a:ln w="12700">
            <a:solidFill>
              <a:srgbClr val="EEF0FF"/>
            </a:solidFill>
            <a:prstDash val="solid"/>
          </a:ln>
        </p:spPr>
      </p:sp>
      <p:sp>
        <p:nvSpPr>
          <p:cNvPr id="19" name="Text 17"/>
          <p:cNvSpPr txBox="1"/>
          <p:nvPr/>
        </p:nvSpPr>
        <p:spPr>
          <a:xfrm>
            <a:off x="8686800" y="1664208"/>
            <a:ext cx="2727655" cy="640080"/>
          </a:xfrm>
          <a:prstGeom prst="rect">
            <a:avLst/>
          </a:prstGeom>
          <a:noFill/>
          <a:ln/>
        </p:spPr>
        <p:txBody>
          <a:bodyPr wrap="square" lIns="50800" tIns="50800" rIns="50800" bIns="50800" rtlCol="0" anchor="t"/>
          <a:lstStyle/>
          <a:p>
            <a:pPr indent="0" marL="0">
              <a:buNone/>
            </a:pPr>
            <a:r>
              <a:rPr lang="en-US" sz="1500" b="1" dirty="0">
                <a:solidFill>
                  <a:srgbClr val="1E1B4B"/>
                </a:solidFill>
                <a:latin typeface="Calibri" pitchFamily="34" charset="0"/>
                <a:ea typeface="Calibri" pitchFamily="34" charset="-122"/>
                <a:cs typeface="Calibri" pitchFamily="34" charset="-120"/>
              </a:rPr>
              <a:t>Module outcomes</a:t>
            </a:r>
            <a:endParaRPr lang="en-US" sz="1500" dirty="0"/>
          </a:p>
        </p:txBody>
      </p:sp>
      <p:sp>
        <p:nvSpPr>
          <p:cNvPr id="20" name="Shape 18"/>
          <p:cNvSpPr/>
          <p:nvPr/>
        </p:nvSpPr>
        <p:spPr>
          <a:xfrm>
            <a:off x="8686800" y="2395728"/>
            <a:ext cx="1143000" cy="365760"/>
          </a:xfrm>
          <a:prstGeom prst="roundRect">
            <a:avLst>
              <a:gd name="adj" fmla="val 20000"/>
            </a:avLst>
          </a:prstGeom>
          <a:solidFill>
            <a:srgbClr val="4F46E5"/>
          </a:solidFill>
          <a:ln w="12700">
            <a:solidFill>
              <a:srgbClr val="4F46E5"/>
            </a:solidFill>
            <a:prstDash val="solid"/>
          </a:ln>
        </p:spPr>
      </p:sp>
      <p:sp>
        <p:nvSpPr>
          <p:cNvPr id="21" name="Text 19"/>
          <p:cNvSpPr txBox="1"/>
          <p:nvPr/>
        </p:nvSpPr>
        <p:spPr>
          <a:xfrm>
            <a:off x="8686800" y="2395728"/>
            <a:ext cx="114300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MIMLO 2</a:t>
            </a:r>
            <a:endParaRPr lang="en-US" sz="1400" dirty="0"/>
          </a:p>
        </p:txBody>
      </p:sp>
      <p:sp>
        <p:nvSpPr>
          <p:cNvPr id="22" name="Text 20"/>
          <p:cNvSpPr txBox="1"/>
          <p:nvPr/>
        </p:nvSpPr>
        <p:spPr>
          <a:xfrm>
            <a:off x="8641080" y="2779776"/>
            <a:ext cx="2819095" cy="777240"/>
          </a:xfrm>
          <a:prstGeom prst="rect">
            <a:avLst/>
          </a:prstGeom>
          <a:noFill/>
          <a:ln/>
        </p:spPr>
        <p:txBody>
          <a:bodyPr wrap="square" lIns="50800" tIns="50800" rIns="50800" bIns="50800" rtlCol="0" anchor="t"/>
          <a:lstStyle/>
          <a:p>
            <a:pPr indent="0" marL="0">
              <a:buNone/>
            </a:pPr>
            <a:r>
              <a:rPr lang="en-US" sz="1400" dirty="0">
                <a:solidFill>
                  <a:srgbClr val="1F2937"/>
                </a:solidFill>
                <a:latin typeface="Calibri" pitchFamily="34" charset="0"/>
                <a:ea typeface="Calibri" pitchFamily="34" charset="-122"/>
                <a:cs typeface="Calibri" pitchFamily="34" charset="-120"/>
              </a:rPr>
              <a:t>Analyse and apply multimodal generative AI</a:t>
            </a:r>
            <a:endParaRPr lang="en-US" sz="1400" dirty="0"/>
          </a:p>
        </p:txBody>
      </p:sp>
      <p:sp>
        <p:nvSpPr>
          <p:cNvPr id="23" name="Shape 21"/>
          <p:cNvSpPr/>
          <p:nvPr/>
        </p:nvSpPr>
        <p:spPr>
          <a:xfrm>
            <a:off x="8686800" y="3584448"/>
            <a:ext cx="1143000" cy="365760"/>
          </a:xfrm>
          <a:prstGeom prst="roundRect">
            <a:avLst>
              <a:gd name="adj" fmla="val 20000"/>
            </a:avLst>
          </a:prstGeom>
          <a:solidFill>
            <a:srgbClr val="4F46E5"/>
          </a:solidFill>
          <a:ln w="12700">
            <a:solidFill>
              <a:srgbClr val="4F46E5"/>
            </a:solidFill>
            <a:prstDash val="solid"/>
          </a:ln>
        </p:spPr>
      </p:sp>
      <p:sp>
        <p:nvSpPr>
          <p:cNvPr id="24" name="Text 22"/>
          <p:cNvSpPr txBox="1"/>
          <p:nvPr/>
        </p:nvSpPr>
        <p:spPr>
          <a:xfrm>
            <a:off x="8686800" y="3584448"/>
            <a:ext cx="114300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MIMLO 3</a:t>
            </a:r>
            <a:endParaRPr lang="en-US" sz="1400" dirty="0"/>
          </a:p>
        </p:txBody>
      </p:sp>
      <p:sp>
        <p:nvSpPr>
          <p:cNvPr id="25" name="Text 23"/>
          <p:cNvSpPr txBox="1"/>
          <p:nvPr/>
        </p:nvSpPr>
        <p:spPr>
          <a:xfrm>
            <a:off x="8641080" y="3968496"/>
            <a:ext cx="2819095" cy="777240"/>
          </a:xfrm>
          <a:prstGeom prst="rect">
            <a:avLst/>
          </a:prstGeom>
          <a:noFill/>
          <a:ln/>
        </p:spPr>
        <p:txBody>
          <a:bodyPr wrap="square" lIns="50800" tIns="50800" rIns="50800" bIns="50800" rtlCol="0" anchor="t"/>
          <a:lstStyle/>
          <a:p>
            <a:pPr indent="0" marL="0">
              <a:buNone/>
            </a:pPr>
            <a:r>
              <a:rPr lang="en-US" sz="1400" dirty="0">
                <a:solidFill>
                  <a:srgbClr val="1F2937"/>
                </a:solidFill>
                <a:latin typeface="Calibri" pitchFamily="34" charset="0"/>
                <a:ea typeface="Calibri" pitchFamily="34" charset="-122"/>
                <a:cs typeface="Calibri" pitchFamily="34" charset="-120"/>
              </a:rPr>
              <a:t>Design, implement and fine-tune models</a:t>
            </a:r>
            <a:endParaRPr lang="en-US" sz="1400" dirty="0"/>
          </a:p>
        </p:txBody>
      </p:sp>
      <p:sp>
        <p:nvSpPr>
          <p:cNvPr id="26" name="Shape 24"/>
          <p:cNvSpPr/>
          <p:nvPr/>
        </p:nvSpPr>
        <p:spPr>
          <a:xfrm>
            <a:off x="8686800" y="4773168"/>
            <a:ext cx="1143000" cy="365760"/>
          </a:xfrm>
          <a:prstGeom prst="roundRect">
            <a:avLst>
              <a:gd name="adj" fmla="val 20000"/>
            </a:avLst>
          </a:prstGeom>
          <a:solidFill>
            <a:srgbClr val="4F46E5"/>
          </a:solidFill>
          <a:ln w="12700">
            <a:solidFill>
              <a:srgbClr val="4F46E5"/>
            </a:solidFill>
            <a:prstDash val="solid"/>
          </a:ln>
        </p:spPr>
      </p:sp>
      <p:sp>
        <p:nvSpPr>
          <p:cNvPr id="27" name="Text 25"/>
          <p:cNvSpPr txBox="1"/>
          <p:nvPr/>
        </p:nvSpPr>
        <p:spPr>
          <a:xfrm>
            <a:off x="8686800" y="4773168"/>
            <a:ext cx="114300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MIMLO 4</a:t>
            </a:r>
            <a:endParaRPr lang="en-US" sz="1400" dirty="0"/>
          </a:p>
        </p:txBody>
      </p:sp>
      <p:sp>
        <p:nvSpPr>
          <p:cNvPr id="28" name="Text 26"/>
          <p:cNvSpPr txBox="1"/>
          <p:nvPr/>
        </p:nvSpPr>
        <p:spPr>
          <a:xfrm>
            <a:off x="8641080" y="5157216"/>
            <a:ext cx="2819095" cy="777240"/>
          </a:xfrm>
          <a:prstGeom prst="rect">
            <a:avLst/>
          </a:prstGeom>
          <a:noFill/>
          <a:ln/>
        </p:spPr>
        <p:txBody>
          <a:bodyPr wrap="square" lIns="50800" tIns="50800" rIns="50800" bIns="50800" rtlCol="0" anchor="t"/>
          <a:lstStyle/>
          <a:p>
            <a:pPr indent="0" marL="0">
              <a:buNone/>
            </a:pPr>
            <a:r>
              <a:rPr lang="en-US" sz="1400" dirty="0">
                <a:solidFill>
                  <a:srgbClr val="1F2937"/>
                </a:solidFill>
                <a:latin typeface="Calibri" pitchFamily="34" charset="0"/>
                <a:ea typeface="Calibri" pitchFamily="34" charset="-122"/>
                <a:cs typeface="Calibri" pitchFamily="34" charset="-120"/>
              </a:rPr>
              <a:t>Critically evaluate outputs: metrics, humans, ethics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10  ·  MULTIMODAL GENERATIVE AI APPLICATIONS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3</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Where we are in the course</a:t>
            </a:r>
            <a:endParaRPr lang="en-US" sz="3200" dirty="0"/>
          </a:p>
        </p:txBody>
      </p:sp>
      <p:sp>
        <p:nvSpPr>
          <p:cNvPr id="6" name="Text 4"/>
          <p:cNvSpPr txBox="1"/>
          <p:nvPr/>
        </p:nvSpPr>
        <p:spPr>
          <a:xfrm>
            <a:off x="1077042" y="1716126"/>
            <a:ext cx="10037611" cy="264148"/>
          </a:xfrm>
          <a:prstGeom prst="rect">
            <a:avLst/>
          </a:prstGeom>
          <a:noFill/>
          <a:ln/>
        </p:spPr>
        <p:txBody>
          <a:bodyPr wrap="square" lIns="0" tIns="0" rIns="0" bIns="0" rtlCol="0" anchor="ctr"/>
          <a:lstStyle/>
          <a:p>
            <a:pPr algn="l" indent="0" marL="0">
              <a:lnSpc>
                <a:spcPct val="116000"/>
              </a:lnSpc>
              <a:buNone/>
            </a:pPr>
            <a:r>
              <a:rPr lang="en-US" sz="1560" b="1" dirty="0">
                <a:solidFill>
                  <a:srgbClr val="1E1B4B"/>
                </a:solidFill>
                <a:latin typeface="Arial" pitchFamily="34" charset="0"/>
                <a:ea typeface="Arial" pitchFamily="34" charset="-122"/>
                <a:cs typeface="Arial" pitchFamily="34" charset="-120"/>
              </a:rPr>
              <a:t>Images</a:t>
            </a:r>
            <a:endParaRPr lang="en-US" sz="1560" dirty="0"/>
          </a:p>
        </p:txBody>
      </p:sp>
      <p:sp>
        <p:nvSpPr>
          <p:cNvPr id="7" name="Shape 5"/>
          <p:cNvSpPr/>
          <p:nvPr/>
        </p:nvSpPr>
        <p:spPr>
          <a:xfrm>
            <a:off x="1077042" y="2053648"/>
            <a:ext cx="2300286" cy="763093"/>
          </a:xfrm>
          <a:prstGeom prst="roundRect">
            <a:avLst>
              <a:gd name="adj" fmla="val 9586"/>
            </a:avLst>
          </a:prstGeom>
          <a:solidFill>
            <a:srgbClr val="E4F2FB"/>
          </a:solidFill>
          <a:ln w="15240">
            <a:solidFill>
              <a:srgbClr val="0072B2"/>
            </a:solidFill>
            <a:prstDash val="solid"/>
          </a:ln>
        </p:spPr>
      </p:sp>
      <p:sp>
        <p:nvSpPr>
          <p:cNvPr id="8" name="Text 6"/>
          <p:cNvSpPr txBox="1"/>
          <p:nvPr/>
        </p:nvSpPr>
        <p:spPr>
          <a:xfrm>
            <a:off x="1179766" y="20683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1</a:t>
            </a:r>
            <a:endParaRPr lang="en-US" sz="1444" dirty="0"/>
          </a:p>
        </p:txBody>
      </p:sp>
      <p:sp>
        <p:nvSpPr>
          <p:cNvPr id="9" name="Text 7"/>
          <p:cNvSpPr txBox="1"/>
          <p:nvPr/>
        </p:nvSpPr>
        <p:spPr>
          <a:xfrm>
            <a:off x="1179766" y="2332470"/>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Introduction</a:t>
            </a:r>
            <a:endParaRPr lang="en-US" sz="1444" dirty="0"/>
          </a:p>
        </p:txBody>
      </p:sp>
      <p:sp>
        <p:nvSpPr>
          <p:cNvPr id="10" name="Shape 8"/>
          <p:cNvSpPr/>
          <p:nvPr/>
        </p:nvSpPr>
        <p:spPr>
          <a:xfrm>
            <a:off x="3377328" y="2435195"/>
            <a:ext cx="278823" cy="0"/>
          </a:xfrm>
          <a:prstGeom prst="line">
            <a:avLst/>
          </a:prstGeom>
          <a:noFill/>
          <a:ln w="22860">
            <a:solidFill>
              <a:srgbClr val="0072B2"/>
            </a:solidFill>
            <a:prstDash val="solid"/>
            <a:tailEnd type="triangle"/>
          </a:ln>
        </p:spPr>
      </p:sp>
      <p:sp>
        <p:nvSpPr>
          <p:cNvPr id="11" name="Shape 9"/>
          <p:cNvSpPr/>
          <p:nvPr/>
        </p:nvSpPr>
        <p:spPr>
          <a:xfrm>
            <a:off x="3656151" y="2053648"/>
            <a:ext cx="2300286" cy="763093"/>
          </a:xfrm>
          <a:prstGeom prst="roundRect">
            <a:avLst>
              <a:gd name="adj" fmla="val 9586"/>
            </a:avLst>
          </a:prstGeom>
          <a:solidFill>
            <a:srgbClr val="E4F2FB"/>
          </a:solidFill>
          <a:ln w="15240">
            <a:solidFill>
              <a:srgbClr val="0072B2"/>
            </a:solidFill>
            <a:prstDash val="solid"/>
          </a:ln>
        </p:spPr>
      </p:sp>
      <p:sp>
        <p:nvSpPr>
          <p:cNvPr id="12" name="Text 10"/>
          <p:cNvSpPr txBox="1"/>
          <p:nvPr/>
        </p:nvSpPr>
        <p:spPr>
          <a:xfrm>
            <a:off x="3758875" y="20683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2</a:t>
            </a:r>
            <a:endParaRPr lang="en-US" sz="1444" dirty="0"/>
          </a:p>
        </p:txBody>
      </p:sp>
      <p:sp>
        <p:nvSpPr>
          <p:cNvPr id="13" name="Text 11"/>
          <p:cNvSpPr txBox="1"/>
          <p:nvPr/>
        </p:nvSpPr>
        <p:spPr>
          <a:xfrm>
            <a:off x="3758875" y="2332470"/>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VAEs</a:t>
            </a:r>
            <a:endParaRPr lang="en-US" sz="1444" dirty="0"/>
          </a:p>
        </p:txBody>
      </p:sp>
      <p:sp>
        <p:nvSpPr>
          <p:cNvPr id="14" name="Shape 12"/>
          <p:cNvSpPr/>
          <p:nvPr/>
        </p:nvSpPr>
        <p:spPr>
          <a:xfrm>
            <a:off x="5956436" y="2435195"/>
            <a:ext cx="278823" cy="0"/>
          </a:xfrm>
          <a:prstGeom prst="line">
            <a:avLst/>
          </a:prstGeom>
          <a:noFill/>
          <a:ln w="22860">
            <a:solidFill>
              <a:srgbClr val="0072B2"/>
            </a:solidFill>
            <a:prstDash val="solid"/>
            <a:tailEnd type="triangle"/>
          </a:ln>
        </p:spPr>
      </p:sp>
      <p:sp>
        <p:nvSpPr>
          <p:cNvPr id="15" name="Shape 13"/>
          <p:cNvSpPr/>
          <p:nvPr/>
        </p:nvSpPr>
        <p:spPr>
          <a:xfrm>
            <a:off x="6235259" y="2053648"/>
            <a:ext cx="2300286" cy="763093"/>
          </a:xfrm>
          <a:prstGeom prst="roundRect">
            <a:avLst>
              <a:gd name="adj" fmla="val 9586"/>
            </a:avLst>
          </a:prstGeom>
          <a:solidFill>
            <a:srgbClr val="E4F2FB"/>
          </a:solidFill>
          <a:ln w="15240">
            <a:solidFill>
              <a:srgbClr val="0072B2"/>
            </a:solidFill>
            <a:prstDash val="solid"/>
          </a:ln>
        </p:spPr>
      </p:sp>
      <p:sp>
        <p:nvSpPr>
          <p:cNvPr id="16" name="Text 14"/>
          <p:cNvSpPr txBox="1"/>
          <p:nvPr/>
        </p:nvSpPr>
        <p:spPr>
          <a:xfrm>
            <a:off x="6337983" y="20683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3</a:t>
            </a:r>
            <a:endParaRPr lang="en-US" sz="1444" dirty="0"/>
          </a:p>
        </p:txBody>
      </p:sp>
      <p:sp>
        <p:nvSpPr>
          <p:cNvPr id="17" name="Text 15"/>
          <p:cNvSpPr txBox="1"/>
          <p:nvPr/>
        </p:nvSpPr>
        <p:spPr>
          <a:xfrm>
            <a:off x="6337983" y="2332470"/>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GANs</a:t>
            </a:r>
            <a:endParaRPr lang="en-US" sz="1444" dirty="0"/>
          </a:p>
        </p:txBody>
      </p:sp>
      <p:sp>
        <p:nvSpPr>
          <p:cNvPr id="18" name="Shape 16"/>
          <p:cNvSpPr/>
          <p:nvPr/>
        </p:nvSpPr>
        <p:spPr>
          <a:xfrm>
            <a:off x="8535545" y="2435195"/>
            <a:ext cx="278823" cy="0"/>
          </a:xfrm>
          <a:prstGeom prst="line">
            <a:avLst/>
          </a:prstGeom>
          <a:noFill/>
          <a:ln w="22860">
            <a:solidFill>
              <a:srgbClr val="0072B2"/>
            </a:solidFill>
            <a:prstDash val="solid"/>
            <a:tailEnd type="triangle"/>
          </a:ln>
        </p:spPr>
      </p:sp>
      <p:sp>
        <p:nvSpPr>
          <p:cNvPr id="19" name="Shape 17"/>
          <p:cNvSpPr/>
          <p:nvPr/>
        </p:nvSpPr>
        <p:spPr>
          <a:xfrm>
            <a:off x="8814367" y="2053648"/>
            <a:ext cx="2300286" cy="763093"/>
          </a:xfrm>
          <a:prstGeom prst="roundRect">
            <a:avLst>
              <a:gd name="adj" fmla="val 9586"/>
            </a:avLst>
          </a:prstGeom>
          <a:solidFill>
            <a:srgbClr val="E4F2FB"/>
          </a:solidFill>
          <a:ln w="15240">
            <a:solidFill>
              <a:srgbClr val="0072B2"/>
            </a:solidFill>
            <a:prstDash val="solid"/>
          </a:ln>
        </p:spPr>
      </p:sp>
      <p:sp>
        <p:nvSpPr>
          <p:cNvPr id="20" name="Text 18"/>
          <p:cNvSpPr txBox="1"/>
          <p:nvPr/>
        </p:nvSpPr>
        <p:spPr>
          <a:xfrm>
            <a:off x="8917091" y="20683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4</a:t>
            </a:r>
            <a:endParaRPr lang="en-US" sz="1444" dirty="0"/>
          </a:p>
        </p:txBody>
      </p:sp>
      <p:sp>
        <p:nvSpPr>
          <p:cNvPr id="21" name="Text 19"/>
          <p:cNvSpPr txBox="1"/>
          <p:nvPr/>
        </p:nvSpPr>
        <p:spPr>
          <a:xfrm>
            <a:off x="8917091" y="2332470"/>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Diffusion</a:t>
            </a:r>
            <a:endParaRPr lang="en-US" sz="1444" dirty="0"/>
          </a:p>
        </p:txBody>
      </p:sp>
      <p:sp>
        <p:nvSpPr>
          <p:cNvPr id="22" name="Shape 20"/>
          <p:cNvSpPr/>
          <p:nvPr/>
        </p:nvSpPr>
        <p:spPr>
          <a:xfrm>
            <a:off x="9964510" y="2816741"/>
            <a:ext cx="0" cy="132074"/>
          </a:xfrm>
          <a:prstGeom prst="line">
            <a:avLst/>
          </a:prstGeom>
          <a:noFill/>
          <a:ln w="22860">
            <a:solidFill>
              <a:srgbClr val="0072B2"/>
            </a:solidFill>
            <a:prstDash val="solid"/>
          </a:ln>
        </p:spPr>
      </p:sp>
      <p:sp>
        <p:nvSpPr>
          <p:cNvPr id="23" name="Shape 21"/>
          <p:cNvSpPr/>
          <p:nvPr/>
        </p:nvSpPr>
        <p:spPr>
          <a:xfrm flipH="1">
            <a:off x="944968" y="2948815"/>
            <a:ext cx="9019542" cy="0"/>
          </a:xfrm>
          <a:prstGeom prst="line">
            <a:avLst/>
          </a:prstGeom>
          <a:noFill/>
          <a:ln w="22860">
            <a:solidFill>
              <a:srgbClr val="0072B2"/>
            </a:solidFill>
            <a:prstDash val="solid"/>
          </a:ln>
        </p:spPr>
      </p:sp>
      <p:sp>
        <p:nvSpPr>
          <p:cNvPr id="24" name="Shape 22"/>
          <p:cNvSpPr/>
          <p:nvPr/>
        </p:nvSpPr>
        <p:spPr>
          <a:xfrm>
            <a:off x="944968" y="2948815"/>
            <a:ext cx="0" cy="858480"/>
          </a:xfrm>
          <a:prstGeom prst="line">
            <a:avLst/>
          </a:prstGeom>
          <a:noFill/>
          <a:ln w="22860">
            <a:solidFill>
              <a:srgbClr val="0072B2"/>
            </a:solidFill>
            <a:prstDash val="solid"/>
          </a:ln>
        </p:spPr>
      </p:sp>
      <p:sp>
        <p:nvSpPr>
          <p:cNvPr id="25" name="Shape 23"/>
          <p:cNvSpPr/>
          <p:nvPr/>
        </p:nvSpPr>
        <p:spPr>
          <a:xfrm>
            <a:off x="944968" y="3807295"/>
            <a:ext cx="132074" cy="0"/>
          </a:xfrm>
          <a:prstGeom prst="line">
            <a:avLst/>
          </a:prstGeom>
          <a:noFill/>
          <a:ln w="22860">
            <a:solidFill>
              <a:srgbClr val="0072B2"/>
            </a:solidFill>
            <a:prstDash val="solid"/>
            <a:tailEnd type="triangle"/>
          </a:ln>
        </p:spPr>
      </p:sp>
      <p:sp>
        <p:nvSpPr>
          <p:cNvPr id="26" name="Text 24"/>
          <p:cNvSpPr txBox="1"/>
          <p:nvPr/>
        </p:nvSpPr>
        <p:spPr>
          <a:xfrm>
            <a:off x="1077042" y="3088226"/>
            <a:ext cx="10037611" cy="264148"/>
          </a:xfrm>
          <a:prstGeom prst="rect">
            <a:avLst/>
          </a:prstGeom>
          <a:noFill/>
          <a:ln/>
        </p:spPr>
        <p:txBody>
          <a:bodyPr wrap="square" lIns="0" tIns="0" rIns="0" bIns="0" rtlCol="0" anchor="ctr"/>
          <a:lstStyle/>
          <a:p>
            <a:pPr algn="l" indent="0" marL="0">
              <a:lnSpc>
                <a:spcPct val="116000"/>
              </a:lnSpc>
              <a:buNone/>
            </a:pPr>
            <a:r>
              <a:rPr lang="en-US" sz="1560" b="1" dirty="0">
                <a:solidFill>
                  <a:srgbClr val="1E1B4B"/>
                </a:solidFill>
                <a:latin typeface="Arial" pitchFamily="34" charset="0"/>
                <a:ea typeface="Arial" pitchFamily="34" charset="-122"/>
                <a:cs typeface="Arial" pitchFamily="34" charset="-120"/>
              </a:rPr>
              <a:t>Language</a:t>
            </a:r>
            <a:endParaRPr lang="en-US" sz="1560" dirty="0"/>
          </a:p>
        </p:txBody>
      </p:sp>
      <p:sp>
        <p:nvSpPr>
          <p:cNvPr id="27" name="Shape 25"/>
          <p:cNvSpPr/>
          <p:nvPr/>
        </p:nvSpPr>
        <p:spPr>
          <a:xfrm>
            <a:off x="1077042" y="3425748"/>
            <a:ext cx="2300286" cy="763093"/>
          </a:xfrm>
          <a:prstGeom prst="roundRect">
            <a:avLst>
              <a:gd name="adj" fmla="val 9586"/>
            </a:avLst>
          </a:prstGeom>
          <a:solidFill>
            <a:srgbClr val="E4F2FB"/>
          </a:solidFill>
          <a:ln w="15240">
            <a:solidFill>
              <a:srgbClr val="0072B2"/>
            </a:solidFill>
            <a:prstDash val="solid"/>
          </a:ln>
        </p:spPr>
      </p:sp>
      <p:sp>
        <p:nvSpPr>
          <p:cNvPr id="28" name="Text 26"/>
          <p:cNvSpPr txBox="1"/>
          <p:nvPr/>
        </p:nvSpPr>
        <p:spPr>
          <a:xfrm>
            <a:off x="1179766" y="34404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5</a:t>
            </a:r>
            <a:endParaRPr lang="en-US" sz="1444" dirty="0"/>
          </a:p>
        </p:txBody>
      </p:sp>
      <p:sp>
        <p:nvSpPr>
          <p:cNvPr id="29" name="Text 27"/>
          <p:cNvSpPr txBox="1"/>
          <p:nvPr/>
        </p:nvSpPr>
        <p:spPr>
          <a:xfrm>
            <a:off x="1179766" y="3704571"/>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Transformers</a:t>
            </a:r>
            <a:endParaRPr lang="en-US" sz="1444" dirty="0"/>
          </a:p>
        </p:txBody>
      </p:sp>
      <p:sp>
        <p:nvSpPr>
          <p:cNvPr id="30" name="Shape 28"/>
          <p:cNvSpPr/>
          <p:nvPr/>
        </p:nvSpPr>
        <p:spPr>
          <a:xfrm>
            <a:off x="3377328" y="3807295"/>
            <a:ext cx="278823" cy="0"/>
          </a:xfrm>
          <a:prstGeom prst="line">
            <a:avLst/>
          </a:prstGeom>
          <a:noFill/>
          <a:ln w="22860">
            <a:solidFill>
              <a:srgbClr val="0072B2"/>
            </a:solidFill>
            <a:prstDash val="solid"/>
            <a:tailEnd type="triangle"/>
          </a:ln>
        </p:spPr>
      </p:sp>
      <p:sp>
        <p:nvSpPr>
          <p:cNvPr id="31" name="Shape 29"/>
          <p:cNvSpPr/>
          <p:nvPr/>
        </p:nvSpPr>
        <p:spPr>
          <a:xfrm>
            <a:off x="3656151" y="3425748"/>
            <a:ext cx="2300286" cy="763093"/>
          </a:xfrm>
          <a:prstGeom prst="roundRect">
            <a:avLst>
              <a:gd name="adj" fmla="val 9586"/>
            </a:avLst>
          </a:prstGeom>
          <a:solidFill>
            <a:srgbClr val="E4F2FB"/>
          </a:solidFill>
          <a:ln w="15240">
            <a:solidFill>
              <a:srgbClr val="0072B2"/>
            </a:solidFill>
            <a:prstDash val="solid"/>
          </a:ln>
        </p:spPr>
      </p:sp>
      <p:sp>
        <p:nvSpPr>
          <p:cNvPr id="32" name="Text 30"/>
          <p:cNvSpPr txBox="1"/>
          <p:nvPr/>
        </p:nvSpPr>
        <p:spPr>
          <a:xfrm>
            <a:off x="3758875" y="34404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6</a:t>
            </a:r>
            <a:endParaRPr lang="en-US" sz="1444" dirty="0"/>
          </a:p>
        </p:txBody>
      </p:sp>
      <p:sp>
        <p:nvSpPr>
          <p:cNvPr id="33" name="Text 31"/>
          <p:cNvSpPr txBox="1"/>
          <p:nvPr/>
        </p:nvSpPr>
        <p:spPr>
          <a:xfrm>
            <a:off x="3758875" y="3704571"/>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LLMs</a:t>
            </a:r>
            <a:endParaRPr lang="en-US" sz="1444" dirty="0"/>
          </a:p>
        </p:txBody>
      </p:sp>
      <p:sp>
        <p:nvSpPr>
          <p:cNvPr id="34" name="Shape 32"/>
          <p:cNvSpPr/>
          <p:nvPr/>
        </p:nvSpPr>
        <p:spPr>
          <a:xfrm>
            <a:off x="5956436" y="3807295"/>
            <a:ext cx="278823" cy="0"/>
          </a:xfrm>
          <a:prstGeom prst="line">
            <a:avLst/>
          </a:prstGeom>
          <a:noFill/>
          <a:ln w="22860">
            <a:solidFill>
              <a:srgbClr val="0072B2"/>
            </a:solidFill>
            <a:prstDash val="solid"/>
            <a:tailEnd type="triangle"/>
          </a:ln>
        </p:spPr>
      </p:sp>
      <p:sp>
        <p:nvSpPr>
          <p:cNvPr id="35" name="Shape 33"/>
          <p:cNvSpPr/>
          <p:nvPr/>
        </p:nvSpPr>
        <p:spPr>
          <a:xfrm>
            <a:off x="6235259" y="3425748"/>
            <a:ext cx="2300286" cy="763093"/>
          </a:xfrm>
          <a:prstGeom prst="roundRect">
            <a:avLst>
              <a:gd name="adj" fmla="val 9586"/>
            </a:avLst>
          </a:prstGeom>
          <a:solidFill>
            <a:srgbClr val="E4F2FB"/>
          </a:solidFill>
          <a:ln w="15240">
            <a:solidFill>
              <a:srgbClr val="0072B2"/>
            </a:solidFill>
            <a:prstDash val="solid"/>
          </a:ln>
        </p:spPr>
      </p:sp>
      <p:sp>
        <p:nvSpPr>
          <p:cNvPr id="36" name="Text 34"/>
          <p:cNvSpPr txBox="1"/>
          <p:nvPr/>
        </p:nvSpPr>
        <p:spPr>
          <a:xfrm>
            <a:off x="6337983" y="34404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7</a:t>
            </a:r>
            <a:endParaRPr lang="en-US" sz="1444" dirty="0"/>
          </a:p>
        </p:txBody>
      </p:sp>
      <p:sp>
        <p:nvSpPr>
          <p:cNvPr id="37" name="Text 35"/>
          <p:cNvSpPr txBox="1"/>
          <p:nvPr/>
        </p:nvSpPr>
        <p:spPr>
          <a:xfrm>
            <a:off x="6337983" y="3704571"/>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Prompting</a:t>
            </a:r>
            <a:endParaRPr lang="en-US" sz="1444" dirty="0"/>
          </a:p>
        </p:txBody>
      </p:sp>
      <p:sp>
        <p:nvSpPr>
          <p:cNvPr id="38" name="Shape 36"/>
          <p:cNvSpPr/>
          <p:nvPr/>
        </p:nvSpPr>
        <p:spPr>
          <a:xfrm>
            <a:off x="8535545" y="3807295"/>
            <a:ext cx="278823" cy="0"/>
          </a:xfrm>
          <a:prstGeom prst="line">
            <a:avLst/>
          </a:prstGeom>
          <a:noFill/>
          <a:ln w="22860">
            <a:solidFill>
              <a:srgbClr val="0072B2"/>
            </a:solidFill>
            <a:prstDash val="solid"/>
            <a:tailEnd type="triangle"/>
          </a:ln>
        </p:spPr>
      </p:sp>
      <p:sp>
        <p:nvSpPr>
          <p:cNvPr id="39" name="Shape 37"/>
          <p:cNvSpPr/>
          <p:nvPr/>
        </p:nvSpPr>
        <p:spPr>
          <a:xfrm>
            <a:off x="8814367" y="3425748"/>
            <a:ext cx="2300286" cy="763093"/>
          </a:xfrm>
          <a:prstGeom prst="roundRect">
            <a:avLst>
              <a:gd name="adj" fmla="val 9586"/>
            </a:avLst>
          </a:prstGeom>
          <a:solidFill>
            <a:srgbClr val="E4F2FB"/>
          </a:solidFill>
          <a:ln w="15240">
            <a:solidFill>
              <a:srgbClr val="0072B2"/>
            </a:solidFill>
            <a:prstDash val="solid"/>
          </a:ln>
        </p:spPr>
      </p:sp>
      <p:sp>
        <p:nvSpPr>
          <p:cNvPr id="40" name="Text 38"/>
          <p:cNvSpPr txBox="1"/>
          <p:nvPr/>
        </p:nvSpPr>
        <p:spPr>
          <a:xfrm>
            <a:off x="8917091" y="34404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8</a:t>
            </a:r>
            <a:endParaRPr lang="en-US" sz="1444" dirty="0"/>
          </a:p>
        </p:txBody>
      </p:sp>
      <p:sp>
        <p:nvSpPr>
          <p:cNvPr id="41" name="Text 39"/>
          <p:cNvSpPr txBox="1"/>
          <p:nvPr/>
        </p:nvSpPr>
        <p:spPr>
          <a:xfrm>
            <a:off x="8917091" y="3704571"/>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Fine-tuning</a:t>
            </a:r>
            <a:endParaRPr lang="en-US" sz="1444" dirty="0"/>
          </a:p>
        </p:txBody>
      </p:sp>
      <p:sp>
        <p:nvSpPr>
          <p:cNvPr id="42" name="Shape 40"/>
          <p:cNvSpPr/>
          <p:nvPr/>
        </p:nvSpPr>
        <p:spPr>
          <a:xfrm>
            <a:off x="9964510" y="4188841"/>
            <a:ext cx="0" cy="132074"/>
          </a:xfrm>
          <a:prstGeom prst="line">
            <a:avLst/>
          </a:prstGeom>
          <a:noFill/>
          <a:ln w="22860">
            <a:solidFill>
              <a:srgbClr val="0072B2"/>
            </a:solidFill>
            <a:prstDash val="solid"/>
          </a:ln>
        </p:spPr>
      </p:sp>
      <p:sp>
        <p:nvSpPr>
          <p:cNvPr id="43" name="Shape 41"/>
          <p:cNvSpPr/>
          <p:nvPr/>
        </p:nvSpPr>
        <p:spPr>
          <a:xfrm flipH="1">
            <a:off x="944968" y="4320915"/>
            <a:ext cx="9019542" cy="0"/>
          </a:xfrm>
          <a:prstGeom prst="line">
            <a:avLst/>
          </a:prstGeom>
          <a:noFill/>
          <a:ln w="22860">
            <a:solidFill>
              <a:srgbClr val="0072B2"/>
            </a:solidFill>
            <a:prstDash val="solid"/>
          </a:ln>
        </p:spPr>
      </p:sp>
      <p:sp>
        <p:nvSpPr>
          <p:cNvPr id="44" name="Shape 42"/>
          <p:cNvSpPr/>
          <p:nvPr/>
        </p:nvSpPr>
        <p:spPr>
          <a:xfrm>
            <a:off x="944968" y="4320915"/>
            <a:ext cx="0" cy="858480"/>
          </a:xfrm>
          <a:prstGeom prst="line">
            <a:avLst/>
          </a:prstGeom>
          <a:noFill/>
          <a:ln w="22860">
            <a:solidFill>
              <a:srgbClr val="0072B2"/>
            </a:solidFill>
            <a:prstDash val="solid"/>
          </a:ln>
        </p:spPr>
      </p:sp>
      <p:sp>
        <p:nvSpPr>
          <p:cNvPr id="45" name="Shape 43"/>
          <p:cNvSpPr/>
          <p:nvPr/>
        </p:nvSpPr>
        <p:spPr>
          <a:xfrm>
            <a:off x="944968" y="5179395"/>
            <a:ext cx="132074" cy="0"/>
          </a:xfrm>
          <a:prstGeom prst="line">
            <a:avLst/>
          </a:prstGeom>
          <a:noFill/>
          <a:ln w="22860">
            <a:solidFill>
              <a:srgbClr val="0072B2"/>
            </a:solidFill>
            <a:prstDash val="solid"/>
            <a:tailEnd type="triangle"/>
          </a:ln>
        </p:spPr>
      </p:sp>
      <p:sp>
        <p:nvSpPr>
          <p:cNvPr id="46" name="Text 44"/>
          <p:cNvSpPr txBox="1"/>
          <p:nvPr/>
        </p:nvSpPr>
        <p:spPr>
          <a:xfrm>
            <a:off x="1077042" y="4460326"/>
            <a:ext cx="10037611" cy="264148"/>
          </a:xfrm>
          <a:prstGeom prst="rect">
            <a:avLst/>
          </a:prstGeom>
          <a:noFill/>
          <a:ln/>
        </p:spPr>
        <p:txBody>
          <a:bodyPr wrap="square" lIns="0" tIns="0" rIns="0" bIns="0" rtlCol="0" anchor="ctr"/>
          <a:lstStyle/>
          <a:p>
            <a:pPr algn="l" indent="0" marL="0">
              <a:lnSpc>
                <a:spcPct val="116000"/>
              </a:lnSpc>
              <a:buNone/>
            </a:pPr>
            <a:r>
              <a:rPr lang="en-US" sz="1560" b="1" dirty="0">
                <a:solidFill>
                  <a:srgbClr val="1E1B4B"/>
                </a:solidFill>
                <a:latin typeface="Arial" pitchFamily="34" charset="0"/>
                <a:ea typeface="Arial" pitchFamily="34" charset="-122"/>
                <a:cs typeface="Arial" pitchFamily="34" charset="-120"/>
              </a:rPr>
              <a:t>Systems</a:t>
            </a:r>
            <a:endParaRPr lang="en-US" sz="1560" dirty="0"/>
          </a:p>
        </p:txBody>
      </p:sp>
      <p:sp>
        <p:nvSpPr>
          <p:cNvPr id="47" name="Shape 45"/>
          <p:cNvSpPr/>
          <p:nvPr/>
        </p:nvSpPr>
        <p:spPr>
          <a:xfrm>
            <a:off x="1077042" y="4797848"/>
            <a:ext cx="2300286" cy="763093"/>
          </a:xfrm>
          <a:prstGeom prst="roundRect">
            <a:avLst>
              <a:gd name="adj" fmla="val 9586"/>
            </a:avLst>
          </a:prstGeom>
          <a:solidFill>
            <a:srgbClr val="E4F2FB"/>
          </a:solidFill>
          <a:ln w="15240">
            <a:solidFill>
              <a:srgbClr val="0072B2"/>
            </a:solidFill>
            <a:prstDash val="solid"/>
          </a:ln>
        </p:spPr>
      </p:sp>
      <p:sp>
        <p:nvSpPr>
          <p:cNvPr id="48" name="Text 46"/>
          <p:cNvSpPr txBox="1"/>
          <p:nvPr/>
        </p:nvSpPr>
        <p:spPr>
          <a:xfrm>
            <a:off x="1179766" y="48125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9</a:t>
            </a:r>
            <a:endParaRPr lang="en-US" sz="1444" dirty="0"/>
          </a:p>
        </p:txBody>
      </p:sp>
      <p:sp>
        <p:nvSpPr>
          <p:cNvPr id="49" name="Text 47"/>
          <p:cNvSpPr txBox="1"/>
          <p:nvPr/>
        </p:nvSpPr>
        <p:spPr>
          <a:xfrm>
            <a:off x="1179766" y="5076671"/>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Multimodal</a:t>
            </a:r>
            <a:endParaRPr lang="en-US" sz="1444" dirty="0"/>
          </a:p>
        </p:txBody>
      </p:sp>
      <p:sp>
        <p:nvSpPr>
          <p:cNvPr id="50" name="Shape 48"/>
          <p:cNvSpPr/>
          <p:nvPr/>
        </p:nvSpPr>
        <p:spPr>
          <a:xfrm>
            <a:off x="3377328" y="5179395"/>
            <a:ext cx="278823" cy="0"/>
          </a:xfrm>
          <a:prstGeom prst="line">
            <a:avLst/>
          </a:prstGeom>
          <a:noFill/>
          <a:ln w="22860">
            <a:solidFill>
              <a:srgbClr val="0072B2"/>
            </a:solidFill>
            <a:prstDash val="solid"/>
            <a:tailEnd type="triangle"/>
          </a:ln>
        </p:spPr>
      </p:sp>
      <p:sp>
        <p:nvSpPr>
          <p:cNvPr id="51" name="Shape 49"/>
          <p:cNvSpPr/>
          <p:nvPr/>
        </p:nvSpPr>
        <p:spPr>
          <a:xfrm>
            <a:off x="3656151" y="4797848"/>
            <a:ext cx="2300286" cy="763093"/>
          </a:xfrm>
          <a:prstGeom prst="roundRect">
            <a:avLst>
              <a:gd name="adj" fmla="val 9586"/>
            </a:avLst>
          </a:prstGeom>
          <a:solidFill>
            <a:srgbClr val="FFF0E6"/>
          </a:solidFill>
          <a:ln w="15240">
            <a:solidFill>
              <a:srgbClr val="D55E00"/>
            </a:solidFill>
            <a:prstDash val="solid"/>
          </a:ln>
        </p:spPr>
      </p:sp>
      <p:sp>
        <p:nvSpPr>
          <p:cNvPr id="52" name="Text 50"/>
          <p:cNvSpPr txBox="1"/>
          <p:nvPr/>
        </p:nvSpPr>
        <p:spPr>
          <a:xfrm>
            <a:off x="3758875" y="48125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D55E00"/>
                </a:solidFill>
                <a:latin typeface="Arial" pitchFamily="34" charset="0"/>
                <a:ea typeface="Arial" pitchFamily="34" charset="-122"/>
                <a:cs typeface="Arial" pitchFamily="34" charset="-120"/>
              </a:rPr>
              <a:t>10: you are here</a:t>
            </a:r>
            <a:endParaRPr lang="en-US" sz="1444" dirty="0"/>
          </a:p>
        </p:txBody>
      </p:sp>
      <p:sp>
        <p:nvSpPr>
          <p:cNvPr id="53" name="Text 51"/>
          <p:cNvSpPr txBox="1"/>
          <p:nvPr/>
        </p:nvSpPr>
        <p:spPr>
          <a:xfrm>
            <a:off x="3758875" y="5076671"/>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Applications</a:t>
            </a:r>
            <a:endParaRPr lang="en-US" sz="1444" dirty="0"/>
          </a:p>
        </p:txBody>
      </p:sp>
      <p:sp>
        <p:nvSpPr>
          <p:cNvPr id="54" name="Shape 52"/>
          <p:cNvSpPr/>
          <p:nvPr/>
        </p:nvSpPr>
        <p:spPr>
          <a:xfrm>
            <a:off x="5956436" y="5179395"/>
            <a:ext cx="278823" cy="0"/>
          </a:xfrm>
          <a:prstGeom prst="line">
            <a:avLst/>
          </a:prstGeom>
          <a:noFill/>
          <a:ln w="22860">
            <a:solidFill>
              <a:srgbClr val="0072B2"/>
            </a:solidFill>
            <a:prstDash val="solid"/>
            <a:tailEnd type="triangle"/>
          </a:ln>
        </p:spPr>
      </p:sp>
      <p:sp>
        <p:nvSpPr>
          <p:cNvPr id="55" name="Shape 53"/>
          <p:cNvSpPr/>
          <p:nvPr/>
        </p:nvSpPr>
        <p:spPr>
          <a:xfrm>
            <a:off x="6235259" y="4797848"/>
            <a:ext cx="2300286" cy="763093"/>
          </a:xfrm>
          <a:prstGeom prst="roundRect">
            <a:avLst>
              <a:gd name="adj" fmla="val 9586"/>
            </a:avLst>
          </a:prstGeom>
          <a:solidFill>
            <a:srgbClr val="E4F2FB"/>
          </a:solidFill>
          <a:ln w="15240">
            <a:solidFill>
              <a:srgbClr val="0072B2"/>
            </a:solidFill>
            <a:prstDash val="solid"/>
          </a:ln>
        </p:spPr>
      </p:sp>
      <p:sp>
        <p:nvSpPr>
          <p:cNvPr id="56" name="Text 54"/>
          <p:cNvSpPr txBox="1"/>
          <p:nvPr/>
        </p:nvSpPr>
        <p:spPr>
          <a:xfrm>
            <a:off x="6337983" y="48125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11</a:t>
            </a:r>
            <a:endParaRPr lang="en-US" sz="1444" dirty="0"/>
          </a:p>
        </p:txBody>
      </p:sp>
      <p:sp>
        <p:nvSpPr>
          <p:cNvPr id="57" name="Text 55"/>
          <p:cNvSpPr txBox="1"/>
          <p:nvPr/>
        </p:nvSpPr>
        <p:spPr>
          <a:xfrm>
            <a:off x="6337983" y="5076671"/>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Deployment</a:t>
            </a:r>
            <a:endParaRPr lang="en-US" sz="1444" dirty="0"/>
          </a:p>
        </p:txBody>
      </p:sp>
      <p:sp>
        <p:nvSpPr>
          <p:cNvPr id="58" name="Shape 56"/>
          <p:cNvSpPr/>
          <p:nvPr/>
        </p:nvSpPr>
        <p:spPr>
          <a:xfrm>
            <a:off x="8535545" y="5179395"/>
            <a:ext cx="278823" cy="0"/>
          </a:xfrm>
          <a:prstGeom prst="line">
            <a:avLst/>
          </a:prstGeom>
          <a:noFill/>
          <a:ln w="22860">
            <a:solidFill>
              <a:srgbClr val="0072B2"/>
            </a:solidFill>
            <a:prstDash val="solid"/>
            <a:tailEnd type="triangle"/>
          </a:ln>
        </p:spPr>
      </p:sp>
      <p:sp>
        <p:nvSpPr>
          <p:cNvPr id="59" name="Shape 57"/>
          <p:cNvSpPr/>
          <p:nvPr/>
        </p:nvSpPr>
        <p:spPr>
          <a:xfrm>
            <a:off x="8814367" y="4797848"/>
            <a:ext cx="2300286" cy="763093"/>
          </a:xfrm>
          <a:prstGeom prst="roundRect">
            <a:avLst>
              <a:gd name="adj" fmla="val 9586"/>
            </a:avLst>
          </a:prstGeom>
          <a:solidFill>
            <a:srgbClr val="E4F2FB"/>
          </a:solidFill>
          <a:ln w="15240">
            <a:solidFill>
              <a:srgbClr val="0072B2"/>
            </a:solidFill>
            <a:prstDash val="solid"/>
          </a:ln>
        </p:spPr>
      </p:sp>
      <p:sp>
        <p:nvSpPr>
          <p:cNvPr id="60" name="Text 58"/>
          <p:cNvSpPr txBox="1"/>
          <p:nvPr/>
        </p:nvSpPr>
        <p:spPr>
          <a:xfrm>
            <a:off x="8917091" y="48125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12</a:t>
            </a:r>
            <a:endParaRPr lang="en-US" sz="1444" dirty="0"/>
          </a:p>
        </p:txBody>
      </p:sp>
      <p:sp>
        <p:nvSpPr>
          <p:cNvPr id="61" name="Text 59"/>
          <p:cNvSpPr txBox="1"/>
          <p:nvPr/>
        </p:nvSpPr>
        <p:spPr>
          <a:xfrm>
            <a:off x="8917091" y="5076671"/>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RAG &amp; agents</a:t>
            </a:r>
            <a:endParaRPr lang="en-US" sz="1444" dirty="0"/>
          </a:p>
        </p:txBody>
      </p:sp>
      <p:sp>
        <p:nvSpPr>
          <p:cNvPr id="62" name="Text 60"/>
          <p:cNvSpPr txBox="1"/>
          <p:nvPr/>
        </p:nvSpPr>
        <p:spPr>
          <a:xfrm>
            <a:off x="1077042" y="5891126"/>
            <a:ext cx="10037611" cy="271485"/>
          </a:xfrm>
          <a:prstGeom prst="rect">
            <a:avLst/>
          </a:prstGeom>
          <a:noFill/>
          <a:ln/>
        </p:spPr>
        <p:txBody>
          <a:bodyPr wrap="square" lIns="0" tIns="0" rIns="0" bIns="0" rtlCol="0" anchor="ctr"/>
          <a:lstStyle/>
          <a:p>
            <a:pPr algn="l" indent="0" marL="0">
              <a:lnSpc>
                <a:spcPct val="116000"/>
              </a:lnSpc>
              <a:buNone/>
            </a:pPr>
            <a:r>
              <a:rPr lang="en-US" sz="1560" dirty="0">
                <a:solidFill>
                  <a:srgbClr val="1F2937"/>
                </a:solidFill>
                <a:latin typeface="Arial" pitchFamily="34" charset="0"/>
                <a:ea typeface="Arial" pitchFamily="34" charset="-122"/>
                <a:cs typeface="Arial" pitchFamily="34" charset="-120"/>
              </a:rPr>
              <a:t>Check evidence throughout</a:t>
            </a:r>
            <a:endParaRPr lang="en-US" sz="156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10  ·  MULTIMODAL GENERATIVE AI APPLICATIONS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4</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Starting vocabulary</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4415" cy="914400"/>
        </p:xfrm>
        <a:graphic>
          <a:graphicData uri="http://schemas.openxmlformats.org/drawingml/2006/table">
            <a:tbl>
              <a:tblPr/>
              <a:tblGrid>
                <a:gridCol w="3106436"/>
                <a:gridCol w="7987979"/>
              </a:tblGrid>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Term</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Meaning</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Modality</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Kind of data.</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Autoregressive generation</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Predict one token at a time.</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Ground truth</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Known reference answer.</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VLM</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Images and text → answer.</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10  ·  MULTIMODAL GENERATIVE AI APPLICATIONS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5</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Warm-up</a:t>
            </a:r>
            <a:endParaRPr lang="en-US" sz="3200" dirty="0"/>
          </a:p>
        </p:txBody>
      </p:sp>
      <p:sp>
        <p:nvSpPr>
          <p:cNvPr id="6" name="Shape 4"/>
          <p:cNvSpPr/>
          <p:nvPr/>
        </p:nvSpPr>
        <p:spPr>
          <a:xfrm>
            <a:off x="548640" y="1527048"/>
            <a:ext cx="1005840" cy="1005840"/>
          </a:xfrm>
          <a:prstGeom prst="ellipse">
            <a:avLst/>
          </a:prstGeom>
          <a:solidFill>
            <a:srgbClr val="0F766E"/>
          </a:solidFill>
          <a:ln w="12700">
            <a:solidFill>
              <a:srgbClr val="0F766E"/>
            </a:solidFill>
            <a:prstDash val="solid"/>
          </a:ln>
        </p:spPr>
      </p:sp>
      <p:pic>
        <p:nvPicPr>
          <p:cNvPr id="7" name="Image 0" descr="preencoded.png">    </p:cNvPr>
          <p:cNvPicPr>
            <a:picLocks noChangeAspect="1"/>
          </p:cNvPicPr>
          <p:nvPr/>
        </p:nvPicPr>
        <p:blipFill>
          <a:blip r:embed="rId1"/>
          <a:stretch>
            <a:fillRect/>
          </a:stretch>
        </p:blipFill>
        <p:spPr>
          <a:xfrm>
            <a:off x="790042" y="1768450"/>
            <a:ext cx="523037" cy="523037"/>
          </a:xfrm>
          <a:prstGeom prst="rect">
            <a:avLst/>
          </a:prstGeom>
        </p:spPr>
      </p:pic>
      <p:sp>
        <p:nvSpPr>
          <p:cNvPr id="8" name="Text 5"/>
          <p:cNvSpPr txBox="1"/>
          <p:nvPr/>
        </p:nvSpPr>
        <p:spPr>
          <a:xfrm>
            <a:off x="1828800" y="1481328"/>
            <a:ext cx="9814255" cy="1463040"/>
          </a:xfrm>
          <a:prstGeom prst="rect">
            <a:avLst/>
          </a:prstGeom>
          <a:noFill/>
          <a:ln/>
        </p:spPr>
        <p:txBody>
          <a:bodyPr wrap="square" lIns="50800" tIns="50800" rIns="50800" bIns="50800" rtlCol="0" anchor="ctr"/>
          <a:lstStyle/>
          <a:p>
            <a:pPr indent="0" marL="0">
              <a:buNone/>
            </a:pPr>
            <a:r>
              <a:rPr lang="en-US" sz="2600" b="1" dirty="0">
                <a:solidFill>
                  <a:srgbClr val="1E1B4B"/>
                </a:solidFill>
                <a:latin typeface="Calibri" pitchFamily="34" charset="0"/>
                <a:ea typeface="Calibri" pitchFamily="34" charset="-122"/>
                <a:cs typeface="Calibri" pitchFamily="34" charset="-120"/>
              </a:rPr>
              <a:t>A receipt photo must be split between four people. Which stage could fail?</a:t>
            </a:r>
            <a:endParaRPr lang="en-US" sz="2600" dirty="0"/>
          </a:p>
        </p:txBody>
      </p:sp>
      <p:sp>
        <p:nvSpPr>
          <p:cNvPr id="9" name="Text 6"/>
          <p:cNvSpPr txBox="1"/>
          <p:nvPr/>
        </p:nvSpPr>
        <p:spPr>
          <a:xfrm>
            <a:off x="1828800" y="3172968"/>
            <a:ext cx="9814255" cy="3090672"/>
          </a:xfrm>
          <a:prstGeom prst="rect">
            <a:avLst/>
          </a:prstGeom>
          <a:noFill/>
          <a:ln/>
        </p:spPr>
        <p:txBody>
          <a:bodyPr wrap="square" lIns="50800" tIns="50800" rIns="50800" bIns="50800" rtlCol="0" anchor="t"/>
          <a:lstStyle/>
          <a:p>
            <a:pPr marL="254000" indent="-254000">
              <a:spcAft>
                <a:spcPts val="800"/>
              </a:spcAft>
              <a:buSzPct val="100000"/>
              <a:buChar char="●"/>
            </a:pPr>
            <a:r>
              <a:rPr lang="en-US" sz="2200" dirty="0">
                <a:solidFill>
                  <a:srgbClr val="1F2937"/>
                </a:solidFill>
                <a:latin typeface="Calibri" pitchFamily="34" charset="0"/>
                <a:ea typeface="Calibri" pitchFamily="34" charset="-122"/>
                <a:cs typeface="Calibri" pitchFamily="34" charset="-120"/>
              </a:rPr>
              <a:t>Read amounts accurately.</a:t>
            </a:r>
            <a:endParaRPr lang="en-US" sz="2200" dirty="0"/>
          </a:p>
          <a:p>
            <a:pPr marL="254000" indent="-254000">
              <a:spcAft>
                <a:spcPts val="800"/>
              </a:spcAft>
              <a:buSzPct val="100000"/>
              <a:buChar char="●"/>
            </a:pPr>
            <a:r>
              <a:rPr lang="en-US" sz="2200" dirty="0">
                <a:solidFill>
                  <a:srgbClr val="1F2937"/>
                </a:solidFill>
                <a:latin typeface="Calibri" pitchFamily="34" charset="0"/>
                <a:ea typeface="Calibri" pitchFamily="34" charset="-122"/>
                <a:cs typeface="Calibri" pitchFamily="34" charset="-120"/>
              </a:rPr>
              <a:t>Calculate and cross-check totals.</a:t>
            </a:r>
            <a:endParaRPr lang="en-US" sz="2200" dirty="0"/>
          </a:p>
          <a:p>
            <a:pPr marL="254000" indent="-254000">
              <a:spcAft>
                <a:spcPts val="800"/>
              </a:spcAft>
              <a:buSzPct val="100000"/>
              <a:buChar char="●"/>
            </a:pPr>
            <a:r>
              <a:rPr lang="en-US" sz="2200" dirty="0">
                <a:solidFill>
                  <a:srgbClr val="1F2937"/>
                </a:solidFill>
                <a:latin typeface="Calibri" pitchFamily="34" charset="0"/>
                <a:ea typeface="Calibri" pitchFamily="34" charset="-122"/>
                <a:cs typeface="Calibri" pitchFamily="34" charset="-120"/>
              </a:rPr>
              <a:t>Protect personal details.</a:t>
            </a:r>
            <a:endParaRPr lang="en-US" sz="2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E1B4B"/>
        </a:solidFill>
      </p:bgPr>
    </p:bg>
    <p:spTree>
      <p:nvGrpSpPr>
        <p:cNvPr id="1" name=""/>
        <p:cNvGrpSpPr/>
        <p:nvPr/>
      </p:nvGrpSpPr>
      <p:grpSpPr>
        <a:xfrm>
          <a:off x="0" y="0"/>
          <a:ext cx="0" cy="0"/>
          <a:chOff x="0" y="0"/>
          <a:chExt cx="0" cy="0"/>
        </a:xfrm>
      </p:grpSpPr>
      <p:sp>
        <p:nvSpPr>
          <p:cNvPr id="2" name="Text 0"/>
          <p:cNvSpPr txBox="1"/>
          <p:nvPr/>
        </p:nvSpPr>
        <p:spPr>
          <a:xfrm>
            <a:off x="731520" y="1188720"/>
            <a:ext cx="2926080" cy="1828800"/>
          </a:xfrm>
          <a:prstGeom prst="rect">
            <a:avLst/>
          </a:prstGeom>
          <a:noFill/>
          <a:ln/>
        </p:spPr>
        <p:txBody>
          <a:bodyPr wrap="square" lIns="0" tIns="0" rIns="0" bIns="0" rtlCol="0" anchor="t"/>
          <a:lstStyle/>
          <a:p>
            <a:pPr indent="0" marL="0">
              <a:buNone/>
            </a:pPr>
            <a:r>
              <a:rPr lang="en-US" sz="11000" b="1" dirty="0">
                <a:solidFill>
                  <a:srgbClr val="EA580C"/>
                </a:solidFill>
                <a:latin typeface="Calibri" pitchFamily="34" charset="0"/>
                <a:ea typeface="Calibri" pitchFamily="34" charset="-122"/>
                <a:cs typeface="Calibri" pitchFamily="34" charset="-120"/>
              </a:rPr>
              <a:t>01</a:t>
            </a:r>
            <a:endParaRPr lang="en-US" sz="11000" dirty="0"/>
          </a:p>
        </p:txBody>
      </p:sp>
      <p:sp>
        <p:nvSpPr>
          <p:cNvPr id="3" name="Text 1"/>
          <p:cNvSpPr txBox="1"/>
          <p:nvPr/>
        </p:nvSpPr>
        <p:spPr>
          <a:xfrm>
            <a:off x="731520" y="3063240"/>
            <a:ext cx="10515600" cy="1463040"/>
          </a:xfrm>
          <a:prstGeom prst="rect">
            <a:avLst/>
          </a:prstGeom>
          <a:noFill/>
          <a:ln/>
        </p:spPr>
        <p:txBody>
          <a:bodyPr wrap="square" lIns="0" tIns="0" rIns="0" bIns="0" rtlCol="0" anchor="t"/>
          <a:lstStyle/>
          <a:p>
            <a:pPr indent="0" marL="0">
              <a:buNone/>
            </a:pPr>
            <a:r>
              <a:rPr lang="en-US" sz="4200" b="1" dirty="0">
                <a:solidFill>
                  <a:srgbClr val="FFFFFF"/>
                </a:solidFill>
                <a:latin typeface="Calibri" pitchFamily="34" charset="0"/>
                <a:ea typeface="Calibri" pitchFamily="34" charset="-122"/>
                <a:cs typeface="Calibri" pitchFamily="34" charset="-120"/>
              </a:rPr>
              <a:t>Multimodal LLMs</a:t>
            </a:r>
            <a:endParaRPr lang="en-US" sz="4200" dirty="0"/>
          </a:p>
        </p:txBody>
      </p:sp>
      <p:sp>
        <p:nvSpPr>
          <p:cNvPr id="4" name="Text 2"/>
          <p:cNvSpPr txBox="1"/>
          <p:nvPr/>
        </p:nvSpPr>
        <p:spPr>
          <a:xfrm>
            <a:off x="731520" y="4617720"/>
            <a:ext cx="10515600" cy="1097280"/>
          </a:xfrm>
          <a:prstGeom prst="rect">
            <a:avLst/>
          </a:prstGeom>
          <a:noFill/>
          <a:ln/>
        </p:spPr>
        <p:txBody>
          <a:bodyPr wrap="square" lIns="0" tIns="0" rIns="0" bIns="0" rtlCol="0" anchor="t"/>
          <a:lstStyle/>
          <a:p>
            <a:pPr indent="0" marL="0">
              <a:buNone/>
            </a:pPr>
            <a:r>
              <a:rPr lang="en-US" sz="2200" i="1" dirty="0">
                <a:solidFill>
                  <a:srgbClr val="C7D2FE"/>
                </a:solidFill>
                <a:latin typeface="Calibri" pitchFamily="34" charset="0"/>
                <a:ea typeface="Calibri" pitchFamily="34" charset="-122"/>
                <a:cs typeface="Calibri" pitchFamily="34" charset="-120"/>
              </a:rPr>
              <a:t>How do chat models see, read and listen?</a:t>
            </a:r>
            <a:endParaRPr lang="en-US" sz="2200" dirty="0"/>
          </a:p>
        </p:txBody>
      </p:sp>
      <p:sp>
        <p:nvSpPr>
          <p:cNvPr id="5" name="Shape 3"/>
          <p:cNvSpPr/>
          <p:nvPr/>
        </p:nvSpPr>
        <p:spPr>
          <a:xfrm>
            <a:off x="9692640" y="1097280"/>
            <a:ext cx="1554480" cy="1554480"/>
          </a:xfrm>
          <a:prstGeom prst="ellipse">
            <a:avLst/>
          </a:prstGeom>
          <a:solidFill>
            <a:srgbClr val="4F46E5"/>
          </a:solidFill>
          <a:ln w="12700">
            <a:solidFill>
              <a:srgbClr val="4F46E5"/>
            </a:solidFill>
            <a:prstDash val="solid"/>
          </a:ln>
        </p:spPr>
      </p:sp>
      <p:pic>
        <p:nvPicPr>
          <p:cNvPr id="6" name="Image 0" descr="preencoded.png">    </p:cNvPr>
          <p:cNvPicPr>
            <a:picLocks noChangeAspect="1"/>
          </p:cNvPicPr>
          <p:nvPr/>
        </p:nvPicPr>
        <p:blipFill>
          <a:blip r:embed="rId1"/>
          <a:stretch>
            <a:fillRect/>
          </a:stretch>
        </p:blipFill>
        <p:spPr>
          <a:xfrm>
            <a:off x="10065715" y="1470355"/>
            <a:ext cx="808330" cy="80833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10  ·  MULTIMODAL GENERATIVE AI APPLICATIONS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7</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Choose a multimodal task</a:t>
            </a:r>
            <a:endParaRPr lang="en-US" sz="3200" dirty="0"/>
          </a:p>
        </p:txBody>
      </p:sp>
      <p:sp>
        <p:nvSpPr>
          <p:cNvPr id="6" name="Text 4"/>
          <p:cNvSpPr txBox="1"/>
          <p:nvPr/>
        </p:nvSpPr>
        <p:spPr>
          <a:xfrm>
            <a:off x="548640" y="1463040"/>
            <a:ext cx="11094415" cy="384048"/>
          </a:xfrm>
          <a:prstGeom prst="rect">
            <a:avLst/>
          </a:prstGeom>
          <a:noFill/>
          <a:ln/>
        </p:spPr>
        <p:txBody>
          <a:bodyPr wrap="square" lIns="0" tIns="0" rIns="0" bIns="0" rtlCol="0" anchor="t"/>
          <a:lstStyle/>
          <a:p>
            <a:pPr indent="0" marL="0">
              <a:buNone/>
            </a:pPr>
            <a:r>
              <a:rPr lang="en-US" sz="1800" dirty="0">
                <a:solidFill>
                  <a:srgbClr val="6B7280"/>
                </a:solidFill>
                <a:latin typeface="Calibri" pitchFamily="34" charset="0"/>
                <a:ea typeface="Calibri" pitchFamily="34" charset="-122"/>
                <a:cs typeface="Calibri" pitchFamily="34" charset="-120"/>
              </a:rPr>
              <a:t>Task determines route</a:t>
            </a:r>
            <a:endParaRPr lang="en-US" sz="1800" dirty="0"/>
          </a:p>
        </p:txBody>
      </p:sp>
      <p:sp>
        <p:nvSpPr>
          <p:cNvPr id="7" name="Shape 5"/>
          <p:cNvSpPr/>
          <p:nvPr/>
        </p:nvSpPr>
        <p:spPr>
          <a:xfrm>
            <a:off x="3259068" y="3838927"/>
            <a:ext cx="244024" cy="0"/>
          </a:xfrm>
          <a:prstGeom prst="line">
            <a:avLst/>
          </a:prstGeom>
          <a:noFill/>
          <a:ln w="22860">
            <a:solidFill>
              <a:srgbClr val="009E73"/>
            </a:solidFill>
            <a:prstDash val="solid"/>
            <a:tailEnd type="triangle"/>
          </a:ln>
        </p:spPr>
      </p:sp>
      <p:sp>
        <p:nvSpPr>
          <p:cNvPr id="8" name="Text 6"/>
          <p:cNvSpPr txBox="1"/>
          <p:nvPr/>
        </p:nvSpPr>
        <p:spPr>
          <a:xfrm>
            <a:off x="2580376"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task</a:t>
            </a:r>
            <a:endParaRPr lang="en-US" sz="1441" dirty="0"/>
          </a:p>
        </p:txBody>
      </p:sp>
      <p:sp>
        <p:nvSpPr>
          <p:cNvPr id="9" name="Shape 7"/>
          <p:cNvSpPr/>
          <p:nvPr/>
        </p:nvSpPr>
        <p:spPr>
          <a:xfrm>
            <a:off x="5973836" y="3838927"/>
            <a:ext cx="244024" cy="0"/>
          </a:xfrm>
          <a:prstGeom prst="line">
            <a:avLst/>
          </a:prstGeom>
          <a:noFill/>
          <a:ln w="22860">
            <a:solidFill>
              <a:srgbClr val="009E73"/>
            </a:solidFill>
            <a:prstDash val="solid"/>
            <a:tailEnd type="triangle"/>
          </a:ln>
        </p:spPr>
      </p:sp>
      <p:sp>
        <p:nvSpPr>
          <p:cNvPr id="10" name="Text 8"/>
          <p:cNvSpPr txBox="1"/>
          <p:nvPr/>
        </p:nvSpPr>
        <p:spPr>
          <a:xfrm>
            <a:off x="5295144"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tensors</a:t>
            </a:r>
            <a:endParaRPr lang="en-US" sz="1441" dirty="0"/>
          </a:p>
        </p:txBody>
      </p:sp>
      <p:sp>
        <p:nvSpPr>
          <p:cNvPr id="11" name="Shape 9"/>
          <p:cNvSpPr/>
          <p:nvPr/>
        </p:nvSpPr>
        <p:spPr>
          <a:xfrm>
            <a:off x="8688603" y="3838927"/>
            <a:ext cx="244024" cy="0"/>
          </a:xfrm>
          <a:prstGeom prst="line">
            <a:avLst/>
          </a:prstGeom>
          <a:noFill/>
          <a:ln w="22860">
            <a:solidFill>
              <a:srgbClr val="009E73"/>
            </a:solidFill>
            <a:prstDash val="solid"/>
            <a:tailEnd type="triangle"/>
          </a:ln>
        </p:spPr>
      </p:sp>
      <p:sp>
        <p:nvSpPr>
          <p:cNvPr id="12" name="Text 10"/>
          <p:cNvSpPr txBox="1"/>
          <p:nvPr/>
        </p:nvSpPr>
        <p:spPr>
          <a:xfrm>
            <a:off x="8009911"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media</a:t>
            </a:r>
            <a:endParaRPr lang="en-US" sz="1441" dirty="0"/>
          </a:p>
        </p:txBody>
      </p:sp>
      <p:sp>
        <p:nvSpPr>
          <p:cNvPr id="13" name="Shape 11"/>
          <p:cNvSpPr/>
          <p:nvPr/>
        </p:nvSpPr>
        <p:spPr>
          <a:xfrm>
            <a:off x="788325" y="2939089"/>
            <a:ext cx="2470743" cy="1799677"/>
          </a:xfrm>
          <a:prstGeom prst="rect">
            <a:avLst/>
          </a:prstGeom>
          <a:solidFill>
            <a:srgbClr val="F2F4F5"/>
          </a:solidFill>
          <a:ln w="15240">
            <a:solidFill>
              <a:srgbClr val="626B73"/>
            </a:solidFill>
            <a:prstDash val="solid"/>
          </a:ln>
        </p:spPr>
      </p:sp>
      <p:sp>
        <p:nvSpPr>
          <p:cNvPr id="14" name="Text 12"/>
          <p:cNvSpPr txBox="1"/>
          <p:nvPr/>
        </p:nvSpPr>
        <p:spPr>
          <a:xfrm>
            <a:off x="849331" y="3579652"/>
            <a:ext cx="2348731"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Choose task</a:t>
            </a:r>
            <a:endParaRPr lang="en-US" sz="1561" dirty="0"/>
          </a:p>
        </p:txBody>
      </p:sp>
      <p:sp>
        <p:nvSpPr>
          <p:cNvPr id="15" name="Text 13"/>
          <p:cNvSpPr txBox="1"/>
          <p:nvPr/>
        </p:nvSpPr>
        <p:spPr>
          <a:xfrm>
            <a:off x="849331" y="3885902"/>
            <a:ext cx="2348731"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Input; output</a:t>
            </a:r>
            <a:endParaRPr lang="en-US" sz="1441" dirty="0"/>
          </a:p>
        </p:txBody>
      </p:sp>
      <p:sp>
        <p:nvSpPr>
          <p:cNvPr id="16" name="Shape 14"/>
          <p:cNvSpPr/>
          <p:nvPr/>
        </p:nvSpPr>
        <p:spPr>
          <a:xfrm>
            <a:off x="3503092" y="2939089"/>
            <a:ext cx="2470743" cy="1799677"/>
          </a:xfrm>
          <a:prstGeom prst="roundRect">
            <a:avLst>
              <a:gd name="adj" fmla="val 4065"/>
            </a:avLst>
          </a:prstGeom>
          <a:solidFill>
            <a:srgbClr val="E4F2FB"/>
          </a:solidFill>
          <a:ln w="15240">
            <a:solidFill>
              <a:srgbClr val="0072B2"/>
            </a:solidFill>
            <a:prstDash val="solid"/>
          </a:ln>
        </p:spPr>
      </p:sp>
      <p:sp>
        <p:nvSpPr>
          <p:cNvPr id="17" name="Text 15"/>
          <p:cNvSpPr txBox="1"/>
          <p:nvPr/>
        </p:nvSpPr>
        <p:spPr>
          <a:xfrm>
            <a:off x="3564098" y="3579652"/>
            <a:ext cx="2348731"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Prepare input</a:t>
            </a:r>
            <a:endParaRPr lang="en-US" sz="1561" dirty="0"/>
          </a:p>
        </p:txBody>
      </p:sp>
      <p:sp>
        <p:nvSpPr>
          <p:cNvPr id="18" name="Text 16"/>
          <p:cNvSpPr txBox="1"/>
          <p:nvPr/>
        </p:nvSpPr>
        <p:spPr>
          <a:xfrm>
            <a:off x="3564098" y="3885902"/>
            <a:ext cx="2348731"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Expected representation</a:t>
            </a:r>
            <a:endParaRPr lang="en-US" sz="1441" dirty="0"/>
          </a:p>
        </p:txBody>
      </p:sp>
      <p:sp>
        <p:nvSpPr>
          <p:cNvPr id="19" name="Shape 17"/>
          <p:cNvSpPr/>
          <p:nvPr/>
        </p:nvSpPr>
        <p:spPr>
          <a:xfrm>
            <a:off x="6217860" y="2939089"/>
            <a:ext cx="2470743" cy="1799677"/>
          </a:xfrm>
          <a:prstGeom prst="rect">
            <a:avLst/>
          </a:prstGeom>
          <a:solidFill>
            <a:srgbClr val="E5F7EF"/>
          </a:solidFill>
          <a:ln w="15240">
            <a:solidFill>
              <a:srgbClr val="009E73"/>
            </a:solidFill>
            <a:prstDash val="solid"/>
          </a:ln>
        </p:spPr>
      </p:sp>
      <p:sp>
        <p:nvSpPr>
          <p:cNvPr id="20" name="Text 18"/>
          <p:cNvSpPr txBox="1"/>
          <p:nvPr/>
        </p:nvSpPr>
        <p:spPr>
          <a:xfrm>
            <a:off x="6278866" y="3579652"/>
            <a:ext cx="2348731"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Generate media</a:t>
            </a:r>
            <a:endParaRPr lang="en-US" sz="1561" dirty="0"/>
          </a:p>
        </p:txBody>
      </p:sp>
      <p:sp>
        <p:nvSpPr>
          <p:cNvPr id="21" name="Text 19"/>
          <p:cNvSpPr txBox="1"/>
          <p:nvPr/>
        </p:nvSpPr>
        <p:spPr>
          <a:xfrm>
            <a:off x="6278866" y="3885902"/>
            <a:ext cx="2348731"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Selected model</a:t>
            </a:r>
            <a:endParaRPr lang="en-US" sz="1441" dirty="0"/>
          </a:p>
        </p:txBody>
      </p:sp>
      <p:sp>
        <p:nvSpPr>
          <p:cNvPr id="22" name="Shape 20"/>
          <p:cNvSpPr/>
          <p:nvPr/>
        </p:nvSpPr>
        <p:spPr>
          <a:xfrm>
            <a:off x="8932627" y="2939089"/>
            <a:ext cx="2470743" cy="1799677"/>
          </a:xfrm>
          <a:prstGeom prst="roundRect">
            <a:avLst>
              <a:gd name="adj" fmla="val 4065"/>
            </a:avLst>
          </a:prstGeom>
          <a:solidFill>
            <a:srgbClr val="FFF0E6"/>
          </a:solidFill>
          <a:ln w="15240">
            <a:solidFill>
              <a:srgbClr val="D55E00"/>
            </a:solidFill>
            <a:prstDash val="solid"/>
          </a:ln>
        </p:spPr>
      </p:sp>
      <p:sp>
        <p:nvSpPr>
          <p:cNvPr id="23" name="Text 21"/>
          <p:cNvSpPr txBox="1"/>
          <p:nvPr/>
        </p:nvSpPr>
        <p:spPr>
          <a:xfrm>
            <a:off x="8993633" y="3579652"/>
            <a:ext cx="2348731"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Check output</a:t>
            </a:r>
            <a:endParaRPr lang="en-US" sz="1561" dirty="0"/>
          </a:p>
        </p:txBody>
      </p:sp>
      <p:sp>
        <p:nvSpPr>
          <p:cNvPr id="24" name="Text 22"/>
          <p:cNvSpPr txBox="1"/>
          <p:nvPr/>
        </p:nvSpPr>
        <p:spPr>
          <a:xfrm>
            <a:off x="8993633" y="3885902"/>
            <a:ext cx="2348731"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Facts; quality</a:t>
            </a:r>
            <a:endParaRPr lang="en-US" sz="1441" dirty="0"/>
          </a:p>
        </p:txBody>
      </p:sp>
      <p:sp>
        <p:nvSpPr>
          <p:cNvPr id="25" name="Shape 23"/>
          <p:cNvSpPr/>
          <p:nvPr/>
        </p:nvSpPr>
        <p:spPr>
          <a:xfrm>
            <a:off x="788325" y="5630979"/>
            <a:ext cx="198270" cy="198270"/>
          </a:xfrm>
          <a:prstGeom prst="roundRect">
            <a:avLst>
              <a:gd name="adj" fmla="val 36895"/>
            </a:avLst>
          </a:prstGeom>
          <a:solidFill>
            <a:srgbClr val="E4F2FB"/>
          </a:solidFill>
          <a:ln w="15240">
            <a:solidFill>
              <a:srgbClr val="0072B2"/>
            </a:solidFill>
            <a:prstDash val="solid"/>
          </a:ln>
        </p:spPr>
      </p:sp>
      <p:sp>
        <p:nvSpPr>
          <p:cNvPr id="26" name="Text 24"/>
          <p:cNvSpPr txBox="1"/>
          <p:nvPr/>
        </p:nvSpPr>
        <p:spPr>
          <a:xfrm>
            <a:off x="1047600" y="5608101"/>
            <a:ext cx="43056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Data</a:t>
            </a:r>
            <a:endParaRPr lang="en-US" sz="1441" dirty="0"/>
          </a:p>
        </p:txBody>
      </p:sp>
      <p:sp>
        <p:nvSpPr>
          <p:cNvPr id="27" name="Shape 25"/>
          <p:cNvSpPr/>
          <p:nvPr/>
        </p:nvSpPr>
        <p:spPr>
          <a:xfrm>
            <a:off x="1676436" y="5630979"/>
            <a:ext cx="198270" cy="198270"/>
          </a:xfrm>
          <a:prstGeom prst="rect">
            <a:avLst/>
          </a:prstGeom>
          <a:solidFill>
            <a:srgbClr val="E5F7EF"/>
          </a:solidFill>
          <a:ln w="15240">
            <a:solidFill>
              <a:srgbClr val="009E73"/>
            </a:solidFill>
            <a:prstDash val="solid"/>
          </a:ln>
        </p:spPr>
      </p:sp>
      <p:sp>
        <p:nvSpPr>
          <p:cNvPr id="28" name="Text 26"/>
          <p:cNvSpPr txBox="1"/>
          <p:nvPr/>
        </p:nvSpPr>
        <p:spPr>
          <a:xfrm>
            <a:off x="1935711" y="5608101"/>
            <a:ext cx="546304"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Model</a:t>
            </a:r>
            <a:endParaRPr lang="en-US" sz="1441" dirty="0"/>
          </a:p>
        </p:txBody>
      </p:sp>
      <p:sp>
        <p:nvSpPr>
          <p:cNvPr id="29" name="Shape 27"/>
          <p:cNvSpPr/>
          <p:nvPr/>
        </p:nvSpPr>
        <p:spPr>
          <a:xfrm>
            <a:off x="2680284" y="5630979"/>
            <a:ext cx="198270" cy="198270"/>
          </a:xfrm>
          <a:prstGeom prst="roundRect">
            <a:avLst>
              <a:gd name="adj" fmla="val 36895"/>
            </a:avLst>
          </a:prstGeom>
          <a:solidFill>
            <a:srgbClr val="FFF0E6"/>
          </a:solidFill>
          <a:ln w="15240">
            <a:solidFill>
              <a:srgbClr val="D55E00"/>
            </a:solidFill>
            <a:prstDash val="solid"/>
          </a:ln>
        </p:spPr>
      </p:sp>
      <p:sp>
        <p:nvSpPr>
          <p:cNvPr id="30" name="Text 28"/>
          <p:cNvSpPr txBox="1"/>
          <p:nvPr/>
        </p:nvSpPr>
        <p:spPr>
          <a:xfrm>
            <a:off x="2939560" y="5608101"/>
            <a:ext cx="567330"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Check</a:t>
            </a:r>
            <a:endParaRPr lang="en-US" sz="1441" dirty="0"/>
          </a:p>
        </p:txBody>
      </p:sp>
      <p:sp>
        <p:nvSpPr>
          <p:cNvPr id="31" name="Shape 29"/>
          <p:cNvSpPr/>
          <p:nvPr/>
        </p:nvSpPr>
        <p:spPr>
          <a:xfrm>
            <a:off x="3705159" y="5630979"/>
            <a:ext cx="198270" cy="198270"/>
          </a:xfrm>
          <a:prstGeom prst="rect">
            <a:avLst/>
          </a:prstGeom>
          <a:solidFill>
            <a:srgbClr val="F2F4F5"/>
          </a:solidFill>
          <a:ln w="15240">
            <a:solidFill>
              <a:srgbClr val="626B73"/>
            </a:solidFill>
            <a:prstDash val="solid"/>
          </a:ln>
        </p:spPr>
      </p:sp>
      <p:sp>
        <p:nvSpPr>
          <p:cNvPr id="32" name="Text 30"/>
          <p:cNvSpPr txBox="1"/>
          <p:nvPr/>
        </p:nvSpPr>
        <p:spPr>
          <a:xfrm>
            <a:off x="3964435" y="5608101"/>
            <a:ext cx="398932"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Tool</a:t>
            </a:r>
            <a:endParaRPr lang="en-US" sz="1441" dirty="0"/>
          </a:p>
        </p:txBody>
      </p:sp>
      <p:sp>
        <p:nvSpPr>
          <p:cNvPr id="33" name="Shape 31"/>
          <p:cNvSpPr/>
          <p:nvPr/>
        </p:nvSpPr>
        <p:spPr>
          <a:xfrm>
            <a:off x="4561636" y="5730113"/>
            <a:ext cx="335533" cy="0"/>
          </a:xfrm>
          <a:prstGeom prst="line">
            <a:avLst/>
          </a:prstGeom>
          <a:noFill/>
          <a:ln w="22860">
            <a:solidFill>
              <a:srgbClr val="009E73"/>
            </a:solidFill>
            <a:prstDash val="solid"/>
            <a:tailEnd type="triangle"/>
          </a:ln>
        </p:spPr>
      </p:sp>
      <p:sp>
        <p:nvSpPr>
          <p:cNvPr id="34" name="Text 32"/>
          <p:cNvSpPr txBox="1"/>
          <p:nvPr/>
        </p:nvSpPr>
        <p:spPr>
          <a:xfrm>
            <a:off x="4958175" y="5608101"/>
            <a:ext cx="43037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Flow</a:t>
            </a:r>
            <a:endParaRPr lang="en-US" sz="1441" dirty="0"/>
          </a:p>
        </p:txBody>
      </p:sp>
      <p:sp>
        <p:nvSpPr>
          <p:cNvPr id="35" name="Text 33"/>
          <p:cNvSpPr txBox="1"/>
          <p:nvPr/>
        </p:nvSpPr>
        <p:spPr>
          <a:xfrm>
            <a:off x="548640" y="5925312"/>
            <a:ext cx="11094415" cy="475488"/>
          </a:xfrm>
          <a:prstGeom prst="rect">
            <a:avLst/>
          </a:prstGeom>
          <a:noFill/>
          <a:ln/>
        </p:spPr>
        <p:txBody>
          <a:bodyPr wrap="square" lIns="0" tIns="0" rIns="0" bIns="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Check: One score for everything?</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10  ·  MULTIMODAL GENERATIVE AI APPLICATIONS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8</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Two designs: modular bridge vs. natively multimodal</a:t>
            </a:r>
            <a:endParaRPr lang="en-US" sz="3200" dirty="0"/>
          </a:p>
        </p:txBody>
      </p:sp>
      <p:sp>
        <p:nvSpPr>
          <p:cNvPr id="6" name="Shape 4"/>
          <p:cNvSpPr/>
          <p:nvPr/>
        </p:nvSpPr>
        <p:spPr>
          <a:xfrm>
            <a:off x="1978966" y="3269430"/>
            <a:ext cx="49413" cy="0"/>
          </a:xfrm>
          <a:prstGeom prst="line">
            <a:avLst/>
          </a:prstGeom>
          <a:noFill/>
          <a:ln w="22860">
            <a:solidFill>
              <a:srgbClr val="4F46E5"/>
            </a:solidFill>
            <a:prstDash val="solid"/>
          </a:ln>
        </p:spPr>
      </p:sp>
      <p:sp>
        <p:nvSpPr>
          <p:cNvPr id="7" name="Shape 5"/>
          <p:cNvSpPr/>
          <p:nvPr/>
        </p:nvSpPr>
        <p:spPr>
          <a:xfrm flipV="1">
            <a:off x="2028379" y="2840844"/>
            <a:ext cx="0" cy="428586"/>
          </a:xfrm>
          <a:prstGeom prst="line">
            <a:avLst/>
          </a:prstGeom>
          <a:noFill/>
          <a:ln w="22860">
            <a:solidFill>
              <a:srgbClr val="4F46E5"/>
            </a:solidFill>
            <a:prstDash val="solid"/>
          </a:ln>
        </p:spPr>
      </p:sp>
      <p:sp>
        <p:nvSpPr>
          <p:cNvPr id="8" name="Shape 6"/>
          <p:cNvSpPr/>
          <p:nvPr/>
        </p:nvSpPr>
        <p:spPr>
          <a:xfrm>
            <a:off x="2028379" y="2840844"/>
            <a:ext cx="255300" cy="0"/>
          </a:xfrm>
          <a:prstGeom prst="line">
            <a:avLst/>
          </a:prstGeom>
          <a:noFill/>
          <a:ln w="22860">
            <a:solidFill>
              <a:srgbClr val="4F46E5"/>
            </a:solidFill>
            <a:prstDash val="solid"/>
          </a:ln>
        </p:spPr>
      </p:sp>
      <p:sp>
        <p:nvSpPr>
          <p:cNvPr id="9" name="Shape 7"/>
          <p:cNvSpPr/>
          <p:nvPr/>
        </p:nvSpPr>
        <p:spPr>
          <a:xfrm>
            <a:off x="2283679" y="2840844"/>
            <a:ext cx="0" cy="428586"/>
          </a:xfrm>
          <a:prstGeom prst="line">
            <a:avLst/>
          </a:prstGeom>
          <a:noFill/>
          <a:ln w="22860">
            <a:solidFill>
              <a:srgbClr val="4F46E5"/>
            </a:solidFill>
            <a:prstDash val="solid"/>
          </a:ln>
        </p:spPr>
      </p:sp>
      <p:sp>
        <p:nvSpPr>
          <p:cNvPr id="10" name="Shape 8"/>
          <p:cNvSpPr/>
          <p:nvPr/>
        </p:nvSpPr>
        <p:spPr>
          <a:xfrm>
            <a:off x="3362525" y="3269430"/>
            <a:ext cx="49413" cy="0"/>
          </a:xfrm>
          <a:prstGeom prst="line">
            <a:avLst/>
          </a:prstGeom>
          <a:noFill/>
          <a:ln w="22860">
            <a:solidFill>
              <a:srgbClr val="4F46E5"/>
            </a:solidFill>
            <a:prstDash val="solid"/>
          </a:ln>
        </p:spPr>
      </p:sp>
      <p:sp>
        <p:nvSpPr>
          <p:cNvPr id="11" name="Shape 9"/>
          <p:cNvSpPr/>
          <p:nvPr/>
        </p:nvSpPr>
        <p:spPr>
          <a:xfrm flipV="1">
            <a:off x="3411938" y="2840844"/>
            <a:ext cx="0" cy="428586"/>
          </a:xfrm>
          <a:prstGeom prst="line">
            <a:avLst/>
          </a:prstGeom>
          <a:noFill/>
          <a:ln w="22860">
            <a:solidFill>
              <a:srgbClr val="4F46E5"/>
            </a:solidFill>
            <a:prstDash val="solid"/>
          </a:ln>
        </p:spPr>
      </p:sp>
      <p:sp>
        <p:nvSpPr>
          <p:cNvPr id="12" name="Shape 10"/>
          <p:cNvSpPr/>
          <p:nvPr/>
        </p:nvSpPr>
        <p:spPr>
          <a:xfrm>
            <a:off x="3411938" y="2840844"/>
            <a:ext cx="255300" cy="0"/>
          </a:xfrm>
          <a:prstGeom prst="line">
            <a:avLst/>
          </a:prstGeom>
          <a:noFill/>
          <a:ln w="22860">
            <a:solidFill>
              <a:srgbClr val="4F46E5"/>
            </a:solidFill>
            <a:prstDash val="solid"/>
          </a:ln>
        </p:spPr>
      </p:sp>
      <p:sp>
        <p:nvSpPr>
          <p:cNvPr id="13" name="Shape 11"/>
          <p:cNvSpPr/>
          <p:nvPr/>
        </p:nvSpPr>
        <p:spPr>
          <a:xfrm>
            <a:off x="3667237" y="2840844"/>
            <a:ext cx="0" cy="428586"/>
          </a:xfrm>
          <a:prstGeom prst="line">
            <a:avLst/>
          </a:prstGeom>
          <a:noFill/>
          <a:ln w="22860">
            <a:solidFill>
              <a:srgbClr val="4F46E5"/>
            </a:solidFill>
            <a:prstDash val="solid"/>
          </a:ln>
        </p:spPr>
      </p:sp>
      <p:sp>
        <p:nvSpPr>
          <p:cNvPr id="14" name="Shape 12"/>
          <p:cNvSpPr/>
          <p:nvPr/>
        </p:nvSpPr>
        <p:spPr>
          <a:xfrm>
            <a:off x="4746084" y="3269430"/>
            <a:ext cx="49413" cy="0"/>
          </a:xfrm>
          <a:prstGeom prst="line">
            <a:avLst/>
          </a:prstGeom>
          <a:noFill/>
          <a:ln w="22860">
            <a:solidFill>
              <a:srgbClr val="4F46E5"/>
            </a:solidFill>
            <a:prstDash val="solid"/>
          </a:ln>
        </p:spPr>
      </p:sp>
      <p:sp>
        <p:nvSpPr>
          <p:cNvPr id="15" name="Shape 13"/>
          <p:cNvSpPr/>
          <p:nvPr/>
        </p:nvSpPr>
        <p:spPr>
          <a:xfrm flipV="1">
            <a:off x="4795497" y="2840844"/>
            <a:ext cx="0" cy="428586"/>
          </a:xfrm>
          <a:prstGeom prst="line">
            <a:avLst/>
          </a:prstGeom>
          <a:noFill/>
          <a:ln w="22860">
            <a:solidFill>
              <a:srgbClr val="4F46E5"/>
            </a:solidFill>
            <a:prstDash val="solid"/>
          </a:ln>
        </p:spPr>
      </p:sp>
      <p:sp>
        <p:nvSpPr>
          <p:cNvPr id="16" name="Shape 14"/>
          <p:cNvSpPr/>
          <p:nvPr/>
        </p:nvSpPr>
        <p:spPr>
          <a:xfrm>
            <a:off x="4795497" y="2840844"/>
            <a:ext cx="255300" cy="0"/>
          </a:xfrm>
          <a:prstGeom prst="line">
            <a:avLst/>
          </a:prstGeom>
          <a:noFill/>
          <a:ln w="22860">
            <a:solidFill>
              <a:srgbClr val="4F46E5"/>
            </a:solidFill>
            <a:prstDash val="solid"/>
          </a:ln>
        </p:spPr>
      </p:sp>
      <p:sp>
        <p:nvSpPr>
          <p:cNvPr id="17" name="Shape 15"/>
          <p:cNvSpPr/>
          <p:nvPr/>
        </p:nvSpPr>
        <p:spPr>
          <a:xfrm>
            <a:off x="5050796" y="2840844"/>
            <a:ext cx="0" cy="428586"/>
          </a:xfrm>
          <a:prstGeom prst="line">
            <a:avLst/>
          </a:prstGeom>
          <a:noFill/>
          <a:ln w="22860">
            <a:solidFill>
              <a:srgbClr val="4F46E5"/>
            </a:solidFill>
            <a:prstDash val="solid"/>
          </a:ln>
        </p:spPr>
      </p:sp>
      <p:sp>
        <p:nvSpPr>
          <p:cNvPr id="18" name="Shape 16"/>
          <p:cNvSpPr/>
          <p:nvPr/>
        </p:nvSpPr>
        <p:spPr>
          <a:xfrm>
            <a:off x="8484987" y="3269430"/>
            <a:ext cx="49413" cy="0"/>
          </a:xfrm>
          <a:prstGeom prst="line">
            <a:avLst/>
          </a:prstGeom>
          <a:noFill/>
          <a:ln w="22860">
            <a:solidFill>
              <a:srgbClr val="4F46E5"/>
            </a:solidFill>
            <a:prstDash val="solid"/>
          </a:ln>
        </p:spPr>
      </p:sp>
      <p:sp>
        <p:nvSpPr>
          <p:cNvPr id="19" name="Shape 17"/>
          <p:cNvSpPr/>
          <p:nvPr/>
        </p:nvSpPr>
        <p:spPr>
          <a:xfrm flipV="1">
            <a:off x="8534400" y="2840844"/>
            <a:ext cx="0" cy="428586"/>
          </a:xfrm>
          <a:prstGeom prst="line">
            <a:avLst/>
          </a:prstGeom>
          <a:noFill/>
          <a:ln w="22860">
            <a:solidFill>
              <a:srgbClr val="4F46E5"/>
            </a:solidFill>
            <a:prstDash val="solid"/>
          </a:ln>
        </p:spPr>
      </p:sp>
      <p:sp>
        <p:nvSpPr>
          <p:cNvPr id="20" name="Shape 18"/>
          <p:cNvSpPr/>
          <p:nvPr/>
        </p:nvSpPr>
        <p:spPr>
          <a:xfrm>
            <a:off x="8534400" y="2840844"/>
            <a:ext cx="543541" cy="0"/>
          </a:xfrm>
          <a:prstGeom prst="line">
            <a:avLst/>
          </a:prstGeom>
          <a:noFill/>
          <a:ln w="22860">
            <a:solidFill>
              <a:srgbClr val="4F46E5"/>
            </a:solidFill>
            <a:prstDash val="solid"/>
          </a:ln>
        </p:spPr>
      </p:sp>
      <p:sp>
        <p:nvSpPr>
          <p:cNvPr id="21" name="Shape 19"/>
          <p:cNvSpPr/>
          <p:nvPr/>
        </p:nvSpPr>
        <p:spPr>
          <a:xfrm>
            <a:off x="9077941" y="2840844"/>
            <a:ext cx="0" cy="428586"/>
          </a:xfrm>
          <a:prstGeom prst="line">
            <a:avLst/>
          </a:prstGeom>
          <a:noFill/>
          <a:ln w="22860">
            <a:solidFill>
              <a:srgbClr val="4F46E5"/>
            </a:solidFill>
            <a:prstDash val="solid"/>
          </a:ln>
        </p:spPr>
      </p:sp>
      <p:sp>
        <p:nvSpPr>
          <p:cNvPr id="22" name="Shape 20"/>
          <p:cNvSpPr/>
          <p:nvPr/>
        </p:nvSpPr>
        <p:spPr>
          <a:xfrm>
            <a:off x="2283679" y="3269430"/>
            <a:ext cx="49413" cy="0"/>
          </a:xfrm>
          <a:prstGeom prst="line">
            <a:avLst/>
          </a:prstGeom>
          <a:noFill/>
          <a:ln w="22860">
            <a:solidFill>
              <a:srgbClr val="4F46E5"/>
            </a:solidFill>
            <a:prstDash val="solid"/>
            <a:tailEnd type="triangle"/>
          </a:ln>
        </p:spPr>
      </p:sp>
      <p:sp>
        <p:nvSpPr>
          <p:cNvPr id="23" name="Shape 21"/>
          <p:cNvSpPr/>
          <p:nvPr/>
        </p:nvSpPr>
        <p:spPr>
          <a:xfrm>
            <a:off x="3667237" y="3269430"/>
            <a:ext cx="49413" cy="0"/>
          </a:xfrm>
          <a:prstGeom prst="line">
            <a:avLst/>
          </a:prstGeom>
          <a:noFill/>
          <a:ln w="22860">
            <a:solidFill>
              <a:srgbClr val="4F46E5"/>
            </a:solidFill>
            <a:prstDash val="solid"/>
            <a:tailEnd type="triangle"/>
          </a:ln>
        </p:spPr>
      </p:sp>
      <p:sp>
        <p:nvSpPr>
          <p:cNvPr id="24" name="Shape 22"/>
          <p:cNvSpPr/>
          <p:nvPr/>
        </p:nvSpPr>
        <p:spPr>
          <a:xfrm>
            <a:off x="5050796" y="3269430"/>
            <a:ext cx="49413" cy="0"/>
          </a:xfrm>
          <a:prstGeom prst="line">
            <a:avLst/>
          </a:prstGeom>
          <a:noFill/>
          <a:ln w="22860">
            <a:solidFill>
              <a:srgbClr val="4F46E5"/>
            </a:solidFill>
            <a:prstDash val="solid"/>
            <a:tailEnd type="triangle"/>
          </a:ln>
        </p:spPr>
      </p:sp>
      <p:sp>
        <p:nvSpPr>
          <p:cNvPr id="25" name="Shape 23"/>
          <p:cNvSpPr/>
          <p:nvPr/>
        </p:nvSpPr>
        <p:spPr>
          <a:xfrm>
            <a:off x="9077941" y="3269430"/>
            <a:ext cx="49413" cy="0"/>
          </a:xfrm>
          <a:prstGeom prst="line">
            <a:avLst/>
          </a:prstGeom>
          <a:noFill/>
          <a:ln w="22860">
            <a:solidFill>
              <a:srgbClr val="4F46E5"/>
            </a:solidFill>
            <a:prstDash val="solid"/>
            <a:tailEnd type="triangle"/>
          </a:ln>
        </p:spPr>
      </p:sp>
      <p:sp>
        <p:nvSpPr>
          <p:cNvPr id="26" name="Shape 24"/>
          <p:cNvSpPr/>
          <p:nvPr/>
        </p:nvSpPr>
        <p:spPr>
          <a:xfrm>
            <a:off x="3626060" y="4539314"/>
            <a:ext cx="535306" cy="0"/>
          </a:xfrm>
          <a:prstGeom prst="line">
            <a:avLst/>
          </a:prstGeom>
          <a:noFill/>
          <a:ln w="22860">
            <a:solidFill>
              <a:srgbClr val="4F46E5"/>
            </a:solidFill>
            <a:prstDash val="solid"/>
            <a:tailEnd type="triangle"/>
          </a:ln>
        </p:spPr>
      </p:sp>
      <p:sp>
        <p:nvSpPr>
          <p:cNvPr id="27" name="Shape 25"/>
          <p:cNvSpPr/>
          <p:nvPr/>
        </p:nvSpPr>
        <p:spPr>
          <a:xfrm>
            <a:off x="949532" y="2912275"/>
            <a:ext cx="1029434" cy="714310"/>
          </a:xfrm>
          <a:prstGeom prst="roundRect">
            <a:avLst>
              <a:gd name="adj" fmla="val 10241"/>
            </a:avLst>
          </a:prstGeom>
          <a:solidFill>
            <a:srgbClr val="E4F2FB"/>
          </a:solidFill>
          <a:ln w="15240">
            <a:solidFill>
              <a:srgbClr val="0072B2"/>
            </a:solidFill>
            <a:prstDash val="solid"/>
          </a:ln>
        </p:spPr>
      </p:sp>
      <p:sp>
        <p:nvSpPr>
          <p:cNvPr id="28" name="Shape 26"/>
          <p:cNvSpPr/>
          <p:nvPr/>
        </p:nvSpPr>
        <p:spPr>
          <a:xfrm>
            <a:off x="2333091" y="2912275"/>
            <a:ext cx="1029434" cy="714310"/>
          </a:xfrm>
          <a:prstGeom prst="rect">
            <a:avLst/>
          </a:prstGeom>
          <a:solidFill>
            <a:srgbClr val="E5F7EF"/>
          </a:solidFill>
          <a:ln w="15240">
            <a:solidFill>
              <a:srgbClr val="009E73"/>
            </a:solidFill>
            <a:prstDash val="solid"/>
          </a:ln>
        </p:spPr>
      </p:sp>
      <p:sp>
        <p:nvSpPr>
          <p:cNvPr id="29" name="Shape 27"/>
          <p:cNvSpPr/>
          <p:nvPr/>
        </p:nvSpPr>
        <p:spPr>
          <a:xfrm>
            <a:off x="3716650" y="2912275"/>
            <a:ext cx="1029434" cy="714310"/>
          </a:xfrm>
          <a:prstGeom prst="rect">
            <a:avLst/>
          </a:prstGeom>
          <a:solidFill>
            <a:srgbClr val="E5F7EF"/>
          </a:solidFill>
          <a:ln w="15240">
            <a:solidFill>
              <a:srgbClr val="009E73"/>
            </a:solidFill>
            <a:prstDash val="solid"/>
          </a:ln>
        </p:spPr>
      </p:sp>
      <p:sp>
        <p:nvSpPr>
          <p:cNvPr id="30" name="Shape 28"/>
          <p:cNvSpPr/>
          <p:nvPr/>
        </p:nvSpPr>
        <p:spPr>
          <a:xfrm>
            <a:off x="5100209" y="2912275"/>
            <a:ext cx="1029434" cy="714310"/>
          </a:xfrm>
          <a:prstGeom prst="rect">
            <a:avLst/>
          </a:prstGeom>
          <a:solidFill>
            <a:srgbClr val="E5F7EF"/>
          </a:solidFill>
          <a:ln w="15240">
            <a:solidFill>
              <a:srgbClr val="009E73"/>
            </a:solidFill>
            <a:prstDash val="solid"/>
          </a:ln>
        </p:spPr>
      </p:sp>
      <p:sp>
        <p:nvSpPr>
          <p:cNvPr id="31" name="Shape 29"/>
          <p:cNvSpPr/>
          <p:nvPr/>
        </p:nvSpPr>
        <p:spPr>
          <a:xfrm>
            <a:off x="6467297" y="2912275"/>
            <a:ext cx="2017690" cy="714310"/>
          </a:xfrm>
          <a:prstGeom prst="roundRect">
            <a:avLst>
              <a:gd name="adj" fmla="val 10241"/>
            </a:avLst>
          </a:prstGeom>
          <a:solidFill>
            <a:srgbClr val="E4F2FB"/>
          </a:solidFill>
          <a:ln w="15240">
            <a:solidFill>
              <a:srgbClr val="0072B2"/>
            </a:solidFill>
            <a:prstDash val="solid"/>
          </a:ln>
        </p:spPr>
      </p:sp>
      <p:sp>
        <p:nvSpPr>
          <p:cNvPr id="32" name="Shape 30"/>
          <p:cNvSpPr/>
          <p:nvPr/>
        </p:nvSpPr>
        <p:spPr>
          <a:xfrm>
            <a:off x="9127354" y="2912275"/>
            <a:ext cx="2100045" cy="714310"/>
          </a:xfrm>
          <a:prstGeom prst="rect">
            <a:avLst/>
          </a:prstGeom>
          <a:solidFill>
            <a:srgbClr val="E5F7EF"/>
          </a:solidFill>
          <a:ln w="15240">
            <a:solidFill>
              <a:srgbClr val="009E73"/>
            </a:solidFill>
            <a:prstDash val="solid"/>
          </a:ln>
        </p:spPr>
      </p:sp>
      <p:sp>
        <p:nvSpPr>
          <p:cNvPr id="33" name="Text 31"/>
          <p:cNvSpPr txBox="1"/>
          <p:nvPr/>
        </p:nvSpPr>
        <p:spPr>
          <a:xfrm>
            <a:off x="949532" y="2264257"/>
            <a:ext cx="1899748" cy="274990"/>
          </a:xfrm>
          <a:prstGeom prst="rect">
            <a:avLst/>
          </a:prstGeom>
          <a:noFill/>
          <a:ln/>
        </p:spPr>
        <p:txBody>
          <a:bodyPr wrap="square" lIns="0" tIns="0" rIns="0" bIns="0" rtlCol="0" anchor="ctr"/>
          <a:lstStyle/>
          <a:p>
            <a:pPr algn="l" indent="0" marL="0">
              <a:lnSpc>
                <a:spcPct val="116000"/>
              </a:lnSpc>
              <a:buNone/>
            </a:pPr>
            <a:r>
              <a:rPr lang="en-US" sz="1867" b="1" dirty="0">
                <a:solidFill>
                  <a:srgbClr val="1E1B4B"/>
                </a:solidFill>
                <a:latin typeface="Arial" pitchFamily="34" charset="0"/>
                <a:ea typeface="Arial" pitchFamily="34" charset="-122"/>
                <a:cs typeface="Arial" pitchFamily="34" charset="-120"/>
              </a:rPr>
              <a:t>Modular bridge</a:t>
            </a:r>
            <a:endParaRPr lang="en-US" sz="1867" dirty="0"/>
          </a:p>
        </p:txBody>
      </p:sp>
      <p:sp>
        <p:nvSpPr>
          <p:cNvPr id="34" name="Text 32"/>
          <p:cNvSpPr txBox="1"/>
          <p:nvPr/>
        </p:nvSpPr>
        <p:spPr>
          <a:xfrm>
            <a:off x="6467297" y="2264257"/>
            <a:ext cx="3074518" cy="274990"/>
          </a:xfrm>
          <a:prstGeom prst="rect">
            <a:avLst/>
          </a:prstGeom>
          <a:noFill/>
          <a:ln/>
        </p:spPr>
        <p:txBody>
          <a:bodyPr wrap="square" lIns="0" tIns="0" rIns="0" bIns="0" rtlCol="0" anchor="ctr"/>
          <a:lstStyle/>
          <a:p>
            <a:pPr algn="l" indent="0" marL="0">
              <a:lnSpc>
                <a:spcPct val="116000"/>
              </a:lnSpc>
              <a:buNone/>
            </a:pPr>
            <a:r>
              <a:rPr lang="en-US" sz="1867" b="1" dirty="0">
                <a:solidFill>
                  <a:srgbClr val="1E1B4B"/>
                </a:solidFill>
                <a:latin typeface="Arial" pitchFamily="34" charset="0"/>
                <a:ea typeface="Arial" pitchFamily="34" charset="-122"/>
                <a:cs typeface="Arial" pitchFamily="34" charset="-120"/>
              </a:rPr>
              <a:t>Joint multimodal training</a:t>
            </a:r>
            <a:endParaRPr lang="en-US" sz="1867" dirty="0"/>
          </a:p>
        </p:txBody>
      </p:sp>
      <p:sp>
        <p:nvSpPr>
          <p:cNvPr id="35" name="Text 33"/>
          <p:cNvSpPr txBox="1"/>
          <p:nvPr/>
        </p:nvSpPr>
        <p:spPr>
          <a:xfrm>
            <a:off x="1098262" y="3021939"/>
            <a:ext cx="731975"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Read</a:t>
            </a:r>
            <a:endParaRPr lang="en-US" sz="1680" dirty="0"/>
          </a:p>
        </p:txBody>
      </p:sp>
      <p:sp>
        <p:nvSpPr>
          <p:cNvPr id="36" name="Text 34"/>
          <p:cNvSpPr txBox="1"/>
          <p:nvPr/>
        </p:nvSpPr>
        <p:spPr>
          <a:xfrm>
            <a:off x="1098262" y="3269430"/>
            <a:ext cx="731975"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image</a:t>
            </a:r>
            <a:endParaRPr lang="en-US" sz="1680" dirty="0"/>
          </a:p>
        </p:txBody>
      </p:sp>
      <p:sp>
        <p:nvSpPr>
          <p:cNvPr id="37" name="Text 35"/>
          <p:cNvSpPr txBox="1"/>
          <p:nvPr/>
        </p:nvSpPr>
        <p:spPr>
          <a:xfrm>
            <a:off x="2402325" y="3021939"/>
            <a:ext cx="890967"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Encode</a:t>
            </a:r>
            <a:endParaRPr lang="en-US" sz="1680" dirty="0"/>
          </a:p>
        </p:txBody>
      </p:sp>
      <p:sp>
        <p:nvSpPr>
          <p:cNvPr id="38" name="Text 36"/>
          <p:cNvSpPr txBox="1"/>
          <p:nvPr/>
        </p:nvSpPr>
        <p:spPr>
          <a:xfrm>
            <a:off x="2402325" y="3269430"/>
            <a:ext cx="890967"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pixels</a:t>
            </a:r>
            <a:endParaRPr lang="en-US" sz="1680" dirty="0"/>
          </a:p>
        </p:txBody>
      </p:sp>
      <p:sp>
        <p:nvSpPr>
          <p:cNvPr id="39" name="Text 37"/>
          <p:cNvSpPr txBox="1"/>
          <p:nvPr/>
        </p:nvSpPr>
        <p:spPr>
          <a:xfrm>
            <a:off x="3754969" y="3021939"/>
            <a:ext cx="952797"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Project</a:t>
            </a:r>
            <a:endParaRPr lang="en-US" sz="1680" dirty="0"/>
          </a:p>
        </p:txBody>
      </p:sp>
      <p:sp>
        <p:nvSpPr>
          <p:cNvPr id="40" name="Text 38"/>
          <p:cNvSpPr txBox="1"/>
          <p:nvPr/>
        </p:nvSpPr>
        <p:spPr>
          <a:xfrm>
            <a:off x="3754969" y="3269430"/>
            <a:ext cx="952797"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features</a:t>
            </a:r>
            <a:endParaRPr lang="en-US" sz="1680" dirty="0"/>
          </a:p>
        </p:txBody>
      </p:sp>
      <p:sp>
        <p:nvSpPr>
          <p:cNvPr id="41" name="Text 39"/>
          <p:cNvSpPr txBox="1"/>
          <p:nvPr/>
        </p:nvSpPr>
        <p:spPr>
          <a:xfrm>
            <a:off x="5191525" y="3021939"/>
            <a:ext cx="846803"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Predict</a:t>
            </a:r>
            <a:endParaRPr lang="en-US" sz="1680" dirty="0"/>
          </a:p>
        </p:txBody>
      </p:sp>
      <p:sp>
        <p:nvSpPr>
          <p:cNvPr id="42" name="Text 40"/>
          <p:cNvSpPr txBox="1"/>
          <p:nvPr/>
        </p:nvSpPr>
        <p:spPr>
          <a:xfrm>
            <a:off x="5191525" y="3269430"/>
            <a:ext cx="846803"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words</a:t>
            </a:r>
            <a:endParaRPr lang="en-US" sz="1680" dirty="0"/>
          </a:p>
        </p:txBody>
      </p:sp>
      <p:sp>
        <p:nvSpPr>
          <p:cNvPr id="43" name="Text 41"/>
          <p:cNvSpPr txBox="1"/>
          <p:nvPr/>
        </p:nvSpPr>
        <p:spPr>
          <a:xfrm>
            <a:off x="1845705" y="2636669"/>
            <a:ext cx="620647" cy="233741"/>
          </a:xfrm>
          <a:prstGeom prst="rect">
            <a:avLst/>
          </a:prstGeom>
          <a:solidFill>
            <a:srgbClr val="FFFFFF"/>
          </a:solidFill>
          <a:ln/>
        </p:spPr>
        <p:txBody>
          <a:bodyPr wrap="square" lIns="0" tIns="0" rIns="0" bIns="0" rtlCol="0" anchor="ctr"/>
          <a:lstStyle/>
          <a:p>
            <a:pPr algn="ctr" indent="0" marL="0">
              <a:lnSpc>
                <a:spcPct val="116000"/>
              </a:lnSpc>
              <a:buNone/>
            </a:pPr>
            <a:r>
              <a:rPr lang="en-US" sz="1587" dirty="0">
                <a:solidFill>
                  <a:srgbClr val="1F2937"/>
                </a:solidFill>
                <a:latin typeface="Arial" pitchFamily="34" charset="0"/>
                <a:ea typeface="Arial" pitchFamily="34" charset="-122"/>
                <a:cs typeface="Arial" pitchFamily="34" charset="-120"/>
              </a:rPr>
              <a:t>pixels</a:t>
            </a:r>
            <a:endParaRPr lang="en-US" sz="1587" dirty="0"/>
          </a:p>
        </p:txBody>
      </p:sp>
      <p:sp>
        <p:nvSpPr>
          <p:cNvPr id="44" name="Text 42"/>
          <p:cNvSpPr txBox="1"/>
          <p:nvPr/>
        </p:nvSpPr>
        <p:spPr>
          <a:xfrm>
            <a:off x="3114437" y="2636669"/>
            <a:ext cx="850302" cy="233741"/>
          </a:xfrm>
          <a:prstGeom prst="rect">
            <a:avLst/>
          </a:prstGeom>
          <a:solidFill>
            <a:srgbClr val="FFFFFF"/>
          </a:solidFill>
          <a:ln/>
        </p:spPr>
        <p:txBody>
          <a:bodyPr wrap="square" lIns="0" tIns="0" rIns="0" bIns="0" rtlCol="0" anchor="ctr"/>
          <a:lstStyle/>
          <a:p>
            <a:pPr algn="ctr" indent="0" marL="0">
              <a:lnSpc>
                <a:spcPct val="116000"/>
              </a:lnSpc>
              <a:buNone/>
            </a:pPr>
            <a:r>
              <a:rPr lang="en-US" sz="1587" dirty="0">
                <a:solidFill>
                  <a:srgbClr val="1F2937"/>
                </a:solidFill>
                <a:latin typeface="Arial" pitchFamily="34" charset="0"/>
                <a:ea typeface="Arial" pitchFamily="34" charset="-122"/>
                <a:cs typeface="Arial" pitchFamily="34" charset="-120"/>
              </a:rPr>
              <a:t>features</a:t>
            </a:r>
            <a:endParaRPr lang="en-US" sz="1587" dirty="0"/>
          </a:p>
        </p:txBody>
      </p:sp>
      <p:sp>
        <p:nvSpPr>
          <p:cNvPr id="45" name="Text 43"/>
          <p:cNvSpPr txBox="1"/>
          <p:nvPr/>
        </p:nvSpPr>
        <p:spPr>
          <a:xfrm>
            <a:off x="4312506" y="2636669"/>
            <a:ext cx="1221282" cy="233741"/>
          </a:xfrm>
          <a:prstGeom prst="rect">
            <a:avLst/>
          </a:prstGeom>
          <a:solidFill>
            <a:srgbClr val="FFFFFF"/>
          </a:solidFill>
          <a:ln/>
        </p:spPr>
        <p:txBody>
          <a:bodyPr wrap="square" lIns="0" tIns="0" rIns="0" bIns="0" rtlCol="0" anchor="ctr"/>
          <a:lstStyle/>
          <a:p>
            <a:pPr algn="ctr" indent="0" marL="0">
              <a:lnSpc>
                <a:spcPct val="116000"/>
              </a:lnSpc>
              <a:buNone/>
            </a:pPr>
            <a:r>
              <a:rPr lang="en-US" sz="1587" dirty="0">
                <a:solidFill>
                  <a:srgbClr val="1F2937"/>
                </a:solidFill>
                <a:latin typeface="Arial" pitchFamily="34" charset="0"/>
                <a:ea typeface="Arial" pitchFamily="34" charset="-122"/>
                <a:cs typeface="Arial" pitchFamily="34" charset="-120"/>
              </a:rPr>
              <a:t>embeddings</a:t>
            </a:r>
            <a:endParaRPr lang="en-US" sz="1587" dirty="0"/>
          </a:p>
        </p:txBody>
      </p:sp>
      <p:sp>
        <p:nvSpPr>
          <p:cNvPr id="46" name="Text 44"/>
          <p:cNvSpPr txBox="1"/>
          <p:nvPr/>
        </p:nvSpPr>
        <p:spPr>
          <a:xfrm>
            <a:off x="6593432" y="3021939"/>
            <a:ext cx="1765420"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Read supported</a:t>
            </a:r>
            <a:endParaRPr lang="en-US" sz="1680" dirty="0"/>
          </a:p>
        </p:txBody>
      </p:sp>
      <p:sp>
        <p:nvSpPr>
          <p:cNvPr id="47" name="Text 45"/>
          <p:cNvSpPr txBox="1"/>
          <p:nvPr/>
        </p:nvSpPr>
        <p:spPr>
          <a:xfrm>
            <a:off x="6593432" y="3269430"/>
            <a:ext cx="1765420"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media</a:t>
            </a:r>
            <a:endParaRPr lang="en-US" sz="1680" dirty="0"/>
          </a:p>
        </p:txBody>
      </p:sp>
      <p:sp>
        <p:nvSpPr>
          <p:cNvPr id="48" name="Text 46"/>
          <p:cNvSpPr txBox="1"/>
          <p:nvPr/>
        </p:nvSpPr>
        <p:spPr>
          <a:xfrm>
            <a:off x="9087094" y="3021939"/>
            <a:ext cx="2180565"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Generate supported</a:t>
            </a:r>
            <a:endParaRPr lang="en-US" sz="1680" dirty="0"/>
          </a:p>
        </p:txBody>
      </p:sp>
      <p:sp>
        <p:nvSpPr>
          <p:cNvPr id="49" name="Text 47"/>
          <p:cNvSpPr txBox="1"/>
          <p:nvPr/>
        </p:nvSpPr>
        <p:spPr>
          <a:xfrm>
            <a:off x="9087094" y="3269430"/>
            <a:ext cx="2180565"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output</a:t>
            </a:r>
            <a:endParaRPr lang="en-US" sz="1680" dirty="0"/>
          </a:p>
        </p:txBody>
      </p:sp>
      <p:sp>
        <p:nvSpPr>
          <p:cNvPr id="50" name="Text 48"/>
          <p:cNvSpPr txBox="1"/>
          <p:nvPr/>
        </p:nvSpPr>
        <p:spPr>
          <a:xfrm>
            <a:off x="8478181" y="2636669"/>
            <a:ext cx="655979" cy="233741"/>
          </a:xfrm>
          <a:prstGeom prst="rect">
            <a:avLst/>
          </a:prstGeom>
          <a:solidFill>
            <a:srgbClr val="FFFFFF"/>
          </a:solidFill>
          <a:ln/>
        </p:spPr>
        <p:txBody>
          <a:bodyPr wrap="square" lIns="0" tIns="0" rIns="0" bIns="0" rtlCol="0" anchor="ctr"/>
          <a:lstStyle/>
          <a:p>
            <a:pPr algn="ctr" indent="0" marL="0">
              <a:lnSpc>
                <a:spcPct val="116000"/>
              </a:lnSpc>
              <a:buNone/>
            </a:pPr>
            <a:r>
              <a:rPr lang="en-US" sz="1587" dirty="0">
                <a:solidFill>
                  <a:srgbClr val="1F2937"/>
                </a:solidFill>
                <a:latin typeface="Arial" pitchFamily="34" charset="0"/>
                <a:ea typeface="Arial" pitchFamily="34" charset="-122"/>
                <a:cs typeface="Arial" pitchFamily="34" charset="-120"/>
              </a:rPr>
              <a:t>media</a:t>
            </a:r>
            <a:endParaRPr lang="en-US" sz="1587" dirty="0"/>
          </a:p>
        </p:txBody>
      </p:sp>
      <p:sp>
        <p:nvSpPr>
          <p:cNvPr id="51" name="Text 49"/>
          <p:cNvSpPr txBox="1"/>
          <p:nvPr/>
        </p:nvSpPr>
        <p:spPr>
          <a:xfrm>
            <a:off x="949532" y="3807680"/>
            <a:ext cx="2613375" cy="247491"/>
          </a:xfrm>
          <a:prstGeom prst="rect">
            <a:avLst/>
          </a:prstGeom>
          <a:noFill/>
          <a:ln/>
        </p:spPr>
        <p:txBody>
          <a:bodyPr wrap="square" lIns="0" tIns="0" rIns="0" bIns="0" rtlCol="0" anchor="ctr"/>
          <a:lstStyle/>
          <a:p>
            <a:pPr algn="l" indent="0" marL="0">
              <a:lnSpc>
                <a:spcPct val="116000"/>
              </a:lnSpc>
              <a:buNone/>
            </a:pPr>
            <a:r>
              <a:rPr lang="en-US" sz="1680" dirty="0">
                <a:solidFill>
                  <a:srgbClr val="1F2937"/>
                </a:solidFill>
                <a:latin typeface="Arial" pitchFamily="34" charset="0"/>
                <a:ea typeface="Arial" pitchFamily="34" charset="-122"/>
                <a:cs typeface="Arial" pitchFamily="34" charset="-120"/>
              </a:rPr>
              <a:t>Separate pretrained parts</a:t>
            </a:r>
            <a:endParaRPr lang="en-US" sz="1680" dirty="0"/>
          </a:p>
        </p:txBody>
      </p:sp>
      <p:sp>
        <p:nvSpPr>
          <p:cNvPr id="52" name="Text 50"/>
          <p:cNvSpPr txBox="1"/>
          <p:nvPr/>
        </p:nvSpPr>
        <p:spPr>
          <a:xfrm>
            <a:off x="6467297" y="3807680"/>
            <a:ext cx="2728202" cy="247491"/>
          </a:xfrm>
          <a:prstGeom prst="rect">
            <a:avLst/>
          </a:prstGeom>
          <a:noFill/>
          <a:ln/>
        </p:spPr>
        <p:txBody>
          <a:bodyPr wrap="square" lIns="0" tIns="0" rIns="0" bIns="0" rtlCol="0" anchor="ctr"/>
          <a:lstStyle/>
          <a:p>
            <a:pPr algn="l" indent="0" marL="0">
              <a:lnSpc>
                <a:spcPct val="116000"/>
              </a:lnSpc>
              <a:buNone/>
            </a:pPr>
            <a:r>
              <a:rPr lang="en-US" sz="1680" dirty="0">
                <a:solidFill>
                  <a:srgbClr val="1F2937"/>
                </a:solidFill>
                <a:latin typeface="Arial" pitchFamily="34" charset="0"/>
                <a:ea typeface="Arial" pitchFamily="34" charset="-122"/>
                <a:cs typeface="Arial" pitchFamily="34" charset="-120"/>
              </a:rPr>
              <a:t>Checkpoint-specific routes</a:t>
            </a:r>
            <a:endParaRPr lang="en-US" sz="1680" dirty="0"/>
          </a:p>
        </p:txBody>
      </p:sp>
      <p:sp>
        <p:nvSpPr>
          <p:cNvPr id="53" name="Text 51"/>
          <p:cNvSpPr txBox="1"/>
          <p:nvPr/>
        </p:nvSpPr>
        <p:spPr>
          <a:xfrm>
            <a:off x="1130713" y="4422443"/>
            <a:ext cx="532319" cy="233741"/>
          </a:xfrm>
          <a:prstGeom prst="rect">
            <a:avLst/>
          </a:prstGeom>
          <a:noFill/>
          <a:ln/>
        </p:spPr>
        <p:txBody>
          <a:bodyPr wrap="square" lIns="0" tIns="0" rIns="0" bIns="0" rtlCol="0" anchor="ctr"/>
          <a:lstStyle/>
          <a:p>
            <a:pPr algn="l" indent="0" marL="0">
              <a:lnSpc>
                <a:spcPct val="116000"/>
              </a:lnSpc>
              <a:buNone/>
            </a:pPr>
            <a:r>
              <a:rPr lang="en-US" sz="1587" dirty="0">
                <a:solidFill>
                  <a:srgbClr val="1F2937"/>
                </a:solidFill>
                <a:latin typeface="Arial" pitchFamily="34" charset="0"/>
                <a:ea typeface="Arial" pitchFamily="34" charset="-122"/>
                <a:cs typeface="Arial" pitchFamily="34" charset="-120"/>
              </a:rPr>
              <a:t>Data</a:t>
            </a:r>
            <a:endParaRPr lang="en-US" sz="1587" dirty="0"/>
          </a:p>
        </p:txBody>
      </p:sp>
      <p:sp>
        <p:nvSpPr>
          <p:cNvPr id="54" name="Text 52"/>
          <p:cNvSpPr txBox="1"/>
          <p:nvPr/>
        </p:nvSpPr>
        <p:spPr>
          <a:xfrm>
            <a:off x="2448388" y="4422443"/>
            <a:ext cx="655979" cy="233741"/>
          </a:xfrm>
          <a:prstGeom prst="rect">
            <a:avLst/>
          </a:prstGeom>
          <a:noFill/>
          <a:ln/>
        </p:spPr>
        <p:txBody>
          <a:bodyPr wrap="square" lIns="0" tIns="0" rIns="0" bIns="0" rtlCol="0" anchor="ctr"/>
          <a:lstStyle/>
          <a:p>
            <a:pPr algn="l" indent="0" marL="0">
              <a:lnSpc>
                <a:spcPct val="116000"/>
              </a:lnSpc>
              <a:buNone/>
            </a:pPr>
            <a:r>
              <a:rPr lang="en-US" sz="1587" dirty="0">
                <a:solidFill>
                  <a:srgbClr val="1F2937"/>
                </a:solidFill>
                <a:latin typeface="Arial" pitchFamily="34" charset="0"/>
                <a:ea typeface="Arial" pitchFamily="34" charset="-122"/>
                <a:cs typeface="Arial" pitchFamily="34" charset="-120"/>
              </a:rPr>
              <a:t>Model</a:t>
            </a:r>
            <a:endParaRPr lang="en-US" sz="1587" dirty="0"/>
          </a:p>
        </p:txBody>
      </p:sp>
      <p:sp>
        <p:nvSpPr>
          <p:cNvPr id="55" name="Text 53"/>
          <p:cNvSpPr txBox="1"/>
          <p:nvPr/>
        </p:nvSpPr>
        <p:spPr>
          <a:xfrm>
            <a:off x="4326075" y="4422443"/>
            <a:ext cx="532319" cy="233741"/>
          </a:xfrm>
          <a:prstGeom prst="rect">
            <a:avLst/>
          </a:prstGeom>
          <a:noFill/>
          <a:ln/>
        </p:spPr>
        <p:txBody>
          <a:bodyPr wrap="square" lIns="0" tIns="0" rIns="0" bIns="0" rtlCol="0" anchor="ctr"/>
          <a:lstStyle/>
          <a:p>
            <a:pPr algn="l" indent="0" marL="0">
              <a:lnSpc>
                <a:spcPct val="116000"/>
              </a:lnSpc>
              <a:buNone/>
            </a:pPr>
            <a:r>
              <a:rPr lang="en-US" sz="1587" dirty="0">
                <a:solidFill>
                  <a:srgbClr val="1F2937"/>
                </a:solidFill>
                <a:latin typeface="Arial" pitchFamily="34" charset="0"/>
                <a:ea typeface="Arial" pitchFamily="34" charset="-122"/>
                <a:cs typeface="Arial" pitchFamily="34" charset="-120"/>
              </a:rPr>
              <a:t>Flow</a:t>
            </a:r>
            <a:endParaRPr lang="en-US" sz="1587" dirty="0"/>
          </a:p>
        </p:txBody>
      </p:sp>
      <p:sp>
        <p:nvSpPr>
          <p:cNvPr id="56" name="Text 54"/>
          <p:cNvSpPr txBox="1"/>
          <p:nvPr/>
        </p:nvSpPr>
        <p:spPr>
          <a:xfrm>
            <a:off x="548640" y="5066121"/>
            <a:ext cx="11094415" cy="1243239"/>
          </a:xfrm>
          <a:prstGeom prst="rect">
            <a:avLst/>
          </a:prstGeom>
          <a:noFill/>
          <a:ln/>
        </p:spPr>
        <p:txBody>
          <a:bodyPr wrap="square" lIns="50800" tIns="50800" rIns="50800" bIns="50800" rtlCol="0" anchor="t"/>
          <a:lstStyle/>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Check supported inputs and outputs.</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10  ·  MULTIMODAL GENERATIVE AI APPLICATIONS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9</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What multimodal LLMs can do</a:t>
            </a:r>
            <a:endParaRPr lang="en-US" sz="3200" dirty="0"/>
          </a:p>
        </p:txBody>
      </p:sp>
      <p:sp>
        <p:nvSpPr>
          <p:cNvPr id="6" name="Shape 4"/>
          <p:cNvSpPr/>
          <p:nvPr/>
        </p:nvSpPr>
        <p:spPr>
          <a:xfrm>
            <a:off x="548640" y="1481328"/>
            <a:ext cx="3515258" cy="2276856"/>
          </a:xfrm>
          <a:prstGeom prst="roundRect">
            <a:avLst>
              <a:gd name="adj" fmla="val 4819"/>
            </a:avLst>
          </a:prstGeom>
          <a:solidFill>
            <a:srgbClr val="EEF0FF"/>
          </a:solidFill>
          <a:ln w="12700">
            <a:solidFill>
              <a:srgbClr val="EEF0FF"/>
            </a:solidFill>
            <a:prstDash val="solid"/>
          </a:ln>
        </p:spPr>
      </p:sp>
      <p:sp>
        <p:nvSpPr>
          <p:cNvPr id="7" name="Text 5"/>
          <p:cNvSpPr txBox="1"/>
          <p:nvPr/>
        </p:nvSpPr>
        <p:spPr>
          <a:xfrm>
            <a:off x="731520" y="1645920"/>
            <a:ext cx="319521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Caption</a:t>
            </a:r>
            <a:endParaRPr lang="en-US" sz="2100" dirty="0"/>
          </a:p>
        </p:txBody>
      </p:sp>
      <p:sp>
        <p:nvSpPr>
          <p:cNvPr id="8" name="Text 6"/>
          <p:cNvSpPr txBox="1"/>
          <p:nvPr/>
        </p:nvSpPr>
        <p:spPr>
          <a:xfrm>
            <a:off x="731520" y="2304288"/>
            <a:ext cx="3149498" cy="140817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Name visible objects.</a:t>
            </a:r>
            <a:endParaRPr lang="en-US" sz="2200" dirty="0"/>
          </a:p>
        </p:txBody>
      </p:sp>
      <p:sp>
        <p:nvSpPr>
          <p:cNvPr id="9" name="Shape 7"/>
          <p:cNvSpPr/>
          <p:nvPr/>
        </p:nvSpPr>
        <p:spPr>
          <a:xfrm>
            <a:off x="4338218" y="1481328"/>
            <a:ext cx="3515258" cy="2276856"/>
          </a:xfrm>
          <a:prstGeom prst="roundRect">
            <a:avLst>
              <a:gd name="adj" fmla="val 4819"/>
            </a:avLst>
          </a:prstGeom>
          <a:solidFill>
            <a:srgbClr val="F5F3FF"/>
          </a:solidFill>
          <a:ln w="12700">
            <a:solidFill>
              <a:srgbClr val="EEF0FF"/>
            </a:solidFill>
            <a:prstDash val="solid"/>
          </a:ln>
        </p:spPr>
      </p:sp>
      <p:sp>
        <p:nvSpPr>
          <p:cNvPr id="10" name="Text 8"/>
          <p:cNvSpPr txBox="1"/>
          <p:nvPr/>
        </p:nvSpPr>
        <p:spPr>
          <a:xfrm>
            <a:off x="4521098" y="1645920"/>
            <a:ext cx="319521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Documents</a:t>
            </a:r>
            <a:endParaRPr lang="en-US" sz="2100" dirty="0"/>
          </a:p>
        </p:txBody>
      </p:sp>
      <p:sp>
        <p:nvSpPr>
          <p:cNvPr id="11" name="Text 9"/>
          <p:cNvSpPr txBox="1"/>
          <p:nvPr/>
        </p:nvSpPr>
        <p:spPr>
          <a:xfrm>
            <a:off x="4521098" y="2304288"/>
            <a:ext cx="3149498" cy="140817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Extract checked fields.</a:t>
            </a:r>
            <a:endParaRPr lang="en-US" sz="2200" dirty="0"/>
          </a:p>
        </p:txBody>
      </p:sp>
      <p:sp>
        <p:nvSpPr>
          <p:cNvPr id="12" name="Shape 10"/>
          <p:cNvSpPr/>
          <p:nvPr/>
        </p:nvSpPr>
        <p:spPr>
          <a:xfrm>
            <a:off x="8127797" y="1481328"/>
            <a:ext cx="3515258" cy="2276856"/>
          </a:xfrm>
          <a:prstGeom prst="roundRect">
            <a:avLst>
              <a:gd name="adj" fmla="val 4819"/>
            </a:avLst>
          </a:prstGeom>
          <a:solidFill>
            <a:srgbClr val="EEF0FF"/>
          </a:solidFill>
          <a:ln w="12700">
            <a:solidFill>
              <a:srgbClr val="EEF0FF"/>
            </a:solidFill>
            <a:prstDash val="solid"/>
          </a:ln>
        </p:spPr>
      </p:sp>
      <p:sp>
        <p:nvSpPr>
          <p:cNvPr id="13" name="Text 11"/>
          <p:cNvSpPr txBox="1"/>
          <p:nvPr/>
        </p:nvSpPr>
        <p:spPr>
          <a:xfrm>
            <a:off x="8310677" y="1645920"/>
            <a:ext cx="319521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Charts</a:t>
            </a:r>
            <a:endParaRPr lang="en-US" sz="2100" dirty="0"/>
          </a:p>
        </p:txBody>
      </p:sp>
      <p:sp>
        <p:nvSpPr>
          <p:cNvPr id="14" name="Text 12"/>
          <p:cNvSpPr txBox="1"/>
          <p:nvPr/>
        </p:nvSpPr>
        <p:spPr>
          <a:xfrm>
            <a:off x="8310677" y="2304288"/>
            <a:ext cx="3149498" cy="140817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Read axes; compute sums.</a:t>
            </a:r>
            <a:endParaRPr lang="en-US" sz="2200" dirty="0"/>
          </a:p>
        </p:txBody>
      </p:sp>
      <p:sp>
        <p:nvSpPr>
          <p:cNvPr id="15" name="Shape 13"/>
          <p:cNvSpPr/>
          <p:nvPr/>
        </p:nvSpPr>
        <p:spPr>
          <a:xfrm>
            <a:off x="548640" y="4032504"/>
            <a:ext cx="3515258" cy="2276856"/>
          </a:xfrm>
          <a:prstGeom prst="roundRect">
            <a:avLst>
              <a:gd name="adj" fmla="val 4819"/>
            </a:avLst>
          </a:prstGeom>
          <a:solidFill>
            <a:srgbClr val="F5F3FF"/>
          </a:solidFill>
          <a:ln w="12700">
            <a:solidFill>
              <a:srgbClr val="EEF0FF"/>
            </a:solidFill>
            <a:prstDash val="solid"/>
          </a:ln>
        </p:spPr>
      </p:sp>
      <p:sp>
        <p:nvSpPr>
          <p:cNvPr id="16" name="Text 14"/>
          <p:cNvSpPr txBox="1"/>
          <p:nvPr/>
        </p:nvSpPr>
        <p:spPr>
          <a:xfrm>
            <a:off x="731520" y="4197096"/>
            <a:ext cx="319521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Video</a:t>
            </a:r>
            <a:endParaRPr lang="en-US" sz="2100" dirty="0"/>
          </a:p>
        </p:txBody>
      </p:sp>
      <p:sp>
        <p:nvSpPr>
          <p:cNvPr id="17" name="Text 15"/>
          <p:cNvSpPr txBox="1"/>
          <p:nvPr/>
        </p:nvSpPr>
        <p:spPr>
          <a:xfrm>
            <a:off x="731520" y="4855464"/>
            <a:ext cx="3149498" cy="140817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Inspect sampled frames.</a:t>
            </a:r>
            <a:endParaRPr lang="en-US" sz="2200" dirty="0"/>
          </a:p>
        </p:txBody>
      </p:sp>
      <p:sp>
        <p:nvSpPr>
          <p:cNvPr id="18" name="Shape 16"/>
          <p:cNvSpPr/>
          <p:nvPr/>
        </p:nvSpPr>
        <p:spPr>
          <a:xfrm>
            <a:off x="4338218" y="4032504"/>
            <a:ext cx="3515258" cy="2276856"/>
          </a:xfrm>
          <a:prstGeom prst="roundRect">
            <a:avLst>
              <a:gd name="adj" fmla="val 4819"/>
            </a:avLst>
          </a:prstGeom>
          <a:solidFill>
            <a:srgbClr val="EEF0FF"/>
          </a:solidFill>
          <a:ln w="12700">
            <a:solidFill>
              <a:srgbClr val="EEF0FF"/>
            </a:solidFill>
            <a:prstDash val="solid"/>
          </a:ln>
        </p:spPr>
      </p:sp>
      <p:sp>
        <p:nvSpPr>
          <p:cNvPr id="19" name="Text 17"/>
          <p:cNvSpPr txBox="1"/>
          <p:nvPr/>
        </p:nvSpPr>
        <p:spPr>
          <a:xfrm>
            <a:off x="4521098" y="4197096"/>
            <a:ext cx="319521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Speech</a:t>
            </a:r>
            <a:endParaRPr lang="en-US" sz="2100" dirty="0"/>
          </a:p>
        </p:txBody>
      </p:sp>
      <p:sp>
        <p:nvSpPr>
          <p:cNvPr id="20" name="Text 18"/>
          <p:cNvSpPr txBox="1"/>
          <p:nvPr/>
        </p:nvSpPr>
        <p:spPr>
          <a:xfrm>
            <a:off x="4521098" y="4855464"/>
            <a:ext cx="3149498" cy="140817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Check names and numbers.</a:t>
            </a:r>
            <a:endParaRPr lang="en-US" sz="2200" dirty="0"/>
          </a:p>
        </p:txBody>
      </p:sp>
      <p:sp>
        <p:nvSpPr>
          <p:cNvPr id="21" name="Shape 19"/>
          <p:cNvSpPr/>
          <p:nvPr/>
        </p:nvSpPr>
        <p:spPr>
          <a:xfrm>
            <a:off x="8127797" y="4032504"/>
            <a:ext cx="3515258" cy="2276856"/>
          </a:xfrm>
          <a:prstGeom prst="roundRect">
            <a:avLst>
              <a:gd name="adj" fmla="val 4819"/>
            </a:avLst>
          </a:prstGeom>
          <a:solidFill>
            <a:srgbClr val="F5F3FF"/>
          </a:solidFill>
          <a:ln w="12700">
            <a:solidFill>
              <a:srgbClr val="EEF0FF"/>
            </a:solidFill>
            <a:prstDash val="solid"/>
          </a:ln>
        </p:spPr>
      </p:sp>
      <p:sp>
        <p:nvSpPr>
          <p:cNvPr id="22" name="Text 20"/>
          <p:cNvSpPr txBox="1"/>
          <p:nvPr/>
        </p:nvSpPr>
        <p:spPr>
          <a:xfrm>
            <a:off x="8310677" y="4197096"/>
            <a:ext cx="319521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Screens</a:t>
            </a:r>
            <a:endParaRPr lang="en-US" sz="2100" dirty="0"/>
          </a:p>
        </p:txBody>
      </p:sp>
      <p:sp>
        <p:nvSpPr>
          <p:cNvPr id="23" name="Text 21"/>
          <p:cNvSpPr txBox="1"/>
          <p:nvPr/>
        </p:nvSpPr>
        <p:spPr>
          <a:xfrm>
            <a:off x="8310677" y="4855464"/>
            <a:ext cx="3149498" cy="140817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Approve consequential actions.</a:t>
            </a:r>
            <a:endParaRPr lang="en-US" sz="2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10  ·  MULTIMODAL GENERATIVE AI APPLICATIONS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10</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Multimodal model families (examples, 2026)</a:t>
            </a:r>
            <a:endParaRPr lang="en-US" sz="3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4415" cy="914400"/>
        </p:xfrm>
        <a:graphic>
          <a:graphicData uri="http://schemas.openxmlformats.org/drawingml/2006/table">
            <a:tbl>
              <a:tblPr/>
              <a:tblGrid>
                <a:gridCol w="3598189"/>
                <a:gridCol w="2398792"/>
                <a:gridCol w="5097434"/>
              </a:tblGrid>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Family</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Access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Route</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GPT</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Hosted</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Endpoint-specific</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Gemini</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Hosted</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Endpoint-specific</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Claude</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Hosted</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Image→text</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Qwen-VL/Omni</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Weights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Variant-specific</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LLaVA</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Research</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Image→text</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SmolVLM</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Weights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Image→text</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bl>
          </a:graphicData>
        </a:graphic>
      </p:graphicFrame>
      <p:sp>
        <p:nvSpPr>
          <p:cNvPr id="7" name="Shape 4"/>
          <p:cNvSpPr/>
          <p:nvPr/>
        </p:nvSpPr>
        <p:spPr>
          <a:xfrm>
            <a:off x="548640" y="5486400"/>
            <a:ext cx="11094415" cy="822960"/>
          </a:xfrm>
          <a:prstGeom prst="roundRect">
            <a:avLst>
              <a:gd name="adj" fmla="val 13333"/>
            </a:avLst>
          </a:prstGeom>
          <a:solidFill>
            <a:srgbClr val="FFF1E6"/>
          </a:solidFill>
          <a:ln w="12700">
            <a:solidFill>
              <a:srgbClr val="FFF1E6"/>
            </a:solidFill>
            <a:prstDash val="solid"/>
          </a:ln>
        </p:spPr>
      </p:sp>
      <p:sp>
        <p:nvSpPr>
          <p:cNvPr id="8" name="Text 5"/>
          <p:cNvSpPr txBox="1"/>
          <p:nvPr/>
        </p:nvSpPr>
        <p:spPr>
          <a:xfrm>
            <a:off x="777240" y="5486400"/>
            <a:ext cx="10637215" cy="822960"/>
          </a:xfrm>
          <a:prstGeom prst="rect">
            <a:avLst/>
          </a:prstGeom>
          <a:noFill/>
          <a:ln/>
        </p:spPr>
        <p:txBody>
          <a:bodyPr wrap="square" lIns="50800" tIns="50800" rIns="50800" bIns="50800" rtlCol="0" anchor="ctr"/>
          <a:lstStyle/>
          <a:p>
            <a:pPr indent="0" marL="0">
              <a:buNone/>
            </a:pPr>
            <a:r>
              <a:rPr lang="en-US" sz="2000" b="1" dirty="0">
                <a:solidFill>
                  <a:srgbClr val="EA580C"/>
                </a:solidFill>
                <a:latin typeface="Calibri" pitchFamily="34" charset="0"/>
                <a:ea typeface="Calibri" pitchFamily="34" charset="-122"/>
                <a:cs typeface="Calibri" pitchFamily="34" charset="-120"/>
              </a:rPr>
              <a:t>Key idea:  </a:t>
            </a:r>
            <a:pPr indent="0" marL="0">
              <a:buNone/>
            </a:pPr>
            <a:r>
              <a:rPr lang="en-US" sz="2000" dirty="0">
                <a:solidFill>
                  <a:srgbClr val="1F2937"/>
                </a:solidFill>
                <a:latin typeface="Calibri" pitchFamily="34" charset="0"/>
                <a:ea typeface="Calibri" pitchFamily="34" charset="-122"/>
                <a:cs typeface="Calibri" pitchFamily="34" charset="-120"/>
              </a:rPr>
              <a:t>Check exact checkpoint and licence.</a:t>
            </a:r>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10  ·  MULTIMODAL GENERATIVE AI APPLICATIONS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11</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From picture and question to words</a:t>
            </a:r>
            <a:endParaRPr lang="en-US" sz="3200" dirty="0"/>
          </a:p>
        </p:txBody>
      </p:sp>
      <p:sp>
        <p:nvSpPr>
          <p:cNvPr id="6" name="Text 4"/>
          <p:cNvSpPr txBox="1"/>
          <p:nvPr/>
        </p:nvSpPr>
        <p:spPr>
          <a:xfrm>
            <a:off x="548640" y="1463040"/>
            <a:ext cx="11094415" cy="384048"/>
          </a:xfrm>
          <a:prstGeom prst="rect">
            <a:avLst/>
          </a:prstGeom>
          <a:noFill/>
          <a:ln/>
        </p:spPr>
        <p:txBody>
          <a:bodyPr wrap="square" lIns="0" tIns="0" rIns="0" bIns="0" rtlCol="0" anchor="t"/>
          <a:lstStyle/>
          <a:p>
            <a:pPr indent="0" marL="0">
              <a:buNone/>
            </a:pPr>
            <a:r>
              <a:rPr lang="en-US" sz="1800" dirty="0">
                <a:solidFill>
                  <a:srgbClr val="6B7280"/>
                </a:solidFill>
                <a:latin typeface="Calibri" pitchFamily="34" charset="0"/>
                <a:ea typeface="Calibri" pitchFamily="34" charset="-122"/>
                <a:cs typeface="Calibri" pitchFamily="34" charset="-120"/>
              </a:rPr>
              <a:t>VLM inference</a:t>
            </a:r>
            <a:endParaRPr lang="en-US" sz="1800" dirty="0"/>
          </a:p>
        </p:txBody>
      </p:sp>
      <p:sp>
        <p:nvSpPr>
          <p:cNvPr id="7" name="Shape 5"/>
          <p:cNvSpPr/>
          <p:nvPr/>
        </p:nvSpPr>
        <p:spPr>
          <a:xfrm>
            <a:off x="3259068" y="3838927"/>
            <a:ext cx="244024" cy="0"/>
          </a:xfrm>
          <a:prstGeom prst="line">
            <a:avLst/>
          </a:prstGeom>
          <a:noFill/>
          <a:ln w="22860">
            <a:solidFill>
              <a:srgbClr val="009E73"/>
            </a:solidFill>
            <a:prstDash val="solid"/>
            <a:tailEnd type="triangle"/>
          </a:ln>
        </p:spPr>
      </p:sp>
      <p:sp>
        <p:nvSpPr>
          <p:cNvPr id="8" name="Text 6"/>
          <p:cNvSpPr txBox="1"/>
          <p:nvPr/>
        </p:nvSpPr>
        <p:spPr>
          <a:xfrm>
            <a:off x="2580376"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pixels</a:t>
            </a:r>
            <a:endParaRPr lang="en-US" sz="1441" dirty="0"/>
          </a:p>
        </p:txBody>
      </p:sp>
      <p:sp>
        <p:nvSpPr>
          <p:cNvPr id="9" name="Shape 7"/>
          <p:cNvSpPr/>
          <p:nvPr/>
        </p:nvSpPr>
        <p:spPr>
          <a:xfrm>
            <a:off x="5973836" y="3838927"/>
            <a:ext cx="244024" cy="0"/>
          </a:xfrm>
          <a:prstGeom prst="line">
            <a:avLst/>
          </a:prstGeom>
          <a:noFill/>
          <a:ln w="22860">
            <a:solidFill>
              <a:srgbClr val="009E73"/>
            </a:solidFill>
            <a:prstDash val="solid"/>
            <a:tailEnd type="triangle"/>
          </a:ln>
        </p:spPr>
      </p:sp>
      <p:sp>
        <p:nvSpPr>
          <p:cNvPr id="10" name="Text 8"/>
          <p:cNvSpPr txBox="1"/>
          <p:nvPr/>
        </p:nvSpPr>
        <p:spPr>
          <a:xfrm>
            <a:off x="5295144"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features</a:t>
            </a:r>
            <a:endParaRPr lang="en-US" sz="1441" dirty="0"/>
          </a:p>
        </p:txBody>
      </p:sp>
      <p:sp>
        <p:nvSpPr>
          <p:cNvPr id="11" name="Shape 9"/>
          <p:cNvSpPr/>
          <p:nvPr/>
        </p:nvSpPr>
        <p:spPr>
          <a:xfrm>
            <a:off x="8688603" y="3838927"/>
            <a:ext cx="244024" cy="0"/>
          </a:xfrm>
          <a:prstGeom prst="line">
            <a:avLst/>
          </a:prstGeom>
          <a:noFill/>
          <a:ln w="22860">
            <a:solidFill>
              <a:srgbClr val="009E73"/>
            </a:solidFill>
            <a:prstDash val="solid"/>
            <a:tailEnd type="triangle"/>
          </a:ln>
        </p:spPr>
      </p:sp>
      <p:sp>
        <p:nvSpPr>
          <p:cNvPr id="12" name="Text 10"/>
          <p:cNvSpPr txBox="1"/>
          <p:nvPr/>
        </p:nvSpPr>
        <p:spPr>
          <a:xfrm>
            <a:off x="8009911"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IDs</a:t>
            </a:r>
            <a:endParaRPr lang="en-US" sz="1441" dirty="0"/>
          </a:p>
        </p:txBody>
      </p:sp>
      <p:sp>
        <p:nvSpPr>
          <p:cNvPr id="13" name="Shape 11"/>
          <p:cNvSpPr/>
          <p:nvPr/>
        </p:nvSpPr>
        <p:spPr>
          <a:xfrm>
            <a:off x="2023697" y="4738766"/>
            <a:ext cx="0" cy="198270"/>
          </a:xfrm>
          <a:prstGeom prst="line">
            <a:avLst/>
          </a:prstGeom>
          <a:noFill/>
          <a:ln w="22860">
            <a:solidFill>
              <a:srgbClr val="0072B2"/>
            </a:solidFill>
            <a:prstDash val="solid"/>
          </a:ln>
        </p:spPr>
      </p:sp>
      <p:sp>
        <p:nvSpPr>
          <p:cNvPr id="14" name="Shape 12"/>
          <p:cNvSpPr/>
          <p:nvPr/>
        </p:nvSpPr>
        <p:spPr>
          <a:xfrm>
            <a:off x="2023697" y="4937035"/>
            <a:ext cx="5429535" cy="0"/>
          </a:xfrm>
          <a:prstGeom prst="line">
            <a:avLst/>
          </a:prstGeom>
          <a:noFill/>
          <a:ln w="22860">
            <a:solidFill>
              <a:srgbClr val="0072B2"/>
            </a:solidFill>
            <a:prstDash val="solid"/>
          </a:ln>
        </p:spPr>
      </p:sp>
      <p:sp>
        <p:nvSpPr>
          <p:cNvPr id="15" name="Shape 13"/>
          <p:cNvSpPr/>
          <p:nvPr/>
        </p:nvSpPr>
        <p:spPr>
          <a:xfrm flipV="1">
            <a:off x="7453231" y="4738766"/>
            <a:ext cx="0" cy="198270"/>
          </a:xfrm>
          <a:prstGeom prst="line">
            <a:avLst/>
          </a:prstGeom>
          <a:noFill/>
          <a:ln w="22860">
            <a:solidFill>
              <a:srgbClr val="0072B2"/>
            </a:solidFill>
            <a:prstDash val="solid"/>
            <a:tailEnd type="triangle"/>
          </a:ln>
        </p:spPr>
      </p:sp>
      <p:sp>
        <p:nvSpPr>
          <p:cNvPr id="16" name="Text 14"/>
          <p:cNvSpPr txBox="1"/>
          <p:nvPr/>
        </p:nvSpPr>
        <p:spPr>
          <a:xfrm>
            <a:off x="4044599" y="4967538"/>
            <a:ext cx="1387729" cy="228773"/>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question tokens</a:t>
            </a:r>
            <a:endParaRPr lang="en-US" sz="1441" dirty="0"/>
          </a:p>
        </p:txBody>
      </p:sp>
      <p:sp>
        <p:nvSpPr>
          <p:cNvPr id="17" name="Shape 15"/>
          <p:cNvSpPr/>
          <p:nvPr/>
        </p:nvSpPr>
        <p:spPr>
          <a:xfrm flipV="1">
            <a:off x="7605746" y="2191765"/>
            <a:ext cx="0" cy="747324"/>
          </a:xfrm>
          <a:prstGeom prst="line">
            <a:avLst/>
          </a:prstGeom>
          <a:noFill/>
          <a:ln w="22860">
            <a:solidFill>
              <a:srgbClr val="D55E00"/>
            </a:solidFill>
            <a:prstDash val="dash"/>
          </a:ln>
        </p:spPr>
      </p:sp>
      <p:sp>
        <p:nvSpPr>
          <p:cNvPr id="18" name="Shape 16"/>
          <p:cNvSpPr/>
          <p:nvPr/>
        </p:nvSpPr>
        <p:spPr>
          <a:xfrm flipH="1">
            <a:off x="7300716" y="2191765"/>
            <a:ext cx="305030" cy="0"/>
          </a:xfrm>
          <a:prstGeom prst="line">
            <a:avLst/>
          </a:prstGeom>
          <a:noFill/>
          <a:ln w="22860">
            <a:solidFill>
              <a:srgbClr val="D55E00"/>
            </a:solidFill>
            <a:prstDash val="dash"/>
          </a:ln>
        </p:spPr>
      </p:sp>
      <p:sp>
        <p:nvSpPr>
          <p:cNvPr id="19" name="Shape 17"/>
          <p:cNvSpPr/>
          <p:nvPr/>
        </p:nvSpPr>
        <p:spPr>
          <a:xfrm>
            <a:off x="7300716" y="2191765"/>
            <a:ext cx="0" cy="747324"/>
          </a:xfrm>
          <a:prstGeom prst="line">
            <a:avLst/>
          </a:prstGeom>
          <a:noFill/>
          <a:ln w="22860">
            <a:solidFill>
              <a:srgbClr val="D55E00"/>
            </a:solidFill>
            <a:prstDash val="dash"/>
            <a:tailEnd type="triangle"/>
          </a:ln>
        </p:spPr>
      </p:sp>
      <p:sp>
        <p:nvSpPr>
          <p:cNvPr id="20" name="Text 18"/>
          <p:cNvSpPr txBox="1"/>
          <p:nvPr/>
        </p:nvSpPr>
        <p:spPr>
          <a:xfrm>
            <a:off x="7191158" y="1917238"/>
            <a:ext cx="524147" cy="228773"/>
          </a:xfrm>
          <a:prstGeom prst="rect">
            <a:avLst/>
          </a:prstGeom>
          <a:noFill/>
          <a:ln/>
        </p:spPr>
        <p:txBody>
          <a:bodyPr wrap="square" lIns="0" tIns="0" rIns="0" bIns="0" rtlCol="0" anchor="ctr"/>
          <a:lstStyle/>
          <a:p>
            <a:pPr algn="ctr" indent="0" marL="0">
              <a:lnSpc>
                <a:spcPct val="116000"/>
              </a:lnSpc>
              <a:buNone/>
            </a:pPr>
            <a:r>
              <a:rPr lang="en-US" sz="1441" dirty="0">
                <a:solidFill>
                  <a:srgbClr val="A64200"/>
                </a:solidFill>
                <a:latin typeface="Arial" pitchFamily="34" charset="0"/>
                <a:ea typeface="Arial" pitchFamily="34" charset="-122"/>
                <a:cs typeface="Arial" pitchFamily="34" charset="-120"/>
              </a:rPr>
              <a:t>prefix</a:t>
            </a:r>
            <a:endParaRPr lang="en-US" sz="1441" dirty="0"/>
          </a:p>
        </p:txBody>
      </p:sp>
      <p:sp>
        <p:nvSpPr>
          <p:cNvPr id="21" name="Shape 19"/>
          <p:cNvSpPr/>
          <p:nvPr/>
        </p:nvSpPr>
        <p:spPr>
          <a:xfrm>
            <a:off x="788325" y="2939089"/>
            <a:ext cx="2470743" cy="1799677"/>
          </a:xfrm>
          <a:prstGeom prst="roundRect">
            <a:avLst>
              <a:gd name="adj" fmla="val 4065"/>
            </a:avLst>
          </a:prstGeom>
          <a:solidFill>
            <a:srgbClr val="E4F2FB"/>
          </a:solidFill>
          <a:ln w="15240">
            <a:solidFill>
              <a:srgbClr val="0072B2"/>
            </a:solidFill>
            <a:prstDash val="solid"/>
          </a:ln>
        </p:spPr>
      </p:sp>
      <p:sp>
        <p:nvSpPr>
          <p:cNvPr id="22" name="Text 20"/>
          <p:cNvSpPr txBox="1"/>
          <p:nvPr/>
        </p:nvSpPr>
        <p:spPr>
          <a:xfrm>
            <a:off x="849331" y="3579652"/>
            <a:ext cx="2348731"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Prepare input</a:t>
            </a:r>
            <a:endParaRPr lang="en-US" sz="1561" dirty="0"/>
          </a:p>
        </p:txBody>
      </p:sp>
      <p:sp>
        <p:nvSpPr>
          <p:cNvPr id="23" name="Text 21"/>
          <p:cNvSpPr txBox="1"/>
          <p:nvPr/>
        </p:nvSpPr>
        <p:spPr>
          <a:xfrm>
            <a:off x="849331" y="3885902"/>
            <a:ext cx="2348731"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Pixels; tokens</a:t>
            </a:r>
            <a:endParaRPr lang="en-US" sz="1441" dirty="0"/>
          </a:p>
        </p:txBody>
      </p:sp>
      <p:sp>
        <p:nvSpPr>
          <p:cNvPr id="24" name="Shape 22"/>
          <p:cNvSpPr/>
          <p:nvPr/>
        </p:nvSpPr>
        <p:spPr>
          <a:xfrm>
            <a:off x="3503092" y="2939089"/>
            <a:ext cx="2470743" cy="1799677"/>
          </a:xfrm>
          <a:prstGeom prst="rect">
            <a:avLst/>
          </a:prstGeom>
          <a:solidFill>
            <a:srgbClr val="E5F7EF"/>
          </a:solidFill>
          <a:ln w="15240">
            <a:solidFill>
              <a:srgbClr val="009E73"/>
            </a:solidFill>
            <a:prstDash val="solid"/>
          </a:ln>
        </p:spPr>
      </p:sp>
      <p:sp>
        <p:nvSpPr>
          <p:cNvPr id="25" name="Text 23"/>
          <p:cNvSpPr txBox="1"/>
          <p:nvPr/>
        </p:nvSpPr>
        <p:spPr>
          <a:xfrm>
            <a:off x="3564098" y="3579652"/>
            <a:ext cx="2348731"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Encode pixels</a:t>
            </a:r>
            <a:endParaRPr lang="en-US" sz="1561" dirty="0"/>
          </a:p>
        </p:txBody>
      </p:sp>
      <p:sp>
        <p:nvSpPr>
          <p:cNvPr id="26" name="Text 24"/>
          <p:cNvSpPr txBox="1"/>
          <p:nvPr/>
        </p:nvSpPr>
        <p:spPr>
          <a:xfrm>
            <a:off x="3564098" y="3885902"/>
            <a:ext cx="2348731"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Visual features</a:t>
            </a:r>
            <a:endParaRPr lang="en-US" sz="1441" dirty="0"/>
          </a:p>
        </p:txBody>
      </p:sp>
      <p:sp>
        <p:nvSpPr>
          <p:cNvPr id="27" name="Shape 25"/>
          <p:cNvSpPr/>
          <p:nvPr/>
        </p:nvSpPr>
        <p:spPr>
          <a:xfrm>
            <a:off x="6217860" y="2939089"/>
            <a:ext cx="2470743" cy="1799677"/>
          </a:xfrm>
          <a:prstGeom prst="rect">
            <a:avLst/>
          </a:prstGeom>
          <a:solidFill>
            <a:srgbClr val="E5F7EF"/>
          </a:solidFill>
          <a:ln w="15240">
            <a:solidFill>
              <a:srgbClr val="009E73"/>
            </a:solidFill>
            <a:prstDash val="solid"/>
          </a:ln>
        </p:spPr>
      </p:sp>
      <p:sp>
        <p:nvSpPr>
          <p:cNvPr id="28" name="Text 26"/>
          <p:cNvSpPr txBox="1"/>
          <p:nvPr/>
        </p:nvSpPr>
        <p:spPr>
          <a:xfrm>
            <a:off x="6278866" y="3579652"/>
            <a:ext cx="2348731"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Predict answer</a:t>
            </a:r>
            <a:endParaRPr lang="en-US" sz="1561" dirty="0"/>
          </a:p>
        </p:txBody>
      </p:sp>
      <p:sp>
        <p:nvSpPr>
          <p:cNvPr id="29" name="Text 27"/>
          <p:cNvSpPr txBox="1"/>
          <p:nvPr/>
        </p:nvSpPr>
        <p:spPr>
          <a:xfrm>
            <a:off x="6278866" y="3885902"/>
            <a:ext cx="2348731"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Extend prefix</a:t>
            </a:r>
            <a:endParaRPr lang="en-US" sz="1441" dirty="0"/>
          </a:p>
        </p:txBody>
      </p:sp>
      <p:sp>
        <p:nvSpPr>
          <p:cNvPr id="30" name="Shape 28"/>
          <p:cNvSpPr/>
          <p:nvPr/>
        </p:nvSpPr>
        <p:spPr>
          <a:xfrm>
            <a:off x="8932627" y="2939089"/>
            <a:ext cx="2470743" cy="1799677"/>
          </a:xfrm>
          <a:prstGeom prst="roundRect">
            <a:avLst>
              <a:gd name="adj" fmla="val 4065"/>
            </a:avLst>
          </a:prstGeom>
          <a:solidFill>
            <a:srgbClr val="F9EAF4"/>
          </a:solidFill>
          <a:ln w="15240">
            <a:solidFill>
              <a:srgbClr val="CC79A7"/>
            </a:solidFill>
            <a:prstDash val="solid"/>
          </a:ln>
        </p:spPr>
      </p:sp>
      <p:sp>
        <p:nvSpPr>
          <p:cNvPr id="31" name="Text 29"/>
          <p:cNvSpPr txBox="1"/>
          <p:nvPr/>
        </p:nvSpPr>
        <p:spPr>
          <a:xfrm>
            <a:off x="8993633" y="3579652"/>
            <a:ext cx="2348731"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Decode answer</a:t>
            </a:r>
            <a:endParaRPr lang="en-US" sz="1561" dirty="0"/>
          </a:p>
        </p:txBody>
      </p:sp>
      <p:sp>
        <p:nvSpPr>
          <p:cNvPr id="32" name="Text 30"/>
          <p:cNvSpPr txBox="1"/>
          <p:nvPr/>
        </p:nvSpPr>
        <p:spPr>
          <a:xfrm>
            <a:off x="8993633" y="3885902"/>
            <a:ext cx="2348731"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New words</a:t>
            </a:r>
            <a:endParaRPr lang="en-US" sz="1441" dirty="0"/>
          </a:p>
        </p:txBody>
      </p:sp>
      <p:sp>
        <p:nvSpPr>
          <p:cNvPr id="33" name="Shape 31"/>
          <p:cNvSpPr/>
          <p:nvPr/>
        </p:nvSpPr>
        <p:spPr>
          <a:xfrm>
            <a:off x="788325" y="5630979"/>
            <a:ext cx="198270" cy="198270"/>
          </a:xfrm>
          <a:prstGeom prst="roundRect">
            <a:avLst>
              <a:gd name="adj" fmla="val 36895"/>
            </a:avLst>
          </a:prstGeom>
          <a:solidFill>
            <a:srgbClr val="E4F2FB"/>
          </a:solidFill>
          <a:ln w="15240">
            <a:solidFill>
              <a:srgbClr val="0072B2"/>
            </a:solidFill>
            <a:prstDash val="solid"/>
          </a:ln>
        </p:spPr>
      </p:sp>
      <p:sp>
        <p:nvSpPr>
          <p:cNvPr id="34" name="Text 32"/>
          <p:cNvSpPr txBox="1"/>
          <p:nvPr/>
        </p:nvSpPr>
        <p:spPr>
          <a:xfrm>
            <a:off x="1047600" y="5608101"/>
            <a:ext cx="43056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Data</a:t>
            </a:r>
            <a:endParaRPr lang="en-US" sz="1441" dirty="0"/>
          </a:p>
        </p:txBody>
      </p:sp>
      <p:sp>
        <p:nvSpPr>
          <p:cNvPr id="35" name="Shape 33"/>
          <p:cNvSpPr/>
          <p:nvPr/>
        </p:nvSpPr>
        <p:spPr>
          <a:xfrm>
            <a:off x="1676436" y="5630979"/>
            <a:ext cx="198270" cy="198270"/>
          </a:xfrm>
          <a:prstGeom prst="rect">
            <a:avLst/>
          </a:prstGeom>
          <a:solidFill>
            <a:srgbClr val="E5F7EF"/>
          </a:solidFill>
          <a:ln w="15240">
            <a:solidFill>
              <a:srgbClr val="009E73"/>
            </a:solidFill>
            <a:prstDash val="solid"/>
          </a:ln>
        </p:spPr>
      </p:sp>
      <p:sp>
        <p:nvSpPr>
          <p:cNvPr id="36" name="Text 34"/>
          <p:cNvSpPr txBox="1"/>
          <p:nvPr/>
        </p:nvSpPr>
        <p:spPr>
          <a:xfrm>
            <a:off x="1935711" y="5608101"/>
            <a:ext cx="546304"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Model</a:t>
            </a:r>
            <a:endParaRPr lang="en-US" sz="1441" dirty="0"/>
          </a:p>
        </p:txBody>
      </p:sp>
      <p:sp>
        <p:nvSpPr>
          <p:cNvPr id="37" name="Shape 35"/>
          <p:cNvSpPr/>
          <p:nvPr/>
        </p:nvSpPr>
        <p:spPr>
          <a:xfrm>
            <a:off x="2680284" y="5630979"/>
            <a:ext cx="198270" cy="198270"/>
          </a:xfrm>
          <a:prstGeom prst="roundRect">
            <a:avLst>
              <a:gd name="adj" fmla="val 36895"/>
            </a:avLst>
          </a:prstGeom>
          <a:solidFill>
            <a:srgbClr val="F9EAF4"/>
          </a:solidFill>
          <a:ln w="15240">
            <a:solidFill>
              <a:srgbClr val="CC79A7"/>
            </a:solidFill>
            <a:prstDash val="solid"/>
          </a:ln>
        </p:spPr>
      </p:sp>
      <p:sp>
        <p:nvSpPr>
          <p:cNvPr id="38" name="Text 36"/>
          <p:cNvSpPr txBox="1"/>
          <p:nvPr/>
        </p:nvSpPr>
        <p:spPr>
          <a:xfrm>
            <a:off x="2939560" y="5608101"/>
            <a:ext cx="599153"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Output</a:t>
            </a:r>
            <a:endParaRPr lang="en-US" sz="1441" dirty="0"/>
          </a:p>
        </p:txBody>
      </p:sp>
      <p:sp>
        <p:nvSpPr>
          <p:cNvPr id="39" name="Shape 37"/>
          <p:cNvSpPr/>
          <p:nvPr/>
        </p:nvSpPr>
        <p:spPr>
          <a:xfrm>
            <a:off x="3736982" y="5730113"/>
            <a:ext cx="335533" cy="0"/>
          </a:xfrm>
          <a:prstGeom prst="line">
            <a:avLst/>
          </a:prstGeom>
          <a:noFill/>
          <a:ln w="22860">
            <a:solidFill>
              <a:srgbClr val="009E73"/>
            </a:solidFill>
            <a:prstDash val="solid"/>
            <a:tailEnd type="triangle"/>
          </a:ln>
        </p:spPr>
      </p:sp>
      <p:sp>
        <p:nvSpPr>
          <p:cNvPr id="40" name="Text 38"/>
          <p:cNvSpPr txBox="1"/>
          <p:nvPr/>
        </p:nvSpPr>
        <p:spPr>
          <a:xfrm>
            <a:off x="4133521" y="5608101"/>
            <a:ext cx="43037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Flow</a:t>
            </a:r>
            <a:endParaRPr lang="en-US" sz="1441" dirty="0"/>
          </a:p>
        </p:txBody>
      </p:sp>
      <p:sp>
        <p:nvSpPr>
          <p:cNvPr id="41" name="Shape 39"/>
          <p:cNvSpPr/>
          <p:nvPr/>
        </p:nvSpPr>
        <p:spPr>
          <a:xfrm>
            <a:off x="4762167" y="5730113"/>
            <a:ext cx="335533" cy="0"/>
          </a:xfrm>
          <a:prstGeom prst="line">
            <a:avLst/>
          </a:prstGeom>
          <a:noFill/>
          <a:ln w="22860">
            <a:solidFill>
              <a:srgbClr val="D55E00"/>
            </a:solidFill>
            <a:prstDash val="dash"/>
            <a:tailEnd type="triangle"/>
          </a:ln>
        </p:spPr>
      </p:sp>
      <p:sp>
        <p:nvSpPr>
          <p:cNvPr id="42" name="Text 40"/>
          <p:cNvSpPr txBox="1"/>
          <p:nvPr/>
        </p:nvSpPr>
        <p:spPr>
          <a:xfrm>
            <a:off x="5158706" y="5608101"/>
            <a:ext cx="641205"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Repeat</a:t>
            </a:r>
            <a:endParaRPr lang="en-US" sz="1441" dirty="0"/>
          </a:p>
        </p:txBody>
      </p:sp>
      <p:sp>
        <p:nvSpPr>
          <p:cNvPr id="43" name="Text 41"/>
          <p:cNvSpPr txBox="1"/>
          <p:nvPr/>
        </p:nvSpPr>
        <p:spPr>
          <a:xfrm>
            <a:off x="548640" y="5925312"/>
            <a:ext cx="11094415" cy="475488"/>
          </a:xfrm>
          <a:prstGeom prst="rect">
            <a:avLst/>
          </a:prstGeom>
          <a:noFill/>
          <a:ln/>
        </p:spPr>
        <p:txBody>
          <a:bodyPr wrap="square" lIns="0" tIns="0" rIns="0" bIns="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Check: Why remove input prefix?</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10  ·  MULTIMODAL GENERATIVE AI APPLICATIONS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12</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Real captions from an open VLM</a:t>
            </a:r>
            <a:endParaRPr lang="en-US" sz="3200" dirty="0"/>
          </a:p>
        </p:txBody>
      </p:sp>
      <p:pic>
        <p:nvPicPr>
          <p:cNvPr id="6" name="Image 0" descr="C:\Users\sudee\Downloads\Generative_AI_2027_Teaching_Pack\AI2027_Project\build\figures\week_10\lab_caption.png">    </p:cNvPr>
          <p:cNvPicPr>
            <a:picLocks noChangeAspect="1"/>
          </p:cNvPicPr>
          <p:nvPr/>
        </p:nvPicPr>
        <p:blipFill>
          <a:blip r:embed="rId1"/>
          <a:stretch>
            <a:fillRect/>
          </a:stretch>
        </p:blipFill>
        <p:spPr>
          <a:xfrm>
            <a:off x="676661" y="1481328"/>
            <a:ext cx="10838373" cy="3762756"/>
          </a:xfrm>
          <a:prstGeom prst="rect">
            <a:avLst/>
          </a:prstGeom>
        </p:spPr>
      </p:pic>
      <p:sp>
        <p:nvSpPr>
          <p:cNvPr id="7" name="Text 4"/>
          <p:cNvSpPr txBox="1"/>
          <p:nvPr/>
        </p:nvSpPr>
        <p:spPr>
          <a:xfrm>
            <a:off x="548640" y="5426964"/>
            <a:ext cx="11094415" cy="882396"/>
          </a:xfrm>
          <a:prstGeom prst="rect">
            <a:avLst/>
          </a:prstGeom>
          <a:noFill/>
          <a:ln/>
        </p:spPr>
        <p:txBody>
          <a:bodyPr wrap="square" lIns="50800" tIns="50800" rIns="50800" bIns="50800" rtlCol="0" anchor="t"/>
          <a:lstStyle/>
          <a:p>
            <a:pPr marL="254000" indent="-254000">
              <a:spcAft>
                <a:spcPts val="800"/>
              </a:spcAft>
              <a:buSzPct val="100000"/>
              <a:buChar char="●"/>
            </a:pPr>
            <a:r>
              <a:rPr lang="en-US" sz="1800" dirty="0">
                <a:solidFill>
                  <a:srgbClr val="1F2937"/>
                </a:solidFill>
                <a:latin typeface="Calibri" pitchFamily="34" charset="0"/>
                <a:ea typeface="Calibri" pitchFamily="34" charset="-122"/>
                <a:cs typeface="Calibri" pitchFamily="34" charset="-120"/>
              </a:rPr>
              <a:t>Archived Qwen3-VL-2B captions.</a:t>
            </a:r>
            <a:endParaRPr lang="en-US" sz="1800" dirty="0"/>
          </a:p>
          <a:p>
            <a:pPr marL="254000" indent="-254000">
              <a:spcAft>
                <a:spcPts val="800"/>
              </a:spcAft>
              <a:buSzPct val="100000"/>
              <a:buChar char="●"/>
            </a:pPr>
            <a:r>
              <a:rPr lang="en-US" sz="1800" dirty="0">
                <a:solidFill>
                  <a:srgbClr val="1F2937"/>
                </a:solidFill>
                <a:latin typeface="Calibri" pitchFamily="34" charset="0"/>
                <a:ea typeface="Calibri" pitchFamily="34" charset="-122"/>
                <a:cs typeface="Calibri" pitchFamily="34" charset="-120"/>
              </a:rPr>
              <a:t>Check every claimed detail.</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10  ·  MULTIMODAL GENERATIVE AI APPLICATIONS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13</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How images become tokens, and why resolution matters</a:t>
            </a:r>
            <a:endParaRPr lang="en-US" sz="3200" dirty="0"/>
          </a:p>
        </p:txBody>
      </p:sp>
      <p:sp>
        <p:nvSpPr>
          <p:cNvPr id="6" name="Text 4"/>
          <p:cNvSpPr txBox="1"/>
          <p:nvPr/>
        </p:nvSpPr>
        <p:spPr>
          <a:xfrm>
            <a:off x="548640" y="1481328"/>
            <a:ext cx="4297680" cy="4828032"/>
          </a:xfrm>
          <a:prstGeom prst="rect">
            <a:avLst/>
          </a:prstGeom>
          <a:noFill/>
          <a:ln/>
        </p:spPr>
        <p:txBody>
          <a:bodyPr wrap="square" lIns="50800" tIns="50800" rIns="50800" bIns="50800" rtlCol="0" anchor="t"/>
          <a:lstStyle/>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Illustrative patch grid; processors differ.</a:t>
            </a:r>
            <a:endParaRPr lang="en-US" sz="2600" dirty="0"/>
          </a:p>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Resolution trades detail for computation.</a:t>
            </a:r>
            <a:endParaRPr lang="en-US" sz="2600" dirty="0"/>
          </a:p>
        </p:txBody>
      </p:sp>
      <p:sp>
        <p:nvSpPr>
          <p:cNvPr id="7" name="Shape 5"/>
          <p:cNvSpPr/>
          <p:nvPr/>
        </p:nvSpPr>
        <p:spPr>
          <a:xfrm>
            <a:off x="5257800" y="2624328"/>
            <a:ext cx="6385255" cy="0"/>
          </a:xfrm>
          <a:prstGeom prst="line">
            <a:avLst/>
          </a:prstGeom>
          <a:noFill/>
          <a:ln w="12700">
            <a:solidFill>
              <a:srgbClr val="C7D2FE"/>
            </a:solidFill>
            <a:prstDash val="solid"/>
          </a:ln>
        </p:spPr>
      </p:sp>
      <p:sp>
        <p:nvSpPr>
          <p:cNvPr id="8" name="Text 6"/>
          <p:cNvSpPr txBox="1"/>
          <p:nvPr/>
        </p:nvSpPr>
        <p:spPr>
          <a:xfrm>
            <a:off x="5257800" y="1481328"/>
            <a:ext cx="1371600" cy="1033272"/>
          </a:xfrm>
          <a:prstGeom prst="rect">
            <a:avLst/>
          </a:prstGeom>
          <a:noFill/>
          <a:ln/>
        </p:spPr>
        <p:txBody>
          <a:bodyPr wrap="square" lIns="0" tIns="0" rIns="0" bIns="0" rtlCol="0" anchor="ctr"/>
          <a:lstStyle/>
          <a:p>
            <a:pPr indent="0" marL="0">
              <a:buNone/>
            </a:pPr>
            <a:r>
              <a:rPr lang="en-US" sz="1800" b="1" dirty="0">
                <a:solidFill>
                  <a:srgbClr val="0F766E"/>
                </a:solidFill>
                <a:latin typeface="Calibri" pitchFamily="34" charset="0"/>
                <a:ea typeface="Calibri" pitchFamily="34" charset="-122"/>
                <a:cs typeface="Calibri" pitchFamily="34" charset="-120"/>
              </a:rPr>
              <a:t>Per side</a:t>
            </a:r>
            <a:endParaRPr lang="en-US" sz="1800" dirty="0"/>
          </a:p>
        </p:txBody>
      </p:sp>
      <p:sp>
        <p:nvSpPr>
          <p:cNvPr id="9" name="Text 7"/>
          <p:cNvSpPr txBox="1"/>
          <p:nvPr/>
        </p:nvSpPr>
        <p:spPr>
          <a:xfrm>
            <a:off x="6766560" y="1481328"/>
            <a:ext cx="4876495" cy="1033272"/>
          </a:xfrm>
          <a:prstGeom prst="rect">
            <a:avLst/>
          </a:prstGeom>
          <a:noFill/>
          <a:ln/>
        </p:spPr>
        <p:txBody>
          <a:bodyPr wrap="square" lIns="0" tIns="0" rIns="0" bIns="0" rtlCol="0" anchor="ctr"/>
          <a:lstStyle/>
          <a:p>
            <a:pPr indent="0" marL="0">
              <a:buNone/>
            </a:pPr>
            <a:r>
              <a:rPr lang="en-US" sz="2200" dirty="0">
                <a:solidFill>
                  <a:srgbClr val="1F2937"/>
                </a:solidFill>
                <a:latin typeface="Calibri" pitchFamily="34" charset="0"/>
                <a:ea typeface="Calibri" pitchFamily="34" charset="-122"/>
                <a:cs typeface="Calibri" pitchFamily="34" charset="-120"/>
              </a:rPr>
              <a:t>336 ÷ 14 = 24</a:t>
            </a:r>
            <a:endParaRPr lang="en-US" sz="2200" dirty="0"/>
          </a:p>
        </p:txBody>
      </p:sp>
      <p:sp>
        <p:nvSpPr>
          <p:cNvPr id="10" name="Shape 8"/>
          <p:cNvSpPr/>
          <p:nvPr/>
        </p:nvSpPr>
        <p:spPr>
          <a:xfrm>
            <a:off x="5257800" y="3950208"/>
            <a:ext cx="6385255" cy="0"/>
          </a:xfrm>
          <a:prstGeom prst="line">
            <a:avLst/>
          </a:prstGeom>
          <a:noFill/>
          <a:ln w="12700">
            <a:solidFill>
              <a:srgbClr val="C7D2FE"/>
            </a:solidFill>
            <a:prstDash val="solid"/>
          </a:ln>
        </p:spPr>
      </p:sp>
      <p:sp>
        <p:nvSpPr>
          <p:cNvPr id="11" name="Text 9"/>
          <p:cNvSpPr txBox="1"/>
          <p:nvPr/>
        </p:nvSpPr>
        <p:spPr>
          <a:xfrm>
            <a:off x="5257800" y="2807208"/>
            <a:ext cx="1371600" cy="1033272"/>
          </a:xfrm>
          <a:prstGeom prst="rect">
            <a:avLst/>
          </a:prstGeom>
          <a:noFill/>
          <a:ln/>
        </p:spPr>
        <p:txBody>
          <a:bodyPr wrap="square" lIns="0" tIns="0" rIns="0" bIns="0" rtlCol="0" anchor="ctr"/>
          <a:lstStyle/>
          <a:p>
            <a:pPr indent="0" marL="0">
              <a:buNone/>
            </a:pPr>
            <a:r>
              <a:rPr lang="en-US" sz="1800" b="1" dirty="0">
                <a:solidFill>
                  <a:srgbClr val="0F766E"/>
                </a:solidFill>
                <a:latin typeface="Calibri" pitchFamily="34" charset="0"/>
                <a:ea typeface="Calibri" pitchFamily="34" charset="-122"/>
                <a:cs typeface="Calibri" pitchFamily="34" charset="-120"/>
              </a:rPr>
              <a:t>Grid</a:t>
            </a:r>
            <a:endParaRPr lang="en-US" sz="1800" dirty="0"/>
          </a:p>
        </p:txBody>
      </p:sp>
      <p:sp>
        <p:nvSpPr>
          <p:cNvPr id="12" name="Text 10"/>
          <p:cNvSpPr txBox="1"/>
          <p:nvPr/>
        </p:nvSpPr>
        <p:spPr>
          <a:xfrm>
            <a:off x="6766560" y="2807208"/>
            <a:ext cx="4876495" cy="1033272"/>
          </a:xfrm>
          <a:prstGeom prst="rect">
            <a:avLst/>
          </a:prstGeom>
          <a:noFill/>
          <a:ln/>
        </p:spPr>
        <p:txBody>
          <a:bodyPr wrap="square" lIns="0" tIns="0" rIns="0" bIns="0" rtlCol="0" anchor="ctr"/>
          <a:lstStyle/>
          <a:p>
            <a:pPr indent="0" marL="0">
              <a:buNone/>
            </a:pPr>
            <a:r>
              <a:rPr lang="en-US" sz="2200" dirty="0">
                <a:solidFill>
                  <a:srgbClr val="1F2937"/>
                </a:solidFill>
                <a:latin typeface="Calibri" pitchFamily="34" charset="0"/>
                <a:ea typeface="Calibri" pitchFamily="34" charset="-122"/>
                <a:cs typeface="Calibri" pitchFamily="34" charset="-120"/>
              </a:rPr>
              <a:t>24 × 24 = 576 patches</a:t>
            </a:r>
            <a:endParaRPr lang="en-US" sz="2200" dirty="0"/>
          </a:p>
        </p:txBody>
      </p:sp>
      <p:sp>
        <p:nvSpPr>
          <p:cNvPr id="13" name="Shape 11"/>
          <p:cNvSpPr/>
          <p:nvPr/>
        </p:nvSpPr>
        <p:spPr>
          <a:xfrm>
            <a:off x="5257800" y="5276088"/>
            <a:ext cx="6385255" cy="0"/>
          </a:xfrm>
          <a:prstGeom prst="line">
            <a:avLst/>
          </a:prstGeom>
          <a:noFill/>
          <a:ln w="12700">
            <a:solidFill>
              <a:srgbClr val="C7D2FE"/>
            </a:solidFill>
            <a:prstDash val="solid"/>
          </a:ln>
        </p:spPr>
      </p:sp>
      <p:sp>
        <p:nvSpPr>
          <p:cNvPr id="14" name="Text 12"/>
          <p:cNvSpPr txBox="1"/>
          <p:nvPr/>
        </p:nvSpPr>
        <p:spPr>
          <a:xfrm>
            <a:off x="5257800" y="4133088"/>
            <a:ext cx="1371600" cy="1033272"/>
          </a:xfrm>
          <a:prstGeom prst="rect">
            <a:avLst/>
          </a:prstGeom>
          <a:noFill/>
          <a:ln/>
        </p:spPr>
        <p:txBody>
          <a:bodyPr wrap="square" lIns="0" tIns="0" rIns="0" bIns="0" rtlCol="0" anchor="ctr"/>
          <a:lstStyle/>
          <a:p>
            <a:pPr indent="0" marL="0">
              <a:buNone/>
            </a:pPr>
            <a:r>
              <a:rPr lang="en-US" sz="1800" b="1" dirty="0">
                <a:solidFill>
                  <a:srgbClr val="0F766E"/>
                </a:solidFill>
                <a:latin typeface="Calibri" pitchFamily="34" charset="0"/>
                <a:ea typeface="Calibri" pitchFamily="34" charset="-122"/>
                <a:cs typeface="Calibri" pitchFamily="34" charset="-120"/>
              </a:rPr>
              <a:t>Small text</a:t>
            </a:r>
            <a:endParaRPr lang="en-US" sz="1800" dirty="0"/>
          </a:p>
        </p:txBody>
      </p:sp>
      <p:sp>
        <p:nvSpPr>
          <p:cNvPr id="15" name="Text 13"/>
          <p:cNvSpPr txBox="1"/>
          <p:nvPr/>
        </p:nvSpPr>
        <p:spPr>
          <a:xfrm>
            <a:off x="6766560" y="4133088"/>
            <a:ext cx="4876495" cy="1033272"/>
          </a:xfrm>
          <a:prstGeom prst="rect">
            <a:avLst/>
          </a:prstGeom>
          <a:noFill/>
          <a:ln/>
        </p:spPr>
        <p:txBody>
          <a:bodyPr wrap="square" lIns="0" tIns="0" rIns="0" bIns="0" rtlCol="0" anchor="ctr"/>
          <a:lstStyle/>
          <a:p>
            <a:pPr indent="0" marL="0">
              <a:buNone/>
            </a:pPr>
            <a:r>
              <a:rPr lang="en-US" sz="2200" dirty="0">
                <a:solidFill>
                  <a:srgbClr val="1F2937"/>
                </a:solidFill>
                <a:latin typeface="Calibri" pitchFamily="34" charset="0"/>
                <a:ea typeface="Calibri" pitchFamily="34" charset="-122"/>
                <a:cs typeface="Calibri" pitchFamily="34" charset="-120"/>
              </a:rPr>
              <a:t>Check readable detail.</a:t>
            </a:r>
            <a:endParaRPr lang="en-US" sz="2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10  ·  MULTIMODAL GENERATIVE AI APPLICATIONS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14</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Read an invoice; compare replies</a:t>
            </a:r>
            <a:endParaRPr lang="en-US" sz="3200" dirty="0"/>
          </a:p>
        </p:txBody>
      </p:sp>
      <p:sp>
        <p:nvSpPr>
          <p:cNvPr id="6" name="Text 4"/>
          <p:cNvSpPr txBox="1"/>
          <p:nvPr/>
        </p:nvSpPr>
        <p:spPr>
          <a:xfrm>
            <a:off x="548640" y="1463040"/>
            <a:ext cx="11094415" cy="384048"/>
          </a:xfrm>
          <a:prstGeom prst="rect">
            <a:avLst/>
          </a:prstGeom>
          <a:noFill/>
          <a:ln/>
        </p:spPr>
        <p:txBody>
          <a:bodyPr wrap="square" lIns="0" tIns="0" rIns="0" bIns="0" rtlCol="0" anchor="t"/>
          <a:lstStyle/>
          <a:p>
            <a:pPr indent="0" marL="0">
              <a:buNone/>
            </a:pPr>
            <a:r>
              <a:rPr lang="en-US" sz="1800" dirty="0">
                <a:solidFill>
                  <a:srgbClr val="6B7280"/>
                </a:solidFill>
                <a:latin typeface="Calibri" pitchFamily="34" charset="0"/>
                <a:ea typeface="Calibri" pitchFamily="34" charset="-122"/>
                <a:cs typeface="Calibri" pitchFamily="34" charset="-120"/>
              </a:rPr>
              <a:t>Known fixture references</a:t>
            </a:r>
            <a:endParaRPr lang="en-US" sz="1800" dirty="0"/>
          </a:p>
        </p:txBody>
      </p:sp>
      <p:sp>
        <p:nvSpPr>
          <p:cNvPr id="7" name="Shape 5"/>
          <p:cNvSpPr/>
          <p:nvPr/>
        </p:nvSpPr>
        <p:spPr>
          <a:xfrm>
            <a:off x="3259068" y="3838927"/>
            <a:ext cx="244024" cy="0"/>
          </a:xfrm>
          <a:prstGeom prst="line">
            <a:avLst/>
          </a:prstGeom>
          <a:noFill/>
          <a:ln w="22860">
            <a:solidFill>
              <a:srgbClr val="009E73"/>
            </a:solidFill>
            <a:prstDash val="solid"/>
            <a:tailEnd type="triangle"/>
          </a:ln>
        </p:spPr>
      </p:sp>
      <p:sp>
        <p:nvSpPr>
          <p:cNvPr id="8" name="Text 6"/>
          <p:cNvSpPr txBox="1"/>
          <p:nvPr/>
        </p:nvSpPr>
        <p:spPr>
          <a:xfrm>
            <a:off x="2580376"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pixels</a:t>
            </a:r>
            <a:endParaRPr lang="en-US" sz="1441" dirty="0"/>
          </a:p>
        </p:txBody>
      </p:sp>
      <p:sp>
        <p:nvSpPr>
          <p:cNvPr id="9" name="Shape 7"/>
          <p:cNvSpPr/>
          <p:nvPr/>
        </p:nvSpPr>
        <p:spPr>
          <a:xfrm>
            <a:off x="5973836" y="3838927"/>
            <a:ext cx="244024" cy="0"/>
          </a:xfrm>
          <a:prstGeom prst="line">
            <a:avLst/>
          </a:prstGeom>
          <a:noFill/>
          <a:ln w="22860">
            <a:solidFill>
              <a:srgbClr val="009E73"/>
            </a:solidFill>
            <a:prstDash val="solid"/>
            <a:tailEnd type="triangle"/>
          </a:ln>
        </p:spPr>
      </p:sp>
      <p:sp>
        <p:nvSpPr>
          <p:cNvPr id="10" name="Text 8"/>
          <p:cNvSpPr txBox="1"/>
          <p:nvPr/>
        </p:nvSpPr>
        <p:spPr>
          <a:xfrm>
            <a:off x="5295144"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answer</a:t>
            </a:r>
            <a:endParaRPr lang="en-US" sz="1441" dirty="0"/>
          </a:p>
        </p:txBody>
      </p:sp>
      <p:sp>
        <p:nvSpPr>
          <p:cNvPr id="11" name="Shape 9"/>
          <p:cNvSpPr/>
          <p:nvPr/>
        </p:nvSpPr>
        <p:spPr>
          <a:xfrm>
            <a:off x="8688603" y="3838927"/>
            <a:ext cx="244024" cy="0"/>
          </a:xfrm>
          <a:prstGeom prst="line">
            <a:avLst/>
          </a:prstGeom>
          <a:noFill/>
          <a:ln w="22860">
            <a:solidFill>
              <a:srgbClr val="009E73"/>
            </a:solidFill>
            <a:prstDash val="solid"/>
            <a:tailEnd type="triangle"/>
          </a:ln>
        </p:spPr>
      </p:sp>
      <p:sp>
        <p:nvSpPr>
          <p:cNvPr id="12" name="Text 10"/>
          <p:cNvSpPr txBox="1"/>
          <p:nvPr/>
        </p:nvSpPr>
        <p:spPr>
          <a:xfrm>
            <a:off x="8009911"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score</a:t>
            </a:r>
            <a:endParaRPr lang="en-US" sz="1441" dirty="0"/>
          </a:p>
        </p:txBody>
      </p:sp>
      <p:sp>
        <p:nvSpPr>
          <p:cNvPr id="13" name="Shape 11"/>
          <p:cNvSpPr/>
          <p:nvPr/>
        </p:nvSpPr>
        <p:spPr>
          <a:xfrm>
            <a:off x="788325" y="2939089"/>
            <a:ext cx="2470743" cy="1799677"/>
          </a:xfrm>
          <a:prstGeom prst="roundRect">
            <a:avLst>
              <a:gd name="adj" fmla="val 4065"/>
            </a:avLst>
          </a:prstGeom>
          <a:solidFill>
            <a:srgbClr val="E4F2FB"/>
          </a:solidFill>
          <a:ln w="15240">
            <a:solidFill>
              <a:srgbClr val="0072B2"/>
            </a:solidFill>
            <a:prstDash val="solid"/>
          </a:ln>
        </p:spPr>
      </p:sp>
      <p:sp>
        <p:nvSpPr>
          <p:cNvPr id="14" name="Text 12"/>
          <p:cNvSpPr txBox="1"/>
          <p:nvPr/>
        </p:nvSpPr>
        <p:spPr>
          <a:xfrm>
            <a:off x="849331" y="3579652"/>
            <a:ext cx="2348731"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Render invoice</a:t>
            </a:r>
            <a:endParaRPr lang="en-US" sz="1561" dirty="0"/>
          </a:p>
        </p:txBody>
      </p:sp>
      <p:sp>
        <p:nvSpPr>
          <p:cNvPr id="15" name="Text 13"/>
          <p:cNvSpPr txBox="1"/>
          <p:nvPr/>
        </p:nvSpPr>
        <p:spPr>
          <a:xfrm>
            <a:off x="849331" y="3885902"/>
            <a:ext cx="2348731"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Fictional fields</a:t>
            </a:r>
            <a:endParaRPr lang="en-US" sz="1441" dirty="0"/>
          </a:p>
        </p:txBody>
      </p:sp>
      <p:sp>
        <p:nvSpPr>
          <p:cNvPr id="16" name="Shape 14"/>
          <p:cNvSpPr/>
          <p:nvPr/>
        </p:nvSpPr>
        <p:spPr>
          <a:xfrm>
            <a:off x="3503092" y="2939089"/>
            <a:ext cx="2470743" cy="1799677"/>
          </a:xfrm>
          <a:prstGeom prst="rect">
            <a:avLst/>
          </a:prstGeom>
          <a:solidFill>
            <a:srgbClr val="E5F7EF"/>
          </a:solidFill>
          <a:ln w="15240">
            <a:solidFill>
              <a:srgbClr val="009E73"/>
            </a:solidFill>
            <a:prstDash val="solid"/>
          </a:ln>
        </p:spPr>
      </p:sp>
      <p:sp>
        <p:nvSpPr>
          <p:cNvPr id="17" name="Text 15"/>
          <p:cNvSpPr txBox="1"/>
          <p:nvPr/>
        </p:nvSpPr>
        <p:spPr>
          <a:xfrm>
            <a:off x="3564098" y="3442998"/>
            <a:ext cx="2348731"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Ask question</a:t>
            </a:r>
            <a:endParaRPr lang="en-US" sz="1561" dirty="0"/>
          </a:p>
        </p:txBody>
      </p:sp>
      <p:sp>
        <p:nvSpPr>
          <p:cNvPr id="18" name="Text 16"/>
          <p:cNvSpPr txBox="1"/>
          <p:nvPr/>
        </p:nvSpPr>
        <p:spPr>
          <a:xfrm>
            <a:off x="3564098" y="3749248"/>
            <a:ext cx="2348731"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Short reply</a:t>
            </a:r>
            <a:endParaRPr lang="en-US" sz="1441" dirty="0"/>
          </a:p>
        </p:txBody>
      </p:sp>
      <p:sp>
        <p:nvSpPr>
          <p:cNvPr id="19" name="Text 17"/>
          <p:cNvSpPr txBox="1"/>
          <p:nvPr/>
        </p:nvSpPr>
        <p:spPr>
          <a:xfrm>
            <a:off x="3525970" y="4022555"/>
            <a:ext cx="2424989" cy="212301"/>
          </a:xfrm>
          <a:prstGeom prst="rect">
            <a:avLst/>
          </a:prstGeom>
          <a:noFill/>
          <a:ln/>
        </p:spPr>
        <p:txBody>
          <a:bodyPr wrap="square" lIns="0" tIns="0" rIns="0" bIns="0" rtlCol="0" anchor="ctr"/>
          <a:lstStyle/>
          <a:p>
            <a:pPr algn="ctr" indent="0" marL="0">
              <a:lnSpc>
                <a:spcPct val="116000"/>
              </a:lnSpc>
              <a:buNone/>
            </a:pPr>
            <a:r>
              <a:rPr lang="en-US" sz="1441" dirty="0">
                <a:solidFill>
                  <a:srgbClr val="0F766E"/>
                </a:solidFill>
                <a:latin typeface="Arial" pitchFamily="34" charset="0"/>
                <a:ea typeface="Arial" pitchFamily="34" charset="-122"/>
                <a:cs typeface="Arial" pitchFamily="34" charset="-120"/>
              </a:rPr>
              <a:t>ask</a:t>
            </a:r>
            <a:endParaRPr lang="en-US" sz="1441" dirty="0"/>
          </a:p>
        </p:txBody>
      </p:sp>
      <p:sp>
        <p:nvSpPr>
          <p:cNvPr id="20" name="Shape 18"/>
          <p:cNvSpPr/>
          <p:nvPr/>
        </p:nvSpPr>
        <p:spPr>
          <a:xfrm>
            <a:off x="6217860" y="2939089"/>
            <a:ext cx="2470743" cy="1799677"/>
          </a:xfrm>
          <a:prstGeom prst="roundRect">
            <a:avLst>
              <a:gd name="adj" fmla="val 4065"/>
            </a:avLst>
          </a:prstGeom>
          <a:solidFill>
            <a:srgbClr val="FFF0E6"/>
          </a:solidFill>
          <a:ln w="15240">
            <a:solidFill>
              <a:srgbClr val="D55E00"/>
            </a:solidFill>
            <a:prstDash val="solid"/>
          </a:ln>
        </p:spPr>
      </p:sp>
      <p:sp>
        <p:nvSpPr>
          <p:cNvPr id="21" name="Text 19"/>
          <p:cNvSpPr txBox="1"/>
          <p:nvPr/>
        </p:nvSpPr>
        <p:spPr>
          <a:xfrm>
            <a:off x="6278866" y="3442998"/>
            <a:ext cx="2348731"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Score reply</a:t>
            </a:r>
            <a:endParaRPr lang="en-US" sz="1561" dirty="0"/>
          </a:p>
        </p:txBody>
      </p:sp>
      <p:sp>
        <p:nvSpPr>
          <p:cNvPr id="22" name="Text 20"/>
          <p:cNvSpPr txBox="1"/>
          <p:nvPr/>
        </p:nvSpPr>
        <p:spPr>
          <a:xfrm>
            <a:off x="6278866" y="3749248"/>
            <a:ext cx="2348731"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Known reference</a:t>
            </a:r>
            <a:endParaRPr lang="en-US" sz="1441" dirty="0"/>
          </a:p>
        </p:txBody>
      </p:sp>
      <p:sp>
        <p:nvSpPr>
          <p:cNvPr id="23" name="Text 21"/>
          <p:cNvSpPr txBox="1"/>
          <p:nvPr/>
        </p:nvSpPr>
        <p:spPr>
          <a:xfrm>
            <a:off x="6240737" y="4022555"/>
            <a:ext cx="2424989" cy="212301"/>
          </a:xfrm>
          <a:prstGeom prst="rect">
            <a:avLst/>
          </a:prstGeom>
          <a:noFill/>
          <a:ln/>
        </p:spPr>
        <p:txBody>
          <a:bodyPr wrap="square" lIns="0" tIns="0" rIns="0" bIns="0" rtlCol="0" anchor="ctr"/>
          <a:lstStyle/>
          <a:p>
            <a:pPr algn="ctr" indent="0" marL="0">
              <a:lnSpc>
                <a:spcPct val="116000"/>
              </a:lnSpc>
              <a:buNone/>
            </a:pPr>
            <a:r>
              <a:rPr lang="en-US" sz="1441" dirty="0">
                <a:solidFill>
                  <a:srgbClr val="0F766E"/>
                </a:solidFill>
                <a:latin typeface="Arial" pitchFamily="34" charset="0"/>
                <a:ea typeface="Arial" pitchFamily="34" charset="-122"/>
                <a:cs typeface="Arial" pitchFamily="34" charset="-120"/>
              </a:rPr>
              <a:t>score</a:t>
            </a:r>
            <a:endParaRPr lang="en-US" sz="1441" dirty="0"/>
          </a:p>
        </p:txBody>
      </p:sp>
      <p:sp>
        <p:nvSpPr>
          <p:cNvPr id="24" name="Shape 22"/>
          <p:cNvSpPr/>
          <p:nvPr/>
        </p:nvSpPr>
        <p:spPr>
          <a:xfrm>
            <a:off x="8932627" y="2939089"/>
            <a:ext cx="2470743" cy="1799677"/>
          </a:xfrm>
          <a:prstGeom prst="roundRect">
            <a:avLst>
              <a:gd name="adj" fmla="val 4065"/>
            </a:avLst>
          </a:prstGeom>
          <a:solidFill>
            <a:srgbClr val="F9EAF4"/>
          </a:solidFill>
          <a:ln w="15240">
            <a:solidFill>
              <a:srgbClr val="CC79A7"/>
            </a:solidFill>
            <a:prstDash val="solid"/>
          </a:ln>
        </p:spPr>
      </p:sp>
      <p:sp>
        <p:nvSpPr>
          <p:cNvPr id="25" name="Text 23"/>
          <p:cNvSpPr txBox="1"/>
          <p:nvPr/>
        </p:nvSpPr>
        <p:spPr>
          <a:xfrm>
            <a:off x="8993633" y="3579652"/>
            <a:ext cx="2348731"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Inspect score</a:t>
            </a:r>
            <a:endParaRPr lang="en-US" sz="1561" dirty="0"/>
          </a:p>
        </p:txBody>
      </p:sp>
      <p:sp>
        <p:nvSpPr>
          <p:cNvPr id="26" name="Text 24"/>
          <p:cNvSpPr txBox="1"/>
          <p:nvPr/>
        </p:nvSpPr>
        <p:spPr>
          <a:xfrm>
            <a:off x="8993633" y="3885902"/>
            <a:ext cx="2348731"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Heuristic</a:t>
            </a:r>
            <a:endParaRPr lang="en-US" sz="1441" dirty="0"/>
          </a:p>
        </p:txBody>
      </p:sp>
      <p:sp>
        <p:nvSpPr>
          <p:cNvPr id="27" name="Shape 25"/>
          <p:cNvSpPr/>
          <p:nvPr/>
        </p:nvSpPr>
        <p:spPr>
          <a:xfrm>
            <a:off x="788325" y="5630979"/>
            <a:ext cx="198270" cy="198270"/>
          </a:xfrm>
          <a:prstGeom prst="roundRect">
            <a:avLst>
              <a:gd name="adj" fmla="val 36895"/>
            </a:avLst>
          </a:prstGeom>
          <a:solidFill>
            <a:srgbClr val="E4F2FB"/>
          </a:solidFill>
          <a:ln w="15240">
            <a:solidFill>
              <a:srgbClr val="0072B2"/>
            </a:solidFill>
            <a:prstDash val="solid"/>
          </a:ln>
        </p:spPr>
      </p:sp>
      <p:sp>
        <p:nvSpPr>
          <p:cNvPr id="28" name="Text 26"/>
          <p:cNvSpPr txBox="1"/>
          <p:nvPr/>
        </p:nvSpPr>
        <p:spPr>
          <a:xfrm>
            <a:off x="1047600" y="5608101"/>
            <a:ext cx="43056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Data</a:t>
            </a:r>
            <a:endParaRPr lang="en-US" sz="1441" dirty="0"/>
          </a:p>
        </p:txBody>
      </p:sp>
      <p:sp>
        <p:nvSpPr>
          <p:cNvPr id="29" name="Shape 27"/>
          <p:cNvSpPr/>
          <p:nvPr/>
        </p:nvSpPr>
        <p:spPr>
          <a:xfrm>
            <a:off x="1676436" y="5630979"/>
            <a:ext cx="198270" cy="198270"/>
          </a:xfrm>
          <a:prstGeom prst="rect">
            <a:avLst/>
          </a:prstGeom>
          <a:solidFill>
            <a:srgbClr val="E5F7EF"/>
          </a:solidFill>
          <a:ln w="15240">
            <a:solidFill>
              <a:srgbClr val="009E73"/>
            </a:solidFill>
            <a:prstDash val="solid"/>
          </a:ln>
        </p:spPr>
      </p:sp>
      <p:sp>
        <p:nvSpPr>
          <p:cNvPr id="30" name="Text 28"/>
          <p:cNvSpPr txBox="1"/>
          <p:nvPr/>
        </p:nvSpPr>
        <p:spPr>
          <a:xfrm>
            <a:off x="1935711" y="5608101"/>
            <a:ext cx="546304"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Model</a:t>
            </a:r>
            <a:endParaRPr lang="en-US" sz="1441" dirty="0"/>
          </a:p>
        </p:txBody>
      </p:sp>
      <p:sp>
        <p:nvSpPr>
          <p:cNvPr id="31" name="Shape 29"/>
          <p:cNvSpPr/>
          <p:nvPr/>
        </p:nvSpPr>
        <p:spPr>
          <a:xfrm>
            <a:off x="2680284" y="5630979"/>
            <a:ext cx="198270" cy="198270"/>
          </a:xfrm>
          <a:prstGeom prst="roundRect">
            <a:avLst>
              <a:gd name="adj" fmla="val 36895"/>
            </a:avLst>
          </a:prstGeom>
          <a:solidFill>
            <a:srgbClr val="FFF0E6"/>
          </a:solidFill>
          <a:ln w="15240">
            <a:solidFill>
              <a:srgbClr val="D55E00"/>
            </a:solidFill>
            <a:prstDash val="solid"/>
          </a:ln>
        </p:spPr>
      </p:sp>
      <p:sp>
        <p:nvSpPr>
          <p:cNvPr id="32" name="Text 30"/>
          <p:cNvSpPr txBox="1"/>
          <p:nvPr/>
        </p:nvSpPr>
        <p:spPr>
          <a:xfrm>
            <a:off x="2939560" y="5608101"/>
            <a:ext cx="567330"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Check</a:t>
            </a:r>
            <a:endParaRPr lang="en-US" sz="1441" dirty="0"/>
          </a:p>
        </p:txBody>
      </p:sp>
      <p:sp>
        <p:nvSpPr>
          <p:cNvPr id="33" name="Shape 31"/>
          <p:cNvSpPr/>
          <p:nvPr/>
        </p:nvSpPr>
        <p:spPr>
          <a:xfrm>
            <a:off x="3705159" y="5630979"/>
            <a:ext cx="198270" cy="198270"/>
          </a:xfrm>
          <a:prstGeom prst="roundRect">
            <a:avLst>
              <a:gd name="adj" fmla="val 36895"/>
            </a:avLst>
          </a:prstGeom>
          <a:solidFill>
            <a:srgbClr val="F9EAF4"/>
          </a:solidFill>
          <a:ln w="15240">
            <a:solidFill>
              <a:srgbClr val="CC79A7"/>
            </a:solidFill>
            <a:prstDash val="solid"/>
          </a:ln>
        </p:spPr>
      </p:sp>
      <p:sp>
        <p:nvSpPr>
          <p:cNvPr id="34" name="Text 32"/>
          <p:cNvSpPr txBox="1"/>
          <p:nvPr/>
        </p:nvSpPr>
        <p:spPr>
          <a:xfrm>
            <a:off x="3964435" y="5608101"/>
            <a:ext cx="599153"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Output</a:t>
            </a:r>
            <a:endParaRPr lang="en-US" sz="1441" dirty="0"/>
          </a:p>
        </p:txBody>
      </p:sp>
      <p:sp>
        <p:nvSpPr>
          <p:cNvPr id="35" name="Shape 33"/>
          <p:cNvSpPr/>
          <p:nvPr/>
        </p:nvSpPr>
        <p:spPr>
          <a:xfrm>
            <a:off x="4761857" y="5730113"/>
            <a:ext cx="335533" cy="0"/>
          </a:xfrm>
          <a:prstGeom prst="line">
            <a:avLst/>
          </a:prstGeom>
          <a:noFill/>
          <a:ln w="22860">
            <a:solidFill>
              <a:srgbClr val="009E73"/>
            </a:solidFill>
            <a:prstDash val="solid"/>
            <a:tailEnd type="triangle"/>
          </a:ln>
        </p:spPr>
      </p:sp>
      <p:sp>
        <p:nvSpPr>
          <p:cNvPr id="36" name="Text 34"/>
          <p:cNvSpPr txBox="1"/>
          <p:nvPr/>
        </p:nvSpPr>
        <p:spPr>
          <a:xfrm>
            <a:off x="5158396" y="5608101"/>
            <a:ext cx="43037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Flow</a:t>
            </a:r>
            <a:endParaRPr lang="en-US" sz="1441" dirty="0"/>
          </a:p>
        </p:txBody>
      </p:sp>
      <p:sp>
        <p:nvSpPr>
          <p:cNvPr id="37" name="Text 35"/>
          <p:cNvSpPr txBox="1"/>
          <p:nvPr/>
        </p:nvSpPr>
        <p:spPr>
          <a:xfrm>
            <a:off x="548640" y="5925312"/>
            <a:ext cx="11094415" cy="475488"/>
          </a:xfrm>
          <a:prstGeom prst="rect">
            <a:avLst/>
          </a:prstGeom>
          <a:noFill/>
          <a:ln/>
        </p:spPr>
        <p:txBody>
          <a:bodyPr wrap="square" lIns="0" tIns="0" rIns="0" bIns="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Check: Correct sum, wrong inputs?</a:t>
            </a:r>
            <a:endParaRPr lang="en-US" sz="1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10  ·  MULTIMODAL GENERATIVE AI APPLICATIONS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15</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000" b="1" dirty="0">
                <a:solidFill>
                  <a:srgbClr val="1E1B4B"/>
                </a:solidFill>
                <a:latin typeface="Calibri" pitchFamily="34" charset="0"/>
                <a:ea typeface="Calibri" pitchFamily="34" charset="-122"/>
                <a:cs typeface="Calibri" pitchFamily="34" charset="-120"/>
              </a:rPr>
              <a:t>Cross-modal reasoning over a chart and a document (real)</a:t>
            </a:r>
            <a:endParaRPr lang="en-US" sz="3000" dirty="0"/>
          </a:p>
        </p:txBody>
      </p:sp>
      <p:pic>
        <p:nvPicPr>
          <p:cNvPr id="6" name="Image 0" descr="C:\Users\sudee\Downloads\Generative_AI_2027_Teaching_Pack\AI2027_Project\build\figures\week_10\lab_chart.png">    </p:cNvPr>
          <p:cNvPicPr>
            <a:picLocks noChangeAspect="1"/>
          </p:cNvPicPr>
          <p:nvPr/>
        </p:nvPicPr>
        <p:blipFill>
          <a:blip r:embed="rId1"/>
          <a:stretch>
            <a:fillRect/>
          </a:stretch>
        </p:blipFill>
        <p:spPr>
          <a:xfrm>
            <a:off x="578406" y="1481328"/>
            <a:ext cx="11034884" cy="3762756"/>
          </a:xfrm>
          <a:prstGeom prst="rect">
            <a:avLst/>
          </a:prstGeom>
        </p:spPr>
      </p:pic>
      <p:sp>
        <p:nvSpPr>
          <p:cNvPr id="7" name="Text 4"/>
          <p:cNvSpPr txBox="1"/>
          <p:nvPr/>
        </p:nvSpPr>
        <p:spPr>
          <a:xfrm>
            <a:off x="548640" y="5426964"/>
            <a:ext cx="11094415" cy="882396"/>
          </a:xfrm>
          <a:prstGeom prst="rect">
            <a:avLst/>
          </a:prstGeom>
          <a:noFill/>
          <a:ln/>
        </p:spPr>
        <p:txBody>
          <a:bodyPr wrap="square" lIns="50800" tIns="50800" rIns="50800" bIns="50800" rtlCol="0" anchor="t"/>
          <a:lstStyle/>
          <a:p>
            <a:pPr marL="254000" indent="-254000">
              <a:spcAft>
                <a:spcPts val="800"/>
              </a:spcAft>
              <a:buSzPct val="100000"/>
              <a:buChar char="●"/>
            </a:pPr>
            <a:r>
              <a:rPr lang="en-US" sz="1800" dirty="0">
                <a:solidFill>
                  <a:srgbClr val="1F2937"/>
                </a:solidFill>
                <a:latin typeface="Calibri" pitchFamily="34" charset="0"/>
                <a:ea typeface="Calibri" pitchFamily="34" charset="-122"/>
                <a:cs typeface="Calibri" pitchFamily="34" charset="-120"/>
              </a:rPr>
              <a:t>Archived Qwen3-VL-2B answers.</a:t>
            </a:r>
            <a:endParaRPr lang="en-US" sz="1800" dirty="0"/>
          </a:p>
          <a:p>
            <a:pPr marL="254000" indent="-254000">
              <a:spcAft>
                <a:spcPts val="800"/>
              </a:spcAft>
              <a:buSzPct val="100000"/>
              <a:buChar char="●"/>
            </a:pPr>
            <a:r>
              <a:rPr lang="en-US" sz="1800" dirty="0">
                <a:solidFill>
                  <a:srgbClr val="1F2937"/>
                </a:solidFill>
                <a:latin typeface="Calibri" pitchFamily="34" charset="0"/>
                <a:ea typeface="Calibri" pitchFamily="34" charset="-122"/>
                <a:cs typeface="Calibri" pitchFamily="34" charset="-120"/>
              </a:rPr>
              <a:t>Compare field reading with aggregation.</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10  ·  MULTIMODAL GENERATIVE AI APPLICATIONS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16</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Quick check</a:t>
            </a:r>
            <a:endParaRPr lang="en-US" sz="3200" dirty="0"/>
          </a:p>
        </p:txBody>
      </p:sp>
      <p:sp>
        <p:nvSpPr>
          <p:cNvPr id="6" name="Shape 4"/>
          <p:cNvSpPr/>
          <p:nvPr/>
        </p:nvSpPr>
        <p:spPr>
          <a:xfrm>
            <a:off x="548640" y="1527048"/>
            <a:ext cx="640080" cy="640080"/>
          </a:xfrm>
          <a:prstGeom prst="ellipse">
            <a:avLst/>
          </a:prstGeom>
          <a:solidFill>
            <a:srgbClr val="EA580C"/>
          </a:solidFill>
          <a:ln w="12700">
            <a:solidFill>
              <a:srgbClr val="EA580C"/>
            </a:solidFill>
            <a:prstDash val="solid"/>
          </a:ln>
        </p:spPr>
      </p:sp>
      <p:pic>
        <p:nvPicPr>
          <p:cNvPr id="7" name="Image 0" descr="preencoded.png">    </p:cNvPr>
          <p:cNvPicPr>
            <a:picLocks noChangeAspect="1"/>
          </p:cNvPicPr>
          <p:nvPr/>
        </p:nvPicPr>
        <p:blipFill>
          <a:blip r:embed="rId1"/>
          <a:stretch>
            <a:fillRect/>
          </a:stretch>
        </p:blipFill>
        <p:spPr>
          <a:xfrm>
            <a:off x="702259" y="1680667"/>
            <a:ext cx="332842" cy="332842"/>
          </a:xfrm>
          <a:prstGeom prst="rect">
            <a:avLst/>
          </a:prstGeom>
        </p:spPr>
      </p:pic>
      <p:sp>
        <p:nvSpPr>
          <p:cNvPr id="8" name="Text 5"/>
          <p:cNvSpPr txBox="1"/>
          <p:nvPr/>
        </p:nvSpPr>
        <p:spPr>
          <a:xfrm>
            <a:off x="1417320" y="1481328"/>
            <a:ext cx="10225735" cy="1097280"/>
          </a:xfrm>
          <a:prstGeom prst="rect">
            <a:avLst/>
          </a:prstGeom>
          <a:noFill/>
          <a:ln/>
        </p:spPr>
        <p:txBody>
          <a:bodyPr wrap="square" lIns="50800" tIns="50800" rIns="50800" bIns="50800" rtlCol="0" anchor="ctr"/>
          <a:lstStyle/>
          <a:p>
            <a:pPr indent="0" marL="0">
              <a:buNone/>
            </a:pPr>
            <a:r>
              <a:rPr lang="en-US" sz="2400" b="1" dirty="0">
                <a:solidFill>
                  <a:srgbClr val="1E1B4B"/>
                </a:solidFill>
                <a:latin typeface="Calibri" pitchFamily="34" charset="0"/>
                <a:ea typeface="Calibri" pitchFamily="34" charset="-122"/>
                <a:cs typeface="Calibri" pitchFamily="34" charset="-120"/>
              </a:rPr>
              <a:t>How should invoice items be totalled?</a:t>
            </a:r>
            <a:endParaRPr lang="en-US" sz="2400" dirty="0"/>
          </a:p>
        </p:txBody>
      </p:sp>
      <p:sp>
        <p:nvSpPr>
          <p:cNvPr id="9" name="Shape 6"/>
          <p:cNvSpPr/>
          <p:nvPr/>
        </p:nvSpPr>
        <p:spPr>
          <a:xfrm>
            <a:off x="548640" y="2807208"/>
            <a:ext cx="5410048" cy="1325880"/>
          </a:xfrm>
          <a:prstGeom prst="roundRect">
            <a:avLst>
              <a:gd name="adj" fmla="val 6897"/>
            </a:avLst>
          </a:prstGeom>
          <a:solidFill>
            <a:srgbClr val="EEF0FF"/>
          </a:solidFill>
          <a:ln w="12700">
            <a:solidFill>
              <a:srgbClr val="EEF0FF"/>
            </a:solidFill>
            <a:prstDash val="solid"/>
          </a:ln>
        </p:spPr>
      </p:sp>
      <p:sp>
        <p:nvSpPr>
          <p:cNvPr id="10" name="Shape 7"/>
          <p:cNvSpPr/>
          <p:nvPr/>
        </p:nvSpPr>
        <p:spPr>
          <a:xfrm>
            <a:off x="713232" y="3241548"/>
            <a:ext cx="457200" cy="457200"/>
          </a:xfrm>
          <a:prstGeom prst="ellipse">
            <a:avLst/>
          </a:prstGeom>
          <a:solidFill>
            <a:srgbClr val="4F46E5"/>
          </a:solidFill>
          <a:ln w="12700">
            <a:solidFill>
              <a:srgbClr val="4F46E5"/>
            </a:solidFill>
            <a:prstDash val="solid"/>
          </a:ln>
        </p:spPr>
      </p:sp>
      <p:sp>
        <p:nvSpPr>
          <p:cNvPr id="11" name="Text 8"/>
          <p:cNvSpPr txBox="1"/>
          <p:nvPr/>
        </p:nvSpPr>
        <p:spPr>
          <a:xfrm>
            <a:off x="713232" y="32415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a:t>
            </a:r>
            <a:endParaRPr lang="en-US" sz="1500" dirty="0"/>
          </a:p>
        </p:txBody>
      </p:sp>
      <p:sp>
        <p:nvSpPr>
          <p:cNvPr id="12" name="Text 9"/>
          <p:cNvSpPr txBox="1"/>
          <p:nvPr/>
        </p:nvSpPr>
        <p:spPr>
          <a:xfrm>
            <a:off x="1325880" y="2807208"/>
            <a:ext cx="4495648" cy="1325880"/>
          </a:xfrm>
          <a:prstGeom prst="rect">
            <a:avLst/>
          </a:prstGeom>
          <a:noFill/>
          <a:ln/>
        </p:spPr>
        <p:txBody>
          <a:bodyPr wrap="square" lIns="50800" tIns="50800" rIns="50800" bIns="50800" rtlCol="0" anchor="ctr"/>
          <a:lstStyle/>
          <a:p>
            <a:pPr indent="0" marL="0">
              <a:buNone/>
            </a:pPr>
            <a:r>
              <a:rPr lang="en-US" sz="2000" dirty="0">
                <a:solidFill>
                  <a:srgbClr val="1F2937"/>
                </a:solidFill>
                <a:latin typeface="Calibri" pitchFamily="34" charset="0"/>
                <a:ea typeface="Calibri" pitchFamily="34" charset="-122"/>
                <a:cs typeface="Calibri" pitchFamily="34" charset="-120"/>
              </a:rPr>
              <a:t>Request one grand total</a:t>
            </a:r>
            <a:endParaRPr lang="en-US" sz="2000" dirty="0"/>
          </a:p>
        </p:txBody>
      </p:sp>
      <p:sp>
        <p:nvSpPr>
          <p:cNvPr id="13" name="Shape 10"/>
          <p:cNvSpPr/>
          <p:nvPr/>
        </p:nvSpPr>
        <p:spPr>
          <a:xfrm>
            <a:off x="6233008" y="2807208"/>
            <a:ext cx="5410048" cy="1325880"/>
          </a:xfrm>
          <a:prstGeom prst="roundRect">
            <a:avLst>
              <a:gd name="adj" fmla="val 6897"/>
            </a:avLst>
          </a:prstGeom>
          <a:solidFill>
            <a:srgbClr val="EEF0FF"/>
          </a:solidFill>
          <a:ln w="12700">
            <a:solidFill>
              <a:srgbClr val="EEF0FF"/>
            </a:solidFill>
            <a:prstDash val="solid"/>
          </a:ln>
        </p:spPr>
      </p:sp>
      <p:sp>
        <p:nvSpPr>
          <p:cNvPr id="14" name="Shape 11"/>
          <p:cNvSpPr/>
          <p:nvPr/>
        </p:nvSpPr>
        <p:spPr>
          <a:xfrm>
            <a:off x="6397600" y="3241548"/>
            <a:ext cx="457200" cy="457200"/>
          </a:xfrm>
          <a:prstGeom prst="ellipse">
            <a:avLst/>
          </a:prstGeom>
          <a:solidFill>
            <a:srgbClr val="4F46E5"/>
          </a:solidFill>
          <a:ln w="12700">
            <a:solidFill>
              <a:srgbClr val="4F46E5"/>
            </a:solidFill>
            <a:prstDash val="solid"/>
          </a:ln>
        </p:spPr>
      </p:sp>
      <p:sp>
        <p:nvSpPr>
          <p:cNvPr id="15" name="Text 12"/>
          <p:cNvSpPr txBox="1"/>
          <p:nvPr/>
        </p:nvSpPr>
        <p:spPr>
          <a:xfrm>
            <a:off x="6397600" y="32415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a:t>
            </a:r>
            <a:endParaRPr lang="en-US" sz="1500" dirty="0"/>
          </a:p>
        </p:txBody>
      </p:sp>
      <p:sp>
        <p:nvSpPr>
          <p:cNvPr id="16" name="Text 13"/>
          <p:cNvSpPr txBox="1"/>
          <p:nvPr/>
        </p:nvSpPr>
        <p:spPr>
          <a:xfrm>
            <a:off x="7010248" y="2807208"/>
            <a:ext cx="4495648" cy="1325880"/>
          </a:xfrm>
          <a:prstGeom prst="rect">
            <a:avLst/>
          </a:prstGeom>
          <a:noFill/>
          <a:ln/>
        </p:spPr>
        <p:txBody>
          <a:bodyPr wrap="square" lIns="50800" tIns="50800" rIns="50800" bIns="50800" rtlCol="0" anchor="ctr"/>
          <a:lstStyle/>
          <a:p>
            <a:pPr indent="0" marL="0">
              <a:buNone/>
            </a:pPr>
            <a:r>
              <a:rPr lang="en-US" sz="2000" dirty="0">
                <a:solidFill>
                  <a:srgbClr val="1F2937"/>
                </a:solidFill>
                <a:latin typeface="Calibri" pitchFamily="34" charset="0"/>
                <a:ea typeface="Calibri" pitchFamily="34" charset="-122"/>
                <a:cs typeface="Calibri" pitchFamily="34" charset="-120"/>
              </a:rPr>
              <a:t>Increase sampling temperature</a:t>
            </a:r>
            <a:endParaRPr lang="en-US" sz="2000" dirty="0"/>
          </a:p>
        </p:txBody>
      </p:sp>
      <p:sp>
        <p:nvSpPr>
          <p:cNvPr id="17" name="Shape 14"/>
          <p:cNvSpPr/>
          <p:nvPr/>
        </p:nvSpPr>
        <p:spPr>
          <a:xfrm>
            <a:off x="548640" y="4407408"/>
            <a:ext cx="5410048" cy="1325880"/>
          </a:xfrm>
          <a:prstGeom prst="roundRect">
            <a:avLst>
              <a:gd name="adj" fmla="val 6897"/>
            </a:avLst>
          </a:prstGeom>
          <a:solidFill>
            <a:srgbClr val="EEF0FF"/>
          </a:solidFill>
          <a:ln w="12700">
            <a:solidFill>
              <a:srgbClr val="EEF0FF"/>
            </a:solidFill>
            <a:prstDash val="solid"/>
          </a:ln>
        </p:spPr>
      </p:sp>
      <p:sp>
        <p:nvSpPr>
          <p:cNvPr id="18" name="Shape 15"/>
          <p:cNvSpPr/>
          <p:nvPr/>
        </p:nvSpPr>
        <p:spPr>
          <a:xfrm>
            <a:off x="713232" y="4841748"/>
            <a:ext cx="457200" cy="457200"/>
          </a:xfrm>
          <a:prstGeom prst="ellipse">
            <a:avLst/>
          </a:prstGeom>
          <a:solidFill>
            <a:srgbClr val="4F46E5"/>
          </a:solidFill>
          <a:ln w="12700">
            <a:solidFill>
              <a:srgbClr val="4F46E5"/>
            </a:solidFill>
            <a:prstDash val="solid"/>
          </a:ln>
        </p:spPr>
      </p:sp>
      <p:sp>
        <p:nvSpPr>
          <p:cNvPr id="19" name="Text 16"/>
          <p:cNvSpPr txBox="1"/>
          <p:nvPr/>
        </p:nvSpPr>
        <p:spPr>
          <a:xfrm>
            <a:off x="713232" y="48417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a:t>
            </a:r>
            <a:endParaRPr lang="en-US" sz="1500" dirty="0"/>
          </a:p>
        </p:txBody>
      </p:sp>
      <p:sp>
        <p:nvSpPr>
          <p:cNvPr id="20" name="Text 17"/>
          <p:cNvSpPr txBox="1"/>
          <p:nvPr/>
        </p:nvSpPr>
        <p:spPr>
          <a:xfrm>
            <a:off x="1325880" y="4407408"/>
            <a:ext cx="4495648" cy="1325880"/>
          </a:xfrm>
          <a:prstGeom prst="rect">
            <a:avLst/>
          </a:prstGeom>
          <a:noFill/>
          <a:ln/>
        </p:spPr>
        <p:txBody>
          <a:bodyPr wrap="square" lIns="50800" tIns="50800" rIns="50800" bIns="50800" rtlCol="0" anchor="ctr"/>
          <a:lstStyle/>
          <a:p>
            <a:pPr indent="0" marL="0">
              <a:buNone/>
            </a:pPr>
            <a:r>
              <a:rPr lang="en-US" sz="2000" dirty="0">
                <a:solidFill>
                  <a:srgbClr val="1F2937"/>
                </a:solidFill>
                <a:latin typeface="Calibri" pitchFamily="34" charset="0"/>
                <a:ea typeface="Calibri" pitchFamily="34" charset="-122"/>
                <a:cs typeface="Calibri" pitchFamily="34" charset="-120"/>
              </a:rPr>
              <a:t>Check fields; sum in code</a:t>
            </a:r>
            <a:endParaRPr lang="en-US" sz="2000" dirty="0"/>
          </a:p>
        </p:txBody>
      </p:sp>
      <p:sp>
        <p:nvSpPr>
          <p:cNvPr id="21" name="Shape 18"/>
          <p:cNvSpPr/>
          <p:nvPr/>
        </p:nvSpPr>
        <p:spPr>
          <a:xfrm>
            <a:off x="6233008" y="4407408"/>
            <a:ext cx="5410048" cy="1325880"/>
          </a:xfrm>
          <a:prstGeom prst="roundRect">
            <a:avLst>
              <a:gd name="adj" fmla="val 6897"/>
            </a:avLst>
          </a:prstGeom>
          <a:solidFill>
            <a:srgbClr val="EEF0FF"/>
          </a:solidFill>
          <a:ln w="12700">
            <a:solidFill>
              <a:srgbClr val="EEF0FF"/>
            </a:solidFill>
            <a:prstDash val="solid"/>
          </a:ln>
        </p:spPr>
      </p:sp>
      <p:sp>
        <p:nvSpPr>
          <p:cNvPr id="22" name="Shape 19"/>
          <p:cNvSpPr/>
          <p:nvPr/>
        </p:nvSpPr>
        <p:spPr>
          <a:xfrm>
            <a:off x="6397600" y="4841748"/>
            <a:ext cx="457200" cy="457200"/>
          </a:xfrm>
          <a:prstGeom prst="ellipse">
            <a:avLst/>
          </a:prstGeom>
          <a:solidFill>
            <a:srgbClr val="4F46E5"/>
          </a:solidFill>
          <a:ln w="12700">
            <a:solidFill>
              <a:srgbClr val="4F46E5"/>
            </a:solidFill>
            <a:prstDash val="solid"/>
          </a:ln>
        </p:spPr>
      </p:sp>
      <p:sp>
        <p:nvSpPr>
          <p:cNvPr id="23" name="Text 20"/>
          <p:cNvSpPr txBox="1"/>
          <p:nvPr/>
        </p:nvSpPr>
        <p:spPr>
          <a:xfrm>
            <a:off x="6397600" y="48417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a:t>
            </a:r>
            <a:endParaRPr lang="en-US" sz="1500" dirty="0"/>
          </a:p>
        </p:txBody>
      </p:sp>
      <p:sp>
        <p:nvSpPr>
          <p:cNvPr id="24" name="Text 21"/>
          <p:cNvSpPr txBox="1"/>
          <p:nvPr/>
        </p:nvSpPr>
        <p:spPr>
          <a:xfrm>
            <a:off x="7010248" y="4407408"/>
            <a:ext cx="4495648" cy="1325880"/>
          </a:xfrm>
          <a:prstGeom prst="rect">
            <a:avLst/>
          </a:prstGeom>
          <a:noFill/>
          <a:ln/>
        </p:spPr>
        <p:txBody>
          <a:bodyPr wrap="square" lIns="50800" tIns="50800" rIns="50800" bIns="50800" rtlCol="0" anchor="ctr"/>
          <a:lstStyle/>
          <a:p>
            <a:pPr indent="0" marL="0">
              <a:buNone/>
            </a:pPr>
            <a:r>
              <a:rPr lang="en-US" sz="2000" dirty="0">
                <a:solidFill>
                  <a:srgbClr val="1F2937"/>
                </a:solidFill>
                <a:latin typeface="Calibri" pitchFamily="34" charset="0"/>
                <a:ea typeface="Calibri" pitchFamily="34" charset="-122"/>
                <a:cs typeface="Calibri" pitchFamily="34" charset="-120"/>
              </a:rPr>
              <a:t>Trust stated confidence</a:t>
            </a:r>
            <a:endParaRPr lang="en-US" sz="2000" dirty="0"/>
          </a:p>
        </p:txBody>
      </p:sp>
      <p:sp>
        <p:nvSpPr>
          <p:cNvPr id="25" name="Text 22"/>
          <p:cNvSpPr txBox="1"/>
          <p:nvPr/>
        </p:nvSpPr>
        <p:spPr>
          <a:xfrm>
            <a:off x="548640" y="5943600"/>
            <a:ext cx="11094415" cy="365760"/>
          </a:xfrm>
          <a:prstGeom prst="rect">
            <a:avLst/>
          </a:prstGeom>
          <a:noFill/>
          <a:ln/>
        </p:spPr>
        <p:txBody>
          <a:bodyPr wrap="square" lIns="50800" tIns="50800" rIns="50800" bIns="50800" rtlCol="0" anchor="t"/>
          <a:lstStyle/>
          <a:p>
            <a:pPr indent="0" marL="0">
              <a:buNone/>
            </a:pPr>
            <a:r>
              <a:rPr lang="en-US" sz="1400" i="1" dirty="0">
                <a:solidFill>
                  <a:srgbClr val="6B7280"/>
                </a:solidFill>
                <a:latin typeface="Calibri" pitchFamily="34" charset="0"/>
                <a:ea typeface="Calibri" pitchFamily="34" charset="-122"/>
                <a:cs typeface="Calibri" pitchFamily="34" charset="-120"/>
              </a:rPr>
              <a:t>Vote, then convince your neighbour (1 minute).</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E1B4B"/>
        </a:solidFill>
      </p:bgPr>
    </p:bg>
    <p:spTree>
      <p:nvGrpSpPr>
        <p:cNvPr id="1" name=""/>
        <p:cNvGrpSpPr/>
        <p:nvPr/>
      </p:nvGrpSpPr>
      <p:grpSpPr>
        <a:xfrm>
          <a:off x="0" y="0"/>
          <a:ext cx="0" cy="0"/>
          <a:chOff x="0" y="0"/>
          <a:chExt cx="0" cy="0"/>
        </a:xfrm>
      </p:grpSpPr>
      <p:sp>
        <p:nvSpPr>
          <p:cNvPr id="2" name="Text 0"/>
          <p:cNvSpPr txBox="1"/>
          <p:nvPr/>
        </p:nvSpPr>
        <p:spPr>
          <a:xfrm>
            <a:off x="731520" y="1188720"/>
            <a:ext cx="2926080" cy="1828800"/>
          </a:xfrm>
          <a:prstGeom prst="rect">
            <a:avLst/>
          </a:prstGeom>
          <a:noFill/>
          <a:ln/>
        </p:spPr>
        <p:txBody>
          <a:bodyPr wrap="square" lIns="0" tIns="0" rIns="0" bIns="0" rtlCol="0" anchor="t"/>
          <a:lstStyle/>
          <a:p>
            <a:pPr indent="0" marL="0">
              <a:buNone/>
            </a:pPr>
            <a:r>
              <a:rPr lang="en-US" sz="11000" b="1" dirty="0">
                <a:solidFill>
                  <a:srgbClr val="EA580C"/>
                </a:solidFill>
                <a:latin typeface="Calibri" pitchFamily="34" charset="0"/>
                <a:ea typeface="Calibri" pitchFamily="34" charset="-122"/>
                <a:cs typeface="Calibri" pitchFamily="34" charset="-120"/>
              </a:rPr>
              <a:t>02</a:t>
            </a:r>
            <a:endParaRPr lang="en-US" sz="11000" dirty="0"/>
          </a:p>
        </p:txBody>
      </p:sp>
      <p:sp>
        <p:nvSpPr>
          <p:cNvPr id="3" name="Text 1"/>
          <p:cNvSpPr txBox="1"/>
          <p:nvPr/>
        </p:nvSpPr>
        <p:spPr>
          <a:xfrm>
            <a:off x="731520" y="3063240"/>
            <a:ext cx="10515600" cy="1463040"/>
          </a:xfrm>
          <a:prstGeom prst="rect">
            <a:avLst/>
          </a:prstGeom>
          <a:noFill/>
          <a:ln/>
        </p:spPr>
        <p:txBody>
          <a:bodyPr wrap="square" lIns="0" tIns="0" rIns="0" bIns="0" rtlCol="0" anchor="t"/>
          <a:lstStyle/>
          <a:p>
            <a:pPr indent="0" marL="0">
              <a:buNone/>
            </a:pPr>
            <a:r>
              <a:rPr lang="en-US" sz="4100" b="1" dirty="0">
                <a:solidFill>
                  <a:srgbClr val="FFFFFF"/>
                </a:solidFill>
                <a:latin typeface="Calibri" pitchFamily="34" charset="0"/>
                <a:ea typeface="Calibri" pitchFamily="34" charset="-122"/>
                <a:cs typeface="Calibri" pitchFamily="34" charset="-120"/>
              </a:rPr>
              <a:t>Training and fine-tuning multimodal models</a:t>
            </a:r>
            <a:endParaRPr lang="en-US" sz="4100" dirty="0"/>
          </a:p>
        </p:txBody>
      </p:sp>
      <p:sp>
        <p:nvSpPr>
          <p:cNvPr id="4" name="Text 2"/>
          <p:cNvSpPr txBox="1"/>
          <p:nvPr/>
        </p:nvSpPr>
        <p:spPr>
          <a:xfrm>
            <a:off x="731520" y="4617720"/>
            <a:ext cx="10515600" cy="1097280"/>
          </a:xfrm>
          <a:prstGeom prst="rect">
            <a:avLst/>
          </a:prstGeom>
          <a:noFill/>
          <a:ln/>
        </p:spPr>
        <p:txBody>
          <a:bodyPr wrap="square" lIns="0" tIns="0" rIns="0" bIns="0" rtlCol="0" anchor="t"/>
          <a:lstStyle/>
          <a:p>
            <a:pPr indent="0" marL="0">
              <a:buNone/>
            </a:pPr>
            <a:r>
              <a:rPr lang="en-US" sz="2200" i="1" dirty="0">
                <a:solidFill>
                  <a:srgbClr val="C7D2FE"/>
                </a:solidFill>
                <a:latin typeface="Calibri" pitchFamily="34" charset="0"/>
                <a:ea typeface="Calibri" pitchFamily="34" charset="-122"/>
                <a:cs typeface="Calibri" pitchFamily="34" charset="-120"/>
              </a:rPr>
              <a:t>How are these models built, and how can you adapt one?</a:t>
            </a:r>
            <a:endParaRPr lang="en-US" sz="2200" dirty="0"/>
          </a:p>
        </p:txBody>
      </p:sp>
      <p:sp>
        <p:nvSpPr>
          <p:cNvPr id="5" name="Shape 3"/>
          <p:cNvSpPr/>
          <p:nvPr/>
        </p:nvSpPr>
        <p:spPr>
          <a:xfrm>
            <a:off x="9692640" y="1097280"/>
            <a:ext cx="1554480" cy="1554480"/>
          </a:xfrm>
          <a:prstGeom prst="ellipse">
            <a:avLst/>
          </a:prstGeom>
          <a:solidFill>
            <a:srgbClr val="4F46E5"/>
          </a:solidFill>
          <a:ln w="12700">
            <a:solidFill>
              <a:srgbClr val="4F46E5"/>
            </a:solidFill>
            <a:prstDash val="solid"/>
          </a:ln>
        </p:spPr>
      </p:sp>
      <p:pic>
        <p:nvPicPr>
          <p:cNvPr id="6" name="Image 0" descr="preencoded.png">    </p:cNvPr>
          <p:cNvPicPr>
            <a:picLocks noChangeAspect="1"/>
          </p:cNvPicPr>
          <p:nvPr/>
        </p:nvPicPr>
        <p:blipFill>
          <a:blip r:embed="rId1"/>
          <a:stretch>
            <a:fillRect/>
          </a:stretch>
        </p:blipFill>
        <p:spPr>
          <a:xfrm>
            <a:off x="10065715" y="1470355"/>
            <a:ext cx="808330" cy="80833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10  ·  MULTIMODAL GENERATIVE AI APPLICATIONS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18</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Teach a visual bridge and useful answers</a:t>
            </a:r>
            <a:endParaRPr lang="en-US" sz="3200" dirty="0"/>
          </a:p>
        </p:txBody>
      </p:sp>
      <p:sp>
        <p:nvSpPr>
          <p:cNvPr id="6" name="Text 4"/>
          <p:cNvSpPr txBox="1"/>
          <p:nvPr/>
        </p:nvSpPr>
        <p:spPr>
          <a:xfrm>
            <a:off x="548640" y="1463040"/>
            <a:ext cx="11094415" cy="384048"/>
          </a:xfrm>
          <a:prstGeom prst="rect">
            <a:avLst/>
          </a:prstGeom>
          <a:noFill/>
          <a:ln/>
        </p:spPr>
        <p:txBody>
          <a:bodyPr wrap="square" lIns="0" tIns="0" rIns="0" bIns="0" rtlCol="0" anchor="t"/>
          <a:lstStyle/>
          <a:p>
            <a:pPr indent="0" marL="0">
              <a:buNone/>
            </a:pPr>
            <a:r>
              <a:rPr lang="en-US" sz="1800" dirty="0">
                <a:solidFill>
                  <a:srgbClr val="6B7280"/>
                </a:solidFill>
                <a:latin typeface="Calibri" pitchFamily="34" charset="0"/>
                <a:ea typeface="Calibri" pitchFamily="34" charset="-122"/>
                <a:cs typeface="Calibri" pitchFamily="34" charset="-120"/>
              </a:rPr>
              <a:t>Conceptual; not lab training</a:t>
            </a:r>
            <a:endParaRPr lang="en-US" sz="1800" dirty="0"/>
          </a:p>
        </p:txBody>
      </p:sp>
      <p:sp>
        <p:nvSpPr>
          <p:cNvPr id="7" name="Shape 5"/>
          <p:cNvSpPr/>
          <p:nvPr/>
        </p:nvSpPr>
        <p:spPr>
          <a:xfrm>
            <a:off x="3259068" y="3838927"/>
            <a:ext cx="244024" cy="0"/>
          </a:xfrm>
          <a:prstGeom prst="line">
            <a:avLst/>
          </a:prstGeom>
          <a:noFill/>
          <a:ln w="22860">
            <a:solidFill>
              <a:srgbClr val="009E73"/>
            </a:solidFill>
            <a:prstDash val="solid"/>
            <a:tailEnd type="triangle"/>
          </a:ln>
        </p:spPr>
      </p:sp>
      <p:sp>
        <p:nvSpPr>
          <p:cNvPr id="8" name="Text 6"/>
          <p:cNvSpPr txBox="1"/>
          <p:nvPr/>
        </p:nvSpPr>
        <p:spPr>
          <a:xfrm>
            <a:off x="2580376"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pairs</a:t>
            </a:r>
            <a:endParaRPr lang="en-US" sz="1441" dirty="0"/>
          </a:p>
        </p:txBody>
      </p:sp>
      <p:sp>
        <p:nvSpPr>
          <p:cNvPr id="9" name="Shape 7"/>
          <p:cNvSpPr/>
          <p:nvPr/>
        </p:nvSpPr>
        <p:spPr>
          <a:xfrm>
            <a:off x="5973836" y="3838927"/>
            <a:ext cx="244024" cy="0"/>
          </a:xfrm>
          <a:prstGeom prst="line">
            <a:avLst/>
          </a:prstGeom>
          <a:noFill/>
          <a:ln w="22860">
            <a:solidFill>
              <a:srgbClr val="009E73"/>
            </a:solidFill>
            <a:prstDash val="solid"/>
            <a:tailEnd type="triangle"/>
          </a:ln>
        </p:spPr>
      </p:sp>
      <p:sp>
        <p:nvSpPr>
          <p:cNvPr id="10" name="Text 8"/>
          <p:cNvSpPr txBox="1"/>
          <p:nvPr/>
        </p:nvSpPr>
        <p:spPr>
          <a:xfrm>
            <a:off x="5295144"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aligned weights</a:t>
            </a:r>
            <a:endParaRPr lang="en-US" sz="1441" dirty="0"/>
          </a:p>
        </p:txBody>
      </p:sp>
      <p:sp>
        <p:nvSpPr>
          <p:cNvPr id="11" name="Shape 9"/>
          <p:cNvSpPr/>
          <p:nvPr/>
        </p:nvSpPr>
        <p:spPr>
          <a:xfrm>
            <a:off x="8688603" y="3838927"/>
            <a:ext cx="244024" cy="0"/>
          </a:xfrm>
          <a:prstGeom prst="line">
            <a:avLst/>
          </a:prstGeom>
          <a:noFill/>
          <a:ln w="22860">
            <a:solidFill>
              <a:srgbClr val="009E73"/>
            </a:solidFill>
            <a:prstDash val="solid"/>
            <a:tailEnd type="triangle"/>
          </a:ln>
        </p:spPr>
      </p:sp>
      <p:sp>
        <p:nvSpPr>
          <p:cNvPr id="12" name="Text 10"/>
          <p:cNvSpPr txBox="1"/>
          <p:nvPr/>
        </p:nvSpPr>
        <p:spPr>
          <a:xfrm>
            <a:off x="8009911"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tuned weights</a:t>
            </a:r>
            <a:endParaRPr lang="en-US" sz="1441" dirty="0"/>
          </a:p>
        </p:txBody>
      </p:sp>
      <p:sp>
        <p:nvSpPr>
          <p:cNvPr id="13" name="Shape 11"/>
          <p:cNvSpPr/>
          <p:nvPr/>
        </p:nvSpPr>
        <p:spPr>
          <a:xfrm>
            <a:off x="788325" y="2939089"/>
            <a:ext cx="2470743" cy="1799677"/>
          </a:xfrm>
          <a:prstGeom prst="roundRect">
            <a:avLst>
              <a:gd name="adj" fmla="val 4065"/>
            </a:avLst>
          </a:prstGeom>
          <a:solidFill>
            <a:srgbClr val="E4F2FB"/>
          </a:solidFill>
          <a:ln w="15240">
            <a:solidFill>
              <a:srgbClr val="0072B2"/>
            </a:solidFill>
            <a:prstDash val="solid"/>
          </a:ln>
        </p:spPr>
      </p:sp>
      <p:sp>
        <p:nvSpPr>
          <p:cNvPr id="14" name="Text 12"/>
          <p:cNvSpPr txBox="1"/>
          <p:nvPr/>
        </p:nvSpPr>
        <p:spPr>
          <a:xfrm>
            <a:off x="849331" y="3579652"/>
            <a:ext cx="2348731"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Review pairs</a:t>
            </a:r>
            <a:endParaRPr lang="en-US" sz="1561" dirty="0"/>
          </a:p>
        </p:txBody>
      </p:sp>
      <p:sp>
        <p:nvSpPr>
          <p:cNvPr id="15" name="Text 13"/>
          <p:cNvSpPr txBox="1"/>
          <p:nvPr/>
        </p:nvSpPr>
        <p:spPr>
          <a:xfrm>
            <a:off x="849331" y="3885902"/>
            <a:ext cx="2348731"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Images; answers</a:t>
            </a:r>
            <a:endParaRPr lang="en-US" sz="1441" dirty="0"/>
          </a:p>
        </p:txBody>
      </p:sp>
      <p:sp>
        <p:nvSpPr>
          <p:cNvPr id="16" name="Shape 14"/>
          <p:cNvSpPr/>
          <p:nvPr/>
        </p:nvSpPr>
        <p:spPr>
          <a:xfrm>
            <a:off x="3503092" y="2939089"/>
            <a:ext cx="2470743" cy="1799677"/>
          </a:xfrm>
          <a:prstGeom prst="roundRect">
            <a:avLst>
              <a:gd name="adj" fmla="val 4065"/>
            </a:avLst>
          </a:prstGeom>
          <a:solidFill>
            <a:srgbClr val="FFF0E6"/>
          </a:solidFill>
          <a:ln w="15240">
            <a:solidFill>
              <a:srgbClr val="D55E00"/>
            </a:solidFill>
            <a:prstDash val="solid"/>
          </a:ln>
        </p:spPr>
      </p:sp>
      <p:sp>
        <p:nvSpPr>
          <p:cNvPr id="17" name="Text 15"/>
          <p:cNvSpPr txBox="1"/>
          <p:nvPr/>
        </p:nvSpPr>
        <p:spPr>
          <a:xfrm>
            <a:off x="3564098" y="3579652"/>
            <a:ext cx="2348731"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Train bridge</a:t>
            </a:r>
            <a:endParaRPr lang="en-US" sz="1561" dirty="0"/>
          </a:p>
        </p:txBody>
      </p:sp>
      <p:sp>
        <p:nvSpPr>
          <p:cNvPr id="18" name="Text 16"/>
          <p:cNvSpPr txBox="1"/>
          <p:nvPr/>
        </p:nvSpPr>
        <p:spPr>
          <a:xfrm>
            <a:off x="3564098" y="3885902"/>
            <a:ext cx="2348731"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Map features</a:t>
            </a:r>
            <a:endParaRPr lang="en-US" sz="1441" dirty="0"/>
          </a:p>
        </p:txBody>
      </p:sp>
      <p:sp>
        <p:nvSpPr>
          <p:cNvPr id="19" name="Shape 17"/>
          <p:cNvSpPr/>
          <p:nvPr/>
        </p:nvSpPr>
        <p:spPr>
          <a:xfrm>
            <a:off x="6217860" y="2939089"/>
            <a:ext cx="2470743" cy="1799677"/>
          </a:xfrm>
          <a:prstGeom prst="roundRect">
            <a:avLst>
              <a:gd name="adj" fmla="val 4065"/>
            </a:avLst>
          </a:prstGeom>
          <a:solidFill>
            <a:srgbClr val="FFF0E6"/>
          </a:solidFill>
          <a:ln w="15240">
            <a:solidFill>
              <a:srgbClr val="D55E00"/>
            </a:solidFill>
            <a:prstDash val="solid"/>
          </a:ln>
        </p:spPr>
      </p:sp>
      <p:sp>
        <p:nvSpPr>
          <p:cNvPr id="20" name="Text 18"/>
          <p:cNvSpPr txBox="1"/>
          <p:nvPr/>
        </p:nvSpPr>
        <p:spPr>
          <a:xfrm>
            <a:off x="6278866" y="3579652"/>
            <a:ext cx="2348731"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Tune instructions</a:t>
            </a:r>
            <a:endParaRPr lang="en-US" sz="1561" dirty="0"/>
          </a:p>
        </p:txBody>
      </p:sp>
      <p:sp>
        <p:nvSpPr>
          <p:cNvPr id="21" name="Text 19"/>
          <p:cNvSpPr txBox="1"/>
          <p:nvPr/>
        </p:nvSpPr>
        <p:spPr>
          <a:xfrm>
            <a:off x="6278866" y="3885902"/>
            <a:ext cx="2348731"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Visual tasks</a:t>
            </a:r>
            <a:endParaRPr lang="en-US" sz="1441" dirty="0"/>
          </a:p>
        </p:txBody>
      </p:sp>
      <p:sp>
        <p:nvSpPr>
          <p:cNvPr id="22" name="Shape 20"/>
          <p:cNvSpPr/>
          <p:nvPr/>
        </p:nvSpPr>
        <p:spPr>
          <a:xfrm>
            <a:off x="8932627" y="2939089"/>
            <a:ext cx="2470743" cy="1799677"/>
          </a:xfrm>
          <a:prstGeom prst="roundRect">
            <a:avLst>
              <a:gd name="adj" fmla="val 4065"/>
            </a:avLst>
          </a:prstGeom>
          <a:solidFill>
            <a:srgbClr val="FFF0E6"/>
          </a:solidFill>
          <a:ln w="15240">
            <a:solidFill>
              <a:srgbClr val="D55E00"/>
            </a:solidFill>
            <a:prstDash val="solid"/>
          </a:ln>
        </p:spPr>
      </p:sp>
      <p:sp>
        <p:nvSpPr>
          <p:cNvPr id="23" name="Text 21"/>
          <p:cNvSpPr txBox="1"/>
          <p:nvPr/>
        </p:nvSpPr>
        <p:spPr>
          <a:xfrm>
            <a:off x="8993633" y="3579652"/>
            <a:ext cx="2348731"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Test images</a:t>
            </a:r>
            <a:endParaRPr lang="en-US" sz="1561" dirty="0"/>
          </a:p>
        </p:txBody>
      </p:sp>
      <p:sp>
        <p:nvSpPr>
          <p:cNvPr id="24" name="Text 22"/>
          <p:cNvSpPr txBox="1"/>
          <p:nvPr/>
        </p:nvSpPr>
        <p:spPr>
          <a:xfrm>
            <a:off x="8993633" y="3885902"/>
            <a:ext cx="2348731"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Held-out examples</a:t>
            </a:r>
            <a:endParaRPr lang="en-US" sz="1441" dirty="0"/>
          </a:p>
        </p:txBody>
      </p:sp>
      <p:sp>
        <p:nvSpPr>
          <p:cNvPr id="25" name="Shape 23"/>
          <p:cNvSpPr/>
          <p:nvPr/>
        </p:nvSpPr>
        <p:spPr>
          <a:xfrm>
            <a:off x="788325" y="5630979"/>
            <a:ext cx="198270" cy="198270"/>
          </a:xfrm>
          <a:prstGeom prst="roundRect">
            <a:avLst>
              <a:gd name="adj" fmla="val 36895"/>
            </a:avLst>
          </a:prstGeom>
          <a:solidFill>
            <a:srgbClr val="E4F2FB"/>
          </a:solidFill>
          <a:ln w="15240">
            <a:solidFill>
              <a:srgbClr val="0072B2"/>
            </a:solidFill>
            <a:prstDash val="solid"/>
          </a:ln>
        </p:spPr>
      </p:sp>
      <p:sp>
        <p:nvSpPr>
          <p:cNvPr id="26" name="Text 24"/>
          <p:cNvSpPr txBox="1"/>
          <p:nvPr/>
        </p:nvSpPr>
        <p:spPr>
          <a:xfrm>
            <a:off x="1047600" y="5608101"/>
            <a:ext cx="43056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Data</a:t>
            </a:r>
            <a:endParaRPr lang="en-US" sz="1441" dirty="0"/>
          </a:p>
        </p:txBody>
      </p:sp>
      <p:sp>
        <p:nvSpPr>
          <p:cNvPr id="27" name="Shape 25"/>
          <p:cNvSpPr/>
          <p:nvPr/>
        </p:nvSpPr>
        <p:spPr>
          <a:xfrm>
            <a:off x="1676436" y="5630979"/>
            <a:ext cx="198270" cy="198270"/>
          </a:xfrm>
          <a:prstGeom prst="roundRect">
            <a:avLst>
              <a:gd name="adj" fmla="val 36895"/>
            </a:avLst>
          </a:prstGeom>
          <a:solidFill>
            <a:srgbClr val="FFF0E6"/>
          </a:solidFill>
          <a:ln w="15240">
            <a:solidFill>
              <a:srgbClr val="D55E00"/>
            </a:solidFill>
            <a:prstDash val="solid"/>
          </a:ln>
        </p:spPr>
      </p:sp>
      <p:sp>
        <p:nvSpPr>
          <p:cNvPr id="28" name="Text 26"/>
          <p:cNvSpPr txBox="1"/>
          <p:nvPr/>
        </p:nvSpPr>
        <p:spPr>
          <a:xfrm>
            <a:off x="1935711" y="5608101"/>
            <a:ext cx="43056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Loss</a:t>
            </a:r>
            <a:endParaRPr lang="en-US" sz="1441" dirty="0"/>
          </a:p>
        </p:txBody>
      </p:sp>
      <p:sp>
        <p:nvSpPr>
          <p:cNvPr id="29" name="Shape 27"/>
          <p:cNvSpPr/>
          <p:nvPr/>
        </p:nvSpPr>
        <p:spPr>
          <a:xfrm>
            <a:off x="2564547" y="5630979"/>
            <a:ext cx="198270" cy="198270"/>
          </a:xfrm>
          <a:prstGeom prst="roundRect">
            <a:avLst>
              <a:gd name="adj" fmla="val 36895"/>
            </a:avLst>
          </a:prstGeom>
          <a:solidFill>
            <a:srgbClr val="FFF0E6"/>
          </a:solidFill>
          <a:ln w="15240">
            <a:solidFill>
              <a:srgbClr val="D55E00"/>
            </a:solidFill>
            <a:prstDash val="solid"/>
          </a:ln>
        </p:spPr>
      </p:sp>
      <p:sp>
        <p:nvSpPr>
          <p:cNvPr id="30" name="Text 28"/>
          <p:cNvSpPr txBox="1"/>
          <p:nvPr/>
        </p:nvSpPr>
        <p:spPr>
          <a:xfrm>
            <a:off x="2823822" y="5608101"/>
            <a:ext cx="567330"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Check</a:t>
            </a:r>
            <a:endParaRPr lang="en-US" sz="1441" dirty="0"/>
          </a:p>
        </p:txBody>
      </p:sp>
      <p:sp>
        <p:nvSpPr>
          <p:cNvPr id="31" name="Shape 29"/>
          <p:cNvSpPr/>
          <p:nvPr/>
        </p:nvSpPr>
        <p:spPr>
          <a:xfrm>
            <a:off x="3589421" y="5730113"/>
            <a:ext cx="335533" cy="0"/>
          </a:xfrm>
          <a:prstGeom prst="line">
            <a:avLst/>
          </a:prstGeom>
          <a:noFill/>
          <a:ln w="22860">
            <a:solidFill>
              <a:srgbClr val="009E73"/>
            </a:solidFill>
            <a:prstDash val="solid"/>
            <a:tailEnd type="triangle"/>
          </a:ln>
        </p:spPr>
      </p:sp>
      <p:sp>
        <p:nvSpPr>
          <p:cNvPr id="32" name="Text 30"/>
          <p:cNvSpPr txBox="1"/>
          <p:nvPr/>
        </p:nvSpPr>
        <p:spPr>
          <a:xfrm>
            <a:off x="3985960" y="5608101"/>
            <a:ext cx="43037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Flow</a:t>
            </a:r>
            <a:endParaRPr lang="en-US" sz="1441" dirty="0"/>
          </a:p>
        </p:txBody>
      </p:sp>
      <p:sp>
        <p:nvSpPr>
          <p:cNvPr id="33" name="Text 31"/>
          <p:cNvSpPr txBox="1"/>
          <p:nvPr/>
        </p:nvSpPr>
        <p:spPr>
          <a:xfrm>
            <a:off x="548640" y="5925312"/>
            <a:ext cx="11094415" cy="475488"/>
          </a:xfrm>
          <a:prstGeom prst="rect">
            <a:avLst/>
          </a:prstGeom>
          <a:noFill/>
          <a:ln/>
        </p:spPr>
        <p:txBody>
          <a:bodyPr wrap="square" lIns="0" tIns="0" rIns="0" bIns="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Check: Does the lab train this?</a:t>
            </a:r>
            <a:endParaRPr lang="en-US" sz="1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10  ·  MULTIMODAL GENERATIVE AI APPLICATIONS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19</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100" b="1" dirty="0">
                <a:solidFill>
                  <a:srgbClr val="1E1B4B"/>
                </a:solidFill>
                <a:latin typeface="Calibri" pitchFamily="34" charset="0"/>
                <a:ea typeface="Calibri" pitchFamily="34" charset="-122"/>
                <a:cs typeface="Calibri" pitchFamily="34" charset="-120"/>
              </a:rPr>
              <a:t>A typical training pipeline for a vision-language model</a:t>
            </a:r>
            <a:endParaRPr lang="en-US" sz="3100" dirty="0"/>
          </a:p>
        </p:txBody>
      </p:sp>
      <p:sp>
        <p:nvSpPr>
          <p:cNvPr id="6" name="Shape 4"/>
          <p:cNvSpPr/>
          <p:nvPr/>
        </p:nvSpPr>
        <p:spPr>
          <a:xfrm>
            <a:off x="3214287" y="3322512"/>
            <a:ext cx="49413" cy="0"/>
          </a:xfrm>
          <a:prstGeom prst="line">
            <a:avLst/>
          </a:prstGeom>
          <a:noFill/>
          <a:ln w="22860">
            <a:solidFill>
              <a:srgbClr val="4F46E5"/>
            </a:solidFill>
            <a:prstDash val="solid"/>
          </a:ln>
        </p:spPr>
      </p:sp>
      <p:sp>
        <p:nvSpPr>
          <p:cNvPr id="7" name="Shape 5"/>
          <p:cNvSpPr/>
          <p:nvPr/>
        </p:nvSpPr>
        <p:spPr>
          <a:xfrm flipV="1">
            <a:off x="3263699" y="2893927"/>
            <a:ext cx="0" cy="428586"/>
          </a:xfrm>
          <a:prstGeom prst="line">
            <a:avLst/>
          </a:prstGeom>
          <a:noFill/>
          <a:ln w="22860">
            <a:solidFill>
              <a:srgbClr val="4F46E5"/>
            </a:solidFill>
            <a:prstDash val="solid"/>
          </a:ln>
        </p:spPr>
      </p:sp>
      <p:sp>
        <p:nvSpPr>
          <p:cNvPr id="8" name="Shape 6"/>
          <p:cNvSpPr/>
          <p:nvPr/>
        </p:nvSpPr>
        <p:spPr>
          <a:xfrm>
            <a:off x="3263699" y="2893927"/>
            <a:ext cx="304712" cy="0"/>
          </a:xfrm>
          <a:prstGeom prst="line">
            <a:avLst/>
          </a:prstGeom>
          <a:noFill/>
          <a:ln w="22860">
            <a:solidFill>
              <a:srgbClr val="4F46E5"/>
            </a:solidFill>
            <a:prstDash val="solid"/>
          </a:ln>
        </p:spPr>
      </p:sp>
      <p:sp>
        <p:nvSpPr>
          <p:cNvPr id="9" name="Shape 7"/>
          <p:cNvSpPr/>
          <p:nvPr/>
        </p:nvSpPr>
        <p:spPr>
          <a:xfrm>
            <a:off x="3568412" y="2893927"/>
            <a:ext cx="0" cy="428586"/>
          </a:xfrm>
          <a:prstGeom prst="line">
            <a:avLst/>
          </a:prstGeom>
          <a:noFill/>
          <a:ln w="22860">
            <a:solidFill>
              <a:srgbClr val="4F46E5"/>
            </a:solidFill>
            <a:prstDash val="solid"/>
          </a:ln>
        </p:spPr>
      </p:sp>
      <p:sp>
        <p:nvSpPr>
          <p:cNvPr id="10" name="Shape 8"/>
          <p:cNvSpPr/>
          <p:nvPr/>
        </p:nvSpPr>
        <p:spPr>
          <a:xfrm>
            <a:off x="5882579" y="3322512"/>
            <a:ext cx="49413" cy="0"/>
          </a:xfrm>
          <a:prstGeom prst="line">
            <a:avLst/>
          </a:prstGeom>
          <a:noFill/>
          <a:ln w="22860">
            <a:solidFill>
              <a:srgbClr val="4F46E5"/>
            </a:solidFill>
            <a:prstDash val="solid"/>
          </a:ln>
        </p:spPr>
      </p:sp>
      <p:sp>
        <p:nvSpPr>
          <p:cNvPr id="11" name="Shape 9"/>
          <p:cNvSpPr/>
          <p:nvPr/>
        </p:nvSpPr>
        <p:spPr>
          <a:xfrm flipV="1">
            <a:off x="5931992" y="2893927"/>
            <a:ext cx="0" cy="428586"/>
          </a:xfrm>
          <a:prstGeom prst="line">
            <a:avLst/>
          </a:prstGeom>
          <a:noFill/>
          <a:ln w="22860">
            <a:solidFill>
              <a:srgbClr val="4F46E5"/>
            </a:solidFill>
            <a:prstDash val="solid"/>
          </a:ln>
        </p:spPr>
      </p:sp>
      <p:sp>
        <p:nvSpPr>
          <p:cNvPr id="12" name="Shape 10"/>
          <p:cNvSpPr/>
          <p:nvPr/>
        </p:nvSpPr>
        <p:spPr>
          <a:xfrm>
            <a:off x="5931992" y="2893927"/>
            <a:ext cx="304712" cy="0"/>
          </a:xfrm>
          <a:prstGeom prst="line">
            <a:avLst/>
          </a:prstGeom>
          <a:noFill/>
          <a:ln w="22860">
            <a:solidFill>
              <a:srgbClr val="4F46E5"/>
            </a:solidFill>
            <a:prstDash val="solid"/>
          </a:ln>
        </p:spPr>
      </p:sp>
      <p:sp>
        <p:nvSpPr>
          <p:cNvPr id="13" name="Shape 11"/>
          <p:cNvSpPr/>
          <p:nvPr/>
        </p:nvSpPr>
        <p:spPr>
          <a:xfrm>
            <a:off x="6236704" y="2893927"/>
            <a:ext cx="0" cy="428586"/>
          </a:xfrm>
          <a:prstGeom prst="line">
            <a:avLst/>
          </a:prstGeom>
          <a:noFill/>
          <a:ln w="22860">
            <a:solidFill>
              <a:srgbClr val="4F46E5"/>
            </a:solidFill>
            <a:prstDash val="solid"/>
          </a:ln>
        </p:spPr>
      </p:sp>
      <p:sp>
        <p:nvSpPr>
          <p:cNvPr id="14" name="Shape 12"/>
          <p:cNvSpPr/>
          <p:nvPr/>
        </p:nvSpPr>
        <p:spPr>
          <a:xfrm>
            <a:off x="8550871" y="3322512"/>
            <a:ext cx="49413" cy="0"/>
          </a:xfrm>
          <a:prstGeom prst="line">
            <a:avLst/>
          </a:prstGeom>
          <a:noFill/>
          <a:ln w="22860">
            <a:solidFill>
              <a:srgbClr val="4F46E5"/>
            </a:solidFill>
            <a:prstDash val="solid"/>
          </a:ln>
        </p:spPr>
      </p:sp>
      <p:sp>
        <p:nvSpPr>
          <p:cNvPr id="15" name="Shape 13"/>
          <p:cNvSpPr/>
          <p:nvPr/>
        </p:nvSpPr>
        <p:spPr>
          <a:xfrm flipV="1">
            <a:off x="8600284" y="2893927"/>
            <a:ext cx="0" cy="428586"/>
          </a:xfrm>
          <a:prstGeom prst="line">
            <a:avLst/>
          </a:prstGeom>
          <a:noFill/>
          <a:ln w="22860">
            <a:solidFill>
              <a:srgbClr val="4F46E5"/>
            </a:solidFill>
            <a:prstDash val="solid"/>
          </a:ln>
        </p:spPr>
      </p:sp>
      <p:sp>
        <p:nvSpPr>
          <p:cNvPr id="16" name="Shape 14"/>
          <p:cNvSpPr/>
          <p:nvPr/>
        </p:nvSpPr>
        <p:spPr>
          <a:xfrm>
            <a:off x="8600284" y="2893927"/>
            <a:ext cx="304712" cy="0"/>
          </a:xfrm>
          <a:prstGeom prst="line">
            <a:avLst/>
          </a:prstGeom>
          <a:noFill/>
          <a:ln w="22860">
            <a:solidFill>
              <a:srgbClr val="4F46E5"/>
            </a:solidFill>
            <a:prstDash val="solid"/>
          </a:ln>
        </p:spPr>
      </p:sp>
      <p:sp>
        <p:nvSpPr>
          <p:cNvPr id="17" name="Shape 15"/>
          <p:cNvSpPr/>
          <p:nvPr/>
        </p:nvSpPr>
        <p:spPr>
          <a:xfrm>
            <a:off x="8904996" y="2893927"/>
            <a:ext cx="0" cy="428586"/>
          </a:xfrm>
          <a:prstGeom prst="line">
            <a:avLst/>
          </a:prstGeom>
          <a:noFill/>
          <a:ln w="22860">
            <a:solidFill>
              <a:srgbClr val="4F46E5"/>
            </a:solidFill>
            <a:prstDash val="solid"/>
          </a:ln>
        </p:spPr>
      </p:sp>
      <p:sp>
        <p:nvSpPr>
          <p:cNvPr id="18" name="Shape 16"/>
          <p:cNvSpPr/>
          <p:nvPr/>
        </p:nvSpPr>
        <p:spPr>
          <a:xfrm>
            <a:off x="3568412" y="3322512"/>
            <a:ext cx="49413" cy="0"/>
          </a:xfrm>
          <a:prstGeom prst="line">
            <a:avLst/>
          </a:prstGeom>
          <a:noFill/>
          <a:ln w="22860">
            <a:solidFill>
              <a:srgbClr val="4F46E5"/>
            </a:solidFill>
            <a:prstDash val="solid"/>
            <a:tailEnd type="triangle"/>
          </a:ln>
        </p:spPr>
      </p:sp>
      <p:sp>
        <p:nvSpPr>
          <p:cNvPr id="19" name="Shape 17"/>
          <p:cNvSpPr/>
          <p:nvPr/>
        </p:nvSpPr>
        <p:spPr>
          <a:xfrm>
            <a:off x="6236704" y="3322512"/>
            <a:ext cx="49413" cy="0"/>
          </a:xfrm>
          <a:prstGeom prst="line">
            <a:avLst/>
          </a:prstGeom>
          <a:noFill/>
          <a:ln w="22860">
            <a:solidFill>
              <a:srgbClr val="4F46E5"/>
            </a:solidFill>
            <a:prstDash val="solid"/>
            <a:tailEnd type="triangle"/>
          </a:ln>
        </p:spPr>
      </p:sp>
      <p:sp>
        <p:nvSpPr>
          <p:cNvPr id="20" name="Shape 18"/>
          <p:cNvSpPr/>
          <p:nvPr/>
        </p:nvSpPr>
        <p:spPr>
          <a:xfrm>
            <a:off x="8904996" y="3322512"/>
            <a:ext cx="49413" cy="0"/>
          </a:xfrm>
          <a:prstGeom prst="line">
            <a:avLst/>
          </a:prstGeom>
          <a:noFill/>
          <a:ln w="22860">
            <a:solidFill>
              <a:srgbClr val="4F46E5"/>
            </a:solidFill>
            <a:prstDash val="solid"/>
            <a:tailEnd type="triangle"/>
          </a:ln>
        </p:spPr>
      </p:sp>
      <p:sp>
        <p:nvSpPr>
          <p:cNvPr id="21" name="Shape 19"/>
          <p:cNvSpPr/>
          <p:nvPr/>
        </p:nvSpPr>
        <p:spPr>
          <a:xfrm>
            <a:off x="3626060" y="4417787"/>
            <a:ext cx="535306" cy="0"/>
          </a:xfrm>
          <a:prstGeom prst="line">
            <a:avLst/>
          </a:prstGeom>
          <a:noFill/>
          <a:ln w="22860">
            <a:solidFill>
              <a:srgbClr val="4F46E5"/>
            </a:solidFill>
            <a:prstDash val="solid"/>
            <a:tailEnd type="triangle"/>
          </a:ln>
        </p:spPr>
      </p:sp>
      <p:sp>
        <p:nvSpPr>
          <p:cNvPr id="22" name="Shape 20"/>
          <p:cNvSpPr/>
          <p:nvPr/>
        </p:nvSpPr>
        <p:spPr>
          <a:xfrm>
            <a:off x="949532" y="2917737"/>
            <a:ext cx="2264754" cy="809551"/>
          </a:xfrm>
          <a:prstGeom prst="rect">
            <a:avLst/>
          </a:prstGeom>
          <a:solidFill>
            <a:srgbClr val="E5F7EF"/>
          </a:solidFill>
          <a:ln w="15240">
            <a:solidFill>
              <a:srgbClr val="009E73"/>
            </a:solidFill>
            <a:prstDash val="solid"/>
          </a:ln>
        </p:spPr>
      </p:sp>
      <p:sp>
        <p:nvSpPr>
          <p:cNvPr id="23" name="Shape 21"/>
          <p:cNvSpPr/>
          <p:nvPr/>
        </p:nvSpPr>
        <p:spPr>
          <a:xfrm>
            <a:off x="3617825" y="2917737"/>
            <a:ext cx="2264754" cy="809551"/>
          </a:xfrm>
          <a:prstGeom prst="roundRect">
            <a:avLst>
              <a:gd name="adj" fmla="val 9036"/>
            </a:avLst>
          </a:prstGeom>
          <a:solidFill>
            <a:srgbClr val="FFF0E6"/>
          </a:solidFill>
          <a:ln w="15240">
            <a:solidFill>
              <a:srgbClr val="D55E00"/>
            </a:solidFill>
            <a:prstDash val="solid"/>
          </a:ln>
        </p:spPr>
      </p:sp>
      <p:sp>
        <p:nvSpPr>
          <p:cNvPr id="24" name="Shape 22"/>
          <p:cNvSpPr/>
          <p:nvPr/>
        </p:nvSpPr>
        <p:spPr>
          <a:xfrm>
            <a:off x="6286117" y="2917737"/>
            <a:ext cx="2264754" cy="809551"/>
          </a:xfrm>
          <a:prstGeom prst="roundRect">
            <a:avLst>
              <a:gd name="adj" fmla="val 9036"/>
            </a:avLst>
          </a:prstGeom>
          <a:solidFill>
            <a:srgbClr val="FFF0E6"/>
          </a:solidFill>
          <a:ln w="15240">
            <a:solidFill>
              <a:srgbClr val="D55E00"/>
            </a:solidFill>
            <a:prstDash val="solid"/>
          </a:ln>
        </p:spPr>
      </p:sp>
      <p:sp>
        <p:nvSpPr>
          <p:cNvPr id="25" name="Shape 23"/>
          <p:cNvSpPr/>
          <p:nvPr/>
        </p:nvSpPr>
        <p:spPr>
          <a:xfrm>
            <a:off x="8954409" y="2917737"/>
            <a:ext cx="2264754" cy="809551"/>
          </a:xfrm>
          <a:prstGeom prst="roundRect">
            <a:avLst>
              <a:gd name="adj" fmla="val 9036"/>
            </a:avLst>
          </a:prstGeom>
          <a:solidFill>
            <a:srgbClr val="FFF0E6"/>
          </a:solidFill>
          <a:ln w="15240">
            <a:solidFill>
              <a:srgbClr val="D55E00"/>
            </a:solidFill>
            <a:prstDash val="solid"/>
          </a:ln>
        </p:spPr>
      </p:sp>
      <p:sp>
        <p:nvSpPr>
          <p:cNvPr id="26" name="Text 24"/>
          <p:cNvSpPr txBox="1"/>
          <p:nvPr/>
        </p:nvSpPr>
        <p:spPr>
          <a:xfrm>
            <a:off x="1448269" y="3061272"/>
            <a:ext cx="1267281" cy="261240"/>
          </a:xfrm>
          <a:prstGeom prst="rect">
            <a:avLst/>
          </a:prstGeom>
          <a:noFill/>
          <a:ln/>
        </p:spPr>
        <p:txBody>
          <a:bodyPr wrap="square" lIns="0" tIns="0" rIns="0" bIns="0" rtlCol="0" anchor="ctr"/>
          <a:lstStyle/>
          <a:p>
            <a:pPr algn="ctr" indent="0" marL="0">
              <a:lnSpc>
                <a:spcPct val="116000"/>
              </a:lnSpc>
              <a:buNone/>
            </a:pPr>
            <a:r>
              <a:rPr lang="en-US" sz="1773" b="1" dirty="0">
                <a:solidFill>
                  <a:srgbClr val="1E1B4B"/>
                </a:solidFill>
                <a:latin typeface="Arial" pitchFamily="34" charset="0"/>
                <a:ea typeface="Arial" pitchFamily="34" charset="-122"/>
                <a:cs typeface="Arial" pitchFamily="34" charset="-120"/>
              </a:rPr>
              <a:t>Load parts</a:t>
            </a:r>
            <a:endParaRPr lang="en-US" sz="1773" dirty="0"/>
          </a:p>
        </p:txBody>
      </p:sp>
      <p:sp>
        <p:nvSpPr>
          <p:cNvPr id="27" name="Text 25"/>
          <p:cNvSpPr txBox="1"/>
          <p:nvPr/>
        </p:nvSpPr>
        <p:spPr>
          <a:xfrm>
            <a:off x="1448269" y="3322512"/>
            <a:ext cx="1267281" cy="261240"/>
          </a:xfrm>
          <a:prstGeom prst="rect">
            <a:avLst/>
          </a:prstGeom>
          <a:noFill/>
          <a:ln/>
        </p:spPr>
        <p:txBody>
          <a:bodyPr wrap="square" lIns="0" tIns="0" rIns="0" bIns="0" rtlCol="0" anchor="ctr"/>
          <a:lstStyle/>
          <a:p>
            <a:pPr algn="ctr" indent="0" marL="0">
              <a:lnSpc>
                <a:spcPct val="116000"/>
              </a:lnSpc>
              <a:buNone/>
            </a:pPr>
            <a:r>
              <a:rPr lang="en-US" sz="1773" b="1" dirty="0">
                <a:solidFill>
                  <a:srgbClr val="1E1B4B"/>
                </a:solidFill>
                <a:latin typeface="Arial" pitchFamily="34" charset="0"/>
                <a:ea typeface="Arial" pitchFamily="34" charset="-122"/>
                <a:cs typeface="Arial" pitchFamily="34" charset="-120"/>
              </a:rPr>
              <a:t>pretrained</a:t>
            </a:r>
            <a:endParaRPr lang="en-US" sz="1773" dirty="0"/>
          </a:p>
        </p:txBody>
      </p:sp>
      <p:sp>
        <p:nvSpPr>
          <p:cNvPr id="28" name="Text 26"/>
          <p:cNvSpPr txBox="1"/>
          <p:nvPr/>
        </p:nvSpPr>
        <p:spPr>
          <a:xfrm>
            <a:off x="4032649" y="3061272"/>
            <a:ext cx="1435105" cy="261240"/>
          </a:xfrm>
          <a:prstGeom prst="rect">
            <a:avLst/>
          </a:prstGeom>
          <a:noFill/>
          <a:ln/>
        </p:spPr>
        <p:txBody>
          <a:bodyPr wrap="square" lIns="0" tIns="0" rIns="0" bIns="0" rtlCol="0" anchor="ctr"/>
          <a:lstStyle/>
          <a:p>
            <a:pPr algn="ctr" indent="0" marL="0">
              <a:lnSpc>
                <a:spcPct val="116000"/>
              </a:lnSpc>
              <a:buNone/>
            </a:pPr>
            <a:r>
              <a:rPr lang="en-US" sz="1773" b="1" dirty="0">
                <a:solidFill>
                  <a:srgbClr val="1E1B4B"/>
                </a:solidFill>
                <a:latin typeface="Arial" pitchFamily="34" charset="0"/>
                <a:ea typeface="Arial" pitchFamily="34" charset="-122"/>
                <a:cs typeface="Arial" pitchFamily="34" charset="-120"/>
              </a:rPr>
              <a:t>Align bridge</a:t>
            </a:r>
            <a:endParaRPr lang="en-US" sz="1773" dirty="0"/>
          </a:p>
        </p:txBody>
      </p:sp>
      <p:sp>
        <p:nvSpPr>
          <p:cNvPr id="29" name="Text 27"/>
          <p:cNvSpPr txBox="1"/>
          <p:nvPr/>
        </p:nvSpPr>
        <p:spPr>
          <a:xfrm>
            <a:off x="4032649" y="3322512"/>
            <a:ext cx="1435105" cy="261240"/>
          </a:xfrm>
          <a:prstGeom prst="rect">
            <a:avLst/>
          </a:prstGeom>
          <a:noFill/>
          <a:ln/>
        </p:spPr>
        <p:txBody>
          <a:bodyPr wrap="square" lIns="0" tIns="0" rIns="0" bIns="0" rtlCol="0" anchor="ctr"/>
          <a:lstStyle/>
          <a:p>
            <a:pPr algn="ctr" indent="0" marL="0">
              <a:lnSpc>
                <a:spcPct val="116000"/>
              </a:lnSpc>
              <a:buNone/>
            </a:pPr>
            <a:r>
              <a:rPr lang="en-US" sz="1773" b="1" dirty="0">
                <a:solidFill>
                  <a:srgbClr val="1E1B4B"/>
                </a:solidFill>
                <a:latin typeface="Arial" pitchFamily="34" charset="0"/>
                <a:ea typeface="Arial" pitchFamily="34" charset="-122"/>
                <a:cs typeface="Arial" pitchFamily="34" charset="-120"/>
              </a:rPr>
              <a:t>captions</a:t>
            </a:r>
            <a:endParaRPr lang="en-US" sz="1773" dirty="0"/>
          </a:p>
        </p:txBody>
      </p:sp>
      <p:sp>
        <p:nvSpPr>
          <p:cNvPr id="30" name="Text 28"/>
          <p:cNvSpPr txBox="1"/>
          <p:nvPr/>
        </p:nvSpPr>
        <p:spPr>
          <a:xfrm>
            <a:off x="6418083" y="3061272"/>
            <a:ext cx="2000822" cy="261240"/>
          </a:xfrm>
          <a:prstGeom prst="rect">
            <a:avLst/>
          </a:prstGeom>
          <a:noFill/>
          <a:ln/>
        </p:spPr>
        <p:txBody>
          <a:bodyPr wrap="square" lIns="0" tIns="0" rIns="0" bIns="0" rtlCol="0" anchor="ctr"/>
          <a:lstStyle/>
          <a:p>
            <a:pPr algn="ctr" indent="0" marL="0">
              <a:lnSpc>
                <a:spcPct val="116000"/>
              </a:lnSpc>
              <a:buNone/>
            </a:pPr>
            <a:r>
              <a:rPr lang="en-US" sz="1773" b="1" dirty="0">
                <a:solidFill>
                  <a:srgbClr val="1E1B4B"/>
                </a:solidFill>
                <a:latin typeface="Arial" pitchFamily="34" charset="0"/>
                <a:ea typeface="Arial" pitchFamily="34" charset="-122"/>
                <a:cs typeface="Arial" pitchFamily="34" charset="-120"/>
              </a:rPr>
              <a:t>Tune instructions</a:t>
            </a:r>
            <a:endParaRPr lang="en-US" sz="1773" dirty="0"/>
          </a:p>
        </p:txBody>
      </p:sp>
      <p:sp>
        <p:nvSpPr>
          <p:cNvPr id="31" name="Text 29"/>
          <p:cNvSpPr txBox="1"/>
          <p:nvPr/>
        </p:nvSpPr>
        <p:spPr>
          <a:xfrm>
            <a:off x="6418083" y="3322512"/>
            <a:ext cx="2000822" cy="261240"/>
          </a:xfrm>
          <a:prstGeom prst="rect">
            <a:avLst/>
          </a:prstGeom>
          <a:noFill/>
          <a:ln/>
        </p:spPr>
        <p:txBody>
          <a:bodyPr wrap="square" lIns="0" tIns="0" rIns="0" bIns="0" rtlCol="0" anchor="ctr"/>
          <a:lstStyle/>
          <a:p>
            <a:pPr algn="ctr" indent="0" marL="0">
              <a:lnSpc>
                <a:spcPct val="116000"/>
              </a:lnSpc>
              <a:buNone/>
            </a:pPr>
            <a:r>
              <a:rPr lang="en-US" sz="1773" b="1" dirty="0">
                <a:solidFill>
                  <a:srgbClr val="1E1B4B"/>
                </a:solidFill>
                <a:latin typeface="Arial" pitchFamily="34" charset="0"/>
                <a:ea typeface="Arial" pitchFamily="34" charset="-122"/>
                <a:cs typeface="Arial" pitchFamily="34" charset="-120"/>
              </a:rPr>
              <a:t>questions</a:t>
            </a:r>
            <a:endParaRPr lang="en-US" sz="1773" dirty="0"/>
          </a:p>
        </p:txBody>
      </p:sp>
      <p:sp>
        <p:nvSpPr>
          <p:cNvPr id="32" name="Text 30"/>
          <p:cNvSpPr txBox="1"/>
          <p:nvPr/>
        </p:nvSpPr>
        <p:spPr>
          <a:xfrm>
            <a:off x="9272072" y="3061272"/>
            <a:ext cx="1629428" cy="261240"/>
          </a:xfrm>
          <a:prstGeom prst="rect">
            <a:avLst/>
          </a:prstGeom>
          <a:noFill/>
          <a:ln/>
        </p:spPr>
        <p:txBody>
          <a:bodyPr wrap="square" lIns="0" tIns="0" rIns="0" bIns="0" rtlCol="0" anchor="ctr"/>
          <a:lstStyle/>
          <a:p>
            <a:pPr algn="ctr" indent="0" marL="0">
              <a:lnSpc>
                <a:spcPct val="116000"/>
              </a:lnSpc>
              <a:buNone/>
            </a:pPr>
            <a:r>
              <a:rPr lang="en-US" sz="1773" b="1" dirty="0">
                <a:solidFill>
                  <a:srgbClr val="1E1B4B"/>
                </a:solidFill>
                <a:latin typeface="Arial" pitchFamily="34" charset="0"/>
                <a:ea typeface="Arial" pitchFamily="34" charset="-122"/>
                <a:cs typeface="Arial" pitchFamily="34" charset="-120"/>
              </a:rPr>
              <a:t>Adapt domain</a:t>
            </a:r>
            <a:endParaRPr lang="en-US" sz="1773" dirty="0"/>
          </a:p>
        </p:txBody>
      </p:sp>
      <p:sp>
        <p:nvSpPr>
          <p:cNvPr id="33" name="Text 31"/>
          <p:cNvSpPr txBox="1"/>
          <p:nvPr/>
        </p:nvSpPr>
        <p:spPr>
          <a:xfrm>
            <a:off x="9272072" y="3322512"/>
            <a:ext cx="1629428" cy="261240"/>
          </a:xfrm>
          <a:prstGeom prst="rect">
            <a:avLst/>
          </a:prstGeom>
          <a:noFill/>
          <a:ln/>
        </p:spPr>
        <p:txBody>
          <a:bodyPr wrap="square" lIns="0" tIns="0" rIns="0" bIns="0" rtlCol="0" anchor="ctr"/>
          <a:lstStyle/>
          <a:p>
            <a:pPr algn="ctr" indent="0" marL="0">
              <a:lnSpc>
                <a:spcPct val="116000"/>
              </a:lnSpc>
              <a:buNone/>
            </a:pPr>
            <a:r>
              <a:rPr lang="en-US" sz="1773" b="1" dirty="0">
                <a:solidFill>
                  <a:srgbClr val="1E1B4B"/>
                </a:solidFill>
                <a:latin typeface="Arial" pitchFamily="34" charset="0"/>
                <a:ea typeface="Arial" pitchFamily="34" charset="-122"/>
                <a:cs typeface="Arial" pitchFamily="34" charset="-120"/>
              </a:rPr>
              <a:t>optional</a:t>
            </a:r>
            <a:endParaRPr lang="en-US" sz="1773" dirty="0"/>
          </a:p>
        </p:txBody>
      </p:sp>
      <p:sp>
        <p:nvSpPr>
          <p:cNvPr id="34" name="Text 32"/>
          <p:cNvSpPr txBox="1"/>
          <p:nvPr/>
        </p:nvSpPr>
        <p:spPr>
          <a:xfrm>
            <a:off x="3017403" y="2689752"/>
            <a:ext cx="797304" cy="233741"/>
          </a:xfrm>
          <a:prstGeom prst="rect">
            <a:avLst/>
          </a:prstGeom>
          <a:solidFill>
            <a:srgbClr val="FFFFFF"/>
          </a:solidFill>
          <a:ln/>
        </p:spPr>
        <p:txBody>
          <a:bodyPr wrap="square" lIns="0" tIns="0" rIns="0" bIns="0" rtlCol="0" anchor="ctr"/>
          <a:lstStyle/>
          <a:p>
            <a:pPr algn="ctr" indent="0" marL="0">
              <a:lnSpc>
                <a:spcPct val="116000"/>
              </a:lnSpc>
              <a:buNone/>
            </a:pPr>
            <a:r>
              <a:rPr lang="en-US" sz="1587" dirty="0">
                <a:solidFill>
                  <a:srgbClr val="1F2937"/>
                </a:solidFill>
                <a:latin typeface="Arial" pitchFamily="34" charset="0"/>
                <a:ea typeface="Arial" pitchFamily="34" charset="-122"/>
                <a:cs typeface="Arial" pitchFamily="34" charset="-120"/>
              </a:rPr>
              <a:t>weights</a:t>
            </a:r>
            <a:endParaRPr lang="en-US" sz="1587" dirty="0"/>
          </a:p>
        </p:txBody>
      </p:sp>
      <p:sp>
        <p:nvSpPr>
          <p:cNvPr id="35" name="Text 33"/>
          <p:cNvSpPr txBox="1"/>
          <p:nvPr/>
        </p:nvSpPr>
        <p:spPr>
          <a:xfrm>
            <a:off x="5323548" y="2689752"/>
            <a:ext cx="1521599" cy="233741"/>
          </a:xfrm>
          <a:prstGeom prst="rect">
            <a:avLst/>
          </a:prstGeom>
          <a:solidFill>
            <a:srgbClr val="FFFFFF"/>
          </a:solidFill>
          <a:ln/>
        </p:spPr>
        <p:txBody>
          <a:bodyPr wrap="square" lIns="0" tIns="0" rIns="0" bIns="0" rtlCol="0" anchor="ctr"/>
          <a:lstStyle/>
          <a:p>
            <a:pPr algn="ctr" indent="0" marL="0">
              <a:lnSpc>
                <a:spcPct val="116000"/>
              </a:lnSpc>
              <a:buNone/>
            </a:pPr>
            <a:r>
              <a:rPr lang="en-US" sz="1587" dirty="0">
                <a:solidFill>
                  <a:srgbClr val="1F2937"/>
                </a:solidFill>
                <a:latin typeface="Arial" pitchFamily="34" charset="0"/>
                <a:ea typeface="Arial" pitchFamily="34" charset="-122"/>
                <a:cs typeface="Arial" pitchFamily="34" charset="-120"/>
              </a:rPr>
              <a:t>aligned weights</a:t>
            </a:r>
            <a:endParaRPr lang="en-US" sz="1587" dirty="0"/>
          </a:p>
        </p:txBody>
      </p:sp>
      <p:sp>
        <p:nvSpPr>
          <p:cNvPr id="36" name="Text 34"/>
          <p:cNvSpPr txBox="1"/>
          <p:nvPr/>
        </p:nvSpPr>
        <p:spPr>
          <a:xfrm>
            <a:off x="8062503" y="2689752"/>
            <a:ext cx="1380273" cy="233741"/>
          </a:xfrm>
          <a:prstGeom prst="rect">
            <a:avLst/>
          </a:prstGeom>
          <a:solidFill>
            <a:srgbClr val="FFFFFF"/>
          </a:solidFill>
          <a:ln/>
        </p:spPr>
        <p:txBody>
          <a:bodyPr wrap="square" lIns="0" tIns="0" rIns="0" bIns="0" rtlCol="0" anchor="ctr"/>
          <a:lstStyle/>
          <a:p>
            <a:pPr algn="ctr" indent="0" marL="0">
              <a:lnSpc>
                <a:spcPct val="116000"/>
              </a:lnSpc>
              <a:buNone/>
            </a:pPr>
            <a:r>
              <a:rPr lang="en-US" sz="1587" dirty="0">
                <a:solidFill>
                  <a:srgbClr val="1F2937"/>
                </a:solidFill>
                <a:latin typeface="Arial" pitchFamily="34" charset="0"/>
                <a:ea typeface="Arial" pitchFamily="34" charset="-122"/>
                <a:cs typeface="Arial" pitchFamily="34" charset="-120"/>
              </a:rPr>
              <a:t>tuned weights</a:t>
            </a:r>
            <a:endParaRPr lang="en-US" sz="1587" dirty="0"/>
          </a:p>
        </p:txBody>
      </p:sp>
      <p:sp>
        <p:nvSpPr>
          <p:cNvPr id="37" name="Text 35"/>
          <p:cNvSpPr txBox="1"/>
          <p:nvPr/>
        </p:nvSpPr>
        <p:spPr>
          <a:xfrm>
            <a:off x="949532" y="3781395"/>
            <a:ext cx="4159126" cy="247491"/>
          </a:xfrm>
          <a:prstGeom prst="rect">
            <a:avLst/>
          </a:prstGeom>
          <a:noFill/>
          <a:ln/>
        </p:spPr>
        <p:txBody>
          <a:bodyPr wrap="square" lIns="0" tIns="0" rIns="0" bIns="0" rtlCol="0" anchor="ctr"/>
          <a:lstStyle/>
          <a:p>
            <a:pPr algn="l" indent="0" marL="0">
              <a:lnSpc>
                <a:spcPct val="116000"/>
              </a:lnSpc>
              <a:buNone/>
            </a:pPr>
            <a:r>
              <a:rPr lang="en-US" sz="1680" dirty="0">
                <a:solidFill>
                  <a:srgbClr val="1F2937"/>
                </a:solidFill>
                <a:latin typeface="Arial" pitchFamily="34" charset="0"/>
                <a:ea typeface="Arial" pitchFamily="34" charset="-122"/>
                <a:cs typeface="Arial" pitchFamily="34" charset="-120"/>
              </a:rPr>
              <a:t>Recipe varies; preference tuning optional</a:t>
            </a:r>
            <a:endParaRPr lang="en-US" sz="1680" dirty="0"/>
          </a:p>
        </p:txBody>
      </p:sp>
      <p:sp>
        <p:nvSpPr>
          <p:cNvPr id="38" name="Text 36"/>
          <p:cNvSpPr txBox="1"/>
          <p:nvPr/>
        </p:nvSpPr>
        <p:spPr>
          <a:xfrm>
            <a:off x="1130713" y="4300917"/>
            <a:ext cx="655979" cy="233741"/>
          </a:xfrm>
          <a:prstGeom prst="rect">
            <a:avLst/>
          </a:prstGeom>
          <a:noFill/>
          <a:ln/>
        </p:spPr>
        <p:txBody>
          <a:bodyPr wrap="square" lIns="0" tIns="0" rIns="0" bIns="0" rtlCol="0" anchor="ctr"/>
          <a:lstStyle/>
          <a:p>
            <a:pPr algn="l" indent="0" marL="0">
              <a:lnSpc>
                <a:spcPct val="116000"/>
              </a:lnSpc>
              <a:buNone/>
            </a:pPr>
            <a:r>
              <a:rPr lang="en-US" sz="1587" dirty="0">
                <a:solidFill>
                  <a:srgbClr val="1F2937"/>
                </a:solidFill>
                <a:latin typeface="Arial" pitchFamily="34" charset="0"/>
                <a:ea typeface="Arial" pitchFamily="34" charset="-122"/>
                <a:cs typeface="Arial" pitchFamily="34" charset="-120"/>
              </a:rPr>
              <a:t>Model</a:t>
            </a:r>
            <a:endParaRPr lang="en-US" sz="1587" dirty="0"/>
          </a:p>
        </p:txBody>
      </p:sp>
      <p:sp>
        <p:nvSpPr>
          <p:cNvPr id="39" name="Text 37"/>
          <p:cNvSpPr txBox="1"/>
          <p:nvPr/>
        </p:nvSpPr>
        <p:spPr>
          <a:xfrm>
            <a:off x="2448388" y="4300917"/>
            <a:ext cx="532319" cy="233741"/>
          </a:xfrm>
          <a:prstGeom prst="rect">
            <a:avLst/>
          </a:prstGeom>
          <a:noFill/>
          <a:ln/>
        </p:spPr>
        <p:txBody>
          <a:bodyPr wrap="square" lIns="0" tIns="0" rIns="0" bIns="0" rtlCol="0" anchor="ctr"/>
          <a:lstStyle/>
          <a:p>
            <a:pPr algn="l" indent="0" marL="0">
              <a:lnSpc>
                <a:spcPct val="116000"/>
              </a:lnSpc>
              <a:buNone/>
            </a:pPr>
            <a:r>
              <a:rPr lang="en-US" sz="1587" dirty="0">
                <a:solidFill>
                  <a:srgbClr val="1F2937"/>
                </a:solidFill>
                <a:latin typeface="Arial" pitchFamily="34" charset="0"/>
                <a:ea typeface="Arial" pitchFamily="34" charset="-122"/>
                <a:cs typeface="Arial" pitchFamily="34" charset="-120"/>
              </a:rPr>
              <a:t>Loss</a:t>
            </a:r>
            <a:endParaRPr lang="en-US" sz="1587" dirty="0"/>
          </a:p>
        </p:txBody>
      </p:sp>
      <p:sp>
        <p:nvSpPr>
          <p:cNvPr id="40" name="Text 38"/>
          <p:cNvSpPr txBox="1"/>
          <p:nvPr/>
        </p:nvSpPr>
        <p:spPr>
          <a:xfrm>
            <a:off x="4326075" y="4300917"/>
            <a:ext cx="532319" cy="233741"/>
          </a:xfrm>
          <a:prstGeom prst="rect">
            <a:avLst/>
          </a:prstGeom>
          <a:noFill/>
          <a:ln/>
        </p:spPr>
        <p:txBody>
          <a:bodyPr wrap="square" lIns="0" tIns="0" rIns="0" bIns="0" rtlCol="0" anchor="ctr"/>
          <a:lstStyle/>
          <a:p>
            <a:pPr algn="l" indent="0" marL="0">
              <a:lnSpc>
                <a:spcPct val="116000"/>
              </a:lnSpc>
              <a:buNone/>
            </a:pPr>
            <a:r>
              <a:rPr lang="en-US" sz="1587" dirty="0">
                <a:solidFill>
                  <a:srgbClr val="1F2937"/>
                </a:solidFill>
                <a:latin typeface="Arial" pitchFamily="34" charset="0"/>
                <a:ea typeface="Arial" pitchFamily="34" charset="-122"/>
                <a:cs typeface="Arial" pitchFamily="34" charset="-120"/>
              </a:rPr>
              <a:t>Flow</a:t>
            </a:r>
            <a:endParaRPr lang="en-US" sz="1587" dirty="0"/>
          </a:p>
        </p:txBody>
      </p:sp>
      <p:sp>
        <p:nvSpPr>
          <p:cNvPr id="41" name="Text 39"/>
          <p:cNvSpPr txBox="1"/>
          <p:nvPr/>
        </p:nvSpPr>
        <p:spPr>
          <a:xfrm>
            <a:off x="548640" y="4916773"/>
            <a:ext cx="11094415" cy="1392587"/>
          </a:xfrm>
          <a:prstGeom prst="rect">
            <a:avLst/>
          </a:prstGeom>
          <a:noFill/>
          <a:ln/>
        </p:spPr>
        <p:txBody>
          <a:bodyPr wrap="square" lIns="50800" tIns="50800" rIns="50800" bIns="50800" rtlCol="0" anchor="t"/>
          <a:lstStyle/>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Conceptual recipe; lab uses pretrained weights.</a:t>
            </a:r>
            <a:endParaRPr lang="en-US" sz="2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10  ·  MULTIMODAL GENERATIVE AI APPLICATIONS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20</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Data for multimodal training</a:t>
            </a:r>
            <a:endParaRPr lang="en-US" sz="3200" dirty="0"/>
          </a:p>
        </p:txBody>
      </p:sp>
      <p:sp>
        <p:nvSpPr>
          <p:cNvPr id="6" name="Text 4"/>
          <p:cNvSpPr txBox="1"/>
          <p:nvPr/>
        </p:nvSpPr>
        <p:spPr>
          <a:xfrm>
            <a:off x="548640" y="1481328"/>
            <a:ext cx="4297680" cy="4828032"/>
          </a:xfrm>
          <a:prstGeom prst="rect">
            <a:avLst/>
          </a:prstGeom>
          <a:noFill/>
          <a:ln/>
        </p:spPr>
        <p:txBody>
          <a:bodyPr wrap="square" lIns="50800" tIns="50800" rIns="50800" bIns="50800" rtlCol="0" anchor="t"/>
          <a:lstStyle/>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Review labels, licences and consent.</a:t>
            </a:r>
            <a:endParaRPr lang="en-US" sz="2600" dirty="0"/>
          </a:p>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Mixed documents preserve context.</a:t>
            </a:r>
            <a:endParaRPr lang="en-US" sz="26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257800" y="1481328"/>
          <a:ext cx="6385255" cy="914400"/>
        </p:xfrm>
        <a:graphic>
          <a:graphicData uri="http://schemas.openxmlformats.org/drawingml/2006/table">
            <a:tbl>
              <a:tblPr/>
              <a:tblGrid>
                <a:gridCol w="3192628"/>
                <a:gridCol w="3192628"/>
              </a:tblGrid>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Input</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Target</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r>
              <a:tr h="0">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Image</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Caption</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Chart</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Known answer</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Speech</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Transcript</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Document</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Field</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10  ·  MULTIMODAL GENERATIVE AI APPLICATIONS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21</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Adapting a multimodal model to your domain</a:t>
            </a:r>
            <a:endParaRPr lang="en-US" sz="3200" dirty="0"/>
          </a:p>
        </p:txBody>
      </p:sp>
      <p:sp>
        <p:nvSpPr>
          <p:cNvPr id="6" name="Text 4"/>
          <p:cNvSpPr txBox="1"/>
          <p:nvPr/>
        </p:nvSpPr>
        <p:spPr>
          <a:xfrm>
            <a:off x="548640" y="1481328"/>
            <a:ext cx="4297680" cy="4828032"/>
          </a:xfrm>
          <a:prstGeom prst="rect">
            <a:avLst/>
          </a:prstGeom>
          <a:noFill/>
          <a:ln/>
        </p:spPr>
        <p:txBody>
          <a:bodyPr wrap="square" lIns="50800" tIns="50800" rIns="50800" bIns="50800" rtlCol="0" anchor="t"/>
          <a:lstStyle/>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Define the domain task.</a:t>
            </a:r>
            <a:endParaRPr lang="en-US" sz="2600" dirty="0"/>
          </a:p>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Keep a separate test set.</a:t>
            </a:r>
            <a:endParaRPr lang="en-US" sz="2600" dirty="0"/>
          </a:p>
        </p:txBody>
      </p:sp>
      <p:sp>
        <p:nvSpPr>
          <p:cNvPr id="7" name="Shape 5"/>
          <p:cNvSpPr/>
          <p:nvPr/>
        </p:nvSpPr>
        <p:spPr>
          <a:xfrm>
            <a:off x="5257800" y="2624328"/>
            <a:ext cx="6385255" cy="0"/>
          </a:xfrm>
          <a:prstGeom prst="line">
            <a:avLst/>
          </a:prstGeom>
          <a:noFill/>
          <a:ln w="12700">
            <a:solidFill>
              <a:srgbClr val="C7D2FE"/>
            </a:solidFill>
            <a:prstDash val="solid"/>
          </a:ln>
        </p:spPr>
      </p:sp>
      <p:sp>
        <p:nvSpPr>
          <p:cNvPr id="8" name="Text 6"/>
          <p:cNvSpPr txBox="1"/>
          <p:nvPr/>
        </p:nvSpPr>
        <p:spPr>
          <a:xfrm>
            <a:off x="5257800" y="1481328"/>
            <a:ext cx="1371600" cy="1033272"/>
          </a:xfrm>
          <a:prstGeom prst="rect">
            <a:avLst/>
          </a:prstGeom>
          <a:noFill/>
          <a:ln/>
        </p:spPr>
        <p:txBody>
          <a:bodyPr wrap="square" lIns="0" tIns="0" rIns="0" bIns="0" rtlCol="0" anchor="ctr"/>
          <a:lstStyle/>
          <a:p>
            <a:pPr indent="0" marL="0">
              <a:buNone/>
            </a:pPr>
            <a:r>
              <a:rPr lang="en-US" sz="1800" b="1" dirty="0">
                <a:solidFill>
                  <a:srgbClr val="0F766E"/>
                </a:solidFill>
                <a:latin typeface="Calibri" pitchFamily="34" charset="0"/>
                <a:ea typeface="Calibri" pitchFamily="34" charset="-122"/>
                <a:cs typeface="Calibri" pitchFamily="34" charset="-120"/>
              </a:rPr>
              <a:t>First</a:t>
            </a:r>
            <a:endParaRPr lang="en-US" sz="1800" dirty="0"/>
          </a:p>
        </p:txBody>
      </p:sp>
      <p:sp>
        <p:nvSpPr>
          <p:cNvPr id="9" name="Text 7"/>
          <p:cNvSpPr txBox="1"/>
          <p:nvPr/>
        </p:nvSpPr>
        <p:spPr>
          <a:xfrm>
            <a:off x="6766560" y="1481328"/>
            <a:ext cx="4876495" cy="1033272"/>
          </a:xfrm>
          <a:prstGeom prst="rect">
            <a:avLst/>
          </a:prstGeom>
          <a:noFill/>
          <a:ln/>
        </p:spPr>
        <p:txBody>
          <a:bodyPr wrap="square" lIns="0" tIns="0" rIns="0" bIns="0" rtlCol="0" anchor="ctr"/>
          <a:lstStyle/>
          <a:p>
            <a:pPr indent="0" marL="0">
              <a:buNone/>
            </a:pPr>
            <a:r>
              <a:rPr lang="en-US" sz="2200" dirty="0">
                <a:solidFill>
                  <a:srgbClr val="1F2937"/>
                </a:solidFill>
                <a:latin typeface="Calibri" pitchFamily="34" charset="0"/>
                <a:ea typeface="Calibri" pitchFamily="34" charset="-122"/>
                <a:cs typeface="Calibri" pitchFamily="34" charset="-120"/>
              </a:rPr>
              <a:t>Prompt; check extraction.</a:t>
            </a:r>
            <a:endParaRPr lang="en-US" sz="2200" dirty="0"/>
          </a:p>
        </p:txBody>
      </p:sp>
      <p:sp>
        <p:nvSpPr>
          <p:cNvPr id="10" name="Shape 8"/>
          <p:cNvSpPr/>
          <p:nvPr/>
        </p:nvSpPr>
        <p:spPr>
          <a:xfrm>
            <a:off x="5257800" y="3950208"/>
            <a:ext cx="6385255" cy="0"/>
          </a:xfrm>
          <a:prstGeom prst="line">
            <a:avLst/>
          </a:prstGeom>
          <a:noFill/>
          <a:ln w="12700">
            <a:solidFill>
              <a:srgbClr val="C7D2FE"/>
            </a:solidFill>
            <a:prstDash val="solid"/>
          </a:ln>
        </p:spPr>
      </p:sp>
      <p:sp>
        <p:nvSpPr>
          <p:cNvPr id="11" name="Text 9"/>
          <p:cNvSpPr txBox="1"/>
          <p:nvPr/>
        </p:nvSpPr>
        <p:spPr>
          <a:xfrm>
            <a:off x="5257800" y="2807208"/>
            <a:ext cx="1371600" cy="1033272"/>
          </a:xfrm>
          <a:prstGeom prst="rect">
            <a:avLst/>
          </a:prstGeom>
          <a:noFill/>
          <a:ln/>
        </p:spPr>
        <p:txBody>
          <a:bodyPr wrap="square" lIns="0" tIns="0" rIns="0" bIns="0" rtlCol="0" anchor="ctr"/>
          <a:lstStyle/>
          <a:p>
            <a:pPr indent="0" marL="0">
              <a:buNone/>
            </a:pPr>
            <a:r>
              <a:rPr lang="en-US" sz="1800" b="1" dirty="0">
                <a:solidFill>
                  <a:srgbClr val="0F766E"/>
                </a:solidFill>
                <a:latin typeface="Calibri" pitchFamily="34" charset="0"/>
                <a:ea typeface="Calibri" pitchFamily="34" charset="-122"/>
                <a:cs typeface="Calibri" pitchFamily="34" charset="-120"/>
              </a:rPr>
              <a:t>Evidence</a:t>
            </a:r>
            <a:endParaRPr lang="en-US" sz="1800" dirty="0"/>
          </a:p>
        </p:txBody>
      </p:sp>
      <p:sp>
        <p:nvSpPr>
          <p:cNvPr id="12" name="Text 10"/>
          <p:cNvSpPr txBox="1"/>
          <p:nvPr/>
        </p:nvSpPr>
        <p:spPr>
          <a:xfrm>
            <a:off x="6766560" y="2807208"/>
            <a:ext cx="4876495" cy="1033272"/>
          </a:xfrm>
          <a:prstGeom prst="rect">
            <a:avLst/>
          </a:prstGeom>
          <a:noFill/>
          <a:ln/>
        </p:spPr>
        <p:txBody>
          <a:bodyPr wrap="square" lIns="0" tIns="0" rIns="0" bIns="0" rtlCol="0" anchor="ctr"/>
          <a:lstStyle/>
          <a:p>
            <a:pPr indent="0" marL="0">
              <a:buNone/>
            </a:pPr>
            <a:r>
              <a:rPr lang="en-US" sz="2200" dirty="0">
                <a:solidFill>
                  <a:srgbClr val="1F2937"/>
                </a:solidFill>
                <a:latin typeface="Calibri" pitchFamily="34" charset="0"/>
                <a:ea typeface="Calibri" pitchFamily="34" charset="-122"/>
                <a:cs typeface="Calibri" pitchFamily="34" charset="-120"/>
              </a:rPr>
              <a:t>Repeated held-out errors.</a:t>
            </a:r>
            <a:endParaRPr lang="en-US" sz="2200" dirty="0"/>
          </a:p>
        </p:txBody>
      </p:sp>
      <p:sp>
        <p:nvSpPr>
          <p:cNvPr id="13" name="Shape 11"/>
          <p:cNvSpPr/>
          <p:nvPr/>
        </p:nvSpPr>
        <p:spPr>
          <a:xfrm>
            <a:off x="5257800" y="5276088"/>
            <a:ext cx="6385255" cy="0"/>
          </a:xfrm>
          <a:prstGeom prst="line">
            <a:avLst/>
          </a:prstGeom>
          <a:noFill/>
          <a:ln w="12700">
            <a:solidFill>
              <a:srgbClr val="C7D2FE"/>
            </a:solidFill>
            <a:prstDash val="solid"/>
          </a:ln>
        </p:spPr>
      </p:sp>
      <p:sp>
        <p:nvSpPr>
          <p:cNvPr id="14" name="Text 12"/>
          <p:cNvSpPr txBox="1"/>
          <p:nvPr/>
        </p:nvSpPr>
        <p:spPr>
          <a:xfrm>
            <a:off x="5257800" y="4133088"/>
            <a:ext cx="1371600" cy="1033272"/>
          </a:xfrm>
          <a:prstGeom prst="rect">
            <a:avLst/>
          </a:prstGeom>
          <a:noFill/>
          <a:ln/>
        </p:spPr>
        <p:txBody>
          <a:bodyPr wrap="square" lIns="0" tIns="0" rIns="0" bIns="0" rtlCol="0" anchor="ctr"/>
          <a:lstStyle/>
          <a:p>
            <a:pPr indent="0" marL="0">
              <a:buNone/>
            </a:pPr>
            <a:r>
              <a:rPr lang="en-US" sz="1800" b="1" dirty="0">
                <a:solidFill>
                  <a:srgbClr val="0F766E"/>
                </a:solidFill>
                <a:latin typeface="Calibri" pitchFamily="34" charset="0"/>
                <a:ea typeface="Calibri" pitchFamily="34" charset="-122"/>
                <a:cs typeface="Calibri" pitchFamily="34" charset="-120"/>
              </a:rPr>
              <a:t>Adapt</a:t>
            </a:r>
            <a:endParaRPr lang="en-US" sz="1800" dirty="0"/>
          </a:p>
        </p:txBody>
      </p:sp>
      <p:sp>
        <p:nvSpPr>
          <p:cNvPr id="15" name="Text 13"/>
          <p:cNvSpPr txBox="1"/>
          <p:nvPr/>
        </p:nvSpPr>
        <p:spPr>
          <a:xfrm>
            <a:off x="6766560" y="4133088"/>
            <a:ext cx="4876495" cy="1033272"/>
          </a:xfrm>
          <a:prstGeom prst="rect">
            <a:avLst/>
          </a:prstGeom>
          <a:noFill/>
          <a:ln/>
        </p:spPr>
        <p:txBody>
          <a:bodyPr wrap="square" lIns="0" tIns="0" rIns="0" bIns="0" rtlCol="0" anchor="ctr"/>
          <a:lstStyle/>
          <a:p>
            <a:pPr indent="0" marL="0">
              <a:buNone/>
            </a:pPr>
            <a:r>
              <a:rPr lang="en-US" sz="2200" dirty="0">
                <a:solidFill>
                  <a:srgbClr val="1F2937"/>
                </a:solidFill>
                <a:latin typeface="Calibri" pitchFamily="34" charset="0"/>
                <a:ea typeface="Calibri" pitchFamily="34" charset="-122"/>
                <a:cs typeface="Calibri" pitchFamily="34" charset="-120"/>
              </a:rPr>
              <a:t>LoRA; evaluate again.</a:t>
            </a:r>
            <a:endParaRPr lang="en-US" sz="2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E1B4B"/>
        </a:solidFill>
      </p:bgPr>
    </p:bg>
    <p:spTree>
      <p:nvGrpSpPr>
        <p:cNvPr id="1" name=""/>
        <p:cNvGrpSpPr/>
        <p:nvPr/>
      </p:nvGrpSpPr>
      <p:grpSpPr>
        <a:xfrm>
          <a:off x="0" y="0"/>
          <a:ext cx="0" cy="0"/>
          <a:chOff x="0" y="0"/>
          <a:chExt cx="0" cy="0"/>
        </a:xfrm>
      </p:grpSpPr>
      <p:sp>
        <p:nvSpPr>
          <p:cNvPr id="2" name="Text 0"/>
          <p:cNvSpPr txBox="1"/>
          <p:nvPr/>
        </p:nvSpPr>
        <p:spPr>
          <a:xfrm>
            <a:off x="731520" y="1188720"/>
            <a:ext cx="2926080" cy="1828800"/>
          </a:xfrm>
          <a:prstGeom prst="rect">
            <a:avLst/>
          </a:prstGeom>
          <a:noFill/>
          <a:ln/>
        </p:spPr>
        <p:txBody>
          <a:bodyPr wrap="square" lIns="0" tIns="0" rIns="0" bIns="0" rtlCol="0" anchor="t"/>
          <a:lstStyle/>
          <a:p>
            <a:pPr indent="0" marL="0">
              <a:buNone/>
            </a:pPr>
            <a:r>
              <a:rPr lang="en-US" sz="11000" b="1" dirty="0">
                <a:solidFill>
                  <a:srgbClr val="EA580C"/>
                </a:solidFill>
                <a:latin typeface="Calibri" pitchFamily="34" charset="0"/>
                <a:ea typeface="Calibri" pitchFamily="34" charset="-122"/>
                <a:cs typeface="Calibri" pitchFamily="34" charset="-120"/>
              </a:rPr>
              <a:t>03</a:t>
            </a:r>
            <a:endParaRPr lang="en-US" sz="11000" dirty="0"/>
          </a:p>
        </p:txBody>
      </p:sp>
      <p:sp>
        <p:nvSpPr>
          <p:cNvPr id="3" name="Text 1"/>
          <p:cNvSpPr txBox="1"/>
          <p:nvPr/>
        </p:nvSpPr>
        <p:spPr>
          <a:xfrm>
            <a:off x="731520" y="3063240"/>
            <a:ext cx="10515600" cy="1463040"/>
          </a:xfrm>
          <a:prstGeom prst="rect">
            <a:avLst/>
          </a:prstGeom>
          <a:noFill/>
          <a:ln/>
        </p:spPr>
        <p:txBody>
          <a:bodyPr wrap="square" lIns="0" tIns="0" rIns="0" bIns="0" rtlCol="0" anchor="t"/>
          <a:lstStyle/>
          <a:p>
            <a:pPr indent="0" marL="0">
              <a:buNone/>
            </a:pPr>
            <a:r>
              <a:rPr lang="en-US" sz="4200" b="1" dirty="0">
                <a:solidFill>
                  <a:srgbClr val="FFFFFF"/>
                </a:solidFill>
                <a:latin typeface="Calibri" pitchFamily="34" charset="0"/>
                <a:ea typeface="Calibri" pitchFamily="34" charset="-122"/>
                <a:cs typeface="Calibri" pitchFamily="34" charset="-120"/>
              </a:rPr>
              <a:t>Generation across modalities</a:t>
            </a:r>
            <a:endParaRPr lang="en-US" sz="4200" dirty="0"/>
          </a:p>
        </p:txBody>
      </p:sp>
      <p:sp>
        <p:nvSpPr>
          <p:cNvPr id="4" name="Text 2"/>
          <p:cNvSpPr txBox="1"/>
          <p:nvPr/>
        </p:nvSpPr>
        <p:spPr>
          <a:xfrm>
            <a:off x="731520" y="4617720"/>
            <a:ext cx="10515600" cy="1097280"/>
          </a:xfrm>
          <a:prstGeom prst="rect">
            <a:avLst/>
          </a:prstGeom>
          <a:noFill/>
          <a:ln/>
        </p:spPr>
        <p:txBody>
          <a:bodyPr wrap="square" lIns="0" tIns="0" rIns="0" bIns="0" rtlCol="0" anchor="t"/>
          <a:lstStyle/>
          <a:p>
            <a:pPr indent="0" marL="0">
              <a:buNone/>
            </a:pPr>
            <a:r>
              <a:rPr lang="en-US" sz="2200" i="1" dirty="0">
                <a:solidFill>
                  <a:srgbClr val="C7D2FE"/>
                </a:solidFill>
                <a:latin typeface="Calibri" pitchFamily="34" charset="0"/>
                <a:ea typeface="Calibri" pitchFamily="34" charset="-122"/>
                <a:cs typeface="Calibri" pitchFamily="34" charset="-120"/>
              </a:rPr>
              <a:t>From text to images, speech, music and video</a:t>
            </a:r>
            <a:endParaRPr lang="en-US" sz="2200" dirty="0"/>
          </a:p>
        </p:txBody>
      </p:sp>
      <p:sp>
        <p:nvSpPr>
          <p:cNvPr id="5" name="Shape 3"/>
          <p:cNvSpPr/>
          <p:nvPr/>
        </p:nvSpPr>
        <p:spPr>
          <a:xfrm>
            <a:off x="9692640" y="1097280"/>
            <a:ext cx="1554480" cy="1554480"/>
          </a:xfrm>
          <a:prstGeom prst="ellipse">
            <a:avLst/>
          </a:prstGeom>
          <a:solidFill>
            <a:srgbClr val="4F46E5"/>
          </a:solidFill>
          <a:ln w="12700">
            <a:solidFill>
              <a:srgbClr val="4F46E5"/>
            </a:solidFill>
            <a:prstDash val="solid"/>
          </a:ln>
        </p:spPr>
      </p:sp>
      <p:pic>
        <p:nvPicPr>
          <p:cNvPr id="6" name="Image 0" descr="preencoded.png">    </p:cNvPr>
          <p:cNvPicPr>
            <a:picLocks noChangeAspect="1"/>
          </p:cNvPicPr>
          <p:nvPr/>
        </p:nvPicPr>
        <p:blipFill>
          <a:blip r:embed="rId1"/>
          <a:stretch>
            <a:fillRect/>
          </a:stretch>
        </p:blipFill>
        <p:spPr>
          <a:xfrm>
            <a:off x="10065715" y="1470355"/>
            <a:ext cx="808330" cy="80833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10  ·  MULTIMODAL GENERATIVE AI APPLICATIONS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23</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Generation across modalities: a map</a:t>
            </a:r>
            <a:endParaRPr lang="en-US" sz="3200" dirty="0"/>
          </a:p>
        </p:txBody>
      </p:sp>
      <p:sp>
        <p:nvSpPr>
          <p:cNvPr id="6" name="Text 4"/>
          <p:cNvSpPr txBox="1"/>
          <p:nvPr/>
        </p:nvSpPr>
        <p:spPr>
          <a:xfrm>
            <a:off x="1073064" y="1989134"/>
            <a:ext cx="804473" cy="274990"/>
          </a:xfrm>
          <a:prstGeom prst="rect">
            <a:avLst/>
          </a:prstGeom>
          <a:noFill/>
          <a:ln/>
        </p:spPr>
        <p:txBody>
          <a:bodyPr wrap="square" lIns="0" tIns="0" rIns="0" bIns="0" rtlCol="0" anchor="ctr"/>
          <a:lstStyle/>
          <a:p>
            <a:pPr algn="l" indent="0" marL="0">
              <a:lnSpc>
                <a:spcPct val="116000"/>
              </a:lnSpc>
              <a:buNone/>
            </a:pPr>
            <a:r>
              <a:rPr lang="en-US" sz="1867" b="1" dirty="0">
                <a:solidFill>
                  <a:srgbClr val="1E1B4B"/>
                </a:solidFill>
                <a:latin typeface="Arial" pitchFamily="34" charset="0"/>
                <a:ea typeface="Arial" pitchFamily="34" charset="-122"/>
                <a:cs typeface="Arial" pitchFamily="34" charset="-120"/>
              </a:rPr>
              <a:t>Route</a:t>
            </a:r>
            <a:endParaRPr lang="en-US" sz="1867" dirty="0"/>
          </a:p>
        </p:txBody>
      </p:sp>
      <p:sp>
        <p:nvSpPr>
          <p:cNvPr id="7" name="Text 5"/>
          <p:cNvSpPr txBox="1"/>
          <p:nvPr/>
        </p:nvSpPr>
        <p:spPr>
          <a:xfrm>
            <a:off x="5355509" y="1989134"/>
            <a:ext cx="1281448" cy="274990"/>
          </a:xfrm>
          <a:prstGeom prst="rect">
            <a:avLst/>
          </a:prstGeom>
          <a:noFill/>
          <a:ln/>
        </p:spPr>
        <p:txBody>
          <a:bodyPr wrap="square" lIns="0" tIns="0" rIns="0" bIns="0" rtlCol="0" anchor="ctr"/>
          <a:lstStyle/>
          <a:p>
            <a:pPr algn="l" indent="0" marL="0">
              <a:lnSpc>
                <a:spcPct val="116000"/>
              </a:lnSpc>
              <a:buNone/>
            </a:pPr>
            <a:r>
              <a:rPr lang="en-US" sz="1867" b="1" dirty="0">
                <a:solidFill>
                  <a:srgbClr val="1E1B4B"/>
                </a:solidFill>
                <a:latin typeface="Arial" pitchFamily="34" charset="0"/>
                <a:ea typeface="Arial" pitchFamily="34" charset="-122"/>
                <a:cs typeface="Arial" pitchFamily="34" charset="-120"/>
              </a:rPr>
              <a:t>Operation</a:t>
            </a:r>
            <a:endParaRPr lang="en-US" sz="1867" dirty="0"/>
          </a:p>
        </p:txBody>
      </p:sp>
      <p:sp>
        <p:nvSpPr>
          <p:cNvPr id="8" name="Text 6"/>
          <p:cNvSpPr txBox="1"/>
          <p:nvPr/>
        </p:nvSpPr>
        <p:spPr>
          <a:xfrm>
            <a:off x="1073064" y="2618709"/>
            <a:ext cx="1492746" cy="274990"/>
          </a:xfrm>
          <a:prstGeom prst="rect">
            <a:avLst/>
          </a:prstGeom>
          <a:noFill/>
          <a:ln/>
        </p:spPr>
        <p:txBody>
          <a:bodyPr wrap="square" lIns="0" tIns="0" rIns="0" bIns="0" rtlCol="0" anchor="ctr"/>
          <a:lstStyle/>
          <a:p>
            <a:pPr algn="l" indent="0" marL="0">
              <a:lnSpc>
                <a:spcPct val="116000"/>
              </a:lnSpc>
              <a:buNone/>
            </a:pPr>
            <a:r>
              <a:rPr lang="en-US" sz="1867" dirty="0">
                <a:solidFill>
                  <a:srgbClr val="1E1B4B"/>
                </a:solidFill>
                <a:latin typeface="Arial" pitchFamily="34" charset="0"/>
                <a:ea typeface="Arial" pitchFamily="34" charset="-122"/>
                <a:cs typeface="Arial" pitchFamily="34" charset="-120"/>
              </a:rPr>
              <a:t>Text→image</a:t>
            </a:r>
            <a:endParaRPr lang="en-US" sz="1867" dirty="0"/>
          </a:p>
        </p:txBody>
      </p:sp>
      <p:sp>
        <p:nvSpPr>
          <p:cNvPr id="9" name="Text 7"/>
          <p:cNvSpPr txBox="1"/>
          <p:nvPr/>
        </p:nvSpPr>
        <p:spPr>
          <a:xfrm>
            <a:off x="5355509" y="2618709"/>
            <a:ext cx="1776088" cy="274990"/>
          </a:xfrm>
          <a:prstGeom prst="rect">
            <a:avLst/>
          </a:prstGeom>
          <a:noFill/>
          <a:ln/>
        </p:spPr>
        <p:txBody>
          <a:bodyPr wrap="square" lIns="0" tIns="0" rIns="0" bIns="0" rtlCol="0" anchor="ctr"/>
          <a:lstStyle/>
          <a:p>
            <a:pPr algn="l" indent="0" marL="0">
              <a:lnSpc>
                <a:spcPct val="116000"/>
              </a:lnSpc>
              <a:buNone/>
            </a:pPr>
            <a:r>
              <a:rPr lang="en-US" sz="1867" dirty="0">
                <a:solidFill>
                  <a:srgbClr val="1F2937"/>
                </a:solidFill>
                <a:latin typeface="Arial" pitchFamily="34" charset="0"/>
                <a:ea typeface="Arial" pitchFamily="34" charset="-122"/>
                <a:cs typeface="Arial" pitchFamily="34" charset="-120"/>
              </a:rPr>
              <a:t>Denoise image</a:t>
            </a:r>
            <a:endParaRPr lang="en-US" sz="1867" dirty="0"/>
          </a:p>
        </p:txBody>
      </p:sp>
      <p:sp>
        <p:nvSpPr>
          <p:cNvPr id="10" name="Text 8"/>
          <p:cNvSpPr txBox="1"/>
          <p:nvPr/>
        </p:nvSpPr>
        <p:spPr>
          <a:xfrm>
            <a:off x="1073064" y="3102852"/>
            <a:ext cx="1731924" cy="274990"/>
          </a:xfrm>
          <a:prstGeom prst="rect">
            <a:avLst/>
          </a:prstGeom>
          <a:noFill/>
          <a:ln/>
        </p:spPr>
        <p:txBody>
          <a:bodyPr wrap="square" lIns="0" tIns="0" rIns="0" bIns="0" rtlCol="0" anchor="ctr"/>
          <a:lstStyle/>
          <a:p>
            <a:pPr algn="l" indent="0" marL="0">
              <a:lnSpc>
                <a:spcPct val="116000"/>
              </a:lnSpc>
              <a:buNone/>
            </a:pPr>
            <a:r>
              <a:rPr lang="en-US" sz="1867" dirty="0">
                <a:solidFill>
                  <a:srgbClr val="1E1B4B"/>
                </a:solidFill>
                <a:latin typeface="Arial" pitchFamily="34" charset="0"/>
                <a:ea typeface="Arial" pitchFamily="34" charset="-122"/>
                <a:cs typeface="Arial" pitchFamily="34" charset="-120"/>
              </a:rPr>
              <a:t>Image→image</a:t>
            </a:r>
            <a:endParaRPr lang="en-US" sz="1867" dirty="0"/>
          </a:p>
        </p:txBody>
      </p:sp>
      <p:sp>
        <p:nvSpPr>
          <p:cNvPr id="11" name="Text 9"/>
          <p:cNvSpPr txBox="1"/>
          <p:nvPr/>
        </p:nvSpPr>
        <p:spPr>
          <a:xfrm>
            <a:off x="5355509" y="3102852"/>
            <a:ext cx="1767255" cy="274990"/>
          </a:xfrm>
          <a:prstGeom prst="rect">
            <a:avLst/>
          </a:prstGeom>
          <a:noFill/>
          <a:ln/>
        </p:spPr>
        <p:txBody>
          <a:bodyPr wrap="square" lIns="0" tIns="0" rIns="0" bIns="0" rtlCol="0" anchor="ctr"/>
          <a:lstStyle/>
          <a:p>
            <a:pPr algn="l" indent="0" marL="0">
              <a:lnSpc>
                <a:spcPct val="116000"/>
              </a:lnSpc>
              <a:buNone/>
            </a:pPr>
            <a:r>
              <a:rPr lang="en-US" sz="1867" dirty="0">
                <a:solidFill>
                  <a:srgbClr val="1F2937"/>
                </a:solidFill>
                <a:latin typeface="Arial" pitchFamily="34" charset="0"/>
                <a:ea typeface="Arial" pitchFamily="34" charset="-122"/>
                <a:cs typeface="Arial" pitchFamily="34" charset="-120"/>
              </a:rPr>
              <a:t>Noise; denoise</a:t>
            </a:r>
            <a:endParaRPr lang="en-US" sz="1867" dirty="0"/>
          </a:p>
        </p:txBody>
      </p:sp>
      <p:sp>
        <p:nvSpPr>
          <p:cNvPr id="12" name="Text 10"/>
          <p:cNvSpPr txBox="1"/>
          <p:nvPr/>
        </p:nvSpPr>
        <p:spPr>
          <a:xfrm>
            <a:off x="1073064" y="3586995"/>
            <a:ext cx="1625239" cy="274990"/>
          </a:xfrm>
          <a:prstGeom prst="rect">
            <a:avLst/>
          </a:prstGeom>
          <a:noFill/>
          <a:ln/>
        </p:spPr>
        <p:txBody>
          <a:bodyPr wrap="square" lIns="0" tIns="0" rIns="0" bIns="0" rtlCol="0" anchor="ctr"/>
          <a:lstStyle/>
          <a:p>
            <a:pPr algn="l" indent="0" marL="0">
              <a:lnSpc>
                <a:spcPct val="116000"/>
              </a:lnSpc>
              <a:buNone/>
            </a:pPr>
            <a:r>
              <a:rPr lang="en-US" sz="1867" dirty="0">
                <a:solidFill>
                  <a:srgbClr val="1E1B4B"/>
                </a:solidFill>
                <a:latin typeface="Arial" pitchFamily="34" charset="0"/>
                <a:ea typeface="Arial" pitchFamily="34" charset="-122"/>
                <a:cs typeface="Arial" pitchFamily="34" charset="-120"/>
              </a:rPr>
              <a:t>Text→speech</a:t>
            </a:r>
            <a:endParaRPr lang="en-US" sz="1867" dirty="0"/>
          </a:p>
        </p:txBody>
      </p:sp>
      <p:sp>
        <p:nvSpPr>
          <p:cNvPr id="13" name="Text 11"/>
          <p:cNvSpPr txBox="1"/>
          <p:nvPr/>
        </p:nvSpPr>
        <p:spPr>
          <a:xfrm>
            <a:off x="5355509" y="3586995"/>
            <a:ext cx="2306060" cy="274990"/>
          </a:xfrm>
          <a:prstGeom prst="rect">
            <a:avLst/>
          </a:prstGeom>
          <a:noFill/>
          <a:ln/>
        </p:spPr>
        <p:txBody>
          <a:bodyPr wrap="square" lIns="0" tIns="0" rIns="0" bIns="0" rtlCol="0" anchor="ctr"/>
          <a:lstStyle/>
          <a:p>
            <a:pPr algn="l" indent="0" marL="0">
              <a:lnSpc>
                <a:spcPct val="116000"/>
              </a:lnSpc>
              <a:buNone/>
            </a:pPr>
            <a:r>
              <a:rPr lang="en-US" sz="1867" dirty="0">
                <a:solidFill>
                  <a:srgbClr val="1F2937"/>
                </a:solidFill>
                <a:latin typeface="Arial" pitchFamily="34" charset="0"/>
                <a:ea typeface="Arial" pitchFamily="34" charset="-122"/>
                <a:cs typeface="Arial" pitchFamily="34" charset="-120"/>
              </a:rPr>
              <a:t>Generate waveform</a:t>
            </a:r>
            <a:endParaRPr lang="en-US" sz="1867" dirty="0"/>
          </a:p>
        </p:txBody>
      </p:sp>
      <p:sp>
        <p:nvSpPr>
          <p:cNvPr id="14" name="Text 12"/>
          <p:cNvSpPr txBox="1"/>
          <p:nvPr/>
        </p:nvSpPr>
        <p:spPr>
          <a:xfrm>
            <a:off x="1073064" y="4071138"/>
            <a:ext cx="2023408" cy="274990"/>
          </a:xfrm>
          <a:prstGeom prst="rect">
            <a:avLst/>
          </a:prstGeom>
          <a:noFill/>
          <a:ln/>
        </p:spPr>
        <p:txBody>
          <a:bodyPr wrap="square" lIns="0" tIns="0" rIns="0" bIns="0" rtlCol="0" anchor="ctr"/>
          <a:lstStyle/>
          <a:p>
            <a:pPr algn="l" indent="0" marL="0">
              <a:lnSpc>
                <a:spcPct val="116000"/>
              </a:lnSpc>
              <a:buNone/>
            </a:pPr>
            <a:r>
              <a:rPr lang="en-US" sz="1867" dirty="0">
                <a:solidFill>
                  <a:srgbClr val="1E1B4B"/>
                </a:solidFill>
                <a:latin typeface="Arial" pitchFamily="34" charset="0"/>
                <a:ea typeface="Arial" pitchFamily="34" charset="-122"/>
                <a:cs typeface="Arial" pitchFamily="34" charset="-120"/>
              </a:rPr>
              <a:t>Speech→speech</a:t>
            </a:r>
            <a:endParaRPr lang="en-US" sz="1867" dirty="0"/>
          </a:p>
        </p:txBody>
      </p:sp>
      <p:sp>
        <p:nvSpPr>
          <p:cNvPr id="15" name="Text 13"/>
          <p:cNvSpPr txBox="1"/>
          <p:nvPr/>
        </p:nvSpPr>
        <p:spPr>
          <a:xfrm>
            <a:off x="5355509" y="4071138"/>
            <a:ext cx="1458105" cy="274990"/>
          </a:xfrm>
          <a:prstGeom prst="rect">
            <a:avLst/>
          </a:prstGeom>
          <a:noFill/>
          <a:ln/>
        </p:spPr>
        <p:txBody>
          <a:bodyPr wrap="square" lIns="0" tIns="0" rIns="0" bIns="0" rtlCol="0" anchor="ctr"/>
          <a:lstStyle/>
          <a:p>
            <a:pPr algn="l" indent="0" marL="0">
              <a:lnSpc>
                <a:spcPct val="116000"/>
              </a:lnSpc>
              <a:buNone/>
            </a:pPr>
            <a:r>
              <a:rPr lang="en-US" sz="1867" dirty="0">
                <a:solidFill>
                  <a:srgbClr val="1F2937"/>
                </a:solidFill>
                <a:latin typeface="Arial" pitchFamily="34" charset="0"/>
                <a:ea typeface="Arial" pitchFamily="34" charset="-122"/>
                <a:cs typeface="Arial" pitchFamily="34" charset="-120"/>
              </a:rPr>
              <a:t>Listen; reply</a:t>
            </a:r>
            <a:endParaRPr lang="en-US" sz="1867" dirty="0"/>
          </a:p>
        </p:txBody>
      </p:sp>
      <p:sp>
        <p:nvSpPr>
          <p:cNvPr id="16" name="Text 14"/>
          <p:cNvSpPr txBox="1"/>
          <p:nvPr/>
        </p:nvSpPr>
        <p:spPr>
          <a:xfrm>
            <a:off x="1073064" y="4555282"/>
            <a:ext cx="1457415" cy="274990"/>
          </a:xfrm>
          <a:prstGeom prst="rect">
            <a:avLst/>
          </a:prstGeom>
          <a:noFill/>
          <a:ln/>
        </p:spPr>
        <p:txBody>
          <a:bodyPr wrap="square" lIns="0" tIns="0" rIns="0" bIns="0" rtlCol="0" anchor="ctr"/>
          <a:lstStyle/>
          <a:p>
            <a:pPr algn="l" indent="0" marL="0">
              <a:lnSpc>
                <a:spcPct val="116000"/>
              </a:lnSpc>
              <a:buNone/>
            </a:pPr>
            <a:r>
              <a:rPr lang="en-US" sz="1867" dirty="0">
                <a:solidFill>
                  <a:srgbClr val="1E1B4B"/>
                </a:solidFill>
                <a:latin typeface="Arial" pitchFamily="34" charset="0"/>
                <a:ea typeface="Arial" pitchFamily="34" charset="-122"/>
                <a:cs typeface="Arial" pitchFamily="34" charset="-120"/>
              </a:rPr>
              <a:t>Text→music</a:t>
            </a:r>
            <a:endParaRPr lang="en-US" sz="1867" dirty="0"/>
          </a:p>
        </p:txBody>
      </p:sp>
      <p:sp>
        <p:nvSpPr>
          <p:cNvPr id="17" name="Text 15"/>
          <p:cNvSpPr txBox="1"/>
          <p:nvPr/>
        </p:nvSpPr>
        <p:spPr>
          <a:xfrm>
            <a:off x="5355509" y="4555282"/>
            <a:ext cx="1846751" cy="274990"/>
          </a:xfrm>
          <a:prstGeom prst="rect">
            <a:avLst/>
          </a:prstGeom>
          <a:noFill/>
          <a:ln/>
        </p:spPr>
        <p:txBody>
          <a:bodyPr wrap="square" lIns="0" tIns="0" rIns="0" bIns="0" rtlCol="0" anchor="ctr"/>
          <a:lstStyle/>
          <a:p>
            <a:pPr algn="l" indent="0" marL="0">
              <a:lnSpc>
                <a:spcPct val="116000"/>
              </a:lnSpc>
              <a:buNone/>
            </a:pPr>
            <a:r>
              <a:rPr lang="en-US" sz="1867" dirty="0">
                <a:solidFill>
                  <a:srgbClr val="1F2937"/>
                </a:solidFill>
                <a:latin typeface="Arial" pitchFamily="34" charset="0"/>
                <a:ea typeface="Arial" pitchFamily="34" charset="-122"/>
                <a:cs typeface="Arial" pitchFamily="34" charset="-120"/>
              </a:rPr>
              <a:t>Generate audio</a:t>
            </a:r>
            <a:endParaRPr lang="en-US" sz="1867" dirty="0"/>
          </a:p>
        </p:txBody>
      </p:sp>
      <p:sp>
        <p:nvSpPr>
          <p:cNvPr id="18" name="Text 16"/>
          <p:cNvSpPr txBox="1"/>
          <p:nvPr/>
        </p:nvSpPr>
        <p:spPr>
          <a:xfrm>
            <a:off x="1073064" y="5039425"/>
            <a:ext cx="1413250" cy="274990"/>
          </a:xfrm>
          <a:prstGeom prst="rect">
            <a:avLst/>
          </a:prstGeom>
          <a:noFill/>
          <a:ln/>
        </p:spPr>
        <p:txBody>
          <a:bodyPr wrap="square" lIns="0" tIns="0" rIns="0" bIns="0" rtlCol="0" anchor="ctr"/>
          <a:lstStyle/>
          <a:p>
            <a:pPr algn="l" indent="0" marL="0">
              <a:lnSpc>
                <a:spcPct val="116000"/>
              </a:lnSpc>
              <a:buNone/>
            </a:pPr>
            <a:r>
              <a:rPr lang="en-US" sz="1867" dirty="0">
                <a:solidFill>
                  <a:srgbClr val="1E1B4B"/>
                </a:solidFill>
                <a:latin typeface="Arial" pitchFamily="34" charset="0"/>
                <a:ea typeface="Arial" pitchFamily="34" charset="-122"/>
                <a:cs typeface="Arial" pitchFamily="34" charset="-120"/>
              </a:rPr>
              <a:t>Text→video</a:t>
            </a:r>
            <a:endParaRPr lang="en-US" sz="1867" dirty="0"/>
          </a:p>
        </p:txBody>
      </p:sp>
      <p:sp>
        <p:nvSpPr>
          <p:cNvPr id="19" name="Text 17"/>
          <p:cNvSpPr txBox="1"/>
          <p:nvPr/>
        </p:nvSpPr>
        <p:spPr>
          <a:xfrm>
            <a:off x="5355509" y="5039425"/>
            <a:ext cx="2367890" cy="274990"/>
          </a:xfrm>
          <a:prstGeom prst="rect">
            <a:avLst/>
          </a:prstGeom>
          <a:noFill/>
          <a:ln/>
        </p:spPr>
        <p:txBody>
          <a:bodyPr wrap="square" lIns="0" tIns="0" rIns="0" bIns="0" rtlCol="0" anchor="ctr"/>
          <a:lstStyle/>
          <a:p>
            <a:pPr algn="l" indent="0" marL="0">
              <a:lnSpc>
                <a:spcPct val="116000"/>
              </a:lnSpc>
              <a:buNone/>
            </a:pPr>
            <a:r>
              <a:rPr lang="en-US" sz="1867" dirty="0">
                <a:solidFill>
                  <a:srgbClr val="1F2937"/>
                </a:solidFill>
                <a:latin typeface="Arial" pitchFamily="34" charset="0"/>
                <a:ea typeface="Arial" pitchFamily="34" charset="-122"/>
                <a:cs typeface="Arial" pitchFamily="34" charset="-120"/>
              </a:rPr>
              <a:t>Generate spacetime</a:t>
            </a:r>
            <a:endParaRPr lang="en-US" sz="1867"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10  ·  MULTIMODAL GENERATIVE AI APPLICATIONS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24</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Text → image with a distilled model (real)</a:t>
            </a:r>
            <a:endParaRPr lang="en-US" sz="3200" dirty="0"/>
          </a:p>
        </p:txBody>
      </p:sp>
      <p:pic>
        <p:nvPicPr>
          <p:cNvPr id="6" name="Image 0" descr="C:\Users\sudee\Downloads\Generative_AI_2027_Teaching_Pack\AI2027_Project\build\figures\week_10\lab_t2i.png">    </p:cNvPr>
          <p:cNvPicPr>
            <a:picLocks noChangeAspect="1"/>
          </p:cNvPicPr>
          <p:nvPr/>
        </p:nvPicPr>
        <p:blipFill>
          <a:blip r:embed="rId1"/>
          <a:stretch>
            <a:fillRect/>
          </a:stretch>
        </p:blipFill>
        <p:spPr>
          <a:xfrm>
            <a:off x="548640" y="1540886"/>
            <a:ext cx="11094415" cy="3643640"/>
          </a:xfrm>
          <a:prstGeom prst="rect">
            <a:avLst/>
          </a:prstGeom>
        </p:spPr>
      </p:pic>
      <p:sp>
        <p:nvSpPr>
          <p:cNvPr id="7" name="Text 4"/>
          <p:cNvSpPr txBox="1"/>
          <p:nvPr/>
        </p:nvSpPr>
        <p:spPr>
          <a:xfrm>
            <a:off x="548640" y="5367406"/>
            <a:ext cx="11094415" cy="941954"/>
          </a:xfrm>
          <a:prstGeom prst="rect">
            <a:avLst/>
          </a:prstGeom>
          <a:noFill/>
          <a:ln/>
        </p:spPr>
        <p:txBody>
          <a:bodyPr wrap="square" lIns="50800" tIns="50800" rIns="50800" bIns="50800" rtlCol="0" anchor="t"/>
          <a:lstStyle/>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Archived SD-Turbo: 2 steps; guidance 0.</a:t>
            </a:r>
            <a:endParaRPr lang="en-US" sz="2000" dirty="0"/>
          </a:p>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Inspect prompt details beside CLIP scores.</a:t>
            </a:r>
            <a:endParaRPr lang="en-US" sz="2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10  ·  MULTIMODAL GENERATIVE AI APPLICATIONS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25</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Image → image: editing with partial noise (real)</a:t>
            </a:r>
            <a:endParaRPr lang="en-US" sz="3200" dirty="0"/>
          </a:p>
        </p:txBody>
      </p:sp>
      <p:pic>
        <p:nvPicPr>
          <p:cNvPr id="6" name="Image 0" descr="C:\Users\sudee\Downloads\Generative_AI_2027_Teaching_Pack\AI2027_Project\build\figures\week_10\lab_i2i.png">    </p:cNvPr>
          <p:cNvPicPr>
            <a:picLocks noChangeAspect="1"/>
          </p:cNvPicPr>
          <p:nvPr/>
        </p:nvPicPr>
        <p:blipFill>
          <a:blip r:embed="rId1"/>
          <a:stretch>
            <a:fillRect/>
          </a:stretch>
        </p:blipFill>
        <p:spPr>
          <a:xfrm>
            <a:off x="548640" y="1774400"/>
            <a:ext cx="11094415" cy="2781134"/>
          </a:xfrm>
          <a:prstGeom prst="rect">
            <a:avLst/>
          </a:prstGeom>
        </p:spPr>
      </p:pic>
      <p:sp>
        <p:nvSpPr>
          <p:cNvPr id="7" name="Text 4"/>
          <p:cNvSpPr txBox="1"/>
          <p:nvPr/>
        </p:nvSpPr>
        <p:spPr>
          <a:xfrm>
            <a:off x="548640" y="4738414"/>
            <a:ext cx="11094415" cy="1570946"/>
          </a:xfrm>
          <a:prstGeom prst="rect">
            <a:avLst/>
          </a:prstGeom>
          <a:noFill/>
          <a:ln/>
        </p:spPr>
        <p:txBody>
          <a:bodyPr wrap="square" lIns="50800" tIns="50800" rIns="50800" bIns="50800" rtlCol="0" anchor="t"/>
          <a:lstStyle/>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Editing strength sets the starting noise level.</a:t>
            </a:r>
            <a:endParaRPr lang="en-US" sz="2000" dirty="0"/>
          </a:p>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Low strength tends to retain more input structure.</a:t>
            </a:r>
            <a:endParaRPr lang="en-US" sz="2000" dirty="0"/>
          </a:p>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High strength permits more change; inspect the actual result.</a:t>
            </a:r>
            <a:endParaRPr lang="en-US" sz="2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10  ·  MULTIMODAL GENERATIVE AI APPLICATIONS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26</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Editing, control and personalisation</a:t>
            </a:r>
            <a:endParaRPr lang="en-US" sz="3200" dirty="0"/>
          </a:p>
        </p:txBody>
      </p:sp>
      <p:sp>
        <p:nvSpPr>
          <p:cNvPr id="6" name="Text 4"/>
          <p:cNvSpPr txBox="1"/>
          <p:nvPr/>
        </p:nvSpPr>
        <p:spPr>
          <a:xfrm>
            <a:off x="548640" y="1481328"/>
            <a:ext cx="4297680" cy="4828032"/>
          </a:xfrm>
          <a:prstGeom prst="rect">
            <a:avLst/>
          </a:prstGeom>
          <a:noFill/>
          <a:ln/>
        </p:spPr>
        <p:txBody>
          <a:bodyPr wrap="square" lIns="50800" tIns="50800" rIns="50800" bIns="50800" rtlCol="0" anchor="t"/>
          <a:lstStyle/>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Instruction editing describes a change.</a:t>
            </a:r>
            <a:endParaRPr lang="en-US" sz="2600" dirty="0"/>
          </a:p>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Check likeness and style permissions.</a:t>
            </a:r>
            <a:endParaRPr lang="en-US" sz="26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257800" y="1481328"/>
          <a:ext cx="6385255" cy="914400"/>
        </p:xfrm>
        <a:graphic>
          <a:graphicData uri="http://schemas.openxmlformats.org/drawingml/2006/table">
            <a:tbl>
              <a:tblPr/>
              <a:tblGrid>
                <a:gridCol w="3192628"/>
                <a:gridCol w="3192628"/>
              </a:tblGrid>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Route</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Constraint</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r>
              <a:tr h="0">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Inpaint</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Masked region</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Outpaint</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Canvas boundary</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Control</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Edges/depth/pose</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Personalise</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Permissioned examples</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10  ·  MULTIMODAL GENERATIVE AI APPLICATIONS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27</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Speech: text-to-speech, cloning and speech-to-speech</a:t>
            </a:r>
            <a:endParaRPr lang="en-US" sz="3200" dirty="0"/>
          </a:p>
        </p:txBody>
      </p:sp>
      <p:sp>
        <p:nvSpPr>
          <p:cNvPr id="6" name="Text 4"/>
          <p:cNvSpPr txBox="1"/>
          <p:nvPr/>
        </p:nvSpPr>
        <p:spPr>
          <a:xfrm>
            <a:off x="548640" y="1481328"/>
            <a:ext cx="4297680" cy="4828032"/>
          </a:xfrm>
          <a:prstGeom prst="rect">
            <a:avLst/>
          </a:prstGeom>
          <a:noFill/>
          <a:ln/>
        </p:spPr>
        <p:txBody>
          <a:bodyPr wrap="square" lIns="50800" tIns="50800" rIns="50800" bIns="50800" rtlCol="0" anchor="t"/>
          <a:lstStyle/>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Keep the true sampling rate.</a:t>
            </a:r>
            <a:endParaRPr lang="en-US" sz="2600" dirty="0"/>
          </a:p>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Voice imitation requires permission.</a:t>
            </a:r>
            <a:endParaRPr lang="en-US" sz="2600" dirty="0"/>
          </a:p>
        </p:txBody>
      </p:sp>
      <p:sp>
        <p:nvSpPr>
          <p:cNvPr id="7" name="Shape 5"/>
          <p:cNvSpPr/>
          <p:nvPr/>
        </p:nvSpPr>
        <p:spPr>
          <a:xfrm>
            <a:off x="5257800" y="2624328"/>
            <a:ext cx="6385255" cy="0"/>
          </a:xfrm>
          <a:prstGeom prst="line">
            <a:avLst/>
          </a:prstGeom>
          <a:noFill/>
          <a:ln w="12700">
            <a:solidFill>
              <a:srgbClr val="C7D2FE"/>
            </a:solidFill>
            <a:prstDash val="solid"/>
          </a:ln>
        </p:spPr>
      </p:sp>
      <p:sp>
        <p:nvSpPr>
          <p:cNvPr id="8" name="Text 6"/>
          <p:cNvSpPr txBox="1"/>
          <p:nvPr/>
        </p:nvSpPr>
        <p:spPr>
          <a:xfrm>
            <a:off x="5257800" y="1481328"/>
            <a:ext cx="1371600" cy="1033272"/>
          </a:xfrm>
          <a:prstGeom prst="rect">
            <a:avLst/>
          </a:prstGeom>
          <a:noFill/>
          <a:ln/>
        </p:spPr>
        <p:txBody>
          <a:bodyPr wrap="square" lIns="0" tIns="0" rIns="0" bIns="0" rtlCol="0" anchor="ctr"/>
          <a:lstStyle/>
          <a:p>
            <a:pPr indent="0" marL="0">
              <a:buNone/>
            </a:pPr>
            <a:r>
              <a:rPr lang="en-US" sz="1800" b="1" dirty="0">
                <a:solidFill>
                  <a:srgbClr val="0F766E"/>
                </a:solidFill>
                <a:latin typeface="Calibri" pitchFamily="34" charset="0"/>
                <a:ea typeface="Calibri" pitchFamily="34" charset="-122"/>
                <a:cs typeface="Calibri" pitchFamily="34" charset="-120"/>
              </a:rPr>
              <a:t>TTS</a:t>
            </a:r>
            <a:endParaRPr lang="en-US" sz="1800" dirty="0"/>
          </a:p>
        </p:txBody>
      </p:sp>
      <p:sp>
        <p:nvSpPr>
          <p:cNvPr id="9" name="Text 7"/>
          <p:cNvSpPr txBox="1"/>
          <p:nvPr/>
        </p:nvSpPr>
        <p:spPr>
          <a:xfrm>
            <a:off x="6766560" y="1481328"/>
            <a:ext cx="4876495" cy="1033272"/>
          </a:xfrm>
          <a:prstGeom prst="rect">
            <a:avLst/>
          </a:prstGeom>
          <a:noFill/>
          <a:ln/>
        </p:spPr>
        <p:txBody>
          <a:bodyPr wrap="square" lIns="0" tIns="0" rIns="0" bIns="0" rtlCol="0" anchor="ctr"/>
          <a:lstStyle/>
          <a:p>
            <a:pPr indent="0" marL="0">
              <a:buNone/>
            </a:pPr>
            <a:r>
              <a:rPr lang="en-US" sz="2200" dirty="0">
                <a:solidFill>
                  <a:srgbClr val="1F2937"/>
                </a:solidFill>
                <a:latin typeface="Calibri" pitchFamily="34" charset="0"/>
                <a:ea typeface="Calibri" pitchFamily="34" charset="-122"/>
                <a:cs typeface="Calibri" pitchFamily="34" charset="-120"/>
              </a:rPr>
              <a:t>Words → waveform</a:t>
            </a:r>
            <a:endParaRPr lang="en-US" sz="2200" dirty="0"/>
          </a:p>
        </p:txBody>
      </p:sp>
      <p:sp>
        <p:nvSpPr>
          <p:cNvPr id="10" name="Shape 8"/>
          <p:cNvSpPr/>
          <p:nvPr/>
        </p:nvSpPr>
        <p:spPr>
          <a:xfrm>
            <a:off x="5257800" y="3950208"/>
            <a:ext cx="6385255" cy="0"/>
          </a:xfrm>
          <a:prstGeom prst="line">
            <a:avLst/>
          </a:prstGeom>
          <a:noFill/>
          <a:ln w="12700">
            <a:solidFill>
              <a:srgbClr val="C7D2FE"/>
            </a:solidFill>
            <a:prstDash val="solid"/>
          </a:ln>
        </p:spPr>
      </p:sp>
      <p:sp>
        <p:nvSpPr>
          <p:cNvPr id="11" name="Text 9"/>
          <p:cNvSpPr txBox="1"/>
          <p:nvPr/>
        </p:nvSpPr>
        <p:spPr>
          <a:xfrm>
            <a:off x="5257800" y="2807208"/>
            <a:ext cx="1371600" cy="1033272"/>
          </a:xfrm>
          <a:prstGeom prst="rect">
            <a:avLst/>
          </a:prstGeom>
          <a:noFill/>
          <a:ln/>
        </p:spPr>
        <p:txBody>
          <a:bodyPr wrap="square" lIns="0" tIns="0" rIns="0" bIns="0" rtlCol="0" anchor="ctr"/>
          <a:lstStyle/>
          <a:p>
            <a:pPr indent="0" marL="0">
              <a:buNone/>
            </a:pPr>
            <a:r>
              <a:rPr lang="en-US" sz="1800" b="1" dirty="0">
                <a:solidFill>
                  <a:srgbClr val="0F766E"/>
                </a:solidFill>
                <a:latin typeface="Calibri" pitchFamily="34" charset="0"/>
                <a:ea typeface="Calibri" pitchFamily="34" charset="-122"/>
                <a:cs typeface="Calibri" pitchFamily="34" charset="-120"/>
              </a:rPr>
              <a:t>ASR</a:t>
            </a:r>
            <a:endParaRPr lang="en-US" sz="1800" dirty="0"/>
          </a:p>
        </p:txBody>
      </p:sp>
      <p:sp>
        <p:nvSpPr>
          <p:cNvPr id="12" name="Text 10"/>
          <p:cNvSpPr txBox="1"/>
          <p:nvPr/>
        </p:nvSpPr>
        <p:spPr>
          <a:xfrm>
            <a:off x="6766560" y="2807208"/>
            <a:ext cx="4876495" cy="1033272"/>
          </a:xfrm>
          <a:prstGeom prst="rect">
            <a:avLst/>
          </a:prstGeom>
          <a:noFill/>
          <a:ln/>
        </p:spPr>
        <p:txBody>
          <a:bodyPr wrap="square" lIns="0" tIns="0" rIns="0" bIns="0" rtlCol="0" anchor="ctr"/>
          <a:lstStyle/>
          <a:p>
            <a:pPr indent="0" marL="0">
              <a:buNone/>
            </a:pPr>
            <a:r>
              <a:rPr lang="en-US" sz="2200" dirty="0">
                <a:solidFill>
                  <a:srgbClr val="1F2937"/>
                </a:solidFill>
                <a:latin typeface="Calibri" pitchFamily="34" charset="0"/>
                <a:ea typeface="Calibri" pitchFamily="34" charset="-122"/>
                <a:cs typeface="Calibri" pitchFamily="34" charset="-120"/>
              </a:rPr>
              <a:t>Waveform + rate → words</a:t>
            </a:r>
            <a:endParaRPr lang="en-US" sz="2200" dirty="0"/>
          </a:p>
        </p:txBody>
      </p:sp>
      <p:sp>
        <p:nvSpPr>
          <p:cNvPr id="13" name="Shape 11"/>
          <p:cNvSpPr/>
          <p:nvPr/>
        </p:nvSpPr>
        <p:spPr>
          <a:xfrm>
            <a:off x="5257800" y="5276088"/>
            <a:ext cx="6385255" cy="0"/>
          </a:xfrm>
          <a:prstGeom prst="line">
            <a:avLst/>
          </a:prstGeom>
          <a:noFill/>
          <a:ln w="12700">
            <a:solidFill>
              <a:srgbClr val="C7D2FE"/>
            </a:solidFill>
            <a:prstDash val="solid"/>
          </a:ln>
        </p:spPr>
      </p:sp>
      <p:sp>
        <p:nvSpPr>
          <p:cNvPr id="14" name="Text 12"/>
          <p:cNvSpPr txBox="1"/>
          <p:nvPr/>
        </p:nvSpPr>
        <p:spPr>
          <a:xfrm>
            <a:off x="5257800" y="4133088"/>
            <a:ext cx="1371600" cy="1033272"/>
          </a:xfrm>
          <a:prstGeom prst="rect">
            <a:avLst/>
          </a:prstGeom>
          <a:noFill/>
          <a:ln/>
        </p:spPr>
        <p:txBody>
          <a:bodyPr wrap="square" lIns="0" tIns="0" rIns="0" bIns="0" rtlCol="0" anchor="ctr"/>
          <a:lstStyle/>
          <a:p>
            <a:pPr indent="0" marL="0">
              <a:buNone/>
            </a:pPr>
            <a:r>
              <a:rPr lang="en-US" sz="1800" b="1" dirty="0">
                <a:solidFill>
                  <a:srgbClr val="0F766E"/>
                </a:solidFill>
                <a:latin typeface="Calibri" pitchFamily="34" charset="0"/>
                <a:ea typeface="Calibri" pitchFamily="34" charset="-122"/>
                <a:cs typeface="Calibri" pitchFamily="34" charset="-120"/>
              </a:rPr>
              <a:t>Round trip</a:t>
            </a:r>
            <a:endParaRPr lang="en-US" sz="1800" dirty="0"/>
          </a:p>
        </p:txBody>
      </p:sp>
      <p:sp>
        <p:nvSpPr>
          <p:cNvPr id="15" name="Text 13"/>
          <p:cNvSpPr txBox="1"/>
          <p:nvPr/>
        </p:nvSpPr>
        <p:spPr>
          <a:xfrm>
            <a:off x="6766560" y="4133088"/>
            <a:ext cx="4876495" cy="1033272"/>
          </a:xfrm>
          <a:prstGeom prst="rect">
            <a:avLst/>
          </a:prstGeom>
          <a:noFill/>
          <a:ln/>
        </p:spPr>
        <p:txBody>
          <a:bodyPr wrap="square" lIns="0" tIns="0" rIns="0" bIns="0" rtlCol="0" anchor="ctr"/>
          <a:lstStyle/>
          <a:p>
            <a:pPr indent="0" marL="0">
              <a:buNone/>
            </a:pPr>
            <a:r>
              <a:rPr lang="en-US" sz="2200" dirty="0">
                <a:solidFill>
                  <a:srgbClr val="1F2937"/>
                </a:solidFill>
                <a:latin typeface="Calibri" pitchFamily="34" charset="0"/>
                <a:ea typeface="Calibri" pitchFamily="34" charset="-122"/>
                <a:cs typeface="Calibri" pitchFamily="34" charset="-120"/>
              </a:rPr>
              <a:t>Recovered words ≠ naturalness</a:t>
            </a:r>
            <a:endParaRPr lang="en-US" sz="2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10  ·  MULTIMODAL GENERATIVE AI APPLICATIONS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28</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Music, sound and video</a:t>
            </a:r>
            <a:endParaRPr lang="en-US" sz="3200" dirty="0"/>
          </a:p>
        </p:txBody>
      </p:sp>
      <p:sp>
        <p:nvSpPr>
          <p:cNvPr id="6" name="Text 4"/>
          <p:cNvSpPr txBox="1"/>
          <p:nvPr/>
        </p:nvSpPr>
        <p:spPr>
          <a:xfrm>
            <a:off x="548640" y="1481328"/>
            <a:ext cx="4297680" cy="4828032"/>
          </a:xfrm>
          <a:prstGeom prst="rect">
            <a:avLst/>
          </a:prstGeom>
          <a:noFill/>
          <a:ln/>
        </p:spPr>
        <p:txBody>
          <a:bodyPr wrap="square" lIns="50800" tIns="50800" rIns="50800" bIns="50800" rtlCol="0" anchor="t"/>
          <a:lstStyle/>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Inspect identity, motion and synchronisation.</a:t>
            </a:r>
            <a:endParaRPr lang="en-US" sz="2600" dirty="0"/>
          </a:p>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Check rights and deceptive uses.</a:t>
            </a:r>
            <a:endParaRPr lang="en-US" sz="26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257800" y="1481328"/>
          <a:ext cx="6385255" cy="914400"/>
        </p:xfrm>
        <a:graphic>
          <a:graphicData uri="http://schemas.openxmlformats.org/drawingml/2006/table">
            <a:tbl>
              <a:tblPr/>
              <a:tblGrid>
                <a:gridCol w="3192628"/>
                <a:gridCol w="3192628"/>
              </a:tblGrid>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Output</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Representation</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r>
              <a:tr h="0">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Music/sound</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Codec tokens or diffusion</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Video</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Spatial + temporal patches</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10  ·  MULTIMODAL GENERATIVE AI APPLICATIONS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29</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Quick check</a:t>
            </a:r>
            <a:endParaRPr lang="en-US" sz="3200" dirty="0"/>
          </a:p>
        </p:txBody>
      </p:sp>
      <p:sp>
        <p:nvSpPr>
          <p:cNvPr id="6" name="Shape 4"/>
          <p:cNvSpPr/>
          <p:nvPr/>
        </p:nvSpPr>
        <p:spPr>
          <a:xfrm>
            <a:off x="548640" y="1527048"/>
            <a:ext cx="640080" cy="640080"/>
          </a:xfrm>
          <a:prstGeom prst="ellipse">
            <a:avLst/>
          </a:prstGeom>
          <a:solidFill>
            <a:srgbClr val="EA580C"/>
          </a:solidFill>
          <a:ln w="12700">
            <a:solidFill>
              <a:srgbClr val="EA580C"/>
            </a:solidFill>
            <a:prstDash val="solid"/>
          </a:ln>
        </p:spPr>
      </p:sp>
      <p:pic>
        <p:nvPicPr>
          <p:cNvPr id="7" name="Image 0" descr="preencoded.png">    </p:cNvPr>
          <p:cNvPicPr>
            <a:picLocks noChangeAspect="1"/>
          </p:cNvPicPr>
          <p:nvPr/>
        </p:nvPicPr>
        <p:blipFill>
          <a:blip r:embed="rId1"/>
          <a:stretch>
            <a:fillRect/>
          </a:stretch>
        </p:blipFill>
        <p:spPr>
          <a:xfrm>
            <a:off x="702259" y="1680667"/>
            <a:ext cx="332842" cy="332842"/>
          </a:xfrm>
          <a:prstGeom prst="rect">
            <a:avLst/>
          </a:prstGeom>
        </p:spPr>
      </p:pic>
      <p:sp>
        <p:nvSpPr>
          <p:cNvPr id="8" name="Text 5"/>
          <p:cNvSpPr txBox="1"/>
          <p:nvPr/>
        </p:nvSpPr>
        <p:spPr>
          <a:xfrm>
            <a:off x="1417320" y="1481328"/>
            <a:ext cx="10225735" cy="1097280"/>
          </a:xfrm>
          <a:prstGeom prst="rect">
            <a:avLst/>
          </a:prstGeom>
          <a:noFill/>
          <a:ln/>
        </p:spPr>
        <p:txBody>
          <a:bodyPr wrap="square" lIns="50800" tIns="50800" rIns="50800" bIns="50800" rtlCol="0" anchor="ctr"/>
          <a:lstStyle/>
          <a:p>
            <a:pPr indent="0" marL="0">
              <a:buNone/>
            </a:pPr>
            <a:r>
              <a:rPr lang="en-US" sz="2400" b="1" dirty="0">
                <a:solidFill>
                  <a:srgbClr val="1E1B4B"/>
                </a:solidFill>
                <a:latin typeface="Calibri" pitchFamily="34" charset="0"/>
                <a:ea typeface="Calibri" pitchFamily="34" charset="-122"/>
                <a:cs typeface="Calibri" pitchFamily="34" charset="-120"/>
              </a:rPr>
              <a:t>Editing strength 0.3 → 0.9 changes what?</a:t>
            </a:r>
            <a:endParaRPr lang="en-US" sz="2400" dirty="0"/>
          </a:p>
        </p:txBody>
      </p:sp>
      <p:sp>
        <p:nvSpPr>
          <p:cNvPr id="9" name="Shape 6"/>
          <p:cNvSpPr/>
          <p:nvPr/>
        </p:nvSpPr>
        <p:spPr>
          <a:xfrm>
            <a:off x="548640" y="2807208"/>
            <a:ext cx="5410048" cy="1325880"/>
          </a:xfrm>
          <a:prstGeom prst="roundRect">
            <a:avLst>
              <a:gd name="adj" fmla="val 6897"/>
            </a:avLst>
          </a:prstGeom>
          <a:solidFill>
            <a:srgbClr val="EEF0FF"/>
          </a:solidFill>
          <a:ln w="12700">
            <a:solidFill>
              <a:srgbClr val="EEF0FF"/>
            </a:solidFill>
            <a:prstDash val="solid"/>
          </a:ln>
        </p:spPr>
      </p:sp>
      <p:sp>
        <p:nvSpPr>
          <p:cNvPr id="10" name="Shape 7"/>
          <p:cNvSpPr/>
          <p:nvPr/>
        </p:nvSpPr>
        <p:spPr>
          <a:xfrm>
            <a:off x="713232" y="3241548"/>
            <a:ext cx="457200" cy="457200"/>
          </a:xfrm>
          <a:prstGeom prst="ellipse">
            <a:avLst/>
          </a:prstGeom>
          <a:solidFill>
            <a:srgbClr val="4F46E5"/>
          </a:solidFill>
          <a:ln w="12700">
            <a:solidFill>
              <a:srgbClr val="4F46E5"/>
            </a:solidFill>
            <a:prstDash val="solid"/>
          </a:ln>
        </p:spPr>
      </p:sp>
      <p:sp>
        <p:nvSpPr>
          <p:cNvPr id="11" name="Text 8"/>
          <p:cNvSpPr txBox="1"/>
          <p:nvPr/>
        </p:nvSpPr>
        <p:spPr>
          <a:xfrm>
            <a:off x="713232" y="32415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a:t>
            </a:r>
            <a:endParaRPr lang="en-US" sz="1500" dirty="0"/>
          </a:p>
        </p:txBody>
      </p:sp>
      <p:sp>
        <p:nvSpPr>
          <p:cNvPr id="12" name="Text 9"/>
          <p:cNvSpPr txBox="1"/>
          <p:nvPr/>
        </p:nvSpPr>
        <p:spPr>
          <a:xfrm>
            <a:off x="1325880" y="2807208"/>
            <a:ext cx="4495648" cy="1325880"/>
          </a:xfrm>
          <a:prstGeom prst="rect">
            <a:avLst/>
          </a:prstGeom>
          <a:noFill/>
          <a:ln/>
        </p:spPr>
        <p:txBody>
          <a:bodyPr wrap="square" lIns="50800" tIns="50800" rIns="50800" bIns="50800" rtlCol="0" anchor="ctr"/>
          <a:lstStyle/>
          <a:p>
            <a:pPr indent="0" marL="0">
              <a:buNone/>
            </a:pPr>
            <a:r>
              <a:rPr lang="en-US" sz="2000" dirty="0">
                <a:solidFill>
                  <a:srgbClr val="1F2937"/>
                </a:solidFill>
                <a:latin typeface="Calibri" pitchFamily="34" charset="0"/>
                <a:ea typeface="Calibri" pitchFamily="34" charset="-122"/>
                <a:cs typeface="Calibri" pitchFamily="34" charset="-120"/>
              </a:rPr>
              <a:t>Sharper output, same scene</a:t>
            </a:r>
            <a:endParaRPr lang="en-US" sz="2000" dirty="0"/>
          </a:p>
        </p:txBody>
      </p:sp>
      <p:sp>
        <p:nvSpPr>
          <p:cNvPr id="13" name="Shape 10"/>
          <p:cNvSpPr/>
          <p:nvPr/>
        </p:nvSpPr>
        <p:spPr>
          <a:xfrm>
            <a:off x="6233008" y="2807208"/>
            <a:ext cx="5410048" cy="1325880"/>
          </a:xfrm>
          <a:prstGeom prst="roundRect">
            <a:avLst>
              <a:gd name="adj" fmla="val 6897"/>
            </a:avLst>
          </a:prstGeom>
          <a:solidFill>
            <a:srgbClr val="EEF0FF"/>
          </a:solidFill>
          <a:ln w="12700">
            <a:solidFill>
              <a:srgbClr val="EEF0FF"/>
            </a:solidFill>
            <a:prstDash val="solid"/>
          </a:ln>
        </p:spPr>
      </p:sp>
      <p:sp>
        <p:nvSpPr>
          <p:cNvPr id="14" name="Shape 11"/>
          <p:cNvSpPr/>
          <p:nvPr/>
        </p:nvSpPr>
        <p:spPr>
          <a:xfrm>
            <a:off x="6397600" y="3241548"/>
            <a:ext cx="457200" cy="457200"/>
          </a:xfrm>
          <a:prstGeom prst="ellipse">
            <a:avLst/>
          </a:prstGeom>
          <a:solidFill>
            <a:srgbClr val="4F46E5"/>
          </a:solidFill>
          <a:ln w="12700">
            <a:solidFill>
              <a:srgbClr val="4F46E5"/>
            </a:solidFill>
            <a:prstDash val="solid"/>
          </a:ln>
        </p:spPr>
      </p:sp>
      <p:sp>
        <p:nvSpPr>
          <p:cNvPr id="15" name="Text 12"/>
          <p:cNvSpPr txBox="1"/>
          <p:nvPr/>
        </p:nvSpPr>
        <p:spPr>
          <a:xfrm>
            <a:off x="6397600" y="32415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a:t>
            </a:r>
            <a:endParaRPr lang="en-US" sz="1500" dirty="0"/>
          </a:p>
        </p:txBody>
      </p:sp>
      <p:sp>
        <p:nvSpPr>
          <p:cNvPr id="16" name="Text 13"/>
          <p:cNvSpPr txBox="1"/>
          <p:nvPr/>
        </p:nvSpPr>
        <p:spPr>
          <a:xfrm>
            <a:off x="7010248" y="2807208"/>
            <a:ext cx="4495648" cy="1325880"/>
          </a:xfrm>
          <a:prstGeom prst="rect">
            <a:avLst/>
          </a:prstGeom>
          <a:noFill/>
          <a:ln/>
        </p:spPr>
        <p:txBody>
          <a:bodyPr wrap="square" lIns="50800" tIns="50800" rIns="50800" bIns="50800" rtlCol="0" anchor="ctr"/>
          <a:lstStyle/>
          <a:p>
            <a:pPr indent="0" marL="0">
              <a:buNone/>
            </a:pPr>
            <a:r>
              <a:rPr lang="en-US" sz="2000" dirty="0">
                <a:solidFill>
                  <a:srgbClr val="1F2937"/>
                </a:solidFill>
                <a:latin typeface="Calibri" pitchFamily="34" charset="0"/>
                <a:ea typeface="Calibri" pitchFamily="34" charset="-122"/>
                <a:cs typeface="Calibri" pitchFamily="34" charset="-120"/>
              </a:rPr>
              <a:t>Memory only</a:t>
            </a:r>
            <a:endParaRPr lang="en-US" sz="2000" dirty="0"/>
          </a:p>
        </p:txBody>
      </p:sp>
      <p:sp>
        <p:nvSpPr>
          <p:cNvPr id="17" name="Shape 14"/>
          <p:cNvSpPr/>
          <p:nvPr/>
        </p:nvSpPr>
        <p:spPr>
          <a:xfrm>
            <a:off x="548640" y="4407408"/>
            <a:ext cx="5410048" cy="1325880"/>
          </a:xfrm>
          <a:prstGeom prst="roundRect">
            <a:avLst>
              <a:gd name="adj" fmla="val 6897"/>
            </a:avLst>
          </a:prstGeom>
          <a:solidFill>
            <a:srgbClr val="EEF0FF"/>
          </a:solidFill>
          <a:ln w="12700">
            <a:solidFill>
              <a:srgbClr val="EEF0FF"/>
            </a:solidFill>
            <a:prstDash val="solid"/>
          </a:ln>
        </p:spPr>
      </p:sp>
      <p:sp>
        <p:nvSpPr>
          <p:cNvPr id="18" name="Shape 15"/>
          <p:cNvSpPr/>
          <p:nvPr/>
        </p:nvSpPr>
        <p:spPr>
          <a:xfrm>
            <a:off x="713232" y="4841748"/>
            <a:ext cx="457200" cy="457200"/>
          </a:xfrm>
          <a:prstGeom prst="ellipse">
            <a:avLst/>
          </a:prstGeom>
          <a:solidFill>
            <a:srgbClr val="4F46E5"/>
          </a:solidFill>
          <a:ln w="12700">
            <a:solidFill>
              <a:srgbClr val="4F46E5"/>
            </a:solidFill>
            <a:prstDash val="solid"/>
          </a:ln>
        </p:spPr>
      </p:sp>
      <p:sp>
        <p:nvSpPr>
          <p:cNvPr id="19" name="Text 16"/>
          <p:cNvSpPr txBox="1"/>
          <p:nvPr/>
        </p:nvSpPr>
        <p:spPr>
          <a:xfrm>
            <a:off x="713232" y="48417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a:t>
            </a:r>
            <a:endParaRPr lang="en-US" sz="1500" dirty="0"/>
          </a:p>
        </p:txBody>
      </p:sp>
      <p:sp>
        <p:nvSpPr>
          <p:cNvPr id="20" name="Text 17"/>
          <p:cNvSpPr txBox="1"/>
          <p:nvPr/>
        </p:nvSpPr>
        <p:spPr>
          <a:xfrm>
            <a:off x="1325880" y="4407408"/>
            <a:ext cx="4495648" cy="1325880"/>
          </a:xfrm>
          <a:prstGeom prst="rect">
            <a:avLst/>
          </a:prstGeom>
          <a:noFill/>
          <a:ln/>
        </p:spPr>
        <p:txBody>
          <a:bodyPr wrap="square" lIns="50800" tIns="50800" rIns="50800" bIns="50800" rtlCol="0" anchor="ctr"/>
          <a:lstStyle/>
          <a:p>
            <a:pPr indent="0" marL="0">
              <a:buNone/>
            </a:pPr>
            <a:r>
              <a:rPr lang="en-US" sz="2000" dirty="0">
                <a:solidFill>
                  <a:srgbClr val="1F2937"/>
                </a:solidFill>
                <a:latin typeface="Calibri" pitchFamily="34" charset="0"/>
                <a:ea typeface="Calibri" pitchFamily="34" charset="-122"/>
                <a:cs typeface="Calibri" pitchFamily="34" charset="-120"/>
              </a:rPr>
              <a:t>Higher guidance scale</a:t>
            </a:r>
            <a:endParaRPr lang="en-US" sz="2000" dirty="0"/>
          </a:p>
        </p:txBody>
      </p:sp>
      <p:sp>
        <p:nvSpPr>
          <p:cNvPr id="21" name="Shape 18"/>
          <p:cNvSpPr/>
          <p:nvPr/>
        </p:nvSpPr>
        <p:spPr>
          <a:xfrm>
            <a:off x="6233008" y="4407408"/>
            <a:ext cx="5410048" cy="1325880"/>
          </a:xfrm>
          <a:prstGeom prst="roundRect">
            <a:avLst>
              <a:gd name="adj" fmla="val 6897"/>
            </a:avLst>
          </a:prstGeom>
          <a:solidFill>
            <a:srgbClr val="EEF0FF"/>
          </a:solidFill>
          <a:ln w="12700">
            <a:solidFill>
              <a:srgbClr val="EEF0FF"/>
            </a:solidFill>
            <a:prstDash val="solid"/>
          </a:ln>
        </p:spPr>
      </p:sp>
      <p:sp>
        <p:nvSpPr>
          <p:cNvPr id="22" name="Shape 19"/>
          <p:cNvSpPr/>
          <p:nvPr/>
        </p:nvSpPr>
        <p:spPr>
          <a:xfrm>
            <a:off x="6397600" y="4841748"/>
            <a:ext cx="457200" cy="457200"/>
          </a:xfrm>
          <a:prstGeom prst="ellipse">
            <a:avLst/>
          </a:prstGeom>
          <a:solidFill>
            <a:srgbClr val="4F46E5"/>
          </a:solidFill>
          <a:ln w="12700">
            <a:solidFill>
              <a:srgbClr val="4F46E5"/>
            </a:solidFill>
            <a:prstDash val="solid"/>
          </a:ln>
        </p:spPr>
      </p:sp>
      <p:sp>
        <p:nvSpPr>
          <p:cNvPr id="23" name="Text 20"/>
          <p:cNvSpPr txBox="1"/>
          <p:nvPr/>
        </p:nvSpPr>
        <p:spPr>
          <a:xfrm>
            <a:off x="6397600" y="48417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a:t>
            </a:r>
            <a:endParaRPr lang="en-US" sz="1500" dirty="0"/>
          </a:p>
        </p:txBody>
      </p:sp>
      <p:sp>
        <p:nvSpPr>
          <p:cNvPr id="24" name="Text 21"/>
          <p:cNvSpPr txBox="1"/>
          <p:nvPr/>
        </p:nvSpPr>
        <p:spPr>
          <a:xfrm>
            <a:off x="7010248" y="4407408"/>
            <a:ext cx="4495648" cy="1325880"/>
          </a:xfrm>
          <a:prstGeom prst="rect">
            <a:avLst/>
          </a:prstGeom>
          <a:noFill/>
          <a:ln/>
        </p:spPr>
        <p:txBody>
          <a:bodyPr wrap="square" lIns="50800" tIns="50800" rIns="50800" bIns="50800" rtlCol="0" anchor="ctr"/>
          <a:lstStyle/>
          <a:p>
            <a:pPr indent="0" marL="0">
              <a:buNone/>
            </a:pPr>
            <a:r>
              <a:rPr lang="en-US" sz="2000" dirty="0">
                <a:solidFill>
                  <a:srgbClr val="1F2937"/>
                </a:solidFill>
                <a:latin typeface="Calibri" pitchFamily="34" charset="0"/>
                <a:ea typeface="Calibri" pitchFamily="34" charset="-122"/>
                <a:cs typeface="Calibri" pitchFamily="34" charset="-120"/>
              </a:rPr>
              <a:t>More noise; larger changes</a:t>
            </a:r>
            <a:endParaRPr lang="en-US" sz="2000" dirty="0"/>
          </a:p>
        </p:txBody>
      </p:sp>
      <p:sp>
        <p:nvSpPr>
          <p:cNvPr id="25" name="Text 22"/>
          <p:cNvSpPr txBox="1"/>
          <p:nvPr/>
        </p:nvSpPr>
        <p:spPr>
          <a:xfrm>
            <a:off x="548640" y="5943600"/>
            <a:ext cx="11094415" cy="365760"/>
          </a:xfrm>
          <a:prstGeom prst="rect">
            <a:avLst/>
          </a:prstGeom>
          <a:noFill/>
          <a:ln/>
        </p:spPr>
        <p:txBody>
          <a:bodyPr wrap="square" lIns="50800" tIns="50800" rIns="50800" bIns="50800" rtlCol="0" anchor="t"/>
          <a:lstStyle/>
          <a:p>
            <a:pPr indent="0" marL="0">
              <a:buNone/>
            </a:pPr>
            <a:r>
              <a:rPr lang="en-US" sz="1400" i="1" dirty="0">
                <a:solidFill>
                  <a:srgbClr val="6B7280"/>
                </a:solidFill>
                <a:latin typeface="Calibri" pitchFamily="34" charset="0"/>
                <a:ea typeface="Calibri" pitchFamily="34" charset="-122"/>
                <a:cs typeface="Calibri" pitchFamily="34" charset="-120"/>
              </a:rPr>
              <a:t>Vote, then convince your neighbour (1 minute).</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E1B4B"/>
        </a:solidFill>
      </p:bgPr>
    </p:bg>
    <p:spTree>
      <p:nvGrpSpPr>
        <p:cNvPr id="1" name=""/>
        <p:cNvGrpSpPr/>
        <p:nvPr/>
      </p:nvGrpSpPr>
      <p:grpSpPr>
        <a:xfrm>
          <a:off x="0" y="0"/>
          <a:ext cx="0" cy="0"/>
          <a:chOff x="0" y="0"/>
          <a:chExt cx="0" cy="0"/>
        </a:xfrm>
      </p:grpSpPr>
      <p:sp>
        <p:nvSpPr>
          <p:cNvPr id="2" name="Text 0"/>
          <p:cNvSpPr txBox="1"/>
          <p:nvPr/>
        </p:nvSpPr>
        <p:spPr>
          <a:xfrm>
            <a:off x="731520" y="1188720"/>
            <a:ext cx="2926080" cy="1828800"/>
          </a:xfrm>
          <a:prstGeom prst="rect">
            <a:avLst/>
          </a:prstGeom>
          <a:noFill/>
          <a:ln/>
        </p:spPr>
        <p:txBody>
          <a:bodyPr wrap="square" lIns="0" tIns="0" rIns="0" bIns="0" rtlCol="0" anchor="t"/>
          <a:lstStyle/>
          <a:p>
            <a:pPr indent="0" marL="0">
              <a:buNone/>
            </a:pPr>
            <a:r>
              <a:rPr lang="en-US" sz="11000" b="1" dirty="0">
                <a:solidFill>
                  <a:srgbClr val="EA580C"/>
                </a:solidFill>
                <a:latin typeface="Calibri" pitchFamily="34" charset="0"/>
                <a:ea typeface="Calibri" pitchFamily="34" charset="-122"/>
                <a:cs typeface="Calibri" pitchFamily="34" charset="-120"/>
              </a:rPr>
              <a:t>04</a:t>
            </a:r>
            <a:endParaRPr lang="en-US" sz="11000" dirty="0"/>
          </a:p>
        </p:txBody>
      </p:sp>
      <p:sp>
        <p:nvSpPr>
          <p:cNvPr id="3" name="Text 1"/>
          <p:cNvSpPr txBox="1"/>
          <p:nvPr/>
        </p:nvSpPr>
        <p:spPr>
          <a:xfrm>
            <a:off x="731520" y="3063240"/>
            <a:ext cx="10515600" cy="1463040"/>
          </a:xfrm>
          <a:prstGeom prst="rect">
            <a:avLst/>
          </a:prstGeom>
          <a:noFill/>
          <a:ln/>
        </p:spPr>
        <p:txBody>
          <a:bodyPr wrap="square" lIns="0" tIns="0" rIns="0" bIns="0" rtlCol="0" anchor="t"/>
          <a:lstStyle/>
          <a:p>
            <a:pPr indent="0" marL="0">
              <a:buNone/>
            </a:pPr>
            <a:r>
              <a:rPr lang="en-US" sz="4200" b="1" dirty="0">
                <a:solidFill>
                  <a:srgbClr val="FFFFFF"/>
                </a:solidFill>
                <a:latin typeface="Calibri" pitchFamily="34" charset="0"/>
                <a:ea typeface="Calibri" pitchFamily="34" charset="-122"/>
                <a:cs typeface="Calibri" pitchFamily="34" charset="-120"/>
              </a:rPr>
              <a:t>Evaluating multimodal generative AI</a:t>
            </a:r>
            <a:endParaRPr lang="en-US" sz="4200" dirty="0"/>
          </a:p>
        </p:txBody>
      </p:sp>
      <p:sp>
        <p:nvSpPr>
          <p:cNvPr id="4" name="Text 2"/>
          <p:cNvSpPr txBox="1"/>
          <p:nvPr/>
        </p:nvSpPr>
        <p:spPr>
          <a:xfrm>
            <a:off x="731520" y="4617720"/>
            <a:ext cx="10515600" cy="1097280"/>
          </a:xfrm>
          <a:prstGeom prst="rect">
            <a:avLst/>
          </a:prstGeom>
          <a:noFill/>
          <a:ln/>
        </p:spPr>
        <p:txBody>
          <a:bodyPr wrap="square" lIns="0" tIns="0" rIns="0" bIns="0" rtlCol="0" anchor="t"/>
          <a:lstStyle/>
          <a:p>
            <a:pPr indent="0" marL="0">
              <a:buNone/>
            </a:pPr>
            <a:r>
              <a:rPr lang="en-US" sz="2200" i="1" dirty="0">
                <a:solidFill>
                  <a:srgbClr val="C7D2FE"/>
                </a:solidFill>
                <a:latin typeface="Calibri" pitchFamily="34" charset="0"/>
                <a:ea typeface="Calibri" pitchFamily="34" charset="-122"/>
                <a:cs typeface="Calibri" pitchFamily="34" charset="-120"/>
              </a:rPr>
              <a:t>How do you measure quality, alignment and truthfulness across modalities?</a:t>
            </a:r>
            <a:endParaRPr lang="en-US" sz="2200" dirty="0"/>
          </a:p>
        </p:txBody>
      </p:sp>
      <p:sp>
        <p:nvSpPr>
          <p:cNvPr id="5" name="Shape 3"/>
          <p:cNvSpPr/>
          <p:nvPr/>
        </p:nvSpPr>
        <p:spPr>
          <a:xfrm>
            <a:off x="9692640" y="1097280"/>
            <a:ext cx="1554480" cy="1554480"/>
          </a:xfrm>
          <a:prstGeom prst="ellipse">
            <a:avLst/>
          </a:prstGeom>
          <a:solidFill>
            <a:srgbClr val="4F46E5"/>
          </a:solidFill>
          <a:ln w="12700">
            <a:solidFill>
              <a:srgbClr val="4F46E5"/>
            </a:solidFill>
            <a:prstDash val="solid"/>
          </a:ln>
        </p:spPr>
      </p:sp>
      <p:pic>
        <p:nvPicPr>
          <p:cNvPr id="6" name="Image 0" descr="preencoded.png">    </p:cNvPr>
          <p:cNvPicPr>
            <a:picLocks noChangeAspect="1"/>
          </p:cNvPicPr>
          <p:nvPr/>
        </p:nvPicPr>
        <p:blipFill>
          <a:blip r:embed="rId1"/>
          <a:stretch>
            <a:fillRect/>
          </a:stretch>
        </p:blipFill>
        <p:spPr>
          <a:xfrm>
            <a:off x="10065715" y="1470355"/>
            <a:ext cx="808330" cy="80833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10  ·  MULTIMODAL GENERATIVE AI APPLICATIONS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31</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Metrics by task</a:t>
            </a:r>
            <a:endParaRPr lang="en-US" sz="32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4415" cy="914400"/>
        </p:xfrm>
        <a:graphic>
          <a:graphicData uri="http://schemas.openxmlformats.org/drawingml/2006/table">
            <a:tbl>
              <a:tblPr/>
              <a:tblGrid>
                <a:gridCol w="3605685"/>
                <a:gridCol w="4437766"/>
                <a:gridCol w="3050964"/>
              </a:tblGrid>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Task</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Automatic</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Human</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Images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FID/CLIP/GenEval</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Defects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Captions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CIDEr/CLIPScore</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Facts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VQA</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Accuracy</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Errors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Speech</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WER</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Naturalness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Video</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FVD</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Continuity</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Hallucination</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POPE/CHAIR</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Evidence</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10  ·  MULTIMODAL GENERATIVE AI APPLICATIONS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32</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Multimodal hallucination</a:t>
            </a:r>
            <a:endParaRPr lang="en-US" sz="3200" dirty="0"/>
          </a:p>
        </p:txBody>
      </p:sp>
      <p:sp>
        <p:nvSpPr>
          <p:cNvPr id="6" name="Text 4"/>
          <p:cNvSpPr txBox="1"/>
          <p:nvPr/>
        </p:nvSpPr>
        <p:spPr>
          <a:xfrm>
            <a:off x="548640" y="1481328"/>
            <a:ext cx="4297680" cy="4828032"/>
          </a:xfrm>
          <a:prstGeom prst="rect">
            <a:avLst/>
          </a:prstGeom>
          <a:noFill/>
          <a:ln/>
        </p:spPr>
        <p:txBody>
          <a:bodyPr wrap="square" lIns="50800" tIns="50800" rIns="50800" bIns="50800" rtlCol="0" anchor="t"/>
          <a:lstStyle/>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Unsupported claims are hallucinations.</a:t>
            </a:r>
            <a:endParaRPr lang="en-US" sz="2600" dirty="0"/>
          </a:p>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Inspect absent-item errors and yes bias.</a:t>
            </a:r>
            <a:endParaRPr lang="en-US" sz="2600" dirty="0"/>
          </a:p>
        </p:txBody>
      </p:sp>
      <p:sp>
        <p:nvSpPr>
          <p:cNvPr id="7" name="Shape 5"/>
          <p:cNvSpPr/>
          <p:nvPr/>
        </p:nvSpPr>
        <p:spPr>
          <a:xfrm>
            <a:off x="5257800" y="2624328"/>
            <a:ext cx="6385255" cy="0"/>
          </a:xfrm>
          <a:prstGeom prst="line">
            <a:avLst/>
          </a:prstGeom>
          <a:noFill/>
          <a:ln w="12700">
            <a:solidFill>
              <a:srgbClr val="C7D2FE"/>
            </a:solidFill>
            <a:prstDash val="solid"/>
          </a:ln>
        </p:spPr>
      </p:sp>
      <p:sp>
        <p:nvSpPr>
          <p:cNvPr id="8" name="Text 6"/>
          <p:cNvSpPr txBox="1"/>
          <p:nvPr/>
        </p:nvSpPr>
        <p:spPr>
          <a:xfrm>
            <a:off x="5257800" y="1481328"/>
            <a:ext cx="1371600" cy="1033272"/>
          </a:xfrm>
          <a:prstGeom prst="rect">
            <a:avLst/>
          </a:prstGeom>
          <a:noFill/>
          <a:ln/>
        </p:spPr>
        <p:txBody>
          <a:bodyPr wrap="square" lIns="0" tIns="0" rIns="0" bIns="0" rtlCol="0" anchor="ctr"/>
          <a:lstStyle/>
          <a:p>
            <a:pPr indent="0" marL="0">
              <a:buNone/>
            </a:pPr>
            <a:r>
              <a:rPr lang="en-US" sz="1800" b="1" dirty="0">
                <a:solidFill>
                  <a:srgbClr val="0F766E"/>
                </a:solidFill>
                <a:latin typeface="Calibri" pitchFamily="34" charset="0"/>
                <a:ea typeface="Calibri" pitchFamily="34" charset="-122"/>
                <a:cs typeface="Calibri" pitchFamily="34" charset="-120"/>
              </a:rPr>
              <a:t>Present</a:t>
            </a:r>
            <a:endParaRPr lang="en-US" sz="1800" dirty="0"/>
          </a:p>
        </p:txBody>
      </p:sp>
      <p:sp>
        <p:nvSpPr>
          <p:cNvPr id="9" name="Text 7"/>
          <p:cNvSpPr txBox="1"/>
          <p:nvPr/>
        </p:nvSpPr>
        <p:spPr>
          <a:xfrm>
            <a:off x="6766560" y="1481328"/>
            <a:ext cx="4876495" cy="1033272"/>
          </a:xfrm>
          <a:prstGeom prst="rect">
            <a:avLst/>
          </a:prstGeom>
          <a:noFill/>
          <a:ln/>
        </p:spPr>
        <p:txBody>
          <a:bodyPr wrap="square" lIns="0" tIns="0" rIns="0" bIns="0" rtlCol="0" anchor="ctr"/>
          <a:lstStyle/>
          <a:p>
            <a:pPr indent="0" marL="0">
              <a:buNone/>
            </a:pPr>
            <a:r>
              <a:rPr lang="en-US" sz="2200" dirty="0">
                <a:solidFill>
                  <a:srgbClr val="1F2937"/>
                </a:solidFill>
                <a:latin typeface="Calibri" pitchFamily="34" charset="0"/>
                <a:ea typeface="Calibri" pitchFamily="34" charset="-122"/>
                <a:cs typeface="Calibri" pitchFamily="34" charset="-120"/>
              </a:rPr>
              <a:t>Flower photograph: flower.</a:t>
            </a:r>
            <a:endParaRPr lang="en-US" sz="2200" dirty="0"/>
          </a:p>
        </p:txBody>
      </p:sp>
      <p:sp>
        <p:nvSpPr>
          <p:cNvPr id="10" name="Shape 8"/>
          <p:cNvSpPr/>
          <p:nvPr/>
        </p:nvSpPr>
        <p:spPr>
          <a:xfrm>
            <a:off x="5257800" y="3950208"/>
            <a:ext cx="6385255" cy="0"/>
          </a:xfrm>
          <a:prstGeom prst="line">
            <a:avLst/>
          </a:prstGeom>
          <a:noFill/>
          <a:ln w="12700">
            <a:solidFill>
              <a:srgbClr val="C7D2FE"/>
            </a:solidFill>
            <a:prstDash val="solid"/>
          </a:ln>
        </p:spPr>
      </p:sp>
      <p:sp>
        <p:nvSpPr>
          <p:cNvPr id="11" name="Text 9"/>
          <p:cNvSpPr txBox="1"/>
          <p:nvPr/>
        </p:nvSpPr>
        <p:spPr>
          <a:xfrm>
            <a:off x="5257800" y="2807208"/>
            <a:ext cx="1371600" cy="1033272"/>
          </a:xfrm>
          <a:prstGeom prst="rect">
            <a:avLst/>
          </a:prstGeom>
          <a:noFill/>
          <a:ln/>
        </p:spPr>
        <p:txBody>
          <a:bodyPr wrap="square" lIns="0" tIns="0" rIns="0" bIns="0" rtlCol="0" anchor="ctr"/>
          <a:lstStyle/>
          <a:p>
            <a:pPr indent="0" marL="0">
              <a:buNone/>
            </a:pPr>
            <a:r>
              <a:rPr lang="en-US" sz="1800" b="1" dirty="0">
                <a:solidFill>
                  <a:srgbClr val="0F766E"/>
                </a:solidFill>
                <a:latin typeface="Calibri" pitchFamily="34" charset="0"/>
                <a:ea typeface="Calibri" pitchFamily="34" charset="-122"/>
                <a:cs typeface="Calibri" pitchFamily="34" charset="-120"/>
              </a:rPr>
              <a:t>Absent</a:t>
            </a:r>
            <a:endParaRPr lang="en-US" sz="1800" dirty="0"/>
          </a:p>
        </p:txBody>
      </p:sp>
      <p:sp>
        <p:nvSpPr>
          <p:cNvPr id="12" name="Text 10"/>
          <p:cNvSpPr txBox="1"/>
          <p:nvPr/>
        </p:nvSpPr>
        <p:spPr>
          <a:xfrm>
            <a:off x="6766560" y="2807208"/>
            <a:ext cx="4876495" cy="1033272"/>
          </a:xfrm>
          <a:prstGeom prst="rect">
            <a:avLst/>
          </a:prstGeom>
          <a:noFill/>
          <a:ln/>
        </p:spPr>
        <p:txBody>
          <a:bodyPr wrap="square" lIns="0" tIns="0" rIns="0" bIns="0" rtlCol="0" anchor="ctr"/>
          <a:lstStyle/>
          <a:p>
            <a:pPr indent="0" marL="0">
              <a:buNone/>
            </a:pPr>
            <a:r>
              <a:rPr lang="en-US" sz="2200" dirty="0">
                <a:solidFill>
                  <a:srgbClr val="1F2937"/>
                </a:solidFill>
                <a:latin typeface="Calibri" pitchFamily="34" charset="0"/>
                <a:ea typeface="Calibri" pitchFamily="34" charset="-122"/>
                <a:cs typeface="Calibri" pitchFamily="34" charset="-120"/>
              </a:rPr>
              <a:t>Flower photograph: dog.</a:t>
            </a:r>
            <a:endParaRPr lang="en-US" sz="2200" dirty="0"/>
          </a:p>
        </p:txBody>
      </p:sp>
      <p:sp>
        <p:nvSpPr>
          <p:cNvPr id="13" name="Shape 11"/>
          <p:cNvSpPr/>
          <p:nvPr/>
        </p:nvSpPr>
        <p:spPr>
          <a:xfrm>
            <a:off x="5257800" y="5276088"/>
            <a:ext cx="6385255" cy="0"/>
          </a:xfrm>
          <a:prstGeom prst="line">
            <a:avLst/>
          </a:prstGeom>
          <a:noFill/>
          <a:ln w="12700">
            <a:solidFill>
              <a:srgbClr val="C7D2FE"/>
            </a:solidFill>
            <a:prstDash val="solid"/>
          </a:ln>
        </p:spPr>
      </p:sp>
      <p:sp>
        <p:nvSpPr>
          <p:cNvPr id="14" name="Text 12"/>
          <p:cNvSpPr txBox="1"/>
          <p:nvPr/>
        </p:nvSpPr>
        <p:spPr>
          <a:xfrm>
            <a:off x="5257800" y="4133088"/>
            <a:ext cx="1371600" cy="1033272"/>
          </a:xfrm>
          <a:prstGeom prst="rect">
            <a:avLst/>
          </a:prstGeom>
          <a:noFill/>
          <a:ln/>
        </p:spPr>
        <p:txBody>
          <a:bodyPr wrap="square" lIns="0" tIns="0" rIns="0" bIns="0" rtlCol="0" anchor="ctr"/>
          <a:lstStyle/>
          <a:p>
            <a:pPr indent="0" marL="0">
              <a:buNone/>
            </a:pPr>
            <a:r>
              <a:rPr lang="en-US" sz="1800" b="1" dirty="0">
                <a:solidFill>
                  <a:srgbClr val="0F766E"/>
                </a:solidFill>
                <a:latin typeface="Calibri" pitchFamily="34" charset="0"/>
                <a:ea typeface="Calibri" pitchFamily="34" charset="-122"/>
                <a:cs typeface="Calibri" pitchFamily="34" charset="-120"/>
              </a:rPr>
              <a:t>Invented field</a:t>
            </a:r>
            <a:endParaRPr lang="en-US" sz="1800" dirty="0"/>
          </a:p>
        </p:txBody>
      </p:sp>
      <p:sp>
        <p:nvSpPr>
          <p:cNvPr id="15" name="Text 13"/>
          <p:cNvSpPr txBox="1"/>
          <p:nvPr/>
        </p:nvSpPr>
        <p:spPr>
          <a:xfrm>
            <a:off x="6766560" y="4133088"/>
            <a:ext cx="4876495" cy="1033272"/>
          </a:xfrm>
          <a:prstGeom prst="rect">
            <a:avLst/>
          </a:prstGeom>
          <a:noFill/>
          <a:ln/>
        </p:spPr>
        <p:txBody>
          <a:bodyPr wrap="square" lIns="0" tIns="0" rIns="0" bIns="0" rtlCol="0" anchor="ctr"/>
          <a:lstStyle/>
          <a:p>
            <a:pPr indent="0" marL="0">
              <a:buNone/>
            </a:pPr>
            <a:r>
              <a:rPr lang="en-US" sz="2200" dirty="0">
                <a:solidFill>
                  <a:srgbClr val="1F2937"/>
                </a:solidFill>
                <a:latin typeface="Calibri" pitchFamily="34" charset="0"/>
                <a:ea typeface="Calibri" pitchFamily="34" charset="-122"/>
                <a:cs typeface="Calibri" pitchFamily="34" charset="-120"/>
              </a:rPr>
              <a:t>Invoice contains no VAT.</a:t>
            </a:r>
            <a:endParaRPr lang="en-US" sz="2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10  ·  MULTIMODAL GENERATIVE AI APPLICATIONS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33</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Designing human evaluation for images and audio</a:t>
            </a:r>
            <a:endParaRPr lang="en-US" sz="3200" dirty="0"/>
          </a:p>
        </p:txBody>
      </p:sp>
      <p:sp>
        <p:nvSpPr>
          <p:cNvPr id="6" name="Text 4"/>
          <p:cNvSpPr txBox="1"/>
          <p:nvPr/>
        </p:nvSpPr>
        <p:spPr>
          <a:xfrm>
            <a:off x="548640" y="1481328"/>
            <a:ext cx="4297680" cy="4828032"/>
          </a:xfrm>
          <a:prstGeom prst="rect">
            <a:avLst/>
          </a:prstGeom>
          <a:noFill/>
          <a:ln/>
        </p:spPr>
        <p:txBody>
          <a:bodyPr wrap="square" lIns="50800" tIns="50800" rIns="50800" bIns="50800" rtlCol="0" anchor="t"/>
          <a:lstStyle/>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Combine human and automatic checks.</a:t>
            </a:r>
            <a:endParaRPr lang="en-US" sz="26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257800" y="1481328"/>
          <a:ext cx="6385255" cy="914400"/>
        </p:xfrm>
        <a:graphic>
          <a:graphicData uri="http://schemas.openxmlformats.org/drawingml/2006/table">
            <a:tbl>
              <a:tblPr/>
              <a:tblGrid>
                <a:gridCol w="3192628"/>
                <a:gridCol w="3192628"/>
              </a:tblGrid>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Step</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Purpose</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r>
              <a:tr h="0">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Randomise</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Reduce order bias</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Rubric</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Score the task</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Vary</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Content/accents/languages</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Agreement</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Inspect disputed cases</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E1B4B"/>
        </a:solidFill>
      </p:bgPr>
    </p:bg>
    <p:spTree>
      <p:nvGrpSpPr>
        <p:cNvPr id="1" name=""/>
        <p:cNvGrpSpPr/>
        <p:nvPr/>
      </p:nvGrpSpPr>
      <p:grpSpPr>
        <a:xfrm>
          <a:off x="0" y="0"/>
          <a:ext cx="0" cy="0"/>
          <a:chOff x="0" y="0"/>
          <a:chExt cx="0" cy="0"/>
        </a:xfrm>
      </p:grpSpPr>
      <p:sp>
        <p:nvSpPr>
          <p:cNvPr id="2" name="Text 0"/>
          <p:cNvSpPr txBox="1"/>
          <p:nvPr/>
        </p:nvSpPr>
        <p:spPr>
          <a:xfrm>
            <a:off x="731520" y="1188720"/>
            <a:ext cx="2926080" cy="1828800"/>
          </a:xfrm>
          <a:prstGeom prst="rect">
            <a:avLst/>
          </a:prstGeom>
          <a:noFill/>
          <a:ln/>
        </p:spPr>
        <p:txBody>
          <a:bodyPr wrap="square" lIns="0" tIns="0" rIns="0" bIns="0" rtlCol="0" anchor="t"/>
          <a:lstStyle/>
          <a:p>
            <a:pPr indent="0" marL="0">
              <a:buNone/>
            </a:pPr>
            <a:r>
              <a:rPr lang="en-US" sz="11000" b="1" dirty="0">
                <a:solidFill>
                  <a:srgbClr val="EA580C"/>
                </a:solidFill>
                <a:latin typeface="Calibri" pitchFamily="34" charset="0"/>
                <a:ea typeface="Calibri" pitchFamily="34" charset="-122"/>
                <a:cs typeface="Calibri" pitchFamily="34" charset="-120"/>
              </a:rPr>
              <a:t>05</a:t>
            </a:r>
            <a:endParaRPr lang="en-US" sz="11000" dirty="0"/>
          </a:p>
        </p:txBody>
      </p:sp>
      <p:sp>
        <p:nvSpPr>
          <p:cNvPr id="3" name="Text 1"/>
          <p:cNvSpPr txBox="1"/>
          <p:nvPr/>
        </p:nvSpPr>
        <p:spPr>
          <a:xfrm>
            <a:off x="731520" y="3063240"/>
            <a:ext cx="10515600" cy="1463040"/>
          </a:xfrm>
          <a:prstGeom prst="rect">
            <a:avLst/>
          </a:prstGeom>
          <a:noFill/>
          <a:ln/>
        </p:spPr>
        <p:txBody>
          <a:bodyPr wrap="square" lIns="0" tIns="0" rIns="0" bIns="0" rtlCol="0" anchor="t"/>
          <a:lstStyle/>
          <a:p>
            <a:pPr indent="0" marL="0">
              <a:buNone/>
            </a:pPr>
            <a:r>
              <a:rPr lang="en-US" sz="4100" b="1" dirty="0">
                <a:solidFill>
                  <a:srgbClr val="FFFFFF"/>
                </a:solidFill>
                <a:latin typeface="Calibri" pitchFamily="34" charset="0"/>
                <a:ea typeface="Calibri" pitchFamily="34" charset="-122"/>
                <a:cs typeface="Calibri" pitchFamily="34" charset="-120"/>
              </a:rPr>
              <a:t>Responsible use, applications and trends</a:t>
            </a:r>
            <a:endParaRPr lang="en-US" sz="4100" dirty="0"/>
          </a:p>
        </p:txBody>
      </p:sp>
      <p:sp>
        <p:nvSpPr>
          <p:cNvPr id="4" name="Text 2"/>
          <p:cNvSpPr txBox="1"/>
          <p:nvPr/>
        </p:nvSpPr>
        <p:spPr>
          <a:xfrm>
            <a:off x="731520" y="4617720"/>
            <a:ext cx="10515600" cy="1097280"/>
          </a:xfrm>
          <a:prstGeom prst="rect">
            <a:avLst/>
          </a:prstGeom>
          <a:noFill/>
          <a:ln/>
        </p:spPr>
        <p:txBody>
          <a:bodyPr wrap="square" lIns="0" tIns="0" rIns="0" bIns="0" rtlCol="0" anchor="t"/>
          <a:lstStyle/>
          <a:p>
            <a:pPr indent="0" marL="0">
              <a:buNone/>
            </a:pPr>
            <a:r>
              <a:rPr lang="en-US" sz="2200" i="1" dirty="0">
                <a:solidFill>
                  <a:srgbClr val="C7D2FE"/>
                </a:solidFill>
                <a:latin typeface="Calibri" pitchFamily="34" charset="0"/>
                <a:ea typeface="Calibri" pitchFamily="34" charset="-122"/>
                <a:cs typeface="Calibri" pitchFamily="34" charset="-120"/>
              </a:rPr>
              <a:t>What can go wrong, how do we label synthetic media, and where is this useful?</a:t>
            </a:r>
            <a:endParaRPr lang="en-US" sz="2200" dirty="0"/>
          </a:p>
        </p:txBody>
      </p:sp>
      <p:sp>
        <p:nvSpPr>
          <p:cNvPr id="5" name="Shape 3"/>
          <p:cNvSpPr/>
          <p:nvPr/>
        </p:nvSpPr>
        <p:spPr>
          <a:xfrm>
            <a:off x="9692640" y="1097280"/>
            <a:ext cx="1554480" cy="1554480"/>
          </a:xfrm>
          <a:prstGeom prst="ellipse">
            <a:avLst/>
          </a:prstGeom>
          <a:solidFill>
            <a:srgbClr val="4F46E5"/>
          </a:solidFill>
          <a:ln w="12700">
            <a:solidFill>
              <a:srgbClr val="4F46E5"/>
            </a:solidFill>
            <a:prstDash val="solid"/>
          </a:ln>
        </p:spPr>
      </p:sp>
      <p:pic>
        <p:nvPicPr>
          <p:cNvPr id="6" name="Image 0" descr="preencoded.png">    </p:cNvPr>
          <p:cNvPicPr>
            <a:picLocks noChangeAspect="1"/>
          </p:cNvPicPr>
          <p:nvPr/>
        </p:nvPicPr>
        <p:blipFill>
          <a:blip r:embed="rId1"/>
          <a:stretch>
            <a:fillRect/>
          </a:stretch>
        </p:blipFill>
        <p:spPr>
          <a:xfrm>
            <a:off x="10065715" y="1470355"/>
            <a:ext cx="808330" cy="80833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10  ·  MULTIMODAL GENERATIVE AI APPLICATIONS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35</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Harms of realistic synthetic media</a:t>
            </a:r>
            <a:endParaRPr lang="en-US" sz="3200" dirty="0"/>
          </a:p>
        </p:txBody>
      </p:sp>
      <p:sp>
        <p:nvSpPr>
          <p:cNvPr id="6" name="Shape 4"/>
          <p:cNvSpPr/>
          <p:nvPr/>
        </p:nvSpPr>
        <p:spPr>
          <a:xfrm>
            <a:off x="548640" y="1481328"/>
            <a:ext cx="5410048" cy="2276856"/>
          </a:xfrm>
          <a:prstGeom prst="roundRect">
            <a:avLst>
              <a:gd name="adj" fmla="val 4819"/>
            </a:avLst>
          </a:prstGeom>
          <a:solidFill>
            <a:srgbClr val="EEF0FF"/>
          </a:solidFill>
          <a:ln w="12700">
            <a:solidFill>
              <a:srgbClr val="EEF0FF"/>
            </a:solidFill>
            <a:prstDash val="solid"/>
          </a:ln>
        </p:spPr>
      </p:sp>
      <p:sp>
        <p:nvSpPr>
          <p:cNvPr id="7" name="Shape 5"/>
          <p:cNvSpPr/>
          <p:nvPr/>
        </p:nvSpPr>
        <p:spPr>
          <a:xfrm>
            <a:off x="731520" y="1664208"/>
            <a:ext cx="548640" cy="548640"/>
          </a:xfrm>
          <a:prstGeom prst="ellipse">
            <a:avLst/>
          </a:prstGeom>
          <a:solidFill>
            <a:srgbClr val="4F46E5"/>
          </a:solidFill>
          <a:ln w="12700">
            <a:solidFill>
              <a:srgbClr val="4F46E5"/>
            </a:solidFill>
            <a:prstDash val="solid"/>
          </a:ln>
        </p:spPr>
      </p:sp>
      <p:pic>
        <p:nvPicPr>
          <p:cNvPr id="8" name="Image 0" descr="preencoded.png">    </p:cNvPr>
          <p:cNvPicPr>
            <a:picLocks noChangeAspect="1"/>
          </p:cNvPicPr>
          <p:nvPr/>
        </p:nvPicPr>
        <p:blipFill>
          <a:blip r:embed="rId1"/>
          <a:stretch>
            <a:fillRect/>
          </a:stretch>
        </p:blipFill>
        <p:spPr>
          <a:xfrm>
            <a:off x="863194" y="1795882"/>
            <a:ext cx="285293" cy="285293"/>
          </a:xfrm>
          <a:prstGeom prst="rect">
            <a:avLst/>
          </a:prstGeom>
        </p:spPr>
      </p:pic>
      <p:sp>
        <p:nvSpPr>
          <p:cNvPr id="9" name="Text 6"/>
          <p:cNvSpPr txBox="1"/>
          <p:nvPr/>
        </p:nvSpPr>
        <p:spPr>
          <a:xfrm>
            <a:off x="1371600" y="1645920"/>
            <a:ext cx="444992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Impersonation</a:t>
            </a:r>
            <a:endParaRPr lang="en-US" sz="2100" dirty="0"/>
          </a:p>
        </p:txBody>
      </p:sp>
      <p:sp>
        <p:nvSpPr>
          <p:cNvPr id="10" name="Text 7"/>
          <p:cNvSpPr txBox="1"/>
          <p:nvPr/>
        </p:nvSpPr>
        <p:spPr>
          <a:xfrm>
            <a:off x="731520" y="2304288"/>
            <a:ext cx="5044288" cy="140817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Fake faces or voices can enable fraud.</a:t>
            </a:r>
            <a:endParaRPr lang="en-US" sz="2200" dirty="0"/>
          </a:p>
        </p:txBody>
      </p:sp>
      <p:sp>
        <p:nvSpPr>
          <p:cNvPr id="11" name="Shape 8"/>
          <p:cNvSpPr/>
          <p:nvPr/>
        </p:nvSpPr>
        <p:spPr>
          <a:xfrm>
            <a:off x="6233008" y="1481328"/>
            <a:ext cx="5410048" cy="2276856"/>
          </a:xfrm>
          <a:prstGeom prst="roundRect">
            <a:avLst>
              <a:gd name="adj" fmla="val 4819"/>
            </a:avLst>
          </a:prstGeom>
          <a:solidFill>
            <a:srgbClr val="F5F3FF"/>
          </a:solidFill>
          <a:ln w="12700">
            <a:solidFill>
              <a:srgbClr val="EEF0FF"/>
            </a:solidFill>
            <a:prstDash val="solid"/>
          </a:ln>
        </p:spPr>
      </p:sp>
      <p:sp>
        <p:nvSpPr>
          <p:cNvPr id="12" name="Shape 9"/>
          <p:cNvSpPr/>
          <p:nvPr/>
        </p:nvSpPr>
        <p:spPr>
          <a:xfrm>
            <a:off x="6415888" y="1664208"/>
            <a:ext cx="548640" cy="548640"/>
          </a:xfrm>
          <a:prstGeom prst="ellipse">
            <a:avLst/>
          </a:prstGeom>
          <a:solidFill>
            <a:srgbClr val="4F46E5"/>
          </a:solidFill>
          <a:ln w="12700">
            <a:solidFill>
              <a:srgbClr val="4F46E5"/>
            </a:solidFill>
            <a:prstDash val="solid"/>
          </a:ln>
        </p:spPr>
      </p:sp>
      <p:pic>
        <p:nvPicPr>
          <p:cNvPr id="13" name="Image 1" descr="preencoded.png">    </p:cNvPr>
          <p:cNvPicPr>
            <a:picLocks noChangeAspect="1"/>
          </p:cNvPicPr>
          <p:nvPr/>
        </p:nvPicPr>
        <p:blipFill>
          <a:blip r:embed="rId2"/>
          <a:stretch>
            <a:fillRect/>
          </a:stretch>
        </p:blipFill>
        <p:spPr>
          <a:xfrm>
            <a:off x="6547561" y="1795882"/>
            <a:ext cx="285293" cy="285293"/>
          </a:xfrm>
          <a:prstGeom prst="rect">
            <a:avLst/>
          </a:prstGeom>
        </p:spPr>
      </p:pic>
      <p:sp>
        <p:nvSpPr>
          <p:cNvPr id="14" name="Text 10"/>
          <p:cNvSpPr txBox="1"/>
          <p:nvPr/>
        </p:nvSpPr>
        <p:spPr>
          <a:xfrm>
            <a:off x="7055968" y="1645920"/>
            <a:ext cx="444992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Non-consensual imagery</a:t>
            </a:r>
            <a:endParaRPr lang="en-US" sz="2100" dirty="0"/>
          </a:p>
        </p:txBody>
      </p:sp>
      <p:sp>
        <p:nvSpPr>
          <p:cNvPr id="15" name="Text 11"/>
          <p:cNvSpPr txBox="1"/>
          <p:nvPr/>
        </p:nvSpPr>
        <p:spPr>
          <a:xfrm>
            <a:off x="6415888" y="2304288"/>
            <a:ext cx="5044288" cy="140817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Fabrications can severely harm people.</a:t>
            </a:r>
            <a:endParaRPr lang="en-US" sz="2200" dirty="0"/>
          </a:p>
        </p:txBody>
      </p:sp>
      <p:sp>
        <p:nvSpPr>
          <p:cNvPr id="16" name="Shape 12"/>
          <p:cNvSpPr/>
          <p:nvPr/>
        </p:nvSpPr>
        <p:spPr>
          <a:xfrm>
            <a:off x="548640" y="4032504"/>
            <a:ext cx="5410048" cy="2276856"/>
          </a:xfrm>
          <a:prstGeom prst="roundRect">
            <a:avLst>
              <a:gd name="adj" fmla="val 4819"/>
            </a:avLst>
          </a:prstGeom>
          <a:solidFill>
            <a:srgbClr val="EEF0FF"/>
          </a:solidFill>
          <a:ln w="12700">
            <a:solidFill>
              <a:srgbClr val="EEF0FF"/>
            </a:solidFill>
            <a:prstDash val="solid"/>
          </a:ln>
        </p:spPr>
      </p:sp>
      <p:sp>
        <p:nvSpPr>
          <p:cNvPr id="17" name="Shape 13"/>
          <p:cNvSpPr/>
          <p:nvPr/>
        </p:nvSpPr>
        <p:spPr>
          <a:xfrm>
            <a:off x="731520" y="4215384"/>
            <a:ext cx="548640" cy="548640"/>
          </a:xfrm>
          <a:prstGeom prst="ellipse">
            <a:avLst/>
          </a:prstGeom>
          <a:solidFill>
            <a:srgbClr val="4F46E5"/>
          </a:solidFill>
          <a:ln w="12700">
            <a:solidFill>
              <a:srgbClr val="4F46E5"/>
            </a:solidFill>
            <a:prstDash val="solid"/>
          </a:ln>
        </p:spPr>
      </p:sp>
      <p:pic>
        <p:nvPicPr>
          <p:cNvPr id="18" name="Image 2" descr="preencoded.png">    </p:cNvPr>
          <p:cNvPicPr>
            <a:picLocks noChangeAspect="1"/>
          </p:cNvPicPr>
          <p:nvPr/>
        </p:nvPicPr>
        <p:blipFill>
          <a:blip r:embed="rId3"/>
          <a:stretch>
            <a:fillRect/>
          </a:stretch>
        </p:blipFill>
        <p:spPr>
          <a:xfrm>
            <a:off x="863194" y="4347058"/>
            <a:ext cx="285293" cy="285293"/>
          </a:xfrm>
          <a:prstGeom prst="rect">
            <a:avLst/>
          </a:prstGeom>
        </p:spPr>
      </p:pic>
      <p:sp>
        <p:nvSpPr>
          <p:cNvPr id="19" name="Text 14"/>
          <p:cNvSpPr txBox="1"/>
          <p:nvPr/>
        </p:nvSpPr>
        <p:spPr>
          <a:xfrm>
            <a:off x="1371600" y="4197096"/>
            <a:ext cx="444992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Disinformation</a:t>
            </a:r>
            <a:endParaRPr lang="en-US" sz="2100" dirty="0"/>
          </a:p>
        </p:txBody>
      </p:sp>
      <p:sp>
        <p:nvSpPr>
          <p:cNvPr id="20" name="Text 15"/>
          <p:cNvSpPr txBox="1"/>
          <p:nvPr/>
        </p:nvSpPr>
        <p:spPr>
          <a:xfrm>
            <a:off x="731520" y="4855464"/>
            <a:ext cx="5044288" cy="140817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Fakes mislead; real evidence may be dismissed.</a:t>
            </a:r>
            <a:endParaRPr lang="en-US" sz="2200" dirty="0"/>
          </a:p>
        </p:txBody>
      </p:sp>
      <p:sp>
        <p:nvSpPr>
          <p:cNvPr id="21" name="Shape 16"/>
          <p:cNvSpPr/>
          <p:nvPr/>
        </p:nvSpPr>
        <p:spPr>
          <a:xfrm>
            <a:off x="6233008" y="4032504"/>
            <a:ext cx="5410048" cy="2276856"/>
          </a:xfrm>
          <a:prstGeom prst="roundRect">
            <a:avLst>
              <a:gd name="adj" fmla="val 4819"/>
            </a:avLst>
          </a:prstGeom>
          <a:solidFill>
            <a:srgbClr val="F5F3FF"/>
          </a:solidFill>
          <a:ln w="12700">
            <a:solidFill>
              <a:srgbClr val="EEF0FF"/>
            </a:solidFill>
            <a:prstDash val="solid"/>
          </a:ln>
        </p:spPr>
      </p:sp>
      <p:sp>
        <p:nvSpPr>
          <p:cNvPr id="22" name="Shape 17"/>
          <p:cNvSpPr/>
          <p:nvPr/>
        </p:nvSpPr>
        <p:spPr>
          <a:xfrm>
            <a:off x="6415888" y="4215384"/>
            <a:ext cx="548640" cy="548640"/>
          </a:xfrm>
          <a:prstGeom prst="ellipse">
            <a:avLst/>
          </a:prstGeom>
          <a:solidFill>
            <a:srgbClr val="4F46E5"/>
          </a:solidFill>
          <a:ln w="12700">
            <a:solidFill>
              <a:srgbClr val="4F46E5"/>
            </a:solidFill>
            <a:prstDash val="solid"/>
          </a:ln>
        </p:spPr>
      </p:sp>
      <p:pic>
        <p:nvPicPr>
          <p:cNvPr id="23" name="Image 3" descr="preencoded.png">    </p:cNvPr>
          <p:cNvPicPr>
            <a:picLocks noChangeAspect="1"/>
          </p:cNvPicPr>
          <p:nvPr/>
        </p:nvPicPr>
        <p:blipFill>
          <a:blip r:embed="rId4"/>
          <a:stretch>
            <a:fillRect/>
          </a:stretch>
        </p:blipFill>
        <p:spPr>
          <a:xfrm>
            <a:off x="6547561" y="4347058"/>
            <a:ext cx="285293" cy="285293"/>
          </a:xfrm>
          <a:prstGeom prst="rect">
            <a:avLst/>
          </a:prstGeom>
        </p:spPr>
      </p:pic>
      <p:sp>
        <p:nvSpPr>
          <p:cNvPr id="24" name="Text 18"/>
          <p:cNvSpPr txBox="1"/>
          <p:nvPr/>
        </p:nvSpPr>
        <p:spPr>
          <a:xfrm>
            <a:off x="7055968" y="4197096"/>
            <a:ext cx="444992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Harassment</a:t>
            </a:r>
            <a:endParaRPr lang="en-US" sz="2100" dirty="0"/>
          </a:p>
        </p:txBody>
      </p:sp>
      <p:sp>
        <p:nvSpPr>
          <p:cNvPr id="25" name="Text 19"/>
          <p:cNvSpPr txBox="1"/>
          <p:nvPr/>
        </p:nvSpPr>
        <p:spPr>
          <a:xfrm>
            <a:off x="6415888" y="4855464"/>
            <a:ext cx="5044288" cy="140817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Synthetic identities can enable targeted abuse.</a:t>
            </a:r>
            <a:endParaRPr lang="en-US" sz="2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10  ·  MULTIMODAL GENERATIVE AI APPLICATIONS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36</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Provenance and labelling: no single layer is enough</a:t>
            </a:r>
            <a:endParaRPr lang="en-US" sz="3200" dirty="0"/>
          </a:p>
        </p:txBody>
      </p:sp>
      <p:sp>
        <p:nvSpPr>
          <p:cNvPr id="6" name="Text 4"/>
          <p:cNvSpPr txBox="1"/>
          <p:nvPr/>
        </p:nvSpPr>
        <p:spPr>
          <a:xfrm>
            <a:off x="1073064" y="2287641"/>
            <a:ext cx="777975" cy="274990"/>
          </a:xfrm>
          <a:prstGeom prst="rect">
            <a:avLst/>
          </a:prstGeom>
          <a:noFill/>
          <a:ln/>
        </p:spPr>
        <p:txBody>
          <a:bodyPr wrap="square" lIns="0" tIns="0" rIns="0" bIns="0" rtlCol="0" anchor="ctr"/>
          <a:lstStyle/>
          <a:p>
            <a:pPr algn="l" indent="0" marL="0">
              <a:lnSpc>
                <a:spcPct val="116000"/>
              </a:lnSpc>
              <a:buNone/>
            </a:pPr>
            <a:r>
              <a:rPr lang="en-US" sz="1867" b="1" dirty="0">
                <a:solidFill>
                  <a:srgbClr val="1E1B4B"/>
                </a:solidFill>
                <a:latin typeface="Arial" pitchFamily="34" charset="0"/>
                <a:ea typeface="Arial" pitchFamily="34" charset="-122"/>
                <a:cs typeface="Arial" pitchFamily="34" charset="-120"/>
              </a:rPr>
              <a:t>Layer</a:t>
            </a:r>
            <a:endParaRPr lang="en-US" sz="1867" dirty="0"/>
          </a:p>
        </p:txBody>
      </p:sp>
      <p:sp>
        <p:nvSpPr>
          <p:cNvPr id="7" name="Text 5"/>
          <p:cNvSpPr txBox="1"/>
          <p:nvPr/>
        </p:nvSpPr>
        <p:spPr>
          <a:xfrm>
            <a:off x="4202543" y="2287641"/>
            <a:ext cx="1281448" cy="274990"/>
          </a:xfrm>
          <a:prstGeom prst="rect">
            <a:avLst/>
          </a:prstGeom>
          <a:noFill/>
          <a:ln/>
        </p:spPr>
        <p:txBody>
          <a:bodyPr wrap="square" lIns="0" tIns="0" rIns="0" bIns="0" rtlCol="0" anchor="ctr"/>
          <a:lstStyle/>
          <a:p>
            <a:pPr algn="l" indent="0" marL="0">
              <a:lnSpc>
                <a:spcPct val="116000"/>
              </a:lnSpc>
              <a:buNone/>
            </a:pPr>
            <a:r>
              <a:rPr lang="en-US" sz="1867" b="1" dirty="0">
                <a:solidFill>
                  <a:srgbClr val="1E1B4B"/>
                </a:solidFill>
                <a:latin typeface="Arial" pitchFamily="34" charset="0"/>
                <a:ea typeface="Arial" pitchFamily="34" charset="-122"/>
                <a:cs typeface="Arial" pitchFamily="34" charset="-120"/>
              </a:rPr>
              <a:t>Operation</a:t>
            </a:r>
            <a:endParaRPr lang="en-US" sz="1867" dirty="0"/>
          </a:p>
        </p:txBody>
      </p:sp>
      <p:sp>
        <p:nvSpPr>
          <p:cNvPr id="8" name="Text 6"/>
          <p:cNvSpPr txBox="1"/>
          <p:nvPr/>
        </p:nvSpPr>
        <p:spPr>
          <a:xfrm>
            <a:off x="8402633" y="2287641"/>
            <a:ext cx="698479" cy="274990"/>
          </a:xfrm>
          <a:prstGeom prst="rect">
            <a:avLst/>
          </a:prstGeom>
          <a:noFill/>
          <a:ln/>
        </p:spPr>
        <p:txBody>
          <a:bodyPr wrap="square" lIns="0" tIns="0" rIns="0" bIns="0" rtlCol="0" anchor="ctr"/>
          <a:lstStyle/>
          <a:p>
            <a:pPr algn="l" indent="0" marL="0">
              <a:lnSpc>
                <a:spcPct val="116000"/>
              </a:lnSpc>
              <a:buNone/>
            </a:pPr>
            <a:r>
              <a:rPr lang="en-US" sz="1867" b="1" dirty="0">
                <a:solidFill>
                  <a:srgbClr val="1E1B4B"/>
                </a:solidFill>
                <a:latin typeface="Arial" pitchFamily="34" charset="0"/>
                <a:ea typeface="Arial" pitchFamily="34" charset="-122"/>
                <a:cs typeface="Arial" pitchFamily="34" charset="-120"/>
              </a:rPr>
              <a:t>Limit</a:t>
            </a:r>
            <a:endParaRPr lang="en-US" sz="1867" dirty="0"/>
          </a:p>
        </p:txBody>
      </p:sp>
      <p:sp>
        <p:nvSpPr>
          <p:cNvPr id="9" name="Text 7"/>
          <p:cNvSpPr txBox="1"/>
          <p:nvPr/>
        </p:nvSpPr>
        <p:spPr>
          <a:xfrm>
            <a:off x="1073064" y="2869595"/>
            <a:ext cx="1263782" cy="274990"/>
          </a:xfrm>
          <a:prstGeom prst="rect">
            <a:avLst/>
          </a:prstGeom>
          <a:noFill/>
          <a:ln/>
        </p:spPr>
        <p:txBody>
          <a:bodyPr wrap="square" lIns="0" tIns="0" rIns="0" bIns="0" rtlCol="0" anchor="ctr"/>
          <a:lstStyle/>
          <a:p>
            <a:pPr algn="l" indent="0" marL="0">
              <a:lnSpc>
                <a:spcPct val="116000"/>
              </a:lnSpc>
              <a:buNone/>
            </a:pPr>
            <a:r>
              <a:rPr lang="en-US" sz="1867" dirty="0">
                <a:solidFill>
                  <a:srgbClr val="1E1B4B"/>
                </a:solidFill>
                <a:latin typeface="Arial" pitchFamily="34" charset="0"/>
                <a:ea typeface="Arial" pitchFamily="34" charset="-122"/>
                <a:cs typeface="Arial" pitchFamily="34" charset="-120"/>
              </a:rPr>
              <a:t>Disclosure</a:t>
            </a:r>
            <a:endParaRPr lang="en-US" sz="1867" dirty="0"/>
          </a:p>
        </p:txBody>
      </p:sp>
      <p:sp>
        <p:nvSpPr>
          <p:cNvPr id="10" name="Text 8"/>
          <p:cNvSpPr txBox="1"/>
          <p:nvPr/>
        </p:nvSpPr>
        <p:spPr>
          <a:xfrm>
            <a:off x="4202543" y="2869595"/>
            <a:ext cx="1723091" cy="274990"/>
          </a:xfrm>
          <a:prstGeom prst="rect">
            <a:avLst/>
          </a:prstGeom>
          <a:noFill/>
          <a:ln/>
        </p:spPr>
        <p:txBody>
          <a:bodyPr wrap="square" lIns="0" tIns="0" rIns="0" bIns="0" rtlCol="0" anchor="ctr"/>
          <a:lstStyle/>
          <a:p>
            <a:pPr algn="l" indent="0" marL="0">
              <a:lnSpc>
                <a:spcPct val="116000"/>
              </a:lnSpc>
              <a:buNone/>
            </a:pPr>
            <a:r>
              <a:rPr lang="en-US" sz="1867" dirty="0">
                <a:solidFill>
                  <a:srgbClr val="1F2937"/>
                </a:solidFill>
                <a:latin typeface="Arial" pitchFamily="34" charset="0"/>
                <a:ea typeface="Arial" pitchFamily="34" charset="-122"/>
                <a:cs typeface="Arial" pitchFamily="34" charset="-120"/>
              </a:rPr>
              <a:t>Inform viewers</a:t>
            </a:r>
            <a:endParaRPr lang="en-US" sz="1867" dirty="0"/>
          </a:p>
        </p:txBody>
      </p:sp>
      <p:sp>
        <p:nvSpPr>
          <p:cNvPr id="11" name="Text 9"/>
          <p:cNvSpPr txBox="1"/>
          <p:nvPr/>
        </p:nvSpPr>
        <p:spPr>
          <a:xfrm>
            <a:off x="8402633" y="2869595"/>
            <a:ext cx="1069459" cy="274990"/>
          </a:xfrm>
          <a:prstGeom prst="rect">
            <a:avLst/>
          </a:prstGeom>
          <a:noFill/>
          <a:ln/>
        </p:spPr>
        <p:txBody>
          <a:bodyPr wrap="square" lIns="0" tIns="0" rIns="0" bIns="0" rtlCol="0" anchor="ctr"/>
          <a:lstStyle/>
          <a:p>
            <a:pPr algn="l" indent="0" marL="0">
              <a:lnSpc>
                <a:spcPct val="116000"/>
              </a:lnSpc>
              <a:buNone/>
            </a:pPr>
            <a:r>
              <a:rPr lang="en-US" sz="1867" dirty="0">
                <a:solidFill>
                  <a:srgbClr val="EA580C"/>
                </a:solidFill>
                <a:latin typeface="Arial" pitchFamily="34" charset="0"/>
                <a:ea typeface="Arial" pitchFamily="34" charset="-122"/>
                <a:cs typeface="Arial" pitchFamily="34" charset="-120"/>
              </a:rPr>
              <a:t>Cropped</a:t>
            </a:r>
            <a:endParaRPr lang="en-US" sz="1867" dirty="0"/>
          </a:p>
        </p:txBody>
      </p:sp>
      <p:sp>
        <p:nvSpPr>
          <p:cNvPr id="12" name="Text 10"/>
          <p:cNvSpPr txBox="1"/>
          <p:nvPr/>
        </p:nvSpPr>
        <p:spPr>
          <a:xfrm>
            <a:off x="1073064" y="3321991"/>
            <a:ext cx="2009331" cy="274990"/>
          </a:xfrm>
          <a:prstGeom prst="rect">
            <a:avLst/>
          </a:prstGeom>
          <a:noFill/>
          <a:ln/>
        </p:spPr>
        <p:txBody>
          <a:bodyPr wrap="square" lIns="0" tIns="0" rIns="0" bIns="0" rtlCol="0" anchor="ctr"/>
          <a:lstStyle/>
          <a:p>
            <a:pPr algn="l" indent="0" marL="0">
              <a:lnSpc>
                <a:spcPct val="116000"/>
              </a:lnSpc>
              <a:buNone/>
            </a:pPr>
            <a:r>
              <a:rPr lang="en-US" sz="1867" dirty="0">
                <a:solidFill>
                  <a:srgbClr val="1E1B4B"/>
                </a:solidFill>
                <a:latin typeface="Arial" pitchFamily="34" charset="0"/>
                <a:ea typeface="Arial" pitchFamily="34" charset="-122"/>
                <a:cs typeface="Arial" pitchFamily="34" charset="-120"/>
              </a:rPr>
              <a:t>C2PA credentials</a:t>
            </a:r>
            <a:endParaRPr lang="en-US" sz="1867" dirty="0"/>
          </a:p>
        </p:txBody>
      </p:sp>
      <p:sp>
        <p:nvSpPr>
          <p:cNvPr id="13" name="Text 11"/>
          <p:cNvSpPr txBox="1"/>
          <p:nvPr/>
        </p:nvSpPr>
        <p:spPr>
          <a:xfrm>
            <a:off x="4202543" y="3321991"/>
            <a:ext cx="1413941" cy="274990"/>
          </a:xfrm>
          <a:prstGeom prst="rect">
            <a:avLst/>
          </a:prstGeom>
          <a:noFill/>
          <a:ln/>
        </p:spPr>
        <p:txBody>
          <a:bodyPr wrap="square" lIns="0" tIns="0" rIns="0" bIns="0" rtlCol="0" anchor="ctr"/>
          <a:lstStyle/>
          <a:p>
            <a:pPr algn="l" indent="0" marL="0">
              <a:lnSpc>
                <a:spcPct val="116000"/>
              </a:lnSpc>
              <a:buNone/>
            </a:pPr>
            <a:r>
              <a:rPr lang="en-US" sz="1867" dirty="0">
                <a:solidFill>
                  <a:srgbClr val="1F2937"/>
                </a:solidFill>
                <a:latin typeface="Arial" pitchFamily="34" charset="0"/>
                <a:ea typeface="Arial" pitchFamily="34" charset="-122"/>
                <a:cs typeface="Arial" pitchFamily="34" charset="-120"/>
              </a:rPr>
              <a:t>Sign history</a:t>
            </a:r>
            <a:endParaRPr lang="en-US" sz="1867" dirty="0"/>
          </a:p>
        </p:txBody>
      </p:sp>
      <p:sp>
        <p:nvSpPr>
          <p:cNvPr id="14" name="Text 12"/>
          <p:cNvSpPr txBox="1"/>
          <p:nvPr/>
        </p:nvSpPr>
        <p:spPr>
          <a:xfrm>
            <a:off x="8402633" y="3321991"/>
            <a:ext cx="1069459" cy="274990"/>
          </a:xfrm>
          <a:prstGeom prst="rect">
            <a:avLst/>
          </a:prstGeom>
          <a:noFill/>
          <a:ln/>
        </p:spPr>
        <p:txBody>
          <a:bodyPr wrap="square" lIns="0" tIns="0" rIns="0" bIns="0" rtlCol="0" anchor="ctr"/>
          <a:lstStyle/>
          <a:p>
            <a:pPr algn="l" indent="0" marL="0">
              <a:lnSpc>
                <a:spcPct val="116000"/>
              </a:lnSpc>
              <a:buNone/>
            </a:pPr>
            <a:r>
              <a:rPr lang="en-US" sz="1867" dirty="0">
                <a:solidFill>
                  <a:srgbClr val="EA580C"/>
                </a:solidFill>
                <a:latin typeface="Arial" pitchFamily="34" charset="0"/>
                <a:ea typeface="Arial" pitchFamily="34" charset="-122"/>
                <a:cs typeface="Arial" pitchFamily="34" charset="-120"/>
              </a:rPr>
              <a:t>Not truth</a:t>
            </a:r>
            <a:endParaRPr lang="en-US" sz="1867" dirty="0"/>
          </a:p>
        </p:txBody>
      </p:sp>
      <p:sp>
        <p:nvSpPr>
          <p:cNvPr id="15" name="Text 13"/>
          <p:cNvSpPr txBox="1"/>
          <p:nvPr/>
        </p:nvSpPr>
        <p:spPr>
          <a:xfrm>
            <a:off x="1073064" y="3774387"/>
            <a:ext cx="1307670" cy="274990"/>
          </a:xfrm>
          <a:prstGeom prst="rect">
            <a:avLst/>
          </a:prstGeom>
          <a:noFill/>
          <a:ln/>
        </p:spPr>
        <p:txBody>
          <a:bodyPr wrap="square" lIns="0" tIns="0" rIns="0" bIns="0" rtlCol="0" anchor="ctr"/>
          <a:lstStyle/>
          <a:p>
            <a:pPr algn="l" indent="0" marL="0">
              <a:lnSpc>
                <a:spcPct val="116000"/>
              </a:lnSpc>
              <a:buNone/>
            </a:pPr>
            <a:r>
              <a:rPr lang="en-US" sz="1867" dirty="0">
                <a:solidFill>
                  <a:srgbClr val="1E1B4B"/>
                </a:solidFill>
                <a:latin typeface="Arial" pitchFamily="34" charset="0"/>
                <a:ea typeface="Arial" pitchFamily="34" charset="-122"/>
                <a:cs typeface="Arial" pitchFamily="34" charset="-120"/>
              </a:rPr>
              <a:t>Watermark</a:t>
            </a:r>
            <a:endParaRPr lang="en-US" sz="1867" dirty="0"/>
          </a:p>
        </p:txBody>
      </p:sp>
      <p:sp>
        <p:nvSpPr>
          <p:cNvPr id="16" name="Text 14"/>
          <p:cNvSpPr txBox="1"/>
          <p:nvPr/>
        </p:nvSpPr>
        <p:spPr>
          <a:xfrm>
            <a:off x="4202543" y="3774387"/>
            <a:ext cx="1625929" cy="274990"/>
          </a:xfrm>
          <a:prstGeom prst="rect">
            <a:avLst/>
          </a:prstGeom>
          <a:noFill/>
          <a:ln/>
        </p:spPr>
        <p:txBody>
          <a:bodyPr wrap="square" lIns="0" tIns="0" rIns="0" bIns="0" rtlCol="0" anchor="ctr"/>
          <a:lstStyle/>
          <a:p>
            <a:pPr algn="l" indent="0" marL="0">
              <a:lnSpc>
                <a:spcPct val="116000"/>
              </a:lnSpc>
              <a:buNone/>
            </a:pPr>
            <a:r>
              <a:rPr lang="en-US" sz="1867" dirty="0">
                <a:solidFill>
                  <a:srgbClr val="1F2937"/>
                </a:solidFill>
                <a:latin typeface="Arial" pitchFamily="34" charset="0"/>
                <a:ea typeface="Arial" pitchFamily="34" charset="-122"/>
                <a:cs typeface="Arial" pitchFamily="34" charset="-120"/>
              </a:rPr>
              <a:t>Embed signal</a:t>
            </a:r>
            <a:endParaRPr lang="en-US" sz="1867" dirty="0"/>
          </a:p>
        </p:txBody>
      </p:sp>
      <p:sp>
        <p:nvSpPr>
          <p:cNvPr id="17" name="Text 15"/>
          <p:cNvSpPr txBox="1"/>
          <p:nvPr/>
        </p:nvSpPr>
        <p:spPr>
          <a:xfrm>
            <a:off x="8402633" y="3774387"/>
            <a:ext cx="1303530" cy="274990"/>
          </a:xfrm>
          <a:prstGeom prst="rect">
            <a:avLst/>
          </a:prstGeom>
          <a:noFill/>
          <a:ln/>
        </p:spPr>
        <p:txBody>
          <a:bodyPr wrap="square" lIns="0" tIns="0" rIns="0" bIns="0" rtlCol="0" anchor="ctr"/>
          <a:lstStyle/>
          <a:p>
            <a:pPr algn="l" indent="0" marL="0">
              <a:lnSpc>
                <a:spcPct val="116000"/>
              </a:lnSpc>
              <a:buNone/>
            </a:pPr>
            <a:r>
              <a:rPr lang="en-US" sz="1867" dirty="0">
                <a:solidFill>
                  <a:srgbClr val="EA580C"/>
                </a:solidFill>
                <a:latin typeface="Arial" pitchFamily="34" charset="0"/>
                <a:ea typeface="Arial" pitchFamily="34" charset="-122"/>
                <a:cs typeface="Arial" pitchFamily="34" charset="-120"/>
              </a:rPr>
              <a:t>Weakened</a:t>
            </a:r>
            <a:endParaRPr lang="en-US" sz="1867" dirty="0"/>
          </a:p>
        </p:txBody>
      </p:sp>
      <p:sp>
        <p:nvSpPr>
          <p:cNvPr id="18" name="Text 16"/>
          <p:cNvSpPr txBox="1"/>
          <p:nvPr/>
        </p:nvSpPr>
        <p:spPr>
          <a:xfrm>
            <a:off x="1073064" y="4226783"/>
            <a:ext cx="1051793" cy="274990"/>
          </a:xfrm>
          <a:prstGeom prst="rect">
            <a:avLst/>
          </a:prstGeom>
          <a:noFill/>
          <a:ln/>
        </p:spPr>
        <p:txBody>
          <a:bodyPr wrap="square" lIns="0" tIns="0" rIns="0" bIns="0" rtlCol="0" anchor="ctr"/>
          <a:lstStyle/>
          <a:p>
            <a:pPr algn="l" indent="0" marL="0">
              <a:lnSpc>
                <a:spcPct val="116000"/>
              </a:lnSpc>
              <a:buNone/>
            </a:pPr>
            <a:r>
              <a:rPr lang="en-US" sz="1867" dirty="0">
                <a:solidFill>
                  <a:srgbClr val="1E1B4B"/>
                </a:solidFill>
                <a:latin typeface="Arial" pitchFamily="34" charset="0"/>
                <a:ea typeface="Arial" pitchFamily="34" charset="-122"/>
                <a:cs typeface="Arial" pitchFamily="34" charset="-120"/>
              </a:rPr>
              <a:t>Detector</a:t>
            </a:r>
            <a:endParaRPr lang="en-US" sz="1867" dirty="0"/>
          </a:p>
        </p:txBody>
      </p:sp>
      <p:sp>
        <p:nvSpPr>
          <p:cNvPr id="19" name="Text 17"/>
          <p:cNvSpPr txBox="1"/>
          <p:nvPr/>
        </p:nvSpPr>
        <p:spPr>
          <a:xfrm>
            <a:off x="4202543" y="4226783"/>
            <a:ext cx="1758422" cy="274990"/>
          </a:xfrm>
          <a:prstGeom prst="rect">
            <a:avLst/>
          </a:prstGeom>
          <a:noFill/>
          <a:ln/>
        </p:spPr>
        <p:txBody>
          <a:bodyPr wrap="square" lIns="0" tIns="0" rIns="0" bIns="0" rtlCol="0" anchor="ctr"/>
          <a:lstStyle/>
          <a:p>
            <a:pPr algn="l" indent="0" marL="0">
              <a:lnSpc>
                <a:spcPct val="116000"/>
              </a:lnSpc>
              <a:buNone/>
            </a:pPr>
            <a:r>
              <a:rPr lang="en-US" sz="1867" dirty="0">
                <a:solidFill>
                  <a:srgbClr val="1F2937"/>
                </a:solidFill>
                <a:latin typeface="Arial" pitchFamily="34" charset="0"/>
                <a:ea typeface="Arial" pitchFamily="34" charset="-122"/>
                <a:cs typeface="Arial" pitchFamily="34" charset="-120"/>
              </a:rPr>
              <a:t>Estimate origin</a:t>
            </a:r>
            <a:endParaRPr lang="en-US" sz="1867" dirty="0"/>
          </a:p>
        </p:txBody>
      </p:sp>
      <p:sp>
        <p:nvSpPr>
          <p:cNvPr id="20" name="Text 18"/>
          <p:cNvSpPr txBox="1"/>
          <p:nvPr/>
        </p:nvSpPr>
        <p:spPr>
          <a:xfrm>
            <a:off x="8402633" y="4226783"/>
            <a:ext cx="1087125" cy="274990"/>
          </a:xfrm>
          <a:prstGeom prst="rect">
            <a:avLst/>
          </a:prstGeom>
          <a:noFill/>
          <a:ln/>
        </p:spPr>
        <p:txBody>
          <a:bodyPr wrap="square" lIns="0" tIns="0" rIns="0" bIns="0" rtlCol="0" anchor="ctr"/>
          <a:lstStyle/>
          <a:p>
            <a:pPr algn="l" indent="0" marL="0">
              <a:lnSpc>
                <a:spcPct val="116000"/>
              </a:lnSpc>
              <a:buNone/>
            </a:pPr>
            <a:r>
              <a:rPr lang="en-US" sz="1867" dirty="0">
                <a:solidFill>
                  <a:srgbClr val="EA580C"/>
                </a:solidFill>
                <a:latin typeface="Arial" pitchFamily="34" charset="0"/>
                <a:ea typeface="Arial" pitchFamily="34" charset="-122"/>
                <a:cs typeface="Arial" pitchFamily="34" charset="-120"/>
              </a:rPr>
              <a:t>Mistakes</a:t>
            </a:r>
            <a:endParaRPr lang="en-US" sz="1867" dirty="0"/>
          </a:p>
        </p:txBody>
      </p:sp>
      <p:sp>
        <p:nvSpPr>
          <p:cNvPr id="21" name="Text 19"/>
          <p:cNvSpPr txBox="1"/>
          <p:nvPr/>
        </p:nvSpPr>
        <p:spPr>
          <a:xfrm>
            <a:off x="548640" y="5108791"/>
            <a:ext cx="11094415" cy="1200569"/>
          </a:xfrm>
          <a:prstGeom prst="rect">
            <a:avLst/>
          </a:prstGeom>
          <a:noFill/>
          <a:ln/>
        </p:spPr>
        <p:txBody>
          <a:bodyPr wrap="square" lIns="50800" tIns="50800" rIns="50800" bIns="50800" rtlCol="0" anchor="t"/>
          <a:lstStyle/>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Origin history does not prove scene truth.</a:t>
            </a:r>
            <a:endParaRPr lang="en-US" sz="2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10  ·  MULTIMODAL GENERATIVE AI APPLICATIONS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37</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Discuss: where should the label go?</a:t>
            </a:r>
            <a:endParaRPr lang="en-US" sz="3200" dirty="0"/>
          </a:p>
        </p:txBody>
      </p:sp>
      <p:sp>
        <p:nvSpPr>
          <p:cNvPr id="6" name="Shape 4"/>
          <p:cNvSpPr/>
          <p:nvPr/>
        </p:nvSpPr>
        <p:spPr>
          <a:xfrm>
            <a:off x="548640" y="1527048"/>
            <a:ext cx="1005840" cy="1005840"/>
          </a:xfrm>
          <a:prstGeom prst="ellipse">
            <a:avLst/>
          </a:prstGeom>
          <a:solidFill>
            <a:srgbClr val="0F766E"/>
          </a:solidFill>
          <a:ln w="12700">
            <a:solidFill>
              <a:srgbClr val="0F766E"/>
            </a:solidFill>
            <a:prstDash val="solid"/>
          </a:ln>
        </p:spPr>
      </p:sp>
      <p:pic>
        <p:nvPicPr>
          <p:cNvPr id="7" name="Image 0" descr="preencoded.png">    </p:cNvPr>
          <p:cNvPicPr>
            <a:picLocks noChangeAspect="1"/>
          </p:cNvPicPr>
          <p:nvPr/>
        </p:nvPicPr>
        <p:blipFill>
          <a:blip r:embed="rId1"/>
          <a:stretch>
            <a:fillRect/>
          </a:stretch>
        </p:blipFill>
        <p:spPr>
          <a:xfrm>
            <a:off x="790042" y="1768450"/>
            <a:ext cx="523037" cy="523037"/>
          </a:xfrm>
          <a:prstGeom prst="rect">
            <a:avLst/>
          </a:prstGeom>
        </p:spPr>
      </p:pic>
      <p:sp>
        <p:nvSpPr>
          <p:cNvPr id="8" name="Text 5"/>
          <p:cNvSpPr txBox="1"/>
          <p:nvPr/>
        </p:nvSpPr>
        <p:spPr>
          <a:xfrm>
            <a:off x="1828800" y="1481328"/>
            <a:ext cx="9814255" cy="1463040"/>
          </a:xfrm>
          <a:prstGeom prst="rect">
            <a:avLst/>
          </a:prstGeom>
          <a:noFill/>
          <a:ln/>
        </p:spPr>
        <p:txBody>
          <a:bodyPr wrap="square" lIns="50800" tIns="50800" rIns="50800" bIns="50800" rtlCol="0" anchor="ctr"/>
          <a:lstStyle/>
          <a:p>
            <a:pPr indent="0" marL="0">
              <a:buNone/>
            </a:pPr>
            <a:r>
              <a:rPr lang="en-US" sz="2600" b="1" dirty="0">
                <a:solidFill>
                  <a:srgbClr val="1E1B4B"/>
                </a:solidFill>
                <a:latin typeface="Calibri" pitchFamily="34" charset="0"/>
                <a:ea typeface="Calibri" pitchFamily="34" charset="-122"/>
                <a:cs typeface="Calibri" pitchFamily="34" charset="-120"/>
              </a:rPr>
              <a:t>An app removes a stranger and brightens a photo. Where should an AI-edit label appear?</a:t>
            </a:r>
            <a:endParaRPr lang="en-US" sz="2600" dirty="0"/>
          </a:p>
        </p:txBody>
      </p:sp>
      <p:sp>
        <p:nvSpPr>
          <p:cNvPr id="9" name="Text 6"/>
          <p:cNvSpPr txBox="1"/>
          <p:nvPr/>
        </p:nvSpPr>
        <p:spPr>
          <a:xfrm>
            <a:off x="1828800" y="3172968"/>
            <a:ext cx="9814255" cy="3090672"/>
          </a:xfrm>
          <a:prstGeom prst="rect">
            <a:avLst/>
          </a:prstGeom>
          <a:noFill/>
          <a:ln/>
        </p:spPr>
        <p:txBody>
          <a:bodyPr wrap="square" lIns="50800" tIns="50800" rIns="50800" bIns="50800" rtlCol="0" anchor="t"/>
          <a:lstStyle/>
          <a:p>
            <a:pPr marL="254000" indent="-254000">
              <a:spcAft>
                <a:spcPts val="800"/>
              </a:spcAft>
              <a:buSzPct val="100000"/>
              <a:buChar char="●"/>
            </a:pPr>
            <a:r>
              <a:rPr lang="en-US" sz="2200" dirty="0">
                <a:solidFill>
                  <a:srgbClr val="1F2937"/>
                </a:solidFill>
                <a:latin typeface="Calibri" pitchFamily="34" charset="0"/>
                <a:ea typeface="Calibri" pitchFamily="34" charset="-122"/>
                <a:cs typeface="Calibri" pitchFamily="34" charset="-120"/>
              </a:rPr>
              <a:t>Family album, news report, insurance claim.</a:t>
            </a:r>
            <a:endParaRPr lang="en-US" sz="2200" dirty="0"/>
          </a:p>
          <a:p>
            <a:pPr marL="254000" indent="-254000">
              <a:spcAft>
                <a:spcPts val="800"/>
              </a:spcAft>
              <a:buSzPct val="100000"/>
              <a:buChar char="●"/>
            </a:pPr>
            <a:r>
              <a:rPr lang="en-US" sz="2200" dirty="0">
                <a:solidFill>
                  <a:srgbClr val="1F2937"/>
                </a:solidFill>
                <a:latin typeface="Calibri" pitchFamily="34" charset="0"/>
                <a:ea typeface="Calibri" pitchFamily="34" charset="-122"/>
                <a:cs typeface="Calibri" pitchFamily="34" charset="-120"/>
              </a:rPr>
              <a:t>Consider visible disclosure and edit history.</a:t>
            </a:r>
            <a:endParaRPr lang="en-US" sz="2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10  ·  MULTIMODAL GENERATIVE AI APPLICATIONS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38</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Consent, likeness and rights</a:t>
            </a:r>
            <a:endParaRPr lang="en-US" sz="3200" dirty="0"/>
          </a:p>
        </p:txBody>
      </p:sp>
      <p:sp>
        <p:nvSpPr>
          <p:cNvPr id="6" name="Text 4"/>
          <p:cNvSpPr txBox="1"/>
          <p:nvPr/>
        </p:nvSpPr>
        <p:spPr>
          <a:xfrm>
            <a:off x="548640" y="1481328"/>
            <a:ext cx="4297680" cy="4828032"/>
          </a:xfrm>
          <a:prstGeom prst="rect">
            <a:avLst/>
          </a:prstGeom>
          <a:noFill/>
          <a:ln/>
        </p:spPr>
        <p:txBody>
          <a:bodyPr wrap="square" lIns="50800" tIns="50800" rIns="50800" bIns="50800" rtlCol="0" anchor="t"/>
          <a:lstStyle/>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Use an appropriate lawful basis.</a:t>
            </a:r>
            <a:endParaRPr lang="en-US" sz="2600" dirty="0"/>
          </a:p>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Collect only necessary personal data.</a:t>
            </a:r>
            <a:endParaRPr lang="en-US" sz="2600" dirty="0"/>
          </a:p>
        </p:txBody>
      </p:sp>
      <p:sp>
        <p:nvSpPr>
          <p:cNvPr id="7" name="Shape 5"/>
          <p:cNvSpPr/>
          <p:nvPr/>
        </p:nvSpPr>
        <p:spPr>
          <a:xfrm>
            <a:off x="5257800" y="2624328"/>
            <a:ext cx="6385255" cy="0"/>
          </a:xfrm>
          <a:prstGeom prst="line">
            <a:avLst/>
          </a:prstGeom>
          <a:noFill/>
          <a:ln w="12700">
            <a:solidFill>
              <a:srgbClr val="C7D2FE"/>
            </a:solidFill>
            <a:prstDash val="solid"/>
          </a:ln>
        </p:spPr>
      </p:sp>
      <p:sp>
        <p:nvSpPr>
          <p:cNvPr id="8" name="Text 6"/>
          <p:cNvSpPr txBox="1"/>
          <p:nvPr/>
        </p:nvSpPr>
        <p:spPr>
          <a:xfrm>
            <a:off x="5257800" y="1481328"/>
            <a:ext cx="1371600" cy="1033272"/>
          </a:xfrm>
          <a:prstGeom prst="rect">
            <a:avLst/>
          </a:prstGeom>
          <a:noFill/>
          <a:ln/>
        </p:spPr>
        <p:txBody>
          <a:bodyPr wrap="square" lIns="0" tIns="0" rIns="0" bIns="0" rtlCol="0" anchor="ctr"/>
          <a:lstStyle/>
          <a:p>
            <a:pPr indent="0" marL="0">
              <a:buNone/>
            </a:pPr>
            <a:r>
              <a:rPr lang="en-US" sz="1800" b="1" dirty="0">
                <a:solidFill>
                  <a:srgbClr val="0F766E"/>
                </a:solidFill>
                <a:latin typeface="Calibri" pitchFamily="34" charset="0"/>
                <a:ea typeface="Calibri" pitchFamily="34" charset="-122"/>
                <a:cs typeface="Calibri" pitchFamily="34" charset="-120"/>
              </a:rPr>
              <a:t>Collect</a:t>
            </a:r>
            <a:endParaRPr lang="en-US" sz="1800" dirty="0"/>
          </a:p>
        </p:txBody>
      </p:sp>
      <p:sp>
        <p:nvSpPr>
          <p:cNvPr id="9" name="Text 7"/>
          <p:cNvSpPr txBox="1"/>
          <p:nvPr/>
        </p:nvSpPr>
        <p:spPr>
          <a:xfrm>
            <a:off x="6766560" y="1481328"/>
            <a:ext cx="4876495" cy="1033272"/>
          </a:xfrm>
          <a:prstGeom prst="rect">
            <a:avLst/>
          </a:prstGeom>
          <a:noFill/>
          <a:ln/>
        </p:spPr>
        <p:txBody>
          <a:bodyPr wrap="square" lIns="0" tIns="0" rIns="0" bIns="0" rtlCol="0" anchor="ctr"/>
          <a:lstStyle/>
          <a:p>
            <a:pPr indent="0" marL="0">
              <a:buNone/>
            </a:pPr>
            <a:r>
              <a:rPr lang="en-US" sz="2200" dirty="0">
                <a:solidFill>
                  <a:srgbClr val="1F2937"/>
                </a:solidFill>
                <a:latin typeface="Calibri" pitchFamily="34" charset="0"/>
                <a:ea typeface="Calibri" pitchFamily="34" charset="-122"/>
                <a:cs typeface="Calibri" pitchFamily="34" charset="-120"/>
              </a:rPr>
              <a:t>Purpose; minimal fields.</a:t>
            </a:r>
            <a:endParaRPr lang="en-US" sz="2200" dirty="0"/>
          </a:p>
        </p:txBody>
      </p:sp>
      <p:sp>
        <p:nvSpPr>
          <p:cNvPr id="10" name="Shape 8"/>
          <p:cNvSpPr/>
          <p:nvPr/>
        </p:nvSpPr>
        <p:spPr>
          <a:xfrm>
            <a:off x="5257800" y="3950208"/>
            <a:ext cx="6385255" cy="0"/>
          </a:xfrm>
          <a:prstGeom prst="line">
            <a:avLst/>
          </a:prstGeom>
          <a:noFill/>
          <a:ln w="12700">
            <a:solidFill>
              <a:srgbClr val="C7D2FE"/>
            </a:solidFill>
            <a:prstDash val="solid"/>
          </a:ln>
        </p:spPr>
      </p:sp>
      <p:sp>
        <p:nvSpPr>
          <p:cNvPr id="11" name="Text 9"/>
          <p:cNvSpPr txBox="1"/>
          <p:nvPr/>
        </p:nvSpPr>
        <p:spPr>
          <a:xfrm>
            <a:off x="5257800" y="2807208"/>
            <a:ext cx="1371600" cy="1033272"/>
          </a:xfrm>
          <a:prstGeom prst="rect">
            <a:avLst/>
          </a:prstGeom>
          <a:noFill/>
          <a:ln/>
        </p:spPr>
        <p:txBody>
          <a:bodyPr wrap="square" lIns="0" tIns="0" rIns="0" bIns="0" rtlCol="0" anchor="ctr"/>
          <a:lstStyle/>
          <a:p>
            <a:pPr indent="0" marL="0">
              <a:buNone/>
            </a:pPr>
            <a:r>
              <a:rPr lang="en-US" sz="1800" b="1" dirty="0">
                <a:solidFill>
                  <a:srgbClr val="0F766E"/>
                </a:solidFill>
                <a:latin typeface="Calibri" pitchFamily="34" charset="0"/>
                <a:ea typeface="Calibri" pitchFamily="34" charset="-122"/>
                <a:cs typeface="Calibri" pitchFamily="34" charset="-120"/>
              </a:rPr>
              <a:t>Imitate</a:t>
            </a:r>
            <a:endParaRPr lang="en-US" sz="1800" dirty="0"/>
          </a:p>
        </p:txBody>
      </p:sp>
      <p:sp>
        <p:nvSpPr>
          <p:cNvPr id="12" name="Text 10"/>
          <p:cNvSpPr txBox="1"/>
          <p:nvPr/>
        </p:nvSpPr>
        <p:spPr>
          <a:xfrm>
            <a:off x="6766560" y="2807208"/>
            <a:ext cx="4876495" cy="1033272"/>
          </a:xfrm>
          <a:prstGeom prst="rect">
            <a:avLst/>
          </a:prstGeom>
          <a:noFill/>
          <a:ln/>
        </p:spPr>
        <p:txBody>
          <a:bodyPr wrap="square" lIns="0" tIns="0" rIns="0" bIns="0" rtlCol="0" anchor="ctr"/>
          <a:lstStyle/>
          <a:p>
            <a:pPr indent="0" marL="0">
              <a:buNone/>
            </a:pPr>
            <a:r>
              <a:rPr lang="en-US" sz="2200" dirty="0">
                <a:solidFill>
                  <a:srgbClr val="1F2937"/>
                </a:solidFill>
                <a:latin typeface="Calibri" pitchFamily="34" charset="0"/>
                <a:ea typeface="Calibri" pitchFamily="34" charset="-122"/>
                <a:cs typeface="Calibri" pitchFamily="34" charset="-120"/>
              </a:rPr>
              <a:t>Permission; licences.</a:t>
            </a:r>
            <a:endParaRPr lang="en-US" sz="2200" dirty="0"/>
          </a:p>
        </p:txBody>
      </p:sp>
      <p:sp>
        <p:nvSpPr>
          <p:cNvPr id="13" name="Shape 11"/>
          <p:cNvSpPr/>
          <p:nvPr/>
        </p:nvSpPr>
        <p:spPr>
          <a:xfrm>
            <a:off x="5257800" y="5276088"/>
            <a:ext cx="6385255" cy="0"/>
          </a:xfrm>
          <a:prstGeom prst="line">
            <a:avLst/>
          </a:prstGeom>
          <a:noFill/>
          <a:ln w="12700">
            <a:solidFill>
              <a:srgbClr val="C7D2FE"/>
            </a:solidFill>
            <a:prstDash val="solid"/>
          </a:ln>
        </p:spPr>
      </p:sp>
      <p:sp>
        <p:nvSpPr>
          <p:cNvPr id="14" name="Text 12"/>
          <p:cNvSpPr txBox="1"/>
          <p:nvPr/>
        </p:nvSpPr>
        <p:spPr>
          <a:xfrm>
            <a:off x="5257800" y="4133088"/>
            <a:ext cx="1371600" cy="1033272"/>
          </a:xfrm>
          <a:prstGeom prst="rect">
            <a:avLst/>
          </a:prstGeom>
          <a:noFill/>
          <a:ln/>
        </p:spPr>
        <p:txBody>
          <a:bodyPr wrap="square" lIns="0" tIns="0" rIns="0" bIns="0" rtlCol="0" anchor="ctr"/>
          <a:lstStyle/>
          <a:p>
            <a:pPr indent="0" marL="0">
              <a:buNone/>
            </a:pPr>
            <a:r>
              <a:rPr lang="en-US" sz="1800" b="1" dirty="0">
                <a:solidFill>
                  <a:srgbClr val="0F766E"/>
                </a:solidFill>
                <a:latin typeface="Calibri" pitchFamily="34" charset="0"/>
                <a:ea typeface="Calibri" pitchFamily="34" charset="-122"/>
                <a:cs typeface="Calibri" pitchFamily="34" charset="-120"/>
              </a:rPr>
              <a:t>Publish</a:t>
            </a:r>
            <a:endParaRPr lang="en-US" sz="1800" dirty="0"/>
          </a:p>
        </p:txBody>
      </p:sp>
      <p:sp>
        <p:nvSpPr>
          <p:cNvPr id="15" name="Text 13"/>
          <p:cNvSpPr txBox="1"/>
          <p:nvPr/>
        </p:nvSpPr>
        <p:spPr>
          <a:xfrm>
            <a:off x="6766560" y="4133088"/>
            <a:ext cx="4876495" cy="1033272"/>
          </a:xfrm>
          <a:prstGeom prst="rect">
            <a:avLst/>
          </a:prstGeom>
          <a:noFill/>
          <a:ln/>
        </p:spPr>
        <p:txBody>
          <a:bodyPr wrap="square" lIns="0" tIns="0" rIns="0" bIns="0" rtlCol="0" anchor="ctr"/>
          <a:lstStyle/>
          <a:p>
            <a:pPr indent="0" marL="0">
              <a:buNone/>
            </a:pPr>
            <a:r>
              <a:rPr lang="en-US" sz="2200" dirty="0">
                <a:solidFill>
                  <a:srgbClr val="1F2937"/>
                </a:solidFill>
                <a:latin typeface="Calibri" pitchFamily="34" charset="0"/>
                <a:ea typeface="Calibri" pitchFamily="34" charset="-122"/>
                <a:cs typeface="Calibri" pitchFamily="34" charset="-120"/>
              </a:rPr>
              <a:t>Disclosure; review.</a:t>
            </a:r>
            <a:endParaRPr lang="en-US" sz="2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10  ·  MULTIMODAL GENERATIVE AI APPLICATIONS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39</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Valuable applications</a:t>
            </a:r>
            <a:endParaRPr lang="en-US" sz="3200" dirty="0"/>
          </a:p>
        </p:txBody>
      </p:sp>
      <p:sp>
        <p:nvSpPr>
          <p:cNvPr id="6" name="Shape 4"/>
          <p:cNvSpPr/>
          <p:nvPr/>
        </p:nvSpPr>
        <p:spPr>
          <a:xfrm>
            <a:off x="548640" y="1481328"/>
            <a:ext cx="3515258" cy="2276856"/>
          </a:xfrm>
          <a:prstGeom prst="roundRect">
            <a:avLst>
              <a:gd name="adj" fmla="val 4819"/>
            </a:avLst>
          </a:prstGeom>
          <a:solidFill>
            <a:srgbClr val="EEF0FF"/>
          </a:solidFill>
          <a:ln w="12700">
            <a:solidFill>
              <a:srgbClr val="EEF0FF"/>
            </a:solidFill>
            <a:prstDash val="solid"/>
          </a:ln>
        </p:spPr>
      </p:sp>
      <p:sp>
        <p:nvSpPr>
          <p:cNvPr id="7" name="Text 5"/>
          <p:cNvSpPr txBox="1"/>
          <p:nvPr/>
        </p:nvSpPr>
        <p:spPr>
          <a:xfrm>
            <a:off x="731520" y="1645920"/>
            <a:ext cx="319521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Accessibility</a:t>
            </a:r>
            <a:endParaRPr lang="en-US" sz="2100" dirty="0"/>
          </a:p>
        </p:txBody>
      </p:sp>
      <p:sp>
        <p:nvSpPr>
          <p:cNvPr id="8" name="Text 6"/>
          <p:cNvSpPr txBox="1"/>
          <p:nvPr/>
        </p:nvSpPr>
        <p:spPr>
          <a:xfrm>
            <a:off x="731520" y="2304288"/>
            <a:ext cx="3149498" cy="140817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Review alt text.</a:t>
            </a:r>
            <a:endParaRPr lang="en-US" sz="2200" dirty="0"/>
          </a:p>
        </p:txBody>
      </p:sp>
      <p:sp>
        <p:nvSpPr>
          <p:cNvPr id="9" name="Shape 7"/>
          <p:cNvSpPr/>
          <p:nvPr/>
        </p:nvSpPr>
        <p:spPr>
          <a:xfrm>
            <a:off x="4338218" y="1481328"/>
            <a:ext cx="3515258" cy="2276856"/>
          </a:xfrm>
          <a:prstGeom prst="roundRect">
            <a:avLst>
              <a:gd name="adj" fmla="val 4819"/>
            </a:avLst>
          </a:prstGeom>
          <a:solidFill>
            <a:srgbClr val="F5F3FF"/>
          </a:solidFill>
          <a:ln w="12700">
            <a:solidFill>
              <a:srgbClr val="EEF0FF"/>
            </a:solidFill>
            <a:prstDash val="solid"/>
          </a:ln>
        </p:spPr>
      </p:sp>
      <p:sp>
        <p:nvSpPr>
          <p:cNvPr id="10" name="Text 8"/>
          <p:cNvSpPr txBox="1"/>
          <p:nvPr/>
        </p:nvSpPr>
        <p:spPr>
          <a:xfrm>
            <a:off x="4521098" y="1645920"/>
            <a:ext cx="319521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Documents</a:t>
            </a:r>
            <a:endParaRPr lang="en-US" sz="2100" dirty="0"/>
          </a:p>
        </p:txBody>
      </p:sp>
      <p:sp>
        <p:nvSpPr>
          <p:cNvPr id="11" name="Text 9"/>
          <p:cNvSpPr txBox="1"/>
          <p:nvPr/>
        </p:nvSpPr>
        <p:spPr>
          <a:xfrm>
            <a:off x="4521098" y="2304288"/>
            <a:ext cx="3149498" cy="140817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Validate extracted fields.</a:t>
            </a:r>
            <a:endParaRPr lang="en-US" sz="2200" dirty="0"/>
          </a:p>
        </p:txBody>
      </p:sp>
      <p:sp>
        <p:nvSpPr>
          <p:cNvPr id="12" name="Shape 10"/>
          <p:cNvSpPr/>
          <p:nvPr/>
        </p:nvSpPr>
        <p:spPr>
          <a:xfrm>
            <a:off x="8127797" y="1481328"/>
            <a:ext cx="3515258" cy="2276856"/>
          </a:xfrm>
          <a:prstGeom prst="roundRect">
            <a:avLst>
              <a:gd name="adj" fmla="val 4819"/>
            </a:avLst>
          </a:prstGeom>
          <a:solidFill>
            <a:srgbClr val="EEF0FF"/>
          </a:solidFill>
          <a:ln w="12700">
            <a:solidFill>
              <a:srgbClr val="EEF0FF"/>
            </a:solidFill>
            <a:prstDash val="solid"/>
          </a:ln>
        </p:spPr>
      </p:sp>
      <p:sp>
        <p:nvSpPr>
          <p:cNvPr id="13" name="Text 11"/>
          <p:cNvSpPr txBox="1"/>
          <p:nvPr/>
        </p:nvSpPr>
        <p:spPr>
          <a:xfrm>
            <a:off x="8310677" y="1645920"/>
            <a:ext cx="319521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Voice</a:t>
            </a:r>
            <a:endParaRPr lang="en-US" sz="2100" dirty="0"/>
          </a:p>
        </p:txBody>
      </p:sp>
      <p:sp>
        <p:nvSpPr>
          <p:cNvPr id="14" name="Text 12"/>
          <p:cNvSpPr txBox="1"/>
          <p:nvPr/>
        </p:nvSpPr>
        <p:spPr>
          <a:xfrm>
            <a:off x="8310677" y="2304288"/>
            <a:ext cx="3149498" cy="140817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Check words; enable handover.</a:t>
            </a:r>
            <a:endParaRPr lang="en-US" sz="2200" dirty="0"/>
          </a:p>
        </p:txBody>
      </p:sp>
      <p:sp>
        <p:nvSpPr>
          <p:cNvPr id="15" name="Shape 13"/>
          <p:cNvSpPr/>
          <p:nvPr/>
        </p:nvSpPr>
        <p:spPr>
          <a:xfrm>
            <a:off x="548640" y="4032504"/>
            <a:ext cx="3515258" cy="2276856"/>
          </a:xfrm>
          <a:prstGeom prst="roundRect">
            <a:avLst>
              <a:gd name="adj" fmla="val 4819"/>
            </a:avLst>
          </a:prstGeom>
          <a:solidFill>
            <a:srgbClr val="F5F3FF"/>
          </a:solidFill>
          <a:ln w="12700">
            <a:solidFill>
              <a:srgbClr val="EEF0FF"/>
            </a:solidFill>
            <a:prstDash val="solid"/>
          </a:ln>
        </p:spPr>
      </p:sp>
      <p:sp>
        <p:nvSpPr>
          <p:cNvPr id="16" name="Text 14"/>
          <p:cNvSpPr txBox="1"/>
          <p:nvPr/>
        </p:nvSpPr>
        <p:spPr>
          <a:xfrm>
            <a:off x="731520" y="4197096"/>
            <a:ext cx="319521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Education</a:t>
            </a:r>
            <a:endParaRPr lang="en-US" sz="2100" dirty="0"/>
          </a:p>
        </p:txBody>
      </p:sp>
      <p:sp>
        <p:nvSpPr>
          <p:cNvPr id="17" name="Text 15"/>
          <p:cNvSpPr txBox="1"/>
          <p:nvPr/>
        </p:nvSpPr>
        <p:spPr>
          <a:xfrm>
            <a:off x="731520" y="4855464"/>
            <a:ext cx="3149498" cy="140817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Teacher reviews feedback.</a:t>
            </a:r>
            <a:endParaRPr lang="en-US" sz="2200" dirty="0"/>
          </a:p>
        </p:txBody>
      </p:sp>
      <p:sp>
        <p:nvSpPr>
          <p:cNvPr id="18" name="Shape 16"/>
          <p:cNvSpPr/>
          <p:nvPr/>
        </p:nvSpPr>
        <p:spPr>
          <a:xfrm>
            <a:off x="4338218" y="4032504"/>
            <a:ext cx="3515258" cy="2276856"/>
          </a:xfrm>
          <a:prstGeom prst="roundRect">
            <a:avLst>
              <a:gd name="adj" fmla="val 4819"/>
            </a:avLst>
          </a:prstGeom>
          <a:solidFill>
            <a:srgbClr val="EEF0FF"/>
          </a:solidFill>
          <a:ln w="12700">
            <a:solidFill>
              <a:srgbClr val="EEF0FF"/>
            </a:solidFill>
            <a:prstDash val="solid"/>
          </a:ln>
        </p:spPr>
      </p:sp>
      <p:sp>
        <p:nvSpPr>
          <p:cNvPr id="19" name="Text 17"/>
          <p:cNvSpPr txBox="1"/>
          <p:nvPr/>
        </p:nvSpPr>
        <p:spPr>
          <a:xfrm>
            <a:off x="4521098" y="4197096"/>
            <a:ext cx="319521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Design</a:t>
            </a:r>
            <a:endParaRPr lang="en-US" sz="2100" dirty="0"/>
          </a:p>
        </p:txBody>
      </p:sp>
      <p:sp>
        <p:nvSpPr>
          <p:cNvPr id="20" name="Text 18"/>
          <p:cNvSpPr txBox="1"/>
          <p:nvPr/>
        </p:nvSpPr>
        <p:spPr>
          <a:xfrm>
            <a:off x="4521098" y="4855464"/>
            <a:ext cx="3149498" cy="140817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Label concept images.</a:t>
            </a:r>
            <a:endParaRPr lang="en-US" sz="2200" dirty="0"/>
          </a:p>
        </p:txBody>
      </p:sp>
      <p:sp>
        <p:nvSpPr>
          <p:cNvPr id="21" name="Shape 19"/>
          <p:cNvSpPr/>
          <p:nvPr/>
        </p:nvSpPr>
        <p:spPr>
          <a:xfrm>
            <a:off x="8127797" y="4032504"/>
            <a:ext cx="3515258" cy="2276856"/>
          </a:xfrm>
          <a:prstGeom prst="roundRect">
            <a:avLst>
              <a:gd name="adj" fmla="val 4819"/>
            </a:avLst>
          </a:prstGeom>
          <a:solidFill>
            <a:srgbClr val="F5F3FF"/>
          </a:solidFill>
          <a:ln w="12700">
            <a:solidFill>
              <a:srgbClr val="EEF0FF"/>
            </a:solidFill>
            <a:prstDash val="solid"/>
          </a:ln>
        </p:spPr>
      </p:sp>
      <p:sp>
        <p:nvSpPr>
          <p:cNvPr id="22" name="Text 20"/>
          <p:cNvSpPr txBox="1"/>
          <p:nvPr/>
        </p:nvSpPr>
        <p:spPr>
          <a:xfrm>
            <a:off x="8310677" y="4197096"/>
            <a:ext cx="319521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Inspection</a:t>
            </a:r>
            <a:endParaRPr lang="en-US" sz="2100" dirty="0"/>
          </a:p>
        </p:txBody>
      </p:sp>
      <p:sp>
        <p:nvSpPr>
          <p:cNvPr id="23" name="Text 21"/>
          <p:cNvSpPr txBox="1"/>
          <p:nvPr/>
        </p:nvSpPr>
        <p:spPr>
          <a:xfrm>
            <a:off x="8310677" y="4855464"/>
            <a:ext cx="3149498" cy="140817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Confirm defect alerts.</a:t>
            </a:r>
            <a:endParaRPr lang="en-US" sz="2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10  ·  MULTIMODAL GENERATIVE AI APPLICATIONS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40</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Emerging trends (2026–27)</a:t>
            </a:r>
            <a:endParaRPr lang="en-US" sz="3200" dirty="0"/>
          </a:p>
        </p:txBody>
      </p:sp>
      <p:sp>
        <p:nvSpPr>
          <p:cNvPr id="6" name="Text 4"/>
          <p:cNvSpPr txBox="1"/>
          <p:nvPr/>
        </p:nvSpPr>
        <p:spPr>
          <a:xfrm>
            <a:off x="548640" y="1481328"/>
            <a:ext cx="4297680" cy="4828032"/>
          </a:xfrm>
          <a:prstGeom prst="rect">
            <a:avLst/>
          </a:prstGeom>
          <a:noFill/>
          <a:ln/>
        </p:spPr>
        <p:txBody>
          <a:bodyPr wrap="square" lIns="50800" tIns="50800" rIns="50800" bIns="50800" rtlCol="0" anchor="t"/>
          <a:lstStyle/>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Forecasts; exact systems need evaluation.</a:t>
            </a:r>
            <a:endParaRPr lang="en-US" sz="2600" dirty="0"/>
          </a:p>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Any-to-any support is model-specific.</a:t>
            </a:r>
            <a:endParaRPr lang="en-US" sz="26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5257800" y="1481328"/>
          <a:ext cx="6385255" cy="914400"/>
        </p:xfrm>
        <a:graphic>
          <a:graphicData uri="http://schemas.openxmlformats.org/drawingml/2006/table">
            <a:tbl>
              <a:tblPr/>
              <a:tblGrid>
                <a:gridCol w="3192628"/>
                <a:gridCol w="3192628"/>
              </a:tblGrid>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Direction</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Test</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r>
              <a:tr h="0">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Live interaction</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Measure latency</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World models</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Check transitions</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On-device</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Check resources</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Longer video</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Inspect continuity</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10  ·  MULTIMODAL GENERATIVE AI APPLICATIONS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41</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A design pattern for multimodal applications</a:t>
            </a:r>
            <a:endParaRPr lang="en-US" sz="3200" dirty="0"/>
          </a:p>
        </p:txBody>
      </p:sp>
      <p:sp>
        <p:nvSpPr>
          <p:cNvPr id="6" name="Shape 4"/>
          <p:cNvSpPr/>
          <p:nvPr/>
        </p:nvSpPr>
        <p:spPr>
          <a:xfrm>
            <a:off x="2681233" y="3361353"/>
            <a:ext cx="246543" cy="0"/>
          </a:xfrm>
          <a:prstGeom prst="line">
            <a:avLst/>
          </a:prstGeom>
          <a:noFill/>
          <a:ln w="22860">
            <a:solidFill>
              <a:srgbClr val="009E73"/>
            </a:solidFill>
            <a:prstDash val="solid"/>
            <a:tailEnd type="triangle"/>
          </a:ln>
        </p:spPr>
      </p:sp>
      <p:sp>
        <p:nvSpPr>
          <p:cNvPr id="7" name="Text 5"/>
          <p:cNvSpPr txBox="1"/>
          <p:nvPr/>
        </p:nvSpPr>
        <p:spPr>
          <a:xfrm>
            <a:off x="1995537" y="2361006"/>
            <a:ext cx="1617936" cy="214492"/>
          </a:xfrm>
          <a:prstGeom prst="rect">
            <a:avLst/>
          </a:prstGeom>
          <a:noFill/>
          <a:ln/>
        </p:spPr>
        <p:txBody>
          <a:bodyPr wrap="square" lIns="0" tIns="0" rIns="0" bIns="0" rtlCol="0" anchor="ctr"/>
          <a:lstStyle/>
          <a:p>
            <a:pPr algn="ctr" indent="0" marL="0">
              <a:lnSpc>
                <a:spcPct val="116000"/>
              </a:lnSpc>
              <a:buNone/>
            </a:pPr>
            <a:r>
              <a:rPr lang="en-US" sz="1456" dirty="0">
                <a:solidFill>
                  <a:srgbClr val="0072B2"/>
                </a:solidFill>
                <a:latin typeface="Arial" pitchFamily="34" charset="0"/>
                <a:ea typeface="Arial" pitchFamily="34" charset="-122"/>
                <a:cs typeface="Arial" pitchFamily="34" charset="-120"/>
              </a:rPr>
              <a:t>pixels</a:t>
            </a:r>
            <a:endParaRPr lang="en-US" sz="1456" dirty="0"/>
          </a:p>
        </p:txBody>
      </p:sp>
      <p:sp>
        <p:nvSpPr>
          <p:cNvPr id="8" name="Shape 6"/>
          <p:cNvSpPr/>
          <p:nvPr/>
        </p:nvSpPr>
        <p:spPr>
          <a:xfrm>
            <a:off x="4875462" y="3361353"/>
            <a:ext cx="246543" cy="0"/>
          </a:xfrm>
          <a:prstGeom prst="line">
            <a:avLst/>
          </a:prstGeom>
          <a:noFill/>
          <a:ln w="22860">
            <a:solidFill>
              <a:srgbClr val="009E73"/>
            </a:solidFill>
            <a:prstDash val="solid"/>
            <a:tailEnd type="triangle"/>
          </a:ln>
        </p:spPr>
      </p:sp>
      <p:sp>
        <p:nvSpPr>
          <p:cNvPr id="9" name="Text 7"/>
          <p:cNvSpPr txBox="1"/>
          <p:nvPr/>
        </p:nvSpPr>
        <p:spPr>
          <a:xfrm>
            <a:off x="4189765" y="2361006"/>
            <a:ext cx="1617936" cy="214492"/>
          </a:xfrm>
          <a:prstGeom prst="rect">
            <a:avLst/>
          </a:prstGeom>
          <a:noFill/>
          <a:ln/>
        </p:spPr>
        <p:txBody>
          <a:bodyPr wrap="square" lIns="0" tIns="0" rIns="0" bIns="0" rtlCol="0" anchor="ctr"/>
          <a:lstStyle/>
          <a:p>
            <a:pPr algn="ctr" indent="0" marL="0">
              <a:lnSpc>
                <a:spcPct val="116000"/>
              </a:lnSpc>
              <a:buNone/>
            </a:pPr>
            <a:r>
              <a:rPr lang="en-US" sz="1456" dirty="0">
                <a:solidFill>
                  <a:srgbClr val="0072B2"/>
                </a:solidFill>
                <a:latin typeface="Arial" pitchFamily="34" charset="0"/>
                <a:ea typeface="Arial" pitchFamily="34" charset="-122"/>
                <a:cs typeface="Arial" pitchFamily="34" charset="-120"/>
              </a:rPr>
              <a:t>fields</a:t>
            </a:r>
            <a:endParaRPr lang="en-US" sz="1456" dirty="0"/>
          </a:p>
        </p:txBody>
      </p:sp>
      <p:sp>
        <p:nvSpPr>
          <p:cNvPr id="10" name="Shape 8"/>
          <p:cNvSpPr/>
          <p:nvPr/>
        </p:nvSpPr>
        <p:spPr>
          <a:xfrm>
            <a:off x="7069691" y="3361353"/>
            <a:ext cx="246543" cy="0"/>
          </a:xfrm>
          <a:prstGeom prst="line">
            <a:avLst/>
          </a:prstGeom>
          <a:noFill/>
          <a:ln w="22860">
            <a:solidFill>
              <a:srgbClr val="009E73"/>
            </a:solidFill>
            <a:prstDash val="solid"/>
            <a:tailEnd type="triangle"/>
          </a:ln>
        </p:spPr>
      </p:sp>
      <p:sp>
        <p:nvSpPr>
          <p:cNvPr id="11" name="Text 9"/>
          <p:cNvSpPr txBox="1"/>
          <p:nvPr/>
        </p:nvSpPr>
        <p:spPr>
          <a:xfrm>
            <a:off x="6383994" y="2361006"/>
            <a:ext cx="1617936" cy="214492"/>
          </a:xfrm>
          <a:prstGeom prst="rect">
            <a:avLst/>
          </a:prstGeom>
          <a:noFill/>
          <a:ln/>
        </p:spPr>
        <p:txBody>
          <a:bodyPr wrap="square" lIns="0" tIns="0" rIns="0" bIns="0" rtlCol="0" anchor="ctr"/>
          <a:lstStyle/>
          <a:p>
            <a:pPr algn="ctr" indent="0" marL="0">
              <a:lnSpc>
                <a:spcPct val="116000"/>
              </a:lnSpc>
              <a:buNone/>
            </a:pPr>
            <a:r>
              <a:rPr lang="en-US" sz="1456" dirty="0">
                <a:solidFill>
                  <a:srgbClr val="0072B2"/>
                </a:solidFill>
                <a:latin typeface="Arial" pitchFamily="34" charset="0"/>
                <a:ea typeface="Arial" pitchFamily="34" charset="-122"/>
                <a:cs typeface="Arial" pitchFamily="34" charset="-120"/>
              </a:rPr>
              <a:t>checked values</a:t>
            </a:r>
            <a:endParaRPr lang="en-US" sz="1456" dirty="0"/>
          </a:p>
        </p:txBody>
      </p:sp>
      <p:sp>
        <p:nvSpPr>
          <p:cNvPr id="12" name="Shape 10"/>
          <p:cNvSpPr/>
          <p:nvPr/>
        </p:nvSpPr>
        <p:spPr>
          <a:xfrm>
            <a:off x="9263919" y="3361353"/>
            <a:ext cx="246543" cy="0"/>
          </a:xfrm>
          <a:prstGeom prst="line">
            <a:avLst/>
          </a:prstGeom>
          <a:noFill/>
          <a:ln w="22860">
            <a:solidFill>
              <a:srgbClr val="009E73"/>
            </a:solidFill>
            <a:prstDash val="solid"/>
            <a:tailEnd type="triangle"/>
          </a:ln>
        </p:spPr>
      </p:sp>
      <p:sp>
        <p:nvSpPr>
          <p:cNvPr id="13" name="Text 11"/>
          <p:cNvSpPr txBox="1"/>
          <p:nvPr/>
        </p:nvSpPr>
        <p:spPr>
          <a:xfrm>
            <a:off x="8578223" y="2361006"/>
            <a:ext cx="1617936" cy="214492"/>
          </a:xfrm>
          <a:prstGeom prst="rect">
            <a:avLst/>
          </a:prstGeom>
          <a:noFill/>
          <a:ln/>
        </p:spPr>
        <p:txBody>
          <a:bodyPr wrap="square" lIns="0" tIns="0" rIns="0" bIns="0" rtlCol="0" anchor="ctr"/>
          <a:lstStyle/>
          <a:p>
            <a:pPr algn="ctr" indent="0" marL="0">
              <a:lnSpc>
                <a:spcPct val="116000"/>
              </a:lnSpc>
              <a:buNone/>
            </a:pPr>
            <a:r>
              <a:rPr lang="en-US" sz="1456" dirty="0">
                <a:solidFill>
                  <a:srgbClr val="0072B2"/>
                </a:solidFill>
                <a:latin typeface="Arial" pitchFamily="34" charset="0"/>
                <a:ea typeface="Arial" pitchFamily="34" charset="-122"/>
                <a:cs typeface="Arial" pitchFamily="34" charset="-120"/>
              </a:rPr>
              <a:t>response</a:t>
            </a:r>
            <a:endParaRPr lang="en-US" sz="1456" dirty="0"/>
          </a:p>
        </p:txBody>
      </p:sp>
      <p:sp>
        <p:nvSpPr>
          <p:cNvPr id="14" name="Shape 12"/>
          <p:cNvSpPr/>
          <p:nvPr/>
        </p:nvSpPr>
        <p:spPr>
          <a:xfrm>
            <a:off x="733547" y="2637134"/>
            <a:ext cx="1947686" cy="1448438"/>
          </a:xfrm>
          <a:prstGeom prst="roundRect">
            <a:avLst>
              <a:gd name="adj" fmla="val 5050"/>
            </a:avLst>
          </a:prstGeom>
          <a:solidFill>
            <a:srgbClr val="E4F2FB"/>
          </a:solidFill>
          <a:ln w="15240">
            <a:solidFill>
              <a:srgbClr val="0072B2"/>
            </a:solidFill>
            <a:prstDash val="solid"/>
          </a:ln>
        </p:spPr>
      </p:sp>
      <p:sp>
        <p:nvSpPr>
          <p:cNvPr id="15" name="Text 13"/>
          <p:cNvSpPr txBox="1"/>
          <p:nvPr/>
        </p:nvSpPr>
        <p:spPr>
          <a:xfrm>
            <a:off x="795183" y="3099401"/>
            <a:ext cx="1824415" cy="232366"/>
          </a:xfrm>
          <a:prstGeom prst="rect">
            <a:avLst/>
          </a:prstGeom>
          <a:noFill/>
          <a:ln/>
        </p:spPr>
        <p:txBody>
          <a:bodyPr wrap="square" lIns="0" tIns="0" rIns="0" bIns="0" rtlCol="0" anchor="ctr"/>
          <a:lstStyle/>
          <a:p>
            <a:pPr algn="ctr" indent="0" marL="0">
              <a:lnSpc>
                <a:spcPct val="116000"/>
              </a:lnSpc>
              <a:buNone/>
            </a:pPr>
            <a:r>
              <a:rPr lang="en-US" sz="1577" b="1" dirty="0">
                <a:solidFill>
                  <a:srgbClr val="1E1B4B"/>
                </a:solidFill>
                <a:latin typeface="Arial" pitchFamily="34" charset="0"/>
                <a:ea typeface="Arial" pitchFamily="34" charset="-122"/>
                <a:cs typeface="Arial" pitchFamily="34" charset="-120"/>
              </a:rPr>
              <a:t>Review input</a:t>
            </a:r>
            <a:endParaRPr lang="en-US" sz="1577" dirty="0"/>
          </a:p>
        </p:txBody>
      </p:sp>
      <p:sp>
        <p:nvSpPr>
          <p:cNvPr id="16" name="Text 14"/>
          <p:cNvSpPr txBox="1"/>
          <p:nvPr/>
        </p:nvSpPr>
        <p:spPr>
          <a:xfrm>
            <a:off x="795183" y="3408812"/>
            <a:ext cx="1824415" cy="214492"/>
          </a:xfrm>
          <a:prstGeom prst="rect">
            <a:avLst/>
          </a:prstGeom>
          <a:noFill/>
          <a:ln/>
        </p:spPr>
        <p:txBody>
          <a:bodyPr wrap="square" lIns="0" tIns="0" rIns="0" bIns="0" rtlCol="0" anchor="ctr"/>
          <a:lstStyle/>
          <a:p>
            <a:pPr algn="ctr" indent="0" marL="0">
              <a:lnSpc>
                <a:spcPct val="116000"/>
              </a:lnSpc>
              <a:buNone/>
            </a:pPr>
            <a:r>
              <a:rPr lang="en-US" sz="1456" dirty="0">
                <a:solidFill>
                  <a:srgbClr val="1F2937"/>
                </a:solidFill>
                <a:latin typeface="Arial" pitchFamily="34" charset="0"/>
                <a:ea typeface="Arial" pitchFamily="34" charset="-122"/>
                <a:cs typeface="Arial" pitchFamily="34" charset="-120"/>
              </a:rPr>
              <a:t>Quality; permission</a:t>
            </a:r>
            <a:endParaRPr lang="en-US" sz="1456" dirty="0"/>
          </a:p>
        </p:txBody>
      </p:sp>
      <p:sp>
        <p:nvSpPr>
          <p:cNvPr id="17" name="Shape 15"/>
          <p:cNvSpPr/>
          <p:nvPr/>
        </p:nvSpPr>
        <p:spPr>
          <a:xfrm>
            <a:off x="2927776" y="2637134"/>
            <a:ext cx="1947686" cy="1448438"/>
          </a:xfrm>
          <a:prstGeom prst="rect">
            <a:avLst/>
          </a:prstGeom>
          <a:solidFill>
            <a:srgbClr val="E5F7EF"/>
          </a:solidFill>
          <a:ln w="15240">
            <a:solidFill>
              <a:srgbClr val="009E73"/>
            </a:solidFill>
            <a:prstDash val="solid"/>
          </a:ln>
        </p:spPr>
      </p:sp>
      <p:sp>
        <p:nvSpPr>
          <p:cNvPr id="18" name="Text 16"/>
          <p:cNvSpPr txBox="1"/>
          <p:nvPr/>
        </p:nvSpPr>
        <p:spPr>
          <a:xfrm>
            <a:off x="2989411" y="3099401"/>
            <a:ext cx="1824415" cy="232366"/>
          </a:xfrm>
          <a:prstGeom prst="rect">
            <a:avLst/>
          </a:prstGeom>
          <a:noFill/>
          <a:ln/>
        </p:spPr>
        <p:txBody>
          <a:bodyPr wrap="square" lIns="0" tIns="0" rIns="0" bIns="0" rtlCol="0" anchor="ctr"/>
          <a:lstStyle/>
          <a:p>
            <a:pPr algn="ctr" indent="0" marL="0">
              <a:lnSpc>
                <a:spcPct val="116000"/>
              </a:lnSpc>
              <a:buNone/>
            </a:pPr>
            <a:r>
              <a:rPr lang="en-US" sz="1577" b="1" dirty="0">
                <a:solidFill>
                  <a:srgbClr val="1E1B4B"/>
                </a:solidFill>
                <a:latin typeface="Arial" pitchFamily="34" charset="0"/>
                <a:ea typeface="Arial" pitchFamily="34" charset="-122"/>
                <a:cs typeface="Arial" pitchFamily="34" charset="-120"/>
              </a:rPr>
              <a:t>Extract fields</a:t>
            </a:r>
            <a:endParaRPr lang="en-US" sz="1577" dirty="0"/>
          </a:p>
        </p:txBody>
      </p:sp>
      <p:sp>
        <p:nvSpPr>
          <p:cNvPr id="19" name="Text 17"/>
          <p:cNvSpPr txBox="1"/>
          <p:nvPr/>
        </p:nvSpPr>
        <p:spPr>
          <a:xfrm>
            <a:off x="2989411" y="3408812"/>
            <a:ext cx="1824415" cy="214492"/>
          </a:xfrm>
          <a:prstGeom prst="rect">
            <a:avLst/>
          </a:prstGeom>
          <a:noFill/>
          <a:ln/>
        </p:spPr>
        <p:txBody>
          <a:bodyPr wrap="square" lIns="0" tIns="0" rIns="0" bIns="0" rtlCol="0" anchor="ctr"/>
          <a:lstStyle/>
          <a:p>
            <a:pPr algn="ctr" indent="0" marL="0">
              <a:lnSpc>
                <a:spcPct val="116000"/>
              </a:lnSpc>
              <a:buNone/>
            </a:pPr>
            <a:r>
              <a:rPr lang="en-US" sz="1456" dirty="0">
                <a:solidFill>
                  <a:srgbClr val="1F2937"/>
                </a:solidFill>
                <a:latin typeface="Arial" pitchFamily="34" charset="0"/>
                <a:ea typeface="Arial" pitchFamily="34" charset="-122"/>
                <a:cs typeface="Arial" pitchFamily="34" charset="-120"/>
              </a:rPr>
              <a:t>Candidate values</a:t>
            </a:r>
            <a:endParaRPr lang="en-US" sz="1456" dirty="0"/>
          </a:p>
        </p:txBody>
      </p:sp>
      <p:sp>
        <p:nvSpPr>
          <p:cNvPr id="20" name="Shape 18"/>
          <p:cNvSpPr/>
          <p:nvPr/>
        </p:nvSpPr>
        <p:spPr>
          <a:xfrm>
            <a:off x="5122004" y="2637134"/>
            <a:ext cx="1947686" cy="1448438"/>
          </a:xfrm>
          <a:prstGeom prst="roundRect">
            <a:avLst>
              <a:gd name="adj" fmla="val 5050"/>
            </a:avLst>
          </a:prstGeom>
          <a:solidFill>
            <a:srgbClr val="FFF0E6"/>
          </a:solidFill>
          <a:ln w="15240">
            <a:solidFill>
              <a:srgbClr val="D55E00"/>
            </a:solidFill>
            <a:prstDash val="solid"/>
          </a:ln>
        </p:spPr>
      </p:sp>
      <p:sp>
        <p:nvSpPr>
          <p:cNvPr id="21" name="Text 19"/>
          <p:cNvSpPr txBox="1"/>
          <p:nvPr/>
        </p:nvSpPr>
        <p:spPr>
          <a:xfrm>
            <a:off x="5183640" y="3099401"/>
            <a:ext cx="1824415" cy="232366"/>
          </a:xfrm>
          <a:prstGeom prst="rect">
            <a:avLst/>
          </a:prstGeom>
          <a:noFill/>
          <a:ln/>
        </p:spPr>
        <p:txBody>
          <a:bodyPr wrap="square" lIns="0" tIns="0" rIns="0" bIns="0" rtlCol="0" anchor="ctr"/>
          <a:lstStyle/>
          <a:p>
            <a:pPr algn="ctr" indent="0" marL="0">
              <a:lnSpc>
                <a:spcPct val="116000"/>
              </a:lnSpc>
              <a:buNone/>
            </a:pPr>
            <a:r>
              <a:rPr lang="en-US" sz="1577" b="1" dirty="0">
                <a:solidFill>
                  <a:srgbClr val="1E1B4B"/>
                </a:solidFill>
                <a:latin typeface="Arial" pitchFamily="34" charset="0"/>
                <a:ea typeface="Arial" pitchFamily="34" charset="-122"/>
                <a:cs typeface="Arial" pitchFamily="34" charset="-120"/>
              </a:rPr>
              <a:t>Verify values</a:t>
            </a:r>
            <a:endParaRPr lang="en-US" sz="1577" dirty="0"/>
          </a:p>
        </p:txBody>
      </p:sp>
      <p:sp>
        <p:nvSpPr>
          <p:cNvPr id="22" name="Text 20"/>
          <p:cNvSpPr txBox="1"/>
          <p:nvPr/>
        </p:nvSpPr>
        <p:spPr>
          <a:xfrm>
            <a:off x="5183640" y="3408812"/>
            <a:ext cx="1824415" cy="214492"/>
          </a:xfrm>
          <a:prstGeom prst="rect">
            <a:avLst/>
          </a:prstGeom>
          <a:noFill/>
          <a:ln/>
        </p:spPr>
        <p:txBody>
          <a:bodyPr wrap="square" lIns="0" tIns="0" rIns="0" bIns="0" rtlCol="0" anchor="ctr"/>
          <a:lstStyle/>
          <a:p>
            <a:pPr algn="ctr" indent="0" marL="0">
              <a:lnSpc>
                <a:spcPct val="116000"/>
              </a:lnSpc>
              <a:buNone/>
            </a:pPr>
            <a:r>
              <a:rPr lang="en-US" sz="1456" dirty="0">
                <a:solidFill>
                  <a:srgbClr val="1F2937"/>
                </a:solidFill>
                <a:latin typeface="Arial" pitchFamily="34" charset="0"/>
                <a:ea typeface="Arial" pitchFamily="34" charset="-122"/>
                <a:cs typeface="Arial" pitchFamily="34" charset="-120"/>
              </a:rPr>
              <a:t>Source; sums</a:t>
            </a:r>
            <a:endParaRPr lang="en-US" sz="1456" dirty="0"/>
          </a:p>
        </p:txBody>
      </p:sp>
      <p:sp>
        <p:nvSpPr>
          <p:cNvPr id="23" name="Shape 21"/>
          <p:cNvSpPr/>
          <p:nvPr/>
        </p:nvSpPr>
        <p:spPr>
          <a:xfrm>
            <a:off x="7316233" y="2637134"/>
            <a:ext cx="1947686" cy="1448438"/>
          </a:xfrm>
          <a:prstGeom prst="roundRect">
            <a:avLst>
              <a:gd name="adj" fmla="val 5050"/>
            </a:avLst>
          </a:prstGeom>
          <a:solidFill>
            <a:srgbClr val="F9EAF4"/>
          </a:solidFill>
          <a:ln w="15240">
            <a:solidFill>
              <a:srgbClr val="CC79A7"/>
            </a:solidFill>
            <a:prstDash val="solid"/>
          </a:ln>
        </p:spPr>
      </p:sp>
      <p:sp>
        <p:nvSpPr>
          <p:cNvPr id="24" name="Text 22"/>
          <p:cNvSpPr txBox="1"/>
          <p:nvPr/>
        </p:nvSpPr>
        <p:spPr>
          <a:xfrm>
            <a:off x="7377869" y="3099401"/>
            <a:ext cx="1824415" cy="232366"/>
          </a:xfrm>
          <a:prstGeom prst="rect">
            <a:avLst/>
          </a:prstGeom>
          <a:noFill/>
          <a:ln/>
        </p:spPr>
        <p:txBody>
          <a:bodyPr wrap="square" lIns="0" tIns="0" rIns="0" bIns="0" rtlCol="0" anchor="ctr"/>
          <a:lstStyle/>
          <a:p>
            <a:pPr algn="ctr" indent="0" marL="0">
              <a:lnSpc>
                <a:spcPct val="116000"/>
              </a:lnSpc>
              <a:buNone/>
            </a:pPr>
            <a:r>
              <a:rPr lang="en-US" sz="1577" b="1" dirty="0">
                <a:solidFill>
                  <a:srgbClr val="1E1B4B"/>
                </a:solidFill>
                <a:latin typeface="Arial" pitchFamily="34" charset="0"/>
                <a:ea typeface="Arial" pitchFamily="34" charset="-122"/>
                <a:cs typeface="Arial" pitchFamily="34" charset="-120"/>
              </a:rPr>
              <a:t>Use result</a:t>
            </a:r>
            <a:endParaRPr lang="en-US" sz="1577" dirty="0"/>
          </a:p>
        </p:txBody>
      </p:sp>
      <p:sp>
        <p:nvSpPr>
          <p:cNvPr id="25" name="Text 23"/>
          <p:cNvSpPr txBox="1"/>
          <p:nvPr/>
        </p:nvSpPr>
        <p:spPr>
          <a:xfrm>
            <a:off x="7377869" y="3408812"/>
            <a:ext cx="1824415" cy="214492"/>
          </a:xfrm>
          <a:prstGeom prst="rect">
            <a:avLst/>
          </a:prstGeom>
          <a:noFill/>
          <a:ln/>
        </p:spPr>
        <p:txBody>
          <a:bodyPr wrap="square" lIns="0" tIns="0" rIns="0" bIns="0" rtlCol="0" anchor="ctr"/>
          <a:lstStyle/>
          <a:p>
            <a:pPr algn="ctr" indent="0" marL="0">
              <a:lnSpc>
                <a:spcPct val="116000"/>
              </a:lnSpc>
              <a:buNone/>
            </a:pPr>
            <a:r>
              <a:rPr lang="en-US" sz="1456" dirty="0">
                <a:solidFill>
                  <a:srgbClr val="1F2937"/>
                </a:solidFill>
                <a:latin typeface="Arial" pitchFamily="34" charset="0"/>
                <a:ea typeface="Arial" pitchFamily="34" charset="-122"/>
                <a:cs typeface="Arial" pitchFamily="34" charset="-120"/>
              </a:rPr>
              <a:t>Task response</a:t>
            </a:r>
            <a:endParaRPr lang="en-US" sz="1456" dirty="0"/>
          </a:p>
        </p:txBody>
      </p:sp>
      <p:sp>
        <p:nvSpPr>
          <p:cNvPr id="26" name="Shape 24"/>
          <p:cNvSpPr/>
          <p:nvPr/>
        </p:nvSpPr>
        <p:spPr>
          <a:xfrm>
            <a:off x="9510462" y="2637134"/>
            <a:ext cx="1947686" cy="1448438"/>
          </a:xfrm>
          <a:prstGeom prst="rect">
            <a:avLst/>
          </a:prstGeom>
          <a:solidFill>
            <a:srgbClr val="F2F4F5"/>
          </a:solidFill>
          <a:ln w="15240">
            <a:solidFill>
              <a:srgbClr val="626B73"/>
            </a:solidFill>
            <a:prstDash val="solid"/>
          </a:ln>
        </p:spPr>
      </p:sp>
      <p:sp>
        <p:nvSpPr>
          <p:cNvPr id="27" name="Text 25"/>
          <p:cNvSpPr txBox="1"/>
          <p:nvPr/>
        </p:nvSpPr>
        <p:spPr>
          <a:xfrm>
            <a:off x="9572098" y="3099401"/>
            <a:ext cx="1824415" cy="232366"/>
          </a:xfrm>
          <a:prstGeom prst="rect">
            <a:avLst/>
          </a:prstGeom>
          <a:noFill/>
          <a:ln/>
        </p:spPr>
        <p:txBody>
          <a:bodyPr wrap="square" lIns="0" tIns="0" rIns="0" bIns="0" rtlCol="0" anchor="ctr"/>
          <a:lstStyle/>
          <a:p>
            <a:pPr algn="ctr" indent="0" marL="0">
              <a:lnSpc>
                <a:spcPct val="116000"/>
              </a:lnSpc>
              <a:buNone/>
            </a:pPr>
            <a:r>
              <a:rPr lang="en-US" sz="1577" b="1" dirty="0">
                <a:solidFill>
                  <a:srgbClr val="1E1B4B"/>
                </a:solidFill>
                <a:latin typeface="Arial" pitchFamily="34" charset="0"/>
                <a:ea typeface="Arial" pitchFamily="34" charset="-122"/>
                <a:cs typeface="Arial" pitchFamily="34" charset="-120"/>
              </a:rPr>
              <a:t>Review; label</a:t>
            </a:r>
            <a:endParaRPr lang="en-US" sz="1577" dirty="0"/>
          </a:p>
        </p:txBody>
      </p:sp>
      <p:sp>
        <p:nvSpPr>
          <p:cNvPr id="28" name="Text 26"/>
          <p:cNvSpPr txBox="1"/>
          <p:nvPr/>
        </p:nvSpPr>
        <p:spPr>
          <a:xfrm>
            <a:off x="9572098" y="3408812"/>
            <a:ext cx="1824415" cy="214492"/>
          </a:xfrm>
          <a:prstGeom prst="rect">
            <a:avLst/>
          </a:prstGeom>
          <a:noFill/>
          <a:ln/>
        </p:spPr>
        <p:txBody>
          <a:bodyPr wrap="square" lIns="0" tIns="0" rIns="0" bIns="0" rtlCol="0" anchor="ctr"/>
          <a:lstStyle/>
          <a:p>
            <a:pPr algn="ctr" indent="0" marL="0">
              <a:lnSpc>
                <a:spcPct val="116000"/>
              </a:lnSpc>
              <a:buNone/>
            </a:pPr>
            <a:r>
              <a:rPr lang="en-US" sz="1456" dirty="0">
                <a:solidFill>
                  <a:srgbClr val="1F2937"/>
                </a:solidFill>
                <a:latin typeface="Arial" pitchFamily="34" charset="0"/>
                <a:ea typeface="Arial" pitchFamily="34" charset="-122"/>
                <a:cs typeface="Arial" pitchFamily="34" charset="-120"/>
              </a:rPr>
              <a:t>Human oversight</a:t>
            </a:r>
            <a:endParaRPr lang="en-US" sz="1456" dirty="0"/>
          </a:p>
        </p:txBody>
      </p:sp>
      <p:sp>
        <p:nvSpPr>
          <p:cNvPr id="29" name="Shape 27"/>
          <p:cNvSpPr/>
          <p:nvPr/>
        </p:nvSpPr>
        <p:spPr>
          <a:xfrm>
            <a:off x="733547" y="4355228"/>
            <a:ext cx="200316" cy="200316"/>
          </a:xfrm>
          <a:prstGeom prst="roundRect">
            <a:avLst>
              <a:gd name="adj" fmla="val 36518"/>
            </a:avLst>
          </a:prstGeom>
          <a:solidFill>
            <a:srgbClr val="E4F2FB"/>
          </a:solidFill>
          <a:ln w="15240">
            <a:solidFill>
              <a:srgbClr val="0072B2"/>
            </a:solidFill>
            <a:prstDash val="solid"/>
          </a:ln>
        </p:spPr>
      </p:sp>
      <p:sp>
        <p:nvSpPr>
          <p:cNvPr id="30" name="Text 28"/>
          <p:cNvSpPr txBox="1"/>
          <p:nvPr/>
        </p:nvSpPr>
        <p:spPr>
          <a:xfrm>
            <a:off x="995498" y="4332114"/>
            <a:ext cx="435010" cy="246543"/>
          </a:xfrm>
          <a:prstGeom prst="rect">
            <a:avLst/>
          </a:prstGeom>
          <a:noFill/>
          <a:ln/>
        </p:spPr>
        <p:txBody>
          <a:bodyPr wrap="square" lIns="0" tIns="0" rIns="0" bIns="0" rtlCol="0" anchor="ctr"/>
          <a:lstStyle/>
          <a:p>
            <a:pPr algn="l" indent="0" marL="0">
              <a:lnSpc>
                <a:spcPct val="116000"/>
              </a:lnSpc>
              <a:buNone/>
            </a:pPr>
            <a:r>
              <a:rPr lang="en-US" sz="1456" dirty="0">
                <a:solidFill>
                  <a:srgbClr val="1F2937"/>
                </a:solidFill>
                <a:latin typeface="Arial" pitchFamily="34" charset="0"/>
                <a:ea typeface="Arial" pitchFamily="34" charset="-122"/>
                <a:cs typeface="Arial" pitchFamily="34" charset="-120"/>
              </a:rPr>
              <a:t>Data</a:t>
            </a:r>
            <a:endParaRPr lang="en-US" sz="1456" dirty="0"/>
          </a:p>
        </p:txBody>
      </p:sp>
      <p:sp>
        <p:nvSpPr>
          <p:cNvPr id="31" name="Shape 29"/>
          <p:cNvSpPr/>
          <p:nvPr/>
        </p:nvSpPr>
        <p:spPr>
          <a:xfrm>
            <a:off x="1630824" y="4355228"/>
            <a:ext cx="200316" cy="200316"/>
          </a:xfrm>
          <a:prstGeom prst="rect">
            <a:avLst/>
          </a:prstGeom>
          <a:solidFill>
            <a:srgbClr val="E5F7EF"/>
          </a:solidFill>
          <a:ln w="15240">
            <a:solidFill>
              <a:srgbClr val="009E73"/>
            </a:solidFill>
            <a:prstDash val="solid"/>
          </a:ln>
        </p:spPr>
      </p:sp>
      <p:sp>
        <p:nvSpPr>
          <p:cNvPr id="32" name="Text 30"/>
          <p:cNvSpPr txBox="1"/>
          <p:nvPr/>
        </p:nvSpPr>
        <p:spPr>
          <a:xfrm>
            <a:off x="1892775" y="4332114"/>
            <a:ext cx="551942" cy="246543"/>
          </a:xfrm>
          <a:prstGeom prst="rect">
            <a:avLst/>
          </a:prstGeom>
          <a:noFill/>
          <a:ln/>
        </p:spPr>
        <p:txBody>
          <a:bodyPr wrap="square" lIns="0" tIns="0" rIns="0" bIns="0" rtlCol="0" anchor="ctr"/>
          <a:lstStyle/>
          <a:p>
            <a:pPr algn="l" indent="0" marL="0">
              <a:lnSpc>
                <a:spcPct val="116000"/>
              </a:lnSpc>
              <a:buNone/>
            </a:pPr>
            <a:r>
              <a:rPr lang="en-US" sz="1456" dirty="0">
                <a:solidFill>
                  <a:srgbClr val="1F2937"/>
                </a:solidFill>
                <a:latin typeface="Arial" pitchFamily="34" charset="0"/>
                <a:ea typeface="Arial" pitchFamily="34" charset="-122"/>
                <a:cs typeface="Arial" pitchFamily="34" charset="-120"/>
              </a:rPr>
              <a:t>Model</a:t>
            </a:r>
            <a:endParaRPr lang="en-US" sz="1456" dirty="0"/>
          </a:p>
        </p:txBody>
      </p:sp>
      <p:sp>
        <p:nvSpPr>
          <p:cNvPr id="33" name="Shape 31"/>
          <p:cNvSpPr/>
          <p:nvPr/>
        </p:nvSpPr>
        <p:spPr>
          <a:xfrm>
            <a:off x="2645033" y="4355228"/>
            <a:ext cx="200316" cy="200316"/>
          </a:xfrm>
          <a:prstGeom prst="roundRect">
            <a:avLst>
              <a:gd name="adj" fmla="val 36518"/>
            </a:avLst>
          </a:prstGeom>
          <a:solidFill>
            <a:srgbClr val="FFF0E6"/>
          </a:solidFill>
          <a:ln w="15240">
            <a:solidFill>
              <a:srgbClr val="D55E00"/>
            </a:solidFill>
            <a:prstDash val="solid"/>
          </a:ln>
        </p:spPr>
      </p:sp>
      <p:sp>
        <p:nvSpPr>
          <p:cNvPr id="34" name="Text 32"/>
          <p:cNvSpPr txBox="1"/>
          <p:nvPr/>
        </p:nvSpPr>
        <p:spPr>
          <a:xfrm>
            <a:off x="2906984" y="4332114"/>
            <a:ext cx="573185" cy="246543"/>
          </a:xfrm>
          <a:prstGeom prst="rect">
            <a:avLst/>
          </a:prstGeom>
          <a:noFill/>
          <a:ln/>
        </p:spPr>
        <p:txBody>
          <a:bodyPr wrap="square" lIns="0" tIns="0" rIns="0" bIns="0" rtlCol="0" anchor="ctr"/>
          <a:lstStyle/>
          <a:p>
            <a:pPr algn="l" indent="0" marL="0">
              <a:lnSpc>
                <a:spcPct val="116000"/>
              </a:lnSpc>
              <a:buNone/>
            </a:pPr>
            <a:r>
              <a:rPr lang="en-US" sz="1456" dirty="0">
                <a:solidFill>
                  <a:srgbClr val="1F2937"/>
                </a:solidFill>
                <a:latin typeface="Arial" pitchFamily="34" charset="0"/>
                <a:ea typeface="Arial" pitchFamily="34" charset="-122"/>
                <a:cs typeface="Arial" pitchFamily="34" charset="-120"/>
              </a:rPr>
              <a:t>Check</a:t>
            </a:r>
            <a:endParaRPr lang="en-US" sz="1456" dirty="0"/>
          </a:p>
        </p:txBody>
      </p:sp>
      <p:sp>
        <p:nvSpPr>
          <p:cNvPr id="35" name="Shape 33"/>
          <p:cNvSpPr/>
          <p:nvPr/>
        </p:nvSpPr>
        <p:spPr>
          <a:xfrm>
            <a:off x="3680485" y="4355228"/>
            <a:ext cx="200316" cy="200316"/>
          </a:xfrm>
          <a:prstGeom prst="roundRect">
            <a:avLst>
              <a:gd name="adj" fmla="val 36518"/>
            </a:avLst>
          </a:prstGeom>
          <a:solidFill>
            <a:srgbClr val="F9EAF4"/>
          </a:solidFill>
          <a:ln w="15240">
            <a:solidFill>
              <a:srgbClr val="CC79A7"/>
            </a:solidFill>
            <a:prstDash val="solid"/>
          </a:ln>
        </p:spPr>
      </p:sp>
      <p:sp>
        <p:nvSpPr>
          <p:cNvPr id="36" name="Text 34"/>
          <p:cNvSpPr txBox="1"/>
          <p:nvPr/>
        </p:nvSpPr>
        <p:spPr>
          <a:xfrm>
            <a:off x="3942437" y="4332114"/>
            <a:ext cx="605337" cy="246543"/>
          </a:xfrm>
          <a:prstGeom prst="rect">
            <a:avLst/>
          </a:prstGeom>
          <a:noFill/>
          <a:ln/>
        </p:spPr>
        <p:txBody>
          <a:bodyPr wrap="square" lIns="0" tIns="0" rIns="0" bIns="0" rtlCol="0" anchor="ctr"/>
          <a:lstStyle/>
          <a:p>
            <a:pPr algn="l" indent="0" marL="0">
              <a:lnSpc>
                <a:spcPct val="116000"/>
              </a:lnSpc>
              <a:buNone/>
            </a:pPr>
            <a:r>
              <a:rPr lang="en-US" sz="1456" dirty="0">
                <a:solidFill>
                  <a:srgbClr val="1F2937"/>
                </a:solidFill>
                <a:latin typeface="Arial" pitchFamily="34" charset="0"/>
                <a:ea typeface="Arial" pitchFamily="34" charset="-122"/>
                <a:cs typeface="Arial" pitchFamily="34" charset="-120"/>
              </a:rPr>
              <a:t>Output</a:t>
            </a:r>
            <a:endParaRPr lang="en-US" sz="1456" dirty="0"/>
          </a:p>
        </p:txBody>
      </p:sp>
      <p:sp>
        <p:nvSpPr>
          <p:cNvPr id="37" name="Shape 35"/>
          <p:cNvSpPr/>
          <p:nvPr/>
        </p:nvSpPr>
        <p:spPr>
          <a:xfrm>
            <a:off x="4748089" y="4355228"/>
            <a:ext cx="200316" cy="200316"/>
          </a:xfrm>
          <a:prstGeom prst="rect">
            <a:avLst/>
          </a:prstGeom>
          <a:solidFill>
            <a:srgbClr val="F2F4F5"/>
          </a:solidFill>
          <a:ln w="15240">
            <a:solidFill>
              <a:srgbClr val="626B73"/>
            </a:solidFill>
            <a:prstDash val="solid"/>
          </a:ln>
        </p:spPr>
      </p:sp>
      <p:sp>
        <p:nvSpPr>
          <p:cNvPr id="38" name="Text 36"/>
          <p:cNvSpPr txBox="1"/>
          <p:nvPr/>
        </p:nvSpPr>
        <p:spPr>
          <a:xfrm>
            <a:off x="5010041" y="4332114"/>
            <a:ext cx="403049" cy="246543"/>
          </a:xfrm>
          <a:prstGeom prst="rect">
            <a:avLst/>
          </a:prstGeom>
          <a:noFill/>
          <a:ln/>
        </p:spPr>
        <p:txBody>
          <a:bodyPr wrap="square" lIns="0" tIns="0" rIns="0" bIns="0" rtlCol="0" anchor="ctr"/>
          <a:lstStyle/>
          <a:p>
            <a:pPr algn="l" indent="0" marL="0">
              <a:lnSpc>
                <a:spcPct val="116000"/>
              </a:lnSpc>
              <a:buNone/>
            </a:pPr>
            <a:r>
              <a:rPr lang="en-US" sz="1456" dirty="0">
                <a:solidFill>
                  <a:srgbClr val="1F2937"/>
                </a:solidFill>
                <a:latin typeface="Arial" pitchFamily="34" charset="0"/>
                <a:ea typeface="Arial" pitchFamily="34" charset="-122"/>
                <a:cs typeface="Arial" pitchFamily="34" charset="-120"/>
              </a:rPr>
              <a:t>Tool</a:t>
            </a:r>
            <a:endParaRPr lang="en-US" sz="1456" dirty="0"/>
          </a:p>
        </p:txBody>
      </p:sp>
      <p:sp>
        <p:nvSpPr>
          <p:cNvPr id="39" name="Shape 37"/>
          <p:cNvSpPr/>
          <p:nvPr/>
        </p:nvSpPr>
        <p:spPr>
          <a:xfrm>
            <a:off x="5613406" y="4455385"/>
            <a:ext cx="338996" cy="0"/>
          </a:xfrm>
          <a:prstGeom prst="line">
            <a:avLst/>
          </a:prstGeom>
          <a:noFill/>
          <a:ln w="22860">
            <a:solidFill>
              <a:srgbClr val="009E73"/>
            </a:solidFill>
            <a:prstDash val="solid"/>
            <a:tailEnd type="triangle"/>
          </a:ln>
        </p:spPr>
      </p:sp>
      <p:sp>
        <p:nvSpPr>
          <p:cNvPr id="40" name="Text 38"/>
          <p:cNvSpPr txBox="1"/>
          <p:nvPr/>
        </p:nvSpPr>
        <p:spPr>
          <a:xfrm>
            <a:off x="6014037" y="4332114"/>
            <a:ext cx="434818" cy="246543"/>
          </a:xfrm>
          <a:prstGeom prst="rect">
            <a:avLst/>
          </a:prstGeom>
          <a:noFill/>
          <a:ln/>
        </p:spPr>
        <p:txBody>
          <a:bodyPr wrap="square" lIns="0" tIns="0" rIns="0" bIns="0" rtlCol="0" anchor="ctr"/>
          <a:lstStyle/>
          <a:p>
            <a:pPr algn="l" indent="0" marL="0">
              <a:lnSpc>
                <a:spcPct val="116000"/>
              </a:lnSpc>
              <a:buNone/>
            </a:pPr>
            <a:r>
              <a:rPr lang="en-US" sz="1456" dirty="0">
                <a:solidFill>
                  <a:srgbClr val="1F2937"/>
                </a:solidFill>
                <a:latin typeface="Arial" pitchFamily="34" charset="0"/>
                <a:ea typeface="Arial" pitchFamily="34" charset="-122"/>
                <a:cs typeface="Arial" pitchFamily="34" charset="-120"/>
              </a:rPr>
              <a:t>Flow</a:t>
            </a:r>
            <a:endParaRPr lang="en-US" sz="1456" dirty="0"/>
          </a:p>
        </p:txBody>
      </p:sp>
      <p:sp>
        <p:nvSpPr>
          <p:cNvPr id="41" name="Shape 39"/>
          <p:cNvSpPr/>
          <p:nvPr/>
        </p:nvSpPr>
        <p:spPr>
          <a:xfrm>
            <a:off x="548640" y="5486400"/>
            <a:ext cx="11094415" cy="822960"/>
          </a:xfrm>
          <a:prstGeom prst="roundRect">
            <a:avLst>
              <a:gd name="adj" fmla="val 13333"/>
            </a:avLst>
          </a:prstGeom>
          <a:solidFill>
            <a:srgbClr val="FFF1E6"/>
          </a:solidFill>
          <a:ln w="12700">
            <a:solidFill>
              <a:srgbClr val="FFF1E6"/>
            </a:solidFill>
            <a:prstDash val="solid"/>
          </a:ln>
        </p:spPr>
      </p:sp>
      <p:sp>
        <p:nvSpPr>
          <p:cNvPr id="42" name="Text 40"/>
          <p:cNvSpPr txBox="1"/>
          <p:nvPr/>
        </p:nvSpPr>
        <p:spPr>
          <a:xfrm>
            <a:off x="777240" y="5486400"/>
            <a:ext cx="10637215" cy="822960"/>
          </a:xfrm>
          <a:prstGeom prst="rect">
            <a:avLst/>
          </a:prstGeom>
          <a:noFill/>
          <a:ln/>
        </p:spPr>
        <p:txBody>
          <a:bodyPr wrap="square" lIns="50800" tIns="50800" rIns="50800" bIns="50800" rtlCol="0" anchor="ctr"/>
          <a:lstStyle/>
          <a:p>
            <a:pPr indent="0" marL="0">
              <a:buNone/>
            </a:pPr>
            <a:r>
              <a:rPr lang="en-US" sz="2000" b="1" dirty="0">
                <a:solidFill>
                  <a:srgbClr val="EA580C"/>
                </a:solidFill>
                <a:latin typeface="Calibri" pitchFamily="34" charset="0"/>
                <a:ea typeface="Calibri" pitchFamily="34" charset="-122"/>
                <a:cs typeface="Calibri" pitchFamily="34" charset="-120"/>
              </a:rPr>
              <a:t>Key idea:  </a:t>
            </a:r>
            <a:pPr indent="0" marL="0">
              <a:buNone/>
            </a:pPr>
            <a:r>
              <a:rPr lang="en-US" sz="2000" dirty="0">
                <a:solidFill>
                  <a:srgbClr val="1F2937"/>
                </a:solidFill>
                <a:latin typeface="Calibri" pitchFamily="34" charset="0"/>
                <a:ea typeface="Calibri" pitchFamily="34" charset="-122"/>
                <a:cs typeface="Calibri" pitchFamily="34" charset="-120"/>
              </a:rPr>
              <a:t>Correct sums need correct inputs.</a:t>
            </a:r>
            <a:endParaRPr lang="en-US" sz="2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10  ·  MULTIMODAL GENERATIVE AI APPLICATIONS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42</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Responsible-use checklist for multimodal projects</a:t>
            </a:r>
            <a:endParaRPr lang="en-US" sz="3200" dirty="0"/>
          </a:p>
        </p:txBody>
      </p:sp>
      <p:sp>
        <p:nvSpPr>
          <p:cNvPr id="6" name="Text 4"/>
          <p:cNvSpPr txBox="1"/>
          <p:nvPr/>
        </p:nvSpPr>
        <p:spPr>
          <a:xfrm>
            <a:off x="548640" y="1481328"/>
            <a:ext cx="4297680" cy="4828032"/>
          </a:xfrm>
          <a:prstGeom prst="rect">
            <a:avLst/>
          </a:prstGeom>
          <a:noFill/>
          <a:ln/>
        </p:spPr>
        <p:txBody>
          <a:bodyPr wrap="square" lIns="50800" tIns="50800" rIns="50800" bIns="50800" rtlCol="0" anchor="t"/>
          <a:lstStyle/>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State purpose and people affected.</a:t>
            </a:r>
            <a:endParaRPr lang="en-US" sz="2600" dirty="0"/>
          </a:p>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Keep human review for consequential errors.</a:t>
            </a:r>
            <a:endParaRPr lang="en-US" sz="26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5257800" y="1481328"/>
          <a:ext cx="6385255" cy="914400"/>
        </p:xfrm>
        <a:graphic>
          <a:graphicData uri="http://schemas.openxmlformats.org/drawingml/2006/table">
            <a:tbl>
              <a:tblPr/>
              <a:tblGrid>
                <a:gridCol w="3192628"/>
                <a:gridCol w="3192628"/>
              </a:tblGrid>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Evidence</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Record</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r>
              <a:tr h="0">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Permission</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Licences; basis</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Experiment</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Versions; settings</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Verification</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References; errors</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Disclosure</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Visible labels; history</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10  ·  MULTIMODAL GENERATIVE AI APPLICATIONS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43</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Generate, inspect and evaluate</a:t>
            </a:r>
            <a:endParaRPr lang="en-US" sz="3200" dirty="0"/>
          </a:p>
        </p:txBody>
      </p:sp>
      <p:sp>
        <p:nvSpPr>
          <p:cNvPr id="6" name="Text 4"/>
          <p:cNvSpPr txBox="1"/>
          <p:nvPr/>
        </p:nvSpPr>
        <p:spPr>
          <a:xfrm>
            <a:off x="548640" y="1463040"/>
            <a:ext cx="11094415" cy="384048"/>
          </a:xfrm>
          <a:prstGeom prst="rect">
            <a:avLst/>
          </a:prstGeom>
          <a:noFill/>
          <a:ln/>
        </p:spPr>
        <p:txBody>
          <a:bodyPr wrap="square" lIns="0" tIns="0" rIns="0" bIns="0" rtlCol="0" anchor="t"/>
          <a:lstStyle/>
          <a:p>
            <a:pPr indent="0" marL="0">
              <a:buNone/>
            </a:pPr>
            <a:r>
              <a:rPr lang="en-US" sz="1800" dirty="0">
                <a:solidFill>
                  <a:srgbClr val="6B7280"/>
                </a:solidFill>
                <a:latin typeface="Calibri" pitchFamily="34" charset="0"/>
                <a:ea typeface="Calibri" pitchFamily="34" charset="-122"/>
                <a:cs typeface="Calibri" pitchFamily="34" charset="-120"/>
              </a:rPr>
              <a:t>Core and optional extensions</a:t>
            </a:r>
            <a:endParaRPr lang="en-US" sz="1800" dirty="0"/>
          </a:p>
        </p:txBody>
      </p:sp>
      <p:sp>
        <p:nvSpPr>
          <p:cNvPr id="7" name="Shape 5"/>
          <p:cNvSpPr/>
          <p:nvPr/>
        </p:nvSpPr>
        <p:spPr>
          <a:xfrm>
            <a:off x="3259068" y="3838927"/>
            <a:ext cx="244024" cy="0"/>
          </a:xfrm>
          <a:prstGeom prst="line">
            <a:avLst/>
          </a:prstGeom>
          <a:noFill/>
          <a:ln w="22860">
            <a:solidFill>
              <a:srgbClr val="009E73"/>
            </a:solidFill>
            <a:prstDash val="solid"/>
            <a:tailEnd type="triangle"/>
          </a:ln>
        </p:spPr>
      </p:sp>
      <p:sp>
        <p:nvSpPr>
          <p:cNvPr id="8" name="Text 6"/>
          <p:cNvSpPr txBox="1"/>
          <p:nvPr/>
        </p:nvSpPr>
        <p:spPr>
          <a:xfrm>
            <a:off x="2580376"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images</a:t>
            </a:r>
            <a:endParaRPr lang="en-US" sz="1441" dirty="0"/>
          </a:p>
        </p:txBody>
      </p:sp>
      <p:sp>
        <p:nvSpPr>
          <p:cNvPr id="9" name="Shape 7"/>
          <p:cNvSpPr/>
          <p:nvPr/>
        </p:nvSpPr>
        <p:spPr>
          <a:xfrm>
            <a:off x="5973836" y="3838927"/>
            <a:ext cx="244024" cy="0"/>
          </a:xfrm>
          <a:prstGeom prst="line">
            <a:avLst/>
          </a:prstGeom>
          <a:noFill/>
          <a:ln w="22860">
            <a:solidFill>
              <a:srgbClr val="009E73"/>
            </a:solidFill>
            <a:prstDash val="solid"/>
            <a:tailEnd type="triangle"/>
          </a:ln>
        </p:spPr>
      </p:sp>
      <p:sp>
        <p:nvSpPr>
          <p:cNvPr id="10" name="Text 8"/>
          <p:cNvSpPr txBox="1"/>
          <p:nvPr/>
        </p:nvSpPr>
        <p:spPr>
          <a:xfrm>
            <a:off x="5295144"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answers</a:t>
            </a:r>
            <a:endParaRPr lang="en-US" sz="1441" dirty="0"/>
          </a:p>
        </p:txBody>
      </p:sp>
      <p:sp>
        <p:nvSpPr>
          <p:cNvPr id="11" name="Shape 9"/>
          <p:cNvSpPr/>
          <p:nvPr/>
        </p:nvSpPr>
        <p:spPr>
          <a:xfrm>
            <a:off x="8688603" y="3838927"/>
            <a:ext cx="244024" cy="0"/>
          </a:xfrm>
          <a:prstGeom prst="line">
            <a:avLst/>
          </a:prstGeom>
          <a:noFill/>
          <a:ln w="22860">
            <a:solidFill>
              <a:srgbClr val="009E73"/>
            </a:solidFill>
            <a:prstDash val="solid"/>
            <a:tailEnd type="triangle"/>
          </a:ln>
        </p:spPr>
      </p:sp>
      <p:sp>
        <p:nvSpPr>
          <p:cNvPr id="12" name="Text 10"/>
          <p:cNvSpPr txBox="1"/>
          <p:nvPr/>
        </p:nvSpPr>
        <p:spPr>
          <a:xfrm>
            <a:off x="8009911"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scores</a:t>
            </a:r>
            <a:endParaRPr lang="en-US" sz="1441" dirty="0"/>
          </a:p>
        </p:txBody>
      </p:sp>
      <p:sp>
        <p:nvSpPr>
          <p:cNvPr id="13" name="Shape 11"/>
          <p:cNvSpPr/>
          <p:nvPr/>
        </p:nvSpPr>
        <p:spPr>
          <a:xfrm>
            <a:off x="788325" y="2939089"/>
            <a:ext cx="2470743" cy="1799677"/>
          </a:xfrm>
          <a:prstGeom prst="roundRect">
            <a:avLst>
              <a:gd name="adj" fmla="val 4065"/>
            </a:avLst>
          </a:prstGeom>
          <a:solidFill>
            <a:srgbClr val="E4F2FB"/>
          </a:solidFill>
          <a:ln w="15240">
            <a:solidFill>
              <a:srgbClr val="0072B2"/>
            </a:solidFill>
            <a:prstDash val="solid"/>
          </a:ln>
        </p:spPr>
      </p:sp>
      <p:sp>
        <p:nvSpPr>
          <p:cNvPr id="14" name="Text 12"/>
          <p:cNvSpPr txBox="1"/>
          <p:nvPr/>
        </p:nvSpPr>
        <p:spPr>
          <a:xfrm>
            <a:off x="849331" y="3579652"/>
            <a:ext cx="2348731"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Create fixtures</a:t>
            </a:r>
            <a:endParaRPr lang="en-US" sz="1561" dirty="0"/>
          </a:p>
        </p:txBody>
      </p:sp>
      <p:sp>
        <p:nvSpPr>
          <p:cNvPr id="15" name="Text 13"/>
          <p:cNvSpPr txBox="1"/>
          <p:nvPr/>
        </p:nvSpPr>
        <p:spPr>
          <a:xfrm>
            <a:off x="849331" y="3885902"/>
            <a:ext cx="2348731"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Known references</a:t>
            </a:r>
            <a:endParaRPr lang="en-US" sz="1441" dirty="0"/>
          </a:p>
        </p:txBody>
      </p:sp>
      <p:sp>
        <p:nvSpPr>
          <p:cNvPr id="16" name="Shape 14"/>
          <p:cNvSpPr/>
          <p:nvPr/>
        </p:nvSpPr>
        <p:spPr>
          <a:xfrm>
            <a:off x="3503092" y="2939089"/>
            <a:ext cx="2470743" cy="1799677"/>
          </a:xfrm>
          <a:prstGeom prst="rect">
            <a:avLst/>
          </a:prstGeom>
          <a:solidFill>
            <a:srgbClr val="E5F7EF"/>
          </a:solidFill>
          <a:ln w="15240">
            <a:solidFill>
              <a:srgbClr val="009E73"/>
            </a:solidFill>
            <a:prstDash val="solid"/>
          </a:ln>
        </p:spPr>
      </p:sp>
      <p:sp>
        <p:nvSpPr>
          <p:cNvPr id="17" name="Text 15"/>
          <p:cNvSpPr txBox="1"/>
          <p:nvPr/>
        </p:nvSpPr>
        <p:spPr>
          <a:xfrm>
            <a:off x="3564098" y="3442998"/>
            <a:ext cx="2348731"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Read images</a:t>
            </a:r>
            <a:endParaRPr lang="en-US" sz="1561" dirty="0"/>
          </a:p>
        </p:txBody>
      </p:sp>
      <p:sp>
        <p:nvSpPr>
          <p:cNvPr id="18" name="Text 16"/>
          <p:cNvSpPr txBox="1"/>
          <p:nvPr/>
        </p:nvSpPr>
        <p:spPr>
          <a:xfrm>
            <a:off x="3564098" y="3749248"/>
            <a:ext cx="2348731"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Short answers</a:t>
            </a:r>
            <a:endParaRPr lang="en-US" sz="1441" dirty="0"/>
          </a:p>
        </p:txBody>
      </p:sp>
      <p:sp>
        <p:nvSpPr>
          <p:cNvPr id="19" name="Text 17"/>
          <p:cNvSpPr txBox="1"/>
          <p:nvPr/>
        </p:nvSpPr>
        <p:spPr>
          <a:xfrm>
            <a:off x="3525970" y="4022555"/>
            <a:ext cx="2424989" cy="212301"/>
          </a:xfrm>
          <a:prstGeom prst="rect">
            <a:avLst/>
          </a:prstGeom>
          <a:noFill/>
          <a:ln/>
        </p:spPr>
        <p:txBody>
          <a:bodyPr wrap="square" lIns="0" tIns="0" rIns="0" bIns="0" rtlCol="0" anchor="ctr"/>
          <a:lstStyle/>
          <a:p>
            <a:pPr algn="ctr" indent="0" marL="0">
              <a:lnSpc>
                <a:spcPct val="116000"/>
              </a:lnSpc>
              <a:buNone/>
            </a:pPr>
            <a:r>
              <a:rPr lang="en-US" sz="1441" dirty="0">
                <a:solidFill>
                  <a:srgbClr val="0F766E"/>
                </a:solidFill>
                <a:latin typeface="Arial" pitchFamily="34" charset="0"/>
                <a:ea typeface="Arial" pitchFamily="34" charset="-122"/>
                <a:cs typeface="Arial" pitchFamily="34" charset="-120"/>
              </a:rPr>
              <a:t>ask</a:t>
            </a:r>
            <a:endParaRPr lang="en-US" sz="1441" dirty="0"/>
          </a:p>
        </p:txBody>
      </p:sp>
      <p:sp>
        <p:nvSpPr>
          <p:cNvPr id="20" name="Shape 18"/>
          <p:cNvSpPr/>
          <p:nvPr/>
        </p:nvSpPr>
        <p:spPr>
          <a:xfrm>
            <a:off x="6217860" y="2939089"/>
            <a:ext cx="2470743" cy="1799677"/>
          </a:xfrm>
          <a:prstGeom prst="roundRect">
            <a:avLst>
              <a:gd name="adj" fmla="val 4065"/>
            </a:avLst>
          </a:prstGeom>
          <a:solidFill>
            <a:srgbClr val="FFF0E6"/>
          </a:solidFill>
          <a:ln w="15240">
            <a:solidFill>
              <a:srgbClr val="D55E00"/>
            </a:solidFill>
            <a:prstDash val="solid"/>
          </a:ln>
        </p:spPr>
      </p:sp>
      <p:sp>
        <p:nvSpPr>
          <p:cNvPr id="21" name="Text 19"/>
          <p:cNvSpPr txBox="1"/>
          <p:nvPr/>
        </p:nvSpPr>
        <p:spPr>
          <a:xfrm>
            <a:off x="6278866" y="3442998"/>
            <a:ext cx="2348731"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Score replies</a:t>
            </a:r>
            <a:endParaRPr lang="en-US" sz="1561" dirty="0"/>
          </a:p>
        </p:txBody>
      </p:sp>
      <p:sp>
        <p:nvSpPr>
          <p:cNvPr id="22" name="Text 20"/>
          <p:cNvSpPr txBox="1"/>
          <p:nvPr/>
        </p:nvSpPr>
        <p:spPr>
          <a:xfrm>
            <a:off x="6278866" y="3749248"/>
            <a:ext cx="2348731"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Match references</a:t>
            </a:r>
            <a:endParaRPr lang="en-US" sz="1441" dirty="0"/>
          </a:p>
        </p:txBody>
      </p:sp>
      <p:sp>
        <p:nvSpPr>
          <p:cNvPr id="23" name="Text 21"/>
          <p:cNvSpPr txBox="1"/>
          <p:nvPr/>
        </p:nvSpPr>
        <p:spPr>
          <a:xfrm>
            <a:off x="6240737" y="4022555"/>
            <a:ext cx="2424989" cy="212301"/>
          </a:xfrm>
          <a:prstGeom prst="rect">
            <a:avLst/>
          </a:prstGeom>
          <a:noFill/>
          <a:ln/>
        </p:spPr>
        <p:txBody>
          <a:bodyPr wrap="square" lIns="0" tIns="0" rIns="0" bIns="0" rtlCol="0" anchor="ctr"/>
          <a:lstStyle/>
          <a:p>
            <a:pPr algn="ctr" indent="0" marL="0">
              <a:lnSpc>
                <a:spcPct val="116000"/>
              </a:lnSpc>
              <a:buNone/>
            </a:pPr>
            <a:r>
              <a:rPr lang="en-US" sz="1441" dirty="0">
                <a:solidFill>
                  <a:srgbClr val="0F766E"/>
                </a:solidFill>
                <a:latin typeface="Arial" pitchFamily="34" charset="0"/>
                <a:ea typeface="Arial" pitchFamily="34" charset="-122"/>
                <a:cs typeface="Arial" pitchFamily="34" charset="-120"/>
              </a:rPr>
              <a:t>score</a:t>
            </a:r>
            <a:endParaRPr lang="en-US" sz="1441" dirty="0"/>
          </a:p>
        </p:txBody>
      </p:sp>
      <p:sp>
        <p:nvSpPr>
          <p:cNvPr id="24" name="Shape 22"/>
          <p:cNvSpPr/>
          <p:nvPr/>
        </p:nvSpPr>
        <p:spPr>
          <a:xfrm>
            <a:off x="8932627" y="2939089"/>
            <a:ext cx="2470743" cy="1799677"/>
          </a:xfrm>
          <a:prstGeom prst="roundRect">
            <a:avLst>
              <a:gd name="adj" fmla="val 4065"/>
            </a:avLst>
          </a:prstGeom>
          <a:solidFill>
            <a:srgbClr val="F9EAF4"/>
          </a:solidFill>
          <a:ln w="15240">
            <a:solidFill>
              <a:srgbClr val="CC79A7"/>
            </a:solidFill>
            <a:prstDash val="solid"/>
          </a:ln>
        </p:spPr>
      </p:sp>
      <p:sp>
        <p:nvSpPr>
          <p:cNvPr id="25" name="Text 23"/>
          <p:cNvSpPr txBox="1"/>
          <p:nvPr/>
        </p:nvSpPr>
        <p:spPr>
          <a:xfrm>
            <a:off x="8993633" y="3579652"/>
            <a:ext cx="2348731"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Inspect scores</a:t>
            </a:r>
            <a:endParaRPr lang="en-US" sz="1561" dirty="0"/>
          </a:p>
        </p:txBody>
      </p:sp>
      <p:sp>
        <p:nvSpPr>
          <p:cNvPr id="26" name="Text 24"/>
          <p:cNvSpPr txBox="1"/>
          <p:nvPr/>
        </p:nvSpPr>
        <p:spPr>
          <a:xfrm>
            <a:off x="8993633" y="3885902"/>
            <a:ext cx="2348731"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Limited heuristic</a:t>
            </a:r>
            <a:endParaRPr lang="en-US" sz="1441" dirty="0"/>
          </a:p>
        </p:txBody>
      </p:sp>
      <p:sp>
        <p:nvSpPr>
          <p:cNvPr id="27" name="Shape 25"/>
          <p:cNvSpPr/>
          <p:nvPr/>
        </p:nvSpPr>
        <p:spPr>
          <a:xfrm>
            <a:off x="788325" y="5630979"/>
            <a:ext cx="198270" cy="198270"/>
          </a:xfrm>
          <a:prstGeom prst="roundRect">
            <a:avLst>
              <a:gd name="adj" fmla="val 36895"/>
            </a:avLst>
          </a:prstGeom>
          <a:solidFill>
            <a:srgbClr val="E4F2FB"/>
          </a:solidFill>
          <a:ln w="15240">
            <a:solidFill>
              <a:srgbClr val="0072B2"/>
            </a:solidFill>
            <a:prstDash val="solid"/>
          </a:ln>
        </p:spPr>
      </p:sp>
      <p:sp>
        <p:nvSpPr>
          <p:cNvPr id="28" name="Text 26"/>
          <p:cNvSpPr txBox="1"/>
          <p:nvPr/>
        </p:nvSpPr>
        <p:spPr>
          <a:xfrm>
            <a:off x="1047600" y="5608101"/>
            <a:ext cx="43056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Data</a:t>
            </a:r>
            <a:endParaRPr lang="en-US" sz="1441" dirty="0"/>
          </a:p>
        </p:txBody>
      </p:sp>
      <p:sp>
        <p:nvSpPr>
          <p:cNvPr id="29" name="Shape 27"/>
          <p:cNvSpPr/>
          <p:nvPr/>
        </p:nvSpPr>
        <p:spPr>
          <a:xfrm>
            <a:off x="1676436" y="5630979"/>
            <a:ext cx="198270" cy="198270"/>
          </a:xfrm>
          <a:prstGeom prst="rect">
            <a:avLst/>
          </a:prstGeom>
          <a:solidFill>
            <a:srgbClr val="E5F7EF"/>
          </a:solidFill>
          <a:ln w="15240">
            <a:solidFill>
              <a:srgbClr val="009E73"/>
            </a:solidFill>
            <a:prstDash val="solid"/>
          </a:ln>
        </p:spPr>
      </p:sp>
      <p:sp>
        <p:nvSpPr>
          <p:cNvPr id="30" name="Text 28"/>
          <p:cNvSpPr txBox="1"/>
          <p:nvPr/>
        </p:nvSpPr>
        <p:spPr>
          <a:xfrm>
            <a:off x="1935711" y="5608101"/>
            <a:ext cx="546304"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Model</a:t>
            </a:r>
            <a:endParaRPr lang="en-US" sz="1441" dirty="0"/>
          </a:p>
        </p:txBody>
      </p:sp>
      <p:sp>
        <p:nvSpPr>
          <p:cNvPr id="31" name="Shape 29"/>
          <p:cNvSpPr/>
          <p:nvPr/>
        </p:nvSpPr>
        <p:spPr>
          <a:xfrm>
            <a:off x="2680284" y="5630979"/>
            <a:ext cx="198270" cy="198270"/>
          </a:xfrm>
          <a:prstGeom prst="roundRect">
            <a:avLst>
              <a:gd name="adj" fmla="val 36895"/>
            </a:avLst>
          </a:prstGeom>
          <a:solidFill>
            <a:srgbClr val="FFF0E6"/>
          </a:solidFill>
          <a:ln w="15240">
            <a:solidFill>
              <a:srgbClr val="D55E00"/>
            </a:solidFill>
            <a:prstDash val="solid"/>
          </a:ln>
        </p:spPr>
      </p:sp>
      <p:sp>
        <p:nvSpPr>
          <p:cNvPr id="32" name="Text 30"/>
          <p:cNvSpPr txBox="1"/>
          <p:nvPr/>
        </p:nvSpPr>
        <p:spPr>
          <a:xfrm>
            <a:off x="2939560" y="5608101"/>
            <a:ext cx="567330"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Check</a:t>
            </a:r>
            <a:endParaRPr lang="en-US" sz="1441" dirty="0"/>
          </a:p>
        </p:txBody>
      </p:sp>
      <p:sp>
        <p:nvSpPr>
          <p:cNvPr id="33" name="Shape 31"/>
          <p:cNvSpPr/>
          <p:nvPr/>
        </p:nvSpPr>
        <p:spPr>
          <a:xfrm>
            <a:off x="3705159" y="5630979"/>
            <a:ext cx="198270" cy="198270"/>
          </a:xfrm>
          <a:prstGeom prst="roundRect">
            <a:avLst>
              <a:gd name="adj" fmla="val 36895"/>
            </a:avLst>
          </a:prstGeom>
          <a:solidFill>
            <a:srgbClr val="F9EAF4"/>
          </a:solidFill>
          <a:ln w="15240">
            <a:solidFill>
              <a:srgbClr val="CC79A7"/>
            </a:solidFill>
            <a:prstDash val="solid"/>
          </a:ln>
        </p:spPr>
      </p:sp>
      <p:sp>
        <p:nvSpPr>
          <p:cNvPr id="34" name="Text 32"/>
          <p:cNvSpPr txBox="1"/>
          <p:nvPr/>
        </p:nvSpPr>
        <p:spPr>
          <a:xfrm>
            <a:off x="3964435" y="5608101"/>
            <a:ext cx="599153"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Output</a:t>
            </a:r>
            <a:endParaRPr lang="en-US" sz="1441" dirty="0"/>
          </a:p>
        </p:txBody>
      </p:sp>
      <p:sp>
        <p:nvSpPr>
          <p:cNvPr id="35" name="Shape 33"/>
          <p:cNvSpPr/>
          <p:nvPr/>
        </p:nvSpPr>
        <p:spPr>
          <a:xfrm>
            <a:off x="4761857" y="5730113"/>
            <a:ext cx="335533" cy="0"/>
          </a:xfrm>
          <a:prstGeom prst="line">
            <a:avLst/>
          </a:prstGeom>
          <a:noFill/>
          <a:ln w="22860">
            <a:solidFill>
              <a:srgbClr val="009E73"/>
            </a:solidFill>
            <a:prstDash val="solid"/>
            <a:tailEnd type="triangle"/>
          </a:ln>
        </p:spPr>
      </p:sp>
      <p:sp>
        <p:nvSpPr>
          <p:cNvPr id="36" name="Text 34"/>
          <p:cNvSpPr txBox="1"/>
          <p:nvPr/>
        </p:nvSpPr>
        <p:spPr>
          <a:xfrm>
            <a:off x="5158396" y="5608101"/>
            <a:ext cx="43037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Flow</a:t>
            </a:r>
            <a:endParaRPr lang="en-US" sz="1441" dirty="0"/>
          </a:p>
        </p:txBody>
      </p:sp>
      <p:sp>
        <p:nvSpPr>
          <p:cNvPr id="37" name="Text 35"/>
          <p:cNvSpPr txBox="1"/>
          <p:nvPr/>
        </p:nvSpPr>
        <p:spPr>
          <a:xfrm>
            <a:off x="548640" y="5925312"/>
            <a:ext cx="11094415" cy="475488"/>
          </a:xfrm>
          <a:prstGeom prst="rect">
            <a:avLst/>
          </a:prstGeom>
          <a:noFill/>
          <a:ln/>
        </p:spPr>
        <p:txBody>
          <a:bodyPr wrap="square" lIns="0" tIns="0" rIns="0" bIns="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Check: Does matching imply truth?</a:t>
            </a:r>
            <a:endParaRPr lang="en-US" sz="17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10  ·  MULTIMODAL GENERATIVE AI APPLICATIONS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44</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Lab 10: multimodal generative tasks, measured</a:t>
            </a:r>
            <a:endParaRPr lang="en-US" sz="3200" dirty="0"/>
          </a:p>
        </p:txBody>
      </p:sp>
      <p:sp>
        <p:nvSpPr>
          <p:cNvPr id="6" name="Shape 4"/>
          <p:cNvSpPr/>
          <p:nvPr/>
        </p:nvSpPr>
        <p:spPr>
          <a:xfrm>
            <a:off x="548640" y="1527048"/>
            <a:ext cx="411480" cy="411480"/>
          </a:xfrm>
          <a:prstGeom prst="ellipse">
            <a:avLst/>
          </a:prstGeom>
          <a:solidFill>
            <a:srgbClr val="0F766E"/>
          </a:solidFill>
          <a:ln w="12700">
            <a:solidFill>
              <a:srgbClr val="0F766E"/>
            </a:solidFill>
            <a:prstDash val="solid"/>
          </a:ln>
        </p:spPr>
      </p:sp>
      <p:sp>
        <p:nvSpPr>
          <p:cNvPr id="7" name="Text 5"/>
          <p:cNvSpPr txBox="1"/>
          <p:nvPr/>
        </p:nvSpPr>
        <p:spPr>
          <a:xfrm>
            <a:off x="548640" y="1527048"/>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txBox="1"/>
          <p:nvPr/>
        </p:nvSpPr>
        <p:spPr>
          <a:xfrm>
            <a:off x="1143000" y="1481328"/>
            <a:ext cx="6583680" cy="868680"/>
          </a:xfrm>
          <a:prstGeom prst="rect">
            <a:avLst/>
          </a:prstGeom>
          <a:noFill/>
          <a:ln/>
        </p:spPr>
        <p:txBody>
          <a:bodyPr wrap="square" lIns="50800" tIns="50800" rIns="50800" bIns="50800" rtlCol="0" anchor="t"/>
          <a:lstStyle/>
          <a:p>
            <a:pPr indent="0" marL="0">
              <a:buNone/>
            </a:pPr>
            <a:r>
              <a:rPr lang="en-US" sz="2000" dirty="0">
                <a:solidFill>
                  <a:srgbClr val="1F2937"/>
                </a:solidFill>
                <a:latin typeface="Calibri" pitchFamily="34" charset="0"/>
                <a:ea typeface="Calibri" pitchFamily="34" charset="-122"/>
                <a:cs typeface="Calibri" pitchFamily="34" charset="-120"/>
              </a:rPr>
              <a:t>Core: read images.</a:t>
            </a:r>
            <a:endParaRPr lang="en-US" sz="2000" dirty="0"/>
          </a:p>
        </p:txBody>
      </p:sp>
      <p:sp>
        <p:nvSpPr>
          <p:cNvPr id="9" name="Shape 7"/>
          <p:cNvSpPr/>
          <p:nvPr/>
        </p:nvSpPr>
        <p:spPr>
          <a:xfrm>
            <a:off x="548640" y="2395728"/>
            <a:ext cx="411480" cy="411480"/>
          </a:xfrm>
          <a:prstGeom prst="ellipse">
            <a:avLst/>
          </a:prstGeom>
          <a:solidFill>
            <a:srgbClr val="0F766E"/>
          </a:solidFill>
          <a:ln w="12700">
            <a:solidFill>
              <a:srgbClr val="0F766E"/>
            </a:solidFill>
            <a:prstDash val="solid"/>
          </a:ln>
        </p:spPr>
      </p:sp>
      <p:sp>
        <p:nvSpPr>
          <p:cNvPr id="10" name="Text 8"/>
          <p:cNvSpPr txBox="1"/>
          <p:nvPr/>
        </p:nvSpPr>
        <p:spPr>
          <a:xfrm>
            <a:off x="548640" y="2395728"/>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txBox="1"/>
          <p:nvPr/>
        </p:nvSpPr>
        <p:spPr>
          <a:xfrm>
            <a:off x="1143000" y="2350008"/>
            <a:ext cx="6583680" cy="868680"/>
          </a:xfrm>
          <a:prstGeom prst="rect">
            <a:avLst/>
          </a:prstGeom>
          <a:noFill/>
          <a:ln/>
        </p:spPr>
        <p:txBody>
          <a:bodyPr wrap="square" lIns="50800" tIns="50800" rIns="50800" bIns="50800" rtlCol="0" anchor="t"/>
          <a:lstStyle/>
          <a:p>
            <a:pPr indent="0" marL="0">
              <a:buNone/>
            </a:pPr>
            <a:r>
              <a:rPr lang="en-US" sz="2000" dirty="0">
                <a:solidFill>
                  <a:srgbClr val="1F2937"/>
                </a:solidFill>
                <a:latin typeface="Calibri" pitchFamily="34" charset="0"/>
                <a:ea typeface="Calibri" pitchFamily="34" charset="-122"/>
                <a:cs typeface="Calibri" pitchFamily="34" charset="-120"/>
              </a:rPr>
              <a:t>Core: verify facts.</a:t>
            </a:r>
            <a:endParaRPr lang="en-US" sz="2000" dirty="0"/>
          </a:p>
        </p:txBody>
      </p:sp>
      <p:sp>
        <p:nvSpPr>
          <p:cNvPr id="12" name="Shape 10"/>
          <p:cNvSpPr/>
          <p:nvPr/>
        </p:nvSpPr>
        <p:spPr>
          <a:xfrm>
            <a:off x="548640" y="3264408"/>
            <a:ext cx="411480" cy="411480"/>
          </a:xfrm>
          <a:prstGeom prst="ellipse">
            <a:avLst/>
          </a:prstGeom>
          <a:solidFill>
            <a:srgbClr val="0F766E"/>
          </a:solidFill>
          <a:ln w="12700">
            <a:solidFill>
              <a:srgbClr val="0F766E"/>
            </a:solidFill>
            <a:prstDash val="solid"/>
          </a:ln>
        </p:spPr>
      </p:sp>
      <p:sp>
        <p:nvSpPr>
          <p:cNvPr id="13" name="Text 11"/>
          <p:cNvSpPr txBox="1"/>
          <p:nvPr/>
        </p:nvSpPr>
        <p:spPr>
          <a:xfrm>
            <a:off x="548640" y="3264408"/>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txBox="1"/>
          <p:nvPr/>
        </p:nvSpPr>
        <p:spPr>
          <a:xfrm>
            <a:off x="1143000" y="3218688"/>
            <a:ext cx="6583680" cy="868680"/>
          </a:xfrm>
          <a:prstGeom prst="rect">
            <a:avLst/>
          </a:prstGeom>
          <a:noFill/>
          <a:ln/>
        </p:spPr>
        <p:txBody>
          <a:bodyPr wrap="square" lIns="50800" tIns="50800" rIns="50800" bIns="50800" rtlCol="0" anchor="t"/>
          <a:lstStyle/>
          <a:p>
            <a:pPr indent="0" marL="0">
              <a:buNone/>
            </a:pPr>
            <a:r>
              <a:rPr lang="en-US" sz="2000" dirty="0">
                <a:solidFill>
                  <a:srgbClr val="1F2937"/>
                </a:solidFill>
                <a:latin typeface="Calibri" pitchFamily="34" charset="0"/>
                <a:ea typeface="Calibri" pitchFamily="34" charset="-122"/>
                <a:cs typeface="Calibri" pitchFamily="34" charset="-120"/>
              </a:rPr>
              <a:t>Inspect stored experiments.</a:t>
            </a:r>
            <a:endParaRPr lang="en-US" sz="2000" dirty="0"/>
          </a:p>
        </p:txBody>
      </p:sp>
      <p:sp>
        <p:nvSpPr>
          <p:cNvPr id="15" name="Shape 13"/>
          <p:cNvSpPr/>
          <p:nvPr/>
        </p:nvSpPr>
        <p:spPr>
          <a:xfrm>
            <a:off x="548640" y="4133088"/>
            <a:ext cx="411480" cy="411480"/>
          </a:xfrm>
          <a:prstGeom prst="ellipse">
            <a:avLst/>
          </a:prstGeom>
          <a:solidFill>
            <a:srgbClr val="0F766E"/>
          </a:solidFill>
          <a:ln w="12700">
            <a:solidFill>
              <a:srgbClr val="0F766E"/>
            </a:solidFill>
            <a:prstDash val="solid"/>
          </a:ln>
        </p:spPr>
      </p:sp>
      <p:sp>
        <p:nvSpPr>
          <p:cNvPr id="16" name="Text 14"/>
          <p:cNvSpPr txBox="1"/>
          <p:nvPr/>
        </p:nvSpPr>
        <p:spPr>
          <a:xfrm>
            <a:off x="548640" y="4133088"/>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7" name="Text 15"/>
          <p:cNvSpPr txBox="1"/>
          <p:nvPr/>
        </p:nvSpPr>
        <p:spPr>
          <a:xfrm>
            <a:off x="1143000" y="4087368"/>
            <a:ext cx="6583680" cy="868680"/>
          </a:xfrm>
          <a:prstGeom prst="rect">
            <a:avLst/>
          </a:prstGeom>
          <a:noFill/>
          <a:ln/>
        </p:spPr>
        <p:txBody>
          <a:bodyPr wrap="square" lIns="50800" tIns="50800" rIns="50800" bIns="50800" rtlCol="0" anchor="t"/>
          <a:lstStyle/>
          <a:p>
            <a:pPr indent="0" marL="0">
              <a:buNone/>
            </a:pPr>
            <a:r>
              <a:rPr lang="en-US" sz="2000" dirty="0">
                <a:solidFill>
                  <a:srgbClr val="1F2937"/>
                </a:solidFill>
                <a:latin typeface="Calibri" pitchFamily="34" charset="0"/>
                <a:ea typeface="Calibri" pitchFamily="34" charset="-122"/>
                <a:cs typeface="Calibri" pitchFamily="34" charset="-120"/>
              </a:rPr>
              <a:t>Stretch: images and speech.</a:t>
            </a:r>
            <a:endParaRPr lang="en-US" sz="2000" dirty="0"/>
          </a:p>
        </p:txBody>
      </p:sp>
      <p:sp>
        <p:nvSpPr>
          <p:cNvPr id="18" name="Shape 16"/>
          <p:cNvSpPr/>
          <p:nvPr/>
        </p:nvSpPr>
        <p:spPr>
          <a:xfrm>
            <a:off x="8046720" y="1481328"/>
            <a:ext cx="3596335" cy="4828032"/>
          </a:xfrm>
          <a:prstGeom prst="roundRect">
            <a:avLst>
              <a:gd name="adj" fmla="val 3051"/>
            </a:avLst>
          </a:prstGeom>
          <a:solidFill>
            <a:srgbClr val="E6F4F1"/>
          </a:solidFill>
          <a:ln w="12700">
            <a:solidFill>
              <a:srgbClr val="E6F4F1"/>
            </a:solidFill>
            <a:prstDash val="solid"/>
          </a:ln>
        </p:spPr>
      </p:sp>
      <p:sp>
        <p:nvSpPr>
          <p:cNvPr id="19" name="Shape 17"/>
          <p:cNvSpPr/>
          <p:nvPr/>
        </p:nvSpPr>
        <p:spPr>
          <a:xfrm>
            <a:off x="8229600" y="1709928"/>
            <a:ext cx="502920" cy="502920"/>
          </a:xfrm>
          <a:prstGeom prst="ellipse">
            <a:avLst/>
          </a:prstGeom>
          <a:solidFill>
            <a:srgbClr val="0F766E"/>
          </a:solidFill>
          <a:ln w="12700">
            <a:solidFill>
              <a:srgbClr val="0F766E"/>
            </a:solidFill>
            <a:prstDash val="solid"/>
          </a:ln>
        </p:spPr>
      </p:sp>
      <p:pic>
        <p:nvPicPr>
          <p:cNvPr id="20" name="Image 0" descr="preencoded.png">    </p:cNvPr>
          <p:cNvPicPr>
            <a:picLocks noChangeAspect="1"/>
          </p:cNvPicPr>
          <p:nvPr/>
        </p:nvPicPr>
        <p:blipFill>
          <a:blip r:embed="rId1"/>
          <a:stretch>
            <a:fillRect/>
          </a:stretch>
        </p:blipFill>
        <p:spPr>
          <a:xfrm>
            <a:off x="8350301" y="1830629"/>
            <a:ext cx="261518" cy="261518"/>
          </a:xfrm>
          <a:prstGeom prst="rect">
            <a:avLst/>
          </a:prstGeom>
        </p:spPr>
      </p:pic>
      <p:sp>
        <p:nvSpPr>
          <p:cNvPr id="21" name="Text 18"/>
          <p:cNvSpPr txBox="1"/>
          <p:nvPr/>
        </p:nvSpPr>
        <p:spPr>
          <a:xfrm>
            <a:off x="8869680" y="1664208"/>
            <a:ext cx="2681935" cy="365760"/>
          </a:xfrm>
          <a:prstGeom prst="rect">
            <a:avLst/>
          </a:prstGeom>
          <a:noFill/>
          <a:ln/>
        </p:spPr>
        <p:txBody>
          <a:bodyPr wrap="square" lIns="50800" tIns="50800" rIns="50800" bIns="50800" rtlCol="0" anchor="t"/>
          <a:lstStyle/>
          <a:p>
            <a:pPr indent="0" marL="0">
              <a:buNone/>
            </a:pPr>
            <a:r>
              <a:rPr lang="en-US" sz="1500" b="1" dirty="0">
                <a:solidFill>
                  <a:srgbClr val="1E1B4B"/>
                </a:solidFill>
                <a:latin typeface="Calibri" pitchFamily="34" charset="0"/>
                <a:ea typeface="Calibri" pitchFamily="34" charset="-122"/>
                <a:cs typeface="Calibri" pitchFamily="34" charset="-120"/>
              </a:rPr>
              <a:t>Runtime</a:t>
            </a:r>
            <a:endParaRPr lang="en-US" sz="1500" dirty="0"/>
          </a:p>
        </p:txBody>
      </p:sp>
      <p:sp>
        <p:nvSpPr>
          <p:cNvPr id="22" name="Text 19"/>
          <p:cNvSpPr txBox="1"/>
          <p:nvPr/>
        </p:nvSpPr>
        <p:spPr>
          <a:xfrm>
            <a:off x="8869680" y="2011680"/>
            <a:ext cx="2636215" cy="1106424"/>
          </a:xfrm>
          <a:prstGeom prst="rect">
            <a:avLst/>
          </a:prstGeom>
          <a:noFill/>
          <a:ln/>
        </p:spPr>
        <p:txBody>
          <a:bodyPr wrap="square" lIns="50800" tIns="50800" rIns="50800" bIns="50800" rtlCol="0" anchor="t"/>
          <a:lstStyle/>
          <a:p>
            <a:pPr indent="0" marL="0">
              <a:buNone/>
            </a:pPr>
            <a:r>
              <a:rPr lang="en-US" sz="1400" dirty="0">
                <a:solidFill>
                  <a:srgbClr val="1F2937"/>
                </a:solidFill>
                <a:latin typeface="Calibri" pitchFamily="34" charset="0"/>
                <a:ea typeface="Calibri" pitchFamily="34" charset="-122"/>
                <a:cs typeface="Calibri" pitchFamily="34" charset="-120"/>
              </a:rPr>
              <a:t>CPU core: 2.9 minutes.</a:t>
            </a:r>
            <a:endParaRPr lang="en-US" sz="1400" dirty="0"/>
          </a:p>
        </p:txBody>
      </p:sp>
      <p:sp>
        <p:nvSpPr>
          <p:cNvPr id="23" name="Shape 20"/>
          <p:cNvSpPr/>
          <p:nvPr/>
        </p:nvSpPr>
        <p:spPr>
          <a:xfrm>
            <a:off x="8229600" y="3227832"/>
            <a:ext cx="502920" cy="502920"/>
          </a:xfrm>
          <a:prstGeom prst="ellipse">
            <a:avLst/>
          </a:prstGeom>
          <a:solidFill>
            <a:srgbClr val="0F766E"/>
          </a:solidFill>
          <a:ln w="12700">
            <a:solidFill>
              <a:srgbClr val="0F766E"/>
            </a:solidFill>
            <a:prstDash val="solid"/>
          </a:ln>
        </p:spPr>
      </p:sp>
      <p:pic>
        <p:nvPicPr>
          <p:cNvPr id="24" name="Image 1" descr="preencoded.png">    </p:cNvPr>
          <p:cNvPicPr>
            <a:picLocks noChangeAspect="1"/>
          </p:cNvPicPr>
          <p:nvPr/>
        </p:nvPicPr>
        <p:blipFill>
          <a:blip r:embed="rId2"/>
          <a:stretch>
            <a:fillRect/>
          </a:stretch>
        </p:blipFill>
        <p:spPr>
          <a:xfrm>
            <a:off x="8350301" y="3348533"/>
            <a:ext cx="261518" cy="261518"/>
          </a:xfrm>
          <a:prstGeom prst="rect">
            <a:avLst/>
          </a:prstGeom>
        </p:spPr>
      </p:pic>
      <p:sp>
        <p:nvSpPr>
          <p:cNvPr id="25" name="Text 21"/>
          <p:cNvSpPr txBox="1"/>
          <p:nvPr/>
        </p:nvSpPr>
        <p:spPr>
          <a:xfrm>
            <a:off x="8869680" y="3182112"/>
            <a:ext cx="2681935" cy="365760"/>
          </a:xfrm>
          <a:prstGeom prst="rect">
            <a:avLst/>
          </a:prstGeom>
          <a:noFill/>
          <a:ln/>
        </p:spPr>
        <p:txBody>
          <a:bodyPr wrap="square" lIns="50800" tIns="50800" rIns="50800" bIns="50800" rtlCol="0" anchor="t"/>
          <a:lstStyle/>
          <a:p>
            <a:pPr indent="0" marL="0">
              <a:buNone/>
            </a:pPr>
            <a:r>
              <a:rPr lang="en-US" sz="1500" b="1" dirty="0">
                <a:solidFill>
                  <a:srgbClr val="1E1B4B"/>
                </a:solidFill>
                <a:latin typeface="Calibri" pitchFamily="34" charset="0"/>
                <a:ea typeface="Calibri" pitchFamily="34" charset="-122"/>
                <a:cs typeface="Calibri" pitchFamily="34" charset="-120"/>
              </a:rPr>
              <a:t>Time</a:t>
            </a:r>
            <a:endParaRPr lang="en-US" sz="1500" dirty="0"/>
          </a:p>
        </p:txBody>
      </p:sp>
      <p:sp>
        <p:nvSpPr>
          <p:cNvPr id="26" name="Text 22"/>
          <p:cNvSpPr txBox="1"/>
          <p:nvPr/>
        </p:nvSpPr>
        <p:spPr>
          <a:xfrm>
            <a:off x="8869680" y="3529584"/>
            <a:ext cx="2636215" cy="1106424"/>
          </a:xfrm>
          <a:prstGeom prst="rect">
            <a:avLst/>
          </a:prstGeom>
          <a:noFill/>
          <a:ln/>
        </p:spPr>
        <p:txBody>
          <a:bodyPr wrap="square" lIns="50800" tIns="50800" rIns="50800" bIns="50800" rtlCol="0" anchor="t"/>
          <a:lstStyle/>
          <a:p>
            <a:pPr indent="0" marL="0">
              <a:buNone/>
            </a:pPr>
            <a:r>
              <a:rPr lang="en-US" sz="1400" dirty="0">
                <a:solidFill>
                  <a:srgbClr val="1F2937"/>
                </a:solidFill>
                <a:latin typeface="Calibri" pitchFamily="34" charset="0"/>
                <a:ea typeface="Calibri" pitchFamily="34" charset="-122"/>
                <a:cs typeface="Calibri" pitchFamily="34" charset="-120"/>
              </a:rPr>
              <a:t>2-hour lab</a:t>
            </a:r>
            <a:endParaRPr lang="en-US" sz="1400" dirty="0"/>
          </a:p>
        </p:txBody>
      </p:sp>
      <p:sp>
        <p:nvSpPr>
          <p:cNvPr id="27" name="Shape 23"/>
          <p:cNvSpPr/>
          <p:nvPr/>
        </p:nvSpPr>
        <p:spPr>
          <a:xfrm>
            <a:off x="8229600" y="4745736"/>
            <a:ext cx="502920" cy="502920"/>
          </a:xfrm>
          <a:prstGeom prst="ellipse">
            <a:avLst/>
          </a:prstGeom>
          <a:solidFill>
            <a:srgbClr val="0F766E"/>
          </a:solidFill>
          <a:ln w="12700">
            <a:solidFill>
              <a:srgbClr val="0F766E"/>
            </a:solidFill>
            <a:prstDash val="solid"/>
          </a:ln>
        </p:spPr>
      </p:sp>
      <p:pic>
        <p:nvPicPr>
          <p:cNvPr id="28" name="Image 2" descr="preencoded.png">    </p:cNvPr>
          <p:cNvPicPr>
            <a:picLocks noChangeAspect="1"/>
          </p:cNvPicPr>
          <p:nvPr/>
        </p:nvPicPr>
        <p:blipFill>
          <a:blip r:embed="rId3"/>
          <a:stretch>
            <a:fillRect/>
          </a:stretch>
        </p:blipFill>
        <p:spPr>
          <a:xfrm>
            <a:off x="8350301" y="4866437"/>
            <a:ext cx="261518" cy="261518"/>
          </a:xfrm>
          <a:prstGeom prst="rect">
            <a:avLst/>
          </a:prstGeom>
        </p:spPr>
      </p:pic>
      <p:sp>
        <p:nvSpPr>
          <p:cNvPr id="29" name="Text 24"/>
          <p:cNvSpPr txBox="1"/>
          <p:nvPr/>
        </p:nvSpPr>
        <p:spPr>
          <a:xfrm>
            <a:off x="8869680" y="4700016"/>
            <a:ext cx="2681935" cy="365760"/>
          </a:xfrm>
          <a:prstGeom prst="rect">
            <a:avLst/>
          </a:prstGeom>
          <a:noFill/>
          <a:ln/>
        </p:spPr>
        <p:txBody>
          <a:bodyPr wrap="square" lIns="50800" tIns="50800" rIns="50800" bIns="50800" rtlCol="0" anchor="t"/>
          <a:lstStyle/>
          <a:p>
            <a:pPr indent="0" marL="0">
              <a:buNone/>
            </a:pPr>
            <a:r>
              <a:rPr lang="en-US" sz="1500" b="1" dirty="0">
                <a:solidFill>
                  <a:srgbClr val="1E1B4B"/>
                </a:solidFill>
                <a:latin typeface="Calibri" pitchFamily="34" charset="0"/>
                <a:ea typeface="Calibri" pitchFamily="34" charset="-122"/>
                <a:cs typeface="Calibri" pitchFamily="34" charset="-120"/>
              </a:rPr>
              <a:t>Hand in</a:t>
            </a:r>
            <a:endParaRPr lang="en-US" sz="1500" dirty="0"/>
          </a:p>
        </p:txBody>
      </p:sp>
      <p:sp>
        <p:nvSpPr>
          <p:cNvPr id="30" name="Text 25"/>
          <p:cNvSpPr txBox="1"/>
          <p:nvPr/>
        </p:nvSpPr>
        <p:spPr>
          <a:xfrm>
            <a:off x="8869680" y="5047488"/>
            <a:ext cx="2636215" cy="1106424"/>
          </a:xfrm>
          <a:prstGeom prst="rect">
            <a:avLst/>
          </a:prstGeom>
          <a:noFill/>
          <a:ln/>
        </p:spPr>
        <p:txBody>
          <a:bodyPr wrap="square" lIns="50800" tIns="50800" rIns="50800" bIns="50800" rtlCol="0" anchor="t"/>
          <a:lstStyle/>
          <a:p>
            <a:pPr indent="0" marL="0">
              <a:buNone/>
            </a:pPr>
            <a:r>
              <a:rPr lang="en-US" sz="1400" dirty="0">
                <a:solidFill>
                  <a:srgbClr val="1F2937"/>
                </a:solidFill>
                <a:latin typeface="Calibri" pitchFamily="34" charset="0"/>
                <a:ea typeface="Calibri" pitchFamily="34" charset="-122"/>
                <a:cs typeface="Calibri" pitchFamily="34" charset="-120"/>
              </a:rPr>
              <a:t>Evidence, errors, five self-checks.</a:t>
            </a:r>
            <a:endParaRPr lang="en-US" sz="14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10  ·  MULTIMODAL GENERATIVE AI APPLICATIONS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45</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Read, watch, practise</a:t>
            </a:r>
            <a:endParaRPr lang="en-US" sz="3200" dirty="0"/>
          </a:p>
        </p:txBody>
      </p:sp>
      <p:sp>
        <p:nvSpPr>
          <p:cNvPr id="6" name="Shape 4"/>
          <p:cNvSpPr/>
          <p:nvPr/>
        </p:nvSpPr>
        <p:spPr>
          <a:xfrm>
            <a:off x="548640" y="1554480"/>
            <a:ext cx="457200" cy="457200"/>
          </a:xfrm>
          <a:prstGeom prst="ellipse">
            <a:avLst/>
          </a:prstGeom>
          <a:solidFill>
            <a:srgbClr val="4F46E5"/>
          </a:solidFill>
          <a:ln w="12700">
            <a:solidFill>
              <a:srgbClr val="4F46E5"/>
            </a:solidFill>
            <a:prstDash val="solid"/>
          </a:ln>
        </p:spPr>
      </p:sp>
      <p:pic>
        <p:nvPicPr>
          <p:cNvPr id="7" name="Image 0" descr="preencoded.png">    </p:cNvPr>
          <p:cNvPicPr>
            <a:picLocks noChangeAspect="1"/>
          </p:cNvPicPr>
          <p:nvPr/>
        </p:nvPicPr>
        <p:blipFill>
          <a:blip r:embed="rId1"/>
          <a:stretch>
            <a:fillRect/>
          </a:stretch>
        </p:blipFill>
        <p:spPr>
          <a:xfrm>
            <a:off x="658368" y="1664208"/>
            <a:ext cx="237744" cy="237744"/>
          </a:xfrm>
          <a:prstGeom prst="rect">
            <a:avLst/>
          </a:prstGeom>
        </p:spPr>
      </p:pic>
      <p:sp>
        <p:nvSpPr>
          <p:cNvPr id="8" name="Text 5"/>
          <p:cNvSpPr txBox="1"/>
          <p:nvPr/>
        </p:nvSpPr>
        <p:spPr>
          <a:xfrm>
            <a:off x="1143000" y="1481328"/>
            <a:ext cx="10454335" cy="777240"/>
          </a:xfrm>
          <a:prstGeom prst="rect">
            <a:avLst/>
          </a:prstGeom>
          <a:noFill/>
          <a:ln/>
        </p:spPr>
        <p:txBody>
          <a:bodyPr wrap="square" lIns="50800" tIns="50800" rIns="50800" bIns="50800" rtlCol="0" anchor="ctr"/>
          <a:lstStyle/>
          <a:p>
            <a:pPr indent="0" marL="0">
              <a:buNone/>
            </a:pPr>
            <a:r>
              <a:rPr lang="en-US" sz="1500" b="1" u="sng" dirty="0">
                <a:solidFill>
                  <a:srgbClr val="1E1B4B"/>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SmolVLM model card</a:t>
            </a:r>
            <a:endParaRPr lang="en-US" sz="1500" dirty="0"/>
          </a:p>
          <a:p>
            <a:pPr indent="0" marL="0">
              <a:buNone/>
            </a:pPr>
            <a:r>
              <a:rPr lang="en-US" sz="1400" dirty="0">
                <a:solidFill>
                  <a:srgbClr val="6B7280"/>
                </a:solidFill>
                <a:latin typeface="Calibri" pitchFamily="34" charset="0"/>
                <a:ea typeface="Calibri" pitchFamily="34" charset="-122"/>
                <a:cs typeface="Calibri" pitchFamily="34" charset="-120"/>
              </a:rPr>
              <a:t>Local inference</a:t>
            </a:r>
            <a:endParaRPr lang="en-US" sz="1500" dirty="0"/>
          </a:p>
        </p:txBody>
      </p:sp>
      <p:sp>
        <p:nvSpPr>
          <p:cNvPr id="9" name="Shape 6"/>
          <p:cNvSpPr/>
          <p:nvPr/>
        </p:nvSpPr>
        <p:spPr>
          <a:xfrm>
            <a:off x="548640" y="2377440"/>
            <a:ext cx="457200" cy="457200"/>
          </a:xfrm>
          <a:prstGeom prst="ellipse">
            <a:avLst/>
          </a:prstGeom>
          <a:solidFill>
            <a:srgbClr val="4F46E5"/>
          </a:solidFill>
          <a:ln w="12700">
            <a:solidFill>
              <a:srgbClr val="4F46E5"/>
            </a:solidFill>
            <a:prstDash val="solid"/>
          </a:ln>
        </p:spPr>
      </p:sp>
      <p:pic>
        <p:nvPicPr>
          <p:cNvPr id="10" name="Image 1" descr="preencoded.png">    </p:cNvPr>
          <p:cNvPicPr>
            <a:picLocks noChangeAspect="1"/>
          </p:cNvPicPr>
          <p:nvPr/>
        </p:nvPicPr>
        <p:blipFill>
          <a:blip r:embed="rId3"/>
          <a:stretch>
            <a:fillRect/>
          </a:stretch>
        </p:blipFill>
        <p:spPr>
          <a:xfrm>
            <a:off x="658368" y="2487168"/>
            <a:ext cx="237744" cy="237744"/>
          </a:xfrm>
          <a:prstGeom prst="rect">
            <a:avLst/>
          </a:prstGeom>
        </p:spPr>
      </p:pic>
      <p:sp>
        <p:nvSpPr>
          <p:cNvPr id="11" name="Text 7"/>
          <p:cNvSpPr txBox="1"/>
          <p:nvPr/>
        </p:nvSpPr>
        <p:spPr>
          <a:xfrm>
            <a:off x="1143000" y="2304288"/>
            <a:ext cx="10454335" cy="777240"/>
          </a:xfrm>
          <a:prstGeom prst="rect">
            <a:avLst/>
          </a:prstGeom>
          <a:noFill/>
          <a:ln/>
        </p:spPr>
        <p:txBody>
          <a:bodyPr wrap="square" lIns="50800" tIns="50800" rIns="50800" bIns="50800" rtlCol="0" anchor="ctr"/>
          <a:lstStyle/>
          <a:p>
            <a:pPr indent="0" marL="0">
              <a:buNone/>
            </a:pPr>
            <a:r>
              <a:rPr lang="en-US" sz="1500" b="1" u="sng" dirty="0">
                <a:solidFill>
                  <a:srgbClr val="1E1B4B"/>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CLIP paper</a:t>
            </a:r>
            <a:endParaRPr lang="en-US" sz="1500" dirty="0"/>
          </a:p>
          <a:p>
            <a:pPr indent="0" marL="0">
              <a:buNone/>
            </a:pPr>
            <a:r>
              <a:rPr lang="en-US" sz="1400" dirty="0">
                <a:solidFill>
                  <a:srgbClr val="6B7280"/>
                </a:solidFill>
                <a:latin typeface="Calibri" pitchFamily="34" charset="0"/>
                <a:ea typeface="Calibri" pitchFamily="34" charset="-122"/>
                <a:cs typeface="Calibri" pitchFamily="34" charset="-120"/>
              </a:rPr>
              <a:t>Alignment limits</a:t>
            </a:r>
            <a:endParaRPr lang="en-US" sz="1500" dirty="0"/>
          </a:p>
        </p:txBody>
      </p:sp>
      <p:sp>
        <p:nvSpPr>
          <p:cNvPr id="12" name="Shape 8"/>
          <p:cNvSpPr/>
          <p:nvPr/>
        </p:nvSpPr>
        <p:spPr>
          <a:xfrm>
            <a:off x="548640" y="3200400"/>
            <a:ext cx="457200" cy="457200"/>
          </a:xfrm>
          <a:prstGeom prst="ellipse">
            <a:avLst/>
          </a:prstGeom>
          <a:solidFill>
            <a:srgbClr val="4F46E5"/>
          </a:solidFill>
          <a:ln w="12700">
            <a:solidFill>
              <a:srgbClr val="4F46E5"/>
            </a:solidFill>
            <a:prstDash val="solid"/>
          </a:ln>
        </p:spPr>
      </p:sp>
      <p:pic>
        <p:nvPicPr>
          <p:cNvPr id="13" name="Image 2" descr="preencoded.png">    </p:cNvPr>
          <p:cNvPicPr>
            <a:picLocks noChangeAspect="1"/>
          </p:cNvPicPr>
          <p:nvPr/>
        </p:nvPicPr>
        <p:blipFill>
          <a:blip r:embed="rId5"/>
          <a:stretch>
            <a:fillRect/>
          </a:stretch>
        </p:blipFill>
        <p:spPr>
          <a:xfrm>
            <a:off x="658368" y="3310128"/>
            <a:ext cx="237744" cy="237744"/>
          </a:xfrm>
          <a:prstGeom prst="rect">
            <a:avLst/>
          </a:prstGeom>
        </p:spPr>
      </p:pic>
      <p:sp>
        <p:nvSpPr>
          <p:cNvPr id="14" name="Text 9"/>
          <p:cNvSpPr txBox="1"/>
          <p:nvPr/>
        </p:nvSpPr>
        <p:spPr>
          <a:xfrm>
            <a:off x="1143000" y="3127248"/>
            <a:ext cx="10454335" cy="777240"/>
          </a:xfrm>
          <a:prstGeom prst="rect">
            <a:avLst/>
          </a:prstGeom>
          <a:noFill/>
          <a:ln/>
        </p:spPr>
        <p:txBody>
          <a:bodyPr wrap="square" lIns="50800" tIns="50800" rIns="50800" bIns="50800" rtlCol="0" anchor="ctr"/>
          <a:lstStyle/>
          <a:p>
            <a:pPr indent="0" marL="0">
              <a:buNone/>
            </a:pPr>
            <a:r>
              <a:rPr lang="en-US" sz="1500" b="1" u="sng" dirty="0">
                <a:solidFill>
                  <a:srgbClr val="1E1B4B"/>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Visual instruction tuning</a:t>
            </a:r>
            <a:endParaRPr lang="en-US" sz="1500" dirty="0"/>
          </a:p>
          <a:p>
            <a:pPr indent="0" marL="0">
              <a:buNone/>
            </a:pPr>
            <a:r>
              <a:rPr lang="en-US" sz="1400" dirty="0">
                <a:solidFill>
                  <a:srgbClr val="6B7280"/>
                </a:solidFill>
                <a:latin typeface="Calibri" pitchFamily="34" charset="0"/>
                <a:ea typeface="Calibri" pitchFamily="34" charset="-122"/>
                <a:cs typeface="Calibri" pitchFamily="34" charset="-120"/>
              </a:rPr>
              <a:t>Training recipe</a:t>
            </a:r>
            <a:endParaRPr lang="en-US" sz="1500" dirty="0"/>
          </a:p>
        </p:txBody>
      </p:sp>
      <p:sp>
        <p:nvSpPr>
          <p:cNvPr id="15" name="Shape 10"/>
          <p:cNvSpPr/>
          <p:nvPr/>
        </p:nvSpPr>
        <p:spPr>
          <a:xfrm>
            <a:off x="548640" y="4023360"/>
            <a:ext cx="457200" cy="457200"/>
          </a:xfrm>
          <a:prstGeom prst="ellipse">
            <a:avLst/>
          </a:prstGeom>
          <a:solidFill>
            <a:srgbClr val="4F46E5"/>
          </a:solidFill>
          <a:ln w="12700">
            <a:solidFill>
              <a:srgbClr val="4F46E5"/>
            </a:solidFill>
            <a:prstDash val="solid"/>
          </a:ln>
        </p:spPr>
      </p:sp>
      <p:pic>
        <p:nvPicPr>
          <p:cNvPr id="16" name="Image 3" descr="preencoded.png">    </p:cNvPr>
          <p:cNvPicPr>
            <a:picLocks noChangeAspect="1"/>
          </p:cNvPicPr>
          <p:nvPr/>
        </p:nvPicPr>
        <p:blipFill>
          <a:blip r:embed="rId7"/>
          <a:stretch>
            <a:fillRect/>
          </a:stretch>
        </p:blipFill>
        <p:spPr>
          <a:xfrm>
            <a:off x="658368" y="4133088"/>
            <a:ext cx="237744" cy="237744"/>
          </a:xfrm>
          <a:prstGeom prst="rect">
            <a:avLst/>
          </a:prstGeom>
        </p:spPr>
      </p:pic>
      <p:sp>
        <p:nvSpPr>
          <p:cNvPr id="17" name="Text 11"/>
          <p:cNvSpPr txBox="1"/>
          <p:nvPr/>
        </p:nvSpPr>
        <p:spPr>
          <a:xfrm>
            <a:off x="1143000" y="3950208"/>
            <a:ext cx="10454335" cy="777240"/>
          </a:xfrm>
          <a:prstGeom prst="rect">
            <a:avLst/>
          </a:prstGeom>
          <a:noFill/>
          <a:ln/>
        </p:spPr>
        <p:txBody>
          <a:bodyPr wrap="square" lIns="50800" tIns="50800" rIns="50800" bIns="50800" rtlCol="0" anchor="ctr"/>
          <a:lstStyle/>
          <a:p>
            <a:pPr indent="0" marL="0">
              <a:buNone/>
            </a:pPr>
            <a:r>
              <a:rPr lang="en-US" sz="1500" b="1" u="sng" dirty="0">
                <a:solidFill>
                  <a:srgbClr val="1E1B4B"/>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C2PA specification</a:t>
            </a:r>
            <a:endParaRPr lang="en-US" sz="1500" dirty="0"/>
          </a:p>
          <a:p>
            <a:pPr indent="0" marL="0">
              <a:buNone/>
            </a:pPr>
            <a:r>
              <a:rPr lang="en-US" sz="1400" dirty="0">
                <a:solidFill>
                  <a:srgbClr val="6B7280"/>
                </a:solidFill>
                <a:latin typeface="Calibri" pitchFamily="34" charset="0"/>
                <a:ea typeface="Calibri" pitchFamily="34" charset="-122"/>
                <a:cs typeface="Calibri" pitchFamily="34" charset="-120"/>
              </a:rPr>
              <a:t>Origin assertions</a:t>
            </a:r>
            <a:endParaRPr lang="en-US" sz="1500" dirty="0"/>
          </a:p>
        </p:txBody>
      </p:sp>
      <p:sp>
        <p:nvSpPr>
          <p:cNvPr id="18" name="Shape 12"/>
          <p:cNvSpPr/>
          <p:nvPr/>
        </p:nvSpPr>
        <p:spPr>
          <a:xfrm>
            <a:off x="548640" y="4846320"/>
            <a:ext cx="457200" cy="457200"/>
          </a:xfrm>
          <a:prstGeom prst="ellipse">
            <a:avLst/>
          </a:prstGeom>
          <a:solidFill>
            <a:srgbClr val="DC2626"/>
          </a:solidFill>
          <a:ln w="12700">
            <a:solidFill>
              <a:srgbClr val="DC2626"/>
            </a:solidFill>
            <a:prstDash val="solid"/>
          </a:ln>
        </p:spPr>
      </p:sp>
      <p:pic>
        <p:nvPicPr>
          <p:cNvPr id="19" name="Image 4" descr="preencoded.png">    </p:cNvPr>
          <p:cNvPicPr>
            <a:picLocks noChangeAspect="1"/>
          </p:cNvPicPr>
          <p:nvPr/>
        </p:nvPicPr>
        <p:blipFill>
          <a:blip r:embed="rId9"/>
          <a:stretch>
            <a:fillRect/>
          </a:stretch>
        </p:blipFill>
        <p:spPr>
          <a:xfrm>
            <a:off x="658368" y="4956048"/>
            <a:ext cx="237744" cy="237744"/>
          </a:xfrm>
          <a:prstGeom prst="rect">
            <a:avLst/>
          </a:prstGeom>
        </p:spPr>
      </p:pic>
      <p:sp>
        <p:nvSpPr>
          <p:cNvPr id="20" name="Text 13"/>
          <p:cNvSpPr txBox="1"/>
          <p:nvPr/>
        </p:nvSpPr>
        <p:spPr>
          <a:xfrm>
            <a:off x="1143000" y="4773168"/>
            <a:ext cx="10454335" cy="777240"/>
          </a:xfrm>
          <a:prstGeom prst="rect">
            <a:avLst/>
          </a:prstGeom>
          <a:noFill/>
          <a:ln/>
        </p:spPr>
        <p:txBody>
          <a:bodyPr wrap="square" lIns="50800" tIns="50800" rIns="50800" bIns="50800" rtlCol="0" anchor="ctr"/>
          <a:lstStyle/>
          <a:p>
            <a:pPr indent="0" marL="0">
              <a:buNone/>
            </a:pPr>
            <a:r>
              <a:rPr lang="en-US" sz="1500" b="1" u="sng" dirty="0">
                <a:solidFill>
                  <a:srgbClr val="1E1B4B"/>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MIT 6.S191: Generative AI</a:t>
            </a:r>
            <a:endParaRPr lang="en-US" sz="1500" dirty="0"/>
          </a:p>
          <a:p>
            <a:pPr indent="0" marL="0">
              <a:buNone/>
            </a:pPr>
            <a:r>
              <a:rPr lang="en-US" sz="1400" dirty="0">
                <a:solidFill>
                  <a:srgbClr val="6B7280"/>
                </a:solidFill>
                <a:latin typeface="Calibri" pitchFamily="34" charset="0"/>
                <a:ea typeface="Calibri" pitchFamily="34" charset="-122"/>
                <a:cs typeface="Calibri" pitchFamily="34" charset="-120"/>
              </a:rPr>
              <a:t>Worked lecture</a:t>
            </a:r>
            <a:endParaRPr lang="en-US" sz="15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10  ·  MULTIMODAL GENERATIVE AI APPLICATIONS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46</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Week 10: media with checks</a:t>
            </a:r>
            <a:endParaRPr lang="en-US" sz="3200" dirty="0"/>
          </a:p>
        </p:txBody>
      </p:sp>
      <p:sp>
        <p:nvSpPr>
          <p:cNvPr id="6" name="Shape 4"/>
          <p:cNvSpPr/>
          <p:nvPr/>
        </p:nvSpPr>
        <p:spPr>
          <a:xfrm>
            <a:off x="946879" y="1630142"/>
            <a:ext cx="3323515" cy="1376531"/>
          </a:xfrm>
          <a:prstGeom prst="rect">
            <a:avLst/>
          </a:prstGeom>
          <a:solidFill>
            <a:srgbClr val="E5F7EF"/>
          </a:solidFill>
          <a:ln w="15240">
            <a:solidFill>
              <a:srgbClr val="009E73"/>
            </a:solidFill>
            <a:prstDash val="solid"/>
          </a:ln>
        </p:spPr>
      </p:sp>
      <p:sp>
        <p:nvSpPr>
          <p:cNvPr id="7" name="Text 5"/>
          <p:cNvSpPr txBox="1"/>
          <p:nvPr/>
        </p:nvSpPr>
        <p:spPr>
          <a:xfrm>
            <a:off x="1080812" y="1674786"/>
            <a:ext cx="3055650" cy="535731"/>
          </a:xfrm>
          <a:prstGeom prst="rect">
            <a:avLst/>
          </a:prstGeom>
          <a:noFill/>
          <a:ln/>
        </p:spPr>
        <p:txBody>
          <a:bodyPr wrap="square" lIns="0" tIns="0" rIns="0" bIns="0" rtlCol="0" anchor="ctr"/>
          <a:lstStyle/>
          <a:p>
            <a:pPr algn="l" indent="0" marL="0">
              <a:lnSpc>
                <a:spcPct val="116000"/>
              </a:lnSpc>
              <a:buNone/>
            </a:pPr>
            <a:r>
              <a:rPr lang="en-US" sz="1758" b="1" dirty="0">
                <a:solidFill>
                  <a:srgbClr val="1E1B4B"/>
                </a:solidFill>
                <a:latin typeface="Arial" pitchFamily="34" charset="0"/>
                <a:ea typeface="Arial" pitchFamily="34" charset="-122"/>
                <a:cs typeface="Arial" pitchFamily="34" charset="-120"/>
              </a:rPr>
              <a:t>Read</a:t>
            </a:r>
            <a:endParaRPr lang="en-US" sz="1758" dirty="0"/>
          </a:p>
        </p:txBody>
      </p:sp>
      <p:sp>
        <p:nvSpPr>
          <p:cNvPr id="8" name="Text 6"/>
          <p:cNvSpPr txBox="1"/>
          <p:nvPr/>
        </p:nvSpPr>
        <p:spPr>
          <a:xfrm>
            <a:off x="1080812" y="2232839"/>
            <a:ext cx="3055650" cy="699426"/>
          </a:xfrm>
          <a:prstGeom prst="rect">
            <a:avLst/>
          </a:prstGeom>
          <a:noFill/>
          <a:ln/>
        </p:spPr>
        <p:txBody>
          <a:bodyPr wrap="square" lIns="0" tIns="0" rIns="0" bIns="0" rtlCol="0" anchor="ctr"/>
          <a:lstStyle/>
          <a:p>
            <a:pPr algn="l" indent="0" marL="0">
              <a:lnSpc>
                <a:spcPct val="116000"/>
              </a:lnSpc>
              <a:buNone/>
            </a:pPr>
            <a:r>
              <a:rPr lang="en-US" sz="1523" dirty="0">
                <a:solidFill>
                  <a:srgbClr val="1F2937"/>
                </a:solidFill>
                <a:latin typeface="Arial" pitchFamily="34" charset="0"/>
                <a:ea typeface="Arial" pitchFamily="34" charset="-122"/>
                <a:cs typeface="Arial" pitchFamily="34" charset="-120"/>
              </a:rPr>
              <a:t>Pixels → words.</a:t>
            </a:r>
            <a:endParaRPr lang="en-US" sz="1523" dirty="0"/>
          </a:p>
        </p:txBody>
      </p:sp>
      <p:sp>
        <p:nvSpPr>
          <p:cNvPr id="9" name="Shape 7"/>
          <p:cNvSpPr/>
          <p:nvPr/>
        </p:nvSpPr>
        <p:spPr>
          <a:xfrm>
            <a:off x="4434090" y="1630142"/>
            <a:ext cx="3323515" cy="1376531"/>
          </a:xfrm>
          <a:prstGeom prst="roundRect">
            <a:avLst>
              <a:gd name="adj" fmla="val 5314"/>
            </a:avLst>
          </a:prstGeom>
          <a:solidFill>
            <a:srgbClr val="FFF0E6"/>
          </a:solidFill>
          <a:ln w="15240">
            <a:solidFill>
              <a:srgbClr val="D55E00"/>
            </a:solidFill>
            <a:prstDash val="solid"/>
          </a:ln>
        </p:spPr>
      </p:sp>
      <p:sp>
        <p:nvSpPr>
          <p:cNvPr id="10" name="Text 8"/>
          <p:cNvSpPr txBox="1"/>
          <p:nvPr/>
        </p:nvSpPr>
        <p:spPr>
          <a:xfrm>
            <a:off x="4568023" y="1674786"/>
            <a:ext cx="3055650" cy="535731"/>
          </a:xfrm>
          <a:prstGeom prst="rect">
            <a:avLst/>
          </a:prstGeom>
          <a:noFill/>
          <a:ln/>
        </p:spPr>
        <p:txBody>
          <a:bodyPr wrap="square" lIns="0" tIns="0" rIns="0" bIns="0" rtlCol="0" anchor="ctr"/>
          <a:lstStyle/>
          <a:p>
            <a:pPr algn="l" indent="0" marL="0">
              <a:lnSpc>
                <a:spcPct val="116000"/>
              </a:lnSpc>
              <a:buNone/>
            </a:pPr>
            <a:r>
              <a:rPr lang="en-US" sz="1758" b="1" dirty="0">
                <a:solidFill>
                  <a:srgbClr val="1E1B4B"/>
                </a:solidFill>
                <a:latin typeface="Arial" pitchFamily="34" charset="0"/>
                <a:ea typeface="Arial" pitchFamily="34" charset="-122"/>
                <a:cs typeface="Arial" pitchFamily="34" charset="-120"/>
              </a:rPr>
              <a:t>Train</a:t>
            </a:r>
            <a:endParaRPr lang="en-US" sz="1758" dirty="0"/>
          </a:p>
        </p:txBody>
      </p:sp>
      <p:sp>
        <p:nvSpPr>
          <p:cNvPr id="11" name="Text 9"/>
          <p:cNvSpPr txBox="1"/>
          <p:nvPr/>
        </p:nvSpPr>
        <p:spPr>
          <a:xfrm>
            <a:off x="4568023" y="2232839"/>
            <a:ext cx="3055650" cy="699426"/>
          </a:xfrm>
          <a:prstGeom prst="rect">
            <a:avLst/>
          </a:prstGeom>
          <a:noFill/>
          <a:ln/>
        </p:spPr>
        <p:txBody>
          <a:bodyPr wrap="square" lIns="0" tIns="0" rIns="0" bIns="0" rtlCol="0" anchor="ctr"/>
          <a:lstStyle/>
          <a:p>
            <a:pPr algn="l" indent="0" marL="0">
              <a:lnSpc>
                <a:spcPct val="116000"/>
              </a:lnSpc>
              <a:buNone/>
            </a:pPr>
            <a:r>
              <a:rPr lang="en-US" sz="1523" dirty="0">
                <a:solidFill>
                  <a:srgbClr val="1F2937"/>
                </a:solidFill>
                <a:latin typeface="Arial" pitchFamily="34" charset="0"/>
                <a:ea typeface="Arial" pitchFamily="34" charset="-122"/>
                <a:cs typeface="Arial" pitchFamily="34" charset="-120"/>
              </a:rPr>
              <a:t>Pairs; instructions.</a:t>
            </a:r>
            <a:endParaRPr lang="en-US" sz="1523" dirty="0"/>
          </a:p>
        </p:txBody>
      </p:sp>
      <p:sp>
        <p:nvSpPr>
          <p:cNvPr id="12" name="Shape 10"/>
          <p:cNvSpPr/>
          <p:nvPr/>
        </p:nvSpPr>
        <p:spPr>
          <a:xfrm>
            <a:off x="7921301" y="1630142"/>
            <a:ext cx="3323515" cy="1376531"/>
          </a:xfrm>
          <a:prstGeom prst="rect">
            <a:avLst/>
          </a:prstGeom>
          <a:solidFill>
            <a:srgbClr val="E5F7EF"/>
          </a:solidFill>
          <a:ln w="15240">
            <a:solidFill>
              <a:srgbClr val="009E73"/>
            </a:solidFill>
            <a:prstDash val="solid"/>
          </a:ln>
        </p:spPr>
      </p:sp>
      <p:sp>
        <p:nvSpPr>
          <p:cNvPr id="13" name="Text 11"/>
          <p:cNvSpPr txBox="1"/>
          <p:nvPr/>
        </p:nvSpPr>
        <p:spPr>
          <a:xfrm>
            <a:off x="8055233" y="1674786"/>
            <a:ext cx="3055650" cy="535731"/>
          </a:xfrm>
          <a:prstGeom prst="rect">
            <a:avLst/>
          </a:prstGeom>
          <a:noFill/>
          <a:ln/>
        </p:spPr>
        <p:txBody>
          <a:bodyPr wrap="square" lIns="0" tIns="0" rIns="0" bIns="0" rtlCol="0" anchor="ctr"/>
          <a:lstStyle/>
          <a:p>
            <a:pPr algn="l" indent="0" marL="0">
              <a:lnSpc>
                <a:spcPct val="116000"/>
              </a:lnSpc>
              <a:buNone/>
            </a:pPr>
            <a:r>
              <a:rPr lang="en-US" sz="1758" b="1" dirty="0">
                <a:solidFill>
                  <a:srgbClr val="1E1B4B"/>
                </a:solidFill>
                <a:latin typeface="Arial" pitchFamily="34" charset="0"/>
                <a:ea typeface="Arial" pitchFamily="34" charset="-122"/>
                <a:cs typeface="Arial" pitchFamily="34" charset="-120"/>
              </a:rPr>
              <a:t>Generate</a:t>
            </a:r>
            <a:endParaRPr lang="en-US" sz="1758" dirty="0"/>
          </a:p>
        </p:txBody>
      </p:sp>
      <p:sp>
        <p:nvSpPr>
          <p:cNvPr id="14" name="Text 12"/>
          <p:cNvSpPr txBox="1"/>
          <p:nvPr/>
        </p:nvSpPr>
        <p:spPr>
          <a:xfrm>
            <a:off x="8055233" y="2232839"/>
            <a:ext cx="3055650" cy="699426"/>
          </a:xfrm>
          <a:prstGeom prst="rect">
            <a:avLst/>
          </a:prstGeom>
          <a:noFill/>
          <a:ln/>
        </p:spPr>
        <p:txBody>
          <a:bodyPr wrap="square" lIns="0" tIns="0" rIns="0" bIns="0" rtlCol="0" anchor="ctr"/>
          <a:lstStyle/>
          <a:p>
            <a:pPr algn="l" indent="0" marL="0">
              <a:lnSpc>
                <a:spcPct val="116000"/>
              </a:lnSpc>
              <a:buNone/>
            </a:pPr>
            <a:r>
              <a:rPr lang="en-US" sz="1523" dirty="0">
                <a:solidFill>
                  <a:srgbClr val="1F2937"/>
                </a:solidFill>
                <a:latin typeface="Arial" pitchFamily="34" charset="0"/>
                <a:ea typeface="Arial" pitchFamily="34" charset="-122"/>
                <a:cs typeface="Arial" pitchFamily="34" charset="-120"/>
              </a:rPr>
              <a:t>Pixels; sound.</a:t>
            </a:r>
            <a:endParaRPr lang="en-US" sz="1523" dirty="0"/>
          </a:p>
        </p:txBody>
      </p:sp>
      <p:sp>
        <p:nvSpPr>
          <p:cNvPr id="15" name="Shape 13"/>
          <p:cNvSpPr/>
          <p:nvPr/>
        </p:nvSpPr>
        <p:spPr>
          <a:xfrm>
            <a:off x="946879" y="3170368"/>
            <a:ext cx="3323515" cy="1376531"/>
          </a:xfrm>
          <a:prstGeom prst="roundRect">
            <a:avLst>
              <a:gd name="adj" fmla="val 5314"/>
            </a:avLst>
          </a:prstGeom>
          <a:solidFill>
            <a:srgbClr val="FFF0E6"/>
          </a:solidFill>
          <a:ln w="15240">
            <a:solidFill>
              <a:srgbClr val="D55E00"/>
            </a:solidFill>
            <a:prstDash val="solid"/>
          </a:ln>
        </p:spPr>
      </p:sp>
      <p:sp>
        <p:nvSpPr>
          <p:cNvPr id="16" name="Text 14"/>
          <p:cNvSpPr txBox="1"/>
          <p:nvPr/>
        </p:nvSpPr>
        <p:spPr>
          <a:xfrm>
            <a:off x="1080812" y="3215012"/>
            <a:ext cx="3055650" cy="535731"/>
          </a:xfrm>
          <a:prstGeom prst="rect">
            <a:avLst/>
          </a:prstGeom>
          <a:noFill/>
          <a:ln/>
        </p:spPr>
        <p:txBody>
          <a:bodyPr wrap="square" lIns="0" tIns="0" rIns="0" bIns="0" rtlCol="0" anchor="ctr"/>
          <a:lstStyle/>
          <a:p>
            <a:pPr algn="l" indent="0" marL="0">
              <a:lnSpc>
                <a:spcPct val="116000"/>
              </a:lnSpc>
              <a:buNone/>
            </a:pPr>
            <a:r>
              <a:rPr lang="en-US" sz="1758" b="1" dirty="0">
                <a:solidFill>
                  <a:srgbClr val="1E1B4B"/>
                </a:solidFill>
                <a:latin typeface="Arial" pitchFamily="34" charset="0"/>
                <a:ea typeface="Arial" pitchFamily="34" charset="-122"/>
                <a:cs typeface="Arial" pitchFamily="34" charset="-120"/>
              </a:rPr>
              <a:t>Evaluate</a:t>
            </a:r>
            <a:endParaRPr lang="en-US" sz="1758" dirty="0"/>
          </a:p>
        </p:txBody>
      </p:sp>
      <p:sp>
        <p:nvSpPr>
          <p:cNvPr id="17" name="Text 15"/>
          <p:cNvSpPr txBox="1"/>
          <p:nvPr/>
        </p:nvSpPr>
        <p:spPr>
          <a:xfrm>
            <a:off x="1080812" y="3773065"/>
            <a:ext cx="3055650" cy="699426"/>
          </a:xfrm>
          <a:prstGeom prst="rect">
            <a:avLst/>
          </a:prstGeom>
          <a:noFill/>
          <a:ln/>
        </p:spPr>
        <p:txBody>
          <a:bodyPr wrap="square" lIns="0" tIns="0" rIns="0" bIns="0" rtlCol="0" anchor="ctr"/>
          <a:lstStyle/>
          <a:p>
            <a:pPr algn="l" indent="0" marL="0">
              <a:lnSpc>
                <a:spcPct val="116000"/>
              </a:lnSpc>
              <a:buNone/>
            </a:pPr>
            <a:r>
              <a:rPr lang="en-US" sz="1523" dirty="0">
                <a:solidFill>
                  <a:srgbClr val="1F2937"/>
                </a:solidFill>
                <a:latin typeface="Arial" pitchFamily="34" charset="0"/>
                <a:ea typeface="Arial" pitchFamily="34" charset="-122"/>
                <a:cs typeface="Arial" pitchFamily="34" charset="-120"/>
              </a:rPr>
              <a:t>Task-specific evidence.</a:t>
            </a:r>
            <a:endParaRPr lang="en-US" sz="1523" dirty="0"/>
          </a:p>
        </p:txBody>
      </p:sp>
      <p:sp>
        <p:nvSpPr>
          <p:cNvPr id="18" name="Shape 16"/>
          <p:cNvSpPr/>
          <p:nvPr/>
        </p:nvSpPr>
        <p:spPr>
          <a:xfrm>
            <a:off x="4434090" y="3170368"/>
            <a:ext cx="3323515" cy="1376531"/>
          </a:xfrm>
          <a:prstGeom prst="rect">
            <a:avLst/>
          </a:prstGeom>
          <a:solidFill>
            <a:srgbClr val="F2F4F5"/>
          </a:solidFill>
          <a:ln w="15240">
            <a:solidFill>
              <a:srgbClr val="626B73"/>
            </a:solidFill>
            <a:prstDash val="solid"/>
          </a:ln>
        </p:spPr>
      </p:sp>
      <p:sp>
        <p:nvSpPr>
          <p:cNvPr id="19" name="Text 17"/>
          <p:cNvSpPr txBox="1"/>
          <p:nvPr/>
        </p:nvSpPr>
        <p:spPr>
          <a:xfrm>
            <a:off x="4568023" y="3215012"/>
            <a:ext cx="3055650" cy="535731"/>
          </a:xfrm>
          <a:prstGeom prst="rect">
            <a:avLst/>
          </a:prstGeom>
          <a:noFill/>
          <a:ln/>
        </p:spPr>
        <p:txBody>
          <a:bodyPr wrap="square" lIns="0" tIns="0" rIns="0" bIns="0" rtlCol="0" anchor="ctr"/>
          <a:lstStyle/>
          <a:p>
            <a:pPr algn="l" indent="0" marL="0">
              <a:lnSpc>
                <a:spcPct val="116000"/>
              </a:lnSpc>
              <a:buNone/>
            </a:pPr>
            <a:r>
              <a:rPr lang="en-US" sz="1758" b="1" dirty="0">
                <a:solidFill>
                  <a:srgbClr val="1E1B4B"/>
                </a:solidFill>
                <a:latin typeface="Arial" pitchFamily="34" charset="0"/>
                <a:ea typeface="Arial" pitchFamily="34" charset="-122"/>
                <a:cs typeface="Arial" pitchFamily="34" charset="-120"/>
              </a:rPr>
              <a:t>Verify</a:t>
            </a:r>
            <a:endParaRPr lang="en-US" sz="1758" dirty="0"/>
          </a:p>
        </p:txBody>
      </p:sp>
      <p:sp>
        <p:nvSpPr>
          <p:cNvPr id="20" name="Text 18"/>
          <p:cNvSpPr txBox="1"/>
          <p:nvPr/>
        </p:nvSpPr>
        <p:spPr>
          <a:xfrm>
            <a:off x="4568023" y="3773065"/>
            <a:ext cx="3055650" cy="699426"/>
          </a:xfrm>
          <a:prstGeom prst="rect">
            <a:avLst/>
          </a:prstGeom>
          <a:noFill/>
          <a:ln/>
        </p:spPr>
        <p:txBody>
          <a:bodyPr wrap="square" lIns="0" tIns="0" rIns="0" bIns="0" rtlCol="0" anchor="ctr"/>
          <a:lstStyle/>
          <a:p>
            <a:pPr algn="l" indent="0" marL="0">
              <a:lnSpc>
                <a:spcPct val="116000"/>
              </a:lnSpc>
              <a:buNone/>
            </a:pPr>
            <a:r>
              <a:rPr lang="en-US" sz="1523" dirty="0">
                <a:solidFill>
                  <a:srgbClr val="1F2937"/>
                </a:solidFill>
                <a:latin typeface="Arial" pitchFamily="34" charset="0"/>
                <a:ea typeface="Arial" pitchFamily="34" charset="-122"/>
                <a:cs typeface="Arial" pitchFamily="34" charset="-120"/>
              </a:rPr>
              <a:t>Source; arithmetic.</a:t>
            </a:r>
            <a:endParaRPr lang="en-US" sz="1523" dirty="0"/>
          </a:p>
        </p:txBody>
      </p:sp>
      <p:sp>
        <p:nvSpPr>
          <p:cNvPr id="21" name="Shape 19"/>
          <p:cNvSpPr/>
          <p:nvPr/>
        </p:nvSpPr>
        <p:spPr>
          <a:xfrm>
            <a:off x="7921301" y="3170368"/>
            <a:ext cx="3323515" cy="1376531"/>
          </a:xfrm>
          <a:prstGeom prst="roundRect">
            <a:avLst>
              <a:gd name="adj" fmla="val 5314"/>
            </a:avLst>
          </a:prstGeom>
          <a:solidFill>
            <a:srgbClr val="F9EAF4"/>
          </a:solidFill>
          <a:ln w="15240">
            <a:solidFill>
              <a:srgbClr val="CC79A7"/>
            </a:solidFill>
            <a:prstDash val="solid"/>
          </a:ln>
        </p:spPr>
      </p:sp>
      <p:sp>
        <p:nvSpPr>
          <p:cNvPr id="22" name="Text 20"/>
          <p:cNvSpPr txBox="1"/>
          <p:nvPr/>
        </p:nvSpPr>
        <p:spPr>
          <a:xfrm>
            <a:off x="8055233" y="3215012"/>
            <a:ext cx="3055650" cy="535731"/>
          </a:xfrm>
          <a:prstGeom prst="rect">
            <a:avLst/>
          </a:prstGeom>
          <a:noFill/>
          <a:ln/>
        </p:spPr>
        <p:txBody>
          <a:bodyPr wrap="square" lIns="0" tIns="0" rIns="0" bIns="0" rtlCol="0" anchor="ctr"/>
          <a:lstStyle/>
          <a:p>
            <a:pPr algn="l" indent="0" marL="0">
              <a:lnSpc>
                <a:spcPct val="116000"/>
              </a:lnSpc>
              <a:buNone/>
            </a:pPr>
            <a:r>
              <a:rPr lang="en-US" sz="1758" b="1" dirty="0">
                <a:solidFill>
                  <a:srgbClr val="1E1B4B"/>
                </a:solidFill>
                <a:latin typeface="Arial" pitchFamily="34" charset="0"/>
                <a:ea typeface="Arial" pitchFamily="34" charset="-122"/>
                <a:cs typeface="Arial" pitchFamily="34" charset="-120"/>
              </a:rPr>
              <a:t>Label</a:t>
            </a:r>
            <a:endParaRPr lang="en-US" sz="1758" dirty="0"/>
          </a:p>
        </p:txBody>
      </p:sp>
      <p:sp>
        <p:nvSpPr>
          <p:cNvPr id="23" name="Text 21"/>
          <p:cNvSpPr txBox="1"/>
          <p:nvPr/>
        </p:nvSpPr>
        <p:spPr>
          <a:xfrm>
            <a:off x="8055233" y="3773065"/>
            <a:ext cx="3055650" cy="699426"/>
          </a:xfrm>
          <a:prstGeom prst="rect">
            <a:avLst/>
          </a:prstGeom>
          <a:noFill/>
          <a:ln/>
        </p:spPr>
        <p:txBody>
          <a:bodyPr wrap="square" lIns="0" tIns="0" rIns="0" bIns="0" rtlCol="0" anchor="ctr"/>
          <a:lstStyle/>
          <a:p>
            <a:pPr algn="l" indent="0" marL="0">
              <a:lnSpc>
                <a:spcPct val="116000"/>
              </a:lnSpc>
              <a:buNone/>
            </a:pPr>
            <a:r>
              <a:rPr lang="en-US" sz="1523" dirty="0">
                <a:solidFill>
                  <a:srgbClr val="1F2937"/>
                </a:solidFill>
                <a:latin typeface="Arial" pitchFamily="34" charset="0"/>
                <a:ea typeface="Arial" pitchFamily="34" charset="-122"/>
                <a:cs typeface="Arial" pitchFamily="34" charset="-120"/>
              </a:rPr>
              <a:t>Origin ≠ truth.</a:t>
            </a:r>
            <a:endParaRPr lang="en-US" sz="1523" dirty="0"/>
          </a:p>
        </p:txBody>
      </p:sp>
      <p:sp>
        <p:nvSpPr>
          <p:cNvPr id="24" name="Text 22"/>
          <p:cNvSpPr txBox="1"/>
          <p:nvPr/>
        </p:nvSpPr>
        <p:spPr>
          <a:xfrm>
            <a:off x="946879" y="4680832"/>
            <a:ext cx="10297937" cy="260425"/>
          </a:xfrm>
          <a:prstGeom prst="rect">
            <a:avLst/>
          </a:prstGeom>
          <a:noFill/>
          <a:ln/>
        </p:spPr>
        <p:txBody>
          <a:bodyPr wrap="square" lIns="0" tIns="0" rIns="0" bIns="0" rtlCol="0" anchor="ctr"/>
          <a:lstStyle/>
          <a:p>
            <a:pPr algn="l" indent="0" marL="0">
              <a:lnSpc>
                <a:spcPct val="116000"/>
              </a:lnSpc>
              <a:buNone/>
            </a:pPr>
            <a:r>
              <a:rPr lang="en-US" sz="1523" b="1" dirty="0">
                <a:solidFill>
                  <a:srgbClr val="1E1B4B"/>
                </a:solidFill>
                <a:latin typeface="Arial" pitchFamily="34" charset="0"/>
                <a:ea typeface="Arial" pitchFamily="34" charset="-122"/>
                <a:cs typeface="Arial" pitchFamily="34" charset="-120"/>
              </a:rPr>
              <a:t>Example to explain aloud</a:t>
            </a:r>
            <a:endParaRPr lang="en-US" sz="1523" dirty="0"/>
          </a:p>
        </p:txBody>
      </p:sp>
      <p:sp>
        <p:nvSpPr>
          <p:cNvPr id="25" name="Text 23"/>
          <p:cNvSpPr txBox="1"/>
          <p:nvPr/>
        </p:nvSpPr>
        <p:spPr>
          <a:xfrm>
            <a:off x="946879" y="4993341"/>
            <a:ext cx="10297937" cy="468764"/>
          </a:xfrm>
          <a:prstGeom prst="rect">
            <a:avLst/>
          </a:prstGeom>
          <a:noFill/>
          <a:ln/>
        </p:spPr>
        <p:txBody>
          <a:bodyPr wrap="square" lIns="0" tIns="0" rIns="0" bIns="0" rtlCol="0" anchor="ctr"/>
          <a:lstStyle/>
          <a:p>
            <a:pPr algn="l" indent="0" marL="0">
              <a:lnSpc>
                <a:spcPct val="116000"/>
              </a:lnSpc>
              <a:buNone/>
            </a:pPr>
            <a:r>
              <a:rPr lang="en-US" sz="1582" dirty="0">
                <a:solidFill>
                  <a:srgbClr val="1F2937"/>
                </a:solidFill>
                <a:latin typeface="Arial" pitchFamily="34" charset="0"/>
                <a:ea typeface="Arial" pitchFamily="34" charset="-122"/>
                <a:cs typeface="Arial" pitchFamily="34" charset="-120"/>
              </a:rPr>
              <a:t>Invoice → checked fields → code total.</a:t>
            </a:r>
            <a:endParaRPr lang="en-US" sz="1582" dirty="0"/>
          </a:p>
        </p:txBody>
      </p:sp>
      <p:sp>
        <p:nvSpPr>
          <p:cNvPr id="26" name="Text 24"/>
          <p:cNvSpPr txBox="1"/>
          <p:nvPr/>
        </p:nvSpPr>
        <p:spPr>
          <a:xfrm>
            <a:off x="946879" y="5529072"/>
            <a:ext cx="10297937" cy="461324"/>
          </a:xfrm>
          <a:prstGeom prst="rect">
            <a:avLst/>
          </a:prstGeom>
          <a:noFill/>
          <a:ln/>
        </p:spPr>
        <p:txBody>
          <a:bodyPr wrap="square" lIns="0" tIns="0" rIns="0" bIns="0" rtlCol="0" anchor="ctr"/>
          <a:lstStyle/>
          <a:p>
            <a:pPr algn="l" indent="0" marL="0">
              <a:lnSpc>
                <a:spcPct val="116000"/>
              </a:lnSpc>
              <a:buNone/>
            </a:pPr>
            <a:r>
              <a:rPr lang="en-US" sz="1523" dirty="0">
                <a:solidFill>
                  <a:srgbClr val="1F2937"/>
                </a:solidFill>
                <a:latin typeface="Arial" pitchFamily="34" charset="0"/>
                <a:ea typeface="Arial" pitchFamily="34" charset="-122"/>
                <a:cs typeface="Arial" pitchFamily="34" charset="-120"/>
              </a:rPr>
              <a:t>Next: monitored systems.</a:t>
            </a:r>
            <a:endParaRPr lang="en-US" sz="1523" dirty="0"/>
          </a:p>
        </p:txBody>
      </p:sp>
      <p:sp>
        <p:nvSpPr>
          <p:cNvPr id="27" name="Text 25"/>
          <p:cNvSpPr txBox="1"/>
          <p:nvPr/>
        </p:nvSpPr>
        <p:spPr>
          <a:xfrm>
            <a:off x="548640" y="6044184"/>
            <a:ext cx="11094415" cy="338328"/>
          </a:xfrm>
          <a:prstGeom prst="rect">
            <a:avLst/>
          </a:prstGeom>
          <a:noFill/>
          <a:ln/>
        </p:spPr>
        <p:txBody>
          <a:bodyPr wrap="square" lIns="0" tIns="0" rIns="0" bIns="0" rtlCol="0" anchor="t"/>
          <a:lstStyle/>
          <a:p>
            <a:pPr indent="0" marL="0">
              <a:buNone/>
            </a:pPr>
            <a:r>
              <a:rPr lang="en-US" sz="1600" dirty="0">
                <a:solidFill>
                  <a:srgbClr val="1E1B4B"/>
                </a:solidFill>
                <a:latin typeface="Calibri" pitchFamily="34" charset="0"/>
                <a:ea typeface="Calibri" pitchFamily="34" charset="-122"/>
                <a:cs typeface="Calibri" pitchFamily="34" charset="-120"/>
              </a:rPr>
              <a:t>Exit question: Correct sum, wrong inputs?</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10: Multimodal Generative AI Applications</dc:title>
  <dc:subject>Generative AI (MSc in Artificial Intelligence)</dc:subject>
  <dc:creator>Generative AI module team</dc:creator>
  <cp:lastModifiedBy>Generative AI module team</cp:lastModifiedBy>
  <cp:revision>1</cp:revision>
  <dcterms:created xsi:type="dcterms:W3CDTF">2026-10-12T06:07:06Z</dcterms:created>
  <dcterms:modified xsi:type="dcterms:W3CDTF">2026-10-12T06:07:06Z</dcterms:modified>
</cp:coreProperties>
</file>