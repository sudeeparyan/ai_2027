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10, multimodal generative AI applications. Last week we learned how models align modalities in a shared space. This week we look at the systems built on those foundations: multimodal LLMs that read photos, documents, charts and audio and answer in text or speech; generators that turn text into images, speech, music and video; and how to evaluate them and use them responsibly.
Ask students: Name one multimodal tool you used this week. What went in, and what came out?
Expected answer: For example, a phone app that reads a photo of a menu and answers in text: an image in, text out.
Common mistake: Assuming a model that reads images can also generate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matching the descriptor's week 10: multimodal LLMs; training and fine-tuning multimodal models; evaluation of multimodal generative AI; and applications, extended with generation across modalities and responsible use, which the revised 7.3 adds explicitly because deepfakes and content provenance are now regulated. The practical outcome is designing an application that combines a multimodal model with verification and labelling, which feeds directly into projects that process images, documents or speech. This week practises MIMLO 2, 3 and 4.
Ask students: Which outcome comes from the revised 7.3 descriptor?
Expected answer: Responsible use of synthetic media: deepfakes, labelling and content provenance.
Common mistake: Treating output quality as the only outcome. Verification and labelling are part of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revised descriptor. Sections one and three contain the real outputs from the lab run: captions, chart and document question answering, text-to-image, image editing and speech round trips. Take the break after section three. Section five covers deepfakes, provenance and applications, and ends with a design pattern that students can reuse in their projects.
Ask students: Which sections show real outputs from the lab run?
Expected answer: Sections one and three.
Common mistake: Reading one run of one model as typical of every model.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Modality: A type of data, such as text, images or audio, with its own structure. Check: What are the input and output modalities of image captioning? Answer: Input: an image. Output: text. Autoregressive generation: Generate a next token from the input and previously generated tokens. Check: What information is available when generating the third output token? Answer: The input plus the first two generated tokens. Ground truth: A reference answer or observation used to check a model output. Check: How can a chart we create ourselves provide known answers? Answer: We know the values we plotted, so every reading can be checked exactly. VLM: A vision-language model that processes images together with text. Check: What two inputs are supplied for an invoice question? Answer: The invoice image and the text question.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pairs. Students usually identify reading errors first, then arithmetic errors, and some notice privacy: receipts can contain partial card numbers, locations and times. Add a fourth risk: the model may confidently report numbers that are not on the receipt, which is multimodal hallucination. This warm-up maps onto the lecture: section one shows that current models read and reason well but not perfectly; section four measures hallucination; section five covers privacy. The design lesson, extract then verify with code, appears at the end.
Analogy: A receipt reader has two jobs: read the printed amounts, then calculate with those amounts. Each job needs its own check.
Ask students: Can a fluent invoice answer contain a wrong total?
Expected answer: Yes. The model can misread values or calculate incorrectly; verify extracted fields and sums.
Common mistake: A valid output format does not establish that its values match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covers multimodal large language models, also called vision-language models or MLLMs. We compare the two main designs, list their capabilities, survey the model families, and look at real outputs from open models on photos, a chart and a document, including errors. About twenty-five minutes.
Analogy: A visual bridge acts like an adapter between two devices: it maps vision features into vectors the language model can use.
Ask students: Besides text, what kinds of input can a multimodal LLM take?
Expected answer: Images (including documents and charts), audio, and video as sampled frames, depending on the model.
Common mistake: Assuming a multimodal family name guarantees every input and output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generation covers several different tasks, so one score cannot evaluate every output. The input and desired output define the route. A vision-language model reads an image together with a question and generates answer text. A diffusion pipeline converts a description, or an image plus an editing request, into a new image. Text-to-speech converts a sentence into an audio waveform. Each route uses preprocessing suited to that model. Evaluation then asks a specific question: does the answer match a known chart value, does the image align with its prompt, or can speech recognition recover the words? These checks cover only part of quality. Finally, the lab adds metadata to a generated image and resaves it as JPEG, demonstrating that a provenance label can disappear during ordinary file processing.
Worked example:
A help-desk chart plus 'Which day had the most tickets?' routes to the VLM.
A lighthouse description routes to the text-to-image pipeline instead.
A sentence routes to TTS; Whisper converts its generated waveform back to words.
Check each output with its own metric, then inspect metadata on the generated image.
Check: Can a good CLIP score demonstrate that generated speech sounds natural?
Answer: No. This lab's CLIP score measures image-text alignment; speech naturalness needs a speech-appropriate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broad designs. Modular models connect separately pretrained encoders to a language model through a projector, as in LLaVA from last week; they are cheap to build and common among open models, and usually output text. Natively multimodal, sometimes called omni, models are trained from the start on interleaved sequences of text, image and audio tokens, so they can process and often generate several modalities in one model, which enables low-latency voice conversations and reasoning over audio and video.
Ask students: Which design is easier to build from existing open models?
Expected answer: The modular design: connect a pretrained encoder to a language model through a trained bridge.
Common mistake: Assuming a modular model can reply in speech. Most output 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LLMs have a wide range of capabilities. Describing and answering questions about images supports accessibility, for example generating alt text. Document understanding, reading invoices, forms and PDFs, is one of the most valuable business uses. Chart and table reading supports analytics. Video understanding samples frames and sometimes audio. Speech models understand and produce voice. Screen understanding lets agents operate graphical interfaces, previewed in week 12. For every capability, accuracy varies with image quality, resolution and domain, so evaluation is essential.
Ask students: Why can a video model miss a short event?
Expected answer: It samples a few frames per second, so an event between samples may never be seen.
Common mistake: Trusting chart readings without checking the axes and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snapshot of families, without version numbers, which change monthly. The proprietary families from OpenAI, Google and Anthropic all accept images and documents; OpenAI and Google also handle audio natively, and Gemini is notable for very long video and document contexts. Among open-weight models, the Qwen vision-language and omni families are strong on documents and charts; LLaVA is the research reference; small models such as SmolVLM run on laptops. In the lab we use Qwen3-VL-2B on a GPU and SmolVLM on a CPU, both Apache-licensed.
Ask students: Which model does the lab use on a CPU, and why?
Expected answer: SmolVLM-256M, because it is small enough for a laptop; the GPU path uses Qwen3-VL-2B.
Common mistake: Assuming every member of a family accepts the same inputs. Check the exact endpoint or model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vision-language model, or VLM, combines visual understanding with language generation. The lab's processor prepares the image and formats a chat message containing the question. Inside the selected model, a vision component encodes pixels into features; a connection to the language component makes those features usable alongside question tokens. The precise bridge depends on the model architecture, while the lab calls the same high-level generation interface. Generation is autoregressive: every new token is predicted using the input and the answer prefix generated so far. A decoder then converts token IDs into readable words. The ask function slices away the input token prefix before decoding the output. The model can produce confident text even when it misreads a chart, so the known chart values provide evidence for checking rather than trusting fluency.
Worked example:
Pass the help-desk chart and 'How many tickets were there on Thursday?' to ask.
The processor prepares the chart and formats the question as model inputs.
Visual features provide evidence; the decoder generates an answer token by token.
ask decodes only the new answer tokens, leaving the input prompt out.
Compare the answer with the known value 25; a fluent answer may still be wrong.
Check: Why does ask remove the input token prefix before decoding?
Answer: To return the newly generated answer rather than repeat the question and chat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two sample photographs from scikit-learn's standard image set, a temple in China and a flower, captioned by the open vision-language model in the lab run; the captions are quoted in the bullet. Generally such captions are accurate at the level of objects and scenes, but can add details that are not there, such as a time of day or a location.
Analogy: A witness who describes a scene well but adds a confident guess about its surroundings.
Ask students: Which caption details can you check in the photograph, and which might be invented?
Expected answer: Objects, colours and the flower type can be checked; surroundings and weather need checking, because models add plausible settings.
Common mistake: Accepting a fluent caption as a complete and accurate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to weeks 5 and 9. A vision encoder cuts the image into patches; a three-hundred-and-thirty-six-pixel image with fourteen-pixel patches gives twenty-four by twenty-four, which is 576 visual tokens, each passed to the LLM. Reading small text in documents requires high resolution, so models tile large images or process them at their native resolution, which multiplies the token count. Video is sampled at a few frames per second, so long videos consume enormous numbers of tokens.
Ask students: A 448-pixel square image with 14-pixel patches: how many patches?
Expected answer: (448/14)² = 32² = 1,024.
Common mistake: Assuming higher resolution is free. More patches mean more tokens, time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invoice example distinguishes seeing a number from calculating with it. The lab creates a fictional invoice from known strings and values, so there is a reference to check. The ask function supplies the image and question to a vision-language model, which returns a candidate answer. The score function gives a small automatic check, but its substring or first-number rule can miss some errors. Read the full reply alongside the source. For a real invoice application, extract fields into a validated structure and sum them in ordinary code; compare that result with the printed total. The final block describes that application design, rather than a complete invoice-processing service supplied by the notebook.
Worked example:
Suppose visible lines show EUR 10 and EUR 20, with printed total EUR 30.
Ask for each amount separately before computing the total.
If one extracted amount is EUR 200, valid numeric format still hides a reading error.
Code computes 10 + 20 = 30; review a mismatch with the image.
Check: Can a correct addition still produce a wrong invoice total?
Answer: Yes. Code can add incorrectly extracted numbers perfectly; check the input values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lab's evaluation design: we generated a bar chart and an invoice-style document, so the correct answers are known exactly: which day had the most tickets, a single value, a total that requires adding five numbers, the invoice number, the total due and the customer name. The bullet reports the measured accuracy of the open VLM. Typically single values and text fields are read correctly, while aggregation, adding up the bars, is less reliable because the model estimates rather than computes.
Ask students: Why can the model read single values but get the total wrong?
Expected answer: Reading a value is perception; adding five values needs exact arithmetic, which the model only estimates.
Common mistake: Accepting a model's sum without computing it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C. Separate perception from computation: use the model for what it is good at, reading fields into a schema validated in code, as in week 7, then compute totals with code and cross-check them against the totals printed on the invoices to detect reading errors automatically. A relies on the model's arithmetic across many images, which is error-prone and unverifiable. B adds randomness. D is unreliable: models' self-reported confidence is poorly calibrated. Add human review for invoices where the checks disagree.
Ask students: How would code detect a misread line item?
Expected answer: The sum of the extracted line items would not match the printed total.
Common mistake: Trusting the model's stated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briefly explains how multimodal LLMs are trained, which the descriptor lists as training and fine-tuning multimodal models, and how you can adapt one to your own domain with the parameter-efficient methods from week 8. Keep it brief: students need the pipeline and the vocabulary, not the details of each stage. About thirteen minutes.
Analogy: First connect the reader to the writer; then practise useful image questions. This mirrors alignment followed by visual instruction tuning.
Ask students: Does loading a pretrained VLM train its bridge?
Expected answer: No. The lab performs inference. Training the bridge needs examples, loss gradients and updates.
Common mistake: The illustrated recipe is a common modular setup, not a universal training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modular vision-language model can start from an existing image encoder and language model. The image encoder produces visual features, but those features are not automatically in the form the language model expects. A learned bridge, often called a projector, maps them into suitable vectors. An alignment stage uses image-caption examples to train that connection. Visual instruction tuning then uses questions and desired answers about images, documents or charts. Different recipes train different components; some keep the image encoder fixed and add LoRA to the language model. Held-out images check whether the system generalises beyond its examples. This is a conceptual recipe: the lab loads pretrained models and measures inference, rather than training a VLM.
Worked example:
An image of a cup is paired with "a blue cup on a desk".
The bridge learns to present the visual features to the language model.
An instruction example asks "What colour is the cup?" with answer "blue".
A new cup photo tests reading accuracy without appearing in training.
Check: Does the multimodal lab train the illustrated bridge?
Answer: No. It loads existing models; the diagram explains how such a model can be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stages. The vision encoder, typically CLIP or SigLIP, and the LLM are pretrained separately at great cost. Alignment trains the projector on image-caption pairs so that visual features land in the LLM's input space. Visual instruction tuning, introduced by LLaVA, fine-tunes on conversations about images, now including charts, documents, OCR and grounding tasks, often generated synthetically with the help of stronger models. Preference tuning or reinforcement learning, as in week 8, reduces hallucination and improves helpfulness.
Ask students: Which stage teaches the model to answer questions about images?
Expected answer: Visual instruction tuning, on image-question-answer conversations.
Common mistake: Treating this recipe as universal. Other models train different parts or are trained natively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training data comes in several forms. Web image-caption pairs are plentiful but noisy, so many teams re-caption images with a strong model to get more detailed descriptions. Interleaved documents teach models to handle mixed sequences. Task-specific data, for OCR, charts, screenshots and video, is often generated synthetically, for example by rendering charts with known values, exactly what we do in the lab for evaluation. Audio data pairs speech with transcripts.
Ask students: Why render charts with known values for training or testing?
Expected answer: The correct answers are known exactly, so the labels are free and accurate.
Common mistake: Using scraped images and captions without checking licences and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8 approach carries over directly. For a domain such as a company's own forms, industrial inspection images or satellite imagery, you collect image-question-answer examples, freeze the vision encoder and apply LoRA to the language model and possibly the projector, using libraries such as TRL, which supports vision-language fine-tuning. The same decision rule applies: start with prompting and structured extraction; fine-tune when evaluation on your own images shows persistent reading or format errors.
Ask students: Which part would you usually freeze when adapting a VLM to your own forms?
Expected answer: The vision encoder. LoRA then trains the language model and possibly the bridge.
Common mistake: Fine-tuning before trying prompting and checked extraction on your own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surveys generation across modalities, the descriptor's list of text to image, image to image, text to audio, text to video and so on. We look at real text-to-image and image-editing outputs from the lab, a speech round trip, and the state of music and video generation. About twenty-five minutes; take the break afterwards.
Analogy: Different workshop tools make different outputs: a diffusion pipeline makes pixels, TTS makes audio samples, ASR makes words.
Ask students: Which generation tasks does the lab run, and which are only discussed?
Expected answer: Text to image, image to image and text to speech run; text to video is discussed because of its cost.
Common mistake: Assuming one model handles every generation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 summarises the main generation tasks, how they work and example model families. Images use latent diffusion or flow transformers from week 4. Editing uses partial noising, inpainting and control signals. Speech synthesis uses neural text-to-speech, increasingly language models over audio-codec tokens, which also enable voice cloning from short samples. Speech-to-speech models power real-time voice assistants. Music and sound use diffusion or token language models over audio codecs. Video uses spatio-temporal diffusion transformers.
Ask students: Which method family underlies most image, video and music generators on this map?
Expected answer: Diffusion or flow models, often transformers; some audio generators are language models over codec tokens.
Common mistake: Thinking voice cloning needs hours of recordings. A few seconds can be enough, which is why consent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prompts rendered by SD-Turbo with two steps in the lab run. Quality is good for a distilled model that needs only two denoising steps. The bullet reports the CLIP scores: each image scores higher against its own prompt than the mean score against the other prompts, a simple sanity check of prompt alignment that the lab automates. Remind students that SD-Turbo uses the Stability AI Community License, with conditional commercial use, registration and revenue limits, which matters for projects.
Ask students: Why is guidance_scale set to 0 for SD-Turbo?
Expected answer: SD-Turbo was distilled to work without classifier-free guidance, so one prediction per step is enough.
Common mistake: Reading a higher CLIP score as proof that every requested detail is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Image-to-image editing, from week 4's SDEdit idea, adds noise to an existing image and denoises it with a new prompt. The strength parameter sets how far into the noise schedule we go: in the recorded run, 0.3 and 0.6 left the lighthouse painting almost unchanged, while 0.9 replaced most of it with a new coastal scene. None of the three looks like a pencil sketch: strength controls how much may change, not whether the style request is followed, so compare each result with what was asked. Inpainting restricts the change to a mask, and control methods such as ControlNet guide the preservation of edges or pose.
Ask students: With strength 0.6 and 4 inference steps, how many denoising steps run?
Expected answer: 4 × 0.6 = 2.4, so 2 steps in practice.
Common mistake: Thinking higher strength gives sharper images. It permits larger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simple image-to-image, four editing families matter in practice. Inpainting and outpainting regenerate or extend regions. Control methods follow structural guides such as edges, depth maps or human pose. Instruction-based editing lets users describe changes in words, and natively multimodal models now support conversational editing. Personalisation with LoRA or DreamBooth teaches a model a specific person, product or artistic style from a handful of images, which is powerful for product photography and dangerous for impersonation and style imitation.
Ask students: Which editing method keeps a person's pose while changing their clothes?
Expected answer: A control method such as ControlNet with a pose guide, or inpainting only the clothing region.
Common mistake: Personalising a model on someone's face or voice without their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 generation has changed quickly. Classic neural text-to-speech converts text into acoustic features and then a waveform with a vocoder; VITS-based models such as Meta's MMS, used in the lab, do this end to end. Newer systems treat audio as codec tokens and use language models, enabling voice cloning from a few seconds of speech, valuable for accessibility and dubbing, but also used in fraud. Speech-to-speech assistants respond aloud; delay depends on the model and application.
Analogy: Different workshop tools make different outputs. A diffusion pipeline makes pixels; TTS makes samples; ASR makes words.
Ask students: Why keep an audio waveform’s sampling rate with its samples?
Expected answer: The rate tells the recogniser how many samples represent a second and preserves playback speed.
Common mistake: A higher editing strength permits larger changes; it does not guarantee sharper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Music generation uses the same toolkit: Meta's MusicGen is a language model over audio-codec tokens; Stable Audio is a latent diffusion model. The music industry has sued several music-generation companies over training data, a live copyright issue. Text-to-video models such as OpenAI's Sora and Google's Veo families extend diffusion transformers to space and time, and since 2025 some also generate synchronised sound. The open problems are temporal consistency, realistic physics, long durations and cost.
Ask students: What is the hardest open problem in video generation?
Expected answer: Keeping identities and motion consistent over time; longer videos also cost far more compute.
Common mistake: Assuming generated music is free to use. Rights holders have sued over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D. Strength controls how far along the noise schedule the original image is pushed before the model denoises it with the new prompt. Low strength keeps structure and colours; high strength keeps little of the original. It is related to the number of effective denoising steps, which is why the lab multiplies steps by strength. A, B and C confuse strength with other settings. This is the same forward process from week 4, applied to an existing image instead of pure noise.
Ask students: What does strength 0.3 do?
Expected answer: It adds little noise, so the result keeps most of the input's structure and colours.
Common mistake: Confusing strength with guidance scale (option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is about evaluation, which the descriptor lists explicitly for multimodal models. We summarise metrics by task, focus on multimodal hallucination with a real probe from the lab, and discuss how to design human evaluation for images and audio. About seventeen minutes.
Analogy: Use a different ruler for each measurement. A caption score, field accuracy and listening rubric answer different questions.
Ask students: Does zero WER prove generated speech sounds natural?
Expected answer: No. One recogniser recovered the words; naturalness needs listening evaluation.
Common mistake: An image-text similarity score is not a calibrated probability of factual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maps each task to its usual metrics. Images reuse FID and CLIP score from week 4, plus compositional benchmarks. Captions use CIDEr and CLIPScore. Question answering uses accuracy, which requires ground truth, which is why generating our own chart and invoice was useful. Speech uses word error rate through a recogniser and human Mean Opinion Scores for naturalness. Video uses Fréchet Video Distance and human rating.
Ask students: Which metric in the table needs known correct answers?
Expected answer: Known-answer accuracy for VQA; that is why the lab generates its own chart and invoice.
Common mistake: Reading a CLIP score as a calibrated probability that an image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in multimodal models takes specific forms: naming objects that are absent, reading numbers wrongly, inventing text in documents, and answering yes to leading questions. POPE, from Li and colleagues in 2023, measures object hallucination with balanced yes/no questions and reveals a tendency to say yes. Our lab probe asked about present and absent objects in the photos, chart and invoice; the measured result is in the bullet.
Analogy: A leading question can make a witness agree to something they never saw.
Ask students: Why does POPE balance yes and no questions?
Expected answer: Otherwise a model that always answers yes would look accurate.
Common mistake: Treating a perfect score on a small probe as proof that the model never hallucinates.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metrics for images and audio are only partial, so human evaluation is usually required, and week 7's principles apply. Pairwise comparisons are more reliable than absolute ratings, and randomising order prevents position bias. Rubrics make criteria explicit. Rater diversity and content diversity matter particularly for multimodal outputs: image generators and speech recognisers have documented disparities across skin tones, accents and languages. Report inter-rater agreement. The project's evaluation of any multimodal component must include such a small human study.
Ask students: Why compare two outputs side by side rather than rate one alone?
Expected answer: Pairwise judgements are more reliable than absolute scores, and randomised order prevents position bias.
Common mistake: Using raters from one group only. Quality can differ across accents, languages and skin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the harms of realistic synthetic media, the layered approach to provenance and labelling, consent and rights, the most valuable applications, emerging trends for 2026 and 2027, a design pattern for multimodal applications, and a responsible-use checklist. Leave time for the labelling discussion. About twenty-two minutes.
Analogy: A signed edit history resembles a tamper-evident record. It helps check origin and edits, but does not prove the depicted scene happened.
Ask students: What does the PNG-to-JPEG experiment demonstrate?
Expected answer: A simple text metadata label can disappear during ordinary file processing.
Common mistake: Unsigned metadata is not C2PA, and missing provenance is not proof of a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harms are real and current. In early 2024 an employee of the engineering firm Arup in Hong Kong transferred about twenty-five million US dollars after a video call in which the other participants were deepfakes. Non-consensual sexual deepfakes, including of minors, are one of the most damaging uses, and many jurisdictions have criminalised them. Synthetic media spreads disinformation, and the existence of fakes lets people dismiss genuine evidence, the liar's dividend. Scammers use synthetic personas.
Ask students: What is the liar's dividend?
Expected answer: Because fakes exist, people can dismiss genuine evidence as fake.
Common mistake: Assuming only famous people are targets. Fraud and harassment target ordinary people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works in layers, each with weaknesses. Visible labels are simple but easy to remove. C2PA content credentials, backed by major technology and media companies, cryptographically sign the history of an asset; some cameras and platforms support them, but credentials can be stripped. Invisible watermarks, such as Google DeepMind's SynthID for images, audio, video and text, survive common edits but exist only if the generator adds them. Detectors predict whether media is synthetic but are in an arms race.
Ask students: Which layer is most likely to survive a screenshot?
Expected answer: An invisible watermark such as SynthID may survive; metadata and C2PA credentials are usually lost.
Common mistake: Treating missing provenance as proof that media is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 pairs, then take two or three views. There is no single right answer, which is the point: labelling rules depend on context and harm. Most students agree that a family photo needs no visible label, but a news photograph or an insurance claim does, because people rely on it as evidence.
Ask students: Why might the insurance claim need a label when the family album does not?
Expected answer: People rely on the claim photo as evidence, so an undisclosed edit could deceive and cause harm.
Common mistake: Looking for one labelling rule for every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Rights issues are central to multimodal work. Faces and voices identify people, so using them requires consent, and laws protecting voice and likeness are spreading. Training on and imitating living artists' work is ethically and legally contested. Music and film rights holders have brought lawsuits against generative audio and video companies. Under GDPR, images of people and scanned documents are personal data, so processing them through third-party APIs needs a lawful basis and data-protection checks. These points go into the project's responsible-AI section.
Ask students: Is a scanned invoice personal data under GDPR?
Expected answer: Yes, if it identifies a person, for example by name or address.
Common mistake: Sending personal images to a third-party API without a lawful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Multimodal AI has many beneficial applications. Accessibility is perhaps the clearest: image descriptions and captions help blind and deaf users. Document processing, reading invoices, forms and contracts, is a major enterprise use. Voice assistants handle customer service in many languages. In education, models explain diagrams and give feedback on handwritten work, with teacher review. Design and marketing use image generation for concepts and localisation. Industrial inspection and robotics use vision-language models, including vision-language-action models that output robot actions.
Ask students: Which application on the slide most directly helps disabled users?
Expected answer: Accessibility: alt text for blind users and live captions for deaf users.
Common mistake: Deploying automated feedback on student work without teacher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ahead to the period when students graduate: models are converging on any-to-any designs; voice and video agents are becoming real time; video generation is adding sound, length and control; agents that see and operate computer screens are moving into products, which connects to week 12; world models that simulate environments are being developed for robotics and games; and small multimodal models run on phones. Remind students to verify any product claims when they encounter them: this area changes monthly.
Ask students: Why treat trend claims as model-specific?
Expected answer: Capabilities differ between models and change monthly; check the exact model before relying on a claim.
Common mistake: Planning a project around a product announcement rather than a tested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design pattern summarises the lecture and suits most projects. Check input quality and consent. Use a multimodal model to perceive and extract content into a structured schema. Verify with code: totals, formats, cross-references and business rules. Then act, answer or generate. Finally, route risky or uncertain cases to human review and label any generated media with provenance. The callout is the slogan: models perceive, code computes and checks, people decide when the stakes are high.
Ask students: In the receipt example, which step catches a misread amount?
Expected answer: Verify: code compares the extracted line items with the printed total.
Common mistake: Letting the model do the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adapts the five-step checklist from week 1 to multimodal work. Purpose includes asking whether people shown or heard could be harmed. Consent and data protection are central because faces, voices and documents are personal data. Verification must include hallucination and group-wise checks. Labelling synthetic media is now a legal duty in the EU. Recording licences matters because several popular multimodal models, including two in today's lab, restrict commercial use.
Ask students: Which two lab models restrict commercial use?
Expected answer: SD-Turbo (Stability AI Community License, with conditions) and MMS-TTS (non-commercial).
Common mistake: Recording results without model versions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contains several experiments rather than one model that performs every task. The first route uses ask for captions, chart questions and a fictional invoice. The score helper is a small heuristic: it checks a text substring or the first parsed number, so inspect full answers as well as its score. A separate diffusion route generates images and performs editing at different strengths. The clip_score function checks whether generated images align with their prompts, without establishing factual accuracy or complete visual quality. The speech route synthesises a waveform, transcribes it with Whisper and compares words using WER. That round trip measures recoverability through one recogniser, rather than human listening quality. The final PNG-to-JPEG experiment inspects how an attached AI-generation label can be lost after resharing.
Worked example:
Inspect the chart values and fictional invoice fields before calling the VLM.
Compare model answers with known answers and inspect any incorrect result.
Generate the lighthouse image; compare the original with edits at three strengths.
Compare original sentences with Whisper's recovered text, then listen to the audio.
Print the PNG metadata and compare it with the resaved JPEG's metadata.
Check: If WER is zero in the speech round trip, what has been demonstrated?
Answer: Whisper recovered the reference words after normalisation. Naturalness, emotion and human listening quality still require separate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covers the descriptor's list of multimodal generative tasks: image to text, cross-modal reasoning, text to image, image to image, text to audio and speech to text, with text to video discussed rather than run because of cost. Every part has a measurement, so students practise evaluation as well as generation. The provenance exercise makes the fragility of metadata concrete. Remind students of the licence restrictions of SD-Turbo (conditional Community License) and MMS-TTS (non-commercial).
Ask students: Why does the provenance exercise re-save a PNG as a JPEG?
Expected answer: To show that ordinary re-saving drops a simple text metadata label.
Common mistake: Treating unsigned metadata as C2PA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Hugging Face blog on vision language models is the best technical overview. Google's image understanding guide shows how a frontier API handles images and documents. The Diffusers documentation covers the generation pipelines used in the lab. The Hugging Face Audio course covers speech synthesis and recognition. For provenance, the C2PA site, Google DeepMind's SynthID page and the text of Article 50 are the primary sources. The LLaVA paper is the key reference for multimodal instruction tuning.
Ask students: Which sources are primary for provenance?
Expected answer: The C2PA site, Google DeepMind's SynthID page and the text of Article 50.
Common mistake: Relying on news summaries of the AI Act instead of its official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receipt from the warm-up. Ask students to separate reading a value from calculating with it. Reconstruct the VLM path from pixels and question to new answer tokens. Name the bridge as a learned mapping, then distinguish conceptual training from the frozen models used in the lab. Compare the image and speech routes: they create different outputs and require different measures. A CLIP score checks alignment; speech WER checks recovered words through one recogniser. Neither covers all quality. End by explaining why a removable PNG label is not signed provenance and why a correct sum can still use wrongly extracted values.
Exit question: Code sums extracted amounts correctly. Can the final total still be wrong?
Answer: Yes. An extracted amount may have been misread; check values against the image as well.
Recap the six points. Students should be able to explain the two MLLM designs, list generation tasks and their methods, choose evaluation metrics for each, and propose a layered provenance strategy. Next week we move from models to systems: deploying generative AI with frameworks and APIs, local and cloud serving, cost and latency, monitoring and guardrails, which every project will need.
Ask students: What is the one-line rule of the design pattern?
Expected answer: Models perceive, code computes and checks, and people decide when the stakes are high.
Common mistake: Evaluating only output quality, not reading errors and invented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image" Target="../media/image-39-6.png"/><Relationship Id="rId7" Type="http://schemas.openxmlformats.org/officeDocument/2006/relationships/slideLayout" Target="../slideLayouts/slideLayout1.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huggingface.co/blog/vlms" TargetMode="External"/><Relationship Id="rId4" Type="http://schemas.openxmlformats.org/officeDocument/2006/relationships/hyperlink" Target="https://ai.google.dev/gemini-api/docs/image-understanding" TargetMode="External"/><Relationship Id="rId6" Type="http://schemas.openxmlformats.org/officeDocument/2006/relationships/hyperlink" Target="https://huggingface.co/docs/diffusers/index" TargetMode="External"/><Relationship Id="rId8" Type="http://schemas.openxmlformats.org/officeDocument/2006/relationships/hyperlink" Target="https://huggingface.co/learn/audio-course/chapter0/introduction" TargetMode="External"/><Relationship Id="rId10" Type="http://schemas.openxmlformats.org/officeDocument/2006/relationships/hyperlink" Target="https://c2pa.org/" TargetMode="External"/><Relationship Id="rId12" Type="http://schemas.openxmlformats.org/officeDocument/2006/relationships/hyperlink" Target="https://deepmind.google/models/synthid/" TargetMode="External"/><Relationship Id="rId14" Type="http://schemas.openxmlformats.org/officeDocument/2006/relationships/hyperlink" Target="https://artificialintelligenceact.eu/article/50/" TargetMode="External"/><Relationship Id="rId16" Type="http://schemas.openxmlformats.org/officeDocument/2006/relationships/hyperlink" Target="https://arxiv.org/abs/2304.08485"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10</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Multimodal Generative AI Applications</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Read and generate media, inspect each stage, and verify what the model claims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10\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Trace how a </a:t>
            </a:r>
            <a:pPr indent="0" marL="0">
              <a:buNone/>
            </a:pPr>
            <a:r>
              <a:rPr lang="en-US" sz="1700" b="1" dirty="0">
                <a:solidFill>
                  <a:srgbClr val="1F2937"/>
                </a:solidFill>
                <a:latin typeface="Calibri" pitchFamily="34" charset="0"/>
                <a:ea typeface="Calibri" pitchFamily="34" charset="-122"/>
                <a:cs typeface="Calibri" pitchFamily="34" charset="-120"/>
              </a:rPr>
              <a:t>vision-language model (VLM)</a:t>
            </a:r>
            <a:pPr indent="0" marL="0">
              <a:buNone/>
            </a:pPr>
            <a:r>
              <a:rPr lang="en-US" sz="1700" dirty="0">
                <a:solidFill>
                  <a:srgbClr val="1F2937"/>
                </a:solidFill>
                <a:latin typeface="Calibri" pitchFamily="34" charset="0"/>
                <a:ea typeface="Calibri" pitchFamily="34" charset="-122"/>
                <a:cs typeface="Calibri" pitchFamily="34" charset="-120"/>
              </a:rPr>
              <a:t> uses image features with a language model; compare modular and native designs.</a:t>
            </a:r>
            <a:endParaRPr lang="en-US" sz="17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Explain the data and training stages used to align images with text and teach visual tasks.</a:t>
            </a:r>
            <a:endParaRPr lang="en-US" sz="17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Use models for captions, chart and invoice questions, image generation and editing, and speech generation.</a:t>
            </a:r>
            <a:endParaRPr lang="en-US" sz="17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factual answers with known values; use image-text scores, speech word errors and human scoring appropriately.</a:t>
            </a:r>
            <a:endParaRPr lang="en-US" sz="17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Identify </a:t>
            </a:r>
            <a:pPr indent="0" marL="0">
              <a:buNone/>
            </a:pPr>
            <a:r>
              <a:rPr lang="en-US" sz="1700" b="1" dirty="0">
                <a:solidFill>
                  <a:srgbClr val="1F2937"/>
                </a:solidFill>
                <a:latin typeface="Calibri" pitchFamily="34" charset="0"/>
                <a:ea typeface="Calibri" pitchFamily="34" charset="-122"/>
                <a:cs typeface="Calibri" pitchFamily="34" charset="-120"/>
              </a:rPr>
              <a:t>hallucination</a:t>
            </a:r>
            <a:pPr indent="0" marL="0">
              <a:buNone/>
            </a:pPr>
            <a:r>
              <a:rPr lang="en-US" sz="1700" dirty="0">
                <a:solidFill>
                  <a:srgbClr val="1F2937"/>
                </a:solidFill>
                <a:latin typeface="Calibri" pitchFamily="34" charset="0"/>
                <a:ea typeface="Calibri" pitchFamily="34" charset="-122"/>
                <a:cs typeface="Calibri" pitchFamily="34" charset="-120"/>
              </a:rPr>
              <a:t>: invented objects, text or numbers; separate reading errors from calculation errors.</a:t>
            </a:r>
            <a:endParaRPr lang="en-US" sz="17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Design responsible applications with consent, privacy, verification and clear media labels; explain limits of provenance methods.</a:t>
            </a:r>
            <a:endParaRPr lang="en-US" sz="17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2</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Analyse and apply multimodal generative AI</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E4F2FB"/>
          </a:solidFill>
          <a:ln w="15240">
            <a:solidFill>
              <a:srgbClr val="0072B2"/>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8</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FFF0E6"/>
          </a:solidFill>
          <a:ln w="15240">
            <a:solidFill>
              <a:srgbClr val="D55E00"/>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10: you are here</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Term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Plain meaning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Quick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Modality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type of data, such as text, images or audio, with its own structure.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What are the input and output modalities of image captioning?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Autoregressive generation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Generate a next token from the input and previously generated tokens.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What information is available when generating the third output token?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Ground truth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reference answer or observation used to check a model output.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How can a chart we create ourselves provide known answers?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VLM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vision-language model that processes images together with 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What two inputs are supplied for an invoice question?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 receipt photo must be split between four people. Which stage could fail?</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Read amounts accurately.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Calculate and cross-check totals.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Protect personal details.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Multimodal LLMs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chat models see, read and listen?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Choose a multimodal task</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The input, desired output and evaluation determine the route</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input + task</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selected route</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model input</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task output</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checked media</a:t>
            </a:r>
            <a:endParaRPr lang="en-US" sz="1441" dirty="0"/>
          </a:p>
        </p:txBody>
      </p:sp>
      <p:sp>
        <p:nvSpPr>
          <p:cNvPr id="17" name="Shape 15"/>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18" name="Text 16"/>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Start with data</a:t>
            </a:r>
            <a:endParaRPr lang="en-US" sz="1561" dirty="0"/>
          </a:p>
        </p:txBody>
      </p:sp>
      <p:sp>
        <p:nvSpPr>
          <p:cNvPr id="19" name="Text 17"/>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Input and</a:t>
            </a:r>
            <a:endParaRPr lang="en-US" sz="1441" dirty="0"/>
          </a:p>
        </p:txBody>
      </p:sp>
      <p:sp>
        <p:nvSpPr>
          <p:cNvPr id="20" name="Text 18"/>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desired task</a:t>
            </a:r>
            <a:endParaRPr lang="en-US" sz="1441" dirty="0"/>
          </a:p>
        </p:txBody>
      </p:sp>
      <p:sp>
        <p:nvSpPr>
          <p:cNvPr id="21" name="Text 19"/>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photos</a:t>
            </a:r>
            <a:endParaRPr lang="en-US" sz="1441" dirty="0"/>
          </a:p>
        </p:txBody>
      </p:sp>
      <p:sp>
        <p:nvSpPr>
          <p:cNvPr id="22" name="Shape 20"/>
          <p:cNvSpPr/>
          <p:nvPr/>
        </p:nvSpPr>
        <p:spPr>
          <a:xfrm>
            <a:off x="2598170" y="2939089"/>
            <a:ext cx="1565821" cy="1799677"/>
          </a:xfrm>
          <a:prstGeom prst="rect">
            <a:avLst/>
          </a:prstGeom>
          <a:solidFill>
            <a:srgbClr val="E5F7EF"/>
          </a:solidFill>
          <a:ln w="15240">
            <a:solidFill>
              <a:srgbClr val="009E73"/>
            </a:solidFill>
            <a:prstDash val="solid"/>
          </a:ln>
        </p:spPr>
      </p:sp>
      <p:sp>
        <p:nvSpPr>
          <p:cNvPr id="23" name="Text 21"/>
          <p:cNvSpPr txBox="1"/>
          <p:nvPr/>
        </p:nvSpPr>
        <p:spPr>
          <a:xfrm>
            <a:off x="2659176" y="34735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Choose route</a:t>
            </a:r>
            <a:endParaRPr lang="en-US" sz="1561" dirty="0"/>
          </a:p>
        </p:txBody>
      </p:sp>
      <p:sp>
        <p:nvSpPr>
          <p:cNvPr id="24" name="Text 22"/>
          <p:cNvSpPr txBox="1"/>
          <p:nvPr/>
        </p:nvSpPr>
        <p:spPr>
          <a:xfrm>
            <a:off x="2659176" y="3779751"/>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VLM, diffusion or</a:t>
            </a:r>
            <a:endParaRPr lang="en-US" sz="1441" dirty="0"/>
          </a:p>
        </p:txBody>
      </p:sp>
      <p:sp>
        <p:nvSpPr>
          <p:cNvPr id="25" name="Text 23"/>
          <p:cNvSpPr txBox="1"/>
          <p:nvPr/>
        </p:nvSpPr>
        <p:spPr>
          <a:xfrm>
            <a:off x="2659176" y="3992052"/>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speech</a:t>
            </a:r>
            <a:endParaRPr lang="en-US" sz="1441" dirty="0"/>
          </a:p>
        </p:txBody>
      </p:sp>
      <p:sp>
        <p:nvSpPr>
          <p:cNvPr id="26" name="Shape 24"/>
          <p:cNvSpPr/>
          <p:nvPr/>
        </p:nvSpPr>
        <p:spPr>
          <a:xfrm>
            <a:off x="4408015" y="2939089"/>
            <a:ext cx="1565821" cy="1799677"/>
          </a:xfrm>
          <a:prstGeom prst="roundRect">
            <a:avLst>
              <a:gd name="adj" fmla="val 4672"/>
            </a:avLst>
          </a:prstGeom>
          <a:solidFill>
            <a:srgbClr val="E4F2FB"/>
          </a:solidFill>
          <a:ln w="15240">
            <a:solidFill>
              <a:srgbClr val="0072B2"/>
            </a:solidFill>
            <a:prstDash val="solid"/>
          </a:ln>
        </p:spPr>
      </p:sp>
      <p:sp>
        <p:nvSpPr>
          <p:cNvPr id="27" name="Text 25"/>
          <p:cNvSpPr txBox="1"/>
          <p:nvPr/>
        </p:nvSpPr>
        <p:spPr>
          <a:xfrm>
            <a:off x="446902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 input</a:t>
            </a:r>
            <a:endParaRPr lang="en-US" sz="1561" dirty="0"/>
          </a:p>
        </p:txBody>
      </p:sp>
      <p:sp>
        <p:nvSpPr>
          <p:cNvPr id="28" name="Text 26"/>
          <p:cNvSpPr txBox="1"/>
          <p:nvPr/>
        </p:nvSpPr>
        <p:spPr>
          <a:xfrm>
            <a:off x="446902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expected</a:t>
            </a:r>
            <a:endParaRPr lang="en-US" sz="1441" dirty="0"/>
          </a:p>
        </p:txBody>
      </p:sp>
      <p:sp>
        <p:nvSpPr>
          <p:cNvPr id="29" name="Text 27"/>
          <p:cNvSpPr txBox="1"/>
          <p:nvPr/>
        </p:nvSpPr>
        <p:spPr>
          <a:xfrm>
            <a:off x="446902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pixels or tokens</a:t>
            </a:r>
            <a:endParaRPr lang="en-US" sz="1441" dirty="0"/>
          </a:p>
        </p:txBody>
      </p:sp>
      <p:sp>
        <p:nvSpPr>
          <p:cNvPr id="30" name="Text 28"/>
          <p:cNvSpPr txBox="1"/>
          <p:nvPr/>
        </p:nvSpPr>
        <p:spPr>
          <a:xfrm>
            <a:off x="443089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vlm_proc</a:t>
            </a:r>
            <a:endParaRPr lang="en-US" sz="1441" dirty="0"/>
          </a:p>
        </p:txBody>
      </p:sp>
      <p:sp>
        <p:nvSpPr>
          <p:cNvPr id="31" name="Shape 29"/>
          <p:cNvSpPr/>
          <p:nvPr/>
        </p:nvSpPr>
        <p:spPr>
          <a:xfrm>
            <a:off x="6217860" y="2939089"/>
            <a:ext cx="1565821" cy="1799677"/>
          </a:xfrm>
          <a:prstGeom prst="rect">
            <a:avLst/>
          </a:prstGeom>
          <a:solidFill>
            <a:srgbClr val="E5F7EF"/>
          </a:solidFill>
          <a:ln w="15240">
            <a:solidFill>
              <a:srgbClr val="009E73"/>
            </a:solidFill>
            <a:prstDash val="solid"/>
          </a:ln>
        </p:spPr>
      </p:sp>
      <p:sp>
        <p:nvSpPr>
          <p:cNvPr id="32" name="Text 30"/>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a:t>
            </a:r>
            <a:endParaRPr lang="en-US" sz="1561" dirty="0"/>
          </a:p>
        </p:txBody>
      </p:sp>
      <p:sp>
        <p:nvSpPr>
          <p:cNvPr id="33" name="Text 31"/>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output</a:t>
            </a:r>
            <a:endParaRPr lang="en-US" sz="1561" dirty="0"/>
          </a:p>
        </p:txBody>
      </p:sp>
      <p:sp>
        <p:nvSpPr>
          <p:cNvPr id="34" name="Text 32"/>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Text, image or</a:t>
            </a:r>
            <a:endParaRPr lang="en-US" sz="1441" dirty="0"/>
          </a:p>
        </p:txBody>
      </p:sp>
      <p:sp>
        <p:nvSpPr>
          <p:cNvPr id="35" name="Text 33"/>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waveform</a:t>
            </a:r>
            <a:endParaRPr lang="en-US" sz="1441" dirty="0"/>
          </a:p>
        </p:txBody>
      </p:sp>
      <p:sp>
        <p:nvSpPr>
          <p:cNvPr id="36" name="Text 34"/>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gen</a:t>
            </a:r>
            <a:endParaRPr lang="en-US" sz="1441" dirty="0"/>
          </a:p>
        </p:txBody>
      </p:sp>
      <p:sp>
        <p:nvSpPr>
          <p:cNvPr id="37" name="Shape 35"/>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38" name="Text 36"/>
          <p:cNvSpPr txBox="1"/>
          <p:nvPr/>
        </p:nvSpPr>
        <p:spPr>
          <a:xfrm>
            <a:off x="8088711"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task</a:t>
            </a:r>
            <a:endParaRPr lang="en-US" sz="1561" dirty="0"/>
          </a:p>
        </p:txBody>
      </p:sp>
      <p:sp>
        <p:nvSpPr>
          <p:cNvPr id="39" name="Text 37"/>
          <p:cNvSpPr txBox="1"/>
          <p:nvPr/>
        </p:nvSpPr>
        <p:spPr>
          <a:xfrm>
            <a:off x="8088711"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a</a:t>
            </a:r>
            <a:endParaRPr lang="en-US" sz="1441" dirty="0"/>
          </a:p>
        </p:txBody>
      </p:sp>
      <p:sp>
        <p:nvSpPr>
          <p:cNvPr id="40" name="Text 38"/>
          <p:cNvSpPr txBox="1"/>
          <p:nvPr/>
        </p:nvSpPr>
        <p:spPr>
          <a:xfrm>
            <a:off x="808871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task-specific</a:t>
            </a:r>
            <a:endParaRPr lang="en-US" sz="1441" dirty="0"/>
          </a:p>
        </p:txBody>
      </p:sp>
      <p:sp>
        <p:nvSpPr>
          <p:cNvPr id="41" name="Text 39"/>
          <p:cNvSpPr txBox="1"/>
          <p:nvPr/>
        </p:nvSpPr>
        <p:spPr>
          <a:xfrm>
            <a:off x="8088711"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measure</a:t>
            </a:r>
            <a:endParaRPr lang="en-US" sz="1441" dirty="0"/>
          </a:p>
        </p:txBody>
      </p:sp>
      <p:sp>
        <p:nvSpPr>
          <p:cNvPr id="42" name="Text 40"/>
          <p:cNvSpPr txBox="1"/>
          <p:nvPr/>
        </p:nvSpPr>
        <p:spPr>
          <a:xfrm>
            <a:off x="8050582"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score</a:t>
            </a:r>
            <a:endParaRPr lang="en-US" sz="1441" dirty="0"/>
          </a:p>
        </p:txBody>
      </p:sp>
      <p:sp>
        <p:nvSpPr>
          <p:cNvPr id="43" name="Shape 41"/>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44" name="Text 42"/>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Label media</a:t>
            </a:r>
            <a:endParaRPr lang="en-US" sz="1561" dirty="0"/>
          </a:p>
        </p:txBody>
      </p:sp>
      <p:sp>
        <p:nvSpPr>
          <p:cNvPr id="45" name="Text 43"/>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 re-saved</a:t>
            </a:r>
            <a:endParaRPr lang="en-US" sz="1441" dirty="0"/>
          </a:p>
        </p:txBody>
      </p:sp>
      <p:sp>
        <p:nvSpPr>
          <p:cNvPr id="46" name="Text 44"/>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metadata</a:t>
            </a:r>
            <a:endParaRPr lang="en-US" sz="1441" dirty="0"/>
          </a:p>
        </p:txBody>
      </p:sp>
      <p:sp>
        <p:nvSpPr>
          <p:cNvPr id="47" name="Text 45"/>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meta</a:t>
            </a:r>
            <a:endParaRPr lang="en-US" sz="1441" dirty="0"/>
          </a:p>
        </p:txBody>
      </p:sp>
      <p:sp>
        <p:nvSpPr>
          <p:cNvPr id="48" name="Shape 46"/>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9" name="Text 47"/>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0" name="Shape 48"/>
          <p:cNvSpPr/>
          <p:nvPr/>
        </p:nvSpPr>
        <p:spPr>
          <a:xfrm>
            <a:off x="2118929" y="5630979"/>
            <a:ext cx="198270" cy="198270"/>
          </a:xfrm>
          <a:prstGeom prst="rect">
            <a:avLst/>
          </a:prstGeom>
          <a:solidFill>
            <a:srgbClr val="E5F7EF"/>
          </a:solidFill>
          <a:ln w="15240">
            <a:solidFill>
              <a:srgbClr val="009E73"/>
            </a:solidFill>
            <a:prstDash val="solid"/>
          </a:ln>
        </p:spPr>
      </p:sp>
      <p:sp>
        <p:nvSpPr>
          <p:cNvPr id="51" name="Text 49"/>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2" name="Shape 50"/>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53" name="Text 51"/>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54" name="Shape 52"/>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55" name="Text 53"/>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56" name="Shape 54"/>
          <p:cNvSpPr/>
          <p:nvPr/>
        </p:nvSpPr>
        <p:spPr>
          <a:xfrm>
            <a:off x="5804824" y="5730113"/>
            <a:ext cx="335533" cy="0"/>
          </a:xfrm>
          <a:prstGeom prst="line">
            <a:avLst/>
          </a:prstGeom>
          <a:noFill/>
          <a:ln w="22860">
            <a:solidFill>
              <a:srgbClr val="009E73"/>
            </a:solidFill>
            <a:prstDash val="solid"/>
            <a:tailEnd type="triangle"/>
          </a:ln>
        </p:spPr>
      </p:sp>
      <p:sp>
        <p:nvSpPr>
          <p:cNvPr id="57" name="Text 55"/>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8" name="Text 56"/>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Can a good CLIP score demonstrate that generated speech sounds natural?</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Two designs: modular bridge vs. natively multimodal</a:t>
            </a:r>
            <a:endParaRPr lang="en-US" sz="3200" dirty="0"/>
          </a:p>
        </p:txBody>
      </p:sp>
      <p:sp>
        <p:nvSpPr>
          <p:cNvPr id="6" name="Shape 4"/>
          <p:cNvSpPr/>
          <p:nvPr/>
        </p:nvSpPr>
        <p:spPr>
          <a:xfrm>
            <a:off x="1937789" y="2894647"/>
            <a:ext cx="247064" cy="0"/>
          </a:xfrm>
          <a:prstGeom prst="line">
            <a:avLst/>
          </a:prstGeom>
          <a:noFill/>
          <a:ln w="22860">
            <a:solidFill>
              <a:srgbClr val="6B7280"/>
            </a:solidFill>
            <a:prstDash val="solid"/>
            <a:tailEnd type="triangle"/>
          </a:ln>
        </p:spPr>
      </p:sp>
      <p:sp>
        <p:nvSpPr>
          <p:cNvPr id="7" name="Shape 5"/>
          <p:cNvSpPr/>
          <p:nvPr/>
        </p:nvSpPr>
        <p:spPr>
          <a:xfrm>
            <a:off x="3173109" y="2894647"/>
            <a:ext cx="247064" cy="0"/>
          </a:xfrm>
          <a:prstGeom prst="line">
            <a:avLst/>
          </a:prstGeom>
          <a:noFill/>
          <a:ln w="22860">
            <a:solidFill>
              <a:srgbClr val="6B7280"/>
            </a:solidFill>
            <a:prstDash val="solid"/>
            <a:tailEnd type="triangle"/>
          </a:ln>
        </p:spPr>
      </p:sp>
      <p:sp>
        <p:nvSpPr>
          <p:cNvPr id="8" name="Shape 6"/>
          <p:cNvSpPr/>
          <p:nvPr/>
        </p:nvSpPr>
        <p:spPr>
          <a:xfrm>
            <a:off x="4408430" y="2894647"/>
            <a:ext cx="247064" cy="0"/>
          </a:xfrm>
          <a:prstGeom prst="line">
            <a:avLst/>
          </a:prstGeom>
          <a:noFill/>
          <a:ln w="22860">
            <a:solidFill>
              <a:srgbClr val="6B7280"/>
            </a:solidFill>
            <a:prstDash val="solid"/>
            <a:tailEnd type="triangle"/>
          </a:ln>
        </p:spPr>
      </p:sp>
      <p:sp>
        <p:nvSpPr>
          <p:cNvPr id="9" name="Shape 7"/>
          <p:cNvSpPr/>
          <p:nvPr/>
        </p:nvSpPr>
        <p:spPr>
          <a:xfrm>
            <a:off x="8279100" y="2894647"/>
            <a:ext cx="329419" cy="0"/>
          </a:xfrm>
          <a:prstGeom prst="line">
            <a:avLst/>
          </a:prstGeom>
          <a:noFill/>
          <a:ln w="22860">
            <a:solidFill>
              <a:srgbClr val="6B7280"/>
            </a:solidFill>
            <a:prstDash val="solid"/>
            <a:tailEnd type="triangle"/>
          </a:ln>
        </p:spPr>
      </p:sp>
      <p:sp>
        <p:nvSpPr>
          <p:cNvPr id="10" name="Shape 8"/>
          <p:cNvSpPr/>
          <p:nvPr/>
        </p:nvSpPr>
        <p:spPr>
          <a:xfrm>
            <a:off x="949532" y="2557334"/>
            <a:ext cx="988256" cy="674626"/>
          </a:xfrm>
          <a:prstGeom prst="roundRect">
            <a:avLst>
              <a:gd name="adj" fmla="val 10843"/>
            </a:avLst>
          </a:prstGeom>
          <a:solidFill>
            <a:srgbClr val="E4F2FB"/>
          </a:solidFill>
          <a:ln w="15240">
            <a:solidFill>
              <a:srgbClr val="0072B2"/>
            </a:solidFill>
            <a:prstDash val="solid"/>
          </a:ln>
        </p:spPr>
      </p:sp>
      <p:sp>
        <p:nvSpPr>
          <p:cNvPr id="11" name="Shape 9"/>
          <p:cNvSpPr/>
          <p:nvPr/>
        </p:nvSpPr>
        <p:spPr>
          <a:xfrm>
            <a:off x="2184853" y="2557334"/>
            <a:ext cx="988256" cy="674626"/>
          </a:xfrm>
          <a:prstGeom prst="rect">
            <a:avLst/>
          </a:prstGeom>
          <a:solidFill>
            <a:srgbClr val="E5F7EF"/>
          </a:solidFill>
          <a:ln w="15240">
            <a:solidFill>
              <a:srgbClr val="009E73"/>
            </a:solidFill>
            <a:prstDash val="solid"/>
          </a:ln>
        </p:spPr>
      </p:sp>
      <p:sp>
        <p:nvSpPr>
          <p:cNvPr id="12" name="Shape 10"/>
          <p:cNvSpPr/>
          <p:nvPr/>
        </p:nvSpPr>
        <p:spPr>
          <a:xfrm>
            <a:off x="3420173" y="2557334"/>
            <a:ext cx="988256" cy="674626"/>
          </a:xfrm>
          <a:prstGeom prst="rect">
            <a:avLst/>
          </a:prstGeom>
          <a:solidFill>
            <a:srgbClr val="E5F7EF"/>
          </a:solidFill>
          <a:ln w="15240">
            <a:solidFill>
              <a:srgbClr val="009E73"/>
            </a:solidFill>
            <a:prstDash val="solid"/>
          </a:ln>
        </p:spPr>
      </p:sp>
      <p:sp>
        <p:nvSpPr>
          <p:cNvPr id="13" name="Shape 11"/>
          <p:cNvSpPr/>
          <p:nvPr/>
        </p:nvSpPr>
        <p:spPr>
          <a:xfrm>
            <a:off x="4655494" y="2557334"/>
            <a:ext cx="988256" cy="674626"/>
          </a:xfrm>
          <a:prstGeom prst="rect">
            <a:avLst/>
          </a:prstGeom>
          <a:solidFill>
            <a:srgbClr val="E5F7EF"/>
          </a:solidFill>
          <a:ln w="15240">
            <a:solidFill>
              <a:srgbClr val="009E73"/>
            </a:solidFill>
            <a:prstDash val="solid"/>
          </a:ln>
        </p:spPr>
      </p:sp>
      <p:sp>
        <p:nvSpPr>
          <p:cNvPr id="14" name="Shape 12"/>
          <p:cNvSpPr/>
          <p:nvPr/>
        </p:nvSpPr>
        <p:spPr>
          <a:xfrm>
            <a:off x="6302588" y="2557334"/>
            <a:ext cx="1976513" cy="674626"/>
          </a:xfrm>
          <a:prstGeom prst="roundRect">
            <a:avLst>
              <a:gd name="adj" fmla="val 10843"/>
            </a:avLst>
          </a:prstGeom>
          <a:solidFill>
            <a:srgbClr val="E4F2FB"/>
          </a:solidFill>
          <a:ln w="15240">
            <a:solidFill>
              <a:srgbClr val="0072B2"/>
            </a:solidFill>
            <a:prstDash val="solid"/>
          </a:ln>
        </p:spPr>
      </p:sp>
      <p:sp>
        <p:nvSpPr>
          <p:cNvPr id="15" name="Shape 13"/>
          <p:cNvSpPr/>
          <p:nvPr/>
        </p:nvSpPr>
        <p:spPr>
          <a:xfrm>
            <a:off x="8608519" y="2557334"/>
            <a:ext cx="2635350" cy="674626"/>
          </a:xfrm>
          <a:prstGeom prst="rect">
            <a:avLst/>
          </a:prstGeom>
          <a:solidFill>
            <a:srgbClr val="E5F7EF"/>
          </a:solidFill>
          <a:ln w="15240">
            <a:solidFill>
              <a:srgbClr val="009E73"/>
            </a:solidFill>
            <a:prstDash val="solid"/>
          </a:ln>
        </p:spPr>
      </p:sp>
      <p:sp>
        <p:nvSpPr>
          <p:cNvPr id="16" name="Shape 14"/>
          <p:cNvSpPr/>
          <p:nvPr/>
        </p:nvSpPr>
        <p:spPr>
          <a:xfrm>
            <a:off x="908355" y="4065321"/>
            <a:ext cx="181180" cy="174609"/>
          </a:xfrm>
          <a:prstGeom prst="roundRect">
            <a:avLst>
              <a:gd name="adj" fmla="val 41895"/>
            </a:avLst>
          </a:prstGeom>
          <a:solidFill>
            <a:srgbClr val="E4F2FB"/>
          </a:solidFill>
          <a:ln w="15240">
            <a:solidFill>
              <a:srgbClr val="0072B2"/>
            </a:solidFill>
            <a:prstDash val="solid"/>
          </a:ln>
        </p:spPr>
      </p:sp>
      <p:sp>
        <p:nvSpPr>
          <p:cNvPr id="17" name="Shape 15"/>
          <p:cNvSpPr/>
          <p:nvPr/>
        </p:nvSpPr>
        <p:spPr>
          <a:xfrm>
            <a:off x="3049577" y="4065321"/>
            <a:ext cx="181180" cy="174609"/>
          </a:xfrm>
          <a:prstGeom prst="rect">
            <a:avLst/>
          </a:prstGeom>
          <a:solidFill>
            <a:srgbClr val="E5F7EF"/>
          </a:solidFill>
          <a:ln w="15240">
            <a:solidFill>
              <a:srgbClr val="009E73"/>
            </a:solidFill>
            <a:prstDash val="solid"/>
          </a:ln>
        </p:spPr>
      </p:sp>
      <p:sp>
        <p:nvSpPr>
          <p:cNvPr id="18" name="Text 16"/>
          <p:cNvSpPr txBox="1"/>
          <p:nvPr/>
        </p:nvSpPr>
        <p:spPr>
          <a:xfrm>
            <a:off x="949532" y="2028368"/>
            <a:ext cx="1899748"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Modular bridge</a:t>
            </a:r>
            <a:endParaRPr lang="en-US" sz="1867" dirty="0"/>
          </a:p>
        </p:txBody>
      </p:sp>
      <p:sp>
        <p:nvSpPr>
          <p:cNvPr id="19" name="Text 17"/>
          <p:cNvSpPr txBox="1"/>
          <p:nvPr/>
        </p:nvSpPr>
        <p:spPr>
          <a:xfrm>
            <a:off x="6302588" y="2028368"/>
            <a:ext cx="3074518"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Joint multimodal training</a:t>
            </a:r>
            <a:endParaRPr lang="en-US" sz="1867" dirty="0"/>
          </a:p>
        </p:txBody>
      </p:sp>
      <p:sp>
        <p:nvSpPr>
          <p:cNvPr id="20" name="Text 18"/>
          <p:cNvSpPr txBox="1"/>
          <p:nvPr/>
        </p:nvSpPr>
        <p:spPr>
          <a:xfrm>
            <a:off x="1077673" y="2770902"/>
            <a:ext cx="73197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Image</a:t>
            </a:r>
            <a:endParaRPr lang="en-US" sz="1680" dirty="0"/>
          </a:p>
        </p:txBody>
      </p:sp>
      <p:sp>
        <p:nvSpPr>
          <p:cNvPr id="21" name="Text 19"/>
          <p:cNvSpPr txBox="1"/>
          <p:nvPr/>
        </p:nvSpPr>
        <p:spPr>
          <a:xfrm>
            <a:off x="2189333" y="2770902"/>
            <a:ext cx="97929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Encoder</a:t>
            </a:r>
            <a:endParaRPr lang="en-US" sz="1680" dirty="0"/>
          </a:p>
        </p:txBody>
      </p:sp>
      <p:sp>
        <p:nvSpPr>
          <p:cNvPr id="22" name="Text 20"/>
          <p:cNvSpPr txBox="1"/>
          <p:nvPr/>
        </p:nvSpPr>
        <p:spPr>
          <a:xfrm>
            <a:off x="3517399" y="2770902"/>
            <a:ext cx="79380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Bridge</a:t>
            </a:r>
            <a:endParaRPr lang="en-US" sz="1680" dirty="0"/>
          </a:p>
        </p:txBody>
      </p:sp>
      <p:sp>
        <p:nvSpPr>
          <p:cNvPr id="23" name="Text 21"/>
          <p:cNvSpPr txBox="1"/>
          <p:nvPr/>
        </p:nvSpPr>
        <p:spPr>
          <a:xfrm>
            <a:off x="4876379" y="2770902"/>
            <a:ext cx="54648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LLM</a:t>
            </a:r>
            <a:endParaRPr lang="en-US" sz="1680" dirty="0"/>
          </a:p>
        </p:txBody>
      </p:sp>
      <p:sp>
        <p:nvSpPr>
          <p:cNvPr id="24" name="Text 22"/>
          <p:cNvSpPr txBox="1"/>
          <p:nvPr/>
        </p:nvSpPr>
        <p:spPr>
          <a:xfrm>
            <a:off x="6659871" y="2647157"/>
            <a:ext cx="126194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Supported</a:t>
            </a:r>
            <a:endParaRPr lang="en-US" sz="1680" dirty="0"/>
          </a:p>
        </p:txBody>
      </p:sp>
      <p:sp>
        <p:nvSpPr>
          <p:cNvPr id="25" name="Text 23"/>
          <p:cNvSpPr txBox="1"/>
          <p:nvPr/>
        </p:nvSpPr>
        <p:spPr>
          <a:xfrm>
            <a:off x="6659871" y="2894647"/>
            <a:ext cx="126194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input types</a:t>
            </a:r>
            <a:endParaRPr lang="en-US" sz="1680" dirty="0"/>
          </a:p>
        </p:txBody>
      </p:sp>
      <p:sp>
        <p:nvSpPr>
          <p:cNvPr id="26" name="Text 24"/>
          <p:cNvSpPr txBox="1"/>
          <p:nvPr/>
        </p:nvSpPr>
        <p:spPr>
          <a:xfrm>
            <a:off x="8946323" y="2770902"/>
            <a:ext cx="195974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Multimodal model</a:t>
            </a:r>
            <a:endParaRPr lang="en-US" sz="1680" dirty="0"/>
          </a:p>
        </p:txBody>
      </p:sp>
      <p:sp>
        <p:nvSpPr>
          <p:cNvPr id="27" name="Text 25"/>
          <p:cNvSpPr txBox="1"/>
          <p:nvPr/>
        </p:nvSpPr>
        <p:spPr>
          <a:xfrm>
            <a:off x="949532" y="3408807"/>
            <a:ext cx="4290888"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LLaVA joins pretrained vision and language parts.</a:t>
            </a:r>
            <a:endParaRPr lang="en-US" sz="1493" dirty="0"/>
          </a:p>
        </p:txBody>
      </p:sp>
      <p:sp>
        <p:nvSpPr>
          <p:cNvPr id="28" name="Text 26"/>
          <p:cNvSpPr txBox="1"/>
          <p:nvPr/>
        </p:nvSpPr>
        <p:spPr>
          <a:xfrm>
            <a:off x="6302588" y="3408807"/>
            <a:ext cx="3954135"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Inputs and outputs depend on the checkpoint.</a:t>
            </a:r>
            <a:endParaRPr lang="en-US" sz="1493" dirty="0"/>
          </a:p>
        </p:txBody>
      </p:sp>
      <p:sp>
        <p:nvSpPr>
          <p:cNvPr id="29" name="Text 27"/>
          <p:cNvSpPr txBox="1"/>
          <p:nvPr/>
        </p:nvSpPr>
        <p:spPr>
          <a:xfrm>
            <a:off x="1188361" y="4042630"/>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30" name="Text 28"/>
          <p:cNvSpPr txBox="1"/>
          <p:nvPr/>
        </p:nvSpPr>
        <p:spPr>
          <a:xfrm>
            <a:off x="3329583" y="4042630"/>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31" name="Text 29"/>
          <p:cNvSpPr txBox="1"/>
          <p:nvPr/>
        </p:nvSpPr>
        <p:spPr>
          <a:xfrm>
            <a:off x="548640" y="4585301"/>
            <a:ext cx="11094415" cy="1724059"/>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Modular:</a:t>
            </a:r>
            <a:pPr indent="0" marL="0">
              <a:buNone/>
            </a:pPr>
            <a:r>
              <a:rPr lang="en-US" sz="2000" dirty="0">
                <a:solidFill>
                  <a:srgbClr val="1F2937"/>
                </a:solidFill>
                <a:latin typeface="Calibri" pitchFamily="34" charset="0"/>
                <a:ea typeface="Calibri" pitchFamily="34" charset="-122"/>
                <a:cs typeface="Calibri" pitchFamily="34" charset="-120"/>
              </a:rPr>
              <a:t> pretrained encoder → bridge → language model.</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Native multimodal:</a:t>
            </a:r>
            <a:pPr indent="0" marL="0">
              <a:buNone/>
            </a:pPr>
            <a:r>
              <a:rPr lang="en-US" sz="2000" dirty="0">
                <a:solidFill>
                  <a:srgbClr val="1F2937"/>
                </a:solidFill>
                <a:latin typeface="Calibri" pitchFamily="34" charset="0"/>
                <a:ea typeface="Calibri" pitchFamily="34" charset="-122"/>
                <a:cs typeface="Calibri" pitchFamily="34" charset="-120"/>
              </a:rPr>
              <a:t> training mixes supported data types.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Trace the exact model’s inputs and outputs.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multimodal LLMs can do</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Describe / answer</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Write alt text for a photo. Check that every named object is really there.</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Documents / OCR</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Read an invoice number and total. Validate each field in code.</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Charts / tables</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Read one bar's value; check the axis and units. Add values in code.</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Video</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Summarise a lecture clip from sampled frames. A brief event can fall between frames.</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Speech</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Transcribe a spoken question and reply aloud. Check names and numbers.</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Screens / GUI</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Find the Submit button and propose a click. Code or a person approves it.</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Multimodal model families (examples, 2026)</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127752"/>
                <a:gridCol w="1366520"/>
                <a:gridCol w="4133534"/>
                <a:gridCol w="3466610"/>
              </a:tblGrid>
              <a:tr h="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Family</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Access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Inputs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Notes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GPT (OpenAI)</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Hosted</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Text and images; audio on some models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Live voice on some endpoints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Gemini (Google)</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Hosted</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Text, images, audio, video</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Long video and document inputs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Claude (Anthropic)</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Hosted</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Text, images, PDF pages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Reads charts, tables and scans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Qwen-VL / Qwen-Omni</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Open weights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Images and video; Omni adds audio</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Lab GPU route: Qwen3-VL-2B</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LLaVA</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Research</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Images + text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Reference modular design</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700" b="1" dirty="0">
                          <a:solidFill>
                            <a:srgbClr val="1F2937"/>
                          </a:solidFill>
                          <a:latin typeface="Calibri" pitchFamily="34" charset="0"/>
                          <a:ea typeface="Calibri" pitchFamily="34" charset="-122"/>
                          <a:cs typeface="Calibri" pitchFamily="34" charset="-120"/>
                        </a:rPr>
                        <a:t>SmolVLM</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Open weights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Images + text</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700" dirty="0">
                          <a:solidFill>
                            <a:srgbClr val="1F2937"/>
                          </a:solidFill>
                          <a:latin typeface="Calibri" pitchFamily="34" charset="0"/>
                          <a:ea typeface="Calibri" pitchFamily="34" charset="-122"/>
                          <a:cs typeface="Calibri" pitchFamily="34" charset="-120"/>
                        </a:rPr>
                        <a:t>Lab CPU route: 256 M parameters</a:t>
                      </a:r>
                      <a:endParaRPr lang="en-US" sz="17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Family examples: verify exact capabilities and licence.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picture and question to words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vision-language model connects visual features to text generation</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raw inputs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pixels + tokens</a:t>
            </a:r>
            <a:endParaRPr lang="en-US" sz="1441" dirty="0"/>
          </a:p>
        </p:txBody>
      </p:sp>
      <p:sp>
        <p:nvSpPr>
          <p:cNvPr id="11" name="Shape 9"/>
          <p:cNvSpPr/>
          <p:nvPr/>
        </p:nvSpPr>
        <p:spPr>
          <a:xfrm>
            <a:off x="5973836" y="3838927"/>
            <a:ext cx="244024" cy="0"/>
          </a:xfrm>
          <a:prstGeom prst="line">
            <a:avLst/>
          </a:prstGeom>
          <a:noFill/>
          <a:ln w="22860">
            <a:solidFill>
              <a:srgbClr val="009E73"/>
            </a:solidFill>
            <a:prstDash val="solid"/>
            <a:tailEnd type="triangle"/>
          </a:ln>
        </p:spPr>
      </p:sp>
      <p:sp>
        <p:nvSpPr>
          <p:cNvPr id="12" name="Text 10"/>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visual features</a:t>
            </a:r>
            <a:endParaRPr lang="en-US" sz="1441" dirty="0"/>
          </a:p>
        </p:txBody>
      </p:sp>
      <p:sp>
        <p:nvSpPr>
          <p:cNvPr id="13" name="Shape 11"/>
          <p:cNvSpPr/>
          <p:nvPr/>
        </p:nvSpPr>
        <p:spPr>
          <a:xfrm>
            <a:off x="7783680" y="3838927"/>
            <a:ext cx="244024" cy="0"/>
          </a:xfrm>
          <a:prstGeom prst="line">
            <a:avLst/>
          </a:prstGeom>
          <a:noFill/>
          <a:ln w="22860">
            <a:solidFill>
              <a:srgbClr val="009E73"/>
            </a:solidFill>
            <a:prstDash val="solid"/>
            <a:tailEnd type="triangle"/>
          </a:ln>
        </p:spPr>
      </p:sp>
      <p:sp>
        <p:nvSpPr>
          <p:cNvPr id="14" name="Text 12"/>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visual + text input</a:t>
            </a:r>
            <a:endParaRPr lang="en-US" sz="1441" dirty="0"/>
          </a:p>
        </p:txBody>
      </p:sp>
      <p:sp>
        <p:nvSpPr>
          <p:cNvPr id="15" name="Shape 13"/>
          <p:cNvSpPr/>
          <p:nvPr/>
        </p:nvSpPr>
        <p:spPr>
          <a:xfrm>
            <a:off x="9593525" y="3838927"/>
            <a:ext cx="244024" cy="0"/>
          </a:xfrm>
          <a:prstGeom prst="line">
            <a:avLst/>
          </a:prstGeom>
          <a:noFill/>
          <a:ln w="22860">
            <a:solidFill>
              <a:srgbClr val="009E73"/>
            </a:solidFill>
            <a:prstDash val="solid"/>
            <a:tailEnd type="triangle"/>
          </a:ln>
        </p:spPr>
      </p:sp>
      <p:sp>
        <p:nvSpPr>
          <p:cNvPr id="16" name="Text 14"/>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new token IDs</a:t>
            </a:r>
            <a:endParaRPr lang="en-US" sz="1441" dirty="0"/>
          </a:p>
        </p:txBody>
      </p:sp>
      <p:sp>
        <p:nvSpPr>
          <p:cNvPr id="17" name="Shape 15"/>
          <p:cNvSpPr/>
          <p:nvPr/>
        </p:nvSpPr>
        <p:spPr>
          <a:xfrm flipV="1">
            <a:off x="8891956" y="2191765"/>
            <a:ext cx="0" cy="747324"/>
          </a:xfrm>
          <a:prstGeom prst="line">
            <a:avLst/>
          </a:prstGeom>
          <a:noFill/>
          <a:ln w="22860">
            <a:solidFill>
              <a:srgbClr val="D55E00"/>
            </a:solidFill>
            <a:prstDash val="dash"/>
          </a:ln>
        </p:spPr>
      </p:sp>
      <p:sp>
        <p:nvSpPr>
          <p:cNvPr id="18" name="Shape 16"/>
          <p:cNvSpPr/>
          <p:nvPr/>
        </p:nvSpPr>
        <p:spPr>
          <a:xfrm flipH="1">
            <a:off x="8729274" y="2191765"/>
            <a:ext cx="162683" cy="0"/>
          </a:xfrm>
          <a:prstGeom prst="line">
            <a:avLst/>
          </a:prstGeom>
          <a:noFill/>
          <a:ln w="22860">
            <a:solidFill>
              <a:srgbClr val="D55E00"/>
            </a:solidFill>
            <a:prstDash val="dash"/>
          </a:ln>
        </p:spPr>
      </p:sp>
      <p:sp>
        <p:nvSpPr>
          <p:cNvPr id="19" name="Shape 17"/>
          <p:cNvSpPr/>
          <p:nvPr/>
        </p:nvSpPr>
        <p:spPr>
          <a:xfrm>
            <a:off x="8729274" y="2191765"/>
            <a:ext cx="0" cy="747324"/>
          </a:xfrm>
          <a:prstGeom prst="line">
            <a:avLst/>
          </a:prstGeom>
          <a:noFill/>
          <a:ln w="22860">
            <a:solidFill>
              <a:srgbClr val="D55E00"/>
            </a:solidFill>
            <a:prstDash val="dash"/>
            <a:tailEnd type="triangle"/>
          </a:ln>
        </p:spPr>
      </p:sp>
      <p:sp>
        <p:nvSpPr>
          <p:cNvPr id="20" name="Text 18"/>
          <p:cNvSpPr txBox="1"/>
          <p:nvPr/>
        </p:nvSpPr>
        <p:spPr>
          <a:xfrm>
            <a:off x="6263808" y="1917238"/>
            <a:ext cx="5093614"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New tokens extend the answer prefix for the next prediction.</a:t>
            </a:r>
            <a:endParaRPr lang="en-US" sz="1441" dirty="0"/>
          </a:p>
        </p:txBody>
      </p:sp>
      <p:sp>
        <p:nvSpPr>
          <p:cNvPr id="21" name="Shape 19"/>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2" name="Text 20"/>
          <p:cNvSpPr txBox="1"/>
          <p:nvPr/>
        </p:nvSpPr>
        <p:spPr>
          <a:xfrm>
            <a:off x="84933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Image +</a:t>
            </a:r>
            <a:endParaRPr lang="en-US" sz="1561" dirty="0"/>
          </a:p>
        </p:txBody>
      </p:sp>
      <p:sp>
        <p:nvSpPr>
          <p:cNvPr id="23" name="Text 21"/>
          <p:cNvSpPr txBox="1"/>
          <p:nvPr/>
        </p:nvSpPr>
        <p:spPr>
          <a:xfrm>
            <a:off x="84933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question</a:t>
            </a:r>
            <a:endParaRPr lang="en-US" sz="1561" dirty="0"/>
          </a:p>
        </p:txBody>
      </p:sp>
      <p:sp>
        <p:nvSpPr>
          <p:cNvPr id="24" name="Text 22"/>
          <p:cNvSpPr txBox="1"/>
          <p:nvPr/>
        </p:nvSpPr>
        <p:spPr>
          <a:xfrm>
            <a:off x="84933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Pixels and</a:t>
            </a:r>
            <a:endParaRPr lang="en-US" sz="1441" dirty="0"/>
          </a:p>
        </p:txBody>
      </p:sp>
      <p:sp>
        <p:nvSpPr>
          <p:cNvPr id="25" name="Text 23"/>
          <p:cNvSpPr txBox="1"/>
          <p:nvPr/>
        </p:nvSpPr>
        <p:spPr>
          <a:xfrm>
            <a:off x="84933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requested</a:t>
            </a:r>
            <a:endParaRPr lang="en-US" sz="1441" dirty="0"/>
          </a:p>
        </p:txBody>
      </p:sp>
      <p:sp>
        <p:nvSpPr>
          <p:cNvPr id="26" name="Text 24"/>
          <p:cNvSpPr txBox="1"/>
          <p:nvPr/>
        </p:nvSpPr>
        <p:spPr>
          <a:xfrm>
            <a:off x="84933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a:t>
            </a:r>
            <a:endParaRPr lang="en-US" sz="1441" dirty="0"/>
          </a:p>
        </p:txBody>
      </p:sp>
      <p:sp>
        <p:nvSpPr>
          <p:cNvPr id="27" name="Text 25"/>
          <p:cNvSpPr txBox="1"/>
          <p:nvPr/>
        </p:nvSpPr>
        <p:spPr>
          <a:xfrm>
            <a:off x="81120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ask</a:t>
            </a:r>
            <a:endParaRPr lang="en-US" sz="1441" dirty="0"/>
          </a:p>
        </p:txBody>
      </p:sp>
      <p:sp>
        <p:nvSpPr>
          <p:cNvPr id="28" name="Shape 26"/>
          <p:cNvSpPr/>
          <p:nvPr/>
        </p:nvSpPr>
        <p:spPr>
          <a:xfrm>
            <a:off x="2598170" y="2939089"/>
            <a:ext cx="1565821" cy="1799677"/>
          </a:xfrm>
          <a:prstGeom prst="roundRect">
            <a:avLst>
              <a:gd name="adj" fmla="val 4672"/>
            </a:avLst>
          </a:prstGeom>
          <a:solidFill>
            <a:srgbClr val="E4F2FB"/>
          </a:solidFill>
          <a:ln w="15240">
            <a:solidFill>
              <a:srgbClr val="0072B2"/>
            </a:solidFill>
            <a:prstDash val="solid"/>
          </a:ln>
        </p:spPr>
      </p:sp>
      <p:sp>
        <p:nvSpPr>
          <p:cNvPr id="29" name="Text 27"/>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Prepare inputs</a:t>
            </a:r>
            <a:endParaRPr lang="en-US" sz="1561" dirty="0"/>
          </a:p>
        </p:txBody>
      </p:sp>
      <p:sp>
        <p:nvSpPr>
          <p:cNvPr id="30" name="Text 28"/>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Pixels plus</a:t>
            </a:r>
            <a:endParaRPr lang="en-US" sz="1441" dirty="0"/>
          </a:p>
        </p:txBody>
      </p:sp>
      <p:sp>
        <p:nvSpPr>
          <p:cNvPr id="31" name="Text 29"/>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question tokens</a:t>
            </a:r>
            <a:endParaRPr lang="en-US" sz="1441" dirty="0"/>
          </a:p>
        </p:txBody>
      </p:sp>
      <p:sp>
        <p:nvSpPr>
          <p:cNvPr id="32" name="Text 30"/>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vlm_proc</a:t>
            </a:r>
            <a:endParaRPr lang="en-US" sz="1441" dirty="0"/>
          </a:p>
        </p:txBody>
      </p:sp>
      <p:sp>
        <p:nvSpPr>
          <p:cNvPr id="33" name="Shape 31"/>
          <p:cNvSpPr/>
          <p:nvPr/>
        </p:nvSpPr>
        <p:spPr>
          <a:xfrm>
            <a:off x="4408015" y="2939089"/>
            <a:ext cx="1565821" cy="1799677"/>
          </a:xfrm>
          <a:prstGeom prst="rect">
            <a:avLst/>
          </a:prstGeom>
          <a:solidFill>
            <a:srgbClr val="E5F7EF"/>
          </a:solidFill>
          <a:ln w="15240">
            <a:solidFill>
              <a:srgbClr val="009E73"/>
            </a:solidFill>
            <a:prstDash val="solid"/>
          </a:ln>
        </p:spPr>
      </p:sp>
      <p:sp>
        <p:nvSpPr>
          <p:cNvPr id="34" name="Text 32"/>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Vision</a:t>
            </a:r>
            <a:endParaRPr lang="en-US" sz="1561" dirty="0"/>
          </a:p>
        </p:txBody>
      </p:sp>
      <p:sp>
        <p:nvSpPr>
          <p:cNvPr id="35" name="Text 33"/>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features</a:t>
            </a:r>
            <a:endParaRPr lang="en-US" sz="1561" dirty="0"/>
          </a:p>
        </p:txBody>
      </p:sp>
      <p:sp>
        <p:nvSpPr>
          <p:cNvPr id="36" name="Text 34"/>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Encode the</a:t>
            </a:r>
            <a:endParaRPr lang="en-US" sz="1441" dirty="0"/>
          </a:p>
        </p:txBody>
      </p:sp>
      <p:sp>
        <p:nvSpPr>
          <p:cNvPr id="37" name="Text 35"/>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visible input</a:t>
            </a:r>
            <a:endParaRPr lang="en-US" sz="1441" dirty="0"/>
          </a:p>
        </p:txBody>
      </p:sp>
      <p:sp>
        <p:nvSpPr>
          <p:cNvPr id="38" name="Text 36"/>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vlm</a:t>
            </a:r>
            <a:endParaRPr lang="en-US" sz="1441" dirty="0"/>
          </a:p>
        </p:txBody>
      </p:sp>
      <p:sp>
        <p:nvSpPr>
          <p:cNvPr id="39" name="Shape 37"/>
          <p:cNvSpPr/>
          <p:nvPr/>
        </p:nvSpPr>
        <p:spPr>
          <a:xfrm>
            <a:off x="6217860" y="2939089"/>
            <a:ext cx="1565821" cy="1799677"/>
          </a:xfrm>
          <a:prstGeom prst="rect">
            <a:avLst/>
          </a:prstGeom>
          <a:solidFill>
            <a:srgbClr val="E5F7EF"/>
          </a:solidFill>
          <a:ln w="15240">
            <a:solidFill>
              <a:srgbClr val="009E73"/>
            </a:solidFill>
            <a:prstDash val="solid"/>
          </a:ln>
        </p:spPr>
      </p:sp>
      <p:sp>
        <p:nvSpPr>
          <p:cNvPr id="40" name="Text 38"/>
          <p:cNvSpPr txBox="1"/>
          <p:nvPr/>
        </p:nvSpPr>
        <p:spPr>
          <a:xfrm>
            <a:off x="627886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Bridge</a:t>
            </a:r>
            <a:endParaRPr lang="en-US" sz="1561" dirty="0"/>
          </a:p>
        </p:txBody>
      </p:sp>
      <p:sp>
        <p:nvSpPr>
          <p:cNvPr id="41" name="Text 39"/>
          <p:cNvSpPr txBox="1"/>
          <p:nvPr/>
        </p:nvSpPr>
        <p:spPr>
          <a:xfrm>
            <a:off x="627886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features</a:t>
            </a:r>
            <a:endParaRPr lang="en-US" sz="1561" dirty="0"/>
          </a:p>
        </p:txBody>
      </p:sp>
      <p:sp>
        <p:nvSpPr>
          <p:cNvPr id="42" name="Text 40"/>
          <p:cNvSpPr txBox="1"/>
          <p:nvPr/>
        </p:nvSpPr>
        <p:spPr>
          <a:xfrm>
            <a:off x="627886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Map for</a:t>
            </a:r>
            <a:endParaRPr lang="en-US" sz="1441" dirty="0"/>
          </a:p>
        </p:txBody>
      </p:sp>
      <p:sp>
        <p:nvSpPr>
          <p:cNvPr id="43" name="Text 41"/>
          <p:cNvSpPr txBox="1"/>
          <p:nvPr/>
        </p:nvSpPr>
        <p:spPr>
          <a:xfrm>
            <a:off x="627886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language</a:t>
            </a:r>
            <a:endParaRPr lang="en-US" sz="1441" dirty="0"/>
          </a:p>
        </p:txBody>
      </p:sp>
      <p:sp>
        <p:nvSpPr>
          <p:cNvPr id="44" name="Text 42"/>
          <p:cNvSpPr txBox="1"/>
          <p:nvPr/>
        </p:nvSpPr>
        <p:spPr>
          <a:xfrm>
            <a:off x="627886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component</a:t>
            </a:r>
            <a:endParaRPr lang="en-US" sz="1441" dirty="0"/>
          </a:p>
        </p:txBody>
      </p:sp>
      <p:sp>
        <p:nvSpPr>
          <p:cNvPr id="45" name="Text 43"/>
          <p:cNvSpPr txBox="1"/>
          <p:nvPr/>
        </p:nvSpPr>
        <p:spPr>
          <a:xfrm>
            <a:off x="624073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vlm</a:t>
            </a:r>
            <a:endParaRPr lang="en-US" sz="1441" dirty="0"/>
          </a:p>
        </p:txBody>
      </p:sp>
      <p:sp>
        <p:nvSpPr>
          <p:cNvPr id="46" name="Shape 44"/>
          <p:cNvSpPr/>
          <p:nvPr/>
        </p:nvSpPr>
        <p:spPr>
          <a:xfrm>
            <a:off x="8027705" y="2939089"/>
            <a:ext cx="1565821" cy="1799677"/>
          </a:xfrm>
          <a:prstGeom prst="rect">
            <a:avLst/>
          </a:prstGeom>
          <a:solidFill>
            <a:srgbClr val="E5F7EF"/>
          </a:solidFill>
          <a:ln w="15240">
            <a:solidFill>
              <a:srgbClr val="009E73"/>
            </a:solidFill>
            <a:prstDash val="solid"/>
          </a:ln>
        </p:spPr>
      </p:sp>
      <p:sp>
        <p:nvSpPr>
          <p:cNvPr id="47" name="Text 45"/>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 next</a:t>
            </a:r>
            <a:endParaRPr lang="en-US" sz="1561" dirty="0"/>
          </a:p>
        </p:txBody>
      </p:sp>
      <p:sp>
        <p:nvSpPr>
          <p:cNvPr id="48" name="Text 46"/>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a:t>
            </a:r>
            <a:endParaRPr lang="en-US" sz="1561" dirty="0"/>
          </a:p>
        </p:txBody>
      </p:sp>
      <p:sp>
        <p:nvSpPr>
          <p:cNvPr id="49" name="Text 47"/>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Use input and</a:t>
            </a:r>
            <a:endParaRPr lang="en-US" sz="1441" dirty="0"/>
          </a:p>
        </p:txBody>
      </p:sp>
      <p:sp>
        <p:nvSpPr>
          <p:cNvPr id="50" name="Text 48"/>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 prefix</a:t>
            </a:r>
            <a:endParaRPr lang="en-US" sz="1441" dirty="0"/>
          </a:p>
        </p:txBody>
      </p:sp>
      <p:sp>
        <p:nvSpPr>
          <p:cNvPr id="51" name="Text 49"/>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vlm.generate</a:t>
            </a:r>
            <a:endParaRPr lang="en-US" sz="1441" dirty="0"/>
          </a:p>
        </p:txBody>
      </p:sp>
      <p:sp>
        <p:nvSpPr>
          <p:cNvPr id="52" name="Shape 50"/>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3" name="Text 51"/>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Decode</a:t>
            </a:r>
            <a:endParaRPr lang="en-US" sz="1561" dirty="0"/>
          </a:p>
        </p:txBody>
      </p:sp>
      <p:sp>
        <p:nvSpPr>
          <p:cNvPr id="54" name="Text 52"/>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answer</a:t>
            </a:r>
            <a:endParaRPr lang="en-US" sz="1561" dirty="0"/>
          </a:p>
        </p:txBody>
      </p:sp>
      <p:sp>
        <p:nvSpPr>
          <p:cNvPr id="55" name="Text 53"/>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only the</a:t>
            </a:r>
            <a:endParaRPr lang="en-US" sz="1441" dirty="0"/>
          </a:p>
        </p:txBody>
      </p:sp>
      <p:sp>
        <p:nvSpPr>
          <p:cNvPr id="56" name="Text 54"/>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continuation</a:t>
            </a:r>
            <a:endParaRPr lang="en-US" sz="1441" dirty="0"/>
          </a:p>
        </p:txBody>
      </p:sp>
      <p:sp>
        <p:nvSpPr>
          <p:cNvPr id="57" name="Text 55"/>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vlm_proc.decode</a:t>
            </a:r>
            <a:endParaRPr lang="en-US" sz="1441" dirty="0"/>
          </a:p>
        </p:txBody>
      </p:sp>
      <p:sp>
        <p:nvSpPr>
          <p:cNvPr id="58" name="Shape 56"/>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9" name="Text 57"/>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60" name="Shape 58"/>
          <p:cNvSpPr/>
          <p:nvPr/>
        </p:nvSpPr>
        <p:spPr>
          <a:xfrm>
            <a:off x="2118929" y="5630979"/>
            <a:ext cx="198270" cy="198270"/>
          </a:xfrm>
          <a:prstGeom prst="rect">
            <a:avLst/>
          </a:prstGeom>
          <a:solidFill>
            <a:srgbClr val="E5F7EF"/>
          </a:solidFill>
          <a:ln w="15240">
            <a:solidFill>
              <a:srgbClr val="009E73"/>
            </a:solidFill>
            <a:prstDash val="solid"/>
          </a:ln>
        </p:spPr>
      </p:sp>
      <p:sp>
        <p:nvSpPr>
          <p:cNvPr id="61" name="Text 59"/>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2" name="Shape 60"/>
          <p:cNvSpPr/>
          <p:nvPr/>
        </p:nvSpPr>
        <p:spPr>
          <a:xfrm>
            <a:off x="3122778" y="5630979"/>
            <a:ext cx="198270" cy="198270"/>
          </a:xfrm>
          <a:prstGeom prst="roundRect">
            <a:avLst>
              <a:gd name="adj" fmla="val 36895"/>
            </a:avLst>
          </a:prstGeom>
          <a:solidFill>
            <a:srgbClr val="F9EAF4"/>
          </a:solidFill>
          <a:ln w="15240">
            <a:solidFill>
              <a:srgbClr val="CC79A7"/>
            </a:solidFill>
            <a:prstDash val="solid"/>
          </a:ln>
        </p:spPr>
      </p:sp>
      <p:sp>
        <p:nvSpPr>
          <p:cNvPr id="63" name="Text 61"/>
          <p:cNvSpPr txBox="1"/>
          <p:nvPr/>
        </p:nvSpPr>
        <p:spPr>
          <a:xfrm>
            <a:off x="3382054"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4" name="Shape 62"/>
          <p:cNvSpPr/>
          <p:nvPr/>
        </p:nvSpPr>
        <p:spPr>
          <a:xfrm>
            <a:off x="4179476" y="5730113"/>
            <a:ext cx="335533" cy="0"/>
          </a:xfrm>
          <a:prstGeom prst="line">
            <a:avLst/>
          </a:prstGeom>
          <a:noFill/>
          <a:ln w="22860">
            <a:solidFill>
              <a:srgbClr val="009E73"/>
            </a:solidFill>
            <a:prstDash val="solid"/>
            <a:tailEnd type="triangle"/>
          </a:ln>
        </p:spPr>
      </p:sp>
      <p:sp>
        <p:nvSpPr>
          <p:cNvPr id="65" name="Text 63"/>
          <p:cNvSpPr txBox="1"/>
          <p:nvPr/>
        </p:nvSpPr>
        <p:spPr>
          <a:xfrm>
            <a:off x="457601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6" name="Shape 64"/>
          <p:cNvSpPr/>
          <p:nvPr/>
        </p:nvSpPr>
        <p:spPr>
          <a:xfrm>
            <a:off x="5562861" y="5730113"/>
            <a:ext cx="335533" cy="0"/>
          </a:xfrm>
          <a:prstGeom prst="line">
            <a:avLst/>
          </a:prstGeom>
          <a:noFill/>
          <a:ln w="22860">
            <a:solidFill>
              <a:srgbClr val="D55E00"/>
            </a:solidFill>
            <a:prstDash val="dash"/>
            <a:tailEnd type="triangle"/>
          </a:ln>
        </p:spPr>
      </p:sp>
      <p:sp>
        <p:nvSpPr>
          <p:cNvPr id="67" name="Text 65"/>
          <p:cNvSpPr txBox="1"/>
          <p:nvPr/>
        </p:nvSpPr>
        <p:spPr>
          <a:xfrm>
            <a:off x="5959400"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68" name="Text 66"/>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does ask remove the input token prefix before decoding?</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captions from an open VLM</a:t>
            </a:r>
            <a:endParaRPr lang="en-US" sz="3200" dirty="0"/>
          </a:p>
        </p:txBody>
      </p:sp>
      <p:pic>
        <p:nvPicPr>
          <p:cNvPr id="6" name="Image 0" descr="C:\Users\sudee\Downloads\Generative_AI_2027_Teaching_Pack\AI2027_Project\build\figures\week_10\lab_caption.png">    </p:cNvPr>
          <p:cNvPicPr>
            <a:picLocks noChangeAspect="1"/>
          </p:cNvPicPr>
          <p:nvPr/>
        </p:nvPicPr>
        <p:blipFill>
          <a:blip r:embed="rId1"/>
          <a:stretch>
            <a:fillRect/>
          </a:stretch>
        </p:blipFill>
        <p:spPr>
          <a:xfrm>
            <a:off x="1499745" y="1481328"/>
            <a:ext cx="9192205" cy="3191256"/>
          </a:xfrm>
          <a:prstGeom prst="rect">
            <a:avLst/>
          </a:prstGeom>
        </p:spPr>
      </p:pic>
      <p:sp>
        <p:nvSpPr>
          <p:cNvPr id="7" name="Text 4"/>
          <p:cNvSpPr txBox="1"/>
          <p:nvPr/>
        </p:nvSpPr>
        <p:spPr>
          <a:xfrm>
            <a:off x="548640" y="4855464"/>
            <a:ext cx="11094415" cy="145389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temple: “A traditional Chinese pagoda with red walls and orange-tiled roofs stands majestically on a hill overlooking…”; flower: “A close-up of a vibrant, peach-colored dahlia flower with a soft, blurred green background.”</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Compare every claimed detail with the photographs.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images become tokens, and why resolution matters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Example: (336/14)² = 576 image patches.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Higher resolution can retain small text, at greater cost.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Tiles and sampled video frames change the token load.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the exact model and billing rules.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an invoice and verify the numbers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Separate visual extraction from arithmetic and factual checking</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invoice pixels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image + question</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candidate answer</a:t>
            </a:r>
            <a:endParaRPr lang="en-US" sz="1441" dirty="0"/>
          </a:p>
        </p:txBody>
      </p:sp>
      <p:sp>
        <p:nvSpPr>
          <p:cNvPr id="13" name="Shape 11"/>
          <p:cNvSpPr/>
          <p:nvPr/>
        </p:nvSpPr>
        <p:spPr>
          <a:xfrm>
            <a:off x="9231556" y="3838927"/>
            <a:ext cx="244024" cy="0"/>
          </a:xfrm>
          <a:prstGeom prst="line">
            <a:avLst/>
          </a:prstGeom>
          <a:noFill/>
          <a:ln w="22860">
            <a:solidFill>
              <a:srgbClr val="009E73"/>
            </a:solidFill>
            <a:prstDash val="solid"/>
            <a:tailEnd type="triangle"/>
          </a:ln>
        </p:spPr>
      </p:sp>
      <p:sp>
        <p:nvSpPr>
          <p:cNvPr id="14" name="Text 12"/>
          <p:cNvSpPr txBox="1"/>
          <p:nvPr/>
        </p:nvSpPr>
        <p:spPr>
          <a:xfrm>
            <a:off x="8552865"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checked value or</a:t>
            </a:r>
            <a:endParaRPr lang="en-US" sz="1441" dirty="0"/>
          </a:p>
        </p:txBody>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error</a:t>
            </a:r>
            <a:endParaRPr lang="en-US" sz="1441" dirty="0"/>
          </a:p>
        </p:txBody>
      </p:sp>
      <p:sp>
        <p:nvSpPr>
          <p:cNvPr id="16" name="Shape 14"/>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7" name="Text 15"/>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Known invoice</a:t>
            </a:r>
            <a:endParaRPr lang="en-US" sz="1561" dirty="0"/>
          </a:p>
        </p:txBody>
      </p:sp>
      <p:sp>
        <p:nvSpPr>
          <p:cNvPr id="18" name="Text 16"/>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Render fictional</a:t>
            </a:r>
            <a:endParaRPr lang="en-US" sz="1441" dirty="0"/>
          </a:p>
        </p:txBody>
      </p:sp>
      <p:sp>
        <p:nvSpPr>
          <p:cNvPr id="19" name="Text 17"/>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fields</a:t>
            </a:r>
            <a:endParaRPr lang="en-US" sz="1441" dirty="0"/>
          </a:p>
        </p:txBody>
      </p:sp>
      <p:sp>
        <p:nvSpPr>
          <p:cNvPr id="20" name="Text 18"/>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document</a:t>
            </a:r>
            <a:endParaRPr lang="en-US" sz="1441" dirty="0"/>
          </a:p>
        </p:txBody>
      </p:sp>
      <p:sp>
        <p:nvSpPr>
          <p:cNvPr id="21" name="Shape 19"/>
          <p:cNvSpPr/>
          <p:nvPr/>
        </p:nvSpPr>
        <p:spPr>
          <a:xfrm>
            <a:off x="2960139" y="2939089"/>
            <a:ext cx="1927790" cy="1799677"/>
          </a:xfrm>
          <a:prstGeom prst="roundRect">
            <a:avLst>
              <a:gd name="adj" fmla="val 4065"/>
            </a:avLst>
          </a:prstGeom>
          <a:solidFill>
            <a:srgbClr val="E4F2FB"/>
          </a:solidFill>
          <a:ln w="15240">
            <a:solidFill>
              <a:srgbClr val="0072B2"/>
            </a:solidFill>
            <a:prstDash val="solid"/>
          </a:ln>
        </p:spPr>
      </p:sp>
      <p:sp>
        <p:nvSpPr>
          <p:cNvPr id="22" name="Text 20"/>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Ask for a field</a:t>
            </a:r>
            <a:endParaRPr lang="en-US" sz="1561" dirty="0"/>
          </a:p>
        </p:txBody>
      </p:sp>
      <p:sp>
        <p:nvSpPr>
          <p:cNvPr id="23" name="Text 21"/>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Give image and</a:t>
            </a:r>
            <a:endParaRPr lang="en-US" sz="1441" dirty="0"/>
          </a:p>
        </p:txBody>
      </p:sp>
      <p:sp>
        <p:nvSpPr>
          <p:cNvPr id="24" name="Text 22"/>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precise question</a:t>
            </a:r>
            <a:endParaRPr lang="en-US" sz="1441" dirty="0"/>
          </a:p>
        </p:txBody>
      </p:sp>
      <p:sp>
        <p:nvSpPr>
          <p:cNvPr id="25" name="Text 23"/>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ask</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Read image</a:t>
            </a:r>
            <a:endParaRPr lang="en-US" sz="1561" dirty="0"/>
          </a:p>
        </p:txBody>
      </p:sp>
      <p:sp>
        <p:nvSpPr>
          <p:cNvPr id="28" name="Text 26"/>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Generate candidate</a:t>
            </a:r>
            <a:endParaRPr lang="en-US" sz="1441" dirty="0"/>
          </a:p>
        </p:txBody>
      </p:sp>
      <p:sp>
        <p:nvSpPr>
          <p:cNvPr id="29" name="Text 27"/>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values</a:t>
            </a:r>
            <a:endParaRPr lang="en-US" sz="1441" dirty="0"/>
          </a:p>
        </p:txBody>
      </p:sp>
      <p:sp>
        <p:nvSpPr>
          <p:cNvPr id="30" name="Text 28"/>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vlm.generate</a:t>
            </a:r>
            <a:endParaRPr lang="en-US" sz="1441" dirty="0"/>
          </a:p>
        </p:txBody>
      </p:sp>
      <p:sp>
        <p:nvSpPr>
          <p:cNvPr id="31" name="Shape 29"/>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32" name="Text 30"/>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source</a:t>
            </a:r>
            <a:endParaRPr lang="en-US" sz="1561" dirty="0"/>
          </a:p>
        </p:txBody>
      </p:sp>
      <p:sp>
        <p:nvSpPr>
          <p:cNvPr id="33" name="Text 31"/>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 with known</a:t>
            </a:r>
            <a:endParaRPr lang="en-US" sz="1441" dirty="0"/>
          </a:p>
        </p:txBody>
      </p:sp>
      <p:sp>
        <p:nvSpPr>
          <p:cNvPr id="34" name="Text 32"/>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a:t>
            </a:r>
            <a:endParaRPr lang="en-US" sz="1441" dirty="0"/>
          </a:p>
        </p:txBody>
      </p:sp>
      <p:sp>
        <p:nvSpPr>
          <p:cNvPr id="35" name="Text 33"/>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score</a:t>
            </a:r>
            <a:endParaRPr lang="en-US" sz="1441" dirty="0"/>
          </a:p>
        </p:txBody>
      </p:sp>
      <p:sp>
        <p:nvSpPr>
          <p:cNvPr id="36" name="Shape 34"/>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7" name="Text 35"/>
          <p:cNvSpPr txBox="1"/>
          <p:nvPr/>
        </p:nvSpPr>
        <p:spPr>
          <a:xfrm>
            <a:off x="9536586" y="347350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Compute + review</a:t>
            </a:r>
            <a:endParaRPr lang="en-US" sz="1561" dirty="0"/>
          </a:p>
        </p:txBody>
      </p:sp>
      <p:sp>
        <p:nvSpPr>
          <p:cNvPr id="38" name="Text 36"/>
          <p:cNvSpPr txBox="1"/>
          <p:nvPr/>
        </p:nvSpPr>
        <p:spPr>
          <a:xfrm>
            <a:off x="9536586" y="3779751"/>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Design: validate</a:t>
            </a:r>
            <a:endParaRPr lang="en-US" sz="1441" dirty="0"/>
          </a:p>
        </p:txBody>
      </p:sp>
      <p:sp>
        <p:nvSpPr>
          <p:cNvPr id="39" name="Text 37"/>
          <p:cNvSpPr txBox="1"/>
          <p:nvPr/>
        </p:nvSpPr>
        <p:spPr>
          <a:xfrm>
            <a:off x="9536586" y="3992052"/>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values and sums</a:t>
            </a:r>
            <a:endParaRPr lang="en-US" sz="1441" dirty="0"/>
          </a:p>
        </p:txBody>
      </p:sp>
      <p:sp>
        <p:nvSpPr>
          <p:cNvPr id="40" name="Shape 38"/>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1" name="Text 39"/>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2" name="Shape 40"/>
          <p:cNvSpPr/>
          <p:nvPr/>
        </p:nvSpPr>
        <p:spPr>
          <a:xfrm>
            <a:off x="2118929" y="5630979"/>
            <a:ext cx="198270" cy="198270"/>
          </a:xfrm>
          <a:prstGeom prst="rect">
            <a:avLst/>
          </a:prstGeom>
          <a:solidFill>
            <a:srgbClr val="E5F7EF"/>
          </a:solidFill>
          <a:ln w="15240">
            <a:solidFill>
              <a:srgbClr val="009E73"/>
            </a:solidFill>
            <a:prstDash val="solid"/>
          </a:ln>
        </p:spPr>
      </p:sp>
      <p:sp>
        <p:nvSpPr>
          <p:cNvPr id="43" name="Text 41"/>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4" name="Shape 42"/>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45" name="Text 43"/>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46" name="Shape 44"/>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47" name="Text 45"/>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8" name="Shape 46"/>
          <p:cNvSpPr/>
          <p:nvPr/>
        </p:nvSpPr>
        <p:spPr>
          <a:xfrm>
            <a:off x="5804824" y="5730113"/>
            <a:ext cx="335533" cy="0"/>
          </a:xfrm>
          <a:prstGeom prst="line">
            <a:avLst/>
          </a:prstGeom>
          <a:noFill/>
          <a:ln w="22860">
            <a:solidFill>
              <a:srgbClr val="009E73"/>
            </a:solidFill>
            <a:prstDash val="solid"/>
            <a:tailEnd type="triangle"/>
          </a:ln>
        </p:spPr>
      </p:sp>
      <p:sp>
        <p:nvSpPr>
          <p:cNvPr id="49" name="Text 47"/>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0" name="Text 48"/>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Can a correct addition still produce a wrong invoice total?</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Cross-modal reasoning over a chart and a document (real)</a:t>
            </a:r>
            <a:endParaRPr lang="en-US" sz="3000" dirty="0"/>
          </a:p>
        </p:txBody>
      </p:sp>
      <p:pic>
        <p:nvPicPr>
          <p:cNvPr id="6" name="Image 0" descr="C:\Users\sudee\Downloads\Generative_AI_2027_Teaching_Pack\AI2027_Project\build\figures\week_10\lab_chart.png">    </p:cNvPr>
          <p:cNvPicPr>
            <a:picLocks noChangeAspect="1"/>
          </p:cNvPicPr>
          <p:nvPr/>
        </p:nvPicPr>
        <p:blipFill>
          <a:blip r:embed="rId1"/>
          <a:stretch>
            <a:fillRect/>
          </a:stretch>
        </p:blipFill>
        <p:spPr>
          <a:xfrm>
            <a:off x="997410" y="1481328"/>
            <a:ext cx="10196876" cy="3477006"/>
          </a:xfrm>
          <a:prstGeom prst="rect">
            <a:avLst/>
          </a:prstGeom>
        </p:spPr>
      </p:pic>
      <p:sp>
        <p:nvSpPr>
          <p:cNvPr id="7" name="Text 4"/>
          <p:cNvSpPr txBox="1"/>
          <p:nvPr/>
        </p:nvSpPr>
        <p:spPr>
          <a:xfrm>
            <a:off x="548640" y="5141214"/>
            <a:ext cx="11094415" cy="116814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Qwen3-VL-2B-Instruct answered 5 of 6 questions correctly: missed “What is the total number of tickets from Monday to…” (said “60”, gold 94).</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Known chart and invoice values provide reference answers.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How should 200 invoice line items be totalled?</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Ask the model once for the grand total of all items</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Increase the temperature so the model reads more carefully</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Extract checked fields, sum in code, compare printed totals</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Trust the total if the model states high confidence</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Training and fine-tuning multimodal models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are these models built, and how can you adapt one?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Teach a visual bridge and useful answers</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conceptual training recipe; this lab loads existing models</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licensed examples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pretrained</a:t>
            </a:r>
            <a:endParaRPr lang="en-US" sz="1441" dirty="0"/>
          </a:p>
        </p:txBody>
      </p:sp>
      <p:sp>
        <p:nvSpPr>
          <p:cNvPr id="11" name="Text 9"/>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components</a:t>
            </a:r>
            <a:endParaRPr lang="en-US" sz="1441" dirty="0"/>
          </a:p>
        </p:txBody>
      </p:sp>
      <p:sp>
        <p:nvSpPr>
          <p:cNvPr id="12" name="Shape 10"/>
          <p:cNvSpPr/>
          <p:nvPr/>
        </p:nvSpPr>
        <p:spPr>
          <a:xfrm>
            <a:off x="7059743" y="3838927"/>
            <a:ext cx="244024" cy="0"/>
          </a:xfrm>
          <a:prstGeom prst="line">
            <a:avLst/>
          </a:prstGeom>
          <a:noFill/>
          <a:ln w="22860">
            <a:solidFill>
              <a:srgbClr val="009E73"/>
            </a:solidFill>
            <a:prstDash val="solid"/>
            <a:tailEnd type="triangle"/>
          </a:ln>
        </p:spPr>
      </p:sp>
      <p:sp>
        <p:nvSpPr>
          <p:cNvPr id="13" name="Text 11"/>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aligned features</a:t>
            </a:r>
            <a:endParaRPr lang="en-US" sz="1441" dirty="0"/>
          </a:p>
        </p:txBody>
      </p:sp>
      <p:sp>
        <p:nvSpPr>
          <p:cNvPr id="14" name="Shape 12"/>
          <p:cNvSpPr/>
          <p:nvPr/>
        </p:nvSpPr>
        <p:spPr>
          <a:xfrm>
            <a:off x="9231556" y="3838927"/>
            <a:ext cx="244024" cy="0"/>
          </a:xfrm>
          <a:prstGeom prst="line">
            <a:avLst/>
          </a:prstGeom>
          <a:noFill/>
          <a:ln w="22860">
            <a:solidFill>
              <a:srgbClr val="009E73"/>
            </a:solidFill>
            <a:prstDash val="solid"/>
            <a:tailEnd type="triangle"/>
          </a:ln>
        </p:spPr>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adapted model</a:t>
            </a:r>
            <a:endParaRPr lang="en-US" sz="1441" dirty="0"/>
          </a:p>
        </p:txBody>
      </p:sp>
      <p:sp>
        <p:nvSpPr>
          <p:cNvPr id="16" name="Shape 14"/>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7" name="Text 15"/>
          <p:cNvSpPr txBox="1"/>
          <p:nvPr/>
        </p:nvSpPr>
        <p:spPr>
          <a:xfrm>
            <a:off x="849331" y="3358505"/>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Review paired</a:t>
            </a:r>
            <a:endParaRPr lang="en-US" sz="1561" dirty="0"/>
          </a:p>
        </p:txBody>
      </p:sp>
      <p:sp>
        <p:nvSpPr>
          <p:cNvPr id="18" name="Text 16"/>
          <p:cNvSpPr txBox="1"/>
          <p:nvPr/>
        </p:nvSpPr>
        <p:spPr>
          <a:xfrm>
            <a:off x="849331" y="358849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data</a:t>
            </a:r>
            <a:endParaRPr lang="en-US" sz="1561" dirty="0"/>
          </a:p>
        </p:txBody>
      </p:sp>
      <p:sp>
        <p:nvSpPr>
          <p:cNvPr id="19" name="Text 17"/>
          <p:cNvSpPr txBox="1"/>
          <p:nvPr/>
        </p:nvSpPr>
        <p:spPr>
          <a:xfrm>
            <a:off x="849331" y="389474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Images and desired</a:t>
            </a:r>
            <a:endParaRPr lang="en-US" sz="1441" dirty="0"/>
          </a:p>
        </p:txBody>
      </p:sp>
      <p:sp>
        <p:nvSpPr>
          <p:cNvPr id="20" name="Text 18"/>
          <p:cNvSpPr txBox="1"/>
          <p:nvPr/>
        </p:nvSpPr>
        <p:spPr>
          <a:xfrm>
            <a:off x="849331" y="410704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answers</a:t>
            </a:r>
            <a:endParaRPr lang="en-US" sz="1441" dirty="0"/>
          </a:p>
        </p:txBody>
      </p:sp>
      <p:sp>
        <p:nvSpPr>
          <p:cNvPr id="21" name="Shape 19"/>
          <p:cNvSpPr/>
          <p:nvPr/>
        </p:nvSpPr>
        <p:spPr>
          <a:xfrm>
            <a:off x="2960139" y="2939089"/>
            <a:ext cx="1927790" cy="1799677"/>
          </a:xfrm>
          <a:prstGeom prst="rect">
            <a:avLst/>
          </a:prstGeom>
          <a:solidFill>
            <a:srgbClr val="E5F7EF"/>
          </a:solidFill>
          <a:ln w="15240">
            <a:solidFill>
              <a:srgbClr val="009E73"/>
            </a:solidFill>
            <a:prstDash val="solid"/>
          </a:ln>
        </p:spPr>
      </p:sp>
      <p:sp>
        <p:nvSpPr>
          <p:cNvPr id="22" name="Text 20"/>
          <p:cNvSpPr txBox="1"/>
          <p:nvPr/>
        </p:nvSpPr>
        <p:spPr>
          <a:xfrm>
            <a:off x="3021145" y="322185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Load existing</a:t>
            </a:r>
            <a:endParaRPr lang="en-US" sz="1561" dirty="0"/>
          </a:p>
        </p:txBody>
      </p:sp>
      <p:sp>
        <p:nvSpPr>
          <p:cNvPr id="23" name="Text 21"/>
          <p:cNvSpPr txBox="1"/>
          <p:nvPr/>
        </p:nvSpPr>
        <p:spPr>
          <a:xfrm>
            <a:off x="3021145" y="3451844"/>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parts</a:t>
            </a:r>
            <a:endParaRPr lang="en-US" sz="1561" dirty="0"/>
          </a:p>
        </p:txBody>
      </p:sp>
      <p:sp>
        <p:nvSpPr>
          <p:cNvPr id="24" name="Text 22"/>
          <p:cNvSpPr txBox="1"/>
          <p:nvPr/>
        </p:nvSpPr>
        <p:spPr>
          <a:xfrm>
            <a:off x="3021145" y="3758094"/>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Vision and language</a:t>
            </a:r>
            <a:endParaRPr lang="en-US" sz="1441" dirty="0"/>
          </a:p>
        </p:txBody>
      </p:sp>
      <p:sp>
        <p:nvSpPr>
          <p:cNvPr id="25" name="Text 23"/>
          <p:cNvSpPr txBox="1"/>
          <p:nvPr/>
        </p:nvSpPr>
        <p:spPr>
          <a:xfrm>
            <a:off x="3021145" y="3970395"/>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models</a:t>
            </a:r>
            <a:endParaRPr lang="en-US" sz="1441" dirty="0"/>
          </a:p>
        </p:txBody>
      </p:sp>
      <p:sp>
        <p:nvSpPr>
          <p:cNvPr id="26" name="Text 24"/>
          <p:cNvSpPr txBox="1"/>
          <p:nvPr/>
        </p:nvSpPr>
        <p:spPr>
          <a:xfrm>
            <a:off x="2983016" y="4243702"/>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vlm</a:t>
            </a:r>
            <a:endParaRPr lang="en-US" sz="1441" dirty="0"/>
          </a:p>
        </p:txBody>
      </p:sp>
      <p:sp>
        <p:nvSpPr>
          <p:cNvPr id="27" name="Shape 25"/>
          <p:cNvSpPr/>
          <p:nvPr/>
        </p:nvSpPr>
        <p:spPr>
          <a:xfrm>
            <a:off x="5131953" y="2939089"/>
            <a:ext cx="1927790" cy="1799677"/>
          </a:xfrm>
          <a:prstGeom prst="rect">
            <a:avLst/>
          </a:prstGeom>
          <a:solidFill>
            <a:srgbClr val="E5F7EF"/>
          </a:solidFill>
          <a:ln w="15240">
            <a:solidFill>
              <a:srgbClr val="009E73"/>
            </a:solidFill>
            <a:prstDash val="solid"/>
          </a:ln>
        </p:spPr>
      </p:sp>
      <p:sp>
        <p:nvSpPr>
          <p:cNvPr id="28" name="Text 26"/>
          <p:cNvSpPr txBox="1"/>
          <p:nvPr/>
        </p:nvSpPr>
        <p:spPr>
          <a:xfrm>
            <a:off x="5192959" y="347350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 bridge</a:t>
            </a:r>
            <a:endParaRPr lang="en-US" sz="1561" dirty="0"/>
          </a:p>
        </p:txBody>
      </p:sp>
      <p:sp>
        <p:nvSpPr>
          <p:cNvPr id="29" name="Text 27"/>
          <p:cNvSpPr txBox="1"/>
          <p:nvPr/>
        </p:nvSpPr>
        <p:spPr>
          <a:xfrm>
            <a:off x="5192959" y="3779751"/>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Conceptual feature</a:t>
            </a:r>
            <a:endParaRPr lang="en-US" sz="1441" dirty="0"/>
          </a:p>
        </p:txBody>
      </p:sp>
      <p:sp>
        <p:nvSpPr>
          <p:cNvPr id="30" name="Text 28"/>
          <p:cNvSpPr txBox="1"/>
          <p:nvPr/>
        </p:nvSpPr>
        <p:spPr>
          <a:xfrm>
            <a:off x="5192959" y="3992052"/>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mapping</a:t>
            </a:r>
            <a:endParaRPr lang="en-US" sz="1441" dirty="0"/>
          </a:p>
        </p:txBody>
      </p:sp>
      <p:sp>
        <p:nvSpPr>
          <p:cNvPr id="31" name="Shape 29"/>
          <p:cNvSpPr/>
          <p:nvPr/>
        </p:nvSpPr>
        <p:spPr>
          <a:xfrm>
            <a:off x="7303767" y="2939089"/>
            <a:ext cx="1927790" cy="1799677"/>
          </a:xfrm>
          <a:prstGeom prst="rect">
            <a:avLst/>
          </a:prstGeom>
          <a:solidFill>
            <a:srgbClr val="E5F7EF"/>
          </a:solidFill>
          <a:ln w="15240">
            <a:solidFill>
              <a:srgbClr val="009E73"/>
            </a:solidFill>
            <a:prstDash val="solid"/>
          </a:ln>
        </p:spPr>
      </p:sp>
      <p:sp>
        <p:nvSpPr>
          <p:cNvPr id="32" name="Text 30"/>
          <p:cNvSpPr txBox="1"/>
          <p:nvPr/>
        </p:nvSpPr>
        <p:spPr>
          <a:xfrm>
            <a:off x="7364773" y="3473501"/>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Tune visual tasks</a:t>
            </a:r>
            <a:endParaRPr lang="en-US" sz="1561" dirty="0"/>
          </a:p>
        </p:txBody>
      </p:sp>
      <p:sp>
        <p:nvSpPr>
          <p:cNvPr id="33" name="Text 31"/>
          <p:cNvSpPr txBox="1"/>
          <p:nvPr/>
        </p:nvSpPr>
        <p:spPr>
          <a:xfrm>
            <a:off x="7364773" y="3779751"/>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Conceptual</a:t>
            </a:r>
            <a:endParaRPr lang="en-US" sz="1441" dirty="0"/>
          </a:p>
        </p:txBody>
      </p:sp>
      <p:sp>
        <p:nvSpPr>
          <p:cNvPr id="34" name="Text 32"/>
          <p:cNvSpPr txBox="1"/>
          <p:nvPr/>
        </p:nvSpPr>
        <p:spPr>
          <a:xfrm>
            <a:off x="7364773" y="3992052"/>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instruction training</a:t>
            </a:r>
            <a:endParaRPr lang="en-US" sz="1441" dirty="0"/>
          </a:p>
        </p:txBody>
      </p:sp>
      <p:sp>
        <p:nvSpPr>
          <p:cNvPr id="35" name="Shape 33"/>
          <p:cNvSpPr/>
          <p:nvPr/>
        </p:nvSpPr>
        <p:spPr>
          <a:xfrm>
            <a:off x="9475580" y="2939089"/>
            <a:ext cx="1927790" cy="1799677"/>
          </a:xfrm>
          <a:prstGeom prst="roundRect">
            <a:avLst>
              <a:gd name="adj" fmla="val 4065"/>
            </a:avLst>
          </a:prstGeom>
          <a:solidFill>
            <a:srgbClr val="FFF0E6"/>
          </a:solidFill>
          <a:ln w="15240">
            <a:solidFill>
              <a:srgbClr val="D55E00"/>
            </a:solidFill>
            <a:prstDash val="solid"/>
          </a:ln>
        </p:spPr>
      </p:sp>
      <p:sp>
        <p:nvSpPr>
          <p:cNvPr id="36" name="Text 34"/>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Test new images</a:t>
            </a:r>
            <a:endParaRPr lang="en-US" sz="1561" dirty="0"/>
          </a:p>
        </p:txBody>
      </p:sp>
      <p:sp>
        <p:nvSpPr>
          <p:cNvPr id="37" name="Text 35"/>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Evaluate held-out</a:t>
            </a:r>
            <a:endParaRPr lang="en-US" sz="1441" dirty="0"/>
          </a:p>
        </p:txBody>
      </p:sp>
      <p:sp>
        <p:nvSpPr>
          <p:cNvPr id="38" name="Text 36"/>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examples</a:t>
            </a:r>
            <a:endParaRPr lang="en-US" sz="1441" dirty="0"/>
          </a:p>
        </p:txBody>
      </p:sp>
      <p:sp>
        <p:nvSpPr>
          <p:cNvPr id="39" name="Text 37"/>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QA</a:t>
            </a:r>
            <a:endParaRPr lang="en-US" sz="1441" dirty="0"/>
          </a:p>
        </p:txBody>
      </p:sp>
      <p:sp>
        <p:nvSpPr>
          <p:cNvPr id="40" name="Shape 38"/>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1" name="Text 39"/>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2" name="Shape 40"/>
          <p:cNvSpPr/>
          <p:nvPr/>
        </p:nvSpPr>
        <p:spPr>
          <a:xfrm>
            <a:off x="2118929" y="5630979"/>
            <a:ext cx="198270" cy="198270"/>
          </a:xfrm>
          <a:prstGeom prst="rect">
            <a:avLst/>
          </a:prstGeom>
          <a:solidFill>
            <a:srgbClr val="E5F7EF"/>
          </a:solidFill>
          <a:ln w="15240">
            <a:solidFill>
              <a:srgbClr val="009E73"/>
            </a:solidFill>
            <a:prstDash val="solid"/>
          </a:ln>
        </p:spPr>
      </p:sp>
      <p:sp>
        <p:nvSpPr>
          <p:cNvPr id="43" name="Text 41"/>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4" name="Shape 42"/>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45" name="Text 43"/>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46" name="Shape 44"/>
          <p:cNvSpPr/>
          <p:nvPr/>
        </p:nvSpPr>
        <p:spPr>
          <a:xfrm>
            <a:off x="4748126" y="5730113"/>
            <a:ext cx="335533" cy="0"/>
          </a:xfrm>
          <a:prstGeom prst="line">
            <a:avLst/>
          </a:prstGeom>
          <a:noFill/>
          <a:ln w="22860">
            <a:solidFill>
              <a:srgbClr val="009E73"/>
            </a:solidFill>
            <a:prstDash val="solid"/>
            <a:tailEnd type="triangle"/>
          </a:ln>
        </p:spPr>
      </p:sp>
      <p:sp>
        <p:nvSpPr>
          <p:cNvPr id="47" name="Text 45"/>
          <p:cNvSpPr txBox="1"/>
          <p:nvPr/>
        </p:nvSpPr>
        <p:spPr>
          <a:xfrm>
            <a:off x="5144665"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48" name="Text 46"/>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the multimodal lab train the illustrated bridge?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A typical training pipeline for a vision-language model</a:t>
            </a:r>
            <a:endParaRPr lang="en-US" sz="3100" dirty="0"/>
          </a:p>
        </p:txBody>
      </p:sp>
      <p:sp>
        <p:nvSpPr>
          <p:cNvPr id="6" name="Shape 4"/>
          <p:cNvSpPr/>
          <p:nvPr/>
        </p:nvSpPr>
        <p:spPr>
          <a:xfrm>
            <a:off x="2840396" y="2757928"/>
            <a:ext cx="230593" cy="0"/>
          </a:xfrm>
          <a:prstGeom prst="line">
            <a:avLst/>
          </a:prstGeom>
          <a:noFill/>
          <a:ln w="22860">
            <a:solidFill>
              <a:srgbClr val="6B7280"/>
            </a:solidFill>
            <a:prstDash val="solid"/>
            <a:tailEnd type="triangle"/>
          </a:ln>
        </p:spPr>
      </p:sp>
      <p:sp>
        <p:nvSpPr>
          <p:cNvPr id="7" name="Shape 5"/>
          <p:cNvSpPr/>
          <p:nvPr/>
        </p:nvSpPr>
        <p:spPr>
          <a:xfrm>
            <a:off x="4961853" y="2757928"/>
            <a:ext cx="230593" cy="0"/>
          </a:xfrm>
          <a:prstGeom prst="line">
            <a:avLst/>
          </a:prstGeom>
          <a:noFill/>
          <a:ln w="22860">
            <a:solidFill>
              <a:srgbClr val="6B7280"/>
            </a:solidFill>
            <a:prstDash val="solid"/>
            <a:tailEnd type="triangle"/>
          </a:ln>
        </p:spPr>
      </p:sp>
      <p:sp>
        <p:nvSpPr>
          <p:cNvPr id="8" name="Shape 6"/>
          <p:cNvSpPr/>
          <p:nvPr/>
        </p:nvSpPr>
        <p:spPr>
          <a:xfrm>
            <a:off x="7083310" y="2757928"/>
            <a:ext cx="230593" cy="0"/>
          </a:xfrm>
          <a:prstGeom prst="line">
            <a:avLst/>
          </a:prstGeom>
          <a:noFill/>
          <a:ln w="22860">
            <a:solidFill>
              <a:srgbClr val="6B7280"/>
            </a:solidFill>
            <a:prstDash val="solid"/>
            <a:tailEnd type="triangle"/>
          </a:ln>
        </p:spPr>
      </p:sp>
      <p:sp>
        <p:nvSpPr>
          <p:cNvPr id="9" name="Shape 7"/>
          <p:cNvSpPr/>
          <p:nvPr/>
        </p:nvSpPr>
        <p:spPr>
          <a:xfrm>
            <a:off x="9204767" y="2757928"/>
            <a:ext cx="230593" cy="0"/>
          </a:xfrm>
          <a:prstGeom prst="line">
            <a:avLst/>
          </a:prstGeom>
          <a:noFill/>
          <a:ln w="22860">
            <a:solidFill>
              <a:srgbClr val="6B7280"/>
            </a:solidFill>
            <a:prstDash val="solid"/>
            <a:tailEnd type="triangle"/>
          </a:ln>
        </p:spPr>
      </p:sp>
      <p:sp>
        <p:nvSpPr>
          <p:cNvPr id="10" name="Shape 8"/>
          <p:cNvSpPr/>
          <p:nvPr/>
        </p:nvSpPr>
        <p:spPr>
          <a:xfrm>
            <a:off x="949532" y="2341247"/>
            <a:ext cx="1890864" cy="833361"/>
          </a:xfrm>
          <a:prstGeom prst="rect">
            <a:avLst/>
          </a:prstGeom>
          <a:solidFill>
            <a:srgbClr val="E5F7EF"/>
          </a:solidFill>
          <a:ln w="15240">
            <a:solidFill>
              <a:srgbClr val="009E73"/>
            </a:solidFill>
            <a:prstDash val="solid"/>
          </a:ln>
        </p:spPr>
      </p:sp>
      <p:sp>
        <p:nvSpPr>
          <p:cNvPr id="11" name="Shape 9"/>
          <p:cNvSpPr/>
          <p:nvPr/>
        </p:nvSpPr>
        <p:spPr>
          <a:xfrm>
            <a:off x="3070989" y="2341247"/>
            <a:ext cx="1890864" cy="833361"/>
          </a:xfrm>
          <a:prstGeom prst="roundRect">
            <a:avLst>
              <a:gd name="adj" fmla="val 8778"/>
            </a:avLst>
          </a:prstGeom>
          <a:solidFill>
            <a:srgbClr val="FFF0E6"/>
          </a:solidFill>
          <a:ln w="15240">
            <a:solidFill>
              <a:srgbClr val="D55E00"/>
            </a:solidFill>
            <a:prstDash val="solid"/>
          </a:ln>
        </p:spPr>
      </p:sp>
      <p:sp>
        <p:nvSpPr>
          <p:cNvPr id="12" name="Shape 10"/>
          <p:cNvSpPr/>
          <p:nvPr/>
        </p:nvSpPr>
        <p:spPr>
          <a:xfrm>
            <a:off x="5192446" y="2341247"/>
            <a:ext cx="1890864" cy="833361"/>
          </a:xfrm>
          <a:prstGeom prst="roundRect">
            <a:avLst>
              <a:gd name="adj" fmla="val 8778"/>
            </a:avLst>
          </a:prstGeom>
          <a:solidFill>
            <a:srgbClr val="FFF0E6"/>
          </a:solidFill>
          <a:ln w="15240">
            <a:solidFill>
              <a:srgbClr val="D55E00"/>
            </a:solidFill>
            <a:prstDash val="solid"/>
          </a:ln>
        </p:spPr>
      </p:sp>
      <p:sp>
        <p:nvSpPr>
          <p:cNvPr id="13" name="Shape 11"/>
          <p:cNvSpPr/>
          <p:nvPr/>
        </p:nvSpPr>
        <p:spPr>
          <a:xfrm>
            <a:off x="7313903" y="2341247"/>
            <a:ext cx="1890864" cy="833361"/>
          </a:xfrm>
          <a:prstGeom prst="roundRect">
            <a:avLst>
              <a:gd name="adj" fmla="val 8778"/>
            </a:avLst>
          </a:prstGeom>
          <a:solidFill>
            <a:srgbClr val="FFF0E6"/>
          </a:solidFill>
          <a:ln w="15240">
            <a:solidFill>
              <a:srgbClr val="D55E00"/>
            </a:solidFill>
            <a:prstDash val="solid"/>
          </a:ln>
        </p:spPr>
      </p:sp>
      <p:sp>
        <p:nvSpPr>
          <p:cNvPr id="14" name="Shape 12"/>
          <p:cNvSpPr/>
          <p:nvPr/>
        </p:nvSpPr>
        <p:spPr>
          <a:xfrm>
            <a:off x="9435360" y="2341247"/>
            <a:ext cx="1890864" cy="833361"/>
          </a:xfrm>
          <a:prstGeom prst="roundRect">
            <a:avLst>
              <a:gd name="adj" fmla="val 8778"/>
            </a:avLst>
          </a:prstGeom>
          <a:solidFill>
            <a:srgbClr val="FFF0E6"/>
          </a:solidFill>
          <a:ln w="15240">
            <a:solidFill>
              <a:srgbClr val="D55E00"/>
            </a:solidFill>
            <a:prstDash val="solid"/>
          </a:ln>
        </p:spPr>
      </p:sp>
      <p:sp>
        <p:nvSpPr>
          <p:cNvPr id="15" name="Shape 13"/>
          <p:cNvSpPr/>
          <p:nvPr/>
        </p:nvSpPr>
        <p:spPr>
          <a:xfrm>
            <a:off x="908355" y="3730182"/>
            <a:ext cx="181180" cy="174609"/>
          </a:xfrm>
          <a:prstGeom prst="rect">
            <a:avLst/>
          </a:prstGeom>
          <a:solidFill>
            <a:srgbClr val="E5F7EF"/>
          </a:solidFill>
          <a:ln w="15240">
            <a:solidFill>
              <a:srgbClr val="009E73"/>
            </a:solidFill>
            <a:prstDash val="solid"/>
          </a:ln>
        </p:spPr>
      </p:sp>
      <p:sp>
        <p:nvSpPr>
          <p:cNvPr id="16" name="Shape 14"/>
          <p:cNvSpPr/>
          <p:nvPr/>
        </p:nvSpPr>
        <p:spPr>
          <a:xfrm>
            <a:off x="3049577" y="3730182"/>
            <a:ext cx="181180" cy="174609"/>
          </a:xfrm>
          <a:prstGeom prst="roundRect">
            <a:avLst>
              <a:gd name="adj" fmla="val 41895"/>
            </a:avLst>
          </a:prstGeom>
          <a:solidFill>
            <a:srgbClr val="FFF0E6"/>
          </a:solidFill>
          <a:ln w="15240">
            <a:solidFill>
              <a:srgbClr val="D55E00"/>
            </a:solidFill>
            <a:prstDash val="solid"/>
          </a:ln>
        </p:spPr>
      </p:sp>
      <p:sp>
        <p:nvSpPr>
          <p:cNvPr id="17" name="Text 15"/>
          <p:cNvSpPr txBox="1"/>
          <p:nvPr/>
        </p:nvSpPr>
        <p:spPr>
          <a:xfrm>
            <a:off x="948675" y="2524186"/>
            <a:ext cx="189257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1. Pretrained</a:t>
            </a:r>
            <a:endParaRPr lang="en-US" sz="1587" dirty="0"/>
          </a:p>
        </p:txBody>
      </p:sp>
      <p:sp>
        <p:nvSpPr>
          <p:cNvPr id="18" name="Text 16"/>
          <p:cNvSpPr txBox="1"/>
          <p:nvPr/>
        </p:nvSpPr>
        <p:spPr>
          <a:xfrm>
            <a:off x="948675" y="2757928"/>
            <a:ext cx="189257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vision + language</a:t>
            </a:r>
            <a:endParaRPr lang="en-US" sz="1587" dirty="0"/>
          </a:p>
        </p:txBody>
      </p:sp>
      <p:sp>
        <p:nvSpPr>
          <p:cNvPr id="19" name="Text 17"/>
          <p:cNvSpPr txBox="1"/>
          <p:nvPr/>
        </p:nvSpPr>
        <p:spPr>
          <a:xfrm>
            <a:off x="3184959" y="2524186"/>
            <a:ext cx="166292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2. Train bridge</a:t>
            </a:r>
            <a:endParaRPr lang="en-US" sz="1587" dirty="0"/>
          </a:p>
        </p:txBody>
      </p:sp>
      <p:sp>
        <p:nvSpPr>
          <p:cNvPr id="20" name="Text 18"/>
          <p:cNvSpPr txBox="1"/>
          <p:nvPr/>
        </p:nvSpPr>
        <p:spPr>
          <a:xfrm>
            <a:off x="3184959" y="2757928"/>
            <a:ext cx="1662925"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paired captions</a:t>
            </a:r>
            <a:endParaRPr lang="en-US" sz="1587" dirty="0"/>
          </a:p>
        </p:txBody>
      </p:sp>
      <p:sp>
        <p:nvSpPr>
          <p:cNvPr id="21" name="Text 19"/>
          <p:cNvSpPr txBox="1"/>
          <p:nvPr/>
        </p:nvSpPr>
        <p:spPr>
          <a:xfrm>
            <a:off x="5253419" y="2524186"/>
            <a:ext cx="176891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3. Instruction</a:t>
            </a:r>
            <a:endParaRPr lang="en-US" sz="1587" dirty="0"/>
          </a:p>
        </p:txBody>
      </p:sp>
      <p:sp>
        <p:nvSpPr>
          <p:cNvPr id="22" name="Text 20"/>
          <p:cNvSpPr txBox="1"/>
          <p:nvPr/>
        </p:nvSpPr>
        <p:spPr>
          <a:xfrm>
            <a:off x="5253419" y="2757928"/>
            <a:ext cx="176891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image questions</a:t>
            </a:r>
            <a:endParaRPr lang="en-US" sz="1587" dirty="0"/>
          </a:p>
        </p:txBody>
      </p:sp>
      <p:sp>
        <p:nvSpPr>
          <p:cNvPr id="23" name="Text 21"/>
          <p:cNvSpPr txBox="1"/>
          <p:nvPr/>
        </p:nvSpPr>
        <p:spPr>
          <a:xfrm>
            <a:off x="7498536" y="2524186"/>
            <a:ext cx="152159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4. Preferences</a:t>
            </a:r>
            <a:endParaRPr lang="en-US" sz="1587" dirty="0"/>
          </a:p>
        </p:txBody>
      </p:sp>
      <p:sp>
        <p:nvSpPr>
          <p:cNvPr id="24" name="Text 22"/>
          <p:cNvSpPr txBox="1"/>
          <p:nvPr/>
        </p:nvSpPr>
        <p:spPr>
          <a:xfrm>
            <a:off x="7498536" y="2757928"/>
            <a:ext cx="152159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optional</a:t>
            </a:r>
            <a:endParaRPr lang="en-US" sz="1587" dirty="0"/>
          </a:p>
        </p:txBody>
      </p:sp>
      <p:sp>
        <p:nvSpPr>
          <p:cNvPr id="25" name="Text 23"/>
          <p:cNvSpPr txBox="1"/>
          <p:nvPr/>
        </p:nvSpPr>
        <p:spPr>
          <a:xfrm>
            <a:off x="9465418" y="2524186"/>
            <a:ext cx="183074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5. Domain tuning</a:t>
            </a:r>
            <a:endParaRPr lang="en-US" sz="1587" dirty="0"/>
          </a:p>
        </p:txBody>
      </p:sp>
      <p:sp>
        <p:nvSpPr>
          <p:cNvPr id="26" name="Text 24"/>
          <p:cNvSpPr txBox="1"/>
          <p:nvPr/>
        </p:nvSpPr>
        <p:spPr>
          <a:xfrm>
            <a:off x="9465418" y="2757928"/>
            <a:ext cx="1830749" cy="233741"/>
          </a:xfrm>
          <a:prstGeom prst="rect">
            <a:avLst/>
          </a:prstGeom>
          <a:noFill/>
          <a:ln/>
        </p:spPr>
        <p:txBody>
          <a:bodyPr wrap="square" lIns="0" tIns="0" rIns="0" bIns="0" rtlCol="0" anchor="ctr"/>
          <a:lstStyle/>
          <a:p>
            <a:pPr algn="ctr" indent="0" marL="0">
              <a:lnSpc>
                <a:spcPct val="116000"/>
              </a:lnSpc>
              <a:buNone/>
            </a:pPr>
            <a:r>
              <a:rPr lang="en-US" sz="1587" b="1" dirty="0">
                <a:solidFill>
                  <a:srgbClr val="1E1B4B"/>
                </a:solidFill>
                <a:latin typeface="Arial" pitchFamily="34" charset="0"/>
                <a:ea typeface="Arial" pitchFamily="34" charset="-122"/>
                <a:cs typeface="Arial" pitchFamily="34" charset="-120"/>
              </a:rPr>
              <a:t>optional</a:t>
            </a:r>
            <a:endParaRPr lang="en-US" sz="1587" dirty="0"/>
          </a:p>
        </p:txBody>
      </p:sp>
      <p:sp>
        <p:nvSpPr>
          <p:cNvPr id="27" name="Text 25"/>
          <p:cNvSpPr txBox="1"/>
          <p:nvPr/>
        </p:nvSpPr>
        <p:spPr>
          <a:xfrm>
            <a:off x="949532" y="3228715"/>
            <a:ext cx="643800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Illustrative recipe: check which components each method trains.</a:t>
            </a:r>
            <a:endParaRPr lang="en-US" sz="1680" dirty="0"/>
          </a:p>
        </p:txBody>
      </p:sp>
      <p:sp>
        <p:nvSpPr>
          <p:cNvPr id="28" name="Text 26"/>
          <p:cNvSpPr txBox="1"/>
          <p:nvPr/>
        </p:nvSpPr>
        <p:spPr>
          <a:xfrm>
            <a:off x="1188361" y="3707491"/>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29" name="Text 27"/>
          <p:cNvSpPr txBox="1"/>
          <p:nvPr/>
        </p:nvSpPr>
        <p:spPr>
          <a:xfrm>
            <a:off x="3329583" y="3707491"/>
            <a:ext cx="1233614"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Loss / update</a:t>
            </a:r>
            <a:endParaRPr lang="en-US" sz="1493" dirty="0"/>
          </a:p>
        </p:txBody>
      </p:sp>
      <p:sp>
        <p:nvSpPr>
          <p:cNvPr id="30" name="Text 28"/>
          <p:cNvSpPr txBox="1"/>
          <p:nvPr/>
        </p:nvSpPr>
        <p:spPr>
          <a:xfrm>
            <a:off x="548640" y="4238214"/>
            <a:ext cx="11094415" cy="2071146"/>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Start with pretrained vision and language parts.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 their bridge with paired examples.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Tune image-question-answer tasks; test new images.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Different recipes train different components.</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Data for multimodal training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Image-caption pairs.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Interleaved image/text documents.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Questions, fields, charts and object locations.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Audio with transcripts or descriptions.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Review labels, licences and consent.</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Adapting a multimodal model to your domain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Define a specific visual task.</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Try prompting and checked extraction first.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Adapt with labelled examples and a separate test.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LoRA may train language weights; the bridge may also change.</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Generation across modalities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From text to images, speech, music and video</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Generation across modalities: a map</a:t>
            </a:r>
            <a:endParaRPr lang="en-US" sz="3200" dirty="0"/>
          </a:p>
        </p:txBody>
      </p:sp>
      <p:sp>
        <p:nvSpPr>
          <p:cNvPr id="6" name="Shape 4"/>
          <p:cNvSpPr/>
          <p:nvPr/>
        </p:nvSpPr>
        <p:spPr>
          <a:xfrm>
            <a:off x="949532" y="2502227"/>
            <a:ext cx="2470641" cy="380965"/>
          </a:xfrm>
          <a:prstGeom prst="roundRect">
            <a:avLst>
              <a:gd name="adj" fmla="val 19202"/>
            </a:avLst>
          </a:prstGeom>
          <a:solidFill>
            <a:srgbClr val="E4F2FB"/>
          </a:solidFill>
          <a:ln w="15240">
            <a:solidFill>
              <a:srgbClr val="0072B2"/>
            </a:solidFill>
            <a:prstDash val="solid"/>
          </a:ln>
        </p:spPr>
      </p:sp>
      <p:sp>
        <p:nvSpPr>
          <p:cNvPr id="7" name="Shape 5"/>
          <p:cNvSpPr/>
          <p:nvPr/>
        </p:nvSpPr>
        <p:spPr>
          <a:xfrm>
            <a:off x="949532" y="2994307"/>
            <a:ext cx="2470641" cy="380965"/>
          </a:xfrm>
          <a:prstGeom prst="roundRect">
            <a:avLst>
              <a:gd name="adj" fmla="val 19202"/>
            </a:avLst>
          </a:prstGeom>
          <a:solidFill>
            <a:srgbClr val="E4F2FB"/>
          </a:solidFill>
          <a:ln w="15240">
            <a:solidFill>
              <a:srgbClr val="0072B2"/>
            </a:solidFill>
            <a:prstDash val="solid"/>
          </a:ln>
        </p:spPr>
      </p:sp>
      <p:sp>
        <p:nvSpPr>
          <p:cNvPr id="8" name="Shape 6"/>
          <p:cNvSpPr/>
          <p:nvPr/>
        </p:nvSpPr>
        <p:spPr>
          <a:xfrm>
            <a:off x="949532" y="3486387"/>
            <a:ext cx="2470641" cy="380965"/>
          </a:xfrm>
          <a:prstGeom prst="roundRect">
            <a:avLst>
              <a:gd name="adj" fmla="val 19202"/>
            </a:avLst>
          </a:prstGeom>
          <a:solidFill>
            <a:srgbClr val="E4F2FB"/>
          </a:solidFill>
          <a:ln w="15240">
            <a:solidFill>
              <a:srgbClr val="0072B2"/>
            </a:solidFill>
            <a:prstDash val="solid"/>
          </a:ln>
        </p:spPr>
      </p:sp>
      <p:sp>
        <p:nvSpPr>
          <p:cNvPr id="9" name="Shape 7"/>
          <p:cNvSpPr/>
          <p:nvPr/>
        </p:nvSpPr>
        <p:spPr>
          <a:xfrm>
            <a:off x="949532" y="3978467"/>
            <a:ext cx="2470641" cy="380965"/>
          </a:xfrm>
          <a:prstGeom prst="roundRect">
            <a:avLst>
              <a:gd name="adj" fmla="val 19202"/>
            </a:avLst>
          </a:prstGeom>
          <a:solidFill>
            <a:srgbClr val="E4F2FB"/>
          </a:solidFill>
          <a:ln w="15240">
            <a:solidFill>
              <a:srgbClr val="0072B2"/>
            </a:solidFill>
            <a:prstDash val="solid"/>
          </a:ln>
        </p:spPr>
      </p:sp>
      <p:sp>
        <p:nvSpPr>
          <p:cNvPr id="10" name="Shape 8"/>
          <p:cNvSpPr/>
          <p:nvPr/>
        </p:nvSpPr>
        <p:spPr>
          <a:xfrm>
            <a:off x="949532" y="4470547"/>
            <a:ext cx="2470641" cy="380965"/>
          </a:xfrm>
          <a:prstGeom prst="roundRect">
            <a:avLst>
              <a:gd name="adj" fmla="val 19202"/>
            </a:avLst>
          </a:prstGeom>
          <a:solidFill>
            <a:srgbClr val="E4F2FB"/>
          </a:solidFill>
          <a:ln w="15240">
            <a:solidFill>
              <a:srgbClr val="0072B2"/>
            </a:solidFill>
            <a:prstDash val="solid"/>
          </a:ln>
        </p:spPr>
      </p:sp>
      <p:sp>
        <p:nvSpPr>
          <p:cNvPr id="11" name="Shape 9"/>
          <p:cNvSpPr/>
          <p:nvPr/>
        </p:nvSpPr>
        <p:spPr>
          <a:xfrm>
            <a:off x="949532" y="4962627"/>
            <a:ext cx="2470641" cy="380965"/>
          </a:xfrm>
          <a:prstGeom prst="roundRect">
            <a:avLst>
              <a:gd name="adj" fmla="val 19202"/>
            </a:avLst>
          </a:prstGeom>
          <a:solidFill>
            <a:srgbClr val="E4F2FB"/>
          </a:solidFill>
          <a:ln w="15240">
            <a:solidFill>
              <a:srgbClr val="0072B2"/>
            </a:solidFill>
            <a:prstDash val="solid"/>
          </a:ln>
        </p:spPr>
      </p:sp>
      <p:sp>
        <p:nvSpPr>
          <p:cNvPr id="12" name="Text 10"/>
          <p:cNvSpPr txBox="1"/>
          <p:nvPr/>
        </p:nvSpPr>
        <p:spPr>
          <a:xfrm>
            <a:off x="949532" y="2108631"/>
            <a:ext cx="583059" cy="247491"/>
          </a:xfrm>
          <a:prstGeom prst="rect">
            <a:avLst/>
          </a:prstGeom>
          <a:noFill/>
          <a:ln/>
        </p:spPr>
        <p:txBody>
          <a:bodyPr wrap="square" lIns="0" tIns="0" rIns="0" bIns="0" rtlCol="0" anchor="ctr"/>
          <a:lstStyle/>
          <a:p>
            <a:pPr algn="l" indent="0" marL="0">
              <a:lnSpc>
                <a:spcPct val="116000"/>
              </a:lnSpc>
              <a:buNone/>
            </a:pPr>
            <a:r>
              <a:rPr lang="en-US" sz="1680" b="1" dirty="0">
                <a:solidFill>
                  <a:srgbClr val="1E1B4B"/>
                </a:solidFill>
                <a:latin typeface="Arial" pitchFamily="34" charset="0"/>
                <a:ea typeface="Arial" pitchFamily="34" charset="-122"/>
                <a:cs typeface="Arial" pitchFamily="34" charset="-120"/>
              </a:rPr>
              <a:t>Task</a:t>
            </a:r>
            <a:endParaRPr lang="en-US" sz="1680" dirty="0"/>
          </a:p>
        </p:txBody>
      </p:sp>
      <p:sp>
        <p:nvSpPr>
          <p:cNvPr id="13" name="Text 11"/>
          <p:cNvSpPr txBox="1"/>
          <p:nvPr/>
        </p:nvSpPr>
        <p:spPr>
          <a:xfrm>
            <a:off x="3708415" y="2108631"/>
            <a:ext cx="1447437" cy="247491"/>
          </a:xfrm>
          <a:prstGeom prst="rect">
            <a:avLst/>
          </a:prstGeom>
          <a:noFill/>
          <a:ln/>
        </p:spPr>
        <p:txBody>
          <a:bodyPr wrap="square" lIns="0" tIns="0" rIns="0" bIns="0" rtlCol="0" anchor="ctr"/>
          <a:lstStyle/>
          <a:p>
            <a:pPr algn="l" indent="0" marL="0">
              <a:lnSpc>
                <a:spcPct val="116000"/>
              </a:lnSpc>
              <a:buNone/>
            </a:pPr>
            <a:r>
              <a:rPr lang="en-US" sz="1680" b="1" dirty="0">
                <a:solidFill>
                  <a:srgbClr val="1E1B4B"/>
                </a:solidFill>
                <a:latin typeface="Arial" pitchFamily="34" charset="0"/>
                <a:ea typeface="Arial" pitchFamily="34" charset="-122"/>
                <a:cs typeface="Arial" pitchFamily="34" charset="-120"/>
              </a:rPr>
              <a:t>How it works</a:t>
            </a:r>
            <a:endParaRPr lang="en-US" sz="1680" dirty="0"/>
          </a:p>
        </p:txBody>
      </p:sp>
      <p:sp>
        <p:nvSpPr>
          <p:cNvPr id="14" name="Text 12"/>
          <p:cNvSpPr txBox="1"/>
          <p:nvPr/>
        </p:nvSpPr>
        <p:spPr>
          <a:xfrm>
            <a:off x="7908504" y="2108631"/>
            <a:ext cx="1129454" cy="247491"/>
          </a:xfrm>
          <a:prstGeom prst="rect">
            <a:avLst/>
          </a:prstGeom>
          <a:noFill/>
          <a:ln/>
        </p:spPr>
        <p:txBody>
          <a:bodyPr wrap="square" lIns="0" tIns="0" rIns="0" bIns="0" rtlCol="0" anchor="ctr"/>
          <a:lstStyle/>
          <a:p>
            <a:pPr algn="l" indent="0" marL="0">
              <a:lnSpc>
                <a:spcPct val="116000"/>
              </a:lnSpc>
              <a:buNone/>
            </a:pPr>
            <a:r>
              <a:rPr lang="en-US" sz="1680" b="1" dirty="0">
                <a:solidFill>
                  <a:srgbClr val="1E1B4B"/>
                </a:solidFill>
                <a:latin typeface="Arial" pitchFamily="34" charset="0"/>
                <a:ea typeface="Arial" pitchFamily="34" charset="-122"/>
                <a:cs typeface="Arial" pitchFamily="34" charset="-120"/>
              </a:rPr>
              <a:t>Examples</a:t>
            </a:r>
            <a:endParaRPr lang="en-US" sz="1680" dirty="0"/>
          </a:p>
        </p:txBody>
      </p:sp>
      <p:sp>
        <p:nvSpPr>
          <p:cNvPr id="15" name="Text 13"/>
          <p:cNvSpPr txBox="1"/>
          <p:nvPr/>
        </p:nvSpPr>
        <p:spPr>
          <a:xfrm>
            <a:off x="1438431" y="2568964"/>
            <a:ext cx="149284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Text to image</a:t>
            </a:r>
            <a:endParaRPr lang="en-US" sz="1680" dirty="0"/>
          </a:p>
        </p:txBody>
      </p:sp>
      <p:sp>
        <p:nvSpPr>
          <p:cNvPr id="16" name="Text 14"/>
          <p:cNvSpPr txBox="1"/>
          <p:nvPr/>
        </p:nvSpPr>
        <p:spPr>
          <a:xfrm>
            <a:off x="3708415" y="2568964"/>
            <a:ext cx="2335554"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Diffusion / flow models</a:t>
            </a:r>
            <a:endParaRPr lang="en-US" sz="1680" dirty="0"/>
          </a:p>
        </p:txBody>
      </p:sp>
      <p:sp>
        <p:nvSpPr>
          <p:cNvPr id="17" name="Text 15"/>
          <p:cNvSpPr txBox="1"/>
          <p:nvPr/>
        </p:nvSpPr>
        <p:spPr>
          <a:xfrm>
            <a:off x="7908504" y="2568964"/>
            <a:ext cx="1730779"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SD-Turbo, FLUX</a:t>
            </a:r>
            <a:endParaRPr lang="en-US" sz="1680" dirty="0"/>
          </a:p>
        </p:txBody>
      </p:sp>
      <p:sp>
        <p:nvSpPr>
          <p:cNvPr id="18" name="Text 16"/>
          <p:cNvSpPr txBox="1"/>
          <p:nvPr/>
        </p:nvSpPr>
        <p:spPr>
          <a:xfrm>
            <a:off x="1430219" y="3061044"/>
            <a:ext cx="1509267"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Image editing</a:t>
            </a:r>
            <a:endParaRPr lang="en-US" sz="1680" dirty="0"/>
          </a:p>
        </p:txBody>
      </p:sp>
      <p:sp>
        <p:nvSpPr>
          <p:cNvPr id="19" name="Text 17"/>
          <p:cNvSpPr txBox="1"/>
          <p:nvPr/>
        </p:nvSpPr>
        <p:spPr>
          <a:xfrm>
            <a:off x="3708415" y="3061044"/>
            <a:ext cx="2374888"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Noise, denoise, control</a:t>
            </a:r>
            <a:endParaRPr lang="en-US" sz="1680" dirty="0"/>
          </a:p>
        </p:txBody>
      </p:sp>
      <p:sp>
        <p:nvSpPr>
          <p:cNvPr id="20" name="Text 18"/>
          <p:cNvSpPr txBox="1"/>
          <p:nvPr/>
        </p:nvSpPr>
        <p:spPr>
          <a:xfrm>
            <a:off x="7908504" y="3061044"/>
            <a:ext cx="1977409"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SDEdit, ControlNet</a:t>
            </a:r>
            <a:endParaRPr lang="en-US" sz="1680" dirty="0"/>
          </a:p>
        </p:txBody>
      </p:sp>
      <p:sp>
        <p:nvSpPr>
          <p:cNvPr id="21" name="Text 19"/>
          <p:cNvSpPr txBox="1"/>
          <p:nvPr/>
        </p:nvSpPr>
        <p:spPr>
          <a:xfrm>
            <a:off x="1376601" y="3553124"/>
            <a:ext cx="161650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Text to speech</a:t>
            </a:r>
            <a:endParaRPr lang="en-US" sz="1680" dirty="0"/>
          </a:p>
        </p:txBody>
      </p:sp>
      <p:sp>
        <p:nvSpPr>
          <p:cNvPr id="22" name="Text 20"/>
          <p:cNvSpPr txBox="1"/>
          <p:nvPr/>
        </p:nvSpPr>
        <p:spPr>
          <a:xfrm>
            <a:off x="3708415" y="3553124"/>
            <a:ext cx="2286559"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Acoustics + waveform</a:t>
            </a:r>
            <a:endParaRPr lang="en-US" sz="1680" dirty="0"/>
          </a:p>
        </p:txBody>
      </p:sp>
      <p:sp>
        <p:nvSpPr>
          <p:cNvPr id="23" name="Text 21"/>
          <p:cNvSpPr txBox="1"/>
          <p:nvPr/>
        </p:nvSpPr>
        <p:spPr>
          <a:xfrm>
            <a:off x="7908504" y="3553124"/>
            <a:ext cx="1297279"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VITS / MMS</a:t>
            </a:r>
            <a:endParaRPr lang="en-US" sz="1680" dirty="0"/>
          </a:p>
        </p:txBody>
      </p:sp>
      <p:sp>
        <p:nvSpPr>
          <p:cNvPr id="24" name="Text 22"/>
          <p:cNvSpPr txBox="1"/>
          <p:nvPr/>
        </p:nvSpPr>
        <p:spPr>
          <a:xfrm>
            <a:off x="1200565" y="4045204"/>
            <a:ext cx="196857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Speech to speech</a:t>
            </a:r>
            <a:endParaRPr lang="en-US" sz="1680" dirty="0"/>
          </a:p>
        </p:txBody>
      </p:sp>
      <p:sp>
        <p:nvSpPr>
          <p:cNvPr id="25" name="Text 23"/>
          <p:cNvSpPr txBox="1"/>
          <p:nvPr/>
        </p:nvSpPr>
        <p:spPr>
          <a:xfrm>
            <a:off x="3708415" y="4045204"/>
            <a:ext cx="1995075"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Listen and respond</a:t>
            </a:r>
            <a:endParaRPr lang="en-US" sz="1680" dirty="0"/>
          </a:p>
        </p:txBody>
      </p:sp>
      <p:sp>
        <p:nvSpPr>
          <p:cNvPr id="26" name="Text 24"/>
          <p:cNvSpPr txBox="1"/>
          <p:nvPr/>
        </p:nvSpPr>
        <p:spPr>
          <a:xfrm>
            <a:off x="7908504" y="4045204"/>
            <a:ext cx="1717944"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Voice assistants</a:t>
            </a:r>
            <a:endParaRPr lang="en-US" sz="1680" dirty="0"/>
          </a:p>
        </p:txBody>
      </p:sp>
      <p:sp>
        <p:nvSpPr>
          <p:cNvPr id="27" name="Text 25"/>
          <p:cNvSpPr txBox="1"/>
          <p:nvPr/>
        </p:nvSpPr>
        <p:spPr>
          <a:xfrm>
            <a:off x="1464930" y="4537284"/>
            <a:ext cx="143984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Text to audio</a:t>
            </a:r>
            <a:endParaRPr lang="en-US" sz="1680" dirty="0"/>
          </a:p>
        </p:txBody>
      </p:sp>
      <p:sp>
        <p:nvSpPr>
          <p:cNvPr id="28" name="Text 26"/>
          <p:cNvSpPr txBox="1"/>
          <p:nvPr/>
        </p:nvSpPr>
        <p:spPr>
          <a:xfrm>
            <a:off x="3708415" y="4537284"/>
            <a:ext cx="2609372"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Diffusion or codec tokens</a:t>
            </a:r>
            <a:endParaRPr lang="en-US" sz="1680" dirty="0"/>
          </a:p>
        </p:txBody>
      </p:sp>
      <p:sp>
        <p:nvSpPr>
          <p:cNvPr id="29" name="Text 27"/>
          <p:cNvSpPr txBox="1"/>
          <p:nvPr/>
        </p:nvSpPr>
        <p:spPr>
          <a:xfrm>
            <a:off x="7908504" y="4537284"/>
            <a:ext cx="2486402"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MusicGen, Stable Audio</a:t>
            </a:r>
            <a:endParaRPr lang="en-US" sz="1680" dirty="0"/>
          </a:p>
        </p:txBody>
      </p:sp>
      <p:sp>
        <p:nvSpPr>
          <p:cNvPr id="30" name="Text 28"/>
          <p:cNvSpPr txBox="1"/>
          <p:nvPr/>
        </p:nvSpPr>
        <p:spPr>
          <a:xfrm>
            <a:off x="1469346" y="5029364"/>
            <a:ext cx="1431014"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Text to video</a:t>
            </a:r>
            <a:endParaRPr lang="en-US" sz="1680" dirty="0"/>
          </a:p>
        </p:txBody>
      </p:sp>
      <p:sp>
        <p:nvSpPr>
          <p:cNvPr id="31" name="Text 29"/>
          <p:cNvSpPr txBox="1"/>
          <p:nvPr/>
        </p:nvSpPr>
        <p:spPr>
          <a:xfrm>
            <a:off x="3708415" y="5029364"/>
            <a:ext cx="2286559"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Model space and time</a:t>
            </a:r>
            <a:endParaRPr lang="en-US" sz="1680" dirty="0"/>
          </a:p>
        </p:txBody>
      </p:sp>
      <p:sp>
        <p:nvSpPr>
          <p:cNvPr id="32" name="Text 30"/>
          <p:cNvSpPr txBox="1"/>
          <p:nvPr/>
        </p:nvSpPr>
        <p:spPr>
          <a:xfrm>
            <a:off x="7908504" y="5029364"/>
            <a:ext cx="2349217" cy="247491"/>
          </a:xfrm>
          <a:prstGeom prst="rect">
            <a:avLst/>
          </a:prstGeom>
          <a:noFill/>
          <a:ln/>
        </p:spPr>
        <p:txBody>
          <a:bodyPr wrap="square" lIns="0" tIns="0" rIns="0" bIns="0" rtlCol="0" anchor="ctr"/>
          <a:lstStyle/>
          <a:p>
            <a:pPr algn="l" indent="0" marL="0">
              <a:lnSpc>
                <a:spcPct val="116000"/>
              </a:lnSpc>
              <a:buNone/>
            </a:pPr>
            <a:r>
              <a:rPr lang="en-US" sz="1680" dirty="0">
                <a:solidFill>
                  <a:srgbClr val="1E1B4B"/>
                </a:solidFill>
                <a:latin typeface="Arial" pitchFamily="34" charset="0"/>
                <a:ea typeface="Arial" pitchFamily="34" charset="-122"/>
                <a:cs typeface="Arial" pitchFamily="34" charset="-120"/>
              </a:rPr>
              <a:t>Video diffusion models</a:t>
            </a:r>
            <a:endParaRPr lang="en-US" sz="16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Text → image with a distilled model (real)</a:t>
            </a:r>
            <a:endParaRPr lang="en-US" sz="3200" dirty="0"/>
          </a:p>
        </p:txBody>
      </p:sp>
      <p:pic>
        <p:nvPicPr>
          <p:cNvPr id="6" name="Image 0" descr="C:\Users\sudee\Downloads\Generative_AI_2027_Teaching_Pack\AI2027_Project\build\figures\week_10\lab_t2i.png">    </p:cNvPr>
          <p:cNvPicPr>
            <a:picLocks noChangeAspect="1"/>
          </p:cNvPicPr>
          <p:nvPr/>
        </p:nvPicPr>
        <p:blipFill>
          <a:blip r:embed="rId1"/>
          <a:stretch>
            <a:fillRect/>
          </a:stretch>
        </p:blipFill>
        <p:spPr>
          <a:xfrm>
            <a:off x="1404419" y="1481328"/>
            <a:ext cx="9382858"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SD-Turbo: 2 denoising steps; guidance_scale = 0.</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CLIP score against its own prompt 29.2–36.0 vs other prompts 7.8–11.5: each own-prompt score exceeded the mean score for the other prompts in this run.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Inspect requested details and visual errors too.</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Image → image: editing with partial noise (real)</a:t>
            </a:r>
            <a:endParaRPr lang="en-US" sz="3200" dirty="0"/>
          </a:p>
        </p:txBody>
      </p:sp>
      <p:pic>
        <p:nvPicPr>
          <p:cNvPr id="6" name="Image 0" descr="C:\Users\sudee\Downloads\Generative_AI_2027_Teaching_Pack\AI2027_Project\build\figures\week_10\lab_i2i.png">    </p:cNvPr>
          <p:cNvPicPr>
            <a:picLocks noChangeAspect="1"/>
          </p:cNvPicPr>
          <p:nvPr/>
        </p:nvPicPr>
        <p:blipFill>
          <a:blip r:embed="rId1"/>
          <a:stretch>
            <a:fillRect/>
          </a:stretch>
        </p:blipFill>
        <p:spPr>
          <a:xfrm>
            <a:off x="548640" y="1774400"/>
            <a:ext cx="11094415" cy="2781134"/>
          </a:xfrm>
          <a:prstGeom prst="rect">
            <a:avLst/>
          </a:prstGeom>
        </p:spPr>
      </p:pic>
      <p:sp>
        <p:nvSpPr>
          <p:cNvPr id="7" name="Text 4"/>
          <p:cNvSpPr txBox="1"/>
          <p:nvPr/>
        </p:nvSpPr>
        <p:spPr>
          <a:xfrm>
            <a:off x="548640" y="4738414"/>
            <a:ext cx="11094415" cy="1570946"/>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Editing strength sets the starting noise level.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Low strength tends to retain more input structure.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High strength permits more change; inspect the actual result.</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Editing, control and personalisation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Inpainting/outpainting:</a:t>
            </a:r>
            <a:pPr indent="0" marL="0">
              <a:buNone/>
            </a:pPr>
            <a:r>
              <a:rPr lang="en-US" sz="2600" dirty="0">
                <a:solidFill>
                  <a:srgbClr val="1F2937"/>
                </a:solidFill>
                <a:latin typeface="Calibri" pitchFamily="34" charset="0"/>
                <a:ea typeface="Calibri" pitchFamily="34" charset="-122"/>
                <a:cs typeface="Calibri" pitchFamily="34" charset="-120"/>
              </a:rPr>
              <a:t> edit a region or extend boundaries.</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Control guides:</a:t>
            </a:r>
            <a:pPr indent="0" marL="0">
              <a:buNone/>
            </a:pPr>
            <a:r>
              <a:rPr lang="en-US" sz="2600" dirty="0">
                <a:solidFill>
                  <a:srgbClr val="1F2937"/>
                </a:solidFill>
                <a:latin typeface="Calibri" pitchFamily="34" charset="0"/>
                <a:ea typeface="Calibri" pitchFamily="34" charset="-122"/>
                <a:cs typeface="Calibri" pitchFamily="34" charset="-120"/>
              </a:rPr>
              <a:t> edges, depth or pose.</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Instruction editing:</a:t>
            </a:r>
            <a:pPr indent="0" marL="0">
              <a:buNone/>
            </a:pPr>
            <a:r>
              <a:rPr lang="en-US" sz="2600" dirty="0">
                <a:solidFill>
                  <a:srgbClr val="1F2937"/>
                </a:solidFill>
                <a:latin typeface="Calibri" pitchFamily="34" charset="0"/>
                <a:ea typeface="Calibri" pitchFamily="34" charset="-122"/>
                <a:cs typeface="Calibri" pitchFamily="34" charset="-120"/>
              </a:rPr>
              <a:t> describe a change.</a:t>
            </a:r>
            <a:endParaRPr lang="en-US" sz="2600" dirty="0"/>
          </a:p>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Personalisation:</a:t>
            </a:r>
            <a:pPr indent="0" marL="0">
              <a:buNone/>
            </a:pPr>
            <a:r>
              <a:rPr lang="en-US" sz="2600" dirty="0">
                <a:solidFill>
                  <a:srgbClr val="1F2937"/>
                </a:solidFill>
                <a:latin typeface="Calibri" pitchFamily="34" charset="0"/>
                <a:ea typeface="Calibri" pitchFamily="34" charset="-122"/>
                <a:cs typeface="Calibri" pitchFamily="34" charset="-120"/>
              </a:rPr>
              <a:t> adapt a subject or style with permission.</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Speech: text-to-speech, cloning and speech-to-speech</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b="1" dirty="0">
                <a:solidFill>
                  <a:srgbClr val="1F2937"/>
                </a:solidFill>
                <a:latin typeface="Calibri" pitchFamily="34" charset="0"/>
                <a:ea typeface="Calibri" pitchFamily="34" charset="-122"/>
                <a:cs typeface="Calibri" pitchFamily="34" charset="-120"/>
              </a:rPr>
              <a:t>TTS:</a:t>
            </a:r>
            <a:pPr indent="0" marL="0">
              <a:buNone/>
            </a:pPr>
            <a:r>
              <a:rPr lang="en-US" sz="2600" dirty="0">
                <a:solidFill>
                  <a:srgbClr val="1F2937"/>
                </a:solidFill>
                <a:latin typeface="Calibri" pitchFamily="34" charset="0"/>
                <a:ea typeface="Calibri" pitchFamily="34" charset="-122"/>
                <a:cs typeface="Calibri" pitchFamily="34" charset="-120"/>
              </a:rPr>
              <a:t> words → sound features → waveform.</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Other generators predict audio-codec IDs.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Voice imitation needs permission and misuse controls.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Lab: MMS-TTS → Whisper → WER.</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Music, sound and video</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Music/sound: diffusion or audio tokens, such as MusicGen.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Video: spatial and temporal patches; sometimes sound.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Inspect changing identity, motion, drift and compute cost.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music/film rights and deceptive uses.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In image-to-image editing, what does increasing the 'strength' from 0.3 to 0.9 do?</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Sharper output with the same composition</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Identical output, but more memory is used</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A higher guidance scale for the prompt</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More starting noise; potentially larger changes</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Evaluating multimodal generative AI</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you measure quality, alignment and truthfulness across modalities?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Metrics by task</a:t>
            </a:r>
            <a:endParaRPr lang="en-US" sz="3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008655"/>
                <a:gridCol w="3948860"/>
                <a:gridCol w="413690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Task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Automatic metrics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Human evaluation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Image generation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FID / CLIP / GenEval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Prompt match, defects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Captioning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CIDEr / CLIPScore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Facts, invented detail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VQA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Known-answer accuracy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Reading / arithmetic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Speech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ASR WER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Naturalness, clarity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Video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FVD / alignment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Motion, continuity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Hallucination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POPE / CHAIR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Supported claims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Multimodal hallucination</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An unsupported visual claim is a hallucination.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present and absent objects; inspect yes/no bias.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Qwen3-VL-2B-Instruct: 6 of 6 yes/no probes correct; it said “yes” to 0 of 4 absent objects or fields.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Resolution, checked extraction and review support verification.</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Designing human evaluation for images and audio</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Randomise side-by-side order.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Use a task-specific scoring rubric.</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Vary content, accents, languages and raters.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Report agreement; combine human and automatic checks.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Responsible use, applications and trends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 go wrong, how do we label synthetic media, and where is this useful?</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Harms of realistic synthetic media</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Impersonation</a:t>
            </a:r>
            <a:endParaRPr lang="en-US" sz="21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Fake faces or voices can enable fraud.</a:t>
            </a:r>
            <a:endParaRPr lang="en-US" sz="22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Non-consensual imagery</a:t>
            </a:r>
            <a:endParaRPr lang="en-US" sz="21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Fabrications can severely harm people.</a:t>
            </a:r>
            <a:endParaRPr lang="en-US" sz="22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Disinformation</a:t>
            </a:r>
            <a:endParaRPr lang="en-US" sz="21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Fakes mislead; real evidence may be dismissed.</a:t>
            </a:r>
            <a:endParaRPr lang="en-US" sz="22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Harassment</a:t>
            </a:r>
            <a:endParaRPr lang="en-US" sz="21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2200" dirty="0">
                <a:solidFill>
                  <a:srgbClr val="1F2937"/>
                </a:solidFill>
                <a:latin typeface="Calibri" pitchFamily="34" charset="0"/>
                <a:ea typeface="Calibri" pitchFamily="34" charset="-122"/>
                <a:cs typeface="Calibri" pitchFamily="34" charset="-120"/>
              </a:rPr>
              <a:t>Synthetic identities can enable targeted abuse.</a:t>
            </a:r>
            <a:endParaRPr lang="en-US" sz="2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Provenance and labelling: no single layer is enough</a:t>
            </a:r>
            <a:endParaRPr lang="en-US" sz="3200" dirty="0"/>
          </a:p>
        </p:txBody>
      </p:sp>
      <p:sp>
        <p:nvSpPr>
          <p:cNvPr id="6" name="Shape 4"/>
          <p:cNvSpPr/>
          <p:nvPr/>
        </p:nvSpPr>
        <p:spPr>
          <a:xfrm>
            <a:off x="949532" y="2421983"/>
            <a:ext cx="2964769" cy="349218"/>
          </a:xfrm>
          <a:prstGeom prst="rect">
            <a:avLst/>
          </a:prstGeom>
          <a:solidFill>
            <a:srgbClr val="F2F4F5"/>
          </a:solidFill>
          <a:ln w="15240">
            <a:solidFill>
              <a:srgbClr val="626B73"/>
            </a:solidFill>
            <a:prstDash val="solid"/>
          </a:ln>
        </p:spPr>
      </p:sp>
      <p:sp>
        <p:nvSpPr>
          <p:cNvPr id="7" name="Shape 5"/>
          <p:cNvSpPr/>
          <p:nvPr/>
        </p:nvSpPr>
        <p:spPr>
          <a:xfrm>
            <a:off x="949532" y="2898189"/>
            <a:ext cx="2964769" cy="349218"/>
          </a:xfrm>
          <a:prstGeom prst="rect">
            <a:avLst/>
          </a:prstGeom>
          <a:solidFill>
            <a:srgbClr val="F2F4F5"/>
          </a:solidFill>
          <a:ln w="15240">
            <a:solidFill>
              <a:srgbClr val="626B73"/>
            </a:solidFill>
            <a:prstDash val="solid"/>
          </a:ln>
        </p:spPr>
      </p:sp>
      <p:sp>
        <p:nvSpPr>
          <p:cNvPr id="8" name="Shape 6"/>
          <p:cNvSpPr/>
          <p:nvPr/>
        </p:nvSpPr>
        <p:spPr>
          <a:xfrm>
            <a:off x="949532" y="3374395"/>
            <a:ext cx="2964769" cy="349218"/>
          </a:xfrm>
          <a:prstGeom prst="rect">
            <a:avLst/>
          </a:prstGeom>
          <a:solidFill>
            <a:srgbClr val="F2F4F5"/>
          </a:solidFill>
          <a:ln w="15240">
            <a:solidFill>
              <a:srgbClr val="626B73"/>
            </a:solidFill>
            <a:prstDash val="solid"/>
          </a:ln>
        </p:spPr>
      </p:sp>
      <p:sp>
        <p:nvSpPr>
          <p:cNvPr id="9" name="Shape 7"/>
          <p:cNvSpPr/>
          <p:nvPr/>
        </p:nvSpPr>
        <p:spPr>
          <a:xfrm>
            <a:off x="949532" y="3850602"/>
            <a:ext cx="2964769" cy="349218"/>
          </a:xfrm>
          <a:prstGeom prst="rect">
            <a:avLst/>
          </a:prstGeom>
          <a:solidFill>
            <a:srgbClr val="F2F4F5"/>
          </a:solidFill>
          <a:ln w="15240">
            <a:solidFill>
              <a:srgbClr val="626B73"/>
            </a:solidFill>
            <a:prstDash val="solid"/>
          </a:ln>
        </p:spPr>
      </p:sp>
      <p:sp>
        <p:nvSpPr>
          <p:cNvPr id="10" name="Text 8"/>
          <p:cNvSpPr txBox="1"/>
          <p:nvPr/>
        </p:nvSpPr>
        <p:spPr>
          <a:xfrm>
            <a:off x="949532" y="2060134"/>
            <a:ext cx="687811" cy="247491"/>
          </a:xfrm>
          <a:prstGeom prst="rect">
            <a:avLst/>
          </a:prstGeom>
          <a:noFill/>
          <a:ln/>
        </p:spPr>
        <p:txBody>
          <a:bodyPr wrap="square" lIns="0" tIns="0" rIns="0" bIns="0" rtlCol="0" anchor="ctr"/>
          <a:lstStyle/>
          <a:p>
            <a:pPr algn="l" indent="0" marL="0">
              <a:lnSpc>
                <a:spcPct val="116000"/>
              </a:lnSpc>
              <a:buNone/>
            </a:pPr>
            <a:r>
              <a:rPr lang="en-US" sz="1680" b="1" dirty="0">
                <a:solidFill>
                  <a:srgbClr val="1E1B4B"/>
                </a:solidFill>
                <a:latin typeface="Arial" pitchFamily="34" charset="0"/>
                <a:ea typeface="Arial" pitchFamily="34" charset="-122"/>
                <a:cs typeface="Arial" pitchFamily="34" charset="-120"/>
              </a:rPr>
              <a:t>Layer</a:t>
            </a:r>
            <a:endParaRPr lang="en-US" sz="1680" dirty="0"/>
          </a:p>
        </p:txBody>
      </p:sp>
      <p:sp>
        <p:nvSpPr>
          <p:cNvPr id="11" name="Text 9"/>
          <p:cNvSpPr txBox="1"/>
          <p:nvPr/>
        </p:nvSpPr>
        <p:spPr>
          <a:xfrm>
            <a:off x="4202543" y="2060134"/>
            <a:ext cx="1403273" cy="247491"/>
          </a:xfrm>
          <a:prstGeom prst="rect">
            <a:avLst/>
          </a:prstGeom>
          <a:noFill/>
          <a:ln/>
        </p:spPr>
        <p:txBody>
          <a:bodyPr wrap="square" lIns="0" tIns="0" rIns="0" bIns="0" rtlCol="0" anchor="ctr"/>
          <a:lstStyle/>
          <a:p>
            <a:pPr algn="l" indent="0" marL="0">
              <a:lnSpc>
                <a:spcPct val="116000"/>
              </a:lnSpc>
              <a:buNone/>
            </a:pPr>
            <a:r>
              <a:rPr lang="en-US" sz="1680" b="1" dirty="0">
                <a:solidFill>
                  <a:srgbClr val="1E1B4B"/>
                </a:solidFill>
                <a:latin typeface="Arial" pitchFamily="34" charset="0"/>
                <a:ea typeface="Arial" pitchFamily="34" charset="-122"/>
                <a:cs typeface="Arial" pitchFamily="34" charset="-120"/>
              </a:rPr>
              <a:t>What it does</a:t>
            </a:r>
            <a:endParaRPr lang="en-US" sz="1680" dirty="0"/>
          </a:p>
        </p:txBody>
      </p:sp>
      <p:sp>
        <p:nvSpPr>
          <p:cNvPr id="12" name="Text 10"/>
          <p:cNvSpPr txBox="1"/>
          <p:nvPr/>
        </p:nvSpPr>
        <p:spPr>
          <a:xfrm>
            <a:off x="8237923" y="2060134"/>
            <a:ext cx="617148" cy="247491"/>
          </a:xfrm>
          <a:prstGeom prst="rect">
            <a:avLst/>
          </a:prstGeom>
          <a:noFill/>
          <a:ln/>
        </p:spPr>
        <p:txBody>
          <a:bodyPr wrap="square" lIns="0" tIns="0" rIns="0" bIns="0" rtlCol="0" anchor="ctr"/>
          <a:lstStyle/>
          <a:p>
            <a:pPr algn="l" indent="0" marL="0">
              <a:lnSpc>
                <a:spcPct val="116000"/>
              </a:lnSpc>
              <a:buNone/>
            </a:pPr>
            <a:r>
              <a:rPr lang="en-US" sz="1680" b="1" dirty="0">
                <a:solidFill>
                  <a:srgbClr val="1E1B4B"/>
                </a:solidFill>
                <a:latin typeface="Arial" pitchFamily="34" charset="0"/>
                <a:ea typeface="Arial" pitchFamily="34" charset="-122"/>
                <a:cs typeface="Arial" pitchFamily="34" charset="-120"/>
              </a:rPr>
              <a:t>Limit</a:t>
            </a:r>
            <a:endParaRPr lang="en-US" sz="1680" dirty="0"/>
          </a:p>
        </p:txBody>
      </p:sp>
      <p:sp>
        <p:nvSpPr>
          <p:cNvPr id="13" name="Text 11"/>
          <p:cNvSpPr txBox="1"/>
          <p:nvPr/>
        </p:nvSpPr>
        <p:spPr>
          <a:xfrm>
            <a:off x="1445214" y="2472846"/>
            <a:ext cx="1973406"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Visible disclosure</a:t>
            </a:r>
            <a:endParaRPr lang="en-US" sz="1680" dirty="0"/>
          </a:p>
        </p:txBody>
      </p:sp>
      <p:sp>
        <p:nvSpPr>
          <p:cNvPr id="14" name="Text 12"/>
          <p:cNvSpPr txBox="1"/>
          <p:nvPr/>
        </p:nvSpPr>
        <p:spPr>
          <a:xfrm>
            <a:off x="4202543" y="2472846"/>
            <a:ext cx="1626165"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Tells the viewer</a:t>
            </a:r>
            <a:endParaRPr lang="en-US" sz="1680" dirty="0"/>
          </a:p>
        </p:txBody>
      </p:sp>
      <p:sp>
        <p:nvSpPr>
          <p:cNvPr id="15" name="Text 13"/>
          <p:cNvSpPr txBox="1"/>
          <p:nvPr/>
        </p:nvSpPr>
        <p:spPr>
          <a:xfrm>
            <a:off x="8237923" y="2472846"/>
            <a:ext cx="1694757" cy="247491"/>
          </a:xfrm>
          <a:prstGeom prst="rect">
            <a:avLst/>
          </a:prstGeom>
          <a:noFill/>
          <a:ln/>
        </p:spPr>
        <p:txBody>
          <a:bodyPr wrap="square" lIns="0" tIns="0" rIns="0" bIns="0" rtlCol="0" anchor="ctr"/>
          <a:lstStyle/>
          <a:p>
            <a:pPr algn="l" indent="0" marL="0">
              <a:lnSpc>
                <a:spcPct val="116000"/>
              </a:lnSpc>
              <a:buNone/>
            </a:pPr>
            <a:r>
              <a:rPr lang="en-US" sz="1680" dirty="0">
                <a:solidFill>
                  <a:srgbClr val="EA580C"/>
                </a:solidFill>
                <a:latin typeface="Arial" pitchFamily="34" charset="0"/>
                <a:ea typeface="Arial" pitchFamily="34" charset="-122"/>
                <a:cs typeface="Arial" pitchFamily="34" charset="-120"/>
              </a:rPr>
              <a:t>May be cropped</a:t>
            </a:r>
            <a:endParaRPr lang="en-US" sz="1680" dirty="0"/>
          </a:p>
        </p:txBody>
      </p:sp>
      <p:sp>
        <p:nvSpPr>
          <p:cNvPr id="16" name="Text 14"/>
          <p:cNvSpPr txBox="1"/>
          <p:nvPr/>
        </p:nvSpPr>
        <p:spPr>
          <a:xfrm>
            <a:off x="1305337" y="2949053"/>
            <a:ext cx="2253160"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Signed C2PA history</a:t>
            </a:r>
            <a:endParaRPr lang="en-US" sz="1680" dirty="0"/>
          </a:p>
        </p:txBody>
      </p:sp>
      <p:sp>
        <p:nvSpPr>
          <p:cNvPr id="17" name="Text 15"/>
          <p:cNvSpPr txBox="1"/>
          <p:nvPr/>
        </p:nvSpPr>
        <p:spPr>
          <a:xfrm>
            <a:off x="4202543" y="2949053"/>
            <a:ext cx="2507381"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Records origin and edits</a:t>
            </a:r>
            <a:endParaRPr lang="en-US" sz="1680" dirty="0"/>
          </a:p>
        </p:txBody>
      </p:sp>
      <p:sp>
        <p:nvSpPr>
          <p:cNvPr id="18" name="Text 16"/>
          <p:cNvSpPr txBox="1"/>
          <p:nvPr/>
        </p:nvSpPr>
        <p:spPr>
          <a:xfrm>
            <a:off x="8237923" y="2949053"/>
            <a:ext cx="2109902" cy="247491"/>
          </a:xfrm>
          <a:prstGeom prst="rect">
            <a:avLst/>
          </a:prstGeom>
          <a:noFill/>
          <a:ln/>
        </p:spPr>
        <p:txBody>
          <a:bodyPr wrap="square" lIns="0" tIns="0" rIns="0" bIns="0" rtlCol="0" anchor="ctr"/>
          <a:lstStyle/>
          <a:p>
            <a:pPr algn="l" indent="0" marL="0">
              <a:lnSpc>
                <a:spcPct val="116000"/>
              </a:lnSpc>
              <a:buNone/>
            </a:pPr>
            <a:r>
              <a:rPr lang="en-US" sz="1680" dirty="0">
                <a:solidFill>
                  <a:srgbClr val="EA580C"/>
                </a:solidFill>
                <a:latin typeface="Arial" pitchFamily="34" charset="0"/>
                <a:ea typeface="Arial" pitchFamily="34" charset="-122"/>
                <a:cs typeface="Arial" pitchFamily="34" charset="-120"/>
              </a:rPr>
              <a:t>Does not prove truth</a:t>
            </a:r>
            <a:endParaRPr lang="en-US" sz="1680" dirty="0"/>
          </a:p>
        </p:txBody>
      </p:sp>
      <p:sp>
        <p:nvSpPr>
          <p:cNvPr id="19" name="Text 17"/>
          <p:cNvSpPr txBox="1"/>
          <p:nvPr/>
        </p:nvSpPr>
        <p:spPr>
          <a:xfrm>
            <a:off x="1359300" y="3425259"/>
            <a:ext cx="2145233"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Invisible watermark</a:t>
            </a:r>
            <a:endParaRPr lang="en-US" sz="1680" dirty="0"/>
          </a:p>
        </p:txBody>
      </p:sp>
      <p:sp>
        <p:nvSpPr>
          <p:cNvPr id="20" name="Text 18"/>
          <p:cNvSpPr txBox="1"/>
          <p:nvPr/>
        </p:nvSpPr>
        <p:spPr>
          <a:xfrm>
            <a:off x="4202543" y="3425259"/>
            <a:ext cx="2586876"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Signals synthetic content</a:t>
            </a:r>
            <a:endParaRPr lang="en-US" sz="1680" dirty="0"/>
          </a:p>
        </p:txBody>
      </p:sp>
      <p:sp>
        <p:nvSpPr>
          <p:cNvPr id="21" name="Text 19"/>
          <p:cNvSpPr txBox="1"/>
          <p:nvPr/>
        </p:nvSpPr>
        <p:spPr>
          <a:xfrm>
            <a:off x="8237923" y="3425259"/>
            <a:ext cx="2392553" cy="247491"/>
          </a:xfrm>
          <a:prstGeom prst="rect">
            <a:avLst/>
          </a:prstGeom>
          <a:noFill/>
          <a:ln/>
        </p:spPr>
        <p:txBody>
          <a:bodyPr wrap="square" lIns="0" tIns="0" rIns="0" bIns="0" rtlCol="0" anchor="ctr"/>
          <a:lstStyle/>
          <a:p>
            <a:pPr algn="l" indent="0" marL="0">
              <a:lnSpc>
                <a:spcPct val="116000"/>
              </a:lnSpc>
              <a:buNone/>
            </a:pPr>
            <a:r>
              <a:rPr lang="en-US" sz="1680" dirty="0">
                <a:solidFill>
                  <a:srgbClr val="EA580C"/>
                </a:solidFill>
                <a:latin typeface="Arial" pitchFamily="34" charset="0"/>
                <a:ea typeface="Arial" pitchFamily="34" charset="-122"/>
                <a:cs typeface="Arial" pitchFamily="34" charset="-120"/>
              </a:rPr>
              <a:t>May weaken after edits</a:t>
            </a:r>
            <a:endParaRPr lang="en-US" sz="1680" dirty="0"/>
          </a:p>
        </p:txBody>
      </p:sp>
      <p:sp>
        <p:nvSpPr>
          <p:cNvPr id="22" name="Text 20"/>
          <p:cNvSpPr txBox="1"/>
          <p:nvPr/>
        </p:nvSpPr>
        <p:spPr>
          <a:xfrm>
            <a:off x="1372550" y="3901465"/>
            <a:ext cx="2118735" cy="247491"/>
          </a:xfrm>
          <a:prstGeom prst="rect">
            <a:avLst/>
          </a:prstGeom>
          <a:noFill/>
          <a:ln/>
        </p:spPr>
        <p:txBody>
          <a:bodyPr wrap="square" lIns="0" tIns="0" rIns="0" bIns="0" rtlCol="0" anchor="ctr"/>
          <a:lstStyle/>
          <a:p>
            <a:pPr algn="ctr" indent="0" marL="0">
              <a:lnSpc>
                <a:spcPct val="116000"/>
              </a:lnSpc>
              <a:buNone/>
            </a:pPr>
            <a:r>
              <a:rPr lang="en-US" sz="1680" b="1" dirty="0">
                <a:solidFill>
                  <a:srgbClr val="1E1B4B"/>
                </a:solidFill>
                <a:latin typeface="Arial" pitchFamily="34" charset="0"/>
                <a:ea typeface="Arial" pitchFamily="34" charset="-122"/>
                <a:cs typeface="Arial" pitchFamily="34" charset="-120"/>
              </a:rPr>
              <a:t>Detection classifier</a:t>
            </a:r>
            <a:endParaRPr lang="en-US" sz="1680" dirty="0"/>
          </a:p>
        </p:txBody>
      </p:sp>
      <p:sp>
        <p:nvSpPr>
          <p:cNvPr id="23" name="Text 21"/>
          <p:cNvSpPr txBox="1"/>
          <p:nvPr/>
        </p:nvSpPr>
        <p:spPr>
          <a:xfrm>
            <a:off x="4202543" y="3901465"/>
            <a:ext cx="2648706" cy="247491"/>
          </a:xfrm>
          <a:prstGeom prst="rect">
            <a:avLst/>
          </a:prstGeom>
          <a:noFill/>
          <a:ln/>
        </p:spPr>
        <p:txBody>
          <a:bodyPr wrap="square" lIns="0" tIns="0" rIns="0" bIns="0" rtlCol="0" anchor="ctr"/>
          <a:lstStyle/>
          <a:p>
            <a:pPr algn="l" indent="0" marL="0">
              <a:lnSpc>
                <a:spcPct val="116000"/>
              </a:lnSpc>
              <a:buNone/>
            </a:pPr>
            <a:r>
              <a:rPr lang="en-US" sz="1680" dirty="0">
                <a:solidFill>
                  <a:srgbClr val="1F2937"/>
                </a:solidFill>
                <a:latin typeface="Arial" pitchFamily="34" charset="0"/>
                <a:ea typeface="Arial" pitchFamily="34" charset="-122"/>
                <a:cs typeface="Arial" pitchFamily="34" charset="-120"/>
              </a:rPr>
              <a:t>Estimates synthetic origin</a:t>
            </a:r>
            <a:endParaRPr lang="en-US" sz="1680" dirty="0"/>
          </a:p>
        </p:txBody>
      </p:sp>
      <p:sp>
        <p:nvSpPr>
          <p:cNvPr id="24" name="Text 22"/>
          <p:cNvSpPr txBox="1"/>
          <p:nvPr/>
        </p:nvSpPr>
        <p:spPr>
          <a:xfrm>
            <a:off x="8237923" y="3901465"/>
            <a:ext cx="2065737" cy="247491"/>
          </a:xfrm>
          <a:prstGeom prst="rect">
            <a:avLst/>
          </a:prstGeom>
          <a:noFill/>
          <a:ln/>
        </p:spPr>
        <p:txBody>
          <a:bodyPr wrap="square" lIns="0" tIns="0" rIns="0" bIns="0" rtlCol="0" anchor="ctr"/>
          <a:lstStyle/>
          <a:p>
            <a:pPr algn="l" indent="0" marL="0">
              <a:lnSpc>
                <a:spcPct val="116000"/>
              </a:lnSpc>
              <a:buNone/>
            </a:pPr>
            <a:r>
              <a:rPr lang="en-US" sz="1680" dirty="0">
                <a:solidFill>
                  <a:srgbClr val="EA580C"/>
                </a:solidFill>
                <a:latin typeface="Arial" pitchFamily="34" charset="0"/>
                <a:ea typeface="Arial" pitchFamily="34" charset="-122"/>
                <a:cs typeface="Arial" pitchFamily="34" charset="-120"/>
              </a:rPr>
              <a:t>Can make mistakes</a:t>
            </a:r>
            <a:endParaRPr lang="en-US" sz="1680" dirty="0"/>
          </a:p>
        </p:txBody>
      </p:sp>
      <p:sp>
        <p:nvSpPr>
          <p:cNvPr id="25" name="Text 23"/>
          <p:cNvSpPr txBox="1"/>
          <p:nvPr/>
        </p:nvSpPr>
        <p:spPr>
          <a:xfrm>
            <a:off x="548640" y="4627972"/>
            <a:ext cx="11094415" cy="1681388"/>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Provenance:</a:t>
            </a:r>
            <a:pPr indent="0" marL="0">
              <a:buNone/>
            </a:pPr>
            <a:r>
              <a:rPr lang="en-US" sz="2000" dirty="0">
                <a:solidFill>
                  <a:srgbClr val="1F2937"/>
                </a:solidFill>
                <a:latin typeface="Calibri" pitchFamily="34" charset="0"/>
                <a:ea typeface="Calibri" pitchFamily="34" charset="-122"/>
                <a:cs typeface="Calibri" pitchFamily="34" charset="-120"/>
              </a:rPr>
              <a:t> origin and edit history; not scene truth.</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labels, signed C2PA credentials and other appropriate checks.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Article 50 separates provider marking from deployer disclosure; see official scope and exceptions.</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Discuss: where should the label go?</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An app removes a stranger and brightens a photo. Where should an AI-edit label appear?</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Family album, news report, insurance claim.</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Consider visible disclosure and edit history.</a:t>
            </a:r>
            <a:endParaRPr lang="en-US" sz="2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Consent, likeness and rights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Obtain permission for face or voice imitation.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training and output rights and licences.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Use an appropriate lawful basis for personal data.</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Collect only what the task needs.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Valuable applications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Accessibility</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Alt text for blind users; live captions for deaf users.</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Documents</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Read invoices and forms, validate the fields, route each to the right team.</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Voice</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Answer phone queries in several languages; hand over to a person when unsure.</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Education</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a diagram or comment on handwritten work, with teacher review.</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Design</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Draft concept images for a campaign; label them as generated.</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Inspection</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Flag possible defects in product photos; a person confirms each alert.</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Emerging trends (2026–27)</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Any-to-any supported media routes.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Live speech and video interaction.</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Longer video with sound and control.</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Screen actions and world-model research.</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Small models on user devices.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Treat capability claims as model-specific.</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design pattern for multimodal applications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Input</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Quality and permission</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Perceive</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Extract fields</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FFF1E6"/>
          </a:solidFill>
          <a:ln w="15875">
            <a:solidFill>
              <a:srgbClr val="EA580C"/>
            </a:solidFill>
            <a:prstDash val="solid"/>
          </a:ln>
        </p:spPr>
      </p:sp>
      <p:sp>
        <p:nvSpPr>
          <p:cNvPr id="19" name="Shape 17"/>
          <p:cNvSpPr/>
          <p:nvPr/>
        </p:nvSpPr>
        <p:spPr>
          <a:xfrm>
            <a:off x="5894680"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Verify</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Check values and sums</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EEF0FF"/>
          </a:solidFill>
          <a:ln w="15875">
            <a:solidFill>
              <a:srgbClr val="4F46E5"/>
            </a:solidFill>
            <a:prstDash val="solid"/>
          </a:ln>
        </p:spPr>
      </p:sp>
      <p:sp>
        <p:nvSpPr>
          <p:cNvPr id="25" name="Shape 23"/>
          <p:cNvSpPr/>
          <p:nvPr/>
        </p:nvSpPr>
        <p:spPr>
          <a:xfrm>
            <a:off x="8195859"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Use output</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Answer or generate</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Review / label</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Oversight and provenance</a:t>
            </a:r>
            <a:endParaRPr lang="en-US" sz="20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Read with the model; calculate and cross-check with code.</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Responsible-use checklist for multimodal projects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State purpose and people affected.</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permission, lawful basis and licences.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reading errors and invented detail.</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Apply appropriate disclosure and provenance.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Record versions, settings and measured results.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Generate, inspect and evaluate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Follow three model routes and a provenance experiment</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inputs +</a:t>
            </a:r>
            <a:endParaRPr lang="en-US" sz="1441" dirty="0"/>
          </a:p>
        </p:txBody>
      </p:sp>
      <p:sp>
        <p:nvSpPr>
          <p:cNvPr id="9" name="Text 7"/>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references</a:t>
            </a:r>
            <a:endParaRPr lang="en-US" sz="1441" dirty="0"/>
          </a:p>
        </p:txBody>
      </p:sp>
      <p:sp>
        <p:nvSpPr>
          <p:cNvPr id="10" name="Shape 8"/>
          <p:cNvSpPr/>
          <p:nvPr/>
        </p:nvSpPr>
        <p:spPr>
          <a:xfrm>
            <a:off x="4163991" y="3838927"/>
            <a:ext cx="244024" cy="0"/>
          </a:xfrm>
          <a:prstGeom prst="line">
            <a:avLst/>
          </a:prstGeom>
          <a:noFill/>
          <a:ln w="22860">
            <a:solidFill>
              <a:srgbClr val="009E73"/>
            </a:solidFill>
            <a:prstDash val="solid"/>
            <a:tailEnd type="triangle"/>
          </a:ln>
        </p:spPr>
      </p:sp>
      <p:sp>
        <p:nvSpPr>
          <p:cNvPr id="11" name="Text 9"/>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completed visual</a:t>
            </a:r>
            <a:endParaRPr lang="en-US" sz="1441" dirty="0"/>
          </a:p>
        </p:txBody>
      </p:sp>
      <p:sp>
        <p:nvSpPr>
          <p:cNvPr id="12" name="Text 10"/>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checks</a:t>
            </a:r>
            <a:endParaRPr lang="en-US" sz="1441" dirty="0"/>
          </a:p>
        </p:txBody>
      </p:sp>
      <p:sp>
        <p:nvSpPr>
          <p:cNvPr id="13" name="Shape 11"/>
          <p:cNvSpPr/>
          <p:nvPr/>
        </p:nvSpPr>
        <p:spPr>
          <a:xfrm>
            <a:off x="5973836" y="3838927"/>
            <a:ext cx="244024" cy="0"/>
          </a:xfrm>
          <a:prstGeom prst="line">
            <a:avLst/>
          </a:prstGeom>
          <a:noFill/>
          <a:ln w="22860">
            <a:solidFill>
              <a:srgbClr val="009E73"/>
            </a:solidFill>
            <a:prstDash val="solid"/>
            <a:tailEnd type="triangle"/>
          </a:ln>
        </p:spPr>
      </p:sp>
      <p:sp>
        <p:nvSpPr>
          <p:cNvPr id="14" name="Text 12"/>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generated images</a:t>
            </a:r>
            <a:endParaRPr lang="en-US" sz="1441" dirty="0"/>
          </a:p>
        </p:txBody>
      </p:sp>
      <p:sp>
        <p:nvSpPr>
          <p:cNvPr id="15" name="Shape 13"/>
          <p:cNvSpPr/>
          <p:nvPr/>
        </p:nvSpPr>
        <p:spPr>
          <a:xfrm>
            <a:off x="7783680" y="3838927"/>
            <a:ext cx="244024" cy="0"/>
          </a:xfrm>
          <a:prstGeom prst="line">
            <a:avLst/>
          </a:prstGeom>
          <a:noFill/>
          <a:ln w="22860">
            <a:solidFill>
              <a:srgbClr val="009E73"/>
            </a:solidFill>
            <a:prstDash val="solid"/>
            <a:tailEnd type="triangle"/>
          </a:ln>
        </p:spPr>
      </p:sp>
      <p:sp>
        <p:nvSpPr>
          <p:cNvPr id="16" name="Text 14"/>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alignment results</a:t>
            </a:r>
            <a:endParaRPr lang="en-US" sz="1441" dirty="0"/>
          </a:p>
        </p:txBody>
      </p:sp>
      <p:sp>
        <p:nvSpPr>
          <p:cNvPr id="17" name="Shape 15"/>
          <p:cNvSpPr/>
          <p:nvPr/>
        </p:nvSpPr>
        <p:spPr>
          <a:xfrm>
            <a:off x="9593525" y="3838927"/>
            <a:ext cx="244024" cy="0"/>
          </a:xfrm>
          <a:prstGeom prst="line">
            <a:avLst/>
          </a:prstGeom>
          <a:noFill/>
          <a:ln w="22860">
            <a:solidFill>
              <a:srgbClr val="009E73"/>
            </a:solidFill>
            <a:prstDash val="solid"/>
            <a:tailEnd type="triangle"/>
          </a:ln>
        </p:spPr>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generated media</a:t>
            </a:r>
            <a:endParaRPr lang="en-US" sz="1441" dirty="0"/>
          </a:p>
        </p:txBody>
      </p:sp>
      <p:sp>
        <p:nvSpPr>
          <p:cNvPr id="19" name="Shape 17"/>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0" name="Text 18"/>
          <p:cNvSpPr txBox="1"/>
          <p:nvPr/>
        </p:nvSpPr>
        <p:spPr>
          <a:xfrm>
            <a:off x="84933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Create test</a:t>
            </a:r>
            <a:endParaRPr lang="en-US" sz="1561" dirty="0"/>
          </a:p>
        </p:txBody>
      </p:sp>
      <p:sp>
        <p:nvSpPr>
          <p:cNvPr id="21" name="Text 19"/>
          <p:cNvSpPr txBox="1"/>
          <p:nvPr/>
        </p:nvSpPr>
        <p:spPr>
          <a:xfrm>
            <a:off x="84933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inputs</a:t>
            </a:r>
            <a:endParaRPr lang="en-US" sz="1561" dirty="0"/>
          </a:p>
        </p:txBody>
      </p:sp>
      <p:sp>
        <p:nvSpPr>
          <p:cNvPr id="22" name="Text 20"/>
          <p:cNvSpPr txBox="1"/>
          <p:nvPr/>
        </p:nvSpPr>
        <p:spPr>
          <a:xfrm>
            <a:off x="84933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chart and</a:t>
            </a:r>
            <a:endParaRPr lang="en-US" sz="1441" dirty="0"/>
          </a:p>
        </p:txBody>
      </p:sp>
      <p:sp>
        <p:nvSpPr>
          <p:cNvPr id="23" name="Text 21"/>
          <p:cNvSpPr txBox="1"/>
          <p:nvPr/>
        </p:nvSpPr>
        <p:spPr>
          <a:xfrm>
            <a:off x="84933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invoice values</a:t>
            </a:r>
            <a:endParaRPr lang="en-US" sz="1441" dirty="0"/>
          </a:p>
        </p:txBody>
      </p:sp>
      <p:sp>
        <p:nvSpPr>
          <p:cNvPr id="24" name="Text 22"/>
          <p:cNvSpPr txBox="1"/>
          <p:nvPr/>
        </p:nvSpPr>
        <p:spPr>
          <a:xfrm>
            <a:off x="81120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QA</a:t>
            </a:r>
            <a:endParaRPr lang="en-US" sz="1441" dirty="0"/>
          </a:p>
        </p:txBody>
      </p:sp>
      <p:sp>
        <p:nvSpPr>
          <p:cNvPr id="25" name="Shape 23"/>
          <p:cNvSpPr/>
          <p:nvPr/>
        </p:nvSpPr>
        <p:spPr>
          <a:xfrm>
            <a:off x="2598170" y="2939089"/>
            <a:ext cx="1565821" cy="1799677"/>
          </a:xfrm>
          <a:prstGeom prst="rect">
            <a:avLst/>
          </a:prstGeom>
          <a:solidFill>
            <a:srgbClr val="E5F7EF"/>
          </a:solidFill>
          <a:ln w="15240">
            <a:solidFill>
              <a:srgbClr val="009E73"/>
            </a:solidFill>
            <a:prstDash val="solid"/>
          </a:ln>
        </p:spPr>
      </p:sp>
      <p:sp>
        <p:nvSpPr>
          <p:cNvPr id="26" name="Text 24"/>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Ask + verify</a:t>
            </a:r>
            <a:endParaRPr lang="en-US" sz="1561" dirty="0"/>
          </a:p>
        </p:txBody>
      </p:sp>
      <p:sp>
        <p:nvSpPr>
          <p:cNvPr id="27" name="Text 25"/>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 facts and</a:t>
            </a:r>
            <a:endParaRPr lang="en-US" sz="1441" dirty="0"/>
          </a:p>
        </p:txBody>
      </p:sp>
      <p:sp>
        <p:nvSpPr>
          <p:cNvPr id="28" name="Text 26"/>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hallucination</a:t>
            </a:r>
            <a:endParaRPr lang="en-US" sz="1441" dirty="0"/>
          </a:p>
        </p:txBody>
      </p:sp>
      <p:sp>
        <p:nvSpPr>
          <p:cNvPr id="29" name="Text 27"/>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ask</a:t>
            </a:r>
            <a:endParaRPr lang="en-US" sz="1441" dirty="0"/>
          </a:p>
        </p:txBody>
      </p:sp>
      <p:sp>
        <p:nvSpPr>
          <p:cNvPr id="30" name="Shape 28"/>
          <p:cNvSpPr/>
          <p:nvPr/>
        </p:nvSpPr>
        <p:spPr>
          <a:xfrm>
            <a:off x="4408015" y="2939089"/>
            <a:ext cx="1565821" cy="1799677"/>
          </a:xfrm>
          <a:prstGeom prst="rect">
            <a:avLst/>
          </a:prstGeom>
          <a:solidFill>
            <a:srgbClr val="E5F7EF"/>
          </a:solidFill>
          <a:ln w="15240">
            <a:solidFill>
              <a:srgbClr val="009E73"/>
            </a:solidFill>
            <a:prstDash val="solid"/>
          </a:ln>
        </p:spPr>
      </p:sp>
      <p:sp>
        <p:nvSpPr>
          <p:cNvPr id="31" name="Text 29"/>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Generate +</a:t>
            </a:r>
            <a:endParaRPr lang="en-US" sz="1561" dirty="0"/>
          </a:p>
        </p:txBody>
      </p:sp>
      <p:sp>
        <p:nvSpPr>
          <p:cNvPr id="32" name="Text 30"/>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edit</a:t>
            </a:r>
            <a:endParaRPr lang="en-US" sz="1561" dirty="0"/>
          </a:p>
        </p:txBody>
      </p:sp>
      <p:sp>
        <p:nvSpPr>
          <p:cNvPr id="33" name="Text 31"/>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 image</a:t>
            </a:r>
            <a:endParaRPr lang="en-US" sz="1441" dirty="0"/>
          </a:p>
        </p:txBody>
      </p:sp>
      <p:sp>
        <p:nvSpPr>
          <p:cNvPr id="34" name="Text 32"/>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strength settings</a:t>
            </a:r>
            <a:endParaRPr lang="en-US" sz="1441" dirty="0"/>
          </a:p>
        </p:txBody>
      </p:sp>
      <p:sp>
        <p:nvSpPr>
          <p:cNvPr id="35" name="Text 33"/>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edits</a:t>
            </a:r>
            <a:endParaRPr lang="en-US" sz="1441" dirty="0"/>
          </a:p>
        </p:txBody>
      </p:sp>
      <p:sp>
        <p:nvSpPr>
          <p:cNvPr id="36" name="Shape 34"/>
          <p:cNvSpPr/>
          <p:nvPr/>
        </p:nvSpPr>
        <p:spPr>
          <a:xfrm>
            <a:off x="6217860" y="2939089"/>
            <a:ext cx="1565821" cy="1799677"/>
          </a:xfrm>
          <a:prstGeom prst="roundRect">
            <a:avLst>
              <a:gd name="adj" fmla="val 4672"/>
            </a:avLst>
          </a:prstGeom>
          <a:solidFill>
            <a:srgbClr val="FFF0E6"/>
          </a:solidFill>
          <a:ln w="15240">
            <a:solidFill>
              <a:srgbClr val="D55E00"/>
            </a:solidFill>
            <a:prstDash val="solid"/>
          </a:ln>
        </p:spPr>
      </p:sp>
      <p:sp>
        <p:nvSpPr>
          <p:cNvPr id="37" name="Text 35"/>
          <p:cNvSpPr txBox="1"/>
          <p:nvPr/>
        </p:nvSpPr>
        <p:spPr>
          <a:xfrm>
            <a:off x="627886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Measure</a:t>
            </a:r>
            <a:endParaRPr lang="en-US" sz="1561" dirty="0"/>
          </a:p>
        </p:txBody>
      </p:sp>
      <p:sp>
        <p:nvSpPr>
          <p:cNvPr id="38" name="Text 36"/>
          <p:cNvSpPr txBox="1"/>
          <p:nvPr/>
        </p:nvSpPr>
        <p:spPr>
          <a:xfrm>
            <a:off x="627886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alignment</a:t>
            </a:r>
            <a:endParaRPr lang="en-US" sz="1561" dirty="0"/>
          </a:p>
        </p:txBody>
      </p:sp>
      <p:sp>
        <p:nvSpPr>
          <p:cNvPr id="39" name="Text 37"/>
          <p:cNvSpPr txBox="1"/>
          <p:nvPr/>
        </p:nvSpPr>
        <p:spPr>
          <a:xfrm>
            <a:off x="627886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Own and</a:t>
            </a:r>
            <a:endParaRPr lang="en-US" sz="1441" dirty="0"/>
          </a:p>
        </p:txBody>
      </p:sp>
      <p:sp>
        <p:nvSpPr>
          <p:cNvPr id="40" name="Text 38"/>
          <p:cNvSpPr txBox="1"/>
          <p:nvPr/>
        </p:nvSpPr>
        <p:spPr>
          <a:xfrm>
            <a:off x="627886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other-prompt</a:t>
            </a:r>
            <a:endParaRPr lang="en-US" sz="1441" dirty="0"/>
          </a:p>
        </p:txBody>
      </p:sp>
      <p:sp>
        <p:nvSpPr>
          <p:cNvPr id="41" name="Text 39"/>
          <p:cNvSpPr txBox="1"/>
          <p:nvPr/>
        </p:nvSpPr>
        <p:spPr>
          <a:xfrm>
            <a:off x="627886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scores</a:t>
            </a:r>
            <a:endParaRPr lang="en-US" sz="1441" dirty="0"/>
          </a:p>
        </p:txBody>
      </p:sp>
      <p:sp>
        <p:nvSpPr>
          <p:cNvPr id="42" name="Text 40"/>
          <p:cNvSpPr txBox="1"/>
          <p:nvPr/>
        </p:nvSpPr>
        <p:spPr>
          <a:xfrm>
            <a:off x="624073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clip_score</a:t>
            </a:r>
            <a:endParaRPr lang="en-US" sz="1441" dirty="0"/>
          </a:p>
        </p:txBody>
      </p:sp>
      <p:sp>
        <p:nvSpPr>
          <p:cNvPr id="43" name="Shape 41"/>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44" name="Text 42"/>
          <p:cNvSpPr txBox="1"/>
          <p:nvPr/>
        </p:nvSpPr>
        <p:spPr>
          <a:xfrm>
            <a:off x="808871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Speech round</a:t>
            </a:r>
            <a:endParaRPr lang="en-US" sz="1561" dirty="0"/>
          </a:p>
        </p:txBody>
      </p:sp>
      <p:sp>
        <p:nvSpPr>
          <p:cNvPr id="45" name="Text 43"/>
          <p:cNvSpPr txBox="1"/>
          <p:nvPr/>
        </p:nvSpPr>
        <p:spPr>
          <a:xfrm>
            <a:off x="808871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trip</a:t>
            </a:r>
            <a:endParaRPr lang="en-US" sz="1561" dirty="0"/>
          </a:p>
        </p:txBody>
      </p:sp>
      <p:sp>
        <p:nvSpPr>
          <p:cNvPr id="46" name="Text 44"/>
          <p:cNvSpPr txBox="1"/>
          <p:nvPr/>
        </p:nvSpPr>
        <p:spPr>
          <a:xfrm>
            <a:off x="808871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Synthesise,</a:t>
            </a:r>
            <a:endParaRPr lang="en-US" sz="1441" dirty="0"/>
          </a:p>
        </p:txBody>
      </p:sp>
      <p:sp>
        <p:nvSpPr>
          <p:cNvPr id="47" name="Text 45"/>
          <p:cNvSpPr txBox="1"/>
          <p:nvPr/>
        </p:nvSpPr>
        <p:spPr>
          <a:xfrm>
            <a:off x="808871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transcribe,</a:t>
            </a:r>
            <a:endParaRPr lang="en-US" sz="1441" dirty="0"/>
          </a:p>
        </p:txBody>
      </p:sp>
      <p:sp>
        <p:nvSpPr>
          <p:cNvPr id="48" name="Text 46"/>
          <p:cNvSpPr txBox="1"/>
          <p:nvPr/>
        </p:nvSpPr>
        <p:spPr>
          <a:xfrm>
            <a:off x="808871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a:t>
            </a:r>
            <a:endParaRPr lang="en-US" sz="1441" dirty="0"/>
          </a:p>
        </p:txBody>
      </p:sp>
      <p:sp>
        <p:nvSpPr>
          <p:cNvPr id="49" name="Text 47"/>
          <p:cNvSpPr txBox="1"/>
          <p:nvPr/>
        </p:nvSpPr>
        <p:spPr>
          <a:xfrm>
            <a:off x="805058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wer</a:t>
            </a:r>
            <a:endParaRPr lang="en-US" sz="1441" dirty="0"/>
          </a:p>
        </p:txBody>
      </p:sp>
      <p:sp>
        <p:nvSpPr>
          <p:cNvPr id="50" name="Shape 48"/>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1" name="Text 49"/>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Resave image</a:t>
            </a:r>
            <a:endParaRPr lang="en-US" sz="1561" dirty="0"/>
          </a:p>
        </p:txBody>
      </p:sp>
      <p:sp>
        <p:nvSpPr>
          <p:cNvPr id="52" name="Text 50"/>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a:t>
            </a:r>
            <a:endParaRPr lang="en-US" sz="1441" dirty="0"/>
          </a:p>
        </p:txBody>
      </p:sp>
      <p:sp>
        <p:nvSpPr>
          <p:cNvPr id="53" name="Text 51"/>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metadata loss</a:t>
            </a:r>
            <a:endParaRPr lang="en-US" sz="1441" dirty="0"/>
          </a:p>
        </p:txBody>
      </p:sp>
      <p:sp>
        <p:nvSpPr>
          <p:cNvPr id="54" name="Text 52"/>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meta</a:t>
            </a:r>
            <a:endParaRPr lang="en-US" sz="1441" dirty="0"/>
          </a:p>
        </p:txBody>
      </p:sp>
      <p:sp>
        <p:nvSpPr>
          <p:cNvPr id="55" name="Shape 53"/>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6" name="Text 54"/>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7" name="Shape 55"/>
          <p:cNvSpPr/>
          <p:nvPr/>
        </p:nvSpPr>
        <p:spPr>
          <a:xfrm>
            <a:off x="2118929" y="5630979"/>
            <a:ext cx="198270" cy="198270"/>
          </a:xfrm>
          <a:prstGeom prst="rect">
            <a:avLst/>
          </a:prstGeom>
          <a:solidFill>
            <a:srgbClr val="E5F7EF"/>
          </a:solidFill>
          <a:ln w="15240">
            <a:solidFill>
              <a:srgbClr val="009E73"/>
            </a:solidFill>
            <a:prstDash val="solid"/>
          </a:ln>
        </p:spPr>
      </p:sp>
      <p:sp>
        <p:nvSpPr>
          <p:cNvPr id="58" name="Text 56"/>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59" name="Shape 57"/>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0" name="Text 58"/>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1" name="Shape 59"/>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62" name="Text 60"/>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3" name="Shape 61"/>
          <p:cNvSpPr/>
          <p:nvPr/>
        </p:nvSpPr>
        <p:spPr>
          <a:xfrm>
            <a:off x="5804824" y="5730113"/>
            <a:ext cx="335533" cy="0"/>
          </a:xfrm>
          <a:prstGeom prst="line">
            <a:avLst/>
          </a:prstGeom>
          <a:noFill/>
          <a:ln w="22860">
            <a:solidFill>
              <a:srgbClr val="009E73"/>
            </a:solidFill>
            <a:prstDash val="solid"/>
            <a:tailEnd type="triangle"/>
          </a:ln>
        </p:spPr>
      </p:sp>
      <p:sp>
        <p:nvSpPr>
          <p:cNvPr id="64" name="Text 62"/>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5" name="Text 63"/>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If WER is zero in the speech round trip, what has been demonstrated?</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10: multimodal generative tasks, measured</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Caption and answer image questions.</a:t>
            </a:r>
            <a:endParaRPr lang="en-US" sz="2000" dirty="0"/>
          </a:p>
        </p:txBody>
      </p:sp>
      <p:sp>
        <p:nvSpPr>
          <p:cNvPr id="9" name="Shape 7"/>
          <p:cNvSpPr/>
          <p:nvPr/>
        </p:nvSpPr>
        <p:spPr>
          <a:xfrm>
            <a:off x="548640" y="2395728"/>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957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5000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Verify chart/invoice facts; probe absent objects.</a:t>
            </a:r>
            <a:endParaRPr lang="en-US" sz="2000" dirty="0"/>
          </a:p>
        </p:txBody>
      </p:sp>
      <p:sp>
        <p:nvSpPr>
          <p:cNvPr id="12" name="Shape 10"/>
          <p:cNvSpPr/>
          <p:nvPr/>
        </p:nvSpPr>
        <p:spPr>
          <a:xfrm>
            <a:off x="548640" y="3264408"/>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264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21868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Generate/edit images; compare prompt alignment.</a:t>
            </a:r>
            <a:endParaRPr lang="en-US" sz="2000" dirty="0"/>
          </a:p>
        </p:txBody>
      </p:sp>
      <p:sp>
        <p:nvSpPr>
          <p:cNvPr id="15" name="Shape 13"/>
          <p:cNvSpPr/>
          <p:nvPr/>
        </p:nvSpPr>
        <p:spPr>
          <a:xfrm>
            <a:off x="548640" y="4133088"/>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41330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8736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Synthesize/transcribe speech; calculate WER.</a:t>
            </a:r>
            <a:endParaRPr lang="en-US" sz="2000" dirty="0"/>
          </a:p>
        </p:txBody>
      </p:sp>
      <p:sp>
        <p:nvSpPr>
          <p:cNvPr id="18" name="Shape 16"/>
          <p:cNvSpPr/>
          <p:nvPr/>
        </p:nvSpPr>
        <p:spPr>
          <a:xfrm>
            <a:off x="548640" y="5001768"/>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50017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956048"/>
            <a:ext cx="6583680" cy="868680"/>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Resave metadata; distinguish it from signed provenance.</a:t>
            </a:r>
            <a:endParaRPr lang="en-US" sz="2000" dirty="0"/>
          </a:p>
        </p:txBody>
      </p:sp>
      <p:sp>
        <p:nvSpPr>
          <p:cNvPr id="21" name="Shape 19"/>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2" name="Shape 20"/>
          <p:cNvSpPr/>
          <p:nvPr/>
        </p:nvSpPr>
        <p:spPr>
          <a:xfrm>
            <a:off x="8229600" y="1709928"/>
            <a:ext cx="502920" cy="502920"/>
          </a:xfrm>
          <a:prstGeom prst="ellipse">
            <a:avLst/>
          </a:prstGeom>
          <a:solidFill>
            <a:srgbClr val="0F766E"/>
          </a:solidFill>
          <a:ln w="12700">
            <a:solidFill>
              <a:srgbClr val="0F766E"/>
            </a:solidFill>
            <a:prstDash val="solid"/>
          </a:ln>
        </p:spPr>
      </p:sp>
      <p:pic>
        <p:nvPicPr>
          <p:cNvPr id="23"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4" name="Text 21"/>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5" name="Text 22"/>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Colab T4 GPU or CPU. About 7 min on a laptop CPU with the 2B model, after downloads</a:t>
            </a:r>
            <a:endParaRPr lang="en-US" sz="1400" dirty="0"/>
          </a:p>
        </p:txBody>
      </p:sp>
      <p:sp>
        <p:nvSpPr>
          <p:cNvPr id="26" name="Shape 23"/>
          <p:cNvSpPr/>
          <p:nvPr/>
        </p:nvSpPr>
        <p:spPr>
          <a:xfrm>
            <a:off x="8229600" y="3227832"/>
            <a:ext cx="502920" cy="502920"/>
          </a:xfrm>
          <a:prstGeom prst="ellipse">
            <a:avLst/>
          </a:prstGeom>
          <a:solidFill>
            <a:srgbClr val="0F766E"/>
          </a:solidFill>
          <a:ln w="12700">
            <a:solidFill>
              <a:srgbClr val="0F766E"/>
            </a:solidFill>
            <a:prstDash val="solid"/>
          </a:ln>
        </p:spPr>
      </p:sp>
      <p:pic>
        <p:nvPicPr>
          <p:cNvPr id="27"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28" name="Text 24"/>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29" name="Text 25"/>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0" name="Shape 26"/>
          <p:cNvSpPr/>
          <p:nvPr/>
        </p:nvSpPr>
        <p:spPr>
          <a:xfrm>
            <a:off x="8229600" y="4745736"/>
            <a:ext cx="502920" cy="502920"/>
          </a:xfrm>
          <a:prstGeom prst="ellipse">
            <a:avLst/>
          </a:prstGeom>
          <a:solidFill>
            <a:srgbClr val="0F766E"/>
          </a:solidFill>
          <a:ln w="12700">
            <a:solidFill>
              <a:srgbClr val="0F766E"/>
            </a:solidFill>
            <a:prstDash val="solid"/>
          </a:ln>
        </p:spPr>
      </p:sp>
      <p:pic>
        <p:nvPicPr>
          <p:cNvPr id="31"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2" name="Text 27"/>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3" name="Text 28"/>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QA accuracy table, hallucination probe, generated images with CLIP scores, speech WER table and three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Hugging Face blog: Vision language models explained</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Architectures, training, evaluation</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Google Gemini API: Image understanding</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Official guide to multimodal prompting</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Hugging Face Diffusers documentation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Text-to-image, img2img, inpainting</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Hugging Face Audio Course</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TTS and speech models</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C2PA: Content credentials</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Provenance standard</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Google DeepMind: SynthID</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Watermarking for AI content</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EU AI Act, Article 50</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Transparency obligations</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Liu et al. (2023) Visual Instruction Tuning (LLaVA)</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The modular MLLM recipe</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10  ·  MULTIMODAL GENERATIVE AI APPLICATIONS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Week 10: media with checks</a:t>
            </a:r>
            <a:endParaRPr lang="en-US" sz="3200" dirty="0"/>
          </a:p>
        </p:txBody>
      </p:sp>
      <p:sp>
        <p:nvSpPr>
          <p:cNvPr id="6" name="Shape 4"/>
          <p:cNvSpPr/>
          <p:nvPr/>
        </p:nvSpPr>
        <p:spPr>
          <a:xfrm>
            <a:off x="946879" y="1630142"/>
            <a:ext cx="3323515" cy="1376531"/>
          </a:xfrm>
          <a:prstGeom prst="rect">
            <a:avLst/>
          </a:prstGeom>
          <a:solidFill>
            <a:srgbClr val="E5F7EF"/>
          </a:solidFill>
          <a:ln w="15240">
            <a:solidFill>
              <a:srgbClr val="009E73"/>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Read images</a:t>
            </a:r>
            <a:endParaRPr lang="en-US" sz="1758" dirty="0"/>
          </a:p>
        </p:txBody>
      </p:sp>
      <p:sp>
        <p:nvSpPr>
          <p:cNvPr id="8" name="Text 6"/>
          <p:cNvSpPr txBox="1"/>
          <p:nvPr/>
        </p:nvSpPr>
        <p:spPr>
          <a:xfrm>
            <a:off x="1080812"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Image + question → visual</a:t>
            </a:r>
            <a:endParaRPr lang="en-US" sz="1523" dirty="0"/>
          </a:p>
        </p:txBody>
      </p:sp>
      <p:sp>
        <p:nvSpPr>
          <p:cNvPr id="9" name="Text 7"/>
          <p:cNvSpPr txBox="1"/>
          <p:nvPr/>
        </p:nvSpPr>
        <p:spPr>
          <a:xfrm>
            <a:off x="1080812"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features → language-model</a:t>
            </a:r>
            <a:endParaRPr lang="en-US" sz="1523" dirty="0"/>
          </a:p>
        </p:txBody>
      </p:sp>
      <p:sp>
        <p:nvSpPr>
          <p:cNvPr id="10" name="Text 8"/>
          <p:cNvSpPr txBox="1"/>
          <p:nvPr/>
        </p:nvSpPr>
        <p:spPr>
          <a:xfrm>
            <a:off x="1080812"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answer.</a:t>
            </a:r>
            <a:endParaRPr lang="en-US" sz="1523" dirty="0"/>
          </a:p>
        </p:txBody>
      </p:sp>
      <p:sp>
        <p:nvSpPr>
          <p:cNvPr id="11" name="Shape 9"/>
          <p:cNvSpPr/>
          <p:nvPr/>
        </p:nvSpPr>
        <p:spPr>
          <a:xfrm>
            <a:off x="4434090" y="1630142"/>
            <a:ext cx="3323515" cy="1376531"/>
          </a:xfrm>
          <a:prstGeom prst="roundRect">
            <a:avLst>
              <a:gd name="adj" fmla="val 5314"/>
            </a:avLst>
          </a:prstGeom>
          <a:solidFill>
            <a:srgbClr val="E4F2FB"/>
          </a:solidFill>
          <a:ln w="15240">
            <a:solidFill>
              <a:srgbClr val="0072B2"/>
            </a:solidFill>
            <a:prstDash val="solid"/>
          </a:ln>
        </p:spPr>
      </p:sp>
      <p:sp>
        <p:nvSpPr>
          <p:cNvPr id="12" name="Text 10"/>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Understand training</a:t>
            </a:r>
            <a:endParaRPr lang="en-US" sz="1758" dirty="0"/>
          </a:p>
        </p:txBody>
      </p:sp>
      <p:sp>
        <p:nvSpPr>
          <p:cNvPr id="13" name="Text 11"/>
          <p:cNvSpPr txBox="1"/>
          <p:nvPr/>
        </p:nvSpPr>
        <p:spPr>
          <a:xfrm>
            <a:off x="456802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A bridge and visual instruction</a:t>
            </a:r>
            <a:endParaRPr lang="en-US" sz="1523" dirty="0"/>
          </a:p>
        </p:txBody>
      </p:sp>
      <p:sp>
        <p:nvSpPr>
          <p:cNvPr id="14" name="Text 12"/>
          <p:cNvSpPr txBox="1"/>
          <p:nvPr/>
        </p:nvSpPr>
        <p:spPr>
          <a:xfrm>
            <a:off x="456802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examples connect pretrained</a:t>
            </a:r>
            <a:endParaRPr lang="en-US" sz="1523" dirty="0"/>
          </a:p>
        </p:txBody>
      </p:sp>
      <p:sp>
        <p:nvSpPr>
          <p:cNvPr id="15" name="Text 13"/>
          <p:cNvSpPr txBox="1"/>
          <p:nvPr/>
        </p:nvSpPr>
        <p:spPr>
          <a:xfrm>
            <a:off x="456802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parts.</a:t>
            </a:r>
            <a:endParaRPr lang="en-US" sz="1523" dirty="0"/>
          </a:p>
        </p:txBody>
      </p:sp>
      <p:sp>
        <p:nvSpPr>
          <p:cNvPr id="16" name="Shape 14"/>
          <p:cNvSpPr/>
          <p:nvPr/>
        </p:nvSpPr>
        <p:spPr>
          <a:xfrm>
            <a:off x="7921301" y="1630142"/>
            <a:ext cx="3323515" cy="1376531"/>
          </a:xfrm>
          <a:prstGeom prst="rect">
            <a:avLst/>
          </a:prstGeom>
          <a:solidFill>
            <a:srgbClr val="E5F7EF"/>
          </a:solidFill>
          <a:ln w="15240">
            <a:solidFill>
              <a:srgbClr val="009E73"/>
            </a:solidFill>
            <a:prstDash val="solid"/>
          </a:ln>
        </p:spPr>
      </p:sp>
      <p:sp>
        <p:nvSpPr>
          <p:cNvPr id="17" name="Text 15"/>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Generate and edit</a:t>
            </a:r>
            <a:endParaRPr lang="en-US" sz="1758" dirty="0"/>
          </a:p>
        </p:txBody>
      </p:sp>
      <p:sp>
        <p:nvSpPr>
          <p:cNvPr id="18" name="Text 16"/>
          <p:cNvSpPr txBox="1"/>
          <p:nvPr/>
        </p:nvSpPr>
        <p:spPr>
          <a:xfrm>
            <a:off x="8055233" y="235814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Text conditions pixels; editing</a:t>
            </a:r>
            <a:endParaRPr lang="en-US" sz="1523" dirty="0"/>
          </a:p>
        </p:txBody>
      </p:sp>
      <p:sp>
        <p:nvSpPr>
          <p:cNvPr id="19" name="Text 17"/>
          <p:cNvSpPr txBox="1"/>
          <p:nvPr/>
        </p:nvSpPr>
        <p:spPr>
          <a:xfrm>
            <a:off x="8055233" y="2582552"/>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perturbs an existing image.</a:t>
            </a:r>
            <a:endParaRPr lang="en-US" sz="1523" dirty="0"/>
          </a:p>
        </p:txBody>
      </p:sp>
      <p:sp>
        <p:nvSpPr>
          <p:cNvPr id="20" name="Shape 18"/>
          <p:cNvSpPr/>
          <p:nvPr/>
        </p:nvSpPr>
        <p:spPr>
          <a:xfrm>
            <a:off x="946879" y="3170368"/>
            <a:ext cx="3323515" cy="1376531"/>
          </a:xfrm>
          <a:prstGeom prst="roundRect">
            <a:avLst>
              <a:gd name="adj" fmla="val 5314"/>
            </a:avLst>
          </a:prstGeom>
          <a:solidFill>
            <a:srgbClr val="F9EAF4"/>
          </a:solidFill>
          <a:ln w="15240">
            <a:solidFill>
              <a:srgbClr val="CC79A7"/>
            </a:solidFill>
            <a:prstDash val="solid"/>
          </a:ln>
        </p:spPr>
      </p:sp>
      <p:sp>
        <p:nvSpPr>
          <p:cNvPr id="21" name="Text 19"/>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Generate speech</a:t>
            </a:r>
            <a:endParaRPr lang="en-US" sz="1758" dirty="0"/>
          </a:p>
        </p:txBody>
      </p:sp>
      <p:sp>
        <p:nvSpPr>
          <p:cNvPr id="22" name="Text 20"/>
          <p:cNvSpPr txBox="1"/>
          <p:nvPr/>
        </p:nvSpPr>
        <p:spPr>
          <a:xfrm>
            <a:off x="1080812"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TTS makes a waveform; ASR</a:t>
            </a:r>
            <a:endParaRPr lang="en-US" sz="1523" dirty="0"/>
          </a:p>
        </p:txBody>
      </p:sp>
      <p:sp>
        <p:nvSpPr>
          <p:cNvPr id="23" name="Text 21"/>
          <p:cNvSpPr txBox="1"/>
          <p:nvPr/>
        </p:nvSpPr>
        <p:spPr>
          <a:xfrm>
            <a:off x="1080812"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checks recovered words, not</a:t>
            </a:r>
            <a:endParaRPr lang="en-US" sz="1523" dirty="0"/>
          </a:p>
        </p:txBody>
      </p:sp>
      <p:sp>
        <p:nvSpPr>
          <p:cNvPr id="24" name="Text 22"/>
          <p:cNvSpPr txBox="1"/>
          <p:nvPr/>
        </p:nvSpPr>
        <p:spPr>
          <a:xfrm>
            <a:off x="1080812"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naturalness.</a:t>
            </a:r>
            <a:endParaRPr lang="en-US" sz="1523" dirty="0"/>
          </a:p>
        </p:txBody>
      </p:sp>
      <p:sp>
        <p:nvSpPr>
          <p:cNvPr id="25" name="Shape 23"/>
          <p:cNvSpPr/>
          <p:nvPr/>
        </p:nvSpPr>
        <p:spPr>
          <a:xfrm>
            <a:off x="4434090" y="3170368"/>
            <a:ext cx="3323515" cy="1376531"/>
          </a:xfrm>
          <a:prstGeom prst="roundRect">
            <a:avLst>
              <a:gd name="adj" fmla="val 5314"/>
            </a:avLst>
          </a:prstGeom>
          <a:solidFill>
            <a:srgbClr val="FFF0E6"/>
          </a:solidFill>
          <a:ln w="15240">
            <a:solidFill>
              <a:srgbClr val="D55E00"/>
            </a:solidFill>
            <a:prstDash val="solid"/>
          </a:ln>
        </p:spPr>
      </p:sp>
      <p:sp>
        <p:nvSpPr>
          <p:cNvPr id="26" name="Text 24"/>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Evaluate the task</a:t>
            </a:r>
            <a:endParaRPr lang="en-US" sz="1758" dirty="0"/>
          </a:p>
        </p:txBody>
      </p:sp>
      <p:sp>
        <p:nvSpPr>
          <p:cNvPr id="27" name="Text 25"/>
          <p:cNvSpPr txBox="1"/>
          <p:nvPr/>
        </p:nvSpPr>
        <p:spPr>
          <a:xfrm>
            <a:off x="456802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Use known facts, task metrics,</a:t>
            </a:r>
            <a:endParaRPr lang="en-US" sz="1523" dirty="0"/>
          </a:p>
        </p:txBody>
      </p:sp>
      <p:sp>
        <p:nvSpPr>
          <p:cNvPr id="28" name="Text 26"/>
          <p:cNvSpPr txBox="1"/>
          <p:nvPr/>
        </p:nvSpPr>
        <p:spPr>
          <a:xfrm>
            <a:off x="456802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error analysis and human review.</a:t>
            </a:r>
            <a:endParaRPr lang="en-US" sz="1523" dirty="0"/>
          </a:p>
        </p:txBody>
      </p:sp>
      <p:sp>
        <p:nvSpPr>
          <p:cNvPr id="29" name="Shape 27"/>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30" name="Text 28"/>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Review provenance</a:t>
            </a:r>
            <a:endParaRPr lang="en-US" sz="1758" dirty="0"/>
          </a:p>
        </p:txBody>
      </p:sp>
      <p:sp>
        <p:nvSpPr>
          <p:cNvPr id="31" name="Text 29"/>
          <p:cNvSpPr txBox="1"/>
          <p:nvPr/>
        </p:nvSpPr>
        <p:spPr>
          <a:xfrm>
            <a:off x="8055233" y="389836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Protect consent and rights; origin</a:t>
            </a:r>
            <a:endParaRPr lang="en-US" sz="1523" dirty="0"/>
          </a:p>
        </p:txBody>
      </p:sp>
      <p:sp>
        <p:nvSpPr>
          <p:cNvPr id="32" name="Text 30"/>
          <p:cNvSpPr txBox="1"/>
          <p:nvPr/>
        </p:nvSpPr>
        <p:spPr>
          <a:xfrm>
            <a:off x="8055233" y="4122779"/>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records do not prove scene truth.</a:t>
            </a:r>
            <a:endParaRPr lang="en-US" sz="1523" dirty="0"/>
          </a:p>
        </p:txBody>
      </p:sp>
      <p:sp>
        <p:nvSpPr>
          <p:cNvPr id="33" name="Text 31"/>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4" name="Text 32"/>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Invoice image → extracted fields → checked amounts → code sum → review any mismatch.</a:t>
            </a:r>
            <a:endParaRPr lang="en-US" sz="1582" dirty="0"/>
          </a:p>
        </p:txBody>
      </p:sp>
      <p:sp>
        <p:nvSpPr>
          <p:cNvPr id="35" name="Text 33"/>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11 we package models into monitored applications.</a:t>
            </a:r>
            <a:endParaRPr lang="en-US" sz="1523" dirty="0"/>
          </a:p>
        </p:txBody>
      </p:sp>
      <p:sp>
        <p:nvSpPr>
          <p:cNvPr id="36" name="Text 34"/>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Code sums extracted amounts correctly. Can the final total still be wrong?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10: Multimodal Generative AI Applications</dc:title>
  <dc:subject>Generative AI (MSc in Artificial Intelligence)</dc:subject>
  <dc:creator>Generative AI module team</dc:creator>
  <cp:lastModifiedBy>Generative AI module team</cp:lastModifiedBy>
  <cp:revision>1</cp:revision>
  <dcterms:created xsi:type="dcterms:W3CDTF">2026-10-10T07:35:18Z</dcterms:created>
  <dcterms:modified xsi:type="dcterms:W3CDTF">2026-10-10T07:35:18Z</dcterms:modified>
</cp:coreProperties>
</file>