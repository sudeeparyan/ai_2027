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week 12, the last technical week: retrieval-augmented generation and agentic AI. Everything so far comes together here. Embeddings from weeks 6 and 9 power retrieval; prompting and evaluation from week 7 shape grounded answers; deployment from week 11 turns the system into an application. RAG connects a model to knowledge it was never trained on; agents let a model act by calling tools. Both are among the most common designs for student projects and in industry, and both bring new risks, which we measure in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outcomes matching the revised descriptor's week 12: motivation and LLM limitations; embeddings, vector databases and RAG architectures; advanced RAG and RAG evaluation; agentic AI concepts and components, including workflows versus agents, multi-agent systems and the Model Context Protocol; risks and guardrails; and choosing a design. This week practises MIMLO 5, implementing retrieval-augmented and agentic systems, together with MIMLO 3 and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follows the revised descriptor. Sections one to three build and evaluate a RAG system, with real retrieval and answer-quality results from the lab. Take the break after section three. Section four explains agents with a real agent trajectory from the lab, and section five covers prompt injection, including a real test with a malicious document, and guardrails.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these terms before the main theory. Embedding: A numerical vector representing an item's content for comparison. Ask: Why must a question and passages use the same embedding model? Context: The input text made available to a language model for a response. Ask: Does reading a passage in a prompt automatically change model weights? Tool call: A structured request for the program to run a named function. Ask: Who actually executes a tool: the language model or the program? Let students explain one example aloud, then connect their example to the next flow diagram. Use the numbered blocks to name the inputs and outputs before introducing notation.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Students predict, correctly, that the model does not know this module's handbook, and usually that it will produce a plausible generic answer, such as ten percent per day, rather than saying it does not know. That is hallucination, and it can even be right by coincidence, which is worse because nobody can verify it. The fix they suggest is to give the model the handbook. That is retrieval-augmented generation, and the lab builds exactly this assistant for a fictional handbook.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explains the limitations that motivate retrieval, compares RAG with the alternatives, fine-tuning and long context, and walks through the standard RAG pipeline. Refer back to the warm-up: the chatbot could not know the module's rules because they were never in its training data, and they may have changed since. About fifteen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Retrieval-augmented generation, or RAG, supplies relevant document text to a language model before it answers. There are two phases. Preparation splits each handbook document into overlapping chunks, embeds them as vectors and builds searchable vector and keyword indexes. At question time, retrieval ranks passages; hybrid search combines semantic and word matching, and re-ranking reads the question together with candidate text. rag_answer then inserts selected passages into a prompt with source numbers and answer instructions. The model is asked to answer from those sources, cite a source and say it does not know when evidence is missing. This adds context without changing model weights. A citation alone does not prove support: inspect the cited passage and individual answer claims. The lab's automatic checks are deliberately limited and should be supplemented by reading outputs.
Worked example:
Prepare chunks from the fictional module handbook and keep each source document ID.
Ask how many GPU hours each student receives.
Hybrid retrieval and re-ranking select candidate passages, including the compute policy if search succeeds.
The model receives numbered passages; compare its answer with the known handbook fact.
For the external-examiner question, the handbook provides no answer; inspect whether the model abstains.
Check: If the correct passage was retrieved but the model gives the wrong number, which stage failed?
Answer: Generation or use of evidence failed. Inspect the supplied passage and output before changing retrieval.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limitations. Static knowledge: a model knows only what was in its training data up to its cut-off. Hallucination: when it does not know, it often produces a fluent guess. No private data: internal documents were never seen. No citations: answers from parametric memory cannot be traced to a source. Retrieval-augmented generation addresses all four by retrieving relevant passages at question time and asking the model to answer from them, with citations. It reduces hallucination but does not eliminate it, which is why evaluation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the three ways of giving a model knowledge. RAG adds knowledge that can be updated by re-indexing and supports citations and per-document access control, at low cost per query because only the top passages are sent. Fine-tuning, as week 8 showed, is good for behaviour and format but a poor way to add facts that change. Long-context models can read whole documents, which is excellent for a few long files, but sending hundreds of thousands of tokens with every question is slow and expensive, and quality can drop for information in the middle. Real systems combine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phases. Indexing, done offline: load documents, split them into chunks, embed each chunk, and store the vectors in a vector store together with a keyword index. Answering, done online: embed the question, retrieve candidate chunks with dense and keyword search, re-rank them, put the best few into a prompt as numbered sources, and ask the LLM to answer only from them with citations, or to say it does not know. Each box is a design decision with measurable effects, and the rest of the lecture goes through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B. RAG keeps answers current through re-indexing, provides citations to the exact policy, and can respect access permissions. A is expensive, slow to update and gives no citations. C cannot know internal policies. D may work for a small set, but costs grow with the number of documents and every question pays for all of them; it also makes access control per document harder.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covers the indexing side: text embeddings, how to chunk documents, and where to store and search the vectors. Indexing decisions are made once but affect every answer, and they are the most common cause of poor RAG quality in projects. About fifteen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Embeddings connect back to week 9's contrastive learning. A retrieval embedding model is a bi-encoder: it encodes questions and passages separately into vectors, trained so that a question lands near passages that answer it. Retrieval is then a nearest-neighbour search by cosine similarity. Open models such as BGE, E5 and GTE, and API models from OpenAI, Google and Cohere, are common choices. The Massive Text Embedding Benchmark, MTEB, compares them across tasks and languages. Changing the embedding model means re-embedding every chunk.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Documents are split into chunks because embeddings of long texts become vague and prompts have limited space. Overlap ensures a sentence cut at a boundary appears in two chunks. There is no universal best size: typical values are a few hundred to a thousand tokens with ten to twenty percent overlap, and structure-aware splitting at headings and paragraphs usually beats fixed windows. Keep metadata with each chunk: source document, section, date and access level, which enable citations and filtering. In the lab, students implement a word-boundary chunker with overlap.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FAISS, from Meta, is a library: very fast, but you manage persistence yourself. Chroma is a simple vector database with metadata, used in the lab. pgvector adds vector search to PostgreSQL, often the pragmatic choice when data already lives there. Dedicated vector databases such as Qdrant, Weaviate, Milvus and Pinecone add scale, hybrid search and multi-tenancy. Cloud search services from Microsoft and Google integrate with enterprise security and identity. For student projects, FAISS or Chroma are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Exact nearest-neighbour search compares the question with every stored vector, which is fine for the lab's handful of chunks and even for a few hundred thousand, but too slow at web scale. Approximate indexes such as HNSW, a navigable graph, IVF, which searches only the nearest clusters, and product quantisation, which compresses vectors, give large speed-ups with a small loss in recall. Metadata filters limit results to allowed documents; enforcing access control at retrieval time is essential, because anything retrieved can appear in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is the core of RAG quality: dense, keyword and hybrid retrieval; re-ranking; real results from the lab; grounded generation with citations; advanced techniques; and how to evaluate RAG systems. Stress the diagnostic mindset: retrieval and generation fail for different reasons and need different fixes. About thirty minutes; take the break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Dense and keyword retrieval fail in complementary ways. Dense retrieval matches meaning, so a question about handing work in after the deadline finds the late-submission policy even without shared words. BM25, the classic keyword ranking function, weights matching words by rarity and excels at exact identifiers such as module codes or product numbers, which embeddings often blur. Hybrid search runs both and fuses the results, which is why it is the default in production systems and in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Reciprocal rank fusion combines ranked lists: each retriever contributes one over sixty plus the rank. A chunk ranked first by one retriever and fifth by the other scores well. RRF needs only ranks, which is convenient because BM25 scores and cosine similarities are on different scales. To measure retrieval, recall at k asks whether any relevant chunk made it into the top k, and mean reciprocal rank rewards putting it first. In the lab students implement RRF and compute both metrics.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Retrieval usually has two stages. The first is fast and aims for recall: embeddings or BM25 retrieve many candidates. The second, re-ranking, uses a cross-encoder that reads the question and each candidate passage together through a transformer, so it can judge relevance far more precisely, but it is too slow to run on the whole collection. Keeping only the top few re-ranked passages shortens prompts, reduces cost and gives the LLM fewer distracting passages. The lab uses a small open cross-encoder trained on the MS MARCO dataset.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lab's measured retrieval results on twelve answerable questions about the handbook. The values are in the bullet. The collection is tiny, so all methods reach the right document within the top three; the differences appear at rank one, which matters because the first passage has the most influence. Hybrid fusion and re-ranking typically lift recall at one and MRR. On real collections with thousands of similar documents, the gaps between methods are much larger, which is why students must measure on their own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compares the same open model answering handbook questions without retrieval and with RAG. Without retrieval it can only guess, so accuracy is near zero, while RAG answers most questions correctly. The bullet reports the measured accuracy, whether numbers in answers are supported by the sources, whether the model cited the right document, and whether it abstained on the unanswerable question about the external examiner. One prompt-design lesson came from building this lab. With the answering rules only in the system message, the small model cited the right document for just one question in twelve and said I don't know more often. Moving the same rules to the end of the user message, after the sources and next to the question, fixed both. Small models attend most to nearby text, so put instructions where they will be read, and still check citations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techniques fix specific failures. Query rewriting turns follow-up questions such as "and for the exam?" into standalone queries. HyDE embeds a hypothetical answer, which often resembles relevant passages more than the question does. Contextual retrieval, published by Anthropic, adds a short explanation of each chunk's context before embedding; they reported roughly half as many failed retrievals, and more with re-ranking. GraphRAG, from Microsoft Research, answers global questions such as "what are the main themes?" using a knowledge graph. Parent-child retrieval balances precision and context. Agentic RAG lets an agent search iteratively. Use them when evaluation shows the specific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Evaluate retrieval and generation separately, so that you know which one to fix. Retrieval quality asks whether the evidence reached the prompt. Faithfulness, also called groundedness, asks whether each claim in the answer is supported by the retrieved context; frameworks such as RAGAS and the RAG evaluators in Microsoft Foundry decompose answers into claims and check each one with a model. Answer relevance asks whether the answer addresses the question. Correctness needs reference answers. Include unanswerable questions to test abstention. The lab implements simple versions of these metrics.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B. This is a retrieval failure: the evidence never reached the model, so no generator can answer faithfully. Improve retrieval with hybrid search, a re-ranker, different chunking or query rewriting, then re-measure recall at three. A bigger model may guess better but that is hallucination, not grounding. C and D do not change what the model sees. The general lesson: diagnose whether a failure is in retrieval or generation before fixing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Section four introduces agentic AI: the components of an agent, the loop that drives it, function calling, a real trajectory from the lab, the difference between workflows and agents, multi-agent systems, the Model Context Protocol and the frameworks. Agents build directly on RAG: search becomes one tool among several. About thirty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agent is an LLM that uses tools in a loop to achieve a goal. The LLM reasons and chooses the next step. Tools are functions it can call, from search and calculators to code execution and external APIs. Memory holds the conversation and intermediate results, and sometimes long-term notes. Planning breaks goals into steps and revises them. The loop continues until the task is done or a limit is reached. Oversight is part of the design, not an add-on: permissions, approvals for risky actions, and 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agent lets a language model choose intermediate actions instead of following one fixed sequence. The model receives the task, conversation history and tool descriptions, then emits text containing a proposed call or an answer. The program parses that proposal; the model itself never executes Python functions. execute checks the tool allowlist and applies the side-effect approval gate before calling a permitted function. Results become tool observations in messages, so the next model turn can use new evidence. run_agent processes only one proposed call per turn and stops when there is no parsed call or the step budget is exhausted. The lab simulates approval with an email-domain rule, and send_email only returns a message; nobody reviews or sends actual email here. This illustrates control points that a real application would need to implement and test.
Worked example:
A student asks for a final grade from project and exam marks.
The model may propose search_handbook; code runs it and returns the assessment text.
After reading that result, the model may propose calculator with the retrieved weights.
A turn with no parsed tool call ends as an answer; otherwise the loop continues within its limit.
For an injected external-email request, the simulated approval policy denies that destination.
Check: Why does the loop execute one call before requesting the next model decision?
Answer: The next decision can use the actual tool result instead of inventing arguments before the result is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ReAct pattern, from Yao and colleagues in 2022, interleaves reasoning and acting. The LLM reads the task and decides whether it needs a tool. If so, it emits a structured tool call with JSON arguments; the program, not the model, executes it and returns the result as an observation; the LLM reasons again with the new information. When no tool is needed, it gives the final answer. The step limit prevents endless loops. Stress that the model only proposes actions: your code decides whether to execute them, which is where guardrails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Function calling is supported by all major APIs and by open models' chat templates. You describe each tool with a name, a description and a JSON schema of its arguments; here the schema is generated from the Python type hints and docstring. The model replies either with text or with a structured call. Your code parses the call, checks it against an allowlist, validates the arguments, asks for approval if the tool has side effects, executes it and appends the result as a tool message. This loop, about fifteen lines, is the core of every agent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trajectory of the lab agent, an open 1.5-billion-parameter model, on the task "what is my final mark?". Walk through each step: which tool it called with which arguments, what came back, and the final answer. The correct answer is 68.8, from sixty percent of 72 plus forty percent of 64. Small models sometimes skip a tool or make arithmetic errors, which is why the lab checks the answer and why the calculator tool exists at all: arithmetic belongs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Anthropic's guide "Building effective agents" distinguishes workflows, where LLM calls follow code paths you define, from agents, where the model decides its own steps. It names five workflow patterns: prompt chaining, routing, parallelisation, orchestrator-workers and evaluator-optimiser. Most successful applications are workflows or simple agents. Autonomous agents are worth their cost and unpredictability only for open-ended tasks where the steps cannot be fixed in advance, such as research or coding tasks. Recommend that students start with the simplest pattern that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Multi-agent systems split a task among specialised agents, for example a research agent that searches, a writer and a reviewer, coordinated by an orchestrator or by exchanging messages. The benefits are specialisation, parallelism and different permissions per agent. The costs are real: multi-agent systems use many more tokens, are harder to debug, and errors can cascade. Protocols such as the Agent2Agent protocol, started by Google and now under the Linux Foundation, standardise communication between agents. For projects, one agent with good tools is usually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Context Protocol, introduced by Anthropic in November 2024 and donated in December 2025 to the Agentic AI Foundation under the Linux Foundation, standardises how AI applications connect to tools and data. Servers expose tools, resources and prompt templates; clients in assistants, IDEs and agent frameworks discover and call them. This solves the problem of writing a separate integration for every pair of application and tool. Security still matters: an MCP server is code with access to your data, so install only trusted servers and apply least privilege. The lab writes an incomplete MCP tool scaffold: retrieve_passages is a placeholder that needs a working retrieval implementation and loaded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snapshot of frameworks. LangGraph models agents as graphs with state, checkpoints and human-in-the-loop steps. LlamaIndex specialises in data connectors and retrieval. The major providers have their own agent kits: OpenAI's Agents SDK, Google's Agent Development Kit and Microsoft's Agent Framework, which succeeds Semantic Kernel and AutoGen for agent building. Hugging Face's smolagents is minimal and works well with open models. All implement the same loop students write by hand in the lab; learning the loop first makes any framework easy to pick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B. The task is single-step factual question answering over known documents, which a fixed RAG workflow handles predictably, cheaply and verifiably. A adds cost and failure modes without benefit. C adds risk, especially e-mail, and unreliable web sources. D cannot keep deadlines up to date and gives no citations. Agents are for tasks whose steps cannot be fixed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section covers prompt injection, especially indirect injection through retrieved content, with a real test from the lab, layered guardrails for agents, and human oversight. It is short but essential: the design principles apply to every project that uses retrieval or tools. About thirteen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injection is the top risk in the OWASP list for LLM applications. Direct injection comes from the user. Indirect injection, described by Greshake and colleagues in 2023, hides instructions in content the system reads: a web page, an e-mail, a shared document or a retrieved chunk. LLMs cannot reliably separate data from instructions in their context. For a chatbot, the result is a wrong answer; for an agent with tools, it can be data theft or harmful actions. The lab plants such an instruction in a forum post; the bullet reports what the agent did and what stopped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no prompt can guarantee that the model ignores injected instructions, safety must come from the system design. Give agents the least privilege they need, read-only by default. Allowlist tools and validate arguments, for example permitted e-mail domains. Require human approval for actions with side effects. Limit steps, time and cost, and sandbox code execution. Log every tool call for audit and monitoring. The callout is the principle: assume the model will sometimes be fooled, and make sure being fooled cannot cause serious harm.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Human oversight means users can check sources and reach a person, and operators review logs and outcomes. Indexes must respect permissions and data protection: personal data in documents becomes retrievable by anyone who can query the system. Evaluation continues after launch, including red-team tests of injection. Legally, users must be told they are interacting with AI, and systems used for high-risk purposes in education or employment, such as admissions or grading decisions, face strict requirements under the EU AI Act. A course assistant that answers questions is not high-risk; one that grades students would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lab measures each layer independently. no_rag_df records answers without handbook context. chunk and the indexes prepare the documents so retrieval can find evidence; document metadata stays attached to each passage. evaluate_retrieval checks whether a chunk from the target document appears in the returned ranking and how early its first occurrence is. This is document-level evidence evaluation rather than exhaustive relevance labels for every chunk. rag_answer supplies selected passages to the model, while the small correctness and number checks provide only rough output signals. Read answers and sources to diagnose unsupported claims. The agent exercise adds a bounded tool loop with an allowlist and simulated approval policy. Finally, server_code demonstrates an MCP tool declaration, but its retrieve_passages placeholder must be implemented before the exported file can serve real handbook searches.
Worked example:
Read a handbook fact and compare the no-retrieval answer with it.
Inspect a chunk's text, ID and parent document before searching.
Compare the first relevant document's rank across BM25, dense and hybrid methods.
Read retrieved hits beside each RAG answer; check whether the citation supports the claim.
Inspect the agent trace and AUDIT; the MCP file still needs its retrieval implementation connected.
Check: Can an answer pass numbers_supported while making an unsupported non-numeric claim?
Answer: Yes. That helper only looks for digit strings in the retrieved text; it does not validate the meaning of every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covers both descriptor tutorials: building and evaluating a RAG pipeline with and without retrieval, and implementing an agent that calls tools, including a calculator and search over the RAG index. The handbook is fictional, so the model cannot have memorised it. The injection test shows why guardrails belong in code. The final question asks students to design a production version, which prepares them for their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eight points. Students should be able to draw the RAG pipeline, justify each design choice with a metric, explain the agent loop and function calling, distinguish workflows from agents, and design guardrails that do not rely on the model obeying its instructions. This completes the technical content of the module; the remaining sessions focus on the projects, which will combine RAG or agents with the deployment practices from week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RAG and ReAct papers are the foundations. Anthropic's two engineering posts are practical guides to agent design and retrieval quality. OpenAI's function-calling guide explains tool schemas; Google's Gemini function-calling guide is equivalent. The Hugging Face Agents course and Microsoft's AI Agents for Beginners are free, hands-on courses. The Model Context Protocol site has the specification and SDKs. Ozdemir's Quick Start Guide to Large Language Models, chapters on semantic search and retrieval, is the textbook reading. All links were checked in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slideLayout" Target="../slideLayouts/slideLayout1.xm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image" Target="../media/image-43-6.png"/><Relationship Id="rId7" Type="http://schemas.openxmlformats.org/officeDocument/2006/relationships/image" Target="../media/image-43-7.png"/><Relationship Id="rId8" Type="http://schemas.openxmlformats.org/officeDocument/2006/relationships/image" Target="../media/image-43-8.png"/><Relationship Id="rId9" Type="http://schemas.openxmlformats.org/officeDocument/2006/relationships/slideLayout" Target="../slideLayouts/slideLayout1.xml"/><Relationship Id="rId10"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hyperlink" Target="https://arxiv.org/abs/2005.11401" TargetMode="External"/><Relationship Id="rId4" Type="http://schemas.openxmlformats.org/officeDocument/2006/relationships/hyperlink" Target="https://arxiv.org/abs/2210.03629" TargetMode="External"/><Relationship Id="rId6" Type="http://schemas.openxmlformats.org/officeDocument/2006/relationships/hyperlink" Target="https://www.anthropic.com/engineering/building-effective-agents" TargetMode="External"/><Relationship Id="rId8" Type="http://schemas.openxmlformats.org/officeDocument/2006/relationships/hyperlink" Target="https://www.anthropic.com/engineering/contextual-retrieval" TargetMode="External"/><Relationship Id="rId10" Type="http://schemas.openxmlformats.org/officeDocument/2006/relationships/hyperlink" Target="https://developers.openai.com/api/docs/guides/function-calling" TargetMode="External"/><Relationship Id="rId12" Type="http://schemas.openxmlformats.org/officeDocument/2006/relationships/hyperlink" Target="https://huggingface.co/learn/agents-course/unit0/introduction" TargetMode="External"/><Relationship Id="rId14" Type="http://schemas.openxmlformats.org/officeDocument/2006/relationships/hyperlink" Target="https://github.com/microsoft/ai-agents-for-beginners" TargetMode="External"/><Relationship Id="rId16" Type="http://schemas.openxmlformats.org/officeDocument/2006/relationships/hyperlink" Target="https://modelcontextprotocol.io/" TargetMode="External"/><Relationship Id="rId1" Type="http://schemas.openxmlformats.org/officeDocument/2006/relationships/image" Target="../media/image-44-1.png"/><Relationship Id="rId3" Type="http://schemas.openxmlformats.org/officeDocument/2006/relationships/image" Target="../media/image-44-2.png"/><Relationship Id="rId5" Type="http://schemas.openxmlformats.org/officeDocument/2006/relationships/image" Target="../media/image-44-3.png"/><Relationship Id="rId7" Type="http://schemas.openxmlformats.org/officeDocument/2006/relationships/image" Target="../media/image-44-4.png"/><Relationship Id="rId9" Type="http://schemas.openxmlformats.org/officeDocument/2006/relationships/image" Target="../media/image-44-5.png"/><Relationship Id="rId11" Type="http://schemas.openxmlformats.org/officeDocument/2006/relationships/image" Target="../media/image-44-6.png"/><Relationship Id="rId13" Type="http://schemas.openxmlformats.org/officeDocument/2006/relationships/image" Target="../media/image-44-7.png"/><Relationship Id="rId15" Type="http://schemas.openxmlformats.org/officeDocument/2006/relationships/image" Target="../media/image-44-8.png"/><Relationship Id="rId17" Type="http://schemas.openxmlformats.org/officeDocument/2006/relationships/slideLayout" Target="../slideLayouts/slideLayout1.xml"/><Relationship Id="rId18"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B4B"/>
        </a:solidFill>
      </p:bgPr>
    </p:bg>
    <p:spTree>
      <p:nvGrpSpPr>
        <p:cNvPr id="1" name=""/>
        <p:cNvGrpSpPr/>
        <p:nvPr/>
      </p:nvGrpSpPr>
      <p:grpSpPr>
        <a:xfrm>
          <a:off x="0" y="0"/>
          <a:ext cx="0" cy="0"/>
          <a:chOff x="0" y="0"/>
          <a:chExt cx="0" cy="0"/>
        </a:xfrm>
      </p:grpSpPr>
      <p:sp>
        <p:nvSpPr>
          <p:cNvPr id="2" name="Shape 0"/>
          <p:cNvSpPr/>
          <p:nvPr/>
        </p:nvSpPr>
        <p:spPr>
          <a:xfrm>
            <a:off x="731520" y="1051560"/>
            <a:ext cx="1737360" cy="457200"/>
          </a:xfrm>
          <a:prstGeom prst="roundRect">
            <a:avLst>
              <a:gd name="adj" fmla="val 20000"/>
            </a:avLst>
          </a:prstGeom>
          <a:solidFill>
            <a:srgbClr val="EA580C"/>
          </a:solidFill>
          <a:ln w="12700">
            <a:solidFill>
              <a:srgbClr val="EA580C"/>
            </a:solidFill>
            <a:prstDash val="solid"/>
          </a:ln>
        </p:spPr>
      </p:sp>
      <p:sp>
        <p:nvSpPr>
          <p:cNvPr id="3" name="Text 1"/>
          <p:cNvSpPr txBox="1"/>
          <p:nvPr/>
        </p:nvSpPr>
        <p:spPr>
          <a:xfrm>
            <a:off x="731520" y="1051560"/>
            <a:ext cx="1737360" cy="457200"/>
          </a:xfrm>
          <a:prstGeom prst="rect">
            <a:avLst/>
          </a:prstGeom>
          <a:noFill/>
          <a:ln/>
        </p:spPr>
        <p:txBody>
          <a:bodyPr wrap="square" lIns="0" tIns="0" rIns="0" bIns="0" rtlCol="0" anchor="ctr"/>
          <a:lstStyle/>
          <a:p>
            <a:pPr algn="ctr" indent="0" marL="0">
              <a:buNone/>
            </a:pPr>
            <a:r>
              <a:rPr lang="en-US" sz="1600" b="1" spc="200" kern="0" dirty="0">
                <a:solidFill>
                  <a:srgbClr val="FFFFFF"/>
                </a:solidFill>
                <a:latin typeface="Calibri" pitchFamily="34" charset="0"/>
                <a:ea typeface="Calibri" pitchFamily="34" charset="-122"/>
                <a:cs typeface="Calibri" pitchFamily="34" charset="-120"/>
              </a:rPr>
              <a:t>WEEK 12</a:t>
            </a:r>
            <a:endParaRPr lang="en-US" sz="1600" dirty="0"/>
          </a:p>
        </p:txBody>
      </p:sp>
      <p:sp>
        <p:nvSpPr>
          <p:cNvPr id="4" name="Text 2"/>
          <p:cNvSpPr txBox="1"/>
          <p:nvPr/>
        </p:nvSpPr>
        <p:spPr>
          <a:xfrm>
            <a:off x="731520" y="1737360"/>
            <a:ext cx="6766560" cy="2103120"/>
          </a:xfrm>
          <a:prstGeom prst="rect">
            <a:avLst/>
          </a:prstGeom>
          <a:noFill/>
          <a:ln/>
        </p:spPr>
        <p:txBody>
          <a:bodyPr wrap="square" lIns="0" tIns="0" rIns="0" bIns="0" rtlCol="0" anchor="b"/>
          <a:lstStyle/>
          <a:p>
            <a:pPr indent="0" marL="0">
              <a:lnSpc>
                <a:spcPct val="95000"/>
              </a:lnSpc>
              <a:buNone/>
            </a:pPr>
            <a:r>
              <a:rPr lang="en-US" sz="4600" b="1" dirty="0">
                <a:solidFill>
                  <a:srgbClr val="FFFFFF"/>
                </a:solidFill>
                <a:latin typeface="Calibri" pitchFamily="34" charset="0"/>
                <a:ea typeface="Calibri" pitchFamily="34" charset="-122"/>
                <a:cs typeface="Calibri" pitchFamily="34" charset="-120"/>
              </a:rPr>
              <a:t>Retrieval-Augmented Generation (RAG) &amp; Agentic AI</a:t>
            </a:r>
            <a:endParaRPr lang="en-US" sz="4600" dirty="0"/>
          </a:p>
        </p:txBody>
      </p:sp>
      <p:sp>
        <p:nvSpPr>
          <p:cNvPr id="5" name="Text 3"/>
          <p:cNvSpPr txBox="1"/>
          <p:nvPr/>
        </p:nvSpPr>
        <p:spPr>
          <a:xfrm>
            <a:off x="731520" y="3977640"/>
            <a:ext cx="6766560" cy="1097280"/>
          </a:xfrm>
          <a:prstGeom prst="rect">
            <a:avLst/>
          </a:prstGeom>
          <a:noFill/>
          <a:ln/>
        </p:spPr>
        <p:txBody>
          <a:bodyPr wrap="square" lIns="0" tIns="0" rIns="0" bIns="0" rtlCol="0" anchor="t"/>
          <a:lstStyle/>
          <a:p>
            <a:pPr indent="0" marL="0">
              <a:buNone/>
            </a:pPr>
            <a:r>
              <a:rPr lang="en-US" sz="2000" dirty="0">
                <a:solidFill>
                  <a:srgbClr val="C7D2FE"/>
                </a:solidFill>
                <a:latin typeface="Calibri" pitchFamily="34" charset="0"/>
                <a:ea typeface="Calibri" pitchFamily="34" charset="-122"/>
                <a:cs typeface="Calibri" pitchFamily="34" charset="-120"/>
              </a:rPr>
              <a:t>Connecting models to knowledge and tools: retrieval-augmented generation, evaluation, agents, the Model Context Protocol and guardrails</a:t>
            </a:r>
            <a:endParaRPr lang="en-US" sz="2000" dirty="0"/>
          </a:p>
        </p:txBody>
      </p:sp>
      <p:sp>
        <p:nvSpPr>
          <p:cNvPr id="6" name="Text 4"/>
          <p:cNvSpPr txBox="1"/>
          <p:nvPr/>
        </p:nvSpPr>
        <p:spPr>
          <a:xfrm>
            <a:off x="731520" y="5897880"/>
            <a:ext cx="8229600" cy="365760"/>
          </a:xfrm>
          <a:prstGeom prst="rect">
            <a:avLst/>
          </a:prstGeom>
          <a:noFill/>
          <a:ln/>
        </p:spPr>
        <p:txBody>
          <a:bodyPr wrap="square" lIns="0" tIns="0" rIns="0" bIns="0" rtlCol="0" anchor="t"/>
          <a:lstStyle/>
          <a:p>
            <a:pPr indent="0" marL="0">
              <a:buNone/>
            </a:pPr>
            <a:r>
              <a:rPr lang="en-US" sz="1300" dirty="0">
                <a:solidFill>
                  <a:srgbClr val="C7D2FE"/>
                </a:solidFill>
                <a:latin typeface="Calibri" pitchFamily="34" charset="0"/>
                <a:ea typeface="Calibri" pitchFamily="34" charset="-122"/>
                <a:cs typeface="Calibri" pitchFamily="34" charset="-120"/>
              </a:rPr>
              <a:t>MSc in Artificial Intelligence  ·  Generative AI  ·  2-hour lecture</a:t>
            </a:r>
            <a:endParaRPr lang="en-US" sz="1300" dirty="0"/>
          </a:p>
        </p:txBody>
      </p:sp>
      <p:pic>
        <p:nvPicPr>
          <p:cNvPr id="7" name="Image 0" descr="C:\Users\sudee\Downloads\Generative_AI_2027_Teaching_Pack\AI2027_Project\build\figures\week_12\cover.png">    </p:cNvPr>
          <p:cNvPicPr>
            <a:picLocks noChangeAspect="1"/>
          </p:cNvPicPr>
          <p:nvPr/>
        </p:nvPicPr>
        <p:blipFill>
          <a:blip r:embed="rId1"/>
          <a:stretch>
            <a:fillRect/>
          </a:stretch>
        </p:blipFill>
        <p:spPr>
          <a:xfrm>
            <a:off x="7818120" y="1520258"/>
            <a:ext cx="3840480" cy="381748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By the end of this week you can…</a:t>
            </a:r>
            <a:endParaRPr lang="en-US" sz="3200" dirty="0"/>
          </a:p>
        </p:txBody>
      </p:sp>
      <p:sp>
        <p:nvSpPr>
          <p:cNvPr id="6" name="Shape 4"/>
          <p:cNvSpPr/>
          <p:nvPr/>
        </p:nvSpPr>
        <p:spPr>
          <a:xfrm>
            <a:off x="548640" y="1545336"/>
            <a:ext cx="411480" cy="411480"/>
          </a:xfrm>
          <a:prstGeom prst="ellipse">
            <a:avLst/>
          </a:prstGeom>
          <a:solidFill>
            <a:srgbClr val="4F46E5"/>
          </a:solidFill>
          <a:ln w="12700">
            <a:solidFill>
              <a:srgbClr val="4F46E5"/>
            </a:solidFill>
            <a:prstDash val="solid"/>
          </a:ln>
        </p:spPr>
      </p:sp>
      <p:sp>
        <p:nvSpPr>
          <p:cNvPr id="7" name="Text 5"/>
          <p:cNvSpPr txBox="1"/>
          <p:nvPr/>
        </p:nvSpPr>
        <p:spPr>
          <a:xfrm>
            <a:off x="548640" y="15453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527048"/>
            <a:ext cx="6903720" cy="720852"/>
          </a:xfrm>
          <a:prstGeom prst="rect">
            <a:avLst/>
          </a:prstGeom>
          <a:noFill/>
          <a:ln/>
        </p:spPr>
        <p:txBody>
          <a:bodyPr wrap="square" lIns="50800" tIns="50800" rIns="50800" bIns="50800" rtlCol="0" anchor="t"/>
          <a:lstStyle/>
          <a:p>
            <a:pPr indent="0" marL="0">
              <a:buNone/>
            </a:pPr>
            <a:r>
              <a:rPr lang="en-US" sz="1500" dirty="0">
                <a:solidFill>
                  <a:srgbClr val="1F2937"/>
                </a:solidFill>
                <a:latin typeface="Calibri" pitchFamily="34" charset="0"/>
                <a:ea typeface="Calibri" pitchFamily="34" charset="-122"/>
                <a:cs typeface="Calibri" pitchFamily="34" charset="-120"/>
              </a:rPr>
              <a:t>Explain the </a:t>
            </a:r>
            <a:pPr indent="0" marL="0">
              <a:buNone/>
            </a:pPr>
            <a:r>
              <a:rPr lang="en-US" sz="1500" b="1" dirty="0">
                <a:solidFill>
                  <a:srgbClr val="1F2937"/>
                </a:solidFill>
                <a:latin typeface="Calibri" pitchFamily="34" charset="0"/>
                <a:ea typeface="Calibri" pitchFamily="34" charset="-122"/>
                <a:cs typeface="Calibri" pitchFamily="34" charset="-120"/>
              </a:rPr>
              <a:t>limitations of LLMs</a:t>
            </a:r>
            <a:pPr indent="0" marL="0">
              <a:buNone/>
            </a:pPr>
            <a:r>
              <a:rPr lang="en-US" sz="1500" dirty="0">
                <a:solidFill>
                  <a:srgbClr val="1F2937"/>
                </a:solidFill>
                <a:latin typeface="Calibri" pitchFamily="34" charset="0"/>
                <a:ea typeface="Calibri" pitchFamily="34" charset="-122"/>
                <a:cs typeface="Calibri" pitchFamily="34" charset="-120"/>
              </a:rPr>
              <a:t> that motivate RAG: static knowledge, hallucination, no access to private data, no citations.</a:t>
            </a:r>
            <a:endParaRPr lang="en-US" sz="1500" dirty="0"/>
          </a:p>
        </p:txBody>
      </p:sp>
      <p:sp>
        <p:nvSpPr>
          <p:cNvPr id="9" name="Shape 7"/>
          <p:cNvSpPr/>
          <p:nvPr/>
        </p:nvSpPr>
        <p:spPr>
          <a:xfrm>
            <a:off x="548640" y="2266188"/>
            <a:ext cx="411480" cy="411480"/>
          </a:xfrm>
          <a:prstGeom prst="ellipse">
            <a:avLst/>
          </a:prstGeom>
          <a:solidFill>
            <a:srgbClr val="4F46E5"/>
          </a:solidFill>
          <a:ln w="12700">
            <a:solidFill>
              <a:srgbClr val="4F46E5"/>
            </a:solidFill>
            <a:prstDash val="solid"/>
          </a:ln>
        </p:spPr>
      </p:sp>
      <p:sp>
        <p:nvSpPr>
          <p:cNvPr id="10" name="Text 8"/>
          <p:cNvSpPr txBox="1"/>
          <p:nvPr/>
        </p:nvSpPr>
        <p:spPr>
          <a:xfrm>
            <a:off x="548640" y="226618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247900"/>
            <a:ext cx="6903720" cy="720852"/>
          </a:xfrm>
          <a:prstGeom prst="rect">
            <a:avLst/>
          </a:prstGeom>
          <a:noFill/>
          <a:ln/>
        </p:spPr>
        <p:txBody>
          <a:bodyPr wrap="square" lIns="50800" tIns="50800" rIns="50800" bIns="50800" rtlCol="0" anchor="t"/>
          <a:lstStyle/>
          <a:p>
            <a:pPr indent="0" marL="0">
              <a:buNone/>
            </a:pPr>
            <a:r>
              <a:rPr lang="en-US" sz="1500" dirty="0">
                <a:solidFill>
                  <a:srgbClr val="1F2937"/>
                </a:solidFill>
                <a:latin typeface="Calibri" pitchFamily="34" charset="0"/>
                <a:ea typeface="Calibri" pitchFamily="34" charset="-122"/>
                <a:cs typeface="Calibri" pitchFamily="34" charset="-120"/>
              </a:rPr>
              <a:t>Build a </a:t>
            </a:r>
            <a:pPr indent="0" marL="0">
              <a:buNone/>
            </a:pPr>
            <a:r>
              <a:rPr lang="en-US" sz="1500" b="1" dirty="0">
                <a:solidFill>
                  <a:srgbClr val="1F2937"/>
                </a:solidFill>
                <a:latin typeface="Calibri" pitchFamily="34" charset="0"/>
                <a:ea typeface="Calibri" pitchFamily="34" charset="-122"/>
                <a:cs typeface="Calibri" pitchFamily="34" charset="-120"/>
              </a:rPr>
              <a:t>RAG pipeline</a:t>
            </a:r>
            <a:pPr indent="0" marL="0">
              <a:buNone/>
            </a:pPr>
            <a:r>
              <a:rPr lang="en-US" sz="1500" dirty="0">
                <a:solidFill>
                  <a:srgbClr val="1F2937"/>
                </a:solidFill>
                <a:latin typeface="Calibri" pitchFamily="34" charset="0"/>
                <a:ea typeface="Calibri" pitchFamily="34" charset="-122"/>
                <a:cs typeface="Calibri" pitchFamily="34" charset="-120"/>
              </a:rPr>
              <a:t>: chunking, </a:t>
            </a:r>
            <a:pPr indent="0" marL="0">
              <a:buNone/>
            </a:pPr>
            <a:r>
              <a:rPr lang="en-US" sz="1500" b="1" dirty="0">
                <a:solidFill>
                  <a:srgbClr val="1F2937"/>
                </a:solidFill>
                <a:latin typeface="Calibri" pitchFamily="34" charset="0"/>
                <a:ea typeface="Calibri" pitchFamily="34" charset="-122"/>
                <a:cs typeface="Calibri" pitchFamily="34" charset="-120"/>
              </a:rPr>
              <a:t>embeddings</a:t>
            </a:r>
            <a:pPr indent="0" marL="0">
              <a:buNone/>
            </a:pPr>
            <a:r>
              <a:rPr lang="en-US" sz="1500" dirty="0">
                <a:solidFill>
                  <a:srgbClr val="1F2937"/>
                </a:solidFill>
                <a:latin typeface="Calibri" pitchFamily="34" charset="0"/>
                <a:ea typeface="Calibri" pitchFamily="34" charset="-122"/>
                <a:cs typeface="Calibri" pitchFamily="34" charset="-120"/>
              </a:rPr>
              <a:t>, </a:t>
            </a:r>
            <a:pPr indent="0" marL="0">
              <a:buNone/>
            </a:pPr>
            <a:r>
              <a:rPr lang="en-US" sz="1500" b="1" dirty="0">
                <a:solidFill>
                  <a:srgbClr val="1F2937"/>
                </a:solidFill>
                <a:latin typeface="Calibri" pitchFamily="34" charset="0"/>
                <a:ea typeface="Calibri" pitchFamily="34" charset="-122"/>
                <a:cs typeface="Calibri" pitchFamily="34" charset="-120"/>
              </a:rPr>
              <a:t>vector databases</a:t>
            </a:r>
            <a:pPr indent="0" marL="0">
              <a:buNone/>
            </a:pPr>
            <a:r>
              <a:rPr lang="en-US" sz="1500" dirty="0">
                <a:solidFill>
                  <a:srgbClr val="1F2937"/>
                </a:solidFill>
                <a:latin typeface="Calibri" pitchFamily="34" charset="0"/>
                <a:ea typeface="Calibri" pitchFamily="34" charset="-122"/>
                <a:cs typeface="Calibri" pitchFamily="34" charset="-120"/>
              </a:rPr>
              <a:t>, dense, keyword and </a:t>
            </a:r>
            <a:pPr indent="0" marL="0">
              <a:buNone/>
            </a:pPr>
            <a:r>
              <a:rPr lang="en-US" sz="1500" b="1" dirty="0">
                <a:solidFill>
                  <a:srgbClr val="1F2937"/>
                </a:solidFill>
                <a:latin typeface="Calibri" pitchFamily="34" charset="0"/>
                <a:ea typeface="Calibri" pitchFamily="34" charset="-122"/>
                <a:cs typeface="Calibri" pitchFamily="34" charset="-120"/>
              </a:rPr>
              <a:t>hybrid retrieval</a:t>
            </a:r>
            <a:pPr indent="0" marL="0">
              <a:buNone/>
            </a:pPr>
            <a:r>
              <a:rPr lang="en-US" sz="1500" dirty="0">
                <a:solidFill>
                  <a:srgbClr val="1F2937"/>
                </a:solidFill>
                <a:latin typeface="Calibri" pitchFamily="34" charset="0"/>
                <a:ea typeface="Calibri" pitchFamily="34" charset="-122"/>
                <a:cs typeface="Calibri" pitchFamily="34" charset="-120"/>
              </a:rPr>
              <a:t>, </a:t>
            </a:r>
            <a:pPr indent="0" marL="0">
              <a:buNone/>
            </a:pPr>
            <a:r>
              <a:rPr lang="en-US" sz="1500" b="1" dirty="0">
                <a:solidFill>
                  <a:srgbClr val="1F2937"/>
                </a:solidFill>
                <a:latin typeface="Calibri" pitchFamily="34" charset="0"/>
                <a:ea typeface="Calibri" pitchFamily="34" charset="-122"/>
                <a:cs typeface="Calibri" pitchFamily="34" charset="-120"/>
              </a:rPr>
              <a:t>re-ranking</a:t>
            </a:r>
            <a:pPr indent="0" marL="0">
              <a:buNone/>
            </a:pPr>
            <a:r>
              <a:rPr lang="en-US" sz="1500" dirty="0">
                <a:solidFill>
                  <a:srgbClr val="1F2937"/>
                </a:solidFill>
                <a:latin typeface="Calibri" pitchFamily="34" charset="0"/>
                <a:ea typeface="Calibri" pitchFamily="34" charset="-122"/>
                <a:cs typeface="Calibri" pitchFamily="34" charset="-120"/>
              </a:rPr>
              <a:t>, grounded generation with </a:t>
            </a:r>
            <a:pPr indent="0" marL="0">
              <a:buNone/>
            </a:pPr>
            <a:r>
              <a:rPr lang="en-US" sz="1500" b="1" dirty="0">
                <a:solidFill>
                  <a:srgbClr val="1F2937"/>
                </a:solidFill>
                <a:latin typeface="Calibri" pitchFamily="34" charset="0"/>
                <a:ea typeface="Calibri" pitchFamily="34" charset="-122"/>
                <a:cs typeface="Calibri" pitchFamily="34" charset="-120"/>
              </a:rPr>
              <a:t>citations</a:t>
            </a:r>
            <a:pPr indent="0" marL="0">
              <a:buNone/>
            </a:pPr>
            <a:r>
              <a:rPr lang="en-US" sz="1500" dirty="0">
                <a:solidFill>
                  <a:srgbClr val="1F2937"/>
                </a:solidFill>
                <a:latin typeface="Calibri" pitchFamily="34" charset="0"/>
                <a:ea typeface="Calibri" pitchFamily="34" charset="-122"/>
                <a:cs typeface="Calibri" pitchFamily="34" charset="-120"/>
              </a:rPr>
              <a:t>.</a:t>
            </a:r>
            <a:endParaRPr lang="en-US" sz="1500" dirty="0"/>
          </a:p>
        </p:txBody>
      </p:sp>
      <p:sp>
        <p:nvSpPr>
          <p:cNvPr id="12" name="Shape 10"/>
          <p:cNvSpPr/>
          <p:nvPr/>
        </p:nvSpPr>
        <p:spPr>
          <a:xfrm>
            <a:off x="548640" y="2987040"/>
            <a:ext cx="411480" cy="411480"/>
          </a:xfrm>
          <a:prstGeom prst="ellipse">
            <a:avLst/>
          </a:prstGeom>
          <a:solidFill>
            <a:srgbClr val="4F46E5"/>
          </a:solidFill>
          <a:ln w="12700">
            <a:solidFill>
              <a:srgbClr val="4F46E5"/>
            </a:solidFill>
            <a:prstDash val="solid"/>
          </a:ln>
        </p:spPr>
      </p:sp>
      <p:sp>
        <p:nvSpPr>
          <p:cNvPr id="13" name="Text 11"/>
          <p:cNvSpPr txBox="1"/>
          <p:nvPr/>
        </p:nvSpPr>
        <p:spPr>
          <a:xfrm>
            <a:off x="548640" y="29870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2968752"/>
            <a:ext cx="6903720" cy="949452"/>
          </a:xfrm>
          <a:prstGeom prst="rect">
            <a:avLst/>
          </a:prstGeom>
          <a:noFill/>
          <a:ln/>
        </p:spPr>
        <p:txBody>
          <a:bodyPr wrap="square" lIns="50800" tIns="50800" rIns="50800" bIns="50800" rtlCol="0" anchor="t"/>
          <a:lstStyle/>
          <a:p>
            <a:pPr indent="0" marL="0">
              <a:buNone/>
            </a:pPr>
            <a:r>
              <a:rPr lang="en-US" sz="1500" dirty="0">
                <a:solidFill>
                  <a:srgbClr val="1F2937"/>
                </a:solidFill>
                <a:latin typeface="Calibri" pitchFamily="34" charset="0"/>
                <a:ea typeface="Calibri" pitchFamily="34" charset="-122"/>
                <a:cs typeface="Calibri" pitchFamily="34" charset="-120"/>
              </a:rPr>
              <a:t>Describe </a:t>
            </a:r>
            <a:pPr indent="0" marL="0">
              <a:buNone/>
            </a:pPr>
            <a:r>
              <a:rPr lang="en-US" sz="1500" b="1" dirty="0">
                <a:solidFill>
                  <a:srgbClr val="1F2937"/>
                </a:solidFill>
                <a:latin typeface="Calibri" pitchFamily="34" charset="0"/>
                <a:ea typeface="Calibri" pitchFamily="34" charset="-122"/>
                <a:cs typeface="Calibri" pitchFamily="34" charset="-120"/>
              </a:rPr>
              <a:t>advanced RAG</a:t>
            </a:r>
            <a:pPr indent="0" marL="0">
              <a:buNone/>
            </a:pPr>
            <a:r>
              <a:rPr lang="en-US" sz="1500" dirty="0">
                <a:solidFill>
                  <a:srgbClr val="1F2937"/>
                </a:solidFill>
                <a:latin typeface="Calibri" pitchFamily="34" charset="0"/>
                <a:ea typeface="Calibri" pitchFamily="34" charset="-122"/>
                <a:cs typeface="Calibri" pitchFamily="34" charset="-120"/>
              </a:rPr>
              <a:t> (query rewriting, HyDE, contextual retrieval, </a:t>
            </a:r>
            <a:pPr indent="0" marL="0">
              <a:buNone/>
            </a:pPr>
            <a:r>
              <a:rPr lang="en-US" sz="1500" b="1" dirty="0">
                <a:solidFill>
                  <a:srgbClr val="1F2937"/>
                </a:solidFill>
                <a:latin typeface="Calibri" pitchFamily="34" charset="0"/>
                <a:ea typeface="Calibri" pitchFamily="34" charset="-122"/>
                <a:cs typeface="Calibri" pitchFamily="34" charset="-120"/>
              </a:rPr>
              <a:t>GraphRAG</a:t>
            </a:r>
            <a:pPr indent="0" marL="0">
              <a:buNone/>
            </a:pPr>
            <a:r>
              <a:rPr lang="en-US" sz="1500" dirty="0">
                <a:solidFill>
                  <a:srgbClr val="1F2937"/>
                </a:solidFill>
                <a:latin typeface="Calibri" pitchFamily="34" charset="0"/>
                <a:ea typeface="Calibri" pitchFamily="34" charset="-122"/>
                <a:cs typeface="Calibri" pitchFamily="34" charset="-120"/>
              </a:rPr>
              <a:t>, agentic RAG) and </a:t>
            </a:r>
            <a:pPr indent="0" marL="0">
              <a:buNone/>
            </a:pPr>
            <a:r>
              <a:rPr lang="en-US" sz="1500" b="1" dirty="0">
                <a:solidFill>
                  <a:srgbClr val="1F2937"/>
                </a:solidFill>
                <a:latin typeface="Calibri" pitchFamily="34" charset="0"/>
                <a:ea typeface="Calibri" pitchFamily="34" charset="-122"/>
                <a:cs typeface="Calibri" pitchFamily="34" charset="-120"/>
              </a:rPr>
              <a:t>evaluate</a:t>
            </a:r>
            <a:pPr indent="0" marL="0">
              <a:buNone/>
            </a:pPr>
            <a:r>
              <a:rPr lang="en-US" sz="1500" dirty="0">
                <a:solidFill>
                  <a:srgbClr val="1F2937"/>
                </a:solidFill>
                <a:latin typeface="Calibri" pitchFamily="34" charset="0"/>
                <a:ea typeface="Calibri" pitchFamily="34" charset="-122"/>
                <a:cs typeface="Calibri" pitchFamily="34" charset="-120"/>
              </a:rPr>
              <a:t> RAG: retrieval quality, </a:t>
            </a:r>
            <a:pPr indent="0" marL="0">
              <a:buNone/>
            </a:pPr>
            <a:r>
              <a:rPr lang="en-US" sz="1500" b="1" dirty="0">
                <a:solidFill>
                  <a:srgbClr val="1F2937"/>
                </a:solidFill>
                <a:latin typeface="Calibri" pitchFamily="34" charset="0"/>
                <a:ea typeface="Calibri" pitchFamily="34" charset="-122"/>
                <a:cs typeface="Calibri" pitchFamily="34" charset="-120"/>
              </a:rPr>
              <a:t>faithfulness</a:t>
            </a:r>
            <a:pPr indent="0" marL="0">
              <a:buNone/>
            </a:pPr>
            <a:r>
              <a:rPr lang="en-US" sz="1500" dirty="0">
                <a:solidFill>
                  <a:srgbClr val="1F2937"/>
                </a:solidFill>
                <a:latin typeface="Calibri" pitchFamily="34" charset="0"/>
                <a:ea typeface="Calibri" pitchFamily="34" charset="-122"/>
                <a:cs typeface="Calibri" pitchFamily="34" charset="-120"/>
              </a:rPr>
              <a:t>, answer relevance.</a:t>
            </a:r>
            <a:endParaRPr lang="en-US" sz="1500" dirty="0"/>
          </a:p>
        </p:txBody>
      </p:sp>
      <p:sp>
        <p:nvSpPr>
          <p:cNvPr id="15" name="Shape 13"/>
          <p:cNvSpPr/>
          <p:nvPr/>
        </p:nvSpPr>
        <p:spPr>
          <a:xfrm>
            <a:off x="548640" y="3936492"/>
            <a:ext cx="411480" cy="411480"/>
          </a:xfrm>
          <a:prstGeom prst="ellipse">
            <a:avLst/>
          </a:prstGeom>
          <a:solidFill>
            <a:srgbClr val="4F46E5"/>
          </a:solidFill>
          <a:ln w="12700">
            <a:solidFill>
              <a:srgbClr val="4F46E5"/>
            </a:solidFill>
            <a:prstDash val="solid"/>
          </a:ln>
        </p:spPr>
      </p:sp>
      <p:sp>
        <p:nvSpPr>
          <p:cNvPr id="16" name="Text 14"/>
          <p:cNvSpPr txBox="1"/>
          <p:nvPr/>
        </p:nvSpPr>
        <p:spPr>
          <a:xfrm>
            <a:off x="548640" y="39364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3918204"/>
            <a:ext cx="6903720" cy="949452"/>
          </a:xfrm>
          <a:prstGeom prst="rect">
            <a:avLst/>
          </a:prstGeom>
          <a:noFill/>
          <a:ln/>
        </p:spPr>
        <p:txBody>
          <a:bodyPr wrap="square" lIns="50800" tIns="50800" rIns="50800" bIns="50800" rtlCol="0" anchor="t"/>
          <a:lstStyle/>
          <a:p>
            <a:pPr indent="0" marL="0">
              <a:buNone/>
            </a:pPr>
            <a:r>
              <a:rPr lang="en-US" sz="1500" dirty="0">
                <a:solidFill>
                  <a:srgbClr val="1F2937"/>
                </a:solidFill>
                <a:latin typeface="Calibri" pitchFamily="34" charset="0"/>
                <a:ea typeface="Calibri" pitchFamily="34" charset="-122"/>
                <a:cs typeface="Calibri" pitchFamily="34" charset="-120"/>
              </a:rPr>
              <a:t>Explain </a:t>
            </a:r>
            <a:pPr indent="0" marL="0">
              <a:buNone/>
            </a:pPr>
            <a:r>
              <a:rPr lang="en-US" sz="1500" b="1" dirty="0">
                <a:solidFill>
                  <a:srgbClr val="1F2937"/>
                </a:solidFill>
                <a:latin typeface="Calibri" pitchFamily="34" charset="0"/>
                <a:ea typeface="Calibri" pitchFamily="34" charset="-122"/>
                <a:cs typeface="Calibri" pitchFamily="34" charset="-120"/>
              </a:rPr>
              <a:t>agentic AI</a:t>
            </a:r>
            <a:pPr indent="0" marL="0">
              <a:buNone/>
            </a:pPr>
            <a:r>
              <a:rPr lang="en-US" sz="1500" dirty="0">
                <a:solidFill>
                  <a:srgbClr val="1F2937"/>
                </a:solidFill>
                <a:latin typeface="Calibri" pitchFamily="34" charset="0"/>
                <a:ea typeface="Calibri" pitchFamily="34" charset="-122"/>
                <a:cs typeface="Calibri" pitchFamily="34" charset="-120"/>
              </a:rPr>
              <a:t>: LLM, </a:t>
            </a:r>
            <a:pPr indent="0" marL="0">
              <a:buNone/>
            </a:pPr>
            <a:r>
              <a:rPr lang="en-US" sz="1500" b="1" dirty="0">
                <a:solidFill>
                  <a:srgbClr val="1F2937"/>
                </a:solidFill>
                <a:latin typeface="Calibri" pitchFamily="34" charset="0"/>
                <a:ea typeface="Calibri" pitchFamily="34" charset="-122"/>
                <a:cs typeface="Calibri" pitchFamily="34" charset="-120"/>
              </a:rPr>
              <a:t>tools / function calling</a:t>
            </a:r>
            <a:pPr indent="0" marL="0">
              <a:buNone/>
            </a:pPr>
            <a:r>
              <a:rPr lang="en-US" sz="1500" dirty="0">
                <a:solidFill>
                  <a:srgbClr val="1F2937"/>
                </a:solidFill>
                <a:latin typeface="Calibri" pitchFamily="34" charset="0"/>
                <a:ea typeface="Calibri" pitchFamily="34" charset="-122"/>
                <a:cs typeface="Calibri" pitchFamily="34" charset="-120"/>
              </a:rPr>
              <a:t>, memory, planning, the </a:t>
            </a:r>
            <a:pPr indent="0" marL="0">
              <a:buNone/>
            </a:pPr>
            <a:r>
              <a:rPr lang="en-US" sz="1500" b="1" dirty="0">
                <a:solidFill>
                  <a:srgbClr val="1F2937"/>
                </a:solidFill>
                <a:latin typeface="Calibri" pitchFamily="34" charset="0"/>
                <a:ea typeface="Calibri" pitchFamily="34" charset="-122"/>
                <a:cs typeface="Calibri" pitchFamily="34" charset="-120"/>
              </a:rPr>
              <a:t>ReAct</a:t>
            </a:r>
            <a:pPr indent="0" marL="0">
              <a:buNone/>
            </a:pPr>
            <a:r>
              <a:rPr lang="en-US" sz="1500" dirty="0">
                <a:solidFill>
                  <a:srgbClr val="1F2937"/>
                </a:solidFill>
                <a:latin typeface="Calibri" pitchFamily="34" charset="0"/>
                <a:ea typeface="Calibri" pitchFamily="34" charset="-122"/>
                <a:cs typeface="Calibri" pitchFamily="34" charset="-120"/>
              </a:rPr>
              <a:t> loop; </a:t>
            </a:r>
            <a:pPr indent="0" marL="0">
              <a:buNone/>
            </a:pPr>
            <a:r>
              <a:rPr lang="en-US" sz="1500" b="1" dirty="0">
                <a:solidFill>
                  <a:srgbClr val="1F2937"/>
                </a:solidFill>
                <a:latin typeface="Calibri" pitchFamily="34" charset="0"/>
                <a:ea typeface="Calibri" pitchFamily="34" charset="-122"/>
                <a:cs typeface="Calibri" pitchFamily="34" charset="-120"/>
              </a:rPr>
              <a:t>workflows vs agents</a:t>
            </a:r>
            <a:pPr indent="0" marL="0">
              <a:buNone/>
            </a:pPr>
            <a:r>
              <a:rPr lang="en-US" sz="1500" dirty="0">
                <a:solidFill>
                  <a:srgbClr val="1F2937"/>
                </a:solidFill>
                <a:latin typeface="Calibri" pitchFamily="34" charset="0"/>
                <a:ea typeface="Calibri" pitchFamily="34" charset="-122"/>
                <a:cs typeface="Calibri" pitchFamily="34" charset="-120"/>
              </a:rPr>
              <a:t>; </a:t>
            </a:r>
            <a:pPr indent="0" marL="0">
              <a:buNone/>
            </a:pPr>
            <a:r>
              <a:rPr lang="en-US" sz="1500" b="1" dirty="0">
                <a:solidFill>
                  <a:srgbClr val="1F2937"/>
                </a:solidFill>
                <a:latin typeface="Calibri" pitchFamily="34" charset="0"/>
                <a:ea typeface="Calibri" pitchFamily="34" charset="-122"/>
                <a:cs typeface="Calibri" pitchFamily="34" charset="-120"/>
              </a:rPr>
              <a:t>multi-agent</a:t>
            </a:r>
            <a:pPr indent="0" marL="0">
              <a:buNone/>
            </a:pPr>
            <a:r>
              <a:rPr lang="en-US" sz="1500" dirty="0">
                <a:solidFill>
                  <a:srgbClr val="1F2937"/>
                </a:solidFill>
                <a:latin typeface="Calibri" pitchFamily="34" charset="0"/>
                <a:ea typeface="Calibri" pitchFamily="34" charset="-122"/>
                <a:cs typeface="Calibri" pitchFamily="34" charset="-120"/>
              </a:rPr>
              <a:t> systems; the </a:t>
            </a:r>
            <a:pPr indent="0" marL="0">
              <a:buNone/>
            </a:pPr>
            <a:r>
              <a:rPr lang="en-US" sz="1500" b="1" dirty="0">
                <a:solidFill>
                  <a:srgbClr val="1F2937"/>
                </a:solidFill>
                <a:latin typeface="Calibri" pitchFamily="34" charset="0"/>
                <a:ea typeface="Calibri" pitchFamily="34" charset="-122"/>
                <a:cs typeface="Calibri" pitchFamily="34" charset="-120"/>
              </a:rPr>
              <a:t>Model Context Protocol</a:t>
            </a:r>
            <a:pPr indent="0" marL="0">
              <a:buNone/>
            </a:pPr>
            <a:r>
              <a:rPr lang="en-US" sz="1500" dirty="0">
                <a:solidFill>
                  <a:srgbClr val="1F2937"/>
                </a:solidFill>
                <a:latin typeface="Calibri" pitchFamily="34" charset="0"/>
                <a:ea typeface="Calibri" pitchFamily="34" charset="-122"/>
                <a:cs typeface="Calibri" pitchFamily="34" charset="-120"/>
              </a:rPr>
              <a:t>.</a:t>
            </a:r>
            <a:endParaRPr lang="en-US" sz="1500" dirty="0"/>
          </a:p>
        </p:txBody>
      </p:sp>
      <p:sp>
        <p:nvSpPr>
          <p:cNvPr id="18" name="Shape 16"/>
          <p:cNvSpPr/>
          <p:nvPr/>
        </p:nvSpPr>
        <p:spPr>
          <a:xfrm>
            <a:off x="548640" y="4885944"/>
            <a:ext cx="411480" cy="411480"/>
          </a:xfrm>
          <a:prstGeom prst="ellipse">
            <a:avLst/>
          </a:prstGeom>
          <a:solidFill>
            <a:srgbClr val="4F46E5"/>
          </a:solidFill>
          <a:ln w="12700">
            <a:solidFill>
              <a:srgbClr val="4F46E5"/>
            </a:solidFill>
            <a:prstDash val="solid"/>
          </a:ln>
        </p:spPr>
      </p:sp>
      <p:sp>
        <p:nvSpPr>
          <p:cNvPr id="19" name="Text 17"/>
          <p:cNvSpPr txBox="1"/>
          <p:nvPr/>
        </p:nvSpPr>
        <p:spPr>
          <a:xfrm>
            <a:off x="548640" y="488594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867656"/>
            <a:ext cx="6903720" cy="720852"/>
          </a:xfrm>
          <a:prstGeom prst="rect">
            <a:avLst/>
          </a:prstGeom>
          <a:noFill/>
          <a:ln/>
        </p:spPr>
        <p:txBody>
          <a:bodyPr wrap="square" lIns="50800" tIns="50800" rIns="50800" bIns="50800" rtlCol="0" anchor="t"/>
          <a:lstStyle/>
          <a:p>
            <a:pPr indent="0" marL="0">
              <a:buNone/>
            </a:pPr>
            <a:r>
              <a:rPr lang="en-US" sz="1500" dirty="0">
                <a:solidFill>
                  <a:srgbClr val="1F2937"/>
                </a:solidFill>
                <a:latin typeface="Calibri" pitchFamily="34" charset="0"/>
                <a:ea typeface="Calibri" pitchFamily="34" charset="-122"/>
                <a:cs typeface="Calibri" pitchFamily="34" charset="-120"/>
              </a:rPr>
              <a:t>Identify agent risks, especially </a:t>
            </a:r>
            <a:pPr indent="0" marL="0">
              <a:buNone/>
            </a:pPr>
            <a:r>
              <a:rPr lang="en-US" sz="1500" b="1" dirty="0">
                <a:solidFill>
                  <a:srgbClr val="1F2937"/>
                </a:solidFill>
                <a:latin typeface="Calibri" pitchFamily="34" charset="0"/>
                <a:ea typeface="Calibri" pitchFamily="34" charset="-122"/>
                <a:cs typeface="Calibri" pitchFamily="34" charset="-120"/>
              </a:rPr>
              <a:t>prompt injection</a:t>
            </a:r>
            <a:pPr indent="0" marL="0">
              <a:buNone/>
            </a:pPr>
            <a:r>
              <a:rPr lang="en-US" sz="1500" dirty="0">
                <a:solidFill>
                  <a:srgbClr val="1F2937"/>
                </a:solidFill>
                <a:latin typeface="Calibri" pitchFamily="34" charset="0"/>
                <a:ea typeface="Calibri" pitchFamily="34" charset="-122"/>
                <a:cs typeface="Calibri" pitchFamily="34" charset="-120"/>
              </a:rPr>
              <a:t>, and design </a:t>
            </a:r>
            <a:pPr indent="0" marL="0">
              <a:buNone/>
            </a:pPr>
            <a:r>
              <a:rPr lang="en-US" sz="1500" b="1" dirty="0">
                <a:solidFill>
                  <a:srgbClr val="1F2937"/>
                </a:solidFill>
                <a:latin typeface="Calibri" pitchFamily="34" charset="0"/>
                <a:ea typeface="Calibri" pitchFamily="34" charset="-122"/>
                <a:cs typeface="Calibri" pitchFamily="34" charset="-120"/>
              </a:rPr>
              <a:t>guardrails</a:t>
            </a:r>
            <a:pPr indent="0" marL="0">
              <a:buNone/>
            </a:pPr>
            <a:r>
              <a:rPr lang="en-US" sz="1500" dirty="0">
                <a:solidFill>
                  <a:srgbClr val="1F2937"/>
                </a:solidFill>
                <a:latin typeface="Calibri" pitchFamily="34" charset="0"/>
                <a:ea typeface="Calibri" pitchFamily="34" charset="-122"/>
                <a:cs typeface="Calibri" pitchFamily="34" charset="-120"/>
              </a:rPr>
              <a:t> with </a:t>
            </a:r>
            <a:pPr indent="0" marL="0">
              <a:buNone/>
            </a:pPr>
            <a:r>
              <a:rPr lang="en-US" sz="1500" b="1" dirty="0">
                <a:solidFill>
                  <a:srgbClr val="1F2937"/>
                </a:solidFill>
                <a:latin typeface="Calibri" pitchFamily="34" charset="0"/>
                <a:ea typeface="Calibri" pitchFamily="34" charset="-122"/>
                <a:cs typeface="Calibri" pitchFamily="34" charset="-120"/>
              </a:rPr>
              <a:t>human oversight</a:t>
            </a:r>
            <a:pPr indent="0" marL="0">
              <a:buNone/>
            </a:pPr>
            <a:r>
              <a:rPr lang="en-US" sz="1500" dirty="0">
                <a:solidFill>
                  <a:srgbClr val="1F2937"/>
                </a:solidFill>
                <a:latin typeface="Calibri" pitchFamily="34" charset="0"/>
                <a:ea typeface="Calibri" pitchFamily="34" charset="-122"/>
                <a:cs typeface="Calibri" pitchFamily="34" charset="-120"/>
              </a:rPr>
              <a:t>.</a:t>
            </a:r>
            <a:endParaRPr lang="en-US" sz="1500" dirty="0"/>
          </a:p>
        </p:txBody>
      </p:sp>
      <p:sp>
        <p:nvSpPr>
          <p:cNvPr id="21" name="Shape 19"/>
          <p:cNvSpPr/>
          <p:nvPr/>
        </p:nvSpPr>
        <p:spPr>
          <a:xfrm>
            <a:off x="548640" y="5606796"/>
            <a:ext cx="411480" cy="411480"/>
          </a:xfrm>
          <a:prstGeom prst="ellipse">
            <a:avLst/>
          </a:prstGeom>
          <a:solidFill>
            <a:srgbClr val="4F46E5"/>
          </a:solidFill>
          <a:ln w="12700">
            <a:solidFill>
              <a:srgbClr val="4F46E5"/>
            </a:solidFill>
            <a:prstDash val="solid"/>
          </a:ln>
        </p:spPr>
      </p:sp>
      <p:sp>
        <p:nvSpPr>
          <p:cNvPr id="22" name="Text 20"/>
          <p:cNvSpPr txBox="1"/>
          <p:nvPr/>
        </p:nvSpPr>
        <p:spPr>
          <a:xfrm>
            <a:off x="548640" y="560679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588508"/>
            <a:ext cx="6903720" cy="720852"/>
          </a:xfrm>
          <a:prstGeom prst="rect">
            <a:avLst/>
          </a:prstGeom>
          <a:noFill/>
          <a:ln/>
        </p:spPr>
        <p:txBody>
          <a:bodyPr wrap="square" lIns="50800" tIns="50800" rIns="50800" bIns="50800" rtlCol="0" anchor="t"/>
          <a:lstStyle/>
          <a:p>
            <a:pPr indent="0" marL="0">
              <a:buNone/>
            </a:pPr>
            <a:r>
              <a:rPr lang="en-US" sz="1500" dirty="0">
                <a:solidFill>
                  <a:srgbClr val="1F2937"/>
                </a:solidFill>
                <a:latin typeface="Calibri" pitchFamily="34" charset="0"/>
                <a:ea typeface="Calibri" pitchFamily="34" charset="-122"/>
                <a:cs typeface="Calibri" pitchFamily="34" charset="-120"/>
              </a:rPr>
              <a:t>Choose between a RAG workflow and an agent for a real task, and justify the choice with evaluation.</a:t>
            </a:r>
            <a:endParaRPr lang="en-US" sz="1500" dirty="0"/>
          </a:p>
        </p:txBody>
      </p:sp>
      <p:sp>
        <p:nvSpPr>
          <p:cNvPr id="24" name="Shape 22"/>
          <p:cNvSpPr/>
          <p:nvPr/>
        </p:nvSpPr>
        <p:spPr>
          <a:xfrm>
            <a:off x="8458200" y="1527048"/>
            <a:ext cx="3184855" cy="4782312"/>
          </a:xfrm>
          <a:prstGeom prst="roundRect">
            <a:avLst>
              <a:gd name="adj" fmla="val 3445"/>
            </a:avLst>
          </a:prstGeom>
          <a:solidFill>
            <a:srgbClr val="EEF0FF"/>
          </a:solidFill>
          <a:ln w="12700">
            <a:solidFill>
              <a:srgbClr val="EEF0FF"/>
            </a:solidFill>
            <a:prstDash val="solid"/>
          </a:ln>
        </p:spPr>
      </p:sp>
      <p:sp>
        <p:nvSpPr>
          <p:cNvPr id="25" name="Text 23"/>
          <p:cNvSpPr txBox="1"/>
          <p:nvPr/>
        </p:nvSpPr>
        <p:spPr>
          <a:xfrm>
            <a:off x="8686800" y="1664208"/>
            <a:ext cx="2727655" cy="64008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Module learning outcomes (MIMLOs) practised</a:t>
            </a:r>
            <a:endParaRPr lang="en-US" sz="1500" dirty="0"/>
          </a:p>
        </p:txBody>
      </p:sp>
      <p:sp>
        <p:nvSpPr>
          <p:cNvPr id="26" name="Shape 24"/>
          <p:cNvSpPr/>
          <p:nvPr/>
        </p:nvSpPr>
        <p:spPr>
          <a:xfrm>
            <a:off x="8686800" y="2395728"/>
            <a:ext cx="1143000" cy="365760"/>
          </a:xfrm>
          <a:prstGeom prst="roundRect">
            <a:avLst>
              <a:gd name="adj" fmla="val 20000"/>
            </a:avLst>
          </a:prstGeom>
          <a:solidFill>
            <a:srgbClr val="4F46E5"/>
          </a:solidFill>
          <a:ln w="12700">
            <a:solidFill>
              <a:srgbClr val="4F46E5"/>
            </a:solidFill>
            <a:prstDash val="solid"/>
          </a:ln>
        </p:spPr>
      </p:sp>
      <p:sp>
        <p:nvSpPr>
          <p:cNvPr id="27" name="Text 25"/>
          <p:cNvSpPr txBox="1"/>
          <p:nvPr/>
        </p:nvSpPr>
        <p:spPr>
          <a:xfrm>
            <a:off x="8686800" y="2395728"/>
            <a:ext cx="11430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MIMLO 3</a:t>
            </a:r>
            <a:endParaRPr lang="en-US" sz="1300" dirty="0"/>
          </a:p>
        </p:txBody>
      </p:sp>
      <p:sp>
        <p:nvSpPr>
          <p:cNvPr id="28" name="Text 26"/>
          <p:cNvSpPr txBox="1"/>
          <p:nvPr/>
        </p:nvSpPr>
        <p:spPr>
          <a:xfrm>
            <a:off x="8641080" y="277977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Design, implement and fine-tune models</a:t>
            </a:r>
            <a:endParaRPr lang="en-US" sz="1400" dirty="0"/>
          </a:p>
        </p:txBody>
      </p:sp>
      <p:sp>
        <p:nvSpPr>
          <p:cNvPr id="29" name="Shape 27"/>
          <p:cNvSpPr/>
          <p:nvPr/>
        </p:nvSpPr>
        <p:spPr>
          <a:xfrm>
            <a:off x="8686800" y="3584448"/>
            <a:ext cx="1143000" cy="365760"/>
          </a:xfrm>
          <a:prstGeom prst="roundRect">
            <a:avLst>
              <a:gd name="adj" fmla="val 20000"/>
            </a:avLst>
          </a:prstGeom>
          <a:solidFill>
            <a:srgbClr val="4F46E5"/>
          </a:solidFill>
          <a:ln w="12700">
            <a:solidFill>
              <a:srgbClr val="4F46E5"/>
            </a:solidFill>
            <a:prstDash val="solid"/>
          </a:ln>
        </p:spPr>
      </p:sp>
      <p:sp>
        <p:nvSpPr>
          <p:cNvPr id="30" name="Text 28"/>
          <p:cNvSpPr txBox="1"/>
          <p:nvPr/>
        </p:nvSpPr>
        <p:spPr>
          <a:xfrm>
            <a:off x="8686800" y="3584448"/>
            <a:ext cx="11430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MIMLO 4</a:t>
            </a:r>
            <a:endParaRPr lang="en-US" sz="1300" dirty="0"/>
          </a:p>
        </p:txBody>
      </p:sp>
      <p:sp>
        <p:nvSpPr>
          <p:cNvPr id="31" name="Text 29"/>
          <p:cNvSpPr txBox="1"/>
          <p:nvPr/>
        </p:nvSpPr>
        <p:spPr>
          <a:xfrm>
            <a:off x="8641080" y="396849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Critically evaluate outputs: metrics, humans, ethics</a:t>
            </a:r>
            <a:endParaRPr lang="en-US" sz="1400" dirty="0"/>
          </a:p>
        </p:txBody>
      </p:sp>
      <p:sp>
        <p:nvSpPr>
          <p:cNvPr id="32" name="Shape 30"/>
          <p:cNvSpPr/>
          <p:nvPr/>
        </p:nvSpPr>
        <p:spPr>
          <a:xfrm>
            <a:off x="8686800" y="4773168"/>
            <a:ext cx="1143000" cy="365760"/>
          </a:xfrm>
          <a:prstGeom prst="roundRect">
            <a:avLst>
              <a:gd name="adj" fmla="val 20000"/>
            </a:avLst>
          </a:prstGeom>
          <a:solidFill>
            <a:srgbClr val="4F46E5"/>
          </a:solidFill>
          <a:ln w="12700">
            <a:solidFill>
              <a:srgbClr val="4F46E5"/>
            </a:solidFill>
            <a:prstDash val="solid"/>
          </a:ln>
        </p:spPr>
      </p:sp>
      <p:sp>
        <p:nvSpPr>
          <p:cNvPr id="33" name="Text 31"/>
          <p:cNvSpPr txBox="1"/>
          <p:nvPr/>
        </p:nvSpPr>
        <p:spPr>
          <a:xfrm>
            <a:off x="8686800" y="4773168"/>
            <a:ext cx="11430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MIMLO 5</a:t>
            </a:r>
            <a:endParaRPr lang="en-US" sz="1300" dirty="0"/>
          </a:p>
        </p:txBody>
      </p:sp>
      <p:sp>
        <p:nvSpPr>
          <p:cNvPr id="34" name="Text 32"/>
          <p:cNvSpPr txBox="1"/>
          <p:nvPr/>
        </p:nvSpPr>
        <p:spPr>
          <a:xfrm>
            <a:off x="8641080" y="515721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Deploy models; build RAG and agentic systems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Today's plan</a:t>
            </a:r>
            <a:endParaRPr lang="en-US" sz="3200" dirty="0"/>
          </a:p>
        </p:txBody>
      </p:sp>
      <p:sp>
        <p:nvSpPr>
          <p:cNvPr id="6" name="Shape 4"/>
          <p:cNvSpPr/>
          <p:nvPr/>
        </p:nvSpPr>
        <p:spPr>
          <a:xfrm>
            <a:off x="548640" y="1572768"/>
            <a:ext cx="8686800" cy="566928"/>
          </a:xfrm>
          <a:prstGeom prst="roundRect">
            <a:avLst>
              <a:gd name="adj" fmla="val 16129"/>
            </a:avLst>
          </a:prstGeom>
          <a:solidFill>
            <a:srgbClr val="EEF0FF"/>
          </a:solidFill>
          <a:ln w="12700">
            <a:solidFill>
              <a:srgbClr val="EEF0FF"/>
            </a:solidFill>
            <a:prstDash val="solid"/>
          </a:ln>
        </p:spPr>
      </p:sp>
      <p:sp>
        <p:nvSpPr>
          <p:cNvPr id="7" name="Shape 5"/>
          <p:cNvSpPr/>
          <p:nvPr/>
        </p:nvSpPr>
        <p:spPr>
          <a:xfrm>
            <a:off x="685800" y="1664208"/>
            <a:ext cx="384048" cy="384048"/>
          </a:xfrm>
          <a:prstGeom prst="ellipse">
            <a:avLst/>
          </a:prstGeom>
          <a:solidFill>
            <a:srgbClr val="4F46E5"/>
          </a:solidFill>
          <a:ln w="12700">
            <a:solidFill>
              <a:srgbClr val="4F46E5"/>
            </a:solidFill>
            <a:prstDash val="solid"/>
          </a:ln>
        </p:spPr>
      </p:sp>
      <p:sp>
        <p:nvSpPr>
          <p:cNvPr id="8" name="Text 6"/>
          <p:cNvSpPr txBox="1"/>
          <p:nvPr/>
        </p:nvSpPr>
        <p:spPr>
          <a:xfrm>
            <a:off x="685800" y="16642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188720" y="1572768"/>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Warm-up: ask a chatbot about this module</a:t>
            </a:r>
            <a:endParaRPr lang="en-US" sz="1900" dirty="0"/>
          </a:p>
        </p:txBody>
      </p:sp>
      <p:sp>
        <p:nvSpPr>
          <p:cNvPr id="10" name="Text 8"/>
          <p:cNvSpPr txBox="1"/>
          <p:nvPr/>
        </p:nvSpPr>
        <p:spPr>
          <a:xfrm>
            <a:off x="8046720" y="1572768"/>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5 min</a:t>
            </a:r>
            <a:endParaRPr lang="en-US" sz="1400" dirty="0"/>
          </a:p>
        </p:txBody>
      </p:sp>
      <p:sp>
        <p:nvSpPr>
          <p:cNvPr id="11" name="Shape 9"/>
          <p:cNvSpPr/>
          <p:nvPr/>
        </p:nvSpPr>
        <p:spPr>
          <a:xfrm>
            <a:off x="548640" y="2249424"/>
            <a:ext cx="8686800" cy="566928"/>
          </a:xfrm>
          <a:prstGeom prst="roundRect">
            <a:avLst>
              <a:gd name="adj" fmla="val 16129"/>
            </a:avLst>
          </a:prstGeom>
          <a:solidFill>
            <a:srgbClr val="F5F3FF"/>
          </a:solidFill>
          <a:ln w="12700">
            <a:solidFill>
              <a:srgbClr val="EEF0FF"/>
            </a:solidFill>
            <a:prstDash val="solid"/>
          </a:ln>
        </p:spPr>
      </p:sp>
      <p:sp>
        <p:nvSpPr>
          <p:cNvPr id="12" name="Shape 10"/>
          <p:cNvSpPr/>
          <p:nvPr/>
        </p:nvSpPr>
        <p:spPr>
          <a:xfrm>
            <a:off x="685800" y="2340864"/>
            <a:ext cx="384048" cy="384048"/>
          </a:xfrm>
          <a:prstGeom prst="ellipse">
            <a:avLst/>
          </a:prstGeom>
          <a:solidFill>
            <a:srgbClr val="4F46E5"/>
          </a:solidFill>
          <a:ln w="12700">
            <a:solidFill>
              <a:srgbClr val="4F46E5"/>
            </a:solidFill>
            <a:prstDash val="solid"/>
          </a:ln>
        </p:spPr>
      </p:sp>
      <p:sp>
        <p:nvSpPr>
          <p:cNvPr id="13" name="Text 11"/>
          <p:cNvSpPr txBox="1"/>
          <p:nvPr/>
        </p:nvSpPr>
        <p:spPr>
          <a:xfrm>
            <a:off x="685800" y="23408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188720" y="2249424"/>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1 · Why RAG? LLM limitations and the RAG pipeline</a:t>
            </a:r>
            <a:endParaRPr lang="en-US" sz="1900" dirty="0"/>
          </a:p>
        </p:txBody>
      </p:sp>
      <p:sp>
        <p:nvSpPr>
          <p:cNvPr id="15" name="Text 13"/>
          <p:cNvSpPr txBox="1"/>
          <p:nvPr/>
        </p:nvSpPr>
        <p:spPr>
          <a:xfrm>
            <a:off x="8046720" y="2249424"/>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15 min</a:t>
            </a:r>
            <a:endParaRPr lang="en-US" sz="1400" dirty="0"/>
          </a:p>
        </p:txBody>
      </p:sp>
      <p:sp>
        <p:nvSpPr>
          <p:cNvPr id="16" name="Shape 14"/>
          <p:cNvSpPr/>
          <p:nvPr/>
        </p:nvSpPr>
        <p:spPr>
          <a:xfrm>
            <a:off x="548640" y="2926080"/>
            <a:ext cx="8686800" cy="566928"/>
          </a:xfrm>
          <a:prstGeom prst="roundRect">
            <a:avLst>
              <a:gd name="adj" fmla="val 16129"/>
            </a:avLst>
          </a:prstGeom>
          <a:solidFill>
            <a:srgbClr val="EEF0FF"/>
          </a:solidFill>
          <a:ln w="12700">
            <a:solidFill>
              <a:srgbClr val="EEF0FF"/>
            </a:solidFill>
            <a:prstDash val="solid"/>
          </a:ln>
        </p:spPr>
      </p:sp>
      <p:sp>
        <p:nvSpPr>
          <p:cNvPr id="17" name="Shape 15"/>
          <p:cNvSpPr/>
          <p:nvPr/>
        </p:nvSpPr>
        <p:spPr>
          <a:xfrm>
            <a:off x="685800" y="3017520"/>
            <a:ext cx="384048" cy="384048"/>
          </a:xfrm>
          <a:prstGeom prst="ellipse">
            <a:avLst/>
          </a:prstGeom>
          <a:solidFill>
            <a:srgbClr val="4F46E5"/>
          </a:solidFill>
          <a:ln w="12700">
            <a:solidFill>
              <a:srgbClr val="4F46E5"/>
            </a:solidFill>
            <a:prstDash val="solid"/>
          </a:ln>
        </p:spPr>
      </p:sp>
      <p:sp>
        <p:nvSpPr>
          <p:cNvPr id="18" name="Text 16"/>
          <p:cNvSpPr txBox="1"/>
          <p:nvPr/>
        </p:nvSpPr>
        <p:spPr>
          <a:xfrm>
            <a:off x="685800" y="30175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1188720" y="2926080"/>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2 · Embeddings, chunking and vector databases</a:t>
            </a:r>
            <a:endParaRPr lang="en-US" sz="1900" dirty="0"/>
          </a:p>
        </p:txBody>
      </p:sp>
      <p:sp>
        <p:nvSpPr>
          <p:cNvPr id="20" name="Text 18"/>
          <p:cNvSpPr txBox="1"/>
          <p:nvPr/>
        </p:nvSpPr>
        <p:spPr>
          <a:xfrm>
            <a:off x="8046720" y="2926080"/>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15 min</a:t>
            </a:r>
            <a:endParaRPr lang="en-US" sz="1400" dirty="0"/>
          </a:p>
        </p:txBody>
      </p:sp>
      <p:sp>
        <p:nvSpPr>
          <p:cNvPr id="21" name="Shape 19"/>
          <p:cNvSpPr/>
          <p:nvPr/>
        </p:nvSpPr>
        <p:spPr>
          <a:xfrm>
            <a:off x="548640" y="3602736"/>
            <a:ext cx="8686800" cy="566928"/>
          </a:xfrm>
          <a:prstGeom prst="roundRect">
            <a:avLst>
              <a:gd name="adj" fmla="val 16129"/>
            </a:avLst>
          </a:prstGeom>
          <a:solidFill>
            <a:srgbClr val="F5F3FF"/>
          </a:solidFill>
          <a:ln w="12700">
            <a:solidFill>
              <a:srgbClr val="EEF0FF"/>
            </a:solidFill>
            <a:prstDash val="solid"/>
          </a:ln>
        </p:spPr>
      </p:sp>
      <p:sp>
        <p:nvSpPr>
          <p:cNvPr id="22" name="Shape 20"/>
          <p:cNvSpPr/>
          <p:nvPr/>
        </p:nvSpPr>
        <p:spPr>
          <a:xfrm>
            <a:off x="685800" y="3694176"/>
            <a:ext cx="384048" cy="384048"/>
          </a:xfrm>
          <a:prstGeom prst="ellipse">
            <a:avLst/>
          </a:prstGeom>
          <a:solidFill>
            <a:srgbClr val="4F46E5"/>
          </a:solidFill>
          <a:ln w="12700">
            <a:solidFill>
              <a:srgbClr val="4F46E5"/>
            </a:solidFill>
            <a:prstDash val="solid"/>
          </a:ln>
        </p:spPr>
      </p:sp>
      <p:sp>
        <p:nvSpPr>
          <p:cNvPr id="23" name="Text 21"/>
          <p:cNvSpPr txBox="1"/>
          <p:nvPr/>
        </p:nvSpPr>
        <p:spPr>
          <a:xfrm>
            <a:off x="685800" y="369417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1188720" y="3602736"/>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3 · Retrieval, advanced RAG and RAG evaluation</a:t>
            </a:r>
            <a:endParaRPr lang="en-US" sz="1900" dirty="0"/>
          </a:p>
        </p:txBody>
      </p:sp>
      <p:sp>
        <p:nvSpPr>
          <p:cNvPr id="25" name="Text 23"/>
          <p:cNvSpPr txBox="1"/>
          <p:nvPr/>
        </p:nvSpPr>
        <p:spPr>
          <a:xfrm>
            <a:off x="8046720" y="3602736"/>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30 min</a:t>
            </a:r>
            <a:endParaRPr lang="en-US" sz="1400" dirty="0"/>
          </a:p>
        </p:txBody>
      </p:sp>
      <p:sp>
        <p:nvSpPr>
          <p:cNvPr id="26" name="Shape 24"/>
          <p:cNvSpPr/>
          <p:nvPr/>
        </p:nvSpPr>
        <p:spPr>
          <a:xfrm>
            <a:off x="548640" y="4279392"/>
            <a:ext cx="8686800" cy="566928"/>
          </a:xfrm>
          <a:prstGeom prst="roundRect">
            <a:avLst>
              <a:gd name="adj" fmla="val 16129"/>
            </a:avLst>
          </a:prstGeom>
          <a:solidFill>
            <a:srgbClr val="EEF0FF"/>
          </a:solidFill>
          <a:ln w="12700">
            <a:solidFill>
              <a:srgbClr val="EEF0FF"/>
            </a:solidFill>
            <a:prstDash val="solid"/>
          </a:ln>
        </p:spPr>
      </p:sp>
      <p:sp>
        <p:nvSpPr>
          <p:cNvPr id="27" name="Shape 25"/>
          <p:cNvSpPr/>
          <p:nvPr/>
        </p:nvSpPr>
        <p:spPr>
          <a:xfrm>
            <a:off x="685800" y="4370832"/>
            <a:ext cx="384048" cy="384048"/>
          </a:xfrm>
          <a:prstGeom prst="ellipse">
            <a:avLst/>
          </a:prstGeom>
          <a:solidFill>
            <a:srgbClr val="4F46E5"/>
          </a:solidFill>
          <a:ln w="12700">
            <a:solidFill>
              <a:srgbClr val="4F46E5"/>
            </a:solidFill>
            <a:prstDash val="solid"/>
          </a:ln>
        </p:spPr>
      </p:sp>
      <p:sp>
        <p:nvSpPr>
          <p:cNvPr id="28" name="Text 26"/>
          <p:cNvSpPr txBox="1"/>
          <p:nvPr/>
        </p:nvSpPr>
        <p:spPr>
          <a:xfrm>
            <a:off x="685800" y="43708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9" name="Text 27"/>
          <p:cNvSpPr txBox="1"/>
          <p:nvPr/>
        </p:nvSpPr>
        <p:spPr>
          <a:xfrm>
            <a:off x="1188720" y="4279392"/>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4 · Agentic AI: tools, loops, workflows, MCP</a:t>
            </a:r>
            <a:endParaRPr lang="en-US" sz="1900" dirty="0"/>
          </a:p>
        </p:txBody>
      </p:sp>
      <p:sp>
        <p:nvSpPr>
          <p:cNvPr id="30" name="Text 28"/>
          <p:cNvSpPr txBox="1"/>
          <p:nvPr/>
        </p:nvSpPr>
        <p:spPr>
          <a:xfrm>
            <a:off x="8046720" y="4279392"/>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30 min</a:t>
            </a:r>
            <a:endParaRPr lang="en-US" sz="1400" dirty="0"/>
          </a:p>
        </p:txBody>
      </p:sp>
      <p:sp>
        <p:nvSpPr>
          <p:cNvPr id="31" name="Shape 29"/>
          <p:cNvSpPr/>
          <p:nvPr/>
        </p:nvSpPr>
        <p:spPr>
          <a:xfrm>
            <a:off x="548640" y="4956048"/>
            <a:ext cx="8686800" cy="566928"/>
          </a:xfrm>
          <a:prstGeom prst="roundRect">
            <a:avLst>
              <a:gd name="adj" fmla="val 16129"/>
            </a:avLst>
          </a:prstGeom>
          <a:solidFill>
            <a:srgbClr val="F5F3FF"/>
          </a:solidFill>
          <a:ln w="12700">
            <a:solidFill>
              <a:srgbClr val="EEF0FF"/>
            </a:solidFill>
            <a:prstDash val="solid"/>
          </a:ln>
        </p:spPr>
      </p:sp>
      <p:sp>
        <p:nvSpPr>
          <p:cNvPr id="32" name="Shape 30"/>
          <p:cNvSpPr/>
          <p:nvPr/>
        </p:nvSpPr>
        <p:spPr>
          <a:xfrm>
            <a:off x="685800" y="5047488"/>
            <a:ext cx="384048" cy="384048"/>
          </a:xfrm>
          <a:prstGeom prst="ellipse">
            <a:avLst/>
          </a:prstGeom>
          <a:solidFill>
            <a:srgbClr val="4F46E5"/>
          </a:solidFill>
          <a:ln w="12700">
            <a:solidFill>
              <a:srgbClr val="4F46E5"/>
            </a:solidFill>
            <a:prstDash val="solid"/>
          </a:ln>
        </p:spPr>
      </p:sp>
      <p:sp>
        <p:nvSpPr>
          <p:cNvPr id="33" name="Text 31"/>
          <p:cNvSpPr txBox="1"/>
          <p:nvPr/>
        </p:nvSpPr>
        <p:spPr>
          <a:xfrm>
            <a:off x="685800" y="5047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4" name="Text 32"/>
          <p:cNvSpPr txBox="1"/>
          <p:nvPr/>
        </p:nvSpPr>
        <p:spPr>
          <a:xfrm>
            <a:off x="1188720" y="4956048"/>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5 · Risks and guardrails</a:t>
            </a:r>
            <a:endParaRPr lang="en-US" sz="1900" dirty="0"/>
          </a:p>
        </p:txBody>
      </p:sp>
      <p:sp>
        <p:nvSpPr>
          <p:cNvPr id="35" name="Text 33"/>
          <p:cNvSpPr txBox="1"/>
          <p:nvPr/>
        </p:nvSpPr>
        <p:spPr>
          <a:xfrm>
            <a:off x="8046720" y="4956048"/>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13 min</a:t>
            </a:r>
            <a:endParaRPr lang="en-US" sz="1400" dirty="0"/>
          </a:p>
        </p:txBody>
      </p:sp>
      <p:sp>
        <p:nvSpPr>
          <p:cNvPr id="36" name="Shape 34"/>
          <p:cNvSpPr/>
          <p:nvPr/>
        </p:nvSpPr>
        <p:spPr>
          <a:xfrm>
            <a:off x="548640" y="5632704"/>
            <a:ext cx="8686800" cy="566928"/>
          </a:xfrm>
          <a:prstGeom prst="roundRect">
            <a:avLst>
              <a:gd name="adj" fmla="val 16129"/>
            </a:avLst>
          </a:prstGeom>
          <a:solidFill>
            <a:srgbClr val="EEF0FF"/>
          </a:solidFill>
          <a:ln w="12700">
            <a:solidFill>
              <a:srgbClr val="EEF0FF"/>
            </a:solidFill>
            <a:prstDash val="solid"/>
          </a:ln>
        </p:spPr>
      </p:sp>
      <p:sp>
        <p:nvSpPr>
          <p:cNvPr id="37" name="Shape 35"/>
          <p:cNvSpPr/>
          <p:nvPr/>
        </p:nvSpPr>
        <p:spPr>
          <a:xfrm>
            <a:off x="685800" y="5724144"/>
            <a:ext cx="384048" cy="384048"/>
          </a:xfrm>
          <a:prstGeom prst="ellipse">
            <a:avLst/>
          </a:prstGeom>
          <a:solidFill>
            <a:srgbClr val="4F46E5"/>
          </a:solidFill>
          <a:ln w="12700">
            <a:solidFill>
              <a:srgbClr val="4F46E5"/>
            </a:solidFill>
            <a:prstDash val="solid"/>
          </a:ln>
        </p:spPr>
      </p:sp>
      <p:sp>
        <p:nvSpPr>
          <p:cNvPr id="38" name="Text 36"/>
          <p:cNvSpPr txBox="1"/>
          <p:nvPr/>
        </p:nvSpPr>
        <p:spPr>
          <a:xfrm>
            <a:off x="685800" y="57241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9" name="Text 37"/>
          <p:cNvSpPr txBox="1"/>
          <p:nvPr/>
        </p:nvSpPr>
        <p:spPr>
          <a:xfrm>
            <a:off x="1188720" y="5632704"/>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Lab preview and wrap-up</a:t>
            </a:r>
            <a:endParaRPr lang="en-US" sz="1900" dirty="0"/>
          </a:p>
        </p:txBody>
      </p:sp>
      <p:sp>
        <p:nvSpPr>
          <p:cNvPr id="40" name="Text 38"/>
          <p:cNvSpPr txBox="1"/>
          <p:nvPr/>
        </p:nvSpPr>
        <p:spPr>
          <a:xfrm>
            <a:off x="8046720" y="5632704"/>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5 min</a:t>
            </a:r>
            <a:endParaRPr lang="en-US" sz="1400" dirty="0"/>
          </a:p>
        </p:txBody>
      </p:sp>
      <p:sp>
        <p:nvSpPr>
          <p:cNvPr id="41" name="Shape 39"/>
          <p:cNvSpPr/>
          <p:nvPr/>
        </p:nvSpPr>
        <p:spPr>
          <a:xfrm>
            <a:off x="9784080" y="2377440"/>
            <a:ext cx="1737360" cy="1737360"/>
          </a:xfrm>
          <a:prstGeom prst="ellipse">
            <a:avLst/>
          </a:prstGeom>
          <a:solidFill>
            <a:srgbClr val="EEF0FF"/>
          </a:solidFill>
          <a:ln w="12700">
            <a:solidFill>
              <a:srgbClr val="EEF0FF"/>
            </a:solidFill>
            <a:prstDash val="solid"/>
          </a:ln>
        </p:spPr>
      </p:sp>
      <p:pic>
        <p:nvPicPr>
          <p:cNvPr id="42" name="Image 0" descr="preencoded.png">    </p:cNvPr>
          <p:cNvPicPr>
            <a:picLocks noChangeAspect="1"/>
          </p:cNvPicPr>
          <p:nvPr/>
        </p:nvPicPr>
        <p:blipFill>
          <a:blip r:embed="rId1"/>
          <a:stretch>
            <a:fillRect/>
          </a:stretch>
        </p:blipFill>
        <p:spPr>
          <a:xfrm>
            <a:off x="10201046" y="2794406"/>
            <a:ext cx="903427" cy="90342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Starting vocabulary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1636776"/>
                <a:gridCol w="9457639"/>
              </a:tblGrid>
              <a:tr h="0">
                <a:tc>
                  <a:txBody>
                    <a:bodyPr/>
                    <a:lstStyle/>
                    <a:p>
                      <a:pPr indent="0" marL="0">
                        <a:buNone/>
                      </a:pPr>
                      <a:r>
                        <a:rPr lang="en-US" sz="2200" b="1" dirty="0">
                          <a:solidFill>
                            <a:srgbClr val="FFFFFF"/>
                          </a:solidFill>
                          <a:latin typeface="Calibri" pitchFamily="34" charset="0"/>
                          <a:ea typeface="Calibri" pitchFamily="34" charset="-122"/>
                          <a:cs typeface="Calibri" pitchFamily="34" charset="-120"/>
                        </a:rPr>
                        <a:t>Term</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200" b="1" dirty="0">
                          <a:solidFill>
                            <a:srgbClr val="FFFFFF"/>
                          </a:solidFill>
                          <a:latin typeface="Calibri" pitchFamily="34" charset="0"/>
                          <a:ea typeface="Calibri" pitchFamily="34" charset="-122"/>
                          <a:cs typeface="Calibri" pitchFamily="34" charset="-120"/>
                        </a:rPr>
                        <a:t>Plain meaning</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200" b="1" dirty="0">
                          <a:solidFill>
                            <a:srgbClr val="1F2937"/>
                          </a:solidFill>
                          <a:latin typeface="Calibri" pitchFamily="34" charset="0"/>
                          <a:ea typeface="Calibri" pitchFamily="34" charset="-122"/>
                          <a:cs typeface="Calibri" pitchFamily="34" charset="-120"/>
                        </a:rPr>
                        <a:t>Embedding</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200" dirty="0">
                          <a:solidFill>
                            <a:srgbClr val="1F2937"/>
                          </a:solidFill>
                          <a:latin typeface="Calibri" pitchFamily="34" charset="0"/>
                          <a:ea typeface="Calibri" pitchFamily="34" charset="-122"/>
                          <a:cs typeface="Calibri" pitchFamily="34" charset="-120"/>
                        </a:rPr>
                        <a:t>A numerical vector representing an item's content for comparison.</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200" b="1" dirty="0">
                          <a:solidFill>
                            <a:srgbClr val="1F2937"/>
                          </a:solidFill>
                          <a:latin typeface="Calibri" pitchFamily="34" charset="0"/>
                          <a:ea typeface="Calibri" pitchFamily="34" charset="-122"/>
                          <a:cs typeface="Calibri" pitchFamily="34" charset="-120"/>
                        </a:rPr>
                        <a:t>Context</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200" dirty="0">
                          <a:solidFill>
                            <a:srgbClr val="1F2937"/>
                          </a:solidFill>
                          <a:latin typeface="Calibri" pitchFamily="34" charset="0"/>
                          <a:ea typeface="Calibri" pitchFamily="34" charset="-122"/>
                          <a:cs typeface="Calibri" pitchFamily="34" charset="-120"/>
                        </a:rPr>
                        <a:t>The input text made available to a language model for a response.</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200" b="1" dirty="0">
                          <a:solidFill>
                            <a:srgbClr val="1F2937"/>
                          </a:solidFill>
                          <a:latin typeface="Calibri" pitchFamily="34" charset="0"/>
                          <a:ea typeface="Calibri" pitchFamily="34" charset="-122"/>
                          <a:cs typeface="Calibri" pitchFamily="34" charset="-120"/>
                        </a:rPr>
                        <a:t>Tool call</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200" dirty="0">
                          <a:solidFill>
                            <a:srgbClr val="1F2937"/>
                          </a:solidFill>
                          <a:latin typeface="Calibri" pitchFamily="34" charset="0"/>
                          <a:ea typeface="Calibri" pitchFamily="34" charset="-122"/>
                          <a:cs typeface="Calibri" pitchFamily="34" charset="-120"/>
                        </a:rPr>
                        <a:t>A structured request for the program to run a named function.</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Warm-up</a:t>
            </a:r>
            <a:endParaRPr lang="en-US" sz="3200" dirty="0"/>
          </a:p>
        </p:txBody>
      </p:sp>
      <p:sp>
        <p:nvSpPr>
          <p:cNvPr id="6" name="Shape 4"/>
          <p:cNvSpPr/>
          <p:nvPr/>
        </p:nvSpPr>
        <p:spPr>
          <a:xfrm>
            <a:off x="548640" y="1527048"/>
            <a:ext cx="1005840" cy="1005840"/>
          </a:xfrm>
          <a:prstGeom prst="ellipse">
            <a:avLst/>
          </a:prstGeom>
          <a:solidFill>
            <a:srgbClr val="0F766E"/>
          </a:solidFill>
          <a:ln w="12700">
            <a:solidFill>
              <a:srgbClr val="0F766E"/>
            </a:solidFill>
            <a:prstDash val="solid"/>
          </a:ln>
        </p:spPr>
      </p:sp>
      <p:pic>
        <p:nvPicPr>
          <p:cNvPr id="7" name="Image 0" descr="preencoded.png">    </p:cNvPr>
          <p:cNvPicPr>
            <a:picLocks noChangeAspect="1"/>
          </p:cNvPicPr>
          <p:nvPr/>
        </p:nvPicPr>
        <p:blipFill>
          <a:blip r:embed="rId1"/>
          <a:stretch>
            <a:fillRect/>
          </a:stretch>
        </p:blipFill>
        <p:spPr>
          <a:xfrm>
            <a:off x="790042" y="1768450"/>
            <a:ext cx="523037" cy="523037"/>
          </a:xfrm>
          <a:prstGeom prst="rect">
            <a:avLst/>
          </a:prstGeom>
        </p:spPr>
      </p:pic>
      <p:sp>
        <p:nvSpPr>
          <p:cNvPr id="8" name="Text 5"/>
          <p:cNvSpPr txBox="1"/>
          <p:nvPr/>
        </p:nvSpPr>
        <p:spPr>
          <a:xfrm>
            <a:off x="1828800" y="1481328"/>
            <a:ext cx="9814255" cy="1463040"/>
          </a:xfrm>
          <a:prstGeom prst="rect">
            <a:avLst/>
          </a:prstGeom>
          <a:noFill/>
          <a:ln/>
        </p:spPr>
        <p:txBody>
          <a:bodyPr wrap="square" lIns="50800" tIns="50800" rIns="50800" bIns="50800" rtlCol="0" anchor="ctr"/>
          <a:lstStyle/>
          <a:p>
            <a:pPr indent="0" marL="0">
              <a:buNone/>
            </a:pPr>
            <a:r>
              <a:rPr lang="en-US" sz="2600" b="1" dirty="0">
                <a:solidFill>
                  <a:srgbClr val="1E1B4B"/>
                </a:solidFill>
                <a:latin typeface="Calibri" pitchFamily="34" charset="0"/>
                <a:ea typeface="Calibri" pitchFamily="34" charset="-122"/>
                <a:cs typeface="Calibri" pitchFamily="34" charset="-120"/>
              </a:rPr>
              <a:t>Ask a public chatbot: 'What is the late-submission penalty for this module?' What do you expect, and why?</a:t>
            </a:r>
            <a:endParaRPr lang="en-US" sz="2600" dirty="0"/>
          </a:p>
        </p:txBody>
      </p:sp>
      <p:sp>
        <p:nvSpPr>
          <p:cNvPr id="9" name="Text 6"/>
          <p:cNvSpPr txBox="1"/>
          <p:nvPr/>
        </p:nvSpPr>
        <p:spPr>
          <a:xfrm>
            <a:off x="1828800" y="3172968"/>
            <a:ext cx="9814255" cy="3090672"/>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Does the model know your module's documents?</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Will it say 'I don't know', or invent a plausible rule?</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How could it answer correctly, and show where the answer came from?</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01</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Why RAG?</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What can't an LLM do on its own?</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Answer with retrieved evidence</a:t>
            </a:r>
            <a:endParaRPr lang="en-US" sz="3200" dirty="0"/>
          </a:p>
        </p:txBody>
      </p:sp>
      <p:sp>
        <p:nvSpPr>
          <p:cNvPr id="6" name="Text 4"/>
          <p:cNvSpPr txBox="1"/>
          <p:nvPr/>
        </p:nvSpPr>
        <p:spPr>
          <a:xfrm>
            <a:off x="548640" y="1481328"/>
            <a:ext cx="11094415" cy="36576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Prepare searchable documents once; retrieve sources for each question</a:t>
            </a:r>
            <a:endParaRPr lang="en-US" sz="1800" dirty="0"/>
          </a:p>
        </p:txBody>
      </p:sp>
      <p:sp>
        <p:nvSpPr>
          <p:cNvPr id="7" name="Shape 5"/>
          <p:cNvSpPr/>
          <p:nvPr/>
        </p:nvSpPr>
        <p:spPr>
          <a:xfrm>
            <a:off x="3762331" y="2569464"/>
            <a:ext cx="861033" cy="0"/>
          </a:xfrm>
          <a:prstGeom prst="line">
            <a:avLst/>
          </a:prstGeom>
          <a:noFill/>
          <a:ln w="20320">
            <a:solidFill>
              <a:srgbClr val="4F46E5"/>
            </a:solidFill>
            <a:prstDash val="solid"/>
            <a:tailEnd type="triangle"/>
          </a:ln>
        </p:spPr>
      </p:sp>
      <p:sp>
        <p:nvSpPr>
          <p:cNvPr id="8" name="Shape 6"/>
          <p:cNvSpPr/>
          <p:nvPr/>
        </p:nvSpPr>
        <p:spPr>
          <a:xfrm>
            <a:off x="7568331" y="2569464"/>
            <a:ext cx="861033" cy="0"/>
          </a:xfrm>
          <a:prstGeom prst="line">
            <a:avLst/>
          </a:prstGeom>
          <a:noFill/>
          <a:ln w="20320">
            <a:solidFill>
              <a:srgbClr val="4F46E5"/>
            </a:solidFill>
            <a:prstDash val="solid"/>
            <a:tailEnd type="triangle"/>
          </a:ln>
        </p:spPr>
      </p:sp>
      <p:sp>
        <p:nvSpPr>
          <p:cNvPr id="9" name="Shape 7"/>
          <p:cNvSpPr/>
          <p:nvPr/>
        </p:nvSpPr>
        <p:spPr>
          <a:xfrm>
            <a:off x="9901848" y="3621024"/>
            <a:ext cx="0" cy="54864"/>
          </a:xfrm>
          <a:prstGeom prst="line">
            <a:avLst/>
          </a:prstGeom>
          <a:noFill/>
          <a:ln w="20320">
            <a:solidFill>
              <a:srgbClr val="4F46E5"/>
            </a:solidFill>
            <a:prstDash val="solid"/>
            <a:tailEnd type="triangle"/>
          </a:ln>
        </p:spPr>
      </p:sp>
      <p:sp>
        <p:nvSpPr>
          <p:cNvPr id="10" name="Shape 8"/>
          <p:cNvSpPr/>
          <p:nvPr/>
        </p:nvSpPr>
        <p:spPr>
          <a:xfrm flipH="1">
            <a:off x="7568331" y="4398264"/>
            <a:ext cx="861033" cy="0"/>
          </a:xfrm>
          <a:prstGeom prst="line">
            <a:avLst/>
          </a:prstGeom>
          <a:noFill/>
          <a:ln w="20320">
            <a:solidFill>
              <a:srgbClr val="4F46E5"/>
            </a:solidFill>
            <a:prstDash val="solid"/>
            <a:tailEnd type="triangle"/>
          </a:ln>
        </p:spPr>
      </p:sp>
      <p:sp>
        <p:nvSpPr>
          <p:cNvPr id="11" name="Shape 9"/>
          <p:cNvSpPr/>
          <p:nvPr/>
        </p:nvSpPr>
        <p:spPr>
          <a:xfrm flipH="1">
            <a:off x="3762331" y="4398264"/>
            <a:ext cx="861033" cy="0"/>
          </a:xfrm>
          <a:prstGeom prst="line">
            <a:avLst/>
          </a:prstGeom>
          <a:noFill/>
          <a:ln w="20320">
            <a:solidFill>
              <a:srgbClr val="4F46E5"/>
            </a:solidFill>
            <a:prstDash val="solid"/>
            <a:tailEnd type="triangle"/>
          </a:ln>
        </p:spPr>
      </p:sp>
      <p:sp>
        <p:nvSpPr>
          <p:cNvPr id="12" name="Shape 10"/>
          <p:cNvSpPr/>
          <p:nvPr/>
        </p:nvSpPr>
        <p:spPr>
          <a:xfrm>
            <a:off x="872227" y="1883664"/>
            <a:ext cx="2835239" cy="1344168"/>
          </a:xfrm>
          <a:prstGeom prst="rect">
            <a:avLst/>
          </a:prstGeom>
          <a:solidFill>
            <a:srgbClr val="F5F3FF"/>
          </a:solidFill>
          <a:ln w="16510">
            <a:solidFill>
              <a:srgbClr val="4F46E5"/>
            </a:solidFill>
            <a:prstDash val="solid"/>
          </a:ln>
        </p:spPr>
      </p:sp>
      <p:sp>
        <p:nvSpPr>
          <p:cNvPr id="13" name="Text 11"/>
          <p:cNvSpPr txBox="1"/>
          <p:nvPr/>
        </p:nvSpPr>
        <p:spPr>
          <a:xfrm>
            <a:off x="945379"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1. Prepare knowledge</a:t>
            </a:r>
            <a:endParaRPr lang="en-US" sz="1900" dirty="0"/>
          </a:p>
        </p:txBody>
      </p:sp>
      <p:sp>
        <p:nvSpPr>
          <p:cNvPr id="14" name="Text 12"/>
          <p:cNvSpPr txBox="1"/>
          <p:nvPr/>
        </p:nvSpPr>
        <p:spPr>
          <a:xfrm>
            <a:off x="963667"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Split handbook documents; store vectors and a keyword index</a:t>
            </a:r>
            <a:endParaRPr lang="en-US" sz="1700" dirty="0"/>
          </a:p>
        </p:txBody>
      </p:sp>
      <p:sp>
        <p:nvSpPr>
          <p:cNvPr id="15" name="Text 13"/>
          <p:cNvSpPr txBox="1"/>
          <p:nvPr/>
        </p:nvSpPr>
        <p:spPr>
          <a:xfrm>
            <a:off x="927091"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DOCS, CHUNKS, index, bm25</a:t>
            </a:r>
            <a:endParaRPr lang="en-US" sz="1200" dirty="0"/>
          </a:p>
        </p:txBody>
      </p:sp>
      <p:sp>
        <p:nvSpPr>
          <p:cNvPr id="16" name="Text 14"/>
          <p:cNvSpPr txBox="1"/>
          <p:nvPr/>
        </p:nvSpPr>
        <p:spPr>
          <a:xfrm>
            <a:off x="872227"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stored passages + indexes</a:t>
            </a:r>
            <a:endParaRPr lang="en-US" sz="1500" dirty="0"/>
          </a:p>
        </p:txBody>
      </p:sp>
      <p:sp>
        <p:nvSpPr>
          <p:cNvPr id="17" name="Shape 15"/>
          <p:cNvSpPr/>
          <p:nvPr/>
        </p:nvSpPr>
        <p:spPr>
          <a:xfrm>
            <a:off x="4678228" y="1883664"/>
            <a:ext cx="2835239" cy="1344168"/>
          </a:xfrm>
          <a:prstGeom prst="rect">
            <a:avLst/>
          </a:prstGeom>
          <a:solidFill>
            <a:srgbClr val="F5F3FF"/>
          </a:solidFill>
          <a:ln w="16510">
            <a:solidFill>
              <a:srgbClr val="4F46E5"/>
            </a:solidFill>
            <a:prstDash val="solid"/>
          </a:ln>
        </p:spPr>
      </p:sp>
      <p:sp>
        <p:nvSpPr>
          <p:cNvPr id="18" name="Text 16"/>
          <p:cNvSpPr txBox="1"/>
          <p:nvPr/>
        </p:nvSpPr>
        <p:spPr>
          <a:xfrm>
            <a:off x="4751380"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2. Search prepared index</a:t>
            </a:r>
            <a:endParaRPr lang="en-US" sz="1900" dirty="0"/>
          </a:p>
        </p:txBody>
      </p:sp>
      <p:sp>
        <p:nvSpPr>
          <p:cNvPr id="19" name="Text 17"/>
          <p:cNvSpPr txBox="1"/>
          <p:nvPr/>
        </p:nvSpPr>
        <p:spPr>
          <a:xfrm>
            <a:off x="4769668"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A new question queries the prepared retrieval indexes</a:t>
            </a:r>
            <a:endParaRPr lang="en-US" sz="1700" dirty="0"/>
          </a:p>
        </p:txBody>
      </p:sp>
      <p:sp>
        <p:nvSpPr>
          <p:cNvPr id="20" name="Text 18"/>
          <p:cNvSpPr txBox="1"/>
          <p:nvPr/>
        </p:nvSpPr>
        <p:spPr>
          <a:xfrm>
            <a:off x="4733092"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dense_rank, bm25_rank</a:t>
            </a:r>
            <a:endParaRPr lang="en-US" sz="1200" dirty="0"/>
          </a:p>
        </p:txBody>
      </p:sp>
      <p:sp>
        <p:nvSpPr>
          <p:cNvPr id="21" name="Text 19"/>
          <p:cNvSpPr txBox="1"/>
          <p:nvPr/>
        </p:nvSpPr>
        <p:spPr>
          <a:xfrm>
            <a:off x="4678228"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dense + keyword rankings</a:t>
            </a:r>
            <a:endParaRPr lang="en-US" sz="1500" dirty="0"/>
          </a:p>
        </p:txBody>
      </p:sp>
      <p:sp>
        <p:nvSpPr>
          <p:cNvPr id="22" name="Shape 20"/>
          <p:cNvSpPr/>
          <p:nvPr/>
        </p:nvSpPr>
        <p:spPr>
          <a:xfrm>
            <a:off x="8484229" y="1883664"/>
            <a:ext cx="2835239" cy="1344168"/>
          </a:xfrm>
          <a:prstGeom prst="rect">
            <a:avLst/>
          </a:prstGeom>
          <a:solidFill>
            <a:srgbClr val="F5F3FF"/>
          </a:solidFill>
          <a:ln w="16510">
            <a:solidFill>
              <a:srgbClr val="4F46E5"/>
            </a:solidFill>
            <a:prstDash val="solid"/>
          </a:ln>
        </p:spPr>
      </p:sp>
      <p:sp>
        <p:nvSpPr>
          <p:cNvPr id="23" name="Text 21"/>
          <p:cNvSpPr txBox="1"/>
          <p:nvPr/>
        </p:nvSpPr>
        <p:spPr>
          <a:xfrm>
            <a:off x="8557381"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3. Fuse + re-rank</a:t>
            </a:r>
            <a:endParaRPr lang="en-US" sz="1900" dirty="0"/>
          </a:p>
        </p:txBody>
      </p:sp>
      <p:sp>
        <p:nvSpPr>
          <p:cNvPr id="24" name="Text 22"/>
          <p:cNvSpPr txBox="1"/>
          <p:nvPr/>
        </p:nvSpPr>
        <p:spPr>
          <a:xfrm>
            <a:off x="8575669"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Combine dense and keyword rankings; rescore candidate passages</a:t>
            </a:r>
            <a:endParaRPr lang="en-US" sz="1700" dirty="0"/>
          </a:p>
        </p:txBody>
      </p:sp>
      <p:sp>
        <p:nvSpPr>
          <p:cNvPr id="25" name="Text 23"/>
          <p:cNvSpPr txBox="1"/>
          <p:nvPr/>
        </p:nvSpPr>
        <p:spPr>
          <a:xfrm>
            <a:off x="8539093"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hybrid_rerank</a:t>
            </a:r>
            <a:endParaRPr lang="en-US" sz="1200" dirty="0"/>
          </a:p>
        </p:txBody>
      </p:sp>
      <p:sp>
        <p:nvSpPr>
          <p:cNvPr id="26" name="Text 24"/>
          <p:cNvSpPr txBox="1"/>
          <p:nvPr/>
        </p:nvSpPr>
        <p:spPr>
          <a:xfrm>
            <a:off x="8484229"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selected passages</a:t>
            </a:r>
            <a:endParaRPr lang="en-US" sz="1500" dirty="0"/>
          </a:p>
        </p:txBody>
      </p:sp>
      <p:sp>
        <p:nvSpPr>
          <p:cNvPr id="27" name="Shape 25"/>
          <p:cNvSpPr/>
          <p:nvPr/>
        </p:nvSpPr>
        <p:spPr>
          <a:xfrm>
            <a:off x="8484229" y="3712464"/>
            <a:ext cx="2835239" cy="1344168"/>
          </a:xfrm>
          <a:prstGeom prst="rect">
            <a:avLst/>
          </a:prstGeom>
          <a:solidFill>
            <a:srgbClr val="F5F3FF"/>
          </a:solidFill>
          <a:ln w="16510">
            <a:solidFill>
              <a:srgbClr val="4F46E5"/>
            </a:solidFill>
            <a:prstDash val="solid"/>
          </a:ln>
        </p:spPr>
      </p:sp>
      <p:sp>
        <p:nvSpPr>
          <p:cNvPr id="28" name="Text 26"/>
          <p:cNvSpPr txBox="1"/>
          <p:nvPr/>
        </p:nvSpPr>
        <p:spPr>
          <a:xfrm>
            <a:off x="8557381"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4. Build source prompt</a:t>
            </a:r>
            <a:endParaRPr lang="en-US" sz="1900" dirty="0"/>
          </a:p>
        </p:txBody>
      </p:sp>
      <p:sp>
        <p:nvSpPr>
          <p:cNvPr id="29" name="Text 27"/>
          <p:cNvSpPr txBox="1"/>
          <p:nvPr/>
        </p:nvSpPr>
        <p:spPr>
          <a:xfrm>
            <a:off x="8575669"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Include numbered passages, the question and answer instructions</a:t>
            </a:r>
            <a:endParaRPr lang="en-US" sz="1700" dirty="0"/>
          </a:p>
        </p:txBody>
      </p:sp>
      <p:sp>
        <p:nvSpPr>
          <p:cNvPr id="30" name="Text 28"/>
          <p:cNvSpPr txBox="1"/>
          <p:nvPr/>
        </p:nvSpPr>
        <p:spPr>
          <a:xfrm>
            <a:off x="8539093"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rag_answer</a:t>
            </a:r>
            <a:endParaRPr lang="en-US" sz="1200" dirty="0"/>
          </a:p>
        </p:txBody>
      </p:sp>
      <p:sp>
        <p:nvSpPr>
          <p:cNvPr id="31" name="Text 29"/>
          <p:cNvSpPr txBox="1"/>
          <p:nvPr/>
        </p:nvSpPr>
        <p:spPr>
          <a:xfrm>
            <a:off x="8484229"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sources + question</a:t>
            </a:r>
            <a:endParaRPr lang="en-US" sz="1500" dirty="0"/>
          </a:p>
        </p:txBody>
      </p:sp>
      <p:sp>
        <p:nvSpPr>
          <p:cNvPr id="32" name="Shape 30"/>
          <p:cNvSpPr/>
          <p:nvPr/>
        </p:nvSpPr>
        <p:spPr>
          <a:xfrm>
            <a:off x="4678228" y="3712464"/>
            <a:ext cx="2835239" cy="1344168"/>
          </a:xfrm>
          <a:prstGeom prst="rect">
            <a:avLst/>
          </a:prstGeom>
          <a:solidFill>
            <a:srgbClr val="F5F3FF"/>
          </a:solidFill>
          <a:ln w="16510">
            <a:solidFill>
              <a:srgbClr val="4F46E5"/>
            </a:solidFill>
            <a:prstDash val="solid"/>
          </a:ln>
        </p:spPr>
      </p:sp>
      <p:sp>
        <p:nvSpPr>
          <p:cNvPr id="33" name="Text 31"/>
          <p:cNvSpPr txBox="1"/>
          <p:nvPr/>
        </p:nvSpPr>
        <p:spPr>
          <a:xfrm>
            <a:off x="4751380"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5. Generate response</a:t>
            </a:r>
            <a:endParaRPr lang="en-US" sz="1900" dirty="0"/>
          </a:p>
        </p:txBody>
      </p:sp>
      <p:sp>
        <p:nvSpPr>
          <p:cNvPr id="34" name="Text 32"/>
          <p:cNvSpPr txBox="1"/>
          <p:nvPr/>
        </p:nvSpPr>
        <p:spPr>
          <a:xfrm>
            <a:off x="4769668"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Use supplied sources; request citations or an abstention</a:t>
            </a:r>
            <a:endParaRPr lang="en-US" sz="1700" dirty="0"/>
          </a:p>
        </p:txBody>
      </p:sp>
      <p:sp>
        <p:nvSpPr>
          <p:cNvPr id="35" name="Text 33"/>
          <p:cNvSpPr txBox="1"/>
          <p:nvPr/>
        </p:nvSpPr>
        <p:spPr>
          <a:xfrm>
            <a:off x="4733092"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llm, ANSWER_RULES</a:t>
            </a:r>
            <a:endParaRPr lang="en-US" sz="1200" dirty="0"/>
          </a:p>
        </p:txBody>
      </p:sp>
      <p:sp>
        <p:nvSpPr>
          <p:cNvPr id="36" name="Text 34"/>
          <p:cNvSpPr txBox="1"/>
          <p:nvPr/>
        </p:nvSpPr>
        <p:spPr>
          <a:xfrm>
            <a:off x="4678228"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answer + source identifiers</a:t>
            </a:r>
            <a:endParaRPr lang="en-US" sz="1500" dirty="0"/>
          </a:p>
        </p:txBody>
      </p:sp>
      <p:sp>
        <p:nvSpPr>
          <p:cNvPr id="37" name="Shape 35"/>
          <p:cNvSpPr/>
          <p:nvPr/>
        </p:nvSpPr>
        <p:spPr>
          <a:xfrm>
            <a:off x="872227" y="3712464"/>
            <a:ext cx="2835239" cy="1344168"/>
          </a:xfrm>
          <a:prstGeom prst="rect">
            <a:avLst/>
          </a:prstGeom>
          <a:solidFill>
            <a:srgbClr val="F5F3FF"/>
          </a:solidFill>
          <a:ln w="16510">
            <a:solidFill>
              <a:srgbClr val="4F46E5"/>
            </a:solidFill>
            <a:prstDash val="solid"/>
          </a:ln>
        </p:spPr>
      </p:sp>
      <p:sp>
        <p:nvSpPr>
          <p:cNvPr id="38" name="Text 36"/>
          <p:cNvSpPr txBox="1"/>
          <p:nvPr/>
        </p:nvSpPr>
        <p:spPr>
          <a:xfrm>
            <a:off x="945379"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6. Inspect evidence</a:t>
            </a:r>
            <a:endParaRPr lang="en-US" sz="1900" dirty="0"/>
          </a:p>
        </p:txBody>
      </p:sp>
      <p:sp>
        <p:nvSpPr>
          <p:cNvPr id="39" name="Text 37"/>
          <p:cNvSpPr txBox="1"/>
          <p:nvPr/>
        </p:nvSpPr>
        <p:spPr>
          <a:xfrm>
            <a:off x="963667"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Check answer correctness, citations and unsupported claims</a:t>
            </a:r>
            <a:endParaRPr lang="en-US" sz="1700" dirty="0"/>
          </a:p>
        </p:txBody>
      </p:sp>
      <p:sp>
        <p:nvSpPr>
          <p:cNvPr id="40" name="Text 38"/>
          <p:cNvSpPr txBox="1"/>
          <p:nvPr/>
        </p:nvSpPr>
        <p:spPr>
          <a:xfrm>
            <a:off x="927091"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rag_df, numbers_supported</a:t>
            </a:r>
            <a:endParaRPr lang="en-US" sz="1200" dirty="0"/>
          </a:p>
        </p:txBody>
      </p:sp>
      <p:sp>
        <p:nvSpPr>
          <p:cNvPr id="41" name="Text 39"/>
          <p:cNvSpPr txBox="1"/>
          <p:nvPr/>
        </p:nvSpPr>
        <p:spPr>
          <a:xfrm>
            <a:off x="548640" y="5715000"/>
            <a:ext cx="11094415" cy="548640"/>
          </a:xfrm>
          <a:prstGeom prst="rect">
            <a:avLst/>
          </a:prstGeom>
          <a:noFill/>
          <a:ln/>
        </p:spPr>
        <p:txBody>
          <a:bodyPr wrap="square" lIns="0" tIns="0" rIns="0" bIns="0" rtlCol="0" anchor="t"/>
          <a:lstStyle/>
          <a:p>
            <a:pPr indent="0" marL="0">
              <a:buNone/>
            </a:pPr>
            <a:r>
              <a:rPr lang="en-US" sz="1700" dirty="0">
                <a:solidFill>
                  <a:srgbClr val="1F2937"/>
                </a:solidFill>
                <a:latin typeface="Calibri" pitchFamily="34" charset="0"/>
                <a:ea typeface="Calibri" pitchFamily="34" charset="-122"/>
                <a:cs typeface="Calibri" pitchFamily="34" charset="-120"/>
              </a:rPr>
              <a:t>Check: If the correct passage was retrieved but the model gives the wrong number, which stage failed?</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LLM limitations that retrieval addresses</a:t>
            </a:r>
            <a:endParaRPr lang="en-US" sz="3200" dirty="0"/>
          </a:p>
        </p:txBody>
      </p:sp>
      <p:sp>
        <p:nvSpPr>
          <p:cNvPr id="6" name="Shape 4"/>
          <p:cNvSpPr/>
          <p:nvPr/>
        </p:nvSpPr>
        <p:spPr>
          <a:xfrm>
            <a:off x="548640" y="1481328"/>
            <a:ext cx="541004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444992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Static knowledge</a:t>
            </a:r>
            <a:endParaRPr lang="en-US" sz="1900" dirty="0"/>
          </a:p>
        </p:txBody>
      </p:sp>
      <p:sp>
        <p:nvSpPr>
          <p:cNvPr id="10" name="Text 7"/>
          <p:cNvSpPr txBox="1"/>
          <p:nvPr/>
        </p:nvSpPr>
        <p:spPr>
          <a:xfrm>
            <a:off x="731520" y="2304288"/>
            <a:ext cx="504428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Knowledge stops at the training cut-off; prices, rules and news change.</a:t>
            </a:r>
            <a:endParaRPr lang="en-US" sz="1900" dirty="0"/>
          </a:p>
        </p:txBody>
      </p:sp>
      <p:sp>
        <p:nvSpPr>
          <p:cNvPr id="11" name="Shape 8"/>
          <p:cNvSpPr/>
          <p:nvPr/>
        </p:nvSpPr>
        <p:spPr>
          <a:xfrm>
            <a:off x="6233008" y="1481328"/>
            <a:ext cx="541004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641588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6547561" y="1795882"/>
            <a:ext cx="285293" cy="285293"/>
          </a:xfrm>
          <a:prstGeom prst="rect">
            <a:avLst/>
          </a:prstGeom>
        </p:spPr>
      </p:pic>
      <p:sp>
        <p:nvSpPr>
          <p:cNvPr id="14" name="Text 10"/>
          <p:cNvSpPr txBox="1"/>
          <p:nvPr/>
        </p:nvSpPr>
        <p:spPr>
          <a:xfrm>
            <a:off x="7055968" y="1645920"/>
            <a:ext cx="444992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Hallucination</a:t>
            </a:r>
            <a:endParaRPr lang="en-US" sz="1900" dirty="0"/>
          </a:p>
        </p:txBody>
      </p:sp>
      <p:sp>
        <p:nvSpPr>
          <p:cNvPr id="15" name="Text 11"/>
          <p:cNvSpPr txBox="1"/>
          <p:nvPr/>
        </p:nvSpPr>
        <p:spPr>
          <a:xfrm>
            <a:off x="6415888" y="2304288"/>
            <a:ext cx="504428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Fluent, confident answers that are not supported by any source.</a:t>
            </a:r>
            <a:endParaRPr lang="en-US" sz="1900" dirty="0"/>
          </a:p>
        </p:txBody>
      </p:sp>
      <p:sp>
        <p:nvSpPr>
          <p:cNvPr id="16" name="Shape 12"/>
          <p:cNvSpPr/>
          <p:nvPr/>
        </p:nvSpPr>
        <p:spPr>
          <a:xfrm>
            <a:off x="548640" y="4032504"/>
            <a:ext cx="541004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731520" y="4215384"/>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63194" y="4347058"/>
            <a:ext cx="285293" cy="285293"/>
          </a:xfrm>
          <a:prstGeom prst="rect">
            <a:avLst/>
          </a:prstGeom>
        </p:spPr>
      </p:pic>
      <p:sp>
        <p:nvSpPr>
          <p:cNvPr id="19" name="Text 14"/>
          <p:cNvSpPr txBox="1"/>
          <p:nvPr/>
        </p:nvSpPr>
        <p:spPr>
          <a:xfrm>
            <a:off x="1371600" y="4197096"/>
            <a:ext cx="444992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No private data</a:t>
            </a:r>
            <a:endParaRPr lang="en-US" sz="1900" dirty="0"/>
          </a:p>
        </p:txBody>
      </p:sp>
      <p:sp>
        <p:nvSpPr>
          <p:cNvPr id="20" name="Text 15"/>
          <p:cNvSpPr txBox="1"/>
          <p:nvPr/>
        </p:nvSpPr>
        <p:spPr>
          <a:xfrm>
            <a:off x="731520" y="4855464"/>
            <a:ext cx="504428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Company documents, course handbooks and records were never in the training data.</a:t>
            </a:r>
            <a:endParaRPr lang="en-US" sz="1900" dirty="0"/>
          </a:p>
        </p:txBody>
      </p:sp>
      <p:sp>
        <p:nvSpPr>
          <p:cNvPr id="21" name="Shape 16"/>
          <p:cNvSpPr/>
          <p:nvPr/>
        </p:nvSpPr>
        <p:spPr>
          <a:xfrm>
            <a:off x="6233008" y="4032504"/>
            <a:ext cx="541004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6415888"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6547561" y="4347058"/>
            <a:ext cx="285293" cy="285293"/>
          </a:xfrm>
          <a:prstGeom prst="rect">
            <a:avLst/>
          </a:prstGeom>
        </p:spPr>
      </p:pic>
      <p:sp>
        <p:nvSpPr>
          <p:cNvPr id="24" name="Text 18"/>
          <p:cNvSpPr txBox="1"/>
          <p:nvPr/>
        </p:nvSpPr>
        <p:spPr>
          <a:xfrm>
            <a:off x="7055968" y="4197096"/>
            <a:ext cx="444992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No citations</a:t>
            </a:r>
            <a:endParaRPr lang="en-US" sz="1900" dirty="0"/>
          </a:p>
        </p:txBody>
      </p:sp>
      <p:sp>
        <p:nvSpPr>
          <p:cNvPr id="25" name="Text 19"/>
          <p:cNvSpPr txBox="1"/>
          <p:nvPr/>
        </p:nvSpPr>
        <p:spPr>
          <a:xfrm>
            <a:off x="6415888" y="4855464"/>
            <a:ext cx="504428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Answers from memory cannot point to evidence, so users cannot verify them.</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RAG, fine-tuning or long context?</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1537840"/>
                <a:gridCol w="3405217"/>
                <a:gridCol w="2636297"/>
                <a:gridCol w="3515062"/>
              </a:tblGrid>
              <a:tr h="0">
                <a:tc>
                  <a:txBody>
                    <a:bodyPr/>
                    <a:lstStyle/>
                    <a:p>
                      <a:pPr indent="0" marL="0">
                        <a:buNone/>
                      </a:pP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RAG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Fine-tuning (week 8)</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Long context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Adds knowledge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Yes, updated by re-indexing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Poorly; hard to update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Yes, for what fits in the window</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Citations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Yes: retrieved passages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Possible, harder to check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Cost per query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Low: only top-k passages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Low once trained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High: every token every time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Access control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Per document, at retrieval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Mixed into weights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Per request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Best for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Large, changing knowledge bases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Behaviour, format, style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 few long documents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RAG pipeline</a:t>
            </a:r>
            <a:endParaRPr lang="en-US" sz="3200" dirty="0"/>
          </a:p>
        </p:txBody>
      </p:sp>
      <p:pic>
        <p:nvPicPr>
          <p:cNvPr id="6" name="Image 0" descr="C:\Users\sudee\Downloads\Generative_AI_2027_Teaching_Pack\AI2027_Project\build\figures\week_12\rag_pipeline.png">    </p:cNvPr>
          <p:cNvPicPr>
            <a:picLocks noChangeAspect="1"/>
          </p:cNvPicPr>
          <p:nvPr/>
        </p:nvPicPr>
        <p:blipFill>
          <a:blip r:embed="rId1"/>
          <a:stretch>
            <a:fillRect/>
          </a:stretch>
        </p:blipFill>
        <p:spPr>
          <a:xfrm>
            <a:off x="548640" y="1596260"/>
            <a:ext cx="11094415" cy="459816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A company's HR policies change every month. Staff need answers with links to the exact policy. Which approach fits best?</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Fine-tune a model on the policies every month</a:t>
            </a:r>
            <a:endParaRPr lang="en-US" sz="18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RAG over the policy documents, re-indexed when they change, with citations</a:t>
            </a:r>
            <a:endParaRPr lang="en-US" sz="18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Rely on a frontier model's general knowledge</a:t>
            </a:r>
            <a:endParaRPr lang="en-US" sz="18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Paste all policies into every prompt</a:t>
            </a:r>
            <a:endParaRPr lang="en-US" sz="18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300" i="1" dirty="0">
                <a:solidFill>
                  <a:srgbClr val="6B7280"/>
                </a:solidFill>
                <a:latin typeface="Calibri" pitchFamily="34" charset="0"/>
                <a:ea typeface="Calibri" pitchFamily="34" charset="-122"/>
                <a:cs typeface="Calibri" pitchFamily="34" charset="-120"/>
              </a:rPr>
              <a:t>Vote, then convince your neighbour (1 minute).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02</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100" b="1" dirty="0">
                <a:solidFill>
                  <a:srgbClr val="FFFFFF"/>
                </a:solidFill>
                <a:latin typeface="Calibri" pitchFamily="34" charset="0"/>
                <a:ea typeface="Calibri" pitchFamily="34" charset="-122"/>
                <a:cs typeface="Calibri" pitchFamily="34" charset="-120"/>
              </a:rPr>
              <a:t>Embeddings, chunking and vector databases</a:t>
            </a:r>
            <a:endParaRPr lang="en-US" sz="41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do we find the right passage among millions?</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Text embeddings for retrieval</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An </a:t>
            </a:r>
            <a:pPr indent="0" marL="0">
              <a:buNone/>
            </a:pPr>
            <a:r>
              <a:rPr lang="en-US" sz="2200" b="1" dirty="0">
                <a:solidFill>
                  <a:srgbClr val="1F2937"/>
                </a:solidFill>
                <a:latin typeface="Calibri" pitchFamily="34" charset="0"/>
                <a:ea typeface="Calibri" pitchFamily="34" charset="-122"/>
                <a:cs typeface="Calibri" pitchFamily="34" charset="-120"/>
              </a:rPr>
              <a:t>embedding model</a:t>
            </a:r>
            <a:pPr indent="0" marL="0">
              <a:buNone/>
            </a:pPr>
            <a:r>
              <a:rPr lang="en-US" sz="2200" dirty="0">
                <a:solidFill>
                  <a:srgbClr val="1F2937"/>
                </a:solidFill>
                <a:latin typeface="Calibri" pitchFamily="34" charset="0"/>
                <a:ea typeface="Calibri" pitchFamily="34" charset="-122"/>
                <a:cs typeface="Calibri" pitchFamily="34" charset="-120"/>
              </a:rPr>
              <a:t> maps text to a vector; similar meaning → nearby vectors (weeks 6 and 9).</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Similarity = </a:t>
            </a:r>
            <a:pPr indent="0" marL="0">
              <a:buNone/>
            </a:pPr>
            <a:r>
              <a:rPr lang="en-US" sz="2200" b="1" dirty="0">
                <a:solidFill>
                  <a:srgbClr val="1F2937"/>
                </a:solidFill>
                <a:latin typeface="Calibri" pitchFamily="34" charset="0"/>
                <a:ea typeface="Calibri" pitchFamily="34" charset="-122"/>
                <a:cs typeface="Calibri" pitchFamily="34" charset="-120"/>
              </a:rPr>
              <a:t>cosine</a:t>
            </a:r>
            <a:pPr indent="0" marL="0">
              <a:buNone/>
            </a:pPr>
            <a:r>
              <a:rPr lang="en-US" sz="2200" dirty="0">
                <a:solidFill>
                  <a:srgbClr val="1F2937"/>
                </a:solidFill>
                <a:latin typeface="Calibri" pitchFamily="34" charset="0"/>
                <a:ea typeface="Calibri" pitchFamily="34" charset="-122"/>
                <a:cs typeface="Calibri" pitchFamily="34" charset="-120"/>
              </a:rPr>
              <a:t> of normalised vectors; retrieval = nearest neighbours of the question vector.</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Retrieval models are </a:t>
            </a:r>
            <a:pPr indent="0" marL="0">
              <a:buNone/>
            </a:pPr>
            <a:r>
              <a:rPr lang="en-US" sz="2200" b="1" dirty="0">
                <a:solidFill>
                  <a:srgbClr val="1F2937"/>
                </a:solidFill>
                <a:latin typeface="Calibri" pitchFamily="34" charset="0"/>
                <a:ea typeface="Calibri" pitchFamily="34" charset="-122"/>
                <a:cs typeface="Calibri" pitchFamily="34" charset="-120"/>
              </a:rPr>
              <a:t>bi-encoders</a:t>
            </a:r>
            <a:pPr indent="0" marL="0">
              <a:buNone/>
            </a:pPr>
            <a:r>
              <a:rPr lang="en-US" sz="2200" dirty="0">
                <a:solidFill>
                  <a:srgbClr val="1F2937"/>
                </a:solidFill>
                <a:latin typeface="Calibri" pitchFamily="34" charset="0"/>
                <a:ea typeface="Calibri" pitchFamily="34" charset="-122"/>
                <a:cs typeface="Calibri" pitchFamily="34" charset="-120"/>
              </a:rPr>
              <a:t> trained contrastively on question–passage pairs (e.g. BGE, E5, GTE; OpenAI, Gemini and Cohere embedding APIs).</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Choose by benchmark (</a:t>
            </a:r>
            <a:pPr indent="0" marL="0">
              <a:buNone/>
            </a:pPr>
            <a:r>
              <a:rPr lang="en-US" sz="2200" b="1" dirty="0">
                <a:solidFill>
                  <a:srgbClr val="1F2937"/>
                </a:solidFill>
                <a:latin typeface="Calibri" pitchFamily="34" charset="0"/>
                <a:ea typeface="Calibri" pitchFamily="34" charset="-122"/>
                <a:cs typeface="Calibri" pitchFamily="34" charset="-120"/>
              </a:rPr>
              <a:t>MTEB</a:t>
            </a:r>
            <a:pPr indent="0" marL="0">
              <a:buNone/>
            </a:pPr>
            <a:r>
              <a:rPr lang="en-US" sz="2200" dirty="0">
                <a:solidFill>
                  <a:srgbClr val="1F2937"/>
                </a:solidFill>
                <a:latin typeface="Calibri" pitchFamily="34" charset="0"/>
                <a:ea typeface="Calibri" pitchFamily="34" charset="-122"/>
                <a:cs typeface="Calibri" pitchFamily="34" charset="-120"/>
              </a:rPr>
              <a:t>), language, domain, dimension and licence; re-index everything if you change model.</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Chunking: splitting documents into retrievable pieces</a:t>
            </a:r>
            <a:endParaRPr lang="en-US" sz="3200" dirty="0"/>
          </a:p>
        </p:txBody>
      </p:sp>
      <p:pic>
        <p:nvPicPr>
          <p:cNvPr id="6" name="Image 0" descr="C:\Users\sudee\Downloads\Generative_AI_2027_Teaching_Pack\AI2027_Project\build\figures\week_12\chunking.png">    </p:cNvPr>
          <p:cNvPicPr>
            <a:picLocks noChangeAspect="1"/>
          </p:cNvPicPr>
          <p:nvPr/>
        </p:nvPicPr>
        <p:blipFill>
          <a:blip r:embed="rId1"/>
          <a:stretch>
            <a:fillRect/>
          </a:stretch>
        </p:blipFill>
        <p:spPr>
          <a:xfrm>
            <a:off x="548640" y="1578392"/>
            <a:ext cx="11094415" cy="3282878"/>
          </a:xfrm>
          <a:prstGeom prst="rect">
            <a:avLst/>
          </a:prstGeom>
        </p:spPr>
      </p:pic>
      <p:sp>
        <p:nvSpPr>
          <p:cNvPr id="7" name="Text 4"/>
          <p:cNvSpPr txBox="1"/>
          <p:nvPr/>
        </p:nvSpPr>
        <p:spPr>
          <a:xfrm>
            <a:off x="548640" y="5044150"/>
            <a:ext cx="11094415" cy="1265210"/>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Too large: diluted embeddings, wasted context. Too small: missing context.</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Split on structure (headings, paragraphs) where possible; keep </a:t>
            </a:r>
            <a:pPr indent="0" marL="0">
              <a:buNone/>
            </a:pPr>
            <a:r>
              <a:rPr lang="en-US" sz="2000" b="1" dirty="0">
                <a:solidFill>
                  <a:srgbClr val="1F2937"/>
                </a:solidFill>
                <a:latin typeface="Calibri" pitchFamily="34" charset="0"/>
                <a:ea typeface="Calibri" pitchFamily="34" charset="-122"/>
                <a:cs typeface="Calibri" pitchFamily="34" charset="-120"/>
              </a:rPr>
              <a:t>metadata</a:t>
            </a:r>
            <a:pPr indent="0" marL="0">
              <a:buNone/>
            </a:pPr>
            <a:r>
              <a:rPr lang="en-US" sz="2000" dirty="0">
                <a:solidFill>
                  <a:srgbClr val="1F2937"/>
                </a:solidFill>
                <a:latin typeface="Calibri" pitchFamily="34" charset="0"/>
                <a:ea typeface="Calibri" pitchFamily="34" charset="-122"/>
                <a:cs typeface="Calibri" pitchFamily="34" charset="-120"/>
              </a:rPr>
              <a:t> (source, section, date, access level).</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Where to store vectors</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3607940"/>
                <a:gridCol w="3066749"/>
                <a:gridCol w="4419726"/>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Option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Type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Typical use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FAISS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Library (in-process)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Fast search in notebooks and prototypes (the lab)</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Chroma</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Lightweight vector database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Local apps with metadata filters (the lab)</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pgvector (PostgreSQL)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Extension to a relational database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Keep vectors next to existing business data</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Qdrant, Weaviate, Milvus, Pinecone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Dedicated vector databases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Large scale, hybrid search, multi-tenant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Azure AI Search, Vertex AI Vector Search</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Managed cloud search</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Enterprise RAG with security integration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Searching millions of vectors quickly</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Exact search compares the query with every vector: fine for thousands, slow for billions.</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Approximate nearest neighbour (ANN)</a:t>
            </a:r>
            <a:pPr indent="0" marL="0">
              <a:buNone/>
            </a:pPr>
            <a:r>
              <a:rPr lang="en-US" sz="2200" dirty="0">
                <a:solidFill>
                  <a:srgbClr val="1F2937"/>
                </a:solidFill>
                <a:latin typeface="Calibri" pitchFamily="34" charset="0"/>
                <a:ea typeface="Calibri" pitchFamily="34" charset="-122"/>
                <a:cs typeface="Calibri" pitchFamily="34" charset="-120"/>
              </a:rPr>
              <a:t> indexes trade a little recall for large speed-ups: </a:t>
            </a:r>
            <a:pPr indent="0" marL="0">
              <a:buNone/>
            </a:pPr>
            <a:r>
              <a:rPr lang="en-US" sz="2200" b="1" dirty="0">
                <a:solidFill>
                  <a:srgbClr val="1F2937"/>
                </a:solidFill>
                <a:latin typeface="Calibri" pitchFamily="34" charset="0"/>
                <a:ea typeface="Calibri" pitchFamily="34" charset="-122"/>
                <a:cs typeface="Calibri" pitchFamily="34" charset="-120"/>
              </a:rPr>
              <a:t>HNSW</a:t>
            </a:r>
            <a:pPr indent="0" marL="0">
              <a:buNone/>
            </a:pPr>
            <a:r>
              <a:rPr lang="en-US" sz="2200" dirty="0">
                <a:solidFill>
                  <a:srgbClr val="1F2937"/>
                </a:solidFill>
                <a:latin typeface="Calibri" pitchFamily="34" charset="0"/>
                <a:ea typeface="Calibri" pitchFamily="34" charset="-122"/>
                <a:cs typeface="Calibri" pitchFamily="34" charset="-120"/>
              </a:rPr>
              <a:t> graphs, </a:t>
            </a:r>
            <a:pPr indent="0" marL="0">
              <a:buNone/>
            </a:pPr>
            <a:r>
              <a:rPr lang="en-US" sz="2200" b="1" dirty="0">
                <a:solidFill>
                  <a:srgbClr val="1F2937"/>
                </a:solidFill>
                <a:latin typeface="Calibri" pitchFamily="34" charset="0"/>
                <a:ea typeface="Calibri" pitchFamily="34" charset="-122"/>
                <a:cs typeface="Calibri" pitchFamily="34" charset="-120"/>
              </a:rPr>
              <a:t>IVF</a:t>
            </a:r>
            <a:pPr indent="0" marL="0">
              <a:buNone/>
            </a:pPr>
            <a:r>
              <a:rPr lang="en-US" sz="2200" dirty="0">
                <a:solidFill>
                  <a:srgbClr val="1F2937"/>
                </a:solidFill>
                <a:latin typeface="Calibri" pitchFamily="34" charset="0"/>
                <a:ea typeface="Calibri" pitchFamily="34" charset="-122"/>
                <a:cs typeface="Calibri" pitchFamily="34" charset="-120"/>
              </a:rPr>
              <a:t> clustering, </a:t>
            </a:r>
            <a:pPr indent="0" marL="0">
              <a:buNone/>
            </a:pPr>
            <a:r>
              <a:rPr lang="en-US" sz="2200" b="1" dirty="0">
                <a:solidFill>
                  <a:srgbClr val="1F2937"/>
                </a:solidFill>
                <a:latin typeface="Calibri" pitchFamily="34" charset="0"/>
                <a:ea typeface="Calibri" pitchFamily="34" charset="-122"/>
                <a:cs typeface="Calibri" pitchFamily="34" charset="-120"/>
              </a:rPr>
              <a:t>product quantisation</a:t>
            </a:r>
            <a:pPr indent="0" marL="0">
              <a:buNone/>
            </a:pPr>
            <a:r>
              <a:rPr lang="en-US" sz="2200" dirty="0">
                <a:solidFill>
                  <a:srgbClr val="1F2937"/>
                </a:solidFill>
                <a:latin typeface="Calibri" pitchFamily="34" charset="0"/>
                <a:ea typeface="Calibri" pitchFamily="34" charset="-122"/>
                <a:cs typeface="Calibri" pitchFamily="34" charset="-120"/>
              </a:rPr>
              <a:t>.</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Metadata filters</a:t>
            </a:r>
            <a:pPr indent="0" marL="0">
              <a:buNone/>
            </a:pPr>
            <a:r>
              <a:rPr lang="en-US" sz="2200" dirty="0">
                <a:solidFill>
                  <a:srgbClr val="1F2937"/>
                </a:solidFill>
                <a:latin typeface="Calibri" pitchFamily="34" charset="0"/>
                <a:ea typeface="Calibri" pitchFamily="34" charset="-122"/>
                <a:cs typeface="Calibri" pitchFamily="34" charset="-120"/>
              </a:rPr>
              <a:t> restrict search to allowed documents: date, department, user permissions.</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Access control belongs in retrieval: never retrieve what the user may not see.</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03</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Retrieval, advanced RAG and evaluation</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do we retrieve well, answer faithfully and prove it?</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Dense vs. keyword retrieval</a:t>
            </a:r>
            <a:endParaRPr lang="en-US" sz="3200" dirty="0"/>
          </a:p>
        </p:txBody>
      </p:sp>
      <p:sp>
        <p:nvSpPr>
          <p:cNvPr id="6" name="Shape 4"/>
          <p:cNvSpPr/>
          <p:nvPr/>
        </p:nvSpPr>
        <p:spPr>
          <a:xfrm>
            <a:off x="548640" y="1481328"/>
            <a:ext cx="5410048" cy="566928"/>
          </a:xfrm>
          <a:prstGeom prst="roundRect">
            <a:avLst>
              <a:gd name="adj" fmla="val 16129"/>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713232" y="1591056"/>
            <a:ext cx="347472" cy="347472"/>
          </a:xfrm>
          <a:prstGeom prst="rect">
            <a:avLst/>
          </a:prstGeom>
        </p:spPr>
      </p:pic>
      <p:sp>
        <p:nvSpPr>
          <p:cNvPr id="8" name="Text 5"/>
          <p:cNvSpPr txBox="1"/>
          <p:nvPr/>
        </p:nvSpPr>
        <p:spPr>
          <a:xfrm>
            <a:off x="1143000"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Dense (embeddings)</a:t>
            </a:r>
            <a:endParaRPr lang="en-US" sz="1800" dirty="0"/>
          </a:p>
        </p:txBody>
      </p:sp>
      <p:sp>
        <p:nvSpPr>
          <p:cNvPr id="9" name="Shape 6"/>
          <p:cNvSpPr/>
          <p:nvPr/>
        </p:nvSpPr>
        <p:spPr>
          <a:xfrm>
            <a:off x="548640" y="2167128"/>
            <a:ext cx="5410048" cy="3182112"/>
          </a:xfrm>
          <a:prstGeom prst="roundRect">
            <a:avLst>
              <a:gd name="adj" fmla="val 2874"/>
            </a:avLst>
          </a:prstGeom>
          <a:solidFill>
            <a:srgbClr val="EEF0FF"/>
          </a:solidFill>
          <a:ln w="12700">
            <a:solidFill>
              <a:srgbClr val="EEF0FF"/>
            </a:solidFill>
            <a:prstDash val="solid"/>
          </a:ln>
        </p:spPr>
      </p:sp>
      <p:sp>
        <p:nvSpPr>
          <p:cNvPr id="10" name="Text 7"/>
          <p:cNvSpPr txBox="1"/>
          <p:nvPr/>
        </p:nvSpPr>
        <p:spPr>
          <a:xfrm>
            <a:off x="658368" y="2258568"/>
            <a:ext cx="519059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Matches </a:t>
            </a:r>
            <a:pPr indent="0" marL="0">
              <a:buNone/>
            </a:pPr>
            <a:r>
              <a:rPr lang="en-US" sz="2000" b="1" dirty="0">
                <a:solidFill>
                  <a:srgbClr val="1F2937"/>
                </a:solidFill>
                <a:latin typeface="Calibri" pitchFamily="34" charset="0"/>
                <a:ea typeface="Calibri" pitchFamily="34" charset="-122"/>
                <a:cs typeface="Calibri" pitchFamily="34" charset="-120"/>
              </a:rPr>
              <a:t>meaning</a:t>
            </a:r>
            <a:pPr indent="0" marL="0">
              <a:buNone/>
            </a:pPr>
            <a:r>
              <a:rPr lang="en-US" sz="2000" dirty="0">
                <a:solidFill>
                  <a:srgbClr val="1F2937"/>
                </a:solidFill>
                <a:latin typeface="Calibri" pitchFamily="34" charset="0"/>
                <a:ea typeface="Calibri" pitchFamily="34" charset="-122"/>
                <a:cs typeface="Calibri" pitchFamily="34" charset="-120"/>
              </a:rPr>
              <a:t>: 'hand in after the deadline' ↔ 'late submission'</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Handles paraphrases and other wordings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Weaker on exact codes, names, rare terms</a:t>
            </a:r>
            <a:endParaRPr lang="en-US" sz="2000" dirty="0"/>
          </a:p>
        </p:txBody>
      </p:sp>
      <p:sp>
        <p:nvSpPr>
          <p:cNvPr id="11" name="Shape 8"/>
          <p:cNvSpPr/>
          <p:nvPr/>
        </p:nvSpPr>
        <p:spPr>
          <a:xfrm>
            <a:off x="6233008" y="1481328"/>
            <a:ext cx="5410048" cy="566928"/>
          </a:xfrm>
          <a:prstGeom prst="roundRect">
            <a:avLst>
              <a:gd name="adj" fmla="val 16129"/>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6397600" y="1591056"/>
            <a:ext cx="347472" cy="347472"/>
          </a:xfrm>
          <a:prstGeom prst="rect">
            <a:avLst/>
          </a:prstGeom>
        </p:spPr>
      </p:pic>
      <p:sp>
        <p:nvSpPr>
          <p:cNvPr id="13" name="Text 9"/>
          <p:cNvSpPr txBox="1"/>
          <p:nvPr/>
        </p:nvSpPr>
        <p:spPr>
          <a:xfrm>
            <a:off x="6827368"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Keyword (BM25)</a:t>
            </a:r>
            <a:endParaRPr lang="en-US" sz="1800" dirty="0"/>
          </a:p>
        </p:txBody>
      </p:sp>
      <p:sp>
        <p:nvSpPr>
          <p:cNvPr id="14" name="Shape 10"/>
          <p:cNvSpPr/>
          <p:nvPr/>
        </p:nvSpPr>
        <p:spPr>
          <a:xfrm>
            <a:off x="6233008" y="2167128"/>
            <a:ext cx="5410048" cy="3182112"/>
          </a:xfrm>
          <a:prstGeom prst="roundRect">
            <a:avLst>
              <a:gd name="adj" fmla="val 2874"/>
            </a:avLst>
          </a:prstGeom>
          <a:solidFill>
            <a:srgbClr val="E6F4F1"/>
          </a:solidFill>
          <a:ln w="12700">
            <a:solidFill>
              <a:srgbClr val="E6F4F1"/>
            </a:solidFill>
            <a:prstDash val="solid"/>
          </a:ln>
        </p:spPr>
      </p:sp>
      <p:sp>
        <p:nvSpPr>
          <p:cNvPr id="15" name="Text 11"/>
          <p:cNvSpPr txBox="1"/>
          <p:nvPr/>
        </p:nvSpPr>
        <p:spPr>
          <a:xfrm>
            <a:off x="6342736" y="2258568"/>
            <a:ext cx="519059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Matches </a:t>
            </a:r>
            <a:pPr indent="0" marL="0">
              <a:buNone/>
            </a:pPr>
            <a:r>
              <a:rPr lang="en-US" sz="2000" b="1" dirty="0">
                <a:solidFill>
                  <a:srgbClr val="1F2937"/>
                </a:solidFill>
                <a:latin typeface="Calibri" pitchFamily="34" charset="0"/>
                <a:ea typeface="Calibri" pitchFamily="34" charset="-122"/>
                <a:cs typeface="Calibri" pitchFamily="34" charset="-120"/>
              </a:rPr>
              <a:t>words</a:t>
            </a:r>
            <a:pPr indent="0" marL="0">
              <a:buNone/>
            </a:pPr>
            <a:r>
              <a:rPr lang="en-US" sz="2000" dirty="0">
                <a:solidFill>
                  <a:srgbClr val="1F2937"/>
                </a:solidFill>
                <a:latin typeface="Calibri" pitchFamily="34" charset="0"/>
                <a:ea typeface="Calibri" pitchFamily="34" charset="-122"/>
                <a:cs typeface="Calibri" pitchFamily="34" charset="-120"/>
              </a:rPr>
              <a:t>, weighted by rarity (TF-IDF family)</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Excellent for codes, IDs, names ('GAI-5011')</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Misses synonyms and paraphrases</a:t>
            </a:r>
            <a:endParaRPr lang="en-US" sz="2000" dirty="0"/>
          </a:p>
        </p:txBody>
      </p:sp>
      <p:sp>
        <p:nvSpPr>
          <p:cNvPr id="16" name="Shape 12"/>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17" name="Text 13"/>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1800" b="1" dirty="0">
                <a:solidFill>
                  <a:srgbClr val="EA580C"/>
                </a:solidFill>
                <a:latin typeface="Calibri" pitchFamily="34" charset="0"/>
                <a:ea typeface="Calibri" pitchFamily="34" charset="-122"/>
                <a:cs typeface="Calibri" pitchFamily="34" charset="-120"/>
              </a:rPr>
              <a:t>Key idea:  </a:t>
            </a:r>
            <a:pPr indent="0" marL="0">
              <a:buNone/>
            </a:pPr>
            <a:r>
              <a:rPr lang="en-US" sz="1800" dirty="0">
                <a:solidFill>
                  <a:srgbClr val="1F2937"/>
                </a:solidFill>
                <a:latin typeface="Calibri" pitchFamily="34" charset="0"/>
                <a:ea typeface="Calibri" pitchFamily="34" charset="-122"/>
                <a:cs typeface="Calibri" pitchFamily="34" charset="-120"/>
              </a:rPr>
              <a:t>Hybrid search combines both and is the default in most production RAG systems.</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Fusing rankings and measuring retrieval</a:t>
            </a:r>
            <a:endParaRPr lang="en-US" sz="3200" dirty="0"/>
          </a:p>
        </p:txBody>
      </p:sp>
      <p:sp>
        <p:nvSpPr>
          <p:cNvPr id="6" name="Shape 4"/>
          <p:cNvSpPr/>
          <p:nvPr/>
        </p:nvSpPr>
        <p:spPr>
          <a:xfrm>
            <a:off x="548640" y="1481328"/>
            <a:ext cx="11094415" cy="2194560"/>
          </a:xfrm>
          <a:prstGeom prst="roundRect">
            <a:avLst>
              <a:gd name="adj" fmla="val 5000"/>
            </a:avLst>
          </a:prstGeom>
          <a:solidFill>
            <a:srgbClr val="EEF0FF"/>
          </a:solidFill>
          <a:ln w="12700">
            <a:solidFill>
              <a:srgbClr val="EEF0FF"/>
            </a:solidFill>
            <a:prstDash val="solid"/>
          </a:ln>
        </p:spPr>
      </p:sp>
      <p:pic>
        <p:nvPicPr>
          <p:cNvPr id="7" name="Image 0" descr="C:\Users\sudee\Downloads\Generative_AI_2027_Teaching_Pack\AI2027_Project\build\eq\3450a2df5abf445c.png">    </p:cNvPr>
          <p:cNvPicPr>
            <a:picLocks noChangeAspect="1"/>
          </p:cNvPicPr>
          <p:nvPr/>
        </p:nvPicPr>
        <p:blipFill>
          <a:blip r:embed="rId1"/>
          <a:stretch>
            <a:fillRect/>
          </a:stretch>
        </p:blipFill>
        <p:spPr>
          <a:xfrm>
            <a:off x="3462376" y="1704848"/>
            <a:ext cx="5266944" cy="749808"/>
          </a:xfrm>
          <a:prstGeom prst="rect">
            <a:avLst/>
          </a:prstGeom>
        </p:spPr>
      </p:pic>
      <p:pic>
        <p:nvPicPr>
          <p:cNvPr id="8" name="Image 1" descr="C:\Users\sudee\Downloads\Generative_AI_2027_Teaching_Pack\AI2027_Project\build\eq\c21a9f32ff62ae41.png">    </p:cNvPr>
          <p:cNvPicPr>
            <a:picLocks noChangeAspect="1"/>
          </p:cNvPicPr>
          <p:nvPr/>
        </p:nvPicPr>
        <p:blipFill>
          <a:blip r:embed="rId2"/>
          <a:stretch>
            <a:fillRect/>
          </a:stretch>
        </p:blipFill>
        <p:spPr>
          <a:xfrm>
            <a:off x="822960" y="2635525"/>
            <a:ext cx="10545775" cy="813773"/>
          </a:xfrm>
          <a:prstGeom prst="rect">
            <a:avLst/>
          </a:prstGeom>
        </p:spPr>
      </p:pic>
      <p:sp>
        <p:nvSpPr>
          <p:cNvPr id="9" name="Text 5"/>
          <p:cNvSpPr txBox="1"/>
          <p:nvPr/>
        </p:nvSpPr>
        <p:spPr>
          <a:xfrm>
            <a:off x="548640" y="390448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10" name="Text 6"/>
          <p:cNvSpPr txBox="1"/>
          <p:nvPr/>
        </p:nvSpPr>
        <p:spPr>
          <a:xfrm>
            <a:off x="548640" y="4288536"/>
            <a:ext cx="6035040" cy="199339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Reciprocal rank fusion rewards documents ranked highly by any retriever; it needs only ranks, not comparable scores.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Recall@k: did the evidence reach the prompt? MRR: how high was the first relevant chunk?</a:t>
            </a:r>
            <a:endParaRPr lang="en-US" sz="2000" dirty="0"/>
          </a:p>
        </p:txBody>
      </p:sp>
      <p:sp>
        <p:nvSpPr>
          <p:cNvPr id="11" name="Text 7"/>
          <p:cNvSpPr txBox="1"/>
          <p:nvPr/>
        </p:nvSpPr>
        <p:spPr>
          <a:xfrm>
            <a:off x="6858000" y="390448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2" name="Text 8"/>
          <p:cNvSpPr txBox="1"/>
          <p:nvPr/>
        </p:nvSpPr>
        <p:spPr>
          <a:xfrm>
            <a:off x="6858000" y="4315968"/>
            <a:ext cx="1143000" cy="664464"/>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rank_r(d)</a:t>
            </a:r>
            <a:endParaRPr lang="en-US" sz="1700" dirty="0"/>
          </a:p>
        </p:txBody>
      </p:sp>
      <p:sp>
        <p:nvSpPr>
          <p:cNvPr id="13" name="Text 9"/>
          <p:cNvSpPr txBox="1"/>
          <p:nvPr/>
        </p:nvSpPr>
        <p:spPr>
          <a:xfrm>
            <a:off x="8046720" y="4315968"/>
            <a:ext cx="3596335" cy="664464"/>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position of chunk d in ranker r's list</a:t>
            </a:r>
            <a:endParaRPr lang="en-US" sz="1600" dirty="0"/>
          </a:p>
        </p:txBody>
      </p:sp>
      <p:sp>
        <p:nvSpPr>
          <p:cNvPr id="14" name="Text 10"/>
          <p:cNvSpPr txBox="1"/>
          <p:nvPr/>
        </p:nvSpPr>
        <p:spPr>
          <a:xfrm>
            <a:off x="6858000" y="4980432"/>
            <a:ext cx="1143000" cy="664464"/>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k</a:t>
            </a:r>
            <a:endParaRPr lang="en-US" sz="1700" dirty="0"/>
          </a:p>
        </p:txBody>
      </p:sp>
      <p:sp>
        <p:nvSpPr>
          <p:cNvPr id="15" name="Text 11"/>
          <p:cNvSpPr txBox="1"/>
          <p:nvPr/>
        </p:nvSpPr>
        <p:spPr>
          <a:xfrm>
            <a:off x="8046720" y="4980432"/>
            <a:ext cx="3596335" cy="664464"/>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constant that damps the influence of top ranks</a:t>
            </a:r>
            <a:endParaRPr lang="en-US" sz="1600" dirty="0"/>
          </a:p>
        </p:txBody>
      </p:sp>
      <p:sp>
        <p:nvSpPr>
          <p:cNvPr id="16" name="Text 12"/>
          <p:cNvSpPr txBox="1"/>
          <p:nvPr/>
        </p:nvSpPr>
        <p:spPr>
          <a:xfrm>
            <a:off x="6858000" y="5644896"/>
            <a:ext cx="1143000" cy="664464"/>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rank_q</a:t>
            </a:r>
            <a:endParaRPr lang="en-US" sz="1700" dirty="0"/>
          </a:p>
        </p:txBody>
      </p:sp>
      <p:sp>
        <p:nvSpPr>
          <p:cNvPr id="17" name="Text 13"/>
          <p:cNvSpPr txBox="1"/>
          <p:nvPr/>
        </p:nvSpPr>
        <p:spPr>
          <a:xfrm>
            <a:off x="8046720" y="5644896"/>
            <a:ext cx="3596335" cy="664464"/>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position of the first relevant chunk for question q</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Re-ranking: a second, more careful look</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First stage (bi-encoder, BM25): fast, </a:t>
            </a:r>
            <a:pPr indent="0" marL="0">
              <a:buNone/>
            </a:pPr>
            <a:r>
              <a:rPr lang="en-US" sz="2200" b="1" dirty="0">
                <a:solidFill>
                  <a:srgbClr val="1F2937"/>
                </a:solidFill>
                <a:latin typeface="Calibri" pitchFamily="34" charset="0"/>
                <a:ea typeface="Calibri" pitchFamily="34" charset="-122"/>
                <a:cs typeface="Calibri" pitchFamily="34" charset="-120"/>
              </a:rPr>
              <a:t>recall</a:t>
            </a:r>
            <a:pPr indent="0" marL="0">
              <a:buNone/>
            </a:pPr>
            <a:r>
              <a:rPr lang="en-US" sz="2200" dirty="0">
                <a:solidFill>
                  <a:srgbClr val="1F2937"/>
                </a:solidFill>
                <a:latin typeface="Calibri" pitchFamily="34" charset="0"/>
                <a:ea typeface="Calibri" pitchFamily="34" charset="-122"/>
                <a:cs typeface="Calibri" pitchFamily="34" charset="-120"/>
              </a:rPr>
              <a:t>-oriented, retrieves 20–100 candidates.</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Second stage (</a:t>
            </a:r>
            <a:pPr indent="0" marL="0">
              <a:buNone/>
            </a:pPr>
            <a:r>
              <a:rPr lang="en-US" sz="2200" b="1" dirty="0">
                <a:solidFill>
                  <a:srgbClr val="1F2937"/>
                </a:solidFill>
                <a:latin typeface="Calibri" pitchFamily="34" charset="0"/>
                <a:ea typeface="Calibri" pitchFamily="34" charset="-122"/>
                <a:cs typeface="Calibri" pitchFamily="34" charset="-120"/>
              </a:rPr>
              <a:t>cross-encoder</a:t>
            </a:r>
            <a:pPr indent="0" marL="0">
              <a:buNone/>
            </a:pPr>
            <a:r>
              <a:rPr lang="en-US" sz="2200" dirty="0">
                <a:solidFill>
                  <a:srgbClr val="1F2937"/>
                </a:solidFill>
                <a:latin typeface="Calibri" pitchFamily="34" charset="0"/>
                <a:ea typeface="Calibri" pitchFamily="34" charset="-122"/>
                <a:cs typeface="Calibri" pitchFamily="34" charset="-120"/>
              </a:rPr>
              <a:t>): reads question and passage </a:t>
            </a:r>
            <a:pPr indent="0" marL="0">
              <a:buNone/>
            </a:pPr>
            <a:r>
              <a:rPr lang="en-US" sz="2200" b="1" dirty="0">
                <a:solidFill>
                  <a:srgbClr val="1F2937"/>
                </a:solidFill>
                <a:latin typeface="Calibri" pitchFamily="34" charset="0"/>
                <a:ea typeface="Calibri" pitchFamily="34" charset="-122"/>
                <a:cs typeface="Calibri" pitchFamily="34" charset="-120"/>
              </a:rPr>
              <a:t>together</a:t>
            </a:r>
            <a:pPr indent="0" marL="0">
              <a:buNone/>
            </a:pPr>
            <a:r>
              <a:rPr lang="en-US" sz="2200" dirty="0">
                <a:solidFill>
                  <a:srgbClr val="1F2937"/>
                </a:solidFill>
                <a:latin typeface="Calibri" pitchFamily="34" charset="0"/>
                <a:ea typeface="Calibri" pitchFamily="34" charset="-122"/>
                <a:cs typeface="Calibri" pitchFamily="34" charset="-120"/>
              </a:rPr>
              <a:t>; slower but more accurate; keeps the top 3–5.</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Examples: ms-marco MiniLM cross-encoders (lab), BGE rerankers, Cohere Rerank.</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Fewer, better passages → shorter prompts, lower cost, fewer distractions for the LLM.</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Measured: retrieval quality on the handbook questions</a:t>
            </a:r>
            <a:endParaRPr lang="en-US" sz="3200" dirty="0"/>
          </a:p>
        </p:txBody>
      </p:sp>
      <p:pic>
        <p:nvPicPr>
          <p:cNvPr id="6" name="Image 0" descr="C:\Users\sudee\Downloads\Generative_AI_2027_Teaching_Pack\AI2027_Project\build\figures\week_12\lab_retrieval.png">    </p:cNvPr>
          <p:cNvPicPr>
            <a:picLocks noChangeAspect="1"/>
          </p:cNvPicPr>
          <p:nvPr/>
        </p:nvPicPr>
        <p:blipFill>
          <a:blip r:embed="rId1"/>
          <a:stretch>
            <a:fillRect/>
          </a:stretch>
        </p:blipFill>
        <p:spPr>
          <a:xfrm>
            <a:off x="1869948" y="1481328"/>
            <a:ext cx="8451799" cy="3477006"/>
          </a:xfrm>
          <a:prstGeom prst="rect">
            <a:avLst/>
          </a:prstGeom>
        </p:spPr>
      </p:pic>
      <p:sp>
        <p:nvSpPr>
          <p:cNvPr id="7" name="Text 4"/>
          <p:cNvSpPr txBox="1"/>
          <p:nvPr/>
        </p:nvSpPr>
        <p:spPr>
          <a:xfrm>
            <a:off x="548640" y="5141214"/>
            <a:ext cx="11094415" cy="1168146"/>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recall@1: BM25 0.83, dense 0.92, hybrid 0.92, hybrid + re-rank 1.00. MRR: BM25 0.92, dense 0.94, hybrid 0.96, hybrid + re-rank 1.00.</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Small collection: real systems show larger gaps, so measure on your own data.</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Measured: RAG vs. no retrieval</a:t>
            </a:r>
            <a:endParaRPr lang="en-US" sz="3200" dirty="0"/>
          </a:p>
        </p:txBody>
      </p:sp>
      <p:pic>
        <p:nvPicPr>
          <p:cNvPr id="6" name="Image 0" descr="C:\Users\sudee\Downloads\Generative_AI_2027_Teaching_Pack\AI2027_Project\build\figures\week_12\lab_rag.png">    </p:cNvPr>
          <p:cNvPicPr>
            <a:picLocks noChangeAspect="1"/>
          </p:cNvPicPr>
          <p:nvPr/>
        </p:nvPicPr>
        <p:blipFill>
          <a:blip r:embed="rId1"/>
          <a:stretch>
            <a:fillRect/>
          </a:stretch>
        </p:blipFill>
        <p:spPr>
          <a:xfrm>
            <a:off x="3630352" y="1481328"/>
            <a:ext cx="4930990" cy="2510028"/>
          </a:xfrm>
          <a:prstGeom prst="rect">
            <a:avLst/>
          </a:prstGeom>
        </p:spPr>
      </p:pic>
      <p:sp>
        <p:nvSpPr>
          <p:cNvPr id="7" name="Text 4"/>
          <p:cNvSpPr txBox="1"/>
          <p:nvPr/>
        </p:nvSpPr>
        <p:spPr>
          <a:xfrm>
            <a:off x="548640" y="4174236"/>
            <a:ext cx="11094415" cy="2135124"/>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Qwen2.5-1.5B-Instruct: accuracy 0% without retrieval → 92% with RAG; numbers supported by sources 100%; cited the right document 100%; abstained on the unanswerable question.</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Prompt: numbered sources, then the question, then the rules: answer </a:t>
            </a:r>
            <a:pPr indent="0" marL="0">
              <a:buNone/>
            </a:pPr>
            <a:r>
              <a:rPr lang="en-US" sz="1800" b="1" dirty="0">
                <a:solidFill>
                  <a:srgbClr val="1F2937"/>
                </a:solidFill>
                <a:latin typeface="Calibri" pitchFamily="34" charset="0"/>
                <a:ea typeface="Calibri" pitchFamily="34" charset="-122"/>
                <a:cs typeface="Calibri" pitchFamily="34" charset="-120"/>
              </a:rPr>
              <a:t>only</a:t>
            </a:r>
            <a:pPr indent="0" marL="0">
              <a:buNone/>
            </a:pPr>
            <a:r>
              <a:rPr lang="en-US" sz="1800" dirty="0">
                <a:solidFill>
                  <a:srgbClr val="1F2937"/>
                </a:solidFill>
                <a:latin typeface="Calibri" pitchFamily="34" charset="0"/>
                <a:ea typeface="Calibri" pitchFamily="34" charset="-122"/>
                <a:cs typeface="Calibri" pitchFamily="34" charset="-120"/>
              </a:rPr>
              <a:t> from the sources, cite [n], else say 'I don't know'.</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Rules placed </a:t>
            </a:r>
            <a:pPr indent="0" marL="0">
              <a:buNone/>
            </a:pPr>
            <a:r>
              <a:rPr lang="en-US" sz="1800" b="1" dirty="0">
                <a:solidFill>
                  <a:srgbClr val="1F2937"/>
                </a:solidFill>
                <a:latin typeface="Calibri" pitchFamily="34" charset="0"/>
                <a:ea typeface="Calibri" pitchFamily="34" charset="-122"/>
                <a:cs typeface="Calibri" pitchFamily="34" charset="-120"/>
              </a:rPr>
              <a:t>after</a:t>
            </a:r>
            <a:pPr indent="0" marL="0">
              <a:buNone/>
            </a:pPr>
            <a:r>
              <a:rPr lang="en-US" sz="1800" dirty="0">
                <a:solidFill>
                  <a:srgbClr val="1F2937"/>
                </a:solidFill>
                <a:latin typeface="Calibri" pitchFamily="34" charset="0"/>
                <a:ea typeface="Calibri" pitchFamily="34" charset="-122"/>
                <a:cs typeface="Calibri" pitchFamily="34" charset="-120"/>
              </a:rPr>
              <a:t> the sources worked far better for the small model than rules in the system message alone.</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Advanced RAG techniques</a:t>
            </a:r>
            <a:endParaRPr lang="en-US" sz="3200" dirty="0"/>
          </a:p>
        </p:txBody>
      </p:sp>
      <p:sp>
        <p:nvSpPr>
          <p:cNvPr id="6" name="Shape 4"/>
          <p:cNvSpPr/>
          <p:nvPr/>
        </p:nvSpPr>
        <p:spPr>
          <a:xfrm>
            <a:off x="548640" y="1481328"/>
            <a:ext cx="351525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Query rewriting</a:t>
            </a:r>
            <a:endParaRPr lang="en-US" sz="1900" dirty="0"/>
          </a:p>
        </p:txBody>
      </p:sp>
      <p:sp>
        <p:nvSpPr>
          <p:cNvPr id="10" name="Text 7"/>
          <p:cNvSpPr txBox="1"/>
          <p:nvPr/>
        </p:nvSpPr>
        <p:spPr>
          <a:xfrm>
            <a:off x="731520"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An LLM rewrites vague or conversational questions into good search queries; multi-query variants.</a:t>
            </a:r>
            <a:endParaRPr lang="en-US" sz="1900" dirty="0"/>
          </a:p>
        </p:txBody>
      </p:sp>
      <p:sp>
        <p:nvSpPr>
          <p:cNvPr id="11" name="Shape 8"/>
          <p:cNvSpPr/>
          <p:nvPr/>
        </p:nvSpPr>
        <p:spPr>
          <a:xfrm>
            <a:off x="4338218" y="1481328"/>
            <a:ext cx="351525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452109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4652772" y="1795882"/>
            <a:ext cx="285293" cy="285293"/>
          </a:xfrm>
          <a:prstGeom prst="rect">
            <a:avLst/>
          </a:prstGeom>
        </p:spPr>
      </p:pic>
      <p:sp>
        <p:nvSpPr>
          <p:cNvPr id="14" name="Text 10"/>
          <p:cNvSpPr txBox="1"/>
          <p:nvPr/>
        </p:nvSpPr>
        <p:spPr>
          <a:xfrm>
            <a:off x="5161178"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HyDE</a:t>
            </a:r>
            <a:endParaRPr lang="en-US" sz="1900" dirty="0"/>
          </a:p>
        </p:txBody>
      </p:sp>
      <p:sp>
        <p:nvSpPr>
          <p:cNvPr id="15" name="Text 11"/>
          <p:cNvSpPr txBox="1"/>
          <p:nvPr/>
        </p:nvSpPr>
        <p:spPr>
          <a:xfrm>
            <a:off x="4521098"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Generate a hypothetical answer, embed it, and search with it (Gao et al., 2022).</a:t>
            </a:r>
            <a:endParaRPr lang="en-US" sz="1900" dirty="0"/>
          </a:p>
        </p:txBody>
      </p:sp>
      <p:sp>
        <p:nvSpPr>
          <p:cNvPr id="16" name="Shape 12"/>
          <p:cNvSpPr/>
          <p:nvPr/>
        </p:nvSpPr>
        <p:spPr>
          <a:xfrm>
            <a:off x="8127797" y="1481328"/>
            <a:ext cx="351525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8310677" y="1664208"/>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442350" y="1795882"/>
            <a:ext cx="285293" cy="285293"/>
          </a:xfrm>
          <a:prstGeom prst="rect">
            <a:avLst/>
          </a:prstGeom>
        </p:spPr>
      </p:pic>
      <p:sp>
        <p:nvSpPr>
          <p:cNvPr id="19" name="Text 14"/>
          <p:cNvSpPr txBox="1"/>
          <p:nvPr/>
        </p:nvSpPr>
        <p:spPr>
          <a:xfrm>
            <a:off x="8950757"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Contextual retrieval</a:t>
            </a:r>
            <a:endParaRPr lang="en-US" sz="1900" dirty="0"/>
          </a:p>
        </p:txBody>
      </p:sp>
      <p:sp>
        <p:nvSpPr>
          <p:cNvPr id="20" name="Text 15"/>
          <p:cNvSpPr txBox="1"/>
          <p:nvPr/>
        </p:nvSpPr>
        <p:spPr>
          <a:xfrm>
            <a:off x="8310677"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Prepend chunk-specific context before embedding; Anthropic reported far fewer failed retrievals.</a:t>
            </a:r>
            <a:endParaRPr lang="en-US" sz="1900" dirty="0"/>
          </a:p>
        </p:txBody>
      </p:sp>
      <p:sp>
        <p:nvSpPr>
          <p:cNvPr id="21" name="Shape 16"/>
          <p:cNvSpPr/>
          <p:nvPr/>
        </p:nvSpPr>
        <p:spPr>
          <a:xfrm>
            <a:off x="548640" y="4032504"/>
            <a:ext cx="351525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731520"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863194" y="4347058"/>
            <a:ext cx="285293" cy="285293"/>
          </a:xfrm>
          <a:prstGeom prst="rect">
            <a:avLst/>
          </a:prstGeom>
        </p:spPr>
      </p:pic>
      <p:sp>
        <p:nvSpPr>
          <p:cNvPr id="24" name="Text 18"/>
          <p:cNvSpPr txBox="1"/>
          <p:nvPr/>
        </p:nvSpPr>
        <p:spPr>
          <a:xfrm>
            <a:off x="1371600"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GraphRAG</a:t>
            </a:r>
            <a:endParaRPr lang="en-US" sz="1900" dirty="0"/>
          </a:p>
        </p:txBody>
      </p:sp>
      <p:sp>
        <p:nvSpPr>
          <p:cNvPr id="25" name="Text 19"/>
          <p:cNvSpPr txBox="1"/>
          <p:nvPr/>
        </p:nvSpPr>
        <p:spPr>
          <a:xfrm>
            <a:off x="731520"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Build a knowledge graph and community summaries for global questions (Microsoft, 2024).</a:t>
            </a:r>
            <a:endParaRPr lang="en-US" sz="1900" dirty="0"/>
          </a:p>
        </p:txBody>
      </p:sp>
      <p:sp>
        <p:nvSpPr>
          <p:cNvPr id="26" name="Shape 20"/>
          <p:cNvSpPr/>
          <p:nvPr/>
        </p:nvSpPr>
        <p:spPr>
          <a:xfrm>
            <a:off x="4338218" y="4032504"/>
            <a:ext cx="3515258" cy="2276856"/>
          </a:xfrm>
          <a:prstGeom prst="roundRect">
            <a:avLst>
              <a:gd name="adj" fmla="val 4819"/>
            </a:avLst>
          </a:prstGeom>
          <a:solidFill>
            <a:srgbClr val="EEF0FF"/>
          </a:solidFill>
          <a:ln w="12700">
            <a:solidFill>
              <a:srgbClr val="EEF0FF"/>
            </a:solidFill>
            <a:prstDash val="solid"/>
          </a:ln>
        </p:spPr>
      </p:sp>
      <p:sp>
        <p:nvSpPr>
          <p:cNvPr id="27" name="Shape 21"/>
          <p:cNvSpPr/>
          <p:nvPr/>
        </p:nvSpPr>
        <p:spPr>
          <a:xfrm>
            <a:off x="4521098" y="4215384"/>
            <a:ext cx="548640" cy="548640"/>
          </a:xfrm>
          <a:prstGeom prst="ellipse">
            <a:avLst/>
          </a:prstGeom>
          <a:solidFill>
            <a:srgbClr val="4F46E5"/>
          </a:solidFill>
          <a:ln w="12700">
            <a:solidFill>
              <a:srgbClr val="4F46E5"/>
            </a:solidFill>
            <a:prstDash val="solid"/>
          </a:ln>
        </p:spPr>
      </p:sp>
      <p:pic>
        <p:nvPicPr>
          <p:cNvPr id="28" name="Image 4" descr="preencoded.png">    </p:cNvPr>
          <p:cNvPicPr>
            <a:picLocks noChangeAspect="1"/>
          </p:cNvPicPr>
          <p:nvPr/>
        </p:nvPicPr>
        <p:blipFill>
          <a:blip r:embed="rId5"/>
          <a:stretch>
            <a:fillRect/>
          </a:stretch>
        </p:blipFill>
        <p:spPr>
          <a:xfrm>
            <a:off x="4652772" y="4347058"/>
            <a:ext cx="285293" cy="285293"/>
          </a:xfrm>
          <a:prstGeom prst="rect">
            <a:avLst/>
          </a:prstGeom>
        </p:spPr>
      </p:pic>
      <p:sp>
        <p:nvSpPr>
          <p:cNvPr id="29" name="Text 22"/>
          <p:cNvSpPr txBox="1"/>
          <p:nvPr/>
        </p:nvSpPr>
        <p:spPr>
          <a:xfrm>
            <a:off x="5161178"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Hierarchical / parent–child</a:t>
            </a:r>
            <a:endParaRPr lang="en-US" sz="1900" dirty="0"/>
          </a:p>
        </p:txBody>
      </p:sp>
      <p:sp>
        <p:nvSpPr>
          <p:cNvPr id="30" name="Text 23"/>
          <p:cNvSpPr txBox="1"/>
          <p:nvPr/>
        </p:nvSpPr>
        <p:spPr>
          <a:xfrm>
            <a:off x="4521098"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Retrieve small chunks, pass their larger parent sections to the LLM.</a:t>
            </a:r>
            <a:endParaRPr lang="en-US" sz="1900" dirty="0"/>
          </a:p>
        </p:txBody>
      </p:sp>
      <p:sp>
        <p:nvSpPr>
          <p:cNvPr id="31" name="Shape 24"/>
          <p:cNvSpPr/>
          <p:nvPr/>
        </p:nvSpPr>
        <p:spPr>
          <a:xfrm>
            <a:off x="8127797" y="4032504"/>
            <a:ext cx="3515258" cy="2276856"/>
          </a:xfrm>
          <a:prstGeom prst="roundRect">
            <a:avLst>
              <a:gd name="adj" fmla="val 4819"/>
            </a:avLst>
          </a:prstGeom>
          <a:solidFill>
            <a:srgbClr val="F5F3FF"/>
          </a:solidFill>
          <a:ln w="12700">
            <a:solidFill>
              <a:srgbClr val="EEF0FF"/>
            </a:solidFill>
            <a:prstDash val="solid"/>
          </a:ln>
        </p:spPr>
      </p:sp>
      <p:sp>
        <p:nvSpPr>
          <p:cNvPr id="32" name="Shape 25"/>
          <p:cNvSpPr/>
          <p:nvPr/>
        </p:nvSpPr>
        <p:spPr>
          <a:xfrm>
            <a:off x="8310677" y="4215384"/>
            <a:ext cx="548640" cy="548640"/>
          </a:xfrm>
          <a:prstGeom prst="ellipse">
            <a:avLst/>
          </a:prstGeom>
          <a:solidFill>
            <a:srgbClr val="4F46E5"/>
          </a:solidFill>
          <a:ln w="12700">
            <a:solidFill>
              <a:srgbClr val="4F46E5"/>
            </a:solidFill>
            <a:prstDash val="solid"/>
          </a:ln>
        </p:spPr>
      </p:sp>
      <p:pic>
        <p:nvPicPr>
          <p:cNvPr id="33" name="Image 5" descr="preencoded.png">    </p:cNvPr>
          <p:cNvPicPr>
            <a:picLocks noChangeAspect="1"/>
          </p:cNvPicPr>
          <p:nvPr/>
        </p:nvPicPr>
        <p:blipFill>
          <a:blip r:embed="rId6"/>
          <a:stretch>
            <a:fillRect/>
          </a:stretch>
        </p:blipFill>
        <p:spPr>
          <a:xfrm>
            <a:off x="8442350" y="4347058"/>
            <a:ext cx="285293" cy="285293"/>
          </a:xfrm>
          <a:prstGeom prst="rect">
            <a:avLst/>
          </a:prstGeom>
        </p:spPr>
      </p:pic>
      <p:sp>
        <p:nvSpPr>
          <p:cNvPr id="34" name="Text 26"/>
          <p:cNvSpPr txBox="1"/>
          <p:nvPr/>
        </p:nvSpPr>
        <p:spPr>
          <a:xfrm>
            <a:off x="8950757"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Agentic RAG</a:t>
            </a:r>
            <a:endParaRPr lang="en-US" sz="1900" dirty="0"/>
          </a:p>
        </p:txBody>
      </p:sp>
      <p:sp>
        <p:nvSpPr>
          <p:cNvPr id="35" name="Text 27"/>
          <p:cNvSpPr txBox="1"/>
          <p:nvPr/>
        </p:nvSpPr>
        <p:spPr>
          <a:xfrm>
            <a:off x="8310677"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An agent decides when and what to search, iterates, and checks its evidence.</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Evaluating RAG: retrieval and generation separately</a:t>
            </a:r>
            <a:endParaRPr lang="en-US" sz="3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235442"/>
                <a:gridCol w="4636472"/>
                <a:gridCol w="4222501"/>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Aspect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Question it answers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How to measure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Retrieval quality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Did the right evidence reach the prompt?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Recall@k, MRR, context precision / recall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Faithfulness (groundedness)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Is every claim supported by the retrieved context?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Claim-by-claim check with an NLI model or LLM judge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Answer relevance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Does the answer address the question?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LLM judge or human rating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Correctness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Is the answer right?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Compare with reference answers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Citations and abstention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Are sources cited correctly? Does it say 'I don't know'?</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Automatic checks; unanswerable test questions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000" b="1" dirty="0">
                <a:solidFill>
                  <a:srgbClr val="1E1B4B"/>
                </a:solidFill>
                <a:latin typeface="Calibri" pitchFamily="34" charset="0"/>
                <a:ea typeface="Calibri" pitchFamily="34" charset="-122"/>
                <a:cs typeface="Calibri" pitchFamily="34" charset="-120"/>
              </a:rPr>
              <a:t>Your RAG assistant answers a question wrongly. The correct passage was ranked 12th, but only the top 3 go into the prompt. What should you improve first?</a:t>
            </a:r>
            <a:endParaRPr lang="en-US" sz="20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The LLM: use a bigger model</a:t>
            </a:r>
            <a:endParaRPr lang="en-US" sz="18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Retrieval: hybrid search, re-ranking, better chunking or query rewriting</a:t>
            </a:r>
            <a:endParaRPr lang="en-US" sz="18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The temperature</a:t>
            </a:r>
            <a:endParaRPr lang="en-US" sz="18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Add 'be accurate' to the prompt</a:t>
            </a:r>
            <a:endParaRPr lang="en-US" sz="18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300" i="1" dirty="0">
                <a:solidFill>
                  <a:srgbClr val="6B7280"/>
                </a:solidFill>
                <a:latin typeface="Calibri" pitchFamily="34" charset="0"/>
                <a:ea typeface="Calibri" pitchFamily="34" charset="-122"/>
                <a:cs typeface="Calibri" pitchFamily="34" charset="-120"/>
              </a:rPr>
              <a:t>Vote, then convince your neighbour (1 minute).</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04</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Agentic AI</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What changes when the model can act?</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Components of an LLM agent</a:t>
            </a:r>
            <a:endParaRPr lang="en-US" sz="3200" dirty="0"/>
          </a:p>
        </p:txBody>
      </p:sp>
      <p:sp>
        <p:nvSpPr>
          <p:cNvPr id="6" name="Shape 4"/>
          <p:cNvSpPr/>
          <p:nvPr/>
        </p:nvSpPr>
        <p:spPr>
          <a:xfrm>
            <a:off x="548640" y="1481328"/>
            <a:ext cx="351525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LLM</a:t>
            </a:r>
            <a:endParaRPr lang="en-US" sz="1900" dirty="0"/>
          </a:p>
        </p:txBody>
      </p:sp>
      <p:sp>
        <p:nvSpPr>
          <p:cNvPr id="10" name="Text 7"/>
          <p:cNvSpPr txBox="1"/>
          <p:nvPr/>
        </p:nvSpPr>
        <p:spPr>
          <a:xfrm>
            <a:off x="731520"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Reasons about the task and decides the next step.</a:t>
            </a:r>
            <a:endParaRPr lang="en-US" sz="1900" dirty="0"/>
          </a:p>
        </p:txBody>
      </p:sp>
      <p:sp>
        <p:nvSpPr>
          <p:cNvPr id="11" name="Shape 8"/>
          <p:cNvSpPr/>
          <p:nvPr/>
        </p:nvSpPr>
        <p:spPr>
          <a:xfrm>
            <a:off x="4338218" y="1481328"/>
            <a:ext cx="351525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452109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4652772" y="1795882"/>
            <a:ext cx="285293" cy="285293"/>
          </a:xfrm>
          <a:prstGeom prst="rect">
            <a:avLst/>
          </a:prstGeom>
        </p:spPr>
      </p:pic>
      <p:sp>
        <p:nvSpPr>
          <p:cNvPr id="14" name="Text 10"/>
          <p:cNvSpPr txBox="1"/>
          <p:nvPr/>
        </p:nvSpPr>
        <p:spPr>
          <a:xfrm>
            <a:off x="5161178"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Tools</a:t>
            </a:r>
            <a:endParaRPr lang="en-US" sz="1900" dirty="0"/>
          </a:p>
        </p:txBody>
      </p:sp>
      <p:sp>
        <p:nvSpPr>
          <p:cNvPr id="15" name="Text 11"/>
          <p:cNvSpPr txBox="1"/>
          <p:nvPr/>
        </p:nvSpPr>
        <p:spPr>
          <a:xfrm>
            <a:off x="4521098"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Functions it can call: search, calculator, code, APIs, other agents.</a:t>
            </a:r>
            <a:endParaRPr lang="en-US" sz="1900" dirty="0"/>
          </a:p>
        </p:txBody>
      </p:sp>
      <p:sp>
        <p:nvSpPr>
          <p:cNvPr id="16" name="Shape 12"/>
          <p:cNvSpPr/>
          <p:nvPr/>
        </p:nvSpPr>
        <p:spPr>
          <a:xfrm>
            <a:off x="8127797" y="1481328"/>
            <a:ext cx="351525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8310677" y="1664208"/>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442350" y="1795882"/>
            <a:ext cx="285293" cy="285293"/>
          </a:xfrm>
          <a:prstGeom prst="rect">
            <a:avLst/>
          </a:prstGeom>
        </p:spPr>
      </p:pic>
      <p:sp>
        <p:nvSpPr>
          <p:cNvPr id="19" name="Text 14"/>
          <p:cNvSpPr txBox="1"/>
          <p:nvPr/>
        </p:nvSpPr>
        <p:spPr>
          <a:xfrm>
            <a:off x="8950757"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Memory</a:t>
            </a:r>
            <a:endParaRPr lang="en-US" sz="1900" dirty="0"/>
          </a:p>
        </p:txBody>
      </p:sp>
      <p:sp>
        <p:nvSpPr>
          <p:cNvPr id="20" name="Text 15"/>
          <p:cNvSpPr txBox="1"/>
          <p:nvPr/>
        </p:nvSpPr>
        <p:spPr>
          <a:xfrm>
            <a:off x="8310677"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Short-term (the conversation, scratchpad) and long-term (stored notes, vector memory).</a:t>
            </a:r>
            <a:endParaRPr lang="en-US" sz="1900" dirty="0"/>
          </a:p>
        </p:txBody>
      </p:sp>
      <p:sp>
        <p:nvSpPr>
          <p:cNvPr id="21" name="Shape 16"/>
          <p:cNvSpPr/>
          <p:nvPr/>
        </p:nvSpPr>
        <p:spPr>
          <a:xfrm>
            <a:off x="548640" y="4032504"/>
            <a:ext cx="351525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731520"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863194" y="4347058"/>
            <a:ext cx="285293" cy="285293"/>
          </a:xfrm>
          <a:prstGeom prst="rect">
            <a:avLst/>
          </a:prstGeom>
        </p:spPr>
      </p:pic>
      <p:sp>
        <p:nvSpPr>
          <p:cNvPr id="24" name="Text 18"/>
          <p:cNvSpPr txBox="1"/>
          <p:nvPr/>
        </p:nvSpPr>
        <p:spPr>
          <a:xfrm>
            <a:off x="1371600"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Planning</a:t>
            </a:r>
            <a:endParaRPr lang="en-US" sz="1900" dirty="0"/>
          </a:p>
        </p:txBody>
      </p:sp>
      <p:sp>
        <p:nvSpPr>
          <p:cNvPr id="25" name="Text 19"/>
          <p:cNvSpPr txBox="1"/>
          <p:nvPr/>
        </p:nvSpPr>
        <p:spPr>
          <a:xfrm>
            <a:off x="731520"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Break a goal into steps; revise the plan after observing results.</a:t>
            </a:r>
            <a:endParaRPr lang="en-US" sz="1900" dirty="0"/>
          </a:p>
        </p:txBody>
      </p:sp>
      <p:sp>
        <p:nvSpPr>
          <p:cNvPr id="26" name="Shape 20"/>
          <p:cNvSpPr/>
          <p:nvPr/>
        </p:nvSpPr>
        <p:spPr>
          <a:xfrm>
            <a:off x="4338218" y="4032504"/>
            <a:ext cx="3515258" cy="2276856"/>
          </a:xfrm>
          <a:prstGeom prst="roundRect">
            <a:avLst>
              <a:gd name="adj" fmla="val 4819"/>
            </a:avLst>
          </a:prstGeom>
          <a:solidFill>
            <a:srgbClr val="EEF0FF"/>
          </a:solidFill>
          <a:ln w="12700">
            <a:solidFill>
              <a:srgbClr val="EEF0FF"/>
            </a:solidFill>
            <a:prstDash val="solid"/>
          </a:ln>
        </p:spPr>
      </p:sp>
      <p:sp>
        <p:nvSpPr>
          <p:cNvPr id="27" name="Shape 21"/>
          <p:cNvSpPr/>
          <p:nvPr/>
        </p:nvSpPr>
        <p:spPr>
          <a:xfrm>
            <a:off x="4521098" y="4215384"/>
            <a:ext cx="548640" cy="548640"/>
          </a:xfrm>
          <a:prstGeom prst="ellipse">
            <a:avLst/>
          </a:prstGeom>
          <a:solidFill>
            <a:srgbClr val="4F46E5"/>
          </a:solidFill>
          <a:ln w="12700">
            <a:solidFill>
              <a:srgbClr val="4F46E5"/>
            </a:solidFill>
            <a:prstDash val="solid"/>
          </a:ln>
        </p:spPr>
      </p:sp>
      <p:pic>
        <p:nvPicPr>
          <p:cNvPr id="28" name="Image 4" descr="preencoded.png">    </p:cNvPr>
          <p:cNvPicPr>
            <a:picLocks noChangeAspect="1"/>
          </p:cNvPicPr>
          <p:nvPr/>
        </p:nvPicPr>
        <p:blipFill>
          <a:blip r:embed="rId5"/>
          <a:stretch>
            <a:fillRect/>
          </a:stretch>
        </p:blipFill>
        <p:spPr>
          <a:xfrm>
            <a:off x="4652772" y="4347058"/>
            <a:ext cx="285293" cy="285293"/>
          </a:xfrm>
          <a:prstGeom prst="rect">
            <a:avLst/>
          </a:prstGeom>
        </p:spPr>
      </p:pic>
      <p:sp>
        <p:nvSpPr>
          <p:cNvPr id="29" name="Text 22"/>
          <p:cNvSpPr txBox="1"/>
          <p:nvPr/>
        </p:nvSpPr>
        <p:spPr>
          <a:xfrm>
            <a:off x="5161178"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Loop</a:t>
            </a:r>
            <a:endParaRPr lang="en-US" sz="1900" dirty="0"/>
          </a:p>
        </p:txBody>
      </p:sp>
      <p:sp>
        <p:nvSpPr>
          <p:cNvPr id="30" name="Text 23"/>
          <p:cNvSpPr txBox="1"/>
          <p:nvPr/>
        </p:nvSpPr>
        <p:spPr>
          <a:xfrm>
            <a:off x="4521098"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Act, observe, repeat until done: with limits on steps, time and cost.</a:t>
            </a:r>
            <a:endParaRPr lang="en-US" sz="1900" dirty="0"/>
          </a:p>
        </p:txBody>
      </p:sp>
      <p:sp>
        <p:nvSpPr>
          <p:cNvPr id="31" name="Shape 24"/>
          <p:cNvSpPr/>
          <p:nvPr/>
        </p:nvSpPr>
        <p:spPr>
          <a:xfrm>
            <a:off x="8127797" y="4032504"/>
            <a:ext cx="3515258" cy="2276856"/>
          </a:xfrm>
          <a:prstGeom prst="roundRect">
            <a:avLst>
              <a:gd name="adj" fmla="val 4819"/>
            </a:avLst>
          </a:prstGeom>
          <a:solidFill>
            <a:srgbClr val="F5F3FF"/>
          </a:solidFill>
          <a:ln w="12700">
            <a:solidFill>
              <a:srgbClr val="EEF0FF"/>
            </a:solidFill>
            <a:prstDash val="solid"/>
          </a:ln>
        </p:spPr>
      </p:sp>
      <p:sp>
        <p:nvSpPr>
          <p:cNvPr id="32" name="Shape 25"/>
          <p:cNvSpPr/>
          <p:nvPr/>
        </p:nvSpPr>
        <p:spPr>
          <a:xfrm>
            <a:off x="8310677" y="4215384"/>
            <a:ext cx="548640" cy="548640"/>
          </a:xfrm>
          <a:prstGeom prst="ellipse">
            <a:avLst/>
          </a:prstGeom>
          <a:solidFill>
            <a:srgbClr val="4F46E5"/>
          </a:solidFill>
          <a:ln w="12700">
            <a:solidFill>
              <a:srgbClr val="4F46E5"/>
            </a:solidFill>
            <a:prstDash val="solid"/>
          </a:ln>
        </p:spPr>
      </p:sp>
      <p:pic>
        <p:nvPicPr>
          <p:cNvPr id="33" name="Image 5" descr="preencoded.png">    </p:cNvPr>
          <p:cNvPicPr>
            <a:picLocks noChangeAspect="1"/>
          </p:cNvPicPr>
          <p:nvPr/>
        </p:nvPicPr>
        <p:blipFill>
          <a:blip r:embed="rId6"/>
          <a:stretch>
            <a:fillRect/>
          </a:stretch>
        </p:blipFill>
        <p:spPr>
          <a:xfrm>
            <a:off x="8442350" y="4347058"/>
            <a:ext cx="285293" cy="285293"/>
          </a:xfrm>
          <a:prstGeom prst="rect">
            <a:avLst/>
          </a:prstGeom>
        </p:spPr>
      </p:pic>
      <p:sp>
        <p:nvSpPr>
          <p:cNvPr id="34" name="Text 26"/>
          <p:cNvSpPr txBox="1"/>
          <p:nvPr/>
        </p:nvSpPr>
        <p:spPr>
          <a:xfrm>
            <a:off x="8950757"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Oversight</a:t>
            </a:r>
            <a:endParaRPr lang="en-US" sz="1900" dirty="0"/>
          </a:p>
        </p:txBody>
      </p:sp>
      <p:sp>
        <p:nvSpPr>
          <p:cNvPr id="35" name="Text 27"/>
          <p:cNvSpPr txBox="1"/>
          <p:nvPr/>
        </p:nvSpPr>
        <p:spPr>
          <a:xfrm>
            <a:off x="8310677"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Permissions, approvals and logs around every action.</a:t>
            </a:r>
            <a:endParaRPr lang="en-US" sz="1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agent proposes; code executes</a:t>
            </a:r>
            <a:endParaRPr lang="en-US" sz="3200" dirty="0"/>
          </a:p>
        </p:txBody>
      </p:sp>
      <p:sp>
        <p:nvSpPr>
          <p:cNvPr id="6" name="Text 4"/>
          <p:cNvSpPr txBox="1"/>
          <p:nvPr/>
        </p:nvSpPr>
        <p:spPr>
          <a:xfrm>
            <a:off x="548640" y="1481328"/>
            <a:ext cx="11094415" cy="36576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A bounded loop alternates model decisions with tool observations</a:t>
            </a:r>
            <a:endParaRPr lang="en-US" sz="1800" dirty="0"/>
          </a:p>
        </p:txBody>
      </p:sp>
      <p:sp>
        <p:nvSpPr>
          <p:cNvPr id="7" name="Shape 5"/>
          <p:cNvSpPr/>
          <p:nvPr/>
        </p:nvSpPr>
        <p:spPr>
          <a:xfrm>
            <a:off x="3762331" y="2569464"/>
            <a:ext cx="861033" cy="0"/>
          </a:xfrm>
          <a:prstGeom prst="line">
            <a:avLst/>
          </a:prstGeom>
          <a:noFill/>
          <a:ln w="20320">
            <a:solidFill>
              <a:srgbClr val="4F46E5"/>
            </a:solidFill>
            <a:prstDash val="solid"/>
            <a:tailEnd type="triangle"/>
          </a:ln>
        </p:spPr>
      </p:sp>
      <p:sp>
        <p:nvSpPr>
          <p:cNvPr id="8" name="Shape 6"/>
          <p:cNvSpPr/>
          <p:nvPr/>
        </p:nvSpPr>
        <p:spPr>
          <a:xfrm>
            <a:off x="7568331" y="2569464"/>
            <a:ext cx="861033" cy="0"/>
          </a:xfrm>
          <a:prstGeom prst="line">
            <a:avLst/>
          </a:prstGeom>
          <a:noFill/>
          <a:ln w="20320">
            <a:solidFill>
              <a:srgbClr val="4F46E5"/>
            </a:solidFill>
            <a:prstDash val="solid"/>
            <a:tailEnd type="triangle"/>
          </a:ln>
        </p:spPr>
      </p:sp>
      <p:sp>
        <p:nvSpPr>
          <p:cNvPr id="9" name="Shape 7"/>
          <p:cNvSpPr/>
          <p:nvPr/>
        </p:nvSpPr>
        <p:spPr>
          <a:xfrm>
            <a:off x="9901848" y="3621024"/>
            <a:ext cx="0" cy="54864"/>
          </a:xfrm>
          <a:prstGeom prst="line">
            <a:avLst/>
          </a:prstGeom>
          <a:noFill/>
          <a:ln w="20320">
            <a:solidFill>
              <a:srgbClr val="4F46E5"/>
            </a:solidFill>
            <a:prstDash val="solid"/>
            <a:tailEnd type="triangle"/>
          </a:ln>
        </p:spPr>
      </p:sp>
      <p:sp>
        <p:nvSpPr>
          <p:cNvPr id="10" name="Shape 8"/>
          <p:cNvSpPr/>
          <p:nvPr/>
        </p:nvSpPr>
        <p:spPr>
          <a:xfrm flipH="1">
            <a:off x="7568331" y="4398264"/>
            <a:ext cx="861033" cy="0"/>
          </a:xfrm>
          <a:prstGeom prst="line">
            <a:avLst/>
          </a:prstGeom>
          <a:noFill/>
          <a:ln w="20320">
            <a:solidFill>
              <a:srgbClr val="4F46E5"/>
            </a:solidFill>
            <a:prstDash val="solid"/>
            <a:tailEnd type="triangle"/>
          </a:ln>
        </p:spPr>
      </p:sp>
      <p:sp>
        <p:nvSpPr>
          <p:cNvPr id="11" name="Shape 9"/>
          <p:cNvSpPr/>
          <p:nvPr/>
        </p:nvSpPr>
        <p:spPr>
          <a:xfrm flipH="1">
            <a:off x="3762331" y="4398264"/>
            <a:ext cx="861033" cy="0"/>
          </a:xfrm>
          <a:prstGeom prst="line">
            <a:avLst/>
          </a:prstGeom>
          <a:noFill/>
          <a:ln w="20320">
            <a:solidFill>
              <a:srgbClr val="4F46E5"/>
            </a:solidFill>
            <a:prstDash val="solid"/>
            <a:tailEnd type="triangle"/>
          </a:ln>
        </p:spPr>
      </p:sp>
      <p:sp>
        <p:nvSpPr>
          <p:cNvPr id="12" name="Shape 10"/>
          <p:cNvSpPr/>
          <p:nvPr/>
        </p:nvSpPr>
        <p:spPr>
          <a:xfrm>
            <a:off x="872227" y="1883664"/>
            <a:ext cx="2835239" cy="1344168"/>
          </a:xfrm>
          <a:prstGeom prst="rect">
            <a:avLst/>
          </a:prstGeom>
          <a:solidFill>
            <a:srgbClr val="F5F3FF"/>
          </a:solidFill>
          <a:ln w="16510">
            <a:solidFill>
              <a:srgbClr val="4F46E5"/>
            </a:solidFill>
            <a:prstDash val="solid"/>
          </a:ln>
        </p:spPr>
      </p:sp>
      <p:sp>
        <p:nvSpPr>
          <p:cNvPr id="13" name="Text 11"/>
          <p:cNvSpPr txBox="1"/>
          <p:nvPr/>
        </p:nvSpPr>
        <p:spPr>
          <a:xfrm>
            <a:off x="945379"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1. Task + history</a:t>
            </a:r>
            <a:endParaRPr lang="en-US" sz="1900" dirty="0"/>
          </a:p>
        </p:txBody>
      </p:sp>
      <p:sp>
        <p:nvSpPr>
          <p:cNvPr id="14" name="Text 12"/>
          <p:cNvSpPr txBox="1"/>
          <p:nvPr/>
        </p:nvSpPr>
        <p:spPr>
          <a:xfrm>
            <a:off x="963667"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Store instructions, user task and earlier tool observations</a:t>
            </a:r>
            <a:endParaRPr lang="en-US" sz="1700" dirty="0"/>
          </a:p>
        </p:txBody>
      </p:sp>
      <p:sp>
        <p:nvSpPr>
          <p:cNvPr id="15" name="Text 13"/>
          <p:cNvSpPr txBox="1"/>
          <p:nvPr/>
        </p:nvSpPr>
        <p:spPr>
          <a:xfrm>
            <a:off x="927091"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messages</a:t>
            </a:r>
            <a:endParaRPr lang="en-US" sz="1200" dirty="0"/>
          </a:p>
        </p:txBody>
      </p:sp>
      <p:sp>
        <p:nvSpPr>
          <p:cNvPr id="16" name="Text 14"/>
          <p:cNvSpPr txBox="1"/>
          <p:nvPr/>
        </p:nvSpPr>
        <p:spPr>
          <a:xfrm>
            <a:off x="872227"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conversation + tool descriptions</a:t>
            </a:r>
            <a:endParaRPr lang="en-US" sz="1500" dirty="0"/>
          </a:p>
        </p:txBody>
      </p:sp>
      <p:sp>
        <p:nvSpPr>
          <p:cNvPr id="17" name="Shape 15"/>
          <p:cNvSpPr/>
          <p:nvPr/>
        </p:nvSpPr>
        <p:spPr>
          <a:xfrm>
            <a:off x="4678228" y="1883664"/>
            <a:ext cx="2835239" cy="1344168"/>
          </a:xfrm>
          <a:prstGeom prst="rect">
            <a:avLst/>
          </a:prstGeom>
          <a:solidFill>
            <a:srgbClr val="F5F3FF"/>
          </a:solidFill>
          <a:ln w="16510">
            <a:solidFill>
              <a:srgbClr val="4F46E5"/>
            </a:solidFill>
            <a:prstDash val="solid"/>
          </a:ln>
        </p:spPr>
      </p:sp>
      <p:sp>
        <p:nvSpPr>
          <p:cNvPr id="18" name="Text 16"/>
          <p:cNvSpPr txBox="1"/>
          <p:nvPr/>
        </p:nvSpPr>
        <p:spPr>
          <a:xfrm>
            <a:off x="4751380"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2. Model decision</a:t>
            </a:r>
            <a:endParaRPr lang="en-US" sz="1900" dirty="0"/>
          </a:p>
        </p:txBody>
      </p:sp>
      <p:sp>
        <p:nvSpPr>
          <p:cNvPr id="19" name="Text 17"/>
          <p:cNvSpPr txBox="1"/>
          <p:nvPr/>
        </p:nvSpPr>
        <p:spPr>
          <a:xfrm>
            <a:off x="4769668"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Generate a final answer or propose a tool call</a:t>
            </a:r>
            <a:endParaRPr lang="en-US" sz="1700" dirty="0"/>
          </a:p>
        </p:txBody>
      </p:sp>
      <p:sp>
        <p:nvSpPr>
          <p:cNvPr id="20" name="Text 18"/>
          <p:cNvSpPr txBox="1"/>
          <p:nvPr/>
        </p:nvSpPr>
        <p:spPr>
          <a:xfrm>
            <a:off x="4733092"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llm</a:t>
            </a:r>
            <a:endParaRPr lang="en-US" sz="1200" dirty="0"/>
          </a:p>
        </p:txBody>
      </p:sp>
      <p:sp>
        <p:nvSpPr>
          <p:cNvPr id="21" name="Text 19"/>
          <p:cNvSpPr txBox="1"/>
          <p:nvPr/>
        </p:nvSpPr>
        <p:spPr>
          <a:xfrm>
            <a:off x="4678228"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generated proposal</a:t>
            </a:r>
            <a:endParaRPr lang="en-US" sz="1500" dirty="0"/>
          </a:p>
        </p:txBody>
      </p:sp>
      <p:sp>
        <p:nvSpPr>
          <p:cNvPr id="22" name="Shape 20"/>
          <p:cNvSpPr/>
          <p:nvPr/>
        </p:nvSpPr>
        <p:spPr>
          <a:xfrm>
            <a:off x="8484229" y="1883664"/>
            <a:ext cx="2835239" cy="1344168"/>
          </a:xfrm>
          <a:prstGeom prst="rect">
            <a:avLst/>
          </a:prstGeom>
          <a:solidFill>
            <a:srgbClr val="F5F3FF"/>
          </a:solidFill>
          <a:ln w="16510">
            <a:solidFill>
              <a:srgbClr val="4F46E5"/>
            </a:solidFill>
            <a:prstDash val="solid"/>
          </a:ln>
        </p:spPr>
      </p:sp>
      <p:sp>
        <p:nvSpPr>
          <p:cNvPr id="23" name="Text 21"/>
          <p:cNvSpPr txBox="1"/>
          <p:nvPr/>
        </p:nvSpPr>
        <p:spPr>
          <a:xfrm>
            <a:off x="8557381"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3. Parse proposal</a:t>
            </a:r>
            <a:endParaRPr lang="en-US" sz="1900" dirty="0"/>
          </a:p>
        </p:txBody>
      </p:sp>
      <p:sp>
        <p:nvSpPr>
          <p:cNvPr id="24" name="Text 22"/>
          <p:cNvSpPr txBox="1"/>
          <p:nvPr/>
        </p:nvSpPr>
        <p:spPr>
          <a:xfrm>
            <a:off x="8575669"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Extract one tool name and its argument dictionary</a:t>
            </a:r>
            <a:endParaRPr lang="en-US" sz="1700" dirty="0"/>
          </a:p>
        </p:txBody>
      </p:sp>
      <p:sp>
        <p:nvSpPr>
          <p:cNvPr id="25" name="Text 23"/>
          <p:cNvSpPr txBox="1"/>
          <p:nvPr/>
        </p:nvSpPr>
        <p:spPr>
          <a:xfrm>
            <a:off x="8539093"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parse_tool_calls</a:t>
            </a:r>
            <a:endParaRPr lang="en-US" sz="1200" dirty="0"/>
          </a:p>
        </p:txBody>
      </p:sp>
      <p:sp>
        <p:nvSpPr>
          <p:cNvPr id="26" name="Text 24"/>
          <p:cNvSpPr txBox="1"/>
          <p:nvPr/>
        </p:nvSpPr>
        <p:spPr>
          <a:xfrm>
            <a:off x="8484229"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structured call</a:t>
            </a:r>
            <a:endParaRPr lang="en-US" sz="1500" dirty="0"/>
          </a:p>
        </p:txBody>
      </p:sp>
      <p:sp>
        <p:nvSpPr>
          <p:cNvPr id="27" name="Shape 25"/>
          <p:cNvSpPr/>
          <p:nvPr/>
        </p:nvSpPr>
        <p:spPr>
          <a:xfrm>
            <a:off x="8484229" y="3712464"/>
            <a:ext cx="2835239" cy="1344168"/>
          </a:xfrm>
          <a:prstGeom prst="rect">
            <a:avLst/>
          </a:prstGeom>
          <a:solidFill>
            <a:srgbClr val="F5F3FF"/>
          </a:solidFill>
          <a:ln w="16510">
            <a:solidFill>
              <a:srgbClr val="4F46E5"/>
            </a:solidFill>
            <a:prstDash val="solid"/>
          </a:ln>
        </p:spPr>
      </p:sp>
      <p:sp>
        <p:nvSpPr>
          <p:cNvPr id="28" name="Text 26"/>
          <p:cNvSpPr txBox="1"/>
          <p:nvPr/>
        </p:nvSpPr>
        <p:spPr>
          <a:xfrm>
            <a:off x="8557381"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4. Check execution</a:t>
            </a:r>
            <a:endParaRPr lang="en-US" sz="1900" dirty="0"/>
          </a:p>
        </p:txBody>
      </p:sp>
      <p:sp>
        <p:nvSpPr>
          <p:cNvPr id="29" name="Text 27"/>
          <p:cNvSpPr txBox="1"/>
          <p:nvPr/>
        </p:nvSpPr>
        <p:spPr>
          <a:xfrm>
            <a:off x="8575669"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Allowlisted tools only; simulated approval for side-effect tools</a:t>
            </a:r>
            <a:endParaRPr lang="en-US" sz="1700" dirty="0"/>
          </a:p>
        </p:txBody>
      </p:sp>
      <p:sp>
        <p:nvSpPr>
          <p:cNvPr id="30" name="Text 28"/>
          <p:cNvSpPr txBox="1"/>
          <p:nvPr/>
        </p:nvSpPr>
        <p:spPr>
          <a:xfrm>
            <a:off x="8539093"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execute, approve</a:t>
            </a:r>
            <a:endParaRPr lang="en-US" sz="1200" dirty="0"/>
          </a:p>
        </p:txBody>
      </p:sp>
      <p:sp>
        <p:nvSpPr>
          <p:cNvPr id="31" name="Text 29"/>
          <p:cNvSpPr txBox="1"/>
          <p:nvPr/>
        </p:nvSpPr>
        <p:spPr>
          <a:xfrm>
            <a:off x="8484229"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permitted arguments</a:t>
            </a:r>
            <a:endParaRPr lang="en-US" sz="1500" dirty="0"/>
          </a:p>
        </p:txBody>
      </p:sp>
      <p:sp>
        <p:nvSpPr>
          <p:cNvPr id="32" name="Shape 30"/>
          <p:cNvSpPr/>
          <p:nvPr/>
        </p:nvSpPr>
        <p:spPr>
          <a:xfrm>
            <a:off x="4678228" y="3712464"/>
            <a:ext cx="2835239" cy="1344168"/>
          </a:xfrm>
          <a:prstGeom prst="rect">
            <a:avLst/>
          </a:prstGeom>
          <a:solidFill>
            <a:srgbClr val="F5F3FF"/>
          </a:solidFill>
          <a:ln w="16510">
            <a:solidFill>
              <a:srgbClr val="4F46E5"/>
            </a:solidFill>
            <a:prstDash val="solid"/>
          </a:ln>
        </p:spPr>
      </p:sp>
      <p:sp>
        <p:nvSpPr>
          <p:cNvPr id="33" name="Text 31"/>
          <p:cNvSpPr txBox="1"/>
          <p:nvPr/>
        </p:nvSpPr>
        <p:spPr>
          <a:xfrm>
            <a:off x="4751380"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5. Run permitted tool</a:t>
            </a:r>
            <a:endParaRPr lang="en-US" sz="1900" dirty="0"/>
          </a:p>
        </p:txBody>
      </p:sp>
      <p:sp>
        <p:nvSpPr>
          <p:cNvPr id="34" name="Text 32"/>
          <p:cNvSpPr txBox="1"/>
          <p:nvPr/>
        </p:nvSpPr>
        <p:spPr>
          <a:xfrm>
            <a:off x="4769668"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Search passages, calculate arithmetic or simulate email</a:t>
            </a:r>
            <a:endParaRPr lang="en-US" sz="1700" dirty="0"/>
          </a:p>
        </p:txBody>
      </p:sp>
      <p:sp>
        <p:nvSpPr>
          <p:cNvPr id="35" name="Text 33"/>
          <p:cNvSpPr txBox="1"/>
          <p:nvPr/>
        </p:nvSpPr>
        <p:spPr>
          <a:xfrm>
            <a:off x="4733092"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TOOLS</a:t>
            </a:r>
            <a:endParaRPr lang="en-US" sz="1200" dirty="0"/>
          </a:p>
        </p:txBody>
      </p:sp>
      <p:sp>
        <p:nvSpPr>
          <p:cNvPr id="36" name="Text 34"/>
          <p:cNvSpPr txBox="1"/>
          <p:nvPr/>
        </p:nvSpPr>
        <p:spPr>
          <a:xfrm>
            <a:off x="4678228"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result or error text</a:t>
            </a:r>
            <a:endParaRPr lang="en-US" sz="1500" dirty="0"/>
          </a:p>
        </p:txBody>
      </p:sp>
      <p:sp>
        <p:nvSpPr>
          <p:cNvPr id="37" name="Shape 35"/>
          <p:cNvSpPr/>
          <p:nvPr/>
        </p:nvSpPr>
        <p:spPr>
          <a:xfrm>
            <a:off x="872227" y="3712464"/>
            <a:ext cx="2835239" cy="1344168"/>
          </a:xfrm>
          <a:prstGeom prst="rect">
            <a:avLst/>
          </a:prstGeom>
          <a:solidFill>
            <a:srgbClr val="F5F3FF"/>
          </a:solidFill>
          <a:ln w="16510">
            <a:solidFill>
              <a:srgbClr val="4F46E5"/>
            </a:solidFill>
            <a:prstDash val="solid"/>
          </a:ln>
        </p:spPr>
      </p:sp>
      <p:sp>
        <p:nvSpPr>
          <p:cNvPr id="38" name="Text 36"/>
          <p:cNvSpPr txBox="1"/>
          <p:nvPr/>
        </p:nvSpPr>
        <p:spPr>
          <a:xfrm>
            <a:off x="945379"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6. Record observation</a:t>
            </a:r>
            <a:endParaRPr lang="en-US" sz="1900" dirty="0"/>
          </a:p>
        </p:txBody>
      </p:sp>
      <p:sp>
        <p:nvSpPr>
          <p:cNvPr id="39" name="Text 37"/>
          <p:cNvSpPr txBox="1"/>
          <p:nvPr/>
        </p:nvSpPr>
        <p:spPr>
          <a:xfrm>
            <a:off x="963667"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Append results to history; stop at the step limit</a:t>
            </a:r>
            <a:endParaRPr lang="en-US" sz="1700" dirty="0"/>
          </a:p>
        </p:txBody>
      </p:sp>
      <p:sp>
        <p:nvSpPr>
          <p:cNvPr id="40" name="Text 38"/>
          <p:cNvSpPr txBox="1"/>
          <p:nvPr/>
        </p:nvSpPr>
        <p:spPr>
          <a:xfrm>
            <a:off x="927091"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run_agent, trace</a:t>
            </a:r>
            <a:endParaRPr lang="en-US" sz="1200" dirty="0"/>
          </a:p>
        </p:txBody>
      </p:sp>
      <p:sp>
        <p:nvSpPr>
          <p:cNvPr id="41" name="Shape 39"/>
          <p:cNvSpPr/>
          <p:nvPr/>
        </p:nvSpPr>
        <p:spPr>
          <a:xfrm>
            <a:off x="2289847" y="5422392"/>
            <a:ext cx="0" cy="109728"/>
          </a:xfrm>
          <a:prstGeom prst="line">
            <a:avLst/>
          </a:prstGeom>
          <a:noFill/>
          <a:ln w="20320">
            <a:solidFill>
              <a:srgbClr val="0F766E"/>
            </a:solidFill>
            <a:prstDash val="dash"/>
          </a:ln>
        </p:spPr>
      </p:sp>
      <p:sp>
        <p:nvSpPr>
          <p:cNvPr id="42" name="Shape 40"/>
          <p:cNvSpPr/>
          <p:nvPr/>
        </p:nvSpPr>
        <p:spPr>
          <a:xfrm flipH="1">
            <a:off x="603504" y="5532120"/>
            <a:ext cx="1686343" cy="0"/>
          </a:xfrm>
          <a:prstGeom prst="line">
            <a:avLst/>
          </a:prstGeom>
          <a:noFill/>
          <a:ln w="20320">
            <a:solidFill>
              <a:srgbClr val="0F766E"/>
            </a:solidFill>
            <a:prstDash val="dash"/>
          </a:ln>
        </p:spPr>
      </p:sp>
      <p:sp>
        <p:nvSpPr>
          <p:cNvPr id="43" name="Shape 41"/>
          <p:cNvSpPr/>
          <p:nvPr/>
        </p:nvSpPr>
        <p:spPr>
          <a:xfrm flipV="1">
            <a:off x="603504" y="1828800"/>
            <a:ext cx="0" cy="3703320"/>
          </a:xfrm>
          <a:prstGeom prst="line">
            <a:avLst/>
          </a:prstGeom>
          <a:noFill/>
          <a:ln w="20320">
            <a:solidFill>
              <a:srgbClr val="0F766E"/>
            </a:solidFill>
            <a:prstDash val="dash"/>
          </a:ln>
        </p:spPr>
      </p:sp>
      <p:sp>
        <p:nvSpPr>
          <p:cNvPr id="44" name="Shape 42"/>
          <p:cNvSpPr/>
          <p:nvPr/>
        </p:nvSpPr>
        <p:spPr>
          <a:xfrm>
            <a:off x="603504" y="1828800"/>
            <a:ext cx="5492344" cy="0"/>
          </a:xfrm>
          <a:prstGeom prst="line">
            <a:avLst/>
          </a:prstGeom>
          <a:noFill/>
          <a:ln w="20320">
            <a:solidFill>
              <a:srgbClr val="0F766E"/>
            </a:solidFill>
            <a:prstDash val="dash"/>
          </a:ln>
        </p:spPr>
      </p:sp>
      <p:sp>
        <p:nvSpPr>
          <p:cNvPr id="45" name="Shape 43"/>
          <p:cNvSpPr/>
          <p:nvPr/>
        </p:nvSpPr>
        <p:spPr>
          <a:xfrm>
            <a:off x="6095848" y="1828800"/>
            <a:ext cx="0" cy="36576"/>
          </a:xfrm>
          <a:prstGeom prst="line">
            <a:avLst/>
          </a:prstGeom>
          <a:noFill/>
          <a:ln w="20320">
            <a:solidFill>
              <a:srgbClr val="0F766E"/>
            </a:solidFill>
            <a:prstDash val="dash"/>
            <a:tailEnd type="triangle"/>
          </a:ln>
        </p:spPr>
      </p:sp>
      <p:sp>
        <p:nvSpPr>
          <p:cNvPr id="46" name="Text 44"/>
          <p:cNvSpPr txBox="1"/>
          <p:nvPr/>
        </p:nvSpPr>
        <p:spPr>
          <a:xfrm>
            <a:off x="685800" y="5577840"/>
            <a:ext cx="10820095" cy="438912"/>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Repeat: The tool observation is appended to messages before the model chooses its next step.</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agent loop (ReAct: reason, act, observe)</a:t>
            </a:r>
            <a:endParaRPr lang="en-US" sz="3200" dirty="0"/>
          </a:p>
        </p:txBody>
      </p:sp>
      <p:pic>
        <p:nvPicPr>
          <p:cNvPr id="6" name="Image 0" descr="C:\Users\sudee\Downloads\Generative_AI_2027_Teaching_Pack\AI2027_Project\build\figures\week_12\agent_loop.png">    </p:cNvPr>
          <p:cNvPicPr>
            <a:picLocks noChangeAspect="1"/>
          </p:cNvPicPr>
          <p:nvPr/>
        </p:nvPicPr>
        <p:blipFill>
          <a:blip r:embed="rId1"/>
          <a:stretch>
            <a:fillRect/>
          </a:stretch>
        </p:blipFill>
        <p:spPr>
          <a:xfrm>
            <a:off x="548640" y="1676461"/>
            <a:ext cx="11094415" cy="4437766"/>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2200" b="1" dirty="0">
                <a:solidFill>
                  <a:srgbClr val="1E1B4B"/>
                </a:solidFill>
                <a:latin typeface="Calibri" pitchFamily="34" charset="0"/>
                <a:ea typeface="Calibri" pitchFamily="34" charset="-122"/>
                <a:cs typeface="Calibri" pitchFamily="34" charset="-120"/>
              </a:rPr>
              <a:t>Function calling: tools are described, the model proposes, your code executes</a:t>
            </a:r>
            <a:endParaRPr lang="en-US" sz="2200" dirty="0"/>
          </a:p>
        </p:txBody>
      </p:sp>
      <p:sp>
        <p:nvSpPr>
          <p:cNvPr id="6" name="Shape 4"/>
          <p:cNvSpPr/>
          <p:nvPr/>
        </p:nvSpPr>
        <p:spPr>
          <a:xfrm>
            <a:off x="548640" y="1481328"/>
            <a:ext cx="11094415" cy="3862832"/>
          </a:xfrm>
          <a:prstGeom prst="roundRect">
            <a:avLst>
              <a:gd name="adj" fmla="val 2367"/>
            </a:avLst>
          </a:prstGeom>
          <a:solidFill>
            <a:srgbClr val="1E1E2E"/>
          </a:solidFill>
          <a:ln w="12700">
            <a:solidFill>
              <a:srgbClr val="1E1E2E"/>
            </a:solidFill>
            <a:prstDash val="solid"/>
          </a:ln>
        </p:spPr>
      </p:sp>
      <p:sp>
        <p:nvSpPr>
          <p:cNvPr id="7" name="Text 5"/>
          <p:cNvSpPr txBox="1"/>
          <p:nvPr/>
        </p:nvSpPr>
        <p:spPr>
          <a:xfrm>
            <a:off x="685800" y="1591056"/>
            <a:ext cx="10820095" cy="3643376"/>
          </a:xfrm>
          <a:prstGeom prst="rect">
            <a:avLst/>
          </a:prstGeom>
          <a:noFill/>
          <a:ln/>
        </p:spPr>
        <p:txBody>
          <a:bodyPr wrap="square" lIns="76200" tIns="76200" rIns="76200" bIns="76200" rtlCol="0" anchor="t"/>
          <a:lstStyle/>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def calculator(expression: str) -&gt; str:</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"""Evaluate an arithmetic expression such as '(15 + 3) * 2'."""</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TOOLS = {"search_handbook": search_handbook, "calculator": calculator}</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for step in range(MAX_STEPS):</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reply = llm(messages, tools=list(TOOLS.values()))  # schemas from docstrings</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calls = parse_tool_calls(reply)       # e.g. {"name": ..., "arguments": {...}}</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if not calls:</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return reply                      # final answer</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for call in calls:</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result = execute(call)            # allowlist, validation, approval</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messages.append({"role": "tool", "name": call["name"], "content": result})</a:t>
            </a:r>
            <a:endParaRPr lang="en-US" sz="1600" dirty="0"/>
          </a:p>
        </p:txBody>
      </p:sp>
      <p:sp>
        <p:nvSpPr>
          <p:cNvPr id="8" name="Text 6"/>
          <p:cNvSpPr txBox="1"/>
          <p:nvPr/>
        </p:nvSpPr>
        <p:spPr>
          <a:xfrm>
            <a:off x="548640" y="5481320"/>
            <a:ext cx="11094415" cy="828040"/>
          </a:xfrm>
          <a:prstGeom prst="rect">
            <a:avLst/>
          </a:prstGeom>
          <a:noFill/>
          <a:ln/>
        </p:spPr>
        <p:txBody>
          <a:bodyPr wrap="square" lIns="50800" tIns="50800" rIns="50800" bIns="50800" rtlCol="0" anchor="t"/>
          <a:lstStyle/>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The model sees each tool's </a:t>
            </a:r>
            <a:pPr indent="0" marL="0">
              <a:buNone/>
            </a:pPr>
            <a:r>
              <a:rPr lang="en-US" sz="1700" b="1" dirty="0">
                <a:solidFill>
                  <a:srgbClr val="1F2937"/>
                </a:solidFill>
                <a:latin typeface="Calibri" pitchFamily="34" charset="0"/>
                <a:ea typeface="Calibri" pitchFamily="34" charset="-122"/>
                <a:cs typeface="Calibri" pitchFamily="34" charset="-120"/>
              </a:rPr>
              <a:t>name, description and JSON schema</a:t>
            </a:r>
            <a:pPr indent="0" marL="0">
              <a:buNone/>
            </a:pPr>
            <a:r>
              <a:rPr lang="en-US" sz="1700" dirty="0">
                <a:solidFill>
                  <a:srgbClr val="1F2937"/>
                </a:solidFill>
                <a:latin typeface="Calibri" pitchFamily="34" charset="0"/>
                <a:ea typeface="Calibri" pitchFamily="34" charset="-122"/>
                <a:cs typeface="Calibri" pitchFamily="34" charset="-120"/>
              </a:rPr>
              <a:t>.</a:t>
            </a:r>
            <a:endParaRPr lang="en-US" sz="1700" dirty="0"/>
          </a:p>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Tool results are </a:t>
            </a:r>
            <a:pPr indent="0" marL="0">
              <a:buNone/>
            </a:pPr>
            <a:r>
              <a:rPr lang="en-US" sz="1700" b="1" dirty="0">
                <a:solidFill>
                  <a:srgbClr val="1F2937"/>
                </a:solidFill>
                <a:latin typeface="Calibri" pitchFamily="34" charset="0"/>
                <a:ea typeface="Calibri" pitchFamily="34" charset="-122"/>
                <a:cs typeface="Calibri" pitchFamily="34" charset="-120"/>
              </a:rPr>
              <a:t>untrusted input</a:t>
            </a:r>
            <a:pPr indent="0" marL="0">
              <a:buNone/>
            </a:pPr>
            <a:r>
              <a:rPr lang="en-US" sz="1700" dirty="0">
                <a:solidFill>
                  <a:srgbClr val="1F2937"/>
                </a:solidFill>
                <a:latin typeface="Calibri" pitchFamily="34" charset="0"/>
                <a:ea typeface="Calibri" pitchFamily="34" charset="-122"/>
                <a:cs typeface="Calibri" pitchFamily="34" charset="-120"/>
              </a:rPr>
              <a:t>: validate and limit them.</a:t>
            </a:r>
            <a:endParaRPr lang="en-US" sz="1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Measured: a real agent trajectory from the lab</a:t>
            </a:r>
            <a:endParaRPr lang="en-US" sz="3200" dirty="0"/>
          </a:p>
        </p:txBody>
      </p:sp>
      <p:pic>
        <p:nvPicPr>
          <p:cNvPr id="6" name="Image 0" descr="C:\Users\sudee\Downloads\Generative_AI_2027_Teaching_Pack\AI2027_Project\build\figures\week_12\agent_trace.png">    </p:cNvPr>
          <p:cNvPicPr>
            <a:picLocks noChangeAspect="1"/>
          </p:cNvPicPr>
          <p:nvPr/>
        </p:nvPicPr>
        <p:blipFill>
          <a:blip r:embed="rId1"/>
          <a:stretch>
            <a:fillRect/>
          </a:stretch>
        </p:blipFill>
        <p:spPr>
          <a:xfrm>
            <a:off x="548640" y="1534748"/>
            <a:ext cx="11094415" cy="4051393"/>
          </a:xfrm>
          <a:prstGeom prst="rect">
            <a:avLst/>
          </a:prstGeom>
        </p:spPr>
      </p:pic>
      <p:sp>
        <p:nvSpPr>
          <p:cNvPr id="7" name="Text 4"/>
          <p:cNvSpPr txBox="1"/>
          <p:nvPr/>
        </p:nvSpPr>
        <p:spPr>
          <a:xfrm>
            <a:off x="548640" y="5769022"/>
            <a:ext cx="11094415" cy="540338"/>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Qwen2.5-1.5B-Instruct called search_handbook → calculator; final answer 68.8 (correct).</a:t>
            </a:r>
            <a:endParaRPr lang="en-US" sz="2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Workflows vs. agents</a:t>
            </a:r>
            <a:endParaRPr lang="en-US" sz="3200" dirty="0"/>
          </a:p>
        </p:txBody>
      </p:sp>
      <p:pic>
        <p:nvPicPr>
          <p:cNvPr id="6" name="Image 0" descr="C:\Users\sudee\Downloads\Generative_AI_2027_Teaching_Pack\AI2027_Project\build\figures\week_12\workflows.png">    </p:cNvPr>
          <p:cNvPicPr>
            <a:picLocks noChangeAspect="1"/>
          </p:cNvPicPr>
          <p:nvPr/>
        </p:nvPicPr>
        <p:blipFill>
          <a:blip r:embed="rId1"/>
          <a:stretch>
            <a:fillRect/>
          </a:stretch>
        </p:blipFill>
        <p:spPr>
          <a:xfrm>
            <a:off x="548640" y="1868302"/>
            <a:ext cx="11094415" cy="2988809"/>
          </a:xfrm>
          <a:prstGeom prst="rect">
            <a:avLst/>
          </a:prstGeom>
        </p:spPr>
      </p:pic>
      <p:sp>
        <p:nvSpPr>
          <p:cNvPr id="7" name="Text 4"/>
          <p:cNvSpPr txBox="1"/>
          <p:nvPr/>
        </p:nvSpPr>
        <p:spPr>
          <a:xfrm>
            <a:off x="548640" y="5039990"/>
            <a:ext cx="11094415" cy="1269370"/>
          </a:xfrm>
          <a:prstGeom prst="rect">
            <a:avLst/>
          </a:prstGeom>
          <a:noFill/>
          <a:ln/>
        </p:spPr>
        <p:txBody>
          <a:bodyPr wrap="square" lIns="50800" tIns="50800" rIns="50800" bIns="50800" rtlCol="0" anchor="t"/>
          <a:lstStyle/>
          <a:p>
            <a:pPr marL="254000" indent="-254000">
              <a:spcAft>
                <a:spcPts val="800"/>
              </a:spcAft>
              <a:buSzPct val="100000"/>
              <a:buChar char="●"/>
            </a:pPr>
            <a:r>
              <a:rPr lang="en-US" sz="2000" b="1" dirty="0">
                <a:solidFill>
                  <a:srgbClr val="1F2937"/>
                </a:solidFill>
                <a:latin typeface="Calibri" pitchFamily="34" charset="0"/>
                <a:ea typeface="Calibri" pitchFamily="34" charset="-122"/>
                <a:cs typeface="Calibri" pitchFamily="34" charset="-120"/>
              </a:rPr>
              <a:t>Workflows</a:t>
            </a:r>
            <a:pPr indent="0" marL="0">
              <a:buNone/>
            </a:pPr>
            <a:r>
              <a:rPr lang="en-US" sz="2000" dirty="0">
                <a:solidFill>
                  <a:srgbClr val="1F2937"/>
                </a:solidFill>
                <a:latin typeface="Calibri" pitchFamily="34" charset="0"/>
                <a:ea typeface="Calibri" pitchFamily="34" charset="-122"/>
                <a:cs typeface="Calibri" pitchFamily="34" charset="-120"/>
              </a:rPr>
              <a:t>: LLM calls orchestrated by fixed code paths; predictable, testable, cheaper.</a:t>
            </a:r>
            <a:endParaRPr lang="en-US" sz="2000" dirty="0"/>
          </a:p>
          <a:p>
            <a:pPr marL="254000" indent="-254000">
              <a:spcAft>
                <a:spcPts val="800"/>
              </a:spcAft>
              <a:buSzPct val="100000"/>
              <a:buChar char="●"/>
            </a:pPr>
            <a:r>
              <a:rPr lang="en-US" sz="2000" b="1" dirty="0">
                <a:solidFill>
                  <a:srgbClr val="1F2937"/>
                </a:solidFill>
                <a:latin typeface="Calibri" pitchFamily="34" charset="0"/>
                <a:ea typeface="Calibri" pitchFamily="34" charset="-122"/>
                <a:cs typeface="Calibri" pitchFamily="34" charset="-120"/>
              </a:rPr>
              <a:t>Agents</a:t>
            </a:r>
            <a:pPr indent="0" marL="0">
              <a:buNone/>
            </a:pPr>
            <a:r>
              <a:rPr lang="en-US" sz="2000" dirty="0">
                <a:solidFill>
                  <a:srgbClr val="1F2937"/>
                </a:solidFill>
                <a:latin typeface="Calibri" pitchFamily="34" charset="0"/>
                <a:ea typeface="Calibri" pitchFamily="34" charset="-122"/>
                <a:cs typeface="Calibri" pitchFamily="34" charset="-120"/>
              </a:rPr>
              <a:t>: the LLM directs its own steps; use when steps cannot be predicted, and add limits.</a:t>
            </a:r>
            <a:endParaRPr lang="en-US" sz="2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Multi-agent systems</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Several specialised agents (researcher, writer, reviewer) coordinated by an orchestrator or by message passing.</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Benefits: separation of concerns, parallel work, different tools and permissions per agent.</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Costs: more tokens, harder debugging, errors that propagate between agents.</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Agent-to-agent protocols (e.g. </a:t>
            </a:r>
            <a:pPr indent="0" marL="0">
              <a:buNone/>
            </a:pPr>
            <a:r>
              <a:rPr lang="en-US" sz="2200" b="1" dirty="0">
                <a:solidFill>
                  <a:srgbClr val="1F2937"/>
                </a:solidFill>
                <a:latin typeface="Calibri" pitchFamily="34" charset="0"/>
                <a:ea typeface="Calibri" pitchFamily="34" charset="-122"/>
                <a:cs typeface="Calibri" pitchFamily="34" charset="-120"/>
              </a:rPr>
              <a:t>A2A</a:t>
            </a:r>
            <a:pPr indent="0" marL="0">
              <a:buNone/>
            </a:pPr>
            <a:r>
              <a:rPr lang="en-US" sz="2200" dirty="0">
                <a:solidFill>
                  <a:srgbClr val="1F2937"/>
                </a:solidFill>
                <a:latin typeface="Calibri" pitchFamily="34" charset="0"/>
                <a:ea typeface="Calibri" pitchFamily="34" charset="-122"/>
                <a:cs typeface="Calibri" pitchFamily="34" charset="-120"/>
              </a:rPr>
              <a:t>) let agents from different vendors communicate.</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Model Context Protocol (MCP)</a:t>
            </a:r>
            <a:endParaRPr lang="en-US" sz="3200" dirty="0"/>
          </a:p>
        </p:txBody>
      </p:sp>
      <p:pic>
        <p:nvPicPr>
          <p:cNvPr id="6" name="Image 0" descr="C:\Users\sudee\Downloads\Generative_AI_2027_Teaching_Pack\AI2027_Project\build\figures\week_12\mcp.png">    </p:cNvPr>
          <p:cNvPicPr>
            <a:picLocks noChangeAspect="1"/>
          </p:cNvPicPr>
          <p:nvPr/>
        </p:nvPicPr>
        <p:blipFill>
          <a:blip r:embed="rId1"/>
          <a:stretch>
            <a:fillRect/>
          </a:stretch>
        </p:blipFill>
        <p:spPr>
          <a:xfrm>
            <a:off x="1398720" y="1481328"/>
            <a:ext cx="9394254" cy="3477006"/>
          </a:xfrm>
          <a:prstGeom prst="rect">
            <a:avLst/>
          </a:prstGeom>
        </p:spPr>
      </p:pic>
      <p:sp>
        <p:nvSpPr>
          <p:cNvPr id="7" name="Text 4"/>
          <p:cNvSpPr txBox="1"/>
          <p:nvPr/>
        </p:nvSpPr>
        <p:spPr>
          <a:xfrm>
            <a:off x="548640" y="5141214"/>
            <a:ext cx="11094415" cy="1168146"/>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Open standard (Anthropic, 2024; Linux Foundation's Agentic AI Foundation since Dec 2025) connecting AI apps to tools and data.</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Write a server once; any MCP client (assistants, IDEs, agent frameworks) can use it.</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Frameworks and tools for RAG and agents</a:t>
            </a:r>
            <a:endParaRPr lang="en-US" sz="3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4631649"/>
                <a:gridCol w="6462766"/>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Tool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Strength</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LangChain / </a:t>
                      </a:r>
                      <a:pPr indent="0" marL="0">
                        <a:buNone/>
                      </a:pPr>
                      <a:r>
                        <a:rPr lang="en-US" sz="2000" b="1" dirty="0">
                          <a:solidFill>
                            <a:srgbClr val="1F2937"/>
                          </a:solidFill>
                          <a:latin typeface="Calibri" pitchFamily="34" charset="0"/>
                          <a:ea typeface="Calibri" pitchFamily="34" charset="-122"/>
                          <a:cs typeface="Calibri" pitchFamily="34" charset="-120"/>
                        </a:rPr>
                        <a:t>LangGraph</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Components and stateful agent graphs with checkpoints and human-in-the-loop</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LlamaIndex</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Data connectors, indexing and retrieval pipelines for RAG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OpenAI Agents SDK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Agents, tools, handoffs and tracing with OpenAI models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Google Agent Development Kit (ADK)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Multi-agent systems with Gemini and other models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Microsoft Agent Framework / Semantic Kernel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Enterprise agents in Python and .NET on Azure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Hugging Face smolagents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Minimal agents with open models; code-writing agents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Students ask a course assistant factual questions about deadlines and rules. Which design is most appropriate?</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A multi-agent system with a planner, researcher and writer</a:t>
            </a:r>
            <a:endParaRPr lang="en-US" sz="18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A RAG workflow: retrieve, answer with citations, abstain when unsure</a:t>
            </a:r>
            <a:endParaRPr lang="en-US" sz="18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An autonomous agent with web access and e-mail</a:t>
            </a:r>
            <a:endParaRPr lang="en-US" sz="18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A fine-tuned model without retrieval</a:t>
            </a:r>
            <a:endParaRPr lang="en-US" sz="18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300" i="1" dirty="0">
                <a:solidFill>
                  <a:srgbClr val="6B7280"/>
                </a:solidFill>
                <a:latin typeface="Calibri" pitchFamily="34" charset="0"/>
                <a:ea typeface="Calibri" pitchFamily="34" charset="-122"/>
                <a:cs typeface="Calibri" pitchFamily="34" charset="-120"/>
              </a:rPr>
              <a:t>Vote, then convince your neighbour (1 minute).</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05</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Risks and guardrails</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What can go wrong when models read documents and take actions?</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Prompt injection, especially indirect</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Direct</a:t>
            </a:r>
            <a:pPr indent="0" marL="0">
              <a:buNone/>
            </a:pPr>
            <a:r>
              <a:rPr lang="en-US" sz="2200" dirty="0">
                <a:solidFill>
                  <a:srgbClr val="1F2937"/>
                </a:solidFill>
                <a:latin typeface="Calibri" pitchFamily="34" charset="0"/>
                <a:ea typeface="Calibri" pitchFamily="34" charset="-122"/>
                <a:cs typeface="Calibri" pitchFamily="34" charset="-120"/>
              </a:rPr>
              <a:t>: the user types 'ignore previous instructions…' (week 7).</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Indirect</a:t>
            </a:r>
            <a:pPr indent="0" marL="0">
              <a:buNone/>
            </a:pPr>
            <a:r>
              <a:rPr lang="en-US" sz="2200" dirty="0">
                <a:solidFill>
                  <a:srgbClr val="1F2937"/>
                </a:solidFill>
                <a:latin typeface="Calibri" pitchFamily="34" charset="0"/>
                <a:ea typeface="Calibri" pitchFamily="34" charset="-122"/>
                <a:cs typeface="Calibri" pitchFamily="34" charset="-120"/>
              </a:rPr>
              <a:t>: instructions hidden in a web page, e-mail or document the system retrieves (Greshake et al., 2023).</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Agents make it dangerous: injected text can trigger </a:t>
            </a:r>
            <a:pPr indent="0" marL="0">
              <a:buNone/>
            </a:pPr>
            <a:r>
              <a:rPr lang="en-US" sz="2200" b="1" dirty="0">
                <a:solidFill>
                  <a:srgbClr val="1F2937"/>
                </a:solidFill>
                <a:latin typeface="Calibri" pitchFamily="34" charset="0"/>
                <a:ea typeface="Calibri" pitchFamily="34" charset="-122"/>
                <a:cs typeface="Calibri" pitchFamily="34" charset="-120"/>
              </a:rPr>
              <a:t>tool calls</a:t>
            </a:r>
            <a:pPr indent="0" marL="0">
              <a:buNone/>
            </a:pPr>
            <a:r>
              <a:rPr lang="en-US" sz="2200" dirty="0">
                <a:solidFill>
                  <a:srgbClr val="1F2937"/>
                </a:solidFill>
                <a:latin typeface="Calibri" pitchFamily="34" charset="0"/>
                <a:ea typeface="Calibri" pitchFamily="34" charset="-122"/>
                <a:cs typeface="Calibri" pitchFamily="34" charset="-120"/>
              </a:rPr>
              <a:t> (send data, delete files, make purchases).</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Lab test: a forum post tells AI assistants to e-mail all grades externally. The agent did not attempt to send e-mail; even if it had, the approval gate would have blocked the external address.</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Guardrails for RAG and agents</a:t>
            </a:r>
            <a:endParaRPr lang="en-US" sz="3200" dirty="0"/>
          </a:p>
        </p:txBody>
      </p:sp>
      <p:sp>
        <p:nvSpPr>
          <p:cNvPr id="6" name="Shape 4"/>
          <p:cNvSpPr/>
          <p:nvPr/>
        </p:nvSpPr>
        <p:spPr>
          <a:xfrm>
            <a:off x="548640" y="1618488"/>
            <a:ext cx="1889699" cy="3108960"/>
          </a:xfrm>
          <a:prstGeom prst="roundRect">
            <a:avLst>
              <a:gd name="adj" fmla="val 5807"/>
            </a:avLst>
          </a:prstGeom>
          <a:solidFill>
            <a:srgbClr val="EEF0FF"/>
          </a:solidFill>
          <a:ln w="15875">
            <a:solidFill>
              <a:srgbClr val="4F46E5"/>
            </a:solidFill>
            <a:prstDash val="solid"/>
          </a:ln>
        </p:spPr>
      </p:sp>
      <p:sp>
        <p:nvSpPr>
          <p:cNvPr id="7" name="Shape 5"/>
          <p:cNvSpPr/>
          <p:nvPr/>
        </p:nvSpPr>
        <p:spPr>
          <a:xfrm>
            <a:off x="1292322" y="1746504"/>
            <a:ext cx="402336" cy="402336"/>
          </a:xfrm>
          <a:prstGeom prst="ellipse">
            <a:avLst/>
          </a:prstGeom>
          <a:solidFill>
            <a:srgbClr val="4F46E5"/>
          </a:solidFill>
          <a:ln w="12700">
            <a:solidFill>
              <a:srgbClr val="4F46E5"/>
            </a:solidFill>
            <a:prstDash val="solid"/>
          </a:ln>
        </p:spPr>
      </p:sp>
      <p:sp>
        <p:nvSpPr>
          <p:cNvPr id="8" name="Text 6"/>
          <p:cNvSpPr txBox="1"/>
          <p:nvPr/>
        </p:nvSpPr>
        <p:spPr>
          <a:xfrm>
            <a:off x="1292322"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621792" y="2185416"/>
            <a:ext cx="1743395" cy="777240"/>
          </a:xfrm>
          <a:prstGeom prst="rect">
            <a:avLst/>
          </a:prstGeom>
          <a:noFill/>
          <a:ln/>
        </p:spPr>
        <p:txBody>
          <a:bodyPr wrap="square" lIns="50800" tIns="50800" rIns="50800" bIns="50800" rtlCol="0" anchor="ctr"/>
          <a:lstStyle/>
          <a:p>
            <a:pPr algn="ctr" indent="0" marL="0">
              <a:buNone/>
            </a:pPr>
            <a:r>
              <a:rPr lang="en-US" sz="1800" b="1" dirty="0">
                <a:solidFill>
                  <a:srgbClr val="1E1B4B"/>
                </a:solidFill>
                <a:latin typeface="Calibri" pitchFamily="34" charset="0"/>
                <a:ea typeface="Calibri" pitchFamily="34" charset="-122"/>
                <a:cs typeface="Calibri" pitchFamily="34" charset="-120"/>
              </a:rPr>
              <a:t>Least privilege</a:t>
            </a:r>
            <a:endParaRPr lang="en-US" sz="1800" dirty="0"/>
          </a:p>
        </p:txBody>
      </p:sp>
      <p:sp>
        <p:nvSpPr>
          <p:cNvPr id="10" name="Text 8"/>
          <p:cNvSpPr txBox="1"/>
          <p:nvPr/>
        </p:nvSpPr>
        <p:spPr>
          <a:xfrm>
            <a:off x="640080"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Read-only tools by default; no access to data the task does not need</a:t>
            </a:r>
            <a:endParaRPr lang="en-US" sz="1700" dirty="0"/>
          </a:p>
        </p:txBody>
      </p:sp>
      <p:sp>
        <p:nvSpPr>
          <p:cNvPr id="11" name="Shape 9"/>
          <p:cNvSpPr/>
          <p:nvPr/>
        </p:nvSpPr>
        <p:spPr>
          <a:xfrm>
            <a:off x="2502347" y="3026664"/>
            <a:ext cx="283464" cy="292608"/>
          </a:xfrm>
          <a:prstGeom prst="rightArrow">
            <a:avLst/>
          </a:prstGeom>
          <a:solidFill>
            <a:srgbClr val="6B7280"/>
          </a:solidFill>
          <a:ln w="12700">
            <a:solidFill>
              <a:srgbClr val="6B7280"/>
            </a:solidFill>
            <a:prstDash val="solid"/>
          </a:ln>
        </p:spPr>
      </p:sp>
      <p:sp>
        <p:nvSpPr>
          <p:cNvPr id="12" name="Shape 10"/>
          <p:cNvSpPr/>
          <p:nvPr/>
        </p:nvSpPr>
        <p:spPr>
          <a:xfrm>
            <a:off x="2849819" y="1618488"/>
            <a:ext cx="1889699" cy="3108960"/>
          </a:xfrm>
          <a:prstGeom prst="roundRect">
            <a:avLst>
              <a:gd name="adj" fmla="val 5807"/>
            </a:avLst>
          </a:prstGeom>
          <a:solidFill>
            <a:srgbClr val="EEF0FF"/>
          </a:solidFill>
          <a:ln w="15875">
            <a:solidFill>
              <a:srgbClr val="4F46E5"/>
            </a:solidFill>
            <a:prstDash val="solid"/>
          </a:ln>
        </p:spPr>
      </p:sp>
      <p:sp>
        <p:nvSpPr>
          <p:cNvPr id="13" name="Shape 11"/>
          <p:cNvSpPr/>
          <p:nvPr/>
        </p:nvSpPr>
        <p:spPr>
          <a:xfrm>
            <a:off x="3593501" y="1746504"/>
            <a:ext cx="402336" cy="402336"/>
          </a:xfrm>
          <a:prstGeom prst="ellipse">
            <a:avLst/>
          </a:prstGeom>
          <a:solidFill>
            <a:srgbClr val="4F46E5"/>
          </a:solidFill>
          <a:ln w="12700">
            <a:solidFill>
              <a:srgbClr val="4F46E5"/>
            </a:solidFill>
            <a:prstDash val="solid"/>
          </a:ln>
        </p:spPr>
      </p:sp>
      <p:sp>
        <p:nvSpPr>
          <p:cNvPr id="14" name="Text 12"/>
          <p:cNvSpPr txBox="1"/>
          <p:nvPr/>
        </p:nvSpPr>
        <p:spPr>
          <a:xfrm>
            <a:off x="3593501"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2922971" y="2185416"/>
            <a:ext cx="1743395" cy="777240"/>
          </a:xfrm>
          <a:prstGeom prst="rect">
            <a:avLst/>
          </a:prstGeom>
          <a:noFill/>
          <a:ln/>
        </p:spPr>
        <p:txBody>
          <a:bodyPr wrap="square" lIns="50800" tIns="50800" rIns="50800" bIns="50800" rtlCol="0" anchor="ctr"/>
          <a:lstStyle/>
          <a:p>
            <a:pPr algn="ctr" indent="0" marL="0">
              <a:buNone/>
            </a:pPr>
            <a:r>
              <a:rPr lang="en-US" sz="1800" b="1" dirty="0">
                <a:solidFill>
                  <a:srgbClr val="1E1B4B"/>
                </a:solidFill>
                <a:latin typeface="Calibri" pitchFamily="34" charset="0"/>
                <a:ea typeface="Calibri" pitchFamily="34" charset="-122"/>
                <a:cs typeface="Calibri" pitchFamily="34" charset="-120"/>
              </a:rPr>
              <a:t>Allowlists and validation</a:t>
            </a:r>
            <a:endParaRPr lang="en-US" sz="1800" dirty="0"/>
          </a:p>
        </p:txBody>
      </p:sp>
      <p:sp>
        <p:nvSpPr>
          <p:cNvPr id="16" name="Text 14"/>
          <p:cNvSpPr txBox="1"/>
          <p:nvPr/>
        </p:nvSpPr>
        <p:spPr>
          <a:xfrm>
            <a:off x="2941259"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Known tools only; check argument types, ranges, recipients</a:t>
            </a:r>
            <a:endParaRPr lang="en-US" sz="1700" dirty="0"/>
          </a:p>
        </p:txBody>
      </p:sp>
      <p:sp>
        <p:nvSpPr>
          <p:cNvPr id="17" name="Shape 15"/>
          <p:cNvSpPr/>
          <p:nvPr/>
        </p:nvSpPr>
        <p:spPr>
          <a:xfrm>
            <a:off x="4803526" y="3026664"/>
            <a:ext cx="283464" cy="292608"/>
          </a:xfrm>
          <a:prstGeom prst="rightArrow">
            <a:avLst/>
          </a:prstGeom>
          <a:solidFill>
            <a:srgbClr val="6B7280"/>
          </a:solidFill>
          <a:ln w="12700">
            <a:solidFill>
              <a:srgbClr val="6B7280"/>
            </a:solidFill>
            <a:prstDash val="solid"/>
          </a:ln>
        </p:spPr>
      </p:sp>
      <p:sp>
        <p:nvSpPr>
          <p:cNvPr id="18" name="Shape 16"/>
          <p:cNvSpPr/>
          <p:nvPr/>
        </p:nvSpPr>
        <p:spPr>
          <a:xfrm>
            <a:off x="5150998" y="1618488"/>
            <a:ext cx="1889699" cy="3108960"/>
          </a:xfrm>
          <a:prstGeom prst="roundRect">
            <a:avLst>
              <a:gd name="adj" fmla="val 5807"/>
            </a:avLst>
          </a:prstGeom>
          <a:solidFill>
            <a:srgbClr val="FFF1E6"/>
          </a:solidFill>
          <a:ln w="15875">
            <a:solidFill>
              <a:srgbClr val="EA580C"/>
            </a:solidFill>
            <a:prstDash val="solid"/>
          </a:ln>
        </p:spPr>
      </p:sp>
      <p:sp>
        <p:nvSpPr>
          <p:cNvPr id="19" name="Shape 17"/>
          <p:cNvSpPr/>
          <p:nvPr/>
        </p:nvSpPr>
        <p:spPr>
          <a:xfrm>
            <a:off x="5894680" y="1746504"/>
            <a:ext cx="402336" cy="402336"/>
          </a:xfrm>
          <a:prstGeom prst="ellipse">
            <a:avLst/>
          </a:prstGeom>
          <a:solidFill>
            <a:srgbClr val="EA580C"/>
          </a:solidFill>
          <a:ln w="12700">
            <a:solidFill>
              <a:srgbClr val="EA580C"/>
            </a:solidFill>
            <a:prstDash val="solid"/>
          </a:ln>
        </p:spPr>
      </p:sp>
      <p:sp>
        <p:nvSpPr>
          <p:cNvPr id="20" name="Text 18"/>
          <p:cNvSpPr txBox="1"/>
          <p:nvPr/>
        </p:nvSpPr>
        <p:spPr>
          <a:xfrm>
            <a:off x="5894680"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1" name="Text 19"/>
          <p:cNvSpPr txBox="1"/>
          <p:nvPr/>
        </p:nvSpPr>
        <p:spPr>
          <a:xfrm>
            <a:off x="5224150" y="2185416"/>
            <a:ext cx="1743395" cy="777240"/>
          </a:xfrm>
          <a:prstGeom prst="rect">
            <a:avLst/>
          </a:prstGeom>
          <a:noFill/>
          <a:ln/>
        </p:spPr>
        <p:txBody>
          <a:bodyPr wrap="square" lIns="50800" tIns="50800" rIns="50800" bIns="50800" rtlCol="0" anchor="ctr"/>
          <a:lstStyle/>
          <a:p>
            <a:pPr algn="ctr" indent="0" marL="0">
              <a:buNone/>
            </a:pPr>
            <a:r>
              <a:rPr lang="en-US" sz="1800" b="1" dirty="0">
                <a:solidFill>
                  <a:srgbClr val="1E1B4B"/>
                </a:solidFill>
                <a:latin typeface="Calibri" pitchFamily="34" charset="0"/>
                <a:ea typeface="Calibri" pitchFamily="34" charset="-122"/>
                <a:cs typeface="Calibri" pitchFamily="34" charset="-120"/>
              </a:rPr>
              <a:t>Human approval</a:t>
            </a:r>
            <a:endParaRPr lang="en-US" sz="1800" dirty="0"/>
          </a:p>
        </p:txBody>
      </p:sp>
      <p:sp>
        <p:nvSpPr>
          <p:cNvPr id="22" name="Text 20"/>
          <p:cNvSpPr txBox="1"/>
          <p:nvPr/>
        </p:nvSpPr>
        <p:spPr>
          <a:xfrm>
            <a:off x="5242438"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For actions with side effects: send, pay, delete, publish</a:t>
            </a:r>
            <a:endParaRPr lang="en-US" sz="1700" dirty="0"/>
          </a:p>
        </p:txBody>
      </p:sp>
      <p:sp>
        <p:nvSpPr>
          <p:cNvPr id="23" name="Shape 21"/>
          <p:cNvSpPr/>
          <p:nvPr/>
        </p:nvSpPr>
        <p:spPr>
          <a:xfrm>
            <a:off x="7104705" y="3026664"/>
            <a:ext cx="283464" cy="292608"/>
          </a:xfrm>
          <a:prstGeom prst="rightArrow">
            <a:avLst/>
          </a:prstGeom>
          <a:solidFill>
            <a:srgbClr val="6B7280"/>
          </a:solidFill>
          <a:ln w="12700">
            <a:solidFill>
              <a:srgbClr val="6B7280"/>
            </a:solidFill>
            <a:prstDash val="solid"/>
          </a:ln>
        </p:spPr>
      </p:sp>
      <p:sp>
        <p:nvSpPr>
          <p:cNvPr id="24" name="Shape 22"/>
          <p:cNvSpPr/>
          <p:nvPr/>
        </p:nvSpPr>
        <p:spPr>
          <a:xfrm>
            <a:off x="7452177" y="1618488"/>
            <a:ext cx="1889699" cy="3108960"/>
          </a:xfrm>
          <a:prstGeom prst="roundRect">
            <a:avLst>
              <a:gd name="adj" fmla="val 5807"/>
            </a:avLst>
          </a:prstGeom>
          <a:solidFill>
            <a:srgbClr val="EEF0FF"/>
          </a:solidFill>
          <a:ln w="15875">
            <a:solidFill>
              <a:srgbClr val="4F46E5"/>
            </a:solidFill>
            <a:prstDash val="solid"/>
          </a:ln>
        </p:spPr>
      </p:sp>
      <p:sp>
        <p:nvSpPr>
          <p:cNvPr id="25" name="Shape 23"/>
          <p:cNvSpPr/>
          <p:nvPr/>
        </p:nvSpPr>
        <p:spPr>
          <a:xfrm>
            <a:off x="8195859" y="1746504"/>
            <a:ext cx="402336" cy="402336"/>
          </a:xfrm>
          <a:prstGeom prst="ellipse">
            <a:avLst/>
          </a:prstGeom>
          <a:solidFill>
            <a:srgbClr val="4F46E5"/>
          </a:solidFill>
          <a:ln w="12700">
            <a:solidFill>
              <a:srgbClr val="4F46E5"/>
            </a:solidFill>
            <a:prstDash val="solid"/>
          </a:ln>
        </p:spPr>
      </p:sp>
      <p:sp>
        <p:nvSpPr>
          <p:cNvPr id="26" name="Text 24"/>
          <p:cNvSpPr txBox="1"/>
          <p:nvPr/>
        </p:nvSpPr>
        <p:spPr>
          <a:xfrm>
            <a:off x="8195859"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7" name="Text 25"/>
          <p:cNvSpPr txBox="1"/>
          <p:nvPr/>
        </p:nvSpPr>
        <p:spPr>
          <a:xfrm>
            <a:off x="7525329" y="2185416"/>
            <a:ext cx="1743395" cy="777240"/>
          </a:xfrm>
          <a:prstGeom prst="rect">
            <a:avLst/>
          </a:prstGeom>
          <a:noFill/>
          <a:ln/>
        </p:spPr>
        <p:txBody>
          <a:bodyPr wrap="square" lIns="50800" tIns="50800" rIns="50800" bIns="50800" rtlCol="0" anchor="ctr"/>
          <a:lstStyle/>
          <a:p>
            <a:pPr algn="ctr" indent="0" marL="0">
              <a:buNone/>
            </a:pPr>
            <a:r>
              <a:rPr lang="en-US" sz="1800" b="1" dirty="0">
                <a:solidFill>
                  <a:srgbClr val="1E1B4B"/>
                </a:solidFill>
                <a:latin typeface="Calibri" pitchFamily="34" charset="0"/>
                <a:ea typeface="Calibri" pitchFamily="34" charset="-122"/>
                <a:cs typeface="Calibri" pitchFamily="34" charset="-120"/>
              </a:rPr>
              <a:t>Limits and sandboxing</a:t>
            </a:r>
            <a:endParaRPr lang="en-US" sz="1800" dirty="0"/>
          </a:p>
        </p:txBody>
      </p:sp>
      <p:sp>
        <p:nvSpPr>
          <p:cNvPr id="28" name="Text 26"/>
          <p:cNvSpPr txBox="1"/>
          <p:nvPr/>
        </p:nvSpPr>
        <p:spPr>
          <a:xfrm>
            <a:off x="7543617"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Step, time and cost limits; run code in a sandbox</a:t>
            </a:r>
            <a:endParaRPr lang="en-US" sz="1700" dirty="0"/>
          </a:p>
        </p:txBody>
      </p:sp>
      <p:sp>
        <p:nvSpPr>
          <p:cNvPr id="29" name="Shape 27"/>
          <p:cNvSpPr/>
          <p:nvPr/>
        </p:nvSpPr>
        <p:spPr>
          <a:xfrm>
            <a:off x="9405884" y="3026664"/>
            <a:ext cx="283464" cy="292608"/>
          </a:xfrm>
          <a:prstGeom prst="rightArrow">
            <a:avLst/>
          </a:prstGeom>
          <a:solidFill>
            <a:srgbClr val="6B7280"/>
          </a:solidFill>
          <a:ln w="12700">
            <a:solidFill>
              <a:srgbClr val="6B7280"/>
            </a:solidFill>
            <a:prstDash val="solid"/>
          </a:ln>
        </p:spPr>
      </p:sp>
      <p:sp>
        <p:nvSpPr>
          <p:cNvPr id="30" name="Shape 28"/>
          <p:cNvSpPr/>
          <p:nvPr/>
        </p:nvSpPr>
        <p:spPr>
          <a:xfrm>
            <a:off x="9753356" y="1618488"/>
            <a:ext cx="1889699" cy="3108960"/>
          </a:xfrm>
          <a:prstGeom prst="roundRect">
            <a:avLst>
              <a:gd name="adj" fmla="val 5807"/>
            </a:avLst>
          </a:prstGeom>
          <a:solidFill>
            <a:srgbClr val="EEF0FF"/>
          </a:solidFill>
          <a:ln w="15875">
            <a:solidFill>
              <a:srgbClr val="4F46E5"/>
            </a:solidFill>
            <a:prstDash val="solid"/>
          </a:ln>
        </p:spPr>
      </p:sp>
      <p:sp>
        <p:nvSpPr>
          <p:cNvPr id="31" name="Shape 29"/>
          <p:cNvSpPr/>
          <p:nvPr/>
        </p:nvSpPr>
        <p:spPr>
          <a:xfrm>
            <a:off x="10497038" y="1746504"/>
            <a:ext cx="402336" cy="402336"/>
          </a:xfrm>
          <a:prstGeom prst="ellipse">
            <a:avLst/>
          </a:prstGeom>
          <a:solidFill>
            <a:srgbClr val="4F46E5"/>
          </a:solidFill>
          <a:ln w="12700">
            <a:solidFill>
              <a:srgbClr val="4F46E5"/>
            </a:solidFill>
            <a:prstDash val="solid"/>
          </a:ln>
        </p:spPr>
      </p:sp>
      <p:sp>
        <p:nvSpPr>
          <p:cNvPr id="32" name="Text 30"/>
          <p:cNvSpPr txBox="1"/>
          <p:nvPr/>
        </p:nvSpPr>
        <p:spPr>
          <a:xfrm>
            <a:off x="10497038" y="17465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3" name="Text 31"/>
          <p:cNvSpPr txBox="1"/>
          <p:nvPr/>
        </p:nvSpPr>
        <p:spPr>
          <a:xfrm>
            <a:off x="9826508" y="2185416"/>
            <a:ext cx="1743395" cy="777240"/>
          </a:xfrm>
          <a:prstGeom prst="rect">
            <a:avLst/>
          </a:prstGeom>
          <a:noFill/>
          <a:ln/>
        </p:spPr>
        <p:txBody>
          <a:bodyPr wrap="square" lIns="50800" tIns="50800" rIns="50800" bIns="50800" rtlCol="0" anchor="ctr"/>
          <a:lstStyle/>
          <a:p>
            <a:pPr algn="ctr" indent="0" marL="0">
              <a:buNone/>
            </a:pPr>
            <a:r>
              <a:rPr lang="en-US" sz="1800" b="1" dirty="0">
                <a:solidFill>
                  <a:srgbClr val="1E1B4B"/>
                </a:solidFill>
                <a:latin typeface="Calibri" pitchFamily="34" charset="0"/>
                <a:ea typeface="Calibri" pitchFamily="34" charset="-122"/>
                <a:cs typeface="Calibri" pitchFamily="34" charset="-120"/>
              </a:rPr>
              <a:t>Log and monitor</a:t>
            </a:r>
            <a:endParaRPr lang="en-US" sz="1800" dirty="0"/>
          </a:p>
        </p:txBody>
      </p:sp>
      <p:sp>
        <p:nvSpPr>
          <p:cNvPr id="34" name="Text 32"/>
          <p:cNvSpPr txBox="1"/>
          <p:nvPr/>
        </p:nvSpPr>
        <p:spPr>
          <a:xfrm>
            <a:off x="9844796" y="2990088"/>
            <a:ext cx="1706819" cy="1691640"/>
          </a:xfrm>
          <a:prstGeom prst="rect">
            <a:avLst/>
          </a:prstGeom>
          <a:noFill/>
          <a:ln/>
        </p:spPr>
        <p:txBody>
          <a:bodyPr wrap="square" lIns="50800" tIns="50800" rIns="50800" bIns="50800" rtlCol="0" anchor="t"/>
          <a:lstStyle/>
          <a:p>
            <a:pPr algn="ctr" indent="0" marL="0">
              <a:buNone/>
            </a:pPr>
            <a:r>
              <a:rPr lang="en-US" sz="1700" dirty="0">
                <a:solidFill>
                  <a:srgbClr val="1F2937"/>
                </a:solidFill>
                <a:latin typeface="Calibri" pitchFamily="34" charset="0"/>
                <a:ea typeface="Calibri" pitchFamily="34" charset="-122"/>
                <a:cs typeface="Calibri" pitchFamily="34" charset="-120"/>
              </a:rPr>
              <a:t>Audit trail of every tool call; alerts on unusual actions</a:t>
            </a:r>
            <a:endParaRPr lang="en-US" sz="1700" dirty="0"/>
          </a:p>
        </p:txBody>
      </p:sp>
      <p:sp>
        <p:nvSpPr>
          <p:cNvPr id="35" name="Shape 33"/>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36" name="Text 34"/>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1800" b="1" dirty="0">
                <a:solidFill>
                  <a:srgbClr val="EA580C"/>
                </a:solidFill>
                <a:latin typeface="Calibri" pitchFamily="34" charset="0"/>
                <a:ea typeface="Calibri" pitchFamily="34" charset="-122"/>
                <a:cs typeface="Calibri" pitchFamily="34" charset="-120"/>
              </a:rPr>
              <a:t>Key idea:  </a:t>
            </a:r>
            <a:pPr indent="0" marL="0">
              <a:buNone/>
            </a:pPr>
            <a:r>
              <a:rPr lang="en-US" sz="1800" dirty="0">
                <a:solidFill>
                  <a:srgbClr val="1F2937"/>
                </a:solidFill>
                <a:latin typeface="Calibri" pitchFamily="34" charset="0"/>
                <a:ea typeface="Calibri" pitchFamily="34" charset="-122"/>
                <a:cs typeface="Calibri" pitchFamily="34" charset="-120"/>
              </a:rPr>
              <a:t>Assume injected instructions will sometimes be followed: design so that following them cannot cause serious harm.</a:t>
            </a:r>
            <a:endParaRPr lang="en-US" sz="1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Human oversight and responsible use</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Show </a:t>
            </a:r>
            <a:pPr indent="0" marL="0">
              <a:buNone/>
            </a:pPr>
            <a:r>
              <a:rPr lang="en-US" sz="2200" b="1" dirty="0">
                <a:solidFill>
                  <a:srgbClr val="1F2937"/>
                </a:solidFill>
                <a:latin typeface="Calibri" pitchFamily="34" charset="0"/>
                <a:ea typeface="Calibri" pitchFamily="34" charset="-122"/>
                <a:cs typeface="Calibri" pitchFamily="34" charset="-120"/>
              </a:rPr>
              <a:t>sources</a:t>
            </a:r>
            <a:pPr indent="0" marL="0">
              <a:buNone/>
            </a:pPr>
            <a:r>
              <a:rPr lang="en-US" sz="2200" dirty="0">
                <a:solidFill>
                  <a:srgbClr val="1F2937"/>
                </a:solidFill>
                <a:latin typeface="Calibri" pitchFamily="34" charset="0"/>
                <a:ea typeface="Calibri" pitchFamily="34" charset="-122"/>
                <a:cs typeface="Calibri" pitchFamily="34" charset="-120"/>
              </a:rPr>
              <a:t> so users can verify; make it easy to reach a human.</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Respect </a:t>
            </a:r>
            <a:pPr indent="0" marL="0">
              <a:buNone/>
            </a:pPr>
            <a:r>
              <a:rPr lang="en-US" sz="2200" b="1" dirty="0">
                <a:solidFill>
                  <a:srgbClr val="1F2937"/>
                </a:solidFill>
                <a:latin typeface="Calibri" pitchFamily="34" charset="0"/>
                <a:ea typeface="Calibri" pitchFamily="34" charset="-122"/>
                <a:cs typeface="Calibri" pitchFamily="34" charset="-120"/>
              </a:rPr>
              <a:t>permissions</a:t>
            </a:r>
            <a:pPr indent="0" marL="0">
              <a:buNone/>
            </a:pPr>
            <a:r>
              <a:rPr lang="en-US" sz="2200" dirty="0">
                <a:solidFill>
                  <a:srgbClr val="1F2937"/>
                </a:solidFill>
                <a:latin typeface="Calibri" pitchFamily="34" charset="0"/>
                <a:ea typeface="Calibri" pitchFamily="34" charset="-122"/>
                <a:cs typeface="Calibri" pitchFamily="34" charset="-120"/>
              </a:rPr>
              <a:t> and personal data in the index (GDPR); keep the index current and versioned.</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Evaluate continuously: retrieval, faithfulness and safety tests, including injection attacks (red-teaming).</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Disclose AI use (EU AI Act Art. 50); high-risk uses (e.g. deciding on admissions or grades) carry strict duties.</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Build and diagnose the assistant</a:t>
            </a:r>
            <a:endParaRPr lang="en-US" sz="3200" dirty="0"/>
          </a:p>
        </p:txBody>
      </p:sp>
      <p:sp>
        <p:nvSpPr>
          <p:cNvPr id="6" name="Text 4"/>
          <p:cNvSpPr txBox="1"/>
          <p:nvPr/>
        </p:nvSpPr>
        <p:spPr>
          <a:xfrm>
            <a:off x="548640" y="1481328"/>
            <a:ext cx="11094415" cy="36576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Separate evidence retrieval, answer generation and agent execution</a:t>
            </a:r>
            <a:endParaRPr lang="en-US" sz="1800" dirty="0"/>
          </a:p>
        </p:txBody>
      </p:sp>
      <p:sp>
        <p:nvSpPr>
          <p:cNvPr id="7" name="Shape 5"/>
          <p:cNvSpPr/>
          <p:nvPr/>
        </p:nvSpPr>
        <p:spPr>
          <a:xfrm>
            <a:off x="3762331" y="2569464"/>
            <a:ext cx="861033" cy="0"/>
          </a:xfrm>
          <a:prstGeom prst="line">
            <a:avLst/>
          </a:prstGeom>
          <a:noFill/>
          <a:ln w="20320">
            <a:solidFill>
              <a:srgbClr val="4F46E5"/>
            </a:solidFill>
            <a:prstDash val="solid"/>
            <a:tailEnd type="triangle"/>
          </a:ln>
        </p:spPr>
      </p:sp>
      <p:sp>
        <p:nvSpPr>
          <p:cNvPr id="8" name="Shape 6"/>
          <p:cNvSpPr/>
          <p:nvPr/>
        </p:nvSpPr>
        <p:spPr>
          <a:xfrm>
            <a:off x="7568331" y="2569464"/>
            <a:ext cx="861033" cy="0"/>
          </a:xfrm>
          <a:prstGeom prst="line">
            <a:avLst/>
          </a:prstGeom>
          <a:noFill/>
          <a:ln w="20320">
            <a:solidFill>
              <a:srgbClr val="4F46E5"/>
            </a:solidFill>
            <a:prstDash val="solid"/>
            <a:tailEnd type="triangle"/>
          </a:ln>
        </p:spPr>
      </p:sp>
      <p:sp>
        <p:nvSpPr>
          <p:cNvPr id="9" name="Shape 7"/>
          <p:cNvSpPr/>
          <p:nvPr/>
        </p:nvSpPr>
        <p:spPr>
          <a:xfrm>
            <a:off x="9901848" y="3621024"/>
            <a:ext cx="0" cy="54864"/>
          </a:xfrm>
          <a:prstGeom prst="line">
            <a:avLst/>
          </a:prstGeom>
          <a:noFill/>
          <a:ln w="20320">
            <a:solidFill>
              <a:srgbClr val="4F46E5"/>
            </a:solidFill>
            <a:prstDash val="solid"/>
            <a:tailEnd type="triangle"/>
          </a:ln>
        </p:spPr>
      </p:sp>
      <p:sp>
        <p:nvSpPr>
          <p:cNvPr id="10" name="Shape 8"/>
          <p:cNvSpPr/>
          <p:nvPr/>
        </p:nvSpPr>
        <p:spPr>
          <a:xfrm flipH="1">
            <a:off x="7568331" y="4398264"/>
            <a:ext cx="861033" cy="0"/>
          </a:xfrm>
          <a:prstGeom prst="line">
            <a:avLst/>
          </a:prstGeom>
          <a:noFill/>
          <a:ln w="20320">
            <a:solidFill>
              <a:srgbClr val="4F46E5"/>
            </a:solidFill>
            <a:prstDash val="solid"/>
            <a:tailEnd type="triangle"/>
          </a:ln>
        </p:spPr>
      </p:sp>
      <p:sp>
        <p:nvSpPr>
          <p:cNvPr id="11" name="Shape 9"/>
          <p:cNvSpPr/>
          <p:nvPr/>
        </p:nvSpPr>
        <p:spPr>
          <a:xfrm flipH="1">
            <a:off x="3762331" y="4398264"/>
            <a:ext cx="861033" cy="0"/>
          </a:xfrm>
          <a:prstGeom prst="line">
            <a:avLst/>
          </a:prstGeom>
          <a:noFill/>
          <a:ln w="20320">
            <a:solidFill>
              <a:srgbClr val="4F46E5"/>
            </a:solidFill>
            <a:prstDash val="solid"/>
            <a:tailEnd type="triangle"/>
          </a:ln>
        </p:spPr>
      </p:sp>
      <p:sp>
        <p:nvSpPr>
          <p:cNvPr id="12" name="Shape 10"/>
          <p:cNvSpPr/>
          <p:nvPr/>
        </p:nvSpPr>
        <p:spPr>
          <a:xfrm>
            <a:off x="872227" y="1883664"/>
            <a:ext cx="2835239" cy="1344168"/>
          </a:xfrm>
          <a:prstGeom prst="rect">
            <a:avLst/>
          </a:prstGeom>
          <a:solidFill>
            <a:srgbClr val="F5F3FF"/>
          </a:solidFill>
          <a:ln w="16510">
            <a:solidFill>
              <a:srgbClr val="4F46E5"/>
            </a:solidFill>
            <a:prstDash val="solid"/>
          </a:ln>
        </p:spPr>
      </p:sp>
      <p:sp>
        <p:nvSpPr>
          <p:cNvPr id="13" name="Text 11"/>
          <p:cNvSpPr txBox="1"/>
          <p:nvPr/>
        </p:nvSpPr>
        <p:spPr>
          <a:xfrm>
            <a:off x="945379"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1. Test no retrieval</a:t>
            </a:r>
            <a:endParaRPr lang="en-US" sz="1900" dirty="0"/>
          </a:p>
        </p:txBody>
      </p:sp>
      <p:sp>
        <p:nvSpPr>
          <p:cNvPr id="14" name="Text 12"/>
          <p:cNvSpPr txBox="1"/>
          <p:nvPr/>
        </p:nvSpPr>
        <p:spPr>
          <a:xfrm>
            <a:off x="963667"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Ask handbook questions without supplying the handbook</a:t>
            </a:r>
            <a:endParaRPr lang="en-US" sz="1700" dirty="0"/>
          </a:p>
        </p:txBody>
      </p:sp>
      <p:sp>
        <p:nvSpPr>
          <p:cNvPr id="15" name="Text 13"/>
          <p:cNvSpPr txBox="1"/>
          <p:nvPr/>
        </p:nvSpPr>
        <p:spPr>
          <a:xfrm>
            <a:off x="927091"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no_rag_df, EVAL</a:t>
            </a:r>
            <a:endParaRPr lang="en-US" sz="1200" dirty="0"/>
          </a:p>
        </p:txBody>
      </p:sp>
      <p:sp>
        <p:nvSpPr>
          <p:cNvPr id="16" name="Text 14"/>
          <p:cNvSpPr txBox="1"/>
          <p:nvPr/>
        </p:nvSpPr>
        <p:spPr>
          <a:xfrm>
            <a:off x="872227"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baseline answers</a:t>
            </a:r>
            <a:endParaRPr lang="en-US" sz="1500" dirty="0"/>
          </a:p>
        </p:txBody>
      </p:sp>
      <p:sp>
        <p:nvSpPr>
          <p:cNvPr id="17" name="Shape 15"/>
          <p:cNvSpPr/>
          <p:nvPr/>
        </p:nvSpPr>
        <p:spPr>
          <a:xfrm>
            <a:off x="4678228" y="1883664"/>
            <a:ext cx="2835239" cy="1344168"/>
          </a:xfrm>
          <a:prstGeom prst="rect">
            <a:avLst/>
          </a:prstGeom>
          <a:solidFill>
            <a:srgbClr val="F5F3FF"/>
          </a:solidFill>
          <a:ln w="16510">
            <a:solidFill>
              <a:srgbClr val="4F46E5"/>
            </a:solidFill>
            <a:prstDash val="solid"/>
          </a:ln>
        </p:spPr>
      </p:sp>
      <p:sp>
        <p:nvSpPr>
          <p:cNvPr id="18" name="Text 16"/>
          <p:cNvSpPr txBox="1"/>
          <p:nvPr/>
        </p:nvSpPr>
        <p:spPr>
          <a:xfrm>
            <a:off x="4751380"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2. Prepare index</a:t>
            </a:r>
            <a:endParaRPr lang="en-US" sz="1900" dirty="0"/>
          </a:p>
        </p:txBody>
      </p:sp>
      <p:sp>
        <p:nvSpPr>
          <p:cNvPr id="19" name="Text 17"/>
          <p:cNvSpPr txBox="1"/>
          <p:nvPr/>
        </p:nvSpPr>
        <p:spPr>
          <a:xfrm>
            <a:off x="4769668"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Chunk documents; embed passages; store vectors and metadata</a:t>
            </a:r>
            <a:endParaRPr lang="en-US" sz="1700" dirty="0"/>
          </a:p>
        </p:txBody>
      </p:sp>
      <p:sp>
        <p:nvSpPr>
          <p:cNvPr id="20" name="Text 18"/>
          <p:cNvSpPr txBox="1"/>
          <p:nvPr/>
        </p:nvSpPr>
        <p:spPr>
          <a:xfrm>
            <a:off x="4733092"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chunk, CHUNKS, index, col</a:t>
            </a:r>
            <a:endParaRPr lang="en-US" sz="1200" dirty="0"/>
          </a:p>
        </p:txBody>
      </p:sp>
      <p:sp>
        <p:nvSpPr>
          <p:cNvPr id="21" name="Text 19"/>
          <p:cNvSpPr txBox="1"/>
          <p:nvPr/>
        </p:nvSpPr>
        <p:spPr>
          <a:xfrm>
            <a:off x="4678228"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searchable chunks</a:t>
            </a:r>
            <a:endParaRPr lang="en-US" sz="1500" dirty="0"/>
          </a:p>
        </p:txBody>
      </p:sp>
      <p:sp>
        <p:nvSpPr>
          <p:cNvPr id="22" name="Shape 20"/>
          <p:cNvSpPr/>
          <p:nvPr/>
        </p:nvSpPr>
        <p:spPr>
          <a:xfrm>
            <a:off x="8484229" y="1883664"/>
            <a:ext cx="2835239" cy="1344168"/>
          </a:xfrm>
          <a:prstGeom prst="rect">
            <a:avLst/>
          </a:prstGeom>
          <a:solidFill>
            <a:srgbClr val="F5F3FF"/>
          </a:solidFill>
          <a:ln w="16510">
            <a:solidFill>
              <a:srgbClr val="4F46E5"/>
            </a:solidFill>
            <a:prstDash val="solid"/>
          </a:ln>
        </p:spPr>
      </p:sp>
      <p:sp>
        <p:nvSpPr>
          <p:cNvPr id="23" name="Text 21"/>
          <p:cNvSpPr txBox="1"/>
          <p:nvPr/>
        </p:nvSpPr>
        <p:spPr>
          <a:xfrm>
            <a:off x="8557381"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3. Compare retrieval</a:t>
            </a:r>
            <a:endParaRPr lang="en-US" sz="1900" dirty="0"/>
          </a:p>
        </p:txBody>
      </p:sp>
      <p:sp>
        <p:nvSpPr>
          <p:cNvPr id="24" name="Text 22"/>
          <p:cNvSpPr txBox="1"/>
          <p:nvPr/>
        </p:nvSpPr>
        <p:spPr>
          <a:xfrm>
            <a:off x="8575669"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Evaluate keyword, dense, hybrid and re-ranked results</a:t>
            </a:r>
            <a:endParaRPr lang="en-US" sz="1700" dirty="0"/>
          </a:p>
        </p:txBody>
      </p:sp>
      <p:sp>
        <p:nvSpPr>
          <p:cNvPr id="25" name="Text 23"/>
          <p:cNvSpPr txBox="1"/>
          <p:nvPr/>
        </p:nvSpPr>
        <p:spPr>
          <a:xfrm>
            <a:off x="8539093"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METHODS, evaluate_retrieval</a:t>
            </a:r>
            <a:endParaRPr lang="en-US" sz="1200" dirty="0"/>
          </a:p>
        </p:txBody>
      </p:sp>
      <p:sp>
        <p:nvSpPr>
          <p:cNvPr id="26" name="Text 24"/>
          <p:cNvSpPr txBox="1"/>
          <p:nvPr/>
        </p:nvSpPr>
        <p:spPr>
          <a:xfrm>
            <a:off x="8484229"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ranked evidence</a:t>
            </a:r>
            <a:endParaRPr lang="en-US" sz="1500" dirty="0"/>
          </a:p>
        </p:txBody>
      </p:sp>
      <p:sp>
        <p:nvSpPr>
          <p:cNvPr id="27" name="Shape 25"/>
          <p:cNvSpPr/>
          <p:nvPr/>
        </p:nvSpPr>
        <p:spPr>
          <a:xfrm>
            <a:off x="8484229" y="3712464"/>
            <a:ext cx="2835239" cy="1344168"/>
          </a:xfrm>
          <a:prstGeom prst="rect">
            <a:avLst/>
          </a:prstGeom>
          <a:solidFill>
            <a:srgbClr val="F5F3FF"/>
          </a:solidFill>
          <a:ln w="16510">
            <a:solidFill>
              <a:srgbClr val="4F46E5"/>
            </a:solidFill>
            <a:prstDash val="solid"/>
          </a:ln>
        </p:spPr>
      </p:sp>
      <p:sp>
        <p:nvSpPr>
          <p:cNvPr id="28" name="Text 26"/>
          <p:cNvSpPr txBox="1"/>
          <p:nvPr/>
        </p:nvSpPr>
        <p:spPr>
          <a:xfrm>
            <a:off x="8557381"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4. Answer with sources</a:t>
            </a:r>
            <a:endParaRPr lang="en-US" sz="1900" dirty="0"/>
          </a:p>
        </p:txBody>
      </p:sp>
      <p:sp>
        <p:nvSpPr>
          <p:cNvPr id="29" name="Text 27"/>
          <p:cNvSpPr txBox="1"/>
          <p:nvPr/>
        </p:nvSpPr>
        <p:spPr>
          <a:xfrm>
            <a:off x="8575669"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Inspect answer correctness, citation targets and abstention</a:t>
            </a:r>
            <a:endParaRPr lang="en-US" sz="1700" dirty="0"/>
          </a:p>
        </p:txBody>
      </p:sp>
      <p:sp>
        <p:nvSpPr>
          <p:cNvPr id="30" name="Text 28"/>
          <p:cNvSpPr txBox="1"/>
          <p:nvPr/>
        </p:nvSpPr>
        <p:spPr>
          <a:xfrm>
            <a:off x="8539093"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rag_answer, rag_df</a:t>
            </a:r>
            <a:endParaRPr lang="en-US" sz="1200" dirty="0"/>
          </a:p>
        </p:txBody>
      </p:sp>
      <p:sp>
        <p:nvSpPr>
          <p:cNvPr id="31" name="Text 29"/>
          <p:cNvSpPr txBox="1"/>
          <p:nvPr/>
        </p:nvSpPr>
        <p:spPr>
          <a:xfrm>
            <a:off x="8484229"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grounded-answer results</a:t>
            </a:r>
            <a:endParaRPr lang="en-US" sz="1500" dirty="0"/>
          </a:p>
        </p:txBody>
      </p:sp>
      <p:sp>
        <p:nvSpPr>
          <p:cNvPr id="32" name="Shape 30"/>
          <p:cNvSpPr/>
          <p:nvPr/>
        </p:nvSpPr>
        <p:spPr>
          <a:xfrm>
            <a:off x="4678228" y="3712464"/>
            <a:ext cx="2835239" cy="1344168"/>
          </a:xfrm>
          <a:prstGeom prst="rect">
            <a:avLst/>
          </a:prstGeom>
          <a:solidFill>
            <a:srgbClr val="F5F3FF"/>
          </a:solidFill>
          <a:ln w="16510">
            <a:solidFill>
              <a:srgbClr val="4F46E5"/>
            </a:solidFill>
            <a:prstDash val="solid"/>
          </a:ln>
        </p:spPr>
      </p:sp>
      <p:sp>
        <p:nvSpPr>
          <p:cNvPr id="33" name="Text 31"/>
          <p:cNvSpPr txBox="1"/>
          <p:nvPr/>
        </p:nvSpPr>
        <p:spPr>
          <a:xfrm>
            <a:off x="4751380"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5. Run tool loop</a:t>
            </a:r>
            <a:endParaRPr lang="en-US" sz="1900" dirty="0"/>
          </a:p>
        </p:txBody>
      </p:sp>
      <p:sp>
        <p:nvSpPr>
          <p:cNvPr id="34" name="Text 32"/>
          <p:cNvSpPr txBox="1"/>
          <p:nvPr/>
        </p:nvSpPr>
        <p:spPr>
          <a:xfrm>
            <a:off x="4769668"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Trace grade calculation and the injected forum request</a:t>
            </a:r>
            <a:endParaRPr lang="en-US" sz="1700" dirty="0"/>
          </a:p>
        </p:txBody>
      </p:sp>
      <p:sp>
        <p:nvSpPr>
          <p:cNvPr id="35" name="Text 33"/>
          <p:cNvSpPr txBox="1"/>
          <p:nvPr/>
        </p:nvSpPr>
        <p:spPr>
          <a:xfrm>
            <a:off x="4733092"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run_agent, trace_df, inj_df</a:t>
            </a:r>
            <a:endParaRPr lang="en-US" sz="1200" dirty="0"/>
          </a:p>
        </p:txBody>
      </p:sp>
      <p:sp>
        <p:nvSpPr>
          <p:cNvPr id="36" name="Text 34"/>
          <p:cNvSpPr txBox="1"/>
          <p:nvPr/>
        </p:nvSpPr>
        <p:spPr>
          <a:xfrm>
            <a:off x="4678228"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agent trajectory</a:t>
            </a:r>
            <a:endParaRPr lang="en-US" sz="1500" dirty="0"/>
          </a:p>
        </p:txBody>
      </p:sp>
      <p:sp>
        <p:nvSpPr>
          <p:cNvPr id="37" name="Shape 35"/>
          <p:cNvSpPr/>
          <p:nvPr/>
        </p:nvSpPr>
        <p:spPr>
          <a:xfrm>
            <a:off x="872227" y="3712464"/>
            <a:ext cx="2835239" cy="1344168"/>
          </a:xfrm>
          <a:prstGeom prst="rect">
            <a:avLst/>
          </a:prstGeom>
          <a:solidFill>
            <a:srgbClr val="F5F3FF"/>
          </a:solidFill>
          <a:ln w="16510">
            <a:solidFill>
              <a:srgbClr val="4F46E5"/>
            </a:solidFill>
            <a:prstDash val="solid"/>
          </a:ln>
        </p:spPr>
      </p:sp>
      <p:sp>
        <p:nvSpPr>
          <p:cNvPr id="38" name="Text 36"/>
          <p:cNvSpPr txBox="1"/>
          <p:nvPr/>
        </p:nvSpPr>
        <p:spPr>
          <a:xfrm>
            <a:off x="945379"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6. Review controls</a:t>
            </a:r>
            <a:endParaRPr lang="en-US" sz="1900" dirty="0"/>
          </a:p>
        </p:txBody>
      </p:sp>
      <p:sp>
        <p:nvSpPr>
          <p:cNvPr id="39" name="Text 37"/>
          <p:cNvSpPr txBox="1"/>
          <p:nvPr/>
        </p:nvSpPr>
        <p:spPr>
          <a:xfrm>
            <a:off x="963667"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Inspect simulated approvals and the incomplete MCP server scaffold</a:t>
            </a:r>
            <a:endParaRPr lang="en-US" sz="1700" dirty="0"/>
          </a:p>
        </p:txBody>
      </p:sp>
      <p:sp>
        <p:nvSpPr>
          <p:cNvPr id="40" name="Text 38"/>
          <p:cNvSpPr txBox="1"/>
          <p:nvPr/>
        </p:nvSpPr>
        <p:spPr>
          <a:xfrm>
            <a:off x="927091"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AUDIT, server_code</a:t>
            </a:r>
            <a:endParaRPr lang="en-US" sz="1200" dirty="0"/>
          </a:p>
        </p:txBody>
      </p:sp>
      <p:sp>
        <p:nvSpPr>
          <p:cNvPr id="41" name="Text 39"/>
          <p:cNvSpPr txBox="1"/>
          <p:nvPr/>
        </p:nvSpPr>
        <p:spPr>
          <a:xfrm>
            <a:off x="548640" y="5715000"/>
            <a:ext cx="11094415" cy="548640"/>
          </a:xfrm>
          <a:prstGeom prst="rect">
            <a:avLst/>
          </a:prstGeom>
          <a:noFill/>
          <a:ln/>
        </p:spPr>
        <p:txBody>
          <a:bodyPr wrap="square" lIns="0" tIns="0" rIns="0" bIns="0" rtlCol="0" anchor="t"/>
          <a:lstStyle/>
          <a:p>
            <a:pPr indent="0" marL="0">
              <a:buNone/>
            </a:pPr>
            <a:r>
              <a:rPr lang="en-US" sz="1700" dirty="0">
                <a:solidFill>
                  <a:srgbClr val="1F2937"/>
                </a:solidFill>
                <a:latin typeface="Calibri" pitchFamily="34" charset="0"/>
                <a:ea typeface="Calibri" pitchFamily="34" charset="-122"/>
                <a:cs typeface="Calibri" pitchFamily="34" charset="-120"/>
              </a:rPr>
              <a:t>Check: Can an answer pass numbers_supported while making an unsupported non-numeric claim?</a:t>
            </a:r>
            <a:endParaRPr lang="en-US" sz="1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000" b="1" dirty="0">
                <a:solidFill>
                  <a:srgbClr val="1E1B4B"/>
                </a:solidFill>
                <a:latin typeface="Calibri" pitchFamily="34" charset="0"/>
                <a:ea typeface="Calibri" pitchFamily="34" charset="-122"/>
                <a:cs typeface="Calibri" pitchFamily="34" charset="-120"/>
              </a:rPr>
              <a:t>Lab 12: a RAG assistant and a tool-using agent, measured</a:t>
            </a:r>
            <a:endParaRPr lang="en-US" sz="3000" dirty="0"/>
          </a:p>
        </p:txBody>
      </p:sp>
      <p:sp>
        <p:nvSpPr>
          <p:cNvPr id="6" name="Shape 4"/>
          <p:cNvSpPr/>
          <p:nvPr/>
        </p:nvSpPr>
        <p:spPr>
          <a:xfrm>
            <a:off x="548640" y="1527048"/>
            <a:ext cx="411480" cy="411480"/>
          </a:xfrm>
          <a:prstGeom prst="ellipse">
            <a:avLst/>
          </a:prstGeom>
          <a:solidFill>
            <a:srgbClr val="0F766E"/>
          </a:solidFill>
          <a:ln w="12700">
            <a:solidFill>
              <a:srgbClr val="0F766E"/>
            </a:solidFill>
            <a:prstDash val="solid"/>
          </a:ln>
        </p:spPr>
      </p:sp>
      <p:sp>
        <p:nvSpPr>
          <p:cNvPr id="7" name="Text 5"/>
          <p:cNvSpPr txBox="1"/>
          <p:nvPr/>
        </p:nvSpPr>
        <p:spPr>
          <a:xfrm>
            <a:off x="548640" y="152704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481328"/>
            <a:ext cx="6583680" cy="868680"/>
          </a:xfrm>
          <a:prstGeom prst="rect">
            <a:avLst/>
          </a:prstGeom>
          <a:noFill/>
          <a:ln/>
        </p:spPr>
        <p:txBody>
          <a:bodyPr wrap="square" lIns="50800" tIns="50800" rIns="50800" bIns="50800" rtlCol="0" anchor="t"/>
          <a:lstStyle/>
          <a:p>
            <a:pPr indent="0" marL="0">
              <a:buNone/>
            </a:pPr>
            <a:r>
              <a:rPr lang="en-US" sz="1500" dirty="0">
                <a:solidFill>
                  <a:srgbClr val="1F2937"/>
                </a:solidFill>
                <a:latin typeface="Calibri" pitchFamily="34" charset="0"/>
                <a:ea typeface="Calibri" pitchFamily="34" charset="-122"/>
                <a:cs typeface="Calibri" pitchFamily="34" charset="-120"/>
              </a:rPr>
              <a:t>Show that an LLM </a:t>
            </a:r>
            <a:pPr indent="0" marL="0">
              <a:buNone/>
            </a:pPr>
            <a:r>
              <a:rPr lang="en-US" sz="1500" b="1" dirty="0">
                <a:solidFill>
                  <a:srgbClr val="1F2937"/>
                </a:solidFill>
                <a:latin typeface="Calibri" pitchFamily="34" charset="0"/>
                <a:ea typeface="Calibri" pitchFamily="34" charset="-122"/>
                <a:cs typeface="Calibri" pitchFamily="34" charset="-120"/>
              </a:rPr>
              <a:t>without retrieval</a:t>
            </a:r>
            <a:pPr indent="0" marL="0">
              <a:buNone/>
            </a:pPr>
            <a:r>
              <a:rPr lang="en-US" sz="1500" dirty="0">
                <a:solidFill>
                  <a:srgbClr val="1F2937"/>
                </a:solidFill>
                <a:latin typeface="Calibri" pitchFamily="34" charset="0"/>
                <a:ea typeface="Calibri" pitchFamily="34" charset="-122"/>
                <a:cs typeface="Calibri" pitchFamily="34" charset="-120"/>
              </a:rPr>
              <a:t> cannot answer handbook questions.</a:t>
            </a:r>
            <a:endParaRPr lang="en-US" sz="1500" dirty="0"/>
          </a:p>
        </p:txBody>
      </p:sp>
      <p:sp>
        <p:nvSpPr>
          <p:cNvPr id="9" name="Shape 7"/>
          <p:cNvSpPr/>
          <p:nvPr/>
        </p:nvSpPr>
        <p:spPr>
          <a:xfrm>
            <a:off x="548640" y="2395728"/>
            <a:ext cx="411480" cy="411480"/>
          </a:xfrm>
          <a:prstGeom prst="ellipse">
            <a:avLst/>
          </a:prstGeom>
          <a:solidFill>
            <a:srgbClr val="0F766E"/>
          </a:solidFill>
          <a:ln w="12700">
            <a:solidFill>
              <a:srgbClr val="0F766E"/>
            </a:solidFill>
            <a:prstDash val="solid"/>
          </a:ln>
        </p:spPr>
      </p:sp>
      <p:sp>
        <p:nvSpPr>
          <p:cNvPr id="10" name="Text 8"/>
          <p:cNvSpPr txBox="1"/>
          <p:nvPr/>
        </p:nvSpPr>
        <p:spPr>
          <a:xfrm>
            <a:off x="548640" y="239572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350008"/>
            <a:ext cx="6583680" cy="868680"/>
          </a:xfrm>
          <a:prstGeom prst="rect">
            <a:avLst/>
          </a:prstGeom>
          <a:noFill/>
          <a:ln/>
        </p:spPr>
        <p:txBody>
          <a:bodyPr wrap="square" lIns="50800" tIns="50800" rIns="50800" bIns="50800" rtlCol="0" anchor="t"/>
          <a:lstStyle/>
          <a:p>
            <a:pPr indent="0" marL="0">
              <a:buNone/>
            </a:pPr>
            <a:r>
              <a:rPr lang="en-US" sz="1500" dirty="0">
                <a:solidFill>
                  <a:srgbClr val="1F2937"/>
                </a:solidFill>
                <a:latin typeface="Calibri" pitchFamily="34" charset="0"/>
                <a:ea typeface="Calibri" pitchFamily="34" charset="-122"/>
                <a:cs typeface="Calibri" pitchFamily="34" charset="-120"/>
              </a:rPr>
              <a:t>Chunk, embed and index the handbook (</a:t>
            </a:r>
            <a:pPr indent="0" marL="0">
              <a:buNone/>
            </a:pPr>
            <a:r>
              <a:rPr lang="en-US" sz="1500" b="1" dirty="0">
                <a:solidFill>
                  <a:srgbClr val="1F2937"/>
                </a:solidFill>
                <a:latin typeface="Calibri" pitchFamily="34" charset="0"/>
                <a:ea typeface="Calibri" pitchFamily="34" charset="-122"/>
                <a:cs typeface="Calibri" pitchFamily="34" charset="-120"/>
              </a:rPr>
              <a:t>FAISS</a:t>
            </a:r>
            <a:pPr indent="0" marL="0">
              <a:buNone/>
            </a:pPr>
            <a:r>
              <a:rPr lang="en-US" sz="1500" dirty="0">
                <a:solidFill>
                  <a:srgbClr val="1F2937"/>
                </a:solidFill>
                <a:latin typeface="Calibri" pitchFamily="34" charset="0"/>
                <a:ea typeface="Calibri" pitchFamily="34" charset="-122"/>
                <a:cs typeface="Calibri" pitchFamily="34" charset="-120"/>
              </a:rPr>
              <a:t>, </a:t>
            </a:r>
            <a:pPr indent="0" marL="0">
              <a:buNone/>
            </a:pPr>
            <a:r>
              <a:rPr lang="en-US" sz="1500" b="1" dirty="0">
                <a:solidFill>
                  <a:srgbClr val="1F2937"/>
                </a:solidFill>
                <a:latin typeface="Calibri" pitchFamily="34" charset="0"/>
                <a:ea typeface="Calibri" pitchFamily="34" charset="-122"/>
                <a:cs typeface="Calibri" pitchFamily="34" charset="-120"/>
              </a:rPr>
              <a:t>Chroma</a:t>
            </a:r>
            <a:pPr indent="0" marL="0">
              <a:buNone/>
            </a:pPr>
            <a:r>
              <a:rPr lang="en-US" sz="1500" dirty="0">
                <a:solidFill>
                  <a:srgbClr val="1F2937"/>
                </a:solidFill>
                <a:latin typeface="Calibri" pitchFamily="34" charset="0"/>
                <a:ea typeface="Calibri" pitchFamily="34" charset="-122"/>
                <a:cs typeface="Calibri" pitchFamily="34" charset="-120"/>
              </a:rPr>
              <a:t>).</a:t>
            </a:r>
            <a:endParaRPr lang="en-US" sz="1500" dirty="0"/>
          </a:p>
        </p:txBody>
      </p:sp>
      <p:sp>
        <p:nvSpPr>
          <p:cNvPr id="12" name="Shape 10"/>
          <p:cNvSpPr/>
          <p:nvPr/>
        </p:nvSpPr>
        <p:spPr>
          <a:xfrm>
            <a:off x="548640" y="3264408"/>
            <a:ext cx="411480" cy="411480"/>
          </a:xfrm>
          <a:prstGeom prst="ellipse">
            <a:avLst/>
          </a:prstGeom>
          <a:solidFill>
            <a:srgbClr val="0F766E"/>
          </a:solidFill>
          <a:ln w="12700">
            <a:solidFill>
              <a:srgbClr val="0F766E"/>
            </a:solidFill>
            <a:prstDash val="solid"/>
          </a:ln>
        </p:spPr>
      </p:sp>
      <p:sp>
        <p:nvSpPr>
          <p:cNvPr id="13" name="Text 11"/>
          <p:cNvSpPr txBox="1"/>
          <p:nvPr/>
        </p:nvSpPr>
        <p:spPr>
          <a:xfrm>
            <a:off x="548640" y="326440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218688"/>
            <a:ext cx="6583680" cy="868680"/>
          </a:xfrm>
          <a:prstGeom prst="rect">
            <a:avLst/>
          </a:prstGeom>
          <a:noFill/>
          <a:ln/>
        </p:spPr>
        <p:txBody>
          <a:bodyPr wrap="square" lIns="50800" tIns="50800" rIns="50800" bIns="50800" rtlCol="0" anchor="t"/>
          <a:lstStyle/>
          <a:p>
            <a:pPr indent="0" marL="0">
              <a:buNone/>
            </a:pPr>
            <a:r>
              <a:rPr lang="en-US" sz="1500" dirty="0">
                <a:solidFill>
                  <a:srgbClr val="1F2937"/>
                </a:solidFill>
                <a:latin typeface="Calibri" pitchFamily="34" charset="0"/>
                <a:ea typeface="Calibri" pitchFamily="34" charset="-122"/>
                <a:cs typeface="Calibri" pitchFamily="34" charset="-120"/>
              </a:rPr>
              <a:t>Compare </a:t>
            </a:r>
            <a:pPr indent="0" marL="0">
              <a:buNone/>
            </a:pPr>
            <a:r>
              <a:rPr lang="en-US" sz="1500" b="1" dirty="0">
                <a:solidFill>
                  <a:srgbClr val="1F2937"/>
                </a:solidFill>
                <a:latin typeface="Calibri" pitchFamily="34" charset="0"/>
                <a:ea typeface="Calibri" pitchFamily="34" charset="-122"/>
                <a:cs typeface="Calibri" pitchFamily="34" charset="-120"/>
              </a:rPr>
              <a:t>BM25, dense, hybrid (RRF)</a:t>
            </a:r>
            <a:pPr indent="0" marL="0">
              <a:buNone/>
            </a:pPr>
            <a:r>
              <a:rPr lang="en-US" sz="1500" dirty="0">
                <a:solidFill>
                  <a:srgbClr val="1F2937"/>
                </a:solidFill>
                <a:latin typeface="Calibri" pitchFamily="34" charset="0"/>
                <a:ea typeface="Calibri" pitchFamily="34" charset="-122"/>
                <a:cs typeface="Calibri" pitchFamily="34" charset="-120"/>
              </a:rPr>
              <a:t> and </a:t>
            </a:r>
            <a:pPr indent="0" marL="0">
              <a:buNone/>
            </a:pPr>
            <a:r>
              <a:rPr lang="en-US" sz="1500" b="1" dirty="0">
                <a:solidFill>
                  <a:srgbClr val="1F2937"/>
                </a:solidFill>
                <a:latin typeface="Calibri" pitchFamily="34" charset="0"/>
                <a:ea typeface="Calibri" pitchFamily="34" charset="-122"/>
                <a:cs typeface="Calibri" pitchFamily="34" charset="-120"/>
              </a:rPr>
              <a:t>re-ranking</a:t>
            </a:r>
            <a:pPr indent="0" marL="0">
              <a:buNone/>
            </a:pPr>
            <a:r>
              <a:rPr lang="en-US" sz="1500" dirty="0">
                <a:solidFill>
                  <a:srgbClr val="1F2937"/>
                </a:solidFill>
                <a:latin typeface="Calibri" pitchFamily="34" charset="0"/>
                <a:ea typeface="Calibri" pitchFamily="34" charset="-122"/>
                <a:cs typeface="Calibri" pitchFamily="34" charset="-120"/>
              </a:rPr>
              <a:t> with recall@k and MRR.</a:t>
            </a:r>
            <a:endParaRPr lang="en-US" sz="1500" dirty="0"/>
          </a:p>
        </p:txBody>
      </p:sp>
      <p:sp>
        <p:nvSpPr>
          <p:cNvPr id="15" name="Shape 13"/>
          <p:cNvSpPr/>
          <p:nvPr/>
        </p:nvSpPr>
        <p:spPr>
          <a:xfrm>
            <a:off x="548640" y="4133088"/>
            <a:ext cx="411480" cy="411480"/>
          </a:xfrm>
          <a:prstGeom prst="ellipse">
            <a:avLst/>
          </a:prstGeom>
          <a:solidFill>
            <a:srgbClr val="0F766E"/>
          </a:solidFill>
          <a:ln w="12700">
            <a:solidFill>
              <a:srgbClr val="0F766E"/>
            </a:solidFill>
            <a:prstDash val="solid"/>
          </a:ln>
        </p:spPr>
      </p:sp>
      <p:sp>
        <p:nvSpPr>
          <p:cNvPr id="16" name="Text 14"/>
          <p:cNvSpPr txBox="1"/>
          <p:nvPr/>
        </p:nvSpPr>
        <p:spPr>
          <a:xfrm>
            <a:off x="548640" y="413308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4087368"/>
            <a:ext cx="6583680" cy="868680"/>
          </a:xfrm>
          <a:prstGeom prst="rect">
            <a:avLst/>
          </a:prstGeom>
          <a:noFill/>
          <a:ln/>
        </p:spPr>
        <p:txBody>
          <a:bodyPr wrap="square" lIns="50800" tIns="50800" rIns="50800" bIns="50800" rtlCol="0" anchor="t"/>
          <a:lstStyle/>
          <a:p>
            <a:pPr indent="0" marL="0">
              <a:buNone/>
            </a:pPr>
            <a:r>
              <a:rPr lang="en-US" sz="1500" dirty="0">
                <a:solidFill>
                  <a:srgbClr val="1F2937"/>
                </a:solidFill>
                <a:latin typeface="Calibri" pitchFamily="34" charset="0"/>
                <a:ea typeface="Calibri" pitchFamily="34" charset="-122"/>
                <a:cs typeface="Calibri" pitchFamily="34" charset="-120"/>
              </a:rPr>
              <a:t>Answer with </a:t>
            </a:r>
            <a:pPr indent="0" marL="0">
              <a:buNone/>
            </a:pPr>
            <a:r>
              <a:rPr lang="en-US" sz="1500" b="1" dirty="0">
                <a:solidFill>
                  <a:srgbClr val="1F2937"/>
                </a:solidFill>
                <a:latin typeface="Calibri" pitchFamily="34" charset="0"/>
                <a:ea typeface="Calibri" pitchFamily="34" charset="-122"/>
                <a:cs typeface="Calibri" pitchFamily="34" charset="-120"/>
              </a:rPr>
              <a:t>citations</a:t>
            </a:r>
            <a:pPr indent="0" marL="0">
              <a:buNone/>
            </a:pPr>
            <a:r>
              <a:rPr lang="en-US" sz="1500" dirty="0">
                <a:solidFill>
                  <a:srgbClr val="1F2937"/>
                </a:solidFill>
                <a:latin typeface="Calibri" pitchFamily="34" charset="0"/>
                <a:ea typeface="Calibri" pitchFamily="34" charset="-122"/>
                <a:cs typeface="Calibri" pitchFamily="34" charset="-120"/>
              </a:rPr>
              <a:t>; measure accuracy, grounding and abstention vs no RAG.</a:t>
            </a:r>
            <a:endParaRPr lang="en-US" sz="1500" dirty="0"/>
          </a:p>
        </p:txBody>
      </p:sp>
      <p:sp>
        <p:nvSpPr>
          <p:cNvPr id="18" name="Shape 16"/>
          <p:cNvSpPr/>
          <p:nvPr/>
        </p:nvSpPr>
        <p:spPr>
          <a:xfrm>
            <a:off x="548640" y="5001768"/>
            <a:ext cx="411480" cy="411480"/>
          </a:xfrm>
          <a:prstGeom prst="ellipse">
            <a:avLst/>
          </a:prstGeom>
          <a:solidFill>
            <a:srgbClr val="0F766E"/>
          </a:solidFill>
          <a:ln w="12700">
            <a:solidFill>
              <a:srgbClr val="0F766E"/>
            </a:solidFill>
            <a:prstDash val="solid"/>
          </a:ln>
        </p:spPr>
      </p:sp>
      <p:sp>
        <p:nvSpPr>
          <p:cNvPr id="19" name="Text 17"/>
          <p:cNvSpPr txBox="1"/>
          <p:nvPr/>
        </p:nvSpPr>
        <p:spPr>
          <a:xfrm>
            <a:off x="548640" y="500176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956048"/>
            <a:ext cx="6583680" cy="868680"/>
          </a:xfrm>
          <a:prstGeom prst="rect">
            <a:avLst/>
          </a:prstGeom>
          <a:noFill/>
          <a:ln/>
        </p:spPr>
        <p:txBody>
          <a:bodyPr wrap="square" lIns="50800" tIns="50800" rIns="50800" bIns="50800" rtlCol="0" anchor="t"/>
          <a:lstStyle/>
          <a:p>
            <a:pPr indent="0" marL="0">
              <a:buNone/>
            </a:pPr>
            <a:r>
              <a:rPr lang="en-US" sz="1500" dirty="0">
                <a:solidFill>
                  <a:srgbClr val="1F2937"/>
                </a:solidFill>
                <a:latin typeface="Calibri" pitchFamily="34" charset="0"/>
                <a:ea typeface="Calibri" pitchFamily="34" charset="-122"/>
                <a:cs typeface="Calibri" pitchFamily="34" charset="-120"/>
              </a:rPr>
              <a:t>Build a </a:t>
            </a:r>
            <a:pPr indent="0" marL="0">
              <a:buNone/>
            </a:pPr>
            <a:r>
              <a:rPr lang="en-US" sz="1500" b="1" dirty="0">
                <a:solidFill>
                  <a:srgbClr val="1F2937"/>
                </a:solidFill>
                <a:latin typeface="Calibri" pitchFamily="34" charset="0"/>
                <a:ea typeface="Calibri" pitchFamily="34" charset="-122"/>
                <a:cs typeface="Calibri" pitchFamily="34" charset="-120"/>
              </a:rPr>
              <a:t>ReAct agent</a:t>
            </a:r>
            <a:pPr indent="0" marL="0">
              <a:buNone/>
            </a:pPr>
            <a:r>
              <a:rPr lang="en-US" sz="1500" dirty="0">
                <a:solidFill>
                  <a:srgbClr val="1F2937"/>
                </a:solidFill>
                <a:latin typeface="Calibri" pitchFamily="34" charset="0"/>
                <a:ea typeface="Calibri" pitchFamily="34" charset="-122"/>
                <a:cs typeface="Calibri" pitchFamily="34" charset="-120"/>
              </a:rPr>
              <a:t> with search, calculator and simulated e-mail, an </a:t>
            </a:r>
            <a:pPr indent="0" marL="0">
              <a:buNone/>
            </a:pPr>
            <a:r>
              <a:rPr lang="en-US" sz="1500" b="1" dirty="0">
                <a:solidFill>
                  <a:srgbClr val="1F2937"/>
                </a:solidFill>
                <a:latin typeface="Calibri" pitchFamily="34" charset="0"/>
                <a:ea typeface="Calibri" pitchFamily="34" charset="-122"/>
                <a:cs typeface="Calibri" pitchFamily="34" charset="-120"/>
              </a:rPr>
              <a:t>allowlist and simulated approval gate</a:t>
            </a:r>
            <a:pPr indent="0" marL="0">
              <a:buNone/>
            </a:pPr>
            <a:r>
              <a:rPr lang="en-US" sz="1500" dirty="0">
                <a:solidFill>
                  <a:srgbClr val="1F2937"/>
                </a:solidFill>
                <a:latin typeface="Calibri" pitchFamily="34" charset="0"/>
                <a:ea typeface="Calibri" pitchFamily="34" charset="-122"/>
                <a:cs typeface="Calibri" pitchFamily="34" charset="-120"/>
              </a:rPr>
              <a:t>; inspect an </a:t>
            </a:r>
            <a:pPr indent="0" marL="0">
              <a:buNone/>
            </a:pPr>
            <a:r>
              <a:rPr lang="en-US" sz="1500" b="1" dirty="0">
                <a:solidFill>
                  <a:srgbClr val="1F2937"/>
                </a:solidFill>
                <a:latin typeface="Calibri" pitchFamily="34" charset="0"/>
                <a:ea typeface="Calibri" pitchFamily="34" charset="-122"/>
                <a:cs typeface="Calibri" pitchFamily="34" charset="-120"/>
              </a:rPr>
              <a:t>MCP server scaffold</a:t>
            </a:r>
            <a:pPr indent="0" marL="0">
              <a:buNone/>
            </a:pPr>
            <a:r>
              <a:rPr lang="en-US" sz="1500" dirty="0">
                <a:solidFill>
                  <a:srgbClr val="1F2937"/>
                </a:solidFill>
                <a:latin typeface="Calibri" pitchFamily="34" charset="0"/>
                <a:ea typeface="Calibri" pitchFamily="34" charset="-122"/>
                <a:cs typeface="Calibri" pitchFamily="34" charset="-120"/>
              </a:rPr>
              <a:t>.</a:t>
            </a:r>
            <a:endParaRPr lang="en-US" sz="1500" dirty="0"/>
          </a:p>
        </p:txBody>
      </p:sp>
      <p:sp>
        <p:nvSpPr>
          <p:cNvPr id="21" name="Shape 19"/>
          <p:cNvSpPr/>
          <p:nvPr/>
        </p:nvSpPr>
        <p:spPr>
          <a:xfrm>
            <a:off x="8046720" y="1481328"/>
            <a:ext cx="3596335" cy="4828032"/>
          </a:xfrm>
          <a:prstGeom prst="roundRect">
            <a:avLst>
              <a:gd name="adj" fmla="val 3051"/>
            </a:avLst>
          </a:prstGeom>
          <a:solidFill>
            <a:srgbClr val="E6F4F1"/>
          </a:solidFill>
          <a:ln w="12700">
            <a:solidFill>
              <a:srgbClr val="E6F4F1"/>
            </a:solidFill>
            <a:prstDash val="solid"/>
          </a:ln>
        </p:spPr>
      </p:sp>
      <p:sp>
        <p:nvSpPr>
          <p:cNvPr id="22" name="Shape 20"/>
          <p:cNvSpPr/>
          <p:nvPr/>
        </p:nvSpPr>
        <p:spPr>
          <a:xfrm>
            <a:off x="8229600" y="1709928"/>
            <a:ext cx="502920" cy="502920"/>
          </a:xfrm>
          <a:prstGeom prst="ellipse">
            <a:avLst/>
          </a:prstGeom>
          <a:solidFill>
            <a:srgbClr val="0F766E"/>
          </a:solidFill>
          <a:ln w="12700">
            <a:solidFill>
              <a:srgbClr val="0F766E"/>
            </a:solidFill>
            <a:prstDash val="solid"/>
          </a:ln>
        </p:spPr>
      </p:sp>
      <p:pic>
        <p:nvPicPr>
          <p:cNvPr id="23" name="Image 0" descr="preencoded.png">    </p:cNvPr>
          <p:cNvPicPr>
            <a:picLocks noChangeAspect="1"/>
          </p:cNvPicPr>
          <p:nvPr/>
        </p:nvPicPr>
        <p:blipFill>
          <a:blip r:embed="rId1"/>
          <a:stretch>
            <a:fillRect/>
          </a:stretch>
        </p:blipFill>
        <p:spPr>
          <a:xfrm>
            <a:off x="8350301" y="1830629"/>
            <a:ext cx="261518" cy="261518"/>
          </a:xfrm>
          <a:prstGeom prst="rect">
            <a:avLst/>
          </a:prstGeom>
        </p:spPr>
      </p:pic>
      <p:sp>
        <p:nvSpPr>
          <p:cNvPr id="24" name="Text 21"/>
          <p:cNvSpPr txBox="1"/>
          <p:nvPr/>
        </p:nvSpPr>
        <p:spPr>
          <a:xfrm>
            <a:off x="8869680" y="1664208"/>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Runtime</a:t>
            </a:r>
            <a:endParaRPr lang="en-US" sz="1500" dirty="0"/>
          </a:p>
        </p:txBody>
      </p:sp>
      <p:sp>
        <p:nvSpPr>
          <p:cNvPr id="25" name="Text 22"/>
          <p:cNvSpPr txBox="1"/>
          <p:nvPr/>
        </p:nvSpPr>
        <p:spPr>
          <a:xfrm>
            <a:off x="8869680" y="2011680"/>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Google Colab T4 GPU (≈ 15 min); CPU works with a smaller model</a:t>
            </a:r>
            <a:endParaRPr lang="en-US" sz="1400" dirty="0"/>
          </a:p>
        </p:txBody>
      </p:sp>
      <p:sp>
        <p:nvSpPr>
          <p:cNvPr id="26" name="Shape 23"/>
          <p:cNvSpPr/>
          <p:nvPr/>
        </p:nvSpPr>
        <p:spPr>
          <a:xfrm>
            <a:off x="8229600" y="3227832"/>
            <a:ext cx="502920" cy="502920"/>
          </a:xfrm>
          <a:prstGeom prst="ellipse">
            <a:avLst/>
          </a:prstGeom>
          <a:solidFill>
            <a:srgbClr val="0F766E"/>
          </a:solidFill>
          <a:ln w="12700">
            <a:solidFill>
              <a:srgbClr val="0F766E"/>
            </a:solidFill>
            <a:prstDash val="solid"/>
          </a:ln>
        </p:spPr>
      </p:sp>
      <p:pic>
        <p:nvPicPr>
          <p:cNvPr id="27" name="Image 1" descr="preencoded.png">    </p:cNvPr>
          <p:cNvPicPr>
            <a:picLocks noChangeAspect="1"/>
          </p:cNvPicPr>
          <p:nvPr/>
        </p:nvPicPr>
        <p:blipFill>
          <a:blip r:embed="rId2"/>
          <a:stretch>
            <a:fillRect/>
          </a:stretch>
        </p:blipFill>
        <p:spPr>
          <a:xfrm>
            <a:off x="8350301" y="3348533"/>
            <a:ext cx="261518" cy="261518"/>
          </a:xfrm>
          <a:prstGeom prst="rect">
            <a:avLst/>
          </a:prstGeom>
        </p:spPr>
      </p:pic>
      <p:sp>
        <p:nvSpPr>
          <p:cNvPr id="28" name="Text 24"/>
          <p:cNvSpPr txBox="1"/>
          <p:nvPr/>
        </p:nvSpPr>
        <p:spPr>
          <a:xfrm>
            <a:off x="8869680" y="3182112"/>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Time</a:t>
            </a:r>
            <a:endParaRPr lang="en-US" sz="1500" dirty="0"/>
          </a:p>
        </p:txBody>
      </p:sp>
      <p:sp>
        <p:nvSpPr>
          <p:cNvPr id="29" name="Text 25"/>
          <p:cNvSpPr txBox="1"/>
          <p:nvPr/>
        </p:nvSpPr>
        <p:spPr>
          <a:xfrm>
            <a:off x="8869680" y="3529584"/>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2-hour lab</a:t>
            </a:r>
            <a:endParaRPr lang="en-US" sz="1400" dirty="0"/>
          </a:p>
        </p:txBody>
      </p:sp>
      <p:sp>
        <p:nvSpPr>
          <p:cNvPr id="30" name="Shape 26"/>
          <p:cNvSpPr/>
          <p:nvPr/>
        </p:nvSpPr>
        <p:spPr>
          <a:xfrm>
            <a:off x="8229600" y="4745736"/>
            <a:ext cx="502920" cy="502920"/>
          </a:xfrm>
          <a:prstGeom prst="ellipse">
            <a:avLst/>
          </a:prstGeom>
          <a:solidFill>
            <a:srgbClr val="0F766E"/>
          </a:solidFill>
          <a:ln w="12700">
            <a:solidFill>
              <a:srgbClr val="0F766E"/>
            </a:solidFill>
            <a:prstDash val="solid"/>
          </a:ln>
        </p:spPr>
      </p:sp>
      <p:pic>
        <p:nvPicPr>
          <p:cNvPr id="31" name="Image 2" descr="preencoded.png">    </p:cNvPr>
          <p:cNvPicPr>
            <a:picLocks noChangeAspect="1"/>
          </p:cNvPicPr>
          <p:nvPr/>
        </p:nvPicPr>
        <p:blipFill>
          <a:blip r:embed="rId3"/>
          <a:stretch>
            <a:fillRect/>
          </a:stretch>
        </p:blipFill>
        <p:spPr>
          <a:xfrm>
            <a:off x="8350301" y="4866437"/>
            <a:ext cx="261518" cy="261518"/>
          </a:xfrm>
          <a:prstGeom prst="rect">
            <a:avLst/>
          </a:prstGeom>
        </p:spPr>
      </p:pic>
      <p:sp>
        <p:nvSpPr>
          <p:cNvPr id="32" name="Text 27"/>
          <p:cNvSpPr txBox="1"/>
          <p:nvPr/>
        </p:nvSpPr>
        <p:spPr>
          <a:xfrm>
            <a:off x="8869680" y="4700016"/>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Hand in</a:t>
            </a:r>
            <a:endParaRPr lang="en-US" sz="1500" dirty="0"/>
          </a:p>
        </p:txBody>
      </p:sp>
      <p:sp>
        <p:nvSpPr>
          <p:cNvPr id="33" name="Text 28"/>
          <p:cNvSpPr txBox="1"/>
          <p:nvPr/>
        </p:nvSpPr>
        <p:spPr>
          <a:xfrm>
            <a:off x="8869680" y="5047488"/>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Notebook with retrieval and RAG tables, agent trajectories and audit log, and three answers</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Key takeaways</a:t>
            </a:r>
            <a:endParaRPr lang="en-US" sz="3200" dirty="0"/>
          </a:p>
        </p:txBody>
      </p:sp>
      <p:pic>
        <p:nvPicPr>
          <p:cNvPr id="6" name="Image 0" descr="preencoded.png">    </p:cNvPr>
          <p:cNvPicPr>
            <a:picLocks noChangeAspect="1"/>
          </p:cNvPicPr>
          <p:nvPr/>
        </p:nvPicPr>
        <p:blipFill>
          <a:blip r:embed="rId1"/>
          <a:stretch>
            <a:fillRect/>
          </a:stretch>
        </p:blipFill>
        <p:spPr>
          <a:xfrm>
            <a:off x="548640" y="1554480"/>
            <a:ext cx="384048" cy="384048"/>
          </a:xfrm>
          <a:prstGeom prst="rect">
            <a:avLst/>
          </a:prstGeom>
        </p:spPr>
      </p:pic>
      <p:sp>
        <p:nvSpPr>
          <p:cNvPr id="7" name="Text 4"/>
          <p:cNvSpPr txBox="1"/>
          <p:nvPr/>
        </p:nvSpPr>
        <p:spPr>
          <a:xfrm>
            <a:off x="1097280" y="1481328"/>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LLMs have </a:t>
            </a:r>
            <a:pPr indent="0" marL="0">
              <a:buNone/>
            </a:pPr>
            <a:r>
              <a:rPr lang="en-US" sz="1900" b="1" dirty="0">
                <a:solidFill>
                  <a:srgbClr val="1F2937"/>
                </a:solidFill>
                <a:latin typeface="Calibri" pitchFamily="34" charset="0"/>
                <a:ea typeface="Calibri" pitchFamily="34" charset="-122"/>
                <a:cs typeface="Calibri" pitchFamily="34" charset="-120"/>
              </a:rPr>
              <a:t>static knowledge</a:t>
            </a:r>
            <a:pPr indent="0" marL="0">
              <a:buNone/>
            </a:pPr>
            <a:r>
              <a:rPr lang="en-US" sz="1900" dirty="0">
                <a:solidFill>
                  <a:srgbClr val="1F2937"/>
                </a:solidFill>
                <a:latin typeface="Calibri" pitchFamily="34" charset="0"/>
                <a:ea typeface="Calibri" pitchFamily="34" charset="-122"/>
                <a:cs typeface="Calibri" pitchFamily="34" charset="-120"/>
              </a:rPr>
              <a:t>, </a:t>
            </a:r>
            <a:pPr indent="0" marL="0">
              <a:buNone/>
            </a:pPr>
            <a:r>
              <a:rPr lang="en-US" sz="1900" b="1" dirty="0">
                <a:solidFill>
                  <a:srgbClr val="1F2937"/>
                </a:solidFill>
                <a:latin typeface="Calibri" pitchFamily="34" charset="0"/>
                <a:ea typeface="Calibri" pitchFamily="34" charset="-122"/>
                <a:cs typeface="Calibri" pitchFamily="34" charset="-120"/>
              </a:rPr>
              <a:t>hallucinate</a:t>
            </a:r>
            <a:pPr indent="0" marL="0">
              <a:buNone/>
            </a:pPr>
            <a:r>
              <a:rPr lang="en-US" sz="1900" dirty="0">
                <a:solidFill>
                  <a:srgbClr val="1F2937"/>
                </a:solidFill>
                <a:latin typeface="Calibri" pitchFamily="34" charset="0"/>
                <a:ea typeface="Calibri" pitchFamily="34" charset="-122"/>
                <a:cs typeface="Calibri" pitchFamily="34" charset="-120"/>
              </a:rPr>
              <a:t>, lack </a:t>
            </a:r>
            <a:pPr indent="0" marL="0">
              <a:buNone/>
            </a:pPr>
            <a:r>
              <a:rPr lang="en-US" sz="1900" b="1" dirty="0">
                <a:solidFill>
                  <a:srgbClr val="1F2937"/>
                </a:solidFill>
                <a:latin typeface="Calibri" pitchFamily="34" charset="0"/>
                <a:ea typeface="Calibri" pitchFamily="34" charset="-122"/>
                <a:cs typeface="Calibri" pitchFamily="34" charset="-120"/>
              </a:rPr>
              <a:t>private data</a:t>
            </a:r>
            <a:pPr indent="0" marL="0">
              <a:buNone/>
            </a:pPr>
            <a:r>
              <a:rPr lang="en-US" sz="1900" dirty="0">
                <a:solidFill>
                  <a:srgbClr val="1F2937"/>
                </a:solidFill>
                <a:latin typeface="Calibri" pitchFamily="34" charset="0"/>
                <a:ea typeface="Calibri" pitchFamily="34" charset="-122"/>
                <a:cs typeface="Calibri" pitchFamily="34" charset="-120"/>
              </a:rPr>
              <a:t> and citations: RAG addresses all four.</a:t>
            </a:r>
            <a:endParaRPr lang="en-US" sz="1900" dirty="0"/>
          </a:p>
        </p:txBody>
      </p:sp>
      <p:pic>
        <p:nvPicPr>
          <p:cNvPr id="8" name="Image 1" descr="preencoded.png">    </p:cNvPr>
          <p:cNvPicPr>
            <a:picLocks noChangeAspect="1"/>
          </p:cNvPicPr>
          <p:nvPr/>
        </p:nvPicPr>
        <p:blipFill>
          <a:blip r:embed="rId2"/>
          <a:stretch>
            <a:fillRect/>
          </a:stretch>
        </p:blipFill>
        <p:spPr>
          <a:xfrm>
            <a:off x="548640" y="2761488"/>
            <a:ext cx="384048" cy="384048"/>
          </a:xfrm>
          <a:prstGeom prst="rect">
            <a:avLst/>
          </a:prstGeom>
        </p:spPr>
      </p:pic>
      <p:sp>
        <p:nvSpPr>
          <p:cNvPr id="9" name="Text 5"/>
          <p:cNvSpPr txBox="1"/>
          <p:nvPr/>
        </p:nvSpPr>
        <p:spPr>
          <a:xfrm>
            <a:off x="1097280" y="2688336"/>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Indexing: </a:t>
            </a:r>
            <a:pPr indent="0" marL="0">
              <a:buNone/>
            </a:pPr>
            <a:r>
              <a:rPr lang="en-US" sz="1900" b="1" dirty="0">
                <a:solidFill>
                  <a:srgbClr val="1F2937"/>
                </a:solidFill>
                <a:latin typeface="Calibri" pitchFamily="34" charset="0"/>
                <a:ea typeface="Calibri" pitchFamily="34" charset="-122"/>
                <a:cs typeface="Calibri" pitchFamily="34" charset="-120"/>
              </a:rPr>
              <a:t>chunk</a:t>
            </a:r>
            <a:pPr indent="0" marL="0">
              <a:buNone/>
            </a:pPr>
            <a:r>
              <a:rPr lang="en-US" sz="1900" dirty="0">
                <a:solidFill>
                  <a:srgbClr val="1F2937"/>
                </a:solidFill>
                <a:latin typeface="Calibri" pitchFamily="34" charset="0"/>
                <a:ea typeface="Calibri" pitchFamily="34" charset="-122"/>
                <a:cs typeface="Calibri" pitchFamily="34" charset="-120"/>
              </a:rPr>
              <a:t>, </a:t>
            </a:r>
            <a:pPr indent="0" marL="0">
              <a:buNone/>
            </a:pPr>
            <a:r>
              <a:rPr lang="en-US" sz="1900" b="1" dirty="0">
                <a:solidFill>
                  <a:srgbClr val="1F2937"/>
                </a:solidFill>
                <a:latin typeface="Calibri" pitchFamily="34" charset="0"/>
                <a:ea typeface="Calibri" pitchFamily="34" charset="-122"/>
                <a:cs typeface="Calibri" pitchFamily="34" charset="-120"/>
              </a:rPr>
              <a:t>embed</a:t>
            </a:r>
            <a:pPr indent="0" marL="0">
              <a:buNone/>
            </a:pPr>
            <a:r>
              <a:rPr lang="en-US" sz="1900" dirty="0">
                <a:solidFill>
                  <a:srgbClr val="1F2937"/>
                </a:solidFill>
                <a:latin typeface="Calibri" pitchFamily="34" charset="0"/>
                <a:ea typeface="Calibri" pitchFamily="34" charset="-122"/>
                <a:cs typeface="Calibri" pitchFamily="34" charset="-120"/>
              </a:rPr>
              <a:t>, store in a </a:t>
            </a:r>
            <a:pPr indent="0" marL="0">
              <a:buNone/>
            </a:pPr>
            <a:r>
              <a:rPr lang="en-US" sz="1900" b="1" dirty="0">
                <a:solidFill>
                  <a:srgbClr val="1F2937"/>
                </a:solidFill>
                <a:latin typeface="Calibri" pitchFamily="34" charset="0"/>
                <a:ea typeface="Calibri" pitchFamily="34" charset="-122"/>
                <a:cs typeface="Calibri" pitchFamily="34" charset="-120"/>
              </a:rPr>
              <a:t>vector database</a:t>
            </a:r>
            <a:pPr indent="0" marL="0">
              <a:buNone/>
            </a:pPr>
            <a:r>
              <a:rPr lang="en-US" sz="1900" dirty="0">
                <a:solidFill>
                  <a:srgbClr val="1F2937"/>
                </a:solidFill>
                <a:latin typeface="Calibri" pitchFamily="34" charset="0"/>
                <a:ea typeface="Calibri" pitchFamily="34" charset="-122"/>
                <a:cs typeface="Calibri" pitchFamily="34" charset="-120"/>
              </a:rPr>
              <a:t> with metadata.</a:t>
            </a:r>
            <a:endParaRPr lang="en-US" sz="1900" dirty="0"/>
          </a:p>
        </p:txBody>
      </p:sp>
      <p:pic>
        <p:nvPicPr>
          <p:cNvPr id="10" name="Image 2" descr="preencoded.png">    </p:cNvPr>
          <p:cNvPicPr>
            <a:picLocks noChangeAspect="1"/>
          </p:cNvPicPr>
          <p:nvPr/>
        </p:nvPicPr>
        <p:blipFill>
          <a:blip r:embed="rId3"/>
          <a:stretch>
            <a:fillRect/>
          </a:stretch>
        </p:blipFill>
        <p:spPr>
          <a:xfrm>
            <a:off x="548640" y="3968496"/>
            <a:ext cx="384048" cy="384048"/>
          </a:xfrm>
          <a:prstGeom prst="rect">
            <a:avLst/>
          </a:prstGeom>
        </p:spPr>
      </p:pic>
      <p:sp>
        <p:nvSpPr>
          <p:cNvPr id="11" name="Text 6"/>
          <p:cNvSpPr txBox="1"/>
          <p:nvPr/>
        </p:nvSpPr>
        <p:spPr>
          <a:xfrm>
            <a:off x="1097280" y="3895344"/>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Retrieval: </a:t>
            </a:r>
            <a:pPr indent="0" marL="0">
              <a:buNone/>
            </a:pPr>
            <a:r>
              <a:rPr lang="en-US" sz="1900" b="1" dirty="0">
                <a:solidFill>
                  <a:srgbClr val="1F2937"/>
                </a:solidFill>
                <a:latin typeface="Calibri" pitchFamily="34" charset="0"/>
                <a:ea typeface="Calibri" pitchFamily="34" charset="-122"/>
                <a:cs typeface="Calibri" pitchFamily="34" charset="-120"/>
              </a:rPr>
              <a:t>dense + BM25 (hybrid)</a:t>
            </a:r>
            <a:pPr indent="0" marL="0">
              <a:buNone/>
            </a:pPr>
            <a:r>
              <a:rPr lang="en-US" sz="1900" dirty="0">
                <a:solidFill>
                  <a:srgbClr val="1F2937"/>
                </a:solidFill>
                <a:latin typeface="Calibri" pitchFamily="34" charset="0"/>
                <a:ea typeface="Calibri" pitchFamily="34" charset="-122"/>
                <a:cs typeface="Calibri" pitchFamily="34" charset="-120"/>
              </a:rPr>
              <a:t>, then </a:t>
            </a:r>
            <a:pPr indent="0" marL="0">
              <a:buNone/>
            </a:pPr>
            <a:r>
              <a:rPr lang="en-US" sz="1900" b="1" dirty="0">
                <a:solidFill>
                  <a:srgbClr val="1F2937"/>
                </a:solidFill>
                <a:latin typeface="Calibri" pitchFamily="34" charset="0"/>
                <a:ea typeface="Calibri" pitchFamily="34" charset="-122"/>
                <a:cs typeface="Calibri" pitchFamily="34" charset="-120"/>
              </a:rPr>
              <a:t>re-rank</a:t>
            </a:r>
            <a:pPr indent="0" marL="0">
              <a:buNone/>
            </a:pPr>
            <a:r>
              <a:rPr lang="en-US" sz="1900" dirty="0">
                <a:solidFill>
                  <a:srgbClr val="1F2937"/>
                </a:solidFill>
                <a:latin typeface="Calibri" pitchFamily="34" charset="0"/>
                <a:ea typeface="Calibri" pitchFamily="34" charset="-122"/>
                <a:cs typeface="Calibri" pitchFamily="34" charset="-120"/>
              </a:rPr>
              <a:t>; measure recall@k and MRR.</a:t>
            </a:r>
            <a:endParaRPr lang="en-US" sz="1900" dirty="0"/>
          </a:p>
        </p:txBody>
      </p:sp>
      <p:pic>
        <p:nvPicPr>
          <p:cNvPr id="12" name="Image 3" descr="preencoded.png">    </p:cNvPr>
          <p:cNvPicPr>
            <a:picLocks noChangeAspect="1"/>
          </p:cNvPicPr>
          <p:nvPr/>
        </p:nvPicPr>
        <p:blipFill>
          <a:blip r:embed="rId4"/>
          <a:stretch>
            <a:fillRect/>
          </a:stretch>
        </p:blipFill>
        <p:spPr>
          <a:xfrm>
            <a:off x="548640" y="5175504"/>
            <a:ext cx="384048" cy="384048"/>
          </a:xfrm>
          <a:prstGeom prst="rect">
            <a:avLst/>
          </a:prstGeom>
        </p:spPr>
      </p:pic>
      <p:sp>
        <p:nvSpPr>
          <p:cNvPr id="13" name="Text 7"/>
          <p:cNvSpPr txBox="1"/>
          <p:nvPr/>
        </p:nvSpPr>
        <p:spPr>
          <a:xfrm>
            <a:off x="1097280" y="5102352"/>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Generate from numbered sources with </a:t>
            </a:r>
            <a:pPr indent="0" marL="0">
              <a:buNone/>
            </a:pPr>
            <a:r>
              <a:rPr lang="en-US" sz="1900" b="1" dirty="0">
                <a:solidFill>
                  <a:srgbClr val="1F2937"/>
                </a:solidFill>
                <a:latin typeface="Calibri" pitchFamily="34" charset="0"/>
                <a:ea typeface="Calibri" pitchFamily="34" charset="-122"/>
                <a:cs typeface="Calibri" pitchFamily="34" charset="-120"/>
              </a:rPr>
              <a:t>citations</a:t>
            </a:r>
            <a:pPr indent="0" marL="0">
              <a:buNone/>
            </a:pPr>
            <a:r>
              <a:rPr lang="en-US" sz="1900" dirty="0">
                <a:solidFill>
                  <a:srgbClr val="1F2937"/>
                </a:solidFill>
                <a:latin typeface="Calibri" pitchFamily="34" charset="0"/>
                <a:ea typeface="Calibri" pitchFamily="34" charset="-122"/>
                <a:cs typeface="Calibri" pitchFamily="34" charset="-120"/>
              </a:rPr>
              <a:t>; abstain when evidence is missing.</a:t>
            </a:r>
            <a:endParaRPr lang="en-US" sz="1900" dirty="0"/>
          </a:p>
        </p:txBody>
      </p:sp>
      <p:pic>
        <p:nvPicPr>
          <p:cNvPr id="14" name="Image 4" descr="preencoded.png">    </p:cNvPr>
          <p:cNvPicPr>
            <a:picLocks noChangeAspect="1"/>
          </p:cNvPicPr>
          <p:nvPr/>
        </p:nvPicPr>
        <p:blipFill>
          <a:blip r:embed="rId5"/>
          <a:stretch>
            <a:fillRect/>
          </a:stretch>
        </p:blipFill>
        <p:spPr>
          <a:xfrm>
            <a:off x="6278728" y="1554480"/>
            <a:ext cx="384048" cy="384048"/>
          </a:xfrm>
          <a:prstGeom prst="rect">
            <a:avLst/>
          </a:prstGeom>
        </p:spPr>
      </p:pic>
      <p:sp>
        <p:nvSpPr>
          <p:cNvPr id="15" name="Text 8"/>
          <p:cNvSpPr txBox="1"/>
          <p:nvPr/>
        </p:nvSpPr>
        <p:spPr>
          <a:xfrm>
            <a:off x="6827368" y="1481328"/>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Evaluate retrieval and generation separately: </a:t>
            </a:r>
            <a:pPr indent="0" marL="0">
              <a:buNone/>
            </a:pPr>
            <a:r>
              <a:rPr lang="en-US" sz="1900" b="1" dirty="0">
                <a:solidFill>
                  <a:srgbClr val="1F2937"/>
                </a:solidFill>
                <a:latin typeface="Calibri" pitchFamily="34" charset="0"/>
                <a:ea typeface="Calibri" pitchFamily="34" charset="-122"/>
                <a:cs typeface="Calibri" pitchFamily="34" charset="-120"/>
              </a:rPr>
              <a:t>faithfulness</a:t>
            </a:r>
            <a:pPr indent="0" marL="0">
              <a:buNone/>
            </a:pPr>
            <a:r>
              <a:rPr lang="en-US" sz="1900" dirty="0">
                <a:solidFill>
                  <a:srgbClr val="1F2937"/>
                </a:solidFill>
                <a:latin typeface="Calibri" pitchFamily="34" charset="0"/>
                <a:ea typeface="Calibri" pitchFamily="34" charset="-122"/>
                <a:cs typeface="Calibri" pitchFamily="34" charset="-120"/>
              </a:rPr>
              <a:t>, relevance, correctness.</a:t>
            </a:r>
            <a:endParaRPr lang="en-US" sz="1900" dirty="0"/>
          </a:p>
        </p:txBody>
      </p:sp>
      <p:pic>
        <p:nvPicPr>
          <p:cNvPr id="16" name="Image 5" descr="preencoded.png">    </p:cNvPr>
          <p:cNvPicPr>
            <a:picLocks noChangeAspect="1"/>
          </p:cNvPicPr>
          <p:nvPr/>
        </p:nvPicPr>
        <p:blipFill>
          <a:blip r:embed="rId6"/>
          <a:stretch>
            <a:fillRect/>
          </a:stretch>
        </p:blipFill>
        <p:spPr>
          <a:xfrm>
            <a:off x="6278728" y="2761488"/>
            <a:ext cx="384048" cy="384048"/>
          </a:xfrm>
          <a:prstGeom prst="rect">
            <a:avLst/>
          </a:prstGeom>
        </p:spPr>
      </p:pic>
      <p:sp>
        <p:nvSpPr>
          <p:cNvPr id="17" name="Text 9"/>
          <p:cNvSpPr txBox="1"/>
          <p:nvPr/>
        </p:nvSpPr>
        <p:spPr>
          <a:xfrm>
            <a:off x="6827368" y="2688336"/>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Agents: LLM + </a:t>
            </a:r>
            <a:pPr indent="0" marL="0">
              <a:buNone/>
            </a:pPr>
            <a:r>
              <a:rPr lang="en-US" sz="1900" b="1" dirty="0">
                <a:solidFill>
                  <a:srgbClr val="1F2937"/>
                </a:solidFill>
                <a:latin typeface="Calibri" pitchFamily="34" charset="0"/>
                <a:ea typeface="Calibri" pitchFamily="34" charset="-122"/>
                <a:cs typeface="Calibri" pitchFamily="34" charset="-120"/>
              </a:rPr>
              <a:t>tools</a:t>
            </a:r>
            <a:pPr indent="0" marL="0">
              <a:buNone/>
            </a:pPr>
            <a:r>
              <a:rPr lang="en-US" sz="1900" dirty="0">
                <a:solidFill>
                  <a:srgbClr val="1F2937"/>
                </a:solidFill>
                <a:latin typeface="Calibri" pitchFamily="34" charset="0"/>
                <a:ea typeface="Calibri" pitchFamily="34" charset="-122"/>
                <a:cs typeface="Calibri" pitchFamily="34" charset="-120"/>
              </a:rPr>
              <a:t> + memory + planning in a </a:t>
            </a:r>
            <a:pPr indent="0" marL="0">
              <a:buNone/>
            </a:pPr>
            <a:r>
              <a:rPr lang="en-US" sz="1900" b="1" dirty="0">
                <a:solidFill>
                  <a:srgbClr val="1F2937"/>
                </a:solidFill>
                <a:latin typeface="Calibri" pitchFamily="34" charset="0"/>
                <a:ea typeface="Calibri" pitchFamily="34" charset="-122"/>
                <a:cs typeface="Calibri" pitchFamily="34" charset="-120"/>
              </a:rPr>
              <a:t>ReAct loop</a:t>
            </a:r>
            <a:pPr indent="0" marL="0">
              <a:buNone/>
            </a:pPr>
            <a:r>
              <a:rPr lang="en-US" sz="1900" dirty="0">
                <a:solidFill>
                  <a:srgbClr val="1F2937"/>
                </a:solidFill>
                <a:latin typeface="Calibri" pitchFamily="34" charset="0"/>
                <a:ea typeface="Calibri" pitchFamily="34" charset="-122"/>
                <a:cs typeface="Calibri" pitchFamily="34" charset="-120"/>
              </a:rPr>
              <a:t>; prefer </a:t>
            </a:r>
            <a:pPr indent="0" marL="0">
              <a:buNone/>
            </a:pPr>
            <a:r>
              <a:rPr lang="en-US" sz="1900" b="1" dirty="0">
                <a:solidFill>
                  <a:srgbClr val="1F2937"/>
                </a:solidFill>
                <a:latin typeface="Calibri" pitchFamily="34" charset="0"/>
                <a:ea typeface="Calibri" pitchFamily="34" charset="-122"/>
                <a:cs typeface="Calibri" pitchFamily="34" charset="-120"/>
              </a:rPr>
              <a:t>workflows</a:t>
            </a:r>
            <a:pPr indent="0" marL="0">
              <a:buNone/>
            </a:pPr>
            <a:r>
              <a:rPr lang="en-US" sz="1900" dirty="0">
                <a:solidFill>
                  <a:srgbClr val="1F2937"/>
                </a:solidFill>
                <a:latin typeface="Calibri" pitchFamily="34" charset="0"/>
                <a:ea typeface="Calibri" pitchFamily="34" charset="-122"/>
                <a:cs typeface="Calibri" pitchFamily="34" charset="-120"/>
              </a:rPr>
              <a:t> when steps are known.</a:t>
            </a:r>
            <a:endParaRPr lang="en-US" sz="1900" dirty="0"/>
          </a:p>
        </p:txBody>
      </p:sp>
      <p:pic>
        <p:nvPicPr>
          <p:cNvPr id="18" name="Image 6" descr="preencoded.png">    </p:cNvPr>
          <p:cNvPicPr>
            <a:picLocks noChangeAspect="1"/>
          </p:cNvPicPr>
          <p:nvPr/>
        </p:nvPicPr>
        <p:blipFill>
          <a:blip r:embed="rId7"/>
          <a:stretch>
            <a:fillRect/>
          </a:stretch>
        </p:blipFill>
        <p:spPr>
          <a:xfrm>
            <a:off x="6278728" y="3968496"/>
            <a:ext cx="384048" cy="384048"/>
          </a:xfrm>
          <a:prstGeom prst="rect">
            <a:avLst/>
          </a:prstGeom>
        </p:spPr>
      </p:pic>
      <p:sp>
        <p:nvSpPr>
          <p:cNvPr id="19" name="Text 10"/>
          <p:cNvSpPr txBox="1"/>
          <p:nvPr/>
        </p:nvSpPr>
        <p:spPr>
          <a:xfrm>
            <a:off x="6827368" y="3895344"/>
            <a:ext cx="4769968" cy="1161288"/>
          </a:xfrm>
          <a:prstGeom prst="rect">
            <a:avLst/>
          </a:prstGeom>
          <a:noFill/>
          <a:ln/>
        </p:spPr>
        <p:txBody>
          <a:bodyPr wrap="square" lIns="50800" tIns="50800" rIns="50800" bIns="50800" rtlCol="0" anchor="t"/>
          <a:lstStyle/>
          <a:p>
            <a:pPr indent="0" marL="0">
              <a:buNone/>
            </a:pPr>
            <a:r>
              <a:rPr lang="en-US" sz="1900" b="1" dirty="0">
                <a:solidFill>
                  <a:srgbClr val="1F2937"/>
                </a:solidFill>
                <a:latin typeface="Calibri" pitchFamily="34" charset="0"/>
                <a:ea typeface="Calibri" pitchFamily="34" charset="-122"/>
                <a:cs typeface="Calibri" pitchFamily="34" charset="-120"/>
              </a:rPr>
              <a:t>MCP</a:t>
            </a:r>
            <a:pPr indent="0" marL="0">
              <a:buNone/>
            </a:pPr>
            <a:r>
              <a:rPr lang="en-US" sz="1900" dirty="0">
                <a:solidFill>
                  <a:srgbClr val="1F2937"/>
                </a:solidFill>
                <a:latin typeface="Calibri" pitchFamily="34" charset="0"/>
                <a:ea typeface="Calibri" pitchFamily="34" charset="-122"/>
                <a:cs typeface="Calibri" pitchFamily="34" charset="-120"/>
              </a:rPr>
              <a:t> standardises tool access; frameworks implement the same loop.</a:t>
            </a:r>
            <a:endParaRPr lang="en-US" sz="1900" dirty="0"/>
          </a:p>
        </p:txBody>
      </p:sp>
      <p:pic>
        <p:nvPicPr>
          <p:cNvPr id="20" name="Image 7" descr="preencoded.png">    </p:cNvPr>
          <p:cNvPicPr>
            <a:picLocks noChangeAspect="1"/>
          </p:cNvPicPr>
          <p:nvPr/>
        </p:nvPicPr>
        <p:blipFill>
          <a:blip r:embed="rId8"/>
          <a:stretch>
            <a:fillRect/>
          </a:stretch>
        </p:blipFill>
        <p:spPr>
          <a:xfrm>
            <a:off x="6278728" y="5175504"/>
            <a:ext cx="384048" cy="384048"/>
          </a:xfrm>
          <a:prstGeom prst="rect">
            <a:avLst/>
          </a:prstGeom>
        </p:spPr>
      </p:pic>
      <p:sp>
        <p:nvSpPr>
          <p:cNvPr id="21" name="Text 11"/>
          <p:cNvSpPr txBox="1"/>
          <p:nvPr/>
        </p:nvSpPr>
        <p:spPr>
          <a:xfrm>
            <a:off x="6827368" y="5102352"/>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Assume </a:t>
            </a:r>
            <a:pPr indent="0" marL="0">
              <a:buNone/>
            </a:pPr>
            <a:r>
              <a:rPr lang="en-US" sz="1900" b="1" dirty="0">
                <a:solidFill>
                  <a:srgbClr val="1F2937"/>
                </a:solidFill>
                <a:latin typeface="Calibri" pitchFamily="34" charset="0"/>
                <a:ea typeface="Calibri" pitchFamily="34" charset="-122"/>
                <a:cs typeface="Calibri" pitchFamily="34" charset="-120"/>
              </a:rPr>
              <a:t>prompt injection</a:t>
            </a:r>
            <a:pPr indent="0" marL="0">
              <a:buNone/>
            </a:pPr>
            <a:r>
              <a:rPr lang="en-US" sz="1900" dirty="0">
                <a:solidFill>
                  <a:srgbClr val="1F2937"/>
                </a:solidFill>
                <a:latin typeface="Calibri" pitchFamily="34" charset="0"/>
                <a:ea typeface="Calibri" pitchFamily="34" charset="-122"/>
                <a:cs typeface="Calibri" pitchFamily="34" charset="-120"/>
              </a:rPr>
              <a:t>: least privilege, validation, </a:t>
            </a:r>
            <a:pPr indent="0" marL="0">
              <a:buNone/>
            </a:pPr>
            <a:r>
              <a:rPr lang="en-US" sz="1900" b="1" dirty="0">
                <a:solidFill>
                  <a:srgbClr val="1F2937"/>
                </a:solidFill>
                <a:latin typeface="Calibri" pitchFamily="34" charset="0"/>
                <a:ea typeface="Calibri" pitchFamily="34" charset="-122"/>
                <a:cs typeface="Calibri" pitchFamily="34" charset="-120"/>
              </a:rPr>
              <a:t>human approval</a:t>
            </a:r>
            <a:pPr indent="0" marL="0">
              <a:buNone/>
            </a:pPr>
            <a:r>
              <a:rPr lang="en-US" sz="1900" dirty="0">
                <a:solidFill>
                  <a:srgbClr val="1F2937"/>
                </a:solidFill>
                <a:latin typeface="Calibri" pitchFamily="34" charset="0"/>
                <a:ea typeface="Calibri" pitchFamily="34" charset="-122"/>
                <a:cs typeface="Calibri" pitchFamily="34" charset="-120"/>
              </a:rPr>
              <a:t>, logs.</a:t>
            </a:r>
            <a:endParaRPr lang="en-US" sz="1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12  ·  RETRIEVAL-AUGMENTED GENERATION (RAG) &amp; AGENTIC AI</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Read, watch, practise</a:t>
            </a:r>
            <a:endParaRPr lang="en-US" sz="3200" dirty="0"/>
          </a:p>
        </p:txBody>
      </p:sp>
      <p:sp>
        <p:nvSpPr>
          <p:cNvPr id="6" name="Shape 4"/>
          <p:cNvSpPr/>
          <p:nvPr/>
        </p:nvSpPr>
        <p:spPr>
          <a:xfrm>
            <a:off x="548640" y="1554480"/>
            <a:ext cx="457200" cy="457200"/>
          </a:xfrm>
          <a:prstGeom prst="ellipse">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658368" y="1664208"/>
            <a:ext cx="237744" cy="237744"/>
          </a:xfrm>
          <a:prstGeom prst="rect">
            <a:avLst/>
          </a:prstGeom>
        </p:spPr>
      </p:pic>
      <p:sp>
        <p:nvSpPr>
          <p:cNvPr id="8" name="Text 5"/>
          <p:cNvSpPr txBox="1"/>
          <p:nvPr/>
        </p:nvSpPr>
        <p:spPr>
          <a:xfrm>
            <a:off x="1143000"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Lewis et al. (2020) Retrieval-Augmented Generation</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The original RAG paper</a:t>
            </a:r>
            <a:endParaRPr lang="en-US" sz="1500" dirty="0"/>
          </a:p>
        </p:txBody>
      </p:sp>
      <p:sp>
        <p:nvSpPr>
          <p:cNvPr id="9" name="Shape 6"/>
          <p:cNvSpPr/>
          <p:nvPr/>
        </p:nvSpPr>
        <p:spPr>
          <a:xfrm>
            <a:off x="548640" y="2377440"/>
            <a:ext cx="457200" cy="457200"/>
          </a:xfrm>
          <a:prstGeom prst="ellipse">
            <a:avLst/>
          </a:prstGeom>
          <a:solidFill>
            <a:srgbClr val="4F46E5"/>
          </a:solidFill>
          <a:ln w="12700">
            <a:solidFill>
              <a:srgbClr val="4F46E5"/>
            </a:solidFill>
            <a:prstDash val="solid"/>
          </a:ln>
        </p:spPr>
      </p:sp>
      <p:pic>
        <p:nvPicPr>
          <p:cNvPr id="10" name="Image 1" descr="preencoded.png">    </p:cNvPr>
          <p:cNvPicPr>
            <a:picLocks noChangeAspect="1"/>
          </p:cNvPicPr>
          <p:nvPr/>
        </p:nvPicPr>
        <p:blipFill>
          <a:blip r:embed="rId3"/>
          <a:stretch>
            <a:fillRect/>
          </a:stretch>
        </p:blipFill>
        <p:spPr>
          <a:xfrm>
            <a:off x="658368" y="2487168"/>
            <a:ext cx="237744" cy="237744"/>
          </a:xfrm>
          <a:prstGeom prst="rect">
            <a:avLst/>
          </a:prstGeom>
        </p:spPr>
      </p:pic>
      <p:sp>
        <p:nvSpPr>
          <p:cNvPr id="11" name="Text 7"/>
          <p:cNvSpPr txBox="1"/>
          <p:nvPr/>
        </p:nvSpPr>
        <p:spPr>
          <a:xfrm>
            <a:off x="1143000"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Yao et al. (2022) ReAct</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Reasoning and acting with tools</a:t>
            </a:r>
            <a:endParaRPr lang="en-US" sz="1500" dirty="0"/>
          </a:p>
        </p:txBody>
      </p:sp>
      <p:sp>
        <p:nvSpPr>
          <p:cNvPr id="12" name="Shape 8"/>
          <p:cNvSpPr/>
          <p:nvPr/>
        </p:nvSpPr>
        <p:spPr>
          <a:xfrm>
            <a:off x="548640" y="3200400"/>
            <a:ext cx="457200" cy="457200"/>
          </a:xfrm>
          <a:prstGeom prst="ellipse">
            <a:avLst/>
          </a:prstGeom>
          <a:solidFill>
            <a:srgbClr val="4F46E5"/>
          </a:solidFill>
          <a:ln w="12700">
            <a:solidFill>
              <a:srgbClr val="4F46E5"/>
            </a:solidFill>
            <a:prstDash val="solid"/>
          </a:ln>
        </p:spPr>
      </p:sp>
      <p:pic>
        <p:nvPicPr>
          <p:cNvPr id="13" name="Image 2" descr="preencoded.png">    </p:cNvPr>
          <p:cNvPicPr>
            <a:picLocks noChangeAspect="1"/>
          </p:cNvPicPr>
          <p:nvPr/>
        </p:nvPicPr>
        <p:blipFill>
          <a:blip r:embed="rId5"/>
          <a:stretch>
            <a:fillRect/>
          </a:stretch>
        </p:blipFill>
        <p:spPr>
          <a:xfrm>
            <a:off x="658368" y="3310128"/>
            <a:ext cx="237744" cy="237744"/>
          </a:xfrm>
          <a:prstGeom prst="rect">
            <a:avLst/>
          </a:prstGeom>
        </p:spPr>
      </p:pic>
      <p:sp>
        <p:nvSpPr>
          <p:cNvPr id="14" name="Text 9"/>
          <p:cNvSpPr txBox="1"/>
          <p:nvPr/>
        </p:nvSpPr>
        <p:spPr>
          <a:xfrm>
            <a:off x="1143000"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Anthropic: Building effective agents</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Workflows vs agents</a:t>
            </a:r>
            <a:endParaRPr lang="en-US" sz="1500" dirty="0"/>
          </a:p>
        </p:txBody>
      </p:sp>
      <p:sp>
        <p:nvSpPr>
          <p:cNvPr id="15" name="Shape 10"/>
          <p:cNvSpPr/>
          <p:nvPr/>
        </p:nvSpPr>
        <p:spPr>
          <a:xfrm>
            <a:off x="548640" y="4023360"/>
            <a:ext cx="457200" cy="457200"/>
          </a:xfrm>
          <a:prstGeom prst="ellipse">
            <a:avLst/>
          </a:prstGeom>
          <a:solidFill>
            <a:srgbClr val="4F46E5"/>
          </a:solidFill>
          <a:ln w="12700">
            <a:solidFill>
              <a:srgbClr val="4F46E5"/>
            </a:solidFill>
            <a:prstDash val="solid"/>
          </a:ln>
        </p:spPr>
      </p:sp>
      <p:pic>
        <p:nvPicPr>
          <p:cNvPr id="16" name="Image 3" descr="preencoded.png">    </p:cNvPr>
          <p:cNvPicPr>
            <a:picLocks noChangeAspect="1"/>
          </p:cNvPicPr>
          <p:nvPr/>
        </p:nvPicPr>
        <p:blipFill>
          <a:blip r:embed="rId7"/>
          <a:stretch>
            <a:fillRect/>
          </a:stretch>
        </p:blipFill>
        <p:spPr>
          <a:xfrm>
            <a:off x="658368" y="4133088"/>
            <a:ext cx="237744" cy="237744"/>
          </a:xfrm>
          <a:prstGeom prst="rect">
            <a:avLst/>
          </a:prstGeom>
        </p:spPr>
      </p:pic>
      <p:sp>
        <p:nvSpPr>
          <p:cNvPr id="17" name="Text 11"/>
          <p:cNvSpPr txBox="1"/>
          <p:nvPr/>
        </p:nvSpPr>
        <p:spPr>
          <a:xfrm>
            <a:off x="1143000"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Anthropic: Contextual retrieval</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Improving RAG retrieval</a:t>
            </a:r>
            <a:endParaRPr lang="en-US" sz="1500" dirty="0"/>
          </a:p>
        </p:txBody>
      </p:sp>
      <p:sp>
        <p:nvSpPr>
          <p:cNvPr id="18" name="Shape 12"/>
          <p:cNvSpPr/>
          <p:nvPr/>
        </p:nvSpPr>
        <p:spPr>
          <a:xfrm>
            <a:off x="6278728" y="1554480"/>
            <a:ext cx="457200" cy="457200"/>
          </a:xfrm>
          <a:prstGeom prst="ellipse">
            <a:avLst/>
          </a:prstGeom>
          <a:solidFill>
            <a:srgbClr val="4F46E5"/>
          </a:solidFill>
          <a:ln w="12700">
            <a:solidFill>
              <a:srgbClr val="4F46E5"/>
            </a:solidFill>
            <a:prstDash val="solid"/>
          </a:ln>
        </p:spPr>
      </p:sp>
      <p:pic>
        <p:nvPicPr>
          <p:cNvPr id="19" name="Image 4" descr="preencoded.png">    </p:cNvPr>
          <p:cNvPicPr>
            <a:picLocks noChangeAspect="1"/>
          </p:cNvPicPr>
          <p:nvPr/>
        </p:nvPicPr>
        <p:blipFill>
          <a:blip r:embed="rId9"/>
          <a:stretch>
            <a:fillRect/>
          </a:stretch>
        </p:blipFill>
        <p:spPr>
          <a:xfrm>
            <a:off x="6388456" y="1664208"/>
            <a:ext cx="237744" cy="237744"/>
          </a:xfrm>
          <a:prstGeom prst="rect">
            <a:avLst/>
          </a:prstGeom>
        </p:spPr>
      </p:pic>
      <p:sp>
        <p:nvSpPr>
          <p:cNvPr id="20" name="Text 13"/>
          <p:cNvSpPr txBox="1"/>
          <p:nvPr/>
        </p:nvSpPr>
        <p:spPr>
          <a:xfrm>
            <a:off x="6873088"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OpenAI: Function calling</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Tool use with the API</a:t>
            </a:r>
            <a:endParaRPr lang="en-US" sz="1500" dirty="0"/>
          </a:p>
        </p:txBody>
      </p:sp>
      <p:sp>
        <p:nvSpPr>
          <p:cNvPr id="21" name="Shape 14"/>
          <p:cNvSpPr/>
          <p:nvPr/>
        </p:nvSpPr>
        <p:spPr>
          <a:xfrm>
            <a:off x="6278728" y="2377440"/>
            <a:ext cx="457200" cy="457200"/>
          </a:xfrm>
          <a:prstGeom prst="ellipse">
            <a:avLst/>
          </a:prstGeom>
          <a:solidFill>
            <a:srgbClr val="4F46E5"/>
          </a:solidFill>
          <a:ln w="12700">
            <a:solidFill>
              <a:srgbClr val="4F46E5"/>
            </a:solidFill>
            <a:prstDash val="solid"/>
          </a:ln>
        </p:spPr>
      </p:sp>
      <p:pic>
        <p:nvPicPr>
          <p:cNvPr id="22" name="Image 5" descr="preencoded.png">    </p:cNvPr>
          <p:cNvPicPr>
            <a:picLocks noChangeAspect="1"/>
          </p:cNvPicPr>
          <p:nvPr/>
        </p:nvPicPr>
        <p:blipFill>
          <a:blip r:embed="rId11"/>
          <a:stretch>
            <a:fillRect/>
          </a:stretch>
        </p:blipFill>
        <p:spPr>
          <a:xfrm>
            <a:off x="6388456" y="2487168"/>
            <a:ext cx="237744" cy="237744"/>
          </a:xfrm>
          <a:prstGeom prst="rect">
            <a:avLst/>
          </a:prstGeom>
        </p:spPr>
      </p:pic>
      <p:sp>
        <p:nvSpPr>
          <p:cNvPr id="23" name="Text 15"/>
          <p:cNvSpPr txBox="1"/>
          <p:nvPr/>
        </p:nvSpPr>
        <p:spPr>
          <a:xfrm>
            <a:off x="6873088"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Hugging Face AI Agents Course</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Free course on agents</a:t>
            </a:r>
            <a:endParaRPr lang="en-US" sz="1500" dirty="0"/>
          </a:p>
        </p:txBody>
      </p:sp>
      <p:sp>
        <p:nvSpPr>
          <p:cNvPr id="24" name="Shape 16"/>
          <p:cNvSpPr/>
          <p:nvPr/>
        </p:nvSpPr>
        <p:spPr>
          <a:xfrm>
            <a:off x="6278728" y="3200400"/>
            <a:ext cx="457200" cy="457200"/>
          </a:xfrm>
          <a:prstGeom prst="ellipse">
            <a:avLst/>
          </a:prstGeom>
          <a:solidFill>
            <a:srgbClr val="4F46E5"/>
          </a:solidFill>
          <a:ln w="12700">
            <a:solidFill>
              <a:srgbClr val="4F46E5"/>
            </a:solidFill>
            <a:prstDash val="solid"/>
          </a:ln>
        </p:spPr>
      </p:sp>
      <p:pic>
        <p:nvPicPr>
          <p:cNvPr id="25" name="Image 6" descr="preencoded.png">    </p:cNvPr>
          <p:cNvPicPr>
            <a:picLocks noChangeAspect="1"/>
          </p:cNvPicPr>
          <p:nvPr/>
        </p:nvPicPr>
        <p:blipFill>
          <a:blip r:embed="rId13"/>
          <a:stretch>
            <a:fillRect/>
          </a:stretch>
        </p:blipFill>
        <p:spPr>
          <a:xfrm>
            <a:off x="6388456" y="3310128"/>
            <a:ext cx="237744" cy="237744"/>
          </a:xfrm>
          <a:prstGeom prst="rect">
            <a:avLst/>
          </a:prstGeom>
        </p:spPr>
      </p:pic>
      <p:sp>
        <p:nvSpPr>
          <p:cNvPr id="26" name="Text 17"/>
          <p:cNvSpPr txBox="1"/>
          <p:nvPr/>
        </p:nvSpPr>
        <p:spPr>
          <a:xfrm>
            <a:off x="6873088"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Microsoft: AI Agents for Beginners</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Lessons with code</a:t>
            </a:r>
            <a:endParaRPr lang="en-US" sz="1500" dirty="0"/>
          </a:p>
        </p:txBody>
      </p:sp>
      <p:sp>
        <p:nvSpPr>
          <p:cNvPr id="27" name="Shape 18"/>
          <p:cNvSpPr/>
          <p:nvPr/>
        </p:nvSpPr>
        <p:spPr>
          <a:xfrm>
            <a:off x="6278728" y="4023360"/>
            <a:ext cx="457200" cy="457200"/>
          </a:xfrm>
          <a:prstGeom prst="ellipse">
            <a:avLst/>
          </a:prstGeom>
          <a:solidFill>
            <a:srgbClr val="4F46E5"/>
          </a:solidFill>
          <a:ln w="12700">
            <a:solidFill>
              <a:srgbClr val="4F46E5"/>
            </a:solidFill>
            <a:prstDash val="solid"/>
          </a:ln>
        </p:spPr>
      </p:sp>
      <p:pic>
        <p:nvPicPr>
          <p:cNvPr id="28" name="Image 7" descr="preencoded.png">    </p:cNvPr>
          <p:cNvPicPr>
            <a:picLocks noChangeAspect="1"/>
          </p:cNvPicPr>
          <p:nvPr/>
        </p:nvPicPr>
        <p:blipFill>
          <a:blip r:embed="rId15"/>
          <a:stretch>
            <a:fillRect/>
          </a:stretch>
        </p:blipFill>
        <p:spPr>
          <a:xfrm>
            <a:off x="6388456" y="4133088"/>
            <a:ext cx="237744" cy="237744"/>
          </a:xfrm>
          <a:prstGeom prst="rect">
            <a:avLst/>
          </a:prstGeom>
        </p:spPr>
      </p:pic>
      <p:sp>
        <p:nvSpPr>
          <p:cNvPr id="29" name="Text 19"/>
          <p:cNvSpPr txBox="1"/>
          <p:nvPr/>
        </p:nvSpPr>
        <p:spPr>
          <a:xfrm>
            <a:off x="6873088"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Model Context Protocol</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Specification and SDKs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12: Retrieval-Augmented Generation (RAG) &amp; Agentic AI</dc:title>
  <dc:subject>Generative AI (MSc in Artificial Intelligence)</dc:subject>
  <dc:creator>Generative AI module team</dc:creator>
  <cp:lastModifiedBy>Generative AI module team</cp:lastModifiedBy>
  <cp:revision>1</cp:revision>
  <dcterms:created xsi:type="dcterms:W3CDTF">2026-10-06T20:34:03Z</dcterms:created>
  <dcterms:modified xsi:type="dcterms:W3CDTF">2026-10-06T20:34:03Z</dcterms:modified>
</cp:coreProperties>
</file>