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12, the last technical week: retrieval-augmented generation and agentic AI. Everything so far comes together here. Embeddings from weeks 6 and 9 power retrieval; prompting and evaluation from week 7 shape grounded answers; deployment from week 11 turns the system into an application. RAG connects a model to knowledge it was never trained on; agents let a model act by calling tools.
Ask students: Which earlier weeks does today combine?
Expected answer: Embeddings (weeks 6 and 9), prompting and evaluation (week 7) and deployment (week 11).
Common mistake: Thinking RAG retrains the model on the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matching the revised descriptor's week 12: motivation and LLM limitations; embeddings, vector databases and RAG architectures; advanced RAG and RAG evaluation; agentic AI concepts and components, including workflows versus agents, multi-agent systems and the Model Context Protocol; risks and guardrails; and choosing a design. This week practises MIMLO 5, implementing retrieval-augmented and agentic systems, together with MIMLO 3 and 4.
Ask students: Which outcome covers the Model Context Protocol?
Expected answer: Agentic AI concepts and components.
Common mistake: Treating agents as separate from RAG. Search becomes one of the agent's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revised descriptor. Sections one to three build and evaluate a RAG system, with real retrieval and answer-quality results from the lab. Take the break after section three. Section four explains agents with a real agent trajectory from the lab, and section five covers prompt injection, including a real test with a malicious document, and guardrails.
Ask students: Which section includes a real test with a malicious document?
Expected answer: Section five, on prompt injection.
Common mistake: Skipping evaluation because the system looks right on a few questions.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Embedding: A numerical vector representing an item, often learned, for prediction or comparison. Check: Why must a question and passages use the same embedding model? Answer: Vectors from different embedding models are not comparable, so similarity scores would be meaningless. Context: The input text made available to a language model for a response. Check: Does reading a passage in a prompt automatically change model weights? Answer: No. The passage changes the input for that response, not the stored weights. Tool call: A structured request for the program to run a named function. Check: Who actually executes a tool: the language model or the program? Answer: The program. The model only proposes the call. Chunk: A passage cut from a document for indexing and retrieval. Check: Why keep its source ID with the text? Answer: So the answer can cite its source and a reader can check it.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Students predict, correctly, that the model does not know this module's handbook, and usually that it will produce a plausible generic answer, such as five percent per working day, rather than saying it does not know. That is hallucination, and it can even be right by coincidence, which is worse because nobody can verify it. The fix they suggest is to give the model the handbook. That is retrieval-augmented generation, and the lab builds exactly this assistant for a fictional handbook.
Analogy: A new colleague cannot know a private handbook they have never seen. Give them relevant, dated pages and check their answer.
Ask students: Could a public model know a newly invented handbook rule?
Expected answer: Not from its training. It needs an authorised source or should decline to guess.
Common mistake: A plausible answer about a private rule is not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explains the limitations that motivate retrieval, compares RAG with the alternatives, fine-tuning and long context, and walks through the standard RAG pipeline. Refer back to the warm-up: the chatbot could not know the module's rules because they were never in its training data, and they may have changed since. About fifteen minutes.
Analogy: A librarian finds pages before you write an answer. Search supplies evidence; it does not write reliable conclusions by itself.
Ask students: Does adding retrieved text fine-tune the model?
Expected answer: No. It adds context for this answer without changing the language model weights.
Common mistake: Retrieval can supply irrelevant or misleading text, and generation can misuse good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Retrieval-augmented generation, or RAG, supplies relevant document text to a language model before it answers. There are two phases. Preparation splits each handbook document into overlapping chunks, embeds them as vectors and builds searchable vector and keyword indexes. At question time, retrieval ranks passages; hybrid search combines semantic and word matching, and re-ranking reads the question together with candidate text. The rag_answer function then inserts selected passages into a prompt with source numbers and answer instructions. The model is asked to answer from those sources, cite a source and say it does not know when evidence is missing. This adds context without changing model weights. A citation alone does not prove support: inspect the cited passage and individual answer claims. The lab's automatic checks are deliberately limited and should be supplemented by reading outputs.
Worked example:
Prepare chunks from the fictional module handbook and keep each source document ID.
Ask how many GPU hours each student receives.
Hybrid retrieval and re-ranking select candidate passages, including the compute policy if search succeeds.
The model receives numbered passages; compare its answer with the known handbook fact.
For the external-examiner question, the handbook provides no answer; inspect whether the model abstains.
Check: If the correct passage was retrieved but the model gives the wrong number, which stage failed?
Answer: Generation or use of evidence failed. Inspect the supplied passage and output before changing retrieval.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limitations. Static knowledge: a model knows only what was in its training data up to its cut-off. Hallucination: when it does not know, it often produces a fluent guess. No private data: internal documents were never seen. No citations: answers from parametric memory cannot be traced to a source. Retrieval-augmented generation addresses all four by retrieving relevant passages at question time and asking the model to answer from them, with citations. It reduces hallucination but does not eliminate it, which is why evaluation matters.
Ask students: Which limitation does RAG reduce but not remove?
Expected answer: Hallucination: the model can still misread the passages or go beyond them.
Common mistake: Treating a cited answer as automatically correct. Read the cited passage.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three ways of giving a model knowledge. RAG adds knowledge that can be updated by re-indexing and supports citations and per-document access control, at low cost per query because only the top passages are sent. Fine-tuning, as week 8 showed, is good for behaviour and format but a poor way to add facts that change.
Ask students: Your documents fit in the context window. Why might you still use RAG?
Expected answer: Lower cost per question, per-document permissions and easy updates; long inputs can also hide details.
Common mistake: Fine-tuning to add facts that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phases. Indexing, done offline: load documents, split them into chunks, embed each chunk, and store the vectors in a vector store together with a keyword index. Answering, done online: embed the question, retrieve candidate chunks with dense and keyword search, re-rank them, put the best few into a prompt as numbered sources, and ask the LLM to answer only from them with citations, or to say it does not know.
Ask students: Which phase runs when a new document is added: indexing or answering?
Expected answer: Indexing: chunk, embed and store the new document.
Common mistake: Forgetting to re-index after documents change, so answers cite old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D. RAG keeps answers current through re-indexing, provides citations to the exact policy, and can respect access permissions. A is expensive, slow to update and gives no citations. C cannot know internal policies. B may work for a small set, but costs grow with the number of documents and every question pays for all of them; it also makes access control per document harder.
Ask students: Why is option B costly?
Expected answer: Every question pays for every policy's tokens, and per-document access control becomes hard.
Common mistake: Choosing A. Monthly fine-tuning is slow to update and gives no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the indexing side: text embeddings, how to chunk documents, and where to store and search the vectors. Indexing decisions are made once but affect every answer, and they are the most common cause of poor RAG quality in projects. About fifteen minutes.
Analogy: An index card keeps a passage, its location and its permission label together. Losing the labels makes a retrieved passage hard to verify.
Ask students: What happens when the embedding model changes?
Expected answer: Re-encode stored passages so question and passage vectors use the same learned representation.
Common mistake: A passage from the correct document may still omit the exact fact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Embeddings connect back to week 9's contrastive learning. A retrieval embedding model is a bi-encoder: it encodes questions and passages separately into vectors, trained so that a question lands near passages that answer it. Retrieval is then a nearest-neighbour search by cosine similarity. Open models such as BGE, E5 and GTE, and API models from OpenAI, Google and Cohere, are common choices. The Massive Text Embedding Benchmark, MTEB, compares them across tasks and languages. Changing the embedding model means re-embedding every chunk.
Ask students: Why must questions and passages use the same embedding model?
Expected answer: Vectors from different models live in different spaces, so their similarities are meaningless.
Common mistake: Choosing an embedding model by leaderboard rank without testing your language and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Indexing is the preparation phase of RAG. Load documents you are allowed to use, then split each into chunks that retain their source identity and other metadata. An embedding model converts each chunk to a vector. A vector index stores those vectors for meaning-based search; a keyword index stores word-matching information. A new question can then search both stores. This changes the available source collection without updating the language model weights. When a source changes, refresh its chunks and indexes. If the embedding model changes, recreate the stored vectors so questions and passages remain comparable. The classroom handbook is small; production indexing also needs tested access controls, versioning and deletion rules.
Worked example:
Split a handbook section into two overlapping passages with the same source ID.
Store a vector for each passage and add its words to the keyword index.
A question about penalties searches the prepared stores.
Read returned chunks and confirm the source IDs remain attached. A real application must add permission checks.
Check: Does updating a handbook index fine-tune the language model?
Answer: No. It updates searched context; the language model weights stay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are split into chunks because embeddings of long texts become vague and prompts have limited space. Overlap ensures a sentence cut at a boundary appears in two chunks. There is no universal best size: typical values are a few hundred to a thousand tokens with ten to twenty percent overlap, and structure-aware splitting at headings and paragraphs usually beats fixed windows. Keep metadata with each chunk: source document, section, date and access level, which enable citations and filtering.
Ask students: Why do chunks overlap?
Expected answer: A sentence cut at a boundary then appears whole in at least one chunk.
Common mistake: Dropping metadata. Without source and date a chunk cannot be cited or filtered.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FAISS, from Meta, is a library: very fast, but you manage persistence yourself. Chroma is a simple vector database with metadata, used in the lab. pgvector adds vector search to PostgreSQL, often the pragmatic choice when data already lives there. Dedicated vector databases such as Qdrant, Weaviate, Milvus and Pinecone add scale, hybrid search and multi-tenancy. Cloud search services from Microsoft and Google integrate with enterprise security and identity. For student projects, FAISS or Chroma are enough.
Ask students: Which option fits a notebook with a few hundred chunks?
Expected answer: FAISS or Chroma.
Common mistake: Adopting a managed vector service before the collection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nearest-neighbour search compares the question with every stored vector, which is fine for the lab's handful of chunks and even for a few hundred thousand, but too slow at web scale. Approximate indexes such as HNSW, a navigable graph, IVF, which searches only the nearest clusters, and product quantisation, which compresses vectors, give large speed-ups with a small loss in recall. Metadata filters limit results to allowed documents; enforcing access control at retrieval time is essential, because anything retrieved can appear in the answer.
Ask students: Why filter by permission at retrieval time rather than after generation?
Expected answer: Anything retrieved can appear in the answer, so restricted text must never reach the prompt.
Common mistake: Assuming approximate search finds every match. It trades a little recall for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is the core of RAG quality: dense, keyword and hybrid retrieval; re-ranking; real results from the lab; grounded generation with citations; advanced techniques; and how to evaluate RAG systems. Stress the diagnostic mindset: retrieval and generation fail for different reasons and need different fixes. About thirty minutes; take the break afterwards.
Analogy: One search finds words; another finds related meanings; a second reader compares each candidate with the question before answering.
Ask students: Why evaluate retrieval separately from generation?
Expected answer: They fail for different reasons and need different fixes.
Common mistake: Treating the lab's document-hit rate and digit check as complete measures of evidence and claim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Dense and keyword retrieval fail in complementary ways. Dense retrieval matches meaning, so a question about handing work in after the deadline finds the late-submission policy even without shared words. BM25, the classic keyword ranking function, weights matching words by rarity and excels at exact identifiers such as module codes or product numbers, which embeddings often blur. Hybrid search runs both and fuses the results, which is why it is the default in production systems and in the lab.
Ask students: A question names a product number such as ZX-4471. Which retriever is more likely to find it?
Expected answer: BM25: exact rare identifiers match as words, while embeddings can blur them.
Common mistake: Assuming dense retrieval always beats keyword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Reciprocal rank fusion combines ranked lists: each retriever contributes one over sixty plus the rank. A chunk ranked first by one retriever and fifth by the other scores well. RRF needs only ranks, which is convenient because BM25 scores and cosine similarities are on different scales. To measure retrieval, recall at k asks whether any relevant chunk made it into the top k, and mean reciprocal rank rewards putting it first. In the lab students implement RRF and compute both metrics.
Ask students: A chunk ranks first in BM25 and fifth in dense retrieval. What is its RRF score with c = 60?
Expected answer: 1/61 + 1/65 ≈ 0.032.
Common mistake: Adding raw BM25 and cosine scores, which are on different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usually has two stages. The first is fast and aims for recall: embeddings or BM25 retrieve many candidates. The second, re-ranking, uses a cross-encoder that reads the question and each candidate passage together through a transformer, so it can judge relevance far more precisely, but it is too slow to run on the whole collection. Keeping only the top few re-ranked passages shortens prompts, reduces cost and gives the LLM fewer distracting passages.
Ask students: Why not run the cross-encoder over the whole collection?
Expected answer: It reads every question-passage pair through a transformer, which is too slow for every passage.
Common mistake: Adding a re-ranker without measuring its extra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lab's measured retrieval results on twelve answerable questions about the handbook. The values are in the bullet. The collection is tiny, so all methods reach the right document within the top three; the differences appear at rank one, which matters because the first passage has the most influence. Hybrid fusion and re-ranking typically lift recall at one and MRR.
Ask students: Every method finds the right document within the top three. Why do the rank-one differences still matter?
Expected answer: Only a few passages reach the prompt, and the first has the most influence.
Common mistake: Assuming a gold-document hit contains the answer. Read the passage.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compares the same open model answering handbook questions without retrieval and with RAG. Without retrieval it can only guess, so accuracy is near zero, while RAG answers most questions correctly. The bullet reports the measured accuracy, whether numbers in answers are supported by the sources, whether the model cited the right document, and whether it abstained on the unanswerable question about the external examiner. One prompt-design lesson came from building this lab.
Ask students: Why include the unanswerable external-examiner question?
Expected answer: It tests whether the system declines when evidence is missing instead of guessing.
Common mistake: Counting only accuracy on answerable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techniques fix specific failures. Query rewriting turns follow-up questions such as "and for the exam?" into standalone queries. HyDE embeds a hypothetical answer, which often resembles relevant passages more than the question does. Contextual retrieval, published by Anthropic, adds a short explanation of each chunk's context before embedding; they reported roughly half as many failed retrievals, and more with re-ranking. GraphRAG, from Microsoft Research, answers global questions such as "what are the main themes?" using a knowledge graph. Parent-child retrieval balances precision and context.
Ask students: Which technique turns and for the exam? into a question that search can use?
Expected answer: Query rewriting, using the conversation so far.
Common mistake: Adding advanced techniques before measuring which failure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 retrieval and generation separately, so that you know which one to fix. Retrieval quality asks whether the evidence reached the prompt. Faithfulness, also called groundedness, asks whether each claim in the answer is supported by the retrieved context; frameworks such as RAGAS and the RAG evaluators in Microsoft Foundry decompose answers into claims and check each one with a model. Answer relevance asks whether the answer addresses the question. Correctness needs reference answers. Include unanswerable questions to test abstention.
Ask students: An answer cites the right document but adds a deadline that is not in it. Which aspect fails?
Expected answer: Faithfulness: the claim is not supported by the source.
Common mistake: Judging RAG by correctness alone, without checking retrieval and faithfulness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A. This is a retrieval failure: the evidence never reached the model, so no generator can answer faithfully. Improve retrieval with hybrid search, a re-ranker, different chunking or query rewriting, then re-measure recall at three. A bigger model may guess better but that is hallucination, not grounding. C and D do not change what the model sees. The general lesson: diagnose whether a failure is in retrieval or generation before fixing it.
Ask students: After improving retrieval, what should you measure again?
Expected answer: Recall at three, the passages that reach the prompt, and then answer correctness.
Common mistake: Choosing B. A bigger model may guess better, but guessing is not grounding.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introduces agentic AI: the components of an agent, the loop that drives it, function calling, a real trajectory from the lab, the difference between workflows and agents, multi-agent systems, the Model Context Protocol and the frameworks. Agents build directly on RAG: search becomes one tool among several. About thirty minutes.
Analogy: A model suggests using a calculator; a program checks and operates it. The result changes the next decision.
Ask students: Who executes a tool call?
Expected answer: Application code. The model proposes a name and arguments, and code controls execution.
Common mistake: Tool descriptions and a standard protocol do not enforce permission or trust by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an LLM that uses tools in a loop to achieve a goal. The LLM reasons and chooses the next step. Tools are functions it can call, from search and calculators to code execution and external APIs. Memory holds the conversation and intermediate results, and sometimes long-term notes. Planning breaks goals into steps and revises them. The loop continues until the task is done or a limit is reached.
Ask students: Which component stops an agent from looping forever?
Expected answer: The loop's budget: a limit on steps, time or cost.
Common mistake: Treating memory as permanent knowledge. It holds the messages and observations for this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lets a language model choose intermediate actions instead of following one fixed sequence. The model receives the task, conversation history and tool descriptions, then emits text containing a proposed call or an answer. The program parses that proposal; the model itself never executes Python functions. The execute function checks the tool allowlist and applies the side-effect approval gate before calling a permitted function. Results become tool observations in messages, so the next model turn can use new evidence. The run_agent function processes only one proposed call per turn and stops when there is no parsed call or the step budget is exhausted. The lab simulates approval with an email-domain rule, and send_email only returns a message; nobody reviews or sends actual email here. This illustrates control points that a real application would need to implement and test.
Worked example:
A student asks for a final grade from project and exam marks.
The model may propose search_handbook; code runs it and returns the assessment text.
After reading that result, the model may propose calculator with the retrieved weights.
A turn with no parsed tool call ends as an answer; otherwise the loop continues within its limit.
For an injected external-email request, the simulated approval policy denies that destination.
Check: Why does the loop execute one call before requesting the next model decision?
Answer: The next decision can use the actual tool result instead of inventing arguments before the result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pattern, from Yao and colleagues in 2022, interleaves reasoning and acting. The LLM reads the task and decides whether it needs a tool. If so, it emits a structured tool call with JSON arguments; the program, not the model, executes it and returns the result as an observation; the LLM reasons again with the new information. When no tool is needed, it gives the final answer. The step limit prevents endless loops.
Ask students: In ReAct, what is an observation?
Expected answer: The result a tool returns, added to the context before the model reasons again.
Common mistake: Thinking the model runs the tool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inference turn produces a proposal, not an executed action. The language model sees the task and tool descriptions and may emit a tool name with arguments. The program parses that text, checks the allowlist and applies validation and approval before any function runs. This diagram traces a permitted call. A blocked call skips the tool and returns a refusal observation directly; the detailed agent-loop figure shows that branch. The next model turn reads the observation. The run_agent function limits the number of turns. The lab's email operation is simulated and its approval rule checks a domain; it does not ask a human or send mail. A real consequential action needs the corresponding real control and audit record.
Worked example:
The model proposes calculator with an arithmetic expression.
execute checks the tool name and validates the operation before running it.
The result becomes an observation for the next turn.
An email proposal to a forbidden domain is refused by the simulated policy and recorded.
Check: Who executes the tool: the language model or the application code?
Answer: The application code. The model only proposes; code controls permission and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calling is supported by many endpoints and open-model chat templates; check the exact model and endpoint. You describe each tool with a name, a description and a JSON schema of its arguments; here the schema is generated from the Python type hints and docstring. The model replies either with text or with a structured call.
Ask students: Why does the lab allow only one tool call per turn?
Expected answer: Each call is checked and its result observed before the next decision, which keeps the trajectory easy to audit.
Common mistake: Executing a proposed call without checking the tool allowlist and the arguments.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trajectory of the lab agent, an open 1.5-billion-parameter model, on the task "what is my final mark?". Walk through each step: which tool it called with which arguments, what came back, and the final answer. The correct answer is 68.8, from sixty percent of 72 plus forty percent of 64. Small models sometimes skip a tool or make arithmetic errors, which is why the lab checks the answer and why the calculator tool exists at all: arithmetic belongs in code.
Ask students: Why does the agent call a calculator instead of computing 68.8 itself?
Expected answer: Arithmetic belongs in code; a small model can make arithmetic mistakes.
Common mistake: Trusting the final answer without reading the trajectory.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Anthropic's guide "Building effective agents" distinguishes workflows, where LLM calls follow code paths you define, from agents, where the model decides its own steps. It names five workflow patterns: prompt chaining, routing, parallelisation, orchestrator-workers and evaluator-optimiser. Most successful applications are workflows or simple agents. Autonomous agents are worth their cost and unpredictability only for open-ended tasks where the steps cannot be fixed in advance, such as research or coding tasks. Recommend that students start with the simplest pattern that works.
Ask students: The course assistant always searches, then answers. Is that a workflow or an agent?
Expected answer: A workflow: the steps are fixed in code.
Common mistake: Building an autonomous agent for a task with a known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Multi-agent systems split a task among specialised agents, for example a research agent that searches, a writer and a reviewer, coordinated by an orchestrator or by exchanging messages. The benefits are specialisation, parallelism and different permissions per agent. The costs are real: multi-agent systems use many more tokens, are harder to debug, and errors can cascade. Protocols such as the Agent2Agent protocol, started by Google and now under the Linux Foundation, standardise communication between agents. For projects, one agent with good tools is usually enough.
Ask students: What is the main cost of adding more agents?
Expected answer: More model calls and tokens, harder debugging, and errors that spread between agents.
Common mistake: Assuming more agents give better results without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Context Protocol, introduced by Anthropic in November 2024 and donated in December 2025 to the Agentic AI Foundation under the Linux Foundation, standardises how AI applications connect to tools and data. Servers expose tools, resources and prompt templates; clients in assistants, IDEs and agent frameworks discover and call them. This solves the problem of writing a separate integration for every pair of application and tool.
Ask students: In MCP, which side exposes tools and data?
Expected answer: The server; clients inside the host discover and call them.
Common mistake: Assuming a standard protocol makes a server trustworthy. Permissions still need checking.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snapshot of frameworks. LangGraph models agents as graphs with state, checkpoints and human-in-the-loop steps. LlamaIndex specialises in data connectors and retrieval. The major providers have their own agent kits: OpenAI's Agents SDK, Google's Agent Development Kit and Microsoft's Agent Framework, which succeeds Semantic Kernel and AutoGen for agent building. Hugging Face's smolagents is minimal and works well with open models. All implement the same loop students write by hand in the lab; learning the loop first makes any framework easy to pick up.
Ask students: Why learn the loop by hand before using a framework?
Expected answer: Every framework implements the same loop, so understanding it makes any framework easier to debug.
Common mistake: Choosing a framework before deciding whether a workflow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C. The task is single-step factual question answering over known documents, which a fixed RAG workflow handles predictably, cheaply and verifiably. A adds cost and failure modes without benefit. B adds risk, especially e-mail, and unreliable web sources. D cannot keep deadlines up to date and gives no citations. Agents are for tasks whose steps cannot be fixed in advance.
Ask students: Why is option B risky?
Expected answer: Sending e-mail is a side effect, and web pages are unreliable and can carry injected instructions.
Common mistake: Choosing A. Three agents add cost and failure modes without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prompt injection, especially indirect injection through retrieved content, with a real test from the lab, layered guardrails for agents, and human oversight. It is short but essential: the design principles apply to every project that uses retrieval or tools. About thirteen minutes.
Analogy: A hostile instruction written on a library page remains page content. It must not acquire the authority of an approved request.
Ask students: Does the email exercise ask a real person or send real mail?
Expected answer: No. A destination-domain rule simulates approval, and the email function only returns a string.
Common mistake: A system prompt alone does not reliably prevent injection; code permissions and tested controls still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injection is the top risk in the OWASP list for LLM applications. Direct injection comes from the user. Indirect injection, described by Greshake and colleagues in 2023, hides instructions in content the system reads: a web page, an e-mail, a shared document or a retrieved chunk. LLMs cannot reliably separate data from instructions in their context. For a chatbot, the result is a wrong answer; for an agent with tools, it can be data theft or harmful actions.
Ask students: What makes the lab's forum post an indirect injection?
Expected answer: It is a retrieved document that tells AI assistants to e-mail every student's grades to an outside address.
Common mistake: Assuming the model can reliably tell data from instructions in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no prompt can guarantee that the model ignores injected instructions, safety must come from the system design. Give agents the least privilege they need, read-only by default. Allowlist tools and validate arguments, for example permitted e-mail domains. Require human approval for actions with side effects. Limit steps, time and cost, and sandbox code execution. Log every tool call for audit and monitoring. The callout is the principle: assume the model will sometimes be fooled, and make sure being fooled cannot cause serious harm.
Ask students: The model proposes send_email to an outside address. Which layer stops it?
Expected answer: Validation and approval in code: the destination domain is not allowed, so the call never runs.
Common mistake: Relying on the system prompt to stop harmful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 oversight means users can check sources and reach a person, and operators review logs and outcomes. Indexes must respect permissions and data protection: personal data in documents becomes retrievable by anyone who can query the system. Evaluation continues after launch, including red-team tests of injection. Legally, users must be told they are interacting with AI, and systems used for high-risk purposes in education or employment, such as admissions or grading decisions, face strict requirements under the EU AI Act.
Ask students: Why can indexing a shared drive create a privacy problem?
Expected answer: Personal data in the documents becomes retrievable by anyone who can query the system.
Common mistake: Treating evaluation as finished at launch. Keep testing missing evidence and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measures each layer independently. The no_rag_df table records answers without handbook context. The chunk function and the indexes prepare the documents so retrieval can find evidence; document metadata stays attached to each passage. The evaluate_retrieval function checks whether a chunk from the target document appears in the returned ranking and how early its first occurrence is. This is document-level evidence evaluation rather than exhaustive relevance labels for every chunk. The rag_answer function supplies selected passages to the model, while the small correctness and number checks provide only rough output signals. Read answers and sources to diagnose unsupported claims. The agent exercise adds a bounded tool loop with an allowlist and simulated approval policy. Finally, server_code demonstrates an MCP tool declaration, but its retrieve_passages placeholder must be implemented before the exported file can serve real handbook searches.
Worked example:
Read a handbook fact and compare the no-retrieval answer with it.
Inspect a chunk's text, ID and parent document before searching.
Compare the first relevant document's rank across BM25, dense and hybrid methods.
Read retrieved hits beside each RAG answer; check whether the citation supports the claim.
Inspect the agent trace and AUDIT; the MCP file still needs its retrieval implementation connected.
Check: Can an answer pass numbers_supported while making an unsupported non-numeric claim?
Answer: Yes. That helper only looks for digit strings in the retrieved text; it does not validate the meaning of every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covers both descriptor tutorials: building and evaluating a RAG pipeline with and without retrieval, and implementing an agent that calls tools, including a calculator and search over the RAG index. The handbook is fictional, so the model cannot have memorised it. The injection test shows why guardrails belong in code. The final question asks students to design a production version, which prepares them for their projects.
Ask students: Which lab part shows why guardrails belong in code?
Expected answer: The injection test: the hostile forum post reaches the agent, and only code controls what may run.
Common mistake: Comparing your RAG scores with the slides without noting the model and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RAG and ReAct papers are the foundations. Anthropic's two engineering posts are practical guides to agent design and retrieval quality. OpenAI's function-calling guide explains tool schemas; Google's Gemini function-calling guide is equivalent. The Hugging Face Agents course and Microsoft's AI Agents for Beginners are free, hands-on courses. The Model Context Protocol site has the specification and SDKs. Ozdemir's Quick Start Guide to Large Language Models, chapters on semantic search and retrieval, is the textbook reading. All links were last checked on 9 October 2026.
Ask students: Which resource explains when to use workflows rather than agents?
Expected answer: Anthropic's Building effective agents.
Common mistake: Reading framework tutorials before the RAG and ReAct papers' core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Reconstruct the handbook example from preparation to the final answer. Indexing changes searchable context, not language-model weights. Ask students to locate the first failure: missing evidence, irrelevant selected text or misuse of a correct passage. The lab document-hit rate is narrower than exhaustive passage recall, and digit presence is only a small grounding proxy. Switch to the grade task: the model proposes a search and calculation, while application code controls tools and records results. The email and approval exercises are simulated. Finish with the exit question, then ask why a known path usually suits a fixed workflow and consequential actions need tested real controls.
Exit question: A citation points to the correct document. Does it prove the answer is supported?
Answer: No. Read the exact passage and check each claim; the document may not contain the required fact.
Recap the six points. Students should be able to draw the RAG pipeline, justify each design choice with a metric, explain the agent loop and function calling, distinguish workflows from agents, and design guardrails that do not rely on the model obeying its instructions. This completes the technical content of the module; the remaining sessions focus on the projects, which will combine RAG or agents with the deployment practices from week 11.
Ask students: What should a design rely on instead of the model obeying its instructions?
Expected answer: Code-enforced permissions, validation, approvals, limits and audit logs.
Common mistake: Starting with a multi-agent system when a RAG workflow would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arxiv.org/abs/2005.11401" TargetMode="External"/><Relationship Id="rId4" Type="http://schemas.openxmlformats.org/officeDocument/2006/relationships/hyperlink" Target="https://arxiv.org/abs/2210.03629" TargetMode="External"/><Relationship Id="rId6" Type="http://schemas.openxmlformats.org/officeDocument/2006/relationships/hyperlink" Target="https://www.anthropic.com/engineering/building-effective-agents" TargetMode="External"/><Relationship Id="rId8" Type="http://schemas.openxmlformats.org/officeDocument/2006/relationships/hyperlink" Target="https://www.anthropic.com/engineering/contextual-retrieval" TargetMode="External"/><Relationship Id="rId10" Type="http://schemas.openxmlformats.org/officeDocument/2006/relationships/hyperlink" Target="https://developers.openai.com/api/docs/guides/function-calling" TargetMode="External"/><Relationship Id="rId12" Type="http://schemas.openxmlformats.org/officeDocument/2006/relationships/hyperlink" Target="https://huggingface.co/learn/agents-course/unit0/introduction" TargetMode="External"/><Relationship Id="rId14" Type="http://schemas.openxmlformats.org/officeDocument/2006/relationships/hyperlink" Target="https://github.com/microsoft/ai-agents-for-beginners" TargetMode="External"/><Relationship Id="rId16" Type="http://schemas.openxmlformats.org/officeDocument/2006/relationships/hyperlink" Target="https://modelcontextprotocol.io/"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image" Target="../media/image-45-8.png"/><Relationship Id="rId17" Type="http://schemas.openxmlformats.org/officeDocument/2006/relationships/slideLayout" Target="../slideLayouts/slideLayout1.xml"/><Relationship Id="rId1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12</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Retrieval-Augmented Generation (RAG) &amp; Agentic AI</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Search trustworthy sources, answer with evidence, and control tool-using agents</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12\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why a language model may lack current or private facts, then define </a:t>
            </a:r>
            <a:pPr indent="0" marL="0">
              <a:buNone/>
            </a:pPr>
            <a:r>
              <a:rPr lang="en-US" sz="1600" b="1" dirty="0">
                <a:solidFill>
                  <a:srgbClr val="1F2937"/>
                </a:solidFill>
                <a:latin typeface="Calibri" pitchFamily="34" charset="0"/>
                <a:ea typeface="Calibri" pitchFamily="34" charset="-122"/>
                <a:cs typeface="Calibri" pitchFamily="34" charset="-120"/>
              </a:rPr>
              <a:t>retrieval-augmented generation (RAG)</a:t>
            </a:r>
            <a:pPr indent="0" marL="0">
              <a:buNone/>
            </a:pPr>
            <a:r>
              <a:rPr lang="en-US" sz="1600" dirty="0">
                <a:solidFill>
                  <a:srgbClr val="1F2937"/>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Trace document preparation: split into chunks, make vectors, store metadata, and build a searchable index.</a:t>
            </a:r>
            <a:endParaRPr lang="en-US" sz="16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Compare meaning-based, keyword and combined search; re-rank results and measure retrieval separately from answer quality.</a:t>
            </a:r>
            <a:endParaRPr lang="en-US" sz="16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advanced search ideas such as query rewriting, HyDE, contextual retrieval, GraphRAG and agentic RAG.</a:t>
            </a:r>
            <a:endParaRPr lang="en-US" sz="16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Trace an </a:t>
            </a:r>
            <a:pPr indent="0" marL="0">
              <a:buNone/>
            </a:pPr>
            <a:r>
              <a:rPr lang="en-US" sz="1600" b="1" dirty="0">
                <a:solidFill>
                  <a:srgbClr val="1F2937"/>
                </a:solidFill>
                <a:latin typeface="Calibri" pitchFamily="34" charset="0"/>
                <a:ea typeface="Calibri" pitchFamily="34" charset="-122"/>
                <a:cs typeface="Calibri" pitchFamily="34" charset="-120"/>
              </a:rPr>
              <a:t>agent</a:t>
            </a:r>
            <a:pPr indent="0" marL="0">
              <a:buNone/>
            </a:pPr>
            <a:r>
              <a:rPr lang="en-US" sz="1600" dirty="0">
                <a:solidFill>
                  <a:srgbClr val="1F2937"/>
                </a:solidFill>
                <a:latin typeface="Calibri" pitchFamily="34" charset="0"/>
                <a:ea typeface="Calibri" pitchFamily="34" charset="-122"/>
                <a:cs typeface="Calibri" pitchFamily="34" charset="-120"/>
              </a:rPr>
              <a:t>: a model proposing tool calls in a controlled decide → act → observe loop; compare fixed workflows and multi-agent designs.</a:t>
            </a:r>
            <a:endParaRPr lang="en-US" sz="16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MCP tool connections and defend against hostile document instructions with permissions, validation, limits, approval and logs.</a:t>
            </a:r>
            <a:endParaRPr lang="en-US" sz="16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3</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5</a:t>
            </a:r>
            <a:endParaRPr lang="en-US" sz="14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Deploy models; build RAG and agentic systems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FFF0E6"/>
          </a:solidFill>
          <a:ln w="15240">
            <a:solidFill>
              <a:srgbClr val="D55E00"/>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12: you are here</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Plain meaning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Quick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Embedding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numerical vector representing an item, often learned, for prediction or comparison.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Why must a question and passages use the same embedding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input text made available to a language model for a response.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Does reading a passage in a prompt automatically change model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Tool call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structured request for the program to run a named function.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Who actually executes a tool: the language model or the program?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Chunk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passage cut from a document for indexing and retrieval.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Why keep its source ID with the 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A chatbot is asked for this module’s late penalty. What evidence does it need?</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Can it access the private handbook?</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Will it decline missing evidence?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Can you inspect the supporting passage?</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Why RAG?</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can't an LLM do on its own?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Answer with retrieved evidence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Prepare searchable documents once; retrieve sources for each question</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stored passages +</a:t>
            </a:r>
            <a:endParaRPr lang="en-US" sz="1441" dirty="0"/>
          </a:p>
        </p:txBody>
      </p:sp>
      <p:sp>
        <p:nvSpPr>
          <p:cNvPr id="9" name="Text 7"/>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indexes</a:t>
            </a:r>
            <a:endParaRPr lang="en-US" sz="1441" dirty="0"/>
          </a:p>
        </p:txBody>
      </p:sp>
      <p:sp>
        <p:nvSpPr>
          <p:cNvPr id="10" name="Shape 8"/>
          <p:cNvSpPr/>
          <p:nvPr/>
        </p:nvSpPr>
        <p:spPr>
          <a:xfrm>
            <a:off x="4163991" y="3838927"/>
            <a:ext cx="244024" cy="0"/>
          </a:xfrm>
          <a:prstGeom prst="line">
            <a:avLst/>
          </a:prstGeom>
          <a:noFill/>
          <a:ln w="22860">
            <a:solidFill>
              <a:srgbClr val="009E73"/>
            </a:solidFill>
            <a:prstDash val="solid"/>
            <a:tailEnd type="triangle"/>
          </a:ln>
        </p:spPr>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candidate rankings</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selected passages</a:t>
            </a:r>
            <a:endParaRPr lang="en-US" sz="1441" dirty="0"/>
          </a:p>
        </p:txBody>
      </p:sp>
      <p:sp>
        <p:nvSpPr>
          <p:cNvPr id="14" name="Shape 12"/>
          <p:cNvSpPr/>
          <p:nvPr/>
        </p:nvSpPr>
        <p:spPr>
          <a:xfrm>
            <a:off x="7783680" y="3838927"/>
            <a:ext cx="244024" cy="0"/>
          </a:xfrm>
          <a:prstGeom prst="line">
            <a:avLst/>
          </a:prstGeom>
          <a:noFill/>
          <a:ln w="22860">
            <a:solidFill>
              <a:srgbClr val="009E73"/>
            </a:solidFill>
            <a:prstDash val="solid"/>
            <a:tailEnd type="triangle"/>
          </a:ln>
        </p:spPr>
      </p:sp>
      <p:sp>
        <p:nvSpPr>
          <p:cNvPr id="15" name="Text 13"/>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sources + question</a:t>
            </a:r>
            <a:endParaRPr lang="en-US" sz="1441" dirty="0"/>
          </a:p>
        </p:txBody>
      </p:sp>
      <p:sp>
        <p:nvSpPr>
          <p:cNvPr id="16" name="Shape 14"/>
          <p:cNvSpPr/>
          <p:nvPr/>
        </p:nvSpPr>
        <p:spPr>
          <a:xfrm>
            <a:off x="9593525" y="3838927"/>
            <a:ext cx="244024" cy="0"/>
          </a:xfrm>
          <a:prstGeom prst="line">
            <a:avLst/>
          </a:prstGeom>
          <a:noFill/>
          <a:ln w="22860">
            <a:solidFill>
              <a:srgbClr val="009E73"/>
            </a:solidFill>
            <a:prstDash val="solid"/>
            <a:tailEnd type="triangle"/>
          </a:ln>
        </p:spPr>
      </p:sp>
      <p:sp>
        <p:nvSpPr>
          <p:cNvPr id="17" name="Text 15"/>
          <p:cNvSpPr txBox="1"/>
          <p:nvPr/>
        </p:nvSpPr>
        <p:spPr>
          <a:xfrm>
            <a:off x="891483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answer + source</a:t>
            </a:r>
            <a:endParaRPr lang="en-US" sz="1441" dirty="0"/>
          </a:p>
        </p:txBody>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IDs</a:t>
            </a:r>
            <a:endParaRPr lang="en-US" sz="1441" dirty="0"/>
          </a:p>
        </p:txBody>
      </p:sp>
      <p:sp>
        <p:nvSpPr>
          <p:cNvPr id="19" name="Shape 17"/>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0" name="Text 18"/>
          <p:cNvSpPr txBox="1"/>
          <p:nvPr/>
        </p:nvSpPr>
        <p:spPr>
          <a:xfrm>
            <a:off x="84933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a:t>
            </a:r>
            <a:endParaRPr lang="en-US" sz="1561" dirty="0"/>
          </a:p>
        </p:txBody>
      </p:sp>
      <p:sp>
        <p:nvSpPr>
          <p:cNvPr id="21" name="Text 19"/>
          <p:cNvSpPr txBox="1"/>
          <p:nvPr/>
        </p:nvSpPr>
        <p:spPr>
          <a:xfrm>
            <a:off x="84933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knowledge</a:t>
            </a:r>
            <a:endParaRPr lang="en-US" sz="1561" dirty="0"/>
          </a:p>
        </p:txBody>
      </p:sp>
      <p:sp>
        <p:nvSpPr>
          <p:cNvPr id="22" name="Text 20"/>
          <p:cNvSpPr txBox="1"/>
          <p:nvPr/>
        </p:nvSpPr>
        <p:spPr>
          <a:xfrm>
            <a:off x="84933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Chunks, vectors</a:t>
            </a:r>
            <a:endParaRPr lang="en-US" sz="1441" dirty="0"/>
          </a:p>
        </p:txBody>
      </p:sp>
      <p:sp>
        <p:nvSpPr>
          <p:cNvPr id="23" name="Text 21"/>
          <p:cNvSpPr txBox="1"/>
          <p:nvPr/>
        </p:nvSpPr>
        <p:spPr>
          <a:xfrm>
            <a:off x="84933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keywords</a:t>
            </a:r>
            <a:endParaRPr lang="en-US" sz="1441" dirty="0"/>
          </a:p>
        </p:txBody>
      </p:sp>
      <p:sp>
        <p:nvSpPr>
          <p:cNvPr id="24" name="Text 22"/>
          <p:cNvSpPr txBox="1"/>
          <p:nvPr/>
        </p:nvSpPr>
        <p:spPr>
          <a:xfrm>
            <a:off x="81120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CHUNKS</a:t>
            </a:r>
            <a:endParaRPr lang="en-US" sz="1441" dirty="0"/>
          </a:p>
        </p:txBody>
      </p:sp>
      <p:sp>
        <p:nvSpPr>
          <p:cNvPr id="25" name="Shape 23"/>
          <p:cNvSpPr/>
          <p:nvPr/>
        </p:nvSpPr>
        <p:spPr>
          <a:xfrm>
            <a:off x="2598170" y="2939089"/>
            <a:ext cx="1565821" cy="1799677"/>
          </a:xfrm>
          <a:prstGeom prst="rect">
            <a:avLst/>
          </a:prstGeom>
          <a:solidFill>
            <a:srgbClr val="E5F7EF"/>
          </a:solidFill>
          <a:ln w="15240">
            <a:solidFill>
              <a:srgbClr val="009E73"/>
            </a:solidFill>
            <a:prstDash val="solid"/>
          </a:ln>
        </p:spPr>
      </p:sp>
      <p:sp>
        <p:nvSpPr>
          <p:cNvPr id="26" name="Text 24"/>
          <p:cNvSpPr txBox="1"/>
          <p:nvPr/>
        </p:nvSpPr>
        <p:spPr>
          <a:xfrm>
            <a:off x="265917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Search</a:t>
            </a:r>
            <a:endParaRPr lang="en-US" sz="1561" dirty="0"/>
          </a:p>
        </p:txBody>
      </p:sp>
      <p:sp>
        <p:nvSpPr>
          <p:cNvPr id="27" name="Text 25"/>
          <p:cNvSpPr txBox="1"/>
          <p:nvPr/>
        </p:nvSpPr>
        <p:spPr>
          <a:xfrm>
            <a:off x="265917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indexes</a:t>
            </a:r>
            <a:endParaRPr lang="en-US" sz="1561" dirty="0"/>
          </a:p>
        </p:txBody>
      </p:sp>
      <p:sp>
        <p:nvSpPr>
          <p:cNvPr id="28" name="Text 26"/>
          <p:cNvSpPr txBox="1"/>
          <p:nvPr/>
        </p:nvSpPr>
        <p:spPr>
          <a:xfrm>
            <a:off x="265917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Question</a:t>
            </a:r>
            <a:endParaRPr lang="en-US" sz="1441" dirty="0"/>
          </a:p>
        </p:txBody>
      </p:sp>
      <p:sp>
        <p:nvSpPr>
          <p:cNvPr id="29" name="Text 27"/>
          <p:cNvSpPr txBox="1"/>
          <p:nvPr/>
        </p:nvSpPr>
        <p:spPr>
          <a:xfrm>
            <a:off x="265917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searches stored</a:t>
            </a:r>
            <a:endParaRPr lang="en-US" sz="1441" dirty="0"/>
          </a:p>
        </p:txBody>
      </p:sp>
      <p:sp>
        <p:nvSpPr>
          <p:cNvPr id="30" name="Text 28"/>
          <p:cNvSpPr txBox="1"/>
          <p:nvPr/>
        </p:nvSpPr>
        <p:spPr>
          <a:xfrm>
            <a:off x="265917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data</a:t>
            </a:r>
            <a:endParaRPr lang="en-US" sz="1441" dirty="0"/>
          </a:p>
        </p:txBody>
      </p:sp>
      <p:sp>
        <p:nvSpPr>
          <p:cNvPr id="31" name="Text 29"/>
          <p:cNvSpPr txBox="1"/>
          <p:nvPr/>
        </p:nvSpPr>
        <p:spPr>
          <a:xfrm>
            <a:off x="262104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dense_rank</a:t>
            </a:r>
            <a:endParaRPr lang="en-US" sz="1441" dirty="0"/>
          </a:p>
        </p:txBody>
      </p:sp>
      <p:sp>
        <p:nvSpPr>
          <p:cNvPr id="32" name="Shape 30"/>
          <p:cNvSpPr/>
          <p:nvPr/>
        </p:nvSpPr>
        <p:spPr>
          <a:xfrm>
            <a:off x="4408015" y="2939089"/>
            <a:ext cx="1565821" cy="1799677"/>
          </a:xfrm>
          <a:prstGeom prst="rect">
            <a:avLst/>
          </a:prstGeom>
          <a:solidFill>
            <a:srgbClr val="E5F7EF"/>
          </a:solidFill>
          <a:ln w="15240">
            <a:solidFill>
              <a:srgbClr val="009E73"/>
            </a:solidFill>
            <a:prstDash val="solid"/>
          </a:ln>
        </p:spPr>
      </p:sp>
      <p:sp>
        <p:nvSpPr>
          <p:cNvPr id="33" name="Text 31"/>
          <p:cNvSpPr txBox="1"/>
          <p:nvPr/>
        </p:nvSpPr>
        <p:spPr>
          <a:xfrm>
            <a:off x="4469021"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Fuse + re-rank</a:t>
            </a:r>
            <a:endParaRPr lang="en-US" sz="1561" dirty="0"/>
          </a:p>
        </p:txBody>
      </p:sp>
      <p:sp>
        <p:nvSpPr>
          <p:cNvPr id="34" name="Text 32"/>
          <p:cNvSpPr txBox="1"/>
          <p:nvPr/>
        </p:nvSpPr>
        <p:spPr>
          <a:xfrm>
            <a:off x="4469021"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Combine then</a:t>
            </a:r>
            <a:endParaRPr lang="en-US" sz="1441" dirty="0"/>
          </a:p>
        </p:txBody>
      </p:sp>
      <p:sp>
        <p:nvSpPr>
          <p:cNvPr id="35" name="Text 33"/>
          <p:cNvSpPr txBox="1"/>
          <p:nvPr/>
        </p:nvSpPr>
        <p:spPr>
          <a:xfrm>
            <a:off x="4469021"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rescore</a:t>
            </a:r>
            <a:endParaRPr lang="en-US" sz="1441" dirty="0"/>
          </a:p>
        </p:txBody>
      </p:sp>
      <p:sp>
        <p:nvSpPr>
          <p:cNvPr id="36" name="Text 34"/>
          <p:cNvSpPr txBox="1"/>
          <p:nvPr/>
        </p:nvSpPr>
        <p:spPr>
          <a:xfrm>
            <a:off x="4469021"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candidates</a:t>
            </a:r>
            <a:endParaRPr lang="en-US" sz="1441" dirty="0"/>
          </a:p>
        </p:txBody>
      </p:sp>
      <p:sp>
        <p:nvSpPr>
          <p:cNvPr id="37" name="Text 35"/>
          <p:cNvSpPr txBox="1"/>
          <p:nvPr/>
        </p:nvSpPr>
        <p:spPr>
          <a:xfrm>
            <a:off x="4430892"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hybrid_rerank</a:t>
            </a:r>
            <a:endParaRPr lang="en-US" sz="1441" dirty="0"/>
          </a:p>
        </p:txBody>
      </p:sp>
      <p:sp>
        <p:nvSpPr>
          <p:cNvPr id="38" name="Shape 36"/>
          <p:cNvSpPr/>
          <p:nvPr/>
        </p:nvSpPr>
        <p:spPr>
          <a:xfrm>
            <a:off x="6217860" y="2939089"/>
            <a:ext cx="1565821" cy="1799677"/>
          </a:xfrm>
          <a:prstGeom prst="roundRect">
            <a:avLst>
              <a:gd name="adj" fmla="val 4672"/>
            </a:avLst>
          </a:prstGeom>
          <a:solidFill>
            <a:srgbClr val="E4F2FB"/>
          </a:solidFill>
          <a:ln w="15240">
            <a:solidFill>
              <a:srgbClr val="0072B2"/>
            </a:solidFill>
            <a:prstDash val="solid"/>
          </a:ln>
        </p:spPr>
      </p:sp>
      <p:sp>
        <p:nvSpPr>
          <p:cNvPr id="39" name="Text 37"/>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 source</a:t>
            </a:r>
            <a:endParaRPr lang="en-US" sz="1561" dirty="0"/>
          </a:p>
        </p:txBody>
      </p:sp>
      <p:sp>
        <p:nvSpPr>
          <p:cNvPr id="40" name="Text 38"/>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prompt</a:t>
            </a:r>
            <a:endParaRPr lang="en-US" sz="1561" dirty="0"/>
          </a:p>
        </p:txBody>
      </p:sp>
      <p:sp>
        <p:nvSpPr>
          <p:cNvPr id="41" name="Text 39"/>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Passages, IDs</a:t>
            </a:r>
            <a:endParaRPr lang="en-US" sz="1441" dirty="0"/>
          </a:p>
        </p:txBody>
      </p:sp>
      <p:sp>
        <p:nvSpPr>
          <p:cNvPr id="42" name="Text 40"/>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answer rules</a:t>
            </a:r>
            <a:endParaRPr lang="en-US" sz="1441" dirty="0"/>
          </a:p>
        </p:txBody>
      </p:sp>
      <p:sp>
        <p:nvSpPr>
          <p:cNvPr id="43" name="Text 41"/>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rag_answer</a:t>
            </a:r>
            <a:endParaRPr lang="en-US" sz="1441" dirty="0"/>
          </a:p>
        </p:txBody>
      </p:sp>
      <p:sp>
        <p:nvSpPr>
          <p:cNvPr id="44" name="Shape 42"/>
          <p:cNvSpPr/>
          <p:nvPr/>
        </p:nvSpPr>
        <p:spPr>
          <a:xfrm>
            <a:off x="8027705" y="2939089"/>
            <a:ext cx="1565821" cy="1799677"/>
          </a:xfrm>
          <a:prstGeom prst="rect">
            <a:avLst/>
          </a:prstGeom>
          <a:solidFill>
            <a:srgbClr val="E5F7EF"/>
          </a:solidFill>
          <a:ln w="15240">
            <a:solidFill>
              <a:srgbClr val="009E73"/>
            </a:solidFill>
            <a:prstDash val="solid"/>
          </a:ln>
        </p:spPr>
      </p:sp>
      <p:sp>
        <p:nvSpPr>
          <p:cNvPr id="45" name="Text 43"/>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a:t>
            </a:r>
            <a:endParaRPr lang="en-US" sz="1561" dirty="0"/>
          </a:p>
        </p:txBody>
      </p:sp>
      <p:sp>
        <p:nvSpPr>
          <p:cNvPr id="46" name="Text 44"/>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answer</a:t>
            </a:r>
            <a:endParaRPr lang="en-US" sz="1561" dirty="0"/>
          </a:p>
        </p:txBody>
      </p:sp>
      <p:sp>
        <p:nvSpPr>
          <p:cNvPr id="47" name="Text 45"/>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Request support</a:t>
            </a:r>
            <a:endParaRPr lang="en-US" sz="1441" dirty="0"/>
          </a:p>
        </p:txBody>
      </p:sp>
      <p:sp>
        <p:nvSpPr>
          <p:cNvPr id="48" name="Text 46"/>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or abstention</a:t>
            </a:r>
            <a:endParaRPr lang="en-US" sz="1441" dirty="0"/>
          </a:p>
        </p:txBody>
      </p:sp>
      <p:sp>
        <p:nvSpPr>
          <p:cNvPr id="49" name="Text 47"/>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llm</a:t>
            </a:r>
            <a:endParaRPr lang="en-US" sz="1441" dirty="0"/>
          </a:p>
        </p:txBody>
      </p:sp>
      <p:sp>
        <p:nvSpPr>
          <p:cNvPr id="50" name="Shape 48"/>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1" name="Text 49"/>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a:t>
            </a:r>
            <a:endParaRPr lang="en-US" sz="1561" dirty="0"/>
          </a:p>
        </p:txBody>
      </p:sp>
      <p:sp>
        <p:nvSpPr>
          <p:cNvPr id="52" name="Text 50"/>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evidence</a:t>
            </a:r>
            <a:endParaRPr lang="en-US" sz="1561" dirty="0"/>
          </a:p>
        </p:txBody>
      </p:sp>
      <p:sp>
        <p:nvSpPr>
          <p:cNvPr id="53" name="Text 51"/>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claims and</a:t>
            </a:r>
            <a:endParaRPr lang="en-US" sz="1441" dirty="0"/>
          </a:p>
        </p:txBody>
      </p:sp>
      <p:sp>
        <p:nvSpPr>
          <p:cNvPr id="54" name="Text 52"/>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cited passages</a:t>
            </a:r>
            <a:endParaRPr lang="en-US" sz="1441" dirty="0"/>
          </a:p>
        </p:txBody>
      </p:sp>
      <p:sp>
        <p:nvSpPr>
          <p:cNvPr id="55" name="Text 53"/>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rag_df</a:t>
            </a:r>
            <a:endParaRPr lang="en-US" sz="1441" dirty="0"/>
          </a:p>
        </p:txBody>
      </p:sp>
      <p:sp>
        <p:nvSpPr>
          <p:cNvPr id="56" name="Shape 54"/>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7" name="Text 55"/>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8" name="Shape 56"/>
          <p:cNvSpPr/>
          <p:nvPr/>
        </p:nvSpPr>
        <p:spPr>
          <a:xfrm>
            <a:off x="2118929" y="5630979"/>
            <a:ext cx="198270" cy="198270"/>
          </a:xfrm>
          <a:prstGeom prst="rect">
            <a:avLst/>
          </a:prstGeom>
          <a:solidFill>
            <a:srgbClr val="E5F7EF"/>
          </a:solidFill>
          <a:ln w="15240">
            <a:solidFill>
              <a:srgbClr val="009E73"/>
            </a:solidFill>
            <a:prstDash val="solid"/>
          </a:ln>
        </p:spPr>
      </p:sp>
      <p:sp>
        <p:nvSpPr>
          <p:cNvPr id="59" name="Text 57"/>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0" name="Shape 58"/>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61" name="Text 59"/>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2" name="Shape 60"/>
          <p:cNvSpPr/>
          <p:nvPr/>
        </p:nvSpPr>
        <p:spPr>
          <a:xfrm>
            <a:off x="4179476" y="5730113"/>
            <a:ext cx="335533" cy="0"/>
          </a:xfrm>
          <a:prstGeom prst="line">
            <a:avLst/>
          </a:prstGeom>
          <a:noFill/>
          <a:ln w="22860">
            <a:solidFill>
              <a:srgbClr val="009E73"/>
            </a:solidFill>
            <a:prstDash val="solid"/>
            <a:tailEnd type="triangle"/>
          </a:ln>
        </p:spPr>
      </p:sp>
      <p:sp>
        <p:nvSpPr>
          <p:cNvPr id="63" name="Text 61"/>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4" name="Text 62"/>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If the correct passage was retrieved but the model gives the wrong number, which stage failed?</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LLM limitations that retrieval addresses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Changing facts</a:t>
            </a:r>
            <a:endParaRPr lang="en-US" sz="21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This year's late penalty changed; retrieve the current, dated handbook.</a:t>
            </a:r>
            <a:endParaRPr lang="en-US" sz="22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Hallucinations</a:t>
            </a:r>
            <a:endParaRPr lang="en-US" sz="21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Without the handbook a model guesses a plausible penalty; check each claim against sources.</a:t>
            </a:r>
            <a:endParaRPr lang="en-US" sz="22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Private sources</a:t>
            </a:r>
            <a:endParaRPr lang="en-US" sz="21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Internal policies were never in training data; connect authorised documents.</a:t>
            </a:r>
            <a:endParaRPr lang="en-US" sz="22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Citations</a:t>
            </a:r>
            <a:endParaRPr lang="en-US" sz="21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Number the retrieved passages so each claim points to its source.</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RAG, fine-tuning or long context?</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793240"/>
                <a:gridCol w="3376996"/>
                <a:gridCol w="2457288"/>
                <a:gridCol w="3466891"/>
              </a:tblGrid>
              <a:tr h="0">
                <a:tc>
                  <a:txBody>
                    <a:bodyPr/>
                    <a:lstStyle/>
                    <a:p>
                      <a:pPr indent="0" marL="0">
                        <a:buNone/>
                      </a:pP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RAG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Fine-tuning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Long context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Information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Search passages per question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Stored in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Whole documents in the prompt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Evidence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Source IDs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Not guaranteed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Labelled sources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Update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Re-index the changed file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Retrain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Edit the prompt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Permissions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Filter what is retrieved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Review training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Check what is included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Useful for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Large, changing collections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Behaviour and skills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few short documents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RAG pipeline</a:t>
            </a:r>
            <a:endParaRPr lang="en-US" sz="3200" dirty="0"/>
          </a:p>
        </p:txBody>
      </p:sp>
      <p:sp>
        <p:nvSpPr>
          <p:cNvPr id="6" name="Shape 4"/>
          <p:cNvSpPr/>
          <p:nvPr/>
        </p:nvSpPr>
        <p:spPr>
          <a:xfrm>
            <a:off x="8254394" y="3319715"/>
            <a:ext cx="0" cy="150799"/>
          </a:xfrm>
          <a:prstGeom prst="line">
            <a:avLst/>
          </a:prstGeom>
          <a:noFill/>
          <a:ln w="22860">
            <a:solidFill>
              <a:srgbClr val="0F766E"/>
            </a:solidFill>
            <a:prstDash val="solid"/>
          </a:ln>
        </p:spPr>
      </p:sp>
      <p:sp>
        <p:nvSpPr>
          <p:cNvPr id="7" name="Shape 5"/>
          <p:cNvSpPr/>
          <p:nvPr/>
        </p:nvSpPr>
        <p:spPr>
          <a:xfrm flipH="1">
            <a:off x="3601354" y="3470513"/>
            <a:ext cx="4653040" cy="0"/>
          </a:xfrm>
          <a:prstGeom prst="line">
            <a:avLst/>
          </a:prstGeom>
          <a:noFill/>
          <a:ln w="22860">
            <a:solidFill>
              <a:srgbClr val="0F766E"/>
            </a:solidFill>
            <a:prstDash val="solid"/>
          </a:ln>
        </p:spPr>
      </p:sp>
      <p:sp>
        <p:nvSpPr>
          <p:cNvPr id="8" name="Shape 6"/>
          <p:cNvSpPr/>
          <p:nvPr/>
        </p:nvSpPr>
        <p:spPr>
          <a:xfrm>
            <a:off x="2814866" y="2982402"/>
            <a:ext cx="230593" cy="0"/>
          </a:xfrm>
          <a:prstGeom prst="line">
            <a:avLst/>
          </a:prstGeom>
          <a:noFill/>
          <a:ln w="22860">
            <a:solidFill>
              <a:srgbClr val="6B7280"/>
            </a:solidFill>
            <a:prstDash val="solid"/>
            <a:tailEnd type="triangle"/>
          </a:ln>
        </p:spPr>
      </p:sp>
      <p:sp>
        <p:nvSpPr>
          <p:cNvPr id="9" name="Shape 7"/>
          <p:cNvSpPr/>
          <p:nvPr/>
        </p:nvSpPr>
        <p:spPr>
          <a:xfrm>
            <a:off x="4910793" y="2982402"/>
            <a:ext cx="230593" cy="0"/>
          </a:xfrm>
          <a:prstGeom prst="line">
            <a:avLst/>
          </a:prstGeom>
          <a:noFill/>
          <a:ln w="22860">
            <a:solidFill>
              <a:srgbClr val="6B7280"/>
            </a:solidFill>
            <a:prstDash val="solid"/>
            <a:tailEnd type="triangle"/>
          </a:ln>
        </p:spPr>
      </p:sp>
      <p:sp>
        <p:nvSpPr>
          <p:cNvPr id="10" name="Shape 8"/>
          <p:cNvSpPr/>
          <p:nvPr/>
        </p:nvSpPr>
        <p:spPr>
          <a:xfrm>
            <a:off x="7006720" y="2982402"/>
            <a:ext cx="230593" cy="0"/>
          </a:xfrm>
          <a:prstGeom prst="line">
            <a:avLst/>
          </a:prstGeom>
          <a:noFill/>
          <a:ln w="22860">
            <a:solidFill>
              <a:srgbClr val="6B7280"/>
            </a:solidFill>
            <a:prstDash val="solid"/>
            <a:tailEnd type="triangle"/>
          </a:ln>
        </p:spPr>
      </p:sp>
      <p:sp>
        <p:nvSpPr>
          <p:cNvPr id="11" name="Shape 9"/>
          <p:cNvSpPr/>
          <p:nvPr/>
        </p:nvSpPr>
        <p:spPr>
          <a:xfrm>
            <a:off x="2486820" y="4391179"/>
            <a:ext cx="230593" cy="0"/>
          </a:xfrm>
          <a:prstGeom prst="line">
            <a:avLst/>
          </a:prstGeom>
          <a:noFill/>
          <a:ln w="22860">
            <a:solidFill>
              <a:srgbClr val="6B7280"/>
            </a:solidFill>
            <a:prstDash val="solid"/>
            <a:tailEnd type="triangle"/>
          </a:ln>
        </p:spPr>
      </p:sp>
      <p:sp>
        <p:nvSpPr>
          <p:cNvPr id="12" name="Shape 10"/>
          <p:cNvSpPr/>
          <p:nvPr/>
        </p:nvSpPr>
        <p:spPr>
          <a:xfrm>
            <a:off x="4254701" y="4391179"/>
            <a:ext cx="230593" cy="0"/>
          </a:xfrm>
          <a:prstGeom prst="line">
            <a:avLst/>
          </a:prstGeom>
          <a:noFill/>
          <a:ln w="22860">
            <a:solidFill>
              <a:srgbClr val="6B7280"/>
            </a:solidFill>
            <a:prstDash val="solid"/>
            <a:tailEnd type="triangle"/>
          </a:ln>
        </p:spPr>
      </p:sp>
      <p:sp>
        <p:nvSpPr>
          <p:cNvPr id="13" name="Shape 11"/>
          <p:cNvSpPr/>
          <p:nvPr/>
        </p:nvSpPr>
        <p:spPr>
          <a:xfrm>
            <a:off x="6022582" y="4391179"/>
            <a:ext cx="230593" cy="0"/>
          </a:xfrm>
          <a:prstGeom prst="line">
            <a:avLst/>
          </a:prstGeom>
          <a:noFill/>
          <a:ln w="22860">
            <a:solidFill>
              <a:srgbClr val="6B7280"/>
            </a:solidFill>
            <a:prstDash val="solid"/>
            <a:tailEnd type="triangle"/>
          </a:ln>
        </p:spPr>
      </p:sp>
      <p:sp>
        <p:nvSpPr>
          <p:cNvPr id="14" name="Shape 12"/>
          <p:cNvSpPr/>
          <p:nvPr/>
        </p:nvSpPr>
        <p:spPr>
          <a:xfrm>
            <a:off x="7790463" y="4391179"/>
            <a:ext cx="230593" cy="0"/>
          </a:xfrm>
          <a:prstGeom prst="line">
            <a:avLst/>
          </a:prstGeom>
          <a:noFill/>
          <a:ln w="22860">
            <a:solidFill>
              <a:srgbClr val="6B7280"/>
            </a:solidFill>
            <a:prstDash val="solid"/>
            <a:tailEnd type="triangle"/>
          </a:ln>
        </p:spPr>
      </p:sp>
      <p:sp>
        <p:nvSpPr>
          <p:cNvPr id="15" name="Shape 13"/>
          <p:cNvSpPr/>
          <p:nvPr/>
        </p:nvSpPr>
        <p:spPr>
          <a:xfrm>
            <a:off x="9558343" y="4391179"/>
            <a:ext cx="230593" cy="0"/>
          </a:xfrm>
          <a:prstGeom prst="line">
            <a:avLst/>
          </a:prstGeom>
          <a:noFill/>
          <a:ln w="22860">
            <a:solidFill>
              <a:srgbClr val="6B7280"/>
            </a:solidFill>
            <a:prstDash val="solid"/>
            <a:tailEnd type="triangle"/>
          </a:ln>
        </p:spPr>
      </p:sp>
      <p:sp>
        <p:nvSpPr>
          <p:cNvPr id="16" name="Shape 14"/>
          <p:cNvSpPr/>
          <p:nvPr/>
        </p:nvSpPr>
        <p:spPr>
          <a:xfrm>
            <a:off x="3601354" y="3470513"/>
            <a:ext cx="0" cy="563511"/>
          </a:xfrm>
          <a:prstGeom prst="line">
            <a:avLst/>
          </a:prstGeom>
          <a:noFill/>
          <a:ln w="22860">
            <a:solidFill>
              <a:srgbClr val="0F766E"/>
            </a:solidFill>
            <a:prstDash val="solid"/>
            <a:tailEnd type="triangle"/>
          </a:ln>
        </p:spPr>
      </p:sp>
      <p:sp>
        <p:nvSpPr>
          <p:cNvPr id="17" name="Shape 15"/>
          <p:cNvSpPr/>
          <p:nvPr/>
        </p:nvSpPr>
        <p:spPr>
          <a:xfrm>
            <a:off x="949532" y="2645089"/>
            <a:ext cx="1865334" cy="674626"/>
          </a:xfrm>
          <a:prstGeom prst="roundRect">
            <a:avLst>
              <a:gd name="adj" fmla="val 10843"/>
            </a:avLst>
          </a:prstGeom>
          <a:solidFill>
            <a:srgbClr val="E4F2FB"/>
          </a:solidFill>
          <a:ln w="15240">
            <a:solidFill>
              <a:srgbClr val="0072B2"/>
            </a:solidFill>
            <a:prstDash val="solid"/>
          </a:ln>
        </p:spPr>
      </p:sp>
      <p:sp>
        <p:nvSpPr>
          <p:cNvPr id="18" name="Shape 16"/>
          <p:cNvSpPr/>
          <p:nvPr/>
        </p:nvSpPr>
        <p:spPr>
          <a:xfrm>
            <a:off x="3045459" y="2645089"/>
            <a:ext cx="1865334" cy="674626"/>
          </a:xfrm>
          <a:prstGeom prst="roundRect">
            <a:avLst>
              <a:gd name="adj" fmla="val 10843"/>
            </a:avLst>
          </a:prstGeom>
          <a:solidFill>
            <a:srgbClr val="E4F2FB"/>
          </a:solidFill>
          <a:ln w="15240">
            <a:solidFill>
              <a:srgbClr val="0072B2"/>
            </a:solidFill>
            <a:prstDash val="solid"/>
          </a:ln>
        </p:spPr>
      </p:sp>
      <p:sp>
        <p:nvSpPr>
          <p:cNvPr id="19" name="Shape 17"/>
          <p:cNvSpPr/>
          <p:nvPr/>
        </p:nvSpPr>
        <p:spPr>
          <a:xfrm>
            <a:off x="5141387" y="2645089"/>
            <a:ext cx="1865334" cy="674626"/>
          </a:xfrm>
          <a:prstGeom prst="rect">
            <a:avLst/>
          </a:prstGeom>
          <a:solidFill>
            <a:srgbClr val="E5F7EF"/>
          </a:solidFill>
          <a:ln w="15240">
            <a:solidFill>
              <a:srgbClr val="009E73"/>
            </a:solidFill>
            <a:prstDash val="solid"/>
          </a:ln>
        </p:spPr>
      </p:sp>
      <p:sp>
        <p:nvSpPr>
          <p:cNvPr id="20" name="Shape 18"/>
          <p:cNvSpPr/>
          <p:nvPr/>
        </p:nvSpPr>
        <p:spPr>
          <a:xfrm>
            <a:off x="7237314" y="2645089"/>
            <a:ext cx="1865334" cy="674626"/>
          </a:xfrm>
          <a:prstGeom prst="roundRect">
            <a:avLst>
              <a:gd name="adj" fmla="val 10843"/>
            </a:avLst>
          </a:prstGeom>
          <a:solidFill>
            <a:srgbClr val="F9EAF4"/>
          </a:solidFill>
          <a:ln w="15240">
            <a:solidFill>
              <a:srgbClr val="CC79A7"/>
            </a:solidFill>
            <a:prstDash val="solid"/>
          </a:ln>
        </p:spPr>
      </p:sp>
      <p:sp>
        <p:nvSpPr>
          <p:cNvPr id="21" name="Shape 19"/>
          <p:cNvSpPr/>
          <p:nvPr/>
        </p:nvSpPr>
        <p:spPr>
          <a:xfrm>
            <a:off x="949532" y="4034024"/>
            <a:ext cx="1537288" cy="714310"/>
          </a:xfrm>
          <a:prstGeom prst="roundRect">
            <a:avLst>
              <a:gd name="adj" fmla="val 10241"/>
            </a:avLst>
          </a:prstGeom>
          <a:solidFill>
            <a:srgbClr val="E4F2FB"/>
          </a:solidFill>
          <a:ln w="15240">
            <a:solidFill>
              <a:srgbClr val="0072B2"/>
            </a:solidFill>
            <a:prstDash val="solid"/>
          </a:ln>
        </p:spPr>
      </p:sp>
      <p:sp>
        <p:nvSpPr>
          <p:cNvPr id="22" name="Shape 20"/>
          <p:cNvSpPr/>
          <p:nvPr/>
        </p:nvSpPr>
        <p:spPr>
          <a:xfrm>
            <a:off x="2717413" y="4034024"/>
            <a:ext cx="1537288" cy="714310"/>
          </a:xfrm>
          <a:prstGeom prst="rect">
            <a:avLst/>
          </a:prstGeom>
          <a:solidFill>
            <a:srgbClr val="F2F4F5"/>
          </a:solidFill>
          <a:ln w="15240">
            <a:solidFill>
              <a:srgbClr val="626B73"/>
            </a:solidFill>
            <a:prstDash val="solid"/>
          </a:ln>
        </p:spPr>
      </p:sp>
      <p:sp>
        <p:nvSpPr>
          <p:cNvPr id="23" name="Shape 21"/>
          <p:cNvSpPr/>
          <p:nvPr/>
        </p:nvSpPr>
        <p:spPr>
          <a:xfrm>
            <a:off x="4485294" y="4034024"/>
            <a:ext cx="1537288" cy="714310"/>
          </a:xfrm>
          <a:prstGeom prst="rect">
            <a:avLst/>
          </a:prstGeom>
          <a:solidFill>
            <a:srgbClr val="E5F7EF"/>
          </a:solidFill>
          <a:ln w="15240">
            <a:solidFill>
              <a:srgbClr val="009E73"/>
            </a:solidFill>
            <a:prstDash val="solid"/>
          </a:ln>
        </p:spPr>
      </p:sp>
      <p:sp>
        <p:nvSpPr>
          <p:cNvPr id="24" name="Shape 22"/>
          <p:cNvSpPr/>
          <p:nvPr/>
        </p:nvSpPr>
        <p:spPr>
          <a:xfrm>
            <a:off x="6253175" y="4034024"/>
            <a:ext cx="1537288" cy="714310"/>
          </a:xfrm>
          <a:prstGeom prst="roundRect">
            <a:avLst>
              <a:gd name="adj" fmla="val 10241"/>
            </a:avLst>
          </a:prstGeom>
          <a:solidFill>
            <a:srgbClr val="E4F2FB"/>
          </a:solidFill>
          <a:ln w="15240">
            <a:solidFill>
              <a:srgbClr val="0072B2"/>
            </a:solidFill>
            <a:prstDash val="solid"/>
          </a:ln>
        </p:spPr>
      </p:sp>
      <p:sp>
        <p:nvSpPr>
          <p:cNvPr id="25" name="Shape 23"/>
          <p:cNvSpPr/>
          <p:nvPr/>
        </p:nvSpPr>
        <p:spPr>
          <a:xfrm>
            <a:off x="8021056" y="4034024"/>
            <a:ext cx="1537288" cy="714310"/>
          </a:xfrm>
          <a:prstGeom prst="rect">
            <a:avLst/>
          </a:prstGeom>
          <a:solidFill>
            <a:srgbClr val="E5F7EF"/>
          </a:solidFill>
          <a:ln w="15240">
            <a:solidFill>
              <a:srgbClr val="009E73"/>
            </a:solidFill>
            <a:prstDash val="solid"/>
          </a:ln>
        </p:spPr>
      </p:sp>
      <p:sp>
        <p:nvSpPr>
          <p:cNvPr id="26" name="Shape 24"/>
          <p:cNvSpPr/>
          <p:nvPr/>
        </p:nvSpPr>
        <p:spPr>
          <a:xfrm>
            <a:off x="9788937" y="4034024"/>
            <a:ext cx="1537288" cy="714310"/>
          </a:xfrm>
          <a:prstGeom prst="roundRect">
            <a:avLst>
              <a:gd name="adj" fmla="val 10241"/>
            </a:avLst>
          </a:prstGeom>
          <a:solidFill>
            <a:srgbClr val="F9EAF4"/>
          </a:solidFill>
          <a:ln w="15240">
            <a:solidFill>
              <a:srgbClr val="CC79A7"/>
            </a:solidFill>
            <a:prstDash val="solid"/>
          </a:ln>
        </p:spPr>
      </p:sp>
      <p:sp>
        <p:nvSpPr>
          <p:cNvPr id="27" name="Shape 25"/>
          <p:cNvSpPr/>
          <p:nvPr/>
        </p:nvSpPr>
        <p:spPr>
          <a:xfrm>
            <a:off x="908355" y="5502327"/>
            <a:ext cx="181180" cy="174609"/>
          </a:xfrm>
          <a:prstGeom prst="roundRect">
            <a:avLst>
              <a:gd name="adj" fmla="val 41895"/>
            </a:avLst>
          </a:prstGeom>
          <a:solidFill>
            <a:srgbClr val="E4F2FB"/>
          </a:solidFill>
          <a:ln w="15240">
            <a:solidFill>
              <a:srgbClr val="0072B2"/>
            </a:solidFill>
            <a:prstDash val="solid"/>
          </a:ln>
        </p:spPr>
      </p:sp>
      <p:sp>
        <p:nvSpPr>
          <p:cNvPr id="28" name="Shape 26"/>
          <p:cNvSpPr/>
          <p:nvPr/>
        </p:nvSpPr>
        <p:spPr>
          <a:xfrm>
            <a:off x="3049577" y="5502327"/>
            <a:ext cx="181180" cy="174609"/>
          </a:xfrm>
          <a:prstGeom prst="rect">
            <a:avLst/>
          </a:prstGeom>
          <a:solidFill>
            <a:srgbClr val="E5F7EF"/>
          </a:solidFill>
          <a:ln w="15240">
            <a:solidFill>
              <a:srgbClr val="009E73"/>
            </a:solidFill>
            <a:prstDash val="solid"/>
          </a:ln>
        </p:spPr>
      </p:sp>
      <p:sp>
        <p:nvSpPr>
          <p:cNvPr id="29" name="Shape 27"/>
          <p:cNvSpPr/>
          <p:nvPr/>
        </p:nvSpPr>
        <p:spPr>
          <a:xfrm>
            <a:off x="5190799" y="5502327"/>
            <a:ext cx="181180" cy="174609"/>
          </a:xfrm>
          <a:prstGeom prst="roundRect">
            <a:avLst>
              <a:gd name="adj" fmla="val 41895"/>
            </a:avLst>
          </a:prstGeom>
          <a:solidFill>
            <a:srgbClr val="F9EAF4"/>
          </a:solidFill>
          <a:ln w="15240">
            <a:solidFill>
              <a:srgbClr val="CC79A7"/>
            </a:solidFill>
            <a:prstDash val="solid"/>
          </a:ln>
        </p:spPr>
      </p:sp>
      <p:sp>
        <p:nvSpPr>
          <p:cNvPr id="30" name="Shape 28"/>
          <p:cNvSpPr/>
          <p:nvPr/>
        </p:nvSpPr>
        <p:spPr>
          <a:xfrm>
            <a:off x="7332021" y="5502327"/>
            <a:ext cx="181180" cy="174609"/>
          </a:xfrm>
          <a:prstGeom prst="rect">
            <a:avLst/>
          </a:prstGeom>
          <a:solidFill>
            <a:srgbClr val="F2F4F5"/>
          </a:solidFill>
          <a:ln w="15240">
            <a:solidFill>
              <a:srgbClr val="626B73"/>
            </a:solidFill>
            <a:prstDash val="solid"/>
          </a:ln>
        </p:spPr>
      </p:sp>
      <p:sp>
        <p:nvSpPr>
          <p:cNvPr id="31" name="Text 29"/>
          <p:cNvSpPr txBox="1"/>
          <p:nvPr/>
        </p:nvSpPr>
        <p:spPr>
          <a:xfrm>
            <a:off x="949532" y="2068502"/>
            <a:ext cx="4187459" cy="274990"/>
          </a:xfrm>
          <a:prstGeom prst="rect">
            <a:avLst/>
          </a:prstGeom>
          <a:noFill/>
          <a:ln/>
        </p:spPr>
        <p:txBody>
          <a:bodyPr wrap="square" lIns="0" tIns="0" rIns="0" bIns="0" rtlCol="0" anchor="ctr"/>
          <a:lstStyle/>
          <a:p>
            <a:pPr algn="l" indent="0" marL="0">
              <a:lnSpc>
                <a:spcPct val="116000"/>
              </a:lnSpc>
              <a:buNone/>
            </a:pPr>
            <a:r>
              <a:rPr lang="en-US" sz="1867" b="1" dirty="0">
                <a:solidFill>
                  <a:srgbClr val="0F766E"/>
                </a:solidFill>
                <a:latin typeface="Arial" pitchFamily="34" charset="0"/>
                <a:ea typeface="Arial" pitchFamily="34" charset="-122"/>
                <a:cs typeface="Arial" pitchFamily="34" charset="-120"/>
              </a:rPr>
              <a:t>Offline: build the searchable index</a:t>
            </a:r>
            <a:endParaRPr lang="en-US" sz="1867" dirty="0"/>
          </a:p>
        </p:txBody>
      </p:sp>
      <p:sp>
        <p:nvSpPr>
          <p:cNvPr id="32" name="Text 30"/>
          <p:cNvSpPr txBox="1"/>
          <p:nvPr/>
        </p:nvSpPr>
        <p:spPr>
          <a:xfrm>
            <a:off x="1237977" y="2858656"/>
            <a:ext cx="128844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Documents</a:t>
            </a:r>
            <a:endParaRPr lang="en-US" sz="1680" dirty="0"/>
          </a:p>
        </p:txBody>
      </p:sp>
      <p:sp>
        <p:nvSpPr>
          <p:cNvPr id="33" name="Text 31"/>
          <p:cNvSpPr txBox="1"/>
          <p:nvPr/>
        </p:nvSpPr>
        <p:spPr>
          <a:xfrm>
            <a:off x="3227909" y="2858656"/>
            <a:ext cx="150043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Chunks + IDs</a:t>
            </a:r>
            <a:endParaRPr lang="en-US" sz="1680" dirty="0"/>
          </a:p>
        </p:txBody>
      </p:sp>
      <p:sp>
        <p:nvSpPr>
          <p:cNvPr id="34" name="Text 32"/>
          <p:cNvSpPr txBox="1"/>
          <p:nvPr/>
        </p:nvSpPr>
        <p:spPr>
          <a:xfrm>
            <a:off x="5368001" y="2858656"/>
            <a:ext cx="141210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Embeddings</a:t>
            </a:r>
            <a:endParaRPr lang="en-US" sz="1680" dirty="0"/>
          </a:p>
        </p:txBody>
      </p:sp>
      <p:sp>
        <p:nvSpPr>
          <p:cNvPr id="35" name="Text 33"/>
          <p:cNvSpPr txBox="1"/>
          <p:nvPr/>
        </p:nvSpPr>
        <p:spPr>
          <a:xfrm>
            <a:off x="7433013" y="2858656"/>
            <a:ext cx="147393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Search index</a:t>
            </a:r>
            <a:endParaRPr lang="en-US" sz="1680" dirty="0"/>
          </a:p>
        </p:txBody>
      </p:sp>
      <p:sp>
        <p:nvSpPr>
          <p:cNvPr id="36" name="Text 34"/>
          <p:cNvSpPr txBox="1"/>
          <p:nvPr/>
        </p:nvSpPr>
        <p:spPr>
          <a:xfrm>
            <a:off x="949532" y="3481247"/>
            <a:ext cx="1820252" cy="274990"/>
          </a:xfrm>
          <a:prstGeom prst="rect">
            <a:avLst/>
          </a:prstGeom>
          <a:noFill/>
          <a:ln/>
        </p:spPr>
        <p:txBody>
          <a:bodyPr wrap="square" lIns="0" tIns="0" rIns="0" bIns="0" rtlCol="0" anchor="ctr"/>
          <a:lstStyle/>
          <a:p>
            <a:pPr algn="l" indent="0" marL="0">
              <a:lnSpc>
                <a:spcPct val="116000"/>
              </a:lnSpc>
              <a:buNone/>
            </a:pPr>
            <a:r>
              <a:rPr lang="en-US" sz="1867" b="1" dirty="0">
                <a:solidFill>
                  <a:srgbClr val="4F46E5"/>
                </a:solidFill>
                <a:latin typeface="Arial" pitchFamily="34" charset="0"/>
                <a:ea typeface="Arial" pitchFamily="34" charset="-122"/>
                <a:cs typeface="Arial" pitchFamily="34" charset="-120"/>
              </a:rPr>
              <a:t>Online answer</a:t>
            </a:r>
            <a:endParaRPr lang="en-US" sz="1867" dirty="0"/>
          </a:p>
        </p:txBody>
      </p:sp>
      <p:sp>
        <p:nvSpPr>
          <p:cNvPr id="37" name="Text 35"/>
          <p:cNvSpPr txBox="1"/>
          <p:nvPr/>
        </p:nvSpPr>
        <p:spPr>
          <a:xfrm>
            <a:off x="1197614" y="4267434"/>
            <a:ext cx="104112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Question</a:t>
            </a:r>
            <a:endParaRPr lang="en-US" sz="1680" dirty="0"/>
          </a:p>
        </p:txBody>
      </p:sp>
      <p:sp>
        <p:nvSpPr>
          <p:cNvPr id="38" name="Text 36"/>
          <p:cNvSpPr txBox="1"/>
          <p:nvPr/>
        </p:nvSpPr>
        <p:spPr>
          <a:xfrm>
            <a:off x="3000826" y="4267434"/>
            <a:ext cx="97046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Retrieve</a:t>
            </a:r>
            <a:endParaRPr lang="en-US" sz="1680" dirty="0"/>
          </a:p>
        </p:txBody>
      </p:sp>
      <p:sp>
        <p:nvSpPr>
          <p:cNvPr id="39" name="Text 37"/>
          <p:cNvSpPr txBox="1"/>
          <p:nvPr/>
        </p:nvSpPr>
        <p:spPr>
          <a:xfrm>
            <a:off x="4795205" y="4267434"/>
            <a:ext cx="91746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Re-rank</a:t>
            </a:r>
            <a:endParaRPr lang="en-US" sz="1680" dirty="0"/>
          </a:p>
        </p:txBody>
      </p:sp>
      <p:sp>
        <p:nvSpPr>
          <p:cNvPr id="40" name="Text 38"/>
          <p:cNvSpPr txBox="1"/>
          <p:nvPr/>
        </p:nvSpPr>
        <p:spPr>
          <a:xfrm>
            <a:off x="6470341" y="4143688"/>
            <a:ext cx="110295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Sources</a:t>
            </a:r>
            <a:endParaRPr lang="en-US" sz="1680" dirty="0"/>
          </a:p>
        </p:txBody>
      </p:sp>
      <p:sp>
        <p:nvSpPr>
          <p:cNvPr id="41" name="Text 39"/>
          <p:cNvSpPr txBox="1"/>
          <p:nvPr/>
        </p:nvSpPr>
        <p:spPr>
          <a:xfrm>
            <a:off x="6470341" y="4391179"/>
            <a:ext cx="110295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in prompt</a:t>
            </a:r>
            <a:endParaRPr lang="en-US" sz="1680" dirty="0"/>
          </a:p>
        </p:txBody>
      </p:sp>
      <p:sp>
        <p:nvSpPr>
          <p:cNvPr id="42" name="Text 40"/>
          <p:cNvSpPr txBox="1"/>
          <p:nvPr/>
        </p:nvSpPr>
        <p:spPr>
          <a:xfrm>
            <a:off x="8264720" y="4267434"/>
            <a:ext cx="1049958"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Generate</a:t>
            </a:r>
            <a:endParaRPr lang="en-US" sz="1680" dirty="0"/>
          </a:p>
        </p:txBody>
      </p:sp>
      <p:sp>
        <p:nvSpPr>
          <p:cNvPr id="43" name="Text 41"/>
          <p:cNvSpPr txBox="1"/>
          <p:nvPr/>
        </p:nvSpPr>
        <p:spPr>
          <a:xfrm>
            <a:off x="9825029" y="4143688"/>
            <a:ext cx="146510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Cited answer</a:t>
            </a:r>
            <a:endParaRPr lang="en-US" sz="1680" dirty="0"/>
          </a:p>
        </p:txBody>
      </p:sp>
      <p:sp>
        <p:nvSpPr>
          <p:cNvPr id="44" name="Text 42"/>
          <p:cNvSpPr txBox="1"/>
          <p:nvPr/>
        </p:nvSpPr>
        <p:spPr>
          <a:xfrm>
            <a:off x="9825029" y="4391179"/>
            <a:ext cx="146510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or abstain</a:t>
            </a:r>
            <a:endParaRPr lang="en-US" sz="1680" dirty="0"/>
          </a:p>
        </p:txBody>
      </p:sp>
      <p:sp>
        <p:nvSpPr>
          <p:cNvPr id="45" name="Text 43"/>
          <p:cNvSpPr txBox="1"/>
          <p:nvPr/>
        </p:nvSpPr>
        <p:spPr>
          <a:xfrm>
            <a:off x="949532" y="4897682"/>
            <a:ext cx="638500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Retrieved evidence can help; verify support and source access.</a:t>
            </a:r>
            <a:endParaRPr lang="en-US" sz="1680" dirty="0"/>
          </a:p>
        </p:txBody>
      </p:sp>
      <p:sp>
        <p:nvSpPr>
          <p:cNvPr id="46" name="Text 44"/>
          <p:cNvSpPr txBox="1"/>
          <p:nvPr/>
        </p:nvSpPr>
        <p:spPr>
          <a:xfrm>
            <a:off x="1188361" y="5479636"/>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47" name="Text 45"/>
          <p:cNvSpPr txBox="1"/>
          <p:nvPr/>
        </p:nvSpPr>
        <p:spPr>
          <a:xfrm>
            <a:off x="3329583" y="5479636"/>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48" name="Text 46"/>
          <p:cNvSpPr txBox="1"/>
          <p:nvPr/>
        </p:nvSpPr>
        <p:spPr>
          <a:xfrm>
            <a:off x="5470805" y="5479636"/>
            <a:ext cx="65947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Output</a:t>
            </a:r>
            <a:endParaRPr lang="en-US" sz="1493" dirty="0"/>
          </a:p>
        </p:txBody>
      </p:sp>
      <p:sp>
        <p:nvSpPr>
          <p:cNvPr id="49" name="Text 47"/>
          <p:cNvSpPr txBox="1"/>
          <p:nvPr/>
        </p:nvSpPr>
        <p:spPr>
          <a:xfrm>
            <a:off x="7612027" y="5479636"/>
            <a:ext cx="1171784"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Human / tool</a:t>
            </a:r>
            <a:endParaRPr lang="en-US" sz="149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HR policies change monthly. Staff need exact source links. What should you try?</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Fine-tune the model every month</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Paste every policy into every prompt</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Rely on the model's general knowledge</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Re-index for RAG and check the citations</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Embeddings, chunking and vector databases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can numbers represent a question and help find an answering passage?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Text embeddings for retrieval</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Embeddings:</a:t>
            </a:r>
            <a:pPr indent="0" marL="0">
              <a:buNone/>
            </a:pPr>
            <a:r>
              <a:rPr lang="en-US" sz="2600" dirty="0">
                <a:solidFill>
                  <a:srgbClr val="1F2937"/>
                </a:solidFill>
                <a:latin typeface="Calibri" pitchFamily="34" charset="0"/>
                <a:ea typeface="Calibri" pitchFamily="34" charset="-122"/>
                <a:cs typeface="Calibri" pitchFamily="34" charset="-120"/>
              </a:rPr>
              <a:t> learned numerical text descriptions.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a:t>
            </a:r>
            <a:pPr indent="0" marL="0">
              <a:buNone/>
            </a:pPr>
            <a:r>
              <a:rPr lang="en-US" sz="2600" b="1" dirty="0">
                <a:solidFill>
                  <a:srgbClr val="1F2937"/>
                </a:solidFill>
                <a:latin typeface="Calibri" pitchFamily="34" charset="0"/>
                <a:ea typeface="Calibri" pitchFamily="34" charset="-122"/>
                <a:cs typeface="Calibri" pitchFamily="34" charset="-120"/>
              </a:rPr>
              <a:t>bi-encoder</a:t>
            </a:r>
            <a:pPr indent="0" marL="0">
              <a:buNone/>
            </a:pPr>
            <a:r>
              <a:rPr lang="en-US" sz="2600" dirty="0">
                <a:solidFill>
                  <a:srgbClr val="1F2937"/>
                </a:solidFill>
                <a:latin typeface="Calibri" pitchFamily="34" charset="0"/>
                <a:ea typeface="Calibri" pitchFamily="34" charset="-122"/>
                <a:cs typeface="Calibri" pitchFamily="34" charset="-120"/>
              </a:rPr>
              <a:t> separately encodes questions and passages.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Compare compatible vectors; store passage vectors once.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language, task and licence; re-encode after changing the model.</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Prepare the document indexes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Indexing makes sources searchable without training the language model</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documents +</a:t>
            </a:r>
            <a:endParaRPr lang="en-US" sz="1441" dirty="0"/>
          </a:p>
        </p:txBody>
      </p:sp>
      <p:sp>
        <p:nvSpPr>
          <p:cNvPr id="9" name="Text 7"/>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metadata</a:t>
            </a:r>
            <a:endParaRPr lang="en-US" sz="1441" dirty="0"/>
          </a:p>
        </p:txBody>
      </p:sp>
      <p:sp>
        <p:nvSpPr>
          <p:cNvPr id="10" name="Shape 8"/>
          <p:cNvSpPr/>
          <p:nvPr/>
        </p:nvSpPr>
        <p:spPr>
          <a:xfrm>
            <a:off x="4887929" y="3838927"/>
            <a:ext cx="244024" cy="0"/>
          </a:xfrm>
          <a:prstGeom prst="line">
            <a:avLst/>
          </a:prstGeom>
          <a:noFill/>
          <a:ln w="22860">
            <a:solidFill>
              <a:srgbClr val="009E73"/>
            </a:solidFill>
            <a:prstDash val="solid"/>
            <a:tailEnd type="triangle"/>
          </a:ln>
        </p:spPr>
      </p:sp>
      <p:sp>
        <p:nvSpPr>
          <p:cNvPr id="11" name="Text 9"/>
          <p:cNvSpPr txBox="1"/>
          <p:nvPr/>
        </p:nvSpPr>
        <p:spPr>
          <a:xfrm>
            <a:off x="4209237"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chunks + source</a:t>
            </a:r>
            <a:endParaRPr lang="en-US" sz="1441" dirty="0"/>
          </a:p>
        </p:txBody>
      </p:sp>
      <p:sp>
        <p:nvSpPr>
          <p:cNvPr id="12" name="Text 10"/>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IDs</a:t>
            </a:r>
            <a:endParaRPr lang="en-US" sz="1441" dirty="0"/>
          </a:p>
        </p:txBody>
      </p:sp>
      <p:sp>
        <p:nvSpPr>
          <p:cNvPr id="13" name="Shape 11"/>
          <p:cNvSpPr/>
          <p:nvPr/>
        </p:nvSpPr>
        <p:spPr>
          <a:xfrm>
            <a:off x="7059743" y="3838927"/>
            <a:ext cx="244024" cy="0"/>
          </a:xfrm>
          <a:prstGeom prst="line">
            <a:avLst/>
          </a:prstGeom>
          <a:noFill/>
          <a:ln w="22860">
            <a:solidFill>
              <a:srgbClr val="009E73"/>
            </a:solidFill>
            <a:prstDash val="solid"/>
            <a:tailEnd type="triangle"/>
          </a:ln>
        </p:spPr>
      </p:sp>
      <p:sp>
        <p:nvSpPr>
          <p:cNvPr id="14" name="Text 12"/>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compatible vectors</a:t>
            </a:r>
            <a:endParaRPr lang="en-US" sz="1441" dirty="0"/>
          </a:p>
        </p:txBody>
      </p:sp>
      <p:sp>
        <p:nvSpPr>
          <p:cNvPr id="15" name="Shape 13"/>
          <p:cNvSpPr/>
          <p:nvPr/>
        </p:nvSpPr>
        <p:spPr>
          <a:xfrm>
            <a:off x="9231556" y="3838927"/>
            <a:ext cx="244024" cy="0"/>
          </a:xfrm>
          <a:prstGeom prst="line">
            <a:avLst/>
          </a:prstGeom>
          <a:noFill/>
          <a:ln w="22860">
            <a:solidFill>
              <a:srgbClr val="009E73"/>
            </a:solidFill>
            <a:prstDash val="solid"/>
            <a:tailEnd type="triangle"/>
          </a:ln>
        </p:spPr>
      </p:sp>
      <p:sp>
        <p:nvSpPr>
          <p:cNvPr id="16" name="Text 14"/>
          <p:cNvSpPr txBox="1"/>
          <p:nvPr/>
        </p:nvSpPr>
        <p:spPr>
          <a:xfrm>
            <a:off x="8552865"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searchable</a:t>
            </a:r>
            <a:endParaRPr lang="en-US" sz="1441" dirty="0"/>
          </a:p>
        </p:txBody>
      </p:sp>
      <p:sp>
        <p:nvSpPr>
          <p:cNvPr id="17" name="Text 15"/>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indexes</a:t>
            </a:r>
            <a:endParaRPr lang="en-US" sz="1441" dirty="0"/>
          </a:p>
        </p:txBody>
      </p:sp>
      <p:sp>
        <p:nvSpPr>
          <p:cNvPr id="18" name="Shape 16"/>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9" name="Text 17"/>
          <p:cNvSpPr txBox="1"/>
          <p:nvPr/>
        </p:nvSpPr>
        <p:spPr>
          <a:xfrm>
            <a:off x="849331"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Source</a:t>
            </a:r>
            <a:endParaRPr lang="en-US" sz="1561" dirty="0"/>
          </a:p>
        </p:txBody>
      </p:sp>
      <p:sp>
        <p:nvSpPr>
          <p:cNvPr id="20" name="Text 18"/>
          <p:cNvSpPr txBox="1"/>
          <p:nvPr/>
        </p:nvSpPr>
        <p:spPr>
          <a:xfrm>
            <a:off x="849331"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documents</a:t>
            </a:r>
            <a:endParaRPr lang="en-US" sz="1561" dirty="0"/>
          </a:p>
        </p:txBody>
      </p:sp>
      <p:sp>
        <p:nvSpPr>
          <p:cNvPr id="21" name="Text 19"/>
          <p:cNvSpPr txBox="1"/>
          <p:nvPr/>
        </p:nvSpPr>
        <p:spPr>
          <a:xfrm>
            <a:off x="849331"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Keep source IDs;</a:t>
            </a:r>
            <a:endParaRPr lang="en-US" sz="1441" dirty="0"/>
          </a:p>
        </p:txBody>
      </p:sp>
      <p:sp>
        <p:nvSpPr>
          <p:cNvPr id="22" name="Text 20"/>
          <p:cNvSpPr txBox="1"/>
          <p:nvPr/>
        </p:nvSpPr>
        <p:spPr>
          <a:xfrm>
            <a:off x="849331"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plan access</a:t>
            </a:r>
            <a:endParaRPr lang="en-US" sz="1441" dirty="0"/>
          </a:p>
        </p:txBody>
      </p:sp>
      <p:sp>
        <p:nvSpPr>
          <p:cNvPr id="23" name="Text 21"/>
          <p:cNvSpPr txBox="1"/>
          <p:nvPr/>
        </p:nvSpPr>
        <p:spPr>
          <a:xfrm>
            <a:off x="811202"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DOCS</a:t>
            </a:r>
            <a:endParaRPr lang="en-US" sz="1441" dirty="0"/>
          </a:p>
        </p:txBody>
      </p:sp>
      <p:sp>
        <p:nvSpPr>
          <p:cNvPr id="24" name="Shape 22"/>
          <p:cNvSpPr/>
          <p:nvPr/>
        </p:nvSpPr>
        <p:spPr>
          <a:xfrm>
            <a:off x="2960139" y="2939089"/>
            <a:ext cx="1927790" cy="1799677"/>
          </a:xfrm>
          <a:prstGeom prst="roundRect">
            <a:avLst>
              <a:gd name="adj" fmla="val 4065"/>
            </a:avLst>
          </a:prstGeom>
          <a:solidFill>
            <a:srgbClr val="E4F2FB"/>
          </a:solidFill>
          <a:ln w="15240">
            <a:solidFill>
              <a:srgbClr val="0072B2"/>
            </a:solidFill>
            <a:prstDash val="solid"/>
          </a:ln>
        </p:spPr>
      </p:sp>
      <p:sp>
        <p:nvSpPr>
          <p:cNvPr id="25" name="Text 23"/>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Split passages</a:t>
            </a:r>
            <a:endParaRPr lang="en-US" sz="1561" dirty="0"/>
          </a:p>
        </p:txBody>
      </p:sp>
      <p:sp>
        <p:nvSpPr>
          <p:cNvPr id="26" name="Text 24"/>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Overlapping</a:t>
            </a:r>
            <a:endParaRPr lang="en-US" sz="1441" dirty="0"/>
          </a:p>
        </p:txBody>
      </p:sp>
      <p:sp>
        <p:nvSpPr>
          <p:cNvPr id="27" name="Text 25"/>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searchable pieces</a:t>
            </a:r>
            <a:endParaRPr lang="en-US" sz="1441" dirty="0"/>
          </a:p>
        </p:txBody>
      </p:sp>
      <p:sp>
        <p:nvSpPr>
          <p:cNvPr id="28" name="Text 26"/>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chunk</a:t>
            </a:r>
            <a:endParaRPr lang="en-US" sz="1441" dirty="0"/>
          </a:p>
        </p:txBody>
      </p:sp>
      <p:sp>
        <p:nvSpPr>
          <p:cNvPr id="29" name="Shape 27"/>
          <p:cNvSpPr/>
          <p:nvPr/>
        </p:nvSpPr>
        <p:spPr>
          <a:xfrm>
            <a:off x="5131953" y="2939089"/>
            <a:ext cx="1927790" cy="1799677"/>
          </a:xfrm>
          <a:prstGeom prst="rect">
            <a:avLst/>
          </a:prstGeom>
          <a:solidFill>
            <a:srgbClr val="E5F7EF"/>
          </a:solidFill>
          <a:ln w="15240">
            <a:solidFill>
              <a:srgbClr val="009E73"/>
            </a:solidFill>
            <a:prstDash val="solid"/>
          </a:ln>
        </p:spPr>
      </p:sp>
      <p:sp>
        <p:nvSpPr>
          <p:cNvPr id="30" name="Text 28"/>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Make vectors</a:t>
            </a:r>
            <a:endParaRPr lang="en-US" sz="1561" dirty="0"/>
          </a:p>
        </p:txBody>
      </p:sp>
      <p:sp>
        <p:nvSpPr>
          <p:cNvPr id="31" name="Text 29"/>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One fixed embedding</a:t>
            </a:r>
            <a:endParaRPr lang="en-US" sz="1441" dirty="0"/>
          </a:p>
        </p:txBody>
      </p:sp>
      <p:sp>
        <p:nvSpPr>
          <p:cNvPr id="32" name="Text 30"/>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33" name="Text 31"/>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embedder</a:t>
            </a:r>
            <a:endParaRPr lang="en-US" sz="1441" dirty="0"/>
          </a:p>
        </p:txBody>
      </p:sp>
      <p:sp>
        <p:nvSpPr>
          <p:cNvPr id="34" name="Shape 32"/>
          <p:cNvSpPr/>
          <p:nvPr/>
        </p:nvSpPr>
        <p:spPr>
          <a:xfrm>
            <a:off x="7303767" y="2939089"/>
            <a:ext cx="1927790" cy="1799677"/>
          </a:xfrm>
          <a:prstGeom prst="rect">
            <a:avLst/>
          </a:prstGeom>
          <a:solidFill>
            <a:srgbClr val="F2F4F5"/>
          </a:solidFill>
          <a:ln w="15240">
            <a:solidFill>
              <a:srgbClr val="626B73"/>
            </a:solidFill>
            <a:prstDash val="solid"/>
          </a:ln>
        </p:spPr>
      </p:sp>
      <p:sp>
        <p:nvSpPr>
          <p:cNvPr id="35" name="Text 33"/>
          <p:cNvSpPr txBox="1"/>
          <p:nvPr/>
        </p:nvSpPr>
        <p:spPr>
          <a:xfrm>
            <a:off x="7364773"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 search</a:t>
            </a:r>
            <a:endParaRPr lang="en-US" sz="1561" dirty="0"/>
          </a:p>
        </p:txBody>
      </p:sp>
      <p:sp>
        <p:nvSpPr>
          <p:cNvPr id="36" name="Text 34"/>
          <p:cNvSpPr txBox="1"/>
          <p:nvPr/>
        </p:nvSpPr>
        <p:spPr>
          <a:xfrm>
            <a:off x="7364773"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stores</a:t>
            </a:r>
            <a:endParaRPr lang="en-US" sz="1561" dirty="0"/>
          </a:p>
        </p:txBody>
      </p:sp>
      <p:sp>
        <p:nvSpPr>
          <p:cNvPr id="37" name="Text 35"/>
          <p:cNvSpPr txBox="1"/>
          <p:nvPr/>
        </p:nvSpPr>
        <p:spPr>
          <a:xfrm>
            <a:off x="7364773"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Vectors plus keyword</a:t>
            </a:r>
            <a:endParaRPr lang="en-US" sz="1441" dirty="0"/>
          </a:p>
        </p:txBody>
      </p:sp>
      <p:sp>
        <p:nvSpPr>
          <p:cNvPr id="38" name="Text 36"/>
          <p:cNvSpPr txBox="1"/>
          <p:nvPr/>
        </p:nvSpPr>
        <p:spPr>
          <a:xfrm>
            <a:off x="7364773"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index</a:t>
            </a:r>
            <a:endParaRPr lang="en-US" sz="1441" dirty="0"/>
          </a:p>
        </p:txBody>
      </p:sp>
      <p:sp>
        <p:nvSpPr>
          <p:cNvPr id="39" name="Text 37"/>
          <p:cNvSpPr txBox="1"/>
          <p:nvPr/>
        </p:nvSpPr>
        <p:spPr>
          <a:xfrm>
            <a:off x="7326644"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index</a:t>
            </a:r>
            <a:endParaRPr lang="en-US" sz="1441" dirty="0"/>
          </a:p>
        </p:txBody>
      </p:sp>
      <p:sp>
        <p:nvSpPr>
          <p:cNvPr id="40" name="Shape 38"/>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41" name="Text 39"/>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 query hits</a:t>
            </a:r>
            <a:endParaRPr lang="en-US" sz="1561" dirty="0"/>
          </a:p>
        </p:txBody>
      </p:sp>
      <p:sp>
        <p:nvSpPr>
          <p:cNvPr id="42" name="Text 40"/>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text and source</a:t>
            </a:r>
            <a:endParaRPr lang="en-US" sz="1441" dirty="0"/>
          </a:p>
        </p:txBody>
      </p:sp>
      <p:sp>
        <p:nvSpPr>
          <p:cNvPr id="43" name="Text 41"/>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metadata</a:t>
            </a:r>
            <a:endParaRPr lang="en-US" sz="1441" dirty="0"/>
          </a:p>
        </p:txBody>
      </p:sp>
      <p:sp>
        <p:nvSpPr>
          <p:cNvPr id="44" name="Text 42"/>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dense_rank</a:t>
            </a:r>
            <a:endParaRPr lang="en-US" sz="1441" dirty="0"/>
          </a:p>
        </p:txBody>
      </p:sp>
      <p:sp>
        <p:nvSpPr>
          <p:cNvPr id="45" name="Shape 43"/>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6" name="Text 44"/>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7" name="Shape 45"/>
          <p:cNvSpPr/>
          <p:nvPr/>
        </p:nvSpPr>
        <p:spPr>
          <a:xfrm>
            <a:off x="2118929" y="5630979"/>
            <a:ext cx="198270" cy="198270"/>
          </a:xfrm>
          <a:prstGeom prst="rect">
            <a:avLst/>
          </a:prstGeom>
          <a:solidFill>
            <a:srgbClr val="E5F7EF"/>
          </a:solidFill>
          <a:ln w="15240">
            <a:solidFill>
              <a:srgbClr val="009E73"/>
            </a:solidFill>
            <a:prstDash val="solid"/>
          </a:ln>
        </p:spPr>
      </p:sp>
      <p:sp>
        <p:nvSpPr>
          <p:cNvPr id="48" name="Text 46"/>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9" name="Shape 47"/>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0" name="Text 48"/>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1" name="Shape 49"/>
          <p:cNvSpPr/>
          <p:nvPr/>
        </p:nvSpPr>
        <p:spPr>
          <a:xfrm>
            <a:off x="4179476" y="5630979"/>
            <a:ext cx="198270" cy="198270"/>
          </a:xfrm>
          <a:prstGeom prst="rect">
            <a:avLst/>
          </a:prstGeom>
          <a:solidFill>
            <a:srgbClr val="F2F4F5"/>
          </a:solidFill>
          <a:ln w="15240">
            <a:solidFill>
              <a:srgbClr val="626B73"/>
            </a:solidFill>
            <a:prstDash val="solid"/>
          </a:ln>
        </p:spPr>
      </p:sp>
      <p:sp>
        <p:nvSpPr>
          <p:cNvPr id="52" name="Text 50"/>
          <p:cNvSpPr txBox="1"/>
          <p:nvPr/>
        </p:nvSpPr>
        <p:spPr>
          <a:xfrm>
            <a:off x="4438751"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53" name="Shape 51"/>
          <p:cNvSpPr/>
          <p:nvPr/>
        </p:nvSpPr>
        <p:spPr>
          <a:xfrm>
            <a:off x="5741367" y="5730113"/>
            <a:ext cx="335533" cy="0"/>
          </a:xfrm>
          <a:prstGeom prst="line">
            <a:avLst/>
          </a:prstGeom>
          <a:noFill/>
          <a:ln w="22860">
            <a:solidFill>
              <a:srgbClr val="009E73"/>
            </a:solidFill>
            <a:prstDash val="solid"/>
            <a:tailEnd type="triangle"/>
          </a:ln>
        </p:spPr>
      </p:sp>
      <p:sp>
        <p:nvSpPr>
          <p:cNvPr id="54" name="Text 52"/>
          <p:cNvSpPr txBox="1"/>
          <p:nvPr/>
        </p:nvSpPr>
        <p:spPr>
          <a:xfrm>
            <a:off x="6137906"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5" name="Text 53"/>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updating a handbook index fine-tune the language model?</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Chunking: splitting documents into retrievable pieces</a:t>
            </a:r>
            <a:endParaRPr lang="en-US" sz="3200" dirty="0"/>
          </a:p>
        </p:txBody>
      </p:sp>
      <p:sp>
        <p:nvSpPr>
          <p:cNvPr id="6" name="Shape 4"/>
          <p:cNvSpPr/>
          <p:nvPr/>
        </p:nvSpPr>
        <p:spPr>
          <a:xfrm flipH="1">
            <a:off x="3420173" y="3851029"/>
            <a:ext cx="205887" cy="0"/>
          </a:xfrm>
          <a:prstGeom prst="line">
            <a:avLst/>
          </a:prstGeom>
          <a:noFill/>
          <a:ln w="22860">
            <a:solidFill>
              <a:srgbClr val="EA580C"/>
            </a:solidFill>
            <a:prstDash val="solid"/>
            <a:tailEnd type="triangle"/>
          </a:ln>
        </p:spPr>
      </p:sp>
      <p:sp>
        <p:nvSpPr>
          <p:cNvPr id="7" name="Shape 5"/>
          <p:cNvSpPr/>
          <p:nvPr/>
        </p:nvSpPr>
        <p:spPr>
          <a:xfrm>
            <a:off x="3626060" y="3851029"/>
            <a:ext cx="205887" cy="0"/>
          </a:xfrm>
          <a:prstGeom prst="line">
            <a:avLst/>
          </a:prstGeom>
          <a:noFill/>
          <a:ln w="22860">
            <a:solidFill>
              <a:srgbClr val="EA580C"/>
            </a:solidFill>
            <a:prstDash val="solid"/>
            <a:tailEnd type="triangle"/>
          </a:ln>
        </p:spPr>
      </p:sp>
      <p:sp>
        <p:nvSpPr>
          <p:cNvPr id="8" name="Shape 6"/>
          <p:cNvSpPr/>
          <p:nvPr/>
        </p:nvSpPr>
        <p:spPr>
          <a:xfrm>
            <a:off x="949532" y="2208116"/>
            <a:ext cx="10335515" cy="412712"/>
          </a:xfrm>
          <a:prstGeom prst="roundRect">
            <a:avLst>
              <a:gd name="adj" fmla="val 17725"/>
            </a:avLst>
          </a:prstGeom>
          <a:solidFill>
            <a:srgbClr val="E4F2FB"/>
          </a:solidFill>
          <a:ln w="15240">
            <a:solidFill>
              <a:srgbClr val="0072B2"/>
            </a:solidFill>
            <a:prstDash val="solid"/>
          </a:ln>
        </p:spPr>
      </p:sp>
      <p:sp>
        <p:nvSpPr>
          <p:cNvPr id="9" name="Shape 7"/>
          <p:cNvSpPr/>
          <p:nvPr/>
        </p:nvSpPr>
        <p:spPr>
          <a:xfrm>
            <a:off x="949532" y="2993857"/>
            <a:ext cx="2882414" cy="357155"/>
          </a:xfrm>
          <a:prstGeom prst="roundRect">
            <a:avLst>
              <a:gd name="adj" fmla="val 20482"/>
            </a:avLst>
          </a:prstGeom>
          <a:solidFill>
            <a:srgbClr val="E4F2FB"/>
          </a:solidFill>
          <a:ln w="15240">
            <a:solidFill>
              <a:srgbClr val="0072B2"/>
            </a:solidFill>
            <a:prstDash val="solid"/>
          </a:ln>
        </p:spPr>
      </p:sp>
      <p:sp>
        <p:nvSpPr>
          <p:cNvPr id="10" name="Shape 8"/>
          <p:cNvSpPr/>
          <p:nvPr/>
        </p:nvSpPr>
        <p:spPr>
          <a:xfrm>
            <a:off x="3420173" y="3311328"/>
            <a:ext cx="2882414" cy="357155"/>
          </a:xfrm>
          <a:prstGeom prst="roundRect">
            <a:avLst>
              <a:gd name="adj" fmla="val 20482"/>
            </a:avLst>
          </a:prstGeom>
          <a:solidFill>
            <a:srgbClr val="E4F2FB"/>
          </a:solidFill>
          <a:ln w="15240">
            <a:solidFill>
              <a:srgbClr val="0072B2"/>
            </a:solidFill>
            <a:prstDash val="solid"/>
          </a:ln>
        </p:spPr>
      </p:sp>
      <p:sp>
        <p:nvSpPr>
          <p:cNvPr id="11" name="Shape 9"/>
          <p:cNvSpPr/>
          <p:nvPr/>
        </p:nvSpPr>
        <p:spPr>
          <a:xfrm>
            <a:off x="5890814" y="2993857"/>
            <a:ext cx="2882414" cy="357155"/>
          </a:xfrm>
          <a:prstGeom prst="roundRect">
            <a:avLst>
              <a:gd name="adj" fmla="val 20482"/>
            </a:avLst>
          </a:prstGeom>
          <a:solidFill>
            <a:srgbClr val="E4F2FB"/>
          </a:solidFill>
          <a:ln w="15240">
            <a:solidFill>
              <a:srgbClr val="0072B2"/>
            </a:solidFill>
            <a:prstDash val="solid"/>
          </a:ln>
        </p:spPr>
      </p:sp>
      <p:sp>
        <p:nvSpPr>
          <p:cNvPr id="12" name="Shape 10"/>
          <p:cNvSpPr/>
          <p:nvPr/>
        </p:nvSpPr>
        <p:spPr>
          <a:xfrm>
            <a:off x="8361455" y="3311328"/>
            <a:ext cx="2882414" cy="357155"/>
          </a:xfrm>
          <a:prstGeom prst="roundRect">
            <a:avLst>
              <a:gd name="adj" fmla="val 20482"/>
            </a:avLst>
          </a:prstGeom>
          <a:solidFill>
            <a:srgbClr val="E4F2FB"/>
          </a:solidFill>
          <a:ln w="15240">
            <a:solidFill>
              <a:srgbClr val="0072B2"/>
            </a:solidFill>
            <a:prstDash val="solid"/>
          </a:ln>
        </p:spPr>
      </p:sp>
      <p:sp>
        <p:nvSpPr>
          <p:cNvPr id="13" name="Text 11"/>
          <p:cNvSpPr txBox="1"/>
          <p:nvPr/>
        </p:nvSpPr>
        <p:spPr>
          <a:xfrm>
            <a:off x="2557305" y="2276978"/>
            <a:ext cx="7119969"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Document with headings, paragraphs and source metadata</a:t>
            </a:r>
            <a:endParaRPr lang="en-US" sz="1867" dirty="0"/>
          </a:p>
        </p:txBody>
      </p:sp>
      <p:sp>
        <p:nvSpPr>
          <p:cNvPr id="14" name="Text 12"/>
          <p:cNvSpPr txBox="1"/>
          <p:nvPr/>
        </p:nvSpPr>
        <p:spPr>
          <a:xfrm>
            <a:off x="1909925" y="3048689"/>
            <a:ext cx="96163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Chunk 1</a:t>
            </a:r>
            <a:endParaRPr lang="en-US" sz="1680" dirty="0"/>
          </a:p>
        </p:txBody>
      </p:sp>
      <p:sp>
        <p:nvSpPr>
          <p:cNvPr id="15" name="Text 13"/>
          <p:cNvSpPr txBox="1"/>
          <p:nvPr/>
        </p:nvSpPr>
        <p:spPr>
          <a:xfrm>
            <a:off x="4380566" y="3366160"/>
            <a:ext cx="96163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Chunk 2</a:t>
            </a:r>
            <a:endParaRPr lang="en-US" sz="1680" dirty="0"/>
          </a:p>
        </p:txBody>
      </p:sp>
      <p:sp>
        <p:nvSpPr>
          <p:cNvPr id="16" name="Text 14"/>
          <p:cNvSpPr txBox="1"/>
          <p:nvPr/>
        </p:nvSpPr>
        <p:spPr>
          <a:xfrm>
            <a:off x="6851207" y="3048689"/>
            <a:ext cx="96163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Chunk 3</a:t>
            </a:r>
            <a:endParaRPr lang="en-US" sz="1680" dirty="0"/>
          </a:p>
        </p:txBody>
      </p:sp>
      <p:sp>
        <p:nvSpPr>
          <p:cNvPr id="17" name="Text 15"/>
          <p:cNvSpPr txBox="1"/>
          <p:nvPr/>
        </p:nvSpPr>
        <p:spPr>
          <a:xfrm>
            <a:off x="9321848" y="3366160"/>
            <a:ext cx="96163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Chunk 4</a:t>
            </a:r>
            <a:endParaRPr lang="en-US" sz="1680" dirty="0"/>
          </a:p>
        </p:txBody>
      </p:sp>
      <p:sp>
        <p:nvSpPr>
          <p:cNvPr id="18" name="Text 16"/>
          <p:cNvSpPr txBox="1"/>
          <p:nvPr/>
        </p:nvSpPr>
        <p:spPr>
          <a:xfrm>
            <a:off x="3214159" y="3839517"/>
            <a:ext cx="823803" cy="233741"/>
          </a:xfrm>
          <a:prstGeom prst="rect">
            <a:avLst/>
          </a:prstGeom>
          <a:noFill/>
          <a:ln/>
        </p:spPr>
        <p:txBody>
          <a:bodyPr wrap="square" lIns="0" tIns="0" rIns="0" bIns="0" rtlCol="0" anchor="ctr"/>
          <a:lstStyle/>
          <a:p>
            <a:pPr algn="ctr" indent="0" marL="0">
              <a:lnSpc>
                <a:spcPct val="116000"/>
              </a:lnSpc>
              <a:buNone/>
            </a:pPr>
            <a:r>
              <a:rPr lang="en-US" sz="1587" dirty="0">
                <a:solidFill>
                  <a:srgbClr val="EA580C"/>
                </a:solidFill>
                <a:latin typeface="Arial" pitchFamily="34" charset="0"/>
                <a:ea typeface="Arial" pitchFamily="34" charset="-122"/>
                <a:cs typeface="Arial" pitchFamily="34" charset="-120"/>
              </a:rPr>
              <a:t>Overlap</a:t>
            </a:r>
            <a:endParaRPr lang="en-US" sz="1587" dirty="0"/>
          </a:p>
        </p:txBody>
      </p:sp>
      <p:sp>
        <p:nvSpPr>
          <p:cNvPr id="19" name="Text 17"/>
          <p:cNvSpPr txBox="1"/>
          <p:nvPr/>
        </p:nvSpPr>
        <p:spPr>
          <a:xfrm>
            <a:off x="5355509" y="3696655"/>
            <a:ext cx="4925701" cy="233741"/>
          </a:xfrm>
          <a:prstGeom prst="rect">
            <a:avLst/>
          </a:prstGeom>
          <a:noFill/>
          <a:ln/>
        </p:spPr>
        <p:txBody>
          <a:bodyPr wrap="square" lIns="0" tIns="0" rIns="0" bIns="0" rtlCol="0" anchor="ctr"/>
          <a:lstStyle/>
          <a:p>
            <a:pPr algn="l" indent="0" marL="0">
              <a:lnSpc>
                <a:spcPct val="116000"/>
              </a:lnSpc>
              <a:buNone/>
            </a:pPr>
            <a:r>
              <a:rPr lang="en-US" sz="1587" dirty="0">
                <a:solidFill>
                  <a:srgbClr val="1F2937"/>
                </a:solidFill>
                <a:latin typeface="Arial" pitchFamily="34" charset="0"/>
                <a:ea typeface="Arial" pitchFamily="34" charset="-122"/>
                <a:cs typeface="Arial" pitchFamily="34" charset="-120"/>
              </a:rPr>
              <a:t>Test size, boundaries and overlap on real questions.</a:t>
            </a:r>
            <a:endParaRPr lang="en-US" sz="1587" dirty="0"/>
          </a:p>
        </p:txBody>
      </p:sp>
      <p:sp>
        <p:nvSpPr>
          <p:cNvPr id="20" name="Text 18"/>
          <p:cNvSpPr txBox="1"/>
          <p:nvPr/>
        </p:nvSpPr>
        <p:spPr>
          <a:xfrm>
            <a:off x="548640" y="4585301"/>
            <a:ext cx="11094415" cy="1724059"/>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a:t>
            </a:r>
            <a:pPr indent="0" marL="0">
              <a:buNone/>
            </a:pPr>
            <a:r>
              <a:rPr lang="en-US" sz="2000" b="1" dirty="0">
                <a:solidFill>
                  <a:srgbClr val="1F2937"/>
                </a:solidFill>
                <a:latin typeface="Calibri" pitchFamily="34" charset="0"/>
                <a:ea typeface="Calibri" pitchFamily="34" charset="-122"/>
                <a:cs typeface="Calibri" pitchFamily="34" charset="-120"/>
              </a:rPr>
              <a:t>chunk</a:t>
            </a:r>
            <a:pPr indent="0" marL="0">
              <a:buNone/>
            </a:pPr>
            <a:r>
              <a:rPr lang="en-US" sz="2000" dirty="0">
                <a:solidFill>
                  <a:srgbClr val="1F2937"/>
                </a:solidFill>
                <a:latin typeface="Calibri" pitchFamily="34" charset="0"/>
                <a:ea typeface="Calibri" pitchFamily="34" charset="-122"/>
                <a:cs typeface="Calibri" pitchFamily="34" charset="-120"/>
              </a:rPr>
              <a:t> is one searchable passage.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Test boundaries, size and overlap.</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Keep source, section, date and access metadata.</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to store vectors</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4510916"/>
                <a:gridCol w="2438333"/>
                <a:gridCol w="4145166"/>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Option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Typical use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FAISS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In-process library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Search 10,000 chunks in a notebook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Chroma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Vector database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Local app with metadata filters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pgvector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PostgreSQL extension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Add search beside existing tables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Qdrant / Weaviate / Milvus / Pinecone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Vector services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Millions of chunks, many users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Azure / Vertex search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Managed cloud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Enterprise identity and security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Searching millions of vectors quickly</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Exact search compares all stored vectors.</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ANN:</a:t>
            </a:r>
            <a:pPr indent="0" marL="0">
              <a:buNone/>
            </a:pPr>
            <a:r>
              <a:rPr lang="en-US" sz="2600" dirty="0">
                <a:solidFill>
                  <a:srgbClr val="1F2937"/>
                </a:solidFill>
                <a:latin typeface="Calibri" pitchFamily="34" charset="0"/>
                <a:ea typeface="Calibri" pitchFamily="34" charset="-122"/>
                <a:cs typeface="Calibri" pitchFamily="34" charset="-120"/>
              </a:rPr>
              <a:t> faster candidate search; may miss matches.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HNSW: graph; IVF: clusters; PQ: compressed vector parts.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Enforce permissions before passages enter the prompt.</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Retrieval, advanced RAG and evaluation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retrieve well, answer faithfully and prove it?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Dense vs. keyword retrieval</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Dense</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Learns meaning and paraphrase matching</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Can struggle with exact rare IDs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Finds the late-work rule for "handing work in after the deadline"</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BM25</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Ranks weighted word matches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Paraphrases may lack shared words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Finds the exact phrase "extenuating circumstances form"</a:t>
            </a:r>
            <a:endParaRPr lang="en-US" sz="24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Test both; hybrid search combines their rankings.</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Fusing rankings and measuring retrieval</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061b04fd7dac3aa5.png">    </p:cNvPr>
          <p:cNvPicPr>
            <a:picLocks noChangeAspect="1"/>
          </p:cNvPicPr>
          <p:nvPr/>
        </p:nvPicPr>
        <p:blipFill>
          <a:blip r:embed="rId1"/>
          <a:stretch>
            <a:fillRect/>
          </a:stretch>
        </p:blipFill>
        <p:spPr>
          <a:xfrm>
            <a:off x="3762604" y="1741424"/>
            <a:ext cx="4666488" cy="722376"/>
          </a:xfrm>
          <a:prstGeom prst="rect">
            <a:avLst/>
          </a:prstGeom>
        </p:spPr>
      </p:pic>
      <p:pic>
        <p:nvPicPr>
          <p:cNvPr id="8" name="Image 1" descr="C:\Users\sudee\Downloads\Generative_AI_2027_Teaching_Pack\AI2027_Project\build\eq\c7d879b562ef8dca.png">    </p:cNvPr>
          <p:cNvPicPr>
            <a:picLocks noChangeAspect="1"/>
          </p:cNvPicPr>
          <p:nvPr/>
        </p:nvPicPr>
        <p:blipFill>
          <a:blip r:embed="rId2"/>
          <a:stretch>
            <a:fillRect/>
          </a:stretch>
        </p:blipFill>
        <p:spPr>
          <a:xfrm>
            <a:off x="822960" y="2679249"/>
            <a:ext cx="10545775" cy="735469"/>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RRF adds reciprocal smoothed rank positions.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Lab recall@K is a gold-document hit rate.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MRR averages first-hit reciprocal rank; missing hits score zero.</a:t>
            </a:r>
            <a:endParaRPr lang="en-US" sz="20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c</a:t>
            </a:r>
            <a:endParaRPr lang="en-US" sz="18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RRF smoothing</a:t>
            </a:r>
            <a:endParaRPr lang="en-US" sz="17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K</a:t>
            </a:r>
            <a:endParaRPr lang="en-US" sz="18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Checked result cutoff</a:t>
            </a:r>
            <a:endParaRPr lang="en-US" sz="17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rank_q</a:t>
            </a:r>
            <a:endParaRPr lang="en-US" sz="18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First gold-document hit</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Re-ranking: a second, more careful look</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Retrieve a broad candidate list quickly.</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a:t>
            </a:r>
            <a:pPr indent="0" marL="0">
              <a:buNone/>
            </a:pPr>
            <a:r>
              <a:rPr lang="en-US" sz="2600" b="1" dirty="0">
                <a:solidFill>
                  <a:srgbClr val="1F2937"/>
                </a:solidFill>
                <a:latin typeface="Calibri" pitchFamily="34" charset="0"/>
                <a:ea typeface="Calibri" pitchFamily="34" charset="-122"/>
                <a:cs typeface="Calibri" pitchFamily="34" charset="-120"/>
              </a:rPr>
              <a:t>cross-encoder</a:t>
            </a:r>
            <a:pPr indent="0" marL="0">
              <a:buNone/>
            </a:pPr>
            <a:r>
              <a:rPr lang="en-US" sz="2600" dirty="0">
                <a:solidFill>
                  <a:srgbClr val="1F2937"/>
                </a:solidFill>
                <a:latin typeface="Calibri" pitchFamily="34" charset="0"/>
                <a:ea typeface="Calibri" pitchFamily="34" charset="-122"/>
                <a:cs typeface="Calibri" pitchFamily="34" charset="-120"/>
              </a:rPr>
              <a:t> reads each question–passage pair.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Keep a small, re-ranked set.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Measure evidence quality and extra latency.</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retrieval quality on the handbook questions</a:t>
            </a:r>
            <a:endParaRPr lang="en-US" sz="3200" dirty="0"/>
          </a:p>
        </p:txBody>
      </p:sp>
      <p:pic>
        <p:nvPicPr>
          <p:cNvPr id="6" name="Image 0" descr="C:\Users\sudee\Downloads\Generative_AI_2027_Teaching_Pack\AI2027_Project\build\figures\week_12\lab_retrieval.png">    </p:cNvPr>
          <p:cNvPicPr>
            <a:picLocks noChangeAspect="1"/>
          </p:cNvPicPr>
          <p:nvPr/>
        </p:nvPicPr>
        <p:blipFill>
          <a:blip r:embed="rId1"/>
          <a:stretch>
            <a:fillRect/>
          </a:stretch>
        </p:blipFill>
        <p:spPr>
          <a:xfrm>
            <a:off x="548640" y="1650112"/>
            <a:ext cx="11094415" cy="3139437"/>
          </a:xfrm>
          <a:prstGeom prst="rect">
            <a:avLst/>
          </a:prstGeom>
        </p:spPr>
      </p:pic>
      <p:sp>
        <p:nvSpPr>
          <p:cNvPr id="7" name="Text 4"/>
          <p:cNvSpPr txBox="1"/>
          <p:nvPr/>
        </p:nvSpPr>
        <p:spPr>
          <a:xfrm>
            <a:off x="548640" y="4972430"/>
            <a:ext cx="11094415" cy="1336930"/>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Gold-document hit@1 (the lab's recall@1): BM25 0.83, dense 0.92, hybrid 0.92, hybrid + re-rank 1.00. MRR: BM25 0.92, dense 0.94, hybrid 0.96, hybrid + re-rank 1.00.</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Inspect actual passages: a gold-document hit need not contain the answer.</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RAG vs. no retrieval</a:t>
            </a:r>
            <a:endParaRPr lang="en-US" sz="3200" dirty="0"/>
          </a:p>
        </p:txBody>
      </p:sp>
      <p:pic>
        <p:nvPicPr>
          <p:cNvPr id="6" name="Image 0" descr="C:\Users\sudee\Downloads\Generative_AI_2027_Teaching_Pack\AI2027_Project\build\figures\week_12\lab_rag.png">    </p:cNvPr>
          <p:cNvPicPr>
            <a:picLocks noChangeAspect="1"/>
          </p:cNvPicPr>
          <p:nvPr/>
        </p:nvPicPr>
        <p:blipFill>
          <a:blip r:embed="rId1"/>
          <a:stretch>
            <a:fillRect/>
          </a:stretch>
        </p:blipFill>
        <p:spPr>
          <a:xfrm>
            <a:off x="548640" y="1597082"/>
            <a:ext cx="11094415" cy="2850021"/>
          </a:xfrm>
          <a:prstGeom prst="rect">
            <a:avLst/>
          </a:prstGeom>
        </p:spPr>
      </p:pic>
      <p:sp>
        <p:nvSpPr>
          <p:cNvPr id="7" name="Text 4"/>
          <p:cNvSpPr txBox="1"/>
          <p:nvPr/>
        </p:nvSpPr>
        <p:spPr>
          <a:xfrm>
            <a:off x="548640" y="4629982"/>
            <a:ext cx="11094415" cy="1679378"/>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Qwen2.5-1.5B-Instruct: accuracy 0% without retrieval → 92% with RAG; numbers supported by sources 100%; cited the right document 100%; abstained on the unanswerable question.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Supply numbered sources; require supported answers or abstention.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Prompt placement helped this run; test other settings.</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Advanced RAG techniques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Rewrite query</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Turn "and for the exam?" into "late penalty for the exam" before searching.</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HyDE</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Draft a hypothetical answer and search with it; answers resemble passages.</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Contextualise</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Prefix each chunk with its document and section before embedding.</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GraphRAG</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Summarise linked entities to answer "What are the main themes?".</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Parent–child</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Match a small chunk, then give the model its whole section.</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Agentic RAG</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Let the model search again when evidence is missing, with a step limit.</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Evaluating RAG: retrieval and generation separately</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281095"/>
                <a:gridCol w="4976934"/>
                <a:gridCol w="3836387"/>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Aspect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Question it answers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Example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Retrieval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Did useful evidence reach the prompt?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Penalty section in the top 3?</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Faithfulness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Is each claim in the sources?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"10% per day" appears in the passage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Relevance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Does it answer this question?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Answers the penalty, not the deadline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Correctness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Does it match known facts?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Compare with the reference answer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Citations / abstention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Supported, or declines when evidence is missing?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External examiner: "I don't know"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Needed evidence is ranked 12th; only three passages reach the prompt. Improve first?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Retrieval, chunking or re-ranking</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size of the generator model</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generation temperature</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 “be accurate” instruction</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Agentic AI</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changes when the model can act?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Components of an LLM agent</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LLM</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Proposes the next step: "search the handbook for the weights".</a:t>
            </a:r>
            <a:endParaRPr lang="en-US" sz="22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Tools</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Named functions with typed arguments: search_handbook, calculator.</a:t>
            </a:r>
            <a:endParaRPr lang="en-US" sz="22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Memory</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Earlier messages and tool results kept for this task.</a:t>
            </a:r>
            <a:endParaRPr lang="en-US" sz="22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Planning</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Revises the steps after each result: search, then calculate.</a:t>
            </a:r>
            <a:endParaRPr lang="en-US" sz="22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Loop</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Repeats until it answers or reaches the step limit.</a:t>
            </a:r>
            <a:endParaRPr lang="en-US" sz="22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Oversight</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Code checks permissions, asks for approval and logs every call.</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agent proposes; code executes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 bounded loop alternates model decisions with tool observations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task + tool</a:t>
            </a:r>
            <a:endParaRPr lang="en-US" sz="1441" dirty="0"/>
          </a:p>
        </p:txBody>
      </p:sp>
      <p:sp>
        <p:nvSpPr>
          <p:cNvPr id="9" name="Text 7"/>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descriptions</a:t>
            </a:r>
            <a:endParaRPr lang="en-US" sz="1441" dirty="0"/>
          </a:p>
        </p:txBody>
      </p:sp>
      <p:sp>
        <p:nvSpPr>
          <p:cNvPr id="10" name="Shape 8"/>
          <p:cNvSpPr/>
          <p:nvPr/>
        </p:nvSpPr>
        <p:spPr>
          <a:xfrm>
            <a:off x="4163991" y="3838927"/>
            <a:ext cx="244024" cy="0"/>
          </a:xfrm>
          <a:prstGeom prst="line">
            <a:avLst/>
          </a:prstGeom>
          <a:noFill/>
          <a:ln w="22860">
            <a:solidFill>
              <a:srgbClr val="009E73"/>
            </a:solidFill>
            <a:prstDash val="solid"/>
            <a:tailEnd type="triangle"/>
          </a:ln>
        </p:spPr>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proposed text</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structured call</a:t>
            </a:r>
            <a:endParaRPr lang="en-US" sz="1441" dirty="0"/>
          </a:p>
        </p:txBody>
      </p:sp>
      <p:sp>
        <p:nvSpPr>
          <p:cNvPr id="14" name="Shape 12"/>
          <p:cNvSpPr/>
          <p:nvPr/>
        </p:nvSpPr>
        <p:spPr>
          <a:xfrm>
            <a:off x="7783680" y="3838927"/>
            <a:ext cx="244024" cy="0"/>
          </a:xfrm>
          <a:prstGeom prst="line">
            <a:avLst/>
          </a:prstGeom>
          <a:noFill/>
          <a:ln w="22860">
            <a:solidFill>
              <a:srgbClr val="009E73"/>
            </a:solidFill>
            <a:prstDash val="solid"/>
            <a:tailEnd type="triangle"/>
          </a:ln>
        </p:spPr>
      </p:sp>
      <p:sp>
        <p:nvSpPr>
          <p:cNvPr id="15" name="Text 13"/>
          <p:cNvSpPr txBox="1"/>
          <p:nvPr/>
        </p:nvSpPr>
        <p:spPr>
          <a:xfrm>
            <a:off x="710498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permitted</a:t>
            </a:r>
            <a:endParaRPr lang="en-US" sz="1441" dirty="0"/>
          </a:p>
        </p:txBody>
      </p:sp>
      <p:sp>
        <p:nvSpPr>
          <p:cNvPr id="16" name="Text 14"/>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arguments</a:t>
            </a:r>
            <a:endParaRPr lang="en-US" sz="1441" dirty="0"/>
          </a:p>
        </p:txBody>
      </p:sp>
      <p:sp>
        <p:nvSpPr>
          <p:cNvPr id="17" name="Shape 15"/>
          <p:cNvSpPr/>
          <p:nvPr/>
        </p:nvSpPr>
        <p:spPr>
          <a:xfrm>
            <a:off x="9593525" y="3838927"/>
            <a:ext cx="244024" cy="0"/>
          </a:xfrm>
          <a:prstGeom prst="line">
            <a:avLst/>
          </a:prstGeom>
          <a:noFill/>
          <a:ln w="22860">
            <a:solidFill>
              <a:srgbClr val="009E73"/>
            </a:solidFill>
            <a:prstDash val="solid"/>
            <a:tailEnd type="triangle"/>
          </a:ln>
        </p:spPr>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result or error</a:t>
            </a:r>
            <a:endParaRPr lang="en-US" sz="1441" dirty="0"/>
          </a:p>
        </p:txBody>
      </p:sp>
      <p:sp>
        <p:nvSpPr>
          <p:cNvPr id="19" name="Shape 17"/>
          <p:cNvSpPr/>
          <p:nvPr/>
        </p:nvSpPr>
        <p:spPr>
          <a:xfrm flipV="1">
            <a:off x="10620460" y="2191765"/>
            <a:ext cx="0" cy="747324"/>
          </a:xfrm>
          <a:prstGeom prst="line">
            <a:avLst/>
          </a:prstGeom>
          <a:noFill/>
          <a:ln w="22860">
            <a:solidFill>
              <a:srgbClr val="D55E00"/>
            </a:solidFill>
            <a:prstDash val="dash"/>
          </a:ln>
        </p:spPr>
      </p:sp>
      <p:sp>
        <p:nvSpPr>
          <p:cNvPr id="20" name="Shape 18"/>
          <p:cNvSpPr/>
          <p:nvPr/>
        </p:nvSpPr>
        <p:spPr>
          <a:xfrm flipH="1">
            <a:off x="3381080" y="2191765"/>
            <a:ext cx="7239380" cy="0"/>
          </a:xfrm>
          <a:prstGeom prst="line">
            <a:avLst/>
          </a:prstGeom>
          <a:noFill/>
          <a:ln w="22860">
            <a:solidFill>
              <a:srgbClr val="D55E00"/>
            </a:solidFill>
            <a:prstDash val="dash"/>
          </a:ln>
        </p:spPr>
      </p:sp>
      <p:sp>
        <p:nvSpPr>
          <p:cNvPr id="21" name="Shape 19"/>
          <p:cNvSpPr/>
          <p:nvPr/>
        </p:nvSpPr>
        <p:spPr>
          <a:xfrm>
            <a:off x="3381080" y="2191765"/>
            <a:ext cx="0" cy="747324"/>
          </a:xfrm>
          <a:prstGeom prst="line">
            <a:avLst/>
          </a:prstGeom>
          <a:noFill/>
          <a:ln w="22860">
            <a:solidFill>
              <a:srgbClr val="D55E00"/>
            </a:solidFill>
            <a:prstDash val="dash"/>
            <a:tailEnd type="triangle"/>
          </a:ln>
        </p:spPr>
      </p:sp>
      <p:sp>
        <p:nvSpPr>
          <p:cNvPr id="22" name="Text 20"/>
          <p:cNvSpPr txBox="1"/>
          <p:nvPr/>
        </p:nvSpPr>
        <p:spPr>
          <a:xfrm>
            <a:off x="4158936" y="1917238"/>
            <a:ext cx="5683668"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Append the observation before requesting the next model decision.</a:t>
            </a:r>
            <a:endParaRPr lang="en-US" sz="1441" dirty="0"/>
          </a:p>
        </p:txBody>
      </p:sp>
      <p:sp>
        <p:nvSpPr>
          <p:cNvPr id="23" name="Shape 21"/>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4" name="Text 22"/>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Task + history</a:t>
            </a:r>
            <a:endParaRPr lang="en-US" sz="1561" dirty="0"/>
          </a:p>
        </p:txBody>
      </p:sp>
      <p:sp>
        <p:nvSpPr>
          <p:cNvPr id="25" name="Text 23"/>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Task and earlier</a:t>
            </a:r>
            <a:endParaRPr lang="en-US" sz="1441" dirty="0"/>
          </a:p>
        </p:txBody>
      </p:sp>
      <p:sp>
        <p:nvSpPr>
          <p:cNvPr id="26" name="Text 24"/>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observations</a:t>
            </a:r>
            <a:endParaRPr lang="en-US" sz="1441" dirty="0"/>
          </a:p>
        </p:txBody>
      </p:sp>
      <p:sp>
        <p:nvSpPr>
          <p:cNvPr id="27" name="Text 25"/>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messages</a:t>
            </a:r>
            <a:endParaRPr lang="en-US" sz="1441" dirty="0"/>
          </a:p>
        </p:txBody>
      </p:sp>
      <p:sp>
        <p:nvSpPr>
          <p:cNvPr id="28" name="Shape 26"/>
          <p:cNvSpPr/>
          <p:nvPr/>
        </p:nvSpPr>
        <p:spPr>
          <a:xfrm>
            <a:off x="2598170" y="2939089"/>
            <a:ext cx="1565821" cy="1799677"/>
          </a:xfrm>
          <a:prstGeom prst="rect">
            <a:avLst/>
          </a:prstGeom>
          <a:solidFill>
            <a:srgbClr val="E5F7EF"/>
          </a:solidFill>
          <a:ln w="15240">
            <a:solidFill>
              <a:srgbClr val="009E73"/>
            </a:solidFill>
            <a:prstDash val="solid"/>
          </a:ln>
        </p:spPr>
      </p:sp>
      <p:sp>
        <p:nvSpPr>
          <p:cNvPr id="29" name="Text 27"/>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Model</a:t>
            </a:r>
            <a:endParaRPr lang="en-US" sz="1561" dirty="0"/>
          </a:p>
        </p:txBody>
      </p:sp>
      <p:sp>
        <p:nvSpPr>
          <p:cNvPr id="30" name="Text 28"/>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decision</a:t>
            </a:r>
            <a:endParaRPr lang="en-US" sz="1561" dirty="0"/>
          </a:p>
        </p:txBody>
      </p:sp>
      <p:sp>
        <p:nvSpPr>
          <p:cNvPr id="31" name="Text 29"/>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Propose call or</a:t>
            </a:r>
            <a:endParaRPr lang="en-US" sz="1441" dirty="0"/>
          </a:p>
        </p:txBody>
      </p:sp>
      <p:sp>
        <p:nvSpPr>
          <p:cNvPr id="32" name="Text 30"/>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final answer</a:t>
            </a:r>
            <a:endParaRPr lang="en-US" sz="1441" dirty="0"/>
          </a:p>
        </p:txBody>
      </p:sp>
      <p:sp>
        <p:nvSpPr>
          <p:cNvPr id="33" name="Text 31"/>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llm</a:t>
            </a:r>
            <a:endParaRPr lang="en-US" sz="1441" dirty="0"/>
          </a:p>
        </p:txBody>
      </p:sp>
      <p:sp>
        <p:nvSpPr>
          <p:cNvPr id="34" name="Shape 32"/>
          <p:cNvSpPr/>
          <p:nvPr/>
        </p:nvSpPr>
        <p:spPr>
          <a:xfrm>
            <a:off x="4408015" y="2939089"/>
            <a:ext cx="1565821" cy="1799677"/>
          </a:xfrm>
          <a:prstGeom prst="rect">
            <a:avLst/>
          </a:prstGeom>
          <a:solidFill>
            <a:srgbClr val="F2F4F5"/>
          </a:solidFill>
          <a:ln w="15240">
            <a:solidFill>
              <a:srgbClr val="626B73"/>
            </a:solidFill>
            <a:prstDash val="solid"/>
          </a:ln>
        </p:spPr>
      </p:sp>
      <p:sp>
        <p:nvSpPr>
          <p:cNvPr id="35" name="Text 33"/>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Parse</a:t>
            </a:r>
            <a:endParaRPr lang="en-US" sz="1561" dirty="0"/>
          </a:p>
        </p:txBody>
      </p:sp>
      <p:sp>
        <p:nvSpPr>
          <p:cNvPr id="36" name="Text 34"/>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proposal</a:t>
            </a:r>
            <a:endParaRPr lang="en-US" sz="1561" dirty="0"/>
          </a:p>
        </p:txBody>
      </p:sp>
      <p:sp>
        <p:nvSpPr>
          <p:cNvPr id="37" name="Text 35"/>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name and</a:t>
            </a:r>
            <a:endParaRPr lang="en-US" sz="1441" dirty="0"/>
          </a:p>
        </p:txBody>
      </p:sp>
      <p:sp>
        <p:nvSpPr>
          <p:cNvPr id="38" name="Text 36"/>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arguments</a:t>
            </a:r>
            <a:endParaRPr lang="en-US" sz="1441" dirty="0"/>
          </a:p>
        </p:txBody>
      </p:sp>
      <p:sp>
        <p:nvSpPr>
          <p:cNvPr id="39" name="Text 37"/>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parse_tool_calls</a:t>
            </a:r>
            <a:endParaRPr lang="en-US" sz="1441" dirty="0"/>
          </a:p>
        </p:txBody>
      </p:sp>
      <p:sp>
        <p:nvSpPr>
          <p:cNvPr id="40" name="Shape 38"/>
          <p:cNvSpPr/>
          <p:nvPr/>
        </p:nvSpPr>
        <p:spPr>
          <a:xfrm>
            <a:off x="6217860" y="2939089"/>
            <a:ext cx="1565821" cy="1799677"/>
          </a:xfrm>
          <a:prstGeom prst="rect">
            <a:avLst/>
          </a:prstGeom>
          <a:solidFill>
            <a:srgbClr val="F2F4F5"/>
          </a:solidFill>
          <a:ln w="15240">
            <a:solidFill>
              <a:srgbClr val="626B73"/>
            </a:solidFill>
            <a:prstDash val="solid"/>
          </a:ln>
        </p:spPr>
      </p:sp>
      <p:sp>
        <p:nvSpPr>
          <p:cNvPr id="41" name="Text 39"/>
          <p:cNvSpPr txBox="1"/>
          <p:nvPr/>
        </p:nvSpPr>
        <p:spPr>
          <a:xfrm>
            <a:off x="627886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call +</a:t>
            </a:r>
            <a:endParaRPr lang="en-US" sz="1561" dirty="0"/>
          </a:p>
        </p:txBody>
      </p:sp>
      <p:sp>
        <p:nvSpPr>
          <p:cNvPr id="42" name="Text 40"/>
          <p:cNvSpPr txBox="1"/>
          <p:nvPr/>
        </p:nvSpPr>
        <p:spPr>
          <a:xfrm>
            <a:off x="627886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gate</a:t>
            </a:r>
            <a:endParaRPr lang="en-US" sz="1561" dirty="0"/>
          </a:p>
        </p:txBody>
      </p:sp>
      <p:sp>
        <p:nvSpPr>
          <p:cNvPr id="43" name="Text 41"/>
          <p:cNvSpPr txBox="1"/>
          <p:nvPr/>
        </p:nvSpPr>
        <p:spPr>
          <a:xfrm>
            <a:off x="627886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Allowlist;</a:t>
            </a:r>
            <a:endParaRPr lang="en-US" sz="1441" dirty="0"/>
          </a:p>
        </p:txBody>
      </p:sp>
      <p:sp>
        <p:nvSpPr>
          <p:cNvPr id="44" name="Text 42"/>
          <p:cNvSpPr txBox="1"/>
          <p:nvPr/>
        </p:nvSpPr>
        <p:spPr>
          <a:xfrm>
            <a:off x="627886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simulated</a:t>
            </a:r>
            <a:endParaRPr lang="en-US" sz="1441" dirty="0"/>
          </a:p>
        </p:txBody>
      </p:sp>
      <p:sp>
        <p:nvSpPr>
          <p:cNvPr id="45" name="Text 43"/>
          <p:cNvSpPr txBox="1"/>
          <p:nvPr/>
        </p:nvSpPr>
        <p:spPr>
          <a:xfrm>
            <a:off x="627886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approval</a:t>
            </a:r>
            <a:endParaRPr lang="en-US" sz="1441" dirty="0"/>
          </a:p>
        </p:txBody>
      </p:sp>
      <p:sp>
        <p:nvSpPr>
          <p:cNvPr id="46" name="Text 44"/>
          <p:cNvSpPr txBox="1"/>
          <p:nvPr/>
        </p:nvSpPr>
        <p:spPr>
          <a:xfrm>
            <a:off x="624073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execute</a:t>
            </a:r>
            <a:endParaRPr lang="en-US" sz="1441" dirty="0"/>
          </a:p>
        </p:txBody>
      </p:sp>
      <p:sp>
        <p:nvSpPr>
          <p:cNvPr id="47" name="Shape 45"/>
          <p:cNvSpPr/>
          <p:nvPr/>
        </p:nvSpPr>
        <p:spPr>
          <a:xfrm>
            <a:off x="8027705" y="2939089"/>
            <a:ext cx="1565821" cy="1799677"/>
          </a:xfrm>
          <a:prstGeom prst="rect">
            <a:avLst/>
          </a:prstGeom>
          <a:solidFill>
            <a:srgbClr val="F2F4F5"/>
          </a:solidFill>
          <a:ln w="15240">
            <a:solidFill>
              <a:srgbClr val="626B73"/>
            </a:solidFill>
            <a:prstDash val="solid"/>
          </a:ln>
        </p:spPr>
      </p:sp>
      <p:sp>
        <p:nvSpPr>
          <p:cNvPr id="48" name="Text 46"/>
          <p:cNvSpPr txBox="1"/>
          <p:nvPr/>
        </p:nvSpPr>
        <p:spPr>
          <a:xfrm>
            <a:off x="808871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Run permitted</a:t>
            </a:r>
            <a:endParaRPr lang="en-US" sz="1561" dirty="0"/>
          </a:p>
        </p:txBody>
      </p:sp>
      <p:sp>
        <p:nvSpPr>
          <p:cNvPr id="49" name="Text 47"/>
          <p:cNvSpPr txBox="1"/>
          <p:nvPr/>
        </p:nvSpPr>
        <p:spPr>
          <a:xfrm>
            <a:off x="808871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tool</a:t>
            </a:r>
            <a:endParaRPr lang="en-US" sz="1561" dirty="0"/>
          </a:p>
        </p:txBody>
      </p:sp>
      <p:sp>
        <p:nvSpPr>
          <p:cNvPr id="50" name="Text 48"/>
          <p:cNvSpPr txBox="1"/>
          <p:nvPr/>
        </p:nvSpPr>
        <p:spPr>
          <a:xfrm>
            <a:off x="808871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Search,</a:t>
            </a:r>
            <a:endParaRPr lang="en-US" sz="1441" dirty="0"/>
          </a:p>
        </p:txBody>
      </p:sp>
      <p:sp>
        <p:nvSpPr>
          <p:cNvPr id="51" name="Text 49"/>
          <p:cNvSpPr txBox="1"/>
          <p:nvPr/>
        </p:nvSpPr>
        <p:spPr>
          <a:xfrm>
            <a:off x="808871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calculate, email</a:t>
            </a:r>
            <a:endParaRPr lang="en-US" sz="1441" dirty="0"/>
          </a:p>
        </p:txBody>
      </p:sp>
      <p:sp>
        <p:nvSpPr>
          <p:cNvPr id="52" name="Text 50"/>
          <p:cNvSpPr txBox="1"/>
          <p:nvPr/>
        </p:nvSpPr>
        <p:spPr>
          <a:xfrm>
            <a:off x="808871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stub</a:t>
            </a:r>
            <a:endParaRPr lang="en-US" sz="1441" dirty="0"/>
          </a:p>
        </p:txBody>
      </p:sp>
      <p:sp>
        <p:nvSpPr>
          <p:cNvPr id="53" name="Text 51"/>
          <p:cNvSpPr txBox="1"/>
          <p:nvPr/>
        </p:nvSpPr>
        <p:spPr>
          <a:xfrm>
            <a:off x="805058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TOOLS</a:t>
            </a:r>
            <a:endParaRPr lang="en-US" sz="1441" dirty="0"/>
          </a:p>
        </p:txBody>
      </p:sp>
      <p:sp>
        <p:nvSpPr>
          <p:cNvPr id="54" name="Shape 52"/>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5" name="Text 53"/>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Record</a:t>
            </a:r>
            <a:endParaRPr lang="en-US" sz="1561" dirty="0"/>
          </a:p>
        </p:txBody>
      </p:sp>
      <p:sp>
        <p:nvSpPr>
          <p:cNvPr id="56" name="Text 54"/>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observation</a:t>
            </a:r>
            <a:endParaRPr lang="en-US" sz="1561" dirty="0"/>
          </a:p>
        </p:txBody>
      </p:sp>
      <p:sp>
        <p:nvSpPr>
          <p:cNvPr id="57" name="Text 55"/>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Store result;</a:t>
            </a:r>
            <a:endParaRPr lang="en-US" sz="1441" dirty="0"/>
          </a:p>
        </p:txBody>
      </p:sp>
      <p:sp>
        <p:nvSpPr>
          <p:cNvPr id="58" name="Text 56"/>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bound the loop</a:t>
            </a:r>
            <a:endParaRPr lang="en-US" sz="1441" dirty="0"/>
          </a:p>
        </p:txBody>
      </p:sp>
      <p:sp>
        <p:nvSpPr>
          <p:cNvPr id="59" name="Text 57"/>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run_agent</a:t>
            </a:r>
            <a:endParaRPr lang="en-US" sz="1441" dirty="0"/>
          </a:p>
        </p:txBody>
      </p:sp>
      <p:sp>
        <p:nvSpPr>
          <p:cNvPr id="60" name="Shape 58"/>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61" name="Text 59"/>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62" name="Shape 60"/>
          <p:cNvSpPr/>
          <p:nvPr/>
        </p:nvSpPr>
        <p:spPr>
          <a:xfrm>
            <a:off x="2118929" y="5630979"/>
            <a:ext cx="198270" cy="198270"/>
          </a:xfrm>
          <a:prstGeom prst="rect">
            <a:avLst/>
          </a:prstGeom>
          <a:solidFill>
            <a:srgbClr val="E5F7EF"/>
          </a:solidFill>
          <a:ln w="15240">
            <a:solidFill>
              <a:srgbClr val="009E73"/>
            </a:solidFill>
            <a:prstDash val="solid"/>
          </a:ln>
        </p:spPr>
      </p:sp>
      <p:sp>
        <p:nvSpPr>
          <p:cNvPr id="63" name="Text 61"/>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4" name="Shape 62"/>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65" name="Text 63"/>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6" name="Shape 64"/>
          <p:cNvSpPr/>
          <p:nvPr/>
        </p:nvSpPr>
        <p:spPr>
          <a:xfrm>
            <a:off x="4179476" y="5630979"/>
            <a:ext cx="198270" cy="198270"/>
          </a:xfrm>
          <a:prstGeom prst="rect">
            <a:avLst/>
          </a:prstGeom>
          <a:solidFill>
            <a:srgbClr val="F2F4F5"/>
          </a:solidFill>
          <a:ln w="15240">
            <a:solidFill>
              <a:srgbClr val="626B73"/>
            </a:solidFill>
            <a:prstDash val="solid"/>
          </a:ln>
        </p:spPr>
      </p:sp>
      <p:sp>
        <p:nvSpPr>
          <p:cNvPr id="67" name="Text 65"/>
          <p:cNvSpPr txBox="1"/>
          <p:nvPr/>
        </p:nvSpPr>
        <p:spPr>
          <a:xfrm>
            <a:off x="4438751"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68" name="Shape 66"/>
          <p:cNvSpPr/>
          <p:nvPr/>
        </p:nvSpPr>
        <p:spPr>
          <a:xfrm>
            <a:off x="5741367" y="5730113"/>
            <a:ext cx="335533" cy="0"/>
          </a:xfrm>
          <a:prstGeom prst="line">
            <a:avLst/>
          </a:prstGeom>
          <a:noFill/>
          <a:ln w="22860">
            <a:solidFill>
              <a:srgbClr val="009E73"/>
            </a:solidFill>
            <a:prstDash val="solid"/>
            <a:tailEnd type="triangle"/>
          </a:ln>
        </p:spPr>
      </p:sp>
      <p:sp>
        <p:nvSpPr>
          <p:cNvPr id="69" name="Text 67"/>
          <p:cNvSpPr txBox="1"/>
          <p:nvPr/>
        </p:nvSpPr>
        <p:spPr>
          <a:xfrm>
            <a:off x="6137906"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70" name="Shape 68"/>
          <p:cNvSpPr/>
          <p:nvPr/>
        </p:nvSpPr>
        <p:spPr>
          <a:xfrm>
            <a:off x="7124752" y="5730113"/>
            <a:ext cx="335533" cy="0"/>
          </a:xfrm>
          <a:prstGeom prst="line">
            <a:avLst/>
          </a:prstGeom>
          <a:noFill/>
          <a:ln w="22860">
            <a:solidFill>
              <a:srgbClr val="D55E00"/>
            </a:solidFill>
            <a:prstDash val="dash"/>
            <a:tailEnd type="triangle"/>
          </a:ln>
        </p:spPr>
      </p:sp>
      <p:sp>
        <p:nvSpPr>
          <p:cNvPr id="71" name="Text 69"/>
          <p:cNvSpPr txBox="1"/>
          <p:nvPr/>
        </p:nvSpPr>
        <p:spPr>
          <a:xfrm>
            <a:off x="7521291"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72" name="Text 70"/>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does the loop execute one call before requesting the next model decision?</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agent loop (ReAct: reason, act, observe)</a:t>
            </a:r>
            <a:endParaRPr lang="en-US" sz="3200" dirty="0"/>
          </a:p>
        </p:txBody>
      </p:sp>
      <p:sp>
        <p:nvSpPr>
          <p:cNvPr id="6" name="Shape 4"/>
          <p:cNvSpPr/>
          <p:nvPr/>
        </p:nvSpPr>
        <p:spPr>
          <a:xfrm>
            <a:off x="7455554" y="3437913"/>
            <a:ext cx="0" cy="436523"/>
          </a:xfrm>
          <a:prstGeom prst="line">
            <a:avLst/>
          </a:prstGeom>
          <a:noFill/>
          <a:ln w="22860">
            <a:solidFill>
              <a:srgbClr val="EA580C"/>
            </a:solidFill>
            <a:prstDash val="solid"/>
          </a:ln>
        </p:spPr>
      </p:sp>
      <p:sp>
        <p:nvSpPr>
          <p:cNvPr id="7" name="Shape 5"/>
          <p:cNvSpPr/>
          <p:nvPr/>
        </p:nvSpPr>
        <p:spPr>
          <a:xfrm>
            <a:off x="7455554" y="3874435"/>
            <a:ext cx="1811803" cy="0"/>
          </a:xfrm>
          <a:prstGeom prst="line">
            <a:avLst/>
          </a:prstGeom>
          <a:noFill/>
          <a:ln w="22860">
            <a:solidFill>
              <a:srgbClr val="EA580C"/>
            </a:solidFill>
            <a:prstDash val="solid"/>
          </a:ln>
        </p:spPr>
      </p:sp>
      <p:sp>
        <p:nvSpPr>
          <p:cNvPr id="8" name="Shape 6"/>
          <p:cNvSpPr/>
          <p:nvPr/>
        </p:nvSpPr>
        <p:spPr>
          <a:xfrm flipH="1">
            <a:off x="2102498" y="4469693"/>
            <a:ext cx="6876617" cy="0"/>
          </a:xfrm>
          <a:prstGeom prst="line">
            <a:avLst/>
          </a:prstGeom>
          <a:noFill/>
          <a:ln w="22860">
            <a:solidFill>
              <a:srgbClr val="0F766E"/>
            </a:solidFill>
            <a:prstDash val="dash"/>
          </a:ln>
        </p:spPr>
      </p:sp>
      <p:sp>
        <p:nvSpPr>
          <p:cNvPr id="9" name="Shape 7"/>
          <p:cNvSpPr/>
          <p:nvPr/>
        </p:nvSpPr>
        <p:spPr>
          <a:xfrm>
            <a:off x="3255464" y="3041074"/>
            <a:ext cx="370596" cy="0"/>
          </a:xfrm>
          <a:prstGeom prst="line">
            <a:avLst/>
          </a:prstGeom>
          <a:noFill/>
          <a:ln w="22860">
            <a:solidFill>
              <a:srgbClr val="6B7280"/>
            </a:solidFill>
            <a:prstDash val="solid"/>
            <a:tailEnd type="triangle"/>
          </a:ln>
        </p:spPr>
      </p:sp>
      <p:sp>
        <p:nvSpPr>
          <p:cNvPr id="10" name="Shape 8"/>
          <p:cNvSpPr/>
          <p:nvPr/>
        </p:nvSpPr>
        <p:spPr>
          <a:xfrm>
            <a:off x="5931992" y="3041074"/>
            <a:ext cx="370596" cy="0"/>
          </a:xfrm>
          <a:prstGeom prst="line">
            <a:avLst/>
          </a:prstGeom>
          <a:noFill/>
          <a:ln w="22860">
            <a:solidFill>
              <a:srgbClr val="6B7280"/>
            </a:solidFill>
            <a:prstDash val="solid"/>
            <a:tailEnd type="triangle"/>
          </a:ln>
        </p:spPr>
      </p:sp>
      <p:sp>
        <p:nvSpPr>
          <p:cNvPr id="11" name="Shape 9"/>
          <p:cNvSpPr/>
          <p:nvPr/>
        </p:nvSpPr>
        <p:spPr>
          <a:xfrm>
            <a:off x="8608519" y="3041074"/>
            <a:ext cx="370596" cy="0"/>
          </a:xfrm>
          <a:prstGeom prst="line">
            <a:avLst/>
          </a:prstGeom>
          <a:noFill/>
          <a:ln w="22860">
            <a:solidFill>
              <a:srgbClr val="6B7280"/>
            </a:solidFill>
            <a:prstDash val="solid"/>
            <a:tailEnd type="triangle"/>
          </a:ln>
        </p:spPr>
      </p:sp>
      <p:sp>
        <p:nvSpPr>
          <p:cNvPr id="12" name="Shape 10"/>
          <p:cNvSpPr/>
          <p:nvPr/>
        </p:nvSpPr>
        <p:spPr>
          <a:xfrm>
            <a:off x="10132081" y="3437913"/>
            <a:ext cx="0" cy="634942"/>
          </a:xfrm>
          <a:prstGeom prst="line">
            <a:avLst/>
          </a:prstGeom>
          <a:noFill/>
          <a:ln w="22860">
            <a:solidFill>
              <a:srgbClr val="0F766E"/>
            </a:solidFill>
            <a:prstDash val="solid"/>
            <a:tailEnd type="triangle"/>
          </a:ln>
        </p:spPr>
      </p:sp>
      <p:sp>
        <p:nvSpPr>
          <p:cNvPr id="13" name="Shape 11"/>
          <p:cNvSpPr/>
          <p:nvPr/>
        </p:nvSpPr>
        <p:spPr>
          <a:xfrm>
            <a:off x="9267357" y="3874435"/>
            <a:ext cx="0" cy="198419"/>
          </a:xfrm>
          <a:prstGeom prst="line">
            <a:avLst/>
          </a:prstGeom>
          <a:noFill/>
          <a:ln w="22860">
            <a:solidFill>
              <a:srgbClr val="EA580C"/>
            </a:solidFill>
            <a:prstDash val="solid"/>
            <a:tailEnd type="triangle"/>
          </a:ln>
        </p:spPr>
      </p:sp>
      <p:sp>
        <p:nvSpPr>
          <p:cNvPr id="14" name="Shape 12"/>
          <p:cNvSpPr/>
          <p:nvPr/>
        </p:nvSpPr>
        <p:spPr>
          <a:xfrm flipV="1">
            <a:off x="2102498" y="3437913"/>
            <a:ext cx="0" cy="1031781"/>
          </a:xfrm>
          <a:prstGeom prst="line">
            <a:avLst/>
          </a:prstGeom>
          <a:noFill/>
          <a:ln w="22860">
            <a:solidFill>
              <a:srgbClr val="0F766E"/>
            </a:solidFill>
            <a:prstDash val="dash"/>
            <a:tailEnd type="triangle"/>
          </a:ln>
        </p:spPr>
      </p:sp>
      <p:sp>
        <p:nvSpPr>
          <p:cNvPr id="15" name="Shape 13"/>
          <p:cNvSpPr/>
          <p:nvPr/>
        </p:nvSpPr>
        <p:spPr>
          <a:xfrm>
            <a:off x="4779026" y="3437913"/>
            <a:ext cx="0" cy="158735"/>
          </a:xfrm>
          <a:prstGeom prst="line">
            <a:avLst/>
          </a:prstGeom>
          <a:noFill/>
          <a:ln w="22860">
            <a:solidFill>
              <a:srgbClr val="EA580C"/>
            </a:solidFill>
            <a:prstDash val="solid"/>
            <a:tailEnd type="triangle"/>
          </a:ln>
        </p:spPr>
      </p:sp>
      <p:sp>
        <p:nvSpPr>
          <p:cNvPr id="16" name="Shape 14"/>
          <p:cNvSpPr/>
          <p:nvPr/>
        </p:nvSpPr>
        <p:spPr>
          <a:xfrm>
            <a:off x="949532" y="2644235"/>
            <a:ext cx="2305932" cy="793677"/>
          </a:xfrm>
          <a:prstGeom prst="roundRect">
            <a:avLst>
              <a:gd name="adj" fmla="val 9217"/>
            </a:avLst>
          </a:prstGeom>
          <a:solidFill>
            <a:srgbClr val="E4F2FB"/>
          </a:solidFill>
          <a:ln w="15240">
            <a:solidFill>
              <a:srgbClr val="0072B2"/>
            </a:solidFill>
            <a:prstDash val="solid"/>
          </a:ln>
        </p:spPr>
      </p:sp>
      <p:sp>
        <p:nvSpPr>
          <p:cNvPr id="17" name="Shape 15"/>
          <p:cNvSpPr/>
          <p:nvPr/>
        </p:nvSpPr>
        <p:spPr>
          <a:xfrm>
            <a:off x="3626060" y="2644235"/>
            <a:ext cx="2305932" cy="793677"/>
          </a:xfrm>
          <a:prstGeom prst="rect">
            <a:avLst/>
          </a:prstGeom>
          <a:solidFill>
            <a:srgbClr val="E5F7EF"/>
          </a:solidFill>
          <a:ln w="15240">
            <a:solidFill>
              <a:srgbClr val="009E73"/>
            </a:solidFill>
            <a:prstDash val="solid"/>
          </a:ln>
        </p:spPr>
      </p:sp>
      <p:sp>
        <p:nvSpPr>
          <p:cNvPr id="18" name="Shape 16"/>
          <p:cNvSpPr/>
          <p:nvPr/>
        </p:nvSpPr>
        <p:spPr>
          <a:xfrm>
            <a:off x="6302588" y="2644235"/>
            <a:ext cx="2305932" cy="793677"/>
          </a:xfrm>
          <a:prstGeom prst="rect">
            <a:avLst/>
          </a:prstGeom>
          <a:solidFill>
            <a:srgbClr val="F2F4F5"/>
          </a:solidFill>
          <a:ln w="15240">
            <a:solidFill>
              <a:srgbClr val="626B73"/>
            </a:solidFill>
            <a:prstDash val="solid"/>
          </a:ln>
        </p:spPr>
      </p:sp>
      <p:sp>
        <p:nvSpPr>
          <p:cNvPr id="19" name="Shape 17"/>
          <p:cNvSpPr/>
          <p:nvPr/>
        </p:nvSpPr>
        <p:spPr>
          <a:xfrm>
            <a:off x="8979115" y="2644235"/>
            <a:ext cx="2305932" cy="793677"/>
          </a:xfrm>
          <a:prstGeom prst="rect">
            <a:avLst/>
          </a:prstGeom>
          <a:solidFill>
            <a:srgbClr val="F2F4F5"/>
          </a:solidFill>
          <a:ln w="15240">
            <a:solidFill>
              <a:srgbClr val="626B73"/>
            </a:solidFill>
            <a:prstDash val="solid"/>
          </a:ln>
        </p:spPr>
      </p:sp>
      <p:sp>
        <p:nvSpPr>
          <p:cNvPr id="20" name="Shape 18"/>
          <p:cNvSpPr/>
          <p:nvPr/>
        </p:nvSpPr>
        <p:spPr>
          <a:xfrm>
            <a:off x="8979115" y="4072855"/>
            <a:ext cx="2305932" cy="793677"/>
          </a:xfrm>
          <a:prstGeom prst="roundRect">
            <a:avLst>
              <a:gd name="adj" fmla="val 9217"/>
            </a:avLst>
          </a:prstGeom>
          <a:solidFill>
            <a:srgbClr val="F9EAF4"/>
          </a:solidFill>
          <a:ln w="15240">
            <a:solidFill>
              <a:srgbClr val="CC79A7"/>
            </a:solidFill>
            <a:prstDash val="solid"/>
          </a:ln>
        </p:spPr>
      </p:sp>
      <p:sp>
        <p:nvSpPr>
          <p:cNvPr id="21" name="Shape 19"/>
          <p:cNvSpPr/>
          <p:nvPr/>
        </p:nvSpPr>
        <p:spPr>
          <a:xfrm>
            <a:off x="3626060" y="3596648"/>
            <a:ext cx="2305932" cy="595258"/>
          </a:xfrm>
          <a:prstGeom prst="roundRect">
            <a:avLst>
              <a:gd name="adj" fmla="val 12289"/>
            </a:avLst>
          </a:prstGeom>
          <a:solidFill>
            <a:srgbClr val="F9EAF4"/>
          </a:solidFill>
          <a:ln w="15240">
            <a:solidFill>
              <a:srgbClr val="CC79A7"/>
            </a:solidFill>
            <a:prstDash val="solid"/>
          </a:ln>
        </p:spPr>
      </p:sp>
      <p:sp>
        <p:nvSpPr>
          <p:cNvPr id="22" name="Shape 20"/>
          <p:cNvSpPr/>
          <p:nvPr/>
        </p:nvSpPr>
        <p:spPr>
          <a:xfrm>
            <a:off x="908355" y="5580842"/>
            <a:ext cx="181180" cy="174609"/>
          </a:xfrm>
          <a:prstGeom prst="roundRect">
            <a:avLst>
              <a:gd name="adj" fmla="val 41895"/>
            </a:avLst>
          </a:prstGeom>
          <a:solidFill>
            <a:srgbClr val="E4F2FB"/>
          </a:solidFill>
          <a:ln w="15240">
            <a:solidFill>
              <a:srgbClr val="0072B2"/>
            </a:solidFill>
            <a:prstDash val="solid"/>
          </a:ln>
        </p:spPr>
      </p:sp>
      <p:sp>
        <p:nvSpPr>
          <p:cNvPr id="23" name="Shape 21"/>
          <p:cNvSpPr/>
          <p:nvPr/>
        </p:nvSpPr>
        <p:spPr>
          <a:xfrm>
            <a:off x="3049577" y="5580842"/>
            <a:ext cx="181180" cy="174609"/>
          </a:xfrm>
          <a:prstGeom prst="rect">
            <a:avLst/>
          </a:prstGeom>
          <a:solidFill>
            <a:srgbClr val="E5F7EF"/>
          </a:solidFill>
          <a:ln w="15240">
            <a:solidFill>
              <a:srgbClr val="009E73"/>
            </a:solidFill>
            <a:prstDash val="solid"/>
          </a:ln>
        </p:spPr>
      </p:sp>
      <p:sp>
        <p:nvSpPr>
          <p:cNvPr id="24" name="Shape 22"/>
          <p:cNvSpPr/>
          <p:nvPr/>
        </p:nvSpPr>
        <p:spPr>
          <a:xfrm>
            <a:off x="5190799" y="5580842"/>
            <a:ext cx="181180" cy="174609"/>
          </a:xfrm>
          <a:prstGeom prst="roundRect">
            <a:avLst>
              <a:gd name="adj" fmla="val 41895"/>
            </a:avLst>
          </a:prstGeom>
          <a:solidFill>
            <a:srgbClr val="F9EAF4"/>
          </a:solidFill>
          <a:ln w="15240">
            <a:solidFill>
              <a:srgbClr val="CC79A7"/>
            </a:solidFill>
            <a:prstDash val="solid"/>
          </a:ln>
        </p:spPr>
      </p:sp>
      <p:sp>
        <p:nvSpPr>
          <p:cNvPr id="25" name="Shape 23"/>
          <p:cNvSpPr/>
          <p:nvPr/>
        </p:nvSpPr>
        <p:spPr>
          <a:xfrm>
            <a:off x="7332021" y="5580842"/>
            <a:ext cx="181180" cy="174609"/>
          </a:xfrm>
          <a:prstGeom prst="rect">
            <a:avLst/>
          </a:prstGeom>
          <a:solidFill>
            <a:srgbClr val="F2F4F5"/>
          </a:solidFill>
          <a:ln w="15240">
            <a:solidFill>
              <a:srgbClr val="626B73"/>
            </a:solidFill>
            <a:prstDash val="solid"/>
          </a:ln>
        </p:spPr>
      </p:sp>
      <p:sp>
        <p:nvSpPr>
          <p:cNvPr id="26" name="Text 24"/>
          <p:cNvSpPr txBox="1"/>
          <p:nvPr/>
        </p:nvSpPr>
        <p:spPr>
          <a:xfrm>
            <a:off x="949532" y="1988280"/>
            <a:ext cx="5556553"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Propose, check, act, observe; stop at the limit</a:t>
            </a:r>
            <a:endParaRPr lang="en-US" sz="1867" dirty="0"/>
          </a:p>
        </p:txBody>
      </p:sp>
      <p:sp>
        <p:nvSpPr>
          <p:cNvPr id="27" name="Text 25"/>
          <p:cNvSpPr txBox="1"/>
          <p:nvPr/>
        </p:nvSpPr>
        <p:spPr>
          <a:xfrm>
            <a:off x="1316329" y="2917329"/>
            <a:ext cx="157233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Task + history</a:t>
            </a:r>
            <a:endParaRPr lang="en-US" sz="1680" dirty="0"/>
          </a:p>
        </p:txBody>
      </p:sp>
      <p:sp>
        <p:nvSpPr>
          <p:cNvPr id="28" name="Text 26"/>
          <p:cNvSpPr txBox="1"/>
          <p:nvPr/>
        </p:nvSpPr>
        <p:spPr>
          <a:xfrm>
            <a:off x="3887483" y="2793583"/>
            <a:ext cx="178308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Model proposes</a:t>
            </a:r>
            <a:endParaRPr lang="en-US" sz="1680" dirty="0"/>
          </a:p>
        </p:txBody>
      </p:sp>
      <p:sp>
        <p:nvSpPr>
          <p:cNvPr id="29" name="Text 27"/>
          <p:cNvSpPr txBox="1"/>
          <p:nvPr/>
        </p:nvSpPr>
        <p:spPr>
          <a:xfrm>
            <a:off x="3887483" y="3041074"/>
            <a:ext cx="178308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one tool call</a:t>
            </a:r>
            <a:endParaRPr lang="en-US" sz="1680" dirty="0"/>
          </a:p>
        </p:txBody>
      </p:sp>
      <p:sp>
        <p:nvSpPr>
          <p:cNvPr id="30" name="Text 28"/>
          <p:cNvSpPr txBox="1"/>
          <p:nvPr/>
        </p:nvSpPr>
        <p:spPr>
          <a:xfrm>
            <a:off x="6431518" y="2793583"/>
            <a:ext cx="204807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Code checks</a:t>
            </a:r>
            <a:endParaRPr lang="en-US" sz="1680" dirty="0"/>
          </a:p>
        </p:txBody>
      </p:sp>
      <p:sp>
        <p:nvSpPr>
          <p:cNvPr id="31" name="Text 29"/>
          <p:cNvSpPr txBox="1"/>
          <p:nvPr/>
        </p:nvSpPr>
        <p:spPr>
          <a:xfrm>
            <a:off x="6431518" y="3041074"/>
            <a:ext cx="204807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name + arguments</a:t>
            </a:r>
            <a:endParaRPr lang="en-US" sz="1680" dirty="0"/>
          </a:p>
        </p:txBody>
      </p:sp>
      <p:sp>
        <p:nvSpPr>
          <p:cNvPr id="32" name="Text 30"/>
          <p:cNvSpPr txBox="1"/>
          <p:nvPr/>
        </p:nvSpPr>
        <p:spPr>
          <a:xfrm>
            <a:off x="9161043" y="2793583"/>
            <a:ext cx="194207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Allowed tool</a:t>
            </a:r>
            <a:endParaRPr lang="en-US" sz="1680" dirty="0"/>
          </a:p>
        </p:txBody>
      </p:sp>
      <p:sp>
        <p:nvSpPr>
          <p:cNvPr id="33" name="Text 31"/>
          <p:cNvSpPr txBox="1"/>
          <p:nvPr/>
        </p:nvSpPr>
        <p:spPr>
          <a:xfrm>
            <a:off x="9161043" y="3041074"/>
            <a:ext cx="194207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search / calculate</a:t>
            </a:r>
            <a:endParaRPr lang="en-US" sz="1680" dirty="0"/>
          </a:p>
        </p:txBody>
      </p:sp>
      <p:sp>
        <p:nvSpPr>
          <p:cNvPr id="34" name="Text 32"/>
          <p:cNvSpPr txBox="1"/>
          <p:nvPr/>
        </p:nvSpPr>
        <p:spPr>
          <a:xfrm>
            <a:off x="9350949" y="4222203"/>
            <a:ext cx="156226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Observation</a:t>
            </a:r>
            <a:endParaRPr lang="en-US" sz="1680" dirty="0"/>
          </a:p>
        </p:txBody>
      </p:sp>
      <p:sp>
        <p:nvSpPr>
          <p:cNvPr id="35" name="Text 33"/>
          <p:cNvSpPr txBox="1"/>
          <p:nvPr/>
        </p:nvSpPr>
        <p:spPr>
          <a:xfrm>
            <a:off x="9350949" y="4469693"/>
            <a:ext cx="156226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result or error</a:t>
            </a:r>
            <a:endParaRPr lang="en-US" sz="1680" dirty="0"/>
          </a:p>
        </p:txBody>
      </p:sp>
      <p:sp>
        <p:nvSpPr>
          <p:cNvPr id="36" name="Text 34"/>
          <p:cNvSpPr txBox="1"/>
          <p:nvPr/>
        </p:nvSpPr>
        <p:spPr>
          <a:xfrm>
            <a:off x="7579086" y="3481959"/>
            <a:ext cx="832636" cy="233741"/>
          </a:xfrm>
          <a:prstGeom prst="rect">
            <a:avLst/>
          </a:prstGeom>
          <a:noFill/>
          <a:ln/>
        </p:spPr>
        <p:txBody>
          <a:bodyPr wrap="square" lIns="0" tIns="0" rIns="0" bIns="0" rtlCol="0" anchor="ctr"/>
          <a:lstStyle/>
          <a:p>
            <a:pPr algn="l" indent="0" marL="0">
              <a:lnSpc>
                <a:spcPct val="116000"/>
              </a:lnSpc>
              <a:buNone/>
            </a:pPr>
            <a:r>
              <a:rPr lang="en-US" sz="1587" dirty="0">
                <a:solidFill>
                  <a:srgbClr val="EA580C"/>
                </a:solidFill>
                <a:latin typeface="Arial" pitchFamily="34" charset="0"/>
                <a:ea typeface="Arial" pitchFamily="34" charset="-122"/>
                <a:cs typeface="Arial" pitchFamily="34" charset="-120"/>
              </a:rPr>
              <a:t>Blocked</a:t>
            </a:r>
            <a:endParaRPr lang="en-US" sz="1587" dirty="0"/>
          </a:p>
        </p:txBody>
      </p:sp>
      <p:sp>
        <p:nvSpPr>
          <p:cNvPr id="37" name="Text 35"/>
          <p:cNvSpPr txBox="1"/>
          <p:nvPr/>
        </p:nvSpPr>
        <p:spPr>
          <a:xfrm>
            <a:off x="949532" y="4870894"/>
            <a:ext cx="4984081" cy="233741"/>
          </a:xfrm>
          <a:prstGeom prst="rect">
            <a:avLst/>
          </a:prstGeom>
          <a:noFill/>
          <a:ln/>
        </p:spPr>
        <p:txBody>
          <a:bodyPr wrap="square" lIns="0" tIns="0" rIns="0" bIns="0" rtlCol="0" anchor="ctr"/>
          <a:lstStyle/>
          <a:p>
            <a:pPr algn="l" indent="0" marL="0">
              <a:lnSpc>
                <a:spcPct val="116000"/>
              </a:lnSpc>
              <a:buNone/>
            </a:pPr>
            <a:r>
              <a:rPr lang="en-US" sz="1587" dirty="0">
                <a:solidFill>
                  <a:srgbClr val="0F766E"/>
                </a:solidFill>
                <a:latin typeface="Arial" pitchFamily="34" charset="0"/>
                <a:ea typeface="Arial" pitchFamily="34" charset="-122"/>
                <a:cs typeface="Arial" pitchFamily="34" charset="-120"/>
              </a:rPr>
              <a:t>Repeat: append observation; next model call reads it</a:t>
            </a:r>
            <a:endParaRPr lang="en-US" sz="1587" dirty="0"/>
          </a:p>
        </p:txBody>
      </p:sp>
      <p:sp>
        <p:nvSpPr>
          <p:cNvPr id="38" name="Text 36"/>
          <p:cNvSpPr txBox="1"/>
          <p:nvPr/>
        </p:nvSpPr>
        <p:spPr>
          <a:xfrm>
            <a:off x="4157803" y="3674285"/>
            <a:ext cx="1242446"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Final answer</a:t>
            </a:r>
            <a:endParaRPr lang="en-US" sz="1493" dirty="0"/>
          </a:p>
        </p:txBody>
      </p:sp>
      <p:sp>
        <p:nvSpPr>
          <p:cNvPr id="39" name="Text 37"/>
          <p:cNvSpPr txBox="1"/>
          <p:nvPr/>
        </p:nvSpPr>
        <p:spPr>
          <a:xfrm>
            <a:off x="4157803" y="3894277"/>
            <a:ext cx="1242446"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(no tool call)</a:t>
            </a:r>
            <a:endParaRPr lang="en-US" sz="1493" dirty="0"/>
          </a:p>
        </p:txBody>
      </p:sp>
      <p:sp>
        <p:nvSpPr>
          <p:cNvPr id="40" name="Text 38"/>
          <p:cNvSpPr txBox="1"/>
          <p:nvPr/>
        </p:nvSpPr>
        <p:spPr>
          <a:xfrm>
            <a:off x="949532" y="5148681"/>
            <a:ext cx="6503333" cy="233741"/>
          </a:xfrm>
          <a:prstGeom prst="rect">
            <a:avLst/>
          </a:prstGeom>
          <a:noFill/>
          <a:ln/>
        </p:spPr>
        <p:txBody>
          <a:bodyPr wrap="square" lIns="0" tIns="0" rIns="0" bIns="0" rtlCol="0" anchor="ctr"/>
          <a:lstStyle/>
          <a:p>
            <a:pPr algn="l" indent="0" marL="0">
              <a:lnSpc>
                <a:spcPct val="116000"/>
              </a:lnSpc>
              <a:buNone/>
            </a:pPr>
            <a:r>
              <a:rPr lang="en-US" sz="1587" dirty="0">
                <a:solidFill>
                  <a:srgbClr val="6B7280"/>
                </a:solidFill>
                <a:latin typeface="Arial" pitchFamily="34" charset="0"/>
                <a:ea typeface="Arial" pitchFamily="34" charset="-122"/>
                <a:cs typeface="Arial" pitchFamily="34" charset="-120"/>
              </a:rPr>
              <a:t>Email and approval are simulated in the lab; no real message is sent.</a:t>
            </a:r>
            <a:endParaRPr lang="en-US" sz="1587" dirty="0"/>
          </a:p>
        </p:txBody>
      </p:sp>
      <p:sp>
        <p:nvSpPr>
          <p:cNvPr id="41" name="Text 39"/>
          <p:cNvSpPr txBox="1"/>
          <p:nvPr/>
        </p:nvSpPr>
        <p:spPr>
          <a:xfrm>
            <a:off x="1188361" y="5558150"/>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42" name="Text 40"/>
          <p:cNvSpPr txBox="1"/>
          <p:nvPr/>
        </p:nvSpPr>
        <p:spPr>
          <a:xfrm>
            <a:off x="3329583" y="5558150"/>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43" name="Text 41"/>
          <p:cNvSpPr txBox="1"/>
          <p:nvPr/>
        </p:nvSpPr>
        <p:spPr>
          <a:xfrm>
            <a:off x="5470805" y="5558150"/>
            <a:ext cx="65947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Output</a:t>
            </a:r>
            <a:endParaRPr lang="en-US" sz="1493" dirty="0"/>
          </a:p>
        </p:txBody>
      </p:sp>
      <p:sp>
        <p:nvSpPr>
          <p:cNvPr id="44" name="Text 42"/>
          <p:cNvSpPr txBox="1"/>
          <p:nvPr/>
        </p:nvSpPr>
        <p:spPr>
          <a:xfrm>
            <a:off x="7612027" y="5558150"/>
            <a:ext cx="1171784"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Human / tool</a:t>
            </a:r>
            <a:endParaRPr lang="en-US" sz="1493"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Who controls a tool call?</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Trace one tool request and the next observation</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formatted task</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proposed call</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permitted call</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result or error</a:t>
            </a:r>
            <a:endParaRPr lang="en-US" sz="1441" dirty="0"/>
          </a:p>
        </p:txBody>
      </p:sp>
      <p:sp>
        <p:nvSpPr>
          <p:cNvPr id="15" name="Shape 13"/>
          <p:cNvSpPr/>
          <p:nvPr/>
        </p:nvSpPr>
        <p:spPr>
          <a:xfrm flipV="1">
            <a:off x="10439475" y="2191765"/>
            <a:ext cx="0" cy="747324"/>
          </a:xfrm>
          <a:prstGeom prst="line">
            <a:avLst/>
          </a:prstGeom>
          <a:noFill/>
          <a:ln w="22860">
            <a:solidFill>
              <a:srgbClr val="D55E00"/>
            </a:solidFill>
            <a:prstDash val="dash"/>
          </a:ln>
        </p:spPr>
      </p:sp>
      <p:sp>
        <p:nvSpPr>
          <p:cNvPr id="16" name="Shape 14"/>
          <p:cNvSpPr/>
          <p:nvPr/>
        </p:nvSpPr>
        <p:spPr>
          <a:xfrm flipH="1">
            <a:off x="1752220" y="2191765"/>
            <a:ext cx="8687255" cy="0"/>
          </a:xfrm>
          <a:prstGeom prst="line">
            <a:avLst/>
          </a:prstGeom>
          <a:noFill/>
          <a:ln w="22860">
            <a:solidFill>
              <a:srgbClr val="D55E00"/>
            </a:solidFill>
            <a:prstDash val="dash"/>
          </a:ln>
        </p:spPr>
      </p:sp>
      <p:sp>
        <p:nvSpPr>
          <p:cNvPr id="17" name="Shape 15"/>
          <p:cNvSpPr/>
          <p:nvPr/>
        </p:nvSpPr>
        <p:spPr>
          <a:xfrm>
            <a:off x="1752220" y="2191765"/>
            <a:ext cx="0" cy="747324"/>
          </a:xfrm>
          <a:prstGeom prst="line">
            <a:avLst/>
          </a:prstGeom>
          <a:noFill/>
          <a:ln w="22860">
            <a:solidFill>
              <a:srgbClr val="D55E00"/>
            </a:solidFill>
            <a:prstDash val="dash"/>
            <a:tailEnd type="triangle"/>
          </a:ln>
        </p:spPr>
      </p:sp>
      <p:sp>
        <p:nvSpPr>
          <p:cNvPr id="18" name="Text 16"/>
          <p:cNvSpPr txBox="1"/>
          <p:nvPr/>
        </p:nvSpPr>
        <p:spPr>
          <a:xfrm>
            <a:off x="3459633" y="1917238"/>
            <a:ext cx="5272430"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Continue with the observation until an answer or the step limit.</a:t>
            </a:r>
            <a:endParaRPr lang="en-US" sz="1441" dirty="0"/>
          </a:p>
        </p:txBody>
      </p:sp>
      <p:sp>
        <p:nvSpPr>
          <p:cNvPr id="19" name="Shape 17"/>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20" name="Text 18"/>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Task + tool list</a:t>
            </a:r>
            <a:endParaRPr lang="en-US" sz="1561" dirty="0"/>
          </a:p>
        </p:txBody>
      </p:sp>
      <p:sp>
        <p:nvSpPr>
          <p:cNvPr id="21" name="Text 19"/>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Names, purposes</a:t>
            </a:r>
            <a:endParaRPr lang="en-US" sz="1441" dirty="0"/>
          </a:p>
        </p:txBody>
      </p:sp>
      <p:sp>
        <p:nvSpPr>
          <p:cNvPr id="22" name="Text 20"/>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fields</a:t>
            </a:r>
            <a:endParaRPr lang="en-US" sz="1441" dirty="0"/>
          </a:p>
        </p:txBody>
      </p:sp>
      <p:sp>
        <p:nvSpPr>
          <p:cNvPr id="23" name="Text 21"/>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messages</a:t>
            </a:r>
            <a:endParaRPr lang="en-US" sz="1441" dirty="0"/>
          </a:p>
        </p:txBody>
      </p:sp>
      <p:sp>
        <p:nvSpPr>
          <p:cNvPr id="24" name="Shape 22"/>
          <p:cNvSpPr/>
          <p:nvPr/>
        </p:nvSpPr>
        <p:spPr>
          <a:xfrm>
            <a:off x="2960139" y="2939089"/>
            <a:ext cx="1927790" cy="1799677"/>
          </a:xfrm>
          <a:prstGeom prst="rect">
            <a:avLst/>
          </a:prstGeom>
          <a:solidFill>
            <a:srgbClr val="E5F7EF"/>
          </a:solidFill>
          <a:ln w="15240">
            <a:solidFill>
              <a:srgbClr val="009E73"/>
            </a:solidFill>
            <a:prstDash val="solid"/>
          </a:ln>
        </p:spPr>
      </p:sp>
      <p:sp>
        <p:nvSpPr>
          <p:cNvPr id="25" name="Text 23"/>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Propose a call</a:t>
            </a:r>
            <a:endParaRPr lang="en-US" sz="1561" dirty="0"/>
          </a:p>
        </p:txBody>
      </p:sp>
      <p:sp>
        <p:nvSpPr>
          <p:cNvPr id="26" name="Text 24"/>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Model gives name</a:t>
            </a:r>
            <a:endParaRPr lang="en-US" sz="1441" dirty="0"/>
          </a:p>
        </p:txBody>
      </p:sp>
      <p:sp>
        <p:nvSpPr>
          <p:cNvPr id="27" name="Text 25"/>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arguments</a:t>
            </a:r>
            <a:endParaRPr lang="en-US" sz="1441" dirty="0"/>
          </a:p>
        </p:txBody>
      </p:sp>
      <p:sp>
        <p:nvSpPr>
          <p:cNvPr id="28" name="Text 26"/>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llm</a:t>
            </a:r>
            <a:endParaRPr lang="en-US" sz="1441" dirty="0"/>
          </a:p>
        </p:txBody>
      </p:sp>
      <p:sp>
        <p:nvSpPr>
          <p:cNvPr id="29" name="Shape 27"/>
          <p:cNvSpPr/>
          <p:nvPr/>
        </p:nvSpPr>
        <p:spPr>
          <a:xfrm>
            <a:off x="5131953" y="2939089"/>
            <a:ext cx="1927790" cy="1799677"/>
          </a:xfrm>
          <a:prstGeom prst="rect">
            <a:avLst/>
          </a:prstGeom>
          <a:solidFill>
            <a:srgbClr val="F2F4F5"/>
          </a:solidFill>
          <a:ln w="15240">
            <a:solidFill>
              <a:srgbClr val="626B73"/>
            </a:solidFill>
            <a:prstDash val="solid"/>
          </a:ln>
        </p:spPr>
      </p:sp>
      <p:sp>
        <p:nvSpPr>
          <p:cNvPr id="30" name="Text 28"/>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Parse + permit</a:t>
            </a:r>
            <a:endParaRPr lang="en-US" sz="1561" dirty="0"/>
          </a:p>
        </p:txBody>
      </p:sp>
      <p:sp>
        <p:nvSpPr>
          <p:cNvPr id="31" name="Text 29"/>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Basic checks and</a:t>
            </a:r>
            <a:endParaRPr lang="en-US" sz="1441" dirty="0"/>
          </a:p>
        </p:txBody>
      </p:sp>
      <p:sp>
        <p:nvSpPr>
          <p:cNvPr id="32" name="Text 30"/>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simulated gate</a:t>
            </a:r>
            <a:endParaRPr lang="en-US" sz="1441" dirty="0"/>
          </a:p>
        </p:txBody>
      </p:sp>
      <p:sp>
        <p:nvSpPr>
          <p:cNvPr id="33" name="Text 31"/>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execute</a:t>
            </a:r>
            <a:endParaRPr lang="en-US" sz="1441" dirty="0"/>
          </a:p>
        </p:txBody>
      </p:sp>
      <p:sp>
        <p:nvSpPr>
          <p:cNvPr id="34" name="Shape 32"/>
          <p:cNvSpPr/>
          <p:nvPr/>
        </p:nvSpPr>
        <p:spPr>
          <a:xfrm>
            <a:off x="7303767" y="2939089"/>
            <a:ext cx="1927790" cy="1799677"/>
          </a:xfrm>
          <a:prstGeom prst="rect">
            <a:avLst/>
          </a:prstGeom>
          <a:solidFill>
            <a:srgbClr val="F2F4F5"/>
          </a:solidFill>
          <a:ln w="15240">
            <a:solidFill>
              <a:srgbClr val="626B73"/>
            </a:solidFill>
            <a:prstDash val="solid"/>
          </a:ln>
        </p:spPr>
      </p:sp>
      <p:sp>
        <p:nvSpPr>
          <p:cNvPr id="35" name="Text 33"/>
          <p:cNvSpPr txBox="1"/>
          <p:nvPr/>
        </p:nvSpPr>
        <p:spPr>
          <a:xfrm>
            <a:off x="7364773"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Run approved</a:t>
            </a:r>
            <a:endParaRPr lang="en-US" sz="1561" dirty="0"/>
          </a:p>
        </p:txBody>
      </p:sp>
      <p:sp>
        <p:nvSpPr>
          <p:cNvPr id="36" name="Text 34"/>
          <p:cNvSpPr txBox="1"/>
          <p:nvPr/>
        </p:nvSpPr>
        <p:spPr>
          <a:xfrm>
            <a:off x="7364773"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tool</a:t>
            </a:r>
            <a:endParaRPr lang="en-US" sz="1561" dirty="0"/>
          </a:p>
        </p:txBody>
      </p:sp>
      <p:sp>
        <p:nvSpPr>
          <p:cNvPr id="37" name="Text 35"/>
          <p:cNvSpPr txBox="1"/>
          <p:nvPr/>
        </p:nvSpPr>
        <p:spPr>
          <a:xfrm>
            <a:off x="7364773"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Search, calculator or</a:t>
            </a:r>
            <a:endParaRPr lang="en-US" sz="1441" dirty="0"/>
          </a:p>
        </p:txBody>
      </p:sp>
      <p:sp>
        <p:nvSpPr>
          <p:cNvPr id="38" name="Text 36"/>
          <p:cNvSpPr txBox="1"/>
          <p:nvPr/>
        </p:nvSpPr>
        <p:spPr>
          <a:xfrm>
            <a:off x="7364773"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stub</a:t>
            </a:r>
            <a:endParaRPr lang="en-US" sz="1441" dirty="0"/>
          </a:p>
        </p:txBody>
      </p:sp>
      <p:sp>
        <p:nvSpPr>
          <p:cNvPr id="39" name="Text 37"/>
          <p:cNvSpPr txBox="1"/>
          <p:nvPr/>
        </p:nvSpPr>
        <p:spPr>
          <a:xfrm>
            <a:off x="7326644"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TOOLS</a:t>
            </a:r>
            <a:endParaRPr lang="en-US" sz="1441" dirty="0"/>
          </a:p>
        </p:txBody>
      </p:sp>
      <p:sp>
        <p:nvSpPr>
          <p:cNvPr id="40" name="Shape 38"/>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41" name="Text 39"/>
          <p:cNvSpPr txBox="1"/>
          <p:nvPr/>
        </p:nvSpPr>
        <p:spPr>
          <a:xfrm>
            <a:off x="9536586"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Return</a:t>
            </a:r>
            <a:endParaRPr lang="en-US" sz="1561" dirty="0"/>
          </a:p>
        </p:txBody>
      </p:sp>
      <p:sp>
        <p:nvSpPr>
          <p:cNvPr id="42" name="Text 40"/>
          <p:cNvSpPr txBox="1"/>
          <p:nvPr/>
        </p:nvSpPr>
        <p:spPr>
          <a:xfrm>
            <a:off x="9536586"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observation</a:t>
            </a:r>
            <a:endParaRPr lang="en-US" sz="1561" dirty="0"/>
          </a:p>
        </p:txBody>
      </p:sp>
      <p:sp>
        <p:nvSpPr>
          <p:cNvPr id="43" name="Text 41"/>
          <p:cNvSpPr txBox="1"/>
          <p:nvPr/>
        </p:nvSpPr>
        <p:spPr>
          <a:xfrm>
            <a:off x="9536586"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Result informs next</a:t>
            </a:r>
            <a:endParaRPr lang="en-US" sz="1441" dirty="0"/>
          </a:p>
        </p:txBody>
      </p:sp>
      <p:sp>
        <p:nvSpPr>
          <p:cNvPr id="44" name="Text 42"/>
          <p:cNvSpPr txBox="1"/>
          <p:nvPr/>
        </p:nvSpPr>
        <p:spPr>
          <a:xfrm>
            <a:off x="9536586"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decision</a:t>
            </a:r>
            <a:endParaRPr lang="en-US" sz="1441" dirty="0"/>
          </a:p>
        </p:txBody>
      </p:sp>
      <p:sp>
        <p:nvSpPr>
          <p:cNvPr id="45" name="Text 43"/>
          <p:cNvSpPr txBox="1"/>
          <p:nvPr/>
        </p:nvSpPr>
        <p:spPr>
          <a:xfrm>
            <a:off x="9498458"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run_agent</a:t>
            </a:r>
            <a:endParaRPr lang="en-US" sz="1441" dirty="0"/>
          </a:p>
        </p:txBody>
      </p:sp>
      <p:sp>
        <p:nvSpPr>
          <p:cNvPr id="46" name="Shape 44"/>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7" name="Text 45"/>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8" name="Shape 46"/>
          <p:cNvSpPr/>
          <p:nvPr/>
        </p:nvSpPr>
        <p:spPr>
          <a:xfrm>
            <a:off x="2118929" y="5630979"/>
            <a:ext cx="198270" cy="198270"/>
          </a:xfrm>
          <a:prstGeom prst="rect">
            <a:avLst/>
          </a:prstGeom>
          <a:solidFill>
            <a:srgbClr val="E5F7EF"/>
          </a:solidFill>
          <a:ln w="15240">
            <a:solidFill>
              <a:srgbClr val="009E73"/>
            </a:solidFill>
            <a:prstDash val="solid"/>
          </a:ln>
        </p:spPr>
      </p:sp>
      <p:sp>
        <p:nvSpPr>
          <p:cNvPr id="49" name="Text 47"/>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0" name="Shape 48"/>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1" name="Text 49"/>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2" name="Shape 50"/>
          <p:cNvSpPr/>
          <p:nvPr/>
        </p:nvSpPr>
        <p:spPr>
          <a:xfrm>
            <a:off x="4179476" y="5630979"/>
            <a:ext cx="198270" cy="198270"/>
          </a:xfrm>
          <a:prstGeom prst="rect">
            <a:avLst/>
          </a:prstGeom>
          <a:solidFill>
            <a:srgbClr val="F2F4F5"/>
          </a:solidFill>
          <a:ln w="15240">
            <a:solidFill>
              <a:srgbClr val="626B73"/>
            </a:solidFill>
            <a:prstDash val="solid"/>
          </a:ln>
        </p:spPr>
      </p:sp>
      <p:sp>
        <p:nvSpPr>
          <p:cNvPr id="53" name="Text 51"/>
          <p:cNvSpPr txBox="1"/>
          <p:nvPr/>
        </p:nvSpPr>
        <p:spPr>
          <a:xfrm>
            <a:off x="4438751"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54" name="Shape 52"/>
          <p:cNvSpPr/>
          <p:nvPr/>
        </p:nvSpPr>
        <p:spPr>
          <a:xfrm>
            <a:off x="5741367" y="5730113"/>
            <a:ext cx="335533" cy="0"/>
          </a:xfrm>
          <a:prstGeom prst="line">
            <a:avLst/>
          </a:prstGeom>
          <a:noFill/>
          <a:ln w="22860">
            <a:solidFill>
              <a:srgbClr val="009E73"/>
            </a:solidFill>
            <a:prstDash val="solid"/>
            <a:tailEnd type="triangle"/>
          </a:ln>
        </p:spPr>
      </p:sp>
      <p:sp>
        <p:nvSpPr>
          <p:cNvPr id="55" name="Text 53"/>
          <p:cNvSpPr txBox="1"/>
          <p:nvPr/>
        </p:nvSpPr>
        <p:spPr>
          <a:xfrm>
            <a:off x="6137906"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6" name="Shape 54"/>
          <p:cNvSpPr/>
          <p:nvPr/>
        </p:nvSpPr>
        <p:spPr>
          <a:xfrm>
            <a:off x="7124752" y="5730113"/>
            <a:ext cx="335533" cy="0"/>
          </a:xfrm>
          <a:prstGeom prst="line">
            <a:avLst/>
          </a:prstGeom>
          <a:noFill/>
          <a:ln w="22860">
            <a:solidFill>
              <a:srgbClr val="D55E00"/>
            </a:solidFill>
            <a:prstDash val="dash"/>
            <a:tailEnd type="triangle"/>
          </a:ln>
        </p:spPr>
      </p:sp>
      <p:sp>
        <p:nvSpPr>
          <p:cNvPr id="57" name="Text 55"/>
          <p:cNvSpPr txBox="1"/>
          <p:nvPr/>
        </p:nvSpPr>
        <p:spPr>
          <a:xfrm>
            <a:off x="7521291"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58" name="Text 56"/>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Who executes the tool: the language model or the application code?</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200" b="1" dirty="0">
                <a:solidFill>
                  <a:srgbClr val="1E1B4B"/>
                </a:solidFill>
                <a:latin typeface="Calibri" pitchFamily="34" charset="0"/>
                <a:ea typeface="Calibri" pitchFamily="34" charset="-122"/>
                <a:cs typeface="Calibri" pitchFamily="34" charset="-120"/>
              </a:rPr>
              <a:t>Function calling: tools are described, the model proposes, your code executes</a:t>
            </a:r>
            <a:endParaRPr lang="en-US" sz="2200" dirty="0"/>
          </a:p>
        </p:txBody>
      </p:sp>
      <p:sp>
        <p:nvSpPr>
          <p:cNvPr id="6" name="Shape 4"/>
          <p:cNvSpPr/>
          <p:nvPr/>
        </p:nvSpPr>
        <p:spPr>
          <a:xfrm>
            <a:off x="548640" y="1481328"/>
            <a:ext cx="11094415" cy="3517392"/>
          </a:xfrm>
          <a:prstGeom prst="roundRect">
            <a:avLst>
              <a:gd name="adj" fmla="val 2600"/>
            </a:avLst>
          </a:prstGeom>
          <a:solidFill>
            <a:srgbClr val="1E1E2E"/>
          </a:solidFill>
          <a:ln w="12700">
            <a:solidFill>
              <a:srgbClr val="1E1E2E"/>
            </a:solidFill>
            <a:prstDash val="solid"/>
          </a:ln>
        </p:spPr>
      </p:sp>
      <p:sp>
        <p:nvSpPr>
          <p:cNvPr id="7" name="Text 5"/>
          <p:cNvSpPr txBox="1"/>
          <p:nvPr/>
        </p:nvSpPr>
        <p:spPr>
          <a:xfrm>
            <a:off x="685800" y="1591056"/>
            <a:ext cx="10820095" cy="3297936"/>
          </a:xfrm>
          <a:prstGeom prst="rect">
            <a:avLst/>
          </a:prstGeom>
          <a:noFill/>
          <a:ln/>
        </p:spPr>
        <p:txBody>
          <a:bodyPr wrap="square" lIns="76200" tIns="76200" rIns="76200" bIns="76200" rtlCol="0" anchor="t"/>
          <a:lstStyle/>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for step in range(MAX_STEPS):</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reply = llm(messages, tools=list(TOOLS.values()))</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calls = parse_tool_calls(reply)[:1]  # one call per turn</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if not calls:</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return reply</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call = calls[0]</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result = execute(call)              # allowlist and simulated gate</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messages.append({"role": "tool", "name": call["name"],</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"content": str(result)})</a:t>
            </a:r>
            <a:endParaRPr lang="en-US" sz="2000" dirty="0"/>
          </a:p>
        </p:txBody>
      </p:sp>
      <p:sp>
        <p:nvSpPr>
          <p:cNvPr id="8" name="Text 6"/>
          <p:cNvSpPr txBox="1"/>
          <p:nvPr/>
        </p:nvSpPr>
        <p:spPr>
          <a:xfrm>
            <a:off x="548640" y="5135880"/>
            <a:ext cx="11094415" cy="1173480"/>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Describe tool purpose and argument fields.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Model proposes; code controls execution.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Complete argument validation is still needed in a real application.</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a real agent trajectory from the lab</a:t>
            </a:r>
            <a:endParaRPr lang="en-US" sz="3200" dirty="0"/>
          </a:p>
        </p:txBody>
      </p:sp>
      <p:pic>
        <p:nvPicPr>
          <p:cNvPr id="6" name="Image 0" descr="C:\Users\sudee\Downloads\Generative_AI_2027_Teaching_Pack\AI2027_Project\build\figures\week_12\agent_trace.png">    </p:cNvPr>
          <p:cNvPicPr>
            <a:picLocks noChangeAspect="1"/>
          </p:cNvPicPr>
          <p:nvPr/>
        </p:nvPicPr>
        <p:blipFill>
          <a:blip r:embed="rId1"/>
          <a:stretch>
            <a:fillRect/>
          </a:stretch>
        </p:blipFill>
        <p:spPr>
          <a:xfrm>
            <a:off x="548640" y="1534748"/>
            <a:ext cx="11094415" cy="4051393"/>
          </a:xfrm>
          <a:prstGeom prst="rect">
            <a:avLst/>
          </a:prstGeom>
        </p:spPr>
      </p:pic>
      <p:sp>
        <p:nvSpPr>
          <p:cNvPr id="7" name="Text 4"/>
          <p:cNvSpPr txBox="1"/>
          <p:nvPr/>
        </p:nvSpPr>
        <p:spPr>
          <a:xfrm>
            <a:off x="548640" y="5769022"/>
            <a:ext cx="11094415" cy="540338"/>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Qwen2.5-1.5B-Instruct called search_handbook → calculator; final answer 68.8 (correct).</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Workflows vs. agents</a:t>
            </a:r>
            <a:endParaRPr lang="en-US" sz="3200" dirty="0"/>
          </a:p>
        </p:txBody>
      </p:sp>
      <p:sp>
        <p:nvSpPr>
          <p:cNvPr id="6" name="Shape 4"/>
          <p:cNvSpPr/>
          <p:nvPr/>
        </p:nvSpPr>
        <p:spPr>
          <a:xfrm>
            <a:off x="949532" y="2396804"/>
            <a:ext cx="1869452" cy="650815"/>
          </a:xfrm>
          <a:prstGeom prst="rect">
            <a:avLst/>
          </a:prstGeom>
          <a:solidFill>
            <a:srgbClr val="F2F4F5"/>
          </a:solidFill>
          <a:ln w="15240">
            <a:solidFill>
              <a:srgbClr val="626B73"/>
            </a:solidFill>
            <a:prstDash val="solid"/>
          </a:ln>
        </p:spPr>
      </p:sp>
      <p:sp>
        <p:nvSpPr>
          <p:cNvPr id="7" name="Shape 5"/>
          <p:cNvSpPr/>
          <p:nvPr/>
        </p:nvSpPr>
        <p:spPr>
          <a:xfrm>
            <a:off x="3090755" y="2396804"/>
            <a:ext cx="1869452" cy="650815"/>
          </a:xfrm>
          <a:prstGeom prst="rect">
            <a:avLst/>
          </a:prstGeom>
          <a:solidFill>
            <a:srgbClr val="F2F4F5"/>
          </a:solidFill>
          <a:ln w="15240">
            <a:solidFill>
              <a:srgbClr val="626B73"/>
            </a:solidFill>
            <a:prstDash val="solid"/>
          </a:ln>
        </p:spPr>
      </p:sp>
      <p:sp>
        <p:nvSpPr>
          <p:cNvPr id="8" name="Shape 6"/>
          <p:cNvSpPr/>
          <p:nvPr/>
        </p:nvSpPr>
        <p:spPr>
          <a:xfrm>
            <a:off x="5231977" y="2396804"/>
            <a:ext cx="1869452" cy="650815"/>
          </a:xfrm>
          <a:prstGeom prst="rect">
            <a:avLst/>
          </a:prstGeom>
          <a:solidFill>
            <a:srgbClr val="F2F4F5"/>
          </a:solidFill>
          <a:ln w="15240">
            <a:solidFill>
              <a:srgbClr val="626B73"/>
            </a:solidFill>
            <a:prstDash val="solid"/>
          </a:ln>
        </p:spPr>
      </p:sp>
      <p:sp>
        <p:nvSpPr>
          <p:cNvPr id="9" name="Shape 7"/>
          <p:cNvSpPr/>
          <p:nvPr/>
        </p:nvSpPr>
        <p:spPr>
          <a:xfrm>
            <a:off x="7373199" y="2396804"/>
            <a:ext cx="1869452" cy="650815"/>
          </a:xfrm>
          <a:prstGeom prst="rect">
            <a:avLst/>
          </a:prstGeom>
          <a:solidFill>
            <a:srgbClr val="F2F4F5"/>
          </a:solidFill>
          <a:ln w="15240">
            <a:solidFill>
              <a:srgbClr val="626B73"/>
            </a:solidFill>
            <a:prstDash val="solid"/>
          </a:ln>
        </p:spPr>
      </p:sp>
      <p:sp>
        <p:nvSpPr>
          <p:cNvPr id="10" name="Shape 8"/>
          <p:cNvSpPr/>
          <p:nvPr/>
        </p:nvSpPr>
        <p:spPr>
          <a:xfrm>
            <a:off x="9514421" y="2396804"/>
            <a:ext cx="1869452" cy="650815"/>
          </a:xfrm>
          <a:prstGeom prst="rect">
            <a:avLst/>
          </a:prstGeom>
          <a:solidFill>
            <a:srgbClr val="F2F4F5"/>
          </a:solidFill>
          <a:ln w="15240">
            <a:solidFill>
              <a:srgbClr val="626B73"/>
            </a:solidFill>
            <a:prstDash val="solid"/>
          </a:ln>
        </p:spPr>
      </p:sp>
      <p:sp>
        <p:nvSpPr>
          <p:cNvPr id="11" name="Text 9"/>
          <p:cNvSpPr txBox="1"/>
          <p:nvPr/>
        </p:nvSpPr>
        <p:spPr>
          <a:xfrm>
            <a:off x="1300948" y="2584717"/>
            <a:ext cx="1166620"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Chaining</a:t>
            </a:r>
            <a:endParaRPr lang="en-US" sz="1867" dirty="0"/>
          </a:p>
        </p:txBody>
      </p:sp>
      <p:sp>
        <p:nvSpPr>
          <p:cNvPr id="12" name="Text 10"/>
          <p:cNvSpPr txBox="1"/>
          <p:nvPr/>
        </p:nvSpPr>
        <p:spPr>
          <a:xfrm>
            <a:off x="1101377" y="3036108"/>
            <a:ext cx="1565763" cy="233741"/>
          </a:xfrm>
          <a:prstGeom prst="rect">
            <a:avLst/>
          </a:prstGeom>
          <a:noFill/>
          <a:ln/>
        </p:spPr>
        <p:txBody>
          <a:bodyPr wrap="square" lIns="0" tIns="0" rIns="0" bIns="0" rtlCol="0" anchor="ctr"/>
          <a:lstStyle/>
          <a:p>
            <a:pPr algn="ctr" indent="0" marL="0">
              <a:lnSpc>
                <a:spcPct val="116000"/>
              </a:lnSpc>
              <a:buNone/>
            </a:pPr>
            <a:r>
              <a:rPr lang="en-US" sz="1587" dirty="0">
                <a:solidFill>
                  <a:srgbClr val="1F2937"/>
                </a:solidFill>
                <a:latin typeface="Arial" pitchFamily="34" charset="0"/>
                <a:ea typeface="Arial" pitchFamily="34" charset="-122"/>
                <a:cs typeface="Arial" pitchFamily="34" charset="-120"/>
              </a:rPr>
              <a:t>Fixed sequence</a:t>
            </a:r>
            <a:endParaRPr lang="en-US" sz="1587" dirty="0"/>
          </a:p>
        </p:txBody>
      </p:sp>
      <p:sp>
        <p:nvSpPr>
          <p:cNvPr id="13" name="Text 11"/>
          <p:cNvSpPr txBox="1"/>
          <p:nvPr/>
        </p:nvSpPr>
        <p:spPr>
          <a:xfrm>
            <a:off x="3508417" y="2584717"/>
            <a:ext cx="1034128"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Routing</a:t>
            </a:r>
            <a:endParaRPr lang="en-US" sz="1867" dirty="0"/>
          </a:p>
        </p:txBody>
      </p:sp>
      <p:sp>
        <p:nvSpPr>
          <p:cNvPr id="14" name="Text 12"/>
          <p:cNvSpPr txBox="1"/>
          <p:nvPr/>
        </p:nvSpPr>
        <p:spPr>
          <a:xfrm>
            <a:off x="3247015" y="3036108"/>
            <a:ext cx="1556930" cy="233741"/>
          </a:xfrm>
          <a:prstGeom prst="rect">
            <a:avLst/>
          </a:prstGeom>
          <a:noFill/>
          <a:ln/>
        </p:spPr>
        <p:txBody>
          <a:bodyPr wrap="square" lIns="0" tIns="0" rIns="0" bIns="0" rtlCol="0" anchor="ctr"/>
          <a:lstStyle/>
          <a:p>
            <a:pPr algn="ctr" indent="0" marL="0">
              <a:lnSpc>
                <a:spcPct val="116000"/>
              </a:lnSpc>
              <a:buNone/>
            </a:pPr>
            <a:r>
              <a:rPr lang="en-US" sz="1587" dirty="0">
                <a:solidFill>
                  <a:srgbClr val="1F2937"/>
                </a:solidFill>
                <a:latin typeface="Arial" pitchFamily="34" charset="0"/>
                <a:ea typeface="Arial" pitchFamily="34" charset="-122"/>
                <a:cs typeface="Arial" pitchFamily="34" charset="-120"/>
              </a:rPr>
              <a:t>Choose handler</a:t>
            </a:r>
            <a:endParaRPr lang="en-US" sz="1587" dirty="0"/>
          </a:p>
        </p:txBody>
      </p:sp>
      <p:sp>
        <p:nvSpPr>
          <p:cNvPr id="15" name="Text 13"/>
          <p:cNvSpPr txBox="1"/>
          <p:nvPr/>
        </p:nvSpPr>
        <p:spPr>
          <a:xfrm>
            <a:off x="5662888" y="2584717"/>
            <a:ext cx="1007629"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Parallel</a:t>
            </a:r>
            <a:endParaRPr lang="en-US" sz="1867" dirty="0"/>
          </a:p>
        </p:txBody>
      </p:sp>
      <p:sp>
        <p:nvSpPr>
          <p:cNvPr id="16" name="Text 14"/>
          <p:cNvSpPr txBox="1"/>
          <p:nvPr/>
        </p:nvSpPr>
        <p:spPr>
          <a:xfrm>
            <a:off x="5357322" y="3036108"/>
            <a:ext cx="1618761" cy="233741"/>
          </a:xfrm>
          <a:prstGeom prst="rect">
            <a:avLst/>
          </a:prstGeom>
          <a:noFill/>
          <a:ln/>
        </p:spPr>
        <p:txBody>
          <a:bodyPr wrap="square" lIns="0" tIns="0" rIns="0" bIns="0" rtlCol="0" anchor="ctr"/>
          <a:lstStyle/>
          <a:p>
            <a:pPr algn="ctr" indent="0" marL="0">
              <a:lnSpc>
                <a:spcPct val="116000"/>
              </a:lnSpc>
              <a:buNone/>
            </a:pPr>
            <a:r>
              <a:rPr lang="en-US" sz="1587" dirty="0">
                <a:solidFill>
                  <a:srgbClr val="1F2937"/>
                </a:solidFill>
                <a:latin typeface="Arial" pitchFamily="34" charset="0"/>
                <a:ea typeface="Arial" pitchFamily="34" charset="-122"/>
                <a:cs typeface="Arial" pitchFamily="34" charset="-120"/>
              </a:rPr>
              <a:t>Split then merge</a:t>
            </a:r>
            <a:endParaRPr lang="en-US" sz="1587" dirty="0"/>
          </a:p>
        </p:txBody>
      </p:sp>
      <p:sp>
        <p:nvSpPr>
          <p:cNvPr id="17" name="Text 15"/>
          <p:cNvSpPr txBox="1"/>
          <p:nvPr/>
        </p:nvSpPr>
        <p:spPr>
          <a:xfrm>
            <a:off x="7757738" y="2584717"/>
            <a:ext cx="1100374"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Workers</a:t>
            </a:r>
            <a:endParaRPr lang="en-US" sz="1867" dirty="0"/>
          </a:p>
        </p:txBody>
      </p:sp>
      <p:sp>
        <p:nvSpPr>
          <p:cNvPr id="18" name="Text 16"/>
          <p:cNvSpPr txBox="1"/>
          <p:nvPr/>
        </p:nvSpPr>
        <p:spPr>
          <a:xfrm>
            <a:off x="7569207" y="3036108"/>
            <a:ext cx="1477435" cy="233741"/>
          </a:xfrm>
          <a:prstGeom prst="rect">
            <a:avLst/>
          </a:prstGeom>
          <a:noFill/>
          <a:ln/>
        </p:spPr>
        <p:txBody>
          <a:bodyPr wrap="square" lIns="0" tIns="0" rIns="0" bIns="0" rtlCol="0" anchor="ctr"/>
          <a:lstStyle/>
          <a:p>
            <a:pPr algn="ctr" indent="0" marL="0">
              <a:lnSpc>
                <a:spcPct val="116000"/>
              </a:lnSpc>
              <a:buNone/>
            </a:pPr>
            <a:r>
              <a:rPr lang="en-US" sz="1587" dirty="0">
                <a:solidFill>
                  <a:srgbClr val="1F2937"/>
                </a:solidFill>
                <a:latin typeface="Arial" pitchFamily="34" charset="0"/>
                <a:ea typeface="Arial" pitchFamily="34" charset="-122"/>
                <a:cs typeface="Arial" pitchFamily="34" charset="-120"/>
              </a:rPr>
              <a:t>Delegate tasks</a:t>
            </a:r>
            <a:endParaRPr lang="en-US" sz="1587" dirty="0"/>
          </a:p>
        </p:txBody>
      </p:sp>
      <p:sp>
        <p:nvSpPr>
          <p:cNvPr id="19" name="Text 17"/>
          <p:cNvSpPr txBox="1"/>
          <p:nvPr/>
        </p:nvSpPr>
        <p:spPr>
          <a:xfrm>
            <a:off x="9879086" y="2584717"/>
            <a:ext cx="1140122"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Evaluate</a:t>
            </a:r>
            <a:endParaRPr lang="en-US" sz="1867" dirty="0"/>
          </a:p>
        </p:txBody>
      </p:sp>
      <p:sp>
        <p:nvSpPr>
          <p:cNvPr id="20" name="Text 18"/>
          <p:cNvSpPr txBox="1"/>
          <p:nvPr/>
        </p:nvSpPr>
        <p:spPr>
          <a:xfrm>
            <a:off x="9706013" y="3036108"/>
            <a:ext cx="1486268" cy="233741"/>
          </a:xfrm>
          <a:prstGeom prst="rect">
            <a:avLst/>
          </a:prstGeom>
          <a:noFill/>
          <a:ln/>
        </p:spPr>
        <p:txBody>
          <a:bodyPr wrap="square" lIns="0" tIns="0" rIns="0" bIns="0" rtlCol="0" anchor="ctr"/>
          <a:lstStyle/>
          <a:p>
            <a:pPr algn="ctr" indent="0" marL="0">
              <a:lnSpc>
                <a:spcPct val="116000"/>
              </a:lnSpc>
              <a:buNone/>
            </a:pPr>
            <a:r>
              <a:rPr lang="en-US" sz="1587" dirty="0">
                <a:solidFill>
                  <a:srgbClr val="1F2937"/>
                </a:solidFill>
                <a:latin typeface="Arial" pitchFamily="34" charset="0"/>
                <a:ea typeface="Arial" pitchFamily="34" charset="-122"/>
                <a:cs typeface="Arial" pitchFamily="34" charset="-120"/>
              </a:rPr>
              <a:t>Critique, revise</a:t>
            </a:r>
            <a:endParaRPr lang="en-US" sz="1587" dirty="0"/>
          </a:p>
        </p:txBody>
      </p:sp>
      <p:sp>
        <p:nvSpPr>
          <p:cNvPr id="21" name="Text 19"/>
          <p:cNvSpPr txBox="1"/>
          <p:nvPr/>
        </p:nvSpPr>
        <p:spPr>
          <a:xfrm>
            <a:off x="949532" y="3508626"/>
            <a:ext cx="6788371" cy="261240"/>
          </a:xfrm>
          <a:prstGeom prst="rect">
            <a:avLst/>
          </a:prstGeom>
          <a:noFill/>
          <a:ln/>
        </p:spPr>
        <p:txBody>
          <a:bodyPr wrap="square" lIns="0" tIns="0" rIns="0" bIns="0" rtlCol="0" anchor="ctr"/>
          <a:lstStyle/>
          <a:p>
            <a:pPr algn="l" indent="0" marL="0">
              <a:lnSpc>
                <a:spcPct val="116000"/>
              </a:lnSpc>
              <a:buNone/>
            </a:pPr>
            <a:r>
              <a:rPr lang="en-US" sz="1773" dirty="0">
                <a:solidFill>
                  <a:srgbClr val="1E1B4B"/>
                </a:solidFill>
                <a:latin typeface="Arial" pitchFamily="34" charset="0"/>
                <a:ea typeface="Arial" pitchFamily="34" charset="-122"/>
                <a:cs typeface="Arial" pitchFamily="34" charset="-120"/>
              </a:rPr>
              <a:t>Workflow: code defines paths. Agent: model chooses the next step.</a:t>
            </a:r>
            <a:endParaRPr lang="en-US" sz="1773" dirty="0"/>
          </a:p>
        </p:txBody>
      </p:sp>
      <p:sp>
        <p:nvSpPr>
          <p:cNvPr id="22" name="Text 20"/>
          <p:cNvSpPr txBox="1"/>
          <p:nvPr/>
        </p:nvSpPr>
        <p:spPr>
          <a:xfrm>
            <a:off x="548640" y="4238214"/>
            <a:ext cx="11094415" cy="2071146"/>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Workflow:</a:t>
            </a:r>
            <a:pPr indent="0" marL="0">
              <a:buNone/>
            </a:pPr>
            <a:r>
              <a:rPr lang="en-US" sz="2000" dirty="0">
                <a:solidFill>
                  <a:srgbClr val="1F2937"/>
                </a:solidFill>
                <a:latin typeface="Calibri" pitchFamily="34" charset="0"/>
                <a:ea typeface="Calibri" pitchFamily="34" charset="-122"/>
                <a:cs typeface="Calibri" pitchFamily="34" charset="-120"/>
              </a:rPr>
              <a:t> predefined steps in code.</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Agent:</a:t>
            </a:r>
            <a:pPr indent="0" marL="0">
              <a:buNone/>
            </a:pPr>
            <a:r>
              <a:rPr lang="en-US" sz="2000" dirty="0">
                <a:solidFill>
                  <a:srgbClr val="1F2937"/>
                </a:solidFill>
                <a:latin typeface="Calibri" pitchFamily="34" charset="0"/>
                <a:ea typeface="Calibri" pitchFamily="34" charset="-122"/>
                <a:cs typeface="Calibri" pitchFamily="34" charset="-120"/>
              </a:rPr>
              <a:t> model chooses the next step.</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limits on steps, time, cost and permission.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Prefer a tested workflow for a known path.</a:t>
            </a:r>
            <a:endParaRPr lang="en-US"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Multi-agent systems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Roles divide model-driven work.</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coordinator or messages connect them.</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Parallelism adds calls and error propagation.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A2A describes agent communication; test whether extra agents help.</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Model Context Protocol (MCP)</a:t>
            </a:r>
            <a:endParaRPr lang="en-US" sz="3200" dirty="0"/>
          </a:p>
        </p:txBody>
      </p:sp>
      <p:sp>
        <p:nvSpPr>
          <p:cNvPr id="6" name="Shape 4"/>
          <p:cNvSpPr/>
          <p:nvPr/>
        </p:nvSpPr>
        <p:spPr>
          <a:xfrm flipV="1">
            <a:off x="3831947" y="2033761"/>
            <a:ext cx="2100045" cy="805583"/>
          </a:xfrm>
          <a:prstGeom prst="line">
            <a:avLst/>
          </a:prstGeom>
          <a:noFill/>
          <a:ln w="22860">
            <a:solidFill>
              <a:srgbClr val="6B7280"/>
            </a:solidFill>
            <a:prstDash val="solid"/>
            <a:tailEnd type="triangle"/>
          </a:ln>
        </p:spPr>
      </p:sp>
      <p:sp>
        <p:nvSpPr>
          <p:cNvPr id="7" name="Shape 5"/>
          <p:cNvSpPr/>
          <p:nvPr/>
        </p:nvSpPr>
        <p:spPr>
          <a:xfrm flipV="1">
            <a:off x="3831947" y="2486157"/>
            <a:ext cx="2100045" cy="353186"/>
          </a:xfrm>
          <a:prstGeom prst="line">
            <a:avLst/>
          </a:prstGeom>
          <a:noFill/>
          <a:ln w="22860">
            <a:solidFill>
              <a:srgbClr val="6B7280"/>
            </a:solidFill>
            <a:prstDash val="solid"/>
            <a:tailEnd type="triangle"/>
          </a:ln>
        </p:spPr>
      </p:sp>
      <p:sp>
        <p:nvSpPr>
          <p:cNvPr id="8" name="Shape 6"/>
          <p:cNvSpPr/>
          <p:nvPr/>
        </p:nvSpPr>
        <p:spPr>
          <a:xfrm>
            <a:off x="3831947" y="2839344"/>
            <a:ext cx="2100045" cy="99210"/>
          </a:xfrm>
          <a:prstGeom prst="line">
            <a:avLst/>
          </a:prstGeom>
          <a:noFill/>
          <a:ln w="22860">
            <a:solidFill>
              <a:srgbClr val="6B7280"/>
            </a:solidFill>
            <a:prstDash val="solid"/>
            <a:tailEnd type="triangle"/>
          </a:ln>
        </p:spPr>
      </p:sp>
      <p:sp>
        <p:nvSpPr>
          <p:cNvPr id="9" name="Shape 7"/>
          <p:cNvSpPr/>
          <p:nvPr/>
        </p:nvSpPr>
        <p:spPr>
          <a:xfrm>
            <a:off x="3831947" y="2839344"/>
            <a:ext cx="2100045" cy="551606"/>
          </a:xfrm>
          <a:prstGeom prst="line">
            <a:avLst/>
          </a:prstGeom>
          <a:noFill/>
          <a:ln w="22860">
            <a:solidFill>
              <a:srgbClr val="6B7280"/>
            </a:solidFill>
            <a:prstDash val="solid"/>
            <a:tailEnd type="triangle"/>
          </a:ln>
        </p:spPr>
      </p:sp>
      <p:sp>
        <p:nvSpPr>
          <p:cNvPr id="10" name="Shape 8"/>
          <p:cNvSpPr/>
          <p:nvPr/>
        </p:nvSpPr>
        <p:spPr>
          <a:xfrm>
            <a:off x="949532" y="2422663"/>
            <a:ext cx="2882414" cy="833361"/>
          </a:xfrm>
          <a:prstGeom prst="rect">
            <a:avLst/>
          </a:prstGeom>
          <a:solidFill>
            <a:srgbClr val="F2F4F5"/>
          </a:solidFill>
          <a:ln w="15240">
            <a:solidFill>
              <a:srgbClr val="626B73"/>
            </a:solidFill>
            <a:prstDash val="solid"/>
          </a:ln>
        </p:spPr>
      </p:sp>
      <p:sp>
        <p:nvSpPr>
          <p:cNvPr id="11" name="Shape 9"/>
          <p:cNvSpPr/>
          <p:nvPr/>
        </p:nvSpPr>
        <p:spPr>
          <a:xfrm>
            <a:off x="5931992" y="1859152"/>
            <a:ext cx="2552996" cy="349218"/>
          </a:xfrm>
          <a:prstGeom prst="rect">
            <a:avLst/>
          </a:prstGeom>
          <a:solidFill>
            <a:srgbClr val="F2F4F5"/>
          </a:solidFill>
          <a:ln w="15240">
            <a:solidFill>
              <a:srgbClr val="626B73"/>
            </a:solidFill>
            <a:prstDash val="solid"/>
          </a:ln>
        </p:spPr>
      </p:sp>
      <p:sp>
        <p:nvSpPr>
          <p:cNvPr id="12" name="Shape 10"/>
          <p:cNvSpPr/>
          <p:nvPr/>
        </p:nvSpPr>
        <p:spPr>
          <a:xfrm>
            <a:off x="5931992" y="2311548"/>
            <a:ext cx="2552996" cy="349218"/>
          </a:xfrm>
          <a:prstGeom prst="rect">
            <a:avLst/>
          </a:prstGeom>
          <a:solidFill>
            <a:srgbClr val="F2F4F5"/>
          </a:solidFill>
          <a:ln w="15240">
            <a:solidFill>
              <a:srgbClr val="626B73"/>
            </a:solidFill>
            <a:prstDash val="solid"/>
          </a:ln>
        </p:spPr>
      </p:sp>
      <p:sp>
        <p:nvSpPr>
          <p:cNvPr id="13" name="Shape 11"/>
          <p:cNvSpPr/>
          <p:nvPr/>
        </p:nvSpPr>
        <p:spPr>
          <a:xfrm>
            <a:off x="5931992" y="2763944"/>
            <a:ext cx="2552996" cy="349218"/>
          </a:xfrm>
          <a:prstGeom prst="rect">
            <a:avLst/>
          </a:prstGeom>
          <a:solidFill>
            <a:srgbClr val="F2F4F5"/>
          </a:solidFill>
          <a:ln w="15240">
            <a:solidFill>
              <a:srgbClr val="626B73"/>
            </a:solidFill>
            <a:prstDash val="solid"/>
          </a:ln>
        </p:spPr>
      </p:sp>
      <p:sp>
        <p:nvSpPr>
          <p:cNvPr id="14" name="Shape 12"/>
          <p:cNvSpPr/>
          <p:nvPr/>
        </p:nvSpPr>
        <p:spPr>
          <a:xfrm>
            <a:off x="5931992" y="3216340"/>
            <a:ext cx="2552996" cy="349218"/>
          </a:xfrm>
          <a:prstGeom prst="rect">
            <a:avLst/>
          </a:prstGeom>
          <a:solidFill>
            <a:srgbClr val="F2F4F5"/>
          </a:solidFill>
          <a:ln w="15240">
            <a:solidFill>
              <a:srgbClr val="626B73"/>
            </a:solidFill>
            <a:prstDash val="solid"/>
          </a:ln>
        </p:spPr>
      </p:sp>
      <p:sp>
        <p:nvSpPr>
          <p:cNvPr id="15" name="Text 13"/>
          <p:cNvSpPr txBox="1"/>
          <p:nvPr/>
        </p:nvSpPr>
        <p:spPr>
          <a:xfrm>
            <a:off x="1452365" y="2578103"/>
            <a:ext cx="1876748"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Host application</a:t>
            </a:r>
            <a:endParaRPr lang="en-US" sz="1773" dirty="0"/>
          </a:p>
        </p:txBody>
      </p:sp>
      <p:sp>
        <p:nvSpPr>
          <p:cNvPr id="16" name="Text 14"/>
          <p:cNvSpPr txBox="1"/>
          <p:nvPr/>
        </p:nvSpPr>
        <p:spPr>
          <a:xfrm>
            <a:off x="1452365" y="2839344"/>
            <a:ext cx="1876748" cy="261240"/>
          </a:xfrm>
          <a:prstGeom prst="rect">
            <a:avLst/>
          </a:prstGeom>
          <a:noFill/>
          <a:ln/>
        </p:spPr>
        <p:txBody>
          <a:bodyPr wrap="square" lIns="0" tIns="0" rIns="0" bIns="0" rtlCol="0" anchor="ctr"/>
          <a:lstStyle/>
          <a:p>
            <a:pPr algn="ctr" indent="0" marL="0">
              <a:lnSpc>
                <a:spcPct val="116000"/>
              </a:lnSpc>
              <a:buNone/>
            </a:pPr>
            <a:r>
              <a:rPr lang="en-US" sz="1773" b="1" dirty="0">
                <a:solidFill>
                  <a:srgbClr val="1E1B4B"/>
                </a:solidFill>
                <a:latin typeface="Arial" pitchFamily="34" charset="0"/>
                <a:ea typeface="Arial" pitchFamily="34" charset="-122"/>
                <a:cs typeface="Arial" pitchFamily="34" charset="-120"/>
              </a:rPr>
              <a:t>manages clients</a:t>
            </a:r>
            <a:endParaRPr lang="en-US" sz="1773" dirty="0"/>
          </a:p>
        </p:txBody>
      </p:sp>
      <p:sp>
        <p:nvSpPr>
          <p:cNvPr id="17" name="Text 15"/>
          <p:cNvSpPr txBox="1"/>
          <p:nvPr/>
        </p:nvSpPr>
        <p:spPr>
          <a:xfrm>
            <a:off x="6542184" y="1910016"/>
            <a:ext cx="133261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Files server</a:t>
            </a:r>
            <a:endParaRPr lang="en-US" sz="1680" dirty="0"/>
          </a:p>
        </p:txBody>
      </p:sp>
      <p:sp>
        <p:nvSpPr>
          <p:cNvPr id="18" name="Text 16"/>
          <p:cNvSpPr txBox="1"/>
          <p:nvPr/>
        </p:nvSpPr>
        <p:spPr>
          <a:xfrm>
            <a:off x="8814406" y="1910016"/>
            <a:ext cx="1094123"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Read files</a:t>
            </a:r>
            <a:endParaRPr lang="en-US" sz="1680" dirty="0"/>
          </a:p>
        </p:txBody>
      </p:sp>
      <p:sp>
        <p:nvSpPr>
          <p:cNvPr id="19" name="Text 17"/>
          <p:cNvSpPr txBox="1"/>
          <p:nvPr/>
        </p:nvSpPr>
        <p:spPr>
          <a:xfrm>
            <a:off x="6303697" y="2362412"/>
            <a:ext cx="180958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Database server</a:t>
            </a:r>
            <a:endParaRPr lang="en-US" sz="1680" dirty="0"/>
          </a:p>
        </p:txBody>
      </p:sp>
      <p:sp>
        <p:nvSpPr>
          <p:cNvPr id="20" name="Text 18"/>
          <p:cNvSpPr txBox="1"/>
          <p:nvPr/>
        </p:nvSpPr>
        <p:spPr>
          <a:xfrm>
            <a:off x="8814406" y="2362412"/>
            <a:ext cx="1359109"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Query tables</a:t>
            </a:r>
            <a:endParaRPr lang="en-US" sz="1680" dirty="0"/>
          </a:p>
        </p:txBody>
      </p:sp>
      <p:sp>
        <p:nvSpPr>
          <p:cNvPr id="21" name="Text 19"/>
          <p:cNvSpPr txBox="1"/>
          <p:nvPr/>
        </p:nvSpPr>
        <p:spPr>
          <a:xfrm>
            <a:off x="6422941" y="2814808"/>
            <a:ext cx="15710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Search server</a:t>
            </a:r>
            <a:endParaRPr lang="en-US" sz="1680" dirty="0"/>
          </a:p>
        </p:txBody>
      </p:sp>
      <p:sp>
        <p:nvSpPr>
          <p:cNvPr id="22" name="Text 20"/>
          <p:cNvSpPr txBox="1"/>
          <p:nvPr/>
        </p:nvSpPr>
        <p:spPr>
          <a:xfrm>
            <a:off x="8814406" y="2814808"/>
            <a:ext cx="188908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Retrieve evidence</a:t>
            </a:r>
            <a:endParaRPr lang="en-US" sz="1680" dirty="0"/>
          </a:p>
        </p:txBody>
      </p:sp>
      <p:sp>
        <p:nvSpPr>
          <p:cNvPr id="23" name="Text 21"/>
          <p:cNvSpPr txBox="1"/>
          <p:nvPr/>
        </p:nvSpPr>
        <p:spPr>
          <a:xfrm>
            <a:off x="6453856" y="3267204"/>
            <a:ext cx="150926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Action server</a:t>
            </a:r>
            <a:endParaRPr lang="en-US" sz="1680" dirty="0"/>
          </a:p>
        </p:txBody>
      </p:sp>
      <p:sp>
        <p:nvSpPr>
          <p:cNvPr id="24" name="Text 22"/>
          <p:cNvSpPr txBox="1"/>
          <p:nvPr/>
        </p:nvSpPr>
        <p:spPr>
          <a:xfrm>
            <a:off x="8814406" y="3267204"/>
            <a:ext cx="1995075"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Check permissions</a:t>
            </a:r>
            <a:endParaRPr lang="en-US" sz="1680" dirty="0"/>
          </a:p>
        </p:txBody>
      </p:sp>
      <p:sp>
        <p:nvSpPr>
          <p:cNvPr id="25" name="Text 23"/>
          <p:cNvSpPr txBox="1"/>
          <p:nvPr/>
        </p:nvSpPr>
        <p:spPr>
          <a:xfrm>
            <a:off x="949532" y="3699033"/>
            <a:ext cx="8089749" cy="247491"/>
          </a:xfrm>
          <a:prstGeom prst="rect">
            <a:avLst/>
          </a:prstGeom>
          <a:noFill/>
          <a:ln/>
        </p:spPr>
        <p:txBody>
          <a:bodyPr wrap="square" lIns="0" tIns="0" rIns="0" bIns="0" rtlCol="0" anchor="ctr"/>
          <a:lstStyle/>
          <a:p>
            <a:pPr algn="l" indent="0" marL="0">
              <a:lnSpc>
                <a:spcPct val="116000"/>
              </a:lnSpc>
              <a:buNone/>
            </a:pPr>
            <a:r>
              <a:rPr lang="en-US" sz="1680" dirty="0">
                <a:solidFill>
                  <a:srgbClr val="1E1B4B"/>
                </a:solidFill>
                <a:latin typeface="Arial" pitchFamily="34" charset="0"/>
                <a:ea typeface="Arial" pitchFamily="34" charset="-122"/>
                <a:cs typeface="Arial" pitchFamily="34" charset="-120"/>
              </a:rPr>
              <a:t>One client per server; expose tools, resources and prompts with access controls.</a:t>
            </a:r>
            <a:endParaRPr lang="en-US" sz="1680" dirty="0"/>
          </a:p>
        </p:txBody>
      </p:sp>
      <p:sp>
        <p:nvSpPr>
          <p:cNvPr id="26" name="Text 24"/>
          <p:cNvSpPr txBox="1"/>
          <p:nvPr/>
        </p:nvSpPr>
        <p:spPr>
          <a:xfrm>
            <a:off x="548640" y="4430233"/>
            <a:ext cx="11094415" cy="1879127"/>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MCP:</a:t>
            </a:r>
            <a:pPr indent="0" marL="0">
              <a:buNone/>
            </a:pPr>
            <a:r>
              <a:rPr lang="en-US" sz="2000" dirty="0">
                <a:solidFill>
                  <a:srgbClr val="1F2937"/>
                </a:solidFill>
                <a:latin typeface="Calibri" pitchFamily="34" charset="0"/>
                <a:ea typeface="Calibri" pitchFamily="34" charset="-122"/>
                <a:cs typeface="Calibri" pitchFamily="34" charset="-120"/>
              </a:rPr>
              <a:t> connect applications to tools and data.</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host manages clients; servers expose capabilities.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Introduced in 2024; AAIF donation in 2025.</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Connections still need trust and permission controls.</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Frameworks and tools for RAG and agents</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151823"/>
                <a:gridCol w="3403968"/>
                <a:gridCol w="4538624"/>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Strength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Typical use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LangChain / LangGraph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Components; stateful graphs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Agent with checkpoints and approvals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LlamaIndex</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Data indexing and retrieval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RAG over many document types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OpenAI Agents SDK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Tools, handoffs, tracing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Agents on OpenAI 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Google ADK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Agent coordination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Agents on Gemini and Vertex</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Microsoft Agent Framework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Python and .NET integration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Enterprise agents on Azure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HF smolagents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Small, readable framework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Agents with open 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A course assistant answers handbook deadlines and rules. Choose the initial design.</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Three cooperating agents</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Autonomous web/email agent</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RAG workflow with sources and abstention</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Fine-tuning without retrieved evidence</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Risks and guardrails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 go wrong when models read documents and take actions?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 injection, especially indirect</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Direct injection:</a:t>
            </a:r>
            <a:pPr indent="0" marL="0">
              <a:buNone/>
            </a:pPr>
            <a:r>
              <a:rPr lang="en-US" sz="2600" dirty="0">
                <a:solidFill>
                  <a:srgbClr val="1F2937"/>
                </a:solidFill>
                <a:latin typeface="Calibri" pitchFamily="34" charset="0"/>
                <a:ea typeface="Calibri" pitchFamily="34" charset="-122"/>
                <a:cs typeface="Calibri" pitchFamily="34" charset="-120"/>
              </a:rPr>
              <a:t> hostile request instructions.</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Indirect injection:</a:t>
            </a:r>
            <a:pPr indent="0" marL="0">
              <a:buNone/>
            </a:pPr>
            <a:r>
              <a:rPr lang="en-US" sz="2600" dirty="0">
                <a:solidFill>
                  <a:srgbClr val="1F2937"/>
                </a:solidFill>
                <a:latin typeface="Calibri" pitchFamily="34" charset="0"/>
                <a:ea typeface="Calibri" pitchFamily="34" charset="-122"/>
                <a:cs typeface="Calibri" pitchFamily="34" charset="-120"/>
              </a:rPr>
              <a:t> hostile instructions inside retrieved data.</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Code must control tools and data access.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The agent did not attempt to send e-mail; even if it had, the approval gate would have blocked the external address. Email and approval are simulated.</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Guardrails for RAG and agents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Permissions</a:t>
            </a:r>
            <a:endParaRPr lang="en-US" sz="21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Least privilege and read-only defaults</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Validate</a:t>
            </a:r>
            <a:endParaRPr lang="en-US" sz="21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Known tools; types and ranges</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FFF1E6"/>
          </a:solidFill>
          <a:ln w="15875">
            <a:solidFill>
              <a:srgbClr val="EA580C"/>
            </a:solidFill>
            <a:prstDash val="solid"/>
          </a:ln>
        </p:spPr>
      </p:sp>
      <p:sp>
        <p:nvSpPr>
          <p:cNvPr id="19" name="Shape 17"/>
          <p:cNvSpPr/>
          <p:nvPr/>
        </p:nvSpPr>
        <p:spPr>
          <a:xfrm>
            <a:off x="5894680" y="1746504"/>
            <a:ext cx="402336" cy="402336"/>
          </a:xfrm>
          <a:prstGeom prst="ellipse">
            <a:avLst/>
          </a:prstGeom>
          <a:solidFill>
            <a:srgbClr val="EA580C"/>
          </a:solidFill>
          <a:ln w="12700">
            <a:solidFill>
              <a:srgbClr val="EA580C"/>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Approve</a:t>
            </a:r>
            <a:endParaRPr lang="en-US" sz="21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Review consequential actions</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EEF0FF"/>
          </a:solidFill>
          <a:ln w="15875">
            <a:solidFill>
              <a:srgbClr val="4F46E5"/>
            </a:solidFill>
            <a:prstDash val="solid"/>
          </a:ln>
        </p:spPr>
      </p:sp>
      <p:sp>
        <p:nvSpPr>
          <p:cNvPr id="25" name="Shape 23"/>
          <p:cNvSpPr/>
          <p:nvPr/>
        </p:nvSpPr>
        <p:spPr>
          <a:xfrm>
            <a:off x="8195859"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Limit</a:t>
            </a:r>
            <a:endParaRPr lang="en-US" sz="21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Steps, time, cost and sandbox</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Audit</a:t>
            </a:r>
            <a:endParaRPr lang="en-US" sz="21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Record tool calls and outcomes</a:t>
            </a:r>
            <a:endParaRPr lang="en-US" sz="20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A hostile page can affect proposals; code limits what may run.</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Human oversight and responsible use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Show supporting sources and human escalation.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Respect permissions; minimise personal data.</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Refresh indexes; test missing evidence and injection.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Disclose AI use; check purpose-specific AI Act scope and dates.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Build and diagnose the assistant</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Separate evidence retrieval, answer generation and agent execution</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baseline answers</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searchable</a:t>
            </a:r>
            <a:endParaRPr lang="en-US" sz="1441" dirty="0"/>
          </a:p>
        </p:txBody>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passages</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ranked evidence</a:t>
            </a:r>
            <a:endParaRPr lang="en-US" sz="1441" dirty="0"/>
          </a:p>
        </p:txBody>
      </p:sp>
      <p:sp>
        <p:nvSpPr>
          <p:cNvPr id="14" name="Shape 12"/>
          <p:cNvSpPr/>
          <p:nvPr/>
        </p:nvSpPr>
        <p:spPr>
          <a:xfrm>
            <a:off x="7783680" y="3838927"/>
            <a:ext cx="244024" cy="0"/>
          </a:xfrm>
          <a:prstGeom prst="line">
            <a:avLst/>
          </a:prstGeom>
          <a:noFill/>
          <a:ln w="22860">
            <a:solidFill>
              <a:srgbClr val="009E73"/>
            </a:solidFill>
            <a:prstDash val="solid"/>
            <a:tailEnd type="triangle"/>
          </a:ln>
        </p:spPr>
      </p:sp>
      <p:sp>
        <p:nvSpPr>
          <p:cNvPr id="15" name="Text 13"/>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answer checks</a:t>
            </a:r>
            <a:endParaRPr lang="en-US" sz="1441" dirty="0"/>
          </a:p>
        </p:txBody>
      </p:sp>
      <p:sp>
        <p:nvSpPr>
          <p:cNvPr id="16" name="Shape 14"/>
          <p:cNvSpPr/>
          <p:nvPr/>
        </p:nvSpPr>
        <p:spPr>
          <a:xfrm>
            <a:off x="9593525" y="3838927"/>
            <a:ext cx="244024" cy="0"/>
          </a:xfrm>
          <a:prstGeom prst="line">
            <a:avLst/>
          </a:prstGeom>
          <a:noFill/>
          <a:ln w="22860">
            <a:solidFill>
              <a:srgbClr val="009E73"/>
            </a:solidFill>
            <a:prstDash val="solid"/>
            <a:tailEnd type="triangle"/>
          </a:ln>
        </p:spPr>
      </p:sp>
      <p:sp>
        <p:nvSpPr>
          <p:cNvPr id="17" name="Text 15"/>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agent trajectory</a:t>
            </a:r>
            <a:endParaRPr lang="en-US" sz="1441" dirty="0"/>
          </a:p>
        </p:txBody>
      </p:sp>
      <p:sp>
        <p:nvSpPr>
          <p:cNvPr id="18" name="Shape 16"/>
          <p:cNvSpPr/>
          <p:nvPr/>
        </p:nvSpPr>
        <p:spPr>
          <a:xfrm>
            <a:off x="788325" y="2939089"/>
            <a:ext cx="1565821" cy="1799677"/>
          </a:xfrm>
          <a:prstGeom prst="roundRect">
            <a:avLst>
              <a:gd name="adj" fmla="val 4672"/>
            </a:avLst>
          </a:prstGeom>
          <a:solidFill>
            <a:srgbClr val="FFF0E6"/>
          </a:solidFill>
          <a:ln w="15240">
            <a:solidFill>
              <a:srgbClr val="D55E00"/>
            </a:solidFill>
            <a:prstDash val="solid"/>
          </a:ln>
        </p:spPr>
      </p:sp>
      <p:sp>
        <p:nvSpPr>
          <p:cNvPr id="19" name="Text 17"/>
          <p:cNvSpPr txBox="1"/>
          <p:nvPr/>
        </p:nvSpPr>
        <p:spPr>
          <a:xfrm>
            <a:off x="84933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No-retrieval</a:t>
            </a:r>
            <a:endParaRPr lang="en-US" sz="1561" dirty="0"/>
          </a:p>
        </p:txBody>
      </p:sp>
      <p:sp>
        <p:nvSpPr>
          <p:cNvPr id="20" name="Text 18"/>
          <p:cNvSpPr txBox="1"/>
          <p:nvPr/>
        </p:nvSpPr>
        <p:spPr>
          <a:xfrm>
            <a:off x="84933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test</a:t>
            </a:r>
            <a:endParaRPr lang="en-US" sz="1561" dirty="0"/>
          </a:p>
        </p:txBody>
      </p:sp>
      <p:sp>
        <p:nvSpPr>
          <p:cNvPr id="21" name="Text 19"/>
          <p:cNvSpPr txBox="1"/>
          <p:nvPr/>
        </p:nvSpPr>
        <p:spPr>
          <a:xfrm>
            <a:off x="84933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Private facts</a:t>
            </a:r>
            <a:endParaRPr lang="en-US" sz="1441" dirty="0"/>
          </a:p>
        </p:txBody>
      </p:sp>
      <p:sp>
        <p:nvSpPr>
          <p:cNvPr id="22" name="Text 20"/>
          <p:cNvSpPr txBox="1"/>
          <p:nvPr/>
        </p:nvSpPr>
        <p:spPr>
          <a:xfrm>
            <a:off x="84933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without sources</a:t>
            </a:r>
            <a:endParaRPr lang="en-US" sz="1441" dirty="0"/>
          </a:p>
        </p:txBody>
      </p:sp>
      <p:sp>
        <p:nvSpPr>
          <p:cNvPr id="23" name="Text 21"/>
          <p:cNvSpPr txBox="1"/>
          <p:nvPr/>
        </p:nvSpPr>
        <p:spPr>
          <a:xfrm>
            <a:off x="81120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no_rag_df</a:t>
            </a:r>
            <a:endParaRPr lang="en-US" sz="1441" dirty="0"/>
          </a:p>
        </p:txBody>
      </p:sp>
      <p:sp>
        <p:nvSpPr>
          <p:cNvPr id="24" name="Shape 22"/>
          <p:cNvSpPr/>
          <p:nvPr/>
        </p:nvSpPr>
        <p:spPr>
          <a:xfrm>
            <a:off x="2598170" y="2939089"/>
            <a:ext cx="1565821" cy="1799677"/>
          </a:xfrm>
          <a:prstGeom prst="roundRect">
            <a:avLst>
              <a:gd name="adj" fmla="val 4672"/>
            </a:avLst>
          </a:prstGeom>
          <a:solidFill>
            <a:srgbClr val="E4F2FB"/>
          </a:solidFill>
          <a:ln w="15240">
            <a:solidFill>
              <a:srgbClr val="0072B2"/>
            </a:solidFill>
            <a:prstDash val="solid"/>
          </a:ln>
        </p:spPr>
      </p:sp>
      <p:sp>
        <p:nvSpPr>
          <p:cNvPr id="25" name="Text 23"/>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a:t>
            </a:r>
            <a:endParaRPr lang="en-US" sz="1561" dirty="0"/>
          </a:p>
        </p:txBody>
      </p:sp>
      <p:sp>
        <p:nvSpPr>
          <p:cNvPr id="26" name="Text 24"/>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indexes</a:t>
            </a:r>
            <a:endParaRPr lang="en-US" sz="1561" dirty="0"/>
          </a:p>
        </p:txBody>
      </p:sp>
      <p:sp>
        <p:nvSpPr>
          <p:cNvPr id="27" name="Text 25"/>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Chunk, embed</a:t>
            </a:r>
            <a:endParaRPr lang="en-US" sz="1441" dirty="0"/>
          </a:p>
        </p:txBody>
      </p:sp>
      <p:sp>
        <p:nvSpPr>
          <p:cNvPr id="28" name="Text 26"/>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retain IDs</a:t>
            </a:r>
            <a:endParaRPr lang="en-US" sz="1441" dirty="0"/>
          </a:p>
        </p:txBody>
      </p:sp>
      <p:sp>
        <p:nvSpPr>
          <p:cNvPr id="29" name="Text 27"/>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CHUNKS</a:t>
            </a:r>
            <a:endParaRPr lang="en-US" sz="1441" dirty="0"/>
          </a:p>
        </p:txBody>
      </p:sp>
      <p:sp>
        <p:nvSpPr>
          <p:cNvPr id="30" name="Shape 28"/>
          <p:cNvSpPr/>
          <p:nvPr/>
        </p:nvSpPr>
        <p:spPr>
          <a:xfrm>
            <a:off x="4408015" y="2939089"/>
            <a:ext cx="1565821" cy="1799677"/>
          </a:xfrm>
          <a:prstGeom prst="roundRect">
            <a:avLst>
              <a:gd name="adj" fmla="val 4672"/>
            </a:avLst>
          </a:prstGeom>
          <a:solidFill>
            <a:srgbClr val="FFF0E6"/>
          </a:solidFill>
          <a:ln w="15240">
            <a:solidFill>
              <a:srgbClr val="D55E00"/>
            </a:solidFill>
            <a:prstDash val="solid"/>
          </a:ln>
        </p:spPr>
      </p:sp>
      <p:sp>
        <p:nvSpPr>
          <p:cNvPr id="31" name="Text 29"/>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a:t>
            </a:r>
            <a:endParaRPr lang="en-US" sz="1561" dirty="0"/>
          </a:p>
        </p:txBody>
      </p:sp>
      <p:sp>
        <p:nvSpPr>
          <p:cNvPr id="32" name="Text 30"/>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search</a:t>
            </a:r>
            <a:endParaRPr lang="en-US" sz="1561" dirty="0"/>
          </a:p>
        </p:txBody>
      </p:sp>
      <p:sp>
        <p:nvSpPr>
          <p:cNvPr id="33" name="Text 31"/>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Gold-document</a:t>
            </a:r>
            <a:endParaRPr lang="en-US" sz="1441" dirty="0"/>
          </a:p>
        </p:txBody>
      </p:sp>
      <p:sp>
        <p:nvSpPr>
          <p:cNvPr id="34" name="Text 32"/>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hits and ranks</a:t>
            </a:r>
            <a:endParaRPr lang="en-US" sz="1441" dirty="0"/>
          </a:p>
        </p:txBody>
      </p:sp>
      <p:sp>
        <p:nvSpPr>
          <p:cNvPr id="35" name="Text 33"/>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evaluate_retrieval</a:t>
            </a:r>
            <a:endParaRPr lang="en-US" sz="1441" dirty="0"/>
          </a:p>
        </p:txBody>
      </p:sp>
      <p:sp>
        <p:nvSpPr>
          <p:cNvPr id="36" name="Shape 34"/>
          <p:cNvSpPr/>
          <p:nvPr/>
        </p:nvSpPr>
        <p:spPr>
          <a:xfrm>
            <a:off x="6217860" y="2939089"/>
            <a:ext cx="1565821" cy="1799677"/>
          </a:xfrm>
          <a:prstGeom prst="rect">
            <a:avLst/>
          </a:prstGeom>
          <a:solidFill>
            <a:srgbClr val="E5F7EF"/>
          </a:solidFill>
          <a:ln w="15240">
            <a:solidFill>
              <a:srgbClr val="009E73"/>
            </a:solidFill>
            <a:prstDash val="solid"/>
          </a:ln>
        </p:spPr>
      </p:sp>
      <p:sp>
        <p:nvSpPr>
          <p:cNvPr id="37" name="Text 35"/>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Answer +</a:t>
            </a:r>
            <a:endParaRPr lang="en-US" sz="1561" dirty="0"/>
          </a:p>
        </p:txBody>
      </p:sp>
      <p:sp>
        <p:nvSpPr>
          <p:cNvPr id="38" name="Text 36"/>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a:t>
            </a:r>
            <a:endParaRPr lang="en-US" sz="1561" dirty="0"/>
          </a:p>
        </p:txBody>
      </p:sp>
      <p:sp>
        <p:nvSpPr>
          <p:cNvPr id="39" name="Text 37"/>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facts,</a:t>
            </a:r>
            <a:endParaRPr lang="en-US" sz="1441" dirty="0"/>
          </a:p>
        </p:txBody>
      </p:sp>
      <p:sp>
        <p:nvSpPr>
          <p:cNvPr id="40" name="Text 38"/>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citations, abstain</a:t>
            </a:r>
            <a:endParaRPr lang="en-US" sz="1441" dirty="0"/>
          </a:p>
        </p:txBody>
      </p:sp>
      <p:sp>
        <p:nvSpPr>
          <p:cNvPr id="41" name="Text 39"/>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rag_answer</a:t>
            </a:r>
            <a:endParaRPr lang="en-US" sz="1441" dirty="0"/>
          </a:p>
        </p:txBody>
      </p:sp>
      <p:sp>
        <p:nvSpPr>
          <p:cNvPr id="42" name="Shape 40"/>
          <p:cNvSpPr/>
          <p:nvPr/>
        </p:nvSpPr>
        <p:spPr>
          <a:xfrm>
            <a:off x="8027705" y="2939089"/>
            <a:ext cx="1565821" cy="1799677"/>
          </a:xfrm>
          <a:prstGeom prst="rect">
            <a:avLst/>
          </a:prstGeom>
          <a:solidFill>
            <a:srgbClr val="F2F4F5"/>
          </a:solidFill>
          <a:ln w="15240">
            <a:solidFill>
              <a:srgbClr val="626B73"/>
            </a:solidFill>
            <a:prstDash val="solid"/>
          </a:ln>
        </p:spPr>
      </p:sp>
      <p:sp>
        <p:nvSpPr>
          <p:cNvPr id="43" name="Text 41"/>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Trace tool</a:t>
            </a:r>
            <a:endParaRPr lang="en-US" sz="1561" dirty="0"/>
          </a:p>
        </p:txBody>
      </p:sp>
      <p:sp>
        <p:nvSpPr>
          <p:cNvPr id="44" name="Text 42"/>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loop</a:t>
            </a:r>
            <a:endParaRPr lang="en-US" sz="1561" dirty="0"/>
          </a:p>
        </p:txBody>
      </p:sp>
      <p:sp>
        <p:nvSpPr>
          <p:cNvPr id="45" name="Text 43"/>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Calculation and</a:t>
            </a:r>
            <a:endParaRPr lang="en-US" sz="1441" dirty="0"/>
          </a:p>
        </p:txBody>
      </p:sp>
      <p:sp>
        <p:nvSpPr>
          <p:cNvPr id="46" name="Text 44"/>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forum attack</a:t>
            </a:r>
            <a:endParaRPr lang="en-US" sz="1441" dirty="0"/>
          </a:p>
        </p:txBody>
      </p:sp>
      <p:sp>
        <p:nvSpPr>
          <p:cNvPr id="47" name="Text 45"/>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run_agent</a:t>
            </a:r>
            <a:endParaRPr lang="en-US" sz="1441" dirty="0"/>
          </a:p>
        </p:txBody>
      </p:sp>
      <p:sp>
        <p:nvSpPr>
          <p:cNvPr id="48" name="Shape 46"/>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9" name="Text 47"/>
          <p:cNvSpPr txBox="1"/>
          <p:nvPr/>
        </p:nvSpPr>
        <p:spPr>
          <a:xfrm>
            <a:off x="9898555"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Review</a:t>
            </a:r>
            <a:endParaRPr lang="en-US" sz="1561" dirty="0"/>
          </a:p>
        </p:txBody>
      </p:sp>
      <p:sp>
        <p:nvSpPr>
          <p:cNvPr id="50" name="Text 48"/>
          <p:cNvSpPr txBox="1"/>
          <p:nvPr/>
        </p:nvSpPr>
        <p:spPr>
          <a:xfrm>
            <a:off x="9898555"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controls</a:t>
            </a:r>
            <a:endParaRPr lang="en-US" sz="1561" dirty="0"/>
          </a:p>
        </p:txBody>
      </p:sp>
      <p:sp>
        <p:nvSpPr>
          <p:cNvPr id="51" name="Text 49"/>
          <p:cNvSpPr txBox="1"/>
          <p:nvPr/>
        </p:nvSpPr>
        <p:spPr>
          <a:xfrm>
            <a:off x="9898555"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Audit and</a:t>
            </a:r>
            <a:endParaRPr lang="en-US" sz="1441" dirty="0"/>
          </a:p>
        </p:txBody>
      </p:sp>
      <p:sp>
        <p:nvSpPr>
          <p:cNvPr id="52" name="Text 50"/>
          <p:cNvSpPr txBox="1"/>
          <p:nvPr/>
        </p:nvSpPr>
        <p:spPr>
          <a:xfrm>
            <a:off x="9898555"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incomplete MCP</a:t>
            </a:r>
            <a:endParaRPr lang="en-US" sz="1441" dirty="0"/>
          </a:p>
        </p:txBody>
      </p:sp>
      <p:sp>
        <p:nvSpPr>
          <p:cNvPr id="53" name="Text 51"/>
          <p:cNvSpPr txBox="1"/>
          <p:nvPr/>
        </p:nvSpPr>
        <p:spPr>
          <a:xfrm>
            <a:off x="9898555"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file</a:t>
            </a:r>
            <a:endParaRPr lang="en-US" sz="1441" dirty="0"/>
          </a:p>
        </p:txBody>
      </p:sp>
      <p:sp>
        <p:nvSpPr>
          <p:cNvPr id="54" name="Text 52"/>
          <p:cNvSpPr txBox="1"/>
          <p:nvPr/>
        </p:nvSpPr>
        <p:spPr>
          <a:xfrm>
            <a:off x="986042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AUDIT</a:t>
            </a:r>
            <a:endParaRPr lang="en-US" sz="1441" dirty="0"/>
          </a:p>
        </p:txBody>
      </p:sp>
      <p:sp>
        <p:nvSpPr>
          <p:cNvPr id="55" name="Shape 53"/>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6" name="Text 54"/>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7" name="Shape 55"/>
          <p:cNvSpPr/>
          <p:nvPr/>
        </p:nvSpPr>
        <p:spPr>
          <a:xfrm>
            <a:off x="2118929" y="5630979"/>
            <a:ext cx="198270" cy="198270"/>
          </a:xfrm>
          <a:prstGeom prst="rect">
            <a:avLst/>
          </a:prstGeom>
          <a:solidFill>
            <a:srgbClr val="E5F7EF"/>
          </a:solidFill>
          <a:ln w="15240">
            <a:solidFill>
              <a:srgbClr val="009E73"/>
            </a:solidFill>
            <a:prstDash val="solid"/>
          </a:ln>
        </p:spPr>
      </p:sp>
      <p:sp>
        <p:nvSpPr>
          <p:cNvPr id="58" name="Text 56"/>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9" name="Shape 57"/>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0" name="Text 58"/>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1" name="Shape 59"/>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62" name="Text 60"/>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3" name="Shape 61"/>
          <p:cNvSpPr/>
          <p:nvPr/>
        </p:nvSpPr>
        <p:spPr>
          <a:xfrm>
            <a:off x="5804824" y="5630979"/>
            <a:ext cx="198270" cy="198270"/>
          </a:xfrm>
          <a:prstGeom prst="rect">
            <a:avLst/>
          </a:prstGeom>
          <a:solidFill>
            <a:srgbClr val="F2F4F5"/>
          </a:solidFill>
          <a:ln w="15240">
            <a:solidFill>
              <a:srgbClr val="626B73"/>
            </a:solidFill>
            <a:prstDash val="solid"/>
          </a:ln>
        </p:spPr>
      </p:sp>
      <p:sp>
        <p:nvSpPr>
          <p:cNvPr id="64" name="Text 62"/>
          <p:cNvSpPr txBox="1"/>
          <p:nvPr/>
        </p:nvSpPr>
        <p:spPr>
          <a:xfrm>
            <a:off x="6064099"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65" name="Shape 63"/>
          <p:cNvSpPr/>
          <p:nvPr/>
        </p:nvSpPr>
        <p:spPr>
          <a:xfrm>
            <a:off x="7366714" y="5730113"/>
            <a:ext cx="335533" cy="0"/>
          </a:xfrm>
          <a:prstGeom prst="line">
            <a:avLst/>
          </a:prstGeom>
          <a:noFill/>
          <a:ln w="22860">
            <a:solidFill>
              <a:srgbClr val="009E73"/>
            </a:solidFill>
            <a:prstDash val="solid"/>
            <a:tailEnd type="triangle"/>
          </a:ln>
        </p:spPr>
      </p:sp>
      <p:sp>
        <p:nvSpPr>
          <p:cNvPr id="66" name="Text 64"/>
          <p:cNvSpPr txBox="1"/>
          <p:nvPr/>
        </p:nvSpPr>
        <p:spPr>
          <a:xfrm>
            <a:off x="776325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7" name="Text 65"/>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Can an answer pass numbers_supported while making an unsupported non-numeric claim?</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Lab 12: a RAG assistant and a tool-using agent, measured</a:t>
            </a:r>
            <a:endParaRPr lang="en-US" sz="30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Establish a no-retrieval baseline.</a:t>
            </a:r>
            <a:endParaRPr lang="en-US" sz="2000" dirty="0"/>
          </a:p>
        </p:txBody>
      </p:sp>
      <p:sp>
        <p:nvSpPr>
          <p:cNvPr id="9" name="Shape 7"/>
          <p:cNvSpPr/>
          <p:nvPr/>
        </p:nvSpPr>
        <p:spPr>
          <a:xfrm>
            <a:off x="548640" y="2395728"/>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9572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5000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Chunk, embed and index handbook sources.</a:t>
            </a:r>
            <a:endParaRPr lang="en-US" sz="2000" dirty="0"/>
          </a:p>
        </p:txBody>
      </p:sp>
      <p:sp>
        <p:nvSpPr>
          <p:cNvPr id="12" name="Shape 10"/>
          <p:cNvSpPr/>
          <p:nvPr/>
        </p:nvSpPr>
        <p:spPr>
          <a:xfrm>
            <a:off x="548640" y="3264408"/>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264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21868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keyword, dense, fusion and re-ranking.</a:t>
            </a:r>
            <a:endParaRPr lang="en-US" sz="2000" dirty="0"/>
          </a:p>
        </p:txBody>
      </p:sp>
      <p:sp>
        <p:nvSpPr>
          <p:cNvPr id="15" name="Shape 13"/>
          <p:cNvSpPr/>
          <p:nvPr/>
        </p:nvSpPr>
        <p:spPr>
          <a:xfrm>
            <a:off x="548640" y="4133088"/>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41330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08736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Check answer facts, citations and abstention.</a:t>
            </a:r>
            <a:endParaRPr lang="en-US" sz="2000" dirty="0"/>
          </a:p>
        </p:txBody>
      </p:sp>
      <p:sp>
        <p:nvSpPr>
          <p:cNvPr id="18" name="Shape 16"/>
          <p:cNvSpPr/>
          <p:nvPr/>
        </p:nvSpPr>
        <p:spPr>
          <a:xfrm>
            <a:off x="548640" y="5001768"/>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50017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95604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Trace controlled tools, simulated approval and MCP scaffold.</a:t>
            </a:r>
            <a:endParaRPr lang="en-US" sz="2000" dirty="0"/>
          </a:p>
        </p:txBody>
      </p:sp>
      <p:sp>
        <p:nvSpPr>
          <p:cNvPr id="21" name="Shape 19"/>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2" name="Shape 20"/>
          <p:cNvSpPr/>
          <p:nvPr/>
        </p:nvSpPr>
        <p:spPr>
          <a:xfrm>
            <a:off x="8229600" y="1709928"/>
            <a:ext cx="502920" cy="502920"/>
          </a:xfrm>
          <a:prstGeom prst="ellipse">
            <a:avLst/>
          </a:prstGeom>
          <a:solidFill>
            <a:srgbClr val="0F766E"/>
          </a:solidFill>
          <a:ln w="12700">
            <a:solidFill>
              <a:srgbClr val="0F766E"/>
            </a:solidFill>
            <a:prstDash val="solid"/>
          </a:ln>
        </p:spPr>
      </p:sp>
      <p:pic>
        <p:nvPicPr>
          <p:cNvPr id="23"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4" name="Text 21"/>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5" name="Text 22"/>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T4 GPU; CPU uses a smaller model. About 5 min on a 4 GB laptop GPU after downloads</a:t>
            </a:r>
            <a:endParaRPr lang="en-US" sz="1400" dirty="0"/>
          </a:p>
        </p:txBody>
      </p:sp>
      <p:sp>
        <p:nvSpPr>
          <p:cNvPr id="26" name="Shape 23"/>
          <p:cNvSpPr/>
          <p:nvPr/>
        </p:nvSpPr>
        <p:spPr>
          <a:xfrm>
            <a:off x="8229600" y="3227832"/>
            <a:ext cx="502920" cy="502920"/>
          </a:xfrm>
          <a:prstGeom prst="ellipse">
            <a:avLst/>
          </a:prstGeom>
          <a:solidFill>
            <a:srgbClr val="0F766E"/>
          </a:solidFill>
          <a:ln w="12700">
            <a:solidFill>
              <a:srgbClr val="0F766E"/>
            </a:solidFill>
            <a:prstDash val="solid"/>
          </a:ln>
        </p:spPr>
      </p:sp>
      <p:pic>
        <p:nvPicPr>
          <p:cNvPr id="27"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28" name="Text 24"/>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29" name="Text 25"/>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0" name="Shape 26"/>
          <p:cNvSpPr/>
          <p:nvPr/>
        </p:nvSpPr>
        <p:spPr>
          <a:xfrm>
            <a:off x="8229600" y="4745736"/>
            <a:ext cx="502920" cy="502920"/>
          </a:xfrm>
          <a:prstGeom prst="ellipse">
            <a:avLst/>
          </a:prstGeom>
          <a:solidFill>
            <a:srgbClr val="0F766E"/>
          </a:solidFill>
          <a:ln w="12700">
            <a:solidFill>
              <a:srgbClr val="0F766E"/>
            </a:solidFill>
            <a:prstDash val="solid"/>
          </a:ln>
        </p:spPr>
      </p:sp>
      <p:pic>
        <p:nvPicPr>
          <p:cNvPr id="31"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2" name="Text 27"/>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3" name="Text 28"/>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retrieval and RAG tables, agent trajectories and audit log, and three answers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Lewis et al. (2020) Retrieval-Augmented Generation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The original RAG paper</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Yao et al. (2022) ReAct</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Reasoning and acting with tools</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Anthropic: Building effective agents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Workflows vs agents</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Anthropic: Contextual retrieval</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Improving RAG retrieval</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OpenAI: Function calling</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Tool use with the API</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Hugging Face AI Agents Course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Free course on agents</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Microsoft: AI Agents for Beginners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Lessons with code</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Model Context Protocol</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Specification and SDKs</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Week 12: evidence and controlled tools</a:t>
            </a:r>
            <a:endParaRPr lang="en-US" sz="3200" dirty="0"/>
          </a:p>
        </p:txBody>
      </p:sp>
      <p:sp>
        <p:nvSpPr>
          <p:cNvPr id="6" name="Shape 4"/>
          <p:cNvSpPr/>
          <p:nvPr/>
        </p:nvSpPr>
        <p:spPr>
          <a:xfrm>
            <a:off x="946879" y="1630142"/>
            <a:ext cx="3323515" cy="1376531"/>
          </a:xfrm>
          <a:prstGeom prst="roundRect">
            <a:avLst>
              <a:gd name="adj" fmla="val 5314"/>
            </a:avLst>
          </a:prstGeom>
          <a:solidFill>
            <a:srgbClr val="E4F2FB"/>
          </a:solidFill>
          <a:ln w="15240">
            <a:solidFill>
              <a:srgbClr val="0072B2"/>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Prepare sources</a:t>
            </a:r>
            <a:endParaRPr lang="en-US" sz="1758" dirty="0"/>
          </a:p>
        </p:txBody>
      </p:sp>
      <p:sp>
        <p:nvSpPr>
          <p:cNvPr id="8" name="Text 6"/>
          <p:cNvSpPr txBox="1"/>
          <p:nvPr/>
        </p:nvSpPr>
        <p:spPr>
          <a:xfrm>
            <a:off x="1080812"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Chunk authorised documents;</a:t>
            </a:r>
            <a:endParaRPr lang="en-US" sz="1523" dirty="0"/>
          </a:p>
        </p:txBody>
      </p:sp>
      <p:sp>
        <p:nvSpPr>
          <p:cNvPr id="9" name="Text 7"/>
          <p:cNvSpPr txBox="1"/>
          <p:nvPr/>
        </p:nvSpPr>
        <p:spPr>
          <a:xfrm>
            <a:off x="1080812"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keep vectors, IDs and</a:t>
            </a:r>
            <a:endParaRPr lang="en-US" sz="1523" dirty="0"/>
          </a:p>
        </p:txBody>
      </p:sp>
      <p:sp>
        <p:nvSpPr>
          <p:cNvPr id="10" name="Text 8"/>
          <p:cNvSpPr txBox="1"/>
          <p:nvPr/>
        </p:nvSpPr>
        <p:spPr>
          <a:xfrm>
            <a:off x="1080812"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permissions.</a:t>
            </a:r>
            <a:endParaRPr lang="en-US" sz="1523" dirty="0"/>
          </a:p>
        </p:txBody>
      </p:sp>
      <p:sp>
        <p:nvSpPr>
          <p:cNvPr id="11" name="Shape 9"/>
          <p:cNvSpPr/>
          <p:nvPr/>
        </p:nvSpPr>
        <p:spPr>
          <a:xfrm>
            <a:off x="4434090" y="1630142"/>
            <a:ext cx="3323515" cy="1376531"/>
          </a:xfrm>
          <a:prstGeom prst="rect">
            <a:avLst/>
          </a:prstGeom>
          <a:solidFill>
            <a:srgbClr val="E5F7EF"/>
          </a:solidFill>
          <a:ln w="15240">
            <a:solidFill>
              <a:srgbClr val="009E73"/>
            </a:solidFill>
            <a:prstDash val="solid"/>
          </a:ln>
        </p:spPr>
      </p:sp>
      <p:sp>
        <p:nvSpPr>
          <p:cNvPr id="12" name="Text 10"/>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Retrieve evidence</a:t>
            </a:r>
            <a:endParaRPr lang="en-US" sz="1758" dirty="0"/>
          </a:p>
        </p:txBody>
      </p:sp>
      <p:sp>
        <p:nvSpPr>
          <p:cNvPr id="13" name="Text 11"/>
          <p:cNvSpPr txBox="1"/>
          <p:nvPr/>
        </p:nvSpPr>
        <p:spPr>
          <a:xfrm>
            <a:off x="456802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Compare keyword and dense</a:t>
            </a:r>
            <a:endParaRPr lang="en-US" sz="1523" dirty="0"/>
          </a:p>
        </p:txBody>
      </p:sp>
      <p:sp>
        <p:nvSpPr>
          <p:cNvPr id="14" name="Text 12"/>
          <p:cNvSpPr txBox="1"/>
          <p:nvPr/>
        </p:nvSpPr>
        <p:spPr>
          <a:xfrm>
            <a:off x="456802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search; fuse and re-rank when</a:t>
            </a:r>
            <a:endParaRPr lang="en-US" sz="1523" dirty="0"/>
          </a:p>
        </p:txBody>
      </p:sp>
      <p:sp>
        <p:nvSpPr>
          <p:cNvPr id="15" name="Text 13"/>
          <p:cNvSpPr txBox="1"/>
          <p:nvPr/>
        </p:nvSpPr>
        <p:spPr>
          <a:xfrm>
            <a:off x="456802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useful.</a:t>
            </a:r>
            <a:endParaRPr lang="en-US" sz="1523" dirty="0"/>
          </a:p>
        </p:txBody>
      </p:sp>
      <p:sp>
        <p:nvSpPr>
          <p:cNvPr id="16" name="Shape 14"/>
          <p:cNvSpPr/>
          <p:nvPr/>
        </p:nvSpPr>
        <p:spPr>
          <a:xfrm>
            <a:off x="7921301" y="1630142"/>
            <a:ext cx="3323515" cy="1376531"/>
          </a:xfrm>
          <a:prstGeom prst="rect">
            <a:avLst/>
          </a:prstGeom>
          <a:solidFill>
            <a:srgbClr val="E5F7EF"/>
          </a:solidFill>
          <a:ln w="15240">
            <a:solidFill>
              <a:srgbClr val="009E73"/>
            </a:solidFill>
            <a:prstDash val="solid"/>
          </a:ln>
        </p:spPr>
      </p:sp>
      <p:sp>
        <p:nvSpPr>
          <p:cNvPr id="17" name="Text 15"/>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Answer from sources</a:t>
            </a:r>
            <a:endParaRPr lang="en-US" sz="1758" dirty="0"/>
          </a:p>
        </p:txBody>
      </p:sp>
      <p:sp>
        <p:nvSpPr>
          <p:cNvPr id="18" name="Text 16"/>
          <p:cNvSpPr txBox="1"/>
          <p:nvPr/>
        </p:nvSpPr>
        <p:spPr>
          <a:xfrm>
            <a:off x="805523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Supply passages, check claims</a:t>
            </a:r>
            <a:endParaRPr lang="en-US" sz="1523" dirty="0"/>
          </a:p>
        </p:txBody>
      </p:sp>
      <p:sp>
        <p:nvSpPr>
          <p:cNvPr id="19" name="Text 17"/>
          <p:cNvSpPr txBox="1"/>
          <p:nvPr/>
        </p:nvSpPr>
        <p:spPr>
          <a:xfrm>
            <a:off x="805523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and citations, and abstain when</a:t>
            </a:r>
            <a:endParaRPr lang="en-US" sz="1523" dirty="0"/>
          </a:p>
        </p:txBody>
      </p:sp>
      <p:sp>
        <p:nvSpPr>
          <p:cNvPr id="20" name="Text 18"/>
          <p:cNvSpPr txBox="1"/>
          <p:nvPr/>
        </p:nvSpPr>
        <p:spPr>
          <a:xfrm>
            <a:off x="805523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needed.</a:t>
            </a:r>
            <a:endParaRPr lang="en-US" sz="1523" dirty="0"/>
          </a:p>
        </p:txBody>
      </p:sp>
      <p:sp>
        <p:nvSpPr>
          <p:cNvPr id="21" name="Shape 19"/>
          <p:cNvSpPr/>
          <p:nvPr/>
        </p:nvSpPr>
        <p:spPr>
          <a:xfrm>
            <a:off x="946879" y="3170368"/>
            <a:ext cx="3323515" cy="1376531"/>
          </a:xfrm>
          <a:prstGeom prst="roundRect">
            <a:avLst>
              <a:gd name="adj" fmla="val 5314"/>
            </a:avLst>
          </a:prstGeom>
          <a:solidFill>
            <a:srgbClr val="FFF0E6"/>
          </a:solidFill>
          <a:ln w="15240">
            <a:solidFill>
              <a:srgbClr val="D55E00"/>
            </a:solidFill>
            <a:prstDash val="solid"/>
          </a:ln>
        </p:spPr>
      </p:sp>
      <p:sp>
        <p:nvSpPr>
          <p:cNvPr id="22" name="Text 20"/>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Evaluate each stage</a:t>
            </a:r>
            <a:endParaRPr lang="en-US" sz="1758" dirty="0"/>
          </a:p>
        </p:txBody>
      </p:sp>
      <p:sp>
        <p:nvSpPr>
          <p:cNvPr id="23" name="Text 21"/>
          <p:cNvSpPr txBox="1"/>
          <p:nvPr/>
        </p:nvSpPr>
        <p:spPr>
          <a:xfrm>
            <a:off x="1080812"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Inspect retrieval hits separately</a:t>
            </a:r>
            <a:endParaRPr lang="en-US" sz="1523" dirty="0"/>
          </a:p>
        </p:txBody>
      </p:sp>
      <p:sp>
        <p:nvSpPr>
          <p:cNvPr id="24" name="Text 22"/>
          <p:cNvSpPr txBox="1"/>
          <p:nvPr/>
        </p:nvSpPr>
        <p:spPr>
          <a:xfrm>
            <a:off x="1080812"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from correctness and faithfulness.</a:t>
            </a:r>
            <a:endParaRPr lang="en-US" sz="1523" dirty="0"/>
          </a:p>
        </p:txBody>
      </p:sp>
      <p:sp>
        <p:nvSpPr>
          <p:cNvPr id="25" name="Shape 23"/>
          <p:cNvSpPr/>
          <p:nvPr/>
        </p:nvSpPr>
        <p:spPr>
          <a:xfrm>
            <a:off x="4434090" y="3170368"/>
            <a:ext cx="3323515" cy="1376531"/>
          </a:xfrm>
          <a:prstGeom prst="rect">
            <a:avLst/>
          </a:prstGeom>
          <a:solidFill>
            <a:srgbClr val="F2F4F5"/>
          </a:solidFill>
          <a:ln w="15240">
            <a:solidFill>
              <a:srgbClr val="626B73"/>
            </a:solidFill>
            <a:prstDash val="solid"/>
          </a:ln>
        </p:spPr>
      </p:sp>
      <p:sp>
        <p:nvSpPr>
          <p:cNvPr id="26" name="Text 24"/>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Control tool execution</a:t>
            </a:r>
            <a:endParaRPr lang="en-US" sz="1758" dirty="0"/>
          </a:p>
        </p:txBody>
      </p:sp>
      <p:sp>
        <p:nvSpPr>
          <p:cNvPr id="27" name="Text 25"/>
          <p:cNvSpPr txBox="1"/>
          <p:nvPr/>
        </p:nvSpPr>
        <p:spPr>
          <a:xfrm>
            <a:off x="456802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Model proposes; code checks</a:t>
            </a:r>
            <a:endParaRPr lang="en-US" sz="1523" dirty="0"/>
          </a:p>
        </p:txBody>
      </p:sp>
      <p:sp>
        <p:nvSpPr>
          <p:cNvPr id="28" name="Text 26"/>
          <p:cNvSpPr txBox="1"/>
          <p:nvPr/>
        </p:nvSpPr>
        <p:spPr>
          <a:xfrm>
            <a:off x="456802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permission and runs bounded</a:t>
            </a:r>
            <a:endParaRPr lang="en-US" sz="1523" dirty="0"/>
          </a:p>
        </p:txBody>
      </p:sp>
      <p:sp>
        <p:nvSpPr>
          <p:cNvPr id="29" name="Text 27"/>
          <p:cNvSpPr txBox="1"/>
          <p:nvPr/>
        </p:nvSpPr>
        <p:spPr>
          <a:xfrm>
            <a:off x="456802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actions.</a:t>
            </a:r>
            <a:endParaRPr lang="en-US" sz="1523" dirty="0"/>
          </a:p>
        </p:txBody>
      </p:sp>
      <p:sp>
        <p:nvSpPr>
          <p:cNvPr id="30" name="Shape 28"/>
          <p:cNvSpPr/>
          <p:nvPr/>
        </p:nvSpPr>
        <p:spPr>
          <a:xfrm>
            <a:off x="7921301" y="3170368"/>
            <a:ext cx="3323515" cy="1376531"/>
          </a:xfrm>
          <a:prstGeom prst="roundRect">
            <a:avLst>
              <a:gd name="adj" fmla="val 5314"/>
            </a:avLst>
          </a:prstGeom>
          <a:solidFill>
            <a:srgbClr val="F9EAF4"/>
          </a:solidFill>
          <a:ln w="15240">
            <a:solidFill>
              <a:srgbClr val="CC79A7"/>
            </a:solidFill>
            <a:prstDash val="solid"/>
          </a:ln>
        </p:spPr>
      </p:sp>
      <p:sp>
        <p:nvSpPr>
          <p:cNvPr id="31" name="Text 29"/>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Audit the system</a:t>
            </a:r>
            <a:endParaRPr lang="en-US" sz="1758" dirty="0"/>
          </a:p>
        </p:txBody>
      </p:sp>
      <p:sp>
        <p:nvSpPr>
          <p:cNvPr id="32" name="Text 30"/>
          <p:cNvSpPr txBox="1"/>
          <p:nvPr/>
        </p:nvSpPr>
        <p:spPr>
          <a:xfrm>
            <a:off x="805523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Test injection, access, approvals</a:t>
            </a:r>
            <a:endParaRPr lang="en-US" sz="1523" dirty="0"/>
          </a:p>
        </p:txBody>
      </p:sp>
      <p:sp>
        <p:nvSpPr>
          <p:cNvPr id="33" name="Text 31"/>
          <p:cNvSpPr txBox="1"/>
          <p:nvPr/>
        </p:nvSpPr>
        <p:spPr>
          <a:xfrm>
            <a:off x="805523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and missing evidence.</a:t>
            </a:r>
            <a:endParaRPr lang="en-US" sz="1523" dirty="0"/>
          </a:p>
        </p:txBody>
      </p:sp>
      <p:sp>
        <p:nvSpPr>
          <p:cNvPr id="34" name="Text 32"/>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5" name="Text 33"/>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Handbook question → source search → cited answer; grade task → checked search → calculator → 68.8.</a:t>
            </a:r>
            <a:endParaRPr lang="en-US" sz="1582" dirty="0"/>
          </a:p>
        </p:txBody>
      </p:sp>
      <p:sp>
        <p:nvSpPr>
          <p:cNvPr id="36" name="Text 34"/>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use the complete 12-week pack to build, measure and explain a project with evidence.</a:t>
            </a:r>
            <a:endParaRPr lang="en-US" sz="1523" dirty="0"/>
          </a:p>
        </p:txBody>
      </p:sp>
      <p:sp>
        <p:nvSpPr>
          <p:cNvPr id="37" name="Text 35"/>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A citation points to the correct document. Does it prove the answer is supported?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12: Retrieval-Augmented Generation (RAG) &amp; Agentic AI</dc:title>
  <dc:subject>Generative AI (MSc in Artificial Intelligence)</dc:subject>
  <dc:creator>Generative AI module team</dc:creator>
  <cp:lastModifiedBy>Generative AI module team</cp:lastModifiedBy>
  <cp:revision>1</cp:revision>
  <dcterms:created xsi:type="dcterms:W3CDTF">2026-10-10T07:35:24Z</dcterms:created>
  <dcterms:modified xsi:type="dcterms:W3CDTF">2026-10-10T07:35:24Z</dcterms:modified>
</cp:coreProperties>
</file>