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4, diffusion models. Almost every image and video generator you have used since 2022 is built on the ideas of today: Stable Diffusion, the image generators in chat assistants, Midjourney-style tools, and video models. The images on this slide were generated for this lecture by Stable Diffusion running on an ordinary laptop. Today we connect three threads: last week's GANs, whose sample quality diffusion matches; week 2's VAEs, whose latent space diffusion runs in; and week 1's probability, because diffusion is trained with a bound on the likelihood. The lab trains a small diffusion model and uses a pretrained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The first sets up the motivation by comparing with the previous two weeks. Outcomes two and three are the theoretical core: the forward process with its closed form, the reverse process, and the remarkably simple training objective of predicting the noise. Outcome four covers the architecture used in practice, particularly latent diffusion, which explains how Stable Diffusion works. Outcome five is hands-on: in the lab students generate images and vary steps, guidance, seeds and negative prompts. Outcome six brings us to 2026: flow matching, few-step distillation, editing, video and audio, and how to evaluate generators. This week touches MIMLOs 1 to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descriptor: motivation and limitations of GANs and VAEs, theoretical foundations, core architecture, the denoising process, variants, evaluation and applications, and a comparison with other generative models. Section two has the equations, so take the break after it. Section four shows real Stable Diffusion outputs generated for these slides, so students can see what each setting does before trying it themselves. If time is short, compress the variants cards; the video and audio models return in week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Gaussian noise: Random numerical values drawn from a bell-shaped distribution. Ask: Does standard Gaussian noise already contain a requested digit? Regression: Learning to predict numerical values rather than selecting a class label. Ask: Is predicting a noise value of -0.5 regression or classification? Tensor shape: The number of entries along each dimension of an array. Ask: Why should a pixel-noise predictor output the same shape as its noisy image input?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pairs. The key intuitions: removing a small amount of noise is easy because the image is still mostly visible; starting from different random noise leads to different final images, which is where diversity comes from; and a description, such as 'a lighthouse at sunset', helps decide what to restore, which is text conditioning. This is exactly the structure of today's lecture: a fixed noising process, a learned denoiser applied many times, randomness from the starting noise, and guidance from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motivates diffusion by comparison with the two families we have studied. We summarise their limitations, place the three families on a trade-off triangle of quality, diversity and speed, and state the core idea of diffusion in one slide. Ask students to recall one weakness of VAEs and one of GANs before you show the next slide. About twelve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diffusion model learns from examples whose corruption is known. The forward process uses a fixed noise schedule to mix clean data with Gaussian noise. q_sample can produce the noisy example for a selected timestep directly, without running every earlier noising step. The timestep tells the network how much corruption to expect. In this lab, the network predicts the noise that was added, rather than directly predicting a class or the clean image. Because the training code drew that noise, it has an exact numerical target for mean squared error. The target follows a separate path to the loss; it is not given to the denoiser. Backpropagation updates the denoiser weights, while the schedule remains fixed. Training samples many noise levels in random order. Generation is a different loop: start from new Gaussian noise and use the learned predictions to move through decreasing noise levels.
Worked example:
Take a clean pixel value x0 = 0.8 and a timestep where abar = 0.36.
For noise epsilon = -0.5, q_sample gives 0.6 × 0.8 + 0.8 × (-0.5) = 0.08.
The denoiser sees the noisy input and timestep; it does not receive the true epsilon as input.
Compare its predicted noise with -0.5; the loss is aggregated across all entries.
Generation later starts from fresh noise and repeatedly calls the trained network through reverse_step.
Check: Which quantity is the target in diffusion_loss: the clean input x0 or the sampled noise eps?
Answer: The sampled noise eps is the target. The clean input helps construct the noisy training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summarises why diffusion won the image generation race around 2021 to 2022. VAEs are stable and cover the data but blur; GANs are sharp but unstable and can drop modes. Diffusion models are trained with a plain mean-squared-error loss, so training is as stable as ordinary regression; they are likelihood-based, so they cover the data; and they produce very detailed images that can be steered by text. The price is in the last row: sampling needs many network evaluations. A large part of research since 2022 has reduced that cost, which we cover in sections four and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triangle, sometimes called the generative learning trilemma, is a useful mental model. GANs sit near high quality and fast sampling but can lack diversity. VAEs are fast and cover the data but lack quality. Diffusion models achieve quality and coverage but are slow. The arrow shows the direction of recent research: distilled diffusion models and flow-matching models generate in one to four steps while keeping most of the quality. In the project, students should justify their choice of model family using exactly these three properties plus cost and controllability.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idea plainly before any equations. We destroy structure gradually with a fixed noising process that has no parameters. We then learn to undo one small step of noising. Because each step removes only a little noise, the network's job at each step is an easy local problem, and training is plain supervised regression. Generation chains these small steps together from pure noise. This decomposition is why diffusion trains stably. The idea goes back to Sohl-Dickstein and colleagues in 2015; the 2020 DDPM paper by Ho, Jain and Abbeel made it work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gives the theoretical foundations. We define the forward process and its very useful closed form, look at real images being noised and at noise schedules, define the reverse process, and derive the training objective that predicts the added noise. We then connect this to the score-based view, show the training and sampling code, and see real results from small diffusion models trained for these slides. This is the core exam material; allow about thirty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forward process as a Markov chain: each step multiplies the current image by the square root of one minus beta and adds Gaussian noise with variance beta. The scaling keeps the overall variance constant, which is why it is called variance-preserving. Because Gaussians compose, we can jump to any step directly, and the reparameterised form, x t equals root alpha-bar times x nought plus root one minus alpha-bar times epsilon, is the one we implement. Point out the link to week 2: this is exactly the reparameterisation trick. After a thousand steps essentially no signal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digits at increasing timesteps. At t equals fifty the digit is clearly visible; by five hundred it is barely perceptible; by nine hundred and ninety-nine only noise remains. Ask students: if you were the network and saw the image at t equals seven hundred and fifty, could you predict exactly which noise was added? Not exactly, but you could make a reasonable guess of which digit shape is underneath, and that partial information is what the model learns to exploit. Note that most information is destroyed in the middle timesteps, which motivates better schedules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 is a design choice. With the original linear schedule, alpha-bar falls to near zero well before the last step, so many training steps are spent on almost pure noise. The cosine schedule keeps more signal for longer. The plot on the right shows the signal-to-noise ratio on a log scale, which is the quantity that later work, such as the EDM framework of Karras and colleagues, identified as the natural way to describe schedules. Students do not need to memorise schedules, but should know that the schedule affects both training quality and how many sampling steps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uses the trained denoiser repeatedly, but it does not train the network again. At the start, the image tensor contains random Gaussian values. A timestep embedding turns the timestep number into features the denoiser can use. TinyUNet processes the image at several resolutions and combines saved features through skip connections, returning a noise prediction with the same shape as the image. The reverse-step formula uses that prediction and the fixed schedule to compute the next state. This lab's DDPM sampler also adds fresh noise except at the final step. Each new state goes back through the same denoiser at a lower timestep until an image is produced. DDIM uses a different update to jump between selected noise levels. Reducing sample_ddpm's steps simply starts at a lower index and truncates its chain; use sample_ddim to study proper timestep skipping across the full schedule.
Worked example:
sample_ddpm starts with shape [n, 1, 28, 28] and begins at index 999 for the full schedule.
TinyUNet predicts an equally shaped noise tensor using the current image and timestep embedding.
reverse_step computes a lower-noise state and adds fresh noise when t is greater than 0.
The next call uses the updated tensor and a smaller timestep, without changing model weights.
sample_ddim instead spans the schedule with 50 selected timesteps and deterministic updates.
Check: Does taking 50 DDIM steps mean training 50 separate denoisers?
Answer: No. The same trained network is called at 50 selected timestep values; only the sampling procedure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reverse process runs the chain backwards. When each forward step adds only a small amount of noise, the true reverse step is also approximately Gaussian, so we model it as a Gaussian whose mean is produced by a network. DDPM parameterises that mean through a noise-prediction network: given the noisy image and the timestep, it predicts the noise, and the formula converts that prediction into the mean of the slightly cleaner image. The same network is used at every step and receives the timestep as an extra input, usually through a sinusoidal embedding like the positional encodings we meet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equation of the week, and it is remarkably simple. The training loop picks a real image, a random step, and random noise, creates the noisy image with the closed form, and regresses the added noise with mean squared error. Ho and colleagues derived it from the evidence lower bound, the same bound as in week 2, and found that dropping the bound's weighting improved sample quality. So diffusion models are likelihood-based, like VAEs, and can be seen as a very deep hierarchical VAE with a fixed encoder. No discriminator is needed, which is why training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maths becomes a handful of lines. Training samples a single random timestep per image, so each training step costs one network evaluation, exactly like supervised learning. Sampling loops over all timesteps from the last to the first, calling the network each time and adding a little fresh noise except at the final step. This asymmetry is important: training is cheap per example, sampling is expensive. With a thousand steps, generating one image costs a thousand network calls, which motivates the faster samplers in section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papers use a second vocabulary, so students need to recognise it. The score of a distribution is the gradient of the log density with respect to the data; it points uphill towards more likely data. Predicting the noise in a noisy sample turns out to be equivalent, up to a scale factor, to estimating the score of the noised data distribution, a method called denoising score matching. Song and colleagues showed that diffusion is the discretisation of a stochastic differential equation and that an equivalent deterministic ordinary differential equation exists. Deterministic ODE solvers are the basis of the fast samplers used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result on data we can see. We trained a tiny three-layer network on points from a two-dimensional swiss roll using exactly the loss on the previous slides, then ran the reverse process from pure Gaussian noise. At the first reverse step the points are a shapeless cloud; as the steps proceed, they are pulled onto the spiral, and at the end they lie on the data. No adversary, no encoder, and the whole distribution is covered, including the thin ends of the spiral that a GAN might drop. Students train this model in the first part of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digits come from a very small U-Net trained for a few epochs with the same code as the lab. Reading down the rows, the reverse process starts from noise, coarse shapes emerge around the middle timesteps, and fine strokes are refined at the end. This coarse-to-fine behaviour is typical of diffusion: early reverse steps decide the global layout, late steps add detail. It is also why editing methods such as SDEdit start from a partially noised image: they keep the layout decided by the input and let the model repaint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The network receives a noisy image and its timestep and predicts the noise that was mixed in; the loss is mean squared error against the true noise. A is what we would love to do, but it is far too hard in one step, which is exactly why diffusion splits it into many small steps. Some variants do predict the clean image or a velocity, but always at a given noise level, not from pure noise in one shot. C and D describe classifiers and autoregressive models respectively. D is a good distractor because it is how autoregressive image models such as PixelCNN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three moves from maths to engineering. Which network predicts the noise, U-Net or transformer? Why do practical systems run diffusion in the latent space of an autoencoder, connecting back to week 2? And how does a text prompt influence the denoiser? By the end students should be able to explain the full Stable Diffusion pipeline component by component, which is a common exam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denoiser must map a noisy image to a noise prediction of the same shape. The U-Net, originally from medical image segmentation, is ideal for this: it downsamples to capture global context, upsamples back to full resolution, and uses skip connections to preserve detail; attention layers are inserted at lower resolutions. Stable Diffusion 1 and 2 and SDXL use U-Nets. Peebles and Xie showed in 2022 that a plain transformer over image patches, the diffusion transformer, scales better, and recent models such as Stable Diffusion 3, FLUX and most video generators use transformer backbones. Next week's transformer lecture explains the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left to right. The prompt is tokenised and encoded by a pretrained text encoder, CLIP's text transformer in Stable Diffusion 1.5, T5 as well in later models. Generation starts from random noise in the latent space, not in pixel space. The denoiser runs for a number of steps, each time attending to the text embeddings through cross-attention, a mechanism explained next week. The final clean latent is decoded to pixels by the VAE decoder. For scale: Stable Diffusion 1.5 has a U-Net of about 860 million parameters, a 123-million-parameter CLIP text encoder and an 84-million-parameter VAE.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division of labour. The autoencoder is trained first and frozen; it makes the whole system affordable, which is why latent diffusion made open-source image generation possible on consumer GPUs. The text encoder is usually a frozen pretrained model; weaknesses in prompt following, such as counting objects or rendering text, often trace back to it, which is why newer models use larger text encoders. The denoiser is the part trained on hundreds of millions of image-caption pairs. The scheduler is not a network at all; in the Hugging Face Diffusers library you can swap it with one line, which students do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is practical and visual. Every image generator exposes a few controls: number of steps, sampler, guidance scale, seed and negative prompt. Students will use all of them in the lab and in the project. We explain what each one does in terms of the maths from section two, using real Stable Diffusion outputs generated with a fixed seed so that only one setting changes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of samplers. DDPM's ancestral sampler follows a stochastic reverse chain. This lab's DDIM uses deterministic updates over selected timesteps spanning the full schedule; ODE solvers such as DPM-Solver are another route to fewer evaluations. Neither requires retraining the noise predictor. Simply lowering the steps argument in the lab's DDPM function truncates its loop, so use the full DDPM schedule as the baseline and DDIM for timestep skipping. Measure quality and runtime in the actual experiment. Distillation goes further by training a student model for large jumps, giving few-step generation. Consistency models and adversarial diffusion distillation, which connects with last week's GAN discriminator, are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with everything fixed except the number of steps. With two steps the image is a blurry colour layout, showing that the global composition is decided early. By five steps the scene is recognisable; ten steps add most details; twenty-five steps refine textures. Beyond about twenty-five to thirty steps with a good solver, improvements are small, which is why most tools default to twenty to fifty. Ask students to connect this with the coarse-to-fine MNIST figure. The computation time scales linearly with steps; the timings are in the teaching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Classifier-free guidance is the single most important trick behind prompt-following image generation. During training, the prompt is replaced by an empty prompt some of the time, so one network learns both conditional and unconditional noise predictions. At sampling time we compute both and extrapolate from the unconditional prediction towards the conditional one. The difference vector points in the direction that makes the image more like the prompt; multiplying it by w greater than one exaggerates that direction. The cost is two network evaluations per step. It replaced classifier guidance, which needed a separate noise-aware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with only the guidance scale changing. At one, the model is the plain conditional model and the image often ignores parts of the prompt. Around seven and a half, the default for Stable Diffusion 1.5, the lighthouse, cliff and sunset are all present. At fifteen, colours saturate and contrast becomes harsh, a characteristic artefact of excessive guidance. This is also a diversity trade-off: higher guidance makes different seeds look more alike. Connect to GANs: the truncation trick in BigGAN trades diversity for quality in a similar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shows four seeds for the same prompt: composition, viewpoint and colours vary, which is the diversity that comes from the starting noise. Always record the seed in experiments, together with the model, sampler, steps and guidance. The bottom row shows a negative prompt. Mechanically, it is simple: in the guidance formula the empty-prompt prediction is replaced by the prediction for the negative prompt, so the image is pushed away from those concepts; here the lamp is removed and the image is cleaner. Negative prompts are useful but blunt: they cannot reliably remove small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brings us to the current state of the field. Flow matching and rectified flow, used by Stable Diffusion 3 and FLUX; few-step distillation, with a real SD-Turbo example; the many variants for editing, control, video and audio; how to evaluate image generators; a comparison of all the generative families so far; and responsible use, including copyright and memorisation, which are live issues for diffusion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matching, introduced by Lipman and colleagues and in rectified flow by Liu and colleagues in 2022, learns a velocity field that transports noise to data along simple paths, usually straight lines between a noise sample and a data sample. Diffusion's variance-preserving paths are curved, as the left panel illustrates. Straighter paths can be followed accurately with fewer and larger steps, which is why rectified-flow models such as Stable Diffusion 3 and FLUX generate high-quality images in fewer steps. Conceptually they are close relatives of diffusion: both learn to turn noise into data gradually with a regression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is as simple as DDPM's. Mix a data point and a noise sample with a linear interpolation, and train the network to predict the constant velocity of that straight path, the noise minus the data. At sampling time, start from noise and integrate the learned velocity field back to the data with a few ODE steps. Warn students that sign and time conventions vary between papers: some write the data at time one. The important ideas are the linear path, the velocity target and the regression loss. In the lab, the optional extension converts the MNIST model to flow matching with a two-line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result from SD-Turbo, released by Stability AI in 2023. It was distilled from Stable Diffusion 2.1 using adversarial diffusion distillation, which combines a distillation loss with a GAN discriminator, connecting last week and this week. With one step it already produces a coherent image, and four steps add detail. Compare with the twenty-five steps and classifier-free guidance, meaning fifty network calls, used on the previous slides. The timings measured on the lecture machine are in the notes. The costs: fixed resolution, somewhat less diversity, and weaker control through negative prompts, since guidance is disabled.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Diffusion is a general recipe, so it has spread far beyond text-to-image. Editing methods exploit the coarse-to-fine structure: noise an existing image partly, then denoise with a new prompt; inpainting restricts changes to a mask. ControlNet adds a trainable copy of the encoder that reads structural conditions such as edges, depth maps or human pose. Personalisation methods, including LoRA, which we study in week 8, teach a model a new subject from a handful of images. Video models extend diffusion transformers to space and time; audio models diffuse in spectrogram or codec latent spaces. In science, diffusion designs proteins and forecasts weather. Week 10 revisits video and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of text-to-image models needs several metrics because they fail in several ways. FID measures realism and diversity against a reference set. CLIP score measures how well the image matches the prompt, using the CLIP model from week 9, but it can be fooled by images containing the right keywords. Compositional benchmarks such as GenEval check whether the image has the right number of objects, colours and positions using object detectors. Human preference studies, including large public arenas, remain the most trusted, but they need careful design. Finally, efficiency is a first-class metric for deployment. The project should report at least one automatic and one human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completes the comparison with other generative models required by the descriptor and is a strong revision aid. It also shows how the families work together in practice: the VAE provides the latent space, diffusion or flow matching does the generation, and GAN losses keep decoders sharp and help distil fast samplers. Transformers, next week, supply both the text encoder and, increasingly, the denoiser backbone. Encourage students to use this table to structure an exam answer on choosing a model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a live issue. Copyright: diffusion models were trained on large scraped datasets such as LAION, and courts in several countries are considering claims by artists and image libraries; students should not assume training use is settled law. Memorisation: Carlini and colleagues showed that images duplicated many times in training can be regenerated almost exactly, a privacy and copyright risk. Bias audits of Stable Diffusion found strong occupational and racial stereotypes. Safety filters and provenance tools help, and Article 50 of the EU AI Act requires disclosure of AI-generated images. In the lab, the pipeline's safety checker is discussed rather than removed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begins with a system small enough to inspect. Noising a digit exposes the meaning of the schedule. A two-dimensional point model then makes the reverse trajectory visible before you train an image network. Both networks use the same noise-prediction loss. Comparing DDPM and DDIM separates the denoiser from the sampler: fixed learned weights can support different generation procedures. The pretrained text-to-image pipeline adds components. A text encoder represents the prompt, a denoiser updates a compact image latent, a scheduler controls the updates, and a VAE decoder turns the result into pixels. The generate wrapper calls these components through pipe; it does not train them. Keep one setting change per comparison and record the active model path, because the CPU fallback uses SD-Turbo with guidance disabled. Finally, CLIP similarity measures prompt-image agreement in one embedding space; combine it with timing and careful visual inspection.
Worked example:
Inspect q_sample at t = 0 and t = 999; index 0 already adds a small amount of noise.
On the 2-D swiss roll, compare reverse snapshots with the real point cloud.
Train TinyUNet with diffusion_loss, then record time and visual results for DDPM and DDIM.
generate fixes a seed while changing steps or guidance; the CPU SD-Turbo fallback forces guidance to zero.
clip_score compares image and prompt embeddings; also inspect object counts and visible artefacts yourself.
Check: Why might changing guidance have no effect in the CPU fallback?
Answer: The generate wrapper forces guidance to 0.0 for the SD-Turbo fallback, so the requested guidance value is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has two halves. First, students implement the forward process and the training and sampling loops themselves, on 2-D data where everything is fast, and then on MNIST with a tiny U-Net on the Colab GPU. Second, they use the Hugging Face Diffusers library with Stable Diffusion 1.5 and SD-Turbo, sweeping the controls we discussed and measuring time. They finish with a small evaluation using CLIP score, which previews week 9, and a failure case. Remind students that Stable Diffusion's licence has use restrictions, and that generated images of real people are not permitted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The key equation is the noise-prediction loss with the closed-form forward process; the key system is the latent diffusion pipeline; the key controls are steps, guidance, seed and negative prompt. Next week we open the black box that appears everywhere in today's pipeline: the transformer and its attention mechanism, which powers the text encoder, the diffusion transformer and, in week 6, large language models. Ask students to finish the lab and read Foster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Foster chapter 8 builds a diffusion model step by step in Keras. The DDPM paper is short and readable after today. The Hugging Face Diffusion Models Course is the best hands-on follow-up and uses the same Diffusers library as the lab. The Welch Labs video on the 3Blue1Brown channel is an excellent visual explanation, including classifier-free guidance. Lilian Weng's post covers the maths in depth; Jay Alammar's illustrated guide explains the pipeline; the MIT course notes are the reference for flow matching.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oreilly.com/library/view/generative-deep-learning/9781098134174/" TargetMode="External"/><Relationship Id="rId4" Type="http://schemas.openxmlformats.org/officeDocument/2006/relationships/hyperlink" Target="https://arxiv.org/abs/2006.11239" TargetMode="External"/><Relationship Id="rId6" Type="http://schemas.openxmlformats.org/officeDocument/2006/relationships/hyperlink" Target="https://huggingface.co/learn/diffusion-course/unit0/1" TargetMode="External"/><Relationship Id="rId8" Type="http://schemas.openxmlformats.org/officeDocument/2006/relationships/hyperlink" Target="https://www.youtube.com/watch?v=iv-5mZ_9CPY" TargetMode="External"/><Relationship Id="rId10" Type="http://schemas.openxmlformats.org/officeDocument/2006/relationships/hyperlink" Target="https://lilianweng.github.io/posts/2021-07-11-diffusion-models/" TargetMode="External"/><Relationship Id="rId12" Type="http://schemas.openxmlformats.org/officeDocument/2006/relationships/hyperlink" Target="https://jalammar.github.io/illustrated-stable-diffusion/" TargetMode="External"/><Relationship Id="rId14" Type="http://schemas.openxmlformats.org/officeDocument/2006/relationships/hyperlink" Target="https://diffusion.csail.mit.edu/" TargetMode="External"/><Relationship Id="rId16" Type="http://schemas.openxmlformats.org/officeDocument/2006/relationships/hyperlink" Target="https://arxiv.org/abs/2112.10752"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04</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Diffusion Models</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From noise to images: the forward and reverse processes, latent diffusion, guidance, fast samplers and flow matching</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4\cover.png">    </p:cNvPr>
          <p:cNvPicPr>
            <a:picLocks noChangeAspect="1"/>
          </p:cNvPicPr>
          <p:nvPr/>
        </p:nvPicPr>
        <p:blipFill>
          <a:blip r:embed="rId1"/>
          <a:stretch>
            <a:fillRect/>
          </a:stretch>
        </p:blipFill>
        <p:spPr>
          <a:xfrm>
            <a:off x="7818120" y="2470820"/>
            <a:ext cx="3840480" cy="191636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Explain which limitations of </a:t>
            </a:r>
            <a:pPr indent="0" marL="0">
              <a:buNone/>
            </a:pPr>
            <a:r>
              <a:rPr lang="en-US" sz="1800" b="1" dirty="0">
                <a:solidFill>
                  <a:srgbClr val="1F2937"/>
                </a:solidFill>
                <a:latin typeface="Calibri" pitchFamily="34" charset="0"/>
                <a:ea typeface="Calibri" pitchFamily="34" charset="-122"/>
                <a:cs typeface="Calibri" pitchFamily="34" charset="-120"/>
              </a:rPr>
              <a:t>GANs and VAEs</a:t>
            </a:r>
            <a:pPr indent="0" marL="0">
              <a:buNone/>
            </a:pPr>
            <a:r>
              <a:rPr lang="en-US" sz="1800" dirty="0">
                <a:solidFill>
                  <a:srgbClr val="1F2937"/>
                </a:solidFill>
                <a:latin typeface="Calibri" pitchFamily="34" charset="0"/>
                <a:ea typeface="Calibri" pitchFamily="34" charset="-122"/>
                <a:cs typeface="Calibri" pitchFamily="34" charset="-120"/>
              </a:rPr>
              <a:t> diffusion models address, and what they cost.</a:t>
            </a:r>
            <a:endParaRPr lang="en-US" sz="1800" dirty="0"/>
          </a:p>
        </p:txBody>
      </p:sp>
      <p:sp>
        <p:nvSpPr>
          <p:cNvPr id="9" name="Shape 7"/>
          <p:cNvSpPr/>
          <p:nvPr/>
        </p:nvSpPr>
        <p:spPr>
          <a:xfrm>
            <a:off x="548640" y="229666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2966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78380"/>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Describe the </a:t>
            </a:r>
            <a:pPr indent="0" marL="0">
              <a:buNone/>
            </a:pPr>
            <a:r>
              <a:rPr lang="en-US" sz="1800" b="1" dirty="0">
                <a:solidFill>
                  <a:srgbClr val="1F2937"/>
                </a:solidFill>
                <a:latin typeface="Calibri" pitchFamily="34" charset="0"/>
                <a:ea typeface="Calibri" pitchFamily="34" charset="-122"/>
                <a:cs typeface="Calibri" pitchFamily="34" charset="-120"/>
              </a:rPr>
              <a:t>forward (noising)</a:t>
            </a:r>
            <a:pPr indent="0" marL="0">
              <a:buNone/>
            </a:pPr>
            <a:r>
              <a:rPr lang="en-US" sz="1800" dirty="0">
                <a:solidFill>
                  <a:srgbClr val="1F2937"/>
                </a:solidFill>
                <a:latin typeface="Calibri" pitchFamily="34" charset="0"/>
                <a:ea typeface="Calibri" pitchFamily="34" charset="-122"/>
                <a:cs typeface="Calibri" pitchFamily="34" charset="-120"/>
              </a:rPr>
              <a:t> process and its closed form, and the learned </a:t>
            </a:r>
            <a:pPr indent="0" marL="0">
              <a:buNone/>
            </a:pPr>
            <a:r>
              <a:rPr lang="en-US" sz="1800" b="1" dirty="0">
                <a:solidFill>
                  <a:srgbClr val="1F2937"/>
                </a:solidFill>
                <a:latin typeface="Calibri" pitchFamily="34" charset="0"/>
                <a:ea typeface="Calibri" pitchFamily="34" charset="-122"/>
                <a:cs typeface="Calibri" pitchFamily="34" charset="-120"/>
              </a:rPr>
              <a:t>reverse (denoising)</a:t>
            </a:r>
            <a:pPr indent="0" marL="0">
              <a:buNone/>
            </a:pPr>
            <a:r>
              <a:rPr lang="en-US" sz="1800" dirty="0">
                <a:solidFill>
                  <a:srgbClr val="1F2937"/>
                </a:solidFill>
                <a:latin typeface="Calibri" pitchFamily="34" charset="0"/>
                <a:ea typeface="Calibri" pitchFamily="34" charset="-122"/>
                <a:cs typeface="Calibri" pitchFamily="34" charset="-120"/>
              </a:rPr>
              <a:t> process.</a:t>
            </a:r>
            <a:endParaRPr lang="en-US" sz="1800" dirty="0"/>
          </a:p>
        </p:txBody>
      </p:sp>
      <p:sp>
        <p:nvSpPr>
          <p:cNvPr id="12" name="Shape 10"/>
          <p:cNvSpPr/>
          <p:nvPr/>
        </p:nvSpPr>
        <p:spPr>
          <a:xfrm>
            <a:off x="548640" y="304800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048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29712"/>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Derive and implement the </a:t>
            </a:r>
            <a:pPr indent="0" marL="0">
              <a:buNone/>
            </a:pPr>
            <a:r>
              <a:rPr lang="en-US" sz="1800" b="1" dirty="0">
                <a:solidFill>
                  <a:srgbClr val="1F2937"/>
                </a:solidFill>
                <a:latin typeface="Calibri" pitchFamily="34" charset="0"/>
                <a:ea typeface="Calibri" pitchFamily="34" charset="-122"/>
                <a:cs typeface="Calibri" pitchFamily="34" charset="-120"/>
              </a:rPr>
              <a:t>noise-prediction</a:t>
            </a:r>
            <a:pPr indent="0" marL="0">
              <a:buNone/>
            </a:pPr>
            <a:r>
              <a:rPr lang="en-US" sz="1800" dirty="0">
                <a:solidFill>
                  <a:srgbClr val="1F2937"/>
                </a:solidFill>
                <a:latin typeface="Calibri" pitchFamily="34" charset="0"/>
                <a:ea typeface="Calibri" pitchFamily="34" charset="-122"/>
                <a:cs typeface="Calibri" pitchFamily="34" charset="-120"/>
              </a:rPr>
              <a:t> training objective; relate it to the score-based view.</a:t>
            </a:r>
            <a:endParaRPr lang="en-US" sz="1800" dirty="0"/>
          </a:p>
        </p:txBody>
      </p:sp>
      <p:sp>
        <p:nvSpPr>
          <p:cNvPr id="15" name="Shape 13"/>
          <p:cNvSpPr/>
          <p:nvPr/>
        </p:nvSpPr>
        <p:spPr>
          <a:xfrm>
            <a:off x="548640" y="379933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79933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781044"/>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Describe the core architecture: </a:t>
            </a:r>
            <a:pPr indent="0" marL="0">
              <a:buNone/>
            </a:pPr>
            <a:r>
              <a:rPr lang="en-US" sz="1800" b="1" dirty="0">
                <a:solidFill>
                  <a:srgbClr val="1F2937"/>
                </a:solidFill>
                <a:latin typeface="Calibri" pitchFamily="34" charset="0"/>
                <a:ea typeface="Calibri" pitchFamily="34" charset="-122"/>
                <a:cs typeface="Calibri" pitchFamily="34" charset="-120"/>
              </a:rPr>
              <a:t>U-Net</a:t>
            </a:r>
            <a:pPr indent="0" marL="0">
              <a:buNone/>
            </a:pPr>
            <a:r>
              <a:rPr lang="en-US" sz="1800" dirty="0">
                <a:solidFill>
                  <a:srgbClr val="1F2937"/>
                </a:solidFill>
                <a:latin typeface="Calibri" pitchFamily="34" charset="0"/>
                <a:ea typeface="Calibri" pitchFamily="34" charset="-122"/>
                <a:cs typeface="Calibri" pitchFamily="34" charset="-120"/>
              </a:rPr>
              <a:t> and </a:t>
            </a:r>
            <a:pPr indent="0" marL="0">
              <a:buNone/>
            </a:pPr>
            <a:r>
              <a:rPr lang="en-US" sz="1800" b="1" dirty="0">
                <a:solidFill>
                  <a:srgbClr val="1F2937"/>
                </a:solidFill>
                <a:latin typeface="Calibri" pitchFamily="34" charset="0"/>
                <a:ea typeface="Calibri" pitchFamily="34" charset="-122"/>
                <a:cs typeface="Calibri" pitchFamily="34" charset="-120"/>
              </a:rPr>
              <a:t>diffusion transformers</a:t>
            </a:r>
            <a:pPr indent="0" marL="0">
              <a:buNone/>
            </a:pPr>
            <a:r>
              <a:rPr lang="en-US" sz="1800" dirty="0">
                <a:solidFill>
                  <a:srgbClr val="1F2937"/>
                </a:solidFill>
                <a:latin typeface="Calibri" pitchFamily="34" charset="0"/>
                <a:ea typeface="Calibri" pitchFamily="34" charset="-122"/>
                <a:cs typeface="Calibri" pitchFamily="34" charset="-120"/>
              </a:rPr>
              <a:t>, and </a:t>
            </a:r>
            <a:pPr indent="0" marL="0">
              <a:buNone/>
            </a:pPr>
            <a:r>
              <a:rPr lang="en-US" sz="1800" b="1" dirty="0">
                <a:solidFill>
                  <a:srgbClr val="1F2937"/>
                </a:solidFill>
                <a:latin typeface="Calibri" pitchFamily="34" charset="0"/>
                <a:ea typeface="Calibri" pitchFamily="34" charset="-122"/>
                <a:cs typeface="Calibri" pitchFamily="34" charset="-120"/>
              </a:rPr>
              <a:t>latent diffusion</a:t>
            </a:r>
            <a:pPr indent="0" marL="0">
              <a:buNone/>
            </a:pPr>
            <a:r>
              <a:rPr lang="en-US" sz="1800" dirty="0">
                <a:solidFill>
                  <a:srgbClr val="1F2937"/>
                </a:solidFill>
                <a:latin typeface="Calibri" pitchFamily="34" charset="0"/>
                <a:ea typeface="Calibri" pitchFamily="34" charset="-122"/>
                <a:cs typeface="Calibri" pitchFamily="34" charset="-120"/>
              </a:rPr>
              <a:t> with a VAE and text encoder.</a:t>
            </a:r>
            <a:endParaRPr lang="en-US" sz="1800" dirty="0"/>
          </a:p>
        </p:txBody>
      </p:sp>
      <p:sp>
        <p:nvSpPr>
          <p:cNvPr id="18" name="Shape 16"/>
          <p:cNvSpPr/>
          <p:nvPr/>
        </p:nvSpPr>
        <p:spPr>
          <a:xfrm>
            <a:off x="548640" y="455066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5506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532376"/>
            <a:ext cx="6903720" cy="75133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Use a pretrained pipeline and explain the effect of </a:t>
            </a:r>
            <a:pPr indent="0" marL="0">
              <a:buNone/>
            </a:pPr>
            <a:r>
              <a:rPr lang="en-US" sz="1800" b="1" dirty="0">
                <a:solidFill>
                  <a:srgbClr val="1F2937"/>
                </a:solidFill>
                <a:latin typeface="Calibri" pitchFamily="34" charset="0"/>
                <a:ea typeface="Calibri" pitchFamily="34" charset="-122"/>
                <a:cs typeface="Calibri" pitchFamily="34" charset="-120"/>
              </a:rPr>
              <a:t>steps, samplers, classifier-free guidance, seeds and negative prompts</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548640" y="53019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3019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283708"/>
            <a:ext cx="6903720" cy="1025652"/>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Explain modern variants (</a:t>
            </a:r>
            <a:pPr indent="0" marL="0">
              <a:buNone/>
            </a:pPr>
            <a:r>
              <a:rPr lang="en-US" sz="1800" b="1" dirty="0">
                <a:solidFill>
                  <a:srgbClr val="1F2937"/>
                </a:solidFill>
                <a:latin typeface="Calibri" pitchFamily="34" charset="0"/>
                <a:ea typeface="Calibri" pitchFamily="34" charset="-122"/>
                <a:cs typeface="Calibri" pitchFamily="34" charset="-120"/>
              </a:rPr>
              <a:t>flow matching</a:t>
            </a:r>
            <a:pPr indent="0" marL="0">
              <a:buNone/>
            </a:pPr>
            <a:r>
              <a:rPr lang="en-US" sz="1800" dirty="0">
                <a:solidFill>
                  <a:srgbClr val="1F2937"/>
                </a:solidFill>
                <a:latin typeface="Calibri" pitchFamily="34" charset="0"/>
                <a:ea typeface="Calibri" pitchFamily="34" charset="-122"/>
                <a:cs typeface="Calibri" pitchFamily="34" charset="-120"/>
              </a:rPr>
              <a:t>, distillation, editing, video and audio) and evaluate outputs (FID, CLIP score, human preference).</a:t>
            </a:r>
            <a:endParaRPr lang="en-US" sz="18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555498"/>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362706"/>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362706"/>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2</a:t>
            </a:r>
            <a:endParaRPr lang="en-US" sz="1300" dirty="0"/>
          </a:p>
        </p:txBody>
      </p:sp>
      <p:sp>
        <p:nvSpPr>
          <p:cNvPr id="31" name="Text 29"/>
          <p:cNvSpPr txBox="1"/>
          <p:nvPr/>
        </p:nvSpPr>
        <p:spPr>
          <a:xfrm>
            <a:off x="8641080" y="3746754"/>
            <a:ext cx="2819095" cy="555498"/>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Analyse and apply multimodal generative AI</a:t>
            </a:r>
            <a:endParaRPr lang="en-US" sz="1400" dirty="0"/>
          </a:p>
        </p:txBody>
      </p:sp>
      <p:sp>
        <p:nvSpPr>
          <p:cNvPr id="32" name="Shape 30"/>
          <p:cNvSpPr/>
          <p:nvPr/>
        </p:nvSpPr>
        <p:spPr>
          <a:xfrm>
            <a:off x="8686800" y="4329684"/>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329684"/>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34" name="Text 32"/>
          <p:cNvSpPr txBox="1"/>
          <p:nvPr/>
        </p:nvSpPr>
        <p:spPr>
          <a:xfrm>
            <a:off x="8641080" y="4713732"/>
            <a:ext cx="2819095" cy="555498"/>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5" name="Shape 33"/>
          <p:cNvSpPr/>
          <p:nvPr/>
        </p:nvSpPr>
        <p:spPr>
          <a:xfrm>
            <a:off x="8686800" y="5296662"/>
            <a:ext cx="1143000" cy="365760"/>
          </a:xfrm>
          <a:prstGeom prst="roundRect">
            <a:avLst>
              <a:gd name="adj" fmla="val 20000"/>
            </a:avLst>
          </a:prstGeom>
          <a:solidFill>
            <a:srgbClr val="4F46E5"/>
          </a:solidFill>
          <a:ln w="12700">
            <a:solidFill>
              <a:srgbClr val="4F46E5"/>
            </a:solidFill>
            <a:prstDash val="solid"/>
          </a:ln>
        </p:spPr>
      </p:sp>
      <p:sp>
        <p:nvSpPr>
          <p:cNvPr id="36" name="Text 34"/>
          <p:cNvSpPr txBox="1"/>
          <p:nvPr/>
        </p:nvSpPr>
        <p:spPr>
          <a:xfrm>
            <a:off x="8686800" y="5296662"/>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7" name="Text 35"/>
          <p:cNvSpPr txBox="1"/>
          <p:nvPr/>
        </p:nvSpPr>
        <p:spPr>
          <a:xfrm>
            <a:off x="8641080" y="5680710"/>
            <a:ext cx="2819095" cy="555498"/>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restoring a photo from static</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Why diffusion?</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12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Forward and reverse processes</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33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Architecture and latent diffusion</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17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Sampling, guidance and prompts</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23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Variants, evaluation and responsible use</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22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8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098943"/>
                <a:gridCol w="8995472"/>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Gaussian noise</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Random numerical values drawn from a bell-shaped distribution.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Regression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Learning to predict numerical values rather than selecting a class label.</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Tensor shape</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The number of entries along each dimension of an array.</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Could you restore a photo covered in light static? What if you had to start from pure static and remove a little at a time, a thousand times?</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Removing a </a:t>
            </a:r>
            <a:pPr indent="0" marL="0">
              <a:buNone/>
            </a:pPr>
            <a:r>
              <a:rPr lang="en-US" sz="1800" b="1" dirty="0">
                <a:solidFill>
                  <a:srgbClr val="1F2937"/>
                </a:solidFill>
                <a:latin typeface="Calibri" pitchFamily="34" charset="0"/>
                <a:ea typeface="Calibri" pitchFamily="34" charset="-122"/>
                <a:cs typeface="Calibri" pitchFamily="34" charset="-120"/>
              </a:rPr>
              <a:t>little</a:t>
            </a:r>
            <a:pPr indent="0" marL="0">
              <a:buNone/>
            </a:pPr>
            <a:r>
              <a:rPr lang="en-US" sz="1800" dirty="0">
                <a:solidFill>
                  <a:srgbClr val="1F2937"/>
                </a:solidFill>
                <a:latin typeface="Calibri" pitchFamily="34" charset="0"/>
                <a:ea typeface="Calibri" pitchFamily="34" charset="-122"/>
                <a:cs typeface="Calibri" pitchFamily="34" charset="-120"/>
              </a:rPr>
              <a:t> noise is an easy, local problem. Why?</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If you always start from different random static, will you get the same photo?</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information would help you decide what the final photo should show?</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Why diffusion?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did GANs and VAEs get wrong, and what does diffusion do differently?</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 a network to predict noise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The forward process is fixed; the denoiser is the part that learns.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a:off x="872227" y="1883664"/>
            <a:ext cx="2835239" cy="1344168"/>
          </a:xfrm>
          <a:prstGeom prst="rect">
            <a:avLst/>
          </a:prstGeom>
          <a:solidFill>
            <a:srgbClr val="F5F3FF"/>
          </a:solidFill>
          <a:ln w="16510">
            <a:solidFill>
              <a:srgbClr val="4F46E5"/>
            </a:solidFill>
            <a:prstDash val="solid"/>
          </a:ln>
        </p:spPr>
      </p:sp>
      <p:sp>
        <p:nvSpPr>
          <p:cNvPr id="12" name="Text 10"/>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Draw a training example</a:t>
            </a:r>
            <a:endParaRPr lang="en-US" sz="1900" dirty="0"/>
          </a:p>
        </p:txBody>
      </p:sp>
      <p:sp>
        <p:nvSpPr>
          <p:cNvPr id="13" name="Text 11"/>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Choose clean data, a random timestep, and known Gaussian noise.</a:t>
            </a:r>
            <a:endParaRPr lang="en-US" sz="1700" dirty="0"/>
          </a:p>
        </p:txBody>
      </p:sp>
      <p:sp>
        <p:nvSpPr>
          <p:cNvPr id="14" name="Text 12"/>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diffusion_loss</a:t>
            </a:r>
            <a:endParaRPr lang="en-US" sz="1200" dirty="0"/>
          </a:p>
        </p:txBody>
      </p:sp>
      <p:sp>
        <p:nvSpPr>
          <p:cNvPr id="15" name="Text 13"/>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x0, timestep t, noise epsilon</a:t>
            </a:r>
            <a:endParaRPr lang="en-US" sz="1500" dirty="0"/>
          </a:p>
        </p:txBody>
      </p:sp>
      <p:sp>
        <p:nvSpPr>
          <p:cNvPr id="16" name="Shape 14"/>
          <p:cNvSpPr/>
          <p:nvPr/>
        </p:nvSpPr>
        <p:spPr>
          <a:xfrm>
            <a:off x="4678228" y="1883664"/>
            <a:ext cx="2835239" cy="1344168"/>
          </a:xfrm>
          <a:prstGeom prst="rect">
            <a:avLst/>
          </a:prstGeom>
          <a:solidFill>
            <a:srgbClr val="F5F3FF"/>
          </a:solidFill>
          <a:ln w="16510">
            <a:solidFill>
              <a:srgbClr val="4F46E5"/>
            </a:solidFill>
            <a:prstDash val="solid"/>
          </a:ln>
        </p:spPr>
      </p:sp>
      <p:sp>
        <p:nvSpPr>
          <p:cNvPr id="17" name="Text 15"/>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Make noisy data</a:t>
            </a:r>
            <a:endParaRPr lang="en-US" sz="1900" dirty="0"/>
          </a:p>
        </p:txBody>
      </p:sp>
      <p:sp>
        <p:nvSpPr>
          <p:cNvPr id="18" name="Text 16"/>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Mix signal and noise using the timestep's fixed schedule.</a:t>
            </a:r>
            <a:endParaRPr lang="en-US" sz="1700" dirty="0"/>
          </a:p>
        </p:txBody>
      </p:sp>
      <p:sp>
        <p:nvSpPr>
          <p:cNvPr id="19" name="Text 17"/>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q_sample</a:t>
            </a:r>
            <a:endParaRPr lang="en-US" sz="1200" dirty="0"/>
          </a:p>
        </p:txBody>
      </p:sp>
      <p:sp>
        <p:nvSpPr>
          <p:cNvPr id="20" name="Text 18"/>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noisy data xt + t</a:t>
            </a:r>
            <a:endParaRPr lang="en-US" sz="1500" dirty="0"/>
          </a:p>
        </p:txBody>
      </p:sp>
      <p:sp>
        <p:nvSpPr>
          <p:cNvPr id="21" name="Shape 19"/>
          <p:cNvSpPr/>
          <p:nvPr/>
        </p:nvSpPr>
        <p:spPr>
          <a:xfrm>
            <a:off x="8484229" y="1883664"/>
            <a:ext cx="2835239" cy="1344168"/>
          </a:xfrm>
          <a:prstGeom prst="rect">
            <a:avLst/>
          </a:prstGeom>
          <a:solidFill>
            <a:srgbClr val="F5F3FF"/>
          </a:solidFill>
          <a:ln w="16510">
            <a:solidFill>
              <a:srgbClr val="4F46E5"/>
            </a:solidFill>
            <a:prstDash val="solid"/>
          </a:ln>
        </p:spPr>
      </p:sp>
      <p:sp>
        <p:nvSpPr>
          <p:cNvPr id="22" name="Text 20"/>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Predict the noise</a:t>
            </a:r>
            <a:endParaRPr lang="en-US" sz="1900" dirty="0"/>
          </a:p>
        </p:txBody>
      </p:sp>
      <p:sp>
        <p:nvSpPr>
          <p:cNvPr id="23" name="Text 21"/>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Give noisy data and timestep to the shared denoiser.</a:t>
            </a:r>
            <a:endParaRPr lang="en-US" sz="1700" dirty="0"/>
          </a:p>
        </p:txBody>
      </p:sp>
      <p:sp>
        <p:nvSpPr>
          <p:cNvPr id="24" name="Text 22"/>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EpsMLP / TinyUNet</a:t>
            </a:r>
            <a:endParaRPr lang="en-US" sz="1200" dirty="0"/>
          </a:p>
        </p:txBody>
      </p:sp>
      <p:sp>
        <p:nvSpPr>
          <p:cNvPr id="25" name="Text 23"/>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predicted noise</a:t>
            </a:r>
            <a:endParaRPr lang="en-US" sz="1500" dirty="0"/>
          </a:p>
        </p:txBody>
      </p:sp>
      <p:sp>
        <p:nvSpPr>
          <p:cNvPr id="26" name="Shape 24"/>
          <p:cNvSpPr/>
          <p:nvPr/>
        </p:nvSpPr>
        <p:spPr>
          <a:xfrm>
            <a:off x="8484229" y="3712464"/>
            <a:ext cx="2835239" cy="1344168"/>
          </a:xfrm>
          <a:prstGeom prst="rect">
            <a:avLst/>
          </a:prstGeom>
          <a:solidFill>
            <a:srgbClr val="F5F3FF"/>
          </a:solidFill>
          <a:ln w="16510">
            <a:solidFill>
              <a:srgbClr val="4F46E5"/>
            </a:solidFill>
            <a:prstDash val="solid"/>
          </a:ln>
        </p:spPr>
      </p:sp>
      <p:sp>
        <p:nvSpPr>
          <p:cNvPr id="27" name="Text 25"/>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Compare noise values</a:t>
            </a:r>
            <a:endParaRPr lang="en-US" sz="1900" dirty="0"/>
          </a:p>
        </p:txBody>
      </p:sp>
      <p:sp>
        <p:nvSpPr>
          <p:cNvPr id="28" name="Text 26"/>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the known noise as the numerical training target.</a:t>
            </a:r>
            <a:endParaRPr lang="en-US" sz="1700" dirty="0"/>
          </a:p>
        </p:txBody>
      </p:sp>
      <p:sp>
        <p:nvSpPr>
          <p:cNvPr id="29" name="Text 27"/>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diffusion_loss</a:t>
            </a:r>
            <a:endParaRPr lang="en-US" sz="1200" dirty="0"/>
          </a:p>
        </p:txBody>
      </p:sp>
      <p:sp>
        <p:nvSpPr>
          <p:cNvPr id="30" name="Text 28"/>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mean squared error</a:t>
            </a:r>
            <a:endParaRPr lang="en-US" sz="1500" dirty="0"/>
          </a:p>
        </p:txBody>
      </p:sp>
      <p:sp>
        <p:nvSpPr>
          <p:cNvPr id="31" name="Shape 29"/>
          <p:cNvSpPr/>
          <p:nvPr/>
        </p:nvSpPr>
        <p:spPr>
          <a:xfrm>
            <a:off x="4678228" y="3712464"/>
            <a:ext cx="2835239" cy="1344168"/>
          </a:xfrm>
          <a:prstGeom prst="rect">
            <a:avLst/>
          </a:prstGeom>
          <a:solidFill>
            <a:srgbClr val="F5F3FF"/>
          </a:solidFill>
          <a:ln w="16510">
            <a:solidFill>
              <a:srgbClr val="4F46E5"/>
            </a:solidFill>
            <a:prstDash val="solid"/>
          </a:ln>
        </p:spPr>
      </p:sp>
      <p:sp>
        <p:nvSpPr>
          <p:cNvPr id="32" name="Text 30"/>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Update the denoiser</a:t>
            </a:r>
            <a:endParaRPr lang="en-US" sz="1900" dirty="0"/>
          </a:p>
        </p:txBody>
      </p:sp>
      <p:sp>
        <p:nvSpPr>
          <p:cNvPr id="33" name="Text 31"/>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Backpropagate mean squared error and step Adam.</a:t>
            </a:r>
            <a:endParaRPr lang="en-US" sz="1700" dirty="0"/>
          </a:p>
        </p:txBody>
      </p:sp>
      <p:sp>
        <p:nvSpPr>
          <p:cNvPr id="34" name="Text 32"/>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opt</a:t>
            </a:r>
            <a:endParaRPr lang="en-US" sz="1200" dirty="0"/>
          </a:p>
        </p:txBody>
      </p:sp>
      <p:sp>
        <p:nvSpPr>
          <p:cNvPr id="35" name="Shape 33"/>
          <p:cNvSpPr/>
          <p:nvPr/>
        </p:nvSpPr>
        <p:spPr>
          <a:xfrm>
            <a:off x="6095848" y="5422392"/>
            <a:ext cx="0" cy="109728"/>
          </a:xfrm>
          <a:prstGeom prst="line">
            <a:avLst/>
          </a:prstGeom>
          <a:noFill/>
          <a:ln w="20320">
            <a:solidFill>
              <a:srgbClr val="0F766E"/>
            </a:solidFill>
            <a:prstDash val="dash"/>
          </a:ln>
        </p:spPr>
      </p:sp>
      <p:sp>
        <p:nvSpPr>
          <p:cNvPr id="36" name="Shape 34"/>
          <p:cNvSpPr/>
          <p:nvPr/>
        </p:nvSpPr>
        <p:spPr>
          <a:xfrm flipH="1">
            <a:off x="603504" y="5532120"/>
            <a:ext cx="5492344" cy="0"/>
          </a:xfrm>
          <a:prstGeom prst="line">
            <a:avLst/>
          </a:prstGeom>
          <a:noFill/>
          <a:ln w="20320">
            <a:solidFill>
              <a:srgbClr val="0F766E"/>
            </a:solidFill>
            <a:prstDash val="dash"/>
          </a:ln>
        </p:spPr>
      </p:sp>
      <p:sp>
        <p:nvSpPr>
          <p:cNvPr id="37" name="Shape 35"/>
          <p:cNvSpPr/>
          <p:nvPr/>
        </p:nvSpPr>
        <p:spPr>
          <a:xfrm flipV="1">
            <a:off x="603504" y="1828800"/>
            <a:ext cx="0" cy="3703320"/>
          </a:xfrm>
          <a:prstGeom prst="line">
            <a:avLst/>
          </a:prstGeom>
          <a:noFill/>
          <a:ln w="20320">
            <a:solidFill>
              <a:srgbClr val="0F766E"/>
            </a:solidFill>
            <a:prstDash val="dash"/>
          </a:ln>
        </p:spPr>
      </p:sp>
      <p:sp>
        <p:nvSpPr>
          <p:cNvPr id="38" name="Shape 36"/>
          <p:cNvSpPr/>
          <p:nvPr/>
        </p:nvSpPr>
        <p:spPr>
          <a:xfrm>
            <a:off x="603504" y="1828800"/>
            <a:ext cx="1686343" cy="0"/>
          </a:xfrm>
          <a:prstGeom prst="line">
            <a:avLst/>
          </a:prstGeom>
          <a:noFill/>
          <a:ln w="20320">
            <a:solidFill>
              <a:srgbClr val="0F766E"/>
            </a:solidFill>
            <a:prstDash val="dash"/>
          </a:ln>
        </p:spPr>
      </p:sp>
      <p:sp>
        <p:nvSpPr>
          <p:cNvPr id="39" name="Shape 37"/>
          <p:cNvSpPr/>
          <p:nvPr/>
        </p:nvSpPr>
        <p:spPr>
          <a:xfrm>
            <a:off x="2289847" y="1828800"/>
            <a:ext cx="0" cy="36576"/>
          </a:xfrm>
          <a:prstGeom prst="line">
            <a:avLst/>
          </a:prstGeom>
          <a:noFill/>
          <a:ln w="20320">
            <a:solidFill>
              <a:srgbClr val="0F766E"/>
            </a:solidFill>
            <a:prstDash val="dash"/>
            <a:tailEnd type="triangle"/>
          </a:ln>
        </p:spPr>
      </p:sp>
      <p:sp>
        <p:nvSpPr>
          <p:cNvPr id="40" name="Text 38"/>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Repeat with fresh examples, timesteps, and noise using the updated denoiser weights.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Limitations of VAEs and GANs that diffusion addresses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38333"/>
                <a:gridCol w="1706833"/>
                <a:gridCol w="2804083"/>
                <a:gridCol w="4145166"/>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VAE (week 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GAN (week 3)</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Diffusion (today)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Sample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Blurry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Sharp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Sharp, highly detailed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Coverage / diversity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Good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Mode collapse risk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Good (likelihood-based)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Training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Stable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Unstable game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Stable: a simple regression loss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Conditioning on 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Possible, weak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Possible, hard to scale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Excellent (guidance)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Sampling speed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pass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pass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Many passes (10–1000), now reduced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generative trilemma: quality, diversity, speed</a:t>
            </a:r>
            <a:endParaRPr lang="en-US" sz="3200" dirty="0"/>
          </a:p>
        </p:txBody>
      </p:sp>
      <p:pic>
        <p:nvPicPr>
          <p:cNvPr id="6" name="Image 0" descr="C:\Users\sudee\Downloads\Generative_AI_2027_Teaching_Pack\AI2027_Project\build\figures\week_04\trilemma.png">    </p:cNvPr>
          <p:cNvPicPr>
            <a:picLocks noChangeAspect="1"/>
          </p:cNvPicPr>
          <p:nvPr/>
        </p:nvPicPr>
        <p:blipFill>
          <a:blip r:embed="rId1"/>
          <a:stretch>
            <a:fillRect/>
          </a:stretch>
        </p:blipFill>
        <p:spPr>
          <a:xfrm>
            <a:off x="548640" y="1510492"/>
            <a:ext cx="6035040" cy="4769704"/>
          </a:xfrm>
          <a:prstGeom prst="rect">
            <a:avLst/>
          </a:prstGeom>
        </p:spPr>
      </p:pic>
      <p:sp>
        <p:nvSpPr>
          <p:cNvPr id="7" name="Text 4"/>
          <p:cNvSpPr txBox="1"/>
          <p:nvPr/>
        </p:nvSpPr>
        <p:spPr>
          <a:xfrm>
            <a:off x="6858000" y="1481328"/>
            <a:ext cx="47850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Each family historically gave up one corner.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Diffusion: quality </a:t>
            </a:r>
            <a:pPr indent="0" marL="0">
              <a:buNone/>
            </a:pPr>
            <a:r>
              <a:rPr lang="en-US" sz="2000" b="1" dirty="0">
                <a:solidFill>
                  <a:srgbClr val="1F2937"/>
                </a:solidFill>
                <a:latin typeface="Calibri" pitchFamily="34" charset="0"/>
                <a:ea typeface="Calibri" pitchFamily="34" charset="-122"/>
                <a:cs typeface="Calibri" pitchFamily="34" charset="-120"/>
              </a:rPr>
              <a:t>and</a:t>
            </a:r>
            <a:pPr indent="0" marL="0">
              <a:buNone/>
            </a:pPr>
            <a:r>
              <a:rPr lang="en-US" sz="2000" dirty="0">
                <a:solidFill>
                  <a:srgbClr val="1F2937"/>
                </a:solidFill>
                <a:latin typeface="Calibri" pitchFamily="34" charset="0"/>
                <a:ea typeface="Calibri" pitchFamily="34" charset="-122"/>
                <a:cs typeface="Calibri" pitchFamily="34" charset="-120"/>
              </a:rPr>
              <a:t> coverage, but slow.</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Distillation and flow matching pull diffusion towards the fast corner (1–4 steps).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this triangle to justify model choices in your project.</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core idea in one slide</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Forward process (fixed):</a:t>
            </a:r>
            <a:pPr indent="0" marL="0">
              <a:buNone/>
            </a:pPr>
            <a:r>
              <a:rPr lang="en-US" sz="2100" dirty="0">
                <a:solidFill>
                  <a:srgbClr val="1F2937"/>
                </a:solidFill>
                <a:latin typeface="Calibri" pitchFamily="34" charset="0"/>
                <a:ea typeface="Calibri" pitchFamily="34" charset="-122"/>
                <a:cs typeface="Calibri" pitchFamily="34" charset="-120"/>
              </a:rPr>
              <a:t> add a little Gaussian noise, many times, until the image is pure noise. No learning.</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Reverse process (learned):</a:t>
            </a:r>
            <a:pPr indent="0" marL="0">
              <a:buNone/>
            </a:pPr>
            <a:r>
              <a:rPr lang="en-US" sz="2100" dirty="0">
                <a:solidFill>
                  <a:srgbClr val="1F2937"/>
                </a:solidFill>
                <a:latin typeface="Calibri" pitchFamily="34" charset="0"/>
                <a:ea typeface="Calibri" pitchFamily="34" charset="-122"/>
                <a:cs typeface="Calibri" pitchFamily="34" charset="-120"/>
              </a:rPr>
              <a:t> train a network to remove a little noise at a time.</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Each reverse step is an easy </a:t>
            </a:r>
            <a:pPr indent="0" marL="0">
              <a:buNone/>
            </a:pPr>
            <a:r>
              <a:rPr lang="en-US" sz="2100" b="1" dirty="0">
                <a:solidFill>
                  <a:srgbClr val="1F2937"/>
                </a:solidFill>
                <a:latin typeface="Calibri" pitchFamily="34" charset="0"/>
                <a:ea typeface="Calibri" pitchFamily="34" charset="-122"/>
                <a:cs typeface="Calibri" pitchFamily="34" charset="-120"/>
              </a:rPr>
              <a:t>denoising</a:t>
            </a:r>
            <a:pPr indent="0" marL="0">
              <a:buNone/>
            </a:pPr>
            <a:r>
              <a:rPr lang="en-US" sz="2100" dirty="0">
                <a:solidFill>
                  <a:srgbClr val="1F2937"/>
                </a:solidFill>
                <a:latin typeface="Calibri" pitchFamily="34" charset="0"/>
                <a:ea typeface="Calibri" pitchFamily="34" charset="-122"/>
                <a:cs typeface="Calibri" pitchFamily="34" charset="-120"/>
              </a:rPr>
              <a:t> problem; chaining many easy steps solves a hard one.</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Generate:</a:t>
            </a:r>
            <a:pPr indent="0" marL="0">
              <a:buNone/>
            </a:pPr>
            <a:r>
              <a:rPr lang="en-US" sz="2100" dirty="0">
                <a:solidFill>
                  <a:srgbClr val="1F2937"/>
                </a:solidFill>
                <a:latin typeface="Calibri" pitchFamily="34" charset="0"/>
                <a:ea typeface="Calibri" pitchFamily="34" charset="-122"/>
                <a:cs typeface="Calibri" pitchFamily="34" charset="-120"/>
              </a:rPr>
              <a:t> start from pure noise and apply the learned reverse step repeatedly.</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Randomness in the starting noise gives </a:t>
            </a:r>
            <a:pPr indent="0" marL="0">
              <a:buNone/>
            </a:pPr>
            <a:r>
              <a:rPr lang="en-US" sz="2100" b="1" dirty="0">
                <a:solidFill>
                  <a:srgbClr val="1F2937"/>
                </a:solidFill>
                <a:latin typeface="Calibri" pitchFamily="34" charset="0"/>
                <a:ea typeface="Calibri" pitchFamily="34" charset="-122"/>
                <a:cs typeface="Calibri" pitchFamily="34" charset="-120"/>
              </a:rPr>
              <a:t>diversity</a:t>
            </a:r>
            <a:pPr indent="0" marL="0">
              <a:buNone/>
            </a:pPr>
            <a:r>
              <a:rPr lang="en-US" sz="2100" dirty="0">
                <a:solidFill>
                  <a:srgbClr val="1F2937"/>
                </a:solidFill>
                <a:latin typeface="Calibri" pitchFamily="34" charset="0"/>
                <a:ea typeface="Calibri" pitchFamily="34" charset="-122"/>
                <a:cs typeface="Calibri" pitchFamily="34" charset="-120"/>
              </a:rPr>
              <a:t>; a text prompt gives </a:t>
            </a:r>
            <a:pPr indent="0" marL="0">
              <a:buNone/>
            </a:pPr>
            <a:r>
              <a:rPr lang="en-US" sz="2100" b="1" dirty="0">
                <a:solidFill>
                  <a:srgbClr val="1F2937"/>
                </a:solidFill>
                <a:latin typeface="Calibri" pitchFamily="34" charset="0"/>
                <a:ea typeface="Calibri" pitchFamily="34" charset="-122"/>
                <a:cs typeface="Calibri" pitchFamily="34" charset="-120"/>
              </a:rPr>
              <a:t>control</a:t>
            </a:r>
            <a:pPr indent="0" marL="0">
              <a:buNone/>
            </a:pPr>
            <a:r>
              <a:rPr lang="en-US" sz="2100" dirty="0">
                <a:solidFill>
                  <a:srgbClr val="1F2937"/>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Diffusion turns generation, a hard problem, into many small denoising problems, each of them an ordinary supervised regression.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Forward and reverse processes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exactly is added, what exactly is learned?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forward (noising) process</a:t>
            </a:r>
            <a:endParaRPr lang="en-US" sz="3200" dirty="0"/>
          </a:p>
        </p:txBody>
      </p:sp>
      <p:sp>
        <p:nvSpPr>
          <p:cNvPr id="6" name="Shape 4"/>
          <p:cNvSpPr/>
          <p:nvPr/>
        </p:nvSpPr>
        <p:spPr>
          <a:xfrm>
            <a:off x="548640" y="1481328"/>
            <a:ext cx="11094415" cy="1920240"/>
          </a:xfrm>
          <a:prstGeom prst="roundRect">
            <a:avLst>
              <a:gd name="adj" fmla="val 5714"/>
            </a:avLst>
          </a:prstGeom>
          <a:solidFill>
            <a:srgbClr val="EEF0FF"/>
          </a:solidFill>
          <a:ln w="12700">
            <a:solidFill>
              <a:srgbClr val="EEF0FF"/>
            </a:solidFill>
            <a:prstDash val="solid"/>
          </a:ln>
        </p:spPr>
      </p:sp>
      <p:pic>
        <p:nvPicPr>
          <p:cNvPr id="7" name="Image 0" descr="C:\Users\sudee\Downloads\Generative_AI_2027_Teaching_Pack\AI2027_Project\build\eq\62f0b99763bd0b73.png">    </p:cNvPr>
          <p:cNvPicPr>
            <a:picLocks noChangeAspect="1"/>
          </p:cNvPicPr>
          <p:nvPr/>
        </p:nvPicPr>
        <p:blipFill>
          <a:blip r:embed="rId1"/>
          <a:stretch>
            <a:fillRect/>
          </a:stretch>
        </p:blipFill>
        <p:spPr>
          <a:xfrm>
            <a:off x="3837280" y="1711960"/>
            <a:ext cx="4517136" cy="445008"/>
          </a:xfrm>
          <a:prstGeom prst="rect">
            <a:avLst/>
          </a:prstGeom>
        </p:spPr>
      </p:pic>
      <p:pic>
        <p:nvPicPr>
          <p:cNvPr id="8" name="Image 1" descr="C:\Users\sudee\Downloads\Generative_AI_2027_Teaching_Pack\AI2027_Project\build\eq\13d0b0cc3cca7eea.png">    </p:cNvPr>
          <p:cNvPicPr>
            <a:picLocks noChangeAspect="1"/>
          </p:cNvPicPr>
          <p:nvPr/>
        </p:nvPicPr>
        <p:blipFill>
          <a:blip r:embed="rId2"/>
          <a:stretch>
            <a:fillRect/>
          </a:stretch>
        </p:blipFill>
        <p:spPr>
          <a:xfrm>
            <a:off x="2825344" y="2341880"/>
            <a:ext cx="6541008" cy="829056"/>
          </a:xfrm>
          <a:prstGeom prst="rect">
            <a:avLst/>
          </a:prstGeom>
        </p:spPr>
      </p:pic>
      <p:sp>
        <p:nvSpPr>
          <p:cNvPr id="9" name="Text 5"/>
          <p:cNvSpPr txBox="1"/>
          <p:nvPr/>
        </p:nvSpPr>
        <p:spPr>
          <a:xfrm>
            <a:off x="548640" y="363016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014216"/>
            <a:ext cx="6035040" cy="226771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Each step shrinks the image slightly and adds a little Gaussian noise; β_t is small (0.0001 to 0.02).</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Closed form: jump straight to any step, x_t = √ᾱ_t · x_0 + √(1 − ᾱ_t) · ε. No need to simulate t steps.</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After T = 1000 steps ᾱ_T ≈ 0: the image is indistinguishable from pure noise N(0, I).</a:t>
            </a:r>
            <a:endParaRPr lang="en-US" sz="1700" dirty="0"/>
          </a:p>
        </p:txBody>
      </p:sp>
      <p:sp>
        <p:nvSpPr>
          <p:cNvPr id="11" name="Text 7"/>
          <p:cNvSpPr txBox="1"/>
          <p:nvPr/>
        </p:nvSpPr>
        <p:spPr>
          <a:xfrm>
            <a:off x="6858000" y="363016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041648"/>
            <a:ext cx="1143000" cy="566928"/>
          </a:xfrm>
          <a:prstGeom prst="rect">
            <a:avLst/>
          </a:prstGeom>
          <a:noFill/>
          <a:ln/>
        </p:spPr>
        <p:txBody>
          <a:bodyPr wrap="square" lIns="50800" tIns="50800" rIns="50800" bIns="50800" rtlCol="0" anchor="ctr"/>
          <a:lstStyle/>
          <a:p>
            <a:pPr indent="0" marL="0">
              <a:buNone/>
            </a:pPr>
            <a:r>
              <a:rPr lang="en-US" sz="1400" b="1" dirty="0">
                <a:solidFill>
                  <a:srgbClr val="1E1B4B"/>
                </a:solidFill>
                <a:latin typeface="Cambria Math" pitchFamily="34" charset="0"/>
                <a:ea typeface="Cambria Math" pitchFamily="34" charset="-122"/>
                <a:cs typeface="Cambria Math" pitchFamily="34" charset="-120"/>
              </a:rPr>
              <a:t>x₀</a:t>
            </a:r>
            <a:endParaRPr lang="en-US" sz="1400" dirty="0"/>
          </a:p>
        </p:txBody>
      </p:sp>
      <p:sp>
        <p:nvSpPr>
          <p:cNvPr id="13" name="Text 9"/>
          <p:cNvSpPr txBox="1"/>
          <p:nvPr/>
        </p:nvSpPr>
        <p:spPr>
          <a:xfrm>
            <a:off x="8046720" y="4041648"/>
            <a:ext cx="3596335" cy="566928"/>
          </a:xfrm>
          <a:prstGeom prst="rect">
            <a:avLst/>
          </a:prstGeom>
          <a:noFill/>
          <a:ln/>
        </p:spPr>
        <p:txBody>
          <a:bodyPr wrap="square" lIns="50800" tIns="50800" rIns="50800" bIns="5080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clean image; x_t noisy image at step t</a:t>
            </a:r>
            <a:endParaRPr lang="en-US" sz="1300" dirty="0"/>
          </a:p>
        </p:txBody>
      </p:sp>
      <p:sp>
        <p:nvSpPr>
          <p:cNvPr id="14" name="Text 10"/>
          <p:cNvSpPr txBox="1"/>
          <p:nvPr/>
        </p:nvSpPr>
        <p:spPr>
          <a:xfrm>
            <a:off x="6858000" y="4608576"/>
            <a:ext cx="1143000" cy="566928"/>
          </a:xfrm>
          <a:prstGeom prst="rect">
            <a:avLst/>
          </a:prstGeom>
          <a:noFill/>
          <a:ln/>
        </p:spPr>
        <p:txBody>
          <a:bodyPr wrap="square" lIns="50800" tIns="50800" rIns="50800" bIns="50800" rtlCol="0" anchor="ctr"/>
          <a:lstStyle/>
          <a:p>
            <a:pPr indent="0" marL="0">
              <a:buNone/>
            </a:pPr>
            <a:r>
              <a:rPr lang="en-US" sz="1400" b="1" dirty="0">
                <a:solidFill>
                  <a:srgbClr val="1E1B4B"/>
                </a:solidFill>
                <a:latin typeface="Cambria Math" pitchFamily="34" charset="0"/>
                <a:ea typeface="Cambria Math" pitchFamily="34" charset="-122"/>
                <a:cs typeface="Cambria Math" pitchFamily="34" charset="-120"/>
              </a:rPr>
              <a:t>β_t</a:t>
            </a:r>
            <a:endParaRPr lang="en-US" sz="1400" dirty="0"/>
          </a:p>
        </p:txBody>
      </p:sp>
      <p:sp>
        <p:nvSpPr>
          <p:cNvPr id="15" name="Text 11"/>
          <p:cNvSpPr txBox="1"/>
          <p:nvPr/>
        </p:nvSpPr>
        <p:spPr>
          <a:xfrm>
            <a:off x="8046720" y="4608576"/>
            <a:ext cx="3596335" cy="566928"/>
          </a:xfrm>
          <a:prstGeom prst="rect">
            <a:avLst/>
          </a:prstGeom>
          <a:noFill/>
          <a:ln/>
        </p:spPr>
        <p:txBody>
          <a:bodyPr wrap="square" lIns="50800" tIns="50800" rIns="50800" bIns="5080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noise added at step t (the schedule)</a:t>
            </a:r>
            <a:endParaRPr lang="en-US" sz="1300" dirty="0"/>
          </a:p>
        </p:txBody>
      </p:sp>
      <p:sp>
        <p:nvSpPr>
          <p:cNvPr id="16" name="Text 12"/>
          <p:cNvSpPr txBox="1"/>
          <p:nvPr/>
        </p:nvSpPr>
        <p:spPr>
          <a:xfrm>
            <a:off x="6858000" y="5175504"/>
            <a:ext cx="1143000" cy="566928"/>
          </a:xfrm>
          <a:prstGeom prst="rect">
            <a:avLst/>
          </a:prstGeom>
          <a:noFill/>
          <a:ln/>
        </p:spPr>
        <p:txBody>
          <a:bodyPr wrap="square" lIns="50800" tIns="50800" rIns="50800" bIns="50800" rtlCol="0" anchor="ctr"/>
          <a:lstStyle/>
          <a:p>
            <a:pPr indent="0" marL="0">
              <a:buNone/>
            </a:pPr>
            <a:r>
              <a:rPr lang="en-US" sz="1400" b="1" dirty="0">
                <a:solidFill>
                  <a:srgbClr val="1E1B4B"/>
                </a:solidFill>
                <a:latin typeface="Cambria Math" pitchFamily="34" charset="0"/>
                <a:ea typeface="Cambria Math" pitchFamily="34" charset="-122"/>
                <a:cs typeface="Cambria Math" pitchFamily="34" charset="-120"/>
              </a:rPr>
              <a:t>ᾱ_t</a:t>
            </a:r>
            <a:endParaRPr lang="en-US" sz="1400" dirty="0"/>
          </a:p>
        </p:txBody>
      </p:sp>
      <p:sp>
        <p:nvSpPr>
          <p:cNvPr id="17" name="Text 13"/>
          <p:cNvSpPr txBox="1"/>
          <p:nvPr/>
        </p:nvSpPr>
        <p:spPr>
          <a:xfrm>
            <a:off x="8046720" y="5175504"/>
            <a:ext cx="3596335" cy="566928"/>
          </a:xfrm>
          <a:prstGeom prst="rect">
            <a:avLst/>
          </a:prstGeom>
          <a:noFill/>
          <a:ln/>
        </p:spPr>
        <p:txBody>
          <a:bodyPr wrap="square" lIns="50800" tIns="50800" rIns="50800" bIns="5080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fraction of original signal variance left</a:t>
            </a:r>
            <a:endParaRPr lang="en-US" sz="1300" dirty="0"/>
          </a:p>
        </p:txBody>
      </p:sp>
      <p:sp>
        <p:nvSpPr>
          <p:cNvPr id="18" name="Text 14"/>
          <p:cNvSpPr txBox="1"/>
          <p:nvPr/>
        </p:nvSpPr>
        <p:spPr>
          <a:xfrm>
            <a:off x="6858000" y="5742432"/>
            <a:ext cx="1143000" cy="566928"/>
          </a:xfrm>
          <a:prstGeom prst="rect">
            <a:avLst/>
          </a:prstGeom>
          <a:noFill/>
          <a:ln/>
        </p:spPr>
        <p:txBody>
          <a:bodyPr wrap="square" lIns="50800" tIns="50800" rIns="50800" bIns="50800" rtlCol="0" anchor="ctr"/>
          <a:lstStyle/>
          <a:p>
            <a:pPr indent="0" marL="0">
              <a:buNone/>
            </a:pPr>
            <a:r>
              <a:rPr lang="en-US" sz="1400" b="1" dirty="0">
                <a:solidFill>
                  <a:srgbClr val="1E1B4B"/>
                </a:solidFill>
                <a:latin typeface="Cambria Math" pitchFamily="34" charset="0"/>
                <a:ea typeface="Cambria Math" pitchFamily="34" charset="-122"/>
                <a:cs typeface="Cambria Math" pitchFamily="34" charset="-120"/>
              </a:rPr>
              <a:t>ε</a:t>
            </a:r>
            <a:endParaRPr lang="en-US" sz="1400" dirty="0"/>
          </a:p>
        </p:txBody>
      </p:sp>
      <p:sp>
        <p:nvSpPr>
          <p:cNvPr id="19" name="Text 15"/>
          <p:cNvSpPr txBox="1"/>
          <p:nvPr/>
        </p:nvSpPr>
        <p:spPr>
          <a:xfrm>
            <a:off x="8046720" y="5742432"/>
            <a:ext cx="3596335" cy="566928"/>
          </a:xfrm>
          <a:prstGeom prst="rect">
            <a:avLst/>
          </a:prstGeom>
          <a:noFill/>
          <a:ln/>
        </p:spPr>
        <p:txBody>
          <a:bodyPr wrap="square" lIns="50800" tIns="50800" rIns="50800" bIns="5080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standard Gaussian noise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forward process on real digits</a:t>
            </a:r>
            <a:endParaRPr lang="en-US" sz="3200" dirty="0"/>
          </a:p>
        </p:txBody>
      </p:sp>
      <p:pic>
        <p:nvPicPr>
          <p:cNvPr id="6" name="Image 0" descr="C:\Users\sudee\Downloads\Generative_AI_2027_Teaching_Pack\AI2027_Project\build\figures\week_04\forward_mnist.png">    </p:cNvPr>
          <p:cNvPicPr>
            <a:picLocks noChangeAspect="1"/>
          </p:cNvPicPr>
          <p:nvPr/>
        </p:nvPicPr>
        <p:blipFill>
          <a:blip r:embed="rId1"/>
          <a:stretch>
            <a:fillRect/>
          </a:stretch>
        </p:blipFill>
        <p:spPr>
          <a:xfrm>
            <a:off x="1674690" y="1481328"/>
            <a:ext cx="8842315"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Real MNIST digits noised with the DDPM linear schedule (T = 1000). ᾱ shows the fraction of signal variance remaining.</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Noise schedules decide how fast information is destroyed</a:t>
            </a:r>
            <a:endParaRPr lang="en-US" sz="3000" dirty="0"/>
          </a:p>
        </p:txBody>
      </p:sp>
      <p:pic>
        <p:nvPicPr>
          <p:cNvPr id="6" name="Image 0" descr="C:\Users\sudee\Downloads\Generative_AI_2027_Teaching_Pack\AI2027_Project\build\figures\week_04\schedules.png">    </p:cNvPr>
          <p:cNvPicPr>
            <a:picLocks noChangeAspect="1"/>
          </p:cNvPicPr>
          <p:nvPr/>
        </p:nvPicPr>
        <p:blipFill>
          <a:blip r:embed="rId1"/>
          <a:stretch>
            <a:fillRect/>
          </a:stretch>
        </p:blipFill>
        <p:spPr>
          <a:xfrm>
            <a:off x="1977056" y="1481328"/>
            <a:ext cx="8237583"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Linear β (DDPM) destroys information quickly: many late steps are almost pure noise.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The cosine schedule (Nichol &amp; Dhariwal, 2021) removes signal more evenly, improving quality.</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The </a:t>
            </a:r>
            <a:pPr indent="0" marL="0">
              <a:buNone/>
            </a:pPr>
            <a:r>
              <a:rPr lang="en-US" sz="1800" b="1" dirty="0">
                <a:solidFill>
                  <a:srgbClr val="1F2937"/>
                </a:solidFill>
                <a:latin typeface="Calibri" pitchFamily="34" charset="0"/>
                <a:ea typeface="Calibri" pitchFamily="34" charset="-122"/>
                <a:cs typeface="Calibri" pitchFamily="34" charset="-120"/>
              </a:rPr>
              <a:t>signal-to-noise ratio</a:t>
            </a:r>
            <a:pPr indent="0" marL="0">
              <a:buNone/>
            </a:pPr>
            <a:r>
              <a:rPr lang="en-US" sz="1800" dirty="0">
                <a:solidFill>
                  <a:srgbClr val="1F2937"/>
                </a:solidFill>
                <a:latin typeface="Calibri" pitchFamily="34" charset="0"/>
                <a:ea typeface="Calibri" pitchFamily="34" charset="-122"/>
                <a:cs typeface="Calibri" pitchFamily="34" charset="-120"/>
              </a:rPr>
              <a:t> (right) is what really matters; modern models choose or learn it.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Generate by repeating reverse steps</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One denoiser is reused at every timestep; the sampler decides each update.</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a:off x="872227" y="1883664"/>
            <a:ext cx="2835239" cy="1344168"/>
          </a:xfrm>
          <a:prstGeom prst="rect">
            <a:avLst/>
          </a:prstGeom>
          <a:solidFill>
            <a:srgbClr val="F5F3FF"/>
          </a:solidFill>
          <a:ln w="16510">
            <a:solidFill>
              <a:srgbClr val="4F46E5"/>
            </a:solidFill>
            <a:prstDash val="solid"/>
          </a:ln>
        </p:spPr>
      </p:sp>
      <p:sp>
        <p:nvSpPr>
          <p:cNvPr id="12" name="Text 10"/>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Start from noise</a:t>
            </a:r>
            <a:endParaRPr lang="en-US" sz="1900" dirty="0"/>
          </a:p>
        </p:txBody>
      </p:sp>
      <p:sp>
        <p:nvSpPr>
          <p:cNvPr id="13" name="Text 11"/>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Draw a new image-shaped Gaussian tensor.</a:t>
            </a:r>
            <a:endParaRPr lang="en-US" sz="1700" dirty="0"/>
          </a:p>
        </p:txBody>
      </p:sp>
      <p:sp>
        <p:nvSpPr>
          <p:cNvPr id="14" name="Text 12"/>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sample_ddpm</a:t>
            </a:r>
            <a:endParaRPr lang="en-US" sz="1200" dirty="0"/>
          </a:p>
        </p:txBody>
      </p:sp>
      <p:sp>
        <p:nvSpPr>
          <p:cNvPr id="15" name="Text 13"/>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current tensor x + timestep t</a:t>
            </a:r>
            <a:endParaRPr lang="en-US" sz="1500" dirty="0"/>
          </a:p>
        </p:txBody>
      </p:sp>
      <p:sp>
        <p:nvSpPr>
          <p:cNvPr id="16" name="Shape 14"/>
          <p:cNvSpPr/>
          <p:nvPr/>
        </p:nvSpPr>
        <p:spPr>
          <a:xfrm>
            <a:off x="4678228" y="1883664"/>
            <a:ext cx="2835239" cy="1344168"/>
          </a:xfrm>
          <a:prstGeom prst="rect">
            <a:avLst/>
          </a:prstGeom>
          <a:solidFill>
            <a:srgbClr val="F5F3FF"/>
          </a:solidFill>
          <a:ln w="16510">
            <a:solidFill>
              <a:srgbClr val="4F46E5"/>
            </a:solidFill>
            <a:prstDash val="solid"/>
          </a:ln>
        </p:spPr>
      </p:sp>
      <p:sp>
        <p:nvSpPr>
          <p:cNvPr id="17" name="Text 15"/>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Provide the timestep</a:t>
            </a:r>
            <a:endParaRPr lang="en-US" sz="1900" dirty="0"/>
          </a:p>
        </p:txBody>
      </p:sp>
      <p:sp>
        <p:nvSpPr>
          <p:cNvPr id="18" name="Text 16"/>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Describe the current noise level to the network.</a:t>
            </a:r>
            <a:endParaRPr lang="en-US" sz="1700" dirty="0"/>
          </a:p>
        </p:txBody>
      </p:sp>
      <p:sp>
        <p:nvSpPr>
          <p:cNvPr id="19" name="Text 17"/>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timestep_embedding</a:t>
            </a:r>
            <a:endParaRPr lang="en-US" sz="1200" dirty="0"/>
          </a:p>
        </p:txBody>
      </p:sp>
      <p:sp>
        <p:nvSpPr>
          <p:cNvPr id="20" name="Text 18"/>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current x + embedded t</a:t>
            </a:r>
            <a:endParaRPr lang="en-US" sz="1500" dirty="0"/>
          </a:p>
        </p:txBody>
      </p:sp>
      <p:sp>
        <p:nvSpPr>
          <p:cNvPr id="21" name="Shape 19"/>
          <p:cNvSpPr/>
          <p:nvPr/>
        </p:nvSpPr>
        <p:spPr>
          <a:xfrm>
            <a:off x="8484229" y="1883664"/>
            <a:ext cx="2835239" cy="1344168"/>
          </a:xfrm>
          <a:prstGeom prst="rect">
            <a:avLst/>
          </a:prstGeom>
          <a:solidFill>
            <a:srgbClr val="F5F3FF"/>
          </a:solidFill>
          <a:ln w="16510">
            <a:solidFill>
              <a:srgbClr val="4F46E5"/>
            </a:solidFill>
            <a:prstDash val="solid"/>
          </a:ln>
        </p:spPr>
      </p:sp>
      <p:sp>
        <p:nvSpPr>
          <p:cNvPr id="22" name="Text 20"/>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Predict current noise</a:t>
            </a:r>
            <a:endParaRPr lang="en-US" sz="1900" dirty="0"/>
          </a:p>
        </p:txBody>
      </p:sp>
      <p:sp>
        <p:nvSpPr>
          <p:cNvPr id="23" name="Text 21"/>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the current image and timestep to estimate noise.</a:t>
            </a:r>
            <a:endParaRPr lang="en-US" sz="1700" dirty="0"/>
          </a:p>
        </p:txBody>
      </p:sp>
      <p:sp>
        <p:nvSpPr>
          <p:cNvPr id="24" name="Text 22"/>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TinyUNet.forward</a:t>
            </a:r>
            <a:endParaRPr lang="en-US" sz="1200" dirty="0"/>
          </a:p>
        </p:txBody>
      </p:sp>
      <p:sp>
        <p:nvSpPr>
          <p:cNvPr id="25" name="Text 23"/>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predicted noise + current x</a:t>
            </a:r>
            <a:endParaRPr lang="en-US" sz="1500" dirty="0"/>
          </a:p>
        </p:txBody>
      </p:sp>
      <p:sp>
        <p:nvSpPr>
          <p:cNvPr id="26" name="Shape 24"/>
          <p:cNvSpPr/>
          <p:nvPr/>
        </p:nvSpPr>
        <p:spPr>
          <a:xfrm>
            <a:off x="8484229" y="3712464"/>
            <a:ext cx="2835239" cy="1344168"/>
          </a:xfrm>
          <a:prstGeom prst="rect">
            <a:avLst/>
          </a:prstGeom>
          <a:solidFill>
            <a:srgbClr val="F5F3FF"/>
          </a:solidFill>
          <a:ln w="16510">
            <a:solidFill>
              <a:srgbClr val="4F46E5"/>
            </a:solidFill>
            <a:prstDash val="solid"/>
          </a:ln>
        </p:spPr>
      </p:sp>
      <p:sp>
        <p:nvSpPr>
          <p:cNvPr id="27" name="Text 25"/>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Take a reverse step</a:t>
            </a:r>
            <a:endParaRPr lang="en-US" sz="1900" dirty="0"/>
          </a:p>
        </p:txBody>
      </p:sp>
      <p:sp>
        <p:nvSpPr>
          <p:cNvPr id="28" name="Text 26"/>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schedule coefficients, predicted noise, and optional fresh noise.</a:t>
            </a:r>
            <a:endParaRPr lang="en-US" sz="1700" dirty="0"/>
          </a:p>
        </p:txBody>
      </p:sp>
      <p:sp>
        <p:nvSpPr>
          <p:cNvPr id="29" name="Text 27"/>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reverse_step</a:t>
            </a:r>
            <a:endParaRPr lang="en-US" sz="1200" dirty="0"/>
          </a:p>
        </p:txBody>
      </p:sp>
      <p:sp>
        <p:nvSpPr>
          <p:cNvPr id="30" name="Text 28"/>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updated image tensor</a:t>
            </a:r>
            <a:endParaRPr lang="en-US" sz="1500" dirty="0"/>
          </a:p>
        </p:txBody>
      </p:sp>
      <p:sp>
        <p:nvSpPr>
          <p:cNvPr id="31" name="Shape 29"/>
          <p:cNvSpPr/>
          <p:nvPr/>
        </p:nvSpPr>
        <p:spPr>
          <a:xfrm>
            <a:off x="4678228" y="3712464"/>
            <a:ext cx="2835239" cy="1344168"/>
          </a:xfrm>
          <a:prstGeom prst="rect">
            <a:avLst/>
          </a:prstGeom>
          <a:solidFill>
            <a:srgbClr val="F5F3FF"/>
          </a:solidFill>
          <a:ln w="16510">
            <a:solidFill>
              <a:srgbClr val="4F46E5"/>
            </a:solidFill>
            <a:prstDash val="solid"/>
          </a:ln>
        </p:spPr>
      </p:sp>
      <p:sp>
        <p:nvSpPr>
          <p:cNvPr id="32" name="Text 30"/>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Repeat or finish</a:t>
            </a:r>
            <a:endParaRPr lang="en-US" sz="1900" dirty="0"/>
          </a:p>
        </p:txBody>
      </p:sp>
      <p:sp>
        <p:nvSpPr>
          <p:cNvPr id="33" name="Text 31"/>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Decrease t; after the final update, display the image.</a:t>
            </a:r>
            <a:endParaRPr lang="en-US" sz="1700" dirty="0"/>
          </a:p>
        </p:txBody>
      </p:sp>
      <p:sp>
        <p:nvSpPr>
          <p:cNvPr id="34" name="Text 32"/>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sample_ddpm / show_row</a:t>
            </a:r>
            <a:endParaRPr lang="en-US" sz="1200" dirty="0"/>
          </a:p>
        </p:txBody>
      </p:sp>
      <p:sp>
        <p:nvSpPr>
          <p:cNvPr id="35" name="Shape 33"/>
          <p:cNvSpPr/>
          <p:nvPr/>
        </p:nvSpPr>
        <p:spPr>
          <a:xfrm>
            <a:off x="6095848" y="5422392"/>
            <a:ext cx="0" cy="109728"/>
          </a:xfrm>
          <a:prstGeom prst="line">
            <a:avLst/>
          </a:prstGeom>
          <a:noFill/>
          <a:ln w="20320">
            <a:solidFill>
              <a:srgbClr val="0F766E"/>
            </a:solidFill>
            <a:prstDash val="dash"/>
          </a:ln>
        </p:spPr>
      </p:sp>
      <p:sp>
        <p:nvSpPr>
          <p:cNvPr id="36" name="Shape 34"/>
          <p:cNvSpPr/>
          <p:nvPr/>
        </p:nvSpPr>
        <p:spPr>
          <a:xfrm flipH="1">
            <a:off x="603504" y="5532120"/>
            <a:ext cx="5492344" cy="0"/>
          </a:xfrm>
          <a:prstGeom prst="line">
            <a:avLst/>
          </a:prstGeom>
          <a:noFill/>
          <a:ln w="20320">
            <a:solidFill>
              <a:srgbClr val="0F766E"/>
            </a:solidFill>
            <a:prstDash val="dash"/>
          </a:ln>
        </p:spPr>
      </p:sp>
      <p:sp>
        <p:nvSpPr>
          <p:cNvPr id="37" name="Shape 35"/>
          <p:cNvSpPr/>
          <p:nvPr/>
        </p:nvSpPr>
        <p:spPr>
          <a:xfrm flipV="1">
            <a:off x="603504" y="1828800"/>
            <a:ext cx="0" cy="3703320"/>
          </a:xfrm>
          <a:prstGeom prst="line">
            <a:avLst/>
          </a:prstGeom>
          <a:noFill/>
          <a:ln w="20320">
            <a:solidFill>
              <a:srgbClr val="0F766E"/>
            </a:solidFill>
            <a:prstDash val="dash"/>
          </a:ln>
        </p:spPr>
      </p:sp>
      <p:sp>
        <p:nvSpPr>
          <p:cNvPr id="38" name="Shape 36"/>
          <p:cNvSpPr/>
          <p:nvPr/>
        </p:nvSpPr>
        <p:spPr>
          <a:xfrm>
            <a:off x="603504" y="1828800"/>
            <a:ext cx="5492344" cy="0"/>
          </a:xfrm>
          <a:prstGeom prst="line">
            <a:avLst/>
          </a:prstGeom>
          <a:noFill/>
          <a:ln w="20320">
            <a:solidFill>
              <a:srgbClr val="0F766E"/>
            </a:solidFill>
            <a:prstDash val="dash"/>
          </a:ln>
        </p:spPr>
      </p:sp>
      <p:sp>
        <p:nvSpPr>
          <p:cNvPr id="39" name="Shape 37"/>
          <p:cNvSpPr/>
          <p:nvPr/>
        </p:nvSpPr>
        <p:spPr>
          <a:xfrm>
            <a:off x="6095848" y="1828800"/>
            <a:ext cx="0" cy="36576"/>
          </a:xfrm>
          <a:prstGeom prst="line">
            <a:avLst/>
          </a:prstGeom>
          <a:noFill/>
          <a:ln w="20320">
            <a:solidFill>
              <a:srgbClr val="0F766E"/>
            </a:solidFill>
            <a:prstDash val="dash"/>
            <a:tailEnd type="triangle"/>
          </a:ln>
        </p:spPr>
      </p:sp>
      <p:sp>
        <p:nvSpPr>
          <p:cNvPr id="40" name="Text 38"/>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Send the updated image and the next lower timestep back through the same trained denoiser.</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reverse (denoising) process is learned</a:t>
            </a:r>
            <a:endParaRPr lang="en-US" sz="3200" dirty="0"/>
          </a:p>
        </p:txBody>
      </p:sp>
      <p:sp>
        <p:nvSpPr>
          <p:cNvPr id="6" name="Shape 4"/>
          <p:cNvSpPr/>
          <p:nvPr/>
        </p:nvSpPr>
        <p:spPr>
          <a:xfrm>
            <a:off x="548640" y="1481328"/>
            <a:ext cx="11094415" cy="1920240"/>
          </a:xfrm>
          <a:prstGeom prst="roundRect">
            <a:avLst>
              <a:gd name="adj" fmla="val 5714"/>
            </a:avLst>
          </a:prstGeom>
          <a:solidFill>
            <a:srgbClr val="EEF0FF"/>
          </a:solidFill>
          <a:ln w="12700">
            <a:solidFill>
              <a:srgbClr val="EEF0FF"/>
            </a:solidFill>
            <a:prstDash val="solid"/>
          </a:ln>
        </p:spPr>
      </p:sp>
      <p:pic>
        <p:nvPicPr>
          <p:cNvPr id="7" name="Image 0" descr="C:\Users\sudee\Downloads\Generative_AI_2027_Teaching_Pack\AI2027_Project\build\eq\37500b96cc8b66b4.png">    </p:cNvPr>
          <p:cNvPicPr>
            <a:picLocks noChangeAspect="1"/>
          </p:cNvPicPr>
          <p:nvPr/>
        </p:nvPicPr>
        <p:blipFill>
          <a:blip r:embed="rId1"/>
          <a:stretch>
            <a:fillRect/>
          </a:stretch>
        </p:blipFill>
        <p:spPr>
          <a:xfrm>
            <a:off x="4113124" y="1741424"/>
            <a:ext cx="3965448" cy="399288"/>
          </a:xfrm>
          <a:prstGeom prst="rect">
            <a:avLst/>
          </a:prstGeom>
        </p:spPr>
      </p:pic>
      <p:pic>
        <p:nvPicPr>
          <p:cNvPr id="8" name="Image 1" descr="C:\Users\sudee\Downloads\Generative_AI_2027_Teaching_Pack\AI2027_Project\build\eq\88222636fa610694.png">    </p:cNvPr>
          <p:cNvPicPr>
            <a:picLocks noChangeAspect="1"/>
          </p:cNvPicPr>
          <p:nvPr/>
        </p:nvPicPr>
        <p:blipFill>
          <a:blip r:embed="rId2"/>
          <a:stretch>
            <a:fillRect/>
          </a:stretch>
        </p:blipFill>
        <p:spPr>
          <a:xfrm>
            <a:off x="3602584" y="2355088"/>
            <a:ext cx="4986528" cy="786384"/>
          </a:xfrm>
          <a:prstGeom prst="rect">
            <a:avLst/>
          </a:prstGeom>
        </p:spPr>
      </p:pic>
      <p:sp>
        <p:nvSpPr>
          <p:cNvPr id="9" name="Text 5"/>
          <p:cNvSpPr txBox="1"/>
          <p:nvPr/>
        </p:nvSpPr>
        <p:spPr>
          <a:xfrm>
            <a:off x="548640" y="363016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014216"/>
            <a:ext cx="6035040" cy="226771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For small steps, the reverse of adding Gaussian noise is (approximately) Gaussian too.</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A network ε_θ predicts the noise present in x_t; from it we compute the mean of the less-noisy x_{t−1}.</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One network, shared across all timesteps, is told which step t it is at.</a:t>
            </a:r>
            <a:endParaRPr lang="en-US" sz="1700" dirty="0"/>
          </a:p>
        </p:txBody>
      </p:sp>
      <p:sp>
        <p:nvSpPr>
          <p:cNvPr id="11" name="Text 7"/>
          <p:cNvSpPr txBox="1"/>
          <p:nvPr/>
        </p:nvSpPr>
        <p:spPr>
          <a:xfrm>
            <a:off x="6858000" y="363016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04164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ε_θ(x_t, t)</a:t>
            </a:r>
            <a:endParaRPr lang="en-US" sz="1800" dirty="0"/>
          </a:p>
        </p:txBody>
      </p:sp>
      <p:sp>
        <p:nvSpPr>
          <p:cNvPr id="13" name="Text 9"/>
          <p:cNvSpPr txBox="1"/>
          <p:nvPr/>
        </p:nvSpPr>
        <p:spPr>
          <a:xfrm>
            <a:off x="8046720" y="404164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network's noise prediction</a:t>
            </a:r>
            <a:endParaRPr lang="en-US" sz="1700" dirty="0"/>
          </a:p>
        </p:txBody>
      </p:sp>
      <p:sp>
        <p:nvSpPr>
          <p:cNvPr id="14" name="Text 10"/>
          <p:cNvSpPr txBox="1"/>
          <p:nvPr/>
        </p:nvSpPr>
        <p:spPr>
          <a:xfrm>
            <a:off x="6858000" y="472744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α_t</a:t>
            </a:r>
            <a:endParaRPr lang="en-US" sz="1800" dirty="0"/>
          </a:p>
        </p:txBody>
      </p:sp>
      <p:sp>
        <p:nvSpPr>
          <p:cNvPr id="15" name="Text 11"/>
          <p:cNvSpPr txBox="1"/>
          <p:nvPr/>
        </p:nvSpPr>
        <p:spPr>
          <a:xfrm>
            <a:off x="8046720" y="472744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1 − β_t</a:t>
            </a:r>
            <a:endParaRPr lang="en-US" sz="1700" dirty="0"/>
          </a:p>
        </p:txBody>
      </p:sp>
      <p:sp>
        <p:nvSpPr>
          <p:cNvPr id="16" name="Text 12"/>
          <p:cNvSpPr txBox="1"/>
          <p:nvPr/>
        </p:nvSpPr>
        <p:spPr>
          <a:xfrm>
            <a:off x="6858000" y="541324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σ_t²</a:t>
            </a:r>
            <a:endParaRPr lang="en-US" sz="1800" dirty="0"/>
          </a:p>
        </p:txBody>
      </p:sp>
      <p:sp>
        <p:nvSpPr>
          <p:cNvPr id="17" name="Text 13"/>
          <p:cNvSpPr txBox="1"/>
          <p:nvPr/>
        </p:nvSpPr>
        <p:spPr>
          <a:xfrm>
            <a:off x="8046720" y="541324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sampling noise, often β_t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objective: predict the noise</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8b9fd35caeeba30a.png">    </p:cNvPr>
          <p:cNvPicPr>
            <a:picLocks noChangeAspect="1"/>
          </p:cNvPicPr>
          <p:nvPr/>
        </p:nvPicPr>
        <p:blipFill>
          <a:blip r:embed="rId1"/>
          <a:stretch>
            <a:fillRect/>
          </a:stretch>
        </p:blipFill>
        <p:spPr>
          <a:xfrm>
            <a:off x="2740000" y="1892808"/>
            <a:ext cx="6711696" cy="50292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Pick a training image, a random timestep and random noise; make the noisy image in one line; ask the network to predict the noise; use mean squared error.</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This is a simplified, reweighted form of the </a:t>
            </a:r>
            <a:pPr indent="0" marL="0">
              <a:buNone/>
            </a:pPr>
            <a:r>
              <a:rPr lang="en-US" sz="1700" b="1" dirty="0">
                <a:solidFill>
                  <a:srgbClr val="1F2937"/>
                </a:solidFill>
                <a:latin typeface="Calibri" pitchFamily="34" charset="0"/>
                <a:ea typeface="Calibri" pitchFamily="34" charset="-122"/>
                <a:cs typeface="Calibri" pitchFamily="34" charset="-120"/>
              </a:rPr>
              <a:t>ELBO</a:t>
            </a:r>
            <a:pPr indent="0" marL="0">
              <a:buNone/>
            </a:pPr>
            <a:r>
              <a:rPr lang="en-US" sz="1700" dirty="0">
                <a:solidFill>
                  <a:srgbClr val="1F2937"/>
                </a:solidFill>
                <a:latin typeface="Calibri" pitchFamily="34" charset="0"/>
                <a:ea typeface="Calibri" pitchFamily="34" charset="-122"/>
                <a:cs typeface="Calibri" pitchFamily="34" charset="-120"/>
              </a:rPr>
              <a:t>: a diffusion model is like a deep hierarchical VAE whose encoder (the noising) is fixed.</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Plain regression, no adversary: that is why training is stable.</a:t>
            </a:r>
            <a:endParaRPr lang="en-US" sz="17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t</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uniform random step in 1…T</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noise we added (the target)</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ε_θ</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network's guess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and sampling in a few lines</a:t>
            </a:r>
            <a:endParaRPr lang="en-US" sz="3200" dirty="0"/>
          </a:p>
        </p:txBody>
      </p:sp>
      <p:sp>
        <p:nvSpPr>
          <p:cNvPr id="6" name="Shape 4"/>
          <p:cNvSpPr/>
          <p:nvPr/>
        </p:nvSpPr>
        <p:spPr>
          <a:xfrm>
            <a:off x="548640" y="1481328"/>
            <a:ext cx="6949440" cy="3322828"/>
          </a:xfrm>
          <a:prstGeom prst="roundRect">
            <a:avLst>
              <a:gd name="adj" fmla="val 2752"/>
            </a:avLst>
          </a:prstGeom>
          <a:solidFill>
            <a:srgbClr val="1E1E2E"/>
          </a:solidFill>
          <a:ln w="12700">
            <a:solidFill>
              <a:srgbClr val="1E1E2E"/>
            </a:solidFill>
            <a:prstDash val="solid"/>
          </a:ln>
        </p:spPr>
      </p:sp>
      <p:sp>
        <p:nvSpPr>
          <p:cNvPr id="7" name="Text 5"/>
          <p:cNvSpPr txBox="1"/>
          <p:nvPr/>
        </p:nvSpPr>
        <p:spPr>
          <a:xfrm>
            <a:off x="685800" y="1591056"/>
            <a:ext cx="6675120" cy="3103372"/>
          </a:xfrm>
          <a:prstGeom prst="rect">
            <a:avLst/>
          </a:prstGeom>
          <a:noFill/>
          <a:ln/>
        </p:spPr>
        <p:txBody>
          <a:bodyPr wrap="square" lIns="76200" tIns="76200" rIns="76200" bIns="76200" rtlCol="0" anchor="t"/>
          <a:lstStyle/>
          <a:p>
            <a:pPr indent="0" marL="0">
              <a:lnSpc>
                <a:spcPct val="100000"/>
              </a:lnSpc>
              <a:buNone/>
            </a:pPr>
            <a:r>
              <a:rPr lang="en-US" sz="1400" dirty="0">
                <a:solidFill>
                  <a:srgbClr val="9CA3AF"/>
                </a:solidFill>
                <a:latin typeface="Consolas" pitchFamily="34" charset="0"/>
                <a:ea typeface="Consolas" pitchFamily="34" charset="-122"/>
                <a:cs typeface="Consolas" pitchFamily="34" charset="-120"/>
              </a:rPr>
              <a:t># ---- training step</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t   = torch.randint(0, T, (batch,))</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eps = torch.randn_like(x0)</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xt  = abar[t].sqrt() * x0 + (1 - abar[t]).sqrt() * eps</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loss = F.mse_loss(model(xt, t), eps)</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a:t>
            </a:r>
            <a:endParaRPr lang="en-US" sz="1400" dirty="0"/>
          </a:p>
          <a:p>
            <a:pPr indent="0" marL="0">
              <a:lnSpc>
                <a:spcPct val="100000"/>
              </a:lnSpc>
              <a:buNone/>
            </a:pPr>
            <a:r>
              <a:rPr lang="en-US" sz="1400" dirty="0">
                <a:solidFill>
                  <a:srgbClr val="9CA3AF"/>
                </a:solidFill>
                <a:latin typeface="Consolas" pitchFamily="34" charset="0"/>
                <a:ea typeface="Consolas" pitchFamily="34" charset="-122"/>
                <a:cs typeface="Consolas" pitchFamily="34" charset="-120"/>
              </a:rPr>
              <a:t># ---- sampling (DDPM ancestral)</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x = torch.randn(n, 1, 28, 28)</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for t in reversed(range(T)):</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e = model(x, t)</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x = (x - beta[t] / (1 - abar[t]).sqrt() * e) / alpha[t].sqrt()</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if t &gt; 0:</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x = x + beta[t].sqrt() * torch.randn_like(x)</a:t>
            </a:r>
            <a:endParaRPr lang="en-US" sz="14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Training: one random step per image, </a:t>
            </a:r>
            <a:pPr indent="0" marL="0">
              <a:buNone/>
            </a:pPr>
            <a:r>
              <a:rPr lang="en-US" sz="1800" b="1" dirty="0">
                <a:solidFill>
                  <a:srgbClr val="1F2937"/>
                </a:solidFill>
                <a:latin typeface="Calibri" pitchFamily="34" charset="0"/>
                <a:ea typeface="Calibri" pitchFamily="34" charset="-122"/>
                <a:cs typeface="Calibri" pitchFamily="34" charset="-120"/>
              </a:rPr>
              <a:t>not</a:t>
            </a:r>
            <a:pPr indent="0" marL="0">
              <a:buNone/>
            </a:pPr>
            <a:r>
              <a:rPr lang="en-US" sz="1800" dirty="0">
                <a:solidFill>
                  <a:srgbClr val="1F2937"/>
                </a:solidFill>
                <a:latin typeface="Calibri" pitchFamily="34" charset="0"/>
                <a:ea typeface="Calibri" pitchFamily="34" charset="-122"/>
                <a:cs typeface="Calibri" pitchFamily="34" charset="-120"/>
              </a:rPr>
              <a:t> a loop over all steps.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Sampling: T network calls, each removing a little noise.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In the lab you implement both for MNIST.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score-based view (Song et al., 2021)</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The </a:t>
            </a:r>
            <a:pPr indent="0" marL="0">
              <a:buNone/>
            </a:pPr>
            <a:r>
              <a:rPr lang="en-US" sz="2200" b="1" dirty="0">
                <a:solidFill>
                  <a:srgbClr val="1F2937"/>
                </a:solidFill>
                <a:latin typeface="Calibri" pitchFamily="34" charset="0"/>
                <a:ea typeface="Calibri" pitchFamily="34" charset="-122"/>
                <a:cs typeface="Calibri" pitchFamily="34" charset="-120"/>
              </a:rPr>
              <a:t>score</a:t>
            </a:r>
            <a:pPr indent="0" marL="0">
              <a:buNone/>
            </a:pPr>
            <a:r>
              <a:rPr lang="en-US" sz="2200" dirty="0">
                <a:solidFill>
                  <a:srgbClr val="1F2937"/>
                </a:solidFill>
                <a:latin typeface="Calibri" pitchFamily="34" charset="0"/>
                <a:ea typeface="Calibri" pitchFamily="34" charset="-122"/>
                <a:cs typeface="Calibri" pitchFamily="34" charset="-120"/>
              </a:rPr>
              <a:t> ∇ₓ log p_t(x) points towards regions of higher data probability at noise level 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Predicting noise is equivalent to predicting the score: ε_θ(x_t, t) ≈ −√(1 − ᾱ_t) · ∇ₓ log p_t(x_t).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Diffusion can be written as a </a:t>
            </a:r>
            <a:pPr indent="0" marL="0">
              <a:buNone/>
            </a:pPr>
            <a:r>
              <a:rPr lang="en-US" sz="2200" b="1" dirty="0">
                <a:solidFill>
                  <a:srgbClr val="1F2937"/>
                </a:solidFill>
                <a:latin typeface="Calibri" pitchFamily="34" charset="0"/>
                <a:ea typeface="Calibri" pitchFamily="34" charset="-122"/>
                <a:cs typeface="Calibri" pitchFamily="34" charset="-120"/>
              </a:rPr>
              <a:t>stochastic differential equation</a:t>
            </a:r>
            <a:pPr indent="0" marL="0">
              <a:buNone/>
            </a:pPr>
            <a:r>
              <a:rPr lang="en-US" sz="2200" dirty="0">
                <a:solidFill>
                  <a:srgbClr val="1F2937"/>
                </a:solidFill>
                <a:latin typeface="Calibri" pitchFamily="34" charset="0"/>
                <a:ea typeface="Calibri" pitchFamily="34" charset="-122"/>
                <a:cs typeface="Calibri" pitchFamily="34" charset="-120"/>
              </a:rPr>
              <a:t>; its deterministic twin, the </a:t>
            </a:r>
            <a:pPr indent="0" marL="0">
              <a:buNone/>
            </a:pPr>
            <a:r>
              <a:rPr lang="en-US" sz="2200" b="1" dirty="0">
                <a:solidFill>
                  <a:srgbClr val="1F2937"/>
                </a:solidFill>
                <a:latin typeface="Calibri" pitchFamily="34" charset="0"/>
                <a:ea typeface="Calibri" pitchFamily="34" charset="-122"/>
                <a:cs typeface="Calibri" pitchFamily="34" charset="-120"/>
              </a:rPr>
              <a:t>probability-flow ODE</a:t>
            </a:r>
            <a:pPr indent="0" marL="0">
              <a:buNone/>
            </a:pPr>
            <a:r>
              <a:rPr lang="en-US" sz="2200" dirty="0">
                <a:solidFill>
                  <a:srgbClr val="1F2937"/>
                </a:solidFill>
                <a:latin typeface="Calibri" pitchFamily="34" charset="0"/>
                <a:ea typeface="Calibri" pitchFamily="34" charset="-122"/>
                <a:cs typeface="Calibri" pitchFamily="34" charset="-120"/>
              </a:rPr>
              <a:t>, gives fast, reproducible samplers (DDIM, DPM-Solver).</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Same models, two languages: 'denoising diffusion' and 'score-based generative modelling'.</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900" b="1" dirty="0">
                <a:solidFill>
                  <a:srgbClr val="1E1B4B"/>
                </a:solidFill>
                <a:latin typeface="Calibri" pitchFamily="34" charset="0"/>
                <a:ea typeface="Calibri" pitchFamily="34" charset="-122"/>
                <a:cs typeface="Calibri" pitchFamily="34" charset="-120"/>
              </a:rPr>
              <a:t>A real diffusion model on 2-D data: noise becomes structure</a:t>
            </a:r>
            <a:endParaRPr lang="en-US" sz="2900" dirty="0"/>
          </a:p>
        </p:txBody>
      </p:sp>
      <p:pic>
        <p:nvPicPr>
          <p:cNvPr id="6" name="Image 0" descr="C:\Users\sudee\Downloads\Generative_AI_2027_Teaching_Pack\AI2027_Project\build\figures\week_04\reverse_2d.png">    </p:cNvPr>
          <p:cNvPicPr>
            <a:picLocks noChangeAspect="1"/>
          </p:cNvPicPr>
          <p:nvPr/>
        </p:nvPicPr>
        <p:blipFill>
          <a:blip r:embed="rId1"/>
          <a:stretch>
            <a:fillRect/>
          </a:stretch>
        </p:blipFill>
        <p:spPr>
          <a:xfrm>
            <a:off x="548640" y="2667226"/>
            <a:ext cx="11094415" cy="2044755"/>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A small MLP trained with the noise-prediction loss on a 2-D swiss roll (grey). Blue: 2,000 samples during the reverse process.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A tiny diffusion model on MNIST, trained for this lecture</a:t>
            </a:r>
            <a:endParaRPr lang="en-US" sz="3000" dirty="0"/>
          </a:p>
        </p:txBody>
      </p:sp>
      <p:pic>
        <p:nvPicPr>
          <p:cNvPr id="6" name="Image 0" descr="C:\Users\sudee\Downloads\Generative_AI_2027_Teaching_Pack\AI2027_Project\build\figures\week_04\reverse_mnist.png">    </p:cNvPr>
          <p:cNvPicPr>
            <a:picLocks noChangeAspect="1"/>
          </p:cNvPicPr>
          <p:nvPr/>
        </p:nvPicPr>
        <p:blipFill>
          <a:blip r:embed="rId1"/>
          <a:stretch>
            <a:fillRect/>
          </a:stretch>
        </p:blipFill>
        <p:spPr>
          <a:xfrm>
            <a:off x="1483217" y="1481328"/>
            <a:ext cx="5446045" cy="4828032"/>
          </a:xfrm>
          <a:prstGeom prst="rect">
            <a:avLst/>
          </a:prstGeom>
        </p:spPr>
      </p:pic>
      <p:sp>
        <p:nvSpPr>
          <p:cNvPr id="7" name="Text 4"/>
          <p:cNvSpPr txBox="1"/>
          <p:nvPr/>
        </p:nvSpPr>
        <p:spPr>
          <a:xfrm>
            <a:off x="8138160" y="1481328"/>
            <a:ext cx="350489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Tiny U-Net (under 1 M parameters), a few epochs.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Structure appears in the middle steps; details are refined at the end.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lab trains the same model on a Colab GPU.</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During DDPM training, what does the network learn to predict?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clean image directly from pure noise, in one step</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Gaussian noise that was added to create x_t, for a randomly chosen step t</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class label of the image</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value of the next pixel given the previous pixels</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Architecture and latent diffusion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network does the denoising, and how does text get in?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900" b="1" dirty="0">
                <a:solidFill>
                  <a:srgbClr val="1E1B4B"/>
                </a:solidFill>
                <a:latin typeface="Calibri" pitchFamily="34" charset="0"/>
                <a:ea typeface="Calibri" pitchFamily="34" charset="-122"/>
                <a:cs typeface="Calibri" pitchFamily="34" charset="-120"/>
              </a:rPr>
              <a:t>Two denoiser architectures: U-Net and diffusion transformer</a:t>
            </a:r>
            <a:endParaRPr lang="en-US" sz="2900" dirty="0"/>
          </a:p>
        </p:txBody>
      </p:sp>
      <p:pic>
        <p:nvPicPr>
          <p:cNvPr id="6" name="Image 0" descr="C:\Users\sudee\Downloads\Generative_AI_2027_Teaching_Pack\AI2027_Project\build\figures\week_04\unet_dit.png">    </p:cNvPr>
          <p:cNvPicPr>
            <a:picLocks noChangeAspect="1"/>
          </p:cNvPicPr>
          <p:nvPr/>
        </p:nvPicPr>
        <p:blipFill>
          <a:blip r:embed="rId1"/>
          <a:stretch>
            <a:fillRect/>
          </a:stretch>
        </p:blipFill>
        <p:spPr>
          <a:xfrm>
            <a:off x="2663015" y="1481328"/>
            <a:ext cx="6865665" cy="2795778"/>
          </a:xfrm>
          <a:prstGeom prst="rect">
            <a:avLst/>
          </a:prstGeom>
        </p:spPr>
      </p:pic>
      <p:sp>
        <p:nvSpPr>
          <p:cNvPr id="7" name="Text 4"/>
          <p:cNvSpPr txBox="1"/>
          <p:nvPr/>
        </p:nvSpPr>
        <p:spPr>
          <a:xfrm>
            <a:off x="548640" y="4459986"/>
            <a:ext cx="11094415" cy="18493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U-Net</a:t>
            </a:r>
            <a:pPr indent="0" marL="0">
              <a:buNone/>
            </a:pPr>
            <a:r>
              <a:rPr lang="en-US" sz="1800" dirty="0">
                <a:solidFill>
                  <a:srgbClr val="1F2937"/>
                </a:solidFill>
                <a:latin typeface="Calibri" pitchFamily="34" charset="0"/>
                <a:ea typeface="Calibri" pitchFamily="34" charset="-122"/>
                <a:cs typeface="Calibri" pitchFamily="34" charset="-120"/>
              </a:rPr>
              <a:t>: convolutional encoder–decoder with skip connections and attention layers; output has the same shape as the input.</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Diffusion transformer (DiT)</a:t>
            </a:r>
            <a:pPr indent="0" marL="0">
              <a:buNone/>
            </a:pPr>
            <a:r>
              <a:rPr lang="en-US" sz="1800" dirty="0">
                <a:solidFill>
                  <a:srgbClr val="1F2937"/>
                </a:solidFill>
                <a:latin typeface="Calibri" pitchFamily="34" charset="0"/>
                <a:ea typeface="Calibri" pitchFamily="34" charset="-122"/>
                <a:cs typeface="Calibri" pitchFamily="34" charset="-120"/>
              </a:rPr>
              <a:t>: split the latent into patches (tokens) and process them with transformer blocks; scales better with compute.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Both receive the </a:t>
            </a:r>
            <a:pPr indent="0" marL="0">
              <a:buNone/>
            </a:pPr>
            <a:r>
              <a:rPr lang="en-US" sz="1800" b="1" dirty="0">
                <a:solidFill>
                  <a:srgbClr val="1F2937"/>
                </a:solidFill>
                <a:latin typeface="Calibri" pitchFamily="34" charset="0"/>
                <a:ea typeface="Calibri" pitchFamily="34" charset="-122"/>
                <a:cs typeface="Calibri" pitchFamily="34" charset="-120"/>
              </a:rPr>
              <a:t>timestep</a:t>
            </a:r>
            <a:pPr indent="0" marL="0">
              <a:buNone/>
            </a:pPr>
            <a:r>
              <a:rPr lang="en-US" sz="1800" dirty="0">
                <a:solidFill>
                  <a:srgbClr val="1F2937"/>
                </a:solidFill>
                <a:latin typeface="Calibri" pitchFamily="34" charset="0"/>
                <a:ea typeface="Calibri" pitchFamily="34" charset="-122"/>
                <a:cs typeface="Calibri" pitchFamily="34" charset="-120"/>
              </a:rPr>
              <a:t> and the </a:t>
            </a:r>
            <a:pPr indent="0" marL="0">
              <a:buNone/>
            </a:pPr>
            <a:r>
              <a:rPr lang="en-US" sz="1800" b="1" dirty="0">
                <a:solidFill>
                  <a:srgbClr val="1F2937"/>
                </a:solidFill>
                <a:latin typeface="Calibri" pitchFamily="34" charset="0"/>
                <a:ea typeface="Calibri" pitchFamily="34" charset="-122"/>
                <a:cs typeface="Calibri" pitchFamily="34" charset="-120"/>
              </a:rPr>
              <a:t>text</a:t>
            </a:r>
            <a:pPr indent="0" marL="0">
              <a:buNone/>
            </a:pPr>
            <a:r>
              <a:rPr lang="en-US" sz="1800" dirty="0">
                <a:solidFill>
                  <a:srgbClr val="1F2937"/>
                </a:solidFill>
                <a:latin typeface="Calibri" pitchFamily="34" charset="0"/>
                <a:ea typeface="Calibri" pitchFamily="34" charset="-122"/>
                <a:cs typeface="Calibri" pitchFamily="34" charset="-120"/>
              </a:rPr>
              <a:t> at every block.</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Latent diffusion: the Stable Diffusion pipeline</a:t>
            </a:r>
            <a:endParaRPr lang="en-US" sz="3200" dirty="0"/>
          </a:p>
        </p:txBody>
      </p:sp>
      <p:pic>
        <p:nvPicPr>
          <p:cNvPr id="6" name="Image 0" descr="C:\Users\sudee\Downloads\Generative_AI_2027_Teaching_Pack\AI2027_Project\build\figures\week_04\ldm_pipeline.png">    </p:cNvPr>
          <p:cNvPicPr>
            <a:picLocks noChangeAspect="1"/>
          </p:cNvPicPr>
          <p:nvPr/>
        </p:nvPicPr>
        <p:blipFill>
          <a:blip r:embed="rId1"/>
          <a:stretch>
            <a:fillRect/>
          </a:stretch>
        </p:blipFill>
        <p:spPr>
          <a:xfrm>
            <a:off x="1546953" y="1481328"/>
            <a:ext cx="9097789"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VAE</a:t>
            </a:r>
            <a:pPr indent="0" marL="0">
              <a:buNone/>
            </a:pPr>
            <a:r>
              <a:rPr lang="en-US" sz="1800" dirty="0">
                <a:solidFill>
                  <a:srgbClr val="1F2937"/>
                </a:solidFill>
                <a:latin typeface="Calibri" pitchFamily="34" charset="0"/>
                <a:ea typeface="Calibri" pitchFamily="34" charset="-122"/>
                <a:cs typeface="Calibri" pitchFamily="34" charset="-120"/>
              </a:rPr>
              <a:t> (week 2) compresses 512 × 512 × 3 images to 64 × 64 × 4 latents; diffusion runs there.</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Text encoder</a:t>
            </a:r>
            <a:pPr indent="0" marL="0">
              <a:buNone/>
            </a:pPr>
            <a:r>
              <a:rPr lang="en-US" sz="1800" dirty="0">
                <a:solidFill>
                  <a:srgbClr val="1F2937"/>
                </a:solidFill>
                <a:latin typeface="Calibri" pitchFamily="34" charset="0"/>
                <a:ea typeface="Calibri" pitchFamily="34" charset="-122"/>
                <a:cs typeface="Calibri" pitchFamily="34" charset="-120"/>
              </a:rPr>
              <a:t> (CLIP or T5, weeks 5–9) turns the prompt into token embeddings.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The denoiser reads the text through </a:t>
            </a:r>
            <a:pPr indent="0" marL="0">
              <a:buNone/>
            </a:pPr>
            <a:r>
              <a:rPr lang="en-US" sz="1800" b="1" dirty="0">
                <a:solidFill>
                  <a:srgbClr val="1F2937"/>
                </a:solidFill>
                <a:latin typeface="Calibri" pitchFamily="34" charset="0"/>
                <a:ea typeface="Calibri" pitchFamily="34" charset="-122"/>
                <a:cs typeface="Calibri" pitchFamily="34" charset="-120"/>
              </a:rPr>
              <a:t>cross-attention</a:t>
            </a:r>
            <a:pPr indent="0" marL="0">
              <a:buNone/>
            </a:pPr>
            <a:r>
              <a:rPr lang="en-US" sz="1800" dirty="0">
                <a:solidFill>
                  <a:srgbClr val="1F2937"/>
                </a:solidFill>
                <a:latin typeface="Calibri" pitchFamily="34" charset="0"/>
                <a:ea typeface="Calibri" pitchFamily="34" charset="-122"/>
                <a:cs typeface="Calibri" pitchFamily="34" charset="-120"/>
              </a:rPr>
              <a:t> at every step.</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each component contributes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Autoencoder (VAE)</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Removes imperceptible detail so diffusion works on 48× fewer numbers: affordable training and sampling.</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Text encoder</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Maps words to vectors that capture meaning; its quality limits prompt understanding (e.g. counting, spelling).</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Denoiser</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 large network that is trained with the noise-prediction loss on image–caption pairs.</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Scheduler / sampler</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 algorithm that turns noise predictions into steps; swappable without retraining (section 4).</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Sampling, guidance and prompts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Why do steps, guidance scale, seeds and negative prompts change the picture?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Samplers: from 1000 steps to a handful</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DDPM (ancestral)</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Stochastic: adds fresh noise each step</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Needs hundreds to 1000 steps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original algorithm (2020)</a:t>
            </a:r>
            <a:endParaRPr lang="en-US" sz="20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ODE solvers</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DDIM, DPM-Solver, Euler, Heun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Deterministic updates; DDIM can skip selected timesteps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20–50 steps; same seed → same image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Swap in without retraining</a:t>
            </a:r>
            <a:endParaRPr lang="en-US" sz="20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Distilled models</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Consistency models, adversarial distillation (SD-Turbo, SDXL-Turbo)</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1–4 steps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Some loss of diversity or detail</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700" b="1" dirty="0">
                <a:solidFill>
                  <a:srgbClr val="1E1B4B"/>
                </a:solidFill>
                <a:latin typeface="Calibri" pitchFamily="34" charset="0"/>
                <a:ea typeface="Calibri" pitchFamily="34" charset="-122"/>
                <a:cs typeface="Calibri" pitchFamily="34" charset="-120"/>
              </a:rPr>
              <a:t>Effect of the number of steps (Stable Diffusion 1.5, same seed)</a:t>
            </a:r>
            <a:endParaRPr lang="en-US" sz="2700" dirty="0"/>
          </a:p>
        </p:txBody>
      </p:sp>
      <p:pic>
        <p:nvPicPr>
          <p:cNvPr id="6" name="Image 0" descr="C:\Users\sudee\Downloads\Generative_AI_2027_Teaching_Pack\AI2027_Project\build\figures\week_04\sd_steps.png">    </p:cNvPr>
          <p:cNvPicPr>
            <a:picLocks noChangeAspect="1"/>
          </p:cNvPicPr>
          <p:nvPr/>
        </p:nvPicPr>
        <p:blipFill>
          <a:blip r:embed="rId1"/>
          <a:stretch>
            <a:fillRect/>
          </a:stretch>
        </p:blipFill>
        <p:spPr>
          <a:xfrm>
            <a:off x="548640" y="2221905"/>
            <a:ext cx="11094415" cy="2935397"/>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DPM-Solver++ sampler, guidance 7.5, seed 42. Real outputs generated for this lecture.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Classifier-free guidance (Ho &amp; Salimans, 2022)</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e9e94d02d0f29948.png">    </p:cNvPr>
          <p:cNvPicPr>
            <a:picLocks noChangeAspect="1"/>
          </p:cNvPicPr>
          <p:nvPr/>
        </p:nvPicPr>
        <p:blipFill>
          <a:blip r:embed="rId1"/>
          <a:stretch>
            <a:fillRect/>
          </a:stretch>
        </p:blipFill>
        <p:spPr>
          <a:xfrm>
            <a:off x="3706216" y="1967484"/>
            <a:ext cx="4779264" cy="353568"/>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Train one model both </a:t>
            </a:r>
            <a:pPr indent="0" marL="0">
              <a:buNone/>
            </a:pPr>
            <a:r>
              <a:rPr lang="en-US" sz="1900" b="1" dirty="0">
                <a:solidFill>
                  <a:srgbClr val="1F2937"/>
                </a:solidFill>
                <a:latin typeface="Calibri" pitchFamily="34" charset="0"/>
                <a:ea typeface="Calibri" pitchFamily="34" charset="-122"/>
                <a:cs typeface="Calibri" pitchFamily="34" charset="-120"/>
              </a:rPr>
              <a:t>with</a:t>
            </a:r>
            <a:pPr indent="0" marL="0">
              <a:buNone/>
            </a:pPr>
            <a:r>
              <a:rPr lang="en-US" sz="1900" dirty="0">
                <a:solidFill>
                  <a:srgbClr val="1F2937"/>
                </a:solidFill>
                <a:latin typeface="Calibri" pitchFamily="34" charset="0"/>
                <a:ea typeface="Calibri" pitchFamily="34" charset="-122"/>
                <a:cs typeface="Calibri" pitchFamily="34" charset="-120"/>
              </a:rPr>
              <a:t> the prompt c and </a:t>
            </a:r>
            <a:pPr indent="0" marL="0">
              <a:buNone/>
            </a:pPr>
            <a:r>
              <a:rPr lang="en-US" sz="1900" b="1" dirty="0">
                <a:solidFill>
                  <a:srgbClr val="1F2937"/>
                </a:solidFill>
                <a:latin typeface="Calibri" pitchFamily="34" charset="0"/>
                <a:ea typeface="Calibri" pitchFamily="34" charset="-122"/>
                <a:cs typeface="Calibri" pitchFamily="34" charset="-120"/>
              </a:rPr>
              <a:t>without</a:t>
            </a:r>
            <a:pPr indent="0" marL="0">
              <a:buNone/>
            </a:pPr>
            <a:r>
              <a:rPr lang="en-US" sz="1900" dirty="0">
                <a:solidFill>
                  <a:srgbClr val="1F2937"/>
                </a:solidFill>
                <a:latin typeface="Calibri" pitchFamily="34" charset="0"/>
                <a:ea typeface="Calibri" pitchFamily="34" charset="-122"/>
                <a:cs typeface="Calibri" pitchFamily="34" charset="-120"/>
              </a:rPr>
              <a:t> it (drop the prompt ~10% of the time).</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At sampling, run both and move further in the direction the prompt suggests, scaled by the </a:t>
            </a:r>
            <a:pPr indent="0" marL="0">
              <a:buNone/>
            </a:pPr>
            <a:r>
              <a:rPr lang="en-US" sz="1900" b="1" dirty="0">
                <a:solidFill>
                  <a:srgbClr val="1F2937"/>
                </a:solidFill>
                <a:latin typeface="Calibri" pitchFamily="34" charset="0"/>
                <a:ea typeface="Calibri" pitchFamily="34" charset="-122"/>
                <a:cs typeface="Calibri" pitchFamily="34" charset="-120"/>
              </a:rPr>
              <a:t>guidance scale</a:t>
            </a:r>
            <a:pPr indent="0" marL="0">
              <a:buNone/>
            </a:pPr>
            <a:r>
              <a:rPr lang="en-US" sz="1900" dirty="0">
                <a:solidFill>
                  <a:srgbClr val="1F2937"/>
                </a:solidFill>
                <a:latin typeface="Calibri" pitchFamily="34" charset="0"/>
                <a:ea typeface="Calibri" pitchFamily="34" charset="-122"/>
                <a:cs typeface="Calibri" pitchFamily="34" charset="-120"/>
              </a:rPr>
              <a:t> w.</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w = 1: plain conditional model; w ≈ 5–8: typical; very large w: over-saturated, less diverse images.</a:t>
            </a:r>
            <a:endParaRPr lang="en-US" sz="19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c</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text condition (prompt embedding)</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empty prompt</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w</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guidance scale</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Effect of the guidance scale (same seed)</a:t>
            </a:r>
            <a:endParaRPr lang="en-US" sz="3200" dirty="0"/>
          </a:p>
        </p:txBody>
      </p:sp>
      <p:pic>
        <p:nvPicPr>
          <p:cNvPr id="6" name="Image 0" descr="C:\Users\sudee\Downloads\Generative_AI_2027_Teaching_Pack\AI2027_Project\build\figures\week_04\sd_guidance.png">    </p:cNvPr>
          <p:cNvPicPr>
            <a:picLocks noChangeAspect="1"/>
          </p:cNvPicPr>
          <p:nvPr/>
        </p:nvPicPr>
        <p:blipFill>
          <a:blip r:embed="rId1"/>
          <a:stretch>
            <a:fillRect/>
          </a:stretch>
        </p:blipFill>
        <p:spPr>
          <a:xfrm>
            <a:off x="548640" y="1499529"/>
            <a:ext cx="11094415" cy="2935397"/>
          </a:xfrm>
          <a:prstGeom prst="rect">
            <a:avLst/>
          </a:prstGeom>
        </p:spPr>
      </p:pic>
      <p:sp>
        <p:nvSpPr>
          <p:cNvPr id="7" name="Text 4"/>
          <p:cNvSpPr txBox="1"/>
          <p:nvPr/>
        </p:nvSpPr>
        <p:spPr>
          <a:xfrm>
            <a:off x="548640" y="4617807"/>
            <a:ext cx="11094415" cy="1691553"/>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w = 1: follows the prompt weakly; muted, sometimes incoherent.</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w = 3–7.5: good balance of prompt adherence and natural look.</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w = 15: strong adherence but over-saturated colours and harsher contrast.</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Guidance trades </a:t>
            </a:r>
            <a:pPr indent="0" marL="0">
              <a:buNone/>
            </a:pPr>
            <a:r>
              <a:rPr lang="en-US" sz="1900" b="1" dirty="0">
                <a:solidFill>
                  <a:srgbClr val="1F2937"/>
                </a:solidFill>
                <a:latin typeface="Calibri" pitchFamily="34" charset="0"/>
                <a:ea typeface="Calibri" pitchFamily="34" charset="-122"/>
                <a:cs typeface="Calibri" pitchFamily="34" charset="-120"/>
              </a:rPr>
              <a:t>diversity and naturalness</a:t>
            </a:r>
            <a:pPr indent="0" marL="0">
              <a:buNone/>
            </a:pPr>
            <a:r>
              <a:rPr lang="en-US" sz="1900" dirty="0">
                <a:solidFill>
                  <a:srgbClr val="1F2937"/>
                </a:solidFill>
                <a:latin typeface="Calibri" pitchFamily="34" charset="0"/>
                <a:ea typeface="Calibri" pitchFamily="34" charset="-122"/>
                <a:cs typeface="Calibri" pitchFamily="34" charset="-120"/>
              </a:rPr>
              <a:t> for </a:t>
            </a:r>
            <a:pPr indent="0" marL="0">
              <a:buNone/>
            </a:pPr>
            <a:r>
              <a:rPr lang="en-US" sz="1900" b="1" dirty="0">
                <a:solidFill>
                  <a:srgbClr val="1F2937"/>
                </a:solidFill>
                <a:latin typeface="Calibri" pitchFamily="34" charset="0"/>
                <a:ea typeface="Calibri" pitchFamily="34" charset="-122"/>
                <a:cs typeface="Calibri" pitchFamily="34" charset="-120"/>
              </a:rPr>
              <a:t>prompt adherence</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Seeds and negative prompts</a:t>
            </a:r>
            <a:endParaRPr lang="en-US" sz="3200" dirty="0"/>
          </a:p>
        </p:txBody>
      </p:sp>
      <p:pic>
        <p:nvPicPr>
          <p:cNvPr id="6" name="Image 0" descr="C:\Users\sudee\Downloads\Generative_AI_2027_Teaching_Pack\AI2027_Project\build\figures\week_04\seeds_negative.png">    </p:cNvPr>
          <p:cNvPicPr>
            <a:picLocks noChangeAspect="1"/>
          </p:cNvPicPr>
          <p:nvPr/>
        </p:nvPicPr>
        <p:blipFill>
          <a:blip r:embed="rId1"/>
          <a:stretch>
            <a:fillRect/>
          </a:stretch>
        </p:blipFill>
        <p:spPr>
          <a:xfrm>
            <a:off x="548640" y="2033276"/>
            <a:ext cx="11094415" cy="2373110"/>
          </a:xfrm>
          <a:prstGeom prst="rect">
            <a:avLst/>
          </a:prstGeom>
        </p:spPr>
      </p:pic>
      <p:sp>
        <p:nvSpPr>
          <p:cNvPr id="7" name="Text 4"/>
          <p:cNvSpPr txBox="1"/>
          <p:nvPr/>
        </p:nvSpPr>
        <p:spPr>
          <a:xfrm>
            <a:off x="548640" y="4589266"/>
            <a:ext cx="11094415" cy="1720094"/>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Seed</a:t>
            </a:r>
            <a:pPr indent="0" marL="0">
              <a:buNone/>
            </a:pPr>
            <a:r>
              <a:rPr lang="en-US" sz="2000" dirty="0">
                <a:solidFill>
                  <a:srgbClr val="1F2937"/>
                </a:solidFill>
                <a:latin typeface="Calibri" pitchFamily="34" charset="0"/>
                <a:ea typeface="Calibri" pitchFamily="34" charset="-122"/>
                <a:cs typeface="Calibri" pitchFamily="34" charset="-120"/>
              </a:rPr>
              <a:t> = the starting noise. Same seed + same settings = same image; different seeds = variety. Record seeds for reproducibility.</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Negative prompt</a:t>
            </a:r>
            <a:pPr indent="0" marL="0">
              <a:buNone/>
            </a:pPr>
            <a:r>
              <a:rPr lang="en-US" sz="2000" dirty="0">
                <a:solidFill>
                  <a:srgbClr val="1F2937"/>
                </a:solidFill>
                <a:latin typeface="Calibri" pitchFamily="34" charset="0"/>
                <a:ea typeface="Calibri" pitchFamily="34" charset="-122"/>
                <a:cs typeface="Calibri" pitchFamily="34" charset="-120"/>
              </a:rPr>
              <a:t>: replaces the empty prompt ∅ in guidance, so sampling moves </a:t>
            </a:r>
            <a:pPr indent="0" marL="0">
              <a:buNone/>
            </a:pPr>
            <a:r>
              <a:rPr lang="en-US" sz="2000" b="1" dirty="0">
                <a:solidFill>
                  <a:srgbClr val="1F2937"/>
                </a:solidFill>
                <a:latin typeface="Calibri" pitchFamily="34" charset="0"/>
                <a:ea typeface="Calibri" pitchFamily="34" charset="-122"/>
                <a:cs typeface="Calibri" pitchFamily="34" charset="-120"/>
              </a:rPr>
              <a:t>away</a:t>
            </a:r>
            <a:pPr indent="0" marL="0">
              <a:buNone/>
            </a:pPr>
            <a:r>
              <a:rPr lang="en-US" sz="2000" dirty="0">
                <a:solidFill>
                  <a:srgbClr val="1F2937"/>
                </a:solidFill>
                <a:latin typeface="Calibri" pitchFamily="34" charset="0"/>
                <a:ea typeface="Calibri" pitchFamily="34" charset="-122"/>
                <a:cs typeface="Calibri" pitchFamily="34" charset="-120"/>
              </a:rPr>
              <a:t> from it.</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Variants, evaluation and responsible use</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has changed since Stable Diffusion, and how do we judge the results?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Flow matching and rectified flow: straighter paths</a:t>
            </a:r>
            <a:endParaRPr lang="en-US" sz="3200" dirty="0"/>
          </a:p>
        </p:txBody>
      </p:sp>
      <p:pic>
        <p:nvPicPr>
          <p:cNvPr id="6" name="Image 0" descr="C:\Users\sudee\Downloads\Generative_AI_2027_Teaching_Pack\AI2027_Project\build\figures\week_04\flow_paths.png">    </p:cNvPr>
          <p:cNvPicPr>
            <a:picLocks noChangeAspect="1"/>
          </p:cNvPicPr>
          <p:nvPr/>
        </p:nvPicPr>
        <p:blipFill>
          <a:blip r:embed="rId1"/>
          <a:stretch>
            <a:fillRect/>
          </a:stretch>
        </p:blipFill>
        <p:spPr>
          <a:xfrm>
            <a:off x="1752577" y="1481328"/>
            <a:ext cx="8686540" cy="482803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flow-matching objective</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41bae57b66d7aaaa.png">    </p:cNvPr>
          <p:cNvPicPr>
            <a:picLocks noChangeAspect="1"/>
          </p:cNvPicPr>
          <p:nvPr/>
        </p:nvPicPr>
        <p:blipFill>
          <a:blip r:embed="rId1"/>
          <a:stretch>
            <a:fillRect/>
          </a:stretch>
        </p:blipFill>
        <p:spPr>
          <a:xfrm>
            <a:off x="4094836" y="1976120"/>
            <a:ext cx="4002024" cy="353568"/>
          </a:xfrm>
          <a:prstGeom prst="rect">
            <a:avLst/>
          </a:prstGeom>
        </p:spPr>
      </p:pic>
      <p:pic>
        <p:nvPicPr>
          <p:cNvPr id="8" name="Image 1" descr="C:\Users\sudee\Downloads\Generative_AI_2027_Teaching_Pack\AI2027_Project\build\eq\a5ada54c3e020331.png">    </p:cNvPr>
          <p:cNvPicPr>
            <a:picLocks noChangeAspect="1"/>
          </p:cNvPicPr>
          <p:nvPr/>
        </p:nvPicPr>
        <p:blipFill>
          <a:blip r:embed="rId2"/>
          <a:stretch>
            <a:fillRect/>
          </a:stretch>
        </p:blipFill>
        <p:spPr>
          <a:xfrm>
            <a:off x="3852520" y="2778760"/>
            <a:ext cx="4486656" cy="402336"/>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Mix data and noise linearly; the network predicts the </a:t>
            </a:r>
            <a:pPr indent="0" marL="0">
              <a:buNone/>
            </a:pPr>
            <a:r>
              <a:rPr lang="en-US" sz="1700" b="1" dirty="0">
                <a:solidFill>
                  <a:srgbClr val="1F2937"/>
                </a:solidFill>
                <a:latin typeface="Calibri" pitchFamily="34" charset="0"/>
                <a:ea typeface="Calibri" pitchFamily="34" charset="-122"/>
                <a:cs typeface="Calibri" pitchFamily="34" charset="-120"/>
              </a:rPr>
              <a:t>velocity</a:t>
            </a:r>
            <a:pPr indent="0" marL="0">
              <a:buNone/>
            </a:pPr>
            <a:r>
              <a:rPr lang="en-US" sz="1700" dirty="0">
                <a:solidFill>
                  <a:srgbClr val="1F2937"/>
                </a:solidFill>
                <a:latin typeface="Calibri" pitchFamily="34" charset="0"/>
                <a:ea typeface="Calibri" pitchFamily="34" charset="-122"/>
                <a:cs typeface="Calibri" pitchFamily="34" charset="-120"/>
              </a:rPr>
              <a:t> (direction from data to noise).</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Generate by integrating backwards from noise (t = 1) to data (t = 0) with an ODE solver.</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Still plain regression; conventions differ between papers (some put data at t = 1).</a:t>
            </a:r>
            <a:endParaRPr lang="en-US" sz="17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x₀</a:t>
            </a:r>
            <a:endParaRPr lang="en-US" sz="18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data sample</a:t>
            </a:r>
            <a:endParaRPr lang="en-US" sz="17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a:t>
            </a:r>
            <a:endParaRPr lang="en-US" sz="18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noise sample</a:t>
            </a:r>
            <a:endParaRPr lang="en-US" sz="17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v_θ</a:t>
            </a:r>
            <a:endParaRPr lang="en-US" sz="18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predicted velocity</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Few-step generation with a distilled model (SD-Turbo)</a:t>
            </a:r>
            <a:endParaRPr lang="en-US" sz="3200" dirty="0"/>
          </a:p>
        </p:txBody>
      </p:sp>
      <p:pic>
        <p:nvPicPr>
          <p:cNvPr id="6" name="Image 0" descr="C:\Users\sudee\Downloads\Generative_AI_2027_Teaching_Pack\AI2027_Project\build\figures\week_04\sd_turbo.png">    </p:cNvPr>
          <p:cNvPicPr>
            <a:picLocks noChangeAspect="1"/>
          </p:cNvPicPr>
          <p:nvPr/>
        </p:nvPicPr>
        <p:blipFill>
          <a:blip r:embed="rId1"/>
          <a:stretch>
            <a:fillRect/>
          </a:stretch>
        </p:blipFill>
        <p:spPr>
          <a:xfrm>
            <a:off x="1329905" y="1481328"/>
            <a:ext cx="9531886"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SD-Turbo: Stable Diffusion 2.1 distilled with </a:t>
            </a:r>
            <a:pPr indent="0" marL="0">
              <a:buNone/>
            </a:pPr>
            <a:r>
              <a:rPr lang="en-US" sz="1800" b="1" dirty="0">
                <a:solidFill>
                  <a:srgbClr val="1F2937"/>
                </a:solidFill>
                <a:latin typeface="Calibri" pitchFamily="34" charset="0"/>
                <a:ea typeface="Calibri" pitchFamily="34" charset="-122"/>
                <a:cs typeface="Calibri" pitchFamily="34" charset="-120"/>
              </a:rPr>
              <a:t>adversarial diffusion distillation</a:t>
            </a:r>
            <a:pPr indent="0" marL="0">
              <a:buNone/>
            </a:pPr>
            <a:r>
              <a:rPr lang="en-US" sz="1800" dirty="0">
                <a:solidFill>
                  <a:srgbClr val="1F2937"/>
                </a:solidFill>
                <a:latin typeface="Calibri" pitchFamily="34" charset="0"/>
                <a:ea typeface="Calibri" pitchFamily="34" charset="-122"/>
                <a:cs typeface="Calibri" pitchFamily="34" charset="-120"/>
              </a:rPr>
              <a:t>; guidance off.</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One network call instead of 25 × 2: near real-time on a GPU.</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Costs: lower resolution (512 px), less diversity, weaker prompt control.</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Beyond text-to-image: diffusion variants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Editing</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Image-to-image (SDEdit), inpainting and outpainting: noise part of an image, then denoise with a prompt.</a:t>
            </a:r>
            <a:endParaRPr lang="en-US" sz="18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Control</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ControlNet and adapters add edge maps, depth or pose as extra conditions; IP-Adapter uses a reference image.</a:t>
            </a:r>
            <a:endParaRPr lang="en-US" sz="18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Personalisation</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DreamBooth and LoRA fine-tune a model on a few images of a subject or style (week 8).</a:t>
            </a:r>
            <a:endParaRPr lang="en-US" sz="18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Video</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Spatio-temporal diffusion transformers generate coherent clips (e.g. Sora, Veo families).</a:t>
            </a:r>
            <a:endParaRPr lang="en-US" sz="18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Audio</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Latent diffusion over spectrograms or audio latents for music and sound effects.</a:t>
            </a:r>
            <a:endParaRPr lang="en-US" sz="18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Science</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Protein and molecule design, weather and materials: diffusion beyond media.</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image generators</a:t>
            </a:r>
            <a:endParaRPr lang="en-US" sz="3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077720"/>
                <a:gridCol w="4503401"/>
                <a:gridCol w="4513294"/>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Aspect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Metric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Notes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Realism and diversity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FID (week 3), KID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Needs thousands of images; depends on feature network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Prompt alignment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CLIP score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Cosine similarity of CLIP image and text embeddings (week 9); rewards keyword matching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Compositional correctness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Benchmarks such as GenEval, T2I-CompBench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Counting, colours, spatial relations; object-detector based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Human preference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Pairwise human votes; learned preference models; public arenas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Closest to real use; costly and subjective; needs a rubric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Efficiency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Steps, seconds per image, memory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Report hardware; matters for deployment (week 11)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Comparing the generative families (weeks 2–4)</a:t>
            </a:r>
            <a:endParaRPr lang="en-US" sz="3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508760"/>
                <a:gridCol w="1793240"/>
                <a:gridCol w="2808582"/>
                <a:gridCol w="2671870"/>
                <a:gridCol w="2311963"/>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VAE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GAN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Diffusion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Flow matching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Training loss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ELBO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Adversarial game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Noise regression (ELBO-based)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Velocity regression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Stability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Sample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Blurry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Sharp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Diversity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Good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Collapse risk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Good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Good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Sampling cost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 pass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 pass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20–50 passes (1–4 distilled)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Few passes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Main use in 2026</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Latent compression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Super-resolution, distillation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 video, audio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Latest image/video 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diffusion models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Training data and copyright:</a:t>
            </a:r>
            <a:pPr indent="0" marL="0">
              <a:buNone/>
            </a:pPr>
            <a:r>
              <a:rPr lang="en-US" sz="2200" dirty="0">
                <a:solidFill>
                  <a:srgbClr val="1F2937"/>
                </a:solidFill>
                <a:latin typeface="Calibri" pitchFamily="34" charset="0"/>
                <a:ea typeface="Calibri" pitchFamily="34" charset="-122"/>
                <a:cs typeface="Calibri" pitchFamily="34" charset="-120"/>
              </a:rPr>
              <a:t> models trained on billions of scraped image–text pairs; legal disputes over consent and licensing continue in several countries.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Memorisation:</a:t>
            </a:r>
            <a:pPr indent="0" marL="0">
              <a:buNone/>
            </a:pPr>
            <a:r>
              <a:rPr lang="en-US" sz="2200" dirty="0">
                <a:solidFill>
                  <a:srgbClr val="1F2937"/>
                </a:solidFill>
                <a:latin typeface="Calibri" pitchFamily="34" charset="0"/>
                <a:ea typeface="Calibri" pitchFamily="34" charset="-122"/>
                <a:cs typeface="Calibri" pitchFamily="34" charset="-120"/>
              </a:rPr>
              <a:t> researchers extracted near-copies of training images from diffusion models (Carlini et al., 2023), especially duplicated ones.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Bias:</a:t>
            </a:r>
            <a:pPr indent="0" marL="0">
              <a:buNone/>
            </a:pPr>
            <a:r>
              <a:rPr lang="en-US" sz="2200" dirty="0">
                <a:solidFill>
                  <a:srgbClr val="1F2937"/>
                </a:solidFill>
                <a:latin typeface="Calibri" pitchFamily="34" charset="0"/>
                <a:ea typeface="Calibri" pitchFamily="34" charset="-122"/>
                <a:cs typeface="Calibri" pitchFamily="34" charset="-120"/>
              </a:rPr>
              <a:t> prompts such as 'a CEO' or 'a nurse' reproduce stereotypes; audit outputs across groups.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Misuse and provenance:</a:t>
            </a:r>
            <a:pPr indent="0" marL="0">
              <a:buNone/>
            </a:pPr>
            <a:r>
              <a:rPr lang="en-US" sz="2200" dirty="0">
                <a:solidFill>
                  <a:srgbClr val="1F2937"/>
                </a:solidFill>
                <a:latin typeface="Calibri" pitchFamily="34" charset="0"/>
                <a:ea typeface="Calibri" pitchFamily="34" charset="-122"/>
                <a:cs typeface="Calibri" pitchFamily="34" charset="-120"/>
              </a:rPr>
              <a:t> safety filters, watermarks and C2PA credentials (week 10); EU AI Act Art. 50 labelling.</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Energy:</a:t>
            </a:r>
            <a:pPr indent="0" marL="0">
              <a:buNone/>
            </a:pPr>
            <a:r>
              <a:rPr lang="en-US" sz="2200" dirty="0">
                <a:solidFill>
                  <a:srgbClr val="1F2937"/>
                </a:solidFill>
                <a:latin typeface="Calibri" pitchFamily="34" charset="0"/>
                <a:ea typeface="Calibri" pitchFamily="34" charset="-122"/>
                <a:cs typeface="Calibri" pitchFamily="34" charset="-120"/>
              </a:rPr>
              <a:t> many steps per image; distillation and smaller models reduce cost.</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Build diffusion, then inspect a pipeline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Connect the small model's mechanics with a pretrained text-to-image system.</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Visualise noising</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Corrupt a real digit at chosen timesteps.</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q_sample / abar</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visible signal/noise relation</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Learn on points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Train a small noise predictor and reverse a two-dimensional cloud.</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EpsMLP / diffusion_loss</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2-D mechanism</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Learn on digits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image-shaped noise targets and a timestep-aware U-Net.</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TinyUNet</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image denoiser</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Compare samplers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Generate with full DDPM and schedule-spanning DDIM updates.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sample_ddpm / sample_ddim</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sampler comparison</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Generate from text</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 pretrained pipeline encodes text, denoises latents, and decodes images.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pipe / generate</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generated images + prompts + settings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Evaluate controlled runs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settings, timings, CLIP similarity, and visible failure cases.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grid / clip_score</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Why might changing guidance have no effect in the CPU fallback?</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Lab 4: train a diffusion model and use Stable Diffusion</a:t>
            </a:r>
            <a:endParaRPr lang="en-US" sz="31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Implement the </a:t>
            </a:r>
            <a:pPr indent="0" marL="0">
              <a:buNone/>
            </a:pPr>
            <a:r>
              <a:rPr lang="en-US" sz="1700" b="1" dirty="0">
                <a:solidFill>
                  <a:srgbClr val="1F2937"/>
                </a:solidFill>
                <a:latin typeface="Calibri" pitchFamily="34" charset="0"/>
                <a:ea typeface="Calibri" pitchFamily="34" charset="-122"/>
                <a:cs typeface="Calibri" pitchFamily="34" charset="-120"/>
              </a:rPr>
              <a:t>forward process</a:t>
            </a:r>
            <a:pPr indent="0" marL="0">
              <a:buNone/>
            </a:pPr>
            <a:r>
              <a:rPr lang="en-US" sz="1700" dirty="0">
                <a:solidFill>
                  <a:srgbClr val="1F2937"/>
                </a:solidFill>
                <a:latin typeface="Calibri" pitchFamily="34" charset="0"/>
                <a:ea typeface="Calibri" pitchFamily="34" charset="-122"/>
                <a:cs typeface="Calibri" pitchFamily="34" charset="-120"/>
              </a:rPr>
              <a:t> in closed form and visualise noising.</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Train a DDPM on 2-D data (CPU) and a tiny U-Net DDPM on MNIST (GPU); implement the </a:t>
            </a:r>
            <a:pPr indent="0" marL="0">
              <a:buNone/>
            </a:pPr>
            <a:r>
              <a:rPr lang="en-US" sz="1700" b="1" dirty="0">
                <a:solidFill>
                  <a:srgbClr val="1F2937"/>
                </a:solidFill>
                <a:latin typeface="Calibri" pitchFamily="34" charset="0"/>
                <a:ea typeface="Calibri" pitchFamily="34" charset="-122"/>
                <a:cs typeface="Calibri" pitchFamily="34" charset="-120"/>
              </a:rPr>
              <a:t>sampling loop</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Load </a:t>
            </a:r>
            <a:pPr indent="0" marL="0">
              <a:buNone/>
            </a:pPr>
            <a:r>
              <a:rPr lang="en-US" sz="1700" b="1" dirty="0">
                <a:solidFill>
                  <a:srgbClr val="1F2937"/>
                </a:solidFill>
                <a:latin typeface="Calibri" pitchFamily="34" charset="0"/>
                <a:ea typeface="Calibri" pitchFamily="34" charset="-122"/>
                <a:cs typeface="Calibri" pitchFamily="34" charset="-120"/>
              </a:rPr>
              <a:t>Stable Diffusion</a:t>
            </a:r>
            <a:pPr indent="0" marL="0">
              <a:buNone/>
            </a:pPr>
            <a:r>
              <a:rPr lang="en-US" sz="1700" dirty="0">
                <a:solidFill>
                  <a:srgbClr val="1F2937"/>
                </a:solidFill>
                <a:latin typeface="Calibri" pitchFamily="34" charset="0"/>
                <a:ea typeface="Calibri" pitchFamily="34" charset="-122"/>
                <a:cs typeface="Calibri" pitchFamily="34" charset="-120"/>
              </a:rPr>
              <a:t> with Hugging Face </a:t>
            </a:r>
            <a:pPr indent="0" marL="0">
              <a:buNone/>
            </a:pPr>
            <a:r>
              <a:rPr lang="en-US" sz="1700" b="1" dirty="0">
                <a:solidFill>
                  <a:srgbClr val="1F2937"/>
                </a:solidFill>
                <a:latin typeface="Calibri" pitchFamily="34" charset="0"/>
                <a:ea typeface="Calibri" pitchFamily="34" charset="-122"/>
                <a:cs typeface="Calibri" pitchFamily="34" charset="-120"/>
              </a:rPr>
              <a:t>Diffusers</a:t>
            </a:r>
            <a:pPr indent="0" marL="0">
              <a:buNone/>
            </a:pPr>
            <a:r>
              <a:rPr lang="en-US" sz="1700" dirty="0">
                <a:solidFill>
                  <a:srgbClr val="1F2937"/>
                </a:solidFill>
                <a:latin typeface="Calibri" pitchFamily="34" charset="0"/>
                <a:ea typeface="Calibri" pitchFamily="34" charset="-122"/>
                <a:cs typeface="Calibri" pitchFamily="34" charset="-120"/>
              </a:rPr>
              <a:t>; generate from a prompt.</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Sweep </a:t>
            </a:r>
            <a:pPr indent="0" marL="0">
              <a:buNone/>
            </a:pPr>
            <a:r>
              <a:rPr lang="en-US" sz="1700" b="1" dirty="0">
                <a:solidFill>
                  <a:srgbClr val="1F2937"/>
                </a:solidFill>
                <a:latin typeface="Calibri" pitchFamily="34" charset="0"/>
                <a:ea typeface="Calibri" pitchFamily="34" charset="-122"/>
                <a:cs typeface="Calibri" pitchFamily="34" charset="-120"/>
              </a:rPr>
              <a:t>steps, guidance scale and seeds</a:t>
            </a:r>
            <a:pPr indent="0" marL="0">
              <a:buNone/>
            </a:pPr>
            <a:r>
              <a:rPr lang="en-US" sz="1700" dirty="0">
                <a:solidFill>
                  <a:srgbClr val="1F2937"/>
                </a:solidFill>
                <a:latin typeface="Calibri" pitchFamily="34" charset="0"/>
                <a:ea typeface="Calibri" pitchFamily="34" charset="-122"/>
                <a:cs typeface="Calibri" pitchFamily="34" charset="-120"/>
              </a:rPr>
              <a:t>; try </a:t>
            </a:r>
            <a:pPr indent="0" marL="0">
              <a:buNone/>
            </a:pPr>
            <a:r>
              <a:rPr lang="en-US" sz="1700" b="1" dirty="0">
                <a:solidFill>
                  <a:srgbClr val="1F2937"/>
                </a:solidFill>
                <a:latin typeface="Calibri" pitchFamily="34" charset="0"/>
                <a:ea typeface="Calibri" pitchFamily="34" charset="-122"/>
                <a:cs typeface="Calibri" pitchFamily="34" charset="-120"/>
              </a:rPr>
              <a:t>negative prompts</a:t>
            </a:r>
            <a:pPr indent="0" marL="0">
              <a:buNone/>
            </a:pPr>
            <a:r>
              <a:rPr lang="en-US" sz="1700" dirty="0">
                <a:solidFill>
                  <a:srgbClr val="1F2937"/>
                </a:solidFill>
                <a:latin typeface="Calibri" pitchFamily="34" charset="0"/>
                <a:ea typeface="Calibri" pitchFamily="34" charset="-122"/>
                <a:cs typeface="Calibri" pitchFamily="34" charset="-120"/>
              </a:rPr>
              <a:t>; swap the </a:t>
            </a:r>
            <a:pPr indent="0" marL="0">
              <a:buNone/>
            </a:pPr>
            <a:r>
              <a:rPr lang="en-US" sz="1700" b="1" dirty="0">
                <a:solidFill>
                  <a:srgbClr val="1F2937"/>
                </a:solidFill>
                <a:latin typeface="Calibri" pitchFamily="34" charset="0"/>
                <a:ea typeface="Calibri" pitchFamily="34" charset="-122"/>
                <a:cs typeface="Calibri" pitchFamily="34" charset="-120"/>
              </a:rPr>
              <a:t>scheduler</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Compare with </a:t>
            </a:r>
            <a:pPr indent="0" marL="0">
              <a:buNone/>
            </a:pPr>
            <a:r>
              <a:rPr lang="en-US" sz="1700" b="1" dirty="0">
                <a:solidFill>
                  <a:srgbClr val="1F2937"/>
                </a:solidFill>
                <a:latin typeface="Calibri" pitchFamily="34" charset="0"/>
                <a:ea typeface="Calibri" pitchFamily="34" charset="-122"/>
                <a:cs typeface="Calibri" pitchFamily="34" charset="-120"/>
              </a:rPr>
              <a:t>SD-Turbo</a:t>
            </a:r>
            <a:pPr indent="0" marL="0">
              <a:buNone/>
            </a:pPr>
            <a:r>
              <a:rPr lang="en-US" sz="1700" dirty="0">
                <a:solidFill>
                  <a:srgbClr val="1F2937"/>
                </a:solidFill>
                <a:latin typeface="Calibri" pitchFamily="34" charset="0"/>
                <a:ea typeface="Calibri" pitchFamily="34" charset="-122"/>
                <a:cs typeface="Calibri" pitchFamily="34" charset="-120"/>
              </a:rPr>
              <a:t> (1–4 steps); measure time per image.</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Score images with </a:t>
            </a:r>
            <a:pPr indent="0" marL="0">
              <a:buNone/>
            </a:pPr>
            <a:r>
              <a:rPr lang="en-US" sz="1700" b="1" dirty="0">
                <a:solidFill>
                  <a:srgbClr val="1F2937"/>
                </a:solidFill>
                <a:latin typeface="Calibri" pitchFamily="34" charset="0"/>
                <a:ea typeface="Calibri" pitchFamily="34" charset="-122"/>
                <a:cs typeface="Calibri" pitchFamily="34" charset="-120"/>
              </a:rPr>
              <a:t>CLIP score</a:t>
            </a:r>
            <a:pPr indent="0" marL="0">
              <a:buNone/>
            </a:pPr>
            <a:r>
              <a:rPr lang="en-US" sz="1700" dirty="0">
                <a:solidFill>
                  <a:srgbClr val="1F2937"/>
                </a:solidFill>
                <a:latin typeface="Calibri" pitchFamily="34" charset="0"/>
                <a:ea typeface="Calibri" pitchFamily="34" charset="-122"/>
                <a:cs typeface="Calibri" pitchFamily="34" charset="-120"/>
              </a:rPr>
              <a:t>; write a short evaluation with one failure case.</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(Stable Diffusion needs a GPU; parts 1–2 also run on CPU)</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trained models, sweep grids, timing and CLIP-score table, and written answers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Diffusion adds noise with a </a:t>
            </a:r>
            <a:pPr indent="0" marL="0">
              <a:buNone/>
            </a:pPr>
            <a:r>
              <a:rPr lang="en-US" sz="1900" b="1" dirty="0">
                <a:solidFill>
                  <a:srgbClr val="1F2937"/>
                </a:solidFill>
                <a:latin typeface="Calibri" pitchFamily="34" charset="0"/>
                <a:ea typeface="Calibri" pitchFamily="34" charset="-122"/>
                <a:cs typeface="Calibri" pitchFamily="34" charset="-120"/>
              </a:rPr>
              <a:t>fixed forward process</a:t>
            </a:r>
            <a:pPr indent="0" marL="0">
              <a:buNone/>
            </a:pPr>
            <a:r>
              <a:rPr lang="en-US" sz="1900" dirty="0">
                <a:solidFill>
                  <a:srgbClr val="1F2937"/>
                </a:solidFill>
                <a:latin typeface="Calibri" pitchFamily="34" charset="0"/>
                <a:ea typeface="Calibri" pitchFamily="34" charset="-122"/>
                <a:cs typeface="Calibri" pitchFamily="34" charset="-120"/>
              </a:rPr>
              <a:t> and learns to </a:t>
            </a:r>
            <a:pPr indent="0" marL="0">
              <a:buNone/>
            </a:pPr>
            <a:r>
              <a:rPr lang="en-US" sz="1900" b="1" dirty="0">
                <a:solidFill>
                  <a:srgbClr val="1F2937"/>
                </a:solidFill>
                <a:latin typeface="Calibri" pitchFamily="34" charset="0"/>
                <a:ea typeface="Calibri" pitchFamily="34" charset="-122"/>
                <a:cs typeface="Calibri" pitchFamily="34" charset="-120"/>
              </a:rPr>
              <a:t>reverse</a:t>
            </a:r>
            <a:pPr indent="0" marL="0">
              <a:buNone/>
            </a:pPr>
            <a:r>
              <a:rPr lang="en-US" sz="1900" dirty="0">
                <a:solidFill>
                  <a:srgbClr val="1F2937"/>
                </a:solidFill>
                <a:latin typeface="Calibri" pitchFamily="34" charset="0"/>
                <a:ea typeface="Calibri" pitchFamily="34" charset="-122"/>
                <a:cs typeface="Calibri" pitchFamily="34" charset="-120"/>
              </a:rPr>
              <a:t> it step by step.</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Closed form: x_t = √ᾱ_t · x₀ + √(1 − ᾱ_t) · ε; train by </a:t>
            </a:r>
            <a:pPr indent="0" marL="0">
              <a:buNone/>
            </a:pPr>
            <a:r>
              <a:rPr lang="en-US" sz="1900" b="1" dirty="0">
                <a:solidFill>
                  <a:srgbClr val="1F2937"/>
                </a:solidFill>
                <a:latin typeface="Calibri" pitchFamily="34" charset="0"/>
                <a:ea typeface="Calibri" pitchFamily="34" charset="-122"/>
                <a:cs typeface="Calibri" pitchFamily="34" charset="-120"/>
              </a:rPr>
              <a:t>predicting the noise</a:t>
            </a:r>
            <a:pPr indent="0" marL="0">
              <a:buNone/>
            </a:pPr>
            <a:r>
              <a:rPr lang="en-US" sz="1900" dirty="0">
                <a:solidFill>
                  <a:srgbClr val="1F2937"/>
                </a:solidFill>
                <a:latin typeface="Calibri" pitchFamily="34" charset="0"/>
                <a:ea typeface="Calibri" pitchFamily="34" charset="-122"/>
                <a:cs typeface="Calibri" pitchFamily="34" charset="-120"/>
              </a:rPr>
              <a:t> with MSE (an ELBO-based loss).</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Equivalent </a:t>
            </a:r>
            <a:pPr indent="0" marL="0">
              <a:buNone/>
            </a:pPr>
            <a:r>
              <a:rPr lang="en-US" sz="1900" b="1" dirty="0">
                <a:solidFill>
                  <a:srgbClr val="1F2937"/>
                </a:solidFill>
                <a:latin typeface="Calibri" pitchFamily="34" charset="0"/>
                <a:ea typeface="Calibri" pitchFamily="34" charset="-122"/>
                <a:cs typeface="Calibri" pitchFamily="34" charset="-120"/>
              </a:rPr>
              <a:t>score-based</a:t>
            </a:r>
            <a:pPr indent="0" marL="0">
              <a:buNone/>
            </a:pPr>
            <a:r>
              <a:rPr lang="en-US" sz="1900" dirty="0">
                <a:solidFill>
                  <a:srgbClr val="1F2937"/>
                </a:solidFill>
                <a:latin typeface="Calibri" pitchFamily="34" charset="0"/>
                <a:ea typeface="Calibri" pitchFamily="34" charset="-122"/>
                <a:cs typeface="Calibri" pitchFamily="34" charset="-120"/>
              </a:rPr>
              <a:t> view; deterministic ODE samplers (DDIM, DPM-Solver) need 20–50 steps.</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Latent diffusion</a:t>
            </a:r>
            <a:pPr indent="0" marL="0">
              <a:buNone/>
            </a:pPr>
            <a:r>
              <a:rPr lang="en-US" sz="1900" dirty="0">
                <a:solidFill>
                  <a:srgbClr val="1F2937"/>
                </a:solidFill>
                <a:latin typeface="Calibri" pitchFamily="34" charset="0"/>
                <a:ea typeface="Calibri" pitchFamily="34" charset="-122"/>
                <a:cs typeface="Calibri" pitchFamily="34" charset="-120"/>
              </a:rPr>
              <a:t>: VAE + text encoder + U-Net/DiT denoiser with cross-attention.</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Classifier-free guidance</a:t>
            </a:r>
            <a:pPr indent="0" marL="0">
              <a:buNone/>
            </a:pPr>
            <a:r>
              <a:rPr lang="en-US" sz="1900" dirty="0">
                <a:solidFill>
                  <a:srgbClr val="1F2937"/>
                </a:solidFill>
                <a:latin typeface="Calibri" pitchFamily="34" charset="0"/>
                <a:ea typeface="Calibri" pitchFamily="34" charset="-122"/>
                <a:cs typeface="Calibri" pitchFamily="34" charset="-120"/>
              </a:rPr>
              <a:t> trades diversity for prompt adherence; seeds and negative prompts give control.</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Flow matching</a:t>
            </a:r>
            <a:pPr indent="0" marL="0">
              <a:buNone/>
            </a:pPr>
            <a:r>
              <a:rPr lang="en-US" sz="1900" dirty="0">
                <a:solidFill>
                  <a:srgbClr val="1F2937"/>
                </a:solidFill>
                <a:latin typeface="Calibri" pitchFamily="34" charset="0"/>
                <a:ea typeface="Calibri" pitchFamily="34" charset="-122"/>
                <a:cs typeface="Calibri" pitchFamily="34" charset="-120"/>
              </a:rPr>
              <a:t> (straight paths) and </a:t>
            </a:r>
            <a:pPr indent="0" marL="0">
              <a:buNone/>
            </a:pPr>
            <a:r>
              <a:rPr lang="en-US" sz="1900" b="1" dirty="0">
                <a:solidFill>
                  <a:srgbClr val="1F2937"/>
                </a:solidFill>
                <a:latin typeface="Calibri" pitchFamily="34" charset="0"/>
                <a:ea typeface="Calibri" pitchFamily="34" charset="-122"/>
                <a:cs typeface="Calibri" pitchFamily="34" charset="-120"/>
              </a:rPr>
              <a:t>distillation</a:t>
            </a:r>
            <a:pPr indent="0" marL="0">
              <a:buNone/>
            </a:pPr>
            <a:r>
              <a:rPr lang="en-US" sz="1900" dirty="0">
                <a:solidFill>
                  <a:srgbClr val="1F2937"/>
                </a:solidFill>
                <a:latin typeface="Calibri" pitchFamily="34" charset="0"/>
                <a:ea typeface="Calibri" pitchFamily="34" charset="-122"/>
                <a:cs typeface="Calibri" pitchFamily="34" charset="-120"/>
              </a:rPr>
              <a:t> (1–4 steps) make generation fast.</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Evaluate with FID, CLIP score, compositional benchmarks and human preference.</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Watch copyright, memorisation, bias and provenance.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Foster (2023) Generative Deep Learning, 2nd ed., ch. 8 'Diffusion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Core module text</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Ho, Jain &amp; Abbeel (2020) Denoising Diffusion Probabilistic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The DDPM paper</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Hugging Face Diffusion Models Course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Free units with notebooks (Diffusers)</a:t>
            </a:r>
            <a:endParaRPr lang="en-US" sz="1500" dirty="0"/>
          </a:p>
        </p:txBody>
      </p:sp>
      <p:sp>
        <p:nvSpPr>
          <p:cNvPr id="15" name="Shape 10"/>
          <p:cNvSpPr/>
          <p:nvPr/>
        </p:nvSpPr>
        <p:spPr>
          <a:xfrm>
            <a:off x="548640" y="4023360"/>
            <a:ext cx="457200" cy="457200"/>
          </a:xfrm>
          <a:prstGeom prst="ellipse">
            <a:avLst/>
          </a:prstGeom>
          <a:solidFill>
            <a:srgbClr val="DC2626"/>
          </a:solidFill>
          <a:ln w="12700">
            <a:solidFill>
              <a:srgbClr val="DC2626"/>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3Blue1Brown / Welch Labs: But how do AI images and videos actually work?</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Visual explanation incl. CLIP and guidance</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Lilian Weng: What are diffusion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Derivations, samplers, guidance</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Jay Alammar: The Illustrated Stable Diffusion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Pipeline explained visually</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MIT 6.S184: Flow Matching and Diffusion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Lecture notes for flow matching</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Rombach et al. (2022) Latent Diffusion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Stable Diffusion's architecture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4: Diffusion Models</dc:title>
  <dc:subject>Generative AI (MSc in Artificial Intelligence)</dc:subject>
  <dc:creator>Generative AI module team</dc:creator>
  <cp:lastModifiedBy>Generative AI module team</cp:lastModifiedBy>
  <cp:revision>1</cp:revision>
  <dcterms:created xsi:type="dcterms:W3CDTF">2026-10-06T20:33:49Z</dcterms:created>
  <dcterms:modified xsi:type="dcterms:W3CDTF">2026-10-06T20:33:49Z</dcterms:modified>
</cp:coreProperties>
</file>