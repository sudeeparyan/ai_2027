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Diffusion learns to predict deliberately added noise, then uses those predictions to generate new samples.
Explain: A generative model produces examples resembling its training distribution. Gaussian noise contains random values drawn from a bell-shaped distribution. A denoiser is a network that predicts noise from a corrupted input. A sampler repeatedly updates the input using that prediction.
Example: Imagine practising repairs on many noisy sketches whose original versions are available. Later, begin with fresh static and use learned drawing patterns. The analogy breaks because generation has no particular hidden sketch to recover. Our cover contains stored Stable Diffusion outputs from a separate measured image experiment.
Ask: When generation starts from random noise, is there an original photograph waiting underneath?
Answer: There is no original photograph. The trained model and optional conditions influence which new sample emerges.
Watch out: Recognisable output can still contain errors, resemble training material or fail a requested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Today you will explain the diffusion loops, implement their updates and judge controlled generation experiments.
Explain: The forward process adds noise using a fixed rule. Training changes network weights to improve noise predictions. The reverse process generates examples through repeated updates. Latent diffusion performs these updates in a compact numerical representation. Evaluation checks outputs against the intended task.
Example: For a point batch shaped [256, 2], predict two noise coordinates per point. For an image batch [16, 1, 28, 28], predict an equally shaped tensor. The small point model teaches the same noise objective while keeping each calculation inspectable; it does not establish image-model quality.
Ask: Which outcome requires looking at generated samples rather than only writing a correct equation?
Answer: Judging quality, variety and prompt fit requires observed outputs and a stated evaluation method.
Watch out: A correct implementation and a low training loss do not establish complete coverage or useful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Week 4 connects probability and latent representations to the repeated generation of points and images.
Explain: Week 1 introduced sampling from a probability distribution. Week 2 introduced the VAE, which learns a hidden representation. Week 3 introduced GAN training through competing networks. This week uses a known numerical noise target. Attention in Week 5 will explain how image features read text.
Example: Trace a text-to-image request on the course map. Probability supplies starting noise, the latent representation reduces the number of values, and attention supplies conditioning. Our small CPU model uses two coordinates without text, so its diagram isolates the diffusion mechanism before the larger pipeline.
Ask: Which earlier week helps explain the smaller image state used by latent diffusion?
Answer: Week 2 supplies the VAE idea: encode an image into a smaller representation and decode it later.
Watch out: The course map links mechanisms; moving between weeks does not mean their training objectives become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Gaussian noise, regression and tensor shape are the starting vocabulary for the diffusion equations.
Explain: Standard Gaussian noise has mean zero and variance one. Regression predicts numerical targets rather than class labels. A tensor is a numerical array with a stated shape. Batch size counts examples processed together. Mean squared error averages squared prediction errors.
Example: A point batch [4, 2] has four examples with two coordinates each. Its noise target has that same shape. If a true noise coordinate is −0.5 and the prediction is −0.3, its squared error is 0.04. Average across all coordinates rather than reporting only one convenient entry.
Ask: Is predicting a noise coordinate of −0.5 regression or classification?
Answer: It is regression because the target is a numerical value. A digit class would be a classification target.
Watch out: A shape match is necessary for the loss, but does not prove that the predicted values or target choice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Repairing light corruption is an intuition for denoising, but generation begins without a known original.
Explain: Corruption removes or obscures information about clean data. The network learns patterns from many deliberately corrupted training examples. A timestep identifies the amount of corruption. Conditions such as text can influence the generated content. Fresh starting noise can produce different samples.
Example: Two damaged sketches might share similar visible marks while having different originals. Learned patterns help propose a plausible completion. Starting from pure static leaves even more uncertainty. Unlike restoring a saved file, the model cannot recover a uniquely determined original from a fresh random draw.
Ask: Where does the exact target noise come from when we train this model?
Answer: The training code draws the noise, adds it to known data and retains the draw for comparison.
Watch out: Text conditions narrow the task but do not guarantee that every object, count or relationship will be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Diffusion offers a different training mechanism, with sampling cost as a practical tradeoff.
Explain: A VAE combines reconstruction with a penalty on its latent distribution. A GAN trains a generator against a changing discriminator. Noise-prediction diffusion compares a network output with a known target. Traditional diffusion sampling requires repeated network calls. Quality and coverage remain empirical questions.
Example: Suppose a service needs images while a user waits. One generator call and 200 denoiser calls are different computational workloads. They are not directly comparable seconds because network sizes and hardware also differ. Compare outputs for the actual task before choosing a family.
Ask: Which practical requirement could make repeated denoising inconvenient even when its images look useful?
Answer: A strict response-time or compute budget can make many sequential network calls too expensive.
Watch out: Family names describe mechanisms and tendencies; they do not guarantee stable training, diversity or visual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training diagram sends sampled noise along a separate target branch before updating denoiser weights.
Explain: Clean data and a selected timestep determine the training example. Direct noising mixes signal with a known Gaussian draw. The denoiser receives the noisy state and time. Mean squared error compares its prediction with the saved noise. Adam changes the network's weights using that loss.
Example: For x-zero 0.8, alpha-bar 0.36 and noise −0.5, the noising result is 0.08. The target branch carries −0.5, while the network input carries 0.08 and time. The values are illustrative arithmetic. Dashed repetition requests a fresh training example; solid arrows carry tensors or loss information.
Ask: Which arrow supplies the correct numerical answer used to judge the noise prediction?
Answer: The separate known-noise branch supplies it. The model-prediction arrow carries an estimate whose error is measured.
Watch out: The noising operation uses fixed coefficients; backpropagation updates the denoiser rather than learning this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Compare model families by what they learn and how they sample, then measure their actual behaviour.
Explain: Reconstruction means rebuilding an observed input. A discriminator is a learned checker used in adversarial training. Regression predicts numerical values, such as added noise. Coverage describes which parts of the real distribution generated samples represent. Sampling cost includes the network calls needed for an output.
Example: A GAN that generates sharp portraits may still miss some kinds of faces. A diffusion model may need many calls and still make malformed hands. The table summarises mechanisms, while the fuller Word comparison records practical tendencies. Neither example supplies a universal ranking.
Ask: Can one attractive sample establish that a generator covers its training distribution?
Answer: It cannot. Inspect varied outputs and assess coverage with appropriate reference data and evaluation settings.
Watch out: A fixed regression target removes the moving opponent, but does not remove optimisation failures or data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Useful generation requires balancing quality, coverage and cost using evidence from a matched task.
Explain: Quality means usefulness under a stated rubric. Diversity means variation between generated examples. Coverage asks whether important kinds of real data are represented. Speed measures elapsed generation time on specified hardware. The triangle illustrates tradeoffs rather than measured positions.
Example: Compare two generators on the same set of synthetic product prompts. Show all sampled outputs, record settings and time the work. A fast generator with repeated layouts may be unsuitable despite attractive individual images. The triangle cannot tell you the size of that tradeoff without measurements.
Ask: What additional evidence is needed beside the schematic triangle to choose a model?
Answer: Matched outputs, a quality rubric, coverage checks and measured cost on the intended hardware are needed.
Watch out: Distillation can reduce calls after additional training; a shorter sampler alone is not a quality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predicts known added noise, while generation repeatedly applies a trained predictor to fresh noise.
Explain: The clean training example is available to the noising rule. The rule also receives a sampled noise tensor and timestep. The denoiser receives the resulting noisy tensor and timestep. Its prediction is compared with the separate noise target. Sampling later holds the learned weights fixed.
Example: With clean value 1, signal coefficient 0.64 and noise −0.5, the noisy value is 0.5. The denoiser's target is −0.5, not 1 or 0.5. These are illustrative arithmetic values, not an experimental result. Image tensors apply the calculation to many entries together.
Ask: Which training value follows a separate route into the loss instead of entering the denoiser?
Answer: The sampled noise is the target. Giving it to the denoiser would reveal the answer.
Watch out: Predicting noise does not mean predicting a perfect clean image in a single call from arbitrary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Separate the fixed corruption rule from the learned reverse update before reading the equations.
Explain: A schedule assigns a noise amount to each timestep. The forward distribution describes corruption of real data. The reverse distribution describes a modelled move towards less noisy data. Network weights determine the predicted noise. A loss measures prediction error during training.
Example: Follow one scalar through the training diagram: clean 1, added noise −0.5, noisy input 0.5. Then follow a generated point through repeated reverse updates. The first route has a known target and an optimiser step; the second has neither a clean target nor a weight update.
Ask: Why should the training diagram show a target branch that the generation diagram lacks?
Answer: Training deliberately draws and records the corruption. Generation begins with fresh noise and has no known correct sample.
Watch out: The schedule index measures corruption level; it is not the number of completed training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closed-form forward rule creates a selected noise level directly from clean data and sampled noise.
Explain: The symbol q names the fixed forward probability distribution. The index t selects the timestep. Beta is the noise variance added at one step. Alpha-bar multiplies the retained-signal factors through that step. The identity matrix gives independent equal-variance noise across coordinates.
Example: Let alpha-bar be 0.64, clean value 1 and sampled noise −0.5. The signal weight is 0.8 and noise weight 0.6, producing 0.5. The square roots are coefficients of values; alpha-bar itself is a variance coefficient. These calculated values illustrate the displayed Gaussian formula.
Ask: Must the code run all earlier noising steps to construct this training input?
Answer: It can use the closed form and the chosen coefficient, which makes random-timestep training practical.
Watch out: A schedule coefficient represents a fraction of total variance only when the clean data has suitable normalisation.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digit strip shows how a fixed schedule progressively reduces visible clean-image information.
Explain: MNIST contains small greyscale handwritten digit images. Each row begins from a real digit. The timestep selects a known signal coefficient. Gaussian noise increasingly dominates as that coefficient decreases. The strip demonstrates corruption rather than learning or generation.
Example: Read one row from index 0 to index 999 in the recorded 1000-step linear schedule. The lab indexes its first noisy state as 0, so that column already includes a small noise increment. The clean tensor is separately named x0. This indexing convention differs from equations starting at 1.
Ask: At a heavily corrupted column, can a viewer uniquely identify the original digit?
Answer: The remaining evidence can be ambiguous. The learned model uses distributional patterns rather than recovering a uniquely identified original.
Watch out: Compare the actual columns; a visible pattern in one noisy draw does not quantify the schedule's information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noise schedule sets retained signal, and its effect must match the model's training and sampler.
Explain: A linear beta schedule increases per-step noise variance uniformly. A cosine construction follows a different retained-signal curve. Signal-to-noise ratio compares signal power with noise power. The right plot uses a logarithmic scale to display large changes. End-of-schedule signal matters when starting from noise.
Example: For clean data with unit variance and alpha-bar 0.8, the ratio is 0.8 divided by 0.2, giving 4. This is illustrative arithmetic. If the clean variance changes, include it in the numerator. The curves compare known schedule formulas, not measured training quality.
Ask: Does seeing a gentler signal curve prove that a newly trained model will generate better samples?
Answer: That conclusion needs training and evaluation. The curve describes corruption, while sample quality depends on additional choices.
Watch out: Replacing a checkpoint's schedule arbitrarily can violate the noise levels and prediction convention it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Generation repeats a reverse state update while reusing fixed weights and decreasing the schedule index.
Explain: Starting noise has the required output shape. The denoiser estimates noise using the current state and timestep. The sampler calculates a reverse mean with schedule coefficients. DDPM adds fresh noise before the final step. The updated state becomes the next input. DDPM means denoising diffusion probabilistic model, while DDIM means denoising diffusion implicit model.
Example: The CPU core starts with [512, 2] points and visits indices 199 down to 0. The optional image sampler uses [16, 1, 28, 28] and a 1000-entry schedule. Shapes change between these workloads, but the noise-prediction and reverse-update roles remain distinct. There is no known clean generation target.
Ask: Does the dashed repetition arrow require an optimiser step before the next denoiser call?
Answer: It repeats sampling with a changed state and lower timestep. The trained parameters remain unchanged.
Watch out: A lower number of DDPM iterations truncates the lab image chain; selected-level jumps need the DDIM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noise prediction and the schedule determine the modelled mean of the next reverse state.
Explain: The symbol p names the learned reverse distribution. Theta denotes the network's adjustable weights. Mu is its reverse-step mean. Sigma-squared specifies fresh sampling-noise variance. The same denoiser receives different timestep values throughout generation.
Example: For noisy value 0.5, beta 0.1, alpha 0.9, alpha-bar 0.81 and predicted noise 0.2, the mean is about 0.479. These are worked arithmetic inputs, not a measured model output. DDPM can add random noise after calculating this mean, except at the final update.
Ask: Does the denoiser directly output the whole Gaussian reverse distribution in this parameterisation?
Answer: It outputs a noise estimate. The displayed formula converts that estimate into the mean; the variance is specified separately.
Watch out: Simply subtracting predicted noise omits schedule scaling and the random component of this DDPM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One randomly selected noise level supplies a complete training example without simulating the reverse chain.
Explain: A clean point or image provides the real data. The code draws a timestep and Gaussian noise. Direct noising creates the corrupted state. The network predicts its added noise from state and time. Squared error supplies the signal for updating weights.
Example: Set clean value 1, noise −0.5 and signal variance coefficient 0.64. The noisy state is 0.5. A predicted noise of −0.3 gives scalar squared error 0.04. In the point batch, average such errors over [256, 2] entries. The target branch makes explicit which value belongs in that comparison.
Ask: Why is the original clean value useful even though it is not the prediction target here?
Answer: It constructs the noisy input using the known schedule and draw. The sampled noise supplies the target.
Watch out: The dashed arrow repeats the training exercise with fresh examples and levels, rather than reconstructing a single original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Noise-prediction training minimises squared error against the exact noise used to corrupt each example.
Explain: The expectation averages over clean data, timesteps and sampled noise. Epsilon names the sampled Gaussian noise target. The denoiser output is its estimate using noisy input and time. Squared norm adds squared errors across entries. Mean squared error averages those errors in the lab.
Example: A scalar target of −0.5 and prediction of −0.3 give squared error 0.04. A batch [256, 2] contains 512 coordinate errors before averaging. The example teaches the calculation; it is not a recorded training loss. The DDPM paper derives this simplified objective from a reweighted likelihood bound.
Ask: Does one training example require the network to generate a complete sample through the reverse chain?
Answer: One randomly chosen noisy state supplies one prediction and its target. Generation uses a separate repeated loop.
Watch out: The clean example constructs the input, but substituting it for the noise target changes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code performs one training prediction, while sampling repeatedly calls the same fixed network.
Explain: A batch groups examples for one calculation. Broadcasting applies a reshaped coefficient across each example's entries. The loss compares predicted and known noise. Evaluation mode disables training-specific behaviour. Disabling gradients avoids building derivative calculations during generation.
Example: For eight greyscale images, the clean and noise tensors have shape [8, 1, 28, 28]. The coefficient tensor is [8, 1, 1, 1]. Each image receives its own chosen level. The fragment calculates a loss; the optimiser update is shown in the full Word explanation and lab.
Ask: Why does the sampling loop call reverse_step instead of merely lowering the number in the training code?
Answer: Sampling needs a state update at each visited level. Training predicts known corruption and updates model weights.
Watch out: The printed fragment assumes matching schedules and a created model; it is not an independent complete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score describes a direction towards higher noisy-data density and connects noise prediction to continuous dynamics.
Explain: A gradient gives the direction of local numerical increase. The score is the gradient of log probability density. Rescaling a noise estimate gives a score estimate at that level. A stochastic differential equation includes random changes. An ordinary differential equation specifies deterministic changes.
Example: If predicted noise is −0.2 and the noise standard deviation is 0.5, the estimated score is +0.4. This is a one-coordinate illustration. A landscape analogy suggests following a local slope, but the landscape changes with noise level and the learned estimate can be wrong.
Ask: Does a score tell us the class label or human quality rating of the current image?
Answer: It describes a local density direction. It is neither a classifier label nor a subjective quality score.
Watch out: A deterministic probability-flow path still needs numerical integration; determinism does not imply one network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point trajectory makes reverse generation visible while also revealing imperfect distribution coverage.
Explain: An MLP is a network of fully connected layers. Here it predicts two noise coordinates from a point and timestep. The grey cloud represents real synthetic training data. Blue dots are generated states at selected reverse indices. Learned weights stay fixed throughout the trajectory.
Example: The stored figure shows the same 2,000 generated points from index 199 through index 0. Inspect the inner end of the spiral as well as its outer arms. This separate measured run used its own training budget; the shorter CPU lab configuration must be assessed from its actual output.
Ask: What could be missed if we judged only whether the final cloud roughly resembles a spiral?
Answer: We could overlook regions with too few samples, concentrations in the wrong places or points far from the data.
Watch out: A visual match on two-dimensional toy data does not establish image-generation quality or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MNIST run illustrates image denoising, while the required lab learns on smaller two-dimensional data.
Explain: A U-Net combines shrinking and expanding image-processing stages. Its skip connections copy features between matching resolutions. A timestep embedding turns the level index into numerical features. The network predicts image-shaped noise. Sampling calls the trained network without further optimiser updates.
Example: Read the stored rows from index 999 to index 0. The measured training record supplies 254,337 parameters and about 8 minutes on an NVIDIA GTX 1650 laptop GPU. These values describe that recorded image run. Enabling the optional MNIST stretch creates a new run whose time and quality must be recorded separately.
Ask: Why should the predicted noise have the same shape as the noisy digit batch?
Answer: Training compares corresponding entries, so every image value needs a matching noise prediction.
Watch out: Visible digit-like strokes do not mean every sample is a valid digit; inspect failures and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DDPM parameterisation learns the noise added to a training example at a chosen timestep.
Explain: The clean image supplies the starting data. A sampled Gaussian tensor supplies the corruption. The timestep selects its signal and noise coefficients. The model receives only the corrupted image and level. Training compares the output with the recorded noise.
Example: Revisit clean value 1, alpha-bar 0.64 and sampled noise −0.5. The resulting input is 0.5, while the correct target is −0.5. Have pairs explain why each other option describes a different task or parameterisation. Predicting clean data can be valid elsewhere, but it is not this objective.
Ask: Which option matches the noise-prediction objective shown in this lecture?
Answer: D. It predicts the Gaussian noise added at timestep t. A describes direct clean-image prediction, B autoregression, and C classification.
Watch out: Some diffusion models predict velocity or clean data; always identify the parameterisation before interpreting their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denoiser architecture processes noisy data, while conditioning and latent compression have separate roles.
Explain: Architecture describes how a network's operations connect. A U-Net passes image features through several spatial resolutions. A transformer processes representations through attention-based blocks. A latent is a compact hidden numerical representation. Conditioning supplies information such as text or labels.
Example: The point model takes [256, 2] plus a timestep for each point. The optional MNIST denoiser takes [16, 1, 28, 28]. A text-to-image latent model uses a smaller image state and prompt vectors. These shape examples expose different inputs without suggesting that architecture alone determines sample quality.
Ask: Is the scheduler another neural network that must be trained alongside the denoiser?
Answer: In these examples, it is a numerical update procedure using predictions and schedule coefficients, not another learned network.
Watch out: A text-conditioned pretrained pipeline includes components absent from our unconditional point and digit teaching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U-Nets and diffusion transformers can both predict noise, using different operations to combine input information.
Explain: Convolutions process local image neighbourhoods with shared filters. Downsampling reduces spatial dimensions. Upsampling increases them again. Skip connections carry saved features into matching later stages. A diffusion transformer instead processes patches through transformer blocks.
Example: In the lab U-Net, spatial shapes go 28 × 28, 14 × 14 and 7 × 7, then return. Saved features join the expanding stages. The diagram's solid skip arrows carry data, not training feedback. Its transformer path shows a different arrangement, not a claim that the small lab trains a DiT.
Ask: Do skip connections reveal the clean target image to the denoiser?
Answer: They copy internal features computed from the noisy input. The clean image is not secretly supplied through them.
Watch out: Channel counts also matter: concatenating saved features changes tensor channels even when spatial dimensions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pretrained image pipeline repeats latent updates under text conditioning, then decodes pixels at the end.
Explain: The text encoder represents the prompt as vectors. Starting latent noise supplies random variation. The denoiser reads state, time and text information. The scheduler updates the state using that prediction. The VAE decoder turns the final latent into pixels.
Example: For historical SD 1.5, a 64 × 64 × 4 latent becomes a 512 × 512 × 3 image. The text branch enters the denoiser without passing through the random-noise draw. Repetition returns updated latent values to the predictor. The numeric shapes describe this example and differ in other model architectures.
Ask: Which part changes the current latent without learning new weights during the request?
Answer: The scheduler applies the numerical update. All pretrained components perform inference without optimiser updates in this pipeline.
Watch out: Text conditioning is an influence rather than a guarantee; inspect requested objects, attributes and relations in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Latent diffusion updates a compact image state using text conditions, then decodes the final state into pixels.
Explain: The text encoder converts prompt tokens into vectors. A VAE encoder compresses real images during model training. Generation starts from noise in that compressed space. The denoiser and scheduler repeatedly update the latent. The VAE decoder converts the finished latent into an image.
Example: The historical SD 1.5 example uses 512 × 512 × 3 pixels and 64 × 64 × 4 latent values. That is 786,432 compared with 16,384 values, or 48 times fewer. These shape calculations describe this architecture; other pipelines can have different channel counts and compression factors.
Ask: Does an ordinary text-to-image request require the VAE encoder and a real input image?
Answer: It starts from random latent noise, so generation needs the decoder but no real-image encoding step.
Watch out: The smaller representation can lose fine detail; fewer values do not guarantee faithful text, counts or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VAE decoder produces image pixels after the repeated latent denoising updates finish.
Explain: A text encoder supplies representations of the prompt. A denoiser predicts noise in the current latent. A scheduler turns that prediction into an updated latent. A decoder converts a latent into image values. A seed controls random-number draws.
Example: Trace the final 64 × 64 × 4 SD 1.5 latent to a 512 × 512 × 3 image. The decoder performs that conversion. The scheduler changes the latent at earlier steps, while the text encoder supplies conditioning. Ask students to name one input and output for each component before answering.
Ask: Which component converts the final latent into pixels in the shown pipeline?
Answer: A. The trained VAE decoder. B supplies schedule values, C encodes the prompt, and D draws starting noise.
Watch out: Generating the image is a pipeline operation; assigning the whole request to the denoiser hides its other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controlled sampling experiment changes one setting while recording every other relevant choice.
Explain: A sampler specifies the numerical updates between noise levels. Step count sets how many updates are taken. Guidance combines conditioned and reference predictions. A seed selects a random-number sequence. A negative prompt changes the reference condition where guidance is supported.
Example: Use one lighthouse prompt, one checkpoint and seed 42. Changing only the number of steps tests a different question from changing the guidance scale. Starting from a matched random draw helps comparison, but altered software or hardware may still change outputs. Model-specific operating rules remain essential.
Ask: What makes changing both the prompt and guidance an ambiguous comparison?
Answer: Either change could explain the result. A controlled comparison isolates the setting whose effect we want to inspect.
Watch out: Record compatible sampler, dimensions, precision and versions as well as the visually prominent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Fewer sampling calls require a valid update rule or a model trained for larger jumps.
Explain: DDPM uses a stochastic reverse chain. DDIM can visit selected levels with deterministic updates when its noise parameter is zero. Numerical ODE methods approximate continuous dynamics. Distillation trains a student model from a teacher. These approaches change different parts of the system.
Example: The core point experiment compares 200 DDPM calls with 40 DDIM calls using one trained denoiser. The optional digit stretch compares 1000 with 50. Those call ratios are arithmetic, not measured wall-clock speedups. Networks, batching and update overhead affect the observed time and quality.
Ask: Does sample_ddpm(steps=50) implement a valid 50-step journey through the original 1000-step schedule?
Answer: The lab function would truncate its chain. Use schedule-spanning DDIM updates rather than silently changing the starting index.
Watch out: Few-step distilled checkpoints have their own compatible schedules and controls; ordinary denoisers are not interchangeable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SD 1.5 step sweep isolates sampling-call count while holding other image controls fixed.
Explain: The checkpoint specifies learned model weights. DPM-Solver++ is the sampler used for this stored comparison. Guidance determines how predictions use the prompt. The seed fixes its starting random draw in this run. Timing refers to the recorded machine and settings.
Example: Compare the saved 2-, 5-, 10- and 25-step lighthouse outputs. The source evidence supplies 45 seconds and 419 seconds for the two endpoints. These are recorded SD 1.5 image timings, not the new point-model runtime. Inspect scene layout, detail and failures throughout the grid.
Ask: Can the stored curve establish that extra steps improve every model at every setting?
Answer: It supports a comparison for this checkpoint and experiment. Distilled models and other tasks need their own evaluations.
Watch out: A shorter elapsed time can accompany a poor output; report both the workload and what the samples actually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Classifier-free guidance combines conditional and reference predictions to increase the influence of a condition.
Explain: The condition c is a numerical representation of the prompt. The empty condition supplies the reference prediction. Training sometimes drops the condition so one network supports both cases. The weight w scales their difference. Our convention gives the conditional prediction when w equals 1.
Example: Use illustrative predictions 0.2 without text and 0.5 with text. Weight 1 gives 0.5; weight 3 gives 0.2 + 3 × 0.3 = 1.1. This is extrapolation beyond the conditional prediction, not a probability. Actual image behaviour must be checked for the chosen model.
Ask: Under the displayed convention, what does setting the guidance weight to 1 recover?
Answer: It recovers the conditional prediction. A weight above 1 extrapolates further along the difference from the reference.
Watch out: SD-Turbo disables this guidance mechanism in its documented usage, so its settings cannot validate an ordinary guidance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guidance sweep shows one model's prompt-control tradeoff under a fixed prompt, seed and step count.
Explain: Guidance strengthens the difference between conditional and reference predictions. Stronger conditioning can alter colours, detail and variety. The grid uses historical SD 1.5 with 25 updates. Implementations can evaluate the two predictions together as a batch. Their cost still includes both denoiser predictions.
Example: Inspect guidance 1, 3, 7.5 and 15 in the recorded lighthouse grid. The evidence supplies 164 seconds at 1 and 471 seconds at 7.5. Discuss visible prompt fit and saturation, then distinguish those measured observations from a universal recommended guidance range.
Ask: Why might stronger guidance increase compute even if the number of scheduler steps stays fixed?
Answer: The guided update needs both reference and conditional predictions. Fusing them in one batch does not eliminate that work.
Watch out: A visually striking image or higher alignment score can still contain worse artefacts or less varied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Seeds select starting randomness, while negative prompts alter a supported guidance reference without guaranteeing removal.
Explain: A seed initialises a random-number generator. Different starting draws can lead to different layouts. A negative prompt supplies a reference text condition. The guided prediction moves away from its influence. Repeatability also depends on model, software, hardware and settings.
Example: The stored montage shows four seed choices and a matched reading-corner pair. Its negative prompt includes lamp, blurry and low quality. Inspect the actual lamp instead of assuming the words delete it. This guided SD 1.5 evidence is distinct from SD-Turbo, whose documented usage ignores negative prompts.
Ask: Does an unchanged lamp prove that the negative prompt argument was ignored by every image model?
Answer: It only describes this controlled output. Inspect the active model, guidance and implementation before interpreting the mechanism.
Watch out: Fixing the seed improves experimental control within a setup but does not ensure identical pixels across changed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Variants alter training, conditioning or sampling, and each proposed benefit needs a matching evaluation.
Explain: Flow matching trains a velocity field. Distillation trains a faster student from another model. Editing conditions generation on existing visual information. A metric measures a chosen aspect of output behaviour. Responsible use considers data rights, harm and source disclosure.
Example: A request for three cubes on a table tests object counts and layout, not just image realism. A model can produce an attractive table while drawing two cubes. Use this concrete failure to connect the following variants to evaluation. New architecture labels do not remove the need to inspect constraints.
Ask: Which evaluation would a beautiful but miscounted image fail despite looking plausible?
Answer: It would fail the stated object-count constraint. Visual attractiveness and prompt compliance are different aspects of the task.
Watch out: The lecture introduces mechanisms rather than ranking current commercial systems; model availability and terms need source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Flow matching uses specified training paths to learn velocity, while generated trajectories can still curve.
Explain: Velocity describes the direction and rate of change of a state. A training pair joins data with a noise sample. A linear interpolation defines one straight path for that pair. The network learns predictions from many pairs. A numerical solver follows the learned field during generation.
Example: For scalar data 1 and noise −1, the interpolation at time 0.25 is 0.5. Its paired target velocity is −2. The diagram illustrates these known training paths, not recorded generated trajectories. At one state, many pairs can contribute different targets, so the learned sampling path need not stay straight.
Ask: Does a straight training line prove that the generated sample follows exactly that line?
Answer: It does not. Sampling follows the learned velocity field, which combines information from many training pairs.
Watch out: The time convention here places data at 0 and noise at 1; some descriptions reverse that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displayed flow objective trains a velocity predictor for a chosen interpolation between data and noise.
Explain: The continuous time t runs between 0 and 1. The clean sample is x-zero, and epsilon is its paired noise sample. Their difference gives the target velocity for this linear path. Theta denotes learned network weights. The expectation averages squared velocity errors over training pairs and times.
Example: With data 1 and noise −1, the velocity target is −2. At time 0.25, the mixed state is 0.5. Generation starts at time 1 and integrates backwards, reversing the direction of time. These scalar values demonstrate the stated objective, not a measured image trajectory.
Ask: Can we reuse the DDPM lab loss unchanged and simply call its output a velocity?
Answer: The target and time input must change. DDPM predicts noise; this formulation predicts the paired velocity.
Watch out: The point MLP scales integer indices by T2; a continuous-time extension must adjust that input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SD-Turbo is a distilled historical image model with published few-step settings and guidance disabled.
Explain: Distillation teaches a student using a teacher model. SD-Turbo derives from Stable Diffusion 2.1. Adversarial diffusion distillation combines teacher information with an adversarial training objective. Its documented sampling range is 1–4 steps. Ordinary classifier-free guidance and negative prompts are disabled.
Example: The stored grid compares 1, 2 and 4 steps at 512 × 512 pixels. Evidence supplies 25 and 46 seconds for its endpoint settings. These recorded times differ from the required CPU point model. The model card specifies the operating rules: https://huggingface.co/stabilityai/sd-turbo.
Ask: Would increasing guidance in a wrapper that forces zero create a genuine SD-Turbo guidance experiment?
Answer: It would not. The requested setting is inactive, so report the limitation and compare supported controls instead.
Watch out: A few calls reflect specialised training; reducing an ordinary sampler to one call does not reproduce this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Diffusion variants change their conditions or output representation while retaining a learned generation mechanism.
Explain: Inpainting modifies a selected image region. ControlNet supplies structural conditions such as edges or pose. Personalisation adapts model weights to a subject or style. Video models process information across frames. Audio models can operate on spectrograms or compressed sound representations.
Example: An edge map can guide the layout of a fictional room, while a text prompt describes its appearance. Neither input guarantees that every requested feature is present. Compare the supplied edge structure with the generated image. Personalising to a subject changes a different part of the system and needs authorised examples.
Ask: How does supplying an edge map differ from merely choosing a new random seed?
Answer: The edge map is a structural condition. The seed chooses randomness without encoding the requested room layout.
Watch out: A protein or molecule proposal still needs domain validation; generated plausibility does not establish scientific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Evaluate image generators with complementary measurements because each metric captures only part of the task.
Explain: FID compares feature distributions of real and generated images. KID is another feature-distribution comparison. CLIP similarity compares image and text vector directions. Human preference records judgments under a rubric. Efficiency measures time and memory under stated conditions.
Example: For a prompt requesting three red cubes left of a blue sphere, inspect count, colour and position separately. CLIP may recognise the relevant concepts without checking every relation. Report that failure alongside any similarity score. Distribution metrics need suitable reference images and sufficient samples rather than one picture.
Ask: What additional check would you add when CLIP similarity is high but object counts matter?
Answer: Inspect the objects and relationships, using a stated rubric or a validated detector, and record any mistakes.
Watch out: Changing the feature network, reference set or sample count makes distribution scores difficult to compare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No single alignment, randomness or timing result proves that an image satisfies its intended task.
Explain: A metric summarises a specific measurement. Alignment concerns agreement with the prompt. Reproducibility concerns repeating a procedure under recorded settings. Efficiency concerns its computational cost. Correctness requires the actual requested constraints to hold.
Example: An attractive image of two cubes can score highly against a three-cube prompt because related concepts are present. A fixed seed makes that failure easier to reproduce. A short runtime makes it faster to obtain. None of those observations repairs the count. Inspect the requested objects and their relations.
Ask: Which single result proves that an image is correct for its prompt?
Answer: B. None of the listed results proves correctness. Inspect constraints such as object counts and relations alongside broader quality measures.
Watch out: Evaluation should describe the tested requirement and the measurement's limits, rather than treating a convenient score as complete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Responsible generation records source and settings, checks rights and examines concrete output harms.
Explain: A licence states conditions for using a model or dataset. Memorisation can produce close copies of training examples. Bias means systematic differences in representation or treatment. Provenance records the source and processing history of content. Compute claims require measurements of the actual workload.
Example: Compare synthetic occupation prompts across demographic conditions, then inspect all outputs using a stated rubric. Keep generated media labelled and preserve its source record. EU disclosure duties depend on scope and role; consult current Commission guidance at https://digital-strategy.ec.europa.eu/en/faqs/transparency-obligations-under-article-50-ai-act. A label does not establish consent or eliminate bias.
Ask: Does a model's safety checker establish that every generated image is acceptable to publish?
Answer: It is one screening component. People must still assess the image, intended use, rights and relevant policies.
Watch out: Fewer inference steps reduce one workload only; an energy comparison must also account for what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lab's required CPU path implements diffusion on points and uses labelled stored evidence for image-model comparisons.
Explain: Direct noising demonstrates the fixed corruption rule. The small MLP learns two-coordinate noise predictions. DDPM and DDIM reuse the same point denoiser. Synthetic vectors expose cosine similarity numerically. Optional stretches add image training or pretrained pipelines.
Example: Begin with point arrays [256, 2] and the known noise target. Compare 200 DDPM calls with 40 selected DDIM calls, recording actual coverage and time. The stored digit and lighthouse figures belong to separate measured runs. Enabling an image stretch creates another workload and needs its own recorded settings.
Ask: Can the synthetic-vector cosine check validate a pretrained image model's prompt alignment?
Answer: It verifies the calculation only. Image alignment needs actual image and text embeddings, plus visible constraint checks.
Watch out: Keep the diagram's required path separate from optional downloads; skipped stretches do not mean the core diffusion exercise was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required lab trains a real small point diffusion model on CPU, with image experiments as optional stretches.
Explain: The core uses synthetic two-dimensional training points. You implement direct noising, the noise loss and reverse updates. DDIM then compares selected-level sampling with the full point chain. Synthetic vectors expose the cosine calculation. Downloaded image models and MNIST training are explicit extensions.
Example: The point batch has shape [256, 2], training runs 10,000 updates and the full sampler uses 200 steps. A 40-step DDIM comparison reuses the trained weights. On the course laptop the whole core took 39 seconds.
Ask: Which results in your report belong to your run, and which belong to stored lecture image evidence?
Answer: Your point outputs and measured time describe your run. The labelled MNIST and SD 1.5 figures describe separate stored experiments.
Watch out: Do not replace recorded image-model timings with the faster point-model time; they describe different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introductory course for implementation, original papers for objectives and current model cards for operating rules.
Explain: The diffusion course supplies guided explanations and notebooks. The DDPM paper derives noise-prediction training. The latent-diffusion paper explains compression and text conditioning. Scheduler documentation describes numerical update choices. Model cards specify checkpoint settings and limitations.
Example: First follow the noising example and reproduce its tensor shapes. Then match one lab function to the relevant paper equation. Watch the linked course walkthrough before tackling the optional image pipeline. Finally read SD-Turbo's card before attempting a few-step experiment. No paper's headline result substitutes for measuring your own run.
Ask: Which source should you inspect before applying ordinary guidance and negative prompts to SD-Turbo?
Answer: Inspect its current official model card. It disables those controls, unlike the historical guided SD 1.5 comparison.
Watch out: Older tutorials can name deprecated repositories or incompatible versions; verify their details against current primary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Explain the target, the state update and the evidence before claiming that a diffusion model works well.
Explain: The forward rule adds known noise to real data. Noise prediction trains one denoiser across corruption levels. Sampling repeats numerical updates with unchanged network weights. Latent image pipelines combine several pretrained components. Evaluation compares outputs with clearly stated requirements.
Example: The arithmetic strip gives noisy 0.5 from clean 1, noise −0.5 and signal variance coefficient 0.64. Ask a student to identify the input and target, then trace generation from new noise. Follow that with the lab's 200-call DDPM and 40-call DDIM comparison. Recorded times and coverage belong to that actual run.
Ask: Does 40-step DDIM require 40 independently trained noise-prediction networks?
Answer: One trained denoiser handles the selected noise levels. Its sampling rule changes, while its weights stay fixed.
Watch out: Before Week 5, distinguish repeated denoising from attention; attention will explain how representations use information from other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www.oreilly.com/library/view/generative-deep-learning/9781098134174/" TargetMode="External"/><Relationship Id="rId4" Type="http://schemas.openxmlformats.org/officeDocument/2006/relationships/hyperlink" Target="https://arxiv.org/abs/2006.11239" TargetMode="External"/><Relationship Id="rId6" Type="http://schemas.openxmlformats.org/officeDocument/2006/relationships/hyperlink" Target="https://huggingface.co/learn/diffusion-course/en/unit1/1" TargetMode="External"/><Relationship Id="rId8" Type="http://schemas.openxmlformats.org/officeDocument/2006/relationships/hyperlink" Target="https://www.youtube.com/watch?v=09o5cv6u76c" TargetMode="External"/><Relationship Id="rId10" Type="http://schemas.openxmlformats.org/officeDocument/2006/relationships/hyperlink" Target="https://huggingface.co/stabilityai/sd-turbo"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04</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Diffusion Models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How adding noise creates training examples, and how repeated denoising generates an image</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4\cover.png">    </p:cNvPr>
          <p:cNvPicPr>
            <a:picLocks noChangeAspect="1"/>
          </p:cNvPicPr>
          <p:nvPr/>
        </p:nvPicPr>
        <p:blipFill>
          <a:blip r:embed="rId1"/>
          <a:stretch>
            <a:fillRect/>
          </a:stretch>
        </p:blipFill>
        <p:spPr>
          <a:xfrm>
            <a:off x="7818120" y="2470820"/>
            <a:ext cx="3840480" cy="19163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denoisers.</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diffusion.</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Evaluate outputs.</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555498"/>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362706"/>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362706"/>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2</a:t>
            </a:r>
            <a:endParaRPr lang="en-US" sz="1400" dirty="0"/>
          </a:p>
        </p:txBody>
      </p:sp>
      <p:sp>
        <p:nvSpPr>
          <p:cNvPr id="22" name="Text 20"/>
          <p:cNvSpPr txBox="1"/>
          <p:nvPr/>
        </p:nvSpPr>
        <p:spPr>
          <a:xfrm>
            <a:off x="8641080" y="3746754"/>
            <a:ext cx="2819095" cy="555498"/>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Analyse and apply multimodal generative AI</a:t>
            </a:r>
            <a:endParaRPr lang="en-US" sz="1400" dirty="0"/>
          </a:p>
        </p:txBody>
      </p:sp>
      <p:sp>
        <p:nvSpPr>
          <p:cNvPr id="23" name="Shape 21"/>
          <p:cNvSpPr/>
          <p:nvPr/>
        </p:nvSpPr>
        <p:spPr>
          <a:xfrm>
            <a:off x="8686800" y="4329684"/>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329684"/>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5" name="Text 23"/>
          <p:cNvSpPr txBox="1"/>
          <p:nvPr/>
        </p:nvSpPr>
        <p:spPr>
          <a:xfrm>
            <a:off x="8641080" y="4713732"/>
            <a:ext cx="2819095" cy="555498"/>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6" name="Shape 24"/>
          <p:cNvSpPr/>
          <p:nvPr/>
        </p:nvSpPr>
        <p:spPr>
          <a:xfrm>
            <a:off x="8686800" y="5296662"/>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5296662"/>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8" name="Text 26"/>
          <p:cNvSpPr txBox="1"/>
          <p:nvPr/>
        </p:nvSpPr>
        <p:spPr>
          <a:xfrm>
            <a:off x="8641080" y="5680710"/>
            <a:ext cx="2819095" cy="555498"/>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FFF0E6"/>
          </a:solidFill>
          <a:ln w="15240">
            <a:solidFill>
              <a:srgbClr val="D55E00"/>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4: you are here</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Gaussian noise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Random values from a bell curve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Regression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Predicting numerical targets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Tensor shape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Array dimensions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Could you repair a noisy sketch? What changes when you begin from entirely new noise?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Where does the training target come from?</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Is an original picture hidden in new noise?</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How could a prompt influence the sample?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Why diffusion?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diffusion train and sample differently from VAEs and GANs?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 a network to predict noise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Known target</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x₀, t, ε</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xₜ, t</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ε̂</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5" name="Shape 13"/>
          <p:cNvSpPr/>
          <p:nvPr/>
        </p:nvSpPr>
        <p:spPr>
          <a:xfrm>
            <a:off x="1752220" y="4738766"/>
            <a:ext cx="0" cy="198270"/>
          </a:xfrm>
          <a:prstGeom prst="line">
            <a:avLst/>
          </a:prstGeom>
          <a:noFill/>
          <a:ln w="22860">
            <a:solidFill>
              <a:srgbClr val="0072B2"/>
            </a:solidFill>
            <a:prstDash val="solid"/>
          </a:ln>
        </p:spPr>
      </p:sp>
      <p:sp>
        <p:nvSpPr>
          <p:cNvPr id="16" name="Shape 14"/>
          <p:cNvSpPr/>
          <p:nvPr/>
        </p:nvSpPr>
        <p:spPr>
          <a:xfrm>
            <a:off x="1752220" y="4937035"/>
            <a:ext cx="6515442" cy="0"/>
          </a:xfrm>
          <a:prstGeom prst="line">
            <a:avLst/>
          </a:prstGeom>
          <a:noFill/>
          <a:ln w="22860">
            <a:solidFill>
              <a:srgbClr val="0072B2"/>
            </a:solidFill>
            <a:prstDash val="solid"/>
          </a:ln>
        </p:spPr>
      </p:sp>
      <p:sp>
        <p:nvSpPr>
          <p:cNvPr id="17" name="Shape 15"/>
          <p:cNvSpPr/>
          <p:nvPr/>
        </p:nvSpPr>
        <p:spPr>
          <a:xfrm flipV="1">
            <a:off x="8267661" y="4738766"/>
            <a:ext cx="0" cy="198270"/>
          </a:xfrm>
          <a:prstGeom prst="line">
            <a:avLst/>
          </a:prstGeom>
          <a:noFill/>
          <a:ln w="22860">
            <a:solidFill>
              <a:srgbClr val="0072B2"/>
            </a:solidFill>
            <a:prstDash val="solid"/>
            <a:tailEnd type="triangle"/>
          </a:ln>
        </p:spPr>
      </p:sp>
      <p:sp>
        <p:nvSpPr>
          <p:cNvPr id="18" name="Text 16"/>
          <p:cNvSpPr txBox="1"/>
          <p:nvPr/>
        </p:nvSpPr>
        <p:spPr>
          <a:xfrm>
            <a:off x="4668688" y="4967538"/>
            <a:ext cx="682505"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ε target</a:t>
            </a:r>
            <a:endParaRPr lang="en-US" sz="1441" dirty="0"/>
          </a:p>
        </p:txBody>
      </p:sp>
      <p:sp>
        <p:nvSpPr>
          <p:cNvPr id="19" name="Shape 17"/>
          <p:cNvSpPr/>
          <p:nvPr/>
        </p:nvSpPr>
        <p:spPr>
          <a:xfrm flipV="1">
            <a:off x="10439475" y="2191765"/>
            <a:ext cx="0" cy="747324"/>
          </a:xfrm>
          <a:prstGeom prst="line">
            <a:avLst/>
          </a:prstGeom>
          <a:noFill/>
          <a:ln w="22860">
            <a:solidFill>
              <a:srgbClr val="D55E00"/>
            </a:solidFill>
            <a:prstDash val="dash"/>
          </a:ln>
        </p:spPr>
      </p:sp>
      <p:sp>
        <p:nvSpPr>
          <p:cNvPr id="20" name="Shape 18"/>
          <p:cNvSpPr/>
          <p:nvPr/>
        </p:nvSpPr>
        <p:spPr>
          <a:xfrm flipH="1">
            <a:off x="1752220" y="2191765"/>
            <a:ext cx="8687255" cy="0"/>
          </a:xfrm>
          <a:prstGeom prst="line">
            <a:avLst/>
          </a:prstGeom>
          <a:noFill/>
          <a:ln w="22860">
            <a:solidFill>
              <a:srgbClr val="D55E00"/>
            </a:solidFill>
            <a:prstDash val="dash"/>
          </a:ln>
        </p:spPr>
      </p:sp>
      <p:sp>
        <p:nvSpPr>
          <p:cNvPr id="21" name="Shape 19"/>
          <p:cNvSpPr/>
          <p:nvPr/>
        </p:nvSpPr>
        <p:spPr>
          <a:xfrm>
            <a:off x="1752220" y="2191765"/>
            <a:ext cx="0" cy="747324"/>
          </a:xfrm>
          <a:prstGeom prst="line">
            <a:avLst/>
          </a:prstGeom>
          <a:noFill/>
          <a:ln w="22860">
            <a:solidFill>
              <a:srgbClr val="D55E00"/>
            </a:solidFill>
            <a:prstDash val="dash"/>
            <a:tailEnd type="triangle"/>
          </a:ln>
        </p:spPr>
      </p:sp>
      <p:sp>
        <p:nvSpPr>
          <p:cNvPr id="22" name="Text 20"/>
          <p:cNvSpPr txBox="1"/>
          <p:nvPr/>
        </p:nvSpPr>
        <p:spPr>
          <a:xfrm>
            <a:off x="5759994"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3" name="Shape 21"/>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4" name="Text 22"/>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 data</a:t>
            </a:r>
            <a:endParaRPr lang="en-US" sz="1561" dirty="0"/>
          </a:p>
        </p:txBody>
      </p:sp>
      <p:sp>
        <p:nvSpPr>
          <p:cNvPr id="25" name="Text 23"/>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[B,2]</a:t>
            </a:r>
            <a:endParaRPr lang="en-US" sz="1441" dirty="0"/>
          </a:p>
        </p:txBody>
      </p:sp>
      <p:sp>
        <p:nvSpPr>
          <p:cNvPr id="26" name="Shape 24"/>
          <p:cNvSpPr/>
          <p:nvPr/>
        </p:nvSpPr>
        <p:spPr>
          <a:xfrm>
            <a:off x="2960139" y="2939089"/>
            <a:ext cx="1927790" cy="1799677"/>
          </a:xfrm>
          <a:prstGeom prst="rect">
            <a:avLst/>
          </a:prstGeom>
          <a:solidFill>
            <a:srgbClr val="F2F4F5"/>
          </a:solidFill>
          <a:ln w="15240">
            <a:solidFill>
              <a:srgbClr val="626B73"/>
            </a:solidFill>
            <a:prstDash val="solid"/>
          </a:ln>
        </p:spPr>
      </p:sp>
      <p:sp>
        <p:nvSpPr>
          <p:cNvPr id="27" name="Text 25"/>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Noising</a:t>
            </a:r>
            <a:endParaRPr lang="en-US" sz="1561" dirty="0"/>
          </a:p>
        </p:txBody>
      </p:sp>
      <p:sp>
        <p:nvSpPr>
          <p:cNvPr id="28" name="Text 26"/>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coefficients</a:t>
            </a:r>
            <a:endParaRPr lang="en-US" sz="1441" dirty="0"/>
          </a:p>
        </p:txBody>
      </p:sp>
      <p:sp>
        <p:nvSpPr>
          <p:cNvPr id="29" name="Text 27"/>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q_sample</a:t>
            </a:r>
            <a:endParaRPr lang="en-US" sz="1441" dirty="0"/>
          </a:p>
        </p:txBody>
      </p:sp>
      <p:sp>
        <p:nvSpPr>
          <p:cNvPr id="30" name="Shape 28"/>
          <p:cNvSpPr/>
          <p:nvPr/>
        </p:nvSpPr>
        <p:spPr>
          <a:xfrm>
            <a:off x="5131953" y="2939089"/>
            <a:ext cx="1927790" cy="1799677"/>
          </a:xfrm>
          <a:prstGeom prst="rect">
            <a:avLst/>
          </a:prstGeom>
          <a:solidFill>
            <a:srgbClr val="E5F7EF"/>
          </a:solidFill>
          <a:ln w="15240">
            <a:solidFill>
              <a:srgbClr val="009E73"/>
            </a:solidFill>
            <a:prstDash val="solid"/>
          </a:ln>
        </p:spPr>
      </p:sp>
      <p:sp>
        <p:nvSpPr>
          <p:cNvPr id="31" name="Text 29"/>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 noise</a:t>
            </a:r>
            <a:endParaRPr lang="en-US" sz="1561" dirty="0"/>
          </a:p>
        </p:txBody>
      </p:sp>
      <p:sp>
        <p:nvSpPr>
          <p:cNvPr id="32" name="Text 30"/>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[B,2]</a:t>
            </a:r>
            <a:endParaRPr lang="en-US" sz="1441" dirty="0"/>
          </a:p>
        </p:txBody>
      </p:sp>
      <p:sp>
        <p:nvSpPr>
          <p:cNvPr id="33" name="Text 31"/>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EpsMLP.forward</a:t>
            </a:r>
            <a:endParaRPr lang="en-US" sz="1441" dirty="0"/>
          </a:p>
        </p:txBody>
      </p:sp>
      <p:sp>
        <p:nvSpPr>
          <p:cNvPr id="34" name="Shape 32"/>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5" name="Text 33"/>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 noise</a:t>
            </a:r>
            <a:endParaRPr lang="en-US" sz="1561" dirty="0"/>
          </a:p>
        </p:txBody>
      </p:sp>
      <p:sp>
        <p:nvSpPr>
          <p:cNvPr id="36" name="Text 34"/>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MSE</a:t>
            </a:r>
            <a:endParaRPr lang="en-US" sz="1441" dirty="0"/>
          </a:p>
        </p:txBody>
      </p:sp>
      <p:sp>
        <p:nvSpPr>
          <p:cNvPr id="37" name="Shape 35"/>
          <p:cNvSpPr/>
          <p:nvPr/>
        </p:nvSpPr>
        <p:spPr>
          <a:xfrm>
            <a:off x="9475580" y="2939089"/>
            <a:ext cx="1927790" cy="1799677"/>
          </a:xfrm>
          <a:prstGeom prst="rect">
            <a:avLst/>
          </a:prstGeom>
          <a:solidFill>
            <a:srgbClr val="F2F4F5"/>
          </a:solidFill>
          <a:ln w="15240">
            <a:solidFill>
              <a:srgbClr val="626B73"/>
            </a:solidFill>
            <a:prstDash val="solid"/>
          </a:ln>
        </p:spPr>
      </p:sp>
      <p:sp>
        <p:nvSpPr>
          <p:cNvPr id="38" name="Text 36"/>
          <p:cNvSpPr txBox="1"/>
          <p:nvPr/>
        </p:nvSpPr>
        <p:spPr>
          <a:xfrm>
            <a:off x="9536586"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 weights</a:t>
            </a:r>
            <a:endParaRPr lang="en-US" sz="1561" dirty="0"/>
          </a:p>
        </p:txBody>
      </p:sp>
      <p:sp>
        <p:nvSpPr>
          <p:cNvPr id="39" name="Text 37"/>
          <p:cNvSpPr txBox="1"/>
          <p:nvPr/>
        </p:nvSpPr>
        <p:spPr>
          <a:xfrm>
            <a:off x="9536586"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Adam</a:t>
            </a:r>
            <a:endParaRPr lang="en-US" sz="1441" dirty="0"/>
          </a:p>
        </p:txBody>
      </p:sp>
      <p:sp>
        <p:nvSpPr>
          <p:cNvPr id="40" name="Text 38"/>
          <p:cNvSpPr txBox="1"/>
          <p:nvPr/>
        </p:nvSpPr>
        <p:spPr>
          <a:xfrm>
            <a:off x="9498458"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opt.step</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7" name="Shape 45"/>
          <p:cNvSpPr/>
          <p:nvPr/>
        </p:nvSpPr>
        <p:spPr>
          <a:xfrm>
            <a:off x="3568395" y="5630979"/>
            <a:ext cx="198270" cy="198270"/>
          </a:xfrm>
          <a:prstGeom prst="rect">
            <a:avLst/>
          </a:prstGeom>
          <a:solidFill>
            <a:srgbClr val="F2F4F5"/>
          </a:solidFill>
          <a:ln w="15240">
            <a:solidFill>
              <a:srgbClr val="626B73"/>
            </a:solidFill>
            <a:prstDash val="solid"/>
          </a:ln>
        </p:spPr>
      </p:sp>
      <p:sp>
        <p:nvSpPr>
          <p:cNvPr id="48" name="Text 46"/>
          <p:cNvSpPr txBox="1"/>
          <p:nvPr/>
        </p:nvSpPr>
        <p:spPr>
          <a:xfrm>
            <a:off x="3827671"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9" name="Shape 47"/>
          <p:cNvSpPr/>
          <p:nvPr/>
        </p:nvSpPr>
        <p:spPr>
          <a:xfrm>
            <a:off x="4424872" y="5730113"/>
            <a:ext cx="335533" cy="0"/>
          </a:xfrm>
          <a:prstGeom prst="line">
            <a:avLst/>
          </a:prstGeom>
          <a:noFill/>
          <a:ln w="22860">
            <a:solidFill>
              <a:srgbClr val="009E73"/>
            </a:solidFill>
            <a:prstDash val="solid"/>
            <a:tailEnd type="triangle"/>
          </a:ln>
        </p:spPr>
      </p:sp>
      <p:sp>
        <p:nvSpPr>
          <p:cNvPr id="50" name="Text 48"/>
          <p:cNvSpPr txBox="1"/>
          <p:nvPr/>
        </p:nvSpPr>
        <p:spPr>
          <a:xfrm>
            <a:off x="482141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1" name="Shape 49"/>
          <p:cNvSpPr/>
          <p:nvPr/>
        </p:nvSpPr>
        <p:spPr>
          <a:xfrm>
            <a:off x="5450057" y="5730113"/>
            <a:ext cx="335533" cy="0"/>
          </a:xfrm>
          <a:prstGeom prst="line">
            <a:avLst/>
          </a:prstGeom>
          <a:noFill/>
          <a:ln w="22860">
            <a:solidFill>
              <a:srgbClr val="D55E00"/>
            </a:solidFill>
            <a:prstDash val="dash"/>
            <a:tailEnd type="triangle"/>
          </a:ln>
        </p:spPr>
      </p:sp>
      <p:sp>
        <p:nvSpPr>
          <p:cNvPr id="52" name="Text 50"/>
          <p:cNvSpPr txBox="1"/>
          <p:nvPr/>
        </p:nvSpPr>
        <p:spPr>
          <a:xfrm>
            <a:off x="584659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Which target?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Generative training and sampling</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584916"/>
                <a:gridCol w="3169833"/>
                <a:gridCol w="3566062"/>
                <a:gridCol w="2773604"/>
              </a:tblGrid>
              <a:tr h="0">
                <a:tc>
                  <a:txBody>
                    <a:bodyPr/>
                    <a:lstStyle/>
                    <a:p>
                      <a:pPr indent="0" marL="0">
                        <a:buNone/>
                      </a:pP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VAE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GAN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Diffusion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Learns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Reconstruct + KL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Fool discriminator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Predict noise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Coverage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Collapse risk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Training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objective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Moving game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Known target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Sampling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pass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pass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Repeated calls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generative trilemma: quality, diversity, speed</a:t>
            </a:r>
            <a:endParaRPr lang="en-US" sz="3200" dirty="0"/>
          </a:p>
        </p:txBody>
      </p:sp>
      <p:pic>
        <p:nvPicPr>
          <p:cNvPr id="6" name="Image 0" descr="C:\Users\sudee\Downloads\Generative_AI_2027_Teaching_Pack\AI2027_Project\build\figures\week_04\trilemma.png">    </p:cNvPr>
          <p:cNvPicPr>
            <a:picLocks noChangeAspect="1"/>
          </p:cNvPicPr>
          <p:nvPr/>
        </p:nvPicPr>
        <p:blipFill>
          <a:blip r:embed="rId1"/>
          <a:stretch>
            <a:fillRect/>
          </a:stretch>
        </p:blipFill>
        <p:spPr>
          <a:xfrm>
            <a:off x="663002" y="1481328"/>
            <a:ext cx="10865690" cy="48280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core idea in one slide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Training knows the sampled noise.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One network handles many noise levels.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Generation reuses trained weights.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Noisy input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0.8 × 1 + 0.6 × (−0.5) = 0.5</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Target noise</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−0.5, known during training</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Forward and reverse processes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exactly is added, what exactly is learned?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forward (noising) process</a:t>
            </a:r>
            <a:endParaRPr lang="en-US" sz="3200" dirty="0"/>
          </a:p>
        </p:txBody>
      </p:sp>
      <p:sp>
        <p:nvSpPr>
          <p:cNvPr id="6" name="Shape 4"/>
          <p:cNvSpPr/>
          <p:nvPr/>
        </p:nvSpPr>
        <p:spPr>
          <a:xfrm>
            <a:off x="548640" y="1481328"/>
            <a:ext cx="11094415" cy="1920240"/>
          </a:xfrm>
          <a:prstGeom prst="roundRect">
            <a:avLst>
              <a:gd name="adj" fmla="val 5714"/>
            </a:avLst>
          </a:prstGeom>
          <a:solidFill>
            <a:srgbClr val="EEF0FF"/>
          </a:solidFill>
          <a:ln w="12700">
            <a:solidFill>
              <a:srgbClr val="EEF0FF"/>
            </a:solidFill>
            <a:prstDash val="solid"/>
          </a:ln>
        </p:spPr>
      </p:sp>
      <p:pic>
        <p:nvPicPr>
          <p:cNvPr id="7" name="Image 0" descr="C:\Users\sudee\Downloads\Generative_AI_2027_Teaching_Pack\AI2027_Project\build\eq\62f0b99763bd0b73.png">    </p:cNvPr>
          <p:cNvPicPr>
            <a:picLocks noChangeAspect="1"/>
          </p:cNvPicPr>
          <p:nvPr/>
        </p:nvPicPr>
        <p:blipFill>
          <a:blip r:embed="rId1"/>
          <a:stretch>
            <a:fillRect/>
          </a:stretch>
        </p:blipFill>
        <p:spPr>
          <a:xfrm>
            <a:off x="3837280" y="1711960"/>
            <a:ext cx="4517136" cy="445008"/>
          </a:xfrm>
          <a:prstGeom prst="rect">
            <a:avLst/>
          </a:prstGeom>
        </p:spPr>
      </p:pic>
      <p:pic>
        <p:nvPicPr>
          <p:cNvPr id="8" name="Image 1" descr="C:\Users\sudee\Downloads\Generative_AI_2027_Teaching_Pack\AI2027_Project\build\eq\13d0b0cc3cca7eea.png">    </p:cNvPr>
          <p:cNvPicPr>
            <a:picLocks noChangeAspect="1"/>
          </p:cNvPicPr>
          <p:nvPr/>
        </p:nvPicPr>
        <p:blipFill>
          <a:blip r:embed="rId2"/>
          <a:stretch>
            <a:fillRect/>
          </a:stretch>
        </p:blipFill>
        <p:spPr>
          <a:xfrm>
            <a:off x="2825344" y="2341880"/>
            <a:ext cx="6541008" cy="829056"/>
          </a:xfrm>
          <a:prstGeom prst="rect">
            <a:avLst/>
          </a:prstGeom>
        </p:spPr>
      </p:pic>
      <p:sp>
        <p:nvSpPr>
          <p:cNvPr id="9" name="Text 5"/>
          <p:cNvSpPr txBox="1"/>
          <p:nvPr/>
        </p:nvSpPr>
        <p:spPr>
          <a:xfrm>
            <a:off x="548640" y="363016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014216"/>
            <a:ext cx="6035040" cy="226771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Mix scaled signal with Gaussian noise.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Select a noise level directly.</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Illustration: 0.8 × 1 + 0.6 × (−0.5) = 0.5</a:t>
            </a:r>
            <a:endParaRPr lang="en-US" sz="2000" dirty="0"/>
          </a:p>
        </p:txBody>
      </p:sp>
      <p:sp>
        <p:nvSpPr>
          <p:cNvPr id="11" name="Text 7"/>
          <p:cNvSpPr txBox="1"/>
          <p:nvPr/>
        </p:nvSpPr>
        <p:spPr>
          <a:xfrm>
            <a:off x="6858000" y="363016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041648"/>
            <a:ext cx="1143000" cy="56692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x₀</a:t>
            </a:r>
            <a:endParaRPr lang="en-US" sz="1800" dirty="0"/>
          </a:p>
        </p:txBody>
      </p:sp>
      <p:sp>
        <p:nvSpPr>
          <p:cNvPr id="13" name="Text 9"/>
          <p:cNvSpPr txBox="1"/>
          <p:nvPr/>
        </p:nvSpPr>
        <p:spPr>
          <a:xfrm>
            <a:off x="8046720" y="4041648"/>
            <a:ext cx="3596335" cy="56692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clean data</a:t>
            </a:r>
            <a:endParaRPr lang="en-US" sz="1700" dirty="0"/>
          </a:p>
        </p:txBody>
      </p:sp>
      <p:sp>
        <p:nvSpPr>
          <p:cNvPr id="14" name="Text 10"/>
          <p:cNvSpPr txBox="1"/>
          <p:nvPr/>
        </p:nvSpPr>
        <p:spPr>
          <a:xfrm>
            <a:off x="6858000" y="4608576"/>
            <a:ext cx="1143000" cy="56692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xₜ</a:t>
            </a:r>
            <a:endParaRPr lang="en-US" sz="1800" dirty="0"/>
          </a:p>
        </p:txBody>
      </p:sp>
      <p:sp>
        <p:nvSpPr>
          <p:cNvPr id="15" name="Text 11"/>
          <p:cNvSpPr txBox="1"/>
          <p:nvPr/>
        </p:nvSpPr>
        <p:spPr>
          <a:xfrm>
            <a:off x="8046720" y="4608576"/>
            <a:ext cx="3596335" cy="56692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noisy data</a:t>
            </a:r>
            <a:endParaRPr lang="en-US" sz="1700" dirty="0"/>
          </a:p>
        </p:txBody>
      </p:sp>
      <p:sp>
        <p:nvSpPr>
          <p:cNvPr id="16" name="Text 12"/>
          <p:cNvSpPr txBox="1"/>
          <p:nvPr/>
        </p:nvSpPr>
        <p:spPr>
          <a:xfrm>
            <a:off x="6858000" y="5175504"/>
            <a:ext cx="1143000" cy="56692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βₜ</a:t>
            </a:r>
            <a:endParaRPr lang="en-US" sz="1800" dirty="0"/>
          </a:p>
        </p:txBody>
      </p:sp>
      <p:sp>
        <p:nvSpPr>
          <p:cNvPr id="17" name="Text 13"/>
          <p:cNvSpPr txBox="1"/>
          <p:nvPr/>
        </p:nvSpPr>
        <p:spPr>
          <a:xfrm>
            <a:off x="8046720" y="5175504"/>
            <a:ext cx="3596335" cy="56692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added noise variance</a:t>
            </a:r>
            <a:endParaRPr lang="en-US" sz="1700" dirty="0"/>
          </a:p>
        </p:txBody>
      </p:sp>
      <p:sp>
        <p:nvSpPr>
          <p:cNvPr id="18" name="Text 14"/>
          <p:cNvSpPr txBox="1"/>
          <p:nvPr/>
        </p:nvSpPr>
        <p:spPr>
          <a:xfrm>
            <a:off x="6858000" y="5742432"/>
            <a:ext cx="1143000" cy="56692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ᾱₜ</a:t>
            </a:r>
            <a:endParaRPr lang="en-US" sz="1800" dirty="0"/>
          </a:p>
        </p:txBody>
      </p:sp>
      <p:sp>
        <p:nvSpPr>
          <p:cNvPr id="19" name="Text 15"/>
          <p:cNvSpPr txBox="1"/>
          <p:nvPr/>
        </p:nvSpPr>
        <p:spPr>
          <a:xfrm>
            <a:off x="8046720" y="5742432"/>
            <a:ext cx="3596335" cy="56692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retained signal coefficient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forward process on real digits</a:t>
            </a:r>
            <a:endParaRPr lang="en-US" sz="3200" dirty="0"/>
          </a:p>
        </p:txBody>
      </p:sp>
      <p:pic>
        <p:nvPicPr>
          <p:cNvPr id="6" name="Image 0" descr="C:\Users\sudee\Downloads\Generative_AI_2027_Teaching_Pack\AI2027_Project\build\figures\week_04\forward_mnist_slide.png">    </p:cNvPr>
          <p:cNvPicPr>
            <a:picLocks noChangeAspect="1"/>
          </p:cNvPicPr>
          <p:nvPr/>
        </p:nvPicPr>
        <p:blipFill>
          <a:blip r:embed="rId1"/>
          <a:stretch>
            <a:fillRect/>
          </a:stretch>
        </p:blipFill>
        <p:spPr>
          <a:xfrm>
            <a:off x="1760582" y="1481328"/>
            <a:ext cx="8670532"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Stored MNIST corruption: linear schedule, 1000 entries; index 0 already adds noise.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Noise schedules decide how fast information is destroyed</a:t>
            </a:r>
            <a:endParaRPr lang="en-US" sz="3000" dirty="0"/>
          </a:p>
        </p:txBody>
      </p:sp>
      <p:pic>
        <p:nvPicPr>
          <p:cNvPr id="6" name="Image 0" descr="C:\Users\sudee\Downloads\Generative_AI_2027_Teaching_Pack\AI2027_Project\build\figures\week_04\schedules.png">    </p:cNvPr>
          <p:cNvPicPr>
            <a:picLocks noChangeAspect="1"/>
          </p:cNvPicPr>
          <p:nvPr/>
        </p:nvPicPr>
        <p:blipFill>
          <a:blip r:embed="rId1"/>
          <a:stretch>
            <a:fillRect/>
          </a:stretch>
        </p:blipFill>
        <p:spPr>
          <a:xfrm>
            <a:off x="1134798" y="1481328"/>
            <a:ext cx="9922098" cy="48280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Generate by repeating reverse steps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Fixed weights; repeat reverse updates</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state, t</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noise, state</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updated state</a:t>
            </a:r>
            <a:endParaRPr lang="en-US" sz="1441" dirty="0"/>
          </a:p>
        </p:txBody>
      </p:sp>
      <p:sp>
        <p:nvSpPr>
          <p:cNvPr id="13" name="Shape 11"/>
          <p:cNvSpPr/>
          <p:nvPr/>
        </p:nvSpPr>
        <p:spPr>
          <a:xfrm flipV="1">
            <a:off x="10167999" y="2191765"/>
            <a:ext cx="0" cy="747324"/>
          </a:xfrm>
          <a:prstGeom prst="line">
            <a:avLst/>
          </a:prstGeom>
          <a:noFill/>
          <a:ln w="22860">
            <a:solidFill>
              <a:srgbClr val="D55E00"/>
            </a:solidFill>
            <a:prstDash val="dash"/>
          </a:ln>
        </p:spPr>
      </p:sp>
      <p:sp>
        <p:nvSpPr>
          <p:cNvPr id="14" name="Shape 12"/>
          <p:cNvSpPr/>
          <p:nvPr/>
        </p:nvSpPr>
        <p:spPr>
          <a:xfrm flipH="1">
            <a:off x="4738464" y="2191765"/>
            <a:ext cx="5429535" cy="0"/>
          </a:xfrm>
          <a:prstGeom prst="line">
            <a:avLst/>
          </a:prstGeom>
          <a:noFill/>
          <a:ln w="22860">
            <a:solidFill>
              <a:srgbClr val="D55E00"/>
            </a:solidFill>
            <a:prstDash val="dash"/>
          </a:ln>
        </p:spPr>
      </p:sp>
      <p:sp>
        <p:nvSpPr>
          <p:cNvPr id="15" name="Shape 13"/>
          <p:cNvSpPr/>
          <p:nvPr/>
        </p:nvSpPr>
        <p:spPr>
          <a:xfrm>
            <a:off x="4738464" y="2191765"/>
            <a:ext cx="0" cy="747324"/>
          </a:xfrm>
          <a:prstGeom prst="line">
            <a:avLst/>
          </a:prstGeom>
          <a:noFill/>
          <a:ln w="22860">
            <a:solidFill>
              <a:srgbClr val="D55E00"/>
            </a:solidFill>
            <a:prstDash val="dash"/>
            <a:tailEnd type="triangle"/>
          </a:ln>
        </p:spPr>
      </p:sp>
      <p:sp>
        <p:nvSpPr>
          <p:cNvPr id="16" name="Text 14"/>
          <p:cNvSpPr txBox="1"/>
          <p:nvPr/>
        </p:nvSpPr>
        <p:spPr>
          <a:xfrm>
            <a:off x="7117377"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17" name="Shape 15"/>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18" name="Text 16"/>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Start from noise</a:t>
            </a:r>
            <a:endParaRPr lang="en-US" sz="1561" dirty="0"/>
          </a:p>
        </p:txBody>
      </p:sp>
      <p:sp>
        <p:nvSpPr>
          <p:cNvPr id="19" name="Text 17"/>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[N,2]</a:t>
            </a:r>
            <a:endParaRPr lang="en-US" sz="1441" dirty="0"/>
          </a:p>
        </p:txBody>
      </p:sp>
      <p:sp>
        <p:nvSpPr>
          <p:cNvPr id="20" name="Shape 18"/>
          <p:cNvSpPr/>
          <p:nvPr/>
        </p:nvSpPr>
        <p:spPr>
          <a:xfrm>
            <a:off x="3503092" y="2939089"/>
            <a:ext cx="2470743" cy="1799677"/>
          </a:xfrm>
          <a:prstGeom prst="rect">
            <a:avLst/>
          </a:prstGeom>
          <a:solidFill>
            <a:srgbClr val="E5F7EF"/>
          </a:solidFill>
          <a:ln w="15240">
            <a:solidFill>
              <a:srgbClr val="009E73"/>
            </a:solidFill>
            <a:prstDash val="solid"/>
          </a:ln>
        </p:spPr>
      </p:sp>
      <p:sp>
        <p:nvSpPr>
          <p:cNvPr id="21" name="Text 19"/>
          <p:cNvSpPr txBox="1"/>
          <p:nvPr/>
        </p:nvSpPr>
        <p:spPr>
          <a:xfrm>
            <a:off x="3564098"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 noise</a:t>
            </a:r>
            <a:endParaRPr lang="en-US" sz="1561" dirty="0"/>
          </a:p>
        </p:txBody>
      </p:sp>
      <p:sp>
        <p:nvSpPr>
          <p:cNvPr id="22" name="Text 20"/>
          <p:cNvSpPr txBox="1"/>
          <p:nvPr/>
        </p:nvSpPr>
        <p:spPr>
          <a:xfrm>
            <a:off x="3564098"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state, t</a:t>
            </a:r>
            <a:endParaRPr lang="en-US" sz="1441" dirty="0"/>
          </a:p>
        </p:txBody>
      </p:sp>
      <p:sp>
        <p:nvSpPr>
          <p:cNvPr id="23" name="Text 21"/>
          <p:cNvSpPr txBox="1"/>
          <p:nvPr/>
        </p:nvSpPr>
        <p:spPr>
          <a:xfrm>
            <a:off x="3525970"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EpsMLP.forward</a:t>
            </a:r>
            <a:endParaRPr lang="en-US" sz="1441" dirty="0"/>
          </a:p>
        </p:txBody>
      </p:sp>
      <p:sp>
        <p:nvSpPr>
          <p:cNvPr id="24" name="Shape 22"/>
          <p:cNvSpPr/>
          <p:nvPr/>
        </p:nvSpPr>
        <p:spPr>
          <a:xfrm>
            <a:off x="6217860" y="2939089"/>
            <a:ext cx="2470743" cy="1799677"/>
          </a:xfrm>
          <a:prstGeom prst="rect">
            <a:avLst/>
          </a:prstGeom>
          <a:solidFill>
            <a:srgbClr val="F2F4F5"/>
          </a:solidFill>
          <a:ln w="15240">
            <a:solidFill>
              <a:srgbClr val="626B73"/>
            </a:solidFill>
            <a:prstDash val="solid"/>
          </a:ln>
        </p:spPr>
      </p:sp>
      <p:sp>
        <p:nvSpPr>
          <p:cNvPr id="25" name="Text 23"/>
          <p:cNvSpPr txBox="1"/>
          <p:nvPr/>
        </p:nvSpPr>
        <p:spPr>
          <a:xfrm>
            <a:off x="6278866"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Reverse step</a:t>
            </a:r>
            <a:endParaRPr lang="en-US" sz="1561" dirty="0"/>
          </a:p>
        </p:txBody>
      </p:sp>
      <p:sp>
        <p:nvSpPr>
          <p:cNvPr id="26" name="Text 24"/>
          <p:cNvSpPr txBox="1"/>
          <p:nvPr/>
        </p:nvSpPr>
        <p:spPr>
          <a:xfrm>
            <a:off x="6278866"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mean + noise</a:t>
            </a:r>
            <a:endParaRPr lang="en-US" sz="1441" dirty="0"/>
          </a:p>
        </p:txBody>
      </p:sp>
      <p:sp>
        <p:nvSpPr>
          <p:cNvPr id="27" name="Text 25"/>
          <p:cNvSpPr txBox="1"/>
          <p:nvPr/>
        </p:nvSpPr>
        <p:spPr>
          <a:xfrm>
            <a:off x="6240737"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reverse_step</a:t>
            </a:r>
            <a:endParaRPr lang="en-US" sz="1441" dirty="0"/>
          </a:p>
        </p:txBody>
      </p:sp>
      <p:sp>
        <p:nvSpPr>
          <p:cNvPr id="28" name="Shape 26"/>
          <p:cNvSpPr/>
          <p:nvPr/>
        </p:nvSpPr>
        <p:spPr>
          <a:xfrm>
            <a:off x="8932627" y="2939089"/>
            <a:ext cx="2470743" cy="1799677"/>
          </a:xfrm>
          <a:prstGeom prst="roundRect">
            <a:avLst>
              <a:gd name="adj" fmla="val 4065"/>
            </a:avLst>
          </a:prstGeom>
          <a:solidFill>
            <a:srgbClr val="F9EAF4"/>
          </a:solidFill>
          <a:ln w="15240">
            <a:solidFill>
              <a:srgbClr val="CC79A7"/>
            </a:solidFill>
            <a:prstDash val="solid"/>
          </a:ln>
        </p:spPr>
      </p:sp>
      <p:sp>
        <p:nvSpPr>
          <p:cNvPr id="29" name="Text 27"/>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Finish?</a:t>
            </a:r>
            <a:endParaRPr lang="en-US" sz="1561" dirty="0"/>
          </a:p>
        </p:txBody>
      </p:sp>
      <p:sp>
        <p:nvSpPr>
          <p:cNvPr id="30" name="Text 28"/>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 decreases</a:t>
            </a:r>
            <a:endParaRPr lang="en-US" sz="1441" dirty="0"/>
          </a:p>
        </p:txBody>
      </p:sp>
      <p:sp>
        <p:nvSpPr>
          <p:cNvPr id="31" name="Shape 2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2" name="Text 3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3" name="Shape 31"/>
          <p:cNvSpPr/>
          <p:nvPr/>
        </p:nvSpPr>
        <p:spPr>
          <a:xfrm>
            <a:off x="1676436" y="5630979"/>
            <a:ext cx="198270" cy="198270"/>
          </a:xfrm>
          <a:prstGeom prst="rect">
            <a:avLst/>
          </a:prstGeom>
          <a:solidFill>
            <a:srgbClr val="E5F7EF"/>
          </a:solidFill>
          <a:ln w="15240">
            <a:solidFill>
              <a:srgbClr val="009E73"/>
            </a:solidFill>
            <a:prstDash val="solid"/>
          </a:ln>
        </p:spPr>
      </p:sp>
      <p:sp>
        <p:nvSpPr>
          <p:cNvPr id="34" name="Text 3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5" name="Shape 33"/>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6" name="Text 34"/>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7" name="Shape 35"/>
          <p:cNvSpPr/>
          <p:nvPr/>
        </p:nvSpPr>
        <p:spPr>
          <a:xfrm>
            <a:off x="3736982" y="5630979"/>
            <a:ext cx="198270" cy="198270"/>
          </a:xfrm>
          <a:prstGeom prst="rect">
            <a:avLst/>
          </a:prstGeom>
          <a:solidFill>
            <a:srgbClr val="F2F4F5"/>
          </a:solidFill>
          <a:ln w="15240">
            <a:solidFill>
              <a:srgbClr val="626B73"/>
            </a:solidFill>
            <a:prstDash val="solid"/>
          </a:ln>
        </p:spPr>
      </p:sp>
      <p:sp>
        <p:nvSpPr>
          <p:cNvPr id="38" name="Text 36"/>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39" name="Shape 37"/>
          <p:cNvSpPr/>
          <p:nvPr/>
        </p:nvSpPr>
        <p:spPr>
          <a:xfrm>
            <a:off x="4593459" y="5730113"/>
            <a:ext cx="335533" cy="0"/>
          </a:xfrm>
          <a:prstGeom prst="line">
            <a:avLst/>
          </a:prstGeom>
          <a:noFill/>
          <a:ln w="22860">
            <a:solidFill>
              <a:srgbClr val="009E73"/>
            </a:solidFill>
            <a:prstDash val="solid"/>
            <a:tailEnd type="triangle"/>
          </a:ln>
        </p:spPr>
      </p:sp>
      <p:sp>
        <p:nvSpPr>
          <p:cNvPr id="40" name="Text 38"/>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1" name="Shape 39"/>
          <p:cNvSpPr/>
          <p:nvPr/>
        </p:nvSpPr>
        <p:spPr>
          <a:xfrm>
            <a:off x="5618644" y="5730113"/>
            <a:ext cx="335533" cy="0"/>
          </a:xfrm>
          <a:prstGeom prst="line">
            <a:avLst/>
          </a:prstGeom>
          <a:noFill/>
          <a:ln w="22860">
            <a:solidFill>
              <a:srgbClr val="D55E00"/>
            </a:solidFill>
            <a:prstDash val="dash"/>
            <a:tailEnd type="triangle"/>
          </a:ln>
        </p:spPr>
      </p:sp>
      <p:sp>
        <p:nvSpPr>
          <p:cNvPr id="42" name="Text 40"/>
          <p:cNvSpPr txBox="1"/>
          <p:nvPr/>
        </p:nvSpPr>
        <p:spPr>
          <a:xfrm>
            <a:off x="6015183"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3" name="Text 4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Are weights updated?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reverse (denoising) process is learned</a:t>
            </a:r>
            <a:endParaRPr lang="en-US" sz="3200" dirty="0"/>
          </a:p>
        </p:txBody>
      </p:sp>
      <p:sp>
        <p:nvSpPr>
          <p:cNvPr id="6" name="Shape 4"/>
          <p:cNvSpPr/>
          <p:nvPr/>
        </p:nvSpPr>
        <p:spPr>
          <a:xfrm>
            <a:off x="548640" y="1481328"/>
            <a:ext cx="11094415" cy="1920240"/>
          </a:xfrm>
          <a:prstGeom prst="roundRect">
            <a:avLst>
              <a:gd name="adj" fmla="val 5714"/>
            </a:avLst>
          </a:prstGeom>
          <a:solidFill>
            <a:srgbClr val="EEF0FF"/>
          </a:solidFill>
          <a:ln w="12700">
            <a:solidFill>
              <a:srgbClr val="EEF0FF"/>
            </a:solidFill>
            <a:prstDash val="solid"/>
          </a:ln>
        </p:spPr>
      </p:sp>
      <p:pic>
        <p:nvPicPr>
          <p:cNvPr id="7" name="Image 0" descr="C:\Users\sudee\Downloads\Generative_AI_2027_Teaching_Pack\AI2027_Project\build\eq\37500b96cc8b66b4.png">    </p:cNvPr>
          <p:cNvPicPr>
            <a:picLocks noChangeAspect="1"/>
          </p:cNvPicPr>
          <p:nvPr/>
        </p:nvPicPr>
        <p:blipFill>
          <a:blip r:embed="rId1"/>
          <a:stretch>
            <a:fillRect/>
          </a:stretch>
        </p:blipFill>
        <p:spPr>
          <a:xfrm>
            <a:off x="4113124" y="1741424"/>
            <a:ext cx="3965448" cy="399288"/>
          </a:xfrm>
          <a:prstGeom prst="rect">
            <a:avLst/>
          </a:prstGeom>
        </p:spPr>
      </p:pic>
      <p:pic>
        <p:nvPicPr>
          <p:cNvPr id="8" name="Image 1" descr="C:\Users\sudee\Downloads\Generative_AI_2027_Teaching_Pack\AI2027_Project\build\eq\88222636fa610694.png">    </p:cNvPr>
          <p:cNvPicPr>
            <a:picLocks noChangeAspect="1"/>
          </p:cNvPicPr>
          <p:nvPr/>
        </p:nvPicPr>
        <p:blipFill>
          <a:blip r:embed="rId2"/>
          <a:stretch>
            <a:fillRect/>
          </a:stretch>
        </p:blipFill>
        <p:spPr>
          <a:xfrm>
            <a:off x="3602584" y="2355088"/>
            <a:ext cx="4986528" cy="786384"/>
          </a:xfrm>
          <a:prstGeom prst="rect">
            <a:avLst/>
          </a:prstGeom>
        </p:spPr>
      </p:pic>
      <p:sp>
        <p:nvSpPr>
          <p:cNvPr id="9" name="Text 5"/>
          <p:cNvSpPr txBox="1"/>
          <p:nvPr/>
        </p:nvSpPr>
        <p:spPr>
          <a:xfrm>
            <a:off x="548640" y="363016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014216"/>
            <a:ext cx="6035040" cy="226771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Predict noise; calculate a reverse mean.</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Add sampling noise except at the end.</a:t>
            </a:r>
            <a:endParaRPr lang="en-US" sz="2000" dirty="0"/>
          </a:p>
        </p:txBody>
      </p:sp>
      <p:sp>
        <p:nvSpPr>
          <p:cNvPr id="11" name="Text 7"/>
          <p:cNvSpPr txBox="1"/>
          <p:nvPr/>
        </p:nvSpPr>
        <p:spPr>
          <a:xfrm>
            <a:off x="6858000" y="363016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041648"/>
            <a:ext cx="1143000" cy="453542"/>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3" name="Text 9"/>
          <p:cNvSpPr txBox="1"/>
          <p:nvPr/>
        </p:nvSpPr>
        <p:spPr>
          <a:xfrm>
            <a:off x="8046720" y="4041648"/>
            <a:ext cx="3596335" cy="453542"/>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network weights</a:t>
            </a:r>
            <a:endParaRPr lang="en-US" sz="1700" dirty="0"/>
          </a:p>
        </p:txBody>
      </p:sp>
      <p:sp>
        <p:nvSpPr>
          <p:cNvPr id="14" name="Text 10"/>
          <p:cNvSpPr txBox="1"/>
          <p:nvPr/>
        </p:nvSpPr>
        <p:spPr>
          <a:xfrm>
            <a:off x="6858000" y="4495190"/>
            <a:ext cx="1143000" cy="453542"/>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μ</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5" name="Text 11"/>
          <p:cNvSpPr txBox="1"/>
          <p:nvPr/>
        </p:nvSpPr>
        <p:spPr>
          <a:xfrm>
            <a:off x="8046720" y="4495190"/>
            <a:ext cx="3596335" cy="453542"/>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reverse mean</a:t>
            </a:r>
            <a:endParaRPr lang="en-US" sz="1700" dirty="0"/>
          </a:p>
        </p:txBody>
      </p:sp>
      <p:sp>
        <p:nvSpPr>
          <p:cNvPr id="16" name="Text 12"/>
          <p:cNvSpPr txBox="1"/>
          <p:nvPr/>
        </p:nvSpPr>
        <p:spPr>
          <a:xfrm>
            <a:off x="6858000" y="4948733"/>
            <a:ext cx="1143000" cy="453542"/>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σₜ²</a:t>
            </a:r>
            <a:endParaRPr lang="en-US" sz="1800" dirty="0"/>
          </a:p>
        </p:txBody>
      </p:sp>
      <p:sp>
        <p:nvSpPr>
          <p:cNvPr id="17" name="Text 13"/>
          <p:cNvSpPr txBox="1"/>
          <p:nvPr/>
        </p:nvSpPr>
        <p:spPr>
          <a:xfrm>
            <a:off x="8046720" y="4948733"/>
            <a:ext cx="3596335" cy="453542"/>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sampling variance</a:t>
            </a:r>
            <a:endParaRPr lang="en-US" sz="1700" dirty="0"/>
          </a:p>
        </p:txBody>
      </p:sp>
      <p:sp>
        <p:nvSpPr>
          <p:cNvPr id="18" name="Text 14"/>
          <p:cNvSpPr txBox="1"/>
          <p:nvPr/>
        </p:nvSpPr>
        <p:spPr>
          <a:xfrm>
            <a:off x="6858000" y="5402275"/>
            <a:ext cx="1143000" cy="453542"/>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ε</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9" name="Text 15"/>
          <p:cNvSpPr txBox="1"/>
          <p:nvPr/>
        </p:nvSpPr>
        <p:spPr>
          <a:xfrm>
            <a:off x="8046720" y="5402275"/>
            <a:ext cx="3596335" cy="453542"/>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predicted noise</a:t>
            </a:r>
            <a:endParaRPr lang="en-US" sz="1700" dirty="0"/>
          </a:p>
        </p:txBody>
      </p:sp>
      <p:sp>
        <p:nvSpPr>
          <p:cNvPr id="20" name="Text 16"/>
          <p:cNvSpPr txBox="1"/>
          <p:nvPr/>
        </p:nvSpPr>
        <p:spPr>
          <a:xfrm>
            <a:off x="6858000" y="5855818"/>
            <a:ext cx="1143000" cy="453542"/>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αₜ</a:t>
            </a:r>
            <a:endParaRPr lang="en-US" sz="1800" dirty="0"/>
          </a:p>
        </p:txBody>
      </p:sp>
      <p:sp>
        <p:nvSpPr>
          <p:cNvPr id="21" name="Text 17"/>
          <p:cNvSpPr txBox="1"/>
          <p:nvPr/>
        </p:nvSpPr>
        <p:spPr>
          <a:xfrm>
            <a:off x="8046720" y="5855818"/>
            <a:ext cx="3596335" cy="453542"/>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1 − βₜ</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Create one noise-prediction training example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Known target</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x₀</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x₀, t, ε</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xₜ, t</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ε̂</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7" name="Shape 15"/>
          <p:cNvSpPr/>
          <p:nvPr/>
        </p:nvSpPr>
        <p:spPr>
          <a:xfrm>
            <a:off x="3381080" y="4738766"/>
            <a:ext cx="0" cy="198270"/>
          </a:xfrm>
          <a:prstGeom prst="line">
            <a:avLst/>
          </a:prstGeom>
          <a:noFill/>
          <a:ln w="22860">
            <a:solidFill>
              <a:srgbClr val="0072B2"/>
            </a:solidFill>
            <a:prstDash val="solid"/>
          </a:ln>
        </p:spPr>
      </p:sp>
      <p:sp>
        <p:nvSpPr>
          <p:cNvPr id="18" name="Shape 16"/>
          <p:cNvSpPr/>
          <p:nvPr/>
        </p:nvSpPr>
        <p:spPr>
          <a:xfrm>
            <a:off x="3381080" y="4937035"/>
            <a:ext cx="5429535" cy="0"/>
          </a:xfrm>
          <a:prstGeom prst="line">
            <a:avLst/>
          </a:prstGeom>
          <a:noFill/>
          <a:ln w="22860">
            <a:solidFill>
              <a:srgbClr val="0072B2"/>
            </a:solidFill>
            <a:prstDash val="solid"/>
          </a:ln>
        </p:spPr>
      </p:sp>
      <p:sp>
        <p:nvSpPr>
          <p:cNvPr id="19" name="Shape 17"/>
          <p:cNvSpPr/>
          <p:nvPr/>
        </p:nvSpPr>
        <p:spPr>
          <a:xfrm flipV="1">
            <a:off x="8810615" y="4738766"/>
            <a:ext cx="0" cy="198270"/>
          </a:xfrm>
          <a:prstGeom prst="line">
            <a:avLst/>
          </a:prstGeom>
          <a:noFill/>
          <a:ln w="22860">
            <a:solidFill>
              <a:srgbClr val="0072B2"/>
            </a:solidFill>
            <a:prstDash val="solid"/>
            <a:tailEnd type="triangle"/>
          </a:ln>
        </p:spPr>
      </p:sp>
      <p:sp>
        <p:nvSpPr>
          <p:cNvPr id="20" name="Text 18"/>
          <p:cNvSpPr txBox="1"/>
          <p:nvPr/>
        </p:nvSpPr>
        <p:spPr>
          <a:xfrm>
            <a:off x="5754595" y="4967538"/>
            <a:ext cx="682505"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ε target</a:t>
            </a:r>
            <a:endParaRPr lang="en-US" sz="1441" dirty="0"/>
          </a:p>
        </p:txBody>
      </p:sp>
      <p:sp>
        <p:nvSpPr>
          <p:cNvPr id="21" name="Shape 19"/>
          <p:cNvSpPr/>
          <p:nvPr/>
        </p:nvSpPr>
        <p:spPr>
          <a:xfrm flipV="1">
            <a:off x="10620460" y="2191765"/>
            <a:ext cx="0" cy="747324"/>
          </a:xfrm>
          <a:prstGeom prst="line">
            <a:avLst/>
          </a:prstGeom>
          <a:noFill/>
          <a:ln w="22860">
            <a:solidFill>
              <a:srgbClr val="D55E00"/>
            </a:solidFill>
            <a:prstDash val="dash"/>
          </a:ln>
        </p:spPr>
      </p:sp>
      <p:sp>
        <p:nvSpPr>
          <p:cNvPr id="22" name="Shape 20"/>
          <p:cNvSpPr/>
          <p:nvPr/>
        </p:nvSpPr>
        <p:spPr>
          <a:xfrm flipH="1">
            <a:off x="1571235" y="2191765"/>
            <a:ext cx="9049224" cy="0"/>
          </a:xfrm>
          <a:prstGeom prst="line">
            <a:avLst/>
          </a:prstGeom>
          <a:noFill/>
          <a:ln w="22860">
            <a:solidFill>
              <a:srgbClr val="D55E00"/>
            </a:solidFill>
            <a:prstDash val="dash"/>
          </a:ln>
        </p:spPr>
      </p:sp>
      <p:sp>
        <p:nvSpPr>
          <p:cNvPr id="23" name="Shape 21"/>
          <p:cNvSpPr/>
          <p:nvPr/>
        </p:nvSpPr>
        <p:spPr>
          <a:xfrm>
            <a:off x="1571235" y="2191765"/>
            <a:ext cx="0" cy="747324"/>
          </a:xfrm>
          <a:prstGeom prst="line">
            <a:avLst/>
          </a:prstGeom>
          <a:noFill/>
          <a:ln w="22860">
            <a:solidFill>
              <a:srgbClr val="D55E00"/>
            </a:solidFill>
            <a:prstDash val="dash"/>
            <a:tailEnd type="triangle"/>
          </a:ln>
        </p:spPr>
      </p:sp>
      <p:sp>
        <p:nvSpPr>
          <p:cNvPr id="24" name="Text 22"/>
          <p:cNvSpPr txBox="1"/>
          <p:nvPr/>
        </p:nvSpPr>
        <p:spPr>
          <a:xfrm>
            <a:off x="5759994"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5" name="Shape 23"/>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6" name="Text 24"/>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Data</a:t>
            </a:r>
            <a:endParaRPr lang="en-US" sz="1561" dirty="0"/>
          </a:p>
        </p:txBody>
      </p:sp>
      <p:sp>
        <p:nvSpPr>
          <p:cNvPr id="27" name="Text 25"/>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[B,2]</a:t>
            </a:r>
            <a:endParaRPr lang="en-US" sz="1441" dirty="0"/>
          </a:p>
        </p:txBody>
      </p:sp>
      <p:sp>
        <p:nvSpPr>
          <p:cNvPr id="28" name="Shape 26"/>
          <p:cNvSpPr/>
          <p:nvPr/>
        </p:nvSpPr>
        <p:spPr>
          <a:xfrm>
            <a:off x="2598170" y="2939089"/>
            <a:ext cx="1565821" cy="1799677"/>
          </a:xfrm>
          <a:prstGeom prst="roundRect">
            <a:avLst>
              <a:gd name="adj" fmla="val 4672"/>
            </a:avLst>
          </a:prstGeom>
          <a:solidFill>
            <a:srgbClr val="E4F2FB"/>
          </a:solidFill>
          <a:ln w="15240">
            <a:solidFill>
              <a:srgbClr val="0072B2"/>
            </a:solidFill>
            <a:prstDash val="solid"/>
          </a:ln>
        </p:spPr>
      </p:sp>
      <p:sp>
        <p:nvSpPr>
          <p:cNvPr id="29" name="Text 27"/>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 t, ε</a:t>
            </a:r>
            <a:endParaRPr lang="en-US" sz="1561" dirty="0"/>
          </a:p>
        </p:txBody>
      </p:sp>
      <p:sp>
        <p:nvSpPr>
          <p:cNvPr id="30" name="Text 28"/>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Gaussian</a:t>
            </a:r>
            <a:endParaRPr lang="en-US" sz="1441" dirty="0"/>
          </a:p>
        </p:txBody>
      </p:sp>
      <p:sp>
        <p:nvSpPr>
          <p:cNvPr id="31" name="Shape 29"/>
          <p:cNvSpPr/>
          <p:nvPr/>
        </p:nvSpPr>
        <p:spPr>
          <a:xfrm>
            <a:off x="4408015" y="2939089"/>
            <a:ext cx="1565821" cy="1799677"/>
          </a:xfrm>
          <a:prstGeom prst="rect">
            <a:avLst/>
          </a:prstGeom>
          <a:solidFill>
            <a:srgbClr val="F2F4F5"/>
          </a:solidFill>
          <a:ln w="15240">
            <a:solidFill>
              <a:srgbClr val="626B73"/>
            </a:solidFill>
            <a:prstDash val="solid"/>
          </a:ln>
        </p:spPr>
      </p:sp>
      <p:sp>
        <p:nvSpPr>
          <p:cNvPr id="32" name="Text 30"/>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Mix</a:t>
            </a:r>
            <a:endParaRPr lang="en-US" sz="1561" dirty="0"/>
          </a:p>
        </p:txBody>
      </p:sp>
      <p:sp>
        <p:nvSpPr>
          <p:cNvPr id="33" name="Text 31"/>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coefficients</a:t>
            </a:r>
            <a:endParaRPr lang="en-US" sz="1441" dirty="0"/>
          </a:p>
        </p:txBody>
      </p:sp>
      <p:sp>
        <p:nvSpPr>
          <p:cNvPr id="34" name="Shape 32"/>
          <p:cNvSpPr/>
          <p:nvPr/>
        </p:nvSpPr>
        <p:spPr>
          <a:xfrm>
            <a:off x="6217860" y="2939089"/>
            <a:ext cx="1565821" cy="1799677"/>
          </a:xfrm>
          <a:prstGeom prst="rect">
            <a:avLst/>
          </a:prstGeom>
          <a:solidFill>
            <a:srgbClr val="E5F7EF"/>
          </a:solidFill>
          <a:ln w="15240">
            <a:solidFill>
              <a:srgbClr val="009E73"/>
            </a:solidFill>
            <a:prstDash val="solid"/>
          </a:ln>
        </p:spPr>
      </p:sp>
      <p:sp>
        <p:nvSpPr>
          <p:cNvPr id="35" name="Text 33"/>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 noise</a:t>
            </a:r>
            <a:endParaRPr lang="en-US" sz="1561" dirty="0"/>
          </a:p>
        </p:txBody>
      </p:sp>
      <p:sp>
        <p:nvSpPr>
          <p:cNvPr id="36" name="Text 34"/>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[B,2]</a:t>
            </a:r>
            <a:endParaRPr lang="en-US" sz="1441" dirty="0"/>
          </a:p>
        </p:txBody>
      </p:sp>
      <p:sp>
        <p:nvSpPr>
          <p:cNvPr id="37" name="Text 35"/>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EpsMLP.forward</a:t>
            </a:r>
            <a:endParaRPr lang="en-US" sz="1441" dirty="0"/>
          </a:p>
        </p:txBody>
      </p:sp>
      <p:sp>
        <p:nvSpPr>
          <p:cNvPr id="38" name="Shape 36"/>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9" name="Text 37"/>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40" name="Text 38"/>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MSE</a:t>
            </a:r>
            <a:endParaRPr lang="en-US" sz="1441" dirty="0"/>
          </a:p>
        </p:txBody>
      </p:sp>
      <p:sp>
        <p:nvSpPr>
          <p:cNvPr id="41" name="Shape 39"/>
          <p:cNvSpPr/>
          <p:nvPr/>
        </p:nvSpPr>
        <p:spPr>
          <a:xfrm>
            <a:off x="9837549" y="2939089"/>
            <a:ext cx="1565821" cy="1799677"/>
          </a:xfrm>
          <a:prstGeom prst="rect">
            <a:avLst/>
          </a:prstGeom>
          <a:solidFill>
            <a:srgbClr val="F2F4F5"/>
          </a:solidFill>
          <a:ln w="15240">
            <a:solidFill>
              <a:srgbClr val="626B73"/>
            </a:solidFill>
            <a:prstDash val="solid"/>
          </a:ln>
        </p:spPr>
      </p:sp>
      <p:sp>
        <p:nvSpPr>
          <p:cNvPr id="42" name="Text 40"/>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43" name="Text 41"/>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Adam</a:t>
            </a:r>
            <a:endParaRPr lang="en-US" sz="1441" dirty="0"/>
          </a:p>
        </p:txBody>
      </p:sp>
      <p:sp>
        <p:nvSpPr>
          <p:cNvPr id="44" name="Shape 42"/>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5" name="Text 43"/>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6" name="Shape 44"/>
          <p:cNvSpPr/>
          <p:nvPr/>
        </p:nvSpPr>
        <p:spPr>
          <a:xfrm>
            <a:off x="1676436" y="5630979"/>
            <a:ext cx="198270" cy="198270"/>
          </a:xfrm>
          <a:prstGeom prst="rect">
            <a:avLst/>
          </a:prstGeom>
          <a:solidFill>
            <a:srgbClr val="E5F7EF"/>
          </a:solidFill>
          <a:ln w="15240">
            <a:solidFill>
              <a:srgbClr val="009E73"/>
            </a:solidFill>
            <a:prstDash val="solid"/>
          </a:ln>
        </p:spPr>
      </p:sp>
      <p:sp>
        <p:nvSpPr>
          <p:cNvPr id="47" name="Text 45"/>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8" name="Shape 46"/>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9" name="Text 47"/>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50" name="Shape 48"/>
          <p:cNvSpPr/>
          <p:nvPr/>
        </p:nvSpPr>
        <p:spPr>
          <a:xfrm>
            <a:off x="3568395" y="5630979"/>
            <a:ext cx="198270" cy="198270"/>
          </a:xfrm>
          <a:prstGeom prst="rect">
            <a:avLst/>
          </a:prstGeom>
          <a:solidFill>
            <a:srgbClr val="F2F4F5"/>
          </a:solidFill>
          <a:ln w="15240">
            <a:solidFill>
              <a:srgbClr val="626B73"/>
            </a:solidFill>
            <a:prstDash val="solid"/>
          </a:ln>
        </p:spPr>
      </p:sp>
      <p:sp>
        <p:nvSpPr>
          <p:cNvPr id="51" name="Text 49"/>
          <p:cNvSpPr txBox="1"/>
          <p:nvPr/>
        </p:nvSpPr>
        <p:spPr>
          <a:xfrm>
            <a:off x="3827671"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2" name="Shape 50"/>
          <p:cNvSpPr/>
          <p:nvPr/>
        </p:nvSpPr>
        <p:spPr>
          <a:xfrm>
            <a:off x="4424872" y="5730113"/>
            <a:ext cx="335533" cy="0"/>
          </a:xfrm>
          <a:prstGeom prst="line">
            <a:avLst/>
          </a:prstGeom>
          <a:noFill/>
          <a:ln w="22860">
            <a:solidFill>
              <a:srgbClr val="009E73"/>
            </a:solidFill>
            <a:prstDash val="solid"/>
            <a:tailEnd type="triangle"/>
          </a:ln>
        </p:spPr>
      </p:sp>
      <p:sp>
        <p:nvSpPr>
          <p:cNvPr id="53" name="Text 51"/>
          <p:cNvSpPr txBox="1"/>
          <p:nvPr/>
        </p:nvSpPr>
        <p:spPr>
          <a:xfrm>
            <a:off x="482141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4" name="Shape 52"/>
          <p:cNvSpPr/>
          <p:nvPr/>
        </p:nvSpPr>
        <p:spPr>
          <a:xfrm>
            <a:off x="5450057" y="5730113"/>
            <a:ext cx="335533" cy="0"/>
          </a:xfrm>
          <a:prstGeom prst="line">
            <a:avLst/>
          </a:prstGeom>
          <a:noFill/>
          <a:ln w="22860">
            <a:solidFill>
              <a:srgbClr val="D55E00"/>
            </a:solidFill>
            <a:prstDash val="dash"/>
            <a:tailEnd type="triangle"/>
          </a:ln>
        </p:spPr>
      </p:sp>
      <p:sp>
        <p:nvSpPr>
          <p:cNvPr id="55" name="Text 53"/>
          <p:cNvSpPr txBox="1"/>
          <p:nvPr/>
        </p:nvSpPr>
        <p:spPr>
          <a:xfrm>
            <a:off x="584659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6" name="Text 54"/>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Earlier steps required?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Training objective: predict the noise</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8b9fd35caeeba30a.png">    </p:cNvPr>
          <p:cNvPicPr>
            <a:picLocks noChangeAspect="1"/>
          </p:cNvPicPr>
          <p:nvPr/>
        </p:nvPicPr>
        <p:blipFill>
          <a:blip r:embed="rId1"/>
          <a:stretch>
            <a:fillRect/>
          </a:stretch>
        </p:blipFill>
        <p:spPr>
          <a:xfrm>
            <a:off x="2740000" y="1892808"/>
            <a:ext cx="6711696" cy="50292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Draw data, time and noise.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Make noisy input; predict its noise.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Minimise squared error.</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Scalar error: (−0.5 + 0.3)² = 0.04.</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t</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selected timestep</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ε</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known noise target</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ε</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predicted noise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Training and sampling in a few lines</a:t>
            </a:r>
            <a:endParaRPr lang="en-US" sz="3200" dirty="0"/>
          </a:p>
        </p:txBody>
      </p:sp>
      <p:sp>
        <p:nvSpPr>
          <p:cNvPr id="6" name="Shape 4"/>
          <p:cNvSpPr/>
          <p:nvPr/>
        </p:nvSpPr>
        <p:spPr>
          <a:xfrm>
            <a:off x="548640" y="1481328"/>
            <a:ext cx="6949440" cy="3291840"/>
          </a:xfrm>
          <a:prstGeom prst="roundRect">
            <a:avLst>
              <a:gd name="adj" fmla="val 2778"/>
            </a:avLst>
          </a:prstGeom>
          <a:solidFill>
            <a:srgbClr val="1E1E2E"/>
          </a:solidFill>
          <a:ln w="12700">
            <a:solidFill>
              <a:srgbClr val="1E1E2E"/>
            </a:solidFill>
            <a:prstDash val="solid"/>
          </a:ln>
        </p:spPr>
      </p:sp>
      <p:sp>
        <p:nvSpPr>
          <p:cNvPr id="7" name="Text 5"/>
          <p:cNvSpPr txBox="1"/>
          <p:nvPr/>
        </p:nvSpPr>
        <p:spPr>
          <a:xfrm>
            <a:off x="685800" y="1591056"/>
            <a:ext cx="6675120" cy="3072384"/>
          </a:xfrm>
          <a:prstGeom prst="rect">
            <a:avLst/>
          </a:prstGeom>
          <a:noFill/>
          <a:ln/>
        </p:spPr>
        <p:txBody>
          <a:bodyPr wrap="square" lIns="76200" tIns="76200" rIns="76200" bIns="76200" rtlCol="0" anchor="t"/>
          <a:lstStyle/>
          <a:p>
            <a:pPr indent="0" marL="0">
              <a:lnSpc>
                <a:spcPct val="100000"/>
              </a:lnSpc>
              <a:buNone/>
            </a:pPr>
            <a:r>
              <a:rPr lang="en-US" sz="2000" dirty="0">
                <a:solidFill>
                  <a:srgbClr val="9CA3AF"/>
                </a:solidFill>
                <a:latin typeface="Consolas" pitchFamily="34" charset="0"/>
                <a:ea typeface="Consolas" pitchFamily="34" charset="-122"/>
                <a:cs typeface="Consolas" pitchFamily="34" charset="-120"/>
              </a:rPr>
              <a:t># Illustrative pseudocode</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t, eps = draw_training_pair(x0)</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xt = q_sample(x0, t, eps)</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loss = mse(model(xt, t), eps)</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update_weights(loss)</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a:t>
            </a:r>
            <a:endParaRPr lang="en-US" sz="2000" dirty="0"/>
          </a:p>
          <a:p>
            <a:pPr indent="0" marL="0">
              <a:lnSpc>
                <a:spcPct val="100000"/>
              </a:lnSpc>
              <a:buNone/>
            </a:pPr>
            <a:r>
              <a:rPr lang="en-US" sz="2000" dirty="0">
                <a:solidFill>
                  <a:srgbClr val="9CA3AF"/>
                </a:solidFill>
                <a:latin typeface="Consolas" pitchFamily="34" charset="0"/>
                <a:ea typeface="Consolas" pitchFamily="34" charset="-122"/>
                <a:cs typeface="Consolas" pitchFamily="34" charset="-120"/>
              </a:rPr>
              <a:t># Fixed weights during sampling</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for t in reversed_schedule:</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x = reverse_step(model, x, t, schedule)</a:t>
            </a:r>
            <a:endParaRPr lang="en-US" sz="20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Full algorithm: Word notes and notebook.</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score-based view (Song et al., 2021)</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Score: direction towards higher noisy-data density.</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Rescale predicted noise to estimate it.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SDE adds randomness; ODE has deterministic dynamics.</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Quantity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Illustration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Noise estimate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−0.2</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Noise scale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0.5</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Score estimate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+0.4</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900" b="1" dirty="0">
                <a:solidFill>
                  <a:srgbClr val="1E1B4B"/>
                </a:solidFill>
                <a:latin typeface="Calibri" pitchFamily="34" charset="0"/>
                <a:ea typeface="Calibri" pitchFamily="34" charset="-122"/>
                <a:cs typeface="Calibri" pitchFamily="34" charset="-120"/>
              </a:rPr>
              <a:t>A real diffusion model on 2-D data: noise becomes structure</a:t>
            </a:r>
            <a:endParaRPr lang="en-US" sz="2900" dirty="0"/>
          </a:p>
        </p:txBody>
      </p:sp>
      <p:pic>
        <p:nvPicPr>
          <p:cNvPr id="6" name="Image 0" descr="C:\Users\sudee\Downloads\Generative_AI_2027_Teaching_Pack\AI2027_Project\build\figures\week_04\reverse_2d_slide.png">    </p:cNvPr>
          <p:cNvPicPr>
            <a:picLocks noChangeAspect="1"/>
          </p:cNvPicPr>
          <p:nvPr/>
        </p:nvPicPr>
        <p:blipFill>
          <a:blip r:embed="rId1"/>
          <a:stretch>
            <a:fillRect/>
          </a:stretch>
        </p:blipFill>
        <p:spPr>
          <a:xfrm>
            <a:off x="548640" y="1817447"/>
            <a:ext cx="11094415" cy="2283559"/>
          </a:xfrm>
          <a:prstGeom prst="rect">
            <a:avLst/>
          </a:prstGeom>
        </p:spPr>
      </p:pic>
      <p:sp>
        <p:nvSpPr>
          <p:cNvPr id="7" name="Text 4"/>
          <p:cNvSpPr txBox="1"/>
          <p:nvPr/>
        </p:nvSpPr>
        <p:spPr>
          <a:xfrm>
            <a:off x="548640" y="4283887"/>
            <a:ext cx="11094415" cy="1613993"/>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Stored run: 2,000 points, indices 199…0.</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Structure appears as noise is reduced.</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the spiral's uneven coverage.</a:t>
            </a:r>
            <a:endParaRPr lang="en-US" sz="20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Stored MLP run: grey training points; blue generated states. The CPU core uses a shorter training budget.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MNIST diffusion run</a:t>
            </a:r>
            <a:endParaRPr lang="en-US" sz="3200" dirty="0"/>
          </a:p>
        </p:txBody>
      </p:sp>
      <p:pic>
        <p:nvPicPr>
          <p:cNvPr id="6" name="Image 0" descr="C:\Users\sudee\Downloads\Generative_AI_2027_Teaching_Pack\AI2027_Project\build\figures\week_04\reverse_mnist_slide.png">    </p:cNvPr>
          <p:cNvPicPr>
            <a:picLocks noChangeAspect="1"/>
          </p:cNvPicPr>
          <p:nvPr/>
        </p:nvPicPr>
        <p:blipFill>
          <a:blip r:embed="rId1"/>
          <a:stretch>
            <a:fillRect/>
          </a:stretch>
        </p:blipFill>
        <p:spPr>
          <a:xfrm>
            <a:off x="1192936" y="1481328"/>
            <a:ext cx="5386529" cy="4416552"/>
          </a:xfrm>
          <a:prstGeom prst="rect">
            <a:avLst/>
          </a:prstGeom>
        </p:spPr>
      </p:pic>
      <p:sp>
        <p:nvSpPr>
          <p:cNvPr id="7" name="Text 4"/>
          <p:cNvSpPr txBox="1"/>
          <p:nvPr/>
        </p:nvSpPr>
        <p:spPr>
          <a:xfrm>
            <a:off x="7498080" y="1481328"/>
            <a:ext cx="4144975" cy="441655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Noise becomes digit-like structure.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254,337 parameters; 8 min on an NVIDIA GTX 1650 laptop GPU.</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malformed digits and variety.</a:t>
            </a:r>
            <a:endParaRPr lang="en-US" sz="2000" dirty="0"/>
          </a:p>
        </p:txBody>
      </p:sp>
      <p:sp>
        <p:nvSpPr>
          <p:cNvPr id="8" name="Text 5"/>
          <p:cNvSpPr txBox="1"/>
          <p:nvPr/>
        </p:nvSpPr>
        <p:spPr>
          <a:xfrm>
            <a:off x="548640" y="5916168"/>
            <a:ext cx="6675120"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Separate measured image-training run; MNIST training is an optional lab stretch.</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DDPM training predicts which target?</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Clean data</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Next pixel</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Class label</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Added noise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Architecture and latent diffusion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network does the denoising, and how does text get in?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900" b="1" dirty="0">
                <a:solidFill>
                  <a:srgbClr val="1E1B4B"/>
                </a:solidFill>
                <a:latin typeface="Calibri" pitchFamily="34" charset="0"/>
                <a:ea typeface="Calibri" pitchFamily="34" charset="-122"/>
                <a:cs typeface="Calibri" pitchFamily="34" charset="-120"/>
              </a:rPr>
              <a:t>Two denoiser architectures: U-Net and diffusion transformer</a:t>
            </a:r>
            <a:endParaRPr lang="en-US" sz="2900" dirty="0"/>
          </a:p>
        </p:txBody>
      </p:sp>
      <p:pic>
        <p:nvPicPr>
          <p:cNvPr id="6" name="Image 0" descr="C:\Users\sudee\Downloads\Generative_AI_2027_Teaching_Pack\AI2027_Project\build\figures\week_04\unet_dit.png">    </p:cNvPr>
          <p:cNvPicPr>
            <a:picLocks noChangeAspect="1"/>
          </p:cNvPicPr>
          <p:nvPr/>
        </p:nvPicPr>
        <p:blipFill>
          <a:blip r:embed="rId1"/>
          <a:stretch>
            <a:fillRect/>
          </a:stretch>
        </p:blipFill>
        <p:spPr>
          <a:xfrm>
            <a:off x="1829167" y="1481328"/>
            <a:ext cx="8533361" cy="48280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From a text prompt to image pixels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Condition, sample, decode</a:t>
            </a:r>
            <a:endParaRPr lang="en-US" sz="1800" dirty="0"/>
          </a:p>
        </p:txBody>
      </p:sp>
      <p:sp>
        <p:nvSpPr>
          <p:cNvPr id="7" name="Shape 5"/>
          <p:cNvSpPr/>
          <p:nvPr/>
        </p:nvSpPr>
        <p:spPr>
          <a:xfrm>
            <a:off x="4163991" y="3838927"/>
            <a:ext cx="244024" cy="0"/>
          </a:xfrm>
          <a:prstGeom prst="line">
            <a:avLst/>
          </a:prstGeom>
          <a:noFill/>
          <a:ln w="22860">
            <a:solidFill>
              <a:srgbClr val="009E73"/>
            </a:solidFill>
            <a:prstDash val="solid"/>
            <a:tailEnd type="triangle"/>
          </a:ln>
        </p:spPr>
      </p:sp>
      <p:sp>
        <p:nvSpPr>
          <p:cNvPr id="8" name="Text 6"/>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latent</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noise</a:t>
            </a:r>
            <a:endParaRPr lang="en-US" sz="1441" dirty="0"/>
          </a:p>
        </p:txBody>
      </p:sp>
      <p:sp>
        <p:nvSpPr>
          <p:cNvPr id="11" name="Shape 9"/>
          <p:cNvSpPr/>
          <p:nvPr/>
        </p:nvSpPr>
        <p:spPr>
          <a:xfrm>
            <a:off x="7783680" y="3838927"/>
            <a:ext cx="244024" cy="0"/>
          </a:xfrm>
          <a:prstGeom prst="line">
            <a:avLst/>
          </a:prstGeom>
          <a:noFill/>
          <a:ln w="22860">
            <a:solidFill>
              <a:srgbClr val="009E73"/>
            </a:solidFill>
            <a:prstDash val="solid"/>
            <a:tailEnd type="triangle"/>
          </a:ln>
        </p:spPr>
      </p:sp>
      <p:sp>
        <p:nvSpPr>
          <p:cNvPr id="12" name="Text 10"/>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final latent</a:t>
            </a:r>
            <a:endParaRPr lang="en-US" sz="1441" dirty="0"/>
          </a:p>
        </p:txBody>
      </p:sp>
      <p:sp>
        <p:nvSpPr>
          <p:cNvPr id="13" name="Shape 11"/>
          <p:cNvSpPr/>
          <p:nvPr/>
        </p:nvSpPr>
        <p:spPr>
          <a:xfrm>
            <a:off x="9593525" y="3838927"/>
            <a:ext cx="244024" cy="0"/>
          </a:xfrm>
          <a:prstGeom prst="line">
            <a:avLst/>
          </a:prstGeom>
          <a:noFill/>
          <a:ln w="22860">
            <a:solidFill>
              <a:srgbClr val="009E73"/>
            </a:solidFill>
            <a:prstDash val="solid"/>
            <a:tailEnd type="triangle"/>
          </a:ln>
        </p:spPr>
      </p:sp>
      <p:sp>
        <p:nvSpPr>
          <p:cNvPr id="14" name="Text 12"/>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15" name="Shape 13"/>
          <p:cNvSpPr/>
          <p:nvPr/>
        </p:nvSpPr>
        <p:spPr>
          <a:xfrm>
            <a:off x="1571235" y="4738766"/>
            <a:ext cx="0" cy="198270"/>
          </a:xfrm>
          <a:prstGeom prst="line">
            <a:avLst/>
          </a:prstGeom>
          <a:noFill/>
          <a:ln w="22860">
            <a:solidFill>
              <a:srgbClr val="0072B2"/>
            </a:solidFill>
            <a:prstDash val="solid"/>
          </a:ln>
        </p:spPr>
      </p:sp>
      <p:sp>
        <p:nvSpPr>
          <p:cNvPr id="16" name="Shape 14"/>
          <p:cNvSpPr/>
          <p:nvPr/>
        </p:nvSpPr>
        <p:spPr>
          <a:xfrm>
            <a:off x="1571235" y="4937035"/>
            <a:ext cx="3619690" cy="0"/>
          </a:xfrm>
          <a:prstGeom prst="line">
            <a:avLst/>
          </a:prstGeom>
          <a:noFill/>
          <a:ln w="22860">
            <a:solidFill>
              <a:srgbClr val="0072B2"/>
            </a:solidFill>
            <a:prstDash val="solid"/>
          </a:ln>
        </p:spPr>
      </p:sp>
      <p:sp>
        <p:nvSpPr>
          <p:cNvPr id="17" name="Shape 15"/>
          <p:cNvSpPr/>
          <p:nvPr/>
        </p:nvSpPr>
        <p:spPr>
          <a:xfrm flipV="1">
            <a:off x="5190925" y="4738766"/>
            <a:ext cx="0" cy="198270"/>
          </a:xfrm>
          <a:prstGeom prst="line">
            <a:avLst/>
          </a:prstGeom>
          <a:noFill/>
          <a:ln w="22860">
            <a:solidFill>
              <a:srgbClr val="0072B2"/>
            </a:solidFill>
            <a:prstDash val="solid"/>
            <a:tailEnd type="triangle"/>
          </a:ln>
        </p:spPr>
      </p:sp>
      <p:sp>
        <p:nvSpPr>
          <p:cNvPr id="18" name="Text 16"/>
          <p:cNvSpPr txBox="1"/>
          <p:nvPr/>
        </p:nvSpPr>
        <p:spPr>
          <a:xfrm>
            <a:off x="2866316" y="4967538"/>
            <a:ext cx="1029529"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 vectors</a:t>
            </a:r>
            <a:endParaRPr lang="en-US" sz="1441" dirty="0"/>
          </a:p>
        </p:txBody>
      </p:sp>
      <p:sp>
        <p:nvSpPr>
          <p:cNvPr id="19" name="Shape 17"/>
          <p:cNvSpPr/>
          <p:nvPr/>
        </p:nvSpPr>
        <p:spPr>
          <a:xfrm flipV="1">
            <a:off x="7000770" y="2191765"/>
            <a:ext cx="0" cy="747324"/>
          </a:xfrm>
          <a:prstGeom prst="line">
            <a:avLst/>
          </a:prstGeom>
          <a:noFill/>
          <a:ln w="22860">
            <a:solidFill>
              <a:srgbClr val="D55E00"/>
            </a:solidFill>
            <a:prstDash val="dash"/>
          </a:ln>
        </p:spPr>
      </p:sp>
      <p:sp>
        <p:nvSpPr>
          <p:cNvPr id="20" name="Shape 18"/>
          <p:cNvSpPr/>
          <p:nvPr/>
        </p:nvSpPr>
        <p:spPr>
          <a:xfrm flipH="1">
            <a:off x="5190925" y="2191765"/>
            <a:ext cx="1809845" cy="0"/>
          </a:xfrm>
          <a:prstGeom prst="line">
            <a:avLst/>
          </a:prstGeom>
          <a:noFill/>
          <a:ln w="22860">
            <a:solidFill>
              <a:srgbClr val="D55E00"/>
            </a:solidFill>
            <a:prstDash val="dash"/>
          </a:ln>
        </p:spPr>
      </p:sp>
      <p:sp>
        <p:nvSpPr>
          <p:cNvPr id="21" name="Shape 19"/>
          <p:cNvSpPr/>
          <p:nvPr/>
        </p:nvSpPr>
        <p:spPr>
          <a:xfrm>
            <a:off x="5190925" y="2191765"/>
            <a:ext cx="0" cy="747324"/>
          </a:xfrm>
          <a:prstGeom prst="line">
            <a:avLst/>
          </a:prstGeom>
          <a:noFill/>
          <a:ln w="22860">
            <a:solidFill>
              <a:srgbClr val="D55E00"/>
            </a:solidFill>
            <a:prstDash val="dash"/>
            <a:tailEnd type="triangle"/>
          </a:ln>
        </p:spPr>
      </p:sp>
      <p:sp>
        <p:nvSpPr>
          <p:cNvPr id="22" name="Text 20"/>
          <p:cNvSpPr txBox="1"/>
          <p:nvPr/>
        </p:nvSpPr>
        <p:spPr>
          <a:xfrm>
            <a:off x="5759994"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3" name="Shape 21"/>
          <p:cNvSpPr/>
          <p:nvPr/>
        </p:nvSpPr>
        <p:spPr>
          <a:xfrm>
            <a:off x="788325" y="2939089"/>
            <a:ext cx="1565821" cy="1799677"/>
          </a:xfrm>
          <a:prstGeom prst="rect">
            <a:avLst/>
          </a:prstGeom>
          <a:solidFill>
            <a:srgbClr val="E5F7EF"/>
          </a:solidFill>
          <a:ln w="15240">
            <a:solidFill>
              <a:srgbClr val="009E73"/>
            </a:solidFill>
            <a:prstDash val="solid"/>
          </a:ln>
        </p:spPr>
      </p:sp>
      <p:sp>
        <p:nvSpPr>
          <p:cNvPr id="24" name="Text 22"/>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5" name="Text 23"/>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text vectors</a:t>
            </a:r>
            <a:endParaRPr lang="en-US" sz="1441" dirty="0"/>
          </a:p>
        </p:txBody>
      </p:sp>
      <p:sp>
        <p:nvSpPr>
          <p:cNvPr id="26" name="Shape 24"/>
          <p:cNvSpPr/>
          <p:nvPr/>
        </p:nvSpPr>
        <p:spPr>
          <a:xfrm>
            <a:off x="2598170" y="2939089"/>
            <a:ext cx="1565821" cy="1799677"/>
          </a:xfrm>
          <a:prstGeom prst="roundRect">
            <a:avLst>
              <a:gd name="adj" fmla="val 4672"/>
            </a:avLst>
          </a:prstGeom>
          <a:solidFill>
            <a:srgbClr val="E4F2FB"/>
          </a:solidFill>
          <a:ln w="15240">
            <a:solidFill>
              <a:srgbClr val="0072B2"/>
            </a:solidFill>
            <a:prstDash val="solid"/>
          </a:ln>
        </p:spPr>
      </p:sp>
      <p:sp>
        <p:nvSpPr>
          <p:cNvPr id="27" name="Text 25"/>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 noise</a:t>
            </a:r>
            <a:endParaRPr lang="en-US" sz="1561" dirty="0"/>
          </a:p>
        </p:txBody>
      </p:sp>
      <p:sp>
        <p:nvSpPr>
          <p:cNvPr id="28" name="Text 26"/>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latent</a:t>
            </a:r>
            <a:endParaRPr lang="en-US" sz="1441" dirty="0"/>
          </a:p>
        </p:txBody>
      </p:sp>
      <p:sp>
        <p:nvSpPr>
          <p:cNvPr id="29" name="Shape 27"/>
          <p:cNvSpPr/>
          <p:nvPr/>
        </p:nvSpPr>
        <p:spPr>
          <a:xfrm>
            <a:off x="4408015" y="2939089"/>
            <a:ext cx="1565821" cy="1799677"/>
          </a:xfrm>
          <a:prstGeom prst="rect">
            <a:avLst/>
          </a:prstGeom>
          <a:solidFill>
            <a:srgbClr val="E5F7EF"/>
          </a:solidFill>
          <a:ln w="15240">
            <a:solidFill>
              <a:srgbClr val="009E73"/>
            </a:solidFill>
            <a:prstDash val="solid"/>
          </a:ln>
        </p:spPr>
      </p:sp>
      <p:sp>
        <p:nvSpPr>
          <p:cNvPr id="30" name="Text 28"/>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 noise</a:t>
            </a:r>
            <a:endParaRPr lang="en-US" sz="1561" dirty="0"/>
          </a:p>
        </p:txBody>
      </p:sp>
      <p:sp>
        <p:nvSpPr>
          <p:cNvPr id="31" name="Text 29"/>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state, t, text</a:t>
            </a:r>
            <a:endParaRPr lang="en-US" sz="1441" dirty="0"/>
          </a:p>
        </p:txBody>
      </p:sp>
      <p:sp>
        <p:nvSpPr>
          <p:cNvPr id="32" name="Text 30"/>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pipe.unet</a:t>
            </a:r>
            <a:endParaRPr lang="en-US" sz="1441" dirty="0"/>
          </a:p>
        </p:txBody>
      </p:sp>
      <p:sp>
        <p:nvSpPr>
          <p:cNvPr id="33" name="Shape 31"/>
          <p:cNvSpPr/>
          <p:nvPr/>
        </p:nvSpPr>
        <p:spPr>
          <a:xfrm>
            <a:off x="6217860" y="2939089"/>
            <a:ext cx="1565821" cy="1799677"/>
          </a:xfrm>
          <a:prstGeom prst="rect">
            <a:avLst/>
          </a:prstGeom>
          <a:solidFill>
            <a:srgbClr val="F2F4F5"/>
          </a:solidFill>
          <a:ln w="15240">
            <a:solidFill>
              <a:srgbClr val="626B73"/>
            </a:solidFill>
            <a:prstDash val="solid"/>
          </a:ln>
        </p:spPr>
      </p:sp>
      <p:sp>
        <p:nvSpPr>
          <p:cNvPr id="34" name="Text 32"/>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35" name="Text 33"/>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sampler</a:t>
            </a:r>
            <a:endParaRPr lang="en-US" sz="1441" dirty="0"/>
          </a:p>
        </p:txBody>
      </p:sp>
      <p:sp>
        <p:nvSpPr>
          <p:cNvPr id="36" name="Shape 34"/>
          <p:cNvSpPr/>
          <p:nvPr/>
        </p:nvSpPr>
        <p:spPr>
          <a:xfrm>
            <a:off x="8027705" y="2939089"/>
            <a:ext cx="1565821" cy="1799677"/>
          </a:xfrm>
          <a:prstGeom prst="rect">
            <a:avLst/>
          </a:prstGeom>
          <a:solidFill>
            <a:srgbClr val="E5F7EF"/>
          </a:solidFill>
          <a:ln w="15240">
            <a:solidFill>
              <a:srgbClr val="009E73"/>
            </a:solidFill>
            <a:prstDash val="solid"/>
          </a:ln>
        </p:spPr>
      </p:sp>
      <p:sp>
        <p:nvSpPr>
          <p:cNvPr id="37" name="Text 35"/>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38" name="Text 36"/>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VAE</a:t>
            </a:r>
            <a:endParaRPr lang="en-US" sz="1441" dirty="0"/>
          </a:p>
        </p:txBody>
      </p:sp>
      <p:sp>
        <p:nvSpPr>
          <p:cNvPr id="39" name="Shape 37"/>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40" name="Text 38"/>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a:t>
            </a:r>
            <a:endParaRPr lang="en-US" sz="1561" dirty="0"/>
          </a:p>
        </p:txBody>
      </p:sp>
      <p:sp>
        <p:nvSpPr>
          <p:cNvPr id="41" name="Text 39"/>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fit, failures</a:t>
            </a:r>
            <a:endParaRPr lang="en-US" sz="1441" dirty="0"/>
          </a:p>
        </p:txBody>
      </p:sp>
      <p:sp>
        <p:nvSpPr>
          <p:cNvPr id="42" name="Shape 4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3" name="Text 4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4" name="Shape 42"/>
          <p:cNvSpPr/>
          <p:nvPr/>
        </p:nvSpPr>
        <p:spPr>
          <a:xfrm>
            <a:off x="1676436" y="5630979"/>
            <a:ext cx="198270" cy="198270"/>
          </a:xfrm>
          <a:prstGeom prst="rect">
            <a:avLst/>
          </a:prstGeom>
          <a:solidFill>
            <a:srgbClr val="E5F7EF"/>
          </a:solidFill>
          <a:ln w="15240">
            <a:solidFill>
              <a:srgbClr val="009E73"/>
            </a:solidFill>
            <a:prstDash val="solid"/>
          </a:ln>
        </p:spPr>
      </p:sp>
      <p:sp>
        <p:nvSpPr>
          <p:cNvPr id="45" name="Text 4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6" name="Shape 44"/>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7" name="Text 45"/>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8" name="Shape 46"/>
          <p:cNvSpPr/>
          <p:nvPr/>
        </p:nvSpPr>
        <p:spPr>
          <a:xfrm>
            <a:off x="3736982" y="5630979"/>
            <a:ext cx="198270" cy="198270"/>
          </a:xfrm>
          <a:prstGeom prst="rect">
            <a:avLst/>
          </a:prstGeom>
          <a:solidFill>
            <a:srgbClr val="F2F4F5"/>
          </a:solidFill>
          <a:ln w="15240">
            <a:solidFill>
              <a:srgbClr val="626B73"/>
            </a:solidFill>
            <a:prstDash val="solid"/>
          </a:ln>
        </p:spPr>
      </p:sp>
      <p:sp>
        <p:nvSpPr>
          <p:cNvPr id="49" name="Text 47"/>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0" name="Shape 48"/>
          <p:cNvSpPr/>
          <p:nvPr/>
        </p:nvSpPr>
        <p:spPr>
          <a:xfrm>
            <a:off x="4593459" y="5730113"/>
            <a:ext cx="335533" cy="0"/>
          </a:xfrm>
          <a:prstGeom prst="line">
            <a:avLst/>
          </a:prstGeom>
          <a:noFill/>
          <a:ln w="22860">
            <a:solidFill>
              <a:srgbClr val="009E73"/>
            </a:solidFill>
            <a:prstDash val="solid"/>
            <a:tailEnd type="triangle"/>
          </a:ln>
        </p:spPr>
      </p:sp>
      <p:sp>
        <p:nvSpPr>
          <p:cNvPr id="51" name="Text 49"/>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2" name="Shape 50"/>
          <p:cNvSpPr/>
          <p:nvPr/>
        </p:nvSpPr>
        <p:spPr>
          <a:xfrm>
            <a:off x="5618644" y="5730113"/>
            <a:ext cx="335533" cy="0"/>
          </a:xfrm>
          <a:prstGeom prst="line">
            <a:avLst/>
          </a:prstGeom>
          <a:noFill/>
          <a:ln w="22860">
            <a:solidFill>
              <a:srgbClr val="D55E00"/>
            </a:solidFill>
            <a:prstDash val="dash"/>
            <a:tailEnd type="triangle"/>
          </a:ln>
        </p:spPr>
      </p:sp>
      <p:sp>
        <p:nvSpPr>
          <p:cNvPr id="53" name="Text 51"/>
          <p:cNvSpPr txBox="1"/>
          <p:nvPr/>
        </p:nvSpPr>
        <p:spPr>
          <a:xfrm>
            <a:off x="6015183"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4" name="Text 52"/>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Real image required?</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Latent diffusion: the Stable Diffusion pipeline</a:t>
            </a:r>
            <a:endParaRPr lang="en-US" sz="3200" dirty="0"/>
          </a:p>
        </p:txBody>
      </p:sp>
      <p:pic>
        <p:nvPicPr>
          <p:cNvPr id="6" name="Image 0" descr="C:\Users\sudee\Downloads\Generative_AI_2027_Teaching_Pack\AI2027_Project\build\figures\week_04\ldm_pipeline.png">    </p:cNvPr>
          <p:cNvPicPr>
            <a:picLocks noChangeAspect="1"/>
          </p:cNvPicPr>
          <p:nvPr/>
        </p:nvPicPr>
        <p:blipFill>
          <a:blip r:embed="rId1"/>
          <a:stretch>
            <a:fillRect/>
          </a:stretch>
        </p:blipFill>
        <p:spPr>
          <a:xfrm>
            <a:off x="663002" y="1481328"/>
            <a:ext cx="10865690" cy="48280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component converts the final latent into pixels?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trained VAE decoder</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timestep noise schedule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prompt text encoder</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seeded noise generator</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Sampling, guidance and prompts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Why do steps, guidance scale, seeds and negative prompts change the picture?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Samplers: from 1000 steps to a handful</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713232" y="1591056"/>
            <a:ext cx="347472" cy="347472"/>
          </a:xfrm>
          <a:prstGeom prst="rect">
            <a:avLst/>
          </a:prstGeom>
        </p:spPr>
      </p:pic>
      <p:sp>
        <p:nvSpPr>
          <p:cNvPr id="8" name="Text 5"/>
          <p:cNvSpPr txBox="1"/>
          <p:nvPr/>
        </p:nvSpPr>
        <p:spPr>
          <a:xfrm>
            <a:off x="1143000" y="1481328"/>
            <a:ext cx="278373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DDPM</a:t>
            </a:r>
            <a:endParaRPr lang="en-US" sz="1800" dirty="0"/>
          </a:p>
        </p:txBody>
      </p:sp>
      <p:sp>
        <p:nvSpPr>
          <p:cNvPr id="9" name="Shape 6"/>
          <p:cNvSpPr/>
          <p:nvPr/>
        </p:nvSpPr>
        <p:spPr>
          <a:xfrm>
            <a:off x="548640" y="2167128"/>
            <a:ext cx="3515258" cy="4142232"/>
          </a:xfrm>
          <a:prstGeom prst="roundRect">
            <a:avLst>
              <a:gd name="adj" fmla="val 2601"/>
            </a:avLst>
          </a:prstGeom>
          <a:solidFill>
            <a:srgbClr val="EEF0FF"/>
          </a:solidFill>
          <a:ln w="12700">
            <a:solidFill>
              <a:srgbClr val="EEF0FF"/>
            </a:solidFill>
            <a:prstDash val="solid"/>
          </a:ln>
        </p:spPr>
      </p:sp>
      <p:sp>
        <p:nvSpPr>
          <p:cNvPr id="10" name="Text 7"/>
          <p:cNvSpPr txBox="1"/>
          <p:nvPr/>
        </p:nvSpPr>
        <p:spPr>
          <a:xfrm>
            <a:off x="658368"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Full schedule; fresh sampling noise.</a:t>
            </a:r>
            <a:endParaRPr lang="en-US" sz="2400" dirty="0"/>
          </a:p>
        </p:txBody>
      </p:sp>
      <p:sp>
        <p:nvSpPr>
          <p:cNvPr id="11"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4502810" y="1591056"/>
            <a:ext cx="347472" cy="347472"/>
          </a:xfrm>
          <a:prstGeom prst="rect">
            <a:avLst/>
          </a:prstGeom>
        </p:spPr>
      </p:pic>
      <p:sp>
        <p:nvSpPr>
          <p:cNvPr id="13" name="Text 9"/>
          <p:cNvSpPr txBox="1"/>
          <p:nvPr/>
        </p:nvSpPr>
        <p:spPr>
          <a:xfrm>
            <a:off x="4932578" y="1481328"/>
            <a:ext cx="278373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DDIM</a:t>
            </a:r>
            <a:endParaRPr lang="en-US" sz="1800" dirty="0"/>
          </a:p>
        </p:txBody>
      </p:sp>
      <p:sp>
        <p:nvSpPr>
          <p:cNvPr id="14" name="Shape 10"/>
          <p:cNvSpPr/>
          <p:nvPr/>
        </p:nvSpPr>
        <p:spPr>
          <a:xfrm>
            <a:off x="4338218" y="2167128"/>
            <a:ext cx="3515258" cy="4142232"/>
          </a:xfrm>
          <a:prstGeom prst="roundRect">
            <a:avLst>
              <a:gd name="adj" fmla="val 2601"/>
            </a:avLst>
          </a:prstGeom>
          <a:solidFill>
            <a:srgbClr val="E6F4F1"/>
          </a:solidFill>
          <a:ln w="12700">
            <a:solidFill>
              <a:srgbClr val="E6F4F1"/>
            </a:solidFill>
            <a:prstDash val="solid"/>
          </a:ln>
        </p:spPr>
      </p:sp>
      <p:sp>
        <p:nvSpPr>
          <p:cNvPr id="15" name="Text 11"/>
          <p:cNvSpPr txBox="1"/>
          <p:nvPr/>
        </p:nvSpPr>
        <p:spPr>
          <a:xfrm>
            <a:off x="4447946"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Selected levels; fixed trained denoiser.</a:t>
            </a:r>
            <a:endParaRPr lang="en-US" sz="2400" dirty="0"/>
          </a:p>
        </p:txBody>
      </p:sp>
      <p:sp>
        <p:nvSpPr>
          <p:cNvPr id="16"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pic>
        <p:nvPicPr>
          <p:cNvPr id="17" name="Image 2" descr="preencoded.png">    </p:cNvPr>
          <p:cNvPicPr>
            <a:picLocks noChangeAspect="1"/>
          </p:cNvPicPr>
          <p:nvPr/>
        </p:nvPicPr>
        <p:blipFill>
          <a:blip r:embed="rId3"/>
          <a:stretch>
            <a:fillRect/>
          </a:stretch>
        </p:blipFill>
        <p:spPr>
          <a:xfrm>
            <a:off x="8292389" y="1591056"/>
            <a:ext cx="347472" cy="347472"/>
          </a:xfrm>
          <a:prstGeom prst="rect">
            <a:avLst/>
          </a:prstGeom>
        </p:spPr>
      </p:pic>
      <p:sp>
        <p:nvSpPr>
          <p:cNvPr id="18" name="Text 13"/>
          <p:cNvSpPr txBox="1"/>
          <p:nvPr/>
        </p:nvSpPr>
        <p:spPr>
          <a:xfrm>
            <a:off x="8722157" y="1481328"/>
            <a:ext cx="278373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Distillation</a:t>
            </a:r>
            <a:endParaRPr lang="en-US" sz="1800" dirty="0"/>
          </a:p>
        </p:txBody>
      </p:sp>
      <p:sp>
        <p:nvSpPr>
          <p:cNvPr id="19" name="Shape 14"/>
          <p:cNvSpPr/>
          <p:nvPr/>
        </p:nvSpPr>
        <p:spPr>
          <a:xfrm>
            <a:off x="8127797" y="2167128"/>
            <a:ext cx="3515258" cy="4142232"/>
          </a:xfrm>
          <a:prstGeom prst="roundRect">
            <a:avLst>
              <a:gd name="adj" fmla="val 2601"/>
            </a:avLst>
          </a:prstGeom>
          <a:solidFill>
            <a:srgbClr val="FFF1E6"/>
          </a:solidFill>
          <a:ln w="12700">
            <a:solidFill>
              <a:srgbClr val="FFF1E6"/>
            </a:solidFill>
            <a:prstDash val="solid"/>
          </a:ln>
        </p:spPr>
      </p:sp>
      <p:sp>
        <p:nvSpPr>
          <p:cNvPr id="20" name="Text 15"/>
          <p:cNvSpPr txBox="1"/>
          <p:nvPr/>
        </p:nvSpPr>
        <p:spPr>
          <a:xfrm>
            <a:off x="8237525"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New student trained for larger jumps.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SD 1.5 step comparison</a:t>
            </a:r>
            <a:endParaRPr lang="en-US" sz="3200" dirty="0"/>
          </a:p>
        </p:txBody>
      </p:sp>
      <p:pic>
        <p:nvPicPr>
          <p:cNvPr id="6" name="Image 0" descr="C:\Users\sudee\Downloads\Generative_AI_2027_Teaching_Pack\AI2027_Project\build\figures\week_04\sd_steps.png">    </p:cNvPr>
          <p:cNvPicPr>
            <a:picLocks noChangeAspect="1"/>
          </p:cNvPicPr>
          <p:nvPr/>
        </p:nvPicPr>
        <p:blipFill>
          <a:blip r:embed="rId1"/>
          <a:stretch>
            <a:fillRect/>
          </a:stretch>
        </p:blipFill>
        <p:spPr>
          <a:xfrm>
            <a:off x="548640" y="1491528"/>
            <a:ext cx="11094415" cy="2935397"/>
          </a:xfrm>
          <a:prstGeom prst="rect">
            <a:avLst/>
          </a:prstGeom>
        </p:spPr>
      </p:pic>
      <p:sp>
        <p:nvSpPr>
          <p:cNvPr id="7" name="Text 4"/>
          <p:cNvSpPr txBox="1"/>
          <p:nvPr/>
        </p:nvSpPr>
        <p:spPr>
          <a:xfrm>
            <a:off x="548640" y="4609806"/>
            <a:ext cx="11094415" cy="1288074"/>
          </a:xfrm>
          <a:prstGeom prst="rect">
            <a:avLst/>
          </a:prstGeom>
          <a:noFill/>
          <a:ln/>
        </p:spPr>
        <p:txBody>
          <a:bodyPr wrap="square" lIns="50800" tIns="50800" rIns="50800" bIns="5080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Fixed prompt, seed 42, guidance 7.5.</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DPM-Solver++: 2, 5, 10, 25 updates.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CPU evidence: 45 s and 419 s at endpoints.</a:t>
            </a:r>
            <a:endParaRPr lang="en-US" sz="19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Separate measured image-model run; compare detail and visible failures.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Classifier-free guidance (Ho &amp; Salimans, 2022)</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e9e94d02d0f29948.png">    </p:cNvPr>
          <p:cNvPicPr>
            <a:picLocks noChangeAspect="1"/>
          </p:cNvPicPr>
          <p:nvPr/>
        </p:nvPicPr>
        <p:blipFill>
          <a:blip r:embed="rId1"/>
          <a:stretch>
            <a:fillRect/>
          </a:stretch>
        </p:blipFill>
        <p:spPr>
          <a:xfrm>
            <a:off x="3706216" y="1967484"/>
            <a:ext cx="4779264" cy="353568"/>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Sometimes drop text during training.</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Combine conditional and reference predictions.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Illustration: 0.2 + 3 × 0.3 = 1.1</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c</a:t>
            </a:r>
            <a:endParaRPr lang="en-US" sz="17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prompt representation</a:t>
            </a:r>
            <a:endParaRPr lang="en-US" sz="16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a:t>
            </a:r>
            <a:endParaRPr lang="en-US" sz="17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empty condition</a:t>
            </a:r>
            <a:endParaRPr lang="en-US" sz="16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w</a:t>
            </a:r>
            <a:endParaRPr lang="en-US" sz="17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guidance weight; 1 gives conditional</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SD 1.5 guidance comparison</a:t>
            </a:r>
            <a:endParaRPr lang="en-US" sz="3200" dirty="0"/>
          </a:p>
        </p:txBody>
      </p:sp>
      <p:pic>
        <p:nvPicPr>
          <p:cNvPr id="6" name="Image 0" descr="C:\Users\sudee\Downloads\Generative_AI_2027_Teaching_Pack\AI2027_Project\build\figures\week_04\sd_guidance.png">    </p:cNvPr>
          <p:cNvPicPr>
            <a:picLocks noChangeAspect="1"/>
          </p:cNvPicPr>
          <p:nvPr/>
        </p:nvPicPr>
        <p:blipFill>
          <a:blip r:embed="rId1"/>
          <a:stretch>
            <a:fillRect/>
          </a:stretch>
        </p:blipFill>
        <p:spPr>
          <a:xfrm>
            <a:off x="548640" y="1491528"/>
            <a:ext cx="11094415" cy="2935397"/>
          </a:xfrm>
          <a:prstGeom prst="rect">
            <a:avLst/>
          </a:prstGeom>
        </p:spPr>
      </p:pic>
      <p:sp>
        <p:nvSpPr>
          <p:cNvPr id="7" name="Text 4"/>
          <p:cNvSpPr txBox="1"/>
          <p:nvPr/>
        </p:nvSpPr>
        <p:spPr>
          <a:xfrm>
            <a:off x="548640" y="4609806"/>
            <a:ext cx="11094415" cy="1288074"/>
          </a:xfrm>
          <a:prstGeom prst="rect">
            <a:avLst/>
          </a:prstGeom>
          <a:noFill/>
          <a:ln/>
        </p:spPr>
        <p:txBody>
          <a:bodyPr wrap="square" lIns="50800" tIns="50800" rIns="50800" bIns="5080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Fixed prompt, seed and 25 steps.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Inspect prompt fit, saturation and artefacts.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CPU evidence: 164 s at 1; 471 s at 7.5.</a:t>
            </a:r>
            <a:endParaRPr lang="en-US" sz="19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Separate measured run; guided prediction evaluates conditional and reference branches.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Seeds and negative prompts</a:t>
            </a:r>
            <a:endParaRPr lang="en-US" sz="3200" dirty="0"/>
          </a:p>
        </p:txBody>
      </p:sp>
      <p:pic>
        <p:nvPicPr>
          <p:cNvPr id="6" name="Image 0" descr="C:\Users\sudee\Downloads\Generative_AI_2027_Teaching_Pack\AI2027_Project\build\figures\week_04\seeds_negative_slide.png">    </p:cNvPr>
          <p:cNvPicPr>
            <a:picLocks noChangeAspect="1"/>
          </p:cNvPicPr>
          <p:nvPr/>
        </p:nvPicPr>
        <p:blipFill>
          <a:blip r:embed="rId1"/>
          <a:stretch>
            <a:fillRect/>
          </a:stretch>
        </p:blipFill>
        <p:spPr>
          <a:xfrm>
            <a:off x="1470736" y="1481328"/>
            <a:ext cx="9250223" cy="2955798"/>
          </a:xfrm>
          <a:prstGeom prst="rect">
            <a:avLst/>
          </a:prstGeom>
        </p:spPr>
      </p:pic>
      <p:sp>
        <p:nvSpPr>
          <p:cNvPr id="7" name="Text 4"/>
          <p:cNvSpPr txBox="1"/>
          <p:nvPr/>
        </p:nvSpPr>
        <p:spPr>
          <a:xfrm>
            <a:off x="548640" y="462000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Four seeds change starting randomness.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Right pair holds seed fixed; changes negative prompt.</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The lamp remains: removal is not guaranteed.</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Stored guided SD 1.5 outputs; software and settings also affect repeatability.</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Variants, evaluation and responsible use</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has changed since Stable Diffusion, and how do we judge the results?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Flow matching: training paths and learned velocity</a:t>
            </a:r>
            <a:endParaRPr lang="en-US" sz="3200" dirty="0"/>
          </a:p>
        </p:txBody>
      </p:sp>
      <p:pic>
        <p:nvPicPr>
          <p:cNvPr id="6" name="Image 0" descr="C:\Users\sudee\Downloads\Generative_AI_2027_Teaching_Pack\AI2027_Project\build\figures\week_04\flow_paths.png">    </p:cNvPr>
          <p:cNvPicPr>
            <a:picLocks noChangeAspect="1"/>
          </p:cNvPicPr>
          <p:nvPr/>
        </p:nvPicPr>
        <p:blipFill>
          <a:blip r:embed="rId1"/>
          <a:stretch>
            <a:fillRect/>
          </a:stretch>
        </p:blipFill>
        <p:spPr>
          <a:xfrm>
            <a:off x="1764155" y="1481328"/>
            <a:ext cx="8663385" cy="48280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flow-matching objective</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41bae57b66d7aaaa.png">    </p:cNvPr>
          <p:cNvPicPr>
            <a:picLocks noChangeAspect="1"/>
          </p:cNvPicPr>
          <p:nvPr/>
        </p:nvPicPr>
        <p:blipFill>
          <a:blip r:embed="rId1"/>
          <a:stretch>
            <a:fillRect/>
          </a:stretch>
        </p:blipFill>
        <p:spPr>
          <a:xfrm>
            <a:off x="4094836" y="1976120"/>
            <a:ext cx="4002024" cy="353568"/>
          </a:xfrm>
          <a:prstGeom prst="rect">
            <a:avLst/>
          </a:prstGeom>
        </p:spPr>
      </p:pic>
      <p:pic>
        <p:nvPicPr>
          <p:cNvPr id="8" name="Image 1" descr="C:\Users\sudee\Downloads\Generative_AI_2027_Teaching_Pack\AI2027_Project\build\eq\a5ada54c3e020331.png">    </p:cNvPr>
          <p:cNvPicPr>
            <a:picLocks noChangeAspect="1"/>
          </p:cNvPicPr>
          <p:nvPr/>
        </p:nvPicPr>
        <p:blipFill>
          <a:blip r:embed="rId2"/>
          <a:stretch>
            <a:fillRect/>
          </a:stretch>
        </p:blipFill>
        <p:spPr>
          <a:xfrm>
            <a:off x="3852520" y="2778760"/>
            <a:ext cx="4486656" cy="402336"/>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Time 0: data; time 1: noise.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Predict velocity; integrate backwards to generate.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Data 1, noise −1: velocity −2.</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x₀</a:t>
            </a:r>
            <a:endParaRPr lang="en-US" sz="1800" dirty="0"/>
          </a:p>
        </p:txBody>
      </p:sp>
      <p:sp>
        <p:nvSpPr>
          <p:cNvPr id="13" name="Text 9"/>
          <p:cNvSpPr txBox="1"/>
          <p:nvPr/>
        </p:nvSpPr>
        <p:spPr>
          <a:xfrm>
            <a:off x="8046720" y="4315968"/>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data sample</a:t>
            </a:r>
            <a:endParaRPr lang="en-US" sz="1700" dirty="0"/>
          </a:p>
        </p:txBody>
      </p:sp>
      <p:sp>
        <p:nvSpPr>
          <p:cNvPr id="14" name="Text 10"/>
          <p:cNvSpPr txBox="1"/>
          <p:nvPr/>
        </p:nvSpPr>
        <p:spPr>
          <a:xfrm>
            <a:off x="6858000" y="4980432"/>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ε</a:t>
            </a:r>
            <a:endParaRPr lang="en-US" sz="1800" dirty="0"/>
          </a:p>
        </p:txBody>
      </p:sp>
      <p:sp>
        <p:nvSpPr>
          <p:cNvPr id="15" name="Text 11"/>
          <p:cNvSpPr txBox="1"/>
          <p:nvPr/>
        </p:nvSpPr>
        <p:spPr>
          <a:xfrm>
            <a:off x="8046720" y="4980432"/>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paired noise</a:t>
            </a:r>
            <a:endParaRPr lang="en-US" sz="1700" dirty="0"/>
          </a:p>
        </p:txBody>
      </p:sp>
      <p:sp>
        <p:nvSpPr>
          <p:cNvPr id="16" name="Text 12"/>
          <p:cNvSpPr txBox="1"/>
          <p:nvPr/>
        </p:nvSpPr>
        <p:spPr>
          <a:xfrm>
            <a:off x="6858000" y="5644896"/>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v</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7" name="Text 13"/>
          <p:cNvSpPr txBox="1"/>
          <p:nvPr/>
        </p:nvSpPr>
        <p:spPr>
          <a:xfrm>
            <a:off x="8046720" y="5644896"/>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predicted velocity</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SD-Turbo few-step comparison</a:t>
            </a:r>
            <a:endParaRPr lang="en-US" sz="3200" dirty="0"/>
          </a:p>
        </p:txBody>
      </p:sp>
      <p:pic>
        <p:nvPicPr>
          <p:cNvPr id="6" name="Image 0" descr="C:\Users\sudee\Downloads\Generative_AI_2027_Teaching_Pack\AI2027_Project\build\figures\week_04\sd_turbo.png">    </p:cNvPr>
          <p:cNvPicPr>
            <a:picLocks noChangeAspect="1"/>
          </p:cNvPicPr>
          <p:nvPr/>
        </p:nvPicPr>
        <p:blipFill>
          <a:blip r:embed="rId1"/>
          <a:stretch>
            <a:fillRect/>
          </a:stretch>
        </p:blipFill>
        <p:spPr>
          <a:xfrm>
            <a:off x="1912301" y="1481328"/>
            <a:ext cx="8367094" cy="2955798"/>
          </a:xfrm>
          <a:prstGeom prst="rect">
            <a:avLst/>
          </a:prstGeom>
        </p:spPr>
      </p:pic>
      <p:sp>
        <p:nvSpPr>
          <p:cNvPr id="7" name="Text 4"/>
          <p:cNvSpPr txBox="1"/>
          <p:nvPr/>
        </p:nvSpPr>
        <p:spPr>
          <a:xfrm>
            <a:off x="548640" y="462000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Distilled SD 2.1; guidance disabled.</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512 × 512 outputs at 1, 2, 4 steps.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CPU evidence: 25 s at 1; 46 s at 4.</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Separate measured image-model run; negative prompts are inactive.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Beyond text-to-image: diffusion variants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Editing</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Inpainting fills selected regions.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Control</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Edges, depth or pose guide layout.</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Personalisation</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Adapt weights with authorised examples.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Video</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Model coherence across frames.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Audio</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Generate sound representations.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Science</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Propose candidates; validate experimentally.</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Evaluating image generators</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17000"/>
                <a:gridCol w="3396250"/>
                <a:gridCol w="4981166"/>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Aspect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Measure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Limit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Distribution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FID / KID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Reference set matters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Prompt fit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CLIP similarity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Can miss counts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Constraints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Inspect objects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 evaluator errors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Preference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Human rubric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Raters differ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Time / memory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Record hardware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single result proves an image is correct?</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 high CLIP similarity score</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None; inspect objects and relations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 fixed seed and sampler</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 short measured generation time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diffusion models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data rights and model terms.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Audit biased outputs and near-copies.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Label generated media; record its source.</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Vary demographic prompts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Memorisation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Inspect suspicious matches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Compute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Measure actual workload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CPU core and image stretches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Points; separate vector input</a:t>
            </a:r>
            <a:endParaRPr lang="en-US" sz="1800" dirty="0"/>
          </a:p>
        </p:txBody>
      </p:sp>
      <p:sp>
        <p:nvSpPr>
          <p:cNvPr id="7" name="Shape 5"/>
          <p:cNvSpPr/>
          <p:nvPr/>
        </p:nvSpPr>
        <p:spPr>
          <a:xfrm>
            <a:off x="2095597" y="3838927"/>
            <a:ext cx="244024" cy="0"/>
          </a:xfrm>
          <a:prstGeom prst="line">
            <a:avLst/>
          </a:prstGeom>
          <a:noFill/>
          <a:ln w="22860">
            <a:solidFill>
              <a:srgbClr val="009E73"/>
            </a:solidFill>
            <a:prstDash val="solid"/>
            <a:tailEnd type="triangle"/>
          </a:ln>
        </p:spPr>
      </p:sp>
      <p:sp>
        <p:nvSpPr>
          <p:cNvPr id="8" name="Text 6"/>
          <p:cNvSpPr txBox="1"/>
          <p:nvPr/>
        </p:nvSpPr>
        <p:spPr>
          <a:xfrm>
            <a:off x="1464838"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points</a:t>
            </a:r>
            <a:endParaRPr lang="en-US" sz="1441" dirty="0"/>
          </a:p>
        </p:txBody>
      </p:sp>
      <p:sp>
        <p:nvSpPr>
          <p:cNvPr id="9" name="Shape 7"/>
          <p:cNvSpPr/>
          <p:nvPr/>
        </p:nvSpPr>
        <p:spPr>
          <a:xfrm>
            <a:off x="3646892" y="3838927"/>
            <a:ext cx="244024" cy="0"/>
          </a:xfrm>
          <a:prstGeom prst="line">
            <a:avLst/>
          </a:prstGeom>
          <a:noFill/>
          <a:ln w="22860">
            <a:solidFill>
              <a:srgbClr val="009E73"/>
            </a:solidFill>
            <a:prstDash val="solid"/>
            <a:tailEnd type="triangle"/>
          </a:ln>
        </p:spPr>
      </p:sp>
      <p:sp>
        <p:nvSpPr>
          <p:cNvPr id="10" name="Text 8"/>
          <p:cNvSpPr txBox="1"/>
          <p:nvPr/>
        </p:nvSpPr>
        <p:spPr>
          <a:xfrm>
            <a:off x="3016134"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weights</a:t>
            </a:r>
            <a:endParaRPr lang="en-US" sz="1441" dirty="0"/>
          </a:p>
        </p:txBody>
      </p:sp>
      <p:sp>
        <p:nvSpPr>
          <p:cNvPr id="11" name="Shape 9"/>
          <p:cNvSpPr/>
          <p:nvPr/>
        </p:nvSpPr>
        <p:spPr>
          <a:xfrm>
            <a:off x="5198188" y="3838927"/>
            <a:ext cx="244024" cy="0"/>
          </a:xfrm>
          <a:prstGeom prst="line">
            <a:avLst/>
          </a:prstGeom>
          <a:noFill/>
          <a:ln w="22860">
            <a:solidFill>
              <a:srgbClr val="009E73"/>
            </a:solidFill>
            <a:prstDash val="solid"/>
            <a:tailEnd type="triangle"/>
          </a:ln>
        </p:spPr>
      </p:sp>
      <p:sp>
        <p:nvSpPr>
          <p:cNvPr id="12" name="Text 10"/>
          <p:cNvSpPr txBox="1"/>
          <p:nvPr/>
        </p:nvSpPr>
        <p:spPr>
          <a:xfrm>
            <a:off x="4567429"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samples</a:t>
            </a:r>
            <a:endParaRPr lang="en-US" sz="1441" dirty="0"/>
          </a:p>
        </p:txBody>
      </p:sp>
      <p:sp>
        <p:nvSpPr>
          <p:cNvPr id="13" name="Shape 11"/>
          <p:cNvSpPr/>
          <p:nvPr/>
        </p:nvSpPr>
        <p:spPr>
          <a:xfrm>
            <a:off x="8300779" y="3838927"/>
            <a:ext cx="244024" cy="0"/>
          </a:xfrm>
          <a:prstGeom prst="line">
            <a:avLst/>
          </a:prstGeom>
          <a:noFill/>
          <a:ln w="22860">
            <a:solidFill>
              <a:srgbClr val="009E73"/>
            </a:solidFill>
            <a:prstDash val="solid"/>
            <a:tailEnd type="triangle"/>
          </a:ln>
        </p:spPr>
      </p:sp>
      <p:sp>
        <p:nvSpPr>
          <p:cNvPr id="14" name="Text 12"/>
          <p:cNvSpPr txBox="1"/>
          <p:nvPr/>
        </p:nvSpPr>
        <p:spPr>
          <a:xfrm>
            <a:off x="7670020"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vectors</a:t>
            </a:r>
            <a:endParaRPr lang="en-US" sz="1441" dirty="0"/>
          </a:p>
        </p:txBody>
      </p:sp>
      <p:sp>
        <p:nvSpPr>
          <p:cNvPr id="15" name="Shape 13"/>
          <p:cNvSpPr/>
          <p:nvPr/>
        </p:nvSpPr>
        <p:spPr>
          <a:xfrm>
            <a:off x="9852075" y="3838927"/>
            <a:ext cx="244024" cy="0"/>
          </a:xfrm>
          <a:prstGeom prst="line">
            <a:avLst/>
          </a:prstGeom>
          <a:noFill/>
          <a:ln w="22860">
            <a:solidFill>
              <a:srgbClr val="009E73"/>
            </a:solidFill>
            <a:prstDash val="solid"/>
            <a:tailEnd type="triangle"/>
          </a:ln>
        </p:spPr>
      </p:sp>
      <p:sp>
        <p:nvSpPr>
          <p:cNvPr id="16" name="Text 14"/>
          <p:cNvSpPr txBox="1"/>
          <p:nvPr/>
        </p:nvSpPr>
        <p:spPr>
          <a:xfrm>
            <a:off x="9221316"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cosine</a:t>
            </a:r>
            <a:endParaRPr lang="en-US" sz="1441" dirty="0"/>
          </a:p>
        </p:txBody>
      </p:sp>
      <p:sp>
        <p:nvSpPr>
          <p:cNvPr id="17" name="Shape 15"/>
          <p:cNvSpPr/>
          <p:nvPr/>
        </p:nvSpPr>
        <p:spPr>
          <a:xfrm>
            <a:off x="6095848" y="4738766"/>
            <a:ext cx="0" cy="198270"/>
          </a:xfrm>
          <a:prstGeom prst="line">
            <a:avLst/>
          </a:prstGeom>
          <a:noFill/>
          <a:ln w="22860">
            <a:solidFill>
              <a:srgbClr val="0072B2"/>
            </a:solidFill>
            <a:prstDash val="solid"/>
          </a:ln>
        </p:spPr>
      </p:sp>
      <p:sp>
        <p:nvSpPr>
          <p:cNvPr id="18" name="Shape 16"/>
          <p:cNvSpPr/>
          <p:nvPr/>
        </p:nvSpPr>
        <p:spPr>
          <a:xfrm>
            <a:off x="6095848" y="4937035"/>
            <a:ext cx="4653887" cy="0"/>
          </a:xfrm>
          <a:prstGeom prst="line">
            <a:avLst/>
          </a:prstGeom>
          <a:noFill/>
          <a:ln w="22860">
            <a:solidFill>
              <a:srgbClr val="0072B2"/>
            </a:solidFill>
            <a:prstDash val="solid"/>
          </a:ln>
        </p:spPr>
      </p:sp>
      <p:sp>
        <p:nvSpPr>
          <p:cNvPr id="19" name="Shape 17"/>
          <p:cNvSpPr/>
          <p:nvPr/>
        </p:nvSpPr>
        <p:spPr>
          <a:xfrm flipV="1">
            <a:off x="10749734" y="4738766"/>
            <a:ext cx="0" cy="198270"/>
          </a:xfrm>
          <a:prstGeom prst="line">
            <a:avLst/>
          </a:prstGeom>
          <a:noFill/>
          <a:ln w="22860">
            <a:solidFill>
              <a:srgbClr val="0072B2"/>
            </a:solidFill>
            <a:prstDash val="solid"/>
            <a:tailEnd type="triangle"/>
          </a:ln>
        </p:spPr>
      </p:sp>
      <p:sp>
        <p:nvSpPr>
          <p:cNvPr id="20" name="Text 18"/>
          <p:cNvSpPr txBox="1"/>
          <p:nvPr/>
        </p:nvSpPr>
        <p:spPr>
          <a:xfrm>
            <a:off x="8002738" y="4967538"/>
            <a:ext cx="840105"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coverage</a:t>
            </a:r>
            <a:endParaRPr lang="en-US" sz="1441" dirty="0"/>
          </a:p>
        </p:txBody>
      </p:sp>
      <p:sp>
        <p:nvSpPr>
          <p:cNvPr id="21" name="Shape 19"/>
          <p:cNvSpPr/>
          <p:nvPr/>
        </p:nvSpPr>
        <p:spPr>
          <a:xfrm>
            <a:off x="788325" y="2939089"/>
            <a:ext cx="1307272" cy="1799677"/>
          </a:xfrm>
          <a:prstGeom prst="roundRect">
            <a:avLst>
              <a:gd name="adj" fmla="val 5596"/>
            </a:avLst>
          </a:prstGeom>
          <a:solidFill>
            <a:srgbClr val="E4F2FB"/>
          </a:solidFill>
          <a:ln w="15240">
            <a:solidFill>
              <a:srgbClr val="0072B2"/>
            </a:solidFill>
            <a:prstDash val="solid"/>
          </a:ln>
        </p:spPr>
      </p:sp>
      <p:sp>
        <p:nvSpPr>
          <p:cNvPr id="22" name="Text 20"/>
          <p:cNvSpPr txBox="1"/>
          <p:nvPr/>
        </p:nvSpPr>
        <p:spPr>
          <a:xfrm>
            <a:off x="849331"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Load points</a:t>
            </a:r>
            <a:endParaRPr lang="en-US" sz="1561" dirty="0"/>
          </a:p>
        </p:txBody>
      </p:sp>
      <p:sp>
        <p:nvSpPr>
          <p:cNvPr id="23" name="Text 21"/>
          <p:cNvSpPr txBox="1"/>
          <p:nvPr/>
        </p:nvSpPr>
        <p:spPr>
          <a:xfrm>
            <a:off x="849331"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[B,2]</a:t>
            </a:r>
            <a:endParaRPr lang="en-US" sz="1441" dirty="0"/>
          </a:p>
        </p:txBody>
      </p:sp>
      <p:sp>
        <p:nvSpPr>
          <p:cNvPr id="24" name="Shape 22"/>
          <p:cNvSpPr/>
          <p:nvPr/>
        </p:nvSpPr>
        <p:spPr>
          <a:xfrm>
            <a:off x="2339621" y="2939089"/>
            <a:ext cx="1307272" cy="1799677"/>
          </a:xfrm>
          <a:prstGeom prst="rect">
            <a:avLst/>
          </a:prstGeom>
          <a:solidFill>
            <a:srgbClr val="E5F7EF"/>
          </a:solidFill>
          <a:ln w="15240">
            <a:solidFill>
              <a:srgbClr val="009E73"/>
            </a:solidFill>
            <a:prstDash val="solid"/>
          </a:ln>
        </p:spPr>
      </p:sp>
      <p:sp>
        <p:nvSpPr>
          <p:cNvPr id="25" name="Text 23"/>
          <p:cNvSpPr txBox="1"/>
          <p:nvPr/>
        </p:nvSpPr>
        <p:spPr>
          <a:xfrm>
            <a:off x="2400627"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a:t>
            </a:r>
            <a:endParaRPr lang="en-US" sz="1561" dirty="0"/>
          </a:p>
        </p:txBody>
      </p:sp>
      <p:sp>
        <p:nvSpPr>
          <p:cNvPr id="26" name="Text 24"/>
          <p:cNvSpPr txBox="1"/>
          <p:nvPr/>
        </p:nvSpPr>
        <p:spPr>
          <a:xfrm>
            <a:off x="2400627"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MLP</a:t>
            </a:r>
            <a:endParaRPr lang="en-US" sz="1441" dirty="0"/>
          </a:p>
        </p:txBody>
      </p:sp>
      <p:sp>
        <p:nvSpPr>
          <p:cNvPr id="27" name="Text 25"/>
          <p:cNvSpPr txBox="1"/>
          <p:nvPr/>
        </p:nvSpPr>
        <p:spPr>
          <a:xfrm>
            <a:off x="2362498"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EpsMLP</a:t>
            </a:r>
            <a:endParaRPr lang="en-US" sz="1441" dirty="0"/>
          </a:p>
        </p:txBody>
      </p:sp>
      <p:sp>
        <p:nvSpPr>
          <p:cNvPr id="28" name="Shape 26"/>
          <p:cNvSpPr/>
          <p:nvPr/>
        </p:nvSpPr>
        <p:spPr>
          <a:xfrm>
            <a:off x="3890916" y="2939089"/>
            <a:ext cx="1307272" cy="1799677"/>
          </a:xfrm>
          <a:prstGeom prst="rect">
            <a:avLst/>
          </a:prstGeom>
          <a:solidFill>
            <a:srgbClr val="F2F4F5"/>
          </a:solidFill>
          <a:ln w="15240">
            <a:solidFill>
              <a:srgbClr val="626B73"/>
            </a:solidFill>
            <a:prstDash val="solid"/>
          </a:ln>
        </p:spPr>
      </p:sp>
      <p:sp>
        <p:nvSpPr>
          <p:cNvPr id="29" name="Text 27"/>
          <p:cNvSpPr txBox="1"/>
          <p:nvPr/>
        </p:nvSpPr>
        <p:spPr>
          <a:xfrm>
            <a:off x="3951922"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30" name="Text 28"/>
          <p:cNvSpPr txBox="1"/>
          <p:nvPr/>
        </p:nvSpPr>
        <p:spPr>
          <a:xfrm>
            <a:off x="3951922"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DDPM/DDIM</a:t>
            </a:r>
            <a:endParaRPr lang="en-US" sz="1441" dirty="0"/>
          </a:p>
        </p:txBody>
      </p:sp>
      <p:sp>
        <p:nvSpPr>
          <p:cNvPr id="31" name="Text 29"/>
          <p:cNvSpPr txBox="1"/>
          <p:nvPr/>
        </p:nvSpPr>
        <p:spPr>
          <a:xfrm>
            <a:off x="3913793"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sample_ddim</a:t>
            </a:r>
            <a:endParaRPr lang="en-US" sz="1441" dirty="0"/>
          </a:p>
        </p:txBody>
      </p:sp>
      <p:sp>
        <p:nvSpPr>
          <p:cNvPr id="32" name="Shape 30"/>
          <p:cNvSpPr/>
          <p:nvPr/>
        </p:nvSpPr>
        <p:spPr>
          <a:xfrm>
            <a:off x="5442212" y="2939089"/>
            <a:ext cx="1307272" cy="1799677"/>
          </a:xfrm>
          <a:prstGeom prst="roundRect">
            <a:avLst>
              <a:gd name="adj" fmla="val 5596"/>
            </a:avLst>
          </a:prstGeom>
          <a:solidFill>
            <a:srgbClr val="FFF0E6"/>
          </a:solidFill>
          <a:ln w="15240">
            <a:solidFill>
              <a:srgbClr val="D55E00"/>
            </a:solidFill>
            <a:prstDash val="solid"/>
          </a:ln>
        </p:spPr>
      </p:sp>
      <p:sp>
        <p:nvSpPr>
          <p:cNvPr id="33" name="Text 31"/>
          <p:cNvSpPr txBox="1"/>
          <p:nvPr/>
        </p:nvSpPr>
        <p:spPr>
          <a:xfrm>
            <a:off x="5503218"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a:t>
            </a:r>
            <a:endParaRPr lang="en-US" sz="1561" dirty="0"/>
          </a:p>
        </p:txBody>
      </p:sp>
      <p:sp>
        <p:nvSpPr>
          <p:cNvPr id="34" name="Text 32"/>
          <p:cNvSpPr txBox="1"/>
          <p:nvPr/>
        </p:nvSpPr>
        <p:spPr>
          <a:xfrm>
            <a:off x="5503218"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coverage</a:t>
            </a:r>
            <a:endParaRPr lang="en-US" sz="1441" dirty="0"/>
          </a:p>
        </p:txBody>
      </p:sp>
      <p:sp>
        <p:nvSpPr>
          <p:cNvPr id="35" name="Shape 33"/>
          <p:cNvSpPr/>
          <p:nvPr/>
        </p:nvSpPr>
        <p:spPr>
          <a:xfrm>
            <a:off x="6993507" y="2939089"/>
            <a:ext cx="1307272" cy="1799677"/>
          </a:xfrm>
          <a:prstGeom prst="roundRect">
            <a:avLst>
              <a:gd name="adj" fmla="val 5596"/>
            </a:avLst>
          </a:prstGeom>
          <a:solidFill>
            <a:srgbClr val="E4F2FB"/>
          </a:solidFill>
          <a:ln w="15240">
            <a:solidFill>
              <a:srgbClr val="0072B2"/>
            </a:solidFill>
            <a:prstDash val="solid"/>
          </a:ln>
        </p:spPr>
      </p:sp>
      <p:sp>
        <p:nvSpPr>
          <p:cNvPr id="36" name="Text 34"/>
          <p:cNvSpPr txBox="1"/>
          <p:nvPr/>
        </p:nvSpPr>
        <p:spPr>
          <a:xfrm>
            <a:off x="7054513" y="3464655"/>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37" name="Text 35"/>
          <p:cNvSpPr txBox="1"/>
          <p:nvPr/>
        </p:nvSpPr>
        <p:spPr>
          <a:xfrm>
            <a:off x="7054513" y="369464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vectors</a:t>
            </a:r>
            <a:endParaRPr lang="en-US" sz="1561" dirty="0"/>
          </a:p>
        </p:txBody>
      </p:sp>
      <p:sp>
        <p:nvSpPr>
          <p:cNvPr id="38" name="Text 36"/>
          <p:cNvSpPr txBox="1"/>
          <p:nvPr/>
        </p:nvSpPr>
        <p:spPr>
          <a:xfrm>
            <a:off x="7054513" y="400089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[1,2]</a:t>
            </a:r>
            <a:endParaRPr lang="en-US" sz="1441" dirty="0"/>
          </a:p>
        </p:txBody>
      </p:sp>
      <p:sp>
        <p:nvSpPr>
          <p:cNvPr id="39" name="Shape 37"/>
          <p:cNvSpPr/>
          <p:nvPr/>
        </p:nvSpPr>
        <p:spPr>
          <a:xfrm>
            <a:off x="8544803" y="2939089"/>
            <a:ext cx="1307272" cy="1799677"/>
          </a:xfrm>
          <a:prstGeom prst="roundRect">
            <a:avLst>
              <a:gd name="adj" fmla="val 5596"/>
            </a:avLst>
          </a:prstGeom>
          <a:solidFill>
            <a:srgbClr val="FFF0E6"/>
          </a:solidFill>
          <a:ln w="15240">
            <a:solidFill>
              <a:srgbClr val="D55E00"/>
            </a:solidFill>
            <a:prstDash val="solid"/>
          </a:ln>
        </p:spPr>
      </p:sp>
      <p:sp>
        <p:nvSpPr>
          <p:cNvPr id="40" name="Text 38"/>
          <p:cNvSpPr txBox="1"/>
          <p:nvPr/>
        </p:nvSpPr>
        <p:spPr>
          <a:xfrm>
            <a:off x="8605809"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Cosine</a:t>
            </a:r>
            <a:endParaRPr lang="en-US" sz="1561" dirty="0"/>
          </a:p>
        </p:txBody>
      </p:sp>
      <p:sp>
        <p:nvSpPr>
          <p:cNvPr id="41" name="Text 39"/>
          <p:cNvSpPr txBox="1"/>
          <p:nvPr/>
        </p:nvSpPr>
        <p:spPr>
          <a:xfrm>
            <a:off x="8605809"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direction</a:t>
            </a:r>
            <a:endParaRPr lang="en-US" sz="1441" dirty="0"/>
          </a:p>
        </p:txBody>
      </p:sp>
      <p:sp>
        <p:nvSpPr>
          <p:cNvPr id="42" name="Text 40"/>
          <p:cNvSpPr txBox="1"/>
          <p:nvPr/>
        </p:nvSpPr>
        <p:spPr>
          <a:xfrm>
            <a:off x="8567680"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cosine_score</a:t>
            </a:r>
            <a:endParaRPr lang="en-US" sz="1441" dirty="0"/>
          </a:p>
        </p:txBody>
      </p:sp>
      <p:sp>
        <p:nvSpPr>
          <p:cNvPr id="43" name="Shape 41"/>
          <p:cNvSpPr/>
          <p:nvPr/>
        </p:nvSpPr>
        <p:spPr>
          <a:xfrm>
            <a:off x="10096099" y="2939089"/>
            <a:ext cx="1307272" cy="1799677"/>
          </a:xfrm>
          <a:prstGeom prst="roundRect">
            <a:avLst>
              <a:gd name="adj" fmla="val 5596"/>
            </a:avLst>
          </a:prstGeom>
          <a:solidFill>
            <a:srgbClr val="F9EAF4"/>
          </a:solidFill>
          <a:ln w="15240">
            <a:solidFill>
              <a:srgbClr val="CC79A7"/>
            </a:solidFill>
            <a:prstDash val="solid"/>
          </a:ln>
        </p:spPr>
      </p:sp>
      <p:sp>
        <p:nvSpPr>
          <p:cNvPr id="44" name="Text 42"/>
          <p:cNvSpPr txBox="1"/>
          <p:nvPr/>
        </p:nvSpPr>
        <p:spPr>
          <a:xfrm>
            <a:off x="10157105"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Report</a:t>
            </a:r>
            <a:endParaRPr lang="en-US" sz="1561" dirty="0"/>
          </a:p>
        </p:txBody>
      </p:sp>
      <p:sp>
        <p:nvSpPr>
          <p:cNvPr id="45" name="Text 43"/>
          <p:cNvSpPr txBox="1"/>
          <p:nvPr/>
        </p:nvSpPr>
        <p:spPr>
          <a:xfrm>
            <a:off x="10157105"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settings</a:t>
            </a:r>
            <a:endParaRPr lang="en-US" sz="1441" dirty="0"/>
          </a:p>
        </p:txBody>
      </p:sp>
      <p:sp>
        <p:nvSpPr>
          <p:cNvPr id="46" name="Shape 44"/>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7" name="Text 45"/>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8" name="Shape 46"/>
          <p:cNvSpPr/>
          <p:nvPr/>
        </p:nvSpPr>
        <p:spPr>
          <a:xfrm>
            <a:off x="1676436" y="5630979"/>
            <a:ext cx="198270" cy="198270"/>
          </a:xfrm>
          <a:prstGeom prst="rect">
            <a:avLst/>
          </a:prstGeom>
          <a:solidFill>
            <a:srgbClr val="E5F7EF"/>
          </a:solidFill>
          <a:ln w="15240">
            <a:solidFill>
              <a:srgbClr val="009E73"/>
            </a:solidFill>
            <a:prstDash val="solid"/>
          </a:ln>
        </p:spPr>
      </p:sp>
      <p:sp>
        <p:nvSpPr>
          <p:cNvPr id="49" name="Text 47"/>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50" name="Shape 48"/>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51" name="Text 49"/>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52" name="Shape 50"/>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53" name="Text 51"/>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54" name="Shape 52"/>
          <p:cNvSpPr/>
          <p:nvPr/>
        </p:nvSpPr>
        <p:spPr>
          <a:xfrm>
            <a:off x="4761857" y="5630979"/>
            <a:ext cx="198270" cy="198270"/>
          </a:xfrm>
          <a:prstGeom prst="rect">
            <a:avLst/>
          </a:prstGeom>
          <a:solidFill>
            <a:srgbClr val="F2F4F5"/>
          </a:solidFill>
          <a:ln w="15240">
            <a:solidFill>
              <a:srgbClr val="626B73"/>
            </a:solidFill>
            <a:prstDash val="solid"/>
          </a:ln>
        </p:spPr>
      </p:sp>
      <p:sp>
        <p:nvSpPr>
          <p:cNvPr id="55" name="Text 53"/>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6" name="Shape 54"/>
          <p:cNvSpPr/>
          <p:nvPr/>
        </p:nvSpPr>
        <p:spPr>
          <a:xfrm>
            <a:off x="5618334" y="5730113"/>
            <a:ext cx="335533" cy="0"/>
          </a:xfrm>
          <a:prstGeom prst="line">
            <a:avLst/>
          </a:prstGeom>
          <a:noFill/>
          <a:ln w="22860">
            <a:solidFill>
              <a:srgbClr val="009E73"/>
            </a:solidFill>
            <a:prstDash val="solid"/>
            <a:tailEnd type="triangle"/>
          </a:ln>
        </p:spPr>
      </p:sp>
      <p:sp>
        <p:nvSpPr>
          <p:cNvPr id="57" name="Text 55"/>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8" name="Text 5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Cosine checks what?</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4: diffusion on the CPU</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Check direct noising.</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point denoiser.</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DDPM and DDIM.</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stored images.</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visible failures.</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39 seconds. Image training/downloads: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Samples, timings, comparison and explanations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Foster, ch. 8</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Core reading</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DDPM paper</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Noise objective</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HF diffusion course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Guided notebooks</a:t>
            </a:r>
            <a:endParaRPr lang="en-US" sz="1500" dirty="0"/>
          </a:p>
        </p:txBody>
      </p:sp>
      <p:sp>
        <p:nvSpPr>
          <p:cNvPr id="15" name="Shape 10"/>
          <p:cNvSpPr/>
          <p:nvPr/>
        </p:nvSpPr>
        <p:spPr>
          <a:xfrm>
            <a:off x="548640" y="4023360"/>
            <a:ext cx="457200" cy="457200"/>
          </a:xfrm>
          <a:prstGeom prst="ellipse">
            <a:avLst/>
          </a:prstGeom>
          <a:solidFill>
            <a:srgbClr val="DC2626"/>
          </a:solidFill>
          <a:ln w="12700">
            <a:solidFill>
              <a:srgbClr val="DC2626"/>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Video: DataScienceCastnet — Diffusion Course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Independent HF class walkthrough</a:t>
            </a:r>
            <a:endParaRPr lang="en-US" sz="1500" dirty="0"/>
          </a:p>
        </p:txBody>
      </p:sp>
      <p:sp>
        <p:nvSpPr>
          <p:cNvPr id="18" name="Shape 12"/>
          <p:cNvSpPr/>
          <p:nvPr/>
        </p:nvSpPr>
        <p:spPr>
          <a:xfrm>
            <a:off x="548640" y="4846320"/>
            <a:ext cx="457200" cy="457200"/>
          </a:xfrm>
          <a:prstGeom prst="ellipse">
            <a:avLst/>
          </a:prstGeom>
          <a:solidFill>
            <a:srgbClr val="4F46E5"/>
          </a:solidFill>
          <a:ln w="12700">
            <a:solidFill>
              <a:srgbClr val="4F46E5"/>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SD-Turbo model card</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Supported settings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04  ·  DIFFUSION MODELS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4: what we learned</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Noising</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Fixed rule</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Prediction</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Known noise</a:t>
            </a:r>
            <a:endParaRPr lang="en-US" sz="1523" dirty="0"/>
          </a:p>
        </p:txBody>
      </p:sp>
      <p:sp>
        <p:nvSpPr>
          <p:cNvPr id="12" name="Shape 10"/>
          <p:cNvSpPr/>
          <p:nvPr/>
        </p:nvSpPr>
        <p:spPr>
          <a:xfrm>
            <a:off x="7921301" y="1630142"/>
            <a:ext cx="3323515" cy="1376531"/>
          </a:xfrm>
          <a:prstGeom prst="rect">
            <a:avLst/>
          </a:prstGeom>
          <a:solidFill>
            <a:srgbClr val="E5F7EF"/>
          </a:solidFill>
          <a:ln w="15240">
            <a:solidFill>
              <a:srgbClr val="009E73"/>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Generation</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Fixed weights</a:t>
            </a:r>
            <a:endParaRPr lang="en-US" sz="1523" dirty="0"/>
          </a:p>
        </p:txBody>
      </p:sp>
      <p:sp>
        <p:nvSpPr>
          <p:cNvPr id="15" name="Shape 13"/>
          <p:cNvSpPr/>
          <p:nvPr/>
        </p:nvSpPr>
        <p:spPr>
          <a:xfrm>
            <a:off x="946879" y="3170368"/>
            <a:ext cx="3323515" cy="1376531"/>
          </a:xfrm>
          <a:prstGeom prst="rect">
            <a:avLst/>
          </a:prstGeom>
          <a:solidFill>
            <a:srgbClr val="E5F7EF"/>
          </a:solidFill>
          <a:ln w="15240">
            <a:solidFill>
              <a:srgbClr val="009E73"/>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Latents</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Decode pixels</a:t>
            </a:r>
            <a:endParaRPr lang="en-US" sz="1523" dirty="0"/>
          </a:p>
        </p:txBody>
      </p:sp>
      <p:sp>
        <p:nvSpPr>
          <p:cNvPr id="18" name="Shape 16"/>
          <p:cNvSpPr/>
          <p:nvPr/>
        </p:nvSpPr>
        <p:spPr>
          <a:xfrm>
            <a:off x="4434090" y="3170368"/>
            <a:ext cx="3323515" cy="1376531"/>
          </a:xfrm>
          <a:prstGeom prst="rect">
            <a:avLst/>
          </a:prstGeom>
          <a:solidFill>
            <a:srgbClr val="F2F4F5"/>
          </a:solidFill>
          <a:ln w="15240">
            <a:solidFill>
              <a:srgbClr val="626B73"/>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Controls</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Model-specific</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Evaluation</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Inspect failures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0.8 − 0.3 = 0.5.</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attention reads token representations.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Does DDIM retrain?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Diffusion Models</dc:title>
  <dc:subject>Generative AI (MSc in Artificial Intelligence)</dc:subject>
  <dc:creator>Generative AI module team</dc:creator>
  <cp:lastModifiedBy>Generative AI module team</cp:lastModifiedBy>
  <cp:revision>1</cp:revision>
  <dcterms:created xsi:type="dcterms:W3CDTF">2026-10-11T21:26:02Z</dcterms:created>
  <dcterms:modified xsi:type="dcterms:W3CDTF">2026-10-11T21:26:03Z</dcterms:modified>
</cp:coreProperties>
</file>