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transformer converts the existing text into predictions, and our small lab makes that route visible.
Explain: A token is one unit a model reads. Our lab uses characters, while larger models often use word pieces. A transformer exchanges information between allowed token positions. Its vocabulary output gives scores for possible next tokens. Generation uses those scores to extend a prefix.
Example: After ROMEO and a colon, a play often supplies a new line and dialogue. The model learns patterns rather than an infallible rule. The cover is an illustrative causal attention pattern, not a measurement from the character model or evidence of story understanding.
Ask: Does one plausible continuation show that the model knows the play’s facts?
Answer: No. Inspect the actual continuation and evaluate the claim separately.
Watch out: The local core trains a smaller model on Tiny Shakespeare. Stored results belong to their documented longer GPU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Explain the complete prediction route, then use its shapes and checks to build the same mechanism.
Explain: A vector is an ordered list of numbers. Attention mixes information from allowed positions. A block combines attention with feature transformations and additions. Training uses known targets to change learned weights. MIMLO means minimum intended module learning outcome.
Example: Trace three input characters into three vectors before discussing a model name. Then calculate one attention row, check which future positions are blocked, and identify the next-character targets. This connects numerical understanding with the implemented function instead of memorising the architecture’s vocabulary.
Ask: Which outcome tests whether you can implement attention rather than merely name it?
Answer: Calculate the mixture and verify the function against its numerical and causal checks.
Watch out: Tensor axes, position rules and target alignment must remain consistent. Correct shapes alone do not establish useful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Transformers connect the earlier generative mechanisms with language, multimodal systems and later applications.
Explain: A VAE, or variational autoencoder, compresses and rebuilds examples. A GAN trains a generator using a discriminator’s feedback. An LLM, or large language model, predicts token sequences. RAG means retrieval-augmented generation: retrieve evidence before answering. A transformer is an architecture used within many of these systems.
Example: Week one used a text generator, and diffusion can use a transformer text encoder to represent a prompt. Today explains the vector operations inside such components. Later weeks add training stages, prompting, adaptation, deployment and evidence retrieval; those application roles are broader than one attention layer.
Ask: Is a transformer itself a complete chatbot application?
Answer: No. Applications also need data, interfaces, generation rules and checking.
Watch out: The course map previews topics in order. Explain the abbreviations without importing another module’s outcomes or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Use the prerequisite terms to describe the numerical input, target and mask before implementing attention.
Explain: A vector is an ordered list of numbers. A matrix shape names row and column counts. A target is the known answer used to score a prediction. An embedding supplies a learned vector for an ID. Softmax turns a score row into probabilities. A causal mask blocks later input positions.
Example: For input cat from cats, the target is ats. Three characters looked up at width eight give [3,8]. Vocabulary IDs identify characters, while row indices identify positions. This separates the catalogue lookup analogy from target shifting and avoids treating a larger ID as a more important character.
Ask: Do inputs and shifted targets have different sequence lengths?
Answer: No. Each input position has one following-character target.
Watch out: Explain named axes before reshaping. An attention mask and positional information solve different problems, and neither is a known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pronoun example motivates context, while the architecture determines which contextual clues a position may read.
Explain: Context consists of surrounding information relevant to a token. Coreference concerns which expression a pronoun refers to. A bidirectional encoder can read both sides of the supplied input. A causal decoder reads its current position and earlier positions. Attention weights show information mixtures, rather than an explicit pronoun answer.
Example: In the animal avoided the street because it was tired, tired suggests the animal. Replacing tired with wide suggests the street. A BERT position at it can access that later adjective. GPT-2’s earlier it position cannot, even though a later prediction can use the completed sentence.
Ask: Should changing the later adjective change GPT-2’s earlier it representation?
Answer: No, when its prefix through it remains identical and causality is respected.
Watch out: An unchanged earlier row is expected information access. It does not demonstrate failure to use a clue at later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Attention gives distant allowed positions a direct route for information exchange instead of a recurrent chain.
Explain: A recurrent network passes a hidden memory state through successive positions. Long-range dependence means an earlier item matters much later. Intermediate states can lose information or weaken learning signals. Attention compares an allowed source directly with a query. The model still must learn useful comparisons.
Example: Imagine an early character name influencing a later pronoun. A recurrent route carries the clue through every intervening step. Attention provides a direct source-to-query route. The relay analogy explains path length, but numerical mixing is not a human conversation or a guarantee of correct reasoning.
Ask: Which route adds more intermediate steps as the sentence grows?
Answer: The recurrent route between the two positions.
Watch out: Direct access has computational costs, and a model can ignore information that it is allowed to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overview follows actual text processing into next-character probabilities and an extended prefix.
Explain: Encoding maps each character to an ID. Token and position lookups form input vectors. Causal blocks exchange and transform allowed information. A vocabulary head produces logits at every position. Only the final current position supplies scores for the next unknown character.
Example: ROMEO: has six characters, giving IDs [1,6] for one example. Positioned vectors have [1,6,d], and logits have [1,6,V], where d is width and V vocabulary size. Selecting the last row gives [1,V]. Sampling appends an ID while learned weights remain fixed.
Ask: Can the next prediction use characters that have not been generated?
Answer: No. It uses the current prefix and repeats after one character is appended.
Watch out: The embedding lookup and contextual representation are different stages. Fluent text alone does not demonstrate knowledge, and generation does not update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Known training positions can be processed together, while generating unknown tokens still proceeds through an expanding prefix.
Explain: Recurrence makes each state depend on the previous state. An LSTM learns mechanisms for retaining and discarding information. Transformer attention removes that recurrent chain from this path. A causal mask prevents future inputs leaking into predictions. It permits many known training positions to be evaluated together.
Example: For training input cat and targets ats, one masked forward pass predicts all three targets. At generation time, the next unknown character must be selected before the following prediction can use it. The direct-route diagram illustrates connectivity rather than claiming equal runtimes for every sequence-processing method.
Ask: Does parallel training mean the whole continuation is generated in parallel?
Answer: No. Each next prediction depends on the current prefix, including earlier generated tokens.
Watch out: LSTMs can help long-term dependencies. Their existence does not remove the sequential state dependency in the recurrent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Attention exchanges information directly but full pairwise comparisons grow quadratically with the sequence length.
Explain: RNN means recurrent neural network. LSTM means long short-term memory, a recurrent design with learned retention gates. A transformer compares queries with allowed keys. Full attention considers each query-source pair. Causal generation remains sequential even when masked training processes positions together.
Example: Four positions give a four-by-four score table containing sixteen entries. Eight positions give sixty-four entries. Doubling the position count therefore quadruples the table. A meeting analogy describes direct exchange, but does not remove the arithmetic and storage required for all comparisons.
Ask: If the token count doubles, how does a full score table grow?
Answer: It has four times as many entries.
Watch out: The table size is not a measured runtime. Efficient implementations can avoid storing all entries, and restricted attention changes the comparison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Text becomes token IDs and vectors, with position represented separately from token identity.
Explain: Tokenisation divides an input into units and assigns vocabulary IDs. An ID selects a row of an embedding table. An embedding is a learned numerical vector. Position information describes where a token occurs. Identity and position answer different questions.
Example: In a classroom vocabulary, cat might become IDs [1,0,3]. Those numbers identify three characters, regardless of their magnitudes. Width-eight lookup gives [3,8]: three positions and eight features. The real notebook prints its own vocabulary; the invented IDs explain the operation rather than reporting its measured data.
Ask: Does ID seven mean the token is at sentence position seven?
Answer: No. The vocabulary ID and the position index are separate.
Watch out: Lookup vectors are not automatically good whole-document search representations. Search embeddings require suitable training and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Embedding lookup preserves the number of positions while replacing each token ID with a feature vector.
Explain: A token is one represented input unit. Our character model uses one character per token. A feature is one numerical entry in its vector. The embedding table contains one learned vector per vocabulary item. Lookup selects rows without treating ID magnitude as meaning.
Example: Three IDs for cat become a [3,8] vector table when width is eight. With two examples, its batch shape is [2,3,8]. The axes mean examples, positions and features. This catalogue analogy explains lookup, but a learned row is a numerical representation rather than a human dictionary definition.
Ask: Which axis counts characters in [3,8]?
Answer: The first axis counts three positions; the second counts eight features.
Watch out: A vocabulary may use word pieces in another model. Always inspect the actual tokenizer and state what each axis represents.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Position information supplies order, but additive positions and rotary query-key transformations enter the model differently.
Explain: Plain unrestricted self-attention follows a shuffle of input rows with the same shuffle of outputs. This property is permutation equivariance. Sinusoidal positions add fixed patterns to input vectors. Our model adds learned absolute position vectors. RoPE means rotary position embeddings and rotates query-key feature pairs.
Example: Token [1,0] plus position [0,1] gives positioned input [1,1] in an illustrative addition. RoPE instead rotates comparisons inside attention. Numbered-seat and clock-hand analogies support intuition, but neither describes every learned feature or proves reliable use of a longer context.
Ask: Is RoPE another position vector added to the token embedding?
Answer: No. It rotates query and key feature pairs according to position.
Watch out: Increasing a configured context limit requires suitable positions, training and evaluation. It does not by itself establish reliable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One attention output mixes value information according to how its query matches the allowed keys.
Explain: A query supplies matching features for a position seeking information. A key supplies matching features for a source. A value carries information into the output mixture. Learned projections create these vectors. The names describe computational roles rather than literal questions or human concepts.
Example: A library request matches catalogue descriptions, then the books provide contents. Likewise, query-key comparisons determine weights, while values supply what those weights mix. The analogy breaks when it suggests human intention: projections and weighted sums operate on numbers learned through training.
Ask: Which vectors carry the information that is mixed into the output?
Answer: Values. Queries and keys determine the matching weights.
Watch out: Keep the value branch separate from score calculation. A bright weight alone cannot tell you the entire effect on the model’s final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attention pipeline makes weights from queries and keys, while values arrive on their own branch.
Explain: Projection creates Q, K and V vectors. Query-key dot products make scores. Scaling controls their magnitude. A mask blocks disallowed positions before softmax. Row weights then multiply values to make the output mixture.
Example: For three positions and two features, Q and K are [3,2], while scores and weights are [3,3]. Values [3,2] give output [3,2]. In the supplied unmasked example, cat weights are approximately [0.40,0.20,0.40], giving output approximately [0.60,0.40]. These vectors illustrate arithmetic rather than learned word meanings.
Ask: Which branch supplies information rather than matching scores?
Answer: The value branch supplies the vectors mixed at the final operation.
Watch out: A finite zero score keeps positive softmax weight. Blocking requires a negative-infinity score, and each row must retain at least one allowed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Three learned projections create queries, keys and values, and the value branch bypasses the score calculation.
Explain: A projection is a learned linear transformation of numerical features. The query and key projections produce matching vectors. Their dot products give scores. A row softmax converts scores into weights. The value projection supplies the vectors multiplied by those weights.
Example: With three positions and two query-key features, Q and K are [3,2], so Q times K-transpose is [3,3]. Values of width two yield a [3,2] output. The catalogue analogy separates matching descriptions from carried contents; the vectors themselves remain learned numerical features.
Ask: Do the final attention weights multiply keys or values?
Answer: Values. Keys were used to calculate scores.
Watch out: Do not connect the value branch into softmax. Its information goes directly to the weighted mixture after the query-key scores determine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supplied three-token example turns one row of dot products into a numerical mixture before introducing compact notation.
Explain: A dot product multiplies matching vector entries and adds them. Scaling controls the score magnitude. Softmax exponentiates a row and divides by its sum. The resulting weights sum to one. Weighted values produce one output vector per query.
Example: Cat’s query [1,0] gives scaled scores approximately [0.71,0,0.71]. The supplied weights are approximately [0.40,0.20,0.40]. Mixing values [1,0], [0,1] and [0.5,0.5] gives approximately [0.60,0.40]. These are chosen classroom vectors, not trained-word measurements or a claim about linguistic meaning.
Ask: Why does a zero score receive positive weight?
Answer: Exponentiating zero gives one, so it remains in the row’s normalisation.
Watch out: Only a masked negative-infinity score gets zero weight. Keep full precision during calculation and round the displayed result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attention equation compresses comparison, scaling, row normalisation and value mixing into one expression.
Explain: Q, K and V are query, key and value tables. Transpose swaps K’s final two axes. The key width is the number of features in each query and key. Softmax normalises each source-position row. Multiplication by V produces a vector at each query position.
Example: For Q and K shaped [3,2], QK-transpose has shape [3,3]. With V shaped [3,5], the output is [3,5]. The score table counts query-source pairs, while the output width comes from values. This extends the previous example without inventing trained-model measurements.
Ask: What is the score-table shape for three queries and three keys?
Answer: [3,3], with one entry for every query-key pair.
Watch out: Do not use feature width as the token-table dimension. Query-key widths must match, but the value width can be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Scaling controls the dot-product spread so softmax need not become excessively concentrated solely because vectors are wider.
Explain: For independent, mean-zero, unit-variance entries, dot-product variance grows with query-key width. Its standard deviation therefore grows with the square root of that width. Dividing by the square root controls scale. It does not remove future positions. A causal mask performs that separate operation.
Example: At width sixty-four, the illustrative standard deviation is eight. Dividing scores by eight counteracts this width effect. Reducing volume before a sensitive amplifier is a useful analogy, but learned vectors need not satisfy the assumed random-entry conditions or produce uniform weights.
Ask: Which option states the purpose of scaling?
Answer: C: prevent overly extreme softmax weights.
Watch out: A confuses scale control with uniform weighting, B describes masking, and D concerns vocabulary size. Score preferences can remain strong after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Multiple heads learn several smaller information mixtures before their outputs are joined and projected.
Explain: Each head has its own learned query, key and value projections. Its feature width is smaller than the model width. Concatenation joins outputs along the feature axis. The output projection mixes their joined features. Heads need not learn distinct human-recognisable jobs.
Example: Model width thirty-two split across four heads gives eight features per head. Four [T,8] outputs join into [T,32], rather than [T,128]. Different-reader lenses suggest multiple learned views, but no programmer assigns one head exclusively to grammar or another exclusively to names.
Ask: What width returns after joining four eight-feature head outputs?
Answer: Thirty-two. The output projection returns the model-width representation.
Watch out: Heads and layers are different axes. Naively stored attention tables grow with head count even when total model width remains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Multi-head notation names each projection and shows the concatenation followed by the output projection.
Explain: X is the input-vector table. The superscript identifies the head, while h counts heads. Query, key and value matrices are learned projections. Concat joins head features. The output matrix mixes the joined representation. Each layer owns its own projection parameters.
Example: An input [2,10,32] with four heads becomes [2,4,10,8] for attention. Joining the outputs restores [2,10,32]. The notation describes the same reshape and transpose route implemented in the notebook, not four full-width networks each producing an extra thirty-two features.
Ask: Does the head index identify a transformer layer?
Answer: No. A layer contains its own set of heads.
Watch out: At fixed total width, main matrix-product work stays similar; score-table storage still depends on head count. More heads do not guarantee better interpretations or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causal mask blocks later input positions while allowing the current input to predict its following target.
Explain: A causal rule restricts information to the present and past. The diagonal represents each input reading itself. Future columns sit above the diagonal. Masked scores become negative infinity before softmax. Their exponential is zero, producing zero future weight.
Example: From cats, use inputs cat and targets ats. The c position predicts a using only c. The a position may use c and a to predict t. Covering future answers explains training without leakage, but does not mean the diagonal must be covered too.
Ask: Which inputs may the first c position read?
Answer: Only c. The a and t inputs are future positions for that query.
Watch out: Targets are shifted, but shifting alone does not prevent later inputs leaking into predictions. Keep the causal mask and the current diagonal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Cross-attention uses queries from one sequence to read keys and values supplied by a different sequence.
Explain: Self-attention creates queries, keys and values from the same sequence. Cross-attention takes queries from one sequence and key-value information from another. Encoded source states can supply that information to a translation decoder. The score table need not be square. Diffusion can similarly connect image and prompt representations.
Example: Three translated-token queries and five source-token keys produce a [3,5] score table. The weighted source values produce three output vectors. One group consulting another group’s notes describes the roles, but the actual transfer remains a numerical mixture of learned representations.
Ask: Where do translation-decoder queries come from?
Answer: Decoder states; encoded source states provide the keys and values.
Watch out: Do not assume self-attention’s equal lengths in a cross-attention implementation. Match key and value source positions while retaining the separate query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archived BERT summary displays a deliberately selected head, rather than proving that the model resolved the pronoun.
Explain: BERT is a bidirectional encoder with pretrained weights. An attention cell is one head’s mixing weight for one input. Selecting the largest cell creates selected evidence. Other heads can behave differently. The character model and the pretrained inspection model are separate systems.
Example: The archived rule selects layer 4, head 11, with it-to-animal weight 0.847. Inspect the full matrix and the across-head distribution before judging representativeness. The route analogy shows a connection, but neither the largest cell nor the summary establishes a tested coreference decision.
Ask: Does the strongest selected head represent every head fairly?
Answer: No. Disclose the selection and inspect the wider distribution.
Watch out: Values, residual paths and other layers affect the output. The shorter local character training does not reproduce BERT’s archived attention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Archived GPT-2 attention obeys the causal boundary, so a later adjective cannot change an earlier unchanged-prefix row.
Explain: GPT-2 is a causal decoder with pretrained weights. A query row shows which source positions contribute within one head. Positions above the diagonal are later than that query. The causal rule blocks those positions. Heads can still distribute allowed weights differently.
Example: The stored example compares a spreading head with a previous-token-focused head. At it, tired or wide appears later and is blocked. Therefore the earlier row remains unchanged when the prefix through it is identical. Test adjective use at a later position or after the complete sentence instead.
Ask: Where could we test whether the final adjective affects a prediction?
Answer: At a later output that is allowed to read that adjective.
Watch out: The stored mask evidence is not a pronoun-resolution test. Historical measurements stay separate from optional new inspection runs and the local character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Softmax converts exponentiated scores into row shares, leaving a positive share for each finite zero score.
Explain: Exponentiation makes each finite score positive. Row normalisation divides those values by their sum. Softmax is a smooth weighting operation rather than a hard maximum. Unrounded entries sum to one. Displayed rounded entries can sum slightly above or below one.
Example: For supplied scaled scores [2,0,0], exponentials are approximately [7.39,1,1]. Their sum is approximately 9.39, giving approximately [0.79,0.11,0.11]. These are illustrative arithmetic values. The rounding explains an apparent displayed total of 1.01 without changing the underlying normalised row.
Ask: Which option matches the calculation?
Answer: D. The zero scores each retain about 0.11, rather than becoming blocked.
Watch out: Do not divide raw scores by their sum. Answer A is a hard maximum, and masking requires a separate negative-infinity score before normalisation.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transformer block exchanges information between positions and then transforms each position’s features.
Explain: Attention performs the exchange between allowed positions. A feed-forward network changes features separately at each position. Within one layer, its weights are shared across positions. Residual addition preserves an input route. Normalisation adjusts feature scale around these sublayers.
Example: Imagine group discussion followed by individual revision. The analogy separates information exchange from per-position processing. A position’s feed-forward network receives its contextual vector rather than reading other positions directly. Each new layer can then exchange information again using its own learned parameters.
Ask: Which stage directly mixes information across positions?
Answer: Attention. The feed-forward network acts separately at each position.
Watch out: The same block structure does not mean every layer shares weights. Also distinguish feature-axis transformations from token-axis information exchange when reading a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pre-norm block adds each learned correction back to its matching input representation.
Explain: Pre-norm applies layer normalisation before a sublayer. Attention supplies one correction, and the feed-forward network supplies another. A residual adds matching entries rather than joining feature lists. Shapes return to the model width. Layer normalisation itself has learned scale and shift.
Example: Input [1,2] plus correction [0.3,−0.1] produces [1.3,1.9]. That two-number example explains addition without claiming a measured activation. The lab normalises, attends and adds, then normalises, transforms and adds. Its feed-forward network expands features internally before returning to the original width.
Ask: Does a residual concatenate [1,2] and [0.3,−0.1]?
Answer: No. It adds entries to produce [1.3,1.9].
Watch out: Residual addition does not update weights. Training’s optimiser is separate, and the original transformer’s post-norm ordering differs from this pre-norm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three standard architecture families differ in information access and the role of their outputs.
Explain: An encoder can read both sides of the supplied input. A decoder uses causal self-attention for continuation. An encoder-decoder first represents a source. Its decoder uses causal and cross-attention to generate an output. Family names describe access patterns rather than guaranteed task quality.
Example: BERT can predict a masked word using its neighbours. GPT-2 extends a prefix one token at a time. T5 can transform an encoded source into generated text. The decoder’s dashed loop represents repeating with an extended prefix; it does not mean training updates occur during generation.
Ask: Which standard family predicts a missing token from both neighbours?
Answer: An encoder family such as BERT.
Watch out: A standard BERT encoder is not a chat generator. Architecture guidance helps choose a mechanism, while actual task quality still requires suitable training and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Choose an architecture by required inputs, outputs and information access before choosing a model name.
Explain: Complete-input classification naturally suits an encoder. Prefix continuation naturally suits a decoder. Source-to-output generation naturally suits an encoder-decoder. Prompted decoders can also perform translation and other mapping tasks. These are useful tendencies rather than exclusive restrictions.
Example: Document search can use a trained text-embedding model, while answer generation uses a separate decoder. A tool analogy explains choosing functions by the job, but model-family labels alone do not establish effective search similarity or faithful answers. Inspect the exact representations and generated outputs.
Ask: Can search and answer generation use different models?
Answer: Yes. The application can combine models with distinct roles.
Watch out: Token lookup embeddings are not automatically useful document-search vectors. Train or select appropriate text embeddings, and evaluate retrieval and generation separately before accepting the combined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Search needs trained comparable text representations, while answer generation needs an appropriate generating model.
Explain: A text embedding represents a query or document as a vector. Search compares those vectors. A generating decoder writes a token sequence. Retrieval can provide evidence before generation. A token lookup table serves a different representation task from trained whole-text search.
Example: A librarian finds relevant books before a writer composes an answer. The numerical system similarly retrieves passages using comparable text embeddings, then supplies evidence to a decoder. This role distinction previews week twelve; it does not guarantee that retrieval found the required fact or that the answer used it correctly.
Ask: Which option fits document search plus generated answers?
Answer: A: trained text embeddings for search, followed by a generating decoder.
Watch out: D wrongly restricts the application to encoder–decoder attention; separate search and generation models also work. B and C treat a standard BERT encoder as a chat generator without the required generation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custom function implements the same attention recipe while its Boolean mask convention differs from PyTorch SDPA.
Explain: The dot product compares query and key vectors. Scaling divides by the square root of key width. A blocked mask replaces future scores with negative infinity. Row softmax normalises over source positions. Multiplication by values returns the mixture and the attention table.
Example: Our custom mask uses True to mean blocked. PyTorch scaled_dot_product_attention uses True to mean allowed. An otherwise correctly shaped [T,T] mask can therefore reverse access if passed unchanged. Keep the mask on the query tensor’s device, or use the built-in causal option where appropriate.
Ask: Does True mean blocked in the built-in scaled-dot-product attention API?
Answer: No. Its Boolean True means allowed; invert the custom mask or use its causal option.
Watch out: Do not assume all PyTorch masking interfaces use one convention. Also set attention dropout explicitly to zero when evaluating an interface with a dropout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Training changes learned weights using known prediction targets, while inference uses those weights to produce outputs.
Explain: A target is a known answer used to score a prediction. Cross-entropy penalises low probability for that answer. Backpropagation calculates gradients of the loss. An optimiser uses gradients to change registered parameters. Inference produces outputs without that training update.
Example: A musician’s practice changes skill, while a performance uses the learned skill. In our model, get_batch shifts text to make next-character targets. Generation instead appends sampled characters to its prefix. The analogy distinguishes updates from use, rather than attributing human understanding to the model.
Ask: Does generating a new character update the model’s weights?
Answer: No. Its sampling loop changes the prefix, while the training optimiser changes weights.
Watch out: Evaluation mode controls dropout, and no_grad controls gradient recording. They have separate purposes and neither is a substitute for correct target alignment.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Next-character targets bypass the representation path and join predicted scores at the training loss.
Explain: get_batch returns matching input and target shapes. Inputs pass through token-position lookups and causal blocks. The vocabulary head scores possible next characters. Cross-entropy compares these scores with targets. Gradients and an optimiser step update learned parameters.
Example: From cats, cat predicts ats. The c input predicts a while reading only c; the a input predicts t while reading c and a. One masked forward pass can score all three positions. The target branch carries the known answers directly into the comparison rather than leaking them into earlier representations.
Ask: Where do these target labels come from?
Answer: The following characters in the text, rather than manually assigned class labels.
Watch out: Shifting targets is not a replacement for masking. Validation must avoid updates, and repeated validation checks are development evidence rather than a frozen final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Self-supervised objectives make known targets from text itself, using different visibility rules and reconstruction tasks.
Explain: Self-supervised means the data supplies its own training targets. BERT predicts selected tokens using both sides of the input. A causal decoder predicts each next token from its allowed prefix. T5 reconstructs removed spans. Each objective defines a different prediction task.
Example: From cats, the character decoder receives cat with targets ats. The input c predicts a. A BERT example may hide cat in The cat sat, while T5 removes a span and generates its marked missing content. These supplied examples explain targets without reporting a trained outcome.
Ask: Which target belongs to the input c in cats?
Answer: The next character a.
Watch out: Shifted targets do not remove the need for a causal mask. In BERT’s original selection recipe, not every selected token is replaced by a mask symbol.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Perplexity summarises held-out prediction uncertainty for a specified tokenizer and evaluation procedure.
Explain: Negative log-probability measures surprise at the known target. Average cross-entropy uses that surprise across examples. Perplexity is the exponential of this average when using natural logarithms. It can be interpreted as equivalent uniform-choice uncertainty. It does not measure factual correctness.
Example: Illustrative average loss ln(4) gives perplexity four. This does not mean every position has exactly four candidate tokens. A character tokenizer and a word-piece tokenizer define different prediction units, so their raw perplexities cannot be directly compared even on similar writing.
Ask: Can character and word-piece perplexities be compared directly?
Answer: No. Keep tokenizer, held-out text and scoring procedure consistent, or define a common normalised measure.
Watch out: Ordinary causal perplexity is not the same task as masked BERT scoring. Freeze choices before a final test rather than selecting settings on that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archived character-model curve measures separate-text prediction error in its documented longer experiment.
Explain: Tiny Shakespeare is a collection of Shakespeare text. Validation estimates prediction error on a separate portion. A lower loss means improved predictability under that procedure. It does not directly measure coherent storytelling. The current CPU core uses the same text with a smaller model and training budget.
Example: Stored measurements and samples document the longer model’s parameters, updates and device through fill placeholders in the Word notes. Read actual spelling, dialogue labels and malformed fragments rather than claiming guaranteed fluency. Today’s small CPU model may learn limited patterns while producing substantial nonsense.
Ask: What evidence would help evaluate whether generated dialogue maintains a coherent story?
Answer: Inspect actual continuations using a stated coherence criterion; loss alone cannot establish it.
Watch out: Keep archived and current results distinct. Repeated validation observations can guide development, but they should not become an untouched final-test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Full attention has quadratic pairwise work, while efficient implementations can avoid storing the complete score table.
Explain: For n positions, full scores have n-by-n entries. FlashAttention calculates exact attention in tiles. It avoids writing the entire table to memory. Restricted attention changes which comparisons occur. Grouped-query attention shares key-value heads to reduce their storage.
Example: Doubling sequence length quadruples one full score table. The plotted example assumes one head and two bytes per score; it is theoretical arithmetic, not a device runtime measurement. A square-area analogy explains the growth but omits other tensors, implementation choices and hardware effects.
Ask: Does FlashAttention eliminate all quadratic score arithmetic?
Answer: No. It still calculates full attention scores, while saving storage and memory traffic.
Watch out: Long context requires appropriate positions, training and evaluation. Available capacity does not guarantee reliable use of every distant detail, and sliding windows restrict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Generation repeatedly predicts one character from the current prefix without changing learned parameters.
Explain: Encoding maps a prefix into IDs. The model keeps the latest context window. Its final position produces logits for the next character. Temperature rescales those logits before softmax and sampling. Appending the sampled ID creates the next prefix.
Example: A prefix ROMEO: becomes [1,6]. The model returns [1,6,V] scores, from which generation selects [1,V]. If a space is sampled, the next input is ROMEO: followed by that space. CharGPT recomputes its context; the separate optional cache benchmark reuses larger-model key-value states.
Ask: Why select the final position’s scores?
Answer: They predict the next character after the complete existing prefix; earlier positions predict characters already inside it.
Watch out: Use eval to disable dropout and no_grad to avoid gradient recording. They are separate controls, and the unknown next token cannot provide the current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key-value cache reuses earlier token representations during generation while the latest known token supplies the current query.
Explain: KV means key and value. Each layer can store these representations for processed tokens. The newest known token produces its query and new key-value entries. Its query reads earlier cached and current information. Caching uses memory to avoid repeated computation.
Example: After The cat is known, sat is the latest known token for the next prediction. Its query reads stored The and cat representations plus its own new entries. The unknown next token cannot supply a query. Our small CharGPT recomputes its context; optional GPT-2 timing compares cache settings separately.
Ask: Does caching change the learned prediction task?
Answer: No. It changes reuse of intermediate calculations while retaining the causal task.
Watch out: Timings need the same prompt, token count, selection rule and device, with warm-up and synchronisation. Do not promise a fixed speed-up from a schematic.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mixture-of-experts routes each token to selected feed-forward networks and combines their outputs.
Explain: An expert is one learned network within the layer. A router scores which experts to use. Routing weights combine the selected outputs. Only selected networks run for a token. All expert weights still require storage somewhere in the system.
Example: An illustrative router selects two experts for one token vector, then adds their weighted results. Sending a case to specialists suggests selective work, but their learned functions need not match recognisable human specialties. Total parameter count can exceed active parameters without making routing or weight movement free.
Ask: Do expert names guarantee distinct human specialisms?
Answer: No. Their roles are learned and can be mixed or unclear.
Watch out: Report storage, routing and movement costs as well as active work. Published model-size examples in Word are specifications, not measurements of this lab’s CPU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Transformers process image or audio representations as vector sequences while preserving modality-specific input preparation.
Explain: A Vision Transformer, or ViT, embeds image patches. Position information records their arrangement. A spectrogram represents sound energy across time and frequency. Whisper encodes audio features and decodes transcript text. Diffusion transformers can process patches of image-latent representations.
Example: An illustrative RGB patch of size sixteen-by-sixteen has 16×16×3, or 768, raw values before projection. Four such patches from a thirty-two-by-thirty-two image become four positioned tokens. This numerical interface is shared with text vectors, but patches are not words and audio preparation remains different.
Ask: Are image patches words, or do they share a vector-sequence interface?
Answer: They are not words; they become vectors that transformer operations can process.
Watch out: Patch size and model inputs are configuration-specific. Reusable sequence operations do not eliminate the need to test representation choices for each modality.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An attention picture supports a routing claim for the shown head and input, rather than proving truth or reasoning.
Explain: One cell displays a source’s mixing weight for one query. Other heads and layers also contribute. Values, residual routes and feed-forward transformations affect the eventual output. An ablation removes a component and measures its effect. Controlled interventions provide stronger causal evidence than colour alone.
Example: Traffic counts identify a busy route but do not explain a traveller’s final destination. Similarly, the strongest selected BERT head is a biased example unless its selection is disclosed. Compare the histogram and test an intervention rather than inferring every head resolved the pronoun.
Ask: Which option is supported by a bright attention cell?
Answer: A: this head assigns that source high weight.
Watch out: The cell does not verify an answer’s truth, every head’s behaviour or a complete reasoning explanation. Also report inputs, model and computational settings when presenting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This flow shows the character-training experiment; the numerical checks and pretrained inspection remain separate activities.
Explain: get_batch supplies inputs and shifted targets. CharGPT predicts vocabulary logits. Cross-entropy compares them with the target IDs. Backward computes gradients. The optimiser changes weights, and validation evaluates separate text without an update.
Example: For B examples, T positions and V vocabulary items, [B,T] inputs become [B,T,V] logits before a scalar loss. The score comparison consumes target IDs directly; those targets do not pass through embedding or attention. Optional BERT and GPT-2 inspection use other weights and inputs, so their plots are not downstream data from this training loop.
Ask: Which function evaluates separate development text?
Answer: val_loss, using batches from val_data and evaluation mode.
Watch out: The local corpus is a limited teaching example. Record its scope, actual samples and measurements rather than claiming broad writing ability or archive-equivalent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local core checks attention and trains a real character transformer before any optional downloaded-model inspection.
Explain: A batch contains several input examples. Shifted targets contain their known following characters. The causal model predicts all allowed training positions. Validation scores separate development text. Pretrained BERT and GPT-2 inspection use different models and tokenizers from CharGPT.
Example: First verify row sums, value mixtures, future blocking and multi-head shapes. Then train for 2,000 updates on Tiny Shakespeare, plot validation loss, calculate perplexity and inspect samples. On the course laptop the whole core took 4.1 minutes.
Ask: Which function supplies next-character targets?
Answer: get_batch, by selecting inputs and the text shifted one place ahead.
Watch out: Do not copy archived numbers into a current report. Optional API explanation help uses a local fallback and does not expose this model's internal attention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Use a visual explanation, numerical calculation and code trace together to check your understanding of attention.
Explain: A visual overview explains the information route. A worked example establishes the arithmetic. The original paper states the architecture and equations. Official API documentation defines implementation conventions. A coding walkthrough connects shapes with executable operations.
Example: A student confused by softmax can redo the supplied [2,0,0] row before watching the attention video. A student confused by a mask can compare the custom blocked convention with the official SDPA allowed convention. Neither watching code run nor citing a paper replaces explaining a cell’s actual inputs and outputs.
Ask: Which resource helps resolve a Boolean mask convention before implementation?
Answer: The official PyTorch attention API documentation, alongside the custom function’s definition.
Watch out: Keep historical model examples separate from current software behaviour. Predict shapes and run semantic checks before copying a walkthrough or claiming equivalent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Correct information access, numerical mixtures and evidence interpretation connect the whole transformer lesson.
Explain: Token IDs select vectors, and positions provide order. Queries compare with keys. Row weights mix values. Residuals add corrections to their inputs. Training changes weights while generation changes the prefix.
Example: Use the supplied [2,0,0] score row to recover approximately [0.79,0.11,0.11]. Then trace cat and ats to show where the mask hides future inputs. Neither a correctly normalised row nor an attractive continuation proves truthfulness, coherence or a complete explanation of the model’s decisions.
Ask: What changes during training and during generation?
Answer: Training changes parameters using target errors. Generation holds them fixed and appends a selected character.
Watch out: Report dataset, tokenizer, settings and limitations. A cache reduces repeated work, while expert routing selects networks; neither removes the need to evaluate the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2" Type="http://schemas.openxmlformats.org/officeDocument/2006/relationships/hyperlink" Target="https://www.youtube.com/watch?v=eMlx5fFNoYc" TargetMode="External"/><Relationship Id="rId4" Type="http://schemas.openxmlformats.org/officeDocument/2006/relationships/hyperlink" Target="https://www.youtube.com/watch?v=kCc8FmEb1nY" TargetMode="External"/><Relationship Id="rId6" Type="http://schemas.openxmlformats.org/officeDocument/2006/relationships/hyperlink" Target="https://arxiv.org/abs/1706.03762" TargetMode="External"/><Relationship Id="rId8" Type="http://schemas.openxmlformats.org/officeDocument/2006/relationships/hyperlink" Target="https://docs.pytorch.org/docs/stable/generated/torch.nn.functional.scaled_dot_product_attention.html" TargetMode="External"/><Relationship Id="rId1" Type="http://schemas.openxmlformats.org/officeDocument/2006/relationships/image" Target="../media/image-45-1.png"/><Relationship Id="rId3" Type="http://schemas.openxmlformats.org/officeDocument/2006/relationships/image" Target="../media/image-45-2.png"/><Relationship Id="rId5" Type="http://schemas.openxmlformats.org/officeDocument/2006/relationships/image" Target="../media/image-45-3.png"/><Relationship Id="rId7" Type="http://schemas.openxmlformats.org/officeDocument/2006/relationships/image" Target="../media/image-45-4.png"/><Relationship Id="rId9" Type="http://schemas.openxmlformats.org/officeDocument/2006/relationships/slideLayout" Target="../slideLayouts/slideLayout1.xml"/><Relationship Id="rId10"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731520" y="1051560"/>
            <a:ext cx="1737360" cy="457200"/>
          </a:xfrm>
          <a:prstGeom prst="roundRect">
            <a:avLst>
              <a:gd name="adj" fmla="val 20000"/>
            </a:avLst>
          </a:prstGeom>
          <a:solidFill>
            <a:srgbClr val="EA580C"/>
          </a:solidFill>
          <a:ln w="12700">
            <a:solidFill>
              <a:srgbClr val="EA580C"/>
            </a:solidFill>
            <a:prstDash val="solid"/>
          </a:ln>
        </p:spPr>
      </p:sp>
      <p:sp>
        <p:nvSpPr>
          <p:cNvPr id="3" name="Text 1"/>
          <p:cNvSpPr txBox="1"/>
          <p:nvPr/>
        </p:nvSpPr>
        <p:spPr>
          <a:xfrm>
            <a:off x="731520" y="1051560"/>
            <a:ext cx="1737360" cy="457200"/>
          </a:xfrm>
          <a:prstGeom prst="rect">
            <a:avLst/>
          </a:prstGeom>
          <a:noFill/>
          <a:ln/>
        </p:spPr>
        <p:txBody>
          <a:bodyPr wrap="square" lIns="0" tIns="0" rIns="0" bIns="0" rtlCol="0" anchor="ctr"/>
          <a:lstStyle/>
          <a:p>
            <a:pPr algn="ctr" indent="0" marL="0">
              <a:buNone/>
            </a:pPr>
            <a:r>
              <a:rPr lang="en-US" sz="1600" b="1" spc="200" kern="0" dirty="0">
                <a:solidFill>
                  <a:srgbClr val="FFFFFF"/>
                </a:solidFill>
                <a:latin typeface="Calibri" pitchFamily="34" charset="0"/>
                <a:ea typeface="Calibri" pitchFamily="34" charset="-122"/>
                <a:cs typeface="Calibri" pitchFamily="34" charset="-120"/>
              </a:rPr>
              <a:t>WEEK 05</a:t>
            </a:r>
            <a:endParaRPr lang="en-US" sz="1600" dirty="0"/>
          </a:p>
        </p:txBody>
      </p:sp>
      <p:sp>
        <p:nvSpPr>
          <p:cNvPr id="4" name="Text 2"/>
          <p:cNvSpPr txBox="1"/>
          <p:nvPr/>
        </p:nvSpPr>
        <p:spPr>
          <a:xfrm>
            <a:off x="731520" y="1737360"/>
            <a:ext cx="6766560" cy="2103120"/>
          </a:xfrm>
          <a:prstGeom prst="rect">
            <a:avLst/>
          </a:prstGeom>
          <a:noFill/>
          <a:ln/>
        </p:spPr>
        <p:txBody>
          <a:bodyPr wrap="square" lIns="0" tIns="0" rIns="0" bIns="0" rtlCol="0" anchor="b"/>
          <a:lstStyle/>
          <a:p>
            <a:pPr indent="0" marL="0">
              <a:lnSpc>
                <a:spcPct val="95000"/>
              </a:lnSpc>
              <a:buNone/>
            </a:pPr>
            <a:r>
              <a:rPr lang="en-US" sz="4500" b="1" dirty="0">
                <a:solidFill>
                  <a:srgbClr val="FFFFFF"/>
                </a:solidFill>
                <a:latin typeface="Calibri" pitchFamily="34" charset="0"/>
                <a:ea typeface="Calibri" pitchFamily="34" charset="-122"/>
                <a:cs typeface="Calibri" pitchFamily="34" charset="-120"/>
              </a:rPr>
              <a:t>Transformers &amp; Attention</a:t>
            </a:r>
            <a:endParaRPr lang="en-US" sz="4500" dirty="0"/>
          </a:p>
        </p:txBody>
      </p:sp>
      <p:sp>
        <p:nvSpPr>
          <p:cNvPr id="5" name="Text 3"/>
          <p:cNvSpPr txBox="1"/>
          <p:nvPr/>
        </p:nvSpPr>
        <p:spPr>
          <a:xfrm>
            <a:off x="731520" y="3977640"/>
            <a:ext cx="6766560" cy="1097280"/>
          </a:xfrm>
          <a:prstGeom prst="rect">
            <a:avLst/>
          </a:prstGeom>
          <a:noFill/>
          <a:ln/>
        </p:spPr>
        <p:txBody>
          <a:bodyPr wrap="square" lIns="0" tIns="0" rIns="0" bIns="0" rtlCol="0" anchor="t"/>
          <a:lstStyle/>
          <a:p>
            <a:pPr indent="0" marL="0">
              <a:buNone/>
            </a:pPr>
            <a:r>
              <a:rPr lang="en-US" sz="2000" dirty="0">
                <a:solidFill>
                  <a:srgbClr val="C7D2FE"/>
                </a:solidFill>
                <a:latin typeface="Calibri" pitchFamily="34" charset="0"/>
                <a:ea typeface="Calibri" pitchFamily="34" charset="-122"/>
                <a:cs typeface="Calibri" pitchFamily="34" charset="-120"/>
              </a:rPr>
              <a:t>Follow text through a transformer, calculate attention, then build a small character model</a:t>
            </a:r>
            <a:endParaRPr lang="en-US" sz="2000" dirty="0"/>
          </a:p>
        </p:txBody>
      </p:sp>
      <p:sp>
        <p:nvSpPr>
          <p:cNvPr id="6" name="Text 4"/>
          <p:cNvSpPr txBox="1"/>
          <p:nvPr/>
        </p:nvSpPr>
        <p:spPr>
          <a:xfrm>
            <a:off x="731520" y="5897880"/>
            <a:ext cx="8229600" cy="365760"/>
          </a:xfrm>
          <a:prstGeom prst="rect">
            <a:avLst/>
          </a:prstGeom>
          <a:noFill/>
          <a:ln/>
        </p:spPr>
        <p:txBody>
          <a:bodyPr wrap="square" lIns="0" tIns="0" rIns="0" bIns="0" rtlCol="0" anchor="t"/>
          <a:lstStyle/>
          <a:p>
            <a:pPr indent="0" marL="0">
              <a:buNone/>
            </a:pPr>
            <a:r>
              <a:rPr lang="en-US" sz="1400" dirty="0">
                <a:solidFill>
                  <a:srgbClr val="C7D2FE"/>
                </a:solidFill>
                <a:latin typeface="Calibri" pitchFamily="34" charset="0"/>
                <a:ea typeface="Calibri" pitchFamily="34" charset="-122"/>
                <a:cs typeface="Calibri" pitchFamily="34" charset="-120"/>
              </a:rPr>
              <a:t>MSc in Artificial Intelligence  ·  Generative AI  ·  2-hour lecture</a:t>
            </a:r>
            <a:endParaRPr lang="en-US" sz="1400" dirty="0"/>
          </a:p>
        </p:txBody>
      </p:sp>
      <p:pic>
        <p:nvPicPr>
          <p:cNvPr id="7" name="Image 0" descr="C:\Users\sudee\Downloads\Generative_AI_2027_Teaching_Pack\AI2027_Project\build\figures\week_05\cover.png">    </p:cNvPr>
          <p:cNvPicPr>
            <a:picLocks noChangeAspect="1"/>
          </p:cNvPicPr>
          <p:nvPr/>
        </p:nvPicPr>
        <p:blipFill>
          <a:blip r:embed="rId1"/>
          <a:stretch>
            <a:fillRect/>
          </a:stretch>
        </p:blipFill>
        <p:spPr>
          <a:xfrm>
            <a:off x="7818120" y="1508760"/>
            <a:ext cx="3840480" cy="3840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By the end of this week you can…</a:t>
            </a:r>
            <a:endParaRPr lang="en-US" sz="3200" dirty="0"/>
          </a:p>
        </p:txBody>
      </p:sp>
      <p:sp>
        <p:nvSpPr>
          <p:cNvPr id="6" name="Shape 4"/>
          <p:cNvSpPr/>
          <p:nvPr/>
        </p:nvSpPr>
        <p:spPr>
          <a:xfrm>
            <a:off x="548640" y="1545336"/>
            <a:ext cx="411480" cy="411480"/>
          </a:xfrm>
          <a:prstGeom prst="ellipse">
            <a:avLst/>
          </a:prstGeom>
          <a:solidFill>
            <a:srgbClr val="4F46E5"/>
          </a:solidFill>
          <a:ln w="12700">
            <a:solidFill>
              <a:srgbClr val="4F46E5"/>
            </a:solidFill>
            <a:prstDash val="solid"/>
          </a:ln>
        </p:spPr>
      </p:sp>
      <p:sp>
        <p:nvSpPr>
          <p:cNvPr id="7" name="Text 5"/>
          <p:cNvSpPr txBox="1"/>
          <p:nvPr/>
        </p:nvSpPr>
        <p:spPr>
          <a:xfrm>
            <a:off x="548640" y="154533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527048"/>
            <a:ext cx="6903720" cy="79705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Explain attention's purpose</a:t>
            </a:r>
            <a:endParaRPr lang="en-US" sz="2000" dirty="0"/>
          </a:p>
        </p:txBody>
      </p:sp>
      <p:sp>
        <p:nvSpPr>
          <p:cNvPr id="9" name="Shape 7"/>
          <p:cNvSpPr/>
          <p:nvPr/>
        </p:nvSpPr>
        <p:spPr>
          <a:xfrm>
            <a:off x="548640" y="2342388"/>
            <a:ext cx="411480" cy="411480"/>
          </a:xfrm>
          <a:prstGeom prst="ellipse">
            <a:avLst/>
          </a:prstGeom>
          <a:solidFill>
            <a:srgbClr val="4F46E5"/>
          </a:solidFill>
          <a:ln w="12700">
            <a:solidFill>
              <a:srgbClr val="4F46E5"/>
            </a:solidFill>
            <a:prstDash val="solid"/>
          </a:ln>
        </p:spPr>
      </p:sp>
      <p:sp>
        <p:nvSpPr>
          <p:cNvPr id="10" name="Text 8"/>
          <p:cNvSpPr txBox="1"/>
          <p:nvPr/>
        </p:nvSpPr>
        <p:spPr>
          <a:xfrm>
            <a:off x="548640" y="234238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2324100"/>
            <a:ext cx="6903720" cy="79705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Trace tokens to vectors</a:t>
            </a:r>
            <a:endParaRPr lang="en-US" sz="2000" dirty="0"/>
          </a:p>
        </p:txBody>
      </p:sp>
      <p:sp>
        <p:nvSpPr>
          <p:cNvPr id="12" name="Shape 10"/>
          <p:cNvSpPr/>
          <p:nvPr/>
        </p:nvSpPr>
        <p:spPr>
          <a:xfrm>
            <a:off x="548640" y="3139440"/>
            <a:ext cx="411480" cy="411480"/>
          </a:xfrm>
          <a:prstGeom prst="ellipse">
            <a:avLst/>
          </a:prstGeom>
          <a:solidFill>
            <a:srgbClr val="4F46E5"/>
          </a:solidFill>
          <a:ln w="12700">
            <a:solidFill>
              <a:srgbClr val="4F46E5"/>
            </a:solidFill>
            <a:prstDash val="solid"/>
          </a:ln>
        </p:spPr>
      </p:sp>
      <p:sp>
        <p:nvSpPr>
          <p:cNvPr id="13" name="Text 11"/>
          <p:cNvSpPr txBox="1"/>
          <p:nvPr/>
        </p:nvSpPr>
        <p:spPr>
          <a:xfrm>
            <a:off x="548640" y="31394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3121152"/>
            <a:ext cx="6903720" cy="79705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Calculate attention</a:t>
            </a:r>
            <a:endParaRPr lang="en-US" sz="2000" dirty="0"/>
          </a:p>
        </p:txBody>
      </p:sp>
      <p:sp>
        <p:nvSpPr>
          <p:cNvPr id="15" name="Shape 13"/>
          <p:cNvSpPr/>
          <p:nvPr/>
        </p:nvSpPr>
        <p:spPr>
          <a:xfrm>
            <a:off x="548640" y="3936492"/>
            <a:ext cx="411480" cy="411480"/>
          </a:xfrm>
          <a:prstGeom prst="ellipse">
            <a:avLst/>
          </a:prstGeom>
          <a:solidFill>
            <a:srgbClr val="4F46E5"/>
          </a:solidFill>
          <a:ln w="12700">
            <a:solidFill>
              <a:srgbClr val="4F46E5"/>
            </a:solidFill>
            <a:prstDash val="solid"/>
          </a:ln>
        </p:spPr>
      </p:sp>
      <p:sp>
        <p:nvSpPr>
          <p:cNvPr id="16" name="Text 14"/>
          <p:cNvSpPr txBox="1"/>
          <p:nvPr/>
        </p:nvSpPr>
        <p:spPr>
          <a:xfrm>
            <a:off x="548640" y="393649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143000" y="3918204"/>
            <a:ext cx="6903720" cy="79705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Explain causal masks</a:t>
            </a:r>
            <a:endParaRPr lang="en-US" sz="2000" dirty="0"/>
          </a:p>
        </p:txBody>
      </p:sp>
      <p:sp>
        <p:nvSpPr>
          <p:cNvPr id="18" name="Shape 16"/>
          <p:cNvSpPr/>
          <p:nvPr/>
        </p:nvSpPr>
        <p:spPr>
          <a:xfrm>
            <a:off x="548640" y="4733544"/>
            <a:ext cx="411480" cy="411480"/>
          </a:xfrm>
          <a:prstGeom prst="ellipse">
            <a:avLst/>
          </a:prstGeom>
          <a:solidFill>
            <a:srgbClr val="4F46E5"/>
          </a:solidFill>
          <a:ln w="12700">
            <a:solidFill>
              <a:srgbClr val="4F46E5"/>
            </a:solidFill>
            <a:prstDash val="solid"/>
          </a:ln>
        </p:spPr>
      </p:sp>
      <p:sp>
        <p:nvSpPr>
          <p:cNvPr id="19" name="Text 17"/>
          <p:cNvSpPr txBox="1"/>
          <p:nvPr/>
        </p:nvSpPr>
        <p:spPr>
          <a:xfrm>
            <a:off x="548640" y="473354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txBox="1"/>
          <p:nvPr/>
        </p:nvSpPr>
        <p:spPr>
          <a:xfrm>
            <a:off x="1143000" y="4715256"/>
            <a:ext cx="6903720" cy="79705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Compare architectures</a:t>
            </a:r>
            <a:endParaRPr lang="en-US" sz="2000" dirty="0"/>
          </a:p>
        </p:txBody>
      </p:sp>
      <p:sp>
        <p:nvSpPr>
          <p:cNvPr id="21" name="Shape 19"/>
          <p:cNvSpPr/>
          <p:nvPr/>
        </p:nvSpPr>
        <p:spPr>
          <a:xfrm>
            <a:off x="548640" y="5530596"/>
            <a:ext cx="411480" cy="411480"/>
          </a:xfrm>
          <a:prstGeom prst="ellipse">
            <a:avLst/>
          </a:prstGeom>
          <a:solidFill>
            <a:srgbClr val="4F46E5"/>
          </a:solidFill>
          <a:ln w="12700">
            <a:solidFill>
              <a:srgbClr val="4F46E5"/>
            </a:solidFill>
            <a:prstDash val="solid"/>
          </a:ln>
        </p:spPr>
      </p:sp>
      <p:sp>
        <p:nvSpPr>
          <p:cNvPr id="22" name="Text 20"/>
          <p:cNvSpPr txBox="1"/>
          <p:nvPr/>
        </p:nvSpPr>
        <p:spPr>
          <a:xfrm>
            <a:off x="548640" y="553059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1"/>
          <p:cNvSpPr txBox="1"/>
          <p:nvPr/>
        </p:nvSpPr>
        <p:spPr>
          <a:xfrm>
            <a:off x="1143000" y="5512308"/>
            <a:ext cx="6903720" cy="79705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Train and evaluate a GPT</a:t>
            </a:r>
            <a:endParaRPr lang="en-US" sz="2000" dirty="0"/>
          </a:p>
        </p:txBody>
      </p:sp>
      <p:sp>
        <p:nvSpPr>
          <p:cNvPr id="24" name="Shape 22"/>
          <p:cNvSpPr/>
          <p:nvPr/>
        </p:nvSpPr>
        <p:spPr>
          <a:xfrm>
            <a:off x="8458200" y="1527048"/>
            <a:ext cx="3184855" cy="4782312"/>
          </a:xfrm>
          <a:prstGeom prst="roundRect">
            <a:avLst>
              <a:gd name="adj" fmla="val 3445"/>
            </a:avLst>
          </a:prstGeom>
          <a:solidFill>
            <a:srgbClr val="EEF0FF"/>
          </a:solidFill>
          <a:ln w="12700">
            <a:solidFill>
              <a:srgbClr val="EEF0FF"/>
            </a:solidFill>
            <a:prstDash val="solid"/>
          </a:ln>
        </p:spPr>
      </p:sp>
      <p:sp>
        <p:nvSpPr>
          <p:cNvPr id="25" name="Text 23"/>
          <p:cNvSpPr txBox="1"/>
          <p:nvPr/>
        </p:nvSpPr>
        <p:spPr>
          <a:xfrm>
            <a:off x="8686800" y="1664208"/>
            <a:ext cx="2727655" cy="64008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Module outcomes</a:t>
            </a:r>
            <a:endParaRPr lang="en-US" sz="1500" dirty="0"/>
          </a:p>
        </p:txBody>
      </p:sp>
      <p:sp>
        <p:nvSpPr>
          <p:cNvPr id="26" name="Shape 24"/>
          <p:cNvSpPr/>
          <p:nvPr/>
        </p:nvSpPr>
        <p:spPr>
          <a:xfrm>
            <a:off x="8686800" y="2395728"/>
            <a:ext cx="1143000" cy="365760"/>
          </a:xfrm>
          <a:prstGeom prst="roundRect">
            <a:avLst>
              <a:gd name="adj" fmla="val 20000"/>
            </a:avLst>
          </a:prstGeom>
          <a:solidFill>
            <a:srgbClr val="4F46E5"/>
          </a:solidFill>
          <a:ln w="12700">
            <a:solidFill>
              <a:srgbClr val="4F46E5"/>
            </a:solidFill>
            <a:prstDash val="solid"/>
          </a:ln>
        </p:spPr>
      </p:sp>
      <p:sp>
        <p:nvSpPr>
          <p:cNvPr id="27" name="Text 25"/>
          <p:cNvSpPr txBox="1"/>
          <p:nvPr/>
        </p:nvSpPr>
        <p:spPr>
          <a:xfrm>
            <a:off x="8686800" y="239572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1</a:t>
            </a:r>
            <a:endParaRPr lang="en-US" sz="1400" dirty="0"/>
          </a:p>
        </p:txBody>
      </p:sp>
      <p:sp>
        <p:nvSpPr>
          <p:cNvPr id="28" name="Text 26"/>
          <p:cNvSpPr txBox="1"/>
          <p:nvPr/>
        </p:nvSpPr>
        <p:spPr>
          <a:xfrm>
            <a:off x="8641080" y="277977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Explain core concepts, maths and model families</a:t>
            </a:r>
            <a:endParaRPr lang="en-US" sz="1400" dirty="0"/>
          </a:p>
        </p:txBody>
      </p:sp>
      <p:sp>
        <p:nvSpPr>
          <p:cNvPr id="29" name="Shape 27"/>
          <p:cNvSpPr/>
          <p:nvPr/>
        </p:nvSpPr>
        <p:spPr>
          <a:xfrm>
            <a:off x="8686800" y="3584448"/>
            <a:ext cx="1143000" cy="365760"/>
          </a:xfrm>
          <a:prstGeom prst="roundRect">
            <a:avLst>
              <a:gd name="adj" fmla="val 20000"/>
            </a:avLst>
          </a:prstGeom>
          <a:solidFill>
            <a:srgbClr val="4F46E5"/>
          </a:solidFill>
          <a:ln w="12700">
            <a:solidFill>
              <a:srgbClr val="4F46E5"/>
            </a:solidFill>
            <a:prstDash val="solid"/>
          </a:ln>
        </p:spPr>
      </p:sp>
      <p:sp>
        <p:nvSpPr>
          <p:cNvPr id="30" name="Text 28"/>
          <p:cNvSpPr txBox="1"/>
          <p:nvPr/>
        </p:nvSpPr>
        <p:spPr>
          <a:xfrm>
            <a:off x="8686800" y="358444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3</a:t>
            </a:r>
            <a:endParaRPr lang="en-US" sz="1400" dirty="0"/>
          </a:p>
        </p:txBody>
      </p:sp>
      <p:sp>
        <p:nvSpPr>
          <p:cNvPr id="31" name="Text 29"/>
          <p:cNvSpPr txBox="1"/>
          <p:nvPr/>
        </p:nvSpPr>
        <p:spPr>
          <a:xfrm>
            <a:off x="8641080" y="396849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Design, implement and fine-tune models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Where we are in the course</a:t>
            </a:r>
            <a:endParaRPr lang="en-US" sz="3200" dirty="0"/>
          </a:p>
        </p:txBody>
      </p:sp>
      <p:sp>
        <p:nvSpPr>
          <p:cNvPr id="6" name="Text 4"/>
          <p:cNvSpPr txBox="1"/>
          <p:nvPr/>
        </p:nvSpPr>
        <p:spPr>
          <a:xfrm>
            <a:off x="1077042" y="17161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Images</a:t>
            </a:r>
            <a:endParaRPr lang="en-US" sz="1560" dirty="0"/>
          </a:p>
        </p:txBody>
      </p:sp>
      <p:sp>
        <p:nvSpPr>
          <p:cNvPr id="7" name="Shape 5"/>
          <p:cNvSpPr/>
          <p:nvPr/>
        </p:nvSpPr>
        <p:spPr>
          <a:xfrm>
            <a:off x="1077042" y="2053648"/>
            <a:ext cx="2300286" cy="763093"/>
          </a:xfrm>
          <a:prstGeom prst="roundRect">
            <a:avLst>
              <a:gd name="adj" fmla="val 9586"/>
            </a:avLst>
          </a:prstGeom>
          <a:solidFill>
            <a:srgbClr val="E4F2FB"/>
          </a:solidFill>
          <a:ln w="15240">
            <a:solidFill>
              <a:srgbClr val="0072B2"/>
            </a:solidFill>
            <a:prstDash val="solid"/>
          </a:ln>
        </p:spPr>
      </p:sp>
      <p:sp>
        <p:nvSpPr>
          <p:cNvPr id="8" name="Text 6"/>
          <p:cNvSpPr txBox="1"/>
          <p:nvPr/>
        </p:nvSpPr>
        <p:spPr>
          <a:xfrm>
            <a:off x="1179766"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a:t>
            </a:r>
            <a:endParaRPr lang="en-US" sz="1444" dirty="0"/>
          </a:p>
        </p:txBody>
      </p:sp>
      <p:sp>
        <p:nvSpPr>
          <p:cNvPr id="9" name="Text 7"/>
          <p:cNvSpPr txBox="1"/>
          <p:nvPr/>
        </p:nvSpPr>
        <p:spPr>
          <a:xfrm>
            <a:off x="1179766"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Introduction</a:t>
            </a:r>
            <a:endParaRPr lang="en-US" sz="1444" dirty="0"/>
          </a:p>
        </p:txBody>
      </p:sp>
      <p:sp>
        <p:nvSpPr>
          <p:cNvPr id="10" name="Shape 8"/>
          <p:cNvSpPr/>
          <p:nvPr/>
        </p:nvSpPr>
        <p:spPr>
          <a:xfrm>
            <a:off x="3377328" y="2435195"/>
            <a:ext cx="278823" cy="0"/>
          </a:xfrm>
          <a:prstGeom prst="line">
            <a:avLst/>
          </a:prstGeom>
          <a:noFill/>
          <a:ln w="22860">
            <a:solidFill>
              <a:srgbClr val="0072B2"/>
            </a:solidFill>
            <a:prstDash val="solid"/>
            <a:tailEnd type="triangle"/>
          </a:ln>
        </p:spPr>
      </p:sp>
      <p:sp>
        <p:nvSpPr>
          <p:cNvPr id="11" name="Shape 9"/>
          <p:cNvSpPr/>
          <p:nvPr/>
        </p:nvSpPr>
        <p:spPr>
          <a:xfrm>
            <a:off x="3656151" y="2053648"/>
            <a:ext cx="2300286" cy="763093"/>
          </a:xfrm>
          <a:prstGeom prst="roundRect">
            <a:avLst>
              <a:gd name="adj" fmla="val 9586"/>
            </a:avLst>
          </a:prstGeom>
          <a:solidFill>
            <a:srgbClr val="E4F2FB"/>
          </a:solidFill>
          <a:ln w="15240">
            <a:solidFill>
              <a:srgbClr val="0072B2"/>
            </a:solidFill>
            <a:prstDash val="solid"/>
          </a:ln>
        </p:spPr>
      </p:sp>
      <p:sp>
        <p:nvSpPr>
          <p:cNvPr id="12" name="Text 10"/>
          <p:cNvSpPr txBox="1"/>
          <p:nvPr/>
        </p:nvSpPr>
        <p:spPr>
          <a:xfrm>
            <a:off x="3758875"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2</a:t>
            </a:r>
            <a:endParaRPr lang="en-US" sz="1444" dirty="0"/>
          </a:p>
        </p:txBody>
      </p:sp>
      <p:sp>
        <p:nvSpPr>
          <p:cNvPr id="13" name="Text 11"/>
          <p:cNvSpPr txBox="1"/>
          <p:nvPr/>
        </p:nvSpPr>
        <p:spPr>
          <a:xfrm>
            <a:off x="3758875"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VAEs</a:t>
            </a:r>
            <a:endParaRPr lang="en-US" sz="1444" dirty="0"/>
          </a:p>
        </p:txBody>
      </p:sp>
      <p:sp>
        <p:nvSpPr>
          <p:cNvPr id="14" name="Shape 12"/>
          <p:cNvSpPr/>
          <p:nvPr/>
        </p:nvSpPr>
        <p:spPr>
          <a:xfrm>
            <a:off x="5956436" y="2435195"/>
            <a:ext cx="278823" cy="0"/>
          </a:xfrm>
          <a:prstGeom prst="line">
            <a:avLst/>
          </a:prstGeom>
          <a:noFill/>
          <a:ln w="22860">
            <a:solidFill>
              <a:srgbClr val="0072B2"/>
            </a:solidFill>
            <a:prstDash val="solid"/>
            <a:tailEnd type="triangle"/>
          </a:ln>
        </p:spPr>
      </p:sp>
      <p:sp>
        <p:nvSpPr>
          <p:cNvPr id="15" name="Shape 13"/>
          <p:cNvSpPr/>
          <p:nvPr/>
        </p:nvSpPr>
        <p:spPr>
          <a:xfrm>
            <a:off x="6235259" y="2053648"/>
            <a:ext cx="2300286" cy="763093"/>
          </a:xfrm>
          <a:prstGeom prst="roundRect">
            <a:avLst>
              <a:gd name="adj" fmla="val 9586"/>
            </a:avLst>
          </a:prstGeom>
          <a:solidFill>
            <a:srgbClr val="E4F2FB"/>
          </a:solidFill>
          <a:ln w="15240">
            <a:solidFill>
              <a:srgbClr val="0072B2"/>
            </a:solidFill>
            <a:prstDash val="solid"/>
          </a:ln>
        </p:spPr>
      </p:sp>
      <p:sp>
        <p:nvSpPr>
          <p:cNvPr id="16" name="Text 14"/>
          <p:cNvSpPr txBox="1"/>
          <p:nvPr/>
        </p:nvSpPr>
        <p:spPr>
          <a:xfrm>
            <a:off x="6337983"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3</a:t>
            </a:r>
            <a:endParaRPr lang="en-US" sz="1444" dirty="0"/>
          </a:p>
        </p:txBody>
      </p:sp>
      <p:sp>
        <p:nvSpPr>
          <p:cNvPr id="17" name="Text 15"/>
          <p:cNvSpPr txBox="1"/>
          <p:nvPr/>
        </p:nvSpPr>
        <p:spPr>
          <a:xfrm>
            <a:off x="6337983"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GANs</a:t>
            </a:r>
            <a:endParaRPr lang="en-US" sz="1444" dirty="0"/>
          </a:p>
        </p:txBody>
      </p:sp>
      <p:sp>
        <p:nvSpPr>
          <p:cNvPr id="18" name="Shape 16"/>
          <p:cNvSpPr/>
          <p:nvPr/>
        </p:nvSpPr>
        <p:spPr>
          <a:xfrm>
            <a:off x="8535545" y="2435195"/>
            <a:ext cx="278823" cy="0"/>
          </a:xfrm>
          <a:prstGeom prst="line">
            <a:avLst/>
          </a:prstGeom>
          <a:noFill/>
          <a:ln w="22860">
            <a:solidFill>
              <a:srgbClr val="0072B2"/>
            </a:solidFill>
            <a:prstDash val="solid"/>
            <a:tailEnd type="triangle"/>
          </a:ln>
        </p:spPr>
      </p:sp>
      <p:sp>
        <p:nvSpPr>
          <p:cNvPr id="19" name="Shape 17"/>
          <p:cNvSpPr/>
          <p:nvPr/>
        </p:nvSpPr>
        <p:spPr>
          <a:xfrm>
            <a:off x="8814367" y="2053648"/>
            <a:ext cx="2300286" cy="763093"/>
          </a:xfrm>
          <a:prstGeom prst="roundRect">
            <a:avLst>
              <a:gd name="adj" fmla="val 9586"/>
            </a:avLst>
          </a:prstGeom>
          <a:solidFill>
            <a:srgbClr val="E4F2FB"/>
          </a:solidFill>
          <a:ln w="15240">
            <a:solidFill>
              <a:srgbClr val="0072B2"/>
            </a:solidFill>
            <a:prstDash val="solid"/>
          </a:ln>
        </p:spPr>
      </p:sp>
      <p:sp>
        <p:nvSpPr>
          <p:cNvPr id="20" name="Text 18"/>
          <p:cNvSpPr txBox="1"/>
          <p:nvPr/>
        </p:nvSpPr>
        <p:spPr>
          <a:xfrm>
            <a:off x="8917091"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4</a:t>
            </a:r>
            <a:endParaRPr lang="en-US" sz="1444" dirty="0"/>
          </a:p>
        </p:txBody>
      </p:sp>
      <p:sp>
        <p:nvSpPr>
          <p:cNvPr id="21" name="Text 19"/>
          <p:cNvSpPr txBox="1"/>
          <p:nvPr/>
        </p:nvSpPr>
        <p:spPr>
          <a:xfrm>
            <a:off x="8917091"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Diffusion</a:t>
            </a:r>
            <a:endParaRPr lang="en-US" sz="1444" dirty="0"/>
          </a:p>
        </p:txBody>
      </p:sp>
      <p:sp>
        <p:nvSpPr>
          <p:cNvPr id="22" name="Shape 20"/>
          <p:cNvSpPr/>
          <p:nvPr/>
        </p:nvSpPr>
        <p:spPr>
          <a:xfrm>
            <a:off x="9964510" y="2816741"/>
            <a:ext cx="0" cy="132074"/>
          </a:xfrm>
          <a:prstGeom prst="line">
            <a:avLst/>
          </a:prstGeom>
          <a:noFill/>
          <a:ln w="22860">
            <a:solidFill>
              <a:srgbClr val="0072B2"/>
            </a:solidFill>
            <a:prstDash val="solid"/>
          </a:ln>
        </p:spPr>
      </p:sp>
      <p:sp>
        <p:nvSpPr>
          <p:cNvPr id="23" name="Shape 21"/>
          <p:cNvSpPr/>
          <p:nvPr/>
        </p:nvSpPr>
        <p:spPr>
          <a:xfrm flipH="1">
            <a:off x="944968" y="2948815"/>
            <a:ext cx="9019542" cy="0"/>
          </a:xfrm>
          <a:prstGeom prst="line">
            <a:avLst/>
          </a:prstGeom>
          <a:noFill/>
          <a:ln w="22860">
            <a:solidFill>
              <a:srgbClr val="0072B2"/>
            </a:solidFill>
            <a:prstDash val="solid"/>
          </a:ln>
        </p:spPr>
      </p:sp>
      <p:sp>
        <p:nvSpPr>
          <p:cNvPr id="24" name="Shape 22"/>
          <p:cNvSpPr/>
          <p:nvPr/>
        </p:nvSpPr>
        <p:spPr>
          <a:xfrm>
            <a:off x="944968" y="2948815"/>
            <a:ext cx="0" cy="858480"/>
          </a:xfrm>
          <a:prstGeom prst="line">
            <a:avLst/>
          </a:prstGeom>
          <a:noFill/>
          <a:ln w="22860">
            <a:solidFill>
              <a:srgbClr val="0072B2"/>
            </a:solidFill>
            <a:prstDash val="solid"/>
          </a:ln>
        </p:spPr>
      </p:sp>
      <p:sp>
        <p:nvSpPr>
          <p:cNvPr id="25" name="Shape 23"/>
          <p:cNvSpPr/>
          <p:nvPr/>
        </p:nvSpPr>
        <p:spPr>
          <a:xfrm>
            <a:off x="944968" y="3807295"/>
            <a:ext cx="132074" cy="0"/>
          </a:xfrm>
          <a:prstGeom prst="line">
            <a:avLst/>
          </a:prstGeom>
          <a:noFill/>
          <a:ln w="22860">
            <a:solidFill>
              <a:srgbClr val="0072B2"/>
            </a:solidFill>
            <a:prstDash val="solid"/>
            <a:tailEnd type="triangle"/>
          </a:ln>
        </p:spPr>
      </p:sp>
      <p:sp>
        <p:nvSpPr>
          <p:cNvPr id="26" name="Text 24"/>
          <p:cNvSpPr txBox="1"/>
          <p:nvPr/>
        </p:nvSpPr>
        <p:spPr>
          <a:xfrm>
            <a:off x="1077042" y="30882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Language</a:t>
            </a:r>
            <a:endParaRPr lang="en-US" sz="1560" dirty="0"/>
          </a:p>
        </p:txBody>
      </p:sp>
      <p:sp>
        <p:nvSpPr>
          <p:cNvPr id="27" name="Shape 25"/>
          <p:cNvSpPr/>
          <p:nvPr/>
        </p:nvSpPr>
        <p:spPr>
          <a:xfrm>
            <a:off x="1077042" y="3425748"/>
            <a:ext cx="2300286" cy="763093"/>
          </a:xfrm>
          <a:prstGeom prst="roundRect">
            <a:avLst>
              <a:gd name="adj" fmla="val 9586"/>
            </a:avLst>
          </a:prstGeom>
          <a:solidFill>
            <a:srgbClr val="FFF0E6"/>
          </a:solidFill>
          <a:ln w="15240">
            <a:solidFill>
              <a:srgbClr val="D55E00"/>
            </a:solidFill>
            <a:prstDash val="solid"/>
          </a:ln>
        </p:spPr>
      </p:sp>
      <p:sp>
        <p:nvSpPr>
          <p:cNvPr id="28" name="Text 26"/>
          <p:cNvSpPr txBox="1"/>
          <p:nvPr/>
        </p:nvSpPr>
        <p:spPr>
          <a:xfrm>
            <a:off x="1179766"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D55E00"/>
                </a:solidFill>
                <a:latin typeface="Arial" pitchFamily="34" charset="0"/>
                <a:ea typeface="Arial" pitchFamily="34" charset="-122"/>
                <a:cs typeface="Arial" pitchFamily="34" charset="-120"/>
              </a:rPr>
              <a:t>5: you are here</a:t>
            </a:r>
            <a:endParaRPr lang="en-US" sz="1444" dirty="0"/>
          </a:p>
        </p:txBody>
      </p:sp>
      <p:sp>
        <p:nvSpPr>
          <p:cNvPr id="29" name="Text 27"/>
          <p:cNvSpPr txBox="1"/>
          <p:nvPr/>
        </p:nvSpPr>
        <p:spPr>
          <a:xfrm>
            <a:off x="1179766"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Transformers</a:t>
            </a:r>
            <a:endParaRPr lang="en-US" sz="1444" dirty="0"/>
          </a:p>
        </p:txBody>
      </p:sp>
      <p:sp>
        <p:nvSpPr>
          <p:cNvPr id="30" name="Shape 28"/>
          <p:cNvSpPr/>
          <p:nvPr/>
        </p:nvSpPr>
        <p:spPr>
          <a:xfrm>
            <a:off x="3377328" y="3807295"/>
            <a:ext cx="278823" cy="0"/>
          </a:xfrm>
          <a:prstGeom prst="line">
            <a:avLst/>
          </a:prstGeom>
          <a:noFill/>
          <a:ln w="22860">
            <a:solidFill>
              <a:srgbClr val="0072B2"/>
            </a:solidFill>
            <a:prstDash val="solid"/>
            <a:tailEnd type="triangle"/>
          </a:ln>
        </p:spPr>
      </p:sp>
      <p:sp>
        <p:nvSpPr>
          <p:cNvPr id="31" name="Shape 29"/>
          <p:cNvSpPr/>
          <p:nvPr/>
        </p:nvSpPr>
        <p:spPr>
          <a:xfrm>
            <a:off x="3656151" y="3425748"/>
            <a:ext cx="2300286" cy="763093"/>
          </a:xfrm>
          <a:prstGeom prst="roundRect">
            <a:avLst>
              <a:gd name="adj" fmla="val 9586"/>
            </a:avLst>
          </a:prstGeom>
          <a:solidFill>
            <a:srgbClr val="E4F2FB"/>
          </a:solidFill>
          <a:ln w="15240">
            <a:solidFill>
              <a:srgbClr val="0072B2"/>
            </a:solidFill>
            <a:prstDash val="solid"/>
          </a:ln>
        </p:spPr>
      </p:sp>
      <p:sp>
        <p:nvSpPr>
          <p:cNvPr id="32" name="Text 30"/>
          <p:cNvSpPr txBox="1"/>
          <p:nvPr/>
        </p:nvSpPr>
        <p:spPr>
          <a:xfrm>
            <a:off x="3758875"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6</a:t>
            </a:r>
            <a:endParaRPr lang="en-US" sz="1444" dirty="0"/>
          </a:p>
        </p:txBody>
      </p:sp>
      <p:sp>
        <p:nvSpPr>
          <p:cNvPr id="33" name="Text 31"/>
          <p:cNvSpPr txBox="1"/>
          <p:nvPr/>
        </p:nvSpPr>
        <p:spPr>
          <a:xfrm>
            <a:off x="3758875"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LLMs</a:t>
            </a:r>
            <a:endParaRPr lang="en-US" sz="1444" dirty="0"/>
          </a:p>
        </p:txBody>
      </p:sp>
      <p:sp>
        <p:nvSpPr>
          <p:cNvPr id="34" name="Shape 32"/>
          <p:cNvSpPr/>
          <p:nvPr/>
        </p:nvSpPr>
        <p:spPr>
          <a:xfrm>
            <a:off x="5956436" y="3807295"/>
            <a:ext cx="278823" cy="0"/>
          </a:xfrm>
          <a:prstGeom prst="line">
            <a:avLst/>
          </a:prstGeom>
          <a:noFill/>
          <a:ln w="22860">
            <a:solidFill>
              <a:srgbClr val="0072B2"/>
            </a:solidFill>
            <a:prstDash val="solid"/>
            <a:tailEnd type="triangle"/>
          </a:ln>
        </p:spPr>
      </p:sp>
      <p:sp>
        <p:nvSpPr>
          <p:cNvPr id="35" name="Shape 33"/>
          <p:cNvSpPr/>
          <p:nvPr/>
        </p:nvSpPr>
        <p:spPr>
          <a:xfrm>
            <a:off x="6235259" y="3425748"/>
            <a:ext cx="2300286" cy="763093"/>
          </a:xfrm>
          <a:prstGeom prst="roundRect">
            <a:avLst>
              <a:gd name="adj" fmla="val 9586"/>
            </a:avLst>
          </a:prstGeom>
          <a:solidFill>
            <a:srgbClr val="E4F2FB"/>
          </a:solidFill>
          <a:ln w="15240">
            <a:solidFill>
              <a:srgbClr val="0072B2"/>
            </a:solidFill>
            <a:prstDash val="solid"/>
          </a:ln>
        </p:spPr>
      </p:sp>
      <p:sp>
        <p:nvSpPr>
          <p:cNvPr id="36" name="Text 34"/>
          <p:cNvSpPr txBox="1"/>
          <p:nvPr/>
        </p:nvSpPr>
        <p:spPr>
          <a:xfrm>
            <a:off x="6337983"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7</a:t>
            </a:r>
            <a:endParaRPr lang="en-US" sz="1444" dirty="0"/>
          </a:p>
        </p:txBody>
      </p:sp>
      <p:sp>
        <p:nvSpPr>
          <p:cNvPr id="37" name="Text 35"/>
          <p:cNvSpPr txBox="1"/>
          <p:nvPr/>
        </p:nvSpPr>
        <p:spPr>
          <a:xfrm>
            <a:off x="6337983"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Prompting</a:t>
            </a:r>
            <a:endParaRPr lang="en-US" sz="1444" dirty="0"/>
          </a:p>
        </p:txBody>
      </p:sp>
      <p:sp>
        <p:nvSpPr>
          <p:cNvPr id="38" name="Shape 36"/>
          <p:cNvSpPr/>
          <p:nvPr/>
        </p:nvSpPr>
        <p:spPr>
          <a:xfrm>
            <a:off x="8535545" y="3807295"/>
            <a:ext cx="278823" cy="0"/>
          </a:xfrm>
          <a:prstGeom prst="line">
            <a:avLst/>
          </a:prstGeom>
          <a:noFill/>
          <a:ln w="22860">
            <a:solidFill>
              <a:srgbClr val="0072B2"/>
            </a:solidFill>
            <a:prstDash val="solid"/>
            <a:tailEnd type="triangle"/>
          </a:ln>
        </p:spPr>
      </p:sp>
      <p:sp>
        <p:nvSpPr>
          <p:cNvPr id="39" name="Shape 37"/>
          <p:cNvSpPr/>
          <p:nvPr/>
        </p:nvSpPr>
        <p:spPr>
          <a:xfrm>
            <a:off x="8814367" y="3425748"/>
            <a:ext cx="2300286" cy="763093"/>
          </a:xfrm>
          <a:prstGeom prst="roundRect">
            <a:avLst>
              <a:gd name="adj" fmla="val 9586"/>
            </a:avLst>
          </a:prstGeom>
          <a:solidFill>
            <a:srgbClr val="E4F2FB"/>
          </a:solidFill>
          <a:ln w="15240">
            <a:solidFill>
              <a:srgbClr val="0072B2"/>
            </a:solidFill>
            <a:prstDash val="solid"/>
          </a:ln>
        </p:spPr>
      </p:sp>
      <p:sp>
        <p:nvSpPr>
          <p:cNvPr id="40" name="Text 38"/>
          <p:cNvSpPr txBox="1"/>
          <p:nvPr/>
        </p:nvSpPr>
        <p:spPr>
          <a:xfrm>
            <a:off x="8917091"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8</a:t>
            </a:r>
            <a:endParaRPr lang="en-US" sz="1444" dirty="0"/>
          </a:p>
        </p:txBody>
      </p:sp>
      <p:sp>
        <p:nvSpPr>
          <p:cNvPr id="41" name="Text 39"/>
          <p:cNvSpPr txBox="1"/>
          <p:nvPr/>
        </p:nvSpPr>
        <p:spPr>
          <a:xfrm>
            <a:off x="8917091"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Fine-tuning</a:t>
            </a:r>
            <a:endParaRPr lang="en-US" sz="1444" dirty="0"/>
          </a:p>
        </p:txBody>
      </p:sp>
      <p:sp>
        <p:nvSpPr>
          <p:cNvPr id="42" name="Shape 40"/>
          <p:cNvSpPr/>
          <p:nvPr/>
        </p:nvSpPr>
        <p:spPr>
          <a:xfrm>
            <a:off x="9964510" y="4188841"/>
            <a:ext cx="0" cy="132074"/>
          </a:xfrm>
          <a:prstGeom prst="line">
            <a:avLst/>
          </a:prstGeom>
          <a:noFill/>
          <a:ln w="22860">
            <a:solidFill>
              <a:srgbClr val="0072B2"/>
            </a:solidFill>
            <a:prstDash val="solid"/>
          </a:ln>
        </p:spPr>
      </p:sp>
      <p:sp>
        <p:nvSpPr>
          <p:cNvPr id="43" name="Shape 41"/>
          <p:cNvSpPr/>
          <p:nvPr/>
        </p:nvSpPr>
        <p:spPr>
          <a:xfrm flipH="1">
            <a:off x="944968" y="4320915"/>
            <a:ext cx="9019542" cy="0"/>
          </a:xfrm>
          <a:prstGeom prst="line">
            <a:avLst/>
          </a:prstGeom>
          <a:noFill/>
          <a:ln w="22860">
            <a:solidFill>
              <a:srgbClr val="0072B2"/>
            </a:solidFill>
            <a:prstDash val="solid"/>
          </a:ln>
        </p:spPr>
      </p:sp>
      <p:sp>
        <p:nvSpPr>
          <p:cNvPr id="44" name="Shape 42"/>
          <p:cNvSpPr/>
          <p:nvPr/>
        </p:nvSpPr>
        <p:spPr>
          <a:xfrm>
            <a:off x="944968" y="4320915"/>
            <a:ext cx="0" cy="858480"/>
          </a:xfrm>
          <a:prstGeom prst="line">
            <a:avLst/>
          </a:prstGeom>
          <a:noFill/>
          <a:ln w="22860">
            <a:solidFill>
              <a:srgbClr val="0072B2"/>
            </a:solidFill>
            <a:prstDash val="solid"/>
          </a:ln>
        </p:spPr>
      </p:sp>
      <p:sp>
        <p:nvSpPr>
          <p:cNvPr id="45" name="Shape 43"/>
          <p:cNvSpPr/>
          <p:nvPr/>
        </p:nvSpPr>
        <p:spPr>
          <a:xfrm>
            <a:off x="944968" y="5179395"/>
            <a:ext cx="132074" cy="0"/>
          </a:xfrm>
          <a:prstGeom prst="line">
            <a:avLst/>
          </a:prstGeom>
          <a:noFill/>
          <a:ln w="22860">
            <a:solidFill>
              <a:srgbClr val="0072B2"/>
            </a:solidFill>
            <a:prstDash val="solid"/>
            <a:tailEnd type="triangle"/>
          </a:ln>
        </p:spPr>
      </p:sp>
      <p:sp>
        <p:nvSpPr>
          <p:cNvPr id="46" name="Text 44"/>
          <p:cNvSpPr txBox="1"/>
          <p:nvPr/>
        </p:nvSpPr>
        <p:spPr>
          <a:xfrm>
            <a:off x="1077042" y="44603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Systems</a:t>
            </a:r>
            <a:endParaRPr lang="en-US" sz="1560" dirty="0"/>
          </a:p>
        </p:txBody>
      </p:sp>
      <p:sp>
        <p:nvSpPr>
          <p:cNvPr id="47" name="Shape 45"/>
          <p:cNvSpPr/>
          <p:nvPr/>
        </p:nvSpPr>
        <p:spPr>
          <a:xfrm>
            <a:off x="1077042" y="4797848"/>
            <a:ext cx="2300286" cy="763093"/>
          </a:xfrm>
          <a:prstGeom prst="roundRect">
            <a:avLst>
              <a:gd name="adj" fmla="val 9586"/>
            </a:avLst>
          </a:prstGeom>
          <a:solidFill>
            <a:srgbClr val="E4F2FB"/>
          </a:solidFill>
          <a:ln w="15240">
            <a:solidFill>
              <a:srgbClr val="0072B2"/>
            </a:solidFill>
            <a:prstDash val="solid"/>
          </a:ln>
        </p:spPr>
      </p:sp>
      <p:sp>
        <p:nvSpPr>
          <p:cNvPr id="48" name="Text 46"/>
          <p:cNvSpPr txBox="1"/>
          <p:nvPr/>
        </p:nvSpPr>
        <p:spPr>
          <a:xfrm>
            <a:off x="1179766"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9</a:t>
            </a:r>
            <a:endParaRPr lang="en-US" sz="1444" dirty="0"/>
          </a:p>
        </p:txBody>
      </p:sp>
      <p:sp>
        <p:nvSpPr>
          <p:cNvPr id="49" name="Text 47"/>
          <p:cNvSpPr txBox="1"/>
          <p:nvPr/>
        </p:nvSpPr>
        <p:spPr>
          <a:xfrm>
            <a:off x="1179766"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Multimodal</a:t>
            </a:r>
            <a:endParaRPr lang="en-US" sz="1444" dirty="0"/>
          </a:p>
        </p:txBody>
      </p:sp>
      <p:sp>
        <p:nvSpPr>
          <p:cNvPr id="50" name="Shape 48"/>
          <p:cNvSpPr/>
          <p:nvPr/>
        </p:nvSpPr>
        <p:spPr>
          <a:xfrm>
            <a:off x="3377328" y="5179395"/>
            <a:ext cx="278823" cy="0"/>
          </a:xfrm>
          <a:prstGeom prst="line">
            <a:avLst/>
          </a:prstGeom>
          <a:noFill/>
          <a:ln w="22860">
            <a:solidFill>
              <a:srgbClr val="0072B2"/>
            </a:solidFill>
            <a:prstDash val="solid"/>
            <a:tailEnd type="triangle"/>
          </a:ln>
        </p:spPr>
      </p:sp>
      <p:sp>
        <p:nvSpPr>
          <p:cNvPr id="51" name="Shape 49"/>
          <p:cNvSpPr/>
          <p:nvPr/>
        </p:nvSpPr>
        <p:spPr>
          <a:xfrm>
            <a:off x="3656151" y="4797848"/>
            <a:ext cx="2300286" cy="763093"/>
          </a:xfrm>
          <a:prstGeom prst="roundRect">
            <a:avLst>
              <a:gd name="adj" fmla="val 9586"/>
            </a:avLst>
          </a:prstGeom>
          <a:solidFill>
            <a:srgbClr val="E4F2FB"/>
          </a:solidFill>
          <a:ln w="15240">
            <a:solidFill>
              <a:srgbClr val="0072B2"/>
            </a:solidFill>
            <a:prstDash val="solid"/>
          </a:ln>
        </p:spPr>
      </p:sp>
      <p:sp>
        <p:nvSpPr>
          <p:cNvPr id="52" name="Text 50"/>
          <p:cNvSpPr txBox="1"/>
          <p:nvPr/>
        </p:nvSpPr>
        <p:spPr>
          <a:xfrm>
            <a:off x="3758875"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10</a:t>
            </a:r>
            <a:endParaRPr lang="en-US" sz="1444" dirty="0"/>
          </a:p>
        </p:txBody>
      </p:sp>
      <p:sp>
        <p:nvSpPr>
          <p:cNvPr id="53" name="Text 51"/>
          <p:cNvSpPr txBox="1"/>
          <p:nvPr/>
        </p:nvSpPr>
        <p:spPr>
          <a:xfrm>
            <a:off x="3758875"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Applications</a:t>
            </a:r>
            <a:endParaRPr lang="en-US" sz="1444" dirty="0"/>
          </a:p>
        </p:txBody>
      </p:sp>
      <p:sp>
        <p:nvSpPr>
          <p:cNvPr id="54" name="Shape 52"/>
          <p:cNvSpPr/>
          <p:nvPr/>
        </p:nvSpPr>
        <p:spPr>
          <a:xfrm>
            <a:off x="5956436" y="5179395"/>
            <a:ext cx="278823" cy="0"/>
          </a:xfrm>
          <a:prstGeom prst="line">
            <a:avLst/>
          </a:prstGeom>
          <a:noFill/>
          <a:ln w="22860">
            <a:solidFill>
              <a:srgbClr val="0072B2"/>
            </a:solidFill>
            <a:prstDash val="solid"/>
            <a:tailEnd type="triangle"/>
          </a:ln>
        </p:spPr>
      </p:sp>
      <p:sp>
        <p:nvSpPr>
          <p:cNvPr id="55" name="Shape 53"/>
          <p:cNvSpPr/>
          <p:nvPr/>
        </p:nvSpPr>
        <p:spPr>
          <a:xfrm>
            <a:off x="6235259" y="4797848"/>
            <a:ext cx="2300286" cy="763093"/>
          </a:xfrm>
          <a:prstGeom prst="roundRect">
            <a:avLst>
              <a:gd name="adj" fmla="val 9586"/>
            </a:avLst>
          </a:prstGeom>
          <a:solidFill>
            <a:srgbClr val="E4F2FB"/>
          </a:solidFill>
          <a:ln w="15240">
            <a:solidFill>
              <a:srgbClr val="0072B2"/>
            </a:solidFill>
            <a:prstDash val="solid"/>
          </a:ln>
        </p:spPr>
      </p:sp>
      <p:sp>
        <p:nvSpPr>
          <p:cNvPr id="56" name="Text 54"/>
          <p:cNvSpPr txBox="1"/>
          <p:nvPr/>
        </p:nvSpPr>
        <p:spPr>
          <a:xfrm>
            <a:off x="6337983"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11</a:t>
            </a:r>
            <a:endParaRPr lang="en-US" sz="1444" dirty="0"/>
          </a:p>
        </p:txBody>
      </p:sp>
      <p:sp>
        <p:nvSpPr>
          <p:cNvPr id="57" name="Text 55"/>
          <p:cNvSpPr txBox="1"/>
          <p:nvPr/>
        </p:nvSpPr>
        <p:spPr>
          <a:xfrm>
            <a:off x="6337983"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Deployment</a:t>
            </a:r>
            <a:endParaRPr lang="en-US" sz="1444" dirty="0"/>
          </a:p>
        </p:txBody>
      </p:sp>
      <p:sp>
        <p:nvSpPr>
          <p:cNvPr id="58" name="Shape 56"/>
          <p:cNvSpPr/>
          <p:nvPr/>
        </p:nvSpPr>
        <p:spPr>
          <a:xfrm>
            <a:off x="8535545" y="5179395"/>
            <a:ext cx="278823" cy="0"/>
          </a:xfrm>
          <a:prstGeom prst="line">
            <a:avLst/>
          </a:prstGeom>
          <a:noFill/>
          <a:ln w="22860">
            <a:solidFill>
              <a:srgbClr val="0072B2"/>
            </a:solidFill>
            <a:prstDash val="solid"/>
            <a:tailEnd type="triangle"/>
          </a:ln>
        </p:spPr>
      </p:sp>
      <p:sp>
        <p:nvSpPr>
          <p:cNvPr id="59" name="Shape 57"/>
          <p:cNvSpPr/>
          <p:nvPr/>
        </p:nvSpPr>
        <p:spPr>
          <a:xfrm>
            <a:off x="8814367" y="4797848"/>
            <a:ext cx="2300286" cy="763093"/>
          </a:xfrm>
          <a:prstGeom prst="roundRect">
            <a:avLst>
              <a:gd name="adj" fmla="val 9586"/>
            </a:avLst>
          </a:prstGeom>
          <a:solidFill>
            <a:srgbClr val="E4F2FB"/>
          </a:solidFill>
          <a:ln w="15240">
            <a:solidFill>
              <a:srgbClr val="0072B2"/>
            </a:solidFill>
            <a:prstDash val="solid"/>
          </a:ln>
        </p:spPr>
      </p:sp>
      <p:sp>
        <p:nvSpPr>
          <p:cNvPr id="60" name="Text 58"/>
          <p:cNvSpPr txBox="1"/>
          <p:nvPr/>
        </p:nvSpPr>
        <p:spPr>
          <a:xfrm>
            <a:off x="8917091"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12</a:t>
            </a:r>
            <a:endParaRPr lang="en-US" sz="1444" dirty="0"/>
          </a:p>
        </p:txBody>
      </p:sp>
      <p:sp>
        <p:nvSpPr>
          <p:cNvPr id="61" name="Text 59"/>
          <p:cNvSpPr txBox="1"/>
          <p:nvPr/>
        </p:nvSpPr>
        <p:spPr>
          <a:xfrm>
            <a:off x="8917091"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RAG &amp; agents</a:t>
            </a:r>
            <a:endParaRPr lang="en-US" sz="1444" dirty="0"/>
          </a:p>
        </p:txBody>
      </p:sp>
      <p:sp>
        <p:nvSpPr>
          <p:cNvPr id="62" name="Text 60"/>
          <p:cNvSpPr txBox="1"/>
          <p:nvPr/>
        </p:nvSpPr>
        <p:spPr>
          <a:xfrm>
            <a:off x="1077042" y="5891126"/>
            <a:ext cx="10037611" cy="271485"/>
          </a:xfrm>
          <a:prstGeom prst="rect">
            <a:avLst/>
          </a:prstGeom>
          <a:noFill/>
          <a:ln/>
        </p:spPr>
        <p:txBody>
          <a:bodyPr wrap="square" lIns="0" tIns="0" rIns="0" bIns="0" rtlCol="0" anchor="ctr"/>
          <a:lstStyle/>
          <a:p>
            <a:pPr algn="l" indent="0" marL="0">
              <a:lnSpc>
                <a:spcPct val="116000"/>
              </a:lnSpc>
              <a:buNone/>
            </a:pPr>
            <a:r>
              <a:rPr lang="en-US" sz="1560" dirty="0">
                <a:solidFill>
                  <a:srgbClr val="1F2937"/>
                </a:solidFill>
                <a:latin typeface="Arial" pitchFamily="34" charset="0"/>
                <a:ea typeface="Arial" pitchFamily="34" charset="-122"/>
                <a:cs typeface="Arial" pitchFamily="34" charset="-120"/>
              </a:rPr>
              <a:t>Check evidence throughout</a:t>
            </a:r>
            <a:endParaRPr lang="en-US" sz="15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Starting vocabulary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106436"/>
                <a:gridCol w="7987979"/>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Term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Meaning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Vector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Ordered list of numbers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Matrix shape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Table rows and columns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Training target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Known answer for prediction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Embedding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Learned vector from an ID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Causal mask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Blocks future input positions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Softmax</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Scores into probability weights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Warm-up</a:t>
            </a:r>
            <a:endParaRPr lang="en-US" sz="3200" dirty="0"/>
          </a:p>
        </p:txBody>
      </p:sp>
      <p:sp>
        <p:nvSpPr>
          <p:cNvPr id="6" name="Shape 4"/>
          <p:cNvSpPr/>
          <p:nvPr/>
        </p:nvSpPr>
        <p:spPr>
          <a:xfrm>
            <a:off x="548640" y="1527048"/>
            <a:ext cx="1005840" cy="1005840"/>
          </a:xfrm>
          <a:prstGeom prst="ellipse">
            <a:avLst/>
          </a:prstGeom>
          <a:solidFill>
            <a:srgbClr val="0F766E"/>
          </a:solidFill>
          <a:ln w="12700">
            <a:solidFill>
              <a:srgbClr val="0F766E"/>
            </a:solidFill>
            <a:prstDash val="solid"/>
          </a:ln>
        </p:spPr>
      </p:sp>
      <p:pic>
        <p:nvPicPr>
          <p:cNvPr id="7" name="Image 0" descr="preencoded.png">    </p:cNvPr>
          <p:cNvPicPr>
            <a:picLocks noChangeAspect="1"/>
          </p:cNvPicPr>
          <p:nvPr/>
        </p:nvPicPr>
        <p:blipFill>
          <a:blip r:embed="rId1"/>
          <a:stretch>
            <a:fillRect/>
          </a:stretch>
        </p:blipFill>
        <p:spPr>
          <a:xfrm>
            <a:off x="790042" y="1768450"/>
            <a:ext cx="523037" cy="523037"/>
          </a:xfrm>
          <a:prstGeom prst="rect">
            <a:avLst/>
          </a:prstGeom>
        </p:spPr>
      </p:pic>
      <p:sp>
        <p:nvSpPr>
          <p:cNvPr id="8" name="Text 5"/>
          <p:cNvSpPr txBox="1"/>
          <p:nvPr/>
        </p:nvSpPr>
        <p:spPr>
          <a:xfrm>
            <a:off x="1828800" y="1481328"/>
            <a:ext cx="9814255" cy="1463040"/>
          </a:xfrm>
          <a:prstGeom prst="rect">
            <a:avLst/>
          </a:prstGeom>
          <a:noFill/>
          <a:ln/>
        </p:spPr>
        <p:txBody>
          <a:bodyPr wrap="square" lIns="50800" tIns="50800" rIns="50800" bIns="50800" rtlCol="0" anchor="ctr"/>
          <a:lstStyle/>
          <a:p>
            <a:pPr indent="0" marL="0">
              <a:buNone/>
            </a:pPr>
            <a:r>
              <a:rPr lang="en-US" sz="2600" b="1" dirty="0">
                <a:solidFill>
                  <a:srgbClr val="1E1B4B"/>
                </a:solidFill>
                <a:latin typeface="Calibri" pitchFamily="34" charset="0"/>
                <a:ea typeface="Calibri" pitchFamily="34" charset="-122"/>
                <a:cs typeface="Calibri" pitchFamily="34" charset="-120"/>
              </a:rPr>
              <a:t>The animal avoided the street because it was tired. Replace tired with wide.</a:t>
            </a:r>
            <a:endParaRPr lang="en-US" sz="2600" dirty="0"/>
          </a:p>
        </p:txBody>
      </p:sp>
      <p:sp>
        <p:nvSpPr>
          <p:cNvPr id="9" name="Text 6"/>
          <p:cNvSpPr txBox="1"/>
          <p:nvPr/>
        </p:nvSpPr>
        <p:spPr>
          <a:xfrm>
            <a:off x="1828800" y="3172968"/>
            <a:ext cx="9814255" cy="3090672"/>
          </a:xfrm>
          <a:prstGeom prst="rect">
            <a:avLst/>
          </a:prstGeom>
          <a:noFill/>
          <a:ln/>
        </p:spPr>
        <p:txBody>
          <a:bodyPr wrap="square" lIns="50800" tIns="50800" rIns="50800" bIns="50800" rtlCol="0" anchor="t"/>
          <a:lstStyle/>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Predict the referent.</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Which position can read the adjective?</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01</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Why transformers?</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can distant words share information?</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Text to the next character</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Predict; append; repeat.</a:t>
            </a:r>
            <a:endParaRPr lang="en-US" sz="1800" dirty="0"/>
          </a:p>
        </p:txBody>
      </p:sp>
      <p:sp>
        <p:nvSpPr>
          <p:cNvPr id="7" name="Shape 5"/>
          <p:cNvSpPr/>
          <p:nvPr/>
        </p:nvSpPr>
        <p:spPr>
          <a:xfrm>
            <a:off x="2095597" y="3838927"/>
            <a:ext cx="244024" cy="0"/>
          </a:xfrm>
          <a:prstGeom prst="line">
            <a:avLst/>
          </a:prstGeom>
          <a:noFill/>
          <a:ln w="22860">
            <a:solidFill>
              <a:srgbClr val="009E73"/>
            </a:solidFill>
            <a:prstDash val="solid"/>
            <a:tailEnd type="triangle"/>
          </a:ln>
        </p:spPr>
      </p:sp>
      <p:sp>
        <p:nvSpPr>
          <p:cNvPr id="8" name="Text 6"/>
          <p:cNvSpPr txBox="1"/>
          <p:nvPr/>
        </p:nvSpPr>
        <p:spPr>
          <a:xfrm>
            <a:off x="1464838"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IDs[1,6]</a:t>
            </a:r>
            <a:endParaRPr lang="en-US" sz="1441" dirty="0"/>
          </a:p>
        </p:txBody>
      </p:sp>
      <p:sp>
        <p:nvSpPr>
          <p:cNvPr id="9" name="Shape 7"/>
          <p:cNvSpPr/>
          <p:nvPr/>
        </p:nvSpPr>
        <p:spPr>
          <a:xfrm>
            <a:off x="3646892" y="3838927"/>
            <a:ext cx="244024" cy="0"/>
          </a:xfrm>
          <a:prstGeom prst="line">
            <a:avLst/>
          </a:prstGeom>
          <a:noFill/>
          <a:ln w="22860">
            <a:solidFill>
              <a:srgbClr val="009E73"/>
            </a:solidFill>
            <a:prstDash val="solid"/>
            <a:tailEnd type="triangle"/>
          </a:ln>
        </p:spPr>
      </p:sp>
      <p:sp>
        <p:nvSpPr>
          <p:cNvPr id="10" name="Text 8"/>
          <p:cNvSpPr txBox="1"/>
          <p:nvPr/>
        </p:nvSpPr>
        <p:spPr>
          <a:xfrm>
            <a:off x="3016134"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X[1,6,d]</a:t>
            </a:r>
            <a:endParaRPr lang="en-US" sz="1441" dirty="0"/>
          </a:p>
        </p:txBody>
      </p:sp>
      <p:sp>
        <p:nvSpPr>
          <p:cNvPr id="11" name="Shape 9"/>
          <p:cNvSpPr/>
          <p:nvPr/>
        </p:nvSpPr>
        <p:spPr>
          <a:xfrm>
            <a:off x="5198188" y="3838927"/>
            <a:ext cx="244024" cy="0"/>
          </a:xfrm>
          <a:prstGeom prst="line">
            <a:avLst/>
          </a:prstGeom>
          <a:noFill/>
          <a:ln w="22860">
            <a:solidFill>
              <a:srgbClr val="009E73"/>
            </a:solidFill>
            <a:prstDash val="solid"/>
            <a:tailEnd type="triangle"/>
          </a:ln>
        </p:spPr>
      </p:sp>
      <p:sp>
        <p:nvSpPr>
          <p:cNvPr id="12" name="Text 10"/>
          <p:cNvSpPr txBox="1"/>
          <p:nvPr/>
        </p:nvSpPr>
        <p:spPr>
          <a:xfrm>
            <a:off x="4567429"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H[1,6,d]</a:t>
            </a:r>
            <a:endParaRPr lang="en-US" sz="1441" dirty="0"/>
          </a:p>
        </p:txBody>
      </p:sp>
      <p:sp>
        <p:nvSpPr>
          <p:cNvPr id="13" name="Shape 11"/>
          <p:cNvSpPr/>
          <p:nvPr/>
        </p:nvSpPr>
        <p:spPr>
          <a:xfrm>
            <a:off x="6749483" y="3838927"/>
            <a:ext cx="244024" cy="0"/>
          </a:xfrm>
          <a:prstGeom prst="line">
            <a:avLst/>
          </a:prstGeom>
          <a:noFill/>
          <a:ln w="22860">
            <a:solidFill>
              <a:srgbClr val="009E73"/>
            </a:solidFill>
            <a:prstDash val="solid"/>
            <a:tailEnd type="triangle"/>
          </a:ln>
        </p:spPr>
      </p:sp>
      <p:sp>
        <p:nvSpPr>
          <p:cNvPr id="14" name="Text 12"/>
          <p:cNvSpPr txBox="1"/>
          <p:nvPr/>
        </p:nvSpPr>
        <p:spPr>
          <a:xfrm>
            <a:off x="6118725"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logits[1,6,V]</a:t>
            </a:r>
            <a:endParaRPr lang="en-US" sz="1441" dirty="0"/>
          </a:p>
        </p:txBody>
      </p:sp>
      <p:sp>
        <p:nvSpPr>
          <p:cNvPr id="15" name="Shape 13"/>
          <p:cNvSpPr/>
          <p:nvPr/>
        </p:nvSpPr>
        <p:spPr>
          <a:xfrm>
            <a:off x="8300779" y="3838927"/>
            <a:ext cx="244024" cy="0"/>
          </a:xfrm>
          <a:prstGeom prst="line">
            <a:avLst/>
          </a:prstGeom>
          <a:noFill/>
          <a:ln w="22860">
            <a:solidFill>
              <a:srgbClr val="009E73"/>
            </a:solidFill>
            <a:prstDash val="solid"/>
            <a:tailEnd type="triangle"/>
          </a:ln>
        </p:spPr>
      </p:sp>
      <p:sp>
        <p:nvSpPr>
          <p:cNvPr id="16" name="Text 14"/>
          <p:cNvSpPr txBox="1"/>
          <p:nvPr/>
        </p:nvSpPr>
        <p:spPr>
          <a:xfrm>
            <a:off x="7670020"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last[1,V]</a:t>
            </a:r>
            <a:endParaRPr lang="en-US" sz="1441" dirty="0"/>
          </a:p>
        </p:txBody>
      </p:sp>
      <p:sp>
        <p:nvSpPr>
          <p:cNvPr id="17" name="Shape 15"/>
          <p:cNvSpPr/>
          <p:nvPr/>
        </p:nvSpPr>
        <p:spPr>
          <a:xfrm>
            <a:off x="9852075" y="3838927"/>
            <a:ext cx="244024" cy="0"/>
          </a:xfrm>
          <a:prstGeom prst="line">
            <a:avLst/>
          </a:prstGeom>
          <a:noFill/>
          <a:ln w="22860">
            <a:solidFill>
              <a:srgbClr val="009E73"/>
            </a:solidFill>
            <a:prstDash val="solid"/>
            <a:tailEnd type="triangle"/>
          </a:ln>
        </p:spPr>
      </p:sp>
      <p:sp>
        <p:nvSpPr>
          <p:cNvPr id="18" name="Text 16"/>
          <p:cNvSpPr txBox="1"/>
          <p:nvPr/>
        </p:nvSpPr>
        <p:spPr>
          <a:xfrm>
            <a:off x="9221316"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P[1,V]</a:t>
            </a:r>
            <a:endParaRPr lang="en-US" sz="1441" dirty="0"/>
          </a:p>
        </p:txBody>
      </p:sp>
      <p:sp>
        <p:nvSpPr>
          <p:cNvPr id="19" name="Shape 17"/>
          <p:cNvSpPr/>
          <p:nvPr/>
        </p:nvSpPr>
        <p:spPr>
          <a:xfrm flipV="1">
            <a:off x="10749734" y="2191765"/>
            <a:ext cx="0" cy="747324"/>
          </a:xfrm>
          <a:prstGeom prst="line">
            <a:avLst/>
          </a:prstGeom>
          <a:noFill/>
          <a:ln w="22860">
            <a:solidFill>
              <a:srgbClr val="D55E00"/>
            </a:solidFill>
            <a:prstDash val="dash"/>
          </a:ln>
        </p:spPr>
      </p:sp>
      <p:sp>
        <p:nvSpPr>
          <p:cNvPr id="20" name="Shape 18"/>
          <p:cNvSpPr/>
          <p:nvPr/>
        </p:nvSpPr>
        <p:spPr>
          <a:xfrm flipH="1">
            <a:off x="1441961" y="2191765"/>
            <a:ext cx="9307774" cy="0"/>
          </a:xfrm>
          <a:prstGeom prst="line">
            <a:avLst/>
          </a:prstGeom>
          <a:noFill/>
          <a:ln w="22860">
            <a:solidFill>
              <a:srgbClr val="D55E00"/>
            </a:solidFill>
            <a:prstDash val="dash"/>
          </a:ln>
        </p:spPr>
      </p:sp>
      <p:sp>
        <p:nvSpPr>
          <p:cNvPr id="21" name="Shape 19"/>
          <p:cNvSpPr/>
          <p:nvPr/>
        </p:nvSpPr>
        <p:spPr>
          <a:xfrm>
            <a:off x="1441961" y="2191765"/>
            <a:ext cx="0" cy="747324"/>
          </a:xfrm>
          <a:prstGeom prst="line">
            <a:avLst/>
          </a:prstGeom>
          <a:noFill/>
          <a:ln w="22860">
            <a:solidFill>
              <a:srgbClr val="D55E00"/>
            </a:solidFill>
            <a:prstDash val="dash"/>
            <a:tailEnd type="triangle"/>
          </a:ln>
        </p:spPr>
      </p:sp>
      <p:sp>
        <p:nvSpPr>
          <p:cNvPr id="22" name="Text 20"/>
          <p:cNvSpPr txBox="1"/>
          <p:nvPr/>
        </p:nvSpPr>
        <p:spPr>
          <a:xfrm>
            <a:off x="5618021" y="1917238"/>
            <a:ext cx="955654"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New prefix</a:t>
            </a:r>
            <a:endParaRPr lang="en-US" sz="1441" dirty="0"/>
          </a:p>
        </p:txBody>
      </p:sp>
      <p:sp>
        <p:nvSpPr>
          <p:cNvPr id="23" name="Shape 21"/>
          <p:cNvSpPr/>
          <p:nvPr/>
        </p:nvSpPr>
        <p:spPr>
          <a:xfrm>
            <a:off x="788325" y="2939089"/>
            <a:ext cx="1307272" cy="1799677"/>
          </a:xfrm>
          <a:prstGeom prst="roundRect">
            <a:avLst>
              <a:gd name="adj" fmla="val 5596"/>
            </a:avLst>
          </a:prstGeom>
          <a:solidFill>
            <a:srgbClr val="E4F2FB"/>
          </a:solidFill>
          <a:ln w="15240">
            <a:solidFill>
              <a:srgbClr val="0072B2"/>
            </a:solidFill>
            <a:prstDash val="solid"/>
          </a:ln>
        </p:spPr>
      </p:sp>
      <p:sp>
        <p:nvSpPr>
          <p:cNvPr id="24" name="Text 22"/>
          <p:cNvSpPr txBox="1"/>
          <p:nvPr/>
        </p:nvSpPr>
        <p:spPr>
          <a:xfrm>
            <a:off x="849331" y="3442998"/>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Encode</a:t>
            </a:r>
            <a:endParaRPr lang="en-US" sz="1561" dirty="0"/>
          </a:p>
        </p:txBody>
      </p:sp>
      <p:sp>
        <p:nvSpPr>
          <p:cNvPr id="25" name="Text 23"/>
          <p:cNvSpPr txBox="1"/>
          <p:nvPr/>
        </p:nvSpPr>
        <p:spPr>
          <a:xfrm>
            <a:off x="849331" y="3749248"/>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Characters</a:t>
            </a:r>
            <a:endParaRPr lang="en-US" sz="1441" dirty="0"/>
          </a:p>
        </p:txBody>
      </p:sp>
      <p:sp>
        <p:nvSpPr>
          <p:cNvPr id="26" name="Text 24"/>
          <p:cNvSpPr txBox="1"/>
          <p:nvPr/>
        </p:nvSpPr>
        <p:spPr>
          <a:xfrm>
            <a:off x="811202" y="4022555"/>
            <a:ext cx="1261517"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stoi</a:t>
            </a:r>
            <a:endParaRPr lang="en-US" sz="1441" dirty="0"/>
          </a:p>
        </p:txBody>
      </p:sp>
      <p:sp>
        <p:nvSpPr>
          <p:cNvPr id="27" name="Shape 25"/>
          <p:cNvSpPr/>
          <p:nvPr/>
        </p:nvSpPr>
        <p:spPr>
          <a:xfrm>
            <a:off x="2339621" y="2939089"/>
            <a:ext cx="1307272" cy="1799677"/>
          </a:xfrm>
          <a:prstGeom prst="rect">
            <a:avLst/>
          </a:prstGeom>
          <a:solidFill>
            <a:srgbClr val="E5F7EF"/>
          </a:solidFill>
          <a:ln w="15240">
            <a:solidFill>
              <a:srgbClr val="009E73"/>
            </a:solidFill>
            <a:prstDash val="solid"/>
          </a:ln>
        </p:spPr>
      </p:sp>
      <p:sp>
        <p:nvSpPr>
          <p:cNvPr id="28" name="Text 26"/>
          <p:cNvSpPr txBox="1"/>
          <p:nvPr/>
        </p:nvSpPr>
        <p:spPr>
          <a:xfrm>
            <a:off x="2400627" y="3579652"/>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Embed</a:t>
            </a:r>
            <a:endParaRPr lang="en-US" sz="1561" dirty="0"/>
          </a:p>
        </p:txBody>
      </p:sp>
      <p:sp>
        <p:nvSpPr>
          <p:cNvPr id="29" name="Text 27"/>
          <p:cNvSpPr txBox="1"/>
          <p:nvPr/>
        </p:nvSpPr>
        <p:spPr>
          <a:xfrm>
            <a:off x="2400627" y="3885902"/>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Positioned</a:t>
            </a:r>
            <a:endParaRPr lang="en-US" sz="1441" dirty="0"/>
          </a:p>
        </p:txBody>
      </p:sp>
      <p:sp>
        <p:nvSpPr>
          <p:cNvPr id="30" name="Shape 28"/>
          <p:cNvSpPr/>
          <p:nvPr/>
        </p:nvSpPr>
        <p:spPr>
          <a:xfrm>
            <a:off x="3890916" y="2939089"/>
            <a:ext cx="1307272" cy="1799677"/>
          </a:xfrm>
          <a:prstGeom prst="rect">
            <a:avLst/>
          </a:prstGeom>
          <a:solidFill>
            <a:srgbClr val="E5F7EF"/>
          </a:solidFill>
          <a:ln w="15240">
            <a:solidFill>
              <a:srgbClr val="009E73"/>
            </a:solidFill>
            <a:prstDash val="solid"/>
          </a:ln>
        </p:spPr>
      </p:sp>
      <p:sp>
        <p:nvSpPr>
          <p:cNvPr id="31" name="Text 29"/>
          <p:cNvSpPr txBox="1"/>
          <p:nvPr/>
        </p:nvSpPr>
        <p:spPr>
          <a:xfrm>
            <a:off x="3951922" y="3579652"/>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Transform</a:t>
            </a:r>
            <a:endParaRPr lang="en-US" sz="1561" dirty="0"/>
          </a:p>
        </p:txBody>
      </p:sp>
      <p:sp>
        <p:nvSpPr>
          <p:cNvPr id="32" name="Text 30"/>
          <p:cNvSpPr txBox="1"/>
          <p:nvPr/>
        </p:nvSpPr>
        <p:spPr>
          <a:xfrm>
            <a:off x="3951922" y="3885902"/>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Causal</a:t>
            </a:r>
            <a:endParaRPr lang="en-US" sz="1441" dirty="0"/>
          </a:p>
        </p:txBody>
      </p:sp>
      <p:sp>
        <p:nvSpPr>
          <p:cNvPr id="33" name="Shape 31"/>
          <p:cNvSpPr/>
          <p:nvPr/>
        </p:nvSpPr>
        <p:spPr>
          <a:xfrm>
            <a:off x="5442212" y="2939089"/>
            <a:ext cx="1307272" cy="1799677"/>
          </a:xfrm>
          <a:prstGeom prst="rect">
            <a:avLst/>
          </a:prstGeom>
          <a:solidFill>
            <a:srgbClr val="E5F7EF"/>
          </a:solidFill>
          <a:ln w="15240">
            <a:solidFill>
              <a:srgbClr val="009E73"/>
            </a:solidFill>
            <a:prstDash val="solid"/>
          </a:ln>
        </p:spPr>
      </p:sp>
      <p:sp>
        <p:nvSpPr>
          <p:cNvPr id="34" name="Text 32"/>
          <p:cNvSpPr txBox="1"/>
          <p:nvPr/>
        </p:nvSpPr>
        <p:spPr>
          <a:xfrm>
            <a:off x="5503218" y="3442998"/>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Score</a:t>
            </a:r>
            <a:endParaRPr lang="en-US" sz="1561" dirty="0"/>
          </a:p>
        </p:txBody>
      </p:sp>
      <p:sp>
        <p:nvSpPr>
          <p:cNvPr id="35" name="Text 33"/>
          <p:cNvSpPr txBox="1"/>
          <p:nvPr/>
        </p:nvSpPr>
        <p:spPr>
          <a:xfrm>
            <a:off x="5503218" y="3749248"/>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Vocabulary</a:t>
            </a:r>
            <a:endParaRPr lang="en-US" sz="1441" dirty="0"/>
          </a:p>
        </p:txBody>
      </p:sp>
      <p:sp>
        <p:nvSpPr>
          <p:cNvPr id="36" name="Text 34"/>
          <p:cNvSpPr txBox="1"/>
          <p:nvPr/>
        </p:nvSpPr>
        <p:spPr>
          <a:xfrm>
            <a:off x="5465089" y="4022555"/>
            <a:ext cx="1261517"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head</a:t>
            </a:r>
            <a:endParaRPr lang="en-US" sz="1441" dirty="0"/>
          </a:p>
        </p:txBody>
      </p:sp>
      <p:sp>
        <p:nvSpPr>
          <p:cNvPr id="37" name="Shape 35"/>
          <p:cNvSpPr/>
          <p:nvPr/>
        </p:nvSpPr>
        <p:spPr>
          <a:xfrm>
            <a:off x="6993507" y="2939089"/>
            <a:ext cx="1307272" cy="1799677"/>
          </a:xfrm>
          <a:prstGeom prst="rect">
            <a:avLst/>
          </a:prstGeom>
          <a:solidFill>
            <a:srgbClr val="E5F7EF"/>
          </a:solidFill>
          <a:ln w="15240">
            <a:solidFill>
              <a:srgbClr val="009E73"/>
            </a:solidFill>
            <a:prstDash val="solid"/>
          </a:ln>
        </p:spPr>
      </p:sp>
      <p:sp>
        <p:nvSpPr>
          <p:cNvPr id="38" name="Text 36"/>
          <p:cNvSpPr txBox="1"/>
          <p:nvPr/>
        </p:nvSpPr>
        <p:spPr>
          <a:xfrm>
            <a:off x="7054513" y="3579652"/>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Select</a:t>
            </a:r>
            <a:endParaRPr lang="en-US" sz="1561" dirty="0"/>
          </a:p>
        </p:txBody>
      </p:sp>
      <p:sp>
        <p:nvSpPr>
          <p:cNvPr id="39" name="Text 37"/>
          <p:cNvSpPr txBox="1"/>
          <p:nvPr/>
        </p:nvSpPr>
        <p:spPr>
          <a:xfrm>
            <a:off x="7054513" y="3885902"/>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Last row</a:t>
            </a:r>
            <a:endParaRPr lang="en-US" sz="1441" dirty="0"/>
          </a:p>
        </p:txBody>
      </p:sp>
      <p:sp>
        <p:nvSpPr>
          <p:cNvPr id="40" name="Shape 38"/>
          <p:cNvSpPr/>
          <p:nvPr/>
        </p:nvSpPr>
        <p:spPr>
          <a:xfrm>
            <a:off x="8544803" y="2939089"/>
            <a:ext cx="1307272" cy="1799677"/>
          </a:xfrm>
          <a:prstGeom prst="rect">
            <a:avLst/>
          </a:prstGeom>
          <a:solidFill>
            <a:srgbClr val="E5F7EF"/>
          </a:solidFill>
          <a:ln w="15240">
            <a:solidFill>
              <a:srgbClr val="009E73"/>
            </a:solidFill>
            <a:prstDash val="solid"/>
          </a:ln>
        </p:spPr>
      </p:sp>
      <p:sp>
        <p:nvSpPr>
          <p:cNvPr id="41" name="Text 39"/>
          <p:cNvSpPr txBox="1"/>
          <p:nvPr/>
        </p:nvSpPr>
        <p:spPr>
          <a:xfrm>
            <a:off x="8605809" y="3579652"/>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Normalise</a:t>
            </a:r>
            <a:endParaRPr lang="en-US" sz="1561" dirty="0"/>
          </a:p>
        </p:txBody>
      </p:sp>
      <p:sp>
        <p:nvSpPr>
          <p:cNvPr id="42" name="Text 40"/>
          <p:cNvSpPr txBox="1"/>
          <p:nvPr/>
        </p:nvSpPr>
        <p:spPr>
          <a:xfrm>
            <a:off x="8605809" y="3885902"/>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Softmax</a:t>
            </a:r>
            <a:endParaRPr lang="en-US" sz="1441" dirty="0"/>
          </a:p>
        </p:txBody>
      </p:sp>
      <p:sp>
        <p:nvSpPr>
          <p:cNvPr id="43" name="Shape 41"/>
          <p:cNvSpPr/>
          <p:nvPr/>
        </p:nvSpPr>
        <p:spPr>
          <a:xfrm>
            <a:off x="10096099" y="2939089"/>
            <a:ext cx="1307272" cy="1799677"/>
          </a:xfrm>
          <a:prstGeom prst="roundRect">
            <a:avLst>
              <a:gd name="adj" fmla="val 5596"/>
            </a:avLst>
          </a:prstGeom>
          <a:solidFill>
            <a:srgbClr val="F9EAF4"/>
          </a:solidFill>
          <a:ln w="15240">
            <a:solidFill>
              <a:srgbClr val="CC79A7"/>
            </a:solidFill>
            <a:prstDash val="solid"/>
          </a:ln>
        </p:spPr>
      </p:sp>
      <p:sp>
        <p:nvSpPr>
          <p:cNvPr id="44" name="Text 42"/>
          <p:cNvSpPr txBox="1"/>
          <p:nvPr/>
        </p:nvSpPr>
        <p:spPr>
          <a:xfrm>
            <a:off x="10157105" y="3464655"/>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Sample;</a:t>
            </a:r>
            <a:endParaRPr lang="en-US" sz="1561" dirty="0"/>
          </a:p>
        </p:txBody>
      </p:sp>
      <p:sp>
        <p:nvSpPr>
          <p:cNvPr id="45" name="Text 43"/>
          <p:cNvSpPr txBox="1"/>
          <p:nvPr/>
        </p:nvSpPr>
        <p:spPr>
          <a:xfrm>
            <a:off x="10157105" y="3694648"/>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append</a:t>
            </a:r>
            <a:endParaRPr lang="en-US" sz="1561" dirty="0"/>
          </a:p>
        </p:txBody>
      </p:sp>
      <p:sp>
        <p:nvSpPr>
          <p:cNvPr id="46" name="Text 44"/>
          <p:cNvSpPr txBox="1"/>
          <p:nvPr/>
        </p:nvSpPr>
        <p:spPr>
          <a:xfrm>
            <a:off x="10157105" y="4000898"/>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ID</a:t>
            </a:r>
            <a:endParaRPr lang="en-US" sz="1441" dirty="0"/>
          </a:p>
        </p:txBody>
      </p:sp>
      <p:sp>
        <p:nvSpPr>
          <p:cNvPr id="47" name="Shape 45"/>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8" name="Text 46"/>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9" name="Shape 47"/>
          <p:cNvSpPr/>
          <p:nvPr/>
        </p:nvSpPr>
        <p:spPr>
          <a:xfrm>
            <a:off x="1676436" y="5630979"/>
            <a:ext cx="198270" cy="198270"/>
          </a:xfrm>
          <a:prstGeom prst="rect">
            <a:avLst/>
          </a:prstGeom>
          <a:solidFill>
            <a:srgbClr val="E5F7EF"/>
          </a:solidFill>
          <a:ln w="15240">
            <a:solidFill>
              <a:srgbClr val="009E73"/>
            </a:solidFill>
            <a:prstDash val="solid"/>
          </a:ln>
        </p:spPr>
      </p:sp>
      <p:sp>
        <p:nvSpPr>
          <p:cNvPr id="50" name="Text 48"/>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51" name="Shape 49"/>
          <p:cNvSpPr/>
          <p:nvPr/>
        </p:nvSpPr>
        <p:spPr>
          <a:xfrm>
            <a:off x="2680284" y="5630979"/>
            <a:ext cx="198270" cy="198270"/>
          </a:xfrm>
          <a:prstGeom prst="roundRect">
            <a:avLst>
              <a:gd name="adj" fmla="val 36895"/>
            </a:avLst>
          </a:prstGeom>
          <a:solidFill>
            <a:srgbClr val="F9EAF4"/>
          </a:solidFill>
          <a:ln w="15240">
            <a:solidFill>
              <a:srgbClr val="CC79A7"/>
            </a:solidFill>
            <a:prstDash val="solid"/>
          </a:ln>
        </p:spPr>
      </p:sp>
      <p:sp>
        <p:nvSpPr>
          <p:cNvPr id="52" name="Text 50"/>
          <p:cNvSpPr txBox="1"/>
          <p:nvPr/>
        </p:nvSpPr>
        <p:spPr>
          <a:xfrm>
            <a:off x="2939560"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53" name="Shape 51"/>
          <p:cNvSpPr/>
          <p:nvPr/>
        </p:nvSpPr>
        <p:spPr>
          <a:xfrm>
            <a:off x="3736982" y="5730113"/>
            <a:ext cx="335533" cy="0"/>
          </a:xfrm>
          <a:prstGeom prst="line">
            <a:avLst/>
          </a:prstGeom>
          <a:noFill/>
          <a:ln w="22860">
            <a:solidFill>
              <a:srgbClr val="009E73"/>
            </a:solidFill>
            <a:prstDash val="solid"/>
            <a:tailEnd type="triangle"/>
          </a:ln>
        </p:spPr>
      </p:sp>
      <p:sp>
        <p:nvSpPr>
          <p:cNvPr id="54" name="Text 52"/>
          <p:cNvSpPr txBox="1"/>
          <p:nvPr/>
        </p:nvSpPr>
        <p:spPr>
          <a:xfrm>
            <a:off x="4133521"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55" name="Shape 53"/>
          <p:cNvSpPr/>
          <p:nvPr/>
        </p:nvSpPr>
        <p:spPr>
          <a:xfrm>
            <a:off x="4762167" y="5730113"/>
            <a:ext cx="335533" cy="0"/>
          </a:xfrm>
          <a:prstGeom prst="line">
            <a:avLst/>
          </a:prstGeom>
          <a:noFill/>
          <a:ln w="22860">
            <a:solidFill>
              <a:srgbClr val="D55E00"/>
            </a:solidFill>
            <a:prstDash val="dash"/>
            <a:tailEnd type="triangle"/>
          </a:ln>
        </p:spPr>
      </p:sp>
      <p:sp>
        <p:nvSpPr>
          <p:cNvPr id="56" name="Text 54"/>
          <p:cNvSpPr txBox="1"/>
          <p:nvPr/>
        </p:nvSpPr>
        <p:spPr>
          <a:xfrm>
            <a:off x="5158706"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57" name="Text 55"/>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Future characters allowed?</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Recurrence vs. attention</a:t>
            </a:r>
            <a:endParaRPr lang="en-US" sz="3200" dirty="0"/>
          </a:p>
        </p:txBody>
      </p:sp>
      <p:sp>
        <p:nvSpPr>
          <p:cNvPr id="6" name="Shape 4"/>
          <p:cNvSpPr/>
          <p:nvPr/>
        </p:nvSpPr>
        <p:spPr>
          <a:xfrm>
            <a:off x="2368124" y="4978330"/>
            <a:ext cx="0" cy="481327"/>
          </a:xfrm>
          <a:prstGeom prst="line">
            <a:avLst/>
          </a:prstGeom>
          <a:noFill/>
          <a:ln w="22860">
            <a:solidFill>
              <a:srgbClr val="0072B2"/>
            </a:solidFill>
            <a:prstDash val="solid"/>
          </a:ln>
        </p:spPr>
      </p:sp>
      <p:sp>
        <p:nvSpPr>
          <p:cNvPr id="7" name="Shape 5"/>
          <p:cNvSpPr/>
          <p:nvPr/>
        </p:nvSpPr>
        <p:spPr>
          <a:xfrm>
            <a:off x="2368124" y="5459657"/>
            <a:ext cx="7045807" cy="0"/>
          </a:xfrm>
          <a:prstGeom prst="line">
            <a:avLst/>
          </a:prstGeom>
          <a:noFill/>
          <a:ln w="22860">
            <a:solidFill>
              <a:srgbClr val="0072B2"/>
            </a:solidFill>
            <a:prstDash val="solid"/>
          </a:ln>
        </p:spPr>
      </p:sp>
      <p:sp>
        <p:nvSpPr>
          <p:cNvPr id="8" name="Shape 6"/>
          <p:cNvSpPr/>
          <p:nvPr/>
        </p:nvSpPr>
        <p:spPr>
          <a:xfrm>
            <a:off x="2286196" y="5852740"/>
            <a:ext cx="327712" cy="0"/>
          </a:xfrm>
          <a:prstGeom prst="line">
            <a:avLst/>
          </a:prstGeom>
          <a:noFill/>
          <a:ln w="22860">
            <a:solidFill>
              <a:srgbClr val="009E73"/>
            </a:solidFill>
            <a:prstDash val="solid"/>
          </a:ln>
        </p:spPr>
      </p:sp>
      <p:sp>
        <p:nvSpPr>
          <p:cNvPr id="9" name="Shape 7"/>
          <p:cNvSpPr/>
          <p:nvPr/>
        </p:nvSpPr>
        <p:spPr>
          <a:xfrm>
            <a:off x="2368124" y="2651916"/>
            <a:ext cx="0" cy="80221"/>
          </a:xfrm>
          <a:prstGeom prst="line">
            <a:avLst/>
          </a:prstGeom>
          <a:noFill/>
          <a:ln w="22860">
            <a:solidFill>
              <a:srgbClr val="0072B2"/>
            </a:solidFill>
            <a:prstDash val="solid"/>
            <a:tailEnd type="triangle"/>
          </a:ln>
        </p:spPr>
      </p:sp>
      <p:sp>
        <p:nvSpPr>
          <p:cNvPr id="10" name="Shape 8"/>
          <p:cNvSpPr/>
          <p:nvPr/>
        </p:nvSpPr>
        <p:spPr>
          <a:xfrm>
            <a:off x="5891028" y="2651916"/>
            <a:ext cx="0" cy="80221"/>
          </a:xfrm>
          <a:prstGeom prst="line">
            <a:avLst/>
          </a:prstGeom>
          <a:noFill/>
          <a:ln w="22860">
            <a:solidFill>
              <a:srgbClr val="0072B2"/>
            </a:solidFill>
            <a:prstDash val="solid"/>
            <a:tailEnd type="triangle"/>
          </a:ln>
        </p:spPr>
      </p:sp>
      <p:sp>
        <p:nvSpPr>
          <p:cNvPr id="11" name="Shape 9"/>
          <p:cNvSpPr/>
          <p:nvPr/>
        </p:nvSpPr>
        <p:spPr>
          <a:xfrm>
            <a:off x="9413931" y="2651916"/>
            <a:ext cx="0" cy="80221"/>
          </a:xfrm>
          <a:prstGeom prst="line">
            <a:avLst/>
          </a:prstGeom>
          <a:noFill/>
          <a:ln w="22860">
            <a:solidFill>
              <a:srgbClr val="0072B2"/>
            </a:solidFill>
            <a:prstDash val="solid"/>
            <a:tailEnd type="triangle"/>
          </a:ln>
        </p:spPr>
      </p:sp>
      <p:sp>
        <p:nvSpPr>
          <p:cNvPr id="12" name="Shape 10"/>
          <p:cNvSpPr/>
          <p:nvPr/>
        </p:nvSpPr>
        <p:spPr>
          <a:xfrm>
            <a:off x="3842828" y="3093132"/>
            <a:ext cx="573496" cy="0"/>
          </a:xfrm>
          <a:prstGeom prst="line">
            <a:avLst/>
          </a:prstGeom>
          <a:noFill/>
          <a:ln w="22860">
            <a:solidFill>
              <a:srgbClr val="009E73"/>
            </a:solidFill>
            <a:prstDash val="solid"/>
            <a:tailEnd type="triangle"/>
          </a:ln>
        </p:spPr>
      </p:sp>
      <p:sp>
        <p:nvSpPr>
          <p:cNvPr id="13" name="Shape 11"/>
          <p:cNvSpPr/>
          <p:nvPr/>
        </p:nvSpPr>
        <p:spPr>
          <a:xfrm>
            <a:off x="7365731" y="3093132"/>
            <a:ext cx="573496" cy="0"/>
          </a:xfrm>
          <a:prstGeom prst="line">
            <a:avLst/>
          </a:prstGeom>
          <a:noFill/>
          <a:ln w="22860">
            <a:solidFill>
              <a:srgbClr val="009E73"/>
            </a:solidFill>
            <a:prstDash val="solid"/>
            <a:tailEnd type="triangle"/>
          </a:ln>
        </p:spPr>
      </p:sp>
      <p:sp>
        <p:nvSpPr>
          <p:cNvPr id="14" name="Shape 12"/>
          <p:cNvSpPr/>
          <p:nvPr/>
        </p:nvSpPr>
        <p:spPr>
          <a:xfrm>
            <a:off x="3842828" y="4617334"/>
            <a:ext cx="573496" cy="0"/>
          </a:xfrm>
          <a:prstGeom prst="line">
            <a:avLst/>
          </a:prstGeom>
          <a:noFill/>
          <a:ln w="22860">
            <a:solidFill>
              <a:srgbClr val="009E73"/>
            </a:solidFill>
            <a:prstDash val="solid"/>
            <a:tailEnd type="triangle"/>
          </a:ln>
        </p:spPr>
      </p:sp>
      <p:sp>
        <p:nvSpPr>
          <p:cNvPr id="15" name="Shape 13"/>
          <p:cNvSpPr/>
          <p:nvPr/>
        </p:nvSpPr>
        <p:spPr>
          <a:xfrm>
            <a:off x="7365731" y="4617334"/>
            <a:ext cx="573496" cy="0"/>
          </a:xfrm>
          <a:prstGeom prst="line">
            <a:avLst/>
          </a:prstGeom>
          <a:noFill/>
          <a:ln w="22860">
            <a:solidFill>
              <a:srgbClr val="009E73"/>
            </a:solidFill>
            <a:prstDash val="solid"/>
            <a:tailEnd type="triangle"/>
          </a:ln>
        </p:spPr>
      </p:sp>
      <p:sp>
        <p:nvSpPr>
          <p:cNvPr id="16" name="Shape 14"/>
          <p:cNvSpPr/>
          <p:nvPr/>
        </p:nvSpPr>
        <p:spPr>
          <a:xfrm flipV="1">
            <a:off x="9413931" y="4978330"/>
            <a:ext cx="0" cy="481327"/>
          </a:xfrm>
          <a:prstGeom prst="line">
            <a:avLst/>
          </a:prstGeom>
          <a:noFill/>
          <a:ln w="22860">
            <a:solidFill>
              <a:srgbClr val="0072B2"/>
            </a:solidFill>
            <a:prstDash val="solid"/>
            <a:tailEnd type="triangle"/>
          </a:ln>
        </p:spPr>
      </p:sp>
      <p:sp>
        <p:nvSpPr>
          <p:cNvPr id="17" name="Shape 15"/>
          <p:cNvSpPr/>
          <p:nvPr/>
        </p:nvSpPr>
        <p:spPr>
          <a:xfrm>
            <a:off x="893420" y="2732137"/>
            <a:ext cx="2949408" cy="721990"/>
          </a:xfrm>
          <a:prstGeom prst="rect">
            <a:avLst/>
          </a:prstGeom>
          <a:solidFill>
            <a:srgbClr val="E5F7EF"/>
          </a:solidFill>
          <a:ln w="15240">
            <a:solidFill>
              <a:srgbClr val="009E73"/>
            </a:solidFill>
            <a:prstDash val="solid"/>
          </a:ln>
        </p:spPr>
      </p:sp>
      <p:sp>
        <p:nvSpPr>
          <p:cNvPr id="18" name="Shape 16"/>
          <p:cNvSpPr/>
          <p:nvPr/>
        </p:nvSpPr>
        <p:spPr>
          <a:xfrm>
            <a:off x="4416324" y="2732137"/>
            <a:ext cx="2949408" cy="721990"/>
          </a:xfrm>
          <a:prstGeom prst="rect">
            <a:avLst/>
          </a:prstGeom>
          <a:solidFill>
            <a:srgbClr val="E5F7EF"/>
          </a:solidFill>
          <a:ln w="15240">
            <a:solidFill>
              <a:srgbClr val="009E73"/>
            </a:solidFill>
            <a:prstDash val="solid"/>
          </a:ln>
        </p:spPr>
      </p:sp>
      <p:sp>
        <p:nvSpPr>
          <p:cNvPr id="19" name="Shape 17"/>
          <p:cNvSpPr/>
          <p:nvPr/>
        </p:nvSpPr>
        <p:spPr>
          <a:xfrm>
            <a:off x="7939227" y="2732137"/>
            <a:ext cx="2949408" cy="721990"/>
          </a:xfrm>
          <a:prstGeom prst="rect">
            <a:avLst/>
          </a:prstGeom>
          <a:solidFill>
            <a:srgbClr val="E5F7EF"/>
          </a:solidFill>
          <a:ln w="15240">
            <a:solidFill>
              <a:srgbClr val="009E73"/>
            </a:solidFill>
            <a:prstDash val="solid"/>
          </a:ln>
        </p:spPr>
      </p:sp>
      <p:sp>
        <p:nvSpPr>
          <p:cNvPr id="20" name="Shape 18"/>
          <p:cNvSpPr/>
          <p:nvPr/>
        </p:nvSpPr>
        <p:spPr>
          <a:xfrm>
            <a:off x="893420" y="4256339"/>
            <a:ext cx="2949408" cy="721990"/>
          </a:xfrm>
          <a:prstGeom prst="rect">
            <a:avLst/>
          </a:prstGeom>
          <a:solidFill>
            <a:srgbClr val="E5F7EF"/>
          </a:solidFill>
          <a:ln w="15240">
            <a:solidFill>
              <a:srgbClr val="009E73"/>
            </a:solidFill>
            <a:prstDash val="solid"/>
          </a:ln>
        </p:spPr>
      </p:sp>
      <p:sp>
        <p:nvSpPr>
          <p:cNvPr id="21" name="Shape 19"/>
          <p:cNvSpPr/>
          <p:nvPr/>
        </p:nvSpPr>
        <p:spPr>
          <a:xfrm>
            <a:off x="4416324" y="4256339"/>
            <a:ext cx="2949408" cy="721990"/>
          </a:xfrm>
          <a:prstGeom prst="rect">
            <a:avLst/>
          </a:prstGeom>
          <a:solidFill>
            <a:srgbClr val="E5F7EF"/>
          </a:solidFill>
          <a:ln w="15240">
            <a:solidFill>
              <a:srgbClr val="009E73"/>
            </a:solidFill>
            <a:prstDash val="solid"/>
          </a:ln>
        </p:spPr>
      </p:sp>
      <p:sp>
        <p:nvSpPr>
          <p:cNvPr id="22" name="Shape 20"/>
          <p:cNvSpPr/>
          <p:nvPr/>
        </p:nvSpPr>
        <p:spPr>
          <a:xfrm>
            <a:off x="7939227" y="4256339"/>
            <a:ext cx="2949408" cy="721990"/>
          </a:xfrm>
          <a:prstGeom prst="rect">
            <a:avLst/>
          </a:prstGeom>
          <a:solidFill>
            <a:srgbClr val="E5F7EF"/>
          </a:solidFill>
          <a:ln w="15240">
            <a:solidFill>
              <a:srgbClr val="009E73"/>
            </a:solidFill>
            <a:prstDash val="solid"/>
          </a:ln>
        </p:spPr>
      </p:sp>
      <p:sp>
        <p:nvSpPr>
          <p:cNvPr id="23" name="Shape 21"/>
          <p:cNvSpPr/>
          <p:nvPr/>
        </p:nvSpPr>
        <p:spPr>
          <a:xfrm>
            <a:off x="893420" y="5764497"/>
            <a:ext cx="196627" cy="176487"/>
          </a:xfrm>
          <a:prstGeom prst="rect">
            <a:avLst/>
          </a:prstGeom>
          <a:solidFill>
            <a:srgbClr val="E5F7EF"/>
          </a:solidFill>
          <a:ln w="15240">
            <a:solidFill>
              <a:srgbClr val="009E73"/>
            </a:solidFill>
            <a:prstDash val="solid"/>
          </a:ln>
        </p:spPr>
      </p:sp>
      <p:sp>
        <p:nvSpPr>
          <p:cNvPr id="24" name="Text 22"/>
          <p:cNvSpPr txBox="1"/>
          <p:nvPr/>
        </p:nvSpPr>
        <p:spPr>
          <a:xfrm>
            <a:off x="852456" y="1761518"/>
            <a:ext cx="3371337" cy="288739"/>
          </a:xfrm>
          <a:prstGeom prst="rect">
            <a:avLst/>
          </a:prstGeom>
          <a:noFill/>
          <a:ln/>
        </p:spPr>
        <p:txBody>
          <a:bodyPr wrap="square" lIns="0" tIns="0" rIns="0" bIns="0" rtlCol="0" anchor="ctr"/>
          <a:lstStyle/>
          <a:p>
            <a:pPr algn="l" indent="0" marL="0">
              <a:lnSpc>
                <a:spcPct val="116000"/>
              </a:lnSpc>
              <a:buNone/>
            </a:pPr>
            <a:r>
              <a:rPr lang="en-US" sz="1960" dirty="0">
                <a:solidFill>
                  <a:srgbClr val="1E1B4B"/>
                </a:solidFill>
                <a:latin typeface="Arial" pitchFamily="34" charset="0"/>
                <a:ea typeface="Arial" pitchFamily="34" charset="-122"/>
                <a:cs typeface="Arial" pitchFamily="34" charset="-120"/>
              </a:rPr>
              <a:t>Illustrative information routes</a:t>
            </a:r>
            <a:endParaRPr lang="en-US" sz="1960" dirty="0"/>
          </a:p>
        </p:txBody>
      </p:sp>
      <p:sp>
        <p:nvSpPr>
          <p:cNvPr id="25" name="Text 23"/>
          <p:cNvSpPr txBox="1"/>
          <p:nvPr/>
        </p:nvSpPr>
        <p:spPr>
          <a:xfrm>
            <a:off x="852456" y="2109902"/>
            <a:ext cx="1276114" cy="261240"/>
          </a:xfrm>
          <a:prstGeom prst="rect">
            <a:avLst/>
          </a:prstGeom>
          <a:noFill/>
          <a:ln/>
        </p:spPr>
        <p:txBody>
          <a:bodyPr wrap="square" lIns="0" tIns="0" rIns="0" bIns="0" rtlCol="0" anchor="ctr"/>
          <a:lstStyle/>
          <a:p>
            <a:pPr algn="l" indent="0" marL="0">
              <a:lnSpc>
                <a:spcPct val="116000"/>
              </a:lnSpc>
              <a:buNone/>
            </a:pPr>
            <a:r>
              <a:rPr lang="en-US" sz="1773" dirty="0">
                <a:solidFill>
                  <a:srgbClr val="1E1B4B"/>
                </a:solidFill>
                <a:latin typeface="Arial" pitchFamily="34" charset="0"/>
                <a:ea typeface="Arial" pitchFamily="34" charset="-122"/>
                <a:cs typeface="Arial" pitchFamily="34" charset="-120"/>
              </a:rPr>
              <a:t>Recurrence</a:t>
            </a:r>
            <a:endParaRPr lang="en-US" sz="1773" dirty="0"/>
          </a:p>
        </p:txBody>
      </p:sp>
      <p:sp>
        <p:nvSpPr>
          <p:cNvPr id="26" name="Text 24"/>
          <p:cNvSpPr txBox="1"/>
          <p:nvPr/>
        </p:nvSpPr>
        <p:spPr>
          <a:xfrm>
            <a:off x="1790148" y="2969387"/>
            <a:ext cx="1155953"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Update h1</a:t>
            </a:r>
            <a:endParaRPr lang="en-US" sz="1680" dirty="0"/>
          </a:p>
        </p:txBody>
      </p:sp>
      <p:sp>
        <p:nvSpPr>
          <p:cNvPr id="27" name="Text 25"/>
          <p:cNvSpPr txBox="1"/>
          <p:nvPr/>
        </p:nvSpPr>
        <p:spPr>
          <a:xfrm>
            <a:off x="1988887" y="2324204"/>
            <a:ext cx="758474" cy="247491"/>
          </a:xfrm>
          <a:prstGeom prst="rect">
            <a:avLst/>
          </a:prstGeom>
          <a:no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animal</a:t>
            </a:r>
            <a:endParaRPr lang="en-US" sz="1680" dirty="0"/>
          </a:p>
        </p:txBody>
      </p:sp>
      <p:sp>
        <p:nvSpPr>
          <p:cNvPr id="28" name="Text 26"/>
          <p:cNvSpPr txBox="1"/>
          <p:nvPr/>
        </p:nvSpPr>
        <p:spPr>
          <a:xfrm>
            <a:off x="5313051" y="2969387"/>
            <a:ext cx="1155953"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Update h2</a:t>
            </a:r>
            <a:endParaRPr lang="en-US" sz="1680" dirty="0"/>
          </a:p>
        </p:txBody>
      </p:sp>
      <p:sp>
        <p:nvSpPr>
          <p:cNvPr id="29" name="Text 27"/>
          <p:cNvSpPr txBox="1"/>
          <p:nvPr/>
        </p:nvSpPr>
        <p:spPr>
          <a:xfrm>
            <a:off x="5564788" y="2324204"/>
            <a:ext cx="652480" cy="247491"/>
          </a:xfrm>
          <a:prstGeom prst="rect">
            <a:avLst/>
          </a:prstGeom>
          <a:no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street</a:t>
            </a:r>
            <a:endParaRPr lang="en-US" sz="1680" dirty="0"/>
          </a:p>
        </p:txBody>
      </p:sp>
      <p:sp>
        <p:nvSpPr>
          <p:cNvPr id="30" name="Text 28"/>
          <p:cNvSpPr txBox="1"/>
          <p:nvPr/>
        </p:nvSpPr>
        <p:spPr>
          <a:xfrm>
            <a:off x="8835955" y="2969387"/>
            <a:ext cx="1155953"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Update h3</a:t>
            </a:r>
            <a:endParaRPr lang="en-US" sz="1680" dirty="0"/>
          </a:p>
        </p:txBody>
      </p:sp>
      <p:sp>
        <p:nvSpPr>
          <p:cNvPr id="31" name="Text 29"/>
          <p:cNvSpPr txBox="1"/>
          <p:nvPr/>
        </p:nvSpPr>
        <p:spPr>
          <a:xfrm>
            <a:off x="9308513" y="2324204"/>
            <a:ext cx="210837" cy="247491"/>
          </a:xfrm>
          <a:prstGeom prst="rect">
            <a:avLst/>
          </a:prstGeom>
          <a:no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it</a:t>
            </a:r>
            <a:endParaRPr lang="en-US" sz="1680" dirty="0"/>
          </a:p>
        </p:txBody>
      </p:sp>
      <p:sp>
        <p:nvSpPr>
          <p:cNvPr id="32" name="Text 30"/>
          <p:cNvSpPr txBox="1"/>
          <p:nvPr/>
        </p:nvSpPr>
        <p:spPr>
          <a:xfrm>
            <a:off x="3957911" y="2604978"/>
            <a:ext cx="343329" cy="247491"/>
          </a:xfrm>
          <a:prstGeom prst="rect">
            <a:avLst/>
          </a:prstGeom>
          <a:no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h1</a:t>
            </a:r>
            <a:endParaRPr lang="en-US" sz="1680" dirty="0"/>
          </a:p>
        </p:txBody>
      </p:sp>
      <p:sp>
        <p:nvSpPr>
          <p:cNvPr id="33" name="Text 31"/>
          <p:cNvSpPr txBox="1"/>
          <p:nvPr/>
        </p:nvSpPr>
        <p:spPr>
          <a:xfrm>
            <a:off x="7480815" y="2604978"/>
            <a:ext cx="343329" cy="247491"/>
          </a:xfrm>
          <a:prstGeom prst="rect">
            <a:avLst/>
          </a:prstGeom>
          <a:no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h2</a:t>
            </a:r>
            <a:endParaRPr lang="en-US" sz="1680" dirty="0"/>
          </a:p>
        </p:txBody>
      </p:sp>
      <p:sp>
        <p:nvSpPr>
          <p:cNvPr id="34" name="Text 32"/>
          <p:cNvSpPr txBox="1"/>
          <p:nvPr/>
        </p:nvSpPr>
        <p:spPr>
          <a:xfrm>
            <a:off x="852456" y="3674214"/>
            <a:ext cx="984629" cy="261240"/>
          </a:xfrm>
          <a:prstGeom prst="rect">
            <a:avLst/>
          </a:prstGeom>
          <a:noFill/>
          <a:ln/>
        </p:spPr>
        <p:txBody>
          <a:bodyPr wrap="square" lIns="0" tIns="0" rIns="0" bIns="0" rtlCol="0" anchor="ctr"/>
          <a:lstStyle/>
          <a:p>
            <a:pPr algn="l" indent="0" marL="0">
              <a:lnSpc>
                <a:spcPct val="116000"/>
              </a:lnSpc>
              <a:buNone/>
            </a:pPr>
            <a:r>
              <a:rPr lang="en-US" sz="1773" dirty="0">
                <a:solidFill>
                  <a:srgbClr val="1E1B4B"/>
                </a:solidFill>
                <a:latin typeface="Arial" pitchFamily="34" charset="0"/>
                <a:ea typeface="Arial" pitchFamily="34" charset="-122"/>
                <a:cs typeface="Arial" pitchFamily="34" charset="-120"/>
              </a:rPr>
              <a:t>Attention</a:t>
            </a:r>
            <a:endParaRPr lang="en-US" sz="1773" dirty="0"/>
          </a:p>
        </p:txBody>
      </p:sp>
      <p:sp>
        <p:nvSpPr>
          <p:cNvPr id="35" name="Text 33"/>
          <p:cNvSpPr txBox="1"/>
          <p:nvPr/>
        </p:nvSpPr>
        <p:spPr>
          <a:xfrm>
            <a:off x="1613491" y="4493589"/>
            <a:ext cx="150926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Project Q/K/V</a:t>
            </a:r>
            <a:endParaRPr lang="en-US" sz="1680" dirty="0"/>
          </a:p>
        </p:txBody>
      </p:sp>
      <p:sp>
        <p:nvSpPr>
          <p:cNvPr id="36" name="Text 34"/>
          <p:cNvSpPr txBox="1"/>
          <p:nvPr/>
        </p:nvSpPr>
        <p:spPr>
          <a:xfrm>
            <a:off x="5253222" y="4493589"/>
            <a:ext cx="1275610"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Weight Q/K</a:t>
            </a:r>
            <a:endParaRPr lang="en-US" sz="1680" dirty="0"/>
          </a:p>
        </p:txBody>
      </p:sp>
      <p:sp>
        <p:nvSpPr>
          <p:cNvPr id="37" name="Text 35"/>
          <p:cNvSpPr txBox="1"/>
          <p:nvPr/>
        </p:nvSpPr>
        <p:spPr>
          <a:xfrm>
            <a:off x="8805040" y="4493589"/>
            <a:ext cx="1217783"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Mix values</a:t>
            </a:r>
            <a:endParaRPr lang="en-US" sz="1680" dirty="0"/>
          </a:p>
        </p:txBody>
      </p:sp>
      <p:sp>
        <p:nvSpPr>
          <p:cNvPr id="38" name="Text 36"/>
          <p:cNvSpPr txBox="1"/>
          <p:nvPr/>
        </p:nvSpPr>
        <p:spPr>
          <a:xfrm>
            <a:off x="3891665" y="3944671"/>
            <a:ext cx="475822" cy="247491"/>
          </a:xfrm>
          <a:prstGeom prst="rect">
            <a:avLst/>
          </a:prstGeom>
          <a:no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Q/K</a:t>
            </a:r>
            <a:endParaRPr lang="en-US" sz="1680" dirty="0"/>
          </a:p>
        </p:txBody>
      </p:sp>
      <p:sp>
        <p:nvSpPr>
          <p:cNvPr id="39" name="Text 37"/>
          <p:cNvSpPr txBox="1"/>
          <p:nvPr/>
        </p:nvSpPr>
        <p:spPr>
          <a:xfrm>
            <a:off x="7224662" y="3944671"/>
            <a:ext cx="855635" cy="247491"/>
          </a:xfrm>
          <a:prstGeom prst="rect">
            <a:avLst/>
          </a:prstGeom>
          <a:no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weights</a:t>
            </a:r>
            <a:endParaRPr lang="en-US" sz="1680" dirty="0"/>
          </a:p>
        </p:txBody>
      </p:sp>
      <p:sp>
        <p:nvSpPr>
          <p:cNvPr id="40" name="Text 38"/>
          <p:cNvSpPr txBox="1"/>
          <p:nvPr/>
        </p:nvSpPr>
        <p:spPr>
          <a:xfrm>
            <a:off x="5808908" y="5335911"/>
            <a:ext cx="246168"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V</a:t>
            </a:r>
            <a:endParaRPr lang="en-US" sz="1680" dirty="0"/>
          </a:p>
        </p:txBody>
      </p:sp>
      <p:sp>
        <p:nvSpPr>
          <p:cNvPr id="41" name="Text 39"/>
          <p:cNvSpPr txBox="1"/>
          <p:nvPr/>
        </p:nvSpPr>
        <p:spPr>
          <a:xfrm>
            <a:off x="1171975" y="5728995"/>
            <a:ext cx="705477"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Model</a:t>
            </a:r>
            <a:endParaRPr lang="en-US" sz="1680" dirty="0"/>
          </a:p>
        </p:txBody>
      </p:sp>
      <p:sp>
        <p:nvSpPr>
          <p:cNvPr id="42" name="Text 40"/>
          <p:cNvSpPr txBox="1"/>
          <p:nvPr/>
        </p:nvSpPr>
        <p:spPr>
          <a:xfrm>
            <a:off x="2695836" y="5728995"/>
            <a:ext cx="56415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Flow</a:t>
            </a:r>
            <a:endParaRPr lang="en-US" sz="16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RNN / LSTM vs. transformer</a:t>
            </a:r>
            <a:endParaRPr lang="en-US" sz="3200" dirty="0"/>
          </a:p>
        </p:txBody>
      </p:sp>
      <p:sp>
        <p:nvSpPr>
          <p:cNvPr id="6" name="Shape 4"/>
          <p:cNvSpPr/>
          <p:nvPr/>
        </p:nvSpPr>
        <p:spPr>
          <a:xfrm>
            <a:off x="548640" y="1481328"/>
            <a:ext cx="5410048" cy="566928"/>
          </a:xfrm>
          <a:prstGeom prst="roundRect">
            <a:avLst>
              <a:gd name="adj" fmla="val 16129"/>
            </a:avLst>
          </a:prstGeom>
          <a:solidFill>
            <a:srgbClr val="4F46E5"/>
          </a:solidFill>
          <a:ln w="12700">
            <a:solidFill>
              <a:srgbClr val="4F46E5"/>
            </a:solidFill>
            <a:prstDash val="solid"/>
          </a:ln>
        </p:spPr>
      </p:sp>
      <p:sp>
        <p:nvSpPr>
          <p:cNvPr id="7" name="Text 5"/>
          <p:cNvSpPr txBox="1"/>
          <p:nvPr/>
        </p:nvSpPr>
        <p:spPr>
          <a:xfrm>
            <a:off x="731520"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Recurrent</a:t>
            </a:r>
            <a:endParaRPr lang="en-US" sz="1800" dirty="0"/>
          </a:p>
        </p:txBody>
      </p:sp>
      <p:sp>
        <p:nvSpPr>
          <p:cNvPr id="8" name="Shape 6"/>
          <p:cNvSpPr/>
          <p:nvPr/>
        </p:nvSpPr>
        <p:spPr>
          <a:xfrm>
            <a:off x="548640" y="2167128"/>
            <a:ext cx="5410048" cy="4142232"/>
          </a:xfrm>
          <a:prstGeom prst="roundRect">
            <a:avLst>
              <a:gd name="adj" fmla="val 2208"/>
            </a:avLst>
          </a:prstGeom>
          <a:solidFill>
            <a:srgbClr val="EEF0FF"/>
          </a:solidFill>
          <a:ln w="12700">
            <a:solidFill>
              <a:srgbClr val="EEF0FF"/>
            </a:solidFill>
            <a:prstDash val="solid"/>
          </a:ln>
        </p:spPr>
      </p:sp>
      <p:sp>
        <p:nvSpPr>
          <p:cNvPr id="9" name="Text 7"/>
          <p:cNvSpPr txBox="1"/>
          <p:nvPr/>
        </p:nvSpPr>
        <p:spPr>
          <a:xfrm>
            <a:off x="658368" y="2258568"/>
            <a:ext cx="519059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Passes state between positions.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Training steps depend sequentially.</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Generation remains sequential.</a:t>
            </a:r>
            <a:endParaRPr lang="en-US" sz="2400" dirty="0"/>
          </a:p>
        </p:txBody>
      </p:sp>
      <p:sp>
        <p:nvSpPr>
          <p:cNvPr id="10" name="Shape 8"/>
          <p:cNvSpPr/>
          <p:nvPr/>
        </p:nvSpPr>
        <p:spPr>
          <a:xfrm>
            <a:off x="6233008" y="1481328"/>
            <a:ext cx="5410048" cy="566928"/>
          </a:xfrm>
          <a:prstGeom prst="roundRect">
            <a:avLst>
              <a:gd name="adj" fmla="val 16129"/>
            </a:avLst>
          </a:prstGeom>
          <a:solidFill>
            <a:srgbClr val="0F766E"/>
          </a:solidFill>
          <a:ln w="12700">
            <a:solidFill>
              <a:srgbClr val="0F766E"/>
            </a:solidFill>
            <a:prstDash val="solid"/>
          </a:ln>
        </p:spPr>
      </p:sp>
      <p:sp>
        <p:nvSpPr>
          <p:cNvPr id="11" name="Text 9"/>
          <p:cNvSpPr txBox="1"/>
          <p:nvPr/>
        </p:nvSpPr>
        <p:spPr>
          <a:xfrm>
            <a:off x="6415888"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Transformer</a:t>
            </a:r>
            <a:endParaRPr lang="en-US" sz="1800" dirty="0"/>
          </a:p>
        </p:txBody>
      </p:sp>
      <p:sp>
        <p:nvSpPr>
          <p:cNvPr id="12" name="Shape 10"/>
          <p:cNvSpPr/>
          <p:nvPr/>
        </p:nvSpPr>
        <p:spPr>
          <a:xfrm>
            <a:off x="6233008" y="2167128"/>
            <a:ext cx="5410048" cy="4142232"/>
          </a:xfrm>
          <a:prstGeom prst="roundRect">
            <a:avLst>
              <a:gd name="adj" fmla="val 2208"/>
            </a:avLst>
          </a:prstGeom>
          <a:solidFill>
            <a:srgbClr val="E6F4F1"/>
          </a:solidFill>
          <a:ln w="12700">
            <a:solidFill>
              <a:srgbClr val="E6F4F1"/>
            </a:solidFill>
            <a:prstDash val="solid"/>
          </a:ln>
        </p:spPr>
      </p:sp>
      <p:sp>
        <p:nvSpPr>
          <p:cNvPr id="13" name="Text 11"/>
          <p:cNvSpPr txBox="1"/>
          <p:nvPr/>
        </p:nvSpPr>
        <p:spPr>
          <a:xfrm>
            <a:off x="6342736" y="2258568"/>
            <a:ext cx="519059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Direct allowed-position comparisons.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Known training positions run together.</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Generation remains sequential.</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02</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Tokens, embeddings and position</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does text become a list of vectors?</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From text to vectors</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IDs select learned vectors.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Identity differs from position.</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IDs</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cat → three vocabulary IDs</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Lookup</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Width eight → shape [3,8]</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Positional encoding: sinusoidal and rotary</a:t>
            </a:r>
            <a:endParaRPr lang="en-US" sz="3200" dirty="0"/>
          </a:p>
        </p:txBody>
      </p:sp>
      <p:sp>
        <p:nvSpPr>
          <p:cNvPr id="6" name="Shape 4"/>
          <p:cNvSpPr/>
          <p:nvPr/>
        </p:nvSpPr>
        <p:spPr>
          <a:xfrm>
            <a:off x="2806201" y="3603532"/>
            <a:ext cx="773556" cy="0"/>
          </a:xfrm>
          <a:prstGeom prst="line">
            <a:avLst/>
          </a:prstGeom>
          <a:noFill/>
          <a:ln w="22860">
            <a:solidFill>
              <a:srgbClr val="009E73"/>
            </a:solidFill>
            <a:prstDash val="solid"/>
            <a:tailEnd type="triangle"/>
          </a:ln>
        </p:spPr>
      </p:sp>
      <p:sp>
        <p:nvSpPr>
          <p:cNvPr id="7" name="Shape 5"/>
          <p:cNvSpPr/>
          <p:nvPr/>
        </p:nvSpPr>
        <p:spPr>
          <a:xfrm flipV="1">
            <a:off x="4556879" y="3989561"/>
            <a:ext cx="0" cy="579043"/>
          </a:xfrm>
          <a:prstGeom prst="line">
            <a:avLst/>
          </a:prstGeom>
          <a:noFill/>
          <a:ln w="22860">
            <a:solidFill>
              <a:srgbClr val="0072B2"/>
            </a:solidFill>
            <a:prstDash val="solid"/>
            <a:tailEnd type="triangle"/>
          </a:ln>
        </p:spPr>
      </p:sp>
      <p:sp>
        <p:nvSpPr>
          <p:cNvPr id="8" name="Shape 6"/>
          <p:cNvSpPr/>
          <p:nvPr/>
        </p:nvSpPr>
        <p:spPr>
          <a:xfrm>
            <a:off x="851955" y="3217504"/>
            <a:ext cx="1954246" cy="772058"/>
          </a:xfrm>
          <a:prstGeom prst="rect">
            <a:avLst/>
          </a:prstGeom>
          <a:solidFill>
            <a:srgbClr val="E5F7EF"/>
          </a:solidFill>
          <a:ln w="15240">
            <a:solidFill>
              <a:srgbClr val="009E73"/>
            </a:solidFill>
            <a:prstDash val="solid"/>
          </a:ln>
        </p:spPr>
      </p:sp>
      <p:sp>
        <p:nvSpPr>
          <p:cNvPr id="9" name="Shape 7"/>
          <p:cNvSpPr/>
          <p:nvPr/>
        </p:nvSpPr>
        <p:spPr>
          <a:xfrm>
            <a:off x="3579756" y="3217504"/>
            <a:ext cx="1954246" cy="772058"/>
          </a:xfrm>
          <a:prstGeom prst="rect">
            <a:avLst/>
          </a:prstGeom>
          <a:solidFill>
            <a:srgbClr val="E5F7EF"/>
          </a:solidFill>
          <a:ln w="15240">
            <a:solidFill>
              <a:srgbClr val="009E73"/>
            </a:solidFill>
            <a:prstDash val="solid"/>
          </a:ln>
        </p:spPr>
      </p:sp>
      <p:sp>
        <p:nvSpPr>
          <p:cNvPr id="10" name="Text 8"/>
          <p:cNvSpPr txBox="1"/>
          <p:nvPr/>
        </p:nvSpPr>
        <p:spPr>
          <a:xfrm>
            <a:off x="1034697" y="3356042"/>
            <a:ext cx="1588763"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Look up token</a:t>
            </a:r>
            <a:endParaRPr lang="en-US" sz="1680" dirty="0"/>
          </a:p>
        </p:txBody>
      </p:sp>
      <p:sp>
        <p:nvSpPr>
          <p:cNvPr id="11" name="Text 9"/>
          <p:cNvSpPr txBox="1"/>
          <p:nvPr/>
        </p:nvSpPr>
        <p:spPr>
          <a:xfrm>
            <a:off x="1034697" y="3603532"/>
            <a:ext cx="1588763"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[1,0]</a:t>
            </a:r>
            <a:endParaRPr lang="en-US" sz="1680" dirty="0"/>
          </a:p>
        </p:txBody>
      </p:sp>
      <p:sp>
        <p:nvSpPr>
          <p:cNvPr id="12" name="Text 10"/>
          <p:cNvSpPr txBox="1"/>
          <p:nvPr/>
        </p:nvSpPr>
        <p:spPr>
          <a:xfrm>
            <a:off x="3841993" y="3356042"/>
            <a:ext cx="1429771"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Add position</a:t>
            </a:r>
            <a:endParaRPr lang="en-US" sz="1680" dirty="0"/>
          </a:p>
        </p:txBody>
      </p:sp>
      <p:sp>
        <p:nvSpPr>
          <p:cNvPr id="13" name="Text 11"/>
          <p:cNvSpPr txBox="1"/>
          <p:nvPr/>
        </p:nvSpPr>
        <p:spPr>
          <a:xfrm>
            <a:off x="3841993" y="3603532"/>
            <a:ext cx="1429771"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[1,1]</a:t>
            </a:r>
            <a:endParaRPr lang="en-US" sz="1680" dirty="0"/>
          </a:p>
        </p:txBody>
      </p:sp>
      <p:sp>
        <p:nvSpPr>
          <p:cNvPr id="14" name="Text 12"/>
          <p:cNvSpPr txBox="1"/>
          <p:nvPr/>
        </p:nvSpPr>
        <p:spPr>
          <a:xfrm>
            <a:off x="2697743" y="2699793"/>
            <a:ext cx="705477" cy="247491"/>
          </a:xfrm>
          <a:prstGeom prst="rect">
            <a:avLst/>
          </a:prstGeom>
          <a:no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vector</a:t>
            </a:r>
            <a:endParaRPr lang="en-US" sz="1680" dirty="0"/>
          </a:p>
        </p:txBody>
      </p:sp>
      <p:sp>
        <p:nvSpPr>
          <p:cNvPr id="15" name="Text 13"/>
          <p:cNvSpPr txBox="1"/>
          <p:nvPr/>
        </p:nvSpPr>
        <p:spPr>
          <a:xfrm>
            <a:off x="3872908" y="4529569"/>
            <a:ext cx="1367941" cy="247491"/>
          </a:xfrm>
          <a:prstGeom prst="rect">
            <a:avLst/>
          </a:prstGeom>
          <a:no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position [0,1]</a:t>
            </a:r>
            <a:endParaRPr lang="en-US" sz="1680" dirty="0"/>
          </a:p>
        </p:txBody>
      </p:sp>
      <p:sp>
        <p:nvSpPr>
          <p:cNvPr id="16" name="Text 14"/>
          <p:cNvSpPr txBox="1"/>
          <p:nvPr/>
        </p:nvSpPr>
        <p:spPr>
          <a:xfrm>
            <a:off x="770528" y="2240000"/>
            <a:ext cx="1693093" cy="288739"/>
          </a:xfrm>
          <a:prstGeom prst="rect">
            <a:avLst/>
          </a:prstGeom>
          <a:noFill/>
          <a:ln/>
        </p:spPr>
        <p:txBody>
          <a:bodyPr wrap="square" lIns="0" tIns="0" rIns="0" bIns="0" rtlCol="0" anchor="ctr"/>
          <a:lstStyle/>
          <a:p>
            <a:pPr algn="l" indent="0" marL="0">
              <a:lnSpc>
                <a:spcPct val="116000"/>
              </a:lnSpc>
              <a:buNone/>
            </a:pPr>
            <a:r>
              <a:rPr lang="en-US" sz="1960" b="1" dirty="0">
                <a:solidFill>
                  <a:srgbClr val="1E1B4B"/>
                </a:solidFill>
                <a:latin typeface="Arial" pitchFamily="34" charset="0"/>
                <a:ea typeface="Arial" pitchFamily="34" charset="-122"/>
                <a:cs typeface="Arial" pitchFamily="34" charset="-120"/>
              </a:rPr>
              <a:t>Add position</a:t>
            </a:r>
            <a:endParaRPr lang="en-US" sz="1960" dirty="0"/>
          </a:p>
        </p:txBody>
      </p:sp>
      <p:sp>
        <p:nvSpPr>
          <p:cNvPr id="17" name="Shape 15"/>
          <p:cNvSpPr/>
          <p:nvPr/>
        </p:nvSpPr>
        <p:spPr>
          <a:xfrm>
            <a:off x="8571225" y="3603532"/>
            <a:ext cx="773556" cy="0"/>
          </a:xfrm>
          <a:prstGeom prst="line">
            <a:avLst/>
          </a:prstGeom>
          <a:noFill/>
          <a:ln w="22860">
            <a:solidFill>
              <a:srgbClr val="009E73"/>
            </a:solidFill>
            <a:prstDash val="solid"/>
            <a:tailEnd type="triangle"/>
          </a:ln>
        </p:spPr>
      </p:sp>
      <p:sp>
        <p:nvSpPr>
          <p:cNvPr id="18" name="Shape 16"/>
          <p:cNvSpPr/>
          <p:nvPr/>
        </p:nvSpPr>
        <p:spPr>
          <a:xfrm>
            <a:off x="6616980" y="3217504"/>
            <a:ext cx="1954246" cy="772058"/>
          </a:xfrm>
          <a:prstGeom prst="rect">
            <a:avLst/>
          </a:prstGeom>
          <a:solidFill>
            <a:srgbClr val="E5F7EF"/>
          </a:solidFill>
          <a:ln w="15240">
            <a:solidFill>
              <a:srgbClr val="009E73"/>
            </a:solidFill>
            <a:prstDash val="solid"/>
          </a:ln>
        </p:spPr>
      </p:sp>
      <p:sp>
        <p:nvSpPr>
          <p:cNvPr id="19" name="Shape 17"/>
          <p:cNvSpPr/>
          <p:nvPr/>
        </p:nvSpPr>
        <p:spPr>
          <a:xfrm>
            <a:off x="9344781" y="3217504"/>
            <a:ext cx="1954246" cy="772058"/>
          </a:xfrm>
          <a:prstGeom prst="rect">
            <a:avLst/>
          </a:prstGeom>
          <a:solidFill>
            <a:srgbClr val="E5F7EF"/>
          </a:solidFill>
          <a:ln w="15240">
            <a:solidFill>
              <a:srgbClr val="009E73"/>
            </a:solidFill>
            <a:prstDash val="solid"/>
          </a:ln>
        </p:spPr>
      </p:sp>
      <p:sp>
        <p:nvSpPr>
          <p:cNvPr id="20" name="Text 18"/>
          <p:cNvSpPr txBox="1"/>
          <p:nvPr/>
        </p:nvSpPr>
        <p:spPr>
          <a:xfrm>
            <a:off x="6945463" y="3479787"/>
            <a:ext cx="1297279"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Project Q/K</a:t>
            </a:r>
            <a:endParaRPr lang="en-US" sz="1680" dirty="0"/>
          </a:p>
        </p:txBody>
      </p:sp>
      <p:sp>
        <p:nvSpPr>
          <p:cNvPr id="21" name="Text 19"/>
          <p:cNvSpPr txBox="1"/>
          <p:nvPr/>
        </p:nvSpPr>
        <p:spPr>
          <a:xfrm>
            <a:off x="9637933" y="3479787"/>
            <a:ext cx="1367941"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Rotate pairs</a:t>
            </a:r>
            <a:endParaRPr lang="en-US" sz="1680" dirty="0"/>
          </a:p>
        </p:txBody>
      </p:sp>
      <p:sp>
        <p:nvSpPr>
          <p:cNvPr id="22" name="Text 20"/>
          <p:cNvSpPr txBox="1"/>
          <p:nvPr/>
        </p:nvSpPr>
        <p:spPr>
          <a:xfrm>
            <a:off x="8577595" y="2699793"/>
            <a:ext cx="475822" cy="247491"/>
          </a:xfrm>
          <a:prstGeom prst="rect">
            <a:avLst/>
          </a:prstGeom>
          <a:no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Q/K</a:t>
            </a:r>
            <a:endParaRPr lang="en-US" sz="1680" dirty="0"/>
          </a:p>
        </p:txBody>
      </p:sp>
      <p:sp>
        <p:nvSpPr>
          <p:cNvPr id="23" name="Text 21"/>
          <p:cNvSpPr txBox="1"/>
          <p:nvPr/>
        </p:nvSpPr>
        <p:spPr>
          <a:xfrm>
            <a:off x="6616980" y="4436922"/>
            <a:ext cx="3814644"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Position changes comparison angles.</a:t>
            </a:r>
            <a:endParaRPr lang="en-US" sz="1680" dirty="0"/>
          </a:p>
        </p:txBody>
      </p:sp>
      <p:sp>
        <p:nvSpPr>
          <p:cNvPr id="24" name="Text 22"/>
          <p:cNvSpPr txBox="1"/>
          <p:nvPr/>
        </p:nvSpPr>
        <p:spPr>
          <a:xfrm>
            <a:off x="6535553" y="2240000"/>
            <a:ext cx="792141" cy="288739"/>
          </a:xfrm>
          <a:prstGeom prst="rect">
            <a:avLst/>
          </a:prstGeom>
          <a:noFill/>
          <a:ln/>
        </p:spPr>
        <p:txBody>
          <a:bodyPr wrap="square" lIns="0" tIns="0" rIns="0" bIns="0" rtlCol="0" anchor="ctr"/>
          <a:lstStyle/>
          <a:p>
            <a:pPr algn="l" indent="0" marL="0">
              <a:lnSpc>
                <a:spcPct val="116000"/>
              </a:lnSpc>
              <a:buNone/>
            </a:pPr>
            <a:r>
              <a:rPr lang="en-US" sz="1960" b="1" dirty="0">
                <a:solidFill>
                  <a:srgbClr val="1E1B4B"/>
                </a:solidFill>
                <a:latin typeface="Arial" pitchFamily="34" charset="0"/>
                <a:ea typeface="Arial" pitchFamily="34" charset="-122"/>
                <a:cs typeface="Arial" pitchFamily="34" charset="-120"/>
              </a:rPr>
              <a:t>RoPE</a:t>
            </a:r>
            <a:endParaRPr lang="en-US" sz="1960" dirty="0"/>
          </a:p>
        </p:txBody>
      </p:sp>
      <p:sp>
        <p:nvSpPr>
          <p:cNvPr id="25" name="Shape 23"/>
          <p:cNvSpPr/>
          <p:nvPr/>
        </p:nvSpPr>
        <p:spPr>
          <a:xfrm>
            <a:off x="2286196" y="5620696"/>
            <a:ext cx="327712" cy="0"/>
          </a:xfrm>
          <a:prstGeom prst="line">
            <a:avLst/>
          </a:prstGeom>
          <a:noFill/>
          <a:ln w="22860">
            <a:solidFill>
              <a:srgbClr val="009E73"/>
            </a:solidFill>
            <a:prstDash val="solid"/>
          </a:ln>
        </p:spPr>
      </p:sp>
      <p:sp>
        <p:nvSpPr>
          <p:cNvPr id="26" name="Shape 24"/>
          <p:cNvSpPr/>
          <p:nvPr/>
        </p:nvSpPr>
        <p:spPr>
          <a:xfrm>
            <a:off x="893420" y="5545126"/>
            <a:ext cx="196627" cy="151140"/>
          </a:xfrm>
          <a:prstGeom prst="rect">
            <a:avLst/>
          </a:prstGeom>
          <a:solidFill>
            <a:srgbClr val="E5F7EF"/>
          </a:solidFill>
          <a:ln w="15240">
            <a:solidFill>
              <a:srgbClr val="009E73"/>
            </a:solidFill>
            <a:prstDash val="solid"/>
          </a:ln>
        </p:spPr>
      </p:sp>
      <p:sp>
        <p:nvSpPr>
          <p:cNvPr id="27" name="Text 25"/>
          <p:cNvSpPr txBox="1"/>
          <p:nvPr/>
        </p:nvSpPr>
        <p:spPr>
          <a:xfrm>
            <a:off x="1171975" y="5496951"/>
            <a:ext cx="705477"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Model</a:t>
            </a:r>
            <a:endParaRPr lang="en-US" sz="1680" dirty="0"/>
          </a:p>
        </p:txBody>
      </p:sp>
      <p:sp>
        <p:nvSpPr>
          <p:cNvPr id="28" name="Text 26"/>
          <p:cNvSpPr txBox="1"/>
          <p:nvPr/>
        </p:nvSpPr>
        <p:spPr>
          <a:xfrm>
            <a:off x="2695836" y="5496951"/>
            <a:ext cx="56415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Flow</a:t>
            </a:r>
            <a:endParaRPr lang="en-US" sz="16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03</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Attention</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does one token combine information from others?</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Inside one attention head</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Match; then mix.</a:t>
            </a:r>
            <a:endParaRPr lang="en-US" sz="1800" dirty="0"/>
          </a:p>
        </p:txBody>
      </p:sp>
      <p:sp>
        <p:nvSpPr>
          <p:cNvPr id="7" name="Shape 5"/>
          <p:cNvSpPr/>
          <p:nvPr/>
        </p:nvSpPr>
        <p:spPr>
          <a:xfrm>
            <a:off x="2354146" y="3838927"/>
            <a:ext cx="244024" cy="0"/>
          </a:xfrm>
          <a:prstGeom prst="line">
            <a:avLst/>
          </a:prstGeom>
          <a:noFill/>
          <a:ln w="22860">
            <a:solidFill>
              <a:srgbClr val="009E73"/>
            </a:solidFill>
            <a:prstDash val="solid"/>
            <a:tailEnd type="triangle"/>
          </a:ln>
        </p:spPr>
      </p:sp>
      <p:sp>
        <p:nvSpPr>
          <p:cNvPr id="8" name="Text 6"/>
          <p:cNvSpPr txBox="1"/>
          <p:nvPr/>
        </p:nvSpPr>
        <p:spPr>
          <a:xfrm>
            <a:off x="167545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X[3,2]</a:t>
            </a:r>
            <a:endParaRPr lang="en-US" sz="1441" dirty="0"/>
          </a:p>
        </p:txBody>
      </p:sp>
      <p:sp>
        <p:nvSpPr>
          <p:cNvPr id="9" name="Shape 7"/>
          <p:cNvSpPr/>
          <p:nvPr/>
        </p:nvSpPr>
        <p:spPr>
          <a:xfrm>
            <a:off x="4163991" y="3838927"/>
            <a:ext cx="244024" cy="0"/>
          </a:xfrm>
          <a:prstGeom prst="line">
            <a:avLst/>
          </a:prstGeom>
          <a:noFill/>
          <a:ln w="22860">
            <a:solidFill>
              <a:srgbClr val="009E73"/>
            </a:solidFill>
            <a:prstDash val="solid"/>
            <a:tailEnd type="triangle"/>
          </a:ln>
        </p:spPr>
      </p:sp>
      <p:sp>
        <p:nvSpPr>
          <p:cNvPr id="10" name="Text 8"/>
          <p:cNvSpPr txBox="1"/>
          <p:nvPr/>
        </p:nvSpPr>
        <p:spPr>
          <a:xfrm>
            <a:off x="348529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Q/K[3,2]</a:t>
            </a:r>
            <a:endParaRPr lang="en-US" sz="1441" dirty="0"/>
          </a:p>
        </p:txBody>
      </p:sp>
      <p:sp>
        <p:nvSpPr>
          <p:cNvPr id="11" name="Shape 9"/>
          <p:cNvSpPr/>
          <p:nvPr/>
        </p:nvSpPr>
        <p:spPr>
          <a:xfrm>
            <a:off x="5973836" y="3838927"/>
            <a:ext cx="244024" cy="0"/>
          </a:xfrm>
          <a:prstGeom prst="line">
            <a:avLst/>
          </a:prstGeom>
          <a:noFill/>
          <a:ln w="22860">
            <a:solidFill>
              <a:srgbClr val="009E73"/>
            </a:solidFill>
            <a:prstDash val="solid"/>
            <a:tailEnd type="triangle"/>
          </a:ln>
        </p:spPr>
      </p:sp>
      <p:sp>
        <p:nvSpPr>
          <p:cNvPr id="12" name="Text 10"/>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scores[3,3]</a:t>
            </a:r>
            <a:endParaRPr lang="en-US" sz="1441" dirty="0"/>
          </a:p>
        </p:txBody>
      </p:sp>
      <p:sp>
        <p:nvSpPr>
          <p:cNvPr id="13" name="Shape 11"/>
          <p:cNvSpPr/>
          <p:nvPr/>
        </p:nvSpPr>
        <p:spPr>
          <a:xfrm>
            <a:off x="7783680" y="3838927"/>
            <a:ext cx="244024" cy="0"/>
          </a:xfrm>
          <a:prstGeom prst="line">
            <a:avLst/>
          </a:prstGeom>
          <a:noFill/>
          <a:ln w="22860">
            <a:solidFill>
              <a:srgbClr val="009E73"/>
            </a:solidFill>
            <a:prstDash val="solid"/>
            <a:tailEnd type="triangle"/>
          </a:ln>
        </p:spPr>
      </p:sp>
      <p:sp>
        <p:nvSpPr>
          <p:cNvPr id="14" name="Text 12"/>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masked[3,3]</a:t>
            </a:r>
            <a:endParaRPr lang="en-US" sz="1441" dirty="0"/>
          </a:p>
        </p:txBody>
      </p:sp>
      <p:sp>
        <p:nvSpPr>
          <p:cNvPr id="15" name="Shape 13"/>
          <p:cNvSpPr/>
          <p:nvPr/>
        </p:nvSpPr>
        <p:spPr>
          <a:xfrm>
            <a:off x="9593525" y="3838927"/>
            <a:ext cx="244024" cy="0"/>
          </a:xfrm>
          <a:prstGeom prst="line">
            <a:avLst/>
          </a:prstGeom>
          <a:noFill/>
          <a:ln w="22860">
            <a:solidFill>
              <a:srgbClr val="009E73"/>
            </a:solidFill>
            <a:prstDash val="solid"/>
            <a:tailEnd type="triangle"/>
          </a:ln>
        </p:spPr>
      </p:sp>
      <p:sp>
        <p:nvSpPr>
          <p:cNvPr id="16" name="Text 14"/>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weights[3,3]</a:t>
            </a:r>
            <a:endParaRPr lang="en-US" sz="1441" dirty="0"/>
          </a:p>
        </p:txBody>
      </p:sp>
      <p:sp>
        <p:nvSpPr>
          <p:cNvPr id="17" name="Shape 15"/>
          <p:cNvSpPr/>
          <p:nvPr/>
        </p:nvSpPr>
        <p:spPr>
          <a:xfrm>
            <a:off x="3381080" y="4738766"/>
            <a:ext cx="0" cy="198270"/>
          </a:xfrm>
          <a:prstGeom prst="line">
            <a:avLst/>
          </a:prstGeom>
          <a:noFill/>
          <a:ln w="22860">
            <a:solidFill>
              <a:srgbClr val="0072B2"/>
            </a:solidFill>
            <a:prstDash val="solid"/>
          </a:ln>
        </p:spPr>
      </p:sp>
      <p:sp>
        <p:nvSpPr>
          <p:cNvPr id="18" name="Shape 16"/>
          <p:cNvSpPr/>
          <p:nvPr/>
        </p:nvSpPr>
        <p:spPr>
          <a:xfrm>
            <a:off x="3381080" y="4937035"/>
            <a:ext cx="7239380" cy="0"/>
          </a:xfrm>
          <a:prstGeom prst="line">
            <a:avLst/>
          </a:prstGeom>
          <a:noFill/>
          <a:ln w="22860">
            <a:solidFill>
              <a:srgbClr val="0072B2"/>
            </a:solidFill>
            <a:prstDash val="solid"/>
          </a:ln>
        </p:spPr>
      </p:sp>
      <p:sp>
        <p:nvSpPr>
          <p:cNvPr id="19" name="Shape 17"/>
          <p:cNvSpPr/>
          <p:nvPr/>
        </p:nvSpPr>
        <p:spPr>
          <a:xfrm flipV="1">
            <a:off x="10620460" y="4738766"/>
            <a:ext cx="0" cy="198270"/>
          </a:xfrm>
          <a:prstGeom prst="line">
            <a:avLst/>
          </a:prstGeom>
          <a:noFill/>
          <a:ln w="22860">
            <a:solidFill>
              <a:srgbClr val="0072B2"/>
            </a:solidFill>
            <a:prstDash val="solid"/>
            <a:tailEnd type="triangle"/>
          </a:ln>
        </p:spPr>
      </p:sp>
      <p:sp>
        <p:nvSpPr>
          <p:cNvPr id="20" name="Text 18"/>
          <p:cNvSpPr txBox="1"/>
          <p:nvPr/>
        </p:nvSpPr>
        <p:spPr>
          <a:xfrm>
            <a:off x="6722785" y="4967538"/>
            <a:ext cx="555970"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V[3,2]</a:t>
            </a:r>
            <a:endParaRPr lang="en-US" sz="1441" dirty="0"/>
          </a:p>
        </p:txBody>
      </p:sp>
      <p:sp>
        <p:nvSpPr>
          <p:cNvPr id="21" name="Shape 19"/>
          <p:cNvSpPr/>
          <p:nvPr/>
        </p:nvSpPr>
        <p:spPr>
          <a:xfrm>
            <a:off x="788325" y="2939089"/>
            <a:ext cx="1565821" cy="1799677"/>
          </a:xfrm>
          <a:prstGeom prst="roundRect">
            <a:avLst>
              <a:gd name="adj" fmla="val 4672"/>
            </a:avLst>
          </a:prstGeom>
          <a:solidFill>
            <a:srgbClr val="E4F2FB"/>
          </a:solidFill>
          <a:ln w="15240">
            <a:solidFill>
              <a:srgbClr val="0072B2"/>
            </a:solidFill>
            <a:prstDash val="solid"/>
          </a:ln>
        </p:spPr>
      </p:sp>
      <p:sp>
        <p:nvSpPr>
          <p:cNvPr id="22" name="Text 20"/>
          <p:cNvSpPr txBox="1"/>
          <p:nvPr/>
        </p:nvSpPr>
        <p:spPr>
          <a:xfrm>
            <a:off x="84933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Read</a:t>
            </a:r>
            <a:endParaRPr lang="en-US" sz="1561" dirty="0"/>
          </a:p>
        </p:txBody>
      </p:sp>
      <p:sp>
        <p:nvSpPr>
          <p:cNvPr id="23" name="Text 21"/>
          <p:cNvSpPr txBox="1"/>
          <p:nvPr/>
        </p:nvSpPr>
        <p:spPr>
          <a:xfrm>
            <a:off x="84933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X</a:t>
            </a:r>
            <a:endParaRPr lang="en-US" sz="1441" dirty="0"/>
          </a:p>
        </p:txBody>
      </p:sp>
      <p:sp>
        <p:nvSpPr>
          <p:cNvPr id="24" name="Shape 22"/>
          <p:cNvSpPr/>
          <p:nvPr/>
        </p:nvSpPr>
        <p:spPr>
          <a:xfrm>
            <a:off x="2598170" y="2939089"/>
            <a:ext cx="1565821" cy="1799677"/>
          </a:xfrm>
          <a:prstGeom prst="rect">
            <a:avLst/>
          </a:prstGeom>
          <a:solidFill>
            <a:srgbClr val="E5F7EF"/>
          </a:solidFill>
          <a:ln w="15240">
            <a:solidFill>
              <a:srgbClr val="009E73"/>
            </a:solidFill>
            <a:prstDash val="solid"/>
          </a:ln>
        </p:spPr>
      </p:sp>
      <p:sp>
        <p:nvSpPr>
          <p:cNvPr id="25" name="Text 23"/>
          <p:cNvSpPr txBox="1"/>
          <p:nvPr/>
        </p:nvSpPr>
        <p:spPr>
          <a:xfrm>
            <a:off x="2659176"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Project</a:t>
            </a:r>
            <a:endParaRPr lang="en-US" sz="1561" dirty="0"/>
          </a:p>
        </p:txBody>
      </p:sp>
      <p:sp>
        <p:nvSpPr>
          <p:cNvPr id="26" name="Text 24"/>
          <p:cNvSpPr txBox="1"/>
          <p:nvPr/>
        </p:nvSpPr>
        <p:spPr>
          <a:xfrm>
            <a:off x="2659176"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Q/K/V</a:t>
            </a:r>
            <a:endParaRPr lang="en-US" sz="1441" dirty="0"/>
          </a:p>
        </p:txBody>
      </p:sp>
      <p:sp>
        <p:nvSpPr>
          <p:cNvPr id="27" name="Text 25"/>
          <p:cNvSpPr txBox="1"/>
          <p:nvPr/>
        </p:nvSpPr>
        <p:spPr>
          <a:xfrm>
            <a:off x="2621047"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qkv</a:t>
            </a:r>
            <a:endParaRPr lang="en-US" sz="1441" dirty="0"/>
          </a:p>
        </p:txBody>
      </p:sp>
      <p:sp>
        <p:nvSpPr>
          <p:cNvPr id="28" name="Shape 26"/>
          <p:cNvSpPr/>
          <p:nvPr/>
        </p:nvSpPr>
        <p:spPr>
          <a:xfrm>
            <a:off x="4408015" y="2939089"/>
            <a:ext cx="1565821" cy="1799677"/>
          </a:xfrm>
          <a:prstGeom prst="rect">
            <a:avLst/>
          </a:prstGeom>
          <a:solidFill>
            <a:srgbClr val="E5F7EF"/>
          </a:solidFill>
          <a:ln w="15240">
            <a:solidFill>
              <a:srgbClr val="009E73"/>
            </a:solidFill>
            <a:prstDash val="solid"/>
          </a:ln>
        </p:spPr>
      </p:sp>
      <p:sp>
        <p:nvSpPr>
          <p:cNvPr id="29" name="Text 27"/>
          <p:cNvSpPr txBox="1"/>
          <p:nvPr/>
        </p:nvSpPr>
        <p:spPr>
          <a:xfrm>
            <a:off x="4469021" y="332800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Compare;</a:t>
            </a:r>
            <a:endParaRPr lang="en-US" sz="1561" dirty="0"/>
          </a:p>
        </p:txBody>
      </p:sp>
      <p:sp>
        <p:nvSpPr>
          <p:cNvPr id="30" name="Text 28"/>
          <p:cNvSpPr txBox="1"/>
          <p:nvPr/>
        </p:nvSpPr>
        <p:spPr>
          <a:xfrm>
            <a:off x="4469021" y="3557995"/>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scale</a:t>
            </a:r>
            <a:endParaRPr lang="en-US" sz="1561" dirty="0"/>
          </a:p>
        </p:txBody>
      </p:sp>
      <p:sp>
        <p:nvSpPr>
          <p:cNvPr id="31" name="Text 29"/>
          <p:cNvSpPr txBox="1"/>
          <p:nvPr/>
        </p:nvSpPr>
        <p:spPr>
          <a:xfrm>
            <a:off x="4469021" y="3864245"/>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q·k ÷ √2</a:t>
            </a:r>
            <a:endParaRPr lang="en-US" sz="1441" dirty="0"/>
          </a:p>
        </p:txBody>
      </p:sp>
      <p:sp>
        <p:nvSpPr>
          <p:cNvPr id="32" name="Text 30"/>
          <p:cNvSpPr txBox="1"/>
          <p:nvPr/>
        </p:nvSpPr>
        <p:spPr>
          <a:xfrm>
            <a:off x="4430892" y="4137552"/>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scores</a:t>
            </a:r>
            <a:endParaRPr lang="en-US" sz="1441" dirty="0"/>
          </a:p>
        </p:txBody>
      </p:sp>
      <p:sp>
        <p:nvSpPr>
          <p:cNvPr id="33" name="Shape 31"/>
          <p:cNvSpPr/>
          <p:nvPr/>
        </p:nvSpPr>
        <p:spPr>
          <a:xfrm>
            <a:off x="6217860" y="2939089"/>
            <a:ext cx="1565821" cy="1799677"/>
          </a:xfrm>
          <a:prstGeom prst="rect">
            <a:avLst/>
          </a:prstGeom>
          <a:solidFill>
            <a:srgbClr val="E5F7EF"/>
          </a:solidFill>
          <a:ln w="15240">
            <a:solidFill>
              <a:srgbClr val="009E73"/>
            </a:solidFill>
            <a:prstDash val="solid"/>
          </a:ln>
        </p:spPr>
      </p:sp>
      <p:sp>
        <p:nvSpPr>
          <p:cNvPr id="34" name="Text 32"/>
          <p:cNvSpPr txBox="1"/>
          <p:nvPr/>
        </p:nvSpPr>
        <p:spPr>
          <a:xfrm>
            <a:off x="627886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Mask</a:t>
            </a:r>
            <a:endParaRPr lang="en-US" sz="1561" dirty="0"/>
          </a:p>
        </p:txBody>
      </p:sp>
      <p:sp>
        <p:nvSpPr>
          <p:cNvPr id="35" name="Text 33"/>
          <p:cNvSpPr txBox="1"/>
          <p:nvPr/>
        </p:nvSpPr>
        <p:spPr>
          <a:xfrm>
            <a:off x="627886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Future</a:t>
            </a:r>
            <a:endParaRPr lang="en-US" sz="1441" dirty="0"/>
          </a:p>
        </p:txBody>
      </p:sp>
      <p:sp>
        <p:nvSpPr>
          <p:cNvPr id="36" name="Shape 34"/>
          <p:cNvSpPr/>
          <p:nvPr/>
        </p:nvSpPr>
        <p:spPr>
          <a:xfrm>
            <a:off x="8027705" y="2939089"/>
            <a:ext cx="1565821" cy="1799677"/>
          </a:xfrm>
          <a:prstGeom prst="rect">
            <a:avLst/>
          </a:prstGeom>
          <a:solidFill>
            <a:srgbClr val="E5F7EF"/>
          </a:solidFill>
          <a:ln w="15240">
            <a:solidFill>
              <a:srgbClr val="009E73"/>
            </a:solidFill>
            <a:prstDash val="solid"/>
          </a:ln>
        </p:spPr>
      </p:sp>
      <p:sp>
        <p:nvSpPr>
          <p:cNvPr id="37" name="Text 35"/>
          <p:cNvSpPr txBox="1"/>
          <p:nvPr/>
        </p:nvSpPr>
        <p:spPr>
          <a:xfrm>
            <a:off x="8088711"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Normalise</a:t>
            </a:r>
            <a:endParaRPr lang="en-US" sz="1561" dirty="0"/>
          </a:p>
        </p:txBody>
      </p:sp>
      <p:sp>
        <p:nvSpPr>
          <p:cNvPr id="38" name="Text 36"/>
          <p:cNvSpPr txBox="1"/>
          <p:nvPr/>
        </p:nvSpPr>
        <p:spPr>
          <a:xfrm>
            <a:off x="8088711"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Row softmax</a:t>
            </a:r>
            <a:endParaRPr lang="en-US" sz="1441" dirty="0"/>
          </a:p>
        </p:txBody>
      </p:sp>
      <p:sp>
        <p:nvSpPr>
          <p:cNvPr id="39" name="Text 37"/>
          <p:cNvSpPr txBox="1"/>
          <p:nvPr/>
        </p:nvSpPr>
        <p:spPr>
          <a:xfrm>
            <a:off x="8050582"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weights</a:t>
            </a:r>
            <a:endParaRPr lang="en-US" sz="1441" dirty="0"/>
          </a:p>
        </p:txBody>
      </p:sp>
      <p:sp>
        <p:nvSpPr>
          <p:cNvPr id="40" name="Shape 38"/>
          <p:cNvSpPr/>
          <p:nvPr/>
        </p:nvSpPr>
        <p:spPr>
          <a:xfrm>
            <a:off x="9837549" y="2939089"/>
            <a:ext cx="1565821" cy="1799677"/>
          </a:xfrm>
          <a:prstGeom prst="roundRect">
            <a:avLst>
              <a:gd name="adj" fmla="val 4672"/>
            </a:avLst>
          </a:prstGeom>
          <a:solidFill>
            <a:srgbClr val="F9EAF4"/>
          </a:solidFill>
          <a:ln w="15240">
            <a:solidFill>
              <a:srgbClr val="CC79A7"/>
            </a:solidFill>
            <a:prstDash val="solid"/>
          </a:ln>
        </p:spPr>
      </p:sp>
      <p:sp>
        <p:nvSpPr>
          <p:cNvPr id="41" name="Text 39"/>
          <p:cNvSpPr txBox="1"/>
          <p:nvPr/>
        </p:nvSpPr>
        <p:spPr>
          <a:xfrm>
            <a:off x="9898555"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Mix</a:t>
            </a:r>
            <a:endParaRPr lang="en-US" sz="1561" dirty="0"/>
          </a:p>
        </p:txBody>
      </p:sp>
      <p:sp>
        <p:nvSpPr>
          <p:cNvPr id="42" name="Text 40"/>
          <p:cNvSpPr txBox="1"/>
          <p:nvPr/>
        </p:nvSpPr>
        <p:spPr>
          <a:xfrm>
            <a:off x="9898555"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Values</a:t>
            </a:r>
            <a:endParaRPr lang="en-US" sz="1441" dirty="0"/>
          </a:p>
        </p:txBody>
      </p:sp>
      <p:sp>
        <p:nvSpPr>
          <p:cNvPr id="43" name="Shape 41"/>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4" name="Text 42"/>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5" name="Shape 43"/>
          <p:cNvSpPr/>
          <p:nvPr/>
        </p:nvSpPr>
        <p:spPr>
          <a:xfrm>
            <a:off x="1676436" y="5630979"/>
            <a:ext cx="198270" cy="198270"/>
          </a:xfrm>
          <a:prstGeom prst="rect">
            <a:avLst/>
          </a:prstGeom>
          <a:solidFill>
            <a:srgbClr val="E5F7EF"/>
          </a:solidFill>
          <a:ln w="15240">
            <a:solidFill>
              <a:srgbClr val="009E73"/>
            </a:solidFill>
            <a:prstDash val="solid"/>
          </a:ln>
        </p:spPr>
      </p:sp>
      <p:sp>
        <p:nvSpPr>
          <p:cNvPr id="46" name="Text 44"/>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7" name="Shape 45"/>
          <p:cNvSpPr/>
          <p:nvPr/>
        </p:nvSpPr>
        <p:spPr>
          <a:xfrm>
            <a:off x="2680284" y="5630979"/>
            <a:ext cx="198270" cy="198270"/>
          </a:xfrm>
          <a:prstGeom prst="roundRect">
            <a:avLst>
              <a:gd name="adj" fmla="val 36895"/>
            </a:avLst>
          </a:prstGeom>
          <a:solidFill>
            <a:srgbClr val="F9EAF4"/>
          </a:solidFill>
          <a:ln w="15240">
            <a:solidFill>
              <a:srgbClr val="CC79A7"/>
            </a:solidFill>
            <a:prstDash val="solid"/>
          </a:ln>
        </p:spPr>
      </p:sp>
      <p:sp>
        <p:nvSpPr>
          <p:cNvPr id="48" name="Text 46"/>
          <p:cNvSpPr txBox="1"/>
          <p:nvPr/>
        </p:nvSpPr>
        <p:spPr>
          <a:xfrm>
            <a:off x="2939560"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9" name="Shape 47"/>
          <p:cNvSpPr/>
          <p:nvPr/>
        </p:nvSpPr>
        <p:spPr>
          <a:xfrm>
            <a:off x="3736982" y="5730113"/>
            <a:ext cx="335533" cy="0"/>
          </a:xfrm>
          <a:prstGeom prst="line">
            <a:avLst/>
          </a:prstGeom>
          <a:noFill/>
          <a:ln w="22860">
            <a:solidFill>
              <a:srgbClr val="009E73"/>
            </a:solidFill>
            <a:prstDash val="solid"/>
            <a:tailEnd type="triangle"/>
          </a:ln>
        </p:spPr>
      </p:sp>
      <p:sp>
        <p:nvSpPr>
          <p:cNvPr id="50" name="Text 48"/>
          <p:cNvSpPr txBox="1"/>
          <p:nvPr/>
        </p:nvSpPr>
        <p:spPr>
          <a:xfrm>
            <a:off x="4133521"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51" name="Text 49"/>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Mix keys or values?</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Queries, keys and values</a:t>
            </a:r>
            <a:endParaRPr lang="en-US" sz="3200" dirty="0"/>
          </a:p>
        </p:txBody>
      </p:sp>
      <p:sp>
        <p:nvSpPr>
          <p:cNvPr id="6" name="Shape 4"/>
          <p:cNvSpPr/>
          <p:nvPr/>
        </p:nvSpPr>
        <p:spPr>
          <a:xfrm>
            <a:off x="3830539" y="4336560"/>
            <a:ext cx="0" cy="641769"/>
          </a:xfrm>
          <a:prstGeom prst="line">
            <a:avLst/>
          </a:prstGeom>
          <a:noFill/>
          <a:ln w="22860">
            <a:solidFill>
              <a:srgbClr val="0072B2"/>
            </a:solidFill>
            <a:prstDash val="solid"/>
          </a:ln>
        </p:spPr>
      </p:sp>
      <p:sp>
        <p:nvSpPr>
          <p:cNvPr id="7" name="Shape 5"/>
          <p:cNvSpPr/>
          <p:nvPr/>
        </p:nvSpPr>
        <p:spPr>
          <a:xfrm>
            <a:off x="3830539" y="4978330"/>
            <a:ext cx="6316648" cy="0"/>
          </a:xfrm>
          <a:prstGeom prst="line">
            <a:avLst/>
          </a:prstGeom>
          <a:noFill/>
          <a:ln w="22860">
            <a:solidFill>
              <a:srgbClr val="0072B2"/>
            </a:solidFill>
            <a:prstDash val="solid"/>
          </a:ln>
        </p:spPr>
      </p:sp>
      <p:sp>
        <p:nvSpPr>
          <p:cNvPr id="8" name="Shape 6"/>
          <p:cNvSpPr/>
          <p:nvPr/>
        </p:nvSpPr>
        <p:spPr>
          <a:xfrm>
            <a:off x="5071748" y="5571966"/>
            <a:ext cx="327712" cy="0"/>
          </a:xfrm>
          <a:prstGeom prst="line">
            <a:avLst/>
          </a:prstGeom>
          <a:noFill/>
          <a:ln w="22860">
            <a:solidFill>
              <a:srgbClr val="009E73"/>
            </a:solidFill>
            <a:prstDash val="solid"/>
          </a:ln>
        </p:spPr>
      </p:sp>
      <p:sp>
        <p:nvSpPr>
          <p:cNvPr id="9" name="Shape 7"/>
          <p:cNvSpPr/>
          <p:nvPr/>
        </p:nvSpPr>
        <p:spPr>
          <a:xfrm>
            <a:off x="2564751" y="3835178"/>
            <a:ext cx="426026" cy="0"/>
          </a:xfrm>
          <a:prstGeom prst="line">
            <a:avLst/>
          </a:prstGeom>
          <a:noFill/>
          <a:ln w="22860">
            <a:solidFill>
              <a:srgbClr val="009E73"/>
            </a:solidFill>
            <a:prstDash val="solid"/>
            <a:tailEnd type="triangle"/>
          </a:ln>
        </p:spPr>
      </p:sp>
      <p:sp>
        <p:nvSpPr>
          <p:cNvPr id="10" name="Shape 8"/>
          <p:cNvSpPr/>
          <p:nvPr/>
        </p:nvSpPr>
        <p:spPr>
          <a:xfrm>
            <a:off x="4670301" y="3835178"/>
            <a:ext cx="426026" cy="0"/>
          </a:xfrm>
          <a:prstGeom prst="line">
            <a:avLst/>
          </a:prstGeom>
          <a:noFill/>
          <a:ln w="22860">
            <a:solidFill>
              <a:srgbClr val="009E73"/>
            </a:solidFill>
            <a:prstDash val="solid"/>
            <a:tailEnd type="triangle"/>
          </a:ln>
        </p:spPr>
      </p:sp>
      <p:sp>
        <p:nvSpPr>
          <p:cNvPr id="11" name="Shape 9"/>
          <p:cNvSpPr/>
          <p:nvPr/>
        </p:nvSpPr>
        <p:spPr>
          <a:xfrm>
            <a:off x="6775850" y="3835178"/>
            <a:ext cx="426026" cy="0"/>
          </a:xfrm>
          <a:prstGeom prst="line">
            <a:avLst/>
          </a:prstGeom>
          <a:noFill/>
          <a:ln w="22860">
            <a:solidFill>
              <a:srgbClr val="009E73"/>
            </a:solidFill>
            <a:prstDash val="solid"/>
            <a:tailEnd type="triangle"/>
          </a:ln>
        </p:spPr>
      </p:sp>
      <p:sp>
        <p:nvSpPr>
          <p:cNvPr id="12" name="Shape 10"/>
          <p:cNvSpPr/>
          <p:nvPr/>
        </p:nvSpPr>
        <p:spPr>
          <a:xfrm>
            <a:off x="8881399" y="3835178"/>
            <a:ext cx="426026" cy="0"/>
          </a:xfrm>
          <a:prstGeom prst="line">
            <a:avLst/>
          </a:prstGeom>
          <a:noFill/>
          <a:ln w="22860">
            <a:solidFill>
              <a:srgbClr val="009E73"/>
            </a:solidFill>
            <a:prstDash val="solid"/>
            <a:tailEnd type="triangle"/>
          </a:ln>
        </p:spPr>
      </p:sp>
      <p:sp>
        <p:nvSpPr>
          <p:cNvPr id="13" name="Shape 11"/>
          <p:cNvSpPr/>
          <p:nvPr/>
        </p:nvSpPr>
        <p:spPr>
          <a:xfrm flipV="1">
            <a:off x="10147187" y="4336560"/>
            <a:ext cx="0" cy="641769"/>
          </a:xfrm>
          <a:prstGeom prst="line">
            <a:avLst/>
          </a:prstGeom>
          <a:noFill/>
          <a:ln w="22860">
            <a:solidFill>
              <a:srgbClr val="0072B2"/>
            </a:solidFill>
            <a:prstDash val="solid"/>
            <a:tailEnd type="triangle"/>
          </a:ln>
        </p:spPr>
      </p:sp>
      <p:sp>
        <p:nvSpPr>
          <p:cNvPr id="14" name="Shape 12"/>
          <p:cNvSpPr/>
          <p:nvPr/>
        </p:nvSpPr>
        <p:spPr>
          <a:xfrm>
            <a:off x="885227" y="3333796"/>
            <a:ext cx="1679524" cy="1002764"/>
          </a:xfrm>
          <a:prstGeom prst="roundRect">
            <a:avLst>
              <a:gd name="adj" fmla="val 7295"/>
            </a:avLst>
          </a:prstGeom>
          <a:solidFill>
            <a:srgbClr val="E4F2FB"/>
          </a:solidFill>
          <a:ln w="15240">
            <a:solidFill>
              <a:srgbClr val="0072B2"/>
            </a:solidFill>
            <a:prstDash val="solid"/>
          </a:ln>
        </p:spPr>
      </p:sp>
      <p:sp>
        <p:nvSpPr>
          <p:cNvPr id="15" name="Shape 13"/>
          <p:cNvSpPr/>
          <p:nvPr/>
        </p:nvSpPr>
        <p:spPr>
          <a:xfrm>
            <a:off x="2990777" y="3333796"/>
            <a:ext cx="1679524" cy="1002764"/>
          </a:xfrm>
          <a:prstGeom prst="rect">
            <a:avLst/>
          </a:prstGeom>
          <a:solidFill>
            <a:srgbClr val="E5F7EF"/>
          </a:solidFill>
          <a:ln w="15240">
            <a:solidFill>
              <a:srgbClr val="009E73"/>
            </a:solidFill>
            <a:prstDash val="solid"/>
          </a:ln>
        </p:spPr>
      </p:sp>
      <p:sp>
        <p:nvSpPr>
          <p:cNvPr id="16" name="Shape 14"/>
          <p:cNvSpPr/>
          <p:nvPr/>
        </p:nvSpPr>
        <p:spPr>
          <a:xfrm>
            <a:off x="5096326" y="3333796"/>
            <a:ext cx="1679524" cy="1002764"/>
          </a:xfrm>
          <a:prstGeom prst="rect">
            <a:avLst/>
          </a:prstGeom>
          <a:solidFill>
            <a:srgbClr val="E5F7EF"/>
          </a:solidFill>
          <a:ln w="15240">
            <a:solidFill>
              <a:srgbClr val="009E73"/>
            </a:solidFill>
            <a:prstDash val="solid"/>
          </a:ln>
        </p:spPr>
      </p:sp>
      <p:sp>
        <p:nvSpPr>
          <p:cNvPr id="17" name="Shape 15"/>
          <p:cNvSpPr/>
          <p:nvPr/>
        </p:nvSpPr>
        <p:spPr>
          <a:xfrm>
            <a:off x="7201875" y="3333796"/>
            <a:ext cx="1679524" cy="1002764"/>
          </a:xfrm>
          <a:prstGeom prst="rect">
            <a:avLst/>
          </a:prstGeom>
          <a:solidFill>
            <a:srgbClr val="E5F7EF"/>
          </a:solidFill>
          <a:ln w="15240">
            <a:solidFill>
              <a:srgbClr val="009E73"/>
            </a:solidFill>
            <a:prstDash val="solid"/>
          </a:ln>
        </p:spPr>
      </p:sp>
      <p:sp>
        <p:nvSpPr>
          <p:cNvPr id="18" name="Shape 16"/>
          <p:cNvSpPr/>
          <p:nvPr/>
        </p:nvSpPr>
        <p:spPr>
          <a:xfrm>
            <a:off x="9307425" y="3333796"/>
            <a:ext cx="1679524" cy="1002764"/>
          </a:xfrm>
          <a:prstGeom prst="roundRect">
            <a:avLst>
              <a:gd name="adj" fmla="val 7295"/>
            </a:avLst>
          </a:prstGeom>
          <a:solidFill>
            <a:srgbClr val="F9EAF4"/>
          </a:solidFill>
          <a:ln w="15240">
            <a:solidFill>
              <a:srgbClr val="CC79A7"/>
            </a:solidFill>
            <a:prstDash val="solid"/>
          </a:ln>
        </p:spPr>
      </p:sp>
      <p:sp>
        <p:nvSpPr>
          <p:cNvPr id="19" name="Shape 17"/>
          <p:cNvSpPr/>
          <p:nvPr/>
        </p:nvSpPr>
        <p:spPr>
          <a:xfrm>
            <a:off x="893420" y="5483723"/>
            <a:ext cx="196627" cy="176487"/>
          </a:xfrm>
          <a:prstGeom prst="roundRect">
            <a:avLst>
              <a:gd name="adj" fmla="val 41449"/>
            </a:avLst>
          </a:prstGeom>
          <a:solidFill>
            <a:srgbClr val="E4F2FB"/>
          </a:solidFill>
          <a:ln w="15240">
            <a:solidFill>
              <a:srgbClr val="0072B2"/>
            </a:solidFill>
            <a:prstDash val="solid"/>
          </a:ln>
        </p:spPr>
      </p:sp>
      <p:sp>
        <p:nvSpPr>
          <p:cNvPr id="20" name="Shape 18"/>
          <p:cNvSpPr/>
          <p:nvPr/>
        </p:nvSpPr>
        <p:spPr>
          <a:xfrm>
            <a:off x="2286196" y="5483723"/>
            <a:ext cx="196627" cy="176487"/>
          </a:xfrm>
          <a:prstGeom prst="rect">
            <a:avLst/>
          </a:prstGeom>
          <a:solidFill>
            <a:srgbClr val="E5F7EF"/>
          </a:solidFill>
          <a:ln w="15240">
            <a:solidFill>
              <a:srgbClr val="009E73"/>
            </a:solidFill>
            <a:prstDash val="solid"/>
          </a:ln>
        </p:spPr>
      </p:sp>
      <p:sp>
        <p:nvSpPr>
          <p:cNvPr id="21" name="Shape 19"/>
          <p:cNvSpPr/>
          <p:nvPr/>
        </p:nvSpPr>
        <p:spPr>
          <a:xfrm>
            <a:off x="3678972" y="5483723"/>
            <a:ext cx="196627" cy="176487"/>
          </a:xfrm>
          <a:prstGeom prst="roundRect">
            <a:avLst>
              <a:gd name="adj" fmla="val 41449"/>
            </a:avLst>
          </a:prstGeom>
          <a:solidFill>
            <a:srgbClr val="F9EAF4"/>
          </a:solidFill>
          <a:ln w="15240">
            <a:solidFill>
              <a:srgbClr val="CC79A7"/>
            </a:solidFill>
            <a:prstDash val="solid"/>
          </a:ln>
        </p:spPr>
      </p:sp>
      <p:sp>
        <p:nvSpPr>
          <p:cNvPr id="22" name="Text 20"/>
          <p:cNvSpPr txBox="1"/>
          <p:nvPr/>
        </p:nvSpPr>
        <p:spPr>
          <a:xfrm>
            <a:off x="1301588" y="3711433"/>
            <a:ext cx="846803"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Read X</a:t>
            </a:r>
            <a:endParaRPr lang="en-US" sz="1680" dirty="0"/>
          </a:p>
        </p:txBody>
      </p:sp>
      <p:sp>
        <p:nvSpPr>
          <p:cNvPr id="23" name="Text 21"/>
          <p:cNvSpPr txBox="1"/>
          <p:nvPr/>
        </p:nvSpPr>
        <p:spPr>
          <a:xfrm>
            <a:off x="3075905" y="3711433"/>
            <a:ext cx="150926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Project Q/K/V</a:t>
            </a:r>
            <a:endParaRPr lang="en-US" sz="1680" dirty="0"/>
          </a:p>
        </p:txBody>
      </p:sp>
      <p:sp>
        <p:nvSpPr>
          <p:cNvPr id="24" name="Text 22"/>
          <p:cNvSpPr txBox="1"/>
          <p:nvPr/>
        </p:nvSpPr>
        <p:spPr>
          <a:xfrm>
            <a:off x="2454191" y="3000328"/>
            <a:ext cx="647146" cy="233741"/>
          </a:xfrm>
          <a:prstGeom prst="rect">
            <a:avLst/>
          </a:prstGeom>
          <a:noFill/>
          <a:ln/>
        </p:spPr>
        <p:txBody>
          <a:bodyPr wrap="square" lIns="0" tIns="0" rIns="0" bIns="0" rtlCol="0" anchor="ctr"/>
          <a:lstStyle/>
          <a:p>
            <a:pPr algn="ctr" indent="0" marL="0">
              <a:lnSpc>
                <a:spcPct val="116000"/>
              </a:lnSpc>
              <a:buNone/>
            </a:pPr>
            <a:r>
              <a:rPr lang="en-US" sz="1587" dirty="0">
                <a:solidFill>
                  <a:srgbClr val="0072B2"/>
                </a:solidFill>
                <a:latin typeface="Arial" pitchFamily="34" charset="0"/>
                <a:ea typeface="Arial" pitchFamily="34" charset="-122"/>
                <a:cs typeface="Arial" pitchFamily="34" charset="-120"/>
              </a:rPr>
              <a:t>X[3,2]</a:t>
            </a:r>
            <a:endParaRPr lang="en-US" sz="1587" dirty="0"/>
          </a:p>
        </p:txBody>
      </p:sp>
      <p:sp>
        <p:nvSpPr>
          <p:cNvPr id="25" name="Text 23"/>
          <p:cNvSpPr txBox="1"/>
          <p:nvPr/>
        </p:nvSpPr>
        <p:spPr>
          <a:xfrm>
            <a:off x="5375777" y="3587687"/>
            <a:ext cx="1120621"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Compare;</a:t>
            </a:r>
            <a:endParaRPr lang="en-US" sz="1680" dirty="0"/>
          </a:p>
        </p:txBody>
      </p:sp>
      <p:sp>
        <p:nvSpPr>
          <p:cNvPr id="26" name="Text 24"/>
          <p:cNvSpPr txBox="1"/>
          <p:nvPr/>
        </p:nvSpPr>
        <p:spPr>
          <a:xfrm>
            <a:off x="5375777" y="3835178"/>
            <a:ext cx="1120621"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scale</a:t>
            </a:r>
            <a:endParaRPr lang="en-US" sz="1680" dirty="0"/>
          </a:p>
        </p:txBody>
      </p:sp>
      <p:sp>
        <p:nvSpPr>
          <p:cNvPr id="27" name="Text 25"/>
          <p:cNvSpPr txBox="1"/>
          <p:nvPr/>
        </p:nvSpPr>
        <p:spPr>
          <a:xfrm>
            <a:off x="4444913" y="3000328"/>
            <a:ext cx="876800" cy="233741"/>
          </a:xfrm>
          <a:prstGeom prst="rect">
            <a:avLst/>
          </a:prstGeom>
          <a:noFill/>
          <a:ln/>
        </p:spPr>
        <p:txBody>
          <a:bodyPr wrap="square" lIns="0" tIns="0" rIns="0" bIns="0" rtlCol="0" anchor="ctr"/>
          <a:lstStyle/>
          <a:p>
            <a:pPr algn="ctr" indent="0" marL="0">
              <a:lnSpc>
                <a:spcPct val="116000"/>
              </a:lnSpc>
              <a:buNone/>
            </a:pPr>
            <a:r>
              <a:rPr lang="en-US" sz="1587" dirty="0">
                <a:solidFill>
                  <a:srgbClr val="0072B2"/>
                </a:solidFill>
                <a:latin typeface="Arial" pitchFamily="34" charset="0"/>
                <a:ea typeface="Arial" pitchFamily="34" charset="-122"/>
                <a:cs typeface="Arial" pitchFamily="34" charset="-120"/>
              </a:rPr>
              <a:t>Q/K[3,2]</a:t>
            </a:r>
            <a:endParaRPr lang="en-US" sz="1587" dirty="0"/>
          </a:p>
        </p:txBody>
      </p:sp>
      <p:sp>
        <p:nvSpPr>
          <p:cNvPr id="28" name="Text 26"/>
          <p:cNvSpPr txBox="1"/>
          <p:nvPr/>
        </p:nvSpPr>
        <p:spPr>
          <a:xfrm>
            <a:off x="7574072" y="3587687"/>
            <a:ext cx="935131"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Mask;</a:t>
            </a:r>
            <a:endParaRPr lang="en-US" sz="1680" dirty="0"/>
          </a:p>
        </p:txBody>
      </p:sp>
      <p:sp>
        <p:nvSpPr>
          <p:cNvPr id="29" name="Text 27"/>
          <p:cNvSpPr txBox="1"/>
          <p:nvPr/>
        </p:nvSpPr>
        <p:spPr>
          <a:xfrm>
            <a:off x="7574072" y="3835178"/>
            <a:ext cx="935131"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softmax</a:t>
            </a:r>
            <a:endParaRPr lang="en-US" sz="1680" dirty="0"/>
          </a:p>
        </p:txBody>
      </p:sp>
      <p:sp>
        <p:nvSpPr>
          <p:cNvPr id="30" name="Text 28"/>
          <p:cNvSpPr txBox="1"/>
          <p:nvPr/>
        </p:nvSpPr>
        <p:spPr>
          <a:xfrm>
            <a:off x="6426803" y="3000328"/>
            <a:ext cx="1124120" cy="233741"/>
          </a:xfrm>
          <a:prstGeom prst="rect">
            <a:avLst/>
          </a:prstGeom>
          <a:noFill/>
          <a:ln/>
        </p:spPr>
        <p:txBody>
          <a:bodyPr wrap="square" lIns="0" tIns="0" rIns="0" bIns="0" rtlCol="0" anchor="ctr"/>
          <a:lstStyle/>
          <a:p>
            <a:pPr algn="ctr" indent="0" marL="0">
              <a:lnSpc>
                <a:spcPct val="116000"/>
              </a:lnSpc>
              <a:buNone/>
            </a:pPr>
            <a:r>
              <a:rPr lang="en-US" sz="1587" dirty="0">
                <a:solidFill>
                  <a:srgbClr val="0072B2"/>
                </a:solidFill>
                <a:latin typeface="Arial" pitchFamily="34" charset="0"/>
                <a:ea typeface="Arial" pitchFamily="34" charset="-122"/>
                <a:cs typeface="Arial" pitchFamily="34" charset="-120"/>
              </a:rPr>
              <a:t>scores[3,3]</a:t>
            </a:r>
            <a:endParaRPr lang="en-US" sz="1587" dirty="0"/>
          </a:p>
        </p:txBody>
      </p:sp>
      <p:sp>
        <p:nvSpPr>
          <p:cNvPr id="31" name="Text 29"/>
          <p:cNvSpPr txBox="1"/>
          <p:nvPr/>
        </p:nvSpPr>
        <p:spPr>
          <a:xfrm>
            <a:off x="9538295" y="3711433"/>
            <a:ext cx="1217783"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Mix values</a:t>
            </a:r>
            <a:endParaRPr lang="en-US" sz="1680" dirty="0"/>
          </a:p>
        </p:txBody>
      </p:sp>
      <p:sp>
        <p:nvSpPr>
          <p:cNvPr id="32" name="Text 30"/>
          <p:cNvSpPr txBox="1"/>
          <p:nvPr/>
        </p:nvSpPr>
        <p:spPr>
          <a:xfrm>
            <a:off x="8488188" y="3000328"/>
            <a:ext cx="1212449" cy="233741"/>
          </a:xfrm>
          <a:prstGeom prst="rect">
            <a:avLst/>
          </a:prstGeom>
          <a:noFill/>
          <a:ln/>
        </p:spPr>
        <p:txBody>
          <a:bodyPr wrap="square" lIns="0" tIns="0" rIns="0" bIns="0" rtlCol="0" anchor="ctr"/>
          <a:lstStyle/>
          <a:p>
            <a:pPr algn="ctr" indent="0" marL="0">
              <a:lnSpc>
                <a:spcPct val="116000"/>
              </a:lnSpc>
              <a:buNone/>
            </a:pPr>
            <a:r>
              <a:rPr lang="en-US" sz="1587" dirty="0">
                <a:solidFill>
                  <a:srgbClr val="0072B2"/>
                </a:solidFill>
                <a:latin typeface="Arial" pitchFamily="34" charset="0"/>
                <a:ea typeface="Arial" pitchFamily="34" charset="-122"/>
                <a:cs typeface="Arial" pitchFamily="34" charset="-120"/>
              </a:rPr>
              <a:t>weights[3,3]</a:t>
            </a:r>
            <a:endParaRPr lang="en-US" sz="1587" dirty="0"/>
          </a:p>
        </p:txBody>
      </p:sp>
      <p:sp>
        <p:nvSpPr>
          <p:cNvPr id="33" name="Text 31"/>
          <p:cNvSpPr txBox="1"/>
          <p:nvPr/>
        </p:nvSpPr>
        <p:spPr>
          <a:xfrm>
            <a:off x="6575638" y="4854584"/>
            <a:ext cx="678978"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V[3,2]</a:t>
            </a:r>
            <a:endParaRPr lang="en-US" sz="1680" dirty="0"/>
          </a:p>
        </p:txBody>
      </p:sp>
      <p:sp>
        <p:nvSpPr>
          <p:cNvPr id="34" name="Text 32"/>
          <p:cNvSpPr txBox="1"/>
          <p:nvPr/>
        </p:nvSpPr>
        <p:spPr>
          <a:xfrm>
            <a:off x="852456" y="2202735"/>
            <a:ext cx="4139796" cy="288739"/>
          </a:xfrm>
          <a:prstGeom prst="rect">
            <a:avLst/>
          </a:prstGeom>
          <a:noFill/>
          <a:ln/>
        </p:spPr>
        <p:txBody>
          <a:bodyPr wrap="square" lIns="0" tIns="0" rIns="0" bIns="0" rtlCol="0" anchor="ctr"/>
          <a:lstStyle/>
          <a:p>
            <a:pPr algn="l" indent="0" marL="0">
              <a:lnSpc>
                <a:spcPct val="116000"/>
              </a:lnSpc>
              <a:buNone/>
            </a:pPr>
            <a:r>
              <a:rPr lang="en-US" sz="1960" dirty="0">
                <a:solidFill>
                  <a:srgbClr val="1E1B4B"/>
                </a:solidFill>
                <a:latin typeface="Arial" pitchFamily="34" charset="0"/>
                <a:ea typeface="Arial" pitchFamily="34" charset="-122"/>
                <a:cs typeface="Arial" pitchFamily="34" charset="-120"/>
              </a:rPr>
              <a:t>Matching and carrying are separate</a:t>
            </a:r>
            <a:endParaRPr lang="en-US" sz="1960" dirty="0"/>
          </a:p>
        </p:txBody>
      </p:sp>
      <p:sp>
        <p:nvSpPr>
          <p:cNvPr id="35" name="Text 33"/>
          <p:cNvSpPr txBox="1"/>
          <p:nvPr/>
        </p:nvSpPr>
        <p:spPr>
          <a:xfrm>
            <a:off x="1171975" y="5448221"/>
            <a:ext cx="56415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Data</a:t>
            </a:r>
            <a:endParaRPr lang="en-US" sz="1680" dirty="0"/>
          </a:p>
        </p:txBody>
      </p:sp>
      <p:sp>
        <p:nvSpPr>
          <p:cNvPr id="36" name="Text 34"/>
          <p:cNvSpPr txBox="1"/>
          <p:nvPr/>
        </p:nvSpPr>
        <p:spPr>
          <a:xfrm>
            <a:off x="2564751" y="5448221"/>
            <a:ext cx="705477"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Model</a:t>
            </a:r>
            <a:endParaRPr lang="en-US" sz="1680" dirty="0"/>
          </a:p>
        </p:txBody>
      </p:sp>
      <p:sp>
        <p:nvSpPr>
          <p:cNvPr id="37" name="Text 35"/>
          <p:cNvSpPr txBox="1"/>
          <p:nvPr/>
        </p:nvSpPr>
        <p:spPr>
          <a:xfrm>
            <a:off x="3957527" y="5448221"/>
            <a:ext cx="758474"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Output</a:t>
            </a:r>
            <a:endParaRPr lang="en-US" sz="1680" dirty="0"/>
          </a:p>
        </p:txBody>
      </p:sp>
      <p:sp>
        <p:nvSpPr>
          <p:cNvPr id="38" name="Text 36"/>
          <p:cNvSpPr txBox="1"/>
          <p:nvPr/>
        </p:nvSpPr>
        <p:spPr>
          <a:xfrm>
            <a:off x="5481388" y="5448221"/>
            <a:ext cx="56415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Flow</a:t>
            </a:r>
            <a:endParaRPr lang="en-US" sz="16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Worked example: three tokens, dₖ = 2</a:t>
            </a:r>
            <a:endParaRPr lang="en-US" sz="3200" dirty="0"/>
          </a:p>
        </p:txBody>
      </p:sp>
      <p:sp>
        <p:nvSpPr>
          <p:cNvPr id="6" name="Shape 4"/>
          <p:cNvSpPr/>
          <p:nvPr/>
        </p:nvSpPr>
        <p:spPr>
          <a:xfrm>
            <a:off x="8758507" y="4898108"/>
            <a:ext cx="1474704" cy="0"/>
          </a:xfrm>
          <a:prstGeom prst="line">
            <a:avLst/>
          </a:prstGeom>
          <a:noFill/>
          <a:ln w="22860">
            <a:solidFill>
              <a:srgbClr val="0072B2"/>
            </a:solidFill>
            <a:prstDash val="solid"/>
          </a:ln>
        </p:spPr>
      </p:sp>
      <p:sp>
        <p:nvSpPr>
          <p:cNvPr id="7" name="Shape 5"/>
          <p:cNvSpPr/>
          <p:nvPr/>
        </p:nvSpPr>
        <p:spPr>
          <a:xfrm>
            <a:off x="5071748" y="5676254"/>
            <a:ext cx="327712" cy="0"/>
          </a:xfrm>
          <a:prstGeom prst="line">
            <a:avLst/>
          </a:prstGeom>
          <a:noFill/>
          <a:ln w="22860">
            <a:solidFill>
              <a:srgbClr val="009E73"/>
            </a:solidFill>
            <a:prstDash val="solid"/>
          </a:ln>
        </p:spPr>
      </p:sp>
      <p:sp>
        <p:nvSpPr>
          <p:cNvPr id="8" name="Shape 6"/>
          <p:cNvSpPr/>
          <p:nvPr/>
        </p:nvSpPr>
        <p:spPr>
          <a:xfrm>
            <a:off x="3351260" y="3534349"/>
            <a:ext cx="409640" cy="0"/>
          </a:xfrm>
          <a:prstGeom prst="line">
            <a:avLst/>
          </a:prstGeom>
          <a:noFill/>
          <a:ln w="22860">
            <a:solidFill>
              <a:srgbClr val="009E73"/>
            </a:solidFill>
            <a:prstDash val="solid"/>
            <a:tailEnd type="triangle"/>
          </a:ln>
        </p:spPr>
      </p:sp>
      <p:sp>
        <p:nvSpPr>
          <p:cNvPr id="9" name="Shape 7"/>
          <p:cNvSpPr/>
          <p:nvPr/>
        </p:nvSpPr>
        <p:spPr>
          <a:xfrm>
            <a:off x="5972956" y="3534349"/>
            <a:ext cx="409640" cy="0"/>
          </a:xfrm>
          <a:prstGeom prst="line">
            <a:avLst/>
          </a:prstGeom>
          <a:noFill/>
          <a:ln w="22860">
            <a:solidFill>
              <a:srgbClr val="009E73"/>
            </a:solidFill>
            <a:prstDash val="solid"/>
            <a:tailEnd type="triangle"/>
          </a:ln>
        </p:spPr>
      </p:sp>
      <p:sp>
        <p:nvSpPr>
          <p:cNvPr id="10" name="Shape 8"/>
          <p:cNvSpPr/>
          <p:nvPr/>
        </p:nvSpPr>
        <p:spPr>
          <a:xfrm>
            <a:off x="8758507" y="3534349"/>
            <a:ext cx="409640" cy="0"/>
          </a:xfrm>
          <a:prstGeom prst="line">
            <a:avLst/>
          </a:prstGeom>
          <a:noFill/>
          <a:ln w="22860">
            <a:solidFill>
              <a:srgbClr val="009E73"/>
            </a:solidFill>
            <a:prstDash val="solid"/>
            <a:tailEnd type="triangle"/>
          </a:ln>
        </p:spPr>
      </p:sp>
      <p:sp>
        <p:nvSpPr>
          <p:cNvPr id="11" name="Shape 9"/>
          <p:cNvSpPr/>
          <p:nvPr/>
        </p:nvSpPr>
        <p:spPr>
          <a:xfrm flipV="1">
            <a:off x="10233211" y="4015676"/>
            <a:ext cx="0" cy="882433"/>
          </a:xfrm>
          <a:prstGeom prst="line">
            <a:avLst/>
          </a:prstGeom>
          <a:noFill/>
          <a:ln w="22860">
            <a:solidFill>
              <a:srgbClr val="0072B2"/>
            </a:solidFill>
            <a:prstDash val="solid"/>
            <a:tailEnd type="triangle"/>
          </a:ln>
        </p:spPr>
      </p:sp>
      <p:sp>
        <p:nvSpPr>
          <p:cNvPr id="12" name="Shape 10"/>
          <p:cNvSpPr/>
          <p:nvPr/>
        </p:nvSpPr>
        <p:spPr>
          <a:xfrm>
            <a:off x="893420" y="3053022"/>
            <a:ext cx="2457840" cy="962654"/>
          </a:xfrm>
          <a:prstGeom prst="roundRect">
            <a:avLst>
              <a:gd name="adj" fmla="val 7599"/>
            </a:avLst>
          </a:prstGeom>
          <a:solidFill>
            <a:srgbClr val="E4F2FB"/>
          </a:solidFill>
          <a:ln w="15240">
            <a:solidFill>
              <a:srgbClr val="0072B2"/>
            </a:solidFill>
            <a:prstDash val="solid"/>
          </a:ln>
        </p:spPr>
      </p:sp>
      <p:sp>
        <p:nvSpPr>
          <p:cNvPr id="13" name="Shape 11"/>
          <p:cNvSpPr/>
          <p:nvPr/>
        </p:nvSpPr>
        <p:spPr>
          <a:xfrm>
            <a:off x="3760900" y="3053022"/>
            <a:ext cx="2212056" cy="962654"/>
          </a:xfrm>
          <a:prstGeom prst="rect">
            <a:avLst/>
          </a:prstGeom>
          <a:solidFill>
            <a:srgbClr val="E5F7EF"/>
          </a:solidFill>
          <a:ln w="15240">
            <a:solidFill>
              <a:srgbClr val="009E73"/>
            </a:solidFill>
            <a:prstDash val="solid"/>
          </a:ln>
        </p:spPr>
      </p:sp>
      <p:sp>
        <p:nvSpPr>
          <p:cNvPr id="14" name="Shape 12"/>
          <p:cNvSpPr/>
          <p:nvPr/>
        </p:nvSpPr>
        <p:spPr>
          <a:xfrm>
            <a:off x="6382596" y="3053022"/>
            <a:ext cx="2375912" cy="962654"/>
          </a:xfrm>
          <a:prstGeom prst="rect">
            <a:avLst/>
          </a:prstGeom>
          <a:solidFill>
            <a:srgbClr val="E5F7EF"/>
          </a:solidFill>
          <a:ln w="15240">
            <a:solidFill>
              <a:srgbClr val="009E73"/>
            </a:solidFill>
            <a:prstDash val="solid"/>
          </a:ln>
        </p:spPr>
      </p:sp>
      <p:sp>
        <p:nvSpPr>
          <p:cNvPr id="15" name="Shape 13"/>
          <p:cNvSpPr/>
          <p:nvPr/>
        </p:nvSpPr>
        <p:spPr>
          <a:xfrm>
            <a:off x="9168147" y="3053022"/>
            <a:ext cx="2130128" cy="962654"/>
          </a:xfrm>
          <a:prstGeom prst="roundRect">
            <a:avLst>
              <a:gd name="adj" fmla="val 7599"/>
            </a:avLst>
          </a:prstGeom>
          <a:solidFill>
            <a:srgbClr val="F9EAF4"/>
          </a:solidFill>
          <a:ln w="15240">
            <a:solidFill>
              <a:srgbClr val="CC79A7"/>
            </a:solidFill>
            <a:prstDash val="solid"/>
          </a:ln>
        </p:spPr>
      </p:sp>
      <p:sp>
        <p:nvSpPr>
          <p:cNvPr id="16" name="Shape 14"/>
          <p:cNvSpPr/>
          <p:nvPr/>
        </p:nvSpPr>
        <p:spPr>
          <a:xfrm>
            <a:off x="6382596" y="4537113"/>
            <a:ext cx="2375912" cy="721990"/>
          </a:xfrm>
          <a:prstGeom prst="roundRect">
            <a:avLst>
              <a:gd name="adj" fmla="val 10132"/>
            </a:avLst>
          </a:prstGeom>
          <a:solidFill>
            <a:srgbClr val="E4F2FB"/>
          </a:solidFill>
          <a:ln w="15240">
            <a:solidFill>
              <a:srgbClr val="0072B2"/>
            </a:solidFill>
            <a:prstDash val="solid"/>
          </a:ln>
        </p:spPr>
      </p:sp>
      <p:sp>
        <p:nvSpPr>
          <p:cNvPr id="17" name="Shape 15"/>
          <p:cNvSpPr/>
          <p:nvPr/>
        </p:nvSpPr>
        <p:spPr>
          <a:xfrm>
            <a:off x="893420" y="5588010"/>
            <a:ext cx="196627" cy="176487"/>
          </a:xfrm>
          <a:prstGeom prst="roundRect">
            <a:avLst>
              <a:gd name="adj" fmla="val 41449"/>
            </a:avLst>
          </a:prstGeom>
          <a:solidFill>
            <a:srgbClr val="E4F2FB"/>
          </a:solidFill>
          <a:ln w="15240">
            <a:solidFill>
              <a:srgbClr val="0072B2"/>
            </a:solidFill>
            <a:prstDash val="solid"/>
          </a:ln>
        </p:spPr>
      </p:sp>
      <p:sp>
        <p:nvSpPr>
          <p:cNvPr id="18" name="Shape 16"/>
          <p:cNvSpPr/>
          <p:nvPr/>
        </p:nvSpPr>
        <p:spPr>
          <a:xfrm>
            <a:off x="2286196" y="5588010"/>
            <a:ext cx="196627" cy="176487"/>
          </a:xfrm>
          <a:prstGeom prst="rect">
            <a:avLst/>
          </a:prstGeom>
          <a:solidFill>
            <a:srgbClr val="E5F7EF"/>
          </a:solidFill>
          <a:ln w="15240">
            <a:solidFill>
              <a:srgbClr val="009E73"/>
            </a:solidFill>
            <a:prstDash val="solid"/>
          </a:ln>
        </p:spPr>
      </p:sp>
      <p:sp>
        <p:nvSpPr>
          <p:cNvPr id="19" name="Shape 17"/>
          <p:cNvSpPr/>
          <p:nvPr/>
        </p:nvSpPr>
        <p:spPr>
          <a:xfrm>
            <a:off x="3678972" y="5588010"/>
            <a:ext cx="196627" cy="176487"/>
          </a:xfrm>
          <a:prstGeom prst="roundRect">
            <a:avLst>
              <a:gd name="adj" fmla="val 41449"/>
            </a:avLst>
          </a:prstGeom>
          <a:solidFill>
            <a:srgbClr val="F9EAF4"/>
          </a:solidFill>
          <a:ln w="15240">
            <a:solidFill>
              <a:srgbClr val="CC79A7"/>
            </a:solidFill>
            <a:prstDash val="solid"/>
          </a:ln>
        </p:spPr>
      </p:sp>
      <p:sp>
        <p:nvSpPr>
          <p:cNvPr id="20" name="Text 18"/>
          <p:cNvSpPr txBox="1"/>
          <p:nvPr/>
        </p:nvSpPr>
        <p:spPr>
          <a:xfrm>
            <a:off x="893420" y="2082403"/>
            <a:ext cx="5473558" cy="288739"/>
          </a:xfrm>
          <a:prstGeom prst="rect">
            <a:avLst/>
          </a:prstGeom>
          <a:noFill/>
          <a:ln/>
        </p:spPr>
        <p:txBody>
          <a:bodyPr wrap="square" lIns="0" tIns="0" rIns="0" bIns="0" rtlCol="0" anchor="ctr"/>
          <a:lstStyle/>
          <a:p>
            <a:pPr algn="l" indent="0" marL="0">
              <a:lnSpc>
                <a:spcPct val="116000"/>
              </a:lnSpc>
              <a:buNone/>
            </a:pPr>
            <a:r>
              <a:rPr lang="en-US" sz="1960" dirty="0">
                <a:solidFill>
                  <a:srgbClr val="1E1B4B"/>
                </a:solidFill>
                <a:latin typeface="Arial" pitchFamily="34" charset="0"/>
                <a:ea typeface="Arial" pitchFamily="34" charset="-122"/>
                <a:cs typeface="Arial" pitchFamily="34" charset="-120"/>
              </a:rPr>
              <a:t>Illustrative cat query [1,0]; keys [1,0], [0,1], [1,1]</a:t>
            </a:r>
            <a:endParaRPr lang="en-US" sz="1960" dirty="0"/>
          </a:p>
        </p:txBody>
      </p:sp>
      <p:sp>
        <p:nvSpPr>
          <p:cNvPr id="21" name="Text 19"/>
          <p:cNvSpPr txBox="1"/>
          <p:nvPr/>
        </p:nvSpPr>
        <p:spPr>
          <a:xfrm>
            <a:off x="1179550" y="3273109"/>
            <a:ext cx="1885581"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Read inputs</a:t>
            </a:r>
            <a:endParaRPr lang="en-US" sz="1773" dirty="0"/>
          </a:p>
        </p:txBody>
      </p:sp>
      <p:sp>
        <p:nvSpPr>
          <p:cNvPr id="22" name="Text 20"/>
          <p:cNvSpPr txBox="1"/>
          <p:nvPr/>
        </p:nvSpPr>
        <p:spPr>
          <a:xfrm>
            <a:off x="1179550" y="3534349"/>
            <a:ext cx="1885581"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q and three keys</a:t>
            </a:r>
            <a:endParaRPr lang="en-US" sz="1773" dirty="0"/>
          </a:p>
        </p:txBody>
      </p:sp>
      <p:sp>
        <p:nvSpPr>
          <p:cNvPr id="23" name="Text 21"/>
          <p:cNvSpPr txBox="1"/>
          <p:nvPr/>
        </p:nvSpPr>
        <p:spPr>
          <a:xfrm>
            <a:off x="3972718" y="3273109"/>
            <a:ext cx="1788420"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Compare; scale</a:t>
            </a:r>
            <a:endParaRPr lang="en-US" sz="1773" dirty="0"/>
          </a:p>
        </p:txBody>
      </p:sp>
      <p:sp>
        <p:nvSpPr>
          <p:cNvPr id="24" name="Text 22"/>
          <p:cNvSpPr txBox="1"/>
          <p:nvPr/>
        </p:nvSpPr>
        <p:spPr>
          <a:xfrm>
            <a:off x="3972718" y="3534349"/>
            <a:ext cx="1788420"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[0.71,0,0.71]</a:t>
            </a:r>
            <a:endParaRPr lang="en-US" sz="1773" dirty="0"/>
          </a:p>
        </p:txBody>
      </p:sp>
      <p:sp>
        <p:nvSpPr>
          <p:cNvPr id="25" name="Text 23"/>
          <p:cNvSpPr txBox="1"/>
          <p:nvPr/>
        </p:nvSpPr>
        <p:spPr>
          <a:xfrm>
            <a:off x="6729339" y="3273109"/>
            <a:ext cx="1682425"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Row softmax</a:t>
            </a:r>
            <a:endParaRPr lang="en-US" sz="1773" dirty="0"/>
          </a:p>
        </p:txBody>
      </p:sp>
      <p:sp>
        <p:nvSpPr>
          <p:cNvPr id="26" name="Text 24"/>
          <p:cNvSpPr txBox="1"/>
          <p:nvPr/>
        </p:nvSpPr>
        <p:spPr>
          <a:xfrm>
            <a:off x="6729339" y="3534349"/>
            <a:ext cx="1682425"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[0.40,0.20,0.40]</a:t>
            </a:r>
            <a:endParaRPr lang="en-US" sz="1773" dirty="0"/>
          </a:p>
        </p:txBody>
      </p:sp>
      <p:sp>
        <p:nvSpPr>
          <p:cNvPr id="27" name="Text 25"/>
          <p:cNvSpPr txBox="1"/>
          <p:nvPr/>
        </p:nvSpPr>
        <p:spPr>
          <a:xfrm>
            <a:off x="9612820" y="3273109"/>
            <a:ext cx="1240782"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Mix values</a:t>
            </a:r>
            <a:endParaRPr lang="en-US" sz="1773" dirty="0"/>
          </a:p>
        </p:txBody>
      </p:sp>
      <p:sp>
        <p:nvSpPr>
          <p:cNvPr id="28" name="Text 26"/>
          <p:cNvSpPr txBox="1"/>
          <p:nvPr/>
        </p:nvSpPr>
        <p:spPr>
          <a:xfrm>
            <a:off x="9612820" y="3534349"/>
            <a:ext cx="1240782"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[0.60,0.40]</a:t>
            </a:r>
            <a:endParaRPr lang="en-US" sz="1773" dirty="0"/>
          </a:p>
        </p:txBody>
      </p:sp>
      <p:sp>
        <p:nvSpPr>
          <p:cNvPr id="29" name="Text 27"/>
          <p:cNvSpPr txBox="1"/>
          <p:nvPr/>
        </p:nvSpPr>
        <p:spPr>
          <a:xfrm>
            <a:off x="3309336" y="2604978"/>
            <a:ext cx="493488"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q, K</a:t>
            </a:r>
            <a:endParaRPr lang="en-US" sz="1680" dirty="0"/>
          </a:p>
        </p:txBody>
      </p:sp>
      <p:sp>
        <p:nvSpPr>
          <p:cNvPr id="30" name="Text 28"/>
          <p:cNvSpPr txBox="1"/>
          <p:nvPr/>
        </p:nvSpPr>
        <p:spPr>
          <a:xfrm>
            <a:off x="5798539" y="2604978"/>
            <a:ext cx="758474"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scores</a:t>
            </a:r>
            <a:endParaRPr lang="en-US" sz="1680" dirty="0"/>
          </a:p>
        </p:txBody>
      </p:sp>
      <p:sp>
        <p:nvSpPr>
          <p:cNvPr id="31" name="Text 29"/>
          <p:cNvSpPr txBox="1"/>
          <p:nvPr/>
        </p:nvSpPr>
        <p:spPr>
          <a:xfrm>
            <a:off x="8535510" y="2604978"/>
            <a:ext cx="855635"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weights</a:t>
            </a:r>
            <a:endParaRPr lang="en-US" sz="1680" dirty="0"/>
          </a:p>
        </p:txBody>
      </p:sp>
      <p:sp>
        <p:nvSpPr>
          <p:cNvPr id="32" name="Text 30"/>
          <p:cNvSpPr txBox="1"/>
          <p:nvPr/>
        </p:nvSpPr>
        <p:spPr>
          <a:xfrm>
            <a:off x="6575681" y="4664367"/>
            <a:ext cx="1989741"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Values V</a:t>
            </a:r>
            <a:endParaRPr lang="en-US" sz="1587" dirty="0"/>
          </a:p>
        </p:txBody>
      </p:sp>
      <p:sp>
        <p:nvSpPr>
          <p:cNvPr id="33" name="Text 31"/>
          <p:cNvSpPr txBox="1"/>
          <p:nvPr/>
        </p:nvSpPr>
        <p:spPr>
          <a:xfrm>
            <a:off x="6575681" y="4898108"/>
            <a:ext cx="1989741"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[1,0], [0,1], [0.5,0.5]</a:t>
            </a:r>
            <a:endParaRPr lang="en-US" sz="1587" dirty="0"/>
          </a:p>
        </p:txBody>
      </p:sp>
      <p:sp>
        <p:nvSpPr>
          <p:cNvPr id="34" name="Text 32"/>
          <p:cNvSpPr txBox="1"/>
          <p:nvPr/>
        </p:nvSpPr>
        <p:spPr>
          <a:xfrm>
            <a:off x="9372775" y="4774363"/>
            <a:ext cx="246168"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V</a:t>
            </a:r>
            <a:endParaRPr lang="en-US" sz="1680" dirty="0"/>
          </a:p>
        </p:txBody>
      </p:sp>
      <p:sp>
        <p:nvSpPr>
          <p:cNvPr id="35" name="Text 33"/>
          <p:cNvSpPr txBox="1"/>
          <p:nvPr/>
        </p:nvSpPr>
        <p:spPr>
          <a:xfrm>
            <a:off x="1171975" y="5552508"/>
            <a:ext cx="56415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Data</a:t>
            </a:r>
            <a:endParaRPr lang="en-US" sz="1680" dirty="0"/>
          </a:p>
        </p:txBody>
      </p:sp>
      <p:sp>
        <p:nvSpPr>
          <p:cNvPr id="36" name="Text 34"/>
          <p:cNvSpPr txBox="1"/>
          <p:nvPr/>
        </p:nvSpPr>
        <p:spPr>
          <a:xfrm>
            <a:off x="2564751" y="5552508"/>
            <a:ext cx="705477"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Model</a:t>
            </a:r>
            <a:endParaRPr lang="en-US" sz="1680" dirty="0"/>
          </a:p>
        </p:txBody>
      </p:sp>
      <p:sp>
        <p:nvSpPr>
          <p:cNvPr id="37" name="Text 35"/>
          <p:cNvSpPr txBox="1"/>
          <p:nvPr/>
        </p:nvSpPr>
        <p:spPr>
          <a:xfrm>
            <a:off x="3957527" y="5552508"/>
            <a:ext cx="758474"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Output</a:t>
            </a:r>
            <a:endParaRPr lang="en-US" sz="1680" dirty="0"/>
          </a:p>
        </p:txBody>
      </p:sp>
      <p:sp>
        <p:nvSpPr>
          <p:cNvPr id="38" name="Text 36"/>
          <p:cNvSpPr txBox="1"/>
          <p:nvPr/>
        </p:nvSpPr>
        <p:spPr>
          <a:xfrm>
            <a:off x="5481388" y="5552508"/>
            <a:ext cx="56415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Flow</a:t>
            </a:r>
            <a:endParaRPr lang="en-US" sz="16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Scaled dot-product attention</a:t>
            </a:r>
            <a:endParaRPr lang="en-US" sz="3200" dirty="0"/>
          </a:p>
        </p:txBody>
      </p:sp>
      <p:sp>
        <p:nvSpPr>
          <p:cNvPr id="6" name="Shape 4"/>
          <p:cNvSpPr/>
          <p:nvPr/>
        </p:nvSpPr>
        <p:spPr>
          <a:xfrm>
            <a:off x="548640" y="1481328"/>
            <a:ext cx="11094415" cy="1325880"/>
          </a:xfrm>
          <a:prstGeom prst="roundRect">
            <a:avLst>
              <a:gd name="adj" fmla="val 8276"/>
            </a:avLst>
          </a:prstGeom>
          <a:solidFill>
            <a:srgbClr val="EEF0FF"/>
          </a:solidFill>
          <a:ln w="12700">
            <a:solidFill>
              <a:srgbClr val="EEF0FF"/>
            </a:solidFill>
            <a:prstDash val="solid"/>
          </a:ln>
        </p:spPr>
      </p:sp>
      <p:pic>
        <p:nvPicPr>
          <p:cNvPr id="7" name="Image 0" descr="C:\Users\sudee\Downloads\Generative_AI_2027_Teaching_Pack\AI2027_Project\build\eq\c523ccbcddb550f3.png">    </p:cNvPr>
          <p:cNvPicPr>
            <a:picLocks noChangeAspect="1"/>
          </p:cNvPicPr>
          <p:nvPr/>
        </p:nvPicPr>
        <p:blipFill>
          <a:blip r:embed="rId1"/>
          <a:stretch>
            <a:fillRect/>
          </a:stretch>
        </p:blipFill>
        <p:spPr>
          <a:xfrm>
            <a:off x="3590392" y="1722120"/>
            <a:ext cx="5010912" cy="844296"/>
          </a:xfrm>
          <a:prstGeom prst="rect">
            <a:avLst/>
          </a:prstGeom>
        </p:spPr>
      </p:pic>
      <p:sp>
        <p:nvSpPr>
          <p:cNvPr id="8" name="Text 5"/>
          <p:cNvSpPr txBox="1"/>
          <p:nvPr/>
        </p:nvSpPr>
        <p:spPr>
          <a:xfrm>
            <a:off x="548640" y="303580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9" name="Text 6"/>
          <p:cNvSpPr txBox="1"/>
          <p:nvPr/>
        </p:nvSpPr>
        <p:spPr>
          <a:xfrm>
            <a:off x="548640" y="3419856"/>
            <a:ext cx="6035040" cy="286207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Compare; scale; make row weights; mix values.</a:t>
            </a:r>
            <a:endParaRPr lang="en-US" sz="2000" dirty="0"/>
          </a:p>
        </p:txBody>
      </p:sp>
      <p:sp>
        <p:nvSpPr>
          <p:cNvPr id="10" name="Text 7"/>
          <p:cNvSpPr txBox="1"/>
          <p:nvPr/>
        </p:nvSpPr>
        <p:spPr>
          <a:xfrm>
            <a:off x="6858000" y="303580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1" name="Text 8"/>
          <p:cNvSpPr txBox="1"/>
          <p:nvPr/>
        </p:nvSpPr>
        <p:spPr>
          <a:xfrm>
            <a:off x="6858000" y="34472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Q / K / V</a:t>
            </a:r>
            <a:endParaRPr lang="en-US" sz="1800" dirty="0"/>
          </a:p>
        </p:txBody>
      </p:sp>
      <p:sp>
        <p:nvSpPr>
          <p:cNvPr id="12" name="Text 9"/>
          <p:cNvSpPr txBox="1"/>
          <p:nvPr/>
        </p:nvSpPr>
        <p:spPr>
          <a:xfrm>
            <a:off x="8046720" y="34472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query / key / value tables</a:t>
            </a:r>
            <a:endParaRPr lang="en-US" sz="1700" dirty="0"/>
          </a:p>
        </p:txBody>
      </p:sp>
      <p:sp>
        <p:nvSpPr>
          <p:cNvPr id="13" name="Text 10"/>
          <p:cNvSpPr txBox="1"/>
          <p:nvPr/>
        </p:nvSpPr>
        <p:spPr>
          <a:xfrm>
            <a:off x="6858000" y="41330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T</a:t>
            </a:r>
            <a:endParaRPr lang="en-US" sz="1800" dirty="0"/>
          </a:p>
        </p:txBody>
      </p:sp>
      <p:sp>
        <p:nvSpPr>
          <p:cNvPr id="14" name="Text 11"/>
          <p:cNvSpPr txBox="1"/>
          <p:nvPr/>
        </p:nvSpPr>
        <p:spPr>
          <a:xfrm>
            <a:off x="8046720" y="41330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transpose: swap axes</a:t>
            </a:r>
            <a:endParaRPr lang="en-US" sz="1700" dirty="0"/>
          </a:p>
        </p:txBody>
      </p:sp>
      <p:sp>
        <p:nvSpPr>
          <p:cNvPr id="15" name="Text 12"/>
          <p:cNvSpPr txBox="1"/>
          <p:nvPr/>
        </p:nvSpPr>
        <p:spPr>
          <a:xfrm>
            <a:off x="6858000" y="48188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dₖ</a:t>
            </a:r>
            <a:endParaRPr lang="en-US" sz="1800" dirty="0"/>
          </a:p>
        </p:txBody>
      </p:sp>
      <p:sp>
        <p:nvSpPr>
          <p:cNvPr id="16" name="Text 13"/>
          <p:cNvSpPr txBox="1"/>
          <p:nvPr/>
        </p:nvSpPr>
        <p:spPr>
          <a:xfrm>
            <a:off x="8046720" y="48188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numbers per query/key</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Why scale the scores?</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Why divide dot products by √(dₖ)?</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Force uniform attention weights.</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Remove future-position scores.</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Control extreme softmax concentration.</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Reduce the vocabulary size.</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Multi-head attention: several views at once</a:t>
            </a:r>
            <a:endParaRPr lang="en-US" sz="3200" dirty="0"/>
          </a:p>
        </p:txBody>
      </p:sp>
      <p:sp>
        <p:nvSpPr>
          <p:cNvPr id="6" name="Shape 4"/>
          <p:cNvSpPr/>
          <p:nvPr/>
        </p:nvSpPr>
        <p:spPr>
          <a:xfrm>
            <a:off x="3678972" y="5451634"/>
            <a:ext cx="327712" cy="0"/>
          </a:xfrm>
          <a:prstGeom prst="line">
            <a:avLst/>
          </a:prstGeom>
          <a:noFill/>
          <a:ln w="22860">
            <a:solidFill>
              <a:srgbClr val="009E73"/>
            </a:solidFill>
            <a:prstDash val="solid"/>
          </a:ln>
        </p:spPr>
      </p:sp>
      <p:sp>
        <p:nvSpPr>
          <p:cNvPr id="7" name="Shape 5"/>
          <p:cNvSpPr/>
          <p:nvPr/>
        </p:nvSpPr>
        <p:spPr>
          <a:xfrm>
            <a:off x="2564751" y="3714846"/>
            <a:ext cx="426026" cy="0"/>
          </a:xfrm>
          <a:prstGeom prst="line">
            <a:avLst/>
          </a:prstGeom>
          <a:noFill/>
          <a:ln w="22860">
            <a:solidFill>
              <a:srgbClr val="009E73"/>
            </a:solidFill>
            <a:prstDash val="solid"/>
            <a:tailEnd type="triangle"/>
          </a:ln>
        </p:spPr>
      </p:sp>
      <p:sp>
        <p:nvSpPr>
          <p:cNvPr id="8" name="Shape 6"/>
          <p:cNvSpPr/>
          <p:nvPr/>
        </p:nvSpPr>
        <p:spPr>
          <a:xfrm>
            <a:off x="4670301" y="3714846"/>
            <a:ext cx="426026" cy="0"/>
          </a:xfrm>
          <a:prstGeom prst="line">
            <a:avLst/>
          </a:prstGeom>
          <a:noFill/>
          <a:ln w="22860">
            <a:solidFill>
              <a:srgbClr val="009E73"/>
            </a:solidFill>
            <a:prstDash val="solid"/>
            <a:tailEnd type="triangle"/>
          </a:ln>
        </p:spPr>
      </p:sp>
      <p:sp>
        <p:nvSpPr>
          <p:cNvPr id="9" name="Shape 7"/>
          <p:cNvSpPr/>
          <p:nvPr/>
        </p:nvSpPr>
        <p:spPr>
          <a:xfrm>
            <a:off x="6775850" y="3714846"/>
            <a:ext cx="426026" cy="0"/>
          </a:xfrm>
          <a:prstGeom prst="line">
            <a:avLst/>
          </a:prstGeom>
          <a:noFill/>
          <a:ln w="22860">
            <a:solidFill>
              <a:srgbClr val="009E73"/>
            </a:solidFill>
            <a:prstDash val="solid"/>
            <a:tailEnd type="triangle"/>
          </a:ln>
        </p:spPr>
      </p:sp>
      <p:sp>
        <p:nvSpPr>
          <p:cNvPr id="10" name="Shape 8"/>
          <p:cNvSpPr/>
          <p:nvPr/>
        </p:nvSpPr>
        <p:spPr>
          <a:xfrm>
            <a:off x="8881399" y="3714846"/>
            <a:ext cx="426026" cy="0"/>
          </a:xfrm>
          <a:prstGeom prst="line">
            <a:avLst/>
          </a:prstGeom>
          <a:noFill/>
          <a:ln w="22860">
            <a:solidFill>
              <a:srgbClr val="009E73"/>
            </a:solidFill>
            <a:prstDash val="solid"/>
            <a:tailEnd type="triangle"/>
          </a:ln>
        </p:spPr>
      </p:sp>
      <p:sp>
        <p:nvSpPr>
          <p:cNvPr id="11" name="Shape 9"/>
          <p:cNvSpPr/>
          <p:nvPr/>
        </p:nvSpPr>
        <p:spPr>
          <a:xfrm>
            <a:off x="885227" y="3213464"/>
            <a:ext cx="1679524" cy="1002764"/>
          </a:xfrm>
          <a:prstGeom prst="rect">
            <a:avLst/>
          </a:prstGeom>
          <a:solidFill>
            <a:srgbClr val="E5F7EF"/>
          </a:solidFill>
          <a:ln w="15240">
            <a:solidFill>
              <a:srgbClr val="009E73"/>
            </a:solidFill>
            <a:prstDash val="solid"/>
          </a:ln>
        </p:spPr>
      </p:sp>
      <p:sp>
        <p:nvSpPr>
          <p:cNvPr id="12" name="Shape 10"/>
          <p:cNvSpPr/>
          <p:nvPr/>
        </p:nvSpPr>
        <p:spPr>
          <a:xfrm>
            <a:off x="2990777" y="3213464"/>
            <a:ext cx="1679524" cy="1002764"/>
          </a:xfrm>
          <a:prstGeom prst="rect">
            <a:avLst/>
          </a:prstGeom>
          <a:solidFill>
            <a:srgbClr val="E5F7EF"/>
          </a:solidFill>
          <a:ln w="15240">
            <a:solidFill>
              <a:srgbClr val="009E73"/>
            </a:solidFill>
            <a:prstDash val="solid"/>
          </a:ln>
        </p:spPr>
      </p:sp>
      <p:sp>
        <p:nvSpPr>
          <p:cNvPr id="13" name="Shape 11"/>
          <p:cNvSpPr/>
          <p:nvPr/>
        </p:nvSpPr>
        <p:spPr>
          <a:xfrm>
            <a:off x="5096326" y="3213464"/>
            <a:ext cx="1679524" cy="1002764"/>
          </a:xfrm>
          <a:prstGeom prst="rect">
            <a:avLst/>
          </a:prstGeom>
          <a:solidFill>
            <a:srgbClr val="E5F7EF"/>
          </a:solidFill>
          <a:ln w="15240">
            <a:solidFill>
              <a:srgbClr val="009E73"/>
            </a:solidFill>
            <a:prstDash val="solid"/>
          </a:ln>
        </p:spPr>
      </p:sp>
      <p:sp>
        <p:nvSpPr>
          <p:cNvPr id="14" name="Shape 12"/>
          <p:cNvSpPr/>
          <p:nvPr/>
        </p:nvSpPr>
        <p:spPr>
          <a:xfrm>
            <a:off x="7201875" y="3213464"/>
            <a:ext cx="1679524" cy="1002764"/>
          </a:xfrm>
          <a:prstGeom prst="rect">
            <a:avLst/>
          </a:prstGeom>
          <a:solidFill>
            <a:srgbClr val="E5F7EF"/>
          </a:solidFill>
          <a:ln w="15240">
            <a:solidFill>
              <a:srgbClr val="009E73"/>
            </a:solidFill>
            <a:prstDash val="solid"/>
          </a:ln>
        </p:spPr>
      </p:sp>
      <p:sp>
        <p:nvSpPr>
          <p:cNvPr id="15" name="Shape 13"/>
          <p:cNvSpPr/>
          <p:nvPr/>
        </p:nvSpPr>
        <p:spPr>
          <a:xfrm>
            <a:off x="9307425" y="3213464"/>
            <a:ext cx="1679524" cy="1002764"/>
          </a:xfrm>
          <a:prstGeom prst="roundRect">
            <a:avLst>
              <a:gd name="adj" fmla="val 7295"/>
            </a:avLst>
          </a:prstGeom>
          <a:solidFill>
            <a:srgbClr val="F9EAF4"/>
          </a:solidFill>
          <a:ln w="15240">
            <a:solidFill>
              <a:srgbClr val="CC79A7"/>
            </a:solidFill>
            <a:prstDash val="solid"/>
          </a:ln>
        </p:spPr>
      </p:sp>
      <p:sp>
        <p:nvSpPr>
          <p:cNvPr id="16" name="Shape 14"/>
          <p:cNvSpPr/>
          <p:nvPr/>
        </p:nvSpPr>
        <p:spPr>
          <a:xfrm>
            <a:off x="893420" y="5363391"/>
            <a:ext cx="196627" cy="176487"/>
          </a:xfrm>
          <a:prstGeom prst="rect">
            <a:avLst/>
          </a:prstGeom>
          <a:solidFill>
            <a:srgbClr val="E5F7EF"/>
          </a:solidFill>
          <a:ln w="15240">
            <a:solidFill>
              <a:srgbClr val="009E73"/>
            </a:solidFill>
            <a:prstDash val="solid"/>
          </a:ln>
        </p:spPr>
      </p:sp>
      <p:sp>
        <p:nvSpPr>
          <p:cNvPr id="17" name="Shape 15"/>
          <p:cNvSpPr/>
          <p:nvPr/>
        </p:nvSpPr>
        <p:spPr>
          <a:xfrm>
            <a:off x="2286196" y="5363391"/>
            <a:ext cx="196627" cy="176487"/>
          </a:xfrm>
          <a:prstGeom prst="roundRect">
            <a:avLst>
              <a:gd name="adj" fmla="val 41449"/>
            </a:avLst>
          </a:prstGeom>
          <a:solidFill>
            <a:srgbClr val="F9EAF4"/>
          </a:solidFill>
          <a:ln w="15240">
            <a:solidFill>
              <a:srgbClr val="CC79A7"/>
            </a:solidFill>
            <a:prstDash val="solid"/>
          </a:ln>
        </p:spPr>
      </p:sp>
      <p:sp>
        <p:nvSpPr>
          <p:cNvPr id="18" name="Text 16"/>
          <p:cNvSpPr txBox="1"/>
          <p:nvPr/>
        </p:nvSpPr>
        <p:spPr>
          <a:xfrm>
            <a:off x="970356" y="3591101"/>
            <a:ext cx="150926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Project Q/K/V</a:t>
            </a:r>
            <a:endParaRPr lang="en-US" sz="1680" dirty="0"/>
          </a:p>
        </p:txBody>
      </p:sp>
      <p:sp>
        <p:nvSpPr>
          <p:cNvPr id="19" name="Text 17"/>
          <p:cNvSpPr txBox="1"/>
          <p:nvPr/>
        </p:nvSpPr>
        <p:spPr>
          <a:xfrm>
            <a:off x="3195149" y="3591101"/>
            <a:ext cx="1270780"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Split heads</a:t>
            </a:r>
            <a:endParaRPr lang="en-US" sz="1680" dirty="0"/>
          </a:p>
        </p:txBody>
      </p:sp>
      <p:sp>
        <p:nvSpPr>
          <p:cNvPr id="20" name="Text 18"/>
          <p:cNvSpPr txBox="1"/>
          <p:nvPr/>
        </p:nvSpPr>
        <p:spPr>
          <a:xfrm>
            <a:off x="2470132" y="2879996"/>
            <a:ext cx="615265" cy="233741"/>
          </a:xfrm>
          <a:prstGeom prst="rect">
            <a:avLst/>
          </a:prstGeom>
          <a:noFill/>
          <a:ln/>
        </p:spPr>
        <p:txBody>
          <a:bodyPr wrap="square" lIns="0" tIns="0" rIns="0" bIns="0" rtlCol="0" anchor="ctr"/>
          <a:lstStyle/>
          <a:p>
            <a:pPr algn="ctr" indent="0" marL="0">
              <a:lnSpc>
                <a:spcPct val="116000"/>
              </a:lnSpc>
              <a:buNone/>
            </a:pPr>
            <a:r>
              <a:rPr lang="en-US" sz="1587" dirty="0">
                <a:solidFill>
                  <a:srgbClr val="0072B2"/>
                </a:solidFill>
                <a:latin typeface="Arial" pitchFamily="34" charset="0"/>
                <a:ea typeface="Arial" pitchFamily="34" charset="-122"/>
                <a:cs typeface="Arial" pitchFamily="34" charset="-120"/>
              </a:rPr>
              <a:t>[T,3d]</a:t>
            </a:r>
            <a:endParaRPr lang="en-US" sz="1587" dirty="0"/>
          </a:p>
        </p:txBody>
      </p:sp>
      <p:sp>
        <p:nvSpPr>
          <p:cNvPr id="21" name="Text 19"/>
          <p:cNvSpPr txBox="1"/>
          <p:nvPr/>
        </p:nvSpPr>
        <p:spPr>
          <a:xfrm>
            <a:off x="5543602" y="3591101"/>
            <a:ext cx="784973"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Attend</a:t>
            </a:r>
            <a:endParaRPr lang="en-US" sz="1680" dirty="0"/>
          </a:p>
        </p:txBody>
      </p:sp>
      <p:sp>
        <p:nvSpPr>
          <p:cNvPr id="22" name="Text 20"/>
          <p:cNvSpPr txBox="1"/>
          <p:nvPr/>
        </p:nvSpPr>
        <p:spPr>
          <a:xfrm>
            <a:off x="4456437" y="2879996"/>
            <a:ext cx="853752" cy="233741"/>
          </a:xfrm>
          <a:prstGeom prst="rect">
            <a:avLst/>
          </a:prstGeom>
          <a:noFill/>
          <a:ln/>
        </p:spPr>
        <p:txBody>
          <a:bodyPr wrap="square" lIns="0" tIns="0" rIns="0" bIns="0" rtlCol="0" anchor="ctr"/>
          <a:lstStyle/>
          <a:p>
            <a:pPr algn="ctr" indent="0" marL="0">
              <a:lnSpc>
                <a:spcPct val="116000"/>
              </a:lnSpc>
              <a:buNone/>
            </a:pPr>
            <a:r>
              <a:rPr lang="en-US" sz="1587" dirty="0">
                <a:solidFill>
                  <a:srgbClr val="0072B2"/>
                </a:solidFill>
                <a:latin typeface="Arial" pitchFamily="34" charset="0"/>
                <a:ea typeface="Arial" pitchFamily="34" charset="-122"/>
                <a:cs typeface="Arial" pitchFamily="34" charset="-120"/>
              </a:rPr>
              <a:t>[h,T,d/h]</a:t>
            </a:r>
            <a:endParaRPr lang="en-US" sz="1587" dirty="0"/>
          </a:p>
        </p:txBody>
      </p:sp>
      <p:sp>
        <p:nvSpPr>
          <p:cNvPr id="23" name="Text 21"/>
          <p:cNvSpPr txBox="1"/>
          <p:nvPr/>
        </p:nvSpPr>
        <p:spPr>
          <a:xfrm>
            <a:off x="7238423" y="3591101"/>
            <a:ext cx="1606429"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Merge outputs</a:t>
            </a:r>
            <a:endParaRPr lang="en-US" sz="1680" dirty="0"/>
          </a:p>
        </p:txBody>
      </p:sp>
      <p:sp>
        <p:nvSpPr>
          <p:cNvPr id="24" name="Text 22"/>
          <p:cNvSpPr txBox="1"/>
          <p:nvPr/>
        </p:nvSpPr>
        <p:spPr>
          <a:xfrm>
            <a:off x="6561987" y="2879996"/>
            <a:ext cx="853752" cy="233741"/>
          </a:xfrm>
          <a:prstGeom prst="rect">
            <a:avLst/>
          </a:prstGeom>
          <a:noFill/>
          <a:ln/>
        </p:spPr>
        <p:txBody>
          <a:bodyPr wrap="square" lIns="0" tIns="0" rIns="0" bIns="0" rtlCol="0" anchor="ctr"/>
          <a:lstStyle/>
          <a:p>
            <a:pPr algn="ctr" indent="0" marL="0">
              <a:lnSpc>
                <a:spcPct val="116000"/>
              </a:lnSpc>
              <a:buNone/>
            </a:pPr>
            <a:r>
              <a:rPr lang="en-US" sz="1587" dirty="0">
                <a:solidFill>
                  <a:srgbClr val="0072B2"/>
                </a:solidFill>
                <a:latin typeface="Arial" pitchFamily="34" charset="0"/>
                <a:ea typeface="Arial" pitchFamily="34" charset="-122"/>
                <a:cs typeface="Arial" pitchFamily="34" charset="-120"/>
              </a:rPr>
              <a:t>[h,T,d/h]</a:t>
            </a:r>
            <a:endParaRPr lang="en-US" sz="1587" dirty="0"/>
          </a:p>
        </p:txBody>
      </p:sp>
      <p:sp>
        <p:nvSpPr>
          <p:cNvPr id="25" name="Text 23"/>
          <p:cNvSpPr txBox="1"/>
          <p:nvPr/>
        </p:nvSpPr>
        <p:spPr>
          <a:xfrm>
            <a:off x="9357222" y="3591101"/>
            <a:ext cx="1579930"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Project output</a:t>
            </a:r>
            <a:endParaRPr lang="en-US" sz="1680" dirty="0"/>
          </a:p>
        </p:txBody>
      </p:sp>
      <p:sp>
        <p:nvSpPr>
          <p:cNvPr id="26" name="Text 24"/>
          <p:cNvSpPr txBox="1"/>
          <p:nvPr/>
        </p:nvSpPr>
        <p:spPr>
          <a:xfrm>
            <a:off x="8844193" y="2879996"/>
            <a:ext cx="500437" cy="233741"/>
          </a:xfrm>
          <a:prstGeom prst="rect">
            <a:avLst/>
          </a:prstGeom>
          <a:noFill/>
          <a:ln/>
        </p:spPr>
        <p:txBody>
          <a:bodyPr wrap="square" lIns="0" tIns="0" rIns="0" bIns="0" rtlCol="0" anchor="ctr"/>
          <a:lstStyle/>
          <a:p>
            <a:pPr algn="ctr" indent="0" marL="0">
              <a:lnSpc>
                <a:spcPct val="116000"/>
              </a:lnSpc>
              <a:buNone/>
            </a:pPr>
            <a:r>
              <a:rPr lang="en-US" sz="1587" dirty="0">
                <a:solidFill>
                  <a:srgbClr val="0072B2"/>
                </a:solidFill>
                <a:latin typeface="Arial" pitchFamily="34" charset="0"/>
                <a:ea typeface="Arial" pitchFamily="34" charset="-122"/>
                <a:cs typeface="Arial" pitchFamily="34" charset="-120"/>
              </a:rPr>
              <a:t>[T,d]</a:t>
            </a:r>
            <a:endParaRPr lang="en-US" sz="1587" dirty="0"/>
          </a:p>
        </p:txBody>
      </p:sp>
      <p:sp>
        <p:nvSpPr>
          <p:cNvPr id="27" name="Text 25"/>
          <p:cNvSpPr txBox="1"/>
          <p:nvPr/>
        </p:nvSpPr>
        <p:spPr>
          <a:xfrm>
            <a:off x="852456" y="2242845"/>
            <a:ext cx="2938527" cy="288739"/>
          </a:xfrm>
          <a:prstGeom prst="rect">
            <a:avLst/>
          </a:prstGeom>
          <a:noFill/>
          <a:ln/>
        </p:spPr>
        <p:txBody>
          <a:bodyPr wrap="square" lIns="0" tIns="0" rIns="0" bIns="0" rtlCol="0" anchor="ctr"/>
          <a:lstStyle/>
          <a:p>
            <a:pPr algn="l" indent="0" marL="0">
              <a:lnSpc>
                <a:spcPct val="116000"/>
              </a:lnSpc>
              <a:buNone/>
            </a:pPr>
            <a:r>
              <a:rPr lang="en-US" sz="1960" dirty="0">
                <a:solidFill>
                  <a:srgbClr val="1E1B4B"/>
                </a:solidFill>
                <a:latin typeface="Arial" pitchFamily="34" charset="0"/>
                <a:ea typeface="Arial" pitchFamily="34" charset="-122"/>
                <a:cs typeface="Arial" pitchFamily="34" charset="-120"/>
              </a:rPr>
              <a:t>Several learned mixtures</a:t>
            </a:r>
            <a:endParaRPr lang="en-US" sz="1960" dirty="0"/>
          </a:p>
        </p:txBody>
      </p:sp>
      <p:sp>
        <p:nvSpPr>
          <p:cNvPr id="28" name="Text 26"/>
          <p:cNvSpPr txBox="1"/>
          <p:nvPr/>
        </p:nvSpPr>
        <p:spPr>
          <a:xfrm>
            <a:off x="934384" y="4610507"/>
            <a:ext cx="423862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Illustration: d=12; h=3; four features/head.</a:t>
            </a:r>
            <a:endParaRPr lang="en-US" sz="1680" dirty="0"/>
          </a:p>
        </p:txBody>
      </p:sp>
      <p:sp>
        <p:nvSpPr>
          <p:cNvPr id="29" name="Text 27"/>
          <p:cNvSpPr txBox="1"/>
          <p:nvPr/>
        </p:nvSpPr>
        <p:spPr>
          <a:xfrm>
            <a:off x="1171975" y="5327889"/>
            <a:ext cx="705477"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Model</a:t>
            </a:r>
            <a:endParaRPr lang="en-US" sz="1680" dirty="0"/>
          </a:p>
        </p:txBody>
      </p:sp>
      <p:sp>
        <p:nvSpPr>
          <p:cNvPr id="30" name="Text 28"/>
          <p:cNvSpPr txBox="1"/>
          <p:nvPr/>
        </p:nvSpPr>
        <p:spPr>
          <a:xfrm>
            <a:off x="2564751" y="5327889"/>
            <a:ext cx="758474"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Output</a:t>
            </a:r>
            <a:endParaRPr lang="en-US" sz="1680" dirty="0"/>
          </a:p>
        </p:txBody>
      </p:sp>
      <p:sp>
        <p:nvSpPr>
          <p:cNvPr id="31" name="Text 29"/>
          <p:cNvSpPr txBox="1"/>
          <p:nvPr/>
        </p:nvSpPr>
        <p:spPr>
          <a:xfrm>
            <a:off x="4088612" y="5327889"/>
            <a:ext cx="56415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Flow</a:t>
            </a:r>
            <a:endParaRPr lang="en-US" sz="16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Multi-head attention, formally</a:t>
            </a:r>
            <a:endParaRPr lang="en-US" sz="3200" dirty="0"/>
          </a:p>
        </p:txBody>
      </p:sp>
      <p:sp>
        <p:nvSpPr>
          <p:cNvPr id="6" name="Shape 4"/>
          <p:cNvSpPr/>
          <p:nvPr/>
        </p:nvSpPr>
        <p:spPr>
          <a:xfrm>
            <a:off x="548640" y="1481328"/>
            <a:ext cx="11094415" cy="2194560"/>
          </a:xfrm>
          <a:prstGeom prst="roundRect">
            <a:avLst>
              <a:gd name="adj" fmla="val 5000"/>
            </a:avLst>
          </a:prstGeom>
          <a:solidFill>
            <a:srgbClr val="EEF0FF"/>
          </a:solidFill>
          <a:ln w="12700">
            <a:solidFill>
              <a:srgbClr val="EEF0FF"/>
            </a:solidFill>
            <a:prstDash val="solid"/>
          </a:ln>
        </p:spPr>
      </p:sp>
      <p:pic>
        <p:nvPicPr>
          <p:cNvPr id="7" name="Image 0" descr="C:\Users\sudee\Downloads\Generative_AI_2027_Teaching_Pack\AI2027_Project\build\eq\91d5130f14a026c8.png">    </p:cNvPr>
          <p:cNvPicPr>
            <a:picLocks noChangeAspect="1"/>
          </p:cNvPicPr>
          <p:nvPr/>
        </p:nvPicPr>
        <p:blipFill>
          <a:blip r:embed="rId1"/>
          <a:stretch>
            <a:fillRect/>
          </a:stretch>
        </p:blipFill>
        <p:spPr>
          <a:xfrm>
            <a:off x="3561436" y="1937512"/>
            <a:ext cx="5068824" cy="518160"/>
          </a:xfrm>
          <a:prstGeom prst="rect">
            <a:avLst/>
          </a:prstGeom>
        </p:spPr>
      </p:pic>
      <p:pic>
        <p:nvPicPr>
          <p:cNvPr id="8" name="Image 1" descr="C:\Users\sudee\Downloads\Generative_AI_2027_Teaching_Pack\AI2027_Project\build\eq\838ab61962350874.png">    </p:cNvPr>
          <p:cNvPicPr>
            <a:picLocks noChangeAspect="1"/>
          </p:cNvPicPr>
          <p:nvPr/>
        </p:nvPicPr>
        <p:blipFill>
          <a:blip r:embed="rId2"/>
          <a:stretch>
            <a:fillRect/>
          </a:stretch>
        </p:blipFill>
        <p:spPr>
          <a:xfrm>
            <a:off x="3282544" y="2866136"/>
            <a:ext cx="5626608" cy="353568"/>
          </a:xfrm>
          <a:prstGeom prst="rect">
            <a:avLst/>
          </a:prstGeom>
        </p:spPr>
      </p:pic>
      <p:sp>
        <p:nvSpPr>
          <p:cNvPr id="9" name="Text 5"/>
          <p:cNvSpPr txBox="1"/>
          <p:nvPr/>
        </p:nvSpPr>
        <p:spPr>
          <a:xfrm>
            <a:off x="548640" y="390448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10" name="Text 6"/>
          <p:cNvSpPr txBox="1"/>
          <p:nvPr/>
        </p:nvSpPr>
        <p:spPr>
          <a:xfrm>
            <a:off x="548640" y="4288536"/>
            <a:ext cx="6035040" cy="199339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Run smaller heads; join outputs; mix features.</a:t>
            </a:r>
            <a:endParaRPr lang="en-US" sz="2000" dirty="0"/>
          </a:p>
        </p:txBody>
      </p:sp>
      <p:sp>
        <p:nvSpPr>
          <p:cNvPr id="11" name="Text 7"/>
          <p:cNvSpPr txBox="1"/>
          <p:nvPr/>
        </p:nvSpPr>
        <p:spPr>
          <a:xfrm>
            <a:off x="6858000" y="390448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2" name="Text 8"/>
          <p:cNvSpPr txBox="1"/>
          <p:nvPr/>
        </p:nvSpPr>
        <p:spPr>
          <a:xfrm>
            <a:off x="6858000" y="4315968"/>
            <a:ext cx="1143000" cy="664464"/>
          </a:xfrm>
          <a:prstGeom prst="rect">
            <a:avLst/>
          </a:prstGeom>
          <a:noFill/>
          <a:ln/>
        </p:spPr>
        <p:txBody>
          <a:bodyPr wrap="square" lIns="50800" tIns="50800" rIns="50800" bIns="50800" rtlCol="0" anchor="ctr"/>
          <a:lstStyle/>
          <a:p>
            <a:pPr indent="0" marL="0">
              <a:buNone/>
            </a:pPr>
            <a:r>
              <a:rPr lang="en-US" sz="1700" b="1" dirty="0">
                <a:solidFill>
                  <a:srgbClr val="1E1B4B"/>
                </a:solidFill>
                <a:latin typeface="Cambria Math" pitchFamily="34" charset="0"/>
                <a:ea typeface="Cambria Math" pitchFamily="34" charset="-122"/>
                <a:cs typeface="Cambria Math" pitchFamily="34" charset="-120"/>
              </a:rPr>
              <a:t>X</a:t>
            </a:r>
            <a:endParaRPr lang="en-US" sz="1700" dirty="0"/>
          </a:p>
        </p:txBody>
      </p:sp>
      <p:sp>
        <p:nvSpPr>
          <p:cNvPr id="13" name="Text 9"/>
          <p:cNvSpPr txBox="1"/>
          <p:nvPr/>
        </p:nvSpPr>
        <p:spPr>
          <a:xfrm>
            <a:off x="8046720" y="4315968"/>
            <a:ext cx="3596335" cy="664464"/>
          </a:xfrm>
          <a:prstGeom prst="rect">
            <a:avLst/>
          </a:prstGeom>
          <a:noFill/>
          <a:ln/>
        </p:spPr>
        <p:txBody>
          <a:bodyPr wrap="square" lIns="50800" tIns="50800" rIns="50800" bIns="5080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input vectors</a:t>
            </a:r>
            <a:endParaRPr lang="en-US" sz="1600" dirty="0"/>
          </a:p>
        </p:txBody>
      </p:sp>
      <p:sp>
        <p:nvSpPr>
          <p:cNvPr id="14" name="Text 10"/>
          <p:cNvSpPr txBox="1"/>
          <p:nvPr/>
        </p:nvSpPr>
        <p:spPr>
          <a:xfrm>
            <a:off x="6858000" y="4980432"/>
            <a:ext cx="1143000" cy="664464"/>
          </a:xfrm>
          <a:prstGeom prst="rect">
            <a:avLst/>
          </a:prstGeom>
          <a:noFill/>
          <a:ln/>
        </p:spPr>
        <p:txBody>
          <a:bodyPr wrap="square" lIns="50800" tIns="50800" rIns="50800" bIns="50800" rtlCol="0" anchor="ctr"/>
          <a:lstStyle/>
          <a:p>
            <a:pPr indent="0" marL="0">
              <a:buNone/>
            </a:pPr>
            <a:r>
              <a:rPr lang="en-US" sz="1700" b="1" dirty="0">
                <a:solidFill>
                  <a:srgbClr val="1E1B4B"/>
                </a:solidFill>
                <a:latin typeface="Cambria Math" pitchFamily="34" charset="0"/>
                <a:ea typeface="Cambria Math" pitchFamily="34" charset="-122"/>
                <a:cs typeface="Cambria Math" pitchFamily="34" charset="-120"/>
              </a:rPr>
              <a:t>i / h</a:t>
            </a:r>
            <a:endParaRPr lang="en-US" sz="1700" dirty="0"/>
          </a:p>
        </p:txBody>
      </p:sp>
      <p:sp>
        <p:nvSpPr>
          <p:cNvPr id="15" name="Text 11"/>
          <p:cNvSpPr txBox="1"/>
          <p:nvPr/>
        </p:nvSpPr>
        <p:spPr>
          <a:xfrm>
            <a:off x="8046720" y="4980432"/>
            <a:ext cx="3596335" cy="664464"/>
          </a:xfrm>
          <a:prstGeom prst="rect">
            <a:avLst/>
          </a:prstGeom>
          <a:noFill/>
          <a:ln/>
        </p:spPr>
        <p:txBody>
          <a:bodyPr wrap="square" lIns="50800" tIns="50800" rIns="50800" bIns="5080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head index / count</a:t>
            </a:r>
            <a:endParaRPr lang="en-US" sz="1600" dirty="0"/>
          </a:p>
        </p:txBody>
      </p:sp>
      <p:sp>
        <p:nvSpPr>
          <p:cNvPr id="16" name="Text 12"/>
          <p:cNvSpPr txBox="1"/>
          <p:nvPr/>
        </p:nvSpPr>
        <p:spPr>
          <a:xfrm>
            <a:off x="6858000" y="5644896"/>
            <a:ext cx="1143000" cy="664464"/>
          </a:xfrm>
          <a:prstGeom prst="rect">
            <a:avLst/>
          </a:prstGeom>
          <a:noFill/>
          <a:ln/>
        </p:spPr>
        <p:txBody>
          <a:bodyPr wrap="square" lIns="50800" tIns="50800" rIns="50800" bIns="50800" rtlCol="0" anchor="ctr"/>
          <a:lstStyle/>
          <a:p>
            <a:pPr indent="0" marL="0">
              <a:buNone/>
            </a:pPr>
            <a:r>
              <a:rPr lang="en-US" sz="1700" b="1" dirty="0">
                <a:solidFill>
                  <a:srgbClr val="1E1B4B"/>
                </a:solidFill>
                <a:latin typeface="Cambria Math" pitchFamily="34" charset="0"/>
                <a:ea typeface="Cambria Math" pitchFamily="34" charset="-122"/>
                <a:cs typeface="Cambria Math" pitchFamily="34" charset="-120"/>
              </a:rPr>
              <a:t>W</a:t>
            </a:r>
            <a:endParaRPr lang="en-US" sz="1700" dirty="0"/>
          </a:p>
        </p:txBody>
      </p:sp>
      <p:sp>
        <p:nvSpPr>
          <p:cNvPr id="17" name="Text 13"/>
          <p:cNvSpPr txBox="1"/>
          <p:nvPr/>
        </p:nvSpPr>
        <p:spPr>
          <a:xfrm>
            <a:off x="8046720" y="5644896"/>
            <a:ext cx="3596335" cy="664464"/>
          </a:xfrm>
          <a:prstGeom prst="rect">
            <a:avLst/>
          </a:prstGeom>
          <a:noFill/>
          <a:ln/>
        </p:spPr>
        <p:txBody>
          <a:bodyPr wrap="square" lIns="50800" tIns="50800" rIns="50800" bIns="5080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learned projection; subscript names its role</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Causal masking: no peeking at the future</a:t>
            </a:r>
            <a:endParaRPr lang="en-US" sz="3200" dirty="0"/>
          </a:p>
        </p:txBody>
      </p:sp>
      <p:pic>
        <p:nvPicPr>
          <p:cNvPr id="6" name="Image 0" descr="C:\Users\sudee\Downloads\Generative_AI_2027_Teaching_Pack\AI2027_Project\build\figures\week_05\causal_mask.png">    </p:cNvPr>
          <p:cNvPicPr>
            <a:picLocks noChangeAspect="1"/>
          </p:cNvPicPr>
          <p:nvPr/>
        </p:nvPicPr>
        <p:blipFill>
          <a:blip r:embed="rId1"/>
          <a:stretch>
            <a:fillRect/>
          </a:stretch>
        </p:blipFill>
        <p:spPr>
          <a:xfrm>
            <a:off x="548640" y="1752046"/>
            <a:ext cx="11094415" cy="428659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Self-attention vs. cross-attention</a:t>
            </a:r>
            <a:endParaRPr lang="en-US" sz="3200" dirty="0"/>
          </a:p>
        </p:txBody>
      </p:sp>
      <p:sp>
        <p:nvSpPr>
          <p:cNvPr id="6" name="Shape 4"/>
          <p:cNvSpPr/>
          <p:nvPr/>
        </p:nvSpPr>
        <p:spPr>
          <a:xfrm>
            <a:off x="548640" y="1481328"/>
            <a:ext cx="5410048" cy="566928"/>
          </a:xfrm>
          <a:prstGeom prst="roundRect">
            <a:avLst>
              <a:gd name="adj" fmla="val 16129"/>
            </a:avLst>
          </a:prstGeom>
          <a:solidFill>
            <a:srgbClr val="4F46E5"/>
          </a:solidFill>
          <a:ln w="12700">
            <a:solidFill>
              <a:srgbClr val="4F46E5"/>
            </a:solidFill>
            <a:prstDash val="solid"/>
          </a:ln>
        </p:spPr>
      </p:sp>
      <p:sp>
        <p:nvSpPr>
          <p:cNvPr id="7" name="Text 5"/>
          <p:cNvSpPr txBox="1"/>
          <p:nvPr/>
        </p:nvSpPr>
        <p:spPr>
          <a:xfrm>
            <a:off x="731520"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Self-attention</a:t>
            </a:r>
            <a:endParaRPr lang="en-US" sz="1800" dirty="0"/>
          </a:p>
        </p:txBody>
      </p:sp>
      <p:sp>
        <p:nvSpPr>
          <p:cNvPr id="8" name="Shape 6"/>
          <p:cNvSpPr/>
          <p:nvPr/>
        </p:nvSpPr>
        <p:spPr>
          <a:xfrm>
            <a:off x="548640" y="2167128"/>
            <a:ext cx="5410048" cy="4142232"/>
          </a:xfrm>
          <a:prstGeom prst="roundRect">
            <a:avLst>
              <a:gd name="adj" fmla="val 2208"/>
            </a:avLst>
          </a:prstGeom>
          <a:solidFill>
            <a:srgbClr val="EEF0FF"/>
          </a:solidFill>
          <a:ln w="12700">
            <a:solidFill>
              <a:srgbClr val="EEF0FF"/>
            </a:solidFill>
            <a:prstDash val="solid"/>
          </a:ln>
        </p:spPr>
      </p:sp>
      <p:sp>
        <p:nvSpPr>
          <p:cNvPr id="9" name="Text 7"/>
          <p:cNvSpPr txBox="1"/>
          <p:nvPr/>
        </p:nvSpPr>
        <p:spPr>
          <a:xfrm>
            <a:off x="658368" y="2258568"/>
            <a:ext cx="519059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Q/K/V: same sequence.</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Scores: [T,T].</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Example: sentence context.</a:t>
            </a:r>
            <a:endParaRPr lang="en-US" sz="2400" dirty="0"/>
          </a:p>
        </p:txBody>
      </p:sp>
      <p:sp>
        <p:nvSpPr>
          <p:cNvPr id="10" name="Shape 8"/>
          <p:cNvSpPr/>
          <p:nvPr/>
        </p:nvSpPr>
        <p:spPr>
          <a:xfrm>
            <a:off x="6233008" y="1481328"/>
            <a:ext cx="5410048" cy="566928"/>
          </a:xfrm>
          <a:prstGeom prst="roundRect">
            <a:avLst>
              <a:gd name="adj" fmla="val 16129"/>
            </a:avLst>
          </a:prstGeom>
          <a:solidFill>
            <a:srgbClr val="0F766E"/>
          </a:solidFill>
          <a:ln w="12700">
            <a:solidFill>
              <a:srgbClr val="0F766E"/>
            </a:solidFill>
            <a:prstDash val="solid"/>
          </a:ln>
        </p:spPr>
      </p:sp>
      <p:sp>
        <p:nvSpPr>
          <p:cNvPr id="11" name="Text 9"/>
          <p:cNvSpPr txBox="1"/>
          <p:nvPr/>
        </p:nvSpPr>
        <p:spPr>
          <a:xfrm>
            <a:off x="6415888"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Cross-attention</a:t>
            </a:r>
            <a:endParaRPr lang="en-US" sz="1800" dirty="0"/>
          </a:p>
        </p:txBody>
      </p:sp>
      <p:sp>
        <p:nvSpPr>
          <p:cNvPr id="12" name="Shape 10"/>
          <p:cNvSpPr/>
          <p:nvPr/>
        </p:nvSpPr>
        <p:spPr>
          <a:xfrm>
            <a:off x="6233008" y="2167128"/>
            <a:ext cx="5410048" cy="4142232"/>
          </a:xfrm>
          <a:prstGeom prst="roundRect">
            <a:avLst>
              <a:gd name="adj" fmla="val 2208"/>
            </a:avLst>
          </a:prstGeom>
          <a:solidFill>
            <a:srgbClr val="E6F4F1"/>
          </a:solidFill>
          <a:ln w="12700">
            <a:solidFill>
              <a:srgbClr val="E6F4F1"/>
            </a:solidFill>
            <a:prstDash val="solid"/>
          </a:ln>
        </p:spPr>
      </p:sp>
      <p:sp>
        <p:nvSpPr>
          <p:cNvPr id="13" name="Text 11"/>
          <p:cNvSpPr txBox="1"/>
          <p:nvPr/>
        </p:nvSpPr>
        <p:spPr>
          <a:xfrm>
            <a:off x="6342736" y="2258568"/>
            <a:ext cx="519059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Q: target; K/V: source.</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Scores: [T,S].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Example: translation or prompt-reading.</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 real BERT head: inspecting 'it'</a:t>
            </a:r>
            <a:endParaRPr lang="en-US" sz="3200" dirty="0"/>
          </a:p>
        </p:txBody>
      </p:sp>
      <p:pic>
        <p:nvPicPr>
          <p:cNvPr id="6" name="Image 0" descr="C:\Users\sudee\Downloads\Generative_AI_2027_Teaching_Pack\AI2027_Project\build\figures\week_05\bert_summary.png">    </p:cNvPr>
          <p:cNvPicPr>
            <a:picLocks noChangeAspect="1"/>
          </p:cNvPicPr>
          <p:nvPr/>
        </p:nvPicPr>
        <p:blipFill>
          <a:blip r:embed="rId1"/>
          <a:stretch>
            <a:fillRect/>
          </a:stretch>
        </p:blipFill>
        <p:spPr>
          <a:xfrm>
            <a:off x="548640" y="2061652"/>
            <a:ext cx="11094415" cy="366738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Measured GPT-2 heads: no weight on later tokens</a:t>
            </a:r>
            <a:endParaRPr lang="en-US" sz="3200" dirty="0"/>
          </a:p>
        </p:txBody>
      </p:sp>
      <p:pic>
        <p:nvPicPr>
          <p:cNvPr id="6" name="Image 0" descr="C:\Users\sudee\Downloads\Generative_AI_2027_Teaching_Pack\AI2027_Project\build\figures\week_05\gpt2_causal_summary.png">    </p:cNvPr>
          <p:cNvPicPr>
            <a:picLocks noChangeAspect="1"/>
          </p:cNvPicPr>
          <p:nvPr/>
        </p:nvPicPr>
        <p:blipFill>
          <a:blip r:embed="rId1"/>
          <a:stretch>
            <a:fillRect/>
          </a:stretch>
        </p:blipFill>
        <p:spPr>
          <a:xfrm>
            <a:off x="1542928" y="1481328"/>
            <a:ext cx="9105839" cy="482803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Scaled scores [2,0,0]: softmax weights?</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[1.00,0.00,0.00]</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[0.67,0.17,0.17]</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[0.50,0.25,0.25]</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[0.79,0.11,0.11]</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04</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The transformer architecture</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What happens around the attention operation?</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Inside one transformer block</a:t>
            </a:r>
            <a:endParaRPr lang="en-US" sz="3200" dirty="0"/>
          </a:p>
        </p:txBody>
      </p:sp>
      <p:sp>
        <p:nvSpPr>
          <p:cNvPr id="6" name="Shape 4"/>
          <p:cNvSpPr/>
          <p:nvPr/>
        </p:nvSpPr>
        <p:spPr>
          <a:xfrm flipV="1">
            <a:off x="1466916" y="2732137"/>
            <a:ext cx="0" cy="601659"/>
          </a:xfrm>
          <a:prstGeom prst="line">
            <a:avLst/>
          </a:prstGeom>
          <a:noFill/>
          <a:ln w="22860">
            <a:solidFill>
              <a:srgbClr val="0072B2"/>
            </a:solidFill>
            <a:prstDash val="solid"/>
          </a:ln>
        </p:spPr>
      </p:sp>
      <p:sp>
        <p:nvSpPr>
          <p:cNvPr id="7" name="Shape 5"/>
          <p:cNvSpPr/>
          <p:nvPr/>
        </p:nvSpPr>
        <p:spPr>
          <a:xfrm>
            <a:off x="1466916" y="2732137"/>
            <a:ext cx="4547003" cy="0"/>
          </a:xfrm>
          <a:prstGeom prst="line">
            <a:avLst/>
          </a:prstGeom>
          <a:noFill/>
          <a:ln w="22860">
            <a:solidFill>
              <a:srgbClr val="0072B2"/>
            </a:solidFill>
            <a:prstDash val="solid"/>
          </a:ln>
        </p:spPr>
      </p:sp>
      <p:sp>
        <p:nvSpPr>
          <p:cNvPr id="8" name="Shape 6"/>
          <p:cNvSpPr/>
          <p:nvPr/>
        </p:nvSpPr>
        <p:spPr>
          <a:xfrm>
            <a:off x="6013920" y="4216229"/>
            <a:ext cx="0" cy="681880"/>
          </a:xfrm>
          <a:prstGeom prst="line">
            <a:avLst/>
          </a:prstGeom>
          <a:noFill/>
          <a:ln w="22860">
            <a:solidFill>
              <a:srgbClr val="0072B2"/>
            </a:solidFill>
            <a:prstDash val="solid"/>
          </a:ln>
        </p:spPr>
      </p:sp>
      <p:sp>
        <p:nvSpPr>
          <p:cNvPr id="9" name="Shape 7"/>
          <p:cNvSpPr/>
          <p:nvPr/>
        </p:nvSpPr>
        <p:spPr>
          <a:xfrm>
            <a:off x="6013920" y="4898108"/>
            <a:ext cx="4547003" cy="0"/>
          </a:xfrm>
          <a:prstGeom prst="line">
            <a:avLst/>
          </a:prstGeom>
          <a:noFill/>
          <a:ln w="22860">
            <a:solidFill>
              <a:srgbClr val="0072B2"/>
            </a:solidFill>
            <a:prstDash val="solid"/>
          </a:ln>
        </p:spPr>
      </p:sp>
      <p:sp>
        <p:nvSpPr>
          <p:cNvPr id="10" name="Shape 8"/>
          <p:cNvSpPr/>
          <p:nvPr/>
        </p:nvSpPr>
        <p:spPr>
          <a:xfrm>
            <a:off x="3678972" y="5612077"/>
            <a:ext cx="327712" cy="0"/>
          </a:xfrm>
          <a:prstGeom prst="line">
            <a:avLst/>
          </a:prstGeom>
          <a:noFill/>
          <a:ln w="22860">
            <a:solidFill>
              <a:srgbClr val="009E73"/>
            </a:solidFill>
            <a:prstDash val="solid"/>
          </a:ln>
        </p:spPr>
      </p:sp>
      <p:sp>
        <p:nvSpPr>
          <p:cNvPr id="11" name="Shape 9"/>
          <p:cNvSpPr/>
          <p:nvPr/>
        </p:nvSpPr>
        <p:spPr>
          <a:xfrm>
            <a:off x="2081376" y="3775012"/>
            <a:ext cx="286748" cy="0"/>
          </a:xfrm>
          <a:prstGeom prst="line">
            <a:avLst/>
          </a:prstGeom>
          <a:noFill/>
          <a:ln w="22860">
            <a:solidFill>
              <a:srgbClr val="009E73"/>
            </a:solidFill>
            <a:prstDash val="solid"/>
            <a:tailEnd type="triangle"/>
          </a:ln>
        </p:spPr>
      </p:sp>
      <p:sp>
        <p:nvSpPr>
          <p:cNvPr id="12" name="Shape 10"/>
          <p:cNvSpPr/>
          <p:nvPr/>
        </p:nvSpPr>
        <p:spPr>
          <a:xfrm>
            <a:off x="3597044" y="3775012"/>
            <a:ext cx="286748" cy="0"/>
          </a:xfrm>
          <a:prstGeom prst="line">
            <a:avLst/>
          </a:prstGeom>
          <a:noFill/>
          <a:ln w="22860">
            <a:solidFill>
              <a:srgbClr val="009E73"/>
            </a:solidFill>
            <a:prstDash val="solid"/>
            <a:tailEnd type="triangle"/>
          </a:ln>
        </p:spPr>
      </p:sp>
      <p:sp>
        <p:nvSpPr>
          <p:cNvPr id="13" name="Shape 11"/>
          <p:cNvSpPr/>
          <p:nvPr/>
        </p:nvSpPr>
        <p:spPr>
          <a:xfrm>
            <a:off x="5112712" y="3775012"/>
            <a:ext cx="286748" cy="0"/>
          </a:xfrm>
          <a:prstGeom prst="line">
            <a:avLst/>
          </a:prstGeom>
          <a:noFill/>
          <a:ln w="22860">
            <a:solidFill>
              <a:srgbClr val="009E73"/>
            </a:solidFill>
            <a:prstDash val="solid"/>
            <a:tailEnd type="triangle"/>
          </a:ln>
        </p:spPr>
      </p:sp>
      <p:sp>
        <p:nvSpPr>
          <p:cNvPr id="14" name="Shape 12"/>
          <p:cNvSpPr/>
          <p:nvPr/>
        </p:nvSpPr>
        <p:spPr>
          <a:xfrm>
            <a:off x="6628380" y="3775012"/>
            <a:ext cx="286748" cy="0"/>
          </a:xfrm>
          <a:prstGeom prst="line">
            <a:avLst/>
          </a:prstGeom>
          <a:noFill/>
          <a:ln w="22860">
            <a:solidFill>
              <a:srgbClr val="009E73"/>
            </a:solidFill>
            <a:prstDash val="solid"/>
            <a:tailEnd type="triangle"/>
          </a:ln>
        </p:spPr>
      </p:sp>
      <p:sp>
        <p:nvSpPr>
          <p:cNvPr id="15" name="Shape 13"/>
          <p:cNvSpPr/>
          <p:nvPr/>
        </p:nvSpPr>
        <p:spPr>
          <a:xfrm>
            <a:off x="8144047" y="3775012"/>
            <a:ext cx="286748" cy="0"/>
          </a:xfrm>
          <a:prstGeom prst="line">
            <a:avLst/>
          </a:prstGeom>
          <a:noFill/>
          <a:ln w="22860">
            <a:solidFill>
              <a:srgbClr val="009E73"/>
            </a:solidFill>
            <a:prstDash val="solid"/>
            <a:tailEnd type="triangle"/>
          </a:ln>
        </p:spPr>
      </p:sp>
      <p:sp>
        <p:nvSpPr>
          <p:cNvPr id="16" name="Shape 14"/>
          <p:cNvSpPr/>
          <p:nvPr/>
        </p:nvSpPr>
        <p:spPr>
          <a:xfrm>
            <a:off x="9659715" y="3775012"/>
            <a:ext cx="286748" cy="0"/>
          </a:xfrm>
          <a:prstGeom prst="line">
            <a:avLst/>
          </a:prstGeom>
          <a:noFill/>
          <a:ln w="22860">
            <a:solidFill>
              <a:srgbClr val="009E73"/>
            </a:solidFill>
            <a:prstDash val="solid"/>
            <a:tailEnd type="triangle"/>
          </a:ln>
        </p:spPr>
      </p:sp>
      <p:sp>
        <p:nvSpPr>
          <p:cNvPr id="17" name="Shape 15"/>
          <p:cNvSpPr/>
          <p:nvPr/>
        </p:nvSpPr>
        <p:spPr>
          <a:xfrm>
            <a:off x="6013920" y="2732137"/>
            <a:ext cx="0" cy="601659"/>
          </a:xfrm>
          <a:prstGeom prst="line">
            <a:avLst/>
          </a:prstGeom>
          <a:noFill/>
          <a:ln w="22860">
            <a:solidFill>
              <a:srgbClr val="0072B2"/>
            </a:solidFill>
            <a:prstDash val="solid"/>
            <a:tailEnd type="triangle"/>
          </a:ln>
        </p:spPr>
      </p:sp>
      <p:sp>
        <p:nvSpPr>
          <p:cNvPr id="18" name="Shape 16"/>
          <p:cNvSpPr/>
          <p:nvPr/>
        </p:nvSpPr>
        <p:spPr>
          <a:xfrm flipV="1">
            <a:off x="10560923" y="4216229"/>
            <a:ext cx="0" cy="681880"/>
          </a:xfrm>
          <a:prstGeom prst="line">
            <a:avLst/>
          </a:prstGeom>
          <a:noFill/>
          <a:ln w="22860">
            <a:solidFill>
              <a:srgbClr val="0072B2"/>
            </a:solidFill>
            <a:prstDash val="solid"/>
            <a:tailEnd type="triangle"/>
          </a:ln>
        </p:spPr>
      </p:sp>
      <p:sp>
        <p:nvSpPr>
          <p:cNvPr id="19" name="Shape 17"/>
          <p:cNvSpPr/>
          <p:nvPr/>
        </p:nvSpPr>
        <p:spPr>
          <a:xfrm>
            <a:off x="852456" y="3333796"/>
            <a:ext cx="1228920" cy="882433"/>
          </a:xfrm>
          <a:prstGeom prst="roundRect">
            <a:avLst>
              <a:gd name="adj" fmla="val 8290"/>
            </a:avLst>
          </a:prstGeom>
          <a:solidFill>
            <a:srgbClr val="E4F2FB"/>
          </a:solidFill>
          <a:ln w="15240">
            <a:solidFill>
              <a:srgbClr val="0072B2"/>
            </a:solidFill>
            <a:prstDash val="solid"/>
          </a:ln>
        </p:spPr>
      </p:sp>
      <p:sp>
        <p:nvSpPr>
          <p:cNvPr id="20" name="Shape 18"/>
          <p:cNvSpPr/>
          <p:nvPr/>
        </p:nvSpPr>
        <p:spPr>
          <a:xfrm>
            <a:off x="2368124" y="3333796"/>
            <a:ext cx="1228920" cy="882433"/>
          </a:xfrm>
          <a:prstGeom prst="rect">
            <a:avLst/>
          </a:prstGeom>
          <a:solidFill>
            <a:srgbClr val="E5F7EF"/>
          </a:solidFill>
          <a:ln w="15240">
            <a:solidFill>
              <a:srgbClr val="009E73"/>
            </a:solidFill>
            <a:prstDash val="solid"/>
          </a:ln>
        </p:spPr>
      </p:sp>
      <p:sp>
        <p:nvSpPr>
          <p:cNvPr id="21" name="Shape 19"/>
          <p:cNvSpPr/>
          <p:nvPr/>
        </p:nvSpPr>
        <p:spPr>
          <a:xfrm>
            <a:off x="3883792" y="3333796"/>
            <a:ext cx="1228920" cy="882433"/>
          </a:xfrm>
          <a:prstGeom prst="rect">
            <a:avLst/>
          </a:prstGeom>
          <a:solidFill>
            <a:srgbClr val="E5F7EF"/>
          </a:solidFill>
          <a:ln w="15240">
            <a:solidFill>
              <a:srgbClr val="009E73"/>
            </a:solidFill>
            <a:prstDash val="solid"/>
          </a:ln>
        </p:spPr>
      </p:sp>
      <p:sp>
        <p:nvSpPr>
          <p:cNvPr id="22" name="Shape 20"/>
          <p:cNvSpPr/>
          <p:nvPr/>
        </p:nvSpPr>
        <p:spPr>
          <a:xfrm>
            <a:off x="5399460" y="3333796"/>
            <a:ext cx="1228920" cy="882433"/>
          </a:xfrm>
          <a:prstGeom prst="rect">
            <a:avLst/>
          </a:prstGeom>
          <a:solidFill>
            <a:srgbClr val="E5F7EF"/>
          </a:solidFill>
          <a:ln w="15240">
            <a:solidFill>
              <a:srgbClr val="009E73"/>
            </a:solidFill>
            <a:prstDash val="solid"/>
          </a:ln>
        </p:spPr>
      </p:sp>
      <p:sp>
        <p:nvSpPr>
          <p:cNvPr id="23" name="Shape 21"/>
          <p:cNvSpPr/>
          <p:nvPr/>
        </p:nvSpPr>
        <p:spPr>
          <a:xfrm>
            <a:off x="6915127" y="3333796"/>
            <a:ext cx="1228920" cy="882433"/>
          </a:xfrm>
          <a:prstGeom prst="rect">
            <a:avLst/>
          </a:prstGeom>
          <a:solidFill>
            <a:srgbClr val="E5F7EF"/>
          </a:solidFill>
          <a:ln w="15240">
            <a:solidFill>
              <a:srgbClr val="009E73"/>
            </a:solidFill>
            <a:prstDash val="solid"/>
          </a:ln>
        </p:spPr>
      </p:sp>
      <p:sp>
        <p:nvSpPr>
          <p:cNvPr id="24" name="Shape 22"/>
          <p:cNvSpPr/>
          <p:nvPr/>
        </p:nvSpPr>
        <p:spPr>
          <a:xfrm>
            <a:off x="8430795" y="3333796"/>
            <a:ext cx="1228920" cy="882433"/>
          </a:xfrm>
          <a:prstGeom prst="rect">
            <a:avLst/>
          </a:prstGeom>
          <a:solidFill>
            <a:srgbClr val="E5F7EF"/>
          </a:solidFill>
          <a:ln w="15240">
            <a:solidFill>
              <a:srgbClr val="009E73"/>
            </a:solidFill>
            <a:prstDash val="solid"/>
          </a:ln>
        </p:spPr>
      </p:sp>
      <p:sp>
        <p:nvSpPr>
          <p:cNvPr id="25" name="Shape 23"/>
          <p:cNvSpPr/>
          <p:nvPr/>
        </p:nvSpPr>
        <p:spPr>
          <a:xfrm>
            <a:off x="9946463" y="3333796"/>
            <a:ext cx="1228920" cy="882433"/>
          </a:xfrm>
          <a:prstGeom prst="rect">
            <a:avLst/>
          </a:prstGeom>
          <a:solidFill>
            <a:srgbClr val="E5F7EF"/>
          </a:solidFill>
          <a:ln w="15240">
            <a:solidFill>
              <a:srgbClr val="009E73"/>
            </a:solidFill>
            <a:prstDash val="solid"/>
          </a:ln>
        </p:spPr>
      </p:sp>
      <p:sp>
        <p:nvSpPr>
          <p:cNvPr id="26" name="Shape 24"/>
          <p:cNvSpPr/>
          <p:nvPr/>
        </p:nvSpPr>
        <p:spPr>
          <a:xfrm>
            <a:off x="893420" y="5523833"/>
            <a:ext cx="196627" cy="176487"/>
          </a:xfrm>
          <a:prstGeom prst="roundRect">
            <a:avLst>
              <a:gd name="adj" fmla="val 41449"/>
            </a:avLst>
          </a:prstGeom>
          <a:solidFill>
            <a:srgbClr val="E4F2FB"/>
          </a:solidFill>
          <a:ln w="15240">
            <a:solidFill>
              <a:srgbClr val="0072B2"/>
            </a:solidFill>
            <a:prstDash val="solid"/>
          </a:ln>
        </p:spPr>
      </p:sp>
      <p:sp>
        <p:nvSpPr>
          <p:cNvPr id="27" name="Shape 25"/>
          <p:cNvSpPr/>
          <p:nvPr/>
        </p:nvSpPr>
        <p:spPr>
          <a:xfrm>
            <a:off x="2286196" y="5523833"/>
            <a:ext cx="196627" cy="176487"/>
          </a:xfrm>
          <a:prstGeom prst="rect">
            <a:avLst/>
          </a:prstGeom>
          <a:solidFill>
            <a:srgbClr val="E5F7EF"/>
          </a:solidFill>
          <a:ln w="15240">
            <a:solidFill>
              <a:srgbClr val="009E73"/>
            </a:solidFill>
            <a:prstDash val="solid"/>
          </a:ln>
        </p:spPr>
      </p:sp>
      <p:sp>
        <p:nvSpPr>
          <p:cNvPr id="28" name="Text 26"/>
          <p:cNvSpPr txBox="1"/>
          <p:nvPr/>
        </p:nvSpPr>
        <p:spPr>
          <a:xfrm>
            <a:off x="1061181" y="3651267"/>
            <a:ext cx="811471"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Input x</a:t>
            </a:r>
            <a:endParaRPr lang="en-US" sz="1680" dirty="0"/>
          </a:p>
        </p:txBody>
      </p:sp>
      <p:sp>
        <p:nvSpPr>
          <p:cNvPr id="29" name="Text 27"/>
          <p:cNvSpPr txBox="1"/>
          <p:nvPr/>
        </p:nvSpPr>
        <p:spPr>
          <a:xfrm>
            <a:off x="2400191" y="3651267"/>
            <a:ext cx="1164786"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Normalise</a:t>
            </a:r>
            <a:endParaRPr lang="en-US" sz="1680" dirty="0"/>
          </a:p>
        </p:txBody>
      </p:sp>
      <p:sp>
        <p:nvSpPr>
          <p:cNvPr id="30" name="Text 28"/>
          <p:cNvSpPr txBox="1"/>
          <p:nvPr/>
        </p:nvSpPr>
        <p:spPr>
          <a:xfrm>
            <a:off x="4105766" y="3651267"/>
            <a:ext cx="784973"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Attend</a:t>
            </a:r>
            <a:endParaRPr lang="en-US" sz="1680" dirty="0"/>
          </a:p>
        </p:txBody>
      </p:sp>
      <p:sp>
        <p:nvSpPr>
          <p:cNvPr id="31" name="Text 29"/>
          <p:cNvSpPr txBox="1"/>
          <p:nvPr/>
        </p:nvSpPr>
        <p:spPr>
          <a:xfrm>
            <a:off x="5753926" y="3651267"/>
            <a:ext cx="51998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Add</a:t>
            </a:r>
            <a:endParaRPr lang="en-US" sz="1680" dirty="0"/>
          </a:p>
        </p:txBody>
      </p:sp>
      <p:sp>
        <p:nvSpPr>
          <p:cNvPr id="32" name="Text 30"/>
          <p:cNvSpPr txBox="1"/>
          <p:nvPr/>
        </p:nvSpPr>
        <p:spPr>
          <a:xfrm>
            <a:off x="6947195" y="3651267"/>
            <a:ext cx="1164786"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Normalise</a:t>
            </a:r>
            <a:endParaRPr lang="en-US" sz="1680" dirty="0"/>
          </a:p>
        </p:txBody>
      </p:sp>
      <p:sp>
        <p:nvSpPr>
          <p:cNvPr id="33" name="Text 31"/>
          <p:cNvSpPr txBox="1"/>
          <p:nvPr/>
        </p:nvSpPr>
        <p:spPr>
          <a:xfrm>
            <a:off x="8763180" y="3651267"/>
            <a:ext cx="564151"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MLP</a:t>
            </a:r>
            <a:endParaRPr lang="en-US" sz="1680" dirty="0"/>
          </a:p>
        </p:txBody>
      </p:sp>
      <p:sp>
        <p:nvSpPr>
          <p:cNvPr id="34" name="Text 32"/>
          <p:cNvSpPr txBox="1"/>
          <p:nvPr/>
        </p:nvSpPr>
        <p:spPr>
          <a:xfrm>
            <a:off x="10300930" y="3651267"/>
            <a:ext cx="51998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Add</a:t>
            </a:r>
            <a:endParaRPr lang="en-US" sz="1680" dirty="0"/>
          </a:p>
        </p:txBody>
      </p:sp>
      <p:sp>
        <p:nvSpPr>
          <p:cNvPr id="35" name="Text 33"/>
          <p:cNvSpPr txBox="1"/>
          <p:nvPr/>
        </p:nvSpPr>
        <p:spPr>
          <a:xfrm>
            <a:off x="1968138" y="2885752"/>
            <a:ext cx="513224"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[T,d]</a:t>
            </a:r>
            <a:endParaRPr lang="en-US" sz="1680" dirty="0"/>
          </a:p>
        </p:txBody>
      </p:sp>
      <p:sp>
        <p:nvSpPr>
          <p:cNvPr id="36" name="Text 34"/>
          <p:cNvSpPr txBox="1"/>
          <p:nvPr/>
        </p:nvSpPr>
        <p:spPr>
          <a:xfrm>
            <a:off x="3483806" y="2885752"/>
            <a:ext cx="513224"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[T,d]</a:t>
            </a:r>
            <a:endParaRPr lang="en-US" sz="1680" dirty="0"/>
          </a:p>
        </p:txBody>
      </p:sp>
      <p:sp>
        <p:nvSpPr>
          <p:cNvPr id="37" name="Text 35"/>
          <p:cNvSpPr txBox="1"/>
          <p:nvPr/>
        </p:nvSpPr>
        <p:spPr>
          <a:xfrm>
            <a:off x="4999474" y="2885752"/>
            <a:ext cx="513224"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[T,d]</a:t>
            </a:r>
            <a:endParaRPr lang="en-US" sz="1680" dirty="0"/>
          </a:p>
        </p:txBody>
      </p:sp>
      <p:sp>
        <p:nvSpPr>
          <p:cNvPr id="38" name="Text 36"/>
          <p:cNvSpPr txBox="1"/>
          <p:nvPr/>
        </p:nvSpPr>
        <p:spPr>
          <a:xfrm>
            <a:off x="6515141" y="2885752"/>
            <a:ext cx="513224"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[T,d]</a:t>
            </a:r>
            <a:endParaRPr lang="en-US" sz="1680" dirty="0"/>
          </a:p>
        </p:txBody>
      </p:sp>
      <p:sp>
        <p:nvSpPr>
          <p:cNvPr id="39" name="Text 37"/>
          <p:cNvSpPr txBox="1"/>
          <p:nvPr/>
        </p:nvSpPr>
        <p:spPr>
          <a:xfrm>
            <a:off x="8030809" y="2885752"/>
            <a:ext cx="513224"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[T,d]</a:t>
            </a:r>
            <a:endParaRPr lang="en-US" sz="1680" dirty="0"/>
          </a:p>
        </p:txBody>
      </p:sp>
      <p:sp>
        <p:nvSpPr>
          <p:cNvPr id="40" name="Text 38"/>
          <p:cNvSpPr txBox="1"/>
          <p:nvPr/>
        </p:nvSpPr>
        <p:spPr>
          <a:xfrm>
            <a:off x="9546477" y="2885752"/>
            <a:ext cx="513224"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[T,d]</a:t>
            </a:r>
            <a:endParaRPr lang="en-US" sz="1680" dirty="0"/>
          </a:p>
        </p:txBody>
      </p:sp>
      <p:sp>
        <p:nvSpPr>
          <p:cNvPr id="41" name="Text 39"/>
          <p:cNvSpPr txBox="1"/>
          <p:nvPr/>
        </p:nvSpPr>
        <p:spPr>
          <a:xfrm>
            <a:off x="2981933" y="2608392"/>
            <a:ext cx="1476006"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residual x[T,d]</a:t>
            </a:r>
            <a:endParaRPr lang="en-US" sz="1680" dirty="0"/>
          </a:p>
        </p:txBody>
      </p:sp>
      <p:sp>
        <p:nvSpPr>
          <p:cNvPr id="42" name="Text 40"/>
          <p:cNvSpPr txBox="1"/>
          <p:nvPr/>
        </p:nvSpPr>
        <p:spPr>
          <a:xfrm>
            <a:off x="7565484" y="4774363"/>
            <a:ext cx="1484839"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residual h[T,d]</a:t>
            </a:r>
            <a:endParaRPr lang="en-US" sz="1680" dirty="0"/>
          </a:p>
        </p:txBody>
      </p:sp>
      <p:sp>
        <p:nvSpPr>
          <p:cNvPr id="43" name="Text 41"/>
          <p:cNvSpPr txBox="1"/>
          <p:nvPr/>
        </p:nvSpPr>
        <p:spPr>
          <a:xfrm>
            <a:off x="852456" y="2042292"/>
            <a:ext cx="3300674" cy="288739"/>
          </a:xfrm>
          <a:prstGeom prst="rect">
            <a:avLst/>
          </a:prstGeom>
          <a:noFill/>
          <a:ln/>
        </p:spPr>
        <p:txBody>
          <a:bodyPr wrap="square" lIns="0" tIns="0" rIns="0" bIns="0" rtlCol="0" anchor="ctr"/>
          <a:lstStyle/>
          <a:p>
            <a:pPr algn="l" indent="0" marL="0">
              <a:lnSpc>
                <a:spcPct val="116000"/>
              </a:lnSpc>
              <a:buNone/>
            </a:pPr>
            <a:r>
              <a:rPr lang="en-US" sz="1960" dirty="0">
                <a:solidFill>
                  <a:srgbClr val="1E1B4B"/>
                </a:solidFill>
                <a:latin typeface="Arial" pitchFamily="34" charset="0"/>
                <a:ea typeface="Arial" pitchFamily="34" charset="-122"/>
                <a:cs typeface="Arial" pitchFamily="34" charset="-120"/>
              </a:rPr>
              <a:t>Pre-norm; residual additions</a:t>
            </a:r>
            <a:endParaRPr lang="en-US" sz="1960" dirty="0"/>
          </a:p>
        </p:txBody>
      </p:sp>
      <p:sp>
        <p:nvSpPr>
          <p:cNvPr id="44" name="Text 42"/>
          <p:cNvSpPr txBox="1"/>
          <p:nvPr/>
        </p:nvSpPr>
        <p:spPr>
          <a:xfrm>
            <a:off x="934384" y="5051723"/>
            <a:ext cx="2309055"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MLP acts per position.</a:t>
            </a:r>
            <a:endParaRPr lang="en-US" sz="1680" dirty="0"/>
          </a:p>
        </p:txBody>
      </p:sp>
      <p:sp>
        <p:nvSpPr>
          <p:cNvPr id="45" name="Text 43"/>
          <p:cNvSpPr txBox="1"/>
          <p:nvPr/>
        </p:nvSpPr>
        <p:spPr>
          <a:xfrm>
            <a:off x="1171975" y="5488331"/>
            <a:ext cx="56415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Data</a:t>
            </a:r>
            <a:endParaRPr lang="en-US" sz="1680" dirty="0"/>
          </a:p>
        </p:txBody>
      </p:sp>
      <p:sp>
        <p:nvSpPr>
          <p:cNvPr id="46" name="Text 44"/>
          <p:cNvSpPr txBox="1"/>
          <p:nvPr/>
        </p:nvSpPr>
        <p:spPr>
          <a:xfrm>
            <a:off x="2564751" y="5488331"/>
            <a:ext cx="705477"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Model</a:t>
            </a:r>
            <a:endParaRPr lang="en-US" sz="1680" dirty="0"/>
          </a:p>
        </p:txBody>
      </p:sp>
      <p:sp>
        <p:nvSpPr>
          <p:cNvPr id="47" name="Text 45"/>
          <p:cNvSpPr txBox="1"/>
          <p:nvPr/>
        </p:nvSpPr>
        <p:spPr>
          <a:xfrm>
            <a:off x="4088612" y="5488331"/>
            <a:ext cx="56415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Flow</a:t>
            </a:r>
            <a:endParaRPr lang="en-US" sz="168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Three families of transformers</a:t>
            </a:r>
            <a:endParaRPr lang="en-US" sz="3200" dirty="0"/>
          </a:p>
        </p:txBody>
      </p:sp>
      <p:sp>
        <p:nvSpPr>
          <p:cNvPr id="6" name="Shape 4"/>
          <p:cNvSpPr/>
          <p:nvPr/>
        </p:nvSpPr>
        <p:spPr>
          <a:xfrm>
            <a:off x="8724603" y="3996949"/>
            <a:ext cx="0" cy="257399"/>
          </a:xfrm>
          <a:prstGeom prst="line">
            <a:avLst/>
          </a:prstGeom>
          <a:noFill/>
          <a:ln w="22860">
            <a:solidFill>
              <a:srgbClr val="D55E00"/>
            </a:solidFill>
            <a:prstDash val="dash"/>
          </a:ln>
        </p:spPr>
      </p:sp>
      <p:sp>
        <p:nvSpPr>
          <p:cNvPr id="7" name="Shape 5"/>
          <p:cNvSpPr/>
          <p:nvPr/>
        </p:nvSpPr>
        <p:spPr>
          <a:xfrm flipH="1">
            <a:off x="4989003" y="4254348"/>
            <a:ext cx="3735600" cy="0"/>
          </a:xfrm>
          <a:prstGeom prst="line">
            <a:avLst/>
          </a:prstGeom>
          <a:noFill/>
          <a:ln w="22860">
            <a:solidFill>
              <a:srgbClr val="D55E00"/>
            </a:solidFill>
            <a:prstDash val="dash"/>
          </a:ln>
        </p:spPr>
      </p:sp>
      <p:sp>
        <p:nvSpPr>
          <p:cNvPr id="8" name="Shape 6"/>
          <p:cNvSpPr/>
          <p:nvPr/>
        </p:nvSpPr>
        <p:spPr>
          <a:xfrm>
            <a:off x="2879081" y="6056141"/>
            <a:ext cx="276711" cy="0"/>
          </a:xfrm>
          <a:prstGeom prst="line">
            <a:avLst/>
          </a:prstGeom>
          <a:noFill/>
          <a:ln w="22860">
            <a:solidFill>
              <a:srgbClr val="009E73"/>
            </a:solidFill>
            <a:prstDash val="solid"/>
          </a:ln>
        </p:spPr>
      </p:sp>
      <p:sp>
        <p:nvSpPr>
          <p:cNvPr id="9" name="Shape 7"/>
          <p:cNvSpPr/>
          <p:nvPr/>
        </p:nvSpPr>
        <p:spPr>
          <a:xfrm>
            <a:off x="4262637" y="6056141"/>
            <a:ext cx="276711" cy="0"/>
          </a:xfrm>
          <a:prstGeom prst="line">
            <a:avLst/>
          </a:prstGeom>
          <a:noFill/>
          <a:ln w="22860">
            <a:solidFill>
              <a:srgbClr val="D55E00"/>
            </a:solidFill>
            <a:prstDash val="dash"/>
          </a:ln>
        </p:spPr>
      </p:sp>
      <p:sp>
        <p:nvSpPr>
          <p:cNvPr id="10" name="Shape 8"/>
          <p:cNvSpPr/>
          <p:nvPr/>
        </p:nvSpPr>
        <p:spPr>
          <a:xfrm>
            <a:off x="3674626" y="2269666"/>
            <a:ext cx="345889" cy="0"/>
          </a:xfrm>
          <a:prstGeom prst="line">
            <a:avLst/>
          </a:prstGeom>
          <a:noFill/>
          <a:ln w="22860">
            <a:solidFill>
              <a:srgbClr val="0072B2"/>
            </a:solidFill>
            <a:prstDash val="solid"/>
            <a:tailEnd type="triangle"/>
          </a:ln>
        </p:spPr>
      </p:sp>
      <p:sp>
        <p:nvSpPr>
          <p:cNvPr id="11" name="Shape 9"/>
          <p:cNvSpPr/>
          <p:nvPr/>
        </p:nvSpPr>
        <p:spPr>
          <a:xfrm>
            <a:off x="6303381" y="2269666"/>
            <a:ext cx="1176022" cy="0"/>
          </a:xfrm>
          <a:prstGeom prst="line">
            <a:avLst/>
          </a:prstGeom>
          <a:noFill/>
          <a:ln w="22860">
            <a:solidFill>
              <a:srgbClr val="009E73"/>
            </a:solidFill>
            <a:prstDash val="solid"/>
            <a:tailEnd type="triangle"/>
          </a:ln>
        </p:spPr>
      </p:sp>
      <p:sp>
        <p:nvSpPr>
          <p:cNvPr id="12" name="Shape 10"/>
          <p:cNvSpPr/>
          <p:nvPr/>
        </p:nvSpPr>
        <p:spPr>
          <a:xfrm>
            <a:off x="3674626" y="3658266"/>
            <a:ext cx="345889" cy="0"/>
          </a:xfrm>
          <a:prstGeom prst="line">
            <a:avLst/>
          </a:prstGeom>
          <a:noFill/>
          <a:ln w="22860">
            <a:solidFill>
              <a:srgbClr val="0072B2"/>
            </a:solidFill>
            <a:prstDash val="solid"/>
            <a:tailEnd type="triangle"/>
          </a:ln>
        </p:spPr>
      </p:sp>
      <p:sp>
        <p:nvSpPr>
          <p:cNvPr id="13" name="Shape 11"/>
          <p:cNvSpPr/>
          <p:nvPr/>
        </p:nvSpPr>
        <p:spPr>
          <a:xfrm>
            <a:off x="6303381" y="3658266"/>
            <a:ext cx="1176022" cy="0"/>
          </a:xfrm>
          <a:prstGeom prst="line">
            <a:avLst/>
          </a:prstGeom>
          <a:noFill/>
          <a:ln w="22860">
            <a:solidFill>
              <a:srgbClr val="009E73"/>
            </a:solidFill>
            <a:prstDash val="solid"/>
            <a:tailEnd type="triangle"/>
          </a:ln>
        </p:spPr>
      </p:sp>
      <p:sp>
        <p:nvSpPr>
          <p:cNvPr id="14" name="Shape 12"/>
          <p:cNvSpPr/>
          <p:nvPr/>
        </p:nvSpPr>
        <p:spPr>
          <a:xfrm flipV="1">
            <a:off x="4989003" y="3996949"/>
            <a:ext cx="0" cy="257399"/>
          </a:xfrm>
          <a:prstGeom prst="line">
            <a:avLst/>
          </a:prstGeom>
          <a:noFill/>
          <a:ln w="22860">
            <a:solidFill>
              <a:srgbClr val="D55E00"/>
            </a:solidFill>
            <a:prstDash val="dash"/>
            <a:tailEnd type="triangle"/>
          </a:ln>
        </p:spPr>
      </p:sp>
      <p:sp>
        <p:nvSpPr>
          <p:cNvPr id="15" name="Shape 13"/>
          <p:cNvSpPr/>
          <p:nvPr/>
        </p:nvSpPr>
        <p:spPr>
          <a:xfrm>
            <a:off x="3674626" y="5046866"/>
            <a:ext cx="345889" cy="0"/>
          </a:xfrm>
          <a:prstGeom prst="line">
            <a:avLst/>
          </a:prstGeom>
          <a:noFill/>
          <a:ln w="22860">
            <a:solidFill>
              <a:srgbClr val="0072B2"/>
            </a:solidFill>
            <a:prstDash val="solid"/>
            <a:tailEnd type="triangle"/>
          </a:ln>
        </p:spPr>
      </p:sp>
      <p:sp>
        <p:nvSpPr>
          <p:cNvPr id="16" name="Shape 14"/>
          <p:cNvSpPr/>
          <p:nvPr/>
        </p:nvSpPr>
        <p:spPr>
          <a:xfrm>
            <a:off x="6303381" y="5046866"/>
            <a:ext cx="1176022" cy="0"/>
          </a:xfrm>
          <a:prstGeom prst="line">
            <a:avLst/>
          </a:prstGeom>
          <a:noFill/>
          <a:ln w="22860">
            <a:solidFill>
              <a:srgbClr val="009E73"/>
            </a:solidFill>
            <a:prstDash val="solid"/>
            <a:tailEnd type="triangle"/>
          </a:ln>
        </p:spPr>
      </p:sp>
      <p:sp>
        <p:nvSpPr>
          <p:cNvPr id="17" name="Shape 15"/>
          <p:cNvSpPr/>
          <p:nvPr/>
        </p:nvSpPr>
        <p:spPr>
          <a:xfrm>
            <a:off x="4020514" y="1930984"/>
            <a:ext cx="2282866" cy="677366"/>
          </a:xfrm>
          <a:prstGeom prst="rect">
            <a:avLst/>
          </a:prstGeom>
          <a:solidFill>
            <a:srgbClr val="E5F7EF"/>
          </a:solidFill>
          <a:ln w="15240">
            <a:solidFill>
              <a:srgbClr val="009E73"/>
            </a:solidFill>
            <a:prstDash val="solid"/>
          </a:ln>
        </p:spPr>
      </p:sp>
      <p:sp>
        <p:nvSpPr>
          <p:cNvPr id="18" name="Shape 16"/>
          <p:cNvSpPr/>
          <p:nvPr/>
        </p:nvSpPr>
        <p:spPr>
          <a:xfrm>
            <a:off x="7479403" y="1930984"/>
            <a:ext cx="2490400" cy="677366"/>
          </a:xfrm>
          <a:prstGeom prst="rect">
            <a:avLst/>
          </a:prstGeom>
          <a:solidFill>
            <a:srgbClr val="E5F7EF"/>
          </a:solidFill>
          <a:ln w="15240">
            <a:solidFill>
              <a:srgbClr val="009E73"/>
            </a:solidFill>
            <a:prstDash val="solid"/>
          </a:ln>
        </p:spPr>
      </p:sp>
      <p:sp>
        <p:nvSpPr>
          <p:cNvPr id="19" name="Shape 17"/>
          <p:cNvSpPr/>
          <p:nvPr/>
        </p:nvSpPr>
        <p:spPr>
          <a:xfrm>
            <a:off x="4020514" y="3319583"/>
            <a:ext cx="2282866" cy="677366"/>
          </a:xfrm>
          <a:prstGeom prst="rect">
            <a:avLst/>
          </a:prstGeom>
          <a:solidFill>
            <a:srgbClr val="E5F7EF"/>
          </a:solidFill>
          <a:ln w="15240">
            <a:solidFill>
              <a:srgbClr val="009E73"/>
            </a:solidFill>
            <a:prstDash val="solid"/>
          </a:ln>
        </p:spPr>
      </p:sp>
      <p:sp>
        <p:nvSpPr>
          <p:cNvPr id="20" name="Shape 18"/>
          <p:cNvSpPr/>
          <p:nvPr/>
        </p:nvSpPr>
        <p:spPr>
          <a:xfrm>
            <a:off x="7479403" y="3319583"/>
            <a:ext cx="2490400" cy="677366"/>
          </a:xfrm>
          <a:prstGeom prst="rect">
            <a:avLst/>
          </a:prstGeom>
          <a:solidFill>
            <a:srgbClr val="E5F7EF"/>
          </a:solidFill>
          <a:ln w="15240">
            <a:solidFill>
              <a:srgbClr val="009E73"/>
            </a:solidFill>
            <a:prstDash val="solid"/>
          </a:ln>
        </p:spPr>
      </p:sp>
      <p:sp>
        <p:nvSpPr>
          <p:cNvPr id="21" name="Shape 19"/>
          <p:cNvSpPr/>
          <p:nvPr/>
        </p:nvSpPr>
        <p:spPr>
          <a:xfrm>
            <a:off x="4020514" y="4708183"/>
            <a:ext cx="2282866" cy="677366"/>
          </a:xfrm>
          <a:prstGeom prst="rect">
            <a:avLst/>
          </a:prstGeom>
          <a:solidFill>
            <a:srgbClr val="E5F7EF"/>
          </a:solidFill>
          <a:ln w="15240">
            <a:solidFill>
              <a:srgbClr val="009E73"/>
            </a:solidFill>
            <a:prstDash val="solid"/>
          </a:ln>
        </p:spPr>
      </p:sp>
      <p:sp>
        <p:nvSpPr>
          <p:cNvPr id="22" name="Shape 20"/>
          <p:cNvSpPr/>
          <p:nvPr/>
        </p:nvSpPr>
        <p:spPr>
          <a:xfrm>
            <a:off x="7479403" y="4708183"/>
            <a:ext cx="2490400" cy="677366"/>
          </a:xfrm>
          <a:prstGeom prst="rect">
            <a:avLst/>
          </a:prstGeom>
          <a:solidFill>
            <a:srgbClr val="E5F7EF"/>
          </a:solidFill>
          <a:ln w="15240">
            <a:solidFill>
              <a:srgbClr val="009E73"/>
            </a:solidFill>
            <a:prstDash val="solid"/>
          </a:ln>
        </p:spPr>
      </p:sp>
      <p:sp>
        <p:nvSpPr>
          <p:cNvPr id="23" name="Shape 21"/>
          <p:cNvSpPr/>
          <p:nvPr/>
        </p:nvSpPr>
        <p:spPr>
          <a:xfrm>
            <a:off x="1703059" y="5981630"/>
            <a:ext cx="166027" cy="149020"/>
          </a:xfrm>
          <a:prstGeom prst="rect">
            <a:avLst/>
          </a:prstGeom>
          <a:solidFill>
            <a:srgbClr val="E5F7EF"/>
          </a:solidFill>
          <a:ln w="15240">
            <a:solidFill>
              <a:srgbClr val="009E73"/>
            </a:solidFill>
            <a:prstDash val="solid"/>
          </a:ln>
        </p:spPr>
      </p:sp>
      <p:sp>
        <p:nvSpPr>
          <p:cNvPr id="24" name="Text 22"/>
          <p:cNvSpPr txBox="1"/>
          <p:nvPr/>
        </p:nvSpPr>
        <p:spPr>
          <a:xfrm>
            <a:off x="1668470" y="2165179"/>
            <a:ext cx="1382878" cy="208975"/>
          </a:xfrm>
          <a:prstGeom prst="rect">
            <a:avLst/>
          </a:prstGeom>
          <a:noFill/>
          <a:ln/>
        </p:spPr>
        <p:txBody>
          <a:bodyPr wrap="square" lIns="0" tIns="0" rIns="0" bIns="0" rtlCol="0" anchor="ctr"/>
          <a:lstStyle/>
          <a:p>
            <a:pPr algn="l" indent="0" marL="0">
              <a:lnSpc>
                <a:spcPct val="116000"/>
              </a:lnSpc>
              <a:buNone/>
            </a:pPr>
            <a:r>
              <a:rPr lang="en-US" sz="1419" dirty="0">
                <a:solidFill>
                  <a:srgbClr val="1E1B4B"/>
                </a:solidFill>
                <a:latin typeface="Arial" pitchFamily="34" charset="0"/>
                <a:ea typeface="Arial" pitchFamily="34" charset="-122"/>
                <a:cs typeface="Arial" pitchFamily="34" charset="-120"/>
              </a:rPr>
              <a:t>Encoder: BERT</a:t>
            </a:r>
            <a:endParaRPr lang="en-US" sz="1419" dirty="0"/>
          </a:p>
        </p:txBody>
      </p:sp>
      <p:sp>
        <p:nvSpPr>
          <p:cNvPr id="25" name="Text 23"/>
          <p:cNvSpPr txBox="1"/>
          <p:nvPr/>
        </p:nvSpPr>
        <p:spPr>
          <a:xfrm>
            <a:off x="4655275" y="2165179"/>
            <a:ext cx="1013346" cy="208975"/>
          </a:xfrm>
          <a:prstGeom prst="rect">
            <a:avLst/>
          </a:prstGeom>
          <a:noFill/>
          <a:ln/>
        </p:spPr>
        <p:txBody>
          <a:bodyPr wrap="square" lIns="0" tIns="0" rIns="0" bIns="0" rtlCol="0" anchor="ctr"/>
          <a:lstStyle/>
          <a:p>
            <a:pPr algn="ctr" indent="0" marL="0">
              <a:lnSpc>
                <a:spcPct val="116000"/>
              </a:lnSpc>
              <a:buNone/>
            </a:pPr>
            <a:r>
              <a:rPr lang="en-US" sz="1419" b="1" dirty="0">
                <a:solidFill>
                  <a:srgbClr val="1E1B4B"/>
                </a:solidFill>
                <a:latin typeface="Arial" pitchFamily="34" charset="0"/>
                <a:ea typeface="Arial" pitchFamily="34" charset="-122"/>
                <a:cs typeface="Arial" pitchFamily="34" charset="-120"/>
              </a:rPr>
              <a:t>Encode all</a:t>
            </a:r>
            <a:endParaRPr lang="en-US" sz="1419" dirty="0"/>
          </a:p>
        </p:txBody>
      </p:sp>
      <p:sp>
        <p:nvSpPr>
          <p:cNvPr id="26" name="Text 24"/>
          <p:cNvSpPr txBox="1"/>
          <p:nvPr/>
        </p:nvSpPr>
        <p:spPr>
          <a:xfrm>
            <a:off x="8102327" y="2165179"/>
            <a:ext cx="1244551" cy="208975"/>
          </a:xfrm>
          <a:prstGeom prst="rect">
            <a:avLst/>
          </a:prstGeom>
          <a:noFill/>
          <a:ln/>
        </p:spPr>
        <p:txBody>
          <a:bodyPr wrap="square" lIns="0" tIns="0" rIns="0" bIns="0" rtlCol="0" anchor="ctr"/>
          <a:lstStyle/>
          <a:p>
            <a:pPr algn="ctr" indent="0" marL="0">
              <a:lnSpc>
                <a:spcPct val="116000"/>
              </a:lnSpc>
              <a:buNone/>
            </a:pPr>
            <a:r>
              <a:rPr lang="en-US" sz="1419" b="1" dirty="0">
                <a:solidFill>
                  <a:srgbClr val="1E1B4B"/>
                </a:solidFill>
                <a:latin typeface="Arial" pitchFamily="34" charset="0"/>
                <a:ea typeface="Arial" pitchFamily="34" charset="-122"/>
                <a:cs typeface="Arial" pitchFamily="34" charset="-120"/>
              </a:rPr>
              <a:t>Select vector</a:t>
            </a:r>
            <a:endParaRPr lang="en-US" sz="1419" dirty="0"/>
          </a:p>
        </p:txBody>
      </p:sp>
      <p:sp>
        <p:nvSpPr>
          <p:cNvPr id="27" name="Text 25"/>
          <p:cNvSpPr txBox="1"/>
          <p:nvPr/>
        </p:nvSpPr>
        <p:spPr>
          <a:xfrm>
            <a:off x="3492385" y="1640725"/>
            <a:ext cx="364480" cy="208975"/>
          </a:xfrm>
          <a:prstGeom prst="rect">
            <a:avLst/>
          </a:prstGeom>
          <a:noFill/>
          <a:ln/>
        </p:spPr>
        <p:txBody>
          <a:bodyPr wrap="square" lIns="0" tIns="0" rIns="0" bIns="0" rtlCol="0" anchor="ctr"/>
          <a:lstStyle/>
          <a:p>
            <a:pPr algn="ctr" indent="0" marL="0">
              <a:lnSpc>
                <a:spcPct val="116000"/>
              </a:lnSpc>
              <a:buNone/>
            </a:pPr>
            <a:r>
              <a:rPr lang="en-US" sz="1419" dirty="0">
                <a:solidFill>
                  <a:srgbClr val="1F2937"/>
                </a:solidFill>
                <a:latin typeface="Arial" pitchFamily="34" charset="0"/>
                <a:ea typeface="Arial" pitchFamily="34" charset="-122"/>
                <a:cs typeface="Arial" pitchFamily="34" charset="-120"/>
              </a:rPr>
              <a:t>IDs</a:t>
            </a:r>
            <a:endParaRPr lang="en-US" sz="1419" dirty="0"/>
          </a:p>
        </p:txBody>
      </p:sp>
      <p:sp>
        <p:nvSpPr>
          <p:cNvPr id="28" name="Text 26"/>
          <p:cNvSpPr txBox="1"/>
          <p:nvPr/>
        </p:nvSpPr>
        <p:spPr>
          <a:xfrm>
            <a:off x="6545071" y="1640725"/>
            <a:ext cx="692642" cy="208975"/>
          </a:xfrm>
          <a:prstGeom prst="rect">
            <a:avLst/>
          </a:prstGeom>
          <a:noFill/>
          <a:ln/>
        </p:spPr>
        <p:txBody>
          <a:bodyPr wrap="square" lIns="0" tIns="0" rIns="0" bIns="0" rtlCol="0" anchor="ctr"/>
          <a:lstStyle/>
          <a:p>
            <a:pPr algn="ctr" indent="0" marL="0">
              <a:lnSpc>
                <a:spcPct val="116000"/>
              </a:lnSpc>
              <a:buNone/>
            </a:pPr>
            <a:r>
              <a:rPr lang="en-US" sz="1419" dirty="0">
                <a:solidFill>
                  <a:srgbClr val="1F2937"/>
                </a:solidFill>
                <a:latin typeface="Arial" pitchFamily="34" charset="0"/>
                <a:ea typeface="Arial" pitchFamily="34" charset="-122"/>
                <a:cs typeface="Arial" pitchFamily="34" charset="-120"/>
              </a:rPr>
              <a:t>vectors</a:t>
            </a:r>
            <a:endParaRPr lang="en-US" sz="1419" dirty="0"/>
          </a:p>
        </p:txBody>
      </p:sp>
      <p:sp>
        <p:nvSpPr>
          <p:cNvPr id="29" name="Text 27"/>
          <p:cNvSpPr txBox="1"/>
          <p:nvPr/>
        </p:nvSpPr>
        <p:spPr>
          <a:xfrm>
            <a:off x="1668470" y="3553779"/>
            <a:ext cx="1428210" cy="208975"/>
          </a:xfrm>
          <a:prstGeom prst="rect">
            <a:avLst/>
          </a:prstGeom>
          <a:noFill/>
          <a:ln/>
        </p:spPr>
        <p:txBody>
          <a:bodyPr wrap="square" lIns="0" tIns="0" rIns="0" bIns="0" rtlCol="0" anchor="ctr"/>
          <a:lstStyle/>
          <a:p>
            <a:pPr algn="l" indent="0" marL="0">
              <a:lnSpc>
                <a:spcPct val="116000"/>
              </a:lnSpc>
              <a:buNone/>
            </a:pPr>
            <a:r>
              <a:rPr lang="en-US" sz="1419" dirty="0">
                <a:solidFill>
                  <a:srgbClr val="1E1B4B"/>
                </a:solidFill>
                <a:latin typeface="Arial" pitchFamily="34" charset="0"/>
                <a:ea typeface="Arial" pitchFamily="34" charset="-122"/>
                <a:cs typeface="Arial" pitchFamily="34" charset="-120"/>
              </a:rPr>
              <a:t>Decoder: GPT-2</a:t>
            </a:r>
            <a:endParaRPr lang="en-US" sz="1419" dirty="0"/>
          </a:p>
        </p:txBody>
      </p:sp>
      <p:sp>
        <p:nvSpPr>
          <p:cNvPr id="30" name="Text 28"/>
          <p:cNvSpPr txBox="1"/>
          <p:nvPr/>
        </p:nvSpPr>
        <p:spPr>
          <a:xfrm>
            <a:off x="4390507" y="3553779"/>
            <a:ext cx="1542880" cy="208975"/>
          </a:xfrm>
          <a:prstGeom prst="rect">
            <a:avLst/>
          </a:prstGeom>
          <a:noFill/>
          <a:ln/>
        </p:spPr>
        <p:txBody>
          <a:bodyPr wrap="square" lIns="0" tIns="0" rIns="0" bIns="0" rtlCol="0" anchor="ctr"/>
          <a:lstStyle/>
          <a:p>
            <a:pPr algn="ctr" indent="0" marL="0">
              <a:lnSpc>
                <a:spcPct val="116000"/>
              </a:lnSpc>
              <a:buNone/>
            </a:pPr>
            <a:r>
              <a:rPr lang="en-US" sz="1419" b="1" dirty="0">
                <a:solidFill>
                  <a:srgbClr val="1E1B4B"/>
                </a:solidFill>
                <a:latin typeface="Arial" pitchFamily="34" charset="0"/>
                <a:ea typeface="Arial" pitchFamily="34" charset="-122"/>
                <a:cs typeface="Arial" pitchFamily="34" charset="-120"/>
              </a:rPr>
              <a:t>Decode causally</a:t>
            </a:r>
            <a:endParaRPr lang="en-US" sz="1419" dirty="0"/>
          </a:p>
        </p:txBody>
      </p:sp>
      <p:sp>
        <p:nvSpPr>
          <p:cNvPr id="31" name="Text 29"/>
          <p:cNvSpPr txBox="1"/>
          <p:nvPr/>
        </p:nvSpPr>
        <p:spPr>
          <a:xfrm>
            <a:off x="7968079" y="3553779"/>
            <a:ext cx="1513048" cy="208975"/>
          </a:xfrm>
          <a:prstGeom prst="rect">
            <a:avLst/>
          </a:prstGeom>
          <a:noFill/>
          <a:ln/>
        </p:spPr>
        <p:txBody>
          <a:bodyPr wrap="square" lIns="0" tIns="0" rIns="0" bIns="0" rtlCol="0" anchor="ctr"/>
          <a:lstStyle/>
          <a:p>
            <a:pPr algn="ctr" indent="0" marL="0">
              <a:lnSpc>
                <a:spcPct val="116000"/>
              </a:lnSpc>
              <a:buNone/>
            </a:pPr>
            <a:r>
              <a:rPr lang="en-US" sz="1419" b="1" dirty="0">
                <a:solidFill>
                  <a:srgbClr val="1E1B4B"/>
                </a:solidFill>
                <a:latin typeface="Arial" pitchFamily="34" charset="0"/>
                <a:ea typeface="Arial" pitchFamily="34" charset="-122"/>
                <a:cs typeface="Arial" pitchFamily="34" charset="-120"/>
              </a:rPr>
              <a:t>Sample; append</a:t>
            </a:r>
            <a:endParaRPr lang="en-US" sz="1419" dirty="0"/>
          </a:p>
        </p:txBody>
      </p:sp>
      <p:sp>
        <p:nvSpPr>
          <p:cNvPr id="32" name="Text 30"/>
          <p:cNvSpPr txBox="1"/>
          <p:nvPr/>
        </p:nvSpPr>
        <p:spPr>
          <a:xfrm>
            <a:off x="3402887" y="3029325"/>
            <a:ext cx="543478" cy="208975"/>
          </a:xfrm>
          <a:prstGeom prst="rect">
            <a:avLst/>
          </a:prstGeom>
          <a:noFill/>
          <a:ln/>
        </p:spPr>
        <p:txBody>
          <a:bodyPr wrap="square" lIns="0" tIns="0" rIns="0" bIns="0" rtlCol="0" anchor="ctr"/>
          <a:lstStyle/>
          <a:p>
            <a:pPr algn="ctr" indent="0" marL="0">
              <a:lnSpc>
                <a:spcPct val="116000"/>
              </a:lnSpc>
              <a:buNone/>
            </a:pPr>
            <a:r>
              <a:rPr lang="en-US" sz="1419" dirty="0">
                <a:solidFill>
                  <a:srgbClr val="1F2937"/>
                </a:solidFill>
                <a:latin typeface="Arial" pitchFamily="34" charset="0"/>
                <a:ea typeface="Arial" pitchFamily="34" charset="-122"/>
                <a:cs typeface="Arial" pitchFamily="34" charset="-120"/>
              </a:rPr>
              <a:t>prefix</a:t>
            </a:r>
            <a:endParaRPr lang="en-US" sz="1419" dirty="0"/>
          </a:p>
        </p:txBody>
      </p:sp>
      <p:sp>
        <p:nvSpPr>
          <p:cNvPr id="33" name="Text 31"/>
          <p:cNvSpPr txBox="1"/>
          <p:nvPr/>
        </p:nvSpPr>
        <p:spPr>
          <a:xfrm>
            <a:off x="6343699" y="3029325"/>
            <a:ext cx="1095387" cy="208975"/>
          </a:xfrm>
          <a:prstGeom prst="rect">
            <a:avLst/>
          </a:prstGeom>
          <a:noFill/>
          <a:ln/>
        </p:spPr>
        <p:txBody>
          <a:bodyPr wrap="square" lIns="0" tIns="0" rIns="0" bIns="0" rtlCol="0" anchor="ctr"/>
          <a:lstStyle/>
          <a:p>
            <a:pPr algn="ctr" indent="0" marL="0">
              <a:lnSpc>
                <a:spcPct val="116000"/>
              </a:lnSpc>
              <a:buNone/>
            </a:pPr>
            <a:r>
              <a:rPr lang="en-US" sz="1419" dirty="0">
                <a:solidFill>
                  <a:srgbClr val="1F2937"/>
                </a:solidFill>
                <a:latin typeface="Arial" pitchFamily="34" charset="0"/>
                <a:ea typeface="Arial" pitchFamily="34" charset="-122"/>
                <a:cs typeface="Arial" pitchFamily="34" charset="-120"/>
              </a:rPr>
              <a:t>probabilities</a:t>
            </a:r>
            <a:endParaRPr lang="en-US" sz="1419" dirty="0"/>
          </a:p>
        </p:txBody>
      </p:sp>
      <p:sp>
        <p:nvSpPr>
          <p:cNvPr id="34" name="Text 32"/>
          <p:cNvSpPr txBox="1"/>
          <p:nvPr/>
        </p:nvSpPr>
        <p:spPr>
          <a:xfrm>
            <a:off x="6171132" y="4149861"/>
            <a:ext cx="1371341" cy="208975"/>
          </a:xfrm>
          <a:prstGeom prst="rect">
            <a:avLst/>
          </a:prstGeom>
          <a:solidFill>
            <a:srgbClr val="FFFFFF"/>
          </a:solidFill>
          <a:ln/>
        </p:spPr>
        <p:txBody>
          <a:bodyPr wrap="square" lIns="0" tIns="0" rIns="0" bIns="0" rtlCol="0" anchor="ctr"/>
          <a:lstStyle/>
          <a:p>
            <a:pPr algn="ctr" indent="0" marL="0">
              <a:lnSpc>
                <a:spcPct val="116000"/>
              </a:lnSpc>
              <a:buNone/>
            </a:pPr>
            <a:r>
              <a:rPr lang="en-US" sz="1419" dirty="0">
                <a:solidFill>
                  <a:srgbClr val="1F2937"/>
                </a:solidFill>
                <a:latin typeface="Arial" pitchFamily="34" charset="0"/>
                <a:ea typeface="Arial" pitchFamily="34" charset="-122"/>
                <a:cs typeface="Arial" pitchFamily="34" charset="-120"/>
              </a:rPr>
              <a:t>extended prefix</a:t>
            </a:r>
            <a:endParaRPr lang="en-US" sz="1419" dirty="0"/>
          </a:p>
        </p:txBody>
      </p:sp>
      <p:sp>
        <p:nvSpPr>
          <p:cNvPr id="35" name="Text 33"/>
          <p:cNvSpPr txBox="1"/>
          <p:nvPr/>
        </p:nvSpPr>
        <p:spPr>
          <a:xfrm>
            <a:off x="1668470" y="4942378"/>
            <a:ext cx="1882579" cy="208975"/>
          </a:xfrm>
          <a:prstGeom prst="rect">
            <a:avLst/>
          </a:prstGeom>
          <a:noFill/>
          <a:ln/>
        </p:spPr>
        <p:txBody>
          <a:bodyPr wrap="square" lIns="0" tIns="0" rIns="0" bIns="0" rtlCol="0" anchor="ctr"/>
          <a:lstStyle/>
          <a:p>
            <a:pPr algn="l" indent="0" marL="0">
              <a:lnSpc>
                <a:spcPct val="116000"/>
              </a:lnSpc>
              <a:buNone/>
            </a:pPr>
            <a:r>
              <a:rPr lang="en-US" sz="1419" dirty="0">
                <a:solidFill>
                  <a:srgbClr val="1E1B4B"/>
                </a:solidFill>
                <a:latin typeface="Arial" pitchFamily="34" charset="0"/>
                <a:ea typeface="Arial" pitchFamily="34" charset="-122"/>
                <a:cs typeface="Arial" pitchFamily="34" charset="-120"/>
              </a:rPr>
              <a:t>Encoder–decoder: T5</a:t>
            </a:r>
            <a:endParaRPr lang="en-US" sz="1419" dirty="0"/>
          </a:p>
        </p:txBody>
      </p:sp>
      <p:sp>
        <p:nvSpPr>
          <p:cNvPr id="36" name="Text 34"/>
          <p:cNvSpPr txBox="1"/>
          <p:nvPr/>
        </p:nvSpPr>
        <p:spPr>
          <a:xfrm>
            <a:off x="4453902" y="4942378"/>
            <a:ext cx="1416091" cy="208975"/>
          </a:xfrm>
          <a:prstGeom prst="rect">
            <a:avLst/>
          </a:prstGeom>
          <a:noFill/>
          <a:ln/>
        </p:spPr>
        <p:txBody>
          <a:bodyPr wrap="square" lIns="0" tIns="0" rIns="0" bIns="0" rtlCol="0" anchor="ctr"/>
          <a:lstStyle/>
          <a:p>
            <a:pPr algn="ctr" indent="0" marL="0">
              <a:lnSpc>
                <a:spcPct val="116000"/>
              </a:lnSpc>
              <a:buNone/>
            </a:pPr>
            <a:r>
              <a:rPr lang="en-US" sz="1419" b="1" dirty="0">
                <a:solidFill>
                  <a:srgbClr val="1E1B4B"/>
                </a:solidFill>
                <a:latin typeface="Arial" pitchFamily="34" charset="0"/>
                <a:ea typeface="Arial" pitchFamily="34" charset="-122"/>
                <a:cs typeface="Arial" pitchFamily="34" charset="-120"/>
              </a:rPr>
              <a:t>Encode source</a:t>
            </a:r>
            <a:endParaRPr lang="en-US" sz="1419" dirty="0"/>
          </a:p>
        </p:txBody>
      </p:sp>
      <p:sp>
        <p:nvSpPr>
          <p:cNvPr id="37" name="Text 35"/>
          <p:cNvSpPr txBox="1"/>
          <p:nvPr/>
        </p:nvSpPr>
        <p:spPr>
          <a:xfrm>
            <a:off x="7725687" y="4942378"/>
            <a:ext cx="1997832" cy="208975"/>
          </a:xfrm>
          <a:prstGeom prst="rect">
            <a:avLst/>
          </a:prstGeom>
          <a:noFill/>
          <a:ln/>
        </p:spPr>
        <p:txBody>
          <a:bodyPr wrap="square" lIns="0" tIns="0" rIns="0" bIns="0" rtlCol="0" anchor="ctr"/>
          <a:lstStyle/>
          <a:p>
            <a:pPr algn="ctr" indent="0" marL="0">
              <a:lnSpc>
                <a:spcPct val="116000"/>
              </a:lnSpc>
              <a:buNone/>
            </a:pPr>
            <a:r>
              <a:rPr lang="en-US" sz="1419" b="1" dirty="0">
                <a:solidFill>
                  <a:srgbClr val="1E1B4B"/>
                </a:solidFill>
                <a:latin typeface="Arial" pitchFamily="34" charset="0"/>
                <a:ea typeface="Arial" pitchFamily="34" charset="-122"/>
                <a:cs typeface="Arial" pitchFamily="34" charset="-120"/>
              </a:rPr>
              <a:t>Decode cross+causal</a:t>
            </a:r>
            <a:endParaRPr lang="en-US" sz="1419" dirty="0"/>
          </a:p>
        </p:txBody>
      </p:sp>
      <p:sp>
        <p:nvSpPr>
          <p:cNvPr id="38" name="Text 36"/>
          <p:cNvSpPr txBox="1"/>
          <p:nvPr/>
        </p:nvSpPr>
        <p:spPr>
          <a:xfrm>
            <a:off x="3350679" y="4417924"/>
            <a:ext cx="647893" cy="208975"/>
          </a:xfrm>
          <a:prstGeom prst="rect">
            <a:avLst/>
          </a:prstGeom>
          <a:noFill/>
          <a:ln/>
        </p:spPr>
        <p:txBody>
          <a:bodyPr wrap="square" lIns="0" tIns="0" rIns="0" bIns="0" rtlCol="0" anchor="ctr"/>
          <a:lstStyle/>
          <a:p>
            <a:pPr algn="ctr" indent="0" marL="0">
              <a:lnSpc>
                <a:spcPct val="116000"/>
              </a:lnSpc>
              <a:buNone/>
            </a:pPr>
            <a:r>
              <a:rPr lang="en-US" sz="1419" dirty="0">
                <a:solidFill>
                  <a:srgbClr val="1F2937"/>
                </a:solidFill>
                <a:latin typeface="Arial" pitchFamily="34" charset="0"/>
                <a:ea typeface="Arial" pitchFamily="34" charset="-122"/>
                <a:cs typeface="Arial" pitchFamily="34" charset="-120"/>
              </a:rPr>
              <a:t>source</a:t>
            </a:r>
            <a:endParaRPr lang="en-US" sz="1419" dirty="0"/>
          </a:p>
        </p:txBody>
      </p:sp>
      <p:sp>
        <p:nvSpPr>
          <p:cNvPr id="39" name="Text 37"/>
          <p:cNvSpPr txBox="1"/>
          <p:nvPr/>
        </p:nvSpPr>
        <p:spPr>
          <a:xfrm>
            <a:off x="6179618" y="4417924"/>
            <a:ext cx="1423549" cy="208975"/>
          </a:xfrm>
          <a:prstGeom prst="rect">
            <a:avLst/>
          </a:prstGeom>
          <a:noFill/>
          <a:ln/>
        </p:spPr>
        <p:txBody>
          <a:bodyPr wrap="square" lIns="0" tIns="0" rIns="0" bIns="0" rtlCol="0" anchor="ctr"/>
          <a:lstStyle/>
          <a:p>
            <a:pPr algn="ctr" indent="0" marL="0">
              <a:lnSpc>
                <a:spcPct val="116000"/>
              </a:lnSpc>
              <a:buNone/>
            </a:pPr>
            <a:r>
              <a:rPr lang="en-US" sz="1419" dirty="0">
                <a:solidFill>
                  <a:srgbClr val="1F2937"/>
                </a:solidFill>
                <a:latin typeface="Arial" pitchFamily="34" charset="0"/>
                <a:ea typeface="Arial" pitchFamily="34" charset="-122"/>
                <a:cs typeface="Arial" pitchFamily="34" charset="-120"/>
              </a:rPr>
              <a:t>encoded source</a:t>
            </a:r>
            <a:endParaRPr lang="en-US" sz="1419" dirty="0"/>
          </a:p>
        </p:txBody>
      </p:sp>
      <p:sp>
        <p:nvSpPr>
          <p:cNvPr id="40" name="Text 38"/>
          <p:cNvSpPr txBox="1"/>
          <p:nvPr/>
        </p:nvSpPr>
        <p:spPr>
          <a:xfrm>
            <a:off x="1938264" y="5951653"/>
            <a:ext cx="595685" cy="208975"/>
          </a:xfrm>
          <a:prstGeom prst="rect">
            <a:avLst/>
          </a:prstGeom>
          <a:noFill/>
          <a:ln/>
        </p:spPr>
        <p:txBody>
          <a:bodyPr wrap="square" lIns="0" tIns="0" rIns="0" bIns="0" rtlCol="0" anchor="ctr"/>
          <a:lstStyle/>
          <a:p>
            <a:pPr algn="l" indent="0" marL="0">
              <a:lnSpc>
                <a:spcPct val="116000"/>
              </a:lnSpc>
              <a:buNone/>
            </a:pPr>
            <a:r>
              <a:rPr lang="en-US" sz="1419" dirty="0">
                <a:solidFill>
                  <a:srgbClr val="1F2937"/>
                </a:solidFill>
                <a:latin typeface="Arial" pitchFamily="34" charset="0"/>
                <a:ea typeface="Arial" pitchFamily="34" charset="-122"/>
                <a:cs typeface="Arial" pitchFamily="34" charset="-120"/>
              </a:rPr>
              <a:t>Model</a:t>
            </a:r>
            <a:endParaRPr lang="en-US" sz="1419" dirty="0"/>
          </a:p>
        </p:txBody>
      </p:sp>
      <p:sp>
        <p:nvSpPr>
          <p:cNvPr id="41" name="Text 39"/>
          <p:cNvSpPr txBox="1"/>
          <p:nvPr/>
        </p:nvSpPr>
        <p:spPr>
          <a:xfrm>
            <a:off x="3224970" y="5951653"/>
            <a:ext cx="476354" cy="208975"/>
          </a:xfrm>
          <a:prstGeom prst="rect">
            <a:avLst/>
          </a:prstGeom>
          <a:noFill/>
          <a:ln/>
        </p:spPr>
        <p:txBody>
          <a:bodyPr wrap="square" lIns="0" tIns="0" rIns="0" bIns="0" rtlCol="0" anchor="ctr"/>
          <a:lstStyle/>
          <a:p>
            <a:pPr algn="l" indent="0" marL="0">
              <a:lnSpc>
                <a:spcPct val="116000"/>
              </a:lnSpc>
              <a:buNone/>
            </a:pPr>
            <a:r>
              <a:rPr lang="en-US" sz="1419" dirty="0">
                <a:solidFill>
                  <a:srgbClr val="1F2937"/>
                </a:solidFill>
                <a:latin typeface="Arial" pitchFamily="34" charset="0"/>
                <a:ea typeface="Arial" pitchFamily="34" charset="-122"/>
                <a:cs typeface="Arial" pitchFamily="34" charset="-120"/>
              </a:rPr>
              <a:t>Flow</a:t>
            </a:r>
            <a:endParaRPr lang="en-US" sz="1419" dirty="0"/>
          </a:p>
        </p:txBody>
      </p:sp>
      <p:sp>
        <p:nvSpPr>
          <p:cNvPr id="42" name="Text 40"/>
          <p:cNvSpPr txBox="1"/>
          <p:nvPr/>
        </p:nvSpPr>
        <p:spPr>
          <a:xfrm>
            <a:off x="4608526" y="5951653"/>
            <a:ext cx="685184" cy="208975"/>
          </a:xfrm>
          <a:prstGeom prst="rect">
            <a:avLst/>
          </a:prstGeom>
          <a:noFill/>
          <a:ln/>
        </p:spPr>
        <p:txBody>
          <a:bodyPr wrap="square" lIns="0" tIns="0" rIns="0" bIns="0" rtlCol="0" anchor="ctr"/>
          <a:lstStyle/>
          <a:p>
            <a:pPr algn="l" indent="0" marL="0">
              <a:lnSpc>
                <a:spcPct val="116000"/>
              </a:lnSpc>
              <a:buNone/>
            </a:pPr>
            <a:r>
              <a:rPr lang="en-US" sz="1419" dirty="0">
                <a:solidFill>
                  <a:srgbClr val="1F2937"/>
                </a:solidFill>
                <a:latin typeface="Arial" pitchFamily="34" charset="0"/>
                <a:ea typeface="Arial" pitchFamily="34" charset="-122"/>
                <a:cs typeface="Arial" pitchFamily="34" charset="-120"/>
              </a:rPr>
              <a:t>Repeat</a:t>
            </a:r>
            <a:endParaRPr lang="en-US" sz="1419"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Choose an architecture for the job</a:t>
            </a:r>
            <a:endParaRPr lang="en-US" sz="3200" dirty="0"/>
          </a:p>
        </p:txBody>
      </p:sp>
      <p:sp>
        <p:nvSpPr>
          <p:cNvPr id="6" name="Text 4"/>
          <p:cNvSpPr txBox="1"/>
          <p:nvPr/>
        </p:nvSpPr>
        <p:spPr>
          <a:xfrm>
            <a:off x="1016312" y="2363177"/>
            <a:ext cx="924634" cy="288739"/>
          </a:xfrm>
          <a:prstGeom prst="rect">
            <a:avLst/>
          </a:prstGeom>
          <a:noFill/>
          <a:ln/>
        </p:spPr>
        <p:txBody>
          <a:bodyPr wrap="square" lIns="0" tIns="0" rIns="0" bIns="0" rtlCol="0" anchor="ctr"/>
          <a:lstStyle/>
          <a:p>
            <a:pPr algn="l" indent="0" marL="0">
              <a:lnSpc>
                <a:spcPct val="116000"/>
              </a:lnSpc>
              <a:buNone/>
            </a:pPr>
            <a:r>
              <a:rPr lang="en-US" sz="1960" b="1" dirty="0">
                <a:solidFill>
                  <a:srgbClr val="1E1B4B"/>
                </a:solidFill>
                <a:latin typeface="Arial" pitchFamily="34" charset="0"/>
                <a:ea typeface="Arial" pitchFamily="34" charset="-122"/>
                <a:cs typeface="Arial" pitchFamily="34" charset="-120"/>
              </a:rPr>
              <a:t>Family</a:t>
            </a:r>
            <a:endParaRPr lang="en-US" sz="1960" dirty="0"/>
          </a:p>
        </p:txBody>
      </p:sp>
      <p:sp>
        <p:nvSpPr>
          <p:cNvPr id="7" name="Text 5"/>
          <p:cNvSpPr txBox="1"/>
          <p:nvPr/>
        </p:nvSpPr>
        <p:spPr>
          <a:xfrm>
            <a:off x="4457288" y="2363177"/>
            <a:ext cx="880470" cy="288739"/>
          </a:xfrm>
          <a:prstGeom prst="rect">
            <a:avLst/>
          </a:prstGeom>
          <a:noFill/>
          <a:ln/>
        </p:spPr>
        <p:txBody>
          <a:bodyPr wrap="square" lIns="0" tIns="0" rIns="0" bIns="0" rtlCol="0" anchor="ctr"/>
          <a:lstStyle/>
          <a:p>
            <a:pPr algn="l" indent="0" marL="0">
              <a:lnSpc>
                <a:spcPct val="116000"/>
              </a:lnSpc>
              <a:buNone/>
            </a:pPr>
            <a:r>
              <a:rPr lang="en-US" sz="1960" b="1" dirty="0">
                <a:solidFill>
                  <a:srgbClr val="1E1B4B"/>
                </a:solidFill>
                <a:latin typeface="Arial" pitchFamily="34" charset="0"/>
                <a:ea typeface="Arial" pitchFamily="34" charset="-122"/>
                <a:cs typeface="Arial" pitchFamily="34" charset="-120"/>
              </a:rPr>
              <a:t>Reads</a:t>
            </a:r>
            <a:endParaRPr lang="en-US" sz="1960" dirty="0"/>
          </a:p>
        </p:txBody>
      </p:sp>
      <p:sp>
        <p:nvSpPr>
          <p:cNvPr id="8" name="Text 6"/>
          <p:cNvSpPr txBox="1"/>
          <p:nvPr/>
        </p:nvSpPr>
        <p:spPr>
          <a:xfrm>
            <a:off x="7734407" y="2363177"/>
            <a:ext cx="1277949" cy="288739"/>
          </a:xfrm>
          <a:prstGeom prst="rect">
            <a:avLst/>
          </a:prstGeom>
          <a:noFill/>
          <a:ln/>
        </p:spPr>
        <p:txBody>
          <a:bodyPr wrap="square" lIns="0" tIns="0" rIns="0" bIns="0" rtlCol="0" anchor="ctr"/>
          <a:lstStyle/>
          <a:p>
            <a:pPr algn="l" indent="0" marL="0">
              <a:lnSpc>
                <a:spcPct val="116000"/>
              </a:lnSpc>
              <a:buNone/>
            </a:pPr>
            <a:r>
              <a:rPr lang="en-US" sz="1960" b="1" dirty="0">
                <a:solidFill>
                  <a:srgbClr val="1E1B4B"/>
                </a:solidFill>
                <a:latin typeface="Arial" pitchFamily="34" charset="0"/>
                <a:ea typeface="Arial" pitchFamily="34" charset="-122"/>
                <a:cs typeface="Arial" pitchFamily="34" charset="-120"/>
              </a:rPr>
              <a:t>Produces</a:t>
            </a:r>
            <a:endParaRPr lang="en-US" sz="1960" dirty="0"/>
          </a:p>
        </p:txBody>
      </p:sp>
      <p:sp>
        <p:nvSpPr>
          <p:cNvPr id="9" name="Text 7"/>
          <p:cNvSpPr txBox="1"/>
          <p:nvPr/>
        </p:nvSpPr>
        <p:spPr>
          <a:xfrm>
            <a:off x="1016312" y="3098917"/>
            <a:ext cx="1042960"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Encoder</a:t>
            </a:r>
            <a:endParaRPr lang="en-US" sz="1867" dirty="0"/>
          </a:p>
        </p:txBody>
      </p:sp>
      <p:sp>
        <p:nvSpPr>
          <p:cNvPr id="10" name="Text 8"/>
          <p:cNvSpPr txBox="1"/>
          <p:nvPr/>
        </p:nvSpPr>
        <p:spPr>
          <a:xfrm>
            <a:off x="4457288" y="3098917"/>
            <a:ext cx="1431606"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Whole input</a:t>
            </a:r>
            <a:endParaRPr lang="en-US" sz="1867" dirty="0"/>
          </a:p>
        </p:txBody>
      </p:sp>
      <p:sp>
        <p:nvSpPr>
          <p:cNvPr id="11" name="Text 9"/>
          <p:cNvSpPr txBox="1"/>
          <p:nvPr/>
        </p:nvSpPr>
        <p:spPr>
          <a:xfrm>
            <a:off x="7734407" y="3098917"/>
            <a:ext cx="1475771"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Label/vector</a:t>
            </a:r>
            <a:endParaRPr lang="en-US" sz="1867" dirty="0"/>
          </a:p>
        </p:txBody>
      </p:sp>
      <p:sp>
        <p:nvSpPr>
          <p:cNvPr id="12" name="Text 10"/>
          <p:cNvSpPr txBox="1"/>
          <p:nvPr/>
        </p:nvSpPr>
        <p:spPr>
          <a:xfrm>
            <a:off x="1016312" y="3780797"/>
            <a:ext cx="1051793"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Decoder</a:t>
            </a:r>
            <a:endParaRPr lang="en-US" sz="1867" dirty="0"/>
          </a:p>
        </p:txBody>
      </p:sp>
      <p:sp>
        <p:nvSpPr>
          <p:cNvPr id="13" name="Text 11"/>
          <p:cNvSpPr txBox="1"/>
          <p:nvPr/>
        </p:nvSpPr>
        <p:spPr>
          <a:xfrm>
            <a:off x="4457288" y="3780797"/>
            <a:ext cx="1555266"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Current; past</a:t>
            </a:r>
            <a:endParaRPr lang="en-US" sz="1867" dirty="0"/>
          </a:p>
        </p:txBody>
      </p:sp>
      <p:sp>
        <p:nvSpPr>
          <p:cNvPr id="14" name="Text 12"/>
          <p:cNvSpPr txBox="1"/>
          <p:nvPr/>
        </p:nvSpPr>
        <p:spPr>
          <a:xfrm>
            <a:off x="7734407" y="3780797"/>
            <a:ext cx="1519935"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Continuation</a:t>
            </a:r>
            <a:endParaRPr lang="en-US" sz="1867" dirty="0"/>
          </a:p>
        </p:txBody>
      </p:sp>
      <p:sp>
        <p:nvSpPr>
          <p:cNvPr id="15" name="Text 13"/>
          <p:cNvSpPr txBox="1"/>
          <p:nvPr/>
        </p:nvSpPr>
        <p:spPr>
          <a:xfrm>
            <a:off x="1016312" y="4462676"/>
            <a:ext cx="2094071"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Encoder–decoder</a:t>
            </a:r>
            <a:endParaRPr lang="en-US" sz="1867" dirty="0"/>
          </a:p>
        </p:txBody>
      </p:sp>
      <p:sp>
        <p:nvSpPr>
          <p:cNvPr id="16" name="Text 14"/>
          <p:cNvSpPr txBox="1"/>
          <p:nvPr/>
        </p:nvSpPr>
        <p:spPr>
          <a:xfrm>
            <a:off x="4457288" y="4462676"/>
            <a:ext cx="2297227"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Source; output past</a:t>
            </a:r>
            <a:endParaRPr lang="en-US" sz="1867" dirty="0"/>
          </a:p>
        </p:txBody>
      </p:sp>
      <p:sp>
        <p:nvSpPr>
          <p:cNvPr id="17" name="Text 15"/>
          <p:cNvSpPr txBox="1"/>
          <p:nvPr/>
        </p:nvSpPr>
        <p:spPr>
          <a:xfrm>
            <a:off x="7734407" y="4462676"/>
            <a:ext cx="2032241"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Output sequence</a:t>
            </a:r>
            <a:endParaRPr lang="en-US" sz="1867" dirty="0"/>
          </a:p>
        </p:txBody>
      </p:sp>
      <p:sp>
        <p:nvSpPr>
          <p:cNvPr id="18" name="Text 16"/>
          <p:cNvSpPr txBox="1"/>
          <p:nvPr/>
        </p:nvSpPr>
        <p:spPr>
          <a:xfrm>
            <a:off x="1016312" y="5212166"/>
            <a:ext cx="4373184"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Task guidance; evaluate the actual system.</a:t>
            </a:r>
            <a:endParaRPr lang="en-US" sz="168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Document search plus generated answers needs?</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Trained text embeddings; generating decoder.</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Generating decoder; standard BERT chat.</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Standard BERT encoder for both roles.</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Encoder-decoder attention as the only option.</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Attention in PyTorch (what you write in the lab)</a:t>
            </a:r>
            <a:endParaRPr lang="en-US" sz="3200" dirty="0"/>
          </a:p>
        </p:txBody>
      </p:sp>
      <p:sp>
        <p:nvSpPr>
          <p:cNvPr id="6" name="Shape 4"/>
          <p:cNvSpPr/>
          <p:nvPr/>
        </p:nvSpPr>
        <p:spPr>
          <a:xfrm>
            <a:off x="548640" y="1481328"/>
            <a:ext cx="11094415" cy="1742440"/>
          </a:xfrm>
          <a:prstGeom prst="roundRect">
            <a:avLst>
              <a:gd name="adj" fmla="val 5248"/>
            </a:avLst>
          </a:prstGeom>
          <a:solidFill>
            <a:srgbClr val="1E1E2E"/>
          </a:solidFill>
          <a:ln w="12700">
            <a:solidFill>
              <a:srgbClr val="1E1E2E"/>
            </a:solidFill>
            <a:prstDash val="solid"/>
          </a:ln>
        </p:spPr>
      </p:sp>
      <p:sp>
        <p:nvSpPr>
          <p:cNvPr id="7" name="Text 5"/>
          <p:cNvSpPr txBox="1"/>
          <p:nvPr/>
        </p:nvSpPr>
        <p:spPr>
          <a:xfrm>
            <a:off x="685800" y="1591056"/>
            <a:ext cx="10820095" cy="1522984"/>
          </a:xfrm>
          <a:prstGeom prst="rect">
            <a:avLst/>
          </a:prstGeom>
          <a:noFill/>
          <a:ln/>
        </p:spPr>
        <p:txBody>
          <a:bodyPr wrap="square" lIns="76200" tIns="76200" rIns="76200" bIns="76200" rtlCol="0" anchor="t"/>
          <a:lstStyle/>
          <a:p>
            <a:pPr indent="0" marL="0">
              <a:lnSpc>
                <a:spcPct val="100000"/>
              </a:lnSpc>
              <a:buNone/>
            </a:pPr>
            <a:r>
              <a:rPr lang="en-US" sz="2000" dirty="0">
                <a:solidFill>
                  <a:srgbClr val="E4E4F0"/>
                </a:solidFill>
                <a:latin typeface="Consolas" pitchFamily="34" charset="0"/>
                <a:ea typeface="Consolas" pitchFamily="34" charset="-122"/>
                <a:cs typeface="Consolas" pitchFamily="34" charset="-120"/>
              </a:rPr>
              <a:t>scores = q @ k.transpose(-2, -1) / math.sqrt(d_k)</a:t>
            </a:r>
            <a:endParaRPr lang="en-US" sz="2000" dirty="0"/>
          </a:p>
          <a:p>
            <a:pPr indent="0" marL="0">
              <a:lnSpc>
                <a:spcPct val="100000"/>
              </a:lnSpc>
              <a:buNone/>
            </a:pPr>
            <a:r>
              <a:rPr lang="en-US" sz="2000" dirty="0">
                <a:solidFill>
                  <a:srgbClr val="E4E4F0"/>
                </a:solidFill>
                <a:latin typeface="Consolas" pitchFamily="34" charset="0"/>
                <a:ea typeface="Consolas" pitchFamily="34" charset="-122"/>
                <a:cs typeface="Consolas" pitchFamily="34" charset="-120"/>
              </a:rPr>
              <a:t>scores = scores.masked_fill(blocked, float("-inf"))</a:t>
            </a:r>
            <a:endParaRPr lang="en-US" sz="2000" dirty="0"/>
          </a:p>
          <a:p>
            <a:pPr indent="0" marL="0">
              <a:lnSpc>
                <a:spcPct val="100000"/>
              </a:lnSpc>
              <a:buNone/>
            </a:pPr>
            <a:r>
              <a:rPr lang="en-US" sz="2000" dirty="0">
                <a:solidFill>
                  <a:srgbClr val="E4E4F0"/>
                </a:solidFill>
                <a:latin typeface="Consolas" pitchFamily="34" charset="0"/>
                <a:ea typeface="Consolas" pitchFamily="34" charset="-122"/>
                <a:cs typeface="Consolas" pitchFamily="34" charset="-120"/>
              </a:rPr>
              <a:t>weights = scores.softmax(dim=-1)</a:t>
            </a:r>
            <a:endParaRPr lang="en-US" sz="2000" dirty="0"/>
          </a:p>
          <a:p>
            <a:pPr indent="0" marL="0">
              <a:lnSpc>
                <a:spcPct val="100000"/>
              </a:lnSpc>
              <a:buNone/>
            </a:pPr>
            <a:r>
              <a:rPr lang="en-US" sz="2000" dirty="0">
                <a:solidFill>
                  <a:srgbClr val="E4E4F0"/>
                </a:solidFill>
                <a:latin typeface="Consolas" pitchFamily="34" charset="0"/>
                <a:ea typeface="Consolas" pitchFamily="34" charset="-122"/>
                <a:cs typeface="Consolas" pitchFamily="34" charset="-120"/>
              </a:rPr>
              <a:t>return weights @ v, weights</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05</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Training, efficiency and applications</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does the model learn, and what costs time or memory?</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Train next-character predictions with known targets</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Targets bypass representations.</a:t>
            </a:r>
            <a:endParaRPr lang="en-US" sz="1800" dirty="0"/>
          </a:p>
        </p:txBody>
      </p:sp>
      <p:sp>
        <p:nvSpPr>
          <p:cNvPr id="7" name="Shape 5"/>
          <p:cNvSpPr/>
          <p:nvPr/>
        </p:nvSpPr>
        <p:spPr>
          <a:xfrm>
            <a:off x="2095597" y="3838927"/>
            <a:ext cx="244024" cy="0"/>
          </a:xfrm>
          <a:prstGeom prst="line">
            <a:avLst/>
          </a:prstGeom>
          <a:noFill/>
          <a:ln w="22860">
            <a:solidFill>
              <a:srgbClr val="009E73"/>
            </a:solidFill>
            <a:prstDash val="solid"/>
            <a:tailEnd type="triangle"/>
          </a:ln>
        </p:spPr>
      </p:sp>
      <p:sp>
        <p:nvSpPr>
          <p:cNvPr id="8" name="Text 6"/>
          <p:cNvSpPr txBox="1"/>
          <p:nvPr/>
        </p:nvSpPr>
        <p:spPr>
          <a:xfrm>
            <a:off x="1464838"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IDs[B,T]</a:t>
            </a:r>
            <a:endParaRPr lang="en-US" sz="1441" dirty="0"/>
          </a:p>
        </p:txBody>
      </p:sp>
      <p:sp>
        <p:nvSpPr>
          <p:cNvPr id="9" name="Shape 7"/>
          <p:cNvSpPr/>
          <p:nvPr/>
        </p:nvSpPr>
        <p:spPr>
          <a:xfrm>
            <a:off x="3646892" y="3838927"/>
            <a:ext cx="244024" cy="0"/>
          </a:xfrm>
          <a:prstGeom prst="line">
            <a:avLst/>
          </a:prstGeom>
          <a:noFill/>
          <a:ln w="22860">
            <a:solidFill>
              <a:srgbClr val="009E73"/>
            </a:solidFill>
            <a:prstDash val="solid"/>
            <a:tailEnd type="triangle"/>
          </a:ln>
        </p:spPr>
      </p:sp>
      <p:sp>
        <p:nvSpPr>
          <p:cNvPr id="10" name="Text 8"/>
          <p:cNvSpPr txBox="1"/>
          <p:nvPr/>
        </p:nvSpPr>
        <p:spPr>
          <a:xfrm>
            <a:off x="3016134"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X[B,T,d]</a:t>
            </a:r>
            <a:endParaRPr lang="en-US" sz="1441" dirty="0"/>
          </a:p>
        </p:txBody>
      </p:sp>
      <p:sp>
        <p:nvSpPr>
          <p:cNvPr id="11" name="Shape 9"/>
          <p:cNvSpPr/>
          <p:nvPr/>
        </p:nvSpPr>
        <p:spPr>
          <a:xfrm>
            <a:off x="5198188" y="3838927"/>
            <a:ext cx="244024" cy="0"/>
          </a:xfrm>
          <a:prstGeom prst="line">
            <a:avLst/>
          </a:prstGeom>
          <a:noFill/>
          <a:ln w="22860">
            <a:solidFill>
              <a:srgbClr val="009E73"/>
            </a:solidFill>
            <a:prstDash val="solid"/>
            <a:tailEnd type="triangle"/>
          </a:ln>
        </p:spPr>
      </p:sp>
      <p:sp>
        <p:nvSpPr>
          <p:cNvPr id="12" name="Text 10"/>
          <p:cNvSpPr txBox="1"/>
          <p:nvPr/>
        </p:nvSpPr>
        <p:spPr>
          <a:xfrm>
            <a:off x="4567429"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H[B,T,d]</a:t>
            </a:r>
            <a:endParaRPr lang="en-US" sz="1441" dirty="0"/>
          </a:p>
        </p:txBody>
      </p:sp>
      <p:sp>
        <p:nvSpPr>
          <p:cNvPr id="13" name="Shape 11"/>
          <p:cNvSpPr/>
          <p:nvPr/>
        </p:nvSpPr>
        <p:spPr>
          <a:xfrm>
            <a:off x="6749483" y="3838927"/>
            <a:ext cx="244024" cy="0"/>
          </a:xfrm>
          <a:prstGeom prst="line">
            <a:avLst/>
          </a:prstGeom>
          <a:noFill/>
          <a:ln w="22860">
            <a:solidFill>
              <a:srgbClr val="009E73"/>
            </a:solidFill>
            <a:prstDash val="solid"/>
            <a:tailEnd type="triangle"/>
          </a:ln>
        </p:spPr>
      </p:sp>
      <p:sp>
        <p:nvSpPr>
          <p:cNvPr id="14" name="Text 12"/>
          <p:cNvSpPr txBox="1"/>
          <p:nvPr/>
        </p:nvSpPr>
        <p:spPr>
          <a:xfrm>
            <a:off x="6118725"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logits[B,T,V]</a:t>
            </a:r>
            <a:endParaRPr lang="en-US" sz="1441" dirty="0"/>
          </a:p>
        </p:txBody>
      </p:sp>
      <p:sp>
        <p:nvSpPr>
          <p:cNvPr id="15" name="Shape 13"/>
          <p:cNvSpPr/>
          <p:nvPr/>
        </p:nvSpPr>
        <p:spPr>
          <a:xfrm>
            <a:off x="8300779" y="3838927"/>
            <a:ext cx="244024" cy="0"/>
          </a:xfrm>
          <a:prstGeom prst="line">
            <a:avLst/>
          </a:prstGeom>
          <a:noFill/>
          <a:ln w="22860">
            <a:solidFill>
              <a:srgbClr val="009E73"/>
            </a:solidFill>
            <a:prstDash val="solid"/>
            <a:tailEnd type="triangle"/>
          </a:ln>
        </p:spPr>
      </p:sp>
      <p:sp>
        <p:nvSpPr>
          <p:cNvPr id="16" name="Text 14"/>
          <p:cNvSpPr txBox="1"/>
          <p:nvPr/>
        </p:nvSpPr>
        <p:spPr>
          <a:xfrm>
            <a:off x="7670020"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loss</a:t>
            </a:r>
            <a:endParaRPr lang="en-US" sz="1441" dirty="0"/>
          </a:p>
        </p:txBody>
      </p:sp>
      <p:sp>
        <p:nvSpPr>
          <p:cNvPr id="17" name="Shape 15"/>
          <p:cNvSpPr/>
          <p:nvPr/>
        </p:nvSpPr>
        <p:spPr>
          <a:xfrm>
            <a:off x="9852075" y="3838927"/>
            <a:ext cx="244024" cy="0"/>
          </a:xfrm>
          <a:prstGeom prst="line">
            <a:avLst/>
          </a:prstGeom>
          <a:noFill/>
          <a:ln w="22860">
            <a:solidFill>
              <a:srgbClr val="009E73"/>
            </a:solidFill>
            <a:prstDash val="solid"/>
            <a:tailEnd type="triangle"/>
          </a:ln>
        </p:spPr>
      </p:sp>
      <p:sp>
        <p:nvSpPr>
          <p:cNvPr id="18" name="Text 16"/>
          <p:cNvSpPr txBox="1"/>
          <p:nvPr/>
        </p:nvSpPr>
        <p:spPr>
          <a:xfrm>
            <a:off x="9221316"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gradients</a:t>
            </a:r>
            <a:endParaRPr lang="en-US" sz="1441" dirty="0"/>
          </a:p>
        </p:txBody>
      </p:sp>
      <p:sp>
        <p:nvSpPr>
          <p:cNvPr id="19" name="Shape 17"/>
          <p:cNvSpPr/>
          <p:nvPr/>
        </p:nvSpPr>
        <p:spPr>
          <a:xfrm>
            <a:off x="1441961" y="4738766"/>
            <a:ext cx="0" cy="198270"/>
          </a:xfrm>
          <a:prstGeom prst="line">
            <a:avLst/>
          </a:prstGeom>
          <a:noFill/>
          <a:ln w="22860">
            <a:solidFill>
              <a:srgbClr val="0072B2"/>
            </a:solidFill>
            <a:prstDash val="solid"/>
          </a:ln>
        </p:spPr>
      </p:sp>
      <p:sp>
        <p:nvSpPr>
          <p:cNvPr id="20" name="Shape 18"/>
          <p:cNvSpPr/>
          <p:nvPr/>
        </p:nvSpPr>
        <p:spPr>
          <a:xfrm>
            <a:off x="1441961" y="4937035"/>
            <a:ext cx="6205182" cy="0"/>
          </a:xfrm>
          <a:prstGeom prst="line">
            <a:avLst/>
          </a:prstGeom>
          <a:noFill/>
          <a:ln w="22860">
            <a:solidFill>
              <a:srgbClr val="0072B2"/>
            </a:solidFill>
            <a:prstDash val="solid"/>
          </a:ln>
        </p:spPr>
      </p:sp>
      <p:sp>
        <p:nvSpPr>
          <p:cNvPr id="21" name="Shape 19"/>
          <p:cNvSpPr/>
          <p:nvPr/>
        </p:nvSpPr>
        <p:spPr>
          <a:xfrm flipV="1">
            <a:off x="7647143" y="4738766"/>
            <a:ext cx="0" cy="198270"/>
          </a:xfrm>
          <a:prstGeom prst="line">
            <a:avLst/>
          </a:prstGeom>
          <a:noFill/>
          <a:ln w="22860">
            <a:solidFill>
              <a:srgbClr val="0072B2"/>
            </a:solidFill>
            <a:prstDash val="solid"/>
            <a:tailEnd type="triangle"/>
          </a:ln>
        </p:spPr>
      </p:sp>
      <p:sp>
        <p:nvSpPr>
          <p:cNvPr id="22" name="Text 20"/>
          <p:cNvSpPr txBox="1"/>
          <p:nvPr/>
        </p:nvSpPr>
        <p:spPr>
          <a:xfrm>
            <a:off x="4024484" y="4967538"/>
            <a:ext cx="1040137"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targets[B,T]</a:t>
            </a:r>
            <a:endParaRPr lang="en-US" sz="1441" dirty="0"/>
          </a:p>
        </p:txBody>
      </p:sp>
      <p:sp>
        <p:nvSpPr>
          <p:cNvPr id="23" name="Shape 21"/>
          <p:cNvSpPr/>
          <p:nvPr/>
        </p:nvSpPr>
        <p:spPr>
          <a:xfrm flipV="1">
            <a:off x="10749734" y="2191765"/>
            <a:ext cx="0" cy="747324"/>
          </a:xfrm>
          <a:prstGeom prst="line">
            <a:avLst/>
          </a:prstGeom>
          <a:noFill/>
          <a:ln w="22860">
            <a:solidFill>
              <a:srgbClr val="D55E00"/>
            </a:solidFill>
            <a:prstDash val="dash"/>
          </a:ln>
        </p:spPr>
      </p:sp>
      <p:sp>
        <p:nvSpPr>
          <p:cNvPr id="24" name="Shape 22"/>
          <p:cNvSpPr/>
          <p:nvPr/>
        </p:nvSpPr>
        <p:spPr>
          <a:xfrm flipH="1">
            <a:off x="1441961" y="2191765"/>
            <a:ext cx="9307774" cy="0"/>
          </a:xfrm>
          <a:prstGeom prst="line">
            <a:avLst/>
          </a:prstGeom>
          <a:noFill/>
          <a:ln w="22860">
            <a:solidFill>
              <a:srgbClr val="D55E00"/>
            </a:solidFill>
            <a:prstDash val="dash"/>
          </a:ln>
        </p:spPr>
      </p:sp>
      <p:sp>
        <p:nvSpPr>
          <p:cNvPr id="25" name="Shape 23"/>
          <p:cNvSpPr/>
          <p:nvPr/>
        </p:nvSpPr>
        <p:spPr>
          <a:xfrm>
            <a:off x="1441961" y="2191765"/>
            <a:ext cx="0" cy="747324"/>
          </a:xfrm>
          <a:prstGeom prst="line">
            <a:avLst/>
          </a:prstGeom>
          <a:noFill/>
          <a:ln w="22860">
            <a:solidFill>
              <a:srgbClr val="D55E00"/>
            </a:solidFill>
            <a:prstDash val="dash"/>
            <a:tailEnd type="triangle"/>
          </a:ln>
        </p:spPr>
      </p:sp>
      <p:sp>
        <p:nvSpPr>
          <p:cNvPr id="26" name="Text 24"/>
          <p:cNvSpPr txBox="1"/>
          <p:nvPr/>
        </p:nvSpPr>
        <p:spPr>
          <a:xfrm>
            <a:off x="5565266" y="1917238"/>
            <a:ext cx="1061163"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Fresh batch</a:t>
            </a:r>
            <a:endParaRPr lang="en-US" sz="1441" dirty="0"/>
          </a:p>
        </p:txBody>
      </p:sp>
      <p:sp>
        <p:nvSpPr>
          <p:cNvPr id="27" name="Shape 25"/>
          <p:cNvSpPr/>
          <p:nvPr/>
        </p:nvSpPr>
        <p:spPr>
          <a:xfrm>
            <a:off x="788325" y="2939089"/>
            <a:ext cx="1307272" cy="1799677"/>
          </a:xfrm>
          <a:prstGeom prst="roundRect">
            <a:avLst>
              <a:gd name="adj" fmla="val 5596"/>
            </a:avLst>
          </a:prstGeom>
          <a:solidFill>
            <a:srgbClr val="E4F2FB"/>
          </a:solidFill>
          <a:ln w="15240">
            <a:solidFill>
              <a:srgbClr val="0072B2"/>
            </a:solidFill>
            <a:prstDash val="solid"/>
          </a:ln>
        </p:spPr>
      </p:sp>
      <p:sp>
        <p:nvSpPr>
          <p:cNvPr id="28" name="Text 26"/>
          <p:cNvSpPr txBox="1"/>
          <p:nvPr/>
        </p:nvSpPr>
        <p:spPr>
          <a:xfrm>
            <a:off x="849331" y="3442998"/>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Batch</a:t>
            </a:r>
            <a:endParaRPr lang="en-US" sz="1561" dirty="0"/>
          </a:p>
        </p:txBody>
      </p:sp>
      <p:sp>
        <p:nvSpPr>
          <p:cNvPr id="29" name="Text 27"/>
          <p:cNvSpPr txBox="1"/>
          <p:nvPr/>
        </p:nvSpPr>
        <p:spPr>
          <a:xfrm>
            <a:off x="849331" y="3749248"/>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Shifted</a:t>
            </a:r>
            <a:endParaRPr lang="en-US" sz="1441" dirty="0"/>
          </a:p>
        </p:txBody>
      </p:sp>
      <p:sp>
        <p:nvSpPr>
          <p:cNvPr id="30" name="Text 28"/>
          <p:cNvSpPr txBox="1"/>
          <p:nvPr/>
        </p:nvSpPr>
        <p:spPr>
          <a:xfrm>
            <a:off x="811202" y="4022555"/>
            <a:ext cx="1261517"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get_batch</a:t>
            </a:r>
            <a:endParaRPr lang="en-US" sz="1441" dirty="0"/>
          </a:p>
        </p:txBody>
      </p:sp>
      <p:sp>
        <p:nvSpPr>
          <p:cNvPr id="31" name="Shape 29"/>
          <p:cNvSpPr/>
          <p:nvPr/>
        </p:nvSpPr>
        <p:spPr>
          <a:xfrm>
            <a:off x="2339621" y="2939089"/>
            <a:ext cx="1307272" cy="1799677"/>
          </a:xfrm>
          <a:prstGeom prst="rect">
            <a:avLst/>
          </a:prstGeom>
          <a:solidFill>
            <a:srgbClr val="E5F7EF"/>
          </a:solidFill>
          <a:ln w="15240">
            <a:solidFill>
              <a:srgbClr val="009E73"/>
            </a:solidFill>
            <a:prstDash val="solid"/>
          </a:ln>
        </p:spPr>
      </p:sp>
      <p:sp>
        <p:nvSpPr>
          <p:cNvPr id="32" name="Text 30"/>
          <p:cNvSpPr txBox="1"/>
          <p:nvPr/>
        </p:nvSpPr>
        <p:spPr>
          <a:xfrm>
            <a:off x="2400627" y="3579652"/>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Embed</a:t>
            </a:r>
            <a:endParaRPr lang="en-US" sz="1561" dirty="0"/>
          </a:p>
        </p:txBody>
      </p:sp>
      <p:sp>
        <p:nvSpPr>
          <p:cNvPr id="33" name="Text 31"/>
          <p:cNvSpPr txBox="1"/>
          <p:nvPr/>
        </p:nvSpPr>
        <p:spPr>
          <a:xfrm>
            <a:off x="2400627" y="3885902"/>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Positions</a:t>
            </a:r>
            <a:endParaRPr lang="en-US" sz="1441" dirty="0"/>
          </a:p>
        </p:txBody>
      </p:sp>
      <p:sp>
        <p:nvSpPr>
          <p:cNvPr id="34" name="Shape 32"/>
          <p:cNvSpPr/>
          <p:nvPr/>
        </p:nvSpPr>
        <p:spPr>
          <a:xfrm>
            <a:off x="3890916" y="2939089"/>
            <a:ext cx="1307272" cy="1799677"/>
          </a:xfrm>
          <a:prstGeom prst="rect">
            <a:avLst/>
          </a:prstGeom>
          <a:solidFill>
            <a:srgbClr val="E5F7EF"/>
          </a:solidFill>
          <a:ln w="15240">
            <a:solidFill>
              <a:srgbClr val="009E73"/>
            </a:solidFill>
            <a:prstDash val="solid"/>
          </a:ln>
        </p:spPr>
      </p:sp>
      <p:sp>
        <p:nvSpPr>
          <p:cNvPr id="35" name="Text 33"/>
          <p:cNvSpPr txBox="1"/>
          <p:nvPr/>
        </p:nvSpPr>
        <p:spPr>
          <a:xfrm>
            <a:off x="3951922" y="3579652"/>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Transform</a:t>
            </a:r>
            <a:endParaRPr lang="en-US" sz="1561" dirty="0"/>
          </a:p>
        </p:txBody>
      </p:sp>
      <p:sp>
        <p:nvSpPr>
          <p:cNvPr id="36" name="Text 34"/>
          <p:cNvSpPr txBox="1"/>
          <p:nvPr/>
        </p:nvSpPr>
        <p:spPr>
          <a:xfrm>
            <a:off x="3951922" y="3885902"/>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Causal</a:t>
            </a:r>
            <a:endParaRPr lang="en-US" sz="1441" dirty="0"/>
          </a:p>
        </p:txBody>
      </p:sp>
      <p:sp>
        <p:nvSpPr>
          <p:cNvPr id="37" name="Shape 35"/>
          <p:cNvSpPr/>
          <p:nvPr/>
        </p:nvSpPr>
        <p:spPr>
          <a:xfrm>
            <a:off x="5442212" y="2939089"/>
            <a:ext cx="1307272" cy="1799677"/>
          </a:xfrm>
          <a:prstGeom prst="rect">
            <a:avLst/>
          </a:prstGeom>
          <a:solidFill>
            <a:srgbClr val="E5F7EF"/>
          </a:solidFill>
          <a:ln w="15240">
            <a:solidFill>
              <a:srgbClr val="009E73"/>
            </a:solidFill>
            <a:prstDash val="solid"/>
          </a:ln>
        </p:spPr>
      </p:sp>
      <p:sp>
        <p:nvSpPr>
          <p:cNvPr id="38" name="Text 36"/>
          <p:cNvSpPr txBox="1"/>
          <p:nvPr/>
        </p:nvSpPr>
        <p:spPr>
          <a:xfrm>
            <a:off x="5503218" y="3442998"/>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Score</a:t>
            </a:r>
            <a:endParaRPr lang="en-US" sz="1561" dirty="0"/>
          </a:p>
        </p:txBody>
      </p:sp>
      <p:sp>
        <p:nvSpPr>
          <p:cNvPr id="39" name="Text 37"/>
          <p:cNvSpPr txBox="1"/>
          <p:nvPr/>
        </p:nvSpPr>
        <p:spPr>
          <a:xfrm>
            <a:off x="5503218" y="3749248"/>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Vocabulary</a:t>
            </a:r>
            <a:endParaRPr lang="en-US" sz="1441" dirty="0"/>
          </a:p>
        </p:txBody>
      </p:sp>
      <p:sp>
        <p:nvSpPr>
          <p:cNvPr id="40" name="Text 38"/>
          <p:cNvSpPr txBox="1"/>
          <p:nvPr/>
        </p:nvSpPr>
        <p:spPr>
          <a:xfrm>
            <a:off x="5465089" y="4022555"/>
            <a:ext cx="1261517"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head</a:t>
            </a:r>
            <a:endParaRPr lang="en-US" sz="1441" dirty="0"/>
          </a:p>
        </p:txBody>
      </p:sp>
      <p:sp>
        <p:nvSpPr>
          <p:cNvPr id="41" name="Shape 39"/>
          <p:cNvSpPr/>
          <p:nvPr/>
        </p:nvSpPr>
        <p:spPr>
          <a:xfrm>
            <a:off x="6993507" y="2939089"/>
            <a:ext cx="1307272" cy="1799677"/>
          </a:xfrm>
          <a:prstGeom prst="roundRect">
            <a:avLst>
              <a:gd name="adj" fmla="val 5596"/>
            </a:avLst>
          </a:prstGeom>
          <a:solidFill>
            <a:srgbClr val="FFF0E6"/>
          </a:solidFill>
          <a:ln w="15240">
            <a:solidFill>
              <a:srgbClr val="D55E00"/>
            </a:solidFill>
            <a:prstDash val="solid"/>
          </a:ln>
        </p:spPr>
      </p:sp>
      <p:sp>
        <p:nvSpPr>
          <p:cNvPr id="42" name="Text 40"/>
          <p:cNvSpPr txBox="1"/>
          <p:nvPr/>
        </p:nvSpPr>
        <p:spPr>
          <a:xfrm>
            <a:off x="7054513" y="3579652"/>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Compare</a:t>
            </a:r>
            <a:endParaRPr lang="en-US" sz="1561" dirty="0"/>
          </a:p>
        </p:txBody>
      </p:sp>
      <p:sp>
        <p:nvSpPr>
          <p:cNvPr id="43" name="Text 41"/>
          <p:cNvSpPr txBox="1"/>
          <p:nvPr/>
        </p:nvSpPr>
        <p:spPr>
          <a:xfrm>
            <a:off x="7054513" y="3885902"/>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Targets</a:t>
            </a:r>
            <a:endParaRPr lang="en-US" sz="1441" dirty="0"/>
          </a:p>
        </p:txBody>
      </p:sp>
      <p:sp>
        <p:nvSpPr>
          <p:cNvPr id="44" name="Shape 42"/>
          <p:cNvSpPr/>
          <p:nvPr/>
        </p:nvSpPr>
        <p:spPr>
          <a:xfrm>
            <a:off x="8544803" y="2939089"/>
            <a:ext cx="1307272" cy="1799677"/>
          </a:xfrm>
          <a:prstGeom prst="roundRect">
            <a:avLst>
              <a:gd name="adj" fmla="val 5596"/>
            </a:avLst>
          </a:prstGeom>
          <a:solidFill>
            <a:srgbClr val="FFF0E6"/>
          </a:solidFill>
          <a:ln w="15240">
            <a:solidFill>
              <a:srgbClr val="D55E00"/>
            </a:solidFill>
            <a:prstDash val="solid"/>
          </a:ln>
        </p:spPr>
      </p:sp>
      <p:sp>
        <p:nvSpPr>
          <p:cNvPr id="45" name="Text 43"/>
          <p:cNvSpPr txBox="1"/>
          <p:nvPr/>
        </p:nvSpPr>
        <p:spPr>
          <a:xfrm>
            <a:off x="8605809" y="3579652"/>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Backward</a:t>
            </a:r>
            <a:endParaRPr lang="en-US" sz="1561" dirty="0"/>
          </a:p>
        </p:txBody>
      </p:sp>
      <p:sp>
        <p:nvSpPr>
          <p:cNvPr id="46" name="Text 44"/>
          <p:cNvSpPr txBox="1"/>
          <p:nvPr/>
        </p:nvSpPr>
        <p:spPr>
          <a:xfrm>
            <a:off x="8605809" y="3885902"/>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Gradients</a:t>
            </a:r>
            <a:endParaRPr lang="en-US" sz="1441" dirty="0"/>
          </a:p>
        </p:txBody>
      </p:sp>
      <p:sp>
        <p:nvSpPr>
          <p:cNvPr id="47" name="Shape 45"/>
          <p:cNvSpPr/>
          <p:nvPr/>
        </p:nvSpPr>
        <p:spPr>
          <a:xfrm>
            <a:off x="10096099" y="2939089"/>
            <a:ext cx="1307272" cy="1799677"/>
          </a:xfrm>
          <a:prstGeom prst="roundRect">
            <a:avLst>
              <a:gd name="adj" fmla="val 5596"/>
            </a:avLst>
          </a:prstGeom>
          <a:solidFill>
            <a:srgbClr val="FFF0E6"/>
          </a:solidFill>
          <a:ln w="15240">
            <a:solidFill>
              <a:srgbClr val="D55E00"/>
            </a:solidFill>
            <a:prstDash val="solid"/>
          </a:ln>
        </p:spPr>
      </p:sp>
      <p:sp>
        <p:nvSpPr>
          <p:cNvPr id="48" name="Text 46"/>
          <p:cNvSpPr txBox="1"/>
          <p:nvPr/>
        </p:nvSpPr>
        <p:spPr>
          <a:xfrm>
            <a:off x="10157105" y="3442998"/>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Update</a:t>
            </a:r>
            <a:endParaRPr lang="en-US" sz="1561" dirty="0"/>
          </a:p>
        </p:txBody>
      </p:sp>
      <p:sp>
        <p:nvSpPr>
          <p:cNvPr id="49" name="Text 47"/>
          <p:cNvSpPr txBox="1"/>
          <p:nvPr/>
        </p:nvSpPr>
        <p:spPr>
          <a:xfrm>
            <a:off x="10157105" y="3749248"/>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Weights</a:t>
            </a:r>
            <a:endParaRPr lang="en-US" sz="1441" dirty="0"/>
          </a:p>
        </p:txBody>
      </p:sp>
      <p:sp>
        <p:nvSpPr>
          <p:cNvPr id="50" name="Text 48"/>
          <p:cNvSpPr txBox="1"/>
          <p:nvPr/>
        </p:nvSpPr>
        <p:spPr>
          <a:xfrm>
            <a:off x="10118976" y="4022555"/>
            <a:ext cx="1261517"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opt.step</a:t>
            </a:r>
            <a:endParaRPr lang="en-US" sz="1441" dirty="0"/>
          </a:p>
        </p:txBody>
      </p:sp>
      <p:sp>
        <p:nvSpPr>
          <p:cNvPr id="51" name="Shape 49"/>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52" name="Text 50"/>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53" name="Shape 51"/>
          <p:cNvSpPr/>
          <p:nvPr/>
        </p:nvSpPr>
        <p:spPr>
          <a:xfrm>
            <a:off x="1676436" y="5630979"/>
            <a:ext cx="198270" cy="198270"/>
          </a:xfrm>
          <a:prstGeom prst="rect">
            <a:avLst/>
          </a:prstGeom>
          <a:solidFill>
            <a:srgbClr val="E5F7EF"/>
          </a:solidFill>
          <a:ln w="15240">
            <a:solidFill>
              <a:srgbClr val="009E73"/>
            </a:solidFill>
            <a:prstDash val="solid"/>
          </a:ln>
        </p:spPr>
      </p:sp>
      <p:sp>
        <p:nvSpPr>
          <p:cNvPr id="54" name="Text 52"/>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55" name="Shape 53"/>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56" name="Text 54"/>
          <p:cNvSpPr txBox="1"/>
          <p:nvPr/>
        </p:nvSpPr>
        <p:spPr>
          <a:xfrm>
            <a:off x="293956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Loss</a:t>
            </a:r>
            <a:endParaRPr lang="en-US" sz="1441" dirty="0"/>
          </a:p>
        </p:txBody>
      </p:sp>
      <p:sp>
        <p:nvSpPr>
          <p:cNvPr id="57" name="Shape 55"/>
          <p:cNvSpPr/>
          <p:nvPr/>
        </p:nvSpPr>
        <p:spPr>
          <a:xfrm>
            <a:off x="3568395" y="5730113"/>
            <a:ext cx="335533" cy="0"/>
          </a:xfrm>
          <a:prstGeom prst="line">
            <a:avLst/>
          </a:prstGeom>
          <a:noFill/>
          <a:ln w="22860">
            <a:solidFill>
              <a:srgbClr val="009E73"/>
            </a:solidFill>
            <a:prstDash val="solid"/>
            <a:tailEnd type="triangle"/>
          </a:ln>
        </p:spPr>
      </p:sp>
      <p:sp>
        <p:nvSpPr>
          <p:cNvPr id="58" name="Text 56"/>
          <p:cNvSpPr txBox="1"/>
          <p:nvPr/>
        </p:nvSpPr>
        <p:spPr>
          <a:xfrm>
            <a:off x="3964934"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59" name="Shape 57"/>
          <p:cNvSpPr/>
          <p:nvPr/>
        </p:nvSpPr>
        <p:spPr>
          <a:xfrm>
            <a:off x="4593580" y="5730113"/>
            <a:ext cx="335533" cy="0"/>
          </a:xfrm>
          <a:prstGeom prst="line">
            <a:avLst/>
          </a:prstGeom>
          <a:noFill/>
          <a:ln w="22860">
            <a:solidFill>
              <a:srgbClr val="D55E00"/>
            </a:solidFill>
            <a:prstDash val="dash"/>
            <a:tailEnd type="triangle"/>
          </a:ln>
        </p:spPr>
      </p:sp>
      <p:sp>
        <p:nvSpPr>
          <p:cNvPr id="60" name="Text 58"/>
          <p:cNvSpPr txBox="1"/>
          <p:nvPr/>
        </p:nvSpPr>
        <p:spPr>
          <a:xfrm>
            <a:off x="4990119"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61" name="Text 59"/>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Where do targets originate?</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Training objectives</a:t>
            </a:r>
            <a:endParaRPr lang="en-US" sz="3200" dirty="0"/>
          </a:p>
        </p:txBody>
      </p:sp>
      <p:sp>
        <p:nvSpPr>
          <p:cNvPr id="6" name="Shape 4"/>
          <p:cNvSpPr/>
          <p:nvPr/>
        </p:nvSpPr>
        <p:spPr>
          <a:xfrm>
            <a:off x="548640" y="1481328"/>
            <a:ext cx="3515258" cy="566928"/>
          </a:xfrm>
          <a:prstGeom prst="roundRect">
            <a:avLst>
              <a:gd name="adj" fmla="val 16129"/>
            </a:avLst>
          </a:prstGeom>
          <a:solidFill>
            <a:srgbClr val="4F46E5"/>
          </a:solidFill>
          <a:ln w="12700">
            <a:solidFill>
              <a:srgbClr val="4F46E5"/>
            </a:solidFill>
            <a:prstDash val="solid"/>
          </a:ln>
        </p:spPr>
      </p:sp>
      <p:sp>
        <p:nvSpPr>
          <p:cNvPr id="7" name="Text 5"/>
          <p:cNvSpPr txBox="1"/>
          <p:nvPr/>
        </p:nvSpPr>
        <p:spPr>
          <a:xfrm>
            <a:off x="731520" y="1481328"/>
            <a:ext cx="314949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Masked: BERT</a:t>
            </a:r>
            <a:endParaRPr lang="en-US" sz="1800" dirty="0"/>
          </a:p>
        </p:txBody>
      </p:sp>
      <p:sp>
        <p:nvSpPr>
          <p:cNvPr id="8" name="Shape 6"/>
          <p:cNvSpPr/>
          <p:nvPr/>
        </p:nvSpPr>
        <p:spPr>
          <a:xfrm>
            <a:off x="548640" y="2167128"/>
            <a:ext cx="3515258" cy="4142232"/>
          </a:xfrm>
          <a:prstGeom prst="roundRect">
            <a:avLst>
              <a:gd name="adj" fmla="val 2601"/>
            </a:avLst>
          </a:prstGeom>
          <a:solidFill>
            <a:srgbClr val="EEF0FF"/>
          </a:solidFill>
          <a:ln w="12700">
            <a:solidFill>
              <a:srgbClr val="EEF0FF"/>
            </a:solidFill>
            <a:prstDash val="solid"/>
          </a:ln>
        </p:spPr>
      </p:sp>
      <p:sp>
        <p:nvSpPr>
          <p:cNvPr id="9" name="Text 7"/>
          <p:cNvSpPr txBox="1"/>
          <p:nvPr/>
        </p:nvSpPr>
        <p:spPr>
          <a:xfrm>
            <a:off x="658368" y="2258568"/>
            <a:ext cx="329580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Selected tokens use both sides.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The [MASK] sat → cat.</a:t>
            </a:r>
            <a:endParaRPr lang="en-US" sz="2400" dirty="0"/>
          </a:p>
        </p:txBody>
      </p:sp>
      <p:sp>
        <p:nvSpPr>
          <p:cNvPr id="10" name="Shape 8"/>
          <p:cNvSpPr/>
          <p:nvPr/>
        </p:nvSpPr>
        <p:spPr>
          <a:xfrm>
            <a:off x="4338218" y="1481328"/>
            <a:ext cx="3515258" cy="566928"/>
          </a:xfrm>
          <a:prstGeom prst="roundRect">
            <a:avLst>
              <a:gd name="adj" fmla="val 16129"/>
            </a:avLst>
          </a:prstGeom>
          <a:solidFill>
            <a:srgbClr val="0F766E"/>
          </a:solidFill>
          <a:ln w="12700">
            <a:solidFill>
              <a:srgbClr val="0F766E"/>
            </a:solidFill>
            <a:prstDash val="solid"/>
          </a:ln>
        </p:spPr>
      </p:sp>
      <p:sp>
        <p:nvSpPr>
          <p:cNvPr id="11" name="Text 9"/>
          <p:cNvSpPr txBox="1"/>
          <p:nvPr/>
        </p:nvSpPr>
        <p:spPr>
          <a:xfrm>
            <a:off x="4521098" y="1481328"/>
            <a:ext cx="314949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Next token: GPT</a:t>
            </a:r>
            <a:endParaRPr lang="en-US" sz="1800" dirty="0"/>
          </a:p>
        </p:txBody>
      </p:sp>
      <p:sp>
        <p:nvSpPr>
          <p:cNvPr id="12" name="Shape 10"/>
          <p:cNvSpPr/>
          <p:nvPr/>
        </p:nvSpPr>
        <p:spPr>
          <a:xfrm>
            <a:off x="4338218" y="2167128"/>
            <a:ext cx="3515258" cy="4142232"/>
          </a:xfrm>
          <a:prstGeom prst="roundRect">
            <a:avLst>
              <a:gd name="adj" fmla="val 2601"/>
            </a:avLst>
          </a:prstGeom>
          <a:solidFill>
            <a:srgbClr val="E6F4F1"/>
          </a:solidFill>
          <a:ln w="12700">
            <a:solidFill>
              <a:srgbClr val="E6F4F1"/>
            </a:solidFill>
            <a:prstDash val="solid"/>
          </a:ln>
        </p:spPr>
      </p:sp>
      <p:sp>
        <p:nvSpPr>
          <p:cNvPr id="13" name="Text 11"/>
          <p:cNvSpPr txBox="1"/>
          <p:nvPr/>
        </p:nvSpPr>
        <p:spPr>
          <a:xfrm>
            <a:off x="4447946" y="2258568"/>
            <a:ext cx="329580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Allowed prefix predicts next.</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cat → ats from cats.</a:t>
            </a:r>
            <a:endParaRPr lang="en-US" sz="2400" dirty="0"/>
          </a:p>
        </p:txBody>
      </p:sp>
      <p:sp>
        <p:nvSpPr>
          <p:cNvPr id="14" name="Shape 12"/>
          <p:cNvSpPr/>
          <p:nvPr/>
        </p:nvSpPr>
        <p:spPr>
          <a:xfrm>
            <a:off x="8127797" y="1481328"/>
            <a:ext cx="3515258" cy="566928"/>
          </a:xfrm>
          <a:prstGeom prst="roundRect">
            <a:avLst>
              <a:gd name="adj" fmla="val 16129"/>
            </a:avLst>
          </a:prstGeom>
          <a:solidFill>
            <a:srgbClr val="EA580C"/>
          </a:solidFill>
          <a:ln w="12700">
            <a:solidFill>
              <a:srgbClr val="EA580C"/>
            </a:solidFill>
            <a:prstDash val="solid"/>
          </a:ln>
        </p:spPr>
      </p:sp>
      <p:sp>
        <p:nvSpPr>
          <p:cNvPr id="15" name="Text 13"/>
          <p:cNvSpPr txBox="1"/>
          <p:nvPr/>
        </p:nvSpPr>
        <p:spPr>
          <a:xfrm>
            <a:off x="8310677" y="1481328"/>
            <a:ext cx="314949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Spans: T5</a:t>
            </a:r>
            <a:endParaRPr lang="en-US" sz="1800" dirty="0"/>
          </a:p>
        </p:txBody>
      </p:sp>
      <p:sp>
        <p:nvSpPr>
          <p:cNvPr id="16" name="Shape 14"/>
          <p:cNvSpPr/>
          <p:nvPr/>
        </p:nvSpPr>
        <p:spPr>
          <a:xfrm>
            <a:off x="8127797" y="2167128"/>
            <a:ext cx="3515258" cy="4142232"/>
          </a:xfrm>
          <a:prstGeom prst="roundRect">
            <a:avLst>
              <a:gd name="adj" fmla="val 2601"/>
            </a:avLst>
          </a:prstGeom>
          <a:solidFill>
            <a:srgbClr val="FFF1E6"/>
          </a:solidFill>
          <a:ln w="12700">
            <a:solidFill>
              <a:srgbClr val="FFF1E6"/>
            </a:solidFill>
            <a:prstDash val="solid"/>
          </a:ln>
        </p:spPr>
      </p:sp>
      <p:sp>
        <p:nvSpPr>
          <p:cNvPr id="17" name="Text 15"/>
          <p:cNvSpPr txBox="1"/>
          <p:nvPr/>
        </p:nvSpPr>
        <p:spPr>
          <a:xfrm>
            <a:off x="8237525" y="2258568"/>
            <a:ext cx="329580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Remove spans; generate missing content.</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Marker → cat sat.</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Perplexity: read the model's uncertainty</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Score separate text with the same tokenizer.</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Lower uncertainty does not prove truth.</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Illustrative loss</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Average loss = ln(4).</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Perplexity</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exp(ln(4)) = four equivalent choices.</a:t>
            </a:r>
            <a:endParaRPr lang="en-US" sz="2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 real small transformer, trained for this lecture</a:t>
            </a:r>
            <a:endParaRPr lang="en-US" sz="3200" dirty="0"/>
          </a:p>
        </p:txBody>
      </p:sp>
      <p:pic>
        <p:nvPicPr>
          <p:cNvPr id="6" name="Image 0" descr="C:\Users\sudee\Downloads\Generative_AI_2027_Teaching_Pack\AI2027_Project\build\figures\week_05\chargpt_loss.png">    </p:cNvPr>
          <p:cNvPicPr>
            <a:picLocks noChangeAspect="1"/>
          </p:cNvPicPr>
          <p:nvPr/>
        </p:nvPicPr>
        <p:blipFill>
          <a:blip r:embed="rId1"/>
          <a:stretch>
            <a:fillRect/>
          </a:stretch>
        </p:blipFill>
        <p:spPr>
          <a:xfrm>
            <a:off x="1789683" y="1481328"/>
            <a:ext cx="8612330" cy="4828032"/>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cost of attention grows as n squared</a:t>
            </a:r>
            <a:endParaRPr lang="en-US" sz="3200" dirty="0"/>
          </a:p>
        </p:txBody>
      </p:sp>
      <p:pic>
        <p:nvPicPr>
          <p:cNvPr id="6" name="Image 0" descr="C:\Users\sudee\Downloads\Generative_AI_2027_Teaching_Pack\AI2027_Project\build\figures\week_05\complexity.png">    </p:cNvPr>
          <p:cNvPicPr>
            <a:picLocks noChangeAspect="1"/>
          </p:cNvPicPr>
          <p:nvPr/>
        </p:nvPicPr>
        <p:blipFill>
          <a:blip r:embed="rId1"/>
          <a:stretch>
            <a:fillRect/>
          </a:stretch>
        </p:blipFill>
        <p:spPr>
          <a:xfrm>
            <a:off x="548640" y="1613605"/>
            <a:ext cx="11094415" cy="456347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Generate with a small decoder transformer</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Evaluation mode; fixed weights.</a:t>
            </a:r>
            <a:endParaRPr lang="en-US" sz="1800" dirty="0"/>
          </a:p>
        </p:txBody>
      </p:sp>
      <p:sp>
        <p:nvSpPr>
          <p:cNvPr id="7" name="Shape 5"/>
          <p:cNvSpPr/>
          <p:nvPr/>
        </p:nvSpPr>
        <p:spPr>
          <a:xfrm>
            <a:off x="2354146" y="3838927"/>
            <a:ext cx="244024" cy="0"/>
          </a:xfrm>
          <a:prstGeom prst="line">
            <a:avLst/>
          </a:prstGeom>
          <a:noFill/>
          <a:ln w="22860">
            <a:solidFill>
              <a:srgbClr val="009E73"/>
            </a:solidFill>
            <a:prstDash val="solid"/>
            <a:tailEnd type="triangle"/>
          </a:ln>
        </p:spPr>
      </p:sp>
      <p:sp>
        <p:nvSpPr>
          <p:cNvPr id="8" name="Text 6"/>
          <p:cNvSpPr txBox="1"/>
          <p:nvPr/>
        </p:nvSpPr>
        <p:spPr>
          <a:xfrm>
            <a:off x="167545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IDs[1,T]</a:t>
            </a:r>
            <a:endParaRPr lang="en-US" sz="1441" dirty="0"/>
          </a:p>
        </p:txBody>
      </p:sp>
      <p:sp>
        <p:nvSpPr>
          <p:cNvPr id="9" name="Shape 7"/>
          <p:cNvSpPr/>
          <p:nvPr/>
        </p:nvSpPr>
        <p:spPr>
          <a:xfrm>
            <a:off x="4163991" y="3838927"/>
            <a:ext cx="244024" cy="0"/>
          </a:xfrm>
          <a:prstGeom prst="line">
            <a:avLst/>
          </a:prstGeom>
          <a:noFill/>
          <a:ln w="22860">
            <a:solidFill>
              <a:srgbClr val="009E73"/>
            </a:solidFill>
            <a:prstDash val="solid"/>
            <a:tailEnd type="triangle"/>
          </a:ln>
        </p:spPr>
      </p:sp>
      <p:sp>
        <p:nvSpPr>
          <p:cNvPr id="10" name="Text 8"/>
          <p:cNvSpPr txBox="1"/>
          <p:nvPr/>
        </p:nvSpPr>
        <p:spPr>
          <a:xfrm>
            <a:off x="348529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logits[1,T,V]</a:t>
            </a:r>
            <a:endParaRPr lang="en-US" sz="1441" dirty="0"/>
          </a:p>
        </p:txBody>
      </p:sp>
      <p:sp>
        <p:nvSpPr>
          <p:cNvPr id="11" name="Shape 9"/>
          <p:cNvSpPr/>
          <p:nvPr/>
        </p:nvSpPr>
        <p:spPr>
          <a:xfrm>
            <a:off x="5973836" y="3838927"/>
            <a:ext cx="244024" cy="0"/>
          </a:xfrm>
          <a:prstGeom prst="line">
            <a:avLst/>
          </a:prstGeom>
          <a:noFill/>
          <a:ln w="22860">
            <a:solidFill>
              <a:srgbClr val="009E73"/>
            </a:solidFill>
            <a:prstDash val="solid"/>
            <a:tailEnd type="triangle"/>
          </a:ln>
        </p:spPr>
      </p:sp>
      <p:sp>
        <p:nvSpPr>
          <p:cNvPr id="12" name="Text 10"/>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last[1,V]</a:t>
            </a:r>
            <a:endParaRPr lang="en-US" sz="1441" dirty="0"/>
          </a:p>
        </p:txBody>
      </p:sp>
      <p:sp>
        <p:nvSpPr>
          <p:cNvPr id="13" name="Shape 11"/>
          <p:cNvSpPr/>
          <p:nvPr/>
        </p:nvSpPr>
        <p:spPr>
          <a:xfrm>
            <a:off x="7783680" y="3838927"/>
            <a:ext cx="244024" cy="0"/>
          </a:xfrm>
          <a:prstGeom prst="line">
            <a:avLst/>
          </a:prstGeom>
          <a:noFill/>
          <a:ln w="22860">
            <a:solidFill>
              <a:srgbClr val="009E73"/>
            </a:solidFill>
            <a:prstDash val="solid"/>
            <a:tailEnd type="triangle"/>
          </a:ln>
        </p:spPr>
      </p:sp>
      <p:sp>
        <p:nvSpPr>
          <p:cNvPr id="14" name="Text 12"/>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P[1,V]</a:t>
            </a:r>
            <a:endParaRPr lang="en-US" sz="1441" dirty="0"/>
          </a:p>
        </p:txBody>
      </p:sp>
      <p:sp>
        <p:nvSpPr>
          <p:cNvPr id="15" name="Shape 13"/>
          <p:cNvSpPr/>
          <p:nvPr/>
        </p:nvSpPr>
        <p:spPr>
          <a:xfrm>
            <a:off x="9593525" y="3838927"/>
            <a:ext cx="244024" cy="0"/>
          </a:xfrm>
          <a:prstGeom prst="line">
            <a:avLst/>
          </a:prstGeom>
          <a:noFill/>
          <a:ln w="22860">
            <a:solidFill>
              <a:srgbClr val="009E73"/>
            </a:solidFill>
            <a:prstDash val="solid"/>
            <a:tailEnd type="triangle"/>
          </a:ln>
        </p:spPr>
      </p:sp>
      <p:sp>
        <p:nvSpPr>
          <p:cNvPr id="16" name="Text 14"/>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ID[1,1]</a:t>
            </a:r>
            <a:endParaRPr lang="en-US" sz="1441" dirty="0"/>
          </a:p>
        </p:txBody>
      </p:sp>
      <p:sp>
        <p:nvSpPr>
          <p:cNvPr id="17" name="Shape 15"/>
          <p:cNvSpPr/>
          <p:nvPr/>
        </p:nvSpPr>
        <p:spPr>
          <a:xfrm flipV="1">
            <a:off x="10620460" y="2191765"/>
            <a:ext cx="0" cy="747324"/>
          </a:xfrm>
          <a:prstGeom prst="line">
            <a:avLst/>
          </a:prstGeom>
          <a:noFill/>
          <a:ln w="22860">
            <a:solidFill>
              <a:srgbClr val="D55E00"/>
            </a:solidFill>
            <a:prstDash val="dash"/>
          </a:ln>
        </p:spPr>
      </p:sp>
      <p:sp>
        <p:nvSpPr>
          <p:cNvPr id="18" name="Shape 16"/>
          <p:cNvSpPr/>
          <p:nvPr/>
        </p:nvSpPr>
        <p:spPr>
          <a:xfrm flipH="1">
            <a:off x="1571235" y="2191765"/>
            <a:ext cx="9049224" cy="0"/>
          </a:xfrm>
          <a:prstGeom prst="line">
            <a:avLst/>
          </a:prstGeom>
          <a:noFill/>
          <a:ln w="22860">
            <a:solidFill>
              <a:srgbClr val="D55E00"/>
            </a:solidFill>
            <a:prstDash val="dash"/>
          </a:ln>
        </p:spPr>
      </p:sp>
      <p:sp>
        <p:nvSpPr>
          <p:cNvPr id="19" name="Shape 17"/>
          <p:cNvSpPr/>
          <p:nvPr/>
        </p:nvSpPr>
        <p:spPr>
          <a:xfrm>
            <a:off x="1571235" y="2191765"/>
            <a:ext cx="0" cy="747324"/>
          </a:xfrm>
          <a:prstGeom prst="line">
            <a:avLst/>
          </a:prstGeom>
          <a:noFill/>
          <a:ln w="22860">
            <a:solidFill>
              <a:srgbClr val="D55E00"/>
            </a:solidFill>
            <a:prstDash val="dash"/>
            <a:tailEnd type="triangle"/>
          </a:ln>
        </p:spPr>
      </p:sp>
      <p:sp>
        <p:nvSpPr>
          <p:cNvPr id="20" name="Text 18"/>
          <p:cNvSpPr txBox="1"/>
          <p:nvPr/>
        </p:nvSpPr>
        <p:spPr>
          <a:xfrm>
            <a:off x="5618021" y="1917238"/>
            <a:ext cx="955654"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New prefix</a:t>
            </a:r>
            <a:endParaRPr lang="en-US" sz="1441" dirty="0"/>
          </a:p>
        </p:txBody>
      </p:sp>
      <p:sp>
        <p:nvSpPr>
          <p:cNvPr id="21" name="Shape 19"/>
          <p:cNvSpPr/>
          <p:nvPr/>
        </p:nvSpPr>
        <p:spPr>
          <a:xfrm>
            <a:off x="788325" y="2939089"/>
            <a:ext cx="1565821" cy="1799677"/>
          </a:xfrm>
          <a:prstGeom prst="roundRect">
            <a:avLst>
              <a:gd name="adj" fmla="val 4672"/>
            </a:avLst>
          </a:prstGeom>
          <a:solidFill>
            <a:srgbClr val="E4F2FB"/>
          </a:solidFill>
          <a:ln w="15240">
            <a:solidFill>
              <a:srgbClr val="0072B2"/>
            </a:solidFill>
            <a:prstDash val="solid"/>
          </a:ln>
        </p:spPr>
      </p:sp>
      <p:sp>
        <p:nvSpPr>
          <p:cNvPr id="22" name="Text 20"/>
          <p:cNvSpPr txBox="1"/>
          <p:nvPr/>
        </p:nvSpPr>
        <p:spPr>
          <a:xfrm>
            <a:off x="84933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Encode; crop</a:t>
            </a:r>
            <a:endParaRPr lang="en-US" sz="1561" dirty="0"/>
          </a:p>
        </p:txBody>
      </p:sp>
      <p:sp>
        <p:nvSpPr>
          <p:cNvPr id="23" name="Text 21"/>
          <p:cNvSpPr txBox="1"/>
          <p:nvPr/>
        </p:nvSpPr>
        <p:spPr>
          <a:xfrm>
            <a:off x="84933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Prefix</a:t>
            </a:r>
            <a:endParaRPr lang="en-US" sz="1441" dirty="0"/>
          </a:p>
        </p:txBody>
      </p:sp>
      <p:sp>
        <p:nvSpPr>
          <p:cNvPr id="24" name="Shape 22"/>
          <p:cNvSpPr/>
          <p:nvPr/>
        </p:nvSpPr>
        <p:spPr>
          <a:xfrm>
            <a:off x="2598170" y="2939089"/>
            <a:ext cx="1565821" cy="1799677"/>
          </a:xfrm>
          <a:prstGeom prst="rect">
            <a:avLst/>
          </a:prstGeom>
          <a:solidFill>
            <a:srgbClr val="E5F7EF"/>
          </a:solidFill>
          <a:ln w="15240">
            <a:solidFill>
              <a:srgbClr val="009E73"/>
            </a:solidFill>
            <a:prstDash val="solid"/>
          </a:ln>
        </p:spPr>
      </p:sp>
      <p:sp>
        <p:nvSpPr>
          <p:cNvPr id="25" name="Text 23"/>
          <p:cNvSpPr txBox="1"/>
          <p:nvPr/>
        </p:nvSpPr>
        <p:spPr>
          <a:xfrm>
            <a:off x="2659176"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Predict</a:t>
            </a:r>
            <a:endParaRPr lang="en-US" sz="1561" dirty="0"/>
          </a:p>
        </p:txBody>
      </p:sp>
      <p:sp>
        <p:nvSpPr>
          <p:cNvPr id="26" name="Text 24"/>
          <p:cNvSpPr txBox="1"/>
          <p:nvPr/>
        </p:nvSpPr>
        <p:spPr>
          <a:xfrm>
            <a:off x="2659176"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Scores</a:t>
            </a:r>
            <a:endParaRPr lang="en-US" sz="1441" dirty="0"/>
          </a:p>
        </p:txBody>
      </p:sp>
      <p:sp>
        <p:nvSpPr>
          <p:cNvPr id="27" name="Text 25"/>
          <p:cNvSpPr txBox="1"/>
          <p:nvPr/>
        </p:nvSpPr>
        <p:spPr>
          <a:xfrm>
            <a:off x="2621047"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gpt</a:t>
            </a:r>
            <a:endParaRPr lang="en-US" sz="1441" dirty="0"/>
          </a:p>
        </p:txBody>
      </p:sp>
      <p:sp>
        <p:nvSpPr>
          <p:cNvPr id="28" name="Shape 26"/>
          <p:cNvSpPr/>
          <p:nvPr/>
        </p:nvSpPr>
        <p:spPr>
          <a:xfrm>
            <a:off x="4408015" y="2939089"/>
            <a:ext cx="1565821" cy="1799677"/>
          </a:xfrm>
          <a:prstGeom prst="rect">
            <a:avLst/>
          </a:prstGeom>
          <a:solidFill>
            <a:srgbClr val="E5F7EF"/>
          </a:solidFill>
          <a:ln w="15240">
            <a:solidFill>
              <a:srgbClr val="009E73"/>
            </a:solidFill>
            <a:prstDash val="solid"/>
          </a:ln>
        </p:spPr>
      </p:sp>
      <p:sp>
        <p:nvSpPr>
          <p:cNvPr id="29" name="Text 27"/>
          <p:cNvSpPr txBox="1"/>
          <p:nvPr/>
        </p:nvSpPr>
        <p:spPr>
          <a:xfrm>
            <a:off x="446902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Select</a:t>
            </a:r>
            <a:endParaRPr lang="en-US" sz="1561" dirty="0"/>
          </a:p>
        </p:txBody>
      </p:sp>
      <p:sp>
        <p:nvSpPr>
          <p:cNvPr id="30" name="Text 28"/>
          <p:cNvSpPr txBox="1"/>
          <p:nvPr/>
        </p:nvSpPr>
        <p:spPr>
          <a:xfrm>
            <a:off x="446902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Last row</a:t>
            </a:r>
            <a:endParaRPr lang="en-US" sz="1441" dirty="0"/>
          </a:p>
        </p:txBody>
      </p:sp>
      <p:sp>
        <p:nvSpPr>
          <p:cNvPr id="31" name="Shape 29"/>
          <p:cNvSpPr/>
          <p:nvPr/>
        </p:nvSpPr>
        <p:spPr>
          <a:xfrm>
            <a:off x="6217860" y="2939089"/>
            <a:ext cx="1565821" cy="1799677"/>
          </a:xfrm>
          <a:prstGeom prst="rect">
            <a:avLst/>
          </a:prstGeom>
          <a:solidFill>
            <a:srgbClr val="E5F7EF"/>
          </a:solidFill>
          <a:ln w="15240">
            <a:solidFill>
              <a:srgbClr val="009E73"/>
            </a:solidFill>
            <a:prstDash val="solid"/>
          </a:ln>
        </p:spPr>
      </p:sp>
      <p:sp>
        <p:nvSpPr>
          <p:cNvPr id="32" name="Text 30"/>
          <p:cNvSpPr txBox="1"/>
          <p:nvPr/>
        </p:nvSpPr>
        <p:spPr>
          <a:xfrm>
            <a:off x="6278866" y="3464655"/>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Rescale;</a:t>
            </a:r>
            <a:endParaRPr lang="en-US" sz="1561" dirty="0"/>
          </a:p>
        </p:txBody>
      </p:sp>
      <p:sp>
        <p:nvSpPr>
          <p:cNvPr id="33" name="Text 31"/>
          <p:cNvSpPr txBox="1"/>
          <p:nvPr/>
        </p:nvSpPr>
        <p:spPr>
          <a:xfrm>
            <a:off x="6278866" y="369464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normalise</a:t>
            </a:r>
            <a:endParaRPr lang="en-US" sz="1561" dirty="0"/>
          </a:p>
        </p:txBody>
      </p:sp>
      <p:sp>
        <p:nvSpPr>
          <p:cNvPr id="34" name="Text 32"/>
          <p:cNvSpPr txBox="1"/>
          <p:nvPr/>
        </p:nvSpPr>
        <p:spPr>
          <a:xfrm>
            <a:off x="6278866" y="400089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Temperature</a:t>
            </a:r>
            <a:endParaRPr lang="en-US" sz="1441" dirty="0"/>
          </a:p>
        </p:txBody>
      </p:sp>
      <p:sp>
        <p:nvSpPr>
          <p:cNvPr id="35" name="Shape 33"/>
          <p:cNvSpPr/>
          <p:nvPr/>
        </p:nvSpPr>
        <p:spPr>
          <a:xfrm>
            <a:off x="8027705" y="2939089"/>
            <a:ext cx="1565821" cy="1799677"/>
          </a:xfrm>
          <a:prstGeom prst="rect">
            <a:avLst/>
          </a:prstGeom>
          <a:solidFill>
            <a:srgbClr val="E5F7EF"/>
          </a:solidFill>
          <a:ln w="15240">
            <a:solidFill>
              <a:srgbClr val="009E73"/>
            </a:solidFill>
            <a:prstDash val="solid"/>
          </a:ln>
        </p:spPr>
      </p:sp>
      <p:sp>
        <p:nvSpPr>
          <p:cNvPr id="36" name="Text 34"/>
          <p:cNvSpPr txBox="1"/>
          <p:nvPr/>
        </p:nvSpPr>
        <p:spPr>
          <a:xfrm>
            <a:off x="808871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Sample</a:t>
            </a:r>
            <a:endParaRPr lang="en-US" sz="1561" dirty="0"/>
          </a:p>
        </p:txBody>
      </p:sp>
      <p:sp>
        <p:nvSpPr>
          <p:cNvPr id="37" name="Text 35"/>
          <p:cNvSpPr txBox="1"/>
          <p:nvPr/>
        </p:nvSpPr>
        <p:spPr>
          <a:xfrm>
            <a:off x="808871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ID</a:t>
            </a:r>
            <a:endParaRPr lang="en-US" sz="1441" dirty="0"/>
          </a:p>
        </p:txBody>
      </p:sp>
      <p:sp>
        <p:nvSpPr>
          <p:cNvPr id="38" name="Shape 36"/>
          <p:cNvSpPr/>
          <p:nvPr/>
        </p:nvSpPr>
        <p:spPr>
          <a:xfrm>
            <a:off x="9837549" y="2939089"/>
            <a:ext cx="1565821" cy="1799677"/>
          </a:xfrm>
          <a:prstGeom prst="roundRect">
            <a:avLst>
              <a:gd name="adj" fmla="val 4672"/>
            </a:avLst>
          </a:prstGeom>
          <a:solidFill>
            <a:srgbClr val="F9EAF4"/>
          </a:solidFill>
          <a:ln w="15240">
            <a:solidFill>
              <a:srgbClr val="CC79A7"/>
            </a:solidFill>
            <a:prstDash val="solid"/>
          </a:ln>
        </p:spPr>
      </p:sp>
      <p:sp>
        <p:nvSpPr>
          <p:cNvPr id="39" name="Text 37"/>
          <p:cNvSpPr txBox="1"/>
          <p:nvPr/>
        </p:nvSpPr>
        <p:spPr>
          <a:xfrm>
            <a:off x="9898555"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Append</a:t>
            </a:r>
            <a:endParaRPr lang="en-US" sz="1561" dirty="0"/>
          </a:p>
        </p:txBody>
      </p:sp>
      <p:sp>
        <p:nvSpPr>
          <p:cNvPr id="40" name="Text 38"/>
          <p:cNvSpPr txBox="1"/>
          <p:nvPr/>
        </p:nvSpPr>
        <p:spPr>
          <a:xfrm>
            <a:off x="9898555"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Prefix</a:t>
            </a:r>
            <a:endParaRPr lang="en-US" sz="1441" dirty="0"/>
          </a:p>
        </p:txBody>
      </p:sp>
      <p:sp>
        <p:nvSpPr>
          <p:cNvPr id="41" name="Shape 39"/>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2" name="Text 40"/>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3" name="Shape 41"/>
          <p:cNvSpPr/>
          <p:nvPr/>
        </p:nvSpPr>
        <p:spPr>
          <a:xfrm>
            <a:off x="1676436" y="5630979"/>
            <a:ext cx="198270" cy="198270"/>
          </a:xfrm>
          <a:prstGeom prst="rect">
            <a:avLst/>
          </a:prstGeom>
          <a:solidFill>
            <a:srgbClr val="E5F7EF"/>
          </a:solidFill>
          <a:ln w="15240">
            <a:solidFill>
              <a:srgbClr val="009E73"/>
            </a:solidFill>
            <a:prstDash val="solid"/>
          </a:ln>
        </p:spPr>
      </p:sp>
      <p:sp>
        <p:nvSpPr>
          <p:cNvPr id="44" name="Text 42"/>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5" name="Shape 43"/>
          <p:cNvSpPr/>
          <p:nvPr/>
        </p:nvSpPr>
        <p:spPr>
          <a:xfrm>
            <a:off x="2680284" y="5630979"/>
            <a:ext cx="198270" cy="198270"/>
          </a:xfrm>
          <a:prstGeom prst="roundRect">
            <a:avLst>
              <a:gd name="adj" fmla="val 36895"/>
            </a:avLst>
          </a:prstGeom>
          <a:solidFill>
            <a:srgbClr val="F9EAF4"/>
          </a:solidFill>
          <a:ln w="15240">
            <a:solidFill>
              <a:srgbClr val="CC79A7"/>
            </a:solidFill>
            <a:prstDash val="solid"/>
          </a:ln>
        </p:spPr>
      </p:sp>
      <p:sp>
        <p:nvSpPr>
          <p:cNvPr id="46" name="Text 44"/>
          <p:cNvSpPr txBox="1"/>
          <p:nvPr/>
        </p:nvSpPr>
        <p:spPr>
          <a:xfrm>
            <a:off x="2939560"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7" name="Shape 45"/>
          <p:cNvSpPr/>
          <p:nvPr/>
        </p:nvSpPr>
        <p:spPr>
          <a:xfrm>
            <a:off x="3736982" y="5730113"/>
            <a:ext cx="335533" cy="0"/>
          </a:xfrm>
          <a:prstGeom prst="line">
            <a:avLst/>
          </a:prstGeom>
          <a:noFill/>
          <a:ln w="22860">
            <a:solidFill>
              <a:srgbClr val="009E73"/>
            </a:solidFill>
            <a:prstDash val="solid"/>
            <a:tailEnd type="triangle"/>
          </a:ln>
        </p:spPr>
      </p:sp>
      <p:sp>
        <p:nvSpPr>
          <p:cNvPr id="48" name="Text 46"/>
          <p:cNvSpPr txBox="1"/>
          <p:nvPr/>
        </p:nvSpPr>
        <p:spPr>
          <a:xfrm>
            <a:off x="4133521"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9" name="Shape 47"/>
          <p:cNvSpPr/>
          <p:nvPr/>
        </p:nvSpPr>
        <p:spPr>
          <a:xfrm>
            <a:off x="4762167" y="5730113"/>
            <a:ext cx="335533" cy="0"/>
          </a:xfrm>
          <a:prstGeom prst="line">
            <a:avLst/>
          </a:prstGeom>
          <a:noFill/>
          <a:ln w="22860">
            <a:solidFill>
              <a:srgbClr val="D55E00"/>
            </a:solidFill>
            <a:prstDash val="dash"/>
            <a:tailEnd type="triangle"/>
          </a:ln>
        </p:spPr>
      </p:sp>
      <p:sp>
        <p:nvSpPr>
          <p:cNvPr id="50" name="Text 48"/>
          <p:cNvSpPr txBox="1"/>
          <p:nvPr/>
        </p:nvSpPr>
        <p:spPr>
          <a:xfrm>
            <a:off x="5158706"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51" name="Text 49"/>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Do weights change?</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Faster generation: the KV cache</a:t>
            </a:r>
            <a:endParaRPr lang="en-US" sz="3200" dirty="0"/>
          </a:p>
        </p:txBody>
      </p:sp>
      <p:sp>
        <p:nvSpPr>
          <p:cNvPr id="6" name="Shape 4"/>
          <p:cNvSpPr/>
          <p:nvPr/>
        </p:nvSpPr>
        <p:spPr>
          <a:xfrm>
            <a:off x="5686208" y="4978330"/>
            <a:ext cx="1532053" cy="0"/>
          </a:xfrm>
          <a:prstGeom prst="line">
            <a:avLst/>
          </a:prstGeom>
          <a:noFill/>
          <a:ln w="22860">
            <a:solidFill>
              <a:srgbClr val="0072B2"/>
            </a:solidFill>
            <a:prstDash val="solid"/>
          </a:ln>
        </p:spPr>
      </p:sp>
      <p:sp>
        <p:nvSpPr>
          <p:cNvPr id="7" name="Shape 5"/>
          <p:cNvSpPr/>
          <p:nvPr/>
        </p:nvSpPr>
        <p:spPr>
          <a:xfrm>
            <a:off x="3678972" y="5812630"/>
            <a:ext cx="327712" cy="0"/>
          </a:xfrm>
          <a:prstGeom prst="line">
            <a:avLst/>
          </a:prstGeom>
          <a:noFill/>
          <a:ln w="22860">
            <a:solidFill>
              <a:srgbClr val="009E73"/>
            </a:solidFill>
            <a:prstDash val="solid"/>
          </a:ln>
        </p:spPr>
      </p:sp>
      <p:sp>
        <p:nvSpPr>
          <p:cNvPr id="8" name="Shape 6"/>
          <p:cNvSpPr/>
          <p:nvPr/>
        </p:nvSpPr>
        <p:spPr>
          <a:xfrm>
            <a:off x="3064512" y="3414017"/>
            <a:ext cx="450604" cy="0"/>
          </a:xfrm>
          <a:prstGeom prst="line">
            <a:avLst/>
          </a:prstGeom>
          <a:noFill/>
          <a:ln w="22860">
            <a:solidFill>
              <a:srgbClr val="009E73"/>
            </a:solidFill>
            <a:prstDash val="solid"/>
            <a:tailEnd type="triangle"/>
          </a:ln>
        </p:spPr>
      </p:sp>
      <p:sp>
        <p:nvSpPr>
          <p:cNvPr id="9" name="Shape 7"/>
          <p:cNvSpPr/>
          <p:nvPr/>
        </p:nvSpPr>
        <p:spPr>
          <a:xfrm>
            <a:off x="5686208" y="3414017"/>
            <a:ext cx="450604" cy="0"/>
          </a:xfrm>
          <a:prstGeom prst="line">
            <a:avLst/>
          </a:prstGeom>
          <a:noFill/>
          <a:ln w="22860">
            <a:solidFill>
              <a:srgbClr val="009E73"/>
            </a:solidFill>
            <a:prstDash val="solid"/>
            <a:tailEnd type="triangle"/>
          </a:ln>
        </p:spPr>
      </p:sp>
      <p:sp>
        <p:nvSpPr>
          <p:cNvPr id="10" name="Shape 8"/>
          <p:cNvSpPr/>
          <p:nvPr/>
        </p:nvSpPr>
        <p:spPr>
          <a:xfrm>
            <a:off x="8307903" y="3414017"/>
            <a:ext cx="450604" cy="0"/>
          </a:xfrm>
          <a:prstGeom prst="line">
            <a:avLst/>
          </a:prstGeom>
          <a:noFill/>
          <a:ln w="22860">
            <a:solidFill>
              <a:srgbClr val="009E73"/>
            </a:solidFill>
            <a:prstDash val="solid"/>
            <a:tailEnd type="triangle"/>
          </a:ln>
        </p:spPr>
      </p:sp>
      <p:sp>
        <p:nvSpPr>
          <p:cNvPr id="11" name="Shape 9"/>
          <p:cNvSpPr/>
          <p:nvPr/>
        </p:nvSpPr>
        <p:spPr>
          <a:xfrm>
            <a:off x="4596565" y="3815123"/>
            <a:ext cx="0" cy="802212"/>
          </a:xfrm>
          <a:prstGeom prst="line">
            <a:avLst/>
          </a:prstGeom>
          <a:noFill/>
          <a:ln w="22860">
            <a:solidFill>
              <a:srgbClr val="009E73"/>
            </a:solidFill>
            <a:prstDash val="solid"/>
            <a:tailEnd type="triangle"/>
          </a:ln>
        </p:spPr>
      </p:sp>
      <p:sp>
        <p:nvSpPr>
          <p:cNvPr id="12" name="Shape 10"/>
          <p:cNvSpPr/>
          <p:nvPr/>
        </p:nvSpPr>
        <p:spPr>
          <a:xfrm>
            <a:off x="3064512" y="4978330"/>
            <a:ext cx="450604" cy="0"/>
          </a:xfrm>
          <a:prstGeom prst="line">
            <a:avLst/>
          </a:prstGeom>
          <a:noFill/>
          <a:ln w="22860">
            <a:solidFill>
              <a:srgbClr val="009E73"/>
            </a:solidFill>
            <a:prstDash val="solid"/>
            <a:tailEnd type="triangle"/>
          </a:ln>
        </p:spPr>
      </p:sp>
      <p:sp>
        <p:nvSpPr>
          <p:cNvPr id="13" name="Shape 11"/>
          <p:cNvSpPr/>
          <p:nvPr/>
        </p:nvSpPr>
        <p:spPr>
          <a:xfrm flipV="1">
            <a:off x="7218261" y="3815123"/>
            <a:ext cx="0" cy="1163207"/>
          </a:xfrm>
          <a:prstGeom prst="line">
            <a:avLst/>
          </a:prstGeom>
          <a:noFill/>
          <a:ln w="22860">
            <a:solidFill>
              <a:srgbClr val="0072B2"/>
            </a:solidFill>
            <a:prstDash val="solid"/>
            <a:tailEnd type="triangle"/>
          </a:ln>
        </p:spPr>
      </p:sp>
      <p:sp>
        <p:nvSpPr>
          <p:cNvPr id="14" name="Shape 12"/>
          <p:cNvSpPr/>
          <p:nvPr/>
        </p:nvSpPr>
        <p:spPr>
          <a:xfrm>
            <a:off x="893420" y="3012911"/>
            <a:ext cx="2171092" cy="802212"/>
          </a:xfrm>
          <a:prstGeom prst="rect">
            <a:avLst/>
          </a:prstGeom>
          <a:solidFill>
            <a:srgbClr val="E5F7EF"/>
          </a:solidFill>
          <a:ln w="15240">
            <a:solidFill>
              <a:srgbClr val="009E73"/>
            </a:solidFill>
            <a:prstDash val="solid"/>
          </a:ln>
        </p:spPr>
      </p:sp>
      <p:sp>
        <p:nvSpPr>
          <p:cNvPr id="15" name="Shape 13"/>
          <p:cNvSpPr/>
          <p:nvPr/>
        </p:nvSpPr>
        <p:spPr>
          <a:xfrm>
            <a:off x="3515116" y="3012911"/>
            <a:ext cx="2171092" cy="802212"/>
          </a:xfrm>
          <a:prstGeom prst="rect">
            <a:avLst/>
          </a:prstGeom>
          <a:solidFill>
            <a:srgbClr val="E5F7EF"/>
          </a:solidFill>
          <a:ln w="15240">
            <a:solidFill>
              <a:srgbClr val="009E73"/>
            </a:solidFill>
            <a:prstDash val="solid"/>
          </a:ln>
        </p:spPr>
      </p:sp>
      <p:sp>
        <p:nvSpPr>
          <p:cNvPr id="16" name="Shape 14"/>
          <p:cNvSpPr/>
          <p:nvPr/>
        </p:nvSpPr>
        <p:spPr>
          <a:xfrm>
            <a:off x="6136812" y="3012911"/>
            <a:ext cx="2171092" cy="802212"/>
          </a:xfrm>
          <a:prstGeom prst="rect">
            <a:avLst/>
          </a:prstGeom>
          <a:solidFill>
            <a:srgbClr val="E5F7EF"/>
          </a:solidFill>
          <a:ln w="15240">
            <a:solidFill>
              <a:srgbClr val="009E73"/>
            </a:solidFill>
            <a:prstDash val="solid"/>
          </a:ln>
        </p:spPr>
      </p:sp>
      <p:sp>
        <p:nvSpPr>
          <p:cNvPr id="17" name="Shape 15"/>
          <p:cNvSpPr/>
          <p:nvPr/>
        </p:nvSpPr>
        <p:spPr>
          <a:xfrm>
            <a:off x="8758507" y="3012911"/>
            <a:ext cx="2171092" cy="802212"/>
          </a:xfrm>
          <a:prstGeom prst="rect">
            <a:avLst/>
          </a:prstGeom>
          <a:solidFill>
            <a:srgbClr val="E5F7EF"/>
          </a:solidFill>
          <a:ln w="15240">
            <a:solidFill>
              <a:srgbClr val="009E73"/>
            </a:solidFill>
            <a:prstDash val="solid"/>
          </a:ln>
        </p:spPr>
      </p:sp>
      <p:sp>
        <p:nvSpPr>
          <p:cNvPr id="18" name="Shape 16"/>
          <p:cNvSpPr/>
          <p:nvPr/>
        </p:nvSpPr>
        <p:spPr>
          <a:xfrm>
            <a:off x="893420" y="4617334"/>
            <a:ext cx="2171092" cy="721990"/>
          </a:xfrm>
          <a:prstGeom prst="roundRect">
            <a:avLst>
              <a:gd name="adj" fmla="val 10132"/>
            </a:avLst>
          </a:prstGeom>
          <a:solidFill>
            <a:srgbClr val="E4F2FB"/>
          </a:solidFill>
          <a:ln w="15240">
            <a:solidFill>
              <a:srgbClr val="0072B2"/>
            </a:solidFill>
            <a:prstDash val="solid"/>
          </a:ln>
        </p:spPr>
      </p:sp>
      <p:sp>
        <p:nvSpPr>
          <p:cNvPr id="19" name="Shape 17"/>
          <p:cNvSpPr/>
          <p:nvPr/>
        </p:nvSpPr>
        <p:spPr>
          <a:xfrm>
            <a:off x="3515116" y="4617334"/>
            <a:ext cx="2171092" cy="721990"/>
          </a:xfrm>
          <a:prstGeom prst="rect">
            <a:avLst/>
          </a:prstGeom>
          <a:solidFill>
            <a:srgbClr val="E5F7EF"/>
          </a:solidFill>
          <a:ln w="15240">
            <a:solidFill>
              <a:srgbClr val="009E73"/>
            </a:solidFill>
            <a:prstDash val="solid"/>
          </a:ln>
        </p:spPr>
      </p:sp>
      <p:sp>
        <p:nvSpPr>
          <p:cNvPr id="20" name="Shape 18"/>
          <p:cNvSpPr/>
          <p:nvPr/>
        </p:nvSpPr>
        <p:spPr>
          <a:xfrm>
            <a:off x="893420" y="5724386"/>
            <a:ext cx="196627" cy="176487"/>
          </a:xfrm>
          <a:prstGeom prst="roundRect">
            <a:avLst>
              <a:gd name="adj" fmla="val 41449"/>
            </a:avLst>
          </a:prstGeom>
          <a:solidFill>
            <a:srgbClr val="E4F2FB"/>
          </a:solidFill>
          <a:ln w="15240">
            <a:solidFill>
              <a:srgbClr val="0072B2"/>
            </a:solidFill>
            <a:prstDash val="solid"/>
          </a:ln>
        </p:spPr>
      </p:sp>
      <p:sp>
        <p:nvSpPr>
          <p:cNvPr id="21" name="Shape 19"/>
          <p:cNvSpPr/>
          <p:nvPr/>
        </p:nvSpPr>
        <p:spPr>
          <a:xfrm>
            <a:off x="2286196" y="5724386"/>
            <a:ext cx="196627" cy="176487"/>
          </a:xfrm>
          <a:prstGeom prst="rect">
            <a:avLst/>
          </a:prstGeom>
          <a:solidFill>
            <a:srgbClr val="E5F7EF"/>
          </a:solidFill>
          <a:ln w="15240">
            <a:solidFill>
              <a:srgbClr val="009E73"/>
            </a:solidFill>
            <a:prstDash val="solid"/>
          </a:ln>
        </p:spPr>
      </p:sp>
      <p:sp>
        <p:nvSpPr>
          <p:cNvPr id="22" name="Text 20"/>
          <p:cNvSpPr txBox="1"/>
          <p:nvPr/>
        </p:nvSpPr>
        <p:spPr>
          <a:xfrm>
            <a:off x="1118338" y="3290272"/>
            <a:ext cx="1721256"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Read last token</a:t>
            </a:r>
            <a:endParaRPr lang="en-US" sz="1680" dirty="0"/>
          </a:p>
        </p:txBody>
      </p:sp>
      <p:sp>
        <p:nvSpPr>
          <p:cNvPr id="23" name="Text 21"/>
          <p:cNvSpPr txBox="1"/>
          <p:nvPr/>
        </p:nvSpPr>
        <p:spPr>
          <a:xfrm>
            <a:off x="3846028" y="3290272"/>
            <a:ext cx="150926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Project Q/K/V</a:t>
            </a:r>
            <a:endParaRPr lang="en-US" sz="1680" dirty="0"/>
          </a:p>
        </p:txBody>
      </p:sp>
      <p:sp>
        <p:nvSpPr>
          <p:cNvPr id="24" name="Text 22"/>
          <p:cNvSpPr txBox="1"/>
          <p:nvPr/>
        </p:nvSpPr>
        <p:spPr>
          <a:xfrm>
            <a:off x="6829871" y="3290272"/>
            <a:ext cx="784973"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Attend</a:t>
            </a:r>
            <a:endParaRPr lang="en-US" sz="1680" dirty="0"/>
          </a:p>
        </p:txBody>
      </p:sp>
      <p:sp>
        <p:nvSpPr>
          <p:cNvPr id="25" name="Text 23"/>
          <p:cNvSpPr txBox="1"/>
          <p:nvPr/>
        </p:nvSpPr>
        <p:spPr>
          <a:xfrm>
            <a:off x="8908346" y="3290272"/>
            <a:ext cx="1871414"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Score next token</a:t>
            </a:r>
            <a:endParaRPr lang="en-US" sz="1680" dirty="0"/>
          </a:p>
        </p:txBody>
      </p:sp>
      <p:sp>
        <p:nvSpPr>
          <p:cNvPr id="26" name="Text 24"/>
          <p:cNvSpPr txBox="1"/>
          <p:nvPr/>
        </p:nvSpPr>
        <p:spPr>
          <a:xfrm>
            <a:off x="2756002" y="2604978"/>
            <a:ext cx="1067624"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sat vector</a:t>
            </a:r>
            <a:endParaRPr lang="en-US" sz="1680" dirty="0"/>
          </a:p>
        </p:txBody>
      </p:sp>
      <p:sp>
        <p:nvSpPr>
          <p:cNvPr id="27" name="Text 25"/>
          <p:cNvSpPr txBox="1"/>
          <p:nvPr/>
        </p:nvSpPr>
        <p:spPr>
          <a:xfrm>
            <a:off x="5492525" y="2604978"/>
            <a:ext cx="837970"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query q</a:t>
            </a:r>
            <a:endParaRPr lang="en-US" sz="1680" dirty="0"/>
          </a:p>
        </p:txBody>
      </p:sp>
      <p:sp>
        <p:nvSpPr>
          <p:cNvPr id="28" name="Text 26"/>
          <p:cNvSpPr txBox="1"/>
          <p:nvPr/>
        </p:nvSpPr>
        <p:spPr>
          <a:xfrm>
            <a:off x="7968478" y="2604978"/>
            <a:ext cx="1129454" cy="247491"/>
          </a:xfrm>
          <a:prstGeom prst="rect">
            <a:avLst/>
          </a:prstGeom>
          <a:noFill/>
          <a:ln/>
        </p:spPr>
        <p:txBody>
          <a:bodyPr wrap="square" lIns="0" tIns="0" rIns="0" bIns="0" rtlCol="0" anchor="ctr"/>
          <a:lstStyle/>
          <a:p>
            <a:pPr algn="ctr" indent="0" marL="0">
              <a:lnSpc>
                <a:spcPct val="116000"/>
              </a:lnSpc>
              <a:buNone/>
            </a:pPr>
            <a:r>
              <a:rPr lang="en-US" sz="1680" dirty="0">
                <a:solidFill>
                  <a:srgbClr val="0072B2"/>
                </a:solidFill>
                <a:latin typeface="Arial" pitchFamily="34" charset="0"/>
                <a:ea typeface="Arial" pitchFamily="34" charset="-122"/>
                <a:cs typeface="Arial" pitchFamily="34" charset="-120"/>
              </a:rPr>
              <a:t>last output</a:t>
            </a:r>
            <a:endParaRPr lang="en-US" sz="1680" dirty="0"/>
          </a:p>
        </p:txBody>
      </p:sp>
      <p:sp>
        <p:nvSpPr>
          <p:cNvPr id="29" name="Text 27"/>
          <p:cNvSpPr txBox="1"/>
          <p:nvPr/>
        </p:nvSpPr>
        <p:spPr>
          <a:xfrm>
            <a:off x="1378908" y="4730839"/>
            <a:ext cx="120011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Cache:</a:t>
            </a:r>
            <a:endParaRPr lang="en-US" sz="1680" dirty="0"/>
          </a:p>
        </p:txBody>
      </p:sp>
      <p:sp>
        <p:nvSpPr>
          <p:cNvPr id="30" name="Text 28"/>
          <p:cNvSpPr txBox="1"/>
          <p:nvPr/>
        </p:nvSpPr>
        <p:spPr>
          <a:xfrm>
            <a:off x="1378908" y="4978330"/>
            <a:ext cx="120011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earlier K/V</a:t>
            </a:r>
            <a:endParaRPr lang="en-US" sz="1680" dirty="0"/>
          </a:p>
        </p:txBody>
      </p:sp>
      <p:sp>
        <p:nvSpPr>
          <p:cNvPr id="31" name="Text 29"/>
          <p:cNvSpPr txBox="1"/>
          <p:nvPr/>
        </p:nvSpPr>
        <p:spPr>
          <a:xfrm>
            <a:off x="3929940" y="4854584"/>
            <a:ext cx="1341443"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Append K/V</a:t>
            </a:r>
            <a:endParaRPr lang="en-US" sz="1680" dirty="0"/>
          </a:p>
        </p:txBody>
      </p:sp>
      <p:sp>
        <p:nvSpPr>
          <p:cNvPr id="32" name="Text 30"/>
          <p:cNvSpPr txBox="1"/>
          <p:nvPr/>
        </p:nvSpPr>
        <p:spPr>
          <a:xfrm>
            <a:off x="4703072" y="4092483"/>
            <a:ext cx="926298" cy="247491"/>
          </a:xfrm>
          <a:prstGeom prst="rect">
            <a:avLst/>
          </a:prstGeom>
          <a:noFill/>
          <a:ln/>
        </p:spPr>
        <p:txBody>
          <a:bodyPr wrap="square" lIns="0" tIns="0" rIns="0" bIns="0" rtlCol="0" anchor="ctr"/>
          <a:lstStyle/>
          <a:p>
            <a:pPr algn="l" indent="0" marL="0">
              <a:lnSpc>
                <a:spcPct val="116000"/>
              </a:lnSpc>
              <a:buNone/>
            </a:pPr>
            <a:r>
              <a:rPr lang="en-US" sz="1680" dirty="0">
                <a:solidFill>
                  <a:srgbClr val="0072B2"/>
                </a:solidFill>
                <a:latin typeface="Arial" pitchFamily="34" charset="0"/>
                <a:ea typeface="Arial" pitchFamily="34" charset="-122"/>
                <a:cs typeface="Arial" pitchFamily="34" charset="-120"/>
              </a:rPr>
              <a:t>new K/V</a:t>
            </a:r>
            <a:endParaRPr lang="en-US" sz="1680" dirty="0"/>
          </a:p>
        </p:txBody>
      </p:sp>
      <p:sp>
        <p:nvSpPr>
          <p:cNvPr id="33" name="Text 31"/>
          <p:cNvSpPr txBox="1"/>
          <p:nvPr/>
        </p:nvSpPr>
        <p:spPr>
          <a:xfrm>
            <a:off x="6089703" y="4854584"/>
            <a:ext cx="749641"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all K/V</a:t>
            </a:r>
            <a:endParaRPr lang="en-US" sz="1680" dirty="0"/>
          </a:p>
        </p:txBody>
      </p:sp>
      <p:sp>
        <p:nvSpPr>
          <p:cNvPr id="34" name="Text 32"/>
          <p:cNvSpPr txBox="1"/>
          <p:nvPr/>
        </p:nvSpPr>
        <p:spPr>
          <a:xfrm>
            <a:off x="852456" y="1921960"/>
            <a:ext cx="4024968" cy="288739"/>
          </a:xfrm>
          <a:prstGeom prst="rect">
            <a:avLst/>
          </a:prstGeom>
          <a:noFill/>
          <a:ln/>
        </p:spPr>
        <p:txBody>
          <a:bodyPr wrap="square" lIns="0" tIns="0" rIns="0" bIns="0" rtlCol="0" anchor="ctr"/>
          <a:lstStyle/>
          <a:p>
            <a:pPr algn="l" indent="0" marL="0">
              <a:lnSpc>
                <a:spcPct val="116000"/>
              </a:lnSpc>
              <a:buNone/>
            </a:pPr>
            <a:r>
              <a:rPr lang="en-US" sz="1960" dirty="0">
                <a:solidFill>
                  <a:srgbClr val="1E1B4B"/>
                </a:solidFill>
                <a:latin typeface="Arial" pitchFamily="34" charset="0"/>
                <a:ea typeface="Arial" pitchFamily="34" charset="-122"/>
                <a:cs typeface="Arial" pitchFamily="34" charset="-120"/>
              </a:rPr>
              <a:t>Current query uses a known token</a:t>
            </a:r>
            <a:endParaRPr lang="en-US" sz="1960" dirty="0"/>
          </a:p>
        </p:txBody>
      </p:sp>
      <p:sp>
        <p:nvSpPr>
          <p:cNvPr id="35" name="Text 33"/>
          <p:cNvSpPr txBox="1"/>
          <p:nvPr/>
        </p:nvSpPr>
        <p:spPr>
          <a:xfrm>
            <a:off x="1171975" y="5688884"/>
            <a:ext cx="56415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Data</a:t>
            </a:r>
            <a:endParaRPr lang="en-US" sz="1680" dirty="0"/>
          </a:p>
        </p:txBody>
      </p:sp>
      <p:sp>
        <p:nvSpPr>
          <p:cNvPr id="36" name="Text 34"/>
          <p:cNvSpPr txBox="1"/>
          <p:nvPr/>
        </p:nvSpPr>
        <p:spPr>
          <a:xfrm>
            <a:off x="2564751" y="5688884"/>
            <a:ext cx="705477"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Model</a:t>
            </a:r>
            <a:endParaRPr lang="en-US" sz="1680" dirty="0"/>
          </a:p>
        </p:txBody>
      </p:sp>
      <p:sp>
        <p:nvSpPr>
          <p:cNvPr id="37" name="Text 35"/>
          <p:cNvSpPr txBox="1"/>
          <p:nvPr/>
        </p:nvSpPr>
        <p:spPr>
          <a:xfrm>
            <a:off x="4088612" y="5688884"/>
            <a:ext cx="56415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Flow</a:t>
            </a:r>
            <a:endParaRPr lang="en-US" sz="168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Mixture-of-experts: run a few networks per token</a:t>
            </a:r>
            <a:endParaRPr lang="en-US" sz="3200" dirty="0"/>
          </a:p>
        </p:txBody>
      </p:sp>
      <p:sp>
        <p:nvSpPr>
          <p:cNvPr id="6" name="Shape 4"/>
          <p:cNvSpPr/>
          <p:nvPr/>
        </p:nvSpPr>
        <p:spPr>
          <a:xfrm>
            <a:off x="3228368" y="3734902"/>
            <a:ext cx="573496" cy="0"/>
          </a:xfrm>
          <a:prstGeom prst="line">
            <a:avLst/>
          </a:prstGeom>
          <a:noFill/>
          <a:ln w="22860">
            <a:solidFill>
              <a:srgbClr val="009E73"/>
            </a:solidFill>
            <a:prstDash val="solid"/>
          </a:ln>
        </p:spPr>
      </p:sp>
      <p:sp>
        <p:nvSpPr>
          <p:cNvPr id="7" name="Shape 5"/>
          <p:cNvSpPr/>
          <p:nvPr/>
        </p:nvSpPr>
        <p:spPr>
          <a:xfrm flipV="1">
            <a:off x="3801864" y="3333796"/>
            <a:ext cx="0" cy="401106"/>
          </a:xfrm>
          <a:prstGeom prst="line">
            <a:avLst/>
          </a:prstGeom>
          <a:noFill/>
          <a:ln w="22860">
            <a:solidFill>
              <a:srgbClr val="009E73"/>
            </a:solidFill>
            <a:prstDash val="solid"/>
          </a:ln>
        </p:spPr>
      </p:sp>
      <p:sp>
        <p:nvSpPr>
          <p:cNvPr id="8" name="Shape 6"/>
          <p:cNvSpPr/>
          <p:nvPr/>
        </p:nvSpPr>
        <p:spPr>
          <a:xfrm>
            <a:off x="3228368" y="4136007"/>
            <a:ext cx="573496" cy="0"/>
          </a:xfrm>
          <a:prstGeom prst="line">
            <a:avLst/>
          </a:prstGeom>
          <a:noFill/>
          <a:ln w="22860">
            <a:solidFill>
              <a:srgbClr val="009E73"/>
            </a:solidFill>
            <a:prstDash val="solid"/>
          </a:ln>
        </p:spPr>
      </p:sp>
      <p:sp>
        <p:nvSpPr>
          <p:cNvPr id="9" name="Shape 7"/>
          <p:cNvSpPr/>
          <p:nvPr/>
        </p:nvSpPr>
        <p:spPr>
          <a:xfrm>
            <a:off x="3801864" y="4136007"/>
            <a:ext cx="0" cy="441216"/>
          </a:xfrm>
          <a:prstGeom prst="line">
            <a:avLst/>
          </a:prstGeom>
          <a:noFill/>
          <a:ln w="22860">
            <a:solidFill>
              <a:srgbClr val="009E73"/>
            </a:solidFill>
            <a:prstDash val="solid"/>
          </a:ln>
        </p:spPr>
      </p:sp>
      <p:sp>
        <p:nvSpPr>
          <p:cNvPr id="10" name="Shape 8"/>
          <p:cNvSpPr/>
          <p:nvPr/>
        </p:nvSpPr>
        <p:spPr>
          <a:xfrm>
            <a:off x="6587416" y="3333796"/>
            <a:ext cx="737352" cy="0"/>
          </a:xfrm>
          <a:prstGeom prst="line">
            <a:avLst/>
          </a:prstGeom>
          <a:noFill/>
          <a:ln w="22860">
            <a:solidFill>
              <a:srgbClr val="009E73"/>
            </a:solidFill>
            <a:prstDash val="solid"/>
          </a:ln>
        </p:spPr>
      </p:sp>
      <p:sp>
        <p:nvSpPr>
          <p:cNvPr id="11" name="Shape 9"/>
          <p:cNvSpPr/>
          <p:nvPr/>
        </p:nvSpPr>
        <p:spPr>
          <a:xfrm>
            <a:off x="7324767" y="3333796"/>
            <a:ext cx="0" cy="401106"/>
          </a:xfrm>
          <a:prstGeom prst="line">
            <a:avLst/>
          </a:prstGeom>
          <a:noFill/>
          <a:ln w="22860">
            <a:solidFill>
              <a:srgbClr val="009E73"/>
            </a:solidFill>
            <a:prstDash val="solid"/>
          </a:ln>
        </p:spPr>
      </p:sp>
      <p:sp>
        <p:nvSpPr>
          <p:cNvPr id="12" name="Shape 10"/>
          <p:cNvSpPr/>
          <p:nvPr/>
        </p:nvSpPr>
        <p:spPr>
          <a:xfrm>
            <a:off x="6587416" y="4577224"/>
            <a:ext cx="737352" cy="0"/>
          </a:xfrm>
          <a:prstGeom prst="line">
            <a:avLst/>
          </a:prstGeom>
          <a:noFill/>
          <a:ln w="22860">
            <a:solidFill>
              <a:srgbClr val="009E73"/>
            </a:solidFill>
            <a:prstDash val="solid"/>
          </a:ln>
        </p:spPr>
      </p:sp>
      <p:sp>
        <p:nvSpPr>
          <p:cNvPr id="13" name="Shape 11"/>
          <p:cNvSpPr/>
          <p:nvPr/>
        </p:nvSpPr>
        <p:spPr>
          <a:xfrm flipV="1">
            <a:off x="7324767" y="4136007"/>
            <a:ext cx="0" cy="441216"/>
          </a:xfrm>
          <a:prstGeom prst="line">
            <a:avLst/>
          </a:prstGeom>
          <a:noFill/>
          <a:ln w="22860">
            <a:solidFill>
              <a:srgbClr val="009E73"/>
            </a:solidFill>
            <a:prstDash val="solid"/>
          </a:ln>
        </p:spPr>
      </p:sp>
      <p:sp>
        <p:nvSpPr>
          <p:cNvPr id="14" name="Shape 12"/>
          <p:cNvSpPr/>
          <p:nvPr/>
        </p:nvSpPr>
        <p:spPr>
          <a:xfrm flipV="1">
            <a:off x="2327160" y="2411253"/>
            <a:ext cx="0" cy="1123096"/>
          </a:xfrm>
          <a:prstGeom prst="line">
            <a:avLst/>
          </a:prstGeom>
          <a:noFill/>
          <a:ln w="22860">
            <a:solidFill>
              <a:srgbClr val="0072B2"/>
            </a:solidFill>
            <a:prstDash val="solid"/>
          </a:ln>
        </p:spPr>
      </p:sp>
      <p:sp>
        <p:nvSpPr>
          <p:cNvPr id="15" name="Shape 13"/>
          <p:cNvSpPr/>
          <p:nvPr/>
        </p:nvSpPr>
        <p:spPr>
          <a:xfrm>
            <a:off x="2327160" y="2411253"/>
            <a:ext cx="6922915" cy="0"/>
          </a:xfrm>
          <a:prstGeom prst="line">
            <a:avLst/>
          </a:prstGeom>
          <a:noFill/>
          <a:ln w="22860">
            <a:solidFill>
              <a:srgbClr val="0072B2"/>
            </a:solidFill>
            <a:prstDash val="solid"/>
          </a:ln>
        </p:spPr>
      </p:sp>
      <p:sp>
        <p:nvSpPr>
          <p:cNvPr id="16" name="Shape 14"/>
          <p:cNvSpPr/>
          <p:nvPr/>
        </p:nvSpPr>
        <p:spPr>
          <a:xfrm>
            <a:off x="2286196" y="5652187"/>
            <a:ext cx="327712" cy="0"/>
          </a:xfrm>
          <a:prstGeom prst="line">
            <a:avLst/>
          </a:prstGeom>
          <a:noFill/>
          <a:ln w="22860">
            <a:solidFill>
              <a:srgbClr val="009E73"/>
            </a:solidFill>
            <a:prstDash val="solid"/>
          </a:ln>
        </p:spPr>
      </p:sp>
      <p:sp>
        <p:nvSpPr>
          <p:cNvPr id="17" name="Shape 15"/>
          <p:cNvSpPr/>
          <p:nvPr/>
        </p:nvSpPr>
        <p:spPr>
          <a:xfrm>
            <a:off x="3801864" y="3333796"/>
            <a:ext cx="573496" cy="0"/>
          </a:xfrm>
          <a:prstGeom prst="line">
            <a:avLst/>
          </a:prstGeom>
          <a:noFill/>
          <a:ln w="22860">
            <a:solidFill>
              <a:srgbClr val="009E73"/>
            </a:solidFill>
            <a:prstDash val="solid"/>
            <a:tailEnd type="triangle"/>
          </a:ln>
        </p:spPr>
      </p:sp>
      <p:sp>
        <p:nvSpPr>
          <p:cNvPr id="18" name="Shape 16"/>
          <p:cNvSpPr/>
          <p:nvPr/>
        </p:nvSpPr>
        <p:spPr>
          <a:xfrm>
            <a:off x="3801864" y="4577224"/>
            <a:ext cx="573496" cy="0"/>
          </a:xfrm>
          <a:prstGeom prst="line">
            <a:avLst/>
          </a:prstGeom>
          <a:noFill/>
          <a:ln w="22860">
            <a:solidFill>
              <a:srgbClr val="009E73"/>
            </a:solidFill>
            <a:prstDash val="solid"/>
            <a:tailEnd type="triangle"/>
          </a:ln>
        </p:spPr>
      </p:sp>
      <p:sp>
        <p:nvSpPr>
          <p:cNvPr id="19" name="Shape 17"/>
          <p:cNvSpPr/>
          <p:nvPr/>
        </p:nvSpPr>
        <p:spPr>
          <a:xfrm>
            <a:off x="7324767" y="3734902"/>
            <a:ext cx="819280" cy="0"/>
          </a:xfrm>
          <a:prstGeom prst="line">
            <a:avLst/>
          </a:prstGeom>
          <a:noFill/>
          <a:ln w="22860">
            <a:solidFill>
              <a:srgbClr val="009E73"/>
            </a:solidFill>
            <a:prstDash val="solid"/>
            <a:tailEnd type="triangle"/>
          </a:ln>
        </p:spPr>
      </p:sp>
      <p:sp>
        <p:nvSpPr>
          <p:cNvPr id="20" name="Shape 18"/>
          <p:cNvSpPr/>
          <p:nvPr/>
        </p:nvSpPr>
        <p:spPr>
          <a:xfrm>
            <a:off x="7324767" y="4136007"/>
            <a:ext cx="819280" cy="0"/>
          </a:xfrm>
          <a:prstGeom prst="line">
            <a:avLst/>
          </a:prstGeom>
          <a:noFill/>
          <a:ln w="22860">
            <a:solidFill>
              <a:srgbClr val="009E73"/>
            </a:solidFill>
            <a:prstDash val="solid"/>
            <a:tailEnd type="triangle"/>
          </a:ln>
        </p:spPr>
      </p:sp>
      <p:sp>
        <p:nvSpPr>
          <p:cNvPr id="21" name="Shape 19"/>
          <p:cNvSpPr/>
          <p:nvPr/>
        </p:nvSpPr>
        <p:spPr>
          <a:xfrm>
            <a:off x="9250075" y="2411253"/>
            <a:ext cx="0" cy="1123096"/>
          </a:xfrm>
          <a:prstGeom prst="line">
            <a:avLst/>
          </a:prstGeom>
          <a:noFill/>
          <a:ln w="22860">
            <a:solidFill>
              <a:srgbClr val="0072B2"/>
            </a:solidFill>
            <a:prstDash val="solid"/>
            <a:tailEnd type="triangle"/>
          </a:ln>
        </p:spPr>
      </p:sp>
      <p:sp>
        <p:nvSpPr>
          <p:cNvPr id="22" name="Shape 20"/>
          <p:cNvSpPr/>
          <p:nvPr/>
        </p:nvSpPr>
        <p:spPr>
          <a:xfrm>
            <a:off x="852456" y="3935455"/>
            <a:ext cx="573496" cy="0"/>
          </a:xfrm>
          <a:prstGeom prst="line">
            <a:avLst/>
          </a:prstGeom>
          <a:noFill/>
          <a:ln w="22860">
            <a:solidFill>
              <a:srgbClr val="0072B2"/>
            </a:solidFill>
            <a:prstDash val="solid"/>
            <a:tailEnd type="triangle"/>
          </a:ln>
        </p:spPr>
      </p:sp>
      <p:sp>
        <p:nvSpPr>
          <p:cNvPr id="23" name="Shape 21"/>
          <p:cNvSpPr/>
          <p:nvPr/>
        </p:nvSpPr>
        <p:spPr>
          <a:xfrm>
            <a:off x="10356103" y="3935455"/>
            <a:ext cx="901208" cy="0"/>
          </a:xfrm>
          <a:prstGeom prst="line">
            <a:avLst/>
          </a:prstGeom>
          <a:noFill/>
          <a:ln w="22860">
            <a:solidFill>
              <a:srgbClr val="009E73"/>
            </a:solidFill>
            <a:prstDash val="solid"/>
            <a:tailEnd type="triangle"/>
          </a:ln>
        </p:spPr>
      </p:sp>
      <p:sp>
        <p:nvSpPr>
          <p:cNvPr id="24" name="Shape 22"/>
          <p:cNvSpPr/>
          <p:nvPr/>
        </p:nvSpPr>
        <p:spPr>
          <a:xfrm>
            <a:off x="1425952" y="3534349"/>
            <a:ext cx="1802416" cy="802212"/>
          </a:xfrm>
          <a:prstGeom prst="rect">
            <a:avLst/>
          </a:prstGeom>
          <a:solidFill>
            <a:srgbClr val="E5F7EF"/>
          </a:solidFill>
          <a:ln w="15240">
            <a:solidFill>
              <a:srgbClr val="009E73"/>
            </a:solidFill>
            <a:prstDash val="solid"/>
          </a:ln>
        </p:spPr>
      </p:sp>
      <p:sp>
        <p:nvSpPr>
          <p:cNvPr id="25" name="Shape 23"/>
          <p:cNvSpPr/>
          <p:nvPr/>
        </p:nvSpPr>
        <p:spPr>
          <a:xfrm>
            <a:off x="4375360" y="2972801"/>
            <a:ext cx="2212056" cy="721990"/>
          </a:xfrm>
          <a:prstGeom prst="rect">
            <a:avLst/>
          </a:prstGeom>
          <a:solidFill>
            <a:srgbClr val="E5F7EF"/>
          </a:solidFill>
          <a:ln w="15240">
            <a:solidFill>
              <a:srgbClr val="009E73"/>
            </a:solidFill>
            <a:prstDash val="solid"/>
          </a:ln>
        </p:spPr>
      </p:sp>
      <p:sp>
        <p:nvSpPr>
          <p:cNvPr id="26" name="Shape 24"/>
          <p:cNvSpPr/>
          <p:nvPr/>
        </p:nvSpPr>
        <p:spPr>
          <a:xfrm>
            <a:off x="4375360" y="4216229"/>
            <a:ext cx="2212056" cy="721990"/>
          </a:xfrm>
          <a:prstGeom prst="rect">
            <a:avLst/>
          </a:prstGeom>
          <a:solidFill>
            <a:srgbClr val="E5F7EF"/>
          </a:solidFill>
          <a:ln w="15240">
            <a:solidFill>
              <a:srgbClr val="009E73"/>
            </a:solidFill>
            <a:prstDash val="solid"/>
          </a:ln>
        </p:spPr>
      </p:sp>
      <p:sp>
        <p:nvSpPr>
          <p:cNvPr id="27" name="Shape 25"/>
          <p:cNvSpPr/>
          <p:nvPr/>
        </p:nvSpPr>
        <p:spPr>
          <a:xfrm>
            <a:off x="8144047" y="3534349"/>
            <a:ext cx="2212056" cy="802212"/>
          </a:xfrm>
          <a:prstGeom prst="rect">
            <a:avLst/>
          </a:prstGeom>
          <a:solidFill>
            <a:srgbClr val="E5F7EF"/>
          </a:solidFill>
          <a:ln w="15240">
            <a:solidFill>
              <a:srgbClr val="009E73"/>
            </a:solidFill>
            <a:prstDash val="solid"/>
          </a:ln>
        </p:spPr>
      </p:sp>
      <p:sp>
        <p:nvSpPr>
          <p:cNvPr id="28" name="Shape 26"/>
          <p:cNvSpPr/>
          <p:nvPr/>
        </p:nvSpPr>
        <p:spPr>
          <a:xfrm>
            <a:off x="893420" y="5563944"/>
            <a:ext cx="196627" cy="176487"/>
          </a:xfrm>
          <a:prstGeom prst="rect">
            <a:avLst/>
          </a:prstGeom>
          <a:solidFill>
            <a:srgbClr val="E5F7EF"/>
          </a:solidFill>
          <a:ln w="15240">
            <a:solidFill>
              <a:srgbClr val="009E73"/>
            </a:solidFill>
            <a:prstDash val="solid"/>
          </a:ln>
        </p:spPr>
      </p:sp>
      <p:sp>
        <p:nvSpPr>
          <p:cNvPr id="29" name="Text 27"/>
          <p:cNvSpPr txBox="1"/>
          <p:nvPr/>
        </p:nvSpPr>
        <p:spPr>
          <a:xfrm>
            <a:off x="1647606" y="3811709"/>
            <a:ext cx="1359109"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Route token</a:t>
            </a:r>
            <a:endParaRPr lang="en-US" sz="1680" dirty="0"/>
          </a:p>
        </p:txBody>
      </p:sp>
      <p:sp>
        <p:nvSpPr>
          <p:cNvPr id="30" name="Text 28"/>
          <p:cNvSpPr txBox="1"/>
          <p:nvPr/>
        </p:nvSpPr>
        <p:spPr>
          <a:xfrm>
            <a:off x="4752908" y="3210051"/>
            <a:ext cx="1456960"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Run expert A</a:t>
            </a:r>
            <a:endParaRPr lang="en-US" sz="1680" dirty="0"/>
          </a:p>
        </p:txBody>
      </p:sp>
      <p:sp>
        <p:nvSpPr>
          <p:cNvPr id="31" name="Text 29"/>
          <p:cNvSpPr txBox="1"/>
          <p:nvPr/>
        </p:nvSpPr>
        <p:spPr>
          <a:xfrm>
            <a:off x="4748836" y="4453478"/>
            <a:ext cx="1465103"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Run expert B</a:t>
            </a:r>
            <a:endParaRPr lang="en-US" sz="1680" dirty="0"/>
          </a:p>
        </p:txBody>
      </p:sp>
      <p:sp>
        <p:nvSpPr>
          <p:cNvPr id="32" name="Text 30"/>
          <p:cNvSpPr txBox="1"/>
          <p:nvPr/>
        </p:nvSpPr>
        <p:spPr>
          <a:xfrm>
            <a:off x="8453278" y="3811709"/>
            <a:ext cx="1593593"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Weighted sum</a:t>
            </a:r>
            <a:endParaRPr lang="en-US" sz="1680" dirty="0"/>
          </a:p>
        </p:txBody>
      </p:sp>
      <p:sp>
        <p:nvSpPr>
          <p:cNvPr id="33" name="Text 31"/>
          <p:cNvSpPr txBox="1"/>
          <p:nvPr/>
        </p:nvSpPr>
        <p:spPr>
          <a:xfrm>
            <a:off x="3801864" y="2524757"/>
            <a:ext cx="820304"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vectors</a:t>
            </a:r>
            <a:endParaRPr lang="en-US" sz="1680" dirty="0"/>
          </a:p>
        </p:txBody>
      </p:sp>
      <p:sp>
        <p:nvSpPr>
          <p:cNvPr id="34" name="Text 32"/>
          <p:cNvSpPr txBox="1"/>
          <p:nvPr/>
        </p:nvSpPr>
        <p:spPr>
          <a:xfrm>
            <a:off x="3801864" y="5051723"/>
            <a:ext cx="820304"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vectors</a:t>
            </a:r>
            <a:endParaRPr lang="en-US" sz="1680" dirty="0"/>
          </a:p>
        </p:txBody>
      </p:sp>
      <p:sp>
        <p:nvSpPr>
          <p:cNvPr id="35" name="Text 33"/>
          <p:cNvSpPr txBox="1"/>
          <p:nvPr/>
        </p:nvSpPr>
        <p:spPr>
          <a:xfrm>
            <a:off x="6997055" y="2524757"/>
            <a:ext cx="829137"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outputs</a:t>
            </a:r>
            <a:endParaRPr lang="en-US" sz="1680" dirty="0"/>
          </a:p>
        </p:txBody>
      </p:sp>
      <p:sp>
        <p:nvSpPr>
          <p:cNvPr id="36" name="Text 34"/>
          <p:cNvSpPr txBox="1"/>
          <p:nvPr/>
        </p:nvSpPr>
        <p:spPr>
          <a:xfrm>
            <a:off x="6997055" y="5051723"/>
            <a:ext cx="829137"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outputs</a:t>
            </a:r>
            <a:endParaRPr lang="en-US" sz="1680" dirty="0"/>
          </a:p>
        </p:txBody>
      </p:sp>
      <p:sp>
        <p:nvSpPr>
          <p:cNvPr id="37" name="Text 35"/>
          <p:cNvSpPr txBox="1"/>
          <p:nvPr/>
        </p:nvSpPr>
        <p:spPr>
          <a:xfrm>
            <a:off x="5133194" y="2287507"/>
            <a:ext cx="1597596" cy="247491"/>
          </a:xfrm>
          <a:prstGeom prst="rect">
            <a:avLst/>
          </a:prstGeom>
          <a:solidFill>
            <a:srgbClr val="FFFFFF"/>
          </a:solidFill>
          <a:ln/>
        </p:spPr>
        <p:txBody>
          <a:bodyPr wrap="square" lIns="0" tIns="0" rIns="0" bIns="0" rtlCol="0" anchor="ctr"/>
          <a:lstStyle/>
          <a:p>
            <a:pPr algn="ctr" indent="0" marL="0">
              <a:lnSpc>
                <a:spcPct val="116000"/>
              </a:lnSpc>
              <a:buNone/>
            </a:pPr>
            <a:r>
              <a:rPr lang="en-US" sz="1680" dirty="0">
                <a:solidFill>
                  <a:srgbClr val="1F2937"/>
                </a:solidFill>
                <a:latin typeface="Arial" pitchFamily="34" charset="0"/>
                <a:ea typeface="Arial" pitchFamily="34" charset="-122"/>
                <a:cs typeface="Arial" pitchFamily="34" charset="-120"/>
              </a:rPr>
              <a:t>routing weights</a:t>
            </a:r>
            <a:endParaRPr lang="en-US" sz="1680" dirty="0"/>
          </a:p>
        </p:txBody>
      </p:sp>
      <p:sp>
        <p:nvSpPr>
          <p:cNvPr id="38" name="Text 36"/>
          <p:cNvSpPr txBox="1"/>
          <p:nvPr/>
        </p:nvSpPr>
        <p:spPr>
          <a:xfrm>
            <a:off x="852456" y="2965973"/>
            <a:ext cx="643647"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token</a:t>
            </a:r>
            <a:endParaRPr lang="en-US" sz="1680" dirty="0"/>
          </a:p>
        </p:txBody>
      </p:sp>
      <p:sp>
        <p:nvSpPr>
          <p:cNvPr id="39" name="Text 37"/>
          <p:cNvSpPr txBox="1"/>
          <p:nvPr/>
        </p:nvSpPr>
        <p:spPr>
          <a:xfrm>
            <a:off x="10601887" y="2965973"/>
            <a:ext cx="705477"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vector</a:t>
            </a:r>
            <a:endParaRPr lang="en-US" sz="1680" dirty="0"/>
          </a:p>
        </p:txBody>
      </p:sp>
      <p:sp>
        <p:nvSpPr>
          <p:cNvPr id="40" name="Text 38"/>
          <p:cNvSpPr txBox="1"/>
          <p:nvPr/>
        </p:nvSpPr>
        <p:spPr>
          <a:xfrm>
            <a:off x="1171975" y="5528442"/>
            <a:ext cx="705477"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Model</a:t>
            </a:r>
            <a:endParaRPr lang="en-US" sz="1680" dirty="0"/>
          </a:p>
        </p:txBody>
      </p:sp>
      <p:sp>
        <p:nvSpPr>
          <p:cNvPr id="41" name="Text 39"/>
          <p:cNvSpPr txBox="1"/>
          <p:nvPr/>
        </p:nvSpPr>
        <p:spPr>
          <a:xfrm>
            <a:off x="2695836" y="5528442"/>
            <a:ext cx="56415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Flow</a:t>
            </a:r>
            <a:endParaRPr lang="en-US" sz="16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Beyond text: images and speech</a:t>
            </a:r>
            <a:endParaRPr lang="en-US" sz="3200" dirty="0"/>
          </a:p>
        </p:txBody>
      </p:sp>
      <p:sp>
        <p:nvSpPr>
          <p:cNvPr id="6" name="Shape 4"/>
          <p:cNvSpPr/>
          <p:nvPr/>
        </p:nvSpPr>
        <p:spPr>
          <a:xfrm>
            <a:off x="3678972" y="5571966"/>
            <a:ext cx="327712" cy="0"/>
          </a:xfrm>
          <a:prstGeom prst="line">
            <a:avLst/>
          </a:prstGeom>
          <a:noFill/>
          <a:ln w="22860">
            <a:solidFill>
              <a:srgbClr val="009E73"/>
            </a:solidFill>
            <a:prstDash val="solid"/>
          </a:ln>
        </p:spPr>
      </p:sp>
      <p:sp>
        <p:nvSpPr>
          <p:cNvPr id="7" name="Shape 5"/>
          <p:cNvSpPr/>
          <p:nvPr/>
        </p:nvSpPr>
        <p:spPr>
          <a:xfrm>
            <a:off x="2278003" y="3835178"/>
            <a:ext cx="352290" cy="0"/>
          </a:xfrm>
          <a:prstGeom prst="line">
            <a:avLst/>
          </a:prstGeom>
          <a:noFill/>
          <a:ln w="22860">
            <a:solidFill>
              <a:srgbClr val="009E73"/>
            </a:solidFill>
            <a:prstDash val="solid"/>
            <a:tailEnd type="triangle"/>
          </a:ln>
        </p:spPr>
      </p:sp>
      <p:sp>
        <p:nvSpPr>
          <p:cNvPr id="8" name="Shape 6"/>
          <p:cNvSpPr/>
          <p:nvPr/>
        </p:nvSpPr>
        <p:spPr>
          <a:xfrm>
            <a:off x="4023069" y="3835178"/>
            <a:ext cx="352290" cy="0"/>
          </a:xfrm>
          <a:prstGeom prst="line">
            <a:avLst/>
          </a:prstGeom>
          <a:noFill/>
          <a:ln w="22860">
            <a:solidFill>
              <a:srgbClr val="009E73"/>
            </a:solidFill>
            <a:prstDash val="solid"/>
            <a:tailEnd type="triangle"/>
          </a:ln>
        </p:spPr>
      </p:sp>
      <p:sp>
        <p:nvSpPr>
          <p:cNvPr id="9" name="Shape 7"/>
          <p:cNvSpPr/>
          <p:nvPr/>
        </p:nvSpPr>
        <p:spPr>
          <a:xfrm>
            <a:off x="5768136" y="3835178"/>
            <a:ext cx="352290" cy="0"/>
          </a:xfrm>
          <a:prstGeom prst="line">
            <a:avLst/>
          </a:prstGeom>
          <a:noFill/>
          <a:ln w="22860">
            <a:solidFill>
              <a:srgbClr val="009E73"/>
            </a:solidFill>
            <a:prstDash val="solid"/>
            <a:tailEnd type="triangle"/>
          </a:ln>
        </p:spPr>
      </p:sp>
      <p:sp>
        <p:nvSpPr>
          <p:cNvPr id="10" name="Shape 8"/>
          <p:cNvSpPr/>
          <p:nvPr/>
        </p:nvSpPr>
        <p:spPr>
          <a:xfrm>
            <a:off x="7513202" y="3835178"/>
            <a:ext cx="352290" cy="0"/>
          </a:xfrm>
          <a:prstGeom prst="line">
            <a:avLst/>
          </a:prstGeom>
          <a:noFill/>
          <a:ln w="22860">
            <a:solidFill>
              <a:srgbClr val="009E73"/>
            </a:solidFill>
            <a:prstDash val="solid"/>
            <a:tailEnd type="triangle"/>
          </a:ln>
        </p:spPr>
      </p:sp>
      <p:sp>
        <p:nvSpPr>
          <p:cNvPr id="11" name="Shape 9"/>
          <p:cNvSpPr/>
          <p:nvPr/>
        </p:nvSpPr>
        <p:spPr>
          <a:xfrm>
            <a:off x="9258268" y="3835178"/>
            <a:ext cx="352290" cy="0"/>
          </a:xfrm>
          <a:prstGeom prst="line">
            <a:avLst/>
          </a:prstGeom>
          <a:noFill/>
          <a:ln w="22860">
            <a:solidFill>
              <a:srgbClr val="009E73"/>
            </a:solidFill>
            <a:prstDash val="solid"/>
            <a:tailEnd type="triangle"/>
          </a:ln>
        </p:spPr>
      </p:sp>
      <p:sp>
        <p:nvSpPr>
          <p:cNvPr id="12" name="Shape 10"/>
          <p:cNvSpPr/>
          <p:nvPr/>
        </p:nvSpPr>
        <p:spPr>
          <a:xfrm>
            <a:off x="885227" y="3333796"/>
            <a:ext cx="1392776" cy="1002764"/>
          </a:xfrm>
          <a:prstGeom prst="rect">
            <a:avLst/>
          </a:prstGeom>
          <a:solidFill>
            <a:srgbClr val="E5F7EF"/>
          </a:solidFill>
          <a:ln w="15240">
            <a:solidFill>
              <a:srgbClr val="009E73"/>
            </a:solidFill>
            <a:prstDash val="solid"/>
          </a:ln>
        </p:spPr>
      </p:sp>
      <p:sp>
        <p:nvSpPr>
          <p:cNvPr id="13" name="Shape 11"/>
          <p:cNvSpPr/>
          <p:nvPr/>
        </p:nvSpPr>
        <p:spPr>
          <a:xfrm>
            <a:off x="2630294" y="3333796"/>
            <a:ext cx="1392776" cy="1002764"/>
          </a:xfrm>
          <a:prstGeom prst="rect">
            <a:avLst/>
          </a:prstGeom>
          <a:solidFill>
            <a:srgbClr val="E5F7EF"/>
          </a:solidFill>
          <a:ln w="15240">
            <a:solidFill>
              <a:srgbClr val="009E73"/>
            </a:solidFill>
            <a:prstDash val="solid"/>
          </a:ln>
        </p:spPr>
      </p:sp>
      <p:sp>
        <p:nvSpPr>
          <p:cNvPr id="14" name="Shape 12"/>
          <p:cNvSpPr/>
          <p:nvPr/>
        </p:nvSpPr>
        <p:spPr>
          <a:xfrm>
            <a:off x="4375360" y="3333796"/>
            <a:ext cx="1392776" cy="1002764"/>
          </a:xfrm>
          <a:prstGeom prst="rect">
            <a:avLst/>
          </a:prstGeom>
          <a:solidFill>
            <a:srgbClr val="E5F7EF"/>
          </a:solidFill>
          <a:ln w="15240">
            <a:solidFill>
              <a:srgbClr val="009E73"/>
            </a:solidFill>
            <a:prstDash val="solid"/>
          </a:ln>
        </p:spPr>
      </p:sp>
      <p:sp>
        <p:nvSpPr>
          <p:cNvPr id="15" name="Shape 13"/>
          <p:cNvSpPr/>
          <p:nvPr/>
        </p:nvSpPr>
        <p:spPr>
          <a:xfrm>
            <a:off x="6120426" y="3333796"/>
            <a:ext cx="1392776" cy="1002764"/>
          </a:xfrm>
          <a:prstGeom prst="rect">
            <a:avLst/>
          </a:prstGeom>
          <a:solidFill>
            <a:srgbClr val="E5F7EF"/>
          </a:solidFill>
          <a:ln w="15240">
            <a:solidFill>
              <a:srgbClr val="009E73"/>
            </a:solidFill>
            <a:prstDash val="solid"/>
          </a:ln>
        </p:spPr>
      </p:sp>
      <p:sp>
        <p:nvSpPr>
          <p:cNvPr id="16" name="Shape 14"/>
          <p:cNvSpPr/>
          <p:nvPr/>
        </p:nvSpPr>
        <p:spPr>
          <a:xfrm>
            <a:off x="7865492" y="3333796"/>
            <a:ext cx="1392776" cy="1002764"/>
          </a:xfrm>
          <a:prstGeom prst="rect">
            <a:avLst/>
          </a:prstGeom>
          <a:solidFill>
            <a:srgbClr val="E5F7EF"/>
          </a:solidFill>
          <a:ln w="15240">
            <a:solidFill>
              <a:srgbClr val="009E73"/>
            </a:solidFill>
            <a:prstDash val="solid"/>
          </a:ln>
        </p:spPr>
      </p:sp>
      <p:sp>
        <p:nvSpPr>
          <p:cNvPr id="17" name="Shape 15"/>
          <p:cNvSpPr/>
          <p:nvPr/>
        </p:nvSpPr>
        <p:spPr>
          <a:xfrm>
            <a:off x="9610558" y="3333796"/>
            <a:ext cx="1392776" cy="1002764"/>
          </a:xfrm>
          <a:prstGeom prst="roundRect">
            <a:avLst>
              <a:gd name="adj" fmla="val 7295"/>
            </a:avLst>
          </a:prstGeom>
          <a:solidFill>
            <a:srgbClr val="F9EAF4"/>
          </a:solidFill>
          <a:ln w="15240">
            <a:solidFill>
              <a:srgbClr val="CC79A7"/>
            </a:solidFill>
            <a:prstDash val="solid"/>
          </a:ln>
        </p:spPr>
      </p:sp>
      <p:sp>
        <p:nvSpPr>
          <p:cNvPr id="18" name="Shape 16"/>
          <p:cNvSpPr/>
          <p:nvPr/>
        </p:nvSpPr>
        <p:spPr>
          <a:xfrm>
            <a:off x="893420" y="5483723"/>
            <a:ext cx="196627" cy="176487"/>
          </a:xfrm>
          <a:prstGeom prst="rect">
            <a:avLst/>
          </a:prstGeom>
          <a:solidFill>
            <a:srgbClr val="E5F7EF"/>
          </a:solidFill>
          <a:ln w="15240">
            <a:solidFill>
              <a:srgbClr val="009E73"/>
            </a:solidFill>
            <a:prstDash val="solid"/>
          </a:ln>
        </p:spPr>
      </p:sp>
      <p:sp>
        <p:nvSpPr>
          <p:cNvPr id="19" name="Shape 17"/>
          <p:cNvSpPr/>
          <p:nvPr/>
        </p:nvSpPr>
        <p:spPr>
          <a:xfrm>
            <a:off x="2286196" y="5483723"/>
            <a:ext cx="196627" cy="176487"/>
          </a:xfrm>
          <a:prstGeom prst="roundRect">
            <a:avLst>
              <a:gd name="adj" fmla="val 41449"/>
            </a:avLst>
          </a:prstGeom>
          <a:solidFill>
            <a:srgbClr val="F9EAF4"/>
          </a:solidFill>
          <a:ln w="15240">
            <a:solidFill>
              <a:srgbClr val="CC79A7"/>
            </a:solidFill>
            <a:prstDash val="solid"/>
          </a:ln>
        </p:spPr>
      </p:sp>
      <p:sp>
        <p:nvSpPr>
          <p:cNvPr id="20" name="Text 18"/>
          <p:cNvSpPr txBox="1"/>
          <p:nvPr/>
        </p:nvSpPr>
        <p:spPr>
          <a:xfrm>
            <a:off x="1118466" y="3587687"/>
            <a:ext cx="926298"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Split</a:t>
            </a:r>
            <a:endParaRPr lang="en-US" sz="1680" dirty="0"/>
          </a:p>
        </p:txBody>
      </p:sp>
      <p:sp>
        <p:nvSpPr>
          <p:cNvPr id="21" name="Text 19"/>
          <p:cNvSpPr txBox="1"/>
          <p:nvPr/>
        </p:nvSpPr>
        <p:spPr>
          <a:xfrm>
            <a:off x="1118466" y="3835178"/>
            <a:ext cx="926298"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patches</a:t>
            </a:r>
            <a:endParaRPr lang="en-US" sz="1680" dirty="0"/>
          </a:p>
        </p:txBody>
      </p:sp>
      <p:sp>
        <p:nvSpPr>
          <p:cNvPr id="22" name="Text 20"/>
          <p:cNvSpPr txBox="1"/>
          <p:nvPr/>
        </p:nvSpPr>
        <p:spPr>
          <a:xfrm>
            <a:off x="2920946" y="3711433"/>
            <a:ext cx="811471"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Flatten</a:t>
            </a:r>
            <a:endParaRPr lang="en-US" sz="1680" dirty="0"/>
          </a:p>
        </p:txBody>
      </p:sp>
      <p:sp>
        <p:nvSpPr>
          <p:cNvPr id="23" name="Text 21"/>
          <p:cNvSpPr txBox="1"/>
          <p:nvPr/>
        </p:nvSpPr>
        <p:spPr>
          <a:xfrm>
            <a:off x="1909754" y="3000328"/>
            <a:ext cx="1088789" cy="233741"/>
          </a:xfrm>
          <a:prstGeom prst="rect">
            <a:avLst/>
          </a:prstGeom>
          <a:noFill/>
          <a:ln/>
        </p:spPr>
        <p:txBody>
          <a:bodyPr wrap="square" lIns="0" tIns="0" rIns="0" bIns="0" rtlCol="0" anchor="ctr"/>
          <a:lstStyle/>
          <a:p>
            <a:pPr algn="ctr" indent="0" marL="0">
              <a:lnSpc>
                <a:spcPct val="116000"/>
              </a:lnSpc>
              <a:buNone/>
            </a:pPr>
            <a:r>
              <a:rPr lang="en-US" sz="1587" dirty="0">
                <a:solidFill>
                  <a:srgbClr val="0072B2"/>
                </a:solidFill>
                <a:latin typeface="Arial" pitchFamily="34" charset="0"/>
                <a:ea typeface="Arial" pitchFamily="34" charset="-122"/>
                <a:cs typeface="Arial" pitchFamily="34" charset="-120"/>
              </a:rPr>
              <a:t>[4,16,16,3]</a:t>
            </a:r>
            <a:endParaRPr lang="en-US" sz="1587" dirty="0"/>
          </a:p>
        </p:txBody>
      </p:sp>
      <p:sp>
        <p:nvSpPr>
          <p:cNvPr id="24" name="Text 22"/>
          <p:cNvSpPr txBox="1"/>
          <p:nvPr/>
        </p:nvSpPr>
        <p:spPr>
          <a:xfrm>
            <a:off x="4560018" y="3587687"/>
            <a:ext cx="1023460"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Embed +</a:t>
            </a:r>
            <a:endParaRPr lang="en-US" sz="1680" dirty="0"/>
          </a:p>
        </p:txBody>
      </p:sp>
      <p:sp>
        <p:nvSpPr>
          <p:cNvPr id="25" name="Text 23"/>
          <p:cNvSpPr txBox="1"/>
          <p:nvPr/>
        </p:nvSpPr>
        <p:spPr>
          <a:xfrm>
            <a:off x="4560018" y="3835178"/>
            <a:ext cx="1023460"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position</a:t>
            </a:r>
            <a:endParaRPr lang="en-US" sz="1680" dirty="0"/>
          </a:p>
        </p:txBody>
      </p:sp>
      <p:sp>
        <p:nvSpPr>
          <p:cNvPr id="26" name="Text 24"/>
          <p:cNvSpPr txBox="1"/>
          <p:nvPr/>
        </p:nvSpPr>
        <p:spPr>
          <a:xfrm>
            <a:off x="3831477" y="3000328"/>
            <a:ext cx="735474" cy="233741"/>
          </a:xfrm>
          <a:prstGeom prst="rect">
            <a:avLst/>
          </a:prstGeom>
          <a:noFill/>
          <a:ln/>
        </p:spPr>
        <p:txBody>
          <a:bodyPr wrap="square" lIns="0" tIns="0" rIns="0" bIns="0" rtlCol="0" anchor="ctr"/>
          <a:lstStyle/>
          <a:p>
            <a:pPr algn="ctr" indent="0" marL="0">
              <a:lnSpc>
                <a:spcPct val="116000"/>
              </a:lnSpc>
              <a:buNone/>
            </a:pPr>
            <a:r>
              <a:rPr lang="en-US" sz="1587" dirty="0">
                <a:solidFill>
                  <a:srgbClr val="0072B2"/>
                </a:solidFill>
                <a:latin typeface="Arial" pitchFamily="34" charset="0"/>
                <a:ea typeface="Arial" pitchFamily="34" charset="-122"/>
                <a:cs typeface="Arial" pitchFamily="34" charset="-120"/>
              </a:rPr>
              <a:t>[4,768]</a:t>
            </a:r>
            <a:endParaRPr lang="en-US" sz="1587" dirty="0"/>
          </a:p>
        </p:txBody>
      </p:sp>
      <p:sp>
        <p:nvSpPr>
          <p:cNvPr id="27" name="Text 25"/>
          <p:cNvSpPr txBox="1"/>
          <p:nvPr/>
        </p:nvSpPr>
        <p:spPr>
          <a:xfrm>
            <a:off x="6371330" y="3711433"/>
            <a:ext cx="89096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Encode</a:t>
            </a:r>
            <a:endParaRPr lang="en-US" sz="1680" dirty="0"/>
          </a:p>
        </p:txBody>
      </p:sp>
      <p:sp>
        <p:nvSpPr>
          <p:cNvPr id="28" name="Text 26"/>
          <p:cNvSpPr txBox="1"/>
          <p:nvPr/>
        </p:nvSpPr>
        <p:spPr>
          <a:xfrm>
            <a:off x="5691371" y="3000328"/>
            <a:ext cx="505820" cy="233741"/>
          </a:xfrm>
          <a:prstGeom prst="rect">
            <a:avLst/>
          </a:prstGeom>
          <a:noFill/>
          <a:ln/>
        </p:spPr>
        <p:txBody>
          <a:bodyPr wrap="square" lIns="0" tIns="0" rIns="0" bIns="0" rtlCol="0" anchor="ctr"/>
          <a:lstStyle/>
          <a:p>
            <a:pPr algn="ctr" indent="0" marL="0">
              <a:lnSpc>
                <a:spcPct val="116000"/>
              </a:lnSpc>
              <a:buNone/>
            </a:pPr>
            <a:r>
              <a:rPr lang="en-US" sz="1587" dirty="0">
                <a:solidFill>
                  <a:srgbClr val="0072B2"/>
                </a:solidFill>
                <a:latin typeface="Arial" pitchFamily="34" charset="0"/>
                <a:ea typeface="Arial" pitchFamily="34" charset="-122"/>
                <a:cs typeface="Arial" pitchFamily="34" charset="-120"/>
              </a:rPr>
              <a:t>[4,d]</a:t>
            </a:r>
            <a:endParaRPr lang="en-US" sz="1587" dirty="0"/>
          </a:p>
        </p:txBody>
      </p:sp>
      <p:sp>
        <p:nvSpPr>
          <p:cNvPr id="29" name="Text 27"/>
          <p:cNvSpPr txBox="1"/>
          <p:nvPr/>
        </p:nvSpPr>
        <p:spPr>
          <a:xfrm>
            <a:off x="8275388" y="3711433"/>
            <a:ext cx="572984"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Pool</a:t>
            </a:r>
            <a:endParaRPr lang="en-US" sz="1680" dirty="0"/>
          </a:p>
        </p:txBody>
      </p:sp>
      <p:sp>
        <p:nvSpPr>
          <p:cNvPr id="30" name="Text 28"/>
          <p:cNvSpPr txBox="1"/>
          <p:nvPr/>
        </p:nvSpPr>
        <p:spPr>
          <a:xfrm>
            <a:off x="7436437" y="3000328"/>
            <a:ext cx="505820" cy="233741"/>
          </a:xfrm>
          <a:prstGeom prst="rect">
            <a:avLst/>
          </a:prstGeom>
          <a:noFill/>
          <a:ln/>
        </p:spPr>
        <p:txBody>
          <a:bodyPr wrap="square" lIns="0" tIns="0" rIns="0" bIns="0" rtlCol="0" anchor="ctr"/>
          <a:lstStyle/>
          <a:p>
            <a:pPr algn="ctr" indent="0" marL="0">
              <a:lnSpc>
                <a:spcPct val="116000"/>
              </a:lnSpc>
              <a:buNone/>
            </a:pPr>
            <a:r>
              <a:rPr lang="en-US" sz="1587" dirty="0">
                <a:solidFill>
                  <a:srgbClr val="0072B2"/>
                </a:solidFill>
                <a:latin typeface="Arial" pitchFamily="34" charset="0"/>
                <a:ea typeface="Arial" pitchFamily="34" charset="-122"/>
                <a:cs typeface="Arial" pitchFamily="34" charset="-120"/>
              </a:rPr>
              <a:t>[4,d]</a:t>
            </a:r>
            <a:endParaRPr lang="en-US" sz="1587" dirty="0"/>
          </a:p>
        </p:txBody>
      </p:sp>
      <p:sp>
        <p:nvSpPr>
          <p:cNvPr id="31" name="Text 29"/>
          <p:cNvSpPr txBox="1"/>
          <p:nvPr/>
        </p:nvSpPr>
        <p:spPr>
          <a:xfrm>
            <a:off x="9857046" y="3587687"/>
            <a:ext cx="899800"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Score</a:t>
            </a:r>
            <a:endParaRPr lang="en-US" sz="1680" dirty="0"/>
          </a:p>
        </p:txBody>
      </p:sp>
      <p:sp>
        <p:nvSpPr>
          <p:cNvPr id="32" name="Text 30"/>
          <p:cNvSpPr txBox="1"/>
          <p:nvPr/>
        </p:nvSpPr>
        <p:spPr>
          <a:xfrm>
            <a:off x="9857046" y="3835178"/>
            <a:ext cx="899800"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classes</a:t>
            </a:r>
            <a:endParaRPr lang="en-US" sz="1680" dirty="0"/>
          </a:p>
        </p:txBody>
      </p:sp>
      <p:sp>
        <p:nvSpPr>
          <p:cNvPr id="33" name="Text 31"/>
          <p:cNvSpPr txBox="1"/>
          <p:nvPr/>
        </p:nvSpPr>
        <p:spPr>
          <a:xfrm>
            <a:off x="9269832" y="3000328"/>
            <a:ext cx="329163" cy="233741"/>
          </a:xfrm>
          <a:prstGeom prst="rect">
            <a:avLst/>
          </a:prstGeom>
          <a:noFill/>
          <a:ln/>
        </p:spPr>
        <p:txBody>
          <a:bodyPr wrap="square" lIns="0" tIns="0" rIns="0" bIns="0" rtlCol="0" anchor="ctr"/>
          <a:lstStyle/>
          <a:p>
            <a:pPr algn="ctr" indent="0" marL="0">
              <a:lnSpc>
                <a:spcPct val="116000"/>
              </a:lnSpc>
              <a:buNone/>
            </a:pPr>
            <a:r>
              <a:rPr lang="en-US" sz="1587" dirty="0">
                <a:solidFill>
                  <a:srgbClr val="0072B2"/>
                </a:solidFill>
                <a:latin typeface="Arial" pitchFamily="34" charset="0"/>
                <a:ea typeface="Arial" pitchFamily="34" charset="-122"/>
                <a:cs typeface="Arial" pitchFamily="34" charset="-120"/>
              </a:rPr>
              <a:t>[d]</a:t>
            </a:r>
            <a:endParaRPr lang="en-US" sz="1587" dirty="0"/>
          </a:p>
        </p:txBody>
      </p:sp>
      <p:sp>
        <p:nvSpPr>
          <p:cNvPr id="34" name="Text 32"/>
          <p:cNvSpPr txBox="1"/>
          <p:nvPr/>
        </p:nvSpPr>
        <p:spPr>
          <a:xfrm>
            <a:off x="852456" y="2202735"/>
            <a:ext cx="3503830" cy="288739"/>
          </a:xfrm>
          <a:prstGeom prst="rect">
            <a:avLst/>
          </a:prstGeom>
          <a:noFill/>
          <a:ln/>
        </p:spPr>
        <p:txBody>
          <a:bodyPr wrap="square" lIns="0" tIns="0" rIns="0" bIns="0" rtlCol="0" anchor="ctr"/>
          <a:lstStyle/>
          <a:p>
            <a:pPr algn="l" indent="0" marL="0">
              <a:lnSpc>
                <a:spcPct val="116000"/>
              </a:lnSpc>
              <a:buNone/>
            </a:pPr>
            <a:r>
              <a:rPr lang="en-US" sz="1960" dirty="0">
                <a:solidFill>
                  <a:srgbClr val="1E1B4B"/>
                </a:solidFill>
                <a:latin typeface="Arial" pitchFamily="34" charset="0"/>
                <a:ea typeface="Arial" pitchFamily="34" charset="-122"/>
                <a:cs typeface="Arial" pitchFamily="34" charset="-120"/>
              </a:rPr>
              <a:t>Illustrative RGB image: 32×32</a:t>
            </a:r>
            <a:endParaRPr lang="en-US" sz="1960" dirty="0"/>
          </a:p>
        </p:txBody>
      </p:sp>
      <p:sp>
        <p:nvSpPr>
          <p:cNvPr id="35" name="Text 33"/>
          <p:cNvSpPr txBox="1"/>
          <p:nvPr/>
        </p:nvSpPr>
        <p:spPr>
          <a:xfrm>
            <a:off x="934384" y="4730839"/>
            <a:ext cx="4220956"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16×16×3=768 values/patch; four patches.</a:t>
            </a:r>
            <a:endParaRPr lang="en-US" sz="1680" dirty="0"/>
          </a:p>
        </p:txBody>
      </p:sp>
      <p:sp>
        <p:nvSpPr>
          <p:cNvPr id="36" name="Text 34"/>
          <p:cNvSpPr txBox="1"/>
          <p:nvPr/>
        </p:nvSpPr>
        <p:spPr>
          <a:xfrm>
            <a:off x="1171975" y="5448221"/>
            <a:ext cx="705477"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Model</a:t>
            </a:r>
            <a:endParaRPr lang="en-US" sz="1680" dirty="0"/>
          </a:p>
        </p:txBody>
      </p:sp>
      <p:sp>
        <p:nvSpPr>
          <p:cNvPr id="37" name="Text 35"/>
          <p:cNvSpPr txBox="1"/>
          <p:nvPr/>
        </p:nvSpPr>
        <p:spPr>
          <a:xfrm>
            <a:off x="2564751" y="5448221"/>
            <a:ext cx="758474"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Output</a:t>
            </a:r>
            <a:endParaRPr lang="en-US" sz="1680" dirty="0"/>
          </a:p>
        </p:txBody>
      </p:sp>
      <p:sp>
        <p:nvSpPr>
          <p:cNvPr id="38" name="Text 36"/>
          <p:cNvSpPr txBox="1"/>
          <p:nvPr/>
        </p:nvSpPr>
        <p:spPr>
          <a:xfrm>
            <a:off x="4088612" y="5448221"/>
            <a:ext cx="564151"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Flow</a:t>
            </a:r>
            <a:endParaRPr lang="en-US" sz="168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What does an attention picture show?</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A bright cell supports which claim?</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This head weights this source.</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The answer is factually true.</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Every head resolved the pronoun.</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The model's reasoning is established.</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Trace one character-training step</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Independent inspections stay separate.</a:t>
            </a:r>
            <a:endParaRPr lang="en-US" sz="1800" dirty="0"/>
          </a:p>
        </p:txBody>
      </p:sp>
      <p:sp>
        <p:nvSpPr>
          <p:cNvPr id="7" name="Shape 5"/>
          <p:cNvSpPr/>
          <p:nvPr/>
        </p:nvSpPr>
        <p:spPr>
          <a:xfrm>
            <a:off x="2354146" y="3838927"/>
            <a:ext cx="244024" cy="0"/>
          </a:xfrm>
          <a:prstGeom prst="line">
            <a:avLst/>
          </a:prstGeom>
          <a:noFill/>
          <a:ln w="22860">
            <a:solidFill>
              <a:srgbClr val="009E73"/>
            </a:solidFill>
            <a:prstDash val="solid"/>
            <a:tailEnd type="triangle"/>
          </a:ln>
        </p:spPr>
      </p:sp>
      <p:sp>
        <p:nvSpPr>
          <p:cNvPr id="8" name="Text 6"/>
          <p:cNvSpPr txBox="1"/>
          <p:nvPr/>
        </p:nvSpPr>
        <p:spPr>
          <a:xfrm>
            <a:off x="167545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IDs[B,T]</a:t>
            </a:r>
            <a:endParaRPr lang="en-US" sz="1441" dirty="0"/>
          </a:p>
        </p:txBody>
      </p:sp>
      <p:sp>
        <p:nvSpPr>
          <p:cNvPr id="9" name="Shape 7"/>
          <p:cNvSpPr/>
          <p:nvPr/>
        </p:nvSpPr>
        <p:spPr>
          <a:xfrm>
            <a:off x="4163991" y="3838927"/>
            <a:ext cx="244024" cy="0"/>
          </a:xfrm>
          <a:prstGeom prst="line">
            <a:avLst/>
          </a:prstGeom>
          <a:noFill/>
          <a:ln w="22860">
            <a:solidFill>
              <a:srgbClr val="009E73"/>
            </a:solidFill>
            <a:prstDash val="solid"/>
            <a:tailEnd type="triangle"/>
          </a:ln>
        </p:spPr>
      </p:sp>
      <p:sp>
        <p:nvSpPr>
          <p:cNvPr id="10" name="Text 8"/>
          <p:cNvSpPr txBox="1"/>
          <p:nvPr/>
        </p:nvSpPr>
        <p:spPr>
          <a:xfrm>
            <a:off x="348529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logits[B,T,V]</a:t>
            </a:r>
            <a:endParaRPr lang="en-US" sz="1441" dirty="0"/>
          </a:p>
        </p:txBody>
      </p:sp>
      <p:sp>
        <p:nvSpPr>
          <p:cNvPr id="11" name="Shape 9"/>
          <p:cNvSpPr/>
          <p:nvPr/>
        </p:nvSpPr>
        <p:spPr>
          <a:xfrm>
            <a:off x="5973836" y="3838927"/>
            <a:ext cx="244024" cy="0"/>
          </a:xfrm>
          <a:prstGeom prst="line">
            <a:avLst/>
          </a:prstGeom>
          <a:noFill/>
          <a:ln w="22860">
            <a:solidFill>
              <a:srgbClr val="009E73"/>
            </a:solidFill>
            <a:prstDash val="solid"/>
            <a:tailEnd type="triangle"/>
          </a:ln>
        </p:spPr>
      </p:sp>
      <p:sp>
        <p:nvSpPr>
          <p:cNvPr id="12" name="Text 10"/>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loss</a:t>
            </a:r>
            <a:endParaRPr lang="en-US" sz="1441" dirty="0"/>
          </a:p>
        </p:txBody>
      </p:sp>
      <p:sp>
        <p:nvSpPr>
          <p:cNvPr id="13" name="Shape 11"/>
          <p:cNvSpPr/>
          <p:nvPr/>
        </p:nvSpPr>
        <p:spPr>
          <a:xfrm>
            <a:off x="7783680" y="3838927"/>
            <a:ext cx="244024" cy="0"/>
          </a:xfrm>
          <a:prstGeom prst="line">
            <a:avLst/>
          </a:prstGeom>
          <a:noFill/>
          <a:ln w="22860">
            <a:solidFill>
              <a:srgbClr val="009E73"/>
            </a:solidFill>
            <a:prstDash val="solid"/>
            <a:tailEnd type="triangle"/>
          </a:ln>
        </p:spPr>
      </p:sp>
      <p:sp>
        <p:nvSpPr>
          <p:cNvPr id="14" name="Text 12"/>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gradients</a:t>
            </a:r>
            <a:endParaRPr lang="en-US" sz="1441" dirty="0"/>
          </a:p>
        </p:txBody>
      </p:sp>
      <p:sp>
        <p:nvSpPr>
          <p:cNvPr id="15" name="Shape 13"/>
          <p:cNvSpPr/>
          <p:nvPr/>
        </p:nvSpPr>
        <p:spPr>
          <a:xfrm>
            <a:off x="9593525" y="3838927"/>
            <a:ext cx="244024" cy="0"/>
          </a:xfrm>
          <a:prstGeom prst="line">
            <a:avLst/>
          </a:prstGeom>
          <a:noFill/>
          <a:ln w="22860">
            <a:solidFill>
              <a:srgbClr val="009E73"/>
            </a:solidFill>
            <a:prstDash val="solid"/>
            <a:tailEnd type="triangle"/>
          </a:ln>
        </p:spPr>
      </p:sp>
      <p:sp>
        <p:nvSpPr>
          <p:cNvPr id="16" name="Text 14"/>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weights</a:t>
            </a:r>
            <a:endParaRPr lang="en-US" sz="1441" dirty="0"/>
          </a:p>
        </p:txBody>
      </p:sp>
      <p:sp>
        <p:nvSpPr>
          <p:cNvPr id="17" name="Shape 15"/>
          <p:cNvSpPr/>
          <p:nvPr/>
        </p:nvSpPr>
        <p:spPr>
          <a:xfrm>
            <a:off x="1571235" y="4738766"/>
            <a:ext cx="0" cy="198270"/>
          </a:xfrm>
          <a:prstGeom prst="line">
            <a:avLst/>
          </a:prstGeom>
          <a:noFill/>
          <a:ln w="22860">
            <a:solidFill>
              <a:srgbClr val="0072B2"/>
            </a:solidFill>
            <a:prstDash val="solid"/>
          </a:ln>
        </p:spPr>
      </p:sp>
      <p:sp>
        <p:nvSpPr>
          <p:cNvPr id="18" name="Shape 16"/>
          <p:cNvSpPr/>
          <p:nvPr/>
        </p:nvSpPr>
        <p:spPr>
          <a:xfrm>
            <a:off x="1571235" y="4937035"/>
            <a:ext cx="3619690" cy="0"/>
          </a:xfrm>
          <a:prstGeom prst="line">
            <a:avLst/>
          </a:prstGeom>
          <a:noFill/>
          <a:ln w="22860">
            <a:solidFill>
              <a:srgbClr val="0072B2"/>
            </a:solidFill>
            <a:prstDash val="solid"/>
          </a:ln>
        </p:spPr>
      </p:sp>
      <p:sp>
        <p:nvSpPr>
          <p:cNvPr id="19" name="Shape 17"/>
          <p:cNvSpPr/>
          <p:nvPr/>
        </p:nvSpPr>
        <p:spPr>
          <a:xfrm flipV="1">
            <a:off x="5190925" y="4738766"/>
            <a:ext cx="0" cy="198270"/>
          </a:xfrm>
          <a:prstGeom prst="line">
            <a:avLst/>
          </a:prstGeom>
          <a:noFill/>
          <a:ln w="22860">
            <a:solidFill>
              <a:srgbClr val="0072B2"/>
            </a:solidFill>
            <a:prstDash val="solid"/>
            <a:tailEnd type="triangle"/>
          </a:ln>
        </p:spPr>
      </p:sp>
      <p:sp>
        <p:nvSpPr>
          <p:cNvPr id="20" name="Text 18"/>
          <p:cNvSpPr txBox="1"/>
          <p:nvPr/>
        </p:nvSpPr>
        <p:spPr>
          <a:xfrm>
            <a:off x="2861012" y="4967538"/>
            <a:ext cx="1040137"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targets[B,T]</a:t>
            </a:r>
            <a:endParaRPr lang="en-US" sz="1441" dirty="0"/>
          </a:p>
        </p:txBody>
      </p:sp>
      <p:sp>
        <p:nvSpPr>
          <p:cNvPr id="21" name="Shape 19"/>
          <p:cNvSpPr/>
          <p:nvPr/>
        </p:nvSpPr>
        <p:spPr>
          <a:xfrm>
            <a:off x="788325" y="2939089"/>
            <a:ext cx="1565821" cy="1799677"/>
          </a:xfrm>
          <a:prstGeom prst="roundRect">
            <a:avLst>
              <a:gd name="adj" fmla="val 4672"/>
            </a:avLst>
          </a:prstGeom>
          <a:solidFill>
            <a:srgbClr val="E4F2FB"/>
          </a:solidFill>
          <a:ln w="15240">
            <a:solidFill>
              <a:srgbClr val="0072B2"/>
            </a:solidFill>
            <a:prstDash val="solid"/>
          </a:ln>
        </p:spPr>
      </p:sp>
      <p:sp>
        <p:nvSpPr>
          <p:cNvPr id="22" name="Text 20"/>
          <p:cNvSpPr txBox="1"/>
          <p:nvPr/>
        </p:nvSpPr>
        <p:spPr>
          <a:xfrm>
            <a:off x="849331"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Batch</a:t>
            </a:r>
            <a:endParaRPr lang="en-US" sz="1561" dirty="0"/>
          </a:p>
        </p:txBody>
      </p:sp>
      <p:sp>
        <p:nvSpPr>
          <p:cNvPr id="23" name="Text 21"/>
          <p:cNvSpPr txBox="1"/>
          <p:nvPr/>
        </p:nvSpPr>
        <p:spPr>
          <a:xfrm>
            <a:off x="849331"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Inputs; targets</a:t>
            </a:r>
            <a:endParaRPr lang="en-US" sz="1441" dirty="0"/>
          </a:p>
        </p:txBody>
      </p:sp>
      <p:sp>
        <p:nvSpPr>
          <p:cNvPr id="24" name="Text 22"/>
          <p:cNvSpPr txBox="1"/>
          <p:nvPr/>
        </p:nvSpPr>
        <p:spPr>
          <a:xfrm>
            <a:off x="811202"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get_batch</a:t>
            </a:r>
            <a:endParaRPr lang="en-US" sz="1441" dirty="0"/>
          </a:p>
        </p:txBody>
      </p:sp>
      <p:sp>
        <p:nvSpPr>
          <p:cNvPr id="25" name="Shape 23"/>
          <p:cNvSpPr/>
          <p:nvPr/>
        </p:nvSpPr>
        <p:spPr>
          <a:xfrm>
            <a:off x="2598170" y="2939089"/>
            <a:ext cx="1565821" cy="1799677"/>
          </a:xfrm>
          <a:prstGeom prst="rect">
            <a:avLst/>
          </a:prstGeom>
          <a:solidFill>
            <a:srgbClr val="E5F7EF"/>
          </a:solidFill>
          <a:ln w="15240">
            <a:solidFill>
              <a:srgbClr val="009E73"/>
            </a:solidFill>
            <a:prstDash val="solid"/>
          </a:ln>
        </p:spPr>
      </p:sp>
      <p:sp>
        <p:nvSpPr>
          <p:cNvPr id="26" name="Text 24"/>
          <p:cNvSpPr txBox="1"/>
          <p:nvPr/>
        </p:nvSpPr>
        <p:spPr>
          <a:xfrm>
            <a:off x="2659176"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Predict</a:t>
            </a:r>
            <a:endParaRPr lang="en-US" sz="1561" dirty="0"/>
          </a:p>
        </p:txBody>
      </p:sp>
      <p:sp>
        <p:nvSpPr>
          <p:cNvPr id="27" name="Text 25"/>
          <p:cNvSpPr txBox="1"/>
          <p:nvPr/>
        </p:nvSpPr>
        <p:spPr>
          <a:xfrm>
            <a:off x="2659176"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Logits</a:t>
            </a:r>
            <a:endParaRPr lang="en-US" sz="1441" dirty="0"/>
          </a:p>
        </p:txBody>
      </p:sp>
      <p:sp>
        <p:nvSpPr>
          <p:cNvPr id="28" name="Text 26"/>
          <p:cNvSpPr txBox="1"/>
          <p:nvPr/>
        </p:nvSpPr>
        <p:spPr>
          <a:xfrm>
            <a:off x="2621047"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gpt</a:t>
            </a:r>
            <a:endParaRPr lang="en-US" sz="1441" dirty="0"/>
          </a:p>
        </p:txBody>
      </p:sp>
      <p:sp>
        <p:nvSpPr>
          <p:cNvPr id="29" name="Shape 27"/>
          <p:cNvSpPr/>
          <p:nvPr/>
        </p:nvSpPr>
        <p:spPr>
          <a:xfrm>
            <a:off x="4408015" y="2939089"/>
            <a:ext cx="1565821" cy="1799677"/>
          </a:xfrm>
          <a:prstGeom prst="roundRect">
            <a:avLst>
              <a:gd name="adj" fmla="val 4672"/>
            </a:avLst>
          </a:prstGeom>
          <a:solidFill>
            <a:srgbClr val="FFF0E6"/>
          </a:solidFill>
          <a:ln w="15240">
            <a:solidFill>
              <a:srgbClr val="D55E00"/>
            </a:solidFill>
            <a:prstDash val="solid"/>
          </a:ln>
        </p:spPr>
      </p:sp>
      <p:sp>
        <p:nvSpPr>
          <p:cNvPr id="30" name="Text 28"/>
          <p:cNvSpPr txBox="1"/>
          <p:nvPr/>
        </p:nvSpPr>
        <p:spPr>
          <a:xfrm>
            <a:off x="446902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Compare</a:t>
            </a:r>
            <a:endParaRPr lang="en-US" sz="1561" dirty="0"/>
          </a:p>
        </p:txBody>
      </p:sp>
      <p:sp>
        <p:nvSpPr>
          <p:cNvPr id="31" name="Text 29"/>
          <p:cNvSpPr txBox="1"/>
          <p:nvPr/>
        </p:nvSpPr>
        <p:spPr>
          <a:xfrm>
            <a:off x="446902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Targets</a:t>
            </a:r>
            <a:endParaRPr lang="en-US" sz="1441" dirty="0"/>
          </a:p>
        </p:txBody>
      </p:sp>
      <p:sp>
        <p:nvSpPr>
          <p:cNvPr id="32" name="Shape 30"/>
          <p:cNvSpPr/>
          <p:nvPr/>
        </p:nvSpPr>
        <p:spPr>
          <a:xfrm>
            <a:off x="6217860" y="2939089"/>
            <a:ext cx="1565821" cy="1799677"/>
          </a:xfrm>
          <a:prstGeom prst="roundRect">
            <a:avLst>
              <a:gd name="adj" fmla="val 4672"/>
            </a:avLst>
          </a:prstGeom>
          <a:solidFill>
            <a:srgbClr val="FFF0E6"/>
          </a:solidFill>
          <a:ln w="15240">
            <a:solidFill>
              <a:srgbClr val="D55E00"/>
            </a:solidFill>
            <a:prstDash val="solid"/>
          </a:ln>
        </p:spPr>
      </p:sp>
      <p:sp>
        <p:nvSpPr>
          <p:cNvPr id="33" name="Text 31"/>
          <p:cNvSpPr txBox="1"/>
          <p:nvPr/>
        </p:nvSpPr>
        <p:spPr>
          <a:xfrm>
            <a:off x="627886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Backward</a:t>
            </a:r>
            <a:endParaRPr lang="en-US" sz="1561" dirty="0"/>
          </a:p>
        </p:txBody>
      </p:sp>
      <p:sp>
        <p:nvSpPr>
          <p:cNvPr id="34" name="Text 32"/>
          <p:cNvSpPr txBox="1"/>
          <p:nvPr/>
        </p:nvSpPr>
        <p:spPr>
          <a:xfrm>
            <a:off x="627886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Gradients</a:t>
            </a:r>
            <a:endParaRPr lang="en-US" sz="1441" dirty="0"/>
          </a:p>
        </p:txBody>
      </p:sp>
      <p:sp>
        <p:nvSpPr>
          <p:cNvPr id="35" name="Shape 33"/>
          <p:cNvSpPr/>
          <p:nvPr/>
        </p:nvSpPr>
        <p:spPr>
          <a:xfrm>
            <a:off x="8027705" y="2939089"/>
            <a:ext cx="1565821" cy="1799677"/>
          </a:xfrm>
          <a:prstGeom prst="roundRect">
            <a:avLst>
              <a:gd name="adj" fmla="val 4672"/>
            </a:avLst>
          </a:prstGeom>
          <a:solidFill>
            <a:srgbClr val="FFF0E6"/>
          </a:solidFill>
          <a:ln w="15240">
            <a:solidFill>
              <a:srgbClr val="D55E00"/>
            </a:solidFill>
            <a:prstDash val="solid"/>
          </a:ln>
        </p:spPr>
      </p:sp>
      <p:sp>
        <p:nvSpPr>
          <p:cNvPr id="36" name="Text 34"/>
          <p:cNvSpPr txBox="1"/>
          <p:nvPr/>
        </p:nvSpPr>
        <p:spPr>
          <a:xfrm>
            <a:off x="8088711"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Step</a:t>
            </a:r>
            <a:endParaRPr lang="en-US" sz="1561" dirty="0"/>
          </a:p>
        </p:txBody>
      </p:sp>
      <p:sp>
        <p:nvSpPr>
          <p:cNvPr id="37" name="Text 35"/>
          <p:cNvSpPr txBox="1"/>
          <p:nvPr/>
        </p:nvSpPr>
        <p:spPr>
          <a:xfrm>
            <a:off x="8088711"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Weights</a:t>
            </a:r>
            <a:endParaRPr lang="en-US" sz="1441" dirty="0"/>
          </a:p>
        </p:txBody>
      </p:sp>
      <p:sp>
        <p:nvSpPr>
          <p:cNvPr id="38" name="Text 36"/>
          <p:cNvSpPr txBox="1"/>
          <p:nvPr/>
        </p:nvSpPr>
        <p:spPr>
          <a:xfrm>
            <a:off x="8050582"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opt.step</a:t>
            </a:r>
            <a:endParaRPr lang="en-US" sz="1441" dirty="0"/>
          </a:p>
        </p:txBody>
      </p:sp>
      <p:sp>
        <p:nvSpPr>
          <p:cNvPr id="39" name="Shape 37"/>
          <p:cNvSpPr/>
          <p:nvPr/>
        </p:nvSpPr>
        <p:spPr>
          <a:xfrm>
            <a:off x="9837549" y="2939089"/>
            <a:ext cx="1565821" cy="1799677"/>
          </a:xfrm>
          <a:prstGeom prst="roundRect">
            <a:avLst>
              <a:gd name="adj" fmla="val 4672"/>
            </a:avLst>
          </a:prstGeom>
          <a:solidFill>
            <a:srgbClr val="FFF0E6"/>
          </a:solidFill>
          <a:ln w="15240">
            <a:solidFill>
              <a:srgbClr val="D55E00"/>
            </a:solidFill>
            <a:prstDash val="solid"/>
          </a:ln>
        </p:spPr>
      </p:sp>
      <p:sp>
        <p:nvSpPr>
          <p:cNvPr id="40" name="Text 38"/>
          <p:cNvSpPr txBox="1"/>
          <p:nvPr/>
        </p:nvSpPr>
        <p:spPr>
          <a:xfrm>
            <a:off x="9898555"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Validate</a:t>
            </a:r>
            <a:endParaRPr lang="en-US" sz="1561" dirty="0"/>
          </a:p>
        </p:txBody>
      </p:sp>
      <p:sp>
        <p:nvSpPr>
          <p:cNvPr id="41" name="Text 39"/>
          <p:cNvSpPr txBox="1"/>
          <p:nvPr/>
        </p:nvSpPr>
        <p:spPr>
          <a:xfrm>
            <a:off x="9898555"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Separate text</a:t>
            </a:r>
            <a:endParaRPr lang="en-US" sz="1441" dirty="0"/>
          </a:p>
        </p:txBody>
      </p:sp>
      <p:sp>
        <p:nvSpPr>
          <p:cNvPr id="42" name="Text 40"/>
          <p:cNvSpPr txBox="1"/>
          <p:nvPr/>
        </p:nvSpPr>
        <p:spPr>
          <a:xfrm>
            <a:off x="9860427"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val_loss</a:t>
            </a:r>
            <a:endParaRPr lang="en-US" sz="1441" dirty="0"/>
          </a:p>
        </p:txBody>
      </p:sp>
      <p:sp>
        <p:nvSpPr>
          <p:cNvPr id="43" name="Shape 41"/>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4" name="Text 42"/>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5" name="Shape 43"/>
          <p:cNvSpPr/>
          <p:nvPr/>
        </p:nvSpPr>
        <p:spPr>
          <a:xfrm>
            <a:off x="1676436" y="5630979"/>
            <a:ext cx="198270" cy="198270"/>
          </a:xfrm>
          <a:prstGeom prst="rect">
            <a:avLst/>
          </a:prstGeom>
          <a:solidFill>
            <a:srgbClr val="E5F7EF"/>
          </a:solidFill>
          <a:ln w="15240">
            <a:solidFill>
              <a:srgbClr val="009E73"/>
            </a:solidFill>
            <a:prstDash val="solid"/>
          </a:ln>
        </p:spPr>
      </p:sp>
      <p:sp>
        <p:nvSpPr>
          <p:cNvPr id="46" name="Text 44"/>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7" name="Shape 45"/>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48" name="Text 46"/>
          <p:cNvSpPr txBox="1"/>
          <p:nvPr/>
        </p:nvSpPr>
        <p:spPr>
          <a:xfrm>
            <a:off x="293956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Loss</a:t>
            </a:r>
            <a:endParaRPr lang="en-US" sz="1441" dirty="0"/>
          </a:p>
        </p:txBody>
      </p:sp>
      <p:sp>
        <p:nvSpPr>
          <p:cNvPr id="49" name="Shape 47"/>
          <p:cNvSpPr/>
          <p:nvPr/>
        </p:nvSpPr>
        <p:spPr>
          <a:xfrm>
            <a:off x="3568395" y="5630979"/>
            <a:ext cx="198270" cy="198270"/>
          </a:xfrm>
          <a:prstGeom prst="roundRect">
            <a:avLst>
              <a:gd name="adj" fmla="val 36895"/>
            </a:avLst>
          </a:prstGeom>
          <a:solidFill>
            <a:srgbClr val="FFF0E6"/>
          </a:solidFill>
          <a:ln w="15240">
            <a:solidFill>
              <a:srgbClr val="D55E00"/>
            </a:solidFill>
            <a:prstDash val="solid"/>
          </a:ln>
        </p:spPr>
      </p:sp>
      <p:sp>
        <p:nvSpPr>
          <p:cNvPr id="50" name="Text 48"/>
          <p:cNvSpPr txBox="1"/>
          <p:nvPr/>
        </p:nvSpPr>
        <p:spPr>
          <a:xfrm>
            <a:off x="3827671"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51" name="Shape 49"/>
          <p:cNvSpPr/>
          <p:nvPr/>
        </p:nvSpPr>
        <p:spPr>
          <a:xfrm>
            <a:off x="4593270" y="5730113"/>
            <a:ext cx="335533" cy="0"/>
          </a:xfrm>
          <a:prstGeom prst="line">
            <a:avLst/>
          </a:prstGeom>
          <a:noFill/>
          <a:ln w="22860">
            <a:solidFill>
              <a:srgbClr val="009E73"/>
            </a:solidFill>
            <a:prstDash val="solid"/>
            <a:tailEnd type="triangle"/>
          </a:ln>
        </p:spPr>
      </p:sp>
      <p:sp>
        <p:nvSpPr>
          <p:cNvPr id="52" name="Text 50"/>
          <p:cNvSpPr txBox="1"/>
          <p:nvPr/>
        </p:nvSpPr>
        <p:spPr>
          <a:xfrm>
            <a:off x="4989809"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53" name="Text 51"/>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Validation changes weights?</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Lab 5: build attention and a small GPT</a:t>
            </a:r>
            <a:endParaRPr lang="en-US" sz="3200" dirty="0"/>
          </a:p>
        </p:txBody>
      </p:sp>
      <p:sp>
        <p:nvSpPr>
          <p:cNvPr id="6" name="Shape 4"/>
          <p:cNvSpPr/>
          <p:nvPr/>
        </p:nvSpPr>
        <p:spPr>
          <a:xfrm>
            <a:off x="548640" y="1527048"/>
            <a:ext cx="411480" cy="411480"/>
          </a:xfrm>
          <a:prstGeom prst="ellipse">
            <a:avLst/>
          </a:prstGeom>
          <a:solidFill>
            <a:srgbClr val="0F766E"/>
          </a:solidFill>
          <a:ln w="12700">
            <a:solidFill>
              <a:srgbClr val="0F766E"/>
            </a:solidFill>
            <a:prstDash val="solid"/>
          </a:ln>
        </p:spPr>
      </p:sp>
      <p:sp>
        <p:nvSpPr>
          <p:cNvPr id="7" name="Text 5"/>
          <p:cNvSpPr txBox="1"/>
          <p:nvPr/>
        </p:nvSpPr>
        <p:spPr>
          <a:xfrm>
            <a:off x="548640" y="15270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48132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Check attention and masks.</a:t>
            </a:r>
            <a:endParaRPr lang="en-US" sz="2000" dirty="0"/>
          </a:p>
        </p:txBody>
      </p:sp>
      <p:sp>
        <p:nvSpPr>
          <p:cNvPr id="9" name="Shape 7"/>
          <p:cNvSpPr/>
          <p:nvPr/>
        </p:nvSpPr>
        <p:spPr>
          <a:xfrm>
            <a:off x="548640" y="2395728"/>
            <a:ext cx="411480" cy="411480"/>
          </a:xfrm>
          <a:prstGeom prst="ellipse">
            <a:avLst/>
          </a:prstGeom>
          <a:solidFill>
            <a:srgbClr val="0F766E"/>
          </a:solidFill>
          <a:ln w="12700">
            <a:solidFill>
              <a:srgbClr val="0F766E"/>
            </a:solidFill>
            <a:prstDash val="solid"/>
          </a:ln>
        </p:spPr>
      </p:sp>
      <p:sp>
        <p:nvSpPr>
          <p:cNvPr id="10" name="Text 8"/>
          <p:cNvSpPr txBox="1"/>
          <p:nvPr/>
        </p:nvSpPr>
        <p:spPr>
          <a:xfrm>
            <a:off x="548640" y="23957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235000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Assemble heads and blocks.</a:t>
            </a:r>
            <a:endParaRPr lang="en-US" sz="2000" dirty="0"/>
          </a:p>
        </p:txBody>
      </p:sp>
      <p:sp>
        <p:nvSpPr>
          <p:cNvPr id="12" name="Shape 10"/>
          <p:cNvSpPr/>
          <p:nvPr/>
        </p:nvSpPr>
        <p:spPr>
          <a:xfrm>
            <a:off x="548640" y="3264408"/>
            <a:ext cx="411480" cy="411480"/>
          </a:xfrm>
          <a:prstGeom prst="ellipse">
            <a:avLst/>
          </a:prstGeom>
          <a:solidFill>
            <a:srgbClr val="0F766E"/>
          </a:solidFill>
          <a:ln w="12700">
            <a:solidFill>
              <a:srgbClr val="0F766E"/>
            </a:solidFill>
            <a:prstDash val="solid"/>
          </a:ln>
        </p:spPr>
      </p:sp>
      <p:sp>
        <p:nvSpPr>
          <p:cNvPr id="13" name="Text 11"/>
          <p:cNvSpPr txBox="1"/>
          <p:nvPr/>
        </p:nvSpPr>
        <p:spPr>
          <a:xfrm>
            <a:off x="548640" y="32644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321868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Train bounded character predictions.</a:t>
            </a:r>
            <a:endParaRPr lang="en-US" sz="2000" dirty="0"/>
          </a:p>
        </p:txBody>
      </p:sp>
      <p:sp>
        <p:nvSpPr>
          <p:cNvPr id="15" name="Shape 13"/>
          <p:cNvSpPr/>
          <p:nvPr/>
        </p:nvSpPr>
        <p:spPr>
          <a:xfrm>
            <a:off x="548640" y="4133088"/>
            <a:ext cx="411480" cy="411480"/>
          </a:xfrm>
          <a:prstGeom prst="ellipse">
            <a:avLst/>
          </a:prstGeom>
          <a:solidFill>
            <a:srgbClr val="0F766E"/>
          </a:solidFill>
          <a:ln w="12700">
            <a:solidFill>
              <a:srgbClr val="0F766E"/>
            </a:solidFill>
            <a:prstDash val="solid"/>
          </a:ln>
        </p:spPr>
      </p:sp>
      <p:sp>
        <p:nvSpPr>
          <p:cNvPr id="16" name="Text 14"/>
          <p:cNvSpPr txBox="1"/>
          <p:nvPr/>
        </p:nvSpPr>
        <p:spPr>
          <a:xfrm>
            <a:off x="548640" y="413308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143000" y="408736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Measure loss; inspect samples.</a:t>
            </a:r>
            <a:endParaRPr lang="en-US" sz="2000" dirty="0"/>
          </a:p>
        </p:txBody>
      </p:sp>
      <p:sp>
        <p:nvSpPr>
          <p:cNvPr id="18" name="Shape 16"/>
          <p:cNvSpPr/>
          <p:nvPr/>
        </p:nvSpPr>
        <p:spPr>
          <a:xfrm>
            <a:off x="548640" y="5001768"/>
            <a:ext cx="411480" cy="411480"/>
          </a:xfrm>
          <a:prstGeom prst="ellipse">
            <a:avLst/>
          </a:prstGeom>
          <a:solidFill>
            <a:srgbClr val="0F766E"/>
          </a:solidFill>
          <a:ln w="12700">
            <a:solidFill>
              <a:srgbClr val="0F766E"/>
            </a:solidFill>
            <a:prstDash val="solid"/>
          </a:ln>
        </p:spPr>
      </p:sp>
      <p:sp>
        <p:nvSpPr>
          <p:cNvPr id="19" name="Text 17"/>
          <p:cNvSpPr txBox="1"/>
          <p:nvPr/>
        </p:nvSpPr>
        <p:spPr>
          <a:xfrm>
            <a:off x="548640" y="500176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txBox="1"/>
          <p:nvPr/>
        </p:nvSpPr>
        <p:spPr>
          <a:xfrm>
            <a:off x="1143000" y="495604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Optional: inspect separate pretrained models.</a:t>
            </a:r>
            <a:endParaRPr lang="en-US" sz="2000" dirty="0"/>
          </a:p>
        </p:txBody>
      </p:sp>
      <p:sp>
        <p:nvSpPr>
          <p:cNvPr id="21" name="Shape 19"/>
          <p:cNvSpPr/>
          <p:nvPr/>
        </p:nvSpPr>
        <p:spPr>
          <a:xfrm>
            <a:off x="8046720" y="1481328"/>
            <a:ext cx="3596335" cy="4828032"/>
          </a:xfrm>
          <a:prstGeom prst="roundRect">
            <a:avLst>
              <a:gd name="adj" fmla="val 3051"/>
            </a:avLst>
          </a:prstGeom>
          <a:solidFill>
            <a:srgbClr val="E6F4F1"/>
          </a:solidFill>
          <a:ln w="12700">
            <a:solidFill>
              <a:srgbClr val="E6F4F1"/>
            </a:solidFill>
            <a:prstDash val="solid"/>
          </a:ln>
        </p:spPr>
      </p:sp>
      <p:sp>
        <p:nvSpPr>
          <p:cNvPr id="22" name="Shape 20"/>
          <p:cNvSpPr/>
          <p:nvPr/>
        </p:nvSpPr>
        <p:spPr>
          <a:xfrm>
            <a:off x="8229600" y="1709928"/>
            <a:ext cx="502920" cy="502920"/>
          </a:xfrm>
          <a:prstGeom prst="ellipse">
            <a:avLst/>
          </a:prstGeom>
          <a:solidFill>
            <a:srgbClr val="0F766E"/>
          </a:solidFill>
          <a:ln w="12700">
            <a:solidFill>
              <a:srgbClr val="0F766E"/>
            </a:solidFill>
            <a:prstDash val="solid"/>
          </a:ln>
        </p:spPr>
      </p:sp>
      <p:pic>
        <p:nvPicPr>
          <p:cNvPr id="23" name="Image 0" descr="preencoded.png">    </p:cNvPr>
          <p:cNvPicPr>
            <a:picLocks noChangeAspect="1"/>
          </p:cNvPicPr>
          <p:nvPr/>
        </p:nvPicPr>
        <p:blipFill>
          <a:blip r:embed="rId1"/>
          <a:stretch>
            <a:fillRect/>
          </a:stretch>
        </p:blipFill>
        <p:spPr>
          <a:xfrm>
            <a:off x="8350301" y="1830629"/>
            <a:ext cx="261518" cy="261518"/>
          </a:xfrm>
          <a:prstGeom prst="rect">
            <a:avLst/>
          </a:prstGeom>
        </p:spPr>
      </p:pic>
      <p:sp>
        <p:nvSpPr>
          <p:cNvPr id="24" name="Text 21"/>
          <p:cNvSpPr txBox="1"/>
          <p:nvPr/>
        </p:nvSpPr>
        <p:spPr>
          <a:xfrm>
            <a:off x="8869680" y="1664208"/>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Runtime</a:t>
            </a:r>
            <a:endParaRPr lang="en-US" sz="1500" dirty="0"/>
          </a:p>
        </p:txBody>
      </p:sp>
      <p:sp>
        <p:nvSpPr>
          <p:cNvPr id="25" name="Text 22"/>
          <p:cNvSpPr txBox="1"/>
          <p:nvPr/>
        </p:nvSpPr>
        <p:spPr>
          <a:xfrm>
            <a:off x="8869680" y="2011680"/>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CPU core took 4.1 minutes; GPU optional</a:t>
            </a:r>
            <a:endParaRPr lang="en-US" sz="1400" dirty="0"/>
          </a:p>
        </p:txBody>
      </p:sp>
      <p:sp>
        <p:nvSpPr>
          <p:cNvPr id="26" name="Shape 23"/>
          <p:cNvSpPr/>
          <p:nvPr/>
        </p:nvSpPr>
        <p:spPr>
          <a:xfrm>
            <a:off x="8229600" y="3227832"/>
            <a:ext cx="502920" cy="502920"/>
          </a:xfrm>
          <a:prstGeom prst="ellipse">
            <a:avLst/>
          </a:prstGeom>
          <a:solidFill>
            <a:srgbClr val="0F766E"/>
          </a:solidFill>
          <a:ln w="12700">
            <a:solidFill>
              <a:srgbClr val="0F766E"/>
            </a:solidFill>
            <a:prstDash val="solid"/>
          </a:ln>
        </p:spPr>
      </p:sp>
      <p:pic>
        <p:nvPicPr>
          <p:cNvPr id="27" name="Image 1" descr="preencoded.png">    </p:cNvPr>
          <p:cNvPicPr>
            <a:picLocks noChangeAspect="1"/>
          </p:cNvPicPr>
          <p:nvPr/>
        </p:nvPicPr>
        <p:blipFill>
          <a:blip r:embed="rId2"/>
          <a:stretch>
            <a:fillRect/>
          </a:stretch>
        </p:blipFill>
        <p:spPr>
          <a:xfrm>
            <a:off x="8350301" y="3348533"/>
            <a:ext cx="261518" cy="261518"/>
          </a:xfrm>
          <a:prstGeom prst="rect">
            <a:avLst/>
          </a:prstGeom>
        </p:spPr>
      </p:pic>
      <p:sp>
        <p:nvSpPr>
          <p:cNvPr id="28" name="Text 24"/>
          <p:cNvSpPr txBox="1"/>
          <p:nvPr/>
        </p:nvSpPr>
        <p:spPr>
          <a:xfrm>
            <a:off x="8869680" y="3182112"/>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Time</a:t>
            </a:r>
            <a:endParaRPr lang="en-US" sz="1500" dirty="0"/>
          </a:p>
        </p:txBody>
      </p:sp>
      <p:sp>
        <p:nvSpPr>
          <p:cNvPr id="29" name="Text 25"/>
          <p:cNvSpPr txBox="1"/>
          <p:nvPr/>
        </p:nvSpPr>
        <p:spPr>
          <a:xfrm>
            <a:off x="8869680" y="3529584"/>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2-hour lab</a:t>
            </a:r>
            <a:endParaRPr lang="en-US" sz="1400" dirty="0"/>
          </a:p>
        </p:txBody>
      </p:sp>
      <p:sp>
        <p:nvSpPr>
          <p:cNvPr id="30" name="Shape 26"/>
          <p:cNvSpPr/>
          <p:nvPr/>
        </p:nvSpPr>
        <p:spPr>
          <a:xfrm>
            <a:off x="8229600" y="4745736"/>
            <a:ext cx="502920" cy="502920"/>
          </a:xfrm>
          <a:prstGeom prst="ellipse">
            <a:avLst/>
          </a:prstGeom>
          <a:solidFill>
            <a:srgbClr val="0F766E"/>
          </a:solidFill>
          <a:ln w="12700">
            <a:solidFill>
              <a:srgbClr val="0F766E"/>
            </a:solidFill>
            <a:prstDash val="solid"/>
          </a:ln>
        </p:spPr>
      </p:sp>
      <p:pic>
        <p:nvPicPr>
          <p:cNvPr id="31" name="Image 2" descr="preencoded.png">    </p:cNvPr>
          <p:cNvPicPr>
            <a:picLocks noChangeAspect="1"/>
          </p:cNvPicPr>
          <p:nvPr/>
        </p:nvPicPr>
        <p:blipFill>
          <a:blip r:embed="rId3"/>
          <a:stretch>
            <a:fillRect/>
          </a:stretch>
        </p:blipFill>
        <p:spPr>
          <a:xfrm>
            <a:off x="8350301" y="4866437"/>
            <a:ext cx="261518" cy="261518"/>
          </a:xfrm>
          <a:prstGeom prst="rect">
            <a:avLst/>
          </a:prstGeom>
        </p:spPr>
      </p:pic>
      <p:sp>
        <p:nvSpPr>
          <p:cNvPr id="32" name="Text 27"/>
          <p:cNvSpPr txBox="1"/>
          <p:nvPr/>
        </p:nvSpPr>
        <p:spPr>
          <a:xfrm>
            <a:off x="8869680" y="4700016"/>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Hand in</a:t>
            </a:r>
            <a:endParaRPr lang="en-US" sz="1500" dirty="0"/>
          </a:p>
        </p:txBody>
      </p:sp>
      <p:sp>
        <p:nvSpPr>
          <p:cNvPr id="33" name="Text 28"/>
          <p:cNvSpPr txBox="1"/>
          <p:nvPr/>
        </p:nvSpPr>
        <p:spPr>
          <a:xfrm>
            <a:off x="8869680" y="5047488"/>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Checks, curves, samples and explanations</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Read, watch, practise</a:t>
            </a:r>
            <a:endParaRPr lang="en-US" sz="3200" dirty="0"/>
          </a:p>
        </p:txBody>
      </p:sp>
      <p:sp>
        <p:nvSpPr>
          <p:cNvPr id="6" name="Shape 4"/>
          <p:cNvSpPr/>
          <p:nvPr/>
        </p:nvSpPr>
        <p:spPr>
          <a:xfrm>
            <a:off x="548640" y="1554480"/>
            <a:ext cx="457200" cy="457200"/>
          </a:xfrm>
          <a:prstGeom prst="ellipse">
            <a:avLst/>
          </a:prstGeom>
          <a:solidFill>
            <a:srgbClr val="DC2626"/>
          </a:solidFill>
          <a:ln w="12700">
            <a:solidFill>
              <a:srgbClr val="DC2626"/>
            </a:solidFill>
            <a:prstDash val="solid"/>
          </a:ln>
        </p:spPr>
      </p:sp>
      <p:pic>
        <p:nvPicPr>
          <p:cNvPr id="7" name="Image 0" descr="preencoded.png">    </p:cNvPr>
          <p:cNvPicPr>
            <a:picLocks noChangeAspect="1"/>
          </p:cNvPicPr>
          <p:nvPr/>
        </p:nvPicPr>
        <p:blipFill>
          <a:blip r:embed="rId1"/>
          <a:stretch>
            <a:fillRect/>
          </a:stretch>
        </p:blipFill>
        <p:spPr>
          <a:xfrm>
            <a:off x="658368" y="1664208"/>
            <a:ext cx="237744" cy="237744"/>
          </a:xfrm>
          <a:prstGeom prst="rect">
            <a:avLst/>
          </a:prstGeom>
        </p:spPr>
      </p:pic>
      <p:sp>
        <p:nvSpPr>
          <p:cNvPr id="8" name="Text 5"/>
          <p:cNvSpPr txBox="1"/>
          <p:nvPr/>
        </p:nvSpPr>
        <p:spPr>
          <a:xfrm>
            <a:off x="1143000" y="148132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Attention step by step</a:t>
            </a:r>
            <a:endParaRPr lang="en-US" sz="1500" dirty="0"/>
          </a:p>
        </p:txBody>
      </p:sp>
      <p:sp>
        <p:nvSpPr>
          <p:cNvPr id="9" name="Shape 6"/>
          <p:cNvSpPr/>
          <p:nvPr/>
        </p:nvSpPr>
        <p:spPr>
          <a:xfrm>
            <a:off x="548640" y="2377440"/>
            <a:ext cx="457200" cy="457200"/>
          </a:xfrm>
          <a:prstGeom prst="ellipse">
            <a:avLst/>
          </a:prstGeom>
          <a:solidFill>
            <a:srgbClr val="DC2626"/>
          </a:solidFill>
          <a:ln w="12700">
            <a:solidFill>
              <a:srgbClr val="DC2626"/>
            </a:solidFill>
            <a:prstDash val="solid"/>
          </a:ln>
        </p:spPr>
      </p:sp>
      <p:pic>
        <p:nvPicPr>
          <p:cNvPr id="10" name="Image 1" descr="preencoded.png">    </p:cNvPr>
          <p:cNvPicPr>
            <a:picLocks noChangeAspect="1"/>
          </p:cNvPicPr>
          <p:nvPr/>
        </p:nvPicPr>
        <p:blipFill>
          <a:blip r:embed="rId3"/>
          <a:stretch>
            <a:fillRect/>
          </a:stretch>
        </p:blipFill>
        <p:spPr>
          <a:xfrm>
            <a:off x="658368" y="2487168"/>
            <a:ext cx="237744" cy="237744"/>
          </a:xfrm>
          <a:prstGeom prst="rect">
            <a:avLst/>
          </a:prstGeom>
        </p:spPr>
      </p:pic>
      <p:sp>
        <p:nvSpPr>
          <p:cNvPr id="11" name="Text 7"/>
          <p:cNvSpPr txBox="1"/>
          <p:nvPr/>
        </p:nvSpPr>
        <p:spPr>
          <a:xfrm>
            <a:off x="1143000" y="230428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Build GPT in Python</a:t>
            </a:r>
            <a:endParaRPr lang="en-US" sz="1500" dirty="0"/>
          </a:p>
        </p:txBody>
      </p:sp>
      <p:sp>
        <p:nvSpPr>
          <p:cNvPr id="12" name="Shape 8"/>
          <p:cNvSpPr/>
          <p:nvPr/>
        </p:nvSpPr>
        <p:spPr>
          <a:xfrm>
            <a:off x="548640" y="3200400"/>
            <a:ext cx="457200" cy="457200"/>
          </a:xfrm>
          <a:prstGeom prst="ellipse">
            <a:avLst/>
          </a:prstGeom>
          <a:solidFill>
            <a:srgbClr val="4F46E5"/>
          </a:solidFill>
          <a:ln w="12700">
            <a:solidFill>
              <a:srgbClr val="4F46E5"/>
            </a:solidFill>
            <a:prstDash val="solid"/>
          </a:ln>
        </p:spPr>
      </p:sp>
      <p:pic>
        <p:nvPicPr>
          <p:cNvPr id="13" name="Image 2" descr="preencoded.png">    </p:cNvPr>
          <p:cNvPicPr>
            <a:picLocks noChangeAspect="1"/>
          </p:cNvPicPr>
          <p:nvPr/>
        </p:nvPicPr>
        <p:blipFill>
          <a:blip r:embed="rId5"/>
          <a:stretch>
            <a:fillRect/>
          </a:stretch>
        </p:blipFill>
        <p:spPr>
          <a:xfrm>
            <a:off x="658368" y="3310128"/>
            <a:ext cx="237744" cy="237744"/>
          </a:xfrm>
          <a:prstGeom prst="rect">
            <a:avLst/>
          </a:prstGeom>
        </p:spPr>
      </p:pic>
      <p:sp>
        <p:nvSpPr>
          <p:cNvPr id="14" name="Text 9"/>
          <p:cNvSpPr txBox="1"/>
          <p:nvPr/>
        </p:nvSpPr>
        <p:spPr>
          <a:xfrm>
            <a:off x="1143000" y="312724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Original transformer paper</a:t>
            </a:r>
            <a:endParaRPr lang="en-US" sz="1500" dirty="0"/>
          </a:p>
        </p:txBody>
      </p:sp>
      <p:sp>
        <p:nvSpPr>
          <p:cNvPr id="15" name="Shape 10"/>
          <p:cNvSpPr/>
          <p:nvPr/>
        </p:nvSpPr>
        <p:spPr>
          <a:xfrm>
            <a:off x="548640" y="4023360"/>
            <a:ext cx="457200" cy="457200"/>
          </a:xfrm>
          <a:prstGeom prst="ellipse">
            <a:avLst/>
          </a:prstGeom>
          <a:solidFill>
            <a:srgbClr val="4F46E5"/>
          </a:solidFill>
          <a:ln w="12700">
            <a:solidFill>
              <a:srgbClr val="4F46E5"/>
            </a:solidFill>
            <a:prstDash val="solid"/>
          </a:ln>
        </p:spPr>
      </p:sp>
      <p:pic>
        <p:nvPicPr>
          <p:cNvPr id="16" name="Image 3" descr="preencoded.png">    </p:cNvPr>
          <p:cNvPicPr>
            <a:picLocks noChangeAspect="1"/>
          </p:cNvPicPr>
          <p:nvPr/>
        </p:nvPicPr>
        <p:blipFill>
          <a:blip r:embed="rId7"/>
          <a:stretch>
            <a:fillRect/>
          </a:stretch>
        </p:blipFill>
        <p:spPr>
          <a:xfrm>
            <a:off x="658368" y="4133088"/>
            <a:ext cx="237744" cy="237744"/>
          </a:xfrm>
          <a:prstGeom prst="rect">
            <a:avLst/>
          </a:prstGeom>
        </p:spPr>
      </p:pic>
      <p:sp>
        <p:nvSpPr>
          <p:cNvPr id="17" name="Text 11"/>
          <p:cNvSpPr txBox="1"/>
          <p:nvPr/>
        </p:nvSpPr>
        <p:spPr>
          <a:xfrm>
            <a:off x="1143000" y="395020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PyTorch SDPA reference</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05  ·  TRANSFORMERS &amp; ATTENTION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What we learned: transformers</a:t>
            </a:r>
            <a:endParaRPr lang="en-US" sz="3200" dirty="0"/>
          </a:p>
        </p:txBody>
      </p:sp>
      <p:sp>
        <p:nvSpPr>
          <p:cNvPr id="6" name="Shape 4"/>
          <p:cNvSpPr/>
          <p:nvPr/>
        </p:nvSpPr>
        <p:spPr>
          <a:xfrm>
            <a:off x="946879" y="1630142"/>
            <a:ext cx="3323515" cy="1376531"/>
          </a:xfrm>
          <a:prstGeom prst="roundRect">
            <a:avLst>
              <a:gd name="adj" fmla="val 5314"/>
            </a:avLst>
          </a:prstGeom>
          <a:solidFill>
            <a:srgbClr val="E4F2FB"/>
          </a:solidFill>
          <a:ln w="15240">
            <a:solidFill>
              <a:srgbClr val="0072B2"/>
            </a:solidFill>
            <a:prstDash val="solid"/>
          </a:ln>
        </p:spPr>
      </p:sp>
      <p:sp>
        <p:nvSpPr>
          <p:cNvPr id="7" name="Text 5"/>
          <p:cNvSpPr txBox="1"/>
          <p:nvPr/>
        </p:nvSpPr>
        <p:spPr>
          <a:xfrm>
            <a:off x="1080812"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Vectors</a:t>
            </a:r>
            <a:endParaRPr lang="en-US" sz="1758" dirty="0"/>
          </a:p>
        </p:txBody>
      </p:sp>
      <p:sp>
        <p:nvSpPr>
          <p:cNvPr id="8" name="Text 6"/>
          <p:cNvSpPr txBox="1"/>
          <p:nvPr/>
        </p:nvSpPr>
        <p:spPr>
          <a:xfrm>
            <a:off x="1080812"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IDs plus positions.</a:t>
            </a:r>
            <a:endParaRPr lang="en-US" sz="1523" dirty="0"/>
          </a:p>
        </p:txBody>
      </p:sp>
      <p:sp>
        <p:nvSpPr>
          <p:cNvPr id="9" name="Shape 7"/>
          <p:cNvSpPr/>
          <p:nvPr/>
        </p:nvSpPr>
        <p:spPr>
          <a:xfrm>
            <a:off x="4434090" y="1630142"/>
            <a:ext cx="3323515" cy="1376531"/>
          </a:xfrm>
          <a:prstGeom prst="rect">
            <a:avLst/>
          </a:prstGeom>
          <a:solidFill>
            <a:srgbClr val="E5F7EF"/>
          </a:solidFill>
          <a:ln w="15240">
            <a:solidFill>
              <a:srgbClr val="009E73"/>
            </a:solidFill>
            <a:prstDash val="solid"/>
          </a:ln>
        </p:spPr>
      </p:sp>
      <p:sp>
        <p:nvSpPr>
          <p:cNvPr id="10" name="Text 8"/>
          <p:cNvSpPr txBox="1"/>
          <p:nvPr/>
        </p:nvSpPr>
        <p:spPr>
          <a:xfrm>
            <a:off x="456802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Attention</a:t>
            </a:r>
            <a:endParaRPr lang="en-US" sz="1758" dirty="0"/>
          </a:p>
        </p:txBody>
      </p:sp>
      <p:sp>
        <p:nvSpPr>
          <p:cNvPr id="11" name="Text 9"/>
          <p:cNvSpPr txBox="1"/>
          <p:nvPr/>
        </p:nvSpPr>
        <p:spPr>
          <a:xfrm>
            <a:off x="456802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Mix values.</a:t>
            </a:r>
            <a:endParaRPr lang="en-US" sz="1523" dirty="0"/>
          </a:p>
        </p:txBody>
      </p:sp>
      <p:sp>
        <p:nvSpPr>
          <p:cNvPr id="12" name="Shape 10"/>
          <p:cNvSpPr/>
          <p:nvPr/>
        </p:nvSpPr>
        <p:spPr>
          <a:xfrm>
            <a:off x="7921301" y="1630142"/>
            <a:ext cx="3323515" cy="1376531"/>
          </a:xfrm>
          <a:prstGeom prst="rect">
            <a:avLst/>
          </a:prstGeom>
          <a:solidFill>
            <a:srgbClr val="E5F7EF"/>
          </a:solidFill>
          <a:ln w="15240">
            <a:solidFill>
              <a:srgbClr val="009E73"/>
            </a:solidFill>
            <a:prstDash val="solid"/>
          </a:ln>
        </p:spPr>
      </p:sp>
      <p:sp>
        <p:nvSpPr>
          <p:cNvPr id="13" name="Text 11"/>
          <p:cNvSpPr txBox="1"/>
          <p:nvPr/>
        </p:nvSpPr>
        <p:spPr>
          <a:xfrm>
            <a:off x="805523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Blocks</a:t>
            </a:r>
            <a:endParaRPr lang="en-US" sz="1758" dirty="0"/>
          </a:p>
        </p:txBody>
      </p:sp>
      <p:sp>
        <p:nvSpPr>
          <p:cNvPr id="14" name="Text 12"/>
          <p:cNvSpPr txBox="1"/>
          <p:nvPr/>
        </p:nvSpPr>
        <p:spPr>
          <a:xfrm>
            <a:off x="805523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Add corrections.</a:t>
            </a:r>
            <a:endParaRPr lang="en-US" sz="1523" dirty="0"/>
          </a:p>
        </p:txBody>
      </p:sp>
      <p:sp>
        <p:nvSpPr>
          <p:cNvPr id="15" name="Shape 13"/>
          <p:cNvSpPr/>
          <p:nvPr/>
        </p:nvSpPr>
        <p:spPr>
          <a:xfrm>
            <a:off x="946879" y="3170368"/>
            <a:ext cx="3323515" cy="1376531"/>
          </a:xfrm>
          <a:prstGeom prst="roundRect">
            <a:avLst>
              <a:gd name="adj" fmla="val 5314"/>
            </a:avLst>
          </a:prstGeom>
          <a:solidFill>
            <a:srgbClr val="FFF0E6"/>
          </a:solidFill>
          <a:ln w="15240">
            <a:solidFill>
              <a:srgbClr val="D55E00"/>
            </a:solidFill>
            <a:prstDash val="solid"/>
          </a:ln>
        </p:spPr>
      </p:sp>
      <p:sp>
        <p:nvSpPr>
          <p:cNvPr id="16" name="Text 14"/>
          <p:cNvSpPr txBox="1"/>
          <p:nvPr/>
        </p:nvSpPr>
        <p:spPr>
          <a:xfrm>
            <a:off x="1080812"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Training</a:t>
            </a:r>
            <a:endParaRPr lang="en-US" sz="1758" dirty="0"/>
          </a:p>
        </p:txBody>
      </p:sp>
      <p:sp>
        <p:nvSpPr>
          <p:cNvPr id="17" name="Text 15"/>
          <p:cNvSpPr txBox="1"/>
          <p:nvPr/>
        </p:nvSpPr>
        <p:spPr>
          <a:xfrm>
            <a:off x="1080812"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Update weights.</a:t>
            </a:r>
            <a:endParaRPr lang="en-US" sz="1523" dirty="0"/>
          </a:p>
        </p:txBody>
      </p:sp>
      <p:sp>
        <p:nvSpPr>
          <p:cNvPr id="18" name="Shape 16"/>
          <p:cNvSpPr/>
          <p:nvPr/>
        </p:nvSpPr>
        <p:spPr>
          <a:xfrm>
            <a:off x="4434090" y="3170368"/>
            <a:ext cx="3323515" cy="1376531"/>
          </a:xfrm>
          <a:prstGeom prst="roundRect">
            <a:avLst>
              <a:gd name="adj" fmla="val 5314"/>
            </a:avLst>
          </a:prstGeom>
          <a:solidFill>
            <a:srgbClr val="F9EAF4"/>
          </a:solidFill>
          <a:ln w="15240">
            <a:solidFill>
              <a:srgbClr val="CC79A7"/>
            </a:solidFill>
            <a:prstDash val="solid"/>
          </a:ln>
        </p:spPr>
      </p:sp>
      <p:sp>
        <p:nvSpPr>
          <p:cNvPr id="19" name="Text 17"/>
          <p:cNvSpPr txBox="1"/>
          <p:nvPr/>
        </p:nvSpPr>
        <p:spPr>
          <a:xfrm>
            <a:off x="456802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Generation</a:t>
            </a:r>
            <a:endParaRPr lang="en-US" sz="1758" dirty="0"/>
          </a:p>
        </p:txBody>
      </p:sp>
      <p:sp>
        <p:nvSpPr>
          <p:cNvPr id="20" name="Text 18"/>
          <p:cNvSpPr txBox="1"/>
          <p:nvPr/>
        </p:nvSpPr>
        <p:spPr>
          <a:xfrm>
            <a:off x="456802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Extend prefix.</a:t>
            </a:r>
            <a:endParaRPr lang="en-US" sz="1523" dirty="0"/>
          </a:p>
        </p:txBody>
      </p:sp>
      <p:sp>
        <p:nvSpPr>
          <p:cNvPr id="21" name="Shape 19"/>
          <p:cNvSpPr/>
          <p:nvPr/>
        </p:nvSpPr>
        <p:spPr>
          <a:xfrm>
            <a:off x="7921301" y="3170368"/>
            <a:ext cx="3323515" cy="1376531"/>
          </a:xfrm>
          <a:prstGeom prst="roundRect">
            <a:avLst>
              <a:gd name="adj" fmla="val 5314"/>
            </a:avLst>
          </a:prstGeom>
          <a:solidFill>
            <a:srgbClr val="FFF0E6"/>
          </a:solidFill>
          <a:ln w="15240">
            <a:solidFill>
              <a:srgbClr val="D55E00"/>
            </a:solidFill>
            <a:prstDash val="solid"/>
          </a:ln>
        </p:spPr>
      </p:sp>
      <p:sp>
        <p:nvSpPr>
          <p:cNvPr id="22" name="Text 20"/>
          <p:cNvSpPr txBox="1"/>
          <p:nvPr/>
        </p:nvSpPr>
        <p:spPr>
          <a:xfrm>
            <a:off x="805523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Evidence</a:t>
            </a:r>
            <a:endParaRPr lang="en-US" sz="1758" dirty="0"/>
          </a:p>
        </p:txBody>
      </p:sp>
      <p:sp>
        <p:nvSpPr>
          <p:cNvPr id="23" name="Text 21"/>
          <p:cNvSpPr txBox="1"/>
          <p:nvPr/>
        </p:nvSpPr>
        <p:spPr>
          <a:xfrm>
            <a:off x="805523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Routing limits.</a:t>
            </a:r>
            <a:endParaRPr lang="en-US" sz="1523" dirty="0"/>
          </a:p>
        </p:txBody>
      </p:sp>
      <p:sp>
        <p:nvSpPr>
          <p:cNvPr id="24" name="Text 22"/>
          <p:cNvSpPr txBox="1"/>
          <p:nvPr/>
        </p:nvSpPr>
        <p:spPr>
          <a:xfrm>
            <a:off x="946879" y="4680832"/>
            <a:ext cx="10297937" cy="260425"/>
          </a:xfrm>
          <a:prstGeom prst="rect">
            <a:avLst/>
          </a:prstGeom>
          <a:noFill/>
          <a:ln/>
        </p:spPr>
        <p:txBody>
          <a:bodyPr wrap="square" lIns="0" tIns="0" rIns="0" bIns="0" rtlCol="0" anchor="ctr"/>
          <a:lstStyle/>
          <a:p>
            <a:pPr algn="l" indent="0" marL="0">
              <a:lnSpc>
                <a:spcPct val="116000"/>
              </a:lnSpc>
              <a:buNone/>
            </a:pPr>
            <a:r>
              <a:rPr lang="en-US" sz="1523" b="1" dirty="0">
                <a:solidFill>
                  <a:srgbClr val="1E1B4B"/>
                </a:solidFill>
                <a:latin typeface="Arial" pitchFamily="34" charset="0"/>
                <a:ea typeface="Arial" pitchFamily="34" charset="-122"/>
                <a:cs typeface="Arial" pitchFamily="34" charset="-120"/>
              </a:rPr>
              <a:t>Example to explain aloud</a:t>
            </a:r>
            <a:endParaRPr lang="en-US" sz="1523" dirty="0"/>
          </a:p>
        </p:txBody>
      </p:sp>
      <p:sp>
        <p:nvSpPr>
          <p:cNvPr id="25" name="Text 23"/>
          <p:cNvSpPr txBox="1"/>
          <p:nvPr/>
        </p:nvSpPr>
        <p:spPr>
          <a:xfrm>
            <a:off x="946879" y="4993341"/>
            <a:ext cx="10297937" cy="468764"/>
          </a:xfrm>
          <a:prstGeom prst="rect">
            <a:avLst/>
          </a:prstGeom>
          <a:noFill/>
          <a:ln/>
        </p:spPr>
        <p:txBody>
          <a:bodyPr wrap="square" lIns="0" tIns="0" rIns="0" bIns="0" rtlCol="0" anchor="ctr"/>
          <a:lstStyle/>
          <a:p>
            <a:pPr algn="l" indent="0" marL="0">
              <a:lnSpc>
                <a:spcPct val="116000"/>
              </a:lnSpc>
              <a:buNone/>
            </a:pPr>
            <a:r>
              <a:rPr lang="en-US" sz="1582" dirty="0">
                <a:solidFill>
                  <a:srgbClr val="1F2937"/>
                </a:solidFill>
                <a:latin typeface="Arial" pitchFamily="34" charset="0"/>
                <a:ea typeface="Arial" pitchFamily="34" charset="-122"/>
                <a:cs typeface="Arial" pitchFamily="34" charset="-120"/>
              </a:rPr>
              <a:t>Illustration: [2,0,0] → [0.79,0.11,0.11].</a:t>
            </a:r>
            <a:endParaRPr lang="en-US" sz="1582" dirty="0"/>
          </a:p>
        </p:txBody>
      </p:sp>
      <p:sp>
        <p:nvSpPr>
          <p:cNvPr id="26" name="Text 24"/>
          <p:cNvSpPr txBox="1"/>
          <p:nvPr/>
        </p:nvSpPr>
        <p:spPr>
          <a:xfrm>
            <a:off x="946879" y="5529072"/>
            <a:ext cx="10297937" cy="461324"/>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Next: LLM training.</a:t>
            </a:r>
            <a:endParaRPr lang="en-US" sz="1523" dirty="0"/>
          </a:p>
        </p:txBody>
      </p:sp>
      <p:sp>
        <p:nvSpPr>
          <p:cNvPr id="27" name="Text 25"/>
          <p:cNvSpPr txBox="1"/>
          <p:nvPr/>
        </p:nvSpPr>
        <p:spPr>
          <a:xfrm>
            <a:off x="548640" y="6044184"/>
            <a:ext cx="11094415" cy="338328"/>
          </a:xfrm>
          <a:prstGeom prst="rect">
            <a:avLst/>
          </a:prstGeom>
          <a:noFill/>
          <a:ln/>
        </p:spPr>
        <p:txBody>
          <a:bodyPr wrap="square" lIns="0" tIns="0" rIns="0" bIns="0" rtlCol="0" anchor="t"/>
          <a:lstStyle/>
          <a:p>
            <a:pPr indent="0" marL="0">
              <a:buNone/>
            </a:pPr>
            <a:r>
              <a:rPr lang="en-US" sz="1600" dirty="0">
                <a:solidFill>
                  <a:srgbClr val="1E1B4B"/>
                </a:solidFill>
                <a:latin typeface="Calibri" pitchFamily="34" charset="0"/>
                <a:ea typeface="Calibri" pitchFamily="34" charset="-122"/>
                <a:cs typeface="Calibri" pitchFamily="34" charset="-120"/>
              </a:rPr>
              <a:t>Exit question: Training or generation changes weights?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5: Transformers &amp; Attention</dc:title>
  <dc:subject>Generative AI (MSc in Artificial Intelligence)</dc:subject>
  <dc:creator>Generative AI module team</dc:creator>
  <cp:lastModifiedBy>Generative AI module team</cp:lastModifiedBy>
  <cp:revision>1</cp:revision>
  <dcterms:created xsi:type="dcterms:W3CDTF">2026-10-11T21:26:06Z</dcterms:created>
  <dcterms:modified xsi:type="dcterms:W3CDTF">2026-10-11T21:26:06Z</dcterms:modified>
</cp:coreProperties>
</file>