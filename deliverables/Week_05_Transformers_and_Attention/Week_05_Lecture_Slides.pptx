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week 5. Every system we will study for the rest of the module, large language models, the text encoders inside image generators, diffusion transformers, multimodal models and agents, is built from one component: the transformer and its attention mechanism. The image on the title slide is an attention matrix, a table of how strongly each word looks at every other word. Today we will build that table by hand, understand every part of a transformer block, and in the lab implement attention and train a small transformer that writes Shakespeare-like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outcomes. The first motivates transformers by the problems of recurrent networks. The second covers the input side: tokens, embeddings and positional encodings. The third and fourth are the heart of the week: the attention equation, which students must be able to compute by hand in the exam, and its variants, multi-head, cross-attention and causal masking. The fifth assembles the full block and the three architecture families. The sixth covers training, evaluation with perplexity and the efficiency techniques that make modern models possible. This week practises MIMLO 1 on concepts and maths, and MIMLO 3 through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structure follows the descriptor: motivation and the limitations of recurrent architectures, attention in its variants, the transformer architecture and components, training, evaluation, variants and applications. The attention section is the longest; take the break after it. Section five includes a real small transformer trained for this lecture and real attention maps from BERT and GPT-2, so students see both the mechanism and what trained models do with it. If short of time, compress the efficiency slides, since week 6 and week 11 return to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these terms before the main theory. Vector: An ordered list of numbers representing one item, such as a token. Ask: How many entries are in the vector [1, 0, 1]? Matrix shape: The number of rows and columns in a table of numbers. Ask: What does shape [3, 2] tell you about three token vectors? Training target: The known answer used to measure a model's prediction error. Ask: For input characters 'cat', which characters follow them in 'cats'? Let students explain one example aloud, then connect their example to the next flow diagram. Use the numbered blocks to name the inputs and outputs before introducing 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classic Winograd-style example. With tired, it refers to the animal; with wide, it refers to the street. People use the candidate nouns and the later adjective to decide. Bidirectional attention in BERT allows the representation of it to use both earlier nouns and the later adjective. In a causal decoder, the representation at it cannot yet use that adjective; a later position can use the whole sentence. Keep the sentence on the board: we will inspect a real BERT attention head later today, while keeping information routing separate from proof of coreference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explains the motivation. Before 2017 the standard sequence models were recurrent neural networks, especially LSTMs, often with an attention layer added on top for translation. Vaswani and colleagues' paper, Attention Is All You Need, showed that attention alone, without recurrence, gave better translation and trained far faster. We look at why, in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token is the unit the model reads. This lab deliberately uses one character per token, although larger language models often use word pieces. The dictionary stoi maps characters to integer IDs; an embedding table maps those IDs to vectors. A separate table adds where each character occurs. Transformer blocks then build contextual vectors: the same character can carry different information in different prefixes. The causal mask prevents a position from using later characters. The output layer produces logits, which are scores rather than probabilities. Generation converts the final position's scores into probabilities, samples one character ID, and repeats. Training instead compares every position with its known next character. The model learns patterns in text; fluent-looking output alone does not establish factual knowledge or coherent reasoning.
Worked example:
The prefix 'ROMEO:' becomes a sequence of IDs using stoi.
CharGPT adds a learned position vector to each character vector.
Causal blocks let each position use itself and earlier positions.
The final position's scores become probabilities for the next character.
A sampled ID is appended; repeated predictions form a continuation.
Check: When predicting the character after 'ROMEO:', can the model use characters from the continuation that have not been generated?
Answer: No. Its prediction uses the existing prefix; the continuation is generated one character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is a recurrent network. It reads one token at a time and passes a hidden state forward, so information about the animal must survive many steps to reach it; in practice early information fades, the long-range dependency problem. It also cannot be parallelised across the sequence during training, since step t needs step t minus one. The bottom row is self-attention: the representation of it is computed by looking at all tokens directly, with weights, and all positions are computed at once. Thick arrows show high attention to animal.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the comparison. The decisive practical advantage is parallelism: during training, a transformer processes all positions of a sequence at once, which uses GPUs efficiently, whereas an RNN has to loop. That is what allowed scaling to the enormous datasets of week 6. Transformers also connect distant tokens directly, easing long-range dependencies. The cost, which we return to later, is that attention compares every token with every other, so memory and compute grow with the square of the sequence length. Recent recurrent-style models, such as state-space models, try to recover linear cost; they are an active research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covers the input to a transformer. We recap tokenisation from week 1, introduce the embedding table that turns token IDs into vectors, and explain why the model needs to be told the position of each token, with the two main solutions: the original sinusoidal encoding and the rotary encoding used by most current language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embedding layer is simply a learned lookup table: one vector per token in the vocabulary, typically of dimension 512 to a few thousand. These vectors are learned during training, and tokens used in similar contexts end up close together, which students will explore in week 12 for retrieval. The key point for today is that the attention operation itself has no notion of order: it compares every token with every other using dot products, so permuting the input simply permutes the output. Without positional information, dog bites man and man bites dog would look identical. In the lab students verify this permutation property numerically.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transformer adds a fixed pattern of sine and cosine waves to each embedding; the heatmap shows it, with position along the horizontal axis. Low dimensions change quickly, high dimensions slowly, so each position gets a unique signature, like the hands of a clock. BERT and GPT-2 instead learned one vector per position, which limits the context to the trained maximum. Rotary position embedding, used by the LLaMA, Qwen and Mistral families among others, rotates each query and key by an angle proportional to its position, so the dot product between two tokens depends on how far apart they are. Rescaling these rotations is one of the main tricks for extending context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is the core of the week. We define queries, keys and values, write the scaled dot-product attention equation, compute a small example by hand, explain why we divide by the square root of the key dimension, extend to multiple heads, add the causal mask used by generative models, contrast self-attention with cross-attention, and finally look at attention maps from real pretrained models, with a warning about how to interpret them. Allow about thirty-five minutes, then take the break.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query describes the information a token seeks; a key supplies features for matching; a value carries the information passed onward. These are learned numerical projections, rather than literal questions or words. A dot product compares each query with every key. Dividing by the square root of the key dimension controls the scale of those comparisons. A causal mask, when used, removes future positions before softmax turns each row into weights. Multiplying those weights by the values gives one new vector per query. Multi-head attention performs this process in several smaller vector spaces, then joins their outputs. Printing shapes helps: the score table is token positions by token positions, while the output still has one vector per position. A bright attention cell describes information routing and does not by itself explain a prediction.
Worked example:
In the lecture example, cat's query is [1, 0].
Its scaled scores for cat, sat and mat are about [0.71, 0, 0.71].
Without a mask, its weights are about [0.40, 0.20, 0.40].
Mixing the three value vectors produces cat's output [0.60, 0.40].
With a causal mask at the first position, later tokens receive zero weight.
Check: Do attention weights mix the key vectors or the value vectors to form the output?
Answer: They mix the value vectors. Keys are used to calculate the matching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token vector is projected three times with learned matrices. The query represents what this token is looking for, the key represents what it offers for matching, and the value is the information it passes on if selected. An analogy is a library search: your query is compared with the keys, such as titles and keywords, of every book, and you take home a weighted mixture of the contents, the values, of the best matches. Scores are dot products of queries with keys, scaled; softmax turns each row of scores into weights; and the output for each token is the weighted average of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equation is the single most important formula of the second half of the module. Read it from the inside out. The product of Q and K transposed is a table: row i, column j holds the dot product between token i's query and token j's key, a measure of how relevant token j is to token i. Dividing by the square root of the key dimension keeps the numbers in a sensible range. The softmax is applied to each row, turning scores into positive weights that sum to one. Finally, multiplying by V mixes the value vectors according to those weights, giving a new, context-aware vector for every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this on the board. The dot product of cat's query with mat's key is one, divided by root two gives 0.71. The dot product of cat with sat is zero. For the mat row, exponentiate 0.71, 0.71 and 1.41, giving about 2.03, 2.03 and 4.11, which sum to 8.17, so the weights are 0.25, 0.25 and 0.50. For the cat row the weights are 0.40, 0.20, 0.40. Multiplying by the value vectors gives cat's new representation, 0.60 and 0.40. Exam questions often give small matrices like this; students should practise until it is routine.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favourite exam question. A dot product sums d k products of random numbers, so its variance grows linearly with d k, and its standard deviation with the square root. For a typical head dimension of sixty-four, raw scores have a standard deviation of about eight, and a softmax over numbers that far apart puts nearly all weight on the largest, like temperature close to zero in week 1. A saturated softmax has tiny gradients. Dividing by the square root of d k brings the variance back to about one. Link to week 1: this is exactly the temperature idea, applied inside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attention head produces one weighted average per token, which can only capture one kind of relationship at a time. Multi-head attention runs several heads in parallel, each with its own smaller projection matrices, so one head can track syntactic relations, another coreference, another the previous token. The head outputs are concatenated and mixed by an output matrix. Because each head works in dimension d divided by h, the total cost is the same as one full-size head. The original transformer used eight heads; large models use dozens. The head labels here are illustrative: real heads often have mixed or unclear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formal definition is compact. Each head applies attention to its own projections of the same input. In code, we do not loop over heads: we compute one big projection, reshape the result so that heads become a separate tensor dimension, run attention once in batch, and reshape back before the output projection. Students implement exactly this reshape in the lab, and it is the most common source of bugs, so encourage them to print tensor shapes at every step. Modern large models also use grouped-query attention, where several query heads share one key-value head to save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 encoder such as BERT every token may attend to every other, left and right. In a decoder such as GPT, which generates text left to right, a token must not see the tokens it is trying to predict. The causal mask enforces this by adding minus infinity to all scores above the diagonal before the softmax, so those weights become zero. A beautiful side effect is training efficiency: in a single forward pass over a sequence of n tokens, the model makes n next-token predictions, each using only the correct past, so every token in the training data provides a learning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Cross-attention uses exactly the same equation; only the sources differ. The queries come from the sequence being generated, and the keys and values from a second sequence. In the original encoder-decoder transformer for translation, each decoder layer has a cross-attention sublayer in which the partially generated translation attends to the encoded source sentence. Last week we saw the same mechanism in Stable Diffusion, where image latents attend to the prompt tokens. In weeks 9 and 10, cross-attention is one of the main ways to fuse images, audio and text. Ask students to name the queries, keys and values in the Stable Diffusion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real pretrained model. We fed the warm-up sentence to BERT base and looked for a head in its middle layers where the token it attends strongly to animal; the chosen layer and head, and the weight, are recorded in the teaching notes. On the left is that head's full attention matrix; on the right, the row for it. Several heads in BERT's middle layers track coreference like this. Be careful, though: we selected this head because it shows the pattern, which is a form of cherry-picking, and other heads attend to punctuation or the separator token. That leads to the caution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heads from GPT-2 on the same sentence. Every matrix is lower triangular because of the causal mask. Different heads have recognisable habits: one attends to the previous token, another places much of its weight on the first token, and another links related earlier words. In the lab, replacing tired with wide should not change attention at it, because both adjectives are later tokens hidden from that position by the causal mask. This is expected causality, not evidence of failed full-sentence reasoning; a later position can use the adjective. The caution matters for responsible AI and for the exam: attention weights alone do not establish why a prediction was made. Interpretability research uses controlled interventions and other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Exponentiate: e squared is 7.39, e to the zero is one, and one again; the sum is 9.39; so the weights are 0.79, 0.11 and 0.11. A is what a hard maximum would give; softmax is soft. C is what you get by dividing the raw scores naively. D corresponds to scores of about 1.39. If students got it wrong, redo it on the board and connect it to the softmax slide of week 1. This is exactly the kind of calculation that appears in the exam.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Section four assembles attention into complete models. We look at one transformer block, with its residual connections, normalisation and feed-forward network; the three architecture families, encoder-only, decoder-only and encoder-decoder, which week 6 builds on; how big real models are; and the whole attention computation in a few lines of PyTorch.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transformer is a stack of identical blocks. Each block has two sublayers. The attention sublayer mixes information across tokens. The feed-forward sublayer is a two-layer MLP, usually four times wider than the model dimension, applied to each token independently; interpretability studies suggest that much factual knowledge is stored in these MLP weights. Each sublayer is wrapped in a residual connection, so the block learns a correction to its input, which is what allows stacks of dozens of blocks to train. Normalisation keeps activation scales stable; modern models use pre-norm and often RMSNorm, and activations such as GELU or SwiGLU.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families organise everything in week 6. Encoder-only models such as BERT see the whole input at once, which makes them excellent for classification, tagging and producing embeddings for search, but they do not generate text left to right. Decoder-only models such as GPT, LLaMA, Claude, Gemini and Qwen use the causal mask and generate text; nearly all modern chat models are decoder-only. Encoder-decoder models such as T5, BART and Whisper encode an input and generate an output conditioned on it through cross-attention. A common misconception is that BERT is a chatbot; it is not a text generator in this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published figures show how the same architecture scales. The original transformer had sixty-five million parameters; GPT-3 had one hundred and seventy-five billion, with ninety-six layers and a model dimension over twelve thousand, but the block is recognisably the same. The Llama 3 row shows modern details: eight key-value heads shared by thirty-two query heads, which is grouped-query attention, and a context extended to one hundred and twenty-eight thousand tokens in version 3.1 using rotary scaling. Proprietary frontier models do not publish these numbers, so do not quote guesses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Encoder-only models see the whole text bidirectionally and are the basis of most embedding models used for search and retrieval, which we build in week 12. Chatbots are decoder-only LLMs that generate text token by token with a causal mask. A reverses the roles. C repeats the common misconception that BERT is a chat model; it is not designed to generate free text. D is wrong because all three families use attention; encoder-decoders are good for input-to-output tasks such as translation or speech recognition. In practice, retrieval-augmented systems combine an encoder for search with a decoder for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attention mechanism is about ten lines. Point out the transpose of the last two dimensions of k, the division by the square root of d k, the mask created with torch dot triu and applied with masked fill, and the softmax over the last dimension, the keys. For multi-head attention the input is projected, reshaped to separate heads and transposed so that heads act like a batch dimension. In the lab students check their implementation against PyTorch's built-in scaled dot product attention, which dispatches to optimised kernels such as FlashAttention on GPUs.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section covers how transformers are trained, with the main objectives; how language models are evaluated with perplexity, using a real small transformer trained for this lecture; the quadratic cost of attention and the techniques that reduce it, including the KV cache and mixture-of-experts; and applications beyond text, ending with a responsible-AI note on interpretation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training objectives match the three families. BERT's masked language modelling hides about fifteen percent of the tokens and predicts them using context on both sides, which yields strong representations. GPT-style next-token prediction trains a decoder to predict every token from its past, exactly the chain-rule likelihood from week 1. T5's span corruption removes spans of text and trains the decoder to generate them, which suits a text-to-text framing of every task. All three are self-supervised: the labels come from the text itself, which is why transformers can be trained on trillions of tokens without human annotation.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Perplexity is the standard intrinsic metric for language models and was introduced numerically in week 1. It is the exponential of the average negative log-likelihood per token on held-out text. A perplexity of ten means the model is, on average, as uncertain as if it were choosing uniformly among ten tokens. Two important caveats: perplexities depend on the tokeniser, so a model with a character vocabulary and one with a sub-word vocabulary cannot be compared directly; and perplexity measures fit to text, not usefulness, truthfulness or safety, which need the task-based and human evaluations of week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small character-level transformer trained on the complete works of Shakespeare collected in the Tiny Shakespeare dataset, the same model students build in the lab. The dashed line is the loss of uniform guessing over the character vocabulary. The validation loss falls quickly, and the samples show the progression: random characters at the start, word-like chunks and line structure after a few hundred steps, and plausible if meaningless Shakespearean dialogue at the end, with speaker names, line breaks and archaic words. It knows spelling and style, not meaning. The exact numbers are in the teaching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quadratic cost is the main weakness of attention. A single score matrix for one head at one hundred and thirty-one thousand tokens would need tens of gigabytes if stored naively. FlashAttention, by Dao and colleagues in 2022, reorganises the computation into tiles that fit in fast on-chip GPU memory, computing exact attention without ever storing the full matrix; it is now standard. Other approaches restrict which tokens attend to which, such as sliding windows, reduce the number of key-value heads, or replace attention with recurrent state-space layers in some hybrid models. Long context remains expensive, which matters for retrieval design in week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During generation, the model produces one token at a time. Without a cache, generating token t would recompute the keys and values of all previous tokens at every layer, wasting enormous work. The KV cache stores them, so each new step only computes the new token's query, key and value and attends to the cache. Every production LLM server uses it. The trade-off is memory: the cache grows with context length, number of layers and number of key-value heads, which is exactly why grouped-query attention reduces key-value heads. In week 11 we will see that serving systems such as vLLM are largely about managing this cache efficiently.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Mixture-of-experts replaces the single feed-forward network in some or all blocks with many expert networks and a small router that sends each token to the top few experts. The model can therefore have a very large number of parameters, and hence capacity, while each token uses only a fraction of them. Mixtral 8x7B, released in December 2023, has about forty-seven billion parameters in total but about thirteen billion active per token; DeepSeek-V3 has six hundred and seventy-one billion total and thirty-seven billion active. The catch is memory: all experts must be loaded, and training needs care to balance the load across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text is a sequence of token vectors, any data that can be cut into pieces can be processed the same way. The Vision Transformer, from Dosovitskiy and colleagues in 2020, splits an image into sixteen by sixteen pixel patches, embeds each patch like a word and adds positional information; it now underpins CLIP and most multimodal models. Whisper encodes audio spectrogram frames and decodes text. Diffusion transformers treat latent patches as tokens. Attention also appears in protein structure prediction, weather models and robotics. This universality is why the transformer is the common language of the rest of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points for this week's responsible-AI lens. First, attention maps are attractive visualisations, and students will be tempted to use them as explanations in reports and projects; research such as Jain and Wallace's has shown that different attention patterns can give the same prediction, so they must be presented as evidence of information flow at most. Second, compute and energy: the scale of transformer training has real environmental and financial costs, so choose the smallest model that meets the requirement. Third, the tokenisation inequality measured in the week 1 lab is a fairness issue for multilingual applications.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begins with a small numerical operation and builds upward. First, attention is checked against a worked example and PyTorch. Next, MultiHeadAttention handles parallel heads, while Block adds normalisation, a per-position feed-forward network and residual additions. get_batch returns input characters and targets shifted one position ahead. The training loop computes cross-entropy, a measure of prediction error, and the optimizer updates parameters using gradients. val_loss measures error on the separate validation text. Perplexity summarises that uncertainty, but character perplexity cannot be compared directly with word-piece perplexity. The final inspection is a separate experiment with pretrained BERT and GPT-2. GPT-2's representation at 'it' cannot depend on 'tired' or 'wide' occurring later; unchanged attention there is the expected consequence of causality.
Worked example:
First verify that future positions get zero weight in a masked test.
For a short chunk 'ROM', the next-character targets start 'OME'.
Cross-entropy measures how much probability the model assigns to the known next characters.
Validation uses the separate val_data portion rather than the training batches.
Finally, inspect separate pretrained models; their weights were not trained by CharGPT.
Check: Which function supplies the known next characters during training, and which evaluates separate text?
Answer: get_batch supplies shifted targets; val_loss evaluates batches drawn from val_data.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builds the transformer from the bottom up, following the descriptor's intention that students both build simple transformer models and interrogate how transformers use attention in practice. Automated checks tell students immediately whether their attention and multi-head implementations match PyTorch's. The small GPT trains in a few minutes on a Colab GPU. The interrogation part asks students to plot attention for the warm-up sentence in BERT and GPT-2 and to argue critically about what the plots show. The optional KV-cache timing connects to deployment in week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eight points, and make sure students can write the attention equation from memory. Next week we scale this architecture up: large language models, their training on trillions of tokens, scaling laws, decoding strategies, the model families and how to choose among them, including reasoning models. Ask students to finish the lab and to watch the two 3Blue1Brown videos on transformers and attention, which visualise exactly what we did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3Blue1Brown videos are the best visual reinforcement of today's lecture. Karpathy's two-hour video builds essentially the lab model, step by step, and is ideal for students who want to go deeper. Jay Alammar's illustrated transformer is a classic. The original paper is readable after today. Tunstall and colleagues' chapter 3 and Foster's chapter 9 are the descriptor's reading-list chapters for this topic. All links were checked in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image" Target="../media/image-43-8.png"/><Relationship Id="rId9" Type="http://schemas.openxmlformats.org/officeDocument/2006/relationships/slideLayout" Target="../slideLayouts/slideLayout1.xml"/><Relationship Id="rId10"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www.youtube.com/watch?v=wjZofJX0v4M" TargetMode="External"/><Relationship Id="rId4" Type="http://schemas.openxmlformats.org/officeDocument/2006/relationships/hyperlink" Target="https://www.youtube.com/watch?v=eMlx5fFNoYc" TargetMode="External"/><Relationship Id="rId6" Type="http://schemas.openxmlformats.org/officeDocument/2006/relationships/hyperlink" Target="https://www.youtube.com/watch?v=kCc8FmEb1nY" TargetMode="External"/><Relationship Id="rId8" Type="http://schemas.openxmlformats.org/officeDocument/2006/relationships/hyperlink" Target="https://jalammar.github.io/illustrated-transformer/" TargetMode="External"/><Relationship Id="rId10" Type="http://schemas.openxmlformats.org/officeDocument/2006/relationships/hyperlink" Target="https://arxiv.org/abs/1706.03762" TargetMode="External"/><Relationship Id="rId12" Type="http://schemas.openxmlformats.org/officeDocument/2006/relationships/hyperlink" Target="https://www.oreilly.com/library/view/natural-language-processing/9781098136789/" TargetMode="External"/><Relationship Id="rId14" Type="http://schemas.openxmlformats.org/officeDocument/2006/relationships/hyperlink" Target="https://www.oreilly.com/library/view/generative-deep-learning/9781098134174/" TargetMode="External"/><Relationship Id="rId16" Type="http://schemas.openxmlformats.org/officeDocument/2006/relationships/hyperlink" Target="https://huggingface.co/learn/llm-course/chapter1/1" TargetMode="External"/><Relationship Id="rId1" Type="http://schemas.openxmlformats.org/officeDocument/2006/relationships/image" Target="../media/image-44-1.png"/><Relationship Id="rId3" Type="http://schemas.openxmlformats.org/officeDocument/2006/relationships/image" Target="../media/image-44-2.png"/><Relationship Id="rId5" Type="http://schemas.openxmlformats.org/officeDocument/2006/relationships/image" Target="../media/image-44-3.png"/><Relationship Id="rId7" Type="http://schemas.openxmlformats.org/officeDocument/2006/relationships/image" Target="../media/image-44-4.png"/><Relationship Id="rId9" Type="http://schemas.openxmlformats.org/officeDocument/2006/relationships/image" Target="../media/image-44-5.png"/><Relationship Id="rId11" Type="http://schemas.openxmlformats.org/officeDocument/2006/relationships/image" Target="../media/image-44-6.png"/><Relationship Id="rId13" Type="http://schemas.openxmlformats.org/officeDocument/2006/relationships/image" Target="../media/image-44-7.png"/><Relationship Id="rId15" Type="http://schemas.openxmlformats.org/officeDocument/2006/relationships/image" Target="../media/image-44-8.png"/><Relationship Id="rId17" Type="http://schemas.openxmlformats.org/officeDocument/2006/relationships/slideLayout" Target="../slideLayouts/slideLayout1.xml"/><Relationship Id="rId18"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1B4B"/>
        </a:solidFill>
      </p:bgPr>
    </p:bg>
    <p:spTree>
      <p:nvGrpSpPr>
        <p:cNvPr id="1" name=""/>
        <p:cNvGrpSpPr/>
        <p:nvPr/>
      </p:nvGrpSpPr>
      <p:grpSpPr>
        <a:xfrm>
          <a:off x="0" y="0"/>
          <a:ext cx="0" cy="0"/>
          <a:chOff x="0" y="0"/>
          <a:chExt cx="0" cy="0"/>
        </a:xfrm>
      </p:grpSpPr>
      <p:sp>
        <p:nvSpPr>
          <p:cNvPr id="2" name="Shape 0"/>
          <p:cNvSpPr/>
          <p:nvPr/>
        </p:nvSpPr>
        <p:spPr>
          <a:xfrm>
            <a:off x="731520" y="1051560"/>
            <a:ext cx="1737360" cy="457200"/>
          </a:xfrm>
          <a:prstGeom prst="roundRect">
            <a:avLst>
              <a:gd name="adj" fmla="val 20000"/>
            </a:avLst>
          </a:prstGeom>
          <a:solidFill>
            <a:srgbClr val="EA580C"/>
          </a:solidFill>
          <a:ln w="12700">
            <a:solidFill>
              <a:srgbClr val="EA580C"/>
            </a:solidFill>
            <a:prstDash val="solid"/>
          </a:ln>
        </p:spPr>
      </p:sp>
      <p:sp>
        <p:nvSpPr>
          <p:cNvPr id="3" name="Text 1"/>
          <p:cNvSpPr txBox="1"/>
          <p:nvPr/>
        </p:nvSpPr>
        <p:spPr>
          <a:xfrm>
            <a:off x="731520" y="1051560"/>
            <a:ext cx="1737360" cy="457200"/>
          </a:xfrm>
          <a:prstGeom prst="rect">
            <a:avLst/>
          </a:prstGeom>
          <a:noFill/>
          <a:ln/>
        </p:spPr>
        <p:txBody>
          <a:bodyPr wrap="square" lIns="0" tIns="0" rIns="0" bIns="0" rtlCol="0" anchor="ctr"/>
          <a:lstStyle/>
          <a:p>
            <a:pPr algn="ctr" indent="0" marL="0">
              <a:buNone/>
            </a:pPr>
            <a:r>
              <a:rPr lang="en-US" sz="1600" b="1" spc="200" kern="0" dirty="0">
                <a:solidFill>
                  <a:srgbClr val="FFFFFF"/>
                </a:solidFill>
                <a:latin typeface="Calibri" pitchFamily="34" charset="0"/>
                <a:ea typeface="Calibri" pitchFamily="34" charset="-122"/>
                <a:cs typeface="Calibri" pitchFamily="34" charset="-120"/>
              </a:rPr>
              <a:t>WEEK 05</a:t>
            </a:r>
            <a:endParaRPr lang="en-US" sz="1600" dirty="0"/>
          </a:p>
        </p:txBody>
      </p:sp>
      <p:sp>
        <p:nvSpPr>
          <p:cNvPr id="4" name="Text 2"/>
          <p:cNvSpPr txBox="1"/>
          <p:nvPr/>
        </p:nvSpPr>
        <p:spPr>
          <a:xfrm>
            <a:off x="731520" y="1737360"/>
            <a:ext cx="6766560" cy="2103120"/>
          </a:xfrm>
          <a:prstGeom prst="rect">
            <a:avLst/>
          </a:prstGeom>
          <a:noFill/>
          <a:ln/>
        </p:spPr>
        <p:txBody>
          <a:bodyPr wrap="square" lIns="0" tIns="0" rIns="0" bIns="0" rtlCol="0" anchor="b"/>
          <a:lstStyle/>
          <a:p>
            <a:pPr indent="0" marL="0">
              <a:lnSpc>
                <a:spcPct val="95000"/>
              </a:lnSpc>
              <a:buNone/>
            </a:pPr>
            <a:r>
              <a:rPr lang="en-US" sz="4600" b="1" dirty="0">
                <a:solidFill>
                  <a:srgbClr val="FFFFFF"/>
                </a:solidFill>
                <a:latin typeface="Calibri" pitchFamily="34" charset="0"/>
                <a:ea typeface="Calibri" pitchFamily="34" charset="-122"/>
                <a:cs typeface="Calibri" pitchFamily="34" charset="-120"/>
              </a:rPr>
              <a:t>Transformers &amp; Attention</a:t>
            </a:r>
            <a:endParaRPr lang="en-US" sz="4600" dirty="0"/>
          </a:p>
        </p:txBody>
      </p:sp>
      <p:sp>
        <p:nvSpPr>
          <p:cNvPr id="5" name="Text 3"/>
          <p:cNvSpPr txBox="1"/>
          <p:nvPr/>
        </p:nvSpPr>
        <p:spPr>
          <a:xfrm>
            <a:off x="731520" y="3977640"/>
            <a:ext cx="6766560" cy="1097280"/>
          </a:xfrm>
          <a:prstGeom prst="rect">
            <a:avLst/>
          </a:prstGeom>
          <a:noFill/>
          <a:ln/>
        </p:spPr>
        <p:txBody>
          <a:bodyPr wrap="square" lIns="0" tIns="0" rIns="0" bIns="0" rtlCol="0" anchor="t"/>
          <a:lstStyle/>
          <a:p>
            <a:pPr indent="0" marL="0">
              <a:buNone/>
            </a:pPr>
            <a:r>
              <a:rPr lang="en-US" sz="2000" dirty="0">
                <a:solidFill>
                  <a:srgbClr val="C7D2FE"/>
                </a:solidFill>
                <a:latin typeface="Calibri" pitchFamily="34" charset="0"/>
                <a:ea typeface="Calibri" pitchFamily="34" charset="-122"/>
                <a:cs typeface="Calibri" pitchFamily="34" charset="-120"/>
              </a:rPr>
              <a:t>Attention is how modern AI reads: queries, keys and values, multi-head attention, and the transformer block behind every LLM</a:t>
            </a:r>
            <a:endParaRPr lang="en-US" sz="2000" dirty="0"/>
          </a:p>
        </p:txBody>
      </p:sp>
      <p:sp>
        <p:nvSpPr>
          <p:cNvPr id="6" name="Text 4"/>
          <p:cNvSpPr txBox="1"/>
          <p:nvPr/>
        </p:nvSpPr>
        <p:spPr>
          <a:xfrm>
            <a:off x="731520" y="5897880"/>
            <a:ext cx="8229600" cy="365760"/>
          </a:xfrm>
          <a:prstGeom prst="rect">
            <a:avLst/>
          </a:prstGeom>
          <a:noFill/>
          <a:ln/>
        </p:spPr>
        <p:txBody>
          <a:bodyPr wrap="square" lIns="0" tIns="0" rIns="0" bIns="0" rtlCol="0" anchor="t"/>
          <a:lstStyle/>
          <a:p>
            <a:pPr indent="0" marL="0">
              <a:buNone/>
            </a:pPr>
            <a:r>
              <a:rPr lang="en-US" sz="1300" dirty="0">
                <a:solidFill>
                  <a:srgbClr val="C7D2FE"/>
                </a:solidFill>
                <a:latin typeface="Calibri" pitchFamily="34" charset="0"/>
                <a:ea typeface="Calibri" pitchFamily="34" charset="-122"/>
                <a:cs typeface="Calibri" pitchFamily="34" charset="-120"/>
              </a:rPr>
              <a:t>MSc in Artificial Intelligence  ·  Generative AI  ·  2-hour lecture</a:t>
            </a:r>
            <a:endParaRPr lang="en-US" sz="1300" dirty="0"/>
          </a:p>
        </p:txBody>
      </p:sp>
      <p:pic>
        <p:nvPicPr>
          <p:cNvPr id="7" name="Image 0" descr="C:\Users\sudee\Downloads\Generative_AI_2027_Teaching_Pack\AI2027_Project\build\figures\week_05\cover.png">    </p:cNvPr>
          <p:cNvPicPr>
            <a:picLocks noChangeAspect="1"/>
          </p:cNvPicPr>
          <p:nvPr/>
        </p:nvPicPr>
        <p:blipFill>
          <a:blip r:embed="rId1"/>
          <a:stretch>
            <a:fillRect/>
          </a:stretch>
        </p:blipFill>
        <p:spPr>
          <a:xfrm>
            <a:off x="7818120" y="1508760"/>
            <a:ext cx="3840480" cy="3840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By the end of this week you can…</a:t>
            </a:r>
            <a:endParaRPr lang="en-US" sz="3200" dirty="0"/>
          </a:p>
        </p:txBody>
      </p:sp>
      <p:sp>
        <p:nvSpPr>
          <p:cNvPr id="6" name="Shape 4"/>
          <p:cNvSpPr/>
          <p:nvPr/>
        </p:nvSpPr>
        <p:spPr>
          <a:xfrm>
            <a:off x="548640" y="1545336"/>
            <a:ext cx="411480" cy="411480"/>
          </a:xfrm>
          <a:prstGeom prst="ellipse">
            <a:avLst/>
          </a:prstGeom>
          <a:solidFill>
            <a:srgbClr val="4F46E5"/>
          </a:solidFill>
          <a:ln w="12700">
            <a:solidFill>
              <a:srgbClr val="4F46E5"/>
            </a:solidFill>
            <a:prstDash val="solid"/>
          </a:ln>
        </p:spPr>
      </p:sp>
      <p:sp>
        <p:nvSpPr>
          <p:cNvPr id="7" name="Text 5"/>
          <p:cNvSpPr txBox="1"/>
          <p:nvPr/>
        </p:nvSpPr>
        <p:spPr>
          <a:xfrm>
            <a:off x="548640" y="15453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527048"/>
            <a:ext cx="6903720" cy="7538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Explain the </a:t>
            </a:r>
            <a:pPr indent="0" marL="0">
              <a:buNone/>
            </a:pPr>
            <a:r>
              <a:rPr lang="en-US" sz="1700" b="1" dirty="0">
                <a:solidFill>
                  <a:srgbClr val="1F2937"/>
                </a:solidFill>
                <a:latin typeface="Calibri" pitchFamily="34" charset="0"/>
                <a:ea typeface="Calibri" pitchFamily="34" charset="-122"/>
                <a:cs typeface="Calibri" pitchFamily="34" charset="-120"/>
              </a:rPr>
              <a:t>limitations of recurrent networks</a:t>
            </a:r>
            <a:pPr indent="0" marL="0">
              <a:buNone/>
            </a:pPr>
            <a:r>
              <a:rPr lang="en-US" sz="1700" dirty="0">
                <a:solidFill>
                  <a:srgbClr val="1F2937"/>
                </a:solidFill>
                <a:latin typeface="Calibri" pitchFamily="34" charset="0"/>
                <a:ea typeface="Calibri" pitchFamily="34" charset="-122"/>
                <a:cs typeface="Calibri" pitchFamily="34" charset="-120"/>
              </a:rPr>
              <a:t> (long-range dependencies, sequential computation) that transformers address.</a:t>
            </a:r>
            <a:endParaRPr lang="en-US" sz="1700" dirty="0"/>
          </a:p>
        </p:txBody>
      </p:sp>
      <p:sp>
        <p:nvSpPr>
          <p:cNvPr id="9" name="Shape 7"/>
          <p:cNvSpPr/>
          <p:nvPr/>
        </p:nvSpPr>
        <p:spPr>
          <a:xfrm>
            <a:off x="548640" y="2299208"/>
            <a:ext cx="411480" cy="411480"/>
          </a:xfrm>
          <a:prstGeom prst="ellipse">
            <a:avLst/>
          </a:prstGeom>
          <a:solidFill>
            <a:srgbClr val="4F46E5"/>
          </a:solidFill>
          <a:ln w="12700">
            <a:solidFill>
              <a:srgbClr val="4F46E5"/>
            </a:solidFill>
            <a:prstDash val="solid"/>
          </a:ln>
        </p:spPr>
      </p:sp>
      <p:sp>
        <p:nvSpPr>
          <p:cNvPr id="10" name="Text 8"/>
          <p:cNvSpPr txBox="1"/>
          <p:nvPr/>
        </p:nvSpPr>
        <p:spPr>
          <a:xfrm>
            <a:off x="548640" y="22992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0920"/>
            <a:ext cx="6903720" cy="7538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Describe </a:t>
            </a:r>
            <a:pPr indent="0" marL="0">
              <a:buNone/>
            </a:pPr>
            <a:r>
              <a:rPr lang="en-US" sz="1700" b="1" dirty="0">
                <a:solidFill>
                  <a:srgbClr val="1F2937"/>
                </a:solidFill>
                <a:latin typeface="Calibri" pitchFamily="34" charset="0"/>
                <a:ea typeface="Calibri" pitchFamily="34" charset="-122"/>
                <a:cs typeface="Calibri" pitchFamily="34" charset="-120"/>
              </a:rPr>
              <a:t>tokenisation, embeddings</a:t>
            </a:r>
            <a:pPr indent="0" marL="0">
              <a:buNone/>
            </a:pPr>
            <a:r>
              <a:rPr lang="en-US" sz="1700" dirty="0">
                <a:solidFill>
                  <a:srgbClr val="1F2937"/>
                </a:solidFill>
                <a:latin typeface="Calibri" pitchFamily="34" charset="0"/>
                <a:ea typeface="Calibri" pitchFamily="34" charset="-122"/>
                <a:cs typeface="Calibri" pitchFamily="34" charset="-120"/>
              </a:rPr>
              <a:t> and why transformers need </a:t>
            </a:r>
            <a:pPr indent="0" marL="0">
              <a:buNone/>
            </a:pPr>
            <a:r>
              <a:rPr lang="en-US" sz="1700" b="1" dirty="0">
                <a:solidFill>
                  <a:srgbClr val="1F2937"/>
                </a:solidFill>
                <a:latin typeface="Calibri" pitchFamily="34" charset="0"/>
                <a:ea typeface="Calibri" pitchFamily="34" charset="-122"/>
                <a:cs typeface="Calibri" pitchFamily="34" charset="-120"/>
              </a:rPr>
              <a:t>positional encoding</a:t>
            </a:r>
            <a:pPr indent="0" marL="0">
              <a:buNone/>
            </a:pPr>
            <a:r>
              <a:rPr lang="en-US" sz="1700" dirty="0">
                <a:solidFill>
                  <a:srgbClr val="1F2937"/>
                </a:solidFill>
                <a:latin typeface="Calibri" pitchFamily="34" charset="0"/>
                <a:ea typeface="Calibri" pitchFamily="34" charset="-122"/>
                <a:cs typeface="Calibri" pitchFamily="34" charset="-120"/>
              </a:rPr>
              <a:t> (sinusoidal, rotary).</a:t>
            </a:r>
            <a:endParaRPr lang="en-US" sz="1700" dirty="0"/>
          </a:p>
        </p:txBody>
      </p:sp>
      <p:sp>
        <p:nvSpPr>
          <p:cNvPr id="12" name="Shape 10"/>
          <p:cNvSpPr/>
          <p:nvPr/>
        </p:nvSpPr>
        <p:spPr>
          <a:xfrm>
            <a:off x="548640" y="3053080"/>
            <a:ext cx="411480" cy="411480"/>
          </a:xfrm>
          <a:prstGeom prst="ellipse">
            <a:avLst/>
          </a:prstGeom>
          <a:solidFill>
            <a:srgbClr val="4F46E5"/>
          </a:solidFill>
          <a:ln w="12700">
            <a:solidFill>
              <a:srgbClr val="4F46E5"/>
            </a:solidFill>
            <a:prstDash val="solid"/>
          </a:ln>
        </p:spPr>
      </p:sp>
      <p:sp>
        <p:nvSpPr>
          <p:cNvPr id="13" name="Text 11"/>
          <p:cNvSpPr txBox="1"/>
          <p:nvPr/>
        </p:nvSpPr>
        <p:spPr>
          <a:xfrm>
            <a:off x="548640" y="30530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34792"/>
            <a:ext cx="6903720" cy="7538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Compute </a:t>
            </a:r>
            <a:pPr indent="0" marL="0">
              <a:buNone/>
            </a:pPr>
            <a:r>
              <a:rPr lang="en-US" sz="1700" b="1" dirty="0">
                <a:solidFill>
                  <a:srgbClr val="1F2937"/>
                </a:solidFill>
                <a:latin typeface="Calibri" pitchFamily="34" charset="0"/>
                <a:ea typeface="Calibri" pitchFamily="34" charset="-122"/>
                <a:cs typeface="Calibri" pitchFamily="34" charset="-120"/>
              </a:rPr>
              <a:t>scaled dot-product self-attention</a:t>
            </a:r>
            <a:pPr indent="0" marL="0">
              <a:buNone/>
            </a:pPr>
            <a:r>
              <a:rPr lang="en-US" sz="1700" dirty="0">
                <a:solidFill>
                  <a:srgbClr val="1F2937"/>
                </a:solidFill>
                <a:latin typeface="Calibri" pitchFamily="34" charset="0"/>
                <a:ea typeface="Calibri" pitchFamily="34" charset="-122"/>
                <a:cs typeface="Calibri" pitchFamily="34" charset="-120"/>
              </a:rPr>
              <a:t> with queries, keys and values, and explain the √d_k scaling.</a:t>
            </a:r>
            <a:endParaRPr lang="en-US" sz="1700" dirty="0"/>
          </a:p>
        </p:txBody>
      </p:sp>
      <p:sp>
        <p:nvSpPr>
          <p:cNvPr id="15" name="Shape 13"/>
          <p:cNvSpPr/>
          <p:nvPr/>
        </p:nvSpPr>
        <p:spPr>
          <a:xfrm>
            <a:off x="548640" y="3806952"/>
            <a:ext cx="411480" cy="411480"/>
          </a:xfrm>
          <a:prstGeom prst="ellipse">
            <a:avLst/>
          </a:prstGeom>
          <a:solidFill>
            <a:srgbClr val="4F46E5"/>
          </a:solidFill>
          <a:ln w="12700">
            <a:solidFill>
              <a:srgbClr val="4F46E5"/>
            </a:solidFill>
            <a:prstDash val="solid"/>
          </a:ln>
        </p:spPr>
      </p:sp>
      <p:sp>
        <p:nvSpPr>
          <p:cNvPr id="16" name="Text 14"/>
          <p:cNvSpPr txBox="1"/>
          <p:nvPr/>
        </p:nvSpPr>
        <p:spPr>
          <a:xfrm>
            <a:off x="548640" y="380695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788664"/>
            <a:ext cx="6903720" cy="7538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Explain </a:t>
            </a:r>
            <a:pPr indent="0" marL="0">
              <a:buNone/>
            </a:pPr>
            <a:r>
              <a:rPr lang="en-US" sz="1700" b="1" dirty="0">
                <a:solidFill>
                  <a:srgbClr val="1F2937"/>
                </a:solidFill>
                <a:latin typeface="Calibri" pitchFamily="34" charset="0"/>
                <a:ea typeface="Calibri" pitchFamily="34" charset="-122"/>
                <a:cs typeface="Calibri" pitchFamily="34" charset="-120"/>
              </a:rPr>
              <a:t>multi-head</a:t>
            </a:r>
            <a:pPr indent="0" marL="0">
              <a:buNone/>
            </a:pPr>
            <a:r>
              <a:rPr lang="en-US" sz="1700" dirty="0">
                <a:solidFill>
                  <a:srgbClr val="1F2937"/>
                </a:solidFill>
                <a:latin typeface="Calibri" pitchFamily="34" charset="0"/>
                <a:ea typeface="Calibri" pitchFamily="34" charset="-122"/>
                <a:cs typeface="Calibri" pitchFamily="34" charset="-120"/>
              </a:rPr>
              <a:t>, </a:t>
            </a:r>
            <a:pPr indent="0" marL="0">
              <a:buNone/>
            </a:pPr>
            <a:r>
              <a:rPr lang="en-US" sz="1700" b="1" dirty="0">
                <a:solidFill>
                  <a:srgbClr val="1F2937"/>
                </a:solidFill>
                <a:latin typeface="Calibri" pitchFamily="34" charset="0"/>
                <a:ea typeface="Calibri" pitchFamily="34" charset="-122"/>
                <a:cs typeface="Calibri" pitchFamily="34" charset="-120"/>
              </a:rPr>
              <a:t>cross-attention</a:t>
            </a:r>
            <a:pPr indent="0" marL="0">
              <a:buNone/>
            </a:pPr>
            <a:r>
              <a:rPr lang="en-US" sz="1700" dirty="0">
                <a:solidFill>
                  <a:srgbClr val="1F2937"/>
                </a:solidFill>
                <a:latin typeface="Calibri" pitchFamily="34" charset="0"/>
                <a:ea typeface="Calibri" pitchFamily="34" charset="-122"/>
                <a:cs typeface="Calibri" pitchFamily="34" charset="-120"/>
              </a:rPr>
              <a:t> and </a:t>
            </a:r>
            <a:pPr indent="0" marL="0">
              <a:buNone/>
            </a:pPr>
            <a:r>
              <a:rPr lang="en-US" sz="1700" b="1" dirty="0">
                <a:solidFill>
                  <a:srgbClr val="1F2937"/>
                </a:solidFill>
                <a:latin typeface="Calibri" pitchFamily="34" charset="0"/>
                <a:ea typeface="Calibri" pitchFamily="34" charset="-122"/>
                <a:cs typeface="Calibri" pitchFamily="34" charset="-120"/>
              </a:rPr>
              <a:t>causal masking</a:t>
            </a:r>
            <a:pPr indent="0" marL="0">
              <a:buNone/>
            </a:pPr>
            <a:r>
              <a:rPr lang="en-US" sz="1700" dirty="0">
                <a:solidFill>
                  <a:srgbClr val="1F2937"/>
                </a:solidFill>
                <a:latin typeface="Calibri" pitchFamily="34" charset="0"/>
                <a:ea typeface="Calibri" pitchFamily="34" charset="-122"/>
                <a:cs typeface="Calibri" pitchFamily="34" charset="-120"/>
              </a:rPr>
              <a:t>, and interpret attention maps critically.</a:t>
            </a:r>
            <a:endParaRPr lang="en-US" sz="1700" dirty="0"/>
          </a:p>
        </p:txBody>
      </p:sp>
      <p:sp>
        <p:nvSpPr>
          <p:cNvPr id="18" name="Shape 16"/>
          <p:cNvSpPr/>
          <p:nvPr/>
        </p:nvSpPr>
        <p:spPr>
          <a:xfrm>
            <a:off x="548640" y="4560824"/>
            <a:ext cx="411480" cy="411480"/>
          </a:xfrm>
          <a:prstGeom prst="ellipse">
            <a:avLst/>
          </a:prstGeom>
          <a:solidFill>
            <a:srgbClr val="4F46E5"/>
          </a:solidFill>
          <a:ln w="12700">
            <a:solidFill>
              <a:srgbClr val="4F46E5"/>
            </a:solidFill>
            <a:prstDash val="solid"/>
          </a:ln>
        </p:spPr>
      </p:sp>
      <p:sp>
        <p:nvSpPr>
          <p:cNvPr id="19" name="Text 17"/>
          <p:cNvSpPr txBox="1"/>
          <p:nvPr/>
        </p:nvSpPr>
        <p:spPr>
          <a:xfrm>
            <a:off x="548640" y="456082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542536"/>
            <a:ext cx="6903720" cy="7538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Describe the transformer block and the </a:t>
            </a:r>
            <a:pPr indent="0" marL="0">
              <a:buNone/>
            </a:pPr>
            <a:r>
              <a:rPr lang="en-US" sz="1700" b="1" dirty="0">
                <a:solidFill>
                  <a:srgbClr val="1F2937"/>
                </a:solidFill>
                <a:latin typeface="Calibri" pitchFamily="34" charset="0"/>
                <a:ea typeface="Calibri" pitchFamily="34" charset="-122"/>
                <a:cs typeface="Calibri" pitchFamily="34" charset="-120"/>
              </a:rPr>
              <a:t>encoder-only, decoder-only and encoder–decoder</a:t>
            </a:r>
            <a:pPr indent="0" marL="0">
              <a:buNone/>
            </a:pPr>
            <a:r>
              <a:rPr lang="en-US" sz="1700" dirty="0">
                <a:solidFill>
                  <a:srgbClr val="1F2937"/>
                </a:solidFill>
                <a:latin typeface="Calibri" pitchFamily="34" charset="0"/>
                <a:ea typeface="Calibri" pitchFamily="34" charset="-122"/>
                <a:cs typeface="Calibri" pitchFamily="34" charset="-120"/>
              </a:rPr>
              <a:t> families.</a:t>
            </a:r>
            <a:endParaRPr lang="en-US" sz="1700" dirty="0"/>
          </a:p>
        </p:txBody>
      </p:sp>
      <p:sp>
        <p:nvSpPr>
          <p:cNvPr id="21" name="Shape 19"/>
          <p:cNvSpPr/>
          <p:nvPr/>
        </p:nvSpPr>
        <p:spPr>
          <a:xfrm>
            <a:off x="548640" y="5314696"/>
            <a:ext cx="411480" cy="411480"/>
          </a:xfrm>
          <a:prstGeom prst="ellipse">
            <a:avLst/>
          </a:prstGeom>
          <a:solidFill>
            <a:srgbClr val="4F46E5"/>
          </a:solidFill>
          <a:ln w="12700">
            <a:solidFill>
              <a:srgbClr val="4F46E5"/>
            </a:solidFill>
            <a:prstDash val="solid"/>
          </a:ln>
        </p:spPr>
      </p:sp>
      <p:sp>
        <p:nvSpPr>
          <p:cNvPr id="22" name="Text 20"/>
          <p:cNvSpPr txBox="1"/>
          <p:nvPr/>
        </p:nvSpPr>
        <p:spPr>
          <a:xfrm>
            <a:off x="548640" y="531469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296408"/>
            <a:ext cx="6903720" cy="101295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Explain training objectives, </a:t>
            </a:r>
            <a:pPr indent="0" marL="0">
              <a:buNone/>
            </a:pPr>
            <a:r>
              <a:rPr lang="en-US" sz="1700" b="1" dirty="0">
                <a:solidFill>
                  <a:srgbClr val="1F2937"/>
                </a:solidFill>
                <a:latin typeface="Calibri" pitchFamily="34" charset="0"/>
                <a:ea typeface="Calibri" pitchFamily="34" charset="-122"/>
                <a:cs typeface="Calibri" pitchFamily="34" charset="-120"/>
              </a:rPr>
              <a:t>perplexity</a:t>
            </a:r>
            <a:pPr indent="0" marL="0">
              <a:buNone/>
            </a:pPr>
            <a:r>
              <a:rPr lang="en-US" sz="1700" dirty="0">
                <a:solidFill>
                  <a:srgbClr val="1F2937"/>
                </a:solidFill>
                <a:latin typeface="Calibri" pitchFamily="34" charset="0"/>
                <a:ea typeface="Calibri" pitchFamily="34" charset="-122"/>
                <a:cs typeface="Calibri" pitchFamily="34" charset="-120"/>
              </a:rPr>
              <a:t>, efficiency variants (</a:t>
            </a:r>
            <a:pPr indent="0" marL="0">
              <a:buNone/>
            </a:pPr>
            <a:r>
              <a:rPr lang="en-US" sz="1700" b="1" dirty="0">
                <a:solidFill>
                  <a:srgbClr val="1F2937"/>
                </a:solidFill>
                <a:latin typeface="Calibri" pitchFamily="34" charset="0"/>
                <a:ea typeface="Calibri" pitchFamily="34" charset="-122"/>
                <a:cs typeface="Calibri" pitchFamily="34" charset="-120"/>
              </a:rPr>
              <a:t>KV cache, efficient attention, mixture-of-experts, long context</a:t>
            </a:r>
            <a:pPr indent="0" marL="0">
              <a:buNone/>
            </a:pPr>
            <a:r>
              <a:rPr lang="en-US" sz="1700" dirty="0">
                <a:solidFill>
                  <a:srgbClr val="1F2937"/>
                </a:solidFill>
                <a:latin typeface="Calibri" pitchFamily="34" charset="0"/>
                <a:ea typeface="Calibri" pitchFamily="34" charset="-122"/>
                <a:cs typeface="Calibri" pitchFamily="34" charset="-120"/>
              </a:rPr>
              <a:t>) and applications beyond text; implement attention in PyTorch.</a:t>
            </a:r>
            <a:endParaRPr lang="en-US" sz="1700" dirty="0"/>
          </a:p>
        </p:txBody>
      </p:sp>
      <p:sp>
        <p:nvSpPr>
          <p:cNvPr id="24" name="Shape 22"/>
          <p:cNvSpPr/>
          <p:nvPr/>
        </p:nvSpPr>
        <p:spPr>
          <a:xfrm>
            <a:off x="8458200" y="1527048"/>
            <a:ext cx="3184855" cy="4782312"/>
          </a:xfrm>
          <a:prstGeom prst="roundRect">
            <a:avLst>
              <a:gd name="adj" fmla="val 3445"/>
            </a:avLst>
          </a:prstGeom>
          <a:solidFill>
            <a:srgbClr val="EEF0FF"/>
          </a:solidFill>
          <a:ln w="12700">
            <a:solidFill>
              <a:srgbClr val="EEF0FF"/>
            </a:solidFill>
            <a:prstDash val="solid"/>
          </a:ln>
        </p:spPr>
      </p:sp>
      <p:sp>
        <p:nvSpPr>
          <p:cNvPr id="25" name="Text 23"/>
          <p:cNvSpPr txBox="1"/>
          <p:nvPr/>
        </p:nvSpPr>
        <p:spPr>
          <a:xfrm>
            <a:off x="8686800" y="1664208"/>
            <a:ext cx="2727655" cy="64008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Module learning outcomes (MIMLOs) practised</a:t>
            </a:r>
            <a:endParaRPr lang="en-US" sz="1500" dirty="0"/>
          </a:p>
        </p:txBody>
      </p:sp>
      <p:sp>
        <p:nvSpPr>
          <p:cNvPr id="26" name="Shape 24"/>
          <p:cNvSpPr/>
          <p:nvPr/>
        </p:nvSpPr>
        <p:spPr>
          <a:xfrm>
            <a:off x="8686800" y="2395728"/>
            <a:ext cx="1143000" cy="365760"/>
          </a:xfrm>
          <a:prstGeom prst="roundRect">
            <a:avLst>
              <a:gd name="adj" fmla="val 20000"/>
            </a:avLst>
          </a:prstGeom>
          <a:solidFill>
            <a:srgbClr val="4F46E5"/>
          </a:solidFill>
          <a:ln w="12700">
            <a:solidFill>
              <a:srgbClr val="4F46E5"/>
            </a:solidFill>
            <a:prstDash val="solid"/>
          </a:ln>
        </p:spPr>
      </p:sp>
      <p:sp>
        <p:nvSpPr>
          <p:cNvPr id="27" name="Text 25"/>
          <p:cNvSpPr txBox="1"/>
          <p:nvPr/>
        </p:nvSpPr>
        <p:spPr>
          <a:xfrm>
            <a:off x="8686800" y="239572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1</a:t>
            </a:r>
            <a:endParaRPr lang="en-US" sz="1300" dirty="0"/>
          </a:p>
        </p:txBody>
      </p:sp>
      <p:sp>
        <p:nvSpPr>
          <p:cNvPr id="28" name="Text 26"/>
          <p:cNvSpPr txBox="1"/>
          <p:nvPr/>
        </p:nvSpPr>
        <p:spPr>
          <a:xfrm>
            <a:off x="8641080" y="277977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Explain core concepts, maths and model families</a:t>
            </a:r>
            <a:endParaRPr lang="en-US" sz="1400" dirty="0"/>
          </a:p>
        </p:txBody>
      </p:sp>
      <p:sp>
        <p:nvSpPr>
          <p:cNvPr id="29" name="Shape 27"/>
          <p:cNvSpPr/>
          <p:nvPr/>
        </p:nvSpPr>
        <p:spPr>
          <a:xfrm>
            <a:off x="8686800" y="3584448"/>
            <a:ext cx="1143000" cy="365760"/>
          </a:xfrm>
          <a:prstGeom prst="roundRect">
            <a:avLst>
              <a:gd name="adj" fmla="val 20000"/>
            </a:avLst>
          </a:prstGeom>
          <a:solidFill>
            <a:srgbClr val="4F46E5"/>
          </a:solidFill>
          <a:ln w="12700">
            <a:solidFill>
              <a:srgbClr val="4F46E5"/>
            </a:solidFill>
            <a:prstDash val="solid"/>
          </a:ln>
        </p:spPr>
      </p:sp>
      <p:sp>
        <p:nvSpPr>
          <p:cNvPr id="30" name="Text 28"/>
          <p:cNvSpPr txBox="1"/>
          <p:nvPr/>
        </p:nvSpPr>
        <p:spPr>
          <a:xfrm>
            <a:off x="8686800" y="3584448"/>
            <a:ext cx="1143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MIMLO 3</a:t>
            </a:r>
            <a:endParaRPr lang="en-US" sz="1300" dirty="0"/>
          </a:p>
        </p:txBody>
      </p:sp>
      <p:sp>
        <p:nvSpPr>
          <p:cNvPr id="31" name="Text 29"/>
          <p:cNvSpPr txBox="1"/>
          <p:nvPr/>
        </p:nvSpPr>
        <p:spPr>
          <a:xfrm>
            <a:off x="8641080" y="3968496"/>
            <a:ext cx="2819095" cy="777240"/>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Design, implement and fine-tune models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Today's plan</a:t>
            </a:r>
            <a:endParaRPr lang="en-US" sz="3200" dirty="0"/>
          </a:p>
        </p:txBody>
      </p:sp>
      <p:sp>
        <p:nvSpPr>
          <p:cNvPr id="6" name="Shape 4"/>
          <p:cNvSpPr/>
          <p:nvPr/>
        </p:nvSpPr>
        <p:spPr>
          <a:xfrm>
            <a:off x="548640" y="1572768"/>
            <a:ext cx="8686800" cy="566928"/>
          </a:xfrm>
          <a:prstGeom prst="roundRect">
            <a:avLst>
              <a:gd name="adj" fmla="val 16129"/>
            </a:avLst>
          </a:prstGeom>
          <a:solidFill>
            <a:srgbClr val="EEF0FF"/>
          </a:solidFill>
          <a:ln w="12700">
            <a:solidFill>
              <a:srgbClr val="EEF0FF"/>
            </a:solidFill>
            <a:prstDash val="solid"/>
          </a:ln>
        </p:spPr>
      </p:sp>
      <p:sp>
        <p:nvSpPr>
          <p:cNvPr id="7" name="Shape 5"/>
          <p:cNvSpPr/>
          <p:nvPr/>
        </p:nvSpPr>
        <p:spPr>
          <a:xfrm>
            <a:off x="685800" y="1664208"/>
            <a:ext cx="384048" cy="384048"/>
          </a:xfrm>
          <a:prstGeom prst="ellipse">
            <a:avLst/>
          </a:prstGeom>
          <a:solidFill>
            <a:srgbClr val="4F46E5"/>
          </a:solidFill>
          <a:ln w="12700">
            <a:solidFill>
              <a:srgbClr val="4F46E5"/>
            </a:solidFill>
            <a:prstDash val="solid"/>
          </a:ln>
        </p:spPr>
      </p:sp>
      <p:sp>
        <p:nvSpPr>
          <p:cNvPr id="8" name="Text 6"/>
          <p:cNvSpPr txBox="1"/>
          <p:nvPr/>
        </p:nvSpPr>
        <p:spPr>
          <a:xfrm>
            <a:off x="685800" y="16642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188720" y="157276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Warm-up: what does 'it' refer to?</a:t>
            </a:r>
            <a:endParaRPr lang="en-US" sz="1900" dirty="0"/>
          </a:p>
        </p:txBody>
      </p:sp>
      <p:sp>
        <p:nvSpPr>
          <p:cNvPr id="10" name="Text 8"/>
          <p:cNvSpPr txBox="1"/>
          <p:nvPr/>
        </p:nvSpPr>
        <p:spPr>
          <a:xfrm>
            <a:off x="8046720" y="157276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5 min</a:t>
            </a:r>
            <a:endParaRPr lang="en-US" sz="1400" dirty="0"/>
          </a:p>
        </p:txBody>
      </p:sp>
      <p:sp>
        <p:nvSpPr>
          <p:cNvPr id="11" name="Shape 9"/>
          <p:cNvSpPr/>
          <p:nvPr/>
        </p:nvSpPr>
        <p:spPr>
          <a:xfrm>
            <a:off x="548640" y="2249424"/>
            <a:ext cx="8686800" cy="566928"/>
          </a:xfrm>
          <a:prstGeom prst="roundRect">
            <a:avLst>
              <a:gd name="adj" fmla="val 16129"/>
            </a:avLst>
          </a:prstGeom>
          <a:solidFill>
            <a:srgbClr val="F5F3FF"/>
          </a:solidFill>
          <a:ln w="12700">
            <a:solidFill>
              <a:srgbClr val="EEF0FF"/>
            </a:solidFill>
            <a:prstDash val="solid"/>
          </a:ln>
        </p:spPr>
      </p:sp>
      <p:sp>
        <p:nvSpPr>
          <p:cNvPr id="12" name="Shape 10"/>
          <p:cNvSpPr/>
          <p:nvPr/>
        </p:nvSpPr>
        <p:spPr>
          <a:xfrm>
            <a:off x="685800" y="2340864"/>
            <a:ext cx="384048" cy="384048"/>
          </a:xfrm>
          <a:prstGeom prst="ellipse">
            <a:avLst/>
          </a:prstGeom>
          <a:solidFill>
            <a:srgbClr val="4F46E5"/>
          </a:solidFill>
          <a:ln w="12700">
            <a:solidFill>
              <a:srgbClr val="4F46E5"/>
            </a:solidFill>
            <a:prstDash val="solid"/>
          </a:ln>
        </p:spPr>
      </p:sp>
      <p:sp>
        <p:nvSpPr>
          <p:cNvPr id="13" name="Text 11"/>
          <p:cNvSpPr txBox="1"/>
          <p:nvPr/>
        </p:nvSpPr>
        <p:spPr>
          <a:xfrm>
            <a:off x="685800" y="23408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188720" y="224942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1 · Why transformers?</a:t>
            </a:r>
            <a:endParaRPr lang="en-US" sz="1900" dirty="0"/>
          </a:p>
        </p:txBody>
      </p:sp>
      <p:sp>
        <p:nvSpPr>
          <p:cNvPr id="15" name="Text 13"/>
          <p:cNvSpPr txBox="1"/>
          <p:nvPr/>
        </p:nvSpPr>
        <p:spPr>
          <a:xfrm>
            <a:off x="8046720" y="224942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10 min</a:t>
            </a:r>
            <a:endParaRPr lang="en-US" sz="1400" dirty="0"/>
          </a:p>
        </p:txBody>
      </p:sp>
      <p:sp>
        <p:nvSpPr>
          <p:cNvPr id="16" name="Shape 14"/>
          <p:cNvSpPr/>
          <p:nvPr/>
        </p:nvSpPr>
        <p:spPr>
          <a:xfrm>
            <a:off x="548640" y="2926080"/>
            <a:ext cx="8686800" cy="566928"/>
          </a:xfrm>
          <a:prstGeom prst="roundRect">
            <a:avLst>
              <a:gd name="adj" fmla="val 16129"/>
            </a:avLst>
          </a:prstGeom>
          <a:solidFill>
            <a:srgbClr val="EEF0FF"/>
          </a:solidFill>
          <a:ln w="12700">
            <a:solidFill>
              <a:srgbClr val="EEF0FF"/>
            </a:solidFill>
            <a:prstDash val="solid"/>
          </a:ln>
        </p:spPr>
      </p:sp>
      <p:sp>
        <p:nvSpPr>
          <p:cNvPr id="17" name="Shape 15"/>
          <p:cNvSpPr/>
          <p:nvPr/>
        </p:nvSpPr>
        <p:spPr>
          <a:xfrm>
            <a:off x="685800" y="3017520"/>
            <a:ext cx="384048" cy="384048"/>
          </a:xfrm>
          <a:prstGeom prst="ellipse">
            <a:avLst/>
          </a:prstGeom>
          <a:solidFill>
            <a:srgbClr val="4F46E5"/>
          </a:solidFill>
          <a:ln w="12700">
            <a:solidFill>
              <a:srgbClr val="4F46E5"/>
            </a:solidFill>
            <a:prstDash val="solid"/>
          </a:ln>
        </p:spPr>
      </p:sp>
      <p:sp>
        <p:nvSpPr>
          <p:cNvPr id="18" name="Text 16"/>
          <p:cNvSpPr txBox="1"/>
          <p:nvPr/>
        </p:nvSpPr>
        <p:spPr>
          <a:xfrm>
            <a:off x="685800" y="301752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188720" y="2926080"/>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2 · Tokens, embeddings and position</a:t>
            </a:r>
            <a:endParaRPr lang="en-US" sz="1900" dirty="0"/>
          </a:p>
        </p:txBody>
      </p:sp>
      <p:sp>
        <p:nvSpPr>
          <p:cNvPr id="20" name="Text 18"/>
          <p:cNvSpPr txBox="1"/>
          <p:nvPr/>
        </p:nvSpPr>
        <p:spPr>
          <a:xfrm>
            <a:off x="8046720" y="2926080"/>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12 min</a:t>
            </a:r>
            <a:endParaRPr lang="en-US" sz="1400" dirty="0"/>
          </a:p>
        </p:txBody>
      </p:sp>
      <p:sp>
        <p:nvSpPr>
          <p:cNvPr id="21" name="Shape 19"/>
          <p:cNvSpPr/>
          <p:nvPr/>
        </p:nvSpPr>
        <p:spPr>
          <a:xfrm>
            <a:off x="548640" y="3602736"/>
            <a:ext cx="8686800" cy="566928"/>
          </a:xfrm>
          <a:prstGeom prst="roundRect">
            <a:avLst>
              <a:gd name="adj" fmla="val 16129"/>
            </a:avLst>
          </a:prstGeom>
          <a:solidFill>
            <a:srgbClr val="F5F3FF"/>
          </a:solidFill>
          <a:ln w="12700">
            <a:solidFill>
              <a:srgbClr val="EEF0FF"/>
            </a:solidFill>
            <a:prstDash val="solid"/>
          </a:ln>
        </p:spPr>
      </p:sp>
      <p:sp>
        <p:nvSpPr>
          <p:cNvPr id="22" name="Shape 20"/>
          <p:cNvSpPr/>
          <p:nvPr/>
        </p:nvSpPr>
        <p:spPr>
          <a:xfrm>
            <a:off x="685800" y="3694176"/>
            <a:ext cx="384048" cy="384048"/>
          </a:xfrm>
          <a:prstGeom prst="ellipse">
            <a:avLst/>
          </a:prstGeom>
          <a:solidFill>
            <a:srgbClr val="4F46E5"/>
          </a:solidFill>
          <a:ln w="12700">
            <a:solidFill>
              <a:srgbClr val="4F46E5"/>
            </a:solidFill>
            <a:prstDash val="solid"/>
          </a:ln>
        </p:spPr>
      </p:sp>
      <p:sp>
        <p:nvSpPr>
          <p:cNvPr id="23" name="Text 21"/>
          <p:cNvSpPr txBox="1"/>
          <p:nvPr/>
        </p:nvSpPr>
        <p:spPr>
          <a:xfrm>
            <a:off x="685800" y="369417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1188720" y="3602736"/>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3 · Attention</a:t>
            </a:r>
            <a:endParaRPr lang="en-US" sz="1900" dirty="0"/>
          </a:p>
        </p:txBody>
      </p:sp>
      <p:sp>
        <p:nvSpPr>
          <p:cNvPr id="25" name="Text 23"/>
          <p:cNvSpPr txBox="1"/>
          <p:nvPr/>
        </p:nvSpPr>
        <p:spPr>
          <a:xfrm>
            <a:off x="8046720" y="3602736"/>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38 min</a:t>
            </a:r>
            <a:endParaRPr lang="en-US" sz="1400" dirty="0"/>
          </a:p>
        </p:txBody>
      </p:sp>
      <p:sp>
        <p:nvSpPr>
          <p:cNvPr id="26" name="Shape 24"/>
          <p:cNvSpPr/>
          <p:nvPr/>
        </p:nvSpPr>
        <p:spPr>
          <a:xfrm>
            <a:off x="548640" y="4279392"/>
            <a:ext cx="8686800" cy="566928"/>
          </a:xfrm>
          <a:prstGeom prst="roundRect">
            <a:avLst>
              <a:gd name="adj" fmla="val 16129"/>
            </a:avLst>
          </a:prstGeom>
          <a:solidFill>
            <a:srgbClr val="EEF0FF"/>
          </a:solidFill>
          <a:ln w="12700">
            <a:solidFill>
              <a:srgbClr val="EEF0FF"/>
            </a:solidFill>
            <a:prstDash val="solid"/>
          </a:ln>
        </p:spPr>
      </p:sp>
      <p:sp>
        <p:nvSpPr>
          <p:cNvPr id="27" name="Shape 25"/>
          <p:cNvSpPr/>
          <p:nvPr/>
        </p:nvSpPr>
        <p:spPr>
          <a:xfrm>
            <a:off x="685800" y="4370832"/>
            <a:ext cx="384048" cy="384048"/>
          </a:xfrm>
          <a:prstGeom prst="ellipse">
            <a:avLst/>
          </a:prstGeom>
          <a:solidFill>
            <a:srgbClr val="4F46E5"/>
          </a:solidFill>
          <a:ln w="12700">
            <a:solidFill>
              <a:srgbClr val="4F46E5"/>
            </a:solidFill>
            <a:prstDash val="solid"/>
          </a:ln>
        </p:spPr>
      </p:sp>
      <p:sp>
        <p:nvSpPr>
          <p:cNvPr id="28" name="Text 26"/>
          <p:cNvSpPr txBox="1"/>
          <p:nvPr/>
        </p:nvSpPr>
        <p:spPr>
          <a:xfrm>
            <a:off x="685800" y="437083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1188720" y="4279392"/>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4 · The transformer architecture</a:t>
            </a:r>
            <a:endParaRPr lang="en-US" sz="1900" dirty="0"/>
          </a:p>
        </p:txBody>
      </p:sp>
      <p:sp>
        <p:nvSpPr>
          <p:cNvPr id="30" name="Text 28"/>
          <p:cNvSpPr txBox="1"/>
          <p:nvPr/>
        </p:nvSpPr>
        <p:spPr>
          <a:xfrm>
            <a:off x="8046720" y="4279392"/>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22 min</a:t>
            </a:r>
            <a:endParaRPr lang="en-US" sz="1400" dirty="0"/>
          </a:p>
        </p:txBody>
      </p:sp>
      <p:sp>
        <p:nvSpPr>
          <p:cNvPr id="31" name="Shape 29"/>
          <p:cNvSpPr/>
          <p:nvPr/>
        </p:nvSpPr>
        <p:spPr>
          <a:xfrm>
            <a:off x="548640" y="4956048"/>
            <a:ext cx="8686800" cy="566928"/>
          </a:xfrm>
          <a:prstGeom prst="roundRect">
            <a:avLst>
              <a:gd name="adj" fmla="val 16129"/>
            </a:avLst>
          </a:prstGeom>
          <a:solidFill>
            <a:srgbClr val="F5F3FF"/>
          </a:solidFill>
          <a:ln w="12700">
            <a:solidFill>
              <a:srgbClr val="EEF0FF"/>
            </a:solidFill>
            <a:prstDash val="solid"/>
          </a:ln>
        </p:spPr>
      </p:sp>
      <p:sp>
        <p:nvSpPr>
          <p:cNvPr id="32" name="Shape 30"/>
          <p:cNvSpPr/>
          <p:nvPr/>
        </p:nvSpPr>
        <p:spPr>
          <a:xfrm>
            <a:off x="685800" y="5047488"/>
            <a:ext cx="384048" cy="384048"/>
          </a:xfrm>
          <a:prstGeom prst="ellipse">
            <a:avLst/>
          </a:prstGeom>
          <a:solidFill>
            <a:srgbClr val="4F46E5"/>
          </a:solidFill>
          <a:ln w="12700">
            <a:solidFill>
              <a:srgbClr val="4F46E5"/>
            </a:solidFill>
            <a:prstDash val="solid"/>
          </a:ln>
        </p:spPr>
      </p:sp>
      <p:sp>
        <p:nvSpPr>
          <p:cNvPr id="33" name="Text 31"/>
          <p:cNvSpPr txBox="1"/>
          <p:nvPr/>
        </p:nvSpPr>
        <p:spPr>
          <a:xfrm>
            <a:off x="685800" y="504748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4" name="Text 32"/>
          <p:cNvSpPr txBox="1"/>
          <p:nvPr/>
        </p:nvSpPr>
        <p:spPr>
          <a:xfrm>
            <a:off x="1188720" y="4956048"/>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5 · Training, efficiency and applications</a:t>
            </a:r>
            <a:endParaRPr lang="en-US" sz="1900" dirty="0"/>
          </a:p>
        </p:txBody>
      </p:sp>
      <p:sp>
        <p:nvSpPr>
          <p:cNvPr id="35" name="Text 33"/>
          <p:cNvSpPr txBox="1"/>
          <p:nvPr/>
        </p:nvSpPr>
        <p:spPr>
          <a:xfrm>
            <a:off x="8046720" y="4956048"/>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25 min</a:t>
            </a:r>
            <a:endParaRPr lang="en-US" sz="1400" dirty="0"/>
          </a:p>
        </p:txBody>
      </p:sp>
      <p:sp>
        <p:nvSpPr>
          <p:cNvPr id="36" name="Shape 34"/>
          <p:cNvSpPr/>
          <p:nvPr/>
        </p:nvSpPr>
        <p:spPr>
          <a:xfrm>
            <a:off x="548640" y="5632704"/>
            <a:ext cx="8686800" cy="566928"/>
          </a:xfrm>
          <a:prstGeom prst="roundRect">
            <a:avLst>
              <a:gd name="adj" fmla="val 16129"/>
            </a:avLst>
          </a:prstGeom>
          <a:solidFill>
            <a:srgbClr val="EEF0FF"/>
          </a:solidFill>
          <a:ln w="12700">
            <a:solidFill>
              <a:srgbClr val="EEF0FF"/>
            </a:solidFill>
            <a:prstDash val="solid"/>
          </a:ln>
        </p:spPr>
      </p:sp>
      <p:sp>
        <p:nvSpPr>
          <p:cNvPr id="37" name="Shape 35"/>
          <p:cNvSpPr/>
          <p:nvPr/>
        </p:nvSpPr>
        <p:spPr>
          <a:xfrm>
            <a:off x="685800" y="5724144"/>
            <a:ext cx="384048" cy="384048"/>
          </a:xfrm>
          <a:prstGeom prst="ellipse">
            <a:avLst/>
          </a:prstGeom>
          <a:solidFill>
            <a:srgbClr val="4F46E5"/>
          </a:solidFill>
          <a:ln w="12700">
            <a:solidFill>
              <a:srgbClr val="4F46E5"/>
            </a:solidFill>
            <a:prstDash val="solid"/>
          </a:ln>
        </p:spPr>
      </p:sp>
      <p:sp>
        <p:nvSpPr>
          <p:cNvPr id="38" name="Text 36"/>
          <p:cNvSpPr txBox="1"/>
          <p:nvPr/>
        </p:nvSpPr>
        <p:spPr>
          <a:xfrm>
            <a:off x="685800" y="57241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9" name="Text 37"/>
          <p:cNvSpPr txBox="1"/>
          <p:nvPr/>
        </p:nvSpPr>
        <p:spPr>
          <a:xfrm>
            <a:off x="1188720" y="5632704"/>
            <a:ext cx="6858000" cy="566928"/>
          </a:xfrm>
          <a:prstGeom prst="rect">
            <a:avLst/>
          </a:prstGeom>
          <a:noFill/>
          <a:ln/>
        </p:spPr>
        <p:txBody>
          <a:bodyPr wrap="square" lIns="50800" tIns="50800" rIns="50800" bIns="50800" rtlCol="0" anchor="ctr"/>
          <a:lstStyle/>
          <a:p>
            <a:pPr indent="0" marL="0">
              <a:buNone/>
            </a:pPr>
            <a:r>
              <a:rPr lang="en-US" sz="1900" b="1" dirty="0">
                <a:solidFill>
                  <a:srgbClr val="1E1B4B"/>
                </a:solidFill>
                <a:latin typeface="Calibri" pitchFamily="34" charset="0"/>
                <a:ea typeface="Calibri" pitchFamily="34" charset="-122"/>
                <a:cs typeface="Calibri" pitchFamily="34" charset="-120"/>
              </a:rPr>
              <a:t>Lab preview and wrap-up</a:t>
            </a:r>
            <a:endParaRPr lang="en-US" sz="1900" dirty="0"/>
          </a:p>
        </p:txBody>
      </p:sp>
      <p:sp>
        <p:nvSpPr>
          <p:cNvPr id="40" name="Text 38"/>
          <p:cNvSpPr txBox="1"/>
          <p:nvPr/>
        </p:nvSpPr>
        <p:spPr>
          <a:xfrm>
            <a:off x="8046720" y="5632704"/>
            <a:ext cx="1051560" cy="566928"/>
          </a:xfrm>
          <a:prstGeom prst="rect">
            <a:avLst/>
          </a:prstGeom>
          <a:noFill/>
          <a:ln/>
        </p:spPr>
        <p:txBody>
          <a:bodyPr wrap="square" lIns="50800" tIns="50800" rIns="50800" bIns="50800" rtlCol="0" anchor="ctr"/>
          <a:lstStyle/>
          <a:p>
            <a:pPr algn="r" indent="0" marL="0">
              <a:buNone/>
            </a:pPr>
            <a:r>
              <a:rPr lang="en-US" sz="1400" b="1" dirty="0">
                <a:solidFill>
                  <a:srgbClr val="4F46E5"/>
                </a:solidFill>
                <a:latin typeface="Calibri" pitchFamily="34" charset="0"/>
                <a:ea typeface="Calibri" pitchFamily="34" charset="-122"/>
                <a:cs typeface="Calibri" pitchFamily="34" charset="-120"/>
              </a:rPr>
              <a:t>8 min</a:t>
            </a:r>
            <a:endParaRPr lang="en-US" sz="1400" dirty="0"/>
          </a:p>
        </p:txBody>
      </p:sp>
      <p:sp>
        <p:nvSpPr>
          <p:cNvPr id="41" name="Shape 39"/>
          <p:cNvSpPr/>
          <p:nvPr/>
        </p:nvSpPr>
        <p:spPr>
          <a:xfrm>
            <a:off x="9784080" y="2377440"/>
            <a:ext cx="1737360" cy="1737360"/>
          </a:xfrm>
          <a:prstGeom prst="ellipse">
            <a:avLst/>
          </a:prstGeom>
          <a:solidFill>
            <a:srgbClr val="EEF0FF"/>
          </a:solidFill>
          <a:ln w="12700">
            <a:solidFill>
              <a:srgbClr val="EEF0FF"/>
            </a:solidFill>
            <a:prstDash val="solid"/>
          </a:ln>
        </p:spPr>
      </p:sp>
      <p:pic>
        <p:nvPicPr>
          <p:cNvPr id="42" name="Image 0" descr="preencoded.png">    </p:cNvPr>
          <p:cNvPicPr>
            <a:picLocks noChangeAspect="1"/>
          </p:cNvPicPr>
          <p:nvPr/>
        </p:nvPicPr>
        <p:blipFill>
          <a:blip r:embed="rId1"/>
          <a:stretch>
            <a:fillRect/>
          </a:stretch>
        </p:blipFill>
        <p:spPr>
          <a:xfrm>
            <a:off x="10201046" y="2794406"/>
            <a:ext cx="903427" cy="90342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Starting vocabulary</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218883"/>
                <a:gridCol w="8875532"/>
              </a:tblGrid>
              <a:tr h="0">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Term</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200" b="1" dirty="0">
                          <a:solidFill>
                            <a:srgbClr val="FFFFFF"/>
                          </a:solidFill>
                          <a:latin typeface="Calibri" pitchFamily="34" charset="0"/>
                          <a:ea typeface="Calibri" pitchFamily="34" charset="-122"/>
                          <a:cs typeface="Calibri" pitchFamily="34" charset="-120"/>
                        </a:rPr>
                        <a:t>Plain meaning</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Vector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An ordered list of numbers representing one item, such as a token.</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Matrix shape</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number of rows and columns in a table of numbers.</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200" b="1" dirty="0">
                          <a:solidFill>
                            <a:srgbClr val="1F2937"/>
                          </a:solidFill>
                          <a:latin typeface="Calibri" pitchFamily="34" charset="0"/>
                          <a:ea typeface="Calibri" pitchFamily="34" charset="-122"/>
                          <a:cs typeface="Calibri" pitchFamily="34" charset="-120"/>
                        </a:rPr>
                        <a:t>Training target</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200" dirty="0">
                          <a:solidFill>
                            <a:srgbClr val="1F2937"/>
                          </a:solidFill>
                          <a:latin typeface="Calibri" pitchFamily="34" charset="0"/>
                          <a:ea typeface="Calibri" pitchFamily="34" charset="-122"/>
                          <a:cs typeface="Calibri" pitchFamily="34" charset="-120"/>
                        </a:rPr>
                        <a:t>The known answer used to measure a model's prediction error.</a:t>
                      </a:r>
                      <a:endParaRPr lang="en-US" sz="22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Warm-up</a:t>
            </a:r>
            <a:endParaRPr lang="en-US" sz="3200" dirty="0"/>
          </a:p>
        </p:txBody>
      </p:sp>
      <p:sp>
        <p:nvSpPr>
          <p:cNvPr id="6" name="Shape 4"/>
          <p:cNvSpPr/>
          <p:nvPr/>
        </p:nvSpPr>
        <p:spPr>
          <a:xfrm>
            <a:off x="548640" y="1527048"/>
            <a:ext cx="1005840" cy="1005840"/>
          </a:xfrm>
          <a:prstGeom prst="ellipse">
            <a:avLst/>
          </a:prstGeom>
          <a:solidFill>
            <a:srgbClr val="0F766E"/>
          </a:solidFill>
          <a:ln w="12700">
            <a:solidFill>
              <a:srgbClr val="0F766E"/>
            </a:solidFill>
            <a:prstDash val="solid"/>
          </a:ln>
        </p:spPr>
      </p:sp>
      <p:pic>
        <p:nvPicPr>
          <p:cNvPr id="7" name="Image 0" descr="preencoded.png">    </p:cNvPr>
          <p:cNvPicPr>
            <a:picLocks noChangeAspect="1"/>
          </p:cNvPicPr>
          <p:nvPr/>
        </p:nvPicPr>
        <p:blipFill>
          <a:blip r:embed="rId1"/>
          <a:stretch>
            <a:fillRect/>
          </a:stretch>
        </p:blipFill>
        <p:spPr>
          <a:xfrm>
            <a:off x="790042" y="1768450"/>
            <a:ext cx="523037" cy="523037"/>
          </a:xfrm>
          <a:prstGeom prst="rect">
            <a:avLst/>
          </a:prstGeom>
        </p:spPr>
      </p:pic>
      <p:sp>
        <p:nvSpPr>
          <p:cNvPr id="8" name="Text 5"/>
          <p:cNvSpPr txBox="1"/>
          <p:nvPr/>
        </p:nvSpPr>
        <p:spPr>
          <a:xfrm>
            <a:off x="1828800" y="1481328"/>
            <a:ext cx="9814255" cy="1463040"/>
          </a:xfrm>
          <a:prstGeom prst="rect">
            <a:avLst/>
          </a:prstGeom>
          <a:noFill/>
          <a:ln/>
        </p:spPr>
        <p:txBody>
          <a:bodyPr wrap="square" lIns="50800" tIns="50800" rIns="50800" bIns="50800" rtlCol="0" anchor="ctr"/>
          <a:lstStyle/>
          <a:p>
            <a:pPr indent="0" marL="0">
              <a:buNone/>
            </a:pPr>
            <a:r>
              <a:rPr lang="en-US" sz="2600" b="1" dirty="0">
                <a:solidFill>
                  <a:srgbClr val="1E1B4B"/>
                </a:solidFill>
                <a:latin typeface="Calibri" pitchFamily="34" charset="0"/>
                <a:ea typeface="Calibri" pitchFamily="34" charset="-122"/>
                <a:cs typeface="Calibri" pitchFamily="34" charset="-120"/>
              </a:rPr>
              <a:t>'The animal didn't cross the street because it was too tired.' What does 'it' refer to? What if 'tired' becomes 'wide'?</a:t>
            </a:r>
            <a:endParaRPr lang="en-US" sz="2600" dirty="0"/>
          </a:p>
        </p:txBody>
      </p:sp>
      <p:sp>
        <p:nvSpPr>
          <p:cNvPr id="9" name="Text 6"/>
          <p:cNvSpPr txBox="1"/>
          <p:nvPr/>
        </p:nvSpPr>
        <p:spPr>
          <a:xfrm>
            <a:off x="1828800" y="3172968"/>
            <a:ext cx="9814255" cy="309067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How did you decide? Which words did you look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How far back in the sentence did you need to look?</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Could a model that reads one word at a time, keeping only a short memory, do the same?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01</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Why transformers?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What was wrong with reading one word at a time?</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Text to the next character</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Follow the small decoder built in this week's lab</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Text</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Characters from the Tiny Shakespeare training text</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text</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raw characters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Character IDs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Each character receives one vocabulary number</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stoi</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integer IDs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Token + position</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Look up character vectors and add position vectors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CharGPT.tok / CharGPT.pos</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position-aware vectors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Causal blocks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Mix allowed earlier information, then transform each position</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Block.forward</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contextual vectors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Vocabulary scores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One score for every possible next character</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CharGPT.head</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logits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New character</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Choose an ID and decode it back to text</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CharGPT.generate / itos</a:t>
            </a:r>
            <a:endParaRPr lang="en-US" sz="1200" dirty="0"/>
          </a:p>
        </p:txBody>
      </p:sp>
      <p:sp>
        <p:nvSpPr>
          <p:cNvPr id="41" name="Shape 39"/>
          <p:cNvSpPr/>
          <p:nvPr/>
        </p:nvSpPr>
        <p:spPr>
          <a:xfrm>
            <a:off x="2289847" y="5422392"/>
            <a:ext cx="0" cy="109728"/>
          </a:xfrm>
          <a:prstGeom prst="line">
            <a:avLst/>
          </a:prstGeom>
          <a:noFill/>
          <a:ln w="20320">
            <a:solidFill>
              <a:srgbClr val="0F766E"/>
            </a:solidFill>
            <a:prstDash val="dash"/>
          </a:ln>
        </p:spPr>
      </p:sp>
      <p:sp>
        <p:nvSpPr>
          <p:cNvPr id="42" name="Shape 40"/>
          <p:cNvSpPr/>
          <p:nvPr/>
        </p:nvSpPr>
        <p:spPr>
          <a:xfrm flipH="1">
            <a:off x="603504" y="5532120"/>
            <a:ext cx="1686343" cy="0"/>
          </a:xfrm>
          <a:prstGeom prst="line">
            <a:avLst/>
          </a:prstGeom>
          <a:noFill/>
          <a:ln w="20320">
            <a:solidFill>
              <a:srgbClr val="0F766E"/>
            </a:solidFill>
            <a:prstDash val="dash"/>
          </a:ln>
        </p:spPr>
      </p:sp>
      <p:sp>
        <p:nvSpPr>
          <p:cNvPr id="43" name="Shape 41"/>
          <p:cNvSpPr/>
          <p:nvPr/>
        </p:nvSpPr>
        <p:spPr>
          <a:xfrm flipV="1">
            <a:off x="603504" y="1828800"/>
            <a:ext cx="0" cy="3703320"/>
          </a:xfrm>
          <a:prstGeom prst="line">
            <a:avLst/>
          </a:prstGeom>
          <a:noFill/>
          <a:ln w="20320">
            <a:solidFill>
              <a:srgbClr val="0F766E"/>
            </a:solidFill>
            <a:prstDash val="dash"/>
          </a:ln>
        </p:spPr>
      </p:sp>
      <p:sp>
        <p:nvSpPr>
          <p:cNvPr id="44" name="Shape 42"/>
          <p:cNvSpPr/>
          <p:nvPr/>
        </p:nvSpPr>
        <p:spPr>
          <a:xfrm>
            <a:off x="603504" y="1828800"/>
            <a:ext cx="9298344" cy="0"/>
          </a:xfrm>
          <a:prstGeom prst="line">
            <a:avLst/>
          </a:prstGeom>
          <a:noFill/>
          <a:ln w="20320">
            <a:solidFill>
              <a:srgbClr val="0F766E"/>
            </a:solidFill>
            <a:prstDash val="dash"/>
          </a:ln>
        </p:spPr>
      </p:sp>
      <p:sp>
        <p:nvSpPr>
          <p:cNvPr id="45" name="Shape 43"/>
          <p:cNvSpPr/>
          <p:nvPr/>
        </p:nvSpPr>
        <p:spPr>
          <a:xfrm>
            <a:off x="9901848" y="1828800"/>
            <a:ext cx="0" cy="36576"/>
          </a:xfrm>
          <a:prstGeom prst="line">
            <a:avLst/>
          </a:prstGeom>
          <a:noFill/>
          <a:ln w="20320">
            <a:solidFill>
              <a:srgbClr val="0F766E"/>
            </a:solidFill>
            <a:prstDash val="dash"/>
            <a:tailEnd type="triangle"/>
          </a:ln>
        </p:spPr>
      </p:sp>
      <p:sp>
        <p:nvSpPr>
          <p:cNvPr id="46" name="Text 44"/>
          <p:cNvSpPr txBox="1"/>
          <p:nvPr/>
        </p:nvSpPr>
        <p:spPr>
          <a:xfrm>
            <a:off x="685800" y="5577840"/>
            <a:ext cx="10820095" cy="438912"/>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Repeat: Append the chosen ID; predict again from the current context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Recurrence vs. attention</a:t>
            </a:r>
            <a:endParaRPr lang="en-US" sz="3200" dirty="0"/>
          </a:p>
        </p:txBody>
      </p:sp>
      <p:pic>
        <p:nvPicPr>
          <p:cNvPr id="6" name="Image 0" descr="C:\Users\sudee\Downloads\Generative_AI_2027_Teaching_Pack\AI2027_Project\build\figures\week_05\rnn_vs_attention.png">    </p:cNvPr>
          <p:cNvPicPr>
            <a:picLocks noChangeAspect="1"/>
          </p:cNvPicPr>
          <p:nvPr/>
        </p:nvPicPr>
        <p:blipFill>
          <a:blip r:embed="rId1"/>
          <a:stretch>
            <a:fillRect/>
          </a:stretch>
        </p:blipFill>
        <p:spPr>
          <a:xfrm>
            <a:off x="749974" y="1481328"/>
            <a:ext cx="10691746" cy="482803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RNN / LSTM vs. transformer</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Recurrent (RNN, LSTM)</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Processes tokens </a:t>
            </a:r>
            <a:pPr indent="0" marL="0">
              <a:buNone/>
            </a:pPr>
            <a:r>
              <a:rPr lang="en-US" sz="1700" b="1" dirty="0">
                <a:solidFill>
                  <a:srgbClr val="1F2937"/>
                </a:solidFill>
                <a:latin typeface="Calibri" pitchFamily="34" charset="0"/>
                <a:ea typeface="Calibri" pitchFamily="34" charset="-122"/>
                <a:cs typeface="Calibri" pitchFamily="34" charset="-120"/>
              </a:rPr>
              <a:t>sequentially</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Path between distant tokens grows with distance: </a:t>
            </a:r>
            <a:pPr indent="0" marL="0">
              <a:buNone/>
            </a:pPr>
            <a:r>
              <a:rPr lang="en-US" sz="1700" b="1" dirty="0">
                <a:solidFill>
                  <a:srgbClr val="1F2937"/>
                </a:solidFill>
                <a:latin typeface="Calibri" pitchFamily="34" charset="0"/>
                <a:ea typeface="Calibri" pitchFamily="34" charset="-122"/>
                <a:cs typeface="Calibri" pitchFamily="34" charset="-120"/>
              </a:rPr>
              <a:t>long-term dependencies</a:t>
            </a:r>
            <a:pPr indent="0" marL="0">
              <a:buNone/>
            </a:pPr>
            <a:r>
              <a:rPr lang="en-US" sz="1700" dirty="0">
                <a:solidFill>
                  <a:srgbClr val="1F2937"/>
                </a:solidFill>
                <a:latin typeface="Calibri" pitchFamily="34" charset="0"/>
                <a:ea typeface="Calibri" pitchFamily="34" charset="-122"/>
                <a:cs typeface="Calibri" pitchFamily="34" charset="-120"/>
              </a:rPr>
              <a:t> are hard</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Vanishing / exploding gradients over long sequences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Cannot parallelise over time: slow to train on GPUs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Memory per step is constant</a:t>
            </a:r>
            <a:endParaRPr lang="en-US" sz="17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Transformer</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Processes all tokens </a:t>
            </a:r>
            <a:pPr indent="0" marL="0">
              <a:buNone/>
            </a:pPr>
            <a:r>
              <a:rPr lang="en-US" sz="1700" b="1" dirty="0">
                <a:solidFill>
                  <a:srgbClr val="1F2937"/>
                </a:solidFill>
                <a:latin typeface="Calibri" pitchFamily="34" charset="0"/>
                <a:ea typeface="Calibri" pitchFamily="34" charset="-122"/>
                <a:cs typeface="Calibri" pitchFamily="34" charset="-120"/>
              </a:rPr>
              <a:t>in parallel</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Any token can attend to any other in </a:t>
            </a:r>
            <a:pPr indent="0" marL="0">
              <a:buNone/>
            </a:pPr>
            <a:r>
              <a:rPr lang="en-US" sz="1700" b="1" dirty="0">
                <a:solidFill>
                  <a:srgbClr val="1F2937"/>
                </a:solidFill>
                <a:latin typeface="Calibri" pitchFamily="34" charset="0"/>
                <a:ea typeface="Calibri" pitchFamily="34" charset="-122"/>
                <a:cs typeface="Calibri" pitchFamily="34" charset="-120"/>
              </a:rPr>
              <a:t>one step</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Stable training with residuals and normalisation</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Scales to billions of parameters and trillions of tokens</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Cost grows as </a:t>
            </a:r>
            <a:pPr indent="0" marL="0">
              <a:buNone/>
            </a:pPr>
            <a:r>
              <a:rPr lang="en-US" sz="1700" b="1" dirty="0">
                <a:solidFill>
                  <a:srgbClr val="1F2937"/>
                </a:solidFill>
                <a:latin typeface="Calibri" pitchFamily="34" charset="0"/>
                <a:ea typeface="Calibri" pitchFamily="34" charset="-122"/>
                <a:cs typeface="Calibri" pitchFamily="34" charset="-120"/>
              </a:rPr>
              <a:t>n²</a:t>
            </a:r>
            <a:pPr indent="0" marL="0">
              <a:buNone/>
            </a:pPr>
            <a:r>
              <a:rPr lang="en-US" sz="1700" dirty="0">
                <a:solidFill>
                  <a:srgbClr val="1F2937"/>
                </a:solidFill>
                <a:latin typeface="Calibri" pitchFamily="34" charset="0"/>
                <a:ea typeface="Calibri" pitchFamily="34" charset="-122"/>
                <a:cs typeface="Calibri" pitchFamily="34" charset="-120"/>
              </a:rPr>
              <a:t> with sequence length (section 5)</a:t>
            </a:r>
            <a:endParaRPr lang="en-US" sz="17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Parallel training on GPUs, not just accuracy, is why transformers took over: they turned more compute and data directly into better models.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02</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Tokens, embeddings and position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text become numbers that attention can work with?</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From text to vectors</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Tokenise</a:t>
            </a:r>
            <a:pPr indent="0" marL="0">
              <a:buNone/>
            </a:pPr>
            <a:r>
              <a:rPr lang="en-US" sz="2100" dirty="0">
                <a:solidFill>
                  <a:srgbClr val="1F2937"/>
                </a:solidFill>
                <a:latin typeface="Calibri" pitchFamily="34" charset="0"/>
                <a:ea typeface="Calibri" pitchFamily="34" charset="-122"/>
                <a:cs typeface="Calibri" pitchFamily="34" charset="-120"/>
              </a:rPr>
              <a:t>: split text into sub-word tokens (byte-pair encoding and similar); each gets an integer ID (week 1).</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Embed</a:t>
            </a:r>
            <a:pPr indent="0" marL="0">
              <a:buNone/>
            </a:pPr>
            <a:r>
              <a:rPr lang="en-US" sz="2100" dirty="0">
                <a:solidFill>
                  <a:srgbClr val="1F2937"/>
                </a:solidFill>
                <a:latin typeface="Calibri" pitchFamily="34" charset="0"/>
                <a:ea typeface="Calibri" pitchFamily="34" charset="-122"/>
                <a:cs typeface="Calibri" pitchFamily="34" charset="-120"/>
              </a:rPr>
              <a:t>: look up each ID in a learned table of size vocabulary × d (e.g. 50,000 × 768). Similar tokens end up with similar vectors.</a:t>
            </a:r>
            <a:endParaRPr lang="en-US" sz="2100" dirty="0"/>
          </a:p>
          <a:p>
            <a:pPr marL="254000" indent="-254000">
              <a:spcAft>
                <a:spcPts val="800"/>
              </a:spcAft>
              <a:buSzPct val="100000"/>
              <a:buChar char="●"/>
            </a:pPr>
            <a:r>
              <a:rPr lang="en-US" sz="2100" b="1" dirty="0">
                <a:solidFill>
                  <a:srgbClr val="1F2937"/>
                </a:solidFill>
                <a:latin typeface="Calibri" pitchFamily="34" charset="0"/>
                <a:ea typeface="Calibri" pitchFamily="34" charset="-122"/>
                <a:cs typeface="Calibri" pitchFamily="34" charset="-120"/>
              </a:rPr>
              <a:t>Attention ignores order</a:t>
            </a:r>
            <a:pPr indent="0" marL="0">
              <a:buNone/>
            </a:pPr>
            <a:r>
              <a:rPr lang="en-US" sz="2100" dirty="0">
                <a:solidFill>
                  <a:srgbClr val="1F2937"/>
                </a:solidFill>
                <a:latin typeface="Calibri" pitchFamily="34" charset="0"/>
                <a:ea typeface="Calibri" pitchFamily="34" charset="-122"/>
                <a:cs typeface="Calibri" pitchFamily="34" charset="-120"/>
              </a:rPr>
              <a:t>: shuffle the tokens and self-attention produces the same outputs, shuffled (permutation-equivariant).</a:t>
            </a:r>
            <a:endParaRPr lang="en-US" sz="2100" dirty="0"/>
          </a:p>
          <a:p>
            <a:pPr marL="254000" indent="-254000">
              <a:spcAft>
                <a:spcPts val="800"/>
              </a:spcAft>
              <a:buSzPct val="100000"/>
              <a:buChar char="●"/>
            </a:pPr>
            <a:r>
              <a:rPr lang="en-US" sz="2100" dirty="0">
                <a:solidFill>
                  <a:srgbClr val="1F2937"/>
                </a:solidFill>
                <a:latin typeface="Calibri" pitchFamily="34" charset="0"/>
                <a:ea typeface="Calibri" pitchFamily="34" charset="-122"/>
                <a:cs typeface="Calibri" pitchFamily="34" charset="-120"/>
              </a:rPr>
              <a:t>So we must </a:t>
            </a:r>
            <a:pPr indent="0" marL="0">
              <a:buNone/>
            </a:pPr>
            <a:r>
              <a:rPr lang="en-US" sz="2100" b="1" dirty="0">
                <a:solidFill>
                  <a:srgbClr val="1F2937"/>
                </a:solidFill>
                <a:latin typeface="Calibri" pitchFamily="34" charset="0"/>
                <a:ea typeface="Calibri" pitchFamily="34" charset="-122"/>
                <a:cs typeface="Calibri" pitchFamily="34" charset="-120"/>
              </a:rPr>
              <a:t>add positional information</a:t>
            </a:r>
            <a:pPr indent="0" marL="0">
              <a:buNone/>
            </a:pPr>
            <a:r>
              <a:rPr lang="en-US" sz="2100" dirty="0">
                <a:solidFill>
                  <a:srgbClr val="1F2937"/>
                </a:solidFill>
                <a:latin typeface="Calibri" pitchFamily="34" charset="0"/>
                <a:ea typeface="Calibri" pitchFamily="34" charset="-122"/>
                <a:cs typeface="Calibri" pitchFamily="34" charset="-120"/>
              </a:rPr>
              <a:t>: 'dog bites man' ≠ 'man bites dog'.</a:t>
            </a:r>
            <a:endParaRPr lang="en-US" sz="21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Everything a transformer knows about a token at the input is its embedding plus its position.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Positional encoding: sinusoidal and rotary</a:t>
            </a:r>
            <a:endParaRPr lang="en-US" sz="3200" dirty="0"/>
          </a:p>
        </p:txBody>
      </p:sp>
      <p:pic>
        <p:nvPicPr>
          <p:cNvPr id="6" name="Image 0" descr="C:\Users\sudee\Downloads\Generative_AI_2027_Teaching_Pack\AI2027_Project\build\figures\week_05\positional.png">    </p:cNvPr>
          <p:cNvPicPr>
            <a:picLocks noChangeAspect="1"/>
          </p:cNvPicPr>
          <p:nvPr/>
        </p:nvPicPr>
        <p:blipFill>
          <a:blip r:embed="rId1"/>
          <a:stretch>
            <a:fillRect/>
          </a:stretch>
        </p:blipFill>
        <p:spPr>
          <a:xfrm>
            <a:off x="3351790" y="1481328"/>
            <a:ext cx="5488115" cy="2510028"/>
          </a:xfrm>
          <a:prstGeom prst="rect">
            <a:avLst/>
          </a:prstGeom>
        </p:spPr>
      </p:pic>
      <p:sp>
        <p:nvSpPr>
          <p:cNvPr id="7" name="Text 4"/>
          <p:cNvSpPr txBox="1"/>
          <p:nvPr/>
        </p:nvSpPr>
        <p:spPr>
          <a:xfrm>
            <a:off x="548640" y="4174236"/>
            <a:ext cx="11094415" cy="21351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Sinusoidal</a:t>
            </a:r>
            <a:pPr indent="0" marL="0">
              <a:buNone/>
            </a:pPr>
            <a:r>
              <a:rPr lang="en-US" sz="1800" dirty="0">
                <a:solidFill>
                  <a:srgbClr val="1F2937"/>
                </a:solidFill>
                <a:latin typeface="Calibri" pitchFamily="34" charset="0"/>
                <a:ea typeface="Calibri" pitchFamily="34" charset="-122"/>
                <a:cs typeface="Calibri" pitchFamily="34" charset="-120"/>
              </a:rPr>
              <a:t> (2017): add sine/cosine waves of different frequencies; each position gets a unique pattern.</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Learned</a:t>
            </a:r>
            <a:pPr indent="0" marL="0">
              <a:buNone/>
            </a:pPr>
            <a:r>
              <a:rPr lang="en-US" sz="1800" dirty="0">
                <a:solidFill>
                  <a:srgbClr val="1F2937"/>
                </a:solidFill>
                <a:latin typeface="Calibri" pitchFamily="34" charset="0"/>
                <a:ea typeface="Calibri" pitchFamily="34" charset="-122"/>
                <a:cs typeface="Calibri" pitchFamily="34" charset="-120"/>
              </a:rPr>
              <a:t> absolute positions (BERT, GPT-2): a trainable vector per position, up to a fixed maximum.</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Rotary (RoPE)</a:t>
            </a:r>
            <a:pPr indent="0" marL="0">
              <a:buNone/>
            </a:pPr>
            <a:r>
              <a:rPr lang="en-US" sz="1800" dirty="0">
                <a:solidFill>
                  <a:srgbClr val="1F2937"/>
                </a:solidFill>
                <a:latin typeface="Calibri" pitchFamily="34" charset="0"/>
                <a:ea typeface="Calibri" pitchFamily="34" charset="-122"/>
                <a:cs typeface="Calibri" pitchFamily="34" charset="-120"/>
              </a:rPr>
              <a:t> (Su et al., 2021): rotate query and key vectors by position-dependent angles; attention then depends on </a:t>
            </a:r>
            <a:pPr indent="0" marL="0">
              <a:buNone/>
            </a:pPr>
            <a:r>
              <a:rPr lang="en-US" sz="1800" b="1" dirty="0">
                <a:solidFill>
                  <a:srgbClr val="1F2937"/>
                </a:solidFill>
                <a:latin typeface="Calibri" pitchFamily="34" charset="0"/>
                <a:ea typeface="Calibri" pitchFamily="34" charset="-122"/>
                <a:cs typeface="Calibri" pitchFamily="34" charset="-120"/>
              </a:rPr>
              <a:t>relative</a:t>
            </a:r>
            <a:pPr indent="0" marL="0">
              <a:buNone/>
            </a:pPr>
            <a:r>
              <a:rPr lang="en-US" sz="1800" dirty="0">
                <a:solidFill>
                  <a:srgbClr val="1F2937"/>
                </a:solidFill>
                <a:latin typeface="Calibri" pitchFamily="34" charset="0"/>
                <a:ea typeface="Calibri" pitchFamily="34" charset="-122"/>
                <a:cs typeface="Calibri" pitchFamily="34" charset="-120"/>
              </a:rPr>
              <a:t> distance. Used by most current open LLMs and extendable to long context.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03</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Attention</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does a token decide which other tokens matter?</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Inside one attention head</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Turn comparisons between tokens into a mixture of information</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Input vectors</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One vector for each token position</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MultiHeadAttention.forward</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token vectors</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Q, K and V</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Learned projections form queries, keys and values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MultiHeadAttention.qkv</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query/key/value tensors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Scaled scores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each query with keys; control score magnitude</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attention</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score table</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Allowed positions</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Optional mask blocks future tokens before probability calculation</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causal_mask</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masked score table</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Row weights</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Softmax gives nonnegative weights summing to one</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attention</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attention weights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Weighted values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Mix value vectors using each query's row weights</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attention</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Do attention weights mix the key vectors or the value vectors to form the output?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Queries, keys and values</a:t>
            </a:r>
            <a:endParaRPr lang="en-US" sz="3200" dirty="0"/>
          </a:p>
        </p:txBody>
      </p:sp>
      <p:pic>
        <p:nvPicPr>
          <p:cNvPr id="6" name="Image 0" descr="C:\Users\sudee\Downloads\Generative_AI_2027_Teaching_Pack\AI2027_Project\build\figures\week_05\qkv.png">    </p:cNvPr>
          <p:cNvPicPr>
            <a:picLocks noChangeAspect="1"/>
          </p:cNvPicPr>
          <p:nvPr/>
        </p:nvPicPr>
        <p:blipFill>
          <a:blip r:embed="rId1"/>
          <a:stretch>
            <a:fillRect/>
          </a:stretch>
        </p:blipFill>
        <p:spPr>
          <a:xfrm>
            <a:off x="548640" y="1759335"/>
            <a:ext cx="11094415" cy="427201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Scaled dot-product attention</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0abd588b4db8f03e.png">    </p:cNvPr>
          <p:cNvPicPr>
            <a:picLocks noChangeAspect="1"/>
          </p:cNvPicPr>
          <p:nvPr/>
        </p:nvPicPr>
        <p:blipFill>
          <a:blip r:embed="rId1"/>
          <a:stretch>
            <a:fillRect/>
          </a:stretch>
        </p:blipFill>
        <p:spPr>
          <a:xfrm>
            <a:off x="3590392" y="1722120"/>
            <a:ext cx="5010912" cy="844296"/>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QKᵀ: every query dotted with every key gives an n × n table of </a:t>
            </a:r>
            <a:pPr indent="0" marL="0">
              <a:buNone/>
            </a:pPr>
            <a:r>
              <a:rPr lang="en-US" sz="2000" b="1" dirty="0">
                <a:solidFill>
                  <a:srgbClr val="1F2937"/>
                </a:solidFill>
                <a:latin typeface="Calibri" pitchFamily="34" charset="0"/>
                <a:ea typeface="Calibri" pitchFamily="34" charset="-122"/>
                <a:cs typeface="Calibri" pitchFamily="34" charset="-120"/>
              </a:rPr>
              <a:t>compatibility scores</a:t>
            </a:r>
            <a:pPr indent="0" marL="0">
              <a:buNone/>
            </a:pPr>
            <a:r>
              <a:rPr lang="en-US" sz="2000" dirty="0">
                <a:solidFill>
                  <a:srgbClr val="1F2937"/>
                </a:solidFill>
                <a:latin typeface="Calibri" pitchFamily="34" charset="0"/>
                <a:ea typeface="Calibri" pitchFamily="34" charset="-122"/>
                <a:cs typeface="Calibri" pitchFamily="34" charset="-120"/>
              </a:rPr>
              <a: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Divide by √d_k, apply </a:t>
            </a:r>
            <a:pPr indent="0" marL="0">
              <a:buNone/>
            </a:pPr>
            <a:r>
              <a:rPr lang="en-US" sz="2000" b="1" dirty="0">
                <a:solidFill>
                  <a:srgbClr val="1F2937"/>
                </a:solidFill>
                <a:latin typeface="Calibri" pitchFamily="34" charset="0"/>
                <a:ea typeface="Calibri" pitchFamily="34" charset="-122"/>
                <a:cs typeface="Calibri" pitchFamily="34" charset="-120"/>
              </a:rPr>
              <a:t>softmax</a:t>
            </a:r>
            <a:pPr indent="0" marL="0">
              <a:buNone/>
            </a:pPr>
            <a:r>
              <a:rPr lang="en-US" sz="2000" dirty="0">
                <a:solidFill>
                  <a:srgbClr val="1F2937"/>
                </a:solidFill>
                <a:latin typeface="Calibri" pitchFamily="34" charset="0"/>
                <a:ea typeface="Calibri" pitchFamily="34" charset="-122"/>
                <a:cs typeface="Calibri" pitchFamily="34" charset="-120"/>
              </a:rPr>
              <a:t> to each row: each token's weights over all tokens sum to 1.</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Multiply by V: each output is a </a:t>
            </a:r>
            <a:pPr indent="0" marL="0">
              <a:buNone/>
            </a:pPr>
            <a:r>
              <a:rPr lang="en-US" sz="2000" b="1" dirty="0">
                <a:solidFill>
                  <a:srgbClr val="1F2937"/>
                </a:solidFill>
                <a:latin typeface="Calibri" pitchFamily="34" charset="0"/>
                <a:ea typeface="Calibri" pitchFamily="34" charset="-122"/>
                <a:cs typeface="Calibri" pitchFamily="34" charset="-120"/>
              </a:rPr>
              <a:t>weighted average</a:t>
            </a:r>
            <a:pPr indent="0" marL="0">
              <a:buNone/>
            </a:pPr>
            <a:r>
              <a:rPr lang="en-US" sz="2000" dirty="0">
                <a:solidFill>
                  <a:srgbClr val="1F2937"/>
                </a:solidFill>
                <a:latin typeface="Calibri" pitchFamily="34" charset="0"/>
                <a:ea typeface="Calibri" pitchFamily="34" charset="-122"/>
                <a:cs typeface="Calibri" pitchFamily="34" charset="-120"/>
              </a:rPr>
              <a:t> of value vectors.</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Q, K</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queries and keys, n × d_k</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V</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values, n × d_v</a:t>
            </a:r>
            <a:endParaRPr lang="en-US" sz="1700" dirty="0"/>
          </a:p>
        </p:txBody>
      </p:sp>
      <p:sp>
        <p:nvSpPr>
          <p:cNvPr id="15" name="Text 12"/>
          <p:cNvSpPr txBox="1"/>
          <p:nvPr/>
        </p:nvSpPr>
        <p:spPr>
          <a:xfrm>
            <a:off x="6858000" y="48188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6" name="Text 13"/>
          <p:cNvSpPr txBox="1"/>
          <p:nvPr/>
        </p:nvSpPr>
        <p:spPr>
          <a:xfrm>
            <a:off x="8046720" y="48188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number of tokens</a:t>
            </a:r>
            <a:endParaRPr lang="en-US" sz="1700" dirty="0"/>
          </a:p>
        </p:txBody>
      </p:sp>
      <p:sp>
        <p:nvSpPr>
          <p:cNvPr id="17" name="Text 14"/>
          <p:cNvSpPr txBox="1"/>
          <p:nvPr/>
        </p:nvSpPr>
        <p:spPr>
          <a:xfrm>
            <a:off x="6858000" y="55046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d_k</a:t>
            </a:r>
            <a:endParaRPr lang="en-US" sz="1800" dirty="0"/>
          </a:p>
        </p:txBody>
      </p:sp>
      <p:sp>
        <p:nvSpPr>
          <p:cNvPr id="18" name="Text 15"/>
          <p:cNvSpPr txBox="1"/>
          <p:nvPr/>
        </p:nvSpPr>
        <p:spPr>
          <a:xfrm>
            <a:off x="8046720" y="55046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key dimension, e.g. 64</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Worked example: three tokens, d_k = 2</a:t>
            </a:r>
            <a:endParaRPr lang="en-US" sz="3200" dirty="0"/>
          </a:p>
        </p:txBody>
      </p:sp>
      <p:pic>
        <p:nvPicPr>
          <p:cNvPr id="6" name="Image 0" descr="C:\Users\sudee\Downloads\Generative_AI_2027_Teaching_Pack\AI2027_Project\build\figures\week_05\attn_worked.png">    </p:cNvPr>
          <p:cNvPicPr>
            <a:picLocks noChangeAspect="1"/>
          </p:cNvPicPr>
          <p:nvPr/>
        </p:nvPicPr>
        <p:blipFill>
          <a:blip r:embed="rId1"/>
          <a:stretch>
            <a:fillRect/>
          </a:stretch>
        </p:blipFill>
        <p:spPr>
          <a:xfrm>
            <a:off x="2868824" y="1481328"/>
            <a:ext cx="6454048"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Q = K = [[1,0],[0,1],[1,1]] for 'cat', 'sat', 'mat'. Score cat·mat = (1·1 + 0·1)/√2 = 0.71.</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Row 'mat': softmax([0.71, 0.71, 1.41]) = [0.25, 0.25, 0.50]: 'mat' attends most to itself.</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With V = [[1,0],[0,1],[0.5,0.5]], output for 'cat' = 0.40·[1,0] + 0.20·[0,1] + 0.40·[0.5,0.5] = [0.60, 0.40].</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Why divide by √d_k?</a:t>
            </a:r>
            <a:endParaRPr lang="en-US" sz="3200" dirty="0"/>
          </a:p>
        </p:txBody>
      </p:sp>
      <p:sp>
        <p:nvSpPr>
          <p:cNvPr id="6" name="Text 4"/>
          <p:cNvSpPr txBox="1"/>
          <p:nvPr/>
        </p:nvSpPr>
        <p:spPr>
          <a:xfrm>
            <a:off x="548640" y="1481328"/>
            <a:ext cx="8138160" cy="3867912"/>
          </a:xfrm>
          <a:prstGeom prst="rect">
            <a:avLst/>
          </a:prstGeom>
          <a:noFill/>
          <a:ln/>
        </p:spPr>
        <p:txBody>
          <a:bodyPr wrap="square" lIns="50800" tIns="50800" rIns="50800" bIns="50800" rtlCol="0" anchor="t"/>
          <a:lstStyle/>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If query and key entries have mean 0 and variance 1, their dot product has variance </a:t>
            </a:r>
            <a:pPr indent="0" marL="0">
              <a:buNone/>
            </a:pPr>
            <a:r>
              <a:rPr lang="en-US" sz="2200" b="1" dirty="0">
                <a:solidFill>
                  <a:srgbClr val="1F2937"/>
                </a:solidFill>
                <a:latin typeface="Calibri" pitchFamily="34" charset="0"/>
                <a:ea typeface="Calibri" pitchFamily="34" charset="-122"/>
                <a:cs typeface="Calibri" pitchFamily="34" charset="-120"/>
              </a:rPr>
              <a:t>d_k</a:t>
            </a:r>
            <a:pPr indent="0" marL="0">
              <a:buNone/>
            </a:pPr>
            <a:r>
              <a:rPr lang="en-US" sz="2200" dirty="0">
                <a:solidFill>
                  <a:srgbClr val="1F2937"/>
                </a:solidFill>
                <a:latin typeface="Calibri" pitchFamily="34" charset="0"/>
                <a:ea typeface="Calibri" pitchFamily="34" charset="-122"/>
                <a:cs typeface="Calibri" pitchFamily="34" charset="-120"/>
              </a:rPr>
              <a: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With d_k = 64 the scores have standard deviation 8: softmax becomes almost one-hot.</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Saturated softmax has near-zero gradients, so learning stalls.</a:t>
            </a:r>
            <a:endParaRPr lang="en-US" sz="2200" dirty="0"/>
          </a:p>
          <a:p>
            <a:pPr marL="254000" indent="-254000">
              <a:spcAft>
                <a:spcPts val="800"/>
              </a:spcAft>
              <a:buSzPct val="100000"/>
              <a:buChar char="●"/>
            </a:pPr>
            <a:r>
              <a:rPr lang="en-US" sz="2200" dirty="0">
                <a:solidFill>
                  <a:srgbClr val="1F2937"/>
                </a:solidFill>
                <a:latin typeface="Calibri" pitchFamily="34" charset="0"/>
                <a:ea typeface="Calibri" pitchFamily="34" charset="-122"/>
                <a:cs typeface="Calibri" pitchFamily="34" charset="-120"/>
              </a:rPr>
              <a:t>Dividing by √d_k restores variance 1: soft, trainable attention.</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
        <p:nvSpPr>
          <p:cNvPr id="9" name="Shape 6"/>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0" name="Text 7"/>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The scaling is not cosmetic: without it, large models train poorly. It is the 'scaled' in scaled dot-product attention.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19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Multi-head attention: several views at once</a:t>
            </a:r>
            <a:endParaRPr lang="en-US" sz="3200" dirty="0"/>
          </a:p>
        </p:txBody>
      </p:sp>
      <p:pic>
        <p:nvPicPr>
          <p:cNvPr id="6" name="Image 0" descr="C:\Users\sudee\Downloads\Generative_AI_2027_Teaching_Pack\AI2027_Project\build\figures\week_05\multihead.png">    </p:cNvPr>
          <p:cNvPicPr>
            <a:picLocks noChangeAspect="1"/>
          </p:cNvPicPr>
          <p:nvPr/>
        </p:nvPicPr>
        <p:blipFill>
          <a:blip r:embed="rId1"/>
          <a:stretch>
            <a:fillRect/>
          </a:stretch>
        </p:blipFill>
        <p:spPr>
          <a:xfrm>
            <a:off x="548640" y="1925083"/>
            <a:ext cx="11094415" cy="394052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Multi-head attention, formally</a:t>
            </a:r>
            <a:endParaRPr lang="en-US" sz="3200" dirty="0"/>
          </a:p>
        </p:txBody>
      </p:sp>
      <p:sp>
        <p:nvSpPr>
          <p:cNvPr id="6" name="Shape 4"/>
          <p:cNvSpPr/>
          <p:nvPr/>
        </p:nvSpPr>
        <p:spPr>
          <a:xfrm>
            <a:off x="548640" y="1481328"/>
            <a:ext cx="11094415" cy="2194560"/>
          </a:xfrm>
          <a:prstGeom prst="roundRect">
            <a:avLst>
              <a:gd name="adj" fmla="val 5000"/>
            </a:avLst>
          </a:prstGeom>
          <a:solidFill>
            <a:srgbClr val="EEF0FF"/>
          </a:solidFill>
          <a:ln w="12700">
            <a:solidFill>
              <a:srgbClr val="EEF0FF"/>
            </a:solidFill>
            <a:prstDash val="solid"/>
          </a:ln>
        </p:spPr>
      </p:sp>
      <p:pic>
        <p:nvPicPr>
          <p:cNvPr id="7" name="Image 0" descr="C:\Users\sudee\Downloads\Generative_AI_2027_Teaching_Pack\AI2027_Project\build\eq\ed4709a45c20d88d.png">    </p:cNvPr>
          <p:cNvPicPr>
            <a:picLocks noChangeAspect="1"/>
          </p:cNvPicPr>
          <p:nvPr/>
        </p:nvPicPr>
        <p:blipFill>
          <a:blip r:embed="rId1"/>
          <a:stretch>
            <a:fillRect/>
          </a:stretch>
        </p:blipFill>
        <p:spPr>
          <a:xfrm>
            <a:off x="3445612" y="1937512"/>
            <a:ext cx="5300472" cy="518160"/>
          </a:xfrm>
          <a:prstGeom prst="rect">
            <a:avLst/>
          </a:prstGeom>
        </p:spPr>
      </p:pic>
      <p:pic>
        <p:nvPicPr>
          <p:cNvPr id="8" name="Image 1" descr="C:\Users\sudee\Downloads\Generative_AI_2027_Teaching_Pack\AI2027_Project\build\eq\35114cc7e5132184.png">    </p:cNvPr>
          <p:cNvPicPr>
            <a:picLocks noChangeAspect="1"/>
          </p:cNvPicPr>
          <p:nvPr/>
        </p:nvPicPr>
        <p:blipFill>
          <a:blip r:embed="rId2"/>
          <a:stretch>
            <a:fillRect/>
          </a:stretch>
        </p:blipFill>
        <p:spPr>
          <a:xfrm>
            <a:off x="3294736" y="2866136"/>
            <a:ext cx="5602224" cy="353568"/>
          </a:xfrm>
          <a:prstGeom prst="rect">
            <a:avLst/>
          </a:prstGeom>
        </p:spPr>
      </p:pic>
      <p:sp>
        <p:nvSpPr>
          <p:cNvPr id="9" name="Text 5"/>
          <p:cNvSpPr txBox="1"/>
          <p:nvPr/>
        </p:nvSpPr>
        <p:spPr>
          <a:xfrm>
            <a:off x="548640" y="390448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10" name="Text 6"/>
          <p:cNvSpPr txBox="1"/>
          <p:nvPr/>
        </p:nvSpPr>
        <p:spPr>
          <a:xfrm>
            <a:off x="548640" y="4288536"/>
            <a:ext cx="6035040" cy="1993392"/>
          </a:xfrm>
          <a:prstGeom prst="rect">
            <a:avLst/>
          </a:prstGeom>
          <a:noFill/>
          <a:ln/>
        </p:spPr>
        <p:txBody>
          <a:bodyPr wrap="square" lIns="50800" tIns="50800" rIns="50800" bIns="50800" rtlCol="0" anchor="t"/>
          <a:lstStyle/>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Each head has its own projections of size d × (d/h).</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Heads are computed in parallel as one batched tensor operation (reshape to [batch, heads, n, d/h]).</a:t>
            </a:r>
            <a:endParaRPr lang="en-US" sz="1700" dirty="0"/>
          </a:p>
          <a:p>
            <a:pPr marL="254000" indent="-254000">
              <a:spcAft>
                <a:spcPts val="800"/>
              </a:spcAft>
              <a:buSzPct val="100000"/>
              <a:buChar char="●"/>
            </a:pPr>
            <a:r>
              <a:rPr lang="en-US" sz="1700" dirty="0">
                <a:solidFill>
                  <a:srgbClr val="1F2937"/>
                </a:solidFill>
                <a:latin typeface="Calibri" pitchFamily="34" charset="0"/>
                <a:ea typeface="Calibri" pitchFamily="34" charset="-122"/>
                <a:cs typeface="Calibri" pitchFamily="34" charset="-120"/>
              </a:rPr>
              <a:t>W_O (d × d) mixes the heads back into the model dimension.</a:t>
            </a:r>
            <a:endParaRPr lang="en-US" sz="1700" dirty="0"/>
          </a:p>
        </p:txBody>
      </p:sp>
      <p:sp>
        <p:nvSpPr>
          <p:cNvPr id="11" name="Text 7"/>
          <p:cNvSpPr txBox="1"/>
          <p:nvPr/>
        </p:nvSpPr>
        <p:spPr>
          <a:xfrm>
            <a:off x="6858000" y="390448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2" name="Text 8"/>
          <p:cNvSpPr txBox="1"/>
          <p:nvPr/>
        </p:nvSpPr>
        <p:spPr>
          <a:xfrm>
            <a:off x="6858000" y="4315968"/>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h</a:t>
            </a:r>
            <a:endParaRPr lang="en-US" sz="1800" dirty="0"/>
          </a:p>
        </p:txBody>
      </p:sp>
      <p:sp>
        <p:nvSpPr>
          <p:cNvPr id="13" name="Text 9"/>
          <p:cNvSpPr txBox="1"/>
          <p:nvPr/>
        </p:nvSpPr>
        <p:spPr>
          <a:xfrm>
            <a:off x="8046720" y="4315968"/>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number of heads, e.g. 8–128</a:t>
            </a:r>
            <a:endParaRPr lang="en-US" sz="1700" dirty="0"/>
          </a:p>
        </p:txBody>
      </p:sp>
      <p:sp>
        <p:nvSpPr>
          <p:cNvPr id="14" name="Text 10"/>
          <p:cNvSpPr txBox="1"/>
          <p:nvPr/>
        </p:nvSpPr>
        <p:spPr>
          <a:xfrm>
            <a:off x="6858000" y="4980432"/>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d</a:t>
            </a:r>
            <a:endParaRPr lang="en-US" sz="1800" dirty="0"/>
          </a:p>
        </p:txBody>
      </p:sp>
      <p:sp>
        <p:nvSpPr>
          <p:cNvPr id="15" name="Text 11"/>
          <p:cNvSpPr txBox="1"/>
          <p:nvPr/>
        </p:nvSpPr>
        <p:spPr>
          <a:xfrm>
            <a:off x="8046720" y="4980432"/>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model dimension, e.g. 512–8192</a:t>
            </a:r>
            <a:endParaRPr lang="en-US" sz="1700" dirty="0"/>
          </a:p>
        </p:txBody>
      </p:sp>
      <p:sp>
        <p:nvSpPr>
          <p:cNvPr id="16" name="Text 12"/>
          <p:cNvSpPr txBox="1"/>
          <p:nvPr/>
        </p:nvSpPr>
        <p:spPr>
          <a:xfrm>
            <a:off x="6858000" y="5644896"/>
            <a:ext cx="1143000" cy="664464"/>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W_O</a:t>
            </a:r>
            <a:endParaRPr lang="en-US" sz="1800" dirty="0"/>
          </a:p>
        </p:txBody>
      </p:sp>
      <p:sp>
        <p:nvSpPr>
          <p:cNvPr id="17" name="Text 13"/>
          <p:cNvSpPr txBox="1"/>
          <p:nvPr/>
        </p:nvSpPr>
        <p:spPr>
          <a:xfrm>
            <a:off x="8046720" y="5644896"/>
            <a:ext cx="3596335" cy="664464"/>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output projection</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Causal masking: no peeking at the future</a:t>
            </a:r>
            <a:endParaRPr lang="en-US" sz="3200" dirty="0"/>
          </a:p>
        </p:txBody>
      </p:sp>
      <p:pic>
        <p:nvPicPr>
          <p:cNvPr id="6" name="Image 0" descr="C:\Users\sudee\Downloads\Generative_AI_2027_Teaching_Pack\AI2027_Project\build\figures\week_05\causal_mask.png">    </p:cNvPr>
          <p:cNvPicPr>
            <a:picLocks noChangeAspect="1"/>
          </p:cNvPicPr>
          <p:nvPr/>
        </p:nvPicPr>
        <p:blipFill>
          <a:blip r:embed="rId1"/>
          <a:stretch>
            <a:fillRect/>
          </a:stretch>
        </p:blipFill>
        <p:spPr>
          <a:xfrm>
            <a:off x="2757882" y="1481328"/>
            <a:ext cx="6675931"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Generative (decoder) models must predict token t using only tokens before 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Set scores for future positions to −∞ before the softmax, so their weight is exactly 0.</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One forward pass then trains </a:t>
            </a:r>
            <a:pPr indent="0" marL="0">
              <a:buNone/>
            </a:pPr>
            <a:r>
              <a:rPr lang="en-US" sz="1800" b="1" dirty="0">
                <a:solidFill>
                  <a:srgbClr val="1F2937"/>
                </a:solidFill>
                <a:latin typeface="Calibri" pitchFamily="34" charset="0"/>
                <a:ea typeface="Calibri" pitchFamily="34" charset="-122"/>
                <a:cs typeface="Calibri" pitchFamily="34" charset="-120"/>
              </a:rPr>
              <a:t>every</a:t>
            </a:r>
            <a:pPr indent="0" marL="0">
              <a:buNone/>
            </a:pPr>
            <a:r>
              <a:rPr lang="en-US" sz="1800" dirty="0">
                <a:solidFill>
                  <a:srgbClr val="1F2937"/>
                </a:solidFill>
                <a:latin typeface="Calibri" pitchFamily="34" charset="0"/>
                <a:ea typeface="Calibri" pitchFamily="34" charset="-122"/>
                <a:cs typeface="Calibri" pitchFamily="34" charset="-120"/>
              </a:rPr>
              <a:t> position's next-token prediction at once.</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Self-attention vs. cross-attention</a:t>
            </a:r>
            <a:endParaRPr lang="en-US" sz="3200" dirty="0"/>
          </a:p>
        </p:txBody>
      </p:sp>
      <p:sp>
        <p:nvSpPr>
          <p:cNvPr id="6" name="Shape 4"/>
          <p:cNvSpPr/>
          <p:nvPr/>
        </p:nvSpPr>
        <p:spPr>
          <a:xfrm>
            <a:off x="548640" y="1481328"/>
            <a:ext cx="541004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Self-attention</a:t>
            </a:r>
            <a:endParaRPr lang="en-US" sz="1800" dirty="0"/>
          </a:p>
        </p:txBody>
      </p:sp>
      <p:sp>
        <p:nvSpPr>
          <p:cNvPr id="9" name="Shape 6"/>
          <p:cNvSpPr/>
          <p:nvPr/>
        </p:nvSpPr>
        <p:spPr>
          <a:xfrm>
            <a:off x="548640" y="2167128"/>
            <a:ext cx="5410048" cy="3182112"/>
          </a:xfrm>
          <a:prstGeom prst="roundRect">
            <a:avLst>
              <a:gd name="adj" fmla="val 2874"/>
            </a:avLst>
          </a:prstGeom>
          <a:solidFill>
            <a:srgbClr val="EEF0FF"/>
          </a:solidFill>
          <a:ln w="12700">
            <a:solidFill>
              <a:srgbClr val="EEF0FF"/>
            </a:solidFill>
            <a:prstDash val="solid"/>
          </a:ln>
        </p:spPr>
      </p:sp>
      <p:sp>
        <p:nvSpPr>
          <p:cNvPr id="10" name="Text 7"/>
          <p:cNvSpPr txBox="1"/>
          <p:nvPr/>
        </p:nvSpPr>
        <p:spPr>
          <a:xfrm>
            <a:off x="658368"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 K and V all come from the </a:t>
            </a:r>
            <a:pPr indent="0" marL="0">
              <a:buNone/>
            </a:pPr>
            <a:r>
              <a:rPr lang="en-US" sz="2000" b="1" dirty="0">
                <a:solidFill>
                  <a:srgbClr val="1F2937"/>
                </a:solidFill>
                <a:latin typeface="Calibri" pitchFamily="34" charset="0"/>
                <a:ea typeface="Calibri" pitchFamily="34" charset="-122"/>
                <a:cs typeface="Calibri" pitchFamily="34" charset="-120"/>
              </a:rPr>
              <a:t>same</a:t>
            </a:r>
            <a:pPr indent="0" marL="0">
              <a:buNone/>
            </a:pPr>
            <a:r>
              <a:rPr lang="en-US" sz="2000" dirty="0">
                <a:solidFill>
                  <a:srgbClr val="1F2937"/>
                </a:solidFill>
                <a:latin typeface="Calibri" pitchFamily="34" charset="0"/>
                <a:ea typeface="Calibri" pitchFamily="34" charset="-122"/>
                <a:cs typeface="Calibri" pitchFamily="34" charset="-120"/>
              </a:rPr>
              <a:t> sequence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Tokens exchange information with each other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Used in every encoder and decoder layer</a:t>
            </a:r>
            <a:endParaRPr lang="en-US" sz="2000" dirty="0"/>
          </a:p>
        </p:txBody>
      </p:sp>
      <p:sp>
        <p:nvSpPr>
          <p:cNvPr id="11" name="Shape 8"/>
          <p:cNvSpPr/>
          <p:nvPr/>
        </p:nvSpPr>
        <p:spPr>
          <a:xfrm>
            <a:off x="6233008" y="1481328"/>
            <a:ext cx="541004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6397600" y="1591056"/>
            <a:ext cx="347472" cy="347472"/>
          </a:xfrm>
          <a:prstGeom prst="rect">
            <a:avLst/>
          </a:prstGeom>
        </p:spPr>
      </p:pic>
      <p:sp>
        <p:nvSpPr>
          <p:cNvPr id="13" name="Text 9"/>
          <p:cNvSpPr txBox="1"/>
          <p:nvPr/>
        </p:nvSpPr>
        <p:spPr>
          <a:xfrm>
            <a:off x="6827368" y="1481328"/>
            <a:ext cx="467852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Cross-attention</a:t>
            </a:r>
            <a:endParaRPr lang="en-US" sz="1800" dirty="0"/>
          </a:p>
        </p:txBody>
      </p:sp>
      <p:sp>
        <p:nvSpPr>
          <p:cNvPr id="14" name="Shape 10"/>
          <p:cNvSpPr/>
          <p:nvPr/>
        </p:nvSpPr>
        <p:spPr>
          <a:xfrm>
            <a:off x="6233008" y="2167128"/>
            <a:ext cx="5410048" cy="3182112"/>
          </a:xfrm>
          <a:prstGeom prst="roundRect">
            <a:avLst>
              <a:gd name="adj" fmla="val 2874"/>
            </a:avLst>
          </a:prstGeom>
          <a:solidFill>
            <a:srgbClr val="E6F4F1"/>
          </a:solidFill>
          <a:ln w="12700">
            <a:solidFill>
              <a:srgbClr val="E6F4F1"/>
            </a:solidFill>
            <a:prstDash val="solid"/>
          </a:ln>
        </p:spPr>
      </p:sp>
      <p:sp>
        <p:nvSpPr>
          <p:cNvPr id="15" name="Text 11"/>
          <p:cNvSpPr txBox="1"/>
          <p:nvPr/>
        </p:nvSpPr>
        <p:spPr>
          <a:xfrm>
            <a:off x="6342736" y="2258568"/>
            <a:ext cx="5190592" cy="304495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Q from one sequence; K and V from </a:t>
            </a:r>
            <a:pPr indent="0" marL="0">
              <a:buNone/>
            </a:pPr>
            <a:r>
              <a:rPr lang="en-US" sz="2000" b="1" dirty="0">
                <a:solidFill>
                  <a:srgbClr val="1F2937"/>
                </a:solidFill>
                <a:latin typeface="Calibri" pitchFamily="34" charset="0"/>
                <a:ea typeface="Calibri" pitchFamily="34" charset="-122"/>
                <a:cs typeface="Calibri" pitchFamily="34" charset="-120"/>
              </a:rPr>
              <a:t>another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Translation: decoder words attend to the source sentence</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Stable Diffusion: image latents attend to prompt tokens (week 4)</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Multimodal models: text attends to image features (weeks 9–10)</a:t>
            </a:r>
            <a:endParaRPr lang="en-US" sz="2000" dirty="0"/>
          </a:p>
        </p:txBody>
      </p:sp>
      <p:sp>
        <p:nvSpPr>
          <p:cNvPr id="16" name="Shape 12"/>
          <p:cNvSpPr/>
          <p:nvPr/>
        </p:nvSpPr>
        <p:spPr>
          <a:xfrm>
            <a:off x="548640" y="5486400"/>
            <a:ext cx="11094415" cy="822960"/>
          </a:xfrm>
          <a:prstGeom prst="roundRect">
            <a:avLst>
              <a:gd name="adj" fmla="val 13333"/>
            </a:avLst>
          </a:prstGeom>
          <a:solidFill>
            <a:srgbClr val="FFF1E6"/>
          </a:solidFill>
          <a:ln w="12700">
            <a:solidFill>
              <a:srgbClr val="FFF1E6"/>
            </a:solidFill>
            <a:prstDash val="solid"/>
          </a:ln>
        </p:spPr>
      </p:sp>
      <p:sp>
        <p:nvSpPr>
          <p:cNvPr id="17" name="Text 13"/>
          <p:cNvSpPr txBox="1"/>
          <p:nvPr/>
        </p:nvSpPr>
        <p:spPr>
          <a:xfrm>
            <a:off x="777240" y="5486400"/>
            <a:ext cx="10637215" cy="822960"/>
          </a:xfrm>
          <a:prstGeom prst="rect">
            <a:avLst/>
          </a:prstGeom>
          <a:noFill/>
          <a:ln/>
        </p:spPr>
        <p:txBody>
          <a:bodyPr wrap="square" lIns="50800" tIns="50800" rIns="50800" bIns="50800" rtlCol="0" anchor="ctr"/>
          <a:lstStyle/>
          <a:p>
            <a:pPr indent="0" marL="0">
              <a:buNone/>
            </a:pPr>
            <a:r>
              <a:rPr lang="en-US" sz="1800" b="1" dirty="0">
                <a:solidFill>
                  <a:srgbClr val="EA580C"/>
                </a:solidFill>
                <a:latin typeface="Calibri" pitchFamily="34" charset="0"/>
                <a:ea typeface="Calibri" pitchFamily="34" charset="-122"/>
                <a:cs typeface="Calibri" pitchFamily="34" charset="-120"/>
              </a:rPr>
              <a:t>Key idea:  </a:t>
            </a:r>
            <a:pPr indent="0" marL="0">
              <a:buNone/>
            </a:pPr>
            <a:r>
              <a:rPr lang="en-US" sz="1800" dirty="0">
                <a:solidFill>
                  <a:srgbClr val="1F2937"/>
                </a:solidFill>
                <a:latin typeface="Calibri" pitchFamily="34" charset="0"/>
                <a:ea typeface="Calibri" pitchFamily="34" charset="-122"/>
                <a:cs typeface="Calibri" pitchFamily="34" charset="-120"/>
              </a:rPr>
              <a:t>Cross-attention is the standard way to condition one modality on another.</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real attention head: BERT resolving 'it'</a:t>
            </a:r>
            <a:endParaRPr lang="en-US" sz="3200" dirty="0"/>
          </a:p>
        </p:txBody>
      </p:sp>
      <p:pic>
        <p:nvPicPr>
          <p:cNvPr id="6" name="Image 0" descr="C:\Users\sudee\Downloads\Generative_AI_2027_Teaching_Pack\AI2027_Project\build\figures\week_05\bert_attention.png">    </p:cNvPr>
          <p:cNvPicPr>
            <a:picLocks noChangeAspect="1"/>
          </p:cNvPicPr>
          <p:nvPr/>
        </p:nvPicPr>
        <p:blipFill>
          <a:blip r:embed="rId1"/>
          <a:stretch>
            <a:fillRect/>
          </a:stretch>
        </p:blipFill>
        <p:spPr>
          <a:xfrm>
            <a:off x="1699972" y="1481328"/>
            <a:ext cx="8791751" cy="4416552"/>
          </a:xfrm>
          <a:prstGeom prst="rect">
            <a:avLst/>
          </a:prstGeom>
        </p:spPr>
      </p:pic>
      <p:sp>
        <p:nvSpPr>
          <p:cNvPr id="7" name="Text 4"/>
          <p:cNvSpPr txBox="1"/>
          <p:nvPr/>
        </p:nvSpPr>
        <p:spPr>
          <a:xfrm>
            <a:off x="548640" y="5916168"/>
            <a:ext cx="11094415" cy="384048"/>
          </a:xfrm>
          <a:prstGeom prst="rect">
            <a:avLst/>
          </a:prstGeom>
          <a:noFill/>
          <a:ln/>
        </p:spPr>
        <p:txBody>
          <a:bodyPr wrap="square" lIns="50800" tIns="50800" rIns="50800" bIns="50800" rtlCol="0" anchor="t"/>
          <a:lstStyle/>
          <a:p>
            <a:pPr algn="ctr" indent="0" marL="0">
              <a:buNone/>
            </a:pPr>
            <a:r>
              <a:rPr lang="en-US" sz="1200" i="1" dirty="0">
                <a:solidFill>
                  <a:srgbClr val="6B7280"/>
                </a:solidFill>
                <a:latin typeface="Calibri" pitchFamily="34" charset="0"/>
                <a:ea typeface="Calibri" pitchFamily="34" charset="-122"/>
                <a:cs typeface="Calibri" pitchFamily="34" charset="-120"/>
              </a:rPr>
              <a:t>Pretrained BERT-base on the warm-up sentence. The head shown is the one (layers 5–10) where 'it' attends most strongly to 'animal'.</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Real GPT-2 heads: causal patterns</a:t>
            </a:r>
            <a:endParaRPr lang="en-US" sz="3200" dirty="0"/>
          </a:p>
        </p:txBody>
      </p:sp>
      <p:pic>
        <p:nvPicPr>
          <p:cNvPr id="6" name="Image 0" descr="C:\Users\sudee\Downloads\Generative_AI_2027_Teaching_Pack\AI2027_Project\build\figures\week_05\gpt2_attention.png">    </p:cNvPr>
          <p:cNvPicPr>
            <a:picLocks noChangeAspect="1"/>
          </p:cNvPicPr>
          <p:nvPr/>
        </p:nvPicPr>
        <p:blipFill>
          <a:blip r:embed="rId1"/>
          <a:stretch>
            <a:fillRect/>
          </a:stretch>
        </p:blipFill>
        <p:spPr>
          <a:xfrm>
            <a:off x="2249595" y="1481328"/>
            <a:ext cx="7692506" cy="2795778"/>
          </a:xfrm>
          <a:prstGeom prst="rect">
            <a:avLst/>
          </a:prstGeom>
        </p:spPr>
      </p:pic>
      <p:sp>
        <p:nvSpPr>
          <p:cNvPr id="7" name="Text 4"/>
          <p:cNvSpPr txBox="1"/>
          <p:nvPr/>
        </p:nvSpPr>
        <p:spPr>
          <a:xfrm>
            <a:off x="548640" y="4459986"/>
            <a:ext cx="11094415" cy="18493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All weights lie on or below the diagonal: the causal mask at work.</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Common patterns: attend to the previous token, to the first token (an 'attention sink'), or to related earlier words.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Caution:</a:t>
            </a:r>
            <a:pPr indent="0" marL="0">
              <a:buNone/>
            </a:pPr>
            <a:r>
              <a:rPr lang="en-US" sz="1800" dirty="0">
                <a:solidFill>
                  <a:srgbClr val="1F2937"/>
                </a:solidFill>
                <a:latin typeface="Calibri" pitchFamily="34" charset="0"/>
                <a:ea typeface="Calibri" pitchFamily="34" charset="-122"/>
                <a:cs typeface="Calibri" pitchFamily="34" charset="-120"/>
              </a:rPr>
              <a:t> attention weights show where information flows, not </a:t>
            </a:r>
            <a:pPr indent="0" marL="0">
              <a:buNone/>
            </a:pPr>
            <a:r>
              <a:rPr lang="en-US" sz="1800" b="1" dirty="0">
                <a:solidFill>
                  <a:srgbClr val="1F2937"/>
                </a:solidFill>
                <a:latin typeface="Calibri" pitchFamily="34" charset="0"/>
                <a:ea typeface="Calibri" pitchFamily="34" charset="-122"/>
                <a:cs typeface="Calibri" pitchFamily="34" charset="-120"/>
              </a:rPr>
              <a:t>why</a:t>
            </a:r>
            <a:pPr indent="0" marL="0">
              <a:buNone/>
            </a:pPr>
            <a:r>
              <a:rPr lang="en-US" sz="1800" dirty="0">
                <a:solidFill>
                  <a:srgbClr val="1F2937"/>
                </a:solidFill>
                <a:latin typeface="Calibri" pitchFamily="34" charset="0"/>
                <a:ea typeface="Calibri" pitchFamily="34" charset="-122"/>
                <a:cs typeface="Calibri" pitchFamily="34" charset="-120"/>
              </a:rPr>
              <a:t> the model decided something. Attention is not a complete explanation.</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400" b="1" dirty="0">
                <a:solidFill>
                  <a:srgbClr val="1E1B4B"/>
                </a:solidFill>
                <a:latin typeface="Calibri" pitchFamily="34" charset="0"/>
                <a:ea typeface="Calibri" pitchFamily="34" charset="-122"/>
                <a:cs typeface="Calibri" pitchFamily="34" charset="-120"/>
              </a:rPr>
              <a:t>For one query, the scaled scores against three keys are [2, 0, 0]. What are the attention weights (to two decimals)?</a:t>
            </a:r>
            <a:endParaRPr lang="en-US" sz="24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[1.00, 0.00, 0.00]</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[0.79, 0.11, 0.11]</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[0.50, 0.25, 0.25]</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[0.67, 0.17, 0.17]</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04</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The transformer architecture</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are attention layers assembled into a model?</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Inside one transformer block</a:t>
            </a:r>
            <a:endParaRPr lang="en-US" sz="3200" dirty="0"/>
          </a:p>
        </p:txBody>
      </p:sp>
      <p:pic>
        <p:nvPicPr>
          <p:cNvPr id="6" name="Image 0" descr="C:\Users\sudee\Downloads\Generative_AI_2027_Teaching_Pack\AI2027_Project\build\figures\week_05\block.png">    </p:cNvPr>
          <p:cNvPicPr>
            <a:picLocks noChangeAspect="1"/>
          </p:cNvPicPr>
          <p:nvPr/>
        </p:nvPicPr>
        <p:blipFill>
          <a:blip r:embed="rId1"/>
          <a:stretch>
            <a:fillRect/>
          </a:stretch>
        </p:blipFill>
        <p:spPr>
          <a:xfrm>
            <a:off x="548640" y="1620296"/>
            <a:ext cx="4206240" cy="4550096"/>
          </a:xfrm>
          <a:prstGeom prst="rect">
            <a:avLst/>
          </a:prstGeom>
        </p:spPr>
      </p:pic>
      <p:sp>
        <p:nvSpPr>
          <p:cNvPr id="7" name="Text 4"/>
          <p:cNvSpPr txBox="1"/>
          <p:nvPr/>
        </p:nvSpPr>
        <p:spPr>
          <a:xfrm>
            <a:off x="5029200" y="1481328"/>
            <a:ext cx="66138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Attention</a:t>
            </a:r>
            <a:pPr indent="0" marL="0">
              <a:buNone/>
            </a:pPr>
            <a:r>
              <a:rPr lang="en-US" sz="2000" dirty="0">
                <a:solidFill>
                  <a:srgbClr val="1F2937"/>
                </a:solidFill>
                <a:latin typeface="Calibri" pitchFamily="34" charset="0"/>
                <a:ea typeface="Calibri" pitchFamily="34" charset="-122"/>
                <a:cs typeface="Calibri" pitchFamily="34" charset="-120"/>
              </a:rPr>
              <a:t> lets tokens exchange information; the </a:t>
            </a:r>
            <a:pPr indent="0" marL="0">
              <a:buNone/>
            </a:pPr>
            <a:r>
              <a:rPr lang="en-US" sz="2000" b="1" dirty="0">
                <a:solidFill>
                  <a:srgbClr val="1F2937"/>
                </a:solidFill>
                <a:latin typeface="Calibri" pitchFamily="34" charset="0"/>
                <a:ea typeface="Calibri" pitchFamily="34" charset="-122"/>
                <a:cs typeface="Calibri" pitchFamily="34" charset="-120"/>
              </a:rPr>
              <a:t>feed-forward MLP</a:t>
            </a:r>
            <a:pPr indent="0" marL="0">
              <a:buNone/>
            </a:pPr>
            <a:r>
              <a:rPr lang="en-US" sz="2000" dirty="0">
                <a:solidFill>
                  <a:srgbClr val="1F2937"/>
                </a:solidFill>
                <a:latin typeface="Calibri" pitchFamily="34" charset="0"/>
                <a:ea typeface="Calibri" pitchFamily="34" charset="-122"/>
                <a:cs typeface="Calibri" pitchFamily="34" charset="-120"/>
              </a:rPr>
              <a:t> (applied to each token separately) processes it and stores much of the model's knowledge.</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Residual connections</a:t>
            </a:r>
            <a:pPr indent="0" marL="0">
              <a:buNone/>
            </a:pPr>
            <a:r>
              <a:rPr lang="en-US" sz="2000" dirty="0">
                <a:solidFill>
                  <a:srgbClr val="1F2937"/>
                </a:solidFill>
                <a:latin typeface="Calibri" pitchFamily="34" charset="0"/>
                <a:ea typeface="Calibri" pitchFamily="34" charset="-122"/>
                <a:cs typeface="Calibri" pitchFamily="34" charset="-120"/>
              </a:rPr>
              <a:t> add each sublayer's output to its input: gradients flow through very deep stacks.</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Layer normalisation</a:t>
            </a:r>
            <a:pPr indent="0" marL="0">
              <a:buNone/>
            </a:pPr>
            <a:r>
              <a:rPr lang="en-US" sz="2000" dirty="0">
                <a:solidFill>
                  <a:srgbClr val="1F2937"/>
                </a:solidFill>
                <a:latin typeface="Calibri" pitchFamily="34" charset="0"/>
                <a:ea typeface="Calibri" pitchFamily="34" charset="-122"/>
                <a:cs typeface="Calibri" pitchFamily="34" charset="-120"/>
              </a:rPr>
              <a:t> keeps activations well scaled; modern models normalise </a:t>
            </a:r>
            <a:pPr indent="0" marL="0">
              <a:buNone/>
            </a:pPr>
            <a:r>
              <a:rPr lang="en-US" sz="2000" b="1" dirty="0">
                <a:solidFill>
                  <a:srgbClr val="1F2937"/>
                </a:solidFill>
                <a:latin typeface="Calibri" pitchFamily="34" charset="0"/>
                <a:ea typeface="Calibri" pitchFamily="34" charset="-122"/>
                <a:cs typeface="Calibri" pitchFamily="34" charset="-120"/>
              </a:rPr>
              <a:t>before</a:t>
            </a:r>
            <a:pPr indent="0" marL="0">
              <a:buNone/>
            </a:pPr>
            <a:r>
              <a:rPr lang="en-US" sz="2000" dirty="0">
                <a:solidFill>
                  <a:srgbClr val="1F2937"/>
                </a:solidFill>
                <a:latin typeface="Calibri" pitchFamily="34" charset="0"/>
                <a:ea typeface="Calibri" pitchFamily="34" charset="-122"/>
                <a:cs typeface="Calibri" pitchFamily="34" charset="-120"/>
              </a:rPr>
              <a:t> each sublayer (pre-norm), often with RMSNorm.</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Stack N identical blocks (12 in BERT-base, 32 in an 8B-parameter LLM, 96 in GPT-3).</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Three families of transformers</a:t>
            </a:r>
            <a:endParaRPr lang="en-US" sz="3200" dirty="0"/>
          </a:p>
        </p:txBody>
      </p:sp>
      <p:pic>
        <p:nvPicPr>
          <p:cNvPr id="6" name="Image 0" descr="C:\Users\sudee\Downloads\Generative_AI_2027_Teaching_Pack\AI2027_Project\build\figures\week_05\three_archs.png">    </p:cNvPr>
          <p:cNvPicPr>
            <a:picLocks noChangeAspect="1"/>
          </p:cNvPicPr>
          <p:nvPr/>
        </p:nvPicPr>
        <p:blipFill>
          <a:blip r:embed="rId1"/>
          <a:stretch>
            <a:fillRect/>
          </a:stretch>
        </p:blipFill>
        <p:spPr>
          <a:xfrm>
            <a:off x="1378909" y="1481328"/>
            <a:ext cx="9433878"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Encoder-only</a:t>
            </a:r>
            <a:pPr indent="0" marL="0">
              <a:buNone/>
            </a:pPr>
            <a:r>
              <a:rPr lang="en-US" sz="1800" dirty="0">
                <a:solidFill>
                  <a:srgbClr val="1F2937"/>
                </a:solidFill>
                <a:latin typeface="Calibri" pitchFamily="34" charset="0"/>
                <a:ea typeface="Calibri" pitchFamily="34" charset="-122"/>
                <a:cs typeface="Calibri" pitchFamily="34" charset="-120"/>
              </a:rPr>
              <a:t>: bidirectional attention; best for understanding tasks and embeddings.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Decoder-only</a:t>
            </a:r>
            <a:pPr indent="0" marL="0">
              <a:buNone/>
            </a:pPr>
            <a:r>
              <a:rPr lang="en-US" sz="1800" dirty="0">
                <a:solidFill>
                  <a:srgbClr val="1F2937"/>
                </a:solidFill>
                <a:latin typeface="Calibri" pitchFamily="34" charset="0"/>
                <a:ea typeface="Calibri" pitchFamily="34" charset="-122"/>
                <a:cs typeface="Calibri" pitchFamily="34" charset="-120"/>
              </a:rPr>
              <a:t>: causal attention; generates text; the design of almost all current LLMs.</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Encoder–decoder</a:t>
            </a:r>
            <a:pPr indent="0" marL="0">
              <a:buNone/>
            </a:pPr>
            <a:r>
              <a:rPr lang="en-US" sz="1800" dirty="0">
                <a:solidFill>
                  <a:srgbClr val="1F2937"/>
                </a:solidFill>
                <a:latin typeface="Calibri" pitchFamily="34" charset="0"/>
                <a:ea typeface="Calibri" pitchFamily="34" charset="-122"/>
                <a:cs typeface="Calibri" pitchFamily="34" charset="-120"/>
              </a:rPr>
              <a:t>: encoder reads the input, decoder generates with cross-attention; translation, summarisation, speech recognition.</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29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How big are real transformers?</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11094415" cy="914400"/>
        </p:xfrm>
        <a:graphic>
          <a:graphicData uri="http://schemas.openxmlformats.org/drawingml/2006/table">
            <a:tbl>
              <a:tblPr/>
              <a:tblGrid>
                <a:gridCol w="2809485"/>
                <a:gridCol w="1224280"/>
                <a:gridCol w="1082304"/>
                <a:gridCol w="1224280"/>
                <a:gridCol w="1153961"/>
                <a:gridCol w="1651000"/>
                <a:gridCol w="1949106"/>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Model (year)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Type</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Layers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d_model</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Heads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Parameters</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Context</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1B4B"/>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Transformer base (2017)</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Enc–dec</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6 + 6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512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65 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~512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BERT-base (2018)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Encoder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768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110 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512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GPT-2 small (2019)</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768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124 M</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1,024</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GPT-3 (2020)</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96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12,288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96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175 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2,048</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1F2937"/>
                          </a:solidFill>
                          <a:latin typeface="Calibri" pitchFamily="34" charset="0"/>
                          <a:ea typeface="Calibri" pitchFamily="34" charset="-122"/>
                          <a:cs typeface="Calibri" pitchFamily="34" charset="-120"/>
                        </a:rPr>
                        <a:t>Llama 3 8B (2024)</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Decoder</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32</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4,096</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32 (8 KV)</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8 B</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c>
                  <a:txBody>
                    <a:bodyPr/>
                    <a:lstStyle/>
                    <a:p>
                      <a:pPr indent="0" marL="0">
                        <a:buNone/>
                      </a:pPr>
                      <a:r>
                        <a:rPr lang="en-US" sz="2000" dirty="0">
                          <a:solidFill>
                            <a:srgbClr val="1F2937"/>
                          </a:solidFill>
                          <a:latin typeface="Calibri" pitchFamily="34" charset="0"/>
                          <a:ea typeface="Calibri" pitchFamily="34" charset="-122"/>
                          <a:cs typeface="Calibri" pitchFamily="34" charset="-120"/>
                        </a:rPr>
                        <a:t>8K (128K in 3.1)</a:t>
                      </a:r>
                      <a:endParaRPr lang="en-US" sz="20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EEF0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Quick check</a:t>
            </a:r>
            <a:endParaRPr lang="en-US" sz="3200" dirty="0"/>
          </a:p>
        </p:txBody>
      </p:sp>
      <p:sp>
        <p:nvSpPr>
          <p:cNvPr id="6" name="Shape 4"/>
          <p:cNvSpPr/>
          <p:nvPr/>
        </p:nvSpPr>
        <p:spPr>
          <a:xfrm>
            <a:off x="548640" y="1527048"/>
            <a:ext cx="640080" cy="640080"/>
          </a:xfrm>
          <a:prstGeom prst="ellipse">
            <a:avLst/>
          </a:prstGeom>
          <a:solidFill>
            <a:srgbClr val="EA580C"/>
          </a:solidFill>
          <a:ln w="12700">
            <a:solidFill>
              <a:srgbClr val="EA580C"/>
            </a:solidFill>
            <a:prstDash val="solid"/>
          </a:ln>
        </p:spPr>
      </p:sp>
      <p:pic>
        <p:nvPicPr>
          <p:cNvPr id="7" name="Image 0" descr="preencoded.png">    </p:cNvPr>
          <p:cNvPicPr>
            <a:picLocks noChangeAspect="1"/>
          </p:cNvPicPr>
          <p:nvPr/>
        </p:nvPicPr>
        <p:blipFill>
          <a:blip r:embed="rId1"/>
          <a:stretch>
            <a:fillRect/>
          </a:stretch>
        </p:blipFill>
        <p:spPr>
          <a:xfrm>
            <a:off x="702259" y="1680667"/>
            <a:ext cx="332842" cy="332842"/>
          </a:xfrm>
          <a:prstGeom prst="rect">
            <a:avLst/>
          </a:prstGeom>
        </p:spPr>
      </p:pic>
      <p:sp>
        <p:nvSpPr>
          <p:cNvPr id="8" name="Text 5"/>
          <p:cNvSpPr txBox="1"/>
          <p:nvPr/>
        </p:nvSpPr>
        <p:spPr>
          <a:xfrm>
            <a:off x="1417320" y="1481328"/>
            <a:ext cx="10225735" cy="1097280"/>
          </a:xfrm>
          <a:prstGeom prst="rect">
            <a:avLst/>
          </a:prstGeom>
          <a:noFill/>
          <a:ln/>
        </p:spPr>
        <p:txBody>
          <a:bodyPr wrap="square" lIns="50800" tIns="50800" rIns="50800" bIns="50800" rtlCol="0" anchor="ctr"/>
          <a:lstStyle/>
          <a:p>
            <a:pPr indent="0" marL="0">
              <a:buNone/>
            </a:pPr>
            <a:r>
              <a:rPr lang="en-US" sz="2300" b="1" dirty="0">
                <a:solidFill>
                  <a:srgbClr val="1E1B4B"/>
                </a:solidFill>
                <a:latin typeface="Calibri" pitchFamily="34" charset="0"/>
                <a:ea typeface="Calibri" pitchFamily="34" charset="-122"/>
                <a:cs typeface="Calibri" pitchFamily="34" charset="-120"/>
              </a:rPr>
              <a:t>You need (a) vectors for semantic search over course documents and (b) a chatbot that writes answers. Which architectures fit best?</a:t>
            </a:r>
            <a:endParaRPr lang="en-US" sz="2300" dirty="0"/>
          </a:p>
        </p:txBody>
      </p:sp>
      <p:sp>
        <p:nvSpPr>
          <p:cNvPr id="9" name="Shape 6"/>
          <p:cNvSpPr/>
          <p:nvPr/>
        </p:nvSpPr>
        <p:spPr>
          <a:xfrm>
            <a:off x="548640" y="2807208"/>
            <a:ext cx="5410048" cy="1325880"/>
          </a:xfrm>
          <a:prstGeom prst="roundRect">
            <a:avLst>
              <a:gd name="adj" fmla="val 6897"/>
            </a:avLst>
          </a:prstGeom>
          <a:solidFill>
            <a:srgbClr val="EEF0FF"/>
          </a:solidFill>
          <a:ln w="12700">
            <a:solidFill>
              <a:srgbClr val="EEF0FF"/>
            </a:solidFill>
            <a:prstDash val="solid"/>
          </a:ln>
        </p:spPr>
      </p:sp>
      <p:sp>
        <p:nvSpPr>
          <p:cNvPr id="10" name="Shape 7"/>
          <p:cNvSpPr/>
          <p:nvPr/>
        </p:nvSpPr>
        <p:spPr>
          <a:xfrm>
            <a:off x="713232" y="3241548"/>
            <a:ext cx="457200" cy="457200"/>
          </a:xfrm>
          <a:prstGeom prst="ellipse">
            <a:avLst/>
          </a:prstGeom>
          <a:solidFill>
            <a:srgbClr val="4F46E5"/>
          </a:solidFill>
          <a:ln w="12700">
            <a:solidFill>
              <a:srgbClr val="4F46E5"/>
            </a:solidFill>
            <a:prstDash val="solid"/>
          </a:ln>
        </p:spPr>
      </p:sp>
      <p:sp>
        <p:nvSpPr>
          <p:cNvPr id="11" name="Text 8"/>
          <p:cNvSpPr txBox="1"/>
          <p:nvPr/>
        </p:nvSpPr>
        <p:spPr>
          <a:xfrm>
            <a:off x="713232"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p>
        </p:txBody>
      </p:sp>
      <p:sp>
        <p:nvSpPr>
          <p:cNvPr id="12" name="Text 9"/>
          <p:cNvSpPr txBox="1"/>
          <p:nvPr/>
        </p:nvSpPr>
        <p:spPr>
          <a:xfrm>
            <a:off x="1325880"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 decoder-only, (b) encoder-only</a:t>
            </a:r>
            <a:endParaRPr lang="en-US" sz="1800" dirty="0"/>
          </a:p>
        </p:txBody>
      </p:sp>
      <p:sp>
        <p:nvSpPr>
          <p:cNvPr id="13" name="Shape 10"/>
          <p:cNvSpPr/>
          <p:nvPr/>
        </p:nvSpPr>
        <p:spPr>
          <a:xfrm>
            <a:off x="6233008" y="2807208"/>
            <a:ext cx="5410048" cy="1325880"/>
          </a:xfrm>
          <a:prstGeom prst="roundRect">
            <a:avLst>
              <a:gd name="adj" fmla="val 6897"/>
            </a:avLst>
          </a:prstGeom>
          <a:solidFill>
            <a:srgbClr val="EEF0FF"/>
          </a:solidFill>
          <a:ln w="12700">
            <a:solidFill>
              <a:srgbClr val="EEF0FF"/>
            </a:solidFill>
            <a:prstDash val="solid"/>
          </a:ln>
        </p:spPr>
      </p:sp>
      <p:sp>
        <p:nvSpPr>
          <p:cNvPr id="14" name="Shape 11"/>
          <p:cNvSpPr/>
          <p:nvPr/>
        </p:nvSpPr>
        <p:spPr>
          <a:xfrm>
            <a:off x="6397600" y="3241548"/>
            <a:ext cx="457200" cy="457200"/>
          </a:xfrm>
          <a:prstGeom prst="ellipse">
            <a:avLst/>
          </a:prstGeom>
          <a:solidFill>
            <a:srgbClr val="4F46E5"/>
          </a:solidFill>
          <a:ln w="12700">
            <a:solidFill>
              <a:srgbClr val="4F46E5"/>
            </a:solidFill>
            <a:prstDash val="solid"/>
          </a:ln>
        </p:spPr>
      </p:sp>
      <p:sp>
        <p:nvSpPr>
          <p:cNvPr id="15" name="Text 12"/>
          <p:cNvSpPr txBox="1"/>
          <p:nvPr/>
        </p:nvSpPr>
        <p:spPr>
          <a:xfrm>
            <a:off x="6397600" y="32415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p>
        </p:txBody>
      </p:sp>
      <p:sp>
        <p:nvSpPr>
          <p:cNvPr id="16" name="Text 13"/>
          <p:cNvSpPr txBox="1"/>
          <p:nvPr/>
        </p:nvSpPr>
        <p:spPr>
          <a:xfrm>
            <a:off x="7010248" y="28072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(a) encoder-only (embedding model), (b) decoder-only LLM</a:t>
            </a:r>
            <a:endParaRPr lang="en-US" sz="1800" dirty="0"/>
          </a:p>
        </p:txBody>
      </p:sp>
      <p:sp>
        <p:nvSpPr>
          <p:cNvPr id="17" name="Shape 14"/>
          <p:cNvSpPr/>
          <p:nvPr/>
        </p:nvSpPr>
        <p:spPr>
          <a:xfrm>
            <a:off x="548640" y="4407408"/>
            <a:ext cx="5410048" cy="1325880"/>
          </a:xfrm>
          <a:prstGeom prst="roundRect">
            <a:avLst>
              <a:gd name="adj" fmla="val 6897"/>
            </a:avLst>
          </a:prstGeom>
          <a:solidFill>
            <a:srgbClr val="EEF0FF"/>
          </a:solidFill>
          <a:ln w="12700">
            <a:solidFill>
              <a:srgbClr val="EEF0FF"/>
            </a:solidFill>
            <a:prstDash val="solid"/>
          </a:ln>
        </p:spPr>
      </p:sp>
      <p:sp>
        <p:nvSpPr>
          <p:cNvPr id="18" name="Shape 15"/>
          <p:cNvSpPr/>
          <p:nvPr/>
        </p:nvSpPr>
        <p:spPr>
          <a:xfrm>
            <a:off x="713232" y="4841748"/>
            <a:ext cx="457200" cy="457200"/>
          </a:xfrm>
          <a:prstGeom prst="ellipse">
            <a:avLst/>
          </a:prstGeom>
          <a:solidFill>
            <a:srgbClr val="4F46E5"/>
          </a:solidFill>
          <a:ln w="12700">
            <a:solidFill>
              <a:srgbClr val="4F46E5"/>
            </a:solidFill>
            <a:prstDash val="solid"/>
          </a:ln>
        </p:spPr>
      </p:sp>
      <p:sp>
        <p:nvSpPr>
          <p:cNvPr id="19" name="Text 16"/>
          <p:cNvSpPr txBox="1"/>
          <p:nvPr/>
        </p:nvSpPr>
        <p:spPr>
          <a:xfrm>
            <a:off x="713232"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a:t>
            </a:r>
            <a:endParaRPr lang="en-US" sz="1500" dirty="0"/>
          </a:p>
        </p:txBody>
      </p:sp>
      <p:sp>
        <p:nvSpPr>
          <p:cNvPr id="20" name="Text 17"/>
          <p:cNvSpPr txBox="1"/>
          <p:nvPr/>
        </p:nvSpPr>
        <p:spPr>
          <a:xfrm>
            <a:off x="1325880"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Both encoder-only, because BERT can chat</a:t>
            </a:r>
            <a:endParaRPr lang="en-US" sz="1800" dirty="0"/>
          </a:p>
        </p:txBody>
      </p:sp>
      <p:sp>
        <p:nvSpPr>
          <p:cNvPr id="21" name="Shape 18"/>
          <p:cNvSpPr/>
          <p:nvPr/>
        </p:nvSpPr>
        <p:spPr>
          <a:xfrm>
            <a:off x="6233008" y="4407408"/>
            <a:ext cx="5410048" cy="1325880"/>
          </a:xfrm>
          <a:prstGeom prst="roundRect">
            <a:avLst>
              <a:gd name="adj" fmla="val 6897"/>
            </a:avLst>
          </a:prstGeom>
          <a:solidFill>
            <a:srgbClr val="EEF0FF"/>
          </a:solidFill>
          <a:ln w="12700">
            <a:solidFill>
              <a:srgbClr val="EEF0FF"/>
            </a:solidFill>
            <a:prstDash val="solid"/>
          </a:ln>
        </p:spPr>
      </p:sp>
      <p:sp>
        <p:nvSpPr>
          <p:cNvPr id="22" name="Shape 19"/>
          <p:cNvSpPr/>
          <p:nvPr/>
        </p:nvSpPr>
        <p:spPr>
          <a:xfrm>
            <a:off x="6397600" y="4841748"/>
            <a:ext cx="457200" cy="457200"/>
          </a:xfrm>
          <a:prstGeom prst="ellipse">
            <a:avLst/>
          </a:prstGeom>
          <a:solidFill>
            <a:srgbClr val="4F46E5"/>
          </a:solidFill>
          <a:ln w="12700">
            <a:solidFill>
              <a:srgbClr val="4F46E5"/>
            </a:solidFill>
            <a:prstDash val="solid"/>
          </a:ln>
        </p:spPr>
      </p:sp>
      <p:sp>
        <p:nvSpPr>
          <p:cNvPr id="23" name="Text 20"/>
          <p:cNvSpPr txBox="1"/>
          <p:nvPr/>
        </p:nvSpPr>
        <p:spPr>
          <a:xfrm>
            <a:off x="6397600" y="484174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24" name="Text 21"/>
          <p:cNvSpPr txBox="1"/>
          <p:nvPr/>
        </p:nvSpPr>
        <p:spPr>
          <a:xfrm>
            <a:off x="7010248" y="4407408"/>
            <a:ext cx="4495648" cy="1325880"/>
          </a:xfrm>
          <a:prstGeom prst="rect">
            <a:avLst/>
          </a:prstGeom>
          <a:noFill/>
          <a:ln/>
        </p:spPr>
        <p:txBody>
          <a:bodyPr wrap="square" lIns="50800" tIns="50800" rIns="50800" bIns="50800" rtlCol="0" anchor="ctr"/>
          <a:lstStyle/>
          <a:p>
            <a:pPr indent="0" marL="0">
              <a:buNone/>
            </a:pPr>
            <a:r>
              <a:rPr lang="en-US" sz="1800" dirty="0">
                <a:solidFill>
                  <a:srgbClr val="1F2937"/>
                </a:solidFill>
                <a:latin typeface="Calibri" pitchFamily="34" charset="0"/>
                <a:ea typeface="Calibri" pitchFamily="34" charset="-122"/>
                <a:cs typeface="Calibri" pitchFamily="34" charset="-120"/>
              </a:rPr>
              <a:t>Both encoder–decoder, because only they use attention</a:t>
            </a:r>
            <a:endParaRPr lang="en-US" sz="1800" dirty="0"/>
          </a:p>
        </p:txBody>
      </p:sp>
      <p:sp>
        <p:nvSpPr>
          <p:cNvPr id="25" name="Text 22"/>
          <p:cNvSpPr txBox="1"/>
          <p:nvPr/>
        </p:nvSpPr>
        <p:spPr>
          <a:xfrm>
            <a:off x="548640" y="5943600"/>
            <a:ext cx="11094415" cy="365760"/>
          </a:xfrm>
          <a:prstGeom prst="rect">
            <a:avLst/>
          </a:prstGeom>
          <a:noFill/>
          <a:ln/>
        </p:spPr>
        <p:txBody>
          <a:bodyPr wrap="square" lIns="50800" tIns="50800" rIns="50800" bIns="50800" rtlCol="0" anchor="t"/>
          <a:lstStyle/>
          <a:p>
            <a:pPr indent="0" marL="0">
              <a:buNone/>
            </a:pPr>
            <a:r>
              <a:rPr lang="en-US" sz="1300" i="1" dirty="0">
                <a:solidFill>
                  <a:srgbClr val="6B7280"/>
                </a:solidFill>
                <a:latin typeface="Calibri" pitchFamily="34" charset="0"/>
                <a:ea typeface="Calibri" pitchFamily="34" charset="-122"/>
                <a:cs typeface="Calibri" pitchFamily="34" charset="-120"/>
              </a:rPr>
              <a:t>Vote, then convince your neighbour (1 minute).</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Attention in PyTorch (what you write in the lab)</a:t>
            </a:r>
            <a:endParaRPr lang="en-US" sz="3200" dirty="0"/>
          </a:p>
        </p:txBody>
      </p:sp>
      <p:sp>
        <p:nvSpPr>
          <p:cNvPr id="6" name="Shape 4"/>
          <p:cNvSpPr/>
          <p:nvPr/>
        </p:nvSpPr>
        <p:spPr>
          <a:xfrm>
            <a:off x="548640" y="1481328"/>
            <a:ext cx="6949440" cy="3322828"/>
          </a:xfrm>
          <a:prstGeom prst="roundRect">
            <a:avLst>
              <a:gd name="adj" fmla="val 2752"/>
            </a:avLst>
          </a:prstGeom>
          <a:solidFill>
            <a:srgbClr val="1E1E2E"/>
          </a:solidFill>
          <a:ln w="12700">
            <a:solidFill>
              <a:srgbClr val="1E1E2E"/>
            </a:solidFill>
            <a:prstDash val="solid"/>
          </a:ln>
        </p:spPr>
      </p:sp>
      <p:sp>
        <p:nvSpPr>
          <p:cNvPr id="7" name="Text 5"/>
          <p:cNvSpPr txBox="1"/>
          <p:nvPr/>
        </p:nvSpPr>
        <p:spPr>
          <a:xfrm>
            <a:off x="685800" y="1591056"/>
            <a:ext cx="6675120" cy="3103372"/>
          </a:xfrm>
          <a:prstGeom prst="rect">
            <a:avLst/>
          </a:prstGeom>
          <a:noFill/>
          <a:ln/>
        </p:spPr>
        <p:txBody>
          <a:bodyPr wrap="square" lIns="76200" tIns="76200" rIns="76200" bIns="76200" rtlCol="0" anchor="t"/>
          <a:lstStyle/>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def attention(q, k, v, causal=False):</a:t>
            </a:r>
            <a:endParaRPr lang="en-US" sz="1400" dirty="0"/>
          </a:p>
          <a:p>
            <a:pPr indent="0" marL="0">
              <a:lnSpc>
                <a:spcPct val="100000"/>
              </a:lnSpc>
              <a:buNone/>
            </a:pPr>
            <a:r>
              <a:rPr lang="en-US" sz="1400" dirty="0">
                <a:solidFill>
                  <a:srgbClr val="9CA3AF"/>
                </a:solidFill>
                <a:latin typeface="Consolas" pitchFamily="34" charset="0"/>
                <a:ea typeface="Consolas" pitchFamily="34" charset="-122"/>
                <a:cs typeface="Consolas" pitchFamily="34" charset="-120"/>
              </a:rPr>
              <a:t>    # q, k, v: [batch, heads, n, d_k]</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d_k = q.size(-1)</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scores = q @ k.transpose(-2, -1) / d_k**0.5</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if causal:</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n = q.size(-2)</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mask = torch.triu(torch.ones(n, n, dtype=torch.bool), 1)</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scores = scores.masked_fill(mask, float("-inf"))</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weights = scores.softmax(dim=-1)</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return weights @ v, weights</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 </a:t>
            </a:r>
            <a:endParaRPr lang="en-US" sz="1400" dirty="0"/>
          </a:p>
          <a:p>
            <a:pPr indent="0" marL="0">
              <a:lnSpc>
                <a:spcPct val="100000"/>
              </a:lnSpc>
              <a:buNone/>
            </a:pPr>
            <a:r>
              <a:rPr lang="en-US" sz="1400" dirty="0">
                <a:solidFill>
                  <a:srgbClr val="9CA3AF"/>
                </a:solidFill>
                <a:latin typeface="Consolas" pitchFamily="34" charset="0"/>
                <a:ea typeface="Consolas" pitchFamily="34" charset="-122"/>
                <a:cs typeface="Consolas" pitchFamily="34" charset="-120"/>
              </a:rPr>
              <a:t># multi-head: project, split heads, attend, merge</a:t>
            </a:r>
            <a:endParaRPr lang="en-US" sz="1400" dirty="0"/>
          </a:p>
          <a:p>
            <a:pPr indent="0" marL="0">
              <a:lnSpc>
                <a:spcPct val="100000"/>
              </a:lnSpc>
              <a:buNone/>
            </a:pPr>
            <a:r>
              <a:rPr lang="en-US" sz="1400" dirty="0">
                <a:solidFill>
                  <a:srgbClr val="E4E4F0"/>
                </a:solidFill>
                <a:latin typeface="Consolas" pitchFamily="34" charset="0"/>
                <a:ea typeface="Consolas" pitchFamily="34" charset="-122"/>
                <a:cs typeface="Consolas" pitchFamily="34" charset="-120"/>
              </a:rPr>
              <a:t>q = (x @ W_q).view(b, n, h, d // h).transpose(1, 2)</a:t>
            </a:r>
            <a:endParaRPr lang="en-US" sz="1400" dirty="0"/>
          </a:p>
        </p:txBody>
      </p:sp>
      <p:sp>
        <p:nvSpPr>
          <p:cNvPr id="8" name="Text 6"/>
          <p:cNvSpPr txBox="1"/>
          <p:nvPr/>
        </p:nvSpPr>
        <p:spPr>
          <a:xfrm>
            <a:off x="7772400" y="1481328"/>
            <a:ext cx="387065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Matrix products compute all n × n scores at once.</a:t>
            </a:r>
            <a:endParaRPr lang="en-US" sz="1800" dirty="0"/>
          </a:p>
          <a:p>
            <a:pPr marL="254000" indent="-254000">
              <a:spcAft>
                <a:spcPts val="800"/>
              </a:spcAft>
              <a:buSzPct val="100000"/>
              <a:buChar char="●"/>
            </a:pPr>
            <a:r>
              <a:rPr lang="en-US" sz="1800" dirty="0">
                <a:solidFill>
                  <a:srgbClr val="4F46E5"/>
                </a:solidFill>
                <a:latin typeface="Consolas" pitchFamily="34" charset="0"/>
                <a:ea typeface="Consolas" pitchFamily="34" charset="-122"/>
                <a:cs typeface="Consolas" pitchFamily="34" charset="-120"/>
              </a:rPr>
              <a:t>masked_fill</a:t>
            </a:r>
            <a:pPr indent="0" marL="0">
              <a:buNone/>
            </a:pPr>
            <a:r>
              <a:rPr lang="en-US" sz="1800" dirty="0">
                <a:solidFill>
                  <a:srgbClr val="1F2937"/>
                </a:solidFill>
                <a:latin typeface="Calibri" pitchFamily="34" charset="0"/>
                <a:ea typeface="Calibri" pitchFamily="34" charset="-122"/>
                <a:cs typeface="Calibri" pitchFamily="34" charset="-120"/>
              </a:rPr>
              <a:t> with −∞ implements the causal mask.</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PyTorch's </a:t>
            </a:r>
            <a:pPr indent="0" marL="0">
              <a:buNone/>
            </a:pPr>
            <a:r>
              <a:rPr lang="en-US" sz="1800" dirty="0">
                <a:solidFill>
                  <a:srgbClr val="4F46E5"/>
                </a:solidFill>
                <a:latin typeface="Consolas" pitchFamily="34" charset="0"/>
                <a:ea typeface="Consolas" pitchFamily="34" charset="-122"/>
                <a:cs typeface="Consolas" pitchFamily="34" charset="-120"/>
              </a:rPr>
              <a:t>F.scaled_dot_product_attention</a:t>
            </a:r>
            <a:pPr indent="0" marL="0">
              <a:buNone/>
            </a:pPr>
            <a:r>
              <a:rPr lang="en-US" sz="1800" dirty="0">
                <a:solidFill>
                  <a:srgbClr val="1F2937"/>
                </a:solidFill>
                <a:latin typeface="Calibri" pitchFamily="34" charset="0"/>
                <a:ea typeface="Calibri" pitchFamily="34" charset="-122"/>
                <a:cs typeface="Calibri" pitchFamily="34" charset="-120"/>
              </a:rPr>
              <a:t> does the same, using fast kernels (FlashAttention) when available.</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E1B4B"/>
        </a:solidFill>
      </p:bgPr>
    </p:bg>
    <p:spTree>
      <p:nvGrpSpPr>
        <p:cNvPr id="1" name=""/>
        <p:cNvGrpSpPr/>
        <p:nvPr/>
      </p:nvGrpSpPr>
      <p:grpSpPr>
        <a:xfrm>
          <a:off x="0" y="0"/>
          <a:ext cx="0" cy="0"/>
          <a:chOff x="0" y="0"/>
          <a:chExt cx="0" cy="0"/>
        </a:xfrm>
      </p:grpSpPr>
      <p:sp>
        <p:nvSpPr>
          <p:cNvPr id="2" name="Text 0"/>
          <p:cNvSpPr txBox="1"/>
          <p:nvPr/>
        </p:nvSpPr>
        <p:spPr>
          <a:xfrm>
            <a:off x="731520" y="1188720"/>
            <a:ext cx="2926080" cy="1828800"/>
          </a:xfrm>
          <a:prstGeom prst="rect">
            <a:avLst/>
          </a:prstGeom>
          <a:noFill/>
          <a:ln/>
        </p:spPr>
        <p:txBody>
          <a:bodyPr wrap="square" lIns="0" tIns="0" rIns="0" bIns="0" rtlCol="0" anchor="t"/>
          <a:lstStyle/>
          <a:p>
            <a:pPr indent="0" marL="0">
              <a:buNone/>
            </a:pPr>
            <a:r>
              <a:rPr lang="en-US" sz="11000" b="1" dirty="0">
                <a:solidFill>
                  <a:srgbClr val="EA580C"/>
                </a:solidFill>
                <a:latin typeface="Calibri" pitchFamily="34" charset="0"/>
                <a:ea typeface="Calibri" pitchFamily="34" charset="-122"/>
                <a:cs typeface="Calibri" pitchFamily="34" charset="-120"/>
              </a:rPr>
              <a:t>05</a:t>
            </a:r>
            <a:endParaRPr lang="en-US" sz="11000" dirty="0"/>
          </a:p>
        </p:txBody>
      </p:sp>
      <p:sp>
        <p:nvSpPr>
          <p:cNvPr id="3" name="Text 1"/>
          <p:cNvSpPr txBox="1"/>
          <p:nvPr/>
        </p:nvSpPr>
        <p:spPr>
          <a:xfrm>
            <a:off x="731520" y="3063240"/>
            <a:ext cx="10515600" cy="1463040"/>
          </a:xfrm>
          <a:prstGeom prst="rect">
            <a:avLst/>
          </a:prstGeom>
          <a:noFill/>
          <a:ln/>
        </p:spPr>
        <p:txBody>
          <a:bodyPr wrap="square" lIns="0" tIns="0" rIns="0" bIns="0" rtlCol="0" anchor="t"/>
          <a:lstStyle/>
          <a:p>
            <a:pPr indent="0" marL="0">
              <a:buNone/>
            </a:pPr>
            <a:r>
              <a:rPr lang="en-US" sz="4200" b="1" dirty="0">
                <a:solidFill>
                  <a:srgbClr val="FFFFFF"/>
                </a:solidFill>
                <a:latin typeface="Calibri" pitchFamily="34" charset="0"/>
                <a:ea typeface="Calibri" pitchFamily="34" charset="-122"/>
                <a:cs typeface="Calibri" pitchFamily="34" charset="-120"/>
              </a:rPr>
              <a:t>Training, efficiency and applications</a:t>
            </a:r>
            <a:endParaRPr lang="en-US" sz="4200" dirty="0"/>
          </a:p>
        </p:txBody>
      </p:sp>
      <p:sp>
        <p:nvSpPr>
          <p:cNvPr id="4" name="Text 2"/>
          <p:cNvSpPr txBox="1"/>
          <p:nvPr/>
        </p:nvSpPr>
        <p:spPr>
          <a:xfrm>
            <a:off x="731520" y="4617720"/>
            <a:ext cx="10515600" cy="1097280"/>
          </a:xfrm>
          <a:prstGeom prst="rect">
            <a:avLst/>
          </a:prstGeom>
          <a:noFill/>
          <a:ln/>
        </p:spPr>
        <p:txBody>
          <a:bodyPr wrap="square" lIns="0" tIns="0" rIns="0" bIns="0" rtlCol="0" anchor="t"/>
          <a:lstStyle/>
          <a:p>
            <a:pPr indent="0" marL="0">
              <a:buNone/>
            </a:pPr>
            <a:r>
              <a:rPr lang="en-US" sz="2200" i="1" dirty="0">
                <a:solidFill>
                  <a:srgbClr val="C7D2FE"/>
                </a:solidFill>
                <a:latin typeface="Calibri" pitchFamily="34" charset="0"/>
                <a:ea typeface="Calibri" pitchFamily="34" charset="-122"/>
                <a:cs typeface="Calibri" pitchFamily="34" charset="-120"/>
              </a:rPr>
              <a:t>How are transformers trained and evaluated, and how are they made fast?</a:t>
            </a:r>
            <a:endParaRPr lang="en-US" sz="2200" dirty="0"/>
          </a:p>
        </p:txBody>
      </p:sp>
      <p:sp>
        <p:nvSpPr>
          <p:cNvPr id="5" name="Shape 3"/>
          <p:cNvSpPr/>
          <p:nvPr/>
        </p:nvSpPr>
        <p:spPr>
          <a:xfrm>
            <a:off x="9692640" y="1097280"/>
            <a:ext cx="1554480" cy="1554480"/>
          </a:xfrm>
          <a:prstGeom prst="ellipse">
            <a:avLst/>
          </a:prstGeom>
          <a:solidFill>
            <a:srgbClr val="4F46E5"/>
          </a:solidFill>
          <a:ln w="12700">
            <a:solidFill>
              <a:srgbClr val="4F46E5"/>
            </a:solidFill>
            <a:prstDash val="solid"/>
          </a:ln>
        </p:spPr>
      </p:sp>
      <p:pic>
        <p:nvPicPr>
          <p:cNvPr id="6" name="Image 0" descr="preencoded.png">    </p:cNvPr>
          <p:cNvPicPr>
            <a:picLocks noChangeAspect="1"/>
          </p:cNvPicPr>
          <p:nvPr/>
        </p:nvPicPr>
        <p:blipFill>
          <a:blip r:embed="rId1"/>
          <a:stretch>
            <a:fillRect/>
          </a:stretch>
        </p:blipFill>
        <p:spPr>
          <a:xfrm>
            <a:off x="10065715" y="1470355"/>
            <a:ext cx="808330" cy="80833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Training objectives</a:t>
            </a:r>
            <a:endParaRPr lang="en-US" sz="3200" dirty="0"/>
          </a:p>
        </p:txBody>
      </p:sp>
      <p:sp>
        <p:nvSpPr>
          <p:cNvPr id="6" name="Shape 4"/>
          <p:cNvSpPr/>
          <p:nvPr/>
        </p:nvSpPr>
        <p:spPr>
          <a:xfrm>
            <a:off x="548640" y="1481328"/>
            <a:ext cx="3515258" cy="566928"/>
          </a:xfrm>
          <a:prstGeom prst="roundRect">
            <a:avLst>
              <a:gd name="adj" fmla="val 16129"/>
            </a:avLst>
          </a:prstGeom>
          <a:solidFill>
            <a:srgbClr val="4F46E5"/>
          </a:solidFill>
          <a:ln w="12700">
            <a:solidFill>
              <a:srgbClr val="4F46E5"/>
            </a:solidFill>
            <a:prstDash val="solid"/>
          </a:ln>
        </p:spPr>
      </p:sp>
      <p:pic>
        <p:nvPicPr>
          <p:cNvPr id="7" name="Image 0" descr="preencoded.png">    </p:cNvPr>
          <p:cNvPicPr>
            <a:picLocks noChangeAspect="1"/>
          </p:cNvPicPr>
          <p:nvPr/>
        </p:nvPicPr>
        <p:blipFill>
          <a:blip r:embed="rId1"/>
          <a:stretch>
            <a:fillRect/>
          </a:stretch>
        </p:blipFill>
        <p:spPr>
          <a:xfrm>
            <a:off x="713232" y="1591056"/>
            <a:ext cx="347472" cy="347472"/>
          </a:xfrm>
          <a:prstGeom prst="rect">
            <a:avLst/>
          </a:prstGeom>
        </p:spPr>
      </p:pic>
      <p:sp>
        <p:nvSpPr>
          <p:cNvPr id="8" name="Text 5"/>
          <p:cNvSpPr txBox="1"/>
          <p:nvPr/>
        </p:nvSpPr>
        <p:spPr>
          <a:xfrm>
            <a:off x="1143000"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Masked LM (BERT)</a:t>
            </a:r>
            <a:endParaRPr lang="en-US" sz="1800" dirty="0"/>
          </a:p>
        </p:txBody>
      </p:sp>
      <p:sp>
        <p:nvSpPr>
          <p:cNvPr id="9" name="Shape 6"/>
          <p:cNvSpPr/>
          <p:nvPr/>
        </p:nvSpPr>
        <p:spPr>
          <a:xfrm>
            <a:off x="548640" y="2167128"/>
            <a:ext cx="3515258" cy="4142232"/>
          </a:xfrm>
          <a:prstGeom prst="roundRect">
            <a:avLst>
              <a:gd name="adj" fmla="val 2601"/>
            </a:avLst>
          </a:prstGeom>
          <a:solidFill>
            <a:srgbClr val="EEF0FF"/>
          </a:solidFill>
          <a:ln w="12700">
            <a:solidFill>
              <a:srgbClr val="EEF0FF"/>
            </a:solidFill>
            <a:prstDash val="solid"/>
          </a:ln>
        </p:spPr>
      </p:sp>
      <p:sp>
        <p:nvSpPr>
          <p:cNvPr id="10" name="Text 7"/>
          <p:cNvSpPr txBox="1"/>
          <p:nvPr/>
        </p:nvSpPr>
        <p:spPr>
          <a:xfrm>
            <a:off x="658368"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Hide ~15% of tokens; predict them from both sides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Encoder-only; bidirectional context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Good representations, not free-running generation</a:t>
            </a:r>
            <a:endParaRPr lang="en-US" sz="2000" dirty="0"/>
          </a:p>
        </p:txBody>
      </p:sp>
      <p:sp>
        <p:nvSpPr>
          <p:cNvPr id="11" name="Shape 8"/>
          <p:cNvSpPr/>
          <p:nvPr/>
        </p:nvSpPr>
        <p:spPr>
          <a:xfrm>
            <a:off x="4338218" y="1481328"/>
            <a:ext cx="3515258" cy="566928"/>
          </a:xfrm>
          <a:prstGeom prst="roundRect">
            <a:avLst>
              <a:gd name="adj" fmla="val 16129"/>
            </a:avLst>
          </a:prstGeom>
          <a:solidFill>
            <a:srgbClr val="0F766E"/>
          </a:solidFill>
          <a:ln w="12700">
            <a:solidFill>
              <a:srgbClr val="0F766E"/>
            </a:solidFill>
            <a:prstDash val="solid"/>
          </a:ln>
        </p:spPr>
      </p:sp>
      <p:pic>
        <p:nvPicPr>
          <p:cNvPr id="12" name="Image 1" descr="preencoded.png">    </p:cNvPr>
          <p:cNvPicPr>
            <a:picLocks noChangeAspect="1"/>
          </p:cNvPicPr>
          <p:nvPr/>
        </p:nvPicPr>
        <p:blipFill>
          <a:blip r:embed="rId2"/>
          <a:stretch>
            <a:fillRect/>
          </a:stretch>
        </p:blipFill>
        <p:spPr>
          <a:xfrm>
            <a:off x="4502810" y="1591056"/>
            <a:ext cx="347472" cy="347472"/>
          </a:xfrm>
          <a:prstGeom prst="rect">
            <a:avLst/>
          </a:prstGeom>
        </p:spPr>
      </p:pic>
      <p:sp>
        <p:nvSpPr>
          <p:cNvPr id="13" name="Text 9"/>
          <p:cNvSpPr txBox="1"/>
          <p:nvPr/>
        </p:nvSpPr>
        <p:spPr>
          <a:xfrm>
            <a:off x="4932578"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Next-token / causal LM (GPT)</a:t>
            </a:r>
            <a:endParaRPr lang="en-US" sz="1800" dirty="0"/>
          </a:p>
        </p:txBody>
      </p:sp>
      <p:sp>
        <p:nvSpPr>
          <p:cNvPr id="14" name="Shape 10"/>
          <p:cNvSpPr/>
          <p:nvPr/>
        </p:nvSpPr>
        <p:spPr>
          <a:xfrm>
            <a:off x="4338218" y="2167128"/>
            <a:ext cx="3515258" cy="4142232"/>
          </a:xfrm>
          <a:prstGeom prst="roundRect">
            <a:avLst>
              <a:gd name="adj" fmla="val 2601"/>
            </a:avLst>
          </a:prstGeom>
          <a:solidFill>
            <a:srgbClr val="E6F4F1"/>
          </a:solidFill>
          <a:ln w="12700">
            <a:solidFill>
              <a:srgbClr val="E6F4F1"/>
            </a:solidFill>
            <a:prstDash val="solid"/>
          </a:ln>
        </p:spPr>
      </p:sp>
      <p:sp>
        <p:nvSpPr>
          <p:cNvPr id="15" name="Text 11"/>
          <p:cNvSpPr txBox="1"/>
          <p:nvPr/>
        </p:nvSpPr>
        <p:spPr>
          <a:xfrm>
            <a:off x="4447946"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Predict every next token (causal mask)</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Decoder-only; the objective of LLM pre-training</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Loss = cross-entropy = negative log-likelihood (week 1)</a:t>
            </a:r>
            <a:endParaRPr lang="en-US" sz="2000" dirty="0"/>
          </a:p>
        </p:txBody>
      </p:sp>
      <p:sp>
        <p:nvSpPr>
          <p:cNvPr id="16" name="Shape 12"/>
          <p:cNvSpPr/>
          <p:nvPr/>
        </p:nvSpPr>
        <p:spPr>
          <a:xfrm>
            <a:off x="8127797" y="1481328"/>
            <a:ext cx="3515258" cy="566928"/>
          </a:xfrm>
          <a:prstGeom prst="roundRect">
            <a:avLst>
              <a:gd name="adj" fmla="val 16129"/>
            </a:avLst>
          </a:prstGeom>
          <a:solidFill>
            <a:srgbClr val="EA580C"/>
          </a:solidFill>
          <a:ln w="12700">
            <a:solidFill>
              <a:srgbClr val="EA580C"/>
            </a:solidFill>
            <a:prstDash val="solid"/>
          </a:ln>
        </p:spPr>
      </p:sp>
      <p:pic>
        <p:nvPicPr>
          <p:cNvPr id="17" name="Image 2" descr="preencoded.png">    </p:cNvPr>
          <p:cNvPicPr>
            <a:picLocks noChangeAspect="1"/>
          </p:cNvPicPr>
          <p:nvPr/>
        </p:nvPicPr>
        <p:blipFill>
          <a:blip r:embed="rId3"/>
          <a:stretch>
            <a:fillRect/>
          </a:stretch>
        </p:blipFill>
        <p:spPr>
          <a:xfrm>
            <a:off x="8292389" y="1591056"/>
            <a:ext cx="347472" cy="347472"/>
          </a:xfrm>
          <a:prstGeom prst="rect">
            <a:avLst/>
          </a:prstGeom>
        </p:spPr>
      </p:pic>
      <p:sp>
        <p:nvSpPr>
          <p:cNvPr id="18" name="Text 13"/>
          <p:cNvSpPr txBox="1"/>
          <p:nvPr/>
        </p:nvSpPr>
        <p:spPr>
          <a:xfrm>
            <a:off x="8722157" y="1481328"/>
            <a:ext cx="2783738" cy="566928"/>
          </a:xfrm>
          <a:prstGeom prst="rect">
            <a:avLst/>
          </a:prstGeom>
          <a:noFill/>
          <a:ln/>
        </p:spPr>
        <p:txBody>
          <a:bodyPr wrap="square" lIns="50800" tIns="50800" rIns="50800" bIns="5080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Sequence-to-sequence (T5)</a:t>
            </a:r>
            <a:endParaRPr lang="en-US" sz="1800" dirty="0"/>
          </a:p>
        </p:txBody>
      </p:sp>
      <p:sp>
        <p:nvSpPr>
          <p:cNvPr id="19" name="Shape 14"/>
          <p:cNvSpPr/>
          <p:nvPr/>
        </p:nvSpPr>
        <p:spPr>
          <a:xfrm>
            <a:off x="8127797" y="2167128"/>
            <a:ext cx="3515258" cy="4142232"/>
          </a:xfrm>
          <a:prstGeom prst="roundRect">
            <a:avLst>
              <a:gd name="adj" fmla="val 2601"/>
            </a:avLst>
          </a:prstGeom>
          <a:solidFill>
            <a:srgbClr val="FFF1E6"/>
          </a:solidFill>
          <a:ln w="12700">
            <a:solidFill>
              <a:srgbClr val="FFF1E6"/>
            </a:solidFill>
            <a:prstDash val="solid"/>
          </a:ln>
        </p:spPr>
      </p:sp>
      <p:sp>
        <p:nvSpPr>
          <p:cNvPr id="20" name="Text 15"/>
          <p:cNvSpPr txBox="1"/>
          <p:nvPr/>
        </p:nvSpPr>
        <p:spPr>
          <a:xfrm>
            <a:off x="8237525" y="2258568"/>
            <a:ext cx="3295802" cy="4005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Corrupt spans of the input; generate the missing text</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Encoder–decoder</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Every task framed as text-to-text</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Evaluating language models: perplexity</a:t>
            </a:r>
            <a:endParaRPr lang="en-US" sz="3200" dirty="0"/>
          </a:p>
        </p:txBody>
      </p:sp>
      <p:sp>
        <p:nvSpPr>
          <p:cNvPr id="6" name="Shape 4"/>
          <p:cNvSpPr/>
          <p:nvPr/>
        </p:nvSpPr>
        <p:spPr>
          <a:xfrm>
            <a:off x="548640" y="1481328"/>
            <a:ext cx="11094415" cy="1325880"/>
          </a:xfrm>
          <a:prstGeom prst="roundRect">
            <a:avLst>
              <a:gd name="adj" fmla="val 8276"/>
            </a:avLst>
          </a:prstGeom>
          <a:solidFill>
            <a:srgbClr val="EEF0FF"/>
          </a:solidFill>
          <a:ln w="12700">
            <a:solidFill>
              <a:srgbClr val="EEF0FF"/>
            </a:solidFill>
            <a:prstDash val="solid"/>
          </a:ln>
        </p:spPr>
      </p:sp>
      <p:pic>
        <p:nvPicPr>
          <p:cNvPr id="7" name="Image 0" descr="C:\Users\sudee\Downloads\Generative_AI_2027_Teaching_Pack\AI2027_Project\build\eq\7e98ae00c5695d7e.png">    </p:cNvPr>
          <p:cNvPicPr>
            <a:picLocks noChangeAspect="1"/>
          </p:cNvPicPr>
          <p:nvPr/>
        </p:nvPicPr>
        <p:blipFill>
          <a:blip r:embed="rId1"/>
          <a:stretch>
            <a:fillRect/>
          </a:stretch>
        </p:blipFill>
        <p:spPr>
          <a:xfrm>
            <a:off x="3852520" y="1725168"/>
            <a:ext cx="4486656" cy="838200"/>
          </a:xfrm>
          <a:prstGeom prst="rect">
            <a:avLst/>
          </a:prstGeom>
        </p:spPr>
      </p:pic>
      <p:sp>
        <p:nvSpPr>
          <p:cNvPr id="8" name="Text 5"/>
          <p:cNvSpPr txBox="1"/>
          <p:nvPr/>
        </p:nvSpPr>
        <p:spPr>
          <a:xfrm>
            <a:off x="548640" y="3035808"/>
            <a:ext cx="6035040"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Read it as</a:t>
            </a:r>
            <a:endParaRPr lang="en-US" sz="1500" dirty="0"/>
          </a:p>
        </p:txBody>
      </p:sp>
      <p:sp>
        <p:nvSpPr>
          <p:cNvPr id="9" name="Text 6"/>
          <p:cNvSpPr txBox="1"/>
          <p:nvPr/>
        </p:nvSpPr>
        <p:spPr>
          <a:xfrm>
            <a:off x="548640" y="3419856"/>
            <a:ext cx="6035040" cy="286207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Exponentiated average negative log-likelihood on </a:t>
            </a:r>
            <a:pPr indent="0" marL="0">
              <a:buNone/>
            </a:pPr>
            <a:r>
              <a:rPr lang="en-US" sz="2000" b="1" dirty="0">
                <a:solidFill>
                  <a:srgbClr val="1F2937"/>
                </a:solidFill>
                <a:latin typeface="Calibri" pitchFamily="34" charset="0"/>
                <a:ea typeface="Calibri" pitchFamily="34" charset="-122"/>
                <a:cs typeface="Calibri" pitchFamily="34" charset="-120"/>
              </a:rPr>
              <a:t>held-out</a:t>
            </a:r>
            <a:pPr indent="0" marL="0">
              <a:buNone/>
            </a:pPr>
            <a:r>
              <a:rPr lang="en-US" sz="2000" dirty="0">
                <a:solidFill>
                  <a:srgbClr val="1F2937"/>
                </a:solidFill>
                <a:latin typeface="Calibri" pitchFamily="34" charset="0"/>
                <a:ea typeface="Calibri" pitchFamily="34" charset="-122"/>
                <a:cs typeface="Calibri" pitchFamily="34" charset="-120"/>
              </a:rPr>
              <a:t> text (week 1).</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Interpretation: the model is as uncertain as choosing among PPL equally likely tokens.</a:t>
            </a:r>
            <a:endParaRPr lang="en-US" sz="2000" dirty="0"/>
          </a:p>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Only comparable between models with the </a:t>
            </a:r>
            <a:pPr indent="0" marL="0">
              <a:buNone/>
            </a:pPr>
            <a:r>
              <a:rPr lang="en-US" sz="2000" b="1" dirty="0">
                <a:solidFill>
                  <a:srgbClr val="1F2937"/>
                </a:solidFill>
                <a:latin typeface="Calibri" pitchFamily="34" charset="0"/>
                <a:ea typeface="Calibri" pitchFamily="34" charset="-122"/>
                <a:cs typeface="Calibri" pitchFamily="34" charset="-120"/>
              </a:rPr>
              <a:t>same tokeniser</a:t>
            </a:r>
            <a:pPr indent="0" marL="0">
              <a:buNone/>
            </a:pPr>
            <a:r>
              <a:rPr lang="en-US" sz="2000" dirty="0">
                <a:solidFill>
                  <a:srgbClr val="1F2937"/>
                </a:solidFill>
                <a:latin typeface="Calibri" pitchFamily="34" charset="0"/>
                <a:ea typeface="Calibri" pitchFamily="34" charset="-122"/>
                <a:cs typeface="Calibri" pitchFamily="34" charset="-120"/>
              </a:rPr>
              <a:t> and test text; low perplexity ≠ helpful, truthful or safe.</a:t>
            </a:r>
            <a:endParaRPr lang="en-US" sz="2000" dirty="0"/>
          </a:p>
        </p:txBody>
      </p:sp>
      <p:sp>
        <p:nvSpPr>
          <p:cNvPr id="10" name="Text 7"/>
          <p:cNvSpPr txBox="1"/>
          <p:nvPr/>
        </p:nvSpPr>
        <p:spPr>
          <a:xfrm>
            <a:off x="6858000" y="3035808"/>
            <a:ext cx="4785055" cy="365760"/>
          </a:xfrm>
          <a:prstGeom prst="rect">
            <a:avLst/>
          </a:prstGeom>
          <a:noFill/>
          <a:ln/>
        </p:spPr>
        <p:txBody>
          <a:bodyPr wrap="square" lIns="50800" tIns="50800" rIns="50800" bIns="50800" rtlCol="0" anchor="t"/>
          <a:lstStyle/>
          <a:p>
            <a:pPr indent="0" marL="0">
              <a:buNone/>
            </a:pPr>
            <a:r>
              <a:rPr lang="en-US" sz="1500" b="1" dirty="0">
                <a:solidFill>
                  <a:srgbClr val="4F46E5"/>
                </a:solidFill>
                <a:latin typeface="Calibri" pitchFamily="34" charset="0"/>
                <a:ea typeface="Calibri" pitchFamily="34" charset="-122"/>
                <a:cs typeface="Calibri" pitchFamily="34" charset="-120"/>
              </a:rPr>
              <a:t>Symbols</a:t>
            </a:r>
            <a:endParaRPr lang="en-US" sz="1500" dirty="0"/>
          </a:p>
        </p:txBody>
      </p:sp>
      <p:sp>
        <p:nvSpPr>
          <p:cNvPr id="11" name="Text 8"/>
          <p:cNvSpPr txBox="1"/>
          <p:nvPr/>
        </p:nvSpPr>
        <p:spPr>
          <a:xfrm>
            <a:off x="6858000" y="34472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N</a:t>
            </a:r>
            <a:endParaRPr lang="en-US" sz="1800" dirty="0"/>
          </a:p>
        </p:txBody>
      </p:sp>
      <p:sp>
        <p:nvSpPr>
          <p:cNvPr id="12" name="Text 9"/>
          <p:cNvSpPr txBox="1"/>
          <p:nvPr/>
        </p:nvSpPr>
        <p:spPr>
          <a:xfrm>
            <a:off x="8046720" y="34472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number of tokens in the test text</a:t>
            </a:r>
            <a:endParaRPr lang="en-US" sz="1700" dirty="0"/>
          </a:p>
        </p:txBody>
      </p:sp>
      <p:sp>
        <p:nvSpPr>
          <p:cNvPr id="13" name="Text 10"/>
          <p:cNvSpPr txBox="1"/>
          <p:nvPr/>
        </p:nvSpPr>
        <p:spPr>
          <a:xfrm>
            <a:off x="6858000" y="4133088"/>
            <a:ext cx="1143000" cy="685800"/>
          </a:xfrm>
          <a:prstGeom prst="rect">
            <a:avLst/>
          </a:prstGeom>
          <a:noFill/>
          <a:ln/>
        </p:spPr>
        <p:txBody>
          <a:bodyPr wrap="square" lIns="50800" tIns="50800" rIns="50800" bIns="50800" rtlCol="0" anchor="ctr"/>
          <a:lstStyle/>
          <a:p>
            <a:pPr indent="0" marL="0">
              <a:buNone/>
            </a:pPr>
            <a:r>
              <a:rPr lang="en-US" sz="1800" b="1" dirty="0">
                <a:solidFill>
                  <a:srgbClr val="1E1B4B"/>
                </a:solidFill>
                <a:latin typeface="Cambria Math" pitchFamily="34" charset="0"/>
                <a:ea typeface="Cambria Math" pitchFamily="34" charset="-122"/>
                <a:cs typeface="Cambria Math" pitchFamily="34" charset="-120"/>
              </a:rPr>
              <a:t>x_{&lt;t}</a:t>
            </a:r>
            <a:endParaRPr lang="en-US" sz="1800" dirty="0"/>
          </a:p>
        </p:txBody>
      </p:sp>
      <p:sp>
        <p:nvSpPr>
          <p:cNvPr id="14" name="Text 11"/>
          <p:cNvSpPr txBox="1"/>
          <p:nvPr/>
        </p:nvSpPr>
        <p:spPr>
          <a:xfrm>
            <a:off x="8046720" y="4133088"/>
            <a:ext cx="3596335" cy="685800"/>
          </a:xfrm>
          <a:prstGeom prst="rect">
            <a:avLst/>
          </a:prstGeom>
          <a:noFill/>
          <a:ln/>
        </p:spPr>
        <p:txBody>
          <a:bodyPr wrap="square" lIns="50800" tIns="50800" rIns="50800" bIns="50800" rtlCol="0" anchor="ctr"/>
          <a:lstStyle/>
          <a:p>
            <a:pPr indent="0" marL="0">
              <a:buNone/>
            </a:pPr>
            <a:r>
              <a:rPr lang="en-US" sz="1700" dirty="0">
                <a:solidFill>
                  <a:srgbClr val="1F2937"/>
                </a:solidFill>
                <a:latin typeface="Calibri" pitchFamily="34" charset="0"/>
                <a:ea typeface="Calibri" pitchFamily="34" charset="-122"/>
                <a:cs typeface="Calibri" pitchFamily="34" charset="-120"/>
              </a:rPr>
              <a:t>the tokens before position t</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35</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A real small transformer, trained for this lecture</a:t>
            </a:r>
            <a:endParaRPr lang="en-US" sz="3200" dirty="0"/>
          </a:p>
        </p:txBody>
      </p:sp>
      <p:pic>
        <p:nvPicPr>
          <p:cNvPr id="6" name="Image 0" descr="C:\Users\sudee\Downloads\Generative_AI_2027_Teaching_Pack\AI2027_Project\build\figures\week_05\chargpt_loss.png">    </p:cNvPr>
          <p:cNvPicPr>
            <a:picLocks noChangeAspect="1"/>
          </p:cNvPicPr>
          <p:nvPr/>
        </p:nvPicPr>
        <p:blipFill>
          <a:blip r:embed="rId1"/>
          <a:stretch>
            <a:fillRect/>
          </a:stretch>
        </p:blipFill>
        <p:spPr>
          <a:xfrm>
            <a:off x="3954998" y="1481328"/>
            <a:ext cx="4281698" cy="2400300"/>
          </a:xfrm>
          <a:prstGeom prst="rect">
            <a:avLst/>
          </a:prstGeom>
        </p:spPr>
      </p:pic>
      <p:sp>
        <p:nvSpPr>
          <p:cNvPr id="7" name="Text 4"/>
          <p:cNvSpPr txBox="1"/>
          <p:nvPr/>
        </p:nvSpPr>
        <p:spPr>
          <a:xfrm>
            <a:off x="548640" y="4064508"/>
            <a:ext cx="11094415" cy="2244852"/>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1.8 M-parameter model, 3000 steps (9 min on a laptop GPU): validation loss 4.37 → 1.51 nats/char, perplexity 4.5 (uniform: 65).</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Step 0: </a:t>
            </a:r>
            <a:pPr indent="0" marL="0">
              <a:buNone/>
            </a:pPr>
            <a:r>
              <a:rPr lang="en-US" sz="1800" i="1" dirty="0">
                <a:solidFill>
                  <a:srgbClr val="1F2937"/>
                </a:solidFill>
                <a:latin typeface="Calibri" pitchFamily="34" charset="0"/>
                <a:ea typeface="Calibri" pitchFamily="34" charset="-122"/>
                <a:cs typeface="Calibri" pitchFamily="34" charset="-120"/>
              </a:rPr>
              <a:t>dJU;gf:MizAhT,lXeibxua: J$:H;xdyStqR!jCtHxhKTRMCNogCWu&amp;FXYbX…</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Step 300: </a:t>
            </a:r>
            <a:pPr indent="0" marL="0">
              <a:buNone/>
            </a:pPr>
            <a:r>
              <a:rPr lang="en-US" sz="1800" i="1" dirty="0">
                <a:solidFill>
                  <a:srgbClr val="1F2937"/>
                </a:solidFill>
                <a:latin typeface="Calibri" pitchFamily="34" charset="0"/>
                <a:ea typeface="Calibri" pitchFamily="34" charset="-122"/>
                <a:cs typeface="Calibri" pitchFamily="34" charset="-120"/>
              </a:rPr>
              <a:t>I thy and whe, the hum fousing fore the hen. / MENRONTIO: / You wese and bestay sor? om then…</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End: </a:t>
            </a:r>
            <a:pPr indent="0" marL="0">
              <a:buNone/>
            </a:pPr>
            <a:r>
              <a:rPr lang="en-US" sz="1800" i="1" dirty="0">
                <a:solidFill>
                  <a:srgbClr val="1F2937"/>
                </a:solidFill>
                <a:latin typeface="Calibri" pitchFamily="34" charset="0"/>
                <a:ea typeface="Calibri" pitchFamily="34" charset="-122"/>
                <a:cs typeface="Calibri" pitchFamily="34" charset="-120"/>
              </a:rPr>
              <a:t>I think my heart is uncle. / MENENIUS: / My lord, I would leave you me for grace. / CORIO…</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36</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The cost of attention grows as n²</a:t>
            </a:r>
            <a:endParaRPr lang="en-US" sz="3200" dirty="0"/>
          </a:p>
        </p:txBody>
      </p:sp>
      <p:pic>
        <p:nvPicPr>
          <p:cNvPr id="6" name="Image 0" descr="C:\Users\sudee\Downloads\Generative_AI_2027_Teaching_Pack\AI2027_Project\build\figures\week_05\complexity.png">    </p:cNvPr>
          <p:cNvPicPr>
            <a:picLocks noChangeAspect="1"/>
          </p:cNvPicPr>
          <p:nvPr/>
        </p:nvPicPr>
        <p:blipFill>
          <a:blip r:embed="rId1"/>
          <a:stretch>
            <a:fillRect/>
          </a:stretch>
        </p:blipFill>
        <p:spPr>
          <a:xfrm>
            <a:off x="548640" y="2091192"/>
            <a:ext cx="6217920" cy="3608304"/>
          </a:xfrm>
          <a:prstGeom prst="rect">
            <a:avLst/>
          </a:prstGeom>
        </p:spPr>
      </p:pic>
      <p:sp>
        <p:nvSpPr>
          <p:cNvPr id="7" name="Text 4"/>
          <p:cNvSpPr txBox="1"/>
          <p:nvPr/>
        </p:nvSpPr>
        <p:spPr>
          <a:xfrm>
            <a:off x="7040880" y="1481328"/>
            <a:ext cx="4602175"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000" dirty="0">
                <a:solidFill>
                  <a:srgbClr val="1F2937"/>
                </a:solidFill>
                <a:latin typeface="Calibri" pitchFamily="34" charset="0"/>
                <a:ea typeface="Calibri" pitchFamily="34" charset="-122"/>
                <a:cs typeface="Calibri" pitchFamily="34" charset="-120"/>
              </a:rPr>
              <a:t>Every token attends to every token: n² scores per head per layer.</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FlashAttention</a:t>
            </a:r>
            <a:pPr indent="0" marL="0">
              <a:buNone/>
            </a:pPr>
            <a:r>
              <a:rPr lang="en-US" sz="2000" dirty="0">
                <a:solidFill>
                  <a:srgbClr val="1F2937"/>
                </a:solidFill>
                <a:latin typeface="Calibri" pitchFamily="34" charset="0"/>
                <a:ea typeface="Calibri" pitchFamily="34" charset="-122"/>
                <a:cs typeface="Calibri" pitchFamily="34" charset="-120"/>
              </a:rPr>
              <a:t> computes exact attention without storing the n × n matrix (memory-aware GPU kernels).</a:t>
            </a:r>
            <a:endParaRPr lang="en-US" sz="2000" dirty="0"/>
          </a:p>
          <a:p>
            <a:pPr marL="254000" indent="-254000">
              <a:spcAft>
                <a:spcPts val="800"/>
              </a:spcAft>
              <a:buSzPct val="100000"/>
              <a:buChar char="●"/>
            </a:pPr>
            <a:r>
              <a:rPr lang="en-US" sz="2000" b="1" dirty="0">
                <a:solidFill>
                  <a:srgbClr val="1F2937"/>
                </a:solidFill>
                <a:latin typeface="Calibri" pitchFamily="34" charset="0"/>
                <a:ea typeface="Calibri" pitchFamily="34" charset="-122"/>
                <a:cs typeface="Calibri" pitchFamily="34" charset="-120"/>
              </a:rPr>
              <a:t>Sparse / sliding-window</a:t>
            </a:r>
            <a:pPr indent="0" marL="0">
              <a:buNone/>
            </a:pPr>
            <a:r>
              <a:rPr lang="en-US" sz="2000" dirty="0">
                <a:solidFill>
                  <a:srgbClr val="1F2937"/>
                </a:solidFill>
                <a:latin typeface="Calibri" pitchFamily="34" charset="0"/>
                <a:ea typeface="Calibri" pitchFamily="34" charset="-122"/>
                <a:cs typeface="Calibri" pitchFamily="34" charset="-120"/>
              </a:rPr>
              <a:t> attention, </a:t>
            </a:r>
            <a:pPr indent="0" marL="0">
              <a:buNone/>
            </a:pPr>
            <a:r>
              <a:rPr lang="en-US" sz="2000" b="1" dirty="0">
                <a:solidFill>
                  <a:srgbClr val="1F2937"/>
                </a:solidFill>
                <a:latin typeface="Calibri" pitchFamily="34" charset="0"/>
                <a:ea typeface="Calibri" pitchFamily="34" charset="-122"/>
                <a:cs typeface="Calibri" pitchFamily="34" charset="-120"/>
              </a:rPr>
              <a:t>grouped-query attention</a:t>
            </a:r>
            <a:pPr indent="0" marL="0">
              <a:buNone/>
            </a:pPr>
            <a:r>
              <a:rPr lang="en-US" sz="2000" dirty="0">
                <a:solidFill>
                  <a:srgbClr val="1F2937"/>
                </a:solidFill>
                <a:latin typeface="Calibri" pitchFamily="34" charset="0"/>
                <a:ea typeface="Calibri" pitchFamily="34" charset="-122"/>
                <a:cs typeface="Calibri" pitchFamily="34" charset="-120"/>
              </a:rPr>
              <a:t> and alternatives (state-space models) cut cost further.</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37</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Faster generation: the KV cache</a:t>
            </a:r>
            <a:endParaRPr lang="en-US" sz="3200" dirty="0"/>
          </a:p>
        </p:txBody>
      </p:sp>
      <p:pic>
        <p:nvPicPr>
          <p:cNvPr id="6" name="Image 0" descr="C:\Users\sudee\Downloads\Generative_AI_2027_Teaching_Pack\AI2027_Project\build\figures\week_05\kv_cache.png">    </p:cNvPr>
          <p:cNvPicPr>
            <a:picLocks noChangeAspect="1"/>
          </p:cNvPicPr>
          <p:nvPr/>
        </p:nvPicPr>
        <p:blipFill>
          <a:blip r:embed="rId1"/>
          <a:stretch>
            <a:fillRect/>
          </a:stretch>
        </p:blipFill>
        <p:spPr>
          <a:xfrm>
            <a:off x="1139126" y="1481328"/>
            <a:ext cx="9913443"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Generating token t needs keys and values of all earlier tokens; store them instead of recomputing.</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Turns generation from quadratic recomputation into one new token's work per step.</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Cache memory grows with context length × layers × KV heads: the main memory cost when serving LLMs (week 11).</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38</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Mixture-of-experts: more parameters, same compute</a:t>
            </a:r>
            <a:endParaRPr lang="en-US" sz="3200" dirty="0"/>
          </a:p>
        </p:txBody>
      </p:sp>
      <p:pic>
        <p:nvPicPr>
          <p:cNvPr id="6" name="Image 0" descr="C:\Users\sudee\Downloads\Generative_AI_2027_Teaching_Pack\AI2027_Project\build\figures\week_05\moe.png">    </p:cNvPr>
          <p:cNvPicPr>
            <a:picLocks noChangeAspect="1"/>
          </p:cNvPicPr>
          <p:nvPr/>
        </p:nvPicPr>
        <p:blipFill>
          <a:blip r:embed="rId1"/>
          <a:stretch>
            <a:fillRect/>
          </a:stretch>
        </p:blipFill>
        <p:spPr>
          <a:xfrm>
            <a:off x="2119553" y="1481328"/>
            <a:ext cx="7952589" cy="3081528"/>
          </a:xfrm>
          <a:prstGeom prst="rect">
            <a:avLst/>
          </a:prstGeom>
        </p:spPr>
      </p:pic>
      <p:sp>
        <p:nvSpPr>
          <p:cNvPr id="7" name="Text 4"/>
          <p:cNvSpPr txBox="1"/>
          <p:nvPr/>
        </p:nvSpPr>
        <p:spPr>
          <a:xfrm>
            <a:off x="548640" y="4745736"/>
            <a:ext cx="11094415" cy="1563624"/>
          </a:xfrm>
          <a:prstGeom prst="rect">
            <a:avLst/>
          </a:prstGeom>
          <a:noFill/>
          <a:ln/>
        </p:spPr>
        <p:txBody>
          <a:bodyPr wrap="square" lIns="50800" tIns="50800" rIns="50800" bIns="50800" rtlCol="0" anchor="t"/>
          <a:lstStyle/>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Replace the feed-forward MLP with many </a:t>
            </a:r>
            <a:pPr indent="0" marL="0">
              <a:buNone/>
            </a:pPr>
            <a:r>
              <a:rPr lang="en-US" sz="1800" b="1" dirty="0">
                <a:solidFill>
                  <a:srgbClr val="1F2937"/>
                </a:solidFill>
                <a:latin typeface="Calibri" pitchFamily="34" charset="0"/>
                <a:ea typeface="Calibri" pitchFamily="34" charset="-122"/>
                <a:cs typeface="Calibri" pitchFamily="34" charset="-120"/>
              </a:rPr>
              <a:t>expert</a:t>
            </a:r>
            <a:pPr indent="0" marL="0">
              <a:buNone/>
            </a:pPr>
            <a:r>
              <a:rPr lang="en-US" sz="1800" dirty="0">
                <a:solidFill>
                  <a:srgbClr val="1F2937"/>
                </a:solidFill>
                <a:latin typeface="Calibri" pitchFamily="34" charset="0"/>
                <a:ea typeface="Calibri" pitchFamily="34" charset="-122"/>
                <a:cs typeface="Calibri" pitchFamily="34" charset="-120"/>
              </a:rPr>
              <a:t> MLPs and a learned </a:t>
            </a:r>
            <a:pPr indent="0" marL="0">
              <a:buNone/>
            </a:pPr>
            <a:r>
              <a:rPr lang="en-US" sz="1800" b="1" dirty="0">
                <a:solidFill>
                  <a:srgbClr val="1F2937"/>
                </a:solidFill>
                <a:latin typeface="Calibri" pitchFamily="34" charset="0"/>
                <a:ea typeface="Calibri" pitchFamily="34" charset="-122"/>
                <a:cs typeface="Calibri" pitchFamily="34" charset="-120"/>
              </a:rPr>
              <a:t>router</a:t>
            </a:r>
            <a:pPr indent="0" marL="0">
              <a:buNone/>
            </a:pPr>
            <a:r>
              <a:rPr lang="en-US" sz="1800" dirty="0">
                <a:solidFill>
                  <a:srgbClr val="1F2937"/>
                </a:solidFill>
                <a:latin typeface="Calibri" pitchFamily="34" charset="0"/>
                <a:ea typeface="Calibri" pitchFamily="34" charset="-122"/>
                <a:cs typeface="Calibri" pitchFamily="34" charset="-120"/>
              </a:rPr>
              <a:t>.</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Each token uses only the top-k experts (e.g. 2 of 8), so compute per token stays low.</a:t>
            </a:r>
            <a:endParaRPr lang="en-US" sz="1800" dirty="0"/>
          </a:p>
          <a:p>
            <a:pPr marL="254000" indent="-254000">
              <a:spcAft>
                <a:spcPts val="800"/>
              </a:spcAft>
              <a:buSzPct val="100000"/>
              <a:buChar char="●"/>
            </a:pPr>
            <a:r>
              <a:rPr lang="en-US" sz="1800" dirty="0">
                <a:solidFill>
                  <a:srgbClr val="1F2937"/>
                </a:solidFill>
                <a:latin typeface="Calibri" pitchFamily="34" charset="0"/>
                <a:ea typeface="Calibri" pitchFamily="34" charset="-122"/>
                <a:cs typeface="Calibri" pitchFamily="34" charset="-120"/>
              </a:rPr>
              <a:t>Used in several large open and proprietary model families (e.g. Mixtral, DeepSeek-V3); memory still holds all experts.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39</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Beyond text: transformers for images, audio and more</a:t>
            </a:r>
            <a:endParaRPr lang="en-US" sz="3200" dirty="0"/>
          </a:p>
        </p:txBody>
      </p:sp>
      <p:pic>
        <p:nvPicPr>
          <p:cNvPr id="6" name="Image 0" descr="C:\Users\sudee\Downloads\Generative_AI_2027_Teaching_Pack\AI2027_Project\build\figures\week_05\vit_patches.png">    </p:cNvPr>
          <p:cNvPicPr>
            <a:picLocks noChangeAspect="1"/>
          </p:cNvPicPr>
          <p:nvPr/>
        </p:nvPicPr>
        <p:blipFill>
          <a:blip r:embed="rId1"/>
          <a:stretch>
            <a:fillRect/>
          </a:stretch>
        </p:blipFill>
        <p:spPr>
          <a:xfrm>
            <a:off x="1831221" y="1481328"/>
            <a:ext cx="8529253" cy="3367278"/>
          </a:xfrm>
          <a:prstGeom prst="rect">
            <a:avLst/>
          </a:prstGeom>
        </p:spPr>
      </p:pic>
      <p:sp>
        <p:nvSpPr>
          <p:cNvPr id="7" name="Text 4"/>
          <p:cNvSpPr txBox="1"/>
          <p:nvPr/>
        </p:nvSpPr>
        <p:spPr>
          <a:xfrm>
            <a:off x="548640" y="5031486"/>
            <a:ext cx="11094415" cy="1277874"/>
          </a:xfrm>
          <a:prstGeom prst="rect">
            <a:avLst/>
          </a:prstGeom>
          <a:noFill/>
          <a:ln/>
        </p:spPr>
        <p:txBody>
          <a:bodyPr wrap="square" lIns="50800" tIns="50800" rIns="50800" bIns="50800" rtlCol="0" anchor="t"/>
          <a:lstStyle/>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Vision Transformer (ViT)</a:t>
            </a:r>
            <a:pPr indent="0" marL="0">
              <a:buNone/>
            </a:pPr>
            <a:r>
              <a:rPr lang="en-US" sz="1800" dirty="0">
                <a:solidFill>
                  <a:srgbClr val="1F2937"/>
                </a:solidFill>
                <a:latin typeface="Calibri" pitchFamily="34" charset="0"/>
                <a:ea typeface="Calibri" pitchFamily="34" charset="-122"/>
                <a:cs typeface="Calibri" pitchFamily="34" charset="-120"/>
              </a:rPr>
              <a:t>: image patches as tokens; basis of CLIP's image encoder (week 9).</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Speech</a:t>
            </a:r>
            <a:pPr indent="0" marL="0">
              <a:buNone/>
            </a:pPr>
            <a:r>
              <a:rPr lang="en-US" sz="1800" dirty="0">
                <a:solidFill>
                  <a:srgbClr val="1F2937"/>
                </a:solidFill>
                <a:latin typeface="Calibri" pitchFamily="34" charset="0"/>
                <a:ea typeface="Calibri" pitchFamily="34" charset="-122"/>
                <a:cs typeface="Calibri" pitchFamily="34" charset="-120"/>
              </a:rPr>
              <a:t>: Whisper is an encoder–decoder transformer from audio spectrograms to text.</a:t>
            </a:r>
            <a:endParaRPr lang="en-US" sz="1800" dirty="0"/>
          </a:p>
          <a:p>
            <a:pPr marL="254000" indent="-254000">
              <a:spcAft>
                <a:spcPts val="800"/>
              </a:spcAft>
              <a:buSzPct val="100000"/>
              <a:buChar char="●"/>
            </a:pPr>
            <a:r>
              <a:rPr lang="en-US" sz="1800" b="1" dirty="0">
                <a:solidFill>
                  <a:srgbClr val="1F2937"/>
                </a:solidFill>
                <a:latin typeface="Calibri" pitchFamily="34" charset="0"/>
                <a:ea typeface="Calibri" pitchFamily="34" charset="-122"/>
                <a:cs typeface="Calibri" pitchFamily="34" charset="-120"/>
              </a:rPr>
              <a:t>Generation</a:t>
            </a:r>
            <a:pPr indent="0" marL="0">
              <a:buNone/>
            </a:pPr>
            <a:r>
              <a:rPr lang="en-US" sz="1800" dirty="0">
                <a:solidFill>
                  <a:srgbClr val="1F2937"/>
                </a:solidFill>
                <a:latin typeface="Calibri" pitchFamily="34" charset="0"/>
                <a:ea typeface="Calibri" pitchFamily="34" charset="-122"/>
                <a:cs typeface="Calibri" pitchFamily="34" charset="-120"/>
              </a:rPr>
              <a:t>: diffusion transformers (week 4); protein structure, time series, robotics, code.</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40</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000" b="1" dirty="0">
                <a:solidFill>
                  <a:srgbClr val="1E1B4B"/>
                </a:solidFill>
                <a:latin typeface="Calibri" pitchFamily="34" charset="0"/>
                <a:ea typeface="Calibri" pitchFamily="34" charset="-122"/>
                <a:cs typeface="Calibri" pitchFamily="34" charset="-120"/>
              </a:rPr>
              <a:t>Responsible AI lens: attention, interpretability and cost</a:t>
            </a:r>
            <a:endParaRPr lang="en-US" sz="3000" dirty="0"/>
          </a:p>
        </p:txBody>
      </p:sp>
      <p:sp>
        <p:nvSpPr>
          <p:cNvPr id="6" name="Text 4"/>
          <p:cNvSpPr txBox="1"/>
          <p:nvPr/>
        </p:nvSpPr>
        <p:spPr>
          <a:xfrm>
            <a:off x="548640" y="1481328"/>
            <a:ext cx="8138160" cy="4828032"/>
          </a:xfrm>
          <a:prstGeom prst="rect">
            <a:avLst/>
          </a:prstGeom>
          <a:noFill/>
          <a:ln/>
        </p:spPr>
        <p:txBody>
          <a:bodyPr wrap="square" lIns="50800" tIns="50800" rIns="50800" bIns="50800" rtlCol="0" anchor="t"/>
          <a:lstStyle/>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Attention ≠ explanation</a:t>
            </a:r>
            <a:pPr indent="0" marL="0">
              <a:buNone/>
            </a:pPr>
            <a:r>
              <a:rPr lang="en-US" sz="2200" dirty="0">
                <a:solidFill>
                  <a:srgbClr val="1F2937"/>
                </a:solidFill>
                <a:latin typeface="Calibri" pitchFamily="34" charset="0"/>
                <a:ea typeface="Calibri" pitchFamily="34" charset="-122"/>
                <a:cs typeface="Calibri" pitchFamily="34" charset="-120"/>
              </a:rPr>
              <a:t>: weights show information flow, not reasons; do not present attention maps as proof of why a model decided something.</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Interpretability</a:t>
            </a:r>
            <a:pPr indent="0" marL="0">
              <a:buNone/>
            </a:pPr>
            <a:r>
              <a:rPr lang="en-US" sz="2200" dirty="0">
                <a:solidFill>
                  <a:srgbClr val="1F2937"/>
                </a:solidFill>
                <a:latin typeface="Calibri" pitchFamily="34" charset="0"/>
                <a:ea typeface="Calibri" pitchFamily="34" charset="-122"/>
                <a:cs typeface="Calibri" pitchFamily="34" charset="-120"/>
              </a:rPr>
              <a:t> research (probing, mechanistic analysis) aims for faithful explanations; it is still maturing.</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Compute and energy</a:t>
            </a:r>
            <a:pPr indent="0" marL="0">
              <a:buNone/>
            </a:pPr>
            <a:r>
              <a:rPr lang="en-US" sz="2200" dirty="0">
                <a:solidFill>
                  <a:srgbClr val="1F2937"/>
                </a:solidFill>
                <a:latin typeface="Calibri" pitchFamily="34" charset="0"/>
                <a:ea typeface="Calibri" pitchFamily="34" charset="-122"/>
                <a:cs typeface="Calibri" pitchFamily="34" charset="-120"/>
              </a:rPr>
              <a:t>: quadratic attention and scale make training and long-context use costly; report compute and prefer efficient models when they suffice.</a:t>
            </a:r>
            <a:endParaRPr lang="en-US" sz="2200" dirty="0"/>
          </a:p>
          <a:p>
            <a:pPr marL="254000" indent="-254000">
              <a:spcAft>
                <a:spcPts val="800"/>
              </a:spcAft>
              <a:buSzPct val="100000"/>
              <a:buChar char="●"/>
            </a:pPr>
            <a:r>
              <a:rPr lang="en-US" sz="2200" b="1" dirty="0">
                <a:solidFill>
                  <a:srgbClr val="1F2937"/>
                </a:solidFill>
                <a:latin typeface="Calibri" pitchFamily="34" charset="0"/>
                <a:ea typeface="Calibri" pitchFamily="34" charset="-122"/>
                <a:cs typeface="Calibri" pitchFamily="34" charset="-120"/>
              </a:rPr>
              <a:t>Tokenisation fairness</a:t>
            </a:r>
            <a:pPr indent="0" marL="0">
              <a:buNone/>
            </a:pPr>
            <a:r>
              <a:rPr lang="en-US" sz="2200" dirty="0">
                <a:solidFill>
                  <a:srgbClr val="1F2937"/>
                </a:solidFill>
                <a:latin typeface="Calibri" pitchFamily="34" charset="0"/>
                <a:ea typeface="Calibri" pitchFamily="34" charset="-122"/>
                <a:cs typeface="Calibri" pitchFamily="34" charset="-120"/>
              </a:rPr>
              <a:t>: some languages need 3–5× more tokens (week 1 lab), raising cost and reducing quality for their speakers.</a:t>
            </a:r>
            <a:endParaRPr lang="en-US" sz="2200" dirty="0"/>
          </a:p>
        </p:txBody>
      </p:sp>
      <p:sp>
        <p:nvSpPr>
          <p:cNvPr id="7" name="Shape 5"/>
          <p:cNvSpPr/>
          <p:nvPr/>
        </p:nvSpPr>
        <p:spPr>
          <a:xfrm>
            <a:off x="9464040" y="1847088"/>
            <a:ext cx="2103120" cy="2103120"/>
          </a:xfrm>
          <a:prstGeom prst="ellipse">
            <a:avLst/>
          </a:prstGeom>
          <a:solidFill>
            <a:srgbClr val="EEF0FF"/>
          </a:solidFill>
          <a:ln w="12700">
            <a:solidFill>
              <a:srgbClr val="EEF0FF"/>
            </a:solidFill>
            <a:prstDash val="solid"/>
          </a:ln>
        </p:spPr>
      </p:sp>
      <p:pic>
        <p:nvPicPr>
          <p:cNvPr id="8" name="Image 0" descr="preencoded.png">    </p:cNvPr>
          <p:cNvPicPr>
            <a:picLocks noChangeAspect="1"/>
          </p:cNvPicPr>
          <p:nvPr/>
        </p:nvPicPr>
        <p:blipFill>
          <a:blip r:embed="rId1"/>
          <a:stretch>
            <a:fillRect/>
          </a:stretch>
        </p:blipFill>
        <p:spPr>
          <a:xfrm>
            <a:off x="9968789" y="2351837"/>
            <a:ext cx="1093622" cy="1093622"/>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41</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Build, train and inspect</a:t>
            </a:r>
            <a:endParaRPr lang="en-US" sz="3200" dirty="0"/>
          </a:p>
        </p:txBody>
      </p:sp>
      <p:sp>
        <p:nvSpPr>
          <p:cNvPr id="6" name="Text 4"/>
          <p:cNvSpPr txBox="1"/>
          <p:nvPr/>
        </p:nvSpPr>
        <p:spPr>
          <a:xfrm>
            <a:off x="548640" y="1481328"/>
            <a:ext cx="11094415" cy="365760"/>
          </a:xfrm>
          <a:prstGeom prst="rect">
            <a:avLst/>
          </a:prstGeom>
          <a:noFill/>
          <a:ln/>
        </p:spPr>
        <p:txBody>
          <a:bodyPr wrap="square" lIns="0" tIns="0" rIns="0" bIns="0" rtlCol="0" anchor="t"/>
          <a:lstStyle/>
          <a:p>
            <a:pPr indent="0" marL="0">
              <a:buNone/>
            </a:pPr>
            <a:r>
              <a:rPr lang="en-US" sz="1800" dirty="0">
                <a:solidFill>
                  <a:srgbClr val="6B7280"/>
                </a:solidFill>
                <a:latin typeface="Calibri" pitchFamily="34" charset="0"/>
                <a:ea typeface="Calibri" pitchFamily="34" charset="-122"/>
                <a:cs typeface="Calibri" pitchFamily="34" charset="-120"/>
              </a:rPr>
              <a:t>Connect each experiment to the function that performs it</a:t>
            </a:r>
            <a:endParaRPr lang="en-US" sz="1800" dirty="0"/>
          </a:p>
        </p:txBody>
      </p:sp>
      <p:sp>
        <p:nvSpPr>
          <p:cNvPr id="7" name="Shape 5"/>
          <p:cNvSpPr/>
          <p:nvPr/>
        </p:nvSpPr>
        <p:spPr>
          <a:xfrm>
            <a:off x="3762331" y="2569464"/>
            <a:ext cx="861033" cy="0"/>
          </a:xfrm>
          <a:prstGeom prst="line">
            <a:avLst/>
          </a:prstGeom>
          <a:noFill/>
          <a:ln w="20320">
            <a:solidFill>
              <a:srgbClr val="4F46E5"/>
            </a:solidFill>
            <a:prstDash val="solid"/>
            <a:tailEnd type="triangle"/>
          </a:ln>
        </p:spPr>
      </p:sp>
      <p:sp>
        <p:nvSpPr>
          <p:cNvPr id="8" name="Shape 6"/>
          <p:cNvSpPr/>
          <p:nvPr/>
        </p:nvSpPr>
        <p:spPr>
          <a:xfrm>
            <a:off x="7568331" y="2569464"/>
            <a:ext cx="861033" cy="0"/>
          </a:xfrm>
          <a:prstGeom prst="line">
            <a:avLst/>
          </a:prstGeom>
          <a:noFill/>
          <a:ln w="20320">
            <a:solidFill>
              <a:srgbClr val="4F46E5"/>
            </a:solidFill>
            <a:prstDash val="solid"/>
            <a:tailEnd type="triangle"/>
          </a:ln>
        </p:spPr>
      </p:sp>
      <p:sp>
        <p:nvSpPr>
          <p:cNvPr id="9" name="Shape 7"/>
          <p:cNvSpPr/>
          <p:nvPr/>
        </p:nvSpPr>
        <p:spPr>
          <a:xfrm>
            <a:off x="9901848" y="3621024"/>
            <a:ext cx="0" cy="54864"/>
          </a:xfrm>
          <a:prstGeom prst="line">
            <a:avLst/>
          </a:prstGeom>
          <a:noFill/>
          <a:ln w="20320">
            <a:solidFill>
              <a:srgbClr val="4F46E5"/>
            </a:solidFill>
            <a:prstDash val="solid"/>
            <a:tailEnd type="triangle"/>
          </a:ln>
        </p:spPr>
      </p:sp>
      <p:sp>
        <p:nvSpPr>
          <p:cNvPr id="10" name="Shape 8"/>
          <p:cNvSpPr/>
          <p:nvPr/>
        </p:nvSpPr>
        <p:spPr>
          <a:xfrm flipH="1">
            <a:off x="7568331" y="4398264"/>
            <a:ext cx="861033" cy="0"/>
          </a:xfrm>
          <a:prstGeom prst="line">
            <a:avLst/>
          </a:prstGeom>
          <a:noFill/>
          <a:ln w="20320">
            <a:solidFill>
              <a:srgbClr val="4F46E5"/>
            </a:solidFill>
            <a:prstDash val="solid"/>
            <a:tailEnd type="triangle"/>
          </a:ln>
        </p:spPr>
      </p:sp>
      <p:sp>
        <p:nvSpPr>
          <p:cNvPr id="11" name="Shape 9"/>
          <p:cNvSpPr/>
          <p:nvPr/>
        </p:nvSpPr>
        <p:spPr>
          <a:xfrm flipH="1">
            <a:off x="3762331" y="4398264"/>
            <a:ext cx="861033" cy="0"/>
          </a:xfrm>
          <a:prstGeom prst="line">
            <a:avLst/>
          </a:prstGeom>
          <a:noFill/>
          <a:ln w="20320">
            <a:solidFill>
              <a:srgbClr val="4F46E5"/>
            </a:solidFill>
            <a:prstDash val="solid"/>
            <a:tailEnd type="triangle"/>
          </a:ln>
        </p:spPr>
      </p:sp>
      <p:sp>
        <p:nvSpPr>
          <p:cNvPr id="12" name="Shape 10"/>
          <p:cNvSpPr/>
          <p:nvPr/>
        </p:nvSpPr>
        <p:spPr>
          <a:xfrm>
            <a:off x="872227" y="1883664"/>
            <a:ext cx="2835239" cy="1344168"/>
          </a:xfrm>
          <a:prstGeom prst="rect">
            <a:avLst/>
          </a:prstGeom>
          <a:solidFill>
            <a:srgbClr val="F5F3FF"/>
          </a:solidFill>
          <a:ln w="16510">
            <a:solidFill>
              <a:srgbClr val="4F46E5"/>
            </a:solidFill>
            <a:prstDash val="solid"/>
          </a:ln>
        </p:spPr>
      </p:sp>
      <p:sp>
        <p:nvSpPr>
          <p:cNvPr id="13" name="Text 11"/>
          <p:cNvSpPr txBox="1"/>
          <p:nvPr/>
        </p:nvSpPr>
        <p:spPr>
          <a:xfrm>
            <a:off x="945379"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1. Check attention</a:t>
            </a:r>
            <a:endParaRPr lang="en-US" sz="1900" dirty="0"/>
          </a:p>
        </p:txBody>
      </p:sp>
      <p:sp>
        <p:nvSpPr>
          <p:cNvPr id="14" name="Text 12"/>
          <p:cNvSpPr txBox="1"/>
          <p:nvPr/>
        </p:nvSpPr>
        <p:spPr>
          <a:xfrm>
            <a:off x="963667"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Compare numerical outputs with the example and PyTorch</a:t>
            </a:r>
            <a:endParaRPr lang="en-US" sz="1700" dirty="0"/>
          </a:p>
        </p:txBody>
      </p:sp>
      <p:sp>
        <p:nvSpPr>
          <p:cNvPr id="15" name="Text 13"/>
          <p:cNvSpPr txBox="1"/>
          <p:nvPr/>
        </p:nvSpPr>
        <p:spPr>
          <a:xfrm>
            <a:off x="927091"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attention / causal_mask</a:t>
            </a:r>
            <a:endParaRPr lang="en-US" sz="1200" dirty="0"/>
          </a:p>
        </p:txBody>
      </p:sp>
      <p:sp>
        <p:nvSpPr>
          <p:cNvPr id="16" name="Text 14"/>
          <p:cNvSpPr txBox="1"/>
          <p:nvPr/>
        </p:nvSpPr>
        <p:spPr>
          <a:xfrm>
            <a:off x="872227"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checked attention operation</a:t>
            </a:r>
            <a:endParaRPr lang="en-US" sz="1500" dirty="0"/>
          </a:p>
        </p:txBody>
      </p:sp>
      <p:sp>
        <p:nvSpPr>
          <p:cNvPr id="17" name="Shape 15"/>
          <p:cNvSpPr/>
          <p:nvPr/>
        </p:nvSpPr>
        <p:spPr>
          <a:xfrm>
            <a:off x="4678228" y="1883664"/>
            <a:ext cx="2835239" cy="1344168"/>
          </a:xfrm>
          <a:prstGeom prst="rect">
            <a:avLst/>
          </a:prstGeom>
          <a:solidFill>
            <a:srgbClr val="F5F3FF"/>
          </a:solidFill>
          <a:ln w="16510">
            <a:solidFill>
              <a:srgbClr val="4F46E5"/>
            </a:solidFill>
            <a:prstDash val="solid"/>
          </a:ln>
        </p:spPr>
      </p:sp>
      <p:sp>
        <p:nvSpPr>
          <p:cNvPr id="18" name="Text 16"/>
          <p:cNvSpPr txBox="1"/>
          <p:nvPr/>
        </p:nvSpPr>
        <p:spPr>
          <a:xfrm>
            <a:off x="4751380"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2. Assemble blocks</a:t>
            </a:r>
            <a:endParaRPr lang="en-US" sz="1900" dirty="0"/>
          </a:p>
        </p:txBody>
      </p:sp>
      <p:sp>
        <p:nvSpPr>
          <p:cNvPr id="19" name="Text 17"/>
          <p:cNvSpPr txBox="1"/>
          <p:nvPr/>
        </p:nvSpPr>
        <p:spPr>
          <a:xfrm>
            <a:off x="4769668"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Split heads, mix information, preserve residual paths</a:t>
            </a:r>
            <a:endParaRPr lang="en-US" sz="1700" dirty="0"/>
          </a:p>
        </p:txBody>
      </p:sp>
      <p:sp>
        <p:nvSpPr>
          <p:cNvPr id="20" name="Text 18"/>
          <p:cNvSpPr txBox="1"/>
          <p:nvPr/>
        </p:nvSpPr>
        <p:spPr>
          <a:xfrm>
            <a:off x="4733092"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MultiHeadAttention / Block</a:t>
            </a:r>
            <a:endParaRPr lang="en-US" sz="1200" dirty="0"/>
          </a:p>
        </p:txBody>
      </p:sp>
      <p:sp>
        <p:nvSpPr>
          <p:cNvPr id="21" name="Text 19"/>
          <p:cNvSpPr txBox="1"/>
          <p:nvPr/>
        </p:nvSpPr>
        <p:spPr>
          <a:xfrm>
            <a:off x="4678228"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complete model components</a:t>
            </a:r>
            <a:endParaRPr lang="en-US" sz="1500" dirty="0"/>
          </a:p>
        </p:txBody>
      </p:sp>
      <p:sp>
        <p:nvSpPr>
          <p:cNvPr id="22" name="Shape 20"/>
          <p:cNvSpPr/>
          <p:nvPr/>
        </p:nvSpPr>
        <p:spPr>
          <a:xfrm>
            <a:off x="8484229" y="1883664"/>
            <a:ext cx="2835239" cy="1344168"/>
          </a:xfrm>
          <a:prstGeom prst="rect">
            <a:avLst/>
          </a:prstGeom>
          <a:solidFill>
            <a:srgbClr val="F5F3FF"/>
          </a:solidFill>
          <a:ln w="16510">
            <a:solidFill>
              <a:srgbClr val="4F46E5"/>
            </a:solidFill>
            <a:prstDash val="solid"/>
          </a:ln>
        </p:spPr>
      </p:sp>
      <p:sp>
        <p:nvSpPr>
          <p:cNvPr id="23" name="Text 21"/>
          <p:cNvSpPr txBox="1"/>
          <p:nvPr/>
        </p:nvSpPr>
        <p:spPr>
          <a:xfrm>
            <a:off x="8557381" y="19293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3. Prepare batches</a:t>
            </a:r>
            <a:endParaRPr lang="en-US" sz="1900" dirty="0"/>
          </a:p>
        </p:txBody>
      </p:sp>
      <p:sp>
        <p:nvSpPr>
          <p:cNvPr id="24" name="Text 22"/>
          <p:cNvSpPr txBox="1"/>
          <p:nvPr/>
        </p:nvSpPr>
        <p:spPr>
          <a:xfrm>
            <a:off x="8575669" y="23865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Input characters pair with one-position-shifted target characters</a:t>
            </a:r>
            <a:endParaRPr lang="en-US" sz="1700" dirty="0"/>
          </a:p>
        </p:txBody>
      </p:sp>
      <p:sp>
        <p:nvSpPr>
          <p:cNvPr id="25" name="Text 23"/>
          <p:cNvSpPr txBox="1"/>
          <p:nvPr/>
        </p:nvSpPr>
        <p:spPr>
          <a:xfrm>
            <a:off x="8539093" y="30083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get_batch</a:t>
            </a:r>
            <a:endParaRPr lang="en-US" sz="1200" dirty="0"/>
          </a:p>
        </p:txBody>
      </p:sp>
      <p:sp>
        <p:nvSpPr>
          <p:cNvPr id="26" name="Text 24"/>
          <p:cNvSpPr txBox="1"/>
          <p:nvPr/>
        </p:nvSpPr>
        <p:spPr>
          <a:xfrm>
            <a:off x="8484229" y="32644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input/target batches</a:t>
            </a:r>
            <a:endParaRPr lang="en-US" sz="1500" dirty="0"/>
          </a:p>
        </p:txBody>
      </p:sp>
      <p:sp>
        <p:nvSpPr>
          <p:cNvPr id="27" name="Shape 25"/>
          <p:cNvSpPr/>
          <p:nvPr/>
        </p:nvSpPr>
        <p:spPr>
          <a:xfrm>
            <a:off x="8484229" y="3712464"/>
            <a:ext cx="2835239" cy="1344168"/>
          </a:xfrm>
          <a:prstGeom prst="rect">
            <a:avLst/>
          </a:prstGeom>
          <a:solidFill>
            <a:srgbClr val="F5F3FF"/>
          </a:solidFill>
          <a:ln w="16510">
            <a:solidFill>
              <a:srgbClr val="4F46E5"/>
            </a:solidFill>
            <a:prstDash val="solid"/>
          </a:ln>
        </p:spPr>
      </p:sp>
      <p:sp>
        <p:nvSpPr>
          <p:cNvPr id="28" name="Text 26"/>
          <p:cNvSpPr txBox="1"/>
          <p:nvPr/>
        </p:nvSpPr>
        <p:spPr>
          <a:xfrm>
            <a:off x="8557381"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4. Train CharGPT</a:t>
            </a:r>
            <a:endParaRPr lang="en-US" sz="1900" dirty="0"/>
          </a:p>
        </p:txBody>
      </p:sp>
      <p:sp>
        <p:nvSpPr>
          <p:cNvPr id="29" name="Text 27"/>
          <p:cNvSpPr txBox="1"/>
          <p:nvPr/>
        </p:nvSpPr>
        <p:spPr>
          <a:xfrm>
            <a:off x="8575669"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Prediction error adjusts model parameters</a:t>
            </a:r>
            <a:endParaRPr lang="en-US" sz="1700" dirty="0"/>
          </a:p>
        </p:txBody>
      </p:sp>
      <p:sp>
        <p:nvSpPr>
          <p:cNvPr id="30" name="Text 28"/>
          <p:cNvSpPr txBox="1"/>
          <p:nvPr/>
        </p:nvSpPr>
        <p:spPr>
          <a:xfrm>
            <a:off x="8539093"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gpt / opt</a:t>
            </a:r>
            <a:endParaRPr lang="en-US" sz="1200" dirty="0"/>
          </a:p>
        </p:txBody>
      </p:sp>
      <p:sp>
        <p:nvSpPr>
          <p:cNvPr id="31" name="Text 29"/>
          <p:cNvSpPr txBox="1"/>
          <p:nvPr/>
        </p:nvSpPr>
        <p:spPr>
          <a:xfrm>
            <a:off x="8484229"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trained parameters</a:t>
            </a:r>
            <a:endParaRPr lang="en-US" sz="1500" dirty="0"/>
          </a:p>
        </p:txBody>
      </p:sp>
      <p:sp>
        <p:nvSpPr>
          <p:cNvPr id="32" name="Shape 30"/>
          <p:cNvSpPr/>
          <p:nvPr/>
        </p:nvSpPr>
        <p:spPr>
          <a:xfrm>
            <a:off x="4678228" y="3712464"/>
            <a:ext cx="2835239" cy="1344168"/>
          </a:xfrm>
          <a:prstGeom prst="rect">
            <a:avLst/>
          </a:prstGeom>
          <a:solidFill>
            <a:srgbClr val="F5F3FF"/>
          </a:solidFill>
          <a:ln w="16510">
            <a:solidFill>
              <a:srgbClr val="4F46E5"/>
            </a:solidFill>
            <a:prstDash val="solid"/>
          </a:ln>
        </p:spPr>
      </p:sp>
      <p:sp>
        <p:nvSpPr>
          <p:cNvPr id="33" name="Text 31"/>
          <p:cNvSpPr txBox="1"/>
          <p:nvPr/>
        </p:nvSpPr>
        <p:spPr>
          <a:xfrm>
            <a:off x="4751380"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5. Validate and sample</a:t>
            </a:r>
            <a:endParaRPr lang="en-US" sz="1900" dirty="0"/>
          </a:p>
        </p:txBody>
      </p:sp>
      <p:sp>
        <p:nvSpPr>
          <p:cNvPr id="34" name="Text 32"/>
          <p:cNvSpPr txBox="1"/>
          <p:nvPr/>
        </p:nvSpPr>
        <p:spPr>
          <a:xfrm>
            <a:off x="4769668"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Measure unseen-text loss, then generate continuations</a:t>
            </a:r>
            <a:endParaRPr lang="en-US" sz="1700" dirty="0"/>
          </a:p>
        </p:txBody>
      </p:sp>
      <p:sp>
        <p:nvSpPr>
          <p:cNvPr id="35" name="Text 33"/>
          <p:cNvSpPr txBox="1"/>
          <p:nvPr/>
        </p:nvSpPr>
        <p:spPr>
          <a:xfrm>
            <a:off x="4733092"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val_loss / CharGPT.generate</a:t>
            </a:r>
            <a:endParaRPr lang="en-US" sz="1200" dirty="0"/>
          </a:p>
        </p:txBody>
      </p:sp>
      <p:sp>
        <p:nvSpPr>
          <p:cNvPr id="36" name="Text 34"/>
          <p:cNvSpPr txBox="1"/>
          <p:nvPr/>
        </p:nvSpPr>
        <p:spPr>
          <a:xfrm>
            <a:off x="4678228" y="5093208"/>
            <a:ext cx="2835239" cy="329184"/>
          </a:xfrm>
          <a:prstGeom prst="rect">
            <a:avLst/>
          </a:prstGeom>
          <a:noFill/>
          <a:ln/>
        </p:spPr>
        <p:txBody>
          <a:bodyPr wrap="square" lIns="0" tIns="0" rIns="0" bIns="0" rtlCol="0" anchor="ctr"/>
          <a:lstStyle/>
          <a:p>
            <a:pPr algn="ctr" indent="0" marL="0">
              <a:buNone/>
            </a:pPr>
            <a:r>
              <a:rPr lang="en-US" sz="1500" dirty="0">
                <a:solidFill>
                  <a:srgbClr val="0F766E"/>
                </a:solidFill>
                <a:latin typeface="Calibri" pitchFamily="34" charset="0"/>
                <a:ea typeface="Calibri" pitchFamily="34" charset="-122"/>
                <a:cs typeface="Calibri" pitchFamily="34" charset="-120"/>
              </a:rPr>
              <a:t>Pass: samples and measured loss</a:t>
            </a:r>
            <a:endParaRPr lang="en-US" sz="1500" dirty="0"/>
          </a:p>
        </p:txBody>
      </p:sp>
      <p:sp>
        <p:nvSpPr>
          <p:cNvPr id="37" name="Shape 35"/>
          <p:cNvSpPr/>
          <p:nvPr/>
        </p:nvSpPr>
        <p:spPr>
          <a:xfrm>
            <a:off x="872227" y="3712464"/>
            <a:ext cx="2835239" cy="1344168"/>
          </a:xfrm>
          <a:prstGeom prst="rect">
            <a:avLst/>
          </a:prstGeom>
          <a:solidFill>
            <a:srgbClr val="F5F3FF"/>
          </a:solidFill>
          <a:ln w="16510">
            <a:solidFill>
              <a:srgbClr val="4F46E5"/>
            </a:solidFill>
            <a:prstDash val="solid"/>
          </a:ln>
        </p:spPr>
      </p:sp>
      <p:sp>
        <p:nvSpPr>
          <p:cNvPr id="38" name="Text 36"/>
          <p:cNvSpPr txBox="1"/>
          <p:nvPr/>
        </p:nvSpPr>
        <p:spPr>
          <a:xfrm>
            <a:off x="945379" y="3758184"/>
            <a:ext cx="2688935" cy="448056"/>
          </a:xfrm>
          <a:prstGeom prst="rect">
            <a:avLst/>
          </a:prstGeom>
          <a:noFill/>
          <a:ln/>
        </p:spPr>
        <p:txBody>
          <a:bodyPr wrap="square" lIns="0" tIns="0" rIns="0" bIns="0" rtlCol="0" anchor="ctr"/>
          <a:lstStyle/>
          <a:p>
            <a:pPr algn="ctr" indent="0" marL="0">
              <a:buNone/>
            </a:pPr>
            <a:r>
              <a:rPr lang="en-US" sz="1900" b="1" dirty="0">
                <a:solidFill>
                  <a:srgbClr val="1E1B4B"/>
                </a:solidFill>
                <a:latin typeface="Calibri" pitchFamily="34" charset="0"/>
                <a:ea typeface="Calibri" pitchFamily="34" charset="-122"/>
                <a:cs typeface="Calibri" pitchFamily="34" charset="-120"/>
              </a:rPr>
              <a:t>6. Inspect real heads</a:t>
            </a:r>
            <a:endParaRPr lang="en-US" sz="1900" dirty="0"/>
          </a:p>
        </p:txBody>
      </p:sp>
      <p:sp>
        <p:nvSpPr>
          <p:cNvPr id="39" name="Text 37"/>
          <p:cNvSpPr txBox="1"/>
          <p:nvPr/>
        </p:nvSpPr>
        <p:spPr>
          <a:xfrm>
            <a:off x="963667" y="4215384"/>
            <a:ext cx="2652359" cy="594360"/>
          </a:xfrm>
          <a:prstGeom prst="rect">
            <a:avLst/>
          </a:prstGeom>
          <a:noFill/>
          <a:ln/>
        </p:spPr>
        <p:txBody>
          <a:bodyPr wrap="square" lIns="0" tIns="0" rIns="0" bIns="0" rtlCol="0" anchor="ctr"/>
          <a:lstStyle/>
          <a:p>
            <a:pPr algn="ctr" indent="0" marL="0">
              <a:buNone/>
            </a:pPr>
            <a:r>
              <a:rPr lang="en-US" sz="1700" dirty="0">
                <a:solidFill>
                  <a:srgbClr val="1F2937"/>
                </a:solidFill>
                <a:latin typeface="Calibri" pitchFamily="34" charset="0"/>
                <a:ea typeface="Calibri" pitchFamily="34" charset="-122"/>
                <a:cs typeface="Calibri" pitchFamily="34" charset="-120"/>
              </a:rPr>
              <a:t>Separate BERT and GPT-2 experiments plot pretrained attention</a:t>
            </a:r>
            <a:endParaRPr lang="en-US" sz="1700" dirty="0"/>
          </a:p>
        </p:txBody>
      </p:sp>
      <p:sp>
        <p:nvSpPr>
          <p:cNvPr id="40" name="Text 38"/>
          <p:cNvSpPr txBox="1"/>
          <p:nvPr/>
        </p:nvSpPr>
        <p:spPr>
          <a:xfrm>
            <a:off x="927091" y="4837176"/>
            <a:ext cx="2725511" cy="182880"/>
          </a:xfrm>
          <a:prstGeom prst="rect">
            <a:avLst/>
          </a:prstGeom>
          <a:noFill/>
          <a:ln/>
        </p:spPr>
        <p:txBody>
          <a:bodyPr wrap="square" lIns="0" tIns="0" rIns="0" bIns="0" rtlCol="0" anchor="ctr"/>
          <a:lstStyle/>
          <a:p>
            <a:pPr algn="ctr" indent="0" marL="0">
              <a:buNone/>
            </a:pPr>
            <a:r>
              <a:rPr lang="en-US" sz="1200" dirty="0">
                <a:solidFill>
                  <a:srgbClr val="0F766E"/>
                </a:solidFill>
                <a:latin typeface="Consolas" pitchFamily="34" charset="0"/>
                <a:ea typeface="Consolas" pitchFamily="34" charset="-122"/>
                <a:cs typeface="Consolas" pitchFamily="34" charset="-120"/>
              </a:rPr>
              <a:t>bert_att / att</a:t>
            </a:r>
            <a:endParaRPr lang="en-US" sz="1200" dirty="0"/>
          </a:p>
        </p:txBody>
      </p:sp>
      <p:sp>
        <p:nvSpPr>
          <p:cNvPr id="41" name="Text 3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700" dirty="0">
                <a:solidFill>
                  <a:srgbClr val="1F2937"/>
                </a:solidFill>
                <a:latin typeface="Calibri" pitchFamily="34" charset="0"/>
                <a:ea typeface="Calibri" pitchFamily="34" charset="-122"/>
                <a:cs typeface="Calibri" pitchFamily="34" charset="-120"/>
              </a:rPr>
              <a:t>Check: Which function supplies the known next characters during training, and which evaluates separate text?</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42</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Lab 5: build attention and a small GPT</a:t>
            </a:r>
            <a:endParaRPr lang="en-US" sz="3200" dirty="0"/>
          </a:p>
        </p:txBody>
      </p:sp>
      <p:sp>
        <p:nvSpPr>
          <p:cNvPr id="6" name="Shape 4"/>
          <p:cNvSpPr/>
          <p:nvPr/>
        </p:nvSpPr>
        <p:spPr>
          <a:xfrm>
            <a:off x="548640" y="1527048"/>
            <a:ext cx="411480" cy="411480"/>
          </a:xfrm>
          <a:prstGeom prst="ellipse">
            <a:avLst/>
          </a:prstGeom>
          <a:solidFill>
            <a:srgbClr val="0F766E"/>
          </a:solidFill>
          <a:ln w="12700">
            <a:solidFill>
              <a:srgbClr val="0F766E"/>
            </a:solidFill>
            <a:prstDash val="solid"/>
          </a:ln>
        </p:spPr>
      </p:sp>
      <p:sp>
        <p:nvSpPr>
          <p:cNvPr id="7" name="Text 5"/>
          <p:cNvSpPr txBox="1"/>
          <p:nvPr/>
        </p:nvSpPr>
        <p:spPr>
          <a:xfrm>
            <a:off x="548640" y="152704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1143000" y="148132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a:t>
            </a:r>
            <a:pPr indent="0" marL="0">
              <a:buNone/>
            </a:pPr>
            <a:r>
              <a:rPr lang="en-US" sz="1700" b="1" dirty="0">
                <a:solidFill>
                  <a:srgbClr val="1F2937"/>
                </a:solidFill>
                <a:latin typeface="Calibri" pitchFamily="34" charset="0"/>
                <a:ea typeface="Calibri" pitchFamily="34" charset="-122"/>
                <a:cs typeface="Calibri" pitchFamily="34" charset="-120"/>
              </a:rPr>
              <a:t>scaled dot-product attention</a:t>
            </a:r>
            <a:pPr indent="0" marL="0">
              <a:buNone/>
            </a:pPr>
            <a:r>
              <a:rPr lang="en-US" sz="1700" dirty="0">
                <a:solidFill>
                  <a:srgbClr val="1F2937"/>
                </a:solidFill>
                <a:latin typeface="Calibri" pitchFamily="34" charset="0"/>
                <a:ea typeface="Calibri" pitchFamily="34" charset="-122"/>
                <a:cs typeface="Calibri" pitchFamily="34" charset="-120"/>
              </a:rPr>
              <a:t>; check it against the worked example and PyTorch's built-in function.</a:t>
            </a:r>
            <a:endParaRPr lang="en-US" sz="1700" dirty="0"/>
          </a:p>
        </p:txBody>
      </p:sp>
      <p:sp>
        <p:nvSpPr>
          <p:cNvPr id="9" name="Shape 7"/>
          <p:cNvSpPr/>
          <p:nvPr/>
        </p:nvSpPr>
        <p:spPr>
          <a:xfrm>
            <a:off x="548640" y="2331720"/>
            <a:ext cx="411480" cy="411480"/>
          </a:xfrm>
          <a:prstGeom prst="ellipse">
            <a:avLst/>
          </a:prstGeom>
          <a:solidFill>
            <a:srgbClr val="0F766E"/>
          </a:solidFill>
          <a:ln w="12700">
            <a:solidFill>
              <a:srgbClr val="0F766E"/>
            </a:solidFill>
            <a:prstDash val="solid"/>
          </a:ln>
        </p:spPr>
      </p:sp>
      <p:sp>
        <p:nvSpPr>
          <p:cNvPr id="10" name="Text 8"/>
          <p:cNvSpPr txBox="1"/>
          <p:nvPr/>
        </p:nvSpPr>
        <p:spPr>
          <a:xfrm>
            <a:off x="5486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1143000" y="2286000"/>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Add the </a:t>
            </a:r>
            <a:pPr indent="0" marL="0">
              <a:buNone/>
            </a:pPr>
            <a:r>
              <a:rPr lang="en-US" sz="1700" b="1" dirty="0">
                <a:solidFill>
                  <a:srgbClr val="1F2937"/>
                </a:solidFill>
                <a:latin typeface="Calibri" pitchFamily="34" charset="0"/>
                <a:ea typeface="Calibri" pitchFamily="34" charset="-122"/>
                <a:cs typeface="Calibri" pitchFamily="34" charset="-120"/>
              </a:rPr>
              <a:t>causal mask</a:t>
            </a:r>
            <a:pPr indent="0" marL="0">
              <a:buNone/>
            </a:pPr>
            <a:r>
              <a:rPr lang="en-US" sz="1700" dirty="0">
                <a:solidFill>
                  <a:srgbClr val="1F2937"/>
                </a:solidFill>
                <a:latin typeface="Calibri" pitchFamily="34" charset="0"/>
                <a:ea typeface="Calibri" pitchFamily="34" charset="-122"/>
                <a:cs typeface="Calibri" pitchFamily="34" charset="-120"/>
              </a:rPr>
              <a:t>; verify future tokens get zero weight; show attention without positions is order-blind.</a:t>
            </a:r>
            <a:endParaRPr lang="en-US" sz="1700" dirty="0"/>
          </a:p>
        </p:txBody>
      </p:sp>
      <p:sp>
        <p:nvSpPr>
          <p:cNvPr id="12" name="Shape 10"/>
          <p:cNvSpPr/>
          <p:nvPr/>
        </p:nvSpPr>
        <p:spPr>
          <a:xfrm>
            <a:off x="548640" y="3136392"/>
            <a:ext cx="411480" cy="411480"/>
          </a:xfrm>
          <a:prstGeom prst="ellipse">
            <a:avLst/>
          </a:prstGeom>
          <a:solidFill>
            <a:srgbClr val="0F766E"/>
          </a:solidFill>
          <a:ln w="12700">
            <a:solidFill>
              <a:srgbClr val="0F766E"/>
            </a:solidFill>
            <a:prstDash val="solid"/>
          </a:ln>
        </p:spPr>
      </p:sp>
      <p:sp>
        <p:nvSpPr>
          <p:cNvPr id="13" name="Text 11"/>
          <p:cNvSpPr txBox="1"/>
          <p:nvPr/>
        </p:nvSpPr>
        <p:spPr>
          <a:xfrm>
            <a:off x="548640" y="3136392"/>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43000" y="3090672"/>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Implement </a:t>
            </a:r>
            <a:pPr indent="0" marL="0">
              <a:buNone/>
            </a:pPr>
            <a:r>
              <a:rPr lang="en-US" sz="1700" b="1" dirty="0">
                <a:solidFill>
                  <a:srgbClr val="1F2937"/>
                </a:solidFill>
                <a:latin typeface="Calibri" pitchFamily="34" charset="0"/>
                <a:ea typeface="Calibri" pitchFamily="34" charset="-122"/>
                <a:cs typeface="Calibri" pitchFamily="34" charset="-120"/>
              </a:rPr>
              <a:t>multi-head attention</a:t>
            </a:r>
            <a:pPr indent="0" marL="0">
              <a:buNone/>
            </a:pPr>
            <a:r>
              <a:rPr lang="en-US" sz="1700" dirty="0">
                <a:solidFill>
                  <a:srgbClr val="1F2937"/>
                </a:solidFill>
                <a:latin typeface="Calibri" pitchFamily="34" charset="0"/>
                <a:ea typeface="Calibri" pitchFamily="34" charset="-122"/>
                <a:cs typeface="Calibri" pitchFamily="34" charset="-120"/>
              </a:rPr>
              <a:t> (split heads, attend, merge) and a pre-norm </a:t>
            </a:r>
            <a:pPr indent="0" marL="0">
              <a:buNone/>
            </a:pPr>
            <a:r>
              <a:rPr lang="en-US" sz="1700" b="1" dirty="0">
                <a:solidFill>
                  <a:srgbClr val="1F2937"/>
                </a:solidFill>
                <a:latin typeface="Calibri" pitchFamily="34" charset="0"/>
                <a:ea typeface="Calibri" pitchFamily="34" charset="-122"/>
                <a:cs typeface="Calibri" pitchFamily="34" charset="-120"/>
              </a:rPr>
              <a:t>transformer block</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15" name="Shape 13"/>
          <p:cNvSpPr/>
          <p:nvPr/>
        </p:nvSpPr>
        <p:spPr>
          <a:xfrm>
            <a:off x="548640" y="3941064"/>
            <a:ext cx="411480" cy="411480"/>
          </a:xfrm>
          <a:prstGeom prst="ellipse">
            <a:avLst/>
          </a:prstGeom>
          <a:solidFill>
            <a:srgbClr val="0F766E"/>
          </a:solidFill>
          <a:ln w="12700">
            <a:solidFill>
              <a:srgbClr val="0F766E"/>
            </a:solidFill>
            <a:prstDash val="solid"/>
          </a:ln>
        </p:spPr>
      </p:sp>
      <p:sp>
        <p:nvSpPr>
          <p:cNvPr id="16" name="Text 14"/>
          <p:cNvSpPr txBox="1"/>
          <p:nvPr/>
        </p:nvSpPr>
        <p:spPr>
          <a:xfrm>
            <a:off x="548640" y="3941064"/>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143000" y="3895344"/>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Train a </a:t>
            </a:r>
            <a:pPr indent="0" marL="0">
              <a:buNone/>
            </a:pPr>
            <a:r>
              <a:rPr lang="en-US" sz="1700" b="1" dirty="0">
                <a:solidFill>
                  <a:srgbClr val="1F2937"/>
                </a:solidFill>
                <a:latin typeface="Calibri" pitchFamily="34" charset="0"/>
                <a:ea typeface="Calibri" pitchFamily="34" charset="-122"/>
                <a:cs typeface="Calibri" pitchFamily="34" charset="-120"/>
              </a:rPr>
              <a:t>character-level GPT</a:t>
            </a:r>
            <a:pPr indent="0" marL="0">
              <a:buNone/>
            </a:pPr>
            <a:r>
              <a:rPr lang="en-US" sz="1700" dirty="0">
                <a:solidFill>
                  <a:srgbClr val="1F2937"/>
                </a:solidFill>
                <a:latin typeface="Calibri" pitchFamily="34" charset="0"/>
                <a:ea typeface="Calibri" pitchFamily="34" charset="-122"/>
                <a:cs typeface="Calibri" pitchFamily="34" charset="-120"/>
              </a:rPr>
              <a:t> on Tiny Shakespeare; plot validation loss and </a:t>
            </a:r>
            <a:pPr indent="0" marL="0">
              <a:buNone/>
            </a:pPr>
            <a:r>
              <a:rPr lang="en-US" sz="1700" b="1" dirty="0">
                <a:solidFill>
                  <a:srgbClr val="1F2937"/>
                </a:solidFill>
                <a:latin typeface="Calibri" pitchFamily="34" charset="0"/>
                <a:ea typeface="Calibri" pitchFamily="34" charset="-122"/>
                <a:cs typeface="Calibri" pitchFamily="34" charset="-120"/>
              </a:rPr>
              <a:t>perplexity</a:t>
            </a:r>
            <a:pPr indent="0" marL="0">
              <a:buNone/>
            </a:pPr>
            <a:r>
              <a:rPr lang="en-US" sz="1700" dirty="0">
                <a:solidFill>
                  <a:srgbClr val="1F2937"/>
                </a:solidFill>
                <a:latin typeface="Calibri" pitchFamily="34" charset="0"/>
                <a:ea typeface="Calibri" pitchFamily="34" charset="-122"/>
                <a:cs typeface="Calibri" pitchFamily="34" charset="-120"/>
              </a:rPr>
              <a:t>; sample at different temperatures.</a:t>
            </a:r>
            <a:endParaRPr lang="en-US" sz="1700" dirty="0"/>
          </a:p>
        </p:txBody>
      </p:sp>
      <p:sp>
        <p:nvSpPr>
          <p:cNvPr id="18" name="Shape 16"/>
          <p:cNvSpPr/>
          <p:nvPr/>
        </p:nvSpPr>
        <p:spPr>
          <a:xfrm>
            <a:off x="548640" y="4745736"/>
            <a:ext cx="411480" cy="411480"/>
          </a:xfrm>
          <a:prstGeom prst="ellipse">
            <a:avLst/>
          </a:prstGeom>
          <a:solidFill>
            <a:srgbClr val="0F766E"/>
          </a:solidFill>
          <a:ln w="12700">
            <a:solidFill>
              <a:srgbClr val="0F766E"/>
            </a:solidFill>
            <a:prstDash val="solid"/>
          </a:ln>
        </p:spPr>
      </p:sp>
      <p:sp>
        <p:nvSpPr>
          <p:cNvPr id="19" name="Text 17"/>
          <p:cNvSpPr txBox="1"/>
          <p:nvPr/>
        </p:nvSpPr>
        <p:spPr>
          <a:xfrm>
            <a:off x="548640" y="4745736"/>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0" name="Text 18"/>
          <p:cNvSpPr txBox="1"/>
          <p:nvPr/>
        </p:nvSpPr>
        <p:spPr>
          <a:xfrm>
            <a:off x="1143000" y="4700016"/>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Interrogate pretrained </a:t>
            </a:r>
            <a:pPr indent="0" marL="0">
              <a:buNone/>
            </a:pPr>
            <a:r>
              <a:rPr lang="en-US" sz="1700" b="1" dirty="0">
                <a:solidFill>
                  <a:srgbClr val="1F2937"/>
                </a:solidFill>
                <a:latin typeface="Calibri" pitchFamily="34" charset="0"/>
                <a:ea typeface="Calibri" pitchFamily="34" charset="-122"/>
                <a:cs typeface="Calibri" pitchFamily="34" charset="-120"/>
              </a:rPr>
              <a:t>BERT and GPT-2</a:t>
            </a:r>
            <a:pPr indent="0" marL="0">
              <a:buNone/>
            </a:pPr>
            <a:r>
              <a:rPr lang="en-US" sz="1700" dirty="0">
                <a:solidFill>
                  <a:srgbClr val="1F2937"/>
                </a:solidFill>
                <a:latin typeface="Calibri" pitchFamily="34" charset="0"/>
                <a:ea typeface="Calibri" pitchFamily="34" charset="-122"/>
                <a:cs typeface="Calibri" pitchFamily="34" charset="-120"/>
              </a:rPr>
              <a:t>: plot attention for the 'it' sentence; discuss whether it explains the model.</a:t>
            </a:r>
            <a:endParaRPr lang="en-US" sz="1700" dirty="0"/>
          </a:p>
        </p:txBody>
      </p:sp>
      <p:sp>
        <p:nvSpPr>
          <p:cNvPr id="21" name="Shape 19"/>
          <p:cNvSpPr/>
          <p:nvPr/>
        </p:nvSpPr>
        <p:spPr>
          <a:xfrm>
            <a:off x="548640" y="5550408"/>
            <a:ext cx="411480" cy="411480"/>
          </a:xfrm>
          <a:prstGeom prst="ellipse">
            <a:avLst/>
          </a:prstGeom>
          <a:solidFill>
            <a:srgbClr val="0F766E"/>
          </a:solidFill>
          <a:ln w="12700">
            <a:solidFill>
              <a:srgbClr val="0F766E"/>
            </a:solidFill>
            <a:prstDash val="solid"/>
          </a:ln>
        </p:spPr>
      </p:sp>
      <p:sp>
        <p:nvSpPr>
          <p:cNvPr id="22" name="Text 20"/>
          <p:cNvSpPr txBox="1"/>
          <p:nvPr/>
        </p:nvSpPr>
        <p:spPr>
          <a:xfrm>
            <a:off x="548640" y="5550408"/>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3" name="Text 21"/>
          <p:cNvSpPr txBox="1"/>
          <p:nvPr/>
        </p:nvSpPr>
        <p:spPr>
          <a:xfrm>
            <a:off x="1143000" y="5504688"/>
            <a:ext cx="6583680" cy="804672"/>
          </a:xfrm>
          <a:prstGeom prst="rect">
            <a:avLst/>
          </a:prstGeom>
          <a:noFill/>
          <a:ln/>
        </p:spPr>
        <p:txBody>
          <a:bodyPr wrap="square" lIns="50800" tIns="50800" rIns="50800" bIns="50800" rtlCol="0" anchor="t"/>
          <a:lstStyle/>
          <a:p>
            <a:pPr indent="0" marL="0">
              <a:buNone/>
            </a:pPr>
            <a:r>
              <a:rPr lang="en-US" sz="1700" dirty="0">
                <a:solidFill>
                  <a:srgbClr val="1F2937"/>
                </a:solidFill>
                <a:latin typeface="Calibri" pitchFamily="34" charset="0"/>
                <a:ea typeface="Calibri" pitchFamily="34" charset="-122"/>
                <a:cs typeface="Calibri" pitchFamily="34" charset="-120"/>
              </a:rPr>
              <a:t>Optional: time GPT-2 generation with and without the </a:t>
            </a:r>
            <a:pPr indent="0" marL="0">
              <a:buNone/>
            </a:pPr>
            <a:r>
              <a:rPr lang="en-US" sz="1700" b="1" dirty="0">
                <a:solidFill>
                  <a:srgbClr val="1F2937"/>
                </a:solidFill>
                <a:latin typeface="Calibri" pitchFamily="34" charset="0"/>
                <a:ea typeface="Calibri" pitchFamily="34" charset="-122"/>
                <a:cs typeface="Calibri" pitchFamily="34" charset="-120"/>
              </a:rPr>
              <a:t>KV cache</a:t>
            </a:r>
            <a:pPr indent="0" marL="0">
              <a:buNone/>
            </a:pPr>
            <a:r>
              <a:rPr lang="en-US" sz="1700" dirty="0">
                <a:solidFill>
                  <a:srgbClr val="1F2937"/>
                </a:solidFill>
                <a:latin typeface="Calibri" pitchFamily="34" charset="0"/>
                <a:ea typeface="Calibri" pitchFamily="34" charset="-122"/>
                <a:cs typeface="Calibri" pitchFamily="34" charset="-120"/>
              </a:rPr>
              <a:t>.</a:t>
            </a:r>
            <a:endParaRPr lang="en-US" sz="1700" dirty="0"/>
          </a:p>
        </p:txBody>
      </p:sp>
      <p:sp>
        <p:nvSpPr>
          <p:cNvPr id="24" name="Shape 22"/>
          <p:cNvSpPr/>
          <p:nvPr/>
        </p:nvSpPr>
        <p:spPr>
          <a:xfrm>
            <a:off x="8046720" y="1481328"/>
            <a:ext cx="3596335" cy="4828032"/>
          </a:xfrm>
          <a:prstGeom prst="roundRect">
            <a:avLst>
              <a:gd name="adj" fmla="val 3051"/>
            </a:avLst>
          </a:prstGeom>
          <a:solidFill>
            <a:srgbClr val="E6F4F1"/>
          </a:solidFill>
          <a:ln w="12700">
            <a:solidFill>
              <a:srgbClr val="E6F4F1"/>
            </a:solidFill>
            <a:prstDash val="solid"/>
          </a:ln>
        </p:spPr>
      </p:sp>
      <p:sp>
        <p:nvSpPr>
          <p:cNvPr id="25" name="Shape 23"/>
          <p:cNvSpPr/>
          <p:nvPr/>
        </p:nvSpPr>
        <p:spPr>
          <a:xfrm>
            <a:off x="8229600" y="1709928"/>
            <a:ext cx="502920" cy="502920"/>
          </a:xfrm>
          <a:prstGeom prst="ellipse">
            <a:avLst/>
          </a:prstGeom>
          <a:solidFill>
            <a:srgbClr val="0F766E"/>
          </a:solidFill>
          <a:ln w="12700">
            <a:solidFill>
              <a:srgbClr val="0F766E"/>
            </a:solidFill>
            <a:prstDash val="solid"/>
          </a:ln>
        </p:spPr>
      </p:sp>
      <p:pic>
        <p:nvPicPr>
          <p:cNvPr id="26" name="Image 0" descr="preencoded.png">    </p:cNvPr>
          <p:cNvPicPr>
            <a:picLocks noChangeAspect="1"/>
          </p:cNvPicPr>
          <p:nvPr/>
        </p:nvPicPr>
        <p:blipFill>
          <a:blip r:embed="rId1"/>
          <a:stretch>
            <a:fillRect/>
          </a:stretch>
        </p:blipFill>
        <p:spPr>
          <a:xfrm>
            <a:off x="8350301" y="1830629"/>
            <a:ext cx="261518" cy="261518"/>
          </a:xfrm>
          <a:prstGeom prst="rect">
            <a:avLst/>
          </a:prstGeom>
        </p:spPr>
      </p:pic>
      <p:sp>
        <p:nvSpPr>
          <p:cNvPr id="27" name="Text 24"/>
          <p:cNvSpPr txBox="1"/>
          <p:nvPr/>
        </p:nvSpPr>
        <p:spPr>
          <a:xfrm>
            <a:off x="8869680" y="1664208"/>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Runtime</a:t>
            </a:r>
            <a:endParaRPr lang="en-US" sz="1500" dirty="0"/>
          </a:p>
        </p:txBody>
      </p:sp>
      <p:sp>
        <p:nvSpPr>
          <p:cNvPr id="28" name="Text 25"/>
          <p:cNvSpPr txBox="1"/>
          <p:nvPr/>
        </p:nvSpPr>
        <p:spPr>
          <a:xfrm>
            <a:off x="8869680" y="2011680"/>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Google Colab T4 GPU (training ≈ 3–5 min) or CPU (fewer steps)</a:t>
            </a:r>
            <a:endParaRPr lang="en-US" sz="1400" dirty="0"/>
          </a:p>
        </p:txBody>
      </p:sp>
      <p:sp>
        <p:nvSpPr>
          <p:cNvPr id="29" name="Shape 26"/>
          <p:cNvSpPr/>
          <p:nvPr/>
        </p:nvSpPr>
        <p:spPr>
          <a:xfrm>
            <a:off x="8229600" y="3227832"/>
            <a:ext cx="502920" cy="502920"/>
          </a:xfrm>
          <a:prstGeom prst="ellipse">
            <a:avLst/>
          </a:prstGeom>
          <a:solidFill>
            <a:srgbClr val="0F766E"/>
          </a:solidFill>
          <a:ln w="12700">
            <a:solidFill>
              <a:srgbClr val="0F766E"/>
            </a:solidFill>
            <a:prstDash val="solid"/>
          </a:ln>
        </p:spPr>
      </p:sp>
      <p:pic>
        <p:nvPicPr>
          <p:cNvPr id="30" name="Image 1" descr="preencoded.png">    </p:cNvPr>
          <p:cNvPicPr>
            <a:picLocks noChangeAspect="1"/>
          </p:cNvPicPr>
          <p:nvPr/>
        </p:nvPicPr>
        <p:blipFill>
          <a:blip r:embed="rId2"/>
          <a:stretch>
            <a:fillRect/>
          </a:stretch>
        </p:blipFill>
        <p:spPr>
          <a:xfrm>
            <a:off x="8350301" y="3348533"/>
            <a:ext cx="261518" cy="261518"/>
          </a:xfrm>
          <a:prstGeom prst="rect">
            <a:avLst/>
          </a:prstGeom>
        </p:spPr>
      </p:pic>
      <p:sp>
        <p:nvSpPr>
          <p:cNvPr id="31" name="Text 27"/>
          <p:cNvSpPr txBox="1"/>
          <p:nvPr/>
        </p:nvSpPr>
        <p:spPr>
          <a:xfrm>
            <a:off x="8869680" y="3182112"/>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Time</a:t>
            </a:r>
            <a:endParaRPr lang="en-US" sz="1500" dirty="0"/>
          </a:p>
        </p:txBody>
      </p:sp>
      <p:sp>
        <p:nvSpPr>
          <p:cNvPr id="32" name="Text 28"/>
          <p:cNvSpPr txBox="1"/>
          <p:nvPr/>
        </p:nvSpPr>
        <p:spPr>
          <a:xfrm>
            <a:off x="8869680" y="3529584"/>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2-hour lab</a:t>
            </a:r>
            <a:endParaRPr lang="en-US" sz="1400" dirty="0"/>
          </a:p>
        </p:txBody>
      </p:sp>
      <p:sp>
        <p:nvSpPr>
          <p:cNvPr id="33" name="Shape 29"/>
          <p:cNvSpPr/>
          <p:nvPr/>
        </p:nvSpPr>
        <p:spPr>
          <a:xfrm>
            <a:off x="8229600" y="4745736"/>
            <a:ext cx="502920" cy="502920"/>
          </a:xfrm>
          <a:prstGeom prst="ellipse">
            <a:avLst/>
          </a:prstGeom>
          <a:solidFill>
            <a:srgbClr val="0F766E"/>
          </a:solidFill>
          <a:ln w="12700">
            <a:solidFill>
              <a:srgbClr val="0F766E"/>
            </a:solidFill>
            <a:prstDash val="solid"/>
          </a:ln>
        </p:spPr>
      </p:sp>
      <p:pic>
        <p:nvPicPr>
          <p:cNvPr id="34" name="Image 2" descr="preencoded.png">    </p:cNvPr>
          <p:cNvPicPr>
            <a:picLocks noChangeAspect="1"/>
          </p:cNvPicPr>
          <p:nvPr/>
        </p:nvPicPr>
        <p:blipFill>
          <a:blip r:embed="rId3"/>
          <a:stretch>
            <a:fillRect/>
          </a:stretch>
        </p:blipFill>
        <p:spPr>
          <a:xfrm>
            <a:off x="8350301" y="4866437"/>
            <a:ext cx="261518" cy="261518"/>
          </a:xfrm>
          <a:prstGeom prst="rect">
            <a:avLst/>
          </a:prstGeom>
        </p:spPr>
      </p:pic>
      <p:sp>
        <p:nvSpPr>
          <p:cNvPr id="35" name="Text 30"/>
          <p:cNvSpPr txBox="1"/>
          <p:nvPr/>
        </p:nvSpPr>
        <p:spPr>
          <a:xfrm>
            <a:off x="8869680" y="4700016"/>
            <a:ext cx="2681935" cy="365760"/>
          </a:xfrm>
          <a:prstGeom prst="rect">
            <a:avLst/>
          </a:prstGeom>
          <a:noFill/>
          <a:ln/>
        </p:spPr>
        <p:txBody>
          <a:bodyPr wrap="square" lIns="50800" tIns="50800" rIns="50800" bIns="50800" rtlCol="0" anchor="t"/>
          <a:lstStyle/>
          <a:p>
            <a:pPr indent="0" marL="0">
              <a:buNone/>
            </a:pPr>
            <a:r>
              <a:rPr lang="en-US" sz="1500" b="1" dirty="0">
                <a:solidFill>
                  <a:srgbClr val="1E1B4B"/>
                </a:solidFill>
                <a:latin typeface="Calibri" pitchFamily="34" charset="0"/>
                <a:ea typeface="Calibri" pitchFamily="34" charset="-122"/>
                <a:cs typeface="Calibri" pitchFamily="34" charset="-120"/>
              </a:rPr>
              <a:t>Hand in</a:t>
            </a:r>
            <a:endParaRPr lang="en-US" sz="1500" dirty="0"/>
          </a:p>
        </p:txBody>
      </p:sp>
      <p:sp>
        <p:nvSpPr>
          <p:cNvPr id="36" name="Text 31"/>
          <p:cNvSpPr txBox="1"/>
          <p:nvPr/>
        </p:nvSpPr>
        <p:spPr>
          <a:xfrm>
            <a:off x="8869680" y="5047488"/>
            <a:ext cx="2636215" cy="1106424"/>
          </a:xfrm>
          <a:prstGeom prst="rect">
            <a:avLst/>
          </a:prstGeom>
          <a:noFill/>
          <a:ln/>
        </p:spPr>
        <p:txBody>
          <a:bodyPr wrap="square" lIns="50800" tIns="50800" rIns="50800" bIns="50800" rtlCol="0" anchor="t"/>
          <a:lstStyle/>
          <a:p>
            <a:pPr indent="0" marL="0">
              <a:buNone/>
            </a:pPr>
            <a:r>
              <a:rPr lang="en-US" sz="1400" dirty="0">
                <a:solidFill>
                  <a:srgbClr val="1F2937"/>
                </a:solidFill>
                <a:latin typeface="Calibri" pitchFamily="34" charset="0"/>
                <a:ea typeface="Calibri" pitchFamily="34" charset="-122"/>
                <a:cs typeface="Calibri" pitchFamily="34" charset="-120"/>
              </a:rPr>
              <a:t>Notebook with passing checks, loss curve, perplexity, samples, attention plots and written answers</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43</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Key takeaways</a:t>
            </a:r>
            <a:endParaRPr lang="en-US" sz="3200" dirty="0"/>
          </a:p>
        </p:txBody>
      </p:sp>
      <p:pic>
        <p:nvPicPr>
          <p:cNvPr id="6" name="Image 0" descr="preencoded.png">    </p:cNvPr>
          <p:cNvPicPr>
            <a:picLocks noChangeAspect="1"/>
          </p:cNvPicPr>
          <p:nvPr/>
        </p:nvPicPr>
        <p:blipFill>
          <a:blip r:embed="rId1"/>
          <a:stretch>
            <a:fillRect/>
          </a:stretch>
        </p:blipFill>
        <p:spPr>
          <a:xfrm>
            <a:off x="548640" y="1554480"/>
            <a:ext cx="384048" cy="384048"/>
          </a:xfrm>
          <a:prstGeom prst="rect">
            <a:avLst/>
          </a:prstGeom>
        </p:spPr>
      </p:pic>
      <p:sp>
        <p:nvSpPr>
          <p:cNvPr id="7" name="Text 4"/>
          <p:cNvSpPr txBox="1"/>
          <p:nvPr/>
        </p:nvSpPr>
        <p:spPr>
          <a:xfrm>
            <a:off x="1097280" y="1481328"/>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Transformers replaced RNNs because they </a:t>
            </a:r>
            <a:pPr indent="0" marL="0">
              <a:buNone/>
            </a:pPr>
            <a:r>
              <a:rPr lang="en-US" sz="1800" b="1" dirty="0">
                <a:solidFill>
                  <a:srgbClr val="1F2937"/>
                </a:solidFill>
                <a:latin typeface="Calibri" pitchFamily="34" charset="0"/>
                <a:ea typeface="Calibri" pitchFamily="34" charset="-122"/>
                <a:cs typeface="Calibri" pitchFamily="34" charset="-120"/>
              </a:rPr>
              <a:t>parallelise</a:t>
            </a:r>
            <a:pPr indent="0" marL="0">
              <a:buNone/>
            </a:pPr>
            <a:r>
              <a:rPr lang="en-US" sz="1800" dirty="0">
                <a:solidFill>
                  <a:srgbClr val="1F2937"/>
                </a:solidFill>
                <a:latin typeface="Calibri" pitchFamily="34" charset="0"/>
                <a:ea typeface="Calibri" pitchFamily="34" charset="-122"/>
                <a:cs typeface="Calibri" pitchFamily="34" charset="-120"/>
              </a:rPr>
              <a:t> and connect distant tokens directly.</a:t>
            </a:r>
            <a:endParaRPr lang="en-US" sz="1800" dirty="0"/>
          </a:p>
        </p:txBody>
      </p:sp>
      <p:pic>
        <p:nvPicPr>
          <p:cNvPr id="8" name="Image 1" descr="preencoded.png">    </p:cNvPr>
          <p:cNvPicPr>
            <a:picLocks noChangeAspect="1"/>
          </p:cNvPicPr>
          <p:nvPr/>
        </p:nvPicPr>
        <p:blipFill>
          <a:blip r:embed="rId2"/>
          <a:stretch>
            <a:fillRect/>
          </a:stretch>
        </p:blipFill>
        <p:spPr>
          <a:xfrm>
            <a:off x="548640" y="2761488"/>
            <a:ext cx="384048" cy="384048"/>
          </a:xfrm>
          <a:prstGeom prst="rect">
            <a:avLst/>
          </a:prstGeom>
        </p:spPr>
      </p:pic>
      <p:sp>
        <p:nvSpPr>
          <p:cNvPr id="9" name="Text 5"/>
          <p:cNvSpPr txBox="1"/>
          <p:nvPr/>
        </p:nvSpPr>
        <p:spPr>
          <a:xfrm>
            <a:off x="1097280" y="2688336"/>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Tokens → </a:t>
            </a:r>
            <a:pPr indent="0" marL="0">
              <a:buNone/>
            </a:pPr>
            <a:r>
              <a:rPr lang="en-US" sz="1800" b="1" dirty="0">
                <a:solidFill>
                  <a:srgbClr val="1F2937"/>
                </a:solidFill>
                <a:latin typeface="Calibri" pitchFamily="34" charset="0"/>
                <a:ea typeface="Calibri" pitchFamily="34" charset="-122"/>
                <a:cs typeface="Calibri" pitchFamily="34" charset="-120"/>
              </a:rPr>
              <a:t>embeddings</a:t>
            </a:r>
            <a:pPr indent="0" marL="0">
              <a:buNone/>
            </a:pPr>
            <a:r>
              <a:rPr lang="en-US" sz="1800" dirty="0">
                <a:solidFill>
                  <a:srgbClr val="1F2937"/>
                </a:solidFill>
                <a:latin typeface="Calibri" pitchFamily="34" charset="0"/>
                <a:ea typeface="Calibri" pitchFamily="34" charset="-122"/>
                <a:cs typeface="Calibri" pitchFamily="34" charset="-120"/>
              </a:rPr>
              <a:t> + </a:t>
            </a:r>
            <a:pPr indent="0" marL="0">
              <a:buNone/>
            </a:pPr>
            <a:r>
              <a:rPr lang="en-US" sz="1800" b="1" dirty="0">
                <a:solidFill>
                  <a:srgbClr val="1F2937"/>
                </a:solidFill>
                <a:latin typeface="Calibri" pitchFamily="34" charset="0"/>
                <a:ea typeface="Calibri" pitchFamily="34" charset="-122"/>
                <a:cs typeface="Calibri" pitchFamily="34" charset="-120"/>
              </a:rPr>
              <a:t>positional encoding</a:t>
            </a:r>
            <a:pPr indent="0" marL="0">
              <a:buNone/>
            </a:pPr>
            <a:r>
              <a:rPr lang="en-US" sz="1800" dirty="0">
                <a:solidFill>
                  <a:srgbClr val="1F2937"/>
                </a:solidFill>
                <a:latin typeface="Calibri" pitchFamily="34" charset="0"/>
                <a:ea typeface="Calibri" pitchFamily="34" charset="-122"/>
                <a:cs typeface="Calibri" pitchFamily="34" charset="-120"/>
              </a:rPr>
              <a:t> (sinusoidal, learned or rotary).</a:t>
            </a:r>
            <a:endParaRPr lang="en-US" sz="1800" dirty="0"/>
          </a:p>
        </p:txBody>
      </p:sp>
      <p:pic>
        <p:nvPicPr>
          <p:cNvPr id="10" name="Image 2" descr="preencoded.png">    </p:cNvPr>
          <p:cNvPicPr>
            <a:picLocks noChangeAspect="1"/>
          </p:cNvPicPr>
          <p:nvPr/>
        </p:nvPicPr>
        <p:blipFill>
          <a:blip r:embed="rId3"/>
          <a:stretch>
            <a:fillRect/>
          </a:stretch>
        </p:blipFill>
        <p:spPr>
          <a:xfrm>
            <a:off x="548640" y="3968496"/>
            <a:ext cx="384048" cy="384048"/>
          </a:xfrm>
          <a:prstGeom prst="rect">
            <a:avLst/>
          </a:prstGeom>
        </p:spPr>
      </p:pic>
      <p:sp>
        <p:nvSpPr>
          <p:cNvPr id="11" name="Text 6"/>
          <p:cNvSpPr txBox="1"/>
          <p:nvPr/>
        </p:nvSpPr>
        <p:spPr>
          <a:xfrm>
            <a:off x="1097280" y="3895344"/>
            <a:ext cx="4769968" cy="1161288"/>
          </a:xfrm>
          <a:prstGeom prst="rect">
            <a:avLst/>
          </a:prstGeom>
          <a:noFill/>
          <a:ln/>
        </p:spPr>
        <p:txBody>
          <a:bodyPr wrap="square" lIns="50800" tIns="50800" rIns="50800" bIns="50800" rtlCol="0" anchor="t"/>
          <a:lstStyle/>
          <a:p>
            <a:pPr indent="0" marL="0">
              <a:buNone/>
            </a:pPr>
            <a:r>
              <a:rPr lang="en-US" sz="1800" b="1" dirty="0">
                <a:solidFill>
                  <a:srgbClr val="1F2937"/>
                </a:solidFill>
                <a:latin typeface="Calibri" pitchFamily="34" charset="0"/>
                <a:ea typeface="Calibri" pitchFamily="34" charset="-122"/>
                <a:cs typeface="Calibri" pitchFamily="34" charset="-120"/>
              </a:rPr>
              <a:t>Attention = softmax(QKᵀ/√d_k)V</a:t>
            </a:r>
            <a:pPr indent="0" marL="0">
              <a:buNone/>
            </a:pPr>
            <a:r>
              <a:rPr lang="en-US" sz="1800" dirty="0">
                <a:solidFill>
                  <a:srgbClr val="1F2937"/>
                </a:solidFill>
                <a:latin typeface="Calibri" pitchFamily="34" charset="0"/>
                <a:ea typeface="Calibri" pitchFamily="34" charset="-122"/>
                <a:cs typeface="Calibri" pitchFamily="34" charset="-120"/>
              </a:rPr>
              <a:t>: each token takes a weighted average of values.</a:t>
            </a:r>
            <a:endParaRPr lang="en-US" sz="1800" dirty="0"/>
          </a:p>
        </p:txBody>
      </p:sp>
      <p:pic>
        <p:nvPicPr>
          <p:cNvPr id="12" name="Image 3" descr="preencoded.png">    </p:cNvPr>
          <p:cNvPicPr>
            <a:picLocks noChangeAspect="1"/>
          </p:cNvPicPr>
          <p:nvPr/>
        </p:nvPicPr>
        <p:blipFill>
          <a:blip r:embed="rId4"/>
          <a:stretch>
            <a:fillRect/>
          </a:stretch>
        </p:blipFill>
        <p:spPr>
          <a:xfrm>
            <a:off x="548640" y="5175504"/>
            <a:ext cx="384048" cy="384048"/>
          </a:xfrm>
          <a:prstGeom prst="rect">
            <a:avLst/>
          </a:prstGeom>
        </p:spPr>
      </p:pic>
      <p:sp>
        <p:nvSpPr>
          <p:cNvPr id="13" name="Text 7"/>
          <p:cNvSpPr txBox="1"/>
          <p:nvPr/>
        </p:nvSpPr>
        <p:spPr>
          <a:xfrm>
            <a:off x="1097280" y="5102352"/>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√d_k keeps scores in range; </a:t>
            </a:r>
            <a:pPr indent="0" marL="0">
              <a:buNone/>
            </a:pPr>
            <a:r>
              <a:rPr lang="en-US" sz="1800" b="1" dirty="0">
                <a:solidFill>
                  <a:srgbClr val="1F2937"/>
                </a:solidFill>
                <a:latin typeface="Calibri" pitchFamily="34" charset="0"/>
                <a:ea typeface="Calibri" pitchFamily="34" charset="-122"/>
                <a:cs typeface="Calibri" pitchFamily="34" charset="-120"/>
              </a:rPr>
              <a:t>multi-head</a:t>
            </a:r>
            <a:pPr indent="0" marL="0">
              <a:buNone/>
            </a:pPr>
            <a:r>
              <a:rPr lang="en-US" sz="1800" dirty="0">
                <a:solidFill>
                  <a:srgbClr val="1F2937"/>
                </a:solidFill>
                <a:latin typeface="Calibri" pitchFamily="34" charset="0"/>
                <a:ea typeface="Calibri" pitchFamily="34" charset="-122"/>
                <a:cs typeface="Calibri" pitchFamily="34" charset="-120"/>
              </a:rPr>
              <a:t> gives several views; </a:t>
            </a:r>
            <a:pPr indent="0" marL="0">
              <a:buNone/>
            </a:pPr>
            <a:r>
              <a:rPr lang="en-US" sz="1800" b="1" dirty="0">
                <a:solidFill>
                  <a:srgbClr val="1F2937"/>
                </a:solidFill>
                <a:latin typeface="Calibri" pitchFamily="34" charset="0"/>
                <a:ea typeface="Calibri" pitchFamily="34" charset="-122"/>
                <a:cs typeface="Calibri" pitchFamily="34" charset="-120"/>
              </a:rPr>
              <a:t>causal masks</a:t>
            </a:r>
            <a:pPr indent="0" marL="0">
              <a:buNone/>
            </a:pPr>
            <a:r>
              <a:rPr lang="en-US" sz="1800" dirty="0">
                <a:solidFill>
                  <a:srgbClr val="1F2937"/>
                </a:solidFill>
                <a:latin typeface="Calibri" pitchFamily="34" charset="0"/>
                <a:ea typeface="Calibri" pitchFamily="34" charset="-122"/>
                <a:cs typeface="Calibri" pitchFamily="34" charset="-120"/>
              </a:rPr>
              <a:t> block the future; </a:t>
            </a:r>
            <a:pPr indent="0" marL="0">
              <a:buNone/>
            </a:pPr>
            <a:r>
              <a:rPr lang="en-US" sz="1800" b="1" dirty="0">
                <a:solidFill>
                  <a:srgbClr val="1F2937"/>
                </a:solidFill>
                <a:latin typeface="Calibri" pitchFamily="34" charset="0"/>
                <a:ea typeface="Calibri" pitchFamily="34" charset="-122"/>
                <a:cs typeface="Calibri" pitchFamily="34" charset="-120"/>
              </a:rPr>
              <a:t>cross-attention</a:t>
            </a:r>
            <a:pPr indent="0" marL="0">
              <a:buNone/>
            </a:pPr>
            <a:r>
              <a:rPr lang="en-US" sz="1800" dirty="0">
                <a:solidFill>
                  <a:srgbClr val="1F2937"/>
                </a:solidFill>
                <a:latin typeface="Calibri" pitchFamily="34" charset="0"/>
                <a:ea typeface="Calibri" pitchFamily="34" charset="-122"/>
                <a:cs typeface="Calibri" pitchFamily="34" charset="-120"/>
              </a:rPr>
              <a:t> links sequences.</a:t>
            </a:r>
            <a:endParaRPr lang="en-US" sz="1800" dirty="0"/>
          </a:p>
        </p:txBody>
      </p:sp>
      <p:pic>
        <p:nvPicPr>
          <p:cNvPr id="14" name="Image 4" descr="preencoded.png">    </p:cNvPr>
          <p:cNvPicPr>
            <a:picLocks noChangeAspect="1"/>
          </p:cNvPicPr>
          <p:nvPr/>
        </p:nvPicPr>
        <p:blipFill>
          <a:blip r:embed="rId5"/>
          <a:stretch>
            <a:fillRect/>
          </a:stretch>
        </p:blipFill>
        <p:spPr>
          <a:xfrm>
            <a:off x="6278728" y="1554480"/>
            <a:ext cx="384048" cy="384048"/>
          </a:xfrm>
          <a:prstGeom prst="rect">
            <a:avLst/>
          </a:prstGeom>
        </p:spPr>
      </p:pic>
      <p:sp>
        <p:nvSpPr>
          <p:cNvPr id="15" name="Text 8"/>
          <p:cNvSpPr txBox="1"/>
          <p:nvPr/>
        </p:nvSpPr>
        <p:spPr>
          <a:xfrm>
            <a:off x="6827368" y="1481328"/>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A block = attention + feed-forward MLP, each with residual + normalisation; stack N blocks.</a:t>
            </a:r>
            <a:endParaRPr lang="en-US" sz="1800" dirty="0"/>
          </a:p>
        </p:txBody>
      </p:sp>
      <p:pic>
        <p:nvPicPr>
          <p:cNvPr id="16" name="Image 5" descr="preencoded.png">    </p:cNvPr>
          <p:cNvPicPr>
            <a:picLocks noChangeAspect="1"/>
          </p:cNvPicPr>
          <p:nvPr/>
        </p:nvPicPr>
        <p:blipFill>
          <a:blip r:embed="rId6"/>
          <a:stretch>
            <a:fillRect/>
          </a:stretch>
        </p:blipFill>
        <p:spPr>
          <a:xfrm>
            <a:off x="6278728" y="2761488"/>
            <a:ext cx="384048" cy="384048"/>
          </a:xfrm>
          <a:prstGeom prst="rect">
            <a:avLst/>
          </a:prstGeom>
        </p:spPr>
      </p:pic>
      <p:sp>
        <p:nvSpPr>
          <p:cNvPr id="17" name="Text 9"/>
          <p:cNvSpPr txBox="1"/>
          <p:nvPr/>
        </p:nvSpPr>
        <p:spPr>
          <a:xfrm>
            <a:off x="6827368" y="2688336"/>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Encoder-only (BERT), </a:t>
            </a:r>
            <a:pPr indent="0" marL="0">
              <a:buNone/>
            </a:pPr>
            <a:r>
              <a:rPr lang="en-US" sz="1800" b="1" dirty="0">
                <a:solidFill>
                  <a:srgbClr val="1F2937"/>
                </a:solidFill>
                <a:latin typeface="Calibri" pitchFamily="34" charset="0"/>
                <a:ea typeface="Calibri" pitchFamily="34" charset="-122"/>
                <a:cs typeface="Calibri" pitchFamily="34" charset="-120"/>
              </a:rPr>
              <a:t>decoder-only (GPT, LLaMA)</a:t>
            </a:r>
            <a:pPr indent="0" marL="0">
              <a:buNone/>
            </a:pPr>
            <a:r>
              <a:rPr lang="en-US" sz="1800" dirty="0">
                <a:solidFill>
                  <a:srgbClr val="1F2937"/>
                </a:solidFill>
                <a:latin typeface="Calibri" pitchFamily="34" charset="0"/>
                <a:ea typeface="Calibri" pitchFamily="34" charset="-122"/>
                <a:cs typeface="Calibri" pitchFamily="34" charset="-120"/>
              </a:rPr>
              <a:t>, encoder–decoder (T5, Whisper).</a:t>
            </a:r>
            <a:endParaRPr lang="en-US" sz="1800" dirty="0"/>
          </a:p>
        </p:txBody>
      </p:sp>
      <p:pic>
        <p:nvPicPr>
          <p:cNvPr id="18" name="Image 6" descr="preencoded.png">    </p:cNvPr>
          <p:cNvPicPr>
            <a:picLocks noChangeAspect="1"/>
          </p:cNvPicPr>
          <p:nvPr/>
        </p:nvPicPr>
        <p:blipFill>
          <a:blip r:embed="rId7"/>
          <a:stretch>
            <a:fillRect/>
          </a:stretch>
        </p:blipFill>
        <p:spPr>
          <a:xfrm>
            <a:off x="6278728" y="3968496"/>
            <a:ext cx="384048" cy="384048"/>
          </a:xfrm>
          <a:prstGeom prst="rect">
            <a:avLst/>
          </a:prstGeom>
        </p:spPr>
      </p:pic>
      <p:sp>
        <p:nvSpPr>
          <p:cNvPr id="19" name="Text 10"/>
          <p:cNvSpPr txBox="1"/>
          <p:nvPr/>
        </p:nvSpPr>
        <p:spPr>
          <a:xfrm>
            <a:off x="6827368" y="3895344"/>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Train with masked, next-token or span objectives; evaluate with </a:t>
            </a:r>
            <a:pPr indent="0" marL="0">
              <a:buNone/>
            </a:pPr>
            <a:r>
              <a:rPr lang="en-US" sz="1800" b="1" dirty="0">
                <a:solidFill>
                  <a:srgbClr val="1F2937"/>
                </a:solidFill>
                <a:latin typeface="Calibri" pitchFamily="34" charset="0"/>
                <a:ea typeface="Calibri" pitchFamily="34" charset="-122"/>
                <a:cs typeface="Calibri" pitchFamily="34" charset="-120"/>
              </a:rPr>
              <a:t>perplexity</a:t>
            </a:r>
            <a:pPr indent="0" marL="0">
              <a:buNone/>
            </a:pPr>
            <a:r>
              <a:rPr lang="en-US" sz="1800" dirty="0">
                <a:solidFill>
                  <a:srgbClr val="1F2937"/>
                </a:solidFill>
                <a:latin typeface="Calibri" pitchFamily="34" charset="0"/>
                <a:ea typeface="Calibri" pitchFamily="34" charset="-122"/>
                <a:cs typeface="Calibri" pitchFamily="34" charset="-120"/>
              </a:rPr>
              <a:t> (same tokeniser only).</a:t>
            </a:r>
            <a:endParaRPr lang="en-US" sz="1800" dirty="0"/>
          </a:p>
        </p:txBody>
      </p:sp>
      <p:pic>
        <p:nvPicPr>
          <p:cNvPr id="20" name="Image 7" descr="preencoded.png">    </p:cNvPr>
          <p:cNvPicPr>
            <a:picLocks noChangeAspect="1"/>
          </p:cNvPicPr>
          <p:nvPr/>
        </p:nvPicPr>
        <p:blipFill>
          <a:blip r:embed="rId8"/>
          <a:stretch>
            <a:fillRect/>
          </a:stretch>
        </p:blipFill>
        <p:spPr>
          <a:xfrm>
            <a:off x="6278728" y="5175504"/>
            <a:ext cx="384048" cy="384048"/>
          </a:xfrm>
          <a:prstGeom prst="rect">
            <a:avLst/>
          </a:prstGeom>
        </p:spPr>
      </p:pic>
      <p:sp>
        <p:nvSpPr>
          <p:cNvPr id="21" name="Text 11"/>
          <p:cNvSpPr txBox="1"/>
          <p:nvPr/>
        </p:nvSpPr>
        <p:spPr>
          <a:xfrm>
            <a:off x="6827368" y="5102352"/>
            <a:ext cx="4769968" cy="1161288"/>
          </a:xfrm>
          <a:prstGeom prst="rect">
            <a:avLst/>
          </a:prstGeom>
          <a:noFill/>
          <a:ln/>
        </p:spPr>
        <p:txBody>
          <a:bodyPr wrap="square" lIns="50800" tIns="50800" rIns="50800" bIns="50800" rtlCol="0" anchor="t"/>
          <a:lstStyle/>
          <a:p>
            <a:pPr indent="0" marL="0">
              <a:buNone/>
            </a:pPr>
            <a:r>
              <a:rPr lang="en-US" sz="1800" dirty="0">
                <a:solidFill>
                  <a:srgbClr val="1F2937"/>
                </a:solidFill>
                <a:latin typeface="Calibri" pitchFamily="34" charset="0"/>
                <a:ea typeface="Calibri" pitchFamily="34" charset="-122"/>
                <a:cs typeface="Calibri" pitchFamily="34" charset="-120"/>
              </a:rPr>
              <a:t>Efficiency: KV cache, FlashAttention, grouped-query attention, mixture-of-experts, long context.</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56032"/>
            <a:ext cx="11094415" cy="292608"/>
          </a:xfrm>
          <a:prstGeom prst="rect">
            <a:avLst/>
          </a:prstGeom>
          <a:noFill/>
          <a:ln/>
        </p:spPr>
        <p:txBody>
          <a:bodyPr wrap="square" lIns="0" tIns="0" rIns="0" bIns="0" rtlCol="0" anchor="t"/>
          <a:lstStyle/>
          <a:p>
            <a:pPr indent="0" marL="0">
              <a:buNone/>
            </a:pPr>
            <a:r>
              <a:rPr lang="en-US" sz="1100" b="1" spc="100" kern="0" dirty="0">
                <a:solidFill>
                  <a:srgbClr val="4F46E5"/>
                </a:solidFill>
                <a:latin typeface="Calibri" pitchFamily="34" charset="0"/>
                <a:ea typeface="Calibri" pitchFamily="34" charset="-122"/>
                <a:cs typeface="Calibri" pitchFamily="34" charset="-120"/>
              </a:rPr>
              <a:t>WEEK 05  ·  TRANSFORMERS &amp; ATTENTION</a:t>
            </a:r>
            <a:endParaRPr lang="en-US" sz="1100" dirty="0"/>
          </a:p>
        </p:txBody>
      </p:sp>
      <p:sp>
        <p:nvSpPr>
          <p:cNvPr id="3" name="Text 1"/>
          <p:cNvSpPr txBox="1"/>
          <p:nvPr/>
        </p:nvSpPr>
        <p:spPr>
          <a:xfrm>
            <a:off x="548640" y="6446520"/>
            <a:ext cx="5486400" cy="274320"/>
          </a:xfrm>
          <a:prstGeom prst="rect">
            <a:avLst/>
          </a:prstGeom>
          <a:noFill/>
          <a:ln/>
        </p:spPr>
        <p:txBody>
          <a:bodyPr wrap="square" lIns="0" tIns="0" rIns="0" bIns="0" rtlCol="0" anchor="t"/>
          <a:lstStyle/>
          <a:p>
            <a:pPr indent="0" marL="0">
              <a:buNone/>
            </a:pPr>
            <a:r>
              <a:rPr lang="en-US" sz="1000" dirty="0">
                <a:solidFill>
                  <a:srgbClr val="6B7280"/>
                </a:solidFill>
                <a:latin typeface="Calibri" pitchFamily="34" charset="0"/>
                <a:ea typeface="Calibri" pitchFamily="34" charset="-122"/>
                <a:cs typeface="Calibri" pitchFamily="34" charset="-120"/>
              </a:rPr>
              <a:t>Generative AI  ·  MSc in Artificial Intelligence</a:t>
            </a:r>
            <a:endParaRPr lang="en-US" sz="1000" dirty="0"/>
          </a:p>
        </p:txBody>
      </p:sp>
      <p:sp>
        <p:nvSpPr>
          <p:cNvPr id="4" name="Text 2"/>
          <p:cNvSpPr txBox="1"/>
          <p:nvPr/>
        </p:nvSpPr>
        <p:spPr>
          <a:xfrm>
            <a:off x="10728655" y="6446520"/>
            <a:ext cx="914400" cy="274320"/>
          </a:xfrm>
          <a:prstGeom prst="rect">
            <a:avLst/>
          </a:prstGeom>
          <a:noFill/>
          <a:ln/>
        </p:spPr>
        <p:txBody>
          <a:bodyPr wrap="square" lIns="0" tIns="0" rIns="0" bIns="0" rtlCol="0" anchor="t"/>
          <a:lstStyle/>
          <a:p>
            <a:pPr algn="r" indent="0" marL="0">
              <a:buNone/>
            </a:pPr>
            <a:r>
              <a:rPr lang="en-US" sz="1000" dirty="0">
                <a:solidFill>
                  <a:srgbClr val="6B7280"/>
                </a:solidFill>
                <a:latin typeface="Calibri" pitchFamily="34" charset="0"/>
                <a:ea typeface="Calibri" pitchFamily="34" charset="-122"/>
                <a:cs typeface="Calibri" pitchFamily="34" charset="-120"/>
              </a:rPr>
              <a:t>44</a:t>
            </a:r>
            <a:endParaRPr lang="en-US" sz="1000" dirty="0"/>
          </a:p>
        </p:txBody>
      </p:sp>
      <p:sp>
        <p:nvSpPr>
          <p:cNvPr id="5" name="Text 3"/>
          <p:cNvSpPr txBox="1"/>
          <p:nvPr/>
        </p:nvSpPr>
        <p:spPr>
          <a:xfrm>
            <a:off x="548640" y="566928"/>
            <a:ext cx="11094415" cy="868680"/>
          </a:xfrm>
          <a:prstGeom prst="rect">
            <a:avLst/>
          </a:prstGeom>
          <a:noFill/>
          <a:ln/>
        </p:spPr>
        <p:txBody>
          <a:bodyPr wrap="square" lIns="0" tIns="0" rIns="0" bIns="0" rtlCol="0" anchor="ctr"/>
          <a:lstStyle/>
          <a:p>
            <a:pPr indent="0" marL="0">
              <a:buNone/>
            </a:pPr>
            <a:r>
              <a:rPr lang="en-US" sz="3200" b="1" dirty="0">
                <a:solidFill>
                  <a:srgbClr val="1E1B4B"/>
                </a:solidFill>
                <a:latin typeface="Calibri" pitchFamily="34" charset="0"/>
                <a:ea typeface="Calibri" pitchFamily="34" charset="-122"/>
                <a:cs typeface="Calibri" pitchFamily="34" charset="-120"/>
              </a:rPr>
              <a:t>Read, watch, practise</a:t>
            </a:r>
            <a:endParaRPr lang="en-US" sz="3200" dirty="0"/>
          </a:p>
        </p:txBody>
      </p:sp>
      <p:sp>
        <p:nvSpPr>
          <p:cNvPr id="6" name="Shape 4"/>
          <p:cNvSpPr/>
          <p:nvPr/>
        </p:nvSpPr>
        <p:spPr>
          <a:xfrm>
            <a:off x="548640" y="1554480"/>
            <a:ext cx="457200" cy="457200"/>
          </a:xfrm>
          <a:prstGeom prst="ellipse">
            <a:avLst/>
          </a:prstGeom>
          <a:solidFill>
            <a:srgbClr val="DC2626"/>
          </a:solidFill>
          <a:ln w="12700">
            <a:solidFill>
              <a:srgbClr val="DC2626"/>
            </a:solidFill>
            <a:prstDash val="solid"/>
          </a:ln>
        </p:spPr>
      </p:sp>
      <p:pic>
        <p:nvPicPr>
          <p:cNvPr id="7" name="Image 0" descr="preencoded.png">    </p:cNvPr>
          <p:cNvPicPr>
            <a:picLocks noChangeAspect="1"/>
          </p:cNvPicPr>
          <p:nvPr/>
        </p:nvPicPr>
        <p:blipFill>
          <a:blip r:embed="rId1"/>
          <a:stretch>
            <a:fillRect/>
          </a:stretch>
        </p:blipFill>
        <p:spPr>
          <a:xfrm>
            <a:off x="658368" y="1664208"/>
            <a:ext cx="237744" cy="237744"/>
          </a:xfrm>
          <a:prstGeom prst="rect">
            <a:avLst/>
          </a:prstGeom>
        </p:spPr>
      </p:pic>
      <p:sp>
        <p:nvSpPr>
          <p:cNvPr id="8" name="Text 5"/>
          <p:cNvSpPr txBox="1"/>
          <p:nvPr/>
        </p:nvSpPr>
        <p:spPr>
          <a:xfrm>
            <a:off x="1143000"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3Blue1Brown: Transformers, the tech behind LLMs (Deep Learning ch. 5)</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Visual overview</a:t>
            </a:r>
            <a:endParaRPr lang="en-US" sz="1500" dirty="0"/>
          </a:p>
        </p:txBody>
      </p:sp>
      <p:sp>
        <p:nvSpPr>
          <p:cNvPr id="9" name="Shape 6"/>
          <p:cNvSpPr/>
          <p:nvPr/>
        </p:nvSpPr>
        <p:spPr>
          <a:xfrm>
            <a:off x="548640" y="2377440"/>
            <a:ext cx="457200" cy="457200"/>
          </a:xfrm>
          <a:prstGeom prst="ellipse">
            <a:avLst/>
          </a:prstGeom>
          <a:solidFill>
            <a:srgbClr val="DC2626"/>
          </a:solidFill>
          <a:ln w="12700">
            <a:solidFill>
              <a:srgbClr val="DC2626"/>
            </a:solidFill>
            <a:prstDash val="solid"/>
          </a:ln>
        </p:spPr>
      </p:sp>
      <p:pic>
        <p:nvPicPr>
          <p:cNvPr id="10" name="Image 1" descr="preencoded.png">    </p:cNvPr>
          <p:cNvPicPr>
            <a:picLocks noChangeAspect="1"/>
          </p:cNvPicPr>
          <p:nvPr/>
        </p:nvPicPr>
        <p:blipFill>
          <a:blip r:embed="rId3"/>
          <a:stretch>
            <a:fillRect/>
          </a:stretch>
        </p:blipFill>
        <p:spPr>
          <a:xfrm>
            <a:off x="658368" y="2487168"/>
            <a:ext cx="237744" cy="237744"/>
          </a:xfrm>
          <a:prstGeom prst="rect">
            <a:avLst/>
          </a:prstGeom>
        </p:spPr>
      </p:pic>
      <p:sp>
        <p:nvSpPr>
          <p:cNvPr id="11" name="Text 7"/>
          <p:cNvSpPr txBox="1"/>
          <p:nvPr/>
        </p:nvSpPr>
        <p:spPr>
          <a:xfrm>
            <a:off x="1143000"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3Blue1Brown: Attention in transformers, step-by-step (ch. 6)</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Queries, keys, values visualised</a:t>
            </a:r>
            <a:endParaRPr lang="en-US" sz="1500" dirty="0"/>
          </a:p>
        </p:txBody>
      </p:sp>
      <p:sp>
        <p:nvSpPr>
          <p:cNvPr id="12" name="Shape 8"/>
          <p:cNvSpPr/>
          <p:nvPr/>
        </p:nvSpPr>
        <p:spPr>
          <a:xfrm>
            <a:off x="548640" y="3200400"/>
            <a:ext cx="457200" cy="457200"/>
          </a:xfrm>
          <a:prstGeom prst="ellipse">
            <a:avLst/>
          </a:prstGeom>
          <a:solidFill>
            <a:srgbClr val="DC2626"/>
          </a:solidFill>
          <a:ln w="12700">
            <a:solidFill>
              <a:srgbClr val="DC2626"/>
            </a:solidFill>
            <a:prstDash val="solid"/>
          </a:ln>
        </p:spPr>
      </p:sp>
      <p:pic>
        <p:nvPicPr>
          <p:cNvPr id="13" name="Image 2" descr="preencoded.png">    </p:cNvPr>
          <p:cNvPicPr>
            <a:picLocks noChangeAspect="1"/>
          </p:cNvPicPr>
          <p:nvPr/>
        </p:nvPicPr>
        <p:blipFill>
          <a:blip r:embed="rId5"/>
          <a:stretch>
            <a:fillRect/>
          </a:stretch>
        </p:blipFill>
        <p:spPr>
          <a:xfrm>
            <a:off x="658368" y="3310128"/>
            <a:ext cx="237744" cy="237744"/>
          </a:xfrm>
          <a:prstGeom prst="rect">
            <a:avLst/>
          </a:prstGeom>
        </p:spPr>
      </p:pic>
      <p:sp>
        <p:nvSpPr>
          <p:cNvPr id="14" name="Text 9"/>
          <p:cNvSpPr txBox="1"/>
          <p:nvPr/>
        </p:nvSpPr>
        <p:spPr>
          <a:xfrm>
            <a:off x="1143000"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Andrej Karpathy: Let's build GPT from scratch, in code</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2-hour build of the lab model</a:t>
            </a:r>
            <a:endParaRPr lang="en-US" sz="1500" dirty="0"/>
          </a:p>
        </p:txBody>
      </p:sp>
      <p:sp>
        <p:nvSpPr>
          <p:cNvPr id="15" name="Shape 10"/>
          <p:cNvSpPr/>
          <p:nvPr/>
        </p:nvSpPr>
        <p:spPr>
          <a:xfrm>
            <a:off x="548640" y="4023360"/>
            <a:ext cx="457200" cy="457200"/>
          </a:xfrm>
          <a:prstGeom prst="ellipse">
            <a:avLst/>
          </a:prstGeom>
          <a:solidFill>
            <a:srgbClr val="4F46E5"/>
          </a:solidFill>
          <a:ln w="12700">
            <a:solidFill>
              <a:srgbClr val="4F46E5"/>
            </a:solidFill>
            <a:prstDash val="solid"/>
          </a:ln>
        </p:spPr>
      </p:sp>
      <p:pic>
        <p:nvPicPr>
          <p:cNvPr id="16" name="Image 3" descr="preencoded.png">    </p:cNvPr>
          <p:cNvPicPr>
            <a:picLocks noChangeAspect="1"/>
          </p:cNvPicPr>
          <p:nvPr/>
        </p:nvPicPr>
        <p:blipFill>
          <a:blip r:embed="rId7"/>
          <a:stretch>
            <a:fillRect/>
          </a:stretch>
        </p:blipFill>
        <p:spPr>
          <a:xfrm>
            <a:off x="658368" y="4133088"/>
            <a:ext cx="237744" cy="237744"/>
          </a:xfrm>
          <a:prstGeom prst="rect">
            <a:avLst/>
          </a:prstGeom>
        </p:spPr>
      </p:pic>
      <p:sp>
        <p:nvSpPr>
          <p:cNvPr id="17" name="Text 11"/>
          <p:cNvSpPr txBox="1"/>
          <p:nvPr/>
        </p:nvSpPr>
        <p:spPr>
          <a:xfrm>
            <a:off x="1143000"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Jay Alammar: The Illustrated Transformer</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Classic visual explanation</a:t>
            </a:r>
            <a:endParaRPr lang="en-US" sz="1500" dirty="0"/>
          </a:p>
        </p:txBody>
      </p:sp>
      <p:sp>
        <p:nvSpPr>
          <p:cNvPr id="18" name="Shape 12"/>
          <p:cNvSpPr/>
          <p:nvPr/>
        </p:nvSpPr>
        <p:spPr>
          <a:xfrm>
            <a:off x="6278728" y="1554480"/>
            <a:ext cx="457200" cy="457200"/>
          </a:xfrm>
          <a:prstGeom prst="ellipse">
            <a:avLst/>
          </a:prstGeom>
          <a:solidFill>
            <a:srgbClr val="4F46E5"/>
          </a:solidFill>
          <a:ln w="12700">
            <a:solidFill>
              <a:srgbClr val="4F46E5"/>
            </a:solidFill>
            <a:prstDash val="solid"/>
          </a:ln>
        </p:spPr>
      </p:sp>
      <p:pic>
        <p:nvPicPr>
          <p:cNvPr id="19" name="Image 4" descr="preencoded.png">    </p:cNvPr>
          <p:cNvPicPr>
            <a:picLocks noChangeAspect="1"/>
          </p:cNvPicPr>
          <p:nvPr/>
        </p:nvPicPr>
        <p:blipFill>
          <a:blip r:embed="rId9"/>
          <a:stretch>
            <a:fillRect/>
          </a:stretch>
        </p:blipFill>
        <p:spPr>
          <a:xfrm>
            <a:off x="6388456" y="1664208"/>
            <a:ext cx="237744" cy="237744"/>
          </a:xfrm>
          <a:prstGeom prst="rect">
            <a:avLst/>
          </a:prstGeom>
        </p:spPr>
      </p:pic>
      <p:sp>
        <p:nvSpPr>
          <p:cNvPr id="20" name="Text 13"/>
          <p:cNvSpPr txBox="1"/>
          <p:nvPr/>
        </p:nvSpPr>
        <p:spPr>
          <a:xfrm>
            <a:off x="6873088" y="148132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Vaswani et al. (2017) Attention Is All You Need</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The original paper</a:t>
            </a:r>
            <a:endParaRPr lang="en-US" sz="1500" dirty="0"/>
          </a:p>
        </p:txBody>
      </p:sp>
      <p:sp>
        <p:nvSpPr>
          <p:cNvPr id="21" name="Shape 14"/>
          <p:cNvSpPr/>
          <p:nvPr/>
        </p:nvSpPr>
        <p:spPr>
          <a:xfrm>
            <a:off x="6278728" y="2377440"/>
            <a:ext cx="457200" cy="457200"/>
          </a:xfrm>
          <a:prstGeom prst="ellipse">
            <a:avLst/>
          </a:prstGeom>
          <a:solidFill>
            <a:srgbClr val="4F46E5"/>
          </a:solidFill>
          <a:ln w="12700">
            <a:solidFill>
              <a:srgbClr val="4F46E5"/>
            </a:solidFill>
            <a:prstDash val="solid"/>
          </a:ln>
        </p:spPr>
      </p:sp>
      <p:pic>
        <p:nvPicPr>
          <p:cNvPr id="22" name="Image 5" descr="preencoded.png">    </p:cNvPr>
          <p:cNvPicPr>
            <a:picLocks noChangeAspect="1"/>
          </p:cNvPicPr>
          <p:nvPr/>
        </p:nvPicPr>
        <p:blipFill>
          <a:blip r:embed="rId11"/>
          <a:stretch>
            <a:fillRect/>
          </a:stretch>
        </p:blipFill>
        <p:spPr>
          <a:xfrm>
            <a:off x="6388456" y="2487168"/>
            <a:ext cx="237744" cy="237744"/>
          </a:xfrm>
          <a:prstGeom prst="rect">
            <a:avLst/>
          </a:prstGeom>
        </p:spPr>
      </p:pic>
      <p:sp>
        <p:nvSpPr>
          <p:cNvPr id="23" name="Text 15"/>
          <p:cNvSpPr txBox="1"/>
          <p:nvPr/>
        </p:nvSpPr>
        <p:spPr>
          <a:xfrm>
            <a:off x="6873088" y="230428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Tunstall et al. (2022) NLP with Transformers, ch. 3 'Transformer Anatomy'</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Descriptor 7.9 reading</a:t>
            </a:r>
            <a:endParaRPr lang="en-US" sz="1500" dirty="0"/>
          </a:p>
        </p:txBody>
      </p:sp>
      <p:sp>
        <p:nvSpPr>
          <p:cNvPr id="24" name="Shape 16"/>
          <p:cNvSpPr/>
          <p:nvPr/>
        </p:nvSpPr>
        <p:spPr>
          <a:xfrm>
            <a:off x="6278728" y="3200400"/>
            <a:ext cx="457200" cy="457200"/>
          </a:xfrm>
          <a:prstGeom prst="ellipse">
            <a:avLst/>
          </a:prstGeom>
          <a:solidFill>
            <a:srgbClr val="4F46E5"/>
          </a:solidFill>
          <a:ln w="12700">
            <a:solidFill>
              <a:srgbClr val="4F46E5"/>
            </a:solidFill>
            <a:prstDash val="solid"/>
          </a:ln>
        </p:spPr>
      </p:sp>
      <p:pic>
        <p:nvPicPr>
          <p:cNvPr id="25" name="Image 6" descr="preencoded.png">    </p:cNvPr>
          <p:cNvPicPr>
            <a:picLocks noChangeAspect="1"/>
          </p:cNvPicPr>
          <p:nvPr/>
        </p:nvPicPr>
        <p:blipFill>
          <a:blip r:embed="rId13"/>
          <a:stretch>
            <a:fillRect/>
          </a:stretch>
        </p:blipFill>
        <p:spPr>
          <a:xfrm>
            <a:off x="6388456" y="3310128"/>
            <a:ext cx="237744" cy="237744"/>
          </a:xfrm>
          <a:prstGeom prst="rect">
            <a:avLst/>
          </a:prstGeom>
        </p:spPr>
      </p:pic>
      <p:sp>
        <p:nvSpPr>
          <p:cNvPr id="26" name="Text 17"/>
          <p:cNvSpPr txBox="1"/>
          <p:nvPr/>
        </p:nvSpPr>
        <p:spPr>
          <a:xfrm>
            <a:off x="6873088" y="312724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Foster (2023) Generative Deep Learning, ch. 9 'Transformers'</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Core module text</a:t>
            </a:r>
            <a:endParaRPr lang="en-US" sz="1500" dirty="0"/>
          </a:p>
        </p:txBody>
      </p:sp>
      <p:sp>
        <p:nvSpPr>
          <p:cNvPr id="27" name="Shape 18"/>
          <p:cNvSpPr/>
          <p:nvPr/>
        </p:nvSpPr>
        <p:spPr>
          <a:xfrm>
            <a:off x="6278728" y="4023360"/>
            <a:ext cx="457200" cy="457200"/>
          </a:xfrm>
          <a:prstGeom prst="ellipse">
            <a:avLst/>
          </a:prstGeom>
          <a:solidFill>
            <a:srgbClr val="4F46E5"/>
          </a:solidFill>
          <a:ln w="12700">
            <a:solidFill>
              <a:srgbClr val="4F46E5"/>
            </a:solidFill>
            <a:prstDash val="solid"/>
          </a:ln>
        </p:spPr>
      </p:sp>
      <p:pic>
        <p:nvPicPr>
          <p:cNvPr id="28" name="Image 7" descr="preencoded.png">    </p:cNvPr>
          <p:cNvPicPr>
            <a:picLocks noChangeAspect="1"/>
          </p:cNvPicPr>
          <p:nvPr/>
        </p:nvPicPr>
        <p:blipFill>
          <a:blip r:embed="rId15"/>
          <a:stretch>
            <a:fillRect/>
          </a:stretch>
        </p:blipFill>
        <p:spPr>
          <a:xfrm>
            <a:off x="6388456" y="4133088"/>
            <a:ext cx="237744" cy="237744"/>
          </a:xfrm>
          <a:prstGeom prst="rect">
            <a:avLst/>
          </a:prstGeom>
        </p:spPr>
      </p:pic>
      <p:sp>
        <p:nvSpPr>
          <p:cNvPr id="29" name="Text 19"/>
          <p:cNvSpPr txBox="1"/>
          <p:nvPr/>
        </p:nvSpPr>
        <p:spPr>
          <a:xfrm>
            <a:off x="6873088" y="3950208"/>
            <a:ext cx="4724248" cy="777240"/>
          </a:xfrm>
          <a:prstGeom prst="rect">
            <a:avLst/>
          </a:prstGeom>
          <a:noFill/>
          <a:ln/>
        </p:spPr>
        <p:txBody>
          <a:bodyPr wrap="square" lIns="50800" tIns="50800" rIns="50800" bIns="50800" rtlCol="0" anchor="ctr"/>
          <a:lstStyle/>
          <a:p>
            <a:pPr indent="0" marL="0">
              <a:buNone/>
            </a:pPr>
            <a:r>
              <a:rPr lang="en-US" sz="1500" b="1" u="sng" dirty="0">
                <a:solidFill>
                  <a:srgbClr val="1E1B4B"/>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Hugging Face LLM Course, chapter 1</a:t>
            </a:r>
            <a:endParaRPr lang="en-US" sz="1500" dirty="0"/>
          </a:p>
          <a:p>
            <a:pPr indent="0" marL="0">
              <a:buNone/>
            </a:pPr>
            <a:r>
              <a:rPr lang="en-US" sz="1200" dirty="0">
                <a:solidFill>
                  <a:srgbClr val="6B7280"/>
                </a:solidFill>
                <a:latin typeface="Calibri" pitchFamily="34" charset="0"/>
                <a:ea typeface="Calibri" pitchFamily="34" charset="-122"/>
                <a:cs typeface="Calibri" pitchFamily="34" charset="-120"/>
              </a:rPr>
              <a:t>How transformers work, with code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5: Transformers &amp; Attention</dc:title>
  <dc:subject>Generative AI (MSc in Artificial Intelligence)</dc:subject>
  <dc:creator>Generative AI module team</dc:creator>
  <cp:lastModifiedBy>Generative AI module team</cp:lastModifiedBy>
  <cp:revision>1</cp:revision>
  <dcterms:created xsi:type="dcterms:W3CDTF">2026-10-06T20:33:52Z</dcterms:created>
  <dcterms:modified xsi:type="dcterms:W3CDTF">2026-10-06T20:33:52Z</dcterms:modified>
</cp:coreProperties>
</file>