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Imagine typing a message and seeing a suggested next word. Today we trace how a transformer makes that suggestion. Our lab predicts characters. The cover is an illustrative attention table, not a measured experiment. Analogy: A writing assistant consults the existing sentence. Ask: What helps predict a character after ROMEO and a colon? Answer: The earlier characters. In the play's layout a speaker name and colon are followed by a new line and that speaker's words. Common mistake: Treating a plausible continuation as knowledge of facts or understanding of the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Follow one piece of text through the model and explain each operation. We calculate attention before writing its equation, then implement the same operation in Python. Analogy: Learning an engine begins with following fuel through its parts. Ask: Which outcome is least familiar: vectors, attention or training? Answer: Any choice is useful; note the most common one and spend extra time on it. Common mistake: Thinking that knowing a model's name means knowing what its inputs and outputs contain. We build understanding one operation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have met VAEs, GANs and diffusion. This week's transformer connects many later topics: language models, prompting, adaptation, multimodal systems, deployment, retrieval and agents. Analogy: Today's station connects several routes on a railway map. Ask: Where have we already seen a model reading a prompt? Answer: Week 1's SmolLM2 chat lab, and Week 4, where Stable Diffusion's text encoder read the prompt. Common mistake: Treating a transformer as a chatbot or a complete application. It is an architecture; later weeks combine it with data, tools and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Give pairs one minute to answer the quick checks, then take answers. Vector: An ordered list of numbers used to represent an item. Check: How many entries are in the vector [1, 0, 1]? Answer: Three entries. Matrix shape: The number of rows and columns in a table of numbers. Check: What does shape [3, 2] tell you about three token vectors? Answer: Three rows, one per token, and two numbers in each token vector. Training target: The known answer used to measure a model's prediction error. Check: For input characters 'cat', which characters follow them in 'cats'? Answer: a, t and s: each input character is paired with the character after it. Let students explain one example aloud, then connect their example to the next flow diagram. Use the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With tired, most readers choose the animal. With wide, they choose the street. Our later model inspection uses a closely related sentence. Analogy: A detective gathers clues from several sentence positions. Ask: Could the representation at it use an adjective that appears later? Answer: In a bidirectional encoder such as BERT, yes. In a causal decoder such as GPT-2, not at the position of it. Common mistake: Reading one attention plot as proof of a coreference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early name may matter near the end of a long sentence. Recurrent networks pass a memory state through successive steps. Attention connects allowed positions directly. Analogy: Compare passing a message along a queue with consulting the original speaker. Ask: Which route needs more intermediate steps when the sentence grows? Answer: The recurrent route. Information passes through every state in between, while attention links any two positions directly. Common mistake: Assuming direct access guarantees correct reasoning. The model must still learn useful comparisons and useful information mixtures.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the unit the model reads. This lab deliberately uses one character per token, although larger language models often use word pieces. The dictionary stoi maps characters to integer IDs; an embedding table maps those IDs to vectors. A separate table adds where each character occurs. Transformer blocks then build contextual vectors: the same character can carry different information in different prefixes. The causal mask prevents a position from using later characters. The output layer produces logits, which are scores rather than probabilities. Generation converts the final position's scores into probabilities, samples one character ID, and repeats. Training instead compares every position with its known next character. The model learns patterns in text; fluent-looking output alone does not establish factual knowledge or coherent reasoning.
Worked example:
The prefix 'ROMEO:' becomes a sequence of IDs using stoi.
CharGPT adds a learned position vector to each character vector.
Causal blocks let each position use itself and earlier positions.
The final position's scores become probabilities for the next character.
A sampled ID is appended; repeated predictions form a continuation.
Check: Can the next-character prediction use characters that have not been generated yet?
Answer: No. Its prediction uses the existing prefix; the continuation is generated one character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Follow the recurrent arrows. Each hidden memory depends on the previous step, limiting parallelisation across time. Information and learning signals can weaken over many steps. LSTMs help with long-term dependencies. Analogy: A recurrent route is a relay; attention gives allowed destinations direct information routes. Ask: Why can transformer training process many known positions together? Answer: The whole training text is known, so with a causal mask every position can be predicted in one pass. Common mistake: Assuming generation is parallel too. Each new token still depends on the tokens generated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RNN means recurrent neural network. An LSTM learns how to keep and forget information. A transformer removes recurrence from this sequence-processing path. Basic attention compares each query with each allowed key. Analogy: Replace a relay with a meeting where participants exchange information. Ask: If token count doubles, how many token pairs are there? Answer: Four times as many, because pairs grow with the square of the count. Common mistake: Answering twice as many. Direct routes bring computational costs as well as benefits.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Python strings do not enter attention directly. A tokenizer assigns vocabulary IDs. An embedding table converts each ID into a vector, an ordered list of numbers. Position information tells the model where each item occurs. Analogy: A catalogue number selects a record from a table. Ask: Does vocabulary ID seven mean sentence position seven? Answer: No. Token identity and token position are different information, represented separately in our lab. Common mistake: Reading a token's ID as its place in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Use an illustrative three-character prefix, cat. Three positions remain three positions whatever IDs the tokenizer assigns. Looking up width-eight embeddings gives a three-by-eight table. The lab prints its actual vocabulary and uses a wider model. Analogy: Three catalogue numbers select three table rows. Ask: Which axis counts characters, and which counts features? Answer: In shape [3, 8], the first axis counts the three characters and the second counts the eight features. Common mistake: Treating an ID's numerical size as its meaning. Token lookup vectors are also not automatically good document-search embeddings.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 unrestricted self-attention has no built-in coordinates. Shuffling input rows shuffles output rows in the same way. Sinusoidal encoding adds fixed patterns. Our lab learns a vector per position. Rotary encoding rotates query and key feature pairs. Analogy: Give playing cards numbered places on a table. Ask: Is RoPE added to input embeddings like learned absolute positions? Answer: No. It rotates queries and keys inside attention. Common mistake: Assuming a longer context setting works without suitable training and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Attention makes a new vector at each query position by mixing information from allowed source positions. We compute a small example before introducing notation. Analogy: A librarian matches your request against catalogue entries, then brings relevant contents. Ask: Which part should find sources, and which should carry their information? Answer: Queries and keys find sources, because their match makes the scores. Values carry the information mixed into the output. Common mistake: Treating matching and transferring as one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query describes the information a token seeks; a key supplies features for matching; a value carries the information passed onward. These are learned numerical projections, rather than literal questions or words. A dot product compares each query with every key. Dividing by the square root of the key dimension controls the scale of those comparisons. A causal mask, when used, removes future positions before softmax turns each row into weights. Multiplying those weights by the values gives one new vector per query. Multi-head attention performs this process in several smaller vector spaces, then joins their outputs. Printing shapes helps: the score table is token positions by token positions, while the output still has one vector per position. A bright attention cell describes information routing and does not by itself explain a prediction.
Worked example:
In the lecture example, cat's query is [1, 0].
Its scaled scores for cat, sat and mat are about [0.71, 0, 0.71].
Without a mask, its weights are about [0.40, 0.20, 0.40].
Mixing the three value vectors produces cat's output [0.60, 0.40].
With a causal mask at the first position, later tokens receive zero weight.
Check: Do attention weights mix the key vectors or the value vectors to form the output?
Answer: They mix the value vectors. Keys are used to calculate the matching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learned projections turn an input vector into a query, a key and a value. Queries and keys make scores. The value branch bypasses score calculation and supplies the final mixture. Analogy: A request matches catalogue descriptions; book contents are what you take away. Ask: Do the weights multiply keys or values to form the output? Answer: Values. Common mistake: Reading queries, keys and values as literal questions, keywords or human meanings. They are learned numerical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are chosen classroom vectors, not trained-model measurements. Follow cat's row first. Its query is [1, 0]. Scaled scores are approximately [0.71, 0, 0.71], producing weights [0.40, 0.20, 0.40]. Analogy: Weights are shares in a recipe. Mixing the shown values gives approximately [0.60, 0.40]. Ask: Why does a zero score get positive weight? Answer: Softmax exponentiates scores, and exp of zero is one. Common mistake: Treating a zero score as blocked. Only a masked score of minus infinity gets zero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Read inside outward, following the worked example. Q times K transposed compares every query with every key. Divide by the square root of query/key width. Softmax makes row weights; those weights multiply V. Analogy: The equation compresses our four-step recipe. Ask: For three queries and three keys, what is the score-table shape? Answer: Three by three: one score for each query and key pair. Common mistake: Using the feature width as a table dimension. The output width comes from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Answer C. With independent, mean-zero, unit-variance entries, dot-product variance grows with d_k, the query/key width. Width sixty-four gives standard deviation eight. Dividing by eight controls score scale and can prevent weak softmax gradients. Analogy: Reduce volume before a sensitive amplifier. Ask: Which separate operation removes future positions? Answer: The causal mask. Common mistake: Thinking scaling masks the future or forces uniform weights. Learned comparisons can still produce strong preferences.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head learns its own query, key and value projections in a smaller feature space. Join the head outputs, then mix them with an output projection. Width thirty-two with four heads means eight features per head. Analogy: Readers examine a passage through different lenses. Ask: What width returns after joining four eight-feature outputs? Answer: Thirty-two. Common mistake: Answering one hundred and twenty-eight, or giving each head a tidy human job. Real heads can have mixed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X is the input table. Superscript i identifies a head. W with Q, K or V names its learned projection. Concat joins features; W_O mixes joined outputs. Analogy: Join specialists' short reports, then edit one report of the original width. Ask: Does a head index identify a layer? Answer: No. Heads and layers are different axes; every layer has its own set of heads. Common mistake: Assuming more heads means much more matrix work. At a fixed model width the main matrix-product work stays similar, while stored score-table memory grows with head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At position t, the model reads that input and earlier inputs. Its training target is position t plus one. Later-position scores become negative infinity before softmax, giving zero future weights. Analogy: Cover tomorrow's answers while practising today's prediction. Ask: For input cat and target ats, what may c see? Answer: Only c, not a or t. Common mistake: Blocking the diagonal. The current input stays allowed because it helps predict the following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Self-attention compares positions within one sequence. Cross-attention reads another sequence through the same calculation. Three translated-token queries and five source-token keys produce a three-by-five score table. Analogy: One group consults a second group's notes. Ask: Where do translation-decoder queries come from? Answer: From decoder states. The encoded source states supply keys and values. Common mistake: Expecting a square score table. Cross-attention compares target positions with source positions, so the lengths can differ. Diffusion image features can similarly read prompt vectors.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summary uses measured attention from pretrained BERT, separate from our character model. The selected head, layer 4, head 11, gives animal weight 0.847 from the query at it. It is the strongest of all 144 heads, chosen with the same rule as lab TODO 5. Analogy: A highlighted route shows a connection, not the whole journey's purpose. Ask: Would the strongest head represent every head fairly? Answer: No. Inspect the full matrices and the distribution across heads. Common mistake: Treating a bright cell as proof of a coreference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are measured weights from pretrained GPT-2 for our sentence. Each row is one current token; each column is a token it may read. Everything above the diagonal is a later token, and its measured weight is exactly zero in all 144 heads. The two heads still behave differently: the left head spreads weight over several earlier tokens, while the right head reads the previous token. At it, later tired or wide is blocked, so changing that adjective leaves the earlier it row unchanged. Analogy: A reader stopped halfway has not seen the final clue. Ask: Where could we test use of that adjective? Answer: At a later position, or in the prediction after the complete sentence. Common mistake: Reading unchanged earlier attention as proof that full-sentence reasoning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Answer D. Exponentiating gives approximately 7.39, one and one. Divide by their sum, approximately 9.39. The weights are approximately 0.79, 0.11 and 0.11. Rounded entries can total 1.01 although unrounded weights total one. Analogy: Convert positive amounts into shares of their total. Ask: Why is answer A too extreme? Answer: A puts all the weight on the largest score, like a hard maximum. Softmax turns each zero score into exp of zero, which is one, so each keeps about 0.11. Common mistake: Dividing the original scores by their sum, which skips the exponentiation and also gives answer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Attention is one operation inside a block. A complete block also transforms features at each position and preserves an input route. We follow these operations before comparing complete architectures. Analogy: A workshop combines group discussion with individual revision. Ask: Which stage exchanges information between positions? Answer: Attention. Common mistake: Thinking the feed-forward network mixes positions. It acts on each position separately, and within one layer the same feed-forward weights are used at every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our lab's pre-norm block. Normalise features, apply attention, then add the unchanged input. Next normalise, apply a per-position feed-forward network and add its input. Shapes return to the original width. Analogy: Each stage proposes a correction while preserving the earlier draft. Ask: Add correction [0.3, −0.1] to input [1, 2]. Answer: [1.3, 1.9]. Common mistake: thinking a residual concatenates vectors or updates weights; it adds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Read each row from left to right. Encoder-only BERT reads both sides of the supplied input. Decoder-only GPT-2 uses causal self-attention, and the dashed loop shows generation repeating with the longer prefix. Encoder-decoder T5 encodes a source, then generates an output using cross-attention. Analogy: An encoder annotates a document; a decoder continues it; an encoder-decoder transforms a source into a new document. Ask: Which standard family predicts a missing token from both neighbours? Answer: The encoder family, such as BERT. Common mistake: Using a standard BERT encoder as a chat generator. Family names describe information access, not guaranteed task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Choose using required inputs and outputs. Complete-sentence classification suits an encoder. Extending a prefix suits a decoder. Mapping a source into a generated sequence suits an encoder-decoder. Modern decoders also perform many source-to-output tasks through prompting. Analogy: Choose a tool by the job before its brand. Ask: Can search and answer generation use different models? Answer: Yes. Applications can combine an embedding model for search with a decoder for answers. Common mistake: Treating architecture guidance as an exclusive task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Answer A. A trained text-embedding model makes queries and documents comparable for search. A generating decoder then writes using the retrieved material. We build this combination in week twelve. Analogy: A librarian finds books before a writer composes an answer. Ask: Why does trained matter for the search component? Answer: Search needs vectors trained so that related queries and documents land close together. Arbitrary token lookup vectors do not do this. Common mistake: Answer D. All three transformer families use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compact example matches the calculation in the lab, which passes an explicit blocked-position mask. Keep the mask on q's device for GPU tensors. Row softmax runs over source positions. Analogy: Each line implements a step in our recipe. Ask: Does True mean blocked in PyTorch's built-in scaled_dot_product_attention? Answer: No. Our custom mask uses True for blocked; SDPA uses True for allowed. Common mistake: Passing the custom mask to SDPA unchanged. Use is_causal=True or invert the boolean 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Training compares model scores with known targets, then changes learned parameters to reduce prediction error. Inference uses learned parameters without that update. We then consider uncertainty, memory costs and non-text inputs. Analogy: Practice changes a musician's skill; a performance uses the skill already learned. Ask: Does generating a new character update our model's weights? Answer: No. Sampling extends the prefix; only the optimizer updates parameters. Common mistake: Mixing up the sampling loop and the training loop. They have different purposes.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Next-character training uses the source text to supply targets. The get_batch function chooses a segment for inputs and the following characters for targets. The model turns inputs into token and position vectors, then processes them with causal transformer blocks. The causal mask stops a position from reading later input characters. A vocabulary head returns next-character scores at every position. Cross-entropy compares those scores with the known targets. Backpropagation and the optimiser update weights. The val_loss function measures predictability on text held separate from training.
Worked example:
For the text "cats", an input row can be "cat" and its target row "ats".
At the c position, the target is a. At a, the target is t. At t, the target is s.
The mask lets each position see its own input and earlier positions.
One forward pass supplies all three prediction losses. The optimiser then takes a training step.
Check: Where do the target labels come from?
Answer: The next characters in the training text. A person does not need to label every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Targets come from text itself, called self-supervised learning. BERT predicts selected tokens using both sides. Our character decoder predicts the next character at every allowed position. T5 reconstructs missing spans. Analogy: Make exercises from a finished worksheet by hiding different parts. Ask: In cats, what target belongs to input c? Answer: a. Common mistake: Thinking shifted targets make the mask unnecessary. The causal mask must still block later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Perplexity is exp of average negative log-probability on separate test text. Ln of four is a classroom illustration, not our measured loss. Its uncertainty equals four equally likely choices, rather than exactly four candidates everywhere. Analogy: Summarise how surprising actual text was to a predictor. Ask: Can character and subword perplexities be compared directly? Answer: No. Tokenization changes the prediction task. Common mistake: Applying ordinary causal perplexity to masked BERT, or reading low perplexity as proof that answers are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values come from the stored measured experiment. Tiny Shakespeare is a small collection of Shakespeare text. The curve scores separate-text character predictions, not factual understanding. Your run may differ. Analogy: A learner recognises spelling and dialogue patterns while practising a narrow writing exercise. Ask: What would show whether generated dialogue maintains a coherent story? Answer: Reading actual samples and noting where they succeed and fail. Lower loss alone cannot show this. Common mistake: Assuming fluent samples mean understanding.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Full attention makes n squared comparisons for n positions. This plot shows theoretical one-head score-table memory, not a runtime benchmark. FlashAttention avoids storing the entire table. Restricted attention changes which positions interact. Analogy: Doubling a square's side quadruples its area. Ask: Does avoiding storage remove all quadratic arithmetic? Answer: No. FlashAttention still computes every score; it only avoids storing the whole table. Common mistake: Assuming more available context guarantees reliable use. Grouped-query attention reduces KV storage and sliding windows restrict comparisons, but long context also needs suitable positions, training and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begins with a prefix and uses fixed trained weights. CharGPT.generate keeps the most recent CTX characters, runs the model and reads only the last position's scores for the next character. It applies temperature and softmax, samples an ID, and appends it to the prefix. The next iteration uses the extended prefix. The lab's simple CharGPT recomputes its current context each time. Larger systems may cache earlier keys and values to reduce repeated work. Both approaches must preserve the causal rule.
Worked example:
Start with the character IDs for "ROMEO:".
The final-position scores describe the next character after the colon.
If a space is sampled, append its ID and predict again from "ROMEO: ".
The prefix grows, while the stored model weights remain unchanged.
Check: Why do we use the final position's logits to generate the next character?
Answer: That position represents the end of the current prefix. Earlier positions predict characters already inside the 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layer stores keys and values for processed tokens. The newest known token supplies a query and new keys and values. Its query reads cached and current information to predict the next token. Analogy: Keep earlier calculations on a scratchpad. Ask: Does caching change the model's learned task? Answer: No. It saves repeated work and consumes memory. Common mistake: Expecting our CharGPT to use a cache. It recomputes its context; the optional GPT-2 experiment measures caching separately, and timing depends on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mixture-of-experts layer offers several feed-forward networks. A learned router selects a few for each token vector. Routing weights combine their outputs. More total parameters need not all run for one token. Analogy: Send a case to selected specialists. Ask: Do expert names guarantee recognisable human specialties? Answer: No. Roles are learned during training. Common mistake: Assuming more parameters come with free computation. Every expert's weights need storage, and routing and moving them can add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Vision Transformer embeds image patches into vectors with position information. Whisper encodes audio spectrogram features, then generates transcript text with a decoder. Analogy: Cut a picture into numbered tiles, then exchange information between tile representations. Ask: Are patches words, or do they share a useful vector-sequence interface? Answer: They are not words, but like tokens they become a sequence of vectors that the same transformer operations can process. Common mistake: Assuming each modality needs a different architecture. Diffusion transformers likewise process image-latent patches, and transformers also handle code and time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Answer A. One cell shows a mixing weight in one head for one input. Values, residual routes and feed-forward layers also affect outputs. Removing or changing a component can test its effect. Analogy: Traffic counts show a busy route, not why a traveller chose a destination. Ask: What makes a displayed head a biased example? Answer: Selecting the strongest-looking head without saying so. Common mistake: Reporting attention pictures but not the compute used. Also consider that token costs differ between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begins with a small numerical operation and builds upward. First, attention is checked against a worked example and PyTorch. Next, MultiHeadAttention handles parallel heads, while Block adds normalisation, a per-position feed-forward network and residual additions. The get_batch function returns input characters and targets shifted one position ahead. The training loop computes cross-entropy, a measure of prediction error, and the optimizer updates parameters using gradients. The val_loss function measures error on the separate validation text. Perplexity summarises that uncertainty, but character perplexity cannot be compared directly with word-piece perplexity. The final inspection is a separate experiment with pretrained BERT and GPT-2. GPT-2's representation at 'it' cannot depend on 'tired' or 'wide' occurring later; unchanged attention there is the expected consequence of causality.
Worked example:
First verify that future positions get zero weight in a masked test.
For a short chunk 'ROM', the next-character targets start 'OME'.
Cross-entropy measures how much probability the model assigns to the known next characters.
Validation uses the separate val_data portion rather than the training batches.
Finally, inspect separate pretrained models; their weights were not trained by CharGPT.
Check: Which function supplies the known next characters during training, and which evaluates separate text?
Answer: get_batch supplies shifted targets; val_loss evaluates batches drawn from val_data.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Read, predict, run, change and check. Complete attention checks before training. Your character model is separate from pretrained BERT and GPT-2 used for inspection. Record measured results from your run. Analogy: Assemble a small engine before inspecting larger engines built by others. Ask: Which function creates next-character targets? Answer: get_batch, by shifting the text one position. Common mistake: Copying the lecture's measurements instead of reporting your own results, or expecting smoke-run samples to show full-training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Revisit the visual videos at your own pace. Use the coding lecture to practise lab shape changes. Read the original paper after explaining the numerical example. Word notes include books and official API references. Analogy: Choose a suitable trail through the course map. Ask: Would a visual recap or coding walkthrough help most tonight? Answer: Let the class choose, then point to the matching resource. Common mistake: Watching code run instead of predicting its shapes and checks. Explain one cell yourself before copying its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Rebuild today’s system from memory. Text becomes IDs, then positioned vectors. Queries compare with keys; the resulting weights mix values. Several heads and residual additions form a block. Training uses known next-character targets and changes parameters. Generation extends a prefix with fixed parameters. Analogy: practice changes a musician’s skill; performance uses it. Ask the class to trace cat and its shifted targets ats. Common mistake: an attention weight, a low perplexity or a fluent sample does not prove factual understanding. Mention that KV caches save repeated work, expert routing selects networks, and patches or audio can supply other input sequences.
Exit question: What changes during training, and what changes during generation?
Answer: Training changes parameters using target errors. Generation keeps them fixed and extends the prefix.
Say: Rebuild the route aloud. IDs select vectors; positions supply order; blocks exchange and transform information. A vocabulary head scores next tokens. Training checks known targets; generation samples with fixed learned weights. Analogy: Reassemble an engine from input route to output route. Ask: Which operation would you explain first to someone new to transformers? Answer: Any operation works if it is explained with its inputs and outputs. Common mistake: Replacing mechanisms with model names. Next week connects these architectures to large language models and their training 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youtube.com/watch?v=wjZofJX0v4M" TargetMode="External"/><Relationship Id="rId4" Type="http://schemas.openxmlformats.org/officeDocument/2006/relationships/hyperlink" Target="https://www.youtube.com/watch?v=eMlx5fFNoYc" TargetMode="External"/><Relationship Id="rId6" Type="http://schemas.openxmlformats.org/officeDocument/2006/relationships/hyperlink" Target="https://www.youtube.com/watch?v=kCc8FmEb1nY" TargetMode="External"/><Relationship Id="rId8" Type="http://schemas.openxmlformats.org/officeDocument/2006/relationships/hyperlink" Target="https://arxiv.org/abs/1706.03762" TargetMode="External"/><Relationship Id="rId10" Type="http://schemas.openxmlformats.org/officeDocument/2006/relationships/hyperlink" Target="https://huggingface.co/learn/llm-course/chapter1/6" TargetMode="External"/><Relationship Id="rId1" Type="http://schemas.openxmlformats.org/officeDocument/2006/relationships/image" Target="../media/image-45-1.png"/><Relationship Id="rId3" Type="http://schemas.openxmlformats.org/officeDocument/2006/relationships/image" Target="../media/image-45-2.png"/><Relationship Id="rId5" Type="http://schemas.openxmlformats.org/officeDocument/2006/relationships/image" Target="../media/image-45-3.png"/><Relationship Id="rId7" Type="http://schemas.openxmlformats.org/officeDocument/2006/relationships/image" Target="../media/image-45-4.png"/><Relationship Id="rId9" Type="http://schemas.openxmlformats.org/officeDocument/2006/relationships/image" Target="../media/image-45-5.png"/><Relationship Id="rId11" Type="http://schemas.openxmlformats.org/officeDocument/2006/relationships/slideLayout" Target="../slideLayouts/slideLayout1.xml"/><Relationship Id="rId1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05</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500" b="1" dirty="0">
                <a:solidFill>
                  <a:srgbClr val="FFFFFF"/>
                </a:solidFill>
                <a:latin typeface="Calibri" pitchFamily="34" charset="0"/>
                <a:ea typeface="Calibri" pitchFamily="34" charset="-122"/>
                <a:cs typeface="Calibri" pitchFamily="34" charset="-120"/>
              </a:rPr>
              <a:t>Transformers &amp; Attention</a:t>
            </a:r>
            <a:endParaRPr lang="en-US" sz="45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Follow text through a transformer, calculate attention, then build a small character model</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4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400" dirty="0"/>
          </a:p>
        </p:txBody>
      </p:sp>
      <p:pic>
        <p:nvPicPr>
          <p:cNvPr id="7" name="Image 0" descr="C:\Users\sudee\Downloads\Generative_AI_2027_Teaching_Pack\AI2027_Project\build\figures\week_05\cover.png">    </p:cNvPr>
          <p:cNvPicPr>
            <a:picLocks noChangeAspect="1"/>
          </p:cNvPicPr>
          <p:nvPr/>
        </p:nvPicPr>
        <p:blipFill>
          <a:blip r:embed="rId1"/>
          <a:stretch>
            <a:fillRect/>
          </a:stretch>
        </p:blipFill>
        <p:spPr>
          <a:xfrm>
            <a:off x="7818120" y="1508760"/>
            <a:ext cx="3840480" cy="3840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Explain why attention helps with distant words.</a:t>
            </a:r>
            <a:endParaRPr lang="en-US" sz="20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Turn text into numbered tokens and vectors.</a:t>
            </a:r>
            <a:endParaRPr lang="en-US" sz="20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Calculate one attention mixture.</a:t>
            </a:r>
            <a:endParaRPr lang="en-US" sz="20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Explain heads, masks and positions.</a:t>
            </a:r>
            <a:endParaRPr lang="en-US" sz="20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three transformer architectures.</a:t>
            </a:r>
            <a:endParaRPr lang="en-US" sz="20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Build, train and evaluate a small model.</a:t>
            </a:r>
            <a:endParaRPr lang="en-US" sz="20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1</a:t>
            </a:r>
            <a:endParaRPr lang="en-US" sz="14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3</a:t>
            </a:r>
            <a:endParaRPr lang="en-US" sz="14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in the course</a:t>
            </a:r>
            <a:endParaRPr lang="en-US" sz="3200" dirty="0"/>
          </a:p>
        </p:txBody>
      </p:sp>
      <p:sp>
        <p:nvSpPr>
          <p:cNvPr id="6" name="Text 4"/>
          <p:cNvSpPr txBox="1"/>
          <p:nvPr/>
        </p:nvSpPr>
        <p:spPr>
          <a:xfrm>
            <a:off x="1077042" y="17161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Foundations and image generators</a:t>
            </a:r>
            <a:endParaRPr lang="en-US" sz="1560" dirty="0"/>
          </a:p>
        </p:txBody>
      </p:sp>
      <p:sp>
        <p:nvSpPr>
          <p:cNvPr id="7" name="Shape 5"/>
          <p:cNvSpPr/>
          <p:nvPr/>
        </p:nvSpPr>
        <p:spPr>
          <a:xfrm>
            <a:off x="1077042" y="2053648"/>
            <a:ext cx="2300286" cy="763093"/>
          </a:xfrm>
          <a:prstGeom prst="roundRect">
            <a:avLst>
              <a:gd name="adj" fmla="val 9586"/>
            </a:avLst>
          </a:prstGeom>
          <a:solidFill>
            <a:srgbClr val="E4F2FB"/>
          </a:solidFill>
          <a:ln w="15240">
            <a:solidFill>
              <a:srgbClr val="0072B2"/>
            </a:solidFill>
            <a:prstDash val="solid"/>
          </a:ln>
        </p:spPr>
      </p:sp>
      <p:sp>
        <p:nvSpPr>
          <p:cNvPr id="8" name="Text 6"/>
          <p:cNvSpPr txBox="1"/>
          <p:nvPr/>
        </p:nvSpPr>
        <p:spPr>
          <a:xfrm>
            <a:off x="1179766"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a:t>
            </a:r>
            <a:endParaRPr lang="en-US" sz="1444" dirty="0"/>
          </a:p>
        </p:txBody>
      </p:sp>
      <p:sp>
        <p:nvSpPr>
          <p:cNvPr id="9" name="Text 7"/>
          <p:cNvSpPr txBox="1"/>
          <p:nvPr/>
        </p:nvSpPr>
        <p:spPr>
          <a:xfrm>
            <a:off x="1179766"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Introduction and</a:t>
            </a:r>
            <a:endParaRPr lang="en-US" sz="1444" dirty="0"/>
          </a:p>
        </p:txBody>
      </p:sp>
      <p:sp>
        <p:nvSpPr>
          <p:cNvPr id="10" name="Text 8"/>
          <p:cNvSpPr txBox="1"/>
          <p:nvPr/>
        </p:nvSpPr>
        <p:spPr>
          <a:xfrm>
            <a:off x="1179766"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responsible AI</a:t>
            </a:r>
            <a:endParaRPr lang="en-US" sz="1444" dirty="0"/>
          </a:p>
        </p:txBody>
      </p:sp>
      <p:sp>
        <p:nvSpPr>
          <p:cNvPr id="11" name="Shape 9"/>
          <p:cNvSpPr/>
          <p:nvPr/>
        </p:nvSpPr>
        <p:spPr>
          <a:xfrm>
            <a:off x="3377328" y="2435195"/>
            <a:ext cx="278823" cy="0"/>
          </a:xfrm>
          <a:prstGeom prst="line">
            <a:avLst/>
          </a:prstGeom>
          <a:noFill/>
          <a:ln w="22860">
            <a:solidFill>
              <a:srgbClr val="0072B2"/>
            </a:solidFill>
            <a:prstDash val="solid"/>
            <a:tailEnd type="triangle"/>
          </a:ln>
        </p:spPr>
      </p:sp>
      <p:sp>
        <p:nvSpPr>
          <p:cNvPr id="12" name="Shape 10"/>
          <p:cNvSpPr/>
          <p:nvPr/>
        </p:nvSpPr>
        <p:spPr>
          <a:xfrm>
            <a:off x="3656151" y="2053648"/>
            <a:ext cx="2300286" cy="763093"/>
          </a:xfrm>
          <a:prstGeom prst="roundRect">
            <a:avLst>
              <a:gd name="adj" fmla="val 9586"/>
            </a:avLst>
          </a:prstGeom>
          <a:solidFill>
            <a:srgbClr val="E4F2FB"/>
          </a:solidFill>
          <a:ln w="15240">
            <a:solidFill>
              <a:srgbClr val="0072B2"/>
            </a:solidFill>
            <a:prstDash val="solid"/>
          </a:ln>
        </p:spPr>
      </p:sp>
      <p:sp>
        <p:nvSpPr>
          <p:cNvPr id="13" name="Text 11"/>
          <p:cNvSpPr txBox="1"/>
          <p:nvPr/>
        </p:nvSpPr>
        <p:spPr>
          <a:xfrm>
            <a:off x="3758875"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2</a:t>
            </a:r>
            <a:endParaRPr lang="en-US" sz="1444" dirty="0"/>
          </a:p>
        </p:txBody>
      </p:sp>
      <p:sp>
        <p:nvSpPr>
          <p:cNvPr id="14" name="Text 12"/>
          <p:cNvSpPr txBox="1"/>
          <p:nvPr/>
        </p:nvSpPr>
        <p:spPr>
          <a:xfrm>
            <a:off x="3758875"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Variational</a:t>
            </a:r>
            <a:endParaRPr lang="en-US" sz="1444" dirty="0"/>
          </a:p>
        </p:txBody>
      </p:sp>
      <p:sp>
        <p:nvSpPr>
          <p:cNvPr id="15" name="Text 13"/>
          <p:cNvSpPr txBox="1"/>
          <p:nvPr/>
        </p:nvSpPr>
        <p:spPr>
          <a:xfrm>
            <a:off x="3758875"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autoencoders (VAEs)</a:t>
            </a:r>
            <a:endParaRPr lang="en-US" sz="1444" dirty="0"/>
          </a:p>
        </p:txBody>
      </p:sp>
      <p:sp>
        <p:nvSpPr>
          <p:cNvPr id="16" name="Shape 14"/>
          <p:cNvSpPr/>
          <p:nvPr/>
        </p:nvSpPr>
        <p:spPr>
          <a:xfrm>
            <a:off x="5956436" y="2435195"/>
            <a:ext cx="278823" cy="0"/>
          </a:xfrm>
          <a:prstGeom prst="line">
            <a:avLst/>
          </a:prstGeom>
          <a:noFill/>
          <a:ln w="22860">
            <a:solidFill>
              <a:srgbClr val="0072B2"/>
            </a:solidFill>
            <a:prstDash val="solid"/>
            <a:tailEnd type="triangle"/>
          </a:ln>
        </p:spPr>
      </p:sp>
      <p:sp>
        <p:nvSpPr>
          <p:cNvPr id="17" name="Shape 15"/>
          <p:cNvSpPr/>
          <p:nvPr/>
        </p:nvSpPr>
        <p:spPr>
          <a:xfrm>
            <a:off x="6235259" y="2053648"/>
            <a:ext cx="2300286" cy="763093"/>
          </a:xfrm>
          <a:prstGeom prst="roundRect">
            <a:avLst>
              <a:gd name="adj" fmla="val 9586"/>
            </a:avLst>
          </a:prstGeom>
          <a:solidFill>
            <a:srgbClr val="E4F2FB"/>
          </a:solidFill>
          <a:ln w="15240">
            <a:solidFill>
              <a:srgbClr val="0072B2"/>
            </a:solidFill>
            <a:prstDash val="solid"/>
          </a:ln>
        </p:spPr>
      </p:sp>
      <p:sp>
        <p:nvSpPr>
          <p:cNvPr id="18" name="Text 16"/>
          <p:cNvSpPr txBox="1"/>
          <p:nvPr/>
        </p:nvSpPr>
        <p:spPr>
          <a:xfrm>
            <a:off x="6337983"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3</a:t>
            </a:r>
            <a:endParaRPr lang="en-US" sz="1444" dirty="0"/>
          </a:p>
        </p:txBody>
      </p:sp>
      <p:sp>
        <p:nvSpPr>
          <p:cNvPr id="19" name="Text 17"/>
          <p:cNvSpPr txBox="1"/>
          <p:nvPr/>
        </p:nvSpPr>
        <p:spPr>
          <a:xfrm>
            <a:off x="6337983"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Generative adversarial</a:t>
            </a:r>
            <a:endParaRPr lang="en-US" sz="1444" dirty="0"/>
          </a:p>
        </p:txBody>
      </p:sp>
      <p:sp>
        <p:nvSpPr>
          <p:cNvPr id="20" name="Text 18"/>
          <p:cNvSpPr txBox="1"/>
          <p:nvPr/>
        </p:nvSpPr>
        <p:spPr>
          <a:xfrm>
            <a:off x="6337983"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networks (GANs)</a:t>
            </a:r>
            <a:endParaRPr lang="en-US" sz="1444" dirty="0"/>
          </a:p>
        </p:txBody>
      </p:sp>
      <p:sp>
        <p:nvSpPr>
          <p:cNvPr id="21" name="Shape 19"/>
          <p:cNvSpPr/>
          <p:nvPr/>
        </p:nvSpPr>
        <p:spPr>
          <a:xfrm>
            <a:off x="8535545" y="2435195"/>
            <a:ext cx="278823" cy="0"/>
          </a:xfrm>
          <a:prstGeom prst="line">
            <a:avLst/>
          </a:prstGeom>
          <a:noFill/>
          <a:ln w="22860">
            <a:solidFill>
              <a:srgbClr val="0072B2"/>
            </a:solidFill>
            <a:prstDash val="solid"/>
            <a:tailEnd type="triangle"/>
          </a:ln>
        </p:spPr>
      </p:sp>
      <p:sp>
        <p:nvSpPr>
          <p:cNvPr id="22" name="Shape 20"/>
          <p:cNvSpPr/>
          <p:nvPr/>
        </p:nvSpPr>
        <p:spPr>
          <a:xfrm>
            <a:off x="8814367" y="2053648"/>
            <a:ext cx="2300286" cy="763093"/>
          </a:xfrm>
          <a:prstGeom prst="roundRect">
            <a:avLst>
              <a:gd name="adj" fmla="val 9586"/>
            </a:avLst>
          </a:prstGeom>
          <a:solidFill>
            <a:srgbClr val="E4F2FB"/>
          </a:solidFill>
          <a:ln w="15240">
            <a:solidFill>
              <a:srgbClr val="0072B2"/>
            </a:solidFill>
            <a:prstDash val="solid"/>
          </a:ln>
        </p:spPr>
      </p:sp>
      <p:sp>
        <p:nvSpPr>
          <p:cNvPr id="23" name="Text 21"/>
          <p:cNvSpPr txBox="1"/>
          <p:nvPr/>
        </p:nvSpPr>
        <p:spPr>
          <a:xfrm>
            <a:off x="8917091"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4</a:t>
            </a:r>
            <a:endParaRPr lang="en-US" sz="1444" dirty="0"/>
          </a:p>
        </p:txBody>
      </p:sp>
      <p:sp>
        <p:nvSpPr>
          <p:cNvPr id="24" name="Text 22"/>
          <p:cNvSpPr txBox="1"/>
          <p:nvPr/>
        </p:nvSpPr>
        <p:spPr>
          <a:xfrm>
            <a:off x="8917091"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Diffusion</a:t>
            </a:r>
            <a:endParaRPr lang="en-US" sz="1444" dirty="0"/>
          </a:p>
        </p:txBody>
      </p:sp>
      <p:sp>
        <p:nvSpPr>
          <p:cNvPr id="25" name="Text 23"/>
          <p:cNvSpPr txBox="1"/>
          <p:nvPr/>
        </p:nvSpPr>
        <p:spPr>
          <a:xfrm>
            <a:off x="8917091"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models</a:t>
            </a:r>
            <a:endParaRPr lang="en-US" sz="1444" dirty="0"/>
          </a:p>
        </p:txBody>
      </p:sp>
      <p:sp>
        <p:nvSpPr>
          <p:cNvPr id="26" name="Shape 24"/>
          <p:cNvSpPr/>
          <p:nvPr/>
        </p:nvSpPr>
        <p:spPr>
          <a:xfrm>
            <a:off x="9964510" y="2816741"/>
            <a:ext cx="0" cy="132074"/>
          </a:xfrm>
          <a:prstGeom prst="line">
            <a:avLst/>
          </a:prstGeom>
          <a:noFill/>
          <a:ln w="22860">
            <a:solidFill>
              <a:srgbClr val="0072B2"/>
            </a:solidFill>
            <a:prstDash val="solid"/>
          </a:ln>
        </p:spPr>
      </p:sp>
      <p:sp>
        <p:nvSpPr>
          <p:cNvPr id="27" name="Shape 25"/>
          <p:cNvSpPr/>
          <p:nvPr/>
        </p:nvSpPr>
        <p:spPr>
          <a:xfrm flipH="1">
            <a:off x="944968" y="2948815"/>
            <a:ext cx="9019542" cy="0"/>
          </a:xfrm>
          <a:prstGeom prst="line">
            <a:avLst/>
          </a:prstGeom>
          <a:noFill/>
          <a:ln w="22860">
            <a:solidFill>
              <a:srgbClr val="0072B2"/>
            </a:solidFill>
            <a:prstDash val="solid"/>
          </a:ln>
        </p:spPr>
      </p:sp>
      <p:sp>
        <p:nvSpPr>
          <p:cNvPr id="28" name="Shape 26"/>
          <p:cNvSpPr/>
          <p:nvPr/>
        </p:nvSpPr>
        <p:spPr>
          <a:xfrm>
            <a:off x="944968" y="2948815"/>
            <a:ext cx="0" cy="858480"/>
          </a:xfrm>
          <a:prstGeom prst="line">
            <a:avLst/>
          </a:prstGeom>
          <a:noFill/>
          <a:ln w="22860">
            <a:solidFill>
              <a:srgbClr val="0072B2"/>
            </a:solidFill>
            <a:prstDash val="solid"/>
          </a:ln>
        </p:spPr>
      </p:sp>
      <p:sp>
        <p:nvSpPr>
          <p:cNvPr id="29" name="Shape 27"/>
          <p:cNvSpPr/>
          <p:nvPr/>
        </p:nvSpPr>
        <p:spPr>
          <a:xfrm>
            <a:off x="944968" y="3807295"/>
            <a:ext cx="132074" cy="0"/>
          </a:xfrm>
          <a:prstGeom prst="line">
            <a:avLst/>
          </a:prstGeom>
          <a:noFill/>
          <a:ln w="22860">
            <a:solidFill>
              <a:srgbClr val="0072B2"/>
            </a:solidFill>
            <a:prstDash val="solid"/>
            <a:tailEnd type="triangle"/>
          </a:ln>
        </p:spPr>
      </p:sp>
      <p:sp>
        <p:nvSpPr>
          <p:cNvPr id="30" name="Text 28"/>
          <p:cNvSpPr txBox="1"/>
          <p:nvPr/>
        </p:nvSpPr>
        <p:spPr>
          <a:xfrm>
            <a:off x="1077042" y="30882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Language models and adaptation</a:t>
            </a:r>
            <a:endParaRPr lang="en-US" sz="1560" dirty="0"/>
          </a:p>
        </p:txBody>
      </p:sp>
      <p:sp>
        <p:nvSpPr>
          <p:cNvPr id="31" name="Shape 29"/>
          <p:cNvSpPr/>
          <p:nvPr/>
        </p:nvSpPr>
        <p:spPr>
          <a:xfrm>
            <a:off x="1077042" y="3425748"/>
            <a:ext cx="2300286" cy="763093"/>
          </a:xfrm>
          <a:prstGeom prst="roundRect">
            <a:avLst>
              <a:gd name="adj" fmla="val 9586"/>
            </a:avLst>
          </a:prstGeom>
          <a:solidFill>
            <a:srgbClr val="FFF0E6"/>
          </a:solidFill>
          <a:ln w="15240">
            <a:solidFill>
              <a:srgbClr val="D55E00"/>
            </a:solidFill>
            <a:prstDash val="solid"/>
          </a:ln>
        </p:spPr>
      </p:sp>
      <p:sp>
        <p:nvSpPr>
          <p:cNvPr id="32" name="Text 30"/>
          <p:cNvSpPr txBox="1"/>
          <p:nvPr/>
        </p:nvSpPr>
        <p:spPr>
          <a:xfrm>
            <a:off x="1179766"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D55E00"/>
                </a:solidFill>
                <a:latin typeface="Arial" pitchFamily="34" charset="0"/>
                <a:ea typeface="Arial" pitchFamily="34" charset="-122"/>
                <a:cs typeface="Arial" pitchFamily="34" charset="-120"/>
              </a:rPr>
              <a:t>Week 5: you are here</a:t>
            </a:r>
            <a:endParaRPr lang="en-US" sz="1444" dirty="0"/>
          </a:p>
        </p:txBody>
      </p:sp>
      <p:sp>
        <p:nvSpPr>
          <p:cNvPr id="33" name="Text 31"/>
          <p:cNvSpPr txBox="1"/>
          <p:nvPr/>
        </p:nvSpPr>
        <p:spPr>
          <a:xfrm>
            <a:off x="1179766"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Transformers</a:t>
            </a:r>
            <a:endParaRPr lang="en-US" sz="1444" dirty="0"/>
          </a:p>
        </p:txBody>
      </p:sp>
      <p:sp>
        <p:nvSpPr>
          <p:cNvPr id="34" name="Text 32"/>
          <p:cNvSpPr txBox="1"/>
          <p:nvPr/>
        </p:nvSpPr>
        <p:spPr>
          <a:xfrm>
            <a:off x="1179766"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attention</a:t>
            </a:r>
            <a:endParaRPr lang="en-US" sz="1444" dirty="0"/>
          </a:p>
        </p:txBody>
      </p:sp>
      <p:sp>
        <p:nvSpPr>
          <p:cNvPr id="35" name="Shape 33"/>
          <p:cNvSpPr/>
          <p:nvPr/>
        </p:nvSpPr>
        <p:spPr>
          <a:xfrm>
            <a:off x="3377328" y="3807295"/>
            <a:ext cx="278823" cy="0"/>
          </a:xfrm>
          <a:prstGeom prst="line">
            <a:avLst/>
          </a:prstGeom>
          <a:noFill/>
          <a:ln w="22860">
            <a:solidFill>
              <a:srgbClr val="0072B2"/>
            </a:solidFill>
            <a:prstDash val="solid"/>
            <a:tailEnd type="triangle"/>
          </a:ln>
        </p:spPr>
      </p:sp>
      <p:sp>
        <p:nvSpPr>
          <p:cNvPr id="36" name="Shape 34"/>
          <p:cNvSpPr/>
          <p:nvPr/>
        </p:nvSpPr>
        <p:spPr>
          <a:xfrm>
            <a:off x="3656151" y="3425748"/>
            <a:ext cx="2300286" cy="763093"/>
          </a:xfrm>
          <a:prstGeom prst="roundRect">
            <a:avLst>
              <a:gd name="adj" fmla="val 9586"/>
            </a:avLst>
          </a:prstGeom>
          <a:solidFill>
            <a:srgbClr val="E4F2FB"/>
          </a:solidFill>
          <a:ln w="15240">
            <a:solidFill>
              <a:srgbClr val="0072B2"/>
            </a:solidFill>
            <a:prstDash val="solid"/>
          </a:ln>
        </p:spPr>
      </p:sp>
      <p:sp>
        <p:nvSpPr>
          <p:cNvPr id="37" name="Text 35"/>
          <p:cNvSpPr txBox="1"/>
          <p:nvPr/>
        </p:nvSpPr>
        <p:spPr>
          <a:xfrm>
            <a:off x="3758875"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6</a:t>
            </a:r>
            <a:endParaRPr lang="en-US" sz="1444" dirty="0"/>
          </a:p>
        </p:txBody>
      </p:sp>
      <p:sp>
        <p:nvSpPr>
          <p:cNvPr id="38" name="Text 36"/>
          <p:cNvSpPr txBox="1"/>
          <p:nvPr/>
        </p:nvSpPr>
        <p:spPr>
          <a:xfrm>
            <a:off x="3758875"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Language models</a:t>
            </a:r>
            <a:endParaRPr lang="en-US" sz="1444" dirty="0"/>
          </a:p>
        </p:txBody>
      </p:sp>
      <p:sp>
        <p:nvSpPr>
          <p:cNvPr id="39" name="Text 37"/>
          <p:cNvSpPr txBox="1"/>
          <p:nvPr/>
        </p:nvSpPr>
        <p:spPr>
          <a:xfrm>
            <a:off x="3758875"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families</a:t>
            </a:r>
            <a:endParaRPr lang="en-US" sz="1444" dirty="0"/>
          </a:p>
        </p:txBody>
      </p:sp>
      <p:sp>
        <p:nvSpPr>
          <p:cNvPr id="40" name="Shape 38"/>
          <p:cNvSpPr/>
          <p:nvPr/>
        </p:nvSpPr>
        <p:spPr>
          <a:xfrm>
            <a:off x="5956436" y="3807295"/>
            <a:ext cx="278823" cy="0"/>
          </a:xfrm>
          <a:prstGeom prst="line">
            <a:avLst/>
          </a:prstGeom>
          <a:noFill/>
          <a:ln w="22860">
            <a:solidFill>
              <a:srgbClr val="0072B2"/>
            </a:solidFill>
            <a:prstDash val="solid"/>
            <a:tailEnd type="triangle"/>
          </a:ln>
        </p:spPr>
      </p:sp>
      <p:sp>
        <p:nvSpPr>
          <p:cNvPr id="41" name="Shape 39"/>
          <p:cNvSpPr/>
          <p:nvPr/>
        </p:nvSpPr>
        <p:spPr>
          <a:xfrm>
            <a:off x="6235259" y="3425748"/>
            <a:ext cx="2300286" cy="763093"/>
          </a:xfrm>
          <a:prstGeom prst="roundRect">
            <a:avLst>
              <a:gd name="adj" fmla="val 9586"/>
            </a:avLst>
          </a:prstGeom>
          <a:solidFill>
            <a:srgbClr val="E4F2FB"/>
          </a:solidFill>
          <a:ln w="15240">
            <a:solidFill>
              <a:srgbClr val="0072B2"/>
            </a:solidFill>
            <a:prstDash val="solid"/>
          </a:ln>
        </p:spPr>
      </p:sp>
      <p:sp>
        <p:nvSpPr>
          <p:cNvPr id="42" name="Text 40"/>
          <p:cNvSpPr txBox="1"/>
          <p:nvPr/>
        </p:nvSpPr>
        <p:spPr>
          <a:xfrm>
            <a:off x="6337983"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7</a:t>
            </a:r>
            <a:endParaRPr lang="en-US" sz="1444" dirty="0"/>
          </a:p>
        </p:txBody>
      </p:sp>
      <p:sp>
        <p:nvSpPr>
          <p:cNvPr id="43" name="Text 41"/>
          <p:cNvSpPr txBox="1"/>
          <p:nvPr/>
        </p:nvSpPr>
        <p:spPr>
          <a:xfrm>
            <a:off x="6337983"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Prompting</a:t>
            </a:r>
            <a:endParaRPr lang="en-US" sz="1444" dirty="0"/>
          </a:p>
        </p:txBody>
      </p:sp>
      <p:sp>
        <p:nvSpPr>
          <p:cNvPr id="44" name="Text 42"/>
          <p:cNvSpPr txBox="1"/>
          <p:nvPr/>
        </p:nvSpPr>
        <p:spPr>
          <a:xfrm>
            <a:off x="6337983"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evaluation</a:t>
            </a:r>
            <a:endParaRPr lang="en-US" sz="1444" dirty="0"/>
          </a:p>
        </p:txBody>
      </p:sp>
      <p:sp>
        <p:nvSpPr>
          <p:cNvPr id="45" name="Shape 43"/>
          <p:cNvSpPr/>
          <p:nvPr/>
        </p:nvSpPr>
        <p:spPr>
          <a:xfrm>
            <a:off x="8535545" y="3807295"/>
            <a:ext cx="278823" cy="0"/>
          </a:xfrm>
          <a:prstGeom prst="line">
            <a:avLst/>
          </a:prstGeom>
          <a:noFill/>
          <a:ln w="22860">
            <a:solidFill>
              <a:srgbClr val="0072B2"/>
            </a:solidFill>
            <a:prstDash val="solid"/>
            <a:tailEnd type="triangle"/>
          </a:ln>
        </p:spPr>
      </p:sp>
      <p:sp>
        <p:nvSpPr>
          <p:cNvPr id="46" name="Shape 44"/>
          <p:cNvSpPr/>
          <p:nvPr/>
        </p:nvSpPr>
        <p:spPr>
          <a:xfrm>
            <a:off x="8814367" y="3425748"/>
            <a:ext cx="2300286" cy="763093"/>
          </a:xfrm>
          <a:prstGeom prst="roundRect">
            <a:avLst>
              <a:gd name="adj" fmla="val 9586"/>
            </a:avLst>
          </a:prstGeom>
          <a:solidFill>
            <a:srgbClr val="E4F2FB"/>
          </a:solidFill>
          <a:ln w="15240">
            <a:solidFill>
              <a:srgbClr val="0072B2"/>
            </a:solidFill>
            <a:prstDash val="solid"/>
          </a:ln>
        </p:spPr>
      </p:sp>
      <p:sp>
        <p:nvSpPr>
          <p:cNvPr id="47" name="Text 45"/>
          <p:cNvSpPr txBox="1"/>
          <p:nvPr/>
        </p:nvSpPr>
        <p:spPr>
          <a:xfrm>
            <a:off x="8917091"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8</a:t>
            </a:r>
            <a:endParaRPr lang="en-US" sz="1444" dirty="0"/>
          </a:p>
        </p:txBody>
      </p:sp>
      <p:sp>
        <p:nvSpPr>
          <p:cNvPr id="48" name="Text 46"/>
          <p:cNvSpPr txBox="1"/>
          <p:nvPr/>
        </p:nvSpPr>
        <p:spPr>
          <a:xfrm>
            <a:off x="8917091"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Fine-tuning</a:t>
            </a:r>
            <a:endParaRPr lang="en-US" sz="1444" dirty="0"/>
          </a:p>
        </p:txBody>
      </p:sp>
      <p:sp>
        <p:nvSpPr>
          <p:cNvPr id="49" name="Text 47"/>
          <p:cNvSpPr txBox="1"/>
          <p:nvPr/>
        </p:nvSpPr>
        <p:spPr>
          <a:xfrm>
            <a:off x="8917091"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adaptation</a:t>
            </a:r>
            <a:endParaRPr lang="en-US" sz="1444" dirty="0"/>
          </a:p>
        </p:txBody>
      </p:sp>
      <p:sp>
        <p:nvSpPr>
          <p:cNvPr id="50" name="Shape 48"/>
          <p:cNvSpPr/>
          <p:nvPr/>
        </p:nvSpPr>
        <p:spPr>
          <a:xfrm>
            <a:off x="9964510" y="4188841"/>
            <a:ext cx="0" cy="132074"/>
          </a:xfrm>
          <a:prstGeom prst="line">
            <a:avLst/>
          </a:prstGeom>
          <a:noFill/>
          <a:ln w="22860">
            <a:solidFill>
              <a:srgbClr val="0072B2"/>
            </a:solidFill>
            <a:prstDash val="solid"/>
          </a:ln>
        </p:spPr>
      </p:sp>
      <p:sp>
        <p:nvSpPr>
          <p:cNvPr id="51" name="Shape 49"/>
          <p:cNvSpPr/>
          <p:nvPr/>
        </p:nvSpPr>
        <p:spPr>
          <a:xfrm flipH="1">
            <a:off x="944968" y="4320915"/>
            <a:ext cx="9019542" cy="0"/>
          </a:xfrm>
          <a:prstGeom prst="line">
            <a:avLst/>
          </a:prstGeom>
          <a:noFill/>
          <a:ln w="22860">
            <a:solidFill>
              <a:srgbClr val="0072B2"/>
            </a:solidFill>
            <a:prstDash val="solid"/>
          </a:ln>
        </p:spPr>
      </p:sp>
      <p:sp>
        <p:nvSpPr>
          <p:cNvPr id="52" name="Shape 50"/>
          <p:cNvSpPr/>
          <p:nvPr/>
        </p:nvSpPr>
        <p:spPr>
          <a:xfrm>
            <a:off x="944968" y="4320915"/>
            <a:ext cx="0" cy="858480"/>
          </a:xfrm>
          <a:prstGeom prst="line">
            <a:avLst/>
          </a:prstGeom>
          <a:noFill/>
          <a:ln w="22860">
            <a:solidFill>
              <a:srgbClr val="0072B2"/>
            </a:solidFill>
            <a:prstDash val="solid"/>
          </a:ln>
        </p:spPr>
      </p:sp>
      <p:sp>
        <p:nvSpPr>
          <p:cNvPr id="53" name="Shape 51"/>
          <p:cNvSpPr/>
          <p:nvPr/>
        </p:nvSpPr>
        <p:spPr>
          <a:xfrm>
            <a:off x="944968" y="5179395"/>
            <a:ext cx="132074" cy="0"/>
          </a:xfrm>
          <a:prstGeom prst="line">
            <a:avLst/>
          </a:prstGeom>
          <a:noFill/>
          <a:ln w="22860">
            <a:solidFill>
              <a:srgbClr val="0072B2"/>
            </a:solidFill>
            <a:prstDash val="solid"/>
            <a:tailEnd type="triangle"/>
          </a:ln>
        </p:spPr>
      </p:sp>
      <p:sp>
        <p:nvSpPr>
          <p:cNvPr id="54" name="Text 52"/>
          <p:cNvSpPr txBox="1"/>
          <p:nvPr/>
        </p:nvSpPr>
        <p:spPr>
          <a:xfrm>
            <a:off x="1077042" y="44603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Multimodal applications and deployed systems</a:t>
            </a:r>
            <a:endParaRPr lang="en-US" sz="1560" dirty="0"/>
          </a:p>
        </p:txBody>
      </p:sp>
      <p:sp>
        <p:nvSpPr>
          <p:cNvPr id="55" name="Shape 53"/>
          <p:cNvSpPr/>
          <p:nvPr/>
        </p:nvSpPr>
        <p:spPr>
          <a:xfrm>
            <a:off x="1077042" y="4797848"/>
            <a:ext cx="2300286" cy="763093"/>
          </a:xfrm>
          <a:prstGeom prst="roundRect">
            <a:avLst>
              <a:gd name="adj" fmla="val 9586"/>
            </a:avLst>
          </a:prstGeom>
          <a:solidFill>
            <a:srgbClr val="E4F2FB"/>
          </a:solidFill>
          <a:ln w="15240">
            <a:solidFill>
              <a:srgbClr val="0072B2"/>
            </a:solidFill>
            <a:prstDash val="solid"/>
          </a:ln>
        </p:spPr>
      </p:sp>
      <p:sp>
        <p:nvSpPr>
          <p:cNvPr id="56" name="Text 54"/>
          <p:cNvSpPr txBox="1"/>
          <p:nvPr/>
        </p:nvSpPr>
        <p:spPr>
          <a:xfrm>
            <a:off x="1179766"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9</a:t>
            </a:r>
            <a:endParaRPr lang="en-US" sz="1444" dirty="0"/>
          </a:p>
        </p:txBody>
      </p:sp>
      <p:sp>
        <p:nvSpPr>
          <p:cNvPr id="57" name="Text 55"/>
          <p:cNvSpPr txBox="1"/>
          <p:nvPr/>
        </p:nvSpPr>
        <p:spPr>
          <a:xfrm>
            <a:off x="1179766"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58" name="Text 56"/>
          <p:cNvSpPr txBox="1"/>
          <p:nvPr/>
        </p:nvSpPr>
        <p:spPr>
          <a:xfrm>
            <a:off x="1179766"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foundations</a:t>
            </a:r>
            <a:endParaRPr lang="en-US" sz="1444" dirty="0"/>
          </a:p>
        </p:txBody>
      </p:sp>
      <p:sp>
        <p:nvSpPr>
          <p:cNvPr id="59" name="Shape 57"/>
          <p:cNvSpPr/>
          <p:nvPr/>
        </p:nvSpPr>
        <p:spPr>
          <a:xfrm>
            <a:off x="3377328" y="5179395"/>
            <a:ext cx="278823" cy="0"/>
          </a:xfrm>
          <a:prstGeom prst="line">
            <a:avLst/>
          </a:prstGeom>
          <a:noFill/>
          <a:ln w="22860">
            <a:solidFill>
              <a:srgbClr val="0072B2"/>
            </a:solidFill>
            <a:prstDash val="solid"/>
            <a:tailEnd type="triangle"/>
          </a:ln>
        </p:spPr>
      </p:sp>
      <p:sp>
        <p:nvSpPr>
          <p:cNvPr id="60" name="Shape 58"/>
          <p:cNvSpPr/>
          <p:nvPr/>
        </p:nvSpPr>
        <p:spPr>
          <a:xfrm>
            <a:off x="3656151" y="4797848"/>
            <a:ext cx="2300286" cy="763093"/>
          </a:xfrm>
          <a:prstGeom prst="roundRect">
            <a:avLst>
              <a:gd name="adj" fmla="val 9586"/>
            </a:avLst>
          </a:prstGeom>
          <a:solidFill>
            <a:srgbClr val="E4F2FB"/>
          </a:solidFill>
          <a:ln w="15240">
            <a:solidFill>
              <a:srgbClr val="0072B2"/>
            </a:solidFill>
            <a:prstDash val="solid"/>
          </a:ln>
        </p:spPr>
      </p:sp>
      <p:sp>
        <p:nvSpPr>
          <p:cNvPr id="61" name="Text 59"/>
          <p:cNvSpPr txBox="1"/>
          <p:nvPr/>
        </p:nvSpPr>
        <p:spPr>
          <a:xfrm>
            <a:off x="3758875"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10</a:t>
            </a:r>
            <a:endParaRPr lang="en-US" sz="1444" dirty="0"/>
          </a:p>
        </p:txBody>
      </p:sp>
      <p:sp>
        <p:nvSpPr>
          <p:cNvPr id="62" name="Text 60"/>
          <p:cNvSpPr txBox="1"/>
          <p:nvPr/>
        </p:nvSpPr>
        <p:spPr>
          <a:xfrm>
            <a:off x="3758875"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63" name="Text 61"/>
          <p:cNvSpPr txBox="1"/>
          <p:nvPr/>
        </p:nvSpPr>
        <p:spPr>
          <a:xfrm>
            <a:off x="3758875"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applications</a:t>
            </a:r>
            <a:endParaRPr lang="en-US" sz="1444" dirty="0"/>
          </a:p>
        </p:txBody>
      </p:sp>
      <p:sp>
        <p:nvSpPr>
          <p:cNvPr id="64" name="Shape 62"/>
          <p:cNvSpPr/>
          <p:nvPr/>
        </p:nvSpPr>
        <p:spPr>
          <a:xfrm>
            <a:off x="5956436" y="5179395"/>
            <a:ext cx="278823" cy="0"/>
          </a:xfrm>
          <a:prstGeom prst="line">
            <a:avLst/>
          </a:prstGeom>
          <a:noFill/>
          <a:ln w="22860">
            <a:solidFill>
              <a:srgbClr val="0072B2"/>
            </a:solidFill>
            <a:prstDash val="solid"/>
            <a:tailEnd type="triangle"/>
          </a:ln>
        </p:spPr>
      </p:sp>
      <p:sp>
        <p:nvSpPr>
          <p:cNvPr id="65" name="Shape 63"/>
          <p:cNvSpPr/>
          <p:nvPr/>
        </p:nvSpPr>
        <p:spPr>
          <a:xfrm>
            <a:off x="6235259" y="4797848"/>
            <a:ext cx="2300286" cy="763093"/>
          </a:xfrm>
          <a:prstGeom prst="roundRect">
            <a:avLst>
              <a:gd name="adj" fmla="val 9586"/>
            </a:avLst>
          </a:prstGeom>
          <a:solidFill>
            <a:srgbClr val="E4F2FB"/>
          </a:solidFill>
          <a:ln w="15240">
            <a:solidFill>
              <a:srgbClr val="0072B2"/>
            </a:solidFill>
            <a:prstDash val="solid"/>
          </a:ln>
        </p:spPr>
      </p:sp>
      <p:sp>
        <p:nvSpPr>
          <p:cNvPr id="66" name="Text 64"/>
          <p:cNvSpPr txBox="1"/>
          <p:nvPr/>
        </p:nvSpPr>
        <p:spPr>
          <a:xfrm>
            <a:off x="6337983"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11</a:t>
            </a:r>
            <a:endParaRPr lang="en-US" sz="1444" dirty="0"/>
          </a:p>
        </p:txBody>
      </p:sp>
      <p:sp>
        <p:nvSpPr>
          <p:cNvPr id="67" name="Text 65"/>
          <p:cNvSpPr txBox="1"/>
          <p:nvPr/>
        </p:nvSpPr>
        <p:spPr>
          <a:xfrm>
            <a:off x="6337983"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Deployment</a:t>
            </a:r>
            <a:endParaRPr lang="en-US" sz="1444" dirty="0"/>
          </a:p>
        </p:txBody>
      </p:sp>
      <p:sp>
        <p:nvSpPr>
          <p:cNvPr id="68" name="Text 66"/>
          <p:cNvSpPr txBox="1"/>
          <p:nvPr/>
        </p:nvSpPr>
        <p:spPr>
          <a:xfrm>
            <a:off x="6337983"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frameworks</a:t>
            </a:r>
            <a:endParaRPr lang="en-US" sz="1444" dirty="0"/>
          </a:p>
        </p:txBody>
      </p:sp>
      <p:sp>
        <p:nvSpPr>
          <p:cNvPr id="69" name="Shape 67"/>
          <p:cNvSpPr/>
          <p:nvPr/>
        </p:nvSpPr>
        <p:spPr>
          <a:xfrm>
            <a:off x="8535545" y="5179395"/>
            <a:ext cx="278823" cy="0"/>
          </a:xfrm>
          <a:prstGeom prst="line">
            <a:avLst/>
          </a:prstGeom>
          <a:noFill/>
          <a:ln w="22860">
            <a:solidFill>
              <a:srgbClr val="0072B2"/>
            </a:solidFill>
            <a:prstDash val="solid"/>
            <a:tailEnd type="triangle"/>
          </a:ln>
        </p:spPr>
      </p:sp>
      <p:sp>
        <p:nvSpPr>
          <p:cNvPr id="70" name="Shape 68"/>
          <p:cNvSpPr/>
          <p:nvPr/>
        </p:nvSpPr>
        <p:spPr>
          <a:xfrm>
            <a:off x="8814367" y="4797848"/>
            <a:ext cx="2300286" cy="763093"/>
          </a:xfrm>
          <a:prstGeom prst="roundRect">
            <a:avLst>
              <a:gd name="adj" fmla="val 9586"/>
            </a:avLst>
          </a:prstGeom>
          <a:solidFill>
            <a:srgbClr val="E4F2FB"/>
          </a:solidFill>
          <a:ln w="15240">
            <a:solidFill>
              <a:srgbClr val="0072B2"/>
            </a:solidFill>
            <a:prstDash val="solid"/>
          </a:ln>
        </p:spPr>
      </p:sp>
      <p:sp>
        <p:nvSpPr>
          <p:cNvPr id="71" name="Text 69"/>
          <p:cNvSpPr txBox="1"/>
          <p:nvPr/>
        </p:nvSpPr>
        <p:spPr>
          <a:xfrm>
            <a:off x="8917091"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12</a:t>
            </a:r>
            <a:endParaRPr lang="en-US" sz="1444" dirty="0"/>
          </a:p>
        </p:txBody>
      </p:sp>
      <p:sp>
        <p:nvSpPr>
          <p:cNvPr id="72" name="Text 70"/>
          <p:cNvSpPr txBox="1"/>
          <p:nvPr/>
        </p:nvSpPr>
        <p:spPr>
          <a:xfrm>
            <a:off x="8917091"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Retrieval (RAG)</a:t>
            </a:r>
            <a:endParaRPr lang="en-US" sz="1444" dirty="0"/>
          </a:p>
        </p:txBody>
      </p:sp>
      <p:sp>
        <p:nvSpPr>
          <p:cNvPr id="73" name="Text 71"/>
          <p:cNvSpPr txBox="1"/>
          <p:nvPr/>
        </p:nvSpPr>
        <p:spPr>
          <a:xfrm>
            <a:off x="8917091"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agents</a:t>
            </a:r>
            <a:endParaRPr lang="en-US" sz="1444" dirty="0"/>
          </a:p>
        </p:txBody>
      </p:sp>
      <p:sp>
        <p:nvSpPr>
          <p:cNvPr id="74" name="Text 72"/>
          <p:cNvSpPr txBox="1"/>
          <p:nvPr/>
        </p:nvSpPr>
        <p:spPr>
          <a:xfrm>
            <a:off x="1077042" y="5891126"/>
            <a:ext cx="10037611" cy="271485"/>
          </a:xfrm>
          <a:prstGeom prst="rect">
            <a:avLst/>
          </a:prstGeom>
          <a:noFill/>
          <a:ln/>
        </p:spPr>
        <p:txBody>
          <a:bodyPr wrap="square" lIns="0" tIns="0" rIns="0" bIns="0" rtlCol="0" anchor="ctr"/>
          <a:lstStyle/>
          <a:p>
            <a:pPr algn="l" indent="0" marL="0">
              <a:lnSpc>
                <a:spcPct val="116000"/>
              </a:lnSpc>
              <a:buNone/>
            </a:pPr>
            <a:r>
              <a:rPr lang="en-US" sz="1560" dirty="0">
                <a:solidFill>
                  <a:srgbClr val="1F2937"/>
                </a:solidFill>
                <a:latin typeface="Arial" pitchFamily="34" charset="0"/>
                <a:ea typeface="Arial" pitchFamily="34" charset="-122"/>
                <a:cs typeface="Arial" pitchFamily="34" charset="-120"/>
              </a:rPr>
              <a:t>Responsible use and evaluation continue throughout the course.</a:t>
            </a:r>
            <a:endParaRPr lang="en-US" sz="1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40771"/>
                <a:gridCol w="4326822"/>
                <a:gridCol w="432682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Term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Plain meaning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Quick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Vector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An ordered list of numbers used to represent an item.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How many entries are in the vector [1, 0, 1]?</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Matrix shape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number of rows and columns in a table of numbers.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What does shape [3, 2] tell you about three token vectors?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Training target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known answer used to measure a model's prediction error.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For input characters 'cat', which characters follow them in 'cats'?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The animal avoided the street because it was tired. What does "it" refer to? Change "tired" to "wide".</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Which words changed your answer?</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Why transformers?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can distant words share information?</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Text to the next character</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Trace ROMEO: through the lab model. V is vocabulary size; d is vector size.</a:t>
            </a:r>
            <a:endParaRPr lang="en-US" sz="1800" dirty="0"/>
          </a:p>
        </p:txBody>
      </p:sp>
      <p:sp>
        <p:nvSpPr>
          <p:cNvPr id="7" name="Shape 5"/>
          <p:cNvSpPr/>
          <p:nvPr/>
        </p:nvSpPr>
        <p:spPr>
          <a:xfrm>
            <a:off x="2095597" y="3838927"/>
            <a:ext cx="244024" cy="0"/>
          </a:xfrm>
          <a:prstGeom prst="line">
            <a:avLst/>
          </a:prstGeom>
          <a:noFill/>
          <a:ln w="22860">
            <a:solidFill>
              <a:srgbClr val="009E73"/>
            </a:solidFill>
            <a:prstDash val="solid"/>
            <a:tailEnd type="triangle"/>
          </a:ln>
        </p:spPr>
      </p:sp>
      <p:sp>
        <p:nvSpPr>
          <p:cNvPr id="8" name="Text 6"/>
          <p:cNvSpPr txBox="1"/>
          <p:nvPr/>
        </p:nvSpPr>
        <p:spPr>
          <a:xfrm>
            <a:off x="1464838" y="2665782"/>
            <a:ext cx="1505541"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ROMEO: text</a:t>
            </a:r>
            <a:endParaRPr lang="en-US" sz="1441" dirty="0"/>
          </a:p>
        </p:txBody>
      </p:sp>
      <p:sp>
        <p:nvSpPr>
          <p:cNvPr id="9" name="Shape 7"/>
          <p:cNvSpPr/>
          <p:nvPr/>
        </p:nvSpPr>
        <p:spPr>
          <a:xfrm>
            <a:off x="3646892" y="3838927"/>
            <a:ext cx="244024" cy="0"/>
          </a:xfrm>
          <a:prstGeom prst="line">
            <a:avLst/>
          </a:prstGeom>
          <a:noFill/>
          <a:ln w="22860">
            <a:solidFill>
              <a:srgbClr val="009E73"/>
            </a:solidFill>
            <a:prstDash val="solid"/>
            <a:tailEnd type="triangle"/>
          </a:ln>
        </p:spPr>
      </p:sp>
      <p:sp>
        <p:nvSpPr>
          <p:cNvPr id="10" name="Text 8"/>
          <p:cNvSpPr txBox="1"/>
          <p:nvPr/>
        </p:nvSpPr>
        <p:spPr>
          <a:xfrm>
            <a:off x="3016134" y="2665782"/>
            <a:ext cx="1505541"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IDs [1,6]</a:t>
            </a:r>
            <a:endParaRPr lang="en-US" sz="1441" dirty="0"/>
          </a:p>
        </p:txBody>
      </p:sp>
      <p:sp>
        <p:nvSpPr>
          <p:cNvPr id="11" name="Shape 9"/>
          <p:cNvSpPr/>
          <p:nvPr/>
        </p:nvSpPr>
        <p:spPr>
          <a:xfrm>
            <a:off x="5198188" y="3838927"/>
            <a:ext cx="244024" cy="0"/>
          </a:xfrm>
          <a:prstGeom prst="line">
            <a:avLst/>
          </a:prstGeom>
          <a:noFill/>
          <a:ln w="22860">
            <a:solidFill>
              <a:srgbClr val="009E73"/>
            </a:solidFill>
            <a:prstDash val="solid"/>
            <a:tailEnd type="triangle"/>
          </a:ln>
        </p:spPr>
      </p:sp>
      <p:sp>
        <p:nvSpPr>
          <p:cNvPr id="12" name="Text 10"/>
          <p:cNvSpPr txBox="1"/>
          <p:nvPr/>
        </p:nvSpPr>
        <p:spPr>
          <a:xfrm>
            <a:off x="4567429" y="2665782"/>
            <a:ext cx="1505541"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X [1,6,d]</a:t>
            </a:r>
            <a:endParaRPr lang="en-US" sz="1441" dirty="0"/>
          </a:p>
        </p:txBody>
      </p:sp>
      <p:sp>
        <p:nvSpPr>
          <p:cNvPr id="13" name="Shape 11"/>
          <p:cNvSpPr/>
          <p:nvPr/>
        </p:nvSpPr>
        <p:spPr>
          <a:xfrm>
            <a:off x="6749483" y="3838927"/>
            <a:ext cx="244024" cy="0"/>
          </a:xfrm>
          <a:prstGeom prst="line">
            <a:avLst/>
          </a:prstGeom>
          <a:noFill/>
          <a:ln w="22860">
            <a:solidFill>
              <a:srgbClr val="009E73"/>
            </a:solidFill>
            <a:prstDash val="solid"/>
            <a:tailEnd type="triangle"/>
          </a:ln>
        </p:spPr>
      </p:sp>
      <p:sp>
        <p:nvSpPr>
          <p:cNvPr id="14" name="Text 12"/>
          <p:cNvSpPr txBox="1"/>
          <p:nvPr/>
        </p:nvSpPr>
        <p:spPr>
          <a:xfrm>
            <a:off x="6118725" y="2665782"/>
            <a:ext cx="1505541"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H [1,6,d]</a:t>
            </a:r>
            <a:endParaRPr lang="en-US" sz="1441" dirty="0"/>
          </a:p>
        </p:txBody>
      </p:sp>
      <p:sp>
        <p:nvSpPr>
          <p:cNvPr id="15" name="Shape 13"/>
          <p:cNvSpPr/>
          <p:nvPr/>
        </p:nvSpPr>
        <p:spPr>
          <a:xfrm>
            <a:off x="8300779" y="3838927"/>
            <a:ext cx="244024" cy="0"/>
          </a:xfrm>
          <a:prstGeom prst="line">
            <a:avLst/>
          </a:prstGeom>
          <a:noFill/>
          <a:ln w="22860">
            <a:solidFill>
              <a:srgbClr val="009E73"/>
            </a:solidFill>
            <a:prstDash val="solid"/>
            <a:tailEnd type="triangle"/>
          </a:ln>
        </p:spPr>
      </p:sp>
      <p:sp>
        <p:nvSpPr>
          <p:cNvPr id="16" name="Text 14"/>
          <p:cNvSpPr txBox="1"/>
          <p:nvPr/>
        </p:nvSpPr>
        <p:spPr>
          <a:xfrm>
            <a:off x="7670020" y="2665782"/>
            <a:ext cx="1505541"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last logits [V]</a:t>
            </a:r>
            <a:endParaRPr lang="en-US" sz="1441" dirty="0"/>
          </a:p>
        </p:txBody>
      </p:sp>
      <p:sp>
        <p:nvSpPr>
          <p:cNvPr id="17" name="Shape 15"/>
          <p:cNvSpPr/>
          <p:nvPr/>
        </p:nvSpPr>
        <p:spPr>
          <a:xfrm>
            <a:off x="9852075" y="3838927"/>
            <a:ext cx="244024" cy="0"/>
          </a:xfrm>
          <a:prstGeom prst="line">
            <a:avLst/>
          </a:prstGeom>
          <a:noFill/>
          <a:ln w="22860">
            <a:solidFill>
              <a:srgbClr val="009E73"/>
            </a:solidFill>
            <a:prstDash val="solid"/>
            <a:tailEnd type="triangle"/>
          </a:ln>
        </p:spPr>
      </p:sp>
      <p:sp>
        <p:nvSpPr>
          <p:cNvPr id="18" name="Text 16"/>
          <p:cNvSpPr txBox="1"/>
          <p:nvPr/>
        </p:nvSpPr>
        <p:spPr>
          <a:xfrm>
            <a:off x="9221316" y="2665782"/>
            <a:ext cx="1505541"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chances [V]</a:t>
            </a:r>
            <a:endParaRPr lang="en-US" sz="1441" dirty="0"/>
          </a:p>
        </p:txBody>
      </p:sp>
      <p:sp>
        <p:nvSpPr>
          <p:cNvPr id="19" name="Shape 17"/>
          <p:cNvSpPr/>
          <p:nvPr/>
        </p:nvSpPr>
        <p:spPr>
          <a:xfrm flipV="1">
            <a:off x="10749734" y="2191765"/>
            <a:ext cx="0" cy="747324"/>
          </a:xfrm>
          <a:prstGeom prst="line">
            <a:avLst/>
          </a:prstGeom>
          <a:noFill/>
          <a:ln w="22860">
            <a:solidFill>
              <a:srgbClr val="D55E00"/>
            </a:solidFill>
            <a:prstDash val="dash"/>
          </a:ln>
        </p:spPr>
      </p:sp>
      <p:sp>
        <p:nvSpPr>
          <p:cNvPr id="20" name="Shape 18"/>
          <p:cNvSpPr/>
          <p:nvPr/>
        </p:nvSpPr>
        <p:spPr>
          <a:xfrm flipH="1">
            <a:off x="2993256" y="2191765"/>
            <a:ext cx="7756478" cy="0"/>
          </a:xfrm>
          <a:prstGeom prst="line">
            <a:avLst/>
          </a:prstGeom>
          <a:noFill/>
          <a:ln w="22860">
            <a:solidFill>
              <a:srgbClr val="D55E00"/>
            </a:solidFill>
            <a:prstDash val="dash"/>
          </a:ln>
        </p:spPr>
      </p:sp>
      <p:sp>
        <p:nvSpPr>
          <p:cNvPr id="21" name="Shape 19"/>
          <p:cNvSpPr/>
          <p:nvPr/>
        </p:nvSpPr>
        <p:spPr>
          <a:xfrm>
            <a:off x="2993256" y="2191765"/>
            <a:ext cx="0" cy="747324"/>
          </a:xfrm>
          <a:prstGeom prst="line">
            <a:avLst/>
          </a:prstGeom>
          <a:noFill/>
          <a:ln w="22860">
            <a:solidFill>
              <a:srgbClr val="D55E00"/>
            </a:solidFill>
            <a:prstDash val="dash"/>
            <a:tailEnd type="triangle"/>
          </a:ln>
        </p:spPr>
      </p:sp>
      <p:sp>
        <p:nvSpPr>
          <p:cNvPr id="22" name="Text 20"/>
          <p:cNvSpPr txBox="1"/>
          <p:nvPr/>
        </p:nvSpPr>
        <p:spPr>
          <a:xfrm>
            <a:off x="4682605" y="1917238"/>
            <a:ext cx="4377782"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Repeat with the extended prefix; weights stay fixed.</a:t>
            </a:r>
            <a:endParaRPr lang="en-US" sz="1441" dirty="0"/>
          </a:p>
        </p:txBody>
      </p:sp>
      <p:sp>
        <p:nvSpPr>
          <p:cNvPr id="23" name="Shape 21"/>
          <p:cNvSpPr/>
          <p:nvPr/>
        </p:nvSpPr>
        <p:spPr>
          <a:xfrm>
            <a:off x="788325" y="2939089"/>
            <a:ext cx="1307272" cy="1799677"/>
          </a:xfrm>
          <a:prstGeom prst="roundRect">
            <a:avLst>
              <a:gd name="adj" fmla="val 5596"/>
            </a:avLst>
          </a:prstGeom>
          <a:solidFill>
            <a:srgbClr val="E4F2FB"/>
          </a:solidFill>
          <a:ln w="15240">
            <a:solidFill>
              <a:srgbClr val="0072B2"/>
            </a:solidFill>
            <a:prstDash val="solid"/>
          </a:ln>
        </p:spPr>
      </p:sp>
      <p:sp>
        <p:nvSpPr>
          <p:cNvPr id="24" name="Text 22"/>
          <p:cNvSpPr txBox="1"/>
          <p:nvPr/>
        </p:nvSpPr>
        <p:spPr>
          <a:xfrm>
            <a:off x="849331" y="3336848"/>
            <a:ext cx="1185260"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Text</a:t>
            </a:r>
            <a:endParaRPr lang="en-US" sz="1561" dirty="0"/>
          </a:p>
        </p:txBody>
      </p:sp>
      <p:sp>
        <p:nvSpPr>
          <p:cNvPr id="25" name="Text 23"/>
          <p:cNvSpPr txBox="1"/>
          <p:nvPr/>
        </p:nvSpPr>
        <p:spPr>
          <a:xfrm>
            <a:off x="849331" y="3643098"/>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ROMEO: 6</a:t>
            </a:r>
            <a:endParaRPr lang="en-US" sz="1441" dirty="0"/>
          </a:p>
        </p:txBody>
      </p:sp>
      <p:sp>
        <p:nvSpPr>
          <p:cNvPr id="26" name="Text 24"/>
          <p:cNvSpPr txBox="1"/>
          <p:nvPr/>
        </p:nvSpPr>
        <p:spPr>
          <a:xfrm>
            <a:off x="849331" y="3855399"/>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tokens</a:t>
            </a:r>
            <a:endParaRPr lang="en-US" sz="1441" dirty="0"/>
          </a:p>
        </p:txBody>
      </p:sp>
      <p:sp>
        <p:nvSpPr>
          <p:cNvPr id="27" name="Text 25"/>
          <p:cNvSpPr txBox="1"/>
          <p:nvPr/>
        </p:nvSpPr>
        <p:spPr>
          <a:xfrm>
            <a:off x="811202" y="4128706"/>
            <a:ext cx="1261517"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text</a:t>
            </a:r>
            <a:endParaRPr lang="en-US" sz="1441" dirty="0"/>
          </a:p>
        </p:txBody>
      </p:sp>
      <p:sp>
        <p:nvSpPr>
          <p:cNvPr id="28" name="Shape 26"/>
          <p:cNvSpPr/>
          <p:nvPr/>
        </p:nvSpPr>
        <p:spPr>
          <a:xfrm>
            <a:off x="2339621" y="2939089"/>
            <a:ext cx="1307272" cy="1799677"/>
          </a:xfrm>
          <a:prstGeom prst="roundRect">
            <a:avLst>
              <a:gd name="adj" fmla="val 5596"/>
            </a:avLst>
          </a:prstGeom>
          <a:solidFill>
            <a:srgbClr val="E4F2FB"/>
          </a:solidFill>
          <a:ln w="15240">
            <a:solidFill>
              <a:srgbClr val="0072B2"/>
            </a:solidFill>
            <a:prstDash val="solid"/>
          </a:ln>
        </p:spPr>
      </p:sp>
      <p:sp>
        <p:nvSpPr>
          <p:cNvPr id="29" name="Text 27"/>
          <p:cNvSpPr txBox="1"/>
          <p:nvPr/>
        </p:nvSpPr>
        <p:spPr>
          <a:xfrm>
            <a:off x="2400627" y="3336848"/>
            <a:ext cx="1185260"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Token IDs</a:t>
            </a:r>
            <a:endParaRPr lang="en-US" sz="1561" dirty="0"/>
          </a:p>
        </p:txBody>
      </p:sp>
      <p:sp>
        <p:nvSpPr>
          <p:cNvPr id="30" name="Text 28"/>
          <p:cNvSpPr txBox="1"/>
          <p:nvPr/>
        </p:nvSpPr>
        <p:spPr>
          <a:xfrm>
            <a:off x="2400627" y="3643098"/>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6 numbers</a:t>
            </a:r>
            <a:endParaRPr lang="en-US" sz="1441" dirty="0"/>
          </a:p>
        </p:txBody>
      </p:sp>
      <p:sp>
        <p:nvSpPr>
          <p:cNvPr id="31" name="Text 29"/>
          <p:cNvSpPr txBox="1"/>
          <p:nvPr/>
        </p:nvSpPr>
        <p:spPr>
          <a:xfrm>
            <a:off x="2400627" y="3855399"/>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from a table</a:t>
            </a:r>
            <a:endParaRPr lang="en-US" sz="1441" dirty="0"/>
          </a:p>
        </p:txBody>
      </p:sp>
      <p:sp>
        <p:nvSpPr>
          <p:cNvPr id="32" name="Text 30"/>
          <p:cNvSpPr txBox="1"/>
          <p:nvPr/>
        </p:nvSpPr>
        <p:spPr>
          <a:xfrm>
            <a:off x="2362498" y="4128706"/>
            <a:ext cx="1261517"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stoi</a:t>
            </a:r>
            <a:endParaRPr lang="en-US" sz="1441" dirty="0"/>
          </a:p>
        </p:txBody>
      </p:sp>
      <p:sp>
        <p:nvSpPr>
          <p:cNvPr id="33" name="Shape 31"/>
          <p:cNvSpPr/>
          <p:nvPr/>
        </p:nvSpPr>
        <p:spPr>
          <a:xfrm>
            <a:off x="3890916" y="2939089"/>
            <a:ext cx="1307272" cy="1799677"/>
          </a:xfrm>
          <a:prstGeom prst="rect">
            <a:avLst/>
          </a:prstGeom>
          <a:solidFill>
            <a:srgbClr val="E5F7EF"/>
          </a:solidFill>
          <a:ln w="15240">
            <a:solidFill>
              <a:srgbClr val="009E73"/>
            </a:solidFill>
            <a:prstDash val="solid"/>
          </a:ln>
        </p:spPr>
      </p:sp>
      <p:sp>
        <p:nvSpPr>
          <p:cNvPr id="34" name="Text 32"/>
          <p:cNvSpPr txBox="1"/>
          <p:nvPr/>
        </p:nvSpPr>
        <p:spPr>
          <a:xfrm>
            <a:off x="3951922" y="3221851"/>
            <a:ext cx="1185260"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Add</a:t>
            </a:r>
            <a:endParaRPr lang="en-US" sz="1561" dirty="0"/>
          </a:p>
        </p:txBody>
      </p:sp>
      <p:sp>
        <p:nvSpPr>
          <p:cNvPr id="35" name="Text 33"/>
          <p:cNvSpPr txBox="1"/>
          <p:nvPr/>
        </p:nvSpPr>
        <p:spPr>
          <a:xfrm>
            <a:off x="3951922" y="3451844"/>
            <a:ext cx="1185260"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position</a:t>
            </a:r>
            <a:endParaRPr lang="en-US" sz="1561" dirty="0"/>
          </a:p>
        </p:txBody>
      </p:sp>
      <p:sp>
        <p:nvSpPr>
          <p:cNvPr id="36" name="Text 34"/>
          <p:cNvSpPr txBox="1"/>
          <p:nvPr/>
        </p:nvSpPr>
        <p:spPr>
          <a:xfrm>
            <a:off x="3951922" y="3758094"/>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6 vectors; d</a:t>
            </a:r>
            <a:endParaRPr lang="en-US" sz="1441" dirty="0"/>
          </a:p>
        </p:txBody>
      </p:sp>
      <p:sp>
        <p:nvSpPr>
          <p:cNvPr id="37" name="Text 35"/>
          <p:cNvSpPr txBox="1"/>
          <p:nvPr/>
        </p:nvSpPr>
        <p:spPr>
          <a:xfrm>
            <a:off x="3951922" y="3970395"/>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features</a:t>
            </a:r>
            <a:endParaRPr lang="en-US" sz="1441" dirty="0"/>
          </a:p>
        </p:txBody>
      </p:sp>
      <p:sp>
        <p:nvSpPr>
          <p:cNvPr id="38" name="Text 36"/>
          <p:cNvSpPr txBox="1"/>
          <p:nvPr/>
        </p:nvSpPr>
        <p:spPr>
          <a:xfrm>
            <a:off x="3913793" y="4243702"/>
            <a:ext cx="1261517"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tok + pos</a:t>
            </a:r>
            <a:endParaRPr lang="en-US" sz="1441" dirty="0"/>
          </a:p>
        </p:txBody>
      </p:sp>
      <p:sp>
        <p:nvSpPr>
          <p:cNvPr id="39" name="Shape 37"/>
          <p:cNvSpPr/>
          <p:nvPr/>
        </p:nvSpPr>
        <p:spPr>
          <a:xfrm>
            <a:off x="5442212" y="2939089"/>
            <a:ext cx="1307272" cy="1799677"/>
          </a:xfrm>
          <a:prstGeom prst="rect">
            <a:avLst/>
          </a:prstGeom>
          <a:solidFill>
            <a:srgbClr val="E5F7EF"/>
          </a:solidFill>
          <a:ln w="15240">
            <a:solidFill>
              <a:srgbClr val="009E73"/>
            </a:solidFill>
            <a:prstDash val="solid"/>
          </a:ln>
        </p:spPr>
      </p:sp>
      <p:sp>
        <p:nvSpPr>
          <p:cNvPr id="40" name="Text 38"/>
          <p:cNvSpPr txBox="1"/>
          <p:nvPr/>
        </p:nvSpPr>
        <p:spPr>
          <a:xfrm>
            <a:off x="5503218" y="3221851"/>
            <a:ext cx="1185260"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Causal</a:t>
            </a:r>
            <a:endParaRPr lang="en-US" sz="1561" dirty="0"/>
          </a:p>
        </p:txBody>
      </p:sp>
      <p:sp>
        <p:nvSpPr>
          <p:cNvPr id="41" name="Text 39"/>
          <p:cNvSpPr txBox="1"/>
          <p:nvPr/>
        </p:nvSpPr>
        <p:spPr>
          <a:xfrm>
            <a:off x="5503218" y="3451844"/>
            <a:ext cx="1185260"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blocks</a:t>
            </a:r>
            <a:endParaRPr lang="en-US" sz="1561" dirty="0"/>
          </a:p>
        </p:txBody>
      </p:sp>
      <p:sp>
        <p:nvSpPr>
          <p:cNvPr id="42" name="Text 40"/>
          <p:cNvSpPr txBox="1"/>
          <p:nvPr/>
        </p:nvSpPr>
        <p:spPr>
          <a:xfrm>
            <a:off x="5503218" y="3758094"/>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Attention then</a:t>
            </a:r>
            <a:endParaRPr lang="en-US" sz="1441" dirty="0"/>
          </a:p>
        </p:txBody>
      </p:sp>
      <p:sp>
        <p:nvSpPr>
          <p:cNvPr id="43" name="Text 41"/>
          <p:cNvSpPr txBox="1"/>
          <p:nvPr/>
        </p:nvSpPr>
        <p:spPr>
          <a:xfrm>
            <a:off x="5503218" y="3970395"/>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MLP</a:t>
            </a:r>
            <a:endParaRPr lang="en-US" sz="1441" dirty="0"/>
          </a:p>
        </p:txBody>
      </p:sp>
      <p:sp>
        <p:nvSpPr>
          <p:cNvPr id="44" name="Text 42"/>
          <p:cNvSpPr txBox="1"/>
          <p:nvPr/>
        </p:nvSpPr>
        <p:spPr>
          <a:xfrm>
            <a:off x="5465089" y="4243702"/>
            <a:ext cx="1261517"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Block</a:t>
            </a:r>
            <a:endParaRPr lang="en-US" sz="1441" dirty="0"/>
          </a:p>
        </p:txBody>
      </p:sp>
      <p:sp>
        <p:nvSpPr>
          <p:cNvPr id="45" name="Shape 43"/>
          <p:cNvSpPr/>
          <p:nvPr/>
        </p:nvSpPr>
        <p:spPr>
          <a:xfrm>
            <a:off x="6993507" y="2939089"/>
            <a:ext cx="1307272" cy="1799677"/>
          </a:xfrm>
          <a:prstGeom prst="rect">
            <a:avLst/>
          </a:prstGeom>
          <a:solidFill>
            <a:srgbClr val="E5F7EF"/>
          </a:solidFill>
          <a:ln w="15240">
            <a:solidFill>
              <a:srgbClr val="009E73"/>
            </a:solidFill>
            <a:prstDash val="solid"/>
          </a:ln>
        </p:spPr>
      </p:sp>
      <p:sp>
        <p:nvSpPr>
          <p:cNvPr id="46" name="Text 44"/>
          <p:cNvSpPr txBox="1"/>
          <p:nvPr/>
        </p:nvSpPr>
        <p:spPr>
          <a:xfrm>
            <a:off x="7054513" y="3221851"/>
            <a:ext cx="1185260"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Token</a:t>
            </a:r>
            <a:endParaRPr lang="en-US" sz="1561" dirty="0"/>
          </a:p>
        </p:txBody>
      </p:sp>
      <p:sp>
        <p:nvSpPr>
          <p:cNvPr id="47" name="Text 45"/>
          <p:cNvSpPr txBox="1"/>
          <p:nvPr/>
        </p:nvSpPr>
        <p:spPr>
          <a:xfrm>
            <a:off x="7054513" y="3451844"/>
            <a:ext cx="1185260"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scores</a:t>
            </a:r>
            <a:endParaRPr lang="en-US" sz="1561" dirty="0"/>
          </a:p>
        </p:txBody>
      </p:sp>
      <p:sp>
        <p:nvSpPr>
          <p:cNvPr id="48" name="Text 46"/>
          <p:cNvSpPr txBox="1"/>
          <p:nvPr/>
        </p:nvSpPr>
        <p:spPr>
          <a:xfrm>
            <a:off x="7054513" y="3758094"/>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6 rows; V</a:t>
            </a:r>
            <a:endParaRPr lang="en-US" sz="1441" dirty="0"/>
          </a:p>
        </p:txBody>
      </p:sp>
      <p:sp>
        <p:nvSpPr>
          <p:cNvPr id="49" name="Text 47"/>
          <p:cNvSpPr txBox="1"/>
          <p:nvPr/>
        </p:nvSpPr>
        <p:spPr>
          <a:xfrm>
            <a:off x="7054513" y="3970395"/>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scores</a:t>
            </a:r>
            <a:endParaRPr lang="en-US" sz="1441" dirty="0"/>
          </a:p>
        </p:txBody>
      </p:sp>
      <p:sp>
        <p:nvSpPr>
          <p:cNvPr id="50" name="Text 48"/>
          <p:cNvSpPr txBox="1"/>
          <p:nvPr/>
        </p:nvSpPr>
        <p:spPr>
          <a:xfrm>
            <a:off x="7016385" y="4243702"/>
            <a:ext cx="1261517"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head</a:t>
            </a:r>
            <a:endParaRPr lang="en-US" sz="1441" dirty="0"/>
          </a:p>
        </p:txBody>
      </p:sp>
      <p:sp>
        <p:nvSpPr>
          <p:cNvPr id="51" name="Shape 49"/>
          <p:cNvSpPr/>
          <p:nvPr/>
        </p:nvSpPr>
        <p:spPr>
          <a:xfrm>
            <a:off x="8544803" y="2939089"/>
            <a:ext cx="1307272" cy="1799677"/>
          </a:xfrm>
          <a:prstGeom prst="rect">
            <a:avLst/>
          </a:prstGeom>
          <a:solidFill>
            <a:srgbClr val="E5F7EF"/>
          </a:solidFill>
          <a:ln w="15240">
            <a:solidFill>
              <a:srgbClr val="009E73"/>
            </a:solidFill>
            <a:prstDash val="solid"/>
          </a:ln>
        </p:spPr>
      </p:sp>
      <p:sp>
        <p:nvSpPr>
          <p:cNvPr id="52" name="Text 50"/>
          <p:cNvSpPr txBox="1"/>
          <p:nvPr/>
        </p:nvSpPr>
        <p:spPr>
          <a:xfrm>
            <a:off x="8605809" y="3336848"/>
            <a:ext cx="1185260"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Softmax</a:t>
            </a:r>
            <a:endParaRPr lang="en-US" sz="1561" dirty="0"/>
          </a:p>
        </p:txBody>
      </p:sp>
      <p:sp>
        <p:nvSpPr>
          <p:cNvPr id="53" name="Text 51"/>
          <p:cNvSpPr txBox="1"/>
          <p:nvPr/>
        </p:nvSpPr>
        <p:spPr>
          <a:xfrm>
            <a:off x="8605809" y="3643098"/>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 possible</a:t>
            </a:r>
            <a:endParaRPr lang="en-US" sz="1441" dirty="0"/>
          </a:p>
        </p:txBody>
      </p:sp>
      <p:sp>
        <p:nvSpPr>
          <p:cNvPr id="54" name="Text 52"/>
          <p:cNvSpPr txBox="1"/>
          <p:nvPr/>
        </p:nvSpPr>
        <p:spPr>
          <a:xfrm>
            <a:off x="8605809" y="3855399"/>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choices</a:t>
            </a:r>
            <a:endParaRPr lang="en-US" sz="1441" dirty="0"/>
          </a:p>
        </p:txBody>
      </p:sp>
      <p:sp>
        <p:nvSpPr>
          <p:cNvPr id="55" name="Text 53"/>
          <p:cNvSpPr txBox="1"/>
          <p:nvPr/>
        </p:nvSpPr>
        <p:spPr>
          <a:xfrm>
            <a:off x="8567680" y="4128706"/>
            <a:ext cx="1261517"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softmax</a:t>
            </a:r>
            <a:endParaRPr lang="en-US" sz="1441" dirty="0"/>
          </a:p>
        </p:txBody>
      </p:sp>
      <p:sp>
        <p:nvSpPr>
          <p:cNvPr id="56" name="Shape 54"/>
          <p:cNvSpPr/>
          <p:nvPr/>
        </p:nvSpPr>
        <p:spPr>
          <a:xfrm>
            <a:off x="10096099" y="2939089"/>
            <a:ext cx="1307272" cy="1799677"/>
          </a:xfrm>
          <a:prstGeom prst="roundRect">
            <a:avLst>
              <a:gd name="adj" fmla="val 5596"/>
            </a:avLst>
          </a:prstGeom>
          <a:solidFill>
            <a:srgbClr val="F9EAF4"/>
          </a:solidFill>
          <a:ln w="15240">
            <a:solidFill>
              <a:srgbClr val="CC79A7"/>
            </a:solidFill>
            <a:prstDash val="solid"/>
          </a:ln>
        </p:spPr>
      </p:sp>
      <p:sp>
        <p:nvSpPr>
          <p:cNvPr id="57" name="Text 55"/>
          <p:cNvSpPr txBox="1"/>
          <p:nvPr/>
        </p:nvSpPr>
        <p:spPr>
          <a:xfrm>
            <a:off x="10157105" y="3221851"/>
            <a:ext cx="1185260"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Append</a:t>
            </a:r>
            <a:endParaRPr lang="en-US" sz="1561" dirty="0"/>
          </a:p>
        </p:txBody>
      </p:sp>
      <p:sp>
        <p:nvSpPr>
          <p:cNvPr id="58" name="Text 56"/>
          <p:cNvSpPr txBox="1"/>
          <p:nvPr/>
        </p:nvSpPr>
        <p:spPr>
          <a:xfrm>
            <a:off x="10157105" y="3451844"/>
            <a:ext cx="1185260"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token</a:t>
            </a:r>
            <a:endParaRPr lang="en-US" sz="1561" dirty="0"/>
          </a:p>
        </p:txBody>
      </p:sp>
      <p:sp>
        <p:nvSpPr>
          <p:cNvPr id="59" name="Text 57"/>
          <p:cNvSpPr txBox="1"/>
          <p:nvPr/>
        </p:nvSpPr>
        <p:spPr>
          <a:xfrm>
            <a:off x="10157105" y="3758094"/>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Sample ID;</a:t>
            </a:r>
            <a:endParaRPr lang="en-US" sz="1441" dirty="0"/>
          </a:p>
        </p:txBody>
      </p:sp>
      <p:sp>
        <p:nvSpPr>
          <p:cNvPr id="60" name="Text 58"/>
          <p:cNvSpPr txBox="1"/>
          <p:nvPr/>
        </p:nvSpPr>
        <p:spPr>
          <a:xfrm>
            <a:off x="10157105" y="3970395"/>
            <a:ext cx="1185260"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text</a:t>
            </a:r>
            <a:endParaRPr lang="en-US" sz="1441" dirty="0"/>
          </a:p>
        </p:txBody>
      </p:sp>
      <p:sp>
        <p:nvSpPr>
          <p:cNvPr id="61" name="Text 59"/>
          <p:cNvSpPr txBox="1"/>
          <p:nvPr/>
        </p:nvSpPr>
        <p:spPr>
          <a:xfrm>
            <a:off x="10118976" y="4243702"/>
            <a:ext cx="1261517"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generate</a:t>
            </a:r>
            <a:endParaRPr lang="en-US" sz="1441" dirty="0"/>
          </a:p>
        </p:txBody>
      </p:sp>
      <p:sp>
        <p:nvSpPr>
          <p:cNvPr id="62" name="Shape 60"/>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63" name="Text 61"/>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64" name="Shape 62"/>
          <p:cNvSpPr/>
          <p:nvPr/>
        </p:nvSpPr>
        <p:spPr>
          <a:xfrm>
            <a:off x="2118929" y="5630979"/>
            <a:ext cx="198270" cy="198270"/>
          </a:xfrm>
          <a:prstGeom prst="rect">
            <a:avLst/>
          </a:prstGeom>
          <a:solidFill>
            <a:srgbClr val="E5F7EF"/>
          </a:solidFill>
          <a:ln w="15240">
            <a:solidFill>
              <a:srgbClr val="009E73"/>
            </a:solidFill>
            <a:prstDash val="solid"/>
          </a:ln>
        </p:spPr>
      </p:sp>
      <p:sp>
        <p:nvSpPr>
          <p:cNvPr id="65" name="Text 63"/>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66" name="Shape 64"/>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67" name="Text 65"/>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8" name="Shape 66"/>
          <p:cNvSpPr/>
          <p:nvPr/>
        </p:nvSpPr>
        <p:spPr>
          <a:xfrm>
            <a:off x="4179476" y="5730113"/>
            <a:ext cx="335533" cy="0"/>
          </a:xfrm>
          <a:prstGeom prst="line">
            <a:avLst/>
          </a:prstGeom>
          <a:noFill/>
          <a:ln w="22860">
            <a:solidFill>
              <a:srgbClr val="009E73"/>
            </a:solidFill>
            <a:prstDash val="solid"/>
            <a:tailEnd type="triangle"/>
          </a:ln>
        </p:spPr>
      </p:sp>
      <p:sp>
        <p:nvSpPr>
          <p:cNvPr id="69" name="Text 67"/>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70" name="Shape 68"/>
          <p:cNvSpPr/>
          <p:nvPr/>
        </p:nvSpPr>
        <p:spPr>
          <a:xfrm>
            <a:off x="5562861" y="5730113"/>
            <a:ext cx="335533" cy="0"/>
          </a:xfrm>
          <a:prstGeom prst="line">
            <a:avLst/>
          </a:prstGeom>
          <a:noFill/>
          <a:ln w="22860">
            <a:solidFill>
              <a:srgbClr val="D55E00"/>
            </a:solidFill>
            <a:prstDash val="dash"/>
            <a:tailEnd type="triangle"/>
          </a:ln>
        </p:spPr>
      </p:sp>
      <p:sp>
        <p:nvSpPr>
          <p:cNvPr id="71" name="Text 69"/>
          <p:cNvSpPr txBox="1"/>
          <p:nvPr/>
        </p:nvSpPr>
        <p:spPr>
          <a:xfrm>
            <a:off x="595940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72" name="Text 70"/>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Can the next-character prediction use characters that have not been generated yet?</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Recurrence vs. attention</a:t>
            </a:r>
            <a:endParaRPr lang="en-US" sz="3200" dirty="0"/>
          </a:p>
        </p:txBody>
      </p:sp>
      <p:sp>
        <p:nvSpPr>
          <p:cNvPr id="6" name="Shape 4"/>
          <p:cNvSpPr/>
          <p:nvPr/>
        </p:nvSpPr>
        <p:spPr>
          <a:xfrm>
            <a:off x="1724989" y="4978330"/>
            <a:ext cx="0" cy="264730"/>
          </a:xfrm>
          <a:prstGeom prst="line">
            <a:avLst/>
          </a:prstGeom>
          <a:noFill/>
          <a:ln w="22860">
            <a:solidFill>
              <a:srgbClr val="0072B2"/>
            </a:solidFill>
            <a:prstDash val="solid"/>
          </a:ln>
        </p:spPr>
      </p:sp>
      <p:sp>
        <p:nvSpPr>
          <p:cNvPr id="7" name="Shape 5"/>
          <p:cNvSpPr/>
          <p:nvPr/>
        </p:nvSpPr>
        <p:spPr>
          <a:xfrm>
            <a:off x="1724989" y="5243059"/>
            <a:ext cx="6316648" cy="0"/>
          </a:xfrm>
          <a:prstGeom prst="line">
            <a:avLst/>
          </a:prstGeom>
          <a:noFill/>
          <a:ln w="22860">
            <a:solidFill>
              <a:srgbClr val="0072B2"/>
            </a:solidFill>
            <a:prstDash val="solid"/>
          </a:ln>
        </p:spPr>
      </p:sp>
      <p:sp>
        <p:nvSpPr>
          <p:cNvPr id="8" name="Shape 6"/>
          <p:cNvSpPr/>
          <p:nvPr/>
        </p:nvSpPr>
        <p:spPr>
          <a:xfrm>
            <a:off x="2556558" y="2880546"/>
            <a:ext cx="442411" cy="0"/>
          </a:xfrm>
          <a:prstGeom prst="line">
            <a:avLst/>
          </a:prstGeom>
          <a:noFill/>
          <a:ln w="22860">
            <a:solidFill>
              <a:srgbClr val="009E73"/>
            </a:solidFill>
            <a:prstDash val="solid"/>
            <a:tailEnd type="triangle"/>
          </a:ln>
        </p:spPr>
      </p:sp>
      <p:sp>
        <p:nvSpPr>
          <p:cNvPr id="9" name="Shape 7"/>
          <p:cNvSpPr/>
          <p:nvPr/>
        </p:nvSpPr>
        <p:spPr>
          <a:xfrm>
            <a:off x="4662108" y="2880546"/>
            <a:ext cx="442411" cy="0"/>
          </a:xfrm>
          <a:prstGeom prst="line">
            <a:avLst/>
          </a:prstGeom>
          <a:noFill/>
          <a:ln w="22860">
            <a:solidFill>
              <a:srgbClr val="009E73"/>
            </a:solidFill>
            <a:prstDash val="solid"/>
            <a:tailEnd type="triangle"/>
          </a:ln>
        </p:spPr>
      </p:sp>
      <p:sp>
        <p:nvSpPr>
          <p:cNvPr id="10" name="Shape 8"/>
          <p:cNvSpPr/>
          <p:nvPr/>
        </p:nvSpPr>
        <p:spPr>
          <a:xfrm>
            <a:off x="6767657" y="2880546"/>
            <a:ext cx="442411" cy="0"/>
          </a:xfrm>
          <a:prstGeom prst="line">
            <a:avLst/>
          </a:prstGeom>
          <a:noFill/>
          <a:ln w="22860">
            <a:solidFill>
              <a:srgbClr val="009E73"/>
            </a:solidFill>
            <a:prstDash val="solid"/>
            <a:tailEnd type="triangle"/>
          </a:ln>
        </p:spPr>
      </p:sp>
      <p:sp>
        <p:nvSpPr>
          <p:cNvPr id="11" name="Shape 9"/>
          <p:cNvSpPr/>
          <p:nvPr/>
        </p:nvSpPr>
        <p:spPr>
          <a:xfrm>
            <a:off x="8873206" y="2880546"/>
            <a:ext cx="442411" cy="0"/>
          </a:xfrm>
          <a:prstGeom prst="line">
            <a:avLst/>
          </a:prstGeom>
          <a:noFill/>
          <a:ln w="22860">
            <a:solidFill>
              <a:srgbClr val="009E73"/>
            </a:solidFill>
            <a:prstDash val="solid"/>
            <a:tailEnd type="triangle"/>
          </a:ln>
        </p:spPr>
      </p:sp>
      <p:sp>
        <p:nvSpPr>
          <p:cNvPr id="12" name="Shape 10"/>
          <p:cNvSpPr/>
          <p:nvPr/>
        </p:nvSpPr>
        <p:spPr>
          <a:xfrm>
            <a:off x="2564751" y="4476947"/>
            <a:ext cx="426026" cy="0"/>
          </a:xfrm>
          <a:prstGeom prst="line">
            <a:avLst/>
          </a:prstGeom>
          <a:noFill/>
          <a:ln w="22860">
            <a:solidFill>
              <a:srgbClr val="009E73"/>
            </a:solidFill>
            <a:prstDash val="solid"/>
            <a:tailEnd type="triangle"/>
          </a:ln>
        </p:spPr>
      </p:sp>
      <p:sp>
        <p:nvSpPr>
          <p:cNvPr id="13" name="Shape 11"/>
          <p:cNvSpPr/>
          <p:nvPr/>
        </p:nvSpPr>
        <p:spPr>
          <a:xfrm>
            <a:off x="4670301" y="4476947"/>
            <a:ext cx="426026" cy="0"/>
          </a:xfrm>
          <a:prstGeom prst="line">
            <a:avLst/>
          </a:prstGeom>
          <a:noFill/>
          <a:ln w="22860">
            <a:solidFill>
              <a:srgbClr val="009E73"/>
            </a:solidFill>
            <a:prstDash val="solid"/>
            <a:tailEnd type="triangle"/>
          </a:ln>
        </p:spPr>
      </p:sp>
      <p:sp>
        <p:nvSpPr>
          <p:cNvPr id="14" name="Shape 12"/>
          <p:cNvSpPr/>
          <p:nvPr/>
        </p:nvSpPr>
        <p:spPr>
          <a:xfrm>
            <a:off x="6775850" y="4476947"/>
            <a:ext cx="426026" cy="0"/>
          </a:xfrm>
          <a:prstGeom prst="line">
            <a:avLst/>
          </a:prstGeom>
          <a:noFill/>
          <a:ln w="22860">
            <a:solidFill>
              <a:srgbClr val="009E73"/>
            </a:solidFill>
            <a:prstDash val="solid"/>
            <a:tailEnd type="triangle"/>
          </a:ln>
        </p:spPr>
      </p:sp>
      <p:sp>
        <p:nvSpPr>
          <p:cNvPr id="15" name="Shape 13"/>
          <p:cNvSpPr/>
          <p:nvPr/>
        </p:nvSpPr>
        <p:spPr>
          <a:xfrm>
            <a:off x="8881399" y="4476947"/>
            <a:ext cx="426026" cy="0"/>
          </a:xfrm>
          <a:prstGeom prst="line">
            <a:avLst/>
          </a:prstGeom>
          <a:noFill/>
          <a:ln w="22860">
            <a:solidFill>
              <a:srgbClr val="009E73"/>
            </a:solidFill>
            <a:prstDash val="solid"/>
            <a:tailEnd type="triangle"/>
          </a:ln>
        </p:spPr>
      </p:sp>
      <p:sp>
        <p:nvSpPr>
          <p:cNvPr id="16" name="Shape 14"/>
          <p:cNvSpPr/>
          <p:nvPr/>
        </p:nvSpPr>
        <p:spPr>
          <a:xfrm flipV="1">
            <a:off x="8041637" y="4978330"/>
            <a:ext cx="0" cy="264730"/>
          </a:xfrm>
          <a:prstGeom prst="line">
            <a:avLst/>
          </a:prstGeom>
          <a:noFill/>
          <a:ln w="22860">
            <a:solidFill>
              <a:srgbClr val="0072B2"/>
            </a:solidFill>
            <a:prstDash val="solid"/>
            <a:tailEnd type="triangle"/>
          </a:ln>
        </p:spPr>
      </p:sp>
      <p:sp>
        <p:nvSpPr>
          <p:cNvPr id="17" name="Shape 15"/>
          <p:cNvSpPr/>
          <p:nvPr/>
        </p:nvSpPr>
        <p:spPr>
          <a:xfrm>
            <a:off x="893420" y="2539606"/>
            <a:ext cx="1663138" cy="681880"/>
          </a:xfrm>
          <a:prstGeom prst="rect">
            <a:avLst/>
          </a:prstGeom>
          <a:solidFill>
            <a:srgbClr val="E5F7EF"/>
          </a:solidFill>
          <a:ln w="15240">
            <a:solidFill>
              <a:srgbClr val="009E73"/>
            </a:solidFill>
            <a:prstDash val="solid"/>
          </a:ln>
        </p:spPr>
      </p:sp>
      <p:sp>
        <p:nvSpPr>
          <p:cNvPr id="18" name="Shape 16"/>
          <p:cNvSpPr/>
          <p:nvPr/>
        </p:nvSpPr>
        <p:spPr>
          <a:xfrm>
            <a:off x="2998970" y="2539606"/>
            <a:ext cx="1663138" cy="681880"/>
          </a:xfrm>
          <a:prstGeom prst="rect">
            <a:avLst/>
          </a:prstGeom>
          <a:solidFill>
            <a:srgbClr val="E5F7EF"/>
          </a:solidFill>
          <a:ln w="15240">
            <a:solidFill>
              <a:srgbClr val="009E73"/>
            </a:solidFill>
            <a:prstDash val="solid"/>
          </a:ln>
        </p:spPr>
      </p:sp>
      <p:sp>
        <p:nvSpPr>
          <p:cNvPr id="19" name="Shape 17"/>
          <p:cNvSpPr/>
          <p:nvPr/>
        </p:nvSpPr>
        <p:spPr>
          <a:xfrm>
            <a:off x="5104519" y="2539606"/>
            <a:ext cx="1663138" cy="681880"/>
          </a:xfrm>
          <a:prstGeom prst="rect">
            <a:avLst/>
          </a:prstGeom>
          <a:solidFill>
            <a:srgbClr val="E5F7EF"/>
          </a:solidFill>
          <a:ln w="15240">
            <a:solidFill>
              <a:srgbClr val="009E73"/>
            </a:solidFill>
            <a:prstDash val="solid"/>
          </a:ln>
        </p:spPr>
      </p:sp>
      <p:sp>
        <p:nvSpPr>
          <p:cNvPr id="20" name="Shape 18"/>
          <p:cNvSpPr/>
          <p:nvPr/>
        </p:nvSpPr>
        <p:spPr>
          <a:xfrm>
            <a:off x="7210068" y="2539606"/>
            <a:ext cx="1663138" cy="681880"/>
          </a:xfrm>
          <a:prstGeom prst="rect">
            <a:avLst/>
          </a:prstGeom>
          <a:solidFill>
            <a:srgbClr val="E5F7EF"/>
          </a:solidFill>
          <a:ln w="15240">
            <a:solidFill>
              <a:srgbClr val="009E73"/>
            </a:solidFill>
            <a:prstDash val="solid"/>
          </a:ln>
        </p:spPr>
      </p:sp>
      <p:sp>
        <p:nvSpPr>
          <p:cNvPr id="21" name="Shape 19"/>
          <p:cNvSpPr/>
          <p:nvPr/>
        </p:nvSpPr>
        <p:spPr>
          <a:xfrm>
            <a:off x="9315618" y="2539606"/>
            <a:ext cx="1663138" cy="681880"/>
          </a:xfrm>
          <a:prstGeom prst="rect">
            <a:avLst/>
          </a:prstGeom>
          <a:solidFill>
            <a:srgbClr val="E5F7EF"/>
          </a:solidFill>
          <a:ln w="15240">
            <a:solidFill>
              <a:srgbClr val="009E73"/>
            </a:solidFill>
            <a:prstDash val="solid"/>
          </a:ln>
        </p:spPr>
      </p:sp>
      <p:sp>
        <p:nvSpPr>
          <p:cNvPr id="22" name="Shape 20"/>
          <p:cNvSpPr/>
          <p:nvPr/>
        </p:nvSpPr>
        <p:spPr>
          <a:xfrm>
            <a:off x="885227" y="3975565"/>
            <a:ext cx="1679524" cy="1002764"/>
          </a:xfrm>
          <a:prstGeom prst="roundRect">
            <a:avLst>
              <a:gd name="adj" fmla="val 7295"/>
            </a:avLst>
          </a:prstGeom>
          <a:solidFill>
            <a:srgbClr val="E4F2FB"/>
          </a:solidFill>
          <a:ln w="15240">
            <a:solidFill>
              <a:srgbClr val="0072B2"/>
            </a:solidFill>
            <a:prstDash val="solid"/>
          </a:ln>
        </p:spPr>
      </p:sp>
      <p:sp>
        <p:nvSpPr>
          <p:cNvPr id="23" name="Shape 21"/>
          <p:cNvSpPr/>
          <p:nvPr/>
        </p:nvSpPr>
        <p:spPr>
          <a:xfrm>
            <a:off x="2990777" y="3975565"/>
            <a:ext cx="1679524" cy="1002764"/>
          </a:xfrm>
          <a:prstGeom prst="rect">
            <a:avLst/>
          </a:prstGeom>
          <a:solidFill>
            <a:srgbClr val="E5F7EF"/>
          </a:solidFill>
          <a:ln w="15240">
            <a:solidFill>
              <a:srgbClr val="009E73"/>
            </a:solidFill>
            <a:prstDash val="solid"/>
          </a:ln>
        </p:spPr>
      </p:sp>
      <p:sp>
        <p:nvSpPr>
          <p:cNvPr id="24" name="Shape 22"/>
          <p:cNvSpPr/>
          <p:nvPr/>
        </p:nvSpPr>
        <p:spPr>
          <a:xfrm>
            <a:off x="5096326" y="3975565"/>
            <a:ext cx="1679524" cy="1002764"/>
          </a:xfrm>
          <a:prstGeom prst="rect">
            <a:avLst/>
          </a:prstGeom>
          <a:solidFill>
            <a:srgbClr val="E5F7EF"/>
          </a:solidFill>
          <a:ln w="15240">
            <a:solidFill>
              <a:srgbClr val="009E73"/>
            </a:solidFill>
            <a:prstDash val="solid"/>
          </a:ln>
        </p:spPr>
      </p:sp>
      <p:sp>
        <p:nvSpPr>
          <p:cNvPr id="25" name="Shape 23"/>
          <p:cNvSpPr/>
          <p:nvPr/>
        </p:nvSpPr>
        <p:spPr>
          <a:xfrm>
            <a:off x="7201875" y="3975565"/>
            <a:ext cx="1679524" cy="1002764"/>
          </a:xfrm>
          <a:prstGeom prst="rect">
            <a:avLst/>
          </a:prstGeom>
          <a:solidFill>
            <a:srgbClr val="E5F7EF"/>
          </a:solidFill>
          <a:ln w="15240">
            <a:solidFill>
              <a:srgbClr val="009E73"/>
            </a:solidFill>
            <a:prstDash val="solid"/>
          </a:ln>
        </p:spPr>
      </p:sp>
      <p:sp>
        <p:nvSpPr>
          <p:cNvPr id="26" name="Shape 24"/>
          <p:cNvSpPr/>
          <p:nvPr/>
        </p:nvSpPr>
        <p:spPr>
          <a:xfrm>
            <a:off x="9307425" y="3975565"/>
            <a:ext cx="1679524" cy="1002764"/>
          </a:xfrm>
          <a:prstGeom prst="roundRect">
            <a:avLst>
              <a:gd name="adj" fmla="val 7295"/>
            </a:avLst>
          </a:prstGeom>
          <a:solidFill>
            <a:srgbClr val="F9EAF4"/>
          </a:solidFill>
          <a:ln w="15240">
            <a:solidFill>
              <a:srgbClr val="CC79A7"/>
            </a:solidFill>
            <a:prstDash val="solid"/>
          </a:ln>
        </p:spPr>
      </p:sp>
      <p:sp>
        <p:nvSpPr>
          <p:cNvPr id="27" name="Shape 25"/>
          <p:cNvSpPr/>
          <p:nvPr/>
        </p:nvSpPr>
        <p:spPr>
          <a:xfrm>
            <a:off x="852456" y="5844718"/>
            <a:ext cx="180242" cy="176487"/>
          </a:xfrm>
          <a:prstGeom prst="roundRect">
            <a:avLst>
              <a:gd name="adj" fmla="val 41449"/>
            </a:avLst>
          </a:prstGeom>
          <a:solidFill>
            <a:srgbClr val="E4F2FB"/>
          </a:solidFill>
          <a:ln w="15240">
            <a:solidFill>
              <a:srgbClr val="0072B2"/>
            </a:solidFill>
            <a:prstDash val="solid"/>
          </a:ln>
        </p:spPr>
      </p:sp>
      <p:sp>
        <p:nvSpPr>
          <p:cNvPr id="28" name="Shape 26"/>
          <p:cNvSpPr/>
          <p:nvPr/>
        </p:nvSpPr>
        <p:spPr>
          <a:xfrm>
            <a:off x="2982584" y="5844718"/>
            <a:ext cx="180242" cy="176487"/>
          </a:xfrm>
          <a:prstGeom prst="rect">
            <a:avLst/>
          </a:prstGeom>
          <a:solidFill>
            <a:srgbClr val="E5F7EF"/>
          </a:solidFill>
          <a:ln w="15240">
            <a:solidFill>
              <a:srgbClr val="009E73"/>
            </a:solidFill>
            <a:prstDash val="solid"/>
          </a:ln>
        </p:spPr>
      </p:sp>
      <p:sp>
        <p:nvSpPr>
          <p:cNvPr id="29" name="Shape 27"/>
          <p:cNvSpPr/>
          <p:nvPr/>
        </p:nvSpPr>
        <p:spPr>
          <a:xfrm>
            <a:off x="5112712" y="5844718"/>
            <a:ext cx="180242" cy="176487"/>
          </a:xfrm>
          <a:prstGeom prst="roundRect">
            <a:avLst>
              <a:gd name="adj" fmla="val 41449"/>
            </a:avLst>
          </a:prstGeom>
          <a:solidFill>
            <a:srgbClr val="F9EAF4"/>
          </a:solidFill>
          <a:ln w="15240">
            <a:solidFill>
              <a:srgbClr val="CC79A7"/>
            </a:solidFill>
            <a:prstDash val="solid"/>
          </a:ln>
        </p:spPr>
      </p:sp>
      <p:sp>
        <p:nvSpPr>
          <p:cNvPr id="30" name="Text 28"/>
          <p:cNvSpPr txBox="1"/>
          <p:nvPr/>
        </p:nvSpPr>
        <p:spPr>
          <a:xfrm>
            <a:off x="852456" y="1667547"/>
            <a:ext cx="4010290" cy="302489"/>
          </a:xfrm>
          <a:prstGeom prst="rect">
            <a:avLst/>
          </a:prstGeom>
          <a:noFill/>
          <a:ln/>
        </p:spPr>
        <p:txBody>
          <a:bodyPr wrap="square" lIns="0" tIns="0" rIns="0" bIns="0" rtlCol="0" anchor="ctr"/>
          <a:lstStyle/>
          <a:p>
            <a:pPr algn="l" indent="0" marL="0">
              <a:lnSpc>
                <a:spcPct val="116000"/>
              </a:lnSpc>
              <a:buNone/>
            </a:pPr>
            <a:r>
              <a:rPr lang="en-US" sz="2053" b="1" dirty="0">
                <a:solidFill>
                  <a:srgbClr val="1E1B4B"/>
                </a:solidFill>
                <a:latin typeface="Arial" pitchFamily="34" charset="0"/>
                <a:ea typeface="Arial" pitchFamily="34" charset="-122"/>
                <a:cs typeface="Arial" pitchFamily="34" charset="-120"/>
              </a:rPr>
              <a:t>Two ways to pass information</a:t>
            </a:r>
            <a:endParaRPr lang="en-US" sz="2053" dirty="0"/>
          </a:p>
        </p:txBody>
      </p:sp>
      <p:sp>
        <p:nvSpPr>
          <p:cNvPr id="31" name="Text 29"/>
          <p:cNvSpPr txBox="1"/>
          <p:nvPr/>
        </p:nvSpPr>
        <p:spPr>
          <a:xfrm>
            <a:off x="852456" y="1973526"/>
            <a:ext cx="4685598" cy="261240"/>
          </a:xfrm>
          <a:prstGeom prst="rect">
            <a:avLst/>
          </a:prstGeom>
          <a:noFill/>
          <a:ln/>
        </p:spPr>
        <p:txBody>
          <a:bodyPr wrap="square" lIns="0" tIns="0" rIns="0" bIns="0" rtlCol="0" anchor="ctr"/>
          <a:lstStyle/>
          <a:p>
            <a:pPr algn="l" indent="0" marL="0">
              <a:lnSpc>
                <a:spcPct val="116000"/>
              </a:lnSpc>
              <a:buNone/>
            </a:pPr>
            <a:r>
              <a:rPr lang="en-US" sz="1773" dirty="0">
                <a:solidFill>
                  <a:srgbClr val="1E1B4B"/>
                </a:solidFill>
                <a:latin typeface="Arial" pitchFamily="34" charset="0"/>
                <a:ea typeface="Arial" pitchFamily="34" charset="-122"/>
                <a:cs typeface="Arial" pitchFamily="34" charset="-120"/>
              </a:rPr>
              <a:t>Recurrence: process tokens one after another</a:t>
            </a:r>
            <a:endParaRPr lang="en-US" sz="1773" dirty="0"/>
          </a:p>
        </p:txBody>
      </p:sp>
      <p:sp>
        <p:nvSpPr>
          <p:cNvPr id="32" name="Text 30"/>
          <p:cNvSpPr txBox="1"/>
          <p:nvPr/>
        </p:nvSpPr>
        <p:spPr>
          <a:xfrm>
            <a:off x="1032186" y="2633056"/>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animal</a:t>
            </a:r>
            <a:endParaRPr lang="en-US" sz="1680" dirty="0"/>
          </a:p>
        </p:txBody>
      </p:sp>
      <p:sp>
        <p:nvSpPr>
          <p:cNvPr id="33" name="Text 31"/>
          <p:cNvSpPr txBox="1"/>
          <p:nvPr/>
        </p:nvSpPr>
        <p:spPr>
          <a:xfrm>
            <a:off x="1032186" y="2880546"/>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update state</a:t>
            </a:r>
            <a:endParaRPr lang="en-US" sz="1680" dirty="0"/>
          </a:p>
        </p:txBody>
      </p:sp>
      <p:sp>
        <p:nvSpPr>
          <p:cNvPr id="34" name="Text 32"/>
          <p:cNvSpPr txBox="1"/>
          <p:nvPr/>
        </p:nvSpPr>
        <p:spPr>
          <a:xfrm>
            <a:off x="3137735" y="2633056"/>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crossed</a:t>
            </a:r>
            <a:endParaRPr lang="en-US" sz="1680" dirty="0"/>
          </a:p>
        </p:txBody>
      </p:sp>
      <p:sp>
        <p:nvSpPr>
          <p:cNvPr id="35" name="Text 33"/>
          <p:cNvSpPr txBox="1"/>
          <p:nvPr/>
        </p:nvSpPr>
        <p:spPr>
          <a:xfrm>
            <a:off x="3137735" y="2880546"/>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update state</a:t>
            </a:r>
            <a:endParaRPr lang="en-US" sz="1680" dirty="0"/>
          </a:p>
        </p:txBody>
      </p:sp>
      <p:sp>
        <p:nvSpPr>
          <p:cNvPr id="36" name="Text 34"/>
          <p:cNvSpPr txBox="1"/>
          <p:nvPr/>
        </p:nvSpPr>
        <p:spPr>
          <a:xfrm>
            <a:off x="5243284" y="2633056"/>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street</a:t>
            </a:r>
            <a:endParaRPr lang="en-US" sz="1680" dirty="0"/>
          </a:p>
        </p:txBody>
      </p:sp>
      <p:sp>
        <p:nvSpPr>
          <p:cNvPr id="37" name="Text 35"/>
          <p:cNvSpPr txBox="1"/>
          <p:nvPr/>
        </p:nvSpPr>
        <p:spPr>
          <a:xfrm>
            <a:off x="5243284" y="2880546"/>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update state</a:t>
            </a:r>
            <a:endParaRPr lang="en-US" sz="1680" dirty="0"/>
          </a:p>
        </p:txBody>
      </p:sp>
      <p:sp>
        <p:nvSpPr>
          <p:cNvPr id="38" name="Text 36"/>
          <p:cNvSpPr txBox="1"/>
          <p:nvPr/>
        </p:nvSpPr>
        <p:spPr>
          <a:xfrm>
            <a:off x="7348834" y="2633056"/>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because</a:t>
            </a:r>
            <a:endParaRPr lang="en-US" sz="1680" dirty="0"/>
          </a:p>
        </p:txBody>
      </p:sp>
      <p:sp>
        <p:nvSpPr>
          <p:cNvPr id="39" name="Text 37"/>
          <p:cNvSpPr txBox="1"/>
          <p:nvPr/>
        </p:nvSpPr>
        <p:spPr>
          <a:xfrm>
            <a:off x="7348834" y="2880546"/>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update state</a:t>
            </a:r>
            <a:endParaRPr lang="en-US" sz="1680" dirty="0"/>
          </a:p>
        </p:txBody>
      </p:sp>
      <p:sp>
        <p:nvSpPr>
          <p:cNvPr id="40" name="Text 38"/>
          <p:cNvSpPr txBox="1"/>
          <p:nvPr/>
        </p:nvSpPr>
        <p:spPr>
          <a:xfrm>
            <a:off x="9454383" y="2633056"/>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it</a:t>
            </a:r>
            <a:endParaRPr lang="en-US" sz="1680" dirty="0"/>
          </a:p>
        </p:txBody>
      </p:sp>
      <p:sp>
        <p:nvSpPr>
          <p:cNvPr id="41" name="Text 39"/>
          <p:cNvSpPr txBox="1"/>
          <p:nvPr/>
        </p:nvSpPr>
        <p:spPr>
          <a:xfrm>
            <a:off x="9454383" y="2880546"/>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update state</a:t>
            </a:r>
            <a:endParaRPr lang="en-US" sz="1680" dirty="0"/>
          </a:p>
        </p:txBody>
      </p:sp>
      <p:sp>
        <p:nvSpPr>
          <p:cNvPr id="42" name="Text 40"/>
          <p:cNvSpPr txBox="1"/>
          <p:nvPr/>
        </p:nvSpPr>
        <p:spPr>
          <a:xfrm>
            <a:off x="852456" y="3329263"/>
            <a:ext cx="6611162" cy="261240"/>
          </a:xfrm>
          <a:prstGeom prst="rect">
            <a:avLst/>
          </a:prstGeom>
          <a:noFill/>
          <a:ln/>
        </p:spPr>
        <p:txBody>
          <a:bodyPr wrap="square" lIns="0" tIns="0" rIns="0" bIns="0" rtlCol="0" anchor="ctr"/>
          <a:lstStyle/>
          <a:p>
            <a:pPr algn="l" indent="0" marL="0">
              <a:lnSpc>
                <a:spcPct val="116000"/>
              </a:lnSpc>
              <a:buNone/>
            </a:pPr>
            <a:r>
              <a:rPr lang="en-US" sz="1773" dirty="0">
                <a:solidFill>
                  <a:srgbClr val="1E1B4B"/>
                </a:solidFill>
                <a:latin typeface="Arial" pitchFamily="34" charset="0"/>
                <a:ea typeface="Arial" pitchFamily="34" charset="-122"/>
                <a:cs typeface="Arial" pitchFamily="34" charset="-120"/>
              </a:rPr>
              <a:t>Self-attention: one token can directly use an allowed earlier token</a:t>
            </a:r>
            <a:endParaRPr lang="en-US" sz="1773" dirty="0"/>
          </a:p>
        </p:txBody>
      </p:sp>
      <p:sp>
        <p:nvSpPr>
          <p:cNvPr id="43" name="Text 41"/>
          <p:cNvSpPr txBox="1"/>
          <p:nvPr/>
        </p:nvSpPr>
        <p:spPr>
          <a:xfrm>
            <a:off x="961523" y="4229457"/>
            <a:ext cx="152693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it + earlier</a:t>
            </a:r>
            <a:endParaRPr lang="en-US" sz="1680" dirty="0"/>
          </a:p>
        </p:txBody>
      </p:sp>
      <p:sp>
        <p:nvSpPr>
          <p:cNvPr id="44" name="Text 42"/>
          <p:cNvSpPr txBox="1"/>
          <p:nvPr/>
        </p:nvSpPr>
        <p:spPr>
          <a:xfrm>
            <a:off x="961523" y="4476947"/>
            <a:ext cx="152693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token vectors</a:t>
            </a:r>
            <a:endParaRPr lang="en-US" sz="1680" dirty="0"/>
          </a:p>
        </p:txBody>
      </p:sp>
      <p:sp>
        <p:nvSpPr>
          <p:cNvPr id="45" name="Text 43"/>
          <p:cNvSpPr txBox="1"/>
          <p:nvPr/>
        </p:nvSpPr>
        <p:spPr>
          <a:xfrm>
            <a:off x="2978744" y="4229457"/>
            <a:ext cx="170359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Compare</a:t>
            </a:r>
            <a:endParaRPr lang="en-US" sz="1680" dirty="0"/>
          </a:p>
        </p:txBody>
      </p:sp>
      <p:sp>
        <p:nvSpPr>
          <p:cNvPr id="46" name="Text 44"/>
          <p:cNvSpPr txBox="1"/>
          <p:nvPr/>
        </p:nvSpPr>
        <p:spPr>
          <a:xfrm>
            <a:off x="2978744" y="4476947"/>
            <a:ext cx="170359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query and keys</a:t>
            </a:r>
            <a:endParaRPr lang="en-US" sz="1680" dirty="0"/>
          </a:p>
        </p:txBody>
      </p:sp>
      <p:sp>
        <p:nvSpPr>
          <p:cNvPr id="47" name="Text 45"/>
          <p:cNvSpPr txBox="1"/>
          <p:nvPr/>
        </p:nvSpPr>
        <p:spPr>
          <a:xfrm>
            <a:off x="2392361" y="3642097"/>
            <a:ext cx="770806"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vectors</a:t>
            </a:r>
            <a:endParaRPr lang="en-US" sz="1587" dirty="0"/>
          </a:p>
        </p:txBody>
      </p:sp>
      <p:sp>
        <p:nvSpPr>
          <p:cNvPr id="48" name="Text 46"/>
          <p:cNvSpPr txBox="1"/>
          <p:nvPr/>
        </p:nvSpPr>
        <p:spPr>
          <a:xfrm>
            <a:off x="5384610" y="4229457"/>
            <a:ext cx="110295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Make row</a:t>
            </a:r>
            <a:endParaRPr lang="en-US" sz="1680" dirty="0"/>
          </a:p>
        </p:txBody>
      </p:sp>
      <p:sp>
        <p:nvSpPr>
          <p:cNvPr id="49" name="Text 47"/>
          <p:cNvSpPr txBox="1"/>
          <p:nvPr/>
        </p:nvSpPr>
        <p:spPr>
          <a:xfrm>
            <a:off x="5384610" y="4476947"/>
            <a:ext cx="110295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weights</a:t>
            </a:r>
            <a:endParaRPr lang="en-US" sz="1680" dirty="0"/>
          </a:p>
        </p:txBody>
      </p:sp>
      <p:sp>
        <p:nvSpPr>
          <p:cNvPr id="50" name="Text 48"/>
          <p:cNvSpPr txBox="1"/>
          <p:nvPr/>
        </p:nvSpPr>
        <p:spPr>
          <a:xfrm>
            <a:off x="4528825" y="3642097"/>
            <a:ext cx="708976"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scores</a:t>
            </a:r>
            <a:endParaRPr lang="en-US" sz="1587" dirty="0"/>
          </a:p>
        </p:txBody>
      </p:sp>
      <p:sp>
        <p:nvSpPr>
          <p:cNvPr id="51" name="Text 49"/>
          <p:cNvSpPr txBox="1"/>
          <p:nvPr/>
        </p:nvSpPr>
        <p:spPr>
          <a:xfrm>
            <a:off x="7494576" y="4229457"/>
            <a:ext cx="109412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Mix value</a:t>
            </a:r>
            <a:endParaRPr lang="en-US" sz="1680" dirty="0"/>
          </a:p>
        </p:txBody>
      </p:sp>
      <p:sp>
        <p:nvSpPr>
          <p:cNvPr id="52" name="Text 50"/>
          <p:cNvSpPr txBox="1"/>
          <p:nvPr/>
        </p:nvSpPr>
        <p:spPr>
          <a:xfrm>
            <a:off x="7494576" y="4476947"/>
            <a:ext cx="109412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vectors</a:t>
            </a:r>
            <a:endParaRPr lang="en-US" sz="1680" dirty="0"/>
          </a:p>
        </p:txBody>
      </p:sp>
      <p:sp>
        <p:nvSpPr>
          <p:cNvPr id="53" name="Text 51"/>
          <p:cNvSpPr txBox="1"/>
          <p:nvPr/>
        </p:nvSpPr>
        <p:spPr>
          <a:xfrm>
            <a:off x="6590210" y="3642097"/>
            <a:ext cx="797304"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weights</a:t>
            </a:r>
            <a:endParaRPr lang="en-US" sz="1587" dirty="0"/>
          </a:p>
        </p:txBody>
      </p:sp>
      <p:sp>
        <p:nvSpPr>
          <p:cNvPr id="54" name="Text 52"/>
          <p:cNvSpPr txBox="1"/>
          <p:nvPr/>
        </p:nvSpPr>
        <p:spPr>
          <a:xfrm>
            <a:off x="9427885" y="4353202"/>
            <a:ext cx="143860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new it vector</a:t>
            </a:r>
            <a:endParaRPr lang="en-US" sz="1680" dirty="0"/>
          </a:p>
        </p:txBody>
      </p:sp>
      <p:sp>
        <p:nvSpPr>
          <p:cNvPr id="55" name="Text 53"/>
          <p:cNvSpPr txBox="1"/>
          <p:nvPr/>
        </p:nvSpPr>
        <p:spPr>
          <a:xfrm>
            <a:off x="8704593" y="3642097"/>
            <a:ext cx="779639"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mixture</a:t>
            </a:r>
            <a:endParaRPr lang="en-US" sz="1587" dirty="0"/>
          </a:p>
        </p:txBody>
      </p:sp>
      <p:sp>
        <p:nvSpPr>
          <p:cNvPr id="56" name="Text 54"/>
          <p:cNvSpPr txBox="1"/>
          <p:nvPr/>
        </p:nvSpPr>
        <p:spPr>
          <a:xfrm>
            <a:off x="3620321" y="5126189"/>
            <a:ext cx="2493214" cy="233741"/>
          </a:xfrm>
          <a:prstGeom prst="rect">
            <a:avLst/>
          </a:prstGeom>
          <a:solidFill>
            <a:srgbClr val="FFFFFF"/>
          </a:solidFill>
          <a:ln/>
        </p:spPr>
        <p:txBody>
          <a:bodyPr wrap="square" lIns="0" tIns="0" rIns="0" bIns="0" rtlCol="0" anchor="ctr"/>
          <a:lstStyle/>
          <a:p>
            <a:pPr algn="ctr" indent="0" marL="0">
              <a:lnSpc>
                <a:spcPct val="116000"/>
              </a:lnSpc>
              <a:buNone/>
            </a:pPr>
            <a:r>
              <a:rPr lang="en-US" sz="1587" dirty="0">
                <a:solidFill>
                  <a:srgbClr val="1F2937"/>
                </a:solidFill>
                <a:latin typeface="Arial" pitchFamily="34" charset="0"/>
                <a:ea typeface="Arial" pitchFamily="34" charset="-122"/>
                <a:cs typeface="Arial" pitchFamily="34" charset="-120"/>
              </a:rPr>
              <a:t>values from token vectors</a:t>
            </a:r>
            <a:endParaRPr lang="en-US" sz="1587" dirty="0"/>
          </a:p>
        </p:txBody>
      </p:sp>
      <p:sp>
        <p:nvSpPr>
          <p:cNvPr id="57" name="Text 55"/>
          <p:cNvSpPr txBox="1"/>
          <p:nvPr/>
        </p:nvSpPr>
        <p:spPr>
          <a:xfrm>
            <a:off x="893420" y="5370313"/>
            <a:ext cx="6138149" cy="233741"/>
          </a:xfrm>
          <a:prstGeom prst="rect">
            <a:avLst/>
          </a:prstGeom>
          <a:noFill/>
          <a:ln/>
        </p:spPr>
        <p:txBody>
          <a:bodyPr wrap="square" lIns="0" tIns="0" rIns="0" bIns="0" rtlCol="0" anchor="ctr"/>
          <a:lstStyle/>
          <a:p>
            <a:pPr algn="l" indent="0" marL="0">
              <a:lnSpc>
                <a:spcPct val="116000"/>
              </a:lnSpc>
              <a:buNone/>
            </a:pPr>
            <a:r>
              <a:rPr lang="en-US" sz="1587" dirty="0">
                <a:solidFill>
                  <a:srgbClr val="1F2937"/>
                </a:solidFill>
                <a:latin typeface="Arial" pitchFamily="34" charset="0"/>
                <a:ea typeface="Arial" pitchFamily="34" charset="-122"/>
                <a:cs typeface="Arial" pitchFamily="34" charset="-120"/>
              </a:rPr>
              <a:t>Illustrative route only. A causal decoder cannot use words after it.</a:t>
            </a:r>
            <a:endParaRPr lang="en-US" sz="1587" dirty="0"/>
          </a:p>
        </p:txBody>
      </p:sp>
      <p:sp>
        <p:nvSpPr>
          <p:cNvPr id="58" name="Text 56"/>
          <p:cNvSpPr txBox="1"/>
          <p:nvPr/>
        </p:nvSpPr>
        <p:spPr>
          <a:xfrm>
            <a:off x="1131011" y="5809216"/>
            <a:ext cx="1085290"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Input data</a:t>
            </a:r>
            <a:endParaRPr lang="en-US" sz="1680" dirty="0"/>
          </a:p>
        </p:txBody>
      </p:sp>
      <p:sp>
        <p:nvSpPr>
          <p:cNvPr id="59" name="Text 57"/>
          <p:cNvSpPr txBox="1"/>
          <p:nvPr/>
        </p:nvSpPr>
        <p:spPr>
          <a:xfrm>
            <a:off x="3261139" y="5809216"/>
            <a:ext cx="705477"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Model</a:t>
            </a:r>
            <a:endParaRPr lang="en-US" sz="1680" dirty="0"/>
          </a:p>
        </p:txBody>
      </p:sp>
      <p:sp>
        <p:nvSpPr>
          <p:cNvPr id="60" name="Text 58"/>
          <p:cNvSpPr txBox="1"/>
          <p:nvPr/>
        </p:nvSpPr>
        <p:spPr>
          <a:xfrm>
            <a:off x="5391267" y="5809216"/>
            <a:ext cx="758474"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Output</a:t>
            </a:r>
            <a:endParaRPr lang="en-US" sz="1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RNN / LSTM vs. transformer</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Recurrent network</a:t>
            </a:r>
            <a:endParaRPr lang="en-US" sz="1800" dirty="0"/>
          </a:p>
        </p:txBody>
      </p:sp>
      <p:sp>
        <p:nvSpPr>
          <p:cNvPr id="9" name="Shape 6"/>
          <p:cNvSpPr/>
          <p:nvPr/>
        </p:nvSpPr>
        <p:spPr>
          <a:xfrm>
            <a:off x="548640" y="2167128"/>
            <a:ext cx="5410048" cy="4142232"/>
          </a:xfrm>
          <a:prstGeom prst="roundRect">
            <a:avLst>
              <a:gd name="adj" fmla="val 2208"/>
            </a:avLst>
          </a:prstGeom>
          <a:solidFill>
            <a:srgbClr val="EEF0FF"/>
          </a:solidFill>
          <a:ln w="12700">
            <a:solidFill>
              <a:srgbClr val="EEF0FF"/>
            </a:solidFill>
            <a:prstDash val="solid"/>
          </a:ln>
        </p:spPr>
      </p:sp>
      <p:sp>
        <p:nvSpPr>
          <p:cNvPr id="10" name="Text 7"/>
          <p:cNvSpPr txBox="1"/>
          <p:nvPr/>
        </p:nvSpPr>
        <p:spPr>
          <a:xfrm>
            <a:off x="658368"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Reads one token at a time and passes a memory vector on</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Example: by "it", "animal" is five steps back and may have faded</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Each step waits for the one before, even in training</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Generates one token at a time</a:t>
            </a:r>
            <a:endParaRPr lang="en-US" sz="24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Transformer</a:t>
            </a:r>
            <a:endParaRPr lang="en-US" sz="1800" dirty="0"/>
          </a:p>
        </p:txBody>
      </p:sp>
      <p:sp>
        <p:nvSpPr>
          <p:cNvPr id="14" name="Shape 10"/>
          <p:cNvSpPr/>
          <p:nvPr/>
        </p:nvSpPr>
        <p:spPr>
          <a:xfrm>
            <a:off x="6233008" y="2167128"/>
            <a:ext cx="5410048" cy="4142232"/>
          </a:xfrm>
          <a:prstGeom prst="roundRect">
            <a:avLst>
              <a:gd name="adj" fmla="val 2208"/>
            </a:avLst>
          </a:prstGeom>
          <a:solidFill>
            <a:srgbClr val="E6F4F1"/>
          </a:solidFill>
          <a:ln w="12700">
            <a:solidFill>
              <a:srgbClr val="E6F4F1"/>
            </a:solidFill>
            <a:prstDash val="solid"/>
          </a:ln>
        </p:spPr>
      </p:sp>
      <p:sp>
        <p:nvSpPr>
          <p:cNvPr id="15" name="Text 11"/>
          <p:cNvSpPr txBox="1"/>
          <p:nvPr/>
        </p:nvSpPr>
        <p:spPr>
          <a:xfrm>
            <a:off x="6342736"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Each token looks directly at every allowed earlier token</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Example: "it" can weight "animal" highly in one step</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Training scores all known positions of a text at once</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Still generates one token at a time</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Tokens, embeddings and position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does text become a list of vectors?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From text to vectors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Token:</a:t>
            </a:r>
            <a:pPr indent="0" marL="0">
              <a:buNone/>
            </a:pPr>
            <a:r>
              <a:rPr lang="en-US" sz="2600" dirty="0">
                <a:solidFill>
                  <a:srgbClr val="1F2937"/>
                </a:solidFill>
                <a:latin typeface="Calibri" pitchFamily="34" charset="0"/>
                <a:ea typeface="Calibri" pitchFamily="34" charset="-122"/>
                <a:cs typeface="Calibri" pitchFamily="34" charset="-120"/>
              </a:rPr>
              <a:t> one unit of text; one character in our lab.</a:t>
            </a:r>
            <a:endParaRPr lang="en-US" sz="2600" dirty="0"/>
          </a:p>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ID:</a:t>
            </a:r>
            <a:pPr indent="0" marL="0">
              <a:buNone/>
            </a:pPr>
            <a:r>
              <a:rPr lang="en-US" sz="2600" dirty="0">
                <a:solidFill>
                  <a:srgbClr val="1F2937"/>
                </a:solidFill>
                <a:latin typeface="Calibri" pitchFamily="34" charset="0"/>
                <a:ea typeface="Calibri" pitchFamily="34" charset="-122"/>
                <a:cs typeface="Calibri" pitchFamily="34" charset="-120"/>
              </a:rPr>
              <a:t> its vocabulary number.</a:t>
            </a:r>
            <a:endParaRPr lang="en-US" sz="2600" dirty="0"/>
          </a:p>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Embedding:</a:t>
            </a:r>
            <a:pPr indent="0" marL="0">
              <a:buNone/>
            </a:pPr>
            <a:r>
              <a:rPr lang="en-US" sz="2600" dirty="0">
                <a:solidFill>
                  <a:srgbClr val="1F2937"/>
                </a:solidFill>
                <a:latin typeface="Calibri" pitchFamily="34" charset="0"/>
                <a:ea typeface="Calibri" pitchFamily="34" charset="-122"/>
                <a:cs typeface="Calibri" pitchFamily="34" charset="-120"/>
              </a:rPr>
              <a:t> its learned vector.</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Three IDs become three vectors: shape [3, 8] for width 8.</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Positional encoding: sinusoidal and rotary</a:t>
            </a:r>
            <a:endParaRPr lang="en-US" sz="3200" dirty="0"/>
          </a:p>
        </p:txBody>
      </p:sp>
      <p:sp>
        <p:nvSpPr>
          <p:cNvPr id="6" name="Shape 4"/>
          <p:cNvSpPr/>
          <p:nvPr/>
        </p:nvSpPr>
        <p:spPr>
          <a:xfrm>
            <a:off x="851955" y="3220121"/>
            <a:ext cx="2035673" cy="753738"/>
          </a:xfrm>
          <a:prstGeom prst="roundRect">
            <a:avLst>
              <a:gd name="adj" fmla="val 9705"/>
            </a:avLst>
          </a:prstGeom>
          <a:solidFill>
            <a:srgbClr val="E4F2FB"/>
          </a:solidFill>
          <a:ln w="15240">
            <a:solidFill>
              <a:srgbClr val="0072B2"/>
            </a:solidFill>
            <a:prstDash val="solid"/>
          </a:ln>
        </p:spPr>
      </p:sp>
      <p:sp>
        <p:nvSpPr>
          <p:cNvPr id="7" name="Shape 5"/>
          <p:cNvSpPr/>
          <p:nvPr/>
        </p:nvSpPr>
        <p:spPr>
          <a:xfrm>
            <a:off x="3376189" y="3220121"/>
            <a:ext cx="2117099" cy="753738"/>
          </a:xfrm>
          <a:prstGeom prst="roundRect">
            <a:avLst>
              <a:gd name="adj" fmla="val 9705"/>
            </a:avLst>
          </a:prstGeom>
          <a:solidFill>
            <a:srgbClr val="E4F2FB"/>
          </a:solidFill>
          <a:ln w="15240">
            <a:solidFill>
              <a:srgbClr val="0072B2"/>
            </a:solidFill>
            <a:prstDash val="solid"/>
          </a:ln>
        </p:spPr>
      </p:sp>
      <p:sp>
        <p:nvSpPr>
          <p:cNvPr id="8" name="Text 6"/>
          <p:cNvSpPr txBox="1"/>
          <p:nvPr/>
        </p:nvSpPr>
        <p:spPr>
          <a:xfrm>
            <a:off x="1158405" y="3459495"/>
            <a:ext cx="1422773"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token [1, 0]</a:t>
            </a:r>
            <a:endParaRPr lang="en-US" sz="1867" dirty="0"/>
          </a:p>
        </p:txBody>
      </p:sp>
      <p:sp>
        <p:nvSpPr>
          <p:cNvPr id="9" name="Text 7"/>
          <p:cNvSpPr txBox="1"/>
          <p:nvPr/>
        </p:nvSpPr>
        <p:spPr>
          <a:xfrm>
            <a:off x="3573193" y="3459495"/>
            <a:ext cx="1723091"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position [0, 1]</a:t>
            </a:r>
            <a:endParaRPr lang="en-US" sz="1867" dirty="0"/>
          </a:p>
        </p:txBody>
      </p:sp>
      <p:sp>
        <p:nvSpPr>
          <p:cNvPr id="10" name="Text 8"/>
          <p:cNvSpPr txBox="1"/>
          <p:nvPr/>
        </p:nvSpPr>
        <p:spPr>
          <a:xfrm>
            <a:off x="2976907" y="3253252"/>
            <a:ext cx="310004" cy="343737"/>
          </a:xfrm>
          <a:prstGeom prst="rect">
            <a:avLst/>
          </a:prstGeom>
          <a:noFill/>
          <a:ln/>
        </p:spPr>
        <p:txBody>
          <a:bodyPr wrap="square" lIns="0" tIns="0" rIns="0" bIns="0" rtlCol="0" anchor="ctr"/>
          <a:lstStyle/>
          <a:p>
            <a:pPr algn="ctr" indent="0" marL="0">
              <a:lnSpc>
                <a:spcPct val="116000"/>
              </a:lnSpc>
              <a:buNone/>
            </a:pPr>
            <a:r>
              <a:rPr lang="en-US" sz="2333" dirty="0">
                <a:solidFill>
                  <a:srgbClr val="009E73"/>
                </a:solidFill>
                <a:latin typeface="Arial" pitchFamily="34" charset="0"/>
                <a:ea typeface="Arial" pitchFamily="34" charset="-122"/>
                <a:cs typeface="Arial" pitchFamily="34" charset="-120"/>
              </a:rPr>
              <a:t>+</a:t>
            </a:r>
            <a:endParaRPr lang="en-US" sz="2333" dirty="0"/>
          </a:p>
        </p:txBody>
      </p:sp>
      <p:sp>
        <p:nvSpPr>
          <p:cNvPr id="11" name="Text 9"/>
          <p:cNvSpPr txBox="1"/>
          <p:nvPr/>
        </p:nvSpPr>
        <p:spPr>
          <a:xfrm>
            <a:off x="892669" y="4274489"/>
            <a:ext cx="4521273"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new input = [1, 1]</a:t>
            </a:r>
            <a:endParaRPr lang="en-US" sz="1680" dirty="0"/>
          </a:p>
        </p:txBody>
      </p:sp>
      <p:sp>
        <p:nvSpPr>
          <p:cNvPr id="12" name="Text 10"/>
          <p:cNvSpPr txBox="1"/>
          <p:nvPr/>
        </p:nvSpPr>
        <p:spPr>
          <a:xfrm>
            <a:off x="892669" y="4521979"/>
            <a:ext cx="4521273"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Illustrative vectors; lab positions are learned.</a:t>
            </a:r>
            <a:endParaRPr lang="en-US" sz="1680" dirty="0"/>
          </a:p>
        </p:txBody>
      </p:sp>
      <p:sp>
        <p:nvSpPr>
          <p:cNvPr id="13" name="Text 11"/>
          <p:cNvSpPr txBox="1"/>
          <p:nvPr/>
        </p:nvSpPr>
        <p:spPr>
          <a:xfrm>
            <a:off x="770528" y="2357772"/>
            <a:ext cx="2744204" cy="288739"/>
          </a:xfrm>
          <a:prstGeom prst="rect">
            <a:avLst/>
          </a:prstGeom>
          <a:noFill/>
          <a:ln/>
        </p:spPr>
        <p:txBody>
          <a:bodyPr wrap="square" lIns="0" tIns="0" rIns="0" bIns="0" rtlCol="0" anchor="ctr"/>
          <a:lstStyle/>
          <a:p>
            <a:pPr algn="l" indent="0" marL="0">
              <a:lnSpc>
                <a:spcPct val="116000"/>
              </a:lnSpc>
              <a:buNone/>
            </a:pPr>
            <a:r>
              <a:rPr lang="en-US" sz="1960" b="1" dirty="0">
                <a:solidFill>
                  <a:srgbClr val="1E1B4B"/>
                </a:solidFill>
                <a:latin typeface="Arial" pitchFamily="34" charset="0"/>
                <a:ea typeface="Arial" pitchFamily="34" charset="-122"/>
                <a:cs typeface="Arial" pitchFamily="34" charset="-120"/>
              </a:rPr>
              <a:t>Add a position vector</a:t>
            </a:r>
            <a:endParaRPr lang="en-US" sz="1960" dirty="0"/>
          </a:p>
        </p:txBody>
      </p:sp>
      <p:sp>
        <p:nvSpPr>
          <p:cNvPr id="14" name="Shape 12"/>
          <p:cNvSpPr/>
          <p:nvPr/>
        </p:nvSpPr>
        <p:spPr>
          <a:xfrm>
            <a:off x="8693366" y="3596990"/>
            <a:ext cx="569988" cy="0"/>
          </a:xfrm>
          <a:prstGeom prst="line">
            <a:avLst/>
          </a:prstGeom>
          <a:noFill/>
          <a:ln w="22860">
            <a:solidFill>
              <a:srgbClr val="009E73"/>
            </a:solidFill>
            <a:prstDash val="solid"/>
            <a:tailEnd type="triangle"/>
          </a:ln>
        </p:spPr>
      </p:sp>
      <p:sp>
        <p:nvSpPr>
          <p:cNvPr id="15" name="Shape 13"/>
          <p:cNvSpPr/>
          <p:nvPr/>
        </p:nvSpPr>
        <p:spPr>
          <a:xfrm>
            <a:off x="6616980" y="3220121"/>
            <a:ext cx="2076386" cy="753738"/>
          </a:xfrm>
          <a:prstGeom prst="rect">
            <a:avLst/>
          </a:prstGeom>
          <a:solidFill>
            <a:srgbClr val="E5F7EF"/>
          </a:solidFill>
          <a:ln w="15240">
            <a:solidFill>
              <a:srgbClr val="009E73"/>
            </a:solidFill>
            <a:prstDash val="solid"/>
          </a:ln>
        </p:spPr>
      </p:sp>
      <p:sp>
        <p:nvSpPr>
          <p:cNvPr id="16" name="Shape 14"/>
          <p:cNvSpPr/>
          <p:nvPr/>
        </p:nvSpPr>
        <p:spPr>
          <a:xfrm>
            <a:off x="9263354" y="3220121"/>
            <a:ext cx="2035673" cy="753738"/>
          </a:xfrm>
          <a:prstGeom prst="rect">
            <a:avLst/>
          </a:prstGeom>
          <a:solidFill>
            <a:srgbClr val="E5F7EF"/>
          </a:solidFill>
          <a:ln w="15240">
            <a:solidFill>
              <a:srgbClr val="009E73"/>
            </a:solidFill>
            <a:prstDash val="solid"/>
          </a:ln>
        </p:spPr>
      </p:sp>
      <p:sp>
        <p:nvSpPr>
          <p:cNvPr id="17" name="Text 15"/>
          <p:cNvSpPr txBox="1"/>
          <p:nvPr/>
        </p:nvSpPr>
        <p:spPr>
          <a:xfrm>
            <a:off x="6864290" y="3322000"/>
            <a:ext cx="1581765"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Q and K</a:t>
            </a:r>
            <a:endParaRPr lang="en-US" sz="1867" dirty="0"/>
          </a:p>
        </p:txBody>
      </p:sp>
      <p:sp>
        <p:nvSpPr>
          <p:cNvPr id="18" name="Text 16"/>
          <p:cNvSpPr txBox="1"/>
          <p:nvPr/>
        </p:nvSpPr>
        <p:spPr>
          <a:xfrm>
            <a:off x="6864290" y="3596990"/>
            <a:ext cx="1581765"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at position p</a:t>
            </a:r>
            <a:endParaRPr lang="en-US" sz="1867" dirty="0"/>
          </a:p>
        </p:txBody>
      </p:sp>
      <p:sp>
        <p:nvSpPr>
          <p:cNvPr id="19" name="Text 17"/>
          <p:cNvSpPr txBox="1"/>
          <p:nvPr/>
        </p:nvSpPr>
        <p:spPr>
          <a:xfrm>
            <a:off x="9384313" y="3322000"/>
            <a:ext cx="1793754"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rotate by</a:t>
            </a:r>
            <a:endParaRPr lang="en-US" sz="1867" dirty="0"/>
          </a:p>
        </p:txBody>
      </p:sp>
      <p:sp>
        <p:nvSpPr>
          <p:cNvPr id="20" name="Text 18"/>
          <p:cNvSpPr txBox="1"/>
          <p:nvPr/>
        </p:nvSpPr>
        <p:spPr>
          <a:xfrm>
            <a:off x="9384313" y="3596990"/>
            <a:ext cx="1793754"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position angle</a:t>
            </a:r>
            <a:endParaRPr lang="en-US" sz="1867" dirty="0"/>
          </a:p>
        </p:txBody>
      </p:sp>
      <p:sp>
        <p:nvSpPr>
          <p:cNvPr id="21" name="Text 19"/>
          <p:cNvSpPr txBox="1"/>
          <p:nvPr/>
        </p:nvSpPr>
        <p:spPr>
          <a:xfrm>
            <a:off x="6657693" y="4274489"/>
            <a:ext cx="4844086"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Relative position affects Q–K comparisons.</a:t>
            </a:r>
            <a:endParaRPr lang="en-US" sz="1680" dirty="0"/>
          </a:p>
        </p:txBody>
      </p:sp>
      <p:sp>
        <p:nvSpPr>
          <p:cNvPr id="22" name="Text 20"/>
          <p:cNvSpPr txBox="1"/>
          <p:nvPr/>
        </p:nvSpPr>
        <p:spPr>
          <a:xfrm>
            <a:off x="6657693" y="4521979"/>
            <a:ext cx="4844086"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RoPE is a different method from adding vectors.</a:t>
            </a:r>
            <a:endParaRPr lang="en-US" sz="1680" dirty="0"/>
          </a:p>
        </p:txBody>
      </p:sp>
      <p:sp>
        <p:nvSpPr>
          <p:cNvPr id="23" name="Text 21"/>
          <p:cNvSpPr txBox="1"/>
          <p:nvPr/>
        </p:nvSpPr>
        <p:spPr>
          <a:xfrm>
            <a:off x="6535553" y="2357772"/>
            <a:ext cx="2779535" cy="288739"/>
          </a:xfrm>
          <a:prstGeom prst="rect">
            <a:avLst/>
          </a:prstGeom>
          <a:noFill/>
          <a:ln/>
        </p:spPr>
        <p:txBody>
          <a:bodyPr wrap="square" lIns="0" tIns="0" rIns="0" bIns="0" rtlCol="0" anchor="ctr"/>
          <a:lstStyle/>
          <a:p>
            <a:pPr algn="l" indent="0" marL="0">
              <a:lnSpc>
                <a:spcPct val="116000"/>
              </a:lnSpc>
              <a:buNone/>
            </a:pPr>
            <a:r>
              <a:rPr lang="en-US" sz="1960" b="1" dirty="0">
                <a:solidFill>
                  <a:srgbClr val="1E1B4B"/>
                </a:solidFill>
                <a:latin typeface="Arial" pitchFamily="34" charset="0"/>
                <a:ea typeface="Arial" pitchFamily="34" charset="-122"/>
                <a:cs typeface="Arial" pitchFamily="34" charset="-120"/>
              </a:rPr>
              <a:t>RoPE rotates Q and K</a:t>
            </a:r>
            <a:endParaRPr lang="en-US" sz="1960" dirty="0"/>
          </a:p>
        </p:txBody>
      </p:sp>
      <p:sp>
        <p:nvSpPr>
          <p:cNvPr id="24" name="Shape 22"/>
          <p:cNvSpPr/>
          <p:nvPr/>
        </p:nvSpPr>
        <p:spPr>
          <a:xfrm>
            <a:off x="852456" y="5627566"/>
            <a:ext cx="180242" cy="151140"/>
          </a:xfrm>
          <a:prstGeom prst="roundRect">
            <a:avLst>
              <a:gd name="adj" fmla="val 48400"/>
            </a:avLst>
          </a:prstGeom>
          <a:solidFill>
            <a:srgbClr val="E4F2FB"/>
          </a:solidFill>
          <a:ln w="15240">
            <a:solidFill>
              <a:srgbClr val="0072B2"/>
            </a:solidFill>
            <a:prstDash val="solid"/>
          </a:ln>
        </p:spPr>
      </p:sp>
      <p:sp>
        <p:nvSpPr>
          <p:cNvPr id="25" name="Shape 23"/>
          <p:cNvSpPr/>
          <p:nvPr/>
        </p:nvSpPr>
        <p:spPr>
          <a:xfrm>
            <a:off x="2982584" y="5627566"/>
            <a:ext cx="180242" cy="151140"/>
          </a:xfrm>
          <a:prstGeom prst="rect">
            <a:avLst/>
          </a:prstGeom>
          <a:solidFill>
            <a:srgbClr val="E5F7EF"/>
          </a:solidFill>
          <a:ln w="15240">
            <a:solidFill>
              <a:srgbClr val="009E73"/>
            </a:solidFill>
            <a:prstDash val="solid"/>
          </a:ln>
        </p:spPr>
      </p:sp>
      <p:sp>
        <p:nvSpPr>
          <p:cNvPr id="26" name="Text 24"/>
          <p:cNvSpPr txBox="1"/>
          <p:nvPr/>
        </p:nvSpPr>
        <p:spPr>
          <a:xfrm>
            <a:off x="1131011" y="5579391"/>
            <a:ext cx="1085290"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Input data</a:t>
            </a:r>
            <a:endParaRPr lang="en-US" sz="1680" dirty="0"/>
          </a:p>
        </p:txBody>
      </p:sp>
      <p:sp>
        <p:nvSpPr>
          <p:cNvPr id="27" name="Text 25"/>
          <p:cNvSpPr txBox="1"/>
          <p:nvPr/>
        </p:nvSpPr>
        <p:spPr>
          <a:xfrm>
            <a:off x="3261139" y="5579391"/>
            <a:ext cx="705477"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Model</a:t>
            </a:r>
            <a:endParaRPr lang="en-US" sz="1680" dirty="0"/>
          </a:p>
        </p:txBody>
      </p:sp>
      <p:sp>
        <p:nvSpPr>
          <p:cNvPr id="28" name="Text 26"/>
          <p:cNvSpPr txBox="1"/>
          <p:nvPr/>
        </p:nvSpPr>
        <p:spPr>
          <a:xfrm>
            <a:off x="770528" y="5218140"/>
            <a:ext cx="7798264"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Without positions, self-attention cannot tell cat sat from sat cat by order alone.</a:t>
            </a:r>
            <a:endParaRPr lang="en-US" sz="1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Attention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does one token combine information from others?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Inside one attention head</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Turn comparisons between tokens into a mixture of information</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X [3,2]</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Q,K [3,2]</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scores [3,3]</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masked scores</a:t>
            </a:r>
            <a:endParaRPr lang="en-US" sz="1441" dirty="0"/>
          </a:p>
        </p:txBody>
      </p:sp>
      <p:sp>
        <p:nvSpPr>
          <p:cNvPr id="15" name="Shape 13"/>
          <p:cNvSpPr/>
          <p:nvPr/>
        </p:nvSpPr>
        <p:spPr>
          <a:xfrm>
            <a:off x="9593525" y="3838927"/>
            <a:ext cx="244024" cy="0"/>
          </a:xfrm>
          <a:prstGeom prst="line">
            <a:avLst/>
          </a:prstGeom>
          <a:noFill/>
          <a:ln w="22860">
            <a:solidFill>
              <a:srgbClr val="009E73"/>
            </a:solidFill>
            <a:prstDash val="solid"/>
            <a:tailEnd type="triangle"/>
          </a:ln>
        </p:spPr>
      </p:sp>
      <p:sp>
        <p:nvSpPr>
          <p:cNvPr id="16" name="Text 14"/>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weights [3,3]</a:t>
            </a:r>
            <a:endParaRPr lang="en-US" sz="1441" dirty="0"/>
          </a:p>
        </p:txBody>
      </p:sp>
      <p:sp>
        <p:nvSpPr>
          <p:cNvPr id="17" name="Shape 15"/>
          <p:cNvSpPr/>
          <p:nvPr/>
        </p:nvSpPr>
        <p:spPr>
          <a:xfrm>
            <a:off x="3381080" y="4738766"/>
            <a:ext cx="0" cy="198270"/>
          </a:xfrm>
          <a:prstGeom prst="line">
            <a:avLst/>
          </a:prstGeom>
          <a:noFill/>
          <a:ln w="22860">
            <a:solidFill>
              <a:srgbClr val="0072B2"/>
            </a:solidFill>
            <a:prstDash val="solid"/>
          </a:ln>
        </p:spPr>
      </p:sp>
      <p:sp>
        <p:nvSpPr>
          <p:cNvPr id="18" name="Shape 16"/>
          <p:cNvSpPr/>
          <p:nvPr/>
        </p:nvSpPr>
        <p:spPr>
          <a:xfrm>
            <a:off x="3381080" y="4937035"/>
            <a:ext cx="7239380" cy="0"/>
          </a:xfrm>
          <a:prstGeom prst="line">
            <a:avLst/>
          </a:prstGeom>
          <a:noFill/>
          <a:ln w="22860">
            <a:solidFill>
              <a:srgbClr val="0072B2"/>
            </a:solidFill>
            <a:prstDash val="solid"/>
          </a:ln>
        </p:spPr>
      </p:sp>
      <p:sp>
        <p:nvSpPr>
          <p:cNvPr id="19" name="Shape 17"/>
          <p:cNvSpPr/>
          <p:nvPr/>
        </p:nvSpPr>
        <p:spPr>
          <a:xfrm flipV="1">
            <a:off x="10620460" y="4738766"/>
            <a:ext cx="0" cy="198270"/>
          </a:xfrm>
          <a:prstGeom prst="line">
            <a:avLst/>
          </a:prstGeom>
          <a:noFill/>
          <a:ln w="22860">
            <a:solidFill>
              <a:srgbClr val="0072B2"/>
            </a:solidFill>
            <a:prstDash val="solid"/>
            <a:tailEnd type="triangle"/>
          </a:ln>
        </p:spPr>
      </p:sp>
      <p:sp>
        <p:nvSpPr>
          <p:cNvPr id="20" name="Text 18"/>
          <p:cNvSpPr txBox="1"/>
          <p:nvPr/>
        </p:nvSpPr>
        <p:spPr>
          <a:xfrm>
            <a:off x="5733236" y="4967538"/>
            <a:ext cx="2535068"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V [3,2] carries the information</a:t>
            </a:r>
            <a:endParaRPr lang="en-US" sz="1441" dirty="0"/>
          </a:p>
        </p:txBody>
      </p:sp>
      <p:sp>
        <p:nvSpPr>
          <p:cNvPr id="21" name="Shape 19"/>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2" name="Text 20"/>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Inputs X</a:t>
            </a:r>
            <a:endParaRPr lang="en-US" sz="1561" dirty="0"/>
          </a:p>
        </p:txBody>
      </p:sp>
      <p:sp>
        <p:nvSpPr>
          <p:cNvPr id="23" name="Text 21"/>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3 tokens; 2</a:t>
            </a:r>
            <a:endParaRPr lang="en-US" sz="1441" dirty="0"/>
          </a:p>
        </p:txBody>
      </p:sp>
      <p:sp>
        <p:nvSpPr>
          <p:cNvPr id="24" name="Text 22"/>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features</a:t>
            </a:r>
            <a:endParaRPr lang="en-US" sz="1441" dirty="0"/>
          </a:p>
        </p:txBody>
      </p:sp>
      <p:sp>
        <p:nvSpPr>
          <p:cNvPr id="25" name="Text 23"/>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attention</a:t>
            </a:r>
            <a:endParaRPr lang="en-US" sz="1441" dirty="0"/>
          </a:p>
        </p:txBody>
      </p:sp>
      <p:sp>
        <p:nvSpPr>
          <p:cNvPr id="26" name="Shape 24"/>
          <p:cNvSpPr/>
          <p:nvPr/>
        </p:nvSpPr>
        <p:spPr>
          <a:xfrm>
            <a:off x="2598170" y="2939089"/>
            <a:ext cx="1565821" cy="1799677"/>
          </a:xfrm>
          <a:prstGeom prst="rect">
            <a:avLst/>
          </a:prstGeom>
          <a:solidFill>
            <a:srgbClr val="E5F7EF"/>
          </a:solidFill>
          <a:ln w="15240">
            <a:solidFill>
              <a:srgbClr val="009E73"/>
            </a:solidFill>
            <a:prstDash val="solid"/>
          </a:ln>
        </p:spPr>
      </p:sp>
      <p:sp>
        <p:nvSpPr>
          <p:cNvPr id="27" name="Text 25"/>
          <p:cNvSpPr txBox="1"/>
          <p:nvPr/>
        </p:nvSpPr>
        <p:spPr>
          <a:xfrm>
            <a:off x="265917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Project QKV</a:t>
            </a:r>
            <a:endParaRPr lang="en-US" sz="1561" dirty="0"/>
          </a:p>
        </p:txBody>
      </p:sp>
      <p:sp>
        <p:nvSpPr>
          <p:cNvPr id="28" name="Text 26"/>
          <p:cNvSpPr txBox="1"/>
          <p:nvPr/>
        </p:nvSpPr>
        <p:spPr>
          <a:xfrm>
            <a:off x="265917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Query, key,</a:t>
            </a:r>
            <a:endParaRPr lang="en-US" sz="1441" dirty="0"/>
          </a:p>
        </p:txBody>
      </p:sp>
      <p:sp>
        <p:nvSpPr>
          <p:cNvPr id="29" name="Text 27"/>
          <p:cNvSpPr txBox="1"/>
          <p:nvPr/>
        </p:nvSpPr>
        <p:spPr>
          <a:xfrm>
            <a:off x="265917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value</a:t>
            </a:r>
            <a:endParaRPr lang="en-US" sz="1441" dirty="0"/>
          </a:p>
        </p:txBody>
      </p:sp>
      <p:sp>
        <p:nvSpPr>
          <p:cNvPr id="30" name="Text 28"/>
          <p:cNvSpPr txBox="1"/>
          <p:nvPr/>
        </p:nvSpPr>
        <p:spPr>
          <a:xfrm>
            <a:off x="262104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qkv</a:t>
            </a:r>
            <a:endParaRPr lang="en-US" sz="1441" dirty="0"/>
          </a:p>
        </p:txBody>
      </p:sp>
      <p:sp>
        <p:nvSpPr>
          <p:cNvPr id="31" name="Shape 29"/>
          <p:cNvSpPr/>
          <p:nvPr/>
        </p:nvSpPr>
        <p:spPr>
          <a:xfrm>
            <a:off x="4408015" y="2939089"/>
            <a:ext cx="1565821" cy="1799677"/>
          </a:xfrm>
          <a:prstGeom prst="rect">
            <a:avLst/>
          </a:prstGeom>
          <a:solidFill>
            <a:srgbClr val="E5F7EF"/>
          </a:solidFill>
          <a:ln w="15240">
            <a:solidFill>
              <a:srgbClr val="009E73"/>
            </a:solidFill>
            <a:prstDash val="solid"/>
          </a:ln>
        </p:spPr>
      </p:sp>
      <p:sp>
        <p:nvSpPr>
          <p:cNvPr id="32" name="Text 30"/>
          <p:cNvSpPr txBox="1"/>
          <p:nvPr/>
        </p:nvSpPr>
        <p:spPr>
          <a:xfrm>
            <a:off x="4469021" y="344299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Score QK</a:t>
            </a:r>
            <a:endParaRPr lang="en-US" sz="1561" dirty="0"/>
          </a:p>
        </p:txBody>
      </p:sp>
      <p:sp>
        <p:nvSpPr>
          <p:cNvPr id="33" name="Text 31"/>
          <p:cNvSpPr txBox="1"/>
          <p:nvPr/>
        </p:nvSpPr>
        <p:spPr>
          <a:xfrm>
            <a:off x="4469021" y="37492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QKᵀ / √2</a:t>
            </a:r>
            <a:endParaRPr lang="en-US" sz="1441" dirty="0"/>
          </a:p>
        </p:txBody>
      </p:sp>
      <p:sp>
        <p:nvSpPr>
          <p:cNvPr id="34" name="Text 32"/>
          <p:cNvSpPr txBox="1"/>
          <p:nvPr/>
        </p:nvSpPr>
        <p:spPr>
          <a:xfrm>
            <a:off x="4430892" y="4022555"/>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attention</a:t>
            </a:r>
            <a:endParaRPr lang="en-US" sz="1441" dirty="0"/>
          </a:p>
        </p:txBody>
      </p:sp>
      <p:sp>
        <p:nvSpPr>
          <p:cNvPr id="35" name="Shape 33"/>
          <p:cNvSpPr/>
          <p:nvPr/>
        </p:nvSpPr>
        <p:spPr>
          <a:xfrm>
            <a:off x="6217860" y="2939089"/>
            <a:ext cx="1565821" cy="1799677"/>
          </a:xfrm>
          <a:prstGeom prst="rect">
            <a:avLst/>
          </a:prstGeom>
          <a:solidFill>
            <a:srgbClr val="E5F7EF"/>
          </a:solidFill>
          <a:ln w="15240">
            <a:solidFill>
              <a:srgbClr val="009E73"/>
            </a:solidFill>
            <a:prstDash val="solid"/>
          </a:ln>
        </p:spPr>
      </p:sp>
      <p:sp>
        <p:nvSpPr>
          <p:cNvPr id="36" name="Text 34"/>
          <p:cNvSpPr txBox="1"/>
          <p:nvPr/>
        </p:nvSpPr>
        <p:spPr>
          <a:xfrm>
            <a:off x="627886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Apply mask</a:t>
            </a:r>
            <a:endParaRPr lang="en-US" sz="1561" dirty="0"/>
          </a:p>
        </p:txBody>
      </p:sp>
      <p:sp>
        <p:nvSpPr>
          <p:cNvPr id="37" name="Text 35"/>
          <p:cNvSpPr txBox="1"/>
          <p:nvPr/>
        </p:nvSpPr>
        <p:spPr>
          <a:xfrm>
            <a:off x="627886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Block future</a:t>
            </a:r>
            <a:endParaRPr lang="en-US" sz="1441" dirty="0"/>
          </a:p>
        </p:txBody>
      </p:sp>
      <p:sp>
        <p:nvSpPr>
          <p:cNvPr id="38" name="Text 36"/>
          <p:cNvSpPr txBox="1"/>
          <p:nvPr/>
        </p:nvSpPr>
        <p:spPr>
          <a:xfrm>
            <a:off x="627886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positions</a:t>
            </a:r>
            <a:endParaRPr lang="en-US" sz="1441" dirty="0"/>
          </a:p>
        </p:txBody>
      </p:sp>
      <p:sp>
        <p:nvSpPr>
          <p:cNvPr id="39" name="Text 37"/>
          <p:cNvSpPr txBox="1"/>
          <p:nvPr/>
        </p:nvSpPr>
        <p:spPr>
          <a:xfrm>
            <a:off x="624073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causal_mask</a:t>
            </a:r>
            <a:endParaRPr lang="en-US" sz="1441" dirty="0"/>
          </a:p>
        </p:txBody>
      </p:sp>
      <p:sp>
        <p:nvSpPr>
          <p:cNvPr id="40" name="Shape 38"/>
          <p:cNvSpPr/>
          <p:nvPr/>
        </p:nvSpPr>
        <p:spPr>
          <a:xfrm>
            <a:off x="8027705" y="2939089"/>
            <a:ext cx="1565821" cy="1799677"/>
          </a:xfrm>
          <a:prstGeom prst="rect">
            <a:avLst/>
          </a:prstGeom>
          <a:solidFill>
            <a:srgbClr val="E5F7EF"/>
          </a:solidFill>
          <a:ln w="15240">
            <a:solidFill>
              <a:srgbClr val="009E73"/>
            </a:solidFill>
            <a:prstDash val="solid"/>
          </a:ln>
        </p:spPr>
      </p:sp>
      <p:sp>
        <p:nvSpPr>
          <p:cNvPr id="41" name="Text 39"/>
          <p:cNvSpPr txBox="1"/>
          <p:nvPr/>
        </p:nvSpPr>
        <p:spPr>
          <a:xfrm>
            <a:off x="8088711" y="344299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Row softmax</a:t>
            </a:r>
            <a:endParaRPr lang="en-US" sz="1561" dirty="0"/>
          </a:p>
        </p:txBody>
      </p:sp>
      <p:sp>
        <p:nvSpPr>
          <p:cNvPr id="42" name="Text 40"/>
          <p:cNvSpPr txBox="1"/>
          <p:nvPr/>
        </p:nvSpPr>
        <p:spPr>
          <a:xfrm>
            <a:off x="8088711" y="37492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Row sums are 1</a:t>
            </a:r>
            <a:endParaRPr lang="en-US" sz="1441" dirty="0"/>
          </a:p>
        </p:txBody>
      </p:sp>
      <p:sp>
        <p:nvSpPr>
          <p:cNvPr id="43" name="Text 41"/>
          <p:cNvSpPr txBox="1"/>
          <p:nvPr/>
        </p:nvSpPr>
        <p:spPr>
          <a:xfrm>
            <a:off x="8050582" y="4022555"/>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attention</a:t>
            </a:r>
            <a:endParaRPr lang="en-US" sz="1441" dirty="0"/>
          </a:p>
        </p:txBody>
      </p:sp>
      <p:sp>
        <p:nvSpPr>
          <p:cNvPr id="44" name="Shape 42"/>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45" name="Text 43"/>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Weights × V</a:t>
            </a:r>
            <a:endParaRPr lang="en-US" sz="1561" dirty="0"/>
          </a:p>
        </p:txBody>
      </p:sp>
      <p:sp>
        <p:nvSpPr>
          <p:cNvPr id="46" name="Text 44"/>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Mix values; 3</a:t>
            </a:r>
            <a:endParaRPr lang="en-US" sz="1441" dirty="0"/>
          </a:p>
        </p:txBody>
      </p:sp>
      <p:sp>
        <p:nvSpPr>
          <p:cNvPr id="47" name="Text 45"/>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new vectors</a:t>
            </a:r>
            <a:endParaRPr lang="en-US" sz="1441" dirty="0"/>
          </a:p>
        </p:txBody>
      </p:sp>
      <p:sp>
        <p:nvSpPr>
          <p:cNvPr id="48" name="Text 46"/>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attention</a:t>
            </a:r>
            <a:endParaRPr lang="en-US" sz="1441" dirty="0"/>
          </a:p>
        </p:txBody>
      </p:sp>
      <p:sp>
        <p:nvSpPr>
          <p:cNvPr id="49" name="Shape 47"/>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0" name="Text 48"/>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1" name="Shape 49"/>
          <p:cNvSpPr/>
          <p:nvPr/>
        </p:nvSpPr>
        <p:spPr>
          <a:xfrm>
            <a:off x="2118929" y="5630979"/>
            <a:ext cx="198270" cy="198270"/>
          </a:xfrm>
          <a:prstGeom prst="rect">
            <a:avLst/>
          </a:prstGeom>
          <a:solidFill>
            <a:srgbClr val="E5F7EF"/>
          </a:solidFill>
          <a:ln w="15240">
            <a:solidFill>
              <a:srgbClr val="009E73"/>
            </a:solidFill>
            <a:prstDash val="solid"/>
          </a:ln>
        </p:spPr>
      </p:sp>
      <p:sp>
        <p:nvSpPr>
          <p:cNvPr id="52" name="Text 50"/>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3" name="Shape 51"/>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54" name="Text 52"/>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5" name="Shape 53"/>
          <p:cNvSpPr/>
          <p:nvPr/>
        </p:nvSpPr>
        <p:spPr>
          <a:xfrm>
            <a:off x="4179476" y="5730113"/>
            <a:ext cx="335533" cy="0"/>
          </a:xfrm>
          <a:prstGeom prst="line">
            <a:avLst/>
          </a:prstGeom>
          <a:noFill/>
          <a:ln w="22860">
            <a:solidFill>
              <a:srgbClr val="009E73"/>
            </a:solidFill>
            <a:prstDash val="solid"/>
            <a:tailEnd type="triangle"/>
          </a:ln>
        </p:spPr>
      </p:sp>
      <p:sp>
        <p:nvSpPr>
          <p:cNvPr id="56" name="Text 54"/>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7" name="Text 55"/>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 attention weights mix the key vectors or the value vectors to form the output?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Queries, keys and values</a:t>
            </a:r>
            <a:endParaRPr lang="en-US" sz="3200" dirty="0"/>
          </a:p>
        </p:txBody>
      </p:sp>
      <p:sp>
        <p:nvSpPr>
          <p:cNvPr id="6" name="Shape 4"/>
          <p:cNvSpPr/>
          <p:nvPr/>
        </p:nvSpPr>
        <p:spPr>
          <a:xfrm>
            <a:off x="3830539" y="4296450"/>
            <a:ext cx="0" cy="561548"/>
          </a:xfrm>
          <a:prstGeom prst="line">
            <a:avLst/>
          </a:prstGeom>
          <a:noFill/>
          <a:ln w="22860">
            <a:solidFill>
              <a:srgbClr val="0072B2"/>
            </a:solidFill>
            <a:prstDash val="solid"/>
          </a:ln>
        </p:spPr>
      </p:sp>
      <p:sp>
        <p:nvSpPr>
          <p:cNvPr id="7" name="Shape 5"/>
          <p:cNvSpPr/>
          <p:nvPr/>
        </p:nvSpPr>
        <p:spPr>
          <a:xfrm>
            <a:off x="3830539" y="4857998"/>
            <a:ext cx="6316648" cy="0"/>
          </a:xfrm>
          <a:prstGeom prst="line">
            <a:avLst/>
          </a:prstGeom>
          <a:noFill/>
          <a:ln w="22860">
            <a:solidFill>
              <a:srgbClr val="0072B2"/>
            </a:solidFill>
            <a:prstDash val="solid"/>
          </a:ln>
        </p:spPr>
      </p:sp>
      <p:sp>
        <p:nvSpPr>
          <p:cNvPr id="8" name="Shape 6"/>
          <p:cNvSpPr/>
          <p:nvPr/>
        </p:nvSpPr>
        <p:spPr>
          <a:xfrm>
            <a:off x="2564751" y="3795068"/>
            <a:ext cx="426026" cy="0"/>
          </a:xfrm>
          <a:prstGeom prst="line">
            <a:avLst/>
          </a:prstGeom>
          <a:noFill/>
          <a:ln w="22860">
            <a:solidFill>
              <a:srgbClr val="009E73"/>
            </a:solidFill>
            <a:prstDash val="solid"/>
            <a:tailEnd type="triangle"/>
          </a:ln>
        </p:spPr>
      </p:sp>
      <p:sp>
        <p:nvSpPr>
          <p:cNvPr id="9" name="Shape 7"/>
          <p:cNvSpPr/>
          <p:nvPr/>
        </p:nvSpPr>
        <p:spPr>
          <a:xfrm>
            <a:off x="4670301" y="3795068"/>
            <a:ext cx="426026" cy="0"/>
          </a:xfrm>
          <a:prstGeom prst="line">
            <a:avLst/>
          </a:prstGeom>
          <a:noFill/>
          <a:ln w="22860">
            <a:solidFill>
              <a:srgbClr val="009E73"/>
            </a:solidFill>
            <a:prstDash val="solid"/>
            <a:tailEnd type="triangle"/>
          </a:ln>
        </p:spPr>
      </p:sp>
      <p:sp>
        <p:nvSpPr>
          <p:cNvPr id="10" name="Shape 8"/>
          <p:cNvSpPr/>
          <p:nvPr/>
        </p:nvSpPr>
        <p:spPr>
          <a:xfrm>
            <a:off x="6775850" y="3795068"/>
            <a:ext cx="426026" cy="0"/>
          </a:xfrm>
          <a:prstGeom prst="line">
            <a:avLst/>
          </a:prstGeom>
          <a:noFill/>
          <a:ln w="22860">
            <a:solidFill>
              <a:srgbClr val="009E73"/>
            </a:solidFill>
            <a:prstDash val="solid"/>
            <a:tailEnd type="triangle"/>
          </a:ln>
        </p:spPr>
      </p:sp>
      <p:sp>
        <p:nvSpPr>
          <p:cNvPr id="11" name="Shape 9"/>
          <p:cNvSpPr/>
          <p:nvPr/>
        </p:nvSpPr>
        <p:spPr>
          <a:xfrm>
            <a:off x="8881399" y="3795068"/>
            <a:ext cx="426026" cy="0"/>
          </a:xfrm>
          <a:prstGeom prst="line">
            <a:avLst/>
          </a:prstGeom>
          <a:noFill/>
          <a:ln w="22860">
            <a:solidFill>
              <a:srgbClr val="009E73"/>
            </a:solidFill>
            <a:prstDash val="solid"/>
            <a:tailEnd type="triangle"/>
          </a:ln>
        </p:spPr>
      </p:sp>
      <p:sp>
        <p:nvSpPr>
          <p:cNvPr id="12" name="Shape 10"/>
          <p:cNvSpPr/>
          <p:nvPr/>
        </p:nvSpPr>
        <p:spPr>
          <a:xfrm flipV="1">
            <a:off x="10147187" y="4296450"/>
            <a:ext cx="0" cy="561548"/>
          </a:xfrm>
          <a:prstGeom prst="line">
            <a:avLst/>
          </a:prstGeom>
          <a:noFill/>
          <a:ln w="22860">
            <a:solidFill>
              <a:srgbClr val="0072B2"/>
            </a:solidFill>
            <a:prstDash val="solid"/>
            <a:tailEnd type="triangle"/>
          </a:ln>
        </p:spPr>
      </p:sp>
      <p:sp>
        <p:nvSpPr>
          <p:cNvPr id="13" name="Shape 11"/>
          <p:cNvSpPr/>
          <p:nvPr/>
        </p:nvSpPr>
        <p:spPr>
          <a:xfrm>
            <a:off x="885227" y="3293685"/>
            <a:ext cx="1679524" cy="1002764"/>
          </a:xfrm>
          <a:prstGeom prst="roundRect">
            <a:avLst>
              <a:gd name="adj" fmla="val 7295"/>
            </a:avLst>
          </a:prstGeom>
          <a:solidFill>
            <a:srgbClr val="E4F2FB"/>
          </a:solidFill>
          <a:ln w="15240">
            <a:solidFill>
              <a:srgbClr val="0072B2"/>
            </a:solidFill>
            <a:prstDash val="solid"/>
          </a:ln>
        </p:spPr>
      </p:sp>
      <p:sp>
        <p:nvSpPr>
          <p:cNvPr id="14" name="Shape 12"/>
          <p:cNvSpPr/>
          <p:nvPr/>
        </p:nvSpPr>
        <p:spPr>
          <a:xfrm>
            <a:off x="2990777" y="3293685"/>
            <a:ext cx="1679524" cy="1002764"/>
          </a:xfrm>
          <a:prstGeom prst="rect">
            <a:avLst/>
          </a:prstGeom>
          <a:solidFill>
            <a:srgbClr val="E5F7EF"/>
          </a:solidFill>
          <a:ln w="15240">
            <a:solidFill>
              <a:srgbClr val="009E73"/>
            </a:solidFill>
            <a:prstDash val="solid"/>
          </a:ln>
        </p:spPr>
      </p:sp>
      <p:sp>
        <p:nvSpPr>
          <p:cNvPr id="15" name="Shape 13"/>
          <p:cNvSpPr/>
          <p:nvPr/>
        </p:nvSpPr>
        <p:spPr>
          <a:xfrm>
            <a:off x="5096326" y="3293685"/>
            <a:ext cx="1679524" cy="1002764"/>
          </a:xfrm>
          <a:prstGeom prst="rect">
            <a:avLst/>
          </a:prstGeom>
          <a:solidFill>
            <a:srgbClr val="E5F7EF"/>
          </a:solidFill>
          <a:ln w="15240">
            <a:solidFill>
              <a:srgbClr val="009E73"/>
            </a:solidFill>
            <a:prstDash val="solid"/>
          </a:ln>
        </p:spPr>
      </p:sp>
      <p:sp>
        <p:nvSpPr>
          <p:cNvPr id="16" name="Shape 14"/>
          <p:cNvSpPr/>
          <p:nvPr/>
        </p:nvSpPr>
        <p:spPr>
          <a:xfrm>
            <a:off x="7201875" y="3293685"/>
            <a:ext cx="1679524" cy="1002764"/>
          </a:xfrm>
          <a:prstGeom prst="rect">
            <a:avLst/>
          </a:prstGeom>
          <a:solidFill>
            <a:srgbClr val="E5F7EF"/>
          </a:solidFill>
          <a:ln w="15240">
            <a:solidFill>
              <a:srgbClr val="009E73"/>
            </a:solidFill>
            <a:prstDash val="solid"/>
          </a:ln>
        </p:spPr>
      </p:sp>
      <p:sp>
        <p:nvSpPr>
          <p:cNvPr id="17" name="Shape 15"/>
          <p:cNvSpPr/>
          <p:nvPr/>
        </p:nvSpPr>
        <p:spPr>
          <a:xfrm>
            <a:off x="9307425" y="3293685"/>
            <a:ext cx="1679524" cy="1002764"/>
          </a:xfrm>
          <a:prstGeom prst="roundRect">
            <a:avLst>
              <a:gd name="adj" fmla="val 7295"/>
            </a:avLst>
          </a:prstGeom>
          <a:solidFill>
            <a:srgbClr val="F9EAF4"/>
          </a:solidFill>
          <a:ln w="15240">
            <a:solidFill>
              <a:srgbClr val="CC79A7"/>
            </a:solidFill>
            <a:prstDash val="solid"/>
          </a:ln>
        </p:spPr>
      </p:sp>
      <p:sp>
        <p:nvSpPr>
          <p:cNvPr id="18" name="Shape 16"/>
          <p:cNvSpPr/>
          <p:nvPr/>
        </p:nvSpPr>
        <p:spPr>
          <a:xfrm>
            <a:off x="852456" y="5403502"/>
            <a:ext cx="180242" cy="176487"/>
          </a:xfrm>
          <a:prstGeom prst="roundRect">
            <a:avLst>
              <a:gd name="adj" fmla="val 41449"/>
            </a:avLst>
          </a:prstGeom>
          <a:solidFill>
            <a:srgbClr val="E4F2FB"/>
          </a:solidFill>
          <a:ln w="15240">
            <a:solidFill>
              <a:srgbClr val="0072B2"/>
            </a:solidFill>
            <a:prstDash val="solid"/>
          </a:ln>
        </p:spPr>
      </p:sp>
      <p:sp>
        <p:nvSpPr>
          <p:cNvPr id="19" name="Shape 17"/>
          <p:cNvSpPr/>
          <p:nvPr/>
        </p:nvSpPr>
        <p:spPr>
          <a:xfrm>
            <a:off x="2982584" y="5403502"/>
            <a:ext cx="180242" cy="176487"/>
          </a:xfrm>
          <a:prstGeom prst="rect">
            <a:avLst/>
          </a:prstGeom>
          <a:solidFill>
            <a:srgbClr val="E5F7EF"/>
          </a:solidFill>
          <a:ln w="15240">
            <a:solidFill>
              <a:srgbClr val="009E73"/>
            </a:solidFill>
            <a:prstDash val="solid"/>
          </a:ln>
        </p:spPr>
      </p:sp>
      <p:sp>
        <p:nvSpPr>
          <p:cNvPr id="20" name="Shape 18"/>
          <p:cNvSpPr/>
          <p:nvPr/>
        </p:nvSpPr>
        <p:spPr>
          <a:xfrm>
            <a:off x="5112712" y="5403502"/>
            <a:ext cx="180242" cy="176487"/>
          </a:xfrm>
          <a:prstGeom prst="roundRect">
            <a:avLst>
              <a:gd name="adj" fmla="val 41449"/>
            </a:avLst>
          </a:prstGeom>
          <a:solidFill>
            <a:srgbClr val="F9EAF4"/>
          </a:solidFill>
          <a:ln w="15240">
            <a:solidFill>
              <a:srgbClr val="CC79A7"/>
            </a:solidFill>
            <a:prstDash val="solid"/>
          </a:ln>
        </p:spPr>
      </p:sp>
      <p:sp>
        <p:nvSpPr>
          <p:cNvPr id="21" name="Text 19"/>
          <p:cNvSpPr txBox="1"/>
          <p:nvPr/>
        </p:nvSpPr>
        <p:spPr>
          <a:xfrm>
            <a:off x="1306005" y="3547577"/>
            <a:ext cx="83797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Input X</a:t>
            </a:r>
            <a:endParaRPr lang="en-US" sz="1680" dirty="0"/>
          </a:p>
        </p:txBody>
      </p:sp>
      <p:sp>
        <p:nvSpPr>
          <p:cNvPr id="22" name="Text 20"/>
          <p:cNvSpPr txBox="1"/>
          <p:nvPr/>
        </p:nvSpPr>
        <p:spPr>
          <a:xfrm>
            <a:off x="1306005" y="3795068"/>
            <a:ext cx="83797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3 × 2</a:t>
            </a:r>
            <a:endParaRPr lang="en-US" sz="1680" dirty="0"/>
          </a:p>
        </p:txBody>
      </p:sp>
      <p:sp>
        <p:nvSpPr>
          <p:cNvPr id="23" name="Text 21"/>
          <p:cNvSpPr txBox="1"/>
          <p:nvPr/>
        </p:nvSpPr>
        <p:spPr>
          <a:xfrm>
            <a:off x="3177483" y="3547577"/>
            <a:ext cx="1306111"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Project into</a:t>
            </a:r>
            <a:endParaRPr lang="en-US" sz="1680" dirty="0"/>
          </a:p>
        </p:txBody>
      </p:sp>
      <p:sp>
        <p:nvSpPr>
          <p:cNvPr id="24" name="Text 22"/>
          <p:cNvSpPr txBox="1"/>
          <p:nvPr/>
        </p:nvSpPr>
        <p:spPr>
          <a:xfrm>
            <a:off x="3177483" y="3795068"/>
            <a:ext cx="1306111"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Q, K and V</a:t>
            </a:r>
            <a:endParaRPr lang="en-US" sz="1680" dirty="0"/>
          </a:p>
        </p:txBody>
      </p:sp>
      <p:sp>
        <p:nvSpPr>
          <p:cNvPr id="25" name="Text 23"/>
          <p:cNvSpPr txBox="1"/>
          <p:nvPr/>
        </p:nvSpPr>
        <p:spPr>
          <a:xfrm>
            <a:off x="2661763" y="2960218"/>
            <a:ext cx="232001"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X</a:t>
            </a:r>
            <a:endParaRPr lang="en-US" sz="1587" dirty="0"/>
          </a:p>
        </p:txBody>
      </p:sp>
      <p:sp>
        <p:nvSpPr>
          <p:cNvPr id="26" name="Text 24"/>
          <p:cNvSpPr txBox="1"/>
          <p:nvPr/>
        </p:nvSpPr>
        <p:spPr>
          <a:xfrm>
            <a:off x="5428775" y="3547577"/>
            <a:ext cx="101462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Scores:</a:t>
            </a:r>
            <a:endParaRPr lang="en-US" sz="1680" dirty="0"/>
          </a:p>
        </p:txBody>
      </p:sp>
      <p:sp>
        <p:nvSpPr>
          <p:cNvPr id="27" name="Text 25"/>
          <p:cNvSpPr txBox="1"/>
          <p:nvPr/>
        </p:nvSpPr>
        <p:spPr>
          <a:xfrm>
            <a:off x="5428775" y="3795068"/>
            <a:ext cx="101462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QKᵀ ÷ √2</a:t>
            </a:r>
            <a:endParaRPr lang="en-US" sz="1680" dirty="0"/>
          </a:p>
        </p:txBody>
      </p:sp>
      <p:sp>
        <p:nvSpPr>
          <p:cNvPr id="28" name="Text 26"/>
          <p:cNvSpPr txBox="1"/>
          <p:nvPr/>
        </p:nvSpPr>
        <p:spPr>
          <a:xfrm>
            <a:off x="4449330" y="2960218"/>
            <a:ext cx="867967"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Q and K</a:t>
            </a:r>
            <a:endParaRPr lang="en-US" sz="1587" dirty="0"/>
          </a:p>
        </p:txBody>
      </p:sp>
      <p:sp>
        <p:nvSpPr>
          <p:cNvPr id="29" name="Text 27"/>
          <p:cNvSpPr txBox="1"/>
          <p:nvPr/>
        </p:nvSpPr>
        <p:spPr>
          <a:xfrm>
            <a:off x="7348834" y="3547577"/>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Mask then</a:t>
            </a:r>
            <a:endParaRPr lang="en-US" sz="1680" dirty="0"/>
          </a:p>
        </p:txBody>
      </p:sp>
      <p:sp>
        <p:nvSpPr>
          <p:cNvPr id="30" name="Text 28"/>
          <p:cNvSpPr txBox="1"/>
          <p:nvPr/>
        </p:nvSpPr>
        <p:spPr>
          <a:xfrm>
            <a:off x="7348834" y="3795068"/>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row softmax</a:t>
            </a:r>
            <a:endParaRPr lang="en-US" sz="1680" dirty="0"/>
          </a:p>
        </p:txBody>
      </p:sp>
      <p:sp>
        <p:nvSpPr>
          <p:cNvPr id="31" name="Text 29"/>
          <p:cNvSpPr txBox="1"/>
          <p:nvPr/>
        </p:nvSpPr>
        <p:spPr>
          <a:xfrm>
            <a:off x="6364973" y="2960218"/>
            <a:ext cx="1247780"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3 × 3 scores</a:t>
            </a:r>
            <a:endParaRPr lang="en-US" sz="1587" dirty="0"/>
          </a:p>
        </p:txBody>
      </p:sp>
      <p:sp>
        <p:nvSpPr>
          <p:cNvPr id="32" name="Text 30"/>
          <p:cNvSpPr txBox="1"/>
          <p:nvPr/>
        </p:nvSpPr>
        <p:spPr>
          <a:xfrm>
            <a:off x="9469634" y="3547577"/>
            <a:ext cx="135510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Weights × V</a:t>
            </a:r>
            <a:endParaRPr lang="en-US" sz="1680" dirty="0"/>
          </a:p>
        </p:txBody>
      </p:sp>
      <p:sp>
        <p:nvSpPr>
          <p:cNvPr id="33" name="Text 31"/>
          <p:cNvSpPr txBox="1"/>
          <p:nvPr/>
        </p:nvSpPr>
        <p:spPr>
          <a:xfrm>
            <a:off x="9469634" y="3795068"/>
            <a:ext cx="135510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3 × 2</a:t>
            </a:r>
            <a:endParaRPr lang="en-US" sz="1680" dirty="0"/>
          </a:p>
        </p:txBody>
      </p:sp>
      <p:sp>
        <p:nvSpPr>
          <p:cNvPr id="34" name="Text 32"/>
          <p:cNvSpPr txBox="1"/>
          <p:nvPr/>
        </p:nvSpPr>
        <p:spPr>
          <a:xfrm>
            <a:off x="8426358" y="2960218"/>
            <a:ext cx="1336109"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3 × 3 weights</a:t>
            </a:r>
            <a:endParaRPr lang="en-US" sz="1587" dirty="0"/>
          </a:p>
        </p:txBody>
      </p:sp>
      <p:sp>
        <p:nvSpPr>
          <p:cNvPr id="35" name="Text 33"/>
          <p:cNvSpPr txBox="1"/>
          <p:nvPr/>
        </p:nvSpPr>
        <p:spPr>
          <a:xfrm>
            <a:off x="4857302" y="4982938"/>
            <a:ext cx="4115651" cy="247491"/>
          </a:xfrm>
          <a:prstGeom prst="rect">
            <a:avLst/>
          </a:prstGeom>
          <a:solidFill>
            <a:srgbClr val="FFFFFF"/>
          </a:solidFill>
          <a:ln/>
        </p:spPr>
        <p:txBody>
          <a:bodyPr wrap="square" lIns="0" tIns="0" rIns="0" bIns="0" rtlCol="0" anchor="ctr"/>
          <a:lstStyle/>
          <a:p>
            <a:pPr algn="ctr" indent="0" marL="0">
              <a:lnSpc>
                <a:spcPct val="116000"/>
              </a:lnSpc>
              <a:buNone/>
            </a:pPr>
            <a:r>
              <a:rPr lang="en-US" sz="1680" dirty="0">
                <a:solidFill>
                  <a:srgbClr val="1F2937"/>
                </a:solidFill>
                <a:latin typeface="Arial" pitchFamily="34" charset="0"/>
                <a:ea typeface="Arial" pitchFamily="34" charset="-122"/>
                <a:cs typeface="Arial" pitchFamily="34" charset="-120"/>
              </a:rPr>
              <a:t>V: the information to pass onward (3 × 2)</a:t>
            </a:r>
            <a:endParaRPr lang="en-US" sz="1680" dirty="0"/>
          </a:p>
        </p:txBody>
      </p:sp>
      <p:sp>
        <p:nvSpPr>
          <p:cNvPr id="36" name="Text 34"/>
          <p:cNvSpPr txBox="1"/>
          <p:nvPr/>
        </p:nvSpPr>
        <p:spPr>
          <a:xfrm>
            <a:off x="852456" y="2202735"/>
            <a:ext cx="6789654" cy="288739"/>
          </a:xfrm>
          <a:prstGeom prst="rect">
            <a:avLst/>
          </a:prstGeom>
          <a:noFill/>
          <a:ln/>
        </p:spPr>
        <p:txBody>
          <a:bodyPr wrap="square" lIns="0" tIns="0" rIns="0" bIns="0" rtlCol="0" anchor="ctr"/>
          <a:lstStyle/>
          <a:p>
            <a:pPr algn="l" indent="0" marL="0">
              <a:lnSpc>
                <a:spcPct val="116000"/>
              </a:lnSpc>
              <a:buNone/>
            </a:pPr>
            <a:r>
              <a:rPr lang="en-US" sz="1960" b="1" dirty="0">
                <a:solidFill>
                  <a:srgbClr val="1E1B4B"/>
                </a:solidFill>
                <a:latin typeface="Arial" pitchFamily="34" charset="0"/>
                <a:ea typeface="Arial" pitchFamily="34" charset="-122"/>
                <a:cs typeface="Arial" pitchFamily="34" charset="-120"/>
              </a:rPr>
              <a:t>Query matches keys; the resulting weights mix values.</a:t>
            </a:r>
            <a:endParaRPr lang="en-US" sz="1960" dirty="0"/>
          </a:p>
        </p:txBody>
      </p:sp>
      <p:sp>
        <p:nvSpPr>
          <p:cNvPr id="37" name="Text 35"/>
          <p:cNvSpPr txBox="1"/>
          <p:nvPr/>
        </p:nvSpPr>
        <p:spPr>
          <a:xfrm>
            <a:off x="1131011" y="5368000"/>
            <a:ext cx="1085290"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Input data</a:t>
            </a:r>
            <a:endParaRPr lang="en-US" sz="1680" dirty="0"/>
          </a:p>
        </p:txBody>
      </p:sp>
      <p:sp>
        <p:nvSpPr>
          <p:cNvPr id="38" name="Text 36"/>
          <p:cNvSpPr txBox="1"/>
          <p:nvPr/>
        </p:nvSpPr>
        <p:spPr>
          <a:xfrm>
            <a:off x="3261139" y="5368000"/>
            <a:ext cx="705477"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Model</a:t>
            </a:r>
            <a:endParaRPr lang="en-US" sz="1680" dirty="0"/>
          </a:p>
        </p:txBody>
      </p:sp>
      <p:sp>
        <p:nvSpPr>
          <p:cNvPr id="39" name="Text 37"/>
          <p:cNvSpPr txBox="1"/>
          <p:nvPr/>
        </p:nvSpPr>
        <p:spPr>
          <a:xfrm>
            <a:off x="5391267" y="5368000"/>
            <a:ext cx="758474"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Output</a:t>
            </a:r>
            <a:endParaRPr lang="en-US" sz="16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Worked example: three tokens, dₖ = 2</a:t>
            </a:r>
            <a:endParaRPr lang="en-US" sz="3200" dirty="0"/>
          </a:p>
        </p:txBody>
      </p:sp>
      <p:pic>
        <p:nvPicPr>
          <p:cNvPr id="6" name="Image 0" descr="C:\Users\sudee\Downloads\Generative_AI_2027_Teaching_Pack\AI2027_Project\build\figures\week_05\attn_worked.png">    </p:cNvPr>
          <p:cNvPicPr>
            <a:picLocks noChangeAspect="1"/>
          </p:cNvPicPr>
          <p:nvPr/>
        </p:nvPicPr>
        <p:blipFill>
          <a:blip r:embed="rId1"/>
          <a:stretch>
            <a:fillRect/>
          </a:stretch>
        </p:blipFill>
        <p:spPr>
          <a:xfrm>
            <a:off x="548640" y="1930560"/>
            <a:ext cx="11094415" cy="392956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Scaled dot-product attention</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c523ccbcddb550f3.png">    </p:cNvPr>
          <p:cNvPicPr>
            <a:picLocks noChangeAspect="1"/>
          </p:cNvPicPr>
          <p:nvPr/>
        </p:nvPicPr>
        <p:blipFill>
          <a:blip r:embed="rId1"/>
          <a:stretch>
            <a:fillRect/>
          </a:stretch>
        </p:blipFill>
        <p:spPr>
          <a:xfrm>
            <a:off x="3590392" y="1722120"/>
            <a:ext cx="5010912" cy="844296"/>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Compare; scale; make row weights; mix values.</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Q / K / V</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query / key / value tables</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T</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transpose: swap axes</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dₖ</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numbers per query/key</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Why scale the scores?</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Why divide a dot product by √(dₖ)?</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To make every attention weight equal</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To remove scores for future tokens</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To prevent overly extreme softmax weights</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To reduce the size of the vocabulary</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Multi-head attention: several views at once</a:t>
            </a:r>
            <a:endParaRPr lang="en-US" sz="3200" dirty="0"/>
          </a:p>
        </p:txBody>
      </p:sp>
      <p:sp>
        <p:nvSpPr>
          <p:cNvPr id="6" name="Shape 4"/>
          <p:cNvSpPr/>
          <p:nvPr/>
        </p:nvSpPr>
        <p:spPr>
          <a:xfrm>
            <a:off x="2564751" y="3795068"/>
            <a:ext cx="426026" cy="0"/>
          </a:xfrm>
          <a:prstGeom prst="line">
            <a:avLst/>
          </a:prstGeom>
          <a:noFill/>
          <a:ln w="22860">
            <a:solidFill>
              <a:srgbClr val="009E73"/>
            </a:solidFill>
            <a:prstDash val="solid"/>
            <a:tailEnd type="triangle"/>
          </a:ln>
        </p:spPr>
      </p:sp>
      <p:sp>
        <p:nvSpPr>
          <p:cNvPr id="7" name="Shape 5"/>
          <p:cNvSpPr/>
          <p:nvPr/>
        </p:nvSpPr>
        <p:spPr>
          <a:xfrm>
            <a:off x="4670301" y="3795068"/>
            <a:ext cx="426026" cy="0"/>
          </a:xfrm>
          <a:prstGeom prst="line">
            <a:avLst/>
          </a:prstGeom>
          <a:noFill/>
          <a:ln w="22860">
            <a:solidFill>
              <a:srgbClr val="009E73"/>
            </a:solidFill>
            <a:prstDash val="solid"/>
            <a:tailEnd type="triangle"/>
          </a:ln>
        </p:spPr>
      </p:sp>
      <p:sp>
        <p:nvSpPr>
          <p:cNvPr id="8" name="Shape 6"/>
          <p:cNvSpPr/>
          <p:nvPr/>
        </p:nvSpPr>
        <p:spPr>
          <a:xfrm>
            <a:off x="6775850" y="3795068"/>
            <a:ext cx="426026" cy="0"/>
          </a:xfrm>
          <a:prstGeom prst="line">
            <a:avLst/>
          </a:prstGeom>
          <a:noFill/>
          <a:ln w="22860">
            <a:solidFill>
              <a:srgbClr val="009E73"/>
            </a:solidFill>
            <a:prstDash val="solid"/>
            <a:tailEnd type="triangle"/>
          </a:ln>
        </p:spPr>
      </p:sp>
      <p:sp>
        <p:nvSpPr>
          <p:cNvPr id="9" name="Shape 7"/>
          <p:cNvSpPr/>
          <p:nvPr/>
        </p:nvSpPr>
        <p:spPr>
          <a:xfrm>
            <a:off x="8881399" y="3795068"/>
            <a:ext cx="426026" cy="0"/>
          </a:xfrm>
          <a:prstGeom prst="line">
            <a:avLst/>
          </a:prstGeom>
          <a:noFill/>
          <a:ln w="22860">
            <a:solidFill>
              <a:srgbClr val="009E73"/>
            </a:solidFill>
            <a:prstDash val="solid"/>
            <a:tailEnd type="triangle"/>
          </a:ln>
        </p:spPr>
      </p:sp>
      <p:sp>
        <p:nvSpPr>
          <p:cNvPr id="10" name="Shape 8"/>
          <p:cNvSpPr/>
          <p:nvPr/>
        </p:nvSpPr>
        <p:spPr>
          <a:xfrm>
            <a:off x="885227" y="3293685"/>
            <a:ext cx="1679524" cy="1002764"/>
          </a:xfrm>
          <a:prstGeom prst="roundRect">
            <a:avLst>
              <a:gd name="adj" fmla="val 7295"/>
            </a:avLst>
          </a:prstGeom>
          <a:solidFill>
            <a:srgbClr val="E4F2FB"/>
          </a:solidFill>
          <a:ln w="15240">
            <a:solidFill>
              <a:srgbClr val="0072B2"/>
            </a:solidFill>
            <a:prstDash val="solid"/>
          </a:ln>
        </p:spPr>
      </p:sp>
      <p:sp>
        <p:nvSpPr>
          <p:cNvPr id="11" name="Shape 9"/>
          <p:cNvSpPr/>
          <p:nvPr/>
        </p:nvSpPr>
        <p:spPr>
          <a:xfrm>
            <a:off x="2990777" y="3293685"/>
            <a:ext cx="1679524" cy="1002764"/>
          </a:xfrm>
          <a:prstGeom prst="rect">
            <a:avLst/>
          </a:prstGeom>
          <a:solidFill>
            <a:srgbClr val="E5F7EF"/>
          </a:solidFill>
          <a:ln w="15240">
            <a:solidFill>
              <a:srgbClr val="009E73"/>
            </a:solidFill>
            <a:prstDash val="solid"/>
          </a:ln>
        </p:spPr>
      </p:sp>
      <p:sp>
        <p:nvSpPr>
          <p:cNvPr id="12" name="Shape 10"/>
          <p:cNvSpPr/>
          <p:nvPr/>
        </p:nvSpPr>
        <p:spPr>
          <a:xfrm>
            <a:off x="5096326" y="3293685"/>
            <a:ext cx="1679524" cy="1002764"/>
          </a:xfrm>
          <a:prstGeom prst="rect">
            <a:avLst/>
          </a:prstGeom>
          <a:solidFill>
            <a:srgbClr val="E5F7EF"/>
          </a:solidFill>
          <a:ln w="15240">
            <a:solidFill>
              <a:srgbClr val="009E73"/>
            </a:solidFill>
            <a:prstDash val="solid"/>
          </a:ln>
        </p:spPr>
      </p:sp>
      <p:sp>
        <p:nvSpPr>
          <p:cNvPr id="13" name="Shape 11"/>
          <p:cNvSpPr/>
          <p:nvPr/>
        </p:nvSpPr>
        <p:spPr>
          <a:xfrm>
            <a:off x="7201875" y="3293685"/>
            <a:ext cx="1679524" cy="1002764"/>
          </a:xfrm>
          <a:prstGeom prst="rect">
            <a:avLst/>
          </a:prstGeom>
          <a:solidFill>
            <a:srgbClr val="E5F7EF"/>
          </a:solidFill>
          <a:ln w="15240">
            <a:solidFill>
              <a:srgbClr val="009E73"/>
            </a:solidFill>
            <a:prstDash val="solid"/>
          </a:ln>
        </p:spPr>
      </p:sp>
      <p:sp>
        <p:nvSpPr>
          <p:cNvPr id="14" name="Shape 12"/>
          <p:cNvSpPr/>
          <p:nvPr/>
        </p:nvSpPr>
        <p:spPr>
          <a:xfrm>
            <a:off x="9307425" y="3293685"/>
            <a:ext cx="1679524" cy="1002764"/>
          </a:xfrm>
          <a:prstGeom prst="roundRect">
            <a:avLst>
              <a:gd name="adj" fmla="val 7295"/>
            </a:avLst>
          </a:prstGeom>
          <a:solidFill>
            <a:srgbClr val="F9EAF4"/>
          </a:solidFill>
          <a:ln w="15240">
            <a:solidFill>
              <a:srgbClr val="CC79A7"/>
            </a:solidFill>
            <a:prstDash val="solid"/>
          </a:ln>
        </p:spPr>
      </p:sp>
      <p:sp>
        <p:nvSpPr>
          <p:cNvPr id="15" name="Shape 13"/>
          <p:cNvSpPr/>
          <p:nvPr/>
        </p:nvSpPr>
        <p:spPr>
          <a:xfrm>
            <a:off x="852456" y="5363391"/>
            <a:ext cx="180242" cy="176487"/>
          </a:xfrm>
          <a:prstGeom prst="roundRect">
            <a:avLst>
              <a:gd name="adj" fmla="val 41449"/>
            </a:avLst>
          </a:prstGeom>
          <a:solidFill>
            <a:srgbClr val="E4F2FB"/>
          </a:solidFill>
          <a:ln w="15240">
            <a:solidFill>
              <a:srgbClr val="0072B2"/>
            </a:solidFill>
            <a:prstDash val="solid"/>
          </a:ln>
        </p:spPr>
      </p:sp>
      <p:sp>
        <p:nvSpPr>
          <p:cNvPr id="16" name="Shape 14"/>
          <p:cNvSpPr/>
          <p:nvPr/>
        </p:nvSpPr>
        <p:spPr>
          <a:xfrm>
            <a:off x="2982584" y="5363391"/>
            <a:ext cx="180242" cy="176487"/>
          </a:xfrm>
          <a:prstGeom prst="rect">
            <a:avLst/>
          </a:prstGeom>
          <a:solidFill>
            <a:srgbClr val="E5F7EF"/>
          </a:solidFill>
          <a:ln w="15240">
            <a:solidFill>
              <a:srgbClr val="009E73"/>
            </a:solidFill>
            <a:prstDash val="solid"/>
          </a:ln>
        </p:spPr>
      </p:sp>
      <p:sp>
        <p:nvSpPr>
          <p:cNvPr id="17" name="Shape 15"/>
          <p:cNvSpPr/>
          <p:nvPr/>
        </p:nvSpPr>
        <p:spPr>
          <a:xfrm>
            <a:off x="5112712" y="5363391"/>
            <a:ext cx="180242" cy="176487"/>
          </a:xfrm>
          <a:prstGeom prst="roundRect">
            <a:avLst>
              <a:gd name="adj" fmla="val 41449"/>
            </a:avLst>
          </a:prstGeom>
          <a:solidFill>
            <a:srgbClr val="F9EAF4"/>
          </a:solidFill>
          <a:ln w="15240">
            <a:solidFill>
              <a:srgbClr val="CC79A7"/>
            </a:solidFill>
            <a:prstDash val="solid"/>
          </a:ln>
        </p:spPr>
      </p:sp>
      <p:sp>
        <p:nvSpPr>
          <p:cNvPr id="18" name="Text 16"/>
          <p:cNvSpPr txBox="1"/>
          <p:nvPr/>
        </p:nvSpPr>
        <p:spPr>
          <a:xfrm>
            <a:off x="1306005" y="3547577"/>
            <a:ext cx="83797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Input X</a:t>
            </a:r>
            <a:endParaRPr lang="en-US" sz="1680" dirty="0"/>
          </a:p>
        </p:txBody>
      </p:sp>
      <p:sp>
        <p:nvSpPr>
          <p:cNvPr id="19" name="Text 17"/>
          <p:cNvSpPr txBox="1"/>
          <p:nvPr/>
        </p:nvSpPr>
        <p:spPr>
          <a:xfrm>
            <a:off x="1306005" y="3795068"/>
            <a:ext cx="83797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 × d</a:t>
            </a:r>
            <a:endParaRPr lang="en-US" sz="1680" dirty="0"/>
          </a:p>
        </p:txBody>
      </p:sp>
      <p:sp>
        <p:nvSpPr>
          <p:cNvPr id="20" name="Text 18"/>
          <p:cNvSpPr txBox="1"/>
          <p:nvPr/>
        </p:nvSpPr>
        <p:spPr>
          <a:xfrm>
            <a:off x="3062656" y="3547577"/>
            <a:ext cx="153576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Split h heads</a:t>
            </a:r>
            <a:endParaRPr lang="en-US" sz="1680" dirty="0"/>
          </a:p>
        </p:txBody>
      </p:sp>
      <p:sp>
        <p:nvSpPr>
          <p:cNvPr id="21" name="Text 19"/>
          <p:cNvSpPr txBox="1"/>
          <p:nvPr/>
        </p:nvSpPr>
        <p:spPr>
          <a:xfrm>
            <a:off x="3062656" y="3795068"/>
            <a:ext cx="153576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each d/h wide</a:t>
            </a:r>
            <a:endParaRPr lang="en-US" sz="1680" dirty="0"/>
          </a:p>
        </p:txBody>
      </p:sp>
      <p:sp>
        <p:nvSpPr>
          <p:cNvPr id="22" name="Text 20"/>
          <p:cNvSpPr txBox="1"/>
          <p:nvPr/>
        </p:nvSpPr>
        <p:spPr>
          <a:xfrm>
            <a:off x="2392361" y="2960218"/>
            <a:ext cx="770806"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vectors</a:t>
            </a:r>
            <a:endParaRPr lang="en-US" sz="1587" dirty="0"/>
          </a:p>
        </p:txBody>
      </p:sp>
      <p:sp>
        <p:nvSpPr>
          <p:cNvPr id="23" name="Text 21"/>
          <p:cNvSpPr txBox="1"/>
          <p:nvPr/>
        </p:nvSpPr>
        <p:spPr>
          <a:xfrm>
            <a:off x="5185871" y="3547577"/>
            <a:ext cx="150043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Run attention</a:t>
            </a:r>
            <a:endParaRPr lang="en-US" sz="1680" dirty="0"/>
          </a:p>
        </p:txBody>
      </p:sp>
      <p:sp>
        <p:nvSpPr>
          <p:cNvPr id="24" name="Text 22"/>
          <p:cNvSpPr txBox="1"/>
          <p:nvPr/>
        </p:nvSpPr>
        <p:spPr>
          <a:xfrm>
            <a:off x="5185871" y="3795068"/>
            <a:ext cx="150043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in each head</a:t>
            </a:r>
            <a:endParaRPr lang="en-US" sz="1680" dirty="0"/>
          </a:p>
        </p:txBody>
      </p:sp>
      <p:sp>
        <p:nvSpPr>
          <p:cNvPr id="25" name="Text 23"/>
          <p:cNvSpPr txBox="1"/>
          <p:nvPr/>
        </p:nvSpPr>
        <p:spPr>
          <a:xfrm>
            <a:off x="4237341" y="2960218"/>
            <a:ext cx="1291945"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h Q/K/V sets</a:t>
            </a:r>
            <a:endParaRPr lang="en-US" sz="1587" dirty="0"/>
          </a:p>
        </p:txBody>
      </p:sp>
      <p:sp>
        <p:nvSpPr>
          <p:cNvPr id="26" name="Text 24"/>
          <p:cNvSpPr txBox="1"/>
          <p:nvPr/>
        </p:nvSpPr>
        <p:spPr>
          <a:xfrm>
            <a:off x="7340001" y="3547577"/>
            <a:ext cx="140327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Join outputs</a:t>
            </a:r>
            <a:endParaRPr lang="en-US" sz="1680" dirty="0"/>
          </a:p>
        </p:txBody>
      </p:sp>
      <p:sp>
        <p:nvSpPr>
          <p:cNvPr id="27" name="Text 25"/>
          <p:cNvSpPr txBox="1"/>
          <p:nvPr/>
        </p:nvSpPr>
        <p:spPr>
          <a:xfrm>
            <a:off x="7340001" y="3795068"/>
            <a:ext cx="140327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 × d</a:t>
            </a:r>
            <a:endParaRPr lang="en-US" sz="1680" dirty="0"/>
          </a:p>
        </p:txBody>
      </p:sp>
      <p:sp>
        <p:nvSpPr>
          <p:cNvPr id="28" name="Text 26"/>
          <p:cNvSpPr txBox="1"/>
          <p:nvPr/>
        </p:nvSpPr>
        <p:spPr>
          <a:xfrm>
            <a:off x="6510715" y="2960218"/>
            <a:ext cx="956296"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h outputs</a:t>
            </a:r>
            <a:endParaRPr lang="en-US" sz="1587" dirty="0"/>
          </a:p>
        </p:txBody>
      </p:sp>
      <p:sp>
        <p:nvSpPr>
          <p:cNvPr id="29" name="Text 27"/>
          <p:cNvSpPr txBox="1"/>
          <p:nvPr/>
        </p:nvSpPr>
        <p:spPr>
          <a:xfrm>
            <a:off x="9401386" y="3547577"/>
            <a:ext cx="1491601"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Project with</a:t>
            </a:r>
            <a:endParaRPr lang="en-US" sz="1680" dirty="0"/>
          </a:p>
        </p:txBody>
      </p:sp>
      <p:sp>
        <p:nvSpPr>
          <p:cNvPr id="30" name="Text 28"/>
          <p:cNvSpPr txBox="1"/>
          <p:nvPr/>
        </p:nvSpPr>
        <p:spPr>
          <a:xfrm>
            <a:off x="9401386" y="3795068"/>
            <a:ext cx="1491601"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output matrix</a:t>
            </a:r>
            <a:endParaRPr lang="en-US" sz="1680" dirty="0"/>
          </a:p>
        </p:txBody>
      </p:sp>
      <p:sp>
        <p:nvSpPr>
          <p:cNvPr id="31" name="Text 29"/>
          <p:cNvSpPr txBox="1"/>
          <p:nvPr/>
        </p:nvSpPr>
        <p:spPr>
          <a:xfrm>
            <a:off x="8364527" y="2960218"/>
            <a:ext cx="1459769"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joined features</a:t>
            </a:r>
            <a:endParaRPr lang="en-US" sz="1587" dirty="0"/>
          </a:p>
        </p:txBody>
      </p:sp>
      <p:sp>
        <p:nvSpPr>
          <p:cNvPr id="32" name="Text 30"/>
          <p:cNvSpPr txBox="1"/>
          <p:nvPr/>
        </p:nvSpPr>
        <p:spPr>
          <a:xfrm>
            <a:off x="852456" y="2202735"/>
            <a:ext cx="6665994" cy="288739"/>
          </a:xfrm>
          <a:prstGeom prst="rect">
            <a:avLst/>
          </a:prstGeom>
          <a:noFill/>
          <a:ln/>
        </p:spPr>
        <p:txBody>
          <a:bodyPr wrap="square" lIns="0" tIns="0" rIns="0" bIns="0" rtlCol="0" anchor="ctr"/>
          <a:lstStyle/>
          <a:p>
            <a:pPr algn="l" indent="0" marL="0">
              <a:lnSpc>
                <a:spcPct val="116000"/>
              </a:lnSpc>
              <a:buNone/>
            </a:pPr>
            <a:r>
              <a:rPr lang="en-US" sz="1960" b="1" dirty="0">
                <a:solidFill>
                  <a:srgbClr val="1E1B4B"/>
                </a:solidFill>
                <a:latin typeface="Arial" pitchFamily="34" charset="0"/>
                <a:ea typeface="Arial" pitchFamily="34" charset="-122"/>
                <a:cs typeface="Arial" pitchFamily="34" charset="-120"/>
              </a:rPr>
              <a:t>Several learned views, then one joined representation</a:t>
            </a:r>
            <a:endParaRPr lang="en-US" sz="1960" dirty="0"/>
          </a:p>
        </p:txBody>
      </p:sp>
      <p:sp>
        <p:nvSpPr>
          <p:cNvPr id="33" name="Text 31"/>
          <p:cNvSpPr txBox="1"/>
          <p:nvPr/>
        </p:nvSpPr>
        <p:spPr>
          <a:xfrm>
            <a:off x="934384" y="4690728"/>
            <a:ext cx="8545055"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Example: d = 12 and h = 3 gives 4 features per head. The joined output has 12 again.</a:t>
            </a:r>
            <a:endParaRPr lang="en-US" sz="1680" dirty="0"/>
          </a:p>
        </p:txBody>
      </p:sp>
      <p:sp>
        <p:nvSpPr>
          <p:cNvPr id="34" name="Text 32"/>
          <p:cNvSpPr txBox="1"/>
          <p:nvPr/>
        </p:nvSpPr>
        <p:spPr>
          <a:xfrm>
            <a:off x="1131011" y="5327889"/>
            <a:ext cx="1085290"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Input data</a:t>
            </a:r>
            <a:endParaRPr lang="en-US" sz="1680" dirty="0"/>
          </a:p>
        </p:txBody>
      </p:sp>
      <p:sp>
        <p:nvSpPr>
          <p:cNvPr id="35" name="Text 33"/>
          <p:cNvSpPr txBox="1"/>
          <p:nvPr/>
        </p:nvSpPr>
        <p:spPr>
          <a:xfrm>
            <a:off x="3261139" y="5327889"/>
            <a:ext cx="705477"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Model</a:t>
            </a:r>
            <a:endParaRPr lang="en-US" sz="1680" dirty="0"/>
          </a:p>
        </p:txBody>
      </p:sp>
      <p:sp>
        <p:nvSpPr>
          <p:cNvPr id="36" name="Text 34"/>
          <p:cNvSpPr txBox="1"/>
          <p:nvPr/>
        </p:nvSpPr>
        <p:spPr>
          <a:xfrm>
            <a:off x="5391267" y="5327889"/>
            <a:ext cx="758474"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Output</a:t>
            </a:r>
            <a:endParaRPr lang="en-US" sz="16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Multi-head attention, formally</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91d5130f14a026c8.png">    </p:cNvPr>
          <p:cNvPicPr>
            <a:picLocks noChangeAspect="1"/>
          </p:cNvPicPr>
          <p:nvPr/>
        </p:nvPicPr>
        <p:blipFill>
          <a:blip r:embed="rId1"/>
          <a:stretch>
            <a:fillRect/>
          </a:stretch>
        </p:blipFill>
        <p:spPr>
          <a:xfrm>
            <a:off x="3561436" y="1937512"/>
            <a:ext cx="5068824" cy="518160"/>
          </a:xfrm>
          <a:prstGeom prst="rect">
            <a:avLst/>
          </a:prstGeom>
        </p:spPr>
      </p:pic>
      <p:pic>
        <p:nvPicPr>
          <p:cNvPr id="8" name="Image 1" descr="C:\Users\sudee\Downloads\Generative_AI_2027_Teaching_Pack\AI2027_Project\build\eq\838ab61962350874.png">    </p:cNvPr>
          <p:cNvPicPr>
            <a:picLocks noChangeAspect="1"/>
          </p:cNvPicPr>
          <p:nvPr/>
        </p:nvPicPr>
        <p:blipFill>
          <a:blip r:embed="rId2"/>
          <a:stretch>
            <a:fillRect/>
          </a:stretch>
        </p:blipFill>
        <p:spPr>
          <a:xfrm>
            <a:off x="3282544" y="2866136"/>
            <a:ext cx="5626608" cy="353568"/>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Run smaller heads; join outputs; mix features.</a:t>
            </a:r>
            <a:endParaRPr lang="en-US" sz="20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X</a:t>
            </a:r>
            <a:endParaRPr lang="en-US" sz="1700" dirty="0"/>
          </a:p>
        </p:txBody>
      </p:sp>
      <p:sp>
        <p:nvSpPr>
          <p:cNvPr id="13" name="Text 9"/>
          <p:cNvSpPr txBox="1"/>
          <p:nvPr/>
        </p:nvSpPr>
        <p:spPr>
          <a:xfrm>
            <a:off x="8046720" y="4315968"/>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input vectors</a:t>
            </a:r>
            <a:endParaRPr lang="en-US" sz="1600" dirty="0"/>
          </a:p>
        </p:txBody>
      </p:sp>
      <p:sp>
        <p:nvSpPr>
          <p:cNvPr id="14" name="Text 10"/>
          <p:cNvSpPr txBox="1"/>
          <p:nvPr/>
        </p:nvSpPr>
        <p:spPr>
          <a:xfrm>
            <a:off x="6858000" y="4980432"/>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i / h</a:t>
            </a:r>
            <a:endParaRPr lang="en-US" sz="1700" dirty="0"/>
          </a:p>
        </p:txBody>
      </p:sp>
      <p:sp>
        <p:nvSpPr>
          <p:cNvPr id="15" name="Text 11"/>
          <p:cNvSpPr txBox="1"/>
          <p:nvPr/>
        </p:nvSpPr>
        <p:spPr>
          <a:xfrm>
            <a:off x="8046720" y="4980432"/>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head index / count</a:t>
            </a:r>
            <a:endParaRPr lang="en-US" sz="1600" dirty="0"/>
          </a:p>
        </p:txBody>
      </p:sp>
      <p:sp>
        <p:nvSpPr>
          <p:cNvPr id="16" name="Text 12"/>
          <p:cNvSpPr txBox="1"/>
          <p:nvPr/>
        </p:nvSpPr>
        <p:spPr>
          <a:xfrm>
            <a:off x="6858000" y="5644896"/>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W</a:t>
            </a:r>
            <a:endParaRPr lang="en-US" sz="1700" dirty="0"/>
          </a:p>
        </p:txBody>
      </p:sp>
      <p:sp>
        <p:nvSpPr>
          <p:cNvPr id="17" name="Text 13"/>
          <p:cNvSpPr txBox="1"/>
          <p:nvPr/>
        </p:nvSpPr>
        <p:spPr>
          <a:xfrm>
            <a:off x="8046720" y="5644896"/>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learned projection; subscript names its role</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Causal masking: no peeking at the future</a:t>
            </a:r>
            <a:endParaRPr lang="en-US" sz="3200" dirty="0"/>
          </a:p>
        </p:txBody>
      </p:sp>
      <p:pic>
        <p:nvPicPr>
          <p:cNvPr id="6" name="Image 0" descr="C:\Users\sudee\Downloads\Generative_AI_2027_Teaching_Pack\AI2027_Project\build\figures\week_05\causal_mask.png">    </p:cNvPr>
          <p:cNvPicPr>
            <a:picLocks noChangeAspect="1"/>
          </p:cNvPicPr>
          <p:nvPr/>
        </p:nvPicPr>
        <p:blipFill>
          <a:blip r:embed="rId1"/>
          <a:stretch>
            <a:fillRect/>
          </a:stretch>
        </p:blipFill>
        <p:spPr>
          <a:xfrm>
            <a:off x="548640" y="1985954"/>
            <a:ext cx="11094415" cy="381878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Self-attention vs. cross-attention</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Self-attention</a:t>
            </a:r>
            <a:endParaRPr lang="en-US" sz="1800" dirty="0"/>
          </a:p>
        </p:txBody>
      </p:sp>
      <p:sp>
        <p:nvSpPr>
          <p:cNvPr id="9" name="Shape 6"/>
          <p:cNvSpPr/>
          <p:nvPr/>
        </p:nvSpPr>
        <p:spPr>
          <a:xfrm>
            <a:off x="548640" y="2167128"/>
            <a:ext cx="5410048" cy="4142232"/>
          </a:xfrm>
          <a:prstGeom prst="roundRect">
            <a:avLst>
              <a:gd name="adj" fmla="val 2208"/>
            </a:avLst>
          </a:prstGeom>
          <a:solidFill>
            <a:srgbClr val="EEF0FF"/>
          </a:solidFill>
          <a:ln w="12700">
            <a:solidFill>
              <a:srgbClr val="EEF0FF"/>
            </a:solidFill>
            <a:prstDash val="solid"/>
          </a:ln>
        </p:spPr>
      </p:sp>
      <p:sp>
        <p:nvSpPr>
          <p:cNvPr id="10" name="Text 7"/>
          <p:cNvSpPr txBox="1"/>
          <p:nvPr/>
        </p:nvSpPr>
        <p:spPr>
          <a:xfrm>
            <a:off x="658368"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Queries, keys and values come from the same sequence</a:t>
            </a:r>
            <a:endParaRPr lang="en-US" sz="2300" dirty="0"/>
          </a:p>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Each word gathers context from its own sentence</a:t>
            </a:r>
            <a:endParaRPr lang="en-US" sz="2300" dirty="0"/>
          </a:p>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Example: "it" reads "animal" in the same sentence</a:t>
            </a:r>
            <a:endParaRPr lang="en-US" sz="2300" dirty="0"/>
          </a:p>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Used in every encoder and decoder block</a:t>
            </a:r>
            <a:endParaRPr lang="en-US" sz="23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Cross-attention</a:t>
            </a:r>
            <a:endParaRPr lang="en-US" sz="1800" dirty="0"/>
          </a:p>
        </p:txBody>
      </p:sp>
      <p:sp>
        <p:nvSpPr>
          <p:cNvPr id="14" name="Shape 10"/>
          <p:cNvSpPr/>
          <p:nvPr/>
        </p:nvSpPr>
        <p:spPr>
          <a:xfrm>
            <a:off x="6233008" y="2167128"/>
            <a:ext cx="5410048" cy="4142232"/>
          </a:xfrm>
          <a:prstGeom prst="roundRect">
            <a:avLst>
              <a:gd name="adj" fmla="val 2208"/>
            </a:avLst>
          </a:prstGeom>
          <a:solidFill>
            <a:srgbClr val="E6F4F1"/>
          </a:solidFill>
          <a:ln w="12700">
            <a:solidFill>
              <a:srgbClr val="E6F4F1"/>
            </a:solidFill>
            <a:prstDash val="solid"/>
          </a:ln>
        </p:spPr>
      </p:sp>
      <p:sp>
        <p:nvSpPr>
          <p:cNvPr id="15" name="Text 11"/>
          <p:cNvSpPr txBox="1"/>
          <p:nvPr/>
        </p:nvSpPr>
        <p:spPr>
          <a:xfrm>
            <a:off x="6342736"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Queries come from one sequence; keys and values from another</a:t>
            </a:r>
            <a:endParaRPr lang="en-US" sz="2300" dirty="0"/>
          </a:p>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The output side reads the input side</a:t>
            </a:r>
            <a:endParaRPr lang="en-US" sz="2300" dirty="0"/>
          </a:p>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Example: while writing French, the decoder reads the English source</a:t>
            </a:r>
            <a:endParaRPr lang="en-US" sz="2300" dirty="0"/>
          </a:p>
          <a:p>
            <a:pPr marL="254000" indent="-254000">
              <a:spcAft>
                <a:spcPts val="800"/>
              </a:spcAft>
              <a:buSzPct val="100000"/>
              <a:buChar char="●"/>
            </a:pPr>
            <a:r>
              <a:rPr lang="en-US" sz="2300" dirty="0">
                <a:solidFill>
                  <a:srgbClr val="1F2937"/>
                </a:solidFill>
                <a:latin typeface="Calibri" pitchFamily="34" charset="0"/>
                <a:ea typeface="Calibri" pitchFamily="34" charset="-122"/>
                <a:cs typeface="Calibri" pitchFamily="34" charset="-120"/>
              </a:rPr>
              <a:t>Stable Diffusion's image features read the prompt this way (week 4)</a:t>
            </a:r>
            <a:endParaRPr lang="en-US" sz="2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real BERT head: inspecting 'it'</a:t>
            </a:r>
            <a:endParaRPr lang="en-US" sz="3200" dirty="0"/>
          </a:p>
        </p:txBody>
      </p:sp>
      <p:pic>
        <p:nvPicPr>
          <p:cNvPr id="6" name="Image 0" descr="C:\Users\sudee\Downloads\Generative_AI_2027_Teaching_Pack\AI2027_Project\build\figures\week_05\bert_summary.png">    </p:cNvPr>
          <p:cNvPicPr>
            <a:picLocks noChangeAspect="1"/>
          </p:cNvPicPr>
          <p:nvPr/>
        </p:nvPicPr>
        <p:blipFill>
          <a:blip r:embed="rId1"/>
          <a:stretch>
            <a:fillRect/>
          </a:stretch>
        </p:blipFill>
        <p:spPr>
          <a:xfrm>
            <a:off x="548640" y="2061652"/>
            <a:ext cx="11094415" cy="366738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Measured GPT-2 heads: no weight on later tokens</a:t>
            </a:r>
            <a:endParaRPr lang="en-US" sz="3200" dirty="0"/>
          </a:p>
        </p:txBody>
      </p:sp>
      <p:pic>
        <p:nvPicPr>
          <p:cNvPr id="6" name="Image 0" descr="C:\Users\sudee\Downloads\Generative_AI_2027_Teaching_Pack\AI2027_Project\build\figures\week_05\gpt2_causal_summary.png">    </p:cNvPr>
          <p:cNvPicPr>
            <a:picLocks noChangeAspect="1"/>
          </p:cNvPicPr>
          <p:nvPr/>
        </p:nvPicPr>
        <p:blipFill>
          <a:blip r:embed="rId1"/>
          <a:stretch>
            <a:fillRect/>
          </a:stretch>
        </p:blipFill>
        <p:spPr>
          <a:xfrm>
            <a:off x="1353062" y="1481328"/>
            <a:ext cx="9485572" cy="482803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Scaled scores [2, 0, 0]: which weights does softmax produce?</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[1.00, 0.00, 0.00]</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[0.67, 0.17, 0.17]</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[0.50, 0.25, 0.25]</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[0.79, 0.11, 0.11]</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The transformer architecture</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happens around the attention operation?</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Inside one transformer block</a:t>
            </a:r>
            <a:endParaRPr lang="en-US" sz="3200" dirty="0"/>
          </a:p>
        </p:txBody>
      </p:sp>
      <p:sp>
        <p:nvSpPr>
          <p:cNvPr id="6" name="Shape 4"/>
          <p:cNvSpPr/>
          <p:nvPr/>
        </p:nvSpPr>
        <p:spPr>
          <a:xfrm flipV="1">
            <a:off x="1708604" y="2772248"/>
            <a:ext cx="0" cy="401106"/>
          </a:xfrm>
          <a:prstGeom prst="line">
            <a:avLst/>
          </a:prstGeom>
          <a:noFill/>
          <a:ln w="22860">
            <a:solidFill>
              <a:srgbClr val="0072B2"/>
            </a:solidFill>
            <a:prstDash val="solid"/>
          </a:ln>
        </p:spPr>
      </p:sp>
      <p:sp>
        <p:nvSpPr>
          <p:cNvPr id="7" name="Shape 5"/>
          <p:cNvSpPr/>
          <p:nvPr/>
        </p:nvSpPr>
        <p:spPr>
          <a:xfrm>
            <a:off x="1708604" y="2772248"/>
            <a:ext cx="3961218" cy="0"/>
          </a:xfrm>
          <a:prstGeom prst="line">
            <a:avLst/>
          </a:prstGeom>
          <a:noFill/>
          <a:ln w="22860">
            <a:solidFill>
              <a:srgbClr val="0072B2"/>
            </a:solidFill>
            <a:prstDash val="solid"/>
          </a:ln>
        </p:spPr>
      </p:sp>
      <p:sp>
        <p:nvSpPr>
          <p:cNvPr id="8" name="Shape 6"/>
          <p:cNvSpPr/>
          <p:nvPr/>
        </p:nvSpPr>
        <p:spPr>
          <a:xfrm>
            <a:off x="5669822" y="3875289"/>
            <a:ext cx="0" cy="822267"/>
          </a:xfrm>
          <a:prstGeom prst="line">
            <a:avLst/>
          </a:prstGeom>
          <a:noFill/>
          <a:ln w="22860">
            <a:solidFill>
              <a:srgbClr val="0072B2"/>
            </a:solidFill>
            <a:prstDash val="solid"/>
          </a:ln>
        </p:spPr>
      </p:sp>
      <p:sp>
        <p:nvSpPr>
          <p:cNvPr id="9" name="Shape 7"/>
          <p:cNvSpPr/>
          <p:nvPr/>
        </p:nvSpPr>
        <p:spPr>
          <a:xfrm>
            <a:off x="5669822" y="4697556"/>
            <a:ext cx="3113264" cy="0"/>
          </a:xfrm>
          <a:prstGeom prst="line">
            <a:avLst/>
          </a:prstGeom>
          <a:noFill/>
          <a:ln w="22860">
            <a:solidFill>
              <a:srgbClr val="0072B2"/>
            </a:solidFill>
            <a:prstDash val="solid"/>
          </a:ln>
        </p:spPr>
      </p:sp>
      <p:sp>
        <p:nvSpPr>
          <p:cNvPr id="10" name="Shape 8"/>
          <p:cNvSpPr/>
          <p:nvPr/>
        </p:nvSpPr>
        <p:spPr>
          <a:xfrm>
            <a:off x="2548366" y="3714846"/>
            <a:ext cx="516146" cy="0"/>
          </a:xfrm>
          <a:prstGeom prst="line">
            <a:avLst/>
          </a:prstGeom>
          <a:noFill/>
          <a:ln w="22860">
            <a:solidFill>
              <a:srgbClr val="009E73"/>
            </a:solidFill>
            <a:prstDash val="solid"/>
            <a:tailEnd type="triangle"/>
          </a:ln>
        </p:spPr>
      </p:sp>
      <p:sp>
        <p:nvSpPr>
          <p:cNvPr id="11" name="Shape 9"/>
          <p:cNvSpPr/>
          <p:nvPr/>
        </p:nvSpPr>
        <p:spPr>
          <a:xfrm>
            <a:off x="5276568" y="3714846"/>
            <a:ext cx="229398" cy="0"/>
          </a:xfrm>
          <a:prstGeom prst="line">
            <a:avLst/>
          </a:prstGeom>
          <a:noFill/>
          <a:ln w="22860">
            <a:solidFill>
              <a:srgbClr val="009E73"/>
            </a:solidFill>
            <a:prstDash val="solid"/>
            <a:tailEnd type="triangle"/>
          </a:ln>
        </p:spPr>
      </p:sp>
      <p:sp>
        <p:nvSpPr>
          <p:cNvPr id="12" name="Shape 10"/>
          <p:cNvSpPr/>
          <p:nvPr/>
        </p:nvSpPr>
        <p:spPr>
          <a:xfrm>
            <a:off x="5833678" y="3714846"/>
            <a:ext cx="221206" cy="0"/>
          </a:xfrm>
          <a:prstGeom prst="line">
            <a:avLst/>
          </a:prstGeom>
          <a:noFill/>
          <a:ln w="22860">
            <a:solidFill>
              <a:srgbClr val="009E73"/>
            </a:solidFill>
            <a:prstDash val="solid"/>
            <a:tailEnd type="triangle"/>
          </a:ln>
        </p:spPr>
      </p:sp>
      <p:sp>
        <p:nvSpPr>
          <p:cNvPr id="13" name="Shape 11"/>
          <p:cNvSpPr/>
          <p:nvPr/>
        </p:nvSpPr>
        <p:spPr>
          <a:xfrm>
            <a:off x="8389831" y="3714846"/>
            <a:ext cx="229398" cy="0"/>
          </a:xfrm>
          <a:prstGeom prst="line">
            <a:avLst/>
          </a:prstGeom>
          <a:noFill/>
          <a:ln w="22860">
            <a:solidFill>
              <a:srgbClr val="009E73"/>
            </a:solidFill>
            <a:prstDash val="solid"/>
            <a:tailEnd type="triangle"/>
          </a:ln>
        </p:spPr>
      </p:sp>
      <p:sp>
        <p:nvSpPr>
          <p:cNvPr id="14" name="Shape 12"/>
          <p:cNvSpPr/>
          <p:nvPr/>
        </p:nvSpPr>
        <p:spPr>
          <a:xfrm>
            <a:off x="8946942" y="3714846"/>
            <a:ext cx="221206" cy="0"/>
          </a:xfrm>
          <a:prstGeom prst="line">
            <a:avLst/>
          </a:prstGeom>
          <a:noFill/>
          <a:ln w="22860">
            <a:solidFill>
              <a:srgbClr val="009E73"/>
            </a:solidFill>
            <a:prstDash val="solid"/>
            <a:tailEnd type="triangle"/>
          </a:ln>
        </p:spPr>
      </p:sp>
      <p:sp>
        <p:nvSpPr>
          <p:cNvPr id="15" name="Shape 13"/>
          <p:cNvSpPr/>
          <p:nvPr/>
        </p:nvSpPr>
        <p:spPr>
          <a:xfrm>
            <a:off x="5669822" y="2772248"/>
            <a:ext cx="0" cy="782156"/>
          </a:xfrm>
          <a:prstGeom prst="line">
            <a:avLst/>
          </a:prstGeom>
          <a:noFill/>
          <a:ln w="22860">
            <a:solidFill>
              <a:srgbClr val="0072B2"/>
            </a:solidFill>
            <a:prstDash val="solid"/>
            <a:tailEnd type="triangle"/>
          </a:ln>
        </p:spPr>
      </p:sp>
      <p:sp>
        <p:nvSpPr>
          <p:cNvPr id="16" name="Shape 14"/>
          <p:cNvSpPr/>
          <p:nvPr/>
        </p:nvSpPr>
        <p:spPr>
          <a:xfrm flipV="1">
            <a:off x="8783086" y="3875289"/>
            <a:ext cx="0" cy="822267"/>
          </a:xfrm>
          <a:prstGeom prst="line">
            <a:avLst/>
          </a:prstGeom>
          <a:noFill/>
          <a:ln w="22860">
            <a:solidFill>
              <a:srgbClr val="0072B2"/>
            </a:solidFill>
            <a:prstDash val="solid"/>
            <a:tailEnd type="triangle"/>
          </a:ln>
        </p:spPr>
      </p:sp>
      <p:sp>
        <p:nvSpPr>
          <p:cNvPr id="17" name="Shape 15"/>
          <p:cNvSpPr/>
          <p:nvPr/>
        </p:nvSpPr>
        <p:spPr>
          <a:xfrm>
            <a:off x="868842" y="3173354"/>
            <a:ext cx="1679524" cy="1082986"/>
          </a:xfrm>
          <a:prstGeom prst="roundRect">
            <a:avLst>
              <a:gd name="adj" fmla="val 6755"/>
            </a:avLst>
          </a:prstGeom>
          <a:solidFill>
            <a:srgbClr val="E4F2FB"/>
          </a:solidFill>
          <a:ln w="15240">
            <a:solidFill>
              <a:srgbClr val="0072B2"/>
            </a:solidFill>
            <a:prstDash val="solid"/>
          </a:ln>
        </p:spPr>
      </p:sp>
      <p:sp>
        <p:nvSpPr>
          <p:cNvPr id="18" name="Shape 16"/>
          <p:cNvSpPr/>
          <p:nvPr/>
        </p:nvSpPr>
        <p:spPr>
          <a:xfrm>
            <a:off x="3064512" y="3173354"/>
            <a:ext cx="2212056" cy="1082986"/>
          </a:xfrm>
          <a:prstGeom prst="rect">
            <a:avLst/>
          </a:prstGeom>
          <a:solidFill>
            <a:srgbClr val="E5F7EF"/>
          </a:solidFill>
          <a:ln w="15240">
            <a:solidFill>
              <a:srgbClr val="009E73"/>
            </a:solidFill>
            <a:prstDash val="solid"/>
          </a:ln>
        </p:spPr>
      </p:sp>
      <p:sp>
        <p:nvSpPr>
          <p:cNvPr id="19" name="Shape 17"/>
          <p:cNvSpPr/>
          <p:nvPr/>
        </p:nvSpPr>
        <p:spPr>
          <a:xfrm>
            <a:off x="6054884" y="3173354"/>
            <a:ext cx="2334948" cy="1082986"/>
          </a:xfrm>
          <a:prstGeom prst="rect">
            <a:avLst/>
          </a:prstGeom>
          <a:solidFill>
            <a:srgbClr val="E5F7EF"/>
          </a:solidFill>
          <a:ln w="15240">
            <a:solidFill>
              <a:srgbClr val="009E73"/>
            </a:solidFill>
            <a:prstDash val="solid"/>
          </a:ln>
        </p:spPr>
      </p:sp>
      <p:sp>
        <p:nvSpPr>
          <p:cNvPr id="20" name="Shape 18"/>
          <p:cNvSpPr/>
          <p:nvPr/>
        </p:nvSpPr>
        <p:spPr>
          <a:xfrm>
            <a:off x="9168147" y="3173354"/>
            <a:ext cx="2048200" cy="1082986"/>
          </a:xfrm>
          <a:prstGeom prst="roundRect">
            <a:avLst>
              <a:gd name="adj" fmla="val 6755"/>
            </a:avLst>
          </a:prstGeom>
          <a:solidFill>
            <a:srgbClr val="F9EAF4"/>
          </a:solidFill>
          <a:ln w="15240">
            <a:solidFill>
              <a:srgbClr val="CC79A7"/>
            </a:solidFill>
            <a:prstDash val="solid"/>
          </a:ln>
        </p:spPr>
      </p:sp>
      <p:sp>
        <p:nvSpPr>
          <p:cNvPr id="21" name="Shape 19"/>
          <p:cNvSpPr/>
          <p:nvPr/>
        </p:nvSpPr>
        <p:spPr>
          <a:xfrm>
            <a:off x="5505966" y="3554404"/>
            <a:ext cx="327712" cy="320885"/>
          </a:xfrm>
          <a:prstGeom prst="ellipse">
            <a:avLst/>
          </a:prstGeom>
          <a:solidFill>
            <a:srgbClr val="FFFFFF"/>
          </a:solidFill>
          <a:ln w="15240">
            <a:solidFill>
              <a:srgbClr val="009E73"/>
            </a:solidFill>
            <a:prstDash val="solid"/>
          </a:ln>
        </p:spPr>
      </p:sp>
      <p:sp>
        <p:nvSpPr>
          <p:cNvPr id="22" name="Shape 20"/>
          <p:cNvSpPr/>
          <p:nvPr/>
        </p:nvSpPr>
        <p:spPr>
          <a:xfrm>
            <a:off x="8619230" y="3554404"/>
            <a:ext cx="327712" cy="320885"/>
          </a:xfrm>
          <a:prstGeom prst="ellipse">
            <a:avLst/>
          </a:prstGeom>
          <a:solidFill>
            <a:srgbClr val="FFFFFF"/>
          </a:solidFill>
          <a:ln w="15240">
            <a:solidFill>
              <a:srgbClr val="009E73"/>
            </a:solidFill>
            <a:prstDash val="solid"/>
          </a:ln>
        </p:spPr>
      </p:sp>
      <p:sp>
        <p:nvSpPr>
          <p:cNvPr id="23" name="Shape 21"/>
          <p:cNvSpPr/>
          <p:nvPr/>
        </p:nvSpPr>
        <p:spPr>
          <a:xfrm>
            <a:off x="852456" y="5467679"/>
            <a:ext cx="180242" cy="176487"/>
          </a:xfrm>
          <a:prstGeom prst="roundRect">
            <a:avLst>
              <a:gd name="adj" fmla="val 41449"/>
            </a:avLst>
          </a:prstGeom>
          <a:solidFill>
            <a:srgbClr val="E4F2FB"/>
          </a:solidFill>
          <a:ln w="15240">
            <a:solidFill>
              <a:srgbClr val="0072B2"/>
            </a:solidFill>
            <a:prstDash val="solid"/>
          </a:ln>
        </p:spPr>
      </p:sp>
      <p:sp>
        <p:nvSpPr>
          <p:cNvPr id="24" name="Shape 22"/>
          <p:cNvSpPr/>
          <p:nvPr/>
        </p:nvSpPr>
        <p:spPr>
          <a:xfrm>
            <a:off x="2982584" y="5467679"/>
            <a:ext cx="180242" cy="176487"/>
          </a:xfrm>
          <a:prstGeom prst="rect">
            <a:avLst/>
          </a:prstGeom>
          <a:solidFill>
            <a:srgbClr val="E5F7EF"/>
          </a:solidFill>
          <a:ln w="15240">
            <a:solidFill>
              <a:srgbClr val="009E73"/>
            </a:solidFill>
            <a:prstDash val="solid"/>
          </a:ln>
        </p:spPr>
      </p:sp>
      <p:sp>
        <p:nvSpPr>
          <p:cNvPr id="25" name="Shape 23"/>
          <p:cNvSpPr/>
          <p:nvPr/>
        </p:nvSpPr>
        <p:spPr>
          <a:xfrm>
            <a:off x="5112712" y="5467679"/>
            <a:ext cx="180242" cy="176487"/>
          </a:xfrm>
          <a:prstGeom prst="roundRect">
            <a:avLst>
              <a:gd name="adj" fmla="val 41449"/>
            </a:avLst>
          </a:prstGeom>
          <a:solidFill>
            <a:srgbClr val="F9EAF4"/>
          </a:solidFill>
          <a:ln w="15240">
            <a:solidFill>
              <a:srgbClr val="CC79A7"/>
            </a:solidFill>
            <a:prstDash val="solid"/>
          </a:ln>
        </p:spPr>
      </p:sp>
      <p:sp>
        <p:nvSpPr>
          <p:cNvPr id="26" name="Text 24"/>
          <p:cNvSpPr txBox="1"/>
          <p:nvPr/>
        </p:nvSpPr>
        <p:spPr>
          <a:xfrm>
            <a:off x="1015800" y="3343610"/>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token +</a:t>
            </a:r>
            <a:endParaRPr lang="en-US" sz="1680" dirty="0"/>
          </a:p>
        </p:txBody>
      </p:sp>
      <p:sp>
        <p:nvSpPr>
          <p:cNvPr id="27" name="Text 25"/>
          <p:cNvSpPr txBox="1"/>
          <p:nvPr/>
        </p:nvSpPr>
        <p:spPr>
          <a:xfrm>
            <a:off x="1015800" y="3591101"/>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position</a:t>
            </a:r>
            <a:endParaRPr lang="en-US" sz="1680" dirty="0"/>
          </a:p>
        </p:txBody>
      </p:sp>
      <p:sp>
        <p:nvSpPr>
          <p:cNvPr id="28" name="Text 26"/>
          <p:cNvSpPr txBox="1"/>
          <p:nvPr/>
        </p:nvSpPr>
        <p:spPr>
          <a:xfrm>
            <a:off x="1015800" y="3838592"/>
            <a:ext cx="138560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embeddings</a:t>
            </a:r>
            <a:endParaRPr lang="en-US" sz="1680" dirty="0"/>
          </a:p>
        </p:txBody>
      </p:sp>
      <p:sp>
        <p:nvSpPr>
          <p:cNvPr id="29" name="Text 27"/>
          <p:cNvSpPr txBox="1"/>
          <p:nvPr/>
        </p:nvSpPr>
        <p:spPr>
          <a:xfrm>
            <a:off x="3398241" y="3343610"/>
            <a:ext cx="154459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LayerNorm →</a:t>
            </a:r>
            <a:endParaRPr lang="en-US" sz="1680" dirty="0"/>
          </a:p>
        </p:txBody>
      </p:sp>
      <p:sp>
        <p:nvSpPr>
          <p:cNvPr id="30" name="Text 28"/>
          <p:cNvSpPr txBox="1"/>
          <p:nvPr/>
        </p:nvSpPr>
        <p:spPr>
          <a:xfrm>
            <a:off x="3398241" y="3591101"/>
            <a:ext cx="154459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Multi-head</a:t>
            </a:r>
            <a:endParaRPr lang="en-US" sz="1680" dirty="0"/>
          </a:p>
        </p:txBody>
      </p:sp>
      <p:sp>
        <p:nvSpPr>
          <p:cNvPr id="31" name="Text 29"/>
          <p:cNvSpPr txBox="1"/>
          <p:nvPr/>
        </p:nvSpPr>
        <p:spPr>
          <a:xfrm>
            <a:off x="3398241" y="3838592"/>
            <a:ext cx="154459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self-attention</a:t>
            </a:r>
            <a:endParaRPr lang="en-US" sz="1680" dirty="0"/>
          </a:p>
        </p:txBody>
      </p:sp>
      <p:sp>
        <p:nvSpPr>
          <p:cNvPr id="32" name="Text 30"/>
          <p:cNvSpPr txBox="1"/>
          <p:nvPr/>
        </p:nvSpPr>
        <p:spPr>
          <a:xfrm>
            <a:off x="6215987" y="3343610"/>
            <a:ext cx="201274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LayerNorm →</a:t>
            </a:r>
            <a:endParaRPr lang="en-US" sz="1680" dirty="0"/>
          </a:p>
        </p:txBody>
      </p:sp>
      <p:sp>
        <p:nvSpPr>
          <p:cNvPr id="33" name="Text 31"/>
          <p:cNvSpPr txBox="1"/>
          <p:nvPr/>
        </p:nvSpPr>
        <p:spPr>
          <a:xfrm>
            <a:off x="6215987" y="3591101"/>
            <a:ext cx="201274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Feed-forward MLP</a:t>
            </a:r>
            <a:endParaRPr lang="en-US" sz="1680" dirty="0"/>
          </a:p>
        </p:txBody>
      </p:sp>
      <p:sp>
        <p:nvSpPr>
          <p:cNvPr id="34" name="Text 32"/>
          <p:cNvSpPr txBox="1"/>
          <p:nvPr/>
        </p:nvSpPr>
        <p:spPr>
          <a:xfrm>
            <a:off x="6215987" y="3838592"/>
            <a:ext cx="201274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(4× wider)</a:t>
            </a:r>
            <a:endParaRPr lang="en-US" sz="1680" dirty="0"/>
          </a:p>
        </p:txBody>
      </p:sp>
      <p:sp>
        <p:nvSpPr>
          <p:cNvPr id="35" name="Text 33"/>
          <p:cNvSpPr txBox="1"/>
          <p:nvPr/>
        </p:nvSpPr>
        <p:spPr>
          <a:xfrm>
            <a:off x="9459696" y="3467356"/>
            <a:ext cx="146510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 next block</a:t>
            </a:r>
            <a:endParaRPr lang="en-US" sz="1680" dirty="0"/>
          </a:p>
        </p:txBody>
      </p:sp>
      <p:sp>
        <p:nvSpPr>
          <p:cNvPr id="36" name="Text 34"/>
          <p:cNvSpPr txBox="1"/>
          <p:nvPr/>
        </p:nvSpPr>
        <p:spPr>
          <a:xfrm>
            <a:off x="9459696" y="3714846"/>
            <a:ext cx="146510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 N)</a:t>
            </a:r>
            <a:endParaRPr lang="en-US" sz="1680" dirty="0"/>
          </a:p>
        </p:txBody>
      </p:sp>
      <p:sp>
        <p:nvSpPr>
          <p:cNvPr id="37" name="Text 35"/>
          <p:cNvSpPr txBox="1"/>
          <p:nvPr/>
        </p:nvSpPr>
        <p:spPr>
          <a:xfrm>
            <a:off x="5538737" y="3570477"/>
            <a:ext cx="262170" cy="288739"/>
          </a:xfrm>
          <a:prstGeom prst="rect">
            <a:avLst/>
          </a:prstGeom>
          <a:noFill/>
          <a:ln/>
        </p:spPr>
        <p:txBody>
          <a:bodyPr wrap="square" lIns="0" tIns="0" rIns="0" bIns="0" rtlCol="0" anchor="ctr"/>
          <a:lstStyle/>
          <a:p>
            <a:pPr algn="ctr" indent="0" marL="0">
              <a:lnSpc>
                <a:spcPct val="116000"/>
              </a:lnSpc>
              <a:buNone/>
            </a:pPr>
            <a:r>
              <a:rPr lang="en-US" sz="1960" dirty="0">
                <a:solidFill>
                  <a:srgbClr val="009E73"/>
                </a:solidFill>
                <a:latin typeface="Arial" pitchFamily="34" charset="0"/>
                <a:ea typeface="Arial" pitchFamily="34" charset="-122"/>
                <a:cs typeface="Arial" pitchFamily="34" charset="-120"/>
              </a:rPr>
              <a:t>+</a:t>
            </a:r>
            <a:endParaRPr lang="en-US" sz="1960" dirty="0"/>
          </a:p>
        </p:txBody>
      </p:sp>
      <p:sp>
        <p:nvSpPr>
          <p:cNvPr id="38" name="Text 36"/>
          <p:cNvSpPr txBox="1"/>
          <p:nvPr/>
        </p:nvSpPr>
        <p:spPr>
          <a:xfrm>
            <a:off x="8652001" y="3570477"/>
            <a:ext cx="262170" cy="288739"/>
          </a:xfrm>
          <a:prstGeom prst="rect">
            <a:avLst/>
          </a:prstGeom>
          <a:noFill/>
          <a:ln/>
        </p:spPr>
        <p:txBody>
          <a:bodyPr wrap="square" lIns="0" tIns="0" rIns="0" bIns="0" rtlCol="0" anchor="ctr"/>
          <a:lstStyle/>
          <a:p>
            <a:pPr algn="ctr" indent="0" marL="0">
              <a:lnSpc>
                <a:spcPct val="116000"/>
              </a:lnSpc>
              <a:buNone/>
            </a:pPr>
            <a:r>
              <a:rPr lang="en-US" sz="1960" dirty="0">
                <a:solidFill>
                  <a:srgbClr val="009E73"/>
                </a:solidFill>
                <a:latin typeface="Arial" pitchFamily="34" charset="0"/>
                <a:ea typeface="Arial" pitchFamily="34" charset="-122"/>
                <a:cs typeface="Arial" pitchFamily="34" charset="-120"/>
              </a:rPr>
              <a:t>+</a:t>
            </a:r>
            <a:endParaRPr lang="en-US" sz="1960" dirty="0"/>
          </a:p>
        </p:txBody>
      </p:sp>
      <p:sp>
        <p:nvSpPr>
          <p:cNvPr id="39" name="Text 37"/>
          <p:cNvSpPr txBox="1"/>
          <p:nvPr/>
        </p:nvSpPr>
        <p:spPr>
          <a:xfrm>
            <a:off x="2355835" y="2648502"/>
            <a:ext cx="2728202" cy="247491"/>
          </a:xfrm>
          <a:prstGeom prst="rect">
            <a:avLst/>
          </a:prstGeom>
          <a:solidFill>
            <a:srgbClr val="FFFFFF"/>
          </a:solidFill>
          <a:ln/>
        </p:spPr>
        <p:txBody>
          <a:bodyPr wrap="square" lIns="0" tIns="0" rIns="0" bIns="0" rtlCol="0" anchor="ctr"/>
          <a:lstStyle/>
          <a:p>
            <a:pPr algn="ctr" indent="0" marL="0">
              <a:lnSpc>
                <a:spcPct val="116000"/>
              </a:lnSpc>
              <a:buNone/>
            </a:pPr>
            <a:r>
              <a:rPr lang="en-US" sz="1680" dirty="0">
                <a:solidFill>
                  <a:srgbClr val="1F2937"/>
                </a:solidFill>
                <a:latin typeface="Arial" pitchFamily="34" charset="0"/>
                <a:ea typeface="Arial" pitchFamily="34" charset="-122"/>
                <a:cs typeface="Arial" pitchFamily="34" charset="-120"/>
              </a:rPr>
              <a:t>copy of the input (residual)</a:t>
            </a:r>
            <a:endParaRPr lang="en-US" sz="1680" dirty="0"/>
          </a:p>
        </p:txBody>
      </p:sp>
      <p:sp>
        <p:nvSpPr>
          <p:cNvPr id="40" name="Text 38"/>
          <p:cNvSpPr txBox="1"/>
          <p:nvPr/>
        </p:nvSpPr>
        <p:spPr>
          <a:xfrm>
            <a:off x="5837774" y="4573810"/>
            <a:ext cx="2728202" cy="247491"/>
          </a:xfrm>
          <a:prstGeom prst="rect">
            <a:avLst/>
          </a:prstGeom>
          <a:solidFill>
            <a:srgbClr val="FFFFFF"/>
          </a:solidFill>
          <a:ln/>
        </p:spPr>
        <p:txBody>
          <a:bodyPr wrap="square" lIns="0" tIns="0" rIns="0" bIns="0" rtlCol="0" anchor="ctr"/>
          <a:lstStyle/>
          <a:p>
            <a:pPr algn="ctr" indent="0" marL="0">
              <a:lnSpc>
                <a:spcPct val="116000"/>
              </a:lnSpc>
              <a:buNone/>
            </a:pPr>
            <a:r>
              <a:rPr lang="en-US" sz="1680" dirty="0">
                <a:solidFill>
                  <a:srgbClr val="1F2937"/>
                </a:solidFill>
                <a:latin typeface="Arial" pitchFamily="34" charset="0"/>
                <a:ea typeface="Arial" pitchFamily="34" charset="-122"/>
                <a:cs typeface="Arial" pitchFamily="34" charset="-120"/>
              </a:rPr>
              <a:t>copy of the input (residual)</a:t>
            </a:r>
            <a:endParaRPr lang="en-US" sz="1680" dirty="0"/>
          </a:p>
        </p:txBody>
      </p:sp>
      <p:sp>
        <p:nvSpPr>
          <p:cNvPr id="41" name="Text 39"/>
          <p:cNvSpPr txBox="1"/>
          <p:nvPr/>
        </p:nvSpPr>
        <p:spPr>
          <a:xfrm>
            <a:off x="852456" y="2058336"/>
            <a:ext cx="6983977" cy="288739"/>
          </a:xfrm>
          <a:prstGeom prst="rect">
            <a:avLst/>
          </a:prstGeom>
          <a:noFill/>
          <a:ln/>
        </p:spPr>
        <p:txBody>
          <a:bodyPr wrap="square" lIns="0" tIns="0" rIns="0" bIns="0" rtlCol="0" anchor="ctr"/>
          <a:lstStyle/>
          <a:p>
            <a:pPr algn="l" indent="0" marL="0">
              <a:lnSpc>
                <a:spcPct val="116000"/>
              </a:lnSpc>
              <a:buNone/>
            </a:pPr>
            <a:r>
              <a:rPr lang="en-US" sz="1960" b="1" dirty="0">
                <a:solidFill>
                  <a:srgbClr val="1E1B4B"/>
                </a:solidFill>
                <a:latin typeface="Arial" pitchFamily="34" charset="0"/>
                <a:ea typeface="Arial" pitchFamily="34" charset="-122"/>
                <a:cs typeface="Arial" pitchFamily="34" charset="-120"/>
              </a:rPr>
              <a:t>Pre-norm block: learn a change, then add the input back</a:t>
            </a:r>
            <a:endParaRPr lang="en-US" sz="1960" dirty="0"/>
          </a:p>
        </p:txBody>
      </p:sp>
      <p:sp>
        <p:nvSpPr>
          <p:cNvPr id="42" name="Text 40"/>
          <p:cNvSpPr txBox="1"/>
          <p:nvPr/>
        </p:nvSpPr>
        <p:spPr>
          <a:xfrm>
            <a:off x="934384" y="4971502"/>
            <a:ext cx="9173017"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Every arrow carries a T × d table. LayerNorm rescales features; the MLP works per position.</a:t>
            </a:r>
            <a:endParaRPr lang="en-US" sz="1680" dirty="0"/>
          </a:p>
        </p:txBody>
      </p:sp>
      <p:sp>
        <p:nvSpPr>
          <p:cNvPr id="43" name="Text 41"/>
          <p:cNvSpPr txBox="1"/>
          <p:nvPr/>
        </p:nvSpPr>
        <p:spPr>
          <a:xfrm>
            <a:off x="1131011" y="5432177"/>
            <a:ext cx="1085290"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Input data</a:t>
            </a:r>
            <a:endParaRPr lang="en-US" sz="1680" dirty="0"/>
          </a:p>
        </p:txBody>
      </p:sp>
      <p:sp>
        <p:nvSpPr>
          <p:cNvPr id="44" name="Text 42"/>
          <p:cNvSpPr txBox="1"/>
          <p:nvPr/>
        </p:nvSpPr>
        <p:spPr>
          <a:xfrm>
            <a:off x="3261139" y="5432177"/>
            <a:ext cx="705477"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Model</a:t>
            </a:r>
            <a:endParaRPr lang="en-US" sz="1680" dirty="0"/>
          </a:p>
        </p:txBody>
      </p:sp>
      <p:sp>
        <p:nvSpPr>
          <p:cNvPr id="45" name="Text 43"/>
          <p:cNvSpPr txBox="1"/>
          <p:nvPr/>
        </p:nvSpPr>
        <p:spPr>
          <a:xfrm>
            <a:off x="5391267" y="5432177"/>
            <a:ext cx="758474"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Output</a:t>
            </a:r>
            <a:endParaRPr lang="en-US" sz="168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Three families of transformers</a:t>
            </a:r>
            <a:endParaRPr lang="en-US" sz="3200" dirty="0"/>
          </a:p>
        </p:txBody>
      </p:sp>
      <p:sp>
        <p:nvSpPr>
          <p:cNvPr id="6" name="Shape 4"/>
          <p:cNvSpPr/>
          <p:nvPr/>
        </p:nvSpPr>
        <p:spPr>
          <a:xfrm>
            <a:off x="10291662" y="4014774"/>
            <a:ext cx="0" cy="254785"/>
          </a:xfrm>
          <a:prstGeom prst="line">
            <a:avLst/>
          </a:prstGeom>
          <a:noFill/>
          <a:ln w="22860">
            <a:solidFill>
              <a:srgbClr val="D55E00"/>
            </a:solidFill>
            <a:prstDash val="dash"/>
          </a:ln>
        </p:spPr>
      </p:sp>
      <p:sp>
        <p:nvSpPr>
          <p:cNvPr id="7" name="Shape 5"/>
          <p:cNvSpPr/>
          <p:nvPr/>
        </p:nvSpPr>
        <p:spPr>
          <a:xfrm flipH="1">
            <a:off x="3656421" y="4269559"/>
            <a:ext cx="6635241" cy="0"/>
          </a:xfrm>
          <a:prstGeom prst="line">
            <a:avLst/>
          </a:prstGeom>
          <a:noFill/>
          <a:ln w="22860">
            <a:solidFill>
              <a:srgbClr val="D55E00"/>
            </a:solidFill>
            <a:prstDash val="dash"/>
          </a:ln>
        </p:spPr>
      </p:sp>
      <p:sp>
        <p:nvSpPr>
          <p:cNvPr id="8" name="Shape 6"/>
          <p:cNvSpPr/>
          <p:nvPr/>
        </p:nvSpPr>
        <p:spPr>
          <a:xfrm>
            <a:off x="4591534" y="2223320"/>
            <a:ext cx="341520" cy="0"/>
          </a:xfrm>
          <a:prstGeom prst="line">
            <a:avLst/>
          </a:prstGeom>
          <a:noFill/>
          <a:ln w="22860">
            <a:solidFill>
              <a:srgbClr val="009E73"/>
            </a:solidFill>
            <a:prstDash val="solid"/>
            <a:tailEnd type="triangle"/>
          </a:ln>
        </p:spPr>
      </p:sp>
      <p:sp>
        <p:nvSpPr>
          <p:cNvPr id="9" name="Shape 7"/>
          <p:cNvSpPr/>
          <p:nvPr/>
        </p:nvSpPr>
        <p:spPr>
          <a:xfrm>
            <a:off x="6803281" y="2223320"/>
            <a:ext cx="341520" cy="0"/>
          </a:xfrm>
          <a:prstGeom prst="line">
            <a:avLst/>
          </a:prstGeom>
          <a:noFill/>
          <a:ln w="22860">
            <a:solidFill>
              <a:srgbClr val="009E73"/>
            </a:solidFill>
            <a:prstDash val="solid"/>
            <a:tailEnd type="triangle"/>
          </a:ln>
        </p:spPr>
      </p:sp>
      <p:sp>
        <p:nvSpPr>
          <p:cNvPr id="10" name="Shape 8"/>
          <p:cNvSpPr/>
          <p:nvPr/>
        </p:nvSpPr>
        <p:spPr>
          <a:xfrm>
            <a:off x="9015028" y="2223320"/>
            <a:ext cx="341520" cy="0"/>
          </a:xfrm>
          <a:prstGeom prst="line">
            <a:avLst/>
          </a:prstGeom>
          <a:noFill/>
          <a:ln w="22860">
            <a:solidFill>
              <a:srgbClr val="009E73"/>
            </a:solidFill>
            <a:prstDash val="solid"/>
            <a:tailEnd type="triangle"/>
          </a:ln>
        </p:spPr>
      </p:sp>
      <p:sp>
        <p:nvSpPr>
          <p:cNvPr id="11" name="Shape 9"/>
          <p:cNvSpPr/>
          <p:nvPr/>
        </p:nvSpPr>
        <p:spPr>
          <a:xfrm>
            <a:off x="4591534" y="3616673"/>
            <a:ext cx="341520" cy="0"/>
          </a:xfrm>
          <a:prstGeom prst="line">
            <a:avLst/>
          </a:prstGeom>
          <a:noFill/>
          <a:ln w="22860">
            <a:solidFill>
              <a:srgbClr val="009E73"/>
            </a:solidFill>
            <a:prstDash val="solid"/>
            <a:tailEnd type="triangle"/>
          </a:ln>
        </p:spPr>
      </p:sp>
      <p:sp>
        <p:nvSpPr>
          <p:cNvPr id="12" name="Shape 10"/>
          <p:cNvSpPr/>
          <p:nvPr/>
        </p:nvSpPr>
        <p:spPr>
          <a:xfrm>
            <a:off x="6803281" y="3616673"/>
            <a:ext cx="341520" cy="0"/>
          </a:xfrm>
          <a:prstGeom prst="line">
            <a:avLst/>
          </a:prstGeom>
          <a:noFill/>
          <a:ln w="22860">
            <a:solidFill>
              <a:srgbClr val="009E73"/>
            </a:solidFill>
            <a:prstDash val="solid"/>
            <a:tailEnd type="triangle"/>
          </a:ln>
        </p:spPr>
      </p:sp>
      <p:sp>
        <p:nvSpPr>
          <p:cNvPr id="13" name="Shape 11"/>
          <p:cNvSpPr/>
          <p:nvPr/>
        </p:nvSpPr>
        <p:spPr>
          <a:xfrm>
            <a:off x="9015028" y="3616673"/>
            <a:ext cx="341520" cy="0"/>
          </a:xfrm>
          <a:prstGeom prst="line">
            <a:avLst/>
          </a:prstGeom>
          <a:noFill/>
          <a:ln w="22860">
            <a:solidFill>
              <a:srgbClr val="009E73"/>
            </a:solidFill>
            <a:prstDash val="solid"/>
            <a:tailEnd type="triangle"/>
          </a:ln>
        </p:spPr>
      </p:sp>
      <p:sp>
        <p:nvSpPr>
          <p:cNvPr id="14" name="Shape 12"/>
          <p:cNvSpPr/>
          <p:nvPr/>
        </p:nvSpPr>
        <p:spPr>
          <a:xfrm flipV="1">
            <a:off x="3656421" y="4014774"/>
            <a:ext cx="0" cy="254785"/>
          </a:xfrm>
          <a:prstGeom prst="line">
            <a:avLst/>
          </a:prstGeom>
          <a:noFill/>
          <a:ln w="22860">
            <a:solidFill>
              <a:srgbClr val="D55E00"/>
            </a:solidFill>
            <a:prstDash val="dash"/>
            <a:tailEnd type="triangle"/>
          </a:ln>
        </p:spPr>
      </p:sp>
      <p:sp>
        <p:nvSpPr>
          <p:cNvPr id="15" name="Shape 13"/>
          <p:cNvSpPr/>
          <p:nvPr/>
        </p:nvSpPr>
        <p:spPr>
          <a:xfrm>
            <a:off x="4591534" y="5010026"/>
            <a:ext cx="341520" cy="0"/>
          </a:xfrm>
          <a:prstGeom prst="line">
            <a:avLst/>
          </a:prstGeom>
          <a:noFill/>
          <a:ln w="22860">
            <a:solidFill>
              <a:srgbClr val="009E73"/>
            </a:solidFill>
            <a:prstDash val="solid"/>
            <a:tailEnd type="triangle"/>
          </a:ln>
        </p:spPr>
      </p:sp>
      <p:sp>
        <p:nvSpPr>
          <p:cNvPr id="16" name="Shape 14"/>
          <p:cNvSpPr/>
          <p:nvPr/>
        </p:nvSpPr>
        <p:spPr>
          <a:xfrm>
            <a:off x="6803281" y="5010026"/>
            <a:ext cx="341520" cy="0"/>
          </a:xfrm>
          <a:prstGeom prst="line">
            <a:avLst/>
          </a:prstGeom>
          <a:noFill/>
          <a:ln w="22860">
            <a:solidFill>
              <a:srgbClr val="009E73"/>
            </a:solidFill>
            <a:prstDash val="solid"/>
            <a:tailEnd type="triangle"/>
          </a:ln>
        </p:spPr>
      </p:sp>
      <p:sp>
        <p:nvSpPr>
          <p:cNvPr id="17" name="Shape 15"/>
          <p:cNvSpPr/>
          <p:nvPr/>
        </p:nvSpPr>
        <p:spPr>
          <a:xfrm>
            <a:off x="9015028" y="5010026"/>
            <a:ext cx="341520" cy="0"/>
          </a:xfrm>
          <a:prstGeom prst="line">
            <a:avLst/>
          </a:prstGeom>
          <a:noFill/>
          <a:ln w="22860">
            <a:solidFill>
              <a:srgbClr val="009E73"/>
            </a:solidFill>
            <a:prstDash val="solid"/>
            <a:tailEnd type="triangle"/>
          </a:ln>
        </p:spPr>
      </p:sp>
      <p:sp>
        <p:nvSpPr>
          <p:cNvPr id="18" name="Shape 16"/>
          <p:cNvSpPr/>
          <p:nvPr/>
        </p:nvSpPr>
        <p:spPr>
          <a:xfrm>
            <a:off x="2721307" y="1825219"/>
            <a:ext cx="1870227" cy="796202"/>
          </a:xfrm>
          <a:prstGeom prst="roundRect">
            <a:avLst>
              <a:gd name="adj" fmla="val 9188"/>
            </a:avLst>
          </a:prstGeom>
          <a:solidFill>
            <a:srgbClr val="E4F2FB"/>
          </a:solidFill>
          <a:ln w="15240">
            <a:solidFill>
              <a:srgbClr val="0072B2"/>
            </a:solidFill>
            <a:prstDash val="solid"/>
          </a:ln>
        </p:spPr>
      </p:sp>
      <p:sp>
        <p:nvSpPr>
          <p:cNvPr id="19" name="Shape 17"/>
          <p:cNvSpPr/>
          <p:nvPr/>
        </p:nvSpPr>
        <p:spPr>
          <a:xfrm>
            <a:off x="4933054" y="1825219"/>
            <a:ext cx="1870227" cy="796202"/>
          </a:xfrm>
          <a:prstGeom prst="rect">
            <a:avLst/>
          </a:prstGeom>
          <a:solidFill>
            <a:srgbClr val="E5F7EF"/>
          </a:solidFill>
          <a:ln w="15240">
            <a:solidFill>
              <a:srgbClr val="009E73"/>
            </a:solidFill>
            <a:prstDash val="solid"/>
          </a:ln>
        </p:spPr>
      </p:sp>
      <p:sp>
        <p:nvSpPr>
          <p:cNvPr id="20" name="Shape 18"/>
          <p:cNvSpPr/>
          <p:nvPr/>
        </p:nvSpPr>
        <p:spPr>
          <a:xfrm>
            <a:off x="7144801" y="1825219"/>
            <a:ext cx="1870227" cy="796202"/>
          </a:xfrm>
          <a:prstGeom prst="roundRect">
            <a:avLst>
              <a:gd name="adj" fmla="val 9188"/>
            </a:avLst>
          </a:prstGeom>
          <a:solidFill>
            <a:srgbClr val="F9EAF4"/>
          </a:solidFill>
          <a:ln w="15240">
            <a:solidFill>
              <a:srgbClr val="CC79A7"/>
            </a:solidFill>
            <a:prstDash val="solid"/>
          </a:ln>
        </p:spPr>
      </p:sp>
      <p:sp>
        <p:nvSpPr>
          <p:cNvPr id="21" name="Shape 19"/>
          <p:cNvSpPr/>
          <p:nvPr/>
        </p:nvSpPr>
        <p:spPr>
          <a:xfrm>
            <a:off x="9356548" y="1825219"/>
            <a:ext cx="1870227" cy="796202"/>
          </a:xfrm>
          <a:prstGeom prst="roundRect">
            <a:avLst>
              <a:gd name="adj" fmla="val 9188"/>
            </a:avLst>
          </a:prstGeom>
          <a:solidFill>
            <a:srgbClr val="F9EAF4"/>
          </a:solidFill>
          <a:ln w="15240">
            <a:solidFill>
              <a:srgbClr val="CC79A7"/>
            </a:solidFill>
            <a:prstDash val="solid"/>
          </a:ln>
        </p:spPr>
      </p:sp>
      <p:sp>
        <p:nvSpPr>
          <p:cNvPr id="22" name="Shape 20"/>
          <p:cNvSpPr/>
          <p:nvPr/>
        </p:nvSpPr>
        <p:spPr>
          <a:xfrm>
            <a:off x="2721307" y="3218572"/>
            <a:ext cx="1870227" cy="796202"/>
          </a:xfrm>
          <a:prstGeom prst="roundRect">
            <a:avLst>
              <a:gd name="adj" fmla="val 9188"/>
            </a:avLst>
          </a:prstGeom>
          <a:solidFill>
            <a:srgbClr val="E4F2FB"/>
          </a:solidFill>
          <a:ln w="15240">
            <a:solidFill>
              <a:srgbClr val="0072B2"/>
            </a:solidFill>
            <a:prstDash val="solid"/>
          </a:ln>
        </p:spPr>
      </p:sp>
      <p:sp>
        <p:nvSpPr>
          <p:cNvPr id="23" name="Shape 21"/>
          <p:cNvSpPr/>
          <p:nvPr/>
        </p:nvSpPr>
        <p:spPr>
          <a:xfrm>
            <a:off x="4933054" y="3218572"/>
            <a:ext cx="1870227" cy="796202"/>
          </a:xfrm>
          <a:prstGeom prst="rect">
            <a:avLst/>
          </a:prstGeom>
          <a:solidFill>
            <a:srgbClr val="E5F7EF"/>
          </a:solidFill>
          <a:ln w="15240">
            <a:solidFill>
              <a:srgbClr val="009E73"/>
            </a:solidFill>
            <a:prstDash val="solid"/>
          </a:ln>
        </p:spPr>
      </p:sp>
      <p:sp>
        <p:nvSpPr>
          <p:cNvPr id="24" name="Shape 22"/>
          <p:cNvSpPr/>
          <p:nvPr/>
        </p:nvSpPr>
        <p:spPr>
          <a:xfrm>
            <a:off x="7144801" y="3218572"/>
            <a:ext cx="1870227" cy="796202"/>
          </a:xfrm>
          <a:prstGeom prst="roundRect">
            <a:avLst>
              <a:gd name="adj" fmla="val 9188"/>
            </a:avLst>
          </a:prstGeom>
          <a:solidFill>
            <a:srgbClr val="F9EAF4"/>
          </a:solidFill>
          <a:ln w="15240">
            <a:solidFill>
              <a:srgbClr val="CC79A7"/>
            </a:solidFill>
            <a:prstDash val="solid"/>
          </a:ln>
        </p:spPr>
      </p:sp>
      <p:sp>
        <p:nvSpPr>
          <p:cNvPr id="25" name="Shape 23"/>
          <p:cNvSpPr/>
          <p:nvPr/>
        </p:nvSpPr>
        <p:spPr>
          <a:xfrm>
            <a:off x="9356548" y="3218572"/>
            <a:ext cx="1870227" cy="796202"/>
          </a:xfrm>
          <a:prstGeom prst="rect">
            <a:avLst/>
          </a:prstGeom>
          <a:solidFill>
            <a:srgbClr val="E5F7EF"/>
          </a:solidFill>
          <a:ln w="15240">
            <a:solidFill>
              <a:srgbClr val="009E73"/>
            </a:solidFill>
            <a:prstDash val="solid"/>
          </a:ln>
        </p:spPr>
      </p:sp>
      <p:sp>
        <p:nvSpPr>
          <p:cNvPr id="26" name="Shape 24"/>
          <p:cNvSpPr/>
          <p:nvPr/>
        </p:nvSpPr>
        <p:spPr>
          <a:xfrm>
            <a:off x="2721307" y="4611926"/>
            <a:ext cx="1870227" cy="796202"/>
          </a:xfrm>
          <a:prstGeom prst="roundRect">
            <a:avLst>
              <a:gd name="adj" fmla="val 9188"/>
            </a:avLst>
          </a:prstGeom>
          <a:solidFill>
            <a:srgbClr val="E4F2FB"/>
          </a:solidFill>
          <a:ln w="15240">
            <a:solidFill>
              <a:srgbClr val="0072B2"/>
            </a:solidFill>
            <a:prstDash val="solid"/>
          </a:ln>
        </p:spPr>
      </p:sp>
      <p:sp>
        <p:nvSpPr>
          <p:cNvPr id="27" name="Shape 25"/>
          <p:cNvSpPr/>
          <p:nvPr/>
        </p:nvSpPr>
        <p:spPr>
          <a:xfrm>
            <a:off x="4933054" y="4611926"/>
            <a:ext cx="1870227" cy="796202"/>
          </a:xfrm>
          <a:prstGeom prst="rect">
            <a:avLst/>
          </a:prstGeom>
          <a:solidFill>
            <a:srgbClr val="E5F7EF"/>
          </a:solidFill>
          <a:ln w="15240">
            <a:solidFill>
              <a:srgbClr val="009E73"/>
            </a:solidFill>
            <a:prstDash val="solid"/>
          </a:ln>
        </p:spPr>
      </p:sp>
      <p:sp>
        <p:nvSpPr>
          <p:cNvPr id="28" name="Shape 26"/>
          <p:cNvSpPr/>
          <p:nvPr/>
        </p:nvSpPr>
        <p:spPr>
          <a:xfrm>
            <a:off x="7144801" y="4611926"/>
            <a:ext cx="1870227" cy="796202"/>
          </a:xfrm>
          <a:prstGeom prst="rect">
            <a:avLst/>
          </a:prstGeom>
          <a:solidFill>
            <a:srgbClr val="E5F7EF"/>
          </a:solidFill>
          <a:ln w="15240">
            <a:solidFill>
              <a:srgbClr val="009E73"/>
            </a:solidFill>
            <a:prstDash val="solid"/>
          </a:ln>
        </p:spPr>
      </p:sp>
      <p:sp>
        <p:nvSpPr>
          <p:cNvPr id="29" name="Shape 27"/>
          <p:cNvSpPr/>
          <p:nvPr/>
        </p:nvSpPr>
        <p:spPr>
          <a:xfrm>
            <a:off x="9356548" y="4611926"/>
            <a:ext cx="1870227" cy="796202"/>
          </a:xfrm>
          <a:prstGeom prst="roundRect">
            <a:avLst>
              <a:gd name="adj" fmla="val 9188"/>
            </a:avLst>
          </a:prstGeom>
          <a:solidFill>
            <a:srgbClr val="F9EAF4"/>
          </a:solidFill>
          <a:ln w="15240">
            <a:solidFill>
              <a:srgbClr val="CC79A7"/>
            </a:solidFill>
            <a:prstDash val="solid"/>
          </a:ln>
        </p:spPr>
      </p:sp>
      <p:sp>
        <p:nvSpPr>
          <p:cNvPr id="30" name="Shape 28"/>
          <p:cNvSpPr/>
          <p:nvPr/>
        </p:nvSpPr>
        <p:spPr>
          <a:xfrm>
            <a:off x="891737" y="5925659"/>
            <a:ext cx="178891" cy="175164"/>
          </a:xfrm>
          <a:prstGeom prst="roundRect">
            <a:avLst>
              <a:gd name="adj" fmla="val 41762"/>
            </a:avLst>
          </a:prstGeom>
          <a:solidFill>
            <a:srgbClr val="E4F2FB"/>
          </a:solidFill>
          <a:ln w="15240">
            <a:solidFill>
              <a:srgbClr val="0072B2"/>
            </a:solidFill>
            <a:prstDash val="solid"/>
          </a:ln>
        </p:spPr>
      </p:sp>
      <p:sp>
        <p:nvSpPr>
          <p:cNvPr id="31" name="Shape 29"/>
          <p:cNvSpPr/>
          <p:nvPr/>
        </p:nvSpPr>
        <p:spPr>
          <a:xfrm>
            <a:off x="3005907" y="5925659"/>
            <a:ext cx="178891" cy="175164"/>
          </a:xfrm>
          <a:prstGeom prst="rect">
            <a:avLst/>
          </a:prstGeom>
          <a:solidFill>
            <a:srgbClr val="E5F7EF"/>
          </a:solidFill>
          <a:ln w="15240">
            <a:solidFill>
              <a:srgbClr val="009E73"/>
            </a:solidFill>
            <a:prstDash val="solid"/>
          </a:ln>
        </p:spPr>
      </p:sp>
      <p:sp>
        <p:nvSpPr>
          <p:cNvPr id="32" name="Shape 30"/>
          <p:cNvSpPr/>
          <p:nvPr/>
        </p:nvSpPr>
        <p:spPr>
          <a:xfrm>
            <a:off x="5120077" y="5925659"/>
            <a:ext cx="178891" cy="175164"/>
          </a:xfrm>
          <a:prstGeom prst="roundRect">
            <a:avLst>
              <a:gd name="adj" fmla="val 41762"/>
            </a:avLst>
          </a:prstGeom>
          <a:solidFill>
            <a:srgbClr val="F9EAF4"/>
          </a:solidFill>
          <a:ln w="15240">
            <a:solidFill>
              <a:srgbClr val="CC79A7"/>
            </a:solidFill>
            <a:prstDash val="solid"/>
          </a:ln>
        </p:spPr>
      </p:sp>
      <p:sp>
        <p:nvSpPr>
          <p:cNvPr id="33" name="Text 31"/>
          <p:cNvSpPr txBox="1"/>
          <p:nvPr/>
        </p:nvSpPr>
        <p:spPr>
          <a:xfrm>
            <a:off x="891737" y="1977684"/>
            <a:ext cx="1489194" cy="245637"/>
          </a:xfrm>
          <a:prstGeom prst="rect">
            <a:avLst/>
          </a:prstGeom>
          <a:noFill/>
          <a:ln/>
        </p:spPr>
        <p:txBody>
          <a:bodyPr wrap="square" lIns="0" tIns="0" rIns="0" bIns="0" rtlCol="0" anchor="ctr"/>
          <a:lstStyle/>
          <a:p>
            <a:pPr algn="l" indent="0" marL="0">
              <a:lnSpc>
                <a:spcPct val="116000"/>
              </a:lnSpc>
              <a:buNone/>
            </a:pPr>
            <a:r>
              <a:rPr lang="en-US" sz="1667" b="1" dirty="0">
                <a:solidFill>
                  <a:srgbClr val="1E1B4B"/>
                </a:solidFill>
                <a:latin typeface="Arial" pitchFamily="34" charset="0"/>
                <a:ea typeface="Arial" pitchFamily="34" charset="-122"/>
                <a:cs typeface="Arial" pitchFamily="34" charset="-120"/>
              </a:rPr>
              <a:t>Encoder-only</a:t>
            </a:r>
            <a:endParaRPr lang="en-US" sz="1667" dirty="0"/>
          </a:p>
        </p:txBody>
      </p:sp>
      <p:sp>
        <p:nvSpPr>
          <p:cNvPr id="34" name="Text 32"/>
          <p:cNvSpPr txBox="1"/>
          <p:nvPr/>
        </p:nvSpPr>
        <p:spPr>
          <a:xfrm>
            <a:off x="891737" y="2223320"/>
            <a:ext cx="1489194" cy="245637"/>
          </a:xfrm>
          <a:prstGeom prst="rect">
            <a:avLst/>
          </a:prstGeom>
          <a:noFill/>
          <a:ln/>
        </p:spPr>
        <p:txBody>
          <a:bodyPr wrap="square" lIns="0" tIns="0" rIns="0" bIns="0" rtlCol="0" anchor="ctr"/>
          <a:lstStyle/>
          <a:p>
            <a:pPr algn="l" indent="0" marL="0">
              <a:lnSpc>
                <a:spcPct val="116000"/>
              </a:lnSpc>
              <a:buNone/>
            </a:pPr>
            <a:r>
              <a:rPr lang="en-US" sz="1667" b="1" dirty="0">
                <a:solidFill>
                  <a:srgbClr val="1E1B4B"/>
                </a:solidFill>
                <a:latin typeface="Arial" pitchFamily="34" charset="0"/>
                <a:ea typeface="Arial" pitchFamily="34" charset="-122"/>
                <a:cs typeface="Arial" pitchFamily="34" charset="-120"/>
              </a:rPr>
              <a:t>(BERT)</a:t>
            </a:r>
            <a:endParaRPr lang="en-US" sz="1667" dirty="0"/>
          </a:p>
        </p:txBody>
      </p:sp>
      <p:sp>
        <p:nvSpPr>
          <p:cNvPr id="35" name="Text 33"/>
          <p:cNvSpPr txBox="1"/>
          <p:nvPr/>
        </p:nvSpPr>
        <p:spPr>
          <a:xfrm>
            <a:off x="2986341" y="1977684"/>
            <a:ext cx="1340160"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Whole input</a:t>
            </a:r>
            <a:endParaRPr lang="en-US" sz="1667" dirty="0"/>
          </a:p>
        </p:txBody>
      </p:sp>
      <p:sp>
        <p:nvSpPr>
          <p:cNvPr id="36" name="Text 34"/>
          <p:cNvSpPr txBox="1"/>
          <p:nvPr/>
        </p:nvSpPr>
        <p:spPr>
          <a:xfrm>
            <a:off x="2986341" y="2223320"/>
            <a:ext cx="1340160"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sentence</a:t>
            </a:r>
            <a:endParaRPr lang="en-US" sz="1667" dirty="0"/>
          </a:p>
        </p:txBody>
      </p:sp>
      <p:sp>
        <p:nvSpPr>
          <p:cNvPr id="37" name="Text 35"/>
          <p:cNvSpPr txBox="1"/>
          <p:nvPr/>
        </p:nvSpPr>
        <p:spPr>
          <a:xfrm>
            <a:off x="5066587" y="1977684"/>
            <a:ext cx="1603161"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Encoder: each</a:t>
            </a:r>
            <a:endParaRPr lang="en-US" sz="1667" dirty="0"/>
          </a:p>
        </p:txBody>
      </p:sp>
      <p:sp>
        <p:nvSpPr>
          <p:cNvPr id="38" name="Text 36"/>
          <p:cNvSpPr txBox="1"/>
          <p:nvPr/>
        </p:nvSpPr>
        <p:spPr>
          <a:xfrm>
            <a:off x="5066587" y="2223320"/>
            <a:ext cx="1603161"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token sees all</a:t>
            </a:r>
            <a:endParaRPr lang="en-US" sz="1667" dirty="0"/>
          </a:p>
        </p:txBody>
      </p:sp>
      <p:sp>
        <p:nvSpPr>
          <p:cNvPr id="39" name="Text 37"/>
          <p:cNvSpPr txBox="1"/>
          <p:nvPr/>
        </p:nvSpPr>
        <p:spPr>
          <a:xfrm>
            <a:off x="7462435" y="1977684"/>
            <a:ext cx="1234960"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One vector</a:t>
            </a:r>
            <a:endParaRPr lang="en-US" sz="1667" dirty="0"/>
          </a:p>
        </p:txBody>
      </p:sp>
      <p:sp>
        <p:nvSpPr>
          <p:cNvPr id="40" name="Text 38"/>
          <p:cNvSpPr txBox="1"/>
          <p:nvPr/>
        </p:nvSpPr>
        <p:spPr>
          <a:xfrm>
            <a:off x="7462435" y="2223320"/>
            <a:ext cx="1234960"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per token</a:t>
            </a:r>
            <a:endParaRPr lang="en-US" sz="1667" dirty="0"/>
          </a:p>
        </p:txBody>
      </p:sp>
      <p:sp>
        <p:nvSpPr>
          <p:cNvPr id="41" name="Text 39"/>
          <p:cNvSpPr txBox="1"/>
          <p:nvPr/>
        </p:nvSpPr>
        <p:spPr>
          <a:xfrm>
            <a:off x="9529531" y="1977684"/>
            <a:ext cx="1524261"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Label or</a:t>
            </a:r>
            <a:endParaRPr lang="en-US" sz="1667" dirty="0"/>
          </a:p>
        </p:txBody>
      </p:sp>
      <p:sp>
        <p:nvSpPr>
          <p:cNvPr id="42" name="Text 40"/>
          <p:cNvSpPr txBox="1"/>
          <p:nvPr/>
        </p:nvSpPr>
        <p:spPr>
          <a:xfrm>
            <a:off x="9529531" y="2223320"/>
            <a:ext cx="1524261"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search vector</a:t>
            </a:r>
            <a:endParaRPr lang="en-US" sz="1667" dirty="0"/>
          </a:p>
        </p:txBody>
      </p:sp>
      <p:sp>
        <p:nvSpPr>
          <p:cNvPr id="43" name="Text 41"/>
          <p:cNvSpPr txBox="1"/>
          <p:nvPr/>
        </p:nvSpPr>
        <p:spPr>
          <a:xfrm>
            <a:off x="891737" y="3371037"/>
            <a:ext cx="1489194" cy="245637"/>
          </a:xfrm>
          <a:prstGeom prst="rect">
            <a:avLst/>
          </a:prstGeom>
          <a:noFill/>
          <a:ln/>
        </p:spPr>
        <p:txBody>
          <a:bodyPr wrap="square" lIns="0" tIns="0" rIns="0" bIns="0" rtlCol="0" anchor="ctr"/>
          <a:lstStyle/>
          <a:p>
            <a:pPr algn="l" indent="0" marL="0">
              <a:lnSpc>
                <a:spcPct val="116000"/>
              </a:lnSpc>
              <a:buNone/>
            </a:pPr>
            <a:r>
              <a:rPr lang="en-US" sz="1667" b="1" dirty="0">
                <a:solidFill>
                  <a:srgbClr val="1E1B4B"/>
                </a:solidFill>
                <a:latin typeface="Arial" pitchFamily="34" charset="0"/>
                <a:ea typeface="Arial" pitchFamily="34" charset="-122"/>
                <a:cs typeface="Arial" pitchFamily="34" charset="-120"/>
              </a:rPr>
              <a:t>Decoder-only</a:t>
            </a:r>
            <a:endParaRPr lang="en-US" sz="1667" dirty="0"/>
          </a:p>
        </p:txBody>
      </p:sp>
      <p:sp>
        <p:nvSpPr>
          <p:cNvPr id="44" name="Text 42"/>
          <p:cNvSpPr txBox="1"/>
          <p:nvPr/>
        </p:nvSpPr>
        <p:spPr>
          <a:xfrm>
            <a:off x="891737" y="3616673"/>
            <a:ext cx="1489194" cy="245637"/>
          </a:xfrm>
          <a:prstGeom prst="rect">
            <a:avLst/>
          </a:prstGeom>
          <a:noFill/>
          <a:ln/>
        </p:spPr>
        <p:txBody>
          <a:bodyPr wrap="square" lIns="0" tIns="0" rIns="0" bIns="0" rtlCol="0" anchor="ctr"/>
          <a:lstStyle/>
          <a:p>
            <a:pPr algn="l" indent="0" marL="0">
              <a:lnSpc>
                <a:spcPct val="116000"/>
              </a:lnSpc>
              <a:buNone/>
            </a:pPr>
            <a:r>
              <a:rPr lang="en-US" sz="1667" b="1" dirty="0">
                <a:solidFill>
                  <a:srgbClr val="1E1B4B"/>
                </a:solidFill>
                <a:latin typeface="Arial" pitchFamily="34" charset="0"/>
                <a:ea typeface="Arial" pitchFamily="34" charset="-122"/>
                <a:cs typeface="Arial" pitchFamily="34" charset="-120"/>
              </a:rPr>
              <a:t>(GPT-2)</a:t>
            </a:r>
            <a:endParaRPr lang="en-US" sz="1667" dirty="0"/>
          </a:p>
        </p:txBody>
      </p:sp>
      <p:sp>
        <p:nvSpPr>
          <p:cNvPr id="45" name="Text 43"/>
          <p:cNvSpPr txBox="1"/>
          <p:nvPr/>
        </p:nvSpPr>
        <p:spPr>
          <a:xfrm>
            <a:off x="3301942" y="3371037"/>
            <a:ext cx="708958"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Prefix</a:t>
            </a:r>
            <a:endParaRPr lang="en-US" sz="1667" dirty="0"/>
          </a:p>
        </p:txBody>
      </p:sp>
      <p:sp>
        <p:nvSpPr>
          <p:cNvPr id="46" name="Text 44"/>
          <p:cNvSpPr txBox="1"/>
          <p:nvPr/>
        </p:nvSpPr>
        <p:spPr>
          <a:xfrm>
            <a:off x="3301942" y="3616673"/>
            <a:ext cx="708958"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so far</a:t>
            </a:r>
            <a:endParaRPr lang="en-US" sz="1667" dirty="0"/>
          </a:p>
        </p:txBody>
      </p:sp>
      <p:sp>
        <p:nvSpPr>
          <p:cNvPr id="47" name="Text 45"/>
          <p:cNvSpPr txBox="1"/>
          <p:nvPr/>
        </p:nvSpPr>
        <p:spPr>
          <a:xfrm>
            <a:off x="5070971" y="3371037"/>
            <a:ext cx="1594394"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Decoder: sees</a:t>
            </a:r>
            <a:endParaRPr lang="en-US" sz="1667" dirty="0"/>
          </a:p>
        </p:txBody>
      </p:sp>
      <p:sp>
        <p:nvSpPr>
          <p:cNvPr id="48" name="Text 46"/>
          <p:cNvSpPr txBox="1"/>
          <p:nvPr/>
        </p:nvSpPr>
        <p:spPr>
          <a:xfrm>
            <a:off x="5070971" y="3616673"/>
            <a:ext cx="1594394"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present + past</a:t>
            </a:r>
            <a:endParaRPr lang="en-US" sz="1667" dirty="0"/>
          </a:p>
        </p:txBody>
      </p:sp>
      <p:sp>
        <p:nvSpPr>
          <p:cNvPr id="49" name="Text 47"/>
          <p:cNvSpPr txBox="1"/>
          <p:nvPr/>
        </p:nvSpPr>
        <p:spPr>
          <a:xfrm>
            <a:off x="7383535" y="3371037"/>
            <a:ext cx="1392760"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Next-token</a:t>
            </a:r>
            <a:endParaRPr lang="en-US" sz="1667" dirty="0"/>
          </a:p>
        </p:txBody>
      </p:sp>
      <p:sp>
        <p:nvSpPr>
          <p:cNvPr id="50" name="Text 48"/>
          <p:cNvSpPr txBox="1"/>
          <p:nvPr/>
        </p:nvSpPr>
        <p:spPr>
          <a:xfrm>
            <a:off x="7383535" y="3616673"/>
            <a:ext cx="1392760"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probabilities</a:t>
            </a:r>
            <a:endParaRPr lang="en-US" sz="1667" dirty="0"/>
          </a:p>
        </p:txBody>
      </p:sp>
      <p:sp>
        <p:nvSpPr>
          <p:cNvPr id="51" name="Text 49"/>
          <p:cNvSpPr txBox="1"/>
          <p:nvPr/>
        </p:nvSpPr>
        <p:spPr>
          <a:xfrm>
            <a:off x="9538298" y="3371037"/>
            <a:ext cx="1506727"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Sample and</a:t>
            </a:r>
            <a:endParaRPr lang="en-US" sz="1667" dirty="0"/>
          </a:p>
        </p:txBody>
      </p:sp>
      <p:sp>
        <p:nvSpPr>
          <p:cNvPr id="52" name="Text 50"/>
          <p:cNvSpPr txBox="1"/>
          <p:nvPr/>
        </p:nvSpPr>
        <p:spPr>
          <a:xfrm>
            <a:off x="9538298" y="3616673"/>
            <a:ext cx="1506727"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append token</a:t>
            </a:r>
            <a:endParaRPr lang="en-US" sz="1667" dirty="0"/>
          </a:p>
        </p:txBody>
      </p:sp>
      <p:sp>
        <p:nvSpPr>
          <p:cNvPr id="53" name="Text 51"/>
          <p:cNvSpPr txBox="1"/>
          <p:nvPr/>
        </p:nvSpPr>
        <p:spPr>
          <a:xfrm>
            <a:off x="4709609" y="4153564"/>
            <a:ext cx="2658636" cy="231990"/>
          </a:xfrm>
          <a:prstGeom prst="rect">
            <a:avLst/>
          </a:prstGeom>
          <a:solidFill>
            <a:srgbClr val="FFFFFF"/>
          </a:solidFill>
          <a:ln/>
        </p:spPr>
        <p:txBody>
          <a:bodyPr wrap="square" lIns="0" tIns="0" rIns="0" bIns="0" rtlCol="0" anchor="ctr"/>
          <a:lstStyle/>
          <a:p>
            <a:pPr algn="ctr" indent="0" marL="0">
              <a:lnSpc>
                <a:spcPct val="116000"/>
              </a:lnSpc>
              <a:buNone/>
            </a:pPr>
            <a:r>
              <a:rPr lang="en-US" sz="1575" dirty="0">
                <a:solidFill>
                  <a:srgbClr val="1F2937"/>
                </a:solidFill>
                <a:latin typeface="Arial" pitchFamily="34" charset="0"/>
                <a:ea typeface="Arial" pitchFamily="34" charset="-122"/>
                <a:cs typeface="Arial" pitchFamily="34" charset="-120"/>
              </a:rPr>
              <a:t>repeat with the longer prefix</a:t>
            </a:r>
            <a:endParaRPr lang="en-US" sz="1575" dirty="0"/>
          </a:p>
        </p:txBody>
      </p:sp>
      <p:sp>
        <p:nvSpPr>
          <p:cNvPr id="54" name="Text 52"/>
          <p:cNvSpPr txBox="1"/>
          <p:nvPr/>
        </p:nvSpPr>
        <p:spPr>
          <a:xfrm>
            <a:off x="891737" y="4764390"/>
            <a:ext cx="1401527" cy="245637"/>
          </a:xfrm>
          <a:prstGeom prst="rect">
            <a:avLst/>
          </a:prstGeom>
          <a:noFill/>
          <a:ln/>
        </p:spPr>
        <p:txBody>
          <a:bodyPr wrap="square" lIns="0" tIns="0" rIns="0" bIns="0" rtlCol="0" anchor="ctr"/>
          <a:lstStyle/>
          <a:p>
            <a:pPr algn="l" indent="0" marL="0">
              <a:lnSpc>
                <a:spcPct val="116000"/>
              </a:lnSpc>
              <a:buNone/>
            </a:pPr>
            <a:r>
              <a:rPr lang="en-US" sz="1667" b="1" dirty="0">
                <a:solidFill>
                  <a:srgbClr val="1E1B4B"/>
                </a:solidFill>
                <a:latin typeface="Arial" pitchFamily="34" charset="0"/>
                <a:ea typeface="Arial" pitchFamily="34" charset="-122"/>
                <a:cs typeface="Arial" pitchFamily="34" charset="-120"/>
              </a:rPr>
              <a:t>Encoder–</a:t>
            </a:r>
            <a:endParaRPr lang="en-US" sz="1667" dirty="0"/>
          </a:p>
        </p:txBody>
      </p:sp>
      <p:sp>
        <p:nvSpPr>
          <p:cNvPr id="55" name="Text 53"/>
          <p:cNvSpPr txBox="1"/>
          <p:nvPr/>
        </p:nvSpPr>
        <p:spPr>
          <a:xfrm>
            <a:off x="891737" y="5010026"/>
            <a:ext cx="1401527" cy="245637"/>
          </a:xfrm>
          <a:prstGeom prst="rect">
            <a:avLst/>
          </a:prstGeom>
          <a:noFill/>
          <a:ln/>
        </p:spPr>
        <p:txBody>
          <a:bodyPr wrap="square" lIns="0" tIns="0" rIns="0" bIns="0" rtlCol="0" anchor="ctr"/>
          <a:lstStyle/>
          <a:p>
            <a:pPr algn="l" indent="0" marL="0">
              <a:lnSpc>
                <a:spcPct val="116000"/>
              </a:lnSpc>
              <a:buNone/>
            </a:pPr>
            <a:r>
              <a:rPr lang="en-US" sz="1667" b="1" dirty="0">
                <a:solidFill>
                  <a:srgbClr val="1E1B4B"/>
                </a:solidFill>
                <a:latin typeface="Arial" pitchFamily="34" charset="0"/>
                <a:ea typeface="Arial" pitchFamily="34" charset="-122"/>
                <a:cs typeface="Arial" pitchFamily="34" charset="-120"/>
              </a:rPr>
              <a:t>decoder (T5)</a:t>
            </a:r>
            <a:endParaRPr lang="en-US" sz="1667" dirty="0"/>
          </a:p>
        </p:txBody>
      </p:sp>
      <p:sp>
        <p:nvSpPr>
          <p:cNvPr id="56" name="Text 54"/>
          <p:cNvSpPr txBox="1"/>
          <p:nvPr/>
        </p:nvSpPr>
        <p:spPr>
          <a:xfrm>
            <a:off x="3236192" y="4764390"/>
            <a:ext cx="840459"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Source</a:t>
            </a:r>
            <a:endParaRPr lang="en-US" sz="1667" dirty="0"/>
          </a:p>
        </p:txBody>
      </p:sp>
      <p:sp>
        <p:nvSpPr>
          <p:cNvPr id="57" name="Text 55"/>
          <p:cNvSpPr txBox="1"/>
          <p:nvPr/>
        </p:nvSpPr>
        <p:spPr>
          <a:xfrm>
            <a:off x="3236192" y="5010026"/>
            <a:ext cx="840459"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text</a:t>
            </a:r>
            <a:endParaRPr lang="en-US" sz="1667" dirty="0"/>
          </a:p>
        </p:txBody>
      </p:sp>
      <p:sp>
        <p:nvSpPr>
          <p:cNvPr id="58" name="Text 56"/>
          <p:cNvSpPr txBox="1"/>
          <p:nvPr/>
        </p:nvSpPr>
        <p:spPr>
          <a:xfrm>
            <a:off x="5070971" y="4764390"/>
            <a:ext cx="1594394"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Encoder: sees</a:t>
            </a:r>
            <a:endParaRPr lang="en-US" sz="1667" dirty="0"/>
          </a:p>
        </p:txBody>
      </p:sp>
      <p:sp>
        <p:nvSpPr>
          <p:cNvPr id="59" name="Text 57"/>
          <p:cNvSpPr txBox="1"/>
          <p:nvPr/>
        </p:nvSpPr>
        <p:spPr>
          <a:xfrm>
            <a:off x="5070971" y="5010026"/>
            <a:ext cx="1594394"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whole source</a:t>
            </a:r>
            <a:endParaRPr lang="en-US" sz="1667" dirty="0"/>
          </a:p>
        </p:txBody>
      </p:sp>
      <p:sp>
        <p:nvSpPr>
          <p:cNvPr id="60" name="Text 58"/>
          <p:cNvSpPr txBox="1"/>
          <p:nvPr/>
        </p:nvSpPr>
        <p:spPr>
          <a:xfrm>
            <a:off x="7208201" y="4764390"/>
            <a:ext cx="1743428"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Decoder: past +</a:t>
            </a:r>
            <a:endParaRPr lang="en-US" sz="1667" dirty="0"/>
          </a:p>
        </p:txBody>
      </p:sp>
      <p:sp>
        <p:nvSpPr>
          <p:cNvPr id="61" name="Text 59"/>
          <p:cNvSpPr txBox="1"/>
          <p:nvPr/>
        </p:nvSpPr>
        <p:spPr>
          <a:xfrm>
            <a:off x="7208201" y="5010026"/>
            <a:ext cx="1743428"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cross-attention</a:t>
            </a:r>
            <a:endParaRPr lang="en-US" sz="1667" dirty="0"/>
          </a:p>
        </p:txBody>
      </p:sp>
      <p:sp>
        <p:nvSpPr>
          <p:cNvPr id="62" name="Text 60"/>
          <p:cNvSpPr txBox="1"/>
          <p:nvPr/>
        </p:nvSpPr>
        <p:spPr>
          <a:xfrm>
            <a:off x="9739932" y="4764390"/>
            <a:ext cx="1103459"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Output</a:t>
            </a:r>
            <a:endParaRPr lang="en-US" sz="1667" dirty="0"/>
          </a:p>
        </p:txBody>
      </p:sp>
      <p:sp>
        <p:nvSpPr>
          <p:cNvPr id="63" name="Text 61"/>
          <p:cNvSpPr txBox="1"/>
          <p:nvPr/>
        </p:nvSpPr>
        <p:spPr>
          <a:xfrm>
            <a:off x="9739932" y="5010026"/>
            <a:ext cx="1103459" cy="245637"/>
          </a:xfrm>
          <a:prstGeom prst="rect">
            <a:avLst/>
          </a:prstGeom>
          <a:noFill/>
          <a:ln/>
        </p:spPr>
        <p:txBody>
          <a:bodyPr wrap="square" lIns="0" tIns="0" rIns="0" bIns="0" rtlCol="0" anchor="ctr"/>
          <a:lstStyle/>
          <a:p>
            <a:pPr algn="ctr" indent="0" marL="0">
              <a:lnSpc>
                <a:spcPct val="116000"/>
              </a:lnSpc>
              <a:buNone/>
            </a:pPr>
            <a:r>
              <a:rPr lang="en-US" sz="1667" b="1" dirty="0">
                <a:solidFill>
                  <a:srgbClr val="1E1B4B"/>
                </a:solidFill>
                <a:latin typeface="Arial" pitchFamily="34" charset="0"/>
                <a:ea typeface="Arial" pitchFamily="34" charset="-122"/>
                <a:cs typeface="Arial" pitchFamily="34" charset="-120"/>
              </a:rPr>
              <a:t>sequence</a:t>
            </a:r>
            <a:endParaRPr lang="en-US" sz="1667" dirty="0"/>
          </a:p>
        </p:txBody>
      </p:sp>
      <p:sp>
        <p:nvSpPr>
          <p:cNvPr id="64" name="Text 62"/>
          <p:cNvSpPr txBox="1"/>
          <p:nvPr/>
        </p:nvSpPr>
        <p:spPr>
          <a:xfrm>
            <a:off x="1168206" y="5890422"/>
            <a:ext cx="1077159" cy="245637"/>
          </a:xfrm>
          <a:prstGeom prst="rect">
            <a:avLst/>
          </a:prstGeom>
          <a:noFill/>
          <a:ln/>
        </p:spPr>
        <p:txBody>
          <a:bodyPr wrap="square" lIns="0" tIns="0" rIns="0" bIns="0" rtlCol="0" anchor="ctr"/>
          <a:lstStyle/>
          <a:p>
            <a:pPr algn="l" indent="0" marL="0">
              <a:lnSpc>
                <a:spcPct val="116000"/>
              </a:lnSpc>
              <a:buNone/>
            </a:pPr>
            <a:r>
              <a:rPr lang="en-US" sz="1667" dirty="0">
                <a:solidFill>
                  <a:srgbClr val="1F2937"/>
                </a:solidFill>
                <a:latin typeface="Arial" pitchFamily="34" charset="0"/>
                <a:ea typeface="Arial" pitchFamily="34" charset="-122"/>
                <a:cs typeface="Arial" pitchFamily="34" charset="-120"/>
              </a:rPr>
              <a:t>Input data</a:t>
            </a:r>
            <a:endParaRPr lang="en-US" sz="1667" dirty="0"/>
          </a:p>
        </p:txBody>
      </p:sp>
      <p:sp>
        <p:nvSpPr>
          <p:cNvPr id="65" name="Text 63"/>
          <p:cNvSpPr txBox="1"/>
          <p:nvPr/>
        </p:nvSpPr>
        <p:spPr>
          <a:xfrm>
            <a:off x="3282375" y="5890422"/>
            <a:ext cx="700192" cy="245637"/>
          </a:xfrm>
          <a:prstGeom prst="rect">
            <a:avLst/>
          </a:prstGeom>
          <a:noFill/>
          <a:ln/>
        </p:spPr>
        <p:txBody>
          <a:bodyPr wrap="square" lIns="0" tIns="0" rIns="0" bIns="0" rtlCol="0" anchor="ctr"/>
          <a:lstStyle/>
          <a:p>
            <a:pPr algn="l" indent="0" marL="0">
              <a:lnSpc>
                <a:spcPct val="116000"/>
              </a:lnSpc>
              <a:buNone/>
            </a:pPr>
            <a:r>
              <a:rPr lang="en-US" sz="1667" dirty="0">
                <a:solidFill>
                  <a:srgbClr val="1F2937"/>
                </a:solidFill>
                <a:latin typeface="Arial" pitchFamily="34" charset="0"/>
                <a:ea typeface="Arial" pitchFamily="34" charset="-122"/>
                <a:cs typeface="Arial" pitchFamily="34" charset="-120"/>
              </a:rPr>
              <a:t>Model</a:t>
            </a:r>
            <a:endParaRPr lang="en-US" sz="1667" dirty="0"/>
          </a:p>
        </p:txBody>
      </p:sp>
      <p:sp>
        <p:nvSpPr>
          <p:cNvPr id="66" name="Text 64"/>
          <p:cNvSpPr txBox="1"/>
          <p:nvPr/>
        </p:nvSpPr>
        <p:spPr>
          <a:xfrm>
            <a:off x="5396545" y="5890422"/>
            <a:ext cx="752792" cy="245637"/>
          </a:xfrm>
          <a:prstGeom prst="rect">
            <a:avLst/>
          </a:prstGeom>
          <a:noFill/>
          <a:ln/>
        </p:spPr>
        <p:txBody>
          <a:bodyPr wrap="square" lIns="0" tIns="0" rIns="0" bIns="0" rtlCol="0" anchor="ctr"/>
          <a:lstStyle/>
          <a:p>
            <a:pPr algn="l" indent="0" marL="0">
              <a:lnSpc>
                <a:spcPct val="116000"/>
              </a:lnSpc>
              <a:buNone/>
            </a:pPr>
            <a:r>
              <a:rPr lang="en-US" sz="1667" dirty="0">
                <a:solidFill>
                  <a:srgbClr val="1F2937"/>
                </a:solidFill>
                <a:latin typeface="Arial" pitchFamily="34" charset="0"/>
                <a:ea typeface="Arial" pitchFamily="34" charset="-122"/>
                <a:cs typeface="Arial" pitchFamily="34" charset="-120"/>
              </a:rPr>
              <a:t>Output</a:t>
            </a:r>
            <a:endParaRPr lang="en-US" sz="1667"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Choose an architecture for the job</a:t>
            </a:r>
            <a:endParaRPr lang="en-US" sz="3200" dirty="0"/>
          </a:p>
        </p:txBody>
      </p:sp>
      <p:sp>
        <p:nvSpPr>
          <p:cNvPr id="6" name="Shape 4"/>
          <p:cNvSpPr/>
          <p:nvPr/>
        </p:nvSpPr>
        <p:spPr>
          <a:xfrm>
            <a:off x="893420" y="2547629"/>
            <a:ext cx="3318084" cy="521438"/>
          </a:xfrm>
          <a:prstGeom prst="rect">
            <a:avLst/>
          </a:prstGeom>
          <a:solidFill>
            <a:srgbClr val="E5F7EF"/>
          </a:solidFill>
          <a:ln w="15240">
            <a:solidFill>
              <a:srgbClr val="009E73"/>
            </a:solidFill>
            <a:prstDash val="solid"/>
          </a:ln>
        </p:spPr>
      </p:sp>
      <p:sp>
        <p:nvSpPr>
          <p:cNvPr id="7" name="Shape 5"/>
          <p:cNvSpPr/>
          <p:nvPr/>
        </p:nvSpPr>
        <p:spPr>
          <a:xfrm>
            <a:off x="4416324" y="2547629"/>
            <a:ext cx="3318084" cy="521438"/>
          </a:xfrm>
          <a:prstGeom prst="rect">
            <a:avLst/>
          </a:prstGeom>
          <a:solidFill>
            <a:srgbClr val="E5F7EF"/>
          </a:solidFill>
          <a:ln w="15240">
            <a:solidFill>
              <a:srgbClr val="009E73"/>
            </a:solidFill>
            <a:prstDash val="solid"/>
          </a:ln>
        </p:spPr>
      </p:sp>
      <p:sp>
        <p:nvSpPr>
          <p:cNvPr id="8" name="Shape 6"/>
          <p:cNvSpPr/>
          <p:nvPr/>
        </p:nvSpPr>
        <p:spPr>
          <a:xfrm>
            <a:off x="7939227" y="2547629"/>
            <a:ext cx="3318084" cy="521438"/>
          </a:xfrm>
          <a:prstGeom prst="rect">
            <a:avLst/>
          </a:prstGeom>
          <a:solidFill>
            <a:srgbClr val="E5F7EF"/>
          </a:solidFill>
          <a:ln w="15240">
            <a:solidFill>
              <a:srgbClr val="009E73"/>
            </a:solidFill>
            <a:prstDash val="solid"/>
          </a:ln>
        </p:spPr>
      </p:sp>
      <p:sp>
        <p:nvSpPr>
          <p:cNvPr id="9" name="Text 7"/>
          <p:cNvSpPr txBox="1"/>
          <p:nvPr/>
        </p:nvSpPr>
        <p:spPr>
          <a:xfrm>
            <a:off x="1946152" y="2657103"/>
            <a:ext cx="1212620" cy="302489"/>
          </a:xfrm>
          <a:prstGeom prst="rect">
            <a:avLst/>
          </a:prstGeom>
          <a:noFill/>
          <a:ln/>
        </p:spPr>
        <p:txBody>
          <a:bodyPr wrap="square" lIns="0" tIns="0" rIns="0" bIns="0" rtlCol="0" anchor="ctr"/>
          <a:lstStyle/>
          <a:p>
            <a:pPr algn="ctr" indent="0" marL="0">
              <a:lnSpc>
                <a:spcPct val="116000"/>
              </a:lnSpc>
              <a:buNone/>
            </a:pPr>
            <a:r>
              <a:rPr lang="en-US" sz="2053" b="1" dirty="0">
                <a:solidFill>
                  <a:srgbClr val="1E1B4B"/>
                </a:solidFill>
                <a:latin typeface="Arial" pitchFamily="34" charset="0"/>
                <a:ea typeface="Arial" pitchFamily="34" charset="-122"/>
                <a:cs typeface="Arial" pitchFamily="34" charset="-120"/>
              </a:rPr>
              <a:t>Encoder</a:t>
            </a:r>
            <a:endParaRPr lang="en-US" sz="2053" dirty="0"/>
          </a:p>
        </p:txBody>
      </p:sp>
      <p:sp>
        <p:nvSpPr>
          <p:cNvPr id="10" name="Text 8"/>
          <p:cNvSpPr txBox="1"/>
          <p:nvPr/>
        </p:nvSpPr>
        <p:spPr>
          <a:xfrm>
            <a:off x="1040891" y="3478194"/>
            <a:ext cx="2809029" cy="261240"/>
          </a:xfrm>
          <a:prstGeom prst="rect">
            <a:avLst/>
          </a:prstGeom>
          <a:noFill/>
          <a:ln/>
        </p:spPr>
        <p:txBody>
          <a:bodyPr wrap="square" lIns="0" tIns="0" rIns="0" bIns="0" rtlCol="0" anchor="ctr"/>
          <a:lstStyle/>
          <a:p>
            <a:pPr algn="l" indent="0" marL="0">
              <a:lnSpc>
                <a:spcPct val="116000"/>
              </a:lnSpc>
              <a:buNone/>
            </a:pPr>
            <a:r>
              <a:rPr lang="en-US" sz="1773" dirty="0">
                <a:solidFill>
                  <a:srgbClr val="1F2937"/>
                </a:solidFill>
                <a:latin typeface="Arial" pitchFamily="34" charset="0"/>
                <a:ea typeface="Arial" pitchFamily="34" charset="-122"/>
                <a:cs typeface="Arial" pitchFamily="34" charset="-120"/>
              </a:rPr>
              <a:t>Can use: All input positions</a:t>
            </a:r>
            <a:endParaRPr lang="en-US" sz="1773" dirty="0"/>
          </a:p>
        </p:txBody>
      </p:sp>
      <p:sp>
        <p:nvSpPr>
          <p:cNvPr id="11" name="Text 9"/>
          <p:cNvSpPr txBox="1"/>
          <p:nvPr/>
        </p:nvSpPr>
        <p:spPr>
          <a:xfrm>
            <a:off x="1040891" y="4235762"/>
            <a:ext cx="2459717" cy="261240"/>
          </a:xfrm>
          <a:prstGeom prst="rect">
            <a:avLst/>
          </a:prstGeom>
          <a:noFill/>
          <a:ln/>
        </p:spPr>
        <p:txBody>
          <a:bodyPr wrap="square" lIns="0" tIns="0" rIns="0" bIns="0" rtlCol="0" anchor="ctr"/>
          <a:lstStyle/>
          <a:p>
            <a:pPr algn="l" indent="0" marL="0">
              <a:lnSpc>
                <a:spcPct val="116000"/>
              </a:lnSpc>
              <a:buNone/>
            </a:pPr>
            <a:r>
              <a:rPr lang="en-US" sz="1773" dirty="0">
                <a:solidFill>
                  <a:srgbClr val="1F2937"/>
                </a:solidFill>
                <a:latin typeface="Arial" pitchFamily="34" charset="0"/>
                <a:ea typeface="Arial" pitchFamily="34" charset="-122"/>
                <a:cs typeface="Arial" pitchFamily="34" charset="-120"/>
              </a:rPr>
              <a:t>Produces: label / vector</a:t>
            </a:r>
            <a:endParaRPr lang="en-US" sz="1773" dirty="0"/>
          </a:p>
        </p:txBody>
      </p:sp>
      <p:sp>
        <p:nvSpPr>
          <p:cNvPr id="12" name="Text 10"/>
          <p:cNvSpPr txBox="1"/>
          <p:nvPr/>
        </p:nvSpPr>
        <p:spPr>
          <a:xfrm>
            <a:off x="1040891" y="4797310"/>
            <a:ext cx="1713478" cy="261240"/>
          </a:xfrm>
          <a:prstGeom prst="rect">
            <a:avLst/>
          </a:prstGeom>
          <a:noFill/>
          <a:ln/>
        </p:spPr>
        <p:txBody>
          <a:bodyPr wrap="square" lIns="0" tIns="0" rIns="0" bIns="0" rtlCol="0" anchor="ctr"/>
          <a:lstStyle/>
          <a:p>
            <a:pPr algn="l" indent="0" marL="0">
              <a:lnSpc>
                <a:spcPct val="116000"/>
              </a:lnSpc>
              <a:buNone/>
            </a:pPr>
            <a:r>
              <a:rPr lang="en-US" sz="1773" dirty="0">
                <a:solidFill>
                  <a:srgbClr val="1F2937"/>
                </a:solidFill>
                <a:latin typeface="Arial" pitchFamily="34" charset="0"/>
                <a:ea typeface="Arial" pitchFamily="34" charset="-122"/>
                <a:cs typeface="Arial" pitchFamily="34" charset="-120"/>
              </a:rPr>
              <a:t>Example: BERT</a:t>
            </a:r>
            <a:endParaRPr lang="en-US" sz="1773" dirty="0"/>
          </a:p>
        </p:txBody>
      </p:sp>
      <p:sp>
        <p:nvSpPr>
          <p:cNvPr id="13" name="Text 11"/>
          <p:cNvSpPr txBox="1"/>
          <p:nvPr/>
        </p:nvSpPr>
        <p:spPr>
          <a:xfrm>
            <a:off x="1040891" y="5105583"/>
            <a:ext cx="3049684" cy="233741"/>
          </a:xfrm>
          <a:prstGeom prst="rect">
            <a:avLst/>
          </a:prstGeom>
          <a:noFill/>
          <a:ln/>
        </p:spPr>
        <p:txBody>
          <a:bodyPr wrap="square" lIns="0" tIns="0" rIns="0" bIns="0" rtlCol="0" anchor="ctr"/>
          <a:lstStyle/>
          <a:p>
            <a:pPr algn="l" indent="0" marL="0">
              <a:lnSpc>
                <a:spcPct val="116000"/>
              </a:lnSpc>
              <a:buNone/>
            </a:pPr>
            <a:r>
              <a:rPr lang="en-US" sz="1587" dirty="0">
                <a:solidFill>
                  <a:srgbClr val="1F2937"/>
                </a:solidFill>
                <a:latin typeface="Arial" pitchFamily="34" charset="0"/>
                <a:ea typeface="Arial" pitchFamily="34" charset="-122"/>
                <a:cs typeface="Arial" pitchFamily="34" charset="-120"/>
              </a:rPr>
              <a:t>Useful for search / classification</a:t>
            </a:r>
            <a:endParaRPr lang="en-US" sz="1587" dirty="0"/>
          </a:p>
        </p:txBody>
      </p:sp>
      <p:sp>
        <p:nvSpPr>
          <p:cNvPr id="14" name="Text 12"/>
          <p:cNvSpPr txBox="1"/>
          <p:nvPr/>
        </p:nvSpPr>
        <p:spPr>
          <a:xfrm>
            <a:off x="5473472" y="2657103"/>
            <a:ext cx="1203787" cy="302489"/>
          </a:xfrm>
          <a:prstGeom prst="rect">
            <a:avLst/>
          </a:prstGeom>
          <a:noFill/>
          <a:ln/>
        </p:spPr>
        <p:txBody>
          <a:bodyPr wrap="square" lIns="0" tIns="0" rIns="0" bIns="0" rtlCol="0" anchor="ctr"/>
          <a:lstStyle/>
          <a:p>
            <a:pPr algn="ctr" indent="0" marL="0">
              <a:lnSpc>
                <a:spcPct val="116000"/>
              </a:lnSpc>
              <a:buNone/>
            </a:pPr>
            <a:r>
              <a:rPr lang="en-US" sz="2053" b="1" dirty="0">
                <a:solidFill>
                  <a:srgbClr val="1E1B4B"/>
                </a:solidFill>
                <a:latin typeface="Arial" pitchFamily="34" charset="0"/>
                <a:ea typeface="Arial" pitchFamily="34" charset="-122"/>
                <a:cs typeface="Arial" pitchFamily="34" charset="-120"/>
              </a:rPr>
              <a:t>Decoder</a:t>
            </a:r>
            <a:endParaRPr lang="en-US" sz="2053" dirty="0"/>
          </a:p>
        </p:txBody>
      </p:sp>
      <p:sp>
        <p:nvSpPr>
          <p:cNvPr id="15" name="Text 13"/>
          <p:cNvSpPr txBox="1"/>
          <p:nvPr/>
        </p:nvSpPr>
        <p:spPr>
          <a:xfrm>
            <a:off x="4563794" y="3478194"/>
            <a:ext cx="2521547" cy="261240"/>
          </a:xfrm>
          <a:prstGeom prst="rect">
            <a:avLst/>
          </a:prstGeom>
          <a:noFill/>
          <a:ln/>
        </p:spPr>
        <p:txBody>
          <a:bodyPr wrap="square" lIns="0" tIns="0" rIns="0" bIns="0" rtlCol="0" anchor="ctr"/>
          <a:lstStyle/>
          <a:p>
            <a:pPr algn="l" indent="0" marL="0">
              <a:lnSpc>
                <a:spcPct val="116000"/>
              </a:lnSpc>
              <a:buNone/>
            </a:pPr>
            <a:r>
              <a:rPr lang="en-US" sz="1773" dirty="0">
                <a:solidFill>
                  <a:srgbClr val="1F2937"/>
                </a:solidFill>
                <a:latin typeface="Arial" pitchFamily="34" charset="0"/>
                <a:ea typeface="Arial" pitchFamily="34" charset="-122"/>
                <a:cs typeface="Arial" pitchFamily="34" charset="-120"/>
              </a:rPr>
              <a:t>Can use: Present + past</a:t>
            </a:r>
            <a:endParaRPr lang="en-US" sz="1773" dirty="0"/>
          </a:p>
        </p:txBody>
      </p:sp>
      <p:sp>
        <p:nvSpPr>
          <p:cNvPr id="16" name="Text 14"/>
          <p:cNvSpPr txBox="1"/>
          <p:nvPr/>
        </p:nvSpPr>
        <p:spPr>
          <a:xfrm>
            <a:off x="4563794" y="4235762"/>
            <a:ext cx="2212397" cy="261240"/>
          </a:xfrm>
          <a:prstGeom prst="rect">
            <a:avLst/>
          </a:prstGeom>
          <a:noFill/>
          <a:ln/>
        </p:spPr>
        <p:txBody>
          <a:bodyPr wrap="square" lIns="0" tIns="0" rIns="0" bIns="0" rtlCol="0" anchor="ctr"/>
          <a:lstStyle/>
          <a:p>
            <a:pPr algn="l" indent="0" marL="0">
              <a:lnSpc>
                <a:spcPct val="116000"/>
              </a:lnSpc>
              <a:buNone/>
            </a:pPr>
            <a:r>
              <a:rPr lang="en-US" sz="1773" dirty="0">
                <a:solidFill>
                  <a:srgbClr val="1F2937"/>
                </a:solidFill>
                <a:latin typeface="Arial" pitchFamily="34" charset="0"/>
                <a:ea typeface="Arial" pitchFamily="34" charset="-122"/>
                <a:cs typeface="Arial" pitchFamily="34" charset="-120"/>
              </a:rPr>
              <a:t>Produces: next token</a:t>
            </a:r>
            <a:endParaRPr lang="en-US" sz="1773" dirty="0"/>
          </a:p>
        </p:txBody>
      </p:sp>
      <p:sp>
        <p:nvSpPr>
          <p:cNvPr id="17" name="Text 15"/>
          <p:cNvSpPr txBox="1"/>
          <p:nvPr/>
        </p:nvSpPr>
        <p:spPr>
          <a:xfrm>
            <a:off x="4563794" y="4797310"/>
            <a:ext cx="2915024" cy="261240"/>
          </a:xfrm>
          <a:prstGeom prst="rect">
            <a:avLst/>
          </a:prstGeom>
          <a:noFill/>
          <a:ln/>
        </p:spPr>
        <p:txBody>
          <a:bodyPr wrap="square" lIns="0" tIns="0" rIns="0" bIns="0" rtlCol="0" anchor="ctr"/>
          <a:lstStyle/>
          <a:p>
            <a:pPr algn="l" indent="0" marL="0">
              <a:lnSpc>
                <a:spcPct val="116000"/>
              </a:lnSpc>
              <a:buNone/>
            </a:pPr>
            <a:r>
              <a:rPr lang="en-US" sz="1773" dirty="0">
                <a:solidFill>
                  <a:srgbClr val="1F2937"/>
                </a:solidFill>
                <a:latin typeface="Arial" pitchFamily="34" charset="0"/>
                <a:ea typeface="Arial" pitchFamily="34" charset="-122"/>
                <a:cs typeface="Arial" pitchFamily="34" charset="-120"/>
              </a:rPr>
              <a:t>Example: GPT-2 / CharGPT</a:t>
            </a:r>
            <a:endParaRPr lang="en-US" sz="1773" dirty="0"/>
          </a:p>
        </p:txBody>
      </p:sp>
      <p:sp>
        <p:nvSpPr>
          <p:cNvPr id="18" name="Text 16"/>
          <p:cNvSpPr txBox="1"/>
          <p:nvPr/>
        </p:nvSpPr>
        <p:spPr>
          <a:xfrm>
            <a:off x="4563794" y="5105583"/>
            <a:ext cx="2581542" cy="233741"/>
          </a:xfrm>
          <a:prstGeom prst="rect">
            <a:avLst/>
          </a:prstGeom>
          <a:noFill/>
          <a:ln/>
        </p:spPr>
        <p:txBody>
          <a:bodyPr wrap="square" lIns="0" tIns="0" rIns="0" bIns="0" rtlCol="0" anchor="ctr"/>
          <a:lstStyle/>
          <a:p>
            <a:pPr algn="l" indent="0" marL="0">
              <a:lnSpc>
                <a:spcPct val="116000"/>
              </a:lnSpc>
              <a:buNone/>
            </a:pPr>
            <a:r>
              <a:rPr lang="en-US" sz="1587" dirty="0">
                <a:solidFill>
                  <a:srgbClr val="1F2937"/>
                </a:solidFill>
                <a:latin typeface="Arial" pitchFamily="34" charset="0"/>
                <a:ea typeface="Arial" pitchFamily="34" charset="-122"/>
                <a:cs typeface="Arial" pitchFamily="34" charset="-120"/>
              </a:rPr>
              <a:t>Useful for text continuation</a:t>
            </a:r>
            <a:endParaRPr lang="en-US" sz="1587" dirty="0"/>
          </a:p>
        </p:txBody>
      </p:sp>
      <p:sp>
        <p:nvSpPr>
          <p:cNvPr id="19" name="Text 17"/>
          <p:cNvSpPr txBox="1"/>
          <p:nvPr/>
        </p:nvSpPr>
        <p:spPr>
          <a:xfrm>
            <a:off x="8386908" y="2657103"/>
            <a:ext cx="2422722" cy="302489"/>
          </a:xfrm>
          <a:prstGeom prst="rect">
            <a:avLst/>
          </a:prstGeom>
          <a:noFill/>
          <a:ln/>
        </p:spPr>
        <p:txBody>
          <a:bodyPr wrap="square" lIns="0" tIns="0" rIns="0" bIns="0" rtlCol="0" anchor="ctr"/>
          <a:lstStyle/>
          <a:p>
            <a:pPr algn="ctr" indent="0" marL="0">
              <a:lnSpc>
                <a:spcPct val="116000"/>
              </a:lnSpc>
              <a:buNone/>
            </a:pPr>
            <a:r>
              <a:rPr lang="en-US" sz="2053" b="1" dirty="0">
                <a:solidFill>
                  <a:srgbClr val="1E1B4B"/>
                </a:solidFill>
                <a:latin typeface="Arial" pitchFamily="34" charset="0"/>
                <a:ea typeface="Arial" pitchFamily="34" charset="-122"/>
                <a:cs typeface="Arial" pitchFamily="34" charset="-120"/>
              </a:rPr>
              <a:t>Encoder–decoder</a:t>
            </a:r>
            <a:endParaRPr lang="en-US" sz="2053" dirty="0"/>
          </a:p>
        </p:txBody>
      </p:sp>
      <p:sp>
        <p:nvSpPr>
          <p:cNvPr id="20" name="Text 18"/>
          <p:cNvSpPr txBox="1"/>
          <p:nvPr/>
        </p:nvSpPr>
        <p:spPr>
          <a:xfrm>
            <a:off x="8086698" y="3478194"/>
            <a:ext cx="2645207" cy="261240"/>
          </a:xfrm>
          <a:prstGeom prst="rect">
            <a:avLst/>
          </a:prstGeom>
          <a:noFill/>
          <a:ln/>
        </p:spPr>
        <p:txBody>
          <a:bodyPr wrap="square" lIns="0" tIns="0" rIns="0" bIns="0" rtlCol="0" anchor="ctr"/>
          <a:lstStyle/>
          <a:p>
            <a:pPr algn="l" indent="0" marL="0">
              <a:lnSpc>
                <a:spcPct val="116000"/>
              </a:lnSpc>
              <a:buNone/>
            </a:pPr>
            <a:r>
              <a:rPr lang="en-US" sz="1773" dirty="0">
                <a:solidFill>
                  <a:srgbClr val="1F2937"/>
                </a:solidFill>
                <a:latin typeface="Arial" pitchFamily="34" charset="0"/>
                <a:ea typeface="Arial" pitchFamily="34" charset="-122"/>
                <a:cs typeface="Arial" pitchFamily="34" charset="-120"/>
              </a:rPr>
              <a:t>Can use: Encoder input +</a:t>
            </a:r>
            <a:endParaRPr lang="en-US" sz="1773" dirty="0"/>
          </a:p>
        </p:txBody>
      </p:sp>
      <p:sp>
        <p:nvSpPr>
          <p:cNvPr id="21" name="Text 19"/>
          <p:cNvSpPr txBox="1"/>
          <p:nvPr/>
        </p:nvSpPr>
        <p:spPr>
          <a:xfrm>
            <a:off x="8086698" y="3739434"/>
            <a:ext cx="2645207" cy="261240"/>
          </a:xfrm>
          <a:prstGeom prst="rect">
            <a:avLst/>
          </a:prstGeom>
          <a:noFill/>
          <a:ln/>
        </p:spPr>
        <p:txBody>
          <a:bodyPr wrap="square" lIns="0" tIns="0" rIns="0" bIns="0" rtlCol="0" anchor="ctr"/>
          <a:lstStyle/>
          <a:p>
            <a:pPr algn="l" indent="0" marL="0">
              <a:lnSpc>
                <a:spcPct val="116000"/>
              </a:lnSpc>
              <a:buNone/>
            </a:pPr>
            <a:r>
              <a:rPr lang="en-US" sz="1773" dirty="0">
                <a:solidFill>
                  <a:srgbClr val="1F2937"/>
                </a:solidFill>
                <a:latin typeface="Arial" pitchFamily="34" charset="0"/>
                <a:ea typeface="Arial" pitchFamily="34" charset="-122"/>
                <a:cs typeface="Arial" pitchFamily="34" charset="-120"/>
              </a:rPr>
              <a:t>decoder past</a:t>
            </a:r>
            <a:endParaRPr lang="en-US" sz="1773" dirty="0"/>
          </a:p>
        </p:txBody>
      </p:sp>
      <p:sp>
        <p:nvSpPr>
          <p:cNvPr id="22" name="Text 20"/>
          <p:cNvSpPr txBox="1"/>
          <p:nvPr/>
        </p:nvSpPr>
        <p:spPr>
          <a:xfrm>
            <a:off x="8086698" y="4235762"/>
            <a:ext cx="2830697" cy="261240"/>
          </a:xfrm>
          <a:prstGeom prst="rect">
            <a:avLst/>
          </a:prstGeom>
          <a:noFill/>
          <a:ln/>
        </p:spPr>
        <p:txBody>
          <a:bodyPr wrap="square" lIns="0" tIns="0" rIns="0" bIns="0" rtlCol="0" anchor="ctr"/>
          <a:lstStyle/>
          <a:p>
            <a:pPr algn="l" indent="0" marL="0">
              <a:lnSpc>
                <a:spcPct val="116000"/>
              </a:lnSpc>
              <a:buNone/>
            </a:pPr>
            <a:r>
              <a:rPr lang="en-US" sz="1773" dirty="0">
                <a:solidFill>
                  <a:srgbClr val="1F2937"/>
                </a:solidFill>
                <a:latin typeface="Arial" pitchFamily="34" charset="0"/>
                <a:ea typeface="Arial" pitchFamily="34" charset="-122"/>
                <a:cs typeface="Arial" pitchFamily="34" charset="-120"/>
              </a:rPr>
              <a:t>Produces: output sequence</a:t>
            </a:r>
            <a:endParaRPr lang="en-US" sz="1773" dirty="0"/>
          </a:p>
        </p:txBody>
      </p:sp>
      <p:sp>
        <p:nvSpPr>
          <p:cNvPr id="23" name="Text 21"/>
          <p:cNvSpPr txBox="1"/>
          <p:nvPr/>
        </p:nvSpPr>
        <p:spPr>
          <a:xfrm>
            <a:off x="8086698" y="4797310"/>
            <a:ext cx="2596765" cy="261240"/>
          </a:xfrm>
          <a:prstGeom prst="rect">
            <a:avLst/>
          </a:prstGeom>
          <a:noFill/>
          <a:ln/>
        </p:spPr>
        <p:txBody>
          <a:bodyPr wrap="square" lIns="0" tIns="0" rIns="0" bIns="0" rtlCol="0" anchor="ctr"/>
          <a:lstStyle/>
          <a:p>
            <a:pPr algn="l" indent="0" marL="0">
              <a:lnSpc>
                <a:spcPct val="116000"/>
              </a:lnSpc>
              <a:buNone/>
            </a:pPr>
            <a:r>
              <a:rPr lang="en-US" sz="1773" dirty="0">
                <a:solidFill>
                  <a:srgbClr val="1F2937"/>
                </a:solidFill>
                <a:latin typeface="Arial" pitchFamily="34" charset="0"/>
                <a:ea typeface="Arial" pitchFamily="34" charset="-122"/>
                <a:cs typeface="Arial" pitchFamily="34" charset="-120"/>
              </a:rPr>
              <a:t>Example: T5 / translation</a:t>
            </a:r>
            <a:endParaRPr lang="en-US" sz="1773" dirty="0"/>
          </a:p>
        </p:txBody>
      </p:sp>
      <p:sp>
        <p:nvSpPr>
          <p:cNvPr id="24" name="Text 22"/>
          <p:cNvSpPr txBox="1"/>
          <p:nvPr/>
        </p:nvSpPr>
        <p:spPr>
          <a:xfrm>
            <a:off x="8086698" y="5105583"/>
            <a:ext cx="2979021" cy="233741"/>
          </a:xfrm>
          <a:prstGeom prst="rect">
            <a:avLst/>
          </a:prstGeom>
          <a:noFill/>
          <a:ln/>
        </p:spPr>
        <p:txBody>
          <a:bodyPr wrap="square" lIns="0" tIns="0" rIns="0" bIns="0" rtlCol="0" anchor="ctr"/>
          <a:lstStyle/>
          <a:p>
            <a:pPr algn="l" indent="0" marL="0">
              <a:lnSpc>
                <a:spcPct val="116000"/>
              </a:lnSpc>
              <a:buNone/>
            </a:pPr>
            <a:r>
              <a:rPr lang="en-US" sz="1587" dirty="0">
                <a:solidFill>
                  <a:srgbClr val="1F2937"/>
                </a:solidFill>
                <a:latin typeface="Arial" pitchFamily="34" charset="0"/>
                <a:ea typeface="Arial" pitchFamily="34" charset="-122"/>
                <a:cs typeface="Arial" pitchFamily="34" charset="-120"/>
              </a:rPr>
              <a:t>Useful for input → output tasks</a:t>
            </a:r>
            <a:endParaRPr lang="en-US" sz="1587" dirty="0"/>
          </a:p>
        </p:txBody>
      </p:sp>
      <p:sp>
        <p:nvSpPr>
          <p:cNvPr id="25" name="Text 23"/>
          <p:cNvSpPr txBox="1"/>
          <p:nvPr/>
        </p:nvSpPr>
        <p:spPr>
          <a:xfrm>
            <a:off x="852456" y="1908211"/>
            <a:ext cx="4957753" cy="302489"/>
          </a:xfrm>
          <a:prstGeom prst="rect">
            <a:avLst/>
          </a:prstGeom>
          <a:noFill/>
          <a:ln/>
        </p:spPr>
        <p:txBody>
          <a:bodyPr wrap="square" lIns="0" tIns="0" rIns="0" bIns="0" rtlCol="0" anchor="ctr"/>
          <a:lstStyle/>
          <a:p>
            <a:pPr algn="l" indent="0" marL="0">
              <a:lnSpc>
                <a:spcPct val="116000"/>
              </a:lnSpc>
              <a:buNone/>
            </a:pPr>
            <a:r>
              <a:rPr lang="en-US" sz="2053" b="1" dirty="0">
                <a:solidFill>
                  <a:srgbClr val="1E1B4B"/>
                </a:solidFill>
                <a:latin typeface="Arial" pitchFamily="34" charset="0"/>
                <a:ea typeface="Arial" pitchFamily="34" charset="-122"/>
                <a:cs typeface="Arial" pitchFamily="34" charset="-120"/>
              </a:rPr>
              <a:t>Choose the attention rule for the task</a:t>
            </a:r>
            <a:endParaRPr lang="en-US" sz="2053"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Which combination fits document search plus generated answers?</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Trained text embeddings; generating decoder</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Decoder search; BERT chat</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BERT alone for everything</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Only encoder-decoders use attention</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Attention in PyTorch (what you write in the lab)</a:t>
            </a:r>
            <a:endParaRPr lang="en-US" sz="3200" dirty="0"/>
          </a:p>
        </p:txBody>
      </p:sp>
      <p:sp>
        <p:nvSpPr>
          <p:cNvPr id="6" name="Shape 4"/>
          <p:cNvSpPr/>
          <p:nvPr/>
        </p:nvSpPr>
        <p:spPr>
          <a:xfrm>
            <a:off x="548640" y="1481328"/>
            <a:ext cx="11094415" cy="3291840"/>
          </a:xfrm>
          <a:prstGeom prst="roundRect">
            <a:avLst>
              <a:gd name="adj" fmla="val 2778"/>
            </a:avLst>
          </a:prstGeom>
          <a:solidFill>
            <a:srgbClr val="1E1E2E"/>
          </a:solidFill>
          <a:ln w="12700">
            <a:solidFill>
              <a:srgbClr val="1E1E2E"/>
            </a:solidFill>
            <a:prstDash val="solid"/>
          </a:ln>
        </p:spPr>
      </p:sp>
      <p:sp>
        <p:nvSpPr>
          <p:cNvPr id="7" name="Text 5"/>
          <p:cNvSpPr txBox="1"/>
          <p:nvPr/>
        </p:nvSpPr>
        <p:spPr>
          <a:xfrm>
            <a:off x="685800" y="1591056"/>
            <a:ext cx="10820095" cy="3072384"/>
          </a:xfrm>
          <a:prstGeom prst="rect">
            <a:avLst/>
          </a:prstGeom>
          <a:noFill/>
          <a:ln/>
        </p:spPr>
        <p:txBody>
          <a:bodyPr wrap="square" lIns="76200" tIns="76200" rIns="76200" bIns="76200" rtlCol="0" anchor="t"/>
          <a:lstStyle/>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def attention(q, k, v, causal=False):</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scores = q @ k.transpose(-2, -1) / q.size(-1)**0.5</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if causal:</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n = q.size(-2)</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blocked = torch.ones(n, n, dtype=torch.bool,</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device=q.device).triu(1)</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scores = scores.masked_fill(blocked, float("-inf"))</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weights = scores.softmax(dim=-1)</a:t>
            </a:r>
            <a:endParaRPr lang="en-US" sz="2000" dirty="0"/>
          </a:p>
          <a:p>
            <a:pPr indent="0" marL="0">
              <a:lnSpc>
                <a:spcPct val="100000"/>
              </a:lnSpc>
              <a:buNone/>
            </a:pPr>
            <a:r>
              <a:rPr lang="en-US" sz="2000" dirty="0">
                <a:solidFill>
                  <a:srgbClr val="E4E4F0"/>
                </a:solidFill>
                <a:latin typeface="Consolas" pitchFamily="34" charset="0"/>
                <a:ea typeface="Consolas" pitchFamily="34" charset="-122"/>
                <a:cs typeface="Consolas" pitchFamily="34" charset="-120"/>
              </a:rPr>
              <a:t>    return weights @ v, weights</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Training, efficiency and applications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does the model learn, and what costs time or memory?</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 next-character predictions with known targets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B is batch size; T is sequence length; d is vector size; V is vocabulary size.</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input IDs [B,T]</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X [B,T,d]</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H [B,T,d]</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logits [B,T,V]</a:t>
            </a:r>
            <a:endParaRPr lang="en-US" sz="1441" dirty="0"/>
          </a:p>
        </p:txBody>
      </p:sp>
      <p:sp>
        <p:nvSpPr>
          <p:cNvPr id="15" name="Shape 13"/>
          <p:cNvSpPr/>
          <p:nvPr/>
        </p:nvSpPr>
        <p:spPr>
          <a:xfrm>
            <a:off x="9593525" y="3838927"/>
            <a:ext cx="244024" cy="0"/>
          </a:xfrm>
          <a:prstGeom prst="line">
            <a:avLst/>
          </a:prstGeom>
          <a:noFill/>
          <a:ln w="22860">
            <a:solidFill>
              <a:srgbClr val="009E73"/>
            </a:solidFill>
            <a:prstDash val="solid"/>
            <a:tailEnd type="triangle"/>
          </a:ln>
        </p:spPr>
      </p:sp>
      <p:sp>
        <p:nvSpPr>
          <p:cNvPr id="16" name="Text 14"/>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scalar loss</a:t>
            </a:r>
            <a:endParaRPr lang="en-US" sz="1441" dirty="0"/>
          </a:p>
        </p:txBody>
      </p:sp>
      <p:sp>
        <p:nvSpPr>
          <p:cNvPr id="17" name="Shape 15"/>
          <p:cNvSpPr/>
          <p:nvPr/>
        </p:nvSpPr>
        <p:spPr>
          <a:xfrm>
            <a:off x="1571235" y="4738766"/>
            <a:ext cx="0" cy="198270"/>
          </a:xfrm>
          <a:prstGeom prst="line">
            <a:avLst/>
          </a:prstGeom>
          <a:noFill/>
          <a:ln w="22860">
            <a:solidFill>
              <a:srgbClr val="0072B2"/>
            </a:solidFill>
            <a:prstDash val="solid"/>
          </a:ln>
        </p:spPr>
      </p:sp>
      <p:sp>
        <p:nvSpPr>
          <p:cNvPr id="18" name="Shape 16"/>
          <p:cNvSpPr/>
          <p:nvPr/>
        </p:nvSpPr>
        <p:spPr>
          <a:xfrm>
            <a:off x="1571235" y="4937035"/>
            <a:ext cx="7239380" cy="0"/>
          </a:xfrm>
          <a:prstGeom prst="line">
            <a:avLst/>
          </a:prstGeom>
          <a:noFill/>
          <a:ln w="22860">
            <a:solidFill>
              <a:srgbClr val="0072B2"/>
            </a:solidFill>
            <a:prstDash val="solid"/>
          </a:ln>
        </p:spPr>
      </p:sp>
      <p:sp>
        <p:nvSpPr>
          <p:cNvPr id="19" name="Shape 17"/>
          <p:cNvSpPr/>
          <p:nvPr/>
        </p:nvSpPr>
        <p:spPr>
          <a:xfrm flipV="1">
            <a:off x="8810615" y="4738766"/>
            <a:ext cx="0" cy="198270"/>
          </a:xfrm>
          <a:prstGeom prst="line">
            <a:avLst/>
          </a:prstGeom>
          <a:noFill/>
          <a:ln w="22860">
            <a:solidFill>
              <a:srgbClr val="0072B2"/>
            </a:solidFill>
            <a:prstDash val="solid"/>
            <a:tailEnd type="triangle"/>
          </a:ln>
        </p:spPr>
      </p:sp>
      <p:sp>
        <p:nvSpPr>
          <p:cNvPr id="20" name="Text 18"/>
          <p:cNvSpPr txBox="1"/>
          <p:nvPr/>
        </p:nvSpPr>
        <p:spPr>
          <a:xfrm>
            <a:off x="4165474" y="4967538"/>
            <a:ext cx="2050901" cy="228773"/>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known targets [B,T]: ats</a:t>
            </a:r>
            <a:endParaRPr lang="en-US" sz="1441" dirty="0"/>
          </a:p>
        </p:txBody>
      </p:sp>
      <p:sp>
        <p:nvSpPr>
          <p:cNvPr id="21" name="Shape 19"/>
          <p:cNvSpPr/>
          <p:nvPr/>
        </p:nvSpPr>
        <p:spPr>
          <a:xfrm flipV="1">
            <a:off x="10620460" y="2191765"/>
            <a:ext cx="0" cy="747324"/>
          </a:xfrm>
          <a:prstGeom prst="line">
            <a:avLst/>
          </a:prstGeom>
          <a:noFill/>
          <a:ln w="22860">
            <a:solidFill>
              <a:srgbClr val="D55E00"/>
            </a:solidFill>
            <a:prstDash val="dash"/>
          </a:ln>
        </p:spPr>
      </p:sp>
      <p:sp>
        <p:nvSpPr>
          <p:cNvPr id="22" name="Shape 20"/>
          <p:cNvSpPr/>
          <p:nvPr/>
        </p:nvSpPr>
        <p:spPr>
          <a:xfrm flipH="1">
            <a:off x="3381080" y="2191765"/>
            <a:ext cx="7239380" cy="0"/>
          </a:xfrm>
          <a:prstGeom prst="line">
            <a:avLst/>
          </a:prstGeom>
          <a:noFill/>
          <a:ln w="22860">
            <a:solidFill>
              <a:srgbClr val="D55E00"/>
            </a:solidFill>
            <a:prstDash val="dash"/>
          </a:ln>
        </p:spPr>
      </p:sp>
      <p:sp>
        <p:nvSpPr>
          <p:cNvPr id="23" name="Shape 21"/>
          <p:cNvSpPr/>
          <p:nvPr/>
        </p:nvSpPr>
        <p:spPr>
          <a:xfrm>
            <a:off x="3381080" y="2191765"/>
            <a:ext cx="0" cy="747324"/>
          </a:xfrm>
          <a:prstGeom prst="line">
            <a:avLst/>
          </a:prstGeom>
          <a:noFill/>
          <a:ln w="22860">
            <a:solidFill>
              <a:srgbClr val="D55E00"/>
            </a:solidFill>
            <a:prstDash val="dash"/>
            <a:tailEnd type="triangle"/>
          </a:ln>
        </p:spPr>
      </p:sp>
      <p:sp>
        <p:nvSpPr>
          <p:cNvPr id="24" name="Text 22"/>
          <p:cNvSpPr txBox="1"/>
          <p:nvPr/>
        </p:nvSpPr>
        <p:spPr>
          <a:xfrm>
            <a:off x="4380372" y="1917238"/>
            <a:ext cx="5240796"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Repeat: the optimiser updates all trainable model parameters.</a:t>
            </a:r>
            <a:endParaRPr lang="en-US" sz="1441" dirty="0"/>
          </a:p>
        </p:txBody>
      </p:sp>
      <p:sp>
        <p:nvSpPr>
          <p:cNvPr id="25" name="Shape 23"/>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6" name="Text 24"/>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Shift text</a:t>
            </a:r>
            <a:endParaRPr lang="en-US" sz="1561" dirty="0"/>
          </a:p>
        </p:txBody>
      </p:sp>
      <p:sp>
        <p:nvSpPr>
          <p:cNvPr id="27" name="Text 25"/>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cat inputs; ats</a:t>
            </a:r>
            <a:endParaRPr lang="en-US" sz="1441" dirty="0"/>
          </a:p>
        </p:txBody>
      </p:sp>
      <p:sp>
        <p:nvSpPr>
          <p:cNvPr id="28" name="Text 26"/>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targets</a:t>
            </a:r>
            <a:endParaRPr lang="en-US" sz="1441" dirty="0"/>
          </a:p>
        </p:txBody>
      </p:sp>
      <p:sp>
        <p:nvSpPr>
          <p:cNvPr id="29" name="Text 27"/>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get_batch</a:t>
            </a:r>
            <a:endParaRPr lang="en-US" sz="1441" dirty="0"/>
          </a:p>
        </p:txBody>
      </p:sp>
      <p:sp>
        <p:nvSpPr>
          <p:cNvPr id="30" name="Shape 28"/>
          <p:cNvSpPr/>
          <p:nvPr/>
        </p:nvSpPr>
        <p:spPr>
          <a:xfrm>
            <a:off x="2598170" y="2939089"/>
            <a:ext cx="1565821" cy="1799677"/>
          </a:xfrm>
          <a:prstGeom prst="rect">
            <a:avLst/>
          </a:prstGeom>
          <a:solidFill>
            <a:srgbClr val="E5F7EF"/>
          </a:solidFill>
          <a:ln w="15240">
            <a:solidFill>
              <a:srgbClr val="009E73"/>
            </a:solidFill>
            <a:prstDash val="solid"/>
          </a:ln>
        </p:spPr>
      </p:sp>
      <p:sp>
        <p:nvSpPr>
          <p:cNvPr id="31" name="Text 29"/>
          <p:cNvSpPr txBox="1"/>
          <p:nvPr/>
        </p:nvSpPr>
        <p:spPr>
          <a:xfrm>
            <a:off x="265917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Embed IDs</a:t>
            </a:r>
            <a:endParaRPr lang="en-US" sz="1561" dirty="0"/>
          </a:p>
        </p:txBody>
      </p:sp>
      <p:sp>
        <p:nvSpPr>
          <p:cNvPr id="32" name="Text 30"/>
          <p:cNvSpPr txBox="1"/>
          <p:nvPr/>
        </p:nvSpPr>
        <p:spPr>
          <a:xfrm>
            <a:off x="265917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Add token and</a:t>
            </a:r>
            <a:endParaRPr lang="en-US" sz="1441" dirty="0"/>
          </a:p>
        </p:txBody>
      </p:sp>
      <p:sp>
        <p:nvSpPr>
          <p:cNvPr id="33" name="Text 31"/>
          <p:cNvSpPr txBox="1"/>
          <p:nvPr/>
        </p:nvSpPr>
        <p:spPr>
          <a:xfrm>
            <a:off x="265917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position vectors</a:t>
            </a:r>
            <a:endParaRPr lang="en-US" sz="1441" dirty="0"/>
          </a:p>
        </p:txBody>
      </p:sp>
      <p:sp>
        <p:nvSpPr>
          <p:cNvPr id="34" name="Text 32"/>
          <p:cNvSpPr txBox="1"/>
          <p:nvPr/>
        </p:nvSpPr>
        <p:spPr>
          <a:xfrm>
            <a:off x="262104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tok + pos</a:t>
            </a:r>
            <a:endParaRPr lang="en-US" sz="1441" dirty="0"/>
          </a:p>
        </p:txBody>
      </p:sp>
      <p:sp>
        <p:nvSpPr>
          <p:cNvPr id="35" name="Shape 33"/>
          <p:cNvSpPr/>
          <p:nvPr/>
        </p:nvSpPr>
        <p:spPr>
          <a:xfrm>
            <a:off x="4408015" y="2939089"/>
            <a:ext cx="1565821" cy="1799677"/>
          </a:xfrm>
          <a:prstGeom prst="rect">
            <a:avLst/>
          </a:prstGeom>
          <a:solidFill>
            <a:srgbClr val="E5F7EF"/>
          </a:solidFill>
          <a:ln w="15240">
            <a:solidFill>
              <a:srgbClr val="009E73"/>
            </a:solidFill>
            <a:prstDash val="solid"/>
          </a:ln>
        </p:spPr>
      </p:sp>
      <p:sp>
        <p:nvSpPr>
          <p:cNvPr id="36" name="Text 34"/>
          <p:cNvSpPr txBox="1"/>
          <p:nvPr/>
        </p:nvSpPr>
        <p:spPr>
          <a:xfrm>
            <a:off x="446902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Causal blocks</a:t>
            </a:r>
            <a:endParaRPr lang="en-US" sz="1561" dirty="0"/>
          </a:p>
        </p:txBody>
      </p:sp>
      <p:sp>
        <p:nvSpPr>
          <p:cNvPr id="37" name="Text 35"/>
          <p:cNvSpPr txBox="1"/>
          <p:nvPr/>
        </p:nvSpPr>
        <p:spPr>
          <a:xfrm>
            <a:off x="446902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Use present and</a:t>
            </a:r>
            <a:endParaRPr lang="en-US" sz="1441" dirty="0"/>
          </a:p>
        </p:txBody>
      </p:sp>
      <p:sp>
        <p:nvSpPr>
          <p:cNvPr id="38" name="Text 36"/>
          <p:cNvSpPr txBox="1"/>
          <p:nvPr/>
        </p:nvSpPr>
        <p:spPr>
          <a:xfrm>
            <a:off x="446902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past inputs</a:t>
            </a:r>
            <a:endParaRPr lang="en-US" sz="1441" dirty="0"/>
          </a:p>
        </p:txBody>
      </p:sp>
      <p:sp>
        <p:nvSpPr>
          <p:cNvPr id="39" name="Text 37"/>
          <p:cNvSpPr txBox="1"/>
          <p:nvPr/>
        </p:nvSpPr>
        <p:spPr>
          <a:xfrm>
            <a:off x="443089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Block</a:t>
            </a:r>
            <a:endParaRPr lang="en-US" sz="1441" dirty="0"/>
          </a:p>
        </p:txBody>
      </p:sp>
      <p:sp>
        <p:nvSpPr>
          <p:cNvPr id="40" name="Shape 38"/>
          <p:cNvSpPr/>
          <p:nvPr/>
        </p:nvSpPr>
        <p:spPr>
          <a:xfrm>
            <a:off x="6217860" y="2939089"/>
            <a:ext cx="1565821" cy="1799677"/>
          </a:xfrm>
          <a:prstGeom prst="rect">
            <a:avLst/>
          </a:prstGeom>
          <a:solidFill>
            <a:srgbClr val="E5F7EF"/>
          </a:solidFill>
          <a:ln w="15240">
            <a:solidFill>
              <a:srgbClr val="009E73"/>
            </a:solidFill>
            <a:prstDash val="solid"/>
          </a:ln>
        </p:spPr>
      </p:sp>
      <p:sp>
        <p:nvSpPr>
          <p:cNvPr id="41" name="Text 39"/>
          <p:cNvSpPr txBox="1"/>
          <p:nvPr/>
        </p:nvSpPr>
        <p:spPr>
          <a:xfrm>
            <a:off x="627886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Token scores</a:t>
            </a:r>
            <a:endParaRPr lang="en-US" sz="1561" dirty="0"/>
          </a:p>
        </p:txBody>
      </p:sp>
      <p:sp>
        <p:nvSpPr>
          <p:cNvPr id="42" name="Text 40"/>
          <p:cNvSpPr txBox="1"/>
          <p:nvPr/>
        </p:nvSpPr>
        <p:spPr>
          <a:xfrm>
            <a:off x="627886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One vocabulary</a:t>
            </a:r>
            <a:endParaRPr lang="en-US" sz="1441" dirty="0"/>
          </a:p>
        </p:txBody>
      </p:sp>
      <p:sp>
        <p:nvSpPr>
          <p:cNvPr id="43" name="Text 41"/>
          <p:cNvSpPr txBox="1"/>
          <p:nvPr/>
        </p:nvSpPr>
        <p:spPr>
          <a:xfrm>
            <a:off x="627886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row per input</a:t>
            </a:r>
            <a:endParaRPr lang="en-US" sz="1441" dirty="0"/>
          </a:p>
        </p:txBody>
      </p:sp>
      <p:sp>
        <p:nvSpPr>
          <p:cNvPr id="44" name="Text 42"/>
          <p:cNvSpPr txBox="1"/>
          <p:nvPr/>
        </p:nvSpPr>
        <p:spPr>
          <a:xfrm>
            <a:off x="624073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head</a:t>
            </a:r>
            <a:endParaRPr lang="en-US" sz="1441" dirty="0"/>
          </a:p>
        </p:txBody>
      </p:sp>
      <p:sp>
        <p:nvSpPr>
          <p:cNvPr id="45" name="Shape 43"/>
          <p:cNvSpPr/>
          <p:nvPr/>
        </p:nvSpPr>
        <p:spPr>
          <a:xfrm>
            <a:off x="8027705" y="2939089"/>
            <a:ext cx="1565821" cy="1799677"/>
          </a:xfrm>
          <a:prstGeom prst="roundRect">
            <a:avLst>
              <a:gd name="adj" fmla="val 4672"/>
            </a:avLst>
          </a:prstGeom>
          <a:solidFill>
            <a:srgbClr val="FFF0E6"/>
          </a:solidFill>
          <a:ln w="15240">
            <a:solidFill>
              <a:srgbClr val="D55E00"/>
            </a:solidFill>
            <a:prstDash val="solid"/>
          </a:ln>
        </p:spPr>
      </p:sp>
      <p:sp>
        <p:nvSpPr>
          <p:cNvPr id="46" name="Text 44"/>
          <p:cNvSpPr txBox="1"/>
          <p:nvPr/>
        </p:nvSpPr>
        <p:spPr>
          <a:xfrm>
            <a:off x="808871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a:t>
            </a:r>
            <a:endParaRPr lang="en-US" sz="1561" dirty="0"/>
          </a:p>
        </p:txBody>
      </p:sp>
      <p:sp>
        <p:nvSpPr>
          <p:cNvPr id="47" name="Text 45"/>
          <p:cNvSpPr txBox="1"/>
          <p:nvPr/>
        </p:nvSpPr>
        <p:spPr>
          <a:xfrm>
            <a:off x="808871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Cross-entropy</a:t>
            </a:r>
            <a:endParaRPr lang="en-US" sz="1441" dirty="0"/>
          </a:p>
        </p:txBody>
      </p:sp>
      <p:sp>
        <p:nvSpPr>
          <p:cNvPr id="48" name="Text 46"/>
          <p:cNvSpPr txBox="1"/>
          <p:nvPr/>
        </p:nvSpPr>
        <p:spPr>
          <a:xfrm>
            <a:off x="808871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with targets</a:t>
            </a:r>
            <a:endParaRPr lang="en-US" sz="1441" dirty="0"/>
          </a:p>
        </p:txBody>
      </p:sp>
      <p:sp>
        <p:nvSpPr>
          <p:cNvPr id="49" name="Text 47"/>
          <p:cNvSpPr txBox="1"/>
          <p:nvPr/>
        </p:nvSpPr>
        <p:spPr>
          <a:xfrm>
            <a:off x="805058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forward</a:t>
            </a:r>
            <a:endParaRPr lang="en-US" sz="1441" dirty="0"/>
          </a:p>
        </p:txBody>
      </p:sp>
      <p:sp>
        <p:nvSpPr>
          <p:cNvPr id="50" name="Shape 48"/>
          <p:cNvSpPr/>
          <p:nvPr/>
        </p:nvSpPr>
        <p:spPr>
          <a:xfrm>
            <a:off x="9837549" y="2939089"/>
            <a:ext cx="1565821" cy="1799677"/>
          </a:xfrm>
          <a:prstGeom prst="roundRect">
            <a:avLst>
              <a:gd name="adj" fmla="val 4672"/>
            </a:avLst>
          </a:prstGeom>
          <a:solidFill>
            <a:srgbClr val="FFF0E6"/>
          </a:solidFill>
          <a:ln w="15240">
            <a:solidFill>
              <a:srgbClr val="D55E00"/>
            </a:solidFill>
            <a:prstDash val="solid"/>
          </a:ln>
        </p:spPr>
      </p:sp>
      <p:sp>
        <p:nvSpPr>
          <p:cNvPr id="51" name="Text 49"/>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Update</a:t>
            </a:r>
            <a:endParaRPr lang="en-US" sz="1561" dirty="0"/>
          </a:p>
        </p:txBody>
      </p:sp>
      <p:sp>
        <p:nvSpPr>
          <p:cNvPr id="52" name="Text 50"/>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Use gradients;</a:t>
            </a:r>
            <a:endParaRPr lang="en-US" sz="1441" dirty="0"/>
          </a:p>
        </p:txBody>
      </p:sp>
      <p:sp>
        <p:nvSpPr>
          <p:cNvPr id="53" name="Text 51"/>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change weights</a:t>
            </a:r>
            <a:endParaRPr lang="en-US" sz="1441" dirty="0"/>
          </a:p>
        </p:txBody>
      </p:sp>
      <p:sp>
        <p:nvSpPr>
          <p:cNvPr id="54" name="Text 52"/>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opt.step</a:t>
            </a:r>
            <a:endParaRPr lang="en-US" sz="1441" dirty="0"/>
          </a:p>
        </p:txBody>
      </p:sp>
      <p:sp>
        <p:nvSpPr>
          <p:cNvPr id="55" name="Shape 53"/>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6" name="Text 54"/>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7" name="Shape 55"/>
          <p:cNvSpPr/>
          <p:nvPr/>
        </p:nvSpPr>
        <p:spPr>
          <a:xfrm>
            <a:off x="2118929" y="5630979"/>
            <a:ext cx="198270" cy="198270"/>
          </a:xfrm>
          <a:prstGeom prst="rect">
            <a:avLst/>
          </a:prstGeom>
          <a:solidFill>
            <a:srgbClr val="E5F7EF"/>
          </a:solidFill>
          <a:ln w="15240">
            <a:solidFill>
              <a:srgbClr val="009E73"/>
            </a:solidFill>
            <a:prstDash val="solid"/>
          </a:ln>
        </p:spPr>
      </p:sp>
      <p:sp>
        <p:nvSpPr>
          <p:cNvPr id="58" name="Text 56"/>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9" name="Shape 57"/>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60" name="Text 58"/>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61" name="Shape 59"/>
          <p:cNvSpPr/>
          <p:nvPr/>
        </p:nvSpPr>
        <p:spPr>
          <a:xfrm>
            <a:off x="4748126" y="5730113"/>
            <a:ext cx="335533" cy="0"/>
          </a:xfrm>
          <a:prstGeom prst="line">
            <a:avLst/>
          </a:prstGeom>
          <a:noFill/>
          <a:ln w="22860">
            <a:solidFill>
              <a:srgbClr val="009E73"/>
            </a:solidFill>
            <a:prstDash val="solid"/>
            <a:tailEnd type="triangle"/>
          </a:ln>
        </p:spPr>
      </p:sp>
      <p:sp>
        <p:nvSpPr>
          <p:cNvPr id="62" name="Text 60"/>
          <p:cNvSpPr txBox="1"/>
          <p:nvPr/>
        </p:nvSpPr>
        <p:spPr>
          <a:xfrm>
            <a:off x="514466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3" name="Shape 61"/>
          <p:cNvSpPr/>
          <p:nvPr/>
        </p:nvSpPr>
        <p:spPr>
          <a:xfrm>
            <a:off x="6131511" y="5730113"/>
            <a:ext cx="335533" cy="0"/>
          </a:xfrm>
          <a:prstGeom prst="line">
            <a:avLst/>
          </a:prstGeom>
          <a:noFill/>
          <a:ln w="22860">
            <a:solidFill>
              <a:srgbClr val="D55E00"/>
            </a:solidFill>
            <a:prstDash val="dash"/>
            <a:tailEnd type="triangle"/>
          </a:ln>
        </p:spPr>
      </p:sp>
      <p:sp>
        <p:nvSpPr>
          <p:cNvPr id="64" name="Text 62"/>
          <p:cNvSpPr txBox="1"/>
          <p:nvPr/>
        </p:nvSpPr>
        <p:spPr>
          <a:xfrm>
            <a:off x="652805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65" name="Text 63"/>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Where do the target labels come from?</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Training objectives</a:t>
            </a:r>
            <a:endParaRPr lang="en-US" sz="3200" dirty="0"/>
          </a:p>
        </p:txBody>
      </p:sp>
      <p:sp>
        <p:nvSpPr>
          <p:cNvPr id="6" name="Shape 4"/>
          <p:cNvSpPr/>
          <p:nvPr/>
        </p:nvSpPr>
        <p:spPr>
          <a:xfrm>
            <a:off x="548640" y="1481328"/>
            <a:ext cx="351525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Masked: BERT</a:t>
            </a:r>
            <a:endParaRPr lang="en-US" sz="1800" dirty="0"/>
          </a:p>
        </p:txBody>
      </p:sp>
      <p:sp>
        <p:nvSpPr>
          <p:cNvPr id="9" name="Shape 6"/>
          <p:cNvSpPr/>
          <p:nvPr/>
        </p:nvSpPr>
        <p:spPr>
          <a:xfrm>
            <a:off x="548640" y="2167128"/>
            <a:ext cx="3515258" cy="4142232"/>
          </a:xfrm>
          <a:prstGeom prst="roundRect">
            <a:avLst>
              <a:gd name="adj" fmla="val 2601"/>
            </a:avLst>
          </a:prstGeom>
          <a:solidFill>
            <a:srgbClr val="EEF0FF"/>
          </a:solidFill>
          <a:ln w="12700">
            <a:solidFill>
              <a:srgbClr val="EEF0FF"/>
            </a:solidFill>
            <a:prstDash val="solid"/>
          </a:ln>
        </p:spPr>
      </p:sp>
      <p:sp>
        <p:nvSpPr>
          <p:cNvPr id="10" name="Text 7"/>
          <p:cNvSpPr txBox="1"/>
          <p:nvPr/>
        </p:nvSpPr>
        <p:spPr>
          <a:xfrm>
            <a:off x="658368"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Hide about 15% of tokens; predict them from both sides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Input: The [MASK] sat on the mat</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Target: cat</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Suits search and labelling</a:t>
            </a:r>
            <a:endParaRPr lang="en-US" sz="2400" dirty="0"/>
          </a:p>
        </p:txBody>
      </p:sp>
      <p:sp>
        <p:nvSpPr>
          <p:cNvPr id="11" name="Shape 8"/>
          <p:cNvSpPr/>
          <p:nvPr/>
        </p:nvSpPr>
        <p:spPr>
          <a:xfrm>
            <a:off x="4338218" y="1481328"/>
            <a:ext cx="351525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4502810" y="1591056"/>
            <a:ext cx="347472" cy="347472"/>
          </a:xfrm>
          <a:prstGeom prst="rect">
            <a:avLst/>
          </a:prstGeom>
        </p:spPr>
      </p:pic>
      <p:sp>
        <p:nvSpPr>
          <p:cNvPr id="13" name="Text 9"/>
          <p:cNvSpPr txBox="1"/>
          <p:nvPr/>
        </p:nvSpPr>
        <p:spPr>
          <a:xfrm>
            <a:off x="4932578"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Next token: GPT</a:t>
            </a:r>
            <a:endParaRPr lang="en-US" sz="1800" dirty="0"/>
          </a:p>
        </p:txBody>
      </p:sp>
      <p:sp>
        <p:nvSpPr>
          <p:cNvPr id="14" name="Shape 10"/>
          <p:cNvSpPr/>
          <p:nvPr/>
        </p:nvSpPr>
        <p:spPr>
          <a:xfrm>
            <a:off x="4338218" y="2167128"/>
            <a:ext cx="3515258" cy="4142232"/>
          </a:xfrm>
          <a:prstGeom prst="roundRect">
            <a:avLst>
              <a:gd name="adj" fmla="val 2601"/>
            </a:avLst>
          </a:prstGeom>
          <a:solidFill>
            <a:srgbClr val="E6F4F1"/>
          </a:solidFill>
          <a:ln w="12700">
            <a:solidFill>
              <a:srgbClr val="E6F4F1"/>
            </a:solidFill>
            <a:prstDash val="solid"/>
          </a:ln>
        </p:spPr>
      </p:sp>
      <p:sp>
        <p:nvSpPr>
          <p:cNvPr id="15" name="Text 11"/>
          <p:cNvSpPr txBox="1"/>
          <p:nvPr/>
        </p:nvSpPr>
        <p:spPr>
          <a:xfrm>
            <a:off x="4447946"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Predict each token from the ones before it</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Text: "cats"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Inputs: c, a, t</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Targets: a, t, 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Suits generation, as in our lab</a:t>
            </a:r>
            <a:endParaRPr lang="en-US" sz="2400" dirty="0"/>
          </a:p>
        </p:txBody>
      </p:sp>
      <p:sp>
        <p:nvSpPr>
          <p:cNvPr id="16" name="Shape 12"/>
          <p:cNvSpPr/>
          <p:nvPr/>
        </p:nvSpPr>
        <p:spPr>
          <a:xfrm>
            <a:off x="8127797" y="1481328"/>
            <a:ext cx="3515258" cy="566928"/>
          </a:xfrm>
          <a:prstGeom prst="roundRect">
            <a:avLst>
              <a:gd name="adj" fmla="val 16129"/>
            </a:avLst>
          </a:prstGeom>
          <a:solidFill>
            <a:srgbClr val="EA580C"/>
          </a:solidFill>
          <a:ln w="12700">
            <a:solidFill>
              <a:srgbClr val="EA580C"/>
            </a:solidFill>
            <a:prstDash val="solid"/>
          </a:ln>
        </p:spPr>
      </p:sp>
      <p:pic>
        <p:nvPicPr>
          <p:cNvPr id="17" name="Image 2" descr="preencoded.png">    </p:cNvPr>
          <p:cNvPicPr>
            <a:picLocks noChangeAspect="1"/>
          </p:cNvPicPr>
          <p:nvPr/>
        </p:nvPicPr>
        <p:blipFill>
          <a:blip r:embed="rId3"/>
          <a:stretch>
            <a:fillRect/>
          </a:stretch>
        </p:blipFill>
        <p:spPr>
          <a:xfrm>
            <a:off x="8292389" y="1591056"/>
            <a:ext cx="347472" cy="347472"/>
          </a:xfrm>
          <a:prstGeom prst="rect">
            <a:avLst/>
          </a:prstGeom>
        </p:spPr>
      </p:pic>
      <p:sp>
        <p:nvSpPr>
          <p:cNvPr id="18" name="Text 13"/>
          <p:cNvSpPr txBox="1"/>
          <p:nvPr/>
        </p:nvSpPr>
        <p:spPr>
          <a:xfrm>
            <a:off x="8722157"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Missing spans: T5</a:t>
            </a:r>
            <a:endParaRPr lang="en-US" sz="1800" dirty="0"/>
          </a:p>
        </p:txBody>
      </p:sp>
      <p:sp>
        <p:nvSpPr>
          <p:cNvPr id="19" name="Shape 14"/>
          <p:cNvSpPr/>
          <p:nvPr/>
        </p:nvSpPr>
        <p:spPr>
          <a:xfrm>
            <a:off x="8127797" y="2167128"/>
            <a:ext cx="3515258" cy="4142232"/>
          </a:xfrm>
          <a:prstGeom prst="roundRect">
            <a:avLst>
              <a:gd name="adj" fmla="val 2601"/>
            </a:avLst>
          </a:prstGeom>
          <a:solidFill>
            <a:srgbClr val="FFF1E6"/>
          </a:solidFill>
          <a:ln w="12700">
            <a:solidFill>
              <a:srgbClr val="FFF1E6"/>
            </a:solidFill>
            <a:prstDash val="solid"/>
          </a:ln>
        </p:spPr>
      </p:sp>
      <p:sp>
        <p:nvSpPr>
          <p:cNvPr id="20" name="Text 15"/>
          <p:cNvSpPr txBox="1"/>
          <p:nvPr/>
        </p:nvSpPr>
        <p:spPr>
          <a:xfrm>
            <a:off x="8237525"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Replace word spans with a marker</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Input: The &lt;X&gt; on the mat</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Target: &lt;X&gt; cat sat</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The decoder writes the hidden words</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Perplexity: read the model's uncertainty</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Test on text kept separate from training.</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Illustration: average loss = ln(4); perplexity = 4.</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Think of four equally likely choices.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Compare the same text and tokenizer.</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Lower perplexity does not prove truthfulness.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real small transformer, trained for this lecture</a:t>
            </a:r>
            <a:endParaRPr lang="en-US" sz="3200" dirty="0"/>
          </a:p>
        </p:txBody>
      </p:sp>
      <p:pic>
        <p:nvPicPr>
          <p:cNvPr id="6" name="Image 0" descr="C:\Users\sudee\Downloads\Generative_AI_2027_Teaching_Pack\AI2027_Project\build\figures\week_05\chargpt_loss.png">    </p:cNvPr>
          <p:cNvPicPr>
            <a:picLocks noChangeAspect="1"/>
          </p:cNvPicPr>
          <p:nvPr/>
        </p:nvPicPr>
        <p:blipFill>
          <a:blip r:embed="rId1"/>
          <a:stretch>
            <a:fillRect/>
          </a:stretch>
        </p:blipFill>
        <p:spPr>
          <a:xfrm>
            <a:off x="1789683" y="1481328"/>
            <a:ext cx="8612330" cy="4828032"/>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cost of attention grows as n squared</a:t>
            </a:r>
            <a:endParaRPr lang="en-US" sz="3200" dirty="0"/>
          </a:p>
        </p:txBody>
      </p:sp>
      <p:pic>
        <p:nvPicPr>
          <p:cNvPr id="6" name="Image 0" descr="C:\Users\sudee\Downloads\Generative_AI_2027_Teaching_Pack\AI2027_Project\build\figures\week_05\complexity.png">    </p:cNvPr>
          <p:cNvPicPr>
            <a:picLocks noChangeAspect="1"/>
          </p:cNvPicPr>
          <p:nvPr/>
        </p:nvPicPr>
        <p:blipFill>
          <a:blip r:embed="rId1"/>
          <a:stretch>
            <a:fillRect/>
          </a:stretch>
        </p:blipFill>
        <p:spPr>
          <a:xfrm>
            <a:off x="548640" y="1660948"/>
            <a:ext cx="11094415" cy="4468792"/>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Generate with a small decoder transformer</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Inference repeatedly adds a chosen character to the existing prefix.</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6 characters</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IDs [1,T]</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logits [1,T,V]</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last row [V]</a:t>
            </a:r>
            <a:endParaRPr lang="en-US" sz="1441" dirty="0"/>
          </a:p>
        </p:txBody>
      </p:sp>
      <p:sp>
        <p:nvSpPr>
          <p:cNvPr id="15" name="Shape 13"/>
          <p:cNvSpPr/>
          <p:nvPr/>
        </p:nvSpPr>
        <p:spPr>
          <a:xfrm>
            <a:off x="9593525" y="3838927"/>
            <a:ext cx="244024" cy="0"/>
          </a:xfrm>
          <a:prstGeom prst="line">
            <a:avLst/>
          </a:prstGeom>
          <a:noFill/>
          <a:ln w="22860">
            <a:solidFill>
              <a:srgbClr val="009E73"/>
            </a:solidFill>
            <a:prstDash val="solid"/>
            <a:tailEnd type="triangle"/>
          </a:ln>
        </p:spPr>
      </p:sp>
      <p:sp>
        <p:nvSpPr>
          <p:cNvPr id="16" name="Text 14"/>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one token ID</a:t>
            </a:r>
            <a:endParaRPr lang="en-US" sz="1441" dirty="0"/>
          </a:p>
        </p:txBody>
      </p:sp>
      <p:sp>
        <p:nvSpPr>
          <p:cNvPr id="17" name="Shape 15"/>
          <p:cNvSpPr/>
          <p:nvPr/>
        </p:nvSpPr>
        <p:spPr>
          <a:xfrm flipV="1">
            <a:off x="10620460" y="2191765"/>
            <a:ext cx="0" cy="747324"/>
          </a:xfrm>
          <a:prstGeom prst="line">
            <a:avLst/>
          </a:prstGeom>
          <a:noFill/>
          <a:ln w="22860">
            <a:solidFill>
              <a:srgbClr val="D55E00"/>
            </a:solidFill>
            <a:prstDash val="dash"/>
          </a:ln>
        </p:spPr>
      </p:sp>
      <p:sp>
        <p:nvSpPr>
          <p:cNvPr id="18" name="Shape 16"/>
          <p:cNvSpPr/>
          <p:nvPr/>
        </p:nvSpPr>
        <p:spPr>
          <a:xfrm flipH="1">
            <a:off x="3381080" y="2191765"/>
            <a:ext cx="7239380" cy="0"/>
          </a:xfrm>
          <a:prstGeom prst="line">
            <a:avLst/>
          </a:prstGeom>
          <a:noFill/>
          <a:ln w="22860">
            <a:solidFill>
              <a:srgbClr val="D55E00"/>
            </a:solidFill>
            <a:prstDash val="dash"/>
          </a:ln>
        </p:spPr>
      </p:sp>
      <p:sp>
        <p:nvSpPr>
          <p:cNvPr id="19" name="Shape 17"/>
          <p:cNvSpPr/>
          <p:nvPr/>
        </p:nvSpPr>
        <p:spPr>
          <a:xfrm>
            <a:off x="3381080" y="2191765"/>
            <a:ext cx="0" cy="747324"/>
          </a:xfrm>
          <a:prstGeom prst="line">
            <a:avLst/>
          </a:prstGeom>
          <a:noFill/>
          <a:ln w="22860">
            <a:solidFill>
              <a:srgbClr val="D55E00"/>
            </a:solidFill>
            <a:prstDash val="dash"/>
            <a:tailEnd type="triangle"/>
          </a:ln>
        </p:spPr>
      </p:sp>
      <p:sp>
        <p:nvSpPr>
          <p:cNvPr id="20" name="Text 18"/>
          <p:cNvSpPr txBox="1"/>
          <p:nvPr/>
        </p:nvSpPr>
        <p:spPr>
          <a:xfrm>
            <a:off x="4801177" y="1917238"/>
            <a:ext cx="4399187"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Repeat with the extended prefix; no training update.</a:t>
            </a:r>
            <a:endParaRPr lang="en-US" sz="1441" dirty="0"/>
          </a:p>
        </p:txBody>
      </p:sp>
      <p:sp>
        <p:nvSpPr>
          <p:cNvPr id="21" name="Shape 19"/>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2" name="Text 20"/>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Prefix text</a:t>
            </a:r>
            <a:endParaRPr lang="en-US" sz="1561" dirty="0"/>
          </a:p>
        </p:txBody>
      </p:sp>
      <p:sp>
        <p:nvSpPr>
          <p:cNvPr id="23" name="Text 21"/>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Start with</a:t>
            </a:r>
            <a:endParaRPr lang="en-US" sz="1441" dirty="0"/>
          </a:p>
        </p:txBody>
      </p:sp>
      <p:sp>
        <p:nvSpPr>
          <p:cNvPr id="24" name="Text 22"/>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ROMEO:</a:t>
            </a:r>
            <a:endParaRPr lang="en-US" sz="1441" dirty="0"/>
          </a:p>
        </p:txBody>
      </p:sp>
      <p:sp>
        <p:nvSpPr>
          <p:cNvPr id="25" name="Text 23"/>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text</a:t>
            </a:r>
            <a:endParaRPr lang="en-US" sz="1441" dirty="0"/>
          </a:p>
        </p:txBody>
      </p:sp>
      <p:sp>
        <p:nvSpPr>
          <p:cNvPr id="26" name="Shape 24"/>
          <p:cNvSpPr/>
          <p:nvPr/>
        </p:nvSpPr>
        <p:spPr>
          <a:xfrm>
            <a:off x="2598170" y="2939089"/>
            <a:ext cx="1565821" cy="1799677"/>
          </a:xfrm>
          <a:prstGeom prst="roundRect">
            <a:avLst>
              <a:gd name="adj" fmla="val 4672"/>
            </a:avLst>
          </a:prstGeom>
          <a:solidFill>
            <a:srgbClr val="E4F2FB"/>
          </a:solidFill>
          <a:ln w="15240">
            <a:solidFill>
              <a:srgbClr val="0072B2"/>
            </a:solidFill>
            <a:prstDash val="solid"/>
          </a:ln>
        </p:spPr>
      </p:sp>
      <p:sp>
        <p:nvSpPr>
          <p:cNvPr id="27" name="Text 25"/>
          <p:cNvSpPr txBox="1"/>
          <p:nvPr/>
        </p:nvSpPr>
        <p:spPr>
          <a:xfrm>
            <a:off x="265917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Encode IDs</a:t>
            </a:r>
            <a:endParaRPr lang="en-US" sz="1561" dirty="0"/>
          </a:p>
        </p:txBody>
      </p:sp>
      <p:sp>
        <p:nvSpPr>
          <p:cNvPr id="28" name="Text 26"/>
          <p:cNvSpPr txBox="1"/>
          <p:nvPr/>
        </p:nvSpPr>
        <p:spPr>
          <a:xfrm>
            <a:off x="265917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Keep last CTX</a:t>
            </a:r>
            <a:endParaRPr lang="en-US" sz="1441" dirty="0"/>
          </a:p>
        </p:txBody>
      </p:sp>
      <p:sp>
        <p:nvSpPr>
          <p:cNvPr id="29" name="Text 27"/>
          <p:cNvSpPr txBox="1"/>
          <p:nvPr/>
        </p:nvSpPr>
        <p:spPr>
          <a:xfrm>
            <a:off x="265917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characters</a:t>
            </a:r>
            <a:endParaRPr lang="en-US" sz="1441" dirty="0"/>
          </a:p>
        </p:txBody>
      </p:sp>
      <p:sp>
        <p:nvSpPr>
          <p:cNvPr id="30" name="Text 28"/>
          <p:cNvSpPr txBox="1"/>
          <p:nvPr/>
        </p:nvSpPr>
        <p:spPr>
          <a:xfrm>
            <a:off x="262104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stoi</a:t>
            </a:r>
            <a:endParaRPr lang="en-US" sz="1441" dirty="0"/>
          </a:p>
        </p:txBody>
      </p:sp>
      <p:sp>
        <p:nvSpPr>
          <p:cNvPr id="31" name="Shape 29"/>
          <p:cNvSpPr/>
          <p:nvPr/>
        </p:nvSpPr>
        <p:spPr>
          <a:xfrm>
            <a:off x="4408015" y="2939089"/>
            <a:ext cx="1565821" cy="1799677"/>
          </a:xfrm>
          <a:prstGeom prst="rect">
            <a:avLst/>
          </a:prstGeom>
          <a:solidFill>
            <a:srgbClr val="E5F7EF"/>
          </a:solidFill>
          <a:ln w="15240">
            <a:solidFill>
              <a:srgbClr val="009E73"/>
            </a:solidFill>
            <a:prstDash val="solid"/>
          </a:ln>
        </p:spPr>
      </p:sp>
      <p:sp>
        <p:nvSpPr>
          <p:cNvPr id="32" name="Text 30"/>
          <p:cNvSpPr txBox="1"/>
          <p:nvPr/>
        </p:nvSpPr>
        <p:spPr>
          <a:xfrm>
            <a:off x="446902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Run model</a:t>
            </a:r>
            <a:endParaRPr lang="en-US" sz="1561" dirty="0"/>
          </a:p>
        </p:txBody>
      </p:sp>
      <p:sp>
        <p:nvSpPr>
          <p:cNvPr id="33" name="Text 31"/>
          <p:cNvSpPr txBox="1"/>
          <p:nvPr/>
        </p:nvSpPr>
        <p:spPr>
          <a:xfrm>
            <a:off x="446902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Trained weights</a:t>
            </a:r>
            <a:endParaRPr lang="en-US" sz="1441" dirty="0"/>
          </a:p>
        </p:txBody>
      </p:sp>
      <p:sp>
        <p:nvSpPr>
          <p:cNvPr id="34" name="Text 32"/>
          <p:cNvSpPr txBox="1"/>
          <p:nvPr/>
        </p:nvSpPr>
        <p:spPr>
          <a:xfrm>
            <a:off x="446902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stay fixed</a:t>
            </a:r>
            <a:endParaRPr lang="en-US" sz="1441" dirty="0"/>
          </a:p>
        </p:txBody>
      </p:sp>
      <p:sp>
        <p:nvSpPr>
          <p:cNvPr id="35" name="Text 33"/>
          <p:cNvSpPr txBox="1"/>
          <p:nvPr/>
        </p:nvSpPr>
        <p:spPr>
          <a:xfrm>
            <a:off x="443089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forward</a:t>
            </a:r>
            <a:endParaRPr lang="en-US" sz="1441" dirty="0"/>
          </a:p>
        </p:txBody>
      </p:sp>
      <p:sp>
        <p:nvSpPr>
          <p:cNvPr id="36" name="Shape 34"/>
          <p:cNvSpPr/>
          <p:nvPr/>
        </p:nvSpPr>
        <p:spPr>
          <a:xfrm>
            <a:off x="6217860" y="2939089"/>
            <a:ext cx="1565821" cy="1799677"/>
          </a:xfrm>
          <a:prstGeom prst="rect">
            <a:avLst/>
          </a:prstGeom>
          <a:solidFill>
            <a:srgbClr val="E5F7EF"/>
          </a:solidFill>
          <a:ln w="15240">
            <a:solidFill>
              <a:srgbClr val="009E73"/>
            </a:solidFill>
            <a:prstDash val="solid"/>
          </a:ln>
        </p:spPr>
      </p:sp>
      <p:sp>
        <p:nvSpPr>
          <p:cNvPr id="37" name="Text 35"/>
          <p:cNvSpPr txBox="1"/>
          <p:nvPr/>
        </p:nvSpPr>
        <p:spPr>
          <a:xfrm>
            <a:off x="627886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Last scores</a:t>
            </a:r>
            <a:endParaRPr lang="en-US" sz="1561" dirty="0"/>
          </a:p>
        </p:txBody>
      </p:sp>
      <p:sp>
        <p:nvSpPr>
          <p:cNvPr id="38" name="Text 36"/>
          <p:cNvSpPr txBox="1"/>
          <p:nvPr/>
        </p:nvSpPr>
        <p:spPr>
          <a:xfrm>
            <a:off x="627886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Use final position</a:t>
            </a:r>
            <a:endParaRPr lang="en-US" sz="1441" dirty="0"/>
          </a:p>
        </p:txBody>
      </p:sp>
      <p:sp>
        <p:nvSpPr>
          <p:cNvPr id="39" name="Text 37"/>
          <p:cNvSpPr txBox="1"/>
          <p:nvPr/>
        </p:nvSpPr>
        <p:spPr>
          <a:xfrm>
            <a:off x="627886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logits</a:t>
            </a:r>
            <a:endParaRPr lang="en-US" sz="1441" dirty="0"/>
          </a:p>
        </p:txBody>
      </p:sp>
      <p:sp>
        <p:nvSpPr>
          <p:cNvPr id="40" name="Text 38"/>
          <p:cNvSpPr txBox="1"/>
          <p:nvPr/>
        </p:nvSpPr>
        <p:spPr>
          <a:xfrm>
            <a:off x="624073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head</a:t>
            </a:r>
            <a:endParaRPr lang="en-US" sz="1441" dirty="0"/>
          </a:p>
        </p:txBody>
      </p:sp>
      <p:sp>
        <p:nvSpPr>
          <p:cNvPr id="41" name="Shape 39"/>
          <p:cNvSpPr/>
          <p:nvPr/>
        </p:nvSpPr>
        <p:spPr>
          <a:xfrm>
            <a:off x="8027705" y="2939089"/>
            <a:ext cx="1565821" cy="1799677"/>
          </a:xfrm>
          <a:prstGeom prst="rect">
            <a:avLst/>
          </a:prstGeom>
          <a:solidFill>
            <a:srgbClr val="E5F7EF"/>
          </a:solidFill>
          <a:ln w="15240">
            <a:solidFill>
              <a:srgbClr val="009E73"/>
            </a:solidFill>
            <a:prstDash val="solid"/>
          </a:ln>
        </p:spPr>
      </p:sp>
      <p:sp>
        <p:nvSpPr>
          <p:cNvPr id="42" name="Text 40"/>
          <p:cNvSpPr txBox="1"/>
          <p:nvPr/>
        </p:nvSpPr>
        <p:spPr>
          <a:xfrm>
            <a:off x="808871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Sample ID</a:t>
            </a:r>
            <a:endParaRPr lang="en-US" sz="1561" dirty="0"/>
          </a:p>
        </p:txBody>
      </p:sp>
      <p:sp>
        <p:nvSpPr>
          <p:cNvPr id="43" name="Text 41"/>
          <p:cNvSpPr txBox="1"/>
          <p:nvPr/>
        </p:nvSpPr>
        <p:spPr>
          <a:xfrm>
            <a:off x="808871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Temperature;</a:t>
            </a:r>
            <a:endParaRPr lang="en-US" sz="1441" dirty="0"/>
          </a:p>
        </p:txBody>
      </p:sp>
      <p:sp>
        <p:nvSpPr>
          <p:cNvPr id="44" name="Text 42"/>
          <p:cNvSpPr txBox="1"/>
          <p:nvPr/>
        </p:nvSpPr>
        <p:spPr>
          <a:xfrm>
            <a:off x="808871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then softmax</a:t>
            </a:r>
            <a:endParaRPr lang="en-US" sz="1441" dirty="0"/>
          </a:p>
        </p:txBody>
      </p:sp>
      <p:sp>
        <p:nvSpPr>
          <p:cNvPr id="45" name="Text 43"/>
          <p:cNvSpPr txBox="1"/>
          <p:nvPr/>
        </p:nvSpPr>
        <p:spPr>
          <a:xfrm>
            <a:off x="805058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generate</a:t>
            </a:r>
            <a:endParaRPr lang="en-US" sz="1441" dirty="0"/>
          </a:p>
        </p:txBody>
      </p:sp>
      <p:sp>
        <p:nvSpPr>
          <p:cNvPr id="46" name="Shape 44"/>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47" name="Text 45"/>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Append ID</a:t>
            </a:r>
            <a:endParaRPr lang="en-US" sz="1561" dirty="0"/>
          </a:p>
        </p:txBody>
      </p:sp>
      <p:sp>
        <p:nvSpPr>
          <p:cNvPr id="48" name="Text 46"/>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with itos;</a:t>
            </a:r>
            <a:endParaRPr lang="en-US" sz="1441" dirty="0"/>
          </a:p>
        </p:txBody>
      </p:sp>
      <p:sp>
        <p:nvSpPr>
          <p:cNvPr id="49" name="Text 47"/>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extend prefix</a:t>
            </a:r>
            <a:endParaRPr lang="en-US" sz="1441" dirty="0"/>
          </a:p>
        </p:txBody>
      </p:sp>
      <p:sp>
        <p:nvSpPr>
          <p:cNvPr id="50" name="Text 48"/>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itos</a:t>
            </a:r>
            <a:endParaRPr lang="en-US" sz="1441" dirty="0"/>
          </a:p>
        </p:txBody>
      </p:sp>
      <p:sp>
        <p:nvSpPr>
          <p:cNvPr id="51" name="Shape 49"/>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2" name="Text 50"/>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3" name="Shape 51"/>
          <p:cNvSpPr/>
          <p:nvPr/>
        </p:nvSpPr>
        <p:spPr>
          <a:xfrm>
            <a:off x="2118929" y="5630979"/>
            <a:ext cx="198270" cy="198270"/>
          </a:xfrm>
          <a:prstGeom prst="rect">
            <a:avLst/>
          </a:prstGeom>
          <a:solidFill>
            <a:srgbClr val="E5F7EF"/>
          </a:solidFill>
          <a:ln w="15240">
            <a:solidFill>
              <a:srgbClr val="009E73"/>
            </a:solidFill>
            <a:prstDash val="solid"/>
          </a:ln>
        </p:spPr>
      </p:sp>
      <p:sp>
        <p:nvSpPr>
          <p:cNvPr id="54" name="Text 52"/>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5" name="Shape 53"/>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56" name="Text 54"/>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7" name="Shape 55"/>
          <p:cNvSpPr/>
          <p:nvPr/>
        </p:nvSpPr>
        <p:spPr>
          <a:xfrm>
            <a:off x="4179476" y="5730113"/>
            <a:ext cx="335533" cy="0"/>
          </a:xfrm>
          <a:prstGeom prst="line">
            <a:avLst/>
          </a:prstGeom>
          <a:noFill/>
          <a:ln w="22860">
            <a:solidFill>
              <a:srgbClr val="009E73"/>
            </a:solidFill>
            <a:prstDash val="solid"/>
            <a:tailEnd type="triangle"/>
          </a:ln>
        </p:spPr>
      </p:sp>
      <p:sp>
        <p:nvSpPr>
          <p:cNvPr id="58" name="Text 56"/>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9" name="Shape 57"/>
          <p:cNvSpPr/>
          <p:nvPr/>
        </p:nvSpPr>
        <p:spPr>
          <a:xfrm>
            <a:off x="5562861" y="5730113"/>
            <a:ext cx="335533" cy="0"/>
          </a:xfrm>
          <a:prstGeom prst="line">
            <a:avLst/>
          </a:prstGeom>
          <a:noFill/>
          <a:ln w="22860">
            <a:solidFill>
              <a:srgbClr val="D55E00"/>
            </a:solidFill>
            <a:prstDash val="dash"/>
            <a:tailEnd type="triangle"/>
          </a:ln>
        </p:spPr>
      </p:sp>
      <p:sp>
        <p:nvSpPr>
          <p:cNvPr id="60" name="Text 58"/>
          <p:cNvSpPr txBox="1"/>
          <p:nvPr/>
        </p:nvSpPr>
        <p:spPr>
          <a:xfrm>
            <a:off x="595940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61" name="Text 59"/>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do we use the final position's logits to generate the next character?</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Faster generation: the KV cache</a:t>
            </a:r>
            <a:endParaRPr lang="en-US" sz="3200" dirty="0"/>
          </a:p>
        </p:txBody>
      </p:sp>
      <p:sp>
        <p:nvSpPr>
          <p:cNvPr id="6" name="Shape 4"/>
          <p:cNvSpPr/>
          <p:nvPr/>
        </p:nvSpPr>
        <p:spPr>
          <a:xfrm>
            <a:off x="1724989" y="4256339"/>
            <a:ext cx="0" cy="521438"/>
          </a:xfrm>
          <a:prstGeom prst="line">
            <a:avLst/>
          </a:prstGeom>
          <a:noFill/>
          <a:ln w="22860">
            <a:solidFill>
              <a:srgbClr val="0072B2"/>
            </a:solidFill>
            <a:prstDash val="solid"/>
          </a:ln>
        </p:spPr>
      </p:sp>
      <p:sp>
        <p:nvSpPr>
          <p:cNvPr id="7" name="Shape 5"/>
          <p:cNvSpPr/>
          <p:nvPr/>
        </p:nvSpPr>
        <p:spPr>
          <a:xfrm>
            <a:off x="1724989" y="4777777"/>
            <a:ext cx="6316648" cy="0"/>
          </a:xfrm>
          <a:prstGeom prst="line">
            <a:avLst/>
          </a:prstGeom>
          <a:noFill/>
          <a:ln w="22860">
            <a:solidFill>
              <a:srgbClr val="0072B2"/>
            </a:solidFill>
            <a:prstDash val="solid"/>
          </a:ln>
        </p:spPr>
      </p:sp>
      <p:sp>
        <p:nvSpPr>
          <p:cNvPr id="8" name="Shape 6"/>
          <p:cNvSpPr/>
          <p:nvPr/>
        </p:nvSpPr>
        <p:spPr>
          <a:xfrm>
            <a:off x="2564751" y="3754957"/>
            <a:ext cx="426026" cy="0"/>
          </a:xfrm>
          <a:prstGeom prst="line">
            <a:avLst/>
          </a:prstGeom>
          <a:noFill/>
          <a:ln w="22860">
            <a:solidFill>
              <a:srgbClr val="009E73"/>
            </a:solidFill>
            <a:prstDash val="solid"/>
            <a:tailEnd type="triangle"/>
          </a:ln>
        </p:spPr>
      </p:sp>
      <p:sp>
        <p:nvSpPr>
          <p:cNvPr id="9" name="Shape 7"/>
          <p:cNvSpPr/>
          <p:nvPr/>
        </p:nvSpPr>
        <p:spPr>
          <a:xfrm>
            <a:off x="4670301" y="3754957"/>
            <a:ext cx="426026" cy="0"/>
          </a:xfrm>
          <a:prstGeom prst="line">
            <a:avLst/>
          </a:prstGeom>
          <a:noFill/>
          <a:ln w="22860">
            <a:solidFill>
              <a:srgbClr val="009E73"/>
            </a:solidFill>
            <a:prstDash val="solid"/>
            <a:tailEnd type="triangle"/>
          </a:ln>
        </p:spPr>
      </p:sp>
      <p:sp>
        <p:nvSpPr>
          <p:cNvPr id="10" name="Shape 8"/>
          <p:cNvSpPr/>
          <p:nvPr/>
        </p:nvSpPr>
        <p:spPr>
          <a:xfrm>
            <a:off x="6775850" y="3754957"/>
            <a:ext cx="426026" cy="0"/>
          </a:xfrm>
          <a:prstGeom prst="line">
            <a:avLst/>
          </a:prstGeom>
          <a:noFill/>
          <a:ln w="22860">
            <a:solidFill>
              <a:srgbClr val="009E73"/>
            </a:solidFill>
            <a:prstDash val="solid"/>
            <a:tailEnd type="triangle"/>
          </a:ln>
        </p:spPr>
      </p:sp>
      <p:sp>
        <p:nvSpPr>
          <p:cNvPr id="11" name="Shape 9"/>
          <p:cNvSpPr/>
          <p:nvPr/>
        </p:nvSpPr>
        <p:spPr>
          <a:xfrm>
            <a:off x="8881399" y="3754957"/>
            <a:ext cx="426026" cy="0"/>
          </a:xfrm>
          <a:prstGeom prst="line">
            <a:avLst/>
          </a:prstGeom>
          <a:noFill/>
          <a:ln w="22860">
            <a:solidFill>
              <a:srgbClr val="009E73"/>
            </a:solidFill>
            <a:prstDash val="solid"/>
            <a:tailEnd type="triangle"/>
          </a:ln>
        </p:spPr>
      </p:sp>
      <p:sp>
        <p:nvSpPr>
          <p:cNvPr id="12" name="Shape 10"/>
          <p:cNvSpPr/>
          <p:nvPr/>
        </p:nvSpPr>
        <p:spPr>
          <a:xfrm flipV="1">
            <a:off x="8041637" y="4256339"/>
            <a:ext cx="0" cy="521438"/>
          </a:xfrm>
          <a:prstGeom prst="line">
            <a:avLst/>
          </a:prstGeom>
          <a:noFill/>
          <a:ln w="22860">
            <a:solidFill>
              <a:srgbClr val="0072B2"/>
            </a:solidFill>
            <a:prstDash val="solid"/>
            <a:tailEnd type="triangle"/>
          </a:ln>
        </p:spPr>
      </p:sp>
      <p:sp>
        <p:nvSpPr>
          <p:cNvPr id="13" name="Shape 11"/>
          <p:cNvSpPr/>
          <p:nvPr/>
        </p:nvSpPr>
        <p:spPr>
          <a:xfrm>
            <a:off x="885227" y="3253575"/>
            <a:ext cx="1679524" cy="1002764"/>
          </a:xfrm>
          <a:prstGeom prst="roundRect">
            <a:avLst>
              <a:gd name="adj" fmla="val 7295"/>
            </a:avLst>
          </a:prstGeom>
          <a:solidFill>
            <a:srgbClr val="E4F2FB"/>
          </a:solidFill>
          <a:ln w="15240">
            <a:solidFill>
              <a:srgbClr val="0072B2"/>
            </a:solidFill>
            <a:prstDash val="solid"/>
          </a:ln>
        </p:spPr>
      </p:sp>
      <p:sp>
        <p:nvSpPr>
          <p:cNvPr id="14" name="Shape 12"/>
          <p:cNvSpPr/>
          <p:nvPr/>
        </p:nvSpPr>
        <p:spPr>
          <a:xfrm>
            <a:off x="2990777" y="3253575"/>
            <a:ext cx="1679524" cy="1002764"/>
          </a:xfrm>
          <a:prstGeom prst="roundRect">
            <a:avLst>
              <a:gd name="adj" fmla="val 7295"/>
            </a:avLst>
          </a:prstGeom>
          <a:solidFill>
            <a:srgbClr val="E4F2FB"/>
          </a:solidFill>
          <a:ln w="15240">
            <a:solidFill>
              <a:srgbClr val="0072B2"/>
            </a:solidFill>
            <a:prstDash val="solid"/>
          </a:ln>
        </p:spPr>
      </p:sp>
      <p:sp>
        <p:nvSpPr>
          <p:cNvPr id="15" name="Shape 13"/>
          <p:cNvSpPr/>
          <p:nvPr/>
        </p:nvSpPr>
        <p:spPr>
          <a:xfrm>
            <a:off x="5096326" y="3253575"/>
            <a:ext cx="1679524" cy="1002764"/>
          </a:xfrm>
          <a:prstGeom prst="rect">
            <a:avLst/>
          </a:prstGeom>
          <a:solidFill>
            <a:srgbClr val="E5F7EF"/>
          </a:solidFill>
          <a:ln w="15240">
            <a:solidFill>
              <a:srgbClr val="009E73"/>
            </a:solidFill>
            <a:prstDash val="solid"/>
          </a:ln>
        </p:spPr>
      </p:sp>
      <p:sp>
        <p:nvSpPr>
          <p:cNvPr id="16" name="Shape 14"/>
          <p:cNvSpPr/>
          <p:nvPr/>
        </p:nvSpPr>
        <p:spPr>
          <a:xfrm>
            <a:off x="7201875" y="3253575"/>
            <a:ext cx="1679524" cy="1002764"/>
          </a:xfrm>
          <a:prstGeom prst="rect">
            <a:avLst/>
          </a:prstGeom>
          <a:solidFill>
            <a:srgbClr val="E5F7EF"/>
          </a:solidFill>
          <a:ln w="15240">
            <a:solidFill>
              <a:srgbClr val="009E73"/>
            </a:solidFill>
            <a:prstDash val="solid"/>
          </a:ln>
        </p:spPr>
      </p:sp>
      <p:sp>
        <p:nvSpPr>
          <p:cNvPr id="17" name="Shape 15"/>
          <p:cNvSpPr/>
          <p:nvPr/>
        </p:nvSpPr>
        <p:spPr>
          <a:xfrm>
            <a:off x="9307425" y="3253575"/>
            <a:ext cx="1679524" cy="1002764"/>
          </a:xfrm>
          <a:prstGeom prst="roundRect">
            <a:avLst>
              <a:gd name="adj" fmla="val 7295"/>
            </a:avLst>
          </a:prstGeom>
          <a:solidFill>
            <a:srgbClr val="F9EAF4"/>
          </a:solidFill>
          <a:ln w="15240">
            <a:solidFill>
              <a:srgbClr val="CC79A7"/>
            </a:solidFill>
            <a:prstDash val="solid"/>
          </a:ln>
        </p:spPr>
      </p:sp>
      <p:sp>
        <p:nvSpPr>
          <p:cNvPr id="18" name="Shape 16"/>
          <p:cNvSpPr/>
          <p:nvPr/>
        </p:nvSpPr>
        <p:spPr>
          <a:xfrm>
            <a:off x="852456" y="5684276"/>
            <a:ext cx="180242" cy="176487"/>
          </a:xfrm>
          <a:prstGeom prst="roundRect">
            <a:avLst>
              <a:gd name="adj" fmla="val 41449"/>
            </a:avLst>
          </a:prstGeom>
          <a:solidFill>
            <a:srgbClr val="E4F2FB"/>
          </a:solidFill>
          <a:ln w="15240">
            <a:solidFill>
              <a:srgbClr val="0072B2"/>
            </a:solidFill>
            <a:prstDash val="solid"/>
          </a:ln>
        </p:spPr>
      </p:sp>
      <p:sp>
        <p:nvSpPr>
          <p:cNvPr id="19" name="Shape 17"/>
          <p:cNvSpPr/>
          <p:nvPr/>
        </p:nvSpPr>
        <p:spPr>
          <a:xfrm>
            <a:off x="2982584" y="5684276"/>
            <a:ext cx="180242" cy="176487"/>
          </a:xfrm>
          <a:prstGeom prst="rect">
            <a:avLst/>
          </a:prstGeom>
          <a:solidFill>
            <a:srgbClr val="E5F7EF"/>
          </a:solidFill>
          <a:ln w="15240">
            <a:solidFill>
              <a:srgbClr val="009E73"/>
            </a:solidFill>
            <a:prstDash val="solid"/>
          </a:ln>
        </p:spPr>
      </p:sp>
      <p:sp>
        <p:nvSpPr>
          <p:cNvPr id="20" name="Shape 18"/>
          <p:cNvSpPr/>
          <p:nvPr/>
        </p:nvSpPr>
        <p:spPr>
          <a:xfrm>
            <a:off x="5112712" y="5684276"/>
            <a:ext cx="180242" cy="176487"/>
          </a:xfrm>
          <a:prstGeom prst="roundRect">
            <a:avLst>
              <a:gd name="adj" fmla="val 41449"/>
            </a:avLst>
          </a:prstGeom>
          <a:solidFill>
            <a:srgbClr val="F9EAF4"/>
          </a:solidFill>
          <a:ln w="15240">
            <a:solidFill>
              <a:srgbClr val="CC79A7"/>
            </a:solidFill>
            <a:prstDash val="solid"/>
          </a:ln>
        </p:spPr>
      </p:sp>
      <p:sp>
        <p:nvSpPr>
          <p:cNvPr id="21" name="Text 19"/>
          <p:cNvSpPr txBox="1"/>
          <p:nvPr/>
        </p:nvSpPr>
        <p:spPr>
          <a:xfrm>
            <a:off x="983605" y="3507466"/>
            <a:ext cx="148276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Known prefix</a:t>
            </a:r>
            <a:endParaRPr lang="en-US" sz="1680" dirty="0"/>
          </a:p>
        </p:txBody>
      </p:sp>
      <p:sp>
        <p:nvSpPr>
          <p:cNvPr id="22" name="Text 20"/>
          <p:cNvSpPr txBox="1"/>
          <p:nvPr/>
        </p:nvSpPr>
        <p:spPr>
          <a:xfrm>
            <a:off x="983605" y="3754957"/>
            <a:ext cx="1482769"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The cat sat</a:t>
            </a:r>
            <a:endParaRPr lang="en-US" sz="1680" dirty="0"/>
          </a:p>
        </p:txBody>
      </p:sp>
      <p:sp>
        <p:nvSpPr>
          <p:cNvPr id="23" name="Text 21"/>
          <p:cNvSpPr txBox="1"/>
          <p:nvPr/>
        </p:nvSpPr>
        <p:spPr>
          <a:xfrm>
            <a:off x="3044990" y="3507466"/>
            <a:ext cx="157109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Read sat</a:t>
            </a:r>
            <a:endParaRPr lang="en-US" sz="1680" dirty="0"/>
          </a:p>
        </p:txBody>
      </p:sp>
      <p:sp>
        <p:nvSpPr>
          <p:cNvPr id="24" name="Text 22"/>
          <p:cNvSpPr txBox="1"/>
          <p:nvPr/>
        </p:nvSpPr>
        <p:spPr>
          <a:xfrm>
            <a:off x="3044990" y="3754957"/>
            <a:ext cx="157109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(known token)</a:t>
            </a:r>
            <a:endParaRPr lang="en-US" sz="1680" dirty="0"/>
          </a:p>
        </p:txBody>
      </p:sp>
      <p:sp>
        <p:nvSpPr>
          <p:cNvPr id="25" name="Text 23"/>
          <p:cNvSpPr txBox="1"/>
          <p:nvPr/>
        </p:nvSpPr>
        <p:spPr>
          <a:xfrm>
            <a:off x="2281950" y="2920107"/>
            <a:ext cx="991627"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last token</a:t>
            </a:r>
            <a:endParaRPr lang="en-US" sz="1587" dirty="0"/>
          </a:p>
        </p:txBody>
      </p:sp>
      <p:sp>
        <p:nvSpPr>
          <p:cNvPr id="26" name="Text 24"/>
          <p:cNvSpPr txBox="1"/>
          <p:nvPr/>
        </p:nvSpPr>
        <p:spPr>
          <a:xfrm>
            <a:off x="5084293" y="3507466"/>
            <a:ext cx="170359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Compute Q/K/V</a:t>
            </a:r>
            <a:endParaRPr lang="en-US" sz="1680" dirty="0"/>
          </a:p>
        </p:txBody>
      </p:sp>
      <p:sp>
        <p:nvSpPr>
          <p:cNvPr id="27" name="Text 25"/>
          <p:cNvSpPr txBox="1"/>
          <p:nvPr/>
        </p:nvSpPr>
        <p:spPr>
          <a:xfrm>
            <a:off x="5084293" y="3754957"/>
            <a:ext cx="170359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for sat</a:t>
            </a:r>
            <a:endParaRPr lang="en-US" sz="1680" dirty="0"/>
          </a:p>
        </p:txBody>
      </p:sp>
      <p:sp>
        <p:nvSpPr>
          <p:cNvPr id="28" name="Text 26"/>
          <p:cNvSpPr txBox="1"/>
          <p:nvPr/>
        </p:nvSpPr>
        <p:spPr>
          <a:xfrm>
            <a:off x="4378667" y="2920107"/>
            <a:ext cx="1009293"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sat vector</a:t>
            </a:r>
            <a:endParaRPr lang="en-US" sz="1587" dirty="0"/>
          </a:p>
        </p:txBody>
      </p:sp>
      <p:sp>
        <p:nvSpPr>
          <p:cNvPr id="29" name="Text 27"/>
          <p:cNvSpPr txBox="1"/>
          <p:nvPr/>
        </p:nvSpPr>
        <p:spPr>
          <a:xfrm>
            <a:off x="7242839" y="3507466"/>
            <a:ext cx="159759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Attend to K/V</a:t>
            </a:r>
            <a:endParaRPr lang="en-US" sz="1680" dirty="0"/>
          </a:p>
        </p:txBody>
      </p:sp>
      <p:sp>
        <p:nvSpPr>
          <p:cNvPr id="30" name="Text 28"/>
          <p:cNvSpPr txBox="1"/>
          <p:nvPr/>
        </p:nvSpPr>
        <p:spPr>
          <a:xfrm>
            <a:off x="7242839" y="3754957"/>
            <a:ext cx="159759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for The cat sat</a:t>
            </a:r>
            <a:endParaRPr lang="en-US" sz="1680" dirty="0"/>
          </a:p>
        </p:txBody>
      </p:sp>
      <p:sp>
        <p:nvSpPr>
          <p:cNvPr id="31" name="Text 29"/>
          <p:cNvSpPr txBox="1"/>
          <p:nvPr/>
        </p:nvSpPr>
        <p:spPr>
          <a:xfrm>
            <a:off x="6435635" y="2920107"/>
            <a:ext cx="1106455"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new Q/K/V</a:t>
            </a:r>
            <a:endParaRPr lang="en-US" sz="1587" dirty="0"/>
          </a:p>
        </p:txBody>
      </p:sp>
      <p:sp>
        <p:nvSpPr>
          <p:cNvPr id="32" name="Text 30"/>
          <p:cNvSpPr txBox="1"/>
          <p:nvPr/>
        </p:nvSpPr>
        <p:spPr>
          <a:xfrm>
            <a:off x="9445550" y="3507466"/>
            <a:ext cx="140327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Next-token</a:t>
            </a:r>
            <a:endParaRPr lang="en-US" sz="1680" dirty="0"/>
          </a:p>
        </p:txBody>
      </p:sp>
      <p:sp>
        <p:nvSpPr>
          <p:cNvPr id="33" name="Text 31"/>
          <p:cNvSpPr txBox="1"/>
          <p:nvPr/>
        </p:nvSpPr>
        <p:spPr>
          <a:xfrm>
            <a:off x="9445550" y="3754957"/>
            <a:ext cx="140327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probabilities</a:t>
            </a:r>
            <a:endParaRPr lang="en-US" sz="1680" dirty="0"/>
          </a:p>
        </p:txBody>
      </p:sp>
      <p:sp>
        <p:nvSpPr>
          <p:cNvPr id="34" name="Text 32"/>
          <p:cNvSpPr txBox="1"/>
          <p:nvPr/>
        </p:nvSpPr>
        <p:spPr>
          <a:xfrm>
            <a:off x="8563267" y="2920107"/>
            <a:ext cx="1062290"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last output</a:t>
            </a:r>
            <a:endParaRPr lang="en-US" sz="1587" dirty="0"/>
          </a:p>
        </p:txBody>
      </p:sp>
      <p:sp>
        <p:nvSpPr>
          <p:cNvPr id="35" name="Text 33"/>
          <p:cNvSpPr txBox="1"/>
          <p:nvPr/>
        </p:nvSpPr>
        <p:spPr>
          <a:xfrm>
            <a:off x="4062898" y="4910739"/>
            <a:ext cx="4393610" cy="247491"/>
          </a:xfrm>
          <a:prstGeom prst="rect">
            <a:avLst/>
          </a:prstGeom>
          <a:solidFill>
            <a:srgbClr val="FFFFFF"/>
          </a:solidFill>
          <a:ln/>
        </p:spPr>
        <p:txBody>
          <a:bodyPr wrap="square" lIns="0" tIns="0" rIns="0" bIns="0" rtlCol="0" anchor="ctr"/>
          <a:lstStyle/>
          <a:p>
            <a:pPr algn="ctr" indent="0" marL="0">
              <a:lnSpc>
                <a:spcPct val="116000"/>
              </a:lnSpc>
              <a:buNone/>
            </a:pPr>
            <a:r>
              <a:rPr lang="en-US" sz="1680" dirty="0">
                <a:solidFill>
                  <a:srgbClr val="1F2937"/>
                </a:solidFill>
                <a:latin typeface="Arial" pitchFamily="34" charset="0"/>
                <a:ea typeface="Arial" pitchFamily="34" charset="-122"/>
                <a:cs typeface="Arial" pitchFamily="34" charset="-120"/>
              </a:rPr>
              <a:t>cached K/V for The and cat (earlier passes)</a:t>
            </a:r>
            <a:endParaRPr lang="en-US" sz="1680" dirty="0"/>
          </a:p>
        </p:txBody>
      </p:sp>
      <p:sp>
        <p:nvSpPr>
          <p:cNvPr id="36" name="Text 34"/>
          <p:cNvSpPr txBox="1"/>
          <p:nvPr/>
        </p:nvSpPr>
        <p:spPr>
          <a:xfrm>
            <a:off x="852456" y="2015931"/>
            <a:ext cx="9222190" cy="274990"/>
          </a:xfrm>
          <a:prstGeom prst="rect">
            <a:avLst/>
          </a:prstGeom>
          <a:noFill/>
          <a:ln/>
        </p:spPr>
        <p:txBody>
          <a:bodyPr wrap="square" lIns="0" tIns="0" rIns="0" bIns="0" rtlCol="0" anchor="ctr"/>
          <a:lstStyle/>
          <a:p>
            <a:pPr algn="l" indent="0" marL="0">
              <a:lnSpc>
                <a:spcPct val="116000"/>
              </a:lnSpc>
              <a:buNone/>
            </a:pPr>
            <a:r>
              <a:rPr lang="en-US" sz="1867" b="1" dirty="0">
                <a:solidFill>
                  <a:srgbClr val="1E1B4B"/>
                </a:solidFill>
                <a:latin typeface="Arial" pitchFamily="34" charset="0"/>
                <a:ea typeface="Arial" pitchFamily="34" charset="-122"/>
                <a:cs typeface="Arial" pitchFamily="34" charset="-120"/>
              </a:rPr>
              <a:t>The query comes from the last known token, never an unknown future token.</a:t>
            </a:r>
            <a:endParaRPr lang="en-US" sz="1867" dirty="0"/>
          </a:p>
        </p:txBody>
      </p:sp>
      <p:sp>
        <p:nvSpPr>
          <p:cNvPr id="37" name="Text 35"/>
          <p:cNvSpPr txBox="1"/>
          <p:nvPr/>
        </p:nvSpPr>
        <p:spPr>
          <a:xfrm>
            <a:off x="893420" y="5188099"/>
            <a:ext cx="8398485"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Append sat's new K/V. CharGPT recomputes its context; a cache reuses earlier K/V.</a:t>
            </a:r>
            <a:endParaRPr lang="en-US" sz="1680" dirty="0"/>
          </a:p>
        </p:txBody>
      </p:sp>
      <p:sp>
        <p:nvSpPr>
          <p:cNvPr id="38" name="Text 36"/>
          <p:cNvSpPr txBox="1"/>
          <p:nvPr/>
        </p:nvSpPr>
        <p:spPr>
          <a:xfrm>
            <a:off x="1131011" y="5648774"/>
            <a:ext cx="1085290"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Input data</a:t>
            </a:r>
            <a:endParaRPr lang="en-US" sz="1680" dirty="0"/>
          </a:p>
        </p:txBody>
      </p:sp>
      <p:sp>
        <p:nvSpPr>
          <p:cNvPr id="39" name="Text 37"/>
          <p:cNvSpPr txBox="1"/>
          <p:nvPr/>
        </p:nvSpPr>
        <p:spPr>
          <a:xfrm>
            <a:off x="3261139" y="5648774"/>
            <a:ext cx="705477"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Model</a:t>
            </a:r>
            <a:endParaRPr lang="en-US" sz="1680" dirty="0"/>
          </a:p>
        </p:txBody>
      </p:sp>
      <p:sp>
        <p:nvSpPr>
          <p:cNvPr id="40" name="Text 38"/>
          <p:cNvSpPr txBox="1"/>
          <p:nvPr/>
        </p:nvSpPr>
        <p:spPr>
          <a:xfrm>
            <a:off x="5391267" y="5648774"/>
            <a:ext cx="758474"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Output</a:t>
            </a:r>
            <a:endParaRPr lang="en-US" sz="168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Mixture-of-experts: run a few networks per token</a:t>
            </a:r>
            <a:endParaRPr lang="en-US" sz="3200" dirty="0"/>
          </a:p>
        </p:txBody>
      </p:sp>
      <p:sp>
        <p:nvSpPr>
          <p:cNvPr id="6" name="Shape 4"/>
          <p:cNvSpPr/>
          <p:nvPr/>
        </p:nvSpPr>
        <p:spPr>
          <a:xfrm>
            <a:off x="4170540" y="3534349"/>
            <a:ext cx="409640" cy="0"/>
          </a:xfrm>
          <a:prstGeom prst="line">
            <a:avLst/>
          </a:prstGeom>
          <a:noFill/>
          <a:ln w="22860">
            <a:solidFill>
              <a:srgbClr val="009E73"/>
            </a:solidFill>
            <a:prstDash val="solid"/>
          </a:ln>
        </p:spPr>
      </p:sp>
      <p:sp>
        <p:nvSpPr>
          <p:cNvPr id="7" name="Shape 5"/>
          <p:cNvSpPr/>
          <p:nvPr/>
        </p:nvSpPr>
        <p:spPr>
          <a:xfrm flipV="1">
            <a:off x="4580180" y="3273630"/>
            <a:ext cx="0" cy="260719"/>
          </a:xfrm>
          <a:prstGeom prst="line">
            <a:avLst/>
          </a:prstGeom>
          <a:noFill/>
          <a:ln w="22860">
            <a:solidFill>
              <a:srgbClr val="009E73"/>
            </a:solidFill>
            <a:prstDash val="solid"/>
          </a:ln>
        </p:spPr>
      </p:sp>
      <p:sp>
        <p:nvSpPr>
          <p:cNvPr id="8" name="Shape 6"/>
          <p:cNvSpPr/>
          <p:nvPr/>
        </p:nvSpPr>
        <p:spPr>
          <a:xfrm>
            <a:off x="4170540" y="4055786"/>
            <a:ext cx="409640" cy="0"/>
          </a:xfrm>
          <a:prstGeom prst="line">
            <a:avLst/>
          </a:prstGeom>
          <a:noFill/>
          <a:ln w="22860">
            <a:solidFill>
              <a:srgbClr val="009E73"/>
            </a:solidFill>
            <a:prstDash val="solid"/>
          </a:ln>
        </p:spPr>
      </p:sp>
      <p:sp>
        <p:nvSpPr>
          <p:cNvPr id="9" name="Shape 7"/>
          <p:cNvSpPr/>
          <p:nvPr/>
        </p:nvSpPr>
        <p:spPr>
          <a:xfrm>
            <a:off x="4580180" y="4055786"/>
            <a:ext cx="0" cy="340940"/>
          </a:xfrm>
          <a:prstGeom prst="line">
            <a:avLst/>
          </a:prstGeom>
          <a:noFill/>
          <a:ln w="22860">
            <a:solidFill>
              <a:srgbClr val="009E73"/>
            </a:solidFill>
            <a:prstDash val="solid"/>
          </a:ln>
        </p:spPr>
      </p:sp>
      <p:sp>
        <p:nvSpPr>
          <p:cNvPr id="10" name="Shape 8"/>
          <p:cNvSpPr/>
          <p:nvPr/>
        </p:nvSpPr>
        <p:spPr>
          <a:xfrm>
            <a:off x="6997055" y="3273630"/>
            <a:ext cx="352290" cy="0"/>
          </a:xfrm>
          <a:prstGeom prst="line">
            <a:avLst/>
          </a:prstGeom>
          <a:noFill/>
          <a:ln w="22860">
            <a:solidFill>
              <a:srgbClr val="009E73"/>
            </a:solidFill>
            <a:prstDash val="solid"/>
          </a:ln>
        </p:spPr>
      </p:sp>
      <p:sp>
        <p:nvSpPr>
          <p:cNvPr id="11" name="Shape 9"/>
          <p:cNvSpPr/>
          <p:nvPr/>
        </p:nvSpPr>
        <p:spPr>
          <a:xfrm>
            <a:off x="7349346" y="3273630"/>
            <a:ext cx="0" cy="260719"/>
          </a:xfrm>
          <a:prstGeom prst="line">
            <a:avLst/>
          </a:prstGeom>
          <a:noFill/>
          <a:ln w="22860">
            <a:solidFill>
              <a:srgbClr val="009E73"/>
            </a:solidFill>
            <a:prstDash val="solid"/>
          </a:ln>
        </p:spPr>
      </p:sp>
      <p:sp>
        <p:nvSpPr>
          <p:cNvPr id="12" name="Shape 10"/>
          <p:cNvSpPr/>
          <p:nvPr/>
        </p:nvSpPr>
        <p:spPr>
          <a:xfrm>
            <a:off x="6997055" y="4396726"/>
            <a:ext cx="352290" cy="0"/>
          </a:xfrm>
          <a:prstGeom prst="line">
            <a:avLst/>
          </a:prstGeom>
          <a:noFill/>
          <a:ln w="22860">
            <a:solidFill>
              <a:srgbClr val="009E73"/>
            </a:solidFill>
            <a:prstDash val="solid"/>
          </a:ln>
        </p:spPr>
      </p:sp>
      <p:sp>
        <p:nvSpPr>
          <p:cNvPr id="13" name="Shape 11"/>
          <p:cNvSpPr/>
          <p:nvPr/>
        </p:nvSpPr>
        <p:spPr>
          <a:xfrm flipV="1">
            <a:off x="7349346" y="4055786"/>
            <a:ext cx="0" cy="340940"/>
          </a:xfrm>
          <a:prstGeom prst="line">
            <a:avLst/>
          </a:prstGeom>
          <a:noFill/>
          <a:ln w="22860">
            <a:solidFill>
              <a:srgbClr val="009E73"/>
            </a:solidFill>
            <a:prstDash val="solid"/>
          </a:ln>
        </p:spPr>
      </p:sp>
      <p:sp>
        <p:nvSpPr>
          <p:cNvPr id="14" name="Shape 12"/>
          <p:cNvSpPr/>
          <p:nvPr/>
        </p:nvSpPr>
        <p:spPr>
          <a:xfrm flipV="1">
            <a:off x="3474152" y="2611806"/>
            <a:ext cx="0" cy="721990"/>
          </a:xfrm>
          <a:prstGeom prst="line">
            <a:avLst/>
          </a:prstGeom>
          <a:noFill/>
          <a:ln w="22860">
            <a:solidFill>
              <a:srgbClr val="0072B2"/>
            </a:solidFill>
            <a:prstDash val="solid"/>
          </a:ln>
        </p:spPr>
      </p:sp>
      <p:sp>
        <p:nvSpPr>
          <p:cNvPr id="15" name="Shape 13"/>
          <p:cNvSpPr/>
          <p:nvPr/>
        </p:nvSpPr>
        <p:spPr>
          <a:xfrm>
            <a:off x="3474152" y="2611806"/>
            <a:ext cx="5120499" cy="0"/>
          </a:xfrm>
          <a:prstGeom prst="line">
            <a:avLst/>
          </a:prstGeom>
          <a:noFill/>
          <a:ln w="22860">
            <a:solidFill>
              <a:srgbClr val="0072B2"/>
            </a:solidFill>
            <a:prstDash val="solid"/>
          </a:ln>
        </p:spPr>
      </p:sp>
      <p:sp>
        <p:nvSpPr>
          <p:cNvPr id="16" name="Shape 14"/>
          <p:cNvSpPr/>
          <p:nvPr/>
        </p:nvSpPr>
        <p:spPr>
          <a:xfrm>
            <a:off x="2286196" y="3795068"/>
            <a:ext cx="491568" cy="0"/>
          </a:xfrm>
          <a:prstGeom prst="line">
            <a:avLst/>
          </a:prstGeom>
          <a:noFill/>
          <a:ln w="22860">
            <a:solidFill>
              <a:srgbClr val="009E73"/>
            </a:solidFill>
            <a:prstDash val="solid"/>
            <a:tailEnd type="triangle"/>
          </a:ln>
        </p:spPr>
      </p:sp>
      <p:sp>
        <p:nvSpPr>
          <p:cNvPr id="17" name="Shape 15"/>
          <p:cNvSpPr/>
          <p:nvPr/>
        </p:nvSpPr>
        <p:spPr>
          <a:xfrm>
            <a:off x="4580180" y="3273630"/>
            <a:ext cx="409640" cy="0"/>
          </a:xfrm>
          <a:prstGeom prst="line">
            <a:avLst/>
          </a:prstGeom>
          <a:noFill/>
          <a:ln w="22860">
            <a:solidFill>
              <a:srgbClr val="009E73"/>
            </a:solidFill>
            <a:prstDash val="solid"/>
            <a:tailEnd type="triangle"/>
          </a:ln>
        </p:spPr>
      </p:sp>
      <p:sp>
        <p:nvSpPr>
          <p:cNvPr id="18" name="Shape 16"/>
          <p:cNvSpPr/>
          <p:nvPr/>
        </p:nvSpPr>
        <p:spPr>
          <a:xfrm>
            <a:off x="4580180" y="4396726"/>
            <a:ext cx="409640" cy="0"/>
          </a:xfrm>
          <a:prstGeom prst="line">
            <a:avLst/>
          </a:prstGeom>
          <a:noFill/>
          <a:ln w="22860">
            <a:solidFill>
              <a:srgbClr val="009E73"/>
            </a:solidFill>
            <a:prstDash val="solid"/>
            <a:tailEnd type="triangle"/>
          </a:ln>
        </p:spPr>
      </p:sp>
      <p:sp>
        <p:nvSpPr>
          <p:cNvPr id="19" name="Shape 17"/>
          <p:cNvSpPr/>
          <p:nvPr/>
        </p:nvSpPr>
        <p:spPr>
          <a:xfrm>
            <a:off x="7349346" y="3534349"/>
            <a:ext cx="426026" cy="0"/>
          </a:xfrm>
          <a:prstGeom prst="line">
            <a:avLst/>
          </a:prstGeom>
          <a:noFill/>
          <a:ln w="22860">
            <a:solidFill>
              <a:srgbClr val="009E73"/>
            </a:solidFill>
            <a:prstDash val="solid"/>
            <a:tailEnd type="triangle"/>
          </a:ln>
        </p:spPr>
      </p:sp>
      <p:sp>
        <p:nvSpPr>
          <p:cNvPr id="20" name="Shape 18"/>
          <p:cNvSpPr/>
          <p:nvPr/>
        </p:nvSpPr>
        <p:spPr>
          <a:xfrm>
            <a:off x="7349346" y="4055786"/>
            <a:ext cx="426026" cy="0"/>
          </a:xfrm>
          <a:prstGeom prst="line">
            <a:avLst/>
          </a:prstGeom>
          <a:noFill/>
          <a:ln w="22860">
            <a:solidFill>
              <a:srgbClr val="009E73"/>
            </a:solidFill>
            <a:prstDash val="solid"/>
            <a:tailEnd type="triangle"/>
          </a:ln>
        </p:spPr>
      </p:sp>
      <p:sp>
        <p:nvSpPr>
          <p:cNvPr id="21" name="Shape 19"/>
          <p:cNvSpPr/>
          <p:nvPr/>
        </p:nvSpPr>
        <p:spPr>
          <a:xfrm>
            <a:off x="9413931" y="3795068"/>
            <a:ext cx="450604" cy="0"/>
          </a:xfrm>
          <a:prstGeom prst="line">
            <a:avLst/>
          </a:prstGeom>
          <a:noFill/>
          <a:ln w="22860">
            <a:solidFill>
              <a:srgbClr val="009E73"/>
            </a:solidFill>
            <a:prstDash val="solid"/>
            <a:tailEnd type="triangle"/>
          </a:ln>
        </p:spPr>
      </p:sp>
      <p:sp>
        <p:nvSpPr>
          <p:cNvPr id="22" name="Shape 20"/>
          <p:cNvSpPr/>
          <p:nvPr/>
        </p:nvSpPr>
        <p:spPr>
          <a:xfrm>
            <a:off x="8594651" y="2611806"/>
            <a:ext cx="0" cy="721990"/>
          </a:xfrm>
          <a:prstGeom prst="line">
            <a:avLst/>
          </a:prstGeom>
          <a:noFill/>
          <a:ln w="22860">
            <a:solidFill>
              <a:srgbClr val="0072B2"/>
            </a:solidFill>
            <a:prstDash val="solid"/>
            <a:tailEnd type="triangle"/>
          </a:ln>
        </p:spPr>
      </p:sp>
      <p:sp>
        <p:nvSpPr>
          <p:cNvPr id="23" name="Shape 21"/>
          <p:cNvSpPr/>
          <p:nvPr/>
        </p:nvSpPr>
        <p:spPr>
          <a:xfrm>
            <a:off x="893420" y="3333796"/>
            <a:ext cx="1392776" cy="922543"/>
          </a:xfrm>
          <a:prstGeom prst="roundRect">
            <a:avLst>
              <a:gd name="adj" fmla="val 7929"/>
            </a:avLst>
          </a:prstGeom>
          <a:solidFill>
            <a:srgbClr val="E4F2FB"/>
          </a:solidFill>
          <a:ln w="15240">
            <a:solidFill>
              <a:srgbClr val="0072B2"/>
            </a:solidFill>
            <a:prstDash val="solid"/>
          </a:ln>
        </p:spPr>
      </p:sp>
      <p:sp>
        <p:nvSpPr>
          <p:cNvPr id="24" name="Shape 22"/>
          <p:cNvSpPr/>
          <p:nvPr/>
        </p:nvSpPr>
        <p:spPr>
          <a:xfrm>
            <a:off x="2777764" y="3333796"/>
            <a:ext cx="1392776" cy="922543"/>
          </a:xfrm>
          <a:prstGeom prst="rect">
            <a:avLst/>
          </a:prstGeom>
          <a:solidFill>
            <a:srgbClr val="E5F7EF"/>
          </a:solidFill>
          <a:ln w="15240">
            <a:solidFill>
              <a:srgbClr val="009E73"/>
            </a:solidFill>
            <a:prstDash val="solid"/>
          </a:ln>
        </p:spPr>
      </p:sp>
      <p:sp>
        <p:nvSpPr>
          <p:cNvPr id="25" name="Shape 23"/>
          <p:cNvSpPr/>
          <p:nvPr/>
        </p:nvSpPr>
        <p:spPr>
          <a:xfrm>
            <a:off x="4989820" y="2932690"/>
            <a:ext cx="2007236" cy="681880"/>
          </a:xfrm>
          <a:prstGeom prst="rect">
            <a:avLst/>
          </a:prstGeom>
          <a:solidFill>
            <a:srgbClr val="E5F7EF"/>
          </a:solidFill>
          <a:ln w="15240">
            <a:solidFill>
              <a:srgbClr val="009E73"/>
            </a:solidFill>
            <a:prstDash val="solid"/>
          </a:ln>
        </p:spPr>
      </p:sp>
      <p:sp>
        <p:nvSpPr>
          <p:cNvPr id="26" name="Shape 24"/>
          <p:cNvSpPr/>
          <p:nvPr/>
        </p:nvSpPr>
        <p:spPr>
          <a:xfrm>
            <a:off x="4989820" y="4055786"/>
            <a:ext cx="2007236" cy="681880"/>
          </a:xfrm>
          <a:prstGeom prst="rect">
            <a:avLst/>
          </a:prstGeom>
          <a:solidFill>
            <a:srgbClr val="E5F7EF"/>
          </a:solidFill>
          <a:ln w="15240">
            <a:solidFill>
              <a:srgbClr val="009E73"/>
            </a:solidFill>
            <a:prstDash val="solid"/>
          </a:ln>
        </p:spPr>
      </p:sp>
      <p:sp>
        <p:nvSpPr>
          <p:cNvPr id="27" name="Shape 25"/>
          <p:cNvSpPr/>
          <p:nvPr/>
        </p:nvSpPr>
        <p:spPr>
          <a:xfrm>
            <a:off x="7775371" y="3333796"/>
            <a:ext cx="1638560" cy="922543"/>
          </a:xfrm>
          <a:prstGeom prst="rect">
            <a:avLst/>
          </a:prstGeom>
          <a:solidFill>
            <a:srgbClr val="E5F7EF"/>
          </a:solidFill>
          <a:ln w="15240">
            <a:solidFill>
              <a:srgbClr val="009E73"/>
            </a:solidFill>
            <a:prstDash val="solid"/>
          </a:ln>
        </p:spPr>
      </p:sp>
      <p:sp>
        <p:nvSpPr>
          <p:cNvPr id="28" name="Shape 26"/>
          <p:cNvSpPr/>
          <p:nvPr/>
        </p:nvSpPr>
        <p:spPr>
          <a:xfrm>
            <a:off x="9864535" y="3333796"/>
            <a:ext cx="1392776" cy="922543"/>
          </a:xfrm>
          <a:prstGeom prst="roundRect">
            <a:avLst>
              <a:gd name="adj" fmla="val 7929"/>
            </a:avLst>
          </a:prstGeom>
          <a:solidFill>
            <a:srgbClr val="F9EAF4"/>
          </a:solidFill>
          <a:ln w="15240">
            <a:solidFill>
              <a:srgbClr val="CC79A7"/>
            </a:solidFill>
            <a:prstDash val="solid"/>
          </a:ln>
        </p:spPr>
      </p:sp>
      <p:sp>
        <p:nvSpPr>
          <p:cNvPr id="29" name="Shape 27"/>
          <p:cNvSpPr/>
          <p:nvPr/>
        </p:nvSpPr>
        <p:spPr>
          <a:xfrm>
            <a:off x="852456" y="5467679"/>
            <a:ext cx="180242" cy="176487"/>
          </a:xfrm>
          <a:prstGeom prst="roundRect">
            <a:avLst>
              <a:gd name="adj" fmla="val 41449"/>
            </a:avLst>
          </a:prstGeom>
          <a:solidFill>
            <a:srgbClr val="E4F2FB"/>
          </a:solidFill>
          <a:ln w="15240">
            <a:solidFill>
              <a:srgbClr val="0072B2"/>
            </a:solidFill>
            <a:prstDash val="solid"/>
          </a:ln>
        </p:spPr>
      </p:sp>
      <p:sp>
        <p:nvSpPr>
          <p:cNvPr id="30" name="Shape 28"/>
          <p:cNvSpPr/>
          <p:nvPr/>
        </p:nvSpPr>
        <p:spPr>
          <a:xfrm>
            <a:off x="2982584" y="5467679"/>
            <a:ext cx="180242" cy="176487"/>
          </a:xfrm>
          <a:prstGeom prst="rect">
            <a:avLst/>
          </a:prstGeom>
          <a:solidFill>
            <a:srgbClr val="E5F7EF"/>
          </a:solidFill>
          <a:ln w="15240">
            <a:solidFill>
              <a:srgbClr val="009E73"/>
            </a:solidFill>
            <a:prstDash val="solid"/>
          </a:ln>
        </p:spPr>
      </p:sp>
      <p:sp>
        <p:nvSpPr>
          <p:cNvPr id="31" name="Shape 29"/>
          <p:cNvSpPr/>
          <p:nvPr/>
        </p:nvSpPr>
        <p:spPr>
          <a:xfrm>
            <a:off x="5112712" y="5467679"/>
            <a:ext cx="180242" cy="176487"/>
          </a:xfrm>
          <a:prstGeom prst="roundRect">
            <a:avLst>
              <a:gd name="adj" fmla="val 41449"/>
            </a:avLst>
          </a:prstGeom>
          <a:solidFill>
            <a:srgbClr val="F9EAF4"/>
          </a:solidFill>
          <a:ln w="15240">
            <a:solidFill>
              <a:srgbClr val="CC79A7"/>
            </a:solidFill>
            <a:prstDash val="solid"/>
          </a:ln>
        </p:spPr>
      </p:sp>
      <p:sp>
        <p:nvSpPr>
          <p:cNvPr id="32" name="Text 30"/>
          <p:cNvSpPr txBox="1"/>
          <p:nvPr/>
        </p:nvSpPr>
        <p:spPr>
          <a:xfrm>
            <a:off x="888172" y="3671322"/>
            <a:ext cx="140327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token vector</a:t>
            </a:r>
            <a:endParaRPr lang="en-US" sz="1680" dirty="0"/>
          </a:p>
        </p:txBody>
      </p:sp>
      <p:sp>
        <p:nvSpPr>
          <p:cNvPr id="33" name="Text 31"/>
          <p:cNvSpPr txBox="1"/>
          <p:nvPr/>
        </p:nvSpPr>
        <p:spPr>
          <a:xfrm>
            <a:off x="2949173" y="3547577"/>
            <a:ext cx="1049958"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router:</a:t>
            </a:r>
            <a:endParaRPr lang="en-US" sz="1680" dirty="0"/>
          </a:p>
        </p:txBody>
      </p:sp>
      <p:sp>
        <p:nvSpPr>
          <p:cNvPr id="34" name="Text 32"/>
          <p:cNvSpPr txBox="1"/>
          <p:nvPr/>
        </p:nvSpPr>
        <p:spPr>
          <a:xfrm>
            <a:off x="2949173" y="3795068"/>
            <a:ext cx="1049958"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choose 2</a:t>
            </a:r>
            <a:endParaRPr lang="en-US" sz="1680" dirty="0"/>
          </a:p>
        </p:txBody>
      </p:sp>
      <p:sp>
        <p:nvSpPr>
          <p:cNvPr id="35" name="Text 33"/>
          <p:cNvSpPr txBox="1"/>
          <p:nvPr/>
        </p:nvSpPr>
        <p:spPr>
          <a:xfrm>
            <a:off x="5244877" y="3149885"/>
            <a:ext cx="1497122"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expert MLP A</a:t>
            </a:r>
            <a:endParaRPr lang="en-US" sz="1680" dirty="0"/>
          </a:p>
        </p:txBody>
      </p:sp>
      <p:sp>
        <p:nvSpPr>
          <p:cNvPr id="36" name="Text 34"/>
          <p:cNvSpPr txBox="1"/>
          <p:nvPr/>
        </p:nvSpPr>
        <p:spPr>
          <a:xfrm>
            <a:off x="5240805" y="4272981"/>
            <a:ext cx="1505265"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expert MLP B</a:t>
            </a:r>
            <a:endParaRPr lang="en-US" sz="1680" dirty="0"/>
          </a:p>
        </p:txBody>
      </p:sp>
      <p:sp>
        <p:nvSpPr>
          <p:cNvPr id="37" name="Text 35"/>
          <p:cNvSpPr txBox="1"/>
          <p:nvPr/>
        </p:nvSpPr>
        <p:spPr>
          <a:xfrm>
            <a:off x="7817936" y="3671322"/>
            <a:ext cx="1553431"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weighted sum</a:t>
            </a:r>
            <a:endParaRPr lang="en-US" sz="1680" dirty="0"/>
          </a:p>
        </p:txBody>
      </p:sp>
      <p:sp>
        <p:nvSpPr>
          <p:cNvPr id="38" name="Text 36"/>
          <p:cNvSpPr txBox="1"/>
          <p:nvPr/>
        </p:nvSpPr>
        <p:spPr>
          <a:xfrm>
            <a:off x="9938782" y="3671322"/>
            <a:ext cx="1244281"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new vector</a:t>
            </a:r>
            <a:endParaRPr lang="en-US" sz="1680" dirty="0"/>
          </a:p>
        </p:txBody>
      </p:sp>
      <p:sp>
        <p:nvSpPr>
          <p:cNvPr id="39" name="Text 37"/>
          <p:cNvSpPr txBox="1"/>
          <p:nvPr/>
        </p:nvSpPr>
        <p:spPr>
          <a:xfrm>
            <a:off x="2199574" y="2979723"/>
            <a:ext cx="664811"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vector</a:t>
            </a:r>
            <a:endParaRPr lang="en-US" sz="1587" dirty="0"/>
          </a:p>
        </p:txBody>
      </p:sp>
      <p:sp>
        <p:nvSpPr>
          <p:cNvPr id="40" name="Text 38"/>
          <p:cNvSpPr txBox="1"/>
          <p:nvPr/>
        </p:nvSpPr>
        <p:spPr>
          <a:xfrm>
            <a:off x="4255967" y="2723015"/>
            <a:ext cx="664811"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vector</a:t>
            </a:r>
            <a:endParaRPr lang="en-US" sz="1587" dirty="0"/>
          </a:p>
        </p:txBody>
      </p:sp>
      <p:sp>
        <p:nvSpPr>
          <p:cNvPr id="41" name="Text 39"/>
          <p:cNvSpPr txBox="1"/>
          <p:nvPr/>
        </p:nvSpPr>
        <p:spPr>
          <a:xfrm>
            <a:off x="4255967" y="4728544"/>
            <a:ext cx="664811"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vector</a:t>
            </a:r>
            <a:endParaRPr lang="en-US" sz="1587" dirty="0"/>
          </a:p>
        </p:txBody>
      </p:sp>
      <p:sp>
        <p:nvSpPr>
          <p:cNvPr id="42" name="Text 40"/>
          <p:cNvSpPr txBox="1"/>
          <p:nvPr/>
        </p:nvSpPr>
        <p:spPr>
          <a:xfrm>
            <a:off x="7047855" y="2723015"/>
            <a:ext cx="602981"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result</a:t>
            </a:r>
            <a:endParaRPr lang="en-US" sz="1587" dirty="0"/>
          </a:p>
        </p:txBody>
      </p:sp>
      <p:sp>
        <p:nvSpPr>
          <p:cNvPr id="43" name="Text 41"/>
          <p:cNvSpPr txBox="1"/>
          <p:nvPr/>
        </p:nvSpPr>
        <p:spPr>
          <a:xfrm>
            <a:off x="7047855" y="4728544"/>
            <a:ext cx="602981"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result</a:t>
            </a:r>
            <a:endParaRPr lang="en-US" sz="1587" dirty="0"/>
          </a:p>
        </p:txBody>
      </p:sp>
      <p:sp>
        <p:nvSpPr>
          <p:cNvPr id="44" name="Text 42"/>
          <p:cNvSpPr txBox="1"/>
          <p:nvPr/>
        </p:nvSpPr>
        <p:spPr>
          <a:xfrm>
            <a:off x="9310924" y="2979723"/>
            <a:ext cx="664811"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vector</a:t>
            </a:r>
            <a:endParaRPr lang="en-US" sz="1587" dirty="0"/>
          </a:p>
        </p:txBody>
      </p:sp>
      <p:sp>
        <p:nvSpPr>
          <p:cNvPr id="45" name="Text 43"/>
          <p:cNvSpPr txBox="1"/>
          <p:nvPr/>
        </p:nvSpPr>
        <p:spPr>
          <a:xfrm>
            <a:off x="4853209" y="2494935"/>
            <a:ext cx="2157565" cy="233741"/>
          </a:xfrm>
          <a:prstGeom prst="rect">
            <a:avLst/>
          </a:prstGeom>
          <a:solidFill>
            <a:srgbClr val="FFFFFF"/>
          </a:solidFill>
          <a:ln/>
        </p:spPr>
        <p:txBody>
          <a:bodyPr wrap="square" lIns="0" tIns="0" rIns="0" bIns="0" rtlCol="0" anchor="ctr"/>
          <a:lstStyle/>
          <a:p>
            <a:pPr algn="ctr" indent="0" marL="0">
              <a:lnSpc>
                <a:spcPct val="116000"/>
              </a:lnSpc>
              <a:buNone/>
            </a:pPr>
            <a:r>
              <a:rPr lang="en-US" sz="1587" dirty="0">
                <a:solidFill>
                  <a:srgbClr val="1F2937"/>
                </a:solidFill>
                <a:latin typeface="Arial" pitchFamily="34" charset="0"/>
                <a:ea typeface="Arial" pitchFamily="34" charset="-122"/>
                <a:cs typeface="Arial" pitchFamily="34" charset="-120"/>
              </a:rPr>
              <a:t>router mixture weights</a:t>
            </a:r>
            <a:endParaRPr lang="en-US" sz="1587" dirty="0"/>
          </a:p>
        </p:txBody>
      </p:sp>
      <p:sp>
        <p:nvSpPr>
          <p:cNvPr id="46" name="Text 44"/>
          <p:cNvSpPr txBox="1"/>
          <p:nvPr/>
        </p:nvSpPr>
        <p:spPr>
          <a:xfrm>
            <a:off x="852456" y="1962071"/>
            <a:ext cx="7619943" cy="288739"/>
          </a:xfrm>
          <a:prstGeom prst="rect">
            <a:avLst/>
          </a:prstGeom>
          <a:noFill/>
          <a:ln/>
        </p:spPr>
        <p:txBody>
          <a:bodyPr wrap="square" lIns="0" tIns="0" rIns="0" bIns="0" rtlCol="0" anchor="ctr"/>
          <a:lstStyle/>
          <a:p>
            <a:pPr algn="l" indent="0" marL="0">
              <a:lnSpc>
                <a:spcPct val="116000"/>
              </a:lnSpc>
              <a:buNone/>
            </a:pPr>
            <a:r>
              <a:rPr lang="en-US" sz="1960" b="1" dirty="0">
                <a:solidFill>
                  <a:srgbClr val="1E1B4B"/>
                </a:solidFill>
                <a:latin typeface="Arial" pitchFamily="34" charset="0"/>
                <a:ea typeface="Arial" pitchFamily="34" charset="-122"/>
                <a:cs typeface="Arial" pitchFamily="34" charset="-120"/>
              </a:rPr>
              <a:t>Mixture of experts: only selected networks run for each token</a:t>
            </a:r>
            <a:endParaRPr lang="en-US" sz="1960" dirty="0"/>
          </a:p>
        </p:txBody>
      </p:sp>
      <p:sp>
        <p:nvSpPr>
          <p:cNvPr id="47" name="Text 45"/>
          <p:cNvSpPr txBox="1"/>
          <p:nvPr/>
        </p:nvSpPr>
        <p:spPr>
          <a:xfrm>
            <a:off x="934384" y="5011613"/>
            <a:ext cx="8076914"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Unselected experts do no work for this token. The sum uses the router's weights.</a:t>
            </a:r>
            <a:endParaRPr lang="en-US" sz="1680" dirty="0"/>
          </a:p>
        </p:txBody>
      </p:sp>
      <p:sp>
        <p:nvSpPr>
          <p:cNvPr id="48" name="Text 46"/>
          <p:cNvSpPr txBox="1"/>
          <p:nvPr/>
        </p:nvSpPr>
        <p:spPr>
          <a:xfrm>
            <a:off x="1131011" y="5432177"/>
            <a:ext cx="1085290"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Input data</a:t>
            </a:r>
            <a:endParaRPr lang="en-US" sz="1680" dirty="0"/>
          </a:p>
        </p:txBody>
      </p:sp>
      <p:sp>
        <p:nvSpPr>
          <p:cNvPr id="49" name="Text 47"/>
          <p:cNvSpPr txBox="1"/>
          <p:nvPr/>
        </p:nvSpPr>
        <p:spPr>
          <a:xfrm>
            <a:off x="3261139" y="5432177"/>
            <a:ext cx="705477"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Model</a:t>
            </a:r>
            <a:endParaRPr lang="en-US" sz="1680" dirty="0"/>
          </a:p>
        </p:txBody>
      </p:sp>
      <p:sp>
        <p:nvSpPr>
          <p:cNvPr id="50" name="Text 48"/>
          <p:cNvSpPr txBox="1"/>
          <p:nvPr/>
        </p:nvSpPr>
        <p:spPr>
          <a:xfrm>
            <a:off x="5391267" y="5432177"/>
            <a:ext cx="758474"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Output</a:t>
            </a:r>
            <a:endParaRPr lang="en-US" sz="16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Beyond text: images and speech</a:t>
            </a:r>
            <a:endParaRPr lang="en-US" sz="3200" dirty="0"/>
          </a:p>
        </p:txBody>
      </p:sp>
      <p:sp>
        <p:nvSpPr>
          <p:cNvPr id="6" name="Shape 4"/>
          <p:cNvSpPr/>
          <p:nvPr/>
        </p:nvSpPr>
        <p:spPr>
          <a:xfrm>
            <a:off x="2048605" y="3875289"/>
            <a:ext cx="311326" cy="0"/>
          </a:xfrm>
          <a:prstGeom prst="line">
            <a:avLst/>
          </a:prstGeom>
          <a:noFill/>
          <a:ln w="22860">
            <a:solidFill>
              <a:srgbClr val="009E73"/>
            </a:solidFill>
            <a:prstDash val="solid"/>
            <a:tailEnd type="triangle"/>
          </a:ln>
        </p:spPr>
      </p:sp>
      <p:sp>
        <p:nvSpPr>
          <p:cNvPr id="7" name="Shape 5"/>
          <p:cNvSpPr/>
          <p:nvPr/>
        </p:nvSpPr>
        <p:spPr>
          <a:xfrm>
            <a:off x="3523309" y="3875289"/>
            <a:ext cx="311326" cy="0"/>
          </a:xfrm>
          <a:prstGeom prst="line">
            <a:avLst/>
          </a:prstGeom>
          <a:noFill/>
          <a:ln w="22860">
            <a:solidFill>
              <a:srgbClr val="009E73"/>
            </a:solidFill>
            <a:prstDash val="solid"/>
            <a:tailEnd type="triangle"/>
          </a:ln>
        </p:spPr>
      </p:sp>
      <p:sp>
        <p:nvSpPr>
          <p:cNvPr id="8" name="Shape 6"/>
          <p:cNvSpPr/>
          <p:nvPr/>
        </p:nvSpPr>
        <p:spPr>
          <a:xfrm>
            <a:off x="4998013" y="3875289"/>
            <a:ext cx="311326" cy="0"/>
          </a:xfrm>
          <a:prstGeom prst="line">
            <a:avLst/>
          </a:prstGeom>
          <a:noFill/>
          <a:ln w="22860">
            <a:solidFill>
              <a:srgbClr val="009E73"/>
            </a:solidFill>
            <a:prstDash val="solid"/>
            <a:tailEnd type="triangle"/>
          </a:ln>
        </p:spPr>
      </p:sp>
      <p:sp>
        <p:nvSpPr>
          <p:cNvPr id="9" name="Shape 7"/>
          <p:cNvSpPr/>
          <p:nvPr/>
        </p:nvSpPr>
        <p:spPr>
          <a:xfrm>
            <a:off x="6472716" y="3875289"/>
            <a:ext cx="311326" cy="0"/>
          </a:xfrm>
          <a:prstGeom prst="line">
            <a:avLst/>
          </a:prstGeom>
          <a:noFill/>
          <a:ln w="22860">
            <a:solidFill>
              <a:srgbClr val="009E73"/>
            </a:solidFill>
            <a:prstDash val="solid"/>
            <a:tailEnd type="triangle"/>
          </a:ln>
        </p:spPr>
      </p:sp>
      <p:sp>
        <p:nvSpPr>
          <p:cNvPr id="10" name="Shape 8"/>
          <p:cNvSpPr/>
          <p:nvPr/>
        </p:nvSpPr>
        <p:spPr>
          <a:xfrm>
            <a:off x="7947420" y="3875289"/>
            <a:ext cx="311326" cy="0"/>
          </a:xfrm>
          <a:prstGeom prst="line">
            <a:avLst/>
          </a:prstGeom>
          <a:noFill/>
          <a:ln w="22860">
            <a:solidFill>
              <a:srgbClr val="009E73"/>
            </a:solidFill>
            <a:prstDash val="solid"/>
            <a:tailEnd type="triangle"/>
          </a:ln>
        </p:spPr>
      </p:sp>
      <p:sp>
        <p:nvSpPr>
          <p:cNvPr id="11" name="Shape 9"/>
          <p:cNvSpPr/>
          <p:nvPr/>
        </p:nvSpPr>
        <p:spPr>
          <a:xfrm>
            <a:off x="9422124" y="3875289"/>
            <a:ext cx="311326" cy="0"/>
          </a:xfrm>
          <a:prstGeom prst="line">
            <a:avLst/>
          </a:prstGeom>
          <a:noFill/>
          <a:ln w="22860">
            <a:solidFill>
              <a:srgbClr val="009E73"/>
            </a:solidFill>
            <a:prstDash val="solid"/>
            <a:tailEnd type="triangle"/>
          </a:ln>
        </p:spPr>
      </p:sp>
      <p:sp>
        <p:nvSpPr>
          <p:cNvPr id="12" name="Shape 10"/>
          <p:cNvSpPr/>
          <p:nvPr/>
        </p:nvSpPr>
        <p:spPr>
          <a:xfrm>
            <a:off x="885227" y="3373906"/>
            <a:ext cx="1163377" cy="1002764"/>
          </a:xfrm>
          <a:prstGeom prst="roundRect">
            <a:avLst>
              <a:gd name="adj" fmla="val 7295"/>
            </a:avLst>
          </a:prstGeom>
          <a:solidFill>
            <a:srgbClr val="E4F2FB"/>
          </a:solidFill>
          <a:ln w="15240">
            <a:solidFill>
              <a:srgbClr val="0072B2"/>
            </a:solidFill>
            <a:prstDash val="solid"/>
          </a:ln>
        </p:spPr>
      </p:sp>
      <p:sp>
        <p:nvSpPr>
          <p:cNvPr id="13" name="Shape 11"/>
          <p:cNvSpPr/>
          <p:nvPr/>
        </p:nvSpPr>
        <p:spPr>
          <a:xfrm>
            <a:off x="2359931" y="3373906"/>
            <a:ext cx="1163377" cy="1002764"/>
          </a:xfrm>
          <a:prstGeom prst="rect">
            <a:avLst/>
          </a:prstGeom>
          <a:solidFill>
            <a:srgbClr val="E5F7EF"/>
          </a:solidFill>
          <a:ln w="15240">
            <a:solidFill>
              <a:srgbClr val="009E73"/>
            </a:solidFill>
            <a:prstDash val="solid"/>
          </a:ln>
        </p:spPr>
      </p:sp>
      <p:sp>
        <p:nvSpPr>
          <p:cNvPr id="14" name="Shape 12"/>
          <p:cNvSpPr/>
          <p:nvPr/>
        </p:nvSpPr>
        <p:spPr>
          <a:xfrm>
            <a:off x="3834635" y="3373906"/>
            <a:ext cx="1163377" cy="1002764"/>
          </a:xfrm>
          <a:prstGeom prst="rect">
            <a:avLst/>
          </a:prstGeom>
          <a:solidFill>
            <a:srgbClr val="E5F7EF"/>
          </a:solidFill>
          <a:ln w="15240">
            <a:solidFill>
              <a:srgbClr val="009E73"/>
            </a:solidFill>
            <a:prstDash val="solid"/>
          </a:ln>
        </p:spPr>
      </p:sp>
      <p:sp>
        <p:nvSpPr>
          <p:cNvPr id="15" name="Shape 13"/>
          <p:cNvSpPr/>
          <p:nvPr/>
        </p:nvSpPr>
        <p:spPr>
          <a:xfrm>
            <a:off x="5309339" y="3373906"/>
            <a:ext cx="1163377" cy="1002764"/>
          </a:xfrm>
          <a:prstGeom prst="rect">
            <a:avLst/>
          </a:prstGeom>
          <a:solidFill>
            <a:srgbClr val="E5F7EF"/>
          </a:solidFill>
          <a:ln w="15240">
            <a:solidFill>
              <a:srgbClr val="009E73"/>
            </a:solidFill>
            <a:prstDash val="solid"/>
          </a:ln>
        </p:spPr>
      </p:sp>
      <p:sp>
        <p:nvSpPr>
          <p:cNvPr id="16" name="Shape 14"/>
          <p:cNvSpPr/>
          <p:nvPr/>
        </p:nvSpPr>
        <p:spPr>
          <a:xfrm>
            <a:off x="6784043" y="3373906"/>
            <a:ext cx="1163377" cy="1002764"/>
          </a:xfrm>
          <a:prstGeom prst="rect">
            <a:avLst/>
          </a:prstGeom>
          <a:solidFill>
            <a:srgbClr val="E5F7EF"/>
          </a:solidFill>
          <a:ln w="15240">
            <a:solidFill>
              <a:srgbClr val="009E73"/>
            </a:solidFill>
            <a:prstDash val="solid"/>
          </a:ln>
        </p:spPr>
      </p:sp>
      <p:sp>
        <p:nvSpPr>
          <p:cNvPr id="17" name="Shape 15"/>
          <p:cNvSpPr/>
          <p:nvPr/>
        </p:nvSpPr>
        <p:spPr>
          <a:xfrm>
            <a:off x="8258747" y="3373906"/>
            <a:ext cx="1163377" cy="1002764"/>
          </a:xfrm>
          <a:prstGeom prst="rect">
            <a:avLst/>
          </a:prstGeom>
          <a:solidFill>
            <a:srgbClr val="E5F7EF"/>
          </a:solidFill>
          <a:ln w="15240">
            <a:solidFill>
              <a:srgbClr val="009E73"/>
            </a:solidFill>
            <a:prstDash val="solid"/>
          </a:ln>
        </p:spPr>
      </p:sp>
      <p:sp>
        <p:nvSpPr>
          <p:cNvPr id="18" name="Shape 16"/>
          <p:cNvSpPr/>
          <p:nvPr/>
        </p:nvSpPr>
        <p:spPr>
          <a:xfrm>
            <a:off x="9733450" y="3373906"/>
            <a:ext cx="1163377" cy="1002764"/>
          </a:xfrm>
          <a:prstGeom prst="roundRect">
            <a:avLst>
              <a:gd name="adj" fmla="val 7295"/>
            </a:avLst>
          </a:prstGeom>
          <a:solidFill>
            <a:srgbClr val="F9EAF4"/>
          </a:solidFill>
          <a:ln w="15240">
            <a:solidFill>
              <a:srgbClr val="CC79A7"/>
            </a:solidFill>
            <a:prstDash val="solid"/>
          </a:ln>
        </p:spPr>
      </p:sp>
      <p:sp>
        <p:nvSpPr>
          <p:cNvPr id="19" name="Shape 17"/>
          <p:cNvSpPr/>
          <p:nvPr/>
        </p:nvSpPr>
        <p:spPr>
          <a:xfrm>
            <a:off x="852456" y="5467679"/>
            <a:ext cx="180242" cy="176487"/>
          </a:xfrm>
          <a:prstGeom prst="roundRect">
            <a:avLst>
              <a:gd name="adj" fmla="val 41449"/>
            </a:avLst>
          </a:prstGeom>
          <a:solidFill>
            <a:srgbClr val="E4F2FB"/>
          </a:solidFill>
          <a:ln w="15240">
            <a:solidFill>
              <a:srgbClr val="0072B2"/>
            </a:solidFill>
            <a:prstDash val="solid"/>
          </a:ln>
        </p:spPr>
      </p:sp>
      <p:sp>
        <p:nvSpPr>
          <p:cNvPr id="20" name="Shape 18"/>
          <p:cNvSpPr/>
          <p:nvPr/>
        </p:nvSpPr>
        <p:spPr>
          <a:xfrm>
            <a:off x="2982584" y="5467679"/>
            <a:ext cx="180242" cy="176487"/>
          </a:xfrm>
          <a:prstGeom prst="rect">
            <a:avLst/>
          </a:prstGeom>
          <a:solidFill>
            <a:srgbClr val="E5F7EF"/>
          </a:solidFill>
          <a:ln w="15240">
            <a:solidFill>
              <a:srgbClr val="009E73"/>
            </a:solidFill>
            <a:prstDash val="solid"/>
          </a:ln>
        </p:spPr>
      </p:sp>
      <p:sp>
        <p:nvSpPr>
          <p:cNvPr id="21" name="Shape 19"/>
          <p:cNvSpPr/>
          <p:nvPr/>
        </p:nvSpPr>
        <p:spPr>
          <a:xfrm>
            <a:off x="5112712" y="5467679"/>
            <a:ext cx="180242" cy="176487"/>
          </a:xfrm>
          <a:prstGeom prst="roundRect">
            <a:avLst>
              <a:gd name="adj" fmla="val 41449"/>
            </a:avLst>
          </a:prstGeom>
          <a:solidFill>
            <a:srgbClr val="F9EAF4"/>
          </a:solidFill>
          <a:ln w="15240">
            <a:solidFill>
              <a:srgbClr val="CC79A7"/>
            </a:solidFill>
            <a:prstDash val="solid"/>
          </a:ln>
        </p:spPr>
      </p:sp>
      <p:sp>
        <p:nvSpPr>
          <p:cNvPr id="22" name="Text 20"/>
          <p:cNvSpPr txBox="1"/>
          <p:nvPr/>
        </p:nvSpPr>
        <p:spPr>
          <a:xfrm>
            <a:off x="856275" y="3641547"/>
            <a:ext cx="1221282"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RGB photo</a:t>
            </a:r>
            <a:endParaRPr lang="en-US" sz="1587" dirty="0"/>
          </a:p>
        </p:txBody>
      </p:sp>
      <p:sp>
        <p:nvSpPr>
          <p:cNvPr id="23" name="Text 21"/>
          <p:cNvSpPr txBox="1"/>
          <p:nvPr/>
        </p:nvSpPr>
        <p:spPr>
          <a:xfrm>
            <a:off x="856275" y="3875289"/>
            <a:ext cx="1221282"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32 × 32</a:t>
            </a:r>
            <a:endParaRPr lang="en-US" sz="1587" dirty="0"/>
          </a:p>
        </p:txBody>
      </p:sp>
      <p:sp>
        <p:nvSpPr>
          <p:cNvPr id="24" name="Text 22"/>
          <p:cNvSpPr txBox="1"/>
          <p:nvPr/>
        </p:nvSpPr>
        <p:spPr>
          <a:xfrm>
            <a:off x="2410475" y="3641547"/>
            <a:ext cx="1062290"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4 patches</a:t>
            </a:r>
            <a:endParaRPr lang="en-US" sz="1587" dirty="0"/>
          </a:p>
        </p:txBody>
      </p:sp>
      <p:sp>
        <p:nvSpPr>
          <p:cNvPr id="25" name="Text 23"/>
          <p:cNvSpPr txBox="1"/>
          <p:nvPr/>
        </p:nvSpPr>
        <p:spPr>
          <a:xfrm>
            <a:off x="2410475" y="3875289"/>
            <a:ext cx="1062290"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16 × 16</a:t>
            </a:r>
            <a:endParaRPr lang="en-US" sz="1587" dirty="0"/>
          </a:p>
        </p:txBody>
      </p:sp>
      <p:sp>
        <p:nvSpPr>
          <p:cNvPr id="26" name="Text 24"/>
          <p:cNvSpPr txBox="1"/>
          <p:nvPr/>
        </p:nvSpPr>
        <p:spPr>
          <a:xfrm>
            <a:off x="1893945" y="3040439"/>
            <a:ext cx="620647"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pixels</a:t>
            </a:r>
            <a:endParaRPr lang="en-US" sz="1587" dirty="0"/>
          </a:p>
        </p:txBody>
      </p:sp>
      <p:sp>
        <p:nvSpPr>
          <p:cNvPr id="27" name="Text 25"/>
          <p:cNvSpPr txBox="1"/>
          <p:nvPr/>
        </p:nvSpPr>
        <p:spPr>
          <a:xfrm>
            <a:off x="3841014" y="3641547"/>
            <a:ext cx="1150619"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Flatten</a:t>
            </a:r>
            <a:endParaRPr lang="en-US" sz="1587" dirty="0"/>
          </a:p>
        </p:txBody>
      </p:sp>
      <p:sp>
        <p:nvSpPr>
          <p:cNvPr id="28" name="Text 26"/>
          <p:cNvSpPr txBox="1"/>
          <p:nvPr/>
        </p:nvSpPr>
        <p:spPr>
          <a:xfrm>
            <a:off x="3841014" y="3875289"/>
            <a:ext cx="1150619"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768 values</a:t>
            </a:r>
            <a:endParaRPr lang="en-US" sz="1587" dirty="0"/>
          </a:p>
        </p:txBody>
      </p:sp>
      <p:sp>
        <p:nvSpPr>
          <p:cNvPr id="29" name="Text 27"/>
          <p:cNvSpPr txBox="1"/>
          <p:nvPr/>
        </p:nvSpPr>
        <p:spPr>
          <a:xfrm>
            <a:off x="3267070" y="3040439"/>
            <a:ext cx="823803"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patches</a:t>
            </a:r>
            <a:endParaRPr lang="en-US" sz="1587" dirty="0"/>
          </a:p>
        </p:txBody>
      </p:sp>
      <p:sp>
        <p:nvSpPr>
          <p:cNvPr id="30" name="Text 28"/>
          <p:cNvSpPr txBox="1"/>
          <p:nvPr/>
        </p:nvSpPr>
        <p:spPr>
          <a:xfrm>
            <a:off x="5333384" y="3641547"/>
            <a:ext cx="1115287"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Project</a:t>
            </a:r>
            <a:endParaRPr lang="en-US" sz="1587" dirty="0"/>
          </a:p>
        </p:txBody>
      </p:sp>
      <p:sp>
        <p:nvSpPr>
          <p:cNvPr id="31" name="Text 29"/>
          <p:cNvSpPr txBox="1"/>
          <p:nvPr/>
        </p:nvSpPr>
        <p:spPr>
          <a:xfrm>
            <a:off x="5333384" y="3875289"/>
            <a:ext cx="1115287"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 position</a:t>
            </a:r>
            <a:endParaRPr lang="en-US" sz="1587" dirty="0"/>
          </a:p>
        </p:txBody>
      </p:sp>
      <p:sp>
        <p:nvSpPr>
          <p:cNvPr id="32" name="Text 30"/>
          <p:cNvSpPr txBox="1"/>
          <p:nvPr/>
        </p:nvSpPr>
        <p:spPr>
          <a:xfrm>
            <a:off x="4768273" y="3040439"/>
            <a:ext cx="770806"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vectors</a:t>
            </a:r>
            <a:endParaRPr lang="en-US" sz="1587" dirty="0"/>
          </a:p>
        </p:txBody>
      </p:sp>
      <p:sp>
        <p:nvSpPr>
          <p:cNvPr id="33" name="Text 31"/>
          <p:cNvSpPr txBox="1"/>
          <p:nvPr/>
        </p:nvSpPr>
        <p:spPr>
          <a:xfrm>
            <a:off x="6768340" y="3641547"/>
            <a:ext cx="1194783"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Encoder</a:t>
            </a:r>
            <a:endParaRPr lang="en-US" sz="1587" dirty="0"/>
          </a:p>
        </p:txBody>
      </p:sp>
      <p:sp>
        <p:nvSpPr>
          <p:cNvPr id="34" name="Text 32"/>
          <p:cNvSpPr txBox="1"/>
          <p:nvPr/>
        </p:nvSpPr>
        <p:spPr>
          <a:xfrm>
            <a:off x="6768340" y="3875289"/>
            <a:ext cx="1194783"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mix tokens</a:t>
            </a:r>
            <a:endParaRPr lang="en-US" sz="1587" dirty="0"/>
          </a:p>
        </p:txBody>
      </p:sp>
      <p:sp>
        <p:nvSpPr>
          <p:cNvPr id="35" name="Text 33"/>
          <p:cNvSpPr txBox="1"/>
          <p:nvPr/>
        </p:nvSpPr>
        <p:spPr>
          <a:xfrm>
            <a:off x="6273892" y="3040439"/>
            <a:ext cx="708976"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tokens</a:t>
            </a:r>
            <a:endParaRPr lang="en-US" sz="1587" dirty="0"/>
          </a:p>
        </p:txBody>
      </p:sp>
      <p:sp>
        <p:nvSpPr>
          <p:cNvPr id="36" name="Text 34"/>
          <p:cNvSpPr txBox="1"/>
          <p:nvPr/>
        </p:nvSpPr>
        <p:spPr>
          <a:xfrm>
            <a:off x="8265126" y="3641547"/>
            <a:ext cx="1150619"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Mean pool</a:t>
            </a:r>
            <a:endParaRPr lang="en-US" sz="1587" dirty="0"/>
          </a:p>
        </p:txBody>
      </p:sp>
      <p:sp>
        <p:nvSpPr>
          <p:cNvPr id="37" name="Text 35"/>
          <p:cNvSpPr txBox="1"/>
          <p:nvPr/>
        </p:nvSpPr>
        <p:spPr>
          <a:xfrm>
            <a:off x="8265126" y="3875289"/>
            <a:ext cx="1150619"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then head</a:t>
            </a:r>
            <a:endParaRPr lang="en-US" sz="1587" dirty="0"/>
          </a:p>
        </p:txBody>
      </p:sp>
      <p:sp>
        <p:nvSpPr>
          <p:cNvPr id="38" name="Text 36"/>
          <p:cNvSpPr txBox="1"/>
          <p:nvPr/>
        </p:nvSpPr>
        <p:spPr>
          <a:xfrm>
            <a:off x="7677933" y="3040439"/>
            <a:ext cx="850302"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features</a:t>
            </a:r>
            <a:endParaRPr lang="en-US" sz="1587" dirty="0"/>
          </a:p>
        </p:txBody>
      </p:sp>
      <p:sp>
        <p:nvSpPr>
          <p:cNvPr id="39" name="Text 37"/>
          <p:cNvSpPr txBox="1"/>
          <p:nvPr/>
        </p:nvSpPr>
        <p:spPr>
          <a:xfrm>
            <a:off x="9885572" y="3524677"/>
            <a:ext cx="859134"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Scores:</a:t>
            </a:r>
            <a:endParaRPr lang="en-US" sz="1587" dirty="0"/>
          </a:p>
        </p:txBody>
      </p:sp>
      <p:sp>
        <p:nvSpPr>
          <p:cNvPr id="40" name="Text 38"/>
          <p:cNvSpPr txBox="1"/>
          <p:nvPr/>
        </p:nvSpPr>
        <p:spPr>
          <a:xfrm>
            <a:off x="9885572" y="3758418"/>
            <a:ext cx="859134"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flower</a:t>
            </a:r>
            <a:endParaRPr lang="en-US" sz="1587" dirty="0"/>
          </a:p>
        </p:txBody>
      </p:sp>
      <p:sp>
        <p:nvSpPr>
          <p:cNvPr id="41" name="Text 39"/>
          <p:cNvSpPr txBox="1"/>
          <p:nvPr/>
        </p:nvSpPr>
        <p:spPr>
          <a:xfrm>
            <a:off x="9885572" y="3992159"/>
            <a:ext cx="859134"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other</a:t>
            </a:r>
            <a:endParaRPr lang="en-US" sz="1587" dirty="0"/>
          </a:p>
        </p:txBody>
      </p:sp>
      <p:sp>
        <p:nvSpPr>
          <p:cNvPr id="42" name="Text 40"/>
          <p:cNvSpPr txBox="1"/>
          <p:nvPr/>
        </p:nvSpPr>
        <p:spPr>
          <a:xfrm>
            <a:off x="9289546" y="3040439"/>
            <a:ext cx="576483" cy="233741"/>
          </a:xfrm>
          <a:prstGeom prst="rect">
            <a:avLst/>
          </a:prstGeom>
          <a:noFill/>
          <a:ln/>
        </p:spPr>
        <p:txBody>
          <a:bodyPr wrap="square" lIns="0" tIns="0" rIns="0" bIns="0" rtlCol="0" anchor="ctr"/>
          <a:lstStyle/>
          <a:p>
            <a:pPr algn="ctr" indent="0" marL="0">
              <a:lnSpc>
                <a:spcPct val="116000"/>
              </a:lnSpc>
              <a:buNone/>
            </a:pPr>
            <a:r>
              <a:rPr lang="en-US" sz="1587" dirty="0">
                <a:solidFill>
                  <a:srgbClr val="0072B2"/>
                </a:solidFill>
                <a:latin typeface="Arial" pitchFamily="34" charset="0"/>
                <a:ea typeface="Arial" pitchFamily="34" charset="-122"/>
                <a:cs typeface="Arial" pitchFamily="34" charset="-120"/>
              </a:rPr>
              <a:t>logits</a:t>
            </a:r>
            <a:endParaRPr lang="en-US" sz="1587" dirty="0"/>
          </a:p>
        </p:txBody>
      </p:sp>
      <p:sp>
        <p:nvSpPr>
          <p:cNvPr id="43" name="Text 41"/>
          <p:cNvSpPr txBox="1"/>
          <p:nvPr/>
        </p:nvSpPr>
        <p:spPr>
          <a:xfrm>
            <a:off x="852456" y="2226801"/>
            <a:ext cx="6488647" cy="288739"/>
          </a:xfrm>
          <a:prstGeom prst="rect">
            <a:avLst/>
          </a:prstGeom>
          <a:noFill/>
          <a:ln/>
        </p:spPr>
        <p:txBody>
          <a:bodyPr wrap="square" lIns="0" tIns="0" rIns="0" bIns="0" rtlCol="0" anchor="ctr"/>
          <a:lstStyle/>
          <a:p>
            <a:pPr algn="l" indent="0" marL="0">
              <a:lnSpc>
                <a:spcPct val="116000"/>
              </a:lnSpc>
              <a:buNone/>
            </a:pPr>
            <a:r>
              <a:rPr lang="en-US" sz="1960" b="1" dirty="0">
                <a:solidFill>
                  <a:srgbClr val="1E1B4B"/>
                </a:solidFill>
                <a:latin typeface="Arial" pitchFamily="34" charset="0"/>
                <a:ea typeface="Arial" pitchFamily="34" charset="-122"/>
                <a:cs typeface="Arial" pitchFamily="34" charset="-120"/>
              </a:rPr>
              <a:t>A vision transformer treats image patches as tokens</a:t>
            </a:r>
            <a:endParaRPr lang="en-US" sz="1960" dirty="0"/>
          </a:p>
        </p:txBody>
      </p:sp>
      <p:sp>
        <p:nvSpPr>
          <p:cNvPr id="44" name="Text 42"/>
          <p:cNvSpPr txBox="1"/>
          <p:nvPr/>
        </p:nvSpPr>
        <p:spPr>
          <a:xfrm>
            <a:off x="934384" y="4803038"/>
            <a:ext cx="8142746"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Illustrative RGB example: 16 × 16 × 3 = 768 numbers per patch before projection.</a:t>
            </a:r>
            <a:endParaRPr lang="en-US" sz="1680" dirty="0"/>
          </a:p>
        </p:txBody>
      </p:sp>
      <p:sp>
        <p:nvSpPr>
          <p:cNvPr id="45" name="Text 43"/>
          <p:cNvSpPr txBox="1"/>
          <p:nvPr/>
        </p:nvSpPr>
        <p:spPr>
          <a:xfrm>
            <a:off x="1131011" y="5432177"/>
            <a:ext cx="1085290"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Input data</a:t>
            </a:r>
            <a:endParaRPr lang="en-US" sz="1680" dirty="0"/>
          </a:p>
        </p:txBody>
      </p:sp>
      <p:sp>
        <p:nvSpPr>
          <p:cNvPr id="46" name="Text 44"/>
          <p:cNvSpPr txBox="1"/>
          <p:nvPr/>
        </p:nvSpPr>
        <p:spPr>
          <a:xfrm>
            <a:off x="3261139" y="5432177"/>
            <a:ext cx="705477"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Model</a:t>
            </a:r>
            <a:endParaRPr lang="en-US" sz="1680" dirty="0"/>
          </a:p>
        </p:txBody>
      </p:sp>
      <p:sp>
        <p:nvSpPr>
          <p:cNvPr id="47" name="Text 45"/>
          <p:cNvSpPr txBox="1"/>
          <p:nvPr/>
        </p:nvSpPr>
        <p:spPr>
          <a:xfrm>
            <a:off x="5391267" y="5432177"/>
            <a:ext cx="758474"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Output</a:t>
            </a:r>
            <a:endParaRPr lang="en-US" sz="168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does an attention picture show?</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A bright attention cell supports which claim?</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This head assigns that source high weight</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The model's answer to the question is true</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Every head in the model resolved the pronoun</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We proved how the model reasoned to its answer</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Build, train and inspect</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Connect each experiment to the function that performs it</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checked operation</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model components</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input + target IDs</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trained weights</a:t>
            </a:r>
            <a:endParaRPr lang="en-US" sz="1441" dirty="0"/>
          </a:p>
        </p:txBody>
      </p:sp>
      <p:sp>
        <p:nvSpPr>
          <p:cNvPr id="15" name="Shape 13"/>
          <p:cNvSpPr/>
          <p:nvPr/>
        </p:nvSpPr>
        <p:spPr>
          <a:xfrm>
            <a:off x="9593525" y="3838927"/>
            <a:ext cx="244024" cy="0"/>
          </a:xfrm>
          <a:prstGeom prst="line">
            <a:avLst/>
          </a:prstGeom>
          <a:noFill/>
          <a:ln w="22860">
            <a:solidFill>
              <a:srgbClr val="009E73"/>
            </a:solidFill>
            <a:prstDash val="solid"/>
            <a:tailEnd type="triangle"/>
          </a:ln>
        </p:spPr>
      </p:sp>
      <p:sp>
        <p:nvSpPr>
          <p:cNvPr id="16" name="Text 14"/>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inspection ready</a:t>
            </a:r>
            <a:endParaRPr lang="en-US" sz="1441" dirty="0"/>
          </a:p>
        </p:txBody>
      </p:sp>
      <p:sp>
        <p:nvSpPr>
          <p:cNvPr id="17" name="Shape 15"/>
          <p:cNvSpPr/>
          <p:nvPr/>
        </p:nvSpPr>
        <p:spPr>
          <a:xfrm>
            <a:off x="788325" y="2939089"/>
            <a:ext cx="1565821" cy="1799677"/>
          </a:xfrm>
          <a:prstGeom prst="rect">
            <a:avLst/>
          </a:prstGeom>
          <a:solidFill>
            <a:srgbClr val="F2F4F5"/>
          </a:solidFill>
          <a:ln w="15240">
            <a:solidFill>
              <a:srgbClr val="626B73"/>
            </a:solidFill>
            <a:prstDash val="solid"/>
          </a:ln>
        </p:spPr>
      </p:sp>
      <p:sp>
        <p:nvSpPr>
          <p:cNvPr id="18" name="Text 16"/>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maths</a:t>
            </a:r>
            <a:endParaRPr lang="en-US" sz="1561" dirty="0"/>
          </a:p>
        </p:txBody>
      </p:sp>
      <p:sp>
        <p:nvSpPr>
          <p:cNvPr id="19" name="Text 17"/>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Match attention;</a:t>
            </a:r>
            <a:endParaRPr lang="en-US" sz="1441" dirty="0"/>
          </a:p>
        </p:txBody>
      </p:sp>
      <p:sp>
        <p:nvSpPr>
          <p:cNvPr id="20" name="Text 18"/>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test mask</a:t>
            </a:r>
            <a:endParaRPr lang="en-US" sz="1441" dirty="0"/>
          </a:p>
        </p:txBody>
      </p:sp>
      <p:sp>
        <p:nvSpPr>
          <p:cNvPr id="21" name="Text 19"/>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attention</a:t>
            </a:r>
            <a:endParaRPr lang="en-US" sz="1441" dirty="0"/>
          </a:p>
        </p:txBody>
      </p:sp>
      <p:sp>
        <p:nvSpPr>
          <p:cNvPr id="22" name="Shape 20"/>
          <p:cNvSpPr/>
          <p:nvPr/>
        </p:nvSpPr>
        <p:spPr>
          <a:xfrm>
            <a:off x="2598170" y="2939089"/>
            <a:ext cx="1565821" cy="1799677"/>
          </a:xfrm>
          <a:prstGeom prst="rect">
            <a:avLst/>
          </a:prstGeom>
          <a:solidFill>
            <a:srgbClr val="E5F7EF"/>
          </a:solidFill>
          <a:ln w="15240">
            <a:solidFill>
              <a:srgbClr val="009E73"/>
            </a:solidFill>
            <a:prstDash val="solid"/>
          </a:ln>
        </p:spPr>
      </p:sp>
      <p:sp>
        <p:nvSpPr>
          <p:cNvPr id="23" name="Text 21"/>
          <p:cNvSpPr txBox="1"/>
          <p:nvPr/>
        </p:nvSpPr>
        <p:spPr>
          <a:xfrm>
            <a:off x="265917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Build model</a:t>
            </a:r>
            <a:endParaRPr lang="en-US" sz="1561" dirty="0"/>
          </a:p>
        </p:txBody>
      </p:sp>
      <p:sp>
        <p:nvSpPr>
          <p:cNvPr id="24" name="Text 22"/>
          <p:cNvSpPr txBox="1"/>
          <p:nvPr/>
        </p:nvSpPr>
        <p:spPr>
          <a:xfrm>
            <a:off x="265917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Join heads; add</a:t>
            </a:r>
            <a:endParaRPr lang="en-US" sz="1441" dirty="0"/>
          </a:p>
        </p:txBody>
      </p:sp>
      <p:sp>
        <p:nvSpPr>
          <p:cNvPr id="25" name="Text 23"/>
          <p:cNvSpPr txBox="1"/>
          <p:nvPr/>
        </p:nvSpPr>
        <p:spPr>
          <a:xfrm>
            <a:off x="265917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residuals</a:t>
            </a:r>
            <a:endParaRPr lang="en-US" sz="1441" dirty="0"/>
          </a:p>
        </p:txBody>
      </p:sp>
      <p:sp>
        <p:nvSpPr>
          <p:cNvPr id="26" name="Text 24"/>
          <p:cNvSpPr txBox="1"/>
          <p:nvPr/>
        </p:nvSpPr>
        <p:spPr>
          <a:xfrm>
            <a:off x="262104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Block</a:t>
            </a:r>
            <a:endParaRPr lang="en-US" sz="1441" dirty="0"/>
          </a:p>
        </p:txBody>
      </p:sp>
      <p:sp>
        <p:nvSpPr>
          <p:cNvPr id="27" name="Shape 25"/>
          <p:cNvSpPr/>
          <p:nvPr/>
        </p:nvSpPr>
        <p:spPr>
          <a:xfrm>
            <a:off x="4408015" y="2939089"/>
            <a:ext cx="1565821" cy="1799677"/>
          </a:xfrm>
          <a:prstGeom prst="roundRect">
            <a:avLst>
              <a:gd name="adj" fmla="val 4672"/>
            </a:avLst>
          </a:prstGeom>
          <a:solidFill>
            <a:srgbClr val="E4F2FB"/>
          </a:solidFill>
          <a:ln w="15240">
            <a:solidFill>
              <a:srgbClr val="0072B2"/>
            </a:solidFill>
            <a:prstDash val="solid"/>
          </a:ln>
        </p:spPr>
      </p:sp>
      <p:sp>
        <p:nvSpPr>
          <p:cNvPr id="28" name="Text 26"/>
          <p:cNvSpPr txBox="1"/>
          <p:nvPr/>
        </p:nvSpPr>
        <p:spPr>
          <a:xfrm>
            <a:off x="446902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Make batches</a:t>
            </a:r>
            <a:endParaRPr lang="en-US" sz="1561" dirty="0"/>
          </a:p>
        </p:txBody>
      </p:sp>
      <p:sp>
        <p:nvSpPr>
          <p:cNvPr id="29" name="Text 27"/>
          <p:cNvSpPr txBox="1"/>
          <p:nvPr/>
        </p:nvSpPr>
        <p:spPr>
          <a:xfrm>
            <a:off x="446902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Inputs and</a:t>
            </a:r>
            <a:endParaRPr lang="en-US" sz="1441" dirty="0"/>
          </a:p>
        </p:txBody>
      </p:sp>
      <p:sp>
        <p:nvSpPr>
          <p:cNvPr id="30" name="Text 28"/>
          <p:cNvSpPr txBox="1"/>
          <p:nvPr/>
        </p:nvSpPr>
        <p:spPr>
          <a:xfrm>
            <a:off x="446902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shifted answers</a:t>
            </a:r>
            <a:endParaRPr lang="en-US" sz="1441" dirty="0"/>
          </a:p>
        </p:txBody>
      </p:sp>
      <p:sp>
        <p:nvSpPr>
          <p:cNvPr id="31" name="Text 29"/>
          <p:cNvSpPr txBox="1"/>
          <p:nvPr/>
        </p:nvSpPr>
        <p:spPr>
          <a:xfrm>
            <a:off x="443089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get_batch</a:t>
            </a:r>
            <a:endParaRPr lang="en-US" sz="1441" dirty="0"/>
          </a:p>
        </p:txBody>
      </p:sp>
      <p:sp>
        <p:nvSpPr>
          <p:cNvPr id="32" name="Shape 30"/>
          <p:cNvSpPr/>
          <p:nvPr/>
        </p:nvSpPr>
        <p:spPr>
          <a:xfrm>
            <a:off x="6217860" y="2939089"/>
            <a:ext cx="1565821" cy="1799677"/>
          </a:xfrm>
          <a:prstGeom prst="roundRect">
            <a:avLst>
              <a:gd name="adj" fmla="val 4672"/>
            </a:avLst>
          </a:prstGeom>
          <a:solidFill>
            <a:srgbClr val="FFF0E6"/>
          </a:solidFill>
          <a:ln w="15240">
            <a:solidFill>
              <a:srgbClr val="D55E00"/>
            </a:solidFill>
            <a:prstDash val="solid"/>
          </a:ln>
        </p:spPr>
      </p:sp>
      <p:sp>
        <p:nvSpPr>
          <p:cNvPr id="33" name="Text 31"/>
          <p:cNvSpPr txBox="1"/>
          <p:nvPr/>
        </p:nvSpPr>
        <p:spPr>
          <a:xfrm>
            <a:off x="627886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Train model</a:t>
            </a:r>
            <a:endParaRPr lang="en-US" sz="1561" dirty="0"/>
          </a:p>
        </p:txBody>
      </p:sp>
      <p:sp>
        <p:nvSpPr>
          <p:cNvPr id="34" name="Text 32"/>
          <p:cNvSpPr txBox="1"/>
          <p:nvPr/>
        </p:nvSpPr>
        <p:spPr>
          <a:xfrm>
            <a:off x="627886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Loss then</a:t>
            </a:r>
            <a:endParaRPr lang="en-US" sz="1441" dirty="0"/>
          </a:p>
        </p:txBody>
      </p:sp>
      <p:sp>
        <p:nvSpPr>
          <p:cNvPr id="35" name="Text 33"/>
          <p:cNvSpPr txBox="1"/>
          <p:nvPr/>
        </p:nvSpPr>
        <p:spPr>
          <a:xfrm>
            <a:off x="627886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gradient update</a:t>
            </a:r>
            <a:endParaRPr lang="en-US" sz="1441" dirty="0"/>
          </a:p>
        </p:txBody>
      </p:sp>
      <p:sp>
        <p:nvSpPr>
          <p:cNvPr id="36" name="Text 34"/>
          <p:cNvSpPr txBox="1"/>
          <p:nvPr/>
        </p:nvSpPr>
        <p:spPr>
          <a:xfrm>
            <a:off x="624073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gpt / opt</a:t>
            </a:r>
            <a:endParaRPr lang="en-US" sz="1441" dirty="0"/>
          </a:p>
        </p:txBody>
      </p:sp>
      <p:sp>
        <p:nvSpPr>
          <p:cNvPr id="37" name="Shape 35"/>
          <p:cNvSpPr/>
          <p:nvPr/>
        </p:nvSpPr>
        <p:spPr>
          <a:xfrm>
            <a:off x="8027705" y="2939089"/>
            <a:ext cx="1565821" cy="1799677"/>
          </a:xfrm>
          <a:prstGeom prst="roundRect">
            <a:avLst>
              <a:gd name="adj" fmla="val 4672"/>
            </a:avLst>
          </a:prstGeom>
          <a:solidFill>
            <a:srgbClr val="F9EAF4"/>
          </a:solidFill>
          <a:ln w="15240">
            <a:solidFill>
              <a:srgbClr val="CC79A7"/>
            </a:solidFill>
            <a:prstDash val="solid"/>
          </a:ln>
        </p:spPr>
      </p:sp>
      <p:sp>
        <p:nvSpPr>
          <p:cNvPr id="38" name="Text 36"/>
          <p:cNvSpPr txBox="1"/>
          <p:nvPr/>
        </p:nvSpPr>
        <p:spPr>
          <a:xfrm>
            <a:off x="808871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output</a:t>
            </a:r>
            <a:endParaRPr lang="en-US" sz="1561" dirty="0"/>
          </a:p>
        </p:txBody>
      </p:sp>
      <p:sp>
        <p:nvSpPr>
          <p:cNvPr id="39" name="Text 37"/>
          <p:cNvSpPr txBox="1"/>
          <p:nvPr/>
        </p:nvSpPr>
        <p:spPr>
          <a:xfrm>
            <a:off x="808871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Held-out loss;</a:t>
            </a:r>
            <a:endParaRPr lang="en-US" sz="1441" dirty="0"/>
          </a:p>
        </p:txBody>
      </p:sp>
      <p:sp>
        <p:nvSpPr>
          <p:cNvPr id="40" name="Text 38"/>
          <p:cNvSpPr txBox="1"/>
          <p:nvPr/>
        </p:nvSpPr>
        <p:spPr>
          <a:xfrm>
            <a:off x="808871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generated text</a:t>
            </a:r>
            <a:endParaRPr lang="en-US" sz="1441" dirty="0"/>
          </a:p>
        </p:txBody>
      </p:sp>
      <p:sp>
        <p:nvSpPr>
          <p:cNvPr id="41" name="Text 39"/>
          <p:cNvSpPr txBox="1"/>
          <p:nvPr/>
        </p:nvSpPr>
        <p:spPr>
          <a:xfrm>
            <a:off x="805058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val_loss</a:t>
            </a:r>
            <a:endParaRPr lang="en-US" sz="1441" dirty="0"/>
          </a:p>
        </p:txBody>
      </p:sp>
      <p:sp>
        <p:nvSpPr>
          <p:cNvPr id="42" name="Shape 40"/>
          <p:cNvSpPr/>
          <p:nvPr/>
        </p:nvSpPr>
        <p:spPr>
          <a:xfrm>
            <a:off x="9837549" y="2939089"/>
            <a:ext cx="1565821" cy="1799677"/>
          </a:xfrm>
          <a:prstGeom prst="rect">
            <a:avLst/>
          </a:prstGeom>
          <a:solidFill>
            <a:srgbClr val="F2F4F5"/>
          </a:solidFill>
          <a:ln w="15240">
            <a:solidFill>
              <a:srgbClr val="626B73"/>
            </a:solidFill>
            <a:prstDash val="solid"/>
          </a:ln>
        </p:spPr>
      </p:sp>
      <p:sp>
        <p:nvSpPr>
          <p:cNvPr id="43" name="Text 41"/>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 heads</a:t>
            </a:r>
            <a:endParaRPr lang="en-US" sz="1561" dirty="0"/>
          </a:p>
        </p:txBody>
      </p:sp>
      <p:sp>
        <p:nvSpPr>
          <p:cNvPr id="44" name="Text 42"/>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Separate BERT</a:t>
            </a:r>
            <a:endParaRPr lang="en-US" sz="1441" dirty="0"/>
          </a:p>
        </p:txBody>
      </p:sp>
      <p:sp>
        <p:nvSpPr>
          <p:cNvPr id="45" name="Text 43"/>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GPT-2</a:t>
            </a:r>
            <a:endParaRPr lang="en-US" sz="1441" dirty="0"/>
          </a:p>
        </p:txBody>
      </p:sp>
      <p:sp>
        <p:nvSpPr>
          <p:cNvPr id="46" name="Text 44"/>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bert_att</a:t>
            </a:r>
            <a:endParaRPr lang="en-US" sz="1441" dirty="0"/>
          </a:p>
        </p:txBody>
      </p:sp>
      <p:sp>
        <p:nvSpPr>
          <p:cNvPr id="47" name="Shape 45"/>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8" name="Text 46"/>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9" name="Shape 47"/>
          <p:cNvSpPr/>
          <p:nvPr/>
        </p:nvSpPr>
        <p:spPr>
          <a:xfrm>
            <a:off x="2118929" y="5630979"/>
            <a:ext cx="198270" cy="198270"/>
          </a:xfrm>
          <a:prstGeom prst="rect">
            <a:avLst/>
          </a:prstGeom>
          <a:solidFill>
            <a:srgbClr val="E5F7EF"/>
          </a:solidFill>
          <a:ln w="15240">
            <a:solidFill>
              <a:srgbClr val="009E73"/>
            </a:solidFill>
            <a:prstDash val="solid"/>
          </a:ln>
        </p:spPr>
      </p:sp>
      <p:sp>
        <p:nvSpPr>
          <p:cNvPr id="50" name="Text 48"/>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1" name="Shape 49"/>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52" name="Text 50"/>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3" name="Shape 51"/>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54" name="Text 52"/>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5" name="Shape 53"/>
          <p:cNvSpPr/>
          <p:nvPr/>
        </p:nvSpPr>
        <p:spPr>
          <a:xfrm>
            <a:off x="5804824" y="5630979"/>
            <a:ext cx="198270" cy="198270"/>
          </a:xfrm>
          <a:prstGeom prst="rect">
            <a:avLst/>
          </a:prstGeom>
          <a:solidFill>
            <a:srgbClr val="F2F4F5"/>
          </a:solidFill>
          <a:ln w="15240">
            <a:solidFill>
              <a:srgbClr val="626B73"/>
            </a:solidFill>
            <a:prstDash val="solid"/>
          </a:ln>
        </p:spPr>
      </p:sp>
      <p:sp>
        <p:nvSpPr>
          <p:cNvPr id="56" name="Text 54"/>
          <p:cNvSpPr txBox="1"/>
          <p:nvPr/>
        </p:nvSpPr>
        <p:spPr>
          <a:xfrm>
            <a:off x="6064099"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57" name="Shape 55"/>
          <p:cNvSpPr/>
          <p:nvPr/>
        </p:nvSpPr>
        <p:spPr>
          <a:xfrm>
            <a:off x="7366714" y="5730113"/>
            <a:ext cx="335533" cy="0"/>
          </a:xfrm>
          <a:prstGeom prst="line">
            <a:avLst/>
          </a:prstGeom>
          <a:noFill/>
          <a:ln w="22860">
            <a:solidFill>
              <a:srgbClr val="009E73"/>
            </a:solidFill>
            <a:prstDash val="solid"/>
            <a:tailEnd type="triangle"/>
          </a:ln>
        </p:spPr>
      </p:sp>
      <p:sp>
        <p:nvSpPr>
          <p:cNvPr id="58" name="Text 56"/>
          <p:cNvSpPr txBox="1"/>
          <p:nvPr/>
        </p:nvSpPr>
        <p:spPr>
          <a:xfrm>
            <a:off x="776325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9" name="Text 57"/>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Check: Which function supplies the known next characters during training, and which evaluates separate text?</a:t>
            </a:r>
            <a:endParaRPr lang="en-US" sz="16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5: build attention and a small GPT</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Check attention and masks.</a:t>
            </a:r>
            <a:endParaRPr lang="en-US" sz="2000" dirty="0"/>
          </a:p>
        </p:txBody>
      </p:sp>
      <p:sp>
        <p:nvSpPr>
          <p:cNvPr id="9" name="Shape 7"/>
          <p:cNvSpPr/>
          <p:nvPr/>
        </p:nvSpPr>
        <p:spPr>
          <a:xfrm>
            <a:off x="548640" y="2395728"/>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9572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5000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Assemble heads and blocks.</a:t>
            </a:r>
            <a:endParaRPr lang="en-US" sz="2000" dirty="0"/>
          </a:p>
        </p:txBody>
      </p:sp>
      <p:sp>
        <p:nvSpPr>
          <p:cNvPr id="12" name="Shape 10"/>
          <p:cNvSpPr/>
          <p:nvPr/>
        </p:nvSpPr>
        <p:spPr>
          <a:xfrm>
            <a:off x="548640" y="3264408"/>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264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21868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Train next-character predictions.</a:t>
            </a:r>
            <a:endParaRPr lang="en-US" sz="2000" dirty="0"/>
          </a:p>
        </p:txBody>
      </p:sp>
      <p:sp>
        <p:nvSpPr>
          <p:cNvPr id="15" name="Shape 13"/>
          <p:cNvSpPr/>
          <p:nvPr/>
        </p:nvSpPr>
        <p:spPr>
          <a:xfrm>
            <a:off x="548640" y="4133088"/>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41330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408736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Measure loss; sample text.</a:t>
            </a:r>
            <a:endParaRPr lang="en-US" sz="2000" dirty="0"/>
          </a:p>
        </p:txBody>
      </p:sp>
      <p:sp>
        <p:nvSpPr>
          <p:cNvPr id="18" name="Shape 16"/>
          <p:cNvSpPr/>
          <p:nvPr/>
        </p:nvSpPr>
        <p:spPr>
          <a:xfrm>
            <a:off x="548640" y="5001768"/>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500176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95604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Inspect pretrained attention.</a:t>
            </a:r>
            <a:endParaRPr lang="en-US" sz="2000" dirty="0"/>
          </a:p>
        </p:txBody>
      </p:sp>
      <p:sp>
        <p:nvSpPr>
          <p:cNvPr id="21" name="Shape 19"/>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2" name="Shape 20"/>
          <p:cNvSpPr/>
          <p:nvPr/>
        </p:nvSpPr>
        <p:spPr>
          <a:xfrm>
            <a:off x="8229600" y="1709928"/>
            <a:ext cx="502920" cy="502920"/>
          </a:xfrm>
          <a:prstGeom prst="ellipse">
            <a:avLst/>
          </a:prstGeom>
          <a:solidFill>
            <a:srgbClr val="0F766E"/>
          </a:solidFill>
          <a:ln w="12700">
            <a:solidFill>
              <a:srgbClr val="0F766E"/>
            </a:solidFill>
            <a:prstDash val="solid"/>
          </a:ln>
        </p:spPr>
      </p:sp>
      <p:pic>
        <p:nvPicPr>
          <p:cNvPr id="23"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4" name="Text 21"/>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5" name="Text 22"/>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Colab T4 GPU; CPU uses fewer steps. About 10 min on a 4 GB laptop GPU after downloads</a:t>
            </a:r>
            <a:endParaRPr lang="en-US" sz="1400" dirty="0"/>
          </a:p>
        </p:txBody>
      </p:sp>
      <p:sp>
        <p:nvSpPr>
          <p:cNvPr id="26" name="Shape 23"/>
          <p:cNvSpPr/>
          <p:nvPr/>
        </p:nvSpPr>
        <p:spPr>
          <a:xfrm>
            <a:off x="8229600" y="3227832"/>
            <a:ext cx="502920" cy="502920"/>
          </a:xfrm>
          <a:prstGeom prst="ellipse">
            <a:avLst/>
          </a:prstGeom>
          <a:solidFill>
            <a:srgbClr val="0F766E"/>
          </a:solidFill>
          <a:ln w="12700">
            <a:solidFill>
              <a:srgbClr val="0F766E"/>
            </a:solidFill>
            <a:prstDash val="solid"/>
          </a:ln>
        </p:spPr>
      </p:sp>
      <p:pic>
        <p:nvPicPr>
          <p:cNvPr id="27"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28" name="Text 24"/>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29" name="Text 25"/>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0" name="Shape 26"/>
          <p:cNvSpPr/>
          <p:nvPr/>
        </p:nvSpPr>
        <p:spPr>
          <a:xfrm>
            <a:off x="8229600" y="4745736"/>
            <a:ext cx="502920" cy="502920"/>
          </a:xfrm>
          <a:prstGeom prst="ellipse">
            <a:avLst/>
          </a:prstGeom>
          <a:solidFill>
            <a:srgbClr val="0F766E"/>
          </a:solidFill>
          <a:ln w="12700">
            <a:solidFill>
              <a:srgbClr val="0F766E"/>
            </a:solidFill>
            <a:prstDash val="solid"/>
          </a:ln>
        </p:spPr>
      </p:sp>
      <p:pic>
        <p:nvPicPr>
          <p:cNvPr id="31"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2" name="Text 27"/>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3" name="Text 28"/>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Checks, loss curve, samples and explanations</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DC2626"/>
          </a:solidFill>
          <a:ln w="12700">
            <a:solidFill>
              <a:srgbClr val="DC2626"/>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10454335"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3Blue1Brown: transformer overview</a:t>
            </a:r>
            <a:endParaRPr lang="en-US" sz="1500" dirty="0"/>
          </a:p>
        </p:txBody>
      </p:sp>
      <p:sp>
        <p:nvSpPr>
          <p:cNvPr id="9" name="Shape 6"/>
          <p:cNvSpPr/>
          <p:nvPr/>
        </p:nvSpPr>
        <p:spPr>
          <a:xfrm>
            <a:off x="548640" y="2377440"/>
            <a:ext cx="457200" cy="457200"/>
          </a:xfrm>
          <a:prstGeom prst="ellipse">
            <a:avLst/>
          </a:prstGeom>
          <a:solidFill>
            <a:srgbClr val="DC2626"/>
          </a:solidFill>
          <a:ln w="12700">
            <a:solidFill>
              <a:srgbClr val="DC2626"/>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10454335"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3Blue1Brown: attention step by step</a:t>
            </a:r>
            <a:endParaRPr lang="en-US" sz="1500" dirty="0"/>
          </a:p>
        </p:txBody>
      </p:sp>
      <p:sp>
        <p:nvSpPr>
          <p:cNvPr id="12" name="Shape 8"/>
          <p:cNvSpPr/>
          <p:nvPr/>
        </p:nvSpPr>
        <p:spPr>
          <a:xfrm>
            <a:off x="548640" y="3200400"/>
            <a:ext cx="457200" cy="457200"/>
          </a:xfrm>
          <a:prstGeom prst="ellipse">
            <a:avLst/>
          </a:prstGeom>
          <a:solidFill>
            <a:srgbClr val="DC2626"/>
          </a:solidFill>
          <a:ln w="12700">
            <a:solidFill>
              <a:srgbClr val="DC2626"/>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10454335"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Karpathy: build GPT in Python</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10454335"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Vaswani: Attention Is All You Need</a:t>
            </a:r>
            <a:endParaRPr lang="en-US" sz="1500" dirty="0"/>
          </a:p>
        </p:txBody>
      </p:sp>
      <p:sp>
        <p:nvSpPr>
          <p:cNvPr id="18" name="Shape 12"/>
          <p:cNvSpPr/>
          <p:nvPr/>
        </p:nvSpPr>
        <p:spPr>
          <a:xfrm>
            <a:off x="548640" y="484632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58368" y="4956048"/>
            <a:ext cx="237744" cy="237744"/>
          </a:xfrm>
          <a:prstGeom prst="rect">
            <a:avLst/>
          </a:prstGeom>
        </p:spPr>
      </p:pic>
      <p:sp>
        <p:nvSpPr>
          <p:cNvPr id="20" name="Text 13"/>
          <p:cNvSpPr txBox="1"/>
          <p:nvPr/>
        </p:nvSpPr>
        <p:spPr>
          <a:xfrm>
            <a:off x="1143000" y="4773168"/>
            <a:ext cx="10454335"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Hugging Face: transformer architectures</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we learned: transformers</a:t>
            </a:r>
            <a:endParaRPr lang="en-US" sz="3200" dirty="0"/>
          </a:p>
        </p:txBody>
      </p:sp>
      <p:sp>
        <p:nvSpPr>
          <p:cNvPr id="6" name="Shape 4"/>
          <p:cNvSpPr/>
          <p:nvPr/>
        </p:nvSpPr>
        <p:spPr>
          <a:xfrm>
            <a:off x="946879" y="1630142"/>
            <a:ext cx="3323515" cy="1376531"/>
          </a:xfrm>
          <a:prstGeom prst="roundRect">
            <a:avLst>
              <a:gd name="adj" fmla="val 5314"/>
            </a:avLst>
          </a:prstGeom>
          <a:solidFill>
            <a:srgbClr val="E4F2FB"/>
          </a:solidFill>
          <a:ln w="15240">
            <a:solidFill>
              <a:srgbClr val="0072B2"/>
            </a:solidFill>
            <a:prstDash val="solid"/>
          </a:ln>
        </p:spPr>
      </p:sp>
      <p:sp>
        <p:nvSpPr>
          <p:cNvPr id="7" name="Text 5"/>
          <p:cNvSpPr txBox="1"/>
          <p:nvPr/>
        </p:nvSpPr>
        <p:spPr>
          <a:xfrm>
            <a:off x="1080812"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Text becomes numbers</a:t>
            </a:r>
            <a:endParaRPr lang="en-US" sz="1758" dirty="0"/>
          </a:p>
        </p:txBody>
      </p:sp>
      <p:sp>
        <p:nvSpPr>
          <p:cNvPr id="8" name="Text 6"/>
          <p:cNvSpPr txBox="1"/>
          <p:nvPr/>
        </p:nvSpPr>
        <p:spPr>
          <a:xfrm>
            <a:off x="1080812"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IDs select vectors; positions tell</a:t>
            </a:r>
            <a:endParaRPr lang="en-US" sz="1523" dirty="0"/>
          </a:p>
        </p:txBody>
      </p:sp>
      <p:sp>
        <p:nvSpPr>
          <p:cNvPr id="9" name="Text 7"/>
          <p:cNvSpPr txBox="1"/>
          <p:nvPr/>
        </p:nvSpPr>
        <p:spPr>
          <a:xfrm>
            <a:off x="1080812"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the model where tokens occur.</a:t>
            </a:r>
            <a:endParaRPr lang="en-US" sz="1523" dirty="0"/>
          </a:p>
        </p:txBody>
      </p:sp>
      <p:sp>
        <p:nvSpPr>
          <p:cNvPr id="10" name="Shape 8"/>
          <p:cNvSpPr/>
          <p:nvPr/>
        </p:nvSpPr>
        <p:spPr>
          <a:xfrm>
            <a:off x="4434090" y="1630142"/>
            <a:ext cx="3323515" cy="1376531"/>
          </a:xfrm>
          <a:prstGeom prst="rect">
            <a:avLst/>
          </a:prstGeom>
          <a:solidFill>
            <a:srgbClr val="E5F7EF"/>
          </a:solidFill>
          <a:ln w="15240">
            <a:solidFill>
              <a:srgbClr val="009E73"/>
            </a:solidFill>
            <a:prstDash val="solid"/>
          </a:ln>
        </p:spPr>
      </p:sp>
      <p:sp>
        <p:nvSpPr>
          <p:cNvPr id="11" name="Text 9"/>
          <p:cNvSpPr txBox="1"/>
          <p:nvPr/>
        </p:nvSpPr>
        <p:spPr>
          <a:xfrm>
            <a:off x="456802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Attention mixes values</a:t>
            </a:r>
            <a:endParaRPr lang="en-US" sz="1758" dirty="0"/>
          </a:p>
        </p:txBody>
      </p:sp>
      <p:sp>
        <p:nvSpPr>
          <p:cNvPr id="12" name="Text 10"/>
          <p:cNvSpPr txBox="1"/>
          <p:nvPr/>
        </p:nvSpPr>
        <p:spPr>
          <a:xfrm>
            <a:off x="4568023"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Queries match keys; row weights</a:t>
            </a:r>
            <a:endParaRPr lang="en-US" sz="1523" dirty="0"/>
          </a:p>
        </p:txBody>
      </p:sp>
      <p:sp>
        <p:nvSpPr>
          <p:cNvPr id="13" name="Text 11"/>
          <p:cNvSpPr txBox="1"/>
          <p:nvPr/>
        </p:nvSpPr>
        <p:spPr>
          <a:xfrm>
            <a:off x="4568023"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mix the value vectors.</a:t>
            </a:r>
            <a:endParaRPr lang="en-US" sz="1523" dirty="0"/>
          </a:p>
        </p:txBody>
      </p:sp>
      <p:sp>
        <p:nvSpPr>
          <p:cNvPr id="14" name="Shape 12"/>
          <p:cNvSpPr/>
          <p:nvPr/>
        </p:nvSpPr>
        <p:spPr>
          <a:xfrm>
            <a:off x="7921301" y="1630142"/>
            <a:ext cx="3323515" cy="1376531"/>
          </a:xfrm>
          <a:prstGeom prst="rect">
            <a:avLst/>
          </a:prstGeom>
          <a:solidFill>
            <a:srgbClr val="E5F7EF"/>
          </a:solidFill>
          <a:ln w="15240">
            <a:solidFill>
              <a:srgbClr val="009E73"/>
            </a:solidFill>
            <a:prstDash val="solid"/>
          </a:ln>
        </p:spPr>
      </p:sp>
      <p:sp>
        <p:nvSpPr>
          <p:cNvPr id="15" name="Text 13"/>
          <p:cNvSpPr txBox="1"/>
          <p:nvPr/>
        </p:nvSpPr>
        <p:spPr>
          <a:xfrm>
            <a:off x="805523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Build a block</a:t>
            </a:r>
            <a:endParaRPr lang="en-US" sz="1758" dirty="0"/>
          </a:p>
        </p:txBody>
      </p:sp>
      <p:sp>
        <p:nvSpPr>
          <p:cNvPr id="16" name="Text 14"/>
          <p:cNvSpPr txBox="1"/>
          <p:nvPr/>
        </p:nvSpPr>
        <p:spPr>
          <a:xfrm>
            <a:off x="8055233"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Join heads, add residuals, and</a:t>
            </a:r>
            <a:endParaRPr lang="en-US" sz="1523" dirty="0"/>
          </a:p>
        </p:txBody>
      </p:sp>
      <p:sp>
        <p:nvSpPr>
          <p:cNvPr id="17" name="Text 15"/>
          <p:cNvSpPr txBox="1"/>
          <p:nvPr/>
        </p:nvSpPr>
        <p:spPr>
          <a:xfrm>
            <a:off x="8055233"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transform each position.</a:t>
            </a:r>
            <a:endParaRPr lang="en-US" sz="1523" dirty="0"/>
          </a:p>
        </p:txBody>
      </p:sp>
      <p:sp>
        <p:nvSpPr>
          <p:cNvPr id="18" name="Shape 16"/>
          <p:cNvSpPr/>
          <p:nvPr/>
        </p:nvSpPr>
        <p:spPr>
          <a:xfrm>
            <a:off x="946879" y="3170368"/>
            <a:ext cx="3323515" cy="1376531"/>
          </a:xfrm>
          <a:prstGeom prst="roundRect">
            <a:avLst>
              <a:gd name="adj" fmla="val 5314"/>
            </a:avLst>
          </a:prstGeom>
          <a:solidFill>
            <a:srgbClr val="FFF0E6"/>
          </a:solidFill>
          <a:ln w="15240">
            <a:solidFill>
              <a:srgbClr val="D55E00"/>
            </a:solidFill>
            <a:prstDash val="solid"/>
          </a:ln>
        </p:spPr>
      </p:sp>
      <p:sp>
        <p:nvSpPr>
          <p:cNvPr id="19" name="Text 17"/>
          <p:cNvSpPr txBox="1"/>
          <p:nvPr/>
        </p:nvSpPr>
        <p:spPr>
          <a:xfrm>
            <a:off x="1080812"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Learn from targets</a:t>
            </a:r>
            <a:endParaRPr lang="en-US" sz="1758" dirty="0"/>
          </a:p>
        </p:txBody>
      </p:sp>
      <p:sp>
        <p:nvSpPr>
          <p:cNvPr id="20" name="Text 18"/>
          <p:cNvSpPr txBox="1"/>
          <p:nvPr/>
        </p:nvSpPr>
        <p:spPr>
          <a:xfrm>
            <a:off x="1080812"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Shift the text, measure prediction</a:t>
            </a:r>
            <a:endParaRPr lang="en-US" sz="1523" dirty="0"/>
          </a:p>
        </p:txBody>
      </p:sp>
      <p:sp>
        <p:nvSpPr>
          <p:cNvPr id="21" name="Text 19"/>
          <p:cNvSpPr txBox="1"/>
          <p:nvPr/>
        </p:nvSpPr>
        <p:spPr>
          <a:xfrm>
            <a:off x="1080812"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loss, then update weights.</a:t>
            </a:r>
            <a:endParaRPr lang="en-US" sz="1523" dirty="0"/>
          </a:p>
        </p:txBody>
      </p:sp>
      <p:sp>
        <p:nvSpPr>
          <p:cNvPr id="22" name="Shape 20"/>
          <p:cNvSpPr/>
          <p:nvPr/>
        </p:nvSpPr>
        <p:spPr>
          <a:xfrm>
            <a:off x="4434090" y="3170368"/>
            <a:ext cx="3323515" cy="1376531"/>
          </a:xfrm>
          <a:prstGeom prst="roundRect">
            <a:avLst>
              <a:gd name="adj" fmla="val 5314"/>
            </a:avLst>
          </a:prstGeom>
          <a:solidFill>
            <a:srgbClr val="F9EAF4"/>
          </a:solidFill>
          <a:ln w="15240">
            <a:solidFill>
              <a:srgbClr val="CC79A7"/>
            </a:solidFill>
            <a:prstDash val="solid"/>
          </a:ln>
        </p:spPr>
      </p:sp>
      <p:sp>
        <p:nvSpPr>
          <p:cNvPr id="23" name="Text 21"/>
          <p:cNvSpPr txBox="1"/>
          <p:nvPr/>
        </p:nvSpPr>
        <p:spPr>
          <a:xfrm>
            <a:off x="456802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Generate with a prefix</a:t>
            </a:r>
            <a:endParaRPr lang="en-US" sz="1758" dirty="0"/>
          </a:p>
        </p:txBody>
      </p:sp>
      <p:sp>
        <p:nvSpPr>
          <p:cNvPr id="24" name="Text 22"/>
          <p:cNvSpPr txBox="1"/>
          <p:nvPr/>
        </p:nvSpPr>
        <p:spPr>
          <a:xfrm>
            <a:off x="456802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Block future inputs; sample and</a:t>
            </a:r>
            <a:endParaRPr lang="en-US" sz="1523" dirty="0"/>
          </a:p>
        </p:txBody>
      </p:sp>
      <p:sp>
        <p:nvSpPr>
          <p:cNvPr id="25" name="Text 23"/>
          <p:cNvSpPr txBox="1"/>
          <p:nvPr/>
        </p:nvSpPr>
        <p:spPr>
          <a:xfrm>
            <a:off x="456802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append; learned weights stay</a:t>
            </a:r>
            <a:endParaRPr lang="en-US" sz="1523" dirty="0"/>
          </a:p>
        </p:txBody>
      </p:sp>
      <p:sp>
        <p:nvSpPr>
          <p:cNvPr id="26" name="Text 24"/>
          <p:cNvSpPr txBox="1"/>
          <p:nvPr/>
        </p:nvSpPr>
        <p:spPr>
          <a:xfrm>
            <a:off x="456802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fixed.</a:t>
            </a:r>
            <a:endParaRPr lang="en-US" sz="1523" dirty="0"/>
          </a:p>
        </p:txBody>
      </p:sp>
      <p:sp>
        <p:nvSpPr>
          <p:cNvPr id="27" name="Shape 25"/>
          <p:cNvSpPr/>
          <p:nvPr/>
        </p:nvSpPr>
        <p:spPr>
          <a:xfrm>
            <a:off x="7921301" y="3170368"/>
            <a:ext cx="3323515" cy="1376531"/>
          </a:xfrm>
          <a:prstGeom prst="rect">
            <a:avLst/>
          </a:prstGeom>
          <a:solidFill>
            <a:srgbClr val="F2F4F5"/>
          </a:solidFill>
          <a:ln w="15240">
            <a:solidFill>
              <a:srgbClr val="626B73"/>
            </a:solidFill>
            <a:prstDash val="solid"/>
          </a:ln>
        </p:spPr>
      </p:sp>
      <p:sp>
        <p:nvSpPr>
          <p:cNvPr id="28" name="Text 26"/>
          <p:cNvSpPr txBox="1"/>
          <p:nvPr/>
        </p:nvSpPr>
        <p:spPr>
          <a:xfrm>
            <a:off x="805523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Check evidence and cost</a:t>
            </a:r>
            <a:endParaRPr lang="en-US" sz="1758" dirty="0"/>
          </a:p>
        </p:txBody>
      </p:sp>
      <p:sp>
        <p:nvSpPr>
          <p:cNvPr id="29" name="Text 27"/>
          <p:cNvSpPr txBox="1"/>
          <p:nvPr/>
        </p:nvSpPr>
        <p:spPr>
          <a:xfrm>
            <a:off x="805523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Inspect loss and samples; caching</a:t>
            </a:r>
            <a:endParaRPr lang="en-US" sz="1523" dirty="0"/>
          </a:p>
        </p:txBody>
      </p:sp>
      <p:sp>
        <p:nvSpPr>
          <p:cNvPr id="30" name="Text 28"/>
          <p:cNvSpPr txBox="1"/>
          <p:nvPr/>
        </p:nvSpPr>
        <p:spPr>
          <a:xfrm>
            <a:off x="805523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saves work; routing is not</a:t>
            </a:r>
            <a:endParaRPr lang="en-US" sz="1523" dirty="0"/>
          </a:p>
        </p:txBody>
      </p:sp>
      <p:sp>
        <p:nvSpPr>
          <p:cNvPr id="31" name="Text 29"/>
          <p:cNvSpPr txBox="1"/>
          <p:nvPr/>
        </p:nvSpPr>
        <p:spPr>
          <a:xfrm>
            <a:off x="805523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explanation.</a:t>
            </a:r>
            <a:endParaRPr lang="en-US" sz="1523" dirty="0"/>
          </a:p>
        </p:txBody>
      </p:sp>
      <p:sp>
        <p:nvSpPr>
          <p:cNvPr id="32" name="Text 30"/>
          <p:cNvSpPr txBox="1"/>
          <p:nvPr/>
        </p:nvSpPr>
        <p:spPr>
          <a:xfrm>
            <a:off x="946879" y="4680832"/>
            <a:ext cx="10297937" cy="260425"/>
          </a:xfrm>
          <a:prstGeom prst="rect">
            <a:avLst/>
          </a:prstGeom>
          <a:noFill/>
          <a:ln/>
        </p:spPr>
        <p:txBody>
          <a:bodyPr wrap="square" lIns="0" tIns="0" rIns="0" bIns="0" rtlCol="0" anchor="ctr"/>
          <a:lstStyle/>
          <a:p>
            <a:pPr algn="l" indent="0" marL="0">
              <a:lnSpc>
                <a:spcPct val="116000"/>
              </a:lnSpc>
              <a:buNone/>
            </a:pPr>
            <a:r>
              <a:rPr lang="en-US" sz="1523" b="1" dirty="0">
                <a:solidFill>
                  <a:srgbClr val="1E1B4B"/>
                </a:solidFill>
                <a:latin typeface="Arial" pitchFamily="34" charset="0"/>
                <a:ea typeface="Arial" pitchFamily="34" charset="-122"/>
                <a:cs typeface="Arial" pitchFamily="34" charset="-120"/>
              </a:rPr>
              <a:t>Example to explain aloud</a:t>
            </a:r>
            <a:endParaRPr lang="en-US" sz="1523" dirty="0"/>
          </a:p>
        </p:txBody>
      </p:sp>
      <p:sp>
        <p:nvSpPr>
          <p:cNvPr id="33" name="Text 31"/>
          <p:cNvSpPr txBox="1"/>
          <p:nvPr/>
        </p:nvSpPr>
        <p:spPr>
          <a:xfrm>
            <a:off x="946879" y="4993341"/>
            <a:ext cx="10297937" cy="468764"/>
          </a:xfrm>
          <a:prstGeom prst="rect">
            <a:avLst/>
          </a:prstGeom>
          <a:noFill/>
          <a:ln/>
        </p:spPr>
        <p:txBody>
          <a:bodyPr wrap="square" lIns="0" tIns="0" rIns="0" bIns="0" rtlCol="0" anchor="ctr"/>
          <a:lstStyle/>
          <a:p>
            <a:pPr algn="l" indent="0" marL="0">
              <a:lnSpc>
                <a:spcPct val="116000"/>
              </a:lnSpc>
              <a:buNone/>
            </a:pPr>
            <a:r>
              <a:rPr lang="en-US" sz="1582" dirty="0">
                <a:solidFill>
                  <a:srgbClr val="1F2937"/>
                </a:solidFill>
                <a:latin typeface="Arial" pitchFamily="34" charset="0"/>
                <a:ea typeface="Arial" pitchFamily="34" charset="-122"/>
                <a:cs typeface="Arial" pitchFamily="34" charset="-120"/>
              </a:rPr>
              <a:t>cat → ats targets; attention weights [0.401, 0.198, 0.401] mix V to give [0.602, 0.398].</a:t>
            </a:r>
            <a:endParaRPr lang="en-US" sz="1582" dirty="0"/>
          </a:p>
        </p:txBody>
      </p:sp>
      <p:sp>
        <p:nvSpPr>
          <p:cNvPr id="34" name="Text 32"/>
          <p:cNvSpPr txBox="1"/>
          <p:nvPr/>
        </p:nvSpPr>
        <p:spPr>
          <a:xfrm>
            <a:off x="946879" y="5529072"/>
            <a:ext cx="10297937" cy="461324"/>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Next: in Week 6 we see how large language models learn, decode and differ.</a:t>
            </a:r>
            <a:endParaRPr lang="en-US" sz="1523" dirty="0"/>
          </a:p>
        </p:txBody>
      </p:sp>
      <p:sp>
        <p:nvSpPr>
          <p:cNvPr id="35" name="Text 33"/>
          <p:cNvSpPr txBox="1"/>
          <p:nvPr/>
        </p:nvSpPr>
        <p:spPr>
          <a:xfrm>
            <a:off x="548640" y="6044184"/>
            <a:ext cx="11094415" cy="338328"/>
          </a:xfrm>
          <a:prstGeom prst="rect">
            <a:avLst/>
          </a:prstGeom>
          <a:noFill/>
          <a:ln/>
        </p:spPr>
        <p:txBody>
          <a:bodyPr wrap="square" lIns="0" tIns="0" rIns="0" bIns="0" rtlCol="0" anchor="t"/>
          <a:lstStyle/>
          <a:p>
            <a:pPr indent="0" marL="0">
              <a:buNone/>
            </a:pPr>
            <a:r>
              <a:rPr lang="en-US" sz="1600" dirty="0">
                <a:solidFill>
                  <a:srgbClr val="1E1B4B"/>
                </a:solidFill>
                <a:latin typeface="Calibri" pitchFamily="34" charset="0"/>
                <a:ea typeface="Calibri" pitchFamily="34" charset="-122"/>
                <a:cs typeface="Calibri" pitchFamily="34" charset="-120"/>
              </a:rPr>
              <a:t>Exit question: What changes during training, and what changes during generation?</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5: Transformers &amp; Attention</dc:title>
  <dc:subject>Generative AI (MSc in Artificial Intelligence)</dc:subject>
  <dc:creator>Generative AI module team</dc:creator>
  <cp:lastModifiedBy>Generative AI module team</cp:lastModifiedBy>
  <cp:revision>1</cp:revision>
  <dcterms:created xsi:type="dcterms:W3CDTF">2026-10-10T07:30:54Z</dcterms:created>
  <dcterms:modified xsi:type="dcterms:W3CDTF">2026-10-10T07:30:54Z</dcterms:modified>
</cp:coreProperties>
</file>