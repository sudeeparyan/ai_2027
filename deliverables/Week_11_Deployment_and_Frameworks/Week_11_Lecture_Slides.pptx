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11, deployment and frameworks. So far we have used models inside notebooks. This week we turn a model into something other people can use: an application with an interface and an API, running somewhere sensible, at an acceptable cost and speed, with guardrails and monitoring. Every number on the "real" slides was measured by running this week's lab in advance, on a small open model, so students can reproduce them on Colab.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11: frameworks; API platforms; deployment options; building applications and interfaces; deploying and monitoring with standard tools; and comparison. The final outcome is the one examiners and employers care about: justifying a deployment decision with evidence about latency, cost and quality rather than habit. This week practises MIMLO 5, deploying generative AI with contemporary frameworks, together with MIMLO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two and three contain real measurements from the lab: streaming latency, quantisation and batching. Take the break after section three. Sections four and five show the code students will write in the lab and how to monitor and protect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Token: A unit of text processed or generated by a language model. Ask: Are character count and token count always the same? Function: A named piece of code taking inputs and returning an output. Ask: What are the inputs and output of a chat response function? JSON: A structured text format for exchanging named fields and values. Ask: In {"max_tokens":64}, which part is the field name?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Collect answers under the four headings on the slide; together they are the agenda for today. Students often mention speed first. Push them on cost: a public link to a paid API with no limits can produce a large bill overnight. Push them on keys: API keys pasted into notebooks or GitHub are routinely stolen by automated scanners. And on operations: without logs you do not know that the app is failing until users complain.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maps the tool landscape into layers, compares the main frameworks named in the descriptor, introduces the OpenAI-compatible API pattern that connects them, and discusses when an orchestration framework helps and when plain code is better. Ask students which of these tools they have already used: most know a chat assistant, few have called an API directly.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turns a model into a system that accepts requests and returns usable answers. In this lab, Gradio calls the Python respond function directly. The separate FastAPI exercise offers another route to the same model; the Gradio interface does not call that API. respond first applies an input check to the current message. Allowed requests combine a system instruction, recent history and cleaned text, then generate returns answer text and token counts. A basic output check runs before the answer is returned. Blocked requests skip generation and receive a refusal. Both paths write latency, model identity, token counts and the blocking reason to a JSON-lines log. Monitoring summarises those records into percentiles and counts. These simple pattern checks illustrate the flow; they do not guarantee that every injection or personal-data format will be detected.
Worked example:
A student types a question in the Gradio interface.
respond checks the current message before calling the local model.
An allowed message reaches generate; a blocked request skips model generation.
The output is checked and a metadata-only JSON log line is written.
Monitoring aggregates allowed-request latency and all-request block counts.
Check: Does a blocked request consume model-generation tokens in respond?
Answer: No. It skips generate and logs zero prompt and completion token counts for that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layers. At the bottom is hardware: cloud GPUs and TPUs, servers, laptops and phones with neural processing units. Models are proprietary, reached only through APIs, or open-weight, downloaded from the Hugging Face Hub. The access and serving layer is how you run a model: cloud APIs, self-hosted serving engines such as vLLM, or local runners such as Ollama. Orchestration frameworks compose prompts, tools, retrieval and agents. At the top are applications and interfaces. Running alongside every layer is LLMOps: logging, tracing, evaluation, guardrails and versioning.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table by layer. Hugging Face is the hub for open models and also offers hosted inference through partner providers. OpenAI's API and Microsoft's Azure OpenAI serve GPT models; Azure adds enterprise features such as private networking, regional data residency and compliance certifications, which matter to universities and companies. Google's Gemini API has a free tier through AI Studio, and Vertex AI is its enterprise route. vLLM is the most widely used open-source serving engine for GPUs. Ollama makes local models easy. LangChain, LangGraph and LlamaIndex are orchestration frameworks, used heavily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fact that simplifies everything: most providers and serving tools accept the OpenAI chat-completions format. Gemini offers an OpenAI-compatible endpoint, Hugging Face's router does, vLLM and Ollama do, and in the lab students build their own with FastAPI. The same client code therefore works everywhere; only the base URL, the key and the model name change. This reduces lock-in and makes comparisons easy: you can evaluate a cloud model and a local model with identical code. Provider-specific features, such as Gemini's native SDK features, still need their own SDKs.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they must use LangChain. Frameworks are useful when you need their connectors to data sources, retrievers, state management for multi-step agents, or tracing integrations, and LangGraph in particular is designed for controllable agent workflows. But they add abstraction layers, and their APIs change quickly, which makes debugging harder. Guides from Anthropic and OpenAI on building agents recommend starting with direct API calls and simple code, and adding frameworks only when they solve a real problem. In the lab, students write the plain version first, then see LangChain drive the same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Because vLLM exposes an OpenAI-compatible API, the application code stays the same; only the base URL, key and model name change. You must then re-evaluate quality, because the open model will behave differently, and plan capacity for the GPUs. A is unnecessary work. C does not satisfy a requirement that data never leaves. D changes nothing about where data goes. Note that enterprise cloud offerings with regional data residency, such as Azure OpenAI in an EU region, may satisfy some policies, but that is a legal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what every developer must know about API platforms: authentication and key management, how tokens determine cost, rate limits and error handling, and streaming. We look at real latency measurements and a cost calculation. The same skills apply to OpenAI, Azure, Google and Hugging Face. About twenty-two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concepts cover most API platforms. Authentication uses API keys, or for enterprise clouds, identities such as Microsoft Entra ID, which avoid long-lived secrets. Pricing is per million tokens, with output tokens usually several times more expensive than input, so long answers cost more than long prompts. Rate limits cap requests and tokens per minute. Streaming sends tokens as they are generated. Batch APIs process large offline jobs asynchronously at a discount, and prompt caching discounts repeated prefixes such as long system prompts. Structured outputs and tool calling were covered in week 7 and return in week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security is a practical skill every student needs. Keys committed to public repositories are found by automated scanners very quickly and used to run up bills. Store keys in Colab Secrets, environment variables or a cloud secrets manager. Never embed a key in front-end code, because anyone can read it in the browser; the front end must call your own back end, which holds the key. Use separate keys per project with spending limits and alerts. If a key leaks, revoke it first and investigate afterwards. The lab reads keys only from Colab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latency into parts. Network and authentication add tens of milliseconds. Under load, requests wait in a queue. Prefill processes the whole prompt in parallel, so it grows with prompt length, which matters for RAG with long contexts. Then decoding generates one token at a time, which is why output length dominates total time. Time to first token is network plus queue plus prefill; total latency is roughly time to first token plus the number of output tokens divided by the decoding speed. Streaming shows the first words early, which greatly improves perceived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lab's measurement for Qwen2.5-0.5B-Instruct. The dark part of each bar is time to first token, the light part the rest of the answer. The numbers are quoted in the bullet. Time to first token is a small fraction of the total, which is why streaming is standard in chat interfaces. On a CPU the same model is several times slower. Hosted frontier models run on far larger hardware, but they are also much larger, so the same pattern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arithmetic. Five hundred students times twenty requests a day times thirty days is three hundred thousand requests. Each has eight hundred input and three hundred output tokens. For the small model, that is three hundred thousand times eight hundred tokens at ten cents per million, plus three hundred thousand times three hundred tokens at forty cents per million: twenty-four plus thirty-six, sixty dollars. The same formula gives three hundred and thirteen hundred and eighty dollars for the larger models. A GPU running all month costs about four hundred and thirty dollars before staff time. The prices are illustrative; the method is what students must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patterns every application needs. Streaming: set stream to true and print each chunk's delta as it arrives. Retries: when the provider returns HTTP 429, too many requests, wait and retry, doubling the wait each time and adding random jitter so that many clients do not retry at the same moment. Always set a maximum number of output tokens, which caps both cost and latency, and a timeout. The official SDKs have built-in retries for some errors, but you should understand and configure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compares the three deployment options, then covers the three main efficiency techniques named in the descriptor: quantisation, batching and caching, with real measurements. The key message: cost and speed are design choices that can be measured, and every efficiency gain must be checked against quality. About twenty-five minutes; take the break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universally best option. Cloud APIs give the strongest models with no infrastructure and pay-per-use pricing, but data leaves your network, and providers change prices and retire models. Self-hosting on GPUs keeps data in-house and becomes cheaper per token at high, steady volume, and lets you serve your own fine-tuned models, but you must operate it. Local models are private and free to run but limited to small quantised models. Many real systems are hybrids: a small local or self-hosted model for routine requests, a cloud model for hard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Quantisation stores weights with fewer bits. Memory is roughly the number of parameters times bits divided by eight: a seven-billion-parameter model needs fourteen gigabytes in sixteen-bit, seven in eight-bit and under four in four-bit, which is the difference between needing a data-centre GPU and running on a laptop. The absmax method scales each group of weights so the largest maps to the largest integer, rounds, and stores the integers plus one scale per group. Smaller groups keep more precision. Formats such as GPTQ, AWQ and GGUF, used by vLLM and Ollama, refine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quantises every linear layer of the model and measures perplexity on a paragraph of text. The measured values are in the bullet. The typical pattern: eight-bit is almost lossless; naive four-bit with one scale per row damages quality badly; four-bit with small groups recovers most of it at almost the same size. This is exactly why practical four-bit formats use groups. The perplexity check on one paragraph is only a quick sanity test; before deployment, rerun your task evaluation from weeks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Generating for one request at a time leaves most of a GPU idle, because decoding is limited by memory bandwidth, not arithmetic. Processing several requests together reuses each weight read for many sequences. The lab measures throughput for batch sizes one to eight; the numbers are in the bullet. Production engines go further with continuous batching, adding and removing requests at every step rather than waiting for a whole batch to finish. The trade-off: larger batches increase throughput but can increase each user's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vLLM's key idea, PagedAttention, manages the key-value cache in fixed-size pages, like an operating system's virtual memory, which reduces wasted memory and allows larger batches. Prefix caching reuses the KV cache for shared prompt beginnings, such as a long system prompt, and API providers pass on the saving as discounted cached input tokens. Response caching answers repeated questions instantly. Speculative decoding speeds up generation by letting a small model draft tokens that the large model verifies in parallel. Often the largest saving is simply using a smaller, fine-tuned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of thumb help students choose. Half a billion parameters in sixteen-bit is about one gigabyte and runs anywhere. A seven-to-eight-billion-parameter model in four-bit is about four gigabytes and runs on a laptop with Ollama or on a free Colab GPU. A T4 has sixteen gigabytes, enough for about seven billion parameters in sixteen-bit or twenty to thirty billion in four-bit. A seventy-billion-parameter model in sixteen-bit needs about one hundred and forty gigabytes, several data-centre GPUs. Always leave room for the KV cache, which grows with context length and the number of concurrent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With many concurrent users, a naive server processes requests one at a time, so queues grow. A serving engine with continuous batching raises throughput dramatically, and quantisation reduces memory so more requests fit in a batch. Quality must be rechecked after quantising. A changes randomness, not speed. C makes prefill slower. D does not change total time and makes perceived latency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shows how the pieces fit together into an application: an interface for people, an API for other programs, guardrails and logging around the model, and a container for deployment. The code on these slides is what students write in the lab. About fourteen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integrated design. A user interface or other client calls a back-end API, with input checks, model generation, output checks and logs inside that request path. In the lab the routes are separate: Gradio calls respond and generate directly, while the SDK and LangChain call the FastAPI endpoint. That endpoint does not inherit respond's guardrails or logs. The exported app.py is a smaller packaging scaffold without all notebook checks and logging. Students should identify the features that must be connected before deploying the integrated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is an interface through which one program requests work from another. The OpenAI-compatible exercise receives an HTTP request containing JSON fields. FastAPI uses ChatRequest to parse the body, and chat_completions passes its messages to generate. The chat template adds the role markers expected by the model, while the tokenizer converts the formatted text to token IDs. MODEL_LOCK prevents the notebook and server from generating on the shared model simultaneously. The model's output includes the original input prefix plus its continuation. generate slices away that prefix, decodes only new tokens and reports input and output counts. The endpoint packages those results into choices and usage fields. Compatibility concerns this response structure; the lab endpoint remains a small demonstration without the authentication, streaming or complete request controls of a deployed service.
Worked example:
The SDK sends 'Name two uses of FastAPI.' to the local endpoint.
ChatRequest parses messages and max_tokens; the endpoint caps output length.
generate formats messages into tokens and waits for the shared model lock.
Only generated continuation tokens are decoded as the assistant answer.
The response includes choices and a usage block for the SDK to read.
Check: Why are prompt and completion token counts returned separately?
Answer: They describe different work: reading the input and producing the answer. They support usage and cost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turns a Python function into a web API. Pydantic models validate the request body automatically, rejecting malformed requests, and FastAPI generates interactive documentation. By returning the OpenAI response format, including the usage block with token counts, our server works with the OpenAI SDK and LangChain unchanged, as students verify in the lab. In production you would add authentication, request size limits, timeouts and streaming, and run the server behind a process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Gradio builds a web interface from a Python function; ChatInterface provides a complete chat UI in one line. The respond function wraps the model with an input check, logging and an output check. In Colab, share equals true prints a temporary public link, useful for demonstrations but anyone with the link can use it. For longer-lived demos, Hugging Face Spaces hosts Gradio apps, with secrets for API keys. Streamlit is a popular alternative for data-oriented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Docker image packages code, pinned dependencies and the start command, so the application runs identically everywhere, including serverless container platforms such as Google Cloud Run and Azure Container Apps, or Hugging Face Spaces. Pass secrets at run time. Version not only the code but also the model, prompts, decoding settings and retrieval index, because any of them changes behaviour. Treat prompt changes like code changes: run the evaluation set automatically and compare with the current version before release. Roll out gradually and keep a rollback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what to monitor, a real monitoring summary from the lab, layered guardrails, the LLMOps tooling for tracing and evaluation, a comparison of deployment choices, and a responsible deployment checklist. It answers the question every client asks after launch: how do we know it is still working? About twenty-one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for generative AI extends normal web monitoring. Performance uses percentiles because averages hide slow requests: p95 means ninety-five percent of requests are faster. Cost must be tracked per user and per day, with alerts. Reliability includes rate-limit errors and provider outages. Quality needs signals such as user feedback, sampled reviews and regression tests, because model and data drift can silently degrade answers. Safety metrics track guardrail activity. Versions link every answer to the model and prompt that produced it, which is essential for debugging and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sends simulated traffic through the app, including a prompt-injection attempt and messages containing an e-mail address and a phone number. Each bar is one request: blue answered, orange answered after redacting personal data, red blocked. The dashed line marks the ninety-fifth percentile latency. The summary in the bullet is computed from the log file. Point out the design choice: logs store metadata, not message text, following GDPR data minimisation; if you need text for quality review, redact it and limit retention and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work in layers because each layer can be bypassed. Input checks enforce length and rate limits, redact personal data and filter known injection patterns. The model setup limits damage: least-privilege tools mean an injected instruction cannot do much. Output checks run moderation classifiers, validate structured outputs and check for leaked secrets or policy violations. Humans handle sensitive or uncertain cases. Monitoring and red-teaming find new attacks. The lab's regex guardrails are deliberately simple; students discuss how to bypass them in question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is essential once an application has several steps, as RAG and agent systems do next week: a trace shows which retrieval, prompt, tool call or model call caused a bad answer or a slow response. OpenTelemetry is the open standard; Langfuse is an open-source LLM observability platform; LangSmith integrates with LangChain; MLflow tracks experiments and traces; and cloud platforms such as Azure AI Foundry and Vertex AI include monitoring and evaluation dashboards. Guardrail libraries and safety classifiers provide more robust checks than hand-written rules. Mention these as options, not requirements, for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 asks for a comparison, so end with a practical decision table for projects. For the best quality in a quick prototype, use a cloud API on its free tier with a Gradio interface. For private data without a budget, run a local model. To demo your own fine-tuned model, use Hugging Face Spaces or Colab. For many users with steady load, a serving engine on a GPU. For a reproducible hand-in, a Docker image with pinned versions. Remind students to justify their choice in the project report with measured latency, cost and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checklist connects the week to responsible AI. Transparency is now a legal duty in the EU: users must be told they are interacting with an AI system. Data protection requires knowing where prompts go and how long they are kept. Security follows the OWASP Top 10 for LLM applications, which lists prompt injection, sensitive information disclosure and unbounded consumption among the main risks. Oversight and evaluation continue after launch. Finally, cost and energy: smaller, well-chosen models reduce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streaming measurements before introducing serving. measure times the first non-empty decoded text chunk, an approximation of first-token latency because a chunk can contain several tokens. The FastAPI exercise then exposes generation to a client program. monthly_cost uses classroom prices, while retry simulation illustrates delayed retries after rate limiting. The efficiency experiments distinguish different tradeoffs: fake_quantize approximates low-bit weights but restores them as floating-point tensors, so the size table is theoretical; batching measures aggregate throughput; caching reuses an answer for a repeated message list. The Gradio application calls respond directly, adding simple checks and log records. Finally, synthetic traffic produces a monitoring summary. The generated Docker files are a smaller packaging scaffold, so compare their features with the notebook before assuming equivalent application behaviour.
Worked example:
Compare first non-empty text time with full-answer time in lat_df.
Inspect the local API answer and its usage counts.
Compare weight approximation error with perplexity after fake quantisation.
Observe batching throughput separately from single-request latency.
Inspect which simulated requests were blocked or redacted and compare p50 with p95.
Check: Does fake_quantize reduce the actual model tensor storage to four bits in this experiment?
Answer: No. It rounds then dequantises weights into floating-point tensors. The size estimate describes hypothetical packed low-bit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both descriptor tutorials: exploring tools with local and cloud models, and building and deploying a small application with a web interface, measuring latency and cost and adding logging and guardrails. Cloud API keys are optional; everything else runs without accounts. Remind students to stop the public Gradio link at the end of the session and never to paste keys into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be able to draw the architecture of a small application, estimate its cost, explain where latency comes from, choose and justify a deployment option, and list what to monitor. Next week, the final technical week, we connect models to knowledge and tools: retrieval-augmented generation and agents, which use everything from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Microsoft's Generative AI for Beginners has lessons on building and securing applications. The Hugging Face Inference Providers and Gemini compatibility pages show the OpenAI-compatible pattern with free tiers. The vLLM documentation and Ollama cover self-hosted and local serving. Gradio and FastAPI tutorials cover the application layer. The OWASP Top 10 for LLM applications is the standard security reference. The textbook reading is Tunstall and colleagues, chapter 8, on making transformers efficient in production.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github.com/microsoft/generative-ai-for-beginners" TargetMode="External"/><Relationship Id="rId4" Type="http://schemas.openxmlformats.org/officeDocument/2006/relationships/hyperlink" Target="https://huggingface.co/docs/inference-providers/index" TargetMode="External"/><Relationship Id="rId6" Type="http://schemas.openxmlformats.org/officeDocument/2006/relationships/hyperlink" Target="https://ai.google.dev/gemini-api/docs/openai" TargetMode="External"/><Relationship Id="rId8" Type="http://schemas.openxmlformats.org/officeDocument/2006/relationships/hyperlink" Target="https://docs.vllm.ai/en/latest/" TargetMode="External"/><Relationship Id="rId10" Type="http://schemas.openxmlformats.org/officeDocument/2006/relationships/hyperlink" Target="https://ollama.com/" TargetMode="External"/><Relationship Id="rId12" Type="http://schemas.openxmlformats.org/officeDocument/2006/relationships/hyperlink" Target="https://gradio.app/guides/quickstart" TargetMode="External"/><Relationship Id="rId14" Type="http://schemas.openxmlformats.org/officeDocument/2006/relationships/hyperlink" Target="https://fastapi.tiangolo.com/tutorial/" TargetMode="External"/><Relationship Id="rId16" Type="http://schemas.openxmlformats.org/officeDocument/2006/relationships/hyperlink" Target="https://genai.owasp.org/llm-top-10/"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11</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Deployment and Frameworks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From notebook to product: frameworks, API platforms, deployment options, efficient serving, applications, monitoring and guardrails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11\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102565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Map the generative AI </a:t>
            </a:r>
            <a:pPr indent="0" marL="0">
              <a:buNone/>
            </a:pPr>
            <a:r>
              <a:rPr lang="en-US" sz="1800" b="1" dirty="0">
                <a:solidFill>
                  <a:srgbClr val="1F2937"/>
                </a:solidFill>
                <a:latin typeface="Calibri" pitchFamily="34" charset="0"/>
                <a:ea typeface="Calibri" pitchFamily="34" charset="-122"/>
                <a:cs typeface="Calibri" pitchFamily="34" charset="-120"/>
              </a:rPr>
              <a:t>tool stack</a:t>
            </a:r>
            <a:pPr indent="0" marL="0">
              <a:buNone/>
            </a:pPr>
            <a:r>
              <a:rPr lang="en-US" sz="1800" dirty="0">
                <a:solidFill>
                  <a:srgbClr val="1F2937"/>
                </a:solidFill>
                <a:latin typeface="Calibri" pitchFamily="34" charset="0"/>
                <a:ea typeface="Calibri" pitchFamily="34" charset="-122"/>
                <a:cs typeface="Calibri" pitchFamily="34" charset="-120"/>
              </a:rPr>
              <a:t> and compare frameworks: Hugging Face, OpenAI / Azure OpenAI, Gemini API, </a:t>
            </a:r>
            <a:pPr indent="0" marL="0">
              <a:buNone/>
            </a:pPr>
            <a:r>
              <a:rPr lang="en-US" sz="1800" b="1" dirty="0">
                <a:solidFill>
                  <a:srgbClr val="1F2937"/>
                </a:solidFill>
                <a:latin typeface="Calibri" pitchFamily="34" charset="0"/>
                <a:ea typeface="Calibri" pitchFamily="34" charset="-122"/>
                <a:cs typeface="Calibri" pitchFamily="34" charset="-120"/>
              </a:rPr>
              <a:t>vLLM</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Ollama</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LangChain / LangGraph</a:t>
            </a:r>
            <a:pPr indent="0" marL="0">
              <a:buNone/>
            </a:pPr>
            <a:r>
              <a:rPr lang="en-US" sz="1800" dirty="0">
                <a:solidFill>
                  <a:srgbClr val="1F2937"/>
                </a:solidFill>
                <a:latin typeface="Calibri" pitchFamily="34" charset="0"/>
                <a:ea typeface="Calibri" pitchFamily="34" charset="-122"/>
                <a:cs typeface="Calibri" pitchFamily="34" charset="-120"/>
              </a:rPr>
              <a:t>, LlamaIndex.</a:t>
            </a:r>
            <a:endParaRPr lang="en-US" sz="1800" dirty="0"/>
          </a:p>
        </p:txBody>
      </p:sp>
      <p:sp>
        <p:nvSpPr>
          <p:cNvPr id="9" name="Shape 7"/>
          <p:cNvSpPr/>
          <p:nvPr/>
        </p:nvSpPr>
        <p:spPr>
          <a:xfrm>
            <a:off x="548640" y="25709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5709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552700"/>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Use </a:t>
            </a:r>
            <a:pPr indent="0" marL="0">
              <a:buNone/>
            </a:pPr>
            <a:r>
              <a:rPr lang="en-US" sz="1800" b="1" dirty="0">
                <a:solidFill>
                  <a:srgbClr val="1F2937"/>
                </a:solidFill>
                <a:latin typeface="Calibri" pitchFamily="34" charset="0"/>
                <a:ea typeface="Calibri" pitchFamily="34" charset="-122"/>
                <a:cs typeface="Calibri" pitchFamily="34" charset="-120"/>
              </a:rPr>
              <a:t>API platforms</a:t>
            </a:r>
            <a:pPr indent="0" marL="0">
              <a:buNone/>
            </a:pPr>
            <a:r>
              <a:rPr lang="en-US" sz="1800" dirty="0">
                <a:solidFill>
                  <a:srgbClr val="1F2937"/>
                </a:solidFill>
                <a:latin typeface="Calibri" pitchFamily="34" charset="0"/>
                <a:ea typeface="Calibri" pitchFamily="34" charset="-122"/>
                <a:cs typeface="Calibri" pitchFamily="34" charset="-120"/>
              </a:rPr>
              <a:t> safely and efficiently: authentication and key management, tokens and </a:t>
            </a:r>
            <a:pPr indent="0" marL="0">
              <a:buNone/>
            </a:pPr>
            <a:r>
              <a:rPr lang="en-US" sz="1800" b="1" dirty="0">
                <a:solidFill>
                  <a:srgbClr val="1F2937"/>
                </a:solidFill>
                <a:latin typeface="Calibri" pitchFamily="34" charset="0"/>
                <a:ea typeface="Calibri" pitchFamily="34" charset="-122"/>
                <a:cs typeface="Calibri" pitchFamily="34" charset="-120"/>
              </a:rPr>
              <a:t>pricing</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rate limits</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streaming</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48640" y="332232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3223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304032"/>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Compare </a:t>
            </a:r>
            <a:pPr indent="0" marL="0">
              <a:buNone/>
            </a:pPr>
            <a:r>
              <a:rPr lang="en-US" sz="1800" b="1" dirty="0">
                <a:solidFill>
                  <a:srgbClr val="1F2937"/>
                </a:solidFill>
                <a:latin typeface="Calibri" pitchFamily="34" charset="0"/>
                <a:ea typeface="Calibri" pitchFamily="34" charset="-122"/>
                <a:cs typeface="Calibri" pitchFamily="34" charset="-120"/>
              </a:rPr>
              <a:t>cloud APIs, self-hosted and local</a:t>
            </a:r>
            <a:pPr indent="0" marL="0">
              <a:buNone/>
            </a:pPr>
            <a:r>
              <a:rPr lang="en-US" sz="1800" dirty="0">
                <a:solidFill>
                  <a:srgbClr val="1F2937"/>
                </a:solidFill>
                <a:latin typeface="Calibri" pitchFamily="34" charset="0"/>
                <a:ea typeface="Calibri" pitchFamily="34" charset="-122"/>
                <a:cs typeface="Calibri" pitchFamily="34" charset="-120"/>
              </a:rPr>
              <a:t> deployment, and explain </a:t>
            </a:r>
            <a:pPr indent="0" marL="0">
              <a:buNone/>
            </a:pPr>
            <a:r>
              <a:rPr lang="en-US" sz="1800" b="1" dirty="0">
                <a:solidFill>
                  <a:srgbClr val="1F2937"/>
                </a:solidFill>
                <a:latin typeface="Calibri" pitchFamily="34" charset="0"/>
                <a:ea typeface="Calibri" pitchFamily="34" charset="-122"/>
                <a:cs typeface="Calibri" pitchFamily="34" charset="-120"/>
              </a:rPr>
              <a:t>quantisation</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batching</a:t>
            </a:r>
            <a:pPr indent="0" marL="0">
              <a:buNone/>
            </a:pPr>
            <a:r>
              <a:rPr lang="en-US" sz="1800" dirty="0">
                <a:solidFill>
                  <a:srgbClr val="1F2937"/>
                </a:solidFill>
                <a:latin typeface="Calibri" pitchFamily="34" charset="0"/>
                <a:ea typeface="Calibri" pitchFamily="34" charset="-122"/>
                <a:cs typeface="Calibri" pitchFamily="34" charset="-120"/>
              </a:rPr>
              <a:t> and </a:t>
            </a:r>
            <a:pPr indent="0" marL="0">
              <a:buNone/>
            </a:pPr>
            <a:r>
              <a:rPr lang="en-US" sz="1800" b="1" dirty="0">
                <a:solidFill>
                  <a:srgbClr val="1F2937"/>
                </a:solidFill>
                <a:latin typeface="Calibri" pitchFamily="34" charset="0"/>
                <a:ea typeface="Calibri" pitchFamily="34" charset="-122"/>
                <a:cs typeface="Calibri" pitchFamily="34" charset="-120"/>
              </a:rPr>
              <a:t>caching</a:t>
            </a:r>
            <a:pPr indent="0" marL="0">
              <a:buNone/>
            </a:pPr>
            <a:r>
              <a:rPr lang="en-US" sz="1800" dirty="0">
                <a:solidFill>
                  <a:srgbClr val="1F2937"/>
                </a:solidFill>
                <a:latin typeface="Calibri" pitchFamily="34" charset="0"/>
                <a:ea typeface="Calibri" pitchFamily="34" charset="-122"/>
                <a:cs typeface="Calibri" pitchFamily="34" charset="-120"/>
              </a:rPr>
              <a:t> for serving efficiency.</a:t>
            </a:r>
            <a:endParaRPr lang="en-US" sz="1800" dirty="0"/>
          </a:p>
        </p:txBody>
      </p:sp>
      <p:sp>
        <p:nvSpPr>
          <p:cNvPr id="15" name="Shape 13"/>
          <p:cNvSpPr/>
          <p:nvPr/>
        </p:nvSpPr>
        <p:spPr>
          <a:xfrm>
            <a:off x="548640" y="407365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40736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55364"/>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Build a small application with </a:t>
            </a:r>
            <a:pPr indent="0" marL="0">
              <a:buNone/>
            </a:pPr>
            <a:r>
              <a:rPr lang="en-US" sz="1800" b="1" dirty="0">
                <a:solidFill>
                  <a:srgbClr val="1F2937"/>
                </a:solidFill>
                <a:latin typeface="Calibri" pitchFamily="34" charset="0"/>
                <a:ea typeface="Calibri" pitchFamily="34" charset="-122"/>
                <a:cs typeface="Calibri" pitchFamily="34" charset="-120"/>
              </a:rPr>
              <a:t>Gradio</a:t>
            </a:r>
            <a:pPr indent="0" marL="0">
              <a:buNone/>
            </a:pPr>
            <a:r>
              <a:rPr lang="en-US" sz="1800" dirty="0">
                <a:solidFill>
                  <a:srgbClr val="1F2937"/>
                </a:solidFill>
                <a:latin typeface="Calibri" pitchFamily="34" charset="0"/>
                <a:ea typeface="Calibri" pitchFamily="34" charset="-122"/>
                <a:cs typeface="Calibri" pitchFamily="34" charset="-120"/>
              </a:rPr>
              <a:t> and </a:t>
            </a:r>
            <a:pPr indent="0" marL="0">
              <a:buNone/>
            </a:pPr>
            <a:r>
              <a:rPr lang="en-US" sz="1800" b="1" dirty="0">
                <a:solidFill>
                  <a:srgbClr val="1F2937"/>
                </a:solidFill>
                <a:latin typeface="Calibri" pitchFamily="34" charset="0"/>
                <a:ea typeface="Calibri" pitchFamily="34" charset="-122"/>
                <a:cs typeface="Calibri" pitchFamily="34" charset="-120"/>
              </a:rPr>
              <a:t>FastAPI</a:t>
            </a:r>
            <a:pPr indent="0" marL="0">
              <a:buNone/>
            </a:pPr>
            <a:r>
              <a:rPr lang="en-US" sz="1800" dirty="0">
                <a:solidFill>
                  <a:srgbClr val="1F2937"/>
                </a:solidFill>
                <a:latin typeface="Calibri" pitchFamily="34" charset="0"/>
                <a:ea typeface="Calibri" pitchFamily="34" charset="-122"/>
                <a:cs typeface="Calibri" pitchFamily="34" charset="-120"/>
              </a:rPr>
              <a:t>, packaged with </a:t>
            </a:r>
            <a:pPr indent="0" marL="0">
              <a:buNone/>
            </a:pPr>
            <a:r>
              <a:rPr lang="en-US" sz="1800" b="1" dirty="0">
                <a:solidFill>
                  <a:srgbClr val="1F2937"/>
                </a:solidFill>
                <a:latin typeface="Calibri" pitchFamily="34" charset="0"/>
                <a:ea typeface="Calibri" pitchFamily="34" charset="-122"/>
                <a:cs typeface="Calibri" pitchFamily="34" charset="-120"/>
              </a:rPr>
              <a:t>Docker</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548640" y="482498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249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806696"/>
            <a:ext cx="6903720" cy="751332"/>
          </a:xfrm>
          <a:prstGeom prst="rect">
            <a:avLst/>
          </a:prstGeom>
          <a:noFill/>
          <a:ln/>
        </p:spPr>
        <p:txBody>
          <a:bodyPr wrap="square" lIns="50800" tIns="50800" rIns="50800" bIns="50800" rtlCol="0" anchor="t"/>
          <a:lstStyle/>
          <a:p>
            <a:pPr indent="0" marL="0">
              <a:buNone/>
            </a:pPr>
            <a:r>
              <a:rPr lang="en-US" sz="1800" b="1" dirty="0">
                <a:solidFill>
                  <a:srgbClr val="1F2937"/>
                </a:solidFill>
                <a:latin typeface="Calibri" pitchFamily="34" charset="0"/>
                <a:ea typeface="Calibri" pitchFamily="34" charset="-122"/>
                <a:cs typeface="Calibri" pitchFamily="34" charset="-120"/>
              </a:rPr>
              <a:t>Deploy and monitor</a:t>
            </a:r>
            <a:pPr indent="0" marL="0">
              <a:buNone/>
            </a:pPr>
            <a:r>
              <a:rPr lang="en-US" sz="1800" dirty="0">
                <a:solidFill>
                  <a:srgbClr val="1F2937"/>
                </a:solidFill>
                <a:latin typeface="Calibri" pitchFamily="34" charset="0"/>
                <a:ea typeface="Calibri" pitchFamily="34" charset="-122"/>
                <a:cs typeface="Calibri" pitchFamily="34" charset="-120"/>
              </a:rPr>
              <a:t> a generative AI system: logging, tracing, latency and cost monitoring, </a:t>
            </a:r>
            <a:pPr indent="0" marL="0">
              <a:buNone/>
            </a:pPr>
            <a:r>
              <a:rPr lang="en-US" sz="1800" b="1" dirty="0">
                <a:solidFill>
                  <a:srgbClr val="1F2937"/>
                </a:solidFill>
                <a:latin typeface="Calibri" pitchFamily="34" charset="0"/>
                <a:ea typeface="Calibri" pitchFamily="34" charset="-122"/>
                <a:cs typeface="Calibri" pitchFamily="34" charset="-120"/>
              </a:rPr>
              <a:t>guardrails</a:t>
            </a:r>
            <a:pPr indent="0" marL="0">
              <a:buNone/>
            </a:pPr>
            <a:r>
              <a:rPr lang="en-US" sz="1800" dirty="0">
                <a:solidFill>
                  <a:srgbClr val="1F2937"/>
                </a:solidFill>
                <a:latin typeface="Calibri" pitchFamily="34" charset="0"/>
                <a:ea typeface="Calibri" pitchFamily="34" charset="-122"/>
                <a:cs typeface="Calibri" pitchFamily="34" charset="-120"/>
              </a:rPr>
              <a:t>, versioning.</a:t>
            </a:r>
            <a:endParaRPr lang="en-US" sz="1800" dirty="0"/>
          </a:p>
        </p:txBody>
      </p:sp>
      <p:sp>
        <p:nvSpPr>
          <p:cNvPr id="21" name="Shape 19"/>
          <p:cNvSpPr/>
          <p:nvPr/>
        </p:nvSpPr>
        <p:spPr>
          <a:xfrm>
            <a:off x="548640" y="557631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7631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58028"/>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Justify a deployment choice with measured latency, cost and quality evidence.</a:t>
            </a:r>
            <a:endParaRPr lang="en-US" sz="18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5</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from notebook to 500 users</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Frameworks and the tool stack</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API platforms: keys, tokens, pricing, limits, streaming</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Deployment options and efficient serving</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Building applications: Gradio, FastAPI, Docker</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14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Monitoring, guardrails and comparison</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21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6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480312"/>
                <a:gridCol w="9614103"/>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Token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unit of text processed or generated by a language model.</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named piece of code taking inputs and returning an output.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JSON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structured text format for exchanging named fields and values.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Your notebook chatbot works well for you. Tomorrow 500 students will use it. What could go wrong?</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Speed: many requests at once, long answers, slow first token.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Cost: who pays for the tokens or the GPU? Is there a budget cap?</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Safety and privacy: prompt injection, personal data, harmful answers, leaked API keys.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Operations: crashes, model updates, knowing when something breaks.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Frameworks and the tool stack</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Which tools exist, and which do you need?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monitored chat application</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the actual Gradio path through the lab's respond function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User message</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chat interface sends text and recent conversation history</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demo</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message + history</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Input check</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Block selected requests or redact matching personal-data patterns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check_input</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allowed cleaned message</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Build messages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Combine system instruction, recent history and cleaned message</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respond</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chat messages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Generate answer</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local model returns answer text and token counts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generate</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answer + token counts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Check output</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Apply a simple check to generated answer text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check_output</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checked answer + metadata</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Log + return</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Record metadata before returning the answer; monitor recorded requests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respond, LOG_PATH, summary</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Does a blocked request consume model-generation tokens in respond?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generative AI stack</a:t>
            </a:r>
            <a:endParaRPr lang="en-US" sz="3200" dirty="0"/>
          </a:p>
        </p:txBody>
      </p:sp>
      <p:pic>
        <p:nvPicPr>
          <p:cNvPr id="6" name="Image 0" descr="C:\Users\sudee\Downloads\Generative_AI_2027_Teaching_Pack\AI2027_Project\build\figures\week_11\stack.png">    </p:cNvPr>
          <p:cNvPicPr>
            <a:picLocks noChangeAspect="1"/>
          </p:cNvPicPr>
          <p:nvPr/>
        </p:nvPicPr>
        <p:blipFill>
          <a:blip r:embed="rId1"/>
          <a:stretch>
            <a:fillRect/>
          </a:stretch>
        </p:blipFill>
        <p:spPr>
          <a:xfrm>
            <a:off x="548640" y="1676461"/>
            <a:ext cx="11094415" cy="443776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Frameworks and platforms at a glance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215154"/>
                <a:gridCol w="2077720"/>
                <a:gridCol w="480154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Tool</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Use it for</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Hugging Face (Hub, Transformers, Inference Providers)</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Models, serving</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Open models, datasets; run locally or via hosted providers</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OpenAI / Azure OpenAI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Cloud API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GPT models; Azure adds enterprise security, regions, compliance</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Google Gemini API / Vertex AI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Cloud API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Gemini models; free tier in AI Studio; long context, multimodal</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vLLM (also SGLang, TGI)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Self-hosted serving</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High-throughput GPU serving with an OpenAI-compatible API</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Ollama (also llama.cpp, LM Studio)</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Local</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Quantised open models on a laptop; offline and private</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LangChain / LangGraph</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Orchestration</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Chains, tool use and stateful agent graphs (week 12)</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LlamaIndex</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Orchestration</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Data connectors, indexing and retrieval for RAG (week 12)</a:t>
                      </a:r>
                      <a:endParaRPr lang="en-US" sz="15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client, many back ends: the OpenAI-compatible API</a:t>
            </a:r>
            <a:endParaRPr lang="en-US" sz="3200" dirty="0"/>
          </a:p>
        </p:txBody>
      </p:sp>
      <p:pic>
        <p:nvPicPr>
          <p:cNvPr id="6" name="Image 0" descr="C:\Users\sudee\Downloads\Generative_AI_2027_Teaching_Pack\AI2027_Project\build\figures\week_11\openai_compat.png">    </p:cNvPr>
          <p:cNvPicPr>
            <a:picLocks noChangeAspect="1"/>
          </p:cNvPicPr>
          <p:nvPr/>
        </p:nvPicPr>
        <p:blipFill>
          <a:blip r:embed="rId1"/>
          <a:stretch>
            <a:fillRect/>
          </a:stretch>
        </p:blipFill>
        <p:spPr>
          <a:xfrm>
            <a:off x="548640" y="1993444"/>
            <a:ext cx="11094415" cy="380379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Plain SDK or orchestration framework?</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Plain SDK + your own code</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Few moving parts; easy to debug and test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Full control over prompts and retries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Best for simple apps, classification, extraction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Anthropic and OpenAI guides recommend starting simple</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Framework (LangChain, LangGraph, LlamaIndex)</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Ready-made connectors, retrievers, memory, tools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Stateful graphs, retries, human-in-the-loop for agents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Tracing integrations (e.g. LangSmith)</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Extra abstraction; APIs change quickly</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Start with the SDK; adopt a framework when you need its connectors, state management or tracing.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000" b="1" dirty="0">
                <a:solidFill>
                  <a:srgbClr val="1E1B4B"/>
                </a:solidFill>
                <a:latin typeface="Calibri" pitchFamily="34" charset="0"/>
                <a:ea typeface="Calibri" pitchFamily="34" charset="-122"/>
                <a:cs typeface="Calibri" pitchFamily="34" charset="-120"/>
              </a:rPr>
              <a:t>Your team built a prototype with a cloud API. Legal now requires that student data never leaves the university's servers. What is the least disruptive change?</a:t>
            </a:r>
            <a:endParaRPr lang="en-US" sz="20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Rewrite the application with a different framework</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Serve an open-weight model on university GPUs with vLLM's OpenAI-compatible server and change the base URL</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Ask the cloud provider to delete the data afterwards</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Switch to a larger cloud model</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API platforms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Keys, tokens, pricing, rate limits and streaming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an API platform gives you, and what it expects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Authentication</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API keys or cloud identities (e.g. Microsoft Entra ID for Azure); one key per app and environment.</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Tokens and pricing</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Billed per million input and output tokens; output usually costs more; images and audio are tokens too.</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Rate limits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Requests and tokens per minute; HTTP 429 when exceeded; tiers rise with usage and spend.</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Streaming</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Tokens sent as they are generated (server-sent events): lower perceived latency.</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Batch and caching</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Batch APIs for offline jobs at a discount; prompt caching discounts repeated prefixes.</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Structured output and tools</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JSON schemas and function calling (weeks 7 and 12).</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Keeping API keys safe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Never</a:t>
            </a:r>
            <a:pPr indent="0" marL="0">
              <a:buNone/>
            </a:pPr>
            <a:r>
              <a:rPr lang="en-US" sz="2200" dirty="0">
                <a:solidFill>
                  <a:srgbClr val="1F2937"/>
                </a:solidFill>
                <a:latin typeface="Calibri" pitchFamily="34" charset="0"/>
                <a:ea typeface="Calibri" pitchFamily="34" charset="-122"/>
                <a:cs typeface="Calibri" pitchFamily="34" charset="-120"/>
              </a:rPr>
              <a:t> put keys in notebooks, code or Git: automated scanners find leaked keys within minutes.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a:t>
            </a:r>
            <a:pPr indent="0" marL="0">
              <a:buNone/>
            </a:pPr>
            <a:r>
              <a:rPr lang="en-US" sz="2200" b="1" dirty="0">
                <a:solidFill>
                  <a:srgbClr val="1F2937"/>
                </a:solidFill>
                <a:latin typeface="Calibri" pitchFamily="34" charset="0"/>
                <a:ea typeface="Calibri" pitchFamily="34" charset="-122"/>
                <a:cs typeface="Calibri" pitchFamily="34" charset="-120"/>
              </a:rPr>
              <a:t>Colab Secrets</a:t>
            </a:r>
            <a:pPr indent="0" marL="0">
              <a:buNone/>
            </a:pPr>
            <a:r>
              <a:rPr lang="en-US" sz="2200" dirty="0">
                <a:solidFill>
                  <a:srgbClr val="1F2937"/>
                </a:solidFill>
                <a:latin typeface="Calibri" pitchFamily="34" charset="0"/>
                <a:ea typeface="Calibri" pitchFamily="34" charset="-122"/>
                <a:cs typeface="Calibri" pitchFamily="34" charset="-120"/>
              </a:rPr>
              <a:t>, environment variables or a secrets manager (Azure Key Vault, Google Secret Manager).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Keys stay on the </a:t>
            </a:r>
            <a:pPr indent="0" marL="0">
              <a:buNone/>
            </a:pPr>
            <a:r>
              <a:rPr lang="en-US" sz="2200" b="1" dirty="0">
                <a:solidFill>
                  <a:srgbClr val="1F2937"/>
                </a:solidFill>
                <a:latin typeface="Calibri" pitchFamily="34" charset="0"/>
                <a:ea typeface="Calibri" pitchFamily="34" charset="-122"/>
                <a:cs typeface="Calibri" pitchFamily="34" charset="-120"/>
              </a:rPr>
              <a:t>server</a:t>
            </a:r>
            <a:pPr indent="0" marL="0">
              <a:buNone/>
            </a:pPr>
            <a:r>
              <a:rPr lang="en-US" sz="2200" dirty="0">
                <a:solidFill>
                  <a:srgbClr val="1F2937"/>
                </a:solidFill>
                <a:latin typeface="Calibri" pitchFamily="34" charset="0"/>
                <a:ea typeface="Calibri" pitchFamily="34" charset="-122"/>
                <a:cs typeface="Calibri" pitchFamily="34" charset="-120"/>
              </a:rPr>
              <a:t>: a browser or mobile app must call your back end, never the provider directly.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Least privilege: separate keys per project, spending limits and alerts, rotate regularly.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If a key leaks: </a:t>
            </a:r>
            <a:pPr indent="0" marL="0">
              <a:buNone/>
            </a:pPr>
            <a:r>
              <a:rPr lang="en-US" sz="2200" b="1" dirty="0">
                <a:solidFill>
                  <a:srgbClr val="1F2937"/>
                </a:solidFill>
                <a:latin typeface="Calibri" pitchFamily="34" charset="0"/>
                <a:ea typeface="Calibri" pitchFamily="34" charset="-122"/>
                <a:cs typeface="Calibri" pitchFamily="34" charset="-120"/>
              </a:rPr>
              <a:t>revoke it immediately</a:t>
            </a:r>
            <a:pPr indent="0" marL="0">
              <a:buNone/>
            </a:pPr>
            <a:r>
              <a:rPr lang="en-US" sz="2200" dirty="0">
                <a:solidFill>
                  <a:srgbClr val="1F2937"/>
                </a:solidFill>
                <a:latin typeface="Calibri" pitchFamily="34" charset="0"/>
                <a:ea typeface="Calibri" pitchFamily="34" charset="-122"/>
                <a:cs typeface="Calibri" pitchFamily="34" charset="-120"/>
              </a:rPr>
              <a:t>, then check usage and billing.</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Anatomy of a request: where the time goes</a:t>
            </a:r>
            <a:endParaRPr lang="en-US" sz="3200" dirty="0"/>
          </a:p>
        </p:txBody>
      </p:sp>
      <p:pic>
        <p:nvPicPr>
          <p:cNvPr id="6" name="Image 0" descr="C:\Users\sudee\Downloads\Generative_AI_2027_Teaching_Pack\AI2027_Project\build\figures\week_11\request_anatomy.png">    </p:cNvPr>
          <p:cNvPicPr>
            <a:picLocks noChangeAspect="1"/>
          </p:cNvPicPr>
          <p:nvPr/>
        </p:nvPicPr>
        <p:blipFill>
          <a:blip r:embed="rId1"/>
          <a:stretch>
            <a:fillRect/>
          </a:stretch>
        </p:blipFill>
        <p:spPr>
          <a:xfrm>
            <a:off x="548640" y="1578392"/>
            <a:ext cx="11094415" cy="3282878"/>
          </a:xfrm>
          <a:prstGeom prst="rect">
            <a:avLst/>
          </a:prstGeom>
        </p:spPr>
      </p:pic>
      <p:sp>
        <p:nvSpPr>
          <p:cNvPr id="7" name="Text 4"/>
          <p:cNvSpPr txBox="1"/>
          <p:nvPr/>
        </p:nvSpPr>
        <p:spPr>
          <a:xfrm>
            <a:off x="548640" y="5044150"/>
            <a:ext cx="11094415" cy="1265210"/>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TTFT</a:t>
            </a:r>
            <a:pPr indent="0" marL="0">
              <a:buNone/>
            </a:pPr>
            <a:r>
              <a:rPr lang="en-US" sz="2000" dirty="0">
                <a:solidFill>
                  <a:srgbClr val="1F2937"/>
                </a:solidFill>
                <a:latin typeface="Calibri" pitchFamily="34" charset="0"/>
                <a:ea typeface="Calibri" pitchFamily="34" charset="-122"/>
                <a:cs typeface="Calibri" pitchFamily="34" charset="-120"/>
              </a:rPr>
              <a:t> (time to first token) is what users feel; streaming makes the wait visible and shorter-seeming.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Decoding is sequential: long answers cost time as well as money.</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streaming latency of a small open model</a:t>
            </a:r>
            <a:endParaRPr lang="en-US" sz="3200" dirty="0"/>
          </a:p>
        </p:txBody>
      </p:sp>
      <p:pic>
        <p:nvPicPr>
          <p:cNvPr id="6" name="Image 0" descr="C:\Users\sudee\Downloads\Generative_AI_2027_Teaching_Pack\AI2027_Project\build\figures\week_11\lab_latency.png">    </p:cNvPr>
          <p:cNvPicPr>
            <a:picLocks noChangeAspect="1"/>
          </p:cNvPicPr>
          <p:nvPr/>
        </p:nvPicPr>
        <p:blipFill>
          <a:blip r:embed="rId1"/>
          <a:stretch>
            <a:fillRect/>
          </a:stretch>
        </p:blipFill>
        <p:spPr>
          <a:xfrm>
            <a:off x="1310421" y="1481328"/>
            <a:ext cx="9570853"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Qwen2.5-0.5B-Instruct on an NVIDIA GTX 1650 laptop GPU: TTFT 0.24–0.28 s, full answers 3.6–9.3 s at 14 tokens/s.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Users see text after the first token; without streaming they wait for the whole bar.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Estimating cost: 500 students, 20 requests a day, one month</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493940"/>
                <a:gridCol w="4213069"/>
                <a:gridCol w="238740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Option (illustrative prices)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Price per 1M tokens (in / out)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USD per month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Small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$0.10 / $0.40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$60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Mid-size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$0.50 / $2.00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$300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Frontier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$2.00 / $10.00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$1,380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Self-hosted small GPU, always 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$0.60 per hour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$432 + staff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Method:  </a:t>
            </a:r>
            <a:pPr indent="0" marL="0">
              <a:buNone/>
            </a:pPr>
            <a:r>
              <a:rPr lang="en-US" sz="1800" dirty="0">
                <a:solidFill>
                  <a:srgbClr val="1F2937"/>
                </a:solidFill>
                <a:latin typeface="Calibri" pitchFamily="34" charset="0"/>
                <a:ea typeface="Calibri" pitchFamily="34" charset="-122"/>
                <a:cs typeface="Calibri" pitchFamily="34" charset="-120"/>
              </a:rPr>
              <a:t>300,000 requests × (800 input + 300 output tokens). Prices are illustrative: always check the providers' current pricing pages.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Streaming and retries in code</a:t>
            </a:r>
            <a:endParaRPr lang="en-US" sz="3200" dirty="0"/>
          </a:p>
        </p:txBody>
      </p:sp>
      <p:sp>
        <p:nvSpPr>
          <p:cNvPr id="6" name="Shape 4"/>
          <p:cNvSpPr/>
          <p:nvPr/>
        </p:nvSpPr>
        <p:spPr>
          <a:xfrm>
            <a:off x="548640" y="1481328"/>
            <a:ext cx="6949440" cy="3725672"/>
          </a:xfrm>
          <a:prstGeom prst="roundRect">
            <a:avLst>
              <a:gd name="adj" fmla="val 2454"/>
            </a:avLst>
          </a:prstGeom>
          <a:solidFill>
            <a:srgbClr val="1E1E2E"/>
          </a:solidFill>
          <a:ln w="12700">
            <a:solidFill>
              <a:srgbClr val="1E1E2E"/>
            </a:solidFill>
            <a:prstDash val="solid"/>
          </a:ln>
        </p:spPr>
      </p:sp>
      <p:sp>
        <p:nvSpPr>
          <p:cNvPr id="7" name="Text 5"/>
          <p:cNvSpPr txBox="1"/>
          <p:nvPr/>
        </p:nvSpPr>
        <p:spPr>
          <a:xfrm>
            <a:off x="685800" y="1591056"/>
            <a:ext cx="6675120" cy="3506216"/>
          </a:xfrm>
          <a:prstGeom prst="rect">
            <a:avLst/>
          </a:prstGeom>
          <a:noFill/>
          <a:ln/>
        </p:spPr>
        <p:txBody>
          <a:bodyPr wrap="square" lIns="76200" tIns="76200" rIns="76200" bIns="76200" rtlCol="0" anchor="t"/>
          <a:lstStyle/>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from openai import OpenAI</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client = OpenAI(base_url=BASE_URL, api_key=get_secret("API_KEY"))</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stream = client.chat.completions.create(</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model=MODEL, messages=messages, stream=True, max_tokens=300)</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for chunk in stream:</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print(chunk.choices[0].delta.content or "", end="")</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def call_with_retry(fn, max_retries=5, base=0.5):</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for attempt in range(max_retries + 1):</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try:</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return fn()</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except RateLimitError:                  # HTTP 429</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if attempt == max_retries: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raise</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time.sleep(base * 2**attempt * (1 + random.random() / 2))</a:t>
            </a:r>
            <a:endParaRPr lang="en-US" sz="13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Set </a:t>
            </a:r>
            <a:pPr indent="0" marL="0">
              <a:buNone/>
            </a:pPr>
            <a:r>
              <a:rPr lang="en-US" sz="1800" dirty="0">
                <a:solidFill>
                  <a:srgbClr val="4F46E5"/>
                </a:solidFill>
                <a:latin typeface="Consolas" pitchFamily="34" charset="0"/>
                <a:ea typeface="Consolas" pitchFamily="34" charset="-122"/>
                <a:cs typeface="Consolas" pitchFamily="34" charset="-120"/>
              </a:rPr>
              <a:t>max_tokens</a:t>
            </a:r>
            <a:pPr indent="0" marL="0">
              <a:buNone/>
            </a:pPr>
            <a:r>
              <a:rPr lang="en-US" sz="1800" dirty="0">
                <a:solidFill>
                  <a:srgbClr val="1F2937"/>
                </a:solidFill>
                <a:latin typeface="Calibri" pitchFamily="34" charset="0"/>
                <a:ea typeface="Calibri" pitchFamily="34" charset="-122"/>
                <a:cs typeface="Calibri" pitchFamily="34" charset="-120"/>
              </a:rPr>
              <a:t> and a timeout on every call.</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Exponential back-off with jitter avoids retry storms.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Deployment options and efficient serving</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Cloud, self-hosted or local, and how to make it cheaper and faster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Cloud API vs. self-hosted vs. local</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651000"/>
                <a:gridCol w="3362172"/>
                <a:gridCol w="3907689"/>
                <a:gridCol w="2173555"/>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Cloud API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Self-hosted (e.g. vLLM on GPUs)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Local (e.g. Ollama)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Frontier proprietary and hosted open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Open-weight, including your fine-tunes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Small, quantised open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Cost profile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Pay per token; no fixed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Fixed GPU cost; cheap per token at high, steady load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Free after hardware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Leaves your network (check terms, region)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Stays in your infrastructure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Stays on the device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Operations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Provider scales and updates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You run, scale, patch and monitor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Per-device setup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Risks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Price and model changes, rate limits, lock-in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Capacity planning, staff skills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Limited quality and speed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Quantisation: fewer bits per weight</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89be2711bf5df324.png">    </p:cNvPr>
          <p:cNvPicPr>
            <a:picLocks noChangeAspect="1"/>
          </p:cNvPicPr>
          <p:nvPr/>
        </p:nvPicPr>
        <p:blipFill>
          <a:blip r:embed="rId1"/>
          <a:stretch>
            <a:fillRect/>
          </a:stretch>
        </p:blipFill>
        <p:spPr>
          <a:xfrm>
            <a:off x="4193896" y="1766824"/>
            <a:ext cx="3803904" cy="655320"/>
          </a:xfrm>
          <a:prstGeom prst="rect">
            <a:avLst/>
          </a:prstGeom>
        </p:spPr>
      </p:pic>
      <p:pic>
        <p:nvPicPr>
          <p:cNvPr id="8" name="Image 1" descr="C:\Users\sudee\Downloads\Generative_AI_2027_Teaching_Pack\AI2027_Project\build\eq\844edfb801b1b361.png">    </p:cNvPr>
          <p:cNvPicPr>
            <a:picLocks noChangeAspect="1"/>
          </p:cNvPicPr>
          <p:nvPr/>
        </p:nvPicPr>
        <p:blipFill>
          <a:blip r:embed="rId2"/>
          <a:stretch>
            <a:fillRect/>
          </a:stretch>
        </p:blipFill>
        <p:spPr>
          <a:xfrm>
            <a:off x="3239872" y="2661920"/>
            <a:ext cx="5711952" cy="728472"/>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A 7 B model needs ≈ 14 GB in 16-bit, ≈ 7 GB in 8-bit and ≈ 3.5–4 GB in 4-bit (plus the KV cache).</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Absmax: scale each group so its largest weight maps to the largest integer, round, store integers and one scale.</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Smaller groups (e.g. 64 weights per scale) keep more precision: the basis of GPTQ, AWQ and GGUF formats.</a:t>
            </a:r>
            <a:endParaRPr lang="en-US" sz="16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b</a:t>
            </a:r>
            <a:endParaRPr lang="en-US" sz="1500" dirty="0"/>
          </a:p>
        </p:txBody>
      </p:sp>
      <p:sp>
        <p:nvSpPr>
          <p:cNvPr id="13" name="Text 9"/>
          <p:cNvSpPr txBox="1"/>
          <p:nvPr/>
        </p:nvSpPr>
        <p:spPr>
          <a:xfrm>
            <a:off x="8046720" y="4315968"/>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bits per weight (8 or 4)</a:t>
            </a:r>
            <a:endParaRPr lang="en-US" sz="1400" dirty="0"/>
          </a:p>
        </p:txBody>
      </p:sp>
      <p:sp>
        <p:nvSpPr>
          <p:cNvPr id="14" name="Text 10"/>
          <p:cNvSpPr txBox="1"/>
          <p:nvPr/>
        </p:nvSpPr>
        <p:spPr>
          <a:xfrm>
            <a:off x="6858000" y="4814316"/>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s</a:t>
            </a:r>
            <a:endParaRPr lang="en-US" sz="1500" dirty="0"/>
          </a:p>
        </p:txBody>
      </p:sp>
      <p:sp>
        <p:nvSpPr>
          <p:cNvPr id="15" name="Text 11"/>
          <p:cNvSpPr txBox="1"/>
          <p:nvPr/>
        </p:nvSpPr>
        <p:spPr>
          <a:xfrm>
            <a:off x="8046720" y="4814316"/>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scale for a group of weights</a:t>
            </a:r>
            <a:endParaRPr lang="en-US" sz="1400" dirty="0"/>
          </a:p>
        </p:txBody>
      </p:sp>
      <p:sp>
        <p:nvSpPr>
          <p:cNvPr id="16" name="Text 12"/>
          <p:cNvSpPr txBox="1"/>
          <p:nvPr/>
        </p:nvSpPr>
        <p:spPr>
          <a:xfrm>
            <a:off x="6858000" y="5312664"/>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q</a:t>
            </a:r>
            <a:endParaRPr lang="en-US" sz="1500" dirty="0"/>
          </a:p>
        </p:txBody>
      </p:sp>
      <p:sp>
        <p:nvSpPr>
          <p:cNvPr id="17" name="Text 13"/>
          <p:cNvSpPr txBox="1"/>
          <p:nvPr/>
        </p:nvSpPr>
        <p:spPr>
          <a:xfrm>
            <a:off x="8046720" y="5312664"/>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stored integer</a:t>
            </a:r>
            <a:endParaRPr lang="en-US" sz="1400" dirty="0"/>
          </a:p>
        </p:txBody>
      </p:sp>
      <p:sp>
        <p:nvSpPr>
          <p:cNvPr id="18" name="Text 14"/>
          <p:cNvSpPr txBox="1"/>
          <p:nvPr/>
        </p:nvSpPr>
        <p:spPr>
          <a:xfrm>
            <a:off x="6858000" y="5811012"/>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ŵ</a:t>
            </a:r>
            <a:endParaRPr lang="en-US" sz="1500" dirty="0"/>
          </a:p>
        </p:txBody>
      </p:sp>
      <p:sp>
        <p:nvSpPr>
          <p:cNvPr id="19" name="Text 15"/>
          <p:cNvSpPr txBox="1"/>
          <p:nvPr/>
        </p:nvSpPr>
        <p:spPr>
          <a:xfrm>
            <a:off x="8046720" y="5811012"/>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de-quantised weight used in computation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size and quality after quantisation</a:t>
            </a:r>
            <a:endParaRPr lang="en-US" sz="3200" dirty="0"/>
          </a:p>
        </p:txBody>
      </p:sp>
      <p:pic>
        <p:nvPicPr>
          <p:cNvPr id="6" name="Image 0" descr="C:\Users\sudee\Downloads\Generative_AI_2027_Teaching_Pack\AI2027_Project\build\figures\week_11\lab_quant.png">    </p:cNvPr>
          <p:cNvPicPr>
            <a:picLocks noChangeAspect="1"/>
          </p:cNvPicPr>
          <p:nvPr/>
        </p:nvPicPr>
        <p:blipFill>
          <a:blip r:embed="rId1"/>
          <a:stretch>
            <a:fillRect/>
          </a:stretch>
        </p:blipFill>
        <p:spPr>
          <a:xfrm>
            <a:off x="548640" y="1535766"/>
            <a:ext cx="11094415" cy="3368130"/>
          </a:xfrm>
          <a:prstGeom prst="rect">
            <a:avLst/>
          </a:prstGeom>
        </p:spPr>
      </p:pic>
      <p:sp>
        <p:nvSpPr>
          <p:cNvPr id="7" name="Text 4"/>
          <p:cNvSpPr txBox="1"/>
          <p:nvPr/>
        </p:nvSpPr>
        <p:spPr>
          <a:xfrm>
            <a:off x="548640" y="5086776"/>
            <a:ext cx="11094415" cy="1222584"/>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Perplexity: fp16 52.3 (≈ 988 MB); int8 per row 55.0 (≈ 494 MB); int4 per row 97.5 (≈ 247 MB); int4 groups of 64 65.0 (≈ 262 MB).</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Always re-evaluate on your own task after quantising.</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batching raises throughput</a:t>
            </a:r>
            <a:endParaRPr lang="en-US" sz="3200" dirty="0"/>
          </a:p>
        </p:txBody>
      </p:sp>
      <p:pic>
        <p:nvPicPr>
          <p:cNvPr id="6" name="Image 0" descr="C:\Users\sudee\Downloads\Generative_AI_2027_Teaching_Pack\AI2027_Project\build\figures\week_11\lab_batch.png">    </p:cNvPr>
          <p:cNvPicPr>
            <a:picLocks noChangeAspect="1"/>
          </p:cNvPicPr>
          <p:nvPr/>
        </p:nvPicPr>
        <p:blipFill>
          <a:blip r:embed="rId1"/>
          <a:stretch>
            <a:fillRect/>
          </a:stretch>
        </p:blipFill>
        <p:spPr>
          <a:xfrm>
            <a:off x="2515160" y="1481328"/>
            <a:ext cx="7161374" cy="3762756"/>
          </a:xfrm>
          <a:prstGeom prst="rect">
            <a:avLst/>
          </a:prstGeom>
        </p:spPr>
      </p:pic>
      <p:sp>
        <p:nvSpPr>
          <p:cNvPr id="7" name="Text 4"/>
          <p:cNvSpPr txBox="1"/>
          <p:nvPr/>
        </p:nvSpPr>
        <p:spPr>
          <a:xfrm>
            <a:off x="548640" y="5426964"/>
            <a:ext cx="11094415" cy="8823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13 tokens/s at batch 1 → 86 tokens/s at batch 8 (6.5× on an NVIDIA GTX 1650 laptop GPU).</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Serving engines batch </a:t>
            </a:r>
            <a:pPr indent="0" marL="0">
              <a:buNone/>
            </a:pPr>
            <a:r>
              <a:rPr lang="en-US" sz="1800" b="1" dirty="0">
                <a:solidFill>
                  <a:srgbClr val="1F2937"/>
                </a:solidFill>
                <a:latin typeface="Calibri" pitchFamily="34" charset="0"/>
                <a:ea typeface="Calibri" pitchFamily="34" charset="-122"/>
                <a:cs typeface="Calibri" pitchFamily="34" charset="-120"/>
              </a:rPr>
              <a:t>continuously</a:t>
            </a:r>
            <a:pPr indent="0" marL="0">
              <a:buNone/>
            </a:pPr>
            <a:r>
              <a:rPr lang="en-US" sz="1800" dirty="0">
                <a:solidFill>
                  <a:srgbClr val="1F2937"/>
                </a:solidFill>
                <a:latin typeface="Calibri" pitchFamily="34" charset="0"/>
                <a:ea typeface="Calibri" pitchFamily="34" charset="-122"/>
                <a:cs typeface="Calibri" pitchFamily="34" charset="-120"/>
              </a:rPr>
              <a:t>: new requests join as others finish.</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Serving engines and caching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vLLM</a:t>
            </a:r>
            <a:pPr indent="0" marL="0">
              <a:buNone/>
            </a:pPr>
            <a:r>
              <a:rPr lang="en-US" sz="2200" dirty="0">
                <a:solidFill>
                  <a:srgbClr val="1F2937"/>
                </a:solidFill>
                <a:latin typeface="Calibri" pitchFamily="34" charset="0"/>
                <a:ea typeface="Calibri" pitchFamily="34" charset="-122"/>
                <a:cs typeface="Calibri" pitchFamily="34" charset="-120"/>
              </a:rPr>
              <a:t>: continuous batching and </a:t>
            </a:r>
            <a:pPr indent="0" marL="0">
              <a:buNone/>
            </a:pPr>
            <a:r>
              <a:rPr lang="en-US" sz="2200" b="1" dirty="0">
                <a:solidFill>
                  <a:srgbClr val="1F2937"/>
                </a:solidFill>
                <a:latin typeface="Calibri" pitchFamily="34" charset="0"/>
                <a:ea typeface="Calibri" pitchFamily="34" charset="-122"/>
                <a:cs typeface="Calibri" pitchFamily="34" charset="-120"/>
              </a:rPr>
              <a:t>PagedAttention</a:t>
            </a:r>
            <a:pPr indent="0" marL="0">
              <a:buNone/>
            </a:pPr>
            <a:r>
              <a:rPr lang="en-US" sz="2200" dirty="0">
                <a:solidFill>
                  <a:srgbClr val="1F2937"/>
                </a:solidFill>
                <a:latin typeface="Calibri" pitchFamily="34" charset="0"/>
                <a:ea typeface="Calibri" pitchFamily="34" charset="-122"/>
                <a:cs typeface="Calibri" pitchFamily="34" charset="-120"/>
              </a:rPr>
              <a:t>, which stores the KV cache in pages like virtual memory (Kwon et al., 2023).</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KV cache</a:t>
            </a:r>
            <a:pPr indent="0" marL="0">
              <a:buNone/>
            </a:pPr>
            <a:r>
              <a:rPr lang="en-US" sz="2200" dirty="0">
                <a:solidFill>
                  <a:srgbClr val="1F2937"/>
                </a:solidFill>
                <a:latin typeface="Calibri" pitchFamily="34" charset="0"/>
                <a:ea typeface="Calibri" pitchFamily="34" charset="-122"/>
                <a:cs typeface="Calibri" pitchFamily="34" charset="-120"/>
              </a:rPr>
              <a:t> (week 5) and </a:t>
            </a:r>
            <a:pPr indent="0" marL="0">
              <a:buNone/>
            </a:pPr>
            <a:r>
              <a:rPr lang="en-US" sz="2200" b="1" dirty="0">
                <a:solidFill>
                  <a:srgbClr val="1F2937"/>
                </a:solidFill>
                <a:latin typeface="Calibri" pitchFamily="34" charset="0"/>
                <a:ea typeface="Calibri" pitchFamily="34" charset="-122"/>
                <a:cs typeface="Calibri" pitchFamily="34" charset="-120"/>
              </a:rPr>
              <a:t>prefix caching</a:t>
            </a:r>
            <a:pPr indent="0" marL="0">
              <a:buNone/>
            </a:pPr>
            <a:r>
              <a:rPr lang="en-US" sz="2200" dirty="0">
                <a:solidFill>
                  <a:srgbClr val="1F2937"/>
                </a:solidFill>
                <a:latin typeface="Calibri" pitchFamily="34" charset="0"/>
                <a:ea typeface="Calibri" pitchFamily="34" charset="-122"/>
                <a:cs typeface="Calibri" pitchFamily="34" charset="-120"/>
              </a:rPr>
              <a:t>: reuse computation for shared prompt prefixes; providers discount cached tokens.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Response caching</a:t>
            </a:r>
            <a:pPr indent="0" marL="0">
              <a:buNone/>
            </a:pPr>
            <a:r>
              <a:rPr lang="en-US" sz="2200" dirty="0">
                <a:solidFill>
                  <a:srgbClr val="1F2937"/>
                </a:solidFill>
                <a:latin typeface="Calibri" pitchFamily="34" charset="0"/>
                <a:ea typeface="Calibri" pitchFamily="34" charset="-122"/>
                <a:cs typeface="Calibri" pitchFamily="34" charset="-120"/>
              </a:rPr>
              <a:t>: identical questions answered from a cache (the lab: milliseconds instead of seconds).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Speculative decoding</a:t>
            </a:r>
            <a:pPr indent="0" marL="0">
              <a:buNone/>
            </a:pPr>
            <a:r>
              <a:rPr lang="en-US" sz="2200" dirty="0">
                <a:solidFill>
                  <a:srgbClr val="1F2937"/>
                </a:solidFill>
                <a:latin typeface="Calibri" pitchFamily="34" charset="0"/>
                <a:ea typeface="Calibri" pitchFamily="34" charset="-122"/>
                <a:cs typeface="Calibri" pitchFamily="34" charset="-120"/>
              </a:rPr>
              <a:t>: a small draft model proposes tokens, the large model verifies several at once.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Right-size the model</a:t>
            </a:r>
            <a:pPr indent="0" marL="0">
              <a:buNone/>
            </a:pPr>
            <a:r>
              <a:rPr lang="en-US" sz="2200" dirty="0">
                <a:solidFill>
                  <a:srgbClr val="1F2937"/>
                </a:solidFill>
                <a:latin typeface="Calibri" pitchFamily="34" charset="0"/>
                <a:ea typeface="Calibri" pitchFamily="34" charset="-122"/>
                <a:cs typeface="Calibri" pitchFamily="34" charset="-120"/>
              </a:rPr>
              <a:t>: a distilled or fine-tuned small model is often the biggest saving (week 8).</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fits where? (weights only)</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 1 GB</a:t>
            </a:r>
            <a:endParaRPr lang="en-US" sz="60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0.5 B model in 16-bit: runs on any laptop (the lab model)</a:t>
            </a:r>
            <a:endParaRPr lang="en-US" sz="17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 4 GB</a:t>
            </a:r>
            <a:endParaRPr lang="en-US" sz="60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7–8 B model in 4-bit: a laptop with Ollama, or a free Colab T4</a:t>
            </a:r>
            <a:endParaRPr lang="en-US" sz="17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16 GB</a:t>
            </a:r>
            <a:endParaRPr lang="en-US" sz="60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memory of a Colab T4 GPU: up to ≈ 7 B in 16-bit, ≈ 20–30 B in 4-bit</a:t>
            </a:r>
            <a:endParaRPr lang="en-US" sz="17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 140 GB</a:t>
            </a:r>
            <a:endParaRPr lang="en-US" sz="60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70 B model in 16-bit: several data-centre GPUs</a:t>
            </a:r>
            <a:endParaRPr lang="en-US" sz="17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Add memory for the KV cache, which grows with context length and batch size.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Your self-hosted model is accurate but too slow when 50 users are online at once. Which change is most likely to help first?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Increase the temperature</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Serve with an engine that uses continuous batching (e.g. vLLM) and quantise the model, then re-check quality</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Add a longer system prompt</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Switch off streaming</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Building applications and interfaces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Gradio, FastAPI and Docker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Proposed integrated application architecture</a:t>
            </a:r>
            <a:endParaRPr lang="en-US" sz="3200" dirty="0"/>
          </a:p>
        </p:txBody>
      </p:sp>
      <p:pic>
        <p:nvPicPr>
          <p:cNvPr id="6" name="Image 0" descr="C:\Users\sudee\Downloads\Generative_AI_2027_Teaching_Pack\AI2027_Project\build\figures\week_11\app_architecture.png">    </p:cNvPr>
          <p:cNvPicPr>
            <a:picLocks noChangeAspect="1"/>
          </p:cNvPicPr>
          <p:nvPr/>
        </p:nvPicPr>
        <p:blipFill>
          <a:blip r:embed="rId1"/>
          <a:stretch>
            <a:fillRect/>
          </a:stretch>
        </p:blipFill>
        <p:spPr>
          <a:xfrm>
            <a:off x="548640" y="2088157"/>
            <a:ext cx="11094415" cy="36143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API request to generated answer</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endpoint translates structured messages into tokens and back</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Client request</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Send model name, messages and an output-length limit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client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HTTP JSON body</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Validate body</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FastAPI parses the request into the declared field structure</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ChatRequest</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validated messages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Prepare tokens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chat template formats messages for the tokenizer</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tok.apply_chat_template</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token IDs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Generate tokens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model produces a continuation under a shared lock</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generate, MODEL_LOCK</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 output token IDs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Decode continuation</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Remove input-prefix tokens and turn new tokens into text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generate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answer + counts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Return response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Package answer and usage counts in the API format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chat_completions</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are prompt and completion token counts returned separately?</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 OpenAI-compatible endpoint with FastAPI</a:t>
            </a:r>
            <a:endParaRPr lang="en-US" sz="3200" dirty="0"/>
          </a:p>
        </p:txBody>
      </p:sp>
      <p:sp>
        <p:nvSpPr>
          <p:cNvPr id="6" name="Shape 4"/>
          <p:cNvSpPr/>
          <p:nvPr/>
        </p:nvSpPr>
        <p:spPr>
          <a:xfrm>
            <a:off x="548640" y="1481328"/>
            <a:ext cx="6949440" cy="3663696"/>
          </a:xfrm>
          <a:prstGeom prst="roundRect">
            <a:avLst>
              <a:gd name="adj" fmla="val 2496"/>
            </a:avLst>
          </a:prstGeom>
          <a:solidFill>
            <a:srgbClr val="1E1E2E"/>
          </a:solidFill>
          <a:ln w="12700">
            <a:solidFill>
              <a:srgbClr val="1E1E2E"/>
            </a:solidFill>
            <a:prstDash val="solid"/>
          </a:ln>
        </p:spPr>
      </p:sp>
      <p:sp>
        <p:nvSpPr>
          <p:cNvPr id="7" name="Text 5"/>
          <p:cNvSpPr txBox="1"/>
          <p:nvPr/>
        </p:nvSpPr>
        <p:spPr>
          <a:xfrm>
            <a:off x="685800" y="1591056"/>
            <a:ext cx="6675120" cy="3444240"/>
          </a:xfrm>
          <a:prstGeom prst="rect">
            <a:avLst/>
          </a:prstGeom>
          <a:noFill/>
          <a:ln/>
        </p:spPr>
        <p:txBody>
          <a:bodyPr wrap="square" lIns="76200" tIns="76200" rIns="76200" bIns="76200" rtlCol="0" anchor="t"/>
          <a:lstStyle/>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from fastapi import FastAPI</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from pydantic import BaseModel</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class ChatRequest(BaseModel):</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messages: list[dict]</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max_tokens: int = 128</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api = FastAPI()</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@api.post("/v1/chat/completions")</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def chat(req: ChatRequest):</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text, n_in, n_out = generate(req.messages, req.max_tokens)</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return {"object": "chat.completion",</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"choices": [{"index": 0, "finish_reason": "stop",</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"message": {"role": "assistant", "content": text}}],</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"usage": {"prompt_tokens": n_in, "completion_tokens": n_out,</a:t>
            </a:r>
            <a:endParaRPr lang="en-US" sz="1200" dirty="0"/>
          </a:p>
          <a:p>
            <a:pPr indent="0" marL="0">
              <a:lnSpc>
                <a:spcPct val="100000"/>
              </a:lnSpc>
              <a:buNone/>
            </a:pPr>
            <a:r>
              <a:rPr lang="en-US" sz="1200" dirty="0">
                <a:solidFill>
                  <a:srgbClr val="E4E4F0"/>
                </a:solidFill>
                <a:latin typeface="Consolas" pitchFamily="34" charset="0"/>
                <a:ea typeface="Consolas" pitchFamily="34" charset="-122"/>
                <a:cs typeface="Consolas" pitchFamily="34" charset="-120"/>
              </a:rPr>
              <a:t>                      "total_tokens": n_in + n_out}}</a:t>
            </a:r>
            <a:endParaRPr lang="en-US" sz="12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Pydantic validates requests; FastAPI generates interactive docs at </a:t>
            </a:r>
            <a:pPr indent="0" marL="0">
              <a:buNone/>
            </a:pPr>
            <a:r>
              <a:rPr lang="en-US" sz="1800" dirty="0">
                <a:solidFill>
                  <a:srgbClr val="4F46E5"/>
                </a:solidFill>
                <a:latin typeface="Consolas" pitchFamily="34" charset="0"/>
                <a:ea typeface="Consolas" pitchFamily="34" charset="-122"/>
                <a:cs typeface="Consolas" pitchFamily="34" charset="-120"/>
              </a:rPr>
              <a:t>/docs</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OpenAI-compatible, so the </a:t>
            </a:r>
            <a:pPr indent="0" marL="0">
              <a:buNone/>
            </a:pPr>
            <a:r>
              <a:rPr lang="en-US" sz="1800" dirty="0">
                <a:solidFill>
                  <a:srgbClr val="4F46E5"/>
                </a:solidFill>
                <a:latin typeface="Consolas" pitchFamily="34" charset="0"/>
                <a:ea typeface="Consolas" pitchFamily="34" charset="-122"/>
                <a:cs typeface="Consolas" pitchFamily="34" charset="-120"/>
              </a:rPr>
              <a:t>openai</a:t>
            </a:r>
            <a:pPr indent="0" marL="0">
              <a:buNone/>
            </a:pPr>
            <a:r>
              <a:rPr lang="en-US" sz="1800" dirty="0">
                <a:solidFill>
                  <a:srgbClr val="1F2937"/>
                </a:solidFill>
                <a:latin typeface="Calibri" pitchFamily="34" charset="0"/>
                <a:ea typeface="Calibri" pitchFamily="34" charset="-122"/>
                <a:cs typeface="Calibri" pitchFamily="34" charset="-120"/>
              </a:rPr>
              <a:t> SDK and LangChain can call it.</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chat interface with Gradio</a:t>
            </a:r>
            <a:endParaRPr lang="en-US" sz="3200" dirty="0"/>
          </a:p>
        </p:txBody>
      </p:sp>
      <p:sp>
        <p:nvSpPr>
          <p:cNvPr id="6" name="Shape 4"/>
          <p:cNvSpPr/>
          <p:nvPr/>
        </p:nvSpPr>
        <p:spPr>
          <a:xfrm>
            <a:off x="548640" y="1481328"/>
            <a:ext cx="6949440" cy="2919984"/>
          </a:xfrm>
          <a:prstGeom prst="roundRect">
            <a:avLst>
              <a:gd name="adj" fmla="val 3132"/>
            </a:avLst>
          </a:prstGeom>
          <a:solidFill>
            <a:srgbClr val="1E1E2E"/>
          </a:solidFill>
          <a:ln w="12700">
            <a:solidFill>
              <a:srgbClr val="1E1E2E"/>
            </a:solidFill>
            <a:prstDash val="solid"/>
          </a:ln>
        </p:spPr>
      </p:sp>
      <p:sp>
        <p:nvSpPr>
          <p:cNvPr id="7" name="Text 5"/>
          <p:cNvSpPr txBox="1"/>
          <p:nvPr/>
        </p:nvSpPr>
        <p:spPr>
          <a:xfrm>
            <a:off x="685800" y="1591056"/>
            <a:ext cx="6675120" cy="2700528"/>
          </a:xfrm>
          <a:prstGeom prst="rect">
            <a:avLst/>
          </a:prstGeom>
          <a:noFill/>
          <a:ln/>
        </p:spPr>
        <p:txBody>
          <a:bodyPr wrap="square" lIns="76200" tIns="76200" rIns="76200" bIns="76200" rtlCol="0" anchor="t"/>
          <a:lstStyle/>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import gradio as gr</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def respond(message, history):</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allowed, cleaned, reason = check_input(message)   # guardrail</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if not allowed:</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return f"Sorry, I can't help with that ({reason})."</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answer, n_in, n_out = generate(build_messages(cleaned, history))</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log_request(n_in, n_out, reason)                   # metadata only</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return check_output(answer)</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demo = gr.ChatInterface(respond, title="Course assistant")</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demo.launch(share=True)     # temporary public link from Colab</a:t>
            </a:r>
            <a:endParaRPr lang="en-US" sz="13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Hugging Face </a:t>
            </a:r>
            <a:pPr indent="0" marL="0">
              <a:buNone/>
            </a:pPr>
            <a:r>
              <a:rPr lang="en-US" sz="1800" b="1" dirty="0">
                <a:solidFill>
                  <a:srgbClr val="1F2937"/>
                </a:solidFill>
                <a:latin typeface="Calibri" pitchFamily="34" charset="0"/>
                <a:ea typeface="Calibri" pitchFamily="34" charset="-122"/>
                <a:cs typeface="Calibri" pitchFamily="34" charset="-120"/>
              </a:rPr>
              <a:t>Spaces</a:t>
            </a:r>
            <a:pPr indent="0" marL="0">
              <a:buNone/>
            </a:pPr>
            <a:r>
              <a:rPr lang="en-US" sz="1800" dirty="0">
                <a:solidFill>
                  <a:srgbClr val="1F2937"/>
                </a:solidFill>
                <a:latin typeface="Calibri" pitchFamily="34" charset="0"/>
                <a:ea typeface="Calibri" pitchFamily="34" charset="-122"/>
                <a:cs typeface="Calibri" pitchFamily="34" charset="-120"/>
              </a:rPr>
              <a:t> hosts Gradio apps for free (CPU) with secrets support.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 public link means anyone can use your quota: add limits or authentication.</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Packaging and releasing: Docker, versions, CI</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Docker</a:t>
            </a:r>
            <a:pPr indent="0" marL="0">
              <a:buNone/>
            </a:pPr>
            <a:r>
              <a:rPr lang="en-US" sz="2200" dirty="0">
                <a:solidFill>
                  <a:srgbClr val="1F2937"/>
                </a:solidFill>
                <a:latin typeface="Calibri" pitchFamily="34" charset="0"/>
                <a:ea typeface="Calibri" pitchFamily="34" charset="-122"/>
                <a:cs typeface="Calibri" pitchFamily="34" charset="-120"/>
              </a:rPr>
              <a:t> image: code + pinned dependencies + start command; runs the same on a laptop, Hugging Face Spaces, Google Cloud Run or Azure Container Apps.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Secrets are passed as </a:t>
            </a:r>
            <a:pPr indent="0" marL="0">
              <a:buNone/>
            </a:pPr>
            <a:r>
              <a:rPr lang="en-US" sz="2200" b="1" dirty="0">
                <a:solidFill>
                  <a:srgbClr val="1F2937"/>
                </a:solidFill>
                <a:latin typeface="Calibri" pitchFamily="34" charset="0"/>
                <a:ea typeface="Calibri" pitchFamily="34" charset="-122"/>
                <a:cs typeface="Calibri" pitchFamily="34" charset="-120"/>
              </a:rPr>
              <a:t>environment variables at run time</a:t>
            </a:r>
            <a:pPr indent="0" marL="0">
              <a:buNone/>
            </a:pPr>
            <a:r>
              <a:rPr lang="en-US" sz="2200" dirty="0">
                <a:solidFill>
                  <a:srgbClr val="1F2937"/>
                </a:solidFill>
                <a:latin typeface="Calibri" pitchFamily="34" charset="0"/>
                <a:ea typeface="Calibri" pitchFamily="34" charset="-122"/>
                <a:cs typeface="Calibri" pitchFamily="34" charset="-120"/>
              </a:rPr>
              <a:t>, never baked into the image.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Version everything</a:t>
            </a:r>
            <a:pPr indent="0" marL="0">
              <a:buNone/>
            </a:pPr>
            <a:r>
              <a:rPr lang="en-US" sz="2200" dirty="0">
                <a:solidFill>
                  <a:srgbClr val="1F2937"/>
                </a:solidFill>
                <a:latin typeface="Calibri" pitchFamily="34" charset="0"/>
                <a:ea typeface="Calibri" pitchFamily="34" charset="-122"/>
                <a:cs typeface="Calibri" pitchFamily="34" charset="-120"/>
              </a:rPr>
              <a:t>: model name and version, prompt templates, decoding settings, data and index versions.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Evaluate before release</a:t>
            </a:r>
            <a:pPr indent="0" marL="0">
              <a:buNone/>
            </a:pPr>
            <a:r>
              <a:rPr lang="en-US" sz="2200" dirty="0">
                <a:solidFill>
                  <a:srgbClr val="1F2937"/>
                </a:solidFill>
                <a:latin typeface="Calibri" pitchFamily="34" charset="0"/>
                <a:ea typeface="Calibri" pitchFamily="34" charset="-122"/>
                <a:cs typeface="Calibri" pitchFamily="34" charset="-120"/>
              </a:rPr>
              <a:t>: run your fixed evaluation set in CI; compare with the current version (weeks 7–8).</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Roll out gradually (canary or A/B) and keep the previous version ready for rollback.</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Monitoring, guardrails and comparison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know it is working, and safe?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to monitor</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Performance</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TTFT, p50 / p95 / p99 latency, throughput, timeouts.</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Cost</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Tokens per request, per user and per day; budget alerts.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Reliability</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Error rates, HTTP 429s, provider outages, fallbacks used.</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Quality</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User feedback, sampled human or LLM-judge review, regression tests, drift.</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Safety</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Guardrail blocks, redactions, flagged outputs, injection attempts.</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Versions</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Which model, prompt and index produced each answer.</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Measured: a monitoring summary from the lab app's logs</a:t>
            </a:r>
            <a:endParaRPr lang="en-US" sz="3100" dirty="0"/>
          </a:p>
        </p:txBody>
      </p:sp>
      <p:pic>
        <p:nvPicPr>
          <p:cNvPr id="6" name="Image 0" descr="C:\Users\sudee\Downloads\Generative_AI_2027_Teaching_Pack\AI2027_Project\build\figures\week_11\lab_monitor.png">    </p:cNvPr>
          <p:cNvPicPr>
            <a:picLocks noChangeAspect="1"/>
          </p:cNvPicPr>
          <p:nvPr/>
        </p:nvPicPr>
        <p:blipFill>
          <a:blip r:embed="rId1"/>
          <a:stretch>
            <a:fillRect/>
          </a:stretch>
        </p:blipFill>
        <p:spPr>
          <a:xfrm>
            <a:off x="718748" y="1481328"/>
            <a:ext cx="10754199" cy="3762756"/>
          </a:xfrm>
          <a:prstGeom prst="rect">
            <a:avLst/>
          </a:prstGeom>
        </p:spPr>
      </p:pic>
      <p:sp>
        <p:nvSpPr>
          <p:cNvPr id="7" name="Text 4"/>
          <p:cNvSpPr txBox="1"/>
          <p:nvPr/>
        </p:nvSpPr>
        <p:spPr>
          <a:xfrm>
            <a:off x="548640" y="5426964"/>
            <a:ext cx="11094415" cy="8823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10 requests: 1 blocked (injection), 2 with personal data redacted; p50 2.85 s, p95 5.72 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Logs record metadata (latency, tokens, blocks, version), not raw personal data.</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Guardrails in layers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Input checks</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Length, rate limits, PII redaction, injection and topic filters</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Model setup</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System prompt, least-privilege tools, safe decoding settings</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Output checks</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Moderation classifier, schema validation, leak and policy checks</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Human oversight</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Escalation for sensitive or uncertain cases</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Monitor &amp; red-team</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Track blocks, test attacks, update rules</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Regex rules are a start; production systems add trained classifiers (e.g. Llama Guard-style models) and least privilege.</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LLMOps tooling: tracing and evaluation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Tracing</a:t>
            </a:r>
            <a:pPr indent="0" marL="0">
              <a:buNone/>
            </a:pPr>
            <a:r>
              <a:rPr lang="en-US" sz="2200" dirty="0">
                <a:solidFill>
                  <a:srgbClr val="1F2937"/>
                </a:solidFill>
                <a:latin typeface="Calibri" pitchFamily="34" charset="0"/>
                <a:ea typeface="Calibri" pitchFamily="34" charset="-122"/>
                <a:cs typeface="Calibri" pitchFamily="34" charset="-120"/>
              </a:rPr>
              <a:t> records each step of a request (retrieval, prompts, tool calls, model calls) with timings and tokens.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Tools: </a:t>
            </a:r>
            <a:pPr indent="0" marL="0">
              <a:buNone/>
            </a:pPr>
            <a:r>
              <a:rPr lang="en-US" sz="2200" b="1" dirty="0">
                <a:solidFill>
                  <a:srgbClr val="1F2937"/>
                </a:solidFill>
                <a:latin typeface="Calibri" pitchFamily="34" charset="0"/>
                <a:ea typeface="Calibri" pitchFamily="34" charset="-122"/>
                <a:cs typeface="Calibri" pitchFamily="34" charset="-120"/>
              </a:rPr>
              <a:t>OpenTelemetry</a:t>
            </a:r>
            <a:pPr indent="0" marL="0">
              <a:buNone/>
            </a:pPr>
            <a:r>
              <a:rPr lang="en-US" sz="2200" dirty="0">
                <a:solidFill>
                  <a:srgbClr val="1F2937"/>
                </a:solidFill>
                <a:latin typeface="Calibri" pitchFamily="34" charset="0"/>
                <a:ea typeface="Calibri" pitchFamily="34" charset="-122"/>
                <a:cs typeface="Calibri" pitchFamily="34" charset="-120"/>
              </a:rPr>
              <a:t> (open standard), </a:t>
            </a:r>
            <a:pPr indent="0" marL="0">
              <a:buNone/>
            </a:pPr>
            <a:r>
              <a:rPr lang="en-US" sz="2200" b="1" dirty="0">
                <a:solidFill>
                  <a:srgbClr val="1F2937"/>
                </a:solidFill>
                <a:latin typeface="Calibri" pitchFamily="34" charset="0"/>
                <a:ea typeface="Calibri" pitchFamily="34" charset="-122"/>
                <a:cs typeface="Calibri" pitchFamily="34" charset="-120"/>
              </a:rPr>
              <a:t>Langfuse</a:t>
            </a:r>
            <a:pPr indent="0" marL="0">
              <a:buNone/>
            </a:pPr>
            <a:r>
              <a:rPr lang="en-US" sz="2200" dirty="0">
                <a:solidFill>
                  <a:srgbClr val="1F2937"/>
                </a:solidFill>
                <a:latin typeface="Calibri" pitchFamily="34" charset="0"/>
                <a:ea typeface="Calibri" pitchFamily="34" charset="-122"/>
                <a:cs typeface="Calibri" pitchFamily="34" charset="-120"/>
              </a:rPr>
              <a:t> (open source), </a:t>
            </a:r>
            <a:pPr indent="0" marL="0">
              <a:buNone/>
            </a:pPr>
            <a:r>
              <a:rPr lang="en-US" sz="2200" b="1" dirty="0">
                <a:solidFill>
                  <a:srgbClr val="1F2937"/>
                </a:solidFill>
                <a:latin typeface="Calibri" pitchFamily="34" charset="0"/>
                <a:ea typeface="Calibri" pitchFamily="34" charset="-122"/>
                <a:cs typeface="Calibri" pitchFamily="34" charset="-120"/>
              </a:rPr>
              <a:t>LangSmith</a:t>
            </a:r>
            <a:pPr indent="0" marL="0">
              <a:buNone/>
            </a:pPr>
            <a:r>
              <a:rPr lang="en-US" sz="2200" dirty="0">
                <a:solidFill>
                  <a:srgbClr val="1F2937"/>
                </a:solidFill>
                <a:latin typeface="Calibri" pitchFamily="34" charset="0"/>
                <a:ea typeface="Calibri" pitchFamily="34" charset="-122"/>
                <a:cs typeface="Calibri" pitchFamily="34" charset="-120"/>
              </a:rPr>
              <a:t>, </a:t>
            </a:r>
            <a:pPr indent="0" marL="0">
              <a:buNone/>
            </a:pPr>
            <a:r>
              <a:rPr lang="en-US" sz="2200" b="1" dirty="0">
                <a:solidFill>
                  <a:srgbClr val="1F2937"/>
                </a:solidFill>
                <a:latin typeface="Calibri" pitchFamily="34" charset="0"/>
                <a:ea typeface="Calibri" pitchFamily="34" charset="-122"/>
                <a:cs typeface="Calibri" pitchFamily="34" charset="-120"/>
              </a:rPr>
              <a:t>MLflow</a:t>
            </a:r>
            <a:pPr indent="0" marL="0">
              <a:buNone/>
            </a:pPr>
            <a:r>
              <a:rPr lang="en-US" sz="2200" dirty="0">
                <a:solidFill>
                  <a:srgbClr val="1F2937"/>
                </a:solidFill>
                <a:latin typeface="Calibri" pitchFamily="34" charset="0"/>
                <a:ea typeface="Calibri" pitchFamily="34" charset="-122"/>
                <a:cs typeface="Calibri" pitchFamily="34" charset="-120"/>
              </a:rPr>
              <a:t>, cloud consoles (Azure AI Foundry, Vertex AI).</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Evaluation in production</a:t>
            </a:r>
            <a:pPr indent="0" marL="0">
              <a:buNone/>
            </a:pPr>
            <a:r>
              <a:rPr lang="en-US" sz="2200" dirty="0">
                <a:solidFill>
                  <a:srgbClr val="1F2937"/>
                </a:solidFill>
                <a:latin typeface="Calibri" pitchFamily="34" charset="0"/>
                <a:ea typeface="Calibri" pitchFamily="34" charset="-122"/>
                <a:cs typeface="Calibri" pitchFamily="34" charset="-120"/>
              </a:rPr>
              <a:t>: sampled LLM-as-judge and human review, user feedback, regression suites (week 7).</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Guardrail libraries</a:t>
            </a:r>
            <a:pPr indent="0" marL="0">
              <a:buNone/>
            </a:pPr>
            <a:r>
              <a:rPr lang="en-US" sz="2200" dirty="0">
                <a:solidFill>
                  <a:srgbClr val="1F2937"/>
                </a:solidFill>
                <a:latin typeface="Calibri" pitchFamily="34" charset="0"/>
                <a:ea typeface="Calibri" pitchFamily="34" charset="-122"/>
                <a:cs typeface="Calibri" pitchFamily="34" charset="-120"/>
              </a:rPr>
              <a:t>: moderation APIs, Llama Guard-style classifiers, NeMo Guardrails, Guardrails AI.</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Comparison: choosing a deployment for a student project</a:t>
            </a:r>
            <a:endParaRPr lang="en-US" sz="3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185525"/>
                <a:gridCol w="4064291"/>
                <a:gridCol w="3844599"/>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Good choice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Best quality, quick prototype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Cloud API (free tier) + Gradio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 infrastructure; strongest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Private data, no budget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Ollama or Transformers locally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stays on the machine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Fine-tuned model for a demo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Hugging Face Spaces or Colab + Gradio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Free hosting of your own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Many users, steady load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vLLM on a cloud GPU</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Batching gives low cost per token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Reproducible hand-in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Docker image + pinned versions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Examiners can run 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deployment checklist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Transparency</a:t>
            </a:r>
            <a:pPr indent="0" marL="0">
              <a:buNone/>
            </a:pPr>
            <a:r>
              <a:rPr lang="en-US" sz="2200" dirty="0">
                <a:solidFill>
                  <a:srgbClr val="1F2937"/>
                </a:solidFill>
                <a:latin typeface="Calibri" pitchFamily="34" charset="0"/>
                <a:ea typeface="Calibri" pitchFamily="34" charset="-122"/>
                <a:cs typeface="Calibri" pitchFamily="34" charset="-120"/>
              </a:rPr>
              <a:t>: tell users they are talking to an AI and label generated content (EU AI Act Art. 50).</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Data protection</a:t>
            </a:r>
            <a:pPr indent="0" marL="0">
              <a:buNone/>
            </a:pPr>
            <a:r>
              <a:rPr lang="en-US" sz="2200" dirty="0">
                <a:solidFill>
                  <a:srgbClr val="1F2937"/>
                </a:solidFill>
                <a:latin typeface="Calibri" pitchFamily="34" charset="0"/>
                <a:ea typeface="Calibri" pitchFamily="34" charset="-122"/>
                <a:cs typeface="Calibri" pitchFamily="34" charset="-120"/>
              </a:rPr>
              <a:t>: know where data goes; minimise, redact and set retention; check provider terms (GDPR).</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Security</a:t>
            </a:r>
            <a:pPr indent="0" marL="0">
              <a:buNone/>
            </a:pPr>
            <a:r>
              <a:rPr lang="en-US" sz="2200" dirty="0">
                <a:solidFill>
                  <a:srgbClr val="1F2937"/>
                </a:solidFill>
                <a:latin typeface="Calibri" pitchFamily="34" charset="0"/>
                <a:ea typeface="Calibri" pitchFamily="34" charset="-122"/>
                <a:cs typeface="Calibri" pitchFamily="34" charset="-120"/>
              </a:rPr>
              <a:t>: keys in secrets managers; authentication and rate limits; OWASP Top 10 for LLM applications.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Oversight and evaluation</a:t>
            </a:r>
            <a:pPr indent="0" marL="0">
              <a:buNone/>
            </a:pPr>
            <a:r>
              <a:rPr lang="en-US" sz="2200" dirty="0">
                <a:solidFill>
                  <a:srgbClr val="1F2937"/>
                </a:solidFill>
                <a:latin typeface="Calibri" pitchFamily="34" charset="0"/>
                <a:ea typeface="Calibri" pitchFamily="34" charset="-122"/>
                <a:cs typeface="Calibri" pitchFamily="34" charset="-120"/>
              </a:rPr>
              <a:t>: test before release, monitor after, clear escalation path to a human.</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Cost and environment</a:t>
            </a:r>
            <a:pPr indent="0" marL="0">
              <a:buNone/>
            </a:pPr>
            <a:r>
              <a:rPr lang="en-US" sz="2200" dirty="0">
                <a:solidFill>
                  <a:srgbClr val="1F2937"/>
                </a:solidFill>
                <a:latin typeface="Calibri" pitchFamily="34" charset="0"/>
                <a:ea typeface="Calibri" pitchFamily="34" charset="-122"/>
                <a:cs typeface="Calibri" pitchFamily="34" charset="-120"/>
              </a:rPr>
              <a:t>: budgets and alerts; right-size models to reduce energy use.</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 before deploying</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speed, cost, quality and application logs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Load + time</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Warm up the model; measure first text and throughput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measure, lat_df</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timed model</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Serve + call</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Run FastAPI; request answers through SDK and framework</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154" dirty="0">
                <a:solidFill>
                  <a:srgbClr val="0F766E"/>
                </a:solidFill>
                <a:latin typeface="Consolas" pitchFamily="34" charset="0"/>
                <a:ea typeface="Consolas" pitchFamily="34" charset="-122"/>
                <a:cs typeface="Consolas" pitchFamily="34" charset="-120"/>
              </a:rPr>
              <a:t>chat_completions, client, chain</a:t>
            </a:r>
            <a:endParaRPr lang="en-US" sz="1154"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 usage</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Estimate usage</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illustrative prices and simulate retry back-off</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monthly_cost, call_with_retry</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operating assumptions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Compare efficiency</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quantisation error, perplexity, batching and response caching</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872" dirty="0">
                <a:solidFill>
                  <a:srgbClr val="0F766E"/>
                </a:solidFill>
                <a:latin typeface="Consolas" pitchFamily="34" charset="0"/>
                <a:ea typeface="Consolas" pitchFamily="34" charset="-122"/>
                <a:cs typeface="Consolas" pitchFamily="34" charset="-120"/>
              </a:rPr>
              <a:t>fake_quantize, run_batch, cached_generate</a:t>
            </a:r>
            <a:endParaRPr lang="en-US" sz="872"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measured tradeoffs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Build interface</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Connect Gradio directly to checks, generation and logging</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respond, demo</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request log</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Review operation</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Summarise synthetic traffic logs; inspect the packaging scaffold</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log, summary, dockerfile</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Does fake_quantize reduce the actual model tensor storage to four bits in this experiment?</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11: deploy, measure and monitor a generative AI app</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Stream from a local model and measure </a:t>
            </a:r>
            <a:pPr indent="0" marL="0">
              <a:buNone/>
            </a:pPr>
            <a:r>
              <a:rPr lang="en-US" sz="1700" b="1" dirty="0">
                <a:solidFill>
                  <a:srgbClr val="1F2937"/>
                </a:solidFill>
                <a:latin typeface="Calibri" pitchFamily="34" charset="0"/>
                <a:ea typeface="Calibri" pitchFamily="34" charset="-122"/>
                <a:cs typeface="Calibri" pitchFamily="34" charset="-120"/>
              </a:rPr>
              <a:t>TTFT</a:t>
            </a:r>
            <a:pPr indent="0" marL="0">
              <a:buNone/>
            </a:pPr>
            <a:r>
              <a:rPr lang="en-US" sz="1700" dirty="0">
                <a:solidFill>
                  <a:srgbClr val="1F2937"/>
                </a:solidFill>
                <a:latin typeface="Calibri" pitchFamily="34" charset="0"/>
                <a:ea typeface="Calibri" pitchFamily="34" charset="-122"/>
                <a:cs typeface="Calibri" pitchFamily="34" charset="-120"/>
              </a:rPr>
              <a:t> and </a:t>
            </a:r>
            <a:pPr indent="0" marL="0">
              <a:buNone/>
            </a:pPr>
            <a:r>
              <a:rPr lang="en-US" sz="1700" b="1" dirty="0">
                <a:solidFill>
                  <a:srgbClr val="1F2937"/>
                </a:solidFill>
                <a:latin typeface="Calibri" pitchFamily="34" charset="0"/>
                <a:ea typeface="Calibri" pitchFamily="34" charset="-122"/>
                <a:cs typeface="Calibri" pitchFamily="34" charset="-120"/>
              </a:rPr>
              <a:t>tokens/s</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Serve it as an </a:t>
            </a:r>
            <a:pPr indent="0" marL="0">
              <a:buNone/>
            </a:pPr>
            <a:r>
              <a:rPr lang="en-US" sz="1700" b="1" dirty="0">
                <a:solidFill>
                  <a:srgbClr val="1F2937"/>
                </a:solidFill>
                <a:latin typeface="Calibri" pitchFamily="34" charset="0"/>
                <a:ea typeface="Calibri" pitchFamily="34" charset="-122"/>
                <a:cs typeface="Calibri" pitchFamily="34" charset="-120"/>
              </a:rPr>
              <a:t>OpenAI-compatible API</a:t>
            </a:r>
            <a:pPr indent="0" marL="0">
              <a:buNone/>
            </a:pPr>
            <a:r>
              <a:rPr lang="en-US" sz="1700" dirty="0">
                <a:solidFill>
                  <a:srgbClr val="1F2937"/>
                </a:solidFill>
                <a:latin typeface="Calibri" pitchFamily="34" charset="0"/>
                <a:ea typeface="Calibri" pitchFamily="34" charset="-122"/>
                <a:cs typeface="Calibri" pitchFamily="34" charset="-120"/>
              </a:rPr>
              <a:t> with </a:t>
            </a:r>
            <a:pPr indent="0" marL="0">
              <a:buNone/>
            </a:pPr>
            <a:r>
              <a:rPr lang="en-US" sz="1700" b="1" dirty="0">
                <a:solidFill>
                  <a:srgbClr val="1F2937"/>
                </a:solidFill>
                <a:latin typeface="Calibri" pitchFamily="34" charset="0"/>
                <a:ea typeface="Calibri" pitchFamily="34" charset="-122"/>
                <a:cs typeface="Calibri" pitchFamily="34" charset="-120"/>
              </a:rPr>
              <a:t>FastAPI</a:t>
            </a:r>
            <a:pPr indent="0" marL="0">
              <a:buNone/>
            </a:pPr>
            <a:r>
              <a:rPr lang="en-US" sz="1700" dirty="0">
                <a:solidFill>
                  <a:srgbClr val="1F2937"/>
                </a:solidFill>
                <a:latin typeface="Calibri" pitchFamily="34" charset="0"/>
                <a:ea typeface="Calibri" pitchFamily="34" charset="-122"/>
                <a:cs typeface="Calibri" pitchFamily="34" charset="-120"/>
              </a:rPr>
              <a:t>; call it with the </a:t>
            </a:r>
            <a:pPr indent="0" marL="0">
              <a:buNone/>
            </a:pPr>
            <a:r>
              <a:rPr lang="en-US" sz="1700" dirty="0">
                <a:solidFill>
                  <a:srgbClr val="4F46E5"/>
                </a:solidFill>
                <a:latin typeface="Consolas" pitchFamily="34" charset="0"/>
                <a:ea typeface="Consolas" pitchFamily="34" charset="-122"/>
                <a:cs typeface="Consolas" pitchFamily="34" charset="-120"/>
              </a:rPr>
              <a:t>openai</a:t>
            </a:r>
            <a:pPr indent="0" marL="0">
              <a:buNone/>
            </a:pPr>
            <a:r>
              <a:rPr lang="en-US" sz="1700" dirty="0">
                <a:solidFill>
                  <a:srgbClr val="1F2937"/>
                </a:solidFill>
                <a:latin typeface="Calibri" pitchFamily="34" charset="0"/>
                <a:ea typeface="Calibri" pitchFamily="34" charset="-122"/>
                <a:cs typeface="Calibri" pitchFamily="34" charset="-120"/>
              </a:rPr>
              <a:t> SDK and </a:t>
            </a:r>
            <a:pPr indent="0" marL="0">
              <a:buNone/>
            </a:pPr>
            <a:r>
              <a:rPr lang="en-US" sz="1700" b="1" dirty="0">
                <a:solidFill>
                  <a:srgbClr val="1F2937"/>
                </a:solidFill>
                <a:latin typeface="Calibri" pitchFamily="34" charset="0"/>
                <a:ea typeface="Calibri" pitchFamily="34" charset="-122"/>
                <a:cs typeface="Calibri" pitchFamily="34" charset="-120"/>
              </a:rPr>
              <a:t>LangChain</a:t>
            </a:r>
            <a:pPr indent="0" marL="0">
              <a:buNone/>
            </a:pPr>
            <a:r>
              <a:rPr lang="en-US" sz="1700" dirty="0">
                <a:solidFill>
                  <a:srgbClr val="1F2937"/>
                </a:solidFill>
                <a:latin typeface="Calibri" pitchFamily="34" charset="0"/>
                <a:ea typeface="Calibri" pitchFamily="34" charset="-122"/>
                <a:cs typeface="Calibri" pitchFamily="34" charset="-120"/>
              </a:rPr>
              <a:t>; optionally a cloud API.</a:t>
            </a:r>
            <a:endParaRPr lang="en-US" sz="17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Estimate </a:t>
            </a:r>
            <a:pPr indent="0" marL="0">
              <a:buNone/>
            </a:pPr>
            <a:r>
              <a:rPr lang="en-US" sz="1700" b="1" dirty="0">
                <a:solidFill>
                  <a:srgbClr val="1F2937"/>
                </a:solidFill>
                <a:latin typeface="Calibri" pitchFamily="34" charset="0"/>
                <a:ea typeface="Calibri" pitchFamily="34" charset="-122"/>
                <a:cs typeface="Calibri" pitchFamily="34" charset="-120"/>
              </a:rPr>
              <a:t>monthly cost</a:t>
            </a:r>
            <a:pPr indent="0" marL="0">
              <a:buNone/>
            </a:pPr>
            <a:r>
              <a:rPr lang="en-US" sz="1700" dirty="0">
                <a:solidFill>
                  <a:srgbClr val="1F2937"/>
                </a:solidFill>
                <a:latin typeface="Calibri" pitchFamily="34" charset="0"/>
                <a:ea typeface="Calibri" pitchFamily="34" charset="-122"/>
                <a:cs typeface="Calibri" pitchFamily="34" charset="-120"/>
              </a:rPr>
              <a:t>; implement </a:t>
            </a:r>
            <a:pPr indent="0" marL="0">
              <a:buNone/>
            </a:pPr>
            <a:r>
              <a:rPr lang="en-US" sz="1700" b="1" dirty="0">
                <a:solidFill>
                  <a:srgbClr val="1F2937"/>
                </a:solidFill>
                <a:latin typeface="Calibri" pitchFamily="34" charset="0"/>
                <a:ea typeface="Calibri" pitchFamily="34" charset="-122"/>
                <a:cs typeface="Calibri" pitchFamily="34" charset="-120"/>
              </a:rPr>
              <a:t>retry with back-off</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Quantise (int8, int4, groups) and measure </a:t>
            </a:r>
            <a:pPr indent="0" marL="0">
              <a:buNone/>
            </a:pPr>
            <a:r>
              <a:rPr lang="en-US" sz="1700" b="1" dirty="0">
                <a:solidFill>
                  <a:srgbClr val="1F2937"/>
                </a:solidFill>
                <a:latin typeface="Calibri" pitchFamily="34" charset="0"/>
                <a:ea typeface="Calibri" pitchFamily="34" charset="-122"/>
                <a:cs typeface="Calibri" pitchFamily="34" charset="-120"/>
              </a:rPr>
              <a:t>perplexity</a:t>
            </a:r>
            <a:pPr indent="0" marL="0">
              <a:buNone/>
            </a:pPr>
            <a:r>
              <a:rPr lang="en-US" sz="1700" dirty="0">
                <a:solidFill>
                  <a:srgbClr val="1F2937"/>
                </a:solidFill>
                <a:latin typeface="Calibri" pitchFamily="34" charset="0"/>
                <a:ea typeface="Calibri" pitchFamily="34" charset="-122"/>
                <a:cs typeface="Calibri" pitchFamily="34" charset="-120"/>
              </a:rPr>
              <a:t>; measure </a:t>
            </a:r>
            <a:pPr indent="0" marL="0">
              <a:buNone/>
            </a:pPr>
            <a:r>
              <a:rPr lang="en-US" sz="1700" b="1" dirty="0">
                <a:solidFill>
                  <a:srgbClr val="1F2937"/>
                </a:solidFill>
                <a:latin typeface="Calibri" pitchFamily="34" charset="0"/>
                <a:ea typeface="Calibri" pitchFamily="34" charset="-122"/>
                <a:cs typeface="Calibri" pitchFamily="34" charset="-120"/>
              </a:rPr>
              <a:t>batching</a:t>
            </a:r>
            <a:pPr indent="0" marL="0">
              <a:buNone/>
            </a:pPr>
            <a:r>
              <a:rPr lang="en-US" sz="1700" dirty="0">
                <a:solidFill>
                  <a:srgbClr val="1F2937"/>
                </a:solidFill>
                <a:latin typeface="Calibri" pitchFamily="34" charset="0"/>
                <a:ea typeface="Calibri" pitchFamily="34" charset="-122"/>
                <a:cs typeface="Calibri" pitchFamily="34" charset="-120"/>
              </a:rPr>
              <a:t> and </a:t>
            </a:r>
            <a:pPr indent="0" marL="0">
              <a:buNone/>
            </a:pPr>
            <a:r>
              <a:rPr lang="en-US" sz="1700" b="1" dirty="0">
                <a:solidFill>
                  <a:srgbClr val="1F2937"/>
                </a:solidFill>
                <a:latin typeface="Calibri" pitchFamily="34" charset="0"/>
                <a:ea typeface="Calibri" pitchFamily="34" charset="-122"/>
                <a:cs typeface="Calibri" pitchFamily="34" charset="-120"/>
              </a:rPr>
              <a:t>caching</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Build a </a:t>
            </a:r>
            <a:pPr indent="0" marL="0">
              <a:buNone/>
            </a:pPr>
            <a:r>
              <a:rPr lang="en-US" sz="1700" b="1" dirty="0">
                <a:solidFill>
                  <a:srgbClr val="1F2937"/>
                </a:solidFill>
                <a:latin typeface="Calibri" pitchFamily="34" charset="0"/>
                <a:ea typeface="Calibri" pitchFamily="34" charset="-122"/>
                <a:cs typeface="Calibri" pitchFamily="34" charset="-120"/>
              </a:rPr>
              <a:t>Gradio</a:t>
            </a:r>
            <a:pPr indent="0" marL="0">
              <a:buNone/>
            </a:pPr>
            <a:r>
              <a:rPr lang="en-US" sz="1700" dirty="0">
                <a:solidFill>
                  <a:srgbClr val="1F2937"/>
                </a:solidFill>
                <a:latin typeface="Calibri" pitchFamily="34" charset="0"/>
                <a:ea typeface="Calibri" pitchFamily="34" charset="-122"/>
                <a:cs typeface="Calibri" pitchFamily="34" charset="-120"/>
              </a:rPr>
              <a:t> app with </a:t>
            </a:r>
            <a:pPr indent="0" marL="0">
              <a:buNone/>
            </a:pPr>
            <a:r>
              <a:rPr lang="en-US" sz="1700" b="1" dirty="0">
                <a:solidFill>
                  <a:srgbClr val="1F2937"/>
                </a:solidFill>
                <a:latin typeface="Calibri" pitchFamily="34" charset="0"/>
                <a:ea typeface="Calibri" pitchFamily="34" charset="-122"/>
                <a:cs typeface="Calibri" pitchFamily="34" charset="-120"/>
              </a:rPr>
              <a:t>guardrails</a:t>
            </a:r>
            <a:pPr indent="0" marL="0">
              <a:buNone/>
            </a:pPr>
            <a:r>
              <a:rPr lang="en-US" sz="1700" dirty="0">
                <a:solidFill>
                  <a:srgbClr val="1F2937"/>
                </a:solidFill>
                <a:latin typeface="Calibri" pitchFamily="34" charset="0"/>
                <a:ea typeface="Calibri" pitchFamily="34" charset="-122"/>
                <a:cs typeface="Calibri" pitchFamily="34" charset="-120"/>
              </a:rPr>
              <a:t> and </a:t>
            </a:r>
            <a:pPr indent="0" marL="0">
              <a:buNone/>
            </a:pPr>
            <a:r>
              <a:rPr lang="en-US" sz="1700" b="1" dirty="0">
                <a:solidFill>
                  <a:srgbClr val="1F2937"/>
                </a:solidFill>
                <a:latin typeface="Calibri" pitchFamily="34" charset="0"/>
                <a:ea typeface="Calibri" pitchFamily="34" charset="-122"/>
                <a:cs typeface="Calibri" pitchFamily="34" charset="-120"/>
              </a:rPr>
              <a:t>logging</a:t>
            </a:r>
            <a:pPr indent="0" marL="0">
              <a:buNone/>
            </a:pPr>
            <a:r>
              <a:rPr lang="en-US" sz="1700" dirty="0">
                <a:solidFill>
                  <a:srgbClr val="1F2937"/>
                </a:solidFill>
                <a:latin typeface="Calibri" pitchFamily="34" charset="0"/>
                <a:ea typeface="Calibri" pitchFamily="34" charset="-122"/>
                <a:cs typeface="Calibri" pitchFamily="34" charset="-120"/>
              </a:rPr>
              <a:t>; summarise the logs as a </a:t>
            </a:r>
            <a:pPr indent="0" marL="0">
              <a:buNone/>
            </a:pPr>
            <a:r>
              <a:rPr lang="en-US" sz="1700" b="1" dirty="0">
                <a:solidFill>
                  <a:srgbClr val="1F2937"/>
                </a:solidFill>
                <a:latin typeface="Calibri" pitchFamily="34" charset="0"/>
                <a:ea typeface="Calibri" pitchFamily="34" charset="-122"/>
                <a:cs typeface="Calibri" pitchFamily="34" charset="-120"/>
              </a:rPr>
              <a:t>monitoring</a:t>
            </a:r>
            <a:pPr indent="0" marL="0">
              <a:buNone/>
            </a:pPr>
            <a:r>
              <a:rPr lang="en-US" sz="1700" dirty="0">
                <a:solidFill>
                  <a:srgbClr val="1F2937"/>
                </a:solidFill>
                <a:latin typeface="Calibri" pitchFamily="34" charset="0"/>
                <a:ea typeface="Calibri" pitchFamily="34" charset="-122"/>
                <a:cs typeface="Calibri" pitchFamily="34" charset="-120"/>
              </a:rPr>
              <a:t> report; write a </a:t>
            </a:r>
            <a:pPr indent="0" marL="0">
              <a:buNone/>
            </a:pPr>
            <a:r>
              <a:rPr lang="en-US" sz="1700" b="1" dirty="0">
                <a:solidFill>
                  <a:srgbClr val="1F2937"/>
                </a:solidFill>
                <a:latin typeface="Calibri" pitchFamily="34" charset="0"/>
                <a:ea typeface="Calibri" pitchFamily="34" charset="-122"/>
                <a:cs typeface="Calibri" pitchFamily="34" charset="-120"/>
              </a:rPr>
              <a:t>Dockerfile</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 20 min); CPU works, more slowly</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300" dirty="0">
                <a:solidFill>
                  <a:srgbClr val="1F2937"/>
                </a:solidFill>
                <a:latin typeface="Calibri" pitchFamily="34" charset="0"/>
                <a:ea typeface="Calibri" pitchFamily="34" charset="-122"/>
                <a:cs typeface="Calibri" pitchFamily="34" charset="-120"/>
              </a:rPr>
              <a:t>Notebook with latency, cost, quantisation, batching and monitoring tables, the app link or screenshot, and three answers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Think in layers: models, serving, orchestration, applications, plus LLMOps.</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a:t>
            </a:r>
            <a:pPr indent="0" marL="0">
              <a:buNone/>
            </a:pPr>
            <a:r>
              <a:rPr lang="en-US" sz="1900" b="1" dirty="0">
                <a:solidFill>
                  <a:srgbClr val="1F2937"/>
                </a:solidFill>
                <a:latin typeface="Calibri" pitchFamily="34" charset="0"/>
                <a:ea typeface="Calibri" pitchFamily="34" charset="-122"/>
                <a:cs typeface="Calibri" pitchFamily="34" charset="-120"/>
              </a:rPr>
              <a:t>OpenAI-compatible API</a:t>
            </a:r>
            <a:pPr indent="0" marL="0">
              <a:buNone/>
            </a:pPr>
            <a:r>
              <a:rPr lang="en-US" sz="1900" dirty="0">
                <a:solidFill>
                  <a:srgbClr val="1F2937"/>
                </a:solidFill>
                <a:latin typeface="Calibri" pitchFamily="34" charset="0"/>
                <a:ea typeface="Calibri" pitchFamily="34" charset="-122"/>
                <a:cs typeface="Calibri" pitchFamily="34" charset="-120"/>
              </a:rPr>
              <a:t> lets one client use cloud, self-hosted and local models.</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Protect </a:t>
            </a:r>
            <a:pPr indent="0" marL="0">
              <a:buNone/>
            </a:pPr>
            <a:r>
              <a:rPr lang="en-US" sz="1900" b="1" dirty="0">
                <a:solidFill>
                  <a:srgbClr val="1F2937"/>
                </a:solidFill>
                <a:latin typeface="Calibri" pitchFamily="34" charset="0"/>
                <a:ea typeface="Calibri" pitchFamily="34" charset="-122"/>
                <a:cs typeface="Calibri" pitchFamily="34" charset="-120"/>
              </a:rPr>
              <a:t>API keys</a:t>
            </a:r>
            <a:pPr indent="0" marL="0">
              <a:buNone/>
            </a:pPr>
            <a:r>
              <a:rPr lang="en-US" sz="1900" dirty="0">
                <a:solidFill>
                  <a:srgbClr val="1F2937"/>
                </a:solidFill>
                <a:latin typeface="Calibri" pitchFamily="34" charset="0"/>
                <a:ea typeface="Calibri" pitchFamily="34" charset="-122"/>
                <a:cs typeface="Calibri" pitchFamily="34" charset="-120"/>
              </a:rPr>
              <a:t>; plan for </a:t>
            </a:r>
            <a:pPr indent="0" marL="0">
              <a:buNone/>
            </a:pPr>
            <a:r>
              <a:rPr lang="en-US" sz="1900" b="1" dirty="0">
                <a:solidFill>
                  <a:srgbClr val="1F2937"/>
                </a:solidFill>
                <a:latin typeface="Calibri" pitchFamily="34" charset="0"/>
                <a:ea typeface="Calibri" pitchFamily="34" charset="-122"/>
                <a:cs typeface="Calibri" pitchFamily="34" charset="-120"/>
              </a:rPr>
              <a:t>tokens, pricing and rate limits</a:t>
            </a:r>
            <a:pPr indent="0" marL="0">
              <a:buNone/>
            </a:pPr>
            <a:r>
              <a:rPr lang="en-US" sz="1900" dirty="0">
                <a:solidFill>
                  <a:srgbClr val="1F2937"/>
                </a:solidFill>
                <a:latin typeface="Calibri" pitchFamily="34" charset="0"/>
                <a:ea typeface="Calibri" pitchFamily="34" charset="-122"/>
                <a:cs typeface="Calibri" pitchFamily="34" charset="-120"/>
              </a:rPr>
              <a:t>; </a:t>
            </a:r>
            <a:pPr indent="0" marL="0">
              <a:buNone/>
            </a:pPr>
            <a:r>
              <a:rPr lang="en-US" sz="1900" b="1" dirty="0">
                <a:solidFill>
                  <a:srgbClr val="1F2937"/>
                </a:solidFill>
                <a:latin typeface="Calibri" pitchFamily="34" charset="0"/>
                <a:ea typeface="Calibri" pitchFamily="34" charset="-122"/>
                <a:cs typeface="Calibri" pitchFamily="34" charset="-120"/>
              </a:rPr>
              <a:t>stream</a:t>
            </a:r>
            <a:pPr indent="0" marL="0">
              <a:buNone/>
            </a:pPr>
            <a:r>
              <a:rPr lang="en-US" sz="1900" dirty="0">
                <a:solidFill>
                  <a:srgbClr val="1F2937"/>
                </a:solidFill>
                <a:latin typeface="Calibri" pitchFamily="34" charset="0"/>
                <a:ea typeface="Calibri" pitchFamily="34" charset="-122"/>
                <a:cs typeface="Calibri" pitchFamily="34" charset="-120"/>
              </a:rPr>
              <a:t> answers.</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Latency ≈ </a:t>
            </a:r>
            <a:pPr indent="0" marL="0">
              <a:buNone/>
            </a:pPr>
            <a:r>
              <a:rPr lang="en-US" sz="1900" b="1" dirty="0">
                <a:solidFill>
                  <a:srgbClr val="1F2937"/>
                </a:solidFill>
                <a:latin typeface="Calibri" pitchFamily="34" charset="0"/>
                <a:ea typeface="Calibri" pitchFamily="34" charset="-122"/>
                <a:cs typeface="Calibri" pitchFamily="34" charset="-120"/>
              </a:rPr>
              <a:t>TTFT</a:t>
            </a:r>
            <a:pPr indent="0" marL="0">
              <a:buNone/>
            </a:pPr>
            <a:r>
              <a:rPr lang="en-US" sz="1900" dirty="0">
                <a:solidFill>
                  <a:srgbClr val="1F2937"/>
                </a:solidFill>
                <a:latin typeface="Calibri" pitchFamily="34" charset="0"/>
                <a:ea typeface="Calibri" pitchFamily="34" charset="-122"/>
                <a:cs typeface="Calibri" pitchFamily="34" charset="-120"/>
              </a:rPr>
              <a:t> + output tokens ÷ tokens per second.</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Cloud vs self-hosted vs local: trade quality, cost, data control and operations.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Quantisation</a:t>
            </a:r>
            <a:pPr indent="0" marL="0">
              <a:buNone/>
            </a:pPr>
            <a:r>
              <a:rPr lang="en-US" sz="1900" dirty="0">
                <a:solidFill>
                  <a:srgbClr val="1F2937"/>
                </a:solidFill>
                <a:latin typeface="Calibri" pitchFamily="34" charset="0"/>
                <a:ea typeface="Calibri" pitchFamily="34" charset="-122"/>
                <a:cs typeface="Calibri" pitchFamily="34" charset="-120"/>
              </a:rPr>
              <a:t>, </a:t>
            </a:r>
            <a:pPr indent="0" marL="0">
              <a:buNone/>
            </a:pPr>
            <a:r>
              <a:rPr lang="en-US" sz="1900" b="1" dirty="0">
                <a:solidFill>
                  <a:srgbClr val="1F2937"/>
                </a:solidFill>
                <a:latin typeface="Calibri" pitchFamily="34" charset="0"/>
                <a:ea typeface="Calibri" pitchFamily="34" charset="-122"/>
                <a:cs typeface="Calibri" pitchFamily="34" charset="-120"/>
              </a:rPr>
              <a:t>batching</a:t>
            </a:r>
            <a:pPr indent="0" marL="0">
              <a:buNone/>
            </a:pPr>
            <a:r>
              <a:rPr lang="en-US" sz="1900" dirty="0">
                <a:solidFill>
                  <a:srgbClr val="1F2937"/>
                </a:solidFill>
                <a:latin typeface="Calibri" pitchFamily="34" charset="0"/>
                <a:ea typeface="Calibri" pitchFamily="34" charset="-122"/>
                <a:cs typeface="Calibri" pitchFamily="34" charset="-120"/>
              </a:rPr>
              <a:t> and </a:t>
            </a:r>
            <a:pPr indent="0" marL="0">
              <a:buNone/>
            </a:pPr>
            <a:r>
              <a:rPr lang="en-US" sz="1900" b="1" dirty="0">
                <a:solidFill>
                  <a:srgbClr val="1F2937"/>
                </a:solidFill>
                <a:latin typeface="Calibri" pitchFamily="34" charset="0"/>
                <a:ea typeface="Calibri" pitchFamily="34" charset="-122"/>
                <a:cs typeface="Calibri" pitchFamily="34" charset="-120"/>
              </a:rPr>
              <a:t>caching</a:t>
            </a:r>
            <a:pPr indent="0" marL="0">
              <a:buNone/>
            </a:pPr>
            <a:r>
              <a:rPr lang="en-US" sz="1900" dirty="0">
                <a:solidFill>
                  <a:srgbClr val="1F2937"/>
                </a:solidFill>
                <a:latin typeface="Calibri" pitchFamily="34" charset="0"/>
                <a:ea typeface="Calibri" pitchFamily="34" charset="-122"/>
                <a:cs typeface="Calibri" pitchFamily="34" charset="-120"/>
              </a:rPr>
              <a:t> cut cost; re-check quality.</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Apps: </a:t>
            </a:r>
            <a:pPr indent="0" marL="0">
              <a:buNone/>
            </a:pPr>
            <a:r>
              <a:rPr lang="en-US" sz="1900" b="1" dirty="0">
                <a:solidFill>
                  <a:srgbClr val="1F2937"/>
                </a:solidFill>
                <a:latin typeface="Calibri" pitchFamily="34" charset="0"/>
                <a:ea typeface="Calibri" pitchFamily="34" charset="-122"/>
                <a:cs typeface="Calibri" pitchFamily="34" charset="-120"/>
              </a:rPr>
              <a:t>Gradio</a:t>
            </a:r>
            <a:pPr indent="0" marL="0">
              <a:buNone/>
            </a:pPr>
            <a:r>
              <a:rPr lang="en-US" sz="1900" dirty="0">
                <a:solidFill>
                  <a:srgbClr val="1F2937"/>
                </a:solidFill>
                <a:latin typeface="Calibri" pitchFamily="34" charset="0"/>
                <a:ea typeface="Calibri" pitchFamily="34" charset="-122"/>
                <a:cs typeface="Calibri" pitchFamily="34" charset="-120"/>
              </a:rPr>
              <a:t> + </a:t>
            </a:r>
            <a:pPr indent="0" marL="0">
              <a:buNone/>
            </a:pPr>
            <a:r>
              <a:rPr lang="en-US" sz="1900" b="1" dirty="0">
                <a:solidFill>
                  <a:srgbClr val="1F2937"/>
                </a:solidFill>
                <a:latin typeface="Calibri" pitchFamily="34" charset="0"/>
                <a:ea typeface="Calibri" pitchFamily="34" charset="-122"/>
                <a:cs typeface="Calibri" pitchFamily="34" charset="-120"/>
              </a:rPr>
              <a:t>FastAPI</a:t>
            </a:r>
            <a:pPr indent="0" marL="0">
              <a:buNone/>
            </a:pPr>
            <a:r>
              <a:rPr lang="en-US" sz="1900" dirty="0">
                <a:solidFill>
                  <a:srgbClr val="1F2937"/>
                </a:solidFill>
                <a:latin typeface="Calibri" pitchFamily="34" charset="0"/>
                <a:ea typeface="Calibri" pitchFamily="34" charset="-122"/>
                <a:cs typeface="Calibri" pitchFamily="34" charset="-120"/>
              </a:rPr>
              <a:t> + </a:t>
            </a:r>
            <a:pPr indent="0" marL="0">
              <a:buNone/>
            </a:pPr>
            <a:r>
              <a:rPr lang="en-US" sz="1900" b="1" dirty="0">
                <a:solidFill>
                  <a:srgbClr val="1F2937"/>
                </a:solidFill>
                <a:latin typeface="Calibri" pitchFamily="34" charset="0"/>
                <a:ea typeface="Calibri" pitchFamily="34" charset="-122"/>
                <a:cs typeface="Calibri" pitchFamily="34" charset="-120"/>
              </a:rPr>
              <a:t>Docker</a:t>
            </a:r>
            <a:pPr indent="0" marL="0">
              <a:buNone/>
            </a:pPr>
            <a:r>
              <a:rPr lang="en-US" sz="1900" dirty="0">
                <a:solidFill>
                  <a:srgbClr val="1F2937"/>
                </a:solidFill>
                <a:latin typeface="Calibri" pitchFamily="34" charset="0"/>
                <a:ea typeface="Calibri" pitchFamily="34" charset="-122"/>
                <a:cs typeface="Calibri" pitchFamily="34" charset="-120"/>
              </a:rPr>
              <a:t>; version models and prompts.</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Monitor performance, cost, quality and safety; layer </a:t>
            </a:r>
            <a:pPr indent="0" marL="0">
              <a:buNone/>
            </a:pPr>
            <a:r>
              <a:rPr lang="en-US" sz="1900" b="1" dirty="0">
                <a:solidFill>
                  <a:srgbClr val="1F2937"/>
                </a:solidFill>
                <a:latin typeface="Calibri" pitchFamily="34" charset="0"/>
                <a:ea typeface="Calibri" pitchFamily="34" charset="-122"/>
                <a:cs typeface="Calibri" pitchFamily="34" charset="-120"/>
              </a:rPr>
              <a:t>guardrails</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Microsoft: Generative AI for Beginners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Lessons on building and securing apps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Hugging Face Inference Providers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OpenAI-compatible router to open models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Gemini API: OpenAI compatibility</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Use Gemini with the OpenAI SDK</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vLLM documentation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High-throughput serving</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Ollama</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Run open models locally</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Gradio quickstart</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Interfaces in Python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FastAPI tutorial</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Build APIs with Python</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OWASP Top 10 for LLM Applications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Security risks and mitigations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11: Deployment and Frameworks</dc:title>
  <dc:subject>Generative AI (MSc in Artificial Intelligence)</dc:subject>
  <dc:creator>Generative AI module team</dc:creator>
  <cp:lastModifiedBy>Generative AI module team</cp:lastModifiedBy>
  <cp:revision>1</cp:revision>
  <dcterms:created xsi:type="dcterms:W3CDTF">2026-10-06T20:34:01Z</dcterms:created>
  <dcterms:modified xsi:type="dcterms:W3CDTF">2026-10-06T20:34:01Z</dcterms:modified>
</cp:coreProperties>
</file>