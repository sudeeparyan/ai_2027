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Deployment turns a model into an application people can use and maintain.
Explain: A model predicts tokens, while an application receives requests and returns useful answers. Deployment means making that complete system available. An interface serves people; an API connects programs through declared messages. Monitoring records failures, time, token use and versions after requests arrive. Weights stay fixed during the serving experiments in this lecture.
Example: Imagine a course assistant answering one invented question in a notebook. Now imagine 500 students requesting answers. The model is unchanged, but queues, access controls and operating responsibilities become essential. The classroom example does not establish real concurrent capacity.
Ask: What separates a working notebook from a maintained service?
Answer: Request handling, an interface, deployment choices, tests, controls and monitoring around the model.
Watch out: A successful single answer does not demonstrate reliable service for hundreds of simultaneous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Choose and operate a deployment using evidence about quality, time, cost and data.
Explain: Serving means running an existing model for requests. Frameworks provide reusable components for model access or application coordination. Quantisation represents weights with fewer values; batching processes requests together. Caching reuses computation or completed answers. The full outcomes include building interfaces, packaging dependencies and monitoring every reachable request route.
Example: For a fictional course assistant, identify who owns the interface, model runtime and logs. Compare a local model with a hosted API using the same questions. A comparison needs task quality as well as token counts; a cheap incorrect answer is not sufficient.
Ask: Which evidence would justify choosing one deployment?
Answer: Task quality, request timing, total operating cost, data handling and maintenance constraints.
Watch out: Tool familiarity is useful, but it cannot replace measurements or the requirements of the actual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course now connects trained models to usable systems and measured operation.
Explain: Earlier weeks explained model families, prompting, evaluation and adaptation. This week adds serving, interfaces and operating measurements. Serving uses fixed weights rather than changing them through training. Week twelve extends applications with retrieval and controlled tools. Read the highlighted course position before naming the dependencies needed for the lab.
Example: A student fine-tunes a classifier in an earlier week, then exposes its predictions through an API here. The training notebook supplies weights; the application supplies request validation and responses. The course map shows conceptual dependencies rather than an executable data pipeline.
Ask: Does moving a model behind an API train its weights?
Answer: No. Deployment changes how requests reach the model; training requires a separate objective and update.
Watch out: Do not interpret every connection on the course map as a model-training step or a compulsory software dependency.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Read tokens, APIs and latency as different parts of one application request.
Explain: A token is a unit processed by the language model. An API is an interface through which programs request work. JSON expresses named fields in structured text. Latency is the elapsed wait for a request. The same request may contain many tokens, and its latency includes more than token generation.
Example: An invented JSON request contains one user message and max_tokens=24. The tokenizer may split a word into several IDs before the model runs. The client receives text and usage fields after a measurable wait. Field validity does not establish answer correctness or actual network capacity.
Ask: Are characters, tokens and latency interchangeable measurements?
Answer: No. They measure text symbols, model processing units and elapsed time respectively.
Watch out: First decoded text is an approximate token timestamp; do not describe an in-process TestClient duration as network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More users create questions about capacity, privacy, cost and responsibility.
Explain: Capacity is the workload a service can handle under stated conditions. Concurrent requests overlap in time and can create queues. Latency measures how long a request waits. Throughput measures total completed work per unit time. Responsibility includes deciding who diagnoses failures, controls access and keeps the application working.
Example: Imagine 500 students each sending one question before a deadline. A notebook that answered one question tells us little about that burst. Like a service counter, the application can develop a queue; unlike a simple counter, model requests also vary in length.
Ask: Which concern would you measure first for the deadline burst?
Answer: Measure arrival patterns, individual waits and errors, then compare capacity with the quality and budget requirements.
Watch out: A public demo link is an interface feature, not evidence of capacity, access control or reliable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Separate the model, serving layer, application coordination and interface before choosing tools.
Explain: The model computes token predictions from stored weights. A serving layer runs that computation for requests. Application coordination connects prompts, retrieval, tools and checks. An interface presents controls to people or endpoints to programs. These responsibilities can share one process, but they remain different design decisions.
Example: A restaurant separates the menu, waiter and kitchen. Similarly, Gradio displays controls while model code generates answers. The analogy breaks when software components run together or call remote services; their physical location does not define their responsibility.
Ask: Does an orchestration framework automatically host the model?
Answer: No. Workflow coordination and model execution are separate choices, even when one package can connect them.
Watch out: An OpenAI-compatible endpoint can implement only part of the client format; always test the fields you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checked Python route blocks or cleans current input before fixed-weight generation and metadata logging.
Explain: The current request contains invented text and optional earlier history. The input rule checks length and a limited set of patterns. Allowed text reaches fixed-weight generation, followed by an output rule. Blocked input skips the model and receives a refusal. Both branches write metadata, while the separate API route needs its own controls.
Example: Call respond with a normal question and a literal injection phrase. The normal path records input and completion tokens. The blocked path records zero model tokens. The solid refusal branch goes directly from input checking to logging; it does not pass through generation.
Ask: Does a blocked current request reach generate?
Answer: No. It takes the refusal branch and is logged without a model call.
Watch out: Cleaning only the newest message does not clean old history, and pattern rules can miss paraphrased attacks.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stack assigns distinct responsibilities to hardware, models, serving, coordination and applications.
Explain: Hardware supplies computation and memory. Model weights determine learned predictions, while generation settings control inference. Serving accepts requests and invokes a model runtime. Orchestration connects multiple application operations. Monitoring crosses these layers because a slow or incorrect answer can originate in several different places.
Example: Trace a browser message through application code to a model on a laptop. The browser is an interface; the laptop is hardware. A serving engine runs weights, whereas a retrieval framework finds evidence. The layer table classifies responsibilities rather than passing data between its rows.
Ask: Where do vLLM and Ollama belong in this stack?
Answer: They provide ways to run and access models; they are serving or local-runtime tools.
Watch out: Do not label a model library, orchestration framework and hosting service as interchangeable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Choose each named tool for its role rather than collecting frameworks without a need.
Explain: Hugging Face offers model distribution and tools for running or accessing models. OpenAI, Azure OpenAI and Gemini API provide hosted model access. vLLM and Ollama illustrate serving and local model execution. LangChain and LangGraph coordinate application operations; LlamaIndex supports indexing and retrieval. Model availability, features and hosting conditions require current official documentation.
Example: For one laptop request, a local runtime may be sufficient. For a retrieval assistant, application code also needs evidence selection. The table groups examples by role; it does not rank model quality or promise any account a free hosted machine.
Ask: Which kind of tool runs a small model locally?
Answer: A local model runtime, such as Ollama or direct Transformers code, subject to the device and model requirements.
Watch out: An example name is not a guarantee of current pricing, capacity, eligibility or identical behaviour across releases.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compatible API reuses a basic request format while backend capabilities can differ.
Explain: A client is the program sending a request. An endpoint is the address and handler receiving it. Compatibility means supporting specified request and response fields. It does not guarantee identical answers, tools, streaming or error behaviour. Changing endpoints therefore requires feature checks and a repeated task evaluation.
Example: Keep a messages list containing one user question, then change the endpoint, credential and model identity. The local lab returns choices and usage fields in a compatible shape. It deliberately lacks the complete provider API, production authentication and streaming response protocol.
Ask: Which settings usually identify another compatible backend?
Answer: The endpoint address, its credential and the model identifier, followed by checks of required features.
Watch out: Compatibility concerns a contract between programs; it does not make their models equally capable or their data terms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An SDK is enough for a simple call; frameworks help when coordination becomes a real requirement.
Explain: An SDK is a software library for communicating with a service. Plain code can format prompts, make calls and validate results directly. Frameworks add connectors, state management and reusable workflow components. State means information retained between operations. Each extra abstraction also adds dependencies and another place to inspect failures.
Example: Compare one call followed by JSON validation with a workflow that retrieves evidence and resumes interrupted steps. The latter may benefit from managed state. A framework can organise that work, but the same underlying model still needs task evaluation and operating controls.
Ask: When does an orchestration framework justify its dependencies?
Answer: When its connectors, workflow state or tracing solve a specific application requirement that plain code handles poorly.
Watch out: A framework does not automatically provide suitable privacy controls, model hosting or correct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data-location requirement must be satisfied before comparing model quality or convenience.
Explain: Self-hosting means your organisation operates the model runtime. A compatible endpoint can preserve the basic client contract. The organisation still needs capacity, access controls and maintenance. Re-evaluation checks the replacement model on the real task. Deleting data after sending it cannot satisfy a requirement that it never leaves university servers.
Example: An invented student record must remain on university infrastructure. Changing to a suitable university-hosted compatible endpoint can preserve the request pattern. Verify that logging, backups and auxiliary tools also respect the same location requirement; changing one URL alone does not establish that.
Ask: Which option fits the stated data-location requirement?
Answer: A. Self-host a suitable compatible model, change the endpoint and repeat feature, quality and capacity tests.
Watch out: A larger external model remains external, and requesting later deletion does not undo the earlier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API operation requires credentials, bounded requests, cost arithmetic and explicit error handling.
Explain: Authentication establishes who is requesting access. Token counts measure input and generated text under the selected tokenizer. Rate limits restrict requests or tokens within a time window. Streaming exposes pieces of an answer before completion. Prices and supported fields are provider-specific, so classroom cost inputs are explicitly illustrative.
Example: At 500 students, 20 requests daily and 30 days, the scenario contains 300,000 requests. Multiplying by 800 input tokens gives 240 million input tokens. Output tokens need a separate count and price. These are planning assumptions, not observed traffic or current vendor rates.
Ask: Why count input and output tokens separately?
Answer: They represent different work and can have different prices, quotas and effects on waiting time.
Watch out: Streaming changes when output becomes visible; it does not automatically reduce total generation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Read an API platform as a contract for identity, requests, responses, quotas and billing.
Explain: Credentials establish the calling account or identity. Request fields specify messages, output limits and supported settings. Responses return useful data or an error that the application must handle. Quotas bound requests or token use. Schema validation checks declared fields, while billing and data-use terms need separate provider documentation.
Example: An invented request contains messages and max_tokens=24. The platform checks access and field validity before serving it. A successful reply may include separate input and output counts. The same JSON shape does not imply a shared tokenizer, free access or identical request limits.
Ask: Does a valid schema guarantee a correct model answer?
Answer: No. A schema checks structure; correctness still requires evidence and task evaluation.
Watch out: Do not assume every provider supports the same tools, output formats, cache rules or streaming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Keep provider credentials on the server and apply deliberate access and request controls.
Explain: An API key is a secret credential identifying an account. Browser code and shared notebooks can reveal embedded credentials. Server-side secrets keep that key outside the user interface. Restricted permissions and usage controls limit what a stolen credential can do. Revocation disables a leaked key; reviewing usage helps identify what happened.
Example: A browser sends an invented question to your application server. The server reads a secret only after the optional provider route is enabled. The browser receives answer text, never the key. This separation still needs authentication and limits on the browser-facing endpoint.
Ask: Should a browser receive the provider key to call the model?
Answer: No. It should call a controlled application server that holds the provider credential.
Watch out: A private notebook can later be shared or committed; its privacy setting is not a secrets-management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First-token wait and full-answer wait measure different stages of one request.
Explain: Network travel and authentication occur before model work. A queue adds waiting when capacity is occupied. Prefill processes the input prompt. Decoding generates continuation tokens sequentially. Time to first token ends when the first model token becomes available; completion time covers the whole request.
Example: In a hypothetical calculation, first output arrives after one second and 100 further tokens take five seconds. Total wait is roughly six seconds. The notebook observes first non-empty decoded text instead of internal token timestamps; one text chunk can contain several tokens.
Ask: Does showing streamed text necessarily shorten completion time?
Answer: No. It can let users read earlier while the same generation work continues.
Watch out: TestClient excludes real network transport; neither its timing nor a decoded chunk is a complete production TTFT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Read the latency chart together with the recorded model, hardware and measurement boundary.
Explain: The stored chart comes from the archived instructor run. First non-empty decoded text approximates time to first token. Full-answer duration includes the complete observed generation. Retokenising decoded text estimates output length and can differ from generated token IDs. The revised CPU lab creates its own table using a smaller bounded workload.
Example: The shorter bar marks when readable text began; the longer bar marks completion for the same question. Use the stored result placeholder for the recorded values. Then compare your new table only after noting model identity, output cap, device and warm-up conditions.
Ask: Can the stored chart predict your exact CPU waiting time?
Answer: No. It records a specified earlier run; your hardware, model, workload and timing boundary may differ.
Watch out: Never copy archived values into a fresh table or describe an unmeasured revised path as already timed.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Estimate monthly cost by multiplying requests and separate token charges using consistent units.
Explain: Input and output prices here are hypothetical classroom values. A million-token unit requires dividing token totals by one million. Requests per month come from users, requests per day and days. An always-on machine instead accumulates hourly charges. Staff work, peak capacity and answer quality remain separate comparison requirements.
Example: The scenario gives 300,000 requests with 800 input and 300 output tokens each. At illustrative rates 0.10 and 0.40 dollars per million, each request costs 0.0002 dollars, giving 60 dollars monthly. This arithmetic is not a current provider quotation.
Ask: Which costs are absent from the always-on GPU row?
Answer: Staff time and other operating costs; the row also does not establish enough capacity for peak demand.
Watch out: Keep rates dated and labelled, and do not compare model prices without checking the quality required by the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Streaming and retries need explicit limits and clear failure handling.
Explain: A stream yields pieces while generation continues. The displayed pseudocode consumes chunks instead of waiting for one complete answer. HTTP 429 signals rate limiting. Backoff increases retry delays; jitter varies them so callers do not retry simultaneously. Capped attempts and timeouts prevent endless waiting, while permanent errors need a different response.
Example: A fictional provider returns two 429 errors before succeeding. Base delays of 0.2 then 0.4 seconds can receive a small random variation. The local simulation demonstrates scheduling; it makes no hosted requests and does not establish a provider quota.
Ask: Why add jitter as well as exponential backoff?
Answer: It reduces synchronised retries by many clients after a shared limit or outage.
Watch out: Every attempted hosted call can affect quotas or cost; cap combined attempts and do not retry invalid credentials indefinitely.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Choose the hosting location and then test efficiency changes against task quality.
Explain: Hosted APIs run the model through a provider. Self-hosting makes your organisation responsible for the runtime. Local execution runs on the student or user device. Quantisation, batching and caching improve different parts of operation. Their effects depend on the actual model, workload, hardware and implementation rather than a universal speed ranking.
Example: For a fictional course assistant, compare where prompts travel, who maintains the runtime and how cost accumulates. Then hold questions and output length constant while testing an efficiency change. A lower weight estimate does not prove lower total memory or satisfactory answers.
Ask: What should be checked after changing numerical precision?
Answer: The actual task answers, timing and complete memory requirements under the chosen serving configuration.
Watch out: An optimisation can change quality, capacity or individual waiting time; measure each relevant outcome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Hosting choices trade data location, operating work, model access and cost structure.
Explain: A cloud API charges for provider-managed access. Self-hosting runs suitable weights on infrastructure your team maintains. Local execution uses the device owner's available resources. Data location depends on all routes, logs and connected services. No option removes the need to evaluate quality and request handling.
Example: Suppose invented data must stay on a university server. A university-hosted runtime may satisfy that condition, while a provider API requires a different agreement. For public fictional prompts, a hosted route may be convenient. These scenarios illustrate requirements rather than a universal recommendation.
Ask: Which cost can make self-hosting expensive at low usage?
Answer: An idle rented machine still incurs charges, and maintenance staff time continues.
Watch out: Local execution is not costless: hardware, energy, setup, reliability and model suitability still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Fake quantisation groups weights, computes scales, rounds values and reconstructs floating-point approximations.
Explain: Reshaping creates M groups of g values without changing the underlying numbers. Each group gets a scale from its largest magnitude and chosen integer range. Rounding divides the original group values by that scale before choosing integers. Reconstruction multiplies those integers by the same scale. Relative error compares reconstructed weights with the original values; this is measurement, not training.
Example: With four bits and group maximum one, qmax is seven and the scale is one divided by seven. A value of 0.2 becomes integer one, then reconstructs to approximately 0.143. Labelled bundles carry original groups, scales and integer codes through the operations without changing the original groups.
Ask: Are reconstructed tensors stored as packed four-bit integers?
Answer: No. They remain floating point; the separate size estimate describes hypothetical packed storage.
Watch out: Scoring perplexity and restoring full-model weights are separate lab operations, outside this helper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Quantisation rounds weights to a limited set of values using an explicit scale.
Explain: The parameter count determines ideal weight storage before overhead. Bits per weight divided by eight converts that count to bytes. The symbol b denotes bits and s denotes the scale. Integer q is the rounded value; reconstructed weight w-hat equals q times s. Separate group scales trade added metadata for potentially lower rounding error. N with subscript params means parameter count, while w means original weights.
Example: For one billion weights, 16-bit ideal storage is two billion bytes; four-bit storage is half a billion bytes. In a four-bit symmetric group with largest magnitude one, the scale is one divided by seven. Rounding 0.2 then reconstructing gives approximately 0.143.
Ask: Does the fake_quantize helper allocate packed four-bit tensors?
Answer: No. It reconstructs floating-point tensors to measure numerical approximation error.
Watch out: Weight-only arithmetic excludes scales, attention caches, intermediate tensors and runtime memory; it cannot guarantee that a model 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quantisation chart separates hypothetical packed storage from a measured quality proxy.
Explain: Fake quantisation rounds then reconstructs floating-point weights. The size estimate describes hypothetical packed storage, not observed tensor allocations. Perplexity is exponential average token loss under this model and tokenizer. It probes one paragraph rather than every application task. Original weights are restored so later experiments start from the unchanged reference.
Example: Compare per-row four-bit rounding with groups of 64 weights. Each group has its own scale, so differently sized values can receive different resolutions. Read the archived result placeholder for the actual recorded error and perplexity; the mechanism alone cannot predict their order.
Ask: What evidence would establish acceptable quality after rounding?
Answer: Task-specific evaluation on held-out examples, alongside the numerical error and perplexity probe.
Watch out: Do not call theoretical size a measured memory saving or treat one paragraph as a complete deployment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Batch throughput measures aggregate work and does not directly state each user's waiting time.
Explain: Batching processes several input sequences in one model operation. Padding aligns their lengths, and an attention mask identifies real tokens. Aggregate throughput counts generated tokens divided by elapsed time. The lab fixes generation length for a fair workload comparison. Continuous batching can admit new work as existing requests finish.
Example: Four prompts with eight generated tokens each create 32 output tokens. If the measured workload takes t seconds, aggregate throughput is 32 divided by t. This worked formula does not assign a value to t or claim the batch is faster on every CPU.
Ask: Must a throughput improvement shorten each request's latency?
Answer: No. Waiting for a batch or sharing capacity can increase an individual request's wait.
Watch out: Compare equal prompts and token counts; do not infer concurrent production capacity from this small sequential timing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response cache reuses a completed answer only for the same model, messages and output limit.
Explain: The request fields define the operation to repeat. A hash turns those fields into a dictionary key. A cache lookup either finds an answer or misses. Only a miss reaches fixed-weight generation before storing the reply. A hit takes a direct branch to the reused answer without another model call.
Example: Call the same invented library-hours request twice with the same cap. The first call generates and the second retrieves stored text. Change the cap or messages to create a new key. Both replies still lack a timetable source, so neither caching nor generation establishes correct opening hours.
Ask: Does the hit branch perform generation again?
Answer: No. It returns the existing answer; generation is needed only for a miss.
Watch out: Cache identity and freshness must cover relevant settings, and cached unsupported answers remain unsupported.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Distinguish reused attention computation, reused prefixes and reused complete answers.
Explain: A key-value cache stores earlier attention state during generation. Prefix caching reuses computation for a repeated input beginning. Response caching instead returns an already completed answer. PagedAttention organises attention-cache memory, while speculative decoding proposes then verifies candidate tokens. These mechanisms solve different kinds of repeated work.
Example: The lab response-cache key includes model identity, complete messages and output cap. Changing any field should require a new answer. A cached library-hours reply remains unsupported when no timetable evidence was supplied; speed does not turn an invented answer into a fact.
Ask: Can a response-cache hit still return a wrong answer?
Answer: Yes. It reuses the stored text and inherits its errors unless separate evidence and freshness checks are applied.
Watch out: A provider prefix cache is not the same operation as storing full application responses in a dictionary.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Weight storage is only the first part of a model's complete memory budget.
Explain: A billion parameters contain a billion learned weight values. Sixteen bits require two bytes per value before overhead. Four-bit storage needs additional scales or metadata in a real implementation. Serving also allocates attention caches, intermediate tensors and runtime state. Longer prompts and larger batches can increase these additional allocations.
Example: The arithmetic gives about one gigabyte for 0.5 billion weights at 16 bits. Seven billion four-bit weights need about 3.5 gigabytes before metadata. Compare those estimates with device capacity only after allowing room for caches and the actual runtime configuration.
Ask: Why can fitting the weight estimate still cause an out-of-memory error?
Answer: Generation needs additional caches, temporary tensors and runtime memory beyond the weights.
Watch out: A device-capacity example is not a guarantee that a particular model, context length or batch will run successfully.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Concurrent-user pressure calls for capacity experiments while preserving acceptable model quality.
Explain: Concurrency means requests overlap in time. Continuous batching shares model operations across requests as capacity becomes available. Quantisation can reduce weight storage in a suitable serving implementation. Both changes need evaluation under the intended workload. Changing temperature or disabling streaming does not by itself establish enough capacity.
Example: An already accurate model struggles with 50 overlapping users. Test a serving configuration with the same task examples and realistic arrival patterns. Record waiting-time percentiles, errors and answer checks alongside throughput. The notebook's small batch experiment is preparation for this larger load test.
Ask: Which option deserves testing in the stated situation?
Answer: B. Continuous batching and quantisation, followed by quality, latency and capacity checks.
Watch out: Efficiency techniques are hypotheses to test, not promises; fake rounding alone does not create a production low-bit serving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An interface, an endpoint and a package expose the same model through different responsibilities.
Explain: FastAPI maps declared HTTP requests to Python handlers. Gradio connects browser controls to a Python function. Docker packages code and dependencies with a start command. Request validation checks structure before generation. Authentication, content controls and monitoring still need explicit implementation on every route.
Example: TestClient sends a JSON request to the FastAPI application inside the notebook process. Calling respond directly exercises a separate checked route. An optional Gradio interface can call respond too, but it does not automatically send requests through FastAPI or inherit its schema.
Ask: Does creating a Gradio interface also create a FastAPI deployment?
Answer: No. They are separate application components; connecting them requires an explicit design and implementation.
Watch out: A Docker scaffold does not reproduce notebook controls unless those handlers, checks and logs are actually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architecture diagram shows a proposed integrated route, distinct from the lab's separate exercises.
Explain: A browser submits a request to an application entry point. Input controls can check fields, access and supported data patterns. Fixed model weights generate an answer. Output controls inspect the reply before it reaches a user. Metadata logs support monitoring without storing complete conversations by default.
Example: Follow an invented question through UI, checks, model and checked answer. The proposed architecture places controls on the common route. In the lab, TestClient reaches FastAPI while respond is called separately; joining those routes is an optional architecture exercise, not existing behaviour.
Ask: Can controls on one route protect another independent endpoint?
Answer: No. Each reachable entry point must invoke and test the relevant controls.
Watch out: A dashed arrow means feedback or repetition; logging actual metadata is a solid data transfer, not a model-training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FastAPI transforms validated JSON messages into tokens, then returns continuation text and token counts.
Explain: JSON stores named request fields in structured text. Validation checks the roles, text and supported token limits. The chat template adds the model's expected role markers. Generation returns input IDs plus newly predicted IDs. Slicing removes the input prefix before decoding the assistant reply into text.
Example: An input has shape [1,L], meaning one sequence of L tokens. After at most 24 new tokens, output shape is [1,L+n]. Decode only the n continuation IDs. TestClient sends this request inside the process and does not measure real network travel.
Ask: Why remove the prefix before decoding the answer?
Answer: The full model output includes the question and role markers as well as its continuation.
Watch out: The small compatible schema has no production authentication and does not inherit the separate respond handler's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FastAPI handler converts a validated request into a generated answer and usage fields.
Explain: A decorator associates a Python function with an HTTP route. Pydantic validates declared message roles, content and token limits. The handler invokes fixed-weight generation using supported settings. Prompt tokens and completion tokens are separate counts. TestClient exercises the same application handler without opening a network port.
Example: A valid request contains one user message and max_tokens=24. The response places answer text inside choices and reports prompt_tokens, completion_tokens and their sum. A negative output limit instead returns HTTP 422 before generation. The full implementation and schema appear in the reference notes and lab.
Ask: What should total_tokens equal in this response?
Answer: The prompt token count plus the completion token count for the actual model call.
Watch out: This minimal compatible endpoint has no production authentication or inherited respond guardrails; schema validity does not guarantee safe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Gradio connects browser inputs to a handler; the handler supplies checks and model work.
Explain: An interface displays controls and results. ChatInterface calls a function with the current message and recent history. The lab's respond function performs limited current-input checks and metadata logging. The interface is optional; direct Python calls demonstrate the same handler. A public link requires separate access, retention and request-budget decisions.
Example: Create ChatInterface only after enabling the local Gradio stretch. With share=False, the classroom demo stays on its local route. Its previous messages still need inspection because checking the newest message alone does not clean earlier history. An interface wrapper cannot solve that limitation.
Ask: Which component supplies the input checks in this example?
Answer: The respond handler, not the Gradio button or chat display itself.
Watch out: Do not promise free hosting or launch a public link by default; hosting eligibility and operating controls need separate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Packaging records the environment, while release testing checks the actual application behaviour.
Explain: A Docker image packages code, dependencies and a start command. Exact dependency pins identify tested versions rather than broad allowed ranges. Continuous integration, abbreviated CI, runs automated checks before release. Versioning records model, prompt, settings and relevant data identities. Rollback means returning to a previously tested release after a problem.
Example: Inspect the exported requirements and Dockerfile as a scaffold. A range such as transformers==5.* does not identify one exact installed version. Compare the smaller app handler with notebook redaction, output checks and logging before calling the package equivalent to the monitored application.
Ask: Do broad dependency ranges guarantee an identical future environment?
Answer: No. Record tested exact versions and rebuild the package before relying on reproducibility.
Watch out: Secrets belong in controlled runtime configuration, not source code, notebook output, Docker image layers or browser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Monitoring checks how a released application behaves and connects failures to recorded versions.
Explain: Monitoring records operational measurements after requests arrive. Evaluation checks answers against task criteria and remains necessary after release. Guardrails block or modify specified input and output patterns. False positives block harmless requests; false negatives miss unwanted behaviour. Traces link individual request steps so problems can be investigated.
Example: A fictional service sees slower answers after a prompt change. Latency logs show the timing change, while version fields identify the prompt release. A repeated held-out test checks answer quality. Neither measurement alone explains every failure, so inspection combines operational and task evidence.
Ask: Does a good latency dashboard establish correct answers?
Answer: No. Speed and reliability measurements must be combined with repeated task-quality checks.
Watch out: A rise in blocked requests may indicate attacks, changed rules or harmless inputs being blocked; inspect examples with appropriate data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Monitor speed, cost, failures, quality, checks and versions as separate signals.
Explain: Performance includes first output, completion wait and throughput. Reliability records failures, timeouts and rate-limit responses. Cost needs token usage and the relevant dated charging rules. Quality needs task tests and suitable human review. Version fields help link changed behaviour to model, prompt, settings or retrieved-data changes.
Example: Suppose most fictional requests finish quickly but several wait much longer. The mean can hide those slow cases; percentiles expose the distribution. Pair that chart with error counts and answer checks. A small lab traffic sample demonstrates aggregation rather than guaranteeing production service levels.
Ask: What does p95 latency describe?
Answer: A duration at or below which approximately 95 percent of the measured request waits fall.
Watch out: The population matters: state whether percentiles include blocked requests, failed requests, cache hits or only successful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monitoring chart represents a recorded traffic sample with explicitly separated request outcomes.
Explain: Allowed requests reach generation and can consume prompt and completion tokens. Blocked current inputs skip generation in respond. Supported personal-data patterns are replaced before allowed generation. The log stores metadata rather than raw prompts. The summary computes latency percentiles from allowed requests and block counts from all requests.
Example: Follow one recorded blocked bar and one redacted bar. The blocked request records zero model token counts, while the redacted request can still generate an answer. Read the stored summary placeholder for actual results. The revised CPU lab uses four invented requests and needs its own measured record.
Ask: Do blocked requests enter the allowed-request p95 calculation?
Answer: No. They remain visible in the total request and block counts but are excluded from that percentile.
Watch out: The historical per-request chart has its own sample size; do not label it as the new four-request CPU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Controls belong on every request route and should be evaluated for misses and false alarms.
Explain: Input checks inspect request size, identity and permitted content. Restricting model tools limits the actions a compromised workflow can perform. Output checks validate fields and relevant policies. Human oversight handles uncertain or consequential cases under defined rules. Monitoring provides evidence for repeated improvement of those controls.
Example: A literal injection pattern is blocked, but a paraphrase can avoid the same regular expression. The code still needs least-privilege design and task-specific checks. Follow the labelled route from input to checked answer; monitoring feedback returns test cases rather than training gradients.
Ask: What should happen after discovering a missed attack?
Answer: Add a representative regression case, inspect the relevant control and retest both unwanted and harmless examples.
Watch out: Pattern detection is a demonstration with known gaps; it does not guarantee safe behaviour for arbitrary inputs or model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Tracing links request operations, while LLMOps combines versions, testing, releases and monitoring.
Explain: A trace records the operations involved in one request. Timing and token fields help identify costly or slow steps. LLMOps means operating language-model applications through a repeatable lifecycle. Telemetry tools can collect traces and operational measurements. Their usefulness depends on what the application records and who can access it.
Example: A retrieved answer takes too long. A trace can separate retrieval wait, prompt preparation and model completion. OpenTelemetry, Langfuse, LangSmith and MLflow are examples to investigate for appropriate recording. Choosing one tool does not supply missing evaluation cases or justify storing personal conversations.
Ask: How does a trace differ from one total-duration field?
Answer: It links the request's individual operations, making the location of time or failure easier to inspect.
Watch out: Instrument only needed fields, restrict access and retention, and avoid recording keys or raw personal data in debug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deployment recommendation should follow requirements and evidence rather than a favourite tool.
Explain: A prototype values quick iteration but still needs data and spending controls. Private-data tasks constrain where requests and logs can travel. Many users require realistic load testing and capacity planning. Reproducible hand-ins need tested environments and documented settings. Hosting availability and account conditions change, so published examples are not entitlement promises.
Example: For a fictional student project, first list the required quality, data location, peak workload and budget. Then compare a local model, a hosted API and a self-hosted runtime using identical task examples. Record the assumptions that could change the recommendation before making a deployment choice.
Ask: Does a demo hosting option guarantee free CPU or GPU access?
Answer: No. Check current official account conditions, hardware availability, quotas and charges.
Watch out: A cheap isolated request cannot establish total project cost, suitable concurrency or acceptable answer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responsible release needs a concrete test and an accountable owner for each requirement.
Explain: Disclosure tells users they are interacting with an AI system. Data minimisation limits collection to what the task needs. Access controls and request limits constrain who can call the application. Evaluation and escalation address uncertain or consequential answers. A release record connects these decisions to tested versions and evidence.
Example: Before exposing an invented classroom assistant, inspect its request routes, secret handling, logs and quality tests. Assign someone to respond to errors and withdraw a faulty version. A checklist becomes useful when each item names a check, its result and the person responsible.
Ask: Does checking boxes once remove the need for monitoring?
Answer: No. Workloads, model releases, prompts and user behaviour can change after deployment.
Watch out: Use the relevant institutional and legal guidance for a real deployment; classroom pattern checks are only a small technical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Follow the four-request monitoring experiment rather than falsely connecting independent lab exercises.
Explain: Synthetic traffic means invented requests used to inspect application behaviour. The respond handler applies limited checks and records metadata for each request. The log becomes a table for analysis. Filtering separates allowed requests for latency percentiles. Block and redaction counts still use the complete traffic table.
Example: The bounded core sends four fictional messages: ordinary, unsupported factual, blocked and redacted. Count all four rows, then compute percentiles only from allowed rows. Streaming, cost arithmetic, quantisation, batching and endpoint testing are separate exercises, not inputs to this monitoring pipeline.
Ask: Do blocked rows enter the allowed-request latency percentile?
Answer: No. They remain in total-request and blocking counts but are excluded from that latency population.
Watch out: Four examples demonstrate aggregation; their p95 value is unstable and cannot establish a production service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lab core deploys and measures a small local model without requiring hosted spending.
Explain: Shared setup chooses CPU by default and provides optional provider access. The core uses real bounded generation, FastAPI TestClient and synthetic monitoring traffic. Quantisation here means rounding then reconstructing floating-point weights. Server launch, framework clients, Gradio and remote hosting are optional stretches. Cached local CPU waiting time is measured; downloading and optional stretches need separate records.
Example: Complete five TODOs, predict each result and use its semantic check. Compare a 24-token cap with 12 tokens using an invented question. A slider inspects the setting without sending automatic model requests. Preserve your actual tables rather than copying stored GPU results.
Ask: Are an API key or GPU required for the core?
Answer: No. Local CPU generation and the in-process endpoint supply the complete required path.
Watch out: Apply the recorded runtime only to the cached local CPU core; downloading and optional stretches need separate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Use official documentation to check interfaces and a practical video to connect them to an application.
Explain: The FastAPI testing guide explains synchronous in-process requests. The model card documents the selected small local model and its limitations. Gradio documentation connects Python handlers to browser controls. The Spaces overview states current hosting conditions. A demonstration video helps visualise the workflow, but written current conditions take priority over older screen recordings.
Example: Before extending the lab, read one endpoint-testing example and explain its request and response fields. Then watch the application introduction and identify which operations are local and which are hosted. Record any dated service conditions needed for your project instead of assuming the video still describes them.
Ask: Which source decides current hosting eligibility?
Answer: The official current account and hosting documentation, checked for the intended hardware and service.
Watch out: A working tutorial can still use outdated names or account conditions; verify the specific feature before relying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Operate the whole request path and justify decisions using quality, timing, cost and data evidence.
Explain: The model, runtime, coordination and interface have different responsibilities. API contracts describe fields rather than identical model behaviour. Efficiency changes require quality checks as well as speed measurements. Packaging records tested versions, while monitoring records operational behaviour. Every reachable route needs its own validated controls and failure handling.
Example: Return to the fictional 500-student assistant. State its expected traffic, data location and quality target before choosing deployment. Then inspect first text, full wait, throughput, token costs and failures. A modest working demo is useful evidence, but it is not a capacity or safety guarantee.
Ask: If batching doubles throughput, must every student wait less?
Answer: No. Aggregate work can rise while individual requests wait longer for batching or shared capacity.
Watch out: Keep archived measurements labelled and replace them only through a measured export, results comparison and the fill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2" Type="http://schemas.openxmlformats.org/officeDocument/2006/relationships/hyperlink" Target="https://fastapi.tiangolo.com/tutorial/testing/" TargetMode="External"/><Relationship Id="rId4" Type="http://schemas.openxmlformats.org/officeDocument/2006/relationships/hyperlink" Target="https://huggingface.co/HuggingFaceTB/SmolLM2-135M-Instruct" TargetMode="External"/><Relationship Id="rId6" Type="http://schemas.openxmlformats.org/officeDocument/2006/relationships/hyperlink" Target="https://www.gradio.app/guides/quickstart" TargetMode="External"/><Relationship Id="rId8" Type="http://schemas.openxmlformats.org/officeDocument/2006/relationships/hyperlink" Target="https://huggingface.co/docs/hub/en/spaces-overview" TargetMode="External"/><Relationship Id="rId10" Type="http://schemas.openxmlformats.org/officeDocument/2006/relationships/hyperlink" Target="https://www.youtube.com/watch?v=3bSVKNKb_PY" TargetMode="External"/><Relationship Id="rId1" Type="http://schemas.openxmlformats.org/officeDocument/2006/relationships/image" Target="../media/image-45-1.png"/><Relationship Id="rId3" Type="http://schemas.openxmlformats.org/officeDocument/2006/relationships/image" Target="../media/image-45-2.png"/><Relationship Id="rId5" Type="http://schemas.openxmlformats.org/officeDocument/2006/relationships/image" Target="../media/image-45-3.png"/><Relationship Id="rId7" Type="http://schemas.openxmlformats.org/officeDocument/2006/relationships/image" Target="../media/image-45-4.png"/><Relationship Id="rId9" Type="http://schemas.openxmlformats.org/officeDocument/2006/relationships/image" Target="../media/image-45-5.png"/><Relationship Id="rId11" Type="http://schemas.openxmlformats.org/officeDocument/2006/relationships/slideLayout" Target="../slideLayouts/slideLayout1.xml"/><Relationship Id="rId1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4B"/>
        </a:solidFill>
      </p:bgPr>
    </p:bg>
    <p:spTree>
      <p:nvGrpSpPr>
        <p:cNvPr id="1" name=""/>
        <p:cNvGrpSpPr/>
        <p:nvPr/>
      </p:nvGrpSpPr>
      <p:grpSpPr>
        <a:xfrm>
          <a:off x="0" y="0"/>
          <a:ext cx="0" cy="0"/>
          <a:chOff x="0" y="0"/>
          <a:chExt cx="0" cy="0"/>
        </a:xfrm>
      </p:grpSpPr>
      <p:sp>
        <p:nvSpPr>
          <p:cNvPr id="2" name="Shape 0"/>
          <p:cNvSpPr/>
          <p:nvPr/>
        </p:nvSpPr>
        <p:spPr>
          <a:xfrm>
            <a:off x="731520" y="1051560"/>
            <a:ext cx="1737360" cy="457200"/>
          </a:xfrm>
          <a:prstGeom prst="roundRect">
            <a:avLst>
              <a:gd name="adj" fmla="val 20000"/>
            </a:avLst>
          </a:prstGeom>
          <a:solidFill>
            <a:srgbClr val="EA580C"/>
          </a:solidFill>
          <a:ln w="12700">
            <a:solidFill>
              <a:srgbClr val="EA580C"/>
            </a:solidFill>
            <a:prstDash val="solid"/>
          </a:ln>
        </p:spPr>
      </p:sp>
      <p:sp>
        <p:nvSpPr>
          <p:cNvPr id="3" name="Text 1"/>
          <p:cNvSpPr txBox="1"/>
          <p:nvPr/>
        </p:nvSpPr>
        <p:spPr>
          <a:xfrm>
            <a:off x="731520" y="1051560"/>
            <a:ext cx="1737360" cy="457200"/>
          </a:xfrm>
          <a:prstGeom prst="rect">
            <a:avLst/>
          </a:prstGeom>
          <a:noFill/>
          <a:ln/>
        </p:spPr>
        <p:txBody>
          <a:bodyPr wrap="square" lIns="0" tIns="0" rIns="0" bIns="0" rtlCol="0" anchor="ctr"/>
          <a:lstStyle/>
          <a:p>
            <a:pPr algn="ctr" indent="0" marL="0">
              <a:buNone/>
            </a:pPr>
            <a:r>
              <a:rPr lang="en-US" sz="1600" b="1" spc="200" kern="0" dirty="0">
                <a:solidFill>
                  <a:srgbClr val="FFFFFF"/>
                </a:solidFill>
                <a:latin typeface="Calibri" pitchFamily="34" charset="0"/>
                <a:ea typeface="Calibri" pitchFamily="34" charset="-122"/>
                <a:cs typeface="Calibri" pitchFamily="34" charset="-120"/>
              </a:rPr>
              <a:t>WEEK 11</a:t>
            </a:r>
            <a:endParaRPr lang="en-US" sz="1600" dirty="0"/>
          </a:p>
        </p:txBody>
      </p:sp>
      <p:sp>
        <p:nvSpPr>
          <p:cNvPr id="4" name="Text 2"/>
          <p:cNvSpPr txBox="1"/>
          <p:nvPr/>
        </p:nvSpPr>
        <p:spPr>
          <a:xfrm>
            <a:off x="731520" y="1737360"/>
            <a:ext cx="6766560" cy="2103120"/>
          </a:xfrm>
          <a:prstGeom prst="rect">
            <a:avLst/>
          </a:prstGeom>
          <a:noFill/>
          <a:ln/>
        </p:spPr>
        <p:txBody>
          <a:bodyPr wrap="square" lIns="0" tIns="0" rIns="0" bIns="0" rtlCol="0" anchor="b"/>
          <a:lstStyle/>
          <a:p>
            <a:pPr indent="0" marL="0">
              <a:lnSpc>
                <a:spcPct val="95000"/>
              </a:lnSpc>
              <a:buNone/>
            </a:pPr>
            <a:r>
              <a:rPr lang="en-US" sz="4500" b="1" dirty="0">
                <a:solidFill>
                  <a:srgbClr val="FFFFFF"/>
                </a:solidFill>
                <a:latin typeface="Calibri" pitchFamily="34" charset="0"/>
                <a:ea typeface="Calibri" pitchFamily="34" charset="-122"/>
                <a:cs typeface="Calibri" pitchFamily="34" charset="-120"/>
              </a:rPr>
              <a:t>Deployment and Frameworks</a:t>
            </a:r>
            <a:endParaRPr lang="en-US" sz="4500" dirty="0"/>
          </a:p>
        </p:txBody>
      </p:sp>
      <p:sp>
        <p:nvSpPr>
          <p:cNvPr id="5" name="Text 3"/>
          <p:cNvSpPr txBox="1"/>
          <p:nvPr/>
        </p:nvSpPr>
        <p:spPr>
          <a:xfrm>
            <a:off x="731520" y="3977640"/>
            <a:ext cx="6766560" cy="1097280"/>
          </a:xfrm>
          <a:prstGeom prst="rect">
            <a:avLst/>
          </a:prstGeom>
          <a:noFill/>
          <a:ln/>
        </p:spPr>
        <p:txBody>
          <a:bodyPr wrap="square" lIns="0" tIns="0" rIns="0" bIns="0" rtlCol="0" anchor="t"/>
          <a:lstStyle/>
          <a:p>
            <a:pPr indent="0" marL="0">
              <a:buNone/>
            </a:pPr>
            <a:r>
              <a:rPr lang="en-US" sz="2000" dirty="0">
                <a:solidFill>
                  <a:srgbClr val="C7D2FE"/>
                </a:solidFill>
                <a:latin typeface="Calibri" pitchFamily="34" charset="0"/>
                <a:ea typeface="Calibri" pitchFamily="34" charset="-122"/>
                <a:cs typeface="Calibri" pitchFamily="34" charset="-120"/>
              </a:rPr>
              <a:t>Turn a notebook into an application, measure the cost, and monitor the results</a:t>
            </a:r>
            <a:endParaRPr lang="en-US" sz="2000" dirty="0"/>
          </a:p>
        </p:txBody>
      </p:sp>
      <p:sp>
        <p:nvSpPr>
          <p:cNvPr id="6" name="Text 4"/>
          <p:cNvSpPr txBox="1"/>
          <p:nvPr/>
        </p:nvSpPr>
        <p:spPr>
          <a:xfrm>
            <a:off x="731520" y="5897880"/>
            <a:ext cx="8229600" cy="365760"/>
          </a:xfrm>
          <a:prstGeom prst="rect">
            <a:avLst/>
          </a:prstGeom>
          <a:noFill/>
          <a:ln/>
        </p:spPr>
        <p:txBody>
          <a:bodyPr wrap="square" lIns="0" tIns="0" rIns="0" bIns="0" rtlCol="0" anchor="t"/>
          <a:lstStyle/>
          <a:p>
            <a:pPr indent="0" marL="0">
              <a:buNone/>
            </a:pPr>
            <a:r>
              <a:rPr lang="en-US" sz="1400" dirty="0">
                <a:solidFill>
                  <a:srgbClr val="C7D2FE"/>
                </a:solidFill>
                <a:latin typeface="Calibri" pitchFamily="34" charset="0"/>
                <a:ea typeface="Calibri" pitchFamily="34" charset="-122"/>
                <a:cs typeface="Calibri" pitchFamily="34" charset="-120"/>
              </a:rPr>
              <a:t>MSc in Artificial Intelligence  ·  Generative AI  ·  2-hour lecture</a:t>
            </a:r>
            <a:endParaRPr lang="en-US" sz="1400" dirty="0"/>
          </a:p>
        </p:txBody>
      </p:sp>
      <p:pic>
        <p:nvPicPr>
          <p:cNvPr id="7" name="Image 0" descr="C:\Users\sudee\Downloads\Generative_AI_2027_Teaching_Pack\AI2027_Project\build\figures\week_11\cover.png">    </p:cNvPr>
          <p:cNvPicPr>
            <a:picLocks noChangeAspect="1"/>
          </p:cNvPicPr>
          <p:nvPr/>
        </p:nvPicPr>
        <p:blipFill>
          <a:blip r:embed="rId1"/>
          <a:stretch>
            <a:fillRect/>
          </a:stretch>
        </p:blipFill>
        <p:spPr>
          <a:xfrm>
            <a:off x="7818120" y="1520258"/>
            <a:ext cx="3840480" cy="381748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By the end of this week you can…</a:t>
            </a:r>
            <a:endParaRPr lang="en-US" sz="3200" dirty="0"/>
          </a:p>
        </p:txBody>
      </p:sp>
      <p:sp>
        <p:nvSpPr>
          <p:cNvPr id="6" name="Shape 4"/>
          <p:cNvSpPr/>
          <p:nvPr/>
        </p:nvSpPr>
        <p:spPr>
          <a:xfrm>
            <a:off x="548640" y="1545336"/>
            <a:ext cx="411480" cy="411480"/>
          </a:xfrm>
          <a:prstGeom prst="ellipse">
            <a:avLst/>
          </a:prstGeom>
          <a:solidFill>
            <a:srgbClr val="4F46E5"/>
          </a:solidFill>
          <a:ln w="12700">
            <a:solidFill>
              <a:srgbClr val="4F46E5"/>
            </a:solidFill>
            <a:prstDash val="solid"/>
          </a:ln>
        </p:spPr>
      </p:sp>
      <p:sp>
        <p:nvSpPr>
          <p:cNvPr id="7" name="Text 5"/>
          <p:cNvSpPr txBox="1"/>
          <p:nvPr/>
        </p:nvSpPr>
        <p:spPr>
          <a:xfrm>
            <a:off x="548640" y="154533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43000" y="1527048"/>
            <a:ext cx="6903720" cy="1594104"/>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Choose layers.</a:t>
            </a:r>
            <a:endParaRPr lang="en-US" sz="2000" dirty="0"/>
          </a:p>
        </p:txBody>
      </p:sp>
      <p:sp>
        <p:nvSpPr>
          <p:cNvPr id="9" name="Shape 7"/>
          <p:cNvSpPr/>
          <p:nvPr/>
        </p:nvSpPr>
        <p:spPr>
          <a:xfrm>
            <a:off x="548640" y="3139440"/>
            <a:ext cx="411480" cy="411480"/>
          </a:xfrm>
          <a:prstGeom prst="ellipse">
            <a:avLst/>
          </a:prstGeom>
          <a:solidFill>
            <a:srgbClr val="4F46E5"/>
          </a:solidFill>
          <a:ln w="12700">
            <a:solidFill>
              <a:srgbClr val="4F46E5"/>
            </a:solidFill>
            <a:prstDash val="solid"/>
          </a:ln>
        </p:spPr>
      </p:sp>
      <p:sp>
        <p:nvSpPr>
          <p:cNvPr id="10" name="Text 8"/>
          <p:cNvSpPr txBox="1"/>
          <p:nvPr/>
        </p:nvSpPr>
        <p:spPr>
          <a:xfrm>
            <a:off x="548640" y="31394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43000" y="3121152"/>
            <a:ext cx="6903720" cy="1594104"/>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Build interfaces.</a:t>
            </a:r>
            <a:endParaRPr lang="en-US" sz="2000" dirty="0"/>
          </a:p>
        </p:txBody>
      </p:sp>
      <p:sp>
        <p:nvSpPr>
          <p:cNvPr id="12" name="Shape 10"/>
          <p:cNvSpPr/>
          <p:nvPr/>
        </p:nvSpPr>
        <p:spPr>
          <a:xfrm>
            <a:off x="548640" y="4733544"/>
            <a:ext cx="411480" cy="411480"/>
          </a:xfrm>
          <a:prstGeom prst="ellipse">
            <a:avLst/>
          </a:prstGeom>
          <a:solidFill>
            <a:srgbClr val="4F46E5"/>
          </a:solidFill>
          <a:ln w="12700">
            <a:solidFill>
              <a:srgbClr val="4F46E5"/>
            </a:solidFill>
            <a:prstDash val="solid"/>
          </a:ln>
        </p:spPr>
      </p:sp>
      <p:sp>
        <p:nvSpPr>
          <p:cNvPr id="13" name="Text 11"/>
          <p:cNvSpPr txBox="1"/>
          <p:nvPr/>
        </p:nvSpPr>
        <p:spPr>
          <a:xfrm>
            <a:off x="548640" y="473354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43000" y="4715256"/>
            <a:ext cx="6903720" cy="1594104"/>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Measure operation.</a:t>
            </a:r>
            <a:endParaRPr lang="en-US" sz="2000" dirty="0"/>
          </a:p>
        </p:txBody>
      </p:sp>
      <p:sp>
        <p:nvSpPr>
          <p:cNvPr id="15" name="Shape 13"/>
          <p:cNvSpPr/>
          <p:nvPr/>
        </p:nvSpPr>
        <p:spPr>
          <a:xfrm>
            <a:off x="8458200" y="1527048"/>
            <a:ext cx="3184855" cy="4782312"/>
          </a:xfrm>
          <a:prstGeom prst="roundRect">
            <a:avLst>
              <a:gd name="adj" fmla="val 3445"/>
            </a:avLst>
          </a:prstGeom>
          <a:solidFill>
            <a:srgbClr val="EEF0FF"/>
          </a:solidFill>
          <a:ln w="12700">
            <a:solidFill>
              <a:srgbClr val="EEF0FF"/>
            </a:solidFill>
            <a:prstDash val="solid"/>
          </a:ln>
        </p:spPr>
      </p:sp>
      <p:sp>
        <p:nvSpPr>
          <p:cNvPr id="16" name="Text 14"/>
          <p:cNvSpPr txBox="1"/>
          <p:nvPr/>
        </p:nvSpPr>
        <p:spPr>
          <a:xfrm>
            <a:off x="8686800" y="1664208"/>
            <a:ext cx="2727655" cy="64008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Module outcomes</a:t>
            </a:r>
            <a:endParaRPr lang="en-US" sz="1500" dirty="0"/>
          </a:p>
        </p:txBody>
      </p:sp>
      <p:sp>
        <p:nvSpPr>
          <p:cNvPr id="17" name="Shape 15"/>
          <p:cNvSpPr/>
          <p:nvPr/>
        </p:nvSpPr>
        <p:spPr>
          <a:xfrm>
            <a:off x="8686800" y="2395728"/>
            <a:ext cx="1143000" cy="365760"/>
          </a:xfrm>
          <a:prstGeom prst="roundRect">
            <a:avLst>
              <a:gd name="adj" fmla="val 20000"/>
            </a:avLst>
          </a:prstGeom>
          <a:solidFill>
            <a:srgbClr val="4F46E5"/>
          </a:solidFill>
          <a:ln w="12700">
            <a:solidFill>
              <a:srgbClr val="4F46E5"/>
            </a:solidFill>
            <a:prstDash val="solid"/>
          </a:ln>
        </p:spPr>
      </p:sp>
      <p:sp>
        <p:nvSpPr>
          <p:cNvPr id="18" name="Text 16"/>
          <p:cNvSpPr txBox="1"/>
          <p:nvPr/>
        </p:nvSpPr>
        <p:spPr>
          <a:xfrm>
            <a:off x="8686800" y="239572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3</a:t>
            </a:r>
            <a:endParaRPr lang="en-US" sz="1400" dirty="0"/>
          </a:p>
        </p:txBody>
      </p:sp>
      <p:sp>
        <p:nvSpPr>
          <p:cNvPr id="19" name="Text 17"/>
          <p:cNvSpPr txBox="1"/>
          <p:nvPr/>
        </p:nvSpPr>
        <p:spPr>
          <a:xfrm>
            <a:off x="8641080" y="277977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Design, implement and fine-tune models</a:t>
            </a:r>
            <a:endParaRPr lang="en-US" sz="1400" dirty="0"/>
          </a:p>
        </p:txBody>
      </p:sp>
      <p:sp>
        <p:nvSpPr>
          <p:cNvPr id="20" name="Shape 18"/>
          <p:cNvSpPr/>
          <p:nvPr/>
        </p:nvSpPr>
        <p:spPr>
          <a:xfrm>
            <a:off x="8686800" y="3584448"/>
            <a:ext cx="1143000" cy="365760"/>
          </a:xfrm>
          <a:prstGeom prst="roundRect">
            <a:avLst>
              <a:gd name="adj" fmla="val 20000"/>
            </a:avLst>
          </a:prstGeom>
          <a:solidFill>
            <a:srgbClr val="4F46E5"/>
          </a:solidFill>
          <a:ln w="12700">
            <a:solidFill>
              <a:srgbClr val="4F46E5"/>
            </a:solidFill>
            <a:prstDash val="solid"/>
          </a:ln>
        </p:spPr>
      </p:sp>
      <p:sp>
        <p:nvSpPr>
          <p:cNvPr id="21" name="Text 19"/>
          <p:cNvSpPr txBox="1"/>
          <p:nvPr/>
        </p:nvSpPr>
        <p:spPr>
          <a:xfrm>
            <a:off x="8686800" y="358444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4</a:t>
            </a:r>
            <a:endParaRPr lang="en-US" sz="1400" dirty="0"/>
          </a:p>
        </p:txBody>
      </p:sp>
      <p:sp>
        <p:nvSpPr>
          <p:cNvPr id="22" name="Text 20"/>
          <p:cNvSpPr txBox="1"/>
          <p:nvPr/>
        </p:nvSpPr>
        <p:spPr>
          <a:xfrm>
            <a:off x="8641080" y="396849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Critically evaluate outputs: metrics, humans, ethics</a:t>
            </a:r>
            <a:endParaRPr lang="en-US" sz="1400" dirty="0"/>
          </a:p>
        </p:txBody>
      </p:sp>
      <p:sp>
        <p:nvSpPr>
          <p:cNvPr id="23" name="Shape 21"/>
          <p:cNvSpPr/>
          <p:nvPr/>
        </p:nvSpPr>
        <p:spPr>
          <a:xfrm>
            <a:off x="8686800" y="4773168"/>
            <a:ext cx="1143000" cy="365760"/>
          </a:xfrm>
          <a:prstGeom prst="roundRect">
            <a:avLst>
              <a:gd name="adj" fmla="val 20000"/>
            </a:avLst>
          </a:prstGeom>
          <a:solidFill>
            <a:srgbClr val="4F46E5"/>
          </a:solidFill>
          <a:ln w="12700">
            <a:solidFill>
              <a:srgbClr val="4F46E5"/>
            </a:solidFill>
            <a:prstDash val="solid"/>
          </a:ln>
        </p:spPr>
      </p:sp>
      <p:sp>
        <p:nvSpPr>
          <p:cNvPr id="24" name="Text 22"/>
          <p:cNvSpPr txBox="1"/>
          <p:nvPr/>
        </p:nvSpPr>
        <p:spPr>
          <a:xfrm>
            <a:off x="8686800" y="477316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5</a:t>
            </a:r>
            <a:endParaRPr lang="en-US" sz="1400" dirty="0"/>
          </a:p>
        </p:txBody>
      </p:sp>
      <p:sp>
        <p:nvSpPr>
          <p:cNvPr id="25" name="Text 23"/>
          <p:cNvSpPr txBox="1"/>
          <p:nvPr/>
        </p:nvSpPr>
        <p:spPr>
          <a:xfrm>
            <a:off x="8641080" y="515721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Deploy models; build RAG and agentic systems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Where we are in the course</a:t>
            </a:r>
            <a:endParaRPr lang="en-US" sz="3200" dirty="0"/>
          </a:p>
        </p:txBody>
      </p:sp>
      <p:sp>
        <p:nvSpPr>
          <p:cNvPr id="6" name="Text 4"/>
          <p:cNvSpPr txBox="1"/>
          <p:nvPr/>
        </p:nvSpPr>
        <p:spPr>
          <a:xfrm>
            <a:off x="1077042" y="17161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Images</a:t>
            </a:r>
            <a:endParaRPr lang="en-US" sz="1560" dirty="0"/>
          </a:p>
        </p:txBody>
      </p:sp>
      <p:sp>
        <p:nvSpPr>
          <p:cNvPr id="7" name="Shape 5"/>
          <p:cNvSpPr/>
          <p:nvPr/>
        </p:nvSpPr>
        <p:spPr>
          <a:xfrm>
            <a:off x="1077042" y="2053648"/>
            <a:ext cx="2300286" cy="763093"/>
          </a:xfrm>
          <a:prstGeom prst="roundRect">
            <a:avLst>
              <a:gd name="adj" fmla="val 9586"/>
            </a:avLst>
          </a:prstGeom>
          <a:solidFill>
            <a:srgbClr val="E4F2FB"/>
          </a:solidFill>
          <a:ln w="15240">
            <a:solidFill>
              <a:srgbClr val="0072B2"/>
            </a:solidFill>
            <a:prstDash val="solid"/>
          </a:ln>
        </p:spPr>
      </p:sp>
      <p:sp>
        <p:nvSpPr>
          <p:cNvPr id="8" name="Text 6"/>
          <p:cNvSpPr txBox="1"/>
          <p:nvPr/>
        </p:nvSpPr>
        <p:spPr>
          <a:xfrm>
            <a:off x="1179766"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a:t>
            </a:r>
            <a:endParaRPr lang="en-US" sz="1444" dirty="0"/>
          </a:p>
        </p:txBody>
      </p:sp>
      <p:sp>
        <p:nvSpPr>
          <p:cNvPr id="9" name="Text 7"/>
          <p:cNvSpPr txBox="1"/>
          <p:nvPr/>
        </p:nvSpPr>
        <p:spPr>
          <a:xfrm>
            <a:off x="1179766"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Introduction</a:t>
            </a:r>
            <a:endParaRPr lang="en-US" sz="1444" dirty="0"/>
          </a:p>
        </p:txBody>
      </p:sp>
      <p:sp>
        <p:nvSpPr>
          <p:cNvPr id="10" name="Shape 8"/>
          <p:cNvSpPr/>
          <p:nvPr/>
        </p:nvSpPr>
        <p:spPr>
          <a:xfrm>
            <a:off x="3377328" y="2435195"/>
            <a:ext cx="278823" cy="0"/>
          </a:xfrm>
          <a:prstGeom prst="line">
            <a:avLst/>
          </a:prstGeom>
          <a:noFill/>
          <a:ln w="22860">
            <a:solidFill>
              <a:srgbClr val="0072B2"/>
            </a:solidFill>
            <a:prstDash val="solid"/>
            <a:tailEnd type="triangle"/>
          </a:ln>
        </p:spPr>
      </p:sp>
      <p:sp>
        <p:nvSpPr>
          <p:cNvPr id="11" name="Shape 9"/>
          <p:cNvSpPr/>
          <p:nvPr/>
        </p:nvSpPr>
        <p:spPr>
          <a:xfrm>
            <a:off x="3656151" y="2053648"/>
            <a:ext cx="2300286" cy="763093"/>
          </a:xfrm>
          <a:prstGeom prst="roundRect">
            <a:avLst>
              <a:gd name="adj" fmla="val 9586"/>
            </a:avLst>
          </a:prstGeom>
          <a:solidFill>
            <a:srgbClr val="E4F2FB"/>
          </a:solidFill>
          <a:ln w="15240">
            <a:solidFill>
              <a:srgbClr val="0072B2"/>
            </a:solidFill>
            <a:prstDash val="solid"/>
          </a:ln>
        </p:spPr>
      </p:sp>
      <p:sp>
        <p:nvSpPr>
          <p:cNvPr id="12" name="Text 10"/>
          <p:cNvSpPr txBox="1"/>
          <p:nvPr/>
        </p:nvSpPr>
        <p:spPr>
          <a:xfrm>
            <a:off x="3758875"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2</a:t>
            </a:r>
            <a:endParaRPr lang="en-US" sz="1444" dirty="0"/>
          </a:p>
        </p:txBody>
      </p:sp>
      <p:sp>
        <p:nvSpPr>
          <p:cNvPr id="13" name="Text 11"/>
          <p:cNvSpPr txBox="1"/>
          <p:nvPr/>
        </p:nvSpPr>
        <p:spPr>
          <a:xfrm>
            <a:off x="3758875"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VAEs</a:t>
            </a:r>
            <a:endParaRPr lang="en-US" sz="1444" dirty="0"/>
          </a:p>
        </p:txBody>
      </p:sp>
      <p:sp>
        <p:nvSpPr>
          <p:cNvPr id="14" name="Shape 12"/>
          <p:cNvSpPr/>
          <p:nvPr/>
        </p:nvSpPr>
        <p:spPr>
          <a:xfrm>
            <a:off x="5956436" y="2435195"/>
            <a:ext cx="278823" cy="0"/>
          </a:xfrm>
          <a:prstGeom prst="line">
            <a:avLst/>
          </a:prstGeom>
          <a:noFill/>
          <a:ln w="22860">
            <a:solidFill>
              <a:srgbClr val="0072B2"/>
            </a:solidFill>
            <a:prstDash val="solid"/>
            <a:tailEnd type="triangle"/>
          </a:ln>
        </p:spPr>
      </p:sp>
      <p:sp>
        <p:nvSpPr>
          <p:cNvPr id="15" name="Shape 13"/>
          <p:cNvSpPr/>
          <p:nvPr/>
        </p:nvSpPr>
        <p:spPr>
          <a:xfrm>
            <a:off x="6235259" y="2053648"/>
            <a:ext cx="2300286" cy="763093"/>
          </a:xfrm>
          <a:prstGeom prst="roundRect">
            <a:avLst>
              <a:gd name="adj" fmla="val 9586"/>
            </a:avLst>
          </a:prstGeom>
          <a:solidFill>
            <a:srgbClr val="E4F2FB"/>
          </a:solidFill>
          <a:ln w="15240">
            <a:solidFill>
              <a:srgbClr val="0072B2"/>
            </a:solidFill>
            <a:prstDash val="solid"/>
          </a:ln>
        </p:spPr>
      </p:sp>
      <p:sp>
        <p:nvSpPr>
          <p:cNvPr id="16" name="Text 14"/>
          <p:cNvSpPr txBox="1"/>
          <p:nvPr/>
        </p:nvSpPr>
        <p:spPr>
          <a:xfrm>
            <a:off x="6337983"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3</a:t>
            </a:r>
            <a:endParaRPr lang="en-US" sz="1444" dirty="0"/>
          </a:p>
        </p:txBody>
      </p:sp>
      <p:sp>
        <p:nvSpPr>
          <p:cNvPr id="17" name="Text 15"/>
          <p:cNvSpPr txBox="1"/>
          <p:nvPr/>
        </p:nvSpPr>
        <p:spPr>
          <a:xfrm>
            <a:off x="6337983"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GANs</a:t>
            </a:r>
            <a:endParaRPr lang="en-US" sz="1444" dirty="0"/>
          </a:p>
        </p:txBody>
      </p:sp>
      <p:sp>
        <p:nvSpPr>
          <p:cNvPr id="18" name="Shape 16"/>
          <p:cNvSpPr/>
          <p:nvPr/>
        </p:nvSpPr>
        <p:spPr>
          <a:xfrm>
            <a:off x="8535545" y="2435195"/>
            <a:ext cx="278823" cy="0"/>
          </a:xfrm>
          <a:prstGeom prst="line">
            <a:avLst/>
          </a:prstGeom>
          <a:noFill/>
          <a:ln w="22860">
            <a:solidFill>
              <a:srgbClr val="0072B2"/>
            </a:solidFill>
            <a:prstDash val="solid"/>
            <a:tailEnd type="triangle"/>
          </a:ln>
        </p:spPr>
      </p:sp>
      <p:sp>
        <p:nvSpPr>
          <p:cNvPr id="19" name="Shape 17"/>
          <p:cNvSpPr/>
          <p:nvPr/>
        </p:nvSpPr>
        <p:spPr>
          <a:xfrm>
            <a:off x="8814367" y="2053648"/>
            <a:ext cx="2300286" cy="763093"/>
          </a:xfrm>
          <a:prstGeom prst="roundRect">
            <a:avLst>
              <a:gd name="adj" fmla="val 9586"/>
            </a:avLst>
          </a:prstGeom>
          <a:solidFill>
            <a:srgbClr val="E4F2FB"/>
          </a:solidFill>
          <a:ln w="15240">
            <a:solidFill>
              <a:srgbClr val="0072B2"/>
            </a:solidFill>
            <a:prstDash val="solid"/>
          </a:ln>
        </p:spPr>
      </p:sp>
      <p:sp>
        <p:nvSpPr>
          <p:cNvPr id="20" name="Text 18"/>
          <p:cNvSpPr txBox="1"/>
          <p:nvPr/>
        </p:nvSpPr>
        <p:spPr>
          <a:xfrm>
            <a:off x="8917091"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4</a:t>
            </a:r>
            <a:endParaRPr lang="en-US" sz="1444" dirty="0"/>
          </a:p>
        </p:txBody>
      </p:sp>
      <p:sp>
        <p:nvSpPr>
          <p:cNvPr id="21" name="Text 19"/>
          <p:cNvSpPr txBox="1"/>
          <p:nvPr/>
        </p:nvSpPr>
        <p:spPr>
          <a:xfrm>
            <a:off x="8917091"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Diffusion</a:t>
            </a:r>
            <a:endParaRPr lang="en-US" sz="1444" dirty="0"/>
          </a:p>
        </p:txBody>
      </p:sp>
      <p:sp>
        <p:nvSpPr>
          <p:cNvPr id="22" name="Shape 20"/>
          <p:cNvSpPr/>
          <p:nvPr/>
        </p:nvSpPr>
        <p:spPr>
          <a:xfrm>
            <a:off x="9964510" y="2816741"/>
            <a:ext cx="0" cy="132074"/>
          </a:xfrm>
          <a:prstGeom prst="line">
            <a:avLst/>
          </a:prstGeom>
          <a:noFill/>
          <a:ln w="22860">
            <a:solidFill>
              <a:srgbClr val="0072B2"/>
            </a:solidFill>
            <a:prstDash val="solid"/>
          </a:ln>
        </p:spPr>
      </p:sp>
      <p:sp>
        <p:nvSpPr>
          <p:cNvPr id="23" name="Shape 21"/>
          <p:cNvSpPr/>
          <p:nvPr/>
        </p:nvSpPr>
        <p:spPr>
          <a:xfrm flipH="1">
            <a:off x="944968" y="2948815"/>
            <a:ext cx="9019542" cy="0"/>
          </a:xfrm>
          <a:prstGeom prst="line">
            <a:avLst/>
          </a:prstGeom>
          <a:noFill/>
          <a:ln w="22860">
            <a:solidFill>
              <a:srgbClr val="0072B2"/>
            </a:solidFill>
            <a:prstDash val="solid"/>
          </a:ln>
        </p:spPr>
      </p:sp>
      <p:sp>
        <p:nvSpPr>
          <p:cNvPr id="24" name="Shape 22"/>
          <p:cNvSpPr/>
          <p:nvPr/>
        </p:nvSpPr>
        <p:spPr>
          <a:xfrm>
            <a:off x="944968" y="2948815"/>
            <a:ext cx="0" cy="858480"/>
          </a:xfrm>
          <a:prstGeom prst="line">
            <a:avLst/>
          </a:prstGeom>
          <a:noFill/>
          <a:ln w="22860">
            <a:solidFill>
              <a:srgbClr val="0072B2"/>
            </a:solidFill>
            <a:prstDash val="solid"/>
          </a:ln>
        </p:spPr>
      </p:sp>
      <p:sp>
        <p:nvSpPr>
          <p:cNvPr id="25" name="Shape 23"/>
          <p:cNvSpPr/>
          <p:nvPr/>
        </p:nvSpPr>
        <p:spPr>
          <a:xfrm>
            <a:off x="944968" y="3807295"/>
            <a:ext cx="132074" cy="0"/>
          </a:xfrm>
          <a:prstGeom prst="line">
            <a:avLst/>
          </a:prstGeom>
          <a:noFill/>
          <a:ln w="22860">
            <a:solidFill>
              <a:srgbClr val="0072B2"/>
            </a:solidFill>
            <a:prstDash val="solid"/>
            <a:tailEnd type="triangle"/>
          </a:ln>
        </p:spPr>
      </p:sp>
      <p:sp>
        <p:nvSpPr>
          <p:cNvPr id="26" name="Text 24"/>
          <p:cNvSpPr txBox="1"/>
          <p:nvPr/>
        </p:nvSpPr>
        <p:spPr>
          <a:xfrm>
            <a:off x="1077042" y="30882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Language</a:t>
            </a:r>
            <a:endParaRPr lang="en-US" sz="1560" dirty="0"/>
          </a:p>
        </p:txBody>
      </p:sp>
      <p:sp>
        <p:nvSpPr>
          <p:cNvPr id="27" name="Shape 25"/>
          <p:cNvSpPr/>
          <p:nvPr/>
        </p:nvSpPr>
        <p:spPr>
          <a:xfrm>
            <a:off x="1077042" y="3425748"/>
            <a:ext cx="2300286" cy="763093"/>
          </a:xfrm>
          <a:prstGeom prst="roundRect">
            <a:avLst>
              <a:gd name="adj" fmla="val 9586"/>
            </a:avLst>
          </a:prstGeom>
          <a:solidFill>
            <a:srgbClr val="E4F2FB"/>
          </a:solidFill>
          <a:ln w="15240">
            <a:solidFill>
              <a:srgbClr val="0072B2"/>
            </a:solidFill>
            <a:prstDash val="solid"/>
          </a:ln>
        </p:spPr>
      </p:sp>
      <p:sp>
        <p:nvSpPr>
          <p:cNvPr id="28" name="Text 26"/>
          <p:cNvSpPr txBox="1"/>
          <p:nvPr/>
        </p:nvSpPr>
        <p:spPr>
          <a:xfrm>
            <a:off x="1179766"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5</a:t>
            </a:r>
            <a:endParaRPr lang="en-US" sz="1444" dirty="0"/>
          </a:p>
        </p:txBody>
      </p:sp>
      <p:sp>
        <p:nvSpPr>
          <p:cNvPr id="29" name="Text 27"/>
          <p:cNvSpPr txBox="1"/>
          <p:nvPr/>
        </p:nvSpPr>
        <p:spPr>
          <a:xfrm>
            <a:off x="1179766"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Transformers</a:t>
            </a:r>
            <a:endParaRPr lang="en-US" sz="1444" dirty="0"/>
          </a:p>
        </p:txBody>
      </p:sp>
      <p:sp>
        <p:nvSpPr>
          <p:cNvPr id="30" name="Shape 28"/>
          <p:cNvSpPr/>
          <p:nvPr/>
        </p:nvSpPr>
        <p:spPr>
          <a:xfrm>
            <a:off x="3377328" y="3807295"/>
            <a:ext cx="278823" cy="0"/>
          </a:xfrm>
          <a:prstGeom prst="line">
            <a:avLst/>
          </a:prstGeom>
          <a:noFill/>
          <a:ln w="22860">
            <a:solidFill>
              <a:srgbClr val="0072B2"/>
            </a:solidFill>
            <a:prstDash val="solid"/>
            <a:tailEnd type="triangle"/>
          </a:ln>
        </p:spPr>
      </p:sp>
      <p:sp>
        <p:nvSpPr>
          <p:cNvPr id="31" name="Shape 29"/>
          <p:cNvSpPr/>
          <p:nvPr/>
        </p:nvSpPr>
        <p:spPr>
          <a:xfrm>
            <a:off x="3656151" y="3425748"/>
            <a:ext cx="2300286" cy="763093"/>
          </a:xfrm>
          <a:prstGeom prst="roundRect">
            <a:avLst>
              <a:gd name="adj" fmla="val 9586"/>
            </a:avLst>
          </a:prstGeom>
          <a:solidFill>
            <a:srgbClr val="E4F2FB"/>
          </a:solidFill>
          <a:ln w="15240">
            <a:solidFill>
              <a:srgbClr val="0072B2"/>
            </a:solidFill>
            <a:prstDash val="solid"/>
          </a:ln>
        </p:spPr>
      </p:sp>
      <p:sp>
        <p:nvSpPr>
          <p:cNvPr id="32" name="Text 30"/>
          <p:cNvSpPr txBox="1"/>
          <p:nvPr/>
        </p:nvSpPr>
        <p:spPr>
          <a:xfrm>
            <a:off x="3758875"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6</a:t>
            </a:r>
            <a:endParaRPr lang="en-US" sz="1444" dirty="0"/>
          </a:p>
        </p:txBody>
      </p:sp>
      <p:sp>
        <p:nvSpPr>
          <p:cNvPr id="33" name="Text 31"/>
          <p:cNvSpPr txBox="1"/>
          <p:nvPr/>
        </p:nvSpPr>
        <p:spPr>
          <a:xfrm>
            <a:off x="3758875"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LLMs</a:t>
            </a:r>
            <a:endParaRPr lang="en-US" sz="1444" dirty="0"/>
          </a:p>
        </p:txBody>
      </p:sp>
      <p:sp>
        <p:nvSpPr>
          <p:cNvPr id="34" name="Shape 32"/>
          <p:cNvSpPr/>
          <p:nvPr/>
        </p:nvSpPr>
        <p:spPr>
          <a:xfrm>
            <a:off x="5956436" y="3807295"/>
            <a:ext cx="278823" cy="0"/>
          </a:xfrm>
          <a:prstGeom prst="line">
            <a:avLst/>
          </a:prstGeom>
          <a:noFill/>
          <a:ln w="22860">
            <a:solidFill>
              <a:srgbClr val="0072B2"/>
            </a:solidFill>
            <a:prstDash val="solid"/>
            <a:tailEnd type="triangle"/>
          </a:ln>
        </p:spPr>
      </p:sp>
      <p:sp>
        <p:nvSpPr>
          <p:cNvPr id="35" name="Shape 33"/>
          <p:cNvSpPr/>
          <p:nvPr/>
        </p:nvSpPr>
        <p:spPr>
          <a:xfrm>
            <a:off x="6235259" y="3425748"/>
            <a:ext cx="2300286" cy="763093"/>
          </a:xfrm>
          <a:prstGeom prst="roundRect">
            <a:avLst>
              <a:gd name="adj" fmla="val 9586"/>
            </a:avLst>
          </a:prstGeom>
          <a:solidFill>
            <a:srgbClr val="E4F2FB"/>
          </a:solidFill>
          <a:ln w="15240">
            <a:solidFill>
              <a:srgbClr val="0072B2"/>
            </a:solidFill>
            <a:prstDash val="solid"/>
          </a:ln>
        </p:spPr>
      </p:sp>
      <p:sp>
        <p:nvSpPr>
          <p:cNvPr id="36" name="Text 34"/>
          <p:cNvSpPr txBox="1"/>
          <p:nvPr/>
        </p:nvSpPr>
        <p:spPr>
          <a:xfrm>
            <a:off x="6337983"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7</a:t>
            </a:r>
            <a:endParaRPr lang="en-US" sz="1444" dirty="0"/>
          </a:p>
        </p:txBody>
      </p:sp>
      <p:sp>
        <p:nvSpPr>
          <p:cNvPr id="37" name="Text 35"/>
          <p:cNvSpPr txBox="1"/>
          <p:nvPr/>
        </p:nvSpPr>
        <p:spPr>
          <a:xfrm>
            <a:off x="6337983"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Prompting</a:t>
            </a:r>
            <a:endParaRPr lang="en-US" sz="1444" dirty="0"/>
          </a:p>
        </p:txBody>
      </p:sp>
      <p:sp>
        <p:nvSpPr>
          <p:cNvPr id="38" name="Shape 36"/>
          <p:cNvSpPr/>
          <p:nvPr/>
        </p:nvSpPr>
        <p:spPr>
          <a:xfrm>
            <a:off x="8535545" y="3807295"/>
            <a:ext cx="278823" cy="0"/>
          </a:xfrm>
          <a:prstGeom prst="line">
            <a:avLst/>
          </a:prstGeom>
          <a:noFill/>
          <a:ln w="22860">
            <a:solidFill>
              <a:srgbClr val="0072B2"/>
            </a:solidFill>
            <a:prstDash val="solid"/>
            <a:tailEnd type="triangle"/>
          </a:ln>
        </p:spPr>
      </p:sp>
      <p:sp>
        <p:nvSpPr>
          <p:cNvPr id="39" name="Shape 37"/>
          <p:cNvSpPr/>
          <p:nvPr/>
        </p:nvSpPr>
        <p:spPr>
          <a:xfrm>
            <a:off x="8814367" y="3425748"/>
            <a:ext cx="2300286" cy="763093"/>
          </a:xfrm>
          <a:prstGeom prst="roundRect">
            <a:avLst>
              <a:gd name="adj" fmla="val 9586"/>
            </a:avLst>
          </a:prstGeom>
          <a:solidFill>
            <a:srgbClr val="E4F2FB"/>
          </a:solidFill>
          <a:ln w="15240">
            <a:solidFill>
              <a:srgbClr val="0072B2"/>
            </a:solidFill>
            <a:prstDash val="solid"/>
          </a:ln>
        </p:spPr>
      </p:sp>
      <p:sp>
        <p:nvSpPr>
          <p:cNvPr id="40" name="Text 38"/>
          <p:cNvSpPr txBox="1"/>
          <p:nvPr/>
        </p:nvSpPr>
        <p:spPr>
          <a:xfrm>
            <a:off x="8917091"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8</a:t>
            </a:r>
            <a:endParaRPr lang="en-US" sz="1444" dirty="0"/>
          </a:p>
        </p:txBody>
      </p:sp>
      <p:sp>
        <p:nvSpPr>
          <p:cNvPr id="41" name="Text 39"/>
          <p:cNvSpPr txBox="1"/>
          <p:nvPr/>
        </p:nvSpPr>
        <p:spPr>
          <a:xfrm>
            <a:off x="8917091"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Fine-tuning</a:t>
            </a:r>
            <a:endParaRPr lang="en-US" sz="1444" dirty="0"/>
          </a:p>
        </p:txBody>
      </p:sp>
      <p:sp>
        <p:nvSpPr>
          <p:cNvPr id="42" name="Shape 40"/>
          <p:cNvSpPr/>
          <p:nvPr/>
        </p:nvSpPr>
        <p:spPr>
          <a:xfrm>
            <a:off x="9964510" y="4188841"/>
            <a:ext cx="0" cy="132074"/>
          </a:xfrm>
          <a:prstGeom prst="line">
            <a:avLst/>
          </a:prstGeom>
          <a:noFill/>
          <a:ln w="22860">
            <a:solidFill>
              <a:srgbClr val="0072B2"/>
            </a:solidFill>
            <a:prstDash val="solid"/>
          </a:ln>
        </p:spPr>
      </p:sp>
      <p:sp>
        <p:nvSpPr>
          <p:cNvPr id="43" name="Shape 41"/>
          <p:cNvSpPr/>
          <p:nvPr/>
        </p:nvSpPr>
        <p:spPr>
          <a:xfrm flipH="1">
            <a:off x="944968" y="4320915"/>
            <a:ext cx="9019542" cy="0"/>
          </a:xfrm>
          <a:prstGeom prst="line">
            <a:avLst/>
          </a:prstGeom>
          <a:noFill/>
          <a:ln w="22860">
            <a:solidFill>
              <a:srgbClr val="0072B2"/>
            </a:solidFill>
            <a:prstDash val="solid"/>
          </a:ln>
        </p:spPr>
      </p:sp>
      <p:sp>
        <p:nvSpPr>
          <p:cNvPr id="44" name="Shape 42"/>
          <p:cNvSpPr/>
          <p:nvPr/>
        </p:nvSpPr>
        <p:spPr>
          <a:xfrm>
            <a:off x="944968" y="4320915"/>
            <a:ext cx="0" cy="858480"/>
          </a:xfrm>
          <a:prstGeom prst="line">
            <a:avLst/>
          </a:prstGeom>
          <a:noFill/>
          <a:ln w="22860">
            <a:solidFill>
              <a:srgbClr val="0072B2"/>
            </a:solidFill>
            <a:prstDash val="solid"/>
          </a:ln>
        </p:spPr>
      </p:sp>
      <p:sp>
        <p:nvSpPr>
          <p:cNvPr id="45" name="Shape 43"/>
          <p:cNvSpPr/>
          <p:nvPr/>
        </p:nvSpPr>
        <p:spPr>
          <a:xfrm>
            <a:off x="944968" y="5179395"/>
            <a:ext cx="132074" cy="0"/>
          </a:xfrm>
          <a:prstGeom prst="line">
            <a:avLst/>
          </a:prstGeom>
          <a:noFill/>
          <a:ln w="22860">
            <a:solidFill>
              <a:srgbClr val="0072B2"/>
            </a:solidFill>
            <a:prstDash val="solid"/>
            <a:tailEnd type="triangle"/>
          </a:ln>
        </p:spPr>
      </p:sp>
      <p:sp>
        <p:nvSpPr>
          <p:cNvPr id="46" name="Text 44"/>
          <p:cNvSpPr txBox="1"/>
          <p:nvPr/>
        </p:nvSpPr>
        <p:spPr>
          <a:xfrm>
            <a:off x="1077042" y="44603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Systems</a:t>
            </a:r>
            <a:endParaRPr lang="en-US" sz="1560" dirty="0"/>
          </a:p>
        </p:txBody>
      </p:sp>
      <p:sp>
        <p:nvSpPr>
          <p:cNvPr id="47" name="Shape 45"/>
          <p:cNvSpPr/>
          <p:nvPr/>
        </p:nvSpPr>
        <p:spPr>
          <a:xfrm>
            <a:off x="1077042" y="4797848"/>
            <a:ext cx="2300286" cy="763093"/>
          </a:xfrm>
          <a:prstGeom prst="roundRect">
            <a:avLst>
              <a:gd name="adj" fmla="val 9586"/>
            </a:avLst>
          </a:prstGeom>
          <a:solidFill>
            <a:srgbClr val="E4F2FB"/>
          </a:solidFill>
          <a:ln w="15240">
            <a:solidFill>
              <a:srgbClr val="0072B2"/>
            </a:solidFill>
            <a:prstDash val="solid"/>
          </a:ln>
        </p:spPr>
      </p:sp>
      <p:sp>
        <p:nvSpPr>
          <p:cNvPr id="48" name="Text 46"/>
          <p:cNvSpPr txBox="1"/>
          <p:nvPr/>
        </p:nvSpPr>
        <p:spPr>
          <a:xfrm>
            <a:off x="1179766"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9</a:t>
            </a:r>
            <a:endParaRPr lang="en-US" sz="1444" dirty="0"/>
          </a:p>
        </p:txBody>
      </p:sp>
      <p:sp>
        <p:nvSpPr>
          <p:cNvPr id="49" name="Text 47"/>
          <p:cNvSpPr txBox="1"/>
          <p:nvPr/>
        </p:nvSpPr>
        <p:spPr>
          <a:xfrm>
            <a:off x="1179766"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Multimodal</a:t>
            </a:r>
            <a:endParaRPr lang="en-US" sz="1444" dirty="0"/>
          </a:p>
        </p:txBody>
      </p:sp>
      <p:sp>
        <p:nvSpPr>
          <p:cNvPr id="50" name="Shape 48"/>
          <p:cNvSpPr/>
          <p:nvPr/>
        </p:nvSpPr>
        <p:spPr>
          <a:xfrm>
            <a:off x="3377328" y="5179395"/>
            <a:ext cx="278823" cy="0"/>
          </a:xfrm>
          <a:prstGeom prst="line">
            <a:avLst/>
          </a:prstGeom>
          <a:noFill/>
          <a:ln w="22860">
            <a:solidFill>
              <a:srgbClr val="0072B2"/>
            </a:solidFill>
            <a:prstDash val="solid"/>
            <a:tailEnd type="triangle"/>
          </a:ln>
        </p:spPr>
      </p:sp>
      <p:sp>
        <p:nvSpPr>
          <p:cNvPr id="51" name="Shape 49"/>
          <p:cNvSpPr/>
          <p:nvPr/>
        </p:nvSpPr>
        <p:spPr>
          <a:xfrm>
            <a:off x="3656151" y="4797848"/>
            <a:ext cx="2300286" cy="763093"/>
          </a:xfrm>
          <a:prstGeom prst="roundRect">
            <a:avLst>
              <a:gd name="adj" fmla="val 9586"/>
            </a:avLst>
          </a:prstGeom>
          <a:solidFill>
            <a:srgbClr val="E4F2FB"/>
          </a:solidFill>
          <a:ln w="15240">
            <a:solidFill>
              <a:srgbClr val="0072B2"/>
            </a:solidFill>
            <a:prstDash val="solid"/>
          </a:ln>
        </p:spPr>
      </p:sp>
      <p:sp>
        <p:nvSpPr>
          <p:cNvPr id="52" name="Text 50"/>
          <p:cNvSpPr txBox="1"/>
          <p:nvPr/>
        </p:nvSpPr>
        <p:spPr>
          <a:xfrm>
            <a:off x="3758875"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10</a:t>
            </a:r>
            <a:endParaRPr lang="en-US" sz="1444" dirty="0"/>
          </a:p>
        </p:txBody>
      </p:sp>
      <p:sp>
        <p:nvSpPr>
          <p:cNvPr id="53" name="Text 51"/>
          <p:cNvSpPr txBox="1"/>
          <p:nvPr/>
        </p:nvSpPr>
        <p:spPr>
          <a:xfrm>
            <a:off x="3758875"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Applications</a:t>
            </a:r>
            <a:endParaRPr lang="en-US" sz="1444" dirty="0"/>
          </a:p>
        </p:txBody>
      </p:sp>
      <p:sp>
        <p:nvSpPr>
          <p:cNvPr id="54" name="Shape 52"/>
          <p:cNvSpPr/>
          <p:nvPr/>
        </p:nvSpPr>
        <p:spPr>
          <a:xfrm>
            <a:off x="5956436" y="5179395"/>
            <a:ext cx="278823" cy="0"/>
          </a:xfrm>
          <a:prstGeom prst="line">
            <a:avLst/>
          </a:prstGeom>
          <a:noFill/>
          <a:ln w="22860">
            <a:solidFill>
              <a:srgbClr val="0072B2"/>
            </a:solidFill>
            <a:prstDash val="solid"/>
            <a:tailEnd type="triangle"/>
          </a:ln>
        </p:spPr>
      </p:sp>
      <p:sp>
        <p:nvSpPr>
          <p:cNvPr id="55" name="Shape 53"/>
          <p:cNvSpPr/>
          <p:nvPr/>
        </p:nvSpPr>
        <p:spPr>
          <a:xfrm>
            <a:off x="6235259" y="4797848"/>
            <a:ext cx="2300286" cy="763093"/>
          </a:xfrm>
          <a:prstGeom prst="roundRect">
            <a:avLst>
              <a:gd name="adj" fmla="val 9586"/>
            </a:avLst>
          </a:prstGeom>
          <a:solidFill>
            <a:srgbClr val="FFF0E6"/>
          </a:solidFill>
          <a:ln w="15240">
            <a:solidFill>
              <a:srgbClr val="D55E00"/>
            </a:solidFill>
            <a:prstDash val="solid"/>
          </a:ln>
        </p:spPr>
      </p:sp>
      <p:sp>
        <p:nvSpPr>
          <p:cNvPr id="56" name="Text 54"/>
          <p:cNvSpPr txBox="1"/>
          <p:nvPr/>
        </p:nvSpPr>
        <p:spPr>
          <a:xfrm>
            <a:off x="6337983"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D55E00"/>
                </a:solidFill>
                <a:latin typeface="Arial" pitchFamily="34" charset="0"/>
                <a:ea typeface="Arial" pitchFamily="34" charset="-122"/>
                <a:cs typeface="Arial" pitchFamily="34" charset="-120"/>
              </a:rPr>
              <a:t>11: you are here</a:t>
            </a:r>
            <a:endParaRPr lang="en-US" sz="1444" dirty="0"/>
          </a:p>
        </p:txBody>
      </p:sp>
      <p:sp>
        <p:nvSpPr>
          <p:cNvPr id="57" name="Text 55"/>
          <p:cNvSpPr txBox="1"/>
          <p:nvPr/>
        </p:nvSpPr>
        <p:spPr>
          <a:xfrm>
            <a:off x="6337983"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Deployment</a:t>
            </a:r>
            <a:endParaRPr lang="en-US" sz="1444" dirty="0"/>
          </a:p>
        </p:txBody>
      </p:sp>
      <p:sp>
        <p:nvSpPr>
          <p:cNvPr id="58" name="Shape 56"/>
          <p:cNvSpPr/>
          <p:nvPr/>
        </p:nvSpPr>
        <p:spPr>
          <a:xfrm>
            <a:off x="8535545" y="5179395"/>
            <a:ext cx="278823" cy="0"/>
          </a:xfrm>
          <a:prstGeom prst="line">
            <a:avLst/>
          </a:prstGeom>
          <a:noFill/>
          <a:ln w="22860">
            <a:solidFill>
              <a:srgbClr val="0072B2"/>
            </a:solidFill>
            <a:prstDash val="solid"/>
            <a:tailEnd type="triangle"/>
          </a:ln>
        </p:spPr>
      </p:sp>
      <p:sp>
        <p:nvSpPr>
          <p:cNvPr id="59" name="Shape 57"/>
          <p:cNvSpPr/>
          <p:nvPr/>
        </p:nvSpPr>
        <p:spPr>
          <a:xfrm>
            <a:off x="8814367" y="4797848"/>
            <a:ext cx="2300286" cy="763093"/>
          </a:xfrm>
          <a:prstGeom prst="roundRect">
            <a:avLst>
              <a:gd name="adj" fmla="val 9586"/>
            </a:avLst>
          </a:prstGeom>
          <a:solidFill>
            <a:srgbClr val="E4F2FB"/>
          </a:solidFill>
          <a:ln w="15240">
            <a:solidFill>
              <a:srgbClr val="0072B2"/>
            </a:solidFill>
            <a:prstDash val="solid"/>
          </a:ln>
        </p:spPr>
      </p:sp>
      <p:sp>
        <p:nvSpPr>
          <p:cNvPr id="60" name="Text 58"/>
          <p:cNvSpPr txBox="1"/>
          <p:nvPr/>
        </p:nvSpPr>
        <p:spPr>
          <a:xfrm>
            <a:off x="8917091"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12</a:t>
            </a:r>
            <a:endParaRPr lang="en-US" sz="1444" dirty="0"/>
          </a:p>
        </p:txBody>
      </p:sp>
      <p:sp>
        <p:nvSpPr>
          <p:cNvPr id="61" name="Text 59"/>
          <p:cNvSpPr txBox="1"/>
          <p:nvPr/>
        </p:nvSpPr>
        <p:spPr>
          <a:xfrm>
            <a:off x="8917091"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RAG &amp; agents</a:t>
            </a:r>
            <a:endParaRPr lang="en-US" sz="1444" dirty="0"/>
          </a:p>
        </p:txBody>
      </p:sp>
      <p:sp>
        <p:nvSpPr>
          <p:cNvPr id="62" name="Text 60"/>
          <p:cNvSpPr txBox="1"/>
          <p:nvPr/>
        </p:nvSpPr>
        <p:spPr>
          <a:xfrm>
            <a:off x="1077042" y="5891126"/>
            <a:ext cx="10037611" cy="271485"/>
          </a:xfrm>
          <a:prstGeom prst="rect">
            <a:avLst/>
          </a:prstGeom>
          <a:noFill/>
          <a:ln/>
        </p:spPr>
        <p:txBody>
          <a:bodyPr wrap="square" lIns="0" tIns="0" rIns="0" bIns="0" rtlCol="0" anchor="ctr"/>
          <a:lstStyle/>
          <a:p>
            <a:pPr algn="l" indent="0" marL="0">
              <a:lnSpc>
                <a:spcPct val="116000"/>
              </a:lnSpc>
              <a:buNone/>
            </a:pPr>
            <a:r>
              <a:rPr lang="en-US" sz="1560" dirty="0">
                <a:solidFill>
                  <a:srgbClr val="1F2937"/>
                </a:solidFill>
                <a:latin typeface="Arial" pitchFamily="34" charset="0"/>
                <a:ea typeface="Arial" pitchFamily="34" charset="-122"/>
                <a:cs typeface="Arial" pitchFamily="34" charset="-120"/>
              </a:rPr>
              <a:t>Check evidence throughout</a:t>
            </a:r>
            <a:endParaRPr lang="en-US" sz="15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Starting vocabulary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106436"/>
                <a:gridCol w="7987979"/>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Term</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Meaning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Token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One model text unit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Function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Named input/output operation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JSON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Named structured fields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Warm-up</a:t>
            </a:r>
            <a:endParaRPr lang="en-US" sz="3200" dirty="0"/>
          </a:p>
        </p:txBody>
      </p:sp>
      <p:sp>
        <p:nvSpPr>
          <p:cNvPr id="6" name="Shape 4"/>
          <p:cNvSpPr/>
          <p:nvPr/>
        </p:nvSpPr>
        <p:spPr>
          <a:xfrm>
            <a:off x="548640" y="1527048"/>
            <a:ext cx="1005840" cy="1005840"/>
          </a:xfrm>
          <a:prstGeom prst="ellipse">
            <a:avLst/>
          </a:prstGeom>
          <a:solidFill>
            <a:srgbClr val="0F766E"/>
          </a:solidFill>
          <a:ln w="12700">
            <a:solidFill>
              <a:srgbClr val="0F766E"/>
            </a:solidFill>
            <a:prstDash val="solid"/>
          </a:ln>
        </p:spPr>
      </p:sp>
      <p:pic>
        <p:nvPicPr>
          <p:cNvPr id="7" name="Image 0" descr="preencoded.png">    </p:cNvPr>
          <p:cNvPicPr>
            <a:picLocks noChangeAspect="1"/>
          </p:cNvPicPr>
          <p:nvPr/>
        </p:nvPicPr>
        <p:blipFill>
          <a:blip r:embed="rId1"/>
          <a:stretch>
            <a:fillRect/>
          </a:stretch>
        </p:blipFill>
        <p:spPr>
          <a:xfrm>
            <a:off x="790042" y="1768450"/>
            <a:ext cx="523037" cy="523037"/>
          </a:xfrm>
          <a:prstGeom prst="rect">
            <a:avLst/>
          </a:prstGeom>
        </p:spPr>
      </p:pic>
      <p:sp>
        <p:nvSpPr>
          <p:cNvPr id="8" name="Text 5"/>
          <p:cNvSpPr txBox="1"/>
          <p:nvPr/>
        </p:nvSpPr>
        <p:spPr>
          <a:xfrm>
            <a:off x="1828800" y="1481328"/>
            <a:ext cx="9814255" cy="1463040"/>
          </a:xfrm>
          <a:prstGeom prst="rect">
            <a:avLst/>
          </a:prstGeom>
          <a:noFill/>
          <a:ln/>
        </p:spPr>
        <p:txBody>
          <a:bodyPr wrap="square" lIns="50800" tIns="50800" rIns="50800" bIns="50800" rtlCol="0" anchor="ctr"/>
          <a:lstStyle/>
          <a:p>
            <a:pPr indent="0" marL="0">
              <a:buNone/>
            </a:pPr>
            <a:r>
              <a:rPr lang="en-US" sz="2600" b="1" dirty="0">
                <a:solidFill>
                  <a:srgbClr val="1E1B4B"/>
                </a:solidFill>
                <a:latin typeface="Calibri" pitchFamily="34" charset="0"/>
                <a:ea typeface="Calibri" pitchFamily="34" charset="-122"/>
                <a:cs typeface="Calibri" pitchFamily="34" charset="-120"/>
              </a:rPr>
              <a:t>Your notebook works. Tomorrow 500 students use it. What could fail?</a:t>
            </a:r>
            <a:endParaRPr lang="en-US" sz="2600" dirty="0"/>
          </a:p>
        </p:txBody>
      </p:sp>
      <p:sp>
        <p:nvSpPr>
          <p:cNvPr id="9" name="Text 6"/>
          <p:cNvSpPr txBox="1"/>
          <p:nvPr/>
        </p:nvSpPr>
        <p:spPr>
          <a:xfrm>
            <a:off x="1828800" y="3172968"/>
            <a:ext cx="9814255" cy="3090672"/>
          </a:xfrm>
          <a:prstGeom prst="rect">
            <a:avLst/>
          </a:prstGeom>
          <a:noFill/>
          <a:ln/>
        </p:spPr>
        <p:txBody>
          <a:bodyPr wrap="square" lIns="50800" tIns="50800" rIns="50800" bIns="50800" rtlCol="0" anchor="t"/>
          <a:lstStyle/>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Waiting time and capacity.</a:t>
            </a:r>
            <a:endParaRPr lang="en-US" sz="2200" dirty="0"/>
          </a:p>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Cost and privacy.</a:t>
            </a:r>
            <a:endParaRPr lang="en-US" sz="2200" dirty="0"/>
          </a:p>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Failures and operating responsibility.</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01</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Frameworks and the tool stack</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Which tools exist, and which do you need?</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Checked Python request route</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Allowed or blocked</a:t>
            </a:r>
            <a:endParaRPr lang="en-US" sz="1800" dirty="0"/>
          </a:p>
        </p:txBody>
      </p:sp>
      <p:sp>
        <p:nvSpPr>
          <p:cNvPr id="7" name="Shape 5"/>
          <p:cNvSpPr/>
          <p:nvPr/>
        </p:nvSpPr>
        <p:spPr>
          <a:xfrm>
            <a:off x="2716115" y="3838927"/>
            <a:ext cx="244024" cy="0"/>
          </a:xfrm>
          <a:prstGeom prst="line">
            <a:avLst/>
          </a:prstGeom>
          <a:noFill/>
          <a:ln w="22860">
            <a:solidFill>
              <a:srgbClr val="009E73"/>
            </a:solidFill>
            <a:prstDash val="solid"/>
            <a:tailEnd type="triangle"/>
          </a:ln>
        </p:spPr>
      </p:sp>
      <p:sp>
        <p:nvSpPr>
          <p:cNvPr id="8" name="Text 6"/>
          <p:cNvSpPr txBox="1"/>
          <p:nvPr/>
        </p:nvSpPr>
        <p:spPr>
          <a:xfrm>
            <a:off x="2037423"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text</a:t>
            </a:r>
            <a:endParaRPr lang="en-US" sz="1441" dirty="0"/>
          </a:p>
        </p:txBody>
      </p:sp>
      <p:sp>
        <p:nvSpPr>
          <p:cNvPr id="9" name="Shape 7"/>
          <p:cNvSpPr/>
          <p:nvPr/>
        </p:nvSpPr>
        <p:spPr>
          <a:xfrm>
            <a:off x="4887929" y="3838927"/>
            <a:ext cx="244024" cy="0"/>
          </a:xfrm>
          <a:prstGeom prst="line">
            <a:avLst/>
          </a:prstGeom>
          <a:noFill/>
          <a:ln w="22860">
            <a:solidFill>
              <a:srgbClr val="009E73"/>
            </a:solidFill>
            <a:prstDash val="solid"/>
            <a:tailEnd type="triangle"/>
          </a:ln>
        </p:spPr>
      </p:sp>
      <p:sp>
        <p:nvSpPr>
          <p:cNvPr id="10" name="Text 8"/>
          <p:cNvSpPr txBox="1"/>
          <p:nvPr/>
        </p:nvSpPr>
        <p:spPr>
          <a:xfrm>
            <a:off x="4209237"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allowed text</a:t>
            </a:r>
            <a:endParaRPr lang="en-US" sz="1441" dirty="0"/>
          </a:p>
        </p:txBody>
      </p:sp>
      <p:sp>
        <p:nvSpPr>
          <p:cNvPr id="11" name="Shape 9"/>
          <p:cNvSpPr/>
          <p:nvPr/>
        </p:nvSpPr>
        <p:spPr>
          <a:xfrm>
            <a:off x="7059743" y="3838927"/>
            <a:ext cx="244024" cy="0"/>
          </a:xfrm>
          <a:prstGeom prst="line">
            <a:avLst/>
          </a:prstGeom>
          <a:noFill/>
          <a:ln w="22860">
            <a:solidFill>
              <a:srgbClr val="009E73"/>
            </a:solidFill>
            <a:prstDash val="solid"/>
            <a:tailEnd type="triangle"/>
          </a:ln>
        </p:spPr>
      </p:sp>
      <p:sp>
        <p:nvSpPr>
          <p:cNvPr id="12" name="Text 10"/>
          <p:cNvSpPr txBox="1"/>
          <p:nvPr/>
        </p:nvSpPr>
        <p:spPr>
          <a:xfrm>
            <a:off x="638105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answer</a:t>
            </a:r>
            <a:endParaRPr lang="en-US" sz="1441" dirty="0"/>
          </a:p>
        </p:txBody>
      </p:sp>
      <p:sp>
        <p:nvSpPr>
          <p:cNvPr id="13" name="Shape 11"/>
          <p:cNvSpPr/>
          <p:nvPr/>
        </p:nvSpPr>
        <p:spPr>
          <a:xfrm>
            <a:off x="9231556" y="3838927"/>
            <a:ext cx="244024" cy="0"/>
          </a:xfrm>
          <a:prstGeom prst="line">
            <a:avLst/>
          </a:prstGeom>
          <a:noFill/>
          <a:ln w="22860">
            <a:solidFill>
              <a:srgbClr val="009E73"/>
            </a:solidFill>
            <a:prstDash val="solid"/>
            <a:tailEnd type="triangle"/>
          </a:ln>
        </p:spPr>
      </p:sp>
      <p:sp>
        <p:nvSpPr>
          <p:cNvPr id="14" name="Text 12"/>
          <p:cNvSpPr txBox="1"/>
          <p:nvPr/>
        </p:nvSpPr>
        <p:spPr>
          <a:xfrm>
            <a:off x="8552865"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checked answer</a:t>
            </a:r>
            <a:endParaRPr lang="en-US" sz="1441" dirty="0"/>
          </a:p>
        </p:txBody>
      </p:sp>
      <p:sp>
        <p:nvSpPr>
          <p:cNvPr id="15" name="Shape 13"/>
          <p:cNvSpPr/>
          <p:nvPr/>
        </p:nvSpPr>
        <p:spPr>
          <a:xfrm>
            <a:off x="3924034" y="4738766"/>
            <a:ext cx="0" cy="198270"/>
          </a:xfrm>
          <a:prstGeom prst="line">
            <a:avLst/>
          </a:prstGeom>
          <a:noFill/>
          <a:ln w="22860">
            <a:solidFill>
              <a:srgbClr val="0072B2"/>
            </a:solidFill>
            <a:prstDash val="solid"/>
          </a:ln>
        </p:spPr>
      </p:sp>
      <p:sp>
        <p:nvSpPr>
          <p:cNvPr id="16" name="Shape 14"/>
          <p:cNvSpPr/>
          <p:nvPr/>
        </p:nvSpPr>
        <p:spPr>
          <a:xfrm>
            <a:off x="3924034" y="4937035"/>
            <a:ext cx="6515442" cy="0"/>
          </a:xfrm>
          <a:prstGeom prst="line">
            <a:avLst/>
          </a:prstGeom>
          <a:noFill/>
          <a:ln w="22860">
            <a:solidFill>
              <a:srgbClr val="0072B2"/>
            </a:solidFill>
            <a:prstDash val="solid"/>
          </a:ln>
        </p:spPr>
      </p:sp>
      <p:sp>
        <p:nvSpPr>
          <p:cNvPr id="17" name="Shape 15"/>
          <p:cNvSpPr/>
          <p:nvPr/>
        </p:nvSpPr>
        <p:spPr>
          <a:xfrm flipV="1">
            <a:off x="10439475" y="4738766"/>
            <a:ext cx="0" cy="198270"/>
          </a:xfrm>
          <a:prstGeom prst="line">
            <a:avLst/>
          </a:prstGeom>
          <a:noFill/>
          <a:ln w="22860">
            <a:solidFill>
              <a:srgbClr val="0072B2"/>
            </a:solidFill>
            <a:prstDash val="solid"/>
            <a:tailEnd type="triangle"/>
          </a:ln>
        </p:spPr>
      </p:sp>
      <p:sp>
        <p:nvSpPr>
          <p:cNvPr id="18" name="Text 16"/>
          <p:cNvSpPr txBox="1"/>
          <p:nvPr/>
        </p:nvSpPr>
        <p:spPr>
          <a:xfrm>
            <a:off x="6867021" y="4967538"/>
            <a:ext cx="629466"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refusal</a:t>
            </a:r>
            <a:endParaRPr lang="en-US" sz="1441" dirty="0"/>
          </a:p>
        </p:txBody>
      </p:sp>
      <p:sp>
        <p:nvSpPr>
          <p:cNvPr id="19" name="Shape 17"/>
          <p:cNvSpPr/>
          <p:nvPr/>
        </p:nvSpPr>
        <p:spPr>
          <a:xfrm>
            <a:off x="788325" y="2939089"/>
            <a:ext cx="1927790" cy="1799677"/>
          </a:xfrm>
          <a:prstGeom prst="roundRect">
            <a:avLst>
              <a:gd name="adj" fmla="val 4065"/>
            </a:avLst>
          </a:prstGeom>
          <a:solidFill>
            <a:srgbClr val="E4F2FB"/>
          </a:solidFill>
          <a:ln w="15240">
            <a:solidFill>
              <a:srgbClr val="0072B2"/>
            </a:solidFill>
            <a:prstDash val="solid"/>
          </a:ln>
        </p:spPr>
      </p:sp>
      <p:sp>
        <p:nvSpPr>
          <p:cNvPr id="20" name="Text 18"/>
          <p:cNvSpPr txBox="1"/>
          <p:nvPr/>
        </p:nvSpPr>
        <p:spPr>
          <a:xfrm>
            <a:off x="849331"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Request</a:t>
            </a:r>
            <a:endParaRPr lang="en-US" sz="1561" dirty="0"/>
          </a:p>
        </p:txBody>
      </p:sp>
      <p:sp>
        <p:nvSpPr>
          <p:cNvPr id="21" name="Text 19"/>
          <p:cNvSpPr txBox="1"/>
          <p:nvPr/>
        </p:nvSpPr>
        <p:spPr>
          <a:xfrm>
            <a:off x="849331"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Text</a:t>
            </a:r>
            <a:endParaRPr lang="en-US" sz="1441" dirty="0"/>
          </a:p>
        </p:txBody>
      </p:sp>
      <p:sp>
        <p:nvSpPr>
          <p:cNvPr id="22" name="Shape 20"/>
          <p:cNvSpPr/>
          <p:nvPr/>
        </p:nvSpPr>
        <p:spPr>
          <a:xfrm>
            <a:off x="2960139" y="2939089"/>
            <a:ext cx="1927790" cy="1799677"/>
          </a:xfrm>
          <a:prstGeom prst="rect">
            <a:avLst/>
          </a:prstGeom>
          <a:solidFill>
            <a:srgbClr val="F2F4F5"/>
          </a:solidFill>
          <a:ln w="15240">
            <a:solidFill>
              <a:srgbClr val="626B73"/>
            </a:solidFill>
            <a:prstDash val="solid"/>
          </a:ln>
        </p:spPr>
      </p:sp>
      <p:sp>
        <p:nvSpPr>
          <p:cNvPr id="23" name="Text 21"/>
          <p:cNvSpPr txBox="1"/>
          <p:nvPr/>
        </p:nvSpPr>
        <p:spPr>
          <a:xfrm>
            <a:off x="3021145"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Check input</a:t>
            </a:r>
            <a:endParaRPr lang="en-US" sz="1561" dirty="0"/>
          </a:p>
        </p:txBody>
      </p:sp>
      <p:sp>
        <p:nvSpPr>
          <p:cNvPr id="24" name="Text 22"/>
          <p:cNvSpPr txBox="1"/>
          <p:nvPr/>
        </p:nvSpPr>
        <p:spPr>
          <a:xfrm>
            <a:off x="3021145"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Patterns</a:t>
            </a:r>
            <a:endParaRPr lang="en-US" sz="1441" dirty="0"/>
          </a:p>
        </p:txBody>
      </p:sp>
      <p:sp>
        <p:nvSpPr>
          <p:cNvPr id="25" name="Shape 23"/>
          <p:cNvSpPr/>
          <p:nvPr/>
        </p:nvSpPr>
        <p:spPr>
          <a:xfrm>
            <a:off x="5131953" y="2939089"/>
            <a:ext cx="1927790" cy="1799677"/>
          </a:xfrm>
          <a:prstGeom prst="rect">
            <a:avLst/>
          </a:prstGeom>
          <a:solidFill>
            <a:srgbClr val="E5F7EF"/>
          </a:solidFill>
          <a:ln w="15240">
            <a:solidFill>
              <a:srgbClr val="009E73"/>
            </a:solidFill>
            <a:prstDash val="solid"/>
          </a:ln>
        </p:spPr>
      </p:sp>
      <p:sp>
        <p:nvSpPr>
          <p:cNvPr id="26" name="Text 24"/>
          <p:cNvSpPr txBox="1"/>
          <p:nvPr/>
        </p:nvSpPr>
        <p:spPr>
          <a:xfrm>
            <a:off x="5192959"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Generate</a:t>
            </a:r>
            <a:endParaRPr lang="en-US" sz="1561" dirty="0"/>
          </a:p>
        </p:txBody>
      </p:sp>
      <p:sp>
        <p:nvSpPr>
          <p:cNvPr id="27" name="Text 25"/>
          <p:cNvSpPr txBox="1"/>
          <p:nvPr/>
        </p:nvSpPr>
        <p:spPr>
          <a:xfrm>
            <a:off x="5192959"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Weights</a:t>
            </a:r>
            <a:endParaRPr lang="en-US" sz="1441" dirty="0"/>
          </a:p>
        </p:txBody>
      </p:sp>
      <p:sp>
        <p:nvSpPr>
          <p:cNvPr id="28" name="Shape 26"/>
          <p:cNvSpPr/>
          <p:nvPr/>
        </p:nvSpPr>
        <p:spPr>
          <a:xfrm>
            <a:off x="7303767" y="2939089"/>
            <a:ext cx="1927790" cy="1799677"/>
          </a:xfrm>
          <a:prstGeom prst="rect">
            <a:avLst/>
          </a:prstGeom>
          <a:solidFill>
            <a:srgbClr val="F2F4F5"/>
          </a:solidFill>
          <a:ln w="15240">
            <a:solidFill>
              <a:srgbClr val="626B73"/>
            </a:solidFill>
            <a:prstDash val="solid"/>
          </a:ln>
        </p:spPr>
      </p:sp>
      <p:sp>
        <p:nvSpPr>
          <p:cNvPr id="29" name="Text 27"/>
          <p:cNvSpPr txBox="1"/>
          <p:nvPr/>
        </p:nvSpPr>
        <p:spPr>
          <a:xfrm>
            <a:off x="7364773"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Check output</a:t>
            </a:r>
            <a:endParaRPr lang="en-US" sz="1561" dirty="0"/>
          </a:p>
        </p:txBody>
      </p:sp>
      <p:sp>
        <p:nvSpPr>
          <p:cNvPr id="30" name="Text 28"/>
          <p:cNvSpPr txBox="1"/>
          <p:nvPr/>
        </p:nvSpPr>
        <p:spPr>
          <a:xfrm>
            <a:off x="7364773"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Rule</a:t>
            </a:r>
            <a:endParaRPr lang="en-US" sz="1441" dirty="0"/>
          </a:p>
        </p:txBody>
      </p:sp>
      <p:sp>
        <p:nvSpPr>
          <p:cNvPr id="31" name="Shape 29"/>
          <p:cNvSpPr/>
          <p:nvPr/>
        </p:nvSpPr>
        <p:spPr>
          <a:xfrm>
            <a:off x="9475580" y="2939089"/>
            <a:ext cx="1927790" cy="1799677"/>
          </a:xfrm>
          <a:prstGeom prst="roundRect">
            <a:avLst>
              <a:gd name="adj" fmla="val 4065"/>
            </a:avLst>
          </a:prstGeom>
          <a:solidFill>
            <a:srgbClr val="F9EAF4"/>
          </a:solidFill>
          <a:ln w="15240">
            <a:solidFill>
              <a:srgbClr val="CC79A7"/>
            </a:solidFill>
            <a:prstDash val="solid"/>
          </a:ln>
        </p:spPr>
      </p:sp>
      <p:sp>
        <p:nvSpPr>
          <p:cNvPr id="32" name="Text 30"/>
          <p:cNvSpPr txBox="1"/>
          <p:nvPr/>
        </p:nvSpPr>
        <p:spPr>
          <a:xfrm>
            <a:off x="9536586"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Log / return</a:t>
            </a:r>
            <a:endParaRPr lang="en-US" sz="1561" dirty="0"/>
          </a:p>
        </p:txBody>
      </p:sp>
      <p:sp>
        <p:nvSpPr>
          <p:cNvPr id="33" name="Text 31"/>
          <p:cNvSpPr txBox="1"/>
          <p:nvPr/>
        </p:nvSpPr>
        <p:spPr>
          <a:xfrm>
            <a:off x="9536586"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Metadata</a:t>
            </a:r>
            <a:endParaRPr lang="en-US" sz="1441" dirty="0"/>
          </a:p>
        </p:txBody>
      </p:sp>
      <p:sp>
        <p:nvSpPr>
          <p:cNvPr id="34" name="Shape 32"/>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5" name="Text 33"/>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36" name="Shape 34"/>
          <p:cNvSpPr/>
          <p:nvPr/>
        </p:nvSpPr>
        <p:spPr>
          <a:xfrm>
            <a:off x="1676436" y="5630979"/>
            <a:ext cx="198270" cy="198270"/>
          </a:xfrm>
          <a:prstGeom prst="rect">
            <a:avLst/>
          </a:prstGeom>
          <a:solidFill>
            <a:srgbClr val="E5F7EF"/>
          </a:solidFill>
          <a:ln w="15240">
            <a:solidFill>
              <a:srgbClr val="009E73"/>
            </a:solidFill>
            <a:prstDash val="solid"/>
          </a:ln>
        </p:spPr>
      </p:sp>
      <p:sp>
        <p:nvSpPr>
          <p:cNvPr id="37" name="Text 35"/>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38" name="Shape 36"/>
          <p:cNvSpPr/>
          <p:nvPr/>
        </p:nvSpPr>
        <p:spPr>
          <a:xfrm>
            <a:off x="2680284" y="5630979"/>
            <a:ext cx="198270" cy="198270"/>
          </a:xfrm>
          <a:prstGeom prst="roundRect">
            <a:avLst>
              <a:gd name="adj" fmla="val 36895"/>
            </a:avLst>
          </a:prstGeom>
          <a:solidFill>
            <a:srgbClr val="F9EAF4"/>
          </a:solidFill>
          <a:ln w="15240">
            <a:solidFill>
              <a:srgbClr val="CC79A7"/>
            </a:solidFill>
            <a:prstDash val="solid"/>
          </a:ln>
        </p:spPr>
      </p:sp>
      <p:sp>
        <p:nvSpPr>
          <p:cNvPr id="39" name="Text 37"/>
          <p:cNvSpPr txBox="1"/>
          <p:nvPr/>
        </p:nvSpPr>
        <p:spPr>
          <a:xfrm>
            <a:off x="2939560"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40" name="Shape 38"/>
          <p:cNvSpPr/>
          <p:nvPr/>
        </p:nvSpPr>
        <p:spPr>
          <a:xfrm>
            <a:off x="3736982" y="5630979"/>
            <a:ext cx="198270" cy="198270"/>
          </a:xfrm>
          <a:prstGeom prst="rect">
            <a:avLst/>
          </a:prstGeom>
          <a:solidFill>
            <a:srgbClr val="F2F4F5"/>
          </a:solidFill>
          <a:ln w="15240">
            <a:solidFill>
              <a:srgbClr val="626B73"/>
            </a:solidFill>
            <a:prstDash val="solid"/>
          </a:ln>
        </p:spPr>
      </p:sp>
      <p:sp>
        <p:nvSpPr>
          <p:cNvPr id="41" name="Text 39"/>
          <p:cNvSpPr txBox="1"/>
          <p:nvPr/>
        </p:nvSpPr>
        <p:spPr>
          <a:xfrm>
            <a:off x="3996258"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42" name="Shape 40"/>
          <p:cNvSpPr/>
          <p:nvPr/>
        </p:nvSpPr>
        <p:spPr>
          <a:xfrm>
            <a:off x="4593459" y="5730113"/>
            <a:ext cx="335533" cy="0"/>
          </a:xfrm>
          <a:prstGeom prst="line">
            <a:avLst/>
          </a:prstGeom>
          <a:noFill/>
          <a:ln w="22860">
            <a:solidFill>
              <a:srgbClr val="009E73"/>
            </a:solidFill>
            <a:prstDash val="solid"/>
            <a:tailEnd type="triangle"/>
          </a:ln>
        </p:spPr>
      </p:sp>
      <p:sp>
        <p:nvSpPr>
          <p:cNvPr id="43" name="Text 41"/>
          <p:cNvSpPr txBox="1"/>
          <p:nvPr/>
        </p:nvSpPr>
        <p:spPr>
          <a:xfrm>
            <a:off x="4989998"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4" name="Text 42"/>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Blocked input generates?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generative AI stack</a:t>
            </a:r>
            <a:endParaRPr lang="en-US" sz="3200" dirty="0"/>
          </a:p>
        </p:txBody>
      </p:sp>
      <p:sp>
        <p:nvSpPr>
          <p:cNvPr id="6" name="Shape 4"/>
          <p:cNvSpPr/>
          <p:nvPr/>
        </p:nvSpPr>
        <p:spPr>
          <a:xfrm>
            <a:off x="949532" y="2328471"/>
            <a:ext cx="2758882" cy="428586"/>
          </a:xfrm>
          <a:prstGeom prst="rect">
            <a:avLst/>
          </a:prstGeom>
          <a:solidFill>
            <a:srgbClr val="F2F4F5"/>
          </a:solidFill>
          <a:ln w="15240">
            <a:solidFill>
              <a:srgbClr val="626B73"/>
            </a:solidFill>
            <a:prstDash val="solid"/>
          </a:ln>
        </p:spPr>
      </p:sp>
      <p:sp>
        <p:nvSpPr>
          <p:cNvPr id="7" name="Shape 5"/>
          <p:cNvSpPr/>
          <p:nvPr/>
        </p:nvSpPr>
        <p:spPr>
          <a:xfrm>
            <a:off x="949532" y="2844362"/>
            <a:ext cx="2758882" cy="428586"/>
          </a:xfrm>
          <a:prstGeom prst="rect">
            <a:avLst/>
          </a:prstGeom>
          <a:solidFill>
            <a:srgbClr val="F2F4F5"/>
          </a:solidFill>
          <a:ln w="15240">
            <a:solidFill>
              <a:srgbClr val="626B73"/>
            </a:solidFill>
            <a:prstDash val="solid"/>
          </a:ln>
        </p:spPr>
      </p:sp>
      <p:sp>
        <p:nvSpPr>
          <p:cNvPr id="8" name="Shape 6"/>
          <p:cNvSpPr/>
          <p:nvPr/>
        </p:nvSpPr>
        <p:spPr>
          <a:xfrm>
            <a:off x="949532" y="3360252"/>
            <a:ext cx="2758882" cy="428586"/>
          </a:xfrm>
          <a:prstGeom prst="rect">
            <a:avLst/>
          </a:prstGeom>
          <a:solidFill>
            <a:srgbClr val="F2F4F5"/>
          </a:solidFill>
          <a:ln w="15240">
            <a:solidFill>
              <a:srgbClr val="626B73"/>
            </a:solidFill>
            <a:prstDash val="solid"/>
          </a:ln>
        </p:spPr>
      </p:sp>
      <p:sp>
        <p:nvSpPr>
          <p:cNvPr id="9" name="Shape 7"/>
          <p:cNvSpPr/>
          <p:nvPr/>
        </p:nvSpPr>
        <p:spPr>
          <a:xfrm>
            <a:off x="949532" y="3876142"/>
            <a:ext cx="2758882" cy="428586"/>
          </a:xfrm>
          <a:prstGeom prst="rect">
            <a:avLst/>
          </a:prstGeom>
          <a:solidFill>
            <a:srgbClr val="E5F7EF"/>
          </a:solidFill>
          <a:ln w="15240">
            <a:solidFill>
              <a:srgbClr val="009E73"/>
            </a:solidFill>
            <a:prstDash val="solid"/>
          </a:ln>
        </p:spPr>
      </p:sp>
      <p:sp>
        <p:nvSpPr>
          <p:cNvPr id="10" name="Shape 8"/>
          <p:cNvSpPr/>
          <p:nvPr/>
        </p:nvSpPr>
        <p:spPr>
          <a:xfrm>
            <a:off x="949532" y="4392032"/>
            <a:ext cx="2758882" cy="428586"/>
          </a:xfrm>
          <a:prstGeom prst="rect">
            <a:avLst/>
          </a:prstGeom>
          <a:solidFill>
            <a:srgbClr val="F2F4F5"/>
          </a:solidFill>
          <a:ln w="15240">
            <a:solidFill>
              <a:srgbClr val="626B73"/>
            </a:solidFill>
            <a:prstDash val="solid"/>
          </a:ln>
        </p:spPr>
      </p:sp>
      <p:sp>
        <p:nvSpPr>
          <p:cNvPr id="11" name="Shape 9"/>
          <p:cNvSpPr/>
          <p:nvPr/>
        </p:nvSpPr>
        <p:spPr>
          <a:xfrm>
            <a:off x="908355" y="5407940"/>
            <a:ext cx="181180" cy="174609"/>
          </a:xfrm>
          <a:prstGeom prst="rect">
            <a:avLst/>
          </a:prstGeom>
          <a:solidFill>
            <a:srgbClr val="E5F7EF"/>
          </a:solidFill>
          <a:ln w="15240">
            <a:solidFill>
              <a:srgbClr val="009E73"/>
            </a:solidFill>
            <a:prstDash val="solid"/>
          </a:ln>
        </p:spPr>
      </p:sp>
      <p:sp>
        <p:nvSpPr>
          <p:cNvPr id="12" name="Shape 10"/>
          <p:cNvSpPr/>
          <p:nvPr/>
        </p:nvSpPr>
        <p:spPr>
          <a:xfrm>
            <a:off x="3049577" y="5407940"/>
            <a:ext cx="181180" cy="174609"/>
          </a:xfrm>
          <a:prstGeom prst="rect">
            <a:avLst/>
          </a:prstGeom>
          <a:solidFill>
            <a:srgbClr val="F2F4F5"/>
          </a:solidFill>
          <a:ln w="15240">
            <a:solidFill>
              <a:srgbClr val="626B73"/>
            </a:solidFill>
            <a:prstDash val="solid"/>
          </a:ln>
        </p:spPr>
      </p:sp>
      <p:sp>
        <p:nvSpPr>
          <p:cNvPr id="13" name="Text 11"/>
          <p:cNvSpPr txBox="1"/>
          <p:nvPr/>
        </p:nvSpPr>
        <p:spPr>
          <a:xfrm>
            <a:off x="1599921" y="2405269"/>
            <a:ext cx="1458105"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Application</a:t>
            </a:r>
            <a:endParaRPr lang="en-US" sz="1867" dirty="0"/>
          </a:p>
        </p:txBody>
      </p:sp>
      <p:sp>
        <p:nvSpPr>
          <p:cNvPr id="14" name="Text 12"/>
          <p:cNvSpPr txBox="1"/>
          <p:nvPr/>
        </p:nvSpPr>
        <p:spPr>
          <a:xfrm>
            <a:off x="4037834" y="2405269"/>
            <a:ext cx="3260009" cy="274990"/>
          </a:xfrm>
          <a:prstGeom prst="rect">
            <a:avLst/>
          </a:prstGeom>
          <a:noFill/>
          <a:ln/>
        </p:spPr>
        <p:txBody>
          <a:bodyPr wrap="square" lIns="0" tIns="0" rIns="0" bIns="0" rtlCol="0" anchor="ctr"/>
          <a:lstStyle/>
          <a:p>
            <a:pPr algn="l" indent="0" marL="0">
              <a:lnSpc>
                <a:spcPct val="116000"/>
              </a:lnSpc>
              <a:buNone/>
            </a:pPr>
            <a:r>
              <a:rPr lang="en-US" sz="1867" dirty="0">
                <a:solidFill>
                  <a:srgbClr val="1F2937"/>
                </a:solidFill>
                <a:latin typeface="Arial" pitchFamily="34" charset="0"/>
                <a:ea typeface="Arial" pitchFamily="34" charset="-122"/>
                <a:cs typeface="Arial" pitchFamily="34" charset="-120"/>
              </a:rPr>
              <a:t>Receive and return requests</a:t>
            </a:r>
            <a:endParaRPr lang="en-US" sz="1867" dirty="0"/>
          </a:p>
        </p:txBody>
      </p:sp>
      <p:sp>
        <p:nvSpPr>
          <p:cNvPr id="15" name="Text 13"/>
          <p:cNvSpPr txBox="1"/>
          <p:nvPr/>
        </p:nvSpPr>
        <p:spPr>
          <a:xfrm>
            <a:off x="1507176" y="2921160"/>
            <a:ext cx="1643595"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Coordination</a:t>
            </a:r>
            <a:endParaRPr lang="en-US" sz="1867" dirty="0"/>
          </a:p>
        </p:txBody>
      </p:sp>
      <p:sp>
        <p:nvSpPr>
          <p:cNvPr id="16" name="Text 14"/>
          <p:cNvSpPr txBox="1"/>
          <p:nvPr/>
        </p:nvSpPr>
        <p:spPr>
          <a:xfrm>
            <a:off x="4037834" y="2921160"/>
            <a:ext cx="3215844" cy="274990"/>
          </a:xfrm>
          <a:prstGeom prst="rect">
            <a:avLst/>
          </a:prstGeom>
          <a:noFill/>
          <a:ln/>
        </p:spPr>
        <p:txBody>
          <a:bodyPr wrap="square" lIns="0" tIns="0" rIns="0" bIns="0" rtlCol="0" anchor="ctr"/>
          <a:lstStyle/>
          <a:p>
            <a:pPr algn="l" indent="0" marL="0">
              <a:lnSpc>
                <a:spcPct val="116000"/>
              </a:lnSpc>
              <a:buNone/>
            </a:pPr>
            <a:r>
              <a:rPr lang="en-US" sz="1867" dirty="0">
                <a:solidFill>
                  <a:srgbClr val="1F2937"/>
                </a:solidFill>
                <a:latin typeface="Arial" pitchFamily="34" charset="0"/>
                <a:ea typeface="Arial" pitchFamily="34" charset="-122"/>
                <a:cs typeface="Arial" pitchFamily="34" charset="-120"/>
              </a:rPr>
              <a:t>Connect evidence and tools</a:t>
            </a:r>
            <a:endParaRPr lang="en-US" sz="1867" dirty="0"/>
          </a:p>
        </p:txBody>
      </p:sp>
      <p:sp>
        <p:nvSpPr>
          <p:cNvPr id="17" name="Text 15"/>
          <p:cNvSpPr txBox="1"/>
          <p:nvPr/>
        </p:nvSpPr>
        <p:spPr>
          <a:xfrm>
            <a:off x="1816326" y="3437050"/>
            <a:ext cx="1025295"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Serving</a:t>
            </a:r>
            <a:endParaRPr lang="en-US" sz="1867" dirty="0"/>
          </a:p>
        </p:txBody>
      </p:sp>
      <p:sp>
        <p:nvSpPr>
          <p:cNvPr id="18" name="Text 16"/>
          <p:cNvSpPr txBox="1"/>
          <p:nvPr/>
        </p:nvSpPr>
        <p:spPr>
          <a:xfrm>
            <a:off x="4037834" y="3437050"/>
            <a:ext cx="2809533" cy="274990"/>
          </a:xfrm>
          <a:prstGeom prst="rect">
            <a:avLst/>
          </a:prstGeom>
          <a:noFill/>
          <a:ln/>
        </p:spPr>
        <p:txBody>
          <a:bodyPr wrap="square" lIns="0" tIns="0" rIns="0" bIns="0" rtlCol="0" anchor="ctr"/>
          <a:lstStyle/>
          <a:p>
            <a:pPr algn="l" indent="0" marL="0">
              <a:lnSpc>
                <a:spcPct val="116000"/>
              </a:lnSpc>
              <a:buNone/>
            </a:pPr>
            <a:r>
              <a:rPr lang="en-US" sz="1867" dirty="0">
                <a:solidFill>
                  <a:srgbClr val="1F2937"/>
                </a:solidFill>
                <a:latin typeface="Arial" pitchFamily="34" charset="0"/>
                <a:ea typeface="Arial" pitchFamily="34" charset="-122"/>
                <a:cs typeface="Arial" pitchFamily="34" charset="-120"/>
              </a:rPr>
              <a:t>Run inference for clients</a:t>
            </a:r>
            <a:endParaRPr lang="en-US" sz="1867" dirty="0"/>
          </a:p>
        </p:txBody>
      </p:sp>
      <p:sp>
        <p:nvSpPr>
          <p:cNvPr id="19" name="Text 17"/>
          <p:cNvSpPr txBox="1"/>
          <p:nvPr/>
        </p:nvSpPr>
        <p:spPr>
          <a:xfrm>
            <a:off x="1917904" y="3952940"/>
            <a:ext cx="822139"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Model</a:t>
            </a:r>
            <a:endParaRPr lang="en-US" sz="1867" dirty="0"/>
          </a:p>
        </p:txBody>
      </p:sp>
      <p:sp>
        <p:nvSpPr>
          <p:cNvPr id="20" name="Text 18"/>
          <p:cNvSpPr txBox="1"/>
          <p:nvPr/>
        </p:nvSpPr>
        <p:spPr>
          <a:xfrm>
            <a:off x="4037834" y="3952940"/>
            <a:ext cx="3127516" cy="274990"/>
          </a:xfrm>
          <a:prstGeom prst="rect">
            <a:avLst/>
          </a:prstGeom>
          <a:noFill/>
          <a:ln/>
        </p:spPr>
        <p:txBody>
          <a:bodyPr wrap="square" lIns="0" tIns="0" rIns="0" bIns="0" rtlCol="0" anchor="ctr"/>
          <a:lstStyle/>
          <a:p>
            <a:pPr algn="l" indent="0" marL="0">
              <a:lnSpc>
                <a:spcPct val="116000"/>
              </a:lnSpc>
              <a:buNone/>
            </a:pPr>
            <a:r>
              <a:rPr lang="en-US" sz="1867" dirty="0">
                <a:solidFill>
                  <a:srgbClr val="1F2937"/>
                </a:solidFill>
                <a:latin typeface="Arial" pitchFamily="34" charset="0"/>
                <a:ea typeface="Arial" pitchFamily="34" charset="-122"/>
                <a:cs typeface="Arial" pitchFamily="34" charset="-120"/>
              </a:rPr>
              <a:t>Predict continuation tokens</a:t>
            </a:r>
            <a:endParaRPr lang="en-US" sz="1867" dirty="0"/>
          </a:p>
        </p:txBody>
      </p:sp>
      <p:sp>
        <p:nvSpPr>
          <p:cNvPr id="21" name="Text 19"/>
          <p:cNvSpPr txBox="1"/>
          <p:nvPr/>
        </p:nvSpPr>
        <p:spPr>
          <a:xfrm>
            <a:off x="1705916" y="4468830"/>
            <a:ext cx="1246116"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Hardware</a:t>
            </a:r>
            <a:endParaRPr lang="en-US" sz="1867" dirty="0"/>
          </a:p>
        </p:txBody>
      </p:sp>
      <p:sp>
        <p:nvSpPr>
          <p:cNvPr id="22" name="Text 20"/>
          <p:cNvSpPr txBox="1"/>
          <p:nvPr/>
        </p:nvSpPr>
        <p:spPr>
          <a:xfrm>
            <a:off x="4037834" y="4468830"/>
            <a:ext cx="3410167" cy="274990"/>
          </a:xfrm>
          <a:prstGeom prst="rect">
            <a:avLst/>
          </a:prstGeom>
          <a:noFill/>
          <a:ln/>
        </p:spPr>
        <p:txBody>
          <a:bodyPr wrap="square" lIns="0" tIns="0" rIns="0" bIns="0" rtlCol="0" anchor="ctr"/>
          <a:lstStyle/>
          <a:p>
            <a:pPr algn="l" indent="0" marL="0">
              <a:lnSpc>
                <a:spcPct val="116000"/>
              </a:lnSpc>
              <a:buNone/>
            </a:pPr>
            <a:r>
              <a:rPr lang="en-US" sz="1867" dirty="0">
                <a:solidFill>
                  <a:srgbClr val="1F2937"/>
                </a:solidFill>
                <a:latin typeface="Arial" pitchFamily="34" charset="0"/>
                <a:ea typeface="Arial" pitchFamily="34" charset="-122"/>
                <a:cs typeface="Arial" pitchFamily="34" charset="-120"/>
              </a:rPr>
              <a:t>Execute numerical operations</a:t>
            </a:r>
            <a:endParaRPr lang="en-US" sz="1867" dirty="0"/>
          </a:p>
        </p:txBody>
      </p:sp>
      <p:sp>
        <p:nvSpPr>
          <p:cNvPr id="23" name="Text 21"/>
          <p:cNvSpPr txBox="1"/>
          <p:nvPr/>
        </p:nvSpPr>
        <p:spPr>
          <a:xfrm>
            <a:off x="949532" y="4985840"/>
            <a:ext cx="3807053" cy="247491"/>
          </a:xfrm>
          <a:prstGeom prst="rect">
            <a:avLst/>
          </a:prstGeom>
          <a:noFill/>
          <a:ln/>
        </p:spPr>
        <p:txBody>
          <a:bodyPr wrap="square" lIns="0" tIns="0" rIns="0" bIns="0" rtlCol="0" anchor="ctr"/>
          <a:lstStyle/>
          <a:p>
            <a:pPr algn="l" indent="0" marL="0">
              <a:lnSpc>
                <a:spcPct val="116000"/>
              </a:lnSpc>
              <a:buNone/>
            </a:pPr>
            <a:r>
              <a:rPr lang="en-US" sz="1680" dirty="0">
                <a:solidFill>
                  <a:srgbClr val="1E1B4B"/>
                </a:solidFill>
                <a:latin typeface="Arial" pitchFamily="34" charset="0"/>
                <a:ea typeface="Arial" pitchFamily="34" charset="-122"/>
                <a:cs typeface="Arial" pitchFamily="34" charset="-120"/>
              </a:rPr>
              <a:t>Roles share monitoring responsibility.</a:t>
            </a:r>
            <a:endParaRPr lang="en-US" sz="1680" dirty="0"/>
          </a:p>
        </p:txBody>
      </p:sp>
      <p:sp>
        <p:nvSpPr>
          <p:cNvPr id="24" name="Text 22"/>
          <p:cNvSpPr txBox="1"/>
          <p:nvPr/>
        </p:nvSpPr>
        <p:spPr>
          <a:xfrm>
            <a:off x="1188361" y="5385248"/>
            <a:ext cx="606480"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Model</a:t>
            </a:r>
            <a:endParaRPr lang="en-US" sz="1493" dirty="0"/>
          </a:p>
        </p:txBody>
      </p:sp>
      <p:sp>
        <p:nvSpPr>
          <p:cNvPr id="25" name="Text 23"/>
          <p:cNvSpPr txBox="1"/>
          <p:nvPr/>
        </p:nvSpPr>
        <p:spPr>
          <a:xfrm>
            <a:off x="3329583" y="5385248"/>
            <a:ext cx="1171784"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Human / tool</a:t>
            </a:r>
            <a:endParaRPr lang="en-US" sz="1493"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Frameworks and platforms at a glance</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6131124"/>
                <a:gridCol w="4963291"/>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Tool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Role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Hugging Face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Distribute models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OpenAI / Azure OpenAI</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Hosted API</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Gemini API</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Hosted API</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vLLM / Ollama</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Run models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LangChain / LangGraph</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Coordinate steps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LlamaIndex</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Retrieve evidence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One client, many back ends: the OpenAI-compatible API</a:t>
            </a:r>
            <a:endParaRPr lang="en-US" sz="3200" dirty="0"/>
          </a:p>
        </p:txBody>
      </p:sp>
      <p:sp>
        <p:nvSpPr>
          <p:cNvPr id="6" name="Shape 4"/>
          <p:cNvSpPr/>
          <p:nvPr/>
        </p:nvSpPr>
        <p:spPr>
          <a:xfrm>
            <a:off x="3247228" y="3701405"/>
            <a:ext cx="395303" cy="0"/>
          </a:xfrm>
          <a:prstGeom prst="line">
            <a:avLst/>
          </a:prstGeom>
          <a:noFill/>
          <a:ln w="22860">
            <a:solidFill>
              <a:srgbClr val="4F46E5"/>
            </a:solidFill>
            <a:prstDash val="solid"/>
            <a:tailEnd type="triangle"/>
          </a:ln>
        </p:spPr>
      </p:sp>
      <p:sp>
        <p:nvSpPr>
          <p:cNvPr id="7" name="Shape 5"/>
          <p:cNvSpPr/>
          <p:nvPr/>
        </p:nvSpPr>
        <p:spPr>
          <a:xfrm>
            <a:off x="5940227" y="3701405"/>
            <a:ext cx="395303" cy="0"/>
          </a:xfrm>
          <a:prstGeom prst="line">
            <a:avLst/>
          </a:prstGeom>
          <a:noFill/>
          <a:ln w="22860">
            <a:solidFill>
              <a:srgbClr val="4F46E5"/>
            </a:solidFill>
            <a:prstDash val="solid"/>
            <a:tailEnd type="triangle"/>
          </a:ln>
        </p:spPr>
      </p:sp>
      <p:sp>
        <p:nvSpPr>
          <p:cNvPr id="8" name="Shape 6"/>
          <p:cNvSpPr/>
          <p:nvPr/>
        </p:nvSpPr>
        <p:spPr>
          <a:xfrm>
            <a:off x="8633226" y="3701405"/>
            <a:ext cx="395303" cy="0"/>
          </a:xfrm>
          <a:prstGeom prst="line">
            <a:avLst/>
          </a:prstGeom>
          <a:noFill/>
          <a:ln w="22860">
            <a:solidFill>
              <a:srgbClr val="4F46E5"/>
            </a:solidFill>
            <a:prstDash val="solid"/>
            <a:tailEnd type="triangle"/>
          </a:ln>
        </p:spPr>
      </p:sp>
      <p:sp>
        <p:nvSpPr>
          <p:cNvPr id="9" name="Shape 7"/>
          <p:cNvSpPr/>
          <p:nvPr/>
        </p:nvSpPr>
        <p:spPr>
          <a:xfrm>
            <a:off x="949532" y="3324408"/>
            <a:ext cx="2297696" cy="753994"/>
          </a:xfrm>
          <a:prstGeom prst="roundRect">
            <a:avLst>
              <a:gd name="adj" fmla="val 9702"/>
            </a:avLst>
          </a:prstGeom>
          <a:solidFill>
            <a:srgbClr val="E4F2FB"/>
          </a:solidFill>
          <a:ln w="15240">
            <a:solidFill>
              <a:srgbClr val="0072B2"/>
            </a:solidFill>
            <a:prstDash val="solid"/>
          </a:ln>
        </p:spPr>
      </p:sp>
      <p:sp>
        <p:nvSpPr>
          <p:cNvPr id="10" name="Shape 8"/>
          <p:cNvSpPr/>
          <p:nvPr/>
        </p:nvSpPr>
        <p:spPr>
          <a:xfrm>
            <a:off x="3642531" y="3324408"/>
            <a:ext cx="2297696" cy="753994"/>
          </a:xfrm>
          <a:prstGeom prst="rect">
            <a:avLst/>
          </a:prstGeom>
          <a:solidFill>
            <a:srgbClr val="F2F4F5"/>
          </a:solidFill>
          <a:ln w="15240">
            <a:solidFill>
              <a:srgbClr val="626B73"/>
            </a:solidFill>
            <a:prstDash val="solid"/>
          </a:ln>
        </p:spPr>
      </p:sp>
      <p:sp>
        <p:nvSpPr>
          <p:cNvPr id="11" name="Shape 9"/>
          <p:cNvSpPr/>
          <p:nvPr/>
        </p:nvSpPr>
        <p:spPr>
          <a:xfrm>
            <a:off x="6335530" y="3324408"/>
            <a:ext cx="2297696" cy="753994"/>
          </a:xfrm>
          <a:prstGeom prst="rect">
            <a:avLst/>
          </a:prstGeom>
          <a:solidFill>
            <a:srgbClr val="E5F7EF"/>
          </a:solidFill>
          <a:ln w="15240">
            <a:solidFill>
              <a:srgbClr val="009E73"/>
            </a:solidFill>
            <a:prstDash val="solid"/>
          </a:ln>
        </p:spPr>
      </p:sp>
      <p:sp>
        <p:nvSpPr>
          <p:cNvPr id="12" name="Shape 10"/>
          <p:cNvSpPr/>
          <p:nvPr/>
        </p:nvSpPr>
        <p:spPr>
          <a:xfrm>
            <a:off x="9028528" y="3324408"/>
            <a:ext cx="2297696" cy="753994"/>
          </a:xfrm>
          <a:prstGeom prst="roundRect">
            <a:avLst>
              <a:gd name="adj" fmla="val 9702"/>
            </a:avLst>
          </a:prstGeom>
          <a:solidFill>
            <a:srgbClr val="F9EAF4"/>
          </a:solidFill>
          <a:ln w="15240">
            <a:solidFill>
              <a:srgbClr val="CC79A7"/>
            </a:solidFill>
            <a:prstDash val="solid"/>
          </a:ln>
        </p:spPr>
      </p:sp>
      <p:sp>
        <p:nvSpPr>
          <p:cNvPr id="13" name="Shape 11"/>
          <p:cNvSpPr/>
          <p:nvPr/>
        </p:nvSpPr>
        <p:spPr>
          <a:xfrm>
            <a:off x="908355" y="5054625"/>
            <a:ext cx="181180" cy="174609"/>
          </a:xfrm>
          <a:prstGeom prst="roundRect">
            <a:avLst>
              <a:gd name="adj" fmla="val 41895"/>
            </a:avLst>
          </a:prstGeom>
          <a:solidFill>
            <a:srgbClr val="E4F2FB"/>
          </a:solidFill>
          <a:ln w="15240">
            <a:solidFill>
              <a:srgbClr val="0072B2"/>
            </a:solidFill>
            <a:prstDash val="solid"/>
          </a:ln>
        </p:spPr>
      </p:sp>
      <p:sp>
        <p:nvSpPr>
          <p:cNvPr id="14" name="Shape 12"/>
          <p:cNvSpPr/>
          <p:nvPr/>
        </p:nvSpPr>
        <p:spPr>
          <a:xfrm>
            <a:off x="3049577" y="5054625"/>
            <a:ext cx="181180" cy="174609"/>
          </a:xfrm>
          <a:prstGeom prst="rect">
            <a:avLst/>
          </a:prstGeom>
          <a:solidFill>
            <a:srgbClr val="E5F7EF"/>
          </a:solidFill>
          <a:ln w="15240">
            <a:solidFill>
              <a:srgbClr val="009E73"/>
            </a:solidFill>
            <a:prstDash val="solid"/>
          </a:ln>
        </p:spPr>
      </p:sp>
      <p:sp>
        <p:nvSpPr>
          <p:cNvPr id="15" name="Shape 13"/>
          <p:cNvSpPr/>
          <p:nvPr/>
        </p:nvSpPr>
        <p:spPr>
          <a:xfrm>
            <a:off x="5190799" y="5054625"/>
            <a:ext cx="181180" cy="174609"/>
          </a:xfrm>
          <a:prstGeom prst="roundRect">
            <a:avLst>
              <a:gd name="adj" fmla="val 41895"/>
            </a:avLst>
          </a:prstGeom>
          <a:solidFill>
            <a:srgbClr val="F9EAF4"/>
          </a:solidFill>
          <a:ln w="15240">
            <a:solidFill>
              <a:srgbClr val="CC79A7"/>
            </a:solidFill>
            <a:prstDash val="solid"/>
          </a:ln>
        </p:spPr>
      </p:sp>
      <p:sp>
        <p:nvSpPr>
          <p:cNvPr id="16" name="Shape 14"/>
          <p:cNvSpPr/>
          <p:nvPr/>
        </p:nvSpPr>
        <p:spPr>
          <a:xfrm>
            <a:off x="7332021" y="5054625"/>
            <a:ext cx="181180" cy="174609"/>
          </a:xfrm>
          <a:prstGeom prst="rect">
            <a:avLst/>
          </a:prstGeom>
          <a:solidFill>
            <a:srgbClr val="F2F4F5"/>
          </a:solidFill>
          <a:ln w="15240">
            <a:solidFill>
              <a:srgbClr val="626B73"/>
            </a:solidFill>
            <a:prstDash val="solid"/>
          </a:ln>
        </p:spPr>
      </p:sp>
      <p:sp>
        <p:nvSpPr>
          <p:cNvPr id="17" name="Text 15"/>
          <p:cNvSpPr txBox="1"/>
          <p:nvPr/>
        </p:nvSpPr>
        <p:spPr>
          <a:xfrm>
            <a:off x="1520404" y="3577660"/>
            <a:ext cx="1155953"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Messages</a:t>
            </a:r>
            <a:endParaRPr lang="en-US" sz="1680" dirty="0"/>
          </a:p>
        </p:txBody>
      </p:sp>
      <p:sp>
        <p:nvSpPr>
          <p:cNvPr id="18" name="Text 16"/>
          <p:cNvSpPr txBox="1"/>
          <p:nvPr/>
        </p:nvSpPr>
        <p:spPr>
          <a:xfrm>
            <a:off x="2964982" y="3001238"/>
            <a:ext cx="959795" cy="219992"/>
          </a:xfrm>
          <a:prstGeom prst="rect">
            <a:avLst/>
          </a:prstGeom>
          <a:no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messages</a:t>
            </a:r>
            <a:endParaRPr lang="en-US" sz="1493" dirty="0"/>
          </a:p>
        </p:txBody>
      </p:sp>
      <p:sp>
        <p:nvSpPr>
          <p:cNvPr id="19" name="Text 17"/>
          <p:cNvSpPr txBox="1"/>
          <p:nvPr/>
        </p:nvSpPr>
        <p:spPr>
          <a:xfrm>
            <a:off x="3736428" y="3577660"/>
            <a:ext cx="2109902"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Configure endpoint</a:t>
            </a:r>
            <a:endParaRPr lang="en-US" sz="1680" dirty="0"/>
          </a:p>
        </p:txBody>
      </p:sp>
      <p:sp>
        <p:nvSpPr>
          <p:cNvPr id="20" name="Text 18"/>
          <p:cNvSpPr txBox="1"/>
          <p:nvPr/>
        </p:nvSpPr>
        <p:spPr>
          <a:xfrm>
            <a:off x="5834638" y="3001238"/>
            <a:ext cx="606480" cy="219992"/>
          </a:xfrm>
          <a:prstGeom prst="rect">
            <a:avLst/>
          </a:prstGeom>
          <a:no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JSON</a:t>
            </a:r>
            <a:endParaRPr lang="en-US" sz="1493" dirty="0"/>
          </a:p>
        </p:txBody>
      </p:sp>
      <p:sp>
        <p:nvSpPr>
          <p:cNvPr id="21" name="Text 19"/>
          <p:cNvSpPr txBox="1"/>
          <p:nvPr/>
        </p:nvSpPr>
        <p:spPr>
          <a:xfrm>
            <a:off x="6959398" y="3577660"/>
            <a:ext cx="1049958"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Generate</a:t>
            </a:r>
            <a:endParaRPr lang="en-US" sz="1680" dirty="0"/>
          </a:p>
        </p:txBody>
      </p:sp>
      <p:sp>
        <p:nvSpPr>
          <p:cNvPr id="22" name="Text 20"/>
          <p:cNvSpPr txBox="1"/>
          <p:nvPr/>
        </p:nvSpPr>
        <p:spPr>
          <a:xfrm>
            <a:off x="8108076" y="3001238"/>
            <a:ext cx="1445602" cy="219992"/>
          </a:xfrm>
          <a:prstGeom prst="rect">
            <a:avLst/>
          </a:prstGeom>
          <a:no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answer + usage</a:t>
            </a:r>
            <a:endParaRPr lang="en-US" sz="1493" dirty="0"/>
          </a:p>
        </p:txBody>
      </p:sp>
      <p:sp>
        <p:nvSpPr>
          <p:cNvPr id="23" name="Text 21"/>
          <p:cNvSpPr txBox="1"/>
          <p:nvPr/>
        </p:nvSpPr>
        <p:spPr>
          <a:xfrm>
            <a:off x="9829054" y="3577660"/>
            <a:ext cx="696644"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Reply</a:t>
            </a:r>
            <a:endParaRPr lang="en-US" sz="1680" dirty="0"/>
          </a:p>
        </p:txBody>
      </p:sp>
      <p:sp>
        <p:nvSpPr>
          <p:cNvPr id="24" name="Text 22"/>
          <p:cNvSpPr txBox="1"/>
          <p:nvPr/>
        </p:nvSpPr>
        <p:spPr>
          <a:xfrm>
            <a:off x="949532" y="2600711"/>
            <a:ext cx="4273953" cy="247491"/>
          </a:xfrm>
          <a:prstGeom prst="rect">
            <a:avLst/>
          </a:prstGeom>
          <a:noFill/>
          <a:ln/>
        </p:spPr>
        <p:txBody>
          <a:bodyPr wrap="square" lIns="0" tIns="0" rIns="0" bIns="0" rtlCol="0" anchor="ctr"/>
          <a:lstStyle/>
          <a:p>
            <a:pPr algn="l" indent="0" marL="0">
              <a:lnSpc>
                <a:spcPct val="116000"/>
              </a:lnSpc>
              <a:buNone/>
            </a:pPr>
            <a:r>
              <a:rPr lang="en-US" sz="1680" dirty="0">
                <a:solidFill>
                  <a:srgbClr val="1E1B4B"/>
                </a:solidFill>
                <a:latin typeface="Arial" pitchFamily="34" charset="0"/>
                <a:ea typeface="Arial" pitchFamily="34" charset="-122"/>
                <a:cs typeface="Arial" pitchFamily="34" charset="-120"/>
              </a:rPr>
              <a:t>Change URL, key and model; verify fields.</a:t>
            </a:r>
            <a:endParaRPr lang="en-US" sz="1680" dirty="0"/>
          </a:p>
        </p:txBody>
      </p:sp>
      <p:sp>
        <p:nvSpPr>
          <p:cNvPr id="25" name="Text 23"/>
          <p:cNvSpPr txBox="1"/>
          <p:nvPr/>
        </p:nvSpPr>
        <p:spPr>
          <a:xfrm>
            <a:off x="949532" y="4374300"/>
            <a:ext cx="4367347"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Alternatives: hosted APIs, vLLM, Ollama, FastAPI.</a:t>
            </a:r>
            <a:endParaRPr lang="en-US" sz="1493" dirty="0"/>
          </a:p>
        </p:txBody>
      </p:sp>
      <p:sp>
        <p:nvSpPr>
          <p:cNvPr id="26" name="Text 24"/>
          <p:cNvSpPr txBox="1"/>
          <p:nvPr/>
        </p:nvSpPr>
        <p:spPr>
          <a:xfrm>
            <a:off x="1188361" y="5031934"/>
            <a:ext cx="933296"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Input data</a:t>
            </a:r>
            <a:endParaRPr lang="en-US" sz="1493" dirty="0"/>
          </a:p>
        </p:txBody>
      </p:sp>
      <p:sp>
        <p:nvSpPr>
          <p:cNvPr id="27" name="Text 25"/>
          <p:cNvSpPr txBox="1"/>
          <p:nvPr/>
        </p:nvSpPr>
        <p:spPr>
          <a:xfrm>
            <a:off x="3329583" y="5031934"/>
            <a:ext cx="606480"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Model</a:t>
            </a:r>
            <a:endParaRPr lang="en-US" sz="1493" dirty="0"/>
          </a:p>
        </p:txBody>
      </p:sp>
      <p:sp>
        <p:nvSpPr>
          <p:cNvPr id="28" name="Text 26"/>
          <p:cNvSpPr txBox="1"/>
          <p:nvPr/>
        </p:nvSpPr>
        <p:spPr>
          <a:xfrm>
            <a:off x="5470805" y="5031934"/>
            <a:ext cx="659478"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Output</a:t>
            </a:r>
            <a:endParaRPr lang="en-US" sz="1493" dirty="0"/>
          </a:p>
        </p:txBody>
      </p:sp>
      <p:sp>
        <p:nvSpPr>
          <p:cNvPr id="29" name="Text 27"/>
          <p:cNvSpPr txBox="1"/>
          <p:nvPr/>
        </p:nvSpPr>
        <p:spPr>
          <a:xfrm>
            <a:off x="7612027" y="5031934"/>
            <a:ext cx="1171784"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Human / tool</a:t>
            </a:r>
            <a:endParaRPr lang="en-US" sz="1493"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Plain SDK or orchestration framework?</a:t>
            </a:r>
            <a:endParaRPr lang="en-US" sz="3200" dirty="0"/>
          </a:p>
        </p:txBody>
      </p:sp>
      <p:sp>
        <p:nvSpPr>
          <p:cNvPr id="6" name="Shape 4"/>
          <p:cNvSpPr/>
          <p:nvPr/>
        </p:nvSpPr>
        <p:spPr>
          <a:xfrm>
            <a:off x="548640" y="1481328"/>
            <a:ext cx="5410048" cy="566928"/>
          </a:xfrm>
          <a:prstGeom prst="roundRect">
            <a:avLst>
              <a:gd name="adj" fmla="val 16129"/>
            </a:avLst>
          </a:prstGeom>
          <a:solidFill>
            <a:srgbClr val="4F46E5"/>
          </a:solidFill>
          <a:ln w="12700">
            <a:solidFill>
              <a:srgbClr val="4F46E5"/>
            </a:solidFill>
            <a:prstDash val="solid"/>
          </a:ln>
        </p:spPr>
      </p:sp>
      <p:sp>
        <p:nvSpPr>
          <p:cNvPr id="7" name="Text 5"/>
          <p:cNvSpPr txBox="1"/>
          <p:nvPr/>
        </p:nvSpPr>
        <p:spPr>
          <a:xfrm>
            <a:off x="731520" y="1481328"/>
            <a:ext cx="504428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SDK + code</a:t>
            </a:r>
            <a:endParaRPr lang="en-US" sz="1800" dirty="0"/>
          </a:p>
        </p:txBody>
      </p:sp>
      <p:sp>
        <p:nvSpPr>
          <p:cNvPr id="8" name="Shape 6"/>
          <p:cNvSpPr/>
          <p:nvPr/>
        </p:nvSpPr>
        <p:spPr>
          <a:xfrm>
            <a:off x="548640" y="2167128"/>
            <a:ext cx="5410048" cy="3182112"/>
          </a:xfrm>
          <a:prstGeom prst="roundRect">
            <a:avLst>
              <a:gd name="adj" fmla="val 2874"/>
            </a:avLst>
          </a:prstGeom>
          <a:solidFill>
            <a:srgbClr val="EEF0FF"/>
          </a:solidFill>
          <a:ln w="12700">
            <a:solidFill>
              <a:srgbClr val="EEF0FF"/>
            </a:solidFill>
            <a:prstDash val="solid"/>
          </a:ln>
        </p:spPr>
      </p:sp>
      <p:sp>
        <p:nvSpPr>
          <p:cNvPr id="9" name="Text 7"/>
          <p:cNvSpPr txBox="1"/>
          <p:nvPr/>
        </p:nvSpPr>
        <p:spPr>
          <a:xfrm>
            <a:off x="658368" y="2258568"/>
            <a:ext cx="5190592" cy="304495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Direct calls</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Explicit checks</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Simple debugging</a:t>
            </a:r>
            <a:endParaRPr lang="en-US" sz="2400" dirty="0"/>
          </a:p>
        </p:txBody>
      </p:sp>
      <p:sp>
        <p:nvSpPr>
          <p:cNvPr id="10" name="Shape 8"/>
          <p:cNvSpPr/>
          <p:nvPr/>
        </p:nvSpPr>
        <p:spPr>
          <a:xfrm>
            <a:off x="6233008" y="1481328"/>
            <a:ext cx="5410048" cy="566928"/>
          </a:xfrm>
          <a:prstGeom prst="roundRect">
            <a:avLst>
              <a:gd name="adj" fmla="val 16129"/>
            </a:avLst>
          </a:prstGeom>
          <a:solidFill>
            <a:srgbClr val="0F766E"/>
          </a:solidFill>
          <a:ln w="12700">
            <a:solidFill>
              <a:srgbClr val="0F766E"/>
            </a:solidFill>
            <a:prstDash val="solid"/>
          </a:ln>
        </p:spPr>
      </p:sp>
      <p:sp>
        <p:nvSpPr>
          <p:cNvPr id="11" name="Text 9"/>
          <p:cNvSpPr txBox="1"/>
          <p:nvPr/>
        </p:nvSpPr>
        <p:spPr>
          <a:xfrm>
            <a:off x="6415888" y="1481328"/>
            <a:ext cx="504428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Framework</a:t>
            </a:r>
            <a:endParaRPr lang="en-US" sz="1800" dirty="0"/>
          </a:p>
        </p:txBody>
      </p:sp>
      <p:sp>
        <p:nvSpPr>
          <p:cNvPr id="12" name="Shape 10"/>
          <p:cNvSpPr/>
          <p:nvPr/>
        </p:nvSpPr>
        <p:spPr>
          <a:xfrm>
            <a:off x="6233008" y="2167128"/>
            <a:ext cx="5410048" cy="3182112"/>
          </a:xfrm>
          <a:prstGeom prst="roundRect">
            <a:avLst>
              <a:gd name="adj" fmla="val 2874"/>
            </a:avLst>
          </a:prstGeom>
          <a:solidFill>
            <a:srgbClr val="E6F4F1"/>
          </a:solidFill>
          <a:ln w="12700">
            <a:solidFill>
              <a:srgbClr val="E6F4F1"/>
            </a:solidFill>
            <a:prstDash val="solid"/>
          </a:ln>
        </p:spPr>
      </p:sp>
      <p:sp>
        <p:nvSpPr>
          <p:cNvPr id="13" name="Text 11"/>
          <p:cNvSpPr txBox="1"/>
          <p:nvPr/>
        </p:nvSpPr>
        <p:spPr>
          <a:xfrm>
            <a:off x="6342736" y="2258568"/>
            <a:ext cx="5190592" cy="304495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Reusable connectors</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Managed state</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More dependencies</a:t>
            </a:r>
            <a:endParaRPr lang="en-US" sz="2400" dirty="0"/>
          </a:p>
        </p:txBody>
      </p:sp>
      <p:sp>
        <p:nvSpPr>
          <p:cNvPr id="14" name="Shape 12"/>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15" name="Text 13"/>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Add coordination for a stated need.</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Quick check</a:t>
            </a:r>
            <a:endParaRPr lang="en-US" sz="3200" dirty="0"/>
          </a:p>
        </p:txBody>
      </p:sp>
      <p:sp>
        <p:nvSpPr>
          <p:cNvPr id="6" name="Shape 4"/>
          <p:cNvSpPr/>
          <p:nvPr/>
        </p:nvSpPr>
        <p:spPr>
          <a:xfrm>
            <a:off x="548640" y="1527048"/>
            <a:ext cx="640080" cy="64008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702259" y="1680667"/>
            <a:ext cx="332842" cy="332842"/>
          </a:xfrm>
          <a:prstGeom prst="rect">
            <a:avLst/>
          </a:prstGeom>
        </p:spPr>
      </p:pic>
      <p:sp>
        <p:nvSpPr>
          <p:cNvPr id="8" name="Text 5"/>
          <p:cNvSpPr txBox="1"/>
          <p:nvPr/>
        </p:nvSpPr>
        <p:spPr>
          <a:xfrm>
            <a:off x="1417320" y="1481328"/>
            <a:ext cx="10225735" cy="1097280"/>
          </a:xfrm>
          <a:prstGeom prst="rect">
            <a:avLst/>
          </a:prstGeom>
          <a:noFill/>
          <a:ln/>
        </p:spPr>
        <p:txBody>
          <a:bodyPr wrap="square" lIns="50800" tIns="50800" rIns="50800" bIns="5080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University data stays on campus. Which route fits?</a:t>
            </a:r>
            <a:endParaRPr lang="en-US" sz="2400" dirty="0"/>
          </a:p>
        </p:txBody>
      </p:sp>
      <p:sp>
        <p:nvSpPr>
          <p:cNvPr id="9" name="Shape 6"/>
          <p:cNvSpPr/>
          <p:nvPr/>
        </p:nvSpPr>
        <p:spPr>
          <a:xfrm>
            <a:off x="548640" y="2807208"/>
            <a:ext cx="5410048" cy="1325880"/>
          </a:xfrm>
          <a:prstGeom prst="roundRect">
            <a:avLst>
              <a:gd name="adj" fmla="val 6897"/>
            </a:avLst>
          </a:prstGeom>
          <a:solidFill>
            <a:srgbClr val="EEF0FF"/>
          </a:solidFill>
          <a:ln w="12700">
            <a:solidFill>
              <a:srgbClr val="EEF0FF"/>
            </a:solidFill>
            <a:prstDash val="solid"/>
          </a:ln>
        </p:spPr>
      </p:sp>
      <p:sp>
        <p:nvSpPr>
          <p:cNvPr id="10" name="Shape 7"/>
          <p:cNvSpPr/>
          <p:nvPr/>
        </p:nvSpPr>
        <p:spPr>
          <a:xfrm>
            <a:off x="713232" y="3241548"/>
            <a:ext cx="457200" cy="457200"/>
          </a:xfrm>
          <a:prstGeom prst="ellipse">
            <a:avLst/>
          </a:prstGeom>
          <a:solidFill>
            <a:srgbClr val="4F46E5"/>
          </a:solidFill>
          <a:ln w="12700">
            <a:solidFill>
              <a:srgbClr val="4F46E5"/>
            </a:solidFill>
            <a:prstDash val="solid"/>
          </a:ln>
        </p:spPr>
      </p:sp>
      <p:sp>
        <p:nvSpPr>
          <p:cNvPr id="11" name="Text 8"/>
          <p:cNvSpPr txBox="1"/>
          <p:nvPr/>
        </p:nvSpPr>
        <p:spPr>
          <a:xfrm>
            <a:off x="713232"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txBox="1"/>
          <p:nvPr/>
        </p:nvSpPr>
        <p:spPr>
          <a:xfrm>
            <a:off x="1325880"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Self-host compatible model; re-test</a:t>
            </a:r>
            <a:endParaRPr lang="en-US" sz="2000" dirty="0"/>
          </a:p>
        </p:txBody>
      </p:sp>
      <p:sp>
        <p:nvSpPr>
          <p:cNvPr id="13" name="Shape 10"/>
          <p:cNvSpPr/>
          <p:nvPr/>
        </p:nvSpPr>
        <p:spPr>
          <a:xfrm>
            <a:off x="6233008" y="2807208"/>
            <a:ext cx="5410048" cy="1325880"/>
          </a:xfrm>
          <a:prstGeom prst="roundRect">
            <a:avLst>
              <a:gd name="adj" fmla="val 6897"/>
            </a:avLst>
          </a:prstGeom>
          <a:solidFill>
            <a:srgbClr val="EEF0FF"/>
          </a:solidFill>
          <a:ln w="12700">
            <a:solidFill>
              <a:srgbClr val="EEF0FF"/>
            </a:solidFill>
            <a:prstDash val="solid"/>
          </a:ln>
        </p:spPr>
      </p:sp>
      <p:sp>
        <p:nvSpPr>
          <p:cNvPr id="14" name="Shape 11"/>
          <p:cNvSpPr/>
          <p:nvPr/>
        </p:nvSpPr>
        <p:spPr>
          <a:xfrm>
            <a:off x="6397600" y="3241548"/>
            <a:ext cx="457200" cy="457200"/>
          </a:xfrm>
          <a:prstGeom prst="ellipse">
            <a:avLst/>
          </a:prstGeom>
          <a:solidFill>
            <a:srgbClr val="4F46E5"/>
          </a:solidFill>
          <a:ln w="12700">
            <a:solidFill>
              <a:srgbClr val="4F46E5"/>
            </a:solidFill>
            <a:prstDash val="solid"/>
          </a:ln>
        </p:spPr>
      </p:sp>
      <p:sp>
        <p:nvSpPr>
          <p:cNvPr id="15" name="Text 12"/>
          <p:cNvSpPr txBox="1"/>
          <p:nvPr/>
        </p:nvSpPr>
        <p:spPr>
          <a:xfrm>
            <a:off x="6397600"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3"/>
          <p:cNvSpPr txBox="1"/>
          <p:nvPr/>
        </p:nvSpPr>
        <p:spPr>
          <a:xfrm>
            <a:off x="7010248"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Replace all client components</a:t>
            </a:r>
            <a:endParaRPr lang="en-US" sz="2000" dirty="0"/>
          </a:p>
        </p:txBody>
      </p:sp>
      <p:sp>
        <p:nvSpPr>
          <p:cNvPr id="17" name="Shape 14"/>
          <p:cNvSpPr/>
          <p:nvPr/>
        </p:nvSpPr>
        <p:spPr>
          <a:xfrm>
            <a:off x="548640" y="4407408"/>
            <a:ext cx="5410048" cy="1325880"/>
          </a:xfrm>
          <a:prstGeom prst="roundRect">
            <a:avLst>
              <a:gd name="adj" fmla="val 6897"/>
            </a:avLst>
          </a:prstGeom>
          <a:solidFill>
            <a:srgbClr val="EEF0FF"/>
          </a:solidFill>
          <a:ln w="12700">
            <a:solidFill>
              <a:srgbClr val="EEF0FF"/>
            </a:solidFill>
            <a:prstDash val="solid"/>
          </a:ln>
        </p:spPr>
      </p:sp>
      <p:sp>
        <p:nvSpPr>
          <p:cNvPr id="18" name="Shape 15"/>
          <p:cNvSpPr/>
          <p:nvPr/>
        </p:nvSpPr>
        <p:spPr>
          <a:xfrm>
            <a:off x="713232" y="4841748"/>
            <a:ext cx="457200" cy="457200"/>
          </a:xfrm>
          <a:prstGeom prst="ellipse">
            <a:avLst/>
          </a:prstGeom>
          <a:solidFill>
            <a:srgbClr val="4F46E5"/>
          </a:solidFill>
          <a:ln w="12700">
            <a:solidFill>
              <a:srgbClr val="4F46E5"/>
            </a:solidFill>
            <a:prstDash val="solid"/>
          </a:ln>
        </p:spPr>
      </p:sp>
      <p:sp>
        <p:nvSpPr>
          <p:cNvPr id="19" name="Text 16"/>
          <p:cNvSpPr txBox="1"/>
          <p:nvPr/>
        </p:nvSpPr>
        <p:spPr>
          <a:xfrm>
            <a:off x="713232"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1325880"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Send externally; request deletion</a:t>
            </a:r>
            <a:endParaRPr lang="en-US" sz="2000" dirty="0"/>
          </a:p>
        </p:txBody>
      </p:sp>
      <p:sp>
        <p:nvSpPr>
          <p:cNvPr id="21" name="Shape 18"/>
          <p:cNvSpPr/>
          <p:nvPr/>
        </p:nvSpPr>
        <p:spPr>
          <a:xfrm>
            <a:off x="6233008" y="4407408"/>
            <a:ext cx="5410048" cy="1325880"/>
          </a:xfrm>
          <a:prstGeom prst="roundRect">
            <a:avLst>
              <a:gd name="adj" fmla="val 6897"/>
            </a:avLst>
          </a:prstGeom>
          <a:solidFill>
            <a:srgbClr val="EEF0FF"/>
          </a:solidFill>
          <a:ln w="12700">
            <a:solidFill>
              <a:srgbClr val="EEF0FF"/>
            </a:solidFill>
            <a:prstDash val="solid"/>
          </a:ln>
        </p:spPr>
      </p:sp>
      <p:sp>
        <p:nvSpPr>
          <p:cNvPr id="22" name="Shape 19"/>
          <p:cNvSpPr/>
          <p:nvPr/>
        </p:nvSpPr>
        <p:spPr>
          <a:xfrm>
            <a:off x="6397600" y="4841748"/>
            <a:ext cx="457200" cy="457200"/>
          </a:xfrm>
          <a:prstGeom prst="ellipse">
            <a:avLst/>
          </a:prstGeom>
          <a:solidFill>
            <a:srgbClr val="4F46E5"/>
          </a:solidFill>
          <a:ln w="12700">
            <a:solidFill>
              <a:srgbClr val="4F46E5"/>
            </a:solidFill>
            <a:prstDash val="solid"/>
          </a:ln>
        </p:spPr>
      </p:sp>
      <p:sp>
        <p:nvSpPr>
          <p:cNvPr id="23" name="Text 20"/>
          <p:cNvSpPr txBox="1"/>
          <p:nvPr/>
        </p:nvSpPr>
        <p:spPr>
          <a:xfrm>
            <a:off x="6397600"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4" name="Text 21"/>
          <p:cNvSpPr txBox="1"/>
          <p:nvPr/>
        </p:nvSpPr>
        <p:spPr>
          <a:xfrm>
            <a:off x="7010248"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Choose larger external model</a:t>
            </a:r>
            <a:endParaRPr lang="en-US" sz="2000" dirty="0"/>
          </a:p>
        </p:txBody>
      </p:sp>
      <p:sp>
        <p:nvSpPr>
          <p:cNvPr id="25" name="Text 22"/>
          <p:cNvSpPr txBox="1"/>
          <p:nvPr/>
        </p:nvSpPr>
        <p:spPr>
          <a:xfrm>
            <a:off x="548640" y="5943600"/>
            <a:ext cx="11094415" cy="36576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Vote, then convince your neighbour (1 minute).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02</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API platforms</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Keys, tokens, pricing, rate limits and streaming</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What an API platform gives you, and what it expects</a:t>
            </a:r>
            <a:endParaRPr lang="en-US" sz="3200" dirty="0"/>
          </a:p>
        </p:txBody>
      </p:sp>
      <p:sp>
        <p:nvSpPr>
          <p:cNvPr id="6" name="Shape 4"/>
          <p:cNvSpPr/>
          <p:nvPr/>
        </p:nvSpPr>
        <p:spPr>
          <a:xfrm>
            <a:off x="548640" y="1481328"/>
            <a:ext cx="3515258" cy="2276856"/>
          </a:xfrm>
          <a:prstGeom prst="roundRect">
            <a:avLst>
              <a:gd name="adj" fmla="val 4819"/>
            </a:avLst>
          </a:prstGeom>
          <a:solidFill>
            <a:srgbClr val="EEF0FF"/>
          </a:solidFill>
          <a:ln w="12700">
            <a:solidFill>
              <a:srgbClr val="EEF0FF"/>
            </a:solidFill>
            <a:prstDash val="solid"/>
          </a:ln>
        </p:spPr>
      </p:sp>
      <p:sp>
        <p:nvSpPr>
          <p:cNvPr id="7" name="Text 5"/>
          <p:cNvSpPr txBox="1"/>
          <p:nvPr/>
        </p:nvSpPr>
        <p:spPr>
          <a:xfrm>
            <a:off x="731520"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Identity</a:t>
            </a:r>
            <a:endParaRPr lang="en-US" sz="2100" dirty="0"/>
          </a:p>
        </p:txBody>
      </p:sp>
      <p:sp>
        <p:nvSpPr>
          <p:cNvPr id="8" name="Text 6"/>
          <p:cNvSpPr txBox="1"/>
          <p:nvPr/>
        </p:nvSpPr>
        <p:spPr>
          <a:xfrm>
            <a:off x="731520"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Credential + permissions</a:t>
            </a:r>
            <a:endParaRPr lang="en-US" sz="2200" dirty="0"/>
          </a:p>
        </p:txBody>
      </p:sp>
      <p:sp>
        <p:nvSpPr>
          <p:cNvPr id="9" name="Shape 7"/>
          <p:cNvSpPr/>
          <p:nvPr/>
        </p:nvSpPr>
        <p:spPr>
          <a:xfrm>
            <a:off x="4338218" y="1481328"/>
            <a:ext cx="3515258" cy="2276856"/>
          </a:xfrm>
          <a:prstGeom prst="roundRect">
            <a:avLst>
              <a:gd name="adj" fmla="val 4819"/>
            </a:avLst>
          </a:prstGeom>
          <a:solidFill>
            <a:srgbClr val="F5F3FF"/>
          </a:solidFill>
          <a:ln w="12700">
            <a:solidFill>
              <a:srgbClr val="EEF0FF"/>
            </a:solidFill>
            <a:prstDash val="solid"/>
          </a:ln>
        </p:spPr>
      </p:sp>
      <p:sp>
        <p:nvSpPr>
          <p:cNvPr id="10" name="Text 8"/>
          <p:cNvSpPr txBox="1"/>
          <p:nvPr/>
        </p:nvSpPr>
        <p:spPr>
          <a:xfrm>
            <a:off x="4521098"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Usage</a:t>
            </a:r>
            <a:endParaRPr lang="en-US" sz="2100" dirty="0"/>
          </a:p>
        </p:txBody>
      </p:sp>
      <p:sp>
        <p:nvSpPr>
          <p:cNvPr id="11" name="Text 9"/>
          <p:cNvSpPr txBox="1"/>
          <p:nvPr/>
        </p:nvSpPr>
        <p:spPr>
          <a:xfrm>
            <a:off x="4521098"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Input / output tokens</a:t>
            </a:r>
            <a:endParaRPr lang="en-US" sz="2200" dirty="0"/>
          </a:p>
        </p:txBody>
      </p:sp>
      <p:sp>
        <p:nvSpPr>
          <p:cNvPr id="12" name="Shape 10"/>
          <p:cNvSpPr/>
          <p:nvPr/>
        </p:nvSpPr>
        <p:spPr>
          <a:xfrm>
            <a:off x="8127797" y="1481328"/>
            <a:ext cx="3515258" cy="2276856"/>
          </a:xfrm>
          <a:prstGeom prst="roundRect">
            <a:avLst>
              <a:gd name="adj" fmla="val 4819"/>
            </a:avLst>
          </a:prstGeom>
          <a:solidFill>
            <a:srgbClr val="EEF0FF"/>
          </a:solidFill>
          <a:ln w="12700">
            <a:solidFill>
              <a:srgbClr val="EEF0FF"/>
            </a:solidFill>
            <a:prstDash val="solid"/>
          </a:ln>
        </p:spPr>
      </p:sp>
      <p:sp>
        <p:nvSpPr>
          <p:cNvPr id="13" name="Text 11"/>
          <p:cNvSpPr txBox="1"/>
          <p:nvPr/>
        </p:nvSpPr>
        <p:spPr>
          <a:xfrm>
            <a:off x="8310677"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Limits</a:t>
            </a:r>
            <a:endParaRPr lang="en-US" sz="2100" dirty="0"/>
          </a:p>
        </p:txBody>
      </p:sp>
      <p:sp>
        <p:nvSpPr>
          <p:cNvPr id="14" name="Text 12"/>
          <p:cNvSpPr txBox="1"/>
          <p:nvPr/>
        </p:nvSpPr>
        <p:spPr>
          <a:xfrm>
            <a:off x="8310677"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Bound requests; handle 429</a:t>
            </a:r>
            <a:endParaRPr lang="en-US" sz="2200" dirty="0"/>
          </a:p>
        </p:txBody>
      </p:sp>
      <p:sp>
        <p:nvSpPr>
          <p:cNvPr id="15" name="Shape 13"/>
          <p:cNvSpPr/>
          <p:nvPr/>
        </p:nvSpPr>
        <p:spPr>
          <a:xfrm>
            <a:off x="548640" y="4032504"/>
            <a:ext cx="3515258" cy="2276856"/>
          </a:xfrm>
          <a:prstGeom prst="roundRect">
            <a:avLst>
              <a:gd name="adj" fmla="val 4819"/>
            </a:avLst>
          </a:prstGeom>
          <a:solidFill>
            <a:srgbClr val="F5F3FF"/>
          </a:solidFill>
          <a:ln w="12700">
            <a:solidFill>
              <a:srgbClr val="EEF0FF"/>
            </a:solidFill>
            <a:prstDash val="solid"/>
          </a:ln>
        </p:spPr>
      </p:sp>
      <p:sp>
        <p:nvSpPr>
          <p:cNvPr id="16" name="Text 14"/>
          <p:cNvSpPr txBox="1"/>
          <p:nvPr/>
        </p:nvSpPr>
        <p:spPr>
          <a:xfrm>
            <a:off x="731520"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Streaming</a:t>
            </a:r>
            <a:endParaRPr lang="en-US" sz="2100" dirty="0"/>
          </a:p>
        </p:txBody>
      </p:sp>
      <p:sp>
        <p:nvSpPr>
          <p:cNvPr id="17" name="Text 15"/>
          <p:cNvSpPr txBox="1"/>
          <p:nvPr/>
        </p:nvSpPr>
        <p:spPr>
          <a:xfrm>
            <a:off x="731520"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Expose pieces before completion</a:t>
            </a:r>
            <a:endParaRPr lang="en-US" sz="2200" dirty="0"/>
          </a:p>
        </p:txBody>
      </p:sp>
      <p:sp>
        <p:nvSpPr>
          <p:cNvPr id="18" name="Shape 16"/>
          <p:cNvSpPr/>
          <p:nvPr/>
        </p:nvSpPr>
        <p:spPr>
          <a:xfrm>
            <a:off x="4338218" y="4032504"/>
            <a:ext cx="3515258" cy="2276856"/>
          </a:xfrm>
          <a:prstGeom prst="roundRect">
            <a:avLst>
              <a:gd name="adj" fmla="val 4819"/>
            </a:avLst>
          </a:prstGeom>
          <a:solidFill>
            <a:srgbClr val="EEF0FF"/>
          </a:solidFill>
          <a:ln w="12700">
            <a:solidFill>
              <a:srgbClr val="EEF0FF"/>
            </a:solidFill>
            <a:prstDash val="solid"/>
          </a:ln>
        </p:spPr>
      </p:sp>
      <p:sp>
        <p:nvSpPr>
          <p:cNvPr id="19" name="Text 17"/>
          <p:cNvSpPr txBox="1"/>
          <p:nvPr/>
        </p:nvSpPr>
        <p:spPr>
          <a:xfrm>
            <a:off x="4521098"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Reuse</a:t>
            </a:r>
            <a:endParaRPr lang="en-US" sz="2100" dirty="0"/>
          </a:p>
        </p:txBody>
      </p:sp>
      <p:sp>
        <p:nvSpPr>
          <p:cNvPr id="20" name="Text 18"/>
          <p:cNvSpPr txBox="1"/>
          <p:nvPr/>
        </p:nvSpPr>
        <p:spPr>
          <a:xfrm>
            <a:off x="4521098"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Batch / cache policies</a:t>
            </a:r>
            <a:endParaRPr lang="en-US" sz="2200" dirty="0"/>
          </a:p>
        </p:txBody>
      </p:sp>
      <p:sp>
        <p:nvSpPr>
          <p:cNvPr id="21" name="Shape 19"/>
          <p:cNvSpPr/>
          <p:nvPr/>
        </p:nvSpPr>
        <p:spPr>
          <a:xfrm>
            <a:off x="8127797" y="4032504"/>
            <a:ext cx="3515258" cy="2276856"/>
          </a:xfrm>
          <a:prstGeom prst="roundRect">
            <a:avLst>
              <a:gd name="adj" fmla="val 4819"/>
            </a:avLst>
          </a:prstGeom>
          <a:solidFill>
            <a:srgbClr val="F5F3FF"/>
          </a:solidFill>
          <a:ln w="12700">
            <a:solidFill>
              <a:srgbClr val="EEF0FF"/>
            </a:solidFill>
            <a:prstDash val="solid"/>
          </a:ln>
        </p:spPr>
      </p:sp>
      <p:sp>
        <p:nvSpPr>
          <p:cNvPr id="22" name="Text 20"/>
          <p:cNvSpPr txBox="1"/>
          <p:nvPr/>
        </p:nvSpPr>
        <p:spPr>
          <a:xfrm>
            <a:off x="8310677"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Schema</a:t>
            </a:r>
            <a:endParaRPr lang="en-US" sz="2100" dirty="0"/>
          </a:p>
        </p:txBody>
      </p:sp>
      <p:sp>
        <p:nvSpPr>
          <p:cNvPr id="23" name="Text 21"/>
          <p:cNvSpPr txBox="1"/>
          <p:nvPr/>
        </p:nvSpPr>
        <p:spPr>
          <a:xfrm>
            <a:off x="8310677"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Validate declared fields</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Keeping API keys safe</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Keep credentials in trusted server code.</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Browser</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Question only</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Server</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Restricted secret + request limits</a:t>
            </a:r>
            <a:endParaRPr lang="en-US" sz="2200" dirty="0"/>
          </a:p>
        </p:txBody>
      </p:sp>
      <p:sp>
        <p:nvSpPr>
          <p:cNvPr id="13" name="Shape 11"/>
          <p:cNvSpPr/>
          <p:nvPr/>
        </p:nvSpPr>
        <p:spPr>
          <a:xfrm>
            <a:off x="5257800" y="5276088"/>
            <a:ext cx="6385255" cy="0"/>
          </a:xfrm>
          <a:prstGeom prst="line">
            <a:avLst/>
          </a:prstGeom>
          <a:noFill/>
          <a:ln w="12700">
            <a:solidFill>
              <a:srgbClr val="C7D2FE"/>
            </a:solidFill>
            <a:prstDash val="solid"/>
          </a:ln>
        </p:spPr>
      </p:sp>
      <p:sp>
        <p:nvSpPr>
          <p:cNvPr id="14" name="Text 12"/>
          <p:cNvSpPr txBox="1"/>
          <p:nvPr/>
        </p:nvSpPr>
        <p:spPr>
          <a:xfrm>
            <a:off x="5257800" y="413308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Provider</a:t>
            </a:r>
            <a:endParaRPr lang="en-US" sz="1800" dirty="0"/>
          </a:p>
        </p:txBody>
      </p:sp>
      <p:sp>
        <p:nvSpPr>
          <p:cNvPr id="15" name="Text 13"/>
          <p:cNvSpPr txBox="1"/>
          <p:nvPr/>
        </p:nvSpPr>
        <p:spPr>
          <a:xfrm>
            <a:off x="6766560" y="413308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Answer + usage</a:t>
            </a:r>
            <a:endParaRPr lang="en-US" sz="2200" dirty="0"/>
          </a:p>
        </p:txBody>
      </p:sp>
      <p:sp>
        <p:nvSpPr>
          <p:cNvPr id="16" name="Text 14"/>
          <p:cNvSpPr txBox="1"/>
          <p:nvPr/>
        </p:nvSpPr>
        <p:spPr>
          <a:xfrm>
            <a:off x="5257800" y="5897880"/>
            <a:ext cx="6385255" cy="411480"/>
          </a:xfrm>
          <a:prstGeom prst="rect">
            <a:avLst/>
          </a:prstGeom>
          <a:noFill/>
          <a:ln/>
        </p:spPr>
        <p:txBody>
          <a:bodyPr wrap="square" lIns="0" tIns="0" rIns="0" bIns="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Revoke leaked keys; review usage.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Anatomy of a request: where the time goes</a:t>
            </a:r>
            <a:endParaRPr lang="en-US" sz="3200" dirty="0"/>
          </a:p>
        </p:txBody>
      </p:sp>
      <p:sp>
        <p:nvSpPr>
          <p:cNvPr id="6" name="Shape 4"/>
          <p:cNvSpPr/>
          <p:nvPr/>
        </p:nvSpPr>
        <p:spPr>
          <a:xfrm>
            <a:off x="949532" y="3524767"/>
            <a:ext cx="7658987" cy="0"/>
          </a:xfrm>
          <a:prstGeom prst="line">
            <a:avLst/>
          </a:prstGeom>
          <a:noFill/>
          <a:ln w="22860">
            <a:solidFill>
              <a:srgbClr val="4F46E5"/>
            </a:solidFill>
            <a:prstDash val="solid"/>
          </a:ln>
        </p:spPr>
      </p:sp>
      <p:sp>
        <p:nvSpPr>
          <p:cNvPr id="7" name="Shape 5"/>
          <p:cNvSpPr/>
          <p:nvPr/>
        </p:nvSpPr>
        <p:spPr>
          <a:xfrm flipV="1">
            <a:off x="949532" y="3453336"/>
            <a:ext cx="0" cy="142862"/>
          </a:xfrm>
          <a:prstGeom prst="line">
            <a:avLst/>
          </a:prstGeom>
          <a:noFill/>
          <a:ln w="22860">
            <a:solidFill>
              <a:srgbClr val="4F46E5"/>
            </a:solidFill>
            <a:prstDash val="solid"/>
          </a:ln>
        </p:spPr>
      </p:sp>
      <p:sp>
        <p:nvSpPr>
          <p:cNvPr id="8" name="Shape 6"/>
          <p:cNvSpPr/>
          <p:nvPr/>
        </p:nvSpPr>
        <p:spPr>
          <a:xfrm flipV="1">
            <a:off x="8608519" y="3453336"/>
            <a:ext cx="0" cy="142862"/>
          </a:xfrm>
          <a:prstGeom prst="line">
            <a:avLst/>
          </a:prstGeom>
          <a:noFill/>
          <a:ln w="22860">
            <a:solidFill>
              <a:srgbClr val="4F46E5"/>
            </a:solidFill>
            <a:prstDash val="solid"/>
          </a:ln>
        </p:spPr>
      </p:sp>
      <p:sp>
        <p:nvSpPr>
          <p:cNvPr id="9" name="Shape 7"/>
          <p:cNvSpPr/>
          <p:nvPr/>
        </p:nvSpPr>
        <p:spPr>
          <a:xfrm>
            <a:off x="3247228" y="2695375"/>
            <a:ext cx="395303" cy="0"/>
          </a:xfrm>
          <a:prstGeom prst="line">
            <a:avLst/>
          </a:prstGeom>
          <a:noFill/>
          <a:ln w="22860">
            <a:solidFill>
              <a:srgbClr val="4F46E5"/>
            </a:solidFill>
            <a:prstDash val="solid"/>
            <a:tailEnd type="triangle"/>
          </a:ln>
        </p:spPr>
      </p:sp>
      <p:sp>
        <p:nvSpPr>
          <p:cNvPr id="10" name="Shape 8"/>
          <p:cNvSpPr/>
          <p:nvPr/>
        </p:nvSpPr>
        <p:spPr>
          <a:xfrm>
            <a:off x="5940227" y="2695375"/>
            <a:ext cx="395303" cy="0"/>
          </a:xfrm>
          <a:prstGeom prst="line">
            <a:avLst/>
          </a:prstGeom>
          <a:noFill/>
          <a:ln w="22860">
            <a:solidFill>
              <a:srgbClr val="4F46E5"/>
            </a:solidFill>
            <a:prstDash val="solid"/>
            <a:tailEnd type="triangle"/>
          </a:ln>
        </p:spPr>
      </p:sp>
      <p:sp>
        <p:nvSpPr>
          <p:cNvPr id="11" name="Shape 9"/>
          <p:cNvSpPr/>
          <p:nvPr/>
        </p:nvSpPr>
        <p:spPr>
          <a:xfrm>
            <a:off x="8633226" y="2695375"/>
            <a:ext cx="395303" cy="0"/>
          </a:xfrm>
          <a:prstGeom prst="line">
            <a:avLst/>
          </a:prstGeom>
          <a:noFill/>
          <a:ln w="22860">
            <a:solidFill>
              <a:srgbClr val="4F46E5"/>
            </a:solidFill>
            <a:prstDash val="solid"/>
            <a:tailEnd type="triangle"/>
          </a:ln>
        </p:spPr>
      </p:sp>
      <p:sp>
        <p:nvSpPr>
          <p:cNvPr id="12" name="Shape 10"/>
          <p:cNvSpPr/>
          <p:nvPr/>
        </p:nvSpPr>
        <p:spPr>
          <a:xfrm>
            <a:off x="949532" y="2318378"/>
            <a:ext cx="2297696" cy="753994"/>
          </a:xfrm>
          <a:prstGeom prst="rect">
            <a:avLst/>
          </a:prstGeom>
          <a:solidFill>
            <a:srgbClr val="F2F4F5"/>
          </a:solidFill>
          <a:ln w="15240">
            <a:solidFill>
              <a:srgbClr val="626B73"/>
            </a:solidFill>
            <a:prstDash val="solid"/>
          </a:ln>
        </p:spPr>
      </p:sp>
      <p:sp>
        <p:nvSpPr>
          <p:cNvPr id="13" name="Shape 11"/>
          <p:cNvSpPr/>
          <p:nvPr/>
        </p:nvSpPr>
        <p:spPr>
          <a:xfrm>
            <a:off x="3642531" y="2318378"/>
            <a:ext cx="2297696" cy="753994"/>
          </a:xfrm>
          <a:prstGeom prst="rect">
            <a:avLst/>
          </a:prstGeom>
          <a:solidFill>
            <a:srgbClr val="F2F4F5"/>
          </a:solidFill>
          <a:ln w="15240">
            <a:solidFill>
              <a:srgbClr val="626B73"/>
            </a:solidFill>
            <a:prstDash val="solid"/>
          </a:ln>
        </p:spPr>
      </p:sp>
      <p:sp>
        <p:nvSpPr>
          <p:cNvPr id="14" name="Shape 12"/>
          <p:cNvSpPr/>
          <p:nvPr/>
        </p:nvSpPr>
        <p:spPr>
          <a:xfrm>
            <a:off x="6335530" y="2318378"/>
            <a:ext cx="2297696" cy="753994"/>
          </a:xfrm>
          <a:prstGeom prst="rect">
            <a:avLst/>
          </a:prstGeom>
          <a:solidFill>
            <a:srgbClr val="E5F7EF"/>
          </a:solidFill>
          <a:ln w="15240">
            <a:solidFill>
              <a:srgbClr val="009E73"/>
            </a:solidFill>
            <a:prstDash val="solid"/>
          </a:ln>
        </p:spPr>
      </p:sp>
      <p:sp>
        <p:nvSpPr>
          <p:cNvPr id="15" name="Shape 13"/>
          <p:cNvSpPr/>
          <p:nvPr/>
        </p:nvSpPr>
        <p:spPr>
          <a:xfrm>
            <a:off x="9028528" y="2318378"/>
            <a:ext cx="2297696" cy="753994"/>
          </a:xfrm>
          <a:prstGeom prst="rect">
            <a:avLst/>
          </a:prstGeom>
          <a:solidFill>
            <a:srgbClr val="E5F7EF"/>
          </a:solidFill>
          <a:ln w="15240">
            <a:solidFill>
              <a:srgbClr val="009E73"/>
            </a:solidFill>
            <a:prstDash val="solid"/>
          </a:ln>
        </p:spPr>
      </p:sp>
      <p:sp>
        <p:nvSpPr>
          <p:cNvPr id="16" name="Shape 14"/>
          <p:cNvSpPr/>
          <p:nvPr/>
        </p:nvSpPr>
        <p:spPr>
          <a:xfrm>
            <a:off x="908355" y="4127962"/>
            <a:ext cx="181180" cy="174609"/>
          </a:xfrm>
          <a:prstGeom prst="rect">
            <a:avLst/>
          </a:prstGeom>
          <a:solidFill>
            <a:srgbClr val="E5F7EF"/>
          </a:solidFill>
          <a:ln w="15240">
            <a:solidFill>
              <a:srgbClr val="009E73"/>
            </a:solidFill>
            <a:prstDash val="solid"/>
          </a:ln>
        </p:spPr>
      </p:sp>
      <p:sp>
        <p:nvSpPr>
          <p:cNvPr id="17" name="Shape 15"/>
          <p:cNvSpPr/>
          <p:nvPr/>
        </p:nvSpPr>
        <p:spPr>
          <a:xfrm>
            <a:off x="3049577" y="4127962"/>
            <a:ext cx="181180" cy="174609"/>
          </a:xfrm>
          <a:prstGeom prst="rect">
            <a:avLst/>
          </a:prstGeom>
          <a:solidFill>
            <a:srgbClr val="F2F4F5"/>
          </a:solidFill>
          <a:ln w="15240">
            <a:solidFill>
              <a:srgbClr val="626B73"/>
            </a:solidFill>
            <a:prstDash val="solid"/>
          </a:ln>
        </p:spPr>
      </p:sp>
      <p:sp>
        <p:nvSpPr>
          <p:cNvPr id="18" name="Text 16"/>
          <p:cNvSpPr txBox="1"/>
          <p:nvPr/>
        </p:nvSpPr>
        <p:spPr>
          <a:xfrm>
            <a:off x="1295166" y="2571629"/>
            <a:ext cx="1606429"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Network / auth</a:t>
            </a:r>
            <a:endParaRPr lang="en-US" sz="1680" dirty="0"/>
          </a:p>
        </p:txBody>
      </p:sp>
      <p:sp>
        <p:nvSpPr>
          <p:cNvPr id="19" name="Text 17"/>
          <p:cNvSpPr txBox="1"/>
          <p:nvPr/>
        </p:nvSpPr>
        <p:spPr>
          <a:xfrm>
            <a:off x="3084226" y="1995208"/>
            <a:ext cx="721308" cy="219992"/>
          </a:xfrm>
          <a:prstGeom prst="rect">
            <a:avLst/>
          </a:prstGeom>
          <a:no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request</a:t>
            </a:r>
            <a:endParaRPr lang="en-US" sz="1493" dirty="0"/>
          </a:p>
        </p:txBody>
      </p:sp>
      <p:sp>
        <p:nvSpPr>
          <p:cNvPr id="20" name="Text 18"/>
          <p:cNvSpPr txBox="1"/>
          <p:nvPr/>
        </p:nvSpPr>
        <p:spPr>
          <a:xfrm>
            <a:off x="4403309" y="2571629"/>
            <a:ext cx="776140"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Queue</a:t>
            </a:r>
            <a:endParaRPr lang="en-US" sz="1680" dirty="0"/>
          </a:p>
        </p:txBody>
      </p:sp>
      <p:sp>
        <p:nvSpPr>
          <p:cNvPr id="21" name="Text 19"/>
          <p:cNvSpPr txBox="1"/>
          <p:nvPr/>
        </p:nvSpPr>
        <p:spPr>
          <a:xfrm>
            <a:off x="5799307" y="1995208"/>
            <a:ext cx="677143" cy="219992"/>
          </a:xfrm>
          <a:prstGeom prst="rect">
            <a:avLst/>
          </a:prstGeom>
          <a:no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prompt</a:t>
            </a:r>
            <a:endParaRPr lang="en-US" sz="1493" dirty="0"/>
          </a:p>
        </p:txBody>
      </p:sp>
      <p:sp>
        <p:nvSpPr>
          <p:cNvPr id="22" name="Text 20"/>
          <p:cNvSpPr txBox="1"/>
          <p:nvPr/>
        </p:nvSpPr>
        <p:spPr>
          <a:xfrm>
            <a:off x="7127223" y="2571629"/>
            <a:ext cx="714310"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Prefill</a:t>
            </a:r>
            <a:endParaRPr lang="en-US" sz="1680" dirty="0"/>
          </a:p>
        </p:txBody>
      </p:sp>
      <p:sp>
        <p:nvSpPr>
          <p:cNvPr id="23" name="Text 21"/>
          <p:cNvSpPr txBox="1"/>
          <p:nvPr/>
        </p:nvSpPr>
        <p:spPr>
          <a:xfrm>
            <a:off x="8580634" y="1995208"/>
            <a:ext cx="500486" cy="219992"/>
          </a:xfrm>
          <a:prstGeom prst="rect">
            <a:avLst/>
          </a:prstGeom>
          <a:no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state</a:t>
            </a:r>
            <a:endParaRPr lang="en-US" sz="1493" dirty="0"/>
          </a:p>
        </p:txBody>
      </p:sp>
      <p:sp>
        <p:nvSpPr>
          <p:cNvPr id="24" name="Text 22"/>
          <p:cNvSpPr txBox="1"/>
          <p:nvPr/>
        </p:nvSpPr>
        <p:spPr>
          <a:xfrm>
            <a:off x="9731893" y="2571629"/>
            <a:ext cx="89096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Decode</a:t>
            </a:r>
            <a:endParaRPr lang="en-US" sz="1680" dirty="0"/>
          </a:p>
        </p:txBody>
      </p:sp>
      <p:sp>
        <p:nvSpPr>
          <p:cNvPr id="25" name="Text 23"/>
          <p:cNvSpPr txBox="1"/>
          <p:nvPr/>
        </p:nvSpPr>
        <p:spPr>
          <a:xfrm>
            <a:off x="3577298" y="3594748"/>
            <a:ext cx="2403456" cy="247491"/>
          </a:xfrm>
          <a:prstGeom prst="rect">
            <a:avLst/>
          </a:prstGeom>
          <a:noFill/>
          <a:ln/>
        </p:spPr>
        <p:txBody>
          <a:bodyPr wrap="square" lIns="0" tIns="0" rIns="0" bIns="0" rtlCol="0" anchor="ctr"/>
          <a:lstStyle/>
          <a:p>
            <a:pPr algn="ctr" indent="0" marL="0">
              <a:lnSpc>
                <a:spcPct val="116000"/>
              </a:lnSpc>
              <a:buNone/>
            </a:pPr>
            <a:r>
              <a:rPr lang="en-US" sz="1680" dirty="0">
                <a:solidFill>
                  <a:srgbClr val="4F46E5"/>
                </a:solidFill>
                <a:latin typeface="Arial" pitchFamily="34" charset="0"/>
                <a:ea typeface="Arial" pitchFamily="34" charset="-122"/>
                <a:cs typeface="Arial" pitchFamily="34" charset="-120"/>
              </a:rPr>
              <a:t>TTFT: wait to first token</a:t>
            </a:r>
            <a:endParaRPr lang="en-US" sz="1680" dirty="0"/>
          </a:p>
        </p:txBody>
      </p:sp>
      <p:sp>
        <p:nvSpPr>
          <p:cNvPr id="26" name="Text 24"/>
          <p:cNvSpPr txBox="1"/>
          <p:nvPr/>
        </p:nvSpPr>
        <p:spPr>
          <a:xfrm>
            <a:off x="8816945" y="3594748"/>
            <a:ext cx="1889080" cy="247491"/>
          </a:xfrm>
          <a:prstGeom prst="rect">
            <a:avLst/>
          </a:prstGeom>
          <a:noFill/>
          <a:ln/>
        </p:spPr>
        <p:txBody>
          <a:bodyPr wrap="square" lIns="0" tIns="0" rIns="0" bIns="0" rtlCol="0" anchor="ctr"/>
          <a:lstStyle/>
          <a:p>
            <a:pPr algn="ctr" indent="0" marL="0">
              <a:lnSpc>
                <a:spcPct val="116000"/>
              </a:lnSpc>
              <a:buNone/>
            </a:pPr>
            <a:r>
              <a:rPr lang="en-US" sz="1680" dirty="0">
                <a:solidFill>
                  <a:srgbClr val="0F766E"/>
                </a:solidFill>
                <a:latin typeface="Arial" pitchFamily="34" charset="0"/>
                <a:ea typeface="Arial" pitchFamily="34" charset="-122"/>
                <a:cs typeface="Arial" pitchFamily="34" charset="-120"/>
              </a:rPr>
              <a:t>Remaining tokens</a:t>
            </a:r>
            <a:endParaRPr lang="en-US" sz="1680" dirty="0"/>
          </a:p>
        </p:txBody>
      </p:sp>
      <p:sp>
        <p:nvSpPr>
          <p:cNvPr id="27" name="Text 25"/>
          <p:cNvSpPr txBox="1"/>
          <p:nvPr/>
        </p:nvSpPr>
        <p:spPr>
          <a:xfrm>
            <a:off x="1188361" y="4105271"/>
            <a:ext cx="606480"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Model</a:t>
            </a:r>
            <a:endParaRPr lang="en-US" sz="1493" dirty="0"/>
          </a:p>
        </p:txBody>
      </p:sp>
      <p:sp>
        <p:nvSpPr>
          <p:cNvPr id="28" name="Text 26"/>
          <p:cNvSpPr txBox="1"/>
          <p:nvPr/>
        </p:nvSpPr>
        <p:spPr>
          <a:xfrm>
            <a:off x="3329583" y="4105271"/>
            <a:ext cx="1171784"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Human / tool</a:t>
            </a:r>
            <a:endParaRPr lang="en-US" sz="1493" dirty="0"/>
          </a:p>
        </p:txBody>
      </p:sp>
      <p:sp>
        <p:nvSpPr>
          <p:cNvPr id="29" name="Text 27"/>
          <p:cNvSpPr txBox="1"/>
          <p:nvPr/>
        </p:nvSpPr>
        <p:spPr>
          <a:xfrm>
            <a:off x="548640" y="4670643"/>
            <a:ext cx="11094415" cy="1638717"/>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First output: network + queue + prefill.</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Remaining output: decoding.</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Streaming exposes pieces sooner.</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Stored GPU run: streaming latency</a:t>
            </a:r>
            <a:endParaRPr lang="en-US" sz="3200" dirty="0"/>
          </a:p>
        </p:txBody>
      </p:sp>
      <p:pic>
        <p:nvPicPr>
          <p:cNvPr id="6" name="Image 0" descr="C:\Users\sudee\Downloads\Generative_AI_2027_Teaching_Pack\AI2027_Project\build\figures\week_11\lab_latency.png">    </p:cNvPr>
          <p:cNvPicPr>
            <a:picLocks noChangeAspect="1"/>
          </p:cNvPicPr>
          <p:nvPr/>
        </p:nvPicPr>
        <p:blipFill>
          <a:blip r:embed="rId1"/>
          <a:stretch>
            <a:fillRect/>
          </a:stretch>
        </p:blipFill>
        <p:spPr>
          <a:xfrm>
            <a:off x="817241" y="1481328"/>
            <a:ext cx="10557213" cy="3065526"/>
          </a:xfrm>
          <a:prstGeom prst="rect">
            <a:avLst/>
          </a:prstGeom>
        </p:spPr>
      </p:pic>
      <p:sp>
        <p:nvSpPr>
          <p:cNvPr id="7" name="Text 4"/>
          <p:cNvSpPr txBox="1"/>
          <p:nvPr/>
        </p:nvSpPr>
        <p:spPr>
          <a:xfrm>
            <a:off x="548640" y="4729734"/>
            <a:ext cx="11094415" cy="1168146"/>
          </a:xfrm>
          <a:prstGeom prst="rect">
            <a:avLst/>
          </a:prstGeom>
          <a:noFill/>
          <a:ln/>
        </p:spPr>
        <p:txBody>
          <a:bodyPr wrap="square" lIns="50800" tIns="50800" rIns="50800" bIns="5080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Qwen2.5-0.5B-Instruct on an NVIDIA GTX 1650 laptop GPU: TTFT 0.24–0.28 s, full answers 3.6–9.3 s (archived decoded-text timings).</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First decoded text approximates TTFT.</a:t>
            </a:r>
            <a:endParaRPr lang="en-US" sz="1800" dirty="0"/>
          </a:p>
        </p:txBody>
      </p:sp>
      <p:sp>
        <p:nvSpPr>
          <p:cNvPr id="8" name="Text 5"/>
          <p:cNvSpPr txBox="1"/>
          <p:nvPr/>
        </p:nvSpPr>
        <p:spPr>
          <a:xfrm>
            <a:off x="548640" y="5916168"/>
            <a:ext cx="11094415" cy="384048"/>
          </a:xfrm>
          <a:prstGeom prst="rect">
            <a:avLst/>
          </a:prstGeom>
          <a:noFill/>
          <a:ln/>
        </p:spPr>
        <p:txBody>
          <a:bodyPr wrap="square" lIns="50800" tIns="50800" rIns="50800" bIns="50800" rtlCol="0" anchor="t"/>
          <a:lstStyle/>
          <a:p>
            <a:pPr algn="ctr" indent="0" marL="0">
              <a:buNone/>
            </a:pPr>
            <a:r>
              <a:rPr lang="en-US" sz="1400" i="1" dirty="0">
                <a:solidFill>
                  <a:srgbClr val="6B7280"/>
                </a:solidFill>
                <a:latin typeface="Calibri" pitchFamily="34" charset="0"/>
                <a:ea typeface="Calibri" pitchFamily="34" charset="-122"/>
                <a:cs typeface="Calibri" pitchFamily="34" charset="-120"/>
              </a:rPr>
              <a:t>Qwen2.5-0.5B-Instruct · GTX 1650 · 9 Oct 2026</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2900" b="1" dirty="0">
                <a:solidFill>
                  <a:srgbClr val="1E1B4B"/>
                </a:solidFill>
                <a:latin typeface="Calibri" pitchFamily="34" charset="0"/>
                <a:ea typeface="Calibri" pitchFamily="34" charset="-122"/>
                <a:cs typeface="Calibri" pitchFamily="34" charset="-120"/>
              </a:rPr>
              <a:t>Estimating cost: 500 students, 20 requests a day, one month</a:t>
            </a:r>
            <a:endParaRPr lang="en-US" sz="2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858927"/>
                <a:gridCol w="4582476"/>
                <a:gridCol w="2653012"/>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Classroom option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Input / output $/1M</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Monthly USD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Small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0.10 / 0.40</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60</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Medium</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0.50 / 2.00</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300</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Frontier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2.00 / 10.00</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1,380</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Always-on GPU</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0.60/hour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432 + staff</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8" name="Text 5"/>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Method:  </a:t>
            </a:r>
            <a:pPr indent="0" marL="0">
              <a:buNone/>
            </a:pPr>
            <a:r>
              <a:rPr lang="en-US" sz="2000" dirty="0">
                <a:solidFill>
                  <a:srgbClr val="1F2937"/>
                </a:solidFill>
                <a:latin typeface="Calibri" pitchFamily="34" charset="0"/>
                <a:ea typeface="Calibri" pitchFamily="34" charset="-122"/>
                <a:cs typeface="Calibri" pitchFamily="34" charset="-120"/>
              </a:rPr>
              <a:t>300,000 requests; 800 input, 300 output tokens. Illustrative rates.</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Streaming and retries in code</a:t>
            </a:r>
            <a:endParaRPr lang="en-US" sz="3200" dirty="0"/>
          </a:p>
        </p:txBody>
      </p:sp>
      <p:sp>
        <p:nvSpPr>
          <p:cNvPr id="6" name="Shape 4"/>
          <p:cNvSpPr/>
          <p:nvPr/>
        </p:nvSpPr>
        <p:spPr>
          <a:xfrm>
            <a:off x="548640" y="1481328"/>
            <a:ext cx="6949440" cy="1742440"/>
          </a:xfrm>
          <a:prstGeom prst="roundRect">
            <a:avLst>
              <a:gd name="adj" fmla="val 5248"/>
            </a:avLst>
          </a:prstGeom>
          <a:solidFill>
            <a:srgbClr val="1E1E2E"/>
          </a:solidFill>
          <a:ln w="12700">
            <a:solidFill>
              <a:srgbClr val="1E1E2E"/>
            </a:solidFill>
            <a:prstDash val="solid"/>
          </a:ln>
        </p:spPr>
      </p:sp>
      <p:sp>
        <p:nvSpPr>
          <p:cNvPr id="7" name="Text 5"/>
          <p:cNvSpPr txBox="1"/>
          <p:nvPr/>
        </p:nvSpPr>
        <p:spPr>
          <a:xfrm>
            <a:off x="685800" y="1591056"/>
            <a:ext cx="6675120" cy="1522984"/>
          </a:xfrm>
          <a:prstGeom prst="rect">
            <a:avLst/>
          </a:prstGeom>
          <a:noFill/>
          <a:ln/>
        </p:spPr>
        <p:txBody>
          <a:bodyPr wrap="square" lIns="76200" tIns="76200" rIns="76200" bIns="76200" rtlCol="0" anchor="t"/>
          <a:lstStyle/>
          <a:p>
            <a:pPr indent="0" marL="0">
              <a:lnSpc>
                <a:spcPct val="100000"/>
              </a:lnSpc>
              <a:buNone/>
            </a:pPr>
            <a:r>
              <a:rPr lang="en-US" sz="1600" dirty="0">
                <a:solidFill>
                  <a:srgbClr val="E4E4F0"/>
                </a:solidFill>
                <a:latin typeface="Consolas" pitchFamily="34" charset="0"/>
                <a:ea typeface="Consolas" pitchFamily="34" charset="-122"/>
                <a:cs typeface="Consolas" pitchFamily="34" charset="-120"/>
              </a:rPr>
              <a:t>stream = client.chat.completions.create(</a:t>
            </a:r>
            <a:endParaRPr lang="en-US" sz="1600" dirty="0"/>
          </a:p>
          <a:p>
            <a:pPr indent="0" marL="0">
              <a:lnSpc>
                <a:spcPct val="100000"/>
              </a:lnSpc>
              <a:buNone/>
            </a:pPr>
            <a:r>
              <a:rPr lang="en-US" sz="1600" dirty="0">
                <a:solidFill>
                  <a:srgbClr val="E4E4F0"/>
                </a:solidFill>
                <a:latin typeface="Consolas" pitchFamily="34" charset="0"/>
                <a:ea typeface="Consolas" pitchFamily="34" charset="-122"/>
                <a:cs typeface="Consolas" pitchFamily="34" charset="-120"/>
              </a:rPr>
              <a:t>    model=MODEL, messages=messages,</a:t>
            </a:r>
            <a:endParaRPr lang="en-US" sz="1600" dirty="0"/>
          </a:p>
          <a:p>
            <a:pPr indent="0" marL="0">
              <a:lnSpc>
                <a:spcPct val="100000"/>
              </a:lnSpc>
              <a:buNone/>
            </a:pPr>
            <a:r>
              <a:rPr lang="en-US" sz="1600" dirty="0">
                <a:solidFill>
                  <a:srgbClr val="E4E4F0"/>
                </a:solidFill>
                <a:latin typeface="Consolas" pitchFamily="34" charset="0"/>
                <a:ea typeface="Consolas" pitchFamily="34" charset="-122"/>
                <a:cs typeface="Consolas" pitchFamily="34" charset="-120"/>
              </a:rPr>
              <a:t>    stream=True, max_tokens=24)</a:t>
            </a:r>
            <a:endParaRPr lang="en-US" sz="1600" dirty="0"/>
          </a:p>
          <a:p>
            <a:pPr indent="0" marL="0">
              <a:lnSpc>
                <a:spcPct val="100000"/>
              </a:lnSpc>
              <a:buNone/>
            </a:pPr>
            <a:r>
              <a:rPr lang="en-US" sz="1600" dirty="0">
                <a:solidFill>
                  <a:srgbClr val="E4E4F0"/>
                </a:solidFill>
                <a:latin typeface="Consolas" pitchFamily="34" charset="0"/>
                <a:ea typeface="Consolas" pitchFamily="34" charset="-122"/>
                <a:cs typeface="Consolas" pitchFamily="34" charset="-120"/>
              </a:rPr>
              <a:t>for chunk in stream:</a:t>
            </a:r>
            <a:endParaRPr lang="en-US" sz="1600" dirty="0"/>
          </a:p>
          <a:p>
            <a:pPr indent="0" marL="0">
              <a:lnSpc>
                <a:spcPct val="100000"/>
              </a:lnSpc>
              <a:buNone/>
            </a:pPr>
            <a:r>
              <a:rPr lang="en-US" sz="1600" dirty="0">
                <a:solidFill>
                  <a:srgbClr val="E4E4F0"/>
                </a:solidFill>
                <a:latin typeface="Consolas" pitchFamily="34" charset="0"/>
                <a:ea typeface="Consolas" pitchFamily="34" charset="-122"/>
                <a:cs typeface="Consolas" pitchFamily="34" charset="-120"/>
              </a:rPr>
              <a:t>    print(chunk.choices[0].delta.content or "", end="")</a:t>
            </a:r>
            <a:endParaRPr lang="en-US" sz="1600" dirty="0"/>
          </a:p>
        </p:txBody>
      </p:sp>
      <p:sp>
        <p:nvSpPr>
          <p:cNvPr id="8" name="Text 6"/>
          <p:cNvSpPr txBox="1"/>
          <p:nvPr/>
        </p:nvSpPr>
        <p:spPr>
          <a:xfrm>
            <a:off x="7772400" y="1481328"/>
            <a:ext cx="3870655"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Set timeouts.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429: bounded backoff + jitter.</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Full retry logic: notebook.</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03</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100" b="1" dirty="0">
                <a:solidFill>
                  <a:srgbClr val="FFFFFF"/>
                </a:solidFill>
                <a:latin typeface="Calibri" pitchFamily="34" charset="0"/>
                <a:ea typeface="Calibri" pitchFamily="34" charset="-122"/>
                <a:cs typeface="Calibri" pitchFamily="34" charset="-120"/>
              </a:rPr>
              <a:t>Deployment options and efficient serving</a:t>
            </a:r>
            <a:endParaRPr lang="en-US" sz="41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Cloud, self-hosted or local, and how to make it cheaper and faster</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Cloud API vs. self-hosted vs. local</a:t>
            </a:r>
            <a:endParaRPr lang="en-US"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1504327"/>
                <a:gridCol w="2632573"/>
                <a:gridCol w="4136901"/>
                <a:gridCol w="2820614"/>
              </a:tblGrid>
              <a:tr h="0">
                <a:tc>
                  <a:txBody>
                    <a:bodyPr/>
                    <a:lstStyle/>
                    <a:p>
                      <a:pPr indent="0" marL="0">
                        <a:buNone/>
                      </a:pP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Hosted API</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Self-hosted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Local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Model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Provider list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Runnable weights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Device fit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Cost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Token charges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Infrastructure + staff</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Device + energy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Data</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Provider terms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Your infrastructure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Your device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Owner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Provider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Your team</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Device owner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Round and reconstruct weights</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Precision probe; no training</a:t>
            </a:r>
            <a:endParaRPr lang="en-US" sz="1800" dirty="0"/>
          </a:p>
        </p:txBody>
      </p:sp>
      <p:sp>
        <p:nvSpPr>
          <p:cNvPr id="7" name="Shape 5"/>
          <p:cNvSpPr/>
          <p:nvPr/>
        </p:nvSpPr>
        <p:spPr>
          <a:xfrm>
            <a:off x="2354146" y="3838927"/>
            <a:ext cx="244024" cy="0"/>
          </a:xfrm>
          <a:prstGeom prst="line">
            <a:avLst/>
          </a:prstGeom>
          <a:noFill/>
          <a:ln w="22860">
            <a:solidFill>
              <a:srgbClr val="009E73"/>
            </a:solidFill>
            <a:prstDash val="solid"/>
            <a:tailEnd type="triangle"/>
          </a:ln>
        </p:spPr>
      </p:sp>
      <p:sp>
        <p:nvSpPr>
          <p:cNvPr id="8" name="Text 6"/>
          <p:cNvSpPr txBox="1"/>
          <p:nvPr/>
        </p:nvSpPr>
        <p:spPr>
          <a:xfrm>
            <a:off x="167545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values</a:t>
            </a:r>
            <a:endParaRPr lang="en-US" sz="1441" dirty="0"/>
          </a:p>
        </p:txBody>
      </p:sp>
      <p:sp>
        <p:nvSpPr>
          <p:cNvPr id="9" name="Shape 7"/>
          <p:cNvSpPr/>
          <p:nvPr/>
        </p:nvSpPr>
        <p:spPr>
          <a:xfrm>
            <a:off x="4163991" y="3838927"/>
            <a:ext cx="244024" cy="0"/>
          </a:xfrm>
          <a:prstGeom prst="line">
            <a:avLst/>
          </a:prstGeom>
          <a:noFill/>
          <a:ln w="22860">
            <a:solidFill>
              <a:srgbClr val="009E73"/>
            </a:solidFill>
            <a:prstDash val="solid"/>
            <a:tailEnd type="triangle"/>
          </a:ln>
        </p:spPr>
      </p:sp>
      <p:sp>
        <p:nvSpPr>
          <p:cNvPr id="10" name="Text 8"/>
          <p:cNvSpPr txBox="1"/>
          <p:nvPr/>
        </p:nvSpPr>
        <p:spPr>
          <a:xfrm>
            <a:off x="348529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groups</a:t>
            </a:r>
            <a:endParaRPr lang="en-US" sz="1441" dirty="0"/>
          </a:p>
        </p:txBody>
      </p:sp>
      <p:sp>
        <p:nvSpPr>
          <p:cNvPr id="11" name="Shape 9"/>
          <p:cNvSpPr/>
          <p:nvPr/>
        </p:nvSpPr>
        <p:spPr>
          <a:xfrm>
            <a:off x="5973836" y="3838927"/>
            <a:ext cx="244024" cy="0"/>
          </a:xfrm>
          <a:prstGeom prst="line">
            <a:avLst/>
          </a:prstGeom>
          <a:noFill/>
          <a:ln w="22860">
            <a:solidFill>
              <a:srgbClr val="009E73"/>
            </a:solidFill>
            <a:prstDash val="solid"/>
            <a:tailEnd type="triangle"/>
          </a:ln>
        </p:spPr>
      </p:sp>
      <p:sp>
        <p:nvSpPr>
          <p:cNvPr id="12" name="Text 10"/>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groups, scale</a:t>
            </a:r>
            <a:endParaRPr lang="en-US" sz="1441" dirty="0"/>
          </a:p>
        </p:txBody>
      </p:sp>
      <p:sp>
        <p:nvSpPr>
          <p:cNvPr id="13" name="Shape 11"/>
          <p:cNvSpPr/>
          <p:nvPr/>
        </p:nvSpPr>
        <p:spPr>
          <a:xfrm>
            <a:off x="7783680" y="3838927"/>
            <a:ext cx="244024" cy="0"/>
          </a:xfrm>
          <a:prstGeom prst="line">
            <a:avLst/>
          </a:prstGeom>
          <a:noFill/>
          <a:ln w="22860">
            <a:solidFill>
              <a:srgbClr val="009E73"/>
            </a:solidFill>
            <a:prstDash val="solid"/>
            <a:tailEnd type="triangle"/>
          </a:ln>
        </p:spPr>
      </p:sp>
      <p:sp>
        <p:nvSpPr>
          <p:cNvPr id="14" name="Text 12"/>
          <p:cNvSpPr txBox="1"/>
          <p:nvPr/>
        </p:nvSpPr>
        <p:spPr>
          <a:xfrm>
            <a:off x="710498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q, scale, groups</a:t>
            </a:r>
            <a:endParaRPr lang="en-US" sz="1441" dirty="0"/>
          </a:p>
        </p:txBody>
      </p:sp>
      <p:sp>
        <p:nvSpPr>
          <p:cNvPr id="15" name="Shape 13"/>
          <p:cNvSpPr/>
          <p:nvPr/>
        </p:nvSpPr>
        <p:spPr>
          <a:xfrm>
            <a:off x="9593525" y="3838927"/>
            <a:ext cx="244024" cy="0"/>
          </a:xfrm>
          <a:prstGeom prst="line">
            <a:avLst/>
          </a:prstGeom>
          <a:noFill/>
          <a:ln w="22860">
            <a:solidFill>
              <a:srgbClr val="009E73"/>
            </a:solidFill>
            <a:prstDash val="solid"/>
            <a:tailEnd type="triangle"/>
          </a:ln>
        </p:spPr>
      </p:sp>
      <p:sp>
        <p:nvSpPr>
          <p:cNvPr id="16" name="Text 14"/>
          <p:cNvSpPr txBox="1"/>
          <p:nvPr/>
        </p:nvSpPr>
        <p:spPr>
          <a:xfrm>
            <a:off x="891483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new, original</a:t>
            </a:r>
            <a:endParaRPr lang="en-US" sz="1441" dirty="0"/>
          </a:p>
        </p:txBody>
      </p:sp>
      <p:sp>
        <p:nvSpPr>
          <p:cNvPr id="17" name="Shape 15"/>
          <p:cNvSpPr/>
          <p:nvPr/>
        </p:nvSpPr>
        <p:spPr>
          <a:xfrm>
            <a:off x="788325" y="2939089"/>
            <a:ext cx="1565821" cy="1799677"/>
          </a:xfrm>
          <a:prstGeom prst="roundRect">
            <a:avLst>
              <a:gd name="adj" fmla="val 4672"/>
            </a:avLst>
          </a:prstGeom>
          <a:solidFill>
            <a:srgbClr val="E4F2FB"/>
          </a:solidFill>
          <a:ln w="15240">
            <a:solidFill>
              <a:srgbClr val="0072B2"/>
            </a:solidFill>
            <a:prstDash val="solid"/>
          </a:ln>
        </p:spPr>
      </p:sp>
      <p:sp>
        <p:nvSpPr>
          <p:cNvPr id="18" name="Text 16"/>
          <p:cNvSpPr txBox="1"/>
          <p:nvPr/>
        </p:nvSpPr>
        <p:spPr>
          <a:xfrm>
            <a:off x="84933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Weights</a:t>
            </a:r>
            <a:endParaRPr lang="en-US" sz="1561" dirty="0"/>
          </a:p>
        </p:txBody>
      </p:sp>
      <p:sp>
        <p:nvSpPr>
          <p:cNvPr id="19" name="Text 17"/>
          <p:cNvSpPr txBox="1"/>
          <p:nvPr/>
        </p:nvSpPr>
        <p:spPr>
          <a:xfrm>
            <a:off x="84933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Float</a:t>
            </a:r>
            <a:endParaRPr lang="en-US" sz="1441" dirty="0"/>
          </a:p>
        </p:txBody>
      </p:sp>
      <p:sp>
        <p:nvSpPr>
          <p:cNvPr id="20" name="Shape 18"/>
          <p:cNvSpPr/>
          <p:nvPr/>
        </p:nvSpPr>
        <p:spPr>
          <a:xfrm>
            <a:off x="2598170" y="2939089"/>
            <a:ext cx="1565821" cy="1799677"/>
          </a:xfrm>
          <a:prstGeom prst="rect">
            <a:avLst/>
          </a:prstGeom>
          <a:solidFill>
            <a:srgbClr val="F2F4F5"/>
          </a:solidFill>
          <a:ln w="15240">
            <a:solidFill>
              <a:srgbClr val="626B73"/>
            </a:solidFill>
            <a:prstDash val="solid"/>
          </a:ln>
        </p:spPr>
      </p:sp>
      <p:sp>
        <p:nvSpPr>
          <p:cNvPr id="21" name="Text 19"/>
          <p:cNvSpPr txBox="1"/>
          <p:nvPr/>
        </p:nvSpPr>
        <p:spPr>
          <a:xfrm>
            <a:off x="265917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Group</a:t>
            </a:r>
            <a:endParaRPr lang="en-US" sz="1561" dirty="0"/>
          </a:p>
        </p:txBody>
      </p:sp>
      <p:sp>
        <p:nvSpPr>
          <p:cNvPr id="22" name="Text 20"/>
          <p:cNvSpPr txBox="1"/>
          <p:nvPr/>
        </p:nvSpPr>
        <p:spPr>
          <a:xfrm>
            <a:off x="265917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[M,g]</a:t>
            </a:r>
            <a:endParaRPr lang="en-US" sz="1441" dirty="0"/>
          </a:p>
        </p:txBody>
      </p:sp>
      <p:sp>
        <p:nvSpPr>
          <p:cNvPr id="23" name="Shape 21"/>
          <p:cNvSpPr/>
          <p:nvPr/>
        </p:nvSpPr>
        <p:spPr>
          <a:xfrm>
            <a:off x="4408015" y="2939089"/>
            <a:ext cx="1565821" cy="1799677"/>
          </a:xfrm>
          <a:prstGeom prst="rect">
            <a:avLst/>
          </a:prstGeom>
          <a:solidFill>
            <a:srgbClr val="F2F4F5"/>
          </a:solidFill>
          <a:ln w="15240">
            <a:solidFill>
              <a:srgbClr val="626B73"/>
            </a:solidFill>
            <a:prstDash val="solid"/>
          </a:ln>
        </p:spPr>
      </p:sp>
      <p:sp>
        <p:nvSpPr>
          <p:cNvPr id="24" name="Text 22"/>
          <p:cNvSpPr txBox="1"/>
          <p:nvPr/>
        </p:nvSpPr>
        <p:spPr>
          <a:xfrm>
            <a:off x="446902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Scale</a:t>
            </a:r>
            <a:endParaRPr lang="en-US" sz="1561" dirty="0"/>
          </a:p>
        </p:txBody>
      </p:sp>
      <p:sp>
        <p:nvSpPr>
          <p:cNvPr id="25" name="Text 23"/>
          <p:cNvSpPr txBox="1"/>
          <p:nvPr/>
        </p:nvSpPr>
        <p:spPr>
          <a:xfrm>
            <a:off x="446902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[M,1]</a:t>
            </a:r>
            <a:endParaRPr lang="en-US" sz="1441" dirty="0"/>
          </a:p>
        </p:txBody>
      </p:sp>
      <p:sp>
        <p:nvSpPr>
          <p:cNvPr id="26" name="Shape 24"/>
          <p:cNvSpPr/>
          <p:nvPr/>
        </p:nvSpPr>
        <p:spPr>
          <a:xfrm>
            <a:off x="6217860" y="2939089"/>
            <a:ext cx="1565821" cy="1799677"/>
          </a:xfrm>
          <a:prstGeom prst="rect">
            <a:avLst/>
          </a:prstGeom>
          <a:solidFill>
            <a:srgbClr val="F2F4F5"/>
          </a:solidFill>
          <a:ln w="15240">
            <a:solidFill>
              <a:srgbClr val="626B73"/>
            </a:solidFill>
            <a:prstDash val="solid"/>
          </a:ln>
        </p:spPr>
      </p:sp>
      <p:sp>
        <p:nvSpPr>
          <p:cNvPr id="27" name="Text 25"/>
          <p:cNvSpPr txBox="1"/>
          <p:nvPr/>
        </p:nvSpPr>
        <p:spPr>
          <a:xfrm>
            <a:off x="627886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Round</a:t>
            </a:r>
            <a:endParaRPr lang="en-US" sz="1561" dirty="0"/>
          </a:p>
        </p:txBody>
      </p:sp>
      <p:sp>
        <p:nvSpPr>
          <p:cNvPr id="28" name="Text 26"/>
          <p:cNvSpPr txBox="1"/>
          <p:nvPr/>
        </p:nvSpPr>
        <p:spPr>
          <a:xfrm>
            <a:off x="627886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Integers</a:t>
            </a:r>
            <a:endParaRPr lang="en-US" sz="1441" dirty="0"/>
          </a:p>
        </p:txBody>
      </p:sp>
      <p:sp>
        <p:nvSpPr>
          <p:cNvPr id="29" name="Shape 27"/>
          <p:cNvSpPr/>
          <p:nvPr/>
        </p:nvSpPr>
        <p:spPr>
          <a:xfrm>
            <a:off x="8027705" y="2939089"/>
            <a:ext cx="1565821" cy="1799677"/>
          </a:xfrm>
          <a:prstGeom prst="roundRect">
            <a:avLst>
              <a:gd name="adj" fmla="val 4672"/>
            </a:avLst>
          </a:prstGeom>
          <a:solidFill>
            <a:srgbClr val="F9EAF4"/>
          </a:solidFill>
          <a:ln w="15240">
            <a:solidFill>
              <a:srgbClr val="CC79A7"/>
            </a:solidFill>
            <a:prstDash val="solid"/>
          </a:ln>
        </p:spPr>
      </p:sp>
      <p:sp>
        <p:nvSpPr>
          <p:cNvPr id="30" name="Text 28"/>
          <p:cNvSpPr txBox="1"/>
          <p:nvPr/>
        </p:nvSpPr>
        <p:spPr>
          <a:xfrm>
            <a:off x="808871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Reconstruct</a:t>
            </a:r>
            <a:endParaRPr lang="en-US" sz="1561" dirty="0"/>
          </a:p>
        </p:txBody>
      </p:sp>
      <p:sp>
        <p:nvSpPr>
          <p:cNvPr id="31" name="Text 29"/>
          <p:cNvSpPr txBox="1"/>
          <p:nvPr/>
        </p:nvSpPr>
        <p:spPr>
          <a:xfrm>
            <a:off x="808871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Float</a:t>
            </a:r>
            <a:endParaRPr lang="en-US" sz="1441" dirty="0"/>
          </a:p>
        </p:txBody>
      </p:sp>
      <p:sp>
        <p:nvSpPr>
          <p:cNvPr id="32" name="Shape 30"/>
          <p:cNvSpPr/>
          <p:nvPr/>
        </p:nvSpPr>
        <p:spPr>
          <a:xfrm>
            <a:off x="9837549" y="2939089"/>
            <a:ext cx="1565821" cy="1799677"/>
          </a:xfrm>
          <a:prstGeom prst="roundRect">
            <a:avLst>
              <a:gd name="adj" fmla="val 4672"/>
            </a:avLst>
          </a:prstGeom>
          <a:solidFill>
            <a:srgbClr val="FFF0E6"/>
          </a:solidFill>
          <a:ln w="15240">
            <a:solidFill>
              <a:srgbClr val="D55E00"/>
            </a:solidFill>
            <a:prstDash val="solid"/>
          </a:ln>
        </p:spPr>
      </p:sp>
      <p:sp>
        <p:nvSpPr>
          <p:cNvPr id="33" name="Text 31"/>
          <p:cNvSpPr txBox="1"/>
          <p:nvPr/>
        </p:nvSpPr>
        <p:spPr>
          <a:xfrm>
            <a:off x="9898555"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Error</a:t>
            </a:r>
            <a:endParaRPr lang="en-US" sz="1561" dirty="0"/>
          </a:p>
        </p:txBody>
      </p:sp>
      <p:sp>
        <p:nvSpPr>
          <p:cNvPr id="34" name="Text 32"/>
          <p:cNvSpPr txBox="1"/>
          <p:nvPr/>
        </p:nvSpPr>
        <p:spPr>
          <a:xfrm>
            <a:off x="9898555"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Relative</a:t>
            </a:r>
            <a:endParaRPr lang="en-US" sz="1441" dirty="0"/>
          </a:p>
        </p:txBody>
      </p:sp>
      <p:sp>
        <p:nvSpPr>
          <p:cNvPr id="35" name="Shape 33"/>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6" name="Text 34"/>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37" name="Shape 35"/>
          <p:cNvSpPr/>
          <p:nvPr/>
        </p:nvSpPr>
        <p:spPr>
          <a:xfrm>
            <a:off x="1676436" y="5630979"/>
            <a:ext cx="198270" cy="198270"/>
          </a:xfrm>
          <a:prstGeom prst="roundRect">
            <a:avLst>
              <a:gd name="adj" fmla="val 36895"/>
            </a:avLst>
          </a:prstGeom>
          <a:solidFill>
            <a:srgbClr val="FFF0E6"/>
          </a:solidFill>
          <a:ln w="15240">
            <a:solidFill>
              <a:srgbClr val="D55E00"/>
            </a:solidFill>
            <a:prstDash val="solid"/>
          </a:ln>
        </p:spPr>
      </p:sp>
      <p:sp>
        <p:nvSpPr>
          <p:cNvPr id="38" name="Text 36"/>
          <p:cNvSpPr txBox="1"/>
          <p:nvPr/>
        </p:nvSpPr>
        <p:spPr>
          <a:xfrm>
            <a:off x="1935711" y="5608101"/>
            <a:ext cx="567330"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Check</a:t>
            </a:r>
            <a:endParaRPr lang="en-US" sz="1441" dirty="0"/>
          </a:p>
        </p:txBody>
      </p:sp>
      <p:sp>
        <p:nvSpPr>
          <p:cNvPr id="39" name="Shape 37"/>
          <p:cNvSpPr/>
          <p:nvPr/>
        </p:nvSpPr>
        <p:spPr>
          <a:xfrm>
            <a:off x="2701310" y="5630979"/>
            <a:ext cx="198270" cy="198270"/>
          </a:xfrm>
          <a:prstGeom prst="roundRect">
            <a:avLst>
              <a:gd name="adj" fmla="val 36895"/>
            </a:avLst>
          </a:prstGeom>
          <a:solidFill>
            <a:srgbClr val="F9EAF4"/>
          </a:solidFill>
          <a:ln w="15240">
            <a:solidFill>
              <a:srgbClr val="CC79A7"/>
            </a:solidFill>
            <a:prstDash val="solid"/>
          </a:ln>
        </p:spPr>
      </p:sp>
      <p:sp>
        <p:nvSpPr>
          <p:cNvPr id="40" name="Text 38"/>
          <p:cNvSpPr txBox="1"/>
          <p:nvPr/>
        </p:nvSpPr>
        <p:spPr>
          <a:xfrm>
            <a:off x="2960586"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41" name="Shape 39"/>
          <p:cNvSpPr/>
          <p:nvPr/>
        </p:nvSpPr>
        <p:spPr>
          <a:xfrm>
            <a:off x="3758008" y="5630979"/>
            <a:ext cx="198270" cy="198270"/>
          </a:xfrm>
          <a:prstGeom prst="rect">
            <a:avLst/>
          </a:prstGeom>
          <a:solidFill>
            <a:srgbClr val="F2F4F5"/>
          </a:solidFill>
          <a:ln w="15240">
            <a:solidFill>
              <a:srgbClr val="626B73"/>
            </a:solidFill>
            <a:prstDash val="solid"/>
          </a:ln>
        </p:spPr>
      </p:sp>
      <p:sp>
        <p:nvSpPr>
          <p:cNvPr id="42" name="Text 40"/>
          <p:cNvSpPr txBox="1"/>
          <p:nvPr/>
        </p:nvSpPr>
        <p:spPr>
          <a:xfrm>
            <a:off x="4017284"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43" name="Shape 41"/>
          <p:cNvSpPr/>
          <p:nvPr/>
        </p:nvSpPr>
        <p:spPr>
          <a:xfrm>
            <a:off x="4614485" y="5730113"/>
            <a:ext cx="335533" cy="0"/>
          </a:xfrm>
          <a:prstGeom prst="line">
            <a:avLst/>
          </a:prstGeom>
          <a:noFill/>
          <a:ln w="22860">
            <a:solidFill>
              <a:srgbClr val="009E73"/>
            </a:solidFill>
            <a:prstDash val="solid"/>
            <a:tailEnd type="triangle"/>
          </a:ln>
        </p:spPr>
      </p:sp>
      <p:sp>
        <p:nvSpPr>
          <p:cNvPr id="44" name="Text 42"/>
          <p:cNvSpPr txBox="1"/>
          <p:nvPr/>
        </p:nvSpPr>
        <p:spPr>
          <a:xfrm>
            <a:off x="5011024"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5" name="Text 43"/>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Weights trained here?</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Quantisation: fewer bits per weight</a:t>
            </a:r>
            <a:endParaRPr lang="en-US" sz="3200" dirty="0"/>
          </a:p>
        </p:txBody>
      </p:sp>
      <p:sp>
        <p:nvSpPr>
          <p:cNvPr id="6" name="Shape 4"/>
          <p:cNvSpPr/>
          <p:nvPr/>
        </p:nvSpPr>
        <p:spPr>
          <a:xfrm>
            <a:off x="548640" y="1481328"/>
            <a:ext cx="11094415" cy="2194560"/>
          </a:xfrm>
          <a:prstGeom prst="roundRect">
            <a:avLst>
              <a:gd name="adj" fmla="val 5000"/>
            </a:avLst>
          </a:prstGeom>
          <a:solidFill>
            <a:srgbClr val="EEF0FF"/>
          </a:solidFill>
          <a:ln w="12700">
            <a:solidFill>
              <a:srgbClr val="EEF0FF"/>
            </a:solidFill>
            <a:prstDash val="solid"/>
          </a:ln>
        </p:spPr>
      </p:sp>
      <p:pic>
        <p:nvPicPr>
          <p:cNvPr id="7" name="Image 0" descr="C:\Users\sudee\Downloads\Generative_AI_2027_Teaching_Pack\AI2027_Project\build\eq\89be2711bf5df324.png">    </p:cNvPr>
          <p:cNvPicPr>
            <a:picLocks noChangeAspect="1"/>
          </p:cNvPicPr>
          <p:nvPr/>
        </p:nvPicPr>
        <p:blipFill>
          <a:blip r:embed="rId1"/>
          <a:stretch>
            <a:fillRect/>
          </a:stretch>
        </p:blipFill>
        <p:spPr>
          <a:xfrm>
            <a:off x="4193896" y="1766824"/>
            <a:ext cx="3803904" cy="655320"/>
          </a:xfrm>
          <a:prstGeom prst="rect">
            <a:avLst/>
          </a:prstGeom>
        </p:spPr>
      </p:pic>
      <p:pic>
        <p:nvPicPr>
          <p:cNvPr id="8" name="Image 1" descr="C:\Users\sudee\Downloads\Generative_AI_2027_Teaching_Pack\AI2027_Project\build\eq\844edfb801b1b361.png">    </p:cNvPr>
          <p:cNvPicPr>
            <a:picLocks noChangeAspect="1"/>
          </p:cNvPicPr>
          <p:nvPr/>
        </p:nvPicPr>
        <p:blipFill>
          <a:blip r:embed="rId2"/>
          <a:stretch>
            <a:fillRect/>
          </a:stretch>
        </p:blipFill>
        <p:spPr>
          <a:xfrm>
            <a:off x="3239872" y="2661920"/>
            <a:ext cx="5711952" cy="728472"/>
          </a:xfrm>
          <a:prstGeom prst="rect">
            <a:avLst/>
          </a:prstGeom>
        </p:spPr>
      </p:pic>
      <p:sp>
        <p:nvSpPr>
          <p:cNvPr id="9" name="Text 5"/>
          <p:cNvSpPr txBox="1"/>
          <p:nvPr/>
        </p:nvSpPr>
        <p:spPr>
          <a:xfrm>
            <a:off x="548640" y="390448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10" name="Text 6"/>
          <p:cNvSpPr txBox="1"/>
          <p:nvPr/>
        </p:nvSpPr>
        <p:spPr>
          <a:xfrm>
            <a:off x="548640" y="4288536"/>
            <a:ext cx="6035040" cy="199339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Weights: parameters × bits/8, before overhead.</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Scale → round → reconstruct.</a:t>
            </a:r>
            <a:endParaRPr lang="en-US" sz="2000" dirty="0"/>
          </a:p>
        </p:txBody>
      </p:sp>
      <p:sp>
        <p:nvSpPr>
          <p:cNvPr id="11" name="Text 7"/>
          <p:cNvSpPr txBox="1"/>
          <p:nvPr/>
        </p:nvSpPr>
        <p:spPr>
          <a:xfrm>
            <a:off x="6858000" y="390448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2" name="Text 8"/>
          <p:cNvSpPr txBox="1"/>
          <p:nvPr/>
        </p:nvSpPr>
        <p:spPr>
          <a:xfrm>
            <a:off x="6858000" y="4315968"/>
            <a:ext cx="1143000" cy="332232"/>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N</a:t>
            </a:r>
            <a:endParaRPr lang="en-US" sz="1500" dirty="0"/>
          </a:p>
        </p:txBody>
      </p:sp>
      <p:sp>
        <p:nvSpPr>
          <p:cNvPr id="13" name="Text 9"/>
          <p:cNvSpPr txBox="1"/>
          <p:nvPr/>
        </p:nvSpPr>
        <p:spPr>
          <a:xfrm>
            <a:off x="8046720" y="4315968"/>
            <a:ext cx="3596335" cy="332232"/>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Parameter count</a:t>
            </a:r>
            <a:endParaRPr lang="en-US" sz="1400" dirty="0"/>
          </a:p>
        </p:txBody>
      </p:sp>
      <p:sp>
        <p:nvSpPr>
          <p:cNvPr id="14" name="Text 10"/>
          <p:cNvSpPr txBox="1"/>
          <p:nvPr/>
        </p:nvSpPr>
        <p:spPr>
          <a:xfrm>
            <a:off x="6858000" y="4648200"/>
            <a:ext cx="1143000" cy="332232"/>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w</a:t>
            </a:r>
            <a:endParaRPr lang="en-US" sz="1500" dirty="0"/>
          </a:p>
        </p:txBody>
      </p:sp>
      <p:sp>
        <p:nvSpPr>
          <p:cNvPr id="15" name="Text 11"/>
          <p:cNvSpPr txBox="1"/>
          <p:nvPr/>
        </p:nvSpPr>
        <p:spPr>
          <a:xfrm>
            <a:off x="8046720" y="4648200"/>
            <a:ext cx="3596335" cy="332232"/>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Original weights</a:t>
            </a:r>
            <a:endParaRPr lang="en-US" sz="1400" dirty="0"/>
          </a:p>
        </p:txBody>
      </p:sp>
      <p:sp>
        <p:nvSpPr>
          <p:cNvPr id="16" name="Text 12"/>
          <p:cNvSpPr txBox="1"/>
          <p:nvPr/>
        </p:nvSpPr>
        <p:spPr>
          <a:xfrm>
            <a:off x="6858000" y="4980432"/>
            <a:ext cx="1143000" cy="332232"/>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b</a:t>
            </a:r>
            <a:endParaRPr lang="en-US" sz="1500" dirty="0"/>
          </a:p>
        </p:txBody>
      </p:sp>
      <p:sp>
        <p:nvSpPr>
          <p:cNvPr id="17" name="Text 13"/>
          <p:cNvSpPr txBox="1"/>
          <p:nvPr/>
        </p:nvSpPr>
        <p:spPr>
          <a:xfrm>
            <a:off x="8046720" y="4980432"/>
            <a:ext cx="3596335" cy="332232"/>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Bits</a:t>
            </a:r>
            <a:endParaRPr lang="en-US" sz="1400" dirty="0"/>
          </a:p>
        </p:txBody>
      </p:sp>
      <p:sp>
        <p:nvSpPr>
          <p:cNvPr id="18" name="Text 14"/>
          <p:cNvSpPr txBox="1"/>
          <p:nvPr/>
        </p:nvSpPr>
        <p:spPr>
          <a:xfrm>
            <a:off x="6858000" y="5312664"/>
            <a:ext cx="1143000" cy="332232"/>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s</a:t>
            </a:r>
            <a:endParaRPr lang="en-US" sz="1500" dirty="0"/>
          </a:p>
        </p:txBody>
      </p:sp>
      <p:sp>
        <p:nvSpPr>
          <p:cNvPr id="19" name="Text 15"/>
          <p:cNvSpPr txBox="1"/>
          <p:nvPr/>
        </p:nvSpPr>
        <p:spPr>
          <a:xfrm>
            <a:off x="8046720" y="5312664"/>
            <a:ext cx="3596335" cy="332232"/>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Scale</a:t>
            </a:r>
            <a:endParaRPr lang="en-US" sz="1400" dirty="0"/>
          </a:p>
        </p:txBody>
      </p:sp>
      <p:sp>
        <p:nvSpPr>
          <p:cNvPr id="20" name="Text 16"/>
          <p:cNvSpPr txBox="1"/>
          <p:nvPr/>
        </p:nvSpPr>
        <p:spPr>
          <a:xfrm>
            <a:off x="6858000" y="5644896"/>
            <a:ext cx="1143000" cy="332232"/>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q</a:t>
            </a:r>
            <a:endParaRPr lang="en-US" sz="1500" dirty="0"/>
          </a:p>
        </p:txBody>
      </p:sp>
      <p:sp>
        <p:nvSpPr>
          <p:cNvPr id="21" name="Text 17"/>
          <p:cNvSpPr txBox="1"/>
          <p:nvPr/>
        </p:nvSpPr>
        <p:spPr>
          <a:xfrm>
            <a:off x="8046720" y="5644896"/>
            <a:ext cx="3596335" cy="332232"/>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Rounded integer</a:t>
            </a:r>
            <a:endParaRPr lang="en-US" sz="1400" dirty="0"/>
          </a:p>
        </p:txBody>
      </p:sp>
      <p:sp>
        <p:nvSpPr>
          <p:cNvPr id="22" name="Text 18"/>
          <p:cNvSpPr txBox="1"/>
          <p:nvPr/>
        </p:nvSpPr>
        <p:spPr>
          <a:xfrm>
            <a:off x="6858000" y="5977128"/>
            <a:ext cx="1143000" cy="332232"/>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ŵ</a:t>
            </a:r>
            <a:endParaRPr lang="en-US" sz="1500" dirty="0"/>
          </a:p>
        </p:txBody>
      </p:sp>
      <p:sp>
        <p:nvSpPr>
          <p:cNvPr id="23" name="Text 19"/>
          <p:cNvSpPr txBox="1"/>
          <p:nvPr/>
        </p:nvSpPr>
        <p:spPr>
          <a:xfrm>
            <a:off x="8046720" y="5977128"/>
            <a:ext cx="3596335" cy="332232"/>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Reconstruction</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Stored GPU run: rounding and perplexity</a:t>
            </a:r>
            <a:endParaRPr lang="en-US" sz="3200" dirty="0"/>
          </a:p>
        </p:txBody>
      </p:sp>
      <p:pic>
        <p:nvPicPr>
          <p:cNvPr id="6" name="Image 0" descr="C:\Users\sudee\Downloads\Generative_AI_2027_Teaching_Pack\AI2027_Project\build\figures\week_11\lab_quant.png">    </p:cNvPr>
          <p:cNvPicPr>
            <a:picLocks noChangeAspect="1"/>
          </p:cNvPicPr>
          <p:nvPr/>
        </p:nvPicPr>
        <p:blipFill>
          <a:blip r:embed="rId1"/>
          <a:stretch>
            <a:fillRect/>
          </a:stretch>
        </p:blipFill>
        <p:spPr>
          <a:xfrm>
            <a:off x="770426" y="1481328"/>
            <a:ext cx="10650844" cy="3065526"/>
          </a:xfrm>
          <a:prstGeom prst="rect">
            <a:avLst/>
          </a:prstGeom>
        </p:spPr>
      </p:pic>
      <p:sp>
        <p:nvSpPr>
          <p:cNvPr id="7" name="Text 4"/>
          <p:cNvSpPr txBox="1"/>
          <p:nvPr/>
        </p:nvSpPr>
        <p:spPr>
          <a:xfrm>
            <a:off x="548640" y="4729734"/>
            <a:ext cx="11094415" cy="1168146"/>
          </a:xfrm>
          <a:prstGeom prst="rect">
            <a:avLst/>
          </a:prstGeom>
          <a:noFill/>
          <a:ln/>
        </p:spPr>
        <p:txBody>
          <a:bodyPr wrap="square" lIns="50800" tIns="50800" rIns="50800" bIns="5080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Perplexity: fp16 52.3 (≈ 988 MB); int8 per row 55.0 (≈ 494 MB); int4 per row 97.5 (≈ 247 MB); int4 groups of 64 65.0 (≈ 262 MB).</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Reconstructed floats; theoretical size.</a:t>
            </a:r>
            <a:endParaRPr lang="en-US" sz="1800" dirty="0"/>
          </a:p>
        </p:txBody>
      </p:sp>
      <p:sp>
        <p:nvSpPr>
          <p:cNvPr id="8" name="Text 5"/>
          <p:cNvSpPr txBox="1"/>
          <p:nvPr/>
        </p:nvSpPr>
        <p:spPr>
          <a:xfrm>
            <a:off x="548640" y="5916168"/>
            <a:ext cx="11094415" cy="384048"/>
          </a:xfrm>
          <a:prstGeom prst="rect">
            <a:avLst/>
          </a:prstGeom>
          <a:noFill/>
          <a:ln/>
        </p:spPr>
        <p:txBody>
          <a:bodyPr wrap="square" lIns="50800" tIns="50800" rIns="50800" bIns="50800" rtlCol="0" anchor="t"/>
          <a:lstStyle/>
          <a:p>
            <a:pPr algn="ctr" indent="0" marL="0">
              <a:buNone/>
            </a:pPr>
            <a:r>
              <a:rPr lang="en-US" sz="1400" i="1" dirty="0">
                <a:solidFill>
                  <a:srgbClr val="6B7280"/>
                </a:solidFill>
                <a:latin typeface="Calibri" pitchFamily="34" charset="0"/>
                <a:ea typeface="Calibri" pitchFamily="34" charset="-122"/>
                <a:cs typeface="Calibri" pitchFamily="34" charset="-120"/>
              </a:rPr>
              <a:t>Qwen2.5-0.5B-Instruct · GTX 1650 · 9 Oct 2026</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Stored GPU run: batch throughput</a:t>
            </a:r>
            <a:endParaRPr lang="en-US" sz="3200" dirty="0"/>
          </a:p>
        </p:txBody>
      </p:sp>
      <p:pic>
        <p:nvPicPr>
          <p:cNvPr id="6" name="Image 0" descr="C:\Users\sudee\Downloads\Generative_AI_2027_Teaching_Pack\AI2027_Project\build\figures\week_11\lab_batch.png">    </p:cNvPr>
          <p:cNvPicPr>
            <a:picLocks noChangeAspect="1"/>
          </p:cNvPicPr>
          <p:nvPr/>
        </p:nvPicPr>
        <p:blipFill>
          <a:blip r:embed="rId1"/>
          <a:stretch>
            <a:fillRect/>
          </a:stretch>
        </p:blipFill>
        <p:spPr>
          <a:xfrm>
            <a:off x="548640" y="1526573"/>
            <a:ext cx="11094415" cy="3260786"/>
          </a:xfrm>
          <a:prstGeom prst="rect">
            <a:avLst/>
          </a:prstGeom>
        </p:spPr>
      </p:pic>
      <p:sp>
        <p:nvSpPr>
          <p:cNvPr id="7" name="Text 4"/>
          <p:cNvSpPr txBox="1"/>
          <p:nvPr/>
        </p:nvSpPr>
        <p:spPr>
          <a:xfrm>
            <a:off x="548640" y="4970239"/>
            <a:ext cx="11094415" cy="927641"/>
          </a:xfrm>
          <a:prstGeom prst="rect">
            <a:avLst/>
          </a:prstGeom>
          <a:noFill/>
          <a:ln/>
        </p:spPr>
        <p:txBody>
          <a:bodyPr wrap="square" lIns="50800" tIns="50800" rIns="50800" bIns="50800" rtlCol="0" anchor="t"/>
          <a:lstStyle/>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13.2 tokens/s at batch 1 → 86.2 tokens/s at batch 8 (6.5× on an NVIDIA GTX 1650 laptop GPU).</a:t>
            </a:r>
            <a:endParaRPr lang="en-US" sz="1900" dirty="0"/>
          </a:p>
          <a:p>
            <a:pPr marL="254000" indent="-254000">
              <a:spcAft>
                <a:spcPts val="800"/>
              </a:spcAft>
              <a:buSzPct val="100000"/>
              <a:buChar char="●"/>
            </a:pPr>
            <a:r>
              <a:rPr lang="en-US" sz="1900" dirty="0">
                <a:solidFill>
                  <a:srgbClr val="1F2937"/>
                </a:solidFill>
                <a:latin typeface="Calibri" pitchFamily="34" charset="0"/>
                <a:ea typeface="Calibri" pitchFamily="34" charset="-122"/>
                <a:cs typeface="Calibri" pitchFamily="34" charset="-120"/>
              </a:rPr>
              <a:t>Throughput differs from individual wait.</a:t>
            </a:r>
            <a:endParaRPr lang="en-US" sz="1900" dirty="0"/>
          </a:p>
        </p:txBody>
      </p:sp>
      <p:sp>
        <p:nvSpPr>
          <p:cNvPr id="8" name="Text 5"/>
          <p:cNvSpPr txBox="1"/>
          <p:nvPr/>
        </p:nvSpPr>
        <p:spPr>
          <a:xfrm>
            <a:off x="548640" y="5916168"/>
            <a:ext cx="11094415" cy="384048"/>
          </a:xfrm>
          <a:prstGeom prst="rect">
            <a:avLst/>
          </a:prstGeom>
          <a:noFill/>
          <a:ln/>
        </p:spPr>
        <p:txBody>
          <a:bodyPr wrap="square" lIns="50800" tIns="50800" rIns="50800" bIns="50800" rtlCol="0" anchor="t"/>
          <a:lstStyle/>
          <a:p>
            <a:pPr algn="ctr" indent="0" marL="0">
              <a:buNone/>
            </a:pPr>
            <a:r>
              <a:rPr lang="en-US" sz="1400" i="1" dirty="0">
                <a:solidFill>
                  <a:srgbClr val="6B7280"/>
                </a:solidFill>
                <a:latin typeface="Calibri" pitchFamily="34" charset="0"/>
                <a:ea typeface="Calibri" pitchFamily="34" charset="-122"/>
                <a:cs typeface="Calibri" pitchFamily="34" charset="-120"/>
              </a:rPr>
              <a:t>Qwen2.5-0.5B-Instruct · GTX 1650 · 9 Oct 2026</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Response cache hit or miss</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Same request identity</a:t>
            </a:r>
            <a:endParaRPr lang="en-US" sz="1800" dirty="0"/>
          </a:p>
        </p:txBody>
      </p:sp>
      <p:sp>
        <p:nvSpPr>
          <p:cNvPr id="7" name="Shape 5"/>
          <p:cNvSpPr/>
          <p:nvPr/>
        </p:nvSpPr>
        <p:spPr>
          <a:xfrm>
            <a:off x="2716115" y="3838927"/>
            <a:ext cx="244024" cy="0"/>
          </a:xfrm>
          <a:prstGeom prst="line">
            <a:avLst/>
          </a:prstGeom>
          <a:noFill/>
          <a:ln w="22860">
            <a:solidFill>
              <a:srgbClr val="009E73"/>
            </a:solidFill>
            <a:prstDash val="solid"/>
            <a:tailEnd type="triangle"/>
          </a:ln>
        </p:spPr>
      </p:sp>
      <p:sp>
        <p:nvSpPr>
          <p:cNvPr id="8" name="Text 6"/>
          <p:cNvSpPr txBox="1"/>
          <p:nvPr/>
        </p:nvSpPr>
        <p:spPr>
          <a:xfrm>
            <a:off x="2037423"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fields</a:t>
            </a:r>
            <a:endParaRPr lang="en-US" sz="1441" dirty="0"/>
          </a:p>
        </p:txBody>
      </p:sp>
      <p:sp>
        <p:nvSpPr>
          <p:cNvPr id="9" name="Shape 7"/>
          <p:cNvSpPr/>
          <p:nvPr/>
        </p:nvSpPr>
        <p:spPr>
          <a:xfrm>
            <a:off x="4887929" y="3838927"/>
            <a:ext cx="244024" cy="0"/>
          </a:xfrm>
          <a:prstGeom prst="line">
            <a:avLst/>
          </a:prstGeom>
          <a:noFill/>
          <a:ln w="22860">
            <a:solidFill>
              <a:srgbClr val="009E73"/>
            </a:solidFill>
            <a:prstDash val="solid"/>
            <a:tailEnd type="triangle"/>
          </a:ln>
        </p:spPr>
      </p:sp>
      <p:sp>
        <p:nvSpPr>
          <p:cNvPr id="10" name="Text 8"/>
          <p:cNvSpPr txBox="1"/>
          <p:nvPr/>
        </p:nvSpPr>
        <p:spPr>
          <a:xfrm>
            <a:off x="4209237"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key</a:t>
            </a:r>
            <a:endParaRPr lang="en-US" sz="1441" dirty="0"/>
          </a:p>
        </p:txBody>
      </p:sp>
      <p:sp>
        <p:nvSpPr>
          <p:cNvPr id="11" name="Shape 9"/>
          <p:cNvSpPr/>
          <p:nvPr/>
        </p:nvSpPr>
        <p:spPr>
          <a:xfrm>
            <a:off x="7059743" y="3838927"/>
            <a:ext cx="244024" cy="0"/>
          </a:xfrm>
          <a:prstGeom prst="line">
            <a:avLst/>
          </a:prstGeom>
          <a:noFill/>
          <a:ln w="22860">
            <a:solidFill>
              <a:srgbClr val="009E73"/>
            </a:solidFill>
            <a:prstDash val="solid"/>
            <a:tailEnd type="triangle"/>
          </a:ln>
        </p:spPr>
      </p:sp>
      <p:sp>
        <p:nvSpPr>
          <p:cNvPr id="12" name="Text 10"/>
          <p:cNvSpPr txBox="1"/>
          <p:nvPr/>
        </p:nvSpPr>
        <p:spPr>
          <a:xfrm>
            <a:off x="638105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miss</a:t>
            </a:r>
            <a:endParaRPr lang="en-US" sz="1441" dirty="0"/>
          </a:p>
        </p:txBody>
      </p:sp>
      <p:sp>
        <p:nvSpPr>
          <p:cNvPr id="13" name="Shape 11"/>
          <p:cNvSpPr/>
          <p:nvPr/>
        </p:nvSpPr>
        <p:spPr>
          <a:xfrm>
            <a:off x="9231556" y="3838927"/>
            <a:ext cx="244024" cy="0"/>
          </a:xfrm>
          <a:prstGeom prst="line">
            <a:avLst/>
          </a:prstGeom>
          <a:noFill/>
          <a:ln w="22860">
            <a:solidFill>
              <a:srgbClr val="009E73"/>
            </a:solidFill>
            <a:prstDash val="solid"/>
            <a:tailEnd type="triangle"/>
          </a:ln>
        </p:spPr>
      </p:sp>
      <p:sp>
        <p:nvSpPr>
          <p:cNvPr id="14" name="Text 12"/>
          <p:cNvSpPr txBox="1"/>
          <p:nvPr/>
        </p:nvSpPr>
        <p:spPr>
          <a:xfrm>
            <a:off x="8552865"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answer</a:t>
            </a:r>
            <a:endParaRPr lang="en-US" sz="1441" dirty="0"/>
          </a:p>
        </p:txBody>
      </p:sp>
      <p:sp>
        <p:nvSpPr>
          <p:cNvPr id="15" name="Shape 13"/>
          <p:cNvSpPr/>
          <p:nvPr/>
        </p:nvSpPr>
        <p:spPr>
          <a:xfrm>
            <a:off x="6095848" y="4738766"/>
            <a:ext cx="0" cy="198270"/>
          </a:xfrm>
          <a:prstGeom prst="line">
            <a:avLst/>
          </a:prstGeom>
          <a:noFill/>
          <a:ln w="22860">
            <a:solidFill>
              <a:srgbClr val="0072B2"/>
            </a:solidFill>
            <a:prstDash val="solid"/>
          </a:ln>
        </p:spPr>
      </p:sp>
      <p:sp>
        <p:nvSpPr>
          <p:cNvPr id="16" name="Shape 14"/>
          <p:cNvSpPr/>
          <p:nvPr/>
        </p:nvSpPr>
        <p:spPr>
          <a:xfrm>
            <a:off x="6095848" y="4937035"/>
            <a:ext cx="4343628" cy="0"/>
          </a:xfrm>
          <a:prstGeom prst="line">
            <a:avLst/>
          </a:prstGeom>
          <a:noFill/>
          <a:ln w="22860">
            <a:solidFill>
              <a:srgbClr val="0072B2"/>
            </a:solidFill>
            <a:prstDash val="solid"/>
          </a:ln>
        </p:spPr>
      </p:sp>
      <p:sp>
        <p:nvSpPr>
          <p:cNvPr id="17" name="Shape 15"/>
          <p:cNvSpPr/>
          <p:nvPr/>
        </p:nvSpPr>
        <p:spPr>
          <a:xfrm flipV="1">
            <a:off x="10439475" y="4738766"/>
            <a:ext cx="0" cy="198270"/>
          </a:xfrm>
          <a:prstGeom prst="line">
            <a:avLst/>
          </a:prstGeom>
          <a:noFill/>
          <a:ln w="22860">
            <a:solidFill>
              <a:srgbClr val="0072B2"/>
            </a:solidFill>
            <a:prstDash val="solid"/>
            <a:tailEnd type="triangle"/>
          </a:ln>
        </p:spPr>
      </p:sp>
      <p:sp>
        <p:nvSpPr>
          <p:cNvPr id="18" name="Text 16"/>
          <p:cNvSpPr txBox="1"/>
          <p:nvPr/>
        </p:nvSpPr>
        <p:spPr>
          <a:xfrm>
            <a:off x="8137143" y="4967538"/>
            <a:ext cx="261037"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hit</a:t>
            </a:r>
            <a:endParaRPr lang="en-US" sz="1441" dirty="0"/>
          </a:p>
        </p:txBody>
      </p:sp>
      <p:sp>
        <p:nvSpPr>
          <p:cNvPr id="19" name="Shape 17"/>
          <p:cNvSpPr/>
          <p:nvPr/>
        </p:nvSpPr>
        <p:spPr>
          <a:xfrm>
            <a:off x="788325" y="2939089"/>
            <a:ext cx="1927790" cy="1799677"/>
          </a:xfrm>
          <a:prstGeom prst="roundRect">
            <a:avLst>
              <a:gd name="adj" fmla="val 4065"/>
            </a:avLst>
          </a:prstGeom>
          <a:solidFill>
            <a:srgbClr val="E4F2FB"/>
          </a:solidFill>
          <a:ln w="15240">
            <a:solidFill>
              <a:srgbClr val="0072B2"/>
            </a:solidFill>
            <a:prstDash val="solid"/>
          </a:ln>
        </p:spPr>
      </p:sp>
      <p:sp>
        <p:nvSpPr>
          <p:cNvPr id="20" name="Text 18"/>
          <p:cNvSpPr txBox="1"/>
          <p:nvPr/>
        </p:nvSpPr>
        <p:spPr>
          <a:xfrm>
            <a:off x="849331"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Request</a:t>
            </a:r>
            <a:endParaRPr lang="en-US" sz="1561" dirty="0"/>
          </a:p>
        </p:txBody>
      </p:sp>
      <p:sp>
        <p:nvSpPr>
          <p:cNvPr id="21" name="Text 19"/>
          <p:cNvSpPr txBox="1"/>
          <p:nvPr/>
        </p:nvSpPr>
        <p:spPr>
          <a:xfrm>
            <a:off x="849331"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Model/messages/cap</a:t>
            </a:r>
            <a:endParaRPr lang="en-US" sz="1441" dirty="0"/>
          </a:p>
        </p:txBody>
      </p:sp>
      <p:sp>
        <p:nvSpPr>
          <p:cNvPr id="22" name="Shape 20"/>
          <p:cNvSpPr/>
          <p:nvPr/>
        </p:nvSpPr>
        <p:spPr>
          <a:xfrm>
            <a:off x="2960139" y="2939089"/>
            <a:ext cx="1927790" cy="1799677"/>
          </a:xfrm>
          <a:prstGeom prst="rect">
            <a:avLst/>
          </a:prstGeom>
          <a:solidFill>
            <a:srgbClr val="F2F4F5"/>
          </a:solidFill>
          <a:ln w="15240">
            <a:solidFill>
              <a:srgbClr val="626B73"/>
            </a:solidFill>
            <a:prstDash val="solid"/>
          </a:ln>
        </p:spPr>
      </p:sp>
      <p:sp>
        <p:nvSpPr>
          <p:cNvPr id="23" name="Text 21"/>
          <p:cNvSpPr txBox="1"/>
          <p:nvPr/>
        </p:nvSpPr>
        <p:spPr>
          <a:xfrm>
            <a:off x="3021145"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Key</a:t>
            </a:r>
            <a:endParaRPr lang="en-US" sz="1561" dirty="0"/>
          </a:p>
        </p:txBody>
      </p:sp>
      <p:sp>
        <p:nvSpPr>
          <p:cNvPr id="24" name="Text 22"/>
          <p:cNvSpPr txBox="1"/>
          <p:nvPr/>
        </p:nvSpPr>
        <p:spPr>
          <a:xfrm>
            <a:off x="3021145"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Hash</a:t>
            </a:r>
            <a:endParaRPr lang="en-US" sz="1441" dirty="0"/>
          </a:p>
        </p:txBody>
      </p:sp>
      <p:sp>
        <p:nvSpPr>
          <p:cNvPr id="25" name="Shape 23"/>
          <p:cNvSpPr/>
          <p:nvPr/>
        </p:nvSpPr>
        <p:spPr>
          <a:xfrm>
            <a:off x="5131953" y="2939089"/>
            <a:ext cx="1927790" cy="1799677"/>
          </a:xfrm>
          <a:prstGeom prst="rect">
            <a:avLst/>
          </a:prstGeom>
          <a:solidFill>
            <a:srgbClr val="F2F4F5"/>
          </a:solidFill>
          <a:ln w="15240">
            <a:solidFill>
              <a:srgbClr val="626B73"/>
            </a:solidFill>
            <a:prstDash val="solid"/>
          </a:ln>
        </p:spPr>
      </p:sp>
      <p:sp>
        <p:nvSpPr>
          <p:cNvPr id="26" name="Text 24"/>
          <p:cNvSpPr txBox="1"/>
          <p:nvPr/>
        </p:nvSpPr>
        <p:spPr>
          <a:xfrm>
            <a:off x="5192959"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Lookup</a:t>
            </a:r>
            <a:endParaRPr lang="en-US" sz="1561" dirty="0"/>
          </a:p>
        </p:txBody>
      </p:sp>
      <p:sp>
        <p:nvSpPr>
          <p:cNvPr id="27" name="Text 25"/>
          <p:cNvSpPr txBox="1"/>
          <p:nvPr/>
        </p:nvSpPr>
        <p:spPr>
          <a:xfrm>
            <a:off x="5192959"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Dictionary</a:t>
            </a:r>
            <a:endParaRPr lang="en-US" sz="1441" dirty="0"/>
          </a:p>
        </p:txBody>
      </p:sp>
      <p:sp>
        <p:nvSpPr>
          <p:cNvPr id="28" name="Shape 26"/>
          <p:cNvSpPr/>
          <p:nvPr/>
        </p:nvSpPr>
        <p:spPr>
          <a:xfrm>
            <a:off x="7303767" y="2939089"/>
            <a:ext cx="1927790" cy="1799677"/>
          </a:xfrm>
          <a:prstGeom prst="rect">
            <a:avLst/>
          </a:prstGeom>
          <a:solidFill>
            <a:srgbClr val="E5F7EF"/>
          </a:solidFill>
          <a:ln w="15240">
            <a:solidFill>
              <a:srgbClr val="009E73"/>
            </a:solidFill>
            <a:prstDash val="solid"/>
          </a:ln>
        </p:spPr>
      </p:sp>
      <p:sp>
        <p:nvSpPr>
          <p:cNvPr id="29" name="Text 27"/>
          <p:cNvSpPr txBox="1"/>
          <p:nvPr/>
        </p:nvSpPr>
        <p:spPr>
          <a:xfrm>
            <a:off x="7364773"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Generate / store</a:t>
            </a:r>
            <a:endParaRPr lang="en-US" sz="1561" dirty="0"/>
          </a:p>
        </p:txBody>
      </p:sp>
      <p:sp>
        <p:nvSpPr>
          <p:cNvPr id="30" name="Text 28"/>
          <p:cNvSpPr txBox="1"/>
          <p:nvPr/>
        </p:nvSpPr>
        <p:spPr>
          <a:xfrm>
            <a:off x="7364773"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Miss only</a:t>
            </a:r>
            <a:endParaRPr lang="en-US" sz="1441" dirty="0"/>
          </a:p>
        </p:txBody>
      </p:sp>
      <p:sp>
        <p:nvSpPr>
          <p:cNvPr id="31" name="Shape 29"/>
          <p:cNvSpPr/>
          <p:nvPr/>
        </p:nvSpPr>
        <p:spPr>
          <a:xfrm>
            <a:off x="9475580" y="2939089"/>
            <a:ext cx="1927790" cy="1799677"/>
          </a:xfrm>
          <a:prstGeom prst="roundRect">
            <a:avLst>
              <a:gd name="adj" fmla="val 4065"/>
            </a:avLst>
          </a:prstGeom>
          <a:solidFill>
            <a:srgbClr val="F9EAF4"/>
          </a:solidFill>
          <a:ln w="15240">
            <a:solidFill>
              <a:srgbClr val="CC79A7"/>
            </a:solidFill>
            <a:prstDash val="solid"/>
          </a:ln>
        </p:spPr>
      </p:sp>
      <p:sp>
        <p:nvSpPr>
          <p:cNvPr id="32" name="Text 30"/>
          <p:cNvSpPr txBox="1"/>
          <p:nvPr/>
        </p:nvSpPr>
        <p:spPr>
          <a:xfrm>
            <a:off x="9536586"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Return</a:t>
            </a:r>
            <a:endParaRPr lang="en-US" sz="1561" dirty="0"/>
          </a:p>
        </p:txBody>
      </p:sp>
      <p:sp>
        <p:nvSpPr>
          <p:cNvPr id="33" name="Text 31"/>
          <p:cNvSpPr txBox="1"/>
          <p:nvPr/>
        </p:nvSpPr>
        <p:spPr>
          <a:xfrm>
            <a:off x="9536586"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Answer</a:t>
            </a:r>
            <a:endParaRPr lang="en-US" sz="1441" dirty="0"/>
          </a:p>
        </p:txBody>
      </p:sp>
      <p:sp>
        <p:nvSpPr>
          <p:cNvPr id="34" name="Shape 32"/>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5" name="Text 33"/>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36" name="Shape 34"/>
          <p:cNvSpPr/>
          <p:nvPr/>
        </p:nvSpPr>
        <p:spPr>
          <a:xfrm>
            <a:off x="1676436" y="5630979"/>
            <a:ext cx="198270" cy="198270"/>
          </a:xfrm>
          <a:prstGeom prst="rect">
            <a:avLst/>
          </a:prstGeom>
          <a:solidFill>
            <a:srgbClr val="E5F7EF"/>
          </a:solidFill>
          <a:ln w="15240">
            <a:solidFill>
              <a:srgbClr val="009E73"/>
            </a:solidFill>
            <a:prstDash val="solid"/>
          </a:ln>
        </p:spPr>
      </p:sp>
      <p:sp>
        <p:nvSpPr>
          <p:cNvPr id="37" name="Text 35"/>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38" name="Shape 36"/>
          <p:cNvSpPr/>
          <p:nvPr/>
        </p:nvSpPr>
        <p:spPr>
          <a:xfrm>
            <a:off x="2680284" y="5630979"/>
            <a:ext cx="198270" cy="198270"/>
          </a:xfrm>
          <a:prstGeom prst="roundRect">
            <a:avLst>
              <a:gd name="adj" fmla="val 36895"/>
            </a:avLst>
          </a:prstGeom>
          <a:solidFill>
            <a:srgbClr val="F9EAF4"/>
          </a:solidFill>
          <a:ln w="15240">
            <a:solidFill>
              <a:srgbClr val="CC79A7"/>
            </a:solidFill>
            <a:prstDash val="solid"/>
          </a:ln>
        </p:spPr>
      </p:sp>
      <p:sp>
        <p:nvSpPr>
          <p:cNvPr id="39" name="Text 37"/>
          <p:cNvSpPr txBox="1"/>
          <p:nvPr/>
        </p:nvSpPr>
        <p:spPr>
          <a:xfrm>
            <a:off x="2939560"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40" name="Shape 38"/>
          <p:cNvSpPr/>
          <p:nvPr/>
        </p:nvSpPr>
        <p:spPr>
          <a:xfrm>
            <a:off x="3736982" y="5630979"/>
            <a:ext cx="198270" cy="198270"/>
          </a:xfrm>
          <a:prstGeom prst="rect">
            <a:avLst/>
          </a:prstGeom>
          <a:solidFill>
            <a:srgbClr val="F2F4F5"/>
          </a:solidFill>
          <a:ln w="15240">
            <a:solidFill>
              <a:srgbClr val="626B73"/>
            </a:solidFill>
            <a:prstDash val="solid"/>
          </a:ln>
        </p:spPr>
      </p:sp>
      <p:sp>
        <p:nvSpPr>
          <p:cNvPr id="41" name="Text 39"/>
          <p:cNvSpPr txBox="1"/>
          <p:nvPr/>
        </p:nvSpPr>
        <p:spPr>
          <a:xfrm>
            <a:off x="3996258"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42" name="Shape 40"/>
          <p:cNvSpPr/>
          <p:nvPr/>
        </p:nvSpPr>
        <p:spPr>
          <a:xfrm>
            <a:off x="4593459" y="5730113"/>
            <a:ext cx="335533" cy="0"/>
          </a:xfrm>
          <a:prstGeom prst="line">
            <a:avLst/>
          </a:prstGeom>
          <a:noFill/>
          <a:ln w="22860">
            <a:solidFill>
              <a:srgbClr val="009E73"/>
            </a:solidFill>
            <a:prstDash val="solid"/>
            <a:tailEnd type="triangle"/>
          </a:ln>
        </p:spPr>
      </p:sp>
      <p:sp>
        <p:nvSpPr>
          <p:cNvPr id="43" name="Text 41"/>
          <p:cNvSpPr txBox="1"/>
          <p:nvPr/>
        </p:nvSpPr>
        <p:spPr>
          <a:xfrm>
            <a:off x="4989998"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4" name="Text 42"/>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Hit calls model?</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Serving engines and caching</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Cache keys must capture response-changing inputs.</a:t>
            </a:r>
            <a:endParaRPr lang="en-US" sz="2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257800" y="1481328"/>
          <a:ext cx="6385255" cy="914400"/>
        </p:xfrm>
        <a:graphic>
          <a:graphicData uri="http://schemas.openxmlformats.org/drawingml/2006/table">
            <a:tbl>
              <a:tblPr/>
              <a:tblGrid>
                <a:gridCol w="3192628"/>
                <a:gridCol w="319262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Mechanism</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Reuses / changes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KV / prefix cache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Earlier attention / input work</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Response cache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Complete answer</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PagedAttention</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Cache layout</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Speculation</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Propose, then verify</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257800" y="5897880"/>
            <a:ext cx="6385255" cy="411480"/>
          </a:xfrm>
          <a:prstGeom prst="rect">
            <a:avLst/>
          </a:prstGeom>
          <a:noFill/>
          <a:ln/>
        </p:spPr>
        <p:txBody>
          <a:bodyPr wrap="square" lIns="0" tIns="0" rIns="0" bIns="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Re-check quality and freshness.</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What fits where? (weights only)</a:t>
            </a:r>
            <a:endParaRPr lang="en-US" sz="3200" dirty="0"/>
          </a:p>
        </p:txBody>
      </p:sp>
      <p:sp>
        <p:nvSpPr>
          <p:cNvPr id="6" name="Shape 4"/>
          <p:cNvSpPr/>
          <p:nvPr/>
        </p:nvSpPr>
        <p:spPr>
          <a:xfrm>
            <a:off x="548640" y="1664208"/>
            <a:ext cx="2567864" cy="3822192"/>
          </a:xfrm>
          <a:prstGeom prst="roundRect">
            <a:avLst>
              <a:gd name="adj" fmla="val 4273"/>
            </a:avLst>
          </a:prstGeom>
          <a:solidFill>
            <a:srgbClr val="EEF0FF"/>
          </a:solidFill>
          <a:ln w="12700">
            <a:solidFill>
              <a:srgbClr val="EEF0FF"/>
            </a:solidFill>
            <a:prstDash val="solid"/>
          </a:ln>
        </p:spPr>
      </p:sp>
      <p:sp>
        <p:nvSpPr>
          <p:cNvPr id="7" name="Text 5"/>
          <p:cNvSpPr txBox="1"/>
          <p:nvPr/>
        </p:nvSpPr>
        <p:spPr>
          <a:xfrm>
            <a:off x="685800" y="1892808"/>
            <a:ext cx="2293544" cy="1371600"/>
          </a:xfrm>
          <a:prstGeom prst="rect">
            <a:avLst/>
          </a:prstGeom>
          <a:noFill/>
          <a:ln/>
        </p:spPr>
        <p:txBody>
          <a:bodyPr wrap="square" lIns="50800" tIns="50800" rIns="50800" bIns="50800" rtlCol="0" anchor="ctr"/>
          <a:lstStyle/>
          <a:p>
            <a:pPr algn="ctr" indent="0" marL="0">
              <a:buNone/>
            </a:pPr>
            <a:r>
              <a:rPr lang="en-US" sz="3900" b="1" dirty="0">
                <a:solidFill>
                  <a:srgbClr val="4F46E5"/>
                </a:solidFill>
                <a:latin typeface="Calibri" pitchFamily="34" charset="0"/>
                <a:ea typeface="Calibri" pitchFamily="34" charset="-122"/>
                <a:cs typeface="Calibri" pitchFamily="34" charset="-120"/>
              </a:rPr>
              <a:t>≈ 1 GB</a:t>
            </a:r>
            <a:endParaRPr lang="en-US" sz="3900" dirty="0"/>
          </a:p>
        </p:txBody>
      </p:sp>
      <p:sp>
        <p:nvSpPr>
          <p:cNvPr id="8" name="Text 6"/>
          <p:cNvSpPr txBox="1"/>
          <p:nvPr/>
        </p:nvSpPr>
        <p:spPr>
          <a:xfrm>
            <a:off x="731520" y="3355848"/>
            <a:ext cx="2202104" cy="1901952"/>
          </a:xfrm>
          <a:prstGeom prst="rect">
            <a:avLst/>
          </a:prstGeom>
          <a:noFill/>
          <a:ln/>
        </p:spPr>
        <p:txBody>
          <a:bodyPr wrap="square" lIns="50800" tIns="50800" rIns="50800" bIns="50800" rtlCol="0" anchor="t"/>
          <a:lstStyle/>
          <a:p>
            <a:pPr algn="ctr" indent="0" marL="0">
              <a:buNone/>
            </a:pPr>
            <a:r>
              <a:rPr lang="en-US" sz="1900" dirty="0">
                <a:solidFill>
                  <a:srgbClr val="1F2937"/>
                </a:solidFill>
                <a:latin typeface="Calibri" pitchFamily="34" charset="0"/>
                <a:ea typeface="Calibri" pitchFamily="34" charset="-122"/>
                <a:cs typeface="Calibri" pitchFamily="34" charset="-120"/>
              </a:rPr>
              <a:t>0.5 B, 16-bit</a:t>
            </a:r>
            <a:endParaRPr lang="en-US" sz="1900" dirty="0"/>
          </a:p>
        </p:txBody>
      </p:sp>
      <p:sp>
        <p:nvSpPr>
          <p:cNvPr id="9" name="Shape 7"/>
          <p:cNvSpPr/>
          <p:nvPr/>
        </p:nvSpPr>
        <p:spPr>
          <a:xfrm>
            <a:off x="3390824" y="1664208"/>
            <a:ext cx="2567864" cy="3822192"/>
          </a:xfrm>
          <a:prstGeom prst="roundRect">
            <a:avLst>
              <a:gd name="adj" fmla="val 4273"/>
            </a:avLst>
          </a:prstGeom>
          <a:solidFill>
            <a:srgbClr val="EEF0FF"/>
          </a:solidFill>
          <a:ln w="12700">
            <a:solidFill>
              <a:srgbClr val="EEF0FF"/>
            </a:solidFill>
            <a:prstDash val="solid"/>
          </a:ln>
        </p:spPr>
      </p:sp>
      <p:sp>
        <p:nvSpPr>
          <p:cNvPr id="10" name="Text 8"/>
          <p:cNvSpPr txBox="1"/>
          <p:nvPr/>
        </p:nvSpPr>
        <p:spPr>
          <a:xfrm>
            <a:off x="3527984" y="1892808"/>
            <a:ext cx="2293544" cy="1371600"/>
          </a:xfrm>
          <a:prstGeom prst="rect">
            <a:avLst/>
          </a:prstGeom>
          <a:noFill/>
          <a:ln/>
        </p:spPr>
        <p:txBody>
          <a:bodyPr wrap="square" lIns="50800" tIns="50800" rIns="50800" bIns="50800" rtlCol="0" anchor="ctr"/>
          <a:lstStyle/>
          <a:p>
            <a:pPr algn="ctr" indent="0" marL="0">
              <a:buNone/>
            </a:pPr>
            <a:r>
              <a:rPr lang="en-US" sz="3900" b="1" dirty="0">
                <a:solidFill>
                  <a:srgbClr val="4F46E5"/>
                </a:solidFill>
                <a:latin typeface="Calibri" pitchFamily="34" charset="0"/>
                <a:ea typeface="Calibri" pitchFamily="34" charset="-122"/>
                <a:cs typeface="Calibri" pitchFamily="34" charset="-120"/>
              </a:rPr>
              <a:t>≈ 4 GB</a:t>
            </a:r>
            <a:endParaRPr lang="en-US" sz="3900" dirty="0"/>
          </a:p>
        </p:txBody>
      </p:sp>
      <p:sp>
        <p:nvSpPr>
          <p:cNvPr id="11" name="Text 9"/>
          <p:cNvSpPr txBox="1"/>
          <p:nvPr/>
        </p:nvSpPr>
        <p:spPr>
          <a:xfrm>
            <a:off x="3573704" y="3355848"/>
            <a:ext cx="2202104" cy="1901952"/>
          </a:xfrm>
          <a:prstGeom prst="rect">
            <a:avLst/>
          </a:prstGeom>
          <a:noFill/>
          <a:ln/>
        </p:spPr>
        <p:txBody>
          <a:bodyPr wrap="square" lIns="50800" tIns="50800" rIns="50800" bIns="50800" rtlCol="0" anchor="t"/>
          <a:lstStyle/>
          <a:p>
            <a:pPr algn="ctr" indent="0" marL="0">
              <a:buNone/>
            </a:pPr>
            <a:r>
              <a:rPr lang="en-US" sz="1900" dirty="0">
                <a:solidFill>
                  <a:srgbClr val="1F2937"/>
                </a:solidFill>
                <a:latin typeface="Calibri" pitchFamily="34" charset="0"/>
                <a:ea typeface="Calibri" pitchFamily="34" charset="-122"/>
                <a:cs typeface="Calibri" pitchFamily="34" charset="-120"/>
              </a:rPr>
              <a:t>7–8 B, 4-bit</a:t>
            </a:r>
            <a:endParaRPr lang="en-US" sz="1900" dirty="0"/>
          </a:p>
        </p:txBody>
      </p:sp>
      <p:sp>
        <p:nvSpPr>
          <p:cNvPr id="12" name="Shape 10"/>
          <p:cNvSpPr/>
          <p:nvPr/>
        </p:nvSpPr>
        <p:spPr>
          <a:xfrm>
            <a:off x="6233008" y="1664208"/>
            <a:ext cx="2567864" cy="3822192"/>
          </a:xfrm>
          <a:prstGeom prst="roundRect">
            <a:avLst>
              <a:gd name="adj" fmla="val 4273"/>
            </a:avLst>
          </a:prstGeom>
          <a:solidFill>
            <a:srgbClr val="EEF0FF"/>
          </a:solidFill>
          <a:ln w="12700">
            <a:solidFill>
              <a:srgbClr val="EEF0FF"/>
            </a:solidFill>
            <a:prstDash val="solid"/>
          </a:ln>
        </p:spPr>
      </p:sp>
      <p:sp>
        <p:nvSpPr>
          <p:cNvPr id="13" name="Text 11"/>
          <p:cNvSpPr txBox="1"/>
          <p:nvPr/>
        </p:nvSpPr>
        <p:spPr>
          <a:xfrm>
            <a:off x="6370168" y="1892808"/>
            <a:ext cx="2293544" cy="1371600"/>
          </a:xfrm>
          <a:prstGeom prst="rect">
            <a:avLst/>
          </a:prstGeom>
          <a:noFill/>
          <a:ln/>
        </p:spPr>
        <p:txBody>
          <a:bodyPr wrap="square" lIns="50800" tIns="50800" rIns="50800" bIns="50800" rtlCol="0" anchor="ctr"/>
          <a:lstStyle/>
          <a:p>
            <a:pPr algn="ctr" indent="0" marL="0">
              <a:buNone/>
            </a:pPr>
            <a:r>
              <a:rPr lang="en-US" sz="3900" b="1" dirty="0">
                <a:solidFill>
                  <a:srgbClr val="4F46E5"/>
                </a:solidFill>
                <a:latin typeface="Calibri" pitchFamily="34" charset="0"/>
                <a:ea typeface="Calibri" pitchFamily="34" charset="-122"/>
                <a:cs typeface="Calibri" pitchFamily="34" charset="-120"/>
              </a:rPr>
              <a:t>16 GB</a:t>
            </a:r>
            <a:endParaRPr lang="en-US" sz="3900" dirty="0"/>
          </a:p>
        </p:txBody>
      </p:sp>
      <p:sp>
        <p:nvSpPr>
          <p:cNvPr id="14" name="Text 12"/>
          <p:cNvSpPr txBox="1"/>
          <p:nvPr/>
        </p:nvSpPr>
        <p:spPr>
          <a:xfrm>
            <a:off x="6415888" y="3355848"/>
            <a:ext cx="2202104" cy="1901952"/>
          </a:xfrm>
          <a:prstGeom prst="rect">
            <a:avLst/>
          </a:prstGeom>
          <a:noFill/>
          <a:ln/>
        </p:spPr>
        <p:txBody>
          <a:bodyPr wrap="square" lIns="50800" tIns="50800" rIns="50800" bIns="50800" rtlCol="0" anchor="t"/>
          <a:lstStyle/>
          <a:p>
            <a:pPr algn="ctr" indent="0" marL="0">
              <a:buNone/>
            </a:pPr>
            <a:r>
              <a:rPr lang="en-US" sz="1900" dirty="0">
                <a:solidFill>
                  <a:srgbClr val="1F2937"/>
                </a:solidFill>
                <a:latin typeface="Calibri" pitchFamily="34" charset="0"/>
                <a:ea typeface="Calibri" pitchFamily="34" charset="-122"/>
                <a:cs typeface="Calibri" pitchFamily="34" charset="-120"/>
              </a:rPr>
              <a:t>T4 capacity</a:t>
            </a:r>
            <a:endParaRPr lang="en-US" sz="1900" dirty="0"/>
          </a:p>
        </p:txBody>
      </p:sp>
      <p:sp>
        <p:nvSpPr>
          <p:cNvPr id="15" name="Shape 13"/>
          <p:cNvSpPr/>
          <p:nvPr/>
        </p:nvSpPr>
        <p:spPr>
          <a:xfrm>
            <a:off x="9075191" y="1664208"/>
            <a:ext cx="2567864" cy="3822192"/>
          </a:xfrm>
          <a:prstGeom prst="roundRect">
            <a:avLst>
              <a:gd name="adj" fmla="val 4273"/>
            </a:avLst>
          </a:prstGeom>
          <a:solidFill>
            <a:srgbClr val="EEF0FF"/>
          </a:solidFill>
          <a:ln w="12700">
            <a:solidFill>
              <a:srgbClr val="EEF0FF"/>
            </a:solidFill>
            <a:prstDash val="solid"/>
          </a:ln>
        </p:spPr>
      </p:sp>
      <p:sp>
        <p:nvSpPr>
          <p:cNvPr id="16" name="Text 14"/>
          <p:cNvSpPr txBox="1"/>
          <p:nvPr/>
        </p:nvSpPr>
        <p:spPr>
          <a:xfrm>
            <a:off x="9212351" y="1892808"/>
            <a:ext cx="2293544" cy="1371600"/>
          </a:xfrm>
          <a:prstGeom prst="rect">
            <a:avLst/>
          </a:prstGeom>
          <a:noFill/>
          <a:ln/>
        </p:spPr>
        <p:txBody>
          <a:bodyPr wrap="square" lIns="50800" tIns="50800" rIns="50800" bIns="50800" rtlCol="0" anchor="ctr"/>
          <a:lstStyle/>
          <a:p>
            <a:pPr algn="ctr" indent="0" marL="0">
              <a:buNone/>
            </a:pPr>
            <a:r>
              <a:rPr lang="en-US" sz="3900" b="1" dirty="0">
                <a:solidFill>
                  <a:srgbClr val="4F46E5"/>
                </a:solidFill>
                <a:latin typeface="Calibri" pitchFamily="34" charset="0"/>
                <a:ea typeface="Calibri" pitchFamily="34" charset="-122"/>
                <a:cs typeface="Calibri" pitchFamily="34" charset="-120"/>
              </a:rPr>
              <a:t>≈ 140 GB</a:t>
            </a:r>
            <a:endParaRPr lang="en-US" sz="3900" dirty="0"/>
          </a:p>
        </p:txBody>
      </p:sp>
      <p:sp>
        <p:nvSpPr>
          <p:cNvPr id="17" name="Text 15"/>
          <p:cNvSpPr txBox="1"/>
          <p:nvPr/>
        </p:nvSpPr>
        <p:spPr>
          <a:xfrm>
            <a:off x="9258071" y="3355848"/>
            <a:ext cx="2202104" cy="1901952"/>
          </a:xfrm>
          <a:prstGeom prst="rect">
            <a:avLst/>
          </a:prstGeom>
          <a:noFill/>
          <a:ln/>
        </p:spPr>
        <p:txBody>
          <a:bodyPr wrap="square" lIns="50800" tIns="50800" rIns="50800" bIns="50800" rtlCol="0" anchor="t"/>
          <a:lstStyle/>
          <a:p>
            <a:pPr algn="ctr" indent="0" marL="0">
              <a:buNone/>
            </a:pPr>
            <a:r>
              <a:rPr lang="en-US" sz="1900" dirty="0">
                <a:solidFill>
                  <a:srgbClr val="1F2937"/>
                </a:solidFill>
                <a:latin typeface="Calibri" pitchFamily="34" charset="0"/>
                <a:ea typeface="Calibri" pitchFamily="34" charset="-122"/>
                <a:cs typeface="Calibri" pitchFamily="34" charset="-120"/>
              </a:rPr>
              <a:t>70 B, 16-bit</a:t>
            </a:r>
            <a:endParaRPr lang="en-US" sz="1900" dirty="0"/>
          </a:p>
        </p:txBody>
      </p:sp>
      <p:sp>
        <p:nvSpPr>
          <p:cNvPr id="18" name="Text 16"/>
          <p:cNvSpPr txBox="1"/>
          <p:nvPr/>
        </p:nvSpPr>
        <p:spPr>
          <a:xfrm>
            <a:off x="548640" y="5623560"/>
            <a:ext cx="11094415" cy="64008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Weights only; add scales, caches and runtime.</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Quick check</a:t>
            </a:r>
            <a:endParaRPr lang="en-US" sz="3200" dirty="0"/>
          </a:p>
        </p:txBody>
      </p:sp>
      <p:sp>
        <p:nvSpPr>
          <p:cNvPr id="6" name="Shape 4"/>
          <p:cNvSpPr/>
          <p:nvPr/>
        </p:nvSpPr>
        <p:spPr>
          <a:xfrm>
            <a:off x="548640" y="1527048"/>
            <a:ext cx="640080" cy="64008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702259" y="1680667"/>
            <a:ext cx="332842" cy="332842"/>
          </a:xfrm>
          <a:prstGeom prst="rect">
            <a:avLst/>
          </a:prstGeom>
        </p:spPr>
      </p:pic>
      <p:sp>
        <p:nvSpPr>
          <p:cNvPr id="8" name="Text 5"/>
          <p:cNvSpPr txBox="1"/>
          <p:nvPr/>
        </p:nvSpPr>
        <p:spPr>
          <a:xfrm>
            <a:off x="1417320" y="1481328"/>
            <a:ext cx="10225735" cy="1097280"/>
          </a:xfrm>
          <a:prstGeom prst="rect">
            <a:avLst/>
          </a:prstGeom>
          <a:noFill/>
          <a:ln/>
        </p:spPr>
        <p:txBody>
          <a:bodyPr wrap="square" lIns="50800" tIns="50800" rIns="50800" bIns="5080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Accurate model, 50 concurrent users, slow replies. Test?</a:t>
            </a:r>
            <a:endParaRPr lang="en-US" sz="2400" dirty="0"/>
          </a:p>
        </p:txBody>
      </p:sp>
      <p:sp>
        <p:nvSpPr>
          <p:cNvPr id="9" name="Shape 6"/>
          <p:cNvSpPr/>
          <p:nvPr/>
        </p:nvSpPr>
        <p:spPr>
          <a:xfrm>
            <a:off x="548640" y="2807208"/>
            <a:ext cx="5410048" cy="1325880"/>
          </a:xfrm>
          <a:prstGeom prst="roundRect">
            <a:avLst>
              <a:gd name="adj" fmla="val 6897"/>
            </a:avLst>
          </a:prstGeom>
          <a:solidFill>
            <a:srgbClr val="EEF0FF"/>
          </a:solidFill>
          <a:ln w="12700">
            <a:solidFill>
              <a:srgbClr val="EEF0FF"/>
            </a:solidFill>
            <a:prstDash val="solid"/>
          </a:ln>
        </p:spPr>
      </p:sp>
      <p:sp>
        <p:nvSpPr>
          <p:cNvPr id="10" name="Shape 7"/>
          <p:cNvSpPr/>
          <p:nvPr/>
        </p:nvSpPr>
        <p:spPr>
          <a:xfrm>
            <a:off x="713232" y="3241548"/>
            <a:ext cx="457200" cy="457200"/>
          </a:xfrm>
          <a:prstGeom prst="ellipse">
            <a:avLst/>
          </a:prstGeom>
          <a:solidFill>
            <a:srgbClr val="4F46E5"/>
          </a:solidFill>
          <a:ln w="12700">
            <a:solidFill>
              <a:srgbClr val="4F46E5"/>
            </a:solidFill>
            <a:prstDash val="solid"/>
          </a:ln>
        </p:spPr>
      </p:sp>
      <p:sp>
        <p:nvSpPr>
          <p:cNvPr id="11" name="Text 8"/>
          <p:cNvSpPr txBox="1"/>
          <p:nvPr/>
        </p:nvSpPr>
        <p:spPr>
          <a:xfrm>
            <a:off x="713232"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txBox="1"/>
          <p:nvPr/>
        </p:nvSpPr>
        <p:spPr>
          <a:xfrm>
            <a:off x="1325880"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Raise temperature; expect capacity</a:t>
            </a:r>
            <a:endParaRPr lang="en-US" sz="2000" dirty="0"/>
          </a:p>
        </p:txBody>
      </p:sp>
      <p:sp>
        <p:nvSpPr>
          <p:cNvPr id="13" name="Shape 10"/>
          <p:cNvSpPr/>
          <p:nvPr/>
        </p:nvSpPr>
        <p:spPr>
          <a:xfrm>
            <a:off x="6233008" y="2807208"/>
            <a:ext cx="5410048" cy="1325880"/>
          </a:xfrm>
          <a:prstGeom prst="roundRect">
            <a:avLst>
              <a:gd name="adj" fmla="val 6897"/>
            </a:avLst>
          </a:prstGeom>
          <a:solidFill>
            <a:srgbClr val="EEF0FF"/>
          </a:solidFill>
          <a:ln w="12700">
            <a:solidFill>
              <a:srgbClr val="EEF0FF"/>
            </a:solidFill>
            <a:prstDash val="solid"/>
          </a:ln>
        </p:spPr>
      </p:sp>
      <p:sp>
        <p:nvSpPr>
          <p:cNvPr id="14" name="Shape 11"/>
          <p:cNvSpPr/>
          <p:nvPr/>
        </p:nvSpPr>
        <p:spPr>
          <a:xfrm>
            <a:off x="6397600" y="3241548"/>
            <a:ext cx="457200" cy="457200"/>
          </a:xfrm>
          <a:prstGeom prst="ellipse">
            <a:avLst/>
          </a:prstGeom>
          <a:solidFill>
            <a:srgbClr val="4F46E5"/>
          </a:solidFill>
          <a:ln w="12700">
            <a:solidFill>
              <a:srgbClr val="4F46E5"/>
            </a:solidFill>
            <a:prstDash val="solid"/>
          </a:ln>
        </p:spPr>
      </p:sp>
      <p:sp>
        <p:nvSpPr>
          <p:cNvPr id="15" name="Text 12"/>
          <p:cNvSpPr txBox="1"/>
          <p:nvPr/>
        </p:nvSpPr>
        <p:spPr>
          <a:xfrm>
            <a:off x="6397600"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3"/>
          <p:cNvSpPr txBox="1"/>
          <p:nvPr/>
        </p:nvSpPr>
        <p:spPr>
          <a:xfrm>
            <a:off x="7010248"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Batch / quantise; re-check quality</a:t>
            </a:r>
            <a:endParaRPr lang="en-US" sz="2000" dirty="0"/>
          </a:p>
        </p:txBody>
      </p:sp>
      <p:sp>
        <p:nvSpPr>
          <p:cNvPr id="17" name="Shape 14"/>
          <p:cNvSpPr/>
          <p:nvPr/>
        </p:nvSpPr>
        <p:spPr>
          <a:xfrm>
            <a:off x="548640" y="4407408"/>
            <a:ext cx="5410048" cy="1325880"/>
          </a:xfrm>
          <a:prstGeom prst="roundRect">
            <a:avLst>
              <a:gd name="adj" fmla="val 6897"/>
            </a:avLst>
          </a:prstGeom>
          <a:solidFill>
            <a:srgbClr val="EEF0FF"/>
          </a:solidFill>
          <a:ln w="12700">
            <a:solidFill>
              <a:srgbClr val="EEF0FF"/>
            </a:solidFill>
            <a:prstDash val="solid"/>
          </a:ln>
        </p:spPr>
      </p:sp>
      <p:sp>
        <p:nvSpPr>
          <p:cNvPr id="18" name="Shape 15"/>
          <p:cNvSpPr/>
          <p:nvPr/>
        </p:nvSpPr>
        <p:spPr>
          <a:xfrm>
            <a:off x="713232" y="4841748"/>
            <a:ext cx="457200" cy="457200"/>
          </a:xfrm>
          <a:prstGeom prst="ellipse">
            <a:avLst/>
          </a:prstGeom>
          <a:solidFill>
            <a:srgbClr val="4F46E5"/>
          </a:solidFill>
          <a:ln w="12700">
            <a:solidFill>
              <a:srgbClr val="4F46E5"/>
            </a:solidFill>
            <a:prstDash val="solid"/>
          </a:ln>
        </p:spPr>
      </p:sp>
      <p:sp>
        <p:nvSpPr>
          <p:cNvPr id="19" name="Text 16"/>
          <p:cNvSpPr txBox="1"/>
          <p:nvPr/>
        </p:nvSpPr>
        <p:spPr>
          <a:xfrm>
            <a:off x="713232"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1325880"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Extend prompts; expect capacity</a:t>
            </a:r>
            <a:endParaRPr lang="en-US" sz="2000" dirty="0"/>
          </a:p>
        </p:txBody>
      </p:sp>
      <p:sp>
        <p:nvSpPr>
          <p:cNvPr id="21" name="Shape 18"/>
          <p:cNvSpPr/>
          <p:nvPr/>
        </p:nvSpPr>
        <p:spPr>
          <a:xfrm>
            <a:off x="6233008" y="4407408"/>
            <a:ext cx="5410048" cy="1325880"/>
          </a:xfrm>
          <a:prstGeom prst="roundRect">
            <a:avLst>
              <a:gd name="adj" fmla="val 6897"/>
            </a:avLst>
          </a:prstGeom>
          <a:solidFill>
            <a:srgbClr val="EEF0FF"/>
          </a:solidFill>
          <a:ln w="12700">
            <a:solidFill>
              <a:srgbClr val="EEF0FF"/>
            </a:solidFill>
            <a:prstDash val="solid"/>
          </a:ln>
        </p:spPr>
      </p:sp>
      <p:sp>
        <p:nvSpPr>
          <p:cNvPr id="22" name="Shape 19"/>
          <p:cNvSpPr/>
          <p:nvPr/>
        </p:nvSpPr>
        <p:spPr>
          <a:xfrm>
            <a:off x="6397600" y="4841748"/>
            <a:ext cx="457200" cy="457200"/>
          </a:xfrm>
          <a:prstGeom prst="ellipse">
            <a:avLst/>
          </a:prstGeom>
          <a:solidFill>
            <a:srgbClr val="4F46E5"/>
          </a:solidFill>
          <a:ln w="12700">
            <a:solidFill>
              <a:srgbClr val="4F46E5"/>
            </a:solidFill>
            <a:prstDash val="solid"/>
          </a:ln>
        </p:spPr>
      </p:sp>
      <p:sp>
        <p:nvSpPr>
          <p:cNvPr id="23" name="Text 20"/>
          <p:cNvSpPr txBox="1"/>
          <p:nvPr/>
        </p:nvSpPr>
        <p:spPr>
          <a:xfrm>
            <a:off x="6397600"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4" name="Text 21"/>
          <p:cNvSpPr txBox="1"/>
          <p:nvPr/>
        </p:nvSpPr>
        <p:spPr>
          <a:xfrm>
            <a:off x="7010248"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Disable streaming; expect capacity</a:t>
            </a:r>
            <a:endParaRPr lang="en-US" sz="2000" dirty="0"/>
          </a:p>
        </p:txBody>
      </p:sp>
      <p:sp>
        <p:nvSpPr>
          <p:cNvPr id="25" name="Text 22"/>
          <p:cNvSpPr txBox="1"/>
          <p:nvPr/>
        </p:nvSpPr>
        <p:spPr>
          <a:xfrm>
            <a:off x="548640" y="5943600"/>
            <a:ext cx="11094415" cy="36576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Vote, then convince your neighbour (1 minute).</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04</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Building applications and interfaces</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Gradio, FastAPI and Docker</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Proposed integrated application architecture</a:t>
            </a:r>
            <a:endParaRPr lang="en-US" sz="3200" dirty="0"/>
          </a:p>
        </p:txBody>
      </p:sp>
      <p:sp>
        <p:nvSpPr>
          <p:cNvPr id="6" name="Shape 4"/>
          <p:cNvSpPr/>
          <p:nvPr/>
        </p:nvSpPr>
        <p:spPr>
          <a:xfrm>
            <a:off x="2349562" y="3401643"/>
            <a:ext cx="395303" cy="0"/>
          </a:xfrm>
          <a:prstGeom prst="line">
            <a:avLst/>
          </a:prstGeom>
          <a:noFill/>
          <a:ln w="22860">
            <a:solidFill>
              <a:srgbClr val="4F46E5"/>
            </a:solidFill>
            <a:prstDash val="solid"/>
            <a:tailEnd type="triangle"/>
          </a:ln>
        </p:spPr>
      </p:sp>
      <p:sp>
        <p:nvSpPr>
          <p:cNvPr id="7" name="Shape 5"/>
          <p:cNvSpPr/>
          <p:nvPr/>
        </p:nvSpPr>
        <p:spPr>
          <a:xfrm>
            <a:off x="4144895" y="3401643"/>
            <a:ext cx="395303" cy="0"/>
          </a:xfrm>
          <a:prstGeom prst="line">
            <a:avLst/>
          </a:prstGeom>
          <a:noFill/>
          <a:ln w="22860">
            <a:solidFill>
              <a:srgbClr val="4F46E5"/>
            </a:solidFill>
            <a:prstDash val="solid"/>
            <a:tailEnd type="triangle"/>
          </a:ln>
        </p:spPr>
      </p:sp>
      <p:sp>
        <p:nvSpPr>
          <p:cNvPr id="8" name="Shape 6"/>
          <p:cNvSpPr/>
          <p:nvPr/>
        </p:nvSpPr>
        <p:spPr>
          <a:xfrm>
            <a:off x="5940227" y="3401643"/>
            <a:ext cx="395303" cy="0"/>
          </a:xfrm>
          <a:prstGeom prst="line">
            <a:avLst/>
          </a:prstGeom>
          <a:noFill/>
          <a:ln w="22860">
            <a:solidFill>
              <a:srgbClr val="4F46E5"/>
            </a:solidFill>
            <a:prstDash val="solid"/>
            <a:tailEnd type="triangle"/>
          </a:ln>
        </p:spPr>
      </p:sp>
      <p:sp>
        <p:nvSpPr>
          <p:cNvPr id="9" name="Shape 7"/>
          <p:cNvSpPr/>
          <p:nvPr/>
        </p:nvSpPr>
        <p:spPr>
          <a:xfrm>
            <a:off x="7735559" y="3401643"/>
            <a:ext cx="395303" cy="0"/>
          </a:xfrm>
          <a:prstGeom prst="line">
            <a:avLst/>
          </a:prstGeom>
          <a:noFill/>
          <a:ln w="22860">
            <a:solidFill>
              <a:srgbClr val="4F46E5"/>
            </a:solidFill>
            <a:prstDash val="solid"/>
            <a:tailEnd type="triangle"/>
          </a:ln>
        </p:spPr>
      </p:sp>
      <p:sp>
        <p:nvSpPr>
          <p:cNvPr id="10" name="Shape 8"/>
          <p:cNvSpPr/>
          <p:nvPr/>
        </p:nvSpPr>
        <p:spPr>
          <a:xfrm>
            <a:off x="9530892" y="3401643"/>
            <a:ext cx="395303" cy="0"/>
          </a:xfrm>
          <a:prstGeom prst="line">
            <a:avLst/>
          </a:prstGeom>
          <a:noFill/>
          <a:ln w="22860">
            <a:solidFill>
              <a:srgbClr val="4F46E5"/>
            </a:solidFill>
            <a:prstDash val="solid"/>
            <a:tailEnd type="triangle"/>
          </a:ln>
        </p:spPr>
      </p:sp>
      <p:sp>
        <p:nvSpPr>
          <p:cNvPr id="11" name="Shape 9"/>
          <p:cNvSpPr/>
          <p:nvPr/>
        </p:nvSpPr>
        <p:spPr>
          <a:xfrm>
            <a:off x="7019074" y="3758797"/>
            <a:ext cx="0" cy="531764"/>
          </a:xfrm>
          <a:prstGeom prst="line">
            <a:avLst/>
          </a:prstGeom>
          <a:noFill/>
          <a:ln w="22860">
            <a:solidFill>
              <a:srgbClr val="4F46E5"/>
            </a:solidFill>
            <a:prstDash val="solid"/>
            <a:tailEnd type="triangle"/>
          </a:ln>
        </p:spPr>
      </p:sp>
      <p:sp>
        <p:nvSpPr>
          <p:cNvPr id="12" name="Shape 10"/>
          <p:cNvSpPr/>
          <p:nvPr/>
        </p:nvSpPr>
        <p:spPr>
          <a:xfrm>
            <a:off x="8773229" y="3758797"/>
            <a:ext cx="0" cy="531764"/>
          </a:xfrm>
          <a:prstGeom prst="line">
            <a:avLst/>
          </a:prstGeom>
          <a:noFill/>
          <a:ln w="22860">
            <a:solidFill>
              <a:srgbClr val="4F46E5"/>
            </a:solidFill>
            <a:prstDash val="solid"/>
            <a:tailEnd type="triangle"/>
          </a:ln>
        </p:spPr>
      </p:sp>
      <p:sp>
        <p:nvSpPr>
          <p:cNvPr id="13" name="Shape 11"/>
          <p:cNvSpPr/>
          <p:nvPr/>
        </p:nvSpPr>
        <p:spPr>
          <a:xfrm>
            <a:off x="949532" y="3044488"/>
            <a:ext cx="1400030" cy="714310"/>
          </a:xfrm>
          <a:prstGeom prst="roundRect">
            <a:avLst>
              <a:gd name="adj" fmla="val 10241"/>
            </a:avLst>
          </a:prstGeom>
          <a:solidFill>
            <a:srgbClr val="E4F2FB"/>
          </a:solidFill>
          <a:ln w="15240">
            <a:solidFill>
              <a:srgbClr val="0072B2"/>
            </a:solidFill>
            <a:prstDash val="solid"/>
          </a:ln>
        </p:spPr>
      </p:sp>
      <p:sp>
        <p:nvSpPr>
          <p:cNvPr id="14" name="Shape 12"/>
          <p:cNvSpPr/>
          <p:nvPr/>
        </p:nvSpPr>
        <p:spPr>
          <a:xfrm>
            <a:off x="2744865" y="3044488"/>
            <a:ext cx="1400030" cy="714310"/>
          </a:xfrm>
          <a:prstGeom prst="rect">
            <a:avLst/>
          </a:prstGeom>
          <a:solidFill>
            <a:srgbClr val="F2F4F5"/>
          </a:solidFill>
          <a:ln w="15240">
            <a:solidFill>
              <a:srgbClr val="626B73"/>
            </a:solidFill>
            <a:prstDash val="solid"/>
          </a:ln>
        </p:spPr>
      </p:sp>
      <p:sp>
        <p:nvSpPr>
          <p:cNvPr id="15" name="Shape 13"/>
          <p:cNvSpPr/>
          <p:nvPr/>
        </p:nvSpPr>
        <p:spPr>
          <a:xfrm>
            <a:off x="4540197" y="3044488"/>
            <a:ext cx="1400030" cy="714310"/>
          </a:xfrm>
          <a:prstGeom prst="rect">
            <a:avLst/>
          </a:prstGeom>
          <a:solidFill>
            <a:srgbClr val="F2F4F5"/>
          </a:solidFill>
          <a:ln w="15240">
            <a:solidFill>
              <a:srgbClr val="626B73"/>
            </a:solidFill>
            <a:prstDash val="solid"/>
          </a:ln>
        </p:spPr>
      </p:sp>
      <p:sp>
        <p:nvSpPr>
          <p:cNvPr id="16" name="Shape 14"/>
          <p:cNvSpPr/>
          <p:nvPr/>
        </p:nvSpPr>
        <p:spPr>
          <a:xfrm>
            <a:off x="6335530" y="3044488"/>
            <a:ext cx="1400030" cy="714310"/>
          </a:xfrm>
          <a:prstGeom prst="rect">
            <a:avLst/>
          </a:prstGeom>
          <a:solidFill>
            <a:srgbClr val="E5F7EF"/>
          </a:solidFill>
          <a:ln w="15240">
            <a:solidFill>
              <a:srgbClr val="009E73"/>
            </a:solidFill>
            <a:prstDash val="solid"/>
          </a:ln>
        </p:spPr>
      </p:sp>
      <p:sp>
        <p:nvSpPr>
          <p:cNvPr id="17" name="Shape 15"/>
          <p:cNvSpPr/>
          <p:nvPr/>
        </p:nvSpPr>
        <p:spPr>
          <a:xfrm>
            <a:off x="8130862" y="3044488"/>
            <a:ext cx="1400030" cy="714310"/>
          </a:xfrm>
          <a:prstGeom prst="rect">
            <a:avLst/>
          </a:prstGeom>
          <a:solidFill>
            <a:srgbClr val="F2F4F5"/>
          </a:solidFill>
          <a:ln w="15240">
            <a:solidFill>
              <a:srgbClr val="626B73"/>
            </a:solidFill>
            <a:prstDash val="solid"/>
          </a:ln>
        </p:spPr>
      </p:sp>
      <p:sp>
        <p:nvSpPr>
          <p:cNvPr id="18" name="Shape 16"/>
          <p:cNvSpPr/>
          <p:nvPr/>
        </p:nvSpPr>
        <p:spPr>
          <a:xfrm>
            <a:off x="9926194" y="3044488"/>
            <a:ext cx="1400030" cy="714310"/>
          </a:xfrm>
          <a:prstGeom prst="roundRect">
            <a:avLst>
              <a:gd name="adj" fmla="val 10241"/>
            </a:avLst>
          </a:prstGeom>
          <a:solidFill>
            <a:srgbClr val="F9EAF4"/>
          </a:solidFill>
          <a:ln w="15240">
            <a:solidFill>
              <a:srgbClr val="CC79A7"/>
            </a:solidFill>
            <a:prstDash val="solid"/>
          </a:ln>
        </p:spPr>
      </p:sp>
      <p:sp>
        <p:nvSpPr>
          <p:cNvPr id="19" name="Shape 17"/>
          <p:cNvSpPr/>
          <p:nvPr/>
        </p:nvSpPr>
        <p:spPr>
          <a:xfrm>
            <a:off x="6508475" y="4290561"/>
            <a:ext cx="3870671" cy="555574"/>
          </a:xfrm>
          <a:prstGeom prst="rect">
            <a:avLst/>
          </a:prstGeom>
          <a:solidFill>
            <a:srgbClr val="F2F4F5"/>
          </a:solidFill>
          <a:ln w="15240">
            <a:solidFill>
              <a:srgbClr val="626B73"/>
            </a:solidFill>
            <a:prstDash val="solid"/>
          </a:ln>
        </p:spPr>
      </p:sp>
      <p:sp>
        <p:nvSpPr>
          <p:cNvPr id="20" name="Shape 18"/>
          <p:cNvSpPr/>
          <p:nvPr/>
        </p:nvSpPr>
        <p:spPr>
          <a:xfrm>
            <a:off x="908355" y="5250911"/>
            <a:ext cx="181180" cy="174609"/>
          </a:xfrm>
          <a:prstGeom prst="roundRect">
            <a:avLst>
              <a:gd name="adj" fmla="val 41895"/>
            </a:avLst>
          </a:prstGeom>
          <a:solidFill>
            <a:srgbClr val="E4F2FB"/>
          </a:solidFill>
          <a:ln w="15240">
            <a:solidFill>
              <a:srgbClr val="0072B2"/>
            </a:solidFill>
            <a:prstDash val="solid"/>
          </a:ln>
        </p:spPr>
      </p:sp>
      <p:sp>
        <p:nvSpPr>
          <p:cNvPr id="21" name="Shape 19"/>
          <p:cNvSpPr/>
          <p:nvPr/>
        </p:nvSpPr>
        <p:spPr>
          <a:xfrm>
            <a:off x="3049577" y="5250911"/>
            <a:ext cx="181180" cy="174609"/>
          </a:xfrm>
          <a:prstGeom prst="rect">
            <a:avLst/>
          </a:prstGeom>
          <a:solidFill>
            <a:srgbClr val="E5F7EF"/>
          </a:solidFill>
          <a:ln w="15240">
            <a:solidFill>
              <a:srgbClr val="009E73"/>
            </a:solidFill>
            <a:prstDash val="solid"/>
          </a:ln>
        </p:spPr>
      </p:sp>
      <p:sp>
        <p:nvSpPr>
          <p:cNvPr id="22" name="Shape 20"/>
          <p:cNvSpPr/>
          <p:nvPr/>
        </p:nvSpPr>
        <p:spPr>
          <a:xfrm>
            <a:off x="5190799" y="5250911"/>
            <a:ext cx="181180" cy="174609"/>
          </a:xfrm>
          <a:prstGeom prst="roundRect">
            <a:avLst>
              <a:gd name="adj" fmla="val 41895"/>
            </a:avLst>
          </a:prstGeom>
          <a:solidFill>
            <a:srgbClr val="F9EAF4"/>
          </a:solidFill>
          <a:ln w="15240">
            <a:solidFill>
              <a:srgbClr val="CC79A7"/>
            </a:solidFill>
            <a:prstDash val="solid"/>
          </a:ln>
        </p:spPr>
      </p:sp>
      <p:sp>
        <p:nvSpPr>
          <p:cNvPr id="23" name="Shape 21"/>
          <p:cNvSpPr/>
          <p:nvPr/>
        </p:nvSpPr>
        <p:spPr>
          <a:xfrm>
            <a:off x="7332021" y="5250911"/>
            <a:ext cx="181180" cy="174609"/>
          </a:xfrm>
          <a:prstGeom prst="rect">
            <a:avLst/>
          </a:prstGeom>
          <a:solidFill>
            <a:srgbClr val="F2F4F5"/>
          </a:solidFill>
          <a:ln w="15240">
            <a:solidFill>
              <a:srgbClr val="626B73"/>
            </a:solidFill>
            <a:prstDash val="solid"/>
          </a:ln>
        </p:spPr>
      </p:sp>
      <p:sp>
        <p:nvSpPr>
          <p:cNvPr id="24" name="Text 22"/>
          <p:cNvSpPr txBox="1"/>
          <p:nvPr/>
        </p:nvSpPr>
        <p:spPr>
          <a:xfrm>
            <a:off x="949532" y="2320790"/>
            <a:ext cx="4627267" cy="247491"/>
          </a:xfrm>
          <a:prstGeom prst="rect">
            <a:avLst/>
          </a:prstGeom>
          <a:noFill/>
          <a:ln/>
        </p:spPr>
        <p:txBody>
          <a:bodyPr wrap="square" lIns="0" tIns="0" rIns="0" bIns="0" rtlCol="0" anchor="ctr"/>
          <a:lstStyle/>
          <a:p>
            <a:pPr algn="l" indent="0" marL="0">
              <a:lnSpc>
                <a:spcPct val="116000"/>
              </a:lnSpc>
              <a:buNone/>
            </a:pPr>
            <a:r>
              <a:rPr lang="en-US" sz="1680" dirty="0">
                <a:solidFill>
                  <a:srgbClr val="1E1B4B"/>
                </a:solidFill>
                <a:latin typeface="Arial" pitchFamily="34" charset="0"/>
                <a:ea typeface="Arial" pitchFamily="34" charset="-122"/>
                <a:cs typeface="Arial" pitchFamily="34" charset="-120"/>
              </a:rPr>
              <a:t>Proposed integration; lab routes are separate.</a:t>
            </a:r>
            <a:endParaRPr lang="en-US" sz="1680" dirty="0"/>
          </a:p>
        </p:txBody>
      </p:sp>
      <p:sp>
        <p:nvSpPr>
          <p:cNvPr id="25" name="Text 23"/>
          <p:cNvSpPr txBox="1"/>
          <p:nvPr/>
        </p:nvSpPr>
        <p:spPr>
          <a:xfrm>
            <a:off x="1168732" y="3277897"/>
            <a:ext cx="961630"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Request</a:t>
            </a:r>
            <a:endParaRPr lang="en-US" sz="1680" dirty="0"/>
          </a:p>
        </p:txBody>
      </p:sp>
      <p:sp>
        <p:nvSpPr>
          <p:cNvPr id="26" name="Text 24"/>
          <p:cNvSpPr txBox="1"/>
          <p:nvPr/>
        </p:nvSpPr>
        <p:spPr>
          <a:xfrm>
            <a:off x="2243973" y="2721318"/>
            <a:ext cx="606480" cy="219992"/>
          </a:xfrm>
          <a:prstGeom prst="rect">
            <a:avLst/>
          </a:prstGeom>
          <a:no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JSON</a:t>
            </a:r>
            <a:endParaRPr lang="en-US" sz="1493" dirty="0"/>
          </a:p>
        </p:txBody>
      </p:sp>
      <p:sp>
        <p:nvSpPr>
          <p:cNvPr id="27" name="Text 25"/>
          <p:cNvSpPr txBox="1"/>
          <p:nvPr/>
        </p:nvSpPr>
        <p:spPr>
          <a:xfrm>
            <a:off x="3114224" y="3277897"/>
            <a:ext cx="661312"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Entry</a:t>
            </a:r>
            <a:endParaRPr lang="en-US" sz="1680" dirty="0"/>
          </a:p>
        </p:txBody>
      </p:sp>
      <p:sp>
        <p:nvSpPr>
          <p:cNvPr id="28" name="Text 26"/>
          <p:cNvSpPr txBox="1"/>
          <p:nvPr/>
        </p:nvSpPr>
        <p:spPr>
          <a:xfrm>
            <a:off x="4074637" y="2721318"/>
            <a:ext cx="535818" cy="219992"/>
          </a:xfrm>
          <a:prstGeom prst="rect">
            <a:avLst/>
          </a:prstGeom>
          <a:no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fields</a:t>
            </a:r>
            <a:endParaRPr lang="en-US" sz="1493" dirty="0"/>
          </a:p>
        </p:txBody>
      </p:sp>
      <p:sp>
        <p:nvSpPr>
          <p:cNvPr id="29" name="Text 27"/>
          <p:cNvSpPr txBox="1"/>
          <p:nvPr/>
        </p:nvSpPr>
        <p:spPr>
          <a:xfrm>
            <a:off x="4520910" y="3277897"/>
            <a:ext cx="1438604"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Input checks</a:t>
            </a:r>
            <a:endParaRPr lang="en-US" sz="1680" dirty="0"/>
          </a:p>
        </p:txBody>
      </p:sp>
      <p:sp>
        <p:nvSpPr>
          <p:cNvPr id="30" name="Text 28"/>
          <p:cNvSpPr txBox="1"/>
          <p:nvPr/>
        </p:nvSpPr>
        <p:spPr>
          <a:xfrm>
            <a:off x="5631482" y="2721318"/>
            <a:ext cx="1012792" cy="219992"/>
          </a:xfrm>
          <a:prstGeom prst="rect">
            <a:avLst/>
          </a:prstGeom>
          <a:no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clean input</a:t>
            </a:r>
            <a:endParaRPr lang="en-US" sz="1493" dirty="0"/>
          </a:p>
        </p:txBody>
      </p:sp>
      <p:sp>
        <p:nvSpPr>
          <p:cNvPr id="31" name="Text 29"/>
          <p:cNvSpPr txBox="1"/>
          <p:nvPr/>
        </p:nvSpPr>
        <p:spPr>
          <a:xfrm>
            <a:off x="6510565" y="3277897"/>
            <a:ext cx="1049958"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Generate</a:t>
            </a:r>
            <a:endParaRPr lang="en-US" sz="1680" dirty="0"/>
          </a:p>
        </p:txBody>
      </p:sp>
      <p:sp>
        <p:nvSpPr>
          <p:cNvPr id="32" name="Text 30"/>
          <p:cNvSpPr txBox="1"/>
          <p:nvPr/>
        </p:nvSpPr>
        <p:spPr>
          <a:xfrm>
            <a:off x="7581390" y="2721318"/>
            <a:ext cx="703642" cy="219992"/>
          </a:xfrm>
          <a:prstGeom prst="rect">
            <a:avLst/>
          </a:prstGeom>
          <a:no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answer</a:t>
            </a:r>
            <a:endParaRPr lang="en-US" sz="1493" dirty="0"/>
          </a:p>
        </p:txBody>
      </p:sp>
      <p:sp>
        <p:nvSpPr>
          <p:cNvPr id="33" name="Text 31"/>
          <p:cNvSpPr txBox="1"/>
          <p:nvPr/>
        </p:nvSpPr>
        <p:spPr>
          <a:xfrm>
            <a:off x="8085076" y="3277897"/>
            <a:ext cx="1491601"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Output check</a:t>
            </a:r>
            <a:endParaRPr lang="en-US" sz="1680" dirty="0"/>
          </a:p>
        </p:txBody>
      </p:sp>
      <p:sp>
        <p:nvSpPr>
          <p:cNvPr id="34" name="Text 32"/>
          <p:cNvSpPr txBox="1"/>
          <p:nvPr/>
        </p:nvSpPr>
        <p:spPr>
          <a:xfrm>
            <a:off x="9147068" y="2721318"/>
            <a:ext cx="1162951" cy="219992"/>
          </a:xfrm>
          <a:prstGeom prst="rect">
            <a:avLst/>
          </a:prstGeom>
          <a:no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checked text</a:t>
            </a:r>
            <a:endParaRPr lang="en-US" sz="1493" dirty="0"/>
          </a:p>
        </p:txBody>
      </p:sp>
      <p:sp>
        <p:nvSpPr>
          <p:cNvPr id="35" name="Text 33"/>
          <p:cNvSpPr txBox="1"/>
          <p:nvPr/>
        </p:nvSpPr>
        <p:spPr>
          <a:xfrm>
            <a:off x="10277887" y="3277897"/>
            <a:ext cx="696644"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Reply</a:t>
            </a:r>
            <a:endParaRPr lang="en-US" sz="1680" dirty="0"/>
          </a:p>
        </p:txBody>
      </p:sp>
      <p:sp>
        <p:nvSpPr>
          <p:cNvPr id="36" name="Text 34"/>
          <p:cNvSpPr txBox="1"/>
          <p:nvPr/>
        </p:nvSpPr>
        <p:spPr>
          <a:xfrm>
            <a:off x="7207785" y="4444603"/>
            <a:ext cx="2472049"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Log / inspect metadata</a:t>
            </a:r>
            <a:endParaRPr lang="en-US" sz="1680" dirty="0"/>
          </a:p>
        </p:txBody>
      </p:sp>
      <p:sp>
        <p:nvSpPr>
          <p:cNvPr id="37" name="Text 35"/>
          <p:cNvSpPr txBox="1"/>
          <p:nvPr/>
        </p:nvSpPr>
        <p:spPr>
          <a:xfrm>
            <a:off x="6141975" y="3942462"/>
            <a:ext cx="650645" cy="219992"/>
          </a:xfrm>
          <a:prstGeom prst="rect">
            <a:avLst/>
          </a:prstGeom>
          <a:solidFill>
            <a:srgbClr val="FFFFFF"/>
          </a:solid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tokens</a:t>
            </a:r>
            <a:endParaRPr lang="en-US" sz="1493" dirty="0"/>
          </a:p>
        </p:txBody>
      </p:sp>
      <p:sp>
        <p:nvSpPr>
          <p:cNvPr id="38" name="Text 36"/>
          <p:cNvSpPr txBox="1"/>
          <p:nvPr/>
        </p:nvSpPr>
        <p:spPr>
          <a:xfrm>
            <a:off x="8940477" y="3942462"/>
            <a:ext cx="818469" cy="219992"/>
          </a:xfrm>
          <a:prstGeom prst="rect">
            <a:avLst/>
          </a:prstGeom>
          <a:solidFill>
            <a:srgbClr val="FFFFFF"/>
          </a:solid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outcome</a:t>
            </a:r>
            <a:endParaRPr lang="en-US" sz="1493" dirty="0"/>
          </a:p>
        </p:txBody>
      </p:sp>
      <p:sp>
        <p:nvSpPr>
          <p:cNvPr id="39" name="Text 37"/>
          <p:cNvSpPr txBox="1"/>
          <p:nvPr/>
        </p:nvSpPr>
        <p:spPr>
          <a:xfrm>
            <a:off x="1188361" y="5228219"/>
            <a:ext cx="933296"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Input data</a:t>
            </a:r>
            <a:endParaRPr lang="en-US" sz="1493" dirty="0"/>
          </a:p>
        </p:txBody>
      </p:sp>
      <p:sp>
        <p:nvSpPr>
          <p:cNvPr id="40" name="Text 38"/>
          <p:cNvSpPr txBox="1"/>
          <p:nvPr/>
        </p:nvSpPr>
        <p:spPr>
          <a:xfrm>
            <a:off x="3329583" y="5228219"/>
            <a:ext cx="606480"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Model</a:t>
            </a:r>
            <a:endParaRPr lang="en-US" sz="1493" dirty="0"/>
          </a:p>
        </p:txBody>
      </p:sp>
      <p:sp>
        <p:nvSpPr>
          <p:cNvPr id="41" name="Text 39"/>
          <p:cNvSpPr txBox="1"/>
          <p:nvPr/>
        </p:nvSpPr>
        <p:spPr>
          <a:xfrm>
            <a:off x="5470805" y="5228219"/>
            <a:ext cx="659478"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Output</a:t>
            </a:r>
            <a:endParaRPr lang="en-US" sz="1493" dirty="0"/>
          </a:p>
        </p:txBody>
      </p:sp>
      <p:sp>
        <p:nvSpPr>
          <p:cNvPr id="42" name="Text 40"/>
          <p:cNvSpPr txBox="1"/>
          <p:nvPr/>
        </p:nvSpPr>
        <p:spPr>
          <a:xfrm>
            <a:off x="7612027" y="5228219"/>
            <a:ext cx="1171784"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Human / tool</a:t>
            </a:r>
            <a:endParaRPr lang="en-US" sz="1493"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JSON request to continuation</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In-process endpoint</a:t>
            </a:r>
            <a:endParaRPr lang="en-US" sz="1800" dirty="0"/>
          </a:p>
        </p:txBody>
      </p:sp>
      <p:sp>
        <p:nvSpPr>
          <p:cNvPr id="7" name="Shape 5"/>
          <p:cNvSpPr/>
          <p:nvPr/>
        </p:nvSpPr>
        <p:spPr>
          <a:xfrm>
            <a:off x="2354146" y="3838927"/>
            <a:ext cx="244024" cy="0"/>
          </a:xfrm>
          <a:prstGeom prst="line">
            <a:avLst/>
          </a:prstGeom>
          <a:noFill/>
          <a:ln w="22860">
            <a:solidFill>
              <a:srgbClr val="009E73"/>
            </a:solidFill>
            <a:prstDash val="solid"/>
            <a:tailEnd type="triangle"/>
          </a:ln>
        </p:spPr>
      </p:sp>
      <p:sp>
        <p:nvSpPr>
          <p:cNvPr id="8" name="Text 6"/>
          <p:cNvSpPr txBox="1"/>
          <p:nvPr/>
        </p:nvSpPr>
        <p:spPr>
          <a:xfrm>
            <a:off x="167545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JSON</a:t>
            </a:r>
            <a:endParaRPr lang="en-US" sz="1441" dirty="0"/>
          </a:p>
        </p:txBody>
      </p:sp>
      <p:sp>
        <p:nvSpPr>
          <p:cNvPr id="9" name="Shape 7"/>
          <p:cNvSpPr/>
          <p:nvPr/>
        </p:nvSpPr>
        <p:spPr>
          <a:xfrm>
            <a:off x="4163991" y="3838927"/>
            <a:ext cx="244024" cy="0"/>
          </a:xfrm>
          <a:prstGeom prst="line">
            <a:avLst/>
          </a:prstGeom>
          <a:noFill/>
          <a:ln w="22860">
            <a:solidFill>
              <a:srgbClr val="009E73"/>
            </a:solidFill>
            <a:prstDash val="solid"/>
            <a:tailEnd type="triangle"/>
          </a:ln>
        </p:spPr>
      </p:sp>
      <p:sp>
        <p:nvSpPr>
          <p:cNvPr id="10" name="Text 8"/>
          <p:cNvSpPr txBox="1"/>
          <p:nvPr/>
        </p:nvSpPr>
        <p:spPr>
          <a:xfrm>
            <a:off x="348529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messages</a:t>
            </a:r>
            <a:endParaRPr lang="en-US" sz="1441" dirty="0"/>
          </a:p>
        </p:txBody>
      </p:sp>
      <p:sp>
        <p:nvSpPr>
          <p:cNvPr id="11" name="Shape 9"/>
          <p:cNvSpPr/>
          <p:nvPr/>
        </p:nvSpPr>
        <p:spPr>
          <a:xfrm>
            <a:off x="5973836" y="3838927"/>
            <a:ext cx="244024" cy="0"/>
          </a:xfrm>
          <a:prstGeom prst="line">
            <a:avLst/>
          </a:prstGeom>
          <a:noFill/>
          <a:ln w="22860">
            <a:solidFill>
              <a:srgbClr val="009E73"/>
            </a:solidFill>
            <a:prstDash val="solid"/>
            <a:tailEnd type="triangle"/>
          </a:ln>
        </p:spPr>
      </p:sp>
      <p:sp>
        <p:nvSpPr>
          <p:cNvPr id="12" name="Text 10"/>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IDs</a:t>
            </a:r>
            <a:endParaRPr lang="en-US" sz="1441" dirty="0"/>
          </a:p>
        </p:txBody>
      </p:sp>
      <p:sp>
        <p:nvSpPr>
          <p:cNvPr id="13" name="Shape 11"/>
          <p:cNvSpPr/>
          <p:nvPr/>
        </p:nvSpPr>
        <p:spPr>
          <a:xfrm>
            <a:off x="7783680" y="3838927"/>
            <a:ext cx="244024" cy="0"/>
          </a:xfrm>
          <a:prstGeom prst="line">
            <a:avLst/>
          </a:prstGeom>
          <a:noFill/>
          <a:ln w="22860">
            <a:solidFill>
              <a:srgbClr val="009E73"/>
            </a:solidFill>
            <a:prstDash val="solid"/>
            <a:tailEnd type="triangle"/>
          </a:ln>
        </p:spPr>
      </p:sp>
      <p:sp>
        <p:nvSpPr>
          <p:cNvPr id="14" name="Text 12"/>
          <p:cNvSpPr txBox="1"/>
          <p:nvPr/>
        </p:nvSpPr>
        <p:spPr>
          <a:xfrm>
            <a:off x="710498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IDs</a:t>
            </a:r>
            <a:endParaRPr lang="en-US" sz="1441" dirty="0"/>
          </a:p>
        </p:txBody>
      </p:sp>
      <p:sp>
        <p:nvSpPr>
          <p:cNvPr id="15" name="Shape 13"/>
          <p:cNvSpPr/>
          <p:nvPr/>
        </p:nvSpPr>
        <p:spPr>
          <a:xfrm>
            <a:off x="9593525" y="3838927"/>
            <a:ext cx="244024" cy="0"/>
          </a:xfrm>
          <a:prstGeom prst="line">
            <a:avLst/>
          </a:prstGeom>
          <a:noFill/>
          <a:ln w="22860">
            <a:solidFill>
              <a:srgbClr val="009E73"/>
            </a:solidFill>
            <a:prstDash val="solid"/>
            <a:tailEnd type="triangle"/>
          </a:ln>
        </p:spPr>
      </p:sp>
      <p:sp>
        <p:nvSpPr>
          <p:cNvPr id="16" name="Text 14"/>
          <p:cNvSpPr txBox="1"/>
          <p:nvPr/>
        </p:nvSpPr>
        <p:spPr>
          <a:xfrm>
            <a:off x="891483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text</a:t>
            </a:r>
            <a:endParaRPr lang="en-US" sz="1441" dirty="0"/>
          </a:p>
        </p:txBody>
      </p:sp>
      <p:sp>
        <p:nvSpPr>
          <p:cNvPr id="17" name="Shape 15"/>
          <p:cNvSpPr/>
          <p:nvPr/>
        </p:nvSpPr>
        <p:spPr>
          <a:xfrm>
            <a:off x="788325" y="2939089"/>
            <a:ext cx="1565821" cy="1799677"/>
          </a:xfrm>
          <a:prstGeom prst="roundRect">
            <a:avLst>
              <a:gd name="adj" fmla="val 4672"/>
            </a:avLst>
          </a:prstGeom>
          <a:solidFill>
            <a:srgbClr val="E4F2FB"/>
          </a:solidFill>
          <a:ln w="15240">
            <a:solidFill>
              <a:srgbClr val="0072B2"/>
            </a:solidFill>
            <a:prstDash val="solid"/>
          </a:ln>
        </p:spPr>
      </p:sp>
      <p:sp>
        <p:nvSpPr>
          <p:cNvPr id="18" name="Text 16"/>
          <p:cNvSpPr txBox="1"/>
          <p:nvPr/>
        </p:nvSpPr>
        <p:spPr>
          <a:xfrm>
            <a:off x="84933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Request</a:t>
            </a:r>
            <a:endParaRPr lang="en-US" sz="1561" dirty="0"/>
          </a:p>
        </p:txBody>
      </p:sp>
      <p:sp>
        <p:nvSpPr>
          <p:cNvPr id="19" name="Text 17"/>
          <p:cNvSpPr txBox="1"/>
          <p:nvPr/>
        </p:nvSpPr>
        <p:spPr>
          <a:xfrm>
            <a:off x="84933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JSON</a:t>
            </a:r>
            <a:endParaRPr lang="en-US" sz="1441" dirty="0"/>
          </a:p>
        </p:txBody>
      </p:sp>
      <p:sp>
        <p:nvSpPr>
          <p:cNvPr id="20" name="Shape 18"/>
          <p:cNvSpPr/>
          <p:nvPr/>
        </p:nvSpPr>
        <p:spPr>
          <a:xfrm>
            <a:off x="2598170" y="2939089"/>
            <a:ext cx="1565821" cy="1799677"/>
          </a:xfrm>
          <a:prstGeom prst="rect">
            <a:avLst/>
          </a:prstGeom>
          <a:solidFill>
            <a:srgbClr val="F2F4F5"/>
          </a:solidFill>
          <a:ln w="15240">
            <a:solidFill>
              <a:srgbClr val="626B73"/>
            </a:solidFill>
            <a:prstDash val="solid"/>
          </a:ln>
        </p:spPr>
      </p:sp>
      <p:sp>
        <p:nvSpPr>
          <p:cNvPr id="21" name="Text 19"/>
          <p:cNvSpPr txBox="1"/>
          <p:nvPr/>
        </p:nvSpPr>
        <p:spPr>
          <a:xfrm>
            <a:off x="265917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Validate</a:t>
            </a:r>
            <a:endParaRPr lang="en-US" sz="1561" dirty="0"/>
          </a:p>
        </p:txBody>
      </p:sp>
      <p:sp>
        <p:nvSpPr>
          <p:cNvPr id="22" name="Text 20"/>
          <p:cNvSpPr txBox="1"/>
          <p:nvPr/>
        </p:nvSpPr>
        <p:spPr>
          <a:xfrm>
            <a:off x="265917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Fields</a:t>
            </a:r>
            <a:endParaRPr lang="en-US" sz="1441" dirty="0"/>
          </a:p>
        </p:txBody>
      </p:sp>
      <p:sp>
        <p:nvSpPr>
          <p:cNvPr id="23" name="Shape 21"/>
          <p:cNvSpPr/>
          <p:nvPr/>
        </p:nvSpPr>
        <p:spPr>
          <a:xfrm>
            <a:off x="4408015" y="2939089"/>
            <a:ext cx="1565821" cy="1799677"/>
          </a:xfrm>
          <a:prstGeom prst="rect">
            <a:avLst/>
          </a:prstGeom>
          <a:solidFill>
            <a:srgbClr val="F2F4F5"/>
          </a:solidFill>
          <a:ln w="15240">
            <a:solidFill>
              <a:srgbClr val="626B73"/>
            </a:solidFill>
            <a:prstDash val="solid"/>
          </a:ln>
        </p:spPr>
      </p:sp>
      <p:sp>
        <p:nvSpPr>
          <p:cNvPr id="24" name="Text 22"/>
          <p:cNvSpPr txBox="1"/>
          <p:nvPr/>
        </p:nvSpPr>
        <p:spPr>
          <a:xfrm>
            <a:off x="446902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Format</a:t>
            </a:r>
            <a:endParaRPr lang="en-US" sz="1561" dirty="0"/>
          </a:p>
        </p:txBody>
      </p:sp>
      <p:sp>
        <p:nvSpPr>
          <p:cNvPr id="25" name="Text 23"/>
          <p:cNvSpPr txBox="1"/>
          <p:nvPr/>
        </p:nvSpPr>
        <p:spPr>
          <a:xfrm>
            <a:off x="446902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[1,L]</a:t>
            </a:r>
            <a:endParaRPr lang="en-US" sz="1441" dirty="0"/>
          </a:p>
        </p:txBody>
      </p:sp>
      <p:sp>
        <p:nvSpPr>
          <p:cNvPr id="26" name="Shape 24"/>
          <p:cNvSpPr/>
          <p:nvPr/>
        </p:nvSpPr>
        <p:spPr>
          <a:xfrm>
            <a:off x="6217860" y="2939089"/>
            <a:ext cx="1565821" cy="1799677"/>
          </a:xfrm>
          <a:prstGeom prst="rect">
            <a:avLst/>
          </a:prstGeom>
          <a:solidFill>
            <a:srgbClr val="E5F7EF"/>
          </a:solidFill>
          <a:ln w="15240">
            <a:solidFill>
              <a:srgbClr val="009E73"/>
            </a:solidFill>
            <a:prstDash val="solid"/>
          </a:ln>
        </p:spPr>
      </p:sp>
      <p:sp>
        <p:nvSpPr>
          <p:cNvPr id="27" name="Text 25"/>
          <p:cNvSpPr txBox="1"/>
          <p:nvPr/>
        </p:nvSpPr>
        <p:spPr>
          <a:xfrm>
            <a:off x="627886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Generate</a:t>
            </a:r>
            <a:endParaRPr lang="en-US" sz="1561" dirty="0"/>
          </a:p>
        </p:txBody>
      </p:sp>
      <p:sp>
        <p:nvSpPr>
          <p:cNvPr id="28" name="Text 26"/>
          <p:cNvSpPr txBox="1"/>
          <p:nvPr/>
        </p:nvSpPr>
        <p:spPr>
          <a:xfrm>
            <a:off x="627886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[1,L+n]</a:t>
            </a:r>
            <a:endParaRPr lang="en-US" sz="1441" dirty="0"/>
          </a:p>
        </p:txBody>
      </p:sp>
      <p:sp>
        <p:nvSpPr>
          <p:cNvPr id="29" name="Shape 27"/>
          <p:cNvSpPr/>
          <p:nvPr/>
        </p:nvSpPr>
        <p:spPr>
          <a:xfrm>
            <a:off x="8027705" y="2939089"/>
            <a:ext cx="1565821" cy="1799677"/>
          </a:xfrm>
          <a:prstGeom prst="rect">
            <a:avLst/>
          </a:prstGeom>
          <a:solidFill>
            <a:srgbClr val="F2F4F5"/>
          </a:solidFill>
          <a:ln w="15240">
            <a:solidFill>
              <a:srgbClr val="626B73"/>
            </a:solidFill>
            <a:prstDash val="solid"/>
          </a:ln>
        </p:spPr>
      </p:sp>
      <p:sp>
        <p:nvSpPr>
          <p:cNvPr id="30" name="Text 28"/>
          <p:cNvSpPr txBox="1"/>
          <p:nvPr/>
        </p:nvSpPr>
        <p:spPr>
          <a:xfrm>
            <a:off x="808871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Slice / decode</a:t>
            </a:r>
            <a:endParaRPr lang="en-US" sz="1561" dirty="0"/>
          </a:p>
        </p:txBody>
      </p:sp>
      <p:sp>
        <p:nvSpPr>
          <p:cNvPr id="31" name="Text 29"/>
          <p:cNvSpPr txBox="1"/>
          <p:nvPr/>
        </p:nvSpPr>
        <p:spPr>
          <a:xfrm>
            <a:off x="808871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New IDs</a:t>
            </a:r>
            <a:endParaRPr lang="en-US" sz="1441" dirty="0"/>
          </a:p>
        </p:txBody>
      </p:sp>
      <p:sp>
        <p:nvSpPr>
          <p:cNvPr id="32" name="Shape 30"/>
          <p:cNvSpPr/>
          <p:nvPr/>
        </p:nvSpPr>
        <p:spPr>
          <a:xfrm>
            <a:off x="9837549" y="2939089"/>
            <a:ext cx="1565821" cy="1799677"/>
          </a:xfrm>
          <a:prstGeom prst="roundRect">
            <a:avLst>
              <a:gd name="adj" fmla="val 4672"/>
            </a:avLst>
          </a:prstGeom>
          <a:solidFill>
            <a:srgbClr val="F9EAF4"/>
          </a:solidFill>
          <a:ln w="15240">
            <a:solidFill>
              <a:srgbClr val="CC79A7"/>
            </a:solidFill>
            <a:prstDash val="solid"/>
          </a:ln>
        </p:spPr>
      </p:sp>
      <p:sp>
        <p:nvSpPr>
          <p:cNvPr id="33" name="Text 31"/>
          <p:cNvSpPr txBox="1"/>
          <p:nvPr/>
        </p:nvSpPr>
        <p:spPr>
          <a:xfrm>
            <a:off x="9898555"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Reply</a:t>
            </a:r>
            <a:endParaRPr lang="en-US" sz="1561" dirty="0"/>
          </a:p>
        </p:txBody>
      </p:sp>
      <p:sp>
        <p:nvSpPr>
          <p:cNvPr id="34" name="Text 32"/>
          <p:cNvSpPr txBox="1"/>
          <p:nvPr/>
        </p:nvSpPr>
        <p:spPr>
          <a:xfrm>
            <a:off x="9898555"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Usage</a:t>
            </a:r>
            <a:endParaRPr lang="en-US" sz="1441" dirty="0"/>
          </a:p>
        </p:txBody>
      </p:sp>
      <p:sp>
        <p:nvSpPr>
          <p:cNvPr id="35" name="Shape 33"/>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6" name="Text 34"/>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37" name="Shape 35"/>
          <p:cNvSpPr/>
          <p:nvPr/>
        </p:nvSpPr>
        <p:spPr>
          <a:xfrm>
            <a:off x="1676436" y="5630979"/>
            <a:ext cx="198270" cy="198270"/>
          </a:xfrm>
          <a:prstGeom prst="rect">
            <a:avLst/>
          </a:prstGeom>
          <a:solidFill>
            <a:srgbClr val="E5F7EF"/>
          </a:solidFill>
          <a:ln w="15240">
            <a:solidFill>
              <a:srgbClr val="009E73"/>
            </a:solidFill>
            <a:prstDash val="solid"/>
          </a:ln>
        </p:spPr>
      </p:sp>
      <p:sp>
        <p:nvSpPr>
          <p:cNvPr id="38" name="Text 36"/>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39" name="Shape 37"/>
          <p:cNvSpPr/>
          <p:nvPr/>
        </p:nvSpPr>
        <p:spPr>
          <a:xfrm>
            <a:off x="2680284" y="5630979"/>
            <a:ext cx="198270" cy="198270"/>
          </a:xfrm>
          <a:prstGeom prst="roundRect">
            <a:avLst>
              <a:gd name="adj" fmla="val 36895"/>
            </a:avLst>
          </a:prstGeom>
          <a:solidFill>
            <a:srgbClr val="F9EAF4"/>
          </a:solidFill>
          <a:ln w="15240">
            <a:solidFill>
              <a:srgbClr val="CC79A7"/>
            </a:solidFill>
            <a:prstDash val="solid"/>
          </a:ln>
        </p:spPr>
      </p:sp>
      <p:sp>
        <p:nvSpPr>
          <p:cNvPr id="40" name="Text 38"/>
          <p:cNvSpPr txBox="1"/>
          <p:nvPr/>
        </p:nvSpPr>
        <p:spPr>
          <a:xfrm>
            <a:off x="2939560"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41" name="Shape 39"/>
          <p:cNvSpPr/>
          <p:nvPr/>
        </p:nvSpPr>
        <p:spPr>
          <a:xfrm>
            <a:off x="3736982" y="5630979"/>
            <a:ext cx="198270" cy="198270"/>
          </a:xfrm>
          <a:prstGeom prst="rect">
            <a:avLst/>
          </a:prstGeom>
          <a:solidFill>
            <a:srgbClr val="F2F4F5"/>
          </a:solidFill>
          <a:ln w="15240">
            <a:solidFill>
              <a:srgbClr val="626B73"/>
            </a:solidFill>
            <a:prstDash val="solid"/>
          </a:ln>
        </p:spPr>
      </p:sp>
      <p:sp>
        <p:nvSpPr>
          <p:cNvPr id="42" name="Text 40"/>
          <p:cNvSpPr txBox="1"/>
          <p:nvPr/>
        </p:nvSpPr>
        <p:spPr>
          <a:xfrm>
            <a:off x="3996258"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43" name="Shape 41"/>
          <p:cNvSpPr/>
          <p:nvPr/>
        </p:nvSpPr>
        <p:spPr>
          <a:xfrm>
            <a:off x="4593459" y="5730113"/>
            <a:ext cx="335533" cy="0"/>
          </a:xfrm>
          <a:prstGeom prst="line">
            <a:avLst/>
          </a:prstGeom>
          <a:noFill/>
          <a:ln w="22860">
            <a:solidFill>
              <a:srgbClr val="009E73"/>
            </a:solidFill>
            <a:prstDash val="solid"/>
            <a:tailEnd type="triangle"/>
          </a:ln>
        </p:spPr>
      </p:sp>
      <p:sp>
        <p:nvSpPr>
          <p:cNvPr id="44" name="Text 42"/>
          <p:cNvSpPr txBox="1"/>
          <p:nvPr/>
        </p:nvSpPr>
        <p:spPr>
          <a:xfrm>
            <a:off x="4989998"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5" name="Text 43"/>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Why slice the prefix?</a:t>
            </a:r>
            <a:endParaRPr lang="en-US"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An OpenAI-compatible endpoint with FastAPI</a:t>
            </a:r>
            <a:endParaRPr lang="en-US" sz="3200" dirty="0"/>
          </a:p>
        </p:txBody>
      </p:sp>
      <p:sp>
        <p:nvSpPr>
          <p:cNvPr id="6" name="Shape 4"/>
          <p:cNvSpPr/>
          <p:nvPr/>
        </p:nvSpPr>
        <p:spPr>
          <a:xfrm>
            <a:off x="548640" y="1481328"/>
            <a:ext cx="6949440" cy="1618488"/>
          </a:xfrm>
          <a:prstGeom prst="roundRect">
            <a:avLst>
              <a:gd name="adj" fmla="val 5650"/>
            </a:avLst>
          </a:prstGeom>
          <a:solidFill>
            <a:srgbClr val="1E1E2E"/>
          </a:solidFill>
          <a:ln w="12700">
            <a:solidFill>
              <a:srgbClr val="1E1E2E"/>
            </a:solidFill>
            <a:prstDash val="solid"/>
          </a:ln>
        </p:spPr>
      </p:sp>
      <p:sp>
        <p:nvSpPr>
          <p:cNvPr id="7" name="Text 5"/>
          <p:cNvSpPr txBox="1"/>
          <p:nvPr/>
        </p:nvSpPr>
        <p:spPr>
          <a:xfrm>
            <a:off x="685800" y="1591056"/>
            <a:ext cx="6675120" cy="1399032"/>
          </a:xfrm>
          <a:prstGeom prst="rect">
            <a:avLst/>
          </a:prstGeom>
          <a:noFill/>
          <a:ln/>
        </p:spPr>
        <p:txBody>
          <a:bodyPr wrap="square" lIns="76200" tIns="76200" rIns="76200" bIns="76200" rtlCol="0" anchor="t"/>
          <a:lstStyle/>
          <a:p>
            <a:pPr indent="0" marL="0">
              <a:lnSpc>
                <a:spcPct val="100000"/>
              </a:lnSpc>
              <a:buNone/>
            </a:pPr>
            <a:r>
              <a:rPr lang="en-US" sz="1800" dirty="0">
                <a:solidFill>
                  <a:srgbClr val="E4E4F0"/>
                </a:solidFill>
                <a:latin typeface="Consolas" pitchFamily="34" charset="0"/>
                <a:ea typeface="Consolas" pitchFamily="34" charset="-122"/>
                <a:cs typeface="Consolas" pitchFamily="34" charset="-120"/>
              </a:rPr>
              <a:t>@api.post("/v1/chat/completions")</a:t>
            </a:r>
            <a:endParaRPr lang="en-US" sz="1800" dirty="0"/>
          </a:p>
          <a:p>
            <a:pPr indent="0" marL="0">
              <a:lnSpc>
                <a:spcPct val="100000"/>
              </a:lnSpc>
              <a:buNone/>
            </a:pPr>
            <a:r>
              <a:rPr lang="en-US" sz="1800" dirty="0">
                <a:solidFill>
                  <a:srgbClr val="E4E4F0"/>
                </a:solidFill>
                <a:latin typeface="Consolas" pitchFamily="34" charset="0"/>
                <a:ea typeface="Consolas" pitchFamily="34" charset="-122"/>
                <a:cs typeface="Consolas" pitchFamily="34" charset="-120"/>
              </a:rPr>
              <a:t>def chat(req: ChatRequest):</a:t>
            </a:r>
            <a:endParaRPr lang="en-US" sz="1800" dirty="0"/>
          </a:p>
          <a:p>
            <a:pPr indent="0" marL="0">
              <a:lnSpc>
                <a:spcPct val="100000"/>
              </a:lnSpc>
              <a:buNone/>
            </a:pPr>
            <a:r>
              <a:rPr lang="en-US" sz="1800" dirty="0">
                <a:solidFill>
                  <a:srgbClr val="E4E4F0"/>
                </a:solidFill>
                <a:latin typeface="Consolas" pitchFamily="34" charset="0"/>
                <a:ea typeface="Consolas" pitchFamily="34" charset="-122"/>
                <a:cs typeface="Consolas" pitchFamily="34" charset="-120"/>
              </a:rPr>
              <a:t>    text, n_in, n_out = generate(req.messages, 24)</a:t>
            </a:r>
            <a:endParaRPr lang="en-US" sz="1800" dirty="0"/>
          </a:p>
          <a:p>
            <a:pPr indent="0" marL="0">
              <a:lnSpc>
                <a:spcPct val="100000"/>
              </a:lnSpc>
              <a:buNone/>
            </a:pPr>
            <a:r>
              <a:rPr lang="en-US" sz="1800" dirty="0">
                <a:solidFill>
                  <a:srgbClr val="E4E4F0"/>
                </a:solidFill>
                <a:latin typeface="Consolas" pitchFamily="34" charset="0"/>
                <a:ea typeface="Consolas" pitchFamily="34" charset="-122"/>
                <a:cs typeface="Consolas" pitchFamily="34" charset="-120"/>
              </a:rPr>
              <a:t>    return compatible_reply(text, n_in, n_out)</a:t>
            </a:r>
            <a:endParaRPr lang="en-US" sz="1800" dirty="0"/>
          </a:p>
        </p:txBody>
      </p:sp>
      <p:sp>
        <p:nvSpPr>
          <p:cNvPr id="8" name="Text 6"/>
          <p:cNvSpPr txBox="1"/>
          <p:nvPr/>
        </p:nvSpPr>
        <p:spPr>
          <a:xfrm>
            <a:off x="7772400" y="1481328"/>
            <a:ext cx="3870655"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Pseudocode: full schema in notebook.</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TestClient: in-process requests.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Usage = input + output.</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 chat interface with Gradio</a:t>
            </a:r>
            <a:endParaRPr lang="en-US" sz="3200" dirty="0"/>
          </a:p>
        </p:txBody>
      </p:sp>
      <p:sp>
        <p:nvSpPr>
          <p:cNvPr id="6" name="Shape 4"/>
          <p:cNvSpPr/>
          <p:nvPr/>
        </p:nvSpPr>
        <p:spPr>
          <a:xfrm>
            <a:off x="548640" y="1481328"/>
            <a:ext cx="6949440" cy="1432560"/>
          </a:xfrm>
          <a:prstGeom prst="roundRect">
            <a:avLst>
              <a:gd name="adj" fmla="val 6383"/>
            </a:avLst>
          </a:prstGeom>
          <a:solidFill>
            <a:srgbClr val="1E1E2E"/>
          </a:solidFill>
          <a:ln w="12700">
            <a:solidFill>
              <a:srgbClr val="1E1E2E"/>
            </a:solidFill>
            <a:prstDash val="solid"/>
          </a:ln>
        </p:spPr>
      </p:sp>
      <p:sp>
        <p:nvSpPr>
          <p:cNvPr id="7" name="Text 5"/>
          <p:cNvSpPr txBox="1"/>
          <p:nvPr/>
        </p:nvSpPr>
        <p:spPr>
          <a:xfrm>
            <a:off x="685800" y="1591056"/>
            <a:ext cx="6675120" cy="1213104"/>
          </a:xfrm>
          <a:prstGeom prst="rect">
            <a:avLst/>
          </a:prstGeom>
          <a:noFill/>
          <a:ln/>
        </p:spPr>
        <p:txBody>
          <a:bodyPr wrap="square" lIns="76200" tIns="76200" rIns="76200" bIns="76200" rtlCol="0" anchor="t"/>
          <a:lstStyle/>
          <a:p>
            <a:pPr indent="0" marL="0">
              <a:lnSpc>
                <a:spcPct val="100000"/>
              </a:lnSpc>
              <a:buNone/>
            </a:pPr>
            <a:r>
              <a:rPr lang="en-US" sz="2000" dirty="0">
                <a:solidFill>
                  <a:srgbClr val="E4E4F0"/>
                </a:solidFill>
                <a:latin typeface="Consolas" pitchFamily="34" charset="0"/>
                <a:ea typeface="Consolas" pitchFamily="34" charset="-122"/>
                <a:cs typeface="Consolas" pitchFamily="34" charset="-120"/>
              </a:rPr>
              <a:t>if RUN_GRADIO_STRETCH:</a:t>
            </a:r>
            <a:endParaRPr lang="en-US" sz="2000" dirty="0"/>
          </a:p>
          <a:p>
            <a:pPr indent="0" marL="0">
              <a:lnSpc>
                <a:spcPct val="100000"/>
              </a:lnSpc>
              <a:buNone/>
            </a:pPr>
            <a:r>
              <a:rPr lang="en-US" sz="2000" dirty="0">
                <a:solidFill>
                  <a:srgbClr val="E4E4F0"/>
                </a:solidFill>
                <a:latin typeface="Consolas" pitchFamily="34" charset="0"/>
                <a:ea typeface="Consolas" pitchFamily="34" charset="-122"/>
                <a:cs typeface="Consolas" pitchFamily="34" charset="-120"/>
              </a:rPr>
              <a:t>    demo = gr.ChatInterface(respond)</a:t>
            </a:r>
            <a:endParaRPr lang="en-US" sz="2000" dirty="0"/>
          </a:p>
          <a:p>
            <a:pPr indent="0" marL="0">
              <a:lnSpc>
                <a:spcPct val="100000"/>
              </a:lnSpc>
              <a:buNone/>
            </a:pPr>
            <a:r>
              <a:rPr lang="en-US" sz="2000" dirty="0">
                <a:solidFill>
                  <a:srgbClr val="E4E4F0"/>
                </a:solidFill>
                <a:latin typeface="Consolas" pitchFamily="34" charset="0"/>
                <a:ea typeface="Consolas" pitchFamily="34" charset="-122"/>
                <a:cs typeface="Consolas" pitchFamily="34" charset="-120"/>
              </a:rPr>
              <a:t>    demo.launch(share=False)</a:t>
            </a:r>
            <a:endParaRPr lang="en-US" sz="2000" dirty="0"/>
          </a:p>
        </p:txBody>
      </p:sp>
      <p:sp>
        <p:nvSpPr>
          <p:cNvPr id="8" name="Text 6"/>
          <p:cNvSpPr txBox="1"/>
          <p:nvPr/>
        </p:nvSpPr>
        <p:spPr>
          <a:xfrm>
            <a:off x="7772400" y="1481328"/>
            <a:ext cx="3870655"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Optional local interface.</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Handler supplies checks and logs.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Remote hosting: separate controls.</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Packaging and releasing: Docker, versions, CI</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Release a tested version; keep rollback available.</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Package</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Code + tested pins</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Release</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Evaluate + version</a:t>
            </a:r>
            <a:endParaRPr lang="en-US" sz="2200" dirty="0"/>
          </a:p>
        </p:txBody>
      </p:sp>
      <p:sp>
        <p:nvSpPr>
          <p:cNvPr id="13" name="Shape 11"/>
          <p:cNvSpPr/>
          <p:nvPr/>
        </p:nvSpPr>
        <p:spPr>
          <a:xfrm>
            <a:off x="5257800" y="5276088"/>
            <a:ext cx="6385255" cy="0"/>
          </a:xfrm>
          <a:prstGeom prst="line">
            <a:avLst/>
          </a:prstGeom>
          <a:noFill/>
          <a:ln w="12700">
            <a:solidFill>
              <a:srgbClr val="C7D2FE"/>
            </a:solidFill>
            <a:prstDash val="solid"/>
          </a:ln>
        </p:spPr>
      </p:sp>
      <p:sp>
        <p:nvSpPr>
          <p:cNvPr id="14" name="Text 12"/>
          <p:cNvSpPr txBox="1"/>
          <p:nvPr/>
        </p:nvSpPr>
        <p:spPr>
          <a:xfrm>
            <a:off x="5257800" y="413308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Recover</a:t>
            </a:r>
            <a:endParaRPr lang="en-US" sz="1800" dirty="0"/>
          </a:p>
        </p:txBody>
      </p:sp>
      <p:sp>
        <p:nvSpPr>
          <p:cNvPr id="15" name="Text 13"/>
          <p:cNvSpPr txBox="1"/>
          <p:nvPr/>
        </p:nvSpPr>
        <p:spPr>
          <a:xfrm>
            <a:off x="6766560" y="413308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Monitor + rollback</a:t>
            </a:r>
            <a:endParaRPr lang="en-US" sz="2200" dirty="0"/>
          </a:p>
        </p:txBody>
      </p:sp>
      <p:sp>
        <p:nvSpPr>
          <p:cNvPr id="16" name="Text 14"/>
          <p:cNvSpPr txBox="1"/>
          <p:nvPr/>
        </p:nvSpPr>
        <p:spPr>
          <a:xfrm>
            <a:off x="5257800" y="5897880"/>
            <a:ext cx="6385255" cy="411480"/>
          </a:xfrm>
          <a:prstGeom prst="rect">
            <a:avLst/>
          </a:prstGeom>
          <a:noFill/>
          <a:ln/>
        </p:spPr>
        <p:txBody>
          <a:bodyPr wrap="square" lIns="0" tIns="0" rIns="0" bIns="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Secrets supplied at runtime.</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05</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Monitoring, guardrails and comparison</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How do you know it is working, and safe?</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What to monitor</a:t>
            </a:r>
            <a:endParaRPr lang="en-US" sz="3200" dirty="0"/>
          </a:p>
        </p:txBody>
      </p:sp>
      <p:sp>
        <p:nvSpPr>
          <p:cNvPr id="6" name="Shape 4"/>
          <p:cNvSpPr/>
          <p:nvPr/>
        </p:nvSpPr>
        <p:spPr>
          <a:xfrm>
            <a:off x="548640" y="1481328"/>
            <a:ext cx="3515258" cy="2276856"/>
          </a:xfrm>
          <a:prstGeom prst="roundRect">
            <a:avLst>
              <a:gd name="adj" fmla="val 4819"/>
            </a:avLst>
          </a:prstGeom>
          <a:solidFill>
            <a:srgbClr val="EEF0FF"/>
          </a:solidFill>
          <a:ln w="12700">
            <a:solidFill>
              <a:srgbClr val="EEF0FF"/>
            </a:solidFill>
            <a:prstDash val="solid"/>
          </a:ln>
        </p:spPr>
      </p:sp>
      <p:sp>
        <p:nvSpPr>
          <p:cNvPr id="7" name="Text 5"/>
          <p:cNvSpPr txBox="1"/>
          <p:nvPr/>
        </p:nvSpPr>
        <p:spPr>
          <a:xfrm>
            <a:off x="731520"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Performance</a:t>
            </a:r>
            <a:endParaRPr lang="en-US" sz="2100" dirty="0"/>
          </a:p>
        </p:txBody>
      </p:sp>
      <p:sp>
        <p:nvSpPr>
          <p:cNvPr id="8" name="Text 6"/>
          <p:cNvSpPr txBox="1"/>
          <p:nvPr/>
        </p:nvSpPr>
        <p:spPr>
          <a:xfrm>
            <a:off x="731520"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First text; full wait; throughput</a:t>
            </a:r>
            <a:endParaRPr lang="en-US" sz="2200" dirty="0"/>
          </a:p>
        </p:txBody>
      </p:sp>
      <p:sp>
        <p:nvSpPr>
          <p:cNvPr id="9" name="Shape 7"/>
          <p:cNvSpPr/>
          <p:nvPr/>
        </p:nvSpPr>
        <p:spPr>
          <a:xfrm>
            <a:off x="4338218" y="1481328"/>
            <a:ext cx="3515258" cy="2276856"/>
          </a:xfrm>
          <a:prstGeom prst="roundRect">
            <a:avLst>
              <a:gd name="adj" fmla="val 4819"/>
            </a:avLst>
          </a:prstGeom>
          <a:solidFill>
            <a:srgbClr val="F5F3FF"/>
          </a:solidFill>
          <a:ln w="12700">
            <a:solidFill>
              <a:srgbClr val="EEF0FF"/>
            </a:solidFill>
            <a:prstDash val="solid"/>
          </a:ln>
        </p:spPr>
      </p:sp>
      <p:sp>
        <p:nvSpPr>
          <p:cNvPr id="10" name="Text 8"/>
          <p:cNvSpPr txBox="1"/>
          <p:nvPr/>
        </p:nvSpPr>
        <p:spPr>
          <a:xfrm>
            <a:off x="4521098"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Cost</a:t>
            </a:r>
            <a:endParaRPr lang="en-US" sz="2100" dirty="0"/>
          </a:p>
        </p:txBody>
      </p:sp>
      <p:sp>
        <p:nvSpPr>
          <p:cNvPr id="11" name="Text 9"/>
          <p:cNvSpPr txBox="1"/>
          <p:nvPr/>
        </p:nvSpPr>
        <p:spPr>
          <a:xfrm>
            <a:off x="4521098"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Tokens + budget</a:t>
            </a:r>
            <a:endParaRPr lang="en-US" sz="2200" dirty="0"/>
          </a:p>
        </p:txBody>
      </p:sp>
      <p:sp>
        <p:nvSpPr>
          <p:cNvPr id="12" name="Shape 10"/>
          <p:cNvSpPr/>
          <p:nvPr/>
        </p:nvSpPr>
        <p:spPr>
          <a:xfrm>
            <a:off x="8127797" y="1481328"/>
            <a:ext cx="3515258" cy="2276856"/>
          </a:xfrm>
          <a:prstGeom prst="roundRect">
            <a:avLst>
              <a:gd name="adj" fmla="val 4819"/>
            </a:avLst>
          </a:prstGeom>
          <a:solidFill>
            <a:srgbClr val="EEF0FF"/>
          </a:solidFill>
          <a:ln w="12700">
            <a:solidFill>
              <a:srgbClr val="EEF0FF"/>
            </a:solidFill>
            <a:prstDash val="solid"/>
          </a:ln>
        </p:spPr>
      </p:sp>
      <p:sp>
        <p:nvSpPr>
          <p:cNvPr id="13" name="Text 11"/>
          <p:cNvSpPr txBox="1"/>
          <p:nvPr/>
        </p:nvSpPr>
        <p:spPr>
          <a:xfrm>
            <a:off x="8310677"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Reliability</a:t>
            </a:r>
            <a:endParaRPr lang="en-US" sz="2100" dirty="0"/>
          </a:p>
        </p:txBody>
      </p:sp>
      <p:sp>
        <p:nvSpPr>
          <p:cNvPr id="14" name="Text 12"/>
          <p:cNvSpPr txBox="1"/>
          <p:nvPr/>
        </p:nvSpPr>
        <p:spPr>
          <a:xfrm>
            <a:off x="8310677"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Errors; 429; timeouts</a:t>
            </a:r>
            <a:endParaRPr lang="en-US" sz="2200" dirty="0"/>
          </a:p>
        </p:txBody>
      </p:sp>
      <p:sp>
        <p:nvSpPr>
          <p:cNvPr id="15" name="Shape 13"/>
          <p:cNvSpPr/>
          <p:nvPr/>
        </p:nvSpPr>
        <p:spPr>
          <a:xfrm>
            <a:off x="548640" y="4032504"/>
            <a:ext cx="3515258" cy="2276856"/>
          </a:xfrm>
          <a:prstGeom prst="roundRect">
            <a:avLst>
              <a:gd name="adj" fmla="val 4819"/>
            </a:avLst>
          </a:prstGeom>
          <a:solidFill>
            <a:srgbClr val="F5F3FF"/>
          </a:solidFill>
          <a:ln w="12700">
            <a:solidFill>
              <a:srgbClr val="EEF0FF"/>
            </a:solidFill>
            <a:prstDash val="solid"/>
          </a:ln>
        </p:spPr>
      </p:sp>
      <p:sp>
        <p:nvSpPr>
          <p:cNvPr id="16" name="Text 14"/>
          <p:cNvSpPr txBox="1"/>
          <p:nvPr/>
        </p:nvSpPr>
        <p:spPr>
          <a:xfrm>
            <a:off x="731520"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Quality</a:t>
            </a:r>
            <a:endParaRPr lang="en-US" sz="2100" dirty="0"/>
          </a:p>
        </p:txBody>
      </p:sp>
      <p:sp>
        <p:nvSpPr>
          <p:cNvPr id="17" name="Text 15"/>
          <p:cNvSpPr txBox="1"/>
          <p:nvPr/>
        </p:nvSpPr>
        <p:spPr>
          <a:xfrm>
            <a:off x="731520"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Task tests + review</a:t>
            </a:r>
            <a:endParaRPr lang="en-US" sz="2200" dirty="0"/>
          </a:p>
        </p:txBody>
      </p:sp>
      <p:sp>
        <p:nvSpPr>
          <p:cNvPr id="18" name="Shape 16"/>
          <p:cNvSpPr/>
          <p:nvPr/>
        </p:nvSpPr>
        <p:spPr>
          <a:xfrm>
            <a:off x="4338218" y="4032504"/>
            <a:ext cx="3515258" cy="2276856"/>
          </a:xfrm>
          <a:prstGeom prst="roundRect">
            <a:avLst>
              <a:gd name="adj" fmla="val 4819"/>
            </a:avLst>
          </a:prstGeom>
          <a:solidFill>
            <a:srgbClr val="EEF0FF"/>
          </a:solidFill>
          <a:ln w="12700">
            <a:solidFill>
              <a:srgbClr val="EEF0FF"/>
            </a:solidFill>
            <a:prstDash val="solid"/>
          </a:ln>
        </p:spPr>
      </p:sp>
      <p:sp>
        <p:nvSpPr>
          <p:cNvPr id="19" name="Text 17"/>
          <p:cNvSpPr txBox="1"/>
          <p:nvPr/>
        </p:nvSpPr>
        <p:spPr>
          <a:xfrm>
            <a:off x="4521098"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Checks</a:t>
            </a:r>
            <a:endParaRPr lang="en-US" sz="2100" dirty="0"/>
          </a:p>
        </p:txBody>
      </p:sp>
      <p:sp>
        <p:nvSpPr>
          <p:cNvPr id="20" name="Text 18"/>
          <p:cNvSpPr txBox="1"/>
          <p:nvPr/>
        </p:nvSpPr>
        <p:spPr>
          <a:xfrm>
            <a:off x="4521098"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Blocks; misses; redactions</a:t>
            </a:r>
            <a:endParaRPr lang="en-US" sz="2200" dirty="0"/>
          </a:p>
        </p:txBody>
      </p:sp>
      <p:sp>
        <p:nvSpPr>
          <p:cNvPr id="21" name="Shape 19"/>
          <p:cNvSpPr/>
          <p:nvPr/>
        </p:nvSpPr>
        <p:spPr>
          <a:xfrm>
            <a:off x="8127797" y="4032504"/>
            <a:ext cx="3515258" cy="2276856"/>
          </a:xfrm>
          <a:prstGeom prst="roundRect">
            <a:avLst>
              <a:gd name="adj" fmla="val 4819"/>
            </a:avLst>
          </a:prstGeom>
          <a:solidFill>
            <a:srgbClr val="F5F3FF"/>
          </a:solidFill>
          <a:ln w="12700">
            <a:solidFill>
              <a:srgbClr val="EEF0FF"/>
            </a:solidFill>
            <a:prstDash val="solid"/>
          </a:ln>
        </p:spPr>
      </p:sp>
      <p:sp>
        <p:nvSpPr>
          <p:cNvPr id="22" name="Text 20"/>
          <p:cNvSpPr txBox="1"/>
          <p:nvPr/>
        </p:nvSpPr>
        <p:spPr>
          <a:xfrm>
            <a:off x="8310677"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Versions</a:t>
            </a:r>
            <a:endParaRPr lang="en-US" sz="2100" dirty="0"/>
          </a:p>
        </p:txBody>
      </p:sp>
      <p:sp>
        <p:nvSpPr>
          <p:cNvPr id="23" name="Text 21"/>
          <p:cNvSpPr txBox="1"/>
          <p:nvPr/>
        </p:nvSpPr>
        <p:spPr>
          <a:xfrm>
            <a:off x="8310677"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Model + prompt + data</a:t>
            </a:r>
            <a:endParaRPr lang="en-US" sz="2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Stored GPU run: ten-request monitoring</a:t>
            </a:r>
            <a:endParaRPr lang="en-US" sz="3200" dirty="0"/>
          </a:p>
        </p:txBody>
      </p:sp>
      <p:pic>
        <p:nvPicPr>
          <p:cNvPr id="6" name="Image 0" descr="C:\Users\sudee\Downloads\Generative_AI_2027_Teaching_Pack\AI2027_Project\build\figures\week_11\lab_monitor.png">    </p:cNvPr>
          <p:cNvPicPr>
            <a:picLocks noChangeAspect="1"/>
          </p:cNvPicPr>
          <p:nvPr/>
        </p:nvPicPr>
        <p:blipFill>
          <a:blip r:embed="rId1"/>
          <a:stretch>
            <a:fillRect/>
          </a:stretch>
        </p:blipFill>
        <p:spPr>
          <a:xfrm>
            <a:off x="1941955" y="1481328"/>
            <a:ext cx="8307785" cy="3351276"/>
          </a:xfrm>
          <a:prstGeom prst="rect">
            <a:avLst/>
          </a:prstGeom>
        </p:spPr>
      </p:pic>
      <p:sp>
        <p:nvSpPr>
          <p:cNvPr id="7" name="Text 4"/>
          <p:cNvSpPr txBox="1"/>
          <p:nvPr/>
        </p:nvSpPr>
        <p:spPr>
          <a:xfrm>
            <a:off x="548640" y="5015484"/>
            <a:ext cx="11094415" cy="882396"/>
          </a:xfrm>
          <a:prstGeom prst="rect">
            <a:avLst/>
          </a:prstGeom>
          <a:noFill/>
          <a:ln/>
        </p:spPr>
        <p:txBody>
          <a:bodyPr wrap="square" lIns="50800" tIns="50800" rIns="50800" bIns="5080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10 requests: 1 blocked (injection), 2 with personal data redacted; p50 2.85 s, p95 5.72 s.</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Metadata only; allowed-request percentiles.</a:t>
            </a:r>
            <a:endParaRPr lang="en-US" sz="1800" dirty="0"/>
          </a:p>
        </p:txBody>
      </p:sp>
      <p:sp>
        <p:nvSpPr>
          <p:cNvPr id="8" name="Text 5"/>
          <p:cNvSpPr txBox="1"/>
          <p:nvPr/>
        </p:nvSpPr>
        <p:spPr>
          <a:xfrm>
            <a:off x="548640" y="5916168"/>
            <a:ext cx="11094415" cy="384048"/>
          </a:xfrm>
          <a:prstGeom prst="rect">
            <a:avLst/>
          </a:prstGeom>
          <a:noFill/>
          <a:ln/>
        </p:spPr>
        <p:txBody>
          <a:bodyPr wrap="square" lIns="50800" tIns="50800" rIns="50800" bIns="50800" rtlCol="0" anchor="t"/>
          <a:lstStyle/>
          <a:p>
            <a:pPr algn="ctr" indent="0" marL="0">
              <a:buNone/>
            </a:pPr>
            <a:r>
              <a:rPr lang="en-US" sz="1400" i="1" dirty="0">
                <a:solidFill>
                  <a:srgbClr val="6B7280"/>
                </a:solidFill>
                <a:latin typeface="Calibri" pitchFamily="34" charset="0"/>
                <a:ea typeface="Calibri" pitchFamily="34" charset="-122"/>
                <a:cs typeface="Calibri" pitchFamily="34" charset="-120"/>
              </a:rPr>
              <a:t>Qwen2.5-0.5B-Instruct · GTX 1650 · 9 Oct 2026</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Guardrails in layers</a:t>
            </a:r>
            <a:endParaRPr lang="en-US" sz="3200" dirty="0"/>
          </a:p>
        </p:txBody>
      </p:sp>
      <p:sp>
        <p:nvSpPr>
          <p:cNvPr id="6" name="Shape 4"/>
          <p:cNvSpPr/>
          <p:nvPr/>
        </p:nvSpPr>
        <p:spPr>
          <a:xfrm>
            <a:off x="2681233" y="3361353"/>
            <a:ext cx="246543" cy="0"/>
          </a:xfrm>
          <a:prstGeom prst="line">
            <a:avLst/>
          </a:prstGeom>
          <a:noFill/>
          <a:ln w="22860">
            <a:solidFill>
              <a:srgbClr val="009E73"/>
            </a:solidFill>
            <a:prstDash val="solid"/>
            <a:tailEnd type="triangle"/>
          </a:ln>
        </p:spPr>
      </p:sp>
      <p:sp>
        <p:nvSpPr>
          <p:cNvPr id="7" name="Text 5"/>
          <p:cNvSpPr txBox="1"/>
          <p:nvPr/>
        </p:nvSpPr>
        <p:spPr>
          <a:xfrm>
            <a:off x="1995537" y="2361006"/>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request</a:t>
            </a:r>
            <a:endParaRPr lang="en-US" sz="1456" dirty="0"/>
          </a:p>
        </p:txBody>
      </p:sp>
      <p:sp>
        <p:nvSpPr>
          <p:cNvPr id="8" name="Shape 6"/>
          <p:cNvSpPr/>
          <p:nvPr/>
        </p:nvSpPr>
        <p:spPr>
          <a:xfrm>
            <a:off x="4875462" y="3361353"/>
            <a:ext cx="246543" cy="0"/>
          </a:xfrm>
          <a:prstGeom prst="line">
            <a:avLst/>
          </a:prstGeom>
          <a:noFill/>
          <a:ln w="22860">
            <a:solidFill>
              <a:srgbClr val="009E73"/>
            </a:solidFill>
            <a:prstDash val="solid"/>
            <a:tailEnd type="triangle"/>
          </a:ln>
        </p:spPr>
      </p:sp>
      <p:sp>
        <p:nvSpPr>
          <p:cNvPr id="9" name="Text 7"/>
          <p:cNvSpPr txBox="1"/>
          <p:nvPr/>
        </p:nvSpPr>
        <p:spPr>
          <a:xfrm>
            <a:off x="4189765" y="2361006"/>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answer</a:t>
            </a:r>
            <a:endParaRPr lang="en-US" sz="1456" dirty="0"/>
          </a:p>
        </p:txBody>
      </p:sp>
      <p:sp>
        <p:nvSpPr>
          <p:cNvPr id="10" name="Shape 8"/>
          <p:cNvSpPr/>
          <p:nvPr/>
        </p:nvSpPr>
        <p:spPr>
          <a:xfrm>
            <a:off x="7069691" y="3361353"/>
            <a:ext cx="246543" cy="0"/>
          </a:xfrm>
          <a:prstGeom prst="line">
            <a:avLst/>
          </a:prstGeom>
          <a:noFill/>
          <a:ln w="22860">
            <a:solidFill>
              <a:srgbClr val="009E73"/>
            </a:solidFill>
            <a:prstDash val="solid"/>
            <a:tailEnd type="triangle"/>
          </a:ln>
        </p:spPr>
      </p:sp>
      <p:sp>
        <p:nvSpPr>
          <p:cNvPr id="11" name="Text 9"/>
          <p:cNvSpPr txBox="1"/>
          <p:nvPr/>
        </p:nvSpPr>
        <p:spPr>
          <a:xfrm>
            <a:off x="6383994" y="2361006"/>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checked answer</a:t>
            </a:r>
            <a:endParaRPr lang="en-US" sz="1456" dirty="0"/>
          </a:p>
        </p:txBody>
      </p:sp>
      <p:sp>
        <p:nvSpPr>
          <p:cNvPr id="12" name="Shape 10"/>
          <p:cNvSpPr/>
          <p:nvPr/>
        </p:nvSpPr>
        <p:spPr>
          <a:xfrm>
            <a:off x="9263919" y="3361353"/>
            <a:ext cx="246543" cy="0"/>
          </a:xfrm>
          <a:prstGeom prst="line">
            <a:avLst/>
          </a:prstGeom>
          <a:noFill/>
          <a:ln w="22860">
            <a:solidFill>
              <a:srgbClr val="009E73"/>
            </a:solidFill>
            <a:prstDash val="solid"/>
            <a:tailEnd type="triangle"/>
          </a:ln>
        </p:spPr>
      </p:sp>
      <p:sp>
        <p:nvSpPr>
          <p:cNvPr id="13" name="Text 11"/>
          <p:cNvSpPr txBox="1"/>
          <p:nvPr/>
        </p:nvSpPr>
        <p:spPr>
          <a:xfrm>
            <a:off x="8578223" y="2361006"/>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case record</a:t>
            </a:r>
            <a:endParaRPr lang="en-US" sz="1456" dirty="0"/>
          </a:p>
        </p:txBody>
      </p:sp>
      <p:sp>
        <p:nvSpPr>
          <p:cNvPr id="14" name="Shape 12"/>
          <p:cNvSpPr/>
          <p:nvPr/>
        </p:nvSpPr>
        <p:spPr>
          <a:xfrm>
            <a:off x="733547" y="2637134"/>
            <a:ext cx="1947686" cy="1448438"/>
          </a:xfrm>
          <a:prstGeom prst="rect">
            <a:avLst/>
          </a:prstGeom>
          <a:solidFill>
            <a:srgbClr val="F2F4F5"/>
          </a:solidFill>
          <a:ln w="15240">
            <a:solidFill>
              <a:srgbClr val="626B73"/>
            </a:solidFill>
            <a:prstDash val="solid"/>
          </a:ln>
        </p:spPr>
      </p:sp>
      <p:sp>
        <p:nvSpPr>
          <p:cNvPr id="15" name="Text 13"/>
          <p:cNvSpPr txBox="1"/>
          <p:nvPr/>
        </p:nvSpPr>
        <p:spPr>
          <a:xfrm>
            <a:off x="795183" y="309940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Validate</a:t>
            </a:r>
            <a:endParaRPr lang="en-US" sz="1577" dirty="0"/>
          </a:p>
        </p:txBody>
      </p:sp>
      <p:sp>
        <p:nvSpPr>
          <p:cNvPr id="16" name="Text 14"/>
          <p:cNvSpPr txBox="1"/>
          <p:nvPr/>
        </p:nvSpPr>
        <p:spPr>
          <a:xfrm>
            <a:off x="795183" y="340881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Input</a:t>
            </a:r>
            <a:endParaRPr lang="en-US" sz="1456" dirty="0"/>
          </a:p>
        </p:txBody>
      </p:sp>
      <p:sp>
        <p:nvSpPr>
          <p:cNvPr id="17" name="Shape 15"/>
          <p:cNvSpPr/>
          <p:nvPr/>
        </p:nvSpPr>
        <p:spPr>
          <a:xfrm>
            <a:off x="2927776" y="2637134"/>
            <a:ext cx="1947686" cy="1448438"/>
          </a:xfrm>
          <a:prstGeom prst="rect">
            <a:avLst/>
          </a:prstGeom>
          <a:solidFill>
            <a:srgbClr val="E5F7EF"/>
          </a:solidFill>
          <a:ln w="15240">
            <a:solidFill>
              <a:srgbClr val="009E73"/>
            </a:solidFill>
            <a:prstDash val="solid"/>
          </a:ln>
        </p:spPr>
      </p:sp>
      <p:sp>
        <p:nvSpPr>
          <p:cNvPr id="18" name="Text 16"/>
          <p:cNvSpPr txBox="1"/>
          <p:nvPr/>
        </p:nvSpPr>
        <p:spPr>
          <a:xfrm>
            <a:off x="2989411" y="309940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Generate</a:t>
            </a:r>
            <a:endParaRPr lang="en-US" sz="1577" dirty="0"/>
          </a:p>
        </p:txBody>
      </p:sp>
      <p:sp>
        <p:nvSpPr>
          <p:cNvPr id="19" name="Text 17"/>
          <p:cNvSpPr txBox="1"/>
          <p:nvPr/>
        </p:nvSpPr>
        <p:spPr>
          <a:xfrm>
            <a:off x="2989411" y="340881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Fixed weights</a:t>
            </a:r>
            <a:endParaRPr lang="en-US" sz="1456" dirty="0"/>
          </a:p>
        </p:txBody>
      </p:sp>
      <p:sp>
        <p:nvSpPr>
          <p:cNvPr id="20" name="Shape 18"/>
          <p:cNvSpPr/>
          <p:nvPr/>
        </p:nvSpPr>
        <p:spPr>
          <a:xfrm>
            <a:off x="5122004" y="2637134"/>
            <a:ext cx="1947686" cy="1448438"/>
          </a:xfrm>
          <a:prstGeom prst="rect">
            <a:avLst/>
          </a:prstGeom>
          <a:solidFill>
            <a:srgbClr val="F2F4F5"/>
          </a:solidFill>
          <a:ln w="15240">
            <a:solidFill>
              <a:srgbClr val="626B73"/>
            </a:solidFill>
            <a:prstDash val="solid"/>
          </a:ln>
        </p:spPr>
      </p:sp>
      <p:sp>
        <p:nvSpPr>
          <p:cNvPr id="21" name="Text 19"/>
          <p:cNvSpPr txBox="1"/>
          <p:nvPr/>
        </p:nvSpPr>
        <p:spPr>
          <a:xfrm>
            <a:off x="5183640" y="309940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Check</a:t>
            </a:r>
            <a:endParaRPr lang="en-US" sz="1577" dirty="0"/>
          </a:p>
        </p:txBody>
      </p:sp>
      <p:sp>
        <p:nvSpPr>
          <p:cNvPr id="22" name="Text 20"/>
          <p:cNvSpPr txBox="1"/>
          <p:nvPr/>
        </p:nvSpPr>
        <p:spPr>
          <a:xfrm>
            <a:off x="5183640" y="340881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Output</a:t>
            </a:r>
            <a:endParaRPr lang="en-US" sz="1456" dirty="0"/>
          </a:p>
        </p:txBody>
      </p:sp>
      <p:sp>
        <p:nvSpPr>
          <p:cNvPr id="23" name="Shape 21"/>
          <p:cNvSpPr/>
          <p:nvPr/>
        </p:nvSpPr>
        <p:spPr>
          <a:xfrm>
            <a:off x="7316233" y="2637134"/>
            <a:ext cx="1947686" cy="1448438"/>
          </a:xfrm>
          <a:prstGeom prst="rect">
            <a:avLst/>
          </a:prstGeom>
          <a:solidFill>
            <a:srgbClr val="F2F4F5"/>
          </a:solidFill>
          <a:ln w="15240">
            <a:solidFill>
              <a:srgbClr val="626B73"/>
            </a:solidFill>
            <a:prstDash val="solid"/>
          </a:ln>
        </p:spPr>
      </p:sp>
      <p:sp>
        <p:nvSpPr>
          <p:cNvPr id="24" name="Text 22"/>
          <p:cNvSpPr txBox="1"/>
          <p:nvPr/>
        </p:nvSpPr>
        <p:spPr>
          <a:xfrm>
            <a:off x="7377869" y="309940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Escalate</a:t>
            </a:r>
            <a:endParaRPr lang="en-US" sz="1577" dirty="0"/>
          </a:p>
        </p:txBody>
      </p:sp>
      <p:sp>
        <p:nvSpPr>
          <p:cNvPr id="25" name="Text 23"/>
          <p:cNvSpPr txBox="1"/>
          <p:nvPr/>
        </p:nvSpPr>
        <p:spPr>
          <a:xfrm>
            <a:off x="7377869" y="340881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Uncertainty</a:t>
            </a:r>
            <a:endParaRPr lang="en-US" sz="1456" dirty="0"/>
          </a:p>
        </p:txBody>
      </p:sp>
      <p:sp>
        <p:nvSpPr>
          <p:cNvPr id="26" name="Shape 24"/>
          <p:cNvSpPr/>
          <p:nvPr/>
        </p:nvSpPr>
        <p:spPr>
          <a:xfrm>
            <a:off x="9510462" y="2637134"/>
            <a:ext cx="1947686" cy="1448438"/>
          </a:xfrm>
          <a:prstGeom prst="roundRect">
            <a:avLst>
              <a:gd name="adj" fmla="val 5050"/>
            </a:avLst>
          </a:prstGeom>
          <a:solidFill>
            <a:srgbClr val="FFF0E6"/>
          </a:solidFill>
          <a:ln w="15240">
            <a:solidFill>
              <a:srgbClr val="D55E00"/>
            </a:solidFill>
            <a:prstDash val="solid"/>
          </a:ln>
        </p:spPr>
      </p:sp>
      <p:sp>
        <p:nvSpPr>
          <p:cNvPr id="27" name="Text 25"/>
          <p:cNvSpPr txBox="1"/>
          <p:nvPr/>
        </p:nvSpPr>
        <p:spPr>
          <a:xfrm>
            <a:off x="9572098" y="309940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Monitor</a:t>
            </a:r>
            <a:endParaRPr lang="en-US" sz="1577" dirty="0"/>
          </a:p>
        </p:txBody>
      </p:sp>
      <p:sp>
        <p:nvSpPr>
          <p:cNvPr id="28" name="Text 26"/>
          <p:cNvSpPr txBox="1"/>
          <p:nvPr/>
        </p:nvSpPr>
        <p:spPr>
          <a:xfrm>
            <a:off x="9572098" y="340881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Outcomes</a:t>
            </a:r>
            <a:endParaRPr lang="en-US" sz="1456" dirty="0"/>
          </a:p>
        </p:txBody>
      </p:sp>
      <p:sp>
        <p:nvSpPr>
          <p:cNvPr id="29" name="Shape 27"/>
          <p:cNvSpPr/>
          <p:nvPr/>
        </p:nvSpPr>
        <p:spPr>
          <a:xfrm>
            <a:off x="733547" y="4355228"/>
            <a:ext cx="200316" cy="200316"/>
          </a:xfrm>
          <a:prstGeom prst="rect">
            <a:avLst/>
          </a:prstGeom>
          <a:solidFill>
            <a:srgbClr val="E5F7EF"/>
          </a:solidFill>
          <a:ln w="15240">
            <a:solidFill>
              <a:srgbClr val="009E73"/>
            </a:solidFill>
            <a:prstDash val="solid"/>
          </a:ln>
        </p:spPr>
      </p:sp>
      <p:sp>
        <p:nvSpPr>
          <p:cNvPr id="30" name="Text 28"/>
          <p:cNvSpPr txBox="1"/>
          <p:nvPr/>
        </p:nvSpPr>
        <p:spPr>
          <a:xfrm>
            <a:off x="995498" y="4332114"/>
            <a:ext cx="551942"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Model</a:t>
            </a:r>
            <a:endParaRPr lang="en-US" sz="1456" dirty="0"/>
          </a:p>
        </p:txBody>
      </p:sp>
      <p:sp>
        <p:nvSpPr>
          <p:cNvPr id="31" name="Shape 29"/>
          <p:cNvSpPr/>
          <p:nvPr/>
        </p:nvSpPr>
        <p:spPr>
          <a:xfrm>
            <a:off x="1747756" y="4355228"/>
            <a:ext cx="200316" cy="200316"/>
          </a:xfrm>
          <a:prstGeom prst="roundRect">
            <a:avLst>
              <a:gd name="adj" fmla="val 36518"/>
            </a:avLst>
          </a:prstGeom>
          <a:solidFill>
            <a:srgbClr val="FFF0E6"/>
          </a:solidFill>
          <a:ln w="15240">
            <a:solidFill>
              <a:srgbClr val="D55E00"/>
            </a:solidFill>
            <a:prstDash val="solid"/>
          </a:ln>
        </p:spPr>
      </p:sp>
      <p:sp>
        <p:nvSpPr>
          <p:cNvPr id="32" name="Text 30"/>
          <p:cNvSpPr txBox="1"/>
          <p:nvPr/>
        </p:nvSpPr>
        <p:spPr>
          <a:xfrm>
            <a:off x="2009708" y="4332114"/>
            <a:ext cx="573185"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Check</a:t>
            </a:r>
            <a:endParaRPr lang="en-US" sz="1456" dirty="0"/>
          </a:p>
        </p:txBody>
      </p:sp>
      <p:sp>
        <p:nvSpPr>
          <p:cNvPr id="33" name="Shape 31"/>
          <p:cNvSpPr/>
          <p:nvPr/>
        </p:nvSpPr>
        <p:spPr>
          <a:xfrm>
            <a:off x="2783208" y="4355228"/>
            <a:ext cx="200316" cy="200316"/>
          </a:xfrm>
          <a:prstGeom prst="rect">
            <a:avLst/>
          </a:prstGeom>
          <a:solidFill>
            <a:srgbClr val="F2F4F5"/>
          </a:solidFill>
          <a:ln w="15240">
            <a:solidFill>
              <a:srgbClr val="626B73"/>
            </a:solidFill>
            <a:prstDash val="solid"/>
          </a:ln>
        </p:spPr>
      </p:sp>
      <p:sp>
        <p:nvSpPr>
          <p:cNvPr id="34" name="Text 32"/>
          <p:cNvSpPr txBox="1"/>
          <p:nvPr/>
        </p:nvSpPr>
        <p:spPr>
          <a:xfrm>
            <a:off x="3045160" y="4332114"/>
            <a:ext cx="403049"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Tool</a:t>
            </a:r>
            <a:endParaRPr lang="en-US" sz="1456" dirty="0"/>
          </a:p>
        </p:txBody>
      </p:sp>
      <p:sp>
        <p:nvSpPr>
          <p:cNvPr id="35" name="Shape 33"/>
          <p:cNvSpPr/>
          <p:nvPr/>
        </p:nvSpPr>
        <p:spPr>
          <a:xfrm>
            <a:off x="3648525" y="4455385"/>
            <a:ext cx="338996" cy="0"/>
          </a:xfrm>
          <a:prstGeom prst="line">
            <a:avLst/>
          </a:prstGeom>
          <a:noFill/>
          <a:ln w="22860">
            <a:solidFill>
              <a:srgbClr val="009E73"/>
            </a:solidFill>
            <a:prstDash val="solid"/>
            <a:tailEnd type="triangle"/>
          </a:ln>
        </p:spPr>
      </p:sp>
      <p:sp>
        <p:nvSpPr>
          <p:cNvPr id="36" name="Text 34"/>
          <p:cNvSpPr txBox="1"/>
          <p:nvPr/>
        </p:nvSpPr>
        <p:spPr>
          <a:xfrm>
            <a:off x="4049157" y="4332114"/>
            <a:ext cx="434818"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Flow</a:t>
            </a:r>
            <a:endParaRPr lang="en-US" sz="1456" dirty="0"/>
          </a:p>
        </p:txBody>
      </p:sp>
      <p:sp>
        <p:nvSpPr>
          <p:cNvPr id="37" name="Shape 35"/>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38" name="Text 36"/>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Apply controls on every route.</a:t>
            </a:r>
            <a:endParaRPr 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LLMOps tooling: tracing and evaluation</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Inspect every reachable request route.</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Request trace</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Retrieval → prompt → generation</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Inspect</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Timing + tokens + errors</a:t>
            </a:r>
            <a:endParaRPr lang="en-US" sz="2200" dirty="0"/>
          </a:p>
        </p:txBody>
      </p:sp>
      <p:sp>
        <p:nvSpPr>
          <p:cNvPr id="13" name="Shape 11"/>
          <p:cNvSpPr/>
          <p:nvPr/>
        </p:nvSpPr>
        <p:spPr>
          <a:xfrm>
            <a:off x="5257800" y="5276088"/>
            <a:ext cx="6385255" cy="0"/>
          </a:xfrm>
          <a:prstGeom prst="line">
            <a:avLst/>
          </a:prstGeom>
          <a:noFill/>
          <a:ln w="12700">
            <a:solidFill>
              <a:srgbClr val="C7D2FE"/>
            </a:solidFill>
            <a:prstDash val="solid"/>
          </a:ln>
        </p:spPr>
      </p:sp>
      <p:sp>
        <p:nvSpPr>
          <p:cNvPr id="14" name="Text 12"/>
          <p:cNvSpPr txBox="1"/>
          <p:nvPr/>
        </p:nvSpPr>
        <p:spPr>
          <a:xfrm>
            <a:off x="5257800" y="413308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Operate</a:t>
            </a:r>
            <a:endParaRPr lang="en-US" sz="1800" dirty="0"/>
          </a:p>
        </p:txBody>
      </p:sp>
      <p:sp>
        <p:nvSpPr>
          <p:cNvPr id="15" name="Text 13"/>
          <p:cNvSpPr txBox="1"/>
          <p:nvPr/>
        </p:nvSpPr>
        <p:spPr>
          <a:xfrm>
            <a:off x="6766560" y="413308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Versions + tests + releases</a:t>
            </a:r>
            <a:endParaRPr lang="en-US" sz="2200" dirty="0"/>
          </a:p>
        </p:txBody>
      </p:sp>
      <p:sp>
        <p:nvSpPr>
          <p:cNvPr id="16" name="Text 14"/>
          <p:cNvSpPr txBox="1"/>
          <p:nvPr/>
        </p:nvSpPr>
        <p:spPr>
          <a:xfrm>
            <a:off x="5257800" y="5897880"/>
            <a:ext cx="6385255" cy="411480"/>
          </a:xfrm>
          <a:prstGeom prst="rect">
            <a:avLst/>
          </a:prstGeom>
          <a:noFill/>
          <a:ln/>
        </p:spPr>
        <p:txBody>
          <a:bodyPr wrap="square" lIns="0" tIns="0" rIns="0" bIns="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Examples: OpenTelemetry, Langfuse, LangSmith, MLflow.</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100" b="1" dirty="0">
                <a:solidFill>
                  <a:srgbClr val="1E1B4B"/>
                </a:solidFill>
                <a:latin typeface="Calibri" pitchFamily="34" charset="0"/>
                <a:ea typeface="Calibri" pitchFamily="34" charset="-122"/>
                <a:cs typeface="Calibri" pitchFamily="34" charset="-120"/>
              </a:rPr>
              <a:t>Comparison: choosing a deployment for a student project</a:t>
            </a:r>
            <a:endParaRPr lang="en-US" sz="31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958511"/>
                <a:gridCol w="3451596"/>
                <a:gridCol w="4684309"/>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Need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Route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Verify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Prototype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Hosted API</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Quality / terms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Private data</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Local model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Fit / quality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Demo</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Gradio</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Hosting eligibility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Many users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Serving engine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Load / waits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Repeatable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Docker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Tested pins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Responsible deployment checklist</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Assign owners and test controls before release.</a:t>
            </a:r>
            <a:endParaRPr lang="en-US" sz="2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257800" y="1481328"/>
          <a:ext cx="6385255" cy="914400"/>
        </p:xfrm>
        <a:graphic>
          <a:graphicData uri="http://schemas.openxmlformats.org/drawingml/2006/table">
            <a:tbl>
              <a:tblPr/>
              <a:tblGrid>
                <a:gridCol w="3192628"/>
                <a:gridCol w="319262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Requirement</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Evidence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Transparency</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Clear AI notice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Data / access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Minimise; restrict; expire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Quality / safety</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Test; monitor; escalate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Operation</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Owner; budget; rollback</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Four-request monitoring experiment</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Other experiments separate</a:t>
            </a:r>
            <a:endParaRPr lang="en-US" sz="1800" dirty="0"/>
          </a:p>
        </p:txBody>
      </p:sp>
      <p:sp>
        <p:nvSpPr>
          <p:cNvPr id="7" name="Shape 5"/>
          <p:cNvSpPr/>
          <p:nvPr/>
        </p:nvSpPr>
        <p:spPr>
          <a:xfrm>
            <a:off x="2716115" y="3838927"/>
            <a:ext cx="244024" cy="0"/>
          </a:xfrm>
          <a:prstGeom prst="line">
            <a:avLst/>
          </a:prstGeom>
          <a:noFill/>
          <a:ln w="22860">
            <a:solidFill>
              <a:srgbClr val="009E73"/>
            </a:solidFill>
            <a:prstDash val="solid"/>
            <a:tailEnd type="triangle"/>
          </a:ln>
        </p:spPr>
      </p:sp>
      <p:sp>
        <p:nvSpPr>
          <p:cNvPr id="8" name="Text 6"/>
          <p:cNvSpPr txBox="1"/>
          <p:nvPr/>
        </p:nvSpPr>
        <p:spPr>
          <a:xfrm>
            <a:off x="2037423"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text</a:t>
            </a:r>
            <a:endParaRPr lang="en-US" sz="1441" dirty="0"/>
          </a:p>
        </p:txBody>
      </p:sp>
      <p:sp>
        <p:nvSpPr>
          <p:cNvPr id="9" name="Shape 7"/>
          <p:cNvSpPr/>
          <p:nvPr/>
        </p:nvSpPr>
        <p:spPr>
          <a:xfrm>
            <a:off x="4887929" y="3838927"/>
            <a:ext cx="244024" cy="0"/>
          </a:xfrm>
          <a:prstGeom prst="line">
            <a:avLst/>
          </a:prstGeom>
          <a:noFill/>
          <a:ln w="22860">
            <a:solidFill>
              <a:srgbClr val="009E73"/>
            </a:solidFill>
            <a:prstDash val="solid"/>
            <a:tailEnd type="triangle"/>
          </a:ln>
        </p:spPr>
      </p:sp>
      <p:sp>
        <p:nvSpPr>
          <p:cNvPr id="10" name="Text 8"/>
          <p:cNvSpPr txBox="1"/>
          <p:nvPr/>
        </p:nvSpPr>
        <p:spPr>
          <a:xfrm>
            <a:off x="4209237"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JSON lines</a:t>
            </a:r>
            <a:endParaRPr lang="en-US" sz="1441" dirty="0"/>
          </a:p>
        </p:txBody>
      </p:sp>
      <p:sp>
        <p:nvSpPr>
          <p:cNvPr id="11" name="Shape 9"/>
          <p:cNvSpPr/>
          <p:nvPr/>
        </p:nvSpPr>
        <p:spPr>
          <a:xfrm>
            <a:off x="7059743" y="3838927"/>
            <a:ext cx="244024" cy="0"/>
          </a:xfrm>
          <a:prstGeom prst="line">
            <a:avLst/>
          </a:prstGeom>
          <a:noFill/>
          <a:ln w="22860">
            <a:solidFill>
              <a:srgbClr val="009E73"/>
            </a:solidFill>
            <a:prstDash val="solid"/>
            <a:tailEnd type="triangle"/>
          </a:ln>
        </p:spPr>
      </p:sp>
      <p:sp>
        <p:nvSpPr>
          <p:cNvPr id="12" name="Text 10"/>
          <p:cNvSpPr txBox="1"/>
          <p:nvPr/>
        </p:nvSpPr>
        <p:spPr>
          <a:xfrm>
            <a:off x="638105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rows</a:t>
            </a:r>
            <a:endParaRPr lang="en-US" sz="1441" dirty="0"/>
          </a:p>
        </p:txBody>
      </p:sp>
      <p:sp>
        <p:nvSpPr>
          <p:cNvPr id="13" name="Shape 11"/>
          <p:cNvSpPr/>
          <p:nvPr/>
        </p:nvSpPr>
        <p:spPr>
          <a:xfrm>
            <a:off x="9231556" y="3838927"/>
            <a:ext cx="244024" cy="0"/>
          </a:xfrm>
          <a:prstGeom prst="line">
            <a:avLst/>
          </a:prstGeom>
          <a:noFill/>
          <a:ln w="22860">
            <a:solidFill>
              <a:srgbClr val="009E73"/>
            </a:solidFill>
            <a:prstDash val="solid"/>
            <a:tailEnd type="triangle"/>
          </a:ln>
        </p:spPr>
      </p:sp>
      <p:sp>
        <p:nvSpPr>
          <p:cNvPr id="14" name="Text 12"/>
          <p:cNvSpPr txBox="1"/>
          <p:nvPr/>
        </p:nvSpPr>
        <p:spPr>
          <a:xfrm>
            <a:off x="8552865"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waits</a:t>
            </a:r>
            <a:endParaRPr lang="en-US" sz="1441" dirty="0"/>
          </a:p>
        </p:txBody>
      </p:sp>
      <p:sp>
        <p:nvSpPr>
          <p:cNvPr id="15" name="Shape 13"/>
          <p:cNvSpPr/>
          <p:nvPr/>
        </p:nvSpPr>
        <p:spPr>
          <a:xfrm>
            <a:off x="788325" y="2939089"/>
            <a:ext cx="1927790" cy="1799677"/>
          </a:xfrm>
          <a:prstGeom prst="roundRect">
            <a:avLst>
              <a:gd name="adj" fmla="val 4065"/>
            </a:avLst>
          </a:prstGeom>
          <a:solidFill>
            <a:srgbClr val="E4F2FB"/>
          </a:solidFill>
          <a:ln w="15240">
            <a:solidFill>
              <a:srgbClr val="0072B2"/>
            </a:solidFill>
            <a:prstDash val="solid"/>
          </a:ln>
        </p:spPr>
      </p:sp>
      <p:sp>
        <p:nvSpPr>
          <p:cNvPr id="16" name="Text 14"/>
          <p:cNvSpPr txBox="1"/>
          <p:nvPr/>
        </p:nvSpPr>
        <p:spPr>
          <a:xfrm>
            <a:off x="849331"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Traffic</a:t>
            </a:r>
            <a:endParaRPr lang="en-US" sz="1561" dirty="0"/>
          </a:p>
        </p:txBody>
      </p:sp>
      <p:sp>
        <p:nvSpPr>
          <p:cNvPr id="17" name="Text 15"/>
          <p:cNvSpPr txBox="1"/>
          <p:nvPr/>
        </p:nvSpPr>
        <p:spPr>
          <a:xfrm>
            <a:off x="849331"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Invented text</a:t>
            </a:r>
            <a:endParaRPr lang="en-US" sz="1441" dirty="0"/>
          </a:p>
        </p:txBody>
      </p:sp>
      <p:sp>
        <p:nvSpPr>
          <p:cNvPr id="18" name="Shape 16"/>
          <p:cNvSpPr/>
          <p:nvPr/>
        </p:nvSpPr>
        <p:spPr>
          <a:xfrm>
            <a:off x="2960139" y="2939089"/>
            <a:ext cx="1927790" cy="1799677"/>
          </a:xfrm>
          <a:prstGeom prst="rect">
            <a:avLst/>
          </a:prstGeom>
          <a:solidFill>
            <a:srgbClr val="F2F4F5"/>
          </a:solidFill>
          <a:ln w="15240">
            <a:solidFill>
              <a:srgbClr val="626B73"/>
            </a:solidFill>
            <a:prstDash val="solid"/>
          </a:ln>
        </p:spPr>
      </p:sp>
      <p:sp>
        <p:nvSpPr>
          <p:cNvPr id="19" name="Text 17"/>
          <p:cNvSpPr txBox="1"/>
          <p:nvPr/>
        </p:nvSpPr>
        <p:spPr>
          <a:xfrm>
            <a:off x="3021145"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Respond</a:t>
            </a:r>
            <a:endParaRPr lang="en-US" sz="1561" dirty="0"/>
          </a:p>
        </p:txBody>
      </p:sp>
      <p:sp>
        <p:nvSpPr>
          <p:cNvPr id="20" name="Text 18"/>
          <p:cNvSpPr txBox="1"/>
          <p:nvPr/>
        </p:nvSpPr>
        <p:spPr>
          <a:xfrm>
            <a:off x="3021145"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Checks + model</a:t>
            </a:r>
            <a:endParaRPr lang="en-US" sz="1441" dirty="0"/>
          </a:p>
        </p:txBody>
      </p:sp>
      <p:sp>
        <p:nvSpPr>
          <p:cNvPr id="21" name="Shape 19"/>
          <p:cNvSpPr/>
          <p:nvPr/>
        </p:nvSpPr>
        <p:spPr>
          <a:xfrm>
            <a:off x="5131953" y="2939089"/>
            <a:ext cx="1927790" cy="1799677"/>
          </a:xfrm>
          <a:prstGeom prst="rect">
            <a:avLst/>
          </a:prstGeom>
          <a:solidFill>
            <a:srgbClr val="F2F4F5"/>
          </a:solidFill>
          <a:ln w="15240">
            <a:solidFill>
              <a:srgbClr val="626B73"/>
            </a:solidFill>
            <a:prstDash val="solid"/>
          </a:ln>
        </p:spPr>
      </p:sp>
      <p:sp>
        <p:nvSpPr>
          <p:cNvPr id="22" name="Text 20"/>
          <p:cNvSpPr txBox="1"/>
          <p:nvPr/>
        </p:nvSpPr>
        <p:spPr>
          <a:xfrm>
            <a:off x="5192959"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Read log</a:t>
            </a:r>
            <a:endParaRPr lang="en-US" sz="1561" dirty="0"/>
          </a:p>
        </p:txBody>
      </p:sp>
      <p:sp>
        <p:nvSpPr>
          <p:cNvPr id="23" name="Text 21"/>
          <p:cNvSpPr txBox="1"/>
          <p:nvPr/>
        </p:nvSpPr>
        <p:spPr>
          <a:xfrm>
            <a:off x="5192959"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Metadata rows</a:t>
            </a:r>
            <a:endParaRPr lang="en-US" sz="1441" dirty="0"/>
          </a:p>
        </p:txBody>
      </p:sp>
      <p:sp>
        <p:nvSpPr>
          <p:cNvPr id="24" name="Shape 22"/>
          <p:cNvSpPr/>
          <p:nvPr/>
        </p:nvSpPr>
        <p:spPr>
          <a:xfrm>
            <a:off x="7303767" y="2939089"/>
            <a:ext cx="1927790" cy="1799677"/>
          </a:xfrm>
          <a:prstGeom prst="rect">
            <a:avLst/>
          </a:prstGeom>
          <a:solidFill>
            <a:srgbClr val="F2F4F5"/>
          </a:solidFill>
          <a:ln w="15240">
            <a:solidFill>
              <a:srgbClr val="626B73"/>
            </a:solidFill>
            <a:prstDash val="solid"/>
          </a:ln>
        </p:spPr>
      </p:sp>
      <p:sp>
        <p:nvSpPr>
          <p:cNvPr id="25" name="Text 23"/>
          <p:cNvSpPr txBox="1"/>
          <p:nvPr/>
        </p:nvSpPr>
        <p:spPr>
          <a:xfrm>
            <a:off x="7364773"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Filter</a:t>
            </a:r>
            <a:endParaRPr lang="en-US" sz="1561" dirty="0"/>
          </a:p>
        </p:txBody>
      </p:sp>
      <p:sp>
        <p:nvSpPr>
          <p:cNvPr id="26" name="Text 24"/>
          <p:cNvSpPr txBox="1"/>
          <p:nvPr/>
        </p:nvSpPr>
        <p:spPr>
          <a:xfrm>
            <a:off x="7364773"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Allowed only</a:t>
            </a:r>
            <a:endParaRPr lang="en-US" sz="1441" dirty="0"/>
          </a:p>
        </p:txBody>
      </p:sp>
      <p:sp>
        <p:nvSpPr>
          <p:cNvPr id="27" name="Shape 25"/>
          <p:cNvSpPr/>
          <p:nvPr/>
        </p:nvSpPr>
        <p:spPr>
          <a:xfrm>
            <a:off x="9475580" y="2939089"/>
            <a:ext cx="1927790" cy="1799677"/>
          </a:xfrm>
          <a:prstGeom prst="roundRect">
            <a:avLst>
              <a:gd name="adj" fmla="val 4065"/>
            </a:avLst>
          </a:prstGeom>
          <a:solidFill>
            <a:srgbClr val="FFF0E6"/>
          </a:solidFill>
          <a:ln w="15240">
            <a:solidFill>
              <a:srgbClr val="D55E00"/>
            </a:solidFill>
            <a:prstDash val="solid"/>
          </a:ln>
        </p:spPr>
      </p:sp>
      <p:sp>
        <p:nvSpPr>
          <p:cNvPr id="28" name="Text 26"/>
          <p:cNvSpPr txBox="1"/>
          <p:nvPr/>
        </p:nvSpPr>
        <p:spPr>
          <a:xfrm>
            <a:off x="9536586"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Summarise</a:t>
            </a:r>
            <a:endParaRPr lang="en-US" sz="1561" dirty="0"/>
          </a:p>
        </p:txBody>
      </p:sp>
      <p:sp>
        <p:nvSpPr>
          <p:cNvPr id="29" name="Text 27"/>
          <p:cNvSpPr txBox="1"/>
          <p:nvPr/>
        </p:nvSpPr>
        <p:spPr>
          <a:xfrm>
            <a:off x="9536586"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p50 / p95</a:t>
            </a:r>
            <a:endParaRPr lang="en-US" sz="1441" dirty="0"/>
          </a:p>
        </p:txBody>
      </p:sp>
      <p:sp>
        <p:nvSpPr>
          <p:cNvPr id="30" name="Shape 28"/>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1" name="Text 29"/>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32" name="Shape 30"/>
          <p:cNvSpPr/>
          <p:nvPr/>
        </p:nvSpPr>
        <p:spPr>
          <a:xfrm>
            <a:off x="1676436" y="5630979"/>
            <a:ext cx="198270" cy="198270"/>
          </a:xfrm>
          <a:prstGeom prst="roundRect">
            <a:avLst>
              <a:gd name="adj" fmla="val 36895"/>
            </a:avLst>
          </a:prstGeom>
          <a:solidFill>
            <a:srgbClr val="FFF0E6"/>
          </a:solidFill>
          <a:ln w="15240">
            <a:solidFill>
              <a:srgbClr val="D55E00"/>
            </a:solidFill>
            <a:prstDash val="solid"/>
          </a:ln>
        </p:spPr>
      </p:sp>
      <p:sp>
        <p:nvSpPr>
          <p:cNvPr id="33" name="Text 31"/>
          <p:cNvSpPr txBox="1"/>
          <p:nvPr/>
        </p:nvSpPr>
        <p:spPr>
          <a:xfrm>
            <a:off x="1935711" y="5608101"/>
            <a:ext cx="567330"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Check</a:t>
            </a:r>
            <a:endParaRPr lang="en-US" sz="1441" dirty="0"/>
          </a:p>
        </p:txBody>
      </p:sp>
      <p:sp>
        <p:nvSpPr>
          <p:cNvPr id="34" name="Shape 32"/>
          <p:cNvSpPr/>
          <p:nvPr/>
        </p:nvSpPr>
        <p:spPr>
          <a:xfrm>
            <a:off x="2701310" y="5630979"/>
            <a:ext cx="198270" cy="198270"/>
          </a:xfrm>
          <a:prstGeom prst="rect">
            <a:avLst/>
          </a:prstGeom>
          <a:solidFill>
            <a:srgbClr val="F2F4F5"/>
          </a:solidFill>
          <a:ln w="15240">
            <a:solidFill>
              <a:srgbClr val="626B73"/>
            </a:solidFill>
            <a:prstDash val="solid"/>
          </a:ln>
        </p:spPr>
      </p:sp>
      <p:sp>
        <p:nvSpPr>
          <p:cNvPr id="35" name="Text 33"/>
          <p:cNvSpPr txBox="1"/>
          <p:nvPr/>
        </p:nvSpPr>
        <p:spPr>
          <a:xfrm>
            <a:off x="2960586"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36" name="Shape 34"/>
          <p:cNvSpPr/>
          <p:nvPr/>
        </p:nvSpPr>
        <p:spPr>
          <a:xfrm>
            <a:off x="3557788" y="5730113"/>
            <a:ext cx="335533" cy="0"/>
          </a:xfrm>
          <a:prstGeom prst="line">
            <a:avLst/>
          </a:prstGeom>
          <a:noFill/>
          <a:ln w="22860">
            <a:solidFill>
              <a:srgbClr val="009E73"/>
            </a:solidFill>
            <a:prstDash val="solid"/>
            <a:tailEnd type="triangle"/>
          </a:ln>
        </p:spPr>
      </p:sp>
      <p:sp>
        <p:nvSpPr>
          <p:cNvPr id="37" name="Text 35"/>
          <p:cNvSpPr txBox="1"/>
          <p:nvPr/>
        </p:nvSpPr>
        <p:spPr>
          <a:xfrm>
            <a:off x="3954327"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38" name="Text 36"/>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Blocked rows in p95?</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100" b="1" dirty="0">
                <a:solidFill>
                  <a:srgbClr val="1E1B4B"/>
                </a:solidFill>
                <a:latin typeface="Calibri" pitchFamily="34" charset="0"/>
                <a:ea typeface="Calibri" pitchFamily="34" charset="-122"/>
                <a:cs typeface="Calibri" pitchFamily="34" charset="-120"/>
              </a:rPr>
              <a:t>Lab 11: deploy, measure and monitor a generative AI app</a:t>
            </a:r>
            <a:endParaRPr lang="en-US" sz="3100" dirty="0"/>
          </a:p>
        </p:txBody>
      </p:sp>
      <p:sp>
        <p:nvSpPr>
          <p:cNvPr id="6" name="Shape 4"/>
          <p:cNvSpPr/>
          <p:nvPr/>
        </p:nvSpPr>
        <p:spPr>
          <a:xfrm>
            <a:off x="548640" y="1527048"/>
            <a:ext cx="411480" cy="411480"/>
          </a:xfrm>
          <a:prstGeom prst="ellipse">
            <a:avLst/>
          </a:prstGeom>
          <a:solidFill>
            <a:srgbClr val="0F766E"/>
          </a:solidFill>
          <a:ln w="12700">
            <a:solidFill>
              <a:srgbClr val="0F766E"/>
            </a:solidFill>
            <a:prstDash val="solid"/>
          </a:ln>
        </p:spPr>
      </p:sp>
      <p:sp>
        <p:nvSpPr>
          <p:cNvPr id="7" name="Text 5"/>
          <p:cNvSpPr txBox="1"/>
          <p:nvPr/>
        </p:nvSpPr>
        <p:spPr>
          <a:xfrm>
            <a:off x="548640" y="152704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43000" y="148132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Time CPU generation.</a:t>
            </a:r>
            <a:endParaRPr lang="en-US" sz="2000" dirty="0"/>
          </a:p>
        </p:txBody>
      </p:sp>
      <p:sp>
        <p:nvSpPr>
          <p:cNvPr id="9" name="Shape 7"/>
          <p:cNvSpPr/>
          <p:nvPr/>
        </p:nvSpPr>
        <p:spPr>
          <a:xfrm>
            <a:off x="548640" y="2395728"/>
            <a:ext cx="411480" cy="411480"/>
          </a:xfrm>
          <a:prstGeom prst="ellipse">
            <a:avLst/>
          </a:prstGeom>
          <a:solidFill>
            <a:srgbClr val="0F766E"/>
          </a:solidFill>
          <a:ln w="12700">
            <a:solidFill>
              <a:srgbClr val="0F766E"/>
            </a:solidFill>
            <a:prstDash val="solid"/>
          </a:ln>
        </p:spPr>
      </p:sp>
      <p:sp>
        <p:nvSpPr>
          <p:cNvPr id="10" name="Text 8"/>
          <p:cNvSpPr txBox="1"/>
          <p:nvPr/>
        </p:nvSpPr>
        <p:spPr>
          <a:xfrm>
            <a:off x="548640" y="239572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43000" y="235000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Validate endpoint requests.</a:t>
            </a:r>
            <a:endParaRPr lang="en-US" sz="2000" dirty="0"/>
          </a:p>
        </p:txBody>
      </p:sp>
      <p:sp>
        <p:nvSpPr>
          <p:cNvPr id="12" name="Shape 10"/>
          <p:cNvSpPr/>
          <p:nvPr/>
        </p:nvSpPr>
        <p:spPr>
          <a:xfrm>
            <a:off x="548640" y="3264408"/>
            <a:ext cx="411480" cy="411480"/>
          </a:xfrm>
          <a:prstGeom prst="ellipse">
            <a:avLst/>
          </a:prstGeom>
          <a:solidFill>
            <a:srgbClr val="0F766E"/>
          </a:solidFill>
          <a:ln w="12700">
            <a:solidFill>
              <a:srgbClr val="0F766E"/>
            </a:solidFill>
            <a:prstDash val="solid"/>
          </a:ln>
        </p:spPr>
      </p:sp>
      <p:sp>
        <p:nvSpPr>
          <p:cNvPr id="13" name="Text 11"/>
          <p:cNvSpPr txBox="1"/>
          <p:nvPr/>
        </p:nvSpPr>
        <p:spPr>
          <a:xfrm>
            <a:off x="548640" y="326440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43000" y="321868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Estimate cost; simulate retries.</a:t>
            </a:r>
            <a:endParaRPr lang="en-US" sz="2000" dirty="0"/>
          </a:p>
        </p:txBody>
      </p:sp>
      <p:sp>
        <p:nvSpPr>
          <p:cNvPr id="15" name="Shape 13"/>
          <p:cNvSpPr/>
          <p:nvPr/>
        </p:nvSpPr>
        <p:spPr>
          <a:xfrm>
            <a:off x="548640" y="4133088"/>
            <a:ext cx="411480" cy="411480"/>
          </a:xfrm>
          <a:prstGeom prst="ellipse">
            <a:avLst/>
          </a:prstGeom>
          <a:solidFill>
            <a:srgbClr val="0F766E"/>
          </a:solidFill>
          <a:ln w="12700">
            <a:solidFill>
              <a:srgbClr val="0F766E"/>
            </a:solidFill>
            <a:prstDash val="solid"/>
          </a:ln>
        </p:spPr>
      </p:sp>
      <p:sp>
        <p:nvSpPr>
          <p:cNvPr id="16" name="Text 14"/>
          <p:cNvSpPr txBox="1"/>
          <p:nvPr/>
        </p:nvSpPr>
        <p:spPr>
          <a:xfrm>
            <a:off x="548640" y="413308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143000" y="408736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Probe rounding, batches and cache.</a:t>
            </a:r>
            <a:endParaRPr lang="en-US" sz="2000" dirty="0"/>
          </a:p>
        </p:txBody>
      </p:sp>
      <p:sp>
        <p:nvSpPr>
          <p:cNvPr id="18" name="Shape 16"/>
          <p:cNvSpPr/>
          <p:nvPr/>
        </p:nvSpPr>
        <p:spPr>
          <a:xfrm>
            <a:off x="548640" y="5001768"/>
            <a:ext cx="411480" cy="411480"/>
          </a:xfrm>
          <a:prstGeom prst="ellipse">
            <a:avLst/>
          </a:prstGeom>
          <a:solidFill>
            <a:srgbClr val="0F766E"/>
          </a:solidFill>
          <a:ln w="12700">
            <a:solidFill>
              <a:srgbClr val="0F766E"/>
            </a:solidFill>
            <a:prstDash val="solid"/>
          </a:ln>
        </p:spPr>
      </p:sp>
      <p:sp>
        <p:nvSpPr>
          <p:cNvPr id="19" name="Text 17"/>
          <p:cNvSpPr txBox="1"/>
          <p:nvPr/>
        </p:nvSpPr>
        <p:spPr>
          <a:xfrm>
            <a:off x="548640" y="500176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txBox="1"/>
          <p:nvPr/>
        </p:nvSpPr>
        <p:spPr>
          <a:xfrm>
            <a:off x="1143000" y="495604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Inspect monitoring and packaging.</a:t>
            </a:r>
            <a:endParaRPr lang="en-US" sz="2000" dirty="0"/>
          </a:p>
        </p:txBody>
      </p:sp>
      <p:sp>
        <p:nvSpPr>
          <p:cNvPr id="21" name="Shape 19"/>
          <p:cNvSpPr/>
          <p:nvPr/>
        </p:nvSpPr>
        <p:spPr>
          <a:xfrm>
            <a:off x="8046720" y="1481328"/>
            <a:ext cx="3596335" cy="4828032"/>
          </a:xfrm>
          <a:prstGeom prst="roundRect">
            <a:avLst>
              <a:gd name="adj" fmla="val 3051"/>
            </a:avLst>
          </a:prstGeom>
          <a:solidFill>
            <a:srgbClr val="E6F4F1"/>
          </a:solidFill>
          <a:ln w="12700">
            <a:solidFill>
              <a:srgbClr val="E6F4F1"/>
            </a:solidFill>
            <a:prstDash val="solid"/>
          </a:ln>
        </p:spPr>
      </p:sp>
      <p:sp>
        <p:nvSpPr>
          <p:cNvPr id="22" name="Shape 20"/>
          <p:cNvSpPr/>
          <p:nvPr/>
        </p:nvSpPr>
        <p:spPr>
          <a:xfrm>
            <a:off x="8229600" y="1709928"/>
            <a:ext cx="502920" cy="502920"/>
          </a:xfrm>
          <a:prstGeom prst="ellipse">
            <a:avLst/>
          </a:prstGeom>
          <a:solidFill>
            <a:srgbClr val="0F766E"/>
          </a:solidFill>
          <a:ln w="12700">
            <a:solidFill>
              <a:srgbClr val="0F766E"/>
            </a:solidFill>
            <a:prstDash val="solid"/>
          </a:ln>
        </p:spPr>
      </p:sp>
      <p:pic>
        <p:nvPicPr>
          <p:cNvPr id="23" name="Image 0" descr="preencoded.png">    </p:cNvPr>
          <p:cNvPicPr>
            <a:picLocks noChangeAspect="1"/>
          </p:cNvPicPr>
          <p:nvPr/>
        </p:nvPicPr>
        <p:blipFill>
          <a:blip r:embed="rId1"/>
          <a:stretch>
            <a:fillRect/>
          </a:stretch>
        </p:blipFill>
        <p:spPr>
          <a:xfrm>
            <a:off x="8350301" y="1830629"/>
            <a:ext cx="261518" cy="261518"/>
          </a:xfrm>
          <a:prstGeom prst="rect">
            <a:avLst/>
          </a:prstGeom>
        </p:spPr>
      </p:pic>
      <p:sp>
        <p:nvSpPr>
          <p:cNvPr id="24" name="Text 21"/>
          <p:cNvSpPr txBox="1"/>
          <p:nvPr/>
        </p:nvSpPr>
        <p:spPr>
          <a:xfrm>
            <a:off x="8869680" y="1664208"/>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Runtime</a:t>
            </a:r>
            <a:endParaRPr lang="en-US" sz="1500" dirty="0"/>
          </a:p>
        </p:txBody>
      </p:sp>
      <p:sp>
        <p:nvSpPr>
          <p:cNvPr id="25" name="Text 22"/>
          <p:cNvSpPr txBox="1"/>
          <p:nvPr/>
        </p:nvSpPr>
        <p:spPr>
          <a:xfrm>
            <a:off x="8869680" y="2011680"/>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CPU core: 40 seconds.</a:t>
            </a:r>
            <a:endParaRPr lang="en-US" sz="1400" dirty="0"/>
          </a:p>
        </p:txBody>
      </p:sp>
      <p:sp>
        <p:nvSpPr>
          <p:cNvPr id="26" name="Shape 23"/>
          <p:cNvSpPr/>
          <p:nvPr/>
        </p:nvSpPr>
        <p:spPr>
          <a:xfrm>
            <a:off x="8229600" y="3227832"/>
            <a:ext cx="502920" cy="502920"/>
          </a:xfrm>
          <a:prstGeom prst="ellipse">
            <a:avLst/>
          </a:prstGeom>
          <a:solidFill>
            <a:srgbClr val="0F766E"/>
          </a:solidFill>
          <a:ln w="12700">
            <a:solidFill>
              <a:srgbClr val="0F766E"/>
            </a:solidFill>
            <a:prstDash val="solid"/>
          </a:ln>
        </p:spPr>
      </p:sp>
      <p:pic>
        <p:nvPicPr>
          <p:cNvPr id="27" name="Image 1" descr="preencoded.png">    </p:cNvPr>
          <p:cNvPicPr>
            <a:picLocks noChangeAspect="1"/>
          </p:cNvPicPr>
          <p:nvPr/>
        </p:nvPicPr>
        <p:blipFill>
          <a:blip r:embed="rId2"/>
          <a:stretch>
            <a:fillRect/>
          </a:stretch>
        </p:blipFill>
        <p:spPr>
          <a:xfrm>
            <a:off x="8350301" y="3348533"/>
            <a:ext cx="261518" cy="261518"/>
          </a:xfrm>
          <a:prstGeom prst="rect">
            <a:avLst/>
          </a:prstGeom>
        </p:spPr>
      </p:pic>
      <p:sp>
        <p:nvSpPr>
          <p:cNvPr id="28" name="Text 24"/>
          <p:cNvSpPr txBox="1"/>
          <p:nvPr/>
        </p:nvSpPr>
        <p:spPr>
          <a:xfrm>
            <a:off x="8869680" y="3182112"/>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Time</a:t>
            </a:r>
            <a:endParaRPr lang="en-US" sz="1500" dirty="0"/>
          </a:p>
        </p:txBody>
      </p:sp>
      <p:sp>
        <p:nvSpPr>
          <p:cNvPr id="29" name="Text 25"/>
          <p:cNvSpPr txBox="1"/>
          <p:nvPr/>
        </p:nvSpPr>
        <p:spPr>
          <a:xfrm>
            <a:off x="8869680" y="3529584"/>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2-hour lab</a:t>
            </a:r>
            <a:endParaRPr lang="en-US" sz="1400" dirty="0"/>
          </a:p>
        </p:txBody>
      </p:sp>
      <p:sp>
        <p:nvSpPr>
          <p:cNvPr id="30" name="Shape 26"/>
          <p:cNvSpPr/>
          <p:nvPr/>
        </p:nvSpPr>
        <p:spPr>
          <a:xfrm>
            <a:off x="8229600" y="4745736"/>
            <a:ext cx="502920" cy="502920"/>
          </a:xfrm>
          <a:prstGeom prst="ellipse">
            <a:avLst/>
          </a:prstGeom>
          <a:solidFill>
            <a:srgbClr val="0F766E"/>
          </a:solidFill>
          <a:ln w="12700">
            <a:solidFill>
              <a:srgbClr val="0F766E"/>
            </a:solidFill>
            <a:prstDash val="solid"/>
          </a:ln>
        </p:spPr>
      </p:sp>
      <p:pic>
        <p:nvPicPr>
          <p:cNvPr id="31" name="Image 2" descr="preencoded.png">    </p:cNvPr>
          <p:cNvPicPr>
            <a:picLocks noChangeAspect="1"/>
          </p:cNvPicPr>
          <p:nvPr/>
        </p:nvPicPr>
        <p:blipFill>
          <a:blip r:embed="rId3"/>
          <a:stretch>
            <a:fillRect/>
          </a:stretch>
        </p:blipFill>
        <p:spPr>
          <a:xfrm>
            <a:off x="8350301" y="4866437"/>
            <a:ext cx="261518" cy="261518"/>
          </a:xfrm>
          <a:prstGeom prst="rect">
            <a:avLst/>
          </a:prstGeom>
        </p:spPr>
      </p:pic>
      <p:sp>
        <p:nvSpPr>
          <p:cNvPr id="32" name="Text 27"/>
          <p:cNvSpPr txBox="1"/>
          <p:nvPr/>
        </p:nvSpPr>
        <p:spPr>
          <a:xfrm>
            <a:off x="8869680" y="4700016"/>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Hand in</a:t>
            </a:r>
            <a:endParaRPr lang="en-US" sz="1500" dirty="0"/>
          </a:p>
        </p:txBody>
      </p:sp>
      <p:sp>
        <p:nvSpPr>
          <p:cNvPr id="33" name="Text 28"/>
          <p:cNvSpPr txBox="1"/>
          <p:nvPr/>
        </p:nvSpPr>
        <p:spPr>
          <a:xfrm>
            <a:off x="8869680" y="5047488"/>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Tables, checks and explained decisions.</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Read, watch, practise</a:t>
            </a:r>
            <a:endParaRPr lang="en-US" sz="3200" dirty="0"/>
          </a:p>
        </p:txBody>
      </p:sp>
      <p:sp>
        <p:nvSpPr>
          <p:cNvPr id="6" name="Shape 4"/>
          <p:cNvSpPr/>
          <p:nvPr/>
        </p:nvSpPr>
        <p:spPr>
          <a:xfrm>
            <a:off x="548640" y="1554480"/>
            <a:ext cx="457200" cy="457200"/>
          </a:xfrm>
          <a:prstGeom prst="ellipse">
            <a:avLst/>
          </a:prstGeom>
          <a:solidFill>
            <a:srgbClr val="4F46E5"/>
          </a:solidFill>
          <a:ln w="12700">
            <a:solidFill>
              <a:srgbClr val="4F46E5"/>
            </a:solidFill>
            <a:prstDash val="solid"/>
          </a:ln>
        </p:spPr>
      </p:sp>
      <p:pic>
        <p:nvPicPr>
          <p:cNvPr id="7" name="Image 0" descr="preencoded.png">    </p:cNvPr>
          <p:cNvPicPr>
            <a:picLocks noChangeAspect="1"/>
          </p:cNvPicPr>
          <p:nvPr/>
        </p:nvPicPr>
        <p:blipFill>
          <a:blip r:embed="rId1"/>
          <a:stretch>
            <a:fillRect/>
          </a:stretch>
        </p:blipFill>
        <p:spPr>
          <a:xfrm>
            <a:off x="658368" y="1664208"/>
            <a:ext cx="237744" cy="237744"/>
          </a:xfrm>
          <a:prstGeom prst="rect">
            <a:avLst/>
          </a:prstGeom>
        </p:spPr>
      </p:pic>
      <p:sp>
        <p:nvSpPr>
          <p:cNvPr id="8" name="Text 5"/>
          <p:cNvSpPr txBox="1"/>
          <p:nvPr/>
        </p:nvSpPr>
        <p:spPr>
          <a:xfrm>
            <a:off x="1143000" y="148132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FastAPI testing</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In-process requests</a:t>
            </a:r>
            <a:endParaRPr lang="en-US" sz="1500" dirty="0"/>
          </a:p>
        </p:txBody>
      </p:sp>
      <p:sp>
        <p:nvSpPr>
          <p:cNvPr id="9" name="Shape 6"/>
          <p:cNvSpPr/>
          <p:nvPr/>
        </p:nvSpPr>
        <p:spPr>
          <a:xfrm>
            <a:off x="548640" y="2377440"/>
            <a:ext cx="457200" cy="457200"/>
          </a:xfrm>
          <a:prstGeom prst="ellipse">
            <a:avLst/>
          </a:prstGeom>
          <a:solidFill>
            <a:srgbClr val="4F46E5"/>
          </a:solidFill>
          <a:ln w="12700">
            <a:solidFill>
              <a:srgbClr val="4F46E5"/>
            </a:solidFill>
            <a:prstDash val="solid"/>
          </a:ln>
        </p:spPr>
      </p:sp>
      <p:pic>
        <p:nvPicPr>
          <p:cNvPr id="10" name="Image 1" descr="preencoded.png">    </p:cNvPr>
          <p:cNvPicPr>
            <a:picLocks noChangeAspect="1"/>
          </p:cNvPicPr>
          <p:nvPr/>
        </p:nvPicPr>
        <p:blipFill>
          <a:blip r:embed="rId3"/>
          <a:stretch>
            <a:fillRect/>
          </a:stretch>
        </p:blipFill>
        <p:spPr>
          <a:xfrm>
            <a:off x="658368" y="2487168"/>
            <a:ext cx="237744" cy="237744"/>
          </a:xfrm>
          <a:prstGeom prst="rect">
            <a:avLst/>
          </a:prstGeom>
        </p:spPr>
      </p:pic>
      <p:sp>
        <p:nvSpPr>
          <p:cNvPr id="11" name="Text 7"/>
          <p:cNvSpPr txBox="1"/>
          <p:nvPr/>
        </p:nvSpPr>
        <p:spPr>
          <a:xfrm>
            <a:off x="1143000" y="230428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SmolLM2 model card</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Local model limits</a:t>
            </a:r>
            <a:endParaRPr lang="en-US" sz="1500" dirty="0"/>
          </a:p>
        </p:txBody>
      </p:sp>
      <p:sp>
        <p:nvSpPr>
          <p:cNvPr id="12" name="Shape 8"/>
          <p:cNvSpPr/>
          <p:nvPr/>
        </p:nvSpPr>
        <p:spPr>
          <a:xfrm>
            <a:off x="548640" y="3200400"/>
            <a:ext cx="457200" cy="457200"/>
          </a:xfrm>
          <a:prstGeom prst="ellipse">
            <a:avLst/>
          </a:prstGeom>
          <a:solidFill>
            <a:srgbClr val="4F46E5"/>
          </a:solidFill>
          <a:ln w="12700">
            <a:solidFill>
              <a:srgbClr val="4F46E5"/>
            </a:solidFill>
            <a:prstDash val="solid"/>
          </a:ln>
        </p:spPr>
      </p:sp>
      <p:pic>
        <p:nvPicPr>
          <p:cNvPr id="13" name="Image 2" descr="preencoded.png">    </p:cNvPr>
          <p:cNvPicPr>
            <a:picLocks noChangeAspect="1"/>
          </p:cNvPicPr>
          <p:nvPr/>
        </p:nvPicPr>
        <p:blipFill>
          <a:blip r:embed="rId5"/>
          <a:stretch>
            <a:fillRect/>
          </a:stretch>
        </p:blipFill>
        <p:spPr>
          <a:xfrm>
            <a:off x="658368" y="3310128"/>
            <a:ext cx="237744" cy="237744"/>
          </a:xfrm>
          <a:prstGeom prst="rect">
            <a:avLst/>
          </a:prstGeom>
        </p:spPr>
      </p:pic>
      <p:sp>
        <p:nvSpPr>
          <p:cNvPr id="14" name="Text 9"/>
          <p:cNvSpPr txBox="1"/>
          <p:nvPr/>
        </p:nvSpPr>
        <p:spPr>
          <a:xfrm>
            <a:off x="1143000" y="312724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Gradio quickstart</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Python interface</a:t>
            </a:r>
            <a:endParaRPr lang="en-US" sz="1500" dirty="0"/>
          </a:p>
        </p:txBody>
      </p:sp>
      <p:sp>
        <p:nvSpPr>
          <p:cNvPr id="15" name="Shape 10"/>
          <p:cNvSpPr/>
          <p:nvPr/>
        </p:nvSpPr>
        <p:spPr>
          <a:xfrm>
            <a:off x="548640" y="4023360"/>
            <a:ext cx="457200" cy="457200"/>
          </a:xfrm>
          <a:prstGeom prst="ellipse">
            <a:avLst/>
          </a:prstGeom>
          <a:solidFill>
            <a:srgbClr val="4F46E5"/>
          </a:solidFill>
          <a:ln w="12700">
            <a:solidFill>
              <a:srgbClr val="4F46E5"/>
            </a:solidFill>
            <a:prstDash val="solid"/>
          </a:ln>
        </p:spPr>
      </p:sp>
      <p:pic>
        <p:nvPicPr>
          <p:cNvPr id="16" name="Image 3" descr="preencoded.png">    </p:cNvPr>
          <p:cNvPicPr>
            <a:picLocks noChangeAspect="1"/>
          </p:cNvPicPr>
          <p:nvPr/>
        </p:nvPicPr>
        <p:blipFill>
          <a:blip r:embed="rId7"/>
          <a:stretch>
            <a:fillRect/>
          </a:stretch>
        </p:blipFill>
        <p:spPr>
          <a:xfrm>
            <a:off x="658368" y="4133088"/>
            <a:ext cx="237744" cy="237744"/>
          </a:xfrm>
          <a:prstGeom prst="rect">
            <a:avLst/>
          </a:prstGeom>
        </p:spPr>
      </p:pic>
      <p:sp>
        <p:nvSpPr>
          <p:cNvPr id="17" name="Text 11"/>
          <p:cNvSpPr txBox="1"/>
          <p:nvPr/>
        </p:nvSpPr>
        <p:spPr>
          <a:xfrm>
            <a:off x="1143000" y="395020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Spaces conditions</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Check hosting eligibility</a:t>
            </a:r>
            <a:endParaRPr lang="en-US" sz="1500" dirty="0"/>
          </a:p>
        </p:txBody>
      </p:sp>
      <p:sp>
        <p:nvSpPr>
          <p:cNvPr id="18" name="Shape 12"/>
          <p:cNvSpPr/>
          <p:nvPr/>
        </p:nvSpPr>
        <p:spPr>
          <a:xfrm>
            <a:off x="548640" y="4846320"/>
            <a:ext cx="457200" cy="457200"/>
          </a:xfrm>
          <a:prstGeom prst="ellipse">
            <a:avLst/>
          </a:prstGeom>
          <a:solidFill>
            <a:srgbClr val="DC2626"/>
          </a:solidFill>
          <a:ln w="12700">
            <a:solidFill>
              <a:srgbClr val="DC2626"/>
            </a:solidFill>
            <a:prstDash val="solid"/>
          </a:ln>
        </p:spPr>
      </p:sp>
      <p:pic>
        <p:nvPicPr>
          <p:cNvPr id="19" name="Image 4" descr="preencoded.png">    </p:cNvPr>
          <p:cNvPicPr>
            <a:picLocks noChangeAspect="1"/>
          </p:cNvPicPr>
          <p:nvPr/>
        </p:nvPicPr>
        <p:blipFill>
          <a:blip r:embed="rId9"/>
          <a:stretch>
            <a:fillRect/>
          </a:stretch>
        </p:blipFill>
        <p:spPr>
          <a:xfrm>
            <a:off x="658368" y="4956048"/>
            <a:ext cx="237744" cy="237744"/>
          </a:xfrm>
          <a:prstGeom prst="rect">
            <a:avLst/>
          </a:prstGeom>
        </p:spPr>
      </p:pic>
      <p:sp>
        <p:nvSpPr>
          <p:cNvPr id="20" name="Text 13"/>
          <p:cNvSpPr txBox="1"/>
          <p:nvPr/>
        </p:nvSpPr>
        <p:spPr>
          <a:xfrm>
            <a:off x="1143000" y="477316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Spaces introduction</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Watch workflow; verify conditions</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11  ·  DEPLOYMENT AND FRAMEWORKS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Week 11: operate an application</a:t>
            </a:r>
            <a:endParaRPr lang="en-US" sz="3200" dirty="0"/>
          </a:p>
        </p:txBody>
      </p:sp>
      <p:sp>
        <p:nvSpPr>
          <p:cNvPr id="6" name="Shape 4"/>
          <p:cNvSpPr/>
          <p:nvPr/>
        </p:nvSpPr>
        <p:spPr>
          <a:xfrm>
            <a:off x="946879" y="1630142"/>
            <a:ext cx="3323515" cy="1376531"/>
          </a:xfrm>
          <a:prstGeom prst="roundRect">
            <a:avLst>
              <a:gd name="adj" fmla="val 5314"/>
            </a:avLst>
          </a:prstGeom>
          <a:solidFill>
            <a:srgbClr val="E4F2FB"/>
          </a:solidFill>
          <a:ln w="15240">
            <a:solidFill>
              <a:srgbClr val="0072B2"/>
            </a:solidFill>
            <a:prstDash val="solid"/>
          </a:ln>
        </p:spPr>
      </p:sp>
      <p:sp>
        <p:nvSpPr>
          <p:cNvPr id="7" name="Text 5"/>
          <p:cNvSpPr txBox="1"/>
          <p:nvPr/>
        </p:nvSpPr>
        <p:spPr>
          <a:xfrm>
            <a:off x="1080812"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Layers</a:t>
            </a:r>
            <a:endParaRPr lang="en-US" sz="1758" dirty="0"/>
          </a:p>
        </p:txBody>
      </p:sp>
      <p:sp>
        <p:nvSpPr>
          <p:cNvPr id="8" name="Text 6"/>
          <p:cNvSpPr txBox="1"/>
          <p:nvPr/>
        </p:nvSpPr>
        <p:spPr>
          <a:xfrm>
            <a:off x="1080812"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Responsibilities.</a:t>
            </a:r>
            <a:endParaRPr lang="en-US" sz="1523" dirty="0"/>
          </a:p>
        </p:txBody>
      </p:sp>
      <p:sp>
        <p:nvSpPr>
          <p:cNvPr id="9" name="Shape 7"/>
          <p:cNvSpPr/>
          <p:nvPr/>
        </p:nvSpPr>
        <p:spPr>
          <a:xfrm>
            <a:off x="4434090" y="1630142"/>
            <a:ext cx="3323515" cy="1376531"/>
          </a:xfrm>
          <a:prstGeom prst="rect">
            <a:avLst/>
          </a:prstGeom>
          <a:solidFill>
            <a:srgbClr val="F2F4F5"/>
          </a:solidFill>
          <a:ln w="15240">
            <a:solidFill>
              <a:srgbClr val="626B73"/>
            </a:solidFill>
            <a:prstDash val="solid"/>
          </a:ln>
        </p:spPr>
      </p:sp>
      <p:sp>
        <p:nvSpPr>
          <p:cNvPr id="10" name="Text 8"/>
          <p:cNvSpPr txBox="1"/>
          <p:nvPr/>
        </p:nvSpPr>
        <p:spPr>
          <a:xfrm>
            <a:off x="4568023"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API</a:t>
            </a:r>
            <a:endParaRPr lang="en-US" sz="1758" dirty="0"/>
          </a:p>
        </p:txBody>
      </p:sp>
      <p:sp>
        <p:nvSpPr>
          <p:cNvPr id="11" name="Text 9"/>
          <p:cNvSpPr txBox="1"/>
          <p:nvPr/>
        </p:nvSpPr>
        <p:spPr>
          <a:xfrm>
            <a:off x="4568023"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Fields + secrets.</a:t>
            </a:r>
            <a:endParaRPr lang="en-US" sz="1523" dirty="0"/>
          </a:p>
        </p:txBody>
      </p:sp>
      <p:sp>
        <p:nvSpPr>
          <p:cNvPr id="12" name="Shape 10"/>
          <p:cNvSpPr/>
          <p:nvPr/>
        </p:nvSpPr>
        <p:spPr>
          <a:xfrm>
            <a:off x="7921301" y="1630142"/>
            <a:ext cx="3323515" cy="1376531"/>
          </a:xfrm>
          <a:prstGeom prst="roundRect">
            <a:avLst>
              <a:gd name="adj" fmla="val 5314"/>
            </a:avLst>
          </a:prstGeom>
          <a:solidFill>
            <a:srgbClr val="FFF0E6"/>
          </a:solidFill>
          <a:ln w="15240">
            <a:solidFill>
              <a:srgbClr val="D55E00"/>
            </a:solidFill>
            <a:prstDash val="solid"/>
          </a:ln>
        </p:spPr>
      </p:sp>
      <p:sp>
        <p:nvSpPr>
          <p:cNvPr id="13" name="Text 11"/>
          <p:cNvSpPr txBox="1"/>
          <p:nvPr/>
        </p:nvSpPr>
        <p:spPr>
          <a:xfrm>
            <a:off x="8055233"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Speed</a:t>
            </a:r>
            <a:endParaRPr lang="en-US" sz="1758" dirty="0"/>
          </a:p>
        </p:txBody>
      </p:sp>
      <p:sp>
        <p:nvSpPr>
          <p:cNvPr id="14" name="Text 12"/>
          <p:cNvSpPr txBox="1"/>
          <p:nvPr/>
        </p:nvSpPr>
        <p:spPr>
          <a:xfrm>
            <a:off x="8055233"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First/full/throughput.</a:t>
            </a:r>
            <a:endParaRPr lang="en-US" sz="1523" dirty="0"/>
          </a:p>
        </p:txBody>
      </p:sp>
      <p:sp>
        <p:nvSpPr>
          <p:cNvPr id="15" name="Shape 13"/>
          <p:cNvSpPr/>
          <p:nvPr/>
        </p:nvSpPr>
        <p:spPr>
          <a:xfrm>
            <a:off x="946879" y="3170368"/>
            <a:ext cx="3323515" cy="1376531"/>
          </a:xfrm>
          <a:prstGeom prst="rect">
            <a:avLst/>
          </a:prstGeom>
          <a:solidFill>
            <a:srgbClr val="E5F7EF"/>
          </a:solidFill>
          <a:ln w="15240">
            <a:solidFill>
              <a:srgbClr val="009E73"/>
            </a:solidFill>
            <a:prstDash val="solid"/>
          </a:ln>
        </p:spPr>
      </p:sp>
      <p:sp>
        <p:nvSpPr>
          <p:cNvPr id="16" name="Text 14"/>
          <p:cNvSpPr txBox="1"/>
          <p:nvPr/>
        </p:nvSpPr>
        <p:spPr>
          <a:xfrm>
            <a:off x="1080812"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Efficiency</a:t>
            </a:r>
            <a:endParaRPr lang="en-US" sz="1758" dirty="0"/>
          </a:p>
        </p:txBody>
      </p:sp>
      <p:sp>
        <p:nvSpPr>
          <p:cNvPr id="17" name="Text 15"/>
          <p:cNvSpPr txBox="1"/>
          <p:nvPr/>
        </p:nvSpPr>
        <p:spPr>
          <a:xfrm>
            <a:off x="1080812"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Measure quality.</a:t>
            </a:r>
            <a:endParaRPr lang="en-US" sz="1523" dirty="0"/>
          </a:p>
        </p:txBody>
      </p:sp>
      <p:sp>
        <p:nvSpPr>
          <p:cNvPr id="18" name="Shape 16"/>
          <p:cNvSpPr/>
          <p:nvPr/>
        </p:nvSpPr>
        <p:spPr>
          <a:xfrm>
            <a:off x="4434090" y="3170368"/>
            <a:ext cx="3323515" cy="1376531"/>
          </a:xfrm>
          <a:prstGeom prst="rect">
            <a:avLst/>
          </a:prstGeom>
          <a:solidFill>
            <a:srgbClr val="F2F4F5"/>
          </a:solidFill>
          <a:ln w="15240">
            <a:solidFill>
              <a:srgbClr val="626B73"/>
            </a:solidFill>
            <a:prstDash val="solid"/>
          </a:ln>
        </p:spPr>
      </p:sp>
      <p:sp>
        <p:nvSpPr>
          <p:cNvPr id="19" name="Text 17"/>
          <p:cNvSpPr txBox="1"/>
          <p:nvPr/>
        </p:nvSpPr>
        <p:spPr>
          <a:xfrm>
            <a:off x="4568023"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Release</a:t>
            </a:r>
            <a:endParaRPr lang="en-US" sz="1758" dirty="0"/>
          </a:p>
        </p:txBody>
      </p:sp>
      <p:sp>
        <p:nvSpPr>
          <p:cNvPr id="20" name="Text 18"/>
          <p:cNvSpPr txBox="1"/>
          <p:nvPr/>
        </p:nvSpPr>
        <p:spPr>
          <a:xfrm>
            <a:off x="4568023"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Tested versions.</a:t>
            </a:r>
            <a:endParaRPr lang="en-US" sz="1523" dirty="0"/>
          </a:p>
        </p:txBody>
      </p:sp>
      <p:sp>
        <p:nvSpPr>
          <p:cNvPr id="21" name="Shape 19"/>
          <p:cNvSpPr/>
          <p:nvPr/>
        </p:nvSpPr>
        <p:spPr>
          <a:xfrm>
            <a:off x="7921301" y="3170368"/>
            <a:ext cx="3323515" cy="1376531"/>
          </a:xfrm>
          <a:prstGeom prst="roundRect">
            <a:avLst>
              <a:gd name="adj" fmla="val 5314"/>
            </a:avLst>
          </a:prstGeom>
          <a:solidFill>
            <a:srgbClr val="F9EAF4"/>
          </a:solidFill>
          <a:ln w="15240">
            <a:solidFill>
              <a:srgbClr val="CC79A7"/>
            </a:solidFill>
            <a:prstDash val="solid"/>
          </a:ln>
        </p:spPr>
      </p:sp>
      <p:sp>
        <p:nvSpPr>
          <p:cNvPr id="22" name="Text 20"/>
          <p:cNvSpPr txBox="1"/>
          <p:nvPr/>
        </p:nvSpPr>
        <p:spPr>
          <a:xfrm>
            <a:off x="8055233"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Monitor</a:t>
            </a:r>
            <a:endParaRPr lang="en-US" sz="1758" dirty="0"/>
          </a:p>
        </p:txBody>
      </p:sp>
      <p:sp>
        <p:nvSpPr>
          <p:cNvPr id="23" name="Text 21"/>
          <p:cNvSpPr txBox="1"/>
          <p:nvPr/>
        </p:nvSpPr>
        <p:spPr>
          <a:xfrm>
            <a:off x="8055233"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Every route.</a:t>
            </a:r>
            <a:endParaRPr lang="en-US" sz="1523" dirty="0"/>
          </a:p>
        </p:txBody>
      </p:sp>
      <p:sp>
        <p:nvSpPr>
          <p:cNvPr id="24" name="Text 22"/>
          <p:cNvSpPr txBox="1"/>
          <p:nvPr/>
        </p:nvSpPr>
        <p:spPr>
          <a:xfrm>
            <a:off x="946879" y="4680832"/>
            <a:ext cx="10297937" cy="260425"/>
          </a:xfrm>
          <a:prstGeom prst="rect">
            <a:avLst/>
          </a:prstGeom>
          <a:noFill/>
          <a:ln/>
        </p:spPr>
        <p:txBody>
          <a:bodyPr wrap="square" lIns="0" tIns="0" rIns="0" bIns="0" rtlCol="0" anchor="ctr"/>
          <a:lstStyle/>
          <a:p>
            <a:pPr algn="l" indent="0" marL="0">
              <a:lnSpc>
                <a:spcPct val="116000"/>
              </a:lnSpc>
              <a:buNone/>
            </a:pPr>
            <a:r>
              <a:rPr lang="en-US" sz="1523" b="1" dirty="0">
                <a:solidFill>
                  <a:srgbClr val="1E1B4B"/>
                </a:solidFill>
                <a:latin typeface="Arial" pitchFamily="34" charset="0"/>
                <a:ea typeface="Arial" pitchFamily="34" charset="-122"/>
                <a:cs typeface="Arial" pitchFamily="34" charset="-120"/>
              </a:rPr>
              <a:t>Example to explain aloud</a:t>
            </a:r>
            <a:endParaRPr lang="en-US" sz="1523" dirty="0"/>
          </a:p>
        </p:txBody>
      </p:sp>
      <p:sp>
        <p:nvSpPr>
          <p:cNvPr id="25" name="Text 23"/>
          <p:cNvSpPr txBox="1"/>
          <p:nvPr/>
        </p:nvSpPr>
        <p:spPr>
          <a:xfrm>
            <a:off x="946879" y="4993341"/>
            <a:ext cx="10297937" cy="468764"/>
          </a:xfrm>
          <a:prstGeom prst="rect">
            <a:avLst/>
          </a:prstGeom>
          <a:noFill/>
          <a:ln/>
        </p:spPr>
        <p:txBody>
          <a:bodyPr wrap="square" lIns="0" tIns="0" rIns="0" bIns="0" rtlCol="0" anchor="ctr"/>
          <a:lstStyle/>
          <a:p>
            <a:pPr algn="l" indent="0" marL="0">
              <a:lnSpc>
                <a:spcPct val="116000"/>
              </a:lnSpc>
              <a:buNone/>
            </a:pPr>
            <a:r>
              <a:rPr lang="en-US" sz="1582" dirty="0">
                <a:solidFill>
                  <a:srgbClr val="1F2937"/>
                </a:solidFill>
                <a:latin typeface="Arial" pitchFamily="34" charset="0"/>
                <a:ea typeface="Arial" pitchFamily="34" charset="-122"/>
                <a:cs typeface="Arial" pitchFamily="34" charset="-120"/>
              </a:rPr>
              <a:t>Classroom cost: 300,000 × 0.0002 = $60.</a:t>
            </a:r>
            <a:endParaRPr lang="en-US" sz="1582" dirty="0"/>
          </a:p>
        </p:txBody>
      </p:sp>
      <p:sp>
        <p:nvSpPr>
          <p:cNvPr id="26" name="Text 24"/>
          <p:cNvSpPr txBox="1"/>
          <p:nvPr/>
        </p:nvSpPr>
        <p:spPr>
          <a:xfrm>
            <a:off x="946879" y="5529072"/>
            <a:ext cx="10297937" cy="461324"/>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Next: retrieval and tools.</a:t>
            </a:r>
            <a:endParaRPr lang="en-US" sz="1523" dirty="0"/>
          </a:p>
        </p:txBody>
      </p:sp>
      <p:sp>
        <p:nvSpPr>
          <p:cNvPr id="27" name="Text 25"/>
          <p:cNvSpPr txBox="1"/>
          <p:nvPr/>
        </p:nvSpPr>
        <p:spPr>
          <a:xfrm>
            <a:off x="548640" y="6044184"/>
            <a:ext cx="11094415" cy="338328"/>
          </a:xfrm>
          <a:prstGeom prst="rect">
            <a:avLst/>
          </a:prstGeom>
          <a:noFill/>
          <a:ln/>
        </p:spPr>
        <p:txBody>
          <a:bodyPr wrap="square" lIns="0" tIns="0" rIns="0" bIns="0" rtlCol="0" anchor="t"/>
          <a:lstStyle/>
          <a:p>
            <a:pPr indent="0" marL="0">
              <a:buNone/>
            </a:pPr>
            <a:r>
              <a:rPr lang="en-US" sz="1600" dirty="0">
                <a:solidFill>
                  <a:srgbClr val="1E1B4B"/>
                </a:solidFill>
                <a:latin typeface="Calibri" pitchFamily="34" charset="0"/>
                <a:ea typeface="Calibri" pitchFamily="34" charset="-122"/>
                <a:cs typeface="Calibri" pitchFamily="34" charset="-120"/>
              </a:rPr>
              <a:t>Exit question: More throughput: always shorter waits?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11: Deployment and Frameworks</dc:title>
  <dc:subject>Generative AI (MSc in Artificial Intelligence)</dc:subject>
  <dc:creator>Generative AI module team</dc:creator>
  <cp:lastModifiedBy>Generative AI module team</cp:lastModifiedBy>
  <cp:revision>1</cp:revision>
  <dcterms:created xsi:type="dcterms:W3CDTF">2026-10-11T21:26:23Z</dcterms:created>
  <dcterms:modified xsi:type="dcterms:W3CDTF">2026-10-11T21:26:23Z</dcterms:modified>
</cp:coreProperties>
</file>