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11, deployment and frameworks. So far we have used models inside notebooks. This week we turn a model into something other people can use: an application with an interface and an API, running somewhere sensible, at an acceptable cost and speed, with guardrails and monitoring. Every number on the "real" slides was measured by running this week's lab in advance, on a small open model, so students can reproduce them on Colab.
Ask students: What separates a notebook that works from an application other people can use?
Expected answer: An interface or API, a place to run, controlled cost and speed, guardrails and monitoring.
Common mistake: Treating deployment as copying the notebook to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descriptor's week 11: frameworks; API platforms; deployment options; building applications and interfaces; deploying and monitoring with standard tools; and comparison. The final outcome is the one examiners and employers care about: justifying a deployment decision with evidence about latency, cost and quality rather than habit. This week practises MIMLO 5, deploying generative AI with contemporary frameworks, together with MIMLO 3 and 4.
Ask students: Which outcome matters most to employers?
Expected answer: Justifying a deployment decision with evidence about latency, cost and quality.
Common mistake: Choosing a framework out of habit rather than for a specific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revised descriptor. Sections two and three contain real measurements from the lab: streaming latency, quantisation and batching. Take the break after section three. Sections four and five show the code students will write in the lab and how to monitor and protect the application.
Ask students: Which sections contain real measurements?
Expected answer: Sections two and three: streaming latency, quantisation and batching.
Common mistake: Reading measurements from one laptop GPU as typical of every deployment.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Token: A unit processed or generated by a model; a text token can be a word, word part or character. Check: Are character count and token count always the same? Answer: No. A token can be a whole word, part of a word or punctuation. Function: A named piece of code taking inputs and returning an output. Check: What are the inputs and output of a chat response function? Answer: Inputs: the messages and settings such as max_tokens. Output: the generated reply. JSON: A structured text format for exchanging fields and values, including objects and lists. Check: In {"max_tokens":64}, which part is the field name? Answer: max_tokens is the field name; 64 is its value. API: An interface through which one program asks another to do work. Check: Does a browser need the provider's secret key? Answer: No. The secret key stays on the server; the browser talks to your server. Latency: The elapsed time from a request to its result; first-token latency measures the initial wait. Check: Is first-token wait the same as full-answer wait? Answer: No. The first token usually arrives well before the full answer is finished.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Collect answers under the four headings on the slide; together they are the agenda for today. Students often mention speed first. Push them on cost: a public link to a paid API with no limits can produce a large bill overnight. Push them on keys: API keys pasted into notebooks or GitHub are routinely stolen by automated scanners. And on operations: without logs you do not know that the app is failing until users complain.
Analogy: A classroom tap works for one cup; serving 500 people needs measured flow, capacity and someone watching for leaks.
Ask students: What changes when one notebook serves 500 students?
Expected answer: Concurrent requests, waiting time, cost, failure handling and operating responsibilities all need testing.
Common mistake: A successful single request does not demonstrate capacity for many simultaneous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maps the tool landscape into layers, compares the main frameworks named in the descriptor, introduces the OpenAI-compatible API pattern that connects them, and discusses when an orchestration framework helps and when plain code is better. Ask students which of these tools they have already used: most know a chat assistant, few have called an API directly. About twenty minutes.
Analogy: A restaurant separates the menu, kitchen and waiter. Model libraries, servers and application code likewise do different jobs.
Ask students: Does using a workflow framework automatically host the model?
Expected answer: No. Coordination, model execution and hosting are separate choices.
Common mistake: An OpenAI-compatible endpoint may implement only a subset of the client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turns a model into a system that accepts requests and returns usable answers. In this lab, Gradio calls the Python respond function directly. The separate FastAPI exercise offers another route to the same model; the Gradio interface does not call that API. The respond function first applies an input check to the current message. Allowed requests combine a system instruction, recent history and cleaned text, then generate returns answer text and token counts. A basic output check runs before the answer is returned. Blocked requests skip generation and receive a refusal. Both paths write latency, model identity, token counts and the blocking reason to a JSON-lines log. Monitoring summarises those records into percentiles and counts. These simple pattern checks illustrate the flow; they do not guarantee that every injection or personal-data format will be detected.
Worked example:
A student types a question in the Gradio interface.
respond checks the current message before calling the local model.
An allowed message reaches generate; a blocked request skips model generation.
The output is checked and a metadata-only JSON log line is written.
Monitoring aggregates allowed-request latency and all-request block counts.
Check: Does a blocked request consume model-generation tokens in respond?
Answer: No. It skips generate and logs zero prompt and completion token counts for that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layers. At the bottom is hardware: cloud GPUs and TPUs, servers, laptops and phones with neural processing units. Models are proprietary, reached only through APIs, or open-weight, downloaded from the Hugging Face Hub. The access and serving layer is how you run a model: cloud APIs, self-hosted serving engines such as vLLM, or local runners such as Ollama. Orchestration frameworks compose prompts, tools, retrieval and agents. At the top are applications and interfaces.
Ask students: In which layer do vLLM and Ollama sit?
Expected answer: Access and serving: they run models; they are neither models nor orchestration frameworks.
Common mistake: Confusing orchestration, such as LangChain, with model hosting.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table by layer. Hugging Face is the hub for open models and also offers hosted inference through partner providers. OpenAI's API and Microsoft's Azure OpenAI serve GPT models; Azure adds enterprise features such as private networking, regional data residency and compliance certifications, which matter to universities and companies. Google's Gemini API has a free tier through AI Studio, and Gemini Enterprise Agent Platform (formerly Vertex AI) is its enterprise route. vLLM is the most widely used open-source serving engine for GPUs. Ollama makes local models easy.
Ask students: Which tool would you use to run a small model on a laptop without a GPU?
Expected answer: A local runner such as Ollama or llama.cpp.
Common mistake: Choosing a GPU serving engine such as vLLM for one user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providers and serving tools accept the basic OpenAI chat-completions format. Examples include compatible endpoints from Gemini, Hugging Face, vLLM and Ollama. The lab builds a small compatible endpoint with FastAPI. Reuse the basic client pattern by changing its base URL, key and model name. Then check supported fields, streaming behaviour and model features: compatibility does not mean every endpoint has identical capabilities. Provider-specific features may need a native SDK.
Ask students: Which three settings change when the client switches to another compatible back end?
Expected answer: The base URL, the key and the model name.
Common mistake: Assuming every compatible endpoint supports every field, such as tools or streaming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assume they must use LangChain. Frameworks are useful when you need their connectors to data sources, retrievers, state management for multi-step agents, or tracing integrations, and LangGraph in particular is designed for controllable agent workflows. But they add abstraction layers, and their APIs change quickly, which makes debugging harder. Guides from Anthropic and OpenAI on building agents recommend starting with direct API calls and simple code, and adding frameworks only when they solve a real problem.
Ask students: When does an orchestration framework earn its extra dependencies?
Expected answer: When you need its connectors, multi-step state or tracing; otherwise direct API calls are easier to debug.
Common mistake: Starting with a framework before the basic calls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Because vLLM exposes an OpenAI-compatible API, the application code stays the same; only the base URL, key and model name change. You must then re-evaluate quality, because the open model will behave differently, and plan capacity for the GPUs. B is unnecessary work. C does not satisfy a requirement that data never leaves. D changes nothing about where data goes.
Ask students: After switching to a self-hosted model, what must you re-test?
Expected answer: Answer quality on your test set, and capacity under realistic load.
Common mistake: Choosing C. Asking for deletion after sending data does not meet a rule that data never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what every developer must know about API platforms: authentication and key management, how tokens determine cost, rate limits and error handling, and streaming. We look at real latency measurements and a cost calculation. The same skills apply to OpenAI, Azure, Google and Hugging Face. About twenty-two minutes.
Analogy: A taxi bill records distance and waiting separately. API bills can price input and output tokens separately.
Ask students: With 300,000 requests, how many input tokens arise at 800 per request?
Expected answer: 240 million input tokens; 300 output tokens per request adds 90 million output tokens.
Common mistake: Streaming changes when users can read output; it does not guarantee less model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concepts cover most API platforms. Authentication uses API keys, or for enterprise clouds, identities such as Microsoft Entra ID, which avoid long-lived secrets. Pricing is per million tokens, with output tokens usually several times more expensive than input, so long answers cost more than long prompts. Rate limits cap requests and tokens per minute. Streaming sends tokens as they are generated. Batch APIs process large offline jobs asynchronously at a discount, and prompt caching discounts repeated prefixes such as long system prompts.
Ask students: Why can long answers cost more than long prompts?
Expected answer: Output tokens are usually priced several times higher than input tokens.
Common mistake: Retrying a 429 error immediately and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security is a practical skill every student needs. Keys committed to public repositories are found by automated scanners very quickly and used to run up bills. Store keys in Colab Secrets, environment variables or a cloud secrets manager. Never embed a key in front-end code, because anyone can read it in the browser; the front end must call your own back end, which holds the key. Use separate keys per project with spending limits and alerts.
Ask students: Where should a web app's API key live?
Expected answer: On your server, loaded from a secrets store; the browser calls your server, never the provider directly.
Common mistake: Putting a key in front-end code or a shared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latency into parts. Network and authentication add tens of milliseconds. Under load, requests wait in a queue. Prefill processes the whole prompt in parallel, so it grows with prompt length, which matters for RAG with long contexts. Then decoding generates one token at a time, which is why output length dominates total time. Time to first token is network plus queue plus prefill; total latency is roughly time to first token plus the number of output tokens divided by the decoding speed.
Ask students: Why does a long RAG prompt increase the time to first token?
Expected answer: Prefill must process every prompt token before the first output token appears.
Common mistake: Thinking streaming reduces total computation. It only shows text sooner.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lab's measurement for Qwen2.5-0.5B-Instruct. The dark part of each bar is time to first token, the light part the rest of the answer. The numbers are quoted in the bullet. Time to first token is a small fraction of the total, which is why streaming is standard in chat interfaces. Hosted frontier models run on far larger hardware, but they are also much larger, so the same pattern holds.
Ask students: In the measured bars, how large is the first-token wait compared with the whole answer?
Expected answer: A small fraction; most of the time is spent decoding the rest of the answer.
Common mistake: Reporting average latency without the slow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arithmetic. Five hundred students times twenty requests a day times thirty days is three hundred thousand requests. Each has eight hundred input and three hundred output tokens. For the small model, that is three hundred thousand times eight hundred tokens at ten cents per million, plus three hundred thousand times three hundred tokens at forty cents per million: twenty-four plus thirty-six, sixty dollars. The same formula gives three hundred dollars for the mid-size model and one thousand three hundred and eighty dollars for the frontier model.
Ask students: What would the small-model bill be if answers were 600 tokens instead of 300?
Expected answer: $24 for input plus $72 for output: $96 a month.
Common mistake: Comparing an API bill with GPU rental and forgetting staff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patterns every application needs. Streaming: set stream to true and print each chunk's delta as it arrives. Retries: when the provider returns HTTP 429, too many requests, wait and retry, doubling the wait each time and adding random jitter so that many clients do not retry at the same moment. Always set a maximum number of output tokens, which caps both cost and latency, and a timeout. The official SDKs have built-in retries for some errors, but you should understand and configure them.
Ask students: Why add random jitter to retry waits?
Expected answer: So that many clients that failed together do not all retry at the same moment.
Common mistake: Retrying forever. Cap the retries and report the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compares the three deployment options, then covers the three main efficiency techniques named in the descriptor: quantisation, batching and caching, with real measurements. The key message: cost and speed are design choices that can be measured, and every efficiency gain must be checked against quality. About twenty-five minutes; take the break afterwards.
Analogy: Sharing a bus trip can move more passengers per hour while making one passenger wait. Batching has the same tradeoff.
Ask students: Does fake_quantize store four-bit tensors in this lab?
Expected answer: No. It rounds then reconstructs floating-point tensors; the displayed storage estimate is hypothetical.
Common mistake: The weight-size estimate omits cache, activations, scales and runtime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universally best option. A cloud API provides hosted models and shifts model-server operation to the provider. Check its quality, charges, region and data terms. Self-hosting gives your team control over compatible open models, but you pay for hardware, electricity and staff. High steady use can improve its economics. Local processing can keep data on a configured device; check network features, licences and resource costs. Some applications combine these routes, after testing quality and access requirements.
Ask students: Which option keeps data on a device you configure?
Expected answer: Local, after checking network features and licences.
Common mistake: Assuming self-hosting is always cheaper. Staff time and idle GPUs cost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Quantisation stores weights with fewer bits. Memory is roughly the number of parameters times bits divided by eight: a seven-billion-parameter model needs fourteen gigabytes in sixteen-bit, seven in eight-bit and under four in four-bit, which is the difference between needing a data-centre GPU and running on a laptop. The absmax method scales each group of weights so the largest maps to the largest integer, rounds, and stores the integers plus one scale per group. Smaller groups keep more precision.
Ask students: How much memory do the weights of a 7 B model need at 8-bit?
Expected answer: About 7 GB, before scales and runtime memory.
Common mistake: Forgetting the per-group scales, which add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rounds weights in linear layers, excluding the output language-model head, then reconstructs floating-point values for inference. It measures perplexity on one paragraph. The displayed storage sizes are estimates of hypothetical packed weights; this demonstration does not store four-bit tensors. Compare the measured quality for eight-bit, row-scaled four-bit and grouped four-bit rounding. Separate group scales can preserve detail at additional storage cost. One paragraph is only a quick check; rerun the actual task evaluation before deployment.
Ask students: Which 4-bit scheme lost less quality in the lab, and why?
Expected answer: Groups of 64: each group has its own scale, so small weights keep more precision.
Common mistake: Judging quality from one paragraph's perplexity. Rerun the task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Generating for one request at a time leaves most of a GPU idle, because decoding is limited by memory bandwidth, not arithmetic. Processing several requests together reuses each weight read for many sequences. The lab measures throughput for batch sizes one to eight; the numbers are in the bullet. Production engines go further with continuous batching, adding and removing requests at every step rather than waiting for a whole batch to finish. The trade-off: larger batches increase throughput but can increase each user's latency.
Ask students: Why does batching raise throughput on a GPU?
Expected answer: Decoding is limited by memory bandwidth, and batching reuses each weight read for several sequences.
Common mistake: Assuming every user gets a faster answer. A request may wait for its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vLLM's key idea, PagedAttention, manages the key-value cache in fixed-size pages, like an operating system's virtual memory, which reduces wasted memory and allows larger batches. Prefix caching reuses the KV cache for shared prompt beginnings, such as a long system prompt, and API providers pass on the saving as discounted cached input tokens. Response caching answers repeated questions instantly. Speculative decoding speeds up generation by letting a small model draft tokens that the large model verifies in parallel.
Ask students: Which technique saves work when every request starts with the same long system prompt?
Expected answer: Prefix caching.
Common mistake: Thinking speculative decoding changes the output. The large model checks every proposed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figures estimate weight storage, not total runtime memory or a guaranteed model fit. A 0.5 B model at 16-bit needs about 1 GB for weights; 7–8 B at 4-bit about 4 GB before scales; 70 B at 16-bit about 140 GB. A T4 has 16 GB total, shared with attention caches, activations and framework overhead. Context length and batch size change the required runtime memory. Measure the actual configuration before recommending hardware.
Ask students: Can a 7 B model at 16-bit run on a T4?
Expected answer: Its weights alone need about 14 GB of the T4's 16 GB, leaving little for caches and activations; 8-bit or 4-bit is safer.
Common mistake: Treating weight size as total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With many concurrent users, a naive server processes requests one at a time, so queues grow. A serving engine with continuous batching raises throughput dramatically, and quantisation reduces memory so more requests fit in a batch. Quality must be rechecked after quantising. A changes randomness, not speed. C makes prefill slower. D does not change total time and makes perceived latency worse.
Ask students: Why is option D wrong?
Expected answer: Streaming does not change total time; turning it off only makes the wait feel longer.
Common mistake: Quantising without re-checking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shows how the pieces fit together into an application: an interface for people, an API for other programs, guardrails and logging around the model, and a container for deployment. The code on these slides is what students write in the lab. About fourteen minutes.
Analogy: An interface is a front door; an API is another entrance. Controls on one door do not automatically protect the other.
Ask students: Does the lab FastAPI route inherit respond input checks?
Expected answer: No. FastAPI calls generate directly, while Gradio calls respond; each route needs its own controls.
Common mistake: The exported Docker files are a smaller scaffold, not the full checked notebook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integrated design. A user interface or other client calls a back-end API, with input checks, model generation, output checks and logs inside that request path. In the lab the routes are separate: Gradio calls respond and generate directly, while the SDK and LangChain call the FastAPI endpoint. That endpoint does not inherit respond's guardrails or logs. The exported app.py is a smaller packaging scaffold without all notebook checks and logging.
Ask students: In the proposed design, where should input checks and logs sit?
Expected answer: Inside the back-end request path, so every client passes through them.
Common mistake: Putting checks only in the user interface, where other clients bypass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is an interface through which one program requests work from another. The OpenAI-compatible exercise receives an HTTP request containing JSON fields. FastAPI uses ChatRequest to parse the body, and chat_completions passes its messages to generate. The chat template adds the role markers expected by the model, while the tokenizer converts the formatted text to token IDs. MODEL_LOCK prevents the notebook and server from generating on the shared model simultaneously. The model's output includes the original input prefix plus its continuation. The generate function slices away that prefix, decodes only new tokens and reports input and output counts. The endpoint packages those results into choices and usage fields. Compatibility concerns this response structure; the lab endpoint remains a small demonstration without the authentication, streaming or complete request controls of a deployed service.
Worked example:
The SDK sends 'Name two uses of FastAPI.' to the local endpoint.
ChatRequest parses messages and max_tokens; the endpoint caps output length.
generate formats messages into tokens and waits for the shared model lock.
Only generated continuation tokens are decoded as the assistant answer.
The response includes choices and a usage block for the SDK to read.
Check: Why are prompt and completion token counts returned separately?
Answer: They describe different work: reading the input and producing the answer. They support usage and cost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turns a Python function into a web API. Pydantic models validate the request body automatically, rejecting malformed requests, and FastAPI generates interactive documentation. By returning the OpenAI response format, including the usage block with token counts, our server works with the OpenAI SDK and LangChain unchanged, as students verify in the lab. In production you would add authentication, request size limits, timeouts and streaming, and run the server behind a process manager.
Ask students: Why return a usage block with token counts?
Expected answer: Clients such as the OpenAI SDK read it to log usage and estimate cost.
Common mistake: Exposing the endpoint publicly without authentication, size limits and timeouts.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Gradio builds a web interface from a Python function; ChatInterface provides a complete chat UI in one line. The respond function wraps the model with an input check, logging and an output check. In Colab, share equals true prints a temporary public link, useful for demonstrations but anyone with the link can use it. For longer-lived demos, Hugging Face Spaces hosts Gradio apps, with secrets for API keys. Streamlit is a popular alternative for data-oriented apps.
Ask students: Who can use a share=True link?
Expected answer: Anyone who has the link, until it expires or the session stops.
Common mistake: Leaving the public link running after the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prepares an existing model for use through an application. First record its identity, prompt and generation settings. Measure task quality and speed before making efficiency changes, so later differences have a baseline. The lab illustrates weight rounding, batching and response caching; fake_quantize is a simulation with floating-point tensors, not a genuine low-bit serving engine. Packaging records the environment and start command. The exported app scaffold is smaller than the notebook handler, so inspect which checks it includes. Monitoring a limited trial checks whether real request timing and failures match expectations. None of these steps trains the model weights; they change how the application operates.
Worked example:
Record the selected model name before measuring a fixed question set.
A cache can make a repeated request fast; also measure uncached requests.
Check task answers after an efficiency change.
Inspect the packaging scaffold and compare it with the checked notebook handler.
Check: Does a theoretical 4-bit size table show that this notebook stores weights in 4-bit tensors?
Answer: No. fake_quantize rounds values but keeps floating-point tensors; the storage estimate is theoretical.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Docker image packages code, dependencies and a start command. Record tested exact versions for repeatable deployment; the lab export supplies version ranges as a starting scaffold. A container reduces environment differences but still depends on compatible hardware, platform settings, network access and resources. Pass secrets at run time. Version the model, prompts, decoding settings and retrieval index as well as the code. Re-run evaluations after changes, release gradually and keep a rollback path.
Ask students: Why version prompts and decoding settings as well as code?
Expected answer: Any of them can change answers, so a release must record them all to reproduce a result.
Common mistake: Releasing to everyone at once with no rollback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what to monitor, a real monitoring summary from the lab, layered guardrails, the LLMOps tooling for tracing and evaluation, a comparison of deployment choices, and a responsible deployment checklist. It answers the question every client asks after launch: how do we know it is still working? About twenty-one minutes.
Analogy: A dashboard records several dials because one average can hide a queue. Tail latency, quality and cost need different measurements.
Ask students: If p95 is two seconds, what does that describe?
Expected answer: Approximately 95% of measured allowed requests took at most two seconds; blocked requests are counted separately.
Common mistake: Simple pattern checks can miss attacks and personal-data formats; logs are not a full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for generative AI extends normal web monitoring. Performance uses percentiles because averages hide slow requests: p95 means ninety-five percent of requests are faster. Cost must be tracked per user and per day, with alerts. Reliability includes rate-limit errors and provider outages. Quality needs signals such as user feedback, sampled reviews and regression tests, because model and data drift can silently degrade answers. Safety metrics track guardrail activity.
Ask students: Which signals would reveal that answer quality is drifting?
Expected answer: Regression tests on a fixed set, sampled human reviews and user feedback.
Common mistake: Monitoring only speed and errors, not answer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sends simulated traffic through the app, including a prompt-injection attempt and messages containing an e-mail address and a phone number. Each bar is one request: blue answered, orange answered after redacting personal data, red blocked. The dashed line marks the ninety-fifth percentile latency. The summary in the bullet is computed from the log file. Point out the design choice: logs store metadata, not message text, following GDPR data minimisation; if you need text for quality review, redact it and limit retention and access.
Ask students: Why does the log store metadata rather than message text?
Expected answer: Data minimisation: timings and token counts are enough for monitoring and avoid storing personal data.
Common mistake: Reading ten simulated requests as evidence of production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checked Gradio route begins in respond. It tests the current message for a small set of patterns and may block it or redact matching personal information. If allowed, it builds messages from the cleaned request and recent history, calls generate, then checks the answer. It records metadata such as timing, token counts and block reason without storing raw prompts in this handler's log. A blocked input skips generation but still creates a log record. These rules are examples: they can miss different personal-data forms and attacks. In particular, checking the current message alone does not clean all earlier history. The separate FastAPI exercise does not automatically inherit respond's checks or logging.
Worked example:
A permitted request reaches generation and records input/output token counts.
A blocked current message receives a refusal without running the model.
Both paths add a metadata row that monitoring can count.
Inspect earlier history too; a clean newest message does not make old content safe.
Check: If the API endpoint uses generate directly, does it inherit respond's input checks?
Answer: No. Controls must be applied on each reachable request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work in layers because each layer can be bypassed. Input checks enforce length and rate limits, redact personal data and filter known injection patterns. The model setup limits damage: least-privilege tools mean an injected instruction cannot do much. Output checks run moderation classifiers, validate structured outputs and check for leaked secrets or policy violations. Humans handle sensitive or uncertain cases. Monitoring and red-teaming find new attacks. The lab's regex guardrails are deliberately simple; students discuss how to bypass them in question two.
Ask students: An injected instruction slips past the input filter. Which layer limits the damage?
Expected answer: The model and tools layer: least-privilege tools cannot perform harmful actions.
Common mistake: Relying on regular expressions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is essential once an application has several steps, as RAG and agent systems do next week: a trace shows which retrieval, prompt, tool call or model call caused a bad answer or a slow response. OpenTelemetry is the open standard; Langfuse is an open-source LLM observability platform; LangSmith integrates with LangChain; MLflow tracks experiments and traces; and cloud platforms such as Microsoft Foundry (formerly Azure AI Foundry) and Google's Gemini Enterprise Agent Platform (formerly Vertex AI) include monitoring and evaluation dashboards. Guardrail libraries and safety classifiers provide more robust checks than hand-written rules.
Ask students: What does a trace show that a single log line does not?
Expected answer: The chain of steps (retrieval, prompts, tool and model calls) with timings, so you can find the step that caused a slow or bad answer.
Common mistake: Treating tracing as a replacement for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descriptor asks for a comparison, so end with a practical decision table for projects. For a quick prototype, compare hosted model quality, permitted data, quotas and cost, then use a Gradio interface where it fits. For private data without a budget, run a local model. To demo your own fine-tuned model, use Hugging Face Spaces or Colab. For many users with steady load, a serving engine on a GPU. For a reproducible hand-in, a Docker image with pinned versions.
Ask students: Which option fits a group demo of its own fine-tuned model?
Expected answer: Hugging Face Spaces or Colab, after checking hardware and session limits.
Common mistake: Choosing a serving engine for a prototype with five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checklist connects the week to responsible AI. Transparency is now a legal duty in the EU: users must be told they are interacting with an AI system. Data protection requires knowing where prompts go and how long they are kept. Security follows the OWASP Top 10 for LLM applications, which lists prompt injection, sensitive information disclosure and unbounded consumption among the main risks. Oversight and evaluation continue after launch. Finally, cost and energy: smaller, well-chosen models reduce both.
Ask students: Which OWASP risk covers a public app that runs up a large bill?
Expected answer: Unbounded consumption.
Common mistake: Forgetting to tell users they are interacting with an AI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begins with streaming measurements before introducing serving. The measure function times the first non-empty decoded text chunk, an approximation of first-token latency because a chunk can contain several tokens. The FastAPI exercise then exposes generation to a client program. The monthly_cost function uses classroom prices, while retry simulation illustrates delayed retries after rate limiting. The efficiency experiments distinguish different tradeoffs: fake_quantize approximates low-bit weights but restores them as floating-point tensors, so the size table is theoretical; batching measures aggregate throughput; caching reuses an answer for a repeated message list. The Gradio application calls respond directly, adding simple checks and log records. Finally, synthetic traffic produces a monitoring summary. The generated Docker files are a smaller packaging scaffold, so compare their features with the notebook before assuming equivalent application behaviour.
Worked example:
Compare first non-empty text time with full-answer time in lat_df.
Inspect the local API answer and its usage counts.
Compare weight approximation error with perplexity after fake quantisation.
Observe batching throughput separately from single-request latency.
Inspect which simulated requests were blocked or redacted and compare p50 with p95.
Check: Does fake_quantize reduce the actual model tensor storage to four bits in this experiment?
Answer: No. It rounds then dequantises weights into floating-point tensors. The size estimate describes hypothetical packed low-bit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covers both descriptor tutorials: exploring tools with local and cloud models, and building and deploying a small application with a web interface, measuring latency and cost and adding logging and guardrails. Cloud API keys are optional; everything else runs without accounts. Remind students to stop the public Gradio link at the end of the session and never to paste keys into the notebook.
Ask students: Which lab parts work without any API key?
Expected answer: All of them except the optional cloud API calls.
Common mistake: Pasting keys into the notebook instead of Colab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Microsoft's Generative AI for Beginners has lessons on building and securing applications. The Hugging Face Inference Providers and Gemini compatibility pages show the OpenAI-compatible pattern with free tiers. The vLLM documentation and Ollama cover self-hosted and local serving. Gradio and FastAPI tutorials cover the application layer. The OWASP Top 10 for LLM applications is the standard security reference. The textbook reading is Tunstall and colleagues, chapter 8, on making transformers efficient in production. All links were last checked on 9 October 2026.
Ask students: Which resource is the standard security reference?
Expected answer: The OWASP Top 10 for LLM applications.
Common mistake: Copying deployment code from tutorials without pinning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500-student warm-up. Ask students to identify the model, server, interface and monitoring responsibilities. Distinguish the first visible text from the complete response, then use the exit question to separate throughput from individual waiting time. Revisit the illustrative bill: input and output tokens have separate rates. Explain that fake quantisation measures approximation error while keeping floating-point tensors. Follow one allowed and one blocked request through respond. The Gradio route uses that handler, while the separate API route calls generate directly. Finish by asking what must be tested before using the smaller Docker scaffold as a real application.
Exit question: Batching doubles throughput. Must each student receive an answer sooner?
Answer: No. More total tokens per second can coexist with a longer wait for one request.
Recap the six points. Students should be able to draw the architecture of a small application, estimate its cost, explain where latency comes from, choose and justify a deployment option, and list what to monitor. Next week, the final technical week, we connect models to knowledge and tools: retrieval-augmented generation and agents, which use everything from today.
Ask students: Estimate a monthly bill: 100 users, 10 requests a day, 1,000 input and 200 output tokens, small-model prices.
Expected answer: 30,000 requests: 30 M input tokens cost $3 and 6 M output tokens cost $2.40, about $5.40 in total.
Common mistake: Forgetting that output tokens cost more per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1.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github.com/microsoft/generative-ai-for-beginners" TargetMode="External"/><Relationship Id="rId4" Type="http://schemas.openxmlformats.org/officeDocument/2006/relationships/hyperlink" Target="https://huggingface.co/docs/inference-providers/index" TargetMode="External"/><Relationship Id="rId6" Type="http://schemas.openxmlformats.org/officeDocument/2006/relationships/hyperlink" Target="https://ai.google.dev/gemini-api/docs/openai" TargetMode="External"/><Relationship Id="rId8" Type="http://schemas.openxmlformats.org/officeDocument/2006/relationships/hyperlink" Target="https://docs.vllm.ai/en/latest/" TargetMode="External"/><Relationship Id="rId10" Type="http://schemas.openxmlformats.org/officeDocument/2006/relationships/hyperlink" Target="https://ollama.com/" TargetMode="External"/><Relationship Id="rId12" Type="http://schemas.openxmlformats.org/officeDocument/2006/relationships/hyperlink" Target="https://gradio.app/guides/quickstart" TargetMode="External"/><Relationship Id="rId14" Type="http://schemas.openxmlformats.org/officeDocument/2006/relationships/hyperlink" Target="https://fastapi.tiangolo.com/tutorial/" TargetMode="External"/><Relationship Id="rId16" Type="http://schemas.openxmlformats.org/officeDocument/2006/relationships/hyperlink" Target="https://genai.owasp.org/llm-top-10/"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11</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Deployment and Frameworks</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Turn a notebook into an application, measure the cost, and monitor the results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11\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Map the layers of an AI application: model, serving, request coordination and user interface.</a:t>
            </a:r>
            <a:endParaRPr lang="en-US" sz="19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an </a:t>
            </a:r>
            <a:pPr indent="0" marL="0">
              <a:buNone/>
            </a:pPr>
            <a:r>
              <a:rPr lang="en-US" sz="1900" b="1" dirty="0">
                <a:solidFill>
                  <a:srgbClr val="1F2937"/>
                </a:solidFill>
                <a:latin typeface="Calibri" pitchFamily="34" charset="0"/>
                <a:ea typeface="Calibri" pitchFamily="34" charset="-122"/>
                <a:cs typeface="Calibri" pitchFamily="34" charset="-120"/>
              </a:rPr>
              <a:t>API</a:t>
            </a:r>
            <a:pPr indent="0" marL="0">
              <a:buNone/>
            </a:pPr>
            <a:r>
              <a:rPr lang="en-US" sz="1900" dirty="0">
                <a:solidFill>
                  <a:srgbClr val="1F2937"/>
                </a:solidFill>
                <a:latin typeface="Calibri" pitchFamily="34" charset="0"/>
                <a:ea typeface="Calibri" pitchFamily="34" charset="-122"/>
                <a:cs typeface="Calibri" pitchFamily="34" charset="-120"/>
              </a:rPr>
              <a:t> (a way for programs to communicate), protect access keys and handle limits and streaming.</a:t>
            </a:r>
            <a:endParaRPr lang="en-US" sz="19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Compare provider-hosted, university-hosted and device-local models using quality, privacy, time and cost.</a:t>
            </a:r>
            <a:endParaRPr lang="en-US" sz="19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a:t>
            </a:r>
            <a:pPr indent="0" marL="0">
              <a:buNone/>
            </a:pPr>
            <a:r>
              <a:rPr lang="en-US" sz="1900" b="1" dirty="0">
                <a:solidFill>
                  <a:srgbClr val="1F2937"/>
                </a:solidFill>
                <a:latin typeface="Calibri" pitchFamily="34" charset="0"/>
                <a:ea typeface="Calibri" pitchFamily="34" charset="-122"/>
                <a:cs typeface="Calibri" pitchFamily="34" charset="-120"/>
              </a:rPr>
              <a:t>quantisation</a:t>
            </a:r>
            <a:pPr indent="0" marL="0">
              <a:buNone/>
            </a:pPr>
            <a:r>
              <a:rPr lang="en-US" sz="1900" dirty="0">
                <a:solidFill>
                  <a:srgbClr val="1F2937"/>
                </a:solidFill>
                <a:latin typeface="Calibri" pitchFamily="34" charset="0"/>
                <a:ea typeface="Calibri" pitchFamily="34" charset="-122"/>
                <a:cs typeface="Calibri" pitchFamily="34" charset="-120"/>
              </a:rPr>
              <a:t> (fewer bits), </a:t>
            </a:r>
            <a:pPr indent="0" marL="0">
              <a:buNone/>
            </a:pPr>
            <a:r>
              <a:rPr lang="en-US" sz="1900" b="1" dirty="0">
                <a:solidFill>
                  <a:srgbClr val="1F2937"/>
                </a:solidFill>
                <a:latin typeface="Calibri" pitchFamily="34" charset="0"/>
                <a:ea typeface="Calibri" pitchFamily="34" charset="-122"/>
                <a:cs typeface="Calibri" pitchFamily="34" charset="-120"/>
              </a:rPr>
              <a:t>batching</a:t>
            </a:r>
            <a:pPr indent="0" marL="0">
              <a:buNone/>
            </a:pPr>
            <a:r>
              <a:rPr lang="en-US" sz="1900" dirty="0">
                <a:solidFill>
                  <a:srgbClr val="1F2937"/>
                </a:solidFill>
                <a:latin typeface="Calibri" pitchFamily="34" charset="0"/>
                <a:ea typeface="Calibri" pitchFamily="34" charset="-122"/>
                <a:cs typeface="Calibri" pitchFamily="34" charset="-120"/>
              </a:rPr>
              <a:t> (several requests together) and </a:t>
            </a:r>
            <a:pPr indent="0" marL="0">
              <a:buNone/>
            </a:pPr>
            <a:r>
              <a:rPr lang="en-US" sz="1900" b="1" dirty="0">
                <a:solidFill>
                  <a:srgbClr val="1F2937"/>
                </a:solidFill>
                <a:latin typeface="Calibri" pitchFamily="34" charset="0"/>
                <a:ea typeface="Calibri" pitchFamily="34" charset="-122"/>
                <a:cs typeface="Calibri" pitchFamily="34" charset="-120"/>
              </a:rPr>
              <a:t>caching</a:t>
            </a:r>
            <a:pPr indent="0" marL="0">
              <a:buNone/>
            </a:pPr>
            <a:r>
              <a:rPr lang="en-US" sz="1900" dirty="0">
                <a:solidFill>
                  <a:srgbClr val="1F2937"/>
                </a:solidFill>
                <a:latin typeface="Calibri" pitchFamily="34" charset="0"/>
                <a:ea typeface="Calibri" pitchFamily="34" charset="-122"/>
                <a:cs typeface="Calibri" pitchFamily="34" charset="-120"/>
              </a:rPr>
              <a:t> (reusing results).</a:t>
            </a:r>
            <a:endParaRPr lang="en-US" sz="19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Build interfaces with Gradio and FastAPI; use Docker to package the code and its dependencies.</a:t>
            </a:r>
            <a:endParaRPr lang="en-US" sz="19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Record model versions, timings and token counts; test quality, safety checks and deployment choices.</a:t>
            </a:r>
            <a:endParaRPr lang="en-US" sz="19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5</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FFF0E6"/>
          </a:solidFill>
          <a:ln w="15240">
            <a:solidFill>
              <a:srgbClr val="D55E00"/>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11: you are here</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Term</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Plain meaning</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Quick check</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Token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 unit processed or generated by a model; a text token can be a word, word part or character.</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Are character count and token count always the same?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Function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 named piece of code taking inputs and returning an output.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What are the inputs and output of a chat response function?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JSON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 structured text format for exchanging fields and values, including objects and lists.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In {"max_tokens":64}, which part is the field name?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API</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An interface through which one program asks another to do work.</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Does a browser need the provider's secret key?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Latency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The elapsed time from a request to its result; first-token latency measures the initial wait.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Is first-token wait the same as full-answer wait?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Your notebook works. Tomorrow 500 students use it. What could fail?</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Waiting time and capacity.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Cost and privacy.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Failures and operating responsibility.</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Frameworks and the tool stack</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Which tools exist, and which do you need?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monitored chat application</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the actual Gradio path through the lab's respond function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 + history</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allowed clean</a:t>
            </a:r>
            <a:endParaRPr lang="en-US" sz="1441" dirty="0"/>
          </a:p>
        </p:txBody>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chat messages</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 counts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checked answer +</a:t>
            </a:r>
            <a:endParaRPr lang="en-US" sz="1441" dirty="0"/>
          </a:p>
        </p:txBody>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metadata</a:t>
            </a:r>
            <a:endParaRPr lang="en-US" sz="1441" dirty="0"/>
          </a:p>
        </p:txBody>
      </p:sp>
      <p:sp>
        <p:nvSpPr>
          <p:cNvPr id="19" name="Shape 17"/>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0" name="Text 18"/>
          <p:cNvSpPr txBox="1"/>
          <p:nvPr/>
        </p:nvSpPr>
        <p:spPr>
          <a:xfrm>
            <a:off x="849331"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User request</a:t>
            </a:r>
            <a:endParaRPr lang="en-US" sz="1561" dirty="0"/>
          </a:p>
        </p:txBody>
      </p:sp>
      <p:sp>
        <p:nvSpPr>
          <p:cNvPr id="21" name="Text 19"/>
          <p:cNvSpPr txBox="1"/>
          <p:nvPr/>
        </p:nvSpPr>
        <p:spPr>
          <a:xfrm>
            <a:off x="849331"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Current</a:t>
            </a:r>
            <a:endParaRPr lang="en-US" sz="1441" dirty="0"/>
          </a:p>
        </p:txBody>
      </p:sp>
      <p:sp>
        <p:nvSpPr>
          <p:cNvPr id="22" name="Text 20"/>
          <p:cNvSpPr txBox="1"/>
          <p:nvPr/>
        </p:nvSpPr>
        <p:spPr>
          <a:xfrm>
            <a:off x="84933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message and</a:t>
            </a:r>
            <a:endParaRPr lang="en-US" sz="1441" dirty="0"/>
          </a:p>
        </p:txBody>
      </p:sp>
      <p:sp>
        <p:nvSpPr>
          <p:cNvPr id="23" name="Text 21"/>
          <p:cNvSpPr txBox="1"/>
          <p:nvPr/>
        </p:nvSpPr>
        <p:spPr>
          <a:xfrm>
            <a:off x="849331"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history</a:t>
            </a:r>
            <a:endParaRPr lang="en-US" sz="1441" dirty="0"/>
          </a:p>
        </p:txBody>
      </p:sp>
      <p:sp>
        <p:nvSpPr>
          <p:cNvPr id="24" name="Text 22"/>
          <p:cNvSpPr txBox="1"/>
          <p:nvPr/>
        </p:nvSpPr>
        <p:spPr>
          <a:xfrm>
            <a:off x="811202"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demo</a:t>
            </a:r>
            <a:endParaRPr lang="en-US" sz="1441" dirty="0"/>
          </a:p>
        </p:txBody>
      </p:sp>
      <p:sp>
        <p:nvSpPr>
          <p:cNvPr id="25" name="Shape 23"/>
          <p:cNvSpPr/>
          <p:nvPr/>
        </p:nvSpPr>
        <p:spPr>
          <a:xfrm>
            <a:off x="2598170" y="2939089"/>
            <a:ext cx="1565821" cy="1799677"/>
          </a:xfrm>
          <a:prstGeom prst="rect">
            <a:avLst/>
          </a:prstGeom>
          <a:solidFill>
            <a:srgbClr val="F2F4F5"/>
          </a:solidFill>
          <a:ln w="15240">
            <a:solidFill>
              <a:srgbClr val="626B73"/>
            </a:solidFill>
            <a:prstDash val="solid"/>
          </a:ln>
        </p:spPr>
      </p:sp>
      <p:sp>
        <p:nvSpPr>
          <p:cNvPr id="26" name="Text 24"/>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current</a:t>
            </a:r>
            <a:endParaRPr lang="en-US" sz="1561" dirty="0"/>
          </a:p>
        </p:txBody>
      </p:sp>
      <p:sp>
        <p:nvSpPr>
          <p:cNvPr id="27" name="Text 25"/>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a:t>
            </a:r>
            <a:endParaRPr lang="en-US" sz="1561" dirty="0"/>
          </a:p>
        </p:txBody>
      </p:sp>
      <p:sp>
        <p:nvSpPr>
          <p:cNvPr id="28" name="Text 26"/>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Block or redact</a:t>
            </a:r>
            <a:endParaRPr lang="en-US" sz="1441" dirty="0"/>
          </a:p>
        </p:txBody>
      </p:sp>
      <p:sp>
        <p:nvSpPr>
          <p:cNvPr id="29" name="Text 27"/>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simple patterns</a:t>
            </a:r>
            <a:endParaRPr lang="en-US" sz="1441" dirty="0"/>
          </a:p>
        </p:txBody>
      </p:sp>
      <p:sp>
        <p:nvSpPr>
          <p:cNvPr id="30" name="Text 28"/>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check_input</a:t>
            </a:r>
            <a:endParaRPr lang="en-US" sz="1441" dirty="0"/>
          </a:p>
        </p:txBody>
      </p:sp>
      <p:sp>
        <p:nvSpPr>
          <p:cNvPr id="31" name="Shape 29"/>
          <p:cNvSpPr/>
          <p:nvPr/>
        </p:nvSpPr>
        <p:spPr>
          <a:xfrm>
            <a:off x="4408015" y="2939089"/>
            <a:ext cx="1565821" cy="1799677"/>
          </a:xfrm>
          <a:prstGeom prst="roundRect">
            <a:avLst>
              <a:gd name="adj" fmla="val 4672"/>
            </a:avLst>
          </a:prstGeom>
          <a:solidFill>
            <a:srgbClr val="E4F2FB"/>
          </a:solidFill>
          <a:ln w="15240">
            <a:solidFill>
              <a:srgbClr val="0072B2"/>
            </a:solidFill>
            <a:prstDash val="solid"/>
          </a:ln>
        </p:spPr>
      </p:sp>
      <p:sp>
        <p:nvSpPr>
          <p:cNvPr id="32" name="Text 30"/>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a:t>
            </a:r>
            <a:endParaRPr lang="en-US" sz="1561" dirty="0"/>
          </a:p>
        </p:txBody>
      </p:sp>
      <p:sp>
        <p:nvSpPr>
          <p:cNvPr id="33" name="Text 31"/>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messages</a:t>
            </a:r>
            <a:endParaRPr lang="en-US" sz="1561" dirty="0"/>
          </a:p>
        </p:txBody>
      </p:sp>
      <p:sp>
        <p:nvSpPr>
          <p:cNvPr id="34" name="Text 32"/>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Rules, history</a:t>
            </a:r>
            <a:endParaRPr lang="en-US" sz="1441" dirty="0"/>
          </a:p>
        </p:txBody>
      </p:sp>
      <p:sp>
        <p:nvSpPr>
          <p:cNvPr id="35" name="Text 33"/>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cleaned text</a:t>
            </a:r>
            <a:endParaRPr lang="en-US" sz="1441" dirty="0"/>
          </a:p>
        </p:txBody>
      </p:sp>
      <p:sp>
        <p:nvSpPr>
          <p:cNvPr id="36" name="Text 34"/>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respond</a:t>
            </a:r>
            <a:endParaRPr lang="en-US" sz="1441" dirty="0"/>
          </a:p>
        </p:txBody>
      </p:sp>
      <p:sp>
        <p:nvSpPr>
          <p:cNvPr id="37" name="Shape 35"/>
          <p:cNvSpPr/>
          <p:nvPr/>
        </p:nvSpPr>
        <p:spPr>
          <a:xfrm>
            <a:off x="6217860" y="2939089"/>
            <a:ext cx="1565821" cy="1799677"/>
          </a:xfrm>
          <a:prstGeom prst="rect">
            <a:avLst/>
          </a:prstGeom>
          <a:solidFill>
            <a:srgbClr val="E5F7EF"/>
          </a:solidFill>
          <a:ln w="15240">
            <a:solidFill>
              <a:srgbClr val="009E73"/>
            </a:solidFill>
            <a:prstDash val="solid"/>
          </a:ln>
        </p:spPr>
      </p:sp>
      <p:sp>
        <p:nvSpPr>
          <p:cNvPr id="38" name="Text 36"/>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a:t>
            </a:r>
            <a:endParaRPr lang="en-US" sz="1561" dirty="0"/>
          </a:p>
        </p:txBody>
      </p:sp>
      <p:sp>
        <p:nvSpPr>
          <p:cNvPr id="39" name="Text 37"/>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answer</a:t>
            </a:r>
            <a:endParaRPr lang="en-US" sz="1561" dirty="0"/>
          </a:p>
        </p:txBody>
      </p:sp>
      <p:sp>
        <p:nvSpPr>
          <p:cNvPr id="40" name="Text 38"/>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Return text and</a:t>
            </a:r>
            <a:endParaRPr lang="en-US" sz="1441" dirty="0"/>
          </a:p>
        </p:txBody>
      </p:sp>
      <p:sp>
        <p:nvSpPr>
          <p:cNvPr id="41" name="Text 39"/>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 counts</a:t>
            </a:r>
            <a:endParaRPr lang="en-US" sz="1441" dirty="0"/>
          </a:p>
        </p:txBody>
      </p:sp>
      <p:sp>
        <p:nvSpPr>
          <p:cNvPr id="42" name="Text 40"/>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43" name="Shape 41"/>
          <p:cNvSpPr/>
          <p:nvPr/>
        </p:nvSpPr>
        <p:spPr>
          <a:xfrm>
            <a:off x="8027705" y="2939089"/>
            <a:ext cx="1565821" cy="1799677"/>
          </a:xfrm>
          <a:prstGeom prst="rect">
            <a:avLst/>
          </a:prstGeom>
          <a:solidFill>
            <a:srgbClr val="F2F4F5"/>
          </a:solidFill>
          <a:ln w="15240">
            <a:solidFill>
              <a:srgbClr val="626B73"/>
            </a:solidFill>
            <a:prstDash val="solid"/>
          </a:ln>
        </p:spPr>
      </p:sp>
      <p:sp>
        <p:nvSpPr>
          <p:cNvPr id="44" name="Text 42"/>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output</a:t>
            </a:r>
            <a:endParaRPr lang="en-US" sz="1561" dirty="0"/>
          </a:p>
        </p:txBody>
      </p:sp>
      <p:sp>
        <p:nvSpPr>
          <p:cNvPr id="45" name="Text 43"/>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Apply a basic</a:t>
            </a:r>
            <a:endParaRPr lang="en-US" sz="1441" dirty="0"/>
          </a:p>
        </p:txBody>
      </p:sp>
      <p:sp>
        <p:nvSpPr>
          <p:cNvPr id="46" name="Text 44"/>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 rule</a:t>
            </a:r>
            <a:endParaRPr lang="en-US" sz="1441" dirty="0"/>
          </a:p>
        </p:txBody>
      </p:sp>
      <p:sp>
        <p:nvSpPr>
          <p:cNvPr id="47" name="Text 45"/>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check_output</a:t>
            </a:r>
            <a:endParaRPr lang="en-US" sz="1441" dirty="0"/>
          </a:p>
        </p:txBody>
      </p:sp>
      <p:sp>
        <p:nvSpPr>
          <p:cNvPr id="48" name="Shape 46"/>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9" name="Text 47"/>
          <p:cNvSpPr txBox="1"/>
          <p:nvPr/>
        </p:nvSpPr>
        <p:spPr>
          <a:xfrm>
            <a:off x="9898555"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Log + return</a:t>
            </a:r>
            <a:endParaRPr lang="en-US" sz="1561" dirty="0"/>
          </a:p>
        </p:txBody>
      </p:sp>
      <p:sp>
        <p:nvSpPr>
          <p:cNvPr id="50" name="Text 48"/>
          <p:cNvSpPr txBox="1"/>
          <p:nvPr/>
        </p:nvSpPr>
        <p:spPr>
          <a:xfrm>
            <a:off x="9898555"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Metadata and</a:t>
            </a:r>
            <a:endParaRPr lang="en-US" sz="1441" dirty="0"/>
          </a:p>
        </p:txBody>
      </p:sp>
      <p:sp>
        <p:nvSpPr>
          <p:cNvPr id="51" name="Text 49"/>
          <p:cNvSpPr txBox="1"/>
          <p:nvPr/>
        </p:nvSpPr>
        <p:spPr>
          <a:xfrm>
            <a:off x="9898555"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 or</a:t>
            </a:r>
            <a:endParaRPr lang="en-US" sz="1441" dirty="0"/>
          </a:p>
        </p:txBody>
      </p:sp>
      <p:sp>
        <p:nvSpPr>
          <p:cNvPr id="52" name="Text 50"/>
          <p:cNvSpPr txBox="1"/>
          <p:nvPr/>
        </p:nvSpPr>
        <p:spPr>
          <a:xfrm>
            <a:off x="9898555"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refusal</a:t>
            </a:r>
            <a:endParaRPr lang="en-US" sz="1441" dirty="0"/>
          </a:p>
        </p:txBody>
      </p:sp>
      <p:sp>
        <p:nvSpPr>
          <p:cNvPr id="53" name="Text 51"/>
          <p:cNvSpPr txBox="1"/>
          <p:nvPr/>
        </p:nvSpPr>
        <p:spPr>
          <a:xfrm>
            <a:off x="9860427"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respond</a:t>
            </a:r>
            <a:endParaRPr lang="en-US" sz="1441" dirty="0"/>
          </a:p>
        </p:txBody>
      </p:sp>
      <p:sp>
        <p:nvSpPr>
          <p:cNvPr id="54" name="Shape 52"/>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5" name="Text 53"/>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6" name="Shape 54"/>
          <p:cNvSpPr/>
          <p:nvPr/>
        </p:nvSpPr>
        <p:spPr>
          <a:xfrm>
            <a:off x="2118929" y="5630979"/>
            <a:ext cx="198270" cy="198270"/>
          </a:xfrm>
          <a:prstGeom prst="rect">
            <a:avLst/>
          </a:prstGeom>
          <a:solidFill>
            <a:srgbClr val="E5F7EF"/>
          </a:solidFill>
          <a:ln w="15240">
            <a:solidFill>
              <a:srgbClr val="009E73"/>
            </a:solidFill>
            <a:prstDash val="solid"/>
          </a:ln>
        </p:spPr>
      </p:sp>
      <p:sp>
        <p:nvSpPr>
          <p:cNvPr id="57" name="Text 55"/>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8" name="Shape 56"/>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9" name="Text 57"/>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0" name="Shape 58"/>
          <p:cNvSpPr/>
          <p:nvPr/>
        </p:nvSpPr>
        <p:spPr>
          <a:xfrm>
            <a:off x="4179476" y="5630979"/>
            <a:ext cx="198270" cy="198270"/>
          </a:xfrm>
          <a:prstGeom prst="rect">
            <a:avLst/>
          </a:prstGeom>
          <a:solidFill>
            <a:srgbClr val="F2F4F5"/>
          </a:solidFill>
          <a:ln w="15240">
            <a:solidFill>
              <a:srgbClr val="626B73"/>
            </a:solidFill>
            <a:prstDash val="solid"/>
          </a:ln>
        </p:spPr>
      </p:sp>
      <p:sp>
        <p:nvSpPr>
          <p:cNvPr id="61" name="Text 59"/>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2" name="Shape 60"/>
          <p:cNvSpPr/>
          <p:nvPr/>
        </p:nvSpPr>
        <p:spPr>
          <a:xfrm>
            <a:off x="5741367" y="5730113"/>
            <a:ext cx="335533" cy="0"/>
          </a:xfrm>
          <a:prstGeom prst="line">
            <a:avLst/>
          </a:prstGeom>
          <a:noFill/>
          <a:ln w="22860">
            <a:solidFill>
              <a:srgbClr val="009E73"/>
            </a:solidFill>
            <a:prstDash val="solid"/>
            <a:tailEnd type="triangle"/>
          </a:ln>
        </p:spPr>
      </p:sp>
      <p:sp>
        <p:nvSpPr>
          <p:cNvPr id="63" name="Text 61"/>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4" name="Text 62"/>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a blocked request consume model-generation tokens in respond?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generative AI stack</a:t>
            </a:r>
            <a:endParaRPr lang="en-US" sz="3200" dirty="0"/>
          </a:p>
        </p:txBody>
      </p:sp>
      <p:sp>
        <p:nvSpPr>
          <p:cNvPr id="6" name="Shape 4"/>
          <p:cNvSpPr/>
          <p:nvPr/>
        </p:nvSpPr>
        <p:spPr>
          <a:xfrm>
            <a:off x="949532" y="2296724"/>
            <a:ext cx="2758882" cy="460333"/>
          </a:xfrm>
          <a:prstGeom prst="rect">
            <a:avLst/>
          </a:prstGeom>
          <a:solidFill>
            <a:srgbClr val="F2F4F5"/>
          </a:solidFill>
          <a:ln w="15240">
            <a:solidFill>
              <a:srgbClr val="626B73"/>
            </a:solidFill>
            <a:prstDash val="solid"/>
          </a:ln>
        </p:spPr>
      </p:sp>
      <p:sp>
        <p:nvSpPr>
          <p:cNvPr id="7" name="Shape 5"/>
          <p:cNvSpPr/>
          <p:nvPr/>
        </p:nvSpPr>
        <p:spPr>
          <a:xfrm>
            <a:off x="949532" y="2868172"/>
            <a:ext cx="2758882" cy="460333"/>
          </a:xfrm>
          <a:prstGeom prst="rect">
            <a:avLst/>
          </a:prstGeom>
          <a:solidFill>
            <a:srgbClr val="F2F4F5"/>
          </a:solidFill>
          <a:ln w="15240">
            <a:solidFill>
              <a:srgbClr val="626B73"/>
            </a:solidFill>
            <a:prstDash val="solid"/>
          </a:ln>
        </p:spPr>
      </p:sp>
      <p:sp>
        <p:nvSpPr>
          <p:cNvPr id="8" name="Shape 6"/>
          <p:cNvSpPr/>
          <p:nvPr/>
        </p:nvSpPr>
        <p:spPr>
          <a:xfrm>
            <a:off x="949532" y="3439620"/>
            <a:ext cx="2758882" cy="460333"/>
          </a:xfrm>
          <a:prstGeom prst="rect">
            <a:avLst/>
          </a:prstGeom>
          <a:solidFill>
            <a:srgbClr val="F2F4F5"/>
          </a:solidFill>
          <a:ln w="15240">
            <a:solidFill>
              <a:srgbClr val="626B73"/>
            </a:solidFill>
            <a:prstDash val="solid"/>
          </a:ln>
        </p:spPr>
      </p:sp>
      <p:sp>
        <p:nvSpPr>
          <p:cNvPr id="9" name="Shape 7"/>
          <p:cNvSpPr/>
          <p:nvPr/>
        </p:nvSpPr>
        <p:spPr>
          <a:xfrm>
            <a:off x="949532" y="4011067"/>
            <a:ext cx="2758882" cy="460333"/>
          </a:xfrm>
          <a:prstGeom prst="rect">
            <a:avLst/>
          </a:prstGeom>
          <a:solidFill>
            <a:srgbClr val="E5F7EF"/>
          </a:solidFill>
          <a:ln w="15240">
            <a:solidFill>
              <a:srgbClr val="009E73"/>
            </a:solidFill>
            <a:prstDash val="solid"/>
          </a:ln>
        </p:spPr>
      </p:sp>
      <p:sp>
        <p:nvSpPr>
          <p:cNvPr id="10" name="Shape 8"/>
          <p:cNvSpPr/>
          <p:nvPr/>
        </p:nvSpPr>
        <p:spPr>
          <a:xfrm>
            <a:off x="949532" y="4582515"/>
            <a:ext cx="2758882" cy="460333"/>
          </a:xfrm>
          <a:prstGeom prst="rect">
            <a:avLst/>
          </a:prstGeom>
          <a:solidFill>
            <a:srgbClr val="F2F4F5"/>
          </a:solidFill>
          <a:ln w="15240">
            <a:solidFill>
              <a:srgbClr val="626B73"/>
            </a:solidFill>
            <a:prstDash val="solid"/>
          </a:ln>
        </p:spPr>
      </p:sp>
      <p:sp>
        <p:nvSpPr>
          <p:cNvPr id="11" name="Text 9"/>
          <p:cNvSpPr txBox="1"/>
          <p:nvPr/>
        </p:nvSpPr>
        <p:spPr>
          <a:xfrm>
            <a:off x="1599921" y="2389396"/>
            <a:ext cx="1458105"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Application</a:t>
            </a:r>
            <a:endParaRPr lang="en-US" sz="1867" dirty="0"/>
          </a:p>
        </p:txBody>
      </p:sp>
      <p:sp>
        <p:nvSpPr>
          <p:cNvPr id="12" name="Text 10"/>
          <p:cNvSpPr txBox="1"/>
          <p:nvPr/>
        </p:nvSpPr>
        <p:spPr>
          <a:xfrm>
            <a:off x="4037834" y="2389396"/>
            <a:ext cx="3516162" cy="274990"/>
          </a:xfrm>
          <a:prstGeom prst="rect">
            <a:avLst/>
          </a:prstGeom>
          <a:noFill/>
          <a:ln/>
        </p:spPr>
        <p:txBody>
          <a:bodyPr wrap="square" lIns="0" tIns="0" rIns="0" bIns="0" rtlCol="0" anchor="ctr"/>
          <a:lstStyle/>
          <a:p>
            <a:pPr algn="l" indent="0" marL="0">
              <a:lnSpc>
                <a:spcPct val="116000"/>
              </a:lnSpc>
              <a:buNone/>
            </a:pPr>
            <a:r>
              <a:rPr lang="en-US" sz="1867" dirty="0">
                <a:solidFill>
                  <a:srgbClr val="1F2937"/>
                </a:solidFill>
                <a:latin typeface="Arial" pitchFamily="34" charset="0"/>
                <a:ea typeface="Arial" pitchFamily="34" charset="-122"/>
                <a:cs typeface="Arial" pitchFamily="34" charset="-120"/>
              </a:rPr>
              <a:t>Interface and request handling</a:t>
            </a:r>
            <a:endParaRPr lang="en-US" sz="1867" dirty="0"/>
          </a:p>
        </p:txBody>
      </p:sp>
      <p:sp>
        <p:nvSpPr>
          <p:cNvPr id="13" name="Text 11"/>
          <p:cNvSpPr txBox="1"/>
          <p:nvPr/>
        </p:nvSpPr>
        <p:spPr>
          <a:xfrm>
            <a:off x="1458595" y="2960843"/>
            <a:ext cx="1740756"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Orchestration</a:t>
            </a:r>
            <a:endParaRPr lang="en-US" sz="1867" dirty="0"/>
          </a:p>
        </p:txBody>
      </p:sp>
      <p:sp>
        <p:nvSpPr>
          <p:cNvPr id="14" name="Text 12"/>
          <p:cNvSpPr txBox="1"/>
          <p:nvPr/>
        </p:nvSpPr>
        <p:spPr>
          <a:xfrm>
            <a:off x="4037834" y="2960843"/>
            <a:ext cx="4134462" cy="274990"/>
          </a:xfrm>
          <a:prstGeom prst="rect">
            <a:avLst/>
          </a:prstGeom>
          <a:noFill/>
          <a:ln/>
        </p:spPr>
        <p:txBody>
          <a:bodyPr wrap="square" lIns="0" tIns="0" rIns="0" bIns="0" rtlCol="0" anchor="ctr"/>
          <a:lstStyle/>
          <a:p>
            <a:pPr algn="l" indent="0" marL="0">
              <a:lnSpc>
                <a:spcPct val="116000"/>
              </a:lnSpc>
              <a:buNone/>
            </a:pPr>
            <a:r>
              <a:rPr lang="en-US" sz="1867" dirty="0">
                <a:solidFill>
                  <a:srgbClr val="1F2937"/>
                </a:solidFill>
                <a:latin typeface="Arial" pitchFamily="34" charset="0"/>
                <a:ea typeface="Arial" pitchFamily="34" charset="-122"/>
                <a:cs typeface="Arial" pitchFamily="34" charset="-120"/>
              </a:rPr>
              <a:t>Connect prompts, retrieval and tools</a:t>
            </a:r>
            <a:endParaRPr lang="en-US" sz="1867" dirty="0"/>
          </a:p>
        </p:txBody>
      </p:sp>
      <p:sp>
        <p:nvSpPr>
          <p:cNvPr id="15" name="Text 13"/>
          <p:cNvSpPr txBox="1"/>
          <p:nvPr/>
        </p:nvSpPr>
        <p:spPr>
          <a:xfrm>
            <a:off x="1281938" y="3532291"/>
            <a:ext cx="2094071"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Access / serving</a:t>
            </a:r>
            <a:endParaRPr lang="en-US" sz="1867" dirty="0"/>
          </a:p>
        </p:txBody>
      </p:sp>
      <p:sp>
        <p:nvSpPr>
          <p:cNvPr id="16" name="Text 14"/>
          <p:cNvSpPr txBox="1"/>
          <p:nvPr/>
        </p:nvSpPr>
        <p:spPr>
          <a:xfrm>
            <a:off x="4037834" y="3532291"/>
            <a:ext cx="4809900" cy="274990"/>
          </a:xfrm>
          <a:prstGeom prst="rect">
            <a:avLst/>
          </a:prstGeom>
          <a:noFill/>
          <a:ln/>
        </p:spPr>
        <p:txBody>
          <a:bodyPr wrap="square" lIns="0" tIns="0" rIns="0" bIns="0" rtlCol="0" anchor="ctr"/>
          <a:lstStyle/>
          <a:p>
            <a:pPr algn="l" indent="0" marL="0">
              <a:lnSpc>
                <a:spcPct val="116000"/>
              </a:lnSpc>
              <a:buNone/>
            </a:pPr>
            <a:r>
              <a:rPr lang="en-US" sz="1867" dirty="0">
                <a:solidFill>
                  <a:srgbClr val="1F2937"/>
                </a:solidFill>
                <a:latin typeface="Arial" pitchFamily="34" charset="0"/>
                <a:ea typeface="Arial" pitchFamily="34" charset="-122"/>
                <a:cs typeface="Arial" pitchFamily="34" charset="-120"/>
              </a:rPr>
              <a:t>Hosted API, serving engine or local runner</a:t>
            </a:r>
            <a:endParaRPr lang="en-US" sz="1867" dirty="0"/>
          </a:p>
        </p:txBody>
      </p:sp>
      <p:sp>
        <p:nvSpPr>
          <p:cNvPr id="17" name="Text 15"/>
          <p:cNvSpPr txBox="1"/>
          <p:nvPr/>
        </p:nvSpPr>
        <p:spPr>
          <a:xfrm>
            <a:off x="1917904" y="4103739"/>
            <a:ext cx="82213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Model</a:t>
            </a:r>
            <a:endParaRPr lang="en-US" sz="1867" dirty="0"/>
          </a:p>
        </p:txBody>
      </p:sp>
      <p:sp>
        <p:nvSpPr>
          <p:cNvPr id="18" name="Text 16"/>
          <p:cNvSpPr txBox="1"/>
          <p:nvPr/>
        </p:nvSpPr>
        <p:spPr>
          <a:xfrm>
            <a:off x="4037834" y="4103739"/>
            <a:ext cx="3697235" cy="274990"/>
          </a:xfrm>
          <a:prstGeom prst="rect">
            <a:avLst/>
          </a:prstGeom>
          <a:noFill/>
          <a:ln/>
        </p:spPr>
        <p:txBody>
          <a:bodyPr wrap="square" lIns="0" tIns="0" rIns="0" bIns="0" rtlCol="0" anchor="ctr"/>
          <a:lstStyle/>
          <a:p>
            <a:pPr algn="l" indent="0" marL="0">
              <a:lnSpc>
                <a:spcPct val="116000"/>
              </a:lnSpc>
              <a:buNone/>
            </a:pPr>
            <a:r>
              <a:rPr lang="en-US" sz="1867" dirty="0">
                <a:solidFill>
                  <a:srgbClr val="1F2937"/>
                </a:solidFill>
                <a:latin typeface="Arial" pitchFamily="34" charset="0"/>
                <a:ea typeface="Arial" pitchFamily="34" charset="-122"/>
                <a:cs typeface="Arial" pitchFamily="34" charset="-120"/>
              </a:rPr>
              <a:t>Weights and generation settings</a:t>
            </a:r>
            <a:endParaRPr lang="en-US" sz="1867" dirty="0"/>
          </a:p>
        </p:txBody>
      </p:sp>
      <p:sp>
        <p:nvSpPr>
          <p:cNvPr id="19" name="Text 17"/>
          <p:cNvSpPr txBox="1"/>
          <p:nvPr/>
        </p:nvSpPr>
        <p:spPr>
          <a:xfrm>
            <a:off x="1705916" y="4675187"/>
            <a:ext cx="1246116"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Hardware</a:t>
            </a:r>
            <a:endParaRPr lang="en-US" sz="1867" dirty="0"/>
          </a:p>
        </p:txBody>
      </p:sp>
      <p:sp>
        <p:nvSpPr>
          <p:cNvPr id="20" name="Text 18"/>
          <p:cNvSpPr txBox="1"/>
          <p:nvPr/>
        </p:nvSpPr>
        <p:spPr>
          <a:xfrm>
            <a:off x="4037834" y="4675187"/>
            <a:ext cx="3260009" cy="274990"/>
          </a:xfrm>
          <a:prstGeom prst="rect">
            <a:avLst/>
          </a:prstGeom>
          <a:noFill/>
          <a:ln/>
        </p:spPr>
        <p:txBody>
          <a:bodyPr wrap="square" lIns="0" tIns="0" rIns="0" bIns="0" rtlCol="0" anchor="ctr"/>
          <a:lstStyle/>
          <a:p>
            <a:pPr algn="l" indent="0" marL="0">
              <a:lnSpc>
                <a:spcPct val="116000"/>
              </a:lnSpc>
              <a:buNone/>
            </a:pPr>
            <a:r>
              <a:rPr lang="en-US" sz="1867" dirty="0">
                <a:solidFill>
                  <a:srgbClr val="1F2937"/>
                </a:solidFill>
                <a:latin typeface="Arial" pitchFamily="34" charset="0"/>
                <a:ea typeface="Arial" pitchFamily="34" charset="-122"/>
                <a:cs typeface="Arial" pitchFamily="34" charset="-120"/>
              </a:rPr>
              <a:t>Cloud, server or local device</a:t>
            </a:r>
            <a:endParaRPr lang="en-US" sz="1867" dirty="0"/>
          </a:p>
        </p:txBody>
      </p:sp>
      <p:sp>
        <p:nvSpPr>
          <p:cNvPr id="21" name="Text 19"/>
          <p:cNvSpPr txBox="1"/>
          <p:nvPr/>
        </p:nvSpPr>
        <p:spPr>
          <a:xfrm>
            <a:off x="949532" y="5216006"/>
            <a:ext cx="5898371"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Monitor quality, latency, errors and cost across every layer.</a:t>
            </a:r>
            <a:endParaRPr lang="en-US" sz="1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Frameworks and platforms at a glance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4109043"/>
                <a:gridCol w="2191489"/>
                <a:gridCol w="4793883"/>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Layer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Use it for (example)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Hugging Face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Models / hosting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Download Qwen2.5-0.5B; host a demo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OpenAI / Azure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Provider API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Call a GPT model with a key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Gemini / Vertex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Provider API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Call Gemini; free tier in AI Studio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vLLM / SGLang / TGI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Server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Serve 50 users from one GPU</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Ollama / llama.cpp / LM Studio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Local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Run a small model on a laptop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LangChain / LangGraph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Coordination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Chain retrieval, a model and tools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LlamaIndex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Index a handbook for 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client, many back ends: the OpenAI-compatible API</a:t>
            </a:r>
            <a:endParaRPr lang="en-US" sz="3200" dirty="0"/>
          </a:p>
        </p:txBody>
      </p:sp>
      <p:sp>
        <p:nvSpPr>
          <p:cNvPr id="6" name="Shape 4"/>
          <p:cNvSpPr/>
          <p:nvPr/>
        </p:nvSpPr>
        <p:spPr>
          <a:xfrm flipV="1">
            <a:off x="3749592" y="2510164"/>
            <a:ext cx="1358853" cy="1127022"/>
          </a:xfrm>
          <a:prstGeom prst="line">
            <a:avLst/>
          </a:prstGeom>
          <a:noFill/>
          <a:ln w="22860">
            <a:solidFill>
              <a:srgbClr val="6B7280"/>
            </a:solidFill>
            <a:prstDash val="solid"/>
            <a:tailEnd type="triangle"/>
          </a:ln>
        </p:spPr>
      </p:sp>
      <p:sp>
        <p:nvSpPr>
          <p:cNvPr id="7" name="Shape 5"/>
          <p:cNvSpPr/>
          <p:nvPr/>
        </p:nvSpPr>
        <p:spPr>
          <a:xfrm flipV="1">
            <a:off x="3749592" y="3049864"/>
            <a:ext cx="1358853" cy="587321"/>
          </a:xfrm>
          <a:prstGeom prst="line">
            <a:avLst/>
          </a:prstGeom>
          <a:noFill/>
          <a:ln w="22860">
            <a:solidFill>
              <a:srgbClr val="6B7280"/>
            </a:solidFill>
            <a:prstDash val="solid"/>
            <a:tailEnd type="triangle"/>
          </a:ln>
        </p:spPr>
      </p:sp>
      <p:sp>
        <p:nvSpPr>
          <p:cNvPr id="8" name="Shape 6"/>
          <p:cNvSpPr/>
          <p:nvPr/>
        </p:nvSpPr>
        <p:spPr>
          <a:xfrm flipV="1">
            <a:off x="3749592" y="3589565"/>
            <a:ext cx="1358853" cy="47621"/>
          </a:xfrm>
          <a:prstGeom prst="line">
            <a:avLst/>
          </a:prstGeom>
          <a:noFill/>
          <a:ln w="22860">
            <a:solidFill>
              <a:srgbClr val="6B7280"/>
            </a:solidFill>
            <a:prstDash val="solid"/>
            <a:tailEnd type="triangle"/>
          </a:ln>
        </p:spPr>
      </p:sp>
      <p:sp>
        <p:nvSpPr>
          <p:cNvPr id="9" name="Shape 7"/>
          <p:cNvSpPr/>
          <p:nvPr/>
        </p:nvSpPr>
        <p:spPr>
          <a:xfrm>
            <a:off x="3749592" y="3637185"/>
            <a:ext cx="1358853" cy="492080"/>
          </a:xfrm>
          <a:prstGeom prst="line">
            <a:avLst/>
          </a:prstGeom>
          <a:noFill/>
          <a:ln w="22860">
            <a:solidFill>
              <a:srgbClr val="6B7280"/>
            </a:solidFill>
            <a:prstDash val="solid"/>
            <a:tailEnd type="triangle"/>
          </a:ln>
        </p:spPr>
      </p:sp>
      <p:sp>
        <p:nvSpPr>
          <p:cNvPr id="10" name="Shape 8"/>
          <p:cNvSpPr/>
          <p:nvPr/>
        </p:nvSpPr>
        <p:spPr>
          <a:xfrm>
            <a:off x="3749592" y="3637185"/>
            <a:ext cx="1358853" cy="1031781"/>
          </a:xfrm>
          <a:prstGeom prst="line">
            <a:avLst/>
          </a:prstGeom>
          <a:noFill/>
          <a:ln w="22860">
            <a:solidFill>
              <a:srgbClr val="6B7280"/>
            </a:solidFill>
            <a:prstDash val="solid"/>
            <a:tailEnd type="triangle"/>
          </a:ln>
        </p:spPr>
      </p:sp>
      <p:sp>
        <p:nvSpPr>
          <p:cNvPr id="11" name="Shape 9"/>
          <p:cNvSpPr/>
          <p:nvPr/>
        </p:nvSpPr>
        <p:spPr>
          <a:xfrm>
            <a:off x="949532" y="3200663"/>
            <a:ext cx="2800060" cy="873045"/>
          </a:xfrm>
          <a:prstGeom prst="rect">
            <a:avLst/>
          </a:prstGeom>
          <a:solidFill>
            <a:srgbClr val="F2F4F5"/>
          </a:solidFill>
          <a:ln w="15240">
            <a:solidFill>
              <a:srgbClr val="626B73"/>
            </a:solidFill>
            <a:prstDash val="solid"/>
          </a:ln>
        </p:spPr>
      </p:sp>
      <p:sp>
        <p:nvSpPr>
          <p:cNvPr id="12" name="Shape 10"/>
          <p:cNvSpPr/>
          <p:nvPr/>
        </p:nvSpPr>
        <p:spPr>
          <a:xfrm>
            <a:off x="5108445" y="2295871"/>
            <a:ext cx="2635350" cy="428586"/>
          </a:xfrm>
          <a:prstGeom prst="rect">
            <a:avLst/>
          </a:prstGeom>
          <a:solidFill>
            <a:srgbClr val="F2F4F5"/>
          </a:solidFill>
          <a:ln w="15240">
            <a:solidFill>
              <a:srgbClr val="626B73"/>
            </a:solidFill>
            <a:prstDash val="solid"/>
          </a:ln>
        </p:spPr>
      </p:sp>
      <p:sp>
        <p:nvSpPr>
          <p:cNvPr id="13" name="Shape 11"/>
          <p:cNvSpPr/>
          <p:nvPr/>
        </p:nvSpPr>
        <p:spPr>
          <a:xfrm>
            <a:off x="5108445" y="2835571"/>
            <a:ext cx="2635350" cy="428586"/>
          </a:xfrm>
          <a:prstGeom prst="rect">
            <a:avLst/>
          </a:prstGeom>
          <a:solidFill>
            <a:srgbClr val="F2F4F5"/>
          </a:solidFill>
          <a:ln w="15240">
            <a:solidFill>
              <a:srgbClr val="626B73"/>
            </a:solidFill>
            <a:prstDash val="solid"/>
          </a:ln>
        </p:spPr>
      </p:sp>
      <p:sp>
        <p:nvSpPr>
          <p:cNvPr id="14" name="Shape 12"/>
          <p:cNvSpPr/>
          <p:nvPr/>
        </p:nvSpPr>
        <p:spPr>
          <a:xfrm>
            <a:off x="5108445" y="3375272"/>
            <a:ext cx="2635350" cy="428586"/>
          </a:xfrm>
          <a:prstGeom prst="rect">
            <a:avLst/>
          </a:prstGeom>
          <a:solidFill>
            <a:srgbClr val="F2F4F5"/>
          </a:solidFill>
          <a:ln w="15240">
            <a:solidFill>
              <a:srgbClr val="626B73"/>
            </a:solidFill>
            <a:prstDash val="solid"/>
          </a:ln>
        </p:spPr>
      </p:sp>
      <p:sp>
        <p:nvSpPr>
          <p:cNvPr id="15" name="Shape 13"/>
          <p:cNvSpPr/>
          <p:nvPr/>
        </p:nvSpPr>
        <p:spPr>
          <a:xfrm>
            <a:off x="5108445" y="3914973"/>
            <a:ext cx="2635350" cy="428586"/>
          </a:xfrm>
          <a:prstGeom prst="rect">
            <a:avLst/>
          </a:prstGeom>
          <a:solidFill>
            <a:srgbClr val="F2F4F5"/>
          </a:solidFill>
          <a:ln w="15240">
            <a:solidFill>
              <a:srgbClr val="626B73"/>
            </a:solidFill>
            <a:prstDash val="solid"/>
          </a:ln>
        </p:spPr>
      </p:sp>
      <p:sp>
        <p:nvSpPr>
          <p:cNvPr id="16" name="Shape 14"/>
          <p:cNvSpPr/>
          <p:nvPr/>
        </p:nvSpPr>
        <p:spPr>
          <a:xfrm>
            <a:off x="5108445" y="4454673"/>
            <a:ext cx="2635350" cy="428586"/>
          </a:xfrm>
          <a:prstGeom prst="rect">
            <a:avLst/>
          </a:prstGeom>
          <a:solidFill>
            <a:srgbClr val="F2F4F5"/>
          </a:solidFill>
          <a:ln w="15240">
            <a:solidFill>
              <a:srgbClr val="626B73"/>
            </a:solidFill>
            <a:prstDash val="solid"/>
          </a:ln>
        </p:spPr>
      </p:sp>
      <p:sp>
        <p:nvSpPr>
          <p:cNvPr id="17" name="Text 15"/>
          <p:cNvSpPr txBox="1"/>
          <p:nvPr/>
        </p:nvSpPr>
        <p:spPr>
          <a:xfrm>
            <a:off x="1178867" y="3362196"/>
            <a:ext cx="2341391"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Chat client</a:t>
            </a:r>
            <a:endParaRPr lang="en-US" sz="1867" dirty="0"/>
          </a:p>
        </p:txBody>
      </p:sp>
      <p:sp>
        <p:nvSpPr>
          <p:cNvPr id="18" name="Text 16"/>
          <p:cNvSpPr txBox="1"/>
          <p:nvPr/>
        </p:nvSpPr>
        <p:spPr>
          <a:xfrm>
            <a:off x="1178867" y="3637185"/>
            <a:ext cx="2341391"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messages + model</a:t>
            </a:r>
            <a:endParaRPr lang="en-US" sz="1867" dirty="0"/>
          </a:p>
        </p:txBody>
      </p:sp>
      <p:sp>
        <p:nvSpPr>
          <p:cNvPr id="19" name="Text 17"/>
          <p:cNvSpPr txBox="1"/>
          <p:nvPr/>
        </p:nvSpPr>
        <p:spPr>
          <a:xfrm>
            <a:off x="5534577" y="2386418"/>
            <a:ext cx="178308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Hosted provider</a:t>
            </a:r>
            <a:endParaRPr lang="en-US" sz="1680" dirty="0"/>
          </a:p>
        </p:txBody>
      </p:sp>
      <p:sp>
        <p:nvSpPr>
          <p:cNvPr id="20" name="Text 18"/>
          <p:cNvSpPr txBox="1"/>
          <p:nvPr/>
        </p:nvSpPr>
        <p:spPr>
          <a:xfrm>
            <a:off x="8073214" y="2386418"/>
            <a:ext cx="2495235"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OpenAI / Azure / Gemini</a:t>
            </a:r>
            <a:endParaRPr lang="en-US" sz="1680" dirty="0"/>
          </a:p>
        </p:txBody>
      </p:sp>
      <p:sp>
        <p:nvSpPr>
          <p:cNvPr id="21" name="Text 19"/>
          <p:cNvSpPr txBox="1"/>
          <p:nvPr/>
        </p:nvSpPr>
        <p:spPr>
          <a:xfrm>
            <a:off x="5538993" y="2926119"/>
            <a:ext cx="177425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Inference router</a:t>
            </a:r>
            <a:endParaRPr lang="en-US" sz="1680" dirty="0"/>
          </a:p>
        </p:txBody>
      </p:sp>
      <p:sp>
        <p:nvSpPr>
          <p:cNvPr id="22" name="Text 20"/>
          <p:cNvSpPr txBox="1"/>
          <p:nvPr/>
        </p:nvSpPr>
        <p:spPr>
          <a:xfrm>
            <a:off x="8073214" y="2926119"/>
            <a:ext cx="1482769"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Hugging Face</a:t>
            </a:r>
            <a:endParaRPr lang="en-US" sz="1680" dirty="0"/>
          </a:p>
        </p:txBody>
      </p:sp>
      <p:sp>
        <p:nvSpPr>
          <p:cNvPr id="23" name="Text 21"/>
          <p:cNvSpPr txBox="1"/>
          <p:nvPr/>
        </p:nvSpPr>
        <p:spPr>
          <a:xfrm>
            <a:off x="5587574" y="3465819"/>
            <a:ext cx="167709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Serving engine</a:t>
            </a:r>
            <a:endParaRPr lang="en-US" sz="1680" dirty="0"/>
          </a:p>
        </p:txBody>
      </p:sp>
      <p:sp>
        <p:nvSpPr>
          <p:cNvPr id="24" name="Text 22"/>
          <p:cNvSpPr txBox="1"/>
          <p:nvPr/>
        </p:nvSpPr>
        <p:spPr>
          <a:xfrm>
            <a:off x="8073214" y="3465819"/>
            <a:ext cx="164176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vLLM / SGLang</a:t>
            </a:r>
            <a:endParaRPr lang="en-US" sz="1680" dirty="0"/>
          </a:p>
        </p:txBody>
      </p:sp>
      <p:sp>
        <p:nvSpPr>
          <p:cNvPr id="25" name="Text 23"/>
          <p:cNvSpPr txBox="1"/>
          <p:nvPr/>
        </p:nvSpPr>
        <p:spPr>
          <a:xfrm>
            <a:off x="5711234" y="4005520"/>
            <a:ext cx="142977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Local runner</a:t>
            </a:r>
            <a:endParaRPr lang="en-US" sz="1680" dirty="0"/>
          </a:p>
        </p:txBody>
      </p:sp>
      <p:sp>
        <p:nvSpPr>
          <p:cNvPr id="26" name="Text 24"/>
          <p:cNvSpPr txBox="1"/>
          <p:nvPr/>
        </p:nvSpPr>
        <p:spPr>
          <a:xfrm>
            <a:off x="8073214" y="4005520"/>
            <a:ext cx="195091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Ollama / llama.cpp</a:t>
            </a:r>
            <a:endParaRPr lang="en-US" sz="1680" dirty="0"/>
          </a:p>
        </p:txBody>
      </p:sp>
      <p:sp>
        <p:nvSpPr>
          <p:cNvPr id="27" name="Text 25"/>
          <p:cNvSpPr txBox="1"/>
          <p:nvPr/>
        </p:nvSpPr>
        <p:spPr>
          <a:xfrm>
            <a:off x="5693568" y="4545221"/>
            <a:ext cx="14651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Lab endpoint</a:t>
            </a:r>
            <a:endParaRPr lang="en-US" sz="1680" dirty="0"/>
          </a:p>
        </p:txBody>
      </p:sp>
      <p:sp>
        <p:nvSpPr>
          <p:cNvPr id="28" name="Text 26"/>
          <p:cNvSpPr txBox="1"/>
          <p:nvPr/>
        </p:nvSpPr>
        <p:spPr>
          <a:xfrm>
            <a:off x="8073214" y="4545221"/>
            <a:ext cx="2154066"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FastAPI on localhost</a:t>
            </a:r>
            <a:endParaRPr lang="en-US" sz="1680" dirty="0"/>
          </a:p>
        </p:txBody>
      </p:sp>
      <p:sp>
        <p:nvSpPr>
          <p:cNvPr id="29" name="Text 27"/>
          <p:cNvSpPr txBox="1"/>
          <p:nvPr/>
        </p:nvSpPr>
        <p:spPr>
          <a:xfrm>
            <a:off x="949532" y="5215153"/>
            <a:ext cx="6761507"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Set endpoint, key and model; verify supported fields and behaviour.</a:t>
            </a:r>
            <a:endParaRPr lang="en-US" sz="1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Plain SDK or orchestration framework?</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Plain SDK + code</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Call and debug directly</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Own prompts, checks and retries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30 lines that call the API and validate the JSON</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Framework</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Connectors and tracked workflows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Useful abstraction; more dependencies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a LangGraph agent with checkpoints and approval steps</a:t>
            </a:r>
            <a:endParaRPr lang="en-US" sz="24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Start simple; add a framework for a specific need.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Student data must stay on university servers. What fits the existing compatible client?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Self-host a suitable compatible model; change URL and re-test</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Rewrite every component for a new local framework</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Send data to the external API, then request deletion</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Switch to a larger external model with better accuracy</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API platforms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Keys, tokens, pricing, rate limits and streaming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an API platform gives you, and what it expects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Authentication</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 secret key or cloud identity says who is calling and who pays.</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Tokens / prices</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Priced per million tokens; output usually costs more than input.</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Rate limits</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Caps on requests and tokens per minute; HTTP 429 means wait and retry.</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Streaming</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Text arrives chunk by chunk, so users start reading sooner.</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Batch / cache</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Offline batches and repeated prompt prefixes can cost less.</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Schemas / tools</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Ask for JSON fields or tool calls in a declared format.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Keeping API keys safe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Keep keys out of notebooks and Git.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Load server-side secrets; the browser calls your server.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restricted credentials and spending controls.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Revoke leaked keys; review usage.</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Anatomy of a request: where the time goes</a:t>
            </a:r>
            <a:endParaRPr lang="en-US" sz="3200" dirty="0"/>
          </a:p>
        </p:txBody>
      </p:sp>
      <p:sp>
        <p:nvSpPr>
          <p:cNvPr id="6" name="Shape 4"/>
          <p:cNvSpPr/>
          <p:nvPr/>
        </p:nvSpPr>
        <p:spPr>
          <a:xfrm>
            <a:off x="949532" y="3335992"/>
            <a:ext cx="5353055" cy="0"/>
          </a:xfrm>
          <a:prstGeom prst="line">
            <a:avLst/>
          </a:prstGeom>
          <a:noFill/>
          <a:ln w="22860">
            <a:solidFill>
              <a:srgbClr val="4F46E5"/>
            </a:solidFill>
            <a:prstDash val="solid"/>
            <a:tailEnd type="triangle"/>
          </a:ln>
        </p:spPr>
      </p:sp>
      <p:sp>
        <p:nvSpPr>
          <p:cNvPr id="7" name="Shape 5"/>
          <p:cNvSpPr/>
          <p:nvPr/>
        </p:nvSpPr>
        <p:spPr>
          <a:xfrm>
            <a:off x="949532" y="2320085"/>
            <a:ext cx="1729449" cy="714310"/>
          </a:xfrm>
          <a:prstGeom prst="rect">
            <a:avLst/>
          </a:prstGeom>
          <a:solidFill>
            <a:srgbClr val="F2F4F5"/>
          </a:solidFill>
          <a:ln w="15240">
            <a:solidFill>
              <a:srgbClr val="626B73"/>
            </a:solidFill>
            <a:prstDash val="solid"/>
          </a:ln>
        </p:spPr>
      </p:sp>
      <p:sp>
        <p:nvSpPr>
          <p:cNvPr id="8" name="Shape 6"/>
          <p:cNvSpPr/>
          <p:nvPr/>
        </p:nvSpPr>
        <p:spPr>
          <a:xfrm>
            <a:off x="2843690" y="2320085"/>
            <a:ext cx="1235320" cy="714310"/>
          </a:xfrm>
          <a:prstGeom prst="rect">
            <a:avLst/>
          </a:prstGeom>
          <a:solidFill>
            <a:srgbClr val="F2F4F5"/>
          </a:solidFill>
          <a:ln w="15240">
            <a:solidFill>
              <a:srgbClr val="626B73"/>
            </a:solidFill>
            <a:prstDash val="solid"/>
          </a:ln>
        </p:spPr>
      </p:sp>
      <p:sp>
        <p:nvSpPr>
          <p:cNvPr id="9" name="Shape 7"/>
          <p:cNvSpPr/>
          <p:nvPr/>
        </p:nvSpPr>
        <p:spPr>
          <a:xfrm>
            <a:off x="4243720" y="2320085"/>
            <a:ext cx="2058867" cy="714310"/>
          </a:xfrm>
          <a:prstGeom prst="rect">
            <a:avLst/>
          </a:prstGeom>
          <a:solidFill>
            <a:srgbClr val="E5F7EF"/>
          </a:solidFill>
          <a:ln w="15240">
            <a:solidFill>
              <a:srgbClr val="009E73"/>
            </a:solidFill>
            <a:prstDash val="solid"/>
          </a:ln>
        </p:spPr>
      </p:sp>
      <p:sp>
        <p:nvSpPr>
          <p:cNvPr id="10" name="Shape 8"/>
          <p:cNvSpPr/>
          <p:nvPr/>
        </p:nvSpPr>
        <p:spPr>
          <a:xfrm>
            <a:off x="6467297" y="2320085"/>
            <a:ext cx="4817750" cy="714310"/>
          </a:xfrm>
          <a:prstGeom prst="rect">
            <a:avLst/>
          </a:prstGeom>
          <a:solidFill>
            <a:srgbClr val="E5F7EF"/>
          </a:solidFill>
          <a:ln w="15240">
            <a:solidFill>
              <a:srgbClr val="009E73"/>
            </a:solidFill>
            <a:prstDash val="solid"/>
          </a:ln>
        </p:spPr>
      </p:sp>
      <p:sp>
        <p:nvSpPr>
          <p:cNvPr id="11" name="Text 9"/>
          <p:cNvSpPr txBox="1"/>
          <p:nvPr/>
        </p:nvSpPr>
        <p:spPr>
          <a:xfrm>
            <a:off x="1311360" y="2429749"/>
            <a:ext cx="100579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Network</a:t>
            </a:r>
            <a:endParaRPr lang="en-US" sz="1680" dirty="0"/>
          </a:p>
        </p:txBody>
      </p:sp>
      <p:sp>
        <p:nvSpPr>
          <p:cNvPr id="12" name="Text 10"/>
          <p:cNvSpPr txBox="1"/>
          <p:nvPr/>
        </p:nvSpPr>
        <p:spPr>
          <a:xfrm>
            <a:off x="1311360" y="2677239"/>
            <a:ext cx="100579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and auth</a:t>
            </a:r>
            <a:endParaRPr lang="en-US" sz="1680" dirty="0"/>
          </a:p>
        </p:txBody>
      </p:sp>
      <p:sp>
        <p:nvSpPr>
          <p:cNvPr id="13" name="Text 11"/>
          <p:cNvSpPr txBox="1"/>
          <p:nvPr/>
        </p:nvSpPr>
        <p:spPr>
          <a:xfrm>
            <a:off x="3073281" y="2553494"/>
            <a:ext cx="77614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Queue</a:t>
            </a:r>
            <a:endParaRPr lang="en-US" sz="1680" dirty="0"/>
          </a:p>
        </p:txBody>
      </p:sp>
      <p:sp>
        <p:nvSpPr>
          <p:cNvPr id="14" name="Text 12"/>
          <p:cNvSpPr txBox="1"/>
          <p:nvPr/>
        </p:nvSpPr>
        <p:spPr>
          <a:xfrm>
            <a:off x="4584767" y="2429749"/>
            <a:ext cx="137677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Prefill</a:t>
            </a:r>
            <a:endParaRPr lang="en-US" sz="1680" dirty="0"/>
          </a:p>
        </p:txBody>
      </p:sp>
      <p:sp>
        <p:nvSpPr>
          <p:cNvPr id="15" name="Text 13"/>
          <p:cNvSpPr txBox="1"/>
          <p:nvPr/>
        </p:nvSpPr>
        <p:spPr>
          <a:xfrm>
            <a:off x="4584767" y="2677239"/>
            <a:ext cx="137677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read prompt</a:t>
            </a:r>
            <a:endParaRPr lang="en-US" sz="1680" dirty="0"/>
          </a:p>
        </p:txBody>
      </p:sp>
      <p:sp>
        <p:nvSpPr>
          <p:cNvPr id="16" name="Text 14"/>
          <p:cNvSpPr txBox="1"/>
          <p:nvPr/>
        </p:nvSpPr>
        <p:spPr>
          <a:xfrm>
            <a:off x="7428159" y="2429749"/>
            <a:ext cx="289602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Decode</a:t>
            </a:r>
            <a:endParaRPr lang="en-US" sz="1680" dirty="0"/>
          </a:p>
        </p:txBody>
      </p:sp>
      <p:sp>
        <p:nvSpPr>
          <p:cNvPr id="17" name="Text 15"/>
          <p:cNvSpPr txBox="1"/>
          <p:nvPr/>
        </p:nvSpPr>
        <p:spPr>
          <a:xfrm>
            <a:off x="7428159" y="2677239"/>
            <a:ext cx="289602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generate remaining tokens</a:t>
            </a:r>
            <a:endParaRPr lang="en-US" sz="1680" dirty="0"/>
          </a:p>
        </p:txBody>
      </p:sp>
      <p:sp>
        <p:nvSpPr>
          <p:cNvPr id="18" name="Text 16"/>
          <p:cNvSpPr txBox="1"/>
          <p:nvPr/>
        </p:nvSpPr>
        <p:spPr>
          <a:xfrm>
            <a:off x="2349943" y="3382162"/>
            <a:ext cx="2552235" cy="247491"/>
          </a:xfrm>
          <a:prstGeom prst="rect">
            <a:avLst/>
          </a:prstGeom>
          <a:noFill/>
          <a:ln/>
        </p:spPr>
        <p:txBody>
          <a:bodyPr wrap="square" lIns="0" tIns="0" rIns="0" bIns="0" rtlCol="0" anchor="ctr"/>
          <a:lstStyle/>
          <a:p>
            <a:pPr algn="ctr" indent="0" marL="0">
              <a:lnSpc>
                <a:spcPct val="116000"/>
              </a:lnSpc>
              <a:buNone/>
            </a:pPr>
            <a:r>
              <a:rPr lang="en-US" sz="1680" dirty="0">
                <a:solidFill>
                  <a:srgbClr val="4F46E5"/>
                </a:solidFill>
                <a:latin typeface="Arial" pitchFamily="34" charset="0"/>
                <a:ea typeface="Arial" pitchFamily="34" charset="-122"/>
                <a:cs typeface="Arial" pitchFamily="34" charset="-120"/>
              </a:rPr>
              <a:t>Wait to first token (TTFT)</a:t>
            </a:r>
            <a:endParaRPr lang="en-US" sz="1680" dirty="0"/>
          </a:p>
        </p:txBody>
      </p:sp>
      <p:sp>
        <p:nvSpPr>
          <p:cNvPr id="19" name="Text 17"/>
          <p:cNvSpPr txBox="1"/>
          <p:nvPr/>
        </p:nvSpPr>
        <p:spPr>
          <a:xfrm>
            <a:off x="6632007" y="3382162"/>
            <a:ext cx="2551545" cy="247491"/>
          </a:xfrm>
          <a:prstGeom prst="rect">
            <a:avLst/>
          </a:prstGeom>
          <a:noFill/>
          <a:ln/>
        </p:spPr>
        <p:txBody>
          <a:bodyPr wrap="square" lIns="0" tIns="0" rIns="0" bIns="0" rtlCol="0" anchor="ctr"/>
          <a:lstStyle/>
          <a:p>
            <a:pPr algn="l" indent="0" marL="0">
              <a:lnSpc>
                <a:spcPct val="116000"/>
              </a:lnSpc>
              <a:buNone/>
            </a:pPr>
            <a:r>
              <a:rPr lang="en-US" sz="1680" dirty="0">
                <a:solidFill>
                  <a:srgbClr val="0F766E"/>
                </a:solidFill>
                <a:latin typeface="Arial" pitchFamily="34" charset="0"/>
                <a:ea typeface="Arial" pitchFamily="34" charset="-122"/>
                <a:cs typeface="Arial" pitchFamily="34" charset="-120"/>
              </a:rPr>
              <a:t>Then continue streaming</a:t>
            </a:r>
            <a:endParaRPr lang="en-US" sz="1680" dirty="0"/>
          </a:p>
        </p:txBody>
      </p:sp>
      <p:sp>
        <p:nvSpPr>
          <p:cNvPr id="20" name="Text 18"/>
          <p:cNvSpPr txBox="1"/>
          <p:nvPr/>
        </p:nvSpPr>
        <p:spPr>
          <a:xfrm>
            <a:off x="548640" y="4499959"/>
            <a:ext cx="11094415" cy="1809401"/>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TTFT:</a:t>
            </a:r>
            <a:pPr indent="0" marL="0">
              <a:buNone/>
            </a:pPr>
            <a:r>
              <a:rPr lang="en-US" sz="2000" dirty="0">
                <a:solidFill>
                  <a:srgbClr val="1F2937"/>
                </a:solidFill>
                <a:latin typeface="Calibri" pitchFamily="34" charset="0"/>
                <a:ea typeface="Calibri" pitchFamily="34" charset="-122"/>
                <a:cs typeface="Calibri" pitchFamily="34" charset="-120"/>
              </a:rPr>
              <a:t> wait before the first token.</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Decoding:</a:t>
            </a:r>
            <a:pPr indent="0" marL="0">
              <a:buNone/>
            </a:pPr>
            <a:r>
              <a:rPr lang="en-US" sz="2000" dirty="0">
                <a:solidFill>
                  <a:srgbClr val="1F2937"/>
                </a:solidFill>
                <a:latin typeface="Calibri" pitchFamily="34" charset="0"/>
                <a:ea typeface="Calibri" pitchFamily="34" charset="-122"/>
                <a:cs typeface="Calibri" pitchFamily="34" charset="-120"/>
              </a:rPr>
              <a:t> generate remaining tokens.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Streaming exposes output sooner; computation can be unchanged.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streaming latency of a small open model</a:t>
            </a:r>
            <a:endParaRPr lang="en-US" sz="3200" dirty="0"/>
          </a:p>
        </p:txBody>
      </p:sp>
      <p:pic>
        <p:nvPicPr>
          <p:cNvPr id="6" name="Image 0" descr="C:\Users\sudee\Downloads\Generative_AI_2027_Teaching_Pack\AI2027_Project\build\figures\week_11\lab_latency.png">    </p:cNvPr>
          <p:cNvPicPr>
            <a:picLocks noChangeAspect="1"/>
          </p:cNvPicPr>
          <p:nvPr/>
        </p:nvPicPr>
        <p:blipFill>
          <a:blip r:embed="rId1"/>
          <a:stretch>
            <a:fillRect/>
          </a:stretch>
        </p:blipFill>
        <p:spPr>
          <a:xfrm>
            <a:off x="548640" y="1609074"/>
            <a:ext cx="11094415" cy="3221515"/>
          </a:xfrm>
          <a:prstGeom prst="rect">
            <a:avLst/>
          </a:prstGeom>
        </p:spPr>
      </p:pic>
      <p:sp>
        <p:nvSpPr>
          <p:cNvPr id="7" name="Text 4"/>
          <p:cNvSpPr txBox="1"/>
          <p:nvPr/>
        </p:nvSpPr>
        <p:spPr>
          <a:xfrm>
            <a:off x="548640" y="5013468"/>
            <a:ext cx="11094415" cy="12958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Qwen2.5-0.5B-Instruct on an NVIDIA GTX 1650 laptop GPU: TTFT 0.24–0.28 s, full answers 3.6–9.3 s at 14 tokens/s.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This lab times first non-empty decoded text: an approximate TTFT.</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Estimating cost: 500 students, 20 requests a day, one month</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4493940"/>
                <a:gridCol w="4213069"/>
                <a:gridCol w="2387406"/>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Option (illustrative prices)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Price per 1M tokens (in / out)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USD per month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Small hosted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$0.10 / $0.40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$60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Mid-size hosted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$0.50 / $2.00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$300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Frontier hosted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$2.00 / $10.00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$1,380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Self-hosted small GPU, always 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$0.60 per hour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$432 + staff time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Method:  </a:t>
            </a:r>
            <a:pPr indent="0" marL="0">
              <a:buNone/>
            </a:pPr>
            <a:r>
              <a:rPr lang="en-US" sz="2000" dirty="0">
                <a:solidFill>
                  <a:srgbClr val="1F2937"/>
                </a:solidFill>
                <a:latin typeface="Calibri" pitchFamily="34" charset="0"/>
                <a:ea typeface="Calibri" pitchFamily="34" charset="-122"/>
                <a:cs typeface="Calibri" pitchFamily="34" charset="-120"/>
              </a:rPr>
              <a:t>300,000 requests × (800 input + 300 output tokens). Illustrative prices; check current provider rates.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Streaming and retries in code</a:t>
            </a:r>
            <a:endParaRPr lang="en-US" sz="3200" dirty="0"/>
          </a:p>
        </p:txBody>
      </p:sp>
      <p:sp>
        <p:nvSpPr>
          <p:cNvPr id="6" name="Shape 4"/>
          <p:cNvSpPr/>
          <p:nvPr/>
        </p:nvSpPr>
        <p:spPr>
          <a:xfrm>
            <a:off x="548640" y="1481328"/>
            <a:ext cx="6949440" cy="3136900"/>
          </a:xfrm>
          <a:prstGeom prst="roundRect">
            <a:avLst>
              <a:gd name="adj" fmla="val 2915"/>
            </a:avLst>
          </a:prstGeom>
          <a:solidFill>
            <a:srgbClr val="1E1E2E"/>
          </a:solidFill>
          <a:ln w="12700">
            <a:solidFill>
              <a:srgbClr val="1E1E2E"/>
            </a:solidFill>
            <a:prstDash val="solid"/>
          </a:ln>
        </p:spPr>
      </p:sp>
      <p:sp>
        <p:nvSpPr>
          <p:cNvPr id="7" name="Text 5"/>
          <p:cNvSpPr txBox="1"/>
          <p:nvPr/>
        </p:nvSpPr>
        <p:spPr>
          <a:xfrm>
            <a:off x="685800" y="1591056"/>
            <a:ext cx="6675120" cy="2917444"/>
          </a:xfrm>
          <a:prstGeom prst="rect">
            <a:avLst/>
          </a:prstGeom>
          <a:noFill/>
          <a:ln/>
        </p:spPr>
        <p:txBody>
          <a:bodyPr wrap="square" lIns="76200" tIns="76200" rIns="76200" bIns="76200" rtlCol="0" anchor="t"/>
          <a:lstStyle/>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from openai import OpenAI</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client = OpenAI(base_url=BASE_URL, api_key=API_KEY)</a:t>
            </a:r>
            <a:endParaRPr lang="en-US" sz="1700" dirty="0"/>
          </a:p>
          <a:p>
            <a:pPr indent="0" marL="0">
              <a:lnSpc>
                <a:spcPct val="100000"/>
              </a:lnSpc>
              <a:buNone/>
            </a:pPr>
            <a:r>
              <a:rPr lang="en-US" sz="1700" dirty="0">
                <a:solidFill>
                  <a:srgbClr val="9CA3AF"/>
                </a:solidFill>
                <a:latin typeface="Consolas" pitchFamily="34" charset="0"/>
                <a:ea typeface="Consolas" pitchFamily="34" charset="-122"/>
                <a:cs typeface="Consolas" pitchFamily="34" charset="-120"/>
              </a:rPr>
              <a:t># Read API_KEY from a secrets store.</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stream = client.chat.completions.create(</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model=MODEL, messages=messages,</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stream=True, max_tokens=300)</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for chunk in stream:</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text = chunk.choices[0].delta.content or ""</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print(text, end="")</a:t>
            </a:r>
            <a:endParaRPr lang="en-US" sz="1700" dirty="0"/>
          </a:p>
          <a:p>
            <a:pPr indent="0" marL="0">
              <a:lnSpc>
                <a:spcPct val="100000"/>
              </a:lnSpc>
              <a:buNone/>
            </a:pPr>
            <a:r>
              <a:rPr lang="en-US" sz="1700" dirty="0">
                <a:solidFill>
                  <a:srgbClr val="9CA3AF"/>
                </a:solidFill>
                <a:latin typeface="Consolas" pitchFamily="34" charset="0"/>
                <a:ea typeface="Consolas" pitchFamily="34" charset="-122"/>
                <a:cs typeface="Consolas" pitchFamily="34" charset="-120"/>
              </a:rPr>
              <a:t># Retry 429 with capped backoff and jitter.</a:t>
            </a:r>
            <a:endParaRPr lang="en-US" sz="17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Cap output and request time.</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Backoff:</a:t>
            </a:r>
            <a:pPr indent="0" marL="0">
              <a:buNone/>
            </a:pPr>
            <a:r>
              <a:rPr lang="en-US" sz="2000" dirty="0">
                <a:solidFill>
                  <a:srgbClr val="1F2937"/>
                </a:solidFill>
                <a:latin typeface="Calibri" pitchFamily="34" charset="0"/>
                <a:ea typeface="Calibri" pitchFamily="34" charset="-122"/>
                <a:cs typeface="Calibri" pitchFamily="34" charset="-120"/>
              </a:rPr>
              <a:t> longer waits; </a:t>
            </a:r>
            <a:pPr indent="0" marL="0">
              <a:buNone/>
            </a:pPr>
            <a:r>
              <a:rPr lang="en-US" sz="2000" b="1" dirty="0">
                <a:solidFill>
                  <a:srgbClr val="1F2937"/>
                </a:solidFill>
                <a:latin typeface="Calibri" pitchFamily="34" charset="0"/>
                <a:ea typeface="Calibri" pitchFamily="34" charset="-122"/>
                <a:cs typeface="Calibri" pitchFamily="34" charset="-120"/>
              </a:rPr>
              <a:t>jitter:</a:t>
            </a:r>
            <a:pPr indent="0" marL="0">
              <a:buNone/>
            </a:pPr>
            <a:r>
              <a:rPr lang="en-US" sz="2000" dirty="0">
                <a:solidFill>
                  <a:srgbClr val="1F2937"/>
                </a:solidFill>
                <a:latin typeface="Calibri" pitchFamily="34" charset="0"/>
                <a:ea typeface="Calibri" pitchFamily="34" charset="-122"/>
                <a:cs typeface="Calibri" pitchFamily="34" charset="-120"/>
              </a:rPr>
              <a:t> random variation.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Limit retries and report failure.</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Deployment options and efficient serving</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Cloud, self-hosted or local, and how to make it cheaper and faster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Cloud API vs. self-hosted vs. local</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651000"/>
                <a:gridCol w="3283313"/>
                <a:gridCol w="3289498"/>
                <a:gridCol w="2870604"/>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Cloud API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Self-hosted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Local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Provider's list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Open models you can run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fits the device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Pay per token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GPU hire + staff time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Device + electricity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Leaves to the provider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Stays on your servers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Stays on the device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Operations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Provider runs the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Your team runs 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device owner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Gemini for a prototype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vLLM for a university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Ollama on a laptop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Quantisation: fewer bits per weight</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89be2711bf5df324.png">    </p:cNvPr>
          <p:cNvPicPr>
            <a:picLocks noChangeAspect="1"/>
          </p:cNvPicPr>
          <p:nvPr/>
        </p:nvPicPr>
        <p:blipFill>
          <a:blip r:embed="rId1"/>
          <a:stretch>
            <a:fillRect/>
          </a:stretch>
        </p:blipFill>
        <p:spPr>
          <a:xfrm>
            <a:off x="4193896" y="1766824"/>
            <a:ext cx="3803904" cy="655320"/>
          </a:xfrm>
          <a:prstGeom prst="rect">
            <a:avLst/>
          </a:prstGeom>
        </p:spPr>
      </p:pic>
      <p:pic>
        <p:nvPicPr>
          <p:cNvPr id="8" name="Image 1" descr="C:\Users\sudee\Downloads\Generative_AI_2027_Teaching_Pack\AI2027_Project\build\eq\844edfb801b1b361.png">    </p:cNvPr>
          <p:cNvPicPr>
            <a:picLocks noChangeAspect="1"/>
          </p:cNvPicPr>
          <p:nvPr/>
        </p:nvPicPr>
        <p:blipFill>
          <a:blip r:embed="rId2"/>
          <a:stretch>
            <a:fillRect/>
          </a:stretch>
        </p:blipFill>
        <p:spPr>
          <a:xfrm>
            <a:off x="3239872" y="2661920"/>
            <a:ext cx="5711952" cy="728472"/>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Weights: parameters × bits/8 bytes, before overhead.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Absmax: scale, round, then reconstruct with q × 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Group scales trade storage for lower error.</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b</a:t>
            </a:r>
            <a:endParaRPr lang="en-US" sz="1800" dirty="0"/>
          </a:p>
        </p:txBody>
      </p:sp>
      <p:sp>
        <p:nvSpPr>
          <p:cNvPr id="13" name="Text 9"/>
          <p:cNvSpPr txBox="1"/>
          <p:nvPr/>
        </p:nvSpPr>
        <p:spPr>
          <a:xfrm>
            <a:off x="8046720" y="4315968"/>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Bits per weight</a:t>
            </a:r>
            <a:endParaRPr lang="en-US" sz="1700" dirty="0"/>
          </a:p>
        </p:txBody>
      </p:sp>
      <p:sp>
        <p:nvSpPr>
          <p:cNvPr id="14" name="Text 10"/>
          <p:cNvSpPr txBox="1"/>
          <p:nvPr/>
        </p:nvSpPr>
        <p:spPr>
          <a:xfrm>
            <a:off x="6858000" y="4814316"/>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s</a:t>
            </a:r>
            <a:endParaRPr lang="en-US" sz="1800" dirty="0"/>
          </a:p>
        </p:txBody>
      </p:sp>
      <p:sp>
        <p:nvSpPr>
          <p:cNvPr id="15" name="Text 11"/>
          <p:cNvSpPr txBox="1"/>
          <p:nvPr/>
        </p:nvSpPr>
        <p:spPr>
          <a:xfrm>
            <a:off x="8046720" y="4814316"/>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Group scale</a:t>
            </a:r>
            <a:endParaRPr lang="en-US" sz="1700" dirty="0"/>
          </a:p>
        </p:txBody>
      </p:sp>
      <p:sp>
        <p:nvSpPr>
          <p:cNvPr id="16" name="Text 12"/>
          <p:cNvSpPr txBox="1"/>
          <p:nvPr/>
        </p:nvSpPr>
        <p:spPr>
          <a:xfrm>
            <a:off x="6858000" y="5312664"/>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q</a:t>
            </a:r>
            <a:endParaRPr lang="en-US" sz="1800" dirty="0"/>
          </a:p>
        </p:txBody>
      </p:sp>
      <p:sp>
        <p:nvSpPr>
          <p:cNvPr id="17" name="Text 13"/>
          <p:cNvSpPr txBox="1"/>
          <p:nvPr/>
        </p:nvSpPr>
        <p:spPr>
          <a:xfrm>
            <a:off x="8046720" y="5312664"/>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Rounded integer</a:t>
            </a:r>
            <a:endParaRPr lang="en-US" sz="1700" dirty="0"/>
          </a:p>
        </p:txBody>
      </p:sp>
      <p:sp>
        <p:nvSpPr>
          <p:cNvPr id="18" name="Text 14"/>
          <p:cNvSpPr txBox="1"/>
          <p:nvPr/>
        </p:nvSpPr>
        <p:spPr>
          <a:xfrm>
            <a:off x="6858000" y="5811012"/>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ŵ</a:t>
            </a:r>
            <a:endParaRPr lang="en-US" sz="1800" dirty="0"/>
          </a:p>
        </p:txBody>
      </p:sp>
      <p:sp>
        <p:nvSpPr>
          <p:cNvPr id="19" name="Text 15"/>
          <p:cNvSpPr txBox="1"/>
          <p:nvPr/>
        </p:nvSpPr>
        <p:spPr>
          <a:xfrm>
            <a:off x="8046720" y="5811012"/>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Reconstructed value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size and quality after quantisation</a:t>
            </a:r>
            <a:endParaRPr lang="en-US" sz="3200" dirty="0"/>
          </a:p>
        </p:txBody>
      </p:sp>
      <p:pic>
        <p:nvPicPr>
          <p:cNvPr id="6" name="Image 0" descr="C:\Users\sudee\Downloads\Generative_AI_2027_Teaching_Pack\AI2027_Project\build\figures\week_11\lab_quant.png">    </p:cNvPr>
          <p:cNvPicPr>
            <a:picLocks noChangeAspect="1"/>
          </p:cNvPicPr>
          <p:nvPr/>
        </p:nvPicPr>
        <p:blipFill>
          <a:blip r:embed="rId1"/>
          <a:stretch>
            <a:fillRect/>
          </a:stretch>
        </p:blipFill>
        <p:spPr>
          <a:xfrm>
            <a:off x="548640" y="1623234"/>
            <a:ext cx="11094415" cy="3193195"/>
          </a:xfrm>
          <a:prstGeom prst="rect">
            <a:avLst/>
          </a:prstGeom>
        </p:spPr>
      </p:pic>
      <p:sp>
        <p:nvSpPr>
          <p:cNvPr id="7" name="Text 4"/>
          <p:cNvSpPr txBox="1"/>
          <p:nvPr/>
        </p:nvSpPr>
        <p:spPr>
          <a:xfrm>
            <a:off x="548640" y="4999308"/>
            <a:ext cx="11094415" cy="13100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Perplexity: fp16 52.3 (≈ 988 MB); int8 per row 55.0 (≈ 494 MB); int4 per row 97.5 (≈ 247 MB); int4 groups of 64 65.0 (≈ 262 MB).</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lab simulates rounding in floating-point tensors. Re-check task quality.</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batching raises throughput</a:t>
            </a:r>
            <a:endParaRPr lang="en-US" sz="3200" dirty="0"/>
          </a:p>
        </p:txBody>
      </p:sp>
      <p:pic>
        <p:nvPicPr>
          <p:cNvPr id="6" name="Image 0" descr="C:\Users\sudee\Downloads\Generative_AI_2027_Teaching_Pack\AI2027_Project\build\figures\week_11\lab_batch.png">    </p:cNvPr>
          <p:cNvPicPr>
            <a:picLocks noChangeAspect="1"/>
          </p:cNvPicPr>
          <p:nvPr/>
        </p:nvPicPr>
        <p:blipFill>
          <a:blip r:embed="rId1"/>
          <a:stretch>
            <a:fillRect/>
          </a:stretch>
        </p:blipFill>
        <p:spPr>
          <a:xfrm>
            <a:off x="548640" y="1534574"/>
            <a:ext cx="11094415" cy="3260786"/>
          </a:xfrm>
          <a:prstGeom prst="rect">
            <a:avLst/>
          </a:prstGeom>
        </p:spPr>
      </p:pic>
      <p:sp>
        <p:nvSpPr>
          <p:cNvPr id="7" name="Text 4"/>
          <p:cNvSpPr txBox="1"/>
          <p:nvPr/>
        </p:nvSpPr>
        <p:spPr>
          <a:xfrm>
            <a:off x="548640" y="4978240"/>
            <a:ext cx="11094415" cy="1331120"/>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13.2 tokens/s at batch 1 → 86.2 tokens/s at batch 8 (6.5× on an NVIDIA GTX 1650 laptop GPU).</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Batching raises aggregate throughput; an individual request may wait longer.</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Continuous batching admits work as capacity frees.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Serving engines and caching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KV cache:</a:t>
            </a:r>
            <a:pPr indent="0" marL="0">
              <a:buNone/>
            </a:pPr>
            <a:r>
              <a:rPr lang="en-US" sz="2600" dirty="0">
                <a:solidFill>
                  <a:srgbClr val="1F2937"/>
                </a:solidFill>
                <a:latin typeface="Calibri" pitchFamily="34" charset="0"/>
                <a:ea typeface="Calibri" pitchFamily="34" charset="-122"/>
                <a:cs typeface="Calibri" pitchFamily="34" charset="-120"/>
              </a:rPr>
              <a:t> reuse earlier attention keys/values.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PagedAttention:</a:t>
            </a:r>
            <a:pPr indent="0" marL="0">
              <a:buNone/>
            </a:pPr>
            <a:r>
              <a:rPr lang="en-US" sz="2600" dirty="0">
                <a:solidFill>
                  <a:srgbClr val="1F2937"/>
                </a:solidFill>
                <a:latin typeface="Calibri" pitchFamily="34" charset="0"/>
                <a:ea typeface="Calibri" pitchFamily="34" charset="-122"/>
                <a:cs typeface="Calibri" pitchFamily="34" charset="-120"/>
              </a:rPr>
              <a:t> organise cache pages; batch requests.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Prefix / response cache:</a:t>
            </a:r>
            <a:pPr indent="0" marL="0">
              <a:buNone/>
            </a:pPr>
            <a:r>
              <a:rPr lang="en-US" sz="2600" dirty="0">
                <a:solidFill>
                  <a:srgbClr val="1F2937"/>
                </a:solidFill>
                <a:latin typeface="Calibri" pitchFamily="34" charset="0"/>
                <a:ea typeface="Calibri" pitchFamily="34" charset="-122"/>
                <a:cs typeface="Calibri" pitchFamily="34" charset="-120"/>
              </a:rPr>
              <a:t> reuse input computation / answers.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Speculation:</a:t>
            </a:r>
            <a:pPr indent="0" marL="0">
              <a:buNone/>
            </a:pPr>
            <a:r>
              <a:rPr lang="en-US" sz="2600" dirty="0">
                <a:solidFill>
                  <a:srgbClr val="1F2937"/>
                </a:solidFill>
                <a:latin typeface="Calibri" pitchFamily="34" charset="0"/>
                <a:ea typeface="Calibri" pitchFamily="34" charset="-122"/>
                <a:cs typeface="Calibri" pitchFamily="34" charset="-120"/>
              </a:rPr>
              <a:t> propose then verify tokens.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smaller adapted models.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fits where? (weights only)</a:t>
            </a:r>
            <a:endParaRPr lang="en-US" sz="3200" dirty="0"/>
          </a:p>
        </p:txBody>
      </p:sp>
      <p:sp>
        <p:nvSpPr>
          <p:cNvPr id="6" name="Shape 4"/>
          <p:cNvSpPr/>
          <p:nvPr/>
        </p:nvSpPr>
        <p:spPr>
          <a:xfrm>
            <a:off x="548640" y="1664208"/>
            <a:ext cx="2567864" cy="3822192"/>
          </a:xfrm>
          <a:prstGeom prst="roundRect">
            <a:avLst>
              <a:gd name="adj" fmla="val 4273"/>
            </a:avLst>
          </a:prstGeom>
          <a:solidFill>
            <a:srgbClr val="EEF0FF"/>
          </a:solidFill>
          <a:ln w="12700">
            <a:solidFill>
              <a:srgbClr val="EEF0FF"/>
            </a:solidFill>
            <a:prstDash val="solid"/>
          </a:ln>
        </p:spPr>
      </p:sp>
      <p:sp>
        <p:nvSpPr>
          <p:cNvPr id="7" name="Text 5"/>
          <p:cNvSpPr txBox="1"/>
          <p:nvPr/>
        </p:nvSpPr>
        <p:spPr>
          <a:xfrm>
            <a:off x="685800" y="1892808"/>
            <a:ext cx="2293544" cy="1371600"/>
          </a:xfrm>
          <a:prstGeom prst="rect">
            <a:avLst/>
          </a:prstGeom>
          <a:noFill/>
          <a:ln/>
        </p:spPr>
        <p:txBody>
          <a:bodyPr wrap="square" lIns="50800" tIns="50800" rIns="50800" bIns="50800" rtlCol="0" anchor="ctr"/>
          <a:lstStyle/>
          <a:p>
            <a:pPr algn="ctr" indent="0" marL="0">
              <a:buNone/>
            </a:pPr>
            <a:r>
              <a:rPr lang="en-US" sz="3900" b="1" dirty="0">
                <a:solidFill>
                  <a:srgbClr val="4F46E5"/>
                </a:solidFill>
                <a:latin typeface="Calibri" pitchFamily="34" charset="0"/>
                <a:ea typeface="Calibri" pitchFamily="34" charset="-122"/>
                <a:cs typeface="Calibri" pitchFamily="34" charset="-120"/>
              </a:rPr>
              <a:t>≈ 1 GB</a:t>
            </a:r>
            <a:endParaRPr lang="en-US" sz="3900" dirty="0"/>
          </a:p>
        </p:txBody>
      </p:sp>
      <p:sp>
        <p:nvSpPr>
          <p:cNvPr id="8" name="Text 6"/>
          <p:cNvSpPr txBox="1"/>
          <p:nvPr/>
        </p:nvSpPr>
        <p:spPr>
          <a:xfrm>
            <a:off x="731520"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0.5 B weights, 16-bit</a:t>
            </a:r>
            <a:endParaRPr lang="en-US" sz="1900" dirty="0"/>
          </a:p>
        </p:txBody>
      </p:sp>
      <p:sp>
        <p:nvSpPr>
          <p:cNvPr id="9" name="Shape 7"/>
          <p:cNvSpPr/>
          <p:nvPr/>
        </p:nvSpPr>
        <p:spPr>
          <a:xfrm>
            <a:off x="3390824" y="1664208"/>
            <a:ext cx="2567864" cy="3822192"/>
          </a:xfrm>
          <a:prstGeom prst="roundRect">
            <a:avLst>
              <a:gd name="adj" fmla="val 4273"/>
            </a:avLst>
          </a:prstGeom>
          <a:solidFill>
            <a:srgbClr val="EEF0FF"/>
          </a:solidFill>
          <a:ln w="12700">
            <a:solidFill>
              <a:srgbClr val="EEF0FF"/>
            </a:solidFill>
            <a:prstDash val="solid"/>
          </a:ln>
        </p:spPr>
      </p:sp>
      <p:sp>
        <p:nvSpPr>
          <p:cNvPr id="10" name="Text 8"/>
          <p:cNvSpPr txBox="1"/>
          <p:nvPr/>
        </p:nvSpPr>
        <p:spPr>
          <a:xfrm>
            <a:off x="3527984" y="1892808"/>
            <a:ext cx="2293544" cy="1371600"/>
          </a:xfrm>
          <a:prstGeom prst="rect">
            <a:avLst/>
          </a:prstGeom>
          <a:noFill/>
          <a:ln/>
        </p:spPr>
        <p:txBody>
          <a:bodyPr wrap="square" lIns="50800" tIns="50800" rIns="50800" bIns="50800" rtlCol="0" anchor="ctr"/>
          <a:lstStyle/>
          <a:p>
            <a:pPr algn="ctr" indent="0" marL="0">
              <a:buNone/>
            </a:pPr>
            <a:r>
              <a:rPr lang="en-US" sz="3900" b="1" dirty="0">
                <a:solidFill>
                  <a:srgbClr val="4F46E5"/>
                </a:solidFill>
                <a:latin typeface="Calibri" pitchFamily="34" charset="0"/>
                <a:ea typeface="Calibri" pitchFamily="34" charset="-122"/>
                <a:cs typeface="Calibri" pitchFamily="34" charset="-120"/>
              </a:rPr>
              <a:t>≈ 4 GB</a:t>
            </a:r>
            <a:endParaRPr lang="en-US" sz="3900" dirty="0"/>
          </a:p>
        </p:txBody>
      </p:sp>
      <p:sp>
        <p:nvSpPr>
          <p:cNvPr id="11" name="Text 9"/>
          <p:cNvSpPr txBox="1"/>
          <p:nvPr/>
        </p:nvSpPr>
        <p:spPr>
          <a:xfrm>
            <a:off x="3573704"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7–8 B weights, 4-bit</a:t>
            </a:r>
            <a:endParaRPr lang="en-US" sz="1900" dirty="0"/>
          </a:p>
        </p:txBody>
      </p:sp>
      <p:sp>
        <p:nvSpPr>
          <p:cNvPr id="12" name="Shape 10"/>
          <p:cNvSpPr/>
          <p:nvPr/>
        </p:nvSpPr>
        <p:spPr>
          <a:xfrm>
            <a:off x="6233008" y="1664208"/>
            <a:ext cx="2567864" cy="3822192"/>
          </a:xfrm>
          <a:prstGeom prst="roundRect">
            <a:avLst>
              <a:gd name="adj" fmla="val 4273"/>
            </a:avLst>
          </a:prstGeom>
          <a:solidFill>
            <a:srgbClr val="EEF0FF"/>
          </a:solidFill>
          <a:ln w="12700">
            <a:solidFill>
              <a:srgbClr val="EEF0FF"/>
            </a:solidFill>
            <a:prstDash val="solid"/>
          </a:ln>
        </p:spPr>
      </p:sp>
      <p:sp>
        <p:nvSpPr>
          <p:cNvPr id="13" name="Text 11"/>
          <p:cNvSpPr txBox="1"/>
          <p:nvPr/>
        </p:nvSpPr>
        <p:spPr>
          <a:xfrm>
            <a:off x="6370168" y="1892808"/>
            <a:ext cx="2293544" cy="1371600"/>
          </a:xfrm>
          <a:prstGeom prst="rect">
            <a:avLst/>
          </a:prstGeom>
          <a:noFill/>
          <a:ln/>
        </p:spPr>
        <p:txBody>
          <a:bodyPr wrap="square" lIns="50800" tIns="50800" rIns="50800" bIns="50800" rtlCol="0" anchor="ctr"/>
          <a:lstStyle/>
          <a:p>
            <a:pPr algn="ctr" indent="0" marL="0">
              <a:buNone/>
            </a:pPr>
            <a:r>
              <a:rPr lang="en-US" sz="3900" b="1" dirty="0">
                <a:solidFill>
                  <a:srgbClr val="4F46E5"/>
                </a:solidFill>
                <a:latin typeface="Calibri" pitchFamily="34" charset="0"/>
                <a:ea typeface="Calibri" pitchFamily="34" charset="-122"/>
                <a:cs typeface="Calibri" pitchFamily="34" charset="-120"/>
              </a:rPr>
              <a:t>16 GB</a:t>
            </a:r>
            <a:endParaRPr lang="en-US" sz="3900" dirty="0"/>
          </a:p>
        </p:txBody>
      </p:sp>
      <p:sp>
        <p:nvSpPr>
          <p:cNvPr id="14" name="Text 12"/>
          <p:cNvSpPr txBox="1"/>
          <p:nvPr/>
        </p:nvSpPr>
        <p:spPr>
          <a:xfrm>
            <a:off x="6415888"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T4 GPU capacity</a:t>
            </a:r>
            <a:endParaRPr lang="en-US" sz="1900" dirty="0"/>
          </a:p>
        </p:txBody>
      </p:sp>
      <p:sp>
        <p:nvSpPr>
          <p:cNvPr id="15" name="Shape 13"/>
          <p:cNvSpPr/>
          <p:nvPr/>
        </p:nvSpPr>
        <p:spPr>
          <a:xfrm>
            <a:off x="9075191" y="1664208"/>
            <a:ext cx="2567864" cy="3822192"/>
          </a:xfrm>
          <a:prstGeom prst="roundRect">
            <a:avLst>
              <a:gd name="adj" fmla="val 4273"/>
            </a:avLst>
          </a:prstGeom>
          <a:solidFill>
            <a:srgbClr val="EEF0FF"/>
          </a:solidFill>
          <a:ln w="12700">
            <a:solidFill>
              <a:srgbClr val="EEF0FF"/>
            </a:solidFill>
            <a:prstDash val="solid"/>
          </a:ln>
        </p:spPr>
      </p:sp>
      <p:sp>
        <p:nvSpPr>
          <p:cNvPr id="16" name="Text 14"/>
          <p:cNvSpPr txBox="1"/>
          <p:nvPr/>
        </p:nvSpPr>
        <p:spPr>
          <a:xfrm>
            <a:off x="9212351" y="1892808"/>
            <a:ext cx="2293544" cy="1371600"/>
          </a:xfrm>
          <a:prstGeom prst="rect">
            <a:avLst/>
          </a:prstGeom>
          <a:noFill/>
          <a:ln/>
        </p:spPr>
        <p:txBody>
          <a:bodyPr wrap="square" lIns="50800" tIns="50800" rIns="50800" bIns="50800" rtlCol="0" anchor="ctr"/>
          <a:lstStyle/>
          <a:p>
            <a:pPr algn="ctr" indent="0" marL="0">
              <a:buNone/>
            </a:pPr>
            <a:r>
              <a:rPr lang="en-US" sz="3900" b="1" dirty="0">
                <a:solidFill>
                  <a:srgbClr val="4F46E5"/>
                </a:solidFill>
                <a:latin typeface="Calibri" pitchFamily="34" charset="0"/>
                <a:ea typeface="Calibri" pitchFamily="34" charset="-122"/>
                <a:cs typeface="Calibri" pitchFamily="34" charset="-120"/>
              </a:rPr>
              <a:t>≈ 140 GB</a:t>
            </a:r>
            <a:endParaRPr lang="en-US" sz="3900" dirty="0"/>
          </a:p>
        </p:txBody>
      </p:sp>
      <p:sp>
        <p:nvSpPr>
          <p:cNvPr id="17" name="Text 15"/>
          <p:cNvSpPr txBox="1"/>
          <p:nvPr/>
        </p:nvSpPr>
        <p:spPr>
          <a:xfrm>
            <a:off x="9258071"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70 B weights, 16-bit</a:t>
            </a:r>
            <a:endParaRPr lang="en-US" sz="1900" dirty="0"/>
          </a:p>
        </p:txBody>
      </p:sp>
      <p:sp>
        <p:nvSpPr>
          <p:cNvPr id="18" name="Text 16"/>
          <p:cNvSpPr txBox="1"/>
          <p:nvPr/>
        </p:nvSpPr>
        <p:spPr>
          <a:xfrm>
            <a:off x="548640" y="5623560"/>
            <a:ext cx="11094415" cy="64008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Weights only. Add scales, KV caches, activations and runtime memory.</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An accurate self-hosted model struggles with 50 concurrent users. What should you test?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 higher temperature so replies finish sooner</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Continuous batching and quantisation; re-check quality</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 longer prompt with more detailed instructions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Disable streaming so each reply is sent whole</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Building applications and interfaces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Gradio, FastAPI and Docker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Proposed integrated application architecture</a:t>
            </a:r>
            <a:endParaRPr lang="en-US" sz="3200" dirty="0"/>
          </a:p>
        </p:txBody>
      </p:sp>
      <p:sp>
        <p:nvSpPr>
          <p:cNvPr id="6" name="Shape 4"/>
          <p:cNvSpPr/>
          <p:nvPr/>
        </p:nvSpPr>
        <p:spPr>
          <a:xfrm>
            <a:off x="2234266" y="3282591"/>
            <a:ext cx="230593" cy="0"/>
          </a:xfrm>
          <a:prstGeom prst="line">
            <a:avLst/>
          </a:prstGeom>
          <a:noFill/>
          <a:ln w="22860">
            <a:solidFill>
              <a:srgbClr val="6B7280"/>
            </a:solidFill>
            <a:prstDash val="solid"/>
            <a:tailEnd type="triangle"/>
          </a:ln>
        </p:spPr>
      </p:sp>
      <p:sp>
        <p:nvSpPr>
          <p:cNvPr id="7" name="Shape 5"/>
          <p:cNvSpPr/>
          <p:nvPr/>
        </p:nvSpPr>
        <p:spPr>
          <a:xfrm>
            <a:off x="3749592" y="3282591"/>
            <a:ext cx="230593" cy="0"/>
          </a:xfrm>
          <a:prstGeom prst="line">
            <a:avLst/>
          </a:prstGeom>
          <a:noFill/>
          <a:ln w="22860">
            <a:solidFill>
              <a:srgbClr val="6B7280"/>
            </a:solidFill>
            <a:prstDash val="solid"/>
            <a:tailEnd type="triangle"/>
          </a:ln>
        </p:spPr>
      </p:sp>
      <p:sp>
        <p:nvSpPr>
          <p:cNvPr id="8" name="Shape 6"/>
          <p:cNvSpPr/>
          <p:nvPr/>
        </p:nvSpPr>
        <p:spPr>
          <a:xfrm>
            <a:off x="5264919" y="3282591"/>
            <a:ext cx="230593" cy="0"/>
          </a:xfrm>
          <a:prstGeom prst="line">
            <a:avLst/>
          </a:prstGeom>
          <a:noFill/>
          <a:ln w="22860">
            <a:solidFill>
              <a:srgbClr val="6B7280"/>
            </a:solidFill>
            <a:prstDash val="solid"/>
            <a:tailEnd type="triangle"/>
          </a:ln>
        </p:spPr>
      </p:sp>
      <p:sp>
        <p:nvSpPr>
          <p:cNvPr id="9" name="Shape 7"/>
          <p:cNvSpPr/>
          <p:nvPr/>
        </p:nvSpPr>
        <p:spPr>
          <a:xfrm>
            <a:off x="6780245" y="3282591"/>
            <a:ext cx="230593" cy="0"/>
          </a:xfrm>
          <a:prstGeom prst="line">
            <a:avLst/>
          </a:prstGeom>
          <a:noFill/>
          <a:ln w="22860">
            <a:solidFill>
              <a:srgbClr val="6B7280"/>
            </a:solidFill>
            <a:prstDash val="solid"/>
            <a:tailEnd type="triangle"/>
          </a:ln>
        </p:spPr>
      </p:sp>
      <p:sp>
        <p:nvSpPr>
          <p:cNvPr id="10" name="Shape 8"/>
          <p:cNvSpPr/>
          <p:nvPr/>
        </p:nvSpPr>
        <p:spPr>
          <a:xfrm>
            <a:off x="8295571" y="3282591"/>
            <a:ext cx="230593" cy="0"/>
          </a:xfrm>
          <a:prstGeom prst="line">
            <a:avLst/>
          </a:prstGeom>
          <a:noFill/>
          <a:ln w="22860">
            <a:solidFill>
              <a:srgbClr val="6B7280"/>
            </a:solidFill>
            <a:prstDash val="solid"/>
            <a:tailEnd type="triangle"/>
          </a:ln>
        </p:spPr>
      </p:sp>
      <p:sp>
        <p:nvSpPr>
          <p:cNvPr id="11" name="Shape 9"/>
          <p:cNvSpPr/>
          <p:nvPr/>
        </p:nvSpPr>
        <p:spPr>
          <a:xfrm>
            <a:off x="9810898" y="3282591"/>
            <a:ext cx="230593" cy="0"/>
          </a:xfrm>
          <a:prstGeom prst="line">
            <a:avLst/>
          </a:prstGeom>
          <a:noFill/>
          <a:ln w="22860">
            <a:solidFill>
              <a:srgbClr val="6B7280"/>
            </a:solidFill>
            <a:prstDash val="solid"/>
            <a:tailEnd type="triangle"/>
          </a:ln>
        </p:spPr>
      </p:sp>
      <p:sp>
        <p:nvSpPr>
          <p:cNvPr id="12" name="Shape 10"/>
          <p:cNvSpPr/>
          <p:nvPr/>
        </p:nvSpPr>
        <p:spPr>
          <a:xfrm>
            <a:off x="8196746" y="4413581"/>
            <a:ext cx="411773" cy="0"/>
          </a:xfrm>
          <a:prstGeom prst="line">
            <a:avLst/>
          </a:prstGeom>
          <a:noFill/>
          <a:ln w="22860">
            <a:solidFill>
              <a:srgbClr val="6B7280"/>
            </a:solidFill>
            <a:prstDash val="solid"/>
            <a:tailEnd type="triangle"/>
          </a:ln>
        </p:spPr>
      </p:sp>
      <p:sp>
        <p:nvSpPr>
          <p:cNvPr id="13" name="Shape 11"/>
          <p:cNvSpPr/>
          <p:nvPr/>
        </p:nvSpPr>
        <p:spPr>
          <a:xfrm>
            <a:off x="4746084" y="3639746"/>
            <a:ext cx="0" cy="396839"/>
          </a:xfrm>
          <a:prstGeom prst="line">
            <a:avLst/>
          </a:prstGeom>
          <a:noFill/>
          <a:ln w="22860">
            <a:solidFill>
              <a:srgbClr val="6B7280"/>
            </a:solidFill>
            <a:prstDash val="dash"/>
            <a:tailEnd type="triangle"/>
          </a:ln>
        </p:spPr>
      </p:sp>
      <p:sp>
        <p:nvSpPr>
          <p:cNvPr id="14" name="Shape 12"/>
          <p:cNvSpPr/>
          <p:nvPr/>
        </p:nvSpPr>
        <p:spPr>
          <a:xfrm>
            <a:off x="6269646" y="3639746"/>
            <a:ext cx="0" cy="396839"/>
          </a:xfrm>
          <a:prstGeom prst="line">
            <a:avLst/>
          </a:prstGeom>
          <a:noFill/>
          <a:ln w="22860">
            <a:solidFill>
              <a:srgbClr val="6B7280"/>
            </a:solidFill>
            <a:prstDash val="dash"/>
            <a:tailEnd type="triangle"/>
          </a:ln>
        </p:spPr>
      </p:sp>
      <p:sp>
        <p:nvSpPr>
          <p:cNvPr id="15" name="Shape 13"/>
          <p:cNvSpPr/>
          <p:nvPr/>
        </p:nvSpPr>
        <p:spPr>
          <a:xfrm>
            <a:off x="7784972" y="3639746"/>
            <a:ext cx="0" cy="396839"/>
          </a:xfrm>
          <a:prstGeom prst="line">
            <a:avLst/>
          </a:prstGeom>
          <a:noFill/>
          <a:ln w="22860">
            <a:solidFill>
              <a:srgbClr val="6B7280"/>
            </a:solidFill>
            <a:prstDash val="dash"/>
            <a:tailEnd type="triangle"/>
          </a:ln>
        </p:spPr>
      </p:sp>
      <p:sp>
        <p:nvSpPr>
          <p:cNvPr id="16" name="Shape 14"/>
          <p:cNvSpPr/>
          <p:nvPr/>
        </p:nvSpPr>
        <p:spPr>
          <a:xfrm>
            <a:off x="949532" y="2925436"/>
            <a:ext cx="1284733" cy="714310"/>
          </a:xfrm>
          <a:prstGeom prst="roundRect">
            <a:avLst>
              <a:gd name="adj" fmla="val 10241"/>
            </a:avLst>
          </a:prstGeom>
          <a:solidFill>
            <a:srgbClr val="E4F2FB"/>
          </a:solidFill>
          <a:ln w="15240">
            <a:solidFill>
              <a:srgbClr val="0072B2"/>
            </a:solidFill>
            <a:prstDash val="solid"/>
          </a:ln>
        </p:spPr>
      </p:sp>
      <p:sp>
        <p:nvSpPr>
          <p:cNvPr id="17" name="Shape 15"/>
          <p:cNvSpPr/>
          <p:nvPr/>
        </p:nvSpPr>
        <p:spPr>
          <a:xfrm>
            <a:off x="2464859" y="2925436"/>
            <a:ext cx="1284733" cy="714310"/>
          </a:xfrm>
          <a:prstGeom prst="rect">
            <a:avLst/>
          </a:prstGeom>
          <a:solidFill>
            <a:srgbClr val="F2F4F5"/>
          </a:solidFill>
          <a:ln w="15240">
            <a:solidFill>
              <a:srgbClr val="626B73"/>
            </a:solidFill>
            <a:prstDash val="solid"/>
          </a:ln>
        </p:spPr>
      </p:sp>
      <p:sp>
        <p:nvSpPr>
          <p:cNvPr id="18" name="Shape 16"/>
          <p:cNvSpPr/>
          <p:nvPr/>
        </p:nvSpPr>
        <p:spPr>
          <a:xfrm>
            <a:off x="3980185" y="2925436"/>
            <a:ext cx="1284733" cy="714310"/>
          </a:xfrm>
          <a:prstGeom prst="rect">
            <a:avLst/>
          </a:prstGeom>
          <a:solidFill>
            <a:srgbClr val="F2F4F5"/>
          </a:solidFill>
          <a:ln w="15240">
            <a:solidFill>
              <a:srgbClr val="626B73"/>
            </a:solidFill>
            <a:prstDash val="solid"/>
          </a:ln>
        </p:spPr>
      </p:sp>
      <p:sp>
        <p:nvSpPr>
          <p:cNvPr id="19" name="Shape 17"/>
          <p:cNvSpPr/>
          <p:nvPr/>
        </p:nvSpPr>
        <p:spPr>
          <a:xfrm>
            <a:off x="5495512" y="2925436"/>
            <a:ext cx="1284733" cy="714310"/>
          </a:xfrm>
          <a:prstGeom prst="rect">
            <a:avLst/>
          </a:prstGeom>
          <a:solidFill>
            <a:srgbClr val="F2F4F5"/>
          </a:solidFill>
          <a:ln w="15240">
            <a:solidFill>
              <a:srgbClr val="626B73"/>
            </a:solidFill>
            <a:prstDash val="solid"/>
          </a:ln>
        </p:spPr>
      </p:sp>
      <p:sp>
        <p:nvSpPr>
          <p:cNvPr id="20" name="Shape 18"/>
          <p:cNvSpPr/>
          <p:nvPr/>
        </p:nvSpPr>
        <p:spPr>
          <a:xfrm>
            <a:off x="7010838" y="2925436"/>
            <a:ext cx="1284733" cy="714310"/>
          </a:xfrm>
          <a:prstGeom prst="rect">
            <a:avLst/>
          </a:prstGeom>
          <a:solidFill>
            <a:srgbClr val="E5F7EF"/>
          </a:solidFill>
          <a:ln w="15240">
            <a:solidFill>
              <a:srgbClr val="009E73"/>
            </a:solidFill>
            <a:prstDash val="solid"/>
          </a:ln>
        </p:spPr>
      </p:sp>
      <p:sp>
        <p:nvSpPr>
          <p:cNvPr id="21" name="Shape 19"/>
          <p:cNvSpPr/>
          <p:nvPr/>
        </p:nvSpPr>
        <p:spPr>
          <a:xfrm>
            <a:off x="8526165" y="2925436"/>
            <a:ext cx="1284733" cy="714310"/>
          </a:xfrm>
          <a:prstGeom prst="rect">
            <a:avLst/>
          </a:prstGeom>
          <a:solidFill>
            <a:srgbClr val="F2F4F5"/>
          </a:solidFill>
          <a:ln w="15240">
            <a:solidFill>
              <a:srgbClr val="626B73"/>
            </a:solidFill>
            <a:prstDash val="solid"/>
          </a:ln>
        </p:spPr>
      </p:sp>
      <p:sp>
        <p:nvSpPr>
          <p:cNvPr id="22" name="Shape 20"/>
          <p:cNvSpPr/>
          <p:nvPr/>
        </p:nvSpPr>
        <p:spPr>
          <a:xfrm>
            <a:off x="10041491" y="2925436"/>
            <a:ext cx="1284733" cy="714310"/>
          </a:xfrm>
          <a:prstGeom prst="roundRect">
            <a:avLst>
              <a:gd name="adj" fmla="val 10241"/>
            </a:avLst>
          </a:prstGeom>
          <a:solidFill>
            <a:srgbClr val="F9EAF4"/>
          </a:solidFill>
          <a:ln w="15240">
            <a:solidFill>
              <a:srgbClr val="CC79A7"/>
            </a:solidFill>
            <a:prstDash val="solid"/>
          </a:ln>
        </p:spPr>
      </p:sp>
      <p:sp>
        <p:nvSpPr>
          <p:cNvPr id="23" name="Shape 21"/>
          <p:cNvSpPr/>
          <p:nvPr/>
        </p:nvSpPr>
        <p:spPr>
          <a:xfrm>
            <a:off x="3749592" y="4036584"/>
            <a:ext cx="4447154" cy="753994"/>
          </a:xfrm>
          <a:prstGeom prst="roundRect">
            <a:avLst>
              <a:gd name="adj" fmla="val 9702"/>
            </a:avLst>
          </a:prstGeom>
          <a:solidFill>
            <a:srgbClr val="F9EAF4"/>
          </a:solidFill>
          <a:ln w="15240">
            <a:solidFill>
              <a:srgbClr val="CC79A7"/>
            </a:solidFill>
            <a:prstDash val="solid"/>
          </a:ln>
        </p:spPr>
      </p:sp>
      <p:sp>
        <p:nvSpPr>
          <p:cNvPr id="24" name="Shape 22"/>
          <p:cNvSpPr/>
          <p:nvPr/>
        </p:nvSpPr>
        <p:spPr>
          <a:xfrm>
            <a:off x="8608519" y="4036584"/>
            <a:ext cx="2676528" cy="753994"/>
          </a:xfrm>
          <a:prstGeom prst="rect">
            <a:avLst/>
          </a:prstGeom>
          <a:solidFill>
            <a:srgbClr val="F2F4F5"/>
          </a:solidFill>
          <a:ln w="15240">
            <a:solidFill>
              <a:srgbClr val="626B73"/>
            </a:solidFill>
            <a:prstDash val="solid"/>
          </a:ln>
        </p:spPr>
      </p:sp>
      <p:sp>
        <p:nvSpPr>
          <p:cNvPr id="25" name="Shape 23"/>
          <p:cNvSpPr/>
          <p:nvPr/>
        </p:nvSpPr>
        <p:spPr>
          <a:xfrm>
            <a:off x="908355" y="5266784"/>
            <a:ext cx="181180" cy="174609"/>
          </a:xfrm>
          <a:prstGeom prst="roundRect">
            <a:avLst>
              <a:gd name="adj" fmla="val 41895"/>
            </a:avLst>
          </a:prstGeom>
          <a:solidFill>
            <a:srgbClr val="E4F2FB"/>
          </a:solidFill>
          <a:ln w="15240">
            <a:solidFill>
              <a:srgbClr val="0072B2"/>
            </a:solidFill>
            <a:prstDash val="solid"/>
          </a:ln>
        </p:spPr>
      </p:sp>
      <p:sp>
        <p:nvSpPr>
          <p:cNvPr id="26" name="Shape 24"/>
          <p:cNvSpPr/>
          <p:nvPr/>
        </p:nvSpPr>
        <p:spPr>
          <a:xfrm>
            <a:off x="3049577" y="5266784"/>
            <a:ext cx="181180" cy="174609"/>
          </a:xfrm>
          <a:prstGeom prst="rect">
            <a:avLst/>
          </a:prstGeom>
          <a:solidFill>
            <a:srgbClr val="E5F7EF"/>
          </a:solidFill>
          <a:ln w="15240">
            <a:solidFill>
              <a:srgbClr val="009E73"/>
            </a:solidFill>
            <a:prstDash val="solid"/>
          </a:ln>
        </p:spPr>
      </p:sp>
      <p:sp>
        <p:nvSpPr>
          <p:cNvPr id="27" name="Shape 25"/>
          <p:cNvSpPr/>
          <p:nvPr/>
        </p:nvSpPr>
        <p:spPr>
          <a:xfrm>
            <a:off x="5190799" y="5266784"/>
            <a:ext cx="181180" cy="174609"/>
          </a:xfrm>
          <a:prstGeom prst="roundRect">
            <a:avLst>
              <a:gd name="adj" fmla="val 41895"/>
            </a:avLst>
          </a:prstGeom>
          <a:solidFill>
            <a:srgbClr val="F9EAF4"/>
          </a:solidFill>
          <a:ln w="15240">
            <a:solidFill>
              <a:srgbClr val="CC79A7"/>
            </a:solidFill>
            <a:prstDash val="solid"/>
          </a:ln>
        </p:spPr>
      </p:sp>
      <p:sp>
        <p:nvSpPr>
          <p:cNvPr id="28" name="Shape 26"/>
          <p:cNvSpPr/>
          <p:nvPr/>
        </p:nvSpPr>
        <p:spPr>
          <a:xfrm>
            <a:off x="7332021" y="5266784"/>
            <a:ext cx="181180" cy="174609"/>
          </a:xfrm>
          <a:prstGeom prst="rect">
            <a:avLst/>
          </a:prstGeom>
          <a:solidFill>
            <a:srgbClr val="F2F4F5"/>
          </a:solidFill>
          <a:ln w="15240">
            <a:solidFill>
              <a:srgbClr val="626B73"/>
            </a:solidFill>
            <a:prstDash val="solid"/>
          </a:ln>
        </p:spPr>
      </p:sp>
      <p:sp>
        <p:nvSpPr>
          <p:cNvPr id="29" name="Text 27"/>
          <p:cNvSpPr txBox="1"/>
          <p:nvPr/>
        </p:nvSpPr>
        <p:spPr>
          <a:xfrm>
            <a:off x="949532" y="2332975"/>
            <a:ext cx="6581164" cy="274990"/>
          </a:xfrm>
          <a:prstGeom prst="rect">
            <a:avLst/>
          </a:prstGeom>
          <a:noFill/>
          <a:ln/>
        </p:spPr>
        <p:txBody>
          <a:bodyPr wrap="square" lIns="0" tIns="0" rIns="0" bIns="0" rtlCol="0" anchor="ctr"/>
          <a:lstStyle/>
          <a:p>
            <a:pPr algn="l" indent="0" marL="0">
              <a:lnSpc>
                <a:spcPct val="116000"/>
              </a:lnSpc>
              <a:buNone/>
            </a:pPr>
            <a:r>
              <a:rPr lang="en-US" sz="1867" dirty="0">
                <a:solidFill>
                  <a:srgbClr val="1E1B4B"/>
                </a:solidFill>
                <a:latin typeface="Arial" pitchFamily="34" charset="0"/>
                <a:ea typeface="Arial" pitchFamily="34" charset="-122"/>
                <a:cs typeface="Arial" pitchFamily="34" charset="-120"/>
              </a:rPr>
              <a:t>Proposed integrated design; the lab tests separate routes.</a:t>
            </a:r>
            <a:endParaRPr lang="en-US" sz="1867" dirty="0"/>
          </a:p>
        </p:txBody>
      </p:sp>
      <p:sp>
        <p:nvSpPr>
          <p:cNvPr id="30" name="Text 28"/>
          <p:cNvSpPr txBox="1"/>
          <p:nvPr/>
        </p:nvSpPr>
        <p:spPr>
          <a:xfrm>
            <a:off x="1296574" y="3158846"/>
            <a:ext cx="59065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User</a:t>
            </a:r>
            <a:endParaRPr lang="en-US" sz="1680" dirty="0"/>
          </a:p>
        </p:txBody>
      </p:sp>
      <p:sp>
        <p:nvSpPr>
          <p:cNvPr id="31" name="Text 29"/>
          <p:cNvSpPr txBox="1"/>
          <p:nvPr/>
        </p:nvSpPr>
        <p:spPr>
          <a:xfrm>
            <a:off x="2948810" y="3158846"/>
            <a:ext cx="31683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UI</a:t>
            </a:r>
            <a:endParaRPr lang="en-US" sz="1680" dirty="0"/>
          </a:p>
        </p:txBody>
      </p:sp>
      <p:sp>
        <p:nvSpPr>
          <p:cNvPr id="32" name="Text 30"/>
          <p:cNvSpPr txBox="1"/>
          <p:nvPr/>
        </p:nvSpPr>
        <p:spPr>
          <a:xfrm>
            <a:off x="4389057" y="3158846"/>
            <a:ext cx="46699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API</a:t>
            </a:r>
            <a:endParaRPr lang="en-US" sz="1680" dirty="0"/>
          </a:p>
        </p:txBody>
      </p:sp>
      <p:sp>
        <p:nvSpPr>
          <p:cNvPr id="33" name="Text 31"/>
          <p:cNvSpPr txBox="1"/>
          <p:nvPr/>
        </p:nvSpPr>
        <p:spPr>
          <a:xfrm>
            <a:off x="5714477" y="3035100"/>
            <a:ext cx="8468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Input</a:t>
            </a:r>
            <a:endParaRPr lang="en-US" sz="1680" dirty="0"/>
          </a:p>
        </p:txBody>
      </p:sp>
      <p:sp>
        <p:nvSpPr>
          <p:cNvPr id="34" name="Text 32"/>
          <p:cNvSpPr txBox="1"/>
          <p:nvPr/>
        </p:nvSpPr>
        <p:spPr>
          <a:xfrm>
            <a:off x="5714477" y="3282591"/>
            <a:ext cx="8468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checks</a:t>
            </a:r>
            <a:endParaRPr lang="en-US" sz="1680" dirty="0"/>
          </a:p>
        </p:txBody>
      </p:sp>
      <p:sp>
        <p:nvSpPr>
          <p:cNvPr id="35" name="Text 33"/>
          <p:cNvSpPr txBox="1"/>
          <p:nvPr/>
        </p:nvSpPr>
        <p:spPr>
          <a:xfrm>
            <a:off x="7287217" y="3158846"/>
            <a:ext cx="73197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Model</a:t>
            </a:r>
            <a:endParaRPr lang="en-US" sz="1680" dirty="0"/>
          </a:p>
        </p:txBody>
      </p:sp>
      <p:sp>
        <p:nvSpPr>
          <p:cNvPr id="36" name="Text 34"/>
          <p:cNvSpPr txBox="1"/>
          <p:nvPr/>
        </p:nvSpPr>
        <p:spPr>
          <a:xfrm>
            <a:off x="8745130" y="3035100"/>
            <a:ext cx="8468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Output</a:t>
            </a:r>
            <a:endParaRPr lang="en-US" sz="1680" dirty="0"/>
          </a:p>
        </p:txBody>
      </p:sp>
      <p:sp>
        <p:nvSpPr>
          <p:cNvPr id="37" name="Text 35"/>
          <p:cNvSpPr txBox="1"/>
          <p:nvPr/>
        </p:nvSpPr>
        <p:spPr>
          <a:xfrm>
            <a:off x="8745130" y="3282591"/>
            <a:ext cx="8468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checks</a:t>
            </a:r>
            <a:endParaRPr lang="en-US" sz="1680" dirty="0"/>
          </a:p>
        </p:txBody>
      </p:sp>
      <p:sp>
        <p:nvSpPr>
          <p:cNvPr id="38" name="Text 36"/>
          <p:cNvSpPr txBox="1"/>
          <p:nvPr/>
        </p:nvSpPr>
        <p:spPr>
          <a:xfrm>
            <a:off x="10238374" y="3158846"/>
            <a:ext cx="89096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Answer</a:t>
            </a:r>
            <a:endParaRPr lang="en-US" sz="1680" dirty="0"/>
          </a:p>
        </p:txBody>
      </p:sp>
      <p:sp>
        <p:nvSpPr>
          <p:cNvPr id="39" name="Text 37"/>
          <p:cNvSpPr txBox="1"/>
          <p:nvPr/>
        </p:nvSpPr>
        <p:spPr>
          <a:xfrm>
            <a:off x="4498657" y="4166090"/>
            <a:ext cx="294902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Logs, metrics and versions</a:t>
            </a:r>
            <a:endParaRPr lang="en-US" sz="1680" dirty="0"/>
          </a:p>
        </p:txBody>
      </p:sp>
      <p:sp>
        <p:nvSpPr>
          <p:cNvPr id="40" name="Text 38"/>
          <p:cNvSpPr txBox="1"/>
          <p:nvPr/>
        </p:nvSpPr>
        <p:spPr>
          <a:xfrm>
            <a:off x="4498657" y="4413581"/>
            <a:ext cx="294902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latency / tokens / blocks</a:t>
            </a:r>
            <a:endParaRPr lang="en-US" sz="1680" dirty="0"/>
          </a:p>
        </p:txBody>
      </p:sp>
      <p:sp>
        <p:nvSpPr>
          <p:cNvPr id="41" name="Text 39"/>
          <p:cNvSpPr txBox="1"/>
          <p:nvPr/>
        </p:nvSpPr>
        <p:spPr>
          <a:xfrm>
            <a:off x="9324642" y="4166090"/>
            <a:ext cx="124428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Dashboard</a:t>
            </a:r>
            <a:endParaRPr lang="en-US" sz="1680" dirty="0"/>
          </a:p>
        </p:txBody>
      </p:sp>
      <p:sp>
        <p:nvSpPr>
          <p:cNvPr id="42" name="Text 40"/>
          <p:cNvSpPr txBox="1"/>
          <p:nvPr/>
        </p:nvSpPr>
        <p:spPr>
          <a:xfrm>
            <a:off x="9324642" y="4413581"/>
            <a:ext cx="124428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and alerts</a:t>
            </a:r>
            <a:endParaRPr lang="en-US" sz="1680" dirty="0"/>
          </a:p>
        </p:txBody>
      </p:sp>
      <p:sp>
        <p:nvSpPr>
          <p:cNvPr id="43" name="Text 41"/>
          <p:cNvSpPr txBox="1"/>
          <p:nvPr/>
        </p:nvSpPr>
        <p:spPr>
          <a:xfrm>
            <a:off x="1188361" y="5244093"/>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44" name="Text 42"/>
          <p:cNvSpPr txBox="1"/>
          <p:nvPr/>
        </p:nvSpPr>
        <p:spPr>
          <a:xfrm>
            <a:off x="3329583" y="5244093"/>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45" name="Text 43"/>
          <p:cNvSpPr txBox="1"/>
          <p:nvPr/>
        </p:nvSpPr>
        <p:spPr>
          <a:xfrm>
            <a:off x="5470805" y="5244093"/>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
        <p:nvSpPr>
          <p:cNvPr id="46" name="Text 44"/>
          <p:cNvSpPr txBox="1"/>
          <p:nvPr/>
        </p:nvSpPr>
        <p:spPr>
          <a:xfrm>
            <a:off x="7612027" y="5244093"/>
            <a:ext cx="1171784"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Human / tool</a:t>
            </a:r>
            <a:endParaRPr lang="en-US" sz="1493"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API request to generated answer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The endpoint translates structured messages into tokens and back</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HTTP JSON</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parsed messages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token IDs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 new token</a:t>
            </a:r>
            <a:endParaRPr lang="en-US" sz="1441" dirty="0"/>
          </a:p>
        </p:txBody>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 counts</a:t>
            </a:r>
            <a:endParaRPr lang="en-US" sz="1441" dirty="0"/>
          </a:p>
        </p:txBody>
      </p:sp>
      <p:sp>
        <p:nvSpPr>
          <p:cNvPr id="18" name="Shape 16"/>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19" name="Text 17"/>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Client request</a:t>
            </a:r>
            <a:endParaRPr lang="en-US" sz="1561" dirty="0"/>
          </a:p>
        </p:txBody>
      </p:sp>
      <p:sp>
        <p:nvSpPr>
          <p:cNvPr id="20" name="Text 18"/>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Messages and</a:t>
            </a:r>
            <a:endParaRPr lang="en-US" sz="1441" dirty="0"/>
          </a:p>
        </p:txBody>
      </p:sp>
      <p:sp>
        <p:nvSpPr>
          <p:cNvPr id="21" name="Text 19"/>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output cap</a:t>
            </a:r>
            <a:endParaRPr lang="en-US" sz="1441" dirty="0"/>
          </a:p>
        </p:txBody>
      </p:sp>
      <p:sp>
        <p:nvSpPr>
          <p:cNvPr id="22" name="Text 20"/>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client</a:t>
            </a:r>
            <a:endParaRPr lang="en-US" sz="1441" dirty="0"/>
          </a:p>
        </p:txBody>
      </p:sp>
      <p:sp>
        <p:nvSpPr>
          <p:cNvPr id="23" name="Shape 21"/>
          <p:cNvSpPr/>
          <p:nvPr/>
        </p:nvSpPr>
        <p:spPr>
          <a:xfrm>
            <a:off x="2598170" y="2939089"/>
            <a:ext cx="1565821" cy="1799677"/>
          </a:xfrm>
          <a:prstGeom prst="rect">
            <a:avLst/>
          </a:prstGeom>
          <a:solidFill>
            <a:srgbClr val="F2F4F5"/>
          </a:solidFill>
          <a:ln w="15240">
            <a:solidFill>
              <a:srgbClr val="626B73"/>
            </a:solidFill>
            <a:prstDash val="solid"/>
          </a:ln>
        </p:spPr>
      </p:sp>
      <p:sp>
        <p:nvSpPr>
          <p:cNvPr id="24" name="Text 22"/>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 body</a:t>
            </a:r>
            <a:endParaRPr lang="en-US" sz="1561" dirty="0"/>
          </a:p>
        </p:txBody>
      </p:sp>
      <p:sp>
        <p:nvSpPr>
          <p:cNvPr id="25" name="Text 23"/>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declared</a:t>
            </a:r>
            <a:endParaRPr lang="en-US" sz="1441" dirty="0"/>
          </a:p>
        </p:txBody>
      </p:sp>
      <p:sp>
        <p:nvSpPr>
          <p:cNvPr id="26" name="Text 24"/>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JSON fields</a:t>
            </a:r>
            <a:endParaRPr lang="en-US" sz="1441" dirty="0"/>
          </a:p>
        </p:txBody>
      </p:sp>
      <p:sp>
        <p:nvSpPr>
          <p:cNvPr id="27" name="Text 25"/>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ChatRequest</a:t>
            </a:r>
            <a:endParaRPr lang="en-US" sz="1441" dirty="0"/>
          </a:p>
        </p:txBody>
      </p:sp>
      <p:sp>
        <p:nvSpPr>
          <p:cNvPr id="28" name="Shape 26"/>
          <p:cNvSpPr/>
          <p:nvPr/>
        </p:nvSpPr>
        <p:spPr>
          <a:xfrm>
            <a:off x="4408015" y="2939089"/>
            <a:ext cx="1565821" cy="1799677"/>
          </a:xfrm>
          <a:prstGeom prst="roundRect">
            <a:avLst>
              <a:gd name="adj" fmla="val 4672"/>
            </a:avLst>
          </a:prstGeom>
          <a:solidFill>
            <a:srgbClr val="E4F2FB"/>
          </a:solidFill>
          <a:ln w="15240">
            <a:solidFill>
              <a:srgbClr val="0072B2"/>
            </a:solidFill>
            <a:prstDash val="solid"/>
          </a:ln>
        </p:spPr>
      </p:sp>
      <p:sp>
        <p:nvSpPr>
          <p:cNvPr id="29" name="Text 27"/>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a:t>
            </a:r>
            <a:endParaRPr lang="en-US" sz="1561" dirty="0"/>
          </a:p>
        </p:txBody>
      </p:sp>
      <p:sp>
        <p:nvSpPr>
          <p:cNvPr id="30" name="Text 28"/>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tokens</a:t>
            </a:r>
            <a:endParaRPr lang="en-US" sz="1561" dirty="0"/>
          </a:p>
        </p:txBody>
      </p:sp>
      <p:sp>
        <p:nvSpPr>
          <p:cNvPr id="31" name="Text 29"/>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Apply expected</a:t>
            </a:r>
            <a:endParaRPr lang="en-US" sz="1441" dirty="0"/>
          </a:p>
        </p:txBody>
      </p:sp>
      <p:sp>
        <p:nvSpPr>
          <p:cNvPr id="32" name="Text 30"/>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chat format</a:t>
            </a:r>
            <a:endParaRPr lang="en-US" sz="1441" dirty="0"/>
          </a:p>
        </p:txBody>
      </p:sp>
      <p:sp>
        <p:nvSpPr>
          <p:cNvPr id="33" name="Text 31"/>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inputs</a:t>
            </a:r>
            <a:endParaRPr lang="en-US" sz="1441" dirty="0"/>
          </a:p>
        </p:txBody>
      </p:sp>
      <p:sp>
        <p:nvSpPr>
          <p:cNvPr id="34" name="Shape 32"/>
          <p:cNvSpPr/>
          <p:nvPr/>
        </p:nvSpPr>
        <p:spPr>
          <a:xfrm>
            <a:off x="6217860" y="2939089"/>
            <a:ext cx="1565821" cy="1799677"/>
          </a:xfrm>
          <a:prstGeom prst="rect">
            <a:avLst/>
          </a:prstGeom>
          <a:solidFill>
            <a:srgbClr val="E5F7EF"/>
          </a:solidFill>
          <a:ln w="15240">
            <a:solidFill>
              <a:srgbClr val="009E73"/>
            </a:solidFill>
            <a:prstDash val="solid"/>
          </a:ln>
        </p:spPr>
      </p:sp>
      <p:sp>
        <p:nvSpPr>
          <p:cNvPr id="35" name="Text 33"/>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a:t>
            </a:r>
            <a:endParaRPr lang="en-US" sz="1561" dirty="0"/>
          </a:p>
        </p:txBody>
      </p:sp>
      <p:sp>
        <p:nvSpPr>
          <p:cNvPr id="36" name="Text 34"/>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tokens</a:t>
            </a:r>
            <a:endParaRPr lang="en-US" sz="1561" dirty="0"/>
          </a:p>
        </p:txBody>
      </p:sp>
      <p:sp>
        <p:nvSpPr>
          <p:cNvPr id="37" name="Text 35"/>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Shared model</a:t>
            </a:r>
            <a:endParaRPr lang="en-US" sz="1441" dirty="0"/>
          </a:p>
        </p:txBody>
      </p:sp>
      <p:sp>
        <p:nvSpPr>
          <p:cNvPr id="38" name="Text 36"/>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under lock</a:t>
            </a:r>
            <a:endParaRPr lang="en-US" sz="1441" dirty="0"/>
          </a:p>
        </p:txBody>
      </p:sp>
      <p:sp>
        <p:nvSpPr>
          <p:cNvPr id="39" name="Text 37"/>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40" name="Shape 38"/>
          <p:cNvSpPr/>
          <p:nvPr/>
        </p:nvSpPr>
        <p:spPr>
          <a:xfrm>
            <a:off x="8027705" y="2939089"/>
            <a:ext cx="1565821" cy="1799677"/>
          </a:xfrm>
          <a:prstGeom prst="rect">
            <a:avLst/>
          </a:prstGeom>
          <a:solidFill>
            <a:srgbClr val="E5F7EF"/>
          </a:solidFill>
          <a:ln w="15240">
            <a:solidFill>
              <a:srgbClr val="009E73"/>
            </a:solidFill>
            <a:prstDash val="solid"/>
          </a:ln>
        </p:spPr>
      </p:sp>
      <p:sp>
        <p:nvSpPr>
          <p:cNvPr id="41" name="Text 39"/>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Decode new</a:t>
            </a:r>
            <a:endParaRPr lang="en-US" sz="1561" dirty="0"/>
          </a:p>
        </p:txBody>
      </p:sp>
      <p:sp>
        <p:nvSpPr>
          <p:cNvPr id="42" name="Text 40"/>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tokens</a:t>
            </a:r>
            <a:endParaRPr lang="en-US" sz="1561" dirty="0"/>
          </a:p>
        </p:txBody>
      </p:sp>
      <p:sp>
        <p:nvSpPr>
          <p:cNvPr id="43" name="Text 41"/>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Remove the</a:t>
            </a:r>
            <a:endParaRPr lang="en-US" sz="1441" dirty="0"/>
          </a:p>
        </p:txBody>
      </p:sp>
      <p:sp>
        <p:nvSpPr>
          <p:cNvPr id="44" name="Text 42"/>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input prefix</a:t>
            </a:r>
            <a:endParaRPr lang="en-US" sz="1441" dirty="0"/>
          </a:p>
        </p:txBody>
      </p:sp>
      <p:sp>
        <p:nvSpPr>
          <p:cNvPr id="45" name="Text 43"/>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46" name="Shape 44"/>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7" name="Text 45"/>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Return JSON</a:t>
            </a:r>
            <a:endParaRPr lang="en-US" sz="1561" dirty="0"/>
          </a:p>
        </p:txBody>
      </p:sp>
      <p:sp>
        <p:nvSpPr>
          <p:cNvPr id="48" name="Text 46"/>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Choices and</a:t>
            </a:r>
            <a:endParaRPr lang="en-US" sz="1441" dirty="0"/>
          </a:p>
        </p:txBody>
      </p:sp>
      <p:sp>
        <p:nvSpPr>
          <p:cNvPr id="49" name="Text 47"/>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 usage</a:t>
            </a:r>
            <a:endParaRPr lang="en-US" sz="1441" dirty="0"/>
          </a:p>
        </p:txBody>
      </p:sp>
      <p:sp>
        <p:nvSpPr>
          <p:cNvPr id="50" name="Text 48"/>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chat_completions</a:t>
            </a:r>
            <a:endParaRPr lang="en-US" sz="1441" dirty="0"/>
          </a:p>
        </p:txBody>
      </p:sp>
      <p:sp>
        <p:nvSpPr>
          <p:cNvPr id="51" name="Shape 4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2" name="Text 5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3" name="Shape 51"/>
          <p:cNvSpPr/>
          <p:nvPr/>
        </p:nvSpPr>
        <p:spPr>
          <a:xfrm>
            <a:off x="2118929" y="5630979"/>
            <a:ext cx="198270" cy="198270"/>
          </a:xfrm>
          <a:prstGeom prst="rect">
            <a:avLst/>
          </a:prstGeom>
          <a:solidFill>
            <a:srgbClr val="E5F7EF"/>
          </a:solidFill>
          <a:ln w="15240">
            <a:solidFill>
              <a:srgbClr val="009E73"/>
            </a:solidFill>
            <a:prstDash val="solid"/>
          </a:ln>
        </p:spPr>
      </p:sp>
      <p:sp>
        <p:nvSpPr>
          <p:cNvPr id="54" name="Text 5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5" name="Shape 53"/>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6" name="Text 54"/>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7" name="Shape 55"/>
          <p:cNvSpPr/>
          <p:nvPr/>
        </p:nvSpPr>
        <p:spPr>
          <a:xfrm>
            <a:off x="4179476" y="5630979"/>
            <a:ext cx="198270" cy="198270"/>
          </a:xfrm>
          <a:prstGeom prst="rect">
            <a:avLst/>
          </a:prstGeom>
          <a:solidFill>
            <a:srgbClr val="F2F4F5"/>
          </a:solidFill>
          <a:ln w="15240">
            <a:solidFill>
              <a:srgbClr val="626B73"/>
            </a:solidFill>
            <a:prstDash val="solid"/>
          </a:ln>
        </p:spPr>
      </p:sp>
      <p:sp>
        <p:nvSpPr>
          <p:cNvPr id="58" name="Text 56"/>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9" name="Shape 57"/>
          <p:cNvSpPr/>
          <p:nvPr/>
        </p:nvSpPr>
        <p:spPr>
          <a:xfrm>
            <a:off x="5741367" y="5730113"/>
            <a:ext cx="335533" cy="0"/>
          </a:xfrm>
          <a:prstGeom prst="line">
            <a:avLst/>
          </a:prstGeom>
          <a:noFill/>
          <a:ln w="22860">
            <a:solidFill>
              <a:srgbClr val="009E73"/>
            </a:solidFill>
            <a:prstDash val="solid"/>
            <a:tailEnd type="triangle"/>
          </a:ln>
        </p:spPr>
      </p:sp>
      <p:sp>
        <p:nvSpPr>
          <p:cNvPr id="60" name="Text 58"/>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1" name="Text 5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are prompt and completion token counts returned separately?</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 OpenAI-compatible endpoint with FastAPI</a:t>
            </a:r>
            <a:endParaRPr lang="en-US" sz="3200" dirty="0"/>
          </a:p>
        </p:txBody>
      </p:sp>
      <p:sp>
        <p:nvSpPr>
          <p:cNvPr id="6" name="Shape 4"/>
          <p:cNvSpPr/>
          <p:nvPr/>
        </p:nvSpPr>
        <p:spPr>
          <a:xfrm>
            <a:off x="548640" y="1481328"/>
            <a:ext cx="6949440" cy="3477768"/>
          </a:xfrm>
          <a:prstGeom prst="roundRect">
            <a:avLst>
              <a:gd name="adj" fmla="val 2629"/>
            </a:avLst>
          </a:prstGeom>
          <a:solidFill>
            <a:srgbClr val="1E1E2E"/>
          </a:solidFill>
          <a:ln w="12700">
            <a:solidFill>
              <a:srgbClr val="1E1E2E"/>
            </a:solidFill>
            <a:prstDash val="solid"/>
          </a:ln>
        </p:spPr>
      </p:sp>
      <p:sp>
        <p:nvSpPr>
          <p:cNvPr id="7" name="Text 5"/>
          <p:cNvSpPr txBox="1"/>
          <p:nvPr/>
        </p:nvSpPr>
        <p:spPr>
          <a:xfrm>
            <a:off x="685800" y="1591056"/>
            <a:ext cx="6675120" cy="3258312"/>
          </a:xfrm>
          <a:prstGeom prst="rect">
            <a:avLst/>
          </a:prstGeom>
          <a:noFill/>
          <a:ln/>
        </p:spPr>
        <p:txBody>
          <a:bodyPr wrap="square" lIns="76200" tIns="76200" rIns="76200" bIns="76200" rtlCol="0" anchor="t"/>
          <a:lstStyle/>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@api.post("/v1/chat/completions")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def chat(req: ChatRequest):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text, n_in, n_out = generate(</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req.messages, req.max_tokens)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return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"object": "chat.completion",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"choices": [{"index": 0, "finish_reason": "stop",</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 {"role": "assistant",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"content": text}}],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"usage": {"prompt_tokens": n_in,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"completion_tokens": n_out,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"total_tokens": n_in + n_out}}</a:t>
            </a:r>
            <a:endParaRPr lang="en-US" sz="16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FastAPI exposes a Python handler.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Basic compatible JSON; test required features.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This route calls generate directly, separately from checked Gradio.</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chat interface with Gradio</a:t>
            </a:r>
            <a:endParaRPr lang="en-US" sz="3200" dirty="0"/>
          </a:p>
        </p:txBody>
      </p:sp>
      <p:sp>
        <p:nvSpPr>
          <p:cNvPr id="6" name="Shape 4"/>
          <p:cNvSpPr/>
          <p:nvPr/>
        </p:nvSpPr>
        <p:spPr>
          <a:xfrm>
            <a:off x="548640" y="1481328"/>
            <a:ext cx="11094415" cy="3517392"/>
          </a:xfrm>
          <a:prstGeom prst="roundRect">
            <a:avLst>
              <a:gd name="adj" fmla="val 2600"/>
            </a:avLst>
          </a:prstGeom>
          <a:solidFill>
            <a:srgbClr val="1E1E2E"/>
          </a:solidFill>
          <a:ln w="12700">
            <a:solidFill>
              <a:srgbClr val="1E1E2E"/>
            </a:solidFill>
            <a:prstDash val="solid"/>
          </a:ln>
        </p:spPr>
      </p:sp>
      <p:sp>
        <p:nvSpPr>
          <p:cNvPr id="7" name="Text 5"/>
          <p:cNvSpPr txBox="1"/>
          <p:nvPr/>
        </p:nvSpPr>
        <p:spPr>
          <a:xfrm>
            <a:off x="685800" y="1591056"/>
            <a:ext cx="10820095" cy="3297936"/>
          </a:xfrm>
          <a:prstGeom prst="rect">
            <a:avLst/>
          </a:prstGeom>
          <a:noFill/>
          <a:ln/>
        </p:spPr>
        <p:txBody>
          <a:bodyPr wrap="square" lIns="76200" tIns="76200" rIns="76200" bIns="76200" rtlCol="0" anchor="t"/>
          <a:lstStyle/>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import gradio as gr</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def respond(message, history):</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allowed, cleaned, reason = check_input(message)   # guardrail</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if not allowed:</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return f"Sorry, I can't help with that ({reason})."</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answer, n_in, n_out = generate(build_messages(cleaned, history))</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log_request(n_in, n_out, reason)                   # metadata only</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return check_output(answer)</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 </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demo = gr.ChatInterface(respond, title="Course assistant")</a:t>
            </a:r>
            <a:endParaRPr lang="en-US" sz="1700" dirty="0"/>
          </a:p>
          <a:p>
            <a:pPr indent="0" marL="0">
              <a:lnSpc>
                <a:spcPct val="100000"/>
              </a:lnSpc>
              <a:buNone/>
            </a:pPr>
            <a:r>
              <a:rPr lang="en-US" sz="1700" dirty="0">
                <a:solidFill>
                  <a:srgbClr val="E4E4F0"/>
                </a:solidFill>
                <a:latin typeface="Consolas" pitchFamily="34" charset="0"/>
                <a:ea typeface="Consolas" pitchFamily="34" charset="-122"/>
                <a:cs typeface="Consolas" pitchFamily="34" charset="-120"/>
              </a:rPr>
              <a:t>demo.launch(share=True)     # temporary public link from Colab</a:t>
            </a:r>
            <a:endParaRPr lang="en-US" sz="1700" dirty="0"/>
          </a:p>
        </p:txBody>
      </p:sp>
      <p:sp>
        <p:nvSpPr>
          <p:cNvPr id="8" name="Text 6"/>
          <p:cNvSpPr txBox="1"/>
          <p:nvPr/>
        </p:nvSpPr>
        <p:spPr>
          <a:xfrm>
            <a:off x="548640" y="5135880"/>
            <a:ext cx="11094415" cy="1173480"/>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Gradio connects a browser to respond.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Spaces hardware, quotas and costs vary.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Public links need appropriate access and request controls.</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Prepare a model for a measured release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Deployment changes the running system; it does not train weights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versioned settings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baseline measures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measured</a:t>
            </a:r>
            <a:endParaRPr lang="en-US" sz="1441" dirty="0"/>
          </a:p>
        </p:txBody>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tradeoffs</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packaged demo</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version</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Model, prompt and</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settings</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MODEL_ID</a:t>
            </a:r>
            <a:endParaRPr lang="en-US" sz="1441" dirty="0"/>
          </a:p>
        </p:txBody>
      </p:sp>
      <p:sp>
        <p:nvSpPr>
          <p:cNvPr id="21" name="Shape 19"/>
          <p:cNvSpPr/>
          <p:nvPr/>
        </p:nvSpPr>
        <p:spPr>
          <a:xfrm>
            <a:off x="2960139" y="2939089"/>
            <a:ext cx="1927790" cy="1799677"/>
          </a:xfrm>
          <a:prstGeom prst="roundRect">
            <a:avLst>
              <a:gd name="adj" fmla="val 4065"/>
            </a:avLst>
          </a:prstGeom>
          <a:solidFill>
            <a:srgbClr val="FFF0E6"/>
          </a:solidFill>
          <a:ln w="15240">
            <a:solidFill>
              <a:srgbClr val="D55E00"/>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 baseline</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Speed and task</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quality</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measure</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Try efficiency</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Rounding, batching</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caches</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fake_quantize</a:t>
            </a:r>
            <a:endParaRPr lang="en-US" sz="1441" dirty="0"/>
          </a:p>
        </p:txBody>
      </p:sp>
      <p:sp>
        <p:nvSpPr>
          <p:cNvPr id="31" name="Shape 29"/>
          <p:cNvSpPr/>
          <p:nvPr/>
        </p:nvSpPr>
        <p:spPr>
          <a:xfrm>
            <a:off x="7303767" y="2939089"/>
            <a:ext cx="1927790" cy="1799677"/>
          </a:xfrm>
          <a:prstGeom prst="rect">
            <a:avLst/>
          </a:prstGeom>
          <a:solidFill>
            <a:srgbClr val="F2F4F5"/>
          </a:solidFill>
          <a:ln w="15240">
            <a:solidFill>
              <a:srgbClr val="626B73"/>
            </a:solidFill>
            <a:prstDash val="solid"/>
          </a:ln>
        </p:spPr>
      </p:sp>
      <p:sp>
        <p:nvSpPr>
          <p:cNvPr id="32" name="Text 3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Package scaffold</a:t>
            </a:r>
            <a:endParaRPr lang="en-US" sz="1561" dirty="0"/>
          </a:p>
        </p:txBody>
      </p:sp>
      <p:sp>
        <p:nvSpPr>
          <p:cNvPr id="33" name="Text 3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Replace ranges with</a:t>
            </a:r>
            <a:endParaRPr lang="en-US" sz="1441" dirty="0"/>
          </a:p>
        </p:txBody>
      </p:sp>
      <p:sp>
        <p:nvSpPr>
          <p:cNvPr id="34" name="Text 3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tested pins</a:t>
            </a:r>
            <a:endParaRPr lang="en-US" sz="1441" dirty="0"/>
          </a:p>
        </p:txBody>
      </p:sp>
      <p:sp>
        <p:nvSpPr>
          <p:cNvPr id="35" name="Text 3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dockerfile</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Monitor trial</a:t>
            </a:r>
            <a:endParaRPr lang="en-US" sz="1561" dirty="0"/>
          </a:p>
        </p:txBody>
      </p:sp>
      <p:sp>
        <p:nvSpPr>
          <p:cNvPr id="38" name="Text 3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logs before</a:t>
            </a:r>
            <a:endParaRPr lang="en-US" sz="1441" dirty="0"/>
          </a:p>
        </p:txBody>
      </p:sp>
      <p:sp>
        <p:nvSpPr>
          <p:cNvPr id="39" name="Text 3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wider use</a:t>
            </a:r>
            <a:endParaRPr lang="en-US" sz="1441" dirty="0"/>
          </a:p>
        </p:txBody>
      </p:sp>
      <p:sp>
        <p:nvSpPr>
          <p:cNvPr id="40" name="Text 3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summary</a:t>
            </a:r>
            <a:endParaRPr lang="en-US" sz="1441" dirty="0"/>
          </a:p>
        </p:txBody>
      </p:sp>
      <p:sp>
        <p:nvSpPr>
          <p:cNvPr id="41" name="Shape 3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2" name="Text 4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3" name="Shape 41"/>
          <p:cNvSpPr/>
          <p:nvPr/>
        </p:nvSpPr>
        <p:spPr>
          <a:xfrm>
            <a:off x="2118929" y="5630979"/>
            <a:ext cx="198270" cy="198270"/>
          </a:xfrm>
          <a:prstGeom prst="rect">
            <a:avLst/>
          </a:prstGeom>
          <a:solidFill>
            <a:srgbClr val="E5F7EF"/>
          </a:solidFill>
          <a:ln w="15240">
            <a:solidFill>
              <a:srgbClr val="009E73"/>
            </a:solidFill>
            <a:prstDash val="solid"/>
          </a:ln>
        </p:spPr>
      </p:sp>
      <p:sp>
        <p:nvSpPr>
          <p:cNvPr id="44" name="Text 4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5" name="Shape 43"/>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6" name="Text 44"/>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47" name="Shape 45"/>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48" name="Text 46"/>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9" name="Shape 47"/>
          <p:cNvSpPr/>
          <p:nvPr/>
        </p:nvSpPr>
        <p:spPr>
          <a:xfrm>
            <a:off x="5804824" y="5630979"/>
            <a:ext cx="198270" cy="198270"/>
          </a:xfrm>
          <a:prstGeom prst="rect">
            <a:avLst/>
          </a:prstGeom>
          <a:solidFill>
            <a:srgbClr val="F2F4F5"/>
          </a:solidFill>
          <a:ln w="15240">
            <a:solidFill>
              <a:srgbClr val="626B73"/>
            </a:solidFill>
            <a:prstDash val="solid"/>
          </a:ln>
        </p:spPr>
      </p:sp>
      <p:sp>
        <p:nvSpPr>
          <p:cNvPr id="50" name="Text 48"/>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1" name="Shape 49"/>
          <p:cNvSpPr/>
          <p:nvPr/>
        </p:nvSpPr>
        <p:spPr>
          <a:xfrm>
            <a:off x="7366714" y="5730113"/>
            <a:ext cx="335533" cy="0"/>
          </a:xfrm>
          <a:prstGeom prst="line">
            <a:avLst/>
          </a:prstGeom>
          <a:noFill/>
          <a:ln w="22860">
            <a:solidFill>
              <a:srgbClr val="009E73"/>
            </a:solidFill>
            <a:prstDash val="solid"/>
            <a:tailEnd type="triangle"/>
          </a:ln>
        </p:spPr>
      </p:sp>
      <p:sp>
        <p:nvSpPr>
          <p:cNvPr id="52" name="Text 50"/>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3" name="Text 51"/>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a theoretical 4-bit size table show that this notebook stores weights in 4-bit tensors?</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Packaging and releasing: Docker, versions, CI</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Docker records app, dependencies and start command.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Provide secrets at runtime.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Record model, prompt, settings and data versions.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Run CI evaluations before release.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Trial gradually; retain a rollback version.</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Monitoring, guardrails and comparison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know it is working, and safe?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to monitor</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Performance</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Time to first text, full answer time, p95 and requests per second.</a:t>
            </a:r>
            <a:endParaRPr lang="en-US" sz="22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Cost</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Tokens and spend per user and per day, with a budget alert.</a:t>
            </a:r>
            <a:endParaRPr lang="en-US" sz="22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Reliability</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Errors, timeouts, 429s and provider outages.</a:t>
            </a:r>
            <a:endParaRPr lang="en-US" sz="22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Quality</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 fixed test set re-run weekly, plus sampled human reviews.</a:t>
            </a:r>
            <a:endParaRPr lang="en-US" sz="22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Safety</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Blocked inputs, redactions and attacks that got through.</a:t>
            </a:r>
            <a:endParaRPr lang="en-US" sz="22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Versions</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Which model, prompt and index answered each request.</a:t>
            </a:r>
            <a:endParaRPr lang="en-US" sz="2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Measured: a monitoring summary from the lab app's logs</a:t>
            </a:r>
            <a:endParaRPr lang="en-US" sz="3100" dirty="0"/>
          </a:p>
        </p:txBody>
      </p:sp>
      <p:pic>
        <p:nvPicPr>
          <p:cNvPr id="6" name="Image 0" descr="C:\Users\sudee\Downloads\Generative_AI_2027_Teaching_Pack\AI2027_Project\build\figures\week_11\lab_monitor.png">    </p:cNvPr>
          <p:cNvPicPr>
            <a:picLocks noChangeAspect="1"/>
          </p:cNvPicPr>
          <p:nvPr/>
        </p:nvPicPr>
        <p:blipFill>
          <a:blip r:embed="rId1"/>
          <a:stretch>
            <a:fillRect/>
          </a:stretch>
        </p:blipFill>
        <p:spPr>
          <a:xfrm>
            <a:off x="1431927" y="1481328"/>
            <a:ext cx="9327841" cy="3762756"/>
          </a:xfrm>
          <a:prstGeom prst="rect">
            <a:avLst/>
          </a:prstGeom>
        </p:spPr>
      </p:pic>
      <p:sp>
        <p:nvSpPr>
          <p:cNvPr id="7" name="Text 4"/>
          <p:cNvSpPr txBox="1"/>
          <p:nvPr/>
        </p:nvSpPr>
        <p:spPr>
          <a:xfrm>
            <a:off x="548640" y="5426964"/>
            <a:ext cx="11094415" cy="8823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10 requests: 1 blocked (injection), 2 with personal data redacted; p50 2.85 s, p95 5.72 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Handler logs timing, tokens, blocks and versions; no raw prompts.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Follow allowed and blocked app requests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Gradio calls respond directly; the FastAPI route is separate</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 text</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clean text or block</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 counts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or refusal</a:t>
            </a:r>
            <a:endParaRPr lang="en-US" sz="1441" dirty="0"/>
          </a:p>
        </p:txBody>
      </p:sp>
      <p:sp>
        <p:nvSpPr>
          <p:cNvPr id="15" name="Shape 13"/>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6" name="Text 14"/>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Browser message</a:t>
            </a:r>
            <a:endParaRPr lang="en-US" sz="1561" dirty="0"/>
          </a:p>
        </p:txBody>
      </p:sp>
      <p:sp>
        <p:nvSpPr>
          <p:cNvPr id="17" name="Text 15"/>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Current request and</a:t>
            </a:r>
            <a:endParaRPr lang="en-US" sz="1441" dirty="0"/>
          </a:p>
        </p:txBody>
      </p:sp>
      <p:sp>
        <p:nvSpPr>
          <p:cNvPr id="18" name="Text 16"/>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history</a:t>
            </a:r>
            <a:endParaRPr lang="en-US" sz="1441" dirty="0"/>
          </a:p>
        </p:txBody>
      </p:sp>
      <p:sp>
        <p:nvSpPr>
          <p:cNvPr id="19" name="Text 17"/>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demo</a:t>
            </a:r>
            <a:endParaRPr lang="en-US" sz="1441" dirty="0"/>
          </a:p>
        </p:txBody>
      </p:sp>
      <p:sp>
        <p:nvSpPr>
          <p:cNvPr id="20" name="Shape 18"/>
          <p:cNvSpPr/>
          <p:nvPr/>
        </p:nvSpPr>
        <p:spPr>
          <a:xfrm>
            <a:off x="2960139" y="2939089"/>
            <a:ext cx="1927790" cy="1799677"/>
          </a:xfrm>
          <a:prstGeom prst="rect">
            <a:avLst/>
          </a:prstGeom>
          <a:solidFill>
            <a:srgbClr val="F2F4F5"/>
          </a:solidFill>
          <a:ln w="15240">
            <a:solidFill>
              <a:srgbClr val="626B73"/>
            </a:solidFill>
            <a:prstDash val="solid"/>
          </a:ln>
        </p:spPr>
      </p:sp>
      <p:sp>
        <p:nvSpPr>
          <p:cNvPr id="21" name="Text 19"/>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current</a:t>
            </a:r>
            <a:endParaRPr lang="en-US" sz="1561" dirty="0"/>
          </a:p>
        </p:txBody>
      </p:sp>
      <p:sp>
        <p:nvSpPr>
          <p:cNvPr id="22" name="Text 20"/>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a:t>
            </a:r>
            <a:endParaRPr lang="en-US" sz="1561" dirty="0"/>
          </a:p>
        </p:txBody>
      </p:sp>
      <p:sp>
        <p:nvSpPr>
          <p:cNvPr id="23" name="Text 21"/>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Block or redact</a:t>
            </a:r>
            <a:endParaRPr lang="en-US" sz="1441" dirty="0"/>
          </a:p>
        </p:txBody>
      </p:sp>
      <p:sp>
        <p:nvSpPr>
          <p:cNvPr id="24" name="Text 22"/>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simple patterns</a:t>
            </a:r>
            <a:endParaRPr lang="en-US" sz="1441" dirty="0"/>
          </a:p>
        </p:txBody>
      </p:sp>
      <p:sp>
        <p:nvSpPr>
          <p:cNvPr id="25" name="Text 23"/>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check_input</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 if</a:t>
            </a:r>
            <a:endParaRPr lang="en-US" sz="1561" dirty="0"/>
          </a:p>
        </p:txBody>
      </p:sp>
      <p:sp>
        <p:nvSpPr>
          <p:cNvPr id="28" name="Text 26"/>
          <p:cNvSpPr txBox="1"/>
          <p:nvPr/>
        </p:nvSpPr>
        <p:spPr>
          <a:xfrm>
            <a:off x="5192959"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allowed</a:t>
            </a:r>
            <a:endParaRPr lang="en-US" sz="1561" dirty="0"/>
          </a:p>
        </p:txBody>
      </p:sp>
      <p:sp>
        <p:nvSpPr>
          <p:cNvPr id="29" name="Text 27"/>
          <p:cNvSpPr txBox="1"/>
          <p:nvPr/>
        </p:nvSpPr>
        <p:spPr>
          <a:xfrm>
            <a:off x="5192959"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 model; no</a:t>
            </a:r>
            <a:endParaRPr lang="en-US" sz="1441" dirty="0"/>
          </a:p>
        </p:txBody>
      </p:sp>
      <p:sp>
        <p:nvSpPr>
          <p:cNvPr id="30" name="Text 28"/>
          <p:cNvSpPr txBox="1"/>
          <p:nvPr/>
        </p:nvSpPr>
        <p:spPr>
          <a:xfrm>
            <a:off x="5192959"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weight updates</a:t>
            </a:r>
            <a:endParaRPr lang="en-US" sz="1441" dirty="0"/>
          </a:p>
        </p:txBody>
      </p:sp>
      <p:sp>
        <p:nvSpPr>
          <p:cNvPr id="31" name="Text 29"/>
          <p:cNvSpPr txBox="1"/>
          <p:nvPr/>
        </p:nvSpPr>
        <p:spPr>
          <a:xfrm>
            <a:off x="5154830"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32" name="Shape 30"/>
          <p:cNvSpPr/>
          <p:nvPr/>
        </p:nvSpPr>
        <p:spPr>
          <a:xfrm>
            <a:off x="7303767" y="2939089"/>
            <a:ext cx="1927790" cy="1799677"/>
          </a:xfrm>
          <a:prstGeom prst="rect">
            <a:avLst/>
          </a:prstGeom>
          <a:solidFill>
            <a:srgbClr val="F2F4F5"/>
          </a:solidFill>
          <a:ln w="15240">
            <a:solidFill>
              <a:srgbClr val="626B73"/>
            </a:solidFill>
            <a:prstDash val="solid"/>
          </a:ln>
        </p:spPr>
      </p:sp>
      <p:sp>
        <p:nvSpPr>
          <p:cNvPr id="33" name="Text 31"/>
          <p:cNvSpPr txBox="1"/>
          <p:nvPr/>
        </p:nvSpPr>
        <p:spPr>
          <a:xfrm>
            <a:off x="7364773" y="344299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answer</a:t>
            </a:r>
            <a:endParaRPr lang="en-US" sz="1561" dirty="0"/>
          </a:p>
        </p:txBody>
      </p:sp>
      <p:sp>
        <p:nvSpPr>
          <p:cNvPr id="34" name="Text 32"/>
          <p:cNvSpPr txBox="1"/>
          <p:nvPr/>
        </p:nvSpPr>
        <p:spPr>
          <a:xfrm>
            <a:off x="7364773" y="374924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Apply the output rule</a:t>
            </a:r>
            <a:endParaRPr lang="en-US" sz="1441" dirty="0"/>
          </a:p>
        </p:txBody>
      </p:sp>
      <p:sp>
        <p:nvSpPr>
          <p:cNvPr id="35" name="Text 33"/>
          <p:cNvSpPr txBox="1"/>
          <p:nvPr/>
        </p:nvSpPr>
        <p:spPr>
          <a:xfrm>
            <a:off x="7326644" y="4022555"/>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check_output</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Log + respond</a:t>
            </a:r>
            <a:endParaRPr lang="en-US" sz="1561" dirty="0"/>
          </a:p>
        </p:txBody>
      </p:sp>
      <p:sp>
        <p:nvSpPr>
          <p:cNvPr id="38" name="Text 3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Metadata plus</a:t>
            </a:r>
            <a:endParaRPr lang="en-US" sz="1441" dirty="0"/>
          </a:p>
        </p:txBody>
      </p:sp>
      <p:sp>
        <p:nvSpPr>
          <p:cNvPr id="39" name="Text 3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 or refusal</a:t>
            </a:r>
            <a:endParaRPr lang="en-US" sz="1441" dirty="0"/>
          </a:p>
        </p:txBody>
      </p:sp>
      <p:sp>
        <p:nvSpPr>
          <p:cNvPr id="40" name="Text 3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respond</a:t>
            </a:r>
            <a:endParaRPr lang="en-US" sz="1441" dirty="0"/>
          </a:p>
        </p:txBody>
      </p:sp>
      <p:sp>
        <p:nvSpPr>
          <p:cNvPr id="41" name="Shape 3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2" name="Text 4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3" name="Shape 41"/>
          <p:cNvSpPr/>
          <p:nvPr/>
        </p:nvSpPr>
        <p:spPr>
          <a:xfrm>
            <a:off x="2118929" y="5630979"/>
            <a:ext cx="198270" cy="198270"/>
          </a:xfrm>
          <a:prstGeom prst="rect">
            <a:avLst/>
          </a:prstGeom>
          <a:solidFill>
            <a:srgbClr val="E5F7EF"/>
          </a:solidFill>
          <a:ln w="15240">
            <a:solidFill>
              <a:srgbClr val="009E73"/>
            </a:solidFill>
            <a:prstDash val="solid"/>
          </a:ln>
        </p:spPr>
      </p:sp>
      <p:sp>
        <p:nvSpPr>
          <p:cNvPr id="44" name="Text 4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5" name="Shape 43"/>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6" name="Text 44"/>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7" name="Shape 45"/>
          <p:cNvSpPr/>
          <p:nvPr/>
        </p:nvSpPr>
        <p:spPr>
          <a:xfrm>
            <a:off x="4179476" y="5630979"/>
            <a:ext cx="198270" cy="198270"/>
          </a:xfrm>
          <a:prstGeom prst="rect">
            <a:avLst/>
          </a:prstGeom>
          <a:solidFill>
            <a:srgbClr val="F2F4F5"/>
          </a:solidFill>
          <a:ln w="15240">
            <a:solidFill>
              <a:srgbClr val="626B73"/>
            </a:solidFill>
            <a:prstDash val="solid"/>
          </a:ln>
        </p:spPr>
      </p:sp>
      <p:sp>
        <p:nvSpPr>
          <p:cNvPr id="48" name="Text 46"/>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49" name="Shape 47"/>
          <p:cNvSpPr/>
          <p:nvPr/>
        </p:nvSpPr>
        <p:spPr>
          <a:xfrm>
            <a:off x="5741367" y="5730113"/>
            <a:ext cx="335533" cy="0"/>
          </a:xfrm>
          <a:prstGeom prst="line">
            <a:avLst/>
          </a:prstGeom>
          <a:noFill/>
          <a:ln w="22860">
            <a:solidFill>
              <a:srgbClr val="009E73"/>
            </a:solidFill>
            <a:prstDash val="solid"/>
            <a:tailEnd type="triangle"/>
          </a:ln>
        </p:spPr>
      </p:sp>
      <p:sp>
        <p:nvSpPr>
          <p:cNvPr id="50" name="Text 48"/>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1" name="Text 4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If the API endpoint uses generate directly, does it inherit respond's input checks?</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Guardrails in layers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Input</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Check size, identity, content</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Model / tools</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Restrict permissions</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FFF1E6"/>
          </a:solidFill>
          <a:ln w="15875">
            <a:solidFill>
              <a:srgbClr val="EA580C"/>
            </a:solidFill>
            <a:prstDash val="solid"/>
          </a:ln>
        </p:spPr>
      </p:sp>
      <p:sp>
        <p:nvSpPr>
          <p:cNvPr id="19" name="Shape 17"/>
          <p:cNvSpPr/>
          <p:nvPr/>
        </p:nvSpPr>
        <p:spPr>
          <a:xfrm>
            <a:off x="5894680"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Output</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Check schema and policy</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Oversight</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Escalate uncertain cases</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Monitor</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Test misses and false alarms</a:t>
            </a:r>
            <a:endParaRPr lang="en-US" sz="20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Apply controls to every reachable route; pattern rules catch only some cases.</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LLMOps tooling: tracing and evaluation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Tracing:</a:t>
            </a:r>
            <a:pPr indent="0" marL="0">
              <a:buNone/>
            </a:pPr>
            <a:r>
              <a:rPr lang="en-US" sz="2600" dirty="0">
                <a:solidFill>
                  <a:srgbClr val="1F2937"/>
                </a:solidFill>
                <a:latin typeface="Calibri" pitchFamily="34" charset="0"/>
                <a:ea typeface="Calibri" pitchFamily="34" charset="-122"/>
                <a:cs typeface="Calibri" pitchFamily="34" charset="-120"/>
              </a:rPr>
              <a:t> record steps, timing and token use.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Examples: OpenTelemetry, Langfuse, LangSmith, MLflow.</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LLMOps:</a:t>
            </a:r>
            <a:pPr indent="0" marL="0">
              <a:buNone/>
            </a:pPr>
            <a:r>
              <a:rPr lang="en-US" sz="2600" dirty="0">
                <a:solidFill>
                  <a:srgbClr val="1F2937"/>
                </a:solidFill>
                <a:latin typeface="Calibri" pitchFamily="34" charset="0"/>
                <a:ea typeface="Calibri" pitchFamily="34" charset="-122"/>
                <a:cs typeface="Calibri" pitchFamily="34" charset="-120"/>
              </a:rPr>
              <a:t> versions, tests, deployment and monitoring.</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Repeat evaluations and review sampled answers.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Comparison: choosing a deployment for a student project</a:t>
            </a:r>
            <a:endParaRPr lang="en-US" sz="3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501682"/>
                <a:gridCol w="2936757"/>
                <a:gridCol w="3045526"/>
                <a:gridCol w="261045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Need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Good choice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Quick prototype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Hosted API + Gradio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Working demo in an hour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Data terms and 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Private data, no budget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Local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Data stays on the device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Memory and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Demo a fine-tuned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Hugging Face Spaces / Colab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Free hosted GPU or CPU</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Hardware and time limits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Many users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Serving engine (vLLM)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Batches concurrent requests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Load-test waits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Repeatable hand-in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Docker + pinned versions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Same environment for markers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Rebuild from scratch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deployment checklist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Disclose AI interaction as required.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Minimise data; control access and retention.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Protect keys and cap requests.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monitor and provide human escalation.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Budget for the measured task.</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 before deploying</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speed, cost, quality and application logs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timed model</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usage counts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operating</a:t>
            </a:r>
            <a:endParaRPr lang="en-US" sz="1441" dirty="0"/>
          </a:p>
        </p:txBody>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assumptions</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measured</a:t>
            </a:r>
            <a:endParaRPr lang="en-US" sz="1441" dirty="0"/>
          </a:p>
        </p:txBody>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tradeoffs</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request logs</a:t>
            </a:r>
            <a:endParaRPr lang="en-US" sz="1441" dirty="0"/>
          </a:p>
        </p:txBody>
      </p:sp>
      <p:sp>
        <p:nvSpPr>
          <p:cNvPr id="19" name="Shape 17"/>
          <p:cNvSpPr/>
          <p:nvPr/>
        </p:nvSpPr>
        <p:spPr>
          <a:xfrm>
            <a:off x="788325" y="2939089"/>
            <a:ext cx="1565821" cy="1799677"/>
          </a:xfrm>
          <a:prstGeom prst="rect">
            <a:avLst/>
          </a:prstGeom>
          <a:solidFill>
            <a:srgbClr val="E5F7EF"/>
          </a:solidFill>
          <a:ln w="15240">
            <a:solidFill>
              <a:srgbClr val="009E73"/>
            </a:solidFill>
            <a:prstDash val="solid"/>
          </a:ln>
        </p:spPr>
      </p:sp>
      <p:sp>
        <p:nvSpPr>
          <p:cNvPr id="20" name="Text 18"/>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Load + time</a:t>
            </a:r>
            <a:endParaRPr lang="en-US" sz="1561" dirty="0"/>
          </a:p>
        </p:txBody>
      </p:sp>
      <p:sp>
        <p:nvSpPr>
          <p:cNvPr id="21" name="Text 19"/>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First text and</a:t>
            </a:r>
            <a:endParaRPr lang="en-US" sz="1441" dirty="0"/>
          </a:p>
        </p:txBody>
      </p:sp>
      <p:sp>
        <p:nvSpPr>
          <p:cNvPr id="22" name="Text 20"/>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full-answer wait</a:t>
            </a:r>
            <a:endParaRPr lang="en-US" sz="1441" dirty="0"/>
          </a:p>
        </p:txBody>
      </p:sp>
      <p:sp>
        <p:nvSpPr>
          <p:cNvPr id="23" name="Text 21"/>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measure</a:t>
            </a:r>
            <a:endParaRPr lang="en-US" sz="1441" dirty="0"/>
          </a:p>
        </p:txBody>
      </p:sp>
      <p:sp>
        <p:nvSpPr>
          <p:cNvPr id="24" name="Shape 22"/>
          <p:cNvSpPr/>
          <p:nvPr/>
        </p:nvSpPr>
        <p:spPr>
          <a:xfrm>
            <a:off x="2598170" y="2939089"/>
            <a:ext cx="1565821" cy="1799677"/>
          </a:xfrm>
          <a:prstGeom prst="rect">
            <a:avLst/>
          </a:prstGeom>
          <a:solidFill>
            <a:srgbClr val="F2F4F5"/>
          </a:solidFill>
          <a:ln w="15240">
            <a:solidFill>
              <a:srgbClr val="626B73"/>
            </a:solidFill>
            <a:prstDash val="solid"/>
          </a:ln>
        </p:spPr>
      </p:sp>
      <p:sp>
        <p:nvSpPr>
          <p:cNvPr id="25" name="Text 23"/>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Serve + call</a:t>
            </a:r>
            <a:endParaRPr lang="en-US" sz="1561" dirty="0"/>
          </a:p>
        </p:txBody>
      </p:sp>
      <p:sp>
        <p:nvSpPr>
          <p:cNvPr id="26" name="Text 24"/>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Exercise local</a:t>
            </a:r>
            <a:endParaRPr lang="en-US" sz="1441" dirty="0"/>
          </a:p>
        </p:txBody>
      </p:sp>
      <p:sp>
        <p:nvSpPr>
          <p:cNvPr id="27" name="Text 25"/>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API clients</a:t>
            </a:r>
            <a:endParaRPr lang="en-US" sz="1441" dirty="0"/>
          </a:p>
        </p:txBody>
      </p:sp>
      <p:sp>
        <p:nvSpPr>
          <p:cNvPr id="28" name="Text 26"/>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chat_completions</a:t>
            </a:r>
            <a:endParaRPr lang="en-US" sz="1441" dirty="0"/>
          </a:p>
        </p:txBody>
      </p:sp>
      <p:sp>
        <p:nvSpPr>
          <p:cNvPr id="29" name="Shape 27"/>
          <p:cNvSpPr/>
          <p:nvPr/>
        </p:nvSpPr>
        <p:spPr>
          <a:xfrm>
            <a:off x="4408015" y="2939089"/>
            <a:ext cx="1565821" cy="1799677"/>
          </a:xfrm>
          <a:prstGeom prst="roundRect">
            <a:avLst>
              <a:gd name="adj" fmla="val 4672"/>
            </a:avLst>
          </a:prstGeom>
          <a:solidFill>
            <a:srgbClr val="FFF0E6"/>
          </a:solidFill>
          <a:ln w="15240">
            <a:solidFill>
              <a:srgbClr val="D55E00"/>
            </a:solidFill>
            <a:prstDash val="solid"/>
          </a:ln>
        </p:spPr>
      </p:sp>
      <p:sp>
        <p:nvSpPr>
          <p:cNvPr id="30" name="Text 28"/>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Estimate cost</a:t>
            </a:r>
            <a:endParaRPr lang="en-US" sz="1561" dirty="0"/>
          </a:p>
        </p:txBody>
      </p:sp>
      <p:sp>
        <p:nvSpPr>
          <p:cNvPr id="31" name="Text 29"/>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Illustrative prices</a:t>
            </a:r>
            <a:endParaRPr lang="en-US" sz="1441" dirty="0"/>
          </a:p>
        </p:txBody>
      </p:sp>
      <p:sp>
        <p:nvSpPr>
          <p:cNvPr id="32" name="Text 30"/>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retries</a:t>
            </a:r>
            <a:endParaRPr lang="en-US" sz="1441" dirty="0"/>
          </a:p>
        </p:txBody>
      </p:sp>
      <p:sp>
        <p:nvSpPr>
          <p:cNvPr id="33" name="Text 31"/>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monthly_cost</a:t>
            </a:r>
            <a:endParaRPr lang="en-US" sz="1441" dirty="0"/>
          </a:p>
        </p:txBody>
      </p:sp>
      <p:sp>
        <p:nvSpPr>
          <p:cNvPr id="34" name="Shape 32"/>
          <p:cNvSpPr/>
          <p:nvPr/>
        </p:nvSpPr>
        <p:spPr>
          <a:xfrm>
            <a:off x="6217860" y="2939089"/>
            <a:ext cx="1565821" cy="1799677"/>
          </a:xfrm>
          <a:prstGeom prst="rect">
            <a:avLst/>
          </a:prstGeom>
          <a:solidFill>
            <a:srgbClr val="E5F7EF"/>
          </a:solidFill>
          <a:ln w="15240">
            <a:solidFill>
              <a:srgbClr val="009E73"/>
            </a:solidFill>
            <a:prstDash val="solid"/>
          </a:ln>
        </p:spPr>
      </p:sp>
      <p:sp>
        <p:nvSpPr>
          <p:cNvPr id="35" name="Text 33"/>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36" name="Text 34"/>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efficiency</a:t>
            </a:r>
            <a:endParaRPr lang="en-US" sz="1561" dirty="0"/>
          </a:p>
        </p:txBody>
      </p:sp>
      <p:sp>
        <p:nvSpPr>
          <p:cNvPr id="37" name="Text 35"/>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Rounding,</a:t>
            </a:r>
            <a:endParaRPr lang="en-US" sz="1441" dirty="0"/>
          </a:p>
        </p:txBody>
      </p:sp>
      <p:sp>
        <p:nvSpPr>
          <p:cNvPr id="38" name="Text 36"/>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batching and</a:t>
            </a:r>
            <a:endParaRPr lang="en-US" sz="1441" dirty="0"/>
          </a:p>
        </p:txBody>
      </p:sp>
      <p:sp>
        <p:nvSpPr>
          <p:cNvPr id="39" name="Text 37"/>
          <p:cNvSpPr txBox="1"/>
          <p:nvPr/>
        </p:nvSpPr>
        <p:spPr>
          <a:xfrm>
            <a:off x="627886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caching</a:t>
            </a:r>
            <a:endParaRPr lang="en-US" sz="1441" dirty="0"/>
          </a:p>
        </p:txBody>
      </p:sp>
      <p:sp>
        <p:nvSpPr>
          <p:cNvPr id="40" name="Text 38"/>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fake_quantize</a:t>
            </a:r>
            <a:endParaRPr lang="en-US" sz="1441" dirty="0"/>
          </a:p>
        </p:txBody>
      </p:sp>
      <p:sp>
        <p:nvSpPr>
          <p:cNvPr id="41" name="Shape 39"/>
          <p:cNvSpPr/>
          <p:nvPr/>
        </p:nvSpPr>
        <p:spPr>
          <a:xfrm>
            <a:off x="8027705" y="2939089"/>
            <a:ext cx="1565821" cy="1799677"/>
          </a:xfrm>
          <a:prstGeom prst="rect">
            <a:avLst/>
          </a:prstGeom>
          <a:solidFill>
            <a:srgbClr val="F2F4F5"/>
          </a:solidFill>
          <a:ln w="15240">
            <a:solidFill>
              <a:srgbClr val="626B73"/>
            </a:solidFill>
            <a:prstDash val="solid"/>
          </a:ln>
        </p:spPr>
      </p:sp>
      <p:sp>
        <p:nvSpPr>
          <p:cNvPr id="42" name="Text 40"/>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interface</a:t>
            </a:r>
            <a:endParaRPr lang="en-US" sz="1561" dirty="0"/>
          </a:p>
        </p:txBody>
      </p:sp>
      <p:sp>
        <p:nvSpPr>
          <p:cNvPr id="43" name="Text 41"/>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Checked direct</a:t>
            </a:r>
            <a:endParaRPr lang="en-US" sz="1441" dirty="0"/>
          </a:p>
        </p:txBody>
      </p:sp>
      <p:sp>
        <p:nvSpPr>
          <p:cNvPr id="44" name="Text 42"/>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Python route</a:t>
            </a:r>
            <a:endParaRPr lang="en-US" sz="1441" dirty="0"/>
          </a:p>
        </p:txBody>
      </p:sp>
      <p:sp>
        <p:nvSpPr>
          <p:cNvPr id="45" name="Text 43"/>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respond</a:t>
            </a:r>
            <a:endParaRPr lang="en-US" sz="1441" dirty="0"/>
          </a:p>
        </p:txBody>
      </p:sp>
      <p:sp>
        <p:nvSpPr>
          <p:cNvPr id="46" name="Shape 44"/>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7" name="Text 45"/>
          <p:cNvSpPr txBox="1"/>
          <p:nvPr/>
        </p:nvSpPr>
        <p:spPr>
          <a:xfrm>
            <a:off x="9898555"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48" name="Text 46"/>
          <p:cNvSpPr txBox="1"/>
          <p:nvPr/>
        </p:nvSpPr>
        <p:spPr>
          <a:xfrm>
            <a:off x="9898555"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operation</a:t>
            </a:r>
            <a:endParaRPr lang="en-US" sz="1561" dirty="0"/>
          </a:p>
        </p:txBody>
      </p:sp>
      <p:sp>
        <p:nvSpPr>
          <p:cNvPr id="49" name="Text 47"/>
          <p:cNvSpPr txBox="1"/>
          <p:nvPr/>
        </p:nvSpPr>
        <p:spPr>
          <a:xfrm>
            <a:off x="9898555"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Logs and</a:t>
            </a:r>
            <a:endParaRPr lang="en-US" sz="1441" dirty="0"/>
          </a:p>
        </p:txBody>
      </p:sp>
      <p:sp>
        <p:nvSpPr>
          <p:cNvPr id="50" name="Text 48"/>
          <p:cNvSpPr txBox="1"/>
          <p:nvPr/>
        </p:nvSpPr>
        <p:spPr>
          <a:xfrm>
            <a:off x="9898555"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packaging</a:t>
            </a:r>
            <a:endParaRPr lang="en-US" sz="1441" dirty="0"/>
          </a:p>
        </p:txBody>
      </p:sp>
      <p:sp>
        <p:nvSpPr>
          <p:cNvPr id="51" name="Text 49"/>
          <p:cNvSpPr txBox="1"/>
          <p:nvPr/>
        </p:nvSpPr>
        <p:spPr>
          <a:xfrm>
            <a:off x="9898555"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scaffold</a:t>
            </a:r>
            <a:endParaRPr lang="en-US" sz="1441" dirty="0"/>
          </a:p>
        </p:txBody>
      </p:sp>
      <p:sp>
        <p:nvSpPr>
          <p:cNvPr id="52" name="Text 50"/>
          <p:cNvSpPr txBox="1"/>
          <p:nvPr/>
        </p:nvSpPr>
        <p:spPr>
          <a:xfrm>
            <a:off x="986042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summary</a:t>
            </a:r>
            <a:endParaRPr lang="en-US" sz="1441" dirty="0"/>
          </a:p>
        </p:txBody>
      </p:sp>
      <p:sp>
        <p:nvSpPr>
          <p:cNvPr id="53" name="Shape 51"/>
          <p:cNvSpPr/>
          <p:nvPr/>
        </p:nvSpPr>
        <p:spPr>
          <a:xfrm>
            <a:off x="788325" y="5630979"/>
            <a:ext cx="198270" cy="198270"/>
          </a:xfrm>
          <a:prstGeom prst="rect">
            <a:avLst/>
          </a:prstGeom>
          <a:solidFill>
            <a:srgbClr val="E5F7EF"/>
          </a:solidFill>
          <a:ln w="15240">
            <a:solidFill>
              <a:srgbClr val="009E73"/>
            </a:solidFill>
            <a:prstDash val="solid"/>
          </a:ln>
        </p:spPr>
      </p:sp>
      <p:sp>
        <p:nvSpPr>
          <p:cNvPr id="54" name="Text 52"/>
          <p:cNvSpPr txBox="1"/>
          <p:nvPr/>
        </p:nvSpPr>
        <p:spPr>
          <a:xfrm>
            <a:off x="1047600"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5" name="Shape 53"/>
          <p:cNvSpPr/>
          <p:nvPr/>
        </p:nvSpPr>
        <p:spPr>
          <a:xfrm>
            <a:off x="1792174" y="5630979"/>
            <a:ext cx="198270" cy="198270"/>
          </a:xfrm>
          <a:prstGeom prst="roundRect">
            <a:avLst>
              <a:gd name="adj" fmla="val 36895"/>
            </a:avLst>
          </a:prstGeom>
          <a:solidFill>
            <a:srgbClr val="FFF0E6"/>
          </a:solidFill>
          <a:ln w="15240">
            <a:solidFill>
              <a:srgbClr val="D55E00"/>
            </a:solidFill>
            <a:prstDash val="solid"/>
          </a:ln>
        </p:spPr>
      </p:sp>
      <p:sp>
        <p:nvSpPr>
          <p:cNvPr id="56" name="Text 54"/>
          <p:cNvSpPr txBox="1"/>
          <p:nvPr/>
        </p:nvSpPr>
        <p:spPr>
          <a:xfrm>
            <a:off x="2051449"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7" name="Shape 55"/>
          <p:cNvSpPr/>
          <p:nvPr/>
        </p:nvSpPr>
        <p:spPr>
          <a:xfrm>
            <a:off x="3417521" y="5630979"/>
            <a:ext cx="198270" cy="198270"/>
          </a:xfrm>
          <a:prstGeom prst="roundRect">
            <a:avLst>
              <a:gd name="adj" fmla="val 36895"/>
            </a:avLst>
          </a:prstGeom>
          <a:solidFill>
            <a:srgbClr val="F9EAF4"/>
          </a:solidFill>
          <a:ln w="15240">
            <a:solidFill>
              <a:srgbClr val="CC79A7"/>
            </a:solidFill>
            <a:prstDash val="solid"/>
          </a:ln>
        </p:spPr>
      </p:sp>
      <p:sp>
        <p:nvSpPr>
          <p:cNvPr id="58" name="Text 56"/>
          <p:cNvSpPr txBox="1"/>
          <p:nvPr/>
        </p:nvSpPr>
        <p:spPr>
          <a:xfrm>
            <a:off x="3676797"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9" name="Shape 57"/>
          <p:cNvSpPr/>
          <p:nvPr/>
        </p:nvSpPr>
        <p:spPr>
          <a:xfrm>
            <a:off x="4474219" y="5630979"/>
            <a:ext cx="198270" cy="198270"/>
          </a:xfrm>
          <a:prstGeom prst="rect">
            <a:avLst/>
          </a:prstGeom>
          <a:solidFill>
            <a:srgbClr val="F2F4F5"/>
          </a:solidFill>
          <a:ln w="15240">
            <a:solidFill>
              <a:srgbClr val="626B73"/>
            </a:solidFill>
            <a:prstDash val="solid"/>
          </a:ln>
        </p:spPr>
      </p:sp>
      <p:sp>
        <p:nvSpPr>
          <p:cNvPr id="60" name="Text 58"/>
          <p:cNvSpPr txBox="1"/>
          <p:nvPr/>
        </p:nvSpPr>
        <p:spPr>
          <a:xfrm>
            <a:off x="4733495"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1" name="Shape 59"/>
          <p:cNvSpPr/>
          <p:nvPr/>
        </p:nvSpPr>
        <p:spPr>
          <a:xfrm>
            <a:off x="6036110" y="5730113"/>
            <a:ext cx="335533" cy="0"/>
          </a:xfrm>
          <a:prstGeom prst="line">
            <a:avLst/>
          </a:prstGeom>
          <a:noFill/>
          <a:ln w="22860">
            <a:solidFill>
              <a:srgbClr val="009E73"/>
            </a:solidFill>
            <a:prstDash val="solid"/>
            <a:tailEnd type="triangle"/>
          </a:ln>
        </p:spPr>
      </p:sp>
      <p:sp>
        <p:nvSpPr>
          <p:cNvPr id="62" name="Text 60"/>
          <p:cNvSpPr txBox="1"/>
          <p:nvPr/>
        </p:nvSpPr>
        <p:spPr>
          <a:xfrm>
            <a:off x="6432649"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3" name="Text 61"/>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fake_quantize reduce the actual model tensor storage to four bits in this experiment?</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Lab 11: deploy, measure and monitor a generative AI app</a:t>
            </a:r>
            <a:endParaRPr lang="en-US" sz="31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Measure first text and full response time.</a:t>
            </a:r>
            <a:endParaRPr lang="en-US" sz="20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Serve locally; call SDK and framework.</a:t>
            </a:r>
            <a:endParaRPr lang="en-US" sz="20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Estimate costs; simulate bounded retries.</a:t>
            </a:r>
            <a:endParaRPr lang="en-US" sz="20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rounding, batching and cache effects.</a:t>
            </a:r>
            <a:endParaRPr lang="en-US" sz="20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checked Gradio logs and Docker scaffold.</a:t>
            </a:r>
            <a:endParaRPr lang="en-US" sz="20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or CPU (slower). About 3 min on a 4 GB laptop GPU after downloads</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latency, cost, quantisation, batching and monitoring tables, the app link or screenshot, and three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Microsoft: Generative AI for Beginners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Lessons on building and securing apps</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Hugging Face Inference Providers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OpenAI-compatible router to open models</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Gemini API: OpenAI compatibility</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Use Gemini with the OpenAI SDK</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vLLM documentation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High-throughput serving</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Ollama</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Run open models locally</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Gradio quickstart</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Interfaces in Python</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FastAPI tutorial</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Build APIs with Python</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OWASP Top 10 for LLM Applications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Security risks and mitigations</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11  ·  DEPLOYMENT AND FRAMEWORKS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11: operate an application</a:t>
            </a:r>
            <a:endParaRPr lang="en-US" sz="3200" dirty="0"/>
          </a:p>
        </p:txBody>
      </p:sp>
      <p:sp>
        <p:nvSpPr>
          <p:cNvPr id="6" name="Shape 4"/>
          <p:cNvSpPr/>
          <p:nvPr/>
        </p:nvSpPr>
        <p:spPr>
          <a:xfrm>
            <a:off x="946879" y="1630142"/>
            <a:ext cx="3323515" cy="1376531"/>
          </a:xfrm>
          <a:prstGeom prst="roundRect">
            <a:avLst>
              <a:gd name="adj" fmla="val 5314"/>
            </a:avLst>
          </a:prstGeom>
          <a:solidFill>
            <a:srgbClr val="E4F2FB"/>
          </a:solidFill>
          <a:ln w="15240">
            <a:solidFill>
              <a:srgbClr val="0072B2"/>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Choose the layers</a:t>
            </a:r>
            <a:endParaRPr lang="en-US" sz="1758" dirty="0"/>
          </a:p>
        </p:txBody>
      </p:sp>
      <p:sp>
        <p:nvSpPr>
          <p:cNvPr id="8" name="Text 6"/>
          <p:cNvSpPr txBox="1"/>
          <p:nvPr/>
        </p:nvSpPr>
        <p:spPr>
          <a:xfrm>
            <a:off x="1080812"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Separate model libraries, serving,</a:t>
            </a:r>
            <a:endParaRPr lang="en-US" sz="1523" dirty="0"/>
          </a:p>
        </p:txBody>
      </p:sp>
      <p:sp>
        <p:nvSpPr>
          <p:cNvPr id="9" name="Text 7"/>
          <p:cNvSpPr txBox="1"/>
          <p:nvPr/>
        </p:nvSpPr>
        <p:spPr>
          <a:xfrm>
            <a:off x="1080812"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application code and interfaces.</a:t>
            </a:r>
            <a:endParaRPr lang="en-US" sz="1523" dirty="0"/>
          </a:p>
        </p:txBody>
      </p:sp>
      <p:sp>
        <p:nvSpPr>
          <p:cNvPr id="10" name="Shape 8"/>
          <p:cNvSpPr/>
          <p:nvPr/>
        </p:nvSpPr>
        <p:spPr>
          <a:xfrm>
            <a:off x="4434090" y="1630142"/>
            <a:ext cx="3323515" cy="1376531"/>
          </a:xfrm>
          <a:prstGeom prst="rect">
            <a:avLst/>
          </a:prstGeom>
          <a:solidFill>
            <a:srgbClr val="F2F4F5"/>
          </a:solidFill>
          <a:ln w="15240">
            <a:solidFill>
              <a:srgbClr val="626B73"/>
            </a:solidFill>
            <a:prstDash val="solid"/>
          </a:ln>
        </p:spPr>
      </p:sp>
      <p:sp>
        <p:nvSpPr>
          <p:cNvPr id="11" name="Text 9"/>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Call an API</a:t>
            </a:r>
            <a:endParaRPr lang="en-US" sz="1758" dirty="0"/>
          </a:p>
        </p:txBody>
      </p:sp>
      <p:sp>
        <p:nvSpPr>
          <p:cNvPr id="12" name="Text 10"/>
          <p:cNvSpPr txBox="1"/>
          <p:nvPr/>
        </p:nvSpPr>
        <p:spPr>
          <a:xfrm>
            <a:off x="456802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Send structured requests; protect</a:t>
            </a:r>
            <a:endParaRPr lang="en-US" sz="1523" dirty="0"/>
          </a:p>
        </p:txBody>
      </p:sp>
      <p:sp>
        <p:nvSpPr>
          <p:cNvPr id="13" name="Text 11"/>
          <p:cNvSpPr txBox="1"/>
          <p:nvPr/>
        </p:nvSpPr>
        <p:spPr>
          <a:xfrm>
            <a:off x="456802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keys and bound retries.</a:t>
            </a:r>
            <a:endParaRPr lang="en-US" sz="1523" dirty="0"/>
          </a:p>
        </p:txBody>
      </p:sp>
      <p:sp>
        <p:nvSpPr>
          <p:cNvPr id="14" name="Shape 12"/>
          <p:cNvSpPr/>
          <p:nvPr/>
        </p:nvSpPr>
        <p:spPr>
          <a:xfrm>
            <a:off x="7921301" y="1630142"/>
            <a:ext cx="3323515" cy="1376531"/>
          </a:xfrm>
          <a:prstGeom prst="roundRect">
            <a:avLst>
              <a:gd name="adj" fmla="val 5314"/>
            </a:avLst>
          </a:prstGeom>
          <a:solidFill>
            <a:srgbClr val="FFF0E6"/>
          </a:solidFill>
          <a:ln w="15240">
            <a:solidFill>
              <a:srgbClr val="D55E00"/>
            </a:solidFill>
            <a:prstDash val="solid"/>
          </a:ln>
        </p:spPr>
      </p:sp>
      <p:sp>
        <p:nvSpPr>
          <p:cNvPr id="15" name="Text 13"/>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Measure speed</a:t>
            </a:r>
            <a:endParaRPr lang="en-US" sz="1758" dirty="0"/>
          </a:p>
        </p:txBody>
      </p:sp>
      <p:sp>
        <p:nvSpPr>
          <p:cNvPr id="16" name="Text 14"/>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First text, full wait and throughput</a:t>
            </a:r>
            <a:endParaRPr lang="en-US" sz="1523" dirty="0"/>
          </a:p>
        </p:txBody>
      </p:sp>
      <p:sp>
        <p:nvSpPr>
          <p:cNvPr id="17" name="Text 15"/>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answer different questions.</a:t>
            </a:r>
            <a:endParaRPr lang="en-US" sz="1523" dirty="0"/>
          </a:p>
        </p:txBody>
      </p:sp>
      <p:sp>
        <p:nvSpPr>
          <p:cNvPr id="18" name="Shape 16"/>
          <p:cNvSpPr/>
          <p:nvPr/>
        </p:nvSpPr>
        <p:spPr>
          <a:xfrm>
            <a:off x="946879" y="3170368"/>
            <a:ext cx="3323515" cy="1376531"/>
          </a:xfrm>
          <a:prstGeom prst="rect">
            <a:avLst/>
          </a:prstGeom>
          <a:solidFill>
            <a:srgbClr val="E5F7EF"/>
          </a:solidFill>
          <a:ln w="15240">
            <a:solidFill>
              <a:srgbClr val="009E73"/>
            </a:solidFill>
            <a:prstDash val="solid"/>
          </a:ln>
        </p:spPr>
      </p:sp>
      <p:sp>
        <p:nvSpPr>
          <p:cNvPr id="19" name="Text 17"/>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Compare efficiency</a:t>
            </a:r>
            <a:endParaRPr lang="en-US" sz="1758" dirty="0"/>
          </a:p>
        </p:txBody>
      </p:sp>
      <p:sp>
        <p:nvSpPr>
          <p:cNvPr id="20" name="Text 18"/>
          <p:cNvSpPr txBox="1"/>
          <p:nvPr/>
        </p:nvSpPr>
        <p:spPr>
          <a:xfrm>
            <a:off x="1080812"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Measure quality after rounding,</a:t>
            </a:r>
            <a:endParaRPr lang="en-US" sz="1523" dirty="0"/>
          </a:p>
        </p:txBody>
      </p:sp>
      <p:sp>
        <p:nvSpPr>
          <p:cNvPr id="21" name="Text 19"/>
          <p:cNvSpPr txBox="1"/>
          <p:nvPr/>
        </p:nvSpPr>
        <p:spPr>
          <a:xfrm>
            <a:off x="1080812"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batching and cache changes.</a:t>
            </a:r>
            <a:endParaRPr lang="en-US" sz="1523" dirty="0"/>
          </a:p>
        </p:txBody>
      </p:sp>
      <p:sp>
        <p:nvSpPr>
          <p:cNvPr id="22" name="Shape 20"/>
          <p:cNvSpPr/>
          <p:nvPr/>
        </p:nvSpPr>
        <p:spPr>
          <a:xfrm>
            <a:off x="4434090" y="3170368"/>
            <a:ext cx="3323515" cy="1376531"/>
          </a:xfrm>
          <a:prstGeom prst="rect">
            <a:avLst/>
          </a:prstGeom>
          <a:solidFill>
            <a:srgbClr val="F2F4F5"/>
          </a:solidFill>
          <a:ln w="15240">
            <a:solidFill>
              <a:srgbClr val="626B73"/>
            </a:solidFill>
            <a:prstDash val="solid"/>
          </a:ln>
        </p:spPr>
      </p:sp>
      <p:sp>
        <p:nvSpPr>
          <p:cNvPr id="23" name="Text 21"/>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Package and release</a:t>
            </a:r>
            <a:endParaRPr lang="en-US" sz="1758" dirty="0"/>
          </a:p>
        </p:txBody>
      </p:sp>
      <p:sp>
        <p:nvSpPr>
          <p:cNvPr id="24" name="Text 22"/>
          <p:cNvSpPr txBox="1"/>
          <p:nvPr/>
        </p:nvSpPr>
        <p:spPr>
          <a:xfrm>
            <a:off x="456802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Record tested versions; trial</a:t>
            </a:r>
            <a:endParaRPr lang="en-US" sz="1523" dirty="0"/>
          </a:p>
        </p:txBody>
      </p:sp>
      <p:sp>
        <p:nvSpPr>
          <p:cNvPr id="25" name="Text 23"/>
          <p:cNvSpPr txBox="1"/>
          <p:nvPr/>
        </p:nvSpPr>
        <p:spPr>
          <a:xfrm>
            <a:off x="456802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gradually and retain a rollback.</a:t>
            </a:r>
            <a:endParaRPr lang="en-US" sz="1523" dirty="0"/>
          </a:p>
        </p:txBody>
      </p:sp>
      <p:sp>
        <p:nvSpPr>
          <p:cNvPr id="26" name="Shape 24"/>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27" name="Text 25"/>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Monitor every route</a:t>
            </a:r>
            <a:endParaRPr lang="en-US" sz="1758" dirty="0"/>
          </a:p>
        </p:txBody>
      </p:sp>
      <p:sp>
        <p:nvSpPr>
          <p:cNvPr id="28" name="Text 26"/>
          <p:cNvSpPr txBox="1"/>
          <p:nvPr/>
        </p:nvSpPr>
        <p:spPr>
          <a:xfrm>
            <a:off x="805523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Track quality, cost, failures and</a:t>
            </a:r>
            <a:endParaRPr lang="en-US" sz="1523" dirty="0"/>
          </a:p>
        </p:txBody>
      </p:sp>
      <p:sp>
        <p:nvSpPr>
          <p:cNvPr id="29" name="Text 27"/>
          <p:cNvSpPr txBox="1"/>
          <p:nvPr/>
        </p:nvSpPr>
        <p:spPr>
          <a:xfrm>
            <a:off x="805523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checks on each entry point.</a:t>
            </a:r>
            <a:endParaRPr lang="en-US" sz="1523" dirty="0"/>
          </a:p>
        </p:txBody>
      </p:sp>
      <p:sp>
        <p:nvSpPr>
          <p:cNvPr id="30" name="Text 28"/>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1" name="Text 29"/>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500 students → expected requests → token/GPU cost → load test → checked interface → monitoring.</a:t>
            </a:r>
            <a:endParaRPr lang="en-US" sz="1582" dirty="0"/>
          </a:p>
        </p:txBody>
      </p:sp>
      <p:sp>
        <p:nvSpPr>
          <p:cNvPr id="32" name="Text 30"/>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12 we add retrieved evidence and controlled tool use.</a:t>
            </a:r>
            <a:endParaRPr lang="en-US" sz="1523" dirty="0"/>
          </a:p>
        </p:txBody>
      </p:sp>
      <p:sp>
        <p:nvSpPr>
          <p:cNvPr id="33" name="Text 31"/>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Batching doubles throughput. Must each student receive an answer sooner?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11: Deployment and Frameworks</dc:title>
  <dc:subject>Generative AI (MSc in Artificial Intelligence)</dc:subject>
  <dc:creator>Generative AI module team</dc:creator>
  <cp:lastModifiedBy>Generative AI module team</cp:lastModifiedBy>
  <cp:revision>1</cp:revision>
  <dcterms:created xsi:type="dcterms:W3CDTF">2026-10-10T07:35:21Z</dcterms:created>
  <dcterms:modified xsi:type="dcterms:W3CDTF">2026-10-10T07:35:21Z</dcterms:modified>
</cp:coreProperties>
</file>