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week 8, fine-tuning and domain adaptation. Last week we adapted models by changing the input. This week we change the model itself. We will cover the three kinds of fine-tuning in modern practice: supervised fine-tuning and instruction tuning, which teach a model what good outputs look like; preference alignment, which turned base models into assistants like ChatGPT and today trains reasoning models; and parameter-efficient methods such as LoRA, which make fine-tuning affordable on a single free GPU. In the lab students fine-tune a real model and measure whether it beats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outcomes. The first is the decision: when is fine-tuning the right tool at all? The second and third cover the three families of fine-tuning named in the descriptor: supervised and instruction tuning, and reinforcement learning from human feedback, extended with direct preference optimisation and the reinforcement learning with verifiable rewards used for reasoning models. The fourth is parameter-efficient tuning: LoRA, QLoRA, adapters and prompt tuning, plus distillation. The fifth and sixth are practical: fine-tune for a domain and evaluate honestly. This week is the core of MIMLO 3, design, implement and fine-tune with parameter-efficient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follows the descriptor's week 8: fine-tuning approaches, supervised fine-tuning and RLHF; parameter-efficient tuning with LoRA, adapters and prompt tuning; instruction tuning; domain-specific fine-tuning; evaluation and benchmarks. Section three has the most mathematics, the reward model and DPO losses; take the break after it. Section five shows real results from the lab notebook, run in advance, comparing the base model with prompting against the LoRA-tuned model on a banking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these terms before the main theory. Model weight: A learned number used by a neural network to transform its input. Ask: Do ordinary prompt-only calls update stored model weights? Train / validation / test: Separate examples for learning, choosing settings and final measurement. Ask: Which split must not be used to train the adapter? Matrix projection: Multiplying a vector by learned weights to produce another vector. Ask: If a projection maps 8 numbers to 4 numbers, what is its output length? Let students explain one example aloud, then connect their example to the next flow diagram. Use the numbered blocks to name the inputs and outputs before introducing 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three minutes. A good answer: brand voice, a) can often be achieved with a good system prompt and examples, and if that is not consistent enough, fine-tuning on examples of the voice. This week's interest rates, b), change often, so they belong in retrieval or a tool, not in model weights. Routing at high volume, c), is an ideal fine-tuning case: a stable task where a small fine-tuned model can be accurate, fast and cheap. The general lesson: knowledge that changes goes into retrieval; behaviour goes into prompts or weights; cost at scale favours small fine-tuned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is about the decision, which is where many real projects go wrong: teams fine-tune to add facts, which retrieval does better, or without an evaluation set, so they cannot tell whether it helped. We compare the three approaches, give a decision process, and list good and bad reasons to fine-tune. About thirteen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Fine-tuning changes learned parameters, whereas prompting changes the current input. This lab adapts a pretrained language model to emit banking intent labels. The training examples teach the task; validation examples help monitor learning; test examples provide the final comparison. The lab also measures a few-shot baseline so that training must improve on a useful prompting approach. Supervised fine-tuning means learning from known prompt/response pairs. LoRA describes which parameters change: small adapter matrices learn while the base weights remain frozen. These are different choices and can be combined. The trainer measures loss on completion tokens, rather than asking the model to reproduce the prompt. After training, the same parser and test messages are used for comparison. Reduced training loss alone cannot establish better routing accuracy, and the original customer labels can contain ambiguity.
Worked example:
A message about a missing card has a reference banking-intent label.
The unmodified model is evaluated with no examples and with one example per intent.
Training pairs put the customer message in the prompt and the intent in the completion.
Only the LoRA adapter parameters learn from the training examples.
The tuned model uses the original zero-shot format on the same held-out test messages.
Check: Why compare the tuned model with the few-shot baseline as well as the zero-shot baseline?
Answer: Few-shot prompting is a stronger alternative that needs no training; the adapter's improvement should justify its extra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rows. Prompting changes the input and solves task specification. Retrieval also changes the input, adding documents, and solves missing or changing knowledge with traceable citations, which is why it is the right answer for this week's interest rates. Fine-tuning changes weights and is best for consistent behaviour, style and format, and specialised skills such as a classification task with many fine distinctions. It needs labelled data and a re-training cycle whenever things change, and knowledge in weights cannot be cited or easily corrected. Microsoft's guidance on customising LLMs, linked in the resources, makes the same distinctions.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flowchart turns the table into a process. Start with a good prompt and an evaluation set from week 7. If quality is sufficient, ship and monitor. If not, diagnose: if errors come from missing or outdated knowledge, add retrieval; if they come from behaviour, format, style or a specialised skill that examples in the prompt cannot teach, or if you need a smaller, cheaper model to reach the same quality, fine-tune. In practice the approaches combine: a fine-tuned model that follows your format well can still use retrieval for facts. The key requirement at every step is the evaluation set; without it you cannot tell whether a change helped.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both columns. Among good reasons, cost is often the decisive one: a small model fine-tuned on a narrow task can match a large general model at a fraction of the price and latency, which is exactly the lab scenario. Among bad reasons, the most common misconception is that fine-tuning is the way to teach a model new facts; research shows that fine-tuning on new factual knowledge is slow and can even increase hallucination, while retrieval handles facts transparently. Always check the licence: some models and API terms restrict fine-tuning or the use of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covers supervised fine-tuning, the workhorse of adaptation, and instruction tuning, the step that turns a base model into an assistant. We look at the loss, chat templates and, most importantly, data preparation, where most of the quality comes from. Keep asking students what the model sees during training. About twenty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Clarify terms, because they are used loosely. Full fine-tuning means updating every parameter, which gives maximum flexibility but needs the most memory, as we calculate later, and produces a complete copy of the model for each task. Supervised fine-tuning describes the training signal: pairs of inputs and desired outputs, trained with the same next-token loss as pre-training. SFT can be done with full fine-tuning or with parameter-efficient methods. In practice, the loss is computed only on the output tokens, so the model learns to produce answers rather than to reproduce the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SFT loss is the negative log-likelihood of the response tokens given the prompt and the earlier response tokens, which is exactly maximum likelihood from week 1, but on curated pairs instead of raw web text. The prompt tokens are fed to the model but excluded from the loss by masking their labels, so the model is not trained to generate questions. In the TRL library used in the lab, providing the data as prompt and completion pairs does this masking automatically. Ask students: why would training on the prompt tokens be harmful? It wastes capacity learning to predict user text and can make the model continue questions rather than answer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 tuning is SFT on a broad mixture of tasks written as instructions, such as summarise this, translate that, answer this question. Google's FLAN work in 2021 showed that this makes models better at following instructions for tasks they never saw; OpenAI's InstructGPT used it as the first stage of post-training. Chat models also learn a chat template: special tokens that mark system, user and assistant turns. Mismatched templates between training and inference are a common bug. The LIMA paper showed that a thousand high-quality examples can be enough for good assistant behaviour, supporting the idea that post-training mainly shapes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what the model actually sees. The apply chat template method turns a list of messages into a single string with the model's special tokens; this example is the format used by the Qwen family. Other families use different tokens. During fine-tuning the training data must be formatted with the same template the model will see at inference, which libraries such as TRL do automatically when the data are given as messages. If you format data by hand with the wrong tokens, the fine-tuned model will behave strangely. Students print their own template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that data preparation determines most of the outcome. Label quality matters more than quantity: a few hundred clean examples usually beat thousands of noisy ones. The data must reflect the real distribution of inputs, including awkward phrasings and edge cases. Splits must be clean: near-duplicate messages in both training and test sets inflate the measured accuracy, which is data leakage. Personal data must be removed, because fine-tuned models can memorise it. And the process should be documented in a datasheet, a companion to the model card from week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covers the second stage of post-training. SFT teaches from examples of good answers, but for many tasks it is easier for people to compare two answers than to write the ideal one. Preference alignment learns from such comparisons. We cover reinforcement learning from human feedback as used for InstructGPT, direct preference optimisation which simplified it, AI feedback, and reinforcement learning with verifiable rewards, which produces today's reasoning models. About twenty-five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RLHF pipeline from Ouyang and colleagues' InstructGPT paper, the method behind the first ChatGPT. Step one is supervised fine-tuning on demonstrations. Step two collects comparisons: people see several model answers to the same prompt and rank them. Step three trains a reward model, usually a copy of the language model with a scalar output, to predict those preferences. Step four uses reinforcement learning, specifically proximal policy optimisation, to adjust the language model to produce answers with high reward, while a penalty keeps it close to the SFT model. A striking result: people preferred the outputs of a 1.3-billion-parameter InstructGPT model over those of the 175-billion-parameter GPT-3.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equations. The reward model loss says the reward difference between the preferred and rejected answers, passed through a sigmoid, should approach one: the probability that the preferred answer wins. This is the Bradley-Terry model of pairwise comparisons. The RL objective maximises expected reward minus a KL divergence to the reference model, the same KL as in week 2. Without the penalty, the policy finds ways to exploit flaws in the reward model, producing strange text that scores highly, which is called reward hacking. RLHF works but is complex: four models in memory and an unstable RL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Rafailov and colleagues showed in 2023 that the RLHF objective has a closed-form optimal policy, which lets you skip the reward model and the reinforcement learning. The resulting DPO loss looks like the reward model loss, but the reward is implicitly defined by the log-ratio of the trained model's probabilities to the reference model's. In words: make preferred answers relatively more likely and rejected answers relatively less likely, without drifting too far from the reference. DPO is much simpler and more stable than PPO-based RLHF and is available in TRL; the lab includes an optional snippet.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landscape. RLHF with PPO is the original, most flexible and most complex. DPO and its many variants are the practical default for preference tuning of open models. The newest branch is reinforcement learning with verifiable rewards: for maths problems or code, correctness can be checked automatically, so no human preferences or learned reward model are needed. DeepSeek's group relative policy optimisation, GRPO, samples several answers per problem and rewards those better than the group average. DeepSeek-R1 showed that long step-by-step reasoning emerges from this training, which is how the reasoning models of week 6 are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Human preference data is expensive, so AI feedback is now common: in Constitutional AI, a model critiques and revises answers according to a written set of principles and generates preference labels, with humans writing the principles rather than labelling every example. Preference training has characteristic failures. Reward hacking exploits imperfections in the reward, for example making answers longer because raters tended to prefer detail. Sycophancy, agreeing with the user, is partly a product of preference training. And the question of whose preferences and values are encoded is a real ethical issue, linking to the responsible-AI lens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 DPO still needs preference pairs, so A is wrong, but it turns alignment into a direct supervised-style loss, removing the reward model and the unstable reinforcement learning loop. C overstates: results depend on data and settings, and PPO can still outperform in some studies. D is simply wrong. Follow-up question: when would you use reinforcement learning with verifiable rewards instead? When correctness can be checked automatically, such as maths answers or code with unit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Section four is about making fine-tuning affordable. Updating every weight of a multi-billion-parameter model needs data-centre hardware. Parameter-efficient methods freeze the original weights and train a tiny number of new parameters. We focus on LoRA, which students use in the lab, and QLoRA, then compare other methods, estimate memory, and cover knowledge distillation.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LoRA adds a learned correction to selected weight matrices. If a base projection maps k input features to d output features, its matrix W contains d times k weights. The adapter first projects the same input through A into r features, then through B back into d features. The small number r is the rank and controls the size of the correction. The forward result is the original W x plus the scaled B(Ax) contribution; these are parallel paths. The trainable count is r times the sum of d and k, rather than d times k. Backpropagation uses the completion loss to adjust A and B while W is frozen. Freezing W preserves the original base parameters, but the active adapter can still change general-answer behaviour. Disabling the adapter restores the base path.
Worked example:
For an illustrative 8-input, 8-output projection, the frozen W has 64 entries.
Rank r=2 uses A with shape [2, 8] and B with shape [8, 2]: 32 trainable entries total.
W x and B(Ax) are parallel contributions; the adapter is not a layer after W.
Their summed output feeds the remaining network and its completion-token loss.
The optimizer updates A and B, while W keeps its pretrained values.
Check: Does the adapter take W x as its input, or does it use the same x as the base projection?
Answer: It uses the same x. The base and adapter paths run in parallel and their outputs are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Low-rank adaptation, LoRA, by Hu and colleagues in 2021, rests on the observation that the change needed to adapt a large model to a task has low intrinsic rank. Instead of learning a full update to a weight matrix W, we learn two thin matrices, B and A, whose product is the update. Only A and B are trained; W stays frozen. B is initialised to zero, so at the start the model is exactly the pretrained model. For a four-thousand by four-thousand matrix with rank sixteen, the adapter has about 131 thousand weights instead of 16.8 million, under one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worked example on the board: rank sixteen times the sum of the two dimensions gives 131,072 trainable parameters, compared with nearly 16.8 million in the frozen matrix. The hyperparameters students set in the lab are the rank, the scaling alpha, often twice the rank, dropout, and the target modules, the layers that receive adapters, commonly the attention projections and sometimes the MLP layers. Two deployment options follow. You can merge the product BA into W after training, so inference costs nothing extra, or keep the adapter separate, a few megabytes, and swap adapters per task on one shared base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come from the lab model, Qwen 2.5 with half a billion parameters, with rank-sixteen adapters on the four attention projections. The bar chart uses a log scale because the difference is several orders of magnitude. The memory saving comes mainly from the optimizer: Adam stores two extra numbers per trainable parameter, so training only adapters removes most of that memory. The LoRA paper reported ten thousand times fewer trainable parameters and three times less GPU memory for GPT-3, with quality comparable to full fine-tuning on the tasks they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QLoRA combines LoRA with quantisation. The frozen base weights are stored in four bits using a data type called NormalFloat, designed for normally distributed weights, and are de-quantised on the fly during the forward pass, while the adapters are trained in sixteen-bit precision. Double quantisation also compresses the quantisation constants, and paged optimizers handle memory spikes. The QLoRA paper fine-tuned a sixty-five-billion-parameter model on a single forty-eight-gigabyte GPU. For students this means that seven- or eight-billion-parameter models can be fine-tuned on a free Colab T4 GPU; the lab includes an optional QLoRA snippet.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descriptor names LoRA, adapters and prompt tuning. Adapters, from Houlsby and colleagues in 2019, insert small bottleneck networks into each transformer block; they are modular but add a little inference latency because they cannot be merged. Prompt tuning and prefix tuning learn continuous vectors that are prepended to the input or to every layer's keys and values, like a learned prompt in embedding space; they are extremely small but work best on large models. LoRA has become the default because it combines quality, mergeability and simplicity; all are implemented in Hugging Face's PEFT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order-of-magnitude estimates students can reproduce. Sixteen-bit weights need two bytes per parameter, so about fifteen gigabytes for a seven-to-eight-billion-parameter model. Full fine-tuning with Adam in mixed precision needs roughly sixteen bytes per parameter in total for weights, gradients, master weights and optimizer states, well over a hundred gigabytes. LoRA keeps the base frozen, so gradients and optimizer states exist only for the tiny adapters. QLoRA shrinks the base to about half a byte per parameter. Activations add memory depending on sequence length and batch size, so always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Distillation, from Hinton and colleagues in 2015, trains a small student model to reproduce a large teacher's behaviour, either by matching its full output distributions, which carry more information than hard labels, or, for LLMs, by fine-tuning on answers generated by the teacher, sometimes called synthetic data. It is a key reason small models improved so fast. DeepSeek released versions of R1 distilled into small Qwen and Llama models. Two cautions: distillation inherits the teacher's errors and biases, and many commercial API terms prohibit using outputs to develop competing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section puts everything together for a domain-specific task: a workflow, the common pitfalls, real results from the lab notebook run on a banking customer-support task, evaluation and benchmarks, examples of domain models, and the responsible-AI issues specific to fine-tuning. The real results from the lab anchor the whole section, so leave time for questions on them. About twenty-five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workflow is what the project expects when a group fine-tunes. Create the held-out test set first and never train on it. Prepare and format data carefully. Establish the best prompting baseline on the same test set, because fine-tuning is only justified if it beats that baseline by a meaningful margin. Train with LoRA using conservative settings and watch the validation loss. Evaluate the task metric, check that general abilities have not collapsed, and compare cost and latency. Then decide whether to iterate, deploy or go back to prompting and retrieval.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pitfall is common in student projects. Overfitting is visible when validation loss rises while training loss falls. Catastrophic forgetting means the model loses abilities it had before; we demonstrate it in the lab by asking the banking model a general-knowledge question, and show that switching off the LoRA adapter restores the base behaviour. Data leakage is the most damaging because it produces impressive but false results. Chat-template mismatch produces odd outputs. Learning rates that are fine for LoRA can destroy a model in full fine-tuning. And evaluation must use the held-out set, not examples or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results from the lab notebook, run in advance on the lecture machine. The task is routing real banking customer messages to ten intents from the public Banking77 dataset. With a zero-shot prompt the base model gets about half the messages right and sometimes answers with no valid label. Ten examples in the prompt, one per intent, lift it to the mid-eighties: few-shot prompting is a strong, cheap baseline, and it is the bar fine-tuning has to beat. LoRA fine-tuning on about a thousand examples reaches the high nineties with no invalid outputs. With two hundred test messages the margin of error is about five points at eighty-five per cent, so the gain is real. Ask the class whether twelve points are worth it: for a high-volume routing system, yes, because every call also drops ten examples from the prompt, which makes it cheaper and faster. That is the situation where fine-tuning is justified: a stable task, subtle categories, plenty of examples and a need for cheap, fast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training curve from the same run. The loss, computed only on the answer tokens, falls within the first few dozen steps as the model learns the output format, and then more slowly as it learns the decision boundaries. The validation loss tracks it without rising, so one epoch did not overfit. The size comparison makes the practical point: the saved adapter is a few megabytes, so many adapters can be stored and swapped on one base model, and rolling back a bad fine-tune means removing a small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after fine-tuning must go beyond the task metric. Compare with the prompting baseline on the same test set, with margins of error from week 7. Check that general capabilities have not regressed. Re-run safety tests, because fine-tuning can weaken safety behaviour, as the next slides show. Test robustness to paraphrases and to data from a different period. Measure cost and latency, since they are often the reason for fine-tuning. For high-stakes domains, add expert review. Benchmarks are useful for the general-ability check, but the held-out domain test set is what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descriptor mentions domain-specific fine-tuning, and the business module mentions domain models such as BloombergGPT. BloombergGPT, released in 2023, was a fifty-billion-parameter model trained on a mix of financial and general data and did well on financial tasks at the time. Since then, strong general models combined with retrieval have often matched or exceeded such domain-specific models, so the common practice today is to adapt a general model for format, cost and specialised skills rather than train from scratch. Domain data, in health, finance or law, is typically sensitive, so governance and privacy requirements shape what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Fine-tuning creates a new model with new responsibilities. Qi and colleagues showed in 2023 that fine-tuning safety-aligned models, even on harmless-looking data, can substantially weaken their refusal behaviour, so safety evaluation must be repeated after fine-tuning. Models memorise training examples, which matters for personal data. Biased labels produce biased decisions, so evaluate performance across relevant groups. Licences and API terms may restrict fine-tuning or the use of outputs. And documentation, a model card for the adapter describing data, evaluation and limitations, is both good practice and increasingly a regulatory expectation.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connects data preparation, training and evaluation. INTENTS filters the source dataset to ten routing categories. to_chat creates conversational prompt/completion pairs, while evaluate records raw outputs, parsed labels and correctness. normalise is deliberately lenient: a label wrapped in explanatory text can still count as recognised, so the invalid rate is defined by this parser rather than by strict label-only output. The trainer records loss history for learning-curve inspection. After training, comparison uses the same test examples for both baselines and the tuned model, and the error table reveals which categories were confused. The adapter-off question is one illustrative check of specialisation, rather than a broad general-capability benchmark. Finally, the saved adapter's disk size is compared with the base parameters' in-memory byte count, so the size figures have slightly different definitions.
Worked example:
Check that the train and validation data come from the training split, while test messages remain separate.
Inspect one to_chat pair before running the trainer.
Watch validation loss alongside training loss rather than choosing by training loss alone.
A recognised wrong intent is a decision error; no recognised intent is a parser/format failure.
Ask a general question with the adapter on and off, then save the small adapter artifact.
Check: What two different failures should you distinguish in the test output table?
Answer: A recognised but incorrect intent is a decision error; an output with no recognised intent is an invalid/parser-format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implements the descriptor's tutorial exactly: fine-tune a pre-trained LLM for a domain-specific task, apply parameter-efficient fine-tuning with LoRA and optionally QLoRA, and compare base with fine-tuned performance. The domain is banking customer support, using the public Banking77 dataset under a CC-BY licence. Students must use the held-out test set for all comparisons and interpret the differences with the statistics from week 7. The optional extensions cover QLoRA on a larger model and DPO preference 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eight points. Students should be able to explain when to fine-tune, write the SFT and DPO losses, compute LoRA parameter counts, and describe an honest evaluation. Next week we open the multimodal half of the module: how models connect text with images, audio and video, starting with representation learning and contrastive models such as CLIP, which students met briefly in the diffusion lab's CLIP score. The fine-tuning skills from today apply directly to multimodal models in week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Hugging Face LLM Course chapter on supervised fine-tuning follows the same TRL and PEFT workflow as the lab. The PEFT and TRL documentation are the references for the code. The Illustrating RLHF blog post explains the pipeline clearly. Google's crash course covers fine-tuning and distillation concisely. The LoRA, DPO and InstructGPT papers are the key primary sources; the QLoRA and DeepSeek-R1 papers are in the teaching notes. Tunstall and colleagues' book, from the descriptor list, covers classic fine-tuning of transformers. All links were checked in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slideLayout" Target="../slideLayouts/slideLayout1.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image" Target="../media/image-43-7.png"/><Relationship Id="rId8" Type="http://schemas.openxmlformats.org/officeDocument/2006/relationships/image" Target="../media/image-43-8.png"/><Relationship Id="rId9" Type="http://schemas.openxmlformats.org/officeDocument/2006/relationships/slideLayout" Target="../slideLayouts/slideLayout1.xml"/><Relationship Id="rId10"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huggingface.co/learn/llm-course/chapter11/1" TargetMode="External"/><Relationship Id="rId4" Type="http://schemas.openxmlformats.org/officeDocument/2006/relationships/hyperlink" Target="https://huggingface.co/docs/peft/index" TargetMode="External"/><Relationship Id="rId6" Type="http://schemas.openxmlformats.org/officeDocument/2006/relationships/hyperlink" Target="https://huggingface.co/docs/trl/index" TargetMode="External"/><Relationship Id="rId8" Type="http://schemas.openxmlformats.org/officeDocument/2006/relationships/hyperlink" Target="https://huggingface.co/blog/rlhf" TargetMode="External"/><Relationship Id="rId10" Type="http://schemas.openxmlformats.org/officeDocument/2006/relationships/hyperlink" Target="https://developers.google.com/machine-learning/crash-course/llm" TargetMode="External"/><Relationship Id="rId12" Type="http://schemas.openxmlformats.org/officeDocument/2006/relationships/hyperlink" Target="https://arxiv.org/abs/2106.09685" TargetMode="External"/><Relationship Id="rId14" Type="http://schemas.openxmlformats.org/officeDocument/2006/relationships/hyperlink" Target="https://arxiv.org/abs/2305.18290" TargetMode="External"/><Relationship Id="rId16" Type="http://schemas.openxmlformats.org/officeDocument/2006/relationships/hyperlink" Target="https://arxiv.org/abs/2203.02155" TargetMode="External"/><Relationship Id="rId1" Type="http://schemas.openxmlformats.org/officeDocument/2006/relationships/image" Target="../media/image-44-1.png"/><Relationship Id="rId3" Type="http://schemas.openxmlformats.org/officeDocument/2006/relationships/image" Target="../media/image-44-2.png"/><Relationship Id="rId5" Type="http://schemas.openxmlformats.org/officeDocument/2006/relationships/image" Target="../media/image-44-3.png"/><Relationship Id="rId7" Type="http://schemas.openxmlformats.org/officeDocument/2006/relationships/image" Target="../media/image-44-4.png"/><Relationship Id="rId9" Type="http://schemas.openxmlformats.org/officeDocument/2006/relationships/image" Target="../media/image-44-5.png"/><Relationship Id="rId11" Type="http://schemas.openxmlformats.org/officeDocument/2006/relationships/image" Target="../media/image-44-6.png"/><Relationship Id="rId13" Type="http://schemas.openxmlformats.org/officeDocument/2006/relationships/image" Target="../media/image-44-7.png"/><Relationship Id="rId15" Type="http://schemas.openxmlformats.org/officeDocument/2006/relationships/image" Target="../media/image-44-8.png"/><Relationship Id="rId17" Type="http://schemas.openxmlformats.org/officeDocument/2006/relationships/slideLayout" Target="../slideLayouts/slideLayout1.xml"/><Relationship Id="rId18"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731520" y="1051560"/>
            <a:ext cx="1737360" cy="457200"/>
          </a:xfrm>
          <a:prstGeom prst="roundRect">
            <a:avLst>
              <a:gd name="adj" fmla="val 20000"/>
            </a:avLst>
          </a:prstGeom>
          <a:solidFill>
            <a:srgbClr val="EA580C"/>
          </a:solidFill>
          <a:ln w="12700">
            <a:solidFill>
              <a:srgbClr val="EA580C"/>
            </a:solidFill>
            <a:prstDash val="solid"/>
          </a:ln>
        </p:spPr>
      </p:sp>
      <p:sp>
        <p:nvSpPr>
          <p:cNvPr id="3" name="Text 1"/>
          <p:cNvSpPr txBox="1"/>
          <p:nvPr/>
        </p:nvSpPr>
        <p:spPr>
          <a:xfrm>
            <a:off x="731520" y="1051560"/>
            <a:ext cx="1737360" cy="457200"/>
          </a:xfrm>
          <a:prstGeom prst="rect">
            <a:avLst/>
          </a:prstGeom>
          <a:noFill/>
          <a:ln/>
        </p:spPr>
        <p:txBody>
          <a:bodyPr wrap="square" lIns="0" tIns="0" rIns="0" bIns="0" rtlCol="0" anchor="ctr"/>
          <a:lstStyle/>
          <a:p>
            <a:pPr algn="ctr" indent="0" marL="0">
              <a:buNone/>
            </a:pPr>
            <a:r>
              <a:rPr lang="en-US" sz="1600" b="1" spc="200" kern="0" dirty="0">
                <a:solidFill>
                  <a:srgbClr val="FFFFFF"/>
                </a:solidFill>
                <a:latin typeface="Calibri" pitchFamily="34" charset="0"/>
                <a:ea typeface="Calibri" pitchFamily="34" charset="-122"/>
                <a:cs typeface="Calibri" pitchFamily="34" charset="-120"/>
              </a:rPr>
              <a:t>WEEK 08</a:t>
            </a:r>
            <a:endParaRPr lang="en-US" sz="1600" dirty="0"/>
          </a:p>
        </p:txBody>
      </p:sp>
      <p:sp>
        <p:nvSpPr>
          <p:cNvPr id="4" name="Text 2"/>
          <p:cNvSpPr txBox="1"/>
          <p:nvPr/>
        </p:nvSpPr>
        <p:spPr>
          <a:xfrm>
            <a:off x="731520" y="1737360"/>
            <a:ext cx="6766560" cy="2103120"/>
          </a:xfrm>
          <a:prstGeom prst="rect">
            <a:avLst/>
          </a:prstGeom>
          <a:noFill/>
          <a:ln/>
        </p:spPr>
        <p:txBody>
          <a:bodyPr wrap="square" lIns="0" tIns="0" rIns="0" bIns="0" rtlCol="0" anchor="b"/>
          <a:lstStyle/>
          <a:p>
            <a:pPr indent="0" marL="0">
              <a:lnSpc>
                <a:spcPct val="95000"/>
              </a:lnSpc>
              <a:buNone/>
            </a:pPr>
            <a:r>
              <a:rPr lang="en-US" sz="4600" b="1" dirty="0">
                <a:solidFill>
                  <a:srgbClr val="FFFFFF"/>
                </a:solidFill>
                <a:latin typeface="Calibri" pitchFamily="34" charset="0"/>
                <a:ea typeface="Calibri" pitchFamily="34" charset="-122"/>
                <a:cs typeface="Calibri" pitchFamily="34" charset="-120"/>
              </a:rPr>
              <a:t>Fine-Tuning and Domain Adaptation</a:t>
            </a:r>
            <a:endParaRPr lang="en-US" sz="4600" dirty="0"/>
          </a:p>
        </p:txBody>
      </p:sp>
      <p:sp>
        <p:nvSpPr>
          <p:cNvPr id="5" name="Text 3"/>
          <p:cNvSpPr txBox="1"/>
          <p:nvPr/>
        </p:nvSpPr>
        <p:spPr>
          <a:xfrm>
            <a:off x="731520" y="3977640"/>
            <a:ext cx="6766560" cy="1097280"/>
          </a:xfrm>
          <a:prstGeom prst="rect">
            <a:avLst/>
          </a:prstGeom>
          <a:noFill/>
          <a:ln/>
        </p:spPr>
        <p:txBody>
          <a:bodyPr wrap="square" lIns="0" tIns="0" rIns="0" bIns="0" rtlCol="0" anchor="t"/>
          <a:lstStyle/>
          <a:p>
            <a:pPr indent="0" marL="0">
              <a:buNone/>
            </a:pPr>
            <a:r>
              <a:rPr lang="en-US" sz="2000" dirty="0">
                <a:solidFill>
                  <a:srgbClr val="C7D2FE"/>
                </a:solidFill>
                <a:latin typeface="Calibri" pitchFamily="34" charset="0"/>
                <a:ea typeface="Calibri" pitchFamily="34" charset="-122"/>
                <a:cs typeface="Calibri" pitchFamily="34" charset="-120"/>
              </a:rPr>
              <a:t>Adapting pretrained models to your task: supervised and instruction tuning, preference alignment, and parameter-efficient methods such as LoRA</a:t>
            </a:r>
            <a:endParaRPr lang="en-US" sz="2000" dirty="0"/>
          </a:p>
        </p:txBody>
      </p:sp>
      <p:sp>
        <p:nvSpPr>
          <p:cNvPr id="6" name="Text 4"/>
          <p:cNvSpPr txBox="1"/>
          <p:nvPr/>
        </p:nvSpPr>
        <p:spPr>
          <a:xfrm>
            <a:off x="731520" y="5897880"/>
            <a:ext cx="8229600" cy="365760"/>
          </a:xfrm>
          <a:prstGeom prst="rect">
            <a:avLst/>
          </a:prstGeom>
          <a:noFill/>
          <a:ln/>
        </p:spPr>
        <p:txBody>
          <a:bodyPr wrap="square" lIns="0" tIns="0" rIns="0" bIns="0" rtlCol="0" anchor="t"/>
          <a:lstStyle/>
          <a:p>
            <a:pPr indent="0" marL="0">
              <a:buNone/>
            </a:pPr>
            <a:r>
              <a:rPr lang="en-US" sz="1300" dirty="0">
                <a:solidFill>
                  <a:srgbClr val="C7D2FE"/>
                </a:solidFill>
                <a:latin typeface="Calibri" pitchFamily="34" charset="0"/>
                <a:ea typeface="Calibri" pitchFamily="34" charset="-122"/>
                <a:cs typeface="Calibri" pitchFamily="34" charset="-120"/>
              </a:rPr>
              <a:t>MSc in Artificial Intelligence  ·  Generative AI  ·  2-hour lecture</a:t>
            </a:r>
            <a:endParaRPr lang="en-US" sz="1300" dirty="0"/>
          </a:p>
        </p:txBody>
      </p:sp>
      <p:pic>
        <p:nvPicPr>
          <p:cNvPr id="7" name="Image 0" descr="C:\Users\sudee\Downloads\Generative_AI_2027_Teaching_Pack\AI2027_Project\build\figures\week_08\cover.png">    </p:cNvPr>
          <p:cNvPicPr>
            <a:picLocks noChangeAspect="1"/>
          </p:cNvPicPr>
          <p:nvPr/>
        </p:nvPicPr>
        <p:blipFill>
          <a:blip r:embed="rId1"/>
          <a:stretch>
            <a:fillRect/>
          </a:stretch>
        </p:blipFill>
        <p:spPr>
          <a:xfrm>
            <a:off x="7818120" y="1520258"/>
            <a:ext cx="3840480" cy="381748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By the end of this week you can…</a:t>
            </a:r>
            <a:endParaRPr lang="en-US" sz="3200" dirty="0"/>
          </a:p>
        </p:txBody>
      </p:sp>
      <p:sp>
        <p:nvSpPr>
          <p:cNvPr id="6" name="Shape 4"/>
          <p:cNvSpPr/>
          <p:nvPr/>
        </p:nvSpPr>
        <p:spPr>
          <a:xfrm>
            <a:off x="548640" y="1545336"/>
            <a:ext cx="411480" cy="411480"/>
          </a:xfrm>
          <a:prstGeom prst="ellipse">
            <a:avLst/>
          </a:prstGeom>
          <a:solidFill>
            <a:srgbClr val="4F46E5"/>
          </a:solidFill>
          <a:ln w="12700">
            <a:solidFill>
              <a:srgbClr val="4F46E5"/>
            </a:solidFill>
            <a:prstDash val="solid"/>
          </a:ln>
        </p:spPr>
      </p:sp>
      <p:sp>
        <p:nvSpPr>
          <p:cNvPr id="7" name="Text 5"/>
          <p:cNvSpPr txBox="1"/>
          <p:nvPr/>
        </p:nvSpPr>
        <p:spPr>
          <a:xfrm>
            <a:off x="548640" y="15453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527048"/>
            <a:ext cx="6903720" cy="79705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Decide when to use </a:t>
            </a:r>
            <a:pPr indent="0" marL="0">
              <a:buNone/>
            </a:pPr>
            <a:r>
              <a:rPr lang="en-US" sz="1600" b="1" dirty="0">
                <a:solidFill>
                  <a:srgbClr val="1F2937"/>
                </a:solidFill>
                <a:latin typeface="Calibri" pitchFamily="34" charset="0"/>
                <a:ea typeface="Calibri" pitchFamily="34" charset="-122"/>
                <a:cs typeface="Calibri" pitchFamily="34" charset="-120"/>
              </a:rPr>
              <a:t>prompting, retrieval or fine-tuning</a:t>
            </a:r>
            <a:pPr indent="0" marL="0">
              <a:buNone/>
            </a:pPr>
            <a:r>
              <a:rPr lang="en-US" sz="1600" dirty="0">
                <a:solidFill>
                  <a:srgbClr val="1F2937"/>
                </a:solidFill>
                <a:latin typeface="Calibri" pitchFamily="34" charset="0"/>
                <a:ea typeface="Calibri" pitchFamily="34" charset="-122"/>
                <a:cs typeface="Calibri" pitchFamily="34" charset="-120"/>
              </a:rPr>
              <a:t>, and justify the choice with evaluation evidence.</a:t>
            </a:r>
            <a:endParaRPr lang="en-US" sz="1600" dirty="0"/>
          </a:p>
        </p:txBody>
      </p:sp>
      <p:sp>
        <p:nvSpPr>
          <p:cNvPr id="9" name="Shape 7"/>
          <p:cNvSpPr/>
          <p:nvPr/>
        </p:nvSpPr>
        <p:spPr>
          <a:xfrm>
            <a:off x="548640" y="2342388"/>
            <a:ext cx="411480" cy="411480"/>
          </a:xfrm>
          <a:prstGeom prst="ellipse">
            <a:avLst/>
          </a:prstGeom>
          <a:solidFill>
            <a:srgbClr val="4F46E5"/>
          </a:solidFill>
          <a:ln w="12700">
            <a:solidFill>
              <a:srgbClr val="4F46E5"/>
            </a:solidFill>
            <a:prstDash val="solid"/>
          </a:ln>
        </p:spPr>
      </p:sp>
      <p:sp>
        <p:nvSpPr>
          <p:cNvPr id="10" name="Text 8"/>
          <p:cNvSpPr txBox="1"/>
          <p:nvPr/>
        </p:nvSpPr>
        <p:spPr>
          <a:xfrm>
            <a:off x="548640" y="234238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324100"/>
            <a:ext cx="6903720" cy="79705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Explain </a:t>
            </a:r>
            <a:pPr indent="0" marL="0">
              <a:buNone/>
            </a:pPr>
            <a:r>
              <a:rPr lang="en-US" sz="1600" b="1" dirty="0">
                <a:solidFill>
                  <a:srgbClr val="1F2937"/>
                </a:solidFill>
                <a:latin typeface="Calibri" pitchFamily="34" charset="0"/>
                <a:ea typeface="Calibri" pitchFamily="34" charset="-122"/>
                <a:cs typeface="Calibri" pitchFamily="34" charset="-120"/>
              </a:rPr>
              <a:t>supervised fine-tuning (SFT)</a:t>
            </a:r>
            <a:pPr indent="0" marL="0">
              <a:buNone/>
            </a:pPr>
            <a:r>
              <a:rPr lang="en-US" sz="1600" dirty="0">
                <a:solidFill>
                  <a:srgbClr val="1F2937"/>
                </a:solidFill>
                <a:latin typeface="Calibri" pitchFamily="34" charset="0"/>
                <a:ea typeface="Calibri" pitchFamily="34" charset="-122"/>
                <a:cs typeface="Calibri" pitchFamily="34" charset="-120"/>
              </a:rPr>
              <a:t> and </a:t>
            </a:r>
            <a:pPr indent="0" marL="0">
              <a:buNone/>
            </a:pPr>
            <a:r>
              <a:rPr lang="en-US" sz="1600" b="1" dirty="0">
                <a:solidFill>
                  <a:srgbClr val="1F2937"/>
                </a:solidFill>
                <a:latin typeface="Calibri" pitchFamily="34" charset="0"/>
                <a:ea typeface="Calibri" pitchFamily="34" charset="-122"/>
                <a:cs typeface="Calibri" pitchFamily="34" charset="-120"/>
              </a:rPr>
              <a:t>instruction tuning</a:t>
            </a:r>
            <a:pPr indent="0" marL="0">
              <a:buNone/>
            </a:pPr>
            <a:r>
              <a:rPr lang="en-US" sz="1600" dirty="0">
                <a:solidFill>
                  <a:srgbClr val="1F2937"/>
                </a:solidFill>
                <a:latin typeface="Calibri" pitchFamily="34" charset="0"/>
                <a:ea typeface="Calibri" pitchFamily="34" charset="-122"/>
                <a:cs typeface="Calibri" pitchFamily="34" charset="-120"/>
              </a:rPr>
              <a:t>, including chat templates and data preparation.</a:t>
            </a:r>
            <a:endParaRPr lang="en-US" sz="1600" dirty="0"/>
          </a:p>
        </p:txBody>
      </p:sp>
      <p:sp>
        <p:nvSpPr>
          <p:cNvPr id="12" name="Shape 10"/>
          <p:cNvSpPr/>
          <p:nvPr/>
        </p:nvSpPr>
        <p:spPr>
          <a:xfrm>
            <a:off x="548640" y="3139440"/>
            <a:ext cx="411480" cy="411480"/>
          </a:xfrm>
          <a:prstGeom prst="ellipse">
            <a:avLst/>
          </a:prstGeom>
          <a:solidFill>
            <a:srgbClr val="4F46E5"/>
          </a:solidFill>
          <a:ln w="12700">
            <a:solidFill>
              <a:srgbClr val="4F46E5"/>
            </a:solidFill>
            <a:prstDash val="solid"/>
          </a:ln>
        </p:spPr>
      </p:sp>
      <p:sp>
        <p:nvSpPr>
          <p:cNvPr id="13" name="Text 11"/>
          <p:cNvSpPr txBox="1"/>
          <p:nvPr/>
        </p:nvSpPr>
        <p:spPr>
          <a:xfrm>
            <a:off x="548640" y="31394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121152"/>
            <a:ext cx="6903720" cy="79705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Explain preference alignment: </a:t>
            </a:r>
            <a:pPr indent="0" marL="0">
              <a:buNone/>
            </a:pPr>
            <a:r>
              <a:rPr lang="en-US" sz="1600" b="1" dirty="0">
                <a:solidFill>
                  <a:srgbClr val="1F2937"/>
                </a:solidFill>
                <a:latin typeface="Calibri" pitchFamily="34" charset="0"/>
                <a:ea typeface="Calibri" pitchFamily="34" charset="-122"/>
                <a:cs typeface="Calibri" pitchFamily="34" charset="-120"/>
              </a:rPr>
              <a:t>RLHF</a:t>
            </a:r>
            <a:pPr indent="0" marL="0">
              <a:buNone/>
            </a:pPr>
            <a:r>
              <a:rPr lang="en-US" sz="1600" dirty="0">
                <a:solidFill>
                  <a:srgbClr val="1F2937"/>
                </a:solidFill>
                <a:latin typeface="Calibri" pitchFamily="34" charset="0"/>
                <a:ea typeface="Calibri" pitchFamily="34" charset="-122"/>
                <a:cs typeface="Calibri" pitchFamily="34" charset="-120"/>
              </a:rPr>
              <a:t> (reward model + PPO), </a:t>
            </a:r>
            <a:pPr indent="0" marL="0">
              <a:buNone/>
            </a:pPr>
            <a:r>
              <a:rPr lang="en-US" sz="1600" b="1" dirty="0">
                <a:solidFill>
                  <a:srgbClr val="1F2937"/>
                </a:solidFill>
                <a:latin typeface="Calibri" pitchFamily="34" charset="0"/>
                <a:ea typeface="Calibri" pitchFamily="34" charset="-122"/>
                <a:cs typeface="Calibri" pitchFamily="34" charset="-120"/>
              </a:rPr>
              <a:t>DPO</a:t>
            </a:r>
            <a:pPr indent="0" marL="0">
              <a:buNone/>
            </a:pPr>
            <a:r>
              <a:rPr lang="en-US" sz="1600" dirty="0">
                <a:solidFill>
                  <a:srgbClr val="1F2937"/>
                </a:solidFill>
                <a:latin typeface="Calibri" pitchFamily="34" charset="0"/>
                <a:ea typeface="Calibri" pitchFamily="34" charset="-122"/>
                <a:cs typeface="Calibri" pitchFamily="34" charset="-120"/>
              </a:rPr>
              <a:t>, and reinforcement learning with verifiable rewards for reasoning models.</a:t>
            </a:r>
            <a:endParaRPr lang="en-US" sz="1600" dirty="0"/>
          </a:p>
        </p:txBody>
      </p:sp>
      <p:sp>
        <p:nvSpPr>
          <p:cNvPr id="15" name="Shape 13"/>
          <p:cNvSpPr/>
          <p:nvPr/>
        </p:nvSpPr>
        <p:spPr>
          <a:xfrm>
            <a:off x="548640" y="3936492"/>
            <a:ext cx="411480" cy="411480"/>
          </a:xfrm>
          <a:prstGeom prst="ellipse">
            <a:avLst/>
          </a:prstGeom>
          <a:solidFill>
            <a:srgbClr val="4F46E5"/>
          </a:solidFill>
          <a:ln w="12700">
            <a:solidFill>
              <a:srgbClr val="4F46E5"/>
            </a:solidFill>
            <a:prstDash val="solid"/>
          </a:ln>
        </p:spPr>
      </p:sp>
      <p:sp>
        <p:nvSpPr>
          <p:cNvPr id="16" name="Text 14"/>
          <p:cNvSpPr txBox="1"/>
          <p:nvPr/>
        </p:nvSpPr>
        <p:spPr>
          <a:xfrm>
            <a:off x="548640" y="39364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918204"/>
            <a:ext cx="6903720" cy="79705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Explain and compute the cost of </a:t>
            </a:r>
            <a:pPr indent="0" marL="0">
              <a:buNone/>
            </a:pPr>
            <a:r>
              <a:rPr lang="en-US" sz="1600" b="1" dirty="0">
                <a:solidFill>
                  <a:srgbClr val="1F2937"/>
                </a:solidFill>
                <a:latin typeface="Calibri" pitchFamily="34" charset="0"/>
                <a:ea typeface="Calibri" pitchFamily="34" charset="-122"/>
                <a:cs typeface="Calibri" pitchFamily="34" charset="-120"/>
              </a:rPr>
              <a:t>parameter-efficient</a:t>
            </a:r>
            <a:pPr indent="0" marL="0">
              <a:buNone/>
            </a:pPr>
            <a:r>
              <a:rPr lang="en-US" sz="1600" dirty="0">
                <a:solidFill>
                  <a:srgbClr val="1F2937"/>
                </a:solidFill>
                <a:latin typeface="Calibri" pitchFamily="34" charset="0"/>
                <a:ea typeface="Calibri" pitchFamily="34" charset="-122"/>
                <a:cs typeface="Calibri" pitchFamily="34" charset="-120"/>
              </a:rPr>
              <a:t> methods: </a:t>
            </a:r>
            <a:pPr indent="0" marL="0">
              <a:buNone/>
            </a:pPr>
            <a:r>
              <a:rPr lang="en-US" sz="1600" b="1" dirty="0">
                <a:solidFill>
                  <a:srgbClr val="1F2937"/>
                </a:solidFill>
                <a:latin typeface="Calibri" pitchFamily="34" charset="0"/>
                <a:ea typeface="Calibri" pitchFamily="34" charset="-122"/>
                <a:cs typeface="Calibri" pitchFamily="34" charset="-120"/>
              </a:rPr>
              <a:t>LoRA, QLoRA, adapters, prompt tuning</a:t>
            </a:r>
            <a:pPr indent="0" marL="0">
              <a:buNone/>
            </a:pPr>
            <a:r>
              <a:rPr lang="en-US" sz="1600" dirty="0">
                <a:solidFill>
                  <a:srgbClr val="1F2937"/>
                </a:solidFill>
                <a:latin typeface="Calibri" pitchFamily="34" charset="0"/>
                <a:ea typeface="Calibri" pitchFamily="34" charset="-122"/>
                <a:cs typeface="Calibri" pitchFamily="34" charset="-120"/>
              </a:rPr>
              <a:t>; explain knowledge </a:t>
            </a:r>
            <a:pPr indent="0" marL="0">
              <a:buNone/>
            </a:pPr>
            <a:r>
              <a:rPr lang="en-US" sz="1600" b="1" dirty="0">
                <a:solidFill>
                  <a:srgbClr val="1F2937"/>
                </a:solidFill>
                <a:latin typeface="Calibri" pitchFamily="34" charset="0"/>
                <a:ea typeface="Calibri" pitchFamily="34" charset="-122"/>
                <a:cs typeface="Calibri" pitchFamily="34" charset="-120"/>
              </a:rPr>
              <a:t>distillation</a:t>
            </a:r>
            <a:pPr indent="0" marL="0">
              <a:buNone/>
            </a:pPr>
            <a:r>
              <a:rPr lang="en-US" sz="1600" dirty="0">
                <a:solidFill>
                  <a:srgbClr val="1F2937"/>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48640" y="4733544"/>
            <a:ext cx="411480" cy="411480"/>
          </a:xfrm>
          <a:prstGeom prst="ellipse">
            <a:avLst/>
          </a:prstGeom>
          <a:solidFill>
            <a:srgbClr val="4F46E5"/>
          </a:solidFill>
          <a:ln w="12700">
            <a:solidFill>
              <a:srgbClr val="4F46E5"/>
            </a:solidFill>
            <a:prstDash val="solid"/>
          </a:ln>
        </p:spPr>
      </p:sp>
      <p:sp>
        <p:nvSpPr>
          <p:cNvPr id="19" name="Text 17"/>
          <p:cNvSpPr txBox="1"/>
          <p:nvPr/>
        </p:nvSpPr>
        <p:spPr>
          <a:xfrm>
            <a:off x="548640" y="473354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15256"/>
            <a:ext cx="6903720" cy="79705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Fine-tune a small LLM for a </a:t>
            </a:r>
            <a:pPr indent="0" marL="0">
              <a:buNone/>
            </a:pPr>
            <a:r>
              <a:rPr lang="en-US" sz="1600" b="1" dirty="0">
                <a:solidFill>
                  <a:srgbClr val="1F2937"/>
                </a:solidFill>
                <a:latin typeface="Calibri" pitchFamily="34" charset="0"/>
                <a:ea typeface="Calibri" pitchFamily="34" charset="-122"/>
                <a:cs typeface="Calibri" pitchFamily="34" charset="-120"/>
              </a:rPr>
              <a:t>domain-specific</a:t>
            </a:r>
            <a:pPr indent="0" marL="0">
              <a:buNone/>
            </a:pPr>
            <a:r>
              <a:rPr lang="en-US" sz="1600" dirty="0">
                <a:solidFill>
                  <a:srgbClr val="1F2937"/>
                </a:solidFill>
                <a:latin typeface="Calibri" pitchFamily="34" charset="0"/>
                <a:ea typeface="Calibri" pitchFamily="34" charset="-122"/>
                <a:cs typeface="Calibri" pitchFamily="34" charset="-120"/>
              </a:rPr>
              <a:t> task with LoRA using Hugging Face PEFT and TRL.</a:t>
            </a:r>
            <a:endParaRPr lang="en-US" sz="1600" dirty="0"/>
          </a:p>
        </p:txBody>
      </p:sp>
      <p:sp>
        <p:nvSpPr>
          <p:cNvPr id="21" name="Shape 19"/>
          <p:cNvSpPr/>
          <p:nvPr/>
        </p:nvSpPr>
        <p:spPr>
          <a:xfrm>
            <a:off x="548640" y="5530596"/>
            <a:ext cx="411480" cy="411480"/>
          </a:xfrm>
          <a:prstGeom prst="ellipse">
            <a:avLst/>
          </a:prstGeom>
          <a:solidFill>
            <a:srgbClr val="4F46E5"/>
          </a:solidFill>
          <a:ln w="12700">
            <a:solidFill>
              <a:srgbClr val="4F46E5"/>
            </a:solidFill>
            <a:prstDash val="solid"/>
          </a:ln>
        </p:spPr>
      </p:sp>
      <p:sp>
        <p:nvSpPr>
          <p:cNvPr id="22" name="Text 20"/>
          <p:cNvSpPr txBox="1"/>
          <p:nvPr/>
        </p:nvSpPr>
        <p:spPr>
          <a:xfrm>
            <a:off x="548640" y="553059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12308"/>
            <a:ext cx="6903720" cy="79705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Evaluate base vs fine-tuned models on held-out data, recognise </a:t>
            </a:r>
            <a:pPr indent="0" marL="0">
              <a:buNone/>
            </a:pPr>
            <a:r>
              <a:rPr lang="en-US" sz="1600" b="1" dirty="0">
                <a:solidFill>
                  <a:srgbClr val="1F2937"/>
                </a:solidFill>
                <a:latin typeface="Calibri" pitchFamily="34" charset="0"/>
                <a:ea typeface="Calibri" pitchFamily="34" charset="-122"/>
                <a:cs typeface="Calibri" pitchFamily="34" charset="-120"/>
              </a:rPr>
              <a:t>overfitting and catastrophic forgetting</a:t>
            </a:r>
            <a:pPr indent="0" marL="0">
              <a:buNone/>
            </a:pPr>
            <a:r>
              <a:rPr lang="en-US" sz="1600" dirty="0">
                <a:solidFill>
                  <a:srgbClr val="1F2937"/>
                </a:solidFill>
                <a:latin typeface="Calibri" pitchFamily="34" charset="0"/>
                <a:ea typeface="Calibri" pitchFamily="34" charset="-122"/>
                <a:cs typeface="Calibri" pitchFamily="34" charset="-120"/>
              </a:rPr>
              <a:t>, and use appropriate benchmarks.</a:t>
            </a:r>
            <a:endParaRPr lang="en-US" sz="1600" dirty="0"/>
          </a:p>
        </p:txBody>
      </p:sp>
      <p:sp>
        <p:nvSpPr>
          <p:cNvPr id="24" name="Shape 22"/>
          <p:cNvSpPr/>
          <p:nvPr/>
        </p:nvSpPr>
        <p:spPr>
          <a:xfrm>
            <a:off x="8458200" y="1527048"/>
            <a:ext cx="3184855" cy="4782312"/>
          </a:xfrm>
          <a:prstGeom prst="roundRect">
            <a:avLst>
              <a:gd name="adj" fmla="val 3445"/>
            </a:avLst>
          </a:prstGeom>
          <a:solidFill>
            <a:srgbClr val="EEF0FF"/>
          </a:solidFill>
          <a:ln w="12700">
            <a:solidFill>
              <a:srgbClr val="EEF0FF"/>
            </a:solidFill>
            <a:prstDash val="solid"/>
          </a:ln>
        </p:spPr>
      </p:sp>
      <p:sp>
        <p:nvSpPr>
          <p:cNvPr id="25" name="Text 23"/>
          <p:cNvSpPr txBox="1"/>
          <p:nvPr/>
        </p:nvSpPr>
        <p:spPr>
          <a:xfrm>
            <a:off x="8686800" y="1664208"/>
            <a:ext cx="2727655" cy="64008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Module learning outcomes (MIMLOs) practised</a:t>
            </a:r>
            <a:endParaRPr lang="en-US" sz="1500" dirty="0"/>
          </a:p>
        </p:txBody>
      </p:sp>
      <p:sp>
        <p:nvSpPr>
          <p:cNvPr id="26" name="Shape 24"/>
          <p:cNvSpPr/>
          <p:nvPr/>
        </p:nvSpPr>
        <p:spPr>
          <a:xfrm>
            <a:off x="8686800" y="2395728"/>
            <a:ext cx="1143000" cy="365760"/>
          </a:xfrm>
          <a:prstGeom prst="roundRect">
            <a:avLst>
              <a:gd name="adj" fmla="val 20000"/>
            </a:avLst>
          </a:prstGeom>
          <a:solidFill>
            <a:srgbClr val="4F46E5"/>
          </a:solidFill>
          <a:ln w="12700">
            <a:solidFill>
              <a:srgbClr val="4F46E5"/>
            </a:solidFill>
            <a:prstDash val="solid"/>
          </a:ln>
        </p:spPr>
      </p:sp>
      <p:sp>
        <p:nvSpPr>
          <p:cNvPr id="27" name="Text 25"/>
          <p:cNvSpPr txBox="1"/>
          <p:nvPr/>
        </p:nvSpPr>
        <p:spPr>
          <a:xfrm>
            <a:off x="8686800" y="239572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1</a:t>
            </a:r>
            <a:endParaRPr lang="en-US" sz="1300" dirty="0"/>
          </a:p>
        </p:txBody>
      </p:sp>
      <p:sp>
        <p:nvSpPr>
          <p:cNvPr id="28" name="Text 26"/>
          <p:cNvSpPr txBox="1"/>
          <p:nvPr/>
        </p:nvSpPr>
        <p:spPr>
          <a:xfrm>
            <a:off x="8641080" y="277977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Explain core concepts, maths and model families</a:t>
            </a:r>
            <a:endParaRPr lang="en-US" sz="1400" dirty="0"/>
          </a:p>
        </p:txBody>
      </p:sp>
      <p:sp>
        <p:nvSpPr>
          <p:cNvPr id="29" name="Shape 27"/>
          <p:cNvSpPr/>
          <p:nvPr/>
        </p:nvSpPr>
        <p:spPr>
          <a:xfrm>
            <a:off x="8686800" y="3584448"/>
            <a:ext cx="1143000" cy="365760"/>
          </a:xfrm>
          <a:prstGeom prst="roundRect">
            <a:avLst>
              <a:gd name="adj" fmla="val 20000"/>
            </a:avLst>
          </a:prstGeom>
          <a:solidFill>
            <a:srgbClr val="4F46E5"/>
          </a:solidFill>
          <a:ln w="12700">
            <a:solidFill>
              <a:srgbClr val="4F46E5"/>
            </a:solidFill>
            <a:prstDash val="solid"/>
          </a:ln>
        </p:spPr>
      </p:sp>
      <p:sp>
        <p:nvSpPr>
          <p:cNvPr id="30" name="Text 28"/>
          <p:cNvSpPr txBox="1"/>
          <p:nvPr/>
        </p:nvSpPr>
        <p:spPr>
          <a:xfrm>
            <a:off x="8686800" y="358444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3</a:t>
            </a:r>
            <a:endParaRPr lang="en-US" sz="1300" dirty="0"/>
          </a:p>
        </p:txBody>
      </p:sp>
      <p:sp>
        <p:nvSpPr>
          <p:cNvPr id="31" name="Text 29"/>
          <p:cNvSpPr txBox="1"/>
          <p:nvPr/>
        </p:nvSpPr>
        <p:spPr>
          <a:xfrm>
            <a:off x="8641080" y="396849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Design, implement and fine-tune models</a:t>
            </a:r>
            <a:endParaRPr lang="en-US" sz="1400" dirty="0"/>
          </a:p>
        </p:txBody>
      </p:sp>
      <p:sp>
        <p:nvSpPr>
          <p:cNvPr id="32" name="Shape 30"/>
          <p:cNvSpPr/>
          <p:nvPr/>
        </p:nvSpPr>
        <p:spPr>
          <a:xfrm>
            <a:off x="8686800" y="4773168"/>
            <a:ext cx="1143000" cy="365760"/>
          </a:xfrm>
          <a:prstGeom prst="roundRect">
            <a:avLst>
              <a:gd name="adj" fmla="val 20000"/>
            </a:avLst>
          </a:prstGeom>
          <a:solidFill>
            <a:srgbClr val="4F46E5"/>
          </a:solidFill>
          <a:ln w="12700">
            <a:solidFill>
              <a:srgbClr val="4F46E5"/>
            </a:solidFill>
            <a:prstDash val="solid"/>
          </a:ln>
        </p:spPr>
      </p:sp>
      <p:sp>
        <p:nvSpPr>
          <p:cNvPr id="33" name="Text 31"/>
          <p:cNvSpPr txBox="1"/>
          <p:nvPr/>
        </p:nvSpPr>
        <p:spPr>
          <a:xfrm>
            <a:off x="8686800" y="477316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4</a:t>
            </a:r>
            <a:endParaRPr lang="en-US" sz="1300" dirty="0"/>
          </a:p>
        </p:txBody>
      </p:sp>
      <p:sp>
        <p:nvSpPr>
          <p:cNvPr id="34" name="Text 32"/>
          <p:cNvSpPr txBox="1"/>
          <p:nvPr/>
        </p:nvSpPr>
        <p:spPr>
          <a:xfrm>
            <a:off x="8641080" y="515721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Critically evaluate outputs: metrics, humans, ethics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Today's plan</a:t>
            </a:r>
            <a:endParaRPr lang="en-US" sz="3200" dirty="0"/>
          </a:p>
        </p:txBody>
      </p:sp>
      <p:sp>
        <p:nvSpPr>
          <p:cNvPr id="6" name="Shape 4"/>
          <p:cNvSpPr/>
          <p:nvPr/>
        </p:nvSpPr>
        <p:spPr>
          <a:xfrm>
            <a:off x="548640" y="1572768"/>
            <a:ext cx="8686800" cy="566928"/>
          </a:xfrm>
          <a:prstGeom prst="roundRect">
            <a:avLst>
              <a:gd name="adj" fmla="val 16129"/>
            </a:avLst>
          </a:prstGeom>
          <a:solidFill>
            <a:srgbClr val="EEF0FF"/>
          </a:solidFill>
          <a:ln w="12700">
            <a:solidFill>
              <a:srgbClr val="EEF0FF"/>
            </a:solidFill>
            <a:prstDash val="solid"/>
          </a:ln>
        </p:spPr>
      </p:sp>
      <p:sp>
        <p:nvSpPr>
          <p:cNvPr id="7" name="Shape 5"/>
          <p:cNvSpPr/>
          <p:nvPr/>
        </p:nvSpPr>
        <p:spPr>
          <a:xfrm>
            <a:off x="685800" y="1664208"/>
            <a:ext cx="384048" cy="384048"/>
          </a:xfrm>
          <a:prstGeom prst="ellipse">
            <a:avLst/>
          </a:prstGeom>
          <a:solidFill>
            <a:srgbClr val="4F46E5"/>
          </a:solidFill>
          <a:ln w="12700">
            <a:solidFill>
              <a:srgbClr val="4F46E5"/>
            </a:solidFill>
            <a:prstDash val="solid"/>
          </a:ln>
        </p:spPr>
      </p:sp>
      <p:sp>
        <p:nvSpPr>
          <p:cNvPr id="8" name="Text 6"/>
          <p:cNvSpPr txBox="1"/>
          <p:nvPr/>
        </p:nvSpPr>
        <p:spPr>
          <a:xfrm>
            <a:off x="685800" y="1664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188720" y="1572768"/>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Warm-up: prompt, retrieve or fine-tune?</a:t>
            </a:r>
            <a:endParaRPr lang="en-US" sz="1900" dirty="0"/>
          </a:p>
        </p:txBody>
      </p:sp>
      <p:sp>
        <p:nvSpPr>
          <p:cNvPr id="10" name="Text 8"/>
          <p:cNvSpPr txBox="1"/>
          <p:nvPr/>
        </p:nvSpPr>
        <p:spPr>
          <a:xfrm>
            <a:off x="8046720" y="1572768"/>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5 min</a:t>
            </a:r>
            <a:endParaRPr lang="en-US" sz="1400" dirty="0"/>
          </a:p>
        </p:txBody>
      </p:sp>
      <p:sp>
        <p:nvSpPr>
          <p:cNvPr id="11" name="Shape 9"/>
          <p:cNvSpPr/>
          <p:nvPr/>
        </p:nvSpPr>
        <p:spPr>
          <a:xfrm>
            <a:off x="548640" y="2249424"/>
            <a:ext cx="8686800" cy="566928"/>
          </a:xfrm>
          <a:prstGeom prst="roundRect">
            <a:avLst>
              <a:gd name="adj" fmla="val 16129"/>
            </a:avLst>
          </a:prstGeom>
          <a:solidFill>
            <a:srgbClr val="F5F3FF"/>
          </a:solidFill>
          <a:ln w="12700">
            <a:solidFill>
              <a:srgbClr val="EEF0FF"/>
            </a:solidFill>
            <a:prstDash val="solid"/>
          </a:ln>
        </p:spPr>
      </p:sp>
      <p:sp>
        <p:nvSpPr>
          <p:cNvPr id="12" name="Shape 10"/>
          <p:cNvSpPr/>
          <p:nvPr/>
        </p:nvSpPr>
        <p:spPr>
          <a:xfrm>
            <a:off x="685800" y="2340864"/>
            <a:ext cx="384048" cy="384048"/>
          </a:xfrm>
          <a:prstGeom prst="ellipse">
            <a:avLst/>
          </a:prstGeom>
          <a:solidFill>
            <a:srgbClr val="4F46E5"/>
          </a:solidFill>
          <a:ln w="12700">
            <a:solidFill>
              <a:srgbClr val="4F46E5"/>
            </a:solidFill>
            <a:prstDash val="solid"/>
          </a:ln>
        </p:spPr>
      </p:sp>
      <p:sp>
        <p:nvSpPr>
          <p:cNvPr id="13" name="Text 11"/>
          <p:cNvSpPr txBox="1"/>
          <p:nvPr/>
        </p:nvSpPr>
        <p:spPr>
          <a:xfrm>
            <a:off x="685800" y="23408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188720" y="2249424"/>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1 · When to fine-tune</a:t>
            </a:r>
            <a:endParaRPr lang="en-US" sz="1900" dirty="0"/>
          </a:p>
        </p:txBody>
      </p:sp>
      <p:sp>
        <p:nvSpPr>
          <p:cNvPr id="15" name="Text 13"/>
          <p:cNvSpPr txBox="1"/>
          <p:nvPr/>
        </p:nvSpPr>
        <p:spPr>
          <a:xfrm>
            <a:off x="8046720" y="2249424"/>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13 min</a:t>
            </a:r>
            <a:endParaRPr lang="en-US" sz="1400" dirty="0"/>
          </a:p>
        </p:txBody>
      </p:sp>
      <p:sp>
        <p:nvSpPr>
          <p:cNvPr id="16" name="Shape 14"/>
          <p:cNvSpPr/>
          <p:nvPr/>
        </p:nvSpPr>
        <p:spPr>
          <a:xfrm>
            <a:off x="548640" y="2926080"/>
            <a:ext cx="8686800" cy="566928"/>
          </a:xfrm>
          <a:prstGeom prst="roundRect">
            <a:avLst>
              <a:gd name="adj" fmla="val 16129"/>
            </a:avLst>
          </a:prstGeom>
          <a:solidFill>
            <a:srgbClr val="EEF0FF"/>
          </a:solidFill>
          <a:ln w="12700">
            <a:solidFill>
              <a:srgbClr val="EEF0FF"/>
            </a:solidFill>
            <a:prstDash val="solid"/>
          </a:ln>
        </p:spPr>
      </p:sp>
      <p:sp>
        <p:nvSpPr>
          <p:cNvPr id="17" name="Shape 15"/>
          <p:cNvSpPr/>
          <p:nvPr/>
        </p:nvSpPr>
        <p:spPr>
          <a:xfrm>
            <a:off x="685800" y="3017520"/>
            <a:ext cx="384048" cy="384048"/>
          </a:xfrm>
          <a:prstGeom prst="ellipse">
            <a:avLst/>
          </a:prstGeom>
          <a:solidFill>
            <a:srgbClr val="4F46E5"/>
          </a:solidFill>
          <a:ln w="12700">
            <a:solidFill>
              <a:srgbClr val="4F46E5"/>
            </a:solidFill>
            <a:prstDash val="solid"/>
          </a:ln>
        </p:spPr>
      </p:sp>
      <p:sp>
        <p:nvSpPr>
          <p:cNvPr id="18" name="Text 16"/>
          <p:cNvSpPr txBox="1"/>
          <p:nvPr/>
        </p:nvSpPr>
        <p:spPr>
          <a:xfrm>
            <a:off x="685800" y="30175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188720" y="2926080"/>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2 · Supervised and instruction fine-tuning</a:t>
            </a:r>
            <a:endParaRPr lang="en-US" sz="1900" dirty="0"/>
          </a:p>
        </p:txBody>
      </p:sp>
      <p:sp>
        <p:nvSpPr>
          <p:cNvPr id="20" name="Text 18"/>
          <p:cNvSpPr txBox="1"/>
          <p:nvPr/>
        </p:nvSpPr>
        <p:spPr>
          <a:xfrm>
            <a:off x="8046720" y="2926080"/>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20 min</a:t>
            </a:r>
            <a:endParaRPr lang="en-US" sz="1400" dirty="0"/>
          </a:p>
        </p:txBody>
      </p:sp>
      <p:sp>
        <p:nvSpPr>
          <p:cNvPr id="21" name="Shape 19"/>
          <p:cNvSpPr/>
          <p:nvPr/>
        </p:nvSpPr>
        <p:spPr>
          <a:xfrm>
            <a:off x="548640" y="3602736"/>
            <a:ext cx="8686800" cy="566928"/>
          </a:xfrm>
          <a:prstGeom prst="roundRect">
            <a:avLst>
              <a:gd name="adj" fmla="val 16129"/>
            </a:avLst>
          </a:prstGeom>
          <a:solidFill>
            <a:srgbClr val="F5F3FF"/>
          </a:solidFill>
          <a:ln w="12700">
            <a:solidFill>
              <a:srgbClr val="EEF0FF"/>
            </a:solidFill>
            <a:prstDash val="solid"/>
          </a:ln>
        </p:spPr>
      </p:sp>
      <p:sp>
        <p:nvSpPr>
          <p:cNvPr id="22" name="Shape 20"/>
          <p:cNvSpPr/>
          <p:nvPr/>
        </p:nvSpPr>
        <p:spPr>
          <a:xfrm>
            <a:off x="685800" y="3694176"/>
            <a:ext cx="384048" cy="384048"/>
          </a:xfrm>
          <a:prstGeom prst="ellipse">
            <a:avLst/>
          </a:prstGeom>
          <a:solidFill>
            <a:srgbClr val="4F46E5"/>
          </a:solidFill>
          <a:ln w="12700">
            <a:solidFill>
              <a:srgbClr val="4F46E5"/>
            </a:solidFill>
            <a:prstDash val="solid"/>
          </a:ln>
        </p:spPr>
      </p:sp>
      <p:sp>
        <p:nvSpPr>
          <p:cNvPr id="23" name="Text 21"/>
          <p:cNvSpPr txBox="1"/>
          <p:nvPr/>
        </p:nvSpPr>
        <p:spPr>
          <a:xfrm>
            <a:off x="685800" y="36941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1188720" y="3602736"/>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3 · Preference alignment: RLHF, DPO, RL for reasoning</a:t>
            </a:r>
            <a:endParaRPr lang="en-US" sz="1900" dirty="0"/>
          </a:p>
        </p:txBody>
      </p:sp>
      <p:sp>
        <p:nvSpPr>
          <p:cNvPr id="25" name="Text 23"/>
          <p:cNvSpPr txBox="1"/>
          <p:nvPr/>
        </p:nvSpPr>
        <p:spPr>
          <a:xfrm>
            <a:off x="8046720" y="3602736"/>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25 min</a:t>
            </a:r>
            <a:endParaRPr lang="en-US" sz="1400" dirty="0"/>
          </a:p>
        </p:txBody>
      </p:sp>
      <p:sp>
        <p:nvSpPr>
          <p:cNvPr id="26" name="Shape 24"/>
          <p:cNvSpPr/>
          <p:nvPr/>
        </p:nvSpPr>
        <p:spPr>
          <a:xfrm>
            <a:off x="548640" y="4279392"/>
            <a:ext cx="8686800" cy="566928"/>
          </a:xfrm>
          <a:prstGeom prst="roundRect">
            <a:avLst>
              <a:gd name="adj" fmla="val 16129"/>
            </a:avLst>
          </a:prstGeom>
          <a:solidFill>
            <a:srgbClr val="EEF0FF"/>
          </a:solidFill>
          <a:ln w="12700">
            <a:solidFill>
              <a:srgbClr val="EEF0FF"/>
            </a:solidFill>
            <a:prstDash val="solid"/>
          </a:ln>
        </p:spPr>
      </p:sp>
      <p:sp>
        <p:nvSpPr>
          <p:cNvPr id="27" name="Shape 25"/>
          <p:cNvSpPr/>
          <p:nvPr/>
        </p:nvSpPr>
        <p:spPr>
          <a:xfrm>
            <a:off x="685800" y="4370832"/>
            <a:ext cx="384048" cy="384048"/>
          </a:xfrm>
          <a:prstGeom prst="ellipse">
            <a:avLst/>
          </a:prstGeom>
          <a:solidFill>
            <a:srgbClr val="4F46E5"/>
          </a:solidFill>
          <a:ln w="12700">
            <a:solidFill>
              <a:srgbClr val="4F46E5"/>
            </a:solidFill>
            <a:prstDash val="solid"/>
          </a:ln>
        </p:spPr>
      </p:sp>
      <p:sp>
        <p:nvSpPr>
          <p:cNvPr id="28" name="Text 26"/>
          <p:cNvSpPr txBox="1"/>
          <p:nvPr/>
        </p:nvSpPr>
        <p:spPr>
          <a:xfrm>
            <a:off x="685800" y="43708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9" name="Text 27"/>
          <p:cNvSpPr txBox="1"/>
          <p:nvPr/>
        </p:nvSpPr>
        <p:spPr>
          <a:xfrm>
            <a:off x="1188720" y="4279392"/>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4 · Parameter-efficient fine-tuning</a:t>
            </a:r>
            <a:endParaRPr lang="en-US" sz="1900" dirty="0"/>
          </a:p>
        </p:txBody>
      </p:sp>
      <p:sp>
        <p:nvSpPr>
          <p:cNvPr id="30" name="Text 28"/>
          <p:cNvSpPr txBox="1"/>
          <p:nvPr/>
        </p:nvSpPr>
        <p:spPr>
          <a:xfrm>
            <a:off x="8046720" y="4279392"/>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25 min</a:t>
            </a:r>
            <a:endParaRPr lang="en-US" sz="1400" dirty="0"/>
          </a:p>
        </p:txBody>
      </p:sp>
      <p:sp>
        <p:nvSpPr>
          <p:cNvPr id="31" name="Shape 29"/>
          <p:cNvSpPr/>
          <p:nvPr/>
        </p:nvSpPr>
        <p:spPr>
          <a:xfrm>
            <a:off x="548640" y="4956048"/>
            <a:ext cx="8686800" cy="566928"/>
          </a:xfrm>
          <a:prstGeom prst="roundRect">
            <a:avLst>
              <a:gd name="adj" fmla="val 16129"/>
            </a:avLst>
          </a:prstGeom>
          <a:solidFill>
            <a:srgbClr val="F5F3FF"/>
          </a:solidFill>
          <a:ln w="12700">
            <a:solidFill>
              <a:srgbClr val="EEF0FF"/>
            </a:solidFill>
            <a:prstDash val="solid"/>
          </a:ln>
        </p:spPr>
      </p:sp>
      <p:sp>
        <p:nvSpPr>
          <p:cNvPr id="32" name="Shape 30"/>
          <p:cNvSpPr/>
          <p:nvPr/>
        </p:nvSpPr>
        <p:spPr>
          <a:xfrm>
            <a:off x="685800" y="5047488"/>
            <a:ext cx="384048" cy="384048"/>
          </a:xfrm>
          <a:prstGeom prst="ellipse">
            <a:avLst/>
          </a:prstGeom>
          <a:solidFill>
            <a:srgbClr val="4F46E5"/>
          </a:solidFill>
          <a:ln w="12700">
            <a:solidFill>
              <a:srgbClr val="4F46E5"/>
            </a:solidFill>
            <a:prstDash val="solid"/>
          </a:ln>
        </p:spPr>
      </p:sp>
      <p:sp>
        <p:nvSpPr>
          <p:cNvPr id="33" name="Text 31"/>
          <p:cNvSpPr txBox="1"/>
          <p:nvPr/>
        </p:nvSpPr>
        <p:spPr>
          <a:xfrm>
            <a:off x="685800" y="5047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4" name="Text 32"/>
          <p:cNvSpPr txBox="1"/>
          <p:nvPr/>
        </p:nvSpPr>
        <p:spPr>
          <a:xfrm>
            <a:off x="1188720" y="4956048"/>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5 · Domain adaptation in practice</a:t>
            </a:r>
            <a:endParaRPr lang="en-US" sz="1900" dirty="0"/>
          </a:p>
        </p:txBody>
      </p:sp>
      <p:sp>
        <p:nvSpPr>
          <p:cNvPr id="35" name="Text 33"/>
          <p:cNvSpPr txBox="1"/>
          <p:nvPr/>
        </p:nvSpPr>
        <p:spPr>
          <a:xfrm>
            <a:off x="8046720" y="4956048"/>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25 min</a:t>
            </a:r>
            <a:endParaRPr lang="en-US" sz="1400" dirty="0"/>
          </a:p>
        </p:txBody>
      </p:sp>
      <p:sp>
        <p:nvSpPr>
          <p:cNvPr id="36" name="Shape 34"/>
          <p:cNvSpPr/>
          <p:nvPr/>
        </p:nvSpPr>
        <p:spPr>
          <a:xfrm>
            <a:off x="548640" y="5632704"/>
            <a:ext cx="8686800" cy="566928"/>
          </a:xfrm>
          <a:prstGeom prst="roundRect">
            <a:avLst>
              <a:gd name="adj" fmla="val 16129"/>
            </a:avLst>
          </a:prstGeom>
          <a:solidFill>
            <a:srgbClr val="EEF0FF"/>
          </a:solidFill>
          <a:ln w="12700">
            <a:solidFill>
              <a:srgbClr val="EEF0FF"/>
            </a:solidFill>
            <a:prstDash val="solid"/>
          </a:ln>
        </p:spPr>
      </p:sp>
      <p:sp>
        <p:nvSpPr>
          <p:cNvPr id="37" name="Shape 35"/>
          <p:cNvSpPr/>
          <p:nvPr/>
        </p:nvSpPr>
        <p:spPr>
          <a:xfrm>
            <a:off x="685800" y="5724144"/>
            <a:ext cx="384048" cy="384048"/>
          </a:xfrm>
          <a:prstGeom prst="ellipse">
            <a:avLst/>
          </a:prstGeom>
          <a:solidFill>
            <a:srgbClr val="4F46E5"/>
          </a:solidFill>
          <a:ln w="12700">
            <a:solidFill>
              <a:srgbClr val="4F46E5"/>
            </a:solidFill>
            <a:prstDash val="solid"/>
          </a:ln>
        </p:spPr>
      </p:sp>
      <p:sp>
        <p:nvSpPr>
          <p:cNvPr id="38" name="Text 36"/>
          <p:cNvSpPr txBox="1"/>
          <p:nvPr/>
        </p:nvSpPr>
        <p:spPr>
          <a:xfrm>
            <a:off x="685800" y="57241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9" name="Text 37"/>
          <p:cNvSpPr txBox="1"/>
          <p:nvPr/>
        </p:nvSpPr>
        <p:spPr>
          <a:xfrm>
            <a:off x="1188720" y="5632704"/>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Lab preview and wrap-up</a:t>
            </a:r>
            <a:endParaRPr lang="en-US" sz="1900" dirty="0"/>
          </a:p>
        </p:txBody>
      </p:sp>
      <p:sp>
        <p:nvSpPr>
          <p:cNvPr id="40" name="Text 38"/>
          <p:cNvSpPr txBox="1"/>
          <p:nvPr/>
        </p:nvSpPr>
        <p:spPr>
          <a:xfrm>
            <a:off x="8046720" y="5632704"/>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7 min</a:t>
            </a:r>
            <a:endParaRPr lang="en-US" sz="1400" dirty="0"/>
          </a:p>
        </p:txBody>
      </p:sp>
      <p:sp>
        <p:nvSpPr>
          <p:cNvPr id="41" name="Shape 39"/>
          <p:cNvSpPr/>
          <p:nvPr/>
        </p:nvSpPr>
        <p:spPr>
          <a:xfrm>
            <a:off x="9784080" y="2377440"/>
            <a:ext cx="1737360" cy="1737360"/>
          </a:xfrm>
          <a:prstGeom prst="ellipse">
            <a:avLst/>
          </a:prstGeom>
          <a:solidFill>
            <a:srgbClr val="EEF0FF"/>
          </a:solidFill>
          <a:ln w="12700">
            <a:solidFill>
              <a:srgbClr val="EEF0FF"/>
            </a:solidFill>
            <a:prstDash val="solid"/>
          </a:ln>
        </p:spPr>
      </p:sp>
      <p:pic>
        <p:nvPicPr>
          <p:cNvPr id="42" name="Image 0" descr="preencoded.png">    </p:cNvPr>
          <p:cNvPicPr>
            <a:picLocks noChangeAspect="1"/>
          </p:cNvPicPr>
          <p:nvPr/>
        </p:nvPicPr>
        <p:blipFill>
          <a:blip r:embed="rId1"/>
          <a:stretch>
            <a:fillRect/>
          </a:stretch>
        </p:blipFill>
        <p:spPr>
          <a:xfrm>
            <a:off x="10201046" y="2794406"/>
            <a:ext cx="903427" cy="90342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Starting vocabulary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3263063"/>
                <a:gridCol w="7831352"/>
              </a:tblGrid>
              <a:tr h="0">
                <a:tc>
                  <a:txBody>
                    <a:bodyPr/>
                    <a:lstStyle/>
                    <a:p>
                      <a:pPr indent="0" marL="0">
                        <a:buNone/>
                      </a:pPr>
                      <a:r>
                        <a:rPr lang="en-US" sz="2200" b="1" dirty="0">
                          <a:solidFill>
                            <a:srgbClr val="FFFFFF"/>
                          </a:solidFill>
                          <a:latin typeface="Calibri" pitchFamily="34" charset="0"/>
                          <a:ea typeface="Calibri" pitchFamily="34" charset="-122"/>
                          <a:cs typeface="Calibri" pitchFamily="34" charset="-120"/>
                        </a:rPr>
                        <a:t>Term</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200" b="1" dirty="0">
                          <a:solidFill>
                            <a:srgbClr val="FFFFFF"/>
                          </a:solidFill>
                          <a:latin typeface="Calibri" pitchFamily="34" charset="0"/>
                          <a:ea typeface="Calibri" pitchFamily="34" charset="-122"/>
                          <a:cs typeface="Calibri" pitchFamily="34" charset="-120"/>
                        </a:rPr>
                        <a:t>Plain meaning</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Model weight</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A learned number used by a neural network to transform its input.</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Train / validation / test</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Separate examples for learning, choosing settings and final measurement.</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Matrix projection</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Multiplying a vector by learned weights to produce another vector.</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Warm-up</a:t>
            </a:r>
            <a:endParaRPr lang="en-US" sz="3200" dirty="0"/>
          </a:p>
        </p:txBody>
      </p:sp>
      <p:sp>
        <p:nvSpPr>
          <p:cNvPr id="6" name="Shape 4"/>
          <p:cNvSpPr/>
          <p:nvPr/>
        </p:nvSpPr>
        <p:spPr>
          <a:xfrm>
            <a:off x="548640" y="1527048"/>
            <a:ext cx="1005840" cy="1005840"/>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790042" y="1768450"/>
            <a:ext cx="523037" cy="523037"/>
          </a:xfrm>
          <a:prstGeom prst="rect">
            <a:avLst/>
          </a:prstGeom>
        </p:spPr>
      </p:pic>
      <p:sp>
        <p:nvSpPr>
          <p:cNvPr id="8" name="Text 5"/>
          <p:cNvSpPr txBox="1"/>
          <p:nvPr/>
        </p:nvSpPr>
        <p:spPr>
          <a:xfrm>
            <a:off x="1828800" y="1481328"/>
            <a:ext cx="9814255" cy="146304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A bank wants an assistant that (a) uses its brand voice, (b) knows this week's interest rates, and (c) routes 50,000 messages a day cheaply. Prompt, retrieve or fine-tune, for each?</a:t>
            </a:r>
            <a:endParaRPr lang="en-US" sz="2400" dirty="0"/>
          </a:p>
        </p:txBody>
      </p:sp>
      <p:sp>
        <p:nvSpPr>
          <p:cNvPr id="9" name="Text 6"/>
          <p:cNvSpPr txBox="1"/>
          <p:nvPr/>
        </p:nvSpPr>
        <p:spPr>
          <a:xfrm>
            <a:off x="1828800" y="3172968"/>
            <a:ext cx="9814255" cy="309067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Which needs </a:t>
            </a:r>
            <a:pPr indent="0" marL="0">
              <a:buNone/>
            </a:pPr>
            <a:r>
              <a:rPr lang="en-US" sz="1800" b="1" dirty="0">
                <a:solidFill>
                  <a:srgbClr val="1F2937"/>
                </a:solidFill>
                <a:latin typeface="Calibri" pitchFamily="34" charset="0"/>
                <a:ea typeface="Calibri" pitchFamily="34" charset="-122"/>
                <a:cs typeface="Calibri" pitchFamily="34" charset="-120"/>
              </a:rPr>
              <a:t>knowledge</a:t>
            </a:r>
            <a:pPr indent="0" marL="0">
              <a:buNone/>
            </a:pPr>
            <a:r>
              <a:rPr lang="en-US" sz="1800" dirty="0">
                <a:solidFill>
                  <a:srgbClr val="1F2937"/>
                </a:solidFill>
                <a:latin typeface="Calibri" pitchFamily="34" charset="0"/>
                <a:ea typeface="Calibri" pitchFamily="34" charset="-122"/>
                <a:cs typeface="Calibri" pitchFamily="34" charset="-120"/>
              </a:rPr>
              <a:t> that changes often?</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Which needs </a:t>
            </a:r>
            <a:pPr indent="0" marL="0">
              <a:buNone/>
            </a:pPr>
            <a:r>
              <a:rPr lang="en-US" sz="1800" b="1" dirty="0">
                <a:solidFill>
                  <a:srgbClr val="1F2937"/>
                </a:solidFill>
                <a:latin typeface="Calibri" pitchFamily="34" charset="0"/>
                <a:ea typeface="Calibri" pitchFamily="34" charset="-122"/>
                <a:cs typeface="Calibri" pitchFamily="34" charset="-120"/>
              </a:rPr>
              <a:t>consistent behaviour or format</a:t>
            </a:r>
            <a:pPr indent="0" marL="0">
              <a:buNone/>
            </a:pPr>
            <a:r>
              <a:rPr lang="en-US" sz="1800" dirty="0">
                <a:solidFill>
                  <a:srgbClr val="1F2937"/>
                </a:solidFill>
                <a:latin typeface="Calibri" pitchFamily="34" charset="0"/>
                <a:ea typeface="Calibri" pitchFamily="34" charset="-122"/>
                <a:cs typeface="Calibri" pitchFamily="34" charset="-120"/>
              </a:rPr>
              <a:t>?</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Which is about </a:t>
            </a:r>
            <a:pPr indent="0" marL="0">
              <a:buNone/>
            </a:pPr>
            <a:r>
              <a:rPr lang="en-US" sz="1800" b="1" dirty="0">
                <a:solidFill>
                  <a:srgbClr val="1F2937"/>
                </a:solidFill>
                <a:latin typeface="Calibri" pitchFamily="34" charset="0"/>
                <a:ea typeface="Calibri" pitchFamily="34" charset="-122"/>
                <a:cs typeface="Calibri" pitchFamily="34" charset="-120"/>
              </a:rPr>
              <a:t>cost and latency</a:t>
            </a:r>
            <a:pPr indent="0" marL="0">
              <a:buNone/>
            </a:pPr>
            <a:r>
              <a:rPr lang="en-US" sz="1800" dirty="0">
                <a:solidFill>
                  <a:srgbClr val="1F2937"/>
                </a:solidFill>
                <a:latin typeface="Calibri" pitchFamily="34" charset="0"/>
                <a:ea typeface="Calibri" pitchFamily="34" charset="-122"/>
                <a:cs typeface="Calibri" pitchFamily="34" charset="-120"/>
              </a:rPr>
              <a:t> at high volume?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01</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When to fine-tune</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Prompting, retrieval or fine-tuning: what problem does each solve?</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Adapt a banking classifier</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Measure whether training improves on a strong prompting baseline</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Separate data</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Create train and validation; preserve held-out test messages</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train_ds / val_ds / test_ds</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separate labelled examples</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Measure baselines</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Run zero-shot and few-shot prompts before training</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df_zero / df_few</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baseline measures</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Format examples</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Pair each customer prompt with its known intent</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to_chat</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prompt/completion pairs</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Add adapters</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Freeze base weights; create small trainable LoRA matrices</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lora_config</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adapted model configuration</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Train responses</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Learn intent-label tokens; monitor validation prediction error</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SFTTrainer / trainer.train</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trained adapter + loss history</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Compare fairly</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Use the same test messages, parser and decoding settings</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df_tuned / comparison</a:t>
            </a:r>
            <a:endParaRPr lang="en-US" sz="1200" dirty="0"/>
          </a:p>
        </p:txBody>
      </p:sp>
      <p:sp>
        <p:nvSpPr>
          <p:cNvPr id="41" name="Text 39"/>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700" dirty="0">
                <a:solidFill>
                  <a:srgbClr val="1F2937"/>
                </a:solidFill>
                <a:latin typeface="Calibri" pitchFamily="34" charset="0"/>
                <a:ea typeface="Calibri" pitchFamily="34" charset="-122"/>
                <a:cs typeface="Calibri" pitchFamily="34" charset="-120"/>
              </a:rPr>
              <a:t>Check: Why compare the tuned model with the few-shot baseline as well as the zero-shot baseline?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Prompting vs. retrieval vs. fine-tuning</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935480"/>
                <a:gridCol w="2334840"/>
                <a:gridCol w="2705181"/>
                <a:gridCol w="4118914"/>
              </a:tblGrid>
              <a:tr h="0">
                <a:tc>
                  <a:txBody>
                    <a:bodyPr/>
                    <a:lstStyle/>
                    <a:p>
                      <a:pPr indent="0" marL="0">
                        <a:buNone/>
                      </a:pP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Prompting</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Retrieval (RAG)</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Fine-tuning</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Changes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The input</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The input (adds documents)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The weights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Solves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Task description, format</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Missing or changing knowledge</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Behaviour, style, format, specialised skills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Data needed</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A few examples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A document collection</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Hundreds–thousands of labelled examples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Update cost</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Edit text</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Re-index documents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Re-train and re-evaluate</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Traceability</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High</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High (citations)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Low (knowledge hidden in weights)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
        <p:nvSpPr>
          <p:cNvPr id="7" name="Shape 4"/>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8" name="Text 5"/>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Knowledge that changes belongs in retrieval; behaviour that must be consistent can belong in the weights.</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decision process</a:t>
            </a:r>
            <a:endParaRPr lang="en-US" sz="3200" dirty="0"/>
          </a:p>
        </p:txBody>
      </p:sp>
      <p:pic>
        <p:nvPicPr>
          <p:cNvPr id="6" name="Image 0" descr="C:\Users\sudee\Downloads\Generative_AI_2027_Teaching_Pack\AI2027_Project\build\figures\week_08\decision.png">    </p:cNvPr>
          <p:cNvPicPr>
            <a:picLocks noChangeAspect="1"/>
          </p:cNvPicPr>
          <p:nvPr/>
        </p:nvPicPr>
        <p:blipFill>
          <a:blip r:embed="rId1"/>
          <a:stretch>
            <a:fillRect/>
          </a:stretch>
        </p:blipFill>
        <p:spPr>
          <a:xfrm>
            <a:off x="548640" y="1676461"/>
            <a:ext cx="11094415" cy="443776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Good and bad reasons to fine-tune</a:t>
            </a:r>
            <a:endParaRPr lang="en-US" sz="3200" dirty="0"/>
          </a:p>
        </p:txBody>
      </p:sp>
      <p:sp>
        <p:nvSpPr>
          <p:cNvPr id="6" name="Shape 4"/>
          <p:cNvSpPr/>
          <p:nvPr/>
        </p:nvSpPr>
        <p:spPr>
          <a:xfrm>
            <a:off x="548640" y="1481328"/>
            <a:ext cx="541004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Good reasons</a:t>
            </a:r>
            <a:endParaRPr lang="en-US" sz="1800" dirty="0"/>
          </a:p>
        </p:txBody>
      </p:sp>
      <p:sp>
        <p:nvSpPr>
          <p:cNvPr id="9" name="Shape 6"/>
          <p:cNvSpPr/>
          <p:nvPr/>
        </p:nvSpPr>
        <p:spPr>
          <a:xfrm>
            <a:off x="548640" y="2167128"/>
            <a:ext cx="5410048" cy="4142232"/>
          </a:xfrm>
          <a:prstGeom prst="roundRect">
            <a:avLst>
              <a:gd name="adj" fmla="val 2208"/>
            </a:avLst>
          </a:prstGeom>
          <a:solidFill>
            <a:srgbClr val="EEF0FF"/>
          </a:solidFill>
          <a:ln w="12700">
            <a:solidFill>
              <a:srgbClr val="EEF0FF"/>
            </a:solidFill>
            <a:prstDash val="solid"/>
          </a:ln>
        </p:spPr>
      </p:sp>
      <p:sp>
        <p:nvSpPr>
          <p:cNvPr id="10" name="Text 7"/>
          <p:cNvSpPr txBox="1"/>
          <p:nvPr/>
        </p:nvSpPr>
        <p:spPr>
          <a:xfrm>
            <a:off x="658368" y="2258568"/>
            <a:ext cx="519059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Consistent output format or style that prompts cannot enforce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Specialised classification or extraction with subtle categories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Domain language (legal, medical, internal jargon)</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Cheaper, faster: a small tuned model replaces a large prompted one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Reliable tool-calling or a new language</a:t>
            </a:r>
            <a:endParaRPr lang="en-US" sz="2000" dirty="0"/>
          </a:p>
        </p:txBody>
      </p:sp>
      <p:sp>
        <p:nvSpPr>
          <p:cNvPr id="11" name="Shape 8"/>
          <p:cNvSpPr/>
          <p:nvPr/>
        </p:nvSpPr>
        <p:spPr>
          <a:xfrm>
            <a:off x="6233008" y="1481328"/>
            <a:ext cx="541004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6397600" y="1591056"/>
            <a:ext cx="347472" cy="347472"/>
          </a:xfrm>
          <a:prstGeom prst="rect">
            <a:avLst/>
          </a:prstGeom>
        </p:spPr>
      </p:pic>
      <p:sp>
        <p:nvSpPr>
          <p:cNvPr id="13" name="Text 9"/>
          <p:cNvSpPr txBox="1"/>
          <p:nvPr/>
        </p:nvSpPr>
        <p:spPr>
          <a:xfrm>
            <a:off x="6827368"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Bad reasons</a:t>
            </a:r>
            <a:endParaRPr lang="en-US" sz="1800" dirty="0"/>
          </a:p>
        </p:txBody>
      </p:sp>
      <p:sp>
        <p:nvSpPr>
          <p:cNvPr id="14" name="Shape 10"/>
          <p:cNvSpPr/>
          <p:nvPr/>
        </p:nvSpPr>
        <p:spPr>
          <a:xfrm>
            <a:off x="6233008" y="2167128"/>
            <a:ext cx="5410048" cy="4142232"/>
          </a:xfrm>
          <a:prstGeom prst="roundRect">
            <a:avLst>
              <a:gd name="adj" fmla="val 2208"/>
            </a:avLst>
          </a:prstGeom>
          <a:solidFill>
            <a:srgbClr val="E6F4F1"/>
          </a:solidFill>
          <a:ln w="12700">
            <a:solidFill>
              <a:srgbClr val="E6F4F1"/>
            </a:solidFill>
            <a:prstDash val="solid"/>
          </a:ln>
        </p:spPr>
      </p:sp>
      <p:sp>
        <p:nvSpPr>
          <p:cNvPr id="15" name="Text 11"/>
          <p:cNvSpPr txBox="1"/>
          <p:nvPr/>
        </p:nvSpPr>
        <p:spPr>
          <a:xfrm>
            <a:off x="6342736" y="2258568"/>
            <a:ext cx="519059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Adding facts that change (use retrieval)</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Fixing hallucination in general (fine-tuning on facts can increase it)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Only a few dozen examples and no evaluation set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'Everyone is doing it'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The base model's licence forbids it</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02</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Supervised and instruction fine-tuning</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 we teach a model what good outputs look like?</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Full fine-tuning vs. supervised fine-tuning (SFT)</a:t>
            </a:r>
            <a:endParaRPr lang="en-US" sz="3200" dirty="0"/>
          </a:p>
        </p:txBody>
      </p:sp>
      <p:sp>
        <p:nvSpPr>
          <p:cNvPr id="6" name="Shape 4"/>
          <p:cNvSpPr/>
          <p:nvPr/>
        </p:nvSpPr>
        <p:spPr>
          <a:xfrm>
            <a:off x="548640" y="1481328"/>
            <a:ext cx="541004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Full fine-tuning</a:t>
            </a:r>
            <a:endParaRPr lang="en-US" sz="1800" dirty="0"/>
          </a:p>
        </p:txBody>
      </p:sp>
      <p:sp>
        <p:nvSpPr>
          <p:cNvPr id="9" name="Shape 6"/>
          <p:cNvSpPr/>
          <p:nvPr/>
        </p:nvSpPr>
        <p:spPr>
          <a:xfrm>
            <a:off x="548640" y="2167128"/>
            <a:ext cx="5410048" cy="4142232"/>
          </a:xfrm>
          <a:prstGeom prst="roundRect">
            <a:avLst>
              <a:gd name="adj" fmla="val 2208"/>
            </a:avLst>
          </a:prstGeom>
          <a:solidFill>
            <a:srgbClr val="EEF0FF"/>
          </a:solidFill>
          <a:ln w="12700">
            <a:solidFill>
              <a:srgbClr val="EEF0FF"/>
            </a:solidFill>
            <a:prstDash val="solid"/>
          </a:ln>
        </p:spPr>
      </p:sp>
      <p:sp>
        <p:nvSpPr>
          <p:cNvPr id="10" name="Text 7"/>
          <p:cNvSpPr txBox="1"/>
          <p:nvPr/>
        </p:nvSpPr>
        <p:spPr>
          <a:xfrm>
            <a:off x="658368" y="2258568"/>
            <a:ext cx="519059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Update </a:t>
            </a:r>
            <a:pPr indent="0" marL="0">
              <a:buNone/>
            </a:pPr>
            <a:r>
              <a:rPr lang="en-US" sz="2000" b="1" dirty="0">
                <a:solidFill>
                  <a:srgbClr val="1F2937"/>
                </a:solidFill>
                <a:latin typeface="Calibri" pitchFamily="34" charset="0"/>
                <a:ea typeface="Calibri" pitchFamily="34" charset="-122"/>
                <a:cs typeface="Calibri" pitchFamily="34" charset="-120"/>
              </a:rPr>
              <a:t>all</a:t>
            </a:r>
            <a:pPr indent="0" marL="0">
              <a:buNone/>
            </a:pPr>
            <a:r>
              <a:rPr lang="en-US" sz="2000" dirty="0">
                <a:solidFill>
                  <a:srgbClr val="1F2937"/>
                </a:solidFill>
                <a:latin typeface="Calibri" pitchFamily="34" charset="0"/>
                <a:ea typeface="Calibri" pitchFamily="34" charset="-122"/>
                <a:cs typeface="Calibri" pitchFamily="34" charset="-120"/>
              </a:rPr>
              <a:t> weights on your data</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Highest flexibility; highest memory and compute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A full copy of the model per task</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Higher risk of forgetting general abilities</a:t>
            </a:r>
            <a:endParaRPr lang="en-US" sz="2000" dirty="0"/>
          </a:p>
        </p:txBody>
      </p:sp>
      <p:sp>
        <p:nvSpPr>
          <p:cNvPr id="11" name="Shape 8"/>
          <p:cNvSpPr/>
          <p:nvPr/>
        </p:nvSpPr>
        <p:spPr>
          <a:xfrm>
            <a:off x="6233008" y="1481328"/>
            <a:ext cx="541004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6397600" y="1591056"/>
            <a:ext cx="347472" cy="347472"/>
          </a:xfrm>
          <a:prstGeom prst="rect">
            <a:avLst/>
          </a:prstGeom>
        </p:spPr>
      </p:pic>
      <p:sp>
        <p:nvSpPr>
          <p:cNvPr id="13" name="Text 9"/>
          <p:cNvSpPr txBox="1"/>
          <p:nvPr/>
        </p:nvSpPr>
        <p:spPr>
          <a:xfrm>
            <a:off x="6827368"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Supervised fine-tuning (SFT)</a:t>
            </a:r>
            <a:endParaRPr lang="en-US" sz="1800" dirty="0"/>
          </a:p>
        </p:txBody>
      </p:sp>
      <p:sp>
        <p:nvSpPr>
          <p:cNvPr id="14" name="Shape 10"/>
          <p:cNvSpPr/>
          <p:nvPr/>
        </p:nvSpPr>
        <p:spPr>
          <a:xfrm>
            <a:off x="6233008" y="2167128"/>
            <a:ext cx="5410048" cy="4142232"/>
          </a:xfrm>
          <a:prstGeom prst="roundRect">
            <a:avLst>
              <a:gd name="adj" fmla="val 2208"/>
            </a:avLst>
          </a:prstGeom>
          <a:solidFill>
            <a:srgbClr val="E6F4F1"/>
          </a:solidFill>
          <a:ln w="12700">
            <a:solidFill>
              <a:srgbClr val="E6F4F1"/>
            </a:solidFill>
            <a:prstDash val="solid"/>
          </a:ln>
        </p:spPr>
      </p:sp>
      <p:sp>
        <p:nvSpPr>
          <p:cNvPr id="15" name="Text 11"/>
          <p:cNvSpPr txBox="1"/>
          <p:nvPr/>
        </p:nvSpPr>
        <p:spPr>
          <a:xfrm>
            <a:off x="6342736" y="2258568"/>
            <a:ext cx="519059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Train on (input, desired output) pairs with next-token loss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Can update all weights </a:t>
            </a:r>
            <a:pPr indent="0" marL="0">
              <a:buNone/>
            </a:pPr>
            <a:r>
              <a:rPr lang="en-US" sz="2000" b="1" dirty="0">
                <a:solidFill>
                  <a:srgbClr val="1F2937"/>
                </a:solidFill>
                <a:latin typeface="Calibri" pitchFamily="34" charset="0"/>
                <a:ea typeface="Calibri" pitchFamily="34" charset="-122"/>
                <a:cs typeface="Calibri" pitchFamily="34" charset="-120"/>
              </a:rPr>
              <a:t>or</a:t>
            </a:r>
            <a:pPr indent="0" marL="0">
              <a:buNone/>
            </a:pPr>
            <a:r>
              <a:rPr lang="en-US" sz="2000" dirty="0">
                <a:solidFill>
                  <a:srgbClr val="1F2937"/>
                </a:solidFill>
                <a:latin typeface="Calibri" pitchFamily="34" charset="0"/>
                <a:ea typeface="Calibri" pitchFamily="34" charset="-122"/>
                <a:cs typeface="Calibri" pitchFamily="34" charset="-120"/>
              </a:rPr>
              <a:t> only small adapters (LoRA, section 4)</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The standard first stage of post-training</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Loss computed on the </a:t>
            </a:r>
            <a:pPr indent="0" marL="0">
              <a:buNone/>
            </a:pPr>
            <a:r>
              <a:rPr lang="en-US" sz="2000" b="1" dirty="0">
                <a:solidFill>
                  <a:srgbClr val="1F2937"/>
                </a:solidFill>
                <a:latin typeface="Calibri" pitchFamily="34" charset="0"/>
                <a:ea typeface="Calibri" pitchFamily="34" charset="-122"/>
                <a:cs typeface="Calibri" pitchFamily="34" charset="-120"/>
              </a:rPr>
              <a:t>output</a:t>
            </a:r>
            <a:pPr indent="0" marL="0">
              <a:buNone/>
            </a:pPr>
            <a:r>
              <a:rPr lang="en-US" sz="2000" dirty="0">
                <a:solidFill>
                  <a:srgbClr val="1F2937"/>
                </a:solidFill>
                <a:latin typeface="Calibri" pitchFamily="34" charset="0"/>
                <a:ea typeface="Calibri" pitchFamily="34" charset="-122"/>
                <a:cs typeface="Calibri" pitchFamily="34" charset="-120"/>
              </a:rPr>
              <a:t> tokens only</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SFT loss: next-token prediction on the answer</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ef28494f25d2fe22.png">    </p:cNvPr>
          <p:cNvPicPr>
            <a:picLocks noChangeAspect="1"/>
          </p:cNvPicPr>
          <p:nvPr/>
        </p:nvPicPr>
        <p:blipFill>
          <a:blip r:embed="rId1"/>
          <a:stretch>
            <a:fillRect/>
          </a:stretch>
        </p:blipFill>
        <p:spPr>
          <a:xfrm>
            <a:off x="3873856" y="1662684"/>
            <a:ext cx="4443984" cy="963168"/>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For each training pair, maximise the likelihood of the desired response y given the prompt x.</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Prompt tokens are </a:t>
            </a:r>
            <a:pPr indent="0" marL="0">
              <a:buNone/>
            </a:pPr>
            <a:r>
              <a:rPr lang="en-US" sz="2000" b="1" dirty="0">
                <a:solidFill>
                  <a:srgbClr val="1F2937"/>
                </a:solidFill>
                <a:latin typeface="Calibri" pitchFamily="34" charset="0"/>
                <a:ea typeface="Calibri" pitchFamily="34" charset="-122"/>
                <a:cs typeface="Calibri" pitchFamily="34" charset="-120"/>
              </a:rPr>
              <a:t>masked</a:t>
            </a:r>
            <a:pPr indent="0" marL="0">
              <a:buNone/>
            </a:pPr>
            <a:r>
              <a:rPr lang="en-US" sz="2000" dirty="0">
                <a:solidFill>
                  <a:srgbClr val="1F2937"/>
                </a:solidFill>
                <a:latin typeface="Calibri" pitchFamily="34" charset="0"/>
                <a:ea typeface="Calibri" pitchFamily="34" charset="-122"/>
                <a:cs typeface="Calibri" pitchFamily="34" charset="-120"/>
              </a:rPr>
              <a:t> out of the loss; the model still reads them as context.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Same objective as pre-training (week 1), applied to curated examples.</a:t>
            </a:r>
            <a:endParaRPr lang="en-US" sz="20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x</a:t>
            </a:r>
            <a:endParaRPr lang="en-US" sz="18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prompt (instruction + input)</a:t>
            </a:r>
            <a:endParaRPr lang="en-US" sz="17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y</a:t>
            </a:r>
            <a:endParaRPr lang="en-US" sz="18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desired response</a:t>
            </a:r>
            <a:endParaRPr lang="en-US" sz="17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y_{&lt;t}</a:t>
            </a:r>
            <a:endParaRPr lang="en-US" sz="18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response tokens so far</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Instruction tuning: from base model to assistant</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Fine-tune on many tasks phrased as instructions with good responses (FLAN, 2021; InstructGPT SFT stage, 2022).</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The model learns to </a:t>
            </a:r>
            <a:pPr indent="0" marL="0">
              <a:buNone/>
            </a:pPr>
            <a:r>
              <a:rPr lang="en-US" sz="2200" b="1" dirty="0">
                <a:solidFill>
                  <a:srgbClr val="1F2937"/>
                </a:solidFill>
                <a:latin typeface="Calibri" pitchFamily="34" charset="0"/>
                <a:ea typeface="Calibri" pitchFamily="34" charset="-122"/>
                <a:cs typeface="Calibri" pitchFamily="34" charset="-120"/>
              </a:rPr>
              <a:t>follow instructions in general</a:t>
            </a:r>
            <a:pPr indent="0" marL="0">
              <a:buNone/>
            </a:pPr>
            <a:r>
              <a:rPr lang="en-US" sz="2200" dirty="0">
                <a:solidFill>
                  <a:srgbClr val="1F2937"/>
                </a:solidFill>
                <a:latin typeface="Calibri" pitchFamily="34" charset="0"/>
                <a:ea typeface="Calibri" pitchFamily="34" charset="-122"/>
                <a:cs typeface="Calibri" pitchFamily="34" charset="-120"/>
              </a:rPr>
              <a:t>, including unseen tasks.</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Chat templates</a:t>
            </a:r>
            <a:pPr indent="0" marL="0">
              <a:buNone/>
            </a:pPr>
            <a:r>
              <a:rPr lang="en-US" sz="2200" dirty="0">
                <a:solidFill>
                  <a:srgbClr val="1F2937"/>
                </a:solidFill>
                <a:latin typeface="Calibri" pitchFamily="34" charset="0"/>
                <a:ea typeface="Calibri" pitchFamily="34" charset="-122"/>
                <a:cs typeface="Calibri" pitchFamily="34" charset="-120"/>
              </a:rPr>
              <a:t> wrap messages in special tokens; you must use the same template at training and inference.</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Quality beats quantity</a:t>
            </a:r>
            <a:pPr indent="0" marL="0">
              <a:buNone/>
            </a:pPr>
            <a:r>
              <a:rPr lang="en-US" sz="2200" dirty="0">
                <a:solidFill>
                  <a:srgbClr val="1F2937"/>
                </a:solidFill>
                <a:latin typeface="Calibri" pitchFamily="34" charset="0"/>
                <a:ea typeface="Calibri" pitchFamily="34" charset="-122"/>
                <a:cs typeface="Calibri" pitchFamily="34" charset="-120"/>
              </a:rPr>
              <a:t>: LIMA (2023) got strong results from 1,000 carefully curated examples.</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What a chat template produces (Qwen family)</a:t>
            </a:r>
            <a:endParaRPr lang="en-US" sz="3200" dirty="0"/>
          </a:p>
        </p:txBody>
      </p:sp>
      <p:sp>
        <p:nvSpPr>
          <p:cNvPr id="6" name="Shape 4"/>
          <p:cNvSpPr/>
          <p:nvPr/>
        </p:nvSpPr>
        <p:spPr>
          <a:xfrm>
            <a:off x="548640" y="1481328"/>
            <a:ext cx="6949440" cy="3121406"/>
          </a:xfrm>
          <a:prstGeom prst="roundRect">
            <a:avLst>
              <a:gd name="adj" fmla="val 2929"/>
            </a:avLst>
          </a:prstGeom>
          <a:solidFill>
            <a:srgbClr val="1E1E2E"/>
          </a:solidFill>
          <a:ln w="12700">
            <a:solidFill>
              <a:srgbClr val="1E1E2E"/>
            </a:solidFill>
            <a:prstDash val="solid"/>
          </a:ln>
        </p:spPr>
      </p:sp>
      <p:sp>
        <p:nvSpPr>
          <p:cNvPr id="7" name="Text 5"/>
          <p:cNvSpPr txBox="1"/>
          <p:nvPr/>
        </p:nvSpPr>
        <p:spPr>
          <a:xfrm>
            <a:off x="685800" y="1591056"/>
            <a:ext cx="6675120" cy="2901950"/>
          </a:xfrm>
          <a:prstGeom prst="rect">
            <a:avLst/>
          </a:prstGeom>
          <a:noFill/>
          <a:ln/>
        </p:spPr>
        <p:txBody>
          <a:bodyPr wrap="square" lIns="76200" tIns="76200" rIns="76200" bIns="76200" rtlCol="0" anchor="t"/>
          <a:lstStyle/>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messages = [</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{"role": "system", "content": "You classify banking messages."},</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{"role": "user", "content": "I lost my card!"},</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{"role": "assistant", "content": "lost_or_stolen_card"},</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print(tok.apply_chat_template(messages, tokenize=False))</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9CA3AF"/>
                </a:solidFill>
                <a:latin typeface="Consolas" pitchFamily="34" charset="0"/>
                <a:ea typeface="Consolas" pitchFamily="34" charset="-122"/>
                <a:cs typeface="Consolas" pitchFamily="34" charset="-120"/>
              </a:rPr>
              <a:t># &lt;|im_start|&gt;system</a:t>
            </a:r>
            <a:endParaRPr lang="en-US" sz="1300" dirty="0"/>
          </a:p>
          <a:p>
            <a:pPr indent="0" marL="0">
              <a:lnSpc>
                <a:spcPct val="100000"/>
              </a:lnSpc>
              <a:buNone/>
            </a:pPr>
            <a:r>
              <a:rPr lang="en-US" sz="1300" dirty="0">
                <a:solidFill>
                  <a:srgbClr val="9CA3AF"/>
                </a:solidFill>
                <a:latin typeface="Consolas" pitchFamily="34" charset="0"/>
                <a:ea typeface="Consolas" pitchFamily="34" charset="-122"/>
                <a:cs typeface="Consolas" pitchFamily="34" charset="-120"/>
              </a:rPr>
              <a:t># You classify banking messages.&lt;|im_end|&gt;</a:t>
            </a:r>
            <a:endParaRPr lang="en-US" sz="1300" dirty="0"/>
          </a:p>
          <a:p>
            <a:pPr indent="0" marL="0">
              <a:lnSpc>
                <a:spcPct val="100000"/>
              </a:lnSpc>
              <a:buNone/>
            </a:pPr>
            <a:r>
              <a:rPr lang="en-US" sz="1300" dirty="0">
                <a:solidFill>
                  <a:srgbClr val="9CA3AF"/>
                </a:solidFill>
                <a:latin typeface="Consolas" pitchFamily="34" charset="0"/>
                <a:ea typeface="Consolas" pitchFamily="34" charset="-122"/>
                <a:cs typeface="Consolas" pitchFamily="34" charset="-120"/>
              </a:rPr>
              <a:t># &lt;|im_start|&gt;user</a:t>
            </a:r>
            <a:endParaRPr lang="en-US" sz="1300" dirty="0"/>
          </a:p>
          <a:p>
            <a:pPr indent="0" marL="0">
              <a:lnSpc>
                <a:spcPct val="100000"/>
              </a:lnSpc>
              <a:buNone/>
            </a:pPr>
            <a:r>
              <a:rPr lang="en-US" sz="1300" dirty="0">
                <a:solidFill>
                  <a:srgbClr val="9CA3AF"/>
                </a:solidFill>
                <a:latin typeface="Consolas" pitchFamily="34" charset="0"/>
                <a:ea typeface="Consolas" pitchFamily="34" charset="-122"/>
                <a:cs typeface="Consolas" pitchFamily="34" charset="-120"/>
              </a:rPr>
              <a:t># I lost my card!&lt;|im_end|&gt;</a:t>
            </a:r>
            <a:endParaRPr lang="en-US" sz="1300" dirty="0"/>
          </a:p>
          <a:p>
            <a:pPr indent="0" marL="0">
              <a:lnSpc>
                <a:spcPct val="100000"/>
              </a:lnSpc>
              <a:buNone/>
            </a:pPr>
            <a:r>
              <a:rPr lang="en-US" sz="1300" dirty="0">
                <a:solidFill>
                  <a:srgbClr val="9CA3AF"/>
                </a:solidFill>
                <a:latin typeface="Consolas" pitchFamily="34" charset="0"/>
                <a:ea typeface="Consolas" pitchFamily="34" charset="-122"/>
                <a:cs typeface="Consolas" pitchFamily="34" charset="-120"/>
              </a:rPr>
              <a:t># &lt;|im_start|&gt;assistant</a:t>
            </a:r>
            <a:endParaRPr lang="en-US" sz="1300" dirty="0"/>
          </a:p>
          <a:p>
            <a:pPr indent="0" marL="0">
              <a:lnSpc>
                <a:spcPct val="100000"/>
              </a:lnSpc>
              <a:buNone/>
            </a:pPr>
            <a:r>
              <a:rPr lang="en-US" sz="1300" dirty="0">
                <a:solidFill>
                  <a:srgbClr val="9CA3AF"/>
                </a:solidFill>
                <a:latin typeface="Consolas" pitchFamily="34" charset="0"/>
                <a:ea typeface="Consolas" pitchFamily="34" charset="-122"/>
                <a:cs typeface="Consolas" pitchFamily="34" charset="-120"/>
              </a:rPr>
              <a:t># lost_or_stolen_card&lt;|im_end|&gt;</a:t>
            </a:r>
            <a:endParaRPr lang="en-US" sz="1300" dirty="0"/>
          </a:p>
        </p:txBody>
      </p:sp>
      <p:sp>
        <p:nvSpPr>
          <p:cNvPr id="8" name="Text 6"/>
          <p:cNvSpPr txBox="1"/>
          <p:nvPr/>
        </p:nvSpPr>
        <p:spPr>
          <a:xfrm>
            <a:off x="7772400" y="1481328"/>
            <a:ext cx="387065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Special tokens mark roles and turn ends.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Each model family has its own template; the tokenizer stores it.</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SFT data should be converted with the </a:t>
            </a:r>
            <a:pPr indent="0" marL="0">
              <a:buNone/>
            </a:pPr>
            <a:r>
              <a:rPr lang="en-US" sz="1800" b="1" dirty="0">
                <a:solidFill>
                  <a:srgbClr val="1F2937"/>
                </a:solidFill>
                <a:latin typeface="Calibri" pitchFamily="34" charset="0"/>
                <a:ea typeface="Calibri" pitchFamily="34" charset="-122"/>
                <a:cs typeface="Calibri" pitchFamily="34" charset="-120"/>
              </a:rPr>
              <a:t>model's own</a:t>
            </a:r>
            <a:pPr indent="0" marL="0">
              <a:buNone/>
            </a:pPr>
            <a:r>
              <a:rPr lang="en-US" sz="1800" dirty="0">
                <a:solidFill>
                  <a:srgbClr val="1F2937"/>
                </a:solidFill>
                <a:latin typeface="Calibri" pitchFamily="34" charset="0"/>
                <a:ea typeface="Calibri" pitchFamily="34" charset="-122"/>
                <a:cs typeface="Calibri" pitchFamily="34" charset="-120"/>
              </a:rPr>
              <a:t> template.</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100" b="1" dirty="0">
                <a:solidFill>
                  <a:srgbClr val="1E1B4B"/>
                </a:solidFill>
                <a:latin typeface="Calibri" pitchFamily="34" charset="0"/>
                <a:ea typeface="Calibri" pitchFamily="34" charset="-122"/>
                <a:cs typeface="Calibri" pitchFamily="34" charset="-120"/>
              </a:rPr>
              <a:t>Data preparation: where most of the quality comes from</a:t>
            </a:r>
            <a:endParaRPr lang="en-US" sz="31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Quality</a:t>
            </a:r>
            <a:endParaRPr lang="en-US" sz="19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Correct, consistent labels and exemplary responses; review a sample by hand.</a:t>
            </a:r>
            <a:endParaRPr lang="en-US" sz="19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Diversity</a:t>
            </a:r>
            <a:endParaRPr lang="en-US" sz="19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Cover the real input distribution: phrasings, lengths, edge cases, languages.</a:t>
            </a:r>
            <a:endParaRPr lang="en-US" sz="19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Clean splits</a:t>
            </a:r>
            <a:endParaRPr lang="en-US" sz="19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Train / validation / test with no duplicates across them: avoid data leakage.</a:t>
            </a:r>
            <a:endParaRPr lang="en-US" sz="19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Privacy &amp; rights</a:t>
            </a:r>
            <a:endParaRPr lang="en-US" sz="19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Remove personal data; check you have the right to use the data and the base model.</a:t>
            </a:r>
            <a:endParaRPr lang="en-US" sz="19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Balance</a:t>
            </a:r>
            <a:endParaRPr lang="en-US" sz="19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Watch class imbalance; the model will favour frequent labels.</a:t>
            </a:r>
            <a:endParaRPr lang="en-US" sz="19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Document</a:t>
            </a:r>
            <a:endParaRPr lang="en-US" sz="19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Datasheet: source, size, labelling process, known gaps.</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03</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Preference alignment: RLHF, DPO and RL for reasoning</a:t>
            </a:r>
            <a:endParaRPr lang="en-US" sz="41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 we teach a model which of two good-looking answers people prefer?</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Reinforcement learning from human feedback (RLHF)</a:t>
            </a:r>
            <a:endParaRPr lang="en-US" sz="3200" dirty="0"/>
          </a:p>
        </p:txBody>
      </p:sp>
      <p:pic>
        <p:nvPicPr>
          <p:cNvPr id="6" name="Image 0" descr="C:\Users\sudee\Downloads\Generative_AI_2027_Teaching_Pack\AI2027_Project\build\figures\week_08\rlhf.png">    </p:cNvPr>
          <p:cNvPicPr>
            <a:picLocks noChangeAspect="1"/>
          </p:cNvPicPr>
          <p:nvPr/>
        </p:nvPicPr>
        <p:blipFill>
          <a:blip r:embed="rId1"/>
          <a:stretch>
            <a:fillRect/>
          </a:stretch>
        </p:blipFill>
        <p:spPr>
          <a:xfrm>
            <a:off x="548640" y="1925083"/>
            <a:ext cx="11094415" cy="394052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reward model and the RL objective</a:t>
            </a:r>
            <a:endParaRPr lang="en-US" sz="3200" dirty="0"/>
          </a:p>
        </p:txBody>
      </p:sp>
      <p:sp>
        <p:nvSpPr>
          <p:cNvPr id="6" name="Shape 4"/>
          <p:cNvSpPr/>
          <p:nvPr/>
        </p:nvSpPr>
        <p:spPr>
          <a:xfrm>
            <a:off x="548640" y="1481328"/>
            <a:ext cx="11094415" cy="2011680"/>
          </a:xfrm>
          <a:prstGeom prst="roundRect">
            <a:avLst>
              <a:gd name="adj" fmla="val 5455"/>
            </a:avLst>
          </a:prstGeom>
          <a:solidFill>
            <a:srgbClr val="EEF0FF"/>
          </a:solidFill>
          <a:ln w="12700">
            <a:solidFill>
              <a:srgbClr val="EEF0FF"/>
            </a:solidFill>
            <a:prstDash val="solid"/>
          </a:ln>
        </p:spPr>
      </p:sp>
      <p:pic>
        <p:nvPicPr>
          <p:cNvPr id="7" name="Image 0" descr="C:\Users\sudee\Downloads\Generative_AI_2027_Teaching_Pack\AI2027_Project\build\eq\da8815bf1e10e61b.png">    </p:cNvPr>
          <p:cNvPicPr>
            <a:picLocks noChangeAspect="1"/>
          </p:cNvPicPr>
          <p:nvPr/>
        </p:nvPicPr>
        <p:blipFill>
          <a:blip r:embed="rId1"/>
          <a:stretch>
            <a:fillRect/>
          </a:stretch>
        </p:blipFill>
        <p:spPr>
          <a:xfrm>
            <a:off x="3934816" y="1892808"/>
            <a:ext cx="4322064" cy="365760"/>
          </a:xfrm>
          <a:prstGeom prst="rect">
            <a:avLst/>
          </a:prstGeom>
        </p:spPr>
      </p:pic>
      <p:pic>
        <p:nvPicPr>
          <p:cNvPr id="8" name="Image 1" descr="C:\Users\sudee\Downloads\Generative_AI_2027_Teaching_Pack\AI2027_Project\build\eq\740f424e6b17c765.png">    </p:cNvPr>
          <p:cNvPicPr>
            <a:picLocks noChangeAspect="1"/>
          </p:cNvPicPr>
          <p:nvPr/>
        </p:nvPicPr>
        <p:blipFill>
          <a:blip r:embed="rId2"/>
          <a:stretch>
            <a:fillRect/>
          </a:stretch>
        </p:blipFill>
        <p:spPr>
          <a:xfrm>
            <a:off x="2915260" y="2624328"/>
            <a:ext cx="6361176" cy="457200"/>
          </a:xfrm>
          <a:prstGeom prst="rect">
            <a:avLst/>
          </a:prstGeom>
        </p:spPr>
      </p:pic>
      <p:sp>
        <p:nvSpPr>
          <p:cNvPr id="9" name="Text 5"/>
          <p:cNvSpPr txBox="1"/>
          <p:nvPr/>
        </p:nvSpPr>
        <p:spPr>
          <a:xfrm>
            <a:off x="548640" y="37216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4105656"/>
            <a:ext cx="6035040" cy="2176272"/>
          </a:xfrm>
          <a:prstGeom prst="rect">
            <a:avLst/>
          </a:prstGeom>
          <a:noFill/>
          <a:ln/>
        </p:spPr>
        <p:txBody>
          <a:bodyPr wrap="square" lIns="50800" tIns="50800" rIns="50800" bIns="50800" rtlCol="0" anchor="t"/>
          <a:lstStyle/>
          <a:p>
            <a:pPr marL="254000" indent="-254000">
              <a:spcAft>
                <a:spcPts val="800"/>
              </a:spcAft>
              <a:buSzPct val="100000"/>
              <a:buChar char="●"/>
            </a:pPr>
            <a:r>
              <a:rPr lang="en-US" sz="1600" dirty="0">
                <a:solidFill>
                  <a:srgbClr val="1F2937"/>
                </a:solidFill>
                <a:latin typeface="Calibri" pitchFamily="34" charset="0"/>
                <a:ea typeface="Calibri" pitchFamily="34" charset="-122"/>
                <a:cs typeface="Calibri" pitchFamily="34" charset="-120"/>
              </a:rPr>
              <a:t>Reward model: the preferred answer y_w should score higher than the rejected y_l (a Bradley–Terry comparison model).</a:t>
            </a:r>
            <a:endParaRPr lang="en-US" sz="1600" dirty="0"/>
          </a:p>
          <a:p>
            <a:pPr marL="254000" indent="-254000">
              <a:spcAft>
                <a:spcPts val="800"/>
              </a:spcAft>
              <a:buSzPct val="100000"/>
              <a:buChar char="●"/>
            </a:pPr>
            <a:r>
              <a:rPr lang="en-US" sz="1600" dirty="0">
                <a:solidFill>
                  <a:srgbClr val="1F2937"/>
                </a:solidFill>
                <a:latin typeface="Calibri" pitchFamily="34" charset="0"/>
                <a:ea typeface="Calibri" pitchFamily="34" charset="-122"/>
                <a:cs typeface="Calibri" pitchFamily="34" charset="-120"/>
              </a:rPr>
              <a:t>RL: generate answers that the reward model scores highly…</a:t>
            </a:r>
            <a:endParaRPr lang="en-US" sz="1600" dirty="0"/>
          </a:p>
          <a:p>
            <a:pPr marL="254000" indent="-254000">
              <a:spcAft>
                <a:spcPts val="800"/>
              </a:spcAft>
              <a:buSzPct val="100000"/>
              <a:buChar char="●"/>
            </a:pPr>
            <a:r>
              <a:rPr lang="en-US" sz="1600" dirty="0">
                <a:solidFill>
                  <a:srgbClr val="1F2937"/>
                </a:solidFill>
                <a:latin typeface="Calibri" pitchFamily="34" charset="0"/>
                <a:ea typeface="Calibri" pitchFamily="34" charset="-122"/>
                <a:cs typeface="Calibri" pitchFamily="34" charset="-120"/>
              </a:rPr>
              <a:t>…but stay close to the reference (SFT) model: the </a:t>
            </a:r>
            <a:pPr indent="0" marL="0">
              <a:buNone/>
            </a:pPr>
            <a:r>
              <a:rPr lang="en-US" sz="1600" b="1" dirty="0">
                <a:solidFill>
                  <a:srgbClr val="1F2937"/>
                </a:solidFill>
                <a:latin typeface="Calibri" pitchFamily="34" charset="0"/>
                <a:ea typeface="Calibri" pitchFamily="34" charset="-122"/>
                <a:cs typeface="Calibri" pitchFamily="34" charset="-120"/>
              </a:rPr>
              <a:t>KL penalty</a:t>
            </a:r>
            <a:pPr indent="0" marL="0">
              <a:buNone/>
            </a:pPr>
            <a:r>
              <a:rPr lang="en-US" sz="1600" dirty="0">
                <a:solidFill>
                  <a:srgbClr val="1F2937"/>
                </a:solidFill>
                <a:latin typeface="Calibri" pitchFamily="34" charset="0"/>
                <a:ea typeface="Calibri" pitchFamily="34" charset="-122"/>
                <a:cs typeface="Calibri" pitchFamily="34" charset="-120"/>
              </a:rPr>
              <a:t> prevents 'reward hacking' and gibberish.</a:t>
            </a:r>
            <a:endParaRPr lang="en-US" sz="1600" dirty="0"/>
          </a:p>
        </p:txBody>
      </p:sp>
      <p:sp>
        <p:nvSpPr>
          <p:cNvPr id="11" name="Text 7"/>
          <p:cNvSpPr txBox="1"/>
          <p:nvPr/>
        </p:nvSpPr>
        <p:spPr>
          <a:xfrm>
            <a:off x="6858000" y="37216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2" name="Text 8"/>
          <p:cNvSpPr txBox="1"/>
          <p:nvPr/>
        </p:nvSpPr>
        <p:spPr>
          <a:xfrm>
            <a:off x="6858000" y="4133088"/>
            <a:ext cx="1143000" cy="544068"/>
          </a:xfrm>
          <a:prstGeom prst="rect">
            <a:avLst/>
          </a:prstGeom>
          <a:noFill/>
          <a:ln/>
        </p:spPr>
        <p:txBody>
          <a:bodyPr wrap="square" lIns="50800" tIns="50800" rIns="50800" bIns="50800" rtlCol="0" anchor="ctr"/>
          <a:lstStyle/>
          <a:p>
            <a:pPr indent="0" marL="0">
              <a:buNone/>
            </a:pPr>
            <a:r>
              <a:rPr lang="en-US" sz="1300" b="1" dirty="0">
                <a:solidFill>
                  <a:srgbClr val="1E1B4B"/>
                </a:solidFill>
                <a:latin typeface="Cambria Math" pitchFamily="34" charset="0"/>
                <a:ea typeface="Cambria Math" pitchFamily="34" charset="-122"/>
                <a:cs typeface="Cambria Math" pitchFamily="34" charset="-120"/>
              </a:rPr>
              <a:t>y_w, y_l</a:t>
            </a:r>
            <a:endParaRPr lang="en-US" sz="1300" dirty="0"/>
          </a:p>
        </p:txBody>
      </p:sp>
      <p:sp>
        <p:nvSpPr>
          <p:cNvPr id="13" name="Text 9"/>
          <p:cNvSpPr txBox="1"/>
          <p:nvPr/>
        </p:nvSpPr>
        <p:spPr>
          <a:xfrm>
            <a:off x="8046720" y="4133088"/>
            <a:ext cx="3596335" cy="544068"/>
          </a:xfrm>
          <a:prstGeom prst="rect">
            <a:avLst/>
          </a:prstGeom>
          <a:noFill/>
          <a:ln/>
        </p:spPr>
        <p:txBody>
          <a:bodyPr wrap="square" lIns="50800" tIns="50800" rIns="50800" bIns="5080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preferred (winner) and rejected (loser) answers</a:t>
            </a:r>
            <a:endParaRPr lang="en-US" sz="1200" dirty="0"/>
          </a:p>
        </p:txBody>
      </p:sp>
      <p:sp>
        <p:nvSpPr>
          <p:cNvPr id="14" name="Text 10"/>
          <p:cNvSpPr txBox="1"/>
          <p:nvPr/>
        </p:nvSpPr>
        <p:spPr>
          <a:xfrm>
            <a:off x="6858000" y="4677156"/>
            <a:ext cx="1143000" cy="544068"/>
          </a:xfrm>
          <a:prstGeom prst="rect">
            <a:avLst/>
          </a:prstGeom>
          <a:noFill/>
          <a:ln/>
        </p:spPr>
        <p:txBody>
          <a:bodyPr wrap="square" lIns="50800" tIns="50800" rIns="50800" bIns="50800" rtlCol="0" anchor="ctr"/>
          <a:lstStyle/>
          <a:p>
            <a:pPr indent="0" marL="0">
              <a:buNone/>
            </a:pPr>
            <a:r>
              <a:rPr lang="en-US" sz="1300" b="1" dirty="0">
                <a:solidFill>
                  <a:srgbClr val="1E1B4B"/>
                </a:solidFill>
                <a:latin typeface="Cambria Math" pitchFamily="34" charset="0"/>
                <a:ea typeface="Cambria Math" pitchFamily="34" charset="-122"/>
                <a:cs typeface="Cambria Math" pitchFamily="34" charset="-120"/>
              </a:rPr>
              <a:t>r_φ</a:t>
            </a:r>
            <a:endParaRPr lang="en-US" sz="1300" dirty="0"/>
          </a:p>
        </p:txBody>
      </p:sp>
      <p:sp>
        <p:nvSpPr>
          <p:cNvPr id="15" name="Text 11"/>
          <p:cNvSpPr txBox="1"/>
          <p:nvPr/>
        </p:nvSpPr>
        <p:spPr>
          <a:xfrm>
            <a:off x="8046720" y="4677156"/>
            <a:ext cx="3596335" cy="544068"/>
          </a:xfrm>
          <a:prstGeom prst="rect">
            <a:avLst/>
          </a:prstGeom>
          <a:noFill/>
          <a:ln/>
        </p:spPr>
        <p:txBody>
          <a:bodyPr wrap="square" lIns="50800" tIns="50800" rIns="50800" bIns="5080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reward model</a:t>
            </a:r>
            <a:endParaRPr lang="en-US" sz="1200" dirty="0"/>
          </a:p>
        </p:txBody>
      </p:sp>
      <p:sp>
        <p:nvSpPr>
          <p:cNvPr id="16" name="Text 12"/>
          <p:cNvSpPr txBox="1"/>
          <p:nvPr/>
        </p:nvSpPr>
        <p:spPr>
          <a:xfrm>
            <a:off x="6858000" y="5221224"/>
            <a:ext cx="1143000" cy="544068"/>
          </a:xfrm>
          <a:prstGeom prst="rect">
            <a:avLst/>
          </a:prstGeom>
          <a:noFill/>
          <a:ln/>
        </p:spPr>
        <p:txBody>
          <a:bodyPr wrap="square" lIns="50800" tIns="50800" rIns="50800" bIns="50800" rtlCol="0" anchor="ctr"/>
          <a:lstStyle/>
          <a:p>
            <a:pPr indent="0" marL="0">
              <a:buNone/>
            </a:pPr>
            <a:r>
              <a:rPr lang="en-US" sz="1300" b="1" dirty="0">
                <a:solidFill>
                  <a:srgbClr val="1E1B4B"/>
                </a:solidFill>
                <a:latin typeface="Cambria Math" pitchFamily="34" charset="0"/>
                <a:ea typeface="Cambria Math" pitchFamily="34" charset="-122"/>
                <a:cs typeface="Cambria Math" pitchFamily="34" charset="-120"/>
              </a:rPr>
              <a:t>π_θ, π_ref</a:t>
            </a:r>
            <a:endParaRPr lang="en-US" sz="1300" dirty="0"/>
          </a:p>
        </p:txBody>
      </p:sp>
      <p:sp>
        <p:nvSpPr>
          <p:cNvPr id="17" name="Text 13"/>
          <p:cNvSpPr txBox="1"/>
          <p:nvPr/>
        </p:nvSpPr>
        <p:spPr>
          <a:xfrm>
            <a:off x="8046720" y="5221224"/>
            <a:ext cx="3596335" cy="544068"/>
          </a:xfrm>
          <a:prstGeom prst="rect">
            <a:avLst/>
          </a:prstGeom>
          <a:noFill/>
          <a:ln/>
        </p:spPr>
        <p:txBody>
          <a:bodyPr wrap="square" lIns="50800" tIns="50800" rIns="50800" bIns="5080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policy being trained; frozen reference model</a:t>
            </a:r>
            <a:endParaRPr lang="en-US" sz="1200" dirty="0"/>
          </a:p>
        </p:txBody>
      </p:sp>
      <p:sp>
        <p:nvSpPr>
          <p:cNvPr id="18" name="Text 14"/>
          <p:cNvSpPr txBox="1"/>
          <p:nvPr/>
        </p:nvSpPr>
        <p:spPr>
          <a:xfrm>
            <a:off x="6858000" y="5765292"/>
            <a:ext cx="1143000" cy="544068"/>
          </a:xfrm>
          <a:prstGeom prst="rect">
            <a:avLst/>
          </a:prstGeom>
          <a:noFill/>
          <a:ln/>
        </p:spPr>
        <p:txBody>
          <a:bodyPr wrap="square" lIns="50800" tIns="50800" rIns="50800" bIns="50800" rtlCol="0" anchor="ctr"/>
          <a:lstStyle/>
          <a:p>
            <a:pPr indent="0" marL="0">
              <a:buNone/>
            </a:pPr>
            <a:r>
              <a:rPr lang="en-US" sz="1300" b="1" dirty="0">
                <a:solidFill>
                  <a:srgbClr val="1E1B4B"/>
                </a:solidFill>
                <a:latin typeface="Cambria Math" pitchFamily="34" charset="0"/>
                <a:ea typeface="Cambria Math" pitchFamily="34" charset="-122"/>
                <a:cs typeface="Cambria Math" pitchFamily="34" charset="-120"/>
              </a:rPr>
              <a:t>β</a:t>
            </a:r>
            <a:endParaRPr lang="en-US" sz="1300" dirty="0"/>
          </a:p>
        </p:txBody>
      </p:sp>
      <p:sp>
        <p:nvSpPr>
          <p:cNvPr id="19" name="Text 15"/>
          <p:cNvSpPr txBox="1"/>
          <p:nvPr/>
        </p:nvSpPr>
        <p:spPr>
          <a:xfrm>
            <a:off x="8046720" y="5765292"/>
            <a:ext cx="3596335" cy="544068"/>
          </a:xfrm>
          <a:prstGeom prst="rect">
            <a:avLst/>
          </a:prstGeom>
          <a:noFill/>
          <a:ln/>
        </p:spPr>
        <p:txBody>
          <a:bodyPr wrap="square" lIns="50800" tIns="50800" rIns="50800" bIns="5080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strength of the KL penalty</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Direct Preference Optimisation (DPO)</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14351c2228fff451.png">    </p:cNvPr>
          <p:cNvPicPr>
            <a:picLocks noChangeAspect="1"/>
          </p:cNvPicPr>
          <p:nvPr/>
        </p:nvPicPr>
        <p:blipFill>
          <a:blip r:embed="rId1"/>
          <a:stretch>
            <a:fillRect/>
          </a:stretch>
        </p:blipFill>
        <p:spPr>
          <a:xfrm>
            <a:off x="2991460" y="1766316"/>
            <a:ext cx="6208776" cy="755904"/>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Increase the probability of preferred answers and decrease that of rejected ones, relative to the reference model.</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Mathematically equivalent to RLHF's objective under its assumptions, but with </a:t>
            </a:r>
            <a:pPr indent="0" marL="0">
              <a:buNone/>
            </a:pPr>
            <a:r>
              <a:rPr lang="en-US" sz="1900" b="1" dirty="0">
                <a:solidFill>
                  <a:srgbClr val="1F2937"/>
                </a:solidFill>
                <a:latin typeface="Calibri" pitchFamily="34" charset="0"/>
                <a:ea typeface="Calibri" pitchFamily="34" charset="-122"/>
                <a:cs typeface="Calibri" pitchFamily="34" charset="-120"/>
              </a:rPr>
              <a:t>no reward model and no RL loop</a:t>
            </a:r>
            <a:pPr indent="0" marL="0">
              <a:buNone/>
            </a:pPr>
            <a:r>
              <a:rPr lang="en-US" sz="1900" dirty="0">
                <a:solidFill>
                  <a:srgbClr val="1F2937"/>
                </a:solidFill>
                <a:latin typeface="Calibri" pitchFamily="34" charset="0"/>
                <a:ea typeface="Calibri" pitchFamily="34" charset="-122"/>
                <a:cs typeface="Calibri" pitchFamily="34" charset="-120"/>
              </a:rPr>
              <a:t>: just a classification-style loss.</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Simple and stable; widely used for open models. Variants: IPO, KTO, ORPO, SimPO.</a:t>
            </a:r>
            <a:endParaRPr lang="en-US" sz="19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π_θ</a:t>
            </a:r>
            <a:endParaRPr lang="en-US" sz="17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model being trained</a:t>
            </a:r>
            <a:endParaRPr lang="en-US" sz="16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π_ref</a:t>
            </a:r>
            <a:endParaRPr lang="en-US" sz="17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frozen SFT model</a:t>
            </a:r>
            <a:endParaRPr lang="en-US" sz="16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β</a:t>
            </a:r>
            <a:endParaRPr lang="en-US" sz="17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how far from the reference the model may move</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Three ways to learn from feedback</a:t>
            </a:r>
            <a:endParaRPr lang="en-US" sz="3200" dirty="0"/>
          </a:p>
        </p:txBody>
      </p:sp>
      <p:sp>
        <p:nvSpPr>
          <p:cNvPr id="6" name="Shape 4"/>
          <p:cNvSpPr/>
          <p:nvPr/>
        </p:nvSpPr>
        <p:spPr>
          <a:xfrm>
            <a:off x="548640" y="1481328"/>
            <a:ext cx="351525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RLHF (PPO)</a:t>
            </a:r>
            <a:endParaRPr lang="en-US" sz="1800" dirty="0"/>
          </a:p>
        </p:txBody>
      </p:sp>
      <p:sp>
        <p:nvSpPr>
          <p:cNvPr id="9" name="Shape 6"/>
          <p:cNvSpPr/>
          <p:nvPr/>
        </p:nvSpPr>
        <p:spPr>
          <a:xfrm>
            <a:off x="548640" y="2167128"/>
            <a:ext cx="3515258" cy="4142232"/>
          </a:xfrm>
          <a:prstGeom prst="roundRect">
            <a:avLst>
              <a:gd name="adj" fmla="val 2601"/>
            </a:avLst>
          </a:prstGeom>
          <a:solidFill>
            <a:srgbClr val="EEF0FF"/>
          </a:solidFill>
          <a:ln w="12700">
            <a:solidFill>
              <a:srgbClr val="EEF0FF"/>
            </a:solidFill>
            <a:prstDash val="solid"/>
          </a:ln>
        </p:spPr>
      </p:sp>
      <p:sp>
        <p:nvSpPr>
          <p:cNvPr id="10" name="Text 7"/>
          <p:cNvSpPr txBox="1"/>
          <p:nvPr/>
        </p:nvSpPr>
        <p:spPr>
          <a:xfrm>
            <a:off x="658368"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Human preference pairs → reward model → RL</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Powerful and flexible; complex, unstable, costly</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InstructGPT, early ChatGPT</a:t>
            </a:r>
            <a:endParaRPr lang="en-US" sz="2000" dirty="0"/>
          </a:p>
        </p:txBody>
      </p:sp>
      <p:sp>
        <p:nvSpPr>
          <p:cNvPr id="11" name="Shape 8"/>
          <p:cNvSpPr/>
          <p:nvPr/>
        </p:nvSpPr>
        <p:spPr>
          <a:xfrm>
            <a:off x="4338218" y="1481328"/>
            <a:ext cx="351525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4502810" y="1591056"/>
            <a:ext cx="347472" cy="347472"/>
          </a:xfrm>
          <a:prstGeom prst="rect">
            <a:avLst/>
          </a:prstGeom>
        </p:spPr>
      </p:pic>
      <p:sp>
        <p:nvSpPr>
          <p:cNvPr id="13" name="Text 9"/>
          <p:cNvSpPr txBox="1"/>
          <p:nvPr/>
        </p:nvSpPr>
        <p:spPr>
          <a:xfrm>
            <a:off x="4932578"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DPO and variants</a:t>
            </a:r>
            <a:endParaRPr lang="en-US" sz="1800" dirty="0"/>
          </a:p>
        </p:txBody>
      </p:sp>
      <p:sp>
        <p:nvSpPr>
          <p:cNvPr id="14" name="Shape 10"/>
          <p:cNvSpPr/>
          <p:nvPr/>
        </p:nvSpPr>
        <p:spPr>
          <a:xfrm>
            <a:off x="4338218" y="2167128"/>
            <a:ext cx="3515258" cy="4142232"/>
          </a:xfrm>
          <a:prstGeom prst="roundRect">
            <a:avLst>
              <a:gd name="adj" fmla="val 2601"/>
            </a:avLst>
          </a:prstGeom>
          <a:solidFill>
            <a:srgbClr val="E6F4F1"/>
          </a:solidFill>
          <a:ln w="12700">
            <a:solidFill>
              <a:srgbClr val="E6F4F1"/>
            </a:solidFill>
            <a:prstDash val="solid"/>
          </a:ln>
        </p:spPr>
      </p:sp>
      <p:sp>
        <p:nvSpPr>
          <p:cNvPr id="15" name="Text 11"/>
          <p:cNvSpPr txBox="1"/>
          <p:nvPr/>
        </p:nvSpPr>
        <p:spPr>
          <a:xfrm>
            <a:off x="4447946"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Preference pairs → direct loss, no RL</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Simple, stable, cheap</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Common for open-weight chat models</a:t>
            </a:r>
            <a:endParaRPr lang="en-US" sz="2000" dirty="0"/>
          </a:p>
        </p:txBody>
      </p:sp>
      <p:sp>
        <p:nvSpPr>
          <p:cNvPr id="16" name="Shape 12"/>
          <p:cNvSpPr/>
          <p:nvPr/>
        </p:nvSpPr>
        <p:spPr>
          <a:xfrm>
            <a:off x="8127797" y="1481328"/>
            <a:ext cx="3515258" cy="566928"/>
          </a:xfrm>
          <a:prstGeom prst="roundRect">
            <a:avLst>
              <a:gd name="adj" fmla="val 16129"/>
            </a:avLst>
          </a:prstGeom>
          <a:solidFill>
            <a:srgbClr val="EA580C"/>
          </a:solidFill>
          <a:ln w="12700">
            <a:solidFill>
              <a:srgbClr val="EA580C"/>
            </a:solidFill>
            <a:prstDash val="solid"/>
          </a:ln>
        </p:spPr>
      </p:sp>
      <p:pic>
        <p:nvPicPr>
          <p:cNvPr id="17" name="Image 2" descr="preencoded.png">    </p:cNvPr>
          <p:cNvPicPr>
            <a:picLocks noChangeAspect="1"/>
          </p:cNvPicPr>
          <p:nvPr/>
        </p:nvPicPr>
        <p:blipFill>
          <a:blip r:embed="rId3"/>
          <a:stretch>
            <a:fillRect/>
          </a:stretch>
        </p:blipFill>
        <p:spPr>
          <a:xfrm>
            <a:off x="8292389" y="1591056"/>
            <a:ext cx="347472" cy="347472"/>
          </a:xfrm>
          <a:prstGeom prst="rect">
            <a:avLst/>
          </a:prstGeom>
        </p:spPr>
      </p:pic>
      <p:sp>
        <p:nvSpPr>
          <p:cNvPr id="18" name="Text 13"/>
          <p:cNvSpPr txBox="1"/>
          <p:nvPr/>
        </p:nvSpPr>
        <p:spPr>
          <a:xfrm>
            <a:off x="8722157"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RL with verifiable rewards</a:t>
            </a:r>
            <a:endParaRPr lang="en-US" sz="1800" dirty="0"/>
          </a:p>
        </p:txBody>
      </p:sp>
      <p:sp>
        <p:nvSpPr>
          <p:cNvPr id="19" name="Shape 14"/>
          <p:cNvSpPr/>
          <p:nvPr/>
        </p:nvSpPr>
        <p:spPr>
          <a:xfrm>
            <a:off x="8127797" y="2167128"/>
            <a:ext cx="3515258" cy="4142232"/>
          </a:xfrm>
          <a:prstGeom prst="roundRect">
            <a:avLst>
              <a:gd name="adj" fmla="val 2601"/>
            </a:avLst>
          </a:prstGeom>
          <a:solidFill>
            <a:srgbClr val="FFF1E6"/>
          </a:solidFill>
          <a:ln w="12700">
            <a:solidFill>
              <a:srgbClr val="FFF1E6"/>
            </a:solidFill>
            <a:prstDash val="solid"/>
          </a:ln>
        </p:spPr>
      </p:sp>
      <p:sp>
        <p:nvSpPr>
          <p:cNvPr id="20" name="Text 15"/>
          <p:cNvSpPr txBox="1"/>
          <p:nvPr/>
        </p:nvSpPr>
        <p:spPr>
          <a:xfrm>
            <a:off x="8237525"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Reward = automatic check (maths answer, unit tests)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GRPO: compare a group of sampled answers to each other</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Trains reasoning models (DeepSeek-R1, 2025)</a:t>
            </a:r>
            <a:endParaRPr lang="en-US"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AI feedback, and what can go wrong</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RLAIF / Constitutional AI</a:t>
            </a:r>
            <a:pPr indent="0" marL="0">
              <a:buNone/>
            </a:pPr>
            <a:r>
              <a:rPr lang="en-US" sz="2200" dirty="0">
                <a:solidFill>
                  <a:srgbClr val="1F2937"/>
                </a:solidFill>
                <a:latin typeface="Calibri" pitchFamily="34" charset="0"/>
                <a:ea typeface="Calibri" pitchFamily="34" charset="-122"/>
                <a:cs typeface="Calibri" pitchFamily="34" charset="-120"/>
              </a:rPr>
              <a:t> (Anthropic, 2022): a model critiques and ranks answers against written principles; scales feedback cheaply.</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Reward hacking</a:t>
            </a:r>
            <a:pPr indent="0" marL="0">
              <a:buNone/>
            </a:pPr>
            <a:r>
              <a:rPr lang="en-US" sz="2200" dirty="0">
                <a:solidFill>
                  <a:srgbClr val="1F2937"/>
                </a:solidFill>
                <a:latin typeface="Calibri" pitchFamily="34" charset="0"/>
                <a:ea typeface="Calibri" pitchFamily="34" charset="-122"/>
                <a:cs typeface="Calibri" pitchFamily="34" charset="-120"/>
              </a:rPr>
              <a:t>: the policy exploits reward-model flaws (verbosity, flattery, confident tone).</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Sycophancy</a:t>
            </a:r>
            <a:pPr indent="0" marL="0">
              <a:buNone/>
            </a:pPr>
            <a:r>
              <a:rPr lang="en-US" sz="2200" dirty="0">
                <a:solidFill>
                  <a:srgbClr val="1F2937"/>
                </a:solidFill>
                <a:latin typeface="Calibri" pitchFamily="34" charset="0"/>
                <a:ea typeface="Calibri" pitchFamily="34" charset="-122"/>
                <a:cs typeface="Calibri" pitchFamily="34" charset="-120"/>
              </a:rPr>
              <a:t>: preference training can reward agreeing with the user (week 7).</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Whose preferences?</a:t>
            </a:r>
            <a:pPr indent="0" marL="0">
              <a:buNone/>
            </a:pPr>
            <a:r>
              <a:rPr lang="en-US" sz="2200" dirty="0">
                <a:solidFill>
                  <a:srgbClr val="1F2937"/>
                </a:solidFill>
                <a:latin typeface="Calibri" pitchFamily="34" charset="0"/>
                <a:ea typeface="Calibri" pitchFamily="34" charset="-122"/>
                <a:cs typeface="Calibri" pitchFamily="34" charset="-120"/>
              </a:rPr>
              <a:t> Raters' demographics and guidelines shape the model's values.</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What is the main practical advantage of DPO over PPO-based RLHF?</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It needs no preference data</a:t>
            </a:r>
            <a:endParaRPr lang="en-US" sz="18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It removes the separate reward model and RL loop, making training simpler and more stable</a:t>
            </a:r>
            <a:endParaRPr lang="en-US" sz="18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It always produces a better model</a:t>
            </a:r>
            <a:endParaRPr lang="en-US" sz="18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It works only for image models</a:t>
            </a:r>
            <a:endParaRPr lang="en-US" sz="18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300" i="1" dirty="0">
                <a:solidFill>
                  <a:srgbClr val="6B7280"/>
                </a:solidFill>
                <a:latin typeface="Calibri" pitchFamily="34" charset="0"/>
                <a:ea typeface="Calibri" pitchFamily="34" charset="-122"/>
                <a:cs typeface="Calibri" pitchFamily="34" charset="-120"/>
              </a:rPr>
              <a:t>Vote, then convince your neighbour (1 minute).</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04</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Parameter-efficient fine-tuning (PEFT)</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 we fine-tune billions of parameters on a free GPU?</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LoRA training update</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Trace information forward and learning backward while the base stays frozen</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Layer input x</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Token vectors enter a targeted attention projection</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lora_config.target_modules</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input vector</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Two parallel paths</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Frozen W x and trainable B(Ax) use the same input</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lora_config</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base + adapter outputs</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Add correction</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Combine base output with scaled adapter output</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trainer.model</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corrected layer output</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Predict completion</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Remaining model layers score the intent-label tokens</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trainer.model</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label-token predictions</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Completion loss</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Compare predictions with known label tokens</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sft_train / SFTTrainer</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gradients</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Update A and B</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Gradients adjust adapter parameters; W remains unchanged</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trainer.train</a:t>
            </a:r>
            <a:endParaRPr lang="en-US" sz="1200" dirty="0"/>
          </a:p>
        </p:txBody>
      </p:sp>
      <p:sp>
        <p:nvSpPr>
          <p:cNvPr id="41" name="Shape 39"/>
          <p:cNvSpPr/>
          <p:nvPr/>
        </p:nvSpPr>
        <p:spPr>
          <a:xfrm>
            <a:off x="2289847" y="5422392"/>
            <a:ext cx="0" cy="109728"/>
          </a:xfrm>
          <a:prstGeom prst="line">
            <a:avLst/>
          </a:prstGeom>
          <a:noFill/>
          <a:ln w="20320">
            <a:solidFill>
              <a:srgbClr val="0F766E"/>
            </a:solidFill>
            <a:prstDash val="dash"/>
          </a:ln>
        </p:spPr>
      </p:sp>
      <p:sp>
        <p:nvSpPr>
          <p:cNvPr id="42" name="Shape 40"/>
          <p:cNvSpPr/>
          <p:nvPr/>
        </p:nvSpPr>
        <p:spPr>
          <a:xfrm flipH="1">
            <a:off x="603504" y="5532120"/>
            <a:ext cx="1686343" cy="0"/>
          </a:xfrm>
          <a:prstGeom prst="line">
            <a:avLst/>
          </a:prstGeom>
          <a:noFill/>
          <a:ln w="20320">
            <a:solidFill>
              <a:srgbClr val="0F766E"/>
            </a:solidFill>
            <a:prstDash val="dash"/>
          </a:ln>
        </p:spPr>
      </p:sp>
      <p:sp>
        <p:nvSpPr>
          <p:cNvPr id="43" name="Shape 41"/>
          <p:cNvSpPr/>
          <p:nvPr/>
        </p:nvSpPr>
        <p:spPr>
          <a:xfrm flipV="1">
            <a:off x="603504" y="1828800"/>
            <a:ext cx="0" cy="3703320"/>
          </a:xfrm>
          <a:prstGeom prst="line">
            <a:avLst/>
          </a:prstGeom>
          <a:noFill/>
          <a:ln w="20320">
            <a:solidFill>
              <a:srgbClr val="0F766E"/>
            </a:solidFill>
            <a:prstDash val="dash"/>
          </a:ln>
        </p:spPr>
      </p:sp>
      <p:sp>
        <p:nvSpPr>
          <p:cNvPr id="44" name="Shape 42"/>
          <p:cNvSpPr/>
          <p:nvPr/>
        </p:nvSpPr>
        <p:spPr>
          <a:xfrm>
            <a:off x="603504" y="1828800"/>
            <a:ext cx="5492344" cy="0"/>
          </a:xfrm>
          <a:prstGeom prst="line">
            <a:avLst/>
          </a:prstGeom>
          <a:noFill/>
          <a:ln w="20320">
            <a:solidFill>
              <a:srgbClr val="0F766E"/>
            </a:solidFill>
            <a:prstDash val="dash"/>
          </a:ln>
        </p:spPr>
      </p:sp>
      <p:sp>
        <p:nvSpPr>
          <p:cNvPr id="45" name="Shape 43"/>
          <p:cNvSpPr/>
          <p:nvPr/>
        </p:nvSpPr>
        <p:spPr>
          <a:xfrm>
            <a:off x="6095848" y="1828800"/>
            <a:ext cx="0" cy="36576"/>
          </a:xfrm>
          <a:prstGeom prst="line">
            <a:avLst/>
          </a:prstGeom>
          <a:noFill/>
          <a:ln w="20320">
            <a:solidFill>
              <a:srgbClr val="0F766E"/>
            </a:solidFill>
            <a:prstDash val="dash"/>
            <a:tailEnd type="triangle"/>
          </a:ln>
        </p:spPr>
      </p:sp>
      <p:sp>
        <p:nvSpPr>
          <p:cNvPr id="46" name="Text 44"/>
          <p:cNvSpPr txBox="1"/>
          <p:nvPr/>
        </p:nvSpPr>
        <p:spPr>
          <a:xfrm>
            <a:off x="685800" y="5577840"/>
            <a:ext cx="10820095" cy="438912"/>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Repeat: The next training step uses the updated adapter matrices</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LoRA: learn a low-rank update</a:t>
            </a:r>
            <a:endParaRPr lang="en-US" sz="3200" dirty="0"/>
          </a:p>
        </p:txBody>
      </p:sp>
      <p:pic>
        <p:nvPicPr>
          <p:cNvPr id="6" name="Image 0" descr="C:\Users\sudee\Downloads\Generative_AI_2027_Teaching_Pack\AI2027_Project\build\figures\week_08\lora.png">    </p:cNvPr>
          <p:cNvPicPr>
            <a:picLocks noChangeAspect="1"/>
          </p:cNvPicPr>
          <p:nvPr/>
        </p:nvPicPr>
        <p:blipFill>
          <a:blip r:embed="rId1"/>
          <a:stretch>
            <a:fillRect/>
          </a:stretch>
        </p:blipFill>
        <p:spPr>
          <a:xfrm>
            <a:off x="548640" y="1606983"/>
            <a:ext cx="11094415" cy="4576722"/>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LoRA in equations</a:t>
            </a:r>
            <a:endParaRPr lang="en-US" sz="3200" dirty="0"/>
          </a:p>
        </p:txBody>
      </p:sp>
      <p:sp>
        <p:nvSpPr>
          <p:cNvPr id="6" name="Shape 4"/>
          <p:cNvSpPr/>
          <p:nvPr/>
        </p:nvSpPr>
        <p:spPr>
          <a:xfrm>
            <a:off x="548640" y="1481328"/>
            <a:ext cx="11094415" cy="1828800"/>
          </a:xfrm>
          <a:prstGeom prst="roundRect">
            <a:avLst>
              <a:gd name="adj" fmla="val 6000"/>
            </a:avLst>
          </a:prstGeom>
          <a:solidFill>
            <a:srgbClr val="EEF0FF"/>
          </a:solidFill>
          <a:ln w="12700">
            <a:solidFill>
              <a:srgbClr val="EEF0FF"/>
            </a:solidFill>
            <a:prstDash val="solid"/>
          </a:ln>
        </p:spPr>
      </p:sp>
      <p:pic>
        <p:nvPicPr>
          <p:cNvPr id="7" name="Image 0" descr="C:\Users\sudee\Downloads\Generative_AI_2027_Teaching_Pack\AI2027_Project\build\eq\e4ddbd577bc01b80.png">    </p:cNvPr>
          <p:cNvPicPr>
            <a:picLocks noChangeAspect="1"/>
          </p:cNvPicPr>
          <p:nvPr/>
        </p:nvPicPr>
        <p:blipFill>
          <a:blip r:embed="rId1"/>
          <a:stretch>
            <a:fillRect/>
          </a:stretch>
        </p:blipFill>
        <p:spPr>
          <a:xfrm>
            <a:off x="2491588" y="1794256"/>
            <a:ext cx="7208520" cy="582168"/>
          </a:xfrm>
          <a:prstGeom prst="rect">
            <a:avLst/>
          </a:prstGeom>
        </p:spPr>
      </p:pic>
      <p:pic>
        <p:nvPicPr>
          <p:cNvPr id="8" name="Image 1" descr="C:\Users\sudee\Downloads\Generative_AI_2027_Teaching_Pack\AI2027_Project\build\eq\6ee89461ecf7754c.png">    </p:cNvPr>
          <p:cNvPicPr>
            <a:picLocks noChangeAspect="1"/>
          </p:cNvPicPr>
          <p:nvPr/>
        </p:nvPicPr>
        <p:blipFill>
          <a:blip r:embed="rId2"/>
          <a:stretch>
            <a:fillRect/>
          </a:stretch>
        </p:blipFill>
        <p:spPr>
          <a:xfrm>
            <a:off x="4294480" y="2643632"/>
            <a:ext cx="3602736" cy="353568"/>
          </a:xfrm>
          <a:prstGeom prst="rect">
            <a:avLst/>
          </a:prstGeom>
        </p:spPr>
      </p:pic>
      <p:sp>
        <p:nvSpPr>
          <p:cNvPr id="9" name="Text 5"/>
          <p:cNvSpPr txBox="1"/>
          <p:nvPr/>
        </p:nvSpPr>
        <p:spPr>
          <a:xfrm>
            <a:off x="548640" y="353872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3922776"/>
            <a:ext cx="6035040" cy="235915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The adapted layer adds a low-rank path to the frozen one; α/r scales its contribution.</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Worked example: d = k = 4096, r = 16 → 16 × 8192 = 131,072 vs 16,777,216 (0.78%).</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After training, </a:t>
            </a:r>
            <a:pPr indent="0" marL="0">
              <a:buNone/>
            </a:pPr>
            <a:r>
              <a:rPr lang="en-US" sz="1800" b="1" dirty="0">
                <a:solidFill>
                  <a:srgbClr val="1F2937"/>
                </a:solidFill>
                <a:latin typeface="Calibri" pitchFamily="34" charset="0"/>
                <a:ea typeface="Calibri" pitchFamily="34" charset="-122"/>
                <a:cs typeface="Calibri" pitchFamily="34" charset="-120"/>
              </a:rPr>
              <a:t>merge</a:t>
            </a:r>
            <a:pPr indent="0" marL="0">
              <a:buNone/>
            </a:pPr>
            <a:r>
              <a:rPr lang="en-US" sz="1800" dirty="0">
                <a:solidFill>
                  <a:srgbClr val="1F2937"/>
                </a:solidFill>
                <a:latin typeface="Calibri" pitchFamily="34" charset="0"/>
                <a:ea typeface="Calibri" pitchFamily="34" charset="-122"/>
                <a:cs typeface="Calibri" pitchFamily="34" charset="-120"/>
              </a:rPr>
              <a:t> BA into W for zero extra inference cost, or keep adapters separate and swap them per task.</a:t>
            </a:r>
            <a:endParaRPr lang="en-US" sz="1800" dirty="0"/>
          </a:p>
        </p:txBody>
      </p:sp>
      <p:sp>
        <p:nvSpPr>
          <p:cNvPr id="11" name="Text 7"/>
          <p:cNvSpPr txBox="1"/>
          <p:nvPr/>
        </p:nvSpPr>
        <p:spPr>
          <a:xfrm>
            <a:off x="6858000" y="353872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2" name="Text 8"/>
          <p:cNvSpPr txBox="1"/>
          <p:nvPr/>
        </p:nvSpPr>
        <p:spPr>
          <a:xfrm>
            <a:off x="6858000" y="395020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r</a:t>
            </a:r>
            <a:endParaRPr lang="en-US" sz="1700" dirty="0"/>
          </a:p>
        </p:txBody>
      </p:sp>
      <p:sp>
        <p:nvSpPr>
          <p:cNvPr id="13" name="Text 9"/>
          <p:cNvSpPr txBox="1"/>
          <p:nvPr/>
        </p:nvSpPr>
        <p:spPr>
          <a:xfrm>
            <a:off x="8046720" y="395020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rank, typically 4–64</a:t>
            </a:r>
            <a:endParaRPr lang="en-US" sz="1600" dirty="0"/>
          </a:p>
        </p:txBody>
      </p:sp>
      <p:sp>
        <p:nvSpPr>
          <p:cNvPr id="14" name="Text 10"/>
          <p:cNvSpPr txBox="1"/>
          <p:nvPr/>
        </p:nvSpPr>
        <p:spPr>
          <a:xfrm>
            <a:off x="6858000" y="463600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α</a:t>
            </a:r>
            <a:endParaRPr lang="en-US" sz="1700" dirty="0"/>
          </a:p>
        </p:txBody>
      </p:sp>
      <p:sp>
        <p:nvSpPr>
          <p:cNvPr id="15" name="Text 11"/>
          <p:cNvSpPr txBox="1"/>
          <p:nvPr/>
        </p:nvSpPr>
        <p:spPr>
          <a:xfrm>
            <a:off x="8046720" y="463600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scaling factor, often 2r</a:t>
            </a:r>
            <a:endParaRPr lang="en-US" sz="1600" dirty="0"/>
          </a:p>
        </p:txBody>
      </p:sp>
      <p:sp>
        <p:nvSpPr>
          <p:cNvPr id="16" name="Text 12"/>
          <p:cNvSpPr txBox="1"/>
          <p:nvPr/>
        </p:nvSpPr>
        <p:spPr>
          <a:xfrm>
            <a:off x="6858000" y="532180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target modules</a:t>
            </a:r>
            <a:endParaRPr lang="en-US" sz="1700" dirty="0"/>
          </a:p>
        </p:txBody>
      </p:sp>
      <p:sp>
        <p:nvSpPr>
          <p:cNvPr id="17" name="Text 13"/>
          <p:cNvSpPr txBox="1"/>
          <p:nvPr/>
        </p:nvSpPr>
        <p:spPr>
          <a:xfrm>
            <a:off x="8046720" y="532180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which layers get adapters, e.g. q, k, v, o projections</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How many weights does LoRA train? (the lab model)</a:t>
            </a:r>
            <a:endParaRPr lang="en-US" sz="3200" dirty="0"/>
          </a:p>
        </p:txBody>
      </p:sp>
      <p:pic>
        <p:nvPicPr>
          <p:cNvPr id="6" name="Image 0" descr="C:\Users\sudee\Downloads\Generative_AI_2027_Teaching_Pack\AI2027_Project\build\figures\week_08\param_compare.png">    </p:cNvPr>
          <p:cNvPicPr>
            <a:picLocks noChangeAspect="1"/>
          </p:cNvPicPr>
          <p:nvPr/>
        </p:nvPicPr>
        <p:blipFill>
          <a:blip r:embed="rId1"/>
          <a:stretch>
            <a:fillRect/>
          </a:stretch>
        </p:blipFill>
        <p:spPr>
          <a:xfrm>
            <a:off x="2353717" y="1481328"/>
            <a:ext cx="7484261" cy="3081528"/>
          </a:xfrm>
          <a:prstGeom prst="rect">
            <a:avLst/>
          </a:prstGeom>
        </p:spPr>
      </p:pic>
      <p:sp>
        <p:nvSpPr>
          <p:cNvPr id="7" name="Text 4"/>
          <p:cNvSpPr txBox="1"/>
          <p:nvPr/>
        </p:nvSpPr>
        <p:spPr>
          <a:xfrm>
            <a:off x="548640" y="4745736"/>
            <a:ext cx="11094415" cy="156362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LoRA (r = 16, attention projections) trains 2,162,688 of 496,195,456 parameters (0.44%).</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Fewer trainable weights → far less optimizer memory and much smaller checkpoints.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Original paper: 10,000× fewer trainable parameters and 3× less GPU memory than full fine-tuning of GPT-3.</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QLoRA: fine-tune on top of a 4-bit model</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Store the frozen base model in </a:t>
            </a:r>
            <a:pPr indent="0" marL="0">
              <a:buNone/>
            </a:pPr>
            <a:r>
              <a:rPr lang="en-US" sz="2200" b="1" dirty="0">
                <a:solidFill>
                  <a:srgbClr val="1F2937"/>
                </a:solidFill>
                <a:latin typeface="Calibri" pitchFamily="34" charset="0"/>
                <a:ea typeface="Calibri" pitchFamily="34" charset="-122"/>
                <a:cs typeface="Calibri" pitchFamily="34" charset="-120"/>
              </a:rPr>
              <a:t>4-bit NormalFloat (NF4)</a:t>
            </a:r>
            <a:pPr indent="0" marL="0">
              <a:buNone/>
            </a:pPr>
            <a:r>
              <a:rPr lang="en-US" sz="2200" dirty="0">
                <a:solidFill>
                  <a:srgbClr val="1F2937"/>
                </a:solidFill>
                <a:latin typeface="Calibri" pitchFamily="34" charset="0"/>
                <a:ea typeface="Calibri" pitchFamily="34" charset="-122"/>
                <a:cs typeface="Calibri" pitchFamily="34" charset="-120"/>
              </a:rPr>
              <a:t>; train LoRA adapters in 16-bit (Dettmers et al., 2023).</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Double quantisation and paged optimizers save more memory.</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Made fine-tuning a 65 B model possible on a </a:t>
            </a:r>
            <a:pPr indent="0" marL="0">
              <a:buNone/>
            </a:pPr>
            <a:r>
              <a:rPr lang="en-US" sz="2200" b="1" dirty="0">
                <a:solidFill>
                  <a:srgbClr val="1F2937"/>
                </a:solidFill>
                <a:latin typeface="Calibri" pitchFamily="34" charset="0"/>
                <a:ea typeface="Calibri" pitchFamily="34" charset="-122"/>
                <a:cs typeface="Calibri" pitchFamily="34" charset="-120"/>
              </a:rPr>
              <a:t>single 48 GB GPU</a:t>
            </a:r>
            <a:pPr indent="0" marL="0">
              <a:buNone/>
            </a:pPr>
            <a:r>
              <a:rPr lang="en-US" sz="2200" dirty="0">
                <a:solidFill>
                  <a:srgbClr val="1F2937"/>
                </a:solidFill>
                <a:latin typeface="Calibri" pitchFamily="34" charset="0"/>
                <a:ea typeface="Calibri" pitchFamily="34" charset="-122"/>
                <a:cs typeface="Calibri" pitchFamily="34" charset="-120"/>
              </a:rPr>
              <a:t>, and 7–8 B models on a free Colab T4.</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Small quality cost vs 16-bit LoRA in most tasks; slower per step (de-quantisation).</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Parameter-efficient methods compared</a:t>
            </a:r>
            <a:endParaRPr lang="en-US" sz="3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999575"/>
                <a:gridCol w="3354126"/>
                <a:gridCol w="2902609"/>
                <a:gridCol w="2838106"/>
              </a:tblGrid>
              <a:tr h="0">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Method</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What is trained</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Pros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Cons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LoRA</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Low-rank updates to chosen weight matrices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Strong quality; mergeable; swappable adapters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Choose rank and target modules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QLoRA</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LoRA on a 4-bit frozen base</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Large models on small GPUs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Slower; small quality cost</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Adapters (Houlsby et al., 2019)</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Small bottleneck layers inserted in each block</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Modular; well studied</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Extra inference latency</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Prompt / prefix tuning</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Learned 'soft prompt' vectors prepended to the input</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Tiny; one model, many tasks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Weaker on smaller models; less interpretable</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Full fine-tuning</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All weights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Maximum flexibility</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Memory, cost, one full copy per task</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Rough GPU memory to fine-tune a 7–8 B model</a:t>
            </a:r>
            <a:endParaRPr lang="en-US" sz="3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3452858"/>
                <a:gridCol w="1224280"/>
                <a:gridCol w="2360345"/>
                <a:gridCol w="1247208"/>
                <a:gridCol w="2809724"/>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Approach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Weights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Gradients + optimizer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Rough total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Hardware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Full fine-tuning (16-bit, Adam)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 15 GB</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 60–90 GB</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 100+ GB</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Multiple data-centre GPUs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LoRA (16-bit base)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 15 GB</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&lt; 1 GB</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 18–24 GB</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One 24 GB GPU</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QLoRA (4-bit base)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 4–5 GB</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&lt; 1 GB</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 7–12 GB</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Colab T4 (16 GB)</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
        <p:nvSpPr>
          <p:cNvPr id="7" name="Shape 4"/>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8" name="Text 5"/>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Rules of thumb only: activations depend on sequence length and batch size. Measure on your own setup.</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Knowledge distillation: big teacher, small student</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Train a small </a:t>
            </a:r>
            <a:pPr indent="0" marL="0">
              <a:buNone/>
            </a:pPr>
            <a:r>
              <a:rPr lang="en-US" sz="2200" b="1" dirty="0">
                <a:solidFill>
                  <a:srgbClr val="1F2937"/>
                </a:solidFill>
                <a:latin typeface="Calibri" pitchFamily="34" charset="0"/>
                <a:ea typeface="Calibri" pitchFamily="34" charset="-122"/>
                <a:cs typeface="Calibri" pitchFamily="34" charset="-120"/>
              </a:rPr>
              <a:t>student</a:t>
            </a:r>
            <a:pPr indent="0" marL="0">
              <a:buNone/>
            </a:pPr>
            <a:r>
              <a:rPr lang="en-US" sz="2200" dirty="0">
                <a:solidFill>
                  <a:srgbClr val="1F2937"/>
                </a:solidFill>
                <a:latin typeface="Calibri" pitchFamily="34" charset="0"/>
                <a:ea typeface="Calibri" pitchFamily="34" charset="-122"/>
                <a:cs typeface="Calibri" pitchFamily="34" charset="-120"/>
              </a:rPr>
              <a:t> to imitate a large </a:t>
            </a:r>
            <a:pPr indent="0" marL="0">
              <a:buNone/>
            </a:pPr>
            <a:r>
              <a:rPr lang="en-US" sz="2200" b="1" dirty="0">
                <a:solidFill>
                  <a:srgbClr val="1F2937"/>
                </a:solidFill>
                <a:latin typeface="Calibri" pitchFamily="34" charset="0"/>
                <a:ea typeface="Calibri" pitchFamily="34" charset="-122"/>
                <a:cs typeface="Calibri" pitchFamily="34" charset="-120"/>
              </a:rPr>
              <a:t>teacher</a:t>
            </a:r>
            <a:pPr indent="0" marL="0">
              <a:buNone/>
            </a:pPr>
            <a:r>
              <a:rPr lang="en-US" sz="2200" dirty="0">
                <a:solidFill>
                  <a:srgbClr val="1F2937"/>
                </a:solidFill>
                <a:latin typeface="Calibri" pitchFamily="34" charset="0"/>
                <a:ea typeface="Calibri" pitchFamily="34" charset="-122"/>
                <a:cs typeface="Calibri" pitchFamily="34" charset="-120"/>
              </a:rPr>
              <a:t>: match its output probabilities (soft labels) or fine-tune on its generated answers.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Produces fast, cheap models that keep much of the teacher's quality on the target task.</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Many small open models are distilled from larger ones (e.g. DeepSeek-R1 distilled into small Qwen and Llama models).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Check terms: some API providers forbid using outputs to train competing models.</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05</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Domain adaptation in practice</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 we fine-tune for a real domain and prove it worked?</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domain fine-tuning workflow</a:t>
            </a:r>
            <a:endParaRPr lang="en-US" sz="3200" dirty="0"/>
          </a:p>
        </p:txBody>
      </p:sp>
      <p:sp>
        <p:nvSpPr>
          <p:cNvPr id="6" name="Shape 4"/>
          <p:cNvSpPr/>
          <p:nvPr/>
        </p:nvSpPr>
        <p:spPr>
          <a:xfrm>
            <a:off x="548640" y="1618488"/>
            <a:ext cx="1889699" cy="3108960"/>
          </a:xfrm>
          <a:prstGeom prst="roundRect">
            <a:avLst>
              <a:gd name="adj" fmla="val 5807"/>
            </a:avLst>
          </a:prstGeom>
          <a:solidFill>
            <a:srgbClr val="EEF0FF"/>
          </a:solidFill>
          <a:ln w="15875">
            <a:solidFill>
              <a:srgbClr val="4F46E5"/>
            </a:solidFill>
            <a:prstDash val="solid"/>
          </a:ln>
        </p:spPr>
      </p:sp>
      <p:sp>
        <p:nvSpPr>
          <p:cNvPr id="7" name="Shape 5"/>
          <p:cNvSpPr/>
          <p:nvPr/>
        </p:nvSpPr>
        <p:spPr>
          <a:xfrm>
            <a:off x="1292322" y="1746504"/>
            <a:ext cx="402336" cy="402336"/>
          </a:xfrm>
          <a:prstGeom prst="ellipse">
            <a:avLst/>
          </a:prstGeom>
          <a:solidFill>
            <a:srgbClr val="4F46E5"/>
          </a:solidFill>
          <a:ln w="12700">
            <a:solidFill>
              <a:srgbClr val="4F46E5"/>
            </a:solidFill>
            <a:prstDash val="solid"/>
          </a:ln>
        </p:spPr>
      </p:sp>
      <p:sp>
        <p:nvSpPr>
          <p:cNvPr id="8" name="Text 6"/>
          <p:cNvSpPr txBox="1"/>
          <p:nvPr/>
        </p:nvSpPr>
        <p:spPr>
          <a:xfrm>
            <a:off x="1292322"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621792"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Define task &amp; metric</a:t>
            </a:r>
            <a:endParaRPr lang="en-US" sz="1900" dirty="0"/>
          </a:p>
        </p:txBody>
      </p:sp>
      <p:sp>
        <p:nvSpPr>
          <p:cNvPr id="10" name="Text 8"/>
          <p:cNvSpPr txBox="1"/>
          <p:nvPr/>
        </p:nvSpPr>
        <p:spPr>
          <a:xfrm>
            <a:off x="640080"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Inputs, outputs, success criteria; held-out test set first</a:t>
            </a:r>
            <a:endParaRPr lang="en-US" sz="1700" dirty="0"/>
          </a:p>
        </p:txBody>
      </p:sp>
      <p:sp>
        <p:nvSpPr>
          <p:cNvPr id="11" name="Shape 9"/>
          <p:cNvSpPr/>
          <p:nvPr/>
        </p:nvSpPr>
        <p:spPr>
          <a:xfrm>
            <a:off x="2502347" y="3026664"/>
            <a:ext cx="283464" cy="292608"/>
          </a:xfrm>
          <a:prstGeom prst="rightArrow">
            <a:avLst/>
          </a:prstGeom>
          <a:solidFill>
            <a:srgbClr val="6B7280"/>
          </a:solidFill>
          <a:ln w="12700">
            <a:solidFill>
              <a:srgbClr val="6B7280"/>
            </a:solidFill>
            <a:prstDash val="solid"/>
          </a:ln>
        </p:spPr>
      </p:sp>
      <p:sp>
        <p:nvSpPr>
          <p:cNvPr id="12" name="Shape 10"/>
          <p:cNvSpPr/>
          <p:nvPr/>
        </p:nvSpPr>
        <p:spPr>
          <a:xfrm>
            <a:off x="2849819" y="1618488"/>
            <a:ext cx="1889699" cy="3108960"/>
          </a:xfrm>
          <a:prstGeom prst="roundRect">
            <a:avLst>
              <a:gd name="adj" fmla="val 5807"/>
            </a:avLst>
          </a:prstGeom>
          <a:solidFill>
            <a:srgbClr val="EEF0FF"/>
          </a:solidFill>
          <a:ln w="15875">
            <a:solidFill>
              <a:srgbClr val="4F46E5"/>
            </a:solidFill>
            <a:prstDash val="solid"/>
          </a:ln>
        </p:spPr>
      </p:sp>
      <p:sp>
        <p:nvSpPr>
          <p:cNvPr id="13" name="Shape 11"/>
          <p:cNvSpPr/>
          <p:nvPr/>
        </p:nvSpPr>
        <p:spPr>
          <a:xfrm>
            <a:off x="3593501" y="1746504"/>
            <a:ext cx="402336" cy="402336"/>
          </a:xfrm>
          <a:prstGeom prst="ellipse">
            <a:avLst/>
          </a:prstGeom>
          <a:solidFill>
            <a:srgbClr val="4F46E5"/>
          </a:solidFill>
          <a:ln w="12700">
            <a:solidFill>
              <a:srgbClr val="4F46E5"/>
            </a:solidFill>
            <a:prstDash val="solid"/>
          </a:ln>
        </p:spPr>
      </p:sp>
      <p:sp>
        <p:nvSpPr>
          <p:cNvPr id="14" name="Text 12"/>
          <p:cNvSpPr txBox="1"/>
          <p:nvPr/>
        </p:nvSpPr>
        <p:spPr>
          <a:xfrm>
            <a:off x="3593501"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2922971"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Prepare data</a:t>
            </a:r>
            <a:endParaRPr lang="en-US" sz="1900" dirty="0"/>
          </a:p>
        </p:txBody>
      </p:sp>
      <p:sp>
        <p:nvSpPr>
          <p:cNvPr id="16" name="Text 14"/>
          <p:cNvSpPr txBox="1"/>
          <p:nvPr/>
        </p:nvSpPr>
        <p:spPr>
          <a:xfrm>
            <a:off x="2941259"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Clean, label, split, format with the chat template</a:t>
            </a:r>
            <a:endParaRPr lang="en-US" sz="1700" dirty="0"/>
          </a:p>
        </p:txBody>
      </p:sp>
      <p:sp>
        <p:nvSpPr>
          <p:cNvPr id="17" name="Shape 15"/>
          <p:cNvSpPr/>
          <p:nvPr/>
        </p:nvSpPr>
        <p:spPr>
          <a:xfrm>
            <a:off x="4803526" y="3026664"/>
            <a:ext cx="283464" cy="292608"/>
          </a:xfrm>
          <a:prstGeom prst="rightArrow">
            <a:avLst/>
          </a:prstGeom>
          <a:solidFill>
            <a:srgbClr val="6B7280"/>
          </a:solidFill>
          <a:ln w="12700">
            <a:solidFill>
              <a:srgbClr val="6B7280"/>
            </a:solidFill>
            <a:prstDash val="solid"/>
          </a:ln>
        </p:spPr>
      </p:sp>
      <p:sp>
        <p:nvSpPr>
          <p:cNvPr id="18" name="Shape 16"/>
          <p:cNvSpPr/>
          <p:nvPr/>
        </p:nvSpPr>
        <p:spPr>
          <a:xfrm>
            <a:off x="5150998" y="1618488"/>
            <a:ext cx="1889699" cy="3108960"/>
          </a:xfrm>
          <a:prstGeom prst="roundRect">
            <a:avLst>
              <a:gd name="adj" fmla="val 5807"/>
            </a:avLst>
          </a:prstGeom>
          <a:solidFill>
            <a:srgbClr val="EEF0FF"/>
          </a:solidFill>
          <a:ln w="15875">
            <a:solidFill>
              <a:srgbClr val="4F46E5"/>
            </a:solidFill>
            <a:prstDash val="solid"/>
          </a:ln>
        </p:spPr>
      </p:sp>
      <p:sp>
        <p:nvSpPr>
          <p:cNvPr id="19" name="Shape 17"/>
          <p:cNvSpPr/>
          <p:nvPr/>
        </p:nvSpPr>
        <p:spPr>
          <a:xfrm>
            <a:off x="5894680" y="1746504"/>
            <a:ext cx="402336" cy="402336"/>
          </a:xfrm>
          <a:prstGeom prst="ellipse">
            <a:avLst/>
          </a:prstGeom>
          <a:solidFill>
            <a:srgbClr val="4F46E5"/>
          </a:solidFill>
          <a:ln w="12700">
            <a:solidFill>
              <a:srgbClr val="4F46E5"/>
            </a:solidFill>
            <a:prstDash val="solid"/>
          </a:ln>
        </p:spPr>
      </p:sp>
      <p:sp>
        <p:nvSpPr>
          <p:cNvPr id="20" name="Text 18"/>
          <p:cNvSpPr txBox="1"/>
          <p:nvPr/>
        </p:nvSpPr>
        <p:spPr>
          <a:xfrm>
            <a:off x="5894680"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9"/>
          <p:cNvSpPr txBox="1"/>
          <p:nvPr/>
        </p:nvSpPr>
        <p:spPr>
          <a:xfrm>
            <a:off x="5224150"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Baseline</a:t>
            </a:r>
            <a:endParaRPr lang="en-US" sz="1900" dirty="0"/>
          </a:p>
        </p:txBody>
      </p:sp>
      <p:sp>
        <p:nvSpPr>
          <p:cNvPr id="22" name="Text 20"/>
          <p:cNvSpPr txBox="1"/>
          <p:nvPr/>
        </p:nvSpPr>
        <p:spPr>
          <a:xfrm>
            <a:off x="5242438"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Best prompting result on the same test set</a:t>
            </a:r>
            <a:endParaRPr lang="en-US" sz="1700" dirty="0"/>
          </a:p>
        </p:txBody>
      </p:sp>
      <p:sp>
        <p:nvSpPr>
          <p:cNvPr id="23" name="Shape 21"/>
          <p:cNvSpPr/>
          <p:nvPr/>
        </p:nvSpPr>
        <p:spPr>
          <a:xfrm>
            <a:off x="7104705" y="3026664"/>
            <a:ext cx="283464" cy="292608"/>
          </a:xfrm>
          <a:prstGeom prst="rightArrow">
            <a:avLst/>
          </a:prstGeom>
          <a:solidFill>
            <a:srgbClr val="6B7280"/>
          </a:solidFill>
          <a:ln w="12700">
            <a:solidFill>
              <a:srgbClr val="6B7280"/>
            </a:solidFill>
            <a:prstDash val="solid"/>
          </a:ln>
        </p:spPr>
      </p:sp>
      <p:sp>
        <p:nvSpPr>
          <p:cNvPr id="24" name="Shape 22"/>
          <p:cNvSpPr/>
          <p:nvPr/>
        </p:nvSpPr>
        <p:spPr>
          <a:xfrm>
            <a:off x="7452177" y="1618488"/>
            <a:ext cx="1889699" cy="3108960"/>
          </a:xfrm>
          <a:prstGeom prst="roundRect">
            <a:avLst>
              <a:gd name="adj" fmla="val 5807"/>
            </a:avLst>
          </a:prstGeom>
          <a:solidFill>
            <a:srgbClr val="FFF1E6"/>
          </a:solidFill>
          <a:ln w="15875">
            <a:solidFill>
              <a:srgbClr val="EA580C"/>
            </a:solidFill>
            <a:prstDash val="solid"/>
          </a:ln>
        </p:spPr>
      </p:sp>
      <p:sp>
        <p:nvSpPr>
          <p:cNvPr id="25" name="Shape 23"/>
          <p:cNvSpPr/>
          <p:nvPr/>
        </p:nvSpPr>
        <p:spPr>
          <a:xfrm>
            <a:off x="8195859" y="1746504"/>
            <a:ext cx="402336" cy="402336"/>
          </a:xfrm>
          <a:prstGeom prst="ellipse">
            <a:avLst/>
          </a:prstGeom>
          <a:solidFill>
            <a:srgbClr val="EA580C"/>
          </a:solidFill>
          <a:ln w="12700">
            <a:solidFill>
              <a:srgbClr val="EA580C"/>
            </a:solidFill>
            <a:prstDash val="solid"/>
          </a:ln>
        </p:spPr>
      </p:sp>
      <p:sp>
        <p:nvSpPr>
          <p:cNvPr id="26" name="Text 24"/>
          <p:cNvSpPr txBox="1"/>
          <p:nvPr/>
        </p:nvSpPr>
        <p:spPr>
          <a:xfrm>
            <a:off x="8195859"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7" name="Text 25"/>
          <p:cNvSpPr txBox="1"/>
          <p:nvPr/>
        </p:nvSpPr>
        <p:spPr>
          <a:xfrm>
            <a:off x="7525329"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LoRA SFT</a:t>
            </a:r>
            <a:endParaRPr lang="en-US" sz="1900" dirty="0"/>
          </a:p>
        </p:txBody>
      </p:sp>
      <p:sp>
        <p:nvSpPr>
          <p:cNvPr id="28" name="Text 26"/>
          <p:cNvSpPr txBox="1"/>
          <p:nvPr/>
        </p:nvSpPr>
        <p:spPr>
          <a:xfrm>
            <a:off x="7543617"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Small learning rate, few epochs, validation loss</a:t>
            </a:r>
            <a:endParaRPr lang="en-US" sz="1700" dirty="0"/>
          </a:p>
        </p:txBody>
      </p:sp>
      <p:sp>
        <p:nvSpPr>
          <p:cNvPr id="29" name="Shape 27"/>
          <p:cNvSpPr/>
          <p:nvPr/>
        </p:nvSpPr>
        <p:spPr>
          <a:xfrm>
            <a:off x="9405884" y="3026664"/>
            <a:ext cx="283464" cy="292608"/>
          </a:xfrm>
          <a:prstGeom prst="rightArrow">
            <a:avLst/>
          </a:prstGeom>
          <a:solidFill>
            <a:srgbClr val="6B7280"/>
          </a:solidFill>
          <a:ln w="12700">
            <a:solidFill>
              <a:srgbClr val="6B7280"/>
            </a:solidFill>
            <a:prstDash val="solid"/>
          </a:ln>
        </p:spPr>
      </p:sp>
      <p:sp>
        <p:nvSpPr>
          <p:cNvPr id="30" name="Shape 28"/>
          <p:cNvSpPr/>
          <p:nvPr/>
        </p:nvSpPr>
        <p:spPr>
          <a:xfrm>
            <a:off x="9753356" y="1618488"/>
            <a:ext cx="1889699" cy="3108960"/>
          </a:xfrm>
          <a:prstGeom prst="roundRect">
            <a:avLst>
              <a:gd name="adj" fmla="val 5807"/>
            </a:avLst>
          </a:prstGeom>
          <a:solidFill>
            <a:srgbClr val="EEF0FF"/>
          </a:solidFill>
          <a:ln w="15875">
            <a:solidFill>
              <a:srgbClr val="4F46E5"/>
            </a:solidFill>
            <a:prstDash val="solid"/>
          </a:ln>
        </p:spPr>
      </p:sp>
      <p:sp>
        <p:nvSpPr>
          <p:cNvPr id="31" name="Shape 29"/>
          <p:cNvSpPr/>
          <p:nvPr/>
        </p:nvSpPr>
        <p:spPr>
          <a:xfrm>
            <a:off x="10497038" y="1746504"/>
            <a:ext cx="402336" cy="402336"/>
          </a:xfrm>
          <a:prstGeom prst="ellipse">
            <a:avLst/>
          </a:prstGeom>
          <a:solidFill>
            <a:srgbClr val="4F46E5"/>
          </a:solidFill>
          <a:ln w="12700">
            <a:solidFill>
              <a:srgbClr val="4F46E5"/>
            </a:solidFill>
            <a:prstDash val="solid"/>
          </a:ln>
        </p:spPr>
      </p:sp>
      <p:sp>
        <p:nvSpPr>
          <p:cNvPr id="32" name="Text 30"/>
          <p:cNvSpPr txBox="1"/>
          <p:nvPr/>
        </p:nvSpPr>
        <p:spPr>
          <a:xfrm>
            <a:off x="10497038"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3" name="Text 31"/>
          <p:cNvSpPr txBox="1"/>
          <p:nvPr/>
        </p:nvSpPr>
        <p:spPr>
          <a:xfrm>
            <a:off x="9826508"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Evaluate &amp; decide</a:t>
            </a:r>
            <a:endParaRPr lang="en-US" sz="1900" dirty="0"/>
          </a:p>
        </p:txBody>
      </p:sp>
      <p:sp>
        <p:nvSpPr>
          <p:cNvPr id="34" name="Text 32"/>
          <p:cNvSpPr txBox="1"/>
          <p:nvPr/>
        </p:nvSpPr>
        <p:spPr>
          <a:xfrm>
            <a:off x="9844796"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Task metric, general-ability check, cost; iterate or deploy</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Common pitfalls</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Overfitting</a:t>
            </a:r>
            <a:endParaRPr lang="en-US" sz="19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Training loss falls, validation loss rises: fewer epochs, lower rank or learning rate, more data.</a:t>
            </a:r>
            <a:endParaRPr lang="en-US" sz="19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Catastrophic forgetting</a:t>
            </a:r>
            <a:endParaRPr lang="en-US" sz="19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The model loses general abilities; mix in general data, keep adapters separable, test general skills.</a:t>
            </a:r>
            <a:endParaRPr lang="en-US" sz="19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Data leakage</a:t>
            </a:r>
            <a:endParaRPr lang="en-US" sz="19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Test examples (or near-duplicates) in training data inflate results.</a:t>
            </a:r>
            <a:endParaRPr lang="en-US" sz="19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Template mismatch</a:t>
            </a:r>
            <a:endParaRPr lang="en-US" sz="19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Different chat format at training and inference: strange outputs.</a:t>
            </a:r>
            <a:endParaRPr lang="en-US" sz="19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Learning rate</a:t>
            </a:r>
            <a:endParaRPr lang="en-US" sz="19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Too high destroys the base model; LoRA typically uses 1e-4 to 3e-4.</a:t>
            </a:r>
            <a:endParaRPr lang="en-US" sz="19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Weak evaluation</a:t>
            </a:r>
            <a:endParaRPr lang="en-US" sz="19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Judging by a few hand-picked examples or by training loss alone.</a:t>
            </a:r>
            <a:endParaRPr lang="en-US" sz="1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500" b="1" dirty="0">
                <a:solidFill>
                  <a:srgbClr val="1E1B4B"/>
                </a:solidFill>
                <a:latin typeface="Calibri" pitchFamily="34" charset="0"/>
                <a:ea typeface="Calibri" pitchFamily="34" charset="-122"/>
                <a:cs typeface="Calibri" pitchFamily="34" charset="-120"/>
              </a:rPr>
              <a:t>Real results: prompting vs. LoRA fine-tuning (Banking77, 10 intents)</a:t>
            </a:r>
            <a:endParaRPr lang="en-US" sz="2500" dirty="0"/>
          </a:p>
        </p:txBody>
      </p:sp>
      <p:pic>
        <p:nvPicPr>
          <p:cNvPr id="6" name="Image 0" descr="C:\Users\sudee\Downloads\Generative_AI_2027_Teaching_Pack\AI2027_Project\build\figures\week_08\results_bar.png">    </p:cNvPr>
          <p:cNvPicPr>
            <a:picLocks noChangeAspect="1"/>
          </p:cNvPicPr>
          <p:nvPr/>
        </p:nvPicPr>
        <p:blipFill>
          <a:blip r:embed="rId1"/>
          <a:stretch>
            <a:fillRect/>
          </a:stretch>
        </p:blipFill>
        <p:spPr>
          <a:xfrm>
            <a:off x="1577044" y="1481328"/>
            <a:ext cx="9037608" cy="3367278"/>
          </a:xfrm>
          <a:prstGeom prst="rect">
            <a:avLst/>
          </a:prstGeom>
        </p:spPr>
      </p:pic>
      <p:sp>
        <p:nvSpPr>
          <p:cNvPr id="7" name="Text 4"/>
          <p:cNvSpPr txBox="1"/>
          <p:nvPr/>
        </p:nvSpPr>
        <p:spPr>
          <a:xfrm>
            <a:off x="548640" y="5031486"/>
            <a:ext cx="11094415" cy="127787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Accuracy on 200 held-out messages: base, zero-shot 52%, base, few-shot 85%, LoRA fine-tuned 97%.</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Same base model (Qwen2.5-0.5B-Instruct), same held-out test messages, greedy decoding.</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The bar to beat is the </a:t>
            </a:r>
            <a:pPr indent="0" marL="0">
              <a:buNone/>
            </a:pPr>
            <a:r>
              <a:rPr lang="en-US" sz="1800" b="1" dirty="0">
                <a:solidFill>
                  <a:srgbClr val="1F2937"/>
                </a:solidFill>
                <a:latin typeface="Calibri" pitchFamily="34" charset="0"/>
                <a:ea typeface="Calibri" pitchFamily="34" charset="-122"/>
                <a:cs typeface="Calibri" pitchFamily="34" charset="-120"/>
              </a:rPr>
              <a:t>best prompt</a:t>
            </a:r>
            <a:pPr indent="0" marL="0">
              <a:buNone/>
            </a:pPr>
            <a:r>
              <a:rPr lang="en-US" sz="1800" dirty="0">
                <a:solidFill>
                  <a:srgbClr val="1F2937"/>
                </a:solidFill>
                <a:latin typeface="Calibri" pitchFamily="34" charset="0"/>
                <a:ea typeface="Calibri" pitchFamily="34" charset="-122"/>
                <a:cs typeface="Calibri" pitchFamily="34" charset="-120"/>
              </a:rPr>
              <a:t> (few-shot), not zero-shot: fine-tuning must earn its cost.</a:t>
            </a:r>
            <a:endParaRPr lang="en-US" sz="1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Real training curve</a:t>
            </a:r>
            <a:endParaRPr lang="en-US" sz="3200" dirty="0"/>
          </a:p>
        </p:txBody>
      </p:sp>
      <p:pic>
        <p:nvPicPr>
          <p:cNvPr id="6" name="Image 0" descr="C:\Users\sudee\Downloads\Generative_AI_2027_Teaching_Pack\AI2027_Project\build\figures\week_08\loss_curve.png">    </p:cNvPr>
          <p:cNvPicPr>
            <a:picLocks noChangeAspect="1"/>
          </p:cNvPicPr>
          <p:nvPr/>
        </p:nvPicPr>
        <p:blipFill>
          <a:blip r:embed="rId1"/>
          <a:stretch>
            <a:fillRect/>
          </a:stretch>
        </p:blipFill>
        <p:spPr>
          <a:xfrm>
            <a:off x="2671325" y="1481328"/>
            <a:ext cx="6849046" cy="3477006"/>
          </a:xfrm>
          <a:prstGeom prst="rect">
            <a:avLst/>
          </a:prstGeom>
        </p:spPr>
      </p:pic>
      <p:sp>
        <p:nvSpPr>
          <p:cNvPr id="7" name="Text 4"/>
          <p:cNvSpPr txBox="1"/>
          <p:nvPr/>
        </p:nvSpPr>
        <p:spPr>
          <a:xfrm>
            <a:off x="548640" y="5141214"/>
            <a:ext cx="11094415" cy="1168146"/>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Loss on the answer tokens drops quickly; validation loss follows, with no sign of overfitting after one epoch.</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The adapter is a few MB, versus about 2 GB for the full fp32 model: measured 8.7 MB vs 1,976 MB.</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Evaluating a fine-tuned model</a:t>
            </a:r>
            <a:endParaRPr lang="en-US" sz="32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773604"/>
                <a:gridCol w="8320811"/>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What to check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How</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Task performance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Held-out test set: accuracy / F1 / exact match; compare with the prompting baseline; margins of error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General capabilities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 small regression suite of general prompts or a benchmark subset (e.g. MMLU questions)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Safety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Refusal and harmful-content tests before and after tuning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Robustness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Paraphrases, typos, new time periods or channels (distribution shift)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Cost and latency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Tokens per request, seconds per request, hardware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Human review</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Domain experts rate a sample with a rubric</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Domain-specific models: build, adapt or retrieve?</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Trained from scratch or heavily</a:t>
            </a:r>
            <a:pPr indent="0" marL="0">
              <a:buNone/>
            </a:pPr>
            <a:r>
              <a:rPr lang="en-US" sz="2200" dirty="0">
                <a:solidFill>
                  <a:srgbClr val="1F2937"/>
                </a:solidFill>
                <a:latin typeface="Calibri" pitchFamily="34" charset="0"/>
                <a:ea typeface="Calibri" pitchFamily="34" charset="-122"/>
                <a:cs typeface="Calibri" pitchFamily="34" charset="-120"/>
              </a:rPr>
              <a:t>: BloombergGPT (finance, 50 B, 2023) mixed financial and general data.</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Adapted general models</a:t>
            </a:r>
            <a:pPr indent="0" marL="0">
              <a:buNone/>
            </a:pPr>
            <a:r>
              <a:rPr lang="en-US" sz="2200" dirty="0">
                <a:solidFill>
                  <a:srgbClr val="1F2937"/>
                </a:solidFill>
                <a:latin typeface="Calibri" pitchFamily="34" charset="0"/>
                <a:ea typeface="Calibri" pitchFamily="34" charset="-122"/>
                <a:cs typeface="Calibri" pitchFamily="34" charset="-120"/>
              </a:rPr>
              <a:t>: medical and legal assistants built by fine-tuning strong general models.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Trend: general frontier models plus retrieval often </a:t>
            </a:r>
            <a:pPr indent="0" marL="0">
              <a:buNone/>
            </a:pPr>
            <a:r>
              <a:rPr lang="en-US" sz="2200" b="1" dirty="0">
                <a:solidFill>
                  <a:srgbClr val="1F2937"/>
                </a:solidFill>
                <a:latin typeface="Calibri" pitchFamily="34" charset="0"/>
                <a:ea typeface="Calibri" pitchFamily="34" charset="-122"/>
                <a:cs typeface="Calibri" pitchFamily="34" charset="-120"/>
              </a:rPr>
              <a:t>match or beat</a:t>
            </a:r>
            <a:pPr indent="0" marL="0">
              <a:buNone/>
            </a:pPr>
            <a:r>
              <a:rPr lang="en-US" sz="2200" dirty="0">
                <a:solidFill>
                  <a:srgbClr val="1F2937"/>
                </a:solidFill>
                <a:latin typeface="Calibri" pitchFamily="34" charset="0"/>
                <a:ea typeface="Calibri" pitchFamily="34" charset="-122"/>
                <a:cs typeface="Calibri" pitchFamily="34" charset="-120"/>
              </a:rPr>
              <a:t> older domain-specific models; fine-tune for format, cost and specialised skills.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Domain data is usually </a:t>
            </a:r>
            <a:pPr indent="0" marL="0">
              <a:buNone/>
            </a:pPr>
            <a:r>
              <a:rPr lang="en-US" sz="2200" b="1" dirty="0">
                <a:solidFill>
                  <a:srgbClr val="1F2937"/>
                </a:solidFill>
                <a:latin typeface="Calibri" pitchFamily="34" charset="0"/>
                <a:ea typeface="Calibri" pitchFamily="34" charset="-122"/>
                <a:cs typeface="Calibri" pitchFamily="34" charset="-120"/>
              </a:rPr>
              <a:t>sensitive</a:t>
            </a:r>
            <a:pPr indent="0" marL="0">
              <a:buNone/>
            </a:pPr>
            <a:r>
              <a:rPr lang="en-US" sz="2200" dirty="0">
                <a:solidFill>
                  <a:srgbClr val="1F2937"/>
                </a:solidFill>
                <a:latin typeface="Calibri" pitchFamily="34" charset="0"/>
                <a:ea typeface="Calibri" pitchFamily="34" charset="-122"/>
                <a:cs typeface="Calibri" pitchFamily="34" charset="-120"/>
              </a:rPr>
              <a:t>: privacy, consent and governance come first.</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Responsible AI lens: fine-tuning</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Safety can erode</a:t>
            </a:r>
            <a:pPr indent="0" marL="0">
              <a:buNone/>
            </a:pPr>
            <a:r>
              <a:rPr lang="en-US" sz="2200" dirty="0">
                <a:solidFill>
                  <a:srgbClr val="1F2937"/>
                </a:solidFill>
                <a:latin typeface="Calibri" pitchFamily="34" charset="0"/>
                <a:ea typeface="Calibri" pitchFamily="34" charset="-122"/>
                <a:cs typeface="Calibri" pitchFamily="34" charset="-120"/>
              </a:rPr>
              <a:t>: fine-tuning aligned models, even on benign data, can weaken refusals (Qi et al., 2023); re-test safety.</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Memorisation</a:t>
            </a:r>
            <a:pPr indent="0" marL="0">
              <a:buNone/>
            </a:pPr>
            <a:r>
              <a:rPr lang="en-US" sz="2200" dirty="0">
                <a:solidFill>
                  <a:srgbClr val="1F2937"/>
                </a:solidFill>
                <a:latin typeface="Calibri" pitchFamily="34" charset="0"/>
                <a:ea typeface="Calibri" pitchFamily="34" charset="-122"/>
                <a:cs typeface="Calibri" pitchFamily="34" charset="-120"/>
              </a:rPr>
              <a:t>: fine-tuned models can reproduce training records; remove personal data, test for leakage.</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Bias amplification</a:t>
            </a:r>
            <a:pPr indent="0" marL="0">
              <a:buNone/>
            </a:pPr>
            <a:r>
              <a:rPr lang="en-US" sz="2200" dirty="0">
                <a:solidFill>
                  <a:srgbClr val="1F2937"/>
                </a:solidFill>
                <a:latin typeface="Calibri" pitchFamily="34" charset="0"/>
                <a:ea typeface="Calibri" pitchFamily="34" charset="-122"/>
                <a:cs typeface="Calibri" pitchFamily="34" charset="-120"/>
              </a:rPr>
              <a:t>: skewed labels teach skewed decisions; audit performance by group.</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Licences and terms</a:t>
            </a:r>
            <a:pPr indent="0" marL="0">
              <a:buNone/>
            </a:pPr>
            <a:r>
              <a:rPr lang="en-US" sz="2200" dirty="0">
                <a:solidFill>
                  <a:srgbClr val="1F2937"/>
                </a:solidFill>
                <a:latin typeface="Calibri" pitchFamily="34" charset="0"/>
                <a:ea typeface="Calibri" pitchFamily="34" charset="-122"/>
                <a:cs typeface="Calibri" pitchFamily="34" charset="-120"/>
              </a:rPr>
              <a:t>: base-model licences and API terms may restrict fine-tuning or use of outputs.</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Documentation</a:t>
            </a:r>
            <a:pPr indent="0" marL="0">
              <a:buNone/>
            </a:pPr>
            <a:r>
              <a:rPr lang="en-US" sz="2200" dirty="0">
                <a:solidFill>
                  <a:srgbClr val="1F2937"/>
                </a:solidFill>
                <a:latin typeface="Calibri" pitchFamily="34" charset="0"/>
                <a:ea typeface="Calibri" pitchFamily="34" charset="-122"/>
                <a:cs typeface="Calibri" pitchFamily="34" charset="-120"/>
              </a:rPr>
              <a:t>: publish a model card for your adapter: data, evaluation, limits.</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From labels to a saved adapter</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Read the learning curve and the held-out decisions together</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Filter and split</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Select ten intents and separate the example sets</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INTENTS / split</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separate data splits</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Format and baseline</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Build chat pairs; save base-model routing results</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to_chat / evaluate</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formatted pairs + baseline rows</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Count trainables</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Inspect how many adapter parameters can change</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trainable / total</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LoRA configuration</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Train and monitor</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Collect training and validation loss across steps</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trainer / hist</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trained model + log history</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Inspect test errors</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Compare labels, invalid outputs and a confusion table</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comparison / errors</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measured routing outcomes</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Check and save</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Test adapter-off behaviour and measure saved adapter size</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795" dirty="0">
                <a:solidFill>
                  <a:srgbClr val="0F766E"/>
                </a:solidFill>
                <a:latin typeface="Consolas" pitchFamily="34" charset="0"/>
                <a:ea typeface="Consolas" pitchFamily="34" charset="-122"/>
                <a:cs typeface="Consolas" pitchFamily="34" charset="-120"/>
              </a:rPr>
              <a:t>tuned.disable_adapter / tuned.save_pretrained</a:t>
            </a:r>
            <a:endParaRPr lang="en-US" sz="795" dirty="0"/>
          </a:p>
        </p:txBody>
      </p:sp>
      <p:sp>
        <p:nvSpPr>
          <p:cNvPr id="41" name="Text 39"/>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700" dirty="0">
                <a:solidFill>
                  <a:srgbClr val="1F2937"/>
                </a:solidFill>
                <a:latin typeface="Calibri" pitchFamily="34" charset="0"/>
                <a:ea typeface="Calibri" pitchFamily="34" charset="-122"/>
                <a:cs typeface="Calibri" pitchFamily="34" charset="-120"/>
              </a:rPr>
              <a:t>Check: What two different failures should you distinguish in the test output table?</a:t>
            </a:r>
            <a:endParaRPr 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Lab 8: LoRA fine-tuning for a banking domain task</a:t>
            </a:r>
            <a:endParaRPr lang="en-US" sz="3200" dirty="0"/>
          </a:p>
        </p:txBody>
      </p:sp>
      <p:sp>
        <p:nvSpPr>
          <p:cNvPr id="6" name="Shape 4"/>
          <p:cNvSpPr/>
          <p:nvPr/>
        </p:nvSpPr>
        <p:spPr>
          <a:xfrm>
            <a:off x="548640" y="1527048"/>
            <a:ext cx="411480" cy="411480"/>
          </a:xfrm>
          <a:prstGeom prst="ellipse">
            <a:avLst/>
          </a:prstGeom>
          <a:solidFill>
            <a:srgbClr val="0F766E"/>
          </a:solidFill>
          <a:ln w="12700">
            <a:solidFill>
              <a:srgbClr val="0F766E"/>
            </a:solidFill>
            <a:prstDash val="solid"/>
          </a:ln>
        </p:spPr>
      </p:sp>
      <p:sp>
        <p:nvSpPr>
          <p:cNvPr id="7" name="Text 5"/>
          <p:cNvSpPr txBox="1"/>
          <p:nvPr/>
        </p:nvSpPr>
        <p:spPr>
          <a:xfrm>
            <a:off x="548640" y="152704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481328"/>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Prepare </a:t>
            </a:r>
            <a:pPr indent="0" marL="0">
              <a:buNone/>
            </a:pPr>
            <a:r>
              <a:rPr lang="en-US" sz="1700" b="1" dirty="0">
                <a:solidFill>
                  <a:srgbClr val="1F2937"/>
                </a:solidFill>
                <a:latin typeface="Calibri" pitchFamily="34" charset="0"/>
                <a:ea typeface="Calibri" pitchFamily="34" charset="-122"/>
                <a:cs typeface="Calibri" pitchFamily="34" charset="-120"/>
              </a:rPr>
              <a:t>Banking77</a:t>
            </a:r>
            <a:pPr indent="0" marL="0">
              <a:buNone/>
            </a:pPr>
            <a:r>
              <a:rPr lang="en-US" sz="1700" dirty="0">
                <a:solidFill>
                  <a:srgbClr val="1F2937"/>
                </a:solidFill>
                <a:latin typeface="Calibri" pitchFamily="34" charset="0"/>
                <a:ea typeface="Calibri" pitchFamily="34" charset="-122"/>
                <a:cs typeface="Calibri" pitchFamily="34" charset="-120"/>
              </a:rPr>
              <a:t> (10 intents) as prompt–completion chat data; keep a held-out test set.</a:t>
            </a:r>
            <a:endParaRPr lang="en-US" sz="1700" dirty="0"/>
          </a:p>
        </p:txBody>
      </p:sp>
      <p:sp>
        <p:nvSpPr>
          <p:cNvPr id="9" name="Shape 7"/>
          <p:cNvSpPr/>
          <p:nvPr/>
        </p:nvSpPr>
        <p:spPr>
          <a:xfrm>
            <a:off x="548640" y="2331720"/>
            <a:ext cx="411480" cy="411480"/>
          </a:xfrm>
          <a:prstGeom prst="ellipse">
            <a:avLst/>
          </a:prstGeom>
          <a:solidFill>
            <a:srgbClr val="0F766E"/>
          </a:solidFill>
          <a:ln w="12700">
            <a:solidFill>
              <a:srgbClr val="0F766E"/>
            </a:solidFill>
            <a:prstDash val="solid"/>
          </a:ln>
        </p:spPr>
      </p:sp>
      <p:sp>
        <p:nvSpPr>
          <p:cNvPr id="10" name="Text 8"/>
          <p:cNvSpPr txBox="1"/>
          <p:nvPr/>
        </p:nvSpPr>
        <p:spPr>
          <a:xfrm>
            <a:off x="548640" y="23317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286000"/>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Measure </a:t>
            </a:r>
            <a:pPr indent="0" marL="0">
              <a:buNone/>
            </a:pPr>
            <a:r>
              <a:rPr lang="en-US" sz="1700" b="1" dirty="0">
                <a:solidFill>
                  <a:srgbClr val="1F2937"/>
                </a:solidFill>
                <a:latin typeface="Calibri" pitchFamily="34" charset="0"/>
                <a:ea typeface="Calibri" pitchFamily="34" charset="-122"/>
                <a:cs typeface="Calibri" pitchFamily="34" charset="-120"/>
              </a:rPr>
              <a:t>zero-shot and few-shot</a:t>
            </a:r>
            <a:pPr indent="0" marL="0">
              <a:buNone/>
            </a:pPr>
            <a:r>
              <a:rPr lang="en-US" sz="1700" dirty="0">
                <a:solidFill>
                  <a:srgbClr val="1F2937"/>
                </a:solidFill>
                <a:latin typeface="Calibri" pitchFamily="34" charset="0"/>
                <a:ea typeface="Calibri" pitchFamily="34" charset="-122"/>
                <a:cs typeface="Calibri" pitchFamily="34" charset="-120"/>
              </a:rPr>
              <a:t> prompting baselines on the base model.</a:t>
            </a:r>
            <a:endParaRPr lang="en-US" sz="1700" dirty="0"/>
          </a:p>
        </p:txBody>
      </p:sp>
      <p:sp>
        <p:nvSpPr>
          <p:cNvPr id="12" name="Shape 10"/>
          <p:cNvSpPr/>
          <p:nvPr/>
        </p:nvSpPr>
        <p:spPr>
          <a:xfrm>
            <a:off x="548640" y="3136392"/>
            <a:ext cx="411480" cy="411480"/>
          </a:xfrm>
          <a:prstGeom prst="ellipse">
            <a:avLst/>
          </a:prstGeom>
          <a:solidFill>
            <a:srgbClr val="0F766E"/>
          </a:solidFill>
          <a:ln w="12700">
            <a:solidFill>
              <a:srgbClr val="0F766E"/>
            </a:solidFill>
            <a:prstDash val="solid"/>
          </a:ln>
        </p:spPr>
      </p:sp>
      <p:sp>
        <p:nvSpPr>
          <p:cNvPr id="13" name="Text 11"/>
          <p:cNvSpPr txBox="1"/>
          <p:nvPr/>
        </p:nvSpPr>
        <p:spPr>
          <a:xfrm>
            <a:off x="548640" y="31363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090672"/>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Configure </a:t>
            </a:r>
            <a:pPr indent="0" marL="0">
              <a:buNone/>
            </a:pPr>
            <a:r>
              <a:rPr lang="en-US" sz="1700" b="1" dirty="0">
                <a:solidFill>
                  <a:srgbClr val="1F2937"/>
                </a:solidFill>
                <a:latin typeface="Calibri" pitchFamily="34" charset="0"/>
                <a:ea typeface="Calibri" pitchFamily="34" charset="-122"/>
                <a:cs typeface="Calibri" pitchFamily="34" charset="-120"/>
              </a:rPr>
              <a:t>LoRA</a:t>
            </a:r>
            <a:pPr indent="0" marL="0">
              <a:buNone/>
            </a:pPr>
            <a:r>
              <a:rPr lang="en-US" sz="1700" dirty="0">
                <a:solidFill>
                  <a:srgbClr val="1F2937"/>
                </a:solidFill>
                <a:latin typeface="Calibri" pitchFamily="34" charset="0"/>
                <a:ea typeface="Calibri" pitchFamily="34" charset="-122"/>
                <a:cs typeface="Calibri" pitchFamily="34" charset="-120"/>
              </a:rPr>
              <a:t> (r = 16) with PEFT; count trainable parameters.</a:t>
            </a:r>
            <a:endParaRPr lang="en-US" sz="1700" dirty="0"/>
          </a:p>
        </p:txBody>
      </p:sp>
      <p:sp>
        <p:nvSpPr>
          <p:cNvPr id="15" name="Shape 13"/>
          <p:cNvSpPr/>
          <p:nvPr/>
        </p:nvSpPr>
        <p:spPr>
          <a:xfrm>
            <a:off x="548640" y="3941064"/>
            <a:ext cx="411480" cy="411480"/>
          </a:xfrm>
          <a:prstGeom prst="ellipse">
            <a:avLst/>
          </a:prstGeom>
          <a:solidFill>
            <a:srgbClr val="0F766E"/>
          </a:solidFill>
          <a:ln w="12700">
            <a:solidFill>
              <a:srgbClr val="0F766E"/>
            </a:solidFill>
            <a:prstDash val="solid"/>
          </a:ln>
        </p:spPr>
      </p:sp>
      <p:sp>
        <p:nvSpPr>
          <p:cNvPr id="16" name="Text 14"/>
          <p:cNvSpPr txBox="1"/>
          <p:nvPr/>
        </p:nvSpPr>
        <p:spPr>
          <a:xfrm>
            <a:off x="548640" y="394106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895344"/>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Fine-tune with TRL's </a:t>
            </a:r>
            <a:pPr indent="0" marL="0">
              <a:buNone/>
            </a:pPr>
            <a:r>
              <a:rPr lang="en-US" sz="1700" b="1" dirty="0">
                <a:solidFill>
                  <a:srgbClr val="1F2937"/>
                </a:solidFill>
                <a:latin typeface="Calibri" pitchFamily="34" charset="0"/>
                <a:ea typeface="Calibri" pitchFamily="34" charset="-122"/>
                <a:cs typeface="Calibri" pitchFamily="34" charset="-120"/>
              </a:rPr>
              <a:t>SFTTrainer</a:t>
            </a:r>
            <a:pPr indent="0" marL="0">
              <a:buNone/>
            </a:pPr>
            <a:r>
              <a:rPr lang="en-US" sz="1700" dirty="0">
                <a:solidFill>
                  <a:srgbClr val="1F2937"/>
                </a:solidFill>
                <a:latin typeface="Calibri" pitchFamily="34" charset="0"/>
                <a:ea typeface="Calibri" pitchFamily="34" charset="-122"/>
                <a:cs typeface="Calibri" pitchFamily="34" charset="-120"/>
              </a:rPr>
              <a:t>; plot training and validation loss.</a:t>
            </a:r>
            <a:endParaRPr lang="en-US" sz="1700" dirty="0"/>
          </a:p>
        </p:txBody>
      </p:sp>
      <p:sp>
        <p:nvSpPr>
          <p:cNvPr id="18" name="Shape 16"/>
          <p:cNvSpPr/>
          <p:nvPr/>
        </p:nvSpPr>
        <p:spPr>
          <a:xfrm>
            <a:off x="548640" y="4745736"/>
            <a:ext cx="411480" cy="411480"/>
          </a:xfrm>
          <a:prstGeom prst="ellipse">
            <a:avLst/>
          </a:prstGeom>
          <a:solidFill>
            <a:srgbClr val="0F766E"/>
          </a:solidFill>
          <a:ln w="12700">
            <a:solidFill>
              <a:srgbClr val="0F766E"/>
            </a:solidFill>
            <a:prstDash val="solid"/>
          </a:ln>
        </p:spPr>
      </p:sp>
      <p:sp>
        <p:nvSpPr>
          <p:cNvPr id="19" name="Text 17"/>
          <p:cNvSpPr txBox="1"/>
          <p:nvPr/>
        </p:nvSpPr>
        <p:spPr>
          <a:xfrm>
            <a:off x="548640" y="47457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00016"/>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Compare </a:t>
            </a:r>
            <a:pPr indent="0" marL="0">
              <a:buNone/>
            </a:pPr>
            <a:r>
              <a:rPr lang="en-US" sz="1700" b="1" dirty="0">
                <a:solidFill>
                  <a:srgbClr val="1F2937"/>
                </a:solidFill>
                <a:latin typeface="Calibri" pitchFamily="34" charset="0"/>
                <a:ea typeface="Calibri" pitchFamily="34" charset="-122"/>
                <a:cs typeface="Calibri" pitchFamily="34" charset="-120"/>
              </a:rPr>
              <a:t>base vs fine-tuned</a:t>
            </a:r>
            <a:pPr indent="0" marL="0">
              <a:buNone/>
            </a:pPr>
            <a:r>
              <a:rPr lang="en-US" sz="1700" dirty="0">
                <a:solidFill>
                  <a:srgbClr val="1F2937"/>
                </a:solidFill>
                <a:latin typeface="Calibri" pitchFamily="34" charset="0"/>
                <a:ea typeface="Calibri" pitchFamily="34" charset="-122"/>
                <a:cs typeface="Calibri" pitchFamily="34" charset="-120"/>
              </a:rPr>
              <a:t> on the same test set; analyse errors with a confusion table.</a:t>
            </a:r>
            <a:endParaRPr lang="en-US" sz="1700" dirty="0"/>
          </a:p>
        </p:txBody>
      </p:sp>
      <p:sp>
        <p:nvSpPr>
          <p:cNvPr id="21" name="Shape 19"/>
          <p:cNvSpPr/>
          <p:nvPr/>
        </p:nvSpPr>
        <p:spPr>
          <a:xfrm>
            <a:off x="548640" y="5550408"/>
            <a:ext cx="411480" cy="411480"/>
          </a:xfrm>
          <a:prstGeom prst="ellipse">
            <a:avLst/>
          </a:prstGeom>
          <a:solidFill>
            <a:srgbClr val="0F766E"/>
          </a:solidFill>
          <a:ln w="12700">
            <a:solidFill>
              <a:srgbClr val="0F766E"/>
            </a:solidFill>
            <a:prstDash val="solid"/>
          </a:ln>
        </p:spPr>
      </p:sp>
      <p:sp>
        <p:nvSpPr>
          <p:cNvPr id="22" name="Text 20"/>
          <p:cNvSpPr txBox="1"/>
          <p:nvPr/>
        </p:nvSpPr>
        <p:spPr>
          <a:xfrm>
            <a:off x="548640" y="55504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04688"/>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Check </a:t>
            </a:r>
            <a:pPr indent="0" marL="0">
              <a:buNone/>
            </a:pPr>
            <a:r>
              <a:rPr lang="en-US" sz="1700" b="1" dirty="0">
                <a:solidFill>
                  <a:srgbClr val="1F2937"/>
                </a:solidFill>
                <a:latin typeface="Calibri" pitchFamily="34" charset="0"/>
                <a:ea typeface="Calibri" pitchFamily="34" charset="-122"/>
                <a:cs typeface="Calibri" pitchFamily="34" charset="-120"/>
              </a:rPr>
              <a:t>forgetting</a:t>
            </a:r>
            <a:pPr indent="0" marL="0">
              <a:buNone/>
            </a:pPr>
            <a:r>
              <a:rPr lang="en-US" sz="1700" dirty="0">
                <a:solidFill>
                  <a:srgbClr val="1F2937"/>
                </a:solidFill>
                <a:latin typeface="Calibri" pitchFamily="34" charset="0"/>
                <a:ea typeface="Calibri" pitchFamily="34" charset="-122"/>
                <a:cs typeface="Calibri" pitchFamily="34" charset="-120"/>
              </a:rPr>
              <a:t>, switch the adapter off, compare adapter vs model size. Optional: QLoRA, DPO.</a:t>
            </a:r>
            <a:endParaRPr lang="en-US" sz="1700" dirty="0"/>
          </a:p>
        </p:txBody>
      </p:sp>
      <p:sp>
        <p:nvSpPr>
          <p:cNvPr id="24" name="Shape 22"/>
          <p:cNvSpPr/>
          <p:nvPr/>
        </p:nvSpPr>
        <p:spPr>
          <a:xfrm>
            <a:off x="8046720" y="1481328"/>
            <a:ext cx="3596335" cy="4828032"/>
          </a:xfrm>
          <a:prstGeom prst="roundRect">
            <a:avLst>
              <a:gd name="adj" fmla="val 3051"/>
            </a:avLst>
          </a:prstGeom>
          <a:solidFill>
            <a:srgbClr val="E6F4F1"/>
          </a:solidFill>
          <a:ln w="12700">
            <a:solidFill>
              <a:srgbClr val="E6F4F1"/>
            </a:solidFill>
            <a:prstDash val="solid"/>
          </a:ln>
        </p:spPr>
      </p:sp>
      <p:sp>
        <p:nvSpPr>
          <p:cNvPr id="25" name="Shape 23"/>
          <p:cNvSpPr/>
          <p:nvPr/>
        </p:nvSpPr>
        <p:spPr>
          <a:xfrm>
            <a:off x="8229600" y="1709928"/>
            <a:ext cx="502920" cy="502920"/>
          </a:xfrm>
          <a:prstGeom prst="ellipse">
            <a:avLst/>
          </a:prstGeom>
          <a:solidFill>
            <a:srgbClr val="0F766E"/>
          </a:solidFill>
          <a:ln w="12700">
            <a:solidFill>
              <a:srgbClr val="0F766E"/>
            </a:solidFill>
            <a:prstDash val="solid"/>
          </a:ln>
        </p:spPr>
      </p:sp>
      <p:pic>
        <p:nvPicPr>
          <p:cNvPr id="26" name="Image 0" descr="preencoded.png">    </p:cNvPr>
          <p:cNvPicPr>
            <a:picLocks noChangeAspect="1"/>
          </p:cNvPicPr>
          <p:nvPr/>
        </p:nvPicPr>
        <p:blipFill>
          <a:blip r:embed="rId1"/>
          <a:stretch>
            <a:fillRect/>
          </a:stretch>
        </p:blipFill>
        <p:spPr>
          <a:xfrm>
            <a:off x="8350301" y="1830629"/>
            <a:ext cx="261518" cy="261518"/>
          </a:xfrm>
          <a:prstGeom prst="rect">
            <a:avLst/>
          </a:prstGeom>
        </p:spPr>
      </p:pic>
      <p:sp>
        <p:nvSpPr>
          <p:cNvPr id="27" name="Text 24"/>
          <p:cNvSpPr txBox="1"/>
          <p:nvPr/>
        </p:nvSpPr>
        <p:spPr>
          <a:xfrm>
            <a:off x="8869680" y="1664208"/>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Runtime</a:t>
            </a:r>
            <a:endParaRPr lang="en-US" sz="1500" dirty="0"/>
          </a:p>
        </p:txBody>
      </p:sp>
      <p:sp>
        <p:nvSpPr>
          <p:cNvPr id="28" name="Text 25"/>
          <p:cNvSpPr txBox="1"/>
          <p:nvPr/>
        </p:nvSpPr>
        <p:spPr>
          <a:xfrm>
            <a:off x="8869680" y="2011680"/>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Google Colab T4 GPU (≈ 5–8 min training); CPU only for a short smoke test</a:t>
            </a:r>
            <a:endParaRPr lang="en-US" sz="1400" dirty="0"/>
          </a:p>
        </p:txBody>
      </p:sp>
      <p:sp>
        <p:nvSpPr>
          <p:cNvPr id="29" name="Shape 26"/>
          <p:cNvSpPr/>
          <p:nvPr/>
        </p:nvSpPr>
        <p:spPr>
          <a:xfrm>
            <a:off x="8229600" y="3227832"/>
            <a:ext cx="502920" cy="502920"/>
          </a:xfrm>
          <a:prstGeom prst="ellipse">
            <a:avLst/>
          </a:prstGeom>
          <a:solidFill>
            <a:srgbClr val="0F766E"/>
          </a:solidFill>
          <a:ln w="12700">
            <a:solidFill>
              <a:srgbClr val="0F766E"/>
            </a:solidFill>
            <a:prstDash val="solid"/>
          </a:ln>
        </p:spPr>
      </p:sp>
      <p:pic>
        <p:nvPicPr>
          <p:cNvPr id="30" name="Image 1" descr="preencoded.png">    </p:cNvPr>
          <p:cNvPicPr>
            <a:picLocks noChangeAspect="1"/>
          </p:cNvPicPr>
          <p:nvPr/>
        </p:nvPicPr>
        <p:blipFill>
          <a:blip r:embed="rId2"/>
          <a:stretch>
            <a:fillRect/>
          </a:stretch>
        </p:blipFill>
        <p:spPr>
          <a:xfrm>
            <a:off x="8350301" y="3348533"/>
            <a:ext cx="261518" cy="261518"/>
          </a:xfrm>
          <a:prstGeom prst="rect">
            <a:avLst/>
          </a:prstGeom>
        </p:spPr>
      </p:pic>
      <p:sp>
        <p:nvSpPr>
          <p:cNvPr id="31" name="Text 27"/>
          <p:cNvSpPr txBox="1"/>
          <p:nvPr/>
        </p:nvSpPr>
        <p:spPr>
          <a:xfrm>
            <a:off x="8869680" y="3182112"/>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Time</a:t>
            </a:r>
            <a:endParaRPr lang="en-US" sz="1500" dirty="0"/>
          </a:p>
        </p:txBody>
      </p:sp>
      <p:sp>
        <p:nvSpPr>
          <p:cNvPr id="32" name="Text 28"/>
          <p:cNvSpPr txBox="1"/>
          <p:nvPr/>
        </p:nvSpPr>
        <p:spPr>
          <a:xfrm>
            <a:off x="8869680" y="3529584"/>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2-hour lab</a:t>
            </a:r>
            <a:endParaRPr lang="en-US" sz="1400" dirty="0"/>
          </a:p>
        </p:txBody>
      </p:sp>
      <p:sp>
        <p:nvSpPr>
          <p:cNvPr id="33" name="Shape 29"/>
          <p:cNvSpPr/>
          <p:nvPr/>
        </p:nvSpPr>
        <p:spPr>
          <a:xfrm>
            <a:off x="8229600" y="4745736"/>
            <a:ext cx="502920" cy="502920"/>
          </a:xfrm>
          <a:prstGeom prst="ellipse">
            <a:avLst/>
          </a:prstGeom>
          <a:solidFill>
            <a:srgbClr val="0F766E"/>
          </a:solidFill>
          <a:ln w="12700">
            <a:solidFill>
              <a:srgbClr val="0F766E"/>
            </a:solidFill>
            <a:prstDash val="solid"/>
          </a:ln>
        </p:spPr>
      </p:sp>
      <p:pic>
        <p:nvPicPr>
          <p:cNvPr id="34" name="Image 2" descr="preencoded.png">    </p:cNvPr>
          <p:cNvPicPr>
            <a:picLocks noChangeAspect="1"/>
          </p:cNvPicPr>
          <p:nvPr/>
        </p:nvPicPr>
        <p:blipFill>
          <a:blip r:embed="rId3"/>
          <a:stretch>
            <a:fillRect/>
          </a:stretch>
        </p:blipFill>
        <p:spPr>
          <a:xfrm>
            <a:off x="8350301" y="4866437"/>
            <a:ext cx="261518" cy="261518"/>
          </a:xfrm>
          <a:prstGeom prst="rect">
            <a:avLst/>
          </a:prstGeom>
        </p:spPr>
      </p:pic>
      <p:sp>
        <p:nvSpPr>
          <p:cNvPr id="35" name="Text 30"/>
          <p:cNvSpPr txBox="1"/>
          <p:nvPr/>
        </p:nvSpPr>
        <p:spPr>
          <a:xfrm>
            <a:off x="8869680" y="4700016"/>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Hand in</a:t>
            </a:r>
            <a:endParaRPr lang="en-US" sz="1500" dirty="0"/>
          </a:p>
        </p:txBody>
      </p:sp>
      <p:sp>
        <p:nvSpPr>
          <p:cNvPr id="36" name="Text 31"/>
          <p:cNvSpPr txBox="1"/>
          <p:nvPr/>
        </p:nvSpPr>
        <p:spPr>
          <a:xfrm>
            <a:off x="8869680" y="5047488"/>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Notebook with baseline vs fine-tuned table, loss curve, error analysis and three written answers</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Key takeaways</a:t>
            </a:r>
            <a:endParaRPr lang="en-US" sz="3200" dirty="0"/>
          </a:p>
        </p:txBody>
      </p:sp>
      <p:pic>
        <p:nvPicPr>
          <p:cNvPr id="6" name="Image 0" descr="preencoded.png">    </p:cNvPr>
          <p:cNvPicPr>
            <a:picLocks noChangeAspect="1"/>
          </p:cNvPicPr>
          <p:nvPr/>
        </p:nvPicPr>
        <p:blipFill>
          <a:blip r:embed="rId1"/>
          <a:stretch>
            <a:fillRect/>
          </a:stretch>
        </p:blipFill>
        <p:spPr>
          <a:xfrm>
            <a:off x="548640" y="1554480"/>
            <a:ext cx="384048" cy="384048"/>
          </a:xfrm>
          <a:prstGeom prst="rect">
            <a:avLst/>
          </a:prstGeom>
        </p:spPr>
      </p:pic>
      <p:sp>
        <p:nvSpPr>
          <p:cNvPr id="7" name="Text 4"/>
          <p:cNvSpPr txBox="1"/>
          <p:nvPr/>
        </p:nvSpPr>
        <p:spPr>
          <a:xfrm>
            <a:off x="1097280" y="1481328"/>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Prompt first; </a:t>
            </a:r>
            <a:pPr indent="0" marL="0">
              <a:buNone/>
            </a:pPr>
            <a:r>
              <a:rPr lang="en-US" sz="1900" b="1" dirty="0">
                <a:solidFill>
                  <a:srgbClr val="1F2937"/>
                </a:solidFill>
                <a:latin typeface="Calibri" pitchFamily="34" charset="0"/>
                <a:ea typeface="Calibri" pitchFamily="34" charset="-122"/>
                <a:cs typeface="Calibri" pitchFamily="34" charset="-120"/>
              </a:rPr>
              <a:t>retrieve</a:t>
            </a:r>
            <a:pPr indent="0" marL="0">
              <a:buNone/>
            </a:pPr>
            <a:r>
              <a:rPr lang="en-US" sz="1900" dirty="0">
                <a:solidFill>
                  <a:srgbClr val="1F2937"/>
                </a:solidFill>
                <a:latin typeface="Calibri" pitchFamily="34" charset="0"/>
                <a:ea typeface="Calibri" pitchFamily="34" charset="-122"/>
                <a:cs typeface="Calibri" pitchFamily="34" charset="-120"/>
              </a:rPr>
              <a:t> for knowledge; </a:t>
            </a:r>
            <a:pPr indent="0" marL="0">
              <a:buNone/>
            </a:pPr>
            <a:r>
              <a:rPr lang="en-US" sz="1900" b="1" dirty="0">
                <a:solidFill>
                  <a:srgbClr val="1F2937"/>
                </a:solidFill>
                <a:latin typeface="Calibri" pitchFamily="34" charset="0"/>
                <a:ea typeface="Calibri" pitchFamily="34" charset="-122"/>
                <a:cs typeface="Calibri" pitchFamily="34" charset="-120"/>
              </a:rPr>
              <a:t>fine-tune</a:t>
            </a:r>
            <a:pPr indent="0" marL="0">
              <a:buNone/>
            </a:pPr>
            <a:r>
              <a:rPr lang="en-US" sz="1900" dirty="0">
                <a:solidFill>
                  <a:srgbClr val="1F2937"/>
                </a:solidFill>
                <a:latin typeface="Calibri" pitchFamily="34" charset="0"/>
                <a:ea typeface="Calibri" pitchFamily="34" charset="-122"/>
                <a:cs typeface="Calibri" pitchFamily="34" charset="-120"/>
              </a:rPr>
              <a:t> for behaviour, format, specialised skills or cost.</a:t>
            </a:r>
            <a:endParaRPr lang="en-US" sz="1900" dirty="0"/>
          </a:p>
        </p:txBody>
      </p:sp>
      <p:pic>
        <p:nvPicPr>
          <p:cNvPr id="8" name="Image 1" descr="preencoded.png">    </p:cNvPr>
          <p:cNvPicPr>
            <a:picLocks noChangeAspect="1"/>
          </p:cNvPicPr>
          <p:nvPr/>
        </p:nvPicPr>
        <p:blipFill>
          <a:blip r:embed="rId2"/>
          <a:stretch>
            <a:fillRect/>
          </a:stretch>
        </p:blipFill>
        <p:spPr>
          <a:xfrm>
            <a:off x="548640" y="2761488"/>
            <a:ext cx="384048" cy="384048"/>
          </a:xfrm>
          <a:prstGeom prst="rect">
            <a:avLst/>
          </a:prstGeom>
        </p:spPr>
      </p:pic>
      <p:sp>
        <p:nvSpPr>
          <p:cNvPr id="9" name="Text 5"/>
          <p:cNvSpPr txBox="1"/>
          <p:nvPr/>
        </p:nvSpPr>
        <p:spPr>
          <a:xfrm>
            <a:off x="1097280" y="2688336"/>
            <a:ext cx="4769968" cy="1161288"/>
          </a:xfrm>
          <a:prstGeom prst="rect">
            <a:avLst/>
          </a:prstGeom>
          <a:noFill/>
          <a:ln/>
        </p:spPr>
        <p:txBody>
          <a:bodyPr wrap="square" lIns="50800" tIns="50800" rIns="50800" bIns="50800" rtlCol="0" anchor="t"/>
          <a:lstStyle/>
          <a:p>
            <a:pPr indent="0" marL="0">
              <a:buNone/>
            </a:pPr>
            <a:r>
              <a:rPr lang="en-US" sz="1900" b="1" dirty="0">
                <a:solidFill>
                  <a:srgbClr val="1F2937"/>
                </a:solidFill>
                <a:latin typeface="Calibri" pitchFamily="34" charset="0"/>
                <a:ea typeface="Calibri" pitchFamily="34" charset="-122"/>
                <a:cs typeface="Calibri" pitchFamily="34" charset="-120"/>
              </a:rPr>
              <a:t>SFT</a:t>
            </a:r>
            <a:pPr indent="0" marL="0">
              <a:buNone/>
            </a:pPr>
            <a:r>
              <a:rPr lang="en-US" sz="1900" dirty="0">
                <a:solidFill>
                  <a:srgbClr val="1F2937"/>
                </a:solidFill>
                <a:latin typeface="Calibri" pitchFamily="34" charset="0"/>
                <a:ea typeface="Calibri" pitchFamily="34" charset="-122"/>
                <a:cs typeface="Calibri" pitchFamily="34" charset="-120"/>
              </a:rPr>
              <a:t>: next-token loss on curated (prompt, response) pairs, prompt masked; </a:t>
            </a:r>
            <a:pPr indent="0" marL="0">
              <a:buNone/>
            </a:pPr>
            <a:r>
              <a:rPr lang="en-US" sz="1900" b="1" dirty="0">
                <a:solidFill>
                  <a:srgbClr val="1F2937"/>
                </a:solidFill>
                <a:latin typeface="Calibri" pitchFamily="34" charset="0"/>
                <a:ea typeface="Calibri" pitchFamily="34" charset="-122"/>
                <a:cs typeface="Calibri" pitchFamily="34" charset="-120"/>
              </a:rPr>
              <a:t>instruction tuning</a:t>
            </a:r>
            <a:pPr indent="0" marL="0">
              <a:buNone/>
            </a:pPr>
            <a:r>
              <a:rPr lang="en-US" sz="1900" dirty="0">
                <a:solidFill>
                  <a:srgbClr val="1F2937"/>
                </a:solidFill>
                <a:latin typeface="Calibri" pitchFamily="34" charset="0"/>
                <a:ea typeface="Calibri" pitchFamily="34" charset="-122"/>
                <a:cs typeface="Calibri" pitchFamily="34" charset="-120"/>
              </a:rPr>
              <a:t> makes assistants.</a:t>
            </a:r>
            <a:endParaRPr lang="en-US" sz="1900" dirty="0"/>
          </a:p>
        </p:txBody>
      </p:sp>
      <p:pic>
        <p:nvPicPr>
          <p:cNvPr id="10" name="Image 2" descr="preencoded.png">    </p:cNvPr>
          <p:cNvPicPr>
            <a:picLocks noChangeAspect="1"/>
          </p:cNvPicPr>
          <p:nvPr/>
        </p:nvPicPr>
        <p:blipFill>
          <a:blip r:embed="rId3"/>
          <a:stretch>
            <a:fillRect/>
          </a:stretch>
        </p:blipFill>
        <p:spPr>
          <a:xfrm>
            <a:off x="548640" y="3968496"/>
            <a:ext cx="384048" cy="384048"/>
          </a:xfrm>
          <a:prstGeom prst="rect">
            <a:avLst/>
          </a:prstGeom>
        </p:spPr>
      </p:pic>
      <p:sp>
        <p:nvSpPr>
          <p:cNvPr id="11" name="Text 6"/>
          <p:cNvSpPr txBox="1"/>
          <p:nvPr/>
        </p:nvSpPr>
        <p:spPr>
          <a:xfrm>
            <a:off x="1097280" y="3895344"/>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Use the model's </a:t>
            </a:r>
            <a:pPr indent="0" marL="0">
              <a:buNone/>
            </a:pPr>
            <a:r>
              <a:rPr lang="en-US" sz="1900" b="1" dirty="0">
                <a:solidFill>
                  <a:srgbClr val="1F2937"/>
                </a:solidFill>
                <a:latin typeface="Calibri" pitchFamily="34" charset="0"/>
                <a:ea typeface="Calibri" pitchFamily="34" charset="-122"/>
                <a:cs typeface="Calibri" pitchFamily="34" charset="-120"/>
              </a:rPr>
              <a:t>chat template</a:t>
            </a:r>
            <a:pPr indent="0" marL="0">
              <a:buNone/>
            </a:pPr>
            <a:r>
              <a:rPr lang="en-US" sz="1900" dirty="0">
                <a:solidFill>
                  <a:srgbClr val="1F2937"/>
                </a:solidFill>
                <a:latin typeface="Calibri" pitchFamily="34" charset="0"/>
                <a:ea typeface="Calibri" pitchFamily="34" charset="-122"/>
                <a:cs typeface="Calibri" pitchFamily="34" charset="-120"/>
              </a:rPr>
              <a:t>; data quality and clean splits decide the outcome.</a:t>
            </a:r>
            <a:endParaRPr lang="en-US" sz="1900" dirty="0"/>
          </a:p>
        </p:txBody>
      </p:sp>
      <p:pic>
        <p:nvPicPr>
          <p:cNvPr id="12" name="Image 3" descr="preencoded.png">    </p:cNvPr>
          <p:cNvPicPr>
            <a:picLocks noChangeAspect="1"/>
          </p:cNvPicPr>
          <p:nvPr/>
        </p:nvPicPr>
        <p:blipFill>
          <a:blip r:embed="rId4"/>
          <a:stretch>
            <a:fillRect/>
          </a:stretch>
        </p:blipFill>
        <p:spPr>
          <a:xfrm>
            <a:off x="548640" y="5175504"/>
            <a:ext cx="384048" cy="384048"/>
          </a:xfrm>
          <a:prstGeom prst="rect">
            <a:avLst/>
          </a:prstGeom>
        </p:spPr>
      </p:pic>
      <p:sp>
        <p:nvSpPr>
          <p:cNvPr id="13" name="Text 7"/>
          <p:cNvSpPr txBox="1"/>
          <p:nvPr/>
        </p:nvSpPr>
        <p:spPr>
          <a:xfrm>
            <a:off x="1097280" y="5102352"/>
            <a:ext cx="4769968" cy="1161288"/>
          </a:xfrm>
          <a:prstGeom prst="rect">
            <a:avLst/>
          </a:prstGeom>
          <a:noFill/>
          <a:ln/>
        </p:spPr>
        <p:txBody>
          <a:bodyPr wrap="square" lIns="50800" tIns="50800" rIns="50800" bIns="50800" rtlCol="0" anchor="t"/>
          <a:lstStyle/>
          <a:p>
            <a:pPr indent="0" marL="0">
              <a:buNone/>
            </a:pPr>
            <a:r>
              <a:rPr lang="en-US" sz="1900" b="1" dirty="0">
                <a:solidFill>
                  <a:srgbClr val="1F2937"/>
                </a:solidFill>
                <a:latin typeface="Calibri" pitchFamily="34" charset="0"/>
                <a:ea typeface="Calibri" pitchFamily="34" charset="-122"/>
                <a:cs typeface="Calibri" pitchFamily="34" charset="-120"/>
              </a:rPr>
              <a:t>RLHF</a:t>
            </a:r>
            <a:pPr indent="0" marL="0">
              <a:buNone/>
            </a:pPr>
            <a:r>
              <a:rPr lang="en-US" sz="1900" dirty="0">
                <a:solidFill>
                  <a:srgbClr val="1F2937"/>
                </a:solidFill>
                <a:latin typeface="Calibri" pitchFamily="34" charset="0"/>
                <a:ea typeface="Calibri" pitchFamily="34" charset="-122"/>
                <a:cs typeface="Calibri" pitchFamily="34" charset="-120"/>
              </a:rPr>
              <a:t>: reward model + PPO with a KL penalty; </a:t>
            </a:r>
            <a:pPr indent="0" marL="0">
              <a:buNone/>
            </a:pPr>
            <a:r>
              <a:rPr lang="en-US" sz="1900" b="1" dirty="0">
                <a:solidFill>
                  <a:srgbClr val="1F2937"/>
                </a:solidFill>
                <a:latin typeface="Calibri" pitchFamily="34" charset="0"/>
                <a:ea typeface="Calibri" pitchFamily="34" charset="-122"/>
                <a:cs typeface="Calibri" pitchFamily="34" charset="-120"/>
              </a:rPr>
              <a:t>DPO</a:t>
            </a:r>
            <a:pPr indent="0" marL="0">
              <a:buNone/>
            </a:pPr>
            <a:r>
              <a:rPr lang="en-US" sz="1900" dirty="0">
                <a:solidFill>
                  <a:srgbClr val="1F2937"/>
                </a:solidFill>
                <a:latin typeface="Calibri" pitchFamily="34" charset="0"/>
                <a:ea typeface="Calibri" pitchFamily="34" charset="-122"/>
                <a:cs typeface="Calibri" pitchFamily="34" charset="-120"/>
              </a:rPr>
              <a:t>: direct preference loss; </a:t>
            </a:r>
            <a:pPr indent="0" marL="0">
              <a:buNone/>
            </a:pPr>
            <a:r>
              <a:rPr lang="en-US" sz="1900" b="1" dirty="0">
                <a:solidFill>
                  <a:srgbClr val="1F2937"/>
                </a:solidFill>
                <a:latin typeface="Calibri" pitchFamily="34" charset="0"/>
                <a:ea typeface="Calibri" pitchFamily="34" charset="-122"/>
                <a:cs typeface="Calibri" pitchFamily="34" charset="-120"/>
              </a:rPr>
              <a:t>RLVR/GRPO</a:t>
            </a:r>
            <a:pPr indent="0" marL="0">
              <a:buNone/>
            </a:pPr>
            <a:r>
              <a:rPr lang="en-US" sz="1900" dirty="0">
                <a:solidFill>
                  <a:srgbClr val="1F2937"/>
                </a:solidFill>
                <a:latin typeface="Calibri" pitchFamily="34" charset="0"/>
                <a:ea typeface="Calibri" pitchFamily="34" charset="-122"/>
                <a:cs typeface="Calibri" pitchFamily="34" charset="-120"/>
              </a:rPr>
              <a:t>: reasoning models.</a:t>
            </a:r>
            <a:endParaRPr lang="en-US" sz="1900" dirty="0"/>
          </a:p>
        </p:txBody>
      </p:sp>
      <p:pic>
        <p:nvPicPr>
          <p:cNvPr id="14" name="Image 4" descr="preencoded.png">    </p:cNvPr>
          <p:cNvPicPr>
            <a:picLocks noChangeAspect="1"/>
          </p:cNvPicPr>
          <p:nvPr/>
        </p:nvPicPr>
        <p:blipFill>
          <a:blip r:embed="rId5"/>
          <a:stretch>
            <a:fillRect/>
          </a:stretch>
        </p:blipFill>
        <p:spPr>
          <a:xfrm>
            <a:off x="6278728" y="1554480"/>
            <a:ext cx="384048" cy="384048"/>
          </a:xfrm>
          <a:prstGeom prst="rect">
            <a:avLst/>
          </a:prstGeom>
        </p:spPr>
      </p:pic>
      <p:sp>
        <p:nvSpPr>
          <p:cNvPr id="15" name="Text 8"/>
          <p:cNvSpPr txBox="1"/>
          <p:nvPr/>
        </p:nvSpPr>
        <p:spPr>
          <a:xfrm>
            <a:off x="6827368" y="1481328"/>
            <a:ext cx="4769968" cy="1161288"/>
          </a:xfrm>
          <a:prstGeom prst="rect">
            <a:avLst/>
          </a:prstGeom>
          <a:noFill/>
          <a:ln/>
        </p:spPr>
        <p:txBody>
          <a:bodyPr wrap="square" lIns="50800" tIns="50800" rIns="50800" bIns="50800" rtlCol="0" anchor="t"/>
          <a:lstStyle/>
          <a:p>
            <a:pPr indent="0" marL="0">
              <a:buNone/>
            </a:pPr>
            <a:r>
              <a:rPr lang="en-US" sz="1900" b="1" dirty="0">
                <a:solidFill>
                  <a:srgbClr val="1F2937"/>
                </a:solidFill>
                <a:latin typeface="Calibri" pitchFamily="34" charset="0"/>
                <a:ea typeface="Calibri" pitchFamily="34" charset="-122"/>
                <a:cs typeface="Calibri" pitchFamily="34" charset="-120"/>
              </a:rPr>
              <a:t>LoRA</a:t>
            </a:r>
            <a:pPr indent="0" marL="0">
              <a:buNone/>
            </a:pPr>
            <a:r>
              <a:rPr lang="en-US" sz="1900" dirty="0">
                <a:solidFill>
                  <a:srgbClr val="1F2937"/>
                </a:solidFill>
                <a:latin typeface="Calibri" pitchFamily="34" charset="0"/>
                <a:ea typeface="Calibri" pitchFamily="34" charset="-122"/>
                <a:cs typeface="Calibri" pitchFamily="34" charset="-120"/>
              </a:rPr>
              <a:t>: W + (α/r)BA, &lt; 1% trainable; </a:t>
            </a:r>
            <a:pPr indent="0" marL="0">
              <a:buNone/>
            </a:pPr>
            <a:r>
              <a:rPr lang="en-US" sz="1900" b="1" dirty="0">
                <a:solidFill>
                  <a:srgbClr val="1F2937"/>
                </a:solidFill>
                <a:latin typeface="Calibri" pitchFamily="34" charset="0"/>
                <a:ea typeface="Calibri" pitchFamily="34" charset="-122"/>
                <a:cs typeface="Calibri" pitchFamily="34" charset="-120"/>
              </a:rPr>
              <a:t>QLoRA</a:t>
            </a:r>
            <a:pPr indent="0" marL="0">
              <a:buNone/>
            </a:pPr>
            <a:r>
              <a:rPr lang="en-US" sz="1900" dirty="0">
                <a:solidFill>
                  <a:srgbClr val="1F2937"/>
                </a:solidFill>
                <a:latin typeface="Calibri" pitchFamily="34" charset="0"/>
                <a:ea typeface="Calibri" pitchFamily="34" charset="-122"/>
                <a:cs typeface="Calibri" pitchFamily="34" charset="-120"/>
              </a:rPr>
              <a:t>: 4-bit base; adapters and prompt tuning are alternatives.</a:t>
            </a:r>
            <a:endParaRPr lang="en-US" sz="1900" dirty="0"/>
          </a:p>
        </p:txBody>
      </p:sp>
      <p:pic>
        <p:nvPicPr>
          <p:cNvPr id="16" name="Image 5" descr="preencoded.png">    </p:cNvPr>
          <p:cNvPicPr>
            <a:picLocks noChangeAspect="1"/>
          </p:cNvPicPr>
          <p:nvPr/>
        </p:nvPicPr>
        <p:blipFill>
          <a:blip r:embed="rId6"/>
          <a:stretch>
            <a:fillRect/>
          </a:stretch>
        </p:blipFill>
        <p:spPr>
          <a:xfrm>
            <a:off x="6278728" y="2761488"/>
            <a:ext cx="384048" cy="384048"/>
          </a:xfrm>
          <a:prstGeom prst="rect">
            <a:avLst/>
          </a:prstGeom>
        </p:spPr>
      </p:pic>
      <p:sp>
        <p:nvSpPr>
          <p:cNvPr id="17" name="Text 9"/>
          <p:cNvSpPr txBox="1"/>
          <p:nvPr/>
        </p:nvSpPr>
        <p:spPr>
          <a:xfrm>
            <a:off x="6827368" y="2688336"/>
            <a:ext cx="4769968" cy="1161288"/>
          </a:xfrm>
          <a:prstGeom prst="rect">
            <a:avLst/>
          </a:prstGeom>
          <a:noFill/>
          <a:ln/>
        </p:spPr>
        <p:txBody>
          <a:bodyPr wrap="square" lIns="50800" tIns="50800" rIns="50800" bIns="50800" rtlCol="0" anchor="t"/>
          <a:lstStyle/>
          <a:p>
            <a:pPr indent="0" marL="0">
              <a:buNone/>
            </a:pPr>
            <a:r>
              <a:rPr lang="en-US" sz="1900" b="1" dirty="0">
                <a:solidFill>
                  <a:srgbClr val="1F2937"/>
                </a:solidFill>
                <a:latin typeface="Calibri" pitchFamily="34" charset="0"/>
                <a:ea typeface="Calibri" pitchFamily="34" charset="-122"/>
                <a:cs typeface="Calibri" pitchFamily="34" charset="-120"/>
              </a:rPr>
              <a:t>Distillation</a:t>
            </a:r>
            <a:pPr indent="0" marL="0">
              <a:buNone/>
            </a:pPr>
            <a:r>
              <a:rPr lang="en-US" sz="1900" dirty="0">
                <a:solidFill>
                  <a:srgbClr val="1F2937"/>
                </a:solidFill>
                <a:latin typeface="Calibri" pitchFamily="34" charset="0"/>
                <a:ea typeface="Calibri" pitchFamily="34" charset="-122"/>
                <a:cs typeface="Calibri" pitchFamily="34" charset="-120"/>
              </a:rPr>
              <a:t> transfers a teacher's skill to a small student.</a:t>
            </a:r>
            <a:endParaRPr lang="en-US" sz="1900" dirty="0"/>
          </a:p>
        </p:txBody>
      </p:sp>
      <p:pic>
        <p:nvPicPr>
          <p:cNvPr id="18" name="Image 6" descr="preencoded.png">    </p:cNvPr>
          <p:cNvPicPr>
            <a:picLocks noChangeAspect="1"/>
          </p:cNvPicPr>
          <p:nvPr/>
        </p:nvPicPr>
        <p:blipFill>
          <a:blip r:embed="rId7"/>
          <a:stretch>
            <a:fillRect/>
          </a:stretch>
        </p:blipFill>
        <p:spPr>
          <a:xfrm>
            <a:off x="6278728" y="3968496"/>
            <a:ext cx="384048" cy="384048"/>
          </a:xfrm>
          <a:prstGeom prst="rect">
            <a:avLst/>
          </a:prstGeom>
        </p:spPr>
      </p:pic>
      <p:sp>
        <p:nvSpPr>
          <p:cNvPr id="19" name="Text 10"/>
          <p:cNvSpPr txBox="1"/>
          <p:nvPr/>
        </p:nvSpPr>
        <p:spPr>
          <a:xfrm>
            <a:off x="6827368" y="3895344"/>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Evaluate on </a:t>
            </a:r>
            <a:pPr indent="0" marL="0">
              <a:buNone/>
            </a:pPr>
            <a:r>
              <a:rPr lang="en-US" sz="1900" b="1" dirty="0">
                <a:solidFill>
                  <a:srgbClr val="1F2937"/>
                </a:solidFill>
                <a:latin typeface="Calibri" pitchFamily="34" charset="0"/>
                <a:ea typeface="Calibri" pitchFamily="34" charset="-122"/>
                <a:cs typeface="Calibri" pitchFamily="34" charset="-120"/>
              </a:rPr>
              <a:t>held-out</a:t>
            </a:r>
            <a:pPr indent="0" marL="0">
              <a:buNone/>
            </a:pPr>
            <a:r>
              <a:rPr lang="en-US" sz="1900" dirty="0">
                <a:solidFill>
                  <a:srgbClr val="1F2937"/>
                </a:solidFill>
                <a:latin typeface="Calibri" pitchFamily="34" charset="0"/>
                <a:ea typeface="Calibri" pitchFamily="34" charset="-122"/>
                <a:cs typeface="Calibri" pitchFamily="34" charset="-120"/>
              </a:rPr>
              <a:t> data vs the prompting baseline; check forgetting, safety and cost.</a:t>
            </a:r>
            <a:endParaRPr lang="en-US" sz="1900" dirty="0"/>
          </a:p>
        </p:txBody>
      </p:sp>
      <p:pic>
        <p:nvPicPr>
          <p:cNvPr id="20" name="Image 7" descr="preencoded.png">    </p:cNvPr>
          <p:cNvPicPr>
            <a:picLocks noChangeAspect="1"/>
          </p:cNvPicPr>
          <p:nvPr/>
        </p:nvPicPr>
        <p:blipFill>
          <a:blip r:embed="rId8"/>
          <a:stretch>
            <a:fillRect/>
          </a:stretch>
        </p:blipFill>
        <p:spPr>
          <a:xfrm>
            <a:off x="6278728" y="5175504"/>
            <a:ext cx="384048" cy="384048"/>
          </a:xfrm>
          <a:prstGeom prst="rect">
            <a:avLst/>
          </a:prstGeom>
        </p:spPr>
      </p:pic>
      <p:sp>
        <p:nvSpPr>
          <p:cNvPr id="21" name="Text 11"/>
          <p:cNvSpPr txBox="1"/>
          <p:nvPr/>
        </p:nvSpPr>
        <p:spPr>
          <a:xfrm>
            <a:off x="6827368" y="5102352"/>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Fine-tuning creates a new model: re-test safety, protect data, respect licences, document.</a:t>
            </a:r>
            <a:endParaRPr lang="en-US" sz="1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Read, watch, practise</a:t>
            </a:r>
            <a:endParaRPr lang="en-US" sz="3200" dirty="0"/>
          </a:p>
        </p:txBody>
      </p:sp>
      <p:sp>
        <p:nvSpPr>
          <p:cNvPr id="6" name="Shape 4"/>
          <p:cNvSpPr/>
          <p:nvPr/>
        </p:nvSpPr>
        <p:spPr>
          <a:xfrm>
            <a:off x="548640" y="1554480"/>
            <a:ext cx="457200" cy="457200"/>
          </a:xfrm>
          <a:prstGeom prst="ellipse">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658368" y="1664208"/>
            <a:ext cx="237744" cy="237744"/>
          </a:xfrm>
          <a:prstGeom prst="rect">
            <a:avLst/>
          </a:prstGeom>
        </p:spPr>
      </p:pic>
      <p:sp>
        <p:nvSpPr>
          <p:cNvPr id="8" name="Text 5"/>
          <p:cNvSpPr txBox="1"/>
          <p:nvPr/>
        </p:nvSpPr>
        <p:spPr>
          <a:xfrm>
            <a:off x="1143000"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Hugging Face LLM Course: Supervised fine-tuning with TRL and LoRA</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Official chapter with notebooks</a:t>
            </a:r>
            <a:endParaRPr lang="en-US" sz="1500" dirty="0"/>
          </a:p>
        </p:txBody>
      </p:sp>
      <p:sp>
        <p:nvSpPr>
          <p:cNvPr id="9" name="Shape 6"/>
          <p:cNvSpPr/>
          <p:nvPr/>
        </p:nvSpPr>
        <p:spPr>
          <a:xfrm>
            <a:off x="548640" y="2377440"/>
            <a:ext cx="457200" cy="457200"/>
          </a:xfrm>
          <a:prstGeom prst="ellipse">
            <a:avLst/>
          </a:prstGeom>
          <a:solidFill>
            <a:srgbClr val="4F46E5"/>
          </a:solidFill>
          <a:ln w="12700">
            <a:solidFill>
              <a:srgbClr val="4F46E5"/>
            </a:solidFill>
            <a:prstDash val="solid"/>
          </a:ln>
        </p:spPr>
      </p:sp>
      <p:pic>
        <p:nvPicPr>
          <p:cNvPr id="10" name="Image 1" descr="preencoded.png">    </p:cNvPr>
          <p:cNvPicPr>
            <a:picLocks noChangeAspect="1"/>
          </p:cNvPicPr>
          <p:nvPr/>
        </p:nvPicPr>
        <p:blipFill>
          <a:blip r:embed="rId3"/>
          <a:stretch>
            <a:fillRect/>
          </a:stretch>
        </p:blipFill>
        <p:spPr>
          <a:xfrm>
            <a:off x="658368" y="2487168"/>
            <a:ext cx="237744" cy="237744"/>
          </a:xfrm>
          <a:prstGeom prst="rect">
            <a:avLst/>
          </a:prstGeom>
        </p:spPr>
      </p:pic>
      <p:sp>
        <p:nvSpPr>
          <p:cNvPr id="11" name="Text 7"/>
          <p:cNvSpPr txBox="1"/>
          <p:nvPr/>
        </p:nvSpPr>
        <p:spPr>
          <a:xfrm>
            <a:off x="1143000"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Hugging Face PEFT documentation</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LoRA, QLoRA, adapters, prompt tuning</a:t>
            </a:r>
            <a:endParaRPr lang="en-US" sz="1500" dirty="0"/>
          </a:p>
        </p:txBody>
      </p:sp>
      <p:sp>
        <p:nvSpPr>
          <p:cNvPr id="12" name="Shape 8"/>
          <p:cNvSpPr/>
          <p:nvPr/>
        </p:nvSpPr>
        <p:spPr>
          <a:xfrm>
            <a:off x="548640" y="3200400"/>
            <a:ext cx="457200" cy="457200"/>
          </a:xfrm>
          <a:prstGeom prst="ellipse">
            <a:avLst/>
          </a:prstGeom>
          <a:solidFill>
            <a:srgbClr val="4F46E5"/>
          </a:solidFill>
          <a:ln w="12700">
            <a:solidFill>
              <a:srgbClr val="4F46E5"/>
            </a:solidFill>
            <a:prstDash val="solid"/>
          </a:ln>
        </p:spPr>
      </p:sp>
      <p:pic>
        <p:nvPicPr>
          <p:cNvPr id="13" name="Image 2" descr="preencoded.png">    </p:cNvPr>
          <p:cNvPicPr>
            <a:picLocks noChangeAspect="1"/>
          </p:cNvPicPr>
          <p:nvPr/>
        </p:nvPicPr>
        <p:blipFill>
          <a:blip r:embed="rId5"/>
          <a:stretch>
            <a:fillRect/>
          </a:stretch>
        </p:blipFill>
        <p:spPr>
          <a:xfrm>
            <a:off x="658368" y="3310128"/>
            <a:ext cx="237744" cy="237744"/>
          </a:xfrm>
          <a:prstGeom prst="rect">
            <a:avLst/>
          </a:prstGeom>
        </p:spPr>
      </p:pic>
      <p:sp>
        <p:nvSpPr>
          <p:cNvPr id="14" name="Text 9"/>
          <p:cNvSpPr txBox="1"/>
          <p:nvPr/>
        </p:nvSpPr>
        <p:spPr>
          <a:xfrm>
            <a:off x="1143000"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Hugging Face TRL documentation</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SFT, DPO, GRPO trainers</a:t>
            </a:r>
            <a:endParaRPr lang="en-US" sz="1500" dirty="0"/>
          </a:p>
        </p:txBody>
      </p:sp>
      <p:sp>
        <p:nvSpPr>
          <p:cNvPr id="15" name="Shape 10"/>
          <p:cNvSpPr/>
          <p:nvPr/>
        </p:nvSpPr>
        <p:spPr>
          <a:xfrm>
            <a:off x="548640" y="4023360"/>
            <a:ext cx="457200" cy="457200"/>
          </a:xfrm>
          <a:prstGeom prst="ellipse">
            <a:avLst/>
          </a:prstGeom>
          <a:solidFill>
            <a:srgbClr val="4F46E5"/>
          </a:solidFill>
          <a:ln w="12700">
            <a:solidFill>
              <a:srgbClr val="4F46E5"/>
            </a:solidFill>
            <a:prstDash val="solid"/>
          </a:ln>
        </p:spPr>
      </p:sp>
      <p:pic>
        <p:nvPicPr>
          <p:cNvPr id="16" name="Image 3" descr="preencoded.png">    </p:cNvPr>
          <p:cNvPicPr>
            <a:picLocks noChangeAspect="1"/>
          </p:cNvPicPr>
          <p:nvPr/>
        </p:nvPicPr>
        <p:blipFill>
          <a:blip r:embed="rId7"/>
          <a:stretch>
            <a:fillRect/>
          </a:stretch>
        </p:blipFill>
        <p:spPr>
          <a:xfrm>
            <a:off x="658368" y="4133088"/>
            <a:ext cx="237744" cy="237744"/>
          </a:xfrm>
          <a:prstGeom prst="rect">
            <a:avLst/>
          </a:prstGeom>
        </p:spPr>
      </p:pic>
      <p:sp>
        <p:nvSpPr>
          <p:cNvPr id="17" name="Text 11"/>
          <p:cNvSpPr txBox="1"/>
          <p:nvPr/>
        </p:nvSpPr>
        <p:spPr>
          <a:xfrm>
            <a:off x="1143000"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Hugging Face blog: Illustrating RLHF</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Clear walkthrough of the pipeline</a:t>
            </a:r>
            <a:endParaRPr lang="en-US" sz="1500" dirty="0"/>
          </a:p>
        </p:txBody>
      </p:sp>
      <p:sp>
        <p:nvSpPr>
          <p:cNvPr id="18" name="Shape 12"/>
          <p:cNvSpPr/>
          <p:nvPr/>
        </p:nvSpPr>
        <p:spPr>
          <a:xfrm>
            <a:off x="6278728" y="1554480"/>
            <a:ext cx="457200" cy="457200"/>
          </a:xfrm>
          <a:prstGeom prst="ellipse">
            <a:avLst/>
          </a:prstGeom>
          <a:solidFill>
            <a:srgbClr val="4F46E5"/>
          </a:solidFill>
          <a:ln w="12700">
            <a:solidFill>
              <a:srgbClr val="4F46E5"/>
            </a:solidFill>
            <a:prstDash val="solid"/>
          </a:ln>
        </p:spPr>
      </p:sp>
      <p:pic>
        <p:nvPicPr>
          <p:cNvPr id="19" name="Image 4" descr="preencoded.png">    </p:cNvPr>
          <p:cNvPicPr>
            <a:picLocks noChangeAspect="1"/>
          </p:cNvPicPr>
          <p:nvPr/>
        </p:nvPicPr>
        <p:blipFill>
          <a:blip r:embed="rId9"/>
          <a:stretch>
            <a:fillRect/>
          </a:stretch>
        </p:blipFill>
        <p:spPr>
          <a:xfrm>
            <a:off x="6388456" y="1664208"/>
            <a:ext cx="237744" cy="237744"/>
          </a:xfrm>
          <a:prstGeom prst="rect">
            <a:avLst/>
          </a:prstGeom>
        </p:spPr>
      </p:pic>
      <p:sp>
        <p:nvSpPr>
          <p:cNvPr id="20" name="Text 13"/>
          <p:cNvSpPr txBox="1"/>
          <p:nvPr/>
        </p:nvSpPr>
        <p:spPr>
          <a:xfrm>
            <a:off x="6873088"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Google ML Crash Course: LLMs (fine-tuning, distillation)</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Official concise module</a:t>
            </a:r>
            <a:endParaRPr lang="en-US" sz="1500" dirty="0"/>
          </a:p>
        </p:txBody>
      </p:sp>
      <p:sp>
        <p:nvSpPr>
          <p:cNvPr id="21" name="Shape 14"/>
          <p:cNvSpPr/>
          <p:nvPr/>
        </p:nvSpPr>
        <p:spPr>
          <a:xfrm>
            <a:off x="6278728" y="2377440"/>
            <a:ext cx="457200" cy="457200"/>
          </a:xfrm>
          <a:prstGeom prst="ellipse">
            <a:avLst/>
          </a:prstGeom>
          <a:solidFill>
            <a:srgbClr val="4F46E5"/>
          </a:solidFill>
          <a:ln w="12700">
            <a:solidFill>
              <a:srgbClr val="4F46E5"/>
            </a:solidFill>
            <a:prstDash val="solid"/>
          </a:ln>
        </p:spPr>
      </p:sp>
      <p:pic>
        <p:nvPicPr>
          <p:cNvPr id="22" name="Image 5" descr="preencoded.png">    </p:cNvPr>
          <p:cNvPicPr>
            <a:picLocks noChangeAspect="1"/>
          </p:cNvPicPr>
          <p:nvPr/>
        </p:nvPicPr>
        <p:blipFill>
          <a:blip r:embed="rId11"/>
          <a:stretch>
            <a:fillRect/>
          </a:stretch>
        </p:blipFill>
        <p:spPr>
          <a:xfrm>
            <a:off x="6388456" y="2487168"/>
            <a:ext cx="237744" cy="237744"/>
          </a:xfrm>
          <a:prstGeom prst="rect">
            <a:avLst/>
          </a:prstGeom>
        </p:spPr>
      </p:pic>
      <p:sp>
        <p:nvSpPr>
          <p:cNvPr id="23" name="Text 15"/>
          <p:cNvSpPr txBox="1"/>
          <p:nvPr/>
        </p:nvSpPr>
        <p:spPr>
          <a:xfrm>
            <a:off x="6873088"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Hu et al. (2021) LoRA</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Low-rank adaptation</a:t>
            </a:r>
            <a:endParaRPr lang="en-US" sz="1500" dirty="0"/>
          </a:p>
        </p:txBody>
      </p:sp>
      <p:sp>
        <p:nvSpPr>
          <p:cNvPr id="24" name="Shape 16"/>
          <p:cNvSpPr/>
          <p:nvPr/>
        </p:nvSpPr>
        <p:spPr>
          <a:xfrm>
            <a:off x="6278728" y="3200400"/>
            <a:ext cx="457200" cy="457200"/>
          </a:xfrm>
          <a:prstGeom prst="ellipse">
            <a:avLst/>
          </a:prstGeom>
          <a:solidFill>
            <a:srgbClr val="4F46E5"/>
          </a:solidFill>
          <a:ln w="12700">
            <a:solidFill>
              <a:srgbClr val="4F46E5"/>
            </a:solidFill>
            <a:prstDash val="solid"/>
          </a:ln>
        </p:spPr>
      </p:sp>
      <p:pic>
        <p:nvPicPr>
          <p:cNvPr id="25" name="Image 6" descr="preencoded.png">    </p:cNvPr>
          <p:cNvPicPr>
            <a:picLocks noChangeAspect="1"/>
          </p:cNvPicPr>
          <p:nvPr/>
        </p:nvPicPr>
        <p:blipFill>
          <a:blip r:embed="rId13"/>
          <a:stretch>
            <a:fillRect/>
          </a:stretch>
        </p:blipFill>
        <p:spPr>
          <a:xfrm>
            <a:off x="6388456" y="3310128"/>
            <a:ext cx="237744" cy="237744"/>
          </a:xfrm>
          <a:prstGeom prst="rect">
            <a:avLst/>
          </a:prstGeom>
        </p:spPr>
      </p:pic>
      <p:sp>
        <p:nvSpPr>
          <p:cNvPr id="26" name="Text 17"/>
          <p:cNvSpPr txBox="1"/>
          <p:nvPr/>
        </p:nvSpPr>
        <p:spPr>
          <a:xfrm>
            <a:off x="6873088"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Rafailov et al. (2023) Direct Preference Optimization</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DPO</a:t>
            </a:r>
            <a:endParaRPr lang="en-US" sz="1500" dirty="0"/>
          </a:p>
        </p:txBody>
      </p:sp>
      <p:sp>
        <p:nvSpPr>
          <p:cNvPr id="27" name="Shape 18"/>
          <p:cNvSpPr/>
          <p:nvPr/>
        </p:nvSpPr>
        <p:spPr>
          <a:xfrm>
            <a:off x="6278728" y="4023360"/>
            <a:ext cx="457200" cy="457200"/>
          </a:xfrm>
          <a:prstGeom prst="ellipse">
            <a:avLst/>
          </a:prstGeom>
          <a:solidFill>
            <a:srgbClr val="4F46E5"/>
          </a:solidFill>
          <a:ln w="12700">
            <a:solidFill>
              <a:srgbClr val="4F46E5"/>
            </a:solidFill>
            <a:prstDash val="solid"/>
          </a:ln>
        </p:spPr>
      </p:sp>
      <p:pic>
        <p:nvPicPr>
          <p:cNvPr id="28" name="Image 7" descr="preencoded.png">    </p:cNvPr>
          <p:cNvPicPr>
            <a:picLocks noChangeAspect="1"/>
          </p:cNvPicPr>
          <p:nvPr/>
        </p:nvPicPr>
        <p:blipFill>
          <a:blip r:embed="rId15"/>
          <a:stretch>
            <a:fillRect/>
          </a:stretch>
        </p:blipFill>
        <p:spPr>
          <a:xfrm>
            <a:off x="6388456" y="4133088"/>
            <a:ext cx="237744" cy="237744"/>
          </a:xfrm>
          <a:prstGeom prst="rect">
            <a:avLst/>
          </a:prstGeom>
        </p:spPr>
      </p:pic>
      <p:sp>
        <p:nvSpPr>
          <p:cNvPr id="29" name="Text 19"/>
          <p:cNvSpPr txBox="1"/>
          <p:nvPr/>
        </p:nvSpPr>
        <p:spPr>
          <a:xfrm>
            <a:off x="6873088"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Ouyang et al. (2022) InstructGPT</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SFT + RLHF</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8: Fine-Tuning and Domain Adaptation</dc:title>
  <dc:subject>Generative AI (MSc in Artificial Intelligence)</dc:subject>
  <dc:creator>Generative AI module team</dc:creator>
  <cp:lastModifiedBy>Generative AI module team</cp:lastModifiedBy>
  <cp:revision>1</cp:revision>
  <dcterms:created xsi:type="dcterms:W3CDTF">2026-10-06T20:33:56Z</dcterms:created>
  <dcterms:modified xsi:type="dcterms:W3CDTF">2026-10-06T20:33:56Z</dcterms:modified>
</cp:coreProperties>
</file>