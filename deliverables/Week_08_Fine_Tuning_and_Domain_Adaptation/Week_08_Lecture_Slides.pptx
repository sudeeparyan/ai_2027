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This week changes model weights on purpose, and asks when that is worth the cost.
Explain: Fine-tuning continues training a pretrained model on new examples. Weights are the learned numbers inside the model. An adapter is a small set of added weights trained instead of all of them. LoRA is the adapter method used in the lab. Evaluation decides whether training beat the best prompt.
Example: Last week, prompts routed student messages with fixed weights. This week the same Qwen2.5-0.5B model learns banking intents from labelled examples. A LoRA adapter of about 1.1 million numbers changes its behaviour while the base weights stay frozen. Driving lessons are an analogy; practice changes habits, but a test still decides.
Ask: What must a fine-tuned model beat before we keep it?
Answer: The best prompt on the same held-out test, at an acceptable cost.
Watch out: A falling training loss is not the same as a better result on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Students leave able to choose an adaptation method, explain how training changes behaviour, and run a fair fine-tuning experiment.
Explain: SFT means supervised fine-tuning on inputs paired with desired answers. Preference training learns from comparisons between two answers. LoRA trains small low-rank matrices beside frozen weights. A fair experiment compares methods on the same held-out test. These outcomes support MIMLOs 1, 3 and 4.
Example: In the lab, the base model's zero-shot and few-shot accuracy come first. Then a LoRA adapter trains on labelled banking messages and is tested on unseen messages. The comparison table, loss curve and saved adapter size form the evidence. Each outcome therefore ends in a measured number.
Ask: Which outcome would a lower training loss alone fail to show?
Answer: Fair evaluation: only held-out accuracy shows whether the adapter beats the best prompt.
Watch out: LoRA decides which weights change; SFT, RLHF and DPO are objectives that say how they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session moves from deciding whether to fine-tune, through training objectives, to cheap adapters and a fair domain test.
Explain: Section one compares prompting, retrieval and fine-tuning. Section two explains supervised and instruction fine-tuning. Section three covers learning from preferences. Section four trains small adapters instead of all weights. Section five runs and evaluates a domain adaptation.
Example: Week 7 measured prompts with fixed weights on routing tickets. Week 8 trains on labelled banking messages and compares against prompting baselines. Week 12 then adds retrieval for changing facts. A toolbox is an analogy, though here the tools are often combined rather than chosen once.
Ask: Which week's method suits facts that change every week?
Answer: Retrieval, covered in week 12, because it supplies current sources without retraining.
Watch out: Fine-tuning is not the default upgrade; it is one option to justify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Weights, separate data splits and loss are the three ideas needed to follow today's fine-tuning lab.
Explain: A weight is a learned number inside the model. Fine-tuning changes some weights using examples. A training set teaches; a test set checks fairly at the end. Loss measures how wrong the predictions are on known answers. Training lowers the loss on the training examples.
Example: Qwen2.5-0.5B has about 494 million weights. The lab's adapter adds about one million new ones and trains only those. Two hundred labelled banking messages train it, and fifty different messages test it. If the training loss drops from about 1.1 to 0.1, the adapter has fitted its examples; only the test shows whether that transfers.
Ask: Which set decides the accuracy you report?
Answer: The held-out test set, used once at the end.
Watch out: A message that appears in both training and test makes the reported accuracy too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Different needs call for different adaptation methods, and one assistant can need all three.
Explain: Brand voice is a consistent style. Interest rates are facts that change weekly. Routing is a repeated classification at high volume. Retrieval suits changing facts. Fine-tuning can suit consistent behaviour or cheaper high-volume use.
Example: The rates belong in retrieval, because training would be out of date next week. The brand voice may start as a prompt, with fine-tuning if prompts drift. Routing 50,000 messages with a long few-shot prompt resends the examples every time, so a small fine-tuned model can cut the cost. A shop is an analogy; it needs staff training, a price board and a sorting machine.
Ask: Which need is the worst fit for fine-tuning, and why?
Answer: This week's interest rates; they change weekly, so retrieval keeps them current.
Watch out: Estimate cost and accuracy before deciding; intuition about what is cheap is often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Prompting, retrieval and fine-tuning solve different problems, so the first step is naming the problem.
Explain: Prompting changes the input for one request. Retrieval adds relevant documents to the input. Fine-tuning changes weights using training examples. A behaviour gap is a repeated failure that good prompts cannot fix. A knowledge gap is missing or outdated facts.
Example: A model that keeps writing "card arrival" instead of card_arrival has a format gap; examples or fine-tuning help. A model that does not know this week's rate has a knowledge gap; retrieval helps. A model that is accurate but too slow and expensive may justify a smaller fine-tuned model.
Ask: Predict: is a missing fact a behaviour gap or a knowledge gap?
Answer: A knowledge gap; supply the fact through retrieval rather than training it in.
Watch out: Fine-tuning on new facts can make a model more confident without making it more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separates the data, trains a small adapter on the training messages, and compares it fairly on unseen test messages.
Explain: A split divides labelled messages into training, validation and test sets. Formatting turns each message and label into a chat pair. LoRA adds small trainable matrices beside frozen weights. Training lowers the loss on the answer tokens. The test uses the same parser as the prompting baselines.
Example: The CPU core keeps five intents, 200 training messages and 50 test messages. Rank-8 LoRA trains about one million numbers for one epoch of 25 optimiser steps. The adapter's test accuracy then sits in one table beside zero-shot and few-shot prompting. A driving instructor and an examiner are the analogy; they should never be the same route.
Ask: Why does the test branch skip the training blocks?
Answer: Test messages must never influence training, so they go straight to the final evaluation.
Watch out: Comparing the adapter with a weak baseline makes any training look impressive.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Each method changes something different: the input, the sources added to the input, or the weights.
Explain: A prompt lists rules, labels and examples. Retrieval fetches documents and places them in the prompt. Fine-tuning trains on examples so behaviour persists without long prompts. Each has different up-front and per-request costs. Methods can be combined in one system.
Example: For banking routing, a prompt can list the ten intents with examples. Retrieval can fetch this week's interest rates for answers. Fine-tuning can make a small model route 50,000 messages a day with a short prompt. One assistant can use all three for different parts of its job.
Ask: Which method has the highest up-front cost but the shortest prompt per request?
Answer: Fine-tuning; training costs time once, then requests need no long list of examples.
Watch out: A fine-tuned model still needs an input format at inference, and it must match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decision process tries the cheapest fix first and moves to training only when measured gaps remain.
Explain: Start with a strong prompt and a test set. If facts are missing or change, add retrieval. If behaviour gaps persist, consider fine-tuning. Each branch ends with a measured comparison on the same test. Cost and data rights can stop a branch early.
Example: Suppose a routing prompt reaches 85% on held-out messages, but the target is 95% at lower cost. Facts are not the problem, so retrieval will not help. Labelled messages exist and may be used, so a LoRA experiment is justified. If it reaches only 86%, keep the prompt.
Ask: When should you stop before fine-tuning even if accuracy is too low?
Answer: When you lack rights to the data, a separate test set or a measured problem to fix.
Watch out: The decision depends on measurements; repeat it when the model or the data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Fine-tune for persistent, measured gaps with usable data, not for changing facts or untested hunches.
Explain: A persistent gap survives the best prompt you can write. Labelled examples are inputs with known correct answers. A separate test set measures improvement fairly. A measured saving compares cost per request before and after. Data rights mean permission to use the examples for training.
Example: The stored lab run had 1,216 labelled Banking77 training messages and a separate 200-message test. That makes fine-tuning a fair experiment. A team wanting the model to know its latest prices has a changing-facts problem instead. A team with no test set cannot tell whether training helped.
Ask: Is "everyone else fine-tunes" a good reason?
Answer: No. Only a measured gap, usable data and a fair test justify the cost.
Watch out: Data collected for one purpose may not be licensed or consented for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Supervised fine-tuning teaches a model by showing inputs together with the answers we want.
Explain: Supervised means each example has a known target. The input is the prompt; the target is the desired answer. Training raises the probability of the target tokens. Instruction tuning applies this to many different tasks. The chat template formats each example as a conversation.
Example: The input "I lost my card!" has the target lost_or_stolen_card. The model reads the input and is scored only on the answer tokens. After many such pairs, it routes similar messages without examples in the prompt. A teacher marking only the final answer is an analogy, though the model also learns the answer's exact wording.
Ask: Predict: are the prompt tokens part of the loss?
Answer: Usually not; they are read as context, and the loss is computed on the answer tokens.
Watch out: Train and test with the same template, or the model sees an unfamiliar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"Full fine-tuning" says which weights change; "SFT" says what kind of examples and loss are used.
Explain: Full fine-tuning updates every weight. SFT trains on input–answer pairs with a supervised loss. SFT can update all weights or only adapters. The optimiser stores extra numbers for every trainable weight. More trainable weights mean more memory and more risk of forgetting.
Example: The lab does SFT with LoRA: about 1.1 million adapter numbers train, while about 494 million base weights stay frozen. Full SFT of the same model would train all of them and need far more optimiser memory. A building is an analogy; renovation versus a removable extension.
Ask: Can SFT and LoRA be used together?
Answer: Yes. SFT is the training objective; LoRA decides which parameters that objective updates.
Watch out: Do not call every fine-tuning SFT; preference methods such as DPO use a different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SFT minimises the negative log-probability of the correct answer tokens, given the prompt and earlier answer tokens.
Explain: θ is the set of trained numbers. x is the prompt and y is the known answer. y_t is the answer token at position t. The log turns multiplied probabilities into added scores. The minus sign makes higher probability give lower loss.
Example: Suppose the answer lost_or_stolen_card is three tokens with probabilities 0.5, 0.8 and 0.9. The loss is −(ln 0.5 + ln 0.8 + ln 0.9) ≈ 0.69 + 0.22 + 0.11 = 1.02. Training pushes each probability towards 1, so the loss falls towards 0.
Ask: What happens to the loss if the first token's probability rises from 0.5 to 0.9?
Answer: Its term drops from about 0.69 to 0.11, so the total falls to about 0.43.
Watch out: An answer can span several tokens even when it looks like one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Instruction tuning turns a base model that continues text into an assistant that follows requests.
Explain: A base model is trained only to predict the next token of ordinary text. Instruction tuning trains on many instruction–answer pairs across tasks. The goal is general instruction following, not one task. Quality and variety of examples matter more than sheer volume. New tasks test whether the skill generalises.
Example: Asked "Write three tips for revising", a base model may continue with more forum questions. The instruction-tuned version answers with three tips. LIMA (2023) showed that 1,000 carefully curated examples gave strong instruction following on a 65-billion-parameter model.
Ask: Why test an instruction-tuned model on tasks absent from its training set?
Answer: To check general instruction following rather than memorised task formats.
Watch out: Instruction tuning shapes behaviour; it does not reliably add new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chat template turns role-tagged messages into one token sequence with markers the model learned in training.
Explain: Each message has a role and content. The template adds special tokens such as &lt;|im_start|&gt; and &lt;|im_end|&gt;. These mark where each turn begins and ends. The tokenizer stores the template for its model family. Using a different template at inference confuses the model.
Example: For Qwen, the user turn becomes &lt;|im_start|&gt;user, the message, then &lt;|im_end|&gt;. The assistant turn holds the label lost_or_stolen_card. During SFT only that final assistant content is scored. Other families, such as Llama and Gemma, use different markers.
Ask: What goes wrong if you train with one template and serve with another?
Answer: The model meets unfamiliar markers, so replies can ramble or ignore the format.
Watch out: Without a system message, Qwen's template inserts a default one; print the formatted text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Most fine-tuning quality comes from the examples, so data preparation deserves more time than training.
Explain: Quality means each label is correct and consistently applied. Diversity covers the real range of wording, including typos and long messages. Clean splits keep near-duplicates out of the test set. Balance gives each label enough examples. A datasheet documents sources, filters and known gaps.
Example: If annotators label "card not here yet" as card_arrival on Monday and activate_my_card on Tuesday, the model learns noise. If the same message appears in training and test, accuracy looks higher than it is. Banking77 averages about 130 training messages per intent, enough for a small adapter.
Ask: Why remove near-duplicates across training and test splits?
Answer: Otherwise the test rewards memorisation and overstates accuracy on genuinely new messages.
Watch out: Personal data in training examples can be memorised and later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Preference training uses comparisons between two answers to steer behaviour beyond what single target answers show.
Explain: A preference pair holds a prompt, a preferred answer and a rejected answer. People or models produce the comparisons. RLHF trains a reward model on pairs, then optimises the policy with RL. DPO trains directly on the pairs. Verifiable rewards replace preferences with automatic checks.
Example: For "Explain my card fee", answer A is accurate and polite; answer B is curt. A rater prefers A. Thousands of such pairs teach tone and helpfulness that are hard to write as single labels. Choosing between two drafts is the analogy, but preference is not the same as truth.
Ask: Predict: does a preferred answer have to be correct?
Answer: No. Raters may prefer confident or agreeable answers, so correctness still needs checking.
Watch out: Preference data reflects the raters and guidelines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RLHF has three stages: supervised fine-tuning, a reward model trained on comparisons, and reinforcement learning against that reward.
Explain: Stage one fine-tunes on demonstrations. Stage two trains a reward model to predict which answer people prefer. Stage three samples answers and updates the policy to raise reward. PPO is the RL algorithm used in InstructGPT. A KL penalty keeps the policy close to the starting model.
Example: InstructGPT (2022) used this pipeline; labelers preferred outputs of the 1.3-billion-parameter InstructGPT model over the 175-billion-parameter GPT-3. ChatGPT was built with similar methods. The cost is high: people for comparisons, plus several models in memory during RL.
Ask: Why keep the policy close to the starting model?
Answer: Without the penalty, it can exploit the reward model with odd text that scores well.
Watch out: The reward model is itself learned and imperfect; optimising it too hard causes reward hacking.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reward model learns to score preferred answers higher, and the policy then maximises reward while staying near its start.
Explain: r_φ is the reward model, a network that outputs one score. σ is the sigmoid function, which maps any number to between 0 and 1. The first loss is small when the preferred answer scores higher. The second line maximises expected reward. The KL term measures how far the policy drifts from the reference.
Example: If r(x, y_w) = 2 and r(x, y_l) = 0, then σ(2) ≈ 0.88 and the loss is −ln 0.88 ≈ 0.13. If the scores were reversed, σ(−2) ≈ 0.12 and the loss would be about 2.13. β then trades reward against drift.
Ask: What does a larger β do?
Answer: It penalises drift more, so the policy stays closer to the reference model.
Watch out: The KL penalty limits drift; it does not guarantee safe or truthful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DPO trains directly on preference pairs by raising the preferred answer's probability relative to a fixed reference model.
Explain: π_θ is the model being trained. π_ref is a frozen copy of the starting model. Each log ratio measures how much training has changed an answer's probability. The loss rewards a larger ratio for the preferred answer. β is the drift-penalty strength from RLHF; it scales the difference.
Example: Suppose training raises the preferred answer's log ratio to 0.5 and lowers the rejected one to −0.5. With β = 0.1, the inside is 0.1 × (0.5 − (−0.5)) = 0.1, σ(0.1) ≈ 0.52, and the loss is about 0.64. Larger gaps push the loss towards zero.
Ask: Why compare against a reference model instead of raw probabilities?
Answer: It measures change from the start, which stops the model drifting far for small gains.
Watch out: DPO still needs good preference data; it removes the reward model and RL loop, not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RLHF, DPO and verifiable-reward RL all learn from feedback, but differ in where the signal comes from.
Explain: RLHF uses human rankings to train a reward model, then PPO. DPO turns ranked pairs directly into a loss. Verifiable rewards come from automatic checks, such as a correct maths answer or passing tests. GRPO compares several sampled answers to the same prompt. Each suits a different kind of task.
Example: InstructGPT used RLHF with PPO. Zephyr-7B used DPO on AI-ranked preference pairs. DeepSeek-R1 used GRPO with rule-based rewards on maths and code, where answers can be checked automatically. A tutor, a ranking of drafts and an automatic marker are the three analogies.
Ask: Which approach suits a coding task with unit tests?
Answer: RL with verifiable rewards, because passing tests is an automatic, checkable signal.
Watch out: A verifiable reward only checks what the test measures; it can still reward shortcuts.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AI feedback makes preference data cheaper, but every feedback signal can be gamed or biased.
Explain: RLAIF replaces human raters with an AI model. Constitutional AI asks a model to critique answers against written principles. Reward hacking means raising the score without achieving the intended goal. Sycophancy means agreeing with the user against the evidence. The rubric and raters decide what gets rewarded.
Example: If the reward model likes longer answers, the policy learns to pad replies. If raters prefer agreement, the model learns to confirm a user's false claim. Anthropic's Constitutional AI work (2022) generated feedback from principles such as avoiding harmful advice.
Ask: How could you detect reward hacking?
Answer: Compare reward scores with independent checks, such as human review or task accuracy, on held-out prompts.
Watch out: An AI rater can pass its own biases on to the 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DPO's practical advantage is simplicity: it trains from preference pairs without a reward model or an RL loop.
Explain: PPO-based RLHF needs a reward model, sampling and several models in memory. DPO uses the same pairs with a direct loss. It still needs a reference model and good preference data. Results vary by task and data. Simpler training is easier to run and debug.
Example: An RLHF run may keep a policy, a reference model, a reward model and a value model in memory. DPO keeps only the policy and the frozen reference. That reduction is one reason many open chat models adopted DPO.
Ask: Which option is correct?
Answer: D. DPO needs no separate reward model or RL loop, though it still needs preference pairs.
Watch out: Simpler does not mean always better; compare on your own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Parameter-efficient fine-tuning trains a small number of new parameters while the base weights stay frozen.
Explain: PEFT is a family of methods that train small additions. Frozen weights do not change during training. Fewer trainable weights mean less gradient and optimiser memory. Adapters can be saved separately and swapped. LoRA is the most widely used PEFT method.
Example: Full fine-tuning of a 7-billion-parameter model with Adam in 16-bit needs more than 100 GB of GPU memory. LoRA on the same model can fit in about 18–24 GB, and QLoRA in about 7–12 GB. The lab's adapter trains about 0.22% of Qwen's weights.
Ask: Predict: does freezing weights reduce the memory needed for the weights themselves?
Answer: No. Frozen weights still sit in memory; the savings come from gradients and optimiser state.
Watch out: Activations for long sequences can dominate memory even with LoRA.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LoRA trains two small matrices beside a frozen weight, using answer-token loss.
Explain: The same input x reaches the frozen weight W and the adapter matrices A then B. A shrinks the input to r numbers; B expands it back. Scale the adapter output by alpha divided by rank, then add it to W x. Loss compares answer scores with the known label. Gradients update A and B only.
Example: For an 8-input, 8-output projection, W has 64 entries. At rank 2, A is [2, 8] and B is [8, 2]: 32 trainable numbers. With alpha 4, the correction is multiplied by 2. B starts at zero, preserving the initial output. A clip-on lens is an analogy; adapters change learned numbers, not optics.
Ask: Does the adapter receive W x or x?
Answer: The same x as W; the two contributions are added.
Watch out: The dashed arrow repeats the next batch; W stays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LoRA adds a trainable low-rank path beside a frozen weight matrix and sums the two outputs.
Explain: W is the frozen pretrained weight matrix. A projects the input down to r numbers. B projects those r numbers back up to the output size. The input x goes through both paths in parallel. Their outputs are added, so W never changes.
Example: For an 8-input, 8-output projection, W has 64 entries. With rank r = 2, A is [2, 8] and B is [8, 2], giving 32 trainable entries. B starts at zero, so training begins exactly at the pretrained behaviour. A dimmer fitted beside a light switch is an analogy; it adjusts the output without rewiring the switch.
Ask: Why does B start at zero?
Answer: Then BA = 0, so the model initially behaves exactly like the pretrained model.
Watch out: The adapter takes the same input x as W, not W's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LoRA's output is the frozen projection plus a scaled low-rank correction, and its count grows with r(d + k) instead of d·k.
Explain: d is the output size and k is the input size. A has shape [r, k] and B has shape [d, r]. The rank r is much smaller than d and k. The scale α/r sets how strongly the correction counts. After training, BA can be merged into W.
Example: For a 4096 × 4096 projection, W has 16,777,216 values. Rank 16 adds 16 × (4096 + 4096) = 131,072 values, under 1% of W. With α = 32 and r = 16, the scale is 2.
Ask: How many LoRA values does rank 8 add to that 4096 × 4096 projection?
Answer: 8 × (4096 + 4096) = 65,536, half the rank-16 count.
Watch out: Merging removes the adapter's runtime cost but also its easy on and off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 the stored lab run, LoRA trained under half a percent of the model's parameters.
Explain: Trainable parameters are those the optimiser updates. The base model's weights stay frozen. The count depends on the rank and the target modules. Qwen2.5-0.5B has 24 layers with four attention projections each. Grouped-query attention makes its key and value projections smaller.
Example: LoRA (r = 16, attention projections) trains 2,162,688 of 496,195,456 parameters (0.44%). Each layer adds r × 5,632 values, because q and o map 896 to 896 while k and v map 896 to 128. With r = 16 that is 90,112 per layer, times 24 layers. The CPU core uses r = 8, so it trains half as many: 1,081,344.
Ask: Why are the k and v adapters smaller than the q and o adapters?
Answer: Their output size is 128 rather than 896, so r(d + k) is smaller.
Watch out: Trainable count is not total memory; frozen weights and activations still need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QLoRA trains LoRA adapters on top of a base model whose frozen weights are stored in 4-bit form.
Explain: Quantisation stores numbers with fewer bits. NF4 is a 4-bit format designed for normally distributed weights. Double quantisation also compresses the scaling constants. Paged optimisers move optimiser state to CPU memory during spikes. Gradients flow through the dequantised weights into the LoRA paths.
Example: The QLoRA paper (2023) fine-tuned a 65-billion-parameter model on one 48 GB GPU. A 7-billion-parameter model needs about 4–5 GB for 4-bit weights instead of about 15 GB in 16-bit. The trade-off is extra computation to dequantise.
Ask: Which parts of QLoRA stay in higher precision?
Answer: The trainable LoRA matrices and the computation; only the frozen base is stored in 4-bit.
Watch out: QLoRA needs a supported GPU library; it is a stretch topic, not the CPU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PEFT methods differ in where they add trainable parameters and what they cost at inference.
Explain: LoRA adds low-rank paths beside existing weights. QLoRA applies LoRA to a 4-bit base. Adapter layers insert small bottleneck networks between layers. Prompt tuning learns vectors placed before the input. Prefix tuning learns key and value prefixes for every layer.
Example: Prompt tuning with 20 learned vectors of width 896 trains 17,920 numbers, far fewer than LoRA. Adapter layers add computation at inference, while merged LoRA adds none. Full fine-tuning of all Qwen weights is the expensive baseline.
Ask: Which method adds no inference cost after merging?
Answer: LoRA, because BA can be added into W once training ends.
Watch out: The fewest trainable parameters do not guarantee the best task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Rough memory estimates show why LoRA and QLoRA make fine-tuning a 7–8 billion-parameter model practical on one GPU.
Explain: Weights in 16-bit use two bytes each. Adam stores two extra numbers per trainable weight, often in 32-bit. Gradients add another copy for trainable weights. LoRA keeps gradients and optimiser state only for the small adapters. QLoRA also shrinks the frozen weights to about half a byte each.
Example: A 7.5-billion-parameter model in 16-bit needs about 15 GB for its weights. Full fine-tuning adds gradients and Adam state, passing 100 GB. LoRA needs those 15 GB plus a little for adapters and activations. QLoRA brings the weights to about 4–5 GB.
Ask: Where does most of full fine-tuning's memory go?
Answer: To gradients and optimiser state for every weight, not to the weights themselves.
Watch out: These are indicative; sequence length, batch size and implementation change real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Knowledge distillation trains a small student model to imitate a larger teacher model.
Explain: The teacher is a large, capable model. The student is smaller and cheaper to run. Soft targets are the teacher's full probability distributions. Hard targets are the teacher's chosen outputs used as labels. The student inherits the teacher's errors as well as its skills.
Example: A large model labels 10,000 unlabelled banking messages. A 0.5-billion-parameter student then fine-tunes on those labels and runs far faster. If the teacher confuses card_arrival with activate_my_card, the student learns that confusion too.
Ask: What must you check before distilling from a commercial model?
Answer: The provider's terms, because some forbid using outputs to train competing models.
Watch out: Test the student on human-labelled data, not only on teacher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Domain adaptation applies the whole process: define the task, prepare data, set baselines, train and evaluate fairly.
Explain: A domain is a specialised area, such as banking or law. The task metric is decided before training. The final test set stays untouched until the end. Baselines come from the best prompting methods. Evaluation covers task accuracy, older abilities, safety and cost.
Example: In the lab, the task is routing banking messages to intents, measured by accuracy on held-out messages. Zero-shot and few-shot prompts set the baselines. A LoRA adapter trains on separate training messages. All three are scored with the same parser.
Ask: Predict: which baseline is hardest for the adapter to beat?
Answer: Usually the few-shot prompt, because its examples already show the labels and format.
Watch out: Choosing settings by reading test errors turns the test into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Training turns labelled messages into an adapter, checks it on validation messages, and saves only the small added weights.
Explain: The training split holds labelled messages used for learning. Formatting turns each one into a prompt and an answer. The trainer updates the adapter to lower the answer-token loss. Validation loss uses separate messages without updates. Saving writes the adapter weights and a configuration file.
Example: In the CPU core, 200 messages in batches of 8 give 25 optimiser steps. Validation loss on 30 other messages is checked twice during training. The saved rank-8 adapter holds about one million 32-bit numbers, so its file is roughly 4 MB. A recipe card is the analogy; it is small, but useless without the kitchen it was written for.
Ask: What does a rising validation loss with a falling training loss suggest?
Answer: The adapter is memorising its training messages rather than learning what transfers.
Watch out: Keep the base model's exact name with the adapter, or it cannot be used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domain fine-tuning workflow fixes the metric and test first, then trains only if the baseline leaves a gap.
Explain: Defining the task names the inputs, outputs and metric. Preparing data cleans, splits and formats examples. The baseline is the best prompting result. LoRA SFT trains adapters while validation loss is watched. Evaluation decides whether the gain justifies the cost.
Example: The stored run trained on 1,216 Banking77 messages for one epoch and tested on 200 held-out messages. The few-shot baseline set the bar to beat. Validation loss was checked during training, and the test was used once at the end.
Ask: Why fix the metric before training?
Answer: Choosing the metric after seeing results lets you pick whichever number looks best.
Watch out: Skipping the baseline makes any trained result look like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Most fine-tuning failures come from data, settings or evaluation, not from the model architecture.
Explain: Overfitting means fitting training examples while new examples get worse. Catastrophic forgetting means losing earlier abilities. Leakage means test examples or near-copies appear in training. A template mismatch formats training and serving differently. A learning rate that is too high destabilises training.
Example: If training loss falls from 1.2 to 0.4 while validation loss rises from 0.9 to 1.3, the model is memorising. If accuracy jumps to 100% on a test that shares messages with training, check for leakage before celebrating.
Ask: Which pitfall does an adapter on-and-off test help detect?
Answer: Forgetting, because the same general question can be compared with and without the adapter.
Watch out: A single impressive test result is more often a pitfall than a breakthrough.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 the stored full run, few-shot prompting helped a lot, and the LoRA adapter helped further on the same test.
Explain: All three rows use the same base model and the same 200 held-out messages. Greedy decoding removes sampling randomness. Invalid means no recognised intent in the reply. The few-shot prompt is the strongest baseline. The adapter must beat it to justify training.
Example: Accuracy on 200 held-out messages: base zero-shot 52.5%; base few-shot 85.0%; LoRA fine-tuned 97.0%. With 200 messages, each message is 0.5 percentage points. Your CPU core measured base zero-shot 42%; base few-shot 86%; LoRA fine-tuned 98% on 50 messages.
Ask: How do you turn an accuracy gain into a number of messages?
Answer: Divide the percentage-point gain by the points per message: 0.5 here, so a 10-point gain is 20 messages.
Watch out: Higher task accuracy does not show that older abilities or safety survived.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stored run's loss curves fell together, which is consistent with learning rather than memorising.
Explain: Training loss is measured on the batches being trained. Validation loss is measured on separate examples without updates. Both use the answer-token loss. A widening gap suggests overfitting. The saved adapter contains only the LoRA weights and configuration.
Example: Saved adapter: 8.7 MB; base weights: 1,976 MB. The adapter is small because it stores about two million 32-bit numbers. To use it, load the exact base model and attach the adapter.
Ask: Does a falling validation loss prove high test accuracy?
Answer: No. It is encouraging evidence; only the held-out test measures task accuracy.
Watch out: An adapter is useless without the exact base model it was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Inference with the adapter formats a new message exactly as in training, runs the adapted model, and parses one intent.
Explain: Inference means using fixed weights to answer a new input. The template must match training, including the instruction and intent list. The adapter adds its learned corrections to the frozen base outputs. Greedy decoding gives a short, repeatable reply. The parser turns it into one intent.
Example: "My card still hasn't arrived" becomes the zero-shot training prompt. The adapted model replies card_arrival, which the parser accepts. If the intent list in the prompt were reordered or missing, replies could drift. A key cut for one lock is the analogy; it works only with that lock.
Ask: Do any weights change while the adapter answers?
Answer: No. Inference only reads the base weights and the adapter.
Watch out: A new intent added later needs new training data; the adapter cannot route to labels it never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Evaluating a fine-tuned model means checking the task, older abilities, safety, robustness, cost and expert judgement.
Explain: The task check uses the same test as the best prompt. Older abilities are checked with general questions. Safety tests re-run harmful requests that should be refused. Robustness checks rewordings, typos and new time periods. Cost covers time, memory and tokens per message.
Example: The lab asks one general question with the adapter on and off. A banking adapter might answer "What is the capital of France?" with an intent label. A real release would use a set of general questions, a refusal test suite and a bank agent reviewing 50 replies.
Ask: Why re-run safety tests after a fine-tune on harmless data?
Answer: Research has shown that fine-tuning, even on benign data, can weaken refusals.
Watch out: One general question illustrates forgetting; it does not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Organisations can build a domain model, adapt a general one, or add retrieval, and the cheapest adequate option should win.
Explain: Building means pre-training on domain and general text. Adapting means fine-tuning a general model on domain examples. Retrieval supplies domain documents at request time. Each needs a domain test for comparison. Governance covers who may use sensitive data and how.
Example: BloombergGPT (2023) trained a 50-billion-parameter model on financial and general data. Larger general models later rivalled it on some financial tasks, which shows why comparison matters. A bank could instead fine-tune a small model for routing and use retrieval for policy answers.
Ask: What is the first comparison to run before building a domain model?
Answer: A strong general model with prompting and retrieval on the same domain test.
Watch out: Domain data is often confidential; training on it needs explicit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Fine-tuning changes behaviour in ways you did not target, so safety, privacy, fairness and licences need fresh checks.
Explain: Safety erosion means refusals weaken after fine-tuning. Memorisation means the model can reproduce training records. Bias amplification means errors concentrate on some groups. Licences govern whether a base model may be fine-tuned and shared. A model card documents data, evaluation and limits.
Example: Qi et al. (2023) showed that fine-tuning aligned models on even benign examples weakened their refusals. A banking adapter trained on real complaints could reproduce a customer's account number. Checking accuracy by customer group can reveal uneven errors.
Ask: What should accompany a released adapter?
Answer: A model card stating the base model, data sources, evaluation results, known limits and intended use.
Watch out: Removing names may not remove identifying details such as rare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comparison is fair because all three models face the same messages, decoding and parser.
Explain: The test messages are held out from training. The prompt is zero-shot or few-shot for the base model. The adapter uses the zero-shot format it was trained on. The parser takes the first intent mentioned in the reply. Scoring compares that label with the reference.
Example: A reply of "The intent is card arrival" parses to card_arrival and counts as correct. A reply naming no intent counts as invalid. With 50 messages, each one is 2 percentage points, so a 4-point gap is two messages. A race on the same track is the analogy; changing the track for one runner breaks the comparison.
Ask: Why must the parser stay the same for all three models?
Answer: Otherwise a difference could come from the scoring rules rather than the models.
Watch out: A lenient parser can hide format failures; report the invalid rate beside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lab runs a real LoRA fine-tuning job on a CPU and compares it fairly with prompting.
Explain: The core uses Qwen2.5-0.5B-Instruct with 5 Banking77 intents. Zero-shot and few-shot prompts set the baselines. A rank-8 LoRA adapter trains for one epoch on 200 messages. All three are tested on the same 50 held-out messages. Each TODO has a check that prints ✅.
Example: On the course laptop with 4 CPU threads, the whole core took 13.3 minutes once the model and data were downloaded. It measured base zero-shot 42%; base few-shot 86%; LoRA fine-tuned 98%. The optional full run uses ten intents and 1,216 training messages and takes over an hour on a CPU.
Ask: Which result decides whether the adapter was worth training?
Answer: Its held-out accuracy compared with the few-shot baseline on the same messages.
Watch out: Keep both API switches False for the core; the hosted comparison is optional and uses invented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the official library documentation for code and the original papers for what each method actually claims.
Explain: The Hugging Face course chapter walks through SFT with TRL and LoRA. The PEFT documentation covers LoRA, QLoRA and other adapters. TRL documents the SFT, DPO and GRPO trainers. The RLHF blog explains the three-stage pipeline with diagrams. The linked inventor video explains LoRA; its paper remains in the Word readings.
Example: Before changing a trainer argument, check the documentation for your TRL version, because argument names change between releases. Read the LoRA paper's experiments to see which ranks and target modules worked. Then compare those settings with the lab's choices.
Ask: Why check the documentation version before copying fine-tuning code?
Answer: Trainer arguments are renamed between releases, so old examples can fail or silently change behaviour.
Watch out: Blog posts and videos simplify; confirm important details in the paper or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Fine-tuning changes weights on purpose, so it needs a clear reason, clean data and a fair comparison with prompting.
Explain: SFT lowers the loss on known answer tokens. Preference methods learn from compared answers or checkable rewards. LoRA trains small low-rank matrices beside frozen weights. Separate splits keep the final test honest. Evaluation covers the task, older abilities, safety and cost.
Example: Rank 16 on a 4096 × 4096 projection adds 16 × (4096 + 4096) = 131,072 trainable numbers instead of 16,777,216. In the lab, the adapter's held-out accuracy is compared with zero-shot and few-shot prompting on the same messages.
Ask: What evidence would convince you to keep a fine-tuned adapter?
Answer: A held-out gain over the best prompt that justifies its training and maintenance cost, with no safety regression.
Watch out: Do not mix the stored full-run results with your CPU core numbers without naming their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huggingface.co/learn/llm-course/chapter11/1" TargetMode="External"/><Relationship Id="rId4" Type="http://schemas.openxmlformats.org/officeDocument/2006/relationships/hyperlink" Target="https://huggingface.co/docs/peft/index" TargetMode="External"/><Relationship Id="rId6" Type="http://schemas.openxmlformats.org/officeDocument/2006/relationships/hyperlink" Target="https://huggingface.co/docs/trl/index" TargetMode="External"/><Relationship Id="rId8" Type="http://schemas.openxmlformats.org/officeDocument/2006/relationships/hyperlink" Target="https://huggingface.co/blog/rlhf" TargetMode="External"/><Relationship Id="rId10" Type="http://schemas.openxmlformats.org/officeDocument/2006/relationships/hyperlink" Target="https://www.youtube.com/watch?v=DhRoTONcyZE"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08</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Fine-Tuning and Domain Adaptation</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Teach an existing model a task, train small adapters, and check what changes</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8\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Choose prompting, retrieval or training</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SFT, preferences and LoRA</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Fine-tune and evaluate fairly</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19" name="Text 17"/>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0" name="Shape 18"/>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2" name="Text 20"/>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3" name="Shape 21"/>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4</a:t>
            </a:r>
            <a:endParaRPr lang="en-US" sz="1400" dirty="0"/>
          </a:p>
        </p:txBody>
      </p:sp>
      <p:sp>
        <p:nvSpPr>
          <p:cNvPr id="25" name="Text 23"/>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Critically evaluate outputs: metrics, humans, ethics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E4F2FB"/>
          </a:solidFill>
          <a:ln w="15240">
            <a:solidFill>
              <a:srgbClr val="0072B2"/>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6</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FFF0E6"/>
          </a:solidFill>
          <a:ln w="15240">
            <a:solidFill>
              <a:srgbClr val="D55E00"/>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8: you are here</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Model weight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Learned number in a model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Train/test split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Learn on one set; test on another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Loss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How wrong predictions are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A bank wants (a) its brand voice, (b) this week's rates, (c) 50,000 cheap routings a day. Prompt, retrieve or fine-tune?</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Changing facts?</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Consistent behaviour?</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Measured time and cost?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When to fine-tune</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Prompting, retrieval or fine-tuning: what problem does each solve?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Adapt a banking classifier</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Prompt first; then train</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train</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chat pairs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LoRA model</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adapter</a:t>
            </a:r>
            <a:endParaRPr lang="en-US" sz="1441" dirty="0"/>
          </a:p>
        </p:txBody>
      </p:sp>
      <p:sp>
        <p:nvSpPr>
          <p:cNvPr id="15" name="Shape 13"/>
          <p:cNvSpPr/>
          <p:nvPr/>
        </p:nvSpPr>
        <p:spPr>
          <a:xfrm>
            <a:off x="1752220" y="4738766"/>
            <a:ext cx="0" cy="198270"/>
          </a:xfrm>
          <a:prstGeom prst="line">
            <a:avLst/>
          </a:prstGeom>
          <a:noFill/>
          <a:ln w="22860">
            <a:solidFill>
              <a:srgbClr val="0072B2"/>
            </a:solidFill>
            <a:prstDash val="solid"/>
          </a:ln>
        </p:spPr>
      </p:sp>
      <p:sp>
        <p:nvSpPr>
          <p:cNvPr id="16" name="Shape 14"/>
          <p:cNvSpPr/>
          <p:nvPr/>
        </p:nvSpPr>
        <p:spPr>
          <a:xfrm>
            <a:off x="1752220" y="4937035"/>
            <a:ext cx="8687255" cy="0"/>
          </a:xfrm>
          <a:prstGeom prst="line">
            <a:avLst/>
          </a:prstGeom>
          <a:noFill/>
          <a:ln w="22860">
            <a:solidFill>
              <a:srgbClr val="0072B2"/>
            </a:solidFill>
            <a:prstDash val="solid"/>
          </a:ln>
        </p:spPr>
      </p:sp>
      <p:sp>
        <p:nvSpPr>
          <p:cNvPr id="17" name="Shape 15"/>
          <p:cNvSpPr/>
          <p:nvPr/>
        </p:nvSpPr>
        <p:spPr>
          <a:xfrm flipV="1">
            <a:off x="10439475" y="4738766"/>
            <a:ext cx="0" cy="198270"/>
          </a:xfrm>
          <a:prstGeom prst="line">
            <a:avLst/>
          </a:prstGeom>
          <a:noFill/>
          <a:ln w="22860">
            <a:solidFill>
              <a:srgbClr val="0072B2"/>
            </a:solidFill>
            <a:prstDash val="solid"/>
            <a:tailEnd type="triangle"/>
          </a:ln>
        </p:spPr>
      </p:sp>
      <p:sp>
        <p:nvSpPr>
          <p:cNvPr id="18" name="Text 16"/>
          <p:cNvSpPr txBox="1"/>
          <p:nvPr/>
        </p:nvSpPr>
        <p:spPr>
          <a:xfrm>
            <a:off x="5912669" y="4967538"/>
            <a:ext cx="366357"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test</a:t>
            </a:r>
            <a:endParaRPr lang="en-US" sz="1441" dirty="0"/>
          </a:p>
        </p:txBody>
      </p:sp>
      <p:sp>
        <p:nvSpPr>
          <p:cNvPr id="19" name="Shape 17"/>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0" name="Text 18"/>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Split</a:t>
            </a:r>
            <a:endParaRPr lang="en-US" sz="1561" dirty="0"/>
          </a:p>
        </p:txBody>
      </p:sp>
      <p:sp>
        <p:nvSpPr>
          <p:cNvPr id="21" name="Text 19"/>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train, test</a:t>
            </a:r>
            <a:endParaRPr lang="en-US" sz="1441" dirty="0"/>
          </a:p>
        </p:txBody>
      </p:sp>
      <p:sp>
        <p:nvSpPr>
          <p:cNvPr id="22" name="Shape 20"/>
          <p:cNvSpPr/>
          <p:nvPr/>
        </p:nvSpPr>
        <p:spPr>
          <a:xfrm>
            <a:off x="2960139" y="2939089"/>
            <a:ext cx="1927790" cy="1799677"/>
          </a:xfrm>
          <a:prstGeom prst="rect">
            <a:avLst/>
          </a:prstGeom>
          <a:solidFill>
            <a:srgbClr val="F2F4F5"/>
          </a:solidFill>
          <a:ln w="15240">
            <a:solidFill>
              <a:srgbClr val="626B73"/>
            </a:solidFill>
            <a:prstDash val="solid"/>
          </a:ln>
        </p:spPr>
      </p:sp>
      <p:sp>
        <p:nvSpPr>
          <p:cNvPr id="23" name="Text 21"/>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Format</a:t>
            </a:r>
            <a:endParaRPr lang="en-US" sz="1561" dirty="0"/>
          </a:p>
        </p:txBody>
      </p:sp>
      <p:sp>
        <p:nvSpPr>
          <p:cNvPr id="24" name="Text 22"/>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chat template</a:t>
            </a:r>
            <a:endParaRPr lang="en-US" sz="1441" dirty="0"/>
          </a:p>
        </p:txBody>
      </p:sp>
      <p:sp>
        <p:nvSpPr>
          <p:cNvPr id="25" name="Text 23"/>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to_chat</a:t>
            </a:r>
            <a:endParaRPr lang="en-US" sz="1441" dirty="0"/>
          </a:p>
        </p:txBody>
      </p:sp>
      <p:sp>
        <p:nvSpPr>
          <p:cNvPr id="26" name="Shape 24"/>
          <p:cNvSpPr/>
          <p:nvPr/>
        </p:nvSpPr>
        <p:spPr>
          <a:xfrm>
            <a:off x="5131953" y="2939089"/>
            <a:ext cx="1927790" cy="1799677"/>
          </a:xfrm>
          <a:prstGeom prst="rect">
            <a:avLst/>
          </a:prstGeom>
          <a:solidFill>
            <a:srgbClr val="E5F7EF"/>
          </a:solidFill>
          <a:ln w="15240">
            <a:solidFill>
              <a:srgbClr val="009E73"/>
            </a:solidFill>
            <a:prstDash val="solid"/>
          </a:ln>
        </p:spPr>
      </p:sp>
      <p:sp>
        <p:nvSpPr>
          <p:cNvPr id="27" name="Text 25"/>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Add LoRA</a:t>
            </a:r>
            <a:endParaRPr lang="en-US" sz="1561" dirty="0"/>
          </a:p>
        </p:txBody>
      </p:sp>
      <p:sp>
        <p:nvSpPr>
          <p:cNvPr id="28" name="Text 26"/>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base frozen</a:t>
            </a:r>
            <a:endParaRPr lang="en-US" sz="1441" dirty="0"/>
          </a:p>
        </p:txBody>
      </p:sp>
      <p:sp>
        <p:nvSpPr>
          <p:cNvPr id="29" name="Text 27"/>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lora_config</a:t>
            </a:r>
            <a:endParaRPr lang="en-US" sz="1441" dirty="0"/>
          </a:p>
        </p:txBody>
      </p:sp>
      <p:sp>
        <p:nvSpPr>
          <p:cNvPr id="30" name="Shape 28"/>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1" name="Text 29"/>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a:t>
            </a:r>
            <a:endParaRPr lang="en-US" sz="1561" dirty="0"/>
          </a:p>
        </p:txBody>
      </p:sp>
      <p:sp>
        <p:nvSpPr>
          <p:cNvPr id="32" name="Text 30"/>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answer loss</a:t>
            </a:r>
            <a:endParaRPr lang="en-US" sz="1441" dirty="0"/>
          </a:p>
        </p:txBody>
      </p:sp>
      <p:sp>
        <p:nvSpPr>
          <p:cNvPr id="33" name="Text 31"/>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trainer</a:t>
            </a:r>
            <a:endParaRPr lang="en-US" sz="1441" dirty="0"/>
          </a:p>
        </p:txBody>
      </p:sp>
      <p:sp>
        <p:nvSpPr>
          <p:cNvPr id="34" name="Shape 32"/>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5" name="Text 33"/>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Compare</a:t>
            </a:r>
            <a:endParaRPr lang="en-US" sz="1561" dirty="0"/>
          </a:p>
        </p:txBody>
      </p:sp>
      <p:sp>
        <p:nvSpPr>
          <p:cNvPr id="36" name="Text 34"/>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vs prompting</a:t>
            </a:r>
            <a:endParaRPr lang="en-US" sz="1441" dirty="0"/>
          </a:p>
        </p:txBody>
      </p:sp>
      <p:sp>
        <p:nvSpPr>
          <p:cNvPr id="37" name="Shape 3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8" name="Text 3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9" name="Shape 37"/>
          <p:cNvSpPr/>
          <p:nvPr/>
        </p:nvSpPr>
        <p:spPr>
          <a:xfrm>
            <a:off x="1676436" y="5630979"/>
            <a:ext cx="198270" cy="198270"/>
          </a:xfrm>
          <a:prstGeom prst="rect">
            <a:avLst/>
          </a:prstGeom>
          <a:solidFill>
            <a:srgbClr val="E5F7EF"/>
          </a:solidFill>
          <a:ln w="15240">
            <a:solidFill>
              <a:srgbClr val="009E73"/>
            </a:solidFill>
            <a:prstDash val="solid"/>
          </a:ln>
        </p:spPr>
      </p:sp>
      <p:sp>
        <p:nvSpPr>
          <p:cNvPr id="40" name="Text 3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1" name="Shape 39"/>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2" name="Text 40"/>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3" name="Shape 41"/>
          <p:cNvSpPr/>
          <p:nvPr/>
        </p:nvSpPr>
        <p:spPr>
          <a:xfrm>
            <a:off x="3568395" y="5630979"/>
            <a:ext cx="198270" cy="198270"/>
          </a:xfrm>
          <a:prstGeom prst="roundRect">
            <a:avLst>
              <a:gd name="adj" fmla="val 36895"/>
            </a:avLst>
          </a:prstGeom>
          <a:solidFill>
            <a:srgbClr val="F9EAF4"/>
          </a:solidFill>
          <a:ln w="15240">
            <a:solidFill>
              <a:srgbClr val="CC79A7"/>
            </a:solidFill>
            <a:prstDash val="solid"/>
          </a:ln>
        </p:spPr>
      </p:sp>
      <p:sp>
        <p:nvSpPr>
          <p:cNvPr id="44" name="Text 42"/>
          <p:cNvSpPr txBox="1"/>
          <p:nvPr/>
        </p:nvSpPr>
        <p:spPr>
          <a:xfrm>
            <a:off x="3827671"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5" name="Shape 43"/>
          <p:cNvSpPr/>
          <p:nvPr/>
        </p:nvSpPr>
        <p:spPr>
          <a:xfrm>
            <a:off x="4625093" y="5630979"/>
            <a:ext cx="198270" cy="198270"/>
          </a:xfrm>
          <a:prstGeom prst="rect">
            <a:avLst/>
          </a:prstGeom>
          <a:solidFill>
            <a:srgbClr val="F2F4F5"/>
          </a:solidFill>
          <a:ln w="15240">
            <a:solidFill>
              <a:srgbClr val="626B73"/>
            </a:solidFill>
            <a:prstDash val="solid"/>
          </a:ln>
        </p:spPr>
      </p:sp>
      <p:sp>
        <p:nvSpPr>
          <p:cNvPr id="46" name="Text 44"/>
          <p:cNvSpPr txBox="1"/>
          <p:nvPr/>
        </p:nvSpPr>
        <p:spPr>
          <a:xfrm>
            <a:off x="4884369"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7" name="Shape 45"/>
          <p:cNvSpPr/>
          <p:nvPr/>
        </p:nvSpPr>
        <p:spPr>
          <a:xfrm>
            <a:off x="5481570" y="5730113"/>
            <a:ext cx="335533" cy="0"/>
          </a:xfrm>
          <a:prstGeom prst="line">
            <a:avLst/>
          </a:prstGeom>
          <a:noFill/>
          <a:ln w="22860">
            <a:solidFill>
              <a:srgbClr val="009E73"/>
            </a:solidFill>
            <a:prstDash val="solid"/>
            <a:tailEnd type="triangle"/>
          </a:ln>
        </p:spPr>
      </p:sp>
      <p:sp>
        <p:nvSpPr>
          <p:cNvPr id="48" name="Text 46"/>
          <p:cNvSpPr txBox="1"/>
          <p:nvPr/>
        </p:nvSpPr>
        <p:spPr>
          <a:xfrm>
            <a:off x="5878109"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9" name="Text 47"/>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Which messages train?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Prompting vs. retrieval vs. fine-tuning</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269312"/>
                <a:gridCol w="3782187"/>
                <a:gridCol w="5042916"/>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Changes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Best first use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Prompt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The input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Task and format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Retrieval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Input + sources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Changing facts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Fine-tune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The 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Persistent behaviour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Combine methods when evidence supports it.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decision process</a:t>
            </a:r>
            <a:endParaRPr lang="en-US" sz="3200" dirty="0"/>
          </a:p>
        </p:txBody>
      </p:sp>
      <p:sp>
        <p:nvSpPr>
          <p:cNvPr id="6" name="Shape 4"/>
          <p:cNvSpPr/>
          <p:nvPr/>
        </p:nvSpPr>
        <p:spPr>
          <a:xfrm>
            <a:off x="5194640" y="3173354"/>
            <a:ext cx="163856" cy="0"/>
          </a:xfrm>
          <a:prstGeom prst="line">
            <a:avLst/>
          </a:prstGeom>
          <a:noFill/>
          <a:ln w="22860">
            <a:solidFill>
              <a:srgbClr val="4F46E5"/>
            </a:solidFill>
            <a:prstDash val="solid"/>
          </a:ln>
        </p:spPr>
      </p:sp>
      <p:sp>
        <p:nvSpPr>
          <p:cNvPr id="7" name="Shape 5"/>
          <p:cNvSpPr/>
          <p:nvPr/>
        </p:nvSpPr>
        <p:spPr>
          <a:xfrm flipV="1">
            <a:off x="5358496" y="2310976"/>
            <a:ext cx="0" cy="862377"/>
          </a:xfrm>
          <a:prstGeom prst="line">
            <a:avLst/>
          </a:prstGeom>
          <a:noFill/>
          <a:ln w="22860">
            <a:solidFill>
              <a:srgbClr val="4F46E5"/>
            </a:solidFill>
            <a:prstDash val="solid"/>
          </a:ln>
        </p:spPr>
      </p:sp>
      <p:sp>
        <p:nvSpPr>
          <p:cNvPr id="8" name="Shape 6"/>
          <p:cNvSpPr/>
          <p:nvPr/>
        </p:nvSpPr>
        <p:spPr>
          <a:xfrm>
            <a:off x="2736800" y="3434072"/>
            <a:ext cx="573496" cy="0"/>
          </a:xfrm>
          <a:prstGeom prst="line">
            <a:avLst/>
          </a:prstGeom>
          <a:noFill/>
          <a:ln w="22860">
            <a:solidFill>
              <a:srgbClr val="4F46E5"/>
            </a:solidFill>
            <a:prstDash val="solid"/>
            <a:tailEnd type="triangle"/>
          </a:ln>
        </p:spPr>
      </p:sp>
      <p:sp>
        <p:nvSpPr>
          <p:cNvPr id="9" name="Shape 7"/>
          <p:cNvSpPr/>
          <p:nvPr/>
        </p:nvSpPr>
        <p:spPr>
          <a:xfrm>
            <a:off x="5358496" y="2310976"/>
            <a:ext cx="245784" cy="0"/>
          </a:xfrm>
          <a:prstGeom prst="line">
            <a:avLst/>
          </a:prstGeom>
          <a:noFill/>
          <a:ln w="22860">
            <a:solidFill>
              <a:srgbClr val="4F46E5"/>
            </a:solidFill>
            <a:prstDash val="solid"/>
            <a:tailEnd type="triangle"/>
          </a:ln>
        </p:spPr>
      </p:sp>
      <p:sp>
        <p:nvSpPr>
          <p:cNvPr id="10" name="Shape 8"/>
          <p:cNvSpPr/>
          <p:nvPr/>
        </p:nvSpPr>
        <p:spPr>
          <a:xfrm>
            <a:off x="5194640" y="3434072"/>
            <a:ext cx="409640" cy="0"/>
          </a:xfrm>
          <a:prstGeom prst="line">
            <a:avLst/>
          </a:prstGeom>
          <a:noFill/>
          <a:ln w="22860">
            <a:solidFill>
              <a:srgbClr val="4F46E5"/>
            </a:solidFill>
            <a:prstDash val="solid"/>
            <a:tailEnd type="triangle"/>
          </a:ln>
        </p:spPr>
      </p:sp>
      <p:sp>
        <p:nvSpPr>
          <p:cNvPr id="11" name="Shape 9"/>
          <p:cNvSpPr/>
          <p:nvPr/>
        </p:nvSpPr>
        <p:spPr>
          <a:xfrm>
            <a:off x="8225975" y="3434072"/>
            <a:ext cx="573496" cy="0"/>
          </a:xfrm>
          <a:prstGeom prst="line">
            <a:avLst/>
          </a:prstGeom>
          <a:noFill/>
          <a:ln w="22860">
            <a:solidFill>
              <a:srgbClr val="4F46E5"/>
            </a:solidFill>
            <a:prstDash val="solid"/>
            <a:tailEnd type="triangle"/>
          </a:ln>
        </p:spPr>
      </p:sp>
      <p:sp>
        <p:nvSpPr>
          <p:cNvPr id="12" name="Shape 10"/>
          <p:cNvSpPr/>
          <p:nvPr/>
        </p:nvSpPr>
        <p:spPr>
          <a:xfrm>
            <a:off x="6915127" y="3815123"/>
            <a:ext cx="0" cy="561548"/>
          </a:xfrm>
          <a:prstGeom prst="line">
            <a:avLst/>
          </a:prstGeom>
          <a:noFill/>
          <a:ln w="22860">
            <a:solidFill>
              <a:srgbClr val="4F46E5"/>
            </a:solidFill>
            <a:prstDash val="solid"/>
            <a:tailEnd type="triangle"/>
          </a:ln>
        </p:spPr>
      </p:sp>
      <p:sp>
        <p:nvSpPr>
          <p:cNvPr id="13" name="Shape 11"/>
          <p:cNvSpPr/>
          <p:nvPr/>
        </p:nvSpPr>
        <p:spPr>
          <a:xfrm>
            <a:off x="8225975" y="4757721"/>
            <a:ext cx="573496" cy="0"/>
          </a:xfrm>
          <a:prstGeom prst="line">
            <a:avLst/>
          </a:prstGeom>
          <a:noFill/>
          <a:ln w="22860">
            <a:solidFill>
              <a:srgbClr val="4F46E5"/>
            </a:solidFill>
            <a:prstDash val="solid"/>
            <a:tailEnd type="triangle"/>
          </a:ln>
        </p:spPr>
      </p:sp>
      <p:sp>
        <p:nvSpPr>
          <p:cNvPr id="14" name="Shape 12"/>
          <p:cNvSpPr/>
          <p:nvPr/>
        </p:nvSpPr>
        <p:spPr>
          <a:xfrm flipH="1">
            <a:off x="5194640" y="4757721"/>
            <a:ext cx="409640" cy="0"/>
          </a:xfrm>
          <a:prstGeom prst="line">
            <a:avLst/>
          </a:prstGeom>
          <a:noFill/>
          <a:ln w="22860">
            <a:solidFill>
              <a:srgbClr val="4F46E5"/>
            </a:solidFill>
            <a:prstDash val="solid"/>
            <a:tailEnd type="triangle"/>
          </a:ln>
        </p:spPr>
      </p:sp>
      <p:sp>
        <p:nvSpPr>
          <p:cNvPr id="15" name="Shape 13"/>
          <p:cNvSpPr/>
          <p:nvPr/>
        </p:nvSpPr>
        <p:spPr>
          <a:xfrm>
            <a:off x="852456" y="3053022"/>
            <a:ext cx="1884344" cy="762101"/>
          </a:xfrm>
          <a:prstGeom prst="roundRect">
            <a:avLst>
              <a:gd name="adj" fmla="val 9599"/>
            </a:avLst>
          </a:prstGeom>
          <a:solidFill>
            <a:srgbClr val="E4F2FB"/>
          </a:solidFill>
          <a:ln w="15240">
            <a:solidFill>
              <a:srgbClr val="0072B2"/>
            </a:solidFill>
            <a:prstDash val="solid"/>
          </a:ln>
        </p:spPr>
      </p:sp>
      <p:sp>
        <p:nvSpPr>
          <p:cNvPr id="16" name="Shape 14"/>
          <p:cNvSpPr/>
          <p:nvPr/>
        </p:nvSpPr>
        <p:spPr>
          <a:xfrm>
            <a:off x="3310296" y="3053022"/>
            <a:ext cx="1884344" cy="762101"/>
          </a:xfrm>
          <a:prstGeom prst="roundRect">
            <a:avLst>
              <a:gd name="adj" fmla="val 9599"/>
            </a:avLst>
          </a:prstGeom>
          <a:solidFill>
            <a:srgbClr val="FFF0E6"/>
          </a:solidFill>
          <a:ln w="15240">
            <a:solidFill>
              <a:srgbClr val="D55E00"/>
            </a:solidFill>
            <a:prstDash val="solid"/>
          </a:ln>
        </p:spPr>
      </p:sp>
      <p:sp>
        <p:nvSpPr>
          <p:cNvPr id="17" name="Shape 15"/>
          <p:cNvSpPr/>
          <p:nvPr/>
        </p:nvSpPr>
        <p:spPr>
          <a:xfrm>
            <a:off x="5604280" y="1970036"/>
            <a:ext cx="2621696" cy="681880"/>
          </a:xfrm>
          <a:prstGeom prst="roundRect">
            <a:avLst>
              <a:gd name="adj" fmla="val 10728"/>
            </a:avLst>
          </a:prstGeom>
          <a:solidFill>
            <a:srgbClr val="F9EAF4"/>
          </a:solidFill>
          <a:ln w="15240">
            <a:solidFill>
              <a:srgbClr val="CC79A7"/>
            </a:solidFill>
            <a:prstDash val="solid"/>
          </a:ln>
        </p:spPr>
      </p:sp>
      <p:sp>
        <p:nvSpPr>
          <p:cNvPr id="18" name="Shape 16"/>
          <p:cNvSpPr/>
          <p:nvPr/>
        </p:nvSpPr>
        <p:spPr>
          <a:xfrm>
            <a:off x="5604280" y="3053022"/>
            <a:ext cx="2621696" cy="762101"/>
          </a:xfrm>
          <a:prstGeom prst="roundRect">
            <a:avLst>
              <a:gd name="adj" fmla="val 9599"/>
            </a:avLst>
          </a:prstGeom>
          <a:solidFill>
            <a:srgbClr val="FFF0E6"/>
          </a:solidFill>
          <a:ln w="15240">
            <a:solidFill>
              <a:srgbClr val="D55E00"/>
            </a:solidFill>
            <a:prstDash val="solid"/>
          </a:ln>
        </p:spPr>
      </p:sp>
      <p:sp>
        <p:nvSpPr>
          <p:cNvPr id="19" name="Shape 17"/>
          <p:cNvSpPr/>
          <p:nvPr/>
        </p:nvSpPr>
        <p:spPr>
          <a:xfrm>
            <a:off x="8799471" y="3053022"/>
            <a:ext cx="2457840" cy="762101"/>
          </a:xfrm>
          <a:prstGeom prst="rect">
            <a:avLst/>
          </a:prstGeom>
          <a:solidFill>
            <a:srgbClr val="F2F4F5"/>
          </a:solidFill>
          <a:ln w="15240">
            <a:solidFill>
              <a:srgbClr val="626B73"/>
            </a:solidFill>
            <a:prstDash val="solid"/>
          </a:ln>
        </p:spPr>
      </p:sp>
      <p:sp>
        <p:nvSpPr>
          <p:cNvPr id="20" name="Shape 18"/>
          <p:cNvSpPr/>
          <p:nvPr/>
        </p:nvSpPr>
        <p:spPr>
          <a:xfrm>
            <a:off x="5604280" y="4376671"/>
            <a:ext cx="2621696" cy="762101"/>
          </a:xfrm>
          <a:prstGeom prst="roundRect">
            <a:avLst>
              <a:gd name="adj" fmla="val 9599"/>
            </a:avLst>
          </a:prstGeom>
          <a:solidFill>
            <a:srgbClr val="FFF0E6"/>
          </a:solidFill>
          <a:ln w="15240">
            <a:solidFill>
              <a:srgbClr val="D55E00"/>
            </a:solidFill>
            <a:prstDash val="solid"/>
          </a:ln>
        </p:spPr>
      </p:sp>
      <p:sp>
        <p:nvSpPr>
          <p:cNvPr id="21" name="Shape 19"/>
          <p:cNvSpPr/>
          <p:nvPr/>
        </p:nvSpPr>
        <p:spPr>
          <a:xfrm>
            <a:off x="8799471" y="4376671"/>
            <a:ext cx="2457840" cy="762101"/>
          </a:xfrm>
          <a:prstGeom prst="rect">
            <a:avLst/>
          </a:prstGeom>
          <a:solidFill>
            <a:srgbClr val="E5F7EF"/>
          </a:solidFill>
          <a:ln w="15240">
            <a:solidFill>
              <a:srgbClr val="009E73"/>
            </a:solidFill>
            <a:prstDash val="solid"/>
          </a:ln>
        </p:spPr>
      </p:sp>
      <p:sp>
        <p:nvSpPr>
          <p:cNvPr id="22" name="Shape 20"/>
          <p:cNvSpPr/>
          <p:nvPr/>
        </p:nvSpPr>
        <p:spPr>
          <a:xfrm>
            <a:off x="3310296" y="4376671"/>
            <a:ext cx="1884344" cy="762101"/>
          </a:xfrm>
          <a:prstGeom prst="rect">
            <a:avLst/>
          </a:prstGeom>
          <a:solidFill>
            <a:srgbClr val="F2F4F5"/>
          </a:solidFill>
          <a:ln w="15240">
            <a:solidFill>
              <a:srgbClr val="626B73"/>
            </a:solidFill>
            <a:prstDash val="solid"/>
          </a:ln>
        </p:spPr>
      </p:sp>
      <p:sp>
        <p:nvSpPr>
          <p:cNvPr id="23" name="Text 21"/>
          <p:cNvSpPr txBox="1"/>
          <p:nvPr/>
        </p:nvSpPr>
        <p:spPr>
          <a:xfrm>
            <a:off x="1285565" y="3200331"/>
            <a:ext cx="101812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Prompt +</a:t>
            </a:r>
            <a:endParaRPr lang="en-US" sz="1587" dirty="0"/>
          </a:p>
        </p:txBody>
      </p:sp>
      <p:sp>
        <p:nvSpPr>
          <p:cNvPr id="24" name="Text 22"/>
          <p:cNvSpPr txBox="1"/>
          <p:nvPr/>
        </p:nvSpPr>
        <p:spPr>
          <a:xfrm>
            <a:off x="1285565" y="3434072"/>
            <a:ext cx="101812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test set</a:t>
            </a:r>
            <a:endParaRPr lang="en-US" sz="1587" dirty="0"/>
          </a:p>
        </p:txBody>
      </p:sp>
      <p:sp>
        <p:nvSpPr>
          <p:cNvPr id="25" name="Text 23"/>
          <p:cNvSpPr txBox="1"/>
          <p:nvPr/>
        </p:nvSpPr>
        <p:spPr>
          <a:xfrm>
            <a:off x="3787569" y="3200331"/>
            <a:ext cx="92979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Meets</a:t>
            </a:r>
            <a:endParaRPr lang="en-US" sz="1587" dirty="0"/>
          </a:p>
        </p:txBody>
      </p:sp>
      <p:sp>
        <p:nvSpPr>
          <p:cNvPr id="26" name="Text 24"/>
          <p:cNvSpPr txBox="1"/>
          <p:nvPr/>
        </p:nvSpPr>
        <p:spPr>
          <a:xfrm>
            <a:off x="3787569" y="3434072"/>
            <a:ext cx="92979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the bar?</a:t>
            </a:r>
            <a:endParaRPr lang="en-US" sz="1587" dirty="0"/>
          </a:p>
        </p:txBody>
      </p:sp>
      <p:sp>
        <p:nvSpPr>
          <p:cNvPr id="27" name="Text 25"/>
          <p:cNvSpPr txBox="1"/>
          <p:nvPr/>
        </p:nvSpPr>
        <p:spPr>
          <a:xfrm>
            <a:off x="6472311" y="2077235"/>
            <a:ext cx="885633"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Ship +</a:t>
            </a:r>
            <a:endParaRPr lang="en-US" sz="1587" dirty="0"/>
          </a:p>
        </p:txBody>
      </p:sp>
      <p:sp>
        <p:nvSpPr>
          <p:cNvPr id="28" name="Text 26"/>
          <p:cNvSpPr txBox="1"/>
          <p:nvPr/>
        </p:nvSpPr>
        <p:spPr>
          <a:xfrm>
            <a:off x="6472311" y="2310976"/>
            <a:ext cx="885633"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monitor</a:t>
            </a:r>
            <a:endParaRPr lang="en-US" sz="1587" dirty="0"/>
          </a:p>
        </p:txBody>
      </p:sp>
      <p:sp>
        <p:nvSpPr>
          <p:cNvPr id="29" name="Text 27"/>
          <p:cNvSpPr txBox="1"/>
          <p:nvPr/>
        </p:nvSpPr>
        <p:spPr>
          <a:xfrm>
            <a:off x="6472311" y="3200331"/>
            <a:ext cx="885633"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Missing</a:t>
            </a:r>
            <a:endParaRPr lang="en-US" sz="1587" dirty="0"/>
          </a:p>
        </p:txBody>
      </p:sp>
      <p:sp>
        <p:nvSpPr>
          <p:cNvPr id="30" name="Text 28"/>
          <p:cNvSpPr txBox="1"/>
          <p:nvPr/>
        </p:nvSpPr>
        <p:spPr>
          <a:xfrm>
            <a:off x="6472311" y="3434072"/>
            <a:ext cx="885633"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facts?</a:t>
            </a:r>
            <a:endParaRPr lang="en-US" sz="1587" dirty="0"/>
          </a:p>
        </p:txBody>
      </p:sp>
      <p:sp>
        <p:nvSpPr>
          <p:cNvPr id="31" name="Text 29"/>
          <p:cNvSpPr txBox="1"/>
          <p:nvPr/>
        </p:nvSpPr>
        <p:spPr>
          <a:xfrm>
            <a:off x="9510495" y="3200331"/>
            <a:ext cx="1035792"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Retrieval</a:t>
            </a:r>
            <a:endParaRPr lang="en-US" sz="1587" dirty="0"/>
          </a:p>
        </p:txBody>
      </p:sp>
      <p:sp>
        <p:nvSpPr>
          <p:cNvPr id="32" name="Text 30"/>
          <p:cNvSpPr txBox="1"/>
          <p:nvPr/>
        </p:nvSpPr>
        <p:spPr>
          <a:xfrm>
            <a:off x="9510495" y="3434072"/>
            <a:ext cx="1035792"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(week 12)</a:t>
            </a:r>
            <a:endParaRPr lang="en-US" sz="1587" dirty="0"/>
          </a:p>
        </p:txBody>
      </p:sp>
      <p:sp>
        <p:nvSpPr>
          <p:cNvPr id="33" name="Text 31"/>
          <p:cNvSpPr txBox="1"/>
          <p:nvPr/>
        </p:nvSpPr>
        <p:spPr>
          <a:xfrm>
            <a:off x="6216158" y="4523980"/>
            <a:ext cx="1397939"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Behaviour or</a:t>
            </a:r>
            <a:endParaRPr lang="en-US" sz="1587" dirty="0"/>
          </a:p>
        </p:txBody>
      </p:sp>
      <p:sp>
        <p:nvSpPr>
          <p:cNvPr id="34" name="Text 32"/>
          <p:cNvSpPr txBox="1"/>
          <p:nvPr/>
        </p:nvSpPr>
        <p:spPr>
          <a:xfrm>
            <a:off x="6216158" y="4757721"/>
            <a:ext cx="1397939"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cost gap?</a:t>
            </a:r>
            <a:endParaRPr lang="en-US" sz="1587" dirty="0"/>
          </a:p>
        </p:txBody>
      </p:sp>
      <p:sp>
        <p:nvSpPr>
          <p:cNvPr id="35" name="Text 33"/>
          <p:cNvSpPr txBox="1"/>
          <p:nvPr/>
        </p:nvSpPr>
        <p:spPr>
          <a:xfrm>
            <a:off x="9532577" y="4523980"/>
            <a:ext cx="99162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LoRA</a:t>
            </a:r>
            <a:endParaRPr lang="en-US" sz="1587" dirty="0"/>
          </a:p>
        </p:txBody>
      </p:sp>
      <p:sp>
        <p:nvSpPr>
          <p:cNvPr id="36" name="Text 34"/>
          <p:cNvSpPr txBox="1"/>
          <p:nvPr/>
        </p:nvSpPr>
        <p:spPr>
          <a:xfrm>
            <a:off x="9532577" y="4757721"/>
            <a:ext cx="99162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fine-tune</a:t>
            </a:r>
            <a:endParaRPr lang="en-US" sz="1587" dirty="0"/>
          </a:p>
        </p:txBody>
      </p:sp>
      <p:sp>
        <p:nvSpPr>
          <p:cNvPr id="37" name="Text 35"/>
          <p:cNvSpPr txBox="1"/>
          <p:nvPr/>
        </p:nvSpPr>
        <p:spPr>
          <a:xfrm>
            <a:off x="3606496" y="4523980"/>
            <a:ext cx="1291945"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Review task</a:t>
            </a:r>
            <a:endParaRPr lang="en-US" sz="1587" dirty="0"/>
          </a:p>
        </p:txBody>
      </p:sp>
      <p:sp>
        <p:nvSpPr>
          <p:cNvPr id="38" name="Text 36"/>
          <p:cNvSpPr txBox="1"/>
          <p:nvPr/>
        </p:nvSpPr>
        <p:spPr>
          <a:xfrm>
            <a:off x="3606496" y="4757721"/>
            <a:ext cx="1291945"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and data</a:t>
            </a:r>
            <a:endParaRPr lang="en-US" sz="1587" dirty="0"/>
          </a:p>
        </p:txBody>
      </p:sp>
      <p:sp>
        <p:nvSpPr>
          <p:cNvPr id="39" name="Text 37"/>
          <p:cNvSpPr txBox="1"/>
          <p:nvPr/>
        </p:nvSpPr>
        <p:spPr>
          <a:xfrm>
            <a:off x="2746806" y="3103468"/>
            <a:ext cx="553483"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score</a:t>
            </a:r>
            <a:endParaRPr lang="en-US" sz="1493" dirty="0"/>
          </a:p>
        </p:txBody>
      </p:sp>
      <p:sp>
        <p:nvSpPr>
          <p:cNvPr id="40" name="Text 38"/>
          <p:cNvSpPr txBox="1"/>
          <p:nvPr/>
        </p:nvSpPr>
        <p:spPr>
          <a:xfrm>
            <a:off x="4919882" y="2622141"/>
            <a:ext cx="385659"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yes</a:t>
            </a:r>
            <a:endParaRPr lang="en-US" sz="1493" dirty="0"/>
          </a:p>
        </p:txBody>
      </p:sp>
      <p:sp>
        <p:nvSpPr>
          <p:cNvPr id="41" name="Text 39"/>
          <p:cNvSpPr txBox="1"/>
          <p:nvPr/>
        </p:nvSpPr>
        <p:spPr>
          <a:xfrm>
            <a:off x="5250795" y="3544685"/>
            <a:ext cx="297330"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no</a:t>
            </a:r>
            <a:endParaRPr lang="en-US" sz="1493" dirty="0"/>
          </a:p>
        </p:txBody>
      </p:sp>
      <p:sp>
        <p:nvSpPr>
          <p:cNvPr id="42" name="Text 40"/>
          <p:cNvSpPr txBox="1"/>
          <p:nvPr/>
        </p:nvSpPr>
        <p:spPr>
          <a:xfrm>
            <a:off x="8319894" y="3103468"/>
            <a:ext cx="385659"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yes</a:t>
            </a:r>
            <a:endParaRPr lang="en-US" sz="1493" dirty="0"/>
          </a:p>
        </p:txBody>
      </p:sp>
      <p:sp>
        <p:nvSpPr>
          <p:cNvPr id="43" name="Text 41"/>
          <p:cNvSpPr txBox="1"/>
          <p:nvPr/>
        </p:nvSpPr>
        <p:spPr>
          <a:xfrm>
            <a:off x="7053210" y="3985901"/>
            <a:ext cx="297330"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no</a:t>
            </a:r>
            <a:endParaRPr lang="en-US" sz="1493" dirty="0"/>
          </a:p>
        </p:txBody>
      </p:sp>
      <p:sp>
        <p:nvSpPr>
          <p:cNvPr id="44" name="Text 42"/>
          <p:cNvSpPr txBox="1"/>
          <p:nvPr/>
        </p:nvSpPr>
        <p:spPr>
          <a:xfrm>
            <a:off x="8319894" y="4427117"/>
            <a:ext cx="385659"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yes</a:t>
            </a:r>
            <a:endParaRPr lang="en-US" sz="1493" dirty="0"/>
          </a:p>
        </p:txBody>
      </p:sp>
      <p:sp>
        <p:nvSpPr>
          <p:cNvPr id="45" name="Text 43"/>
          <p:cNvSpPr txBox="1"/>
          <p:nvPr/>
        </p:nvSpPr>
        <p:spPr>
          <a:xfrm>
            <a:off x="5250795" y="4427117"/>
            <a:ext cx="297330" cy="219992"/>
          </a:xfrm>
          <a:prstGeom prst="rect">
            <a:avLst/>
          </a:prstGeom>
          <a:solidFill>
            <a:srgbClr val="FFFFFF"/>
          </a:solid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no</a:t>
            </a:r>
            <a:endParaRPr lang="en-US" sz="1493" dirty="0"/>
          </a:p>
        </p:txBody>
      </p:sp>
      <p:sp>
        <p:nvSpPr>
          <p:cNvPr id="46" name="Text 44"/>
          <p:cNvSpPr txBox="1"/>
          <p:nvPr/>
        </p:nvSpPr>
        <p:spPr>
          <a:xfrm>
            <a:off x="852456" y="5440218"/>
            <a:ext cx="398063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Orange boxes are questions; follow yes or no.</a:t>
            </a:r>
            <a:endParaRPr lang="en-US" sz="149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Good and bad reasons to fine-tune</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Good reasons</a:t>
            </a:r>
            <a:endParaRPr lang="en-US" sz="1800" dirty="0"/>
          </a:p>
        </p:txBody>
      </p:sp>
      <p:sp>
        <p:nvSpPr>
          <p:cNvPr id="8" name="Shape 6"/>
          <p:cNvSpPr/>
          <p:nvPr/>
        </p:nvSpPr>
        <p:spPr>
          <a:xfrm>
            <a:off x="548640" y="2167128"/>
            <a:ext cx="5410048" cy="4142232"/>
          </a:xfrm>
          <a:prstGeom prst="roundRect">
            <a:avLst>
              <a:gd name="adj" fmla="val 2208"/>
            </a:avLst>
          </a:prstGeom>
          <a:solidFill>
            <a:srgbClr val="EEF0FF"/>
          </a:solidFill>
          <a:ln w="12700">
            <a:solidFill>
              <a:srgbClr val="EEF0FF"/>
            </a:solidFill>
            <a:prstDash val="solid"/>
          </a:ln>
        </p:spPr>
      </p:sp>
      <p:sp>
        <p:nvSpPr>
          <p:cNvPr id="9" name="Text 7"/>
          <p:cNvSpPr txBox="1"/>
          <p:nvPr/>
        </p:nvSpPr>
        <p:spPr>
          <a:xfrm>
            <a:off x="658368"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Gaps persist after good prompts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Labelled data and a test set</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Measured saving at volume</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Bad reasons</a:t>
            </a:r>
            <a:endParaRPr lang="en-US" sz="1800" dirty="0"/>
          </a:p>
        </p:txBody>
      </p:sp>
      <p:sp>
        <p:nvSpPr>
          <p:cNvPr id="12" name="Shape 10"/>
          <p:cNvSpPr/>
          <p:nvPr/>
        </p:nvSpPr>
        <p:spPr>
          <a:xfrm>
            <a:off x="6233008" y="2167128"/>
            <a:ext cx="5410048" cy="4142232"/>
          </a:xfrm>
          <a:prstGeom prst="roundRect">
            <a:avLst>
              <a:gd name="adj" fmla="val 2208"/>
            </a:avLst>
          </a:prstGeom>
          <a:solidFill>
            <a:srgbClr val="E6F4F1"/>
          </a:solidFill>
          <a:ln w="12700">
            <a:solidFill>
              <a:srgbClr val="E6F4F1"/>
            </a:solidFill>
            <a:prstDash val="solid"/>
          </a:ln>
        </p:spPr>
      </p:sp>
      <p:sp>
        <p:nvSpPr>
          <p:cNvPr id="13" name="Text 11"/>
          <p:cNvSpPr txBox="1"/>
          <p:nvPr/>
        </p:nvSpPr>
        <p:spPr>
          <a:xfrm>
            <a:off x="6342736"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Facts that change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No measured problem</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No data rights or test set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Supervised and instruction fine-tuning</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we teach a model what good outputs look like?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Full fine-tuning vs. supervised fine-tuning (SFT)</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Full fine-tuning</a:t>
            </a:r>
            <a:endParaRPr lang="en-US" sz="1800" dirty="0"/>
          </a:p>
        </p:txBody>
      </p:sp>
      <p:sp>
        <p:nvSpPr>
          <p:cNvPr id="8" name="Shape 6"/>
          <p:cNvSpPr/>
          <p:nvPr/>
        </p:nvSpPr>
        <p:spPr>
          <a:xfrm>
            <a:off x="548640" y="2167128"/>
            <a:ext cx="5410048" cy="4142232"/>
          </a:xfrm>
          <a:prstGeom prst="roundRect">
            <a:avLst>
              <a:gd name="adj" fmla="val 2208"/>
            </a:avLst>
          </a:prstGeom>
          <a:solidFill>
            <a:srgbClr val="EEF0FF"/>
          </a:solidFill>
          <a:ln w="12700">
            <a:solidFill>
              <a:srgbClr val="EEF0FF"/>
            </a:solidFill>
            <a:prstDash val="solid"/>
          </a:ln>
        </p:spPr>
      </p:sp>
      <p:sp>
        <p:nvSpPr>
          <p:cNvPr id="9" name="Text 7"/>
          <p:cNvSpPr txBox="1"/>
          <p:nvPr/>
        </p:nvSpPr>
        <p:spPr>
          <a:xfrm>
            <a:off x="658368"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All weights change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More optimiser memory</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Re-test older abilities</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Supervised fine-tuning (SFT)</a:t>
            </a:r>
            <a:endParaRPr lang="en-US" sz="1800" dirty="0"/>
          </a:p>
        </p:txBody>
      </p:sp>
      <p:sp>
        <p:nvSpPr>
          <p:cNvPr id="12" name="Shape 10"/>
          <p:cNvSpPr/>
          <p:nvPr/>
        </p:nvSpPr>
        <p:spPr>
          <a:xfrm>
            <a:off x="6233008" y="2167128"/>
            <a:ext cx="5410048" cy="4142232"/>
          </a:xfrm>
          <a:prstGeom prst="roundRect">
            <a:avLst>
              <a:gd name="adj" fmla="val 2208"/>
            </a:avLst>
          </a:prstGeom>
          <a:solidFill>
            <a:srgbClr val="E6F4F1"/>
          </a:solidFill>
          <a:ln w="12700">
            <a:solidFill>
              <a:srgbClr val="E6F4F1"/>
            </a:solidFill>
            <a:prstDash val="solid"/>
          </a:ln>
        </p:spPr>
      </p:sp>
      <p:sp>
        <p:nvSpPr>
          <p:cNvPr id="13" name="Text 11"/>
          <p:cNvSpPr txBox="1"/>
          <p:nvPr/>
        </p:nvSpPr>
        <p:spPr>
          <a:xfrm>
            <a:off x="6342736"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Inputs with desired answers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Full weights or adapters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Loss on answer tokens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SFT loss: next-token prediction on the answer</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a7f6908a9dc0eb62.png">    </p:cNvPr>
          <p:cNvPicPr>
            <a:picLocks noChangeAspect="1"/>
          </p:cNvPicPr>
          <p:nvPr/>
        </p:nvPicPr>
        <p:blipFill>
          <a:blip r:embed="rId1"/>
          <a:stretch>
            <a:fillRect/>
          </a:stretch>
        </p:blipFill>
        <p:spPr>
          <a:xfrm>
            <a:off x="3773272" y="1662684"/>
            <a:ext cx="4645152" cy="963168"/>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Read prompt x and known answer y.</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Raise each answer-token probability.</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Prompt tokens are read, not scored.</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trained weights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x</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prompt</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yₜ</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answer token t</a:t>
            </a:r>
            <a:endParaRPr lang="en-US" sz="1700" dirty="0"/>
          </a:p>
        </p:txBody>
      </p:sp>
      <p:sp>
        <p:nvSpPr>
          <p:cNvPr id="17" name="Text 14"/>
          <p:cNvSpPr txBox="1"/>
          <p:nvPr/>
        </p:nvSpPr>
        <p:spPr>
          <a:xfrm>
            <a:off x="6858000" y="55046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y</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&lt;t</a:t>
            </a:r>
            <a:endParaRPr lang="en-US" sz="1800" dirty="0"/>
          </a:p>
        </p:txBody>
      </p:sp>
      <p:sp>
        <p:nvSpPr>
          <p:cNvPr id="18" name="Text 15"/>
          <p:cNvSpPr txBox="1"/>
          <p:nvPr/>
        </p:nvSpPr>
        <p:spPr>
          <a:xfrm>
            <a:off x="8046720" y="55046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earlier answer tokens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Instruction tuning: from base model to assistant</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Instruction–answer pairs across tasks.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Test on new tasks.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Match the chat template.</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Base model</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Continues the text</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Instruction-tuned</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Answers the request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a chat template produces (Qwen family)</a:t>
            </a:r>
            <a:endParaRPr lang="en-US" sz="3200" dirty="0"/>
          </a:p>
        </p:txBody>
      </p:sp>
      <p:sp>
        <p:nvSpPr>
          <p:cNvPr id="6" name="Shape 4"/>
          <p:cNvSpPr/>
          <p:nvPr/>
        </p:nvSpPr>
        <p:spPr>
          <a:xfrm>
            <a:off x="548640" y="1481328"/>
            <a:ext cx="6949440" cy="3524250"/>
          </a:xfrm>
          <a:prstGeom prst="roundRect">
            <a:avLst>
              <a:gd name="adj" fmla="val 2595"/>
            </a:avLst>
          </a:prstGeom>
          <a:solidFill>
            <a:srgbClr val="1E1E2E"/>
          </a:solidFill>
          <a:ln w="12700">
            <a:solidFill>
              <a:srgbClr val="1E1E2E"/>
            </a:solidFill>
            <a:prstDash val="solid"/>
          </a:ln>
        </p:spPr>
      </p:sp>
      <p:sp>
        <p:nvSpPr>
          <p:cNvPr id="7" name="Text 5"/>
          <p:cNvSpPr txBox="1"/>
          <p:nvPr/>
        </p:nvSpPr>
        <p:spPr>
          <a:xfrm>
            <a:off x="685800" y="1591056"/>
            <a:ext cx="6675120" cy="3304794"/>
          </a:xfrm>
          <a:prstGeom prst="rect">
            <a:avLst/>
          </a:prstGeom>
          <a:noFill/>
          <a:ln/>
        </p:spPr>
        <p:txBody>
          <a:bodyPr wrap="square" lIns="76200" tIns="76200" rIns="76200" bIns="76200" rtlCol="0" anchor="t"/>
          <a:lstStyle/>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messages = [</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{"role": "system", "content": "Name the intent."},</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{"role": "user", "content": "Card lost!"},</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{"role": "assistant", "content": "lost_or_stolen_card"},</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print(tok.apply_chat_template(messages, tokenize=False))</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&lt;|im_start|&gt;system</a:t>
            </a:r>
            <a:endParaRPr lang="en-US" sz="1500" dirty="0"/>
          </a:p>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Name the intent.&lt;|im_end|&gt;</a:t>
            </a:r>
            <a:endParaRPr lang="en-US" sz="1500" dirty="0"/>
          </a:p>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&lt;|im_start|&gt;user</a:t>
            </a:r>
            <a:endParaRPr lang="en-US" sz="1500" dirty="0"/>
          </a:p>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Card lost!&lt;|im_end|&gt;</a:t>
            </a:r>
            <a:endParaRPr lang="en-US" sz="1500" dirty="0"/>
          </a:p>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&lt;|im_start|&gt;assistant</a:t>
            </a:r>
            <a:endParaRPr lang="en-US" sz="1500" dirty="0"/>
          </a:p>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lost_or_stolen_card&lt;|im_end|&gt;</a:t>
            </a:r>
            <a:endParaRPr lang="en-US" sz="15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Serve with this template.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100" b="1" dirty="0">
                <a:solidFill>
                  <a:srgbClr val="1E1B4B"/>
                </a:solidFill>
                <a:latin typeface="Calibri" pitchFamily="34" charset="0"/>
                <a:ea typeface="Calibri" pitchFamily="34" charset="-122"/>
                <a:cs typeface="Calibri" pitchFamily="34" charset="-120"/>
              </a:rPr>
              <a:t>Data preparation: where most of the quality comes from</a:t>
            </a:r>
            <a:endParaRPr lang="en-US" sz="31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Quality</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Correct, consistent labels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Diversity</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Real wording and typos</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Clean splits</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No overlap across sets</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Privacy and rights</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Remove personal data</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Balance</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Enough per label</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Document</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Sources, filters, gaps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Preference alignment: RLHF, DPO and RL for reasoning</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can comparisons between two answers guide further training?</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Reinforcement learning from human feedback (RLHF)</a:t>
            </a:r>
            <a:endParaRPr lang="en-US" sz="3200" dirty="0"/>
          </a:p>
        </p:txBody>
      </p:sp>
      <p:sp>
        <p:nvSpPr>
          <p:cNvPr id="6" name="Shape 4"/>
          <p:cNvSpPr/>
          <p:nvPr/>
        </p:nvSpPr>
        <p:spPr>
          <a:xfrm>
            <a:off x="2982584" y="3273630"/>
            <a:ext cx="655424" cy="0"/>
          </a:xfrm>
          <a:prstGeom prst="line">
            <a:avLst/>
          </a:prstGeom>
          <a:noFill/>
          <a:ln w="22860">
            <a:solidFill>
              <a:srgbClr val="4F46E5"/>
            </a:solidFill>
            <a:prstDash val="solid"/>
            <a:tailEnd type="triangle"/>
          </a:ln>
        </p:spPr>
      </p:sp>
      <p:sp>
        <p:nvSpPr>
          <p:cNvPr id="7" name="Shape 5"/>
          <p:cNvSpPr/>
          <p:nvPr/>
        </p:nvSpPr>
        <p:spPr>
          <a:xfrm>
            <a:off x="5768136" y="3273630"/>
            <a:ext cx="655424" cy="0"/>
          </a:xfrm>
          <a:prstGeom prst="line">
            <a:avLst/>
          </a:prstGeom>
          <a:noFill/>
          <a:ln w="22860">
            <a:solidFill>
              <a:srgbClr val="4F46E5"/>
            </a:solidFill>
            <a:prstDash val="solid"/>
            <a:tailEnd type="triangle"/>
          </a:ln>
        </p:spPr>
      </p:sp>
      <p:sp>
        <p:nvSpPr>
          <p:cNvPr id="8" name="Shape 6"/>
          <p:cNvSpPr/>
          <p:nvPr/>
        </p:nvSpPr>
        <p:spPr>
          <a:xfrm>
            <a:off x="8553687" y="3273630"/>
            <a:ext cx="655424" cy="0"/>
          </a:xfrm>
          <a:prstGeom prst="line">
            <a:avLst/>
          </a:prstGeom>
          <a:noFill/>
          <a:ln w="22860">
            <a:solidFill>
              <a:srgbClr val="4F46E5"/>
            </a:solidFill>
            <a:prstDash val="solid"/>
            <a:tailEnd type="triangle"/>
          </a:ln>
        </p:spPr>
      </p:sp>
      <p:sp>
        <p:nvSpPr>
          <p:cNvPr id="9" name="Shape 7"/>
          <p:cNvSpPr/>
          <p:nvPr/>
        </p:nvSpPr>
        <p:spPr>
          <a:xfrm>
            <a:off x="852456" y="2852469"/>
            <a:ext cx="2130128" cy="842322"/>
          </a:xfrm>
          <a:prstGeom prst="rect">
            <a:avLst/>
          </a:prstGeom>
          <a:solidFill>
            <a:srgbClr val="E5F7EF"/>
          </a:solidFill>
          <a:ln w="15240">
            <a:solidFill>
              <a:srgbClr val="009E73"/>
            </a:solidFill>
            <a:prstDash val="solid"/>
          </a:ln>
        </p:spPr>
      </p:sp>
      <p:sp>
        <p:nvSpPr>
          <p:cNvPr id="10" name="Shape 8"/>
          <p:cNvSpPr/>
          <p:nvPr/>
        </p:nvSpPr>
        <p:spPr>
          <a:xfrm>
            <a:off x="3638008" y="2852469"/>
            <a:ext cx="2130128" cy="842322"/>
          </a:xfrm>
          <a:prstGeom prst="roundRect">
            <a:avLst>
              <a:gd name="adj" fmla="val 8685"/>
            </a:avLst>
          </a:prstGeom>
          <a:solidFill>
            <a:srgbClr val="E4F2FB"/>
          </a:solidFill>
          <a:ln w="15240">
            <a:solidFill>
              <a:srgbClr val="0072B2"/>
            </a:solidFill>
            <a:prstDash val="solid"/>
          </a:ln>
        </p:spPr>
      </p:sp>
      <p:sp>
        <p:nvSpPr>
          <p:cNvPr id="11" name="Shape 9"/>
          <p:cNvSpPr/>
          <p:nvPr/>
        </p:nvSpPr>
        <p:spPr>
          <a:xfrm>
            <a:off x="6423560" y="2852469"/>
            <a:ext cx="2130128" cy="842322"/>
          </a:xfrm>
          <a:prstGeom prst="roundRect">
            <a:avLst>
              <a:gd name="adj" fmla="val 8685"/>
            </a:avLst>
          </a:prstGeom>
          <a:solidFill>
            <a:srgbClr val="FFF0E6"/>
          </a:solidFill>
          <a:ln w="15240">
            <a:solidFill>
              <a:srgbClr val="D55E00"/>
            </a:solidFill>
            <a:prstDash val="solid"/>
          </a:ln>
        </p:spPr>
      </p:sp>
      <p:sp>
        <p:nvSpPr>
          <p:cNvPr id="12" name="Shape 10"/>
          <p:cNvSpPr/>
          <p:nvPr/>
        </p:nvSpPr>
        <p:spPr>
          <a:xfrm>
            <a:off x="9209111" y="2852469"/>
            <a:ext cx="2130128" cy="842322"/>
          </a:xfrm>
          <a:prstGeom prst="rect">
            <a:avLst/>
          </a:prstGeom>
          <a:solidFill>
            <a:srgbClr val="E5F7EF"/>
          </a:solidFill>
          <a:ln w="15240">
            <a:solidFill>
              <a:srgbClr val="009E73"/>
            </a:solidFill>
            <a:prstDash val="solid"/>
          </a:ln>
        </p:spPr>
      </p:sp>
      <p:sp>
        <p:nvSpPr>
          <p:cNvPr id="13" name="Shape 11"/>
          <p:cNvSpPr/>
          <p:nvPr/>
        </p:nvSpPr>
        <p:spPr>
          <a:xfrm>
            <a:off x="852456" y="5323281"/>
            <a:ext cx="180242" cy="176487"/>
          </a:xfrm>
          <a:prstGeom prst="roundRect">
            <a:avLst>
              <a:gd name="adj" fmla="val 41449"/>
            </a:avLst>
          </a:prstGeom>
          <a:solidFill>
            <a:srgbClr val="E4F2FB"/>
          </a:solidFill>
          <a:ln w="15240">
            <a:solidFill>
              <a:srgbClr val="0072B2"/>
            </a:solidFill>
            <a:prstDash val="solid"/>
          </a:ln>
        </p:spPr>
      </p:sp>
      <p:sp>
        <p:nvSpPr>
          <p:cNvPr id="14" name="Shape 12"/>
          <p:cNvSpPr/>
          <p:nvPr/>
        </p:nvSpPr>
        <p:spPr>
          <a:xfrm>
            <a:off x="2982584" y="5323281"/>
            <a:ext cx="180242" cy="176487"/>
          </a:xfrm>
          <a:prstGeom prst="rect">
            <a:avLst/>
          </a:prstGeom>
          <a:solidFill>
            <a:srgbClr val="E5F7EF"/>
          </a:solidFill>
          <a:ln w="15240">
            <a:solidFill>
              <a:srgbClr val="009E73"/>
            </a:solidFill>
            <a:prstDash val="solid"/>
          </a:ln>
        </p:spPr>
      </p:sp>
      <p:sp>
        <p:nvSpPr>
          <p:cNvPr id="15" name="Shape 13"/>
          <p:cNvSpPr/>
          <p:nvPr/>
        </p:nvSpPr>
        <p:spPr>
          <a:xfrm>
            <a:off x="5112712" y="5323281"/>
            <a:ext cx="180242" cy="176487"/>
          </a:xfrm>
          <a:prstGeom prst="roundRect">
            <a:avLst>
              <a:gd name="adj" fmla="val 41449"/>
            </a:avLst>
          </a:prstGeom>
          <a:solidFill>
            <a:srgbClr val="FFF0E6"/>
          </a:solidFill>
          <a:ln w="15240">
            <a:solidFill>
              <a:srgbClr val="D55E00"/>
            </a:solidFill>
            <a:prstDash val="solid"/>
          </a:ln>
        </p:spPr>
      </p:sp>
      <p:sp>
        <p:nvSpPr>
          <p:cNvPr id="16" name="Text 14"/>
          <p:cNvSpPr txBox="1"/>
          <p:nvPr/>
        </p:nvSpPr>
        <p:spPr>
          <a:xfrm>
            <a:off x="1488785" y="3136135"/>
            <a:ext cx="85747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1. SFT</a:t>
            </a:r>
            <a:endParaRPr lang="en-US" sz="1867" dirty="0"/>
          </a:p>
        </p:txBody>
      </p:sp>
      <p:sp>
        <p:nvSpPr>
          <p:cNvPr id="17" name="Text 15"/>
          <p:cNvSpPr txBox="1"/>
          <p:nvPr/>
        </p:nvSpPr>
        <p:spPr>
          <a:xfrm>
            <a:off x="1203552" y="3835794"/>
            <a:ext cx="1427937"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Demonstrations</a:t>
            </a:r>
            <a:endParaRPr lang="en-US" sz="1493" dirty="0"/>
          </a:p>
        </p:txBody>
      </p:sp>
      <p:sp>
        <p:nvSpPr>
          <p:cNvPr id="18" name="Text 16"/>
          <p:cNvSpPr txBox="1"/>
          <p:nvPr/>
        </p:nvSpPr>
        <p:spPr>
          <a:xfrm>
            <a:off x="3969603" y="3136135"/>
            <a:ext cx="1466938"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2. Compare</a:t>
            </a:r>
            <a:endParaRPr lang="en-US" sz="1867" dirty="0"/>
          </a:p>
        </p:txBody>
      </p:sp>
      <p:sp>
        <p:nvSpPr>
          <p:cNvPr id="19" name="Text 17"/>
          <p:cNvSpPr txBox="1"/>
          <p:nvPr/>
        </p:nvSpPr>
        <p:spPr>
          <a:xfrm>
            <a:off x="4095098" y="3835794"/>
            <a:ext cx="1215948"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Ranked pairs</a:t>
            </a:r>
            <a:endParaRPr lang="en-US" sz="1493" dirty="0"/>
          </a:p>
        </p:txBody>
      </p:sp>
      <p:sp>
        <p:nvSpPr>
          <p:cNvPr id="20" name="Text 18"/>
          <p:cNvSpPr txBox="1"/>
          <p:nvPr/>
        </p:nvSpPr>
        <p:spPr>
          <a:xfrm>
            <a:off x="6843483" y="2998640"/>
            <a:ext cx="129028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3. Reward</a:t>
            </a:r>
            <a:endParaRPr lang="en-US" sz="1867" dirty="0"/>
          </a:p>
        </p:txBody>
      </p:sp>
      <p:sp>
        <p:nvSpPr>
          <p:cNvPr id="21" name="Text 19"/>
          <p:cNvSpPr txBox="1"/>
          <p:nvPr/>
        </p:nvSpPr>
        <p:spPr>
          <a:xfrm>
            <a:off x="6843483" y="3273630"/>
            <a:ext cx="129028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model</a:t>
            </a:r>
            <a:endParaRPr lang="en-US" sz="1867" dirty="0"/>
          </a:p>
        </p:txBody>
      </p:sp>
      <p:sp>
        <p:nvSpPr>
          <p:cNvPr id="22" name="Text 20"/>
          <p:cNvSpPr txBox="1"/>
          <p:nvPr/>
        </p:nvSpPr>
        <p:spPr>
          <a:xfrm>
            <a:off x="6717242" y="3835794"/>
            <a:ext cx="1542764"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Preference score</a:t>
            </a:r>
            <a:endParaRPr lang="en-US" sz="1493" dirty="0"/>
          </a:p>
        </p:txBody>
      </p:sp>
      <p:sp>
        <p:nvSpPr>
          <p:cNvPr id="23" name="Text 21"/>
          <p:cNvSpPr txBox="1"/>
          <p:nvPr/>
        </p:nvSpPr>
        <p:spPr>
          <a:xfrm>
            <a:off x="9814525" y="2998640"/>
            <a:ext cx="91930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4. PPO</a:t>
            </a:r>
            <a:endParaRPr lang="en-US" sz="1867" dirty="0"/>
          </a:p>
        </p:txBody>
      </p:sp>
      <p:sp>
        <p:nvSpPr>
          <p:cNvPr id="24" name="Text 22"/>
          <p:cNvSpPr txBox="1"/>
          <p:nvPr/>
        </p:nvSpPr>
        <p:spPr>
          <a:xfrm>
            <a:off x="9814525" y="3273630"/>
            <a:ext cx="919300"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update</a:t>
            </a:r>
            <a:endParaRPr lang="en-US" sz="1867" dirty="0"/>
          </a:p>
        </p:txBody>
      </p:sp>
      <p:sp>
        <p:nvSpPr>
          <p:cNvPr id="25" name="Text 23"/>
          <p:cNvSpPr txBox="1"/>
          <p:nvPr/>
        </p:nvSpPr>
        <p:spPr>
          <a:xfrm>
            <a:off x="9670618" y="3835794"/>
            <a:ext cx="1207115" cy="219992"/>
          </a:xfrm>
          <a:prstGeom prst="rect">
            <a:avLst/>
          </a:prstGeom>
          <a:noFill/>
          <a:ln/>
        </p:spPr>
        <p:txBody>
          <a:bodyPr wrap="square" lIns="0" tIns="0" rIns="0" bIns="0" rtlCol="0" anchor="ctr"/>
          <a:lstStyle/>
          <a:p>
            <a:pPr algn="ctr" indent="0" marL="0">
              <a:lnSpc>
                <a:spcPct val="116000"/>
              </a:lnSpc>
              <a:buNone/>
            </a:pPr>
            <a:r>
              <a:rPr lang="en-US" sz="1493" dirty="0">
                <a:solidFill>
                  <a:srgbClr val="1F2937"/>
                </a:solidFill>
                <a:latin typeface="Arial" pitchFamily="34" charset="0"/>
                <a:ea typeface="Arial" pitchFamily="34" charset="-122"/>
                <a:cs typeface="Arial" pitchFamily="34" charset="-120"/>
              </a:rPr>
              <a:t>Reward − KL</a:t>
            </a:r>
            <a:endParaRPr lang="en-US" sz="1493" dirty="0"/>
          </a:p>
        </p:txBody>
      </p:sp>
      <p:sp>
        <p:nvSpPr>
          <p:cNvPr id="26" name="Text 24"/>
          <p:cNvSpPr txBox="1"/>
          <p:nvPr/>
        </p:nvSpPr>
        <p:spPr>
          <a:xfrm>
            <a:off x="2984974" y="2472035"/>
            <a:ext cx="650645"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replies</a:t>
            </a:r>
            <a:endParaRPr lang="en-US" sz="1493" dirty="0"/>
          </a:p>
        </p:txBody>
      </p:sp>
      <p:sp>
        <p:nvSpPr>
          <p:cNvPr id="27" name="Text 25"/>
          <p:cNvSpPr txBox="1"/>
          <p:nvPr/>
        </p:nvSpPr>
        <p:spPr>
          <a:xfrm>
            <a:off x="5845605" y="2472035"/>
            <a:ext cx="500486"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pairs</a:t>
            </a:r>
            <a:endParaRPr lang="en-US" sz="1493" dirty="0"/>
          </a:p>
        </p:txBody>
      </p:sp>
      <p:sp>
        <p:nvSpPr>
          <p:cNvPr id="28" name="Text 26"/>
          <p:cNvSpPr txBox="1"/>
          <p:nvPr/>
        </p:nvSpPr>
        <p:spPr>
          <a:xfrm>
            <a:off x="8556077" y="2472035"/>
            <a:ext cx="650645"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scores</a:t>
            </a:r>
            <a:endParaRPr lang="en-US" sz="1493" dirty="0"/>
          </a:p>
        </p:txBody>
      </p:sp>
      <p:sp>
        <p:nvSpPr>
          <p:cNvPr id="29" name="Text 27"/>
          <p:cNvSpPr txBox="1"/>
          <p:nvPr/>
        </p:nvSpPr>
        <p:spPr>
          <a:xfrm>
            <a:off x="1131011" y="5301528"/>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30" name="Text 28"/>
          <p:cNvSpPr txBox="1"/>
          <p:nvPr/>
        </p:nvSpPr>
        <p:spPr>
          <a:xfrm>
            <a:off x="3261139" y="5301528"/>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31" name="Text 29"/>
          <p:cNvSpPr txBox="1"/>
          <p:nvPr/>
        </p:nvSpPr>
        <p:spPr>
          <a:xfrm>
            <a:off x="5391267" y="5301528"/>
            <a:ext cx="123361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Loss / update</a:t>
            </a:r>
            <a:endParaRPr lang="en-US" sz="149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reward model and the RL objective</a:t>
            </a:r>
            <a:endParaRPr lang="en-US" sz="3200" dirty="0"/>
          </a:p>
        </p:txBody>
      </p:sp>
      <p:sp>
        <p:nvSpPr>
          <p:cNvPr id="6" name="Shape 4"/>
          <p:cNvSpPr/>
          <p:nvPr/>
        </p:nvSpPr>
        <p:spPr>
          <a:xfrm>
            <a:off x="548640" y="1481328"/>
            <a:ext cx="11094415" cy="2011680"/>
          </a:xfrm>
          <a:prstGeom prst="roundRect">
            <a:avLst>
              <a:gd name="adj" fmla="val 5455"/>
            </a:avLst>
          </a:prstGeom>
          <a:solidFill>
            <a:srgbClr val="EEF0FF"/>
          </a:solidFill>
          <a:ln w="12700">
            <a:solidFill>
              <a:srgbClr val="EEF0FF"/>
            </a:solidFill>
            <a:prstDash val="solid"/>
          </a:ln>
        </p:spPr>
      </p:sp>
      <p:pic>
        <p:nvPicPr>
          <p:cNvPr id="7" name="Image 0" descr="C:\Users\sudee\Downloads\Generative_AI_2027_Teaching_Pack\AI2027_Project\build\eq\da8815bf1e10e61b.png">    </p:cNvPr>
          <p:cNvPicPr>
            <a:picLocks noChangeAspect="1"/>
          </p:cNvPicPr>
          <p:nvPr/>
        </p:nvPicPr>
        <p:blipFill>
          <a:blip r:embed="rId1"/>
          <a:stretch>
            <a:fillRect/>
          </a:stretch>
        </p:blipFill>
        <p:spPr>
          <a:xfrm>
            <a:off x="3934816" y="1892808"/>
            <a:ext cx="4322064" cy="365760"/>
          </a:xfrm>
          <a:prstGeom prst="rect">
            <a:avLst/>
          </a:prstGeom>
        </p:spPr>
      </p:pic>
      <p:pic>
        <p:nvPicPr>
          <p:cNvPr id="8" name="Image 1" descr="C:\Users\sudee\Downloads\Generative_AI_2027_Teaching_Pack\AI2027_Project\build\eq\740f424e6b17c765.png">    </p:cNvPr>
          <p:cNvPicPr>
            <a:picLocks noChangeAspect="1"/>
          </p:cNvPicPr>
          <p:nvPr/>
        </p:nvPicPr>
        <p:blipFill>
          <a:blip r:embed="rId2"/>
          <a:stretch>
            <a:fillRect/>
          </a:stretch>
        </p:blipFill>
        <p:spPr>
          <a:xfrm>
            <a:off x="2915260" y="2624328"/>
            <a:ext cx="6361176" cy="457200"/>
          </a:xfrm>
          <a:prstGeom prst="rect">
            <a:avLst/>
          </a:prstGeom>
        </p:spPr>
      </p:pic>
      <p:sp>
        <p:nvSpPr>
          <p:cNvPr id="9" name="Text 5"/>
          <p:cNvSpPr txBox="1"/>
          <p:nvPr/>
        </p:nvSpPr>
        <p:spPr>
          <a:xfrm>
            <a:off x="548640" y="37216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4105656"/>
            <a:ext cx="6035040" cy="21762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Reward model: score preferred answers higher.</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Policy: maximise reward, minus a KL drift penalty.</a:t>
            </a:r>
            <a:endParaRPr lang="en-US" sz="2000" dirty="0"/>
          </a:p>
        </p:txBody>
      </p:sp>
      <p:sp>
        <p:nvSpPr>
          <p:cNvPr id="11" name="Text 7"/>
          <p:cNvSpPr txBox="1"/>
          <p:nvPr/>
        </p:nvSpPr>
        <p:spPr>
          <a:xfrm>
            <a:off x="6858000" y="37216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4133088"/>
            <a:ext cx="1143000" cy="54406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y</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w</a:t>
            </a:r>
            <a:pPr indent="0" marL="0">
              <a:buNone/>
            </a:pPr>
            <a:r>
              <a:rPr lang="en-US" sz="1800" b="1" dirty="0">
                <a:solidFill>
                  <a:srgbClr val="1E1B4B"/>
                </a:solidFill>
                <a:latin typeface="Cambria Math" pitchFamily="34" charset="0"/>
                <a:ea typeface="Cambria Math" pitchFamily="34" charset="-122"/>
                <a:cs typeface="Cambria Math" pitchFamily="34" charset="-120"/>
              </a:rPr>
              <a:t> / yₗ</a:t>
            </a:r>
            <a:endParaRPr lang="en-US" sz="1800" dirty="0"/>
          </a:p>
        </p:txBody>
      </p:sp>
      <p:sp>
        <p:nvSpPr>
          <p:cNvPr id="13" name="Text 9"/>
          <p:cNvSpPr txBox="1"/>
          <p:nvPr/>
        </p:nvSpPr>
        <p:spPr>
          <a:xfrm>
            <a:off x="8046720" y="4133088"/>
            <a:ext cx="3596335" cy="54406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preferred / rejected</a:t>
            </a:r>
            <a:endParaRPr lang="en-US" sz="1700" dirty="0"/>
          </a:p>
        </p:txBody>
      </p:sp>
      <p:sp>
        <p:nvSpPr>
          <p:cNvPr id="14" name="Text 10"/>
          <p:cNvSpPr txBox="1"/>
          <p:nvPr/>
        </p:nvSpPr>
        <p:spPr>
          <a:xfrm>
            <a:off x="6858000" y="4677156"/>
            <a:ext cx="1143000" cy="54406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r</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φ</a:t>
            </a:r>
            <a:endParaRPr lang="en-US" sz="1800" dirty="0"/>
          </a:p>
        </p:txBody>
      </p:sp>
      <p:sp>
        <p:nvSpPr>
          <p:cNvPr id="15" name="Text 11"/>
          <p:cNvSpPr txBox="1"/>
          <p:nvPr/>
        </p:nvSpPr>
        <p:spPr>
          <a:xfrm>
            <a:off x="8046720" y="4677156"/>
            <a:ext cx="3596335" cy="54406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reward model</a:t>
            </a:r>
            <a:endParaRPr lang="en-US" sz="1700" dirty="0"/>
          </a:p>
        </p:txBody>
      </p:sp>
      <p:sp>
        <p:nvSpPr>
          <p:cNvPr id="16" name="Text 12"/>
          <p:cNvSpPr txBox="1"/>
          <p:nvPr/>
        </p:nvSpPr>
        <p:spPr>
          <a:xfrm>
            <a:off x="6858000" y="5221224"/>
            <a:ext cx="1143000" cy="54406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π</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θ</a:t>
            </a:r>
            <a:pPr indent="0" marL="0">
              <a:buNone/>
            </a:pPr>
            <a:r>
              <a:rPr lang="en-US" sz="1800" b="1" dirty="0">
                <a:solidFill>
                  <a:srgbClr val="1E1B4B"/>
                </a:solidFill>
                <a:latin typeface="Cambria Math" pitchFamily="34" charset="0"/>
                <a:ea typeface="Cambria Math" pitchFamily="34" charset="-122"/>
                <a:cs typeface="Cambria Math" pitchFamily="34" charset="-120"/>
              </a:rPr>
              <a:t> / π</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ref</a:t>
            </a:r>
            <a:endParaRPr lang="en-US" sz="1800" dirty="0"/>
          </a:p>
        </p:txBody>
      </p:sp>
      <p:sp>
        <p:nvSpPr>
          <p:cNvPr id="17" name="Text 13"/>
          <p:cNvSpPr txBox="1"/>
          <p:nvPr/>
        </p:nvSpPr>
        <p:spPr>
          <a:xfrm>
            <a:off x="8046720" y="5221224"/>
            <a:ext cx="3596335" cy="54406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trained / starting</a:t>
            </a:r>
            <a:endParaRPr lang="en-US" sz="1700" dirty="0"/>
          </a:p>
        </p:txBody>
      </p:sp>
      <p:sp>
        <p:nvSpPr>
          <p:cNvPr id="18" name="Text 14"/>
          <p:cNvSpPr txBox="1"/>
          <p:nvPr/>
        </p:nvSpPr>
        <p:spPr>
          <a:xfrm>
            <a:off x="6858000" y="5765292"/>
            <a:ext cx="1143000" cy="54406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β</a:t>
            </a:r>
            <a:endParaRPr lang="en-US" sz="1800" dirty="0"/>
          </a:p>
        </p:txBody>
      </p:sp>
      <p:sp>
        <p:nvSpPr>
          <p:cNvPr id="19" name="Text 15"/>
          <p:cNvSpPr txBox="1"/>
          <p:nvPr/>
        </p:nvSpPr>
        <p:spPr>
          <a:xfrm>
            <a:off x="8046720" y="5765292"/>
            <a:ext cx="3596335" cy="54406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penalty strength</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Direct Preference Optimisation (DPO)</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14351c2228fff451.png">    </p:cNvPr>
          <p:cNvPicPr>
            <a:picLocks noChangeAspect="1"/>
          </p:cNvPicPr>
          <p:nvPr/>
        </p:nvPicPr>
        <p:blipFill>
          <a:blip r:embed="rId1"/>
          <a:stretch>
            <a:fillRect/>
          </a:stretch>
        </p:blipFill>
        <p:spPr>
          <a:xfrm>
            <a:off x="2991460" y="1766316"/>
            <a:ext cx="6208776" cy="755904"/>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Use preferred and rejected replies to one prompt.</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Compare probabilities against a fixed reference.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Train directly: no reward model, no RL loop.</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π</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θ</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model being trained</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π</a:t>
            </a:r>
            <a:pPr indent="0" marL="0">
              <a:buNone/>
            </a:pPr>
            <a:r>
              <a:rPr lang="en-US" sz="1800" b="1" baseline="-40000" dirty="0">
                <a:solidFill>
                  <a:srgbClr val="1E1B4B"/>
                </a:solidFill>
                <a:latin typeface="Cambria Math" pitchFamily="34" charset="0"/>
                <a:ea typeface="Cambria Math" pitchFamily="34" charset="-122"/>
                <a:cs typeface="Cambria Math" pitchFamily="34" charset="-120"/>
              </a:rPr>
              <a:t>ref</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fixed reference model</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β</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penalty strength</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Three ways to learn from feedback</a:t>
            </a:r>
            <a:endParaRPr lang="en-US" sz="3200" dirty="0"/>
          </a:p>
        </p:txBody>
      </p:sp>
      <p:sp>
        <p:nvSpPr>
          <p:cNvPr id="6" name="Shape 4"/>
          <p:cNvSpPr/>
          <p:nvPr/>
        </p:nvSpPr>
        <p:spPr>
          <a:xfrm>
            <a:off x="548640" y="1481328"/>
            <a:ext cx="351525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RLHF (PPO)</a:t>
            </a:r>
            <a:endParaRPr lang="en-US" sz="1800" dirty="0"/>
          </a:p>
        </p:txBody>
      </p:sp>
      <p:sp>
        <p:nvSpPr>
          <p:cNvPr id="8" name="Shape 6"/>
          <p:cNvSpPr/>
          <p:nvPr/>
        </p:nvSpPr>
        <p:spPr>
          <a:xfrm>
            <a:off x="548640" y="2167128"/>
            <a:ext cx="3515258" cy="4142232"/>
          </a:xfrm>
          <a:prstGeom prst="roundRect">
            <a:avLst>
              <a:gd name="adj" fmla="val 2601"/>
            </a:avLst>
          </a:prstGeom>
          <a:solidFill>
            <a:srgbClr val="EEF0FF"/>
          </a:solidFill>
          <a:ln w="12700">
            <a:solidFill>
              <a:srgbClr val="EEF0FF"/>
            </a:solidFill>
            <a:prstDash val="solid"/>
          </a:ln>
        </p:spPr>
      </p:sp>
      <p:sp>
        <p:nvSpPr>
          <p:cNvPr id="9" name="Text 7"/>
          <p:cNvSpPr txBox="1"/>
          <p:nvPr/>
        </p:nvSpPr>
        <p:spPr>
          <a:xfrm>
            <a:off x="658368"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Rankings train a reward model</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PPO updates the policy</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InstructGPT</a:t>
            </a:r>
            <a:endParaRPr lang="en-US" sz="2400" dirty="0"/>
          </a:p>
        </p:txBody>
      </p:sp>
      <p:sp>
        <p:nvSpPr>
          <p:cNvPr id="10" name="Shape 8"/>
          <p:cNvSpPr/>
          <p:nvPr/>
        </p:nvSpPr>
        <p:spPr>
          <a:xfrm>
            <a:off x="4338218" y="1481328"/>
            <a:ext cx="351525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4521098"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DPO</a:t>
            </a:r>
            <a:endParaRPr lang="en-US" sz="1800" dirty="0"/>
          </a:p>
        </p:txBody>
      </p:sp>
      <p:sp>
        <p:nvSpPr>
          <p:cNvPr id="12" name="Shape 10"/>
          <p:cNvSpPr/>
          <p:nvPr/>
        </p:nvSpPr>
        <p:spPr>
          <a:xfrm>
            <a:off x="4338218" y="2167128"/>
            <a:ext cx="3515258" cy="4142232"/>
          </a:xfrm>
          <a:prstGeom prst="roundRect">
            <a:avLst>
              <a:gd name="adj" fmla="val 2601"/>
            </a:avLst>
          </a:prstGeom>
          <a:solidFill>
            <a:srgbClr val="E6F4F1"/>
          </a:solidFill>
          <a:ln w="12700">
            <a:solidFill>
              <a:srgbClr val="E6F4F1"/>
            </a:solidFill>
            <a:prstDash val="solid"/>
          </a:ln>
        </p:spPr>
      </p:sp>
      <p:sp>
        <p:nvSpPr>
          <p:cNvPr id="13" name="Text 11"/>
          <p:cNvSpPr txBox="1"/>
          <p:nvPr/>
        </p:nvSpPr>
        <p:spPr>
          <a:xfrm>
            <a:off x="4447946"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Pairs give a direct loss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No reward model or RL loop</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Zephyr</a:t>
            </a:r>
            <a:endParaRPr lang="en-US" sz="2400" dirty="0"/>
          </a:p>
        </p:txBody>
      </p:sp>
      <p:sp>
        <p:nvSpPr>
          <p:cNvPr id="14" name="Shape 12"/>
          <p:cNvSpPr/>
          <p:nvPr/>
        </p:nvSpPr>
        <p:spPr>
          <a:xfrm>
            <a:off x="8127797" y="1481328"/>
            <a:ext cx="3515258" cy="566928"/>
          </a:xfrm>
          <a:prstGeom prst="roundRect">
            <a:avLst>
              <a:gd name="adj" fmla="val 16129"/>
            </a:avLst>
          </a:prstGeom>
          <a:solidFill>
            <a:srgbClr val="EA580C"/>
          </a:solidFill>
          <a:ln w="12700">
            <a:solidFill>
              <a:srgbClr val="EA580C"/>
            </a:solidFill>
            <a:prstDash val="solid"/>
          </a:ln>
        </p:spPr>
      </p:sp>
      <p:sp>
        <p:nvSpPr>
          <p:cNvPr id="15" name="Text 13"/>
          <p:cNvSpPr txBox="1"/>
          <p:nvPr/>
        </p:nvSpPr>
        <p:spPr>
          <a:xfrm>
            <a:off x="8310677"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Verifiable rewards</a:t>
            </a:r>
            <a:endParaRPr lang="en-US" sz="1800" dirty="0"/>
          </a:p>
        </p:txBody>
      </p:sp>
      <p:sp>
        <p:nvSpPr>
          <p:cNvPr id="16" name="Shape 14"/>
          <p:cNvSpPr/>
          <p:nvPr/>
        </p:nvSpPr>
        <p:spPr>
          <a:xfrm>
            <a:off x="8127797" y="2167128"/>
            <a:ext cx="3515258" cy="4142232"/>
          </a:xfrm>
          <a:prstGeom prst="roundRect">
            <a:avLst>
              <a:gd name="adj" fmla="val 2601"/>
            </a:avLst>
          </a:prstGeom>
          <a:solidFill>
            <a:srgbClr val="FFF1E6"/>
          </a:solidFill>
          <a:ln w="12700">
            <a:solidFill>
              <a:srgbClr val="FFF1E6"/>
            </a:solidFill>
            <a:prstDash val="solid"/>
          </a:ln>
        </p:spPr>
      </p:sp>
      <p:sp>
        <p:nvSpPr>
          <p:cNvPr id="17" name="Text 15"/>
          <p:cNvSpPr txBox="1"/>
          <p:nvPr/>
        </p:nvSpPr>
        <p:spPr>
          <a:xfrm>
            <a:off x="8237525"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Automatic checks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GRPO compares samples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DeepSeek-R1</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AI feedback, and what can go wrong</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AI feedback scales ranking.</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Reward hacking games the score.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raters and rubric.</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Signal</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RLAIF</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AI-model ratings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Constitutional AI</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Written principles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Main practical advantage of DPO over PPO-based RLHF?</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Needs no preference data</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Works only on images</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Always beats PPO</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No reward model or RL loop</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Parameter-efficient fine-tuning (PEFT)</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can we train a small part of a large model to reduce GPU memory use?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LoRA training update</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Base frozen</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 x</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gradients</a:t>
            </a:r>
            <a:endParaRPr lang="en-US" sz="1441" dirty="0"/>
          </a:p>
        </p:txBody>
      </p:sp>
      <p:sp>
        <p:nvSpPr>
          <p:cNvPr id="15" name="Shape 13"/>
          <p:cNvSpPr/>
          <p:nvPr/>
        </p:nvSpPr>
        <p:spPr>
          <a:xfrm>
            <a:off x="1752220" y="4738766"/>
            <a:ext cx="0" cy="198270"/>
          </a:xfrm>
          <a:prstGeom prst="line">
            <a:avLst/>
          </a:prstGeom>
          <a:noFill/>
          <a:ln w="22860">
            <a:solidFill>
              <a:srgbClr val="0072B2"/>
            </a:solidFill>
            <a:prstDash val="solid"/>
          </a:ln>
        </p:spPr>
      </p:sp>
      <p:sp>
        <p:nvSpPr>
          <p:cNvPr id="16" name="Shape 14"/>
          <p:cNvSpPr/>
          <p:nvPr/>
        </p:nvSpPr>
        <p:spPr>
          <a:xfrm>
            <a:off x="1752220" y="4937035"/>
            <a:ext cx="4343628" cy="0"/>
          </a:xfrm>
          <a:prstGeom prst="line">
            <a:avLst/>
          </a:prstGeom>
          <a:noFill/>
          <a:ln w="22860">
            <a:solidFill>
              <a:srgbClr val="0072B2"/>
            </a:solidFill>
            <a:prstDash val="solid"/>
          </a:ln>
        </p:spPr>
      </p:sp>
      <p:sp>
        <p:nvSpPr>
          <p:cNvPr id="17" name="Shape 15"/>
          <p:cNvSpPr/>
          <p:nvPr/>
        </p:nvSpPr>
        <p:spPr>
          <a:xfrm flipV="1">
            <a:off x="6095848" y="4738766"/>
            <a:ext cx="0" cy="198270"/>
          </a:xfrm>
          <a:prstGeom prst="line">
            <a:avLst/>
          </a:prstGeom>
          <a:noFill/>
          <a:ln w="22860">
            <a:solidFill>
              <a:srgbClr val="0072B2"/>
            </a:solidFill>
            <a:prstDash val="solid"/>
            <a:tailEnd type="triangle"/>
          </a:ln>
        </p:spPr>
      </p:sp>
      <p:sp>
        <p:nvSpPr>
          <p:cNvPr id="18" name="Text 16"/>
          <p:cNvSpPr txBox="1"/>
          <p:nvPr/>
        </p:nvSpPr>
        <p:spPr>
          <a:xfrm>
            <a:off x="3846175" y="4967538"/>
            <a:ext cx="155718"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x</a:t>
            </a:r>
            <a:endParaRPr lang="en-US" sz="1441" dirty="0"/>
          </a:p>
        </p:txBody>
      </p:sp>
      <p:sp>
        <p:nvSpPr>
          <p:cNvPr id="19" name="Shape 17"/>
          <p:cNvSpPr/>
          <p:nvPr/>
        </p:nvSpPr>
        <p:spPr>
          <a:xfrm flipV="1">
            <a:off x="10439475" y="2191765"/>
            <a:ext cx="0" cy="747324"/>
          </a:xfrm>
          <a:prstGeom prst="line">
            <a:avLst/>
          </a:prstGeom>
          <a:noFill/>
          <a:ln w="22860">
            <a:solidFill>
              <a:srgbClr val="D55E00"/>
            </a:solidFill>
            <a:prstDash val="dash"/>
          </a:ln>
        </p:spPr>
      </p:sp>
      <p:sp>
        <p:nvSpPr>
          <p:cNvPr id="20" name="Shape 18"/>
          <p:cNvSpPr/>
          <p:nvPr/>
        </p:nvSpPr>
        <p:spPr>
          <a:xfrm flipH="1">
            <a:off x="1752220" y="2191765"/>
            <a:ext cx="8687255" cy="0"/>
          </a:xfrm>
          <a:prstGeom prst="line">
            <a:avLst/>
          </a:prstGeom>
          <a:noFill/>
          <a:ln w="22860">
            <a:solidFill>
              <a:srgbClr val="D55E00"/>
            </a:solidFill>
            <a:prstDash val="dash"/>
          </a:ln>
        </p:spPr>
      </p:sp>
      <p:sp>
        <p:nvSpPr>
          <p:cNvPr id="21" name="Shape 19"/>
          <p:cNvSpPr/>
          <p:nvPr/>
        </p:nvSpPr>
        <p:spPr>
          <a:xfrm>
            <a:off x="1752220" y="2191765"/>
            <a:ext cx="0" cy="747324"/>
          </a:xfrm>
          <a:prstGeom prst="line">
            <a:avLst/>
          </a:prstGeom>
          <a:noFill/>
          <a:ln w="22860">
            <a:solidFill>
              <a:srgbClr val="D55E00"/>
            </a:solidFill>
            <a:prstDash val="dash"/>
            <a:tailEnd type="triangle"/>
          </a:ln>
        </p:spPr>
      </p:sp>
      <p:sp>
        <p:nvSpPr>
          <p:cNvPr id="22" name="Text 20"/>
          <p:cNvSpPr txBox="1"/>
          <p:nvPr/>
        </p:nvSpPr>
        <p:spPr>
          <a:xfrm>
            <a:off x="5612622" y="1917238"/>
            <a:ext cx="966451"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Next batch</a:t>
            </a:r>
            <a:endParaRPr lang="en-US" sz="1441" dirty="0"/>
          </a:p>
        </p:txBody>
      </p:sp>
      <p:sp>
        <p:nvSpPr>
          <p:cNvPr id="23" name="Shape 21"/>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24" name="Text 22"/>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Input x</a:t>
            </a:r>
            <a:endParaRPr lang="en-US" sz="1561" dirty="0"/>
          </a:p>
        </p:txBody>
      </p:sp>
      <p:sp>
        <p:nvSpPr>
          <p:cNvPr id="25" name="Text 23"/>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[k]</a:t>
            </a:r>
            <a:endParaRPr lang="en-US" sz="1441" dirty="0"/>
          </a:p>
        </p:txBody>
      </p:sp>
      <p:sp>
        <p:nvSpPr>
          <p:cNvPr id="26" name="Shape 24"/>
          <p:cNvSpPr/>
          <p:nvPr/>
        </p:nvSpPr>
        <p:spPr>
          <a:xfrm>
            <a:off x="2960139" y="2939089"/>
            <a:ext cx="1927790" cy="1799677"/>
          </a:xfrm>
          <a:prstGeom prst="rect">
            <a:avLst/>
          </a:prstGeom>
          <a:solidFill>
            <a:srgbClr val="E5F7EF"/>
          </a:solidFill>
          <a:ln w="15240">
            <a:solidFill>
              <a:srgbClr val="009E73"/>
            </a:solidFill>
            <a:prstDash val="solid"/>
          </a:ln>
        </p:spPr>
      </p:sp>
      <p:sp>
        <p:nvSpPr>
          <p:cNvPr id="27" name="Text 25"/>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Frozen W</a:t>
            </a:r>
            <a:endParaRPr lang="en-US" sz="1561" dirty="0"/>
          </a:p>
        </p:txBody>
      </p:sp>
      <p:sp>
        <p:nvSpPr>
          <p:cNvPr id="28" name="Text 26"/>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pretrained</a:t>
            </a:r>
            <a:endParaRPr lang="en-US" sz="1441" dirty="0"/>
          </a:p>
        </p:txBody>
      </p:sp>
      <p:sp>
        <p:nvSpPr>
          <p:cNvPr id="29" name="Shape 27"/>
          <p:cNvSpPr/>
          <p:nvPr/>
        </p:nvSpPr>
        <p:spPr>
          <a:xfrm>
            <a:off x="5131953" y="2939089"/>
            <a:ext cx="1927790" cy="1799677"/>
          </a:xfrm>
          <a:prstGeom prst="rect">
            <a:avLst/>
          </a:prstGeom>
          <a:solidFill>
            <a:srgbClr val="E5F7EF"/>
          </a:solidFill>
          <a:ln w="15240">
            <a:solidFill>
              <a:srgbClr val="009E73"/>
            </a:solidFill>
            <a:prstDash val="solid"/>
          </a:ln>
        </p:spPr>
      </p:sp>
      <p:sp>
        <p:nvSpPr>
          <p:cNvPr id="30" name="Text 28"/>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Adapter + add</a:t>
            </a:r>
            <a:endParaRPr lang="en-US" sz="1561" dirty="0"/>
          </a:p>
        </p:txBody>
      </p:sp>
      <p:sp>
        <p:nvSpPr>
          <p:cNvPr id="31" name="Text 29"/>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Wx + scaled B(Ax)</a:t>
            </a:r>
            <a:endParaRPr lang="en-US" sz="1441" dirty="0"/>
          </a:p>
        </p:txBody>
      </p:sp>
      <p:sp>
        <p:nvSpPr>
          <p:cNvPr id="32" name="Shape 30"/>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33" name="Text 31"/>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Loss</a:t>
            </a:r>
            <a:endParaRPr lang="en-US" sz="1561" dirty="0"/>
          </a:p>
        </p:txBody>
      </p:sp>
      <p:sp>
        <p:nvSpPr>
          <p:cNvPr id="34" name="Text 32"/>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known label</a:t>
            </a:r>
            <a:endParaRPr lang="en-US" sz="1441" dirty="0"/>
          </a:p>
        </p:txBody>
      </p:sp>
      <p:sp>
        <p:nvSpPr>
          <p:cNvPr id="35" name="Shape 33"/>
          <p:cNvSpPr/>
          <p:nvPr/>
        </p:nvSpPr>
        <p:spPr>
          <a:xfrm>
            <a:off x="9475580" y="2939089"/>
            <a:ext cx="1927790" cy="1799677"/>
          </a:xfrm>
          <a:prstGeom prst="rect">
            <a:avLst/>
          </a:prstGeom>
          <a:solidFill>
            <a:srgbClr val="F2F4F5"/>
          </a:solidFill>
          <a:ln w="15240">
            <a:solidFill>
              <a:srgbClr val="626B73"/>
            </a:solidFill>
            <a:prstDash val="solid"/>
          </a:ln>
        </p:spPr>
      </p:sp>
      <p:sp>
        <p:nvSpPr>
          <p:cNvPr id="36" name="Text 34"/>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37" name="Text 35"/>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 B only</a:t>
            </a:r>
            <a:endParaRPr lang="en-US" sz="1441" dirty="0"/>
          </a:p>
        </p:txBody>
      </p:sp>
      <p:sp>
        <p:nvSpPr>
          <p:cNvPr id="38" name="Shape 36"/>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9" name="Text 37"/>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0" name="Shape 38"/>
          <p:cNvSpPr/>
          <p:nvPr/>
        </p:nvSpPr>
        <p:spPr>
          <a:xfrm>
            <a:off x="1676436" y="5630979"/>
            <a:ext cx="198270" cy="198270"/>
          </a:xfrm>
          <a:prstGeom prst="rect">
            <a:avLst/>
          </a:prstGeom>
          <a:solidFill>
            <a:srgbClr val="E5F7EF"/>
          </a:solidFill>
          <a:ln w="15240">
            <a:solidFill>
              <a:srgbClr val="009E73"/>
            </a:solidFill>
            <a:prstDash val="solid"/>
          </a:ln>
        </p:spPr>
      </p:sp>
      <p:sp>
        <p:nvSpPr>
          <p:cNvPr id="41" name="Text 39"/>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2" name="Shape 40"/>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3" name="Text 41"/>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4" name="Shape 42"/>
          <p:cNvSpPr/>
          <p:nvPr/>
        </p:nvSpPr>
        <p:spPr>
          <a:xfrm>
            <a:off x="3568395" y="5630979"/>
            <a:ext cx="198270" cy="198270"/>
          </a:xfrm>
          <a:prstGeom prst="rect">
            <a:avLst/>
          </a:prstGeom>
          <a:solidFill>
            <a:srgbClr val="F2F4F5"/>
          </a:solidFill>
          <a:ln w="15240">
            <a:solidFill>
              <a:srgbClr val="626B73"/>
            </a:solidFill>
            <a:prstDash val="solid"/>
          </a:ln>
        </p:spPr>
      </p:sp>
      <p:sp>
        <p:nvSpPr>
          <p:cNvPr id="45" name="Text 43"/>
          <p:cNvSpPr txBox="1"/>
          <p:nvPr/>
        </p:nvSpPr>
        <p:spPr>
          <a:xfrm>
            <a:off x="3827671"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6" name="Shape 44"/>
          <p:cNvSpPr/>
          <p:nvPr/>
        </p:nvSpPr>
        <p:spPr>
          <a:xfrm>
            <a:off x="4424872" y="5730113"/>
            <a:ext cx="335533" cy="0"/>
          </a:xfrm>
          <a:prstGeom prst="line">
            <a:avLst/>
          </a:prstGeom>
          <a:noFill/>
          <a:ln w="22860">
            <a:solidFill>
              <a:srgbClr val="009E73"/>
            </a:solidFill>
            <a:prstDash val="solid"/>
            <a:tailEnd type="triangle"/>
          </a:ln>
        </p:spPr>
      </p:sp>
      <p:sp>
        <p:nvSpPr>
          <p:cNvPr id="47" name="Text 45"/>
          <p:cNvSpPr txBox="1"/>
          <p:nvPr/>
        </p:nvSpPr>
        <p:spPr>
          <a:xfrm>
            <a:off x="482141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8" name="Shape 46"/>
          <p:cNvSpPr/>
          <p:nvPr/>
        </p:nvSpPr>
        <p:spPr>
          <a:xfrm>
            <a:off x="5450057" y="5730113"/>
            <a:ext cx="335533" cy="0"/>
          </a:xfrm>
          <a:prstGeom prst="line">
            <a:avLst/>
          </a:prstGeom>
          <a:noFill/>
          <a:ln w="22860">
            <a:solidFill>
              <a:srgbClr val="D55E00"/>
            </a:solidFill>
            <a:prstDash val="dash"/>
            <a:tailEnd type="triangle"/>
          </a:ln>
        </p:spPr>
      </p:sp>
      <p:sp>
        <p:nvSpPr>
          <p:cNvPr id="49" name="Text 47"/>
          <p:cNvSpPr txBox="1"/>
          <p:nvPr/>
        </p:nvSpPr>
        <p:spPr>
          <a:xfrm>
            <a:off x="584659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0" name="Text 48"/>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W change?</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LoRA: learn a low-rank update</a:t>
            </a:r>
            <a:endParaRPr lang="en-US" sz="3200" dirty="0"/>
          </a:p>
        </p:txBody>
      </p:sp>
      <p:sp>
        <p:nvSpPr>
          <p:cNvPr id="6" name="Shape 4"/>
          <p:cNvSpPr/>
          <p:nvPr/>
        </p:nvSpPr>
        <p:spPr>
          <a:xfrm>
            <a:off x="2081376" y="3734902"/>
            <a:ext cx="573496" cy="0"/>
          </a:xfrm>
          <a:prstGeom prst="line">
            <a:avLst/>
          </a:prstGeom>
          <a:noFill/>
          <a:ln w="22860">
            <a:solidFill>
              <a:srgbClr val="4F46E5"/>
            </a:solidFill>
            <a:prstDash val="solid"/>
          </a:ln>
        </p:spPr>
      </p:sp>
      <p:sp>
        <p:nvSpPr>
          <p:cNvPr id="7" name="Shape 5"/>
          <p:cNvSpPr/>
          <p:nvPr/>
        </p:nvSpPr>
        <p:spPr>
          <a:xfrm flipV="1">
            <a:off x="2654872" y="2852469"/>
            <a:ext cx="0" cy="882433"/>
          </a:xfrm>
          <a:prstGeom prst="line">
            <a:avLst/>
          </a:prstGeom>
          <a:noFill/>
          <a:ln w="22860">
            <a:solidFill>
              <a:srgbClr val="4F46E5"/>
            </a:solidFill>
            <a:prstDash val="solid"/>
          </a:ln>
        </p:spPr>
      </p:sp>
      <p:sp>
        <p:nvSpPr>
          <p:cNvPr id="8" name="Shape 6"/>
          <p:cNvSpPr/>
          <p:nvPr/>
        </p:nvSpPr>
        <p:spPr>
          <a:xfrm>
            <a:off x="2081376" y="3734902"/>
            <a:ext cx="573496" cy="0"/>
          </a:xfrm>
          <a:prstGeom prst="line">
            <a:avLst/>
          </a:prstGeom>
          <a:noFill/>
          <a:ln w="22860">
            <a:solidFill>
              <a:srgbClr val="4F46E5"/>
            </a:solidFill>
            <a:prstDash val="solid"/>
          </a:ln>
        </p:spPr>
      </p:sp>
      <p:sp>
        <p:nvSpPr>
          <p:cNvPr id="9" name="Shape 7"/>
          <p:cNvSpPr/>
          <p:nvPr/>
        </p:nvSpPr>
        <p:spPr>
          <a:xfrm>
            <a:off x="2654872" y="3734902"/>
            <a:ext cx="0" cy="882433"/>
          </a:xfrm>
          <a:prstGeom prst="line">
            <a:avLst/>
          </a:prstGeom>
          <a:noFill/>
          <a:ln w="22860">
            <a:solidFill>
              <a:srgbClr val="4F46E5"/>
            </a:solidFill>
            <a:prstDash val="solid"/>
          </a:ln>
        </p:spPr>
      </p:sp>
      <p:sp>
        <p:nvSpPr>
          <p:cNvPr id="10" name="Shape 8"/>
          <p:cNvSpPr/>
          <p:nvPr/>
        </p:nvSpPr>
        <p:spPr>
          <a:xfrm>
            <a:off x="5276568" y="2852469"/>
            <a:ext cx="3768688" cy="0"/>
          </a:xfrm>
          <a:prstGeom prst="line">
            <a:avLst/>
          </a:prstGeom>
          <a:noFill/>
          <a:ln w="22860">
            <a:solidFill>
              <a:srgbClr val="4F46E5"/>
            </a:solidFill>
            <a:prstDash val="solid"/>
          </a:ln>
        </p:spPr>
      </p:sp>
      <p:sp>
        <p:nvSpPr>
          <p:cNvPr id="11" name="Shape 9"/>
          <p:cNvSpPr/>
          <p:nvPr/>
        </p:nvSpPr>
        <p:spPr>
          <a:xfrm>
            <a:off x="7816335" y="4617334"/>
            <a:ext cx="1228920" cy="0"/>
          </a:xfrm>
          <a:prstGeom prst="line">
            <a:avLst/>
          </a:prstGeom>
          <a:noFill/>
          <a:ln w="22860">
            <a:solidFill>
              <a:srgbClr val="4F46E5"/>
            </a:solidFill>
            <a:prstDash val="solid"/>
          </a:ln>
        </p:spPr>
      </p:sp>
      <p:sp>
        <p:nvSpPr>
          <p:cNvPr id="12" name="Shape 10"/>
          <p:cNvSpPr/>
          <p:nvPr/>
        </p:nvSpPr>
        <p:spPr>
          <a:xfrm>
            <a:off x="2654872" y="2852469"/>
            <a:ext cx="737352" cy="0"/>
          </a:xfrm>
          <a:prstGeom prst="line">
            <a:avLst/>
          </a:prstGeom>
          <a:noFill/>
          <a:ln w="22860">
            <a:solidFill>
              <a:srgbClr val="4F46E5"/>
            </a:solidFill>
            <a:prstDash val="solid"/>
            <a:tailEnd type="triangle"/>
          </a:ln>
        </p:spPr>
      </p:sp>
      <p:sp>
        <p:nvSpPr>
          <p:cNvPr id="13" name="Shape 11"/>
          <p:cNvSpPr/>
          <p:nvPr/>
        </p:nvSpPr>
        <p:spPr>
          <a:xfrm>
            <a:off x="2654872" y="4617334"/>
            <a:ext cx="737352" cy="0"/>
          </a:xfrm>
          <a:prstGeom prst="line">
            <a:avLst/>
          </a:prstGeom>
          <a:noFill/>
          <a:ln w="22860">
            <a:solidFill>
              <a:srgbClr val="4F46E5"/>
            </a:solidFill>
            <a:prstDash val="solid"/>
            <a:tailEnd type="triangle"/>
          </a:ln>
        </p:spPr>
      </p:sp>
      <p:sp>
        <p:nvSpPr>
          <p:cNvPr id="14" name="Shape 12"/>
          <p:cNvSpPr/>
          <p:nvPr/>
        </p:nvSpPr>
        <p:spPr>
          <a:xfrm>
            <a:off x="9045255" y="2852469"/>
            <a:ext cx="0" cy="521438"/>
          </a:xfrm>
          <a:prstGeom prst="line">
            <a:avLst/>
          </a:prstGeom>
          <a:noFill/>
          <a:ln w="22860">
            <a:solidFill>
              <a:srgbClr val="4F46E5"/>
            </a:solidFill>
            <a:prstDash val="solid"/>
            <a:tailEnd type="triangle"/>
          </a:ln>
        </p:spPr>
      </p:sp>
      <p:sp>
        <p:nvSpPr>
          <p:cNvPr id="15" name="Shape 13"/>
          <p:cNvSpPr/>
          <p:nvPr/>
        </p:nvSpPr>
        <p:spPr>
          <a:xfrm>
            <a:off x="4866928" y="4617334"/>
            <a:ext cx="1065064" cy="0"/>
          </a:xfrm>
          <a:prstGeom prst="line">
            <a:avLst/>
          </a:prstGeom>
          <a:noFill/>
          <a:ln w="22860">
            <a:solidFill>
              <a:srgbClr val="4F46E5"/>
            </a:solidFill>
            <a:prstDash val="solid"/>
            <a:tailEnd type="triangle"/>
          </a:ln>
        </p:spPr>
      </p:sp>
      <p:sp>
        <p:nvSpPr>
          <p:cNvPr id="16" name="Shape 14"/>
          <p:cNvSpPr/>
          <p:nvPr/>
        </p:nvSpPr>
        <p:spPr>
          <a:xfrm flipV="1">
            <a:off x="9045255" y="4095897"/>
            <a:ext cx="0" cy="521438"/>
          </a:xfrm>
          <a:prstGeom prst="line">
            <a:avLst/>
          </a:prstGeom>
          <a:noFill/>
          <a:ln w="22860">
            <a:solidFill>
              <a:srgbClr val="4F46E5"/>
            </a:solidFill>
            <a:prstDash val="solid"/>
            <a:tailEnd type="triangle"/>
          </a:ln>
        </p:spPr>
      </p:sp>
      <p:sp>
        <p:nvSpPr>
          <p:cNvPr id="17" name="Shape 15"/>
          <p:cNvSpPr/>
          <p:nvPr/>
        </p:nvSpPr>
        <p:spPr>
          <a:xfrm>
            <a:off x="9618751" y="3734902"/>
            <a:ext cx="573496" cy="0"/>
          </a:xfrm>
          <a:prstGeom prst="line">
            <a:avLst/>
          </a:prstGeom>
          <a:noFill/>
          <a:ln w="22860">
            <a:solidFill>
              <a:srgbClr val="4F46E5"/>
            </a:solidFill>
            <a:prstDash val="solid"/>
            <a:tailEnd type="triangle"/>
          </a:ln>
        </p:spPr>
      </p:sp>
      <p:sp>
        <p:nvSpPr>
          <p:cNvPr id="18" name="Shape 16"/>
          <p:cNvSpPr/>
          <p:nvPr/>
        </p:nvSpPr>
        <p:spPr>
          <a:xfrm>
            <a:off x="934384" y="3373906"/>
            <a:ext cx="1146992" cy="721990"/>
          </a:xfrm>
          <a:prstGeom prst="roundRect">
            <a:avLst>
              <a:gd name="adj" fmla="val 10132"/>
            </a:avLst>
          </a:prstGeom>
          <a:solidFill>
            <a:srgbClr val="E4F2FB"/>
          </a:solidFill>
          <a:ln w="15240">
            <a:solidFill>
              <a:srgbClr val="0072B2"/>
            </a:solidFill>
            <a:prstDash val="solid"/>
          </a:ln>
        </p:spPr>
      </p:sp>
      <p:sp>
        <p:nvSpPr>
          <p:cNvPr id="19" name="Shape 17"/>
          <p:cNvSpPr/>
          <p:nvPr/>
        </p:nvSpPr>
        <p:spPr>
          <a:xfrm>
            <a:off x="3392224" y="2451363"/>
            <a:ext cx="1884344" cy="802212"/>
          </a:xfrm>
          <a:prstGeom prst="rect">
            <a:avLst/>
          </a:prstGeom>
          <a:solidFill>
            <a:srgbClr val="E5F7EF"/>
          </a:solidFill>
          <a:ln w="15240">
            <a:solidFill>
              <a:srgbClr val="009E73"/>
            </a:solidFill>
            <a:prstDash val="solid"/>
          </a:ln>
        </p:spPr>
      </p:sp>
      <p:sp>
        <p:nvSpPr>
          <p:cNvPr id="20" name="Shape 18"/>
          <p:cNvSpPr/>
          <p:nvPr/>
        </p:nvSpPr>
        <p:spPr>
          <a:xfrm>
            <a:off x="3392224" y="4216229"/>
            <a:ext cx="1474704" cy="802212"/>
          </a:xfrm>
          <a:prstGeom prst="roundRect">
            <a:avLst>
              <a:gd name="adj" fmla="val 9119"/>
            </a:avLst>
          </a:prstGeom>
          <a:solidFill>
            <a:srgbClr val="FFF0E6"/>
          </a:solidFill>
          <a:ln w="15240">
            <a:solidFill>
              <a:srgbClr val="D55E00"/>
            </a:solidFill>
            <a:prstDash val="solid"/>
          </a:ln>
        </p:spPr>
      </p:sp>
      <p:sp>
        <p:nvSpPr>
          <p:cNvPr id="21" name="Shape 19"/>
          <p:cNvSpPr/>
          <p:nvPr/>
        </p:nvSpPr>
        <p:spPr>
          <a:xfrm>
            <a:off x="5931992" y="4216229"/>
            <a:ext cx="1884344" cy="802212"/>
          </a:xfrm>
          <a:prstGeom prst="roundRect">
            <a:avLst>
              <a:gd name="adj" fmla="val 9119"/>
            </a:avLst>
          </a:prstGeom>
          <a:solidFill>
            <a:srgbClr val="FFF0E6"/>
          </a:solidFill>
          <a:ln w="15240">
            <a:solidFill>
              <a:srgbClr val="D55E00"/>
            </a:solidFill>
            <a:prstDash val="solid"/>
          </a:ln>
        </p:spPr>
      </p:sp>
      <p:sp>
        <p:nvSpPr>
          <p:cNvPr id="22" name="Shape 20"/>
          <p:cNvSpPr/>
          <p:nvPr/>
        </p:nvSpPr>
        <p:spPr>
          <a:xfrm>
            <a:off x="8471759" y="3373906"/>
            <a:ext cx="1146992" cy="721990"/>
          </a:xfrm>
          <a:prstGeom prst="rect">
            <a:avLst/>
          </a:prstGeom>
          <a:solidFill>
            <a:srgbClr val="E5F7EF"/>
          </a:solidFill>
          <a:ln w="15240">
            <a:solidFill>
              <a:srgbClr val="009E73"/>
            </a:solidFill>
            <a:prstDash val="solid"/>
          </a:ln>
        </p:spPr>
      </p:sp>
      <p:sp>
        <p:nvSpPr>
          <p:cNvPr id="23" name="Shape 21"/>
          <p:cNvSpPr/>
          <p:nvPr/>
        </p:nvSpPr>
        <p:spPr>
          <a:xfrm>
            <a:off x="10192247" y="3373906"/>
            <a:ext cx="983136" cy="721990"/>
          </a:xfrm>
          <a:prstGeom prst="roundRect">
            <a:avLst>
              <a:gd name="adj" fmla="val 10132"/>
            </a:avLst>
          </a:prstGeom>
          <a:solidFill>
            <a:srgbClr val="F9EAF4"/>
          </a:solidFill>
          <a:ln w="15240">
            <a:solidFill>
              <a:srgbClr val="CC79A7"/>
            </a:solidFill>
            <a:prstDash val="solid"/>
          </a:ln>
        </p:spPr>
      </p:sp>
      <p:sp>
        <p:nvSpPr>
          <p:cNvPr id="24" name="Shape 22"/>
          <p:cNvSpPr/>
          <p:nvPr/>
        </p:nvSpPr>
        <p:spPr>
          <a:xfrm>
            <a:off x="852456" y="2074324"/>
            <a:ext cx="180242" cy="176487"/>
          </a:xfrm>
          <a:prstGeom prst="roundRect">
            <a:avLst>
              <a:gd name="adj" fmla="val 41449"/>
            </a:avLst>
          </a:prstGeom>
          <a:solidFill>
            <a:srgbClr val="E4F2FB"/>
          </a:solidFill>
          <a:ln w="15240">
            <a:solidFill>
              <a:srgbClr val="0072B2"/>
            </a:solidFill>
            <a:prstDash val="solid"/>
          </a:ln>
        </p:spPr>
      </p:sp>
      <p:sp>
        <p:nvSpPr>
          <p:cNvPr id="25" name="Shape 23"/>
          <p:cNvSpPr/>
          <p:nvPr/>
        </p:nvSpPr>
        <p:spPr>
          <a:xfrm>
            <a:off x="2982584" y="2074324"/>
            <a:ext cx="180242" cy="176487"/>
          </a:xfrm>
          <a:prstGeom prst="rect">
            <a:avLst/>
          </a:prstGeom>
          <a:solidFill>
            <a:srgbClr val="E5F7EF"/>
          </a:solidFill>
          <a:ln w="15240">
            <a:solidFill>
              <a:srgbClr val="009E73"/>
            </a:solidFill>
            <a:prstDash val="solid"/>
          </a:ln>
        </p:spPr>
      </p:sp>
      <p:sp>
        <p:nvSpPr>
          <p:cNvPr id="26" name="Shape 24"/>
          <p:cNvSpPr/>
          <p:nvPr/>
        </p:nvSpPr>
        <p:spPr>
          <a:xfrm>
            <a:off x="5112712" y="2074324"/>
            <a:ext cx="180242" cy="176487"/>
          </a:xfrm>
          <a:prstGeom prst="roundRect">
            <a:avLst>
              <a:gd name="adj" fmla="val 41449"/>
            </a:avLst>
          </a:prstGeom>
          <a:solidFill>
            <a:srgbClr val="FFF0E6"/>
          </a:solidFill>
          <a:ln w="15240">
            <a:solidFill>
              <a:srgbClr val="D55E00"/>
            </a:solidFill>
            <a:prstDash val="solid"/>
          </a:ln>
        </p:spPr>
      </p:sp>
      <p:sp>
        <p:nvSpPr>
          <p:cNvPr id="27" name="Shape 25"/>
          <p:cNvSpPr/>
          <p:nvPr/>
        </p:nvSpPr>
        <p:spPr>
          <a:xfrm>
            <a:off x="7242839" y="2074324"/>
            <a:ext cx="180242" cy="176487"/>
          </a:xfrm>
          <a:prstGeom prst="roundRect">
            <a:avLst>
              <a:gd name="adj" fmla="val 41449"/>
            </a:avLst>
          </a:prstGeom>
          <a:solidFill>
            <a:srgbClr val="F9EAF4"/>
          </a:solidFill>
          <a:ln w="15240">
            <a:solidFill>
              <a:srgbClr val="CC79A7"/>
            </a:solidFill>
            <a:prstDash val="solid"/>
          </a:ln>
        </p:spPr>
      </p:sp>
      <p:sp>
        <p:nvSpPr>
          <p:cNvPr id="28" name="Text 26"/>
          <p:cNvSpPr txBox="1"/>
          <p:nvPr/>
        </p:nvSpPr>
        <p:spPr>
          <a:xfrm>
            <a:off x="1027897" y="3590532"/>
            <a:ext cx="959966"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Input x</a:t>
            </a:r>
            <a:endParaRPr lang="en-US" sz="1960" dirty="0"/>
          </a:p>
        </p:txBody>
      </p:sp>
      <p:sp>
        <p:nvSpPr>
          <p:cNvPr id="29" name="Text 27"/>
          <p:cNvSpPr txBox="1"/>
          <p:nvPr/>
        </p:nvSpPr>
        <p:spPr>
          <a:xfrm>
            <a:off x="3910077" y="2577479"/>
            <a:ext cx="848637"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W</a:t>
            </a:r>
            <a:endParaRPr lang="en-US" sz="1867" dirty="0"/>
          </a:p>
        </p:txBody>
      </p:sp>
      <p:sp>
        <p:nvSpPr>
          <p:cNvPr id="30" name="Text 28"/>
          <p:cNvSpPr txBox="1"/>
          <p:nvPr/>
        </p:nvSpPr>
        <p:spPr>
          <a:xfrm>
            <a:off x="3910077" y="2852469"/>
            <a:ext cx="848637"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frozen</a:t>
            </a:r>
            <a:endParaRPr lang="en-US" sz="1867" dirty="0"/>
          </a:p>
        </p:txBody>
      </p:sp>
      <p:sp>
        <p:nvSpPr>
          <p:cNvPr id="31" name="Text 29"/>
          <p:cNvSpPr txBox="1"/>
          <p:nvPr/>
        </p:nvSpPr>
        <p:spPr>
          <a:xfrm>
            <a:off x="3606346" y="4356094"/>
            <a:ext cx="104645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A</a:t>
            </a:r>
            <a:endParaRPr lang="en-US" sz="1773" dirty="0"/>
          </a:p>
        </p:txBody>
      </p:sp>
      <p:sp>
        <p:nvSpPr>
          <p:cNvPr id="32" name="Text 30"/>
          <p:cNvSpPr txBox="1"/>
          <p:nvPr/>
        </p:nvSpPr>
        <p:spPr>
          <a:xfrm>
            <a:off x="3606346" y="4617334"/>
            <a:ext cx="1046459" cy="261240"/>
          </a:xfrm>
          <a:prstGeom prst="rect">
            <a:avLst/>
          </a:prstGeom>
          <a:noFill/>
          <a:ln/>
        </p:spPr>
        <p:txBody>
          <a:bodyPr wrap="square" lIns="0" tIns="0" rIns="0" bIns="0" rtlCol="0" anchor="ctr"/>
          <a:lstStyle/>
          <a:p>
            <a:pPr algn="ctr" indent="0" marL="0">
              <a:lnSpc>
                <a:spcPct val="116000"/>
              </a:lnSpc>
              <a:buNone/>
            </a:pPr>
            <a:r>
              <a:rPr lang="en-US" sz="1773" b="1" dirty="0">
                <a:solidFill>
                  <a:srgbClr val="1E1B4B"/>
                </a:solidFill>
                <a:latin typeface="Arial" pitchFamily="34" charset="0"/>
                <a:ea typeface="Arial" pitchFamily="34" charset="-122"/>
                <a:cs typeface="Arial" pitchFamily="34" charset="-120"/>
              </a:rPr>
              <a:t>trainable</a:t>
            </a:r>
            <a:endParaRPr lang="en-US" sz="1773" dirty="0"/>
          </a:p>
        </p:txBody>
      </p:sp>
      <p:sp>
        <p:nvSpPr>
          <p:cNvPr id="33" name="Text 31"/>
          <p:cNvSpPr txBox="1"/>
          <p:nvPr/>
        </p:nvSpPr>
        <p:spPr>
          <a:xfrm>
            <a:off x="6366850" y="4369844"/>
            <a:ext cx="101462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B · α/r</a:t>
            </a:r>
            <a:endParaRPr lang="en-US" sz="1680" dirty="0"/>
          </a:p>
        </p:txBody>
      </p:sp>
      <p:sp>
        <p:nvSpPr>
          <p:cNvPr id="34" name="Text 32"/>
          <p:cNvSpPr txBox="1"/>
          <p:nvPr/>
        </p:nvSpPr>
        <p:spPr>
          <a:xfrm>
            <a:off x="6366850" y="4617334"/>
            <a:ext cx="1014627" cy="247491"/>
          </a:xfrm>
          <a:prstGeom prst="rect">
            <a:avLst/>
          </a:prstGeom>
          <a:noFill/>
          <a:ln/>
        </p:spPr>
        <p:txBody>
          <a:bodyPr wrap="square" lIns="0" tIns="0" rIns="0" bIns="0" rtlCol="0" anchor="ctr"/>
          <a:lstStyle/>
          <a:p>
            <a:pPr algn="ctr" indent="0" marL="0">
              <a:lnSpc>
                <a:spcPct val="116000"/>
              </a:lnSpc>
              <a:buNone/>
            </a:pPr>
            <a:r>
              <a:rPr lang="en-US" sz="1680" b="1" dirty="0">
                <a:solidFill>
                  <a:srgbClr val="1E1B4B"/>
                </a:solidFill>
                <a:latin typeface="Arial" pitchFamily="34" charset="0"/>
                <a:ea typeface="Arial" pitchFamily="34" charset="-122"/>
                <a:cs typeface="Arial" pitchFamily="34" charset="-120"/>
              </a:rPr>
              <a:t>trainable</a:t>
            </a:r>
            <a:endParaRPr lang="en-US" sz="1680" dirty="0"/>
          </a:p>
        </p:txBody>
      </p:sp>
      <p:sp>
        <p:nvSpPr>
          <p:cNvPr id="35" name="Text 33"/>
          <p:cNvSpPr txBox="1"/>
          <p:nvPr/>
        </p:nvSpPr>
        <p:spPr>
          <a:xfrm>
            <a:off x="8737513" y="3590532"/>
            <a:ext cx="615484"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Add</a:t>
            </a:r>
            <a:endParaRPr lang="en-US" sz="1960" dirty="0"/>
          </a:p>
        </p:txBody>
      </p:sp>
      <p:sp>
        <p:nvSpPr>
          <p:cNvPr id="36" name="Text 34"/>
          <p:cNvSpPr txBox="1"/>
          <p:nvPr/>
        </p:nvSpPr>
        <p:spPr>
          <a:xfrm>
            <a:off x="10531480" y="3569908"/>
            <a:ext cx="304670" cy="329988"/>
          </a:xfrm>
          <a:prstGeom prst="rect">
            <a:avLst/>
          </a:prstGeom>
          <a:noFill/>
          <a:ln/>
        </p:spPr>
        <p:txBody>
          <a:bodyPr wrap="square" lIns="0" tIns="0" rIns="0" bIns="0" rtlCol="0" anchor="ctr"/>
          <a:lstStyle/>
          <a:p>
            <a:pPr algn="ctr" indent="0" marL="0">
              <a:lnSpc>
                <a:spcPct val="116000"/>
              </a:lnSpc>
              <a:buNone/>
            </a:pPr>
            <a:r>
              <a:rPr lang="en-US" sz="2240" b="1" dirty="0">
                <a:solidFill>
                  <a:srgbClr val="1E1B4B"/>
                </a:solidFill>
                <a:latin typeface="Arial" pitchFamily="34" charset="0"/>
                <a:ea typeface="Arial" pitchFamily="34" charset="-122"/>
                <a:cs typeface="Arial" pitchFamily="34" charset="-120"/>
              </a:rPr>
              <a:t>h</a:t>
            </a:r>
            <a:endParaRPr lang="en-US" sz="2240" dirty="0"/>
          </a:p>
        </p:txBody>
      </p:sp>
      <p:sp>
        <p:nvSpPr>
          <p:cNvPr id="37" name="Text 35"/>
          <p:cNvSpPr txBox="1"/>
          <p:nvPr/>
        </p:nvSpPr>
        <p:spPr>
          <a:xfrm>
            <a:off x="2804220" y="2552256"/>
            <a:ext cx="438656"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x [k]</a:t>
            </a:r>
            <a:endParaRPr lang="en-US" sz="1493" dirty="0"/>
          </a:p>
        </p:txBody>
      </p:sp>
      <p:sp>
        <p:nvSpPr>
          <p:cNvPr id="38" name="Text 36"/>
          <p:cNvSpPr txBox="1"/>
          <p:nvPr/>
        </p:nvSpPr>
        <p:spPr>
          <a:xfrm>
            <a:off x="6817923" y="2552256"/>
            <a:ext cx="685976"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W x [d]</a:t>
            </a:r>
            <a:endParaRPr lang="en-US" sz="1493" dirty="0"/>
          </a:p>
        </p:txBody>
      </p:sp>
      <p:sp>
        <p:nvSpPr>
          <p:cNvPr id="39" name="Text 37"/>
          <p:cNvSpPr txBox="1"/>
          <p:nvPr/>
        </p:nvSpPr>
        <p:spPr>
          <a:xfrm>
            <a:off x="5110435" y="4317121"/>
            <a:ext cx="578050"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A x [r]</a:t>
            </a:r>
            <a:endParaRPr lang="en-US" sz="1493" dirty="0"/>
          </a:p>
        </p:txBody>
      </p:sp>
      <p:sp>
        <p:nvSpPr>
          <p:cNvPr id="40" name="Text 38"/>
          <p:cNvSpPr txBox="1"/>
          <p:nvPr/>
        </p:nvSpPr>
        <p:spPr>
          <a:xfrm>
            <a:off x="7971764" y="4317121"/>
            <a:ext cx="836135"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B(Ax) [d]</a:t>
            </a:r>
            <a:endParaRPr lang="en-US" sz="1493" dirty="0"/>
          </a:p>
        </p:txBody>
      </p:sp>
      <p:sp>
        <p:nvSpPr>
          <p:cNvPr id="41" name="Text 39"/>
          <p:cNvSpPr txBox="1"/>
          <p:nvPr/>
        </p:nvSpPr>
        <p:spPr>
          <a:xfrm>
            <a:off x="9756834" y="3434689"/>
            <a:ext cx="297330"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[d]</a:t>
            </a:r>
            <a:endParaRPr lang="en-US" sz="1493" dirty="0"/>
          </a:p>
        </p:txBody>
      </p:sp>
      <p:sp>
        <p:nvSpPr>
          <p:cNvPr id="42" name="Text 40"/>
          <p:cNvSpPr txBox="1"/>
          <p:nvPr/>
        </p:nvSpPr>
        <p:spPr>
          <a:xfrm>
            <a:off x="1131011" y="2052571"/>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43" name="Text 41"/>
          <p:cNvSpPr txBox="1"/>
          <p:nvPr/>
        </p:nvSpPr>
        <p:spPr>
          <a:xfrm>
            <a:off x="3261139" y="2052571"/>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44" name="Text 42"/>
          <p:cNvSpPr txBox="1"/>
          <p:nvPr/>
        </p:nvSpPr>
        <p:spPr>
          <a:xfrm>
            <a:off x="5391267" y="2052571"/>
            <a:ext cx="123361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Loss / update</a:t>
            </a:r>
            <a:endParaRPr lang="en-US" sz="1493" dirty="0"/>
          </a:p>
        </p:txBody>
      </p:sp>
      <p:sp>
        <p:nvSpPr>
          <p:cNvPr id="45" name="Text 43"/>
          <p:cNvSpPr txBox="1"/>
          <p:nvPr/>
        </p:nvSpPr>
        <p:spPr>
          <a:xfrm>
            <a:off x="7521395" y="2052571"/>
            <a:ext cx="65947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Output</a:t>
            </a:r>
            <a:endParaRPr lang="en-US" sz="1493"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LoRA in equations</a:t>
            </a:r>
            <a:endParaRPr lang="en-US" sz="3200" dirty="0"/>
          </a:p>
        </p:txBody>
      </p:sp>
      <p:sp>
        <p:nvSpPr>
          <p:cNvPr id="6" name="Shape 4"/>
          <p:cNvSpPr/>
          <p:nvPr/>
        </p:nvSpPr>
        <p:spPr>
          <a:xfrm>
            <a:off x="548640" y="1481328"/>
            <a:ext cx="11094415" cy="1828800"/>
          </a:xfrm>
          <a:prstGeom prst="roundRect">
            <a:avLst>
              <a:gd name="adj" fmla="val 6000"/>
            </a:avLst>
          </a:prstGeom>
          <a:solidFill>
            <a:srgbClr val="EEF0FF"/>
          </a:solidFill>
          <a:ln w="12700">
            <a:solidFill>
              <a:srgbClr val="EEF0FF"/>
            </a:solidFill>
            <a:prstDash val="solid"/>
          </a:ln>
        </p:spPr>
      </p:sp>
      <p:pic>
        <p:nvPicPr>
          <p:cNvPr id="7" name="Image 0" descr="C:\Users\sudee\Downloads\Generative_AI_2027_Teaching_Pack\AI2027_Project\build\eq\e4ddbd577bc01b80.png">    </p:cNvPr>
          <p:cNvPicPr>
            <a:picLocks noChangeAspect="1"/>
          </p:cNvPicPr>
          <p:nvPr/>
        </p:nvPicPr>
        <p:blipFill>
          <a:blip r:embed="rId1"/>
          <a:stretch>
            <a:fillRect/>
          </a:stretch>
        </p:blipFill>
        <p:spPr>
          <a:xfrm>
            <a:off x="2491588" y="1794256"/>
            <a:ext cx="7208520" cy="582168"/>
          </a:xfrm>
          <a:prstGeom prst="rect">
            <a:avLst/>
          </a:prstGeom>
        </p:spPr>
      </p:pic>
      <p:pic>
        <p:nvPicPr>
          <p:cNvPr id="8" name="Image 1" descr="C:\Users\sudee\Downloads\Generative_AI_2027_Teaching_Pack\AI2027_Project\build\eq\6ee89461ecf7754c.png">    </p:cNvPr>
          <p:cNvPicPr>
            <a:picLocks noChangeAspect="1"/>
          </p:cNvPicPr>
          <p:nvPr/>
        </p:nvPicPr>
        <p:blipFill>
          <a:blip r:embed="rId2"/>
          <a:stretch>
            <a:fillRect/>
          </a:stretch>
        </p:blipFill>
        <p:spPr>
          <a:xfrm>
            <a:off x="4294480" y="2643632"/>
            <a:ext cx="3602736" cy="353568"/>
          </a:xfrm>
          <a:prstGeom prst="rect">
            <a:avLst/>
          </a:prstGeom>
        </p:spPr>
      </p:pic>
      <p:sp>
        <p:nvSpPr>
          <p:cNvPr id="9" name="Text 5"/>
          <p:cNvSpPr txBox="1"/>
          <p:nvPr/>
        </p:nvSpPr>
        <p:spPr>
          <a:xfrm>
            <a:off x="548640" y="353872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10" name="Text 6"/>
          <p:cNvSpPr txBox="1"/>
          <p:nvPr/>
        </p:nvSpPr>
        <p:spPr>
          <a:xfrm>
            <a:off x="548640" y="3922776"/>
            <a:ext cx="6035040" cy="235915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W: 4096×4096.</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Rank 16: 131,072 weights.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Scale: α/r.</a:t>
            </a:r>
            <a:endParaRPr lang="en-US" sz="2000" dirty="0"/>
          </a:p>
        </p:txBody>
      </p:sp>
      <p:sp>
        <p:nvSpPr>
          <p:cNvPr id="11" name="Text 7"/>
          <p:cNvSpPr txBox="1"/>
          <p:nvPr/>
        </p:nvSpPr>
        <p:spPr>
          <a:xfrm>
            <a:off x="6858000" y="353872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2" name="Text 8"/>
          <p:cNvSpPr txBox="1"/>
          <p:nvPr/>
        </p:nvSpPr>
        <p:spPr>
          <a:xfrm>
            <a:off x="6858000" y="3950208"/>
            <a:ext cx="1143000" cy="58978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h / x</a:t>
            </a:r>
            <a:endParaRPr lang="en-US" sz="1800" dirty="0"/>
          </a:p>
        </p:txBody>
      </p:sp>
      <p:sp>
        <p:nvSpPr>
          <p:cNvPr id="13" name="Text 9"/>
          <p:cNvSpPr txBox="1"/>
          <p:nvPr/>
        </p:nvSpPr>
        <p:spPr>
          <a:xfrm>
            <a:off x="8046720" y="3950208"/>
            <a:ext cx="3596335" cy="58978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output / input</a:t>
            </a:r>
            <a:endParaRPr lang="en-US" sz="1700" dirty="0"/>
          </a:p>
        </p:txBody>
      </p:sp>
      <p:sp>
        <p:nvSpPr>
          <p:cNvPr id="14" name="Text 10"/>
          <p:cNvSpPr txBox="1"/>
          <p:nvPr/>
        </p:nvSpPr>
        <p:spPr>
          <a:xfrm>
            <a:off x="6858000" y="4539996"/>
            <a:ext cx="1143000" cy="58978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W / A / B</a:t>
            </a:r>
            <a:endParaRPr lang="en-US" sz="1800" dirty="0"/>
          </a:p>
        </p:txBody>
      </p:sp>
      <p:sp>
        <p:nvSpPr>
          <p:cNvPr id="15" name="Text 11"/>
          <p:cNvSpPr txBox="1"/>
          <p:nvPr/>
        </p:nvSpPr>
        <p:spPr>
          <a:xfrm>
            <a:off x="8046720" y="4539996"/>
            <a:ext cx="3596335" cy="58978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base / adapters</a:t>
            </a:r>
            <a:endParaRPr lang="en-US" sz="1700" dirty="0"/>
          </a:p>
        </p:txBody>
      </p:sp>
      <p:sp>
        <p:nvSpPr>
          <p:cNvPr id="16" name="Text 12"/>
          <p:cNvSpPr txBox="1"/>
          <p:nvPr/>
        </p:nvSpPr>
        <p:spPr>
          <a:xfrm>
            <a:off x="6858000" y="5129784"/>
            <a:ext cx="1143000" cy="58978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d / k</a:t>
            </a:r>
            <a:endParaRPr lang="en-US" sz="1800" dirty="0"/>
          </a:p>
        </p:txBody>
      </p:sp>
      <p:sp>
        <p:nvSpPr>
          <p:cNvPr id="17" name="Text 13"/>
          <p:cNvSpPr txBox="1"/>
          <p:nvPr/>
        </p:nvSpPr>
        <p:spPr>
          <a:xfrm>
            <a:off x="8046720" y="5129784"/>
            <a:ext cx="3596335" cy="58978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widths: output / input</a:t>
            </a:r>
            <a:endParaRPr lang="en-US" sz="1700" dirty="0"/>
          </a:p>
        </p:txBody>
      </p:sp>
      <p:sp>
        <p:nvSpPr>
          <p:cNvPr id="18" name="Text 14"/>
          <p:cNvSpPr txBox="1"/>
          <p:nvPr/>
        </p:nvSpPr>
        <p:spPr>
          <a:xfrm>
            <a:off x="6858000" y="5719572"/>
            <a:ext cx="1143000" cy="589788"/>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r / α</a:t>
            </a:r>
            <a:endParaRPr lang="en-US" sz="1800" dirty="0"/>
          </a:p>
        </p:txBody>
      </p:sp>
      <p:sp>
        <p:nvSpPr>
          <p:cNvPr id="19" name="Text 15"/>
          <p:cNvSpPr txBox="1"/>
          <p:nvPr/>
        </p:nvSpPr>
        <p:spPr>
          <a:xfrm>
            <a:off x="8046720" y="5719572"/>
            <a:ext cx="3596335" cy="589788"/>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rank / scale</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many weights does LoRA train? (the lab model)</a:t>
            </a:r>
            <a:endParaRPr lang="en-US" sz="3200" dirty="0"/>
          </a:p>
        </p:txBody>
      </p:sp>
      <p:pic>
        <p:nvPicPr>
          <p:cNvPr id="6" name="Image 0" descr="C:\Users\sudee\Downloads\Generative_AI_2027_Teaching_Pack\AI2027_Project\build\figures\week_08\param_compare.png">    </p:cNvPr>
          <p:cNvPicPr>
            <a:picLocks noChangeAspect="1"/>
          </p:cNvPicPr>
          <p:nvPr/>
        </p:nvPicPr>
        <p:blipFill>
          <a:blip r:embed="rId1"/>
          <a:stretch>
            <a:fillRect/>
          </a:stretch>
        </p:blipFill>
        <p:spPr>
          <a:xfrm>
            <a:off x="1655825" y="1481328"/>
            <a:ext cx="8880046" cy="3367278"/>
          </a:xfrm>
          <a:prstGeom prst="rect">
            <a:avLst/>
          </a:prstGeom>
        </p:spPr>
      </p:pic>
      <p:sp>
        <p:nvSpPr>
          <p:cNvPr id="7" name="Text 4"/>
          <p:cNvSpPr txBox="1"/>
          <p:nvPr/>
        </p:nvSpPr>
        <p:spPr>
          <a:xfrm>
            <a:off x="548640" y="503148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LoRA (r = 16, attention projections) trains 2,162,688 of 496,195,456 parameters (0.44%).</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Lab CPU core, rank 8: 1,081,344 (0.22%).</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Memory also holds frozen weights.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QLoRA: fine-tune on top of a 4-bit model</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Frozen base stored in 4-bit.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LoRA paths train in higher precision.</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Measure memory and speed.</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Idea</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Purpose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NF4</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4-bit weight format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Double quantisation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Smaller scales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Paged optimiser</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Absorb memory spikes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Parameter-efficient methods compared</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43416"/>
                <a:gridCol w="4075499"/>
                <a:gridCol w="407549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Trains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Watch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LoRA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Low-rank paths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Rank; layers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QLoRA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LoRA on 4-bit base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Speed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Adapters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Bottleneck layers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Latency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Prompt tuning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Input vectors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Quality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Prefix tuning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Per-layer prefixes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Quality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Full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Every weight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Memory; forgetting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Rough GPU memory to fine-tune a 7–8 B model</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5388716"/>
                <a:gridCol w="2535866"/>
                <a:gridCol w="3169833"/>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Approach</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Total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Full, 16-bit Adam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 15 GB</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 120+ GB</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LoRA, 16-bit base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 15 GB</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 18–24 GB</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QLoRA, 4-bit base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 4–5 GB</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 7–12 GB</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Illustrative; measure your setup.</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Knowledge distillation: big teacher, small student</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Student imitates a larger teacher.</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Targets: probabilities or examples.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quality, speed and rights.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Teacher</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Large model labels messages</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Student</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Small model learns the labels</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Domain adaptation in practice</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we fine-tune for a real domain and prove it worked?</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From examples to a saved adapter</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Train, then validate</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chat pairs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adapter</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checked adapter</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 split</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labelled</a:t>
            </a:r>
            <a:endParaRPr lang="en-US" sz="1441" dirty="0"/>
          </a:p>
        </p:txBody>
      </p:sp>
      <p:sp>
        <p:nvSpPr>
          <p:cNvPr id="18" name="Shape 16"/>
          <p:cNvSpPr/>
          <p:nvPr/>
        </p:nvSpPr>
        <p:spPr>
          <a:xfrm>
            <a:off x="2960139" y="2939089"/>
            <a:ext cx="1927790" cy="1799677"/>
          </a:xfrm>
          <a:prstGeom prst="rect">
            <a:avLst/>
          </a:prstGeom>
          <a:solidFill>
            <a:srgbClr val="F2F4F5"/>
          </a:solidFill>
          <a:ln w="15240">
            <a:solidFill>
              <a:srgbClr val="626B73"/>
            </a:solidFill>
            <a:prstDash val="solid"/>
          </a:ln>
        </p:spPr>
      </p:sp>
      <p:sp>
        <p:nvSpPr>
          <p:cNvPr id="19" name="Text 17"/>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Format</a:t>
            </a:r>
            <a:endParaRPr lang="en-US" sz="1561" dirty="0"/>
          </a:p>
        </p:txBody>
      </p:sp>
      <p:sp>
        <p:nvSpPr>
          <p:cNvPr id="20" name="Text 18"/>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prompt + answer</a:t>
            </a:r>
            <a:endParaRPr lang="en-US" sz="1441" dirty="0"/>
          </a:p>
        </p:txBody>
      </p:sp>
      <p:sp>
        <p:nvSpPr>
          <p:cNvPr id="21" name="Text 19"/>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to_chat</a:t>
            </a:r>
            <a:endParaRPr lang="en-US" sz="1441" dirty="0"/>
          </a:p>
        </p:txBody>
      </p:sp>
      <p:sp>
        <p:nvSpPr>
          <p:cNvPr id="22" name="Shape 20"/>
          <p:cNvSpPr/>
          <p:nvPr/>
        </p:nvSpPr>
        <p:spPr>
          <a:xfrm>
            <a:off x="5131953" y="2939089"/>
            <a:ext cx="1927790" cy="1799677"/>
          </a:xfrm>
          <a:prstGeom prst="roundRect">
            <a:avLst>
              <a:gd name="adj" fmla="val 4065"/>
            </a:avLst>
          </a:prstGeom>
          <a:solidFill>
            <a:srgbClr val="FFF0E6"/>
          </a:solidFill>
          <a:ln w="15240">
            <a:solidFill>
              <a:srgbClr val="D55E00"/>
            </a:solidFill>
            <a:prstDash val="solid"/>
          </a:ln>
        </p:spPr>
      </p:sp>
      <p:sp>
        <p:nvSpPr>
          <p:cNvPr id="23" name="Text 21"/>
          <p:cNvSpPr txBox="1"/>
          <p:nvPr/>
        </p:nvSpPr>
        <p:spPr>
          <a:xfrm>
            <a:off x="5192959"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Train</a:t>
            </a:r>
            <a:endParaRPr lang="en-US" sz="1561" dirty="0"/>
          </a:p>
        </p:txBody>
      </p:sp>
      <p:sp>
        <p:nvSpPr>
          <p:cNvPr id="24" name="Text 22"/>
          <p:cNvSpPr txBox="1"/>
          <p:nvPr/>
        </p:nvSpPr>
        <p:spPr>
          <a:xfrm>
            <a:off x="5192959"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one epoch</a:t>
            </a:r>
            <a:endParaRPr lang="en-US" sz="1441" dirty="0"/>
          </a:p>
        </p:txBody>
      </p:sp>
      <p:sp>
        <p:nvSpPr>
          <p:cNvPr id="25" name="Text 23"/>
          <p:cNvSpPr txBox="1"/>
          <p:nvPr/>
        </p:nvSpPr>
        <p:spPr>
          <a:xfrm>
            <a:off x="5154830"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trainer</a:t>
            </a:r>
            <a:endParaRPr lang="en-US" sz="1441" dirty="0"/>
          </a:p>
        </p:txBody>
      </p:sp>
      <p:sp>
        <p:nvSpPr>
          <p:cNvPr id="26" name="Shape 24"/>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27" name="Text 25"/>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Validate</a:t>
            </a:r>
            <a:endParaRPr lang="en-US" sz="1561" dirty="0"/>
          </a:p>
        </p:txBody>
      </p:sp>
      <p:sp>
        <p:nvSpPr>
          <p:cNvPr id="28" name="Text 26"/>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loss on new</a:t>
            </a:r>
            <a:endParaRPr lang="en-US" sz="1441" dirty="0"/>
          </a:p>
        </p:txBody>
      </p:sp>
      <p:sp>
        <p:nvSpPr>
          <p:cNvPr id="29" name="Shape 27"/>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30" name="Text 28"/>
          <p:cNvSpPr txBox="1"/>
          <p:nvPr/>
        </p:nvSpPr>
        <p:spPr>
          <a:xfrm>
            <a:off x="9536586"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Save</a:t>
            </a:r>
            <a:endParaRPr lang="en-US" sz="1561" dirty="0"/>
          </a:p>
        </p:txBody>
      </p:sp>
      <p:sp>
        <p:nvSpPr>
          <p:cNvPr id="31" name="Text 29"/>
          <p:cNvSpPr txBox="1"/>
          <p:nvPr/>
        </p:nvSpPr>
        <p:spPr>
          <a:xfrm>
            <a:off x="9536586"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adapter files</a:t>
            </a:r>
            <a:endParaRPr lang="en-US" sz="1441" dirty="0"/>
          </a:p>
        </p:txBody>
      </p:sp>
      <p:sp>
        <p:nvSpPr>
          <p:cNvPr id="32" name="Text 30"/>
          <p:cNvSpPr txBox="1"/>
          <p:nvPr/>
        </p:nvSpPr>
        <p:spPr>
          <a:xfrm>
            <a:off x="9498458"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save_pretrained</a:t>
            </a:r>
            <a:endParaRPr lang="en-US" sz="1441" dirty="0"/>
          </a:p>
        </p:txBody>
      </p:sp>
      <p:sp>
        <p:nvSpPr>
          <p:cNvPr id="33" name="Shape 3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4" name="Text 3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5" name="Shape 33"/>
          <p:cNvSpPr/>
          <p:nvPr/>
        </p:nvSpPr>
        <p:spPr>
          <a:xfrm>
            <a:off x="1676436" y="5630979"/>
            <a:ext cx="198270" cy="198270"/>
          </a:xfrm>
          <a:prstGeom prst="roundRect">
            <a:avLst>
              <a:gd name="adj" fmla="val 36895"/>
            </a:avLst>
          </a:prstGeom>
          <a:solidFill>
            <a:srgbClr val="FFF0E6"/>
          </a:solidFill>
          <a:ln w="15240">
            <a:solidFill>
              <a:srgbClr val="D55E00"/>
            </a:solidFill>
            <a:prstDash val="solid"/>
          </a:ln>
        </p:spPr>
      </p:sp>
      <p:sp>
        <p:nvSpPr>
          <p:cNvPr id="36" name="Text 34"/>
          <p:cNvSpPr txBox="1"/>
          <p:nvPr/>
        </p:nvSpPr>
        <p:spPr>
          <a:xfrm>
            <a:off x="1935711"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37" name="Shape 35"/>
          <p:cNvSpPr/>
          <p:nvPr/>
        </p:nvSpPr>
        <p:spPr>
          <a:xfrm>
            <a:off x="2564547" y="5630979"/>
            <a:ext cx="198270" cy="198270"/>
          </a:xfrm>
          <a:prstGeom prst="roundRect">
            <a:avLst>
              <a:gd name="adj" fmla="val 36895"/>
            </a:avLst>
          </a:prstGeom>
          <a:solidFill>
            <a:srgbClr val="FFF0E6"/>
          </a:solidFill>
          <a:ln w="15240">
            <a:solidFill>
              <a:srgbClr val="D55E00"/>
            </a:solidFill>
            <a:prstDash val="solid"/>
          </a:ln>
        </p:spPr>
      </p:sp>
      <p:sp>
        <p:nvSpPr>
          <p:cNvPr id="38" name="Text 36"/>
          <p:cNvSpPr txBox="1"/>
          <p:nvPr/>
        </p:nvSpPr>
        <p:spPr>
          <a:xfrm>
            <a:off x="2823822"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9" name="Shape 37"/>
          <p:cNvSpPr/>
          <p:nvPr/>
        </p:nvSpPr>
        <p:spPr>
          <a:xfrm>
            <a:off x="3589421" y="5630979"/>
            <a:ext cx="198270" cy="198270"/>
          </a:xfrm>
          <a:prstGeom prst="roundRect">
            <a:avLst>
              <a:gd name="adj" fmla="val 36895"/>
            </a:avLst>
          </a:prstGeom>
          <a:solidFill>
            <a:srgbClr val="F9EAF4"/>
          </a:solidFill>
          <a:ln w="15240">
            <a:solidFill>
              <a:srgbClr val="CC79A7"/>
            </a:solidFill>
            <a:prstDash val="solid"/>
          </a:ln>
        </p:spPr>
      </p:sp>
      <p:sp>
        <p:nvSpPr>
          <p:cNvPr id="40" name="Text 38"/>
          <p:cNvSpPr txBox="1"/>
          <p:nvPr/>
        </p:nvSpPr>
        <p:spPr>
          <a:xfrm>
            <a:off x="3848697"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1" name="Shape 39"/>
          <p:cNvSpPr/>
          <p:nvPr/>
        </p:nvSpPr>
        <p:spPr>
          <a:xfrm>
            <a:off x="4646119" y="5630979"/>
            <a:ext cx="198270" cy="198270"/>
          </a:xfrm>
          <a:prstGeom prst="rect">
            <a:avLst/>
          </a:prstGeom>
          <a:solidFill>
            <a:srgbClr val="F2F4F5"/>
          </a:solidFill>
          <a:ln w="15240">
            <a:solidFill>
              <a:srgbClr val="626B73"/>
            </a:solidFill>
            <a:prstDash val="solid"/>
          </a:ln>
        </p:spPr>
      </p:sp>
      <p:sp>
        <p:nvSpPr>
          <p:cNvPr id="42" name="Text 40"/>
          <p:cNvSpPr txBox="1"/>
          <p:nvPr/>
        </p:nvSpPr>
        <p:spPr>
          <a:xfrm>
            <a:off x="490539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3" name="Shape 41"/>
          <p:cNvSpPr/>
          <p:nvPr/>
        </p:nvSpPr>
        <p:spPr>
          <a:xfrm>
            <a:off x="5502596" y="5730113"/>
            <a:ext cx="335533" cy="0"/>
          </a:xfrm>
          <a:prstGeom prst="line">
            <a:avLst/>
          </a:prstGeom>
          <a:noFill/>
          <a:ln w="22860">
            <a:solidFill>
              <a:srgbClr val="009E73"/>
            </a:solidFill>
            <a:prstDash val="solid"/>
            <a:tailEnd type="triangle"/>
          </a:ln>
        </p:spPr>
      </p:sp>
      <p:sp>
        <p:nvSpPr>
          <p:cNvPr id="44" name="Text 42"/>
          <p:cNvSpPr txBox="1"/>
          <p:nvPr/>
        </p:nvSpPr>
        <p:spPr>
          <a:xfrm>
            <a:off x="589913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5" name="Text 4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Is the base saved?</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domain fine-tuning workflow</a:t>
            </a:r>
            <a:endParaRPr lang="en-US" sz="3200" dirty="0"/>
          </a:p>
        </p:txBody>
      </p:sp>
      <p:sp>
        <p:nvSpPr>
          <p:cNvPr id="6" name="Shape 4"/>
          <p:cNvSpPr/>
          <p:nvPr/>
        </p:nvSpPr>
        <p:spPr>
          <a:xfrm>
            <a:off x="2681233" y="3841413"/>
            <a:ext cx="246543" cy="0"/>
          </a:xfrm>
          <a:prstGeom prst="line">
            <a:avLst/>
          </a:prstGeom>
          <a:noFill/>
          <a:ln w="22860">
            <a:solidFill>
              <a:srgbClr val="009E73"/>
            </a:solidFill>
            <a:prstDash val="solid"/>
            <a:tailEnd type="triangle"/>
          </a:ln>
        </p:spPr>
      </p:sp>
      <p:sp>
        <p:nvSpPr>
          <p:cNvPr id="7" name="Text 5"/>
          <p:cNvSpPr txBox="1"/>
          <p:nvPr/>
        </p:nvSpPr>
        <p:spPr>
          <a:xfrm>
            <a:off x="1995537" y="284106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metric</a:t>
            </a:r>
            <a:endParaRPr lang="en-US" sz="1456" dirty="0"/>
          </a:p>
        </p:txBody>
      </p:sp>
      <p:sp>
        <p:nvSpPr>
          <p:cNvPr id="8" name="Shape 6"/>
          <p:cNvSpPr/>
          <p:nvPr/>
        </p:nvSpPr>
        <p:spPr>
          <a:xfrm>
            <a:off x="4875462" y="3841413"/>
            <a:ext cx="246543" cy="0"/>
          </a:xfrm>
          <a:prstGeom prst="line">
            <a:avLst/>
          </a:prstGeom>
          <a:noFill/>
          <a:ln w="22860">
            <a:solidFill>
              <a:srgbClr val="009E73"/>
            </a:solidFill>
            <a:prstDash val="solid"/>
            <a:tailEnd type="triangle"/>
          </a:ln>
        </p:spPr>
      </p:sp>
      <p:sp>
        <p:nvSpPr>
          <p:cNvPr id="9" name="Text 7"/>
          <p:cNvSpPr txBox="1"/>
          <p:nvPr/>
        </p:nvSpPr>
        <p:spPr>
          <a:xfrm>
            <a:off x="4189765" y="284106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splits</a:t>
            </a:r>
            <a:endParaRPr lang="en-US" sz="1456" dirty="0"/>
          </a:p>
        </p:txBody>
      </p:sp>
      <p:sp>
        <p:nvSpPr>
          <p:cNvPr id="10" name="Shape 8"/>
          <p:cNvSpPr/>
          <p:nvPr/>
        </p:nvSpPr>
        <p:spPr>
          <a:xfrm>
            <a:off x="7069691" y="3841413"/>
            <a:ext cx="246543" cy="0"/>
          </a:xfrm>
          <a:prstGeom prst="line">
            <a:avLst/>
          </a:prstGeom>
          <a:noFill/>
          <a:ln w="22860">
            <a:solidFill>
              <a:srgbClr val="009E73"/>
            </a:solidFill>
            <a:prstDash val="solid"/>
            <a:tailEnd type="triangle"/>
          </a:ln>
        </p:spPr>
      </p:sp>
      <p:sp>
        <p:nvSpPr>
          <p:cNvPr id="11" name="Text 9"/>
          <p:cNvSpPr txBox="1"/>
          <p:nvPr/>
        </p:nvSpPr>
        <p:spPr>
          <a:xfrm>
            <a:off x="6383994" y="284106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score to beat</a:t>
            </a:r>
            <a:endParaRPr lang="en-US" sz="1456" dirty="0"/>
          </a:p>
        </p:txBody>
      </p:sp>
      <p:sp>
        <p:nvSpPr>
          <p:cNvPr id="12" name="Shape 10"/>
          <p:cNvSpPr/>
          <p:nvPr/>
        </p:nvSpPr>
        <p:spPr>
          <a:xfrm>
            <a:off x="9263919" y="3841413"/>
            <a:ext cx="246543" cy="0"/>
          </a:xfrm>
          <a:prstGeom prst="line">
            <a:avLst/>
          </a:prstGeom>
          <a:noFill/>
          <a:ln w="22860">
            <a:solidFill>
              <a:srgbClr val="009E73"/>
            </a:solidFill>
            <a:prstDash val="solid"/>
            <a:tailEnd type="triangle"/>
          </a:ln>
        </p:spPr>
      </p:sp>
      <p:sp>
        <p:nvSpPr>
          <p:cNvPr id="13" name="Text 11"/>
          <p:cNvSpPr txBox="1"/>
          <p:nvPr/>
        </p:nvSpPr>
        <p:spPr>
          <a:xfrm>
            <a:off x="8578223" y="284106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adapter</a:t>
            </a:r>
            <a:endParaRPr lang="en-US" sz="1456" dirty="0"/>
          </a:p>
        </p:txBody>
      </p:sp>
      <p:sp>
        <p:nvSpPr>
          <p:cNvPr id="14" name="Shape 12"/>
          <p:cNvSpPr/>
          <p:nvPr/>
        </p:nvSpPr>
        <p:spPr>
          <a:xfrm>
            <a:off x="733547" y="3117194"/>
            <a:ext cx="1947686" cy="1448438"/>
          </a:xfrm>
          <a:prstGeom prst="rect">
            <a:avLst/>
          </a:prstGeom>
          <a:solidFill>
            <a:srgbClr val="F2F4F5"/>
          </a:solidFill>
          <a:ln w="15240">
            <a:solidFill>
              <a:srgbClr val="626B73"/>
            </a:solidFill>
            <a:prstDash val="solid"/>
          </a:ln>
        </p:spPr>
      </p:sp>
      <p:sp>
        <p:nvSpPr>
          <p:cNvPr id="15" name="Text 13"/>
          <p:cNvSpPr txBox="1"/>
          <p:nvPr/>
        </p:nvSpPr>
        <p:spPr>
          <a:xfrm>
            <a:off x="795183" y="357946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Define task</a:t>
            </a:r>
            <a:endParaRPr lang="en-US" sz="1577" dirty="0"/>
          </a:p>
        </p:txBody>
      </p:sp>
      <p:sp>
        <p:nvSpPr>
          <p:cNvPr id="16" name="Text 14"/>
          <p:cNvSpPr txBox="1"/>
          <p:nvPr/>
        </p:nvSpPr>
        <p:spPr>
          <a:xfrm>
            <a:off x="795183" y="388887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Metric; final test</a:t>
            </a:r>
            <a:endParaRPr lang="en-US" sz="1456" dirty="0"/>
          </a:p>
        </p:txBody>
      </p:sp>
      <p:sp>
        <p:nvSpPr>
          <p:cNvPr id="17" name="Shape 15"/>
          <p:cNvSpPr/>
          <p:nvPr/>
        </p:nvSpPr>
        <p:spPr>
          <a:xfrm>
            <a:off x="2927776" y="3117194"/>
            <a:ext cx="1947686" cy="1448438"/>
          </a:xfrm>
          <a:prstGeom prst="roundRect">
            <a:avLst>
              <a:gd name="adj" fmla="val 5050"/>
            </a:avLst>
          </a:prstGeom>
          <a:solidFill>
            <a:srgbClr val="E4F2FB"/>
          </a:solidFill>
          <a:ln w="15240">
            <a:solidFill>
              <a:srgbClr val="0072B2"/>
            </a:solidFill>
            <a:prstDash val="solid"/>
          </a:ln>
        </p:spPr>
      </p:sp>
      <p:sp>
        <p:nvSpPr>
          <p:cNvPr id="18" name="Text 16"/>
          <p:cNvSpPr txBox="1"/>
          <p:nvPr/>
        </p:nvSpPr>
        <p:spPr>
          <a:xfrm>
            <a:off x="2989411" y="357946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Prepare data</a:t>
            </a:r>
            <a:endParaRPr lang="en-US" sz="1577" dirty="0"/>
          </a:p>
        </p:txBody>
      </p:sp>
      <p:sp>
        <p:nvSpPr>
          <p:cNvPr id="19" name="Text 17"/>
          <p:cNvSpPr txBox="1"/>
          <p:nvPr/>
        </p:nvSpPr>
        <p:spPr>
          <a:xfrm>
            <a:off x="2989411" y="388887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Clean; split</a:t>
            </a:r>
            <a:endParaRPr lang="en-US" sz="1456" dirty="0"/>
          </a:p>
        </p:txBody>
      </p:sp>
      <p:sp>
        <p:nvSpPr>
          <p:cNvPr id="20" name="Shape 18"/>
          <p:cNvSpPr/>
          <p:nvPr/>
        </p:nvSpPr>
        <p:spPr>
          <a:xfrm>
            <a:off x="5122004" y="3117194"/>
            <a:ext cx="1947686" cy="1448438"/>
          </a:xfrm>
          <a:prstGeom prst="roundRect">
            <a:avLst>
              <a:gd name="adj" fmla="val 5050"/>
            </a:avLst>
          </a:prstGeom>
          <a:solidFill>
            <a:srgbClr val="FFF0E6"/>
          </a:solidFill>
          <a:ln w="15240">
            <a:solidFill>
              <a:srgbClr val="D55E00"/>
            </a:solidFill>
            <a:prstDash val="solid"/>
          </a:ln>
        </p:spPr>
      </p:sp>
      <p:sp>
        <p:nvSpPr>
          <p:cNvPr id="21" name="Text 19"/>
          <p:cNvSpPr txBox="1"/>
          <p:nvPr/>
        </p:nvSpPr>
        <p:spPr>
          <a:xfrm>
            <a:off x="5183640" y="357946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Baseline</a:t>
            </a:r>
            <a:endParaRPr lang="en-US" sz="1577" dirty="0"/>
          </a:p>
        </p:txBody>
      </p:sp>
      <p:sp>
        <p:nvSpPr>
          <p:cNvPr id="22" name="Text 20"/>
          <p:cNvSpPr txBox="1"/>
          <p:nvPr/>
        </p:nvSpPr>
        <p:spPr>
          <a:xfrm>
            <a:off x="5183640" y="388887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Best prompt</a:t>
            </a:r>
            <a:endParaRPr lang="en-US" sz="1456" dirty="0"/>
          </a:p>
        </p:txBody>
      </p:sp>
      <p:sp>
        <p:nvSpPr>
          <p:cNvPr id="23" name="Shape 21"/>
          <p:cNvSpPr/>
          <p:nvPr/>
        </p:nvSpPr>
        <p:spPr>
          <a:xfrm>
            <a:off x="7316233" y="3117194"/>
            <a:ext cx="1947686" cy="1448438"/>
          </a:xfrm>
          <a:prstGeom prst="rect">
            <a:avLst/>
          </a:prstGeom>
          <a:solidFill>
            <a:srgbClr val="E5F7EF"/>
          </a:solidFill>
          <a:ln w="15240">
            <a:solidFill>
              <a:srgbClr val="009E73"/>
            </a:solidFill>
            <a:prstDash val="solid"/>
          </a:ln>
        </p:spPr>
      </p:sp>
      <p:sp>
        <p:nvSpPr>
          <p:cNvPr id="24" name="Text 22"/>
          <p:cNvSpPr txBox="1"/>
          <p:nvPr/>
        </p:nvSpPr>
        <p:spPr>
          <a:xfrm>
            <a:off x="7377869" y="357946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LoRA SFT</a:t>
            </a:r>
            <a:endParaRPr lang="en-US" sz="1577" dirty="0"/>
          </a:p>
        </p:txBody>
      </p:sp>
      <p:sp>
        <p:nvSpPr>
          <p:cNvPr id="25" name="Text 23"/>
          <p:cNvSpPr txBox="1"/>
          <p:nvPr/>
        </p:nvSpPr>
        <p:spPr>
          <a:xfrm>
            <a:off x="7377869" y="388887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Watch validation</a:t>
            </a:r>
            <a:endParaRPr lang="en-US" sz="1456" dirty="0"/>
          </a:p>
        </p:txBody>
      </p:sp>
      <p:sp>
        <p:nvSpPr>
          <p:cNvPr id="26" name="Shape 24"/>
          <p:cNvSpPr/>
          <p:nvPr/>
        </p:nvSpPr>
        <p:spPr>
          <a:xfrm>
            <a:off x="9510462" y="3117194"/>
            <a:ext cx="1947686" cy="1448438"/>
          </a:xfrm>
          <a:prstGeom prst="roundRect">
            <a:avLst>
              <a:gd name="adj" fmla="val 5050"/>
            </a:avLst>
          </a:prstGeom>
          <a:solidFill>
            <a:srgbClr val="F9EAF4"/>
          </a:solidFill>
          <a:ln w="15240">
            <a:solidFill>
              <a:srgbClr val="CC79A7"/>
            </a:solidFill>
            <a:prstDash val="solid"/>
          </a:ln>
        </p:spPr>
      </p:sp>
      <p:sp>
        <p:nvSpPr>
          <p:cNvPr id="27" name="Text 25"/>
          <p:cNvSpPr txBox="1"/>
          <p:nvPr/>
        </p:nvSpPr>
        <p:spPr>
          <a:xfrm>
            <a:off x="9572098" y="357946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Evaluate</a:t>
            </a:r>
            <a:endParaRPr lang="en-US" sz="1577" dirty="0"/>
          </a:p>
        </p:txBody>
      </p:sp>
      <p:sp>
        <p:nvSpPr>
          <p:cNvPr id="28" name="Text 26"/>
          <p:cNvSpPr txBox="1"/>
          <p:nvPr/>
        </p:nvSpPr>
        <p:spPr>
          <a:xfrm>
            <a:off x="9572098" y="388887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Task, safety, cost</a:t>
            </a:r>
            <a:endParaRPr lang="en-US" sz="1456" dirty="0"/>
          </a:p>
        </p:txBody>
      </p:sp>
      <p:sp>
        <p:nvSpPr>
          <p:cNvPr id="29" name="Shape 27"/>
          <p:cNvSpPr/>
          <p:nvPr/>
        </p:nvSpPr>
        <p:spPr>
          <a:xfrm>
            <a:off x="733547" y="4835288"/>
            <a:ext cx="200316" cy="200316"/>
          </a:xfrm>
          <a:prstGeom prst="roundRect">
            <a:avLst>
              <a:gd name="adj" fmla="val 36518"/>
            </a:avLst>
          </a:prstGeom>
          <a:solidFill>
            <a:srgbClr val="E4F2FB"/>
          </a:solidFill>
          <a:ln w="15240">
            <a:solidFill>
              <a:srgbClr val="0072B2"/>
            </a:solidFill>
            <a:prstDash val="solid"/>
          </a:ln>
        </p:spPr>
      </p:sp>
      <p:sp>
        <p:nvSpPr>
          <p:cNvPr id="30" name="Text 28"/>
          <p:cNvSpPr txBox="1"/>
          <p:nvPr/>
        </p:nvSpPr>
        <p:spPr>
          <a:xfrm>
            <a:off x="995498" y="4812174"/>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1" name="Shape 29"/>
          <p:cNvSpPr/>
          <p:nvPr/>
        </p:nvSpPr>
        <p:spPr>
          <a:xfrm>
            <a:off x="1630824" y="4835288"/>
            <a:ext cx="200316" cy="200316"/>
          </a:xfrm>
          <a:prstGeom prst="rect">
            <a:avLst/>
          </a:prstGeom>
          <a:solidFill>
            <a:srgbClr val="E5F7EF"/>
          </a:solidFill>
          <a:ln w="15240">
            <a:solidFill>
              <a:srgbClr val="009E73"/>
            </a:solidFill>
            <a:prstDash val="solid"/>
          </a:ln>
        </p:spPr>
      </p:sp>
      <p:sp>
        <p:nvSpPr>
          <p:cNvPr id="32" name="Text 30"/>
          <p:cNvSpPr txBox="1"/>
          <p:nvPr/>
        </p:nvSpPr>
        <p:spPr>
          <a:xfrm>
            <a:off x="1892775" y="4812174"/>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3" name="Shape 31"/>
          <p:cNvSpPr/>
          <p:nvPr/>
        </p:nvSpPr>
        <p:spPr>
          <a:xfrm>
            <a:off x="2645033" y="4835288"/>
            <a:ext cx="200316" cy="200316"/>
          </a:xfrm>
          <a:prstGeom prst="roundRect">
            <a:avLst>
              <a:gd name="adj" fmla="val 36518"/>
            </a:avLst>
          </a:prstGeom>
          <a:solidFill>
            <a:srgbClr val="FFF0E6"/>
          </a:solidFill>
          <a:ln w="15240">
            <a:solidFill>
              <a:srgbClr val="D55E00"/>
            </a:solidFill>
            <a:prstDash val="solid"/>
          </a:ln>
        </p:spPr>
      </p:sp>
      <p:sp>
        <p:nvSpPr>
          <p:cNvPr id="34" name="Text 32"/>
          <p:cNvSpPr txBox="1"/>
          <p:nvPr/>
        </p:nvSpPr>
        <p:spPr>
          <a:xfrm>
            <a:off x="2906984" y="481217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5" name="Shape 33"/>
          <p:cNvSpPr/>
          <p:nvPr/>
        </p:nvSpPr>
        <p:spPr>
          <a:xfrm>
            <a:off x="3680485" y="4835288"/>
            <a:ext cx="200316" cy="200316"/>
          </a:xfrm>
          <a:prstGeom prst="roundRect">
            <a:avLst>
              <a:gd name="adj" fmla="val 36518"/>
            </a:avLst>
          </a:prstGeom>
          <a:solidFill>
            <a:srgbClr val="F9EAF4"/>
          </a:solidFill>
          <a:ln w="15240">
            <a:solidFill>
              <a:srgbClr val="CC79A7"/>
            </a:solidFill>
            <a:prstDash val="solid"/>
          </a:ln>
        </p:spPr>
      </p:sp>
      <p:sp>
        <p:nvSpPr>
          <p:cNvPr id="36" name="Text 34"/>
          <p:cNvSpPr txBox="1"/>
          <p:nvPr/>
        </p:nvSpPr>
        <p:spPr>
          <a:xfrm>
            <a:off x="3942437" y="4812174"/>
            <a:ext cx="605337"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Output</a:t>
            </a:r>
            <a:endParaRPr lang="en-US" sz="1456" dirty="0"/>
          </a:p>
        </p:txBody>
      </p:sp>
      <p:sp>
        <p:nvSpPr>
          <p:cNvPr id="37" name="Shape 35"/>
          <p:cNvSpPr/>
          <p:nvPr/>
        </p:nvSpPr>
        <p:spPr>
          <a:xfrm>
            <a:off x="4748089" y="4835288"/>
            <a:ext cx="200316" cy="200316"/>
          </a:xfrm>
          <a:prstGeom prst="rect">
            <a:avLst/>
          </a:prstGeom>
          <a:solidFill>
            <a:srgbClr val="F2F4F5"/>
          </a:solidFill>
          <a:ln w="15240">
            <a:solidFill>
              <a:srgbClr val="626B73"/>
            </a:solidFill>
            <a:prstDash val="solid"/>
          </a:ln>
        </p:spPr>
      </p:sp>
      <p:sp>
        <p:nvSpPr>
          <p:cNvPr id="38" name="Text 36"/>
          <p:cNvSpPr txBox="1"/>
          <p:nvPr/>
        </p:nvSpPr>
        <p:spPr>
          <a:xfrm>
            <a:off x="5010041" y="481217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9" name="Shape 37"/>
          <p:cNvSpPr/>
          <p:nvPr/>
        </p:nvSpPr>
        <p:spPr>
          <a:xfrm>
            <a:off x="5613406" y="4935445"/>
            <a:ext cx="338996" cy="0"/>
          </a:xfrm>
          <a:prstGeom prst="line">
            <a:avLst/>
          </a:prstGeom>
          <a:noFill/>
          <a:ln w="22860">
            <a:solidFill>
              <a:srgbClr val="009E73"/>
            </a:solidFill>
            <a:prstDash val="solid"/>
            <a:tailEnd type="triangle"/>
          </a:ln>
        </p:spPr>
      </p:sp>
      <p:sp>
        <p:nvSpPr>
          <p:cNvPr id="40" name="Text 38"/>
          <p:cNvSpPr txBox="1"/>
          <p:nvPr/>
        </p:nvSpPr>
        <p:spPr>
          <a:xfrm>
            <a:off x="6014037" y="481217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Common pitfalls</a:t>
            </a:r>
            <a:endParaRPr lang="en-US" sz="3200" dirty="0"/>
          </a:p>
        </p:txBody>
      </p:sp>
      <p:sp>
        <p:nvSpPr>
          <p:cNvPr id="6" name="Shape 4"/>
          <p:cNvSpPr/>
          <p:nvPr/>
        </p:nvSpPr>
        <p:spPr>
          <a:xfrm>
            <a:off x="548640" y="1481328"/>
            <a:ext cx="351525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Overfitting</a:t>
            </a:r>
            <a:endParaRPr lang="en-US" sz="2100" dirty="0"/>
          </a:p>
        </p:txBody>
      </p:sp>
      <p:sp>
        <p:nvSpPr>
          <p:cNvPr id="8" name="Text 6"/>
          <p:cNvSpPr txBox="1"/>
          <p:nvPr/>
        </p:nvSpPr>
        <p:spPr>
          <a:xfrm>
            <a:off x="731520"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Validation loss rises</a:t>
            </a:r>
            <a:endParaRPr lang="en-US" sz="2200" dirty="0"/>
          </a:p>
        </p:txBody>
      </p:sp>
      <p:sp>
        <p:nvSpPr>
          <p:cNvPr id="9" name="Shape 7"/>
          <p:cNvSpPr/>
          <p:nvPr/>
        </p:nvSpPr>
        <p:spPr>
          <a:xfrm>
            <a:off x="4338218" y="1481328"/>
            <a:ext cx="351525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4521098"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Forgetting</a:t>
            </a:r>
            <a:endParaRPr lang="en-US" sz="2100" dirty="0"/>
          </a:p>
        </p:txBody>
      </p:sp>
      <p:sp>
        <p:nvSpPr>
          <p:cNvPr id="11" name="Text 9"/>
          <p:cNvSpPr txBox="1"/>
          <p:nvPr/>
        </p:nvSpPr>
        <p:spPr>
          <a:xfrm>
            <a:off x="4521098"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General answers degrade</a:t>
            </a:r>
            <a:endParaRPr lang="en-US" sz="2200" dirty="0"/>
          </a:p>
        </p:txBody>
      </p:sp>
      <p:sp>
        <p:nvSpPr>
          <p:cNvPr id="12" name="Shape 10"/>
          <p:cNvSpPr/>
          <p:nvPr/>
        </p:nvSpPr>
        <p:spPr>
          <a:xfrm>
            <a:off x="8127797" y="1481328"/>
            <a:ext cx="351525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8310677" y="1645920"/>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Leakage</a:t>
            </a:r>
            <a:endParaRPr lang="en-US" sz="2100" dirty="0"/>
          </a:p>
        </p:txBody>
      </p:sp>
      <p:sp>
        <p:nvSpPr>
          <p:cNvPr id="14" name="Text 12"/>
          <p:cNvSpPr txBox="1"/>
          <p:nvPr/>
        </p:nvSpPr>
        <p:spPr>
          <a:xfrm>
            <a:off x="8310677" y="2304288"/>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Test items in training</a:t>
            </a:r>
            <a:endParaRPr lang="en-US" sz="2200" dirty="0"/>
          </a:p>
        </p:txBody>
      </p:sp>
      <p:sp>
        <p:nvSpPr>
          <p:cNvPr id="15" name="Shape 13"/>
          <p:cNvSpPr/>
          <p:nvPr/>
        </p:nvSpPr>
        <p:spPr>
          <a:xfrm>
            <a:off x="548640" y="4032504"/>
            <a:ext cx="351525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731520"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Template mismatch</a:t>
            </a:r>
            <a:endParaRPr lang="en-US" sz="2100" dirty="0"/>
          </a:p>
        </p:txBody>
      </p:sp>
      <p:sp>
        <p:nvSpPr>
          <p:cNvPr id="17" name="Text 15"/>
          <p:cNvSpPr txBox="1"/>
          <p:nvPr/>
        </p:nvSpPr>
        <p:spPr>
          <a:xfrm>
            <a:off x="731520"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Train and serve differ</a:t>
            </a:r>
            <a:endParaRPr lang="en-US" sz="2200" dirty="0"/>
          </a:p>
        </p:txBody>
      </p:sp>
      <p:sp>
        <p:nvSpPr>
          <p:cNvPr id="18" name="Shape 16"/>
          <p:cNvSpPr/>
          <p:nvPr/>
        </p:nvSpPr>
        <p:spPr>
          <a:xfrm>
            <a:off x="4338218" y="4032504"/>
            <a:ext cx="3515258" cy="2276856"/>
          </a:xfrm>
          <a:prstGeom prst="roundRect">
            <a:avLst>
              <a:gd name="adj" fmla="val 4819"/>
            </a:avLst>
          </a:prstGeom>
          <a:solidFill>
            <a:srgbClr val="EEF0FF"/>
          </a:solidFill>
          <a:ln w="12700">
            <a:solidFill>
              <a:srgbClr val="EEF0FF"/>
            </a:solidFill>
            <a:prstDash val="solid"/>
          </a:ln>
        </p:spPr>
      </p:sp>
      <p:sp>
        <p:nvSpPr>
          <p:cNvPr id="19" name="Text 17"/>
          <p:cNvSpPr txBox="1"/>
          <p:nvPr/>
        </p:nvSpPr>
        <p:spPr>
          <a:xfrm>
            <a:off x="4521098"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Learning rate</a:t>
            </a:r>
            <a:endParaRPr lang="en-US" sz="2100" dirty="0"/>
          </a:p>
        </p:txBody>
      </p:sp>
      <p:sp>
        <p:nvSpPr>
          <p:cNvPr id="20" name="Text 18"/>
          <p:cNvSpPr txBox="1"/>
          <p:nvPr/>
        </p:nvSpPr>
        <p:spPr>
          <a:xfrm>
            <a:off x="4521098"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Too high destabilises</a:t>
            </a:r>
            <a:endParaRPr lang="en-US" sz="2200" dirty="0"/>
          </a:p>
        </p:txBody>
      </p:sp>
      <p:sp>
        <p:nvSpPr>
          <p:cNvPr id="21" name="Shape 19"/>
          <p:cNvSpPr/>
          <p:nvPr/>
        </p:nvSpPr>
        <p:spPr>
          <a:xfrm>
            <a:off x="8127797" y="4032504"/>
            <a:ext cx="3515258" cy="2276856"/>
          </a:xfrm>
          <a:prstGeom prst="roundRect">
            <a:avLst>
              <a:gd name="adj" fmla="val 4819"/>
            </a:avLst>
          </a:prstGeom>
          <a:solidFill>
            <a:srgbClr val="F5F3FF"/>
          </a:solidFill>
          <a:ln w="12700">
            <a:solidFill>
              <a:srgbClr val="EEF0FF"/>
            </a:solidFill>
            <a:prstDash val="solid"/>
          </a:ln>
        </p:spPr>
      </p:sp>
      <p:sp>
        <p:nvSpPr>
          <p:cNvPr id="22" name="Text 20"/>
          <p:cNvSpPr txBox="1"/>
          <p:nvPr/>
        </p:nvSpPr>
        <p:spPr>
          <a:xfrm>
            <a:off x="8310677" y="4197096"/>
            <a:ext cx="319521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Weak evaluation</a:t>
            </a:r>
            <a:endParaRPr lang="en-US" sz="2100" dirty="0"/>
          </a:p>
        </p:txBody>
      </p:sp>
      <p:sp>
        <p:nvSpPr>
          <p:cNvPr id="23" name="Text 21"/>
          <p:cNvSpPr txBox="1"/>
          <p:nvPr/>
        </p:nvSpPr>
        <p:spPr>
          <a:xfrm>
            <a:off x="8310677" y="4855464"/>
            <a:ext cx="314949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Loss without a test</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2500" b="1" dirty="0">
                <a:solidFill>
                  <a:srgbClr val="1E1B4B"/>
                </a:solidFill>
                <a:latin typeface="Calibri" pitchFamily="34" charset="0"/>
                <a:ea typeface="Calibri" pitchFamily="34" charset="-122"/>
                <a:cs typeface="Calibri" pitchFamily="34" charset="-120"/>
              </a:rPr>
              <a:t>Real results: prompting vs. LoRA fine-tuning (Banking77, 10 intents)</a:t>
            </a:r>
            <a:endParaRPr lang="en-US" sz="2500" dirty="0"/>
          </a:p>
        </p:txBody>
      </p:sp>
      <p:pic>
        <p:nvPicPr>
          <p:cNvPr id="6" name="Image 0" descr="C:\Users\sudee\Downloads\Generative_AI_2027_Teaching_Pack\AI2027_Project\build\figures\week_08\results_bar.png">    </p:cNvPr>
          <p:cNvPicPr>
            <a:picLocks noChangeAspect="1"/>
          </p:cNvPicPr>
          <p:nvPr/>
        </p:nvPicPr>
        <p:blipFill>
          <a:blip r:embed="rId1"/>
          <a:stretch>
            <a:fillRect/>
          </a:stretch>
        </p:blipFill>
        <p:spPr>
          <a:xfrm>
            <a:off x="2353026" y="1481328"/>
            <a:ext cx="7485644" cy="3081528"/>
          </a:xfrm>
          <a:prstGeom prst="rect">
            <a:avLst/>
          </a:prstGeom>
        </p:spPr>
      </p:pic>
      <p:sp>
        <p:nvSpPr>
          <p:cNvPr id="7" name="Text 4"/>
          <p:cNvSpPr txBox="1"/>
          <p:nvPr/>
        </p:nvSpPr>
        <p:spPr>
          <a:xfrm>
            <a:off x="548640" y="4745736"/>
            <a:ext cx="11094415" cy="156362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Accuracy on 200 held-out messages: base zero-shot 52.5%; base few-shot 85.0%; LoRA fine-tuned 97.0%.</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Stored CPU run: same model and test.</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Fine-tuning must beat the best prompt.</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training curve</a:t>
            </a:r>
            <a:endParaRPr lang="en-US" sz="3200" dirty="0"/>
          </a:p>
        </p:txBody>
      </p:sp>
      <p:pic>
        <p:nvPicPr>
          <p:cNvPr id="6" name="Image 0" descr="C:\Users\sudee\Downloads\Generative_AI_2027_Teaching_Pack\AI2027_Project\build\figures\week_08\loss_curve.png">    </p:cNvPr>
          <p:cNvPicPr>
            <a:picLocks noChangeAspect="1"/>
          </p:cNvPicPr>
          <p:nvPr/>
        </p:nvPicPr>
        <p:blipFill>
          <a:blip r:embed="rId1"/>
          <a:stretch>
            <a:fillRect/>
          </a:stretch>
        </p:blipFill>
        <p:spPr>
          <a:xfrm>
            <a:off x="2835077" y="1481328"/>
            <a:ext cx="6521541" cy="3367278"/>
          </a:xfrm>
          <a:prstGeom prst="rect">
            <a:avLst/>
          </a:prstGeom>
        </p:spPr>
      </p:pic>
      <p:sp>
        <p:nvSpPr>
          <p:cNvPr id="7" name="Text 4"/>
          <p:cNvSpPr txBox="1"/>
          <p:nvPr/>
        </p:nvSpPr>
        <p:spPr>
          <a:xfrm>
            <a:off x="548640" y="503148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Both losses fell in the stored run.</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Saved adapter: 8.7 MB; base weights: 1,976 MB.</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Also inspect errors and older abilities.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Use the adapted classifier</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Same template; no updates</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887929" y="3838927"/>
            <a:ext cx="244024" cy="0"/>
          </a:xfrm>
          <a:prstGeom prst="line">
            <a:avLst/>
          </a:prstGeom>
          <a:noFill/>
          <a:ln w="22860">
            <a:solidFill>
              <a:srgbClr val="009E73"/>
            </a:solidFill>
            <a:prstDash val="solid"/>
            <a:tailEnd type="triangle"/>
          </a:ln>
        </p:spPr>
      </p:sp>
      <p:sp>
        <p:nvSpPr>
          <p:cNvPr id="10" name="Text 8"/>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prompt IDs</a:t>
            </a:r>
            <a:endParaRPr lang="en-US" sz="1441" dirty="0"/>
          </a:p>
        </p:txBody>
      </p:sp>
      <p:sp>
        <p:nvSpPr>
          <p:cNvPr id="11" name="Shape 9"/>
          <p:cNvSpPr/>
          <p:nvPr/>
        </p:nvSpPr>
        <p:spPr>
          <a:xfrm>
            <a:off x="7059743" y="3838927"/>
            <a:ext cx="244024" cy="0"/>
          </a:xfrm>
          <a:prstGeom prst="line">
            <a:avLst/>
          </a:prstGeom>
          <a:noFill/>
          <a:ln w="22860">
            <a:solidFill>
              <a:srgbClr val="009E73"/>
            </a:solidFill>
            <a:prstDash val="solid"/>
            <a:tailEnd type="triangle"/>
          </a:ln>
        </p:spPr>
      </p:sp>
      <p:sp>
        <p:nvSpPr>
          <p:cNvPr id="12" name="Text 10"/>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reply</a:t>
            </a:r>
            <a:endParaRPr lang="en-US" sz="1441" dirty="0"/>
          </a:p>
        </p:txBody>
      </p:sp>
      <p:sp>
        <p:nvSpPr>
          <p:cNvPr id="13" name="Shape 11"/>
          <p:cNvSpPr/>
          <p:nvPr/>
        </p:nvSpPr>
        <p:spPr>
          <a:xfrm>
            <a:off x="9231556" y="3838927"/>
            <a:ext cx="244024" cy="0"/>
          </a:xfrm>
          <a:prstGeom prst="line">
            <a:avLst/>
          </a:prstGeom>
          <a:noFill/>
          <a:ln w="22860">
            <a:solidFill>
              <a:srgbClr val="009E73"/>
            </a:solidFill>
            <a:prstDash val="solid"/>
            <a:tailEnd type="triangle"/>
          </a:ln>
        </p:spPr>
      </p:sp>
      <p:sp>
        <p:nvSpPr>
          <p:cNvPr id="14" name="Text 12"/>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label</a:t>
            </a:r>
            <a:endParaRPr lang="en-US" sz="1441" dirty="0"/>
          </a:p>
        </p:txBody>
      </p:sp>
      <p:sp>
        <p:nvSpPr>
          <p:cNvPr id="15" name="Shape 13"/>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6" name="Text 14"/>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Message</a:t>
            </a:r>
            <a:endParaRPr lang="en-US" sz="1561" dirty="0"/>
          </a:p>
        </p:txBody>
      </p:sp>
      <p:sp>
        <p:nvSpPr>
          <p:cNvPr id="17" name="Text 15"/>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new</a:t>
            </a:r>
            <a:endParaRPr lang="en-US" sz="1441" dirty="0"/>
          </a:p>
        </p:txBody>
      </p:sp>
      <p:sp>
        <p:nvSpPr>
          <p:cNvPr id="18" name="Shape 16"/>
          <p:cNvSpPr/>
          <p:nvPr/>
        </p:nvSpPr>
        <p:spPr>
          <a:xfrm>
            <a:off x="2960139" y="2939089"/>
            <a:ext cx="1927790" cy="1799677"/>
          </a:xfrm>
          <a:prstGeom prst="rect">
            <a:avLst/>
          </a:prstGeom>
          <a:solidFill>
            <a:srgbClr val="F2F4F5"/>
          </a:solidFill>
          <a:ln w="15240">
            <a:solidFill>
              <a:srgbClr val="626B73"/>
            </a:solidFill>
            <a:prstDash val="solid"/>
          </a:ln>
        </p:spPr>
      </p:sp>
      <p:sp>
        <p:nvSpPr>
          <p:cNvPr id="19" name="Text 17"/>
          <p:cNvSpPr txBox="1"/>
          <p:nvPr/>
        </p:nvSpPr>
        <p:spPr>
          <a:xfrm>
            <a:off x="3021145"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Template</a:t>
            </a:r>
            <a:endParaRPr lang="en-US" sz="1561" dirty="0"/>
          </a:p>
        </p:txBody>
      </p:sp>
      <p:sp>
        <p:nvSpPr>
          <p:cNvPr id="20" name="Text 18"/>
          <p:cNvSpPr txBox="1"/>
          <p:nvPr/>
        </p:nvSpPr>
        <p:spPr>
          <a:xfrm>
            <a:off x="3021145"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as in training</a:t>
            </a:r>
            <a:endParaRPr lang="en-US" sz="1441" dirty="0"/>
          </a:p>
        </p:txBody>
      </p:sp>
      <p:sp>
        <p:nvSpPr>
          <p:cNvPr id="21" name="Shape 19"/>
          <p:cNvSpPr/>
          <p:nvPr/>
        </p:nvSpPr>
        <p:spPr>
          <a:xfrm>
            <a:off x="5131953" y="2939089"/>
            <a:ext cx="1927790" cy="1799677"/>
          </a:xfrm>
          <a:prstGeom prst="rect">
            <a:avLst/>
          </a:prstGeom>
          <a:solidFill>
            <a:srgbClr val="E5F7EF"/>
          </a:solidFill>
          <a:ln w="15240">
            <a:solidFill>
              <a:srgbClr val="009E73"/>
            </a:solidFill>
            <a:prstDash val="solid"/>
          </a:ln>
        </p:spPr>
      </p:sp>
      <p:sp>
        <p:nvSpPr>
          <p:cNvPr id="22" name="Text 20"/>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Base + adapter</a:t>
            </a:r>
            <a:endParaRPr lang="en-US" sz="1561" dirty="0"/>
          </a:p>
        </p:txBody>
      </p:sp>
      <p:sp>
        <p:nvSpPr>
          <p:cNvPr id="23" name="Text 21"/>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no updates</a:t>
            </a:r>
            <a:endParaRPr lang="en-US" sz="1441" dirty="0"/>
          </a:p>
        </p:txBody>
      </p:sp>
      <p:sp>
        <p:nvSpPr>
          <p:cNvPr id="24" name="Shape 22"/>
          <p:cNvSpPr/>
          <p:nvPr/>
        </p:nvSpPr>
        <p:spPr>
          <a:xfrm>
            <a:off x="7303767" y="2939089"/>
            <a:ext cx="1927790" cy="1799677"/>
          </a:xfrm>
          <a:prstGeom prst="roundRect">
            <a:avLst>
              <a:gd name="adj" fmla="val 4065"/>
            </a:avLst>
          </a:prstGeom>
          <a:solidFill>
            <a:srgbClr val="FFF0E6"/>
          </a:solidFill>
          <a:ln w="15240">
            <a:solidFill>
              <a:srgbClr val="D55E00"/>
            </a:solidFill>
            <a:prstDash val="solid"/>
          </a:ln>
        </p:spPr>
      </p:sp>
      <p:sp>
        <p:nvSpPr>
          <p:cNvPr id="25" name="Text 23"/>
          <p:cNvSpPr txBox="1"/>
          <p:nvPr/>
        </p:nvSpPr>
        <p:spPr>
          <a:xfrm>
            <a:off x="7364773"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Parse</a:t>
            </a:r>
            <a:endParaRPr lang="en-US" sz="1561" dirty="0"/>
          </a:p>
        </p:txBody>
      </p:sp>
      <p:sp>
        <p:nvSpPr>
          <p:cNvPr id="26" name="Text 24"/>
          <p:cNvSpPr txBox="1"/>
          <p:nvPr/>
        </p:nvSpPr>
        <p:spPr>
          <a:xfrm>
            <a:off x="7364773"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one intent</a:t>
            </a:r>
            <a:endParaRPr lang="en-US" sz="1441" dirty="0"/>
          </a:p>
        </p:txBody>
      </p:sp>
      <p:sp>
        <p:nvSpPr>
          <p:cNvPr id="27" name="Text 25"/>
          <p:cNvSpPr txBox="1"/>
          <p:nvPr/>
        </p:nvSpPr>
        <p:spPr>
          <a:xfrm>
            <a:off x="7326644"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normalise</a:t>
            </a:r>
            <a:endParaRPr lang="en-US" sz="1441" dirty="0"/>
          </a:p>
        </p:txBody>
      </p:sp>
      <p:sp>
        <p:nvSpPr>
          <p:cNvPr id="28" name="Shape 26"/>
          <p:cNvSpPr/>
          <p:nvPr/>
        </p:nvSpPr>
        <p:spPr>
          <a:xfrm>
            <a:off x="9475580" y="2939089"/>
            <a:ext cx="1927790" cy="1799677"/>
          </a:xfrm>
          <a:prstGeom prst="roundRect">
            <a:avLst>
              <a:gd name="adj" fmla="val 4065"/>
            </a:avLst>
          </a:prstGeom>
          <a:solidFill>
            <a:srgbClr val="F9EAF4"/>
          </a:solidFill>
          <a:ln w="15240">
            <a:solidFill>
              <a:srgbClr val="CC79A7"/>
            </a:solidFill>
            <a:prstDash val="solid"/>
          </a:ln>
        </p:spPr>
      </p:sp>
      <p:sp>
        <p:nvSpPr>
          <p:cNvPr id="29" name="Text 27"/>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Route</a:t>
            </a:r>
            <a:endParaRPr lang="en-US" sz="1561" dirty="0"/>
          </a:p>
        </p:txBody>
      </p:sp>
      <p:sp>
        <p:nvSpPr>
          <p:cNvPr id="30" name="Text 28"/>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card_arrival</a:t>
            </a:r>
            <a:endParaRPr lang="en-US" sz="1441" dirty="0"/>
          </a:p>
        </p:txBody>
      </p:sp>
      <p:sp>
        <p:nvSpPr>
          <p:cNvPr id="31" name="Shape 2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2" name="Text 3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3" name="Shape 31"/>
          <p:cNvSpPr/>
          <p:nvPr/>
        </p:nvSpPr>
        <p:spPr>
          <a:xfrm>
            <a:off x="1676436" y="5630979"/>
            <a:ext cx="198270" cy="198270"/>
          </a:xfrm>
          <a:prstGeom prst="rect">
            <a:avLst/>
          </a:prstGeom>
          <a:solidFill>
            <a:srgbClr val="E5F7EF"/>
          </a:solidFill>
          <a:ln w="15240">
            <a:solidFill>
              <a:srgbClr val="009E73"/>
            </a:solidFill>
            <a:prstDash val="solid"/>
          </a:ln>
        </p:spPr>
      </p:sp>
      <p:sp>
        <p:nvSpPr>
          <p:cNvPr id="34" name="Text 3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5" name="Shape 33"/>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6" name="Text 34"/>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7" name="Shape 35"/>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38" name="Text 36"/>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39" name="Shape 37"/>
          <p:cNvSpPr/>
          <p:nvPr/>
        </p:nvSpPr>
        <p:spPr>
          <a:xfrm>
            <a:off x="4761857" y="5630979"/>
            <a:ext cx="198270" cy="198270"/>
          </a:xfrm>
          <a:prstGeom prst="rect">
            <a:avLst/>
          </a:prstGeom>
          <a:solidFill>
            <a:srgbClr val="F2F4F5"/>
          </a:solidFill>
          <a:ln w="15240">
            <a:solidFill>
              <a:srgbClr val="626B73"/>
            </a:solidFill>
            <a:prstDash val="solid"/>
          </a:ln>
        </p:spPr>
      </p:sp>
      <p:sp>
        <p:nvSpPr>
          <p:cNvPr id="40" name="Text 38"/>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1" name="Shape 39"/>
          <p:cNvSpPr/>
          <p:nvPr/>
        </p:nvSpPr>
        <p:spPr>
          <a:xfrm>
            <a:off x="5618334" y="5730113"/>
            <a:ext cx="335533" cy="0"/>
          </a:xfrm>
          <a:prstGeom prst="line">
            <a:avLst/>
          </a:prstGeom>
          <a:noFill/>
          <a:ln w="22860">
            <a:solidFill>
              <a:srgbClr val="009E73"/>
            </a:solidFill>
            <a:prstDash val="solid"/>
            <a:tailEnd type="triangle"/>
          </a:ln>
        </p:spPr>
      </p:sp>
      <p:sp>
        <p:nvSpPr>
          <p:cNvPr id="42" name="Text 40"/>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3" name="Text 4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Same template?</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Evaluating a fine-tuned model</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267083"/>
                <a:gridCol w="682733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How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Task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Same test as best prompt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Older abilities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General questions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Safety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Re-run refusal tests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Robustness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Rewording, typos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Cost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Seconds per message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People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Expert rubric review</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Domain-specific models: build, adapt or retrieve?</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Compare prompting plus retrieval first.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Adapt only for measured gaps.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data rights and governance.</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Option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Example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Build</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BloombergGPT, 50 B (2023)</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Adapt</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LoRA on a general model</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Retrieve</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Search bank documents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fine-tuning</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Re-test safety after training.</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Remove personal data; check leakage.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Document data, settings and limits.</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Risk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Safety erosion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Refusal tests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Memorisation</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Extraction probes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Results by group</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One test, three models</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Same parser, same messages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reply</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label</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correct?</a:t>
            </a:r>
            <a:endParaRPr lang="en-US" sz="1441" dirty="0"/>
          </a:p>
        </p:txBody>
      </p:sp>
      <p:sp>
        <p:nvSpPr>
          <p:cNvPr id="17" name="Shape 15"/>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18" name="Text 16"/>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Test message</a:t>
            </a:r>
            <a:endParaRPr lang="en-US" sz="1561" dirty="0"/>
          </a:p>
        </p:txBody>
      </p:sp>
      <p:sp>
        <p:nvSpPr>
          <p:cNvPr id="19" name="Text 17"/>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held out</a:t>
            </a:r>
            <a:endParaRPr lang="en-US" sz="1441" dirty="0"/>
          </a:p>
        </p:txBody>
      </p:sp>
      <p:sp>
        <p:nvSpPr>
          <p:cNvPr id="20" name="Shape 18"/>
          <p:cNvSpPr/>
          <p:nvPr/>
        </p:nvSpPr>
        <p:spPr>
          <a:xfrm>
            <a:off x="2598170" y="2939089"/>
            <a:ext cx="1565821" cy="1799677"/>
          </a:xfrm>
          <a:prstGeom prst="rect">
            <a:avLst/>
          </a:prstGeom>
          <a:solidFill>
            <a:srgbClr val="F2F4F5"/>
          </a:solidFill>
          <a:ln w="15240">
            <a:solidFill>
              <a:srgbClr val="626B73"/>
            </a:solidFill>
            <a:prstDash val="solid"/>
          </a:ln>
        </p:spPr>
      </p:sp>
      <p:sp>
        <p:nvSpPr>
          <p:cNvPr id="21" name="Text 19"/>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Prompt</a:t>
            </a:r>
            <a:endParaRPr lang="en-US" sz="1561" dirty="0"/>
          </a:p>
        </p:txBody>
      </p:sp>
      <p:sp>
        <p:nvSpPr>
          <p:cNvPr id="22" name="Text 20"/>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zero/few-shot</a:t>
            </a:r>
            <a:endParaRPr lang="en-US" sz="1441" dirty="0"/>
          </a:p>
        </p:txBody>
      </p:sp>
      <p:sp>
        <p:nvSpPr>
          <p:cNvPr id="23" name="Shape 21"/>
          <p:cNvSpPr/>
          <p:nvPr/>
        </p:nvSpPr>
        <p:spPr>
          <a:xfrm>
            <a:off x="4408015" y="2939089"/>
            <a:ext cx="1565821" cy="1799677"/>
          </a:xfrm>
          <a:prstGeom prst="rect">
            <a:avLst/>
          </a:prstGeom>
          <a:solidFill>
            <a:srgbClr val="E5F7EF"/>
          </a:solidFill>
          <a:ln w="15240">
            <a:solidFill>
              <a:srgbClr val="009E73"/>
            </a:solidFill>
            <a:prstDash val="solid"/>
          </a:ln>
        </p:spPr>
      </p:sp>
      <p:sp>
        <p:nvSpPr>
          <p:cNvPr id="24" name="Text 22"/>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Model</a:t>
            </a:r>
            <a:endParaRPr lang="en-US" sz="1561" dirty="0"/>
          </a:p>
        </p:txBody>
      </p:sp>
      <p:sp>
        <p:nvSpPr>
          <p:cNvPr id="25" name="Text 23"/>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base or adapter</a:t>
            </a:r>
            <a:endParaRPr lang="en-US" sz="1441" dirty="0"/>
          </a:p>
        </p:txBody>
      </p:sp>
      <p:sp>
        <p:nvSpPr>
          <p:cNvPr id="26" name="Shape 24"/>
          <p:cNvSpPr/>
          <p:nvPr/>
        </p:nvSpPr>
        <p:spPr>
          <a:xfrm>
            <a:off x="6217860" y="2939089"/>
            <a:ext cx="1565821" cy="1799677"/>
          </a:xfrm>
          <a:prstGeom prst="roundRect">
            <a:avLst>
              <a:gd name="adj" fmla="val 4672"/>
            </a:avLst>
          </a:prstGeom>
          <a:solidFill>
            <a:srgbClr val="FFF0E6"/>
          </a:solidFill>
          <a:ln w="15240">
            <a:solidFill>
              <a:srgbClr val="D55E00"/>
            </a:solidFill>
            <a:prstDash val="solid"/>
          </a:ln>
        </p:spPr>
      </p:sp>
      <p:sp>
        <p:nvSpPr>
          <p:cNvPr id="27" name="Text 25"/>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Parse</a:t>
            </a:r>
            <a:endParaRPr lang="en-US" sz="1561" dirty="0"/>
          </a:p>
        </p:txBody>
      </p:sp>
      <p:sp>
        <p:nvSpPr>
          <p:cNvPr id="28" name="Text 26"/>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first intent</a:t>
            </a:r>
            <a:endParaRPr lang="en-US" sz="1441" dirty="0"/>
          </a:p>
        </p:txBody>
      </p:sp>
      <p:sp>
        <p:nvSpPr>
          <p:cNvPr id="29" name="Text 27"/>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normalise</a:t>
            </a:r>
            <a:endParaRPr lang="en-US" sz="1441" dirty="0"/>
          </a:p>
        </p:txBody>
      </p:sp>
      <p:sp>
        <p:nvSpPr>
          <p:cNvPr id="30" name="Shape 28"/>
          <p:cNvSpPr/>
          <p:nvPr/>
        </p:nvSpPr>
        <p:spPr>
          <a:xfrm>
            <a:off x="8027705" y="2939089"/>
            <a:ext cx="1565821" cy="1799677"/>
          </a:xfrm>
          <a:prstGeom prst="roundRect">
            <a:avLst>
              <a:gd name="adj" fmla="val 4672"/>
            </a:avLst>
          </a:prstGeom>
          <a:solidFill>
            <a:srgbClr val="FFF0E6"/>
          </a:solidFill>
          <a:ln w="15240">
            <a:solidFill>
              <a:srgbClr val="D55E00"/>
            </a:solidFill>
            <a:prstDash val="solid"/>
          </a:ln>
        </p:spPr>
      </p:sp>
      <p:sp>
        <p:nvSpPr>
          <p:cNvPr id="31" name="Text 29"/>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a:t>
            </a:r>
            <a:endParaRPr lang="en-US" sz="1561" dirty="0"/>
          </a:p>
        </p:txBody>
      </p:sp>
      <p:sp>
        <p:nvSpPr>
          <p:cNvPr id="32" name="Text 30"/>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vs reference</a:t>
            </a:r>
            <a:endParaRPr lang="en-US" sz="1441" dirty="0"/>
          </a:p>
        </p:txBody>
      </p:sp>
      <p:sp>
        <p:nvSpPr>
          <p:cNvPr id="33" name="Shape 31"/>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4" name="Text 32"/>
          <p:cNvSpPr txBox="1"/>
          <p:nvPr/>
        </p:nvSpPr>
        <p:spPr>
          <a:xfrm>
            <a:off x="9898555"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Table</a:t>
            </a:r>
            <a:endParaRPr lang="en-US" sz="1561" dirty="0"/>
          </a:p>
        </p:txBody>
      </p:sp>
      <p:sp>
        <p:nvSpPr>
          <p:cNvPr id="35" name="Text 33"/>
          <p:cNvSpPr txBox="1"/>
          <p:nvPr/>
        </p:nvSpPr>
        <p:spPr>
          <a:xfrm>
            <a:off x="9898555"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three rows</a:t>
            </a:r>
            <a:endParaRPr lang="en-US" sz="1441" dirty="0"/>
          </a:p>
        </p:txBody>
      </p:sp>
      <p:sp>
        <p:nvSpPr>
          <p:cNvPr id="36" name="Text 34"/>
          <p:cNvSpPr txBox="1"/>
          <p:nvPr/>
        </p:nvSpPr>
        <p:spPr>
          <a:xfrm>
            <a:off x="986042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comparison</a:t>
            </a:r>
            <a:endParaRPr lang="en-US" sz="1441" dirty="0"/>
          </a:p>
        </p:txBody>
      </p:sp>
      <p:sp>
        <p:nvSpPr>
          <p:cNvPr id="37" name="Shape 35"/>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8" name="Text 36"/>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9" name="Shape 37"/>
          <p:cNvSpPr/>
          <p:nvPr/>
        </p:nvSpPr>
        <p:spPr>
          <a:xfrm>
            <a:off x="1676436" y="5630979"/>
            <a:ext cx="198270" cy="198270"/>
          </a:xfrm>
          <a:prstGeom prst="rect">
            <a:avLst/>
          </a:prstGeom>
          <a:solidFill>
            <a:srgbClr val="E5F7EF"/>
          </a:solidFill>
          <a:ln w="15240">
            <a:solidFill>
              <a:srgbClr val="009E73"/>
            </a:solidFill>
            <a:prstDash val="solid"/>
          </a:ln>
        </p:spPr>
      </p:sp>
      <p:sp>
        <p:nvSpPr>
          <p:cNvPr id="40" name="Text 38"/>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1" name="Shape 39"/>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2" name="Text 40"/>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43" name="Shape 41"/>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44" name="Text 42"/>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5" name="Shape 43"/>
          <p:cNvSpPr/>
          <p:nvPr/>
        </p:nvSpPr>
        <p:spPr>
          <a:xfrm>
            <a:off x="4761857" y="5630979"/>
            <a:ext cx="198270" cy="198270"/>
          </a:xfrm>
          <a:prstGeom prst="rect">
            <a:avLst/>
          </a:prstGeom>
          <a:solidFill>
            <a:srgbClr val="F2F4F5"/>
          </a:solidFill>
          <a:ln w="15240">
            <a:solidFill>
              <a:srgbClr val="626B73"/>
            </a:solidFill>
            <a:prstDash val="solid"/>
          </a:ln>
        </p:spPr>
      </p:sp>
      <p:sp>
        <p:nvSpPr>
          <p:cNvPr id="46" name="Text 44"/>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7" name="Shape 45"/>
          <p:cNvSpPr/>
          <p:nvPr/>
        </p:nvSpPr>
        <p:spPr>
          <a:xfrm>
            <a:off x="5618334" y="5730113"/>
            <a:ext cx="335533" cy="0"/>
          </a:xfrm>
          <a:prstGeom prst="line">
            <a:avLst/>
          </a:prstGeom>
          <a:noFill/>
          <a:ln w="22860">
            <a:solidFill>
              <a:srgbClr val="009E73"/>
            </a:solidFill>
            <a:prstDash val="solid"/>
            <a:tailEnd type="triangle"/>
          </a:ln>
        </p:spPr>
      </p:sp>
      <p:sp>
        <p:nvSpPr>
          <p:cNvPr id="48" name="Text 46"/>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9" name="Text 47"/>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Why one parser?</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8: LoRA fine-tuning for a banking domain task</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Split the data.</a:t>
            </a:r>
            <a:endParaRPr lang="en-US" sz="2000" dirty="0"/>
          </a:p>
        </p:txBody>
      </p:sp>
      <p:sp>
        <p:nvSpPr>
          <p:cNvPr id="9" name="Shape 7"/>
          <p:cNvSpPr/>
          <p:nvPr/>
        </p:nvSpPr>
        <p:spPr>
          <a:xfrm>
            <a:off x="548640" y="2331720"/>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286000"/>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Measure zero- and few-shot.</a:t>
            </a:r>
            <a:endParaRPr lang="en-US" sz="2000" dirty="0"/>
          </a:p>
        </p:txBody>
      </p:sp>
      <p:sp>
        <p:nvSpPr>
          <p:cNvPr id="12" name="Shape 10"/>
          <p:cNvSpPr/>
          <p:nvPr/>
        </p:nvSpPr>
        <p:spPr>
          <a:xfrm>
            <a:off x="548640" y="3136392"/>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13639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090672"/>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Add LoRA; count weights.</a:t>
            </a:r>
            <a:endParaRPr lang="en-US" sz="2000" dirty="0"/>
          </a:p>
        </p:txBody>
      </p:sp>
      <p:sp>
        <p:nvSpPr>
          <p:cNvPr id="15" name="Shape 13"/>
          <p:cNvSpPr/>
          <p:nvPr/>
        </p:nvSpPr>
        <p:spPr>
          <a:xfrm>
            <a:off x="548640" y="3941064"/>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394106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3895344"/>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Train; watch the loss.</a:t>
            </a:r>
            <a:endParaRPr lang="en-US" sz="2000" dirty="0"/>
          </a:p>
        </p:txBody>
      </p:sp>
      <p:sp>
        <p:nvSpPr>
          <p:cNvPr id="18" name="Shape 16"/>
          <p:cNvSpPr/>
          <p:nvPr/>
        </p:nvSpPr>
        <p:spPr>
          <a:xfrm>
            <a:off x="548640" y="4745736"/>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47457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700016"/>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Test; read errors.</a:t>
            </a:r>
            <a:endParaRPr lang="en-US" sz="2000" dirty="0"/>
          </a:p>
        </p:txBody>
      </p:sp>
      <p:sp>
        <p:nvSpPr>
          <p:cNvPr id="21" name="Shape 19"/>
          <p:cNvSpPr/>
          <p:nvPr/>
        </p:nvSpPr>
        <p:spPr>
          <a:xfrm>
            <a:off x="548640" y="5550408"/>
            <a:ext cx="411480" cy="411480"/>
          </a:xfrm>
          <a:prstGeom prst="ellipse">
            <a:avLst/>
          </a:prstGeom>
          <a:solidFill>
            <a:srgbClr val="0F766E"/>
          </a:solidFill>
          <a:ln w="12700">
            <a:solidFill>
              <a:srgbClr val="0F766E"/>
            </a:solidFill>
            <a:prstDash val="solid"/>
          </a:ln>
        </p:spPr>
      </p:sp>
      <p:sp>
        <p:nvSpPr>
          <p:cNvPr id="22" name="Text 20"/>
          <p:cNvSpPr txBox="1"/>
          <p:nvPr/>
        </p:nvSpPr>
        <p:spPr>
          <a:xfrm>
            <a:off x="548640" y="5550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1143000" y="5504688"/>
            <a:ext cx="6583680" cy="804672"/>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Disable adapter; save.</a:t>
            </a:r>
            <a:endParaRPr lang="en-US" sz="2000" dirty="0"/>
          </a:p>
        </p:txBody>
      </p:sp>
      <p:sp>
        <p:nvSpPr>
          <p:cNvPr id="24" name="Shape 22"/>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5" name="Shape 23"/>
          <p:cNvSpPr/>
          <p:nvPr/>
        </p:nvSpPr>
        <p:spPr>
          <a:xfrm>
            <a:off x="8229600" y="1709928"/>
            <a:ext cx="502920" cy="502920"/>
          </a:xfrm>
          <a:prstGeom prst="ellipse">
            <a:avLst/>
          </a:prstGeom>
          <a:solidFill>
            <a:srgbClr val="0F766E"/>
          </a:solidFill>
          <a:ln w="12700">
            <a:solidFill>
              <a:srgbClr val="0F766E"/>
            </a:solidFill>
            <a:prstDash val="solid"/>
          </a:ln>
        </p:spPr>
      </p:sp>
      <p:pic>
        <p:nvPicPr>
          <p:cNvPr id="26"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7" name="Text 24"/>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8" name="Text 25"/>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13.3 minutes. Full run optional.</a:t>
            </a:r>
            <a:endParaRPr lang="en-US" sz="1400" dirty="0"/>
          </a:p>
        </p:txBody>
      </p:sp>
      <p:sp>
        <p:nvSpPr>
          <p:cNvPr id="29" name="Shape 26"/>
          <p:cNvSpPr/>
          <p:nvPr/>
        </p:nvSpPr>
        <p:spPr>
          <a:xfrm>
            <a:off x="8229600" y="3227832"/>
            <a:ext cx="502920" cy="502920"/>
          </a:xfrm>
          <a:prstGeom prst="ellipse">
            <a:avLst/>
          </a:prstGeom>
          <a:solidFill>
            <a:srgbClr val="0F766E"/>
          </a:solidFill>
          <a:ln w="12700">
            <a:solidFill>
              <a:srgbClr val="0F766E"/>
            </a:solidFill>
            <a:prstDash val="solid"/>
          </a:ln>
        </p:spPr>
      </p:sp>
      <p:pic>
        <p:nvPicPr>
          <p:cNvPr id="30"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31" name="Text 27"/>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32" name="Text 28"/>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3" name="Shape 29"/>
          <p:cNvSpPr/>
          <p:nvPr/>
        </p:nvSpPr>
        <p:spPr>
          <a:xfrm>
            <a:off x="8229600" y="4745736"/>
            <a:ext cx="502920" cy="502920"/>
          </a:xfrm>
          <a:prstGeom prst="ellipse">
            <a:avLst/>
          </a:prstGeom>
          <a:solidFill>
            <a:srgbClr val="0F766E"/>
          </a:solidFill>
          <a:ln w="12700">
            <a:solidFill>
              <a:srgbClr val="0F766E"/>
            </a:solidFill>
            <a:prstDash val="solid"/>
          </a:ln>
        </p:spPr>
      </p:sp>
      <p:pic>
        <p:nvPicPr>
          <p:cNvPr id="34"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5" name="Text 30"/>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6" name="Text 31"/>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Comparison table, loss curve, answers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4F46E5"/>
          </a:solidFill>
          <a:ln w="12700">
            <a:solidFill>
              <a:srgbClr val="4F46E5"/>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HF LLM Course: fine-tuning</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TRL and LoRA</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PEFT documentation</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LoRA and QLoRA</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TRL documentation</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SFT, DPO, GRPO</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Illustrating RLHF</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Pipeline walkthrough</a:t>
            </a:r>
            <a:endParaRPr lang="en-US" sz="1500" dirty="0"/>
          </a:p>
        </p:txBody>
      </p:sp>
      <p:sp>
        <p:nvSpPr>
          <p:cNvPr id="18" name="Shape 12"/>
          <p:cNvSpPr/>
          <p:nvPr/>
        </p:nvSpPr>
        <p:spPr>
          <a:xfrm>
            <a:off x="548640" y="4846320"/>
            <a:ext cx="457200" cy="457200"/>
          </a:xfrm>
          <a:prstGeom prst="ellipse">
            <a:avLst/>
          </a:prstGeom>
          <a:solidFill>
            <a:srgbClr val="DC2626"/>
          </a:solidFill>
          <a:ln w="12700">
            <a:solidFill>
              <a:srgbClr val="DC2626"/>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LoRA: the inventor explains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Watch, then compute a rank count</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08  ·  FINE-TUNING AND DOMAIN ADAPTATION</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we learned: fine-tuning</a:t>
            </a:r>
            <a:endParaRPr lang="en-US" sz="3200" dirty="0"/>
          </a:p>
        </p:txBody>
      </p:sp>
      <p:sp>
        <p:nvSpPr>
          <p:cNvPr id="6" name="Shape 4"/>
          <p:cNvSpPr/>
          <p:nvPr/>
        </p:nvSpPr>
        <p:spPr>
          <a:xfrm>
            <a:off x="946879" y="1630142"/>
            <a:ext cx="3323515" cy="1376531"/>
          </a:xfrm>
          <a:prstGeom prst="rect">
            <a:avLst/>
          </a:prstGeom>
          <a:solidFill>
            <a:srgbClr val="F2F4F5"/>
          </a:solidFill>
          <a:ln w="15240">
            <a:solidFill>
              <a:srgbClr val="626B73"/>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Choose</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Prompt first</a:t>
            </a:r>
            <a:endParaRPr lang="en-US" sz="1523" dirty="0"/>
          </a:p>
        </p:txBody>
      </p:sp>
      <p:sp>
        <p:nvSpPr>
          <p:cNvPr id="9" name="Shape 7"/>
          <p:cNvSpPr/>
          <p:nvPr/>
        </p:nvSpPr>
        <p:spPr>
          <a:xfrm>
            <a:off x="4434090" y="1630142"/>
            <a:ext cx="3323515" cy="1376531"/>
          </a:xfrm>
          <a:prstGeom prst="roundRect">
            <a:avLst>
              <a:gd name="adj" fmla="val 5314"/>
            </a:avLst>
          </a:prstGeom>
          <a:solidFill>
            <a:srgbClr val="FFF0E6"/>
          </a:solidFill>
          <a:ln w="15240">
            <a:solidFill>
              <a:srgbClr val="D55E00"/>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SFT</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Answer-token loss</a:t>
            </a:r>
            <a:endParaRPr lang="en-US" sz="1523" dirty="0"/>
          </a:p>
        </p:txBody>
      </p:sp>
      <p:sp>
        <p:nvSpPr>
          <p:cNvPr id="12" name="Shape 10"/>
          <p:cNvSpPr/>
          <p:nvPr/>
        </p:nvSpPr>
        <p:spPr>
          <a:xfrm>
            <a:off x="7921301" y="1630142"/>
            <a:ext cx="3323515" cy="1376531"/>
          </a:xfrm>
          <a:prstGeom prst="roundRect">
            <a:avLst>
              <a:gd name="adj" fmla="val 5314"/>
            </a:avLst>
          </a:prstGeom>
          <a:solidFill>
            <a:srgbClr val="E4F2FB"/>
          </a:solidFill>
          <a:ln w="15240">
            <a:solidFill>
              <a:srgbClr val="0072B2"/>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Preferences</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Pairs or rewards</a:t>
            </a:r>
            <a:endParaRPr lang="en-US" sz="1523" dirty="0"/>
          </a:p>
        </p:txBody>
      </p:sp>
      <p:sp>
        <p:nvSpPr>
          <p:cNvPr id="15" name="Shape 13"/>
          <p:cNvSpPr/>
          <p:nvPr/>
        </p:nvSpPr>
        <p:spPr>
          <a:xfrm>
            <a:off x="946879" y="3170368"/>
            <a:ext cx="3323515" cy="1376531"/>
          </a:xfrm>
          <a:prstGeom prst="rect">
            <a:avLst/>
          </a:prstGeom>
          <a:solidFill>
            <a:srgbClr val="E5F7EF"/>
          </a:solidFill>
          <a:ln w="15240">
            <a:solidFill>
              <a:srgbClr val="009E73"/>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LoRA</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Small paths</a:t>
            </a:r>
            <a:endParaRPr lang="en-US" sz="1523" dirty="0"/>
          </a:p>
        </p:txBody>
      </p:sp>
      <p:sp>
        <p:nvSpPr>
          <p:cNvPr id="18" name="Shape 16"/>
          <p:cNvSpPr/>
          <p:nvPr/>
        </p:nvSpPr>
        <p:spPr>
          <a:xfrm>
            <a:off x="4434090" y="3170368"/>
            <a:ext cx="3323515" cy="1376531"/>
          </a:xfrm>
          <a:prstGeom prst="roundRect">
            <a:avLst>
              <a:gd name="adj" fmla="val 5314"/>
            </a:avLst>
          </a:prstGeom>
          <a:solidFill>
            <a:srgbClr val="E4F2FB"/>
          </a:solidFill>
          <a:ln w="15240">
            <a:solidFill>
              <a:srgbClr val="0072B2"/>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Data</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Separate splits</a:t>
            </a:r>
            <a:endParaRPr lang="en-US" sz="1523" dirty="0"/>
          </a:p>
        </p:txBody>
      </p:sp>
      <p:sp>
        <p:nvSpPr>
          <p:cNvPr id="21" name="Shape 19"/>
          <p:cNvSpPr/>
          <p:nvPr/>
        </p:nvSpPr>
        <p:spPr>
          <a:xfrm>
            <a:off x="7921301" y="3170368"/>
            <a:ext cx="3323515" cy="1376531"/>
          </a:xfrm>
          <a:prstGeom prst="roundRect">
            <a:avLst>
              <a:gd name="adj" fmla="val 5314"/>
            </a:avLst>
          </a:prstGeom>
          <a:solidFill>
            <a:srgbClr val="F9EAF4"/>
          </a:solidFill>
          <a:ln w="15240">
            <a:solidFill>
              <a:srgbClr val="CC79A7"/>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Evaluate</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Task, safety, cost</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r(d + k) = 131,072.</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multimodal models.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Lower loss proves better?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8: Fine-Tuning and Domain Adaptation</dc:title>
  <dc:subject>Generative AI (MSc in Artificial Intelligence)</dc:subject>
  <dc:creator>Generative AI module team</dc:creator>
  <cp:lastModifiedBy>Generative AI module team</cp:lastModifiedBy>
  <cp:revision>1</cp:revision>
  <dcterms:created xsi:type="dcterms:W3CDTF">2026-10-11T21:26:14Z</dcterms:created>
  <dcterms:modified xsi:type="dcterms:W3CDTF">2026-10-11T21:26:14Z</dcterms:modified>
</cp:coreProperties>
</file>