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We will teach a small model to route banking messages. Start with measured prompting baselines, keep separate datasets, train only added paths and compare on the same final examples. Analogy: a trained worker practises a stable specialist job. Ask: could retrieval solve frequently changing interest-rate facts more directly? Common mistake: fine-tuning is a choice to justify with evidence, not an automatic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Separate objectives from implementation. SFT supplies desired answers; preferences compare replies. Full fine-tuning and LoRA specify which weights can change. We will trace those choices and test the result. Analogy: what is practised differs from which part of an instrument can be adjusted. Ask: can SFT use LoRA? Common mistake: SFT and full fine-tuning are not opposing categories.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Begin with the adaptation decision, then practise with known answers. Learn preferences before the cheaper weight-update methods. Finish with the full domain experiment and its checks. Analogy: choose the job, choose the teaching signal, choose what to adjust, then examine performance. Ask: which dataset chooses hyperparameters? Common mistake: reusing a final test to keep improving the model leaks information into the decision.
Trace the highlighted week. Earlier concepts feed later systems. Ask which earlier idea today needs. Common mistake: treating each week as an unrelated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these terms before the main theory. Give pairs one minute to answer the quick checks, then take answers. Model weight: A learned number used by a neural network to transform its input. Check: Do ordinary prompt-only calls update stored model weights? Answer: No. Prompting changes only the input for that call. Train / validation / test: Separate examples for learning, choosing settings and final measurement. Check: Which split must not be used to train the adapter? Answer: Validation and test. Only training examples update the adapter. Matrix projection: Multiplying a vector by learned weights to produce another vector. Check: If a projection maps 8 numbers to 4 numbers, what is its output length? Answer: Four numbers. Loss: A number measuring prediction error during training. Check: What would rising validation loss make you inspect? Answer: Overfitting: compare it with the training loss and check the data and learning rate. Adapter: Small added weights trained while the base is fixed. Check: Is a saved adapter usable without its base model? Answer: No. An adapter stores changes to one particular base model. Let students explain one example aloud, then connect their example to the next flow diagram. Use the blocks to name the inputs and outputs before introducing 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Give three minutes. A good answer: brand voice, a) can often be achieved with a good system prompt and examples, and if that is not consistent enough, fine-tuning on examples of the voice. This week's interest rates, b), change often, so they belong in retrieval or a tool, not in model weights. Routing at high volume, c), is an ideal fine-tuning case: a stable task where a small fine-tuned model can be accurate, fast and cheap. The general lesson: knowledge that changes goes into retrieval; behaviour goes into prompts or weights; cost at scale favours small fine-tuned models.
Analogy: Prompting writes a brief; retrieval opens a reference book; training gives repeated practice.
Ask: Which method updates this week's interest-rate source most directly?
Answer: Retrieval, or a rates tool: update the source and the next answer uses it.
Common mistake: Fine-tuning to supply facts that change every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Section one is about the decision, which is where many real projects go wrong: teams fine-tune to add facts, which retrieval does better, or without an evaluation set, so they cannot tell whether it helped. We compare the three approaches, give a decision process, and list good and bad reasons to fine-tune. About thirteen minutes.
Analogy: Before training a new employee, check whether a better brief or a reference manual would solve the problem.
Ask: What do you need before you can tell whether fine-tuning helped?
Answer: An evaluation set and the best prompting result on it.
Common mistake: Fine-tuning without a baseline, so any gain or loss is invisible.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Fine-tuning changes learned parameters, whereas prompting changes the current input. This lab adapts a pretrained language model to emit banking intent labels. The training examples teach the task; validation examples help monitor learning; test examples provide the final comparison. The lab also measures a few-shot baseline so that training must improve on a useful prompting approach. Supervised fine-tuning means learning from known prompt/response pairs. LoRA describes which parameters change: small adapter matrices learn while the base weights remain frozen. These are different choices and can be combined. The trainer measures loss on completion tokens, rather than asking the model to reproduce the prompt. After training, the same parser and test messages are used for comparison. Reduced training loss alone cannot establish better routing accuracy, and the original customer labels can contain ambiguity.
Worked example:
A message about a missing card has a reference banking-intent label.
The unmodified model is evaluated with no examples and with one example per intent.
Training pairs put the customer message in the prompt and the intent in the completion.
Only the LoRA adapter parameters learn from the training examples.
The tuned model uses the original zero-shot format on the same held-out test messages.
Check: Why compare the tuned model with the few-shot baseline as well as the zero-shot baseline?
Answer: Few-shot prompting is a stronger alternative that needs no training; the adapter's improvement should justify its extra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Walk through the rows. Prompting changes the input and solves task specification. Retrieval also changes the input, adding documents, and solves missing or changing knowledge with traceable citations, which is why it is the right answer for this week's interest rates. Fine-tuning changes weights and is best for consistent behaviour, style and format, and specialised skills such as a classification task with many fine distinctions. It needs labelled data and a re-training cycle whenever things change, and knowledge in weights cannot be cited or easily corrected. Microsoft's guidance on customising LLMs, linked in the resources, makes the same distinctions.
Ask: Which method lets you show where an answer came from?
Answer: Retrieval: the source passages travel with the request and can be cited.
Common mistake: Expecting knowledge stored in weights to be easy to cite or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flowchart turns the table into a process. Start with a good prompt and an evaluation set from week 7. If quality is sufficient, ship and monitor. If not, diagnose: if errors come from missing or outdated knowledge, add retrieval; if they come from behaviour, format, style or a specialised skill that examples in the prompt cannot teach, or if you need a smaller, cheaper model to reach the same quality, fine-tune. In practice the approaches combine: a fine-tuned model that follows your format well can still use retrieval for facts. The key requirement at every step is the evaluation set; without it you cannot tell whether a change helped.
Analogy: A doctor diagnoses before prescribing.
Ask: The errors come from outdated product names. Which branch of the flowchart applies?
Answer: Missing or outdated knowledge, so add retrieval.
Common mistake: Skipping the diagnosis and fine-tuning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Go through both columns. Among good reasons, cost is often the decisive one: a small model fine-tuned on a narrow task can match a large general model at a fraction of the price and latency, which is exactly the lab scenario. Among bad reasons, the most common misconception is that fine-tuning is the way to teach a model new facts; research shows that fine-tuning on new factual knowledge is slow and can even increase hallucination, while retrieval handles facts transparently. Always check the licence: some models and API terms restrict fine-tuning or the use of outputs.
Ask: Why can fine-tuning on new facts be risky?
Answer: Models learn new facts slowly from fine-tuning, and research found it can increase hallucination.
Common mistake: Ignoring licence terms. Some models and APIs restrict fine-tuning or the use of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Section two covers supervised fine-tuning, the workhorse of adaptation, and instruction tuning, the step that turns a base model into an assistant. We look at the loss, chat templates and, most importantly, data preparation, where most of the quality comes from. Keep asking students what the model sees during training. About twenty minutes.
Analogy: SFT is guided practice with a supplied correct answer; the model still reads the question.
Ask: Does masking the prompt loss stop the model reading the prompt?
Answer: No. The prompt is still input; masking only leaves its tokens out of the loss.
Common mistake: Confusing SFT, a training signal, with full fine-tuning, a choice of which weights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Clarify terms, because they are used loosely. Full fine-tuning means updating every parameter, which gives maximum flexibility but needs the most memory, as we calculate later, and produces a complete copy of the model for each task. Supervised fine-tuning describes the training signal: pairs of inputs and desired outputs, trained with the same next-token loss as pre-training. SFT can be done with full fine-tuning or with parameter-efficient methods. In practice, the loss is computed only on the output tokens, so the model learns to produce answers rather than to reproduce the questions.
Ask: Which needs more memory: full fine-tuning or LoRA, trained on the same SFT examples?
Answer: Full fine-tuning, because every weight needs a gradient and optimiser state.
Common mistake: Treating SFT and full fine-tuning as alternatives. SFT can use full weights or adapters.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SFT loss is the negative log-likelihood of the response tokens given the prompt and the earlier response tokens, which is exactly maximum likelihood from week 1, but on curated pairs instead of raw web text. The prompt tokens are fed to the model but excluded from the loss by masking their labels, so the model is not trained to generate questions. In the TRL library used in the lab, providing the data as prompt and completion pairs does this masking automatically. Ask students: why would training on the prompt tokens be harmful? It wastes capacity learning to predict user text and can make the model continue questions rather than answer them.
Ask: For the answer lost_or_stolen_card, which tokens count in the loss?
Answer: Only the answer tokens. The system and user tokens are read but not scored.
Common mistake: Thinking masking hides the prompt from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Instruction tuning is SFT on a broad mixture of tasks written as instructions, such as summarise this, translate that, answer this question. Google's FLAN work in 2021 showed that this makes models better at following instructions for tasks they never saw; OpenAI's InstructGPT used it as the first stage of post-training. Chat models also learn a chat template: special tokens that mark system, user and assistant turns. Mismatched templates between training and inference are a common bug. The LIMA paper showed that a thousand high-quality examples can be enough for good assistant behaviour, supporting the idea that post-training mainly shapes behaviour.
Analogy: Practising many kinds of exam question rather than one.
Ask: What does the LIMA result suggest about post-training?
Answer: A small set of high-quality examples can shape behaviour, because most knowledge comes from pre-training.
Common mistake: Training with one chat template and serving with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Show what the model actually sees. The apply chat template method turns a list of messages into a single string with the model's special tokens; this example is the format used by the Qwen family. Other families use different tokens. During fine-tuning the training data must be formatted with the same template the model will see at inference, which libraries such as TRL do automatically when the data are given as messages. If you format data by hand with the wrong tokens, the fine-tuned model will behave strangely. Students print their own template in the lab.
Analogy: A sorting office expects one address format; a different layout gets misrouted.
Ask: What happens if you format training data with another model family's tokens?
Answer: The model sees unfamiliar markers, and the fine-tuned model behaves strangely at inference.
Common mistake: Writing role markers by hand instead of using apply_chat_template.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Emphasise that data preparation determines most of the outcome. Label quality matters more than quantity: a few hundred clean examples usually beat thousands of noisy ones. The data must reflect the real distribution of inputs, including awkward phrasings and edge cases. Splits must be clean: near-duplicate messages in both training and test sets inflate the measured accuracy, which is data leakage. Personal data must be removed, because fine-tuned models can memorise it. And the process should be documented in a datasheet, a companion to the model card from week 6.
Analogy: A textbook full of wrong answers trains wrong habits.
Ask: The same customer message appears in training and test. What goes wrong?
Answer: Leakage: the model can remember the label, so the test score is inflated.
Common mistake: Collecting thousands of noisy examples instead of a few hundred clean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Section three covers the second stage of post-training. SFT teaches from examples of good answers, but for many tasks it is easier for people to compare two answers than to write the ideal one. Preference alignment learns from such comparisons. We cover reinforcement learning from human feedback as used for InstructGPT, direct preference optimisation which simplified it, AI feedback, and reinforcement learning with verifiable rewards, which produces today's reasoning models. About twenty-five minutes.
Analogy: Preference learning compares two answers instead of supplying one exact target.
Ask: Who decided which answer was preferred, and using what rubric?
Answer: Annotators or an AI judge following written guidelines; the guidelines define what better means.
Common mistake: Treating a higher learned reward as truth 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RLHF pipeline from Ouyang and colleagues' InstructGPT paper, the method behind the first ChatGPT. Step one is supervised fine-tuning on demonstrations. Step two collects comparisons: people see several model answers to the same prompt and rank them. Step three trains a reward model, usually a copy of the language model with a scalar output, to predict those preferences. Step four uses reinforcement learning, specifically proximal policy optimisation, to adjust the language model to produce answers with high reward, while a penalty keeps it close to the SFT model. A striking result: people preferred the outputs of a 1.3-billion-parameter InstructGPT model over those of the 175-billion-parameter GPT-3.
Analogy: A coach ranks practice attempts, a scorer learns the coach's taste, and the player trains to please the scorer.
Ask: Why ask people to rank answers instead of writing the ideal one?
Answer: Comparing is faster and more consistent for people than writing a perfect answer.
Common mistake: Forgetting the KL penalty. Without it the policy drifts and exploits flaws in the reward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Two equations. The reward model loss says the reward difference between the preferred and rejected answers, passed through a sigmoid, should approach one: the probability that the preferred answer wins. This is the Bradley-Terry model of pairwise comparisons. The RL objective maximises expected reward minus a KL divergence to the reference model, the same KL as in week 2. Without the penalty, the policy finds ways to exploit flaws in the reward model, producing strange text that scores highly, which is called reward hacking. RLHF works but is complex: four models in memory and an unstable RL loop.
Ask: The reward model scores the preferred answer 2 points higher. What probability does it give that the preferred answer wins?
Answer: σ(2) ≈ 0.88.
Common mistake: Reading the KL term as a safety guarantee. It only limits drift from the reference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Rafailov and colleagues showed in 2023 that the RLHF objective has a closed-form optimal policy, which lets you skip the reward model and the reinforcement learning. The resulting DPO loss looks like the reward model loss, but the reward is implicitly defined by the log-ratio of the trained model's probabilities to the reference model's. In words: make preferred answers relatively more likely and rejected answers relatively less likely, without drifting too far from the reference. DPO is much simpler and more stable than PPO-based RLHF and is available in TRL; the lab includes an optional snippet.
Analogy: Practise by contrasting a good and a poor answer while staying close to your earlier style.
Ask: What does DPO need that SFT does not?
Answer: Pairs of preferred and rejected answers to the same prompt, and a frozen reference model.
Common mistake: Thinking DPO needs no preference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Summarise the landscape. RLHF with PPO is the original, most flexible and most complex. DPO and its many variants are the practical default for preference tuning of open models. The newest branch is reinforcement learning with verifiable rewards: for maths problems or code, correctness can be checked automatically, so no human preferences or learned reward model are needed. DeepSeek's group relative policy optimisation, GRPO, samples several answers per problem and rewards those better than the group average. DeepSeek-R1 showed that long step-by-step reasoning emerges from this training, which is how the reasoning models of week 6 are made.
Ask: Which method suits maths problems with checkable answers?
Answer: RL with verifiable rewards, such as GRPO: correctness is checked automatically.
Common mistake: Assuming every task has a verifiable reward. Open-ended writing still needs preferences.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Human preference data is expensive, so AI feedback is now common: in Constitutional AI, a model critiques and revises answers according to a written set of principles and generates preference labels, with humans writing the principles rather than labelling every example. Preference training has characteristic failures. Reward hacking exploits imperfections in the reward, for example making answers longer because raters tended to prefer detail. Sycophancy, agreeing with the user, is partly a product of preference training. And the question of whose preferences and values are encoded is a real ethical issue, linking to the responsible-AI lens later.
Analogy: A student who learns that longer essays get higher marks writes longer essays, not better ones.
Ask: Give an example of reward hacking.
Answer: Answers grow longer because raters tended to prefer detail, without becoming more correct.
Common mistake: Assuming preferences are neutral. Whose preferences were collected shapes the model's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Answer: D. DPO still needs preference pairs, so A is wrong, but it turns alignment into a direct supervised-style loss, removing the reward model and the unstable reinforcement learning loop. C overstates: results depend on data and settings, and PPO can still outperform in some studies. B is simply wrong. Follow-up question: when would you use reinforcement learning with verifiable rewards instead? When correctness can be checked automatically, such as maths answers or code with unit tests.
Ask: Why is option C wrong?
Answer: Results depend on data and settings; PPO still does better in some studies.
Common mistake: Choosing A. DPO still needs preference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Welcome back. Section four is about making fine-tuning affordable. Updating every weight of a multi-billion-parameter model needs data-centre hardware. Parameter-efficient methods freeze the original weights and train a tiny number of new parameters. We focus on LoRA, which students use in the lab, and QLoRA, then compare other methods, estimate memory, and cover knowledge distillation.
Analogy: LoRA adds a small adjustable correction alongside a fixed transformation.
Ask: For rank 16 and a 4096 × 4096 matrix, how many values does LoRA train?
Answer: 16 × (4096 + 4096) = 131,072.
Common mistake: Assuming fewer trainable weights remove the memory for the frozen weights and activations.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LoRA adds a learned correction to selected weight matrices. If a base projection maps k input features to d output features, its matrix W contains d times k weights. The adapter first projects the same input through A into r features, then through B back into d features. The small number r is the rank and controls the size of the correction. The forward result is the original W x plus the scaled B(Ax) contribution; these are parallel paths. The trainable count is r times the sum of d and k, rather than d times k. Backpropagation uses the completion loss to adjust A and B while W is frozen. Freezing W preserves the original base parameters, but the active adapter can still change general-answer behaviour. Disabling the adapter restores the base path.
Worked example:
For an illustrative 8-input, 8-output projection, the frozen W has 64 entries.
Rank r=2 uses A with shape [2, 8] and B with shape [8, 2]: 32 trainable entries total.
W x and B(Ax) are parallel contributions; the adapter is not a layer after W.
Their summed output feeds the remaining network and its completion-token loss.
The optimizer updates A and B, while W keeps its pretrained values.
Check: Does the adapter take W x as its input, or does it use the same x as the base projection?
Answer: It uses the same x. The base and adapter paths run in parallel and their outputs are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Low-rank adaptation, LoRA, by Hu and colleagues in 2021, rests on the observation that the change needed to adapt a large model to a task has low intrinsic rank. Instead of learning a full update to a weight matrix W, we learn two thin matrices, B and A, whose product is the update. Only A and B are trained; W stays frozen. B is initialised to zero, so at the start the model is exactly the pretrained model. For a four-thousand by four-thousand matrix with rank sixteen, the adapter has about 131 thousand weights instead of 16.8 million, under one percent.
Analogy: A small adjustable lens clipped in front of a fixed camera lens.
Ask: Why is B initialised to zero?
Answer: So BA is zero at the start and the model begins exactly as the pretrained model.
Common mistake: Thinking W changes during LoRA training. W stays frozen.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Go through the worked example on the board: rank sixteen times the sum of the two dimensions gives 131,072 trainable parameters, compared with nearly 16.8 million in the frozen matrix. The hyperparameters students set in the lab are the rank, the scaling alpha, often twice the rank, dropout, and the target modules, the layers that receive adapters, commonly the attention projections and sometimes the MLP layers. Two deployment options follow. You can merge the product BA into W after training, so inference costs nothing extra, or keep the adapter separate, a few megabytes, and swap adapters per task on one shared base model.
Ask: With r = 16 and α = 32, what scale multiplies BAx?
Answer: α/r = 2.
Common mistake: Assuming a merged adapter slows inference. After merging, it costs nothing extra.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These numbers come from the lab model, Qwen 2.5 with half a billion parameters, with rank-sixteen adapters on the four attention projections. The bar chart uses a log scale because the difference is several orders of magnitude. The memory saving comes mainly from the optimizer: Adam stores two extra numbers per trainable parameter, so training only adapters removes most of that memory. The LoRA paper reported ten thousand times fewer trainable parameters and three times less GPU memory for GPT-3, with quality comparable to full fine-tuning on the tasks they tested.
Ask: Why does the chart use a log scale?
Answer: The counts differ by more than two orders of magnitude, so a linear axis would hide the LoRA bar.
Common mistake: Reading the trainable count as the memory needed. Frozen weights and activations still use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QLoRA combines LoRA with quantisation. The frozen base weights are stored in four bits using a data type called NormalFloat, designed for normally distributed weights, and are de-quantised on the fly during the forward pass, while the adapters are trained in sixteen-bit precision. Double quantisation also compresses the quantisation constants, and paged optimizers handle memory spikes. The QLoRA paper fine-tuned a sixty-five-billion-parameter model on a single forty-eight-gigabyte GPU. For students this means that seven- or eight-billion-parameter models can often be fine-tuned on a Colab T4 GPU when one is available; the lab includes an optional QLoRA snippet.
Analogy: Keep a reference book in compact print and write your notes on a separate clean sheet.
Ask: In QLoRA, which numbers are 4-bit and which are trained?
Answer: The frozen base weights are stored in 4 bits; the LoRA adapters are trained in 16-bit precision.
Common mistake: Assuming 4-bit storage keeps full quality without testing. Measure the task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LoRA updates low-rank additions to selected weights; QLoRA keeps those additions while compressing the frozen base. Bottleneck adapters add small layers. Prompt tuning learns vectors at the input. Prefix tuning adds learned key/value prefixes at multiple transformer layers. Full fine-tuning updates original weights. Analogy: several different adjustment points can tune an instrument. Ask: which method changes all original matrices? Common mistake: prompt and prefix tuning are not identical input-prepending procedures; inspect their location and evaluate quality and latency.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These are order-of-magnitude estimates students can reproduce. Sixteen-bit weights need two bytes per parameter, so about fifteen gigabytes for a seven-to-eight-billion-parameter model. Full fine-tuning with Adam in mixed precision needs roughly sixteen bytes per parameter in total for weights, gradients, master weights and optimizer states, well over a hundred gigabytes. LoRA keeps the base frozen, so gradients and optimizer states exist only for the tiny adapters. QLoRA shrinks the base to about half a byte per parameter. Activations add memory depending on sequence length and batch size, so always measure.
Ask: Why does full fine-tuning need about 16 bytes per parameter?
Answer: 16-bit weights and gradients (2 + 2 bytes), a 32-bit master copy (4) and two Adam states (8).
Common mistake: Forgetting activations. They grow with sequence length and batch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Distillation, from Hinton and colleagues in 2015, trains a small student model to reproduce a large teacher's behaviour, either by matching its full output distributions, which carry more information than hard labels, or, for LLMs, by fine-tuning on answers generated by the teacher, sometimes called synthetic data. It is a key reason small models improved so fast. DeepSeek released versions of R1 distilled into small Qwen and Llama models. Two cautions: distillation inherits the teacher's errors and biases, and many commercial API terms prohibit using outputs to develop competing models.
Analogy: An apprentice learns by copying a master's finished work.
Ask: Why do a teacher's full probabilities carry more information than hard labels?
Answer: They show which wrong answers are nearly right, not just the winner.
Common mistake: Ignoring provider terms. Many APIs forbid using outputs to build competing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final section puts everything together for a domain-specific task: a workflow, the common pitfalls, real results from the lab notebook run on a banking customer-support task, evaluation and benchmarks, examples of domain models, and the responsible-AI issues specific to fine-tuning. The real results from the lab anchor the whole section, so leave time for questions on them. About twenty-five minutes.
Analogy: Training examples are practice, validation selects settings, and the final test is the exam.
Ask: Which prompt result must fine-tuning beat on the same held-out messages?
Answer: The best prompting result on that test set.
Common mistake: Treating lower training loss as better task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needs inputs and known desired answers. The lab separates banking messages into training, validation and test examples. The to_chat function builds the prompt/completion format expected by the trainer. During supervised fine-tuning, the model reads the prompt and learns to assign higher probability to the correct answer tokens. LoRA limits updates to small added matrices while the original weights remain fixed. Validation loss checks prediction error on examples excluded from learning; it helps spot when further training stops helping. The test set is reserved for the final comparison. Saving the adapter stores the added weights and configuration, not a complete independent language model. The matching base model is required when loading it.
Worked example:
A training message about a missing card payment has a known intent label.
to_chat pairs the message prompt with that label as the completion.
The trainer changes adapter weights to reduce answer-token loss.
If validation loss rises while training loss falls, investigate overfitting.
Save the adapter with its base-model identity and settings.
Check: Does a small adapter file contain the whole model?
Answer: No. It contains added weights and configuration; load the compatible base model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workflow is what the project expects when a group fine-tunes. Create the held-out test set first and never train on it. Prepare and format data carefully. Establish the best prompting baseline on the same test set, because fine-tuning is only justified if it beats that baseline by a meaningful margin. Train with LoRA using conservative settings and watch the validation loss. Evaluate the task metric, check that general abilities have not collapsed, and compare cost and latency. Then decide whether to iterate, deploy or go back to prompting and retrieval.
Ask: Why create the held-out test set first?
Answer: So no training or prompt decision can see it.
Common mistake: Skipping the prompting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Each pitfall is common in student projects. Overfitting is visible when validation loss rises while training loss falls. Catastrophic forgetting means the model loses abilities it had before; we demonstrate it in the lab by asking the banking model a general-knowledge question, and show that switching off the LoRA adapter restores the base behaviour. Data leakage is the most damaging because it produces impressive but false results. Chat-template mismatch produces odd outputs. Learning rates that are fine for LoRA can destroy a model in full fine-tuning. And evaluation must use the held-out set, not examples or losses.
Ask: How do you spot overfitting during training?
Answer: Validation loss rises while training loss keeps falling.
Common mistake: Evaluating on training examples, or on loss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Read the recorded table and its run settings: the same base model, 200 held-out messages and greedy decoding. Accuracy on 200 held-out messages: base, zero-shot 52.5%, base, few-shot 85.0%, LoRA fine-tuned 97.0%. The recorded run fine-tuned Qwen2.5-0.5B-Instruct on 1,216 examples for one epoch in about 76 minutes on a laptop CPU. The LoRA model still gave 1 unparsed reply (0.5%). Compare the best prompt, costs and errors. Analogy: compare learners using the same exam. Ask: would the gain justify training and maintenance for this workload? Answer: At high volume it often can, because a small fine-tuned model is cheap per message, but it must be retrained when the intents change. Common mistake: these results establish this experiment, not a universal fine-tuning benefit. Recheck safety and earlier abilities.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recorded training and validation curves both fall. There is no clear loss-based overfitting warning in this run, but that alone cannot prove generalisation on every future input. Loss is averaged on completion tokens; watch actual held-out labels too. A saved adapter needs its matching base model and configuration. Analogy: practice and mock-exam marks are useful clues, but still take the final exam. Ask: what errors remain despite a low loss? Common mistake: a falling curve proves neither zero errors nor preserved general 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training, the adapted model makes predictions without changing weights. It must receive the same chat format used for training. The base model runs with its LoRA correction active and produces an intent label as text. The normalise function interprets the response; evaluate compares it with the known test label. Use the identical test messages and parsing rule for the original and adapted models so the comparison is fair. An answer may be invalid for the parser or valid but in the wrong category. Keep these errors separate. Disabling the adapter restores the base path, which helps compare the same general question with and without the added correction. One such question is an illustration, not a complete forgetting test.
Worked example:
Choose a held-out message about a charged fee.
Run the base few-shot prompt and adapted model on that same text.
Inspect raw replies, parsed labels and the reference together.
Record task accuracy and repeat a small general-ability check.
Check: Why use the same parser for base and adapted answers?
Answer: Otherwise a score difference could come from different checking rules rather than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Evaluation after fine-tuning must go beyond the task metric. Compare with the prompting baseline on the same test set, with margins of error from week 7. Check that general capabilities have not regressed. Re-run safety tests, because fine-tuning can weaken safety behaviour, as the next slides show. Test robustness to paraphrases and to data from a different period. Measure cost and latency, since they are often the reason for fine-tuning. For high-stakes domains, add expert review. Benchmarks are useful for the general-ability check, but the held-out domain test set is what decides.
Ask: Why re-run safety tests after fine-tuning?
Answer: Fine-tuning, even on harmless-looking data, can weaken refusal behaviour.
Common mistake: Reporting only the task metric.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descriptor mentions domain-specific fine-tuning, and the business module mentions domain models such as BloombergGPT. BloombergGPT, released in 2023, was a fifty-billion-parameter model trained on a mix of financial and general data and did well on financial tasks at the time. Compare a general model plus retrieval with a specialist on the same domain test. Adapt a suitable general model when measured behaviour, format or cost gaps justify training. Domain data, in health, finance or law, is typically sensitive, so governance and privacy requirements shape what is possible.
Ask: When would building a specialist model like BloombergGPT be worth it today?
Answer: Rarely: only if a general model with retrieval or fine-tuning fails a measured domain test and the budget allows pre-training.
Common mistake: Assuming domain data alone guarantees better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Fine-tuning creates a new model with new responsibilities. Qi and colleagues showed in 2023 that fine-tuning safety-aligned models, even on harmless-looking data, can substantially weaken their refusal behaviour, so safety evaluation must be repeated after fine-tuning. Models memorise training examples, which matters for personal data. Biased labels produce biased decisions, so evaluate performance across relevant groups. Licences and API terms may restrict fine-tuning or the use of outputs. And documentation, a model card for the adapter describing data, evaluation and limitations, is both good practice and increasingly a regulatory expectation.
Ask: What should an adapter's model card record?
Answer: Its base model, training data and licence, settings, evaluation results and known limits.
Common mistake: Fine-tuning on records that contain personal data. Models can memorise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 connects data preparation, training and evaluation. INTENTS filters the source dataset to ten routing categories. The to_chat function creates conversational prompt/completion pairs, while evaluate records raw outputs, parsed labels and correctness. The normalise function is deliberately lenient: a label wrapped in explanatory text can still count as recognised, so the invalid rate is defined by this parser rather than by strict label-only output. The trainer records loss history for learning-curve inspection. After training, comparison uses the same test examples for both baselines and the tuned model, and the error table reveals which categories were confused. The adapter-off question is one illustrative check of specialisation, rather than a broad general-capability benchmark. Finally, the saved adapter's disk size is compared with the base parameters' in-memory byte count, so the size figures have slightly different definitions.
Worked example:
Check that the train and validation data come from the training split, while test messages remain separate.
Inspect one to_chat pair before running the trainer.
Watch validation loss alongside training loss rather than choosing by training loss alone.
A recognised wrong intent is a decision error; no recognised intent is a parser/format failure.
Ask a general question with the adapter on and off, then save the small adapter artifact.
Check: What two different failures should you distinguish in the test output table?
Answer: A recognised but incorrect intent is a decision error; an output with no recognised intent is an invalid/parser-format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lab implements the descriptor's tutorial exactly: fine-tune a pre-trained LLM for a domain-specific task, apply parameter-efficient fine-tuning with LoRA and optionally QLoRA, and compare base with fine-tuned performance. The domain is banking customer support, using the public Banking77 dataset under a CC-BY licence. Students must use the held-out test set for all comparisons and interpret the differences with the statistics from week 7. The optional extensions cover QLoRA on a larger model and DPO preference tuning.
Ask: Which test set compares the base model and the adapter?
Answer: The same 200 held-out messages for every model.
Common mistake: Comparing smoke-run scores. They use six messages and three training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Hugging Face LLM Course chapter on supervised fine-tuning follows the same TRL and PEFT workflow as the lab. The PEFT and TRL documentation are the references for the code. The Illustrating RLHF blog post explains the pipeline clearly. Google's crash course covers fine-tuning and distillation concisely. The LoRA, DPO and InstructGPT papers are the key primary sources; the QLoRA and DeepSeek-R1 papers are in the teaching notes. Tunstall and colleagues' book, from the descriptor list, covers classic fine-tuning of transformers. All links were last checked on 9 October 2026.
Ask: Which resource matches the lab's code most closely?
Answer: The Hugging Face LLM Course chapter on supervised fine-tuning with TRL and LoRA.
Common mistake: Reading the papers without running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Trace the banking task from separate datasets to a saved adapter. First measure strong prompting. Format prompts and known answers with the model’s chat template. Mask prompt loss while the model still reads it. LoRA trains a small correction with the base frozen. Check validation and compare held-out labels using the same parser. Analogy: guided practice tunes a specialist adjustment. Ask students to calculate rank 16 for two 4096 dimensions. Common mistake: fewer trainable values do not remove base memory, errors or safety risks. Preferences supply a different teaching signal. Prompt and prefix tuning act at different locations. Record costs, provenance and remaining limitations.
Exit question: Does falling training loss prove that fine-tuning helped?
Answer: No. Compare with the best prompt on held-out examples; inspect errors, validation, earlier abilities and cost.
Say: Recap the six points. Students should be able to explain when to fine-tune, write the SFT and DPO losses, compute LoRA parameter counts, and describe an honest evaluation. Next week we open the multimodal half of the module: how models connect text with images, audio and video, starting with representation learning and contrastive models such as CLIP, which students met briefly in the diffusion lab's CLIP score. The fine-tuning skills from today apply directly to multimodal models in week 10.
Ask: What must a fine-tuned model beat to justify its cost?
Answer: The best prompt on the same held-out test, by more than the margin of error.
Common mistake: Reporting accuracy without the baseline or the test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image" Target="../media/image-36-6.png"/><Relationship Id="rId7" Type="http://schemas.openxmlformats.org/officeDocument/2006/relationships/slideLayout" Target="../slideLayouts/slideLayout1.xml"/><Relationship Id="rId8"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1.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hyperlink" Target="https://huggingface.co/learn/llm-course/chapter11/1" TargetMode="External"/><Relationship Id="rId4" Type="http://schemas.openxmlformats.org/officeDocument/2006/relationships/hyperlink" Target="https://huggingface.co/docs/peft/index" TargetMode="External"/><Relationship Id="rId6" Type="http://schemas.openxmlformats.org/officeDocument/2006/relationships/hyperlink" Target="https://huggingface.co/docs/trl/index" TargetMode="External"/><Relationship Id="rId8" Type="http://schemas.openxmlformats.org/officeDocument/2006/relationships/hyperlink" Target="https://huggingface.co/blog/rlhf" TargetMode="External"/><Relationship Id="rId10" Type="http://schemas.openxmlformats.org/officeDocument/2006/relationships/hyperlink" Target="https://developers.google.com/machine-learning/crash-course/llm" TargetMode="External"/><Relationship Id="rId12" Type="http://schemas.openxmlformats.org/officeDocument/2006/relationships/hyperlink" Target="https://arxiv.org/abs/2106.09685" TargetMode="External"/><Relationship Id="rId14" Type="http://schemas.openxmlformats.org/officeDocument/2006/relationships/hyperlink" Target="https://arxiv.org/abs/2305.18290" TargetMode="External"/><Relationship Id="rId16" Type="http://schemas.openxmlformats.org/officeDocument/2006/relationships/hyperlink" Target="https://arxiv.org/abs/2203.02155" TargetMode="External"/><Relationship Id="rId1" Type="http://schemas.openxmlformats.org/officeDocument/2006/relationships/image" Target="../media/image-45-1.png"/><Relationship Id="rId3" Type="http://schemas.openxmlformats.org/officeDocument/2006/relationships/image" Target="../media/image-45-2.png"/><Relationship Id="rId5" Type="http://schemas.openxmlformats.org/officeDocument/2006/relationships/image" Target="../media/image-45-3.png"/><Relationship Id="rId7" Type="http://schemas.openxmlformats.org/officeDocument/2006/relationships/image" Target="../media/image-45-4.png"/><Relationship Id="rId9" Type="http://schemas.openxmlformats.org/officeDocument/2006/relationships/image" Target="../media/image-45-5.png"/><Relationship Id="rId11" Type="http://schemas.openxmlformats.org/officeDocument/2006/relationships/image" Target="../media/image-45-6.png"/><Relationship Id="rId13" Type="http://schemas.openxmlformats.org/officeDocument/2006/relationships/image" Target="../media/image-45-7.png"/><Relationship Id="rId15" Type="http://schemas.openxmlformats.org/officeDocument/2006/relationships/image" Target="../media/image-45-8.png"/><Relationship Id="rId17" Type="http://schemas.openxmlformats.org/officeDocument/2006/relationships/slideLayout" Target="../slideLayouts/slideLayout1.xml"/><Relationship Id="rId18"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731520" y="1051560"/>
            <a:ext cx="1737360" cy="457200"/>
          </a:xfrm>
          <a:prstGeom prst="roundRect">
            <a:avLst>
              <a:gd name="adj" fmla="val 20000"/>
            </a:avLst>
          </a:prstGeom>
          <a:solidFill>
            <a:srgbClr val="EA580C"/>
          </a:solidFill>
          <a:ln w="12700">
            <a:solidFill>
              <a:srgbClr val="EA580C"/>
            </a:solidFill>
            <a:prstDash val="solid"/>
          </a:ln>
        </p:spPr>
      </p:sp>
      <p:sp>
        <p:nvSpPr>
          <p:cNvPr id="3" name="Text 1"/>
          <p:cNvSpPr txBox="1"/>
          <p:nvPr/>
        </p:nvSpPr>
        <p:spPr>
          <a:xfrm>
            <a:off x="731520" y="1051560"/>
            <a:ext cx="1737360" cy="457200"/>
          </a:xfrm>
          <a:prstGeom prst="rect">
            <a:avLst/>
          </a:prstGeom>
          <a:noFill/>
          <a:ln/>
        </p:spPr>
        <p:txBody>
          <a:bodyPr wrap="square" lIns="0" tIns="0" rIns="0" bIns="0" rtlCol="0" anchor="ctr"/>
          <a:lstStyle/>
          <a:p>
            <a:pPr algn="ctr" indent="0" marL="0">
              <a:buNone/>
            </a:pPr>
            <a:r>
              <a:rPr lang="en-US" sz="1600" b="1" spc="200" kern="0" dirty="0">
                <a:solidFill>
                  <a:srgbClr val="FFFFFF"/>
                </a:solidFill>
                <a:latin typeface="Calibri" pitchFamily="34" charset="0"/>
                <a:ea typeface="Calibri" pitchFamily="34" charset="-122"/>
                <a:cs typeface="Calibri" pitchFamily="34" charset="-120"/>
              </a:rPr>
              <a:t>WEEK 08</a:t>
            </a:r>
            <a:endParaRPr lang="en-US" sz="1600" dirty="0"/>
          </a:p>
        </p:txBody>
      </p:sp>
      <p:sp>
        <p:nvSpPr>
          <p:cNvPr id="4" name="Text 2"/>
          <p:cNvSpPr txBox="1"/>
          <p:nvPr/>
        </p:nvSpPr>
        <p:spPr>
          <a:xfrm>
            <a:off x="731520" y="1737360"/>
            <a:ext cx="6766560" cy="2103120"/>
          </a:xfrm>
          <a:prstGeom prst="rect">
            <a:avLst/>
          </a:prstGeom>
          <a:noFill/>
          <a:ln/>
        </p:spPr>
        <p:txBody>
          <a:bodyPr wrap="square" lIns="0" tIns="0" rIns="0" bIns="0" rtlCol="0" anchor="b"/>
          <a:lstStyle/>
          <a:p>
            <a:pPr indent="0" marL="0">
              <a:lnSpc>
                <a:spcPct val="95000"/>
              </a:lnSpc>
              <a:buNone/>
            </a:pPr>
            <a:r>
              <a:rPr lang="en-US" sz="4500" b="1" dirty="0">
                <a:solidFill>
                  <a:srgbClr val="FFFFFF"/>
                </a:solidFill>
                <a:latin typeface="Calibri" pitchFamily="34" charset="0"/>
                <a:ea typeface="Calibri" pitchFamily="34" charset="-122"/>
                <a:cs typeface="Calibri" pitchFamily="34" charset="-120"/>
              </a:rPr>
              <a:t>Fine-Tuning and Domain Adaptation</a:t>
            </a:r>
            <a:endParaRPr lang="en-US" sz="4500" dirty="0"/>
          </a:p>
        </p:txBody>
      </p:sp>
      <p:sp>
        <p:nvSpPr>
          <p:cNvPr id="5" name="Text 3"/>
          <p:cNvSpPr txBox="1"/>
          <p:nvPr/>
        </p:nvSpPr>
        <p:spPr>
          <a:xfrm>
            <a:off x="731520" y="3977640"/>
            <a:ext cx="6766560" cy="1097280"/>
          </a:xfrm>
          <a:prstGeom prst="rect">
            <a:avLst/>
          </a:prstGeom>
          <a:noFill/>
          <a:ln/>
        </p:spPr>
        <p:txBody>
          <a:bodyPr wrap="square" lIns="0" tIns="0" rIns="0" bIns="0" rtlCol="0" anchor="t"/>
          <a:lstStyle/>
          <a:p>
            <a:pPr indent="0" marL="0">
              <a:buNone/>
            </a:pPr>
            <a:r>
              <a:rPr lang="en-US" sz="2000" dirty="0">
                <a:solidFill>
                  <a:srgbClr val="C7D2FE"/>
                </a:solidFill>
                <a:latin typeface="Calibri" pitchFamily="34" charset="0"/>
                <a:ea typeface="Calibri" pitchFamily="34" charset="-122"/>
                <a:cs typeface="Calibri" pitchFamily="34" charset="-120"/>
              </a:rPr>
              <a:t>Teach an existing model a task, train small adapters, and check what changes</a:t>
            </a:r>
            <a:endParaRPr lang="en-US" sz="2000" dirty="0"/>
          </a:p>
        </p:txBody>
      </p:sp>
      <p:sp>
        <p:nvSpPr>
          <p:cNvPr id="6" name="Text 4"/>
          <p:cNvSpPr txBox="1"/>
          <p:nvPr/>
        </p:nvSpPr>
        <p:spPr>
          <a:xfrm>
            <a:off x="731520" y="5897880"/>
            <a:ext cx="8229600" cy="365760"/>
          </a:xfrm>
          <a:prstGeom prst="rect">
            <a:avLst/>
          </a:prstGeom>
          <a:noFill/>
          <a:ln/>
        </p:spPr>
        <p:txBody>
          <a:bodyPr wrap="square" lIns="0" tIns="0" rIns="0" bIns="0" rtlCol="0" anchor="t"/>
          <a:lstStyle/>
          <a:p>
            <a:pPr indent="0" marL="0">
              <a:buNone/>
            </a:pPr>
            <a:r>
              <a:rPr lang="en-US" sz="1400" dirty="0">
                <a:solidFill>
                  <a:srgbClr val="C7D2FE"/>
                </a:solidFill>
                <a:latin typeface="Calibri" pitchFamily="34" charset="0"/>
                <a:ea typeface="Calibri" pitchFamily="34" charset="-122"/>
                <a:cs typeface="Calibri" pitchFamily="34" charset="-120"/>
              </a:rPr>
              <a:t>MSc in Artificial Intelligence  ·  Generative AI  ·  2-hour lecture</a:t>
            </a:r>
            <a:endParaRPr lang="en-US" sz="1400" dirty="0"/>
          </a:p>
        </p:txBody>
      </p:sp>
      <p:pic>
        <p:nvPicPr>
          <p:cNvPr id="7" name="Image 0" descr="C:\Users\sudee\Downloads\Generative_AI_2027_Teaching_Pack\AI2027_Project\build\figures\week_08\cover.png">    </p:cNvPr>
          <p:cNvPicPr>
            <a:picLocks noChangeAspect="1"/>
          </p:cNvPicPr>
          <p:nvPr/>
        </p:nvPicPr>
        <p:blipFill>
          <a:blip r:embed="rId1"/>
          <a:stretch>
            <a:fillRect/>
          </a:stretch>
        </p:blipFill>
        <p:spPr>
          <a:xfrm>
            <a:off x="7818120" y="1520258"/>
            <a:ext cx="3840480" cy="381748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By the end of this week you can…</a:t>
            </a:r>
            <a:endParaRPr lang="en-US" sz="3200" dirty="0"/>
          </a:p>
        </p:txBody>
      </p:sp>
      <p:sp>
        <p:nvSpPr>
          <p:cNvPr id="6" name="Shape 4"/>
          <p:cNvSpPr/>
          <p:nvPr/>
        </p:nvSpPr>
        <p:spPr>
          <a:xfrm>
            <a:off x="548640" y="1545336"/>
            <a:ext cx="411480" cy="411480"/>
          </a:xfrm>
          <a:prstGeom prst="ellipse">
            <a:avLst/>
          </a:prstGeom>
          <a:solidFill>
            <a:srgbClr val="4F46E5"/>
          </a:solidFill>
          <a:ln w="12700">
            <a:solidFill>
              <a:srgbClr val="4F46E5"/>
            </a:solidFill>
            <a:prstDash val="solid"/>
          </a:ln>
        </p:spPr>
      </p:sp>
      <p:sp>
        <p:nvSpPr>
          <p:cNvPr id="7" name="Text 5"/>
          <p:cNvSpPr txBox="1"/>
          <p:nvPr/>
        </p:nvSpPr>
        <p:spPr>
          <a:xfrm>
            <a:off x="548640" y="15453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527048"/>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Choose prompting, retrieval or further training.</a:t>
            </a:r>
            <a:endParaRPr lang="en-US" sz="2000" dirty="0"/>
          </a:p>
        </p:txBody>
      </p:sp>
      <p:sp>
        <p:nvSpPr>
          <p:cNvPr id="9" name="Shape 7"/>
          <p:cNvSpPr/>
          <p:nvPr/>
        </p:nvSpPr>
        <p:spPr>
          <a:xfrm>
            <a:off x="548640" y="2342388"/>
            <a:ext cx="411480" cy="411480"/>
          </a:xfrm>
          <a:prstGeom prst="ellipse">
            <a:avLst/>
          </a:prstGeom>
          <a:solidFill>
            <a:srgbClr val="4F46E5"/>
          </a:solidFill>
          <a:ln w="12700">
            <a:solidFill>
              <a:srgbClr val="4F46E5"/>
            </a:solidFill>
            <a:prstDash val="solid"/>
          </a:ln>
        </p:spPr>
      </p:sp>
      <p:sp>
        <p:nvSpPr>
          <p:cNvPr id="10" name="Text 8"/>
          <p:cNvSpPr txBox="1"/>
          <p:nvPr/>
        </p:nvSpPr>
        <p:spPr>
          <a:xfrm>
            <a:off x="548640" y="234238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324100"/>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Explain SFT and instruction tuning.</a:t>
            </a:r>
            <a:endParaRPr lang="en-US" sz="2000" dirty="0"/>
          </a:p>
        </p:txBody>
      </p:sp>
      <p:sp>
        <p:nvSpPr>
          <p:cNvPr id="12" name="Shape 10"/>
          <p:cNvSpPr/>
          <p:nvPr/>
        </p:nvSpPr>
        <p:spPr>
          <a:xfrm>
            <a:off x="548640" y="3139440"/>
            <a:ext cx="411480" cy="411480"/>
          </a:xfrm>
          <a:prstGeom prst="ellipse">
            <a:avLst/>
          </a:prstGeom>
          <a:solidFill>
            <a:srgbClr val="4F46E5"/>
          </a:solidFill>
          <a:ln w="12700">
            <a:solidFill>
              <a:srgbClr val="4F46E5"/>
            </a:solidFill>
            <a:prstDash val="solid"/>
          </a:ln>
        </p:spPr>
      </p:sp>
      <p:sp>
        <p:nvSpPr>
          <p:cNvPr id="13" name="Text 11"/>
          <p:cNvSpPr txBox="1"/>
          <p:nvPr/>
        </p:nvSpPr>
        <p:spPr>
          <a:xfrm>
            <a:off x="548640" y="31394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121152"/>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Compare reward-model RLHF, DPO and verified rewards.</a:t>
            </a:r>
            <a:endParaRPr lang="en-US" sz="2000" dirty="0"/>
          </a:p>
        </p:txBody>
      </p:sp>
      <p:sp>
        <p:nvSpPr>
          <p:cNvPr id="15" name="Shape 13"/>
          <p:cNvSpPr/>
          <p:nvPr/>
        </p:nvSpPr>
        <p:spPr>
          <a:xfrm>
            <a:off x="548640" y="3936492"/>
            <a:ext cx="411480" cy="411480"/>
          </a:xfrm>
          <a:prstGeom prst="ellipse">
            <a:avLst/>
          </a:prstGeom>
          <a:solidFill>
            <a:srgbClr val="4F46E5"/>
          </a:solidFill>
          <a:ln w="12700">
            <a:solidFill>
              <a:srgbClr val="4F46E5"/>
            </a:solidFill>
            <a:prstDash val="solid"/>
          </a:ln>
        </p:spPr>
      </p:sp>
      <p:sp>
        <p:nvSpPr>
          <p:cNvPr id="16" name="Text 14"/>
          <p:cNvSpPr txBox="1"/>
          <p:nvPr/>
        </p:nvSpPr>
        <p:spPr>
          <a:xfrm>
            <a:off x="548640" y="39364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918204"/>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Trace LoRA and calculate its parameter count.</a:t>
            </a:r>
            <a:endParaRPr lang="en-US" sz="2000" dirty="0"/>
          </a:p>
        </p:txBody>
      </p:sp>
      <p:sp>
        <p:nvSpPr>
          <p:cNvPr id="18" name="Shape 16"/>
          <p:cNvSpPr/>
          <p:nvPr/>
        </p:nvSpPr>
        <p:spPr>
          <a:xfrm>
            <a:off x="548640" y="4733544"/>
            <a:ext cx="411480" cy="411480"/>
          </a:xfrm>
          <a:prstGeom prst="ellipse">
            <a:avLst/>
          </a:prstGeom>
          <a:solidFill>
            <a:srgbClr val="4F46E5"/>
          </a:solidFill>
          <a:ln w="12700">
            <a:solidFill>
              <a:srgbClr val="4F46E5"/>
            </a:solidFill>
            <a:prstDash val="solid"/>
          </a:ln>
        </p:spPr>
      </p:sp>
      <p:sp>
        <p:nvSpPr>
          <p:cNvPr id="19" name="Text 17"/>
          <p:cNvSpPr txBox="1"/>
          <p:nvPr/>
        </p:nvSpPr>
        <p:spPr>
          <a:xfrm>
            <a:off x="548640" y="473354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15256"/>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Distinguish QLoRA, soft prompts and distillation.</a:t>
            </a:r>
            <a:endParaRPr lang="en-US" sz="2000" dirty="0"/>
          </a:p>
        </p:txBody>
      </p:sp>
      <p:sp>
        <p:nvSpPr>
          <p:cNvPr id="21" name="Shape 19"/>
          <p:cNvSpPr/>
          <p:nvPr/>
        </p:nvSpPr>
        <p:spPr>
          <a:xfrm>
            <a:off x="548640" y="5530596"/>
            <a:ext cx="411480" cy="411480"/>
          </a:xfrm>
          <a:prstGeom prst="ellipse">
            <a:avLst/>
          </a:prstGeom>
          <a:solidFill>
            <a:srgbClr val="4F46E5"/>
          </a:solidFill>
          <a:ln w="12700">
            <a:solidFill>
              <a:srgbClr val="4F46E5"/>
            </a:solidFill>
            <a:prstDash val="solid"/>
          </a:ln>
        </p:spPr>
      </p:sp>
      <p:sp>
        <p:nvSpPr>
          <p:cNvPr id="22" name="Text 20"/>
          <p:cNvSpPr txBox="1"/>
          <p:nvPr/>
        </p:nvSpPr>
        <p:spPr>
          <a:xfrm>
            <a:off x="548640" y="553059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12308"/>
            <a:ext cx="6903720" cy="79705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Adapt a domain model and evaluate fairly.</a:t>
            </a:r>
            <a:endParaRPr lang="en-US" sz="2000" dirty="0"/>
          </a:p>
        </p:txBody>
      </p:sp>
      <p:sp>
        <p:nvSpPr>
          <p:cNvPr id="24" name="Shape 22"/>
          <p:cNvSpPr/>
          <p:nvPr/>
        </p:nvSpPr>
        <p:spPr>
          <a:xfrm>
            <a:off x="8458200" y="1527048"/>
            <a:ext cx="3184855" cy="4782312"/>
          </a:xfrm>
          <a:prstGeom prst="roundRect">
            <a:avLst>
              <a:gd name="adj" fmla="val 3445"/>
            </a:avLst>
          </a:prstGeom>
          <a:solidFill>
            <a:srgbClr val="EEF0FF"/>
          </a:solidFill>
          <a:ln w="12700">
            <a:solidFill>
              <a:srgbClr val="EEF0FF"/>
            </a:solidFill>
            <a:prstDash val="solid"/>
          </a:ln>
        </p:spPr>
      </p:sp>
      <p:sp>
        <p:nvSpPr>
          <p:cNvPr id="25" name="Text 23"/>
          <p:cNvSpPr txBox="1"/>
          <p:nvPr/>
        </p:nvSpPr>
        <p:spPr>
          <a:xfrm>
            <a:off x="8686800" y="1664208"/>
            <a:ext cx="2727655" cy="64008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Module learning outcomes (MIMLOs) practised</a:t>
            </a:r>
            <a:endParaRPr lang="en-US" sz="1500" dirty="0"/>
          </a:p>
        </p:txBody>
      </p:sp>
      <p:sp>
        <p:nvSpPr>
          <p:cNvPr id="26" name="Shape 24"/>
          <p:cNvSpPr/>
          <p:nvPr/>
        </p:nvSpPr>
        <p:spPr>
          <a:xfrm>
            <a:off x="8686800" y="2395728"/>
            <a:ext cx="1143000" cy="365760"/>
          </a:xfrm>
          <a:prstGeom prst="roundRect">
            <a:avLst>
              <a:gd name="adj" fmla="val 20000"/>
            </a:avLst>
          </a:prstGeom>
          <a:solidFill>
            <a:srgbClr val="4F46E5"/>
          </a:solidFill>
          <a:ln w="12700">
            <a:solidFill>
              <a:srgbClr val="4F46E5"/>
            </a:solidFill>
            <a:prstDash val="solid"/>
          </a:ln>
        </p:spPr>
      </p:sp>
      <p:sp>
        <p:nvSpPr>
          <p:cNvPr id="27" name="Text 25"/>
          <p:cNvSpPr txBox="1"/>
          <p:nvPr/>
        </p:nvSpPr>
        <p:spPr>
          <a:xfrm>
            <a:off x="8686800" y="239572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1</a:t>
            </a:r>
            <a:endParaRPr lang="en-US" sz="1400" dirty="0"/>
          </a:p>
        </p:txBody>
      </p:sp>
      <p:sp>
        <p:nvSpPr>
          <p:cNvPr id="28" name="Text 26"/>
          <p:cNvSpPr txBox="1"/>
          <p:nvPr/>
        </p:nvSpPr>
        <p:spPr>
          <a:xfrm>
            <a:off x="8641080" y="277977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Explain core concepts, maths and model families</a:t>
            </a:r>
            <a:endParaRPr lang="en-US" sz="1400" dirty="0"/>
          </a:p>
        </p:txBody>
      </p:sp>
      <p:sp>
        <p:nvSpPr>
          <p:cNvPr id="29" name="Shape 27"/>
          <p:cNvSpPr/>
          <p:nvPr/>
        </p:nvSpPr>
        <p:spPr>
          <a:xfrm>
            <a:off x="8686800" y="3584448"/>
            <a:ext cx="1143000" cy="365760"/>
          </a:xfrm>
          <a:prstGeom prst="roundRect">
            <a:avLst>
              <a:gd name="adj" fmla="val 20000"/>
            </a:avLst>
          </a:prstGeom>
          <a:solidFill>
            <a:srgbClr val="4F46E5"/>
          </a:solidFill>
          <a:ln w="12700">
            <a:solidFill>
              <a:srgbClr val="4F46E5"/>
            </a:solidFill>
            <a:prstDash val="solid"/>
          </a:ln>
        </p:spPr>
      </p:sp>
      <p:sp>
        <p:nvSpPr>
          <p:cNvPr id="30" name="Text 28"/>
          <p:cNvSpPr txBox="1"/>
          <p:nvPr/>
        </p:nvSpPr>
        <p:spPr>
          <a:xfrm>
            <a:off x="8686800" y="358444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3</a:t>
            </a:r>
            <a:endParaRPr lang="en-US" sz="1400" dirty="0"/>
          </a:p>
        </p:txBody>
      </p:sp>
      <p:sp>
        <p:nvSpPr>
          <p:cNvPr id="31" name="Text 29"/>
          <p:cNvSpPr txBox="1"/>
          <p:nvPr/>
        </p:nvSpPr>
        <p:spPr>
          <a:xfrm>
            <a:off x="8641080" y="396849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Design, implement and fine-tune models</a:t>
            </a:r>
            <a:endParaRPr lang="en-US" sz="1400" dirty="0"/>
          </a:p>
        </p:txBody>
      </p:sp>
      <p:sp>
        <p:nvSpPr>
          <p:cNvPr id="32" name="Shape 30"/>
          <p:cNvSpPr/>
          <p:nvPr/>
        </p:nvSpPr>
        <p:spPr>
          <a:xfrm>
            <a:off x="8686800" y="4773168"/>
            <a:ext cx="1143000" cy="365760"/>
          </a:xfrm>
          <a:prstGeom prst="roundRect">
            <a:avLst>
              <a:gd name="adj" fmla="val 20000"/>
            </a:avLst>
          </a:prstGeom>
          <a:solidFill>
            <a:srgbClr val="4F46E5"/>
          </a:solidFill>
          <a:ln w="12700">
            <a:solidFill>
              <a:srgbClr val="4F46E5"/>
            </a:solidFill>
            <a:prstDash val="solid"/>
          </a:ln>
        </p:spPr>
      </p:sp>
      <p:sp>
        <p:nvSpPr>
          <p:cNvPr id="33" name="Text 31"/>
          <p:cNvSpPr txBox="1"/>
          <p:nvPr/>
        </p:nvSpPr>
        <p:spPr>
          <a:xfrm>
            <a:off x="8686800" y="4773168"/>
            <a:ext cx="11430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MIMLO 4</a:t>
            </a:r>
            <a:endParaRPr lang="en-US" sz="1400" dirty="0"/>
          </a:p>
        </p:txBody>
      </p:sp>
      <p:sp>
        <p:nvSpPr>
          <p:cNvPr id="34" name="Text 32"/>
          <p:cNvSpPr txBox="1"/>
          <p:nvPr/>
        </p:nvSpPr>
        <p:spPr>
          <a:xfrm>
            <a:off x="8641080" y="515721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Critically evaluate outputs: metrics, humans, ethics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Where we are in the course</a:t>
            </a:r>
            <a:endParaRPr lang="en-US" sz="3200" dirty="0"/>
          </a:p>
        </p:txBody>
      </p:sp>
      <p:sp>
        <p:nvSpPr>
          <p:cNvPr id="6" name="Text 4"/>
          <p:cNvSpPr txBox="1"/>
          <p:nvPr/>
        </p:nvSpPr>
        <p:spPr>
          <a:xfrm>
            <a:off x="1077042" y="17161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Foundations and image generators</a:t>
            </a:r>
            <a:endParaRPr lang="en-US" sz="1560" dirty="0"/>
          </a:p>
        </p:txBody>
      </p:sp>
      <p:sp>
        <p:nvSpPr>
          <p:cNvPr id="7" name="Shape 5"/>
          <p:cNvSpPr/>
          <p:nvPr/>
        </p:nvSpPr>
        <p:spPr>
          <a:xfrm>
            <a:off x="1077042" y="2053648"/>
            <a:ext cx="2300286" cy="763093"/>
          </a:xfrm>
          <a:prstGeom prst="roundRect">
            <a:avLst>
              <a:gd name="adj" fmla="val 9586"/>
            </a:avLst>
          </a:prstGeom>
          <a:solidFill>
            <a:srgbClr val="E4F2FB"/>
          </a:solidFill>
          <a:ln w="15240">
            <a:solidFill>
              <a:srgbClr val="0072B2"/>
            </a:solidFill>
            <a:prstDash val="solid"/>
          </a:ln>
        </p:spPr>
      </p:sp>
      <p:sp>
        <p:nvSpPr>
          <p:cNvPr id="8" name="Text 6"/>
          <p:cNvSpPr txBox="1"/>
          <p:nvPr/>
        </p:nvSpPr>
        <p:spPr>
          <a:xfrm>
            <a:off x="1179766"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a:t>
            </a:r>
            <a:endParaRPr lang="en-US" sz="1444" dirty="0"/>
          </a:p>
        </p:txBody>
      </p:sp>
      <p:sp>
        <p:nvSpPr>
          <p:cNvPr id="9" name="Text 7"/>
          <p:cNvSpPr txBox="1"/>
          <p:nvPr/>
        </p:nvSpPr>
        <p:spPr>
          <a:xfrm>
            <a:off x="1179766"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Introduction and</a:t>
            </a:r>
            <a:endParaRPr lang="en-US" sz="1444" dirty="0"/>
          </a:p>
        </p:txBody>
      </p:sp>
      <p:sp>
        <p:nvSpPr>
          <p:cNvPr id="10" name="Text 8"/>
          <p:cNvSpPr txBox="1"/>
          <p:nvPr/>
        </p:nvSpPr>
        <p:spPr>
          <a:xfrm>
            <a:off x="1179766"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responsible AI</a:t>
            </a:r>
            <a:endParaRPr lang="en-US" sz="1444" dirty="0"/>
          </a:p>
        </p:txBody>
      </p:sp>
      <p:sp>
        <p:nvSpPr>
          <p:cNvPr id="11" name="Shape 9"/>
          <p:cNvSpPr/>
          <p:nvPr/>
        </p:nvSpPr>
        <p:spPr>
          <a:xfrm>
            <a:off x="3377328" y="2435195"/>
            <a:ext cx="278823" cy="0"/>
          </a:xfrm>
          <a:prstGeom prst="line">
            <a:avLst/>
          </a:prstGeom>
          <a:noFill/>
          <a:ln w="22860">
            <a:solidFill>
              <a:srgbClr val="0072B2"/>
            </a:solidFill>
            <a:prstDash val="solid"/>
            <a:tailEnd type="triangle"/>
          </a:ln>
        </p:spPr>
      </p:sp>
      <p:sp>
        <p:nvSpPr>
          <p:cNvPr id="12" name="Shape 10"/>
          <p:cNvSpPr/>
          <p:nvPr/>
        </p:nvSpPr>
        <p:spPr>
          <a:xfrm>
            <a:off x="3656151" y="2053648"/>
            <a:ext cx="2300286" cy="763093"/>
          </a:xfrm>
          <a:prstGeom prst="roundRect">
            <a:avLst>
              <a:gd name="adj" fmla="val 9586"/>
            </a:avLst>
          </a:prstGeom>
          <a:solidFill>
            <a:srgbClr val="E4F2FB"/>
          </a:solidFill>
          <a:ln w="15240">
            <a:solidFill>
              <a:srgbClr val="0072B2"/>
            </a:solidFill>
            <a:prstDash val="solid"/>
          </a:ln>
        </p:spPr>
      </p:sp>
      <p:sp>
        <p:nvSpPr>
          <p:cNvPr id="13" name="Text 11"/>
          <p:cNvSpPr txBox="1"/>
          <p:nvPr/>
        </p:nvSpPr>
        <p:spPr>
          <a:xfrm>
            <a:off x="3758875"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2</a:t>
            </a:r>
            <a:endParaRPr lang="en-US" sz="1444" dirty="0"/>
          </a:p>
        </p:txBody>
      </p:sp>
      <p:sp>
        <p:nvSpPr>
          <p:cNvPr id="14" name="Text 12"/>
          <p:cNvSpPr txBox="1"/>
          <p:nvPr/>
        </p:nvSpPr>
        <p:spPr>
          <a:xfrm>
            <a:off x="3758875"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Variational</a:t>
            </a:r>
            <a:endParaRPr lang="en-US" sz="1444" dirty="0"/>
          </a:p>
        </p:txBody>
      </p:sp>
      <p:sp>
        <p:nvSpPr>
          <p:cNvPr id="15" name="Text 13"/>
          <p:cNvSpPr txBox="1"/>
          <p:nvPr/>
        </p:nvSpPr>
        <p:spPr>
          <a:xfrm>
            <a:off x="3758875"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autoencoders (VAEs)</a:t>
            </a:r>
            <a:endParaRPr lang="en-US" sz="1444" dirty="0"/>
          </a:p>
        </p:txBody>
      </p:sp>
      <p:sp>
        <p:nvSpPr>
          <p:cNvPr id="16" name="Shape 14"/>
          <p:cNvSpPr/>
          <p:nvPr/>
        </p:nvSpPr>
        <p:spPr>
          <a:xfrm>
            <a:off x="5956436" y="2435195"/>
            <a:ext cx="278823" cy="0"/>
          </a:xfrm>
          <a:prstGeom prst="line">
            <a:avLst/>
          </a:prstGeom>
          <a:noFill/>
          <a:ln w="22860">
            <a:solidFill>
              <a:srgbClr val="0072B2"/>
            </a:solidFill>
            <a:prstDash val="solid"/>
            <a:tailEnd type="triangle"/>
          </a:ln>
        </p:spPr>
      </p:sp>
      <p:sp>
        <p:nvSpPr>
          <p:cNvPr id="17" name="Shape 15"/>
          <p:cNvSpPr/>
          <p:nvPr/>
        </p:nvSpPr>
        <p:spPr>
          <a:xfrm>
            <a:off x="6235259" y="2053648"/>
            <a:ext cx="2300286" cy="763093"/>
          </a:xfrm>
          <a:prstGeom prst="roundRect">
            <a:avLst>
              <a:gd name="adj" fmla="val 9586"/>
            </a:avLst>
          </a:prstGeom>
          <a:solidFill>
            <a:srgbClr val="E4F2FB"/>
          </a:solidFill>
          <a:ln w="15240">
            <a:solidFill>
              <a:srgbClr val="0072B2"/>
            </a:solidFill>
            <a:prstDash val="solid"/>
          </a:ln>
        </p:spPr>
      </p:sp>
      <p:sp>
        <p:nvSpPr>
          <p:cNvPr id="18" name="Text 16"/>
          <p:cNvSpPr txBox="1"/>
          <p:nvPr/>
        </p:nvSpPr>
        <p:spPr>
          <a:xfrm>
            <a:off x="6337983"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3</a:t>
            </a:r>
            <a:endParaRPr lang="en-US" sz="1444" dirty="0"/>
          </a:p>
        </p:txBody>
      </p:sp>
      <p:sp>
        <p:nvSpPr>
          <p:cNvPr id="19" name="Text 17"/>
          <p:cNvSpPr txBox="1"/>
          <p:nvPr/>
        </p:nvSpPr>
        <p:spPr>
          <a:xfrm>
            <a:off x="6337983"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Generative adversarial</a:t>
            </a:r>
            <a:endParaRPr lang="en-US" sz="1444" dirty="0"/>
          </a:p>
        </p:txBody>
      </p:sp>
      <p:sp>
        <p:nvSpPr>
          <p:cNvPr id="20" name="Text 18"/>
          <p:cNvSpPr txBox="1"/>
          <p:nvPr/>
        </p:nvSpPr>
        <p:spPr>
          <a:xfrm>
            <a:off x="6337983"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networks (GANs)</a:t>
            </a:r>
            <a:endParaRPr lang="en-US" sz="1444" dirty="0"/>
          </a:p>
        </p:txBody>
      </p:sp>
      <p:sp>
        <p:nvSpPr>
          <p:cNvPr id="21" name="Shape 19"/>
          <p:cNvSpPr/>
          <p:nvPr/>
        </p:nvSpPr>
        <p:spPr>
          <a:xfrm>
            <a:off x="8535545" y="2435195"/>
            <a:ext cx="278823" cy="0"/>
          </a:xfrm>
          <a:prstGeom prst="line">
            <a:avLst/>
          </a:prstGeom>
          <a:noFill/>
          <a:ln w="22860">
            <a:solidFill>
              <a:srgbClr val="0072B2"/>
            </a:solidFill>
            <a:prstDash val="solid"/>
            <a:tailEnd type="triangle"/>
          </a:ln>
        </p:spPr>
      </p:sp>
      <p:sp>
        <p:nvSpPr>
          <p:cNvPr id="22" name="Shape 20"/>
          <p:cNvSpPr/>
          <p:nvPr/>
        </p:nvSpPr>
        <p:spPr>
          <a:xfrm>
            <a:off x="8814367" y="2053648"/>
            <a:ext cx="2300286" cy="763093"/>
          </a:xfrm>
          <a:prstGeom prst="roundRect">
            <a:avLst>
              <a:gd name="adj" fmla="val 9586"/>
            </a:avLst>
          </a:prstGeom>
          <a:solidFill>
            <a:srgbClr val="E4F2FB"/>
          </a:solidFill>
          <a:ln w="15240">
            <a:solidFill>
              <a:srgbClr val="0072B2"/>
            </a:solidFill>
            <a:prstDash val="solid"/>
          </a:ln>
        </p:spPr>
      </p:sp>
      <p:sp>
        <p:nvSpPr>
          <p:cNvPr id="23" name="Text 21"/>
          <p:cNvSpPr txBox="1"/>
          <p:nvPr/>
        </p:nvSpPr>
        <p:spPr>
          <a:xfrm>
            <a:off x="8917091" y="20683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4</a:t>
            </a:r>
            <a:endParaRPr lang="en-US" sz="1444" dirty="0"/>
          </a:p>
        </p:txBody>
      </p:sp>
      <p:sp>
        <p:nvSpPr>
          <p:cNvPr id="24" name="Text 22"/>
          <p:cNvSpPr txBox="1"/>
          <p:nvPr/>
        </p:nvSpPr>
        <p:spPr>
          <a:xfrm>
            <a:off x="8917091" y="23544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Diffusion</a:t>
            </a:r>
            <a:endParaRPr lang="en-US" sz="1444" dirty="0"/>
          </a:p>
        </p:txBody>
      </p:sp>
      <p:sp>
        <p:nvSpPr>
          <p:cNvPr id="25" name="Text 23"/>
          <p:cNvSpPr txBox="1"/>
          <p:nvPr/>
        </p:nvSpPr>
        <p:spPr>
          <a:xfrm>
            <a:off x="8917091" y="2567268"/>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models</a:t>
            </a:r>
            <a:endParaRPr lang="en-US" sz="1444" dirty="0"/>
          </a:p>
        </p:txBody>
      </p:sp>
      <p:sp>
        <p:nvSpPr>
          <p:cNvPr id="26" name="Shape 24"/>
          <p:cNvSpPr/>
          <p:nvPr/>
        </p:nvSpPr>
        <p:spPr>
          <a:xfrm>
            <a:off x="9964510" y="2816741"/>
            <a:ext cx="0" cy="132074"/>
          </a:xfrm>
          <a:prstGeom prst="line">
            <a:avLst/>
          </a:prstGeom>
          <a:noFill/>
          <a:ln w="22860">
            <a:solidFill>
              <a:srgbClr val="0072B2"/>
            </a:solidFill>
            <a:prstDash val="solid"/>
          </a:ln>
        </p:spPr>
      </p:sp>
      <p:sp>
        <p:nvSpPr>
          <p:cNvPr id="27" name="Shape 25"/>
          <p:cNvSpPr/>
          <p:nvPr/>
        </p:nvSpPr>
        <p:spPr>
          <a:xfrm flipH="1">
            <a:off x="944968" y="2948815"/>
            <a:ext cx="9019542" cy="0"/>
          </a:xfrm>
          <a:prstGeom prst="line">
            <a:avLst/>
          </a:prstGeom>
          <a:noFill/>
          <a:ln w="22860">
            <a:solidFill>
              <a:srgbClr val="0072B2"/>
            </a:solidFill>
            <a:prstDash val="solid"/>
          </a:ln>
        </p:spPr>
      </p:sp>
      <p:sp>
        <p:nvSpPr>
          <p:cNvPr id="28" name="Shape 26"/>
          <p:cNvSpPr/>
          <p:nvPr/>
        </p:nvSpPr>
        <p:spPr>
          <a:xfrm>
            <a:off x="944968" y="2948815"/>
            <a:ext cx="0" cy="858480"/>
          </a:xfrm>
          <a:prstGeom prst="line">
            <a:avLst/>
          </a:prstGeom>
          <a:noFill/>
          <a:ln w="22860">
            <a:solidFill>
              <a:srgbClr val="0072B2"/>
            </a:solidFill>
            <a:prstDash val="solid"/>
          </a:ln>
        </p:spPr>
      </p:sp>
      <p:sp>
        <p:nvSpPr>
          <p:cNvPr id="29" name="Shape 27"/>
          <p:cNvSpPr/>
          <p:nvPr/>
        </p:nvSpPr>
        <p:spPr>
          <a:xfrm>
            <a:off x="944968" y="3807295"/>
            <a:ext cx="132074" cy="0"/>
          </a:xfrm>
          <a:prstGeom prst="line">
            <a:avLst/>
          </a:prstGeom>
          <a:noFill/>
          <a:ln w="22860">
            <a:solidFill>
              <a:srgbClr val="0072B2"/>
            </a:solidFill>
            <a:prstDash val="solid"/>
            <a:tailEnd type="triangle"/>
          </a:ln>
        </p:spPr>
      </p:sp>
      <p:sp>
        <p:nvSpPr>
          <p:cNvPr id="30" name="Text 28"/>
          <p:cNvSpPr txBox="1"/>
          <p:nvPr/>
        </p:nvSpPr>
        <p:spPr>
          <a:xfrm>
            <a:off x="1077042" y="30882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Language models and adaptation</a:t>
            </a:r>
            <a:endParaRPr lang="en-US" sz="1560" dirty="0"/>
          </a:p>
        </p:txBody>
      </p:sp>
      <p:sp>
        <p:nvSpPr>
          <p:cNvPr id="31" name="Shape 29"/>
          <p:cNvSpPr/>
          <p:nvPr/>
        </p:nvSpPr>
        <p:spPr>
          <a:xfrm>
            <a:off x="1077042" y="3425748"/>
            <a:ext cx="2300286" cy="763093"/>
          </a:xfrm>
          <a:prstGeom prst="roundRect">
            <a:avLst>
              <a:gd name="adj" fmla="val 9586"/>
            </a:avLst>
          </a:prstGeom>
          <a:solidFill>
            <a:srgbClr val="E4F2FB"/>
          </a:solidFill>
          <a:ln w="15240">
            <a:solidFill>
              <a:srgbClr val="0072B2"/>
            </a:solidFill>
            <a:prstDash val="solid"/>
          </a:ln>
        </p:spPr>
      </p:sp>
      <p:sp>
        <p:nvSpPr>
          <p:cNvPr id="32" name="Text 30"/>
          <p:cNvSpPr txBox="1"/>
          <p:nvPr/>
        </p:nvSpPr>
        <p:spPr>
          <a:xfrm>
            <a:off x="1179766"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5</a:t>
            </a:r>
            <a:endParaRPr lang="en-US" sz="1444" dirty="0"/>
          </a:p>
        </p:txBody>
      </p:sp>
      <p:sp>
        <p:nvSpPr>
          <p:cNvPr id="33" name="Text 31"/>
          <p:cNvSpPr txBox="1"/>
          <p:nvPr/>
        </p:nvSpPr>
        <p:spPr>
          <a:xfrm>
            <a:off x="1179766"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Transformers</a:t>
            </a:r>
            <a:endParaRPr lang="en-US" sz="1444" dirty="0"/>
          </a:p>
        </p:txBody>
      </p:sp>
      <p:sp>
        <p:nvSpPr>
          <p:cNvPr id="34" name="Text 32"/>
          <p:cNvSpPr txBox="1"/>
          <p:nvPr/>
        </p:nvSpPr>
        <p:spPr>
          <a:xfrm>
            <a:off x="1179766"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attention</a:t>
            </a:r>
            <a:endParaRPr lang="en-US" sz="1444" dirty="0"/>
          </a:p>
        </p:txBody>
      </p:sp>
      <p:sp>
        <p:nvSpPr>
          <p:cNvPr id="35" name="Shape 33"/>
          <p:cNvSpPr/>
          <p:nvPr/>
        </p:nvSpPr>
        <p:spPr>
          <a:xfrm>
            <a:off x="3377328" y="3807295"/>
            <a:ext cx="278823" cy="0"/>
          </a:xfrm>
          <a:prstGeom prst="line">
            <a:avLst/>
          </a:prstGeom>
          <a:noFill/>
          <a:ln w="22860">
            <a:solidFill>
              <a:srgbClr val="0072B2"/>
            </a:solidFill>
            <a:prstDash val="solid"/>
            <a:tailEnd type="triangle"/>
          </a:ln>
        </p:spPr>
      </p:sp>
      <p:sp>
        <p:nvSpPr>
          <p:cNvPr id="36" name="Shape 34"/>
          <p:cNvSpPr/>
          <p:nvPr/>
        </p:nvSpPr>
        <p:spPr>
          <a:xfrm>
            <a:off x="3656151" y="3425748"/>
            <a:ext cx="2300286" cy="763093"/>
          </a:xfrm>
          <a:prstGeom prst="roundRect">
            <a:avLst>
              <a:gd name="adj" fmla="val 9586"/>
            </a:avLst>
          </a:prstGeom>
          <a:solidFill>
            <a:srgbClr val="E4F2FB"/>
          </a:solidFill>
          <a:ln w="15240">
            <a:solidFill>
              <a:srgbClr val="0072B2"/>
            </a:solidFill>
            <a:prstDash val="solid"/>
          </a:ln>
        </p:spPr>
      </p:sp>
      <p:sp>
        <p:nvSpPr>
          <p:cNvPr id="37" name="Text 35"/>
          <p:cNvSpPr txBox="1"/>
          <p:nvPr/>
        </p:nvSpPr>
        <p:spPr>
          <a:xfrm>
            <a:off x="3758875"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6</a:t>
            </a:r>
            <a:endParaRPr lang="en-US" sz="1444" dirty="0"/>
          </a:p>
        </p:txBody>
      </p:sp>
      <p:sp>
        <p:nvSpPr>
          <p:cNvPr id="38" name="Text 36"/>
          <p:cNvSpPr txBox="1"/>
          <p:nvPr/>
        </p:nvSpPr>
        <p:spPr>
          <a:xfrm>
            <a:off x="3758875"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Language models</a:t>
            </a:r>
            <a:endParaRPr lang="en-US" sz="1444" dirty="0"/>
          </a:p>
        </p:txBody>
      </p:sp>
      <p:sp>
        <p:nvSpPr>
          <p:cNvPr id="39" name="Text 37"/>
          <p:cNvSpPr txBox="1"/>
          <p:nvPr/>
        </p:nvSpPr>
        <p:spPr>
          <a:xfrm>
            <a:off x="3758875"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families</a:t>
            </a:r>
            <a:endParaRPr lang="en-US" sz="1444" dirty="0"/>
          </a:p>
        </p:txBody>
      </p:sp>
      <p:sp>
        <p:nvSpPr>
          <p:cNvPr id="40" name="Shape 38"/>
          <p:cNvSpPr/>
          <p:nvPr/>
        </p:nvSpPr>
        <p:spPr>
          <a:xfrm>
            <a:off x="5956436" y="3807295"/>
            <a:ext cx="278823" cy="0"/>
          </a:xfrm>
          <a:prstGeom prst="line">
            <a:avLst/>
          </a:prstGeom>
          <a:noFill/>
          <a:ln w="22860">
            <a:solidFill>
              <a:srgbClr val="0072B2"/>
            </a:solidFill>
            <a:prstDash val="solid"/>
            <a:tailEnd type="triangle"/>
          </a:ln>
        </p:spPr>
      </p:sp>
      <p:sp>
        <p:nvSpPr>
          <p:cNvPr id="41" name="Shape 39"/>
          <p:cNvSpPr/>
          <p:nvPr/>
        </p:nvSpPr>
        <p:spPr>
          <a:xfrm>
            <a:off x="6235259" y="3425748"/>
            <a:ext cx="2300286" cy="763093"/>
          </a:xfrm>
          <a:prstGeom prst="roundRect">
            <a:avLst>
              <a:gd name="adj" fmla="val 9586"/>
            </a:avLst>
          </a:prstGeom>
          <a:solidFill>
            <a:srgbClr val="E4F2FB"/>
          </a:solidFill>
          <a:ln w="15240">
            <a:solidFill>
              <a:srgbClr val="0072B2"/>
            </a:solidFill>
            <a:prstDash val="solid"/>
          </a:ln>
        </p:spPr>
      </p:sp>
      <p:sp>
        <p:nvSpPr>
          <p:cNvPr id="42" name="Text 40"/>
          <p:cNvSpPr txBox="1"/>
          <p:nvPr/>
        </p:nvSpPr>
        <p:spPr>
          <a:xfrm>
            <a:off x="6337983"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7</a:t>
            </a:r>
            <a:endParaRPr lang="en-US" sz="1444" dirty="0"/>
          </a:p>
        </p:txBody>
      </p:sp>
      <p:sp>
        <p:nvSpPr>
          <p:cNvPr id="43" name="Text 41"/>
          <p:cNvSpPr txBox="1"/>
          <p:nvPr/>
        </p:nvSpPr>
        <p:spPr>
          <a:xfrm>
            <a:off x="6337983"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Prompting</a:t>
            </a:r>
            <a:endParaRPr lang="en-US" sz="1444" dirty="0"/>
          </a:p>
        </p:txBody>
      </p:sp>
      <p:sp>
        <p:nvSpPr>
          <p:cNvPr id="44" name="Text 42"/>
          <p:cNvSpPr txBox="1"/>
          <p:nvPr/>
        </p:nvSpPr>
        <p:spPr>
          <a:xfrm>
            <a:off x="6337983"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evaluation</a:t>
            </a:r>
            <a:endParaRPr lang="en-US" sz="1444" dirty="0"/>
          </a:p>
        </p:txBody>
      </p:sp>
      <p:sp>
        <p:nvSpPr>
          <p:cNvPr id="45" name="Shape 43"/>
          <p:cNvSpPr/>
          <p:nvPr/>
        </p:nvSpPr>
        <p:spPr>
          <a:xfrm>
            <a:off x="8535545" y="3807295"/>
            <a:ext cx="278823" cy="0"/>
          </a:xfrm>
          <a:prstGeom prst="line">
            <a:avLst/>
          </a:prstGeom>
          <a:noFill/>
          <a:ln w="22860">
            <a:solidFill>
              <a:srgbClr val="0072B2"/>
            </a:solidFill>
            <a:prstDash val="solid"/>
            <a:tailEnd type="triangle"/>
          </a:ln>
        </p:spPr>
      </p:sp>
      <p:sp>
        <p:nvSpPr>
          <p:cNvPr id="46" name="Shape 44"/>
          <p:cNvSpPr/>
          <p:nvPr/>
        </p:nvSpPr>
        <p:spPr>
          <a:xfrm>
            <a:off x="8814367" y="3425748"/>
            <a:ext cx="2300286" cy="763093"/>
          </a:xfrm>
          <a:prstGeom prst="roundRect">
            <a:avLst>
              <a:gd name="adj" fmla="val 9586"/>
            </a:avLst>
          </a:prstGeom>
          <a:solidFill>
            <a:srgbClr val="FFF0E6"/>
          </a:solidFill>
          <a:ln w="15240">
            <a:solidFill>
              <a:srgbClr val="D55E00"/>
            </a:solidFill>
            <a:prstDash val="solid"/>
          </a:ln>
        </p:spPr>
      </p:sp>
      <p:sp>
        <p:nvSpPr>
          <p:cNvPr id="47" name="Text 45"/>
          <p:cNvSpPr txBox="1"/>
          <p:nvPr/>
        </p:nvSpPr>
        <p:spPr>
          <a:xfrm>
            <a:off x="8917091" y="34404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D55E00"/>
                </a:solidFill>
                <a:latin typeface="Arial" pitchFamily="34" charset="0"/>
                <a:ea typeface="Arial" pitchFamily="34" charset="-122"/>
                <a:cs typeface="Arial" pitchFamily="34" charset="-120"/>
              </a:rPr>
              <a:t>Week 8: you are here</a:t>
            </a:r>
            <a:endParaRPr lang="en-US" sz="1444" dirty="0"/>
          </a:p>
        </p:txBody>
      </p:sp>
      <p:sp>
        <p:nvSpPr>
          <p:cNvPr id="48" name="Text 46"/>
          <p:cNvSpPr txBox="1"/>
          <p:nvPr/>
        </p:nvSpPr>
        <p:spPr>
          <a:xfrm>
            <a:off x="8917091" y="37265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Fine-tuning</a:t>
            </a:r>
            <a:endParaRPr lang="en-US" sz="1444" dirty="0"/>
          </a:p>
        </p:txBody>
      </p:sp>
      <p:sp>
        <p:nvSpPr>
          <p:cNvPr id="49" name="Text 47"/>
          <p:cNvSpPr txBox="1"/>
          <p:nvPr/>
        </p:nvSpPr>
        <p:spPr>
          <a:xfrm>
            <a:off x="8917091" y="39393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adaptation</a:t>
            </a:r>
            <a:endParaRPr lang="en-US" sz="1444" dirty="0"/>
          </a:p>
        </p:txBody>
      </p:sp>
      <p:sp>
        <p:nvSpPr>
          <p:cNvPr id="50" name="Shape 48"/>
          <p:cNvSpPr/>
          <p:nvPr/>
        </p:nvSpPr>
        <p:spPr>
          <a:xfrm>
            <a:off x="9964510" y="4188841"/>
            <a:ext cx="0" cy="132074"/>
          </a:xfrm>
          <a:prstGeom prst="line">
            <a:avLst/>
          </a:prstGeom>
          <a:noFill/>
          <a:ln w="22860">
            <a:solidFill>
              <a:srgbClr val="0072B2"/>
            </a:solidFill>
            <a:prstDash val="solid"/>
          </a:ln>
        </p:spPr>
      </p:sp>
      <p:sp>
        <p:nvSpPr>
          <p:cNvPr id="51" name="Shape 49"/>
          <p:cNvSpPr/>
          <p:nvPr/>
        </p:nvSpPr>
        <p:spPr>
          <a:xfrm flipH="1">
            <a:off x="944968" y="4320915"/>
            <a:ext cx="9019542" cy="0"/>
          </a:xfrm>
          <a:prstGeom prst="line">
            <a:avLst/>
          </a:prstGeom>
          <a:noFill/>
          <a:ln w="22860">
            <a:solidFill>
              <a:srgbClr val="0072B2"/>
            </a:solidFill>
            <a:prstDash val="solid"/>
          </a:ln>
        </p:spPr>
      </p:sp>
      <p:sp>
        <p:nvSpPr>
          <p:cNvPr id="52" name="Shape 50"/>
          <p:cNvSpPr/>
          <p:nvPr/>
        </p:nvSpPr>
        <p:spPr>
          <a:xfrm>
            <a:off x="944968" y="4320915"/>
            <a:ext cx="0" cy="858480"/>
          </a:xfrm>
          <a:prstGeom prst="line">
            <a:avLst/>
          </a:prstGeom>
          <a:noFill/>
          <a:ln w="22860">
            <a:solidFill>
              <a:srgbClr val="0072B2"/>
            </a:solidFill>
            <a:prstDash val="solid"/>
          </a:ln>
        </p:spPr>
      </p:sp>
      <p:sp>
        <p:nvSpPr>
          <p:cNvPr id="53" name="Shape 51"/>
          <p:cNvSpPr/>
          <p:nvPr/>
        </p:nvSpPr>
        <p:spPr>
          <a:xfrm>
            <a:off x="944968" y="5179395"/>
            <a:ext cx="132074" cy="0"/>
          </a:xfrm>
          <a:prstGeom prst="line">
            <a:avLst/>
          </a:prstGeom>
          <a:noFill/>
          <a:ln w="22860">
            <a:solidFill>
              <a:srgbClr val="0072B2"/>
            </a:solidFill>
            <a:prstDash val="solid"/>
            <a:tailEnd type="triangle"/>
          </a:ln>
        </p:spPr>
      </p:sp>
      <p:sp>
        <p:nvSpPr>
          <p:cNvPr id="54" name="Text 52"/>
          <p:cNvSpPr txBox="1"/>
          <p:nvPr/>
        </p:nvSpPr>
        <p:spPr>
          <a:xfrm>
            <a:off x="1077042" y="4460326"/>
            <a:ext cx="10037611" cy="264148"/>
          </a:xfrm>
          <a:prstGeom prst="rect">
            <a:avLst/>
          </a:prstGeom>
          <a:noFill/>
          <a:ln/>
        </p:spPr>
        <p:txBody>
          <a:bodyPr wrap="square" lIns="0" tIns="0" rIns="0" bIns="0" rtlCol="0" anchor="ctr"/>
          <a:lstStyle/>
          <a:p>
            <a:pPr algn="l" indent="0" marL="0">
              <a:lnSpc>
                <a:spcPct val="116000"/>
              </a:lnSpc>
              <a:buNone/>
            </a:pPr>
            <a:r>
              <a:rPr lang="en-US" sz="1560" b="1" dirty="0">
                <a:solidFill>
                  <a:srgbClr val="1E1B4B"/>
                </a:solidFill>
                <a:latin typeface="Arial" pitchFamily="34" charset="0"/>
                <a:ea typeface="Arial" pitchFamily="34" charset="-122"/>
                <a:cs typeface="Arial" pitchFamily="34" charset="-120"/>
              </a:rPr>
              <a:t>Multimodal applications and deployed systems</a:t>
            </a:r>
            <a:endParaRPr lang="en-US" sz="1560" dirty="0"/>
          </a:p>
        </p:txBody>
      </p:sp>
      <p:sp>
        <p:nvSpPr>
          <p:cNvPr id="55" name="Shape 53"/>
          <p:cNvSpPr/>
          <p:nvPr/>
        </p:nvSpPr>
        <p:spPr>
          <a:xfrm>
            <a:off x="1077042" y="4797848"/>
            <a:ext cx="2300286" cy="763093"/>
          </a:xfrm>
          <a:prstGeom prst="roundRect">
            <a:avLst>
              <a:gd name="adj" fmla="val 9586"/>
            </a:avLst>
          </a:prstGeom>
          <a:solidFill>
            <a:srgbClr val="E4F2FB"/>
          </a:solidFill>
          <a:ln w="15240">
            <a:solidFill>
              <a:srgbClr val="0072B2"/>
            </a:solidFill>
            <a:prstDash val="solid"/>
          </a:ln>
        </p:spPr>
      </p:sp>
      <p:sp>
        <p:nvSpPr>
          <p:cNvPr id="56" name="Text 54"/>
          <p:cNvSpPr txBox="1"/>
          <p:nvPr/>
        </p:nvSpPr>
        <p:spPr>
          <a:xfrm>
            <a:off x="1179766"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9</a:t>
            </a:r>
            <a:endParaRPr lang="en-US" sz="1444" dirty="0"/>
          </a:p>
        </p:txBody>
      </p:sp>
      <p:sp>
        <p:nvSpPr>
          <p:cNvPr id="57" name="Text 55"/>
          <p:cNvSpPr txBox="1"/>
          <p:nvPr/>
        </p:nvSpPr>
        <p:spPr>
          <a:xfrm>
            <a:off x="1179766"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Multimodal</a:t>
            </a:r>
            <a:endParaRPr lang="en-US" sz="1444" dirty="0"/>
          </a:p>
        </p:txBody>
      </p:sp>
      <p:sp>
        <p:nvSpPr>
          <p:cNvPr id="58" name="Text 56"/>
          <p:cNvSpPr txBox="1"/>
          <p:nvPr/>
        </p:nvSpPr>
        <p:spPr>
          <a:xfrm>
            <a:off x="1179766"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foundations</a:t>
            </a:r>
            <a:endParaRPr lang="en-US" sz="1444" dirty="0"/>
          </a:p>
        </p:txBody>
      </p:sp>
      <p:sp>
        <p:nvSpPr>
          <p:cNvPr id="59" name="Shape 57"/>
          <p:cNvSpPr/>
          <p:nvPr/>
        </p:nvSpPr>
        <p:spPr>
          <a:xfrm>
            <a:off x="3377328" y="5179395"/>
            <a:ext cx="278823" cy="0"/>
          </a:xfrm>
          <a:prstGeom prst="line">
            <a:avLst/>
          </a:prstGeom>
          <a:noFill/>
          <a:ln w="22860">
            <a:solidFill>
              <a:srgbClr val="0072B2"/>
            </a:solidFill>
            <a:prstDash val="solid"/>
            <a:tailEnd type="triangle"/>
          </a:ln>
        </p:spPr>
      </p:sp>
      <p:sp>
        <p:nvSpPr>
          <p:cNvPr id="60" name="Shape 58"/>
          <p:cNvSpPr/>
          <p:nvPr/>
        </p:nvSpPr>
        <p:spPr>
          <a:xfrm>
            <a:off x="3656151" y="4797848"/>
            <a:ext cx="2300286" cy="763093"/>
          </a:xfrm>
          <a:prstGeom prst="roundRect">
            <a:avLst>
              <a:gd name="adj" fmla="val 9586"/>
            </a:avLst>
          </a:prstGeom>
          <a:solidFill>
            <a:srgbClr val="E4F2FB"/>
          </a:solidFill>
          <a:ln w="15240">
            <a:solidFill>
              <a:srgbClr val="0072B2"/>
            </a:solidFill>
            <a:prstDash val="solid"/>
          </a:ln>
        </p:spPr>
      </p:sp>
      <p:sp>
        <p:nvSpPr>
          <p:cNvPr id="61" name="Text 59"/>
          <p:cNvSpPr txBox="1"/>
          <p:nvPr/>
        </p:nvSpPr>
        <p:spPr>
          <a:xfrm>
            <a:off x="3758875"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10</a:t>
            </a:r>
            <a:endParaRPr lang="en-US" sz="1444" dirty="0"/>
          </a:p>
        </p:txBody>
      </p:sp>
      <p:sp>
        <p:nvSpPr>
          <p:cNvPr id="62" name="Text 60"/>
          <p:cNvSpPr txBox="1"/>
          <p:nvPr/>
        </p:nvSpPr>
        <p:spPr>
          <a:xfrm>
            <a:off x="3758875"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Multimodal</a:t>
            </a:r>
            <a:endParaRPr lang="en-US" sz="1444" dirty="0"/>
          </a:p>
        </p:txBody>
      </p:sp>
      <p:sp>
        <p:nvSpPr>
          <p:cNvPr id="63" name="Text 61"/>
          <p:cNvSpPr txBox="1"/>
          <p:nvPr/>
        </p:nvSpPr>
        <p:spPr>
          <a:xfrm>
            <a:off x="3758875"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applications</a:t>
            </a:r>
            <a:endParaRPr lang="en-US" sz="1444" dirty="0"/>
          </a:p>
        </p:txBody>
      </p:sp>
      <p:sp>
        <p:nvSpPr>
          <p:cNvPr id="64" name="Shape 62"/>
          <p:cNvSpPr/>
          <p:nvPr/>
        </p:nvSpPr>
        <p:spPr>
          <a:xfrm>
            <a:off x="5956436" y="5179395"/>
            <a:ext cx="278823" cy="0"/>
          </a:xfrm>
          <a:prstGeom prst="line">
            <a:avLst/>
          </a:prstGeom>
          <a:noFill/>
          <a:ln w="22860">
            <a:solidFill>
              <a:srgbClr val="0072B2"/>
            </a:solidFill>
            <a:prstDash val="solid"/>
            <a:tailEnd type="triangle"/>
          </a:ln>
        </p:spPr>
      </p:sp>
      <p:sp>
        <p:nvSpPr>
          <p:cNvPr id="65" name="Shape 63"/>
          <p:cNvSpPr/>
          <p:nvPr/>
        </p:nvSpPr>
        <p:spPr>
          <a:xfrm>
            <a:off x="6235259" y="4797848"/>
            <a:ext cx="2300286" cy="763093"/>
          </a:xfrm>
          <a:prstGeom prst="roundRect">
            <a:avLst>
              <a:gd name="adj" fmla="val 9586"/>
            </a:avLst>
          </a:prstGeom>
          <a:solidFill>
            <a:srgbClr val="E4F2FB"/>
          </a:solidFill>
          <a:ln w="15240">
            <a:solidFill>
              <a:srgbClr val="0072B2"/>
            </a:solidFill>
            <a:prstDash val="solid"/>
          </a:ln>
        </p:spPr>
      </p:sp>
      <p:sp>
        <p:nvSpPr>
          <p:cNvPr id="66" name="Text 64"/>
          <p:cNvSpPr txBox="1"/>
          <p:nvPr/>
        </p:nvSpPr>
        <p:spPr>
          <a:xfrm>
            <a:off x="6337983"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11</a:t>
            </a:r>
            <a:endParaRPr lang="en-US" sz="1444" dirty="0"/>
          </a:p>
        </p:txBody>
      </p:sp>
      <p:sp>
        <p:nvSpPr>
          <p:cNvPr id="67" name="Text 65"/>
          <p:cNvSpPr txBox="1"/>
          <p:nvPr/>
        </p:nvSpPr>
        <p:spPr>
          <a:xfrm>
            <a:off x="6337983"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Deployment</a:t>
            </a:r>
            <a:endParaRPr lang="en-US" sz="1444" dirty="0"/>
          </a:p>
        </p:txBody>
      </p:sp>
      <p:sp>
        <p:nvSpPr>
          <p:cNvPr id="68" name="Text 66"/>
          <p:cNvSpPr txBox="1"/>
          <p:nvPr/>
        </p:nvSpPr>
        <p:spPr>
          <a:xfrm>
            <a:off x="6337983"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frameworks</a:t>
            </a:r>
            <a:endParaRPr lang="en-US" sz="1444" dirty="0"/>
          </a:p>
        </p:txBody>
      </p:sp>
      <p:sp>
        <p:nvSpPr>
          <p:cNvPr id="69" name="Shape 67"/>
          <p:cNvSpPr/>
          <p:nvPr/>
        </p:nvSpPr>
        <p:spPr>
          <a:xfrm>
            <a:off x="8535545" y="5179395"/>
            <a:ext cx="278823" cy="0"/>
          </a:xfrm>
          <a:prstGeom prst="line">
            <a:avLst/>
          </a:prstGeom>
          <a:noFill/>
          <a:ln w="22860">
            <a:solidFill>
              <a:srgbClr val="0072B2"/>
            </a:solidFill>
            <a:prstDash val="solid"/>
            <a:tailEnd type="triangle"/>
          </a:ln>
        </p:spPr>
      </p:sp>
      <p:sp>
        <p:nvSpPr>
          <p:cNvPr id="70" name="Shape 68"/>
          <p:cNvSpPr/>
          <p:nvPr/>
        </p:nvSpPr>
        <p:spPr>
          <a:xfrm>
            <a:off x="8814367" y="4797848"/>
            <a:ext cx="2300286" cy="763093"/>
          </a:xfrm>
          <a:prstGeom prst="roundRect">
            <a:avLst>
              <a:gd name="adj" fmla="val 9586"/>
            </a:avLst>
          </a:prstGeom>
          <a:solidFill>
            <a:srgbClr val="E4F2FB"/>
          </a:solidFill>
          <a:ln w="15240">
            <a:solidFill>
              <a:srgbClr val="0072B2"/>
            </a:solidFill>
            <a:prstDash val="solid"/>
          </a:ln>
        </p:spPr>
      </p:sp>
      <p:sp>
        <p:nvSpPr>
          <p:cNvPr id="71" name="Text 69"/>
          <p:cNvSpPr txBox="1"/>
          <p:nvPr/>
        </p:nvSpPr>
        <p:spPr>
          <a:xfrm>
            <a:off x="8917091" y="4812523"/>
            <a:ext cx="2094838" cy="234798"/>
          </a:xfrm>
          <a:prstGeom prst="rect">
            <a:avLst/>
          </a:prstGeom>
          <a:noFill/>
          <a:ln/>
        </p:spPr>
        <p:txBody>
          <a:bodyPr wrap="square" lIns="0" tIns="0" rIns="0" bIns="0" rtlCol="0" anchor="ctr"/>
          <a:lstStyle/>
          <a:p>
            <a:pPr algn="l" indent="0" marL="0">
              <a:lnSpc>
                <a:spcPct val="116000"/>
              </a:lnSpc>
              <a:buNone/>
            </a:pPr>
            <a:r>
              <a:rPr lang="en-US" sz="1444" b="1" dirty="0">
                <a:solidFill>
                  <a:srgbClr val="0072B2"/>
                </a:solidFill>
                <a:latin typeface="Arial" pitchFamily="34" charset="0"/>
                <a:ea typeface="Arial" pitchFamily="34" charset="-122"/>
                <a:cs typeface="Arial" pitchFamily="34" charset="-120"/>
              </a:rPr>
              <a:t>Week 12</a:t>
            </a:r>
            <a:endParaRPr lang="en-US" sz="1444" dirty="0"/>
          </a:p>
        </p:txBody>
      </p:sp>
      <p:sp>
        <p:nvSpPr>
          <p:cNvPr id="72" name="Text 70"/>
          <p:cNvSpPr txBox="1"/>
          <p:nvPr/>
        </p:nvSpPr>
        <p:spPr>
          <a:xfrm>
            <a:off x="8917091" y="5098683"/>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Retrieval (RAG)</a:t>
            </a:r>
            <a:endParaRPr lang="en-US" sz="1444" dirty="0"/>
          </a:p>
        </p:txBody>
      </p:sp>
      <p:sp>
        <p:nvSpPr>
          <p:cNvPr id="73" name="Text 71"/>
          <p:cNvSpPr txBox="1"/>
          <p:nvPr/>
        </p:nvSpPr>
        <p:spPr>
          <a:xfrm>
            <a:off x="8917091" y="5311469"/>
            <a:ext cx="2094838" cy="212786"/>
          </a:xfrm>
          <a:prstGeom prst="rect">
            <a:avLst/>
          </a:prstGeom>
          <a:noFill/>
          <a:ln/>
        </p:spPr>
        <p:txBody>
          <a:bodyPr wrap="square" lIns="0" tIns="0" rIns="0" bIns="0" rtlCol="0" anchor="ctr"/>
          <a:lstStyle/>
          <a:p>
            <a:pPr algn="l" indent="0" marL="0">
              <a:lnSpc>
                <a:spcPct val="116000"/>
              </a:lnSpc>
              <a:buNone/>
            </a:pPr>
            <a:r>
              <a:rPr lang="en-US" sz="1444" b="1" dirty="0">
                <a:solidFill>
                  <a:srgbClr val="1E1B4B"/>
                </a:solidFill>
                <a:latin typeface="Arial" pitchFamily="34" charset="0"/>
                <a:ea typeface="Arial" pitchFamily="34" charset="-122"/>
                <a:cs typeface="Arial" pitchFamily="34" charset="-120"/>
              </a:rPr>
              <a:t>and agents</a:t>
            </a:r>
            <a:endParaRPr lang="en-US" sz="1444" dirty="0"/>
          </a:p>
        </p:txBody>
      </p:sp>
      <p:sp>
        <p:nvSpPr>
          <p:cNvPr id="74" name="Text 72"/>
          <p:cNvSpPr txBox="1"/>
          <p:nvPr/>
        </p:nvSpPr>
        <p:spPr>
          <a:xfrm>
            <a:off x="1077042" y="5891126"/>
            <a:ext cx="10037611" cy="271485"/>
          </a:xfrm>
          <a:prstGeom prst="rect">
            <a:avLst/>
          </a:prstGeom>
          <a:noFill/>
          <a:ln/>
        </p:spPr>
        <p:txBody>
          <a:bodyPr wrap="square" lIns="0" tIns="0" rIns="0" bIns="0" rtlCol="0" anchor="ctr"/>
          <a:lstStyle/>
          <a:p>
            <a:pPr algn="l" indent="0" marL="0">
              <a:lnSpc>
                <a:spcPct val="116000"/>
              </a:lnSpc>
              <a:buNone/>
            </a:pPr>
            <a:r>
              <a:rPr lang="en-US" sz="1560" dirty="0">
                <a:solidFill>
                  <a:srgbClr val="1F2937"/>
                </a:solidFill>
                <a:latin typeface="Arial" pitchFamily="34" charset="0"/>
                <a:ea typeface="Arial" pitchFamily="34" charset="-122"/>
                <a:cs typeface="Arial" pitchFamily="34" charset="-120"/>
              </a:rPr>
              <a:t>Responsible use and evaluation continue throughout the course.</a:t>
            </a:r>
            <a:endParaRPr lang="en-US" sz="1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Starting vocabulary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440771"/>
                <a:gridCol w="4326822"/>
                <a:gridCol w="4326822"/>
              </a:tblGrid>
              <a:tr h="0">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Term</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Plain meaning</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1900" b="1" dirty="0">
                          <a:solidFill>
                            <a:srgbClr val="FFFFFF"/>
                          </a:solidFill>
                          <a:latin typeface="Calibri" pitchFamily="34" charset="0"/>
                          <a:ea typeface="Calibri" pitchFamily="34" charset="-122"/>
                          <a:cs typeface="Calibri" pitchFamily="34" charset="-120"/>
                        </a:rPr>
                        <a:t>Quick check</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Model weight</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A learned number used by a neural network to transform its input.</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Do ordinary prompt-only calls update stored model weights?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Train / validation / test</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Separate examples for learning, choosing settings and final measurement.</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Which split must not be used to train the adapter?</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Matrix projection</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Multiplying a vector by learned weights to produce another vector.</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If a projection maps 8 numbers to 4 numbers, what is its output length?</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Loss</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A number measuring prediction error during training.</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What would rising validation loss make you inspect?</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900" b="1" dirty="0">
                          <a:solidFill>
                            <a:srgbClr val="1F2937"/>
                          </a:solidFill>
                          <a:latin typeface="Calibri" pitchFamily="34" charset="0"/>
                          <a:ea typeface="Calibri" pitchFamily="34" charset="-122"/>
                          <a:cs typeface="Calibri" pitchFamily="34" charset="-120"/>
                        </a:rPr>
                        <a:t>Adapter</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Small added weights trained while the base is fixed.</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1900" dirty="0">
                          <a:solidFill>
                            <a:srgbClr val="1F2937"/>
                          </a:solidFill>
                          <a:latin typeface="Calibri" pitchFamily="34" charset="0"/>
                          <a:ea typeface="Calibri" pitchFamily="34" charset="-122"/>
                          <a:cs typeface="Calibri" pitchFamily="34" charset="-120"/>
                        </a:rPr>
                        <a:t>Is a saved adapter usable without its base model?</a:t>
                      </a:r>
                      <a:endParaRPr lang="en-US" sz="19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Warm-up</a:t>
            </a:r>
            <a:endParaRPr lang="en-US" sz="3200" dirty="0"/>
          </a:p>
        </p:txBody>
      </p:sp>
      <p:sp>
        <p:nvSpPr>
          <p:cNvPr id="6" name="Shape 4"/>
          <p:cNvSpPr/>
          <p:nvPr/>
        </p:nvSpPr>
        <p:spPr>
          <a:xfrm>
            <a:off x="548640" y="1527048"/>
            <a:ext cx="1005840" cy="1005840"/>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790042" y="1768450"/>
            <a:ext cx="523037" cy="523037"/>
          </a:xfrm>
          <a:prstGeom prst="rect">
            <a:avLst/>
          </a:prstGeom>
        </p:spPr>
      </p:pic>
      <p:sp>
        <p:nvSpPr>
          <p:cNvPr id="8" name="Text 5"/>
          <p:cNvSpPr txBox="1"/>
          <p:nvPr/>
        </p:nvSpPr>
        <p:spPr>
          <a:xfrm>
            <a:off x="1828800" y="1481328"/>
            <a:ext cx="9814255" cy="146304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A bank wants an assistant that (a) uses its brand voice, (b) knows this week's interest rates, and (c) routes 50,000 messages a day cheaply. Prompt, retrieve or fine-tune, for each?</a:t>
            </a:r>
            <a:endParaRPr lang="en-US" sz="2400" dirty="0"/>
          </a:p>
        </p:txBody>
      </p:sp>
      <p:sp>
        <p:nvSpPr>
          <p:cNvPr id="9" name="Text 6"/>
          <p:cNvSpPr txBox="1"/>
          <p:nvPr/>
        </p:nvSpPr>
        <p:spPr>
          <a:xfrm>
            <a:off x="1828800" y="3172968"/>
            <a:ext cx="9814255" cy="309067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Changing facts?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Consistent behaviour?</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Measured time and cost?</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01</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When to fine-tune</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Prompting, retrieval or fine-tuning: what problem does each solve?</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Adapt a banking classifier</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Measure whether training improves on a strong prompting baseline</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separate labelled</a:t>
            </a:r>
            <a:endParaRPr lang="en-US" sz="1441" dirty="0"/>
          </a:p>
        </p:txBody>
      </p:sp>
      <p:sp>
        <p:nvSpPr>
          <p:cNvPr id="9" name="Text 7"/>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sets</a:t>
            </a:r>
            <a:endParaRPr lang="en-US" sz="1441" dirty="0"/>
          </a:p>
        </p:txBody>
      </p:sp>
      <p:sp>
        <p:nvSpPr>
          <p:cNvPr id="10" name="Shape 8"/>
          <p:cNvSpPr/>
          <p:nvPr/>
        </p:nvSpPr>
        <p:spPr>
          <a:xfrm>
            <a:off x="4163991" y="3838927"/>
            <a:ext cx="244024" cy="0"/>
          </a:xfrm>
          <a:prstGeom prst="line">
            <a:avLst/>
          </a:prstGeom>
          <a:noFill/>
          <a:ln w="22860">
            <a:solidFill>
              <a:srgbClr val="009E73"/>
            </a:solidFill>
            <a:prstDash val="solid"/>
            <a:tailEnd type="triangle"/>
          </a:ln>
        </p:spPr>
      </p:sp>
      <p:sp>
        <p:nvSpPr>
          <p:cNvPr id="11" name="Text 9"/>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baseline measures</a:t>
            </a:r>
            <a:endParaRPr lang="en-US" sz="1441" dirty="0"/>
          </a:p>
        </p:txBody>
      </p:sp>
      <p:sp>
        <p:nvSpPr>
          <p:cNvPr id="12" name="Shape 10"/>
          <p:cNvSpPr/>
          <p:nvPr/>
        </p:nvSpPr>
        <p:spPr>
          <a:xfrm>
            <a:off x="5973836" y="3838927"/>
            <a:ext cx="244024" cy="0"/>
          </a:xfrm>
          <a:prstGeom prst="line">
            <a:avLst/>
          </a:prstGeom>
          <a:noFill/>
          <a:ln w="22860">
            <a:solidFill>
              <a:srgbClr val="009E73"/>
            </a:solidFill>
            <a:prstDash val="solid"/>
            <a:tailEnd type="triangle"/>
          </a:ln>
        </p:spPr>
      </p:sp>
      <p:sp>
        <p:nvSpPr>
          <p:cNvPr id="13" name="Text 11"/>
          <p:cNvSpPr txBox="1"/>
          <p:nvPr/>
        </p:nvSpPr>
        <p:spPr>
          <a:xfrm>
            <a:off x="5295144"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prompt +</a:t>
            </a:r>
            <a:endParaRPr lang="en-US" sz="1441" dirty="0"/>
          </a:p>
        </p:txBody>
      </p:sp>
      <p:sp>
        <p:nvSpPr>
          <p:cNvPr id="14" name="Text 12"/>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completion</a:t>
            </a:r>
            <a:endParaRPr lang="en-US" sz="1441" dirty="0"/>
          </a:p>
        </p:txBody>
      </p:sp>
      <p:sp>
        <p:nvSpPr>
          <p:cNvPr id="15" name="Shape 13"/>
          <p:cNvSpPr/>
          <p:nvPr/>
        </p:nvSpPr>
        <p:spPr>
          <a:xfrm>
            <a:off x="7783680" y="3838927"/>
            <a:ext cx="244024" cy="0"/>
          </a:xfrm>
          <a:prstGeom prst="line">
            <a:avLst/>
          </a:prstGeom>
          <a:noFill/>
          <a:ln w="22860">
            <a:solidFill>
              <a:srgbClr val="009E73"/>
            </a:solidFill>
            <a:prstDash val="solid"/>
            <a:tailEnd type="triangle"/>
          </a:ln>
        </p:spPr>
      </p:sp>
      <p:sp>
        <p:nvSpPr>
          <p:cNvPr id="16" name="Text 14"/>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configured model</a:t>
            </a:r>
            <a:endParaRPr lang="en-US" sz="1441" dirty="0"/>
          </a:p>
        </p:txBody>
      </p:sp>
      <p:sp>
        <p:nvSpPr>
          <p:cNvPr id="17" name="Shape 15"/>
          <p:cNvSpPr/>
          <p:nvPr/>
        </p:nvSpPr>
        <p:spPr>
          <a:xfrm>
            <a:off x="9593525" y="3838927"/>
            <a:ext cx="244024" cy="0"/>
          </a:xfrm>
          <a:prstGeom prst="line">
            <a:avLst/>
          </a:prstGeom>
          <a:noFill/>
          <a:ln w="22860">
            <a:solidFill>
              <a:srgbClr val="009E73"/>
            </a:solidFill>
            <a:prstDash val="solid"/>
            <a:tailEnd type="triangle"/>
          </a:ln>
        </p:spPr>
      </p:sp>
      <p:sp>
        <p:nvSpPr>
          <p:cNvPr id="18" name="Text 16"/>
          <p:cNvSpPr txBox="1"/>
          <p:nvPr/>
        </p:nvSpPr>
        <p:spPr>
          <a:xfrm>
            <a:off x="8914834"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adapter + loss</a:t>
            </a:r>
            <a:endParaRPr lang="en-US" sz="1441" dirty="0"/>
          </a:p>
        </p:txBody>
      </p:sp>
      <p:sp>
        <p:nvSpPr>
          <p:cNvPr id="19" name="Text 17"/>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history</a:t>
            </a:r>
            <a:endParaRPr lang="en-US" sz="1441" dirty="0"/>
          </a:p>
        </p:txBody>
      </p:sp>
      <p:sp>
        <p:nvSpPr>
          <p:cNvPr id="20" name="Shape 18"/>
          <p:cNvSpPr/>
          <p:nvPr/>
        </p:nvSpPr>
        <p:spPr>
          <a:xfrm>
            <a:off x="788325" y="2939089"/>
            <a:ext cx="1565821" cy="1799677"/>
          </a:xfrm>
          <a:prstGeom prst="roundRect">
            <a:avLst>
              <a:gd name="adj" fmla="val 4672"/>
            </a:avLst>
          </a:prstGeom>
          <a:solidFill>
            <a:srgbClr val="E4F2FB"/>
          </a:solidFill>
          <a:ln w="15240">
            <a:solidFill>
              <a:srgbClr val="0072B2"/>
            </a:solidFill>
            <a:prstDash val="solid"/>
          </a:ln>
        </p:spPr>
      </p:sp>
      <p:sp>
        <p:nvSpPr>
          <p:cNvPr id="21" name="Text 19"/>
          <p:cNvSpPr txBox="1"/>
          <p:nvPr/>
        </p:nvSpPr>
        <p:spPr>
          <a:xfrm>
            <a:off x="849331" y="31157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Separate</a:t>
            </a:r>
            <a:endParaRPr lang="en-US" sz="1561" dirty="0"/>
          </a:p>
        </p:txBody>
      </p:sp>
      <p:sp>
        <p:nvSpPr>
          <p:cNvPr id="22" name="Text 20"/>
          <p:cNvSpPr txBox="1"/>
          <p:nvPr/>
        </p:nvSpPr>
        <p:spPr>
          <a:xfrm>
            <a:off x="849331" y="334569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datasets</a:t>
            </a:r>
            <a:endParaRPr lang="en-US" sz="1561" dirty="0"/>
          </a:p>
        </p:txBody>
      </p:sp>
      <p:sp>
        <p:nvSpPr>
          <p:cNvPr id="23" name="Text 21"/>
          <p:cNvSpPr txBox="1"/>
          <p:nvPr/>
        </p:nvSpPr>
        <p:spPr>
          <a:xfrm>
            <a:off x="849331" y="365194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Training,</a:t>
            </a:r>
            <a:endParaRPr lang="en-US" sz="1441" dirty="0"/>
          </a:p>
        </p:txBody>
      </p:sp>
      <p:sp>
        <p:nvSpPr>
          <p:cNvPr id="24" name="Text 22"/>
          <p:cNvSpPr txBox="1"/>
          <p:nvPr/>
        </p:nvSpPr>
        <p:spPr>
          <a:xfrm>
            <a:off x="849331" y="386424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validation and</a:t>
            </a:r>
            <a:endParaRPr lang="en-US" sz="1441" dirty="0"/>
          </a:p>
        </p:txBody>
      </p:sp>
      <p:sp>
        <p:nvSpPr>
          <p:cNvPr id="25" name="Text 23"/>
          <p:cNvSpPr txBox="1"/>
          <p:nvPr/>
        </p:nvSpPr>
        <p:spPr>
          <a:xfrm>
            <a:off x="849331" y="4076546"/>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test</a:t>
            </a:r>
            <a:endParaRPr lang="en-US" sz="1441" dirty="0"/>
          </a:p>
        </p:txBody>
      </p:sp>
      <p:sp>
        <p:nvSpPr>
          <p:cNvPr id="26" name="Text 24"/>
          <p:cNvSpPr txBox="1"/>
          <p:nvPr/>
        </p:nvSpPr>
        <p:spPr>
          <a:xfrm>
            <a:off x="811202" y="4349853"/>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train_ds</a:t>
            </a:r>
            <a:endParaRPr lang="en-US" sz="1441" dirty="0"/>
          </a:p>
        </p:txBody>
      </p:sp>
      <p:sp>
        <p:nvSpPr>
          <p:cNvPr id="27" name="Shape 25"/>
          <p:cNvSpPr/>
          <p:nvPr/>
        </p:nvSpPr>
        <p:spPr>
          <a:xfrm>
            <a:off x="2598170" y="2939089"/>
            <a:ext cx="1565821" cy="1799677"/>
          </a:xfrm>
          <a:prstGeom prst="roundRect">
            <a:avLst>
              <a:gd name="adj" fmla="val 4672"/>
            </a:avLst>
          </a:prstGeom>
          <a:solidFill>
            <a:srgbClr val="FFF0E6"/>
          </a:solidFill>
          <a:ln w="15240">
            <a:solidFill>
              <a:srgbClr val="D55E00"/>
            </a:solidFill>
            <a:prstDash val="solid"/>
          </a:ln>
        </p:spPr>
      </p:sp>
      <p:sp>
        <p:nvSpPr>
          <p:cNvPr id="28" name="Text 26"/>
          <p:cNvSpPr txBox="1"/>
          <p:nvPr/>
        </p:nvSpPr>
        <p:spPr>
          <a:xfrm>
            <a:off x="2659176"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Measure</a:t>
            </a:r>
            <a:endParaRPr lang="en-US" sz="1561" dirty="0"/>
          </a:p>
        </p:txBody>
      </p:sp>
      <p:sp>
        <p:nvSpPr>
          <p:cNvPr id="29" name="Text 27"/>
          <p:cNvSpPr txBox="1"/>
          <p:nvPr/>
        </p:nvSpPr>
        <p:spPr>
          <a:xfrm>
            <a:off x="2659176"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baselines</a:t>
            </a:r>
            <a:endParaRPr lang="en-US" sz="1561" dirty="0"/>
          </a:p>
        </p:txBody>
      </p:sp>
      <p:sp>
        <p:nvSpPr>
          <p:cNvPr id="30" name="Text 28"/>
          <p:cNvSpPr txBox="1"/>
          <p:nvPr/>
        </p:nvSpPr>
        <p:spPr>
          <a:xfrm>
            <a:off x="2659176"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Best prompts</a:t>
            </a:r>
            <a:endParaRPr lang="en-US" sz="1441" dirty="0"/>
          </a:p>
        </p:txBody>
      </p:sp>
      <p:sp>
        <p:nvSpPr>
          <p:cNvPr id="31" name="Text 29"/>
          <p:cNvSpPr txBox="1"/>
          <p:nvPr/>
        </p:nvSpPr>
        <p:spPr>
          <a:xfrm>
            <a:off x="2659176"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before training</a:t>
            </a:r>
            <a:endParaRPr lang="en-US" sz="1441" dirty="0"/>
          </a:p>
        </p:txBody>
      </p:sp>
      <p:sp>
        <p:nvSpPr>
          <p:cNvPr id="32" name="Text 30"/>
          <p:cNvSpPr txBox="1"/>
          <p:nvPr/>
        </p:nvSpPr>
        <p:spPr>
          <a:xfrm>
            <a:off x="262104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df_few</a:t>
            </a:r>
            <a:endParaRPr lang="en-US" sz="1441" dirty="0"/>
          </a:p>
        </p:txBody>
      </p:sp>
      <p:sp>
        <p:nvSpPr>
          <p:cNvPr id="33" name="Shape 31"/>
          <p:cNvSpPr/>
          <p:nvPr/>
        </p:nvSpPr>
        <p:spPr>
          <a:xfrm>
            <a:off x="4408015" y="2939089"/>
            <a:ext cx="1565821" cy="1799677"/>
          </a:xfrm>
          <a:prstGeom prst="roundRect">
            <a:avLst>
              <a:gd name="adj" fmla="val 4672"/>
            </a:avLst>
          </a:prstGeom>
          <a:solidFill>
            <a:srgbClr val="E4F2FB"/>
          </a:solidFill>
          <a:ln w="15240">
            <a:solidFill>
              <a:srgbClr val="0072B2"/>
            </a:solidFill>
            <a:prstDash val="solid"/>
          </a:ln>
        </p:spPr>
      </p:sp>
      <p:sp>
        <p:nvSpPr>
          <p:cNvPr id="34" name="Text 32"/>
          <p:cNvSpPr txBox="1"/>
          <p:nvPr/>
        </p:nvSpPr>
        <p:spPr>
          <a:xfrm>
            <a:off x="446902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Format</a:t>
            </a:r>
            <a:endParaRPr lang="en-US" sz="1561" dirty="0"/>
          </a:p>
        </p:txBody>
      </p:sp>
      <p:sp>
        <p:nvSpPr>
          <p:cNvPr id="35" name="Text 33"/>
          <p:cNvSpPr txBox="1"/>
          <p:nvPr/>
        </p:nvSpPr>
        <p:spPr>
          <a:xfrm>
            <a:off x="446902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examples</a:t>
            </a:r>
            <a:endParaRPr lang="en-US" sz="1561" dirty="0"/>
          </a:p>
        </p:txBody>
      </p:sp>
      <p:sp>
        <p:nvSpPr>
          <p:cNvPr id="36" name="Text 34"/>
          <p:cNvSpPr txBox="1"/>
          <p:nvPr/>
        </p:nvSpPr>
        <p:spPr>
          <a:xfrm>
            <a:off x="446902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Message plus</a:t>
            </a:r>
            <a:endParaRPr lang="en-US" sz="1441" dirty="0"/>
          </a:p>
        </p:txBody>
      </p:sp>
      <p:sp>
        <p:nvSpPr>
          <p:cNvPr id="37" name="Text 35"/>
          <p:cNvSpPr txBox="1"/>
          <p:nvPr/>
        </p:nvSpPr>
        <p:spPr>
          <a:xfrm>
            <a:off x="446902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known intent</a:t>
            </a:r>
            <a:endParaRPr lang="en-US" sz="1441" dirty="0"/>
          </a:p>
        </p:txBody>
      </p:sp>
      <p:sp>
        <p:nvSpPr>
          <p:cNvPr id="38" name="Text 36"/>
          <p:cNvSpPr txBox="1"/>
          <p:nvPr/>
        </p:nvSpPr>
        <p:spPr>
          <a:xfrm>
            <a:off x="443089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to_chat</a:t>
            </a:r>
            <a:endParaRPr lang="en-US" sz="1441" dirty="0"/>
          </a:p>
        </p:txBody>
      </p:sp>
      <p:sp>
        <p:nvSpPr>
          <p:cNvPr id="39" name="Shape 37"/>
          <p:cNvSpPr/>
          <p:nvPr/>
        </p:nvSpPr>
        <p:spPr>
          <a:xfrm>
            <a:off x="6217860" y="2939089"/>
            <a:ext cx="1565821" cy="1799677"/>
          </a:xfrm>
          <a:prstGeom prst="rect">
            <a:avLst/>
          </a:prstGeom>
          <a:solidFill>
            <a:srgbClr val="E5F7EF"/>
          </a:solidFill>
          <a:ln w="15240">
            <a:solidFill>
              <a:srgbClr val="009E73"/>
            </a:solidFill>
            <a:prstDash val="solid"/>
          </a:ln>
        </p:spPr>
      </p:sp>
      <p:sp>
        <p:nvSpPr>
          <p:cNvPr id="40" name="Text 38"/>
          <p:cNvSpPr txBox="1"/>
          <p:nvPr/>
        </p:nvSpPr>
        <p:spPr>
          <a:xfrm>
            <a:off x="6278866" y="31157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Add LoRA</a:t>
            </a:r>
            <a:endParaRPr lang="en-US" sz="1561" dirty="0"/>
          </a:p>
        </p:txBody>
      </p:sp>
      <p:sp>
        <p:nvSpPr>
          <p:cNvPr id="41" name="Text 39"/>
          <p:cNvSpPr txBox="1"/>
          <p:nvPr/>
        </p:nvSpPr>
        <p:spPr>
          <a:xfrm>
            <a:off x="6278866" y="334569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paths</a:t>
            </a:r>
            <a:endParaRPr lang="en-US" sz="1561" dirty="0"/>
          </a:p>
        </p:txBody>
      </p:sp>
      <p:sp>
        <p:nvSpPr>
          <p:cNvPr id="42" name="Text 40"/>
          <p:cNvSpPr txBox="1"/>
          <p:nvPr/>
        </p:nvSpPr>
        <p:spPr>
          <a:xfrm>
            <a:off x="6278866" y="365194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Freeze base;</a:t>
            </a:r>
            <a:endParaRPr lang="en-US" sz="1441" dirty="0"/>
          </a:p>
        </p:txBody>
      </p:sp>
      <p:sp>
        <p:nvSpPr>
          <p:cNvPr id="43" name="Text 41"/>
          <p:cNvSpPr txBox="1"/>
          <p:nvPr/>
        </p:nvSpPr>
        <p:spPr>
          <a:xfrm>
            <a:off x="6278866" y="386424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add small</a:t>
            </a:r>
            <a:endParaRPr lang="en-US" sz="1441" dirty="0"/>
          </a:p>
        </p:txBody>
      </p:sp>
      <p:sp>
        <p:nvSpPr>
          <p:cNvPr id="44" name="Text 42"/>
          <p:cNvSpPr txBox="1"/>
          <p:nvPr/>
        </p:nvSpPr>
        <p:spPr>
          <a:xfrm>
            <a:off x="6278866" y="4076546"/>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matrices</a:t>
            </a:r>
            <a:endParaRPr lang="en-US" sz="1441" dirty="0"/>
          </a:p>
        </p:txBody>
      </p:sp>
      <p:sp>
        <p:nvSpPr>
          <p:cNvPr id="45" name="Text 43"/>
          <p:cNvSpPr txBox="1"/>
          <p:nvPr/>
        </p:nvSpPr>
        <p:spPr>
          <a:xfrm>
            <a:off x="6240737" y="4349853"/>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lora_config</a:t>
            </a:r>
            <a:endParaRPr lang="en-US" sz="1441" dirty="0"/>
          </a:p>
        </p:txBody>
      </p:sp>
      <p:sp>
        <p:nvSpPr>
          <p:cNvPr id="46" name="Shape 44"/>
          <p:cNvSpPr/>
          <p:nvPr/>
        </p:nvSpPr>
        <p:spPr>
          <a:xfrm>
            <a:off x="8027705" y="2939089"/>
            <a:ext cx="1565821" cy="1799677"/>
          </a:xfrm>
          <a:prstGeom prst="roundRect">
            <a:avLst>
              <a:gd name="adj" fmla="val 4672"/>
            </a:avLst>
          </a:prstGeom>
          <a:solidFill>
            <a:srgbClr val="FFF0E6"/>
          </a:solidFill>
          <a:ln w="15240">
            <a:solidFill>
              <a:srgbClr val="D55E00"/>
            </a:solidFill>
            <a:prstDash val="solid"/>
          </a:ln>
        </p:spPr>
      </p:sp>
      <p:sp>
        <p:nvSpPr>
          <p:cNvPr id="47" name="Text 45"/>
          <p:cNvSpPr txBox="1"/>
          <p:nvPr/>
        </p:nvSpPr>
        <p:spPr>
          <a:xfrm>
            <a:off x="808871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Train answer</a:t>
            </a:r>
            <a:endParaRPr lang="en-US" sz="1561" dirty="0"/>
          </a:p>
        </p:txBody>
      </p:sp>
      <p:sp>
        <p:nvSpPr>
          <p:cNvPr id="48" name="Text 46"/>
          <p:cNvSpPr txBox="1"/>
          <p:nvPr/>
        </p:nvSpPr>
        <p:spPr>
          <a:xfrm>
            <a:off x="808871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tokens</a:t>
            </a:r>
            <a:endParaRPr lang="en-US" sz="1561" dirty="0"/>
          </a:p>
        </p:txBody>
      </p:sp>
      <p:sp>
        <p:nvSpPr>
          <p:cNvPr id="49" name="Text 47"/>
          <p:cNvSpPr txBox="1"/>
          <p:nvPr/>
        </p:nvSpPr>
        <p:spPr>
          <a:xfrm>
            <a:off x="808871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Read prompt;</a:t>
            </a:r>
            <a:endParaRPr lang="en-US" sz="1441" dirty="0"/>
          </a:p>
        </p:txBody>
      </p:sp>
      <p:sp>
        <p:nvSpPr>
          <p:cNvPr id="50" name="Text 48"/>
          <p:cNvSpPr txBox="1"/>
          <p:nvPr/>
        </p:nvSpPr>
        <p:spPr>
          <a:xfrm>
            <a:off x="808871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validate learning</a:t>
            </a:r>
            <a:endParaRPr lang="en-US" sz="1441" dirty="0"/>
          </a:p>
        </p:txBody>
      </p:sp>
      <p:sp>
        <p:nvSpPr>
          <p:cNvPr id="51" name="Text 49"/>
          <p:cNvSpPr txBox="1"/>
          <p:nvPr/>
        </p:nvSpPr>
        <p:spPr>
          <a:xfrm>
            <a:off x="805058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trainer.train</a:t>
            </a:r>
            <a:endParaRPr lang="en-US" sz="1441" dirty="0"/>
          </a:p>
        </p:txBody>
      </p:sp>
      <p:sp>
        <p:nvSpPr>
          <p:cNvPr id="52" name="Shape 50"/>
          <p:cNvSpPr/>
          <p:nvPr/>
        </p:nvSpPr>
        <p:spPr>
          <a:xfrm>
            <a:off x="9837549" y="2939089"/>
            <a:ext cx="1565821" cy="1799677"/>
          </a:xfrm>
          <a:prstGeom prst="roundRect">
            <a:avLst>
              <a:gd name="adj" fmla="val 4672"/>
            </a:avLst>
          </a:prstGeom>
          <a:solidFill>
            <a:srgbClr val="F9EAF4"/>
          </a:solidFill>
          <a:ln w="15240">
            <a:solidFill>
              <a:srgbClr val="CC79A7"/>
            </a:solidFill>
            <a:prstDash val="solid"/>
          </a:ln>
        </p:spPr>
      </p:sp>
      <p:sp>
        <p:nvSpPr>
          <p:cNvPr id="53" name="Text 51"/>
          <p:cNvSpPr txBox="1"/>
          <p:nvPr/>
        </p:nvSpPr>
        <p:spPr>
          <a:xfrm>
            <a:off x="9898555"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Compare fairly</a:t>
            </a:r>
            <a:endParaRPr lang="en-US" sz="1561" dirty="0"/>
          </a:p>
        </p:txBody>
      </p:sp>
      <p:sp>
        <p:nvSpPr>
          <p:cNvPr id="54" name="Text 52"/>
          <p:cNvSpPr txBox="1"/>
          <p:nvPr/>
        </p:nvSpPr>
        <p:spPr>
          <a:xfrm>
            <a:off x="9898555"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Same test and</a:t>
            </a:r>
            <a:endParaRPr lang="en-US" sz="1441" dirty="0"/>
          </a:p>
        </p:txBody>
      </p:sp>
      <p:sp>
        <p:nvSpPr>
          <p:cNvPr id="55" name="Text 53"/>
          <p:cNvSpPr txBox="1"/>
          <p:nvPr/>
        </p:nvSpPr>
        <p:spPr>
          <a:xfrm>
            <a:off x="9898555"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label parser</a:t>
            </a:r>
            <a:endParaRPr lang="en-US" sz="1441" dirty="0"/>
          </a:p>
        </p:txBody>
      </p:sp>
      <p:sp>
        <p:nvSpPr>
          <p:cNvPr id="56" name="Text 54"/>
          <p:cNvSpPr txBox="1"/>
          <p:nvPr/>
        </p:nvSpPr>
        <p:spPr>
          <a:xfrm>
            <a:off x="986042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comparison</a:t>
            </a:r>
            <a:endParaRPr lang="en-US" sz="1441" dirty="0"/>
          </a:p>
        </p:txBody>
      </p:sp>
      <p:sp>
        <p:nvSpPr>
          <p:cNvPr id="57" name="Shape 55"/>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58" name="Text 56"/>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59" name="Shape 57"/>
          <p:cNvSpPr/>
          <p:nvPr/>
        </p:nvSpPr>
        <p:spPr>
          <a:xfrm>
            <a:off x="2118929" y="5630979"/>
            <a:ext cx="198270" cy="198270"/>
          </a:xfrm>
          <a:prstGeom prst="rect">
            <a:avLst/>
          </a:prstGeom>
          <a:solidFill>
            <a:srgbClr val="E5F7EF"/>
          </a:solidFill>
          <a:ln w="15240">
            <a:solidFill>
              <a:srgbClr val="009E73"/>
            </a:solidFill>
            <a:prstDash val="solid"/>
          </a:ln>
        </p:spPr>
      </p:sp>
      <p:sp>
        <p:nvSpPr>
          <p:cNvPr id="60" name="Text 58"/>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61" name="Shape 59"/>
          <p:cNvSpPr/>
          <p:nvPr/>
        </p:nvSpPr>
        <p:spPr>
          <a:xfrm>
            <a:off x="3122778" y="5630979"/>
            <a:ext cx="198270" cy="198270"/>
          </a:xfrm>
          <a:prstGeom prst="roundRect">
            <a:avLst>
              <a:gd name="adj" fmla="val 36895"/>
            </a:avLst>
          </a:prstGeom>
          <a:solidFill>
            <a:srgbClr val="FFF0E6"/>
          </a:solidFill>
          <a:ln w="15240">
            <a:solidFill>
              <a:srgbClr val="D55E00"/>
            </a:solidFill>
            <a:prstDash val="solid"/>
          </a:ln>
        </p:spPr>
      </p:sp>
      <p:sp>
        <p:nvSpPr>
          <p:cNvPr id="62" name="Text 60"/>
          <p:cNvSpPr txBox="1"/>
          <p:nvPr/>
        </p:nvSpPr>
        <p:spPr>
          <a:xfrm>
            <a:off x="3382054"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63" name="Shape 61"/>
          <p:cNvSpPr/>
          <p:nvPr/>
        </p:nvSpPr>
        <p:spPr>
          <a:xfrm>
            <a:off x="4748126" y="5630979"/>
            <a:ext cx="198270" cy="198270"/>
          </a:xfrm>
          <a:prstGeom prst="roundRect">
            <a:avLst>
              <a:gd name="adj" fmla="val 36895"/>
            </a:avLst>
          </a:prstGeom>
          <a:solidFill>
            <a:srgbClr val="F9EAF4"/>
          </a:solidFill>
          <a:ln w="15240">
            <a:solidFill>
              <a:srgbClr val="CC79A7"/>
            </a:solidFill>
            <a:prstDash val="solid"/>
          </a:ln>
        </p:spPr>
      </p:sp>
      <p:sp>
        <p:nvSpPr>
          <p:cNvPr id="64" name="Text 62"/>
          <p:cNvSpPr txBox="1"/>
          <p:nvPr/>
        </p:nvSpPr>
        <p:spPr>
          <a:xfrm>
            <a:off x="5007401"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65" name="Shape 63"/>
          <p:cNvSpPr/>
          <p:nvPr/>
        </p:nvSpPr>
        <p:spPr>
          <a:xfrm>
            <a:off x="5804824" y="5730113"/>
            <a:ext cx="335533" cy="0"/>
          </a:xfrm>
          <a:prstGeom prst="line">
            <a:avLst/>
          </a:prstGeom>
          <a:noFill/>
          <a:ln w="22860">
            <a:solidFill>
              <a:srgbClr val="009E73"/>
            </a:solidFill>
            <a:prstDash val="solid"/>
            <a:tailEnd type="triangle"/>
          </a:ln>
        </p:spPr>
      </p:sp>
      <p:sp>
        <p:nvSpPr>
          <p:cNvPr id="66" name="Text 64"/>
          <p:cNvSpPr txBox="1"/>
          <p:nvPr/>
        </p:nvSpPr>
        <p:spPr>
          <a:xfrm>
            <a:off x="6201363"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67" name="Text 65"/>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Why compare the tuned model with the few-shot baseline as well as the zero-shot baseline?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Prompting vs. retrieval vs. fine-tuning</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508760"/>
                <a:gridCol w="1869252"/>
                <a:gridCol w="3090771"/>
                <a:gridCol w="462563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Method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Changes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Best first use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Banking example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Prompt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The input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Task and format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List the ten intents and show examples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Retrieval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Input + sources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Changing facts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Fetch this week's interest rates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Fine-tune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The weights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Persistent behaviour gaps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Route 50,000 messages a day cheaply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
        <p:nvSpPr>
          <p:cNvPr id="7" name="Shape 4"/>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8" name="Text 5"/>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Combine methods when evidence supports it.</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decision process</a:t>
            </a:r>
            <a:endParaRPr lang="en-US" sz="3200" dirty="0"/>
          </a:p>
        </p:txBody>
      </p:sp>
      <p:sp>
        <p:nvSpPr>
          <p:cNvPr id="6" name="Shape 4"/>
          <p:cNvSpPr/>
          <p:nvPr/>
        </p:nvSpPr>
        <p:spPr>
          <a:xfrm>
            <a:off x="5201391" y="3298193"/>
            <a:ext cx="162628" cy="0"/>
          </a:xfrm>
          <a:prstGeom prst="line">
            <a:avLst/>
          </a:prstGeom>
          <a:noFill/>
          <a:ln w="22860">
            <a:solidFill>
              <a:srgbClr val="4F46E5"/>
            </a:solidFill>
            <a:prstDash val="solid"/>
          </a:ln>
        </p:spPr>
      </p:sp>
      <p:sp>
        <p:nvSpPr>
          <p:cNvPr id="7" name="Shape 5"/>
          <p:cNvSpPr/>
          <p:nvPr/>
        </p:nvSpPr>
        <p:spPr>
          <a:xfrm flipV="1">
            <a:off x="5364020" y="2362656"/>
            <a:ext cx="0" cy="935537"/>
          </a:xfrm>
          <a:prstGeom prst="line">
            <a:avLst/>
          </a:prstGeom>
          <a:noFill/>
          <a:ln w="22860">
            <a:solidFill>
              <a:srgbClr val="4F46E5"/>
            </a:solidFill>
            <a:prstDash val="solid"/>
          </a:ln>
        </p:spPr>
      </p:sp>
      <p:sp>
        <p:nvSpPr>
          <p:cNvPr id="8" name="Shape 6"/>
          <p:cNvSpPr/>
          <p:nvPr/>
        </p:nvSpPr>
        <p:spPr>
          <a:xfrm>
            <a:off x="2761964" y="3556958"/>
            <a:ext cx="569200" cy="0"/>
          </a:xfrm>
          <a:prstGeom prst="line">
            <a:avLst/>
          </a:prstGeom>
          <a:noFill/>
          <a:ln w="22860">
            <a:solidFill>
              <a:srgbClr val="4F46E5"/>
            </a:solidFill>
            <a:prstDash val="solid"/>
            <a:tailEnd type="triangle"/>
          </a:ln>
        </p:spPr>
      </p:sp>
      <p:sp>
        <p:nvSpPr>
          <p:cNvPr id="9" name="Shape 7"/>
          <p:cNvSpPr/>
          <p:nvPr/>
        </p:nvSpPr>
        <p:spPr>
          <a:xfrm>
            <a:off x="5364020" y="2362656"/>
            <a:ext cx="243943" cy="0"/>
          </a:xfrm>
          <a:prstGeom prst="line">
            <a:avLst/>
          </a:prstGeom>
          <a:noFill/>
          <a:ln w="22860">
            <a:solidFill>
              <a:srgbClr val="4F46E5"/>
            </a:solidFill>
            <a:prstDash val="solid"/>
            <a:tailEnd type="triangle"/>
          </a:ln>
        </p:spPr>
      </p:sp>
      <p:sp>
        <p:nvSpPr>
          <p:cNvPr id="10" name="Shape 8"/>
          <p:cNvSpPr/>
          <p:nvPr/>
        </p:nvSpPr>
        <p:spPr>
          <a:xfrm>
            <a:off x="5201391" y="3556958"/>
            <a:ext cx="406571" cy="0"/>
          </a:xfrm>
          <a:prstGeom prst="line">
            <a:avLst/>
          </a:prstGeom>
          <a:noFill/>
          <a:ln w="22860">
            <a:solidFill>
              <a:srgbClr val="4F46E5"/>
            </a:solidFill>
            <a:prstDash val="solid"/>
            <a:tailEnd type="triangle"/>
          </a:ln>
        </p:spPr>
      </p:sp>
      <p:sp>
        <p:nvSpPr>
          <p:cNvPr id="11" name="Shape 9"/>
          <p:cNvSpPr/>
          <p:nvPr/>
        </p:nvSpPr>
        <p:spPr>
          <a:xfrm>
            <a:off x="8210017" y="3556958"/>
            <a:ext cx="569200" cy="0"/>
          </a:xfrm>
          <a:prstGeom prst="line">
            <a:avLst/>
          </a:prstGeom>
          <a:noFill/>
          <a:ln w="22860">
            <a:solidFill>
              <a:srgbClr val="4F46E5"/>
            </a:solidFill>
            <a:prstDash val="solid"/>
            <a:tailEnd type="triangle"/>
          </a:ln>
        </p:spPr>
      </p:sp>
      <p:sp>
        <p:nvSpPr>
          <p:cNvPr id="12" name="Shape 10"/>
          <p:cNvSpPr/>
          <p:nvPr/>
        </p:nvSpPr>
        <p:spPr>
          <a:xfrm>
            <a:off x="6908990" y="3935154"/>
            <a:ext cx="0" cy="636961"/>
          </a:xfrm>
          <a:prstGeom prst="line">
            <a:avLst/>
          </a:prstGeom>
          <a:noFill/>
          <a:ln w="22860">
            <a:solidFill>
              <a:srgbClr val="4F46E5"/>
            </a:solidFill>
            <a:prstDash val="solid"/>
            <a:tailEnd type="triangle"/>
          </a:ln>
        </p:spPr>
      </p:sp>
      <p:sp>
        <p:nvSpPr>
          <p:cNvPr id="13" name="Shape 11"/>
          <p:cNvSpPr/>
          <p:nvPr/>
        </p:nvSpPr>
        <p:spPr>
          <a:xfrm>
            <a:off x="8210017" y="4950311"/>
            <a:ext cx="569200" cy="0"/>
          </a:xfrm>
          <a:prstGeom prst="line">
            <a:avLst/>
          </a:prstGeom>
          <a:noFill/>
          <a:ln w="22860">
            <a:solidFill>
              <a:srgbClr val="4F46E5"/>
            </a:solidFill>
            <a:prstDash val="solid"/>
            <a:tailEnd type="triangle"/>
          </a:ln>
        </p:spPr>
      </p:sp>
      <p:sp>
        <p:nvSpPr>
          <p:cNvPr id="14" name="Shape 12"/>
          <p:cNvSpPr/>
          <p:nvPr/>
        </p:nvSpPr>
        <p:spPr>
          <a:xfrm flipH="1">
            <a:off x="5201391" y="4950311"/>
            <a:ext cx="406571" cy="0"/>
          </a:xfrm>
          <a:prstGeom prst="line">
            <a:avLst/>
          </a:prstGeom>
          <a:noFill/>
          <a:ln w="22860">
            <a:solidFill>
              <a:srgbClr val="4F46E5"/>
            </a:solidFill>
            <a:prstDash val="solid"/>
            <a:tailEnd type="triangle"/>
          </a:ln>
        </p:spPr>
      </p:sp>
      <p:sp>
        <p:nvSpPr>
          <p:cNvPr id="15" name="Shape 13"/>
          <p:cNvSpPr/>
          <p:nvPr/>
        </p:nvSpPr>
        <p:spPr>
          <a:xfrm>
            <a:off x="891737" y="3178762"/>
            <a:ext cx="1870227" cy="756392"/>
          </a:xfrm>
          <a:prstGeom prst="roundRect">
            <a:avLst>
              <a:gd name="adj" fmla="val 9671"/>
            </a:avLst>
          </a:prstGeom>
          <a:solidFill>
            <a:srgbClr val="E4F2FB"/>
          </a:solidFill>
          <a:ln w="15240">
            <a:solidFill>
              <a:srgbClr val="0072B2"/>
            </a:solidFill>
            <a:prstDash val="solid"/>
          </a:ln>
        </p:spPr>
      </p:sp>
      <p:sp>
        <p:nvSpPr>
          <p:cNvPr id="16" name="Shape 14"/>
          <p:cNvSpPr/>
          <p:nvPr/>
        </p:nvSpPr>
        <p:spPr>
          <a:xfrm>
            <a:off x="3331164" y="3178762"/>
            <a:ext cx="1870227" cy="756392"/>
          </a:xfrm>
          <a:prstGeom prst="roundRect">
            <a:avLst>
              <a:gd name="adj" fmla="val 9671"/>
            </a:avLst>
          </a:prstGeom>
          <a:solidFill>
            <a:srgbClr val="FFF0E6"/>
          </a:solidFill>
          <a:ln w="15240">
            <a:solidFill>
              <a:srgbClr val="D55E00"/>
            </a:solidFill>
            <a:prstDash val="solid"/>
          </a:ln>
        </p:spPr>
      </p:sp>
      <p:sp>
        <p:nvSpPr>
          <p:cNvPr id="17" name="Shape 15"/>
          <p:cNvSpPr/>
          <p:nvPr/>
        </p:nvSpPr>
        <p:spPr>
          <a:xfrm>
            <a:off x="5607962" y="2024270"/>
            <a:ext cx="2602055" cy="676772"/>
          </a:xfrm>
          <a:prstGeom prst="roundRect">
            <a:avLst>
              <a:gd name="adj" fmla="val 10809"/>
            </a:avLst>
          </a:prstGeom>
          <a:solidFill>
            <a:srgbClr val="F9EAF4"/>
          </a:solidFill>
          <a:ln w="15240">
            <a:solidFill>
              <a:srgbClr val="CC79A7"/>
            </a:solidFill>
            <a:prstDash val="solid"/>
          </a:ln>
        </p:spPr>
      </p:sp>
      <p:sp>
        <p:nvSpPr>
          <p:cNvPr id="18" name="Shape 16"/>
          <p:cNvSpPr/>
          <p:nvPr/>
        </p:nvSpPr>
        <p:spPr>
          <a:xfrm>
            <a:off x="5607962" y="3178762"/>
            <a:ext cx="2602055" cy="756392"/>
          </a:xfrm>
          <a:prstGeom prst="roundRect">
            <a:avLst>
              <a:gd name="adj" fmla="val 9671"/>
            </a:avLst>
          </a:prstGeom>
          <a:solidFill>
            <a:srgbClr val="FFF0E6"/>
          </a:solidFill>
          <a:ln w="15240">
            <a:solidFill>
              <a:srgbClr val="D55E00"/>
            </a:solidFill>
            <a:prstDash val="solid"/>
          </a:ln>
        </p:spPr>
      </p:sp>
      <p:sp>
        <p:nvSpPr>
          <p:cNvPr id="19" name="Shape 17"/>
          <p:cNvSpPr/>
          <p:nvPr/>
        </p:nvSpPr>
        <p:spPr>
          <a:xfrm>
            <a:off x="8779217" y="3178762"/>
            <a:ext cx="2439427" cy="756392"/>
          </a:xfrm>
          <a:prstGeom prst="rect">
            <a:avLst/>
          </a:prstGeom>
          <a:solidFill>
            <a:srgbClr val="F2F4F5"/>
          </a:solidFill>
          <a:ln w="15240">
            <a:solidFill>
              <a:srgbClr val="626B73"/>
            </a:solidFill>
            <a:prstDash val="solid"/>
          </a:ln>
        </p:spPr>
      </p:sp>
      <p:sp>
        <p:nvSpPr>
          <p:cNvPr id="20" name="Shape 18"/>
          <p:cNvSpPr/>
          <p:nvPr/>
        </p:nvSpPr>
        <p:spPr>
          <a:xfrm>
            <a:off x="5607962" y="4572116"/>
            <a:ext cx="2602055" cy="756392"/>
          </a:xfrm>
          <a:prstGeom prst="roundRect">
            <a:avLst>
              <a:gd name="adj" fmla="val 9671"/>
            </a:avLst>
          </a:prstGeom>
          <a:solidFill>
            <a:srgbClr val="FFF0E6"/>
          </a:solidFill>
          <a:ln w="15240">
            <a:solidFill>
              <a:srgbClr val="D55E00"/>
            </a:solidFill>
            <a:prstDash val="solid"/>
          </a:ln>
        </p:spPr>
      </p:sp>
      <p:sp>
        <p:nvSpPr>
          <p:cNvPr id="21" name="Shape 19"/>
          <p:cNvSpPr/>
          <p:nvPr/>
        </p:nvSpPr>
        <p:spPr>
          <a:xfrm>
            <a:off x="8779217" y="4572116"/>
            <a:ext cx="2439427" cy="756392"/>
          </a:xfrm>
          <a:prstGeom prst="rect">
            <a:avLst/>
          </a:prstGeom>
          <a:solidFill>
            <a:srgbClr val="E5F7EF"/>
          </a:solidFill>
          <a:ln w="15240">
            <a:solidFill>
              <a:srgbClr val="009E73"/>
            </a:solidFill>
            <a:prstDash val="solid"/>
          </a:ln>
        </p:spPr>
      </p:sp>
      <p:sp>
        <p:nvSpPr>
          <p:cNvPr id="22" name="Shape 20"/>
          <p:cNvSpPr/>
          <p:nvPr/>
        </p:nvSpPr>
        <p:spPr>
          <a:xfrm>
            <a:off x="3331164" y="4572116"/>
            <a:ext cx="1870227" cy="756392"/>
          </a:xfrm>
          <a:prstGeom prst="rect">
            <a:avLst/>
          </a:prstGeom>
          <a:solidFill>
            <a:srgbClr val="F2F4F5"/>
          </a:solidFill>
          <a:ln w="15240">
            <a:solidFill>
              <a:srgbClr val="626B73"/>
            </a:solidFill>
            <a:prstDash val="solid"/>
          </a:ln>
        </p:spPr>
      </p:sp>
      <p:sp>
        <p:nvSpPr>
          <p:cNvPr id="23" name="Text 21"/>
          <p:cNvSpPr txBox="1"/>
          <p:nvPr/>
        </p:nvSpPr>
        <p:spPr>
          <a:xfrm>
            <a:off x="1096315" y="3338615"/>
            <a:ext cx="1461073" cy="218344"/>
          </a:xfrm>
          <a:prstGeom prst="rect">
            <a:avLst/>
          </a:prstGeom>
          <a:noFill/>
          <a:ln/>
        </p:spPr>
        <p:txBody>
          <a:bodyPr wrap="square" lIns="0" tIns="0" rIns="0" bIns="0" rtlCol="0" anchor="ctr"/>
          <a:lstStyle/>
          <a:p>
            <a:pPr algn="ctr" indent="0" marL="0">
              <a:lnSpc>
                <a:spcPct val="116000"/>
              </a:lnSpc>
              <a:buNone/>
            </a:pPr>
            <a:r>
              <a:rPr lang="en-US" sz="1482" b="1" dirty="0">
                <a:solidFill>
                  <a:srgbClr val="1E1B4B"/>
                </a:solidFill>
                <a:latin typeface="Arial" pitchFamily="34" charset="0"/>
                <a:ea typeface="Arial" pitchFamily="34" charset="-122"/>
                <a:cs typeface="Arial" pitchFamily="34" charset="-120"/>
              </a:rPr>
              <a:t>Start: prompt +</a:t>
            </a:r>
            <a:endParaRPr lang="en-US" sz="1482" dirty="0"/>
          </a:p>
        </p:txBody>
      </p:sp>
      <p:sp>
        <p:nvSpPr>
          <p:cNvPr id="24" name="Text 22"/>
          <p:cNvSpPr txBox="1"/>
          <p:nvPr/>
        </p:nvSpPr>
        <p:spPr>
          <a:xfrm>
            <a:off x="1096315" y="3556958"/>
            <a:ext cx="1461073" cy="218344"/>
          </a:xfrm>
          <a:prstGeom prst="rect">
            <a:avLst/>
          </a:prstGeom>
          <a:noFill/>
          <a:ln/>
        </p:spPr>
        <p:txBody>
          <a:bodyPr wrap="square" lIns="0" tIns="0" rIns="0" bIns="0" rtlCol="0" anchor="ctr"/>
          <a:lstStyle/>
          <a:p>
            <a:pPr algn="ctr" indent="0" marL="0">
              <a:lnSpc>
                <a:spcPct val="116000"/>
              </a:lnSpc>
              <a:buNone/>
            </a:pPr>
            <a:r>
              <a:rPr lang="en-US" sz="1482" b="1" dirty="0">
                <a:solidFill>
                  <a:srgbClr val="1E1B4B"/>
                </a:solidFill>
                <a:latin typeface="Arial" pitchFamily="34" charset="0"/>
                <a:ea typeface="Arial" pitchFamily="34" charset="-122"/>
                <a:cs typeface="Arial" pitchFamily="34" charset="-120"/>
              </a:rPr>
              <a:t>evaluation set</a:t>
            </a:r>
            <a:endParaRPr lang="en-US" sz="1482" dirty="0"/>
          </a:p>
        </p:txBody>
      </p:sp>
      <p:sp>
        <p:nvSpPr>
          <p:cNvPr id="25" name="Text 23"/>
          <p:cNvSpPr txBox="1"/>
          <p:nvPr/>
        </p:nvSpPr>
        <p:spPr>
          <a:xfrm>
            <a:off x="3689158" y="3338615"/>
            <a:ext cx="1154238" cy="218344"/>
          </a:xfrm>
          <a:prstGeom prst="rect">
            <a:avLst/>
          </a:prstGeom>
          <a:noFill/>
          <a:ln/>
        </p:spPr>
        <p:txBody>
          <a:bodyPr wrap="square" lIns="0" tIns="0" rIns="0" bIns="0" rtlCol="0" anchor="ctr"/>
          <a:lstStyle/>
          <a:p>
            <a:pPr algn="ctr" indent="0" marL="0">
              <a:lnSpc>
                <a:spcPct val="116000"/>
              </a:lnSpc>
              <a:buNone/>
            </a:pPr>
            <a:r>
              <a:rPr lang="en-US" sz="1482" b="1" dirty="0">
                <a:solidFill>
                  <a:srgbClr val="1E1B4B"/>
                </a:solidFill>
                <a:latin typeface="Arial" pitchFamily="34" charset="0"/>
                <a:ea typeface="Arial" pitchFamily="34" charset="-122"/>
                <a:cs typeface="Arial" pitchFamily="34" charset="-120"/>
              </a:rPr>
              <a:t>Meets the</a:t>
            </a:r>
            <a:endParaRPr lang="en-US" sz="1482" dirty="0"/>
          </a:p>
        </p:txBody>
      </p:sp>
      <p:sp>
        <p:nvSpPr>
          <p:cNvPr id="26" name="Text 24"/>
          <p:cNvSpPr txBox="1"/>
          <p:nvPr/>
        </p:nvSpPr>
        <p:spPr>
          <a:xfrm>
            <a:off x="3689158" y="3556958"/>
            <a:ext cx="1154238" cy="218344"/>
          </a:xfrm>
          <a:prstGeom prst="rect">
            <a:avLst/>
          </a:prstGeom>
          <a:noFill/>
          <a:ln/>
        </p:spPr>
        <p:txBody>
          <a:bodyPr wrap="square" lIns="0" tIns="0" rIns="0" bIns="0" rtlCol="0" anchor="ctr"/>
          <a:lstStyle/>
          <a:p>
            <a:pPr algn="ctr" indent="0" marL="0">
              <a:lnSpc>
                <a:spcPct val="116000"/>
              </a:lnSpc>
              <a:buNone/>
            </a:pPr>
            <a:r>
              <a:rPr lang="en-US" sz="1482" b="1" dirty="0">
                <a:solidFill>
                  <a:srgbClr val="1E1B4B"/>
                </a:solidFill>
                <a:latin typeface="Arial" pitchFamily="34" charset="0"/>
                <a:ea typeface="Arial" pitchFamily="34" charset="-122"/>
                <a:cs typeface="Arial" pitchFamily="34" charset="-120"/>
              </a:rPr>
              <a:t>quality bar?</a:t>
            </a:r>
            <a:endParaRPr lang="en-US" sz="1482" dirty="0"/>
          </a:p>
        </p:txBody>
      </p:sp>
      <p:sp>
        <p:nvSpPr>
          <p:cNvPr id="27" name="Text 25"/>
          <p:cNvSpPr txBox="1"/>
          <p:nvPr/>
        </p:nvSpPr>
        <p:spPr>
          <a:xfrm>
            <a:off x="6380087" y="2144312"/>
            <a:ext cx="1057805" cy="218344"/>
          </a:xfrm>
          <a:prstGeom prst="rect">
            <a:avLst/>
          </a:prstGeom>
          <a:noFill/>
          <a:ln/>
        </p:spPr>
        <p:txBody>
          <a:bodyPr wrap="square" lIns="0" tIns="0" rIns="0" bIns="0" rtlCol="0" anchor="ctr"/>
          <a:lstStyle/>
          <a:p>
            <a:pPr algn="ctr" indent="0" marL="0">
              <a:lnSpc>
                <a:spcPct val="116000"/>
              </a:lnSpc>
              <a:buNone/>
            </a:pPr>
            <a:r>
              <a:rPr lang="en-US" sz="1482" b="1" dirty="0">
                <a:solidFill>
                  <a:srgbClr val="1E1B4B"/>
                </a:solidFill>
                <a:latin typeface="Arial" pitchFamily="34" charset="0"/>
                <a:ea typeface="Arial" pitchFamily="34" charset="-122"/>
                <a:cs typeface="Arial" pitchFamily="34" charset="-120"/>
              </a:rPr>
              <a:t>Done: ship</a:t>
            </a:r>
            <a:endParaRPr lang="en-US" sz="1482" dirty="0"/>
          </a:p>
        </p:txBody>
      </p:sp>
      <p:sp>
        <p:nvSpPr>
          <p:cNvPr id="28" name="Text 26"/>
          <p:cNvSpPr txBox="1"/>
          <p:nvPr/>
        </p:nvSpPr>
        <p:spPr>
          <a:xfrm>
            <a:off x="6380087" y="2362656"/>
            <a:ext cx="1057805" cy="218344"/>
          </a:xfrm>
          <a:prstGeom prst="rect">
            <a:avLst/>
          </a:prstGeom>
          <a:noFill/>
          <a:ln/>
        </p:spPr>
        <p:txBody>
          <a:bodyPr wrap="square" lIns="0" tIns="0" rIns="0" bIns="0" rtlCol="0" anchor="ctr"/>
          <a:lstStyle/>
          <a:p>
            <a:pPr algn="ctr" indent="0" marL="0">
              <a:lnSpc>
                <a:spcPct val="116000"/>
              </a:lnSpc>
              <a:buNone/>
            </a:pPr>
            <a:r>
              <a:rPr lang="en-US" sz="1482" b="1" dirty="0">
                <a:solidFill>
                  <a:srgbClr val="1E1B4B"/>
                </a:solidFill>
                <a:latin typeface="Arial" pitchFamily="34" charset="0"/>
                <a:ea typeface="Arial" pitchFamily="34" charset="-122"/>
                <a:cs typeface="Arial" pitchFamily="34" charset="-120"/>
              </a:rPr>
              <a:t>+ monitor</a:t>
            </a:r>
            <a:endParaRPr lang="en-US" sz="1482" dirty="0"/>
          </a:p>
        </p:txBody>
      </p:sp>
      <p:sp>
        <p:nvSpPr>
          <p:cNvPr id="29" name="Text 27"/>
          <p:cNvSpPr txBox="1"/>
          <p:nvPr/>
        </p:nvSpPr>
        <p:spPr>
          <a:xfrm>
            <a:off x="5946136" y="3338615"/>
            <a:ext cx="1925707" cy="218344"/>
          </a:xfrm>
          <a:prstGeom prst="rect">
            <a:avLst/>
          </a:prstGeom>
          <a:noFill/>
          <a:ln/>
        </p:spPr>
        <p:txBody>
          <a:bodyPr wrap="square" lIns="0" tIns="0" rIns="0" bIns="0" rtlCol="0" anchor="ctr"/>
          <a:lstStyle/>
          <a:p>
            <a:pPr algn="ctr" indent="0" marL="0">
              <a:lnSpc>
                <a:spcPct val="116000"/>
              </a:lnSpc>
              <a:buNone/>
            </a:pPr>
            <a:r>
              <a:rPr lang="en-US" sz="1482" b="1" dirty="0">
                <a:solidFill>
                  <a:srgbClr val="1E1B4B"/>
                </a:solidFill>
                <a:latin typeface="Arial" pitchFamily="34" charset="0"/>
                <a:ea typeface="Arial" pitchFamily="34" charset="-122"/>
                <a:cs typeface="Arial" pitchFamily="34" charset="-120"/>
              </a:rPr>
              <a:t>Missing knowledge?</a:t>
            </a:r>
            <a:endParaRPr lang="en-US" sz="1482" dirty="0"/>
          </a:p>
        </p:txBody>
      </p:sp>
      <p:sp>
        <p:nvSpPr>
          <p:cNvPr id="30" name="Text 28"/>
          <p:cNvSpPr txBox="1"/>
          <p:nvPr/>
        </p:nvSpPr>
        <p:spPr>
          <a:xfrm>
            <a:off x="5946136" y="3556958"/>
            <a:ext cx="1925707" cy="218344"/>
          </a:xfrm>
          <a:prstGeom prst="rect">
            <a:avLst/>
          </a:prstGeom>
          <a:noFill/>
          <a:ln/>
        </p:spPr>
        <p:txBody>
          <a:bodyPr wrap="square" lIns="0" tIns="0" rIns="0" bIns="0" rtlCol="0" anchor="ctr"/>
          <a:lstStyle/>
          <a:p>
            <a:pPr algn="ctr" indent="0" marL="0">
              <a:lnSpc>
                <a:spcPct val="116000"/>
              </a:lnSpc>
              <a:buNone/>
            </a:pPr>
            <a:r>
              <a:rPr lang="en-US" sz="1482" b="1" dirty="0">
                <a:solidFill>
                  <a:srgbClr val="1E1B4B"/>
                </a:solidFill>
                <a:latin typeface="Arial" pitchFamily="34" charset="0"/>
                <a:ea typeface="Arial" pitchFamily="34" charset="-122"/>
                <a:cs typeface="Arial" pitchFamily="34" charset="-120"/>
              </a:rPr>
              <a:t>(facts, documents)</a:t>
            </a:r>
            <a:endParaRPr lang="en-US" sz="1482" dirty="0"/>
          </a:p>
        </p:txBody>
      </p:sp>
      <p:sp>
        <p:nvSpPr>
          <p:cNvPr id="31" name="Text 29"/>
          <p:cNvSpPr txBox="1"/>
          <p:nvPr/>
        </p:nvSpPr>
        <p:spPr>
          <a:xfrm>
            <a:off x="9145660" y="3338615"/>
            <a:ext cx="1706540" cy="218344"/>
          </a:xfrm>
          <a:prstGeom prst="rect">
            <a:avLst/>
          </a:prstGeom>
          <a:noFill/>
          <a:ln/>
        </p:spPr>
        <p:txBody>
          <a:bodyPr wrap="square" lIns="0" tIns="0" rIns="0" bIns="0" rtlCol="0" anchor="ctr"/>
          <a:lstStyle/>
          <a:p>
            <a:pPr algn="ctr" indent="0" marL="0">
              <a:lnSpc>
                <a:spcPct val="116000"/>
              </a:lnSpc>
              <a:buNone/>
            </a:pPr>
            <a:r>
              <a:rPr lang="en-US" sz="1482" b="1" dirty="0">
                <a:solidFill>
                  <a:srgbClr val="1E1B4B"/>
                </a:solidFill>
                <a:latin typeface="Arial" pitchFamily="34" charset="0"/>
                <a:ea typeface="Arial" pitchFamily="34" charset="-122"/>
                <a:cs typeface="Arial" pitchFamily="34" charset="-120"/>
              </a:rPr>
              <a:t>RAG: retrieve and</a:t>
            </a:r>
            <a:endParaRPr lang="en-US" sz="1482" dirty="0"/>
          </a:p>
        </p:txBody>
      </p:sp>
      <p:sp>
        <p:nvSpPr>
          <p:cNvPr id="32" name="Text 30"/>
          <p:cNvSpPr txBox="1"/>
          <p:nvPr/>
        </p:nvSpPr>
        <p:spPr>
          <a:xfrm>
            <a:off x="9145660" y="3556958"/>
            <a:ext cx="1706540" cy="218344"/>
          </a:xfrm>
          <a:prstGeom prst="rect">
            <a:avLst/>
          </a:prstGeom>
          <a:noFill/>
          <a:ln/>
        </p:spPr>
        <p:txBody>
          <a:bodyPr wrap="square" lIns="0" tIns="0" rIns="0" bIns="0" rtlCol="0" anchor="ctr"/>
          <a:lstStyle/>
          <a:p>
            <a:pPr algn="ctr" indent="0" marL="0">
              <a:lnSpc>
                <a:spcPct val="116000"/>
              </a:lnSpc>
              <a:buNone/>
            </a:pPr>
            <a:r>
              <a:rPr lang="en-US" sz="1482" b="1" dirty="0">
                <a:solidFill>
                  <a:srgbClr val="1E1B4B"/>
                </a:solidFill>
                <a:latin typeface="Arial" pitchFamily="34" charset="0"/>
                <a:ea typeface="Arial" pitchFamily="34" charset="-122"/>
                <a:cs typeface="Arial" pitchFamily="34" charset="-120"/>
              </a:rPr>
              <a:t>ground (week 12)</a:t>
            </a:r>
            <a:endParaRPr lang="en-US" sz="1482" dirty="0"/>
          </a:p>
        </p:txBody>
      </p:sp>
      <p:sp>
        <p:nvSpPr>
          <p:cNvPr id="33" name="Text 31"/>
          <p:cNvSpPr txBox="1"/>
          <p:nvPr/>
        </p:nvSpPr>
        <p:spPr>
          <a:xfrm>
            <a:off x="5972436" y="4731968"/>
            <a:ext cx="1873107" cy="218344"/>
          </a:xfrm>
          <a:prstGeom prst="rect">
            <a:avLst/>
          </a:prstGeom>
          <a:noFill/>
          <a:ln/>
        </p:spPr>
        <p:txBody>
          <a:bodyPr wrap="square" lIns="0" tIns="0" rIns="0" bIns="0" rtlCol="0" anchor="ctr"/>
          <a:lstStyle/>
          <a:p>
            <a:pPr algn="ctr" indent="0" marL="0">
              <a:lnSpc>
                <a:spcPct val="116000"/>
              </a:lnSpc>
              <a:buNone/>
            </a:pPr>
            <a:r>
              <a:rPr lang="en-US" sz="1482" b="1" dirty="0">
                <a:solidFill>
                  <a:srgbClr val="1E1B4B"/>
                </a:solidFill>
                <a:latin typeface="Arial" pitchFamily="34" charset="0"/>
                <a:ea typeface="Arial" pitchFamily="34" charset="-122"/>
                <a:cs typeface="Arial" pitchFamily="34" charset="-120"/>
              </a:rPr>
              <a:t>Behaviour / format /</a:t>
            </a:r>
            <a:endParaRPr lang="en-US" sz="1482" dirty="0"/>
          </a:p>
        </p:txBody>
      </p:sp>
      <p:sp>
        <p:nvSpPr>
          <p:cNvPr id="34" name="Text 32"/>
          <p:cNvSpPr txBox="1"/>
          <p:nvPr/>
        </p:nvSpPr>
        <p:spPr>
          <a:xfrm>
            <a:off x="5972436" y="4950311"/>
            <a:ext cx="1873107" cy="218344"/>
          </a:xfrm>
          <a:prstGeom prst="rect">
            <a:avLst/>
          </a:prstGeom>
          <a:noFill/>
          <a:ln/>
        </p:spPr>
        <p:txBody>
          <a:bodyPr wrap="square" lIns="0" tIns="0" rIns="0" bIns="0" rtlCol="0" anchor="ctr"/>
          <a:lstStyle/>
          <a:p>
            <a:pPr algn="ctr" indent="0" marL="0">
              <a:lnSpc>
                <a:spcPct val="116000"/>
              </a:lnSpc>
              <a:buNone/>
            </a:pPr>
            <a:r>
              <a:rPr lang="en-US" sz="1482" b="1" dirty="0">
                <a:solidFill>
                  <a:srgbClr val="1E1B4B"/>
                </a:solidFill>
                <a:latin typeface="Arial" pitchFamily="34" charset="0"/>
                <a:ea typeface="Arial" pitchFamily="34" charset="-122"/>
                <a:cs typeface="Arial" pitchFamily="34" charset="-120"/>
              </a:rPr>
              <a:t>style / cost gap?</a:t>
            </a:r>
            <a:endParaRPr lang="en-US" sz="1482" dirty="0"/>
          </a:p>
        </p:txBody>
      </p:sp>
      <p:sp>
        <p:nvSpPr>
          <p:cNvPr id="35" name="Text 33"/>
          <p:cNvSpPr txBox="1"/>
          <p:nvPr/>
        </p:nvSpPr>
        <p:spPr>
          <a:xfrm>
            <a:off x="9114977" y="4731968"/>
            <a:ext cx="1767907" cy="218344"/>
          </a:xfrm>
          <a:prstGeom prst="rect">
            <a:avLst/>
          </a:prstGeom>
          <a:noFill/>
          <a:ln/>
        </p:spPr>
        <p:txBody>
          <a:bodyPr wrap="square" lIns="0" tIns="0" rIns="0" bIns="0" rtlCol="0" anchor="ctr"/>
          <a:lstStyle/>
          <a:p>
            <a:pPr algn="ctr" indent="0" marL="0">
              <a:lnSpc>
                <a:spcPct val="116000"/>
              </a:lnSpc>
              <a:buNone/>
            </a:pPr>
            <a:r>
              <a:rPr lang="en-US" sz="1482" b="1" dirty="0">
                <a:solidFill>
                  <a:srgbClr val="1E1B4B"/>
                </a:solidFill>
                <a:latin typeface="Arial" pitchFamily="34" charset="0"/>
                <a:ea typeface="Arial" pitchFamily="34" charset="-122"/>
                <a:cs typeface="Arial" pitchFamily="34" charset="-120"/>
              </a:rPr>
              <a:t>Fine-tune (LoRA) a</a:t>
            </a:r>
            <a:endParaRPr lang="en-US" sz="1482" dirty="0"/>
          </a:p>
        </p:txBody>
      </p:sp>
      <p:sp>
        <p:nvSpPr>
          <p:cNvPr id="36" name="Text 34"/>
          <p:cNvSpPr txBox="1"/>
          <p:nvPr/>
        </p:nvSpPr>
        <p:spPr>
          <a:xfrm>
            <a:off x="9114977" y="4950311"/>
            <a:ext cx="1767907" cy="218344"/>
          </a:xfrm>
          <a:prstGeom prst="rect">
            <a:avLst/>
          </a:prstGeom>
          <a:noFill/>
          <a:ln/>
        </p:spPr>
        <p:txBody>
          <a:bodyPr wrap="square" lIns="0" tIns="0" rIns="0" bIns="0" rtlCol="0" anchor="ctr"/>
          <a:lstStyle/>
          <a:p>
            <a:pPr algn="ctr" indent="0" marL="0">
              <a:lnSpc>
                <a:spcPct val="116000"/>
              </a:lnSpc>
              <a:buNone/>
            </a:pPr>
            <a:r>
              <a:rPr lang="en-US" sz="1482" b="1" dirty="0">
                <a:solidFill>
                  <a:srgbClr val="1E1B4B"/>
                </a:solidFill>
                <a:latin typeface="Arial" pitchFamily="34" charset="0"/>
                <a:ea typeface="Arial" pitchFamily="34" charset="-122"/>
                <a:cs typeface="Arial" pitchFamily="34" charset="-120"/>
              </a:rPr>
              <a:t>suitable model</a:t>
            </a:r>
            <a:endParaRPr lang="en-US" sz="1482" dirty="0"/>
          </a:p>
        </p:txBody>
      </p:sp>
      <p:sp>
        <p:nvSpPr>
          <p:cNvPr id="37" name="Text 35"/>
          <p:cNvSpPr txBox="1"/>
          <p:nvPr/>
        </p:nvSpPr>
        <p:spPr>
          <a:xfrm>
            <a:off x="3531358" y="4731968"/>
            <a:ext cx="1469839" cy="218344"/>
          </a:xfrm>
          <a:prstGeom prst="rect">
            <a:avLst/>
          </a:prstGeom>
          <a:noFill/>
          <a:ln/>
        </p:spPr>
        <p:txBody>
          <a:bodyPr wrap="square" lIns="0" tIns="0" rIns="0" bIns="0" rtlCol="0" anchor="ctr"/>
          <a:lstStyle/>
          <a:p>
            <a:pPr algn="ctr" indent="0" marL="0">
              <a:lnSpc>
                <a:spcPct val="116000"/>
              </a:lnSpc>
              <a:buNone/>
            </a:pPr>
            <a:r>
              <a:rPr lang="en-US" sz="1482" b="1" dirty="0">
                <a:solidFill>
                  <a:srgbClr val="1E1B4B"/>
                </a:solidFill>
                <a:latin typeface="Arial" pitchFamily="34" charset="0"/>
                <a:ea typeface="Arial" pitchFamily="34" charset="-122"/>
                <a:cs typeface="Arial" pitchFamily="34" charset="-120"/>
              </a:rPr>
              <a:t>Review task,</a:t>
            </a:r>
            <a:endParaRPr lang="en-US" sz="1482" dirty="0"/>
          </a:p>
        </p:txBody>
      </p:sp>
      <p:sp>
        <p:nvSpPr>
          <p:cNvPr id="38" name="Text 36"/>
          <p:cNvSpPr txBox="1"/>
          <p:nvPr/>
        </p:nvSpPr>
        <p:spPr>
          <a:xfrm>
            <a:off x="3531358" y="4950311"/>
            <a:ext cx="1469839" cy="218344"/>
          </a:xfrm>
          <a:prstGeom prst="rect">
            <a:avLst/>
          </a:prstGeom>
          <a:noFill/>
          <a:ln/>
        </p:spPr>
        <p:txBody>
          <a:bodyPr wrap="square" lIns="0" tIns="0" rIns="0" bIns="0" rtlCol="0" anchor="ctr"/>
          <a:lstStyle/>
          <a:p>
            <a:pPr algn="ctr" indent="0" marL="0">
              <a:lnSpc>
                <a:spcPct val="116000"/>
              </a:lnSpc>
              <a:buNone/>
            </a:pPr>
            <a:r>
              <a:rPr lang="en-US" sz="1482" b="1" dirty="0">
                <a:solidFill>
                  <a:srgbClr val="1E1B4B"/>
                </a:solidFill>
                <a:latin typeface="Arial" pitchFamily="34" charset="0"/>
                <a:ea typeface="Arial" pitchFamily="34" charset="-122"/>
                <a:cs typeface="Arial" pitchFamily="34" charset="-120"/>
              </a:rPr>
              <a:t>data and model</a:t>
            </a:r>
            <a:endParaRPr lang="en-US" sz="1482" dirty="0"/>
          </a:p>
        </p:txBody>
      </p:sp>
      <p:sp>
        <p:nvSpPr>
          <p:cNvPr id="39" name="Text 37"/>
          <p:cNvSpPr txBox="1"/>
          <p:nvPr/>
        </p:nvSpPr>
        <p:spPr>
          <a:xfrm>
            <a:off x="4928692" y="2790920"/>
            <a:ext cx="382770" cy="218344"/>
          </a:xfrm>
          <a:prstGeom prst="rect">
            <a:avLst/>
          </a:prstGeom>
          <a:solidFill>
            <a:srgbClr val="FFFFFF"/>
          </a:solidFill>
          <a:ln/>
        </p:spPr>
        <p:txBody>
          <a:bodyPr wrap="square" lIns="0" tIns="0" rIns="0" bIns="0" rtlCol="0" anchor="ctr"/>
          <a:lstStyle/>
          <a:p>
            <a:pPr algn="ctr" indent="0" marL="0">
              <a:lnSpc>
                <a:spcPct val="116000"/>
              </a:lnSpc>
              <a:buNone/>
            </a:pPr>
            <a:r>
              <a:rPr lang="en-US" sz="1482" dirty="0">
                <a:solidFill>
                  <a:srgbClr val="1F2937"/>
                </a:solidFill>
                <a:latin typeface="Arial" pitchFamily="34" charset="0"/>
                <a:ea typeface="Arial" pitchFamily="34" charset="-122"/>
                <a:cs typeface="Arial" pitchFamily="34" charset="-120"/>
              </a:rPr>
              <a:t>yes</a:t>
            </a:r>
            <a:endParaRPr lang="en-US" sz="1482" dirty="0"/>
          </a:p>
        </p:txBody>
      </p:sp>
      <p:sp>
        <p:nvSpPr>
          <p:cNvPr id="40" name="Text 38"/>
          <p:cNvSpPr txBox="1"/>
          <p:nvPr/>
        </p:nvSpPr>
        <p:spPr>
          <a:xfrm>
            <a:off x="5257125" y="3189021"/>
            <a:ext cx="295103" cy="218344"/>
          </a:xfrm>
          <a:prstGeom prst="rect">
            <a:avLst/>
          </a:prstGeom>
          <a:solidFill>
            <a:srgbClr val="FFFFFF"/>
          </a:solidFill>
          <a:ln/>
        </p:spPr>
        <p:txBody>
          <a:bodyPr wrap="square" lIns="0" tIns="0" rIns="0" bIns="0" rtlCol="0" anchor="ctr"/>
          <a:lstStyle/>
          <a:p>
            <a:pPr algn="ctr" indent="0" marL="0">
              <a:lnSpc>
                <a:spcPct val="116000"/>
              </a:lnSpc>
              <a:buNone/>
            </a:pPr>
            <a:r>
              <a:rPr lang="en-US" sz="1482" dirty="0">
                <a:solidFill>
                  <a:srgbClr val="1F2937"/>
                </a:solidFill>
                <a:latin typeface="Arial" pitchFamily="34" charset="0"/>
                <a:ea typeface="Arial" pitchFamily="34" charset="-122"/>
                <a:cs typeface="Arial" pitchFamily="34" charset="-120"/>
              </a:rPr>
              <a:t>no</a:t>
            </a:r>
            <a:endParaRPr lang="en-US" sz="1482" dirty="0"/>
          </a:p>
        </p:txBody>
      </p:sp>
      <p:sp>
        <p:nvSpPr>
          <p:cNvPr id="41" name="Text 39"/>
          <p:cNvSpPr txBox="1"/>
          <p:nvPr/>
        </p:nvSpPr>
        <p:spPr>
          <a:xfrm>
            <a:off x="8303232" y="3189021"/>
            <a:ext cx="382770" cy="218344"/>
          </a:xfrm>
          <a:prstGeom prst="rect">
            <a:avLst/>
          </a:prstGeom>
          <a:solidFill>
            <a:srgbClr val="FFFFFF"/>
          </a:solidFill>
          <a:ln/>
        </p:spPr>
        <p:txBody>
          <a:bodyPr wrap="square" lIns="0" tIns="0" rIns="0" bIns="0" rtlCol="0" anchor="ctr"/>
          <a:lstStyle/>
          <a:p>
            <a:pPr algn="ctr" indent="0" marL="0">
              <a:lnSpc>
                <a:spcPct val="116000"/>
              </a:lnSpc>
              <a:buNone/>
            </a:pPr>
            <a:r>
              <a:rPr lang="en-US" sz="1482" dirty="0">
                <a:solidFill>
                  <a:srgbClr val="1F2937"/>
                </a:solidFill>
                <a:latin typeface="Arial" pitchFamily="34" charset="0"/>
                <a:ea typeface="Arial" pitchFamily="34" charset="-122"/>
                <a:cs typeface="Arial" pitchFamily="34" charset="-120"/>
              </a:rPr>
              <a:t>yes</a:t>
            </a:r>
            <a:endParaRPr lang="en-US" sz="1482" dirty="0"/>
          </a:p>
        </p:txBody>
      </p:sp>
      <p:sp>
        <p:nvSpPr>
          <p:cNvPr id="42" name="Text 40"/>
          <p:cNvSpPr txBox="1"/>
          <p:nvPr/>
        </p:nvSpPr>
        <p:spPr>
          <a:xfrm>
            <a:off x="7046038" y="4144463"/>
            <a:ext cx="295103" cy="218344"/>
          </a:xfrm>
          <a:prstGeom prst="rect">
            <a:avLst/>
          </a:prstGeom>
          <a:solidFill>
            <a:srgbClr val="FFFFFF"/>
          </a:solidFill>
          <a:ln/>
        </p:spPr>
        <p:txBody>
          <a:bodyPr wrap="square" lIns="0" tIns="0" rIns="0" bIns="0" rtlCol="0" anchor="ctr"/>
          <a:lstStyle/>
          <a:p>
            <a:pPr algn="ctr" indent="0" marL="0">
              <a:lnSpc>
                <a:spcPct val="116000"/>
              </a:lnSpc>
              <a:buNone/>
            </a:pPr>
            <a:r>
              <a:rPr lang="en-US" sz="1482" dirty="0">
                <a:solidFill>
                  <a:srgbClr val="1F2937"/>
                </a:solidFill>
                <a:latin typeface="Arial" pitchFamily="34" charset="0"/>
                <a:ea typeface="Arial" pitchFamily="34" charset="-122"/>
                <a:cs typeface="Arial" pitchFamily="34" charset="-120"/>
              </a:rPr>
              <a:t>no</a:t>
            </a:r>
            <a:endParaRPr lang="en-US" sz="1482" dirty="0"/>
          </a:p>
        </p:txBody>
      </p:sp>
      <p:sp>
        <p:nvSpPr>
          <p:cNvPr id="43" name="Text 41"/>
          <p:cNvSpPr txBox="1"/>
          <p:nvPr/>
        </p:nvSpPr>
        <p:spPr>
          <a:xfrm>
            <a:off x="8303232" y="4582374"/>
            <a:ext cx="382770" cy="218344"/>
          </a:xfrm>
          <a:prstGeom prst="rect">
            <a:avLst/>
          </a:prstGeom>
          <a:solidFill>
            <a:srgbClr val="FFFFFF"/>
          </a:solidFill>
          <a:ln/>
        </p:spPr>
        <p:txBody>
          <a:bodyPr wrap="square" lIns="0" tIns="0" rIns="0" bIns="0" rtlCol="0" anchor="ctr"/>
          <a:lstStyle/>
          <a:p>
            <a:pPr algn="ctr" indent="0" marL="0">
              <a:lnSpc>
                <a:spcPct val="116000"/>
              </a:lnSpc>
              <a:buNone/>
            </a:pPr>
            <a:r>
              <a:rPr lang="en-US" sz="1482" dirty="0">
                <a:solidFill>
                  <a:srgbClr val="1F2937"/>
                </a:solidFill>
                <a:latin typeface="Arial" pitchFamily="34" charset="0"/>
                <a:ea typeface="Arial" pitchFamily="34" charset="-122"/>
                <a:cs typeface="Arial" pitchFamily="34" charset="-120"/>
              </a:rPr>
              <a:t>yes</a:t>
            </a:r>
            <a:endParaRPr lang="en-US" sz="1482" dirty="0"/>
          </a:p>
        </p:txBody>
      </p:sp>
      <p:sp>
        <p:nvSpPr>
          <p:cNvPr id="44" name="Text 42"/>
          <p:cNvSpPr txBox="1"/>
          <p:nvPr/>
        </p:nvSpPr>
        <p:spPr>
          <a:xfrm>
            <a:off x="5257125" y="4582374"/>
            <a:ext cx="295103" cy="218344"/>
          </a:xfrm>
          <a:prstGeom prst="rect">
            <a:avLst/>
          </a:prstGeom>
          <a:solidFill>
            <a:srgbClr val="FFFFFF"/>
          </a:solidFill>
          <a:ln/>
        </p:spPr>
        <p:txBody>
          <a:bodyPr wrap="square" lIns="0" tIns="0" rIns="0" bIns="0" rtlCol="0" anchor="ctr"/>
          <a:lstStyle/>
          <a:p>
            <a:pPr algn="ctr" indent="0" marL="0">
              <a:lnSpc>
                <a:spcPct val="116000"/>
              </a:lnSpc>
              <a:buNone/>
            </a:pPr>
            <a:r>
              <a:rPr lang="en-US" sz="1482" dirty="0">
                <a:solidFill>
                  <a:srgbClr val="1F2937"/>
                </a:solidFill>
                <a:latin typeface="Arial" pitchFamily="34" charset="0"/>
                <a:ea typeface="Arial" pitchFamily="34" charset="-122"/>
                <a:cs typeface="Arial" pitchFamily="34" charset="-120"/>
              </a:rPr>
              <a:t>no</a:t>
            </a:r>
            <a:endParaRPr lang="en-US" sz="1482" dirty="0"/>
          </a:p>
        </p:txBody>
      </p:sp>
      <p:sp>
        <p:nvSpPr>
          <p:cNvPr id="45" name="Text 43"/>
          <p:cNvSpPr txBox="1"/>
          <p:nvPr/>
        </p:nvSpPr>
        <p:spPr>
          <a:xfrm>
            <a:off x="891737" y="1565936"/>
            <a:ext cx="7017502" cy="259283"/>
          </a:xfrm>
          <a:prstGeom prst="rect">
            <a:avLst/>
          </a:prstGeom>
          <a:noFill/>
          <a:ln/>
        </p:spPr>
        <p:txBody>
          <a:bodyPr wrap="square" lIns="0" tIns="0" rIns="0" bIns="0" rtlCol="0" anchor="ctr"/>
          <a:lstStyle/>
          <a:p>
            <a:pPr algn="l" indent="0" marL="0">
              <a:lnSpc>
                <a:spcPct val="116000"/>
              </a:lnSpc>
              <a:buNone/>
            </a:pPr>
            <a:r>
              <a:rPr lang="en-US" sz="1760" b="1" dirty="0">
                <a:solidFill>
                  <a:srgbClr val="1E1B4B"/>
                </a:solidFill>
                <a:latin typeface="Arial" pitchFamily="34" charset="0"/>
                <a:ea typeface="Arial" pitchFamily="34" charset="-122"/>
                <a:cs typeface="Arial" pitchFamily="34" charset="-120"/>
              </a:rPr>
              <a:t>Compare alternatives first; combine them when the task needs it</a:t>
            </a:r>
            <a:endParaRPr lang="en-US" sz="1760" dirty="0"/>
          </a:p>
        </p:txBody>
      </p:sp>
      <p:sp>
        <p:nvSpPr>
          <p:cNvPr id="46" name="Text 44"/>
          <p:cNvSpPr txBox="1"/>
          <p:nvPr/>
        </p:nvSpPr>
        <p:spPr>
          <a:xfrm>
            <a:off x="891737" y="5707315"/>
            <a:ext cx="7352288" cy="218344"/>
          </a:xfrm>
          <a:prstGeom prst="rect">
            <a:avLst/>
          </a:prstGeom>
          <a:noFill/>
          <a:ln/>
        </p:spPr>
        <p:txBody>
          <a:bodyPr wrap="square" lIns="0" tIns="0" rIns="0" bIns="0" rtlCol="0" anchor="ctr"/>
          <a:lstStyle/>
          <a:p>
            <a:pPr algn="l" indent="0" marL="0">
              <a:lnSpc>
                <a:spcPct val="116000"/>
              </a:lnSpc>
              <a:buNone/>
            </a:pPr>
            <a:r>
              <a:rPr lang="en-US" sz="1482" dirty="0">
                <a:solidFill>
                  <a:srgbClr val="1F2937"/>
                </a:solidFill>
                <a:latin typeface="Arial" pitchFamily="34" charset="0"/>
                <a:ea typeface="Arial" pitchFamily="34" charset="-122"/>
                <a:cs typeface="Arial" pitchFamily="34" charset="-120"/>
              </a:rPr>
              <a:t>Orange boxes are questions: follow yes or no. Grey boxes are actions outside training.</a:t>
            </a:r>
            <a:endParaRPr lang="en-US" sz="1482"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Good and bad reasons to fine-tune</a:t>
            </a:r>
            <a:endParaRPr lang="en-US" sz="3200" dirty="0"/>
          </a:p>
        </p:txBody>
      </p:sp>
      <p:sp>
        <p:nvSpPr>
          <p:cNvPr id="6" name="Shape 4"/>
          <p:cNvSpPr/>
          <p:nvPr/>
        </p:nvSpPr>
        <p:spPr>
          <a:xfrm>
            <a:off x="548640" y="1481328"/>
            <a:ext cx="541004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Good reasons</a:t>
            </a:r>
            <a:endParaRPr lang="en-US" sz="1800" dirty="0"/>
          </a:p>
        </p:txBody>
      </p:sp>
      <p:sp>
        <p:nvSpPr>
          <p:cNvPr id="9" name="Shape 6"/>
          <p:cNvSpPr/>
          <p:nvPr/>
        </p:nvSpPr>
        <p:spPr>
          <a:xfrm>
            <a:off x="548640" y="2167128"/>
            <a:ext cx="5410048" cy="4142232"/>
          </a:xfrm>
          <a:prstGeom prst="roundRect">
            <a:avLst>
              <a:gd name="adj" fmla="val 2208"/>
            </a:avLst>
          </a:prstGeom>
          <a:solidFill>
            <a:srgbClr val="EEF0FF"/>
          </a:solidFill>
          <a:ln w="12700">
            <a:solidFill>
              <a:srgbClr val="EEF0FF"/>
            </a:solidFill>
            <a:prstDash val="solid"/>
          </a:ln>
        </p:spPr>
      </p:sp>
      <p:sp>
        <p:nvSpPr>
          <p:cNvPr id="10" name="Text 7"/>
          <p:cNvSpPr txBox="1"/>
          <p:nvPr/>
        </p:nvSpPr>
        <p:spPr>
          <a:xfrm>
            <a:off x="658368" y="2258568"/>
            <a:ext cx="519059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Persistent label or style gaps after good prompts</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Useful labelled examples and a separate test set</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A measured saving, e.g. a small model at high volume</a:t>
            </a:r>
            <a:endParaRPr lang="en-US" sz="2400" dirty="0"/>
          </a:p>
        </p:txBody>
      </p:sp>
      <p:sp>
        <p:nvSpPr>
          <p:cNvPr id="11" name="Shape 8"/>
          <p:cNvSpPr/>
          <p:nvPr/>
        </p:nvSpPr>
        <p:spPr>
          <a:xfrm>
            <a:off x="6233008" y="1481328"/>
            <a:ext cx="541004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6397600" y="1591056"/>
            <a:ext cx="347472" cy="347472"/>
          </a:xfrm>
          <a:prstGeom prst="rect">
            <a:avLst/>
          </a:prstGeom>
        </p:spPr>
      </p:pic>
      <p:sp>
        <p:nvSpPr>
          <p:cNvPr id="13" name="Text 9"/>
          <p:cNvSpPr txBox="1"/>
          <p:nvPr/>
        </p:nvSpPr>
        <p:spPr>
          <a:xfrm>
            <a:off x="6827368"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Bad reasons</a:t>
            </a:r>
            <a:endParaRPr lang="en-US" sz="1800" dirty="0"/>
          </a:p>
        </p:txBody>
      </p:sp>
      <p:sp>
        <p:nvSpPr>
          <p:cNvPr id="14" name="Shape 10"/>
          <p:cNvSpPr/>
          <p:nvPr/>
        </p:nvSpPr>
        <p:spPr>
          <a:xfrm>
            <a:off x="6233008" y="2167128"/>
            <a:ext cx="5410048" cy="4142232"/>
          </a:xfrm>
          <a:prstGeom prst="roundRect">
            <a:avLst>
              <a:gd name="adj" fmla="val 2208"/>
            </a:avLst>
          </a:prstGeom>
          <a:solidFill>
            <a:srgbClr val="E6F4F1"/>
          </a:solidFill>
          <a:ln w="12700">
            <a:solidFill>
              <a:srgbClr val="E6F4F1"/>
            </a:solidFill>
            <a:prstDash val="solid"/>
          </a:ln>
        </p:spPr>
      </p:sp>
      <p:sp>
        <p:nvSpPr>
          <p:cNvPr id="15" name="Text 11"/>
          <p:cNvSpPr txBox="1"/>
          <p:nvPr/>
        </p:nvSpPr>
        <p:spPr>
          <a:xfrm>
            <a:off x="6342736" y="2258568"/>
            <a:ext cx="519059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Only facts that change (use retrieval)</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No measured problem with the best prompt</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No rights to the data, or no test set</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02</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Supervised and instruction fine-tuning</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 we teach a model what good outputs look like?</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Full fine-tuning vs. supervised fine-tuning (SFT)</a:t>
            </a:r>
            <a:endParaRPr lang="en-US" sz="3200" dirty="0"/>
          </a:p>
        </p:txBody>
      </p:sp>
      <p:sp>
        <p:nvSpPr>
          <p:cNvPr id="6" name="Shape 4"/>
          <p:cNvSpPr/>
          <p:nvPr/>
        </p:nvSpPr>
        <p:spPr>
          <a:xfrm>
            <a:off x="548640" y="1481328"/>
            <a:ext cx="541004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Full fine-tuning</a:t>
            </a:r>
            <a:endParaRPr lang="en-US" sz="1800" dirty="0"/>
          </a:p>
        </p:txBody>
      </p:sp>
      <p:sp>
        <p:nvSpPr>
          <p:cNvPr id="9" name="Shape 6"/>
          <p:cNvSpPr/>
          <p:nvPr/>
        </p:nvSpPr>
        <p:spPr>
          <a:xfrm>
            <a:off x="548640" y="2167128"/>
            <a:ext cx="5410048" cy="4142232"/>
          </a:xfrm>
          <a:prstGeom prst="roundRect">
            <a:avLst>
              <a:gd name="adj" fmla="val 2208"/>
            </a:avLst>
          </a:prstGeom>
          <a:solidFill>
            <a:srgbClr val="EEF0FF"/>
          </a:solidFill>
          <a:ln w="12700">
            <a:solidFill>
              <a:srgbClr val="EEF0FF"/>
            </a:solidFill>
            <a:prstDash val="solid"/>
          </a:ln>
        </p:spPr>
      </p:sp>
      <p:sp>
        <p:nvSpPr>
          <p:cNvPr id="10" name="Text 7"/>
          <p:cNvSpPr txBox="1"/>
          <p:nvPr/>
        </p:nvSpPr>
        <p:spPr>
          <a:xfrm>
            <a:off x="658368" y="2258568"/>
            <a:ext cx="519059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Which weights: all</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More gradient and optimiser memory</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Re-test older abilities</a:t>
            </a:r>
            <a:endParaRPr lang="en-US" sz="2400" dirty="0"/>
          </a:p>
        </p:txBody>
      </p:sp>
      <p:sp>
        <p:nvSpPr>
          <p:cNvPr id="11" name="Shape 8"/>
          <p:cNvSpPr/>
          <p:nvPr/>
        </p:nvSpPr>
        <p:spPr>
          <a:xfrm>
            <a:off x="6233008" y="1481328"/>
            <a:ext cx="541004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6397600" y="1591056"/>
            <a:ext cx="347472" cy="347472"/>
          </a:xfrm>
          <a:prstGeom prst="rect">
            <a:avLst/>
          </a:prstGeom>
        </p:spPr>
      </p:pic>
      <p:sp>
        <p:nvSpPr>
          <p:cNvPr id="13" name="Text 9"/>
          <p:cNvSpPr txBox="1"/>
          <p:nvPr/>
        </p:nvSpPr>
        <p:spPr>
          <a:xfrm>
            <a:off x="6827368"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Supervised fine-tuning (SFT)</a:t>
            </a:r>
            <a:endParaRPr lang="en-US" sz="1800" dirty="0"/>
          </a:p>
        </p:txBody>
      </p:sp>
      <p:sp>
        <p:nvSpPr>
          <p:cNvPr id="14" name="Shape 10"/>
          <p:cNvSpPr/>
          <p:nvPr/>
        </p:nvSpPr>
        <p:spPr>
          <a:xfrm>
            <a:off x="6233008" y="2167128"/>
            <a:ext cx="5410048" cy="4142232"/>
          </a:xfrm>
          <a:prstGeom prst="roundRect">
            <a:avLst>
              <a:gd name="adj" fmla="val 2208"/>
            </a:avLst>
          </a:prstGeom>
          <a:solidFill>
            <a:srgbClr val="E6F4F1"/>
          </a:solidFill>
          <a:ln w="12700">
            <a:solidFill>
              <a:srgbClr val="E6F4F1"/>
            </a:solidFill>
            <a:prstDash val="solid"/>
          </a:ln>
        </p:spPr>
      </p:sp>
      <p:sp>
        <p:nvSpPr>
          <p:cNvPr id="15" name="Text 11"/>
          <p:cNvSpPr txBox="1"/>
          <p:nvPr/>
        </p:nvSpPr>
        <p:spPr>
          <a:xfrm>
            <a:off x="6342736" y="2258568"/>
            <a:ext cx="519059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What examples: inputs and desired answers</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Full weights or adapters</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Read prompt; score answer tokens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SFT loss: next-token prediction on the answer</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a7f6908a9dc0eb62.png">    </p:cNvPr>
          <p:cNvPicPr>
            <a:picLocks noChangeAspect="1"/>
          </p:cNvPicPr>
          <p:nvPr/>
        </p:nvPicPr>
        <p:blipFill>
          <a:blip r:embed="rId1"/>
          <a:stretch>
            <a:fillRect/>
          </a:stretch>
        </p:blipFill>
        <p:spPr>
          <a:xfrm>
            <a:off x="3773272" y="1662684"/>
            <a:ext cx="4645152" cy="963168"/>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Read prompt x and known answer y.</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Raise each correct answer-token probability.</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Mask prompt loss; still read the prompt.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Example answer: lost_or_stolen_card.</a:t>
            </a:r>
            <a:endParaRPr lang="en-US" sz="20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θ</a:t>
            </a:r>
            <a:endParaRPr lang="en-US" sz="17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the numbers being trained</a:t>
            </a:r>
            <a:endParaRPr lang="en-US" sz="16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x</a:t>
            </a:r>
            <a:endParaRPr lang="en-US" sz="17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prompt and input</a:t>
            </a:r>
            <a:endParaRPr lang="en-US" sz="1600" dirty="0"/>
          </a:p>
        </p:txBody>
      </p:sp>
      <p:sp>
        <p:nvSpPr>
          <p:cNvPr id="15" name="Text 12"/>
          <p:cNvSpPr txBox="1"/>
          <p:nvPr/>
        </p:nvSpPr>
        <p:spPr>
          <a:xfrm>
            <a:off x="6858000" y="48188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yₜ</a:t>
            </a:r>
            <a:endParaRPr lang="en-US" sz="1700" dirty="0"/>
          </a:p>
        </p:txBody>
      </p:sp>
      <p:sp>
        <p:nvSpPr>
          <p:cNvPr id="16" name="Text 13"/>
          <p:cNvSpPr txBox="1"/>
          <p:nvPr/>
        </p:nvSpPr>
        <p:spPr>
          <a:xfrm>
            <a:off x="8046720" y="48188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correct answer token at position t</a:t>
            </a:r>
            <a:endParaRPr lang="en-US" sz="1600" dirty="0"/>
          </a:p>
        </p:txBody>
      </p:sp>
      <p:sp>
        <p:nvSpPr>
          <p:cNvPr id="17" name="Text 14"/>
          <p:cNvSpPr txBox="1"/>
          <p:nvPr/>
        </p:nvSpPr>
        <p:spPr>
          <a:xfrm>
            <a:off x="6858000" y="55046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y</a:t>
            </a:r>
            <a:pPr indent="0" marL="0">
              <a:buNone/>
            </a:pPr>
            <a:r>
              <a:rPr lang="en-US" sz="1700" b="1" baseline="-40000" dirty="0">
                <a:solidFill>
                  <a:srgbClr val="1E1B4B"/>
                </a:solidFill>
                <a:latin typeface="Cambria Math" pitchFamily="34" charset="0"/>
                <a:ea typeface="Cambria Math" pitchFamily="34" charset="-122"/>
                <a:cs typeface="Cambria Math" pitchFamily="34" charset="-120"/>
              </a:rPr>
              <a:t>&lt;t</a:t>
            </a:r>
            <a:endParaRPr lang="en-US" sz="1700" dirty="0"/>
          </a:p>
        </p:txBody>
      </p:sp>
      <p:sp>
        <p:nvSpPr>
          <p:cNvPr id="18" name="Text 15"/>
          <p:cNvSpPr txBox="1"/>
          <p:nvPr/>
        </p:nvSpPr>
        <p:spPr>
          <a:xfrm>
            <a:off x="8046720" y="55046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correct answer tokens before position t</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Instruction tuning: from base model to assistant</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Instructions paired with useful answers.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Teach general instruction following; test new tasks.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Match training and inference chat templates.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LIMA used 1,000 carefully reviewed examples.</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What a chat template produces (Qwen family)</a:t>
            </a:r>
            <a:endParaRPr lang="en-US" sz="3200" dirty="0"/>
          </a:p>
        </p:txBody>
      </p:sp>
      <p:sp>
        <p:nvSpPr>
          <p:cNvPr id="6" name="Shape 4"/>
          <p:cNvSpPr/>
          <p:nvPr/>
        </p:nvSpPr>
        <p:spPr>
          <a:xfrm>
            <a:off x="548640" y="1481328"/>
            <a:ext cx="11094415" cy="3517392"/>
          </a:xfrm>
          <a:prstGeom prst="roundRect">
            <a:avLst>
              <a:gd name="adj" fmla="val 2600"/>
            </a:avLst>
          </a:prstGeom>
          <a:solidFill>
            <a:srgbClr val="1E1E2E"/>
          </a:solidFill>
          <a:ln w="12700">
            <a:solidFill>
              <a:srgbClr val="1E1E2E"/>
            </a:solidFill>
            <a:prstDash val="solid"/>
          </a:ln>
        </p:spPr>
      </p:sp>
      <p:sp>
        <p:nvSpPr>
          <p:cNvPr id="7" name="Text 5"/>
          <p:cNvSpPr txBox="1"/>
          <p:nvPr/>
        </p:nvSpPr>
        <p:spPr>
          <a:xfrm>
            <a:off x="685800" y="1591056"/>
            <a:ext cx="10820095" cy="3297936"/>
          </a:xfrm>
          <a:prstGeom prst="rect">
            <a:avLst/>
          </a:prstGeom>
          <a:noFill/>
          <a:ln/>
        </p:spPr>
        <p:txBody>
          <a:bodyPr wrap="square" lIns="76200" tIns="76200" rIns="76200" bIns="76200" rtlCol="0" anchor="t"/>
          <a:lstStyle/>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messages = [</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{"role": "system", "content": "You classify banking messages."},</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{"role": "user", "content": "I lost my card!"},</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{"role": "assistant", "content": "lost_or_stolen_card"},</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print(tok.apply_chat_template(messages, tokenize=False))</a:t>
            </a:r>
            <a:endParaRPr lang="en-US" sz="1600" dirty="0"/>
          </a:p>
          <a:p>
            <a:pPr indent="0" marL="0">
              <a:lnSpc>
                <a:spcPct val="100000"/>
              </a:lnSpc>
              <a:buNone/>
            </a:pPr>
            <a:r>
              <a:rPr lang="en-US" sz="1600" dirty="0">
                <a:solidFill>
                  <a:srgbClr val="E4E4F0"/>
                </a:solidFill>
                <a:latin typeface="Consolas" pitchFamily="34" charset="0"/>
                <a:ea typeface="Consolas" pitchFamily="34" charset="-122"/>
                <a:cs typeface="Consolas" pitchFamily="34" charset="-120"/>
              </a:rPr>
              <a:t> </a:t>
            </a:r>
            <a:endParaRPr lang="en-US" sz="1600" dirty="0"/>
          </a:p>
          <a:p>
            <a:pPr indent="0" marL="0">
              <a:lnSpc>
                <a:spcPct val="100000"/>
              </a:lnSpc>
              <a:buNone/>
            </a:pPr>
            <a:r>
              <a:rPr lang="en-US" sz="1600" dirty="0">
                <a:solidFill>
                  <a:srgbClr val="9CA3AF"/>
                </a:solidFill>
                <a:latin typeface="Consolas" pitchFamily="34" charset="0"/>
                <a:ea typeface="Consolas" pitchFamily="34" charset="-122"/>
                <a:cs typeface="Consolas" pitchFamily="34" charset="-120"/>
              </a:rPr>
              <a:t># &lt;|im_start|&gt;system</a:t>
            </a:r>
            <a:endParaRPr lang="en-US" sz="1600" dirty="0"/>
          </a:p>
          <a:p>
            <a:pPr indent="0" marL="0">
              <a:lnSpc>
                <a:spcPct val="100000"/>
              </a:lnSpc>
              <a:buNone/>
            </a:pPr>
            <a:r>
              <a:rPr lang="en-US" sz="1600" dirty="0">
                <a:solidFill>
                  <a:srgbClr val="9CA3AF"/>
                </a:solidFill>
                <a:latin typeface="Consolas" pitchFamily="34" charset="0"/>
                <a:ea typeface="Consolas" pitchFamily="34" charset="-122"/>
                <a:cs typeface="Consolas" pitchFamily="34" charset="-120"/>
              </a:rPr>
              <a:t># You classify banking messages.&lt;|im_end|&gt;</a:t>
            </a:r>
            <a:endParaRPr lang="en-US" sz="1600" dirty="0"/>
          </a:p>
          <a:p>
            <a:pPr indent="0" marL="0">
              <a:lnSpc>
                <a:spcPct val="100000"/>
              </a:lnSpc>
              <a:buNone/>
            </a:pPr>
            <a:r>
              <a:rPr lang="en-US" sz="1600" dirty="0">
                <a:solidFill>
                  <a:srgbClr val="9CA3AF"/>
                </a:solidFill>
                <a:latin typeface="Consolas" pitchFamily="34" charset="0"/>
                <a:ea typeface="Consolas" pitchFamily="34" charset="-122"/>
                <a:cs typeface="Consolas" pitchFamily="34" charset="-120"/>
              </a:rPr>
              <a:t># &lt;|im_start|&gt;user</a:t>
            </a:r>
            <a:endParaRPr lang="en-US" sz="1600" dirty="0"/>
          </a:p>
          <a:p>
            <a:pPr indent="0" marL="0">
              <a:lnSpc>
                <a:spcPct val="100000"/>
              </a:lnSpc>
              <a:buNone/>
            </a:pPr>
            <a:r>
              <a:rPr lang="en-US" sz="1600" dirty="0">
                <a:solidFill>
                  <a:srgbClr val="9CA3AF"/>
                </a:solidFill>
                <a:latin typeface="Consolas" pitchFamily="34" charset="0"/>
                <a:ea typeface="Consolas" pitchFamily="34" charset="-122"/>
                <a:cs typeface="Consolas" pitchFamily="34" charset="-120"/>
              </a:rPr>
              <a:t># I lost my card!&lt;|im_end|&gt;</a:t>
            </a:r>
            <a:endParaRPr lang="en-US" sz="1600" dirty="0"/>
          </a:p>
          <a:p>
            <a:pPr indent="0" marL="0">
              <a:lnSpc>
                <a:spcPct val="100000"/>
              </a:lnSpc>
              <a:buNone/>
            </a:pPr>
            <a:r>
              <a:rPr lang="en-US" sz="1600" dirty="0">
                <a:solidFill>
                  <a:srgbClr val="9CA3AF"/>
                </a:solidFill>
                <a:latin typeface="Consolas" pitchFamily="34" charset="0"/>
                <a:ea typeface="Consolas" pitchFamily="34" charset="-122"/>
                <a:cs typeface="Consolas" pitchFamily="34" charset="-120"/>
              </a:rPr>
              <a:t># &lt;|im_start|&gt;assistant</a:t>
            </a:r>
            <a:endParaRPr lang="en-US" sz="1600" dirty="0"/>
          </a:p>
          <a:p>
            <a:pPr indent="0" marL="0">
              <a:lnSpc>
                <a:spcPct val="100000"/>
              </a:lnSpc>
              <a:buNone/>
            </a:pPr>
            <a:r>
              <a:rPr lang="en-US" sz="1600" dirty="0">
                <a:solidFill>
                  <a:srgbClr val="9CA3AF"/>
                </a:solidFill>
                <a:latin typeface="Consolas" pitchFamily="34" charset="0"/>
                <a:ea typeface="Consolas" pitchFamily="34" charset="-122"/>
                <a:cs typeface="Consolas" pitchFamily="34" charset="-120"/>
              </a:rPr>
              <a:t># lost_or_stolen_card&lt;|im_end|&gt;</a:t>
            </a:r>
            <a:endParaRPr lang="en-US" sz="1600" dirty="0"/>
          </a:p>
        </p:txBody>
      </p:sp>
      <p:sp>
        <p:nvSpPr>
          <p:cNvPr id="8" name="Text 6"/>
          <p:cNvSpPr txBox="1"/>
          <p:nvPr/>
        </p:nvSpPr>
        <p:spPr>
          <a:xfrm>
            <a:off x="548640" y="5135880"/>
            <a:ext cx="11094415" cy="1173480"/>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Role tokens mark turns.</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Use the model’s stored template.</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Match training and new requests.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100" b="1" dirty="0">
                <a:solidFill>
                  <a:srgbClr val="1E1B4B"/>
                </a:solidFill>
                <a:latin typeface="Calibri" pitchFamily="34" charset="0"/>
                <a:ea typeface="Calibri" pitchFamily="34" charset="-122"/>
                <a:cs typeface="Calibri" pitchFamily="34" charset="-120"/>
              </a:rPr>
              <a:t>Data preparation: where most of the quality comes from</a:t>
            </a:r>
            <a:endParaRPr lang="en-US" sz="31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Quality</a:t>
            </a:r>
            <a:endParaRPr lang="en-US" sz="21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Correct, consistent answers: one label per message, checked by a second person.</a:t>
            </a:r>
            <a:endParaRPr lang="en-US" sz="20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Diversity</a:t>
            </a:r>
            <a:endParaRPr lang="en-US" sz="21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Real wording: typos, slang, short and long messages.</a:t>
            </a:r>
            <a:endParaRPr lang="en-US" sz="20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Clean splits</a:t>
            </a:r>
            <a:endParaRPr lang="en-US" sz="21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Separate train, validation and test; remove near-duplicates across them.</a:t>
            </a:r>
            <a:endParaRPr lang="en-US" sz="20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Privacy &amp; rights</a:t>
            </a:r>
            <a:endParaRPr lang="en-US" sz="21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Remove names and card numbers; check permission to use the data.</a:t>
            </a:r>
            <a:endParaRPr lang="en-US" sz="20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Balance</a:t>
            </a:r>
            <a:endParaRPr lang="en-US" sz="21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Count examples per label; a rare intent needs enough examples.</a:t>
            </a:r>
            <a:endParaRPr lang="en-US" sz="20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Document</a:t>
            </a:r>
            <a:endParaRPr lang="en-US" sz="21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Record sources, dates, filters and known gaps in a datasheet.</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03</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100" b="1" dirty="0">
                <a:solidFill>
                  <a:srgbClr val="FFFFFF"/>
                </a:solidFill>
                <a:latin typeface="Calibri" pitchFamily="34" charset="0"/>
                <a:ea typeface="Calibri" pitchFamily="34" charset="-122"/>
                <a:cs typeface="Calibri" pitchFamily="34" charset="-120"/>
              </a:rPr>
              <a:t>Preference alignment: RLHF, DPO and RL for reasoning</a:t>
            </a:r>
            <a:endParaRPr lang="en-US" sz="41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can comparisons between two answers guide further training?</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Reinforcement learning from human feedback (RLHF)</a:t>
            </a:r>
            <a:endParaRPr lang="en-US" sz="3200" dirty="0"/>
          </a:p>
        </p:txBody>
      </p:sp>
      <p:sp>
        <p:nvSpPr>
          <p:cNvPr id="6" name="Shape 4"/>
          <p:cNvSpPr/>
          <p:nvPr/>
        </p:nvSpPr>
        <p:spPr>
          <a:xfrm>
            <a:off x="3187404" y="3434072"/>
            <a:ext cx="368676" cy="0"/>
          </a:xfrm>
          <a:prstGeom prst="line">
            <a:avLst/>
          </a:prstGeom>
          <a:noFill/>
          <a:ln w="22860">
            <a:solidFill>
              <a:srgbClr val="4F46E5"/>
            </a:solidFill>
            <a:prstDash val="solid"/>
            <a:tailEnd type="triangle"/>
          </a:ln>
        </p:spPr>
      </p:sp>
      <p:sp>
        <p:nvSpPr>
          <p:cNvPr id="7" name="Shape 5"/>
          <p:cNvSpPr/>
          <p:nvPr/>
        </p:nvSpPr>
        <p:spPr>
          <a:xfrm>
            <a:off x="5891028" y="3434072"/>
            <a:ext cx="368676" cy="0"/>
          </a:xfrm>
          <a:prstGeom prst="line">
            <a:avLst/>
          </a:prstGeom>
          <a:noFill/>
          <a:ln w="22860">
            <a:solidFill>
              <a:srgbClr val="4F46E5"/>
            </a:solidFill>
            <a:prstDash val="solid"/>
            <a:tailEnd type="triangle"/>
          </a:ln>
        </p:spPr>
      </p:sp>
      <p:sp>
        <p:nvSpPr>
          <p:cNvPr id="8" name="Shape 6"/>
          <p:cNvSpPr/>
          <p:nvPr/>
        </p:nvSpPr>
        <p:spPr>
          <a:xfrm>
            <a:off x="8594651" y="3434072"/>
            <a:ext cx="368676" cy="0"/>
          </a:xfrm>
          <a:prstGeom prst="line">
            <a:avLst/>
          </a:prstGeom>
          <a:noFill/>
          <a:ln w="22860">
            <a:solidFill>
              <a:srgbClr val="4F46E5"/>
            </a:solidFill>
            <a:prstDash val="solid"/>
            <a:tailEnd type="triangle"/>
          </a:ln>
        </p:spPr>
      </p:sp>
      <p:sp>
        <p:nvSpPr>
          <p:cNvPr id="9" name="Shape 7"/>
          <p:cNvSpPr/>
          <p:nvPr/>
        </p:nvSpPr>
        <p:spPr>
          <a:xfrm>
            <a:off x="852456" y="3012911"/>
            <a:ext cx="2334948" cy="842322"/>
          </a:xfrm>
          <a:prstGeom prst="rect">
            <a:avLst/>
          </a:prstGeom>
          <a:solidFill>
            <a:srgbClr val="E5F7EF"/>
          </a:solidFill>
          <a:ln w="15240">
            <a:solidFill>
              <a:srgbClr val="009E73"/>
            </a:solidFill>
            <a:prstDash val="solid"/>
          </a:ln>
        </p:spPr>
      </p:sp>
      <p:sp>
        <p:nvSpPr>
          <p:cNvPr id="10" name="Shape 8"/>
          <p:cNvSpPr/>
          <p:nvPr/>
        </p:nvSpPr>
        <p:spPr>
          <a:xfrm>
            <a:off x="3556080" y="3012911"/>
            <a:ext cx="2334948" cy="842322"/>
          </a:xfrm>
          <a:prstGeom prst="roundRect">
            <a:avLst>
              <a:gd name="adj" fmla="val 8685"/>
            </a:avLst>
          </a:prstGeom>
          <a:solidFill>
            <a:srgbClr val="E4F2FB"/>
          </a:solidFill>
          <a:ln w="15240">
            <a:solidFill>
              <a:srgbClr val="0072B2"/>
            </a:solidFill>
            <a:prstDash val="solid"/>
          </a:ln>
        </p:spPr>
      </p:sp>
      <p:sp>
        <p:nvSpPr>
          <p:cNvPr id="11" name="Shape 9"/>
          <p:cNvSpPr/>
          <p:nvPr/>
        </p:nvSpPr>
        <p:spPr>
          <a:xfrm>
            <a:off x="6259704" y="3012911"/>
            <a:ext cx="2334948" cy="842322"/>
          </a:xfrm>
          <a:prstGeom prst="roundRect">
            <a:avLst>
              <a:gd name="adj" fmla="val 8685"/>
            </a:avLst>
          </a:prstGeom>
          <a:solidFill>
            <a:srgbClr val="FFF0E6"/>
          </a:solidFill>
          <a:ln w="15240">
            <a:solidFill>
              <a:srgbClr val="D55E00"/>
            </a:solidFill>
            <a:prstDash val="solid"/>
          </a:ln>
        </p:spPr>
      </p:sp>
      <p:sp>
        <p:nvSpPr>
          <p:cNvPr id="12" name="Shape 10"/>
          <p:cNvSpPr/>
          <p:nvPr/>
        </p:nvSpPr>
        <p:spPr>
          <a:xfrm>
            <a:off x="8963327" y="3012911"/>
            <a:ext cx="2334948" cy="842322"/>
          </a:xfrm>
          <a:prstGeom prst="rect">
            <a:avLst/>
          </a:prstGeom>
          <a:solidFill>
            <a:srgbClr val="E5F7EF"/>
          </a:solidFill>
          <a:ln w="15240">
            <a:solidFill>
              <a:srgbClr val="009E73"/>
            </a:solidFill>
            <a:prstDash val="solid"/>
          </a:ln>
        </p:spPr>
      </p:sp>
      <p:sp>
        <p:nvSpPr>
          <p:cNvPr id="13" name="Shape 11"/>
          <p:cNvSpPr/>
          <p:nvPr/>
        </p:nvSpPr>
        <p:spPr>
          <a:xfrm>
            <a:off x="852456" y="5764497"/>
            <a:ext cx="180242" cy="176487"/>
          </a:xfrm>
          <a:prstGeom prst="roundRect">
            <a:avLst>
              <a:gd name="adj" fmla="val 41449"/>
            </a:avLst>
          </a:prstGeom>
          <a:solidFill>
            <a:srgbClr val="E4F2FB"/>
          </a:solidFill>
          <a:ln w="15240">
            <a:solidFill>
              <a:srgbClr val="0072B2"/>
            </a:solidFill>
            <a:prstDash val="solid"/>
          </a:ln>
        </p:spPr>
      </p:sp>
      <p:sp>
        <p:nvSpPr>
          <p:cNvPr id="14" name="Shape 12"/>
          <p:cNvSpPr/>
          <p:nvPr/>
        </p:nvSpPr>
        <p:spPr>
          <a:xfrm>
            <a:off x="2982584" y="5764497"/>
            <a:ext cx="180242" cy="176487"/>
          </a:xfrm>
          <a:prstGeom prst="rect">
            <a:avLst/>
          </a:prstGeom>
          <a:solidFill>
            <a:srgbClr val="E5F7EF"/>
          </a:solidFill>
          <a:ln w="15240">
            <a:solidFill>
              <a:srgbClr val="009E73"/>
            </a:solidFill>
            <a:prstDash val="solid"/>
          </a:ln>
        </p:spPr>
      </p:sp>
      <p:sp>
        <p:nvSpPr>
          <p:cNvPr id="15" name="Shape 13"/>
          <p:cNvSpPr/>
          <p:nvPr/>
        </p:nvSpPr>
        <p:spPr>
          <a:xfrm>
            <a:off x="5112712" y="5764497"/>
            <a:ext cx="180242" cy="176487"/>
          </a:xfrm>
          <a:prstGeom prst="roundRect">
            <a:avLst>
              <a:gd name="adj" fmla="val 41449"/>
            </a:avLst>
          </a:prstGeom>
          <a:solidFill>
            <a:srgbClr val="FFF0E6"/>
          </a:solidFill>
          <a:ln w="15240">
            <a:solidFill>
              <a:srgbClr val="D55E00"/>
            </a:solidFill>
            <a:prstDash val="solid"/>
          </a:ln>
        </p:spPr>
      </p:sp>
      <p:sp>
        <p:nvSpPr>
          <p:cNvPr id="16" name="Text 14"/>
          <p:cNvSpPr txBox="1"/>
          <p:nvPr/>
        </p:nvSpPr>
        <p:spPr>
          <a:xfrm>
            <a:off x="1591195" y="3296577"/>
            <a:ext cx="857470"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1. SFT</a:t>
            </a:r>
            <a:endParaRPr lang="en-US" sz="1867" dirty="0"/>
          </a:p>
        </p:txBody>
      </p:sp>
      <p:sp>
        <p:nvSpPr>
          <p:cNvPr id="17" name="Text 15"/>
          <p:cNvSpPr txBox="1"/>
          <p:nvPr/>
        </p:nvSpPr>
        <p:spPr>
          <a:xfrm>
            <a:off x="1058642" y="3996237"/>
            <a:ext cx="1922577" cy="219992"/>
          </a:xfrm>
          <a:prstGeom prst="rect">
            <a:avLst/>
          </a:prstGeom>
          <a:noFill/>
          <a:ln/>
        </p:spPr>
        <p:txBody>
          <a:bodyPr wrap="square" lIns="0" tIns="0" rIns="0" bIns="0" rtlCol="0" anchor="ctr"/>
          <a:lstStyle/>
          <a:p>
            <a:pPr algn="ctr" indent="0" marL="0">
              <a:lnSpc>
                <a:spcPct val="116000"/>
              </a:lnSpc>
              <a:buNone/>
            </a:pPr>
            <a:r>
              <a:rPr lang="en-US" sz="1493" dirty="0">
                <a:solidFill>
                  <a:srgbClr val="1F2937"/>
                </a:solidFill>
                <a:latin typeface="Arial" pitchFamily="34" charset="0"/>
                <a:ea typeface="Arial" pitchFamily="34" charset="-122"/>
                <a:cs typeface="Arial" pitchFamily="34" charset="-120"/>
              </a:rPr>
              <a:t>Known good answers</a:t>
            </a:r>
            <a:endParaRPr lang="en-US" sz="1493" dirty="0"/>
          </a:p>
        </p:txBody>
      </p:sp>
      <p:sp>
        <p:nvSpPr>
          <p:cNvPr id="18" name="Text 16"/>
          <p:cNvSpPr txBox="1"/>
          <p:nvPr/>
        </p:nvSpPr>
        <p:spPr>
          <a:xfrm>
            <a:off x="3990085" y="3159083"/>
            <a:ext cx="1466938"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2. Compare</a:t>
            </a:r>
            <a:endParaRPr lang="en-US" sz="1867" dirty="0"/>
          </a:p>
        </p:txBody>
      </p:sp>
      <p:sp>
        <p:nvSpPr>
          <p:cNvPr id="19" name="Text 17"/>
          <p:cNvSpPr txBox="1"/>
          <p:nvPr/>
        </p:nvSpPr>
        <p:spPr>
          <a:xfrm>
            <a:off x="3990085" y="3434072"/>
            <a:ext cx="1466938"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replies</a:t>
            </a:r>
            <a:endParaRPr lang="en-US" sz="1867" dirty="0"/>
          </a:p>
        </p:txBody>
      </p:sp>
      <p:sp>
        <p:nvSpPr>
          <p:cNvPr id="20" name="Text 18"/>
          <p:cNvSpPr txBox="1"/>
          <p:nvPr/>
        </p:nvSpPr>
        <p:spPr>
          <a:xfrm>
            <a:off x="3815263" y="3996237"/>
            <a:ext cx="1816582" cy="219992"/>
          </a:xfrm>
          <a:prstGeom prst="rect">
            <a:avLst/>
          </a:prstGeom>
          <a:noFill/>
          <a:ln/>
        </p:spPr>
        <p:txBody>
          <a:bodyPr wrap="square" lIns="0" tIns="0" rIns="0" bIns="0" rtlCol="0" anchor="ctr"/>
          <a:lstStyle/>
          <a:p>
            <a:pPr algn="ctr" indent="0" marL="0">
              <a:lnSpc>
                <a:spcPct val="116000"/>
              </a:lnSpc>
              <a:buNone/>
            </a:pPr>
            <a:r>
              <a:rPr lang="en-US" sz="1493" dirty="0">
                <a:solidFill>
                  <a:srgbClr val="1F2937"/>
                </a:solidFill>
                <a:latin typeface="Arial" pitchFamily="34" charset="0"/>
                <a:ea typeface="Arial" pitchFamily="34" charset="-122"/>
                <a:cs typeface="Arial" pitchFamily="34" charset="-120"/>
              </a:rPr>
              <a:t>Human-ranked pairs</a:t>
            </a:r>
            <a:endParaRPr lang="en-US" sz="1493" dirty="0"/>
          </a:p>
        </p:txBody>
      </p:sp>
      <p:sp>
        <p:nvSpPr>
          <p:cNvPr id="21" name="Text 19"/>
          <p:cNvSpPr txBox="1"/>
          <p:nvPr/>
        </p:nvSpPr>
        <p:spPr>
          <a:xfrm>
            <a:off x="6782037" y="3159083"/>
            <a:ext cx="1290280"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3. Reward</a:t>
            </a:r>
            <a:endParaRPr lang="en-US" sz="1867" dirty="0"/>
          </a:p>
        </p:txBody>
      </p:sp>
      <p:sp>
        <p:nvSpPr>
          <p:cNvPr id="22" name="Text 20"/>
          <p:cNvSpPr txBox="1"/>
          <p:nvPr/>
        </p:nvSpPr>
        <p:spPr>
          <a:xfrm>
            <a:off x="6782037" y="3434072"/>
            <a:ext cx="1290280"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model</a:t>
            </a:r>
            <a:endParaRPr lang="en-US" sz="1867" dirty="0"/>
          </a:p>
        </p:txBody>
      </p:sp>
      <p:sp>
        <p:nvSpPr>
          <p:cNvPr id="23" name="Text 21"/>
          <p:cNvSpPr txBox="1"/>
          <p:nvPr/>
        </p:nvSpPr>
        <p:spPr>
          <a:xfrm>
            <a:off x="6320147" y="3996237"/>
            <a:ext cx="2214061" cy="219992"/>
          </a:xfrm>
          <a:prstGeom prst="rect">
            <a:avLst/>
          </a:prstGeom>
          <a:noFill/>
          <a:ln/>
        </p:spPr>
        <p:txBody>
          <a:bodyPr wrap="square" lIns="0" tIns="0" rIns="0" bIns="0" rtlCol="0" anchor="ctr"/>
          <a:lstStyle/>
          <a:p>
            <a:pPr algn="ctr" indent="0" marL="0">
              <a:lnSpc>
                <a:spcPct val="116000"/>
              </a:lnSpc>
              <a:buNone/>
            </a:pPr>
            <a:r>
              <a:rPr lang="en-US" sz="1493" dirty="0">
                <a:solidFill>
                  <a:srgbClr val="1F2937"/>
                </a:solidFill>
                <a:latin typeface="Arial" pitchFamily="34" charset="0"/>
                <a:ea typeface="Arial" pitchFamily="34" charset="-122"/>
                <a:cs typeface="Arial" pitchFamily="34" charset="-120"/>
              </a:rPr>
              <a:t>Learn a preference score</a:t>
            </a:r>
            <a:endParaRPr lang="en-US" sz="1493" dirty="0"/>
          </a:p>
        </p:txBody>
      </p:sp>
      <p:sp>
        <p:nvSpPr>
          <p:cNvPr id="24" name="Text 22"/>
          <p:cNvSpPr txBox="1"/>
          <p:nvPr/>
        </p:nvSpPr>
        <p:spPr>
          <a:xfrm>
            <a:off x="9565157" y="3159083"/>
            <a:ext cx="1131289"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4. Policy</a:t>
            </a:r>
            <a:endParaRPr lang="en-US" sz="1867" dirty="0"/>
          </a:p>
        </p:txBody>
      </p:sp>
      <p:sp>
        <p:nvSpPr>
          <p:cNvPr id="25" name="Text 23"/>
          <p:cNvSpPr txBox="1"/>
          <p:nvPr/>
        </p:nvSpPr>
        <p:spPr>
          <a:xfrm>
            <a:off x="9565157" y="3434072"/>
            <a:ext cx="1131289" cy="274990"/>
          </a:xfrm>
          <a:prstGeom prst="rect">
            <a:avLst/>
          </a:prstGeom>
          <a:noFill/>
          <a:ln/>
        </p:spPr>
        <p:txBody>
          <a:bodyPr wrap="square" lIns="0" tIns="0" rIns="0" bIns="0" rtlCol="0" anchor="ctr"/>
          <a:lstStyle/>
          <a:p>
            <a:pPr algn="ctr" indent="0" marL="0">
              <a:lnSpc>
                <a:spcPct val="116000"/>
              </a:lnSpc>
              <a:buNone/>
            </a:pPr>
            <a:r>
              <a:rPr lang="en-US" sz="1867" b="1" dirty="0">
                <a:solidFill>
                  <a:srgbClr val="1E1B4B"/>
                </a:solidFill>
                <a:latin typeface="Arial" pitchFamily="34" charset="0"/>
                <a:ea typeface="Arial" pitchFamily="34" charset="-122"/>
                <a:cs typeface="Arial" pitchFamily="34" charset="-120"/>
              </a:rPr>
              <a:t>update</a:t>
            </a:r>
            <a:endParaRPr lang="en-US" sz="1867" dirty="0"/>
          </a:p>
        </p:txBody>
      </p:sp>
      <p:sp>
        <p:nvSpPr>
          <p:cNvPr id="26" name="Text 24"/>
          <p:cNvSpPr txBox="1"/>
          <p:nvPr/>
        </p:nvSpPr>
        <p:spPr>
          <a:xfrm>
            <a:off x="9058343" y="3996237"/>
            <a:ext cx="2144916" cy="219992"/>
          </a:xfrm>
          <a:prstGeom prst="rect">
            <a:avLst/>
          </a:prstGeom>
          <a:noFill/>
          <a:ln/>
        </p:spPr>
        <p:txBody>
          <a:bodyPr wrap="square" lIns="0" tIns="0" rIns="0" bIns="0" rtlCol="0" anchor="ctr"/>
          <a:lstStyle/>
          <a:p>
            <a:pPr algn="ctr" indent="0" marL="0">
              <a:lnSpc>
                <a:spcPct val="116000"/>
              </a:lnSpc>
              <a:buNone/>
            </a:pPr>
            <a:r>
              <a:rPr lang="en-US" sz="1493" dirty="0">
                <a:solidFill>
                  <a:srgbClr val="1F2937"/>
                </a:solidFill>
                <a:latin typeface="Arial" pitchFamily="34" charset="0"/>
                <a:ea typeface="Arial" pitchFamily="34" charset="-122"/>
                <a:cs typeface="Arial" pitchFamily="34" charset="-120"/>
              </a:rPr>
              <a:t>PPO reward; KL penalty</a:t>
            </a:r>
            <a:endParaRPr lang="en-US" sz="1493" dirty="0"/>
          </a:p>
        </p:txBody>
      </p:sp>
      <p:sp>
        <p:nvSpPr>
          <p:cNvPr id="27" name="Text 25"/>
          <p:cNvSpPr txBox="1"/>
          <p:nvPr/>
        </p:nvSpPr>
        <p:spPr>
          <a:xfrm>
            <a:off x="852456" y="1695046"/>
            <a:ext cx="4306427" cy="274990"/>
          </a:xfrm>
          <a:prstGeom prst="rect">
            <a:avLst/>
          </a:prstGeom>
          <a:noFill/>
          <a:ln/>
        </p:spPr>
        <p:txBody>
          <a:bodyPr wrap="square" lIns="0" tIns="0" rIns="0" bIns="0" rtlCol="0" anchor="ctr"/>
          <a:lstStyle/>
          <a:p>
            <a:pPr algn="l" indent="0" marL="0">
              <a:lnSpc>
                <a:spcPct val="116000"/>
              </a:lnSpc>
              <a:buNone/>
            </a:pPr>
            <a:r>
              <a:rPr lang="en-US" sz="1867" b="1" dirty="0">
                <a:solidFill>
                  <a:srgbClr val="1E1B4B"/>
                </a:solidFill>
                <a:latin typeface="Arial" pitchFamily="34" charset="0"/>
                <a:ea typeface="Arial" pitchFamily="34" charset="-122"/>
                <a:cs typeface="Arial" pitchFamily="34" charset="-120"/>
              </a:rPr>
              <a:t>An InstructGPT-style RLHF pipeline</a:t>
            </a:r>
            <a:endParaRPr lang="en-US" sz="1867" dirty="0"/>
          </a:p>
        </p:txBody>
      </p:sp>
      <p:sp>
        <p:nvSpPr>
          <p:cNvPr id="28" name="Text 26"/>
          <p:cNvSpPr txBox="1"/>
          <p:nvPr/>
        </p:nvSpPr>
        <p:spPr>
          <a:xfrm>
            <a:off x="852456" y="4718227"/>
            <a:ext cx="7753783"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DPO: train directly from ranked pairs and a fixed reference; no reward-model fit or RL loop.</a:t>
            </a:r>
            <a:endParaRPr lang="en-US" sz="1493" dirty="0"/>
          </a:p>
        </p:txBody>
      </p:sp>
      <p:sp>
        <p:nvSpPr>
          <p:cNvPr id="29" name="Text 27"/>
          <p:cNvSpPr txBox="1"/>
          <p:nvPr/>
        </p:nvSpPr>
        <p:spPr>
          <a:xfrm>
            <a:off x="852456" y="5199554"/>
            <a:ext cx="7393154" cy="219992"/>
          </a:xfrm>
          <a:prstGeom prst="rect">
            <a:avLst/>
          </a:prstGeom>
          <a:noFill/>
          <a:ln/>
        </p:spPr>
        <p:txBody>
          <a:bodyPr wrap="square" lIns="0" tIns="0" rIns="0" bIns="0" rtlCol="0" anchor="ctr"/>
          <a:lstStyle/>
          <a:p>
            <a:pPr algn="l" indent="0" marL="0">
              <a:lnSpc>
                <a:spcPct val="116000"/>
              </a:lnSpc>
              <a:buNone/>
            </a:pPr>
            <a:r>
              <a:rPr lang="en-US" sz="1493" dirty="0">
                <a:solidFill>
                  <a:srgbClr val="6B7280"/>
                </a:solidFill>
                <a:latin typeface="Arial" pitchFamily="34" charset="0"/>
                <a:ea typeface="Arial" pitchFamily="34" charset="-122"/>
                <a:cs typeface="Arial" pitchFamily="34" charset="-120"/>
              </a:rPr>
              <a:t>Reward and preference are teaching signals; evaluate factuality and safety separately.</a:t>
            </a:r>
            <a:endParaRPr lang="en-US" sz="1493" dirty="0"/>
          </a:p>
        </p:txBody>
      </p:sp>
      <p:sp>
        <p:nvSpPr>
          <p:cNvPr id="30" name="Text 28"/>
          <p:cNvSpPr txBox="1"/>
          <p:nvPr/>
        </p:nvSpPr>
        <p:spPr>
          <a:xfrm>
            <a:off x="1131011" y="5742744"/>
            <a:ext cx="933296"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Input data</a:t>
            </a:r>
            <a:endParaRPr lang="en-US" sz="1493" dirty="0"/>
          </a:p>
        </p:txBody>
      </p:sp>
      <p:sp>
        <p:nvSpPr>
          <p:cNvPr id="31" name="Text 29"/>
          <p:cNvSpPr txBox="1"/>
          <p:nvPr/>
        </p:nvSpPr>
        <p:spPr>
          <a:xfrm>
            <a:off x="3261139" y="5742744"/>
            <a:ext cx="606480"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Model</a:t>
            </a:r>
            <a:endParaRPr lang="en-US" sz="1493" dirty="0"/>
          </a:p>
        </p:txBody>
      </p:sp>
      <p:sp>
        <p:nvSpPr>
          <p:cNvPr id="32" name="Text 30"/>
          <p:cNvSpPr txBox="1"/>
          <p:nvPr/>
        </p:nvSpPr>
        <p:spPr>
          <a:xfrm>
            <a:off x="5391267" y="5742744"/>
            <a:ext cx="1233614" cy="219992"/>
          </a:xfrm>
          <a:prstGeom prst="rect">
            <a:avLst/>
          </a:prstGeom>
          <a:noFill/>
          <a:ln/>
        </p:spPr>
        <p:txBody>
          <a:bodyPr wrap="square" lIns="0" tIns="0" rIns="0" bIns="0" rtlCol="0" anchor="ctr"/>
          <a:lstStyle/>
          <a:p>
            <a:pPr algn="l" indent="0" marL="0">
              <a:lnSpc>
                <a:spcPct val="116000"/>
              </a:lnSpc>
              <a:buNone/>
            </a:pPr>
            <a:r>
              <a:rPr lang="en-US" sz="1493" dirty="0">
                <a:solidFill>
                  <a:srgbClr val="1F2937"/>
                </a:solidFill>
                <a:latin typeface="Arial" pitchFamily="34" charset="0"/>
                <a:ea typeface="Arial" pitchFamily="34" charset="-122"/>
                <a:cs typeface="Arial" pitchFamily="34" charset="-120"/>
              </a:rPr>
              <a:t>Loss / update</a:t>
            </a:r>
            <a:endParaRPr lang="en-US" sz="1493"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reward model and the RL objective</a:t>
            </a:r>
            <a:endParaRPr lang="en-US" sz="3200" dirty="0"/>
          </a:p>
        </p:txBody>
      </p:sp>
      <p:sp>
        <p:nvSpPr>
          <p:cNvPr id="6" name="Shape 4"/>
          <p:cNvSpPr/>
          <p:nvPr/>
        </p:nvSpPr>
        <p:spPr>
          <a:xfrm>
            <a:off x="548640" y="1481328"/>
            <a:ext cx="11094415" cy="2011680"/>
          </a:xfrm>
          <a:prstGeom prst="roundRect">
            <a:avLst>
              <a:gd name="adj" fmla="val 5455"/>
            </a:avLst>
          </a:prstGeom>
          <a:solidFill>
            <a:srgbClr val="EEF0FF"/>
          </a:solidFill>
          <a:ln w="12700">
            <a:solidFill>
              <a:srgbClr val="EEF0FF"/>
            </a:solidFill>
            <a:prstDash val="solid"/>
          </a:ln>
        </p:spPr>
      </p:sp>
      <p:pic>
        <p:nvPicPr>
          <p:cNvPr id="7" name="Image 0" descr="C:\Users\sudee\Downloads\Generative_AI_2027_Teaching_Pack\AI2027_Project\build\eq\da8815bf1e10e61b.png">    </p:cNvPr>
          <p:cNvPicPr>
            <a:picLocks noChangeAspect="1"/>
          </p:cNvPicPr>
          <p:nvPr/>
        </p:nvPicPr>
        <p:blipFill>
          <a:blip r:embed="rId1"/>
          <a:stretch>
            <a:fillRect/>
          </a:stretch>
        </p:blipFill>
        <p:spPr>
          <a:xfrm>
            <a:off x="3934816" y="1892808"/>
            <a:ext cx="4322064" cy="365760"/>
          </a:xfrm>
          <a:prstGeom prst="rect">
            <a:avLst/>
          </a:prstGeom>
        </p:spPr>
      </p:pic>
      <p:pic>
        <p:nvPicPr>
          <p:cNvPr id="8" name="Image 1" descr="C:\Users\sudee\Downloads\Generative_AI_2027_Teaching_Pack\AI2027_Project\build\eq\740f424e6b17c765.png">    </p:cNvPr>
          <p:cNvPicPr>
            <a:picLocks noChangeAspect="1"/>
          </p:cNvPicPr>
          <p:nvPr/>
        </p:nvPicPr>
        <p:blipFill>
          <a:blip r:embed="rId2"/>
          <a:stretch>
            <a:fillRect/>
          </a:stretch>
        </p:blipFill>
        <p:spPr>
          <a:xfrm>
            <a:off x="2915260" y="2624328"/>
            <a:ext cx="6361176" cy="457200"/>
          </a:xfrm>
          <a:prstGeom prst="rect">
            <a:avLst/>
          </a:prstGeom>
        </p:spPr>
      </p:pic>
      <p:sp>
        <p:nvSpPr>
          <p:cNvPr id="9" name="Text 5"/>
          <p:cNvSpPr txBox="1"/>
          <p:nvPr/>
        </p:nvSpPr>
        <p:spPr>
          <a:xfrm>
            <a:off x="548640" y="37216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10" name="Text 6"/>
          <p:cNvSpPr txBox="1"/>
          <p:nvPr/>
        </p:nvSpPr>
        <p:spPr>
          <a:xfrm>
            <a:off x="548640" y="4105656"/>
            <a:ext cx="6035040" cy="21762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Reward model: score preferred answers higher.</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RL policy: seek reward with a change penalty.</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KL discourages drift; it cannot guarantee safety.</a:t>
            </a:r>
            <a:endParaRPr lang="en-US" sz="2000" dirty="0"/>
          </a:p>
        </p:txBody>
      </p:sp>
      <p:sp>
        <p:nvSpPr>
          <p:cNvPr id="11" name="Text 7"/>
          <p:cNvSpPr txBox="1"/>
          <p:nvPr/>
        </p:nvSpPr>
        <p:spPr>
          <a:xfrm>
            <a:off x="6858000" y="37216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2" name="Text 8"/>
          <p:cNvSpPr txBox="1"/>
          <p:nvPr/>
        </p:nvSpPr>
        <p:spPr>
          <a:xfrm>
            <a:off x="6858000" y="4133088"/>
            <a:ext cx="1143000" cy="544068"/>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y</a:t>
            </a:r>
            <a:pPr indent="0" marL="0">
              <a:buNone/>
            </a:pPr>
            <a:r>
              <a:rPr lang="en-US" sz="1500" b="1" baseline="-40000" dirty="0">
                <a:solidFill>
                  <a:srgbClr val="1E1B4B"/>
                </a:solidFill>
                <a:latin typeface="Cambria Math" pitchFamily="34" charset="0"/>
                <a:ea typeface="Cambria Math" pitchFamily="34" charset="-122"/>
                <a:cs typeface="Cambria Math" pitchFamily="34" charset="-120"/>
              </a:rPr>
              <a:t>w</a:t>
            </a:r>
            <a:pPr indent="0" marL="0">
              <a:buNone/>
            </a:pPr>
            <a:r>
              <a:rPr lang="en-US" sz="1500" b="1" dirty="0">
                <a:solidFill>
                  <a:srgbClr val="1E1B4B"/>
                </a:solidFill>
                <a:latin typeface="Cambria Math" pitchFamily="34" charset="0"/>
                <a:ea typeface="Cambria Math" pitchFamily="34" charset="-122"/>
                <a:cs typeface="Cambria Math" pitchFamily="34" charset="-120"/>
              </a:rPr>
              <a:t> / yₗ</a:t>
            </a:r>
            <a:endParaRPr lang="en-US" sz="1500" dirty="0"/>
          </a:p>
        </p:txBody>
      </p:sp>
      <p:sp>
        <p:nvSpPr>
          <p:cNvPr id="13" name="Text 9"/>
          <p:cNvSpPr txBox="1"/>
          <p:nvPr/>
        </p:nvSpPr>
        <p:spPr>
          <a:xfrm>
            <a:off x="8046720" y="4133088"/>
            <a:ext cx="3596335" cy="544068"/>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preferred / less-preferred answer</a:t>
            </a:r>
            <a:endParaRPr lang="en-US" sz="1400" dirty="0"/>
          </a:p>
        </p:txBody>
      </p:sp>
      <p:sp>
        <p:nvSpPr>
          <p:cNvPr id="14" name="Text 10"/>
          <p:cNvSpPr txBox="1"/>
          <p:nvPr/>
        </p:nvSpPr>
        <p:spPr>
          <a:xfrm>
            <a:off x="6858000" y="4677156"/>
            <a:ext cx="1143000" cy="544068"/>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r</a:t>
            </a:r>
            <a:pPr indent="0" marL="0">
              <a:buNone/>
            </a:pPr>
            <a:r>
              <a:rPr lang="en-US" sz="1500" b="1" baseline="-40000" dirty="0">
                <a:solidFill>
                  <a:srgbClr val="1E1B4B"/>
                </a:solidFill>
                <a:latin typeface="Cambria Math" pitchFamily="34" charset="0"/>
                <a:ea typeface="Cambria Math" pitchFamily="34" charset="-122"/>
                <a:cs typeface="Cambria Math" pitchFamily="34" charset="-120"/>
              </a:rPr>
              <a:t>φ</a:t>
            </a:r>
            <a:endParaRPr lang="en-US" sz="1500" dirty="0"/>
          </a:p>
        </p:txBody>
      </p:sp>
      <p:sp>
        <p:nvSpPr>
          <p:cNvPr id="15" name="Text 11"/>
          <p:cNvSpPr txBox="1"/>
          <p:nvPr/>
        </p:nvSpPr>
        <p:spPr>
          <a:xfrm>
            <a:off x="8046720" y="4677156"/>
            <a:ext cx="3596335" cy="544068"/>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learned scoring model</a:t>
            </a:r>
            <a:endParaRPr lang="en-US" sz="1400" dirty="0"/>
          </a:p>
        </p:txBody>
      </p:sp>
      <p:sp>
        <p:nvSpPr>
          <p:cNvPr id="16" name="Text 12"/>
          <p:cNvSpPr txBox="1"/>
          <p:nvPr/>
        </p:nvSpPr>
        <p:spPr>
          <a:xfrm>
            <a:off x="6858000" y="5221224"/>
            <a:ext cx="1143000" cy="544068"/>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π</a:t>
            </a:r>
            <a:pPr indent="0" marL="0">
              <a:buNone/>
            </a:pPr>
            <a:r>
              <a:rPr lang="en-US" sz="1500" b="1" baseline="-40000" dirty="0">
                <a:solidFill>
                  <a:srgbClr val="1E1B4B"/>
                </a:solidFill>
                <a:latin typeface="Cambria Math" pitchFamily="34" charset="0"/>
                <a:ea typeface="Cambria Math" pitchFamily="34" charset="-122"/>
                <a:cs typeface="Cambria Math" pitchFamily="34" charset="-120"/>
              </a:rPr>
              <a:t>θ</a:t>
            </a:r>
            <a:pPr indent="0" marL="0">
              <a:buNone/>
            </a:pPr>
            <a:r>
              <a:rPr lang="en-US" sz="1500" b="1" dirty="0">
                <a:solidFill>
                  <a:srgbClr val="1E1B4B"/>
                </a:solidFill>
                <a:latin typeface="Cambria Math" pitchFamily="34" charset="0"/>
                <a:ea typeface="Cambria Math" pitchFamily="34" charset="-122"/>
                <a:cs typeface="Cambria Math" pitchFamily="34" charset="-120"/>
              </a:rPr>
              <a:t> / π</a:t>
            </a:r>
            <a:pPr indent="0" marL="0">
              <a:buNone/>
            </a:pPr>
            <a:r>
              <a:rPr lang="en-US" sz="1500" b="1" baseline="-40000" dirty="0">
                <a:solidFill>
                  <a:srgbClr val="1E1B4B"/>
                </a:solidFill>
                <a:latin typeface="Cambria Math" pitchFamily="34" charset="0"/>
                <a:ea typeface="Cambria Math" pitchFamily="34" charset="-122"/>
                <a:cs typeface="Cambria Math" pitchFamily="34" charset="-120"/>
              </a:rPr>
              <a:t>ref</a:t>
            </a:r>
            <a:endParaRPr lang="en-US" sz="1500" dirty="0"/>
          </a:p>
        </p:txBody>
      </p:sp>
      <p:sp>
        <p:nvSpPr>
          <p:cNvPr id="17" name="Text 13"/>
          <p:cNvSpPr txBox="1"/>
          <p:nvPr/>
        </p:nvSpPr>
        <p:spPr>
          <a:xfrm>
            <a:off x="8046720" y="5221224"/>
            <a:ext cx="3596335" cy="544068"/>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model being trained / fixed starting model</a:t>
            </a:r>
            <a:endParaRPr lang="en-US" sz="1400" dirty="0"/>
          </a:p>
        </p:txBody>
      </p:sp>
      <p:sp>
        <p:nvSpPr>
          <p:cNvPr id="18" name="Text 14"/>
          <p:cNvSpPr txBox="1"/>
          <p:nvPr/>
        </p:nvSpPr>
        <p:spPr>
          <a:xfrm>
            <a:off x="6858000" y="5765292"/>
            <a:ext cx="1143000" cy="544068"/>
          </a:xfrm>
          <a:prstGeom prst="rect">
            <a:avLst/>
          </a:prstGeom>
          <a:noFill/>
          <a:ln/>
        </p:spPr>
        <p:txBody>
          <a:bodyPr wrap="square" lIns="50800" tIns="50800" rIns="50800" bIns="50800" rtlCol="0" anchor="ctr"/>
          <a:lstStyle/>
          <a:p>
            <a:pPr indent="0" marL="0">
              <a:buNone/>
            </a:pPr>
            <a:r>
              <a:rPr lang="en-US" sz="1500" b="1" dirty="0">
                <a:solidFill>
                  <a:srgbClr val="1E1B4B"/>
                </a:solidFill>
                <a:latin typeface="Cambria Math" pitchFamily="34" charset="0"/>
                <a:ea typeface="Cambria Math" pitchFamily="34" charset="-122"/>
                <a:cs typeface="Cambria Math" pitchFamily="34" charset="-120"/>
              </a:rPr>
              <a:t>β</a:t>
            </a:r>
            <a:endParaRPr lang="en-US" sz="1500" dirty="0"/>
          </a:p>
        </p:txBody>
      </p:sp>
      <p:sp>
        <p:nvSpPr>
          <p:cNvPr id="19" name="Text 15"/>
          <p:cNvSpPr txBox="1"/>
          <p:nvPr/>
        </p:nvSpPr>
        <p:spPr>
          <a:xfrm>
            <a:off x="8046720" y="5765292"/>
            <a:ext cx="3596335" cy="544068"/>
          </a:xfrm>
          <a:prstGeom prst="rect">
            <a:avLst/>
          </a:prstGeom>
          <a:noFill/>
          <a:ln/>
        </p:spPr>
        <p:txBody>
          <a:bodyPr wrap="square" lIns="50800" tIns="50800" rIns="50800" bIns="50800" rtlCol="0" anchor="ctr"/>
          <a:lstStyle/>
          <a:p>
            <a:pPr indent="0" marL="0">
              <a:buNone/>
            </a:pPr>
            <a:r>
              <a:rPr lang="en-US" sz="1400" dirty="0">
                <a:solidFill>
                  <a:srgbClr val="1F2937"/>
                </a:solidFill>
                <a:latin typeface="Calibri" pitchFamily="34" charset="0"/>
                <a:ea typeface="Calibri" pitchFamily="34" charset="-122"/>
                <a:cs typeface="Calibri" pitchFamily="34" charset="-120"/>
              </a:rPr>
              <a:t>strength of the penalty for changing the model</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Direct Preference Optimisation (DPO)</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14351c2228fff451.png">    </p:cNvPr>
          <p:cNvPicPr>
            <a:picLocks noChangeAspect="1"/>
          </p:cNvPicPr>
          <p:nvPr/>
        </p:nvPicPr>
        <p:blipFill>
          <a:blip r:embed="rId1"/>
          <a:stretch>
            <a:fillRect/>
          </a:stretch>
        </p:blipFill>
        <p:spPr>
          <a:xfrm>
            <a:off x="2991460" y="1766316"/>
            <a:ext cx="6208776" cy="755904"/>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Use preferred and rejected replies to one prompt.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Compare probabilities against a fixed reference.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Train directly; no separate reward-model fit or RL loop.</a:t>
            </a:r>
            <a:endParaRPr lang="en-US" sz="20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π</a:t>
            </a:r>
            <a:pPr indent="0" marL="0">
              <a:buNone/>
            </a:pPr>
            <a:r>
              <a:rPr lang="en-US" sz="1700" b="1" baseline="-40000" dirty="0">
                <a:solidFill>
                  <a:srgbClr val="1E1B4B"/>
                </a:solidFill>
                <a:latin typeface="Cambria Math" pitchFamily="34" charset="0"/>
                <a:ea typeface="Cambria Math" pitchFamily="34" charset="-122"/>
                <a:cs typeface="Cambria Math" pitchFamily="34" charset="-120"/>
              </a:rPr>
              <a:t>θ</a:t>
            </a:r>
            <a:endParaRPr lang="en-US" sz="17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model being trained</a:t>
            </a:r>
            <a:endParaRPr lang="en-US" sz="16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π</a:t>
            </a:r>
            <a:pPr indent="0" marL="0">
              <a:buNone/>
            </a:pPr>
            <a:r>
              <a:rPr lang="en-US" sz="1700" b="1" baseline="-40000" dirty="0">
                <a:solidFill>
                  <a:srgbClr val="1E1B4B"/>
                </a:solidFill>
                <a:latin typeface="Cambria Math" pitchFamily="34" charset="0"/>
                <a:ea typeface="Cambria Math" pitchFamily="34" charset="-122"/>
                <a:cs typeface="Cambria Math" pitchFamily="34" charset="-120"/>
              </a:rPr>
              <a:t>ref</a:t>
            </a:r>
            <a:endParaRPr lang="en-US" sz="17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fixed reference model</a:t>
            </a:r>
            <a:endParaRPr lang="en-US" sz="1600" dirty="0"/>
          </a:p>
        </p:txBody>
      </p:sp>
      <p:sp>
        <p:nvSpPr>
          <p:cNvPr id="15" name="Text 12"/>
          <p:cNvSpPr txBox="1"/>
          <p:nvPr/>
        </p:nvSpPr>
        <p:spPr>
          <a:xfrm>
            <a:off x="6858000" y="481888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β</a:t>
            </a:r>
            <a:endParaRPr lang="en-US" sz="1700" dirty="0"/>
          </a:p>
        </p:txBody>
      </p:sp>
      <p:sp>
        <p:nvSpPr>
          <p:cNvPr id="16" name="Text 13"/>
          <p:cNvSpPr txBox="1"/>
          <p:nvPr/>
        </p:nvSpPr>
        <p:spPr>
          <a:xfrm>
            <a:off x="8046720" y="481888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scale controlling the preference objective</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Three ways to learn from feedback</a:t>
            </a:r>
            <a:endParaRPr lang="en-US" sz="3200" dirty="0"/>
          </a:p>
        </p:txBody>
      </p:sp>
      <p:sp>
        <p:nvSpPr>
          <p:cNvPr id="6" name="Shape 4"/>
          <p:cNvSpPr/>
          <p:nvPr/>
        </p:nvSpPr>
        <p:spPr>
          <a:xfrm>
            <a:off x="548640" y="1481328"/>
            <a:ext cx="351525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RLHF (PPO)</a:t>
            </a:r>
            <a:endParaRPr lang="en-US" sz="1800" dirty="0"/>
          </a:p>
        </p:txBody>
      </p:sp>
      <p:sp>
        <p:nvSpPr>
          <p:cNvPr id="9" name="Shape 6"/>
          <p:cNvSpPr/>
          <p:nvPr/>
        </p:nvSpPr>
        <p:spPr>
          <a:xfrm>
            <a:off x="548640" y="2167128"/>
            <a:ext cx="3515258" cy="4142232"/>
          </a:xfrm>
          <a:prstGeom prst="roundRect">
            <a:avLst>
              <a:gd name="adj" fmla="val 2601"/>
            </a:avLst>
          </a:prstGeom>
          <a:solidFill>
            <a:srgbClr val="EEF0FF"/>
          </a:solidFill>
          <a:ln w="12700">
            <a:solidFill>
              <a:srgbClr val="EEF0FF"/>
            </a:solidFill>
            <a:prstDash val="solid"/>
          </a:ln>
        </p:spPr>
      </p:sp>
      <p:sp>
        <p:nvSpPr>
          <p:cNvPr id="10" name="Text 7"/>
          <p:cNvSpPr txBox="1"/>
          <p:nvPr/>
        </p:nvSpPr>
        <p:spPr>
          <a:xfrm>
            <a:off x="658368" y="2258568"/>
            <a:ext cx="329580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Human rankings → reward model</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PPO updates the policy</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Example: InstructGPT, behind the first ChatGPT</a:t>
            </a:r>
            <a:endParaRPr lang="en-US" sz="2400" dirty="0"/>
          </a:p>
        </p:txBody>
      </p:sp>
      <p:sp>
        <p:nvSpPr>
          <p:cNvPr id="11" name="Shape 8"/>
          <p:cNvSpPr/>
          <p:nvPr/>
        </p:nvSpPr>
        <p:spPr>
          <a:xfrm>
            <a:off x="4338218" y="1481328"/>
            <a:ext cx="351525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4502810" y="1591056"/>
            <a:ext cx="347472" cy="347472"/>
          </a:xfrm>
          <a:prstGeom prst="rect">
            <a:avLst/>
          </a:prstGeom>
        </p:spPr>
      </p:pic>
      <p:sp>
        <p:nvSpPr>
          <p:cNvPr id="13" name="Text 9"/>
          <p:cNvSpPr txBox="1"/>
          <p:nvPr/>
        </p:nvSpPr>
        <p:spPr>
          <a:xfrm>
            <a:off x="4932578"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DPO and variants</a:t>
            </a:r>
            <a:endParaRPr lang="en-US" sz="1800" dirty="0"/>
          </a:p>
        </p:txBody>
      </p:sp>
      <p:sp>
        <p:nvSpPr>
          <p:cNvPr id="14" name="Shape 10"/>
          <p:cNvSpPr/>
          <p:nvPr/>
        </p:nvSpPr>
        <p:spPr>
          <a:xfrm>
            <a:off x="4338218" y="2167128"/>
            <a:ext cx="3515258" cy="4142232"/>
          </a:xfrm>
          <a:prstGeom prst="roundRect">
            <a:avLst>
              <a:gd name="adj" fmla="val 2601"/>
            </a:avLst>
          </a:prstGeom>
          <a:solidFill>
            <a:srgbClr val="E6F4F1"/>
          </a:solidFill>
          <a:ln w="12700">
            <a:solidFill>
              <a:srgbClr val="E6F4F1"/>
            </a:solidFill>
            <a:prstDash val="solid"/>
          </a:ln>
        </p:spPr>
      </p:sp>
      <p:sp>
        <p:nvSpPr>
          <p:cNvPr id="15" name="Text 11"/>
          <p:cNvSpPr txBox="1"/>
          <p:nvPr/>
        </p:nvSpPr>
        <p:spPr>
          <a:xfrm>
            <a:off x="4447946" y="2258568"/>
            <a:ext cx="329580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Ranked pairs → preference loss</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No reward-model fit or RL loop</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Example: many open chat models, such as Zephyr</a:t>
            </a:r>
            <a:endParaRPr lang="en-US" sz="2400" dirty="0"/>
          </a:p>
        </p:txBody>
      </p:sp>
      <p:sp>
        <p:nvSpPr>
          <p:cNvPr id="16" name="Shape 12"/>
          <p:cNvSpPr/>
          <p:nvPr/>
        </p:nvSpPr>
        <p:spPr>
          <a:xfrm>
            <a:off x="8127797" y="1481328"/>
            <a:ext cx="3515258" cy="566928"/>
          </a:xfrm>
          <a:prstGeom prst="roundRect">
            <a:avLst>
              <a:gd name="adj" fmla="val 16129"/>
            </a:avLst>
          </a:prstGeom>
          <a:solidFill>
            <a:srgbClr val="EA580C"/>
          </a:solidFill>
          <a:ln w="12700">
            <a:solidFill>
              <a:srgbClr val="EA580C"/>
            </a:solidFill>
            <a:prstDash val="solid"/>
          </a:ln>
        </p:spPr>
      </p:sp>
      <p:pic>
        <p:nvPicPr>
          <p:cNvPr id="17" name="Image 2" descr="preencoded.png">    </p:cNvPr>
          <p:cNvPicPr>
            <a:picLocks noChangeAspect="1"/>
          </p:cNvPicPr>
          <p:nvPr/>
        </p:nvPicPr>
        <p:blipFill>
          <a:blip r:embed="rId3"/>
          <a:stretch>
            <a:fillRect/>
          </a:stretch>
        </p:blipFill>
        <p:spPr>
          <a:xfrm>
            <a:off x="8292389" y="1591056"/>
            <a:ext cx="347472" cy="347472"/>
          </a:xfrm>
          <a:prstGeom prst="rect">
            <a:avLst/>
          </a:prstGeom>
        </p:spPr>
      </p:pic>
      <p:sp>
        <p:nvSpPr>
          <p:cNvPr id="18" name="Text 13"/>
          <p:cNvSpPr txBox="1"/>
          <p:nvPr/>
        </p:nvSpPr>
        <p:spPr>
          <a:xfrm>
            <a:off x="8722157"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RL with verifiable rewards</a:t>
            </a:r>
            <a:endParaRPr lang="en-US" sz="1800" dirty="0"/>
          </a:p>
        </p:txBody>
      </p:sp>
      <p:sp>
        <p:nvSpPr>
          <p:cNvPr id="19" name="Shape 14"/>
          <p:cNvSpPr/>
          <p:nvPr/>
        </p:nvSpPr>
        <p:spPr>
          <a:xfrm>
            <a:off x="8127797" y="2167128"/>
            <a:ext cx="3515258" cy="4142232"/>
          </a:xfrm>
          <a:prstGeom prst="roundRect">
            <a:avLst>
              <a:gd name="adj" fmla="val 2601"/>
            </a:avLst>
          </a:prstGeom>
          <a:solidFill>
            <a:srgbClr val="FFF1E6"/>
          </a:solidFill>
          <a:ln w="12700">
            <a:solidFill>
              <a:srgbClr val="FFF1E6"/>
            </a:solidFill>
            <a:prstDash val="solid"/>
          </a:ln>
        </p:spPr>
      </p:sp>
      <p:sp>
        <p:nvSpPr>
          <p:cNvPr id="20" name="Text 15"/>
          <p:cNvSpPr txBox="1"/>
          <p:nvPr/>
        </p:nvSpPr>
        <p:spPr>
          <a:xfrm>
            <a:off x="8237525" y="2258568"/>
            <a:ext cx="329580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Check answers or run tests</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GRPO compares sampled rewards</a:t>
            </a:r>
            <a:endParaRPr lang="en-US" sz="2400" dirty="0"/>
          </a:p>
          <a:p>
            <a:pPr marL="254000" indent="-254000">
              <a:spcAft>
                <a:spcPts val="800"/>
              </a:spcAft>
              <a:buSzPct val="100000"/>
              <a:buChar char="●"/>
            </a:pPr>
            <a:r>
              <a:rPr lang="en-US" sz="2400" dirty="0">
                <a:solidFill>
                  <a:srgbClr val="1F2937"/>
                </a:solidFill>
                <a:latin typeface="Calibri" pitchFamily="34" charset="0"/>
                <a:ea typeface="Calibri" pitchFamily="34" charset="-122"/>
                <a:cs typeface="Calibri" pitchFamily="34" charset="-120"/>
              </a:rPr>
              <a:t>Example: DeepSeek-R1 on maths and code</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AI feedback, and what can go wrong</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RLAIF uses AI feedback; Constitutional AI uses written principles.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Reward hacking improves scores without the intended outcome.</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Preferences may reward agreement with false claims.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Inspect rubric, annotators and representation.</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What is the main practical advantage of DPO over PPO-based RLHF?</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It needs no preference data, only ordinary instruction examples</a:t>
            </a:r>
            <a:endParaRPr lang="en-US" sz="20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It works only for image models, where rewards are easy to define</a:t>
            </a:r>
            <a:endParaRPr lang="en-US" sz="20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It always produces a better model than PPO on every benchmark</a:t>
            </a:r>
            <a:endParaRPr lang="en-US" sz="20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2000" dirty="0">
                <a:solidFill>
                  <a:srgbClr val="1F2937"/>
                </a:solidFill>
                <a:latin typeface="Calibri" pitchFamily="34" charset="0"/>
                <a:ea typeface="Calibri" pitchFamily="34" charset="-122"/>
                <a:cs typeface="Calibri" pitchFamily="34" charset="-120"/>
              </a:rPr>
              <a:t>It needs no separate reward model or RL loop, so training is simpler</a:t>
            </a:r>
            <a:endParaRPr lang="en-US" sz="20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400" i="1" dirty="0">
                <a:solidFill>
                  <a:srgbClr val="6B7280"/>
                </a:solidFill>
                <a:latin typeface="Calibri" pitchFamily="34" charset="0"/>
                <a:ea typeface="Calibri" pitchFamily="34" charset="-122"/>
                <a:cs typeface="Calibri" pitchFamily="34" charset="-120"/>
              </a:rPr>
              <a:t>Vote, then convince your neighbour (1 minute).</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04</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Parameter-efficient fine-tuning (PEFT)</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can we train a small part of a large model to reduce GPU memory use?</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LoRA training update</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Trace information forward and learning backward while the base stays frozen</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input vector</a:t>
            </a:r>
            <a:endParaRPr lang="en-US" sz="1441" dirty="0"/>
          </a:p>
        </p:txBody>
      </p:sp>
      <p:sp>
        <p:nvSpPr>
          <p:cNvPr id="9" name="Shape 7"/>
          <p:cNvSpPr/>
          <p:nvPr/>
        </p:nvSpPr>
        <p:spPr>
          <a:xfrm>
            <a:off x="4163991" y="3838927"/>
            <a:ext cx="244024" cy="0"/>
          </a:xfrm>
          <a:prstGeom prst="line">
            <a:avLst/>
          </a:prstGeom>
          <a:noFill/>
          <a:ln w="22860">
            <a:solidFill>
              <a:srgbClr val="009E73"/>
            </a:solidFill>
            <a:prstDash val="solid"/>
            <a:tailEnd type="triangle"/>
          </a:ln>
        </p:spPr>
      </p:sp>
      <p:sp>
        <p:nvSpPr>
          <p:cNvPr id="10" name="Text 8"/>
          <p:cNvSpPr txBox="1"/>
          <p:nvPr/>
        </p:nvSpPr>
        <p:spPr>
          <a:xfrm>
            <a:off x="3485299"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base + adapter</a:t>
            </a:r>
            <a:endParaRPr lang="en-US" sz="1441" dirty="0"/>
          </a:p>
        </p:txBody>
      </p:sp>
      <p:sp>
        <p:nvSpPr>
          <p:cNvPr id="11" name="Text 9"/>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outputs</a:t>
            </a:r>
            <a:endParaRPr lang="en-US" sz="1441" dirty="0"/>
          </a:p>
        </p:txBody>
      </p:sp>
      <p:sp>
        <p:nvSpPr>
          <p:cNvPr id="12" name="Shape 10"/>
          <p:cNvSpPr/>
          <p:nvPr/>
        </p:nvSpPr>
        <p:spPr>
          <a:xfrm>
            <a:off x="5973836" y="3838927"/>
            <a:ext cx="244024" cy="0"/>
          </a:xfrm>
          <a:prstGeom prst="line">
            <a:avLst/>
          </a:prstGeom>
          <a:noFill/>
          <a:ln w="22860">
            <a:solidFill>
              <a:srgbClr val="009E73"/>
            </a:solidFill>
            <a:prstDash val="solid"/>
            <a:tailEnd type="triangle"/>
          </a:ln>
        </p:spPr>
      </p:sp>
      <p:sp>
        <p:nvSpPr>
          <p:cNvPr id="13" name="Text 11"/>
          <p:cNvSpPr txBox="1"/>
          <p:nvPr/>
        </p:nvSpPr>
        <p:spPr>
          <a:xfrm>
            <a:off x="5295144"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corrected layer</a:t>
            </a:r>
            <a:endParaRPr lang="en-US" sz="1441" dirty="0"/>
          </a:p>
        </p:txBody>
      </p:sp>
      <p:sp>
        <p:nvSpPr>
          <p:cNvPr id="14" name="Text 12"/>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vector</a:t>
            </a:r>
            <a:endParaRPr lang="en-US" sz="1441" dirty="0"/>
          </a:p>
        </p:txBody>
      </p:sp>
      <p:sp>
        <p:nvSpPr>
          <p:cNvPr id="15" name="Shape 13"/>
          <p:cNvSpPr/>
          <p:nvPr/>
        </p:nvSpPr>
        <p:spPr>
          <a:xfrm>
            <a:off x="7783680" y="3838927"/>
            <a:ext cx="244024" cy="0"/>
          </a:xfrm>
          <a:prstGeom prst="line">
            <a:avLst/>
          </a:prstGeom>
          <a:noFill/>
          <a:ln w="22860">
            <a:solidFill>
              <a:srgbClr val="009E73"/>
            </a:solidFill>
            <a:prstDash val="solid"/>
            <a:tailEnd type="triangle"/>
          </a:ln>
        </p:spPr>
      </p:sp>
      <p:sp>
        <p:nvSpPr>
          <p:cNvPr id="16" name="Text 14"/>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label-token scores</a:t>
            </a:r>
            <a:endParaRPr lang="en-US" sz="1441" dirty="0"/>
          </a:p>
        </p:txBody>
      </p:sp>
      <p:sp>
        <p:nvSpPr>
          <p:cNvPr id="17" name="Shape 15"/>
          <p:cNvSpPr/>
          <p:nvPr/>
        </p:nvSpPr>
        <p:spPr>
          <a:xfrm>
            <a:off x="9593525" y="3838927"/>
            <a:ext cx="244024" cy="0"/>
          </a:xfrm>
          <a:prstGeom prst="line">
            <a:avLst/>
          </a:prstGeom>
          <a:noFill/>
          <a:ln w="22860">
            <a:solidFill>
              <a:srgbClr val="009E73"/>
            </a:solidFill>
            <a:prstDash val="solid"/>
            <a:tailEnd type="triangle"/>
          </a:ln>
        </p:spPr>
      </p:sp>
      <p:sp>
        <p:nvSpPr>
          <p:cNvPr id="18" name="Text 16"/>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adapter gradients</a:t>
            </a:r>
            <a:endParaRPr lang="en-US" sz="1441" dirty="0"/>
          </a:p>
        </p:txBody>
      </p:sp>
      <p:sp>
        <p:nvSpPr>
          <p:cNvPr id="19" name="Shape 17"/>
          <p:cNvSpPr/>
          <p:nvPr/>
        </p:nvSpPr>
        <p:spPr>
          <a:xfrm flipV="1">
            <a:off x="10620460" y="2191765"/>
            <a:ext cx="0" cy="747324"/>
          </a:xfrm>
          <a:prstGeom prst="line">
            <a:avLst/>
          </a:prstGeom>
          <a:noFill/>
          <a:ln w="22860">
            <a:solidFill>
              <a:srgbClr val="D55E00"/>
            </a:solidFill>
            <a:prstDash val="dash"/>
          </a:ln>
        </p:spPr>
      </p:sp>
      <p:sp>
        <p:nvSpPr>
          <p:cNvPr id="20" name="Shape 18"/>
          <p:cNvSpPr/>
          <p:nvPr/>
        </p:nvSpPr>
        <p:spPr>
          <a:xfrm flipH="1">
            <a:off x="3381080" y="2191765"/>
            <a:ext cx="7239380" cy="0"/>
          </a:xfrm>
          <a:prstGeom prst="line">
            <a:avLst/>
          </a:prstGeom>
          <a:noFill/>
          <a:ln w="22860">
            <a:solidFill>
              <a:srgbClr val="D55E00"/>
            </a:solidFill>
            <a:prstDash val="dash"/>
          </a:ln>
        </p:spPr>
      </p:sp>
      <p:sp>
        <p:nvSpPr>
          <p:cNvPr id="21" name="Shape 19"/>
          <p:cNvSpPr/>
          <p:nvPr/>
        </p:nvSpPr>
        <p:spPr>
          <a:xfrm>
            <a:off x="3381080" y="2191765"/>
            <a:ext cx="0" cy="747324"/>
          </a:xfrm>
          <a:prstGeom prst="line">
            <a:avLst/>
          </a:prstGeom>
          <a:noFill/>
          <a:ln w="22860">
            <a:solidFill>
              <a:srgbClr val="D55E00"/>
            </a:solidFill>
            <a:prstDash val="dash"/>
            <a:tailEnd type="triangle"/>
          </a:ln>
        </p:spPr>
      </p:sp>
      <p:sp>
        <p:nvSpPr>
          <p:cNvPr id="22" name="Text 20"/>
          <p:cNvSpPr txBox="1"/>
          <p:nvPr/>
        </p:nvSpPr>
        <p:spPr>
          <a:xfrm>
            <a:off x="3685282" y="1917238"/>
            <a:ext cx="6630976" cy="228773"/>
          </a:xfrm>
          <a:prstGeom prst="rect">
            <a:avLst/>
          </a:prstGeom>
          <a:noFill/>
          <a:ln/>
        </p:spPr>
        <p:txBody>
          <a:bodyPr wrap="square" lIns="0" tIns="0" rIns="0" bIns="0" rtlCol="0" anchor="ctr"/>
          <a:lstStyle/>
          <a:p>
            <a:pPr algn="ctr" indent="0" marL="0">
              <a:lnSpc>
                <a:spcPct val="116000"/>
              </a:lnSpc>
              <a:buNone/>
            </a:pPr>
            <a:r>
              <a:rPr lang="en-US" sz="1441" dirty="0">
                <a:solidFill>
                  <a:srgbClr val="A64200"/>
                </a:solidFill>
                <a:latin typeface="Arial" pitchFamily="34" charset="0"/>
                <a:ea typeface="Arial" pitchFamily="34" charset="-122"/>
                <a:cs typeface="Arial" pitchFamily="34" charset="-120"/>
              </a:rPr>
              <a:t>Repeat batches with updated adapters; the original base weights remain fixed.</a:t>
            </a:r>
            <a:endParaRPr lang="en-US" sz="1441" dirty="0"/>
          </a:p>
        </p:txBody>
      </p:sp>
      <p:sp>
        <p:nvSpPr>
          <p:cNvPr id="23" name="Shape 21"/>
          <p:cNvSpPr/>
          <p:nvPr/>
        </p:nvSpPr>
        <p:spPr>
          <a:xfrm>
            <a:off x="788325" y="2939089"/>
            <a:ext cx="1565821" cy="1799677"/>
          </a:xfrm>
          <a:prstGeom prst="roundRect">
            <a:avLst>
              <a:gd name="adj" fmla="val 4672"/>
            </a:avLst>
          </a:prstGeom>
          <a:solidFill>
            <a:srgbClr val="E4F2FB"/>
          </a:solidFill>
          <a:ln w="15240">
            <a:solidFill>
              <a:srgbClr val="0072B2"/>
            </a:solidFill>
            <a:prstDash val="solid"/>
          </a:ln>
        </p:spPr>
      </p:sp>
      <p:sp>
        <p:nvSpPr>
          <p:cNvPr id="24" name="Text 22"/>
          <p:cNvSpPr txBox="1"/>
          <p:nvPr/>
        </p:nvSpPr>
        <p:spPr>
          <a:xfrm>
            <a:off x="849331"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Layer input x</a:t>
            </a:r>
            <a:endParaRPr lang="en-US" sz="1561" dirty="0"/>
          </a:p>
        </p:txBody>
      </p:sp>
      <p:sp>
        <p:nvSpPr>
          <p:cNvPr id="25" name="Text 23"/>
          <p:cNvSpPr txBox="1"/>
          <p:nvPr/>
        </p:nvSpPr>
        <p:spPr>
          <a:xfrm>
            <a:off x="849331"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Vector entering</a:t>
            </a:r>
            <a:endParaRPr lang="en-US" sz="1441" dirty="0"/>
          </a:p>
        </p:txBody>
      </p:sp>
      <p:sp>
        <p:nvSpPr>
          <p:cNvPr id="26" name="Text 24"/>
          <p:cNvSpPr txBox="1"/>
          <p:nvPr/>
        </p:nvSpPr>
        <p:spPr>
          <a:xfrm>
            <a:off x="849331"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selected layer</a:t>
            </a:r>
            <a:endParaRPr lang="en-US" sz="1441" dirty="0"/>
          </a:p>
        </p:txBody>
      </p:sp>
      <p:sp>
        <p:nvSpPr>
          <p:cNvPr id="27" name="Text 25"/>
          <p:cNvSpPr txBox="1"/>
          <p:nvPr/>
        </p:nvSpPr>
        <p:spPr>
          <a:xfrm>
            <a:off x="811202"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lora_config</a:t>
            </a:r>
            <a:endParaRPr lang="en-US" sz="1441" dirty="0"/>
          </a:p>
        </p:txBody>
      </p:sp>
      <p:sp>
        <p:nvSpPr>
          <p:cNvPr id="28" name="Shape 26"/>
          <p:cNvSpPr/>
          <p:nvPr/>
        </p:nvSpPr>
        <p:spPr>
          <a:xfrm>
            <a:off x="2598170" y="2939089"/>
            <a:ext cx="1565821" cy="1799677"/>
          </a:xfrm>
          <a:prstGeom prst="rect">
            <a:avLst/>
          </a:prstGeom>
          <a:solidFill>
            <a:srgbClr val="E5F7EF"/>
          </a:solidFill>
          <a:ln w="15240">
            <a:solidFill>
              <a:srgbClr val="009E73"/>
            </a:solidFill>
            <a:prstDash val="solid"/>
          </a:ln>
        </p:spPr>
      </p:sp>
      <p:sp>
        <p:nvSpPr>
          <p:cNvPr id="29" name="Text 27"/>
          <p:cNvSpPr txBox="1"/>
          <p:nvPr/>
        </p:nvSpPr>
        <p:spPr>
          <a:xfrm>
            <a:off x="2659176" y="3336848"/>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Parallel paths</a:t>
            </a:r>
            <a:endParaRPr lang="en-US" sz="1561" dirty="0"/>
          </a:p>
        </p:txBody>
      </p:sp>
      <p:sp>
        <p:nvSpPr>
          <p:cNvPr id="30" name="Text 28"/>
          <p:cNvSpPr txBox="1"/>
          <p:nvPr/>
        </p:nvSpPr>
        <p:spPr>
          <a:xfrm>
            <a:off x="2659176" y="364309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Fixed Wx plus</a:t>
            </a:r>
            <a:endParaRPr lang="en-US" sz="1441" dirty="0"/>
          </a:p>
        </p:txBody>
      </p:sp>
      <p:sp>
        <p:nvSpPr>
          <p:cNvPr id="31" name="Text 29"/>
          <p:cNvSpPr txBox="1"/>
          <p:nvPr/>
        </p:nvSpPr>
        <p:spPr>
          <a:xfrm>
            <a:off x="2659176" y="385539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trainable B(Ax)</a:t>
            </a:r>
            <a:endParaRPr lang="en-US" sz="1441" dirty="0"/>
          </a:p>
        </p:txBody>
      </p:sp>
      <p:sp>
        <p:nvSpPr>
          <p:cNvPr id="32" name="Text 30"/>
          <p:cNvSpPr txBox="1"/>
          <p:nvPr/>
        </p:nvSpPr>
        <p:spPr>
          <a:xfrm>
            <a:off x="2621047" y="412870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trainer.model</a:t>
            </a:r>
            <a:endParaRPr lang="en-US" sz="1441" dirty="0"/>
          </a:p>
        </p:txBody>
      </p:sp>
      <p:sp>
        <p:nvSpPr>
          <p:cNvPr id="33" name="Shape 31"/>
          <p:cNvSpPr/>
          <p:nvPr/>
        </p:nvSpPr>
        <p:spPr>
          <a:xfrm>
            <a:off x="4408015" y="2939089"/>
            <a:ext cx="1565821" cy="1799677"/>
          </a:xfrm>
          <a:prstGeom prst="rect">
            <a:avLst/>
          </a:prstGeom>
          <a:solidFill>
            <a:srgbClr val="E5F7EF"/>
          </a:solidFill>
          <a:ln w="15240">
            <a:solidFill>
              <a:srgbClr val="009E73"/>
            </a:solidFill>
            <a:prstDash val="solid"/>
          </a:ln>
        </p:spPr>
      </p:sp>
      <p:sp>
        <p:nvSpPr>
          <p:cNvPr id="34" name="Text 32"/>
          <p:cNvSpPr txBox="1"/>
          <p:nvPr/>
        </p:nvSpPr>
        <p:spPr>
          <a:xfrm>
            <a:off x="446902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Add</a:t>
            </a:r>
            <a:endParaRPr lang="en-US" sz="1561" dirty="0"/>
          </a:p>
        </p:txBody>
      </p:sp>
      <p:sp>
        <p:nvSpPr>
          <p:cNvPr id="35" name="Text 33"/>
          <p:cNvSpPr txBox="1"/>
          <p:nvPr/>
        </p:nvSpPr>
        <p:spPr>
          <a:xfrm>
            <a:off x="446902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correction</a:t>
            </a:r>
            <a:endParaRPr lang="en-US" sz="1561" dirty="0"/>
          </a:p>
        </p:txBody>
      </p:sp>
      <p:sp>
        <p:nvSpPr>
          <p:cNvPr id="36" name="Text 34"/>
          <p:cNvSpPr txBox="1"/>
          <p:nvPr/>
        </p:nvSpPr>
        <p:spPr>
          <a:xfrm>
            <a:off x="446902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Scale and sum</a:t>
            </a:r>
            <a:endParaRPr lang="en-US" sz="1441" dirty="0"/>
          </a:p>
        </p:txBody>
      </p:sp>
      <p:sp>
        <p:nvSpPr>
          <p:cNvPr id="37" name="Text 35"/>
          <p:cNvSpPr txBox="1"/>
          <p:nvPr/>
        </p:nvSpPr>
        <p:spPr>
          <a:xfrm>
            <a:off x="446902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both paths</a:t>
            </a:r>
            <a:endParaRPr lang="en-US" sz="1441" dirty="0"/>
          </a:p>
        </p:txBody>
      </p:sp>
      <p:sp>
        <p:nvSpPr>
          <p:cNvPr id="38" name="Text 36"/>
          <p:cNvSpPr txBox="1"/>
          <p:nvPr/>
        </p:nvSpPr>
        <p:spPr>
          <a:xfrm>
            <a:off x="443089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trainer.model</a:t>
            </a:r>
            <a:endParaRPr lang="en-US" sz="1441" dirty="0"/>
          </a:p>
        </p:txBody>
      </p:sp>
      <p:sp>
        <p:nvSpPr>
          <p:cNvPr id="39" name="Shape 37"/>
          <p:cNvSpPr/>
          <p:nvPr/>
        </p:nvSpPr>
        <p:spPr>
          <a:xfrm>
            <a:off x="6217860" y="2939089"/>
            <a:ext cx="1565821" cy="1799677"/>
          </a:xfrm>
          <a:prstGeom prst="roundRect">
            <a:avLst>
              <a:gd name="adj" fmla="val 4672"/>
            </a:avLst>
          </a:prstGeom>
          <a:solidFill>
            <a:srgbClr val="F9EAF4"/>
          </a:solidFill>
          <a:ln w="15240">
            <a:solidFill>
              <a:srgbClr val="CC79A7"/>
            </a:solidFill>
            <a:prstDash val="solid"/>
          </a:ln>
        </p:spPr>
      </p:sp>
      <p:sp>
        <p:nvSpPr>
          <p:cNvPr id="40" name="Text 38"/>
          <p:cNvSpPr txBox="1"/>
          <p:nvPr/>
        </p:nvSpPr>
        <p:spPr>
          <a:xfrm>
            <a:off x="6278866" y="31157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Predict</a:t>
            </a:r>
            <a:endParaRPr lang="en-US" sz="1561" dirty="0"/>
          </a:p>
        </p:txBody>
      </p:sp>
      <p:sp>
        <p:nvSpPr>
          <p:cNvPr id="41" name="Text 39"/>
          <p:cNvSpPr txBox="1"/>
          <p:nvPr/>
        </p:nvSpPr>
        <p:spPr>
          <a:xfrm>
            <a:off x="6278866" y="334569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answer</a:t>
            </a:r>
            <a:endParaRPr lang="en-US" sz="1561" dirty="0"/>
          </a:p>
        </p:txBody>
      </p:sp>
      <p:sp>
        <p:nvSpPr>
          <p:cNvPr id="42" name="Text 40"/>
          <p:cNvSpPr txBox="1"/>
          <p:nvPr/>
        </p:nvSpPr>
        <p:spPr>
          <a:xfrm>
            <a:off x="6278866" y="365194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Score</a:t>
            </a:r>
            <a:endParaRPr lang="en-US" sz="1441" dirty="0"/>
          </a:p>
        </p:txBody>
      </p:sp>
      <p:sp>
        <p:nvSpPr>
          <p:cNvPr id="43" name="Text 41"/>
          <p:cNvSpPr txBox="1"/>
          <p:nvPr/>
        </p:nvSpPr>
        <p:spPr>
          <a:xfrm>
            <a:off x="6278866" y="386424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completion</a:t>
            </a:r>
            <a:endParaRPr lang="en-US" sz="1441" dirty="0"/>
          </a:p>
        </p:txBody>
      </p:sp>
      <p:sp>
        <p:nvSpPr>
          <p:cNvPr id="44" name="Text 42"/>
          <p:cNvSpPr txBox="1"/>
          <p:nvPr/>
        </p:nvSpPr>
        <p:spPr>
          <a:xfrm>
            <a:off x="6278866" y="4076546"/>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tokens</a:t>
            </a:r>
            <a:endParaRPr lang="en-US" sz="1441" dirty="0"/>
          </a:p>
        </p:txBody>
      </p:sp>
      <p:sp>
        <p:nvSpPr>
          <p:cNvPr id="45" name="Text 43"/>
          <p:cNvSpPr txBox="1"/>
          <p:nvPr/>
        </p:nvSpPr>
        <p:spPr>
          <a:xfrm>
            <a:off x="6240737" y="4349853"/>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trainer.model</a:t>
            </a:r>
            <a:endParaRPr lang="en-US" sz="1441" dirty="0"/>
          </a:p>
        </p:txBody>
      </p:sp>
      <p:sp>
        <p:nvSpPr>
          <p:cNvPr id="46" name="Shape 44"/>
          <p:cNvSpPr/>
          <p:nvPr/>
        </p:nvSpPr>
        <p:spPr>
          <a:xfrm>
            <a:off x="8027705" y="2939089"/>
            <a:ext cx="1565821" cy="1799677"/>
          </a:xfrm>
          <a:prstGeom prst="roundRect">
            <a:avLst>
              <a:gd name="adj" fmla="val 4672"/>
            </a:avLst>
          </a:prstGeom>
          <a:solidFill>
            <a:srgbClr val="FFF0E6"/>
          </a:solidFill>
          <a:ln w="15240">
            <a:solidFill>
              <a:srgbClr val="D55E00"/>
            </a:solidFill>
            <a:prstDash val="solid"/>
          </a:ln>
        </p:spPr>
      </p:sp>
      <p:sp>
        <p:nvSpPr>
          <p:cNvPr id="47" name="Text 45"/>
          <p:cNvSpPr txBox="1"/>
          <p:nvPr/>
        </p:nvSpPr>
        <p:spPr>
          <a:xfrm>
            <a:off x="808871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Completion</a:t>
            </a:r>
            <a:endParaRPr lang="en-US" sz="1561" dirty="0"/>
          </a:p>
        </p:txBody>
      </p:sp>
      <p:sp>
        <p:nvSpPr>
          <p:cNvPr id="48" name="Text 46"/>
          <p:cNvSpPr txBox="1"/>
          <p:nvPr/>
        </p:nvSpPr>
        <p:spPr>
          <a:xfrm>
            <a:off x="808871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loss</a:t>
            </a:r>
            <a:endParaRPr lang="en-US" sz="1561" dirty="0"/>
          </a:p>
        </p:txBody>
      </p:sp>
      <p:sp>
        <p:nvSpPr>
          <p:cNvPr id="49" name="Text 47"/>
          <p:cNvSpPr txBox="1"/>
          <p:nvPr/>
        </p:nvSpPr>
        <p:spPr>
          <a:xfrm>
            <a:off x="808871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Compare known</a:t>
            </a:r>
            <a:endParaRPr lang="en-US" sz="1441" dirty="0"/>
          </a:p>
        </p:txBody>
      </p:sp>
      <p:sp>
        <p:nvSpPr>
          <p:cNvPr id="50" name="Text 48"/>
          <p:cNvSpPr txBox="1"/>
          <p:nvPr/>
        </p:nvSpPr>
        <p:spPr>
          <a:xfrm>
            <a:off x="808871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answer tokens</a:t>
            </a:r>
            <a:endParaRPr lang="en-US" sz="1441" dirty="0"/>
          </a:p>
        </p:txBody>
      </p:sp>
      <p:sp>
        <p:nvSpPr>
          <p:cNvPr id="51" name="Text 49"/>
          <p:cNvSpPr txBox="1"/>
          <p:nvPr/>
        </p:nvSpPr>
        <p:spPr>
          <a:xfrm>
            <a:off x="805058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SFTTrainer</a:t>
            </a:r>
            <a:endParaRPr lang="en-US" sz="1441" dirty="0"/>
          </a:p>
        </p:txBody>
      </p:sp>
      <p:sp>
        <p:nvSpPr>
          <p:cNvPr id="52" name="Shape 50"/>
          <p:cNvSpPr/>
          <p:nvPr/>
        </p:nvSpPr>
        <p:spPr>
          <a:xfrm>
            <a:off x="9837549" y="2939089"/>
            <a:ext cx="1565821" cy="1799677"/>
          </a:xfrm>
          <a:prstGeom prst="roundRect">
            <a:avLst>
              <a:gd name="adj" fmla="val 4672"/>
            </a:avLst>
          </a:prstGeom>
          <a:solidFill>
            <a:srgbClr val="FFF0E6"/>
          </a:solidFill>
          <a:ln w="15240">
            <a:solidFill>
              <a:srgbClr val="D55E00"/>
            </a:solidFill>
            <a:prstDash val="solid"/>
          </a:ln>
        </p:spPr>
      </p:sp>
      <p:sp>
        <p:nvSpPr>
          <p:cNvPr id="53" name="Text 51"/>
          <p:cNvSpPr txBox="1"/>
          <p:nvPr/>
        </p:nvSpPr>
        <p:spPr>
          <a:xfrm>
            <a:off x="9898555"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Update A and</a:t>
            </a:r>
            <a:endParaRPr lang="en-US" sz="1561" dirty="0"/>
          </a:p>
        </p:txBody>
      </p:sp>
      <p:sp>
        <p:nvSpPr>
          <p:cNvPr id="54" name="Text 52"/>
          <p:cNvSpPr txBox="1"/>
          <p:nvPr/>
        </p:nvSpPr>
        <p:spPr>
          <a:xfrm>
            <a:off x="9898555"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B</a:t>
            </a:r>
            <a:endParaRPr lang="en-US" sz="1561" dirty="0"/>
          </a:p>
        </p:txBody>
      </p:sp>
      <p:sp>
        <p:nvSpPr>
          <p:cNvPr id="55" name="Text 53"/>
          <p:cNvSpPr txBox="1"/>
          <p:nvPr/>
        </p:nvSpPr>
        <p:spPr>
          <a:xfrm>
            <a:off x="9898555"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Keep original W</a:t>
            </a:r>
            <a:endParaRPr lang="en-US" sz="1441" dirty="0"/>
          </a:p>
        </p:txBody>
      </p:sp>
      <p:sp>
        <p:nvSpPr>
          <p:cNvPr id="56" name="Text 54"/>
          <p:cNvSpPr txBox="1"/>
          <p:nvPr/>
        </p:nvSpPr>
        <p:spPr>
          <a:xfrm>
            <a:off x="9898555"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fixed</a:t>
            </a:r>
            <a:endParaRPr lang="en-US" sz="1441" dirty="0"/>
          </a:p>
        </p:txBody>
      </p:sp>
      <p:sp>
        <p:nvSpPr>
          <p:cNvPr id="57" name="Text 55"/>
          <p:cNvSpPr txBox="1"/>
          <p:nvPr/>
        </p:nvSpPr>
        <p:spPr>
          <a:xfrm>
            <a:off x="986042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trainer.train</a:t>
            </a:r>
            <a:endParaRPr lang="en-US" sz="1441" dirty="0"/>
          </a:p>
        </p:txBody>
      </p:sp>
      <p:sp>
        <p:nvSpPr>
          <p:cNvPr id="58" name="Shape 56"/>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59" name="Text 57"/>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60" name="Shape 58"/>
          <p:cNvSpPr/>
          <p:nvPr/>
        </p:nvSpPr>
        <p:spPr>
          <a:xfrm>
            <a:off x="2118929" y="5630979"/>
            <a:ext cx="198270" cy="198270"/>
          </a:xfrm>
          <a:prstGeom prst="rect">
            <a:avLst/>
          </a:prstGeom>
          <a:solidFill>
            <a:srgbClr val="E5F7EF"/>
          </a:solidFill>
          <a:ln w="15240">
            <a:solidFill>
              <a:srgbClr val="009E73"/>
            </a:solidFill>
            <a:prstDash val="solid"/>
          </a:ln>
        </p:spPr>
      </p:sp>
      <p:sp>
        <p:nvSpPr>
          <p:cNvPr id="61" name="Text 59"/>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62" name="Shape 60"/>
          <p:cNvSpPr/>
          <p:nvPr/>
        </p:nvSpPr>
        <p:spPr>
          <a:xfrm>
            <a:off x="3122778" y="5630979"/>
            <a:ext cx="198270" cy="198270"/>
          </a:xfrm>
          <a:prstGeom prst="roundRect">
            <a:avLst>
              <a:gd name="adj" fmla="val 36895"/>
            </a:avLst>
          </a:prstGeom>
          <a:solidFill>
            <a:srgbClr val="FFF0E6"/>
          </a:solidFill>
          <a:ln w="15240">
            <a:solidFill>
              <a:srgbClr val="D55E00"/>
            </a:solidFill>
            <a:prstDash val="solid"/>
          </a:ln>
        </p:spPr>
      </p:sp>
      <p:sp>
        <p:nvSpPr>
          <p:cNvPr id="63" name="Text 61"/>
          <p:cNvSpPr txBox="1"/>
          <p:nvPr/>
        </p:nvSpPr>
        <p:spPr>
          <a:xfrm>
            <a:off x="3382054"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64" name="Shape 62"/>
          <p:cNvSpPr/>
          <p:nvPr/>
        </p:nvSpPr>
        <p:spPr>
          <a:xfrm>
            <a:off x="4748126" y="5630979"/>
            <a:ext cx="198270" cy="198270"/>
          </a:xfrm>
          <a:prstGeom prst="roundRect">
            <a:avLst>
              <a:gd name="adj" fmla="val 36895"/>
            </a:avLst>
          </a:prstGeom>
          <a:solidFill>
            <a:srgbClr val="F9EAF4"/>
          </a:solidFill>
          <a:ln w="15240">
            <a:solidFill>
              <a:srgbClr val="CC79A7"/>
            </a:solidFill>
            <a:prstDash val="solid"/>
          </a:ln>
        </p:spPr>
      </p:sp>
      <p:sp>
        <p:nvSpPr>
          <p:cNvPr id="65" name="Text 63"/>
          <p:cNvSpPr txBox="1"/>
          <p:nvPr/>
        </p:nvSpPr>
        <p:spPr>
          <a:xfrm>
            <a:off x="5007401"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66" name="Shape 64"/>
          <p:cNvSpPr/>
          <p:nvPr/>
        </p:nvSpPr>
        <p:spPr>
          <a:xfrm>
            <a:off x="5804824" y="5730113"/>
            <a:ext cx="335533" cy="0"/>
          </a:xfrm>
          <a:prstGeom prst="line">
            <a:avLst/>
          </a:prstGeom>
          <a:noFill/>
          <a:ln w="22860">
            <a:solidFill>
              <a:srgbClr val="009E73"/>
            </a:solidFill>
            <a:prstDash val="solid"/>
            <a:tailEnd type="triangle"/>
          </a:ln>
        </p:spPr>
      </p:sp>
      <p:sp>
        <p:nvSpPr>
          <p:cNvPr id="67" name="Text 65"/>
          <p:cNvSpPr txBox="1"/>
          <p:nvPr/>
        </p:nvSpPr>
        <p:spPr>
          <a:xfrm>
            <a:off x="6201363"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68" name="Shape 66"/>
          <p:cNvSpPr/>
          <p:nvPr/>
        </p:nvSpPr>
        <p:spPr>
          <a:xfrm>
            <a:off x="7188209" y="5730113"/>
            <a:ext cx="335533" cy="0"/>
          </a:xfrm>
          <a:prstGeom prst="line">
            <a:avLst/>
          </a:prstGeom>
          <a:noFill/>
          <a:ln w="22860">
            <a:solidFill>
              <a:srgbClr val="D55E00"/>
            </a:solidFill>
            <a:prstDash val="dash"/>
            <a:tailEnd type="triangle"/>
          </a:ln>
        </p:spPr>
      </p:sp>
      <p:sp>
        <p:nvSpPr>
          <p:cNvPr id="69" name="Text 67"/>
          <p:cNvSpPr txBox="1"/>
          <p:nvPr/>
        </p:nvSpPr>
        <p:spPr>
          <a:xfrm>
            <a:off x="7584748" y="5608101"/>
            <a:ext cx="1494180"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feedback / repeat</a:t>
            </a:r>
            <a:endParaRPr lang="en-US" sz="1441" dirty="0"/>
          </a:p>
        </p:txBody>
      </p:sp>
      <p:sp>
        <p:nvSpPr>
          <p:cNvPr id="70" name="Text 68"/>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Does the adapter take W x as its input, or does it use the same x as the base projection?</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LoRA: learn a low-rank update</a:t>
            </a:r>
            <a:endParaRPr lang="en-US" sz="3200" dirty="0"/>
          </a:p>
        </p:txBody>
      </p:sp>
      <p:sp>
        <p:nvSpPr>
          <p:cNvPr id="6" name="Shape 4"/>
          <p:cNvSpPr/>
          <p:nvPr/>
        </p:nvSpPr>
        <p:spPr>
          <a:xfrm>
            <a:off x="2379928" y="3738849"/>
            <a:ext cx="439517" cy="0"/>
          </a:xfrm>
          <a:prstGeom prst="line">
            <a:avLst/>
          </a:prstGeom>
          <a:noFill/>
          <a:ln w="22860">
            <a:solidFill>
              <a:srgbClr val="4F46E5"/>
            </a:solidFill>
            <a:prstDash val="solid"/>
          </a:ln>
        </p:spPr>
      </p:sp>
      <p:sp>
        <p:nvSpPr>
          <p:cNvPr id="7" name="Shape 5"/>
          <p:cNvSpPr/>
          <p:nvPr/>
        </p:nvSpPr>
        <p:spPr>
          <a:xfrm flipV="1">
            <a:off x="2819445" y="2839004"/>
            <a:ext cx="0" cy="899845"/>
          </a:xfrm>
          <a:prstGeom prst="line">
            <a:avLst/>
          </a:prstGeom>
          <a:noFill/>
          <a:ln w="22860">
            <a:solidFill>
              <a:srgbClr val="4F46E5"/>
            </a:solidFill>
            <a:prstDash val="solid"/>
          </a:ln>
        </p:spPr>
      </p:sp>
      <p:sp>
        <p:nvSpPr>
          <p:cNvPr id="8" name="Shape 6"/>
          <p:cNvSpPr/>
          <p:nvPr/>
        </p:nvSpPr>
        <p:spPr>
          <a:xfrm>
            <a:off x="2379928" y="3738849"/>
            <a:ext cx="439517" cy="0"/>
          </a:xfrm>
          <a:prstGeom prst="line">
            <a:avLst/>
          </a:prstGeom>
          <a:noFill/>
          <a:ln w="22860">
            <a:solidFill>
              <a:srgbClr val="4F46E5"/>
            </a:solidFill>
            <a:prstDash val="solid"/>
          </a:ln>
        </p:spPr>
      </p:sp>
      <p:sp>
        <p:nvSpPr>
          <p:cNvPr id="9" name="Shape 7"/>
          <p:cNvSpPr/>
          <p:nvPr/>
        </p:nvSpPr>
        <p:spPr>
          <a:xfrm>
            <a:off x="2819445" y="3738849"/>
            <a:ext cx="0" cy="782474"/>
          </a:xfrm>
          <a:prstGeom prst="line">
            <a:avLst/>
          </a:prstGeom>
          <a:noFill/>
          <a:ln w="22860">
            <a:solidFill>
              <a:srgbClr val="4F46E5"/>
            </a:solidFill>
            <a:prstDash val="solid"/>
          </a:ln>
        </p:spPr>
      </p:sp>
      <p:sp>
        <p:nvSpPr>
          <p:cNvPr id="10" name="Shape 8"/>
          <p:cNvSpPr/>
          <p:nvPr/>
        </p:nvSpPr>
        <p:spPr>
          <a:xfrm>
            <a:off x="5136901" y="2839004"/>
            <a:ext cx="3516139" cy="0"/>
          </a:xfrm>
          <a:prstGeom prst="line">
            <a:avLst/>
          </a:prstGeom>
          <a:noFill/>
          <a:ln w="22860">
            <a:solidFill>
              <a:srgbClr val="4F46E5"/>
            </a:solidFill>
            <a:prstDash val="solid"/>
          </a:ln>
        </p:spPr>
      </p:sp>
      <p:sp>
        <p:nvSpPr>
          <p:cNvPr id="11" name="Shape 9"/>
          <p:cNvSpPr/>
          <p:nvPr/>
        </p:nvSpPr>
        <p:spPr>
          <a:xfrm>
            <a:off x="7534268" y="4521323"/>
            <a:ext cx="1118772" cy="0"/>
          </a:xfrm>
          <a:prstGeom prst="line">
            <a:avLst/>
          </a:prstGeom>
          <a:noFill/>
          <a:ln w="22860">
            <a:solidFill>
              <a:srgbClr val="4F46E5"/>
            </a:solidFill>
            <a:prstDash val="solid"/>
          </a:ln>
        </p:spPr>
      </p:sp>
      <p:sp>
        <p:nvSpPr>
          <p:cNvPr id="12" name="Shape 10"/>
          <p:cNvSpPr/>
          <p:nvPr/>
        </p:nvSpPr>
        <p:spPr>
          <a:xfrm>
            <a:off x="2819445" y="2839004"/>
            <a:ext cx="479474" cy="0"/>
          </a:xfrm>
          <a:prstGeom prst="line">
            <a:avLst/>
          </a:prstGeom>
          <a:noFill/>
          <a:ln w="22860">
            <a:solidFill>
              <a:srgbClr val="4F46E5"/>
            </a:solidFill>
            <a:prstDash val="solid"/>
            <a:tailEnd type="triangle"/>
          </a:ln>
        </p:spPr>
      </p:sp>
      <p:sp>
        <p:nvSpPr>
          <p:cNvPr id="13" name="Shape 11"/>
          <p:cNvSpPr/>
          <p:nvPr/>
        </p:nvSpPr>
        <p:spPr>
          <a:xfrm>
            <a:off x="2819445" y="4521323"/>
            <a:ext cx="479474" cy="0"/>
          </a:xfrm>
          <a:prstGeom prst="line">
            <a:avLst/>
          </a:prstGeom>
          <a:noFill/>
          <a:ln w="22860">
            <a:solidFill>
              <a:srgbClr val="4F46E5"/>
            </a:solidFill>
            <a:prstDash val="solid"/>
            <a:tailEnd type="triangle"/>
          </a:ln>
        </p:spPr>
      </p:sp>
      <p:sp>
        <p:nvSpPr>
          <p:cNvPr id="14" name="Shape 12"/>
          <p:cNvSpPr/>
          <p:nvPr/>
        </p:nvSpPr>
        <p:spPr>
          <a:xfrm>
            <a:off x="8653040" y="2839004"/>
            <a:ext cx="0" cy="547732"/>
          </a:xfrm>
          <a:prstGeom prst="line">
            <a:avLst/>
          </a:prstGeom>
          <a:noFill/>
          <a:ln w="22860">
            <a:solidFill>
              <a:srgbClr val="4F46E5"/>
            </a:solidFill>
            <a:prstDash val="solid"/>
            <a:tailEnd type="triangle"/>
          </a:ln>
        </p:spPr>
      </p:sp>
      <p:sp>
        <p:nvSpPr>
          <p:cNvPr id="15" name="Shape 13"/>
          <p:cNvSpPr/>
          <p:nvPr/>
        </p:nvSpPr>
        <p:spPr>
          <a:xfrm>
            <a:off x="5136901" y="4521323"/>
            <a:ext cx="559386" cy="0"/>
          </a:xfrm>
          <a:prstGeom prst="line">
            <a:avLst/>
          </a:prstGeom>
          <a:noFill/>
          <a:ln w="22860">
            <a:solidFill>
              <a:srgbClr val="4F46E5"/>
            </a:solidFill>
            <a:prstDash val="solid"/>
            <a:tailEnd type="triangle"/>
          </a:ln>
        </p:spPr>
      </p:sp>
      <p:sp>
        <p:nvSpPr>
          <p:cNvPr id="16" name="Shape 14"/>
          <p:cNvSpPr/>
          <p:nvPr/>
        </p:nvSpPr>
        <p:spPr>
          <a:xfrm flipV="1">
            <a:off x="8653040" y="4090963"/>
            <a:ext cx="0" cy="430361"/>
          </a:xfrm>
          <a:prstGeom prst="line">
            <a:avLst/>
          </a:prstGeom>
          <a:noFill/>
          <a:ln w="22860">
            <a:solidFill>
              <a:srgbClr val="4F46E5"/>
            </a:solidFill>
            <a:prstDash val="solid"/>
            <a:tailEnd type="triangle"/>
          </a:ln>
        </p:spPr>
      </p:sp>
      <p:sp>
        <p:nvSpPr>
          <p:cNvPr id="17" name="Shape 15"/>
          <p:cNvSpPr/>
          <p:nvPr/>
        </p:nvSpPr>
        <p:spPr>
          <a:xfrm>
            <a:off x="9212425" y="3738849"/>
            <a:ext cx="639298" cy="0"/>
          </a:xfrm>
          <a:prstGeom prst="line">
            <a:avLst/>
          </a:prstGeom>
          <a:noFill/>
          <a:ln w="22860">
            <a:solidFill>
              <a:srgbClr val="4F46E5"/>
            </a:solidFill>
            <a:prstDash val="solid"/>
            <a:tailEnd type="triangle"/>
          </a:ln>
        </p:spPr>
      </p:sp>
      <p:sp>
        <p:nvSpPr>
          <p:cNvPr id="18" name="Shape 16"/>
          <p:cNvSpPr/>
          <p:nvPr/>
        </p:nvSpPr>
        <p:spPr>
          <a:xfrm>
            <a:off x="1061376" y="3386736"/>
            <a:ext cx="1318552" cy="704227"/>
          </a:xfrm>
          <a:prstGeom prst="roundRect">
            <a:avLst>
              <a:gd name="adj" fmla="val 10388"/>
            </a:avLst>
          </a:prstGeom>
          <a:solidFill>
            <a:srgbClr val="E4F2FB"/>
          </a:solidFill>
          <a:ln w="15240">
            <a:solidFill>
              <a:srgbClr val="0072B2"/>
            </a:solidFill>
            <a:prstDash val="solid"/>
          </a:ln>
        </p:spPr>
      </p:sp>
      <p:sp>
        <p:nvSpPr>
          <p:cNvPr id="19" name="Shape 17"/>
          <p:cNvSpPr/>
          <p:nvPr/>
        </p:nvSpPr>
        <p:spPr>
          <a:xfrm>
            <a:off x="3298919" y="2447767"/>
            <a:ext cx="1837982" cy="782474"/>
          </a:xfrm>
          <a:prstGeom prst="rect">
            <a:avLst/>
          </a:prstGeom>
          <a:solidFill>
            <a:srgbClr val="E5F7EF"/>
          </a:solidFill>
          <a:ln w="15240">
            <a:solidFill>
              <a:srgbClr val="009E73"/>
            </a:solidFill>
            <a:prstDash val="solid"/>
          </a:ln>
        </p:spPr>
      </p:sp>
      <p:sp>
        <p:nvSpPr>
          <p:cNvPr id="20" name="Shape 18"/>
          <p:cNvSpPr/>
          <p:nvPr/>
        </p:nvSpPr>
        <p:spPr>
          <a:xfrm>
            <a:off x="3298919" y="4130086"/>
            <a:ext cx="1837982" cy="782474"/>
          </a:xfrm>
          <a:prstGeom prst="roundRect">
            <a:avLst>
              <a:gd name="adj" fmla="val 9349"/>
            </a:avLst>
          </a:prstGeom>
          <a:solidFill>
            <a:srgbClr val="FFF0E6"/>
          </a:solidFill>
          <a:ln w="15240">
            <a:solidFill>
              <a:srgbClr val="D55E00"/>
            </a:solidFill>
            <a:prstDash val="solid"/>
          </a:ln>
        </p:spPr>
      </p:sp>
      <p:sp>
        <p:nvSpPr>
          <p:cNvPr id="21" name="Shape 19"/>
          <p:cNvSpPr/>
          <p:nvPr/>
        </p:nvSpPr>
        <p:spPr>
          <a:xfrm>
            <a:off x="5696286" y="4130086"/>
            <a:ext cx="1837982" cy="782474"/>
          </a:xfrm>
          <a:prstGeom prst="roundRect">
            <a:avLst>
              <a:gd name="adj" fmla="val 9349"/>
            </a:avLst>
          </a:prstGeom>
          <a:solidFill>
            <a:srgbClr val="FFF0E6"/>
          </a:solidFill>
          <a:ln w="15240">
            <a:solidFill>
              <a:srgbClr val="D55E00"/>
            </a:solidFill>
            <a:prstDash val="solid"/>
          </a:ln>
        </p:spPr>
      </p:sp>
      <p:sp>
        <p:nvSpPr>
          <p:cNvPr id="22" name="Shape 20"/>
          <p:cNvSpPr/>
          <p:nvPr/>
        </p:nvSpPr>
        <p:spPr>
          <a:xfrm>
            <a:off x="8093654" y="3386736"/>
            <a:ext cx="1118772" cy="704227"/>
          </a:xfrm>
          <a:prstGeom prst="rect">
            <a:avLst/>
          </a:prstGeom>
          <a:solidFill>
            <a:srgbClr val="E5F7EF"/>
          </a:solidFill>
          <a:ln w="15240">
            <a:solidFill>
              <a:srgbClr val="009E73"/>
            </a:solidFill>
            <a:prstDash val="solid"/>
          </a:ln>
        </p:spPr>
      </p:sp>
      <p:sp>
        <p:nvSpPr>
          <p:cNvPr id="23" name="Shape 21"/>
          <p:cNvSpPr/>
          <p:nvPr/>
        </p:nvSpPr>
        <p:spPr>
          <a:xfrm>
            <a:off x="9851724" y="3386736"/>
            <a:ext cx="1198684" cy="704227"/>
          </a:xfrm>
          <a:prstGeom prst="roundRect">
            <a:avLst>
              <a:gd name="adj" fmla="val 10388"/>
            </a:avLst>
          </a:prstGeom>
          <a:solidFill>
            <a:srgbClr val="F9EAF4"/>
          </a:solidFill>
          <a:ln w="15240">
            <a:solidFill>
              <a:srgbClr val="CC79A7"/>
            </a:solidFill>
            <a:prstDash val="solid"/>
          </a:ln>
        </p:spPr>
      </p:sp>
      <p:sp>
        <p:nvSpPr>
          <p:cNvPr id="24" name="Shape 22"/>
          <p:cNvSpPr/>
          <p:nvPr/>
        </p:nvSpPr>
        <p:spPr>
          <a:xfrm>
            <a:off x="981463" y="5953251"/>
            <a:ext cx="175807" cy="172144"/>
          </a:xfrm>
          <a:prstGeom prst="roundRect">
            <a:avLst>
              <a:gd name="adj" fmla="val 42495"/>
            </a:avLst>
          </a:prstGeom>
          <a:solidFill>
            <a:srgbClr val="E4F2FB"/>
          </a:solidFill>
          <a:ln w="15240">
            <a:solidFill>
              <a:srgbClr val="0072B2"/>
            </a:solidFill>
            <a:prstDash val="solid"/>
          </a:ln>
        </p:spPr>
      </p:sp>
      <p:sp>
        <p:nvSpPr>
          <p:cNvPr id="25" name="Shape 23"/>
          <p:cNvSpPr/>
          <p:nvPr/>
        </p:nvSpPr>
        <p:spPr>
          <a:xfrm>
            <a:off x="3059182" y="5953251"/>
            <a:ext cx="175807" cy="172144"/>
          </a:xfrm>
          <a:prstGeom prst="rect">
            <a:avLst/>
          </a:prstGeom>
          <a:solidFill>
            <a:srgbClr val="E5F7EF"/>
          </a:solidFill>
          <a:ln w="15240">
            <a:solidFill>
              <a:srgbClr val="009E73"/>
            </a:solidFill>
            <a:prstDash val="solid"/>
          </a:ln>
        </p:spPr>
      </p:sp>
      <p:sp>
        <p:nvSpPr>
          <p:cNvPr id="26" name="Shape 24"/>
          <p:cNvSpPr/>
          <p:nvPr/>
        </p:nvSpPr>
        <p:spPr>
          <a:xfrm>
            <a:off x="5136901" y="5953251"/>
            <a:ext cx="175807" cy="172144"/>
          </a:xfrm>
          <a:prstGeom prst="roundRect">
            <a:avLst>
              <a:gd name="adj" fmla="val 42495"/>
            </a:avLst>
          </a:prstGeom>
          <a:solidFill>
            <a:srgbClr val="FFF0E6"/>
          </a:solidFill>
          <a:ln w="15240">
            <a:solidFill>
              <a:srgbClr val="D55E00"/>
            </a:solidFill>
            <a:prstDash val="solid"/>
          </a:ln>
        </p:spPr>
      </p:sp>
      <p:sp>
        <p:nvSpPr>
          <p:cNvPr id="27" name="Shape 25"/>
          <p:cNvSpPr/>
          <p:nvPr/>
        </p:nvSpPr>
        <p:spPr>
          <a:xfrm>
            <a:off x="7214619" y="5953251"/>
            <a:ext cx="175807" cy="172144"/>
          </a:xfrm>
          <a:prstGeom prst="roundRect">
            <a:avLst>
              <a:gd name="adj" fmla="val 42495"/>
            </a:avLst>
          </a:prstGeom>
          <a:solidFill>
            <a:srgbClr val="F9EAF4"/>
          </a:solidFill>
          <a:ln w="15240">
            <a:solidFill>
              <a:srgbClr val="CC79A7"/>
            </a:solidFill>
            <a:prstDash val="solid"/>
          </a:ln>
        </p:spPr>
      </p:sp>
      <p:sp>
        <p:nvSpPr>
          <p:cNvPr id="28" name="Text 26"/>
          <p:cNvSpPr txBox="1"/>
          <p:nvPr/>
        </p:nvSpPr>
        <p:spPr>
          <a:xfrm>
            <a:off x="1252478" y="3598032"/>
            <a:ext cx="936347" cy="281635"/>
          </a:xfrm>
          <a:prstGeom prst="rect">
            <a:avLst/>
          </a:prstGeom>
          <a:noFill/>
          <a:ln/>
        </p:spPr>
        <p:txBody>
          <a:bodyPr wrap="square" lIns="0" tIns="0" rIns="0" bIns="0" rtlCol="0" anchor="ctr"/>
          <a:lstStyle/>
          <a:p>
            <a:pPr algn="ctr" indent="0" marL="0">
              <a:lnSpc>
                <a:spcPct val="116000"/>
              </a:lnSpc>
              <a:buNone/>
            </a:pPr>
            <a:r>
              <a:rPr lang="en-US" sz="1912" b="1" dirty="0">
                <a:solidFill>
                  <a:srgbClr val="1E1B4B"/>
                </a:solidFill>
                <a:latin typeface="Arial" pitchFamily="34" charset="0"/>
                <a:ea typeface="Arial" pitchFamily="34" charset="-122"/>
                <a:cs typeface="Arial" pitchFamily="34" charset="-120"/>
              </a:rPr>
              <a:t>Input x</a:t>
            </a:r>
            <a:endParaRPr lang="en-US" sz="1912" dirty="0"/>
          </a:p>
        </p:txBody>
      </p:sp>
      <p:sp>
        <p:nvSpPr>
          <p:cNvPr id="29" name="Text 27"/>
          <p:cNvSpPr txBox="1"/>
          <p:nvPr/>
        </p:nvSpPr>
        <p:spPr>
          <a:xfrm>
            <a:off x="3735106" y="2570780"/>
            <a:ext cx="965606" cy="268224"/>
          </a:xfrm>
          <a:prstGeom prst="rect">
            <a:avLst/>
          </a:prstGeom>
          <a:noFill/>
          <a:ln/>
        </p:spPr>
        <p:txBody>
          <a:bodyPr wrap="square" lIns="0" tIns="0" rIns="0" bIns="0" rtlCol="0" anchor="ctr"/>
          <a:lstStyle/>
          <a:p>
            <a:pPr algn="ctr" indent="0" marL="0">
              <a:lnSpc>
                <a:spcPct val="116000"/>
              </a:lnSpc>
              <a:buNone/>
            </a:pPr>
            <a:r>
              <a:rPr lang="en-US" sz="1821" b="1" dirty="0">
                <a:solidFill>
                  <a:srgbClr val="1E1B4B"/>
                </a:solidFill>
                <a:latin typeface="Arial" pitchFamily="34" charset="0"/>
                <a:ea typeface="Arial" pitchFamily="34" charset="-122"/>
                <a:cs typeface="Arial" pitchFamily="34" charset="-120"/>
              </a:rPr>
              <a:t>W x</a:t>
            </a:r>
            <a:endParaRPr lang="en-US" sz="1821" dirty="0"/>
          </a:p>
        </p:txBody>
      </p:sp>
      <p:sp>
        <p:nvSpPr>
          <p:cNvPr id="30" name="Text 28"/>
          <p:cNvSpPr txBox="1"/>
          <p:nvPr/>
        </p:nvSpPr>
        <p:spPr>
          <a:xfrm>
            <a:off x="3735106" y="2839004"/>
            <a:ext cx="965606" cy="268224"/>
          </a:xfrm>
          <a:prstGeom prst="rect">
            <a:avLst/>
          </a:prstGeom>
          <a:noFill/>
          <a:ln/>
        </p:spPr>
        <p:txBody>
          <a:bodyPr wrap="square" lIns="0" tIns="0" rIns="0" bIns="0" rtlCol="0" anchor="ctr"/>
          <a:lstStyle/>
          <a:p>
            <a:pPr algn="ctr" indent="0" marL="0">
              <a:lnSpc>
                <a:spcPct val="116000"/>
              </a:lnSpc>
              <a:buNone/>
            </a:pPr>
            <a:r>
              <a:rPr lang="en-US" sz="1821" b="1" dirty="0">
                <a:solidFill>
                  <a:srgbClr val="1E1B4B"/>
                </a:solidFill>
                <a:latin typeface="Arial" pitchFamily="34" charset="0"/>
                <a:ea typeface="Arial" pitchFamily="34" charset="-122"/>
                <a:cs typeface="Arial" pitchFamily="34" charset="-120"/>
              </a:rPr>
              <a:t>W fixed</a:t>
            </a:r>
            <a:endParaRPr lang="en-US" sz="1821" dirty="0"/>
          </a:p>
        </p:txBody>
      </p:sp>
      <p:sp>
        <p:nvSpPr>
          <p:cNvPr id="31" name="Text 29"/>
          <p:cNvSpPr txBox="1"/>
          <p:nvPr/>
        </p:nvSpPr>
        <p:spPr>
          <a:xfrm>
            <a:off x="3599792" y="4266511"/>
            <a:ext cx="1236236" cy="254813"/>
          </a:xfrm>
          <a:prstGeom prst="rect">
            <a:avLst/>
          </a:prstGeom>
          <a:noFill/>
          <a:ln/>
        </p:spPr>
        <p:txBody>
          <a:bodyPr wrap="square" lIns="0" tIns="0" rIns="0" bIns="0" rtlCol="0" anchor="ctr"/>
          <a:lstStyle/>
          <a:p>
            <a:pPr algn="ctr" indent="0" marL="0">
              <a:lnSpc>
                <a:spcPct val="116000"/>
              </a:lnSpc>
              <a:buNone/>
            </a:pPr>
            <a:r>
              <a:rPr lang="en-US" sz="1730" b="1" dirty="0">
                <a:solidFill>
                  <a:srgbClr val="1E1B4B"/>
                </a:solidFill>
                <a:latin typeface="Arial" pitchFamily="34" charset="0"/>
                <a:ea typeface="Arial" pitchFamily="34" charset="-122"/>
                <a:cs typeface="Arial" pitchFamily="34" charset="-120"/>
              </a:rPr>
              <a:t>A x</a:t>
            </a:r>
            <a:endParaRPr lang="en-US" sz="1730" dirty="0"/>
          </a:p>
        </p:txBody>
      </p:sp>
      <p:sp>
        <p:nvSpPr>
          <p:cNvPr id="32" name="Text 30"/>
          <p:cNvSpPr txBox="1"/>
          <p:nvPr/>
        </p:nvSpPr>
        <p:spPr>
          <a:xfrm>
            <a:off x="3599792" y="4521323"/>
            <a:ext cx="1236236" cy="254813"/>
          </a:xfrm>
          <a:prstGeom prst="rect">
            <a:avLst/>
          </a:prstGeom>
          <a:noFill/>
          <a:ln/>
        </p:spPr>
        <p:txBody>
          <a:bodyPr wrap="square" lIns="0" tIns="0" rIns="0" bIns="0" rtlCol="0" anchor="ctr"/>
          <a:lstStyle/>
          <a:p>
            <a:pPr algn="ctr" indent="0" marL="0">
              <a:lnSpc>
                <a:spcPct val="116000"/>
              </a:lnSpc>
              <a:buNone/>
            </a:pPr>
            <a:r>
              <a:rPr lang="en-US" sz="1730" b="1" dirty="0">
                <a:solidFill>
                  <a:srgbClr val="1E1B4B"/>
                </a:solidFill>
                <a:latin typeface="Arial" pitchFamily="34" charset="0"/>
                <a:ea typeface="Arial" pitchFamily="34" charset="-122"/>
                <a:cs typeface="Arial" pitchFamily="34" charset="-120"/>
              </a:rPr>
              <a:t>A trainable</a:t>
            </a:r>
            <a:endParaRPr lang="en-US" sz="1730" dirty="0"/>
          </a:p>
        </p:txBody>
      </p:sp>
      <p:sp>
        <p:nvSpPr>
          <p:cNvPr id="33" name="Text 31"/>
          <p:cNvSpPr txBox="1"/>
          <p:nvPr/>
        </p:nvSpPr>
        <p:spPr>
          <a:xfrm>
            <a:off x="6012751" y="4279922"/>
            <a:ext cx="1205052" cy="241402"/>
          </a:xfrm>
          <a:prstGeom prst="rect">
            <a:avLst/>
          </a:prstGeom>
          <a:noFill/>
          <a:ln/>
        </p:spPr>
        <p:txBody>
          <a:bodyPr wrap="square" lIns="0" tIns="0" rIns="0" bIns="0" rtlCol="0" anchor="ctr"/>
          <a:lstStyle/>
          <a:p>
            <a:pPr algn="ctr" indent="0" marL="0">
              <a:lnSpc>
                <a:spcPct val="116000"/>
              </a:lnSpc>
              <a:buNone/>
            </a:pPr>
            <a:r>
              <a:rPr lang="en-US" sz="1639" b="1" dirty="0">
                <a:solidFill>
                  <a:srgbClr val="1E1B4B"/>
                </a:solidFill>
                <a:latin typeface="Arial" pitchFamily="34" charset="0"/>
                <a:ea typeface="Arial" pitchFamily="34" charset="-122"/>
                <a:cs typeface="Arial" pitchFamily="34" charset="-120"/>
              </a:rPr>
              <a:t>B(Ax) × α/r</a:t>
            </a:r>
            <a:endParaRPr lang="en-US" sz="1639" dirty="0"/>
          </a:p>
        </p:txBody>
      </p:sp>
      <p:sp>
        <p:nvSpPr>
          <p:cNvPr id="34" name="Text 32"/>
          <p:cNvSpPr txBox="1"/>
          <p:nvPr/>
        </p:nvSpPr>
        <p:spPr>
          <a:xfrm>
            <a:off x="6012751" y="4521323"/>
            <a:ext cx="1205052" cy="241402"/>
          </a:xfrm>
          <a:prstGeom prst="rect">
            <a:avLst/>
          </a:prstGeom>
          <a:noFill/>
          <a:ln/>
        </p:spPr>
        <p:txBody>
          <a:bodyPr wrap="square" lIns="0" tIns="0" rIns="0" bIns="0" rtlCol="0" anchor="ctr"/>
          <a:lstStyle/>
          <a:p>
            <a:pPr algn="ctr" indent="0" marL="0">
              <a:lnSpc>
                <a:spcPct val="116000"/>
              </a:lnSpc>
              <a:buNone/>
            </a:pPr>
            <a:r>
              <a:rPr lang="en-US" sz="1639" b="1" dirty="0">
                <a:solidFill>
                  <a:srgbClr val="1E1B4B"/>
                </a:solidFill>
                <a:latin typeface="Arial" pitchFamily="34" charset="0"/>
                <a:ea typeface="Arial" pitchFamily="34" charset="-122"/>
                <a:cs typeface="Arial" pitchFamily="34" charset="-120"/>
              </a:rPr>
              <a:t>B trainable</a:t>
            </a:r>
            <a:endParaRPr lang="en-US" sz="1639" dirty="0"/>
          </a:p>
        </p:txBody>
      </p:sp>
      <p:sp>
        <p:nvSpPr>
          <p:cNvPr id="35" name="Text 33"/>
          <p:cNvSpPr txBox="1"/>
          <p:nvPr/>
        </p:nvSpPr>
        <p:spPr>
          <a:xfrm>
            <a:off x="8352869" y="3598032"/>
            <a:ext cx="600341" cy="281635"/>
          </a:xfrm>
          <a:prstGeom prst="rect">
            <a:avLst/>
          </a:prstGeom>
          <a:noFill/>
          <a:ln/>
        </p:spPr>
        <p:txBody>
          <a:bodyPr wrap="square" lIns="0" tIns="0" rIns="0" bIns="0" rtlCol="0" anchor="ctr"/>
          <a:lstStyle/>
          <a:p>
            <a:pPr algn="ctr" indent="0" marL="0">
              <a:lnSpc>
                <a:spcPct val="116000"/>
              </a:lnSpc>
              <a:buNone/>
            </a:pPr>
            <a:r>
              <a:rPr lang="en-US" sz="1912" b="1" dirty="0">
                <a:solidFill>
                  <a:srgbClr val="1E1B4B"/>
                </a:solidFill>
                <a:latin typeface="Arial" pitchFamily="34" charset="0"/>
                <a:ea typeface="Arial" pitchFamily="34" charset="-122"/>
                <a:cs typeface="Arial" pitchFamily="34" charset="-120"/>
              </a:rPr>
              <a:t>Add</a:t>
            </a:r>
            <a:endParaRPr lang="en-US" sz="1912" dirty="0"/>
          </a:p>
        </p:txBody>
      </p:sp>
      <p:sp>
        <p:nvSpPr>
          <p:cNvPr id="36" name="Text 34"/>
          <p:cNvSpPr txBox="1"/>
          <p:nvPr/>
        </p:nvSpPr>
        <p:spPr>
          <a:xfrm>
            <a:off x="10302479" y="3577915"/>
            <a:ext cx="297174" cy="321869"/>
          </a:xfrm>
          <a:prstGeom prst="rect">
            <a:avLst/>
          </a:prstGeom>
          <a:noFill/>
          <a:ln/>
        </p:spPr>
        <p:txBody>
          <a:bodyPr wrap="square" lIns="0" tIns="0" rIns="0" bIns="0" rtlCol="0" anchor="ctr"/>
          <a:lstStyle/>
          <a:p>
            <a:pPr algn="ctr" indent="0" marL="0">
              <a:lnSpc>
                <a:spcPct val="116000"/>
              </a:lnSpc>
              <a:buNone/>
            </a:pPr>
            <a:r>
              <a:rPr lang="en-US" sz="2185" b="1" dirty="0">
                <a:solidFill>
                  <a:srgbClr val="1E1B4B"/>
                </a:solidFill>
                <a:latin typeface="Arial" pitchFamily="34" charset="0"/>
                <a:ea typeface="Arial" pitchFamily="34" charset="-122"/>
                <a:cs typeface="Arial" pitchFamily="34" charset="-120"/>
              </a:rPr>
              <a:t>h</a:t>
            </a:r>
            <a:endParaRPr lang="en-US" sz="2185" dirty="0"/>
          </a:p>
        </p:txBody>
      </p:sp>
      <p:sp>
        <p:nvSpPr>
          <p:cNvPr id="37" name="Text 35"/>
          <p:cNvSpPr txBox="1"/>
          <p:nvPr/>
        </p:nvSpPr>
        <p:spPr>
          <a:xfrm>
            <a:off x="1061376" y="1645222"/>
            <a:ext cx="6999897" cy="254813"/>
          </a:xfrm>
          <a:prstGeom prst="rect">
            <a:avLst/>
          </a:prstGeom>
          <a:noFill/>
          <a:ln/>
        </p:spPr>
        <p:txBody>
          <a:bodyPr wrap="square" lIns="0" tIns="0" rIns="0" bIns="0" rtlCol="0" anchor="ctr"/>
          <a:lstStyle/>
          <a:p>
            <a:pPr algn="l" indent="0" marL="0">
              <a:lnSpc>
                <a:spcPct val="116000"/>
              </a:lnSpc>
              <a:buNone/>
            </a:pPr>
            <a:r>
              <a:rPr lang="en-US" sz="1730" b="1" dirty="0">
                <a:solidFill>
                  <a:srgbClr val="1E1B4B"/>
                </a:solidFill>
                <a:latin typeface="Arial" pitchFamily="34" charset="0"/>
                <a:ea typeface="Arial" pitchFamily="34" charset="-122"/>
                <a:cs typeface="Arial" pitchFamily="34" charset="-120"/>
              </a:rPr>
              <a:t>LoRA: a trainable correction runs beside the fixed transformation</a:t>
            </a:r>
            <a:endParaRPr lang="en-US" sz="1730" dirty="0"/>
          </a:p>
        </p:txBody>
      </p:sp>
      <p:sp>
        <p:nvSpPr>
          <p:cNvPr id="38" name="Text 36"/>
          <p:cNvSpPr txBox="1"/>
          <p:nvPr/>
        </p:nvSpPr>
        <p:spPr>
          <a:xfrm>
            <a:off x="1061376" y="5206589"/>
            <a:ext cx="6000233" cy="214579"/>
          </a:xfrm>
          <a:prstGeom prst="rect">
            <a:avLst/>
          </a:prstGeom>
          <a:noFill/>
          <a:ln/>
        </p:spPr>
        <p:txBody>
          <a:bodyPr wrap="square" lIns="0" tIns="0" rIns="0" bIns="0" rtlCol="0" anchor="ctr"/>
          <a:lstStyle/>
          <a:p>
            <a:pPr algn="l" indent="0" marL="0">
              <a:lnSpc>
                <a:spcPct val="116000"/>
              </a:lnSpc>
              <a:buNone/>
            </a:pPr>
            <a:r>
              <a:rPr lang="en-US" sz="1457" dirty="0">
                <a:solidFill>
                  <a:srgbClr val="1F2937"/>
                </a:solidFill>
                <a:latin typeface="Arial" pitchFamily="34" charset="0"/>
                <a:ea typeface="Arial" pitchFamily="34" charset="-122"/>
                <a:cs typeface="Arial" pitchFamily="34" charset="-120"/>
              </a:rPr>
              <a:t>d = k = 4096; rank 16: W has 16.8 M values; A+B has 131,072 (0.78%).</a:t>
            </a:r>
            <a:endParaRPr lang="en-US" sz="1457" dirty="0"/>
          </a:p>
        </p:txBody>
      </p:sp>
      <p:sp>
        <p:nvSpPr>
          <p:cNvPr id="39" name="Text 37"/>
          <p:cNvSpPr txBox="1"/>
          <p:nvPr/>
        </p:nvSpPr>
        <p:spPr>
          <a:xfrm>
            <a:off x="1061376" y="5519579"/>
            <a:ext cx="6562128" cy="214579"/>
          </a:xfrm>
          <a:prstGeom prst="rect">
            <a:avLst/>
          </a:prstGeom>
          <a:noFill/>
          <a:ln/>
        </p:spPr>
        <p:txBody>
          <a:bodyPr wrap="square" lIns="0" tIns="0" rIns="0" bIns="0" rtlCol="0" anchor="ctr"/>
          <a:lstStyle/>
          <a:p>
            <a:pPr algn="l" indent="0" marL="0">
              <a:lnSpc>
                <a:spcPct val="116000"/>
              </a:lnSpc>
              <a:buNone/>
            </a:pPr>
            <a:r>
              <a:rPr lang="en-US" sz="1457" dirty="0">
                <a:solidFill>
                  <a:srgbClr val="6B7280"/>
                </a:solidFill>
                <a:latin typeface="Arial" pitchFamily="34" charset="0"/>
                <a:ea typeface="Arial" pitchFamily="34" charset="-122"/>
                <a:cs typeface="Arial" pitchFamily="34" charset="-120"/>
              </a:rPr>
              <a:t>Default LoRA: B starts at zero. Only adapter paths receive parameter updates.</a:t>
            </a:r>
            <a:endParaRPr lang="en-US" sz="1457" dirty="0"/>
          </a:p>
        </p:txBody>
      </p:sp>
      <p:sp>
        <p:nvSpPr>
          <p:cNvPr id="40" name="Text 38"/>
          <p:cNvSpPr txBox="1"/>
          <p:nvPr/>
        </p:nvSpPr>
        <p:spPr>
          <a:xfrm>
            <a:off x="1253165" y="5932034"/>
            <a:ext cx="910334" cy="214579"/>
          </a:xfrm>
          <a:prstGeom prst="rect">
            <a:avLst/>
          </a:prstGeom>
          <a:noFill/>
          <a:ln/>
        </p:spPr>
        <p:txBody>
          <a:bodyPr wrap="square" lIns="0" tIns="0" rIns="0" bIns="0" rtlCol="0" anchor="ctr"/>
          <a:lstStyle/>
          <a:p>
            <a:pPr algn="l" indent="0" marL="0">
              <a:lnSpc>
                <a:spcPct val="116000"/>
              </a:lnSpc>
              <a:buNone/>
            </a:pPr>
            <a:r>
              <a:rPr lang="en-US" sz="1457" dirty="0">
                <a:solidFill>
                  <a:srgbClr val="1F2937"/>
                </a:solidFill>
                <a:latin typeface="Arial" pitchFamily="34" charset="0"/>
                <a:ea typeface="Arial" pitchFamily="34" charset="-122"/>
                <a:cs typeface="Arial" pitchFamily="34" charset="-120"/>
              </a:rPr>
              <a:t>Input data</a:t>
            </a:r>
            <a:endParaRPr lang="en-US" sz="1457" dirty="0"/>
          </a:p>
        </p:txBody>
      </p:sp>
      <p:sp>
        <p:nvSpPr>
          <p:cNvPr id="41" name="Text 39"/>
          <p:cNvSpPr txBox="1"/>
          <p:nvPr/>
        </p:nvSpPr>
        <p:spPr>
          <a:xfrm>
            <a:off x="3330884" y="5932034"/>
            <a:ext cx="591559" cy="214579"/>
          </a:xfrm>
          <a:prstGeom prst="rect">
            <a:avLst/>
          </a:prstGeom>
          <a:noFill/>
          <a:ln/>
        </p:spPr>
        <p:txBody>
          <a:bodyPr wrap="square" lIns="0" tIns="0" rIns="0" bIns="0" rtlCol="0" anchor="ctr"/>
          <a:lstStyle/>
          <a:p>
            <a:pPr algn="l" indent="0" marL="0">
              <a:lnSpc>
                <a:spcPct val="116000"/>
              </a:lnSpc>
              <a:buNone/>
            </a:pPr>
            <a:r>
              <a:rPr lang="en-US" sz="1457" dirty="0">
                <a:solidFill>
                  <a:srgbClr val="1F2937"/>
                </a:solidFill>
                <a:latin typeface="Arial" pitchFamily="34" charset="0"/>
                <a:ea typeface="Arial" pitchFamily="34" charset="-122"/>
                <a:cs typeface="Arial" pitchFamily="34" charset="-120"/>
              </a:rPr>
              <a:t>Model</a:t>
            </a:r>
            <a:endParaRPr lang="en-US" sz="1457" dirty="0"/>
          </a:p>
        </p:txBody>
      </p:sp>
      <p:sp>
        <p:nvSpPr>
          <p:cNvPr id="42" name="Text 40"/>
          <p:cNvSpPr txBox="1"/>
          <p:nvPr/>
        </p:nvSpPr>
        <p:spPr>
          <a:xfrm>
            <a:off x="5408602" y="5932034"/>
            <a:ext cx="1203262" cy="214579"/>
          </a:xfrm>
          <a:prstGeom prst="rect">
            <a:avLst/>
          </a:prstGeom>
          <a:noFill/>
          <a:ln/>
        </p:spPr>
        <p:txBody>
          <a:bodyPr wrap="square" lIns="0" tIns="0" rIns="0" bIns="0" rtlCol="0" anchor="ctr"/>
          <a:lstStyle/>
          <a:p>
            <a:pPr algn="l" indent="0" marL="0">
              <a:lnSpc>
                <a:spcPct val="116000"/>
              </a:lnSpc>
              <a:buNone/>
            </a:pPr>
            <a:r>
              <a:rPr lang="en-US" sz="1457" dirty="0">
                <a:solidFill>
                  <a:srgbClr val="1F2937"/>
                </a:solidFill>
                <a:latin typeface="Arial" pitchFamily="34" charset="0"/>
                <a:ea typeface="Arial" pitchFamily="34" charset="-122"/>
                <a:cs typeface="Arial" pitchFamily="34" charset="-120"/>
              </a:rPr>
              <a:t>Loss / update</a:t>
            </a:r>
            <a:endParaRPr lang="en-US" sz="1457" dirty="0"/>
          </a:p>
        </p:txBody>
      </p:sp>
      <p:sp>
        <p:nvSpPr>
          <p:cNvPr id="43" name="Text 41"/>
          <p:cNvSpPr txBox="1"/>
          <p:nvPr/>
        </p:nvSpPr>
        <p:spPr>
          <a:xfrm>
            <a:off x="7486321" y="5932034"/>
            <a:ext cx="643252" cy="214579"/>
          </a:xfrm>
          <a:prstGeom prst="rect">
            <a:avLst/>
          </a:prstGeom>
          <a:noFill/>
          <a:ln/>
        </p:spPr>
        <p:txBody>
          <a:bodyPr wrap="square" lIns="0" tIns="0" rIns="0" bIns="0" rtlCol="0" anchor="ctr"/>
          <a:lstStyle/>
          <a:p>
            <a:pPr algn="l" indent="0" marL="0">
              <a:lnSpc>
                <a:spcPct val="116000"/>
              </a:lnSpc>
              <a:buNone/>
            </a:pPr>
            <a:r>
              <a:rPr lang="en-US" sz="1457" dirty="0">
                <a:solidFill>
                  <a:srgbClr val="1F2937"/>
                </a:solidFill>
                <a:latin typeface="Arial" pitchFamily="34" charset="0"/>
                <a:ea typeface="Arial" pitchFamily="34" charset="-122"/>
                <a:cs typeface="Arial" pitchFamily="34" charset="-120"/>
              </a:rPr>
              <a:t>Output</a:t>
            </a:r>
            <a:endParaRPr lang="en-US" sz="1457"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LoRA in equations</a:t>
            </a:r>
            <a:endParaRPr lang="en-US" sz="3200" dirty="0"/>
          </a:p>
        </p:txBody>
      </p:sp>
      <p:sp>
        <p:nvSpPr>
          <p:cNvPr id="6" name="Shape 4"/>
          <p:cNvSpPr/>
          <p:nvPr/>
        </p:nvSpPr>
        <p:spPr>
          <a:xfrm>
            <a:off x="548640" y="1481328"/>
            <a:ext cx="11094415" cy="1828800"/>
          </a:xfrm>
          <a:prstGeom prst="roundRect">
            <a:avLst>
              <a:gd name="adj" fmla="val 6000"/>
            </a:avLst>
          </a:prstGeom>
          <a:solidFill>
            <a:srgbClr val="EEF0FF"/>
          </a:solidFill>
          <a:ln w="12700">
            <a:solidFill>
              <a:srgbClr val="EEF0FF"/>
            </a:solidFill>
            <a:prstDash val="solid"/>
          </a:ln>
        </p:spPr>
      </p:sp>
      <p:pic>
        <p:nvPicPr>
          <p:cNvPr id="7" name="Image 0" descr="C:\Users\sudee\Downloads\Generative_AI_2027_Teaching_Pack\AI2027_Project\build\eq\e4ddbd577bc01b80.png">    </p:cNvPr>
          <p:cNvPicPr>
            <a:picLocks noChangeAspect="1"/>
          </p:cNvPicPr>
          <p:nvPr/>
        </p:nvPicPr>
        <p:blipFill>
          <a:blip r:embed="rId1"/>
          <a:stretch>
            <a:fillRect/>
          </a:stretch>
        </p:blipFill>
        <p:spPr>
          <a:xfrm>
            <a:off x="2491588" y="1794256"/>
            <a:ext cx="7208520" cy="582168"/>
          </a:xfrm>
          <a:prstGeom prst="rect">
            <a:avLst/>
          </a:prstGeom>
        </p:spPr>
      </p:pic>
      <p:pic>
        <p:nvPicPr>
          <p:cNvPr id="8" name="Image 1" descr="C:\Users\sudee\Downloads\Generative_AI_2027_Teaching_Pack\AI2027_Project\build\eq\6ee89461ecf7754c.png">    </p:cNvPr>
          <p:cNvPicPr>
            <a:picLocks noChangeAspect="1"/>
          </p:cNvPicPr>
          <p:nvPr/>
        </p:nvPicPr>
        <p:blipFill>
          <a:blip r:embed="rId2"/>
          <a:stretch>
            <a:fillRect/>
          </a:stretch>
        </p:blipFill>
        <p:spPr>
          <a:xfrm>
            <a:off x="4294480" y="2643632"/>
            <a:ext cx="3602736" cy="353568"/>
          </a:xfrm>
          <a:prstGeom prst="rect">
            <a:avLst/>
          </a:prstGeom>
        </p:spPr>
      </p:pic>
      <p:sp>
        <p:nvSpPr>
          <p:cNvPr id="9" name="Text 5"/>
          <p:cNvSpPr txBox="1"/>
          <p:nvPr/>
        </p:nvSpPr>
        <p:spPr>
          <a:xfrm>
            <a:off x="548640" y="353872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10" name="Text 6"/>
          <p:cNvSpPr txBox="1"/>
          <p:nvPr/>
        </p:nvSpPr>
        <p:spPr>
          <a:xfrm>
            <a:off x="548640" y="3922776"/>
            <a:ext cx="6035040" cy="235915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Keep W fixed; train A and B.</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4096 × 4096: W has 16,777,216 values.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Rank 16: A + B has 131,072 values.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Scale by α/r; compatible updates can merge.</a:t>
            </a:r>
            <a:endParaRPr lang="en-US" sz="2000" dirty="0"/>
          </a:p>
        </p:txBody>
      </p:sp>
      <p:sp>
        <p:nvSpPr>
          <p:cNvPr id="11" name="Text 7"/>
          <p:cNvSpPr txBox="1"/>
          <p:nvPr/>
        </p:nvSpPr>
        <p:spPr>
          <a:xfrm>
            <a:off x="6858000" y="353872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2" name="Text 8"/>
          <p:cNvSpPr txBox="1"/>
          <p:nvPr/>
        </p:nvSpPr>
        <p:spPr>
          <a:xfrm>
            <a:off x="6858000" y="395020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r</a:t>
            </a:r>
            <a:endParaRPr lang="en-US" sz="1700" dirty="0"/>
          </a:p>
        </p:txBody>
      </p:sp>
      <p:sp>
        <p:nvSpPr>
          <p:cNvPr id="13" name="Text 9"/>
          <p:cNvSpPr txBox="1"/>
          <p:nvPr/>
        </p:nvSpPr>
        <p:spPr>
          <a:xfrm>
            <a:off x="8046720" y="395020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small inner size (rank) of the added path</a:t>
            </a:r>
            <a:endParaRPr lang="en-US" sz="1600" dirty="0"/>
          </a:p>
        </p:txBody>
      </p:sp>
      <p:sp>
        <p:nvSpPr>
          <p:cNvPr id="14" name="Text 10"/>
          <p:cNvSpPr txBox="1"/>
          <p:nvPr/>
        </p:nvSpPr>
        <p:spPr>
          <a:xfrm>
            <a:off x="6858000" y="463600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α</a:t>
            </a:r>
            <a:endParaRPr lang="en-US" sz="1700" dirty="0"/>
          </a:p>
        </p:txBody>
      </p:sp>
      <p:sp>
        <p:nvSpPr>
          <p:cNvPr id="15" name="Text 11"/>
          <p:cNvSpPr txBox="1"/>
          <p:nvPr/>
        </p:nvSpPr>
        <p:spPr>
          <a:xfrm>
            <a:off x="8046720" y="463600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number scaling the correction</a:t>
            </a:r>
            <a:endParaRPr lang="en-US" sz="1600" dirty="0"/>
          </a:p>
        </p:txBody>
      </p:sp>
      <p:sp>
        <p:nvSpPr>
          <p:cNvPr id="16" name="Text 12"/>
          <p:cNvSpPr txBox="1"/>
          <p:nvPr/>
        </p:nvSpPr>
        <p:spPr>
          <a:xfrm>
            <a:off x="6858000" y="5321808"/>
            <a:ext cx="1143000" cy="685800"/>
          </a:xfrm>
          <a:prstGeom prst="rect">
            <a:avLst/>
          </a:prstGeom>
          <a:noFill/>
          <a:ln/>
        </p:spPr>
        <p:txBody>
          <a:bodyPr wrap="square" lIns="50800" tIns="50800" rIns="50800" bIns="50800" rtlCol="0" anchor="ctr"/>
          <a:lstStyle/>
          <a:p>
            <a:pPr indent="0" marL="0">
              <a:buNone/>
            </a:pPr>
            <a:r>
              <a:rPr lang="en-US" sz="1700" b="1" dirty="0">
                <a:solidFill>
                  <a:srgbClr val="1E1B4B"/>
                </a:solidFill>
                <a:latin typeface="Cambria Math" pitchFamily="34" charset="0"/>
                <a:ea typeface="Cambria Math" pitchFamily="34" charset="-122"/>
                <a:cs typeface="Cambria Math" pitchFamily="34" charset="-120"/>
              </a:rPr>
              <a:t>target modules</a:t>
            </a:r>
            <a:endParaRPr lang="en-US" sz="1700" dirty="0"/>
          </a:p>
        </p:txBody>
      </p:sp>
      <p:sp>
        <p:nvSpPr>
          <p:cNvPr id="17" name="Text 13"/>
          <p:cNvSpPr txBox="1"/>
          <p:nvPr/>
        </p:nvSpPr>
        <p:spPr>
          <a:xfrm>
            <a:off x="8046720" y="5321808"/>
            <a:ext cx="3596335" cy="685800"/>
          </a:xfrm>
          <a:prstGeom prst="rect">
            <a:avLst/>
          </a:prstGeom>
          <a:noFill/>
          <a:ln/>
        </p:spPr>
        <p:txBody>
          <a:bodyPr wrap="square" lIns="50800" tIns="50800" rIns="50800" bIns="50800" rtlCol="0" anchor="ctr"/>
          <a:lstStyle/>
          <a:p>
            <a:pPr indent="0" marL="0">
              <a:buNone/>
            </a:pPr>
            <a:r>
              <a:rPr lang="en-US" sz="1600" dirty="0">
                <a:solidFill>
                  <a:srgbClr val="1F2937"/>
                </a:solidFill>
                <a:latin typeface="Calibri" pitchFamily="34" charset="0"/>
                <a:ea typeface="Calibri" pitchFamily="34" charset="-122"/>
                <a:cs typeface="Calibri" pitchFamily="34" charset="-120"/>
              </a:rPr>
              <a:t>layers that receive a LoRA path, such as attention projections</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How many weights does LoRA train? (the lab model)</a:t>
            </a:r>
            <a:endParaRPr lang="en-US" sz="3200" dirty="0"/>
          </a:p>
        </p:txBody>
      </p:sp>
      <p:pic>
        <p:nvPicPr>
          <p:cNvPr id="6" name="Image 0" descr="C:\Users\sudee\Downloads\Generative_AI_2027_Teaching_Pack\AI2027_Project\build\figures\week_08\param_compare.png">    </p:cNvPr>
          <p:cNvPicPr>
            <a:picLocks noChangeAspect="1"/>
          </p:cNvPicPr>
          <p:nvPr/>
        </p:nvPicPr>
        <p:blipFill>
          <a:blip r:embed="rId1"/>
          <a:stretch>
            <a:fillRect/>
          </a:stretch>
        </p:blipFill>
        <p:spPr>
          <a:xfrm>
            <a:off x="1655825" y="1481328"/>
            <a:ext cx="8880046" cy="3367278"/>
          </a:xfrm>
          <a:prstGeom prst="rect">
            <a:avLst/>
          </a:prstGeom>
        </p:spPr>
      </p:pic>
      <p:sp>
        <p:nvSpPr>
          <p:cNvPr id="7" name="Text 4"/>
          <p:cNvSpPr txBox="1"/>
          <p:nvPr/>
        </p:nvSpPr>
        <p:spPr>
          <a:xfrm>
            <a:off x="548640" y="5031486"/>
            <a:ext cx="11094415" cy="127787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LoRA (r = 16, attention projections) trains 2,162,688 of 496,195,456 parameters (0.44%).</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Shown counts come from the recorded lab model.</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Compare trainable parameters; memory also includes fixed weights and activations.</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QLoRA: fine-tune on top of a 4-bit model</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Store frozen base weights in 4-bit form.</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Train higher-precision LoRA paths.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NF4; quantised scales; paged optimiser.</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Paper: 65 B on 48 GB. Measure your model, sequence and batch.</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Parameter-efficient methods compared</a:t>
            </a:r>
            <a:endParaRPr lang="en-US" sz="32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1972340"/>
                <a:gridCol w="3944681"/>
                <a:gridCol w="2958511"/>
                <a:gridCol w="2218883"/>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Method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What is trained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Example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Watch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LoRA</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Low-rank paths beside weights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Rank 16 on q, k, v, o</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Rank; which layers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QLoRA</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LoRA on a 4-bit base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7 B model on one T4</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Memory; speed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Adapters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Small bottleneck layers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One adapter per task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Extra latency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Prompt tuning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Vectors added to the input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20 learned input vectors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Task quality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Prefix tuning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Key/value prefixes in each layer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Prefixes at every layer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Task quality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Full fine-tuning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Every weight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All 494 M weights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Memory; forgetting</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Rough GPU memory to fine-tune a 7–8 B model</a:t>
            </a:r>
            <a:endParaRPr lang="en-US" sz="32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3558586"/>
                <a:gridCol w="1674629"/>
                <a:gridCol w="2511943"/>
                <a:gridCol w="3349257"/>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Approach</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Weights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Other state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Indicative total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Full, 16-bit Adam</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 15 GB</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 100–110 GB</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 120+ GB</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LoRA, 16-bit base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 15 GB</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&lt; 1 GB</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 18–24 GB</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QLoRA, 4-bit base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 4–5 GB</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&lt; 1 GB</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 7–12 GB</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
        <p:nvSpPr>
          <p:cNvPr id="7" name="Shape 4"/>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8" name="Text 5"/>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2000" b="1" dirty="0">
                <a:solidFill>
                  <a:srgbClr val="EA580C"/>
                </a:solidFill>
                <a:latin typeface="Calibri" pitchFamily="34" charset="0"/>
                <a:ea typeface="Calibri" pitchFamily="34" charset="-122"/>
                <a:cs typeface="Calibri" pitchFamily="34" charset="-120"/>
              </a:rPr>
              <a:t>Key idea:  </a:t>
            </a:r>
            <a:pPr indent="0" marL="0">
              <a:buNone/>
            </a:pPr>
            <a:r>
              <a:rPr lang="en-US" sz="2000" dirty="0">
                <a:solidFill>
                  <a:srgbClr val="1F2937"/>
                </a:solidFill>
                <a:latin typeface="Calibri" pitchFamily="34" charset="0"/>
                <a:ea typeface="Calibri" pitchFamily="34" charset="-122"/>
                <a:cs typeface="Calibri" pitchFamily="34" charset="-120"/>
              </a:rPr>
              <a:t>Illustrative only: activations, sequence, batch and implementation affect totals.</a:t>
            </a:r>
            <a:endParaRPr lang="en-US" sz="2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Knowledge distillation: big teacher, small student</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A smaller student imitates a larger teacher.</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Targets: probabilities or generated examples.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Test speed, quality and inherited errors.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Check data rights and provider terms.</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05</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Domain adaptation in practice</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 we fine-tune for a real domain and prove it worked?</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From examples to a saved adapter</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Training changes LoRA weights; validation helps choose when to stop</a:t>
            </a:r>
            <a:endParaRPr lang="en-US" sz="1800" dirty="0"/>
          </a:p>
        </p:txBody>
      </p:sp>
      <p:sp>
        <p:nvSpPr>
          <p:cNvPr id="7" name="Shape 5"/>
          <p:cNvSpPr/>
          <p:nvPr/>
        </p:nvSpPr>
        <p:spPr>
          <a:xfrm>
            <a:off x="2716115" y="3838927"/>
            <a:ext cx="244024" cy="0"/>
          </a:xfrm>
          <a:prstGeom prst="line">
            <a:avLst/>
          </a:prstGeom>
          <a:noFill/>
          <a:ln w="22860">
            <a:solidFill>
              <a:srgbClr val="009E73"/>
            </a:solidFill>
            <a:prstDash val="solid"/>
            <a:tailEnd type="triangle"/>
          </a:ln>
        </p:spPr>
      </p:sp>
      <p:sp>
        <p:nvSpPr>
          <p:cNvPr id="8" name="Text 6"/>
          <p:cNvSpPr txBox="1"/>
          <p:nvPr/>
        </p:nvSpPr>
        <p:spPr>
          <a:xfrm>
            <a:off x="2037423"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separate datasets</a:t>
            </a:r>
            <a:endParaRPr lang="en-US" sz="1441" dirty="0"/>
          </a:p>
        </p:txBody>
      </p:sp>
      <p:sp>
        <p:nvSpPr>
          <p:cNvPr id="9" name="Shape 7"/>
          <p:cNvSpPr/>
          <p:nvPr/>
        </p:nvSpPr>
        <p:spPr>
          <a:xfrm>
            <a:off x="4887929" y="3838927"/>
            <a:ext cx="244024" cy="0"/>
          </a:xfrm>
          <a:prstGeom prst="line">
            <a:avLst/>
          </a:prstGeom>
          <a:noFill/>
          <a:ln w="22860">
            <a:solidFill>
              <a:srgbClr val="009E73"/>
            </a:solidFill>
            <a:prstDash val="solid"/>
            <a:tailEnd type="triangle"/>
          </a:ln>
        </p:spPr>
      </p:sp>
      <p:sp>
        <p:nvSpPr>
          <p:cNvPr id="10" name="Text 8"/>
          <p:cNvSpPr txBox="1"/>
          <p:nvPr/>
        </p:nvSpPr>
        <p:spPr>
          <a:xfrm>
            <a:off x="4209237"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chat pairs</a:t>
            </a:r>
            <a:endParaRPr lang="en-US" sz="1441" dirty="0"/>
          </a:p>
        </p:txBody>
      </p:sp>
      <p:sp>
        <p:nvSpPr>
          <p:cNvPr id="11" name="Shape 9"/>
          <p:cNvSpPr/>
          <p:nvPr/>
        </p:nvSpPr>
        <p:spPr>
          <a:xfrm>
            <a:off x="7059743" y="3838927"/>
            <a:ext cx="244024" cy="0"/>
          </a:xfrm>
          <a:prstGeom prst="line">
            <a:avLst/>
          </a:prstGeom>
          <a:noFill/>
          <a:ln w="22860">
            <a:solidFill>
              <a:srgbClr val="009E73"/>
            </a:solidFill>
            <a:prstDash val="solid"/>
            <a:tailEnd type="triangle"/>
          </a:ln>
        </p:spPr>
      </p:sp>
      <p:sp>
        <p:nvSpPr>
          <p:cNvPr id="12" name="Text 10"/>
          <p:cNvSpPr txBox="1"/>
          <p:nvPr/>
        </p:nvSpPr>
        <p:spPr>
          <a:xfrm>
            <a:off x="6381051"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adapter + loss</a:t>
            </a:r>
            <a:endParaRPr lang="en-US" sz="1441" dirty="0"/>
          </a:p>
        </p:txBody>
      </p:sp>
      <p:sp>
        <p:nvSpPr>
          <p:cNvPr id="13" name="Text 11"/>
          <p:cNvSpPr txBox="1"/>
          <p:nvPr/>
        </p:nvSpPr>
        <p:spPr>
          <a:xfrm>
            <a:off x="6381051"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history</a:t>
            </a:r>
            <a:endParaRPr lang="en-US" sz="1441" dirty="0"/>
          </a:p>
        </p:txBody>
      </p:sp>
      <p:sp>
        <p:nvSpPr>
          <p:cNvPr id="14" name="Shape 12"/>
          <p:cNvSpPr/>
          <p:nvPr/>
        </p:nvSpPr>
        <p:spPr>
          <a:xfrm>
            <a:off x="9231556" y="3838927"/>
            <a:ext cx="244024" cy="0"/>
          </a:xfrm>
          <a:prstGeom prst="line">
            <a:avLst/>
          </a:prstGeom>
          <a:noFill/>
          <a:ln w="22860">
            <a:solidFill>
              <a:srgbClr val="009E73"/>
            </a:solidFill>
            <a:prstDash val="solid"/>
            <a:tailEnd type="triangle"/>
          </a:ln>
        </p:spPr>
      </p:sp>
      <p:sp>
        <p:nvSpPr>
          <p:cNvPr id="15" name="Text 13"/>
          <p:cNvSpPr txBox="1"/>
          <p:nvPr/>
        </p:nvSpPr>
        <p:spPr>
          <a:xfrm>
            <a:off x="8552865"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chosen checkpoint</a:t>
            </a:r>
            <a:endParaRPr lang="en-US" sz="1441" dirty="0"/>
          </a:p>
        </p:txBody>
      </p:sp>
      <p:sp>
        <p:nvSpPr>
          <p:cNvPr id="16" name="Shape 14"/>
          <p:cNvSpPr/>
          <p:nvPr/>
        </p:nvSpPr>
        <p:spPr>
          <a:xfrm>
            <a:off x="788325" y="2939089"/>
            <a:ext cx="1927790" cy="1799677"/>
          </a:xfrm>
          <a:prstGeom prst="roundRect">
            <a:avLst>
              <a:gd name="adj" fmla="val 4065"/>
            </a:avLst>
          </a:prstGeom>
          <a:solidFill>
            <a:srgbClr val="E4F2FB"/>
          </a:solidFill>
          <a:ln w="15240">
            <a:solidFill>
              <a:srgbClr val="0072B2"/>
            </a:solidFill>
            <a:prstDash val="solid"/>
          </a:ln>
        </p:spPr>
      </p:sp>
      <p:sp>
        <p:nvSpPr>
          <p:cNvPr id="17" name="Text 15"/>
          <p:cNvSpPr txBox="1"/>
          <p:nvPr/>
        </p:nvSpPr>
        <p:spPr>
          <a:xfrm>
            <a:off x="849331"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Split messages</a:t>
            </a:r>
            <a:endParaRPr lang="en-US" sz="1561" dirty="0"/>
          </a:p>
        </p:txBody>
      </p:sp>
      <p:sp>
        <p:nvSpPr>
          <p:cNvPr id="18" name="Text 16"/>
          <p:cNvSpPr txBox="1"/>
          <p:nvPr/>
        </p:nvSpPr>
        <p:spPr>
          <a:xfrm>
            <a:off x="849331"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Keep final tests out</a:t>
            </a:r>
            <a:endParaRPr lang="en-US" sz="1441" dirty="0"/>
          </a:p>
        </p:txBody>
      </p:sp>
      <p:sp>
        <p:nvSpPr>
          <p:cNvPr id="19" name="Text 17"/>
          <p:cNvSpPr txBox="1"/>
          <p:nvPr/>
        </p:nvSpPr>
        <p:spPr>
          <a:xfrm>
            <a:off x="849331"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of training</a:t>
            </a:r>
            <a:endParaRPr lang="en-US" sz="1441" dirty="0"/>
          </a:p>
        </p:txBody>
      </p:sp>
      <p:sp>
        <p:nvSpPr>
          <p:cNvPr id="20" name="Text 18"/>
          <p:cNvSpPr txBox="1"/>
          <p:nvPr/>
        </p:nvSpPr>
        <p:spPr>
          <a:xfrm>
            <a:off x="811202"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train_ds</a:t>
            </a:r>
            <a:endParaRPr lang="en-US" sz="1441" dirty="0"/>
          </a:p>
        </p:txBody>
      </p:sp>
      <p:sp>
        <p:nvSpPr>
          <p:cNvPr id="21" name="Shape 19"/>
          <p:cNvSpPr/>
          <p:nvPr/>
        </p:nvSpPr>
        <p:spPr>
          <a:xfrm>
            <a:off x="2960139" y="2939089"/>
            <a:ext cx="1927790" cy="1799677"/>
          </a:xfrm>
          <a:prstGeom prst="roundRect">
            <a:avLst>
              <a:gd name="adj" fmla="val 4065"/>
            </a:avLst>
          </a:prstGeom>
          <a:solidFill>
            <a:srgbClr val="E4F2FB"/>
          </a:solidFill>
          <a:ln w="15240">
            <a:solidFill>
              <a:srgbClr val="0072B2"/>
            </a:solidFill>
            <a:prstDash val="solid"/>
          </a:ln>
        </p:spPr>
      </p:sp>
      <p:sp>
        <p:nvSpPr>
          <p:cNvPr id="22" name="Text 20"/>
          <p:cNvSpPr txBox="1"/>
          <p:nvPr/>
        </p:nvSpPr>
        <p:spPr>
          <a:xfrm>
            <a:off x="3021145"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Format pairs</a:t>
            </a:r>
            <a:endParaRPr lang="en-US" sz="1561" dirty="0"/>
          </a:p>
        </p:txBody>
      </p:sp>
      <p:sp>
        <p:nvSpPr>
          <p:cNvPr id="23" name="Text 21"/>
          <p:cNvSpPr txBox="1"/>
          <p:nvPr/>
        </p:nvSpPr>
        <p:spPr>
          <a:xfrm>
            <a:off x="3021145"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Prompt and known</a:t>
            </a:r>
            <a:endParaRPr lang="en-US" sz="1441" dirty="0"/>
          </a:p>
        </p:txBody>
      </p:sp>
      <p:sp>
        <p:nvSpPr>
          <p:cNvPr id="24" name="Text 22"/>
          <p:cNvSpPr txBox="1"/>
          <p:nvPr/>
        </p:nvSpPr>
        <p:spPr>
          <a:xfrm>
            <a:off x="3021145"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intent label</a:t>
            </a:r>
            <a:endParaRPr lang="en-US" sz="1441" dirty="0"/>
          </a:p>
        </p:txBody>
      </p:sp>
      <p:sp>
        <p:nvSpPr>
          <p:cNvPr id="25" name="Text 23"/>
          <p:cNvSpPr txBox="1"/>
          <p:nvPr/>
        </p:nvSpPr>
        <p:spPr>
          <a:xfrm>
            <a:off x="2983016"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to_chat</a:t>
            </a:r>
            <a:endParaRPr lang="en-US" sz="1441" dirty="0"/>
          </a:p>
        </p:txBody>
      </p:sp>
      <p:sp>
        <p:nvSpPr>
          <p:cNvPr id="26" name="Shape 24"/>
          <p:cNvSpPr/>
          <p:nvPr/>
        </p:nvSpPr>
        <p:spPr>
          <a:xfrm>
            <a:off x="5131953" y="2939089"/>
            <a:ext cx="1927790" cy="1799677"/>
          </a:xfrm>
          <a:prstGeom prst="rect">
            <a:avLst/>
          </a:prstGeom>
          <a:solidFill>
            <a:srgbClr val="E5F7EF"/>
          </a:solidFill>
          <a:ln w="15240">
            <a:solidFill>
              <a:srgbClr val="009E73"/>
            </a:solidFill>
            <a:prstDash val="solid"/>
          </a:ln>
        </p:spPr>
      </p:sp>
      <p:sp>
        <p:nvSpPr>
          <p:cNvPr id="27" name="Text 25"/>
          <p:cNvSpPr txBox="1"/>
          <p:nvPr/>
        </p:nvSpPr>
        <p:spPr>
          <a:xfrm>
            <a:off x="5192959"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Train LoRA paths</a:t>
            </a:r>
            <a:endParaRPr lang="en-US" sz="1561" dirty="0"/>
          </a:p>
        </p:txBody>
      </p:sp>
      <p:sp>
        <p:nvSpPr>
          <p:cNvPr id="28" name="Text 26"/>
          <p:cNvSpPr txBox="1"/>
          <p:nvPr/>
        </p:nvSpPr>
        <p:spPr>
          <a:xfrm>
            <a:off x="5192959"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Update adapters;</a:t>
            </a:r>
            <a:endParaRPr lang="en-US" sz="1441" dirty="0"/>
          </a:p>
        </p:txBody>
      </p:sp>
      <p:sp>
        <p:nvSpPr>
          <p:cNvPr id="29" name="Text 27"/>
          <p:cNvSpPr txBox="1"/>
          <p:nvPr/>
        </p:nvSpPr>
        <p:spPr>
          <a:xfrm>
            <a:off x="5192959"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freeze base</a:t>
            </a:r>
            <a:endParaRPr lang="en-US" sz="1441" dirty="0"/>
          </a:p>
        </p:txBody>
      </p:sp>
      <p:sp>
        <p:nvSpPr>
          <p:cNvPr id="30" name="Text 28"/>
          <p:cNvSpPr txBox="1"/>
          <p:nvPr/>
        </p:nvSpPr>
        <p:spPr>
          <a:xfrm>
            <a:off x="5154830"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trainer.train</a:t>
            </a:r>
            <a:endParaRPr lang="en-US" sz="1441" dirty="0"/>
          </a:p>
        </p:txBody>
      </p:sp>
      <p:sp>
        <p:nvSpPr>
          <p:cNvPr id="31" name="Shape 29"/>
          <p:cNvSpPr/>
          <p:nvPr/>
        </p:nvSpPr>
        <p:spPr>
          <a:xfrm>
            <a:off x="7303767" y="2939089"/>
            <a:ext cx="1927790" cy="1799677"/>
          </a:xfrm>
          <a:prstGeom prst="roundRect">
            <a:avLst>
              <a:gd name="adj" fmla="val 4065"/>
            </a:avLst>
          </a:prstGeom>
          <a:solidFill>
            <a:srgbClr val="FFF0E6"/>
          </a:solidFill>
          <a:ln w="15240">
            <a:solidFill>
              <a:srgbClr val="D55E00"/>
            </a:solidFill>
            <a:prstDash val="solid"/>
          </a:ln>
        </p:spPr>
      </p:sp>
      <p:sp>
        <p:nvSpPr>
          <p:cNvPr id="32" name="Text 30"/>
          <p:cNvSpPr txBox="1"/>
          <p:nvPr/>
        </p:nvSpPr>
        <p:spPr>
          <a:xfrm>
            <a:off x="7364773"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Check validation</a:t>
            </a:r>
            <a:endParaRPr lang="en-US" sz="1561" dirty="0"/>
          </a:p>
        </p:txBody>
      </p:sp>
      <p:sp>
        <p:nvSpPr>
          <p:cNvPr id="33" name="Text 31"/>
          <p:cNvSpPr txBox="1"/>
          <p:nvPr/>
        </p:nvSpPr>
        <p:spPr>
          <a:xfrm>
            <a:off x="7364773"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Inspect unused</a:t>
            </a:r>
            <a:endParaRPr lang="en-US" sz="1441" dirty="0"/>
          </a:p>
        </p:txBody>
      </p:sp>
      <p:sp>
        <p:nvSpPr>
          <p:cNvPr id="34" name="Text 32"/>
          <p:cNvSpPr txBox="1"/>
          <p:nvPr/>
        </p:nvSpPr>
        <p:spPr>
          <a:xfrm>
            <a:off x="7364773"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training examples</a:t>
            </a:r>
            <a:endParaRPr lang="en-US" sz="1441" dirty="0"/>
          </a:p>
        </p:txBody>
      </p:sp>
      <p:sp>
        <p:nvSpPr>
          <p:cNvPr id="35" name="Text 33"/>
          <p:cNvSpPr txBox="1"/>
          <p:nvPr/>
        </p:nvSpPr>
        <p:spPr>
          <a:xfrm>
            <a:off x="7326644"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hist</a:t>
            </a:r>
            <a:endParaRPr lang="en-US" sz="1441" dirty="0"/>
          </a:p>
        </p:txBody>
      </p:sp>
      <p:sp>
        <p:nvSpPr>
          <p:cNvPr id="36" name="Shape 34"/>
          <p:cNvSpPr/>
          <p:nvPr/>
        </p:nvSpPr>
        <p:spPr>
          <a:xfrm>
            <a:off x="9475580" y="2939089"/>
            <a:ext cx="1927790" cy="1799677"/>
          </a:xfrm>
          <a:prstGeom prst="roundRect">
            <a:avLst>
              <a:gd name="adj" fmla="val 4065"/>
            </a:avLst>
          </a:prstGeom>
          <a:solidFill>
            <a:srgbClr val="F9EAF4"/>
          </a:solidFill>
          <a:ln w="15240">
            <a:solidFill>
              <a:srgbClr val="CC79A7"/>
            </a:solidFill>
            <a:prstDash val="solid"/>
          </a:ln>
        </p:spPr>
      </p:sp>
      <p:sp>
        <p:nvSpPr>
          <p:cNvPr id="37" name="Text 35"/>
          <p:cNvSpPr txBox="1"/>
          <p:nvPr/>
        </p:nvSpPr>
        <p:spPr>
          <a:xfrm>
            <a:off x="9536586"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Save adapter</a:t>
            </a:r>
            <a:endParaRPr lang="en-US" sz="1561" dirty="0"/>
          </a:p>
        </p:txBody>
      </p:sp>
      <p:sp>
        <p:nvSpPr>
          <p:cNvPr id="38" name="Text 36"/>
          <p:cNvSpPr txBox="1"/>
          <p:nvPr/>
        </p:nvSpPr>
        <p:spPr>
          <a:xfrm>
            <a:off x="9536586"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Corrections and</a:t>
            </a:r>
            <a:endParaRPr lang="en-US" sz="1441" dirty="0"/>
          </a:p>
        </p:txBody>
      </p:sp>
      <p:sp>
        <p:nvSpPr>
          <p:cNvPr id="39" name="Text 37"/>
          <p:cNvSpPr txBox="1"/>
          <p:nvPr/>
        </p:nvSpPr>
        <p:spPr>
          <a:xfrm>
            <a:off x="9536586"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configuration</a:t>
            </a:r>
            <a:endParaRPr lang="en-US" sz="1441" dirty="0"/>
          </a:p>
        </p:txBody>
      </p:sp>
      <p:sp>
        <p:nvSpPr>
          <p:cNvPr id="40" name="Text 38"/>
          <p:cNvSpPr txBox="1"/>
          <p:nvPr/>
        </p:nvSpPr>
        <p:spPr>
          <a:xfrm>
            <a:off x="9498458"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adapter_mb</a:t>
            </a:r>
            <a:endParaRPr lang="en-US" sz="1441" dirty="0"/>
          </a:p>
        </p:txBody>
      </p:sp>
      <p:sp>
        <p:nvSpPr>
          <p:cNvPr id="41" name="Shape 39"/>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42" name="Text 40"/>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43" name="Shape 41"/>
          <p:cNvSpPr/>
          <p:nvPr/>
        </p:nvSpPr>
        <p:spPr>
          <a:xfrm>
            <a:off x="2118929" y="5630979"/>
            <a:ext cx="198270" cy="198270"/>
          </a:xfrm>
          <a:prstGeom prst="rect">
            <a:avLst/>
          </a:prstGeom>
          <a:solidFill>
            <a:srgbClr val="E5F7EF"/>
          </a:solidFill>
          <a:ln w="15240">
            <a:solidFill>
              <a:srgbClr val="009E73"/>
            </a:solidFill>
            <a:prstDash val="solid"/>
          </a:ln>
        </p:spPr>
      </p:sp>
      <p:sp>
        <p:nvSpPr>
          <p:cNvPr id="44" name="Text 42"/>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45" name="Shape 43"/>
          <p:cNvSpPr/>
          <p:nvPr/>
        </p:nvSpPr>
        <p:spPr>
          <a:xfrm>
            <a:off x="3122778" y="5630979"/>
            <a:ext cx="198270" cy="198270"/>
          </a:xfrm>
          <a:prstGeom prst="roundRect">
            <a:avLst>
              <a:gd name="adj" fmla="val 36895"/>
            </a:avLst>
          </a:prstGeom>
          <a:solidFill>
            <a:srgbClr val="FFF0E6"/>
          </a:solidFill>
          <a:ln w="15240">
            <a:solidFill>
              <a:srgbClr val="D55E00"/>
            </a:solidFill>
            <a:prstDash val="solid"/>
          </a:ln>
        </p:spPr>
      </p:sp>
      <p:sp>
        <p:nvSpPr>
          <p:cNvPr id="46" name="Text 44"/>
          <p:cNvSpPr txBox="1"/>
          <p:nvPr/>
        </p:nvSpPr>
        <p:spPr>
          <a:xfrm>
            <a:off x="3382054"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47" name="Shape 45"/>
          <p:cNvSpPr/>
          <p:nvPr/>
        </p:nvSpPr>
        <p:spPr>
          <a:xfrm>
            <a:off x="4748126" y="5630979"/>
            <a:ext cx="198270" cy="198270"/>
          </a:xfrm>
          <a:prstGeom prst="roundRect">
            <a:avLst>
              <a:gd name="adj" fmla="val 36895"/>
            </a:avLst>
          </a:prstGeom>
          <a:solidFill>
            <a:srgbClr val="F9EAF4"/>
          </a:solidFill>
          <a:ln w="15240">
            <a:solidFill>
              <a:srgbClr val="CC79A7"/>
            </a:solidFill>
            <a:prstDash val="solid"/>
          </a:ln>
        </p:spPr>
      </p:sp>
      <p:sp>
        <p:nvSpPr>
          <p:cNvPr id="48" name="Text 46"/>
          <p:cNvSpPr txBox="1"/>
          <p:nvPr/>
        </p:nvSpPr>
        <p:spPr>
          <a:xfrm>
            <a:off x="5007401"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49" name="Shape 47"/>
          <p:cNvSpPr/>
          <p:nvPr/>
        </p:nvSpPr>
        <p:spPr>
          <a:xfrm>
            <a:off x="5804824" y="5730113"/>
            <a:ext cx="335533" cy="0"/>
          </a:xfrm>
          <a:prstGeom prst="line">
            <a:avLst/>
          </a:prstGeom>
          <a:noFill/>
          <a:ln w="22860">
            <a:solidFill>
              <a:srgbClr val="009E73"/>
            </a:solidFill>
            <a:prstDash val="solid"/>
            <a:tailEnd type="triangle"/>
          </a:ln>
        </p:spPr>
      </p:sp>
      <p:sp>
        <p:nvSpPr>
          <p:cNvPr id="50" name="Text 48"/>
          <p:cNvSpPr txBox="1"/>
          <p:nvPr/>
        </p:nvSpPr>
        <p:spPr>
          <a:xfrm>
            <a:off x="6201363"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51" name="Text 49"/>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Does a small adapter file contain the whole model?</a:t>
            </a:r>
            <a:endParaRPr lang="en-US" sz="1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domain fine-tuning workflow</a:t>
            </a:r>
            <a:endParaRPr lang="en-US" sz="3200" dirty="0"/>
          </a:p>
        </p:txBody>
      </p:sp>
      <p:sp>
        <p:nvSpPr>
          <p:cNvPr id="6" name="Shape 4"/>
          <p:cNvSpPr/>
          <p:nvPr/>
        </p:nvSpPr>
        <p:spPr>
          <a:xfrm>
            <a:off x="548640" y="1618488"/>
            <a:ext cx="1889699" cy="3108960"/>
          </a:xfrm>
          <a:prstGeom prst="roundRect">
            <a:avLst>
              <a:gd name="adj" fmla="val 5807"/>
            </a:avLst>
          </a:prstGeom>
          <a:solidFill>
            <a:srgbClr val="EEF0FF"/>
          </a:solidFill>
          <a:ln w="15875">
            <a:solidFill>
              <a:srgbClr val="4F46E5"/>
            </a:solidFill>
            <a:prstDash val="solid"/>
          </a:ln>
        </p:spPr>
      </p:sp>
      <p:sp>
        <p:nvSpPr>
          <p:cNvPr id="7" name="Shape 5"/>
          <p:cNvSpPr/>
          <p:nvPr/>
        </p:nvSpPr>
        <p:spPr>
          <a:xfrm>
            <a:off x="1292322" y="1746504"/>
            <a:ext cx="402336" cy="402336"/>
          </a:xfrm>
          <a:prstGeom prst="ellipse">
            <a:avLst/>
          </a:prstGeom>
          <a:solidFill>
            <a:srgbClr val="4F46E5"/>
          </a:solidFill>
          <a:ln w="12700">
            <a:solidFill>
              <a:srgbClr val="4F46E5"/>
            </a:solidFill>
            <a:prstDash val="solid"/>
          </a:ln>
        </p:spPr>
      </p:sp>
      <p:sp>
        <p:nvSpPr>
          <p:cNvPr id="8" name="Text 6"/>
          <p:cNvSpPr txBox="1"/>
          <p:nvPr/>
        </p:nvSpPr>
        <p:spPr>
          <a:xfrm>
            <a:off x="1292322"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txBox="1"/>
          <p:nvPr/>
        </p:nvSpPr>
        <p:spPr>
          <a:xfrm>
            <a:off x="621792"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Define task &amp; metric</a:t>
            </a:r>
            <a:endParaRPr lang="en-US" sz="1900" dirty="0"/>
          </a:p>
        </p:txBody>
      </p:sp>
      <p:sp>
        <p:nvSpPr>
          <p:cNvPr id="10" name="Text 8"/>
          <p:cNvSpPr txBox="1"/>
          <p:nvPr/>
        </p:nvSpPr>
        <p:spPr>
          <a:xfrm>
            <a:off x="640080"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Task; metric; final test</a:t>
            </a:r>
            <a:endParaRPr lang="en-US" sz="2000" dirty="0"/>
          </a:p>
        </p:txBody>
      </p:sp>
      <p:sp>
        <p:nvSpPr>
          <p:cNvPr id="11" name="Shape 9"/>
          <p:cNvSpPr/>
          <p:nvPr/>
        </p:nvSpPr>
        <p:spPr>
          <a:xfrm>
            <a:off x="2502347" y="3026664"/>
            <a:ext cx="283464" cy="292608"/>
          </a:xfrm>
          <a:prstGeom prst="rightArrow">
            <a:avLst/>
          </a:prstGeom>
          <a:solidFill>
            <a:srgbClr val="6B7280"/>
          </a:solidFill>
          <a:ln w="12700">
            <a:solidFill>
              <a:srgbClr val="6B7280"/>
            </a:solidFill>
            <a:prstDash val="solid"/>
          </a:ln>
        </p:spPr>
      </p:sp>
      <p:sp>
        <p:nvSpPr>
          <p:cNvPr id="12" name="Shape 10"/>
          <p:cNvSpPr/>
          <p:nvPr/>
        </p:nvSpPr>
        <p:spPr>
          <a:xfrm>
            <a:off x="2849819" y="1618488"/>
            <a:ext cx="1889699" cy="3108960"/>
          </a:xfrm>
          <a:prstGeom prst="roundRect">
            <a:avLst>
              <a:gd name="adj" fmla="val 5807"/>
            </a:avLst>
          </a:prstGeom>
          <a:solidFill>
            <a:srgbClr val="EEF0FF"/>
          </a:solidFill>
          <a:ln w="15875">
            <a:solidFill>
              <a:srgbClr val="4F46E5"/>
            </a:solidFill>
            <a:prstDash val="solid"/>
          </a:ln>
        </p:spPr>
      </p:sp>
      <p:sp>
        <p:nvSpPr>
          <p:cNvPr id="13" name="Shape 11"/>
          <p:cNvSpPr/>
          <p:nvPr/>
        </p:nvSpPr>
        <p:spPr>
          <a:xfrm>
            <a:off x="3593501" y="1746504"/>
            <a:ext cx="402336" cy="402336"/>
          </a:xfrm>
          <a:prstGeom prst="ellipse">
            <a:avLst/>
          </a:prstGeom>
          <a:solidFill>
            <a:srgbClr val="4F46E5"/>
          </a:solidFill>
          <a:ln w="12700">
            <a:solidFill>
              <a:srgbClr val="4F46E5"/>
            </a:solidFill>
            <a:prstDash val="solid"/>
          </a:ln>
        </p:spPr>
      </p:sp>
      <p:sp>
        <p:nvSpPr>
          <p:cNvPr id="14" name="Text 12"/>
          <p:cNvSpPr txBox="1"/>
          <p:nvPr/>
        </p:nvSpPr>
        <p:spPr>
          <a:xfrm>
            <a:off x="3593501"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2922971"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Prepare data</a:t>
            </a:r>
            <a:endParaRPr lang="en-US" sz="1900" dirty="0"/>
          </a:p>
        </p:txBody>
      </p:sp>
      <p:sp>
        <p:nvSpPr>
          <p:cNvPr id="16" name="Text 14"/>
          <p:cNvSpPr txBox="1"/>
          <p:nvPr/>
        </p:nvSpPr>
        <p:spPr>
          <a:xfrm>
            <a:off x="2941259"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Clean; split; template</a:t>
            </a:r>
            <a:endParaRPr lang="en-US" sz="2000" dirty="0"/>
          </a:p>
        </p:txBody>
      </p:sp>
      <p:sp>
        <p:nvSpPr>
          <p:cNvPr id="17" name="Shape 15"/>
          <p:cNvSpPr/>
          <p:nvPr/>
        </p:nvSpPr>
        <p:spPr>
          <a:xfrm>
            <a:off x="4803526" y="3026664"/>
            <a:ext cx="283464" cy="292608"/>
          </a:xfrm>
          <a:prstGeom prst="rightArrow">
            <a:avLst/>
          </a:prstGeom>
          <a:solidFill>
            <a:srgbClr val="6B7280"/>
          </a:solidFill>
          <a:ln w="12700">
            <a:solidFill>
              <a:srgbClr val="6B7280"/>
            </a:solidFill>
            <a:prstDash val="solid"/>
          </a:ln>
        </p:spPr>
      </p:sp>
      <p:sp>
        <p:nvSpPr>
          <p:cNvPr id="18" name="Shape 16"/>
          <p:cNvSpPr/>
          <p:nvPr/>
        </p:nvSpPr>
        <p:spPr>
          <a:xfrm>
            <a:off x="5150998" y="1618488"/>
            <a:ext cx="1889699" cy="3108960"/>
          </a:xfrm>
          <a:prstGeom prst="roundRect">
            <a:avLst>
              <a:gd name="adj" fmla="val 5807"/>
            </a:avLst>
          </a:prstGeom>
          <a:solidFill>
            <a:srgbClr val="EEF0FF"/>
          </a:solidFill>
          <a:ln w="15875">
            <a:solidFill>
              <a:srgbClr val="4F46E5"/>
            </a:solidFill>
            <a:prstDash val="solid"/>
          </a:ln>
        </p:spPr>
      </p:sp>
      <p:sp>
        <p:nvSpPr>
          <p:cNvPr id="19" name="Shape 17"/>
          <p:cNvSpPr/>
          <p:nvPr/>
        </p:nvSpPr>
        <p:spPr>
          <a:xfrm>
            <a:off x="5894680" y="1746504"/>
            <a:ext cx="402336" cy="402336"/>
          </a:xfrm>
          <a:prstGeom prst="ellipse">
            <a:avLst/>
          </a:prstGeom>
          <a:solidFill>
            <a:srgbClr val="4F46E5"/>
          </a:solidFill>
          <a:ln w="12700">
            <a:solidFill>
              <a:srgbClr val="4F46E5"/>
            </a:solidFill>
            <a:prstDash val="solid"/>
          </a:ln>
        </p:spPr>
      </p:sp>
      <p:sp>
        <p:nvSpPr>
          <p:cNvPr id="20" name="Text 18"/>
          <p:cNvSpPr txBox="1"/>
          <p:nvPr/>
        </p:nvSpPr>
        <p:spPr>
          <a:xfrm>
            <a:off x="5894680"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1" name="Text 19"/>
          <p:cNvSpPr txBox="1"/>
          <p:nvPr/>
        </p:nvSpPr>
        <p:spPr>
          <a:xfrm>
            <a:off x="5224150"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Baseline</a:t>
            </a:r>
            <a:endParaRPr lang="en-US" sz="1900" dirty="0"/>
          </a:p>
        </p:txBody>
      </p:sp>
      <p:sp>
        <p:nvSpPr>
          <p:cNvPr id="22" name="Text 20"/>
          <p:cNvSpPr txBox="1"/>
          <p:nvPr/>
        </p:nvSpPr>
        <p:spPr>
          <a:xfrm>
            <a:off x="5242438"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Best prompting result</a:t>
            </a:r>
            <a:endParaRPr lang="en-US" sz="2000" dirty="0"/>
          </a:p>
        </p:txBody>
      </p:sp>
      <p:sp>
        <p:nvSpPr>
          <p:cNvPr id="23" name="Shape 21"/>
          <p:cNvSpPr/>
          <p:nvPr/>
        </p:nvSpPr>
        <p:spPr>
          <a:xfrm>
            <a:off x="7104705" y="3026664"/>
            <a:ext cx="283464" cy="292608"/>
          </a:xfrm>
          <a:prstGeom prst="rightArrow">
            <a:avLst/>
          </a:prstGeom>
          <a:solidFill>
            <a:srgbClr val="6B7280"/>
          </a:solidFill>
          <a:ln w="12700">
            <a:solidFill>
              <a:srgbClr val="6B7280"/>
            </a:solidFill>
            <a:prstDash val="solid"/>
          </a:ln>
        </p:spPr>
      </p:sp>
      <p:sp>
        <p:nvSpPr>
          <p:cNvPr id="24" name="Shape 22"/>
          <p:cNvSpPr/>
          <p:nvPr/>
        </p:nvSpPr>
        <p:spPr>
          <a:xfrm>
            <a:off x="7452177" y="1618488"/>
            <a:ext cx="1889699" cy="3108960"/>
          </a:xfrm>
          <a:prstGeom prst="roundRect">
            <a:avLst>
              <a:gd name="adj" fmla="val 5807"/>
            </a:avLst>
          </a:prstGeom>
          <a:solidFill>
            <a:srgbClr val="FFF1E6"/>
          </a:solidFill>
          <a:ln w="15875">
            <a:solidFill>
              <a:srgbClr val="EA580C"/>
            </a:solidFill>
            <a:prstDash val="solid"/>
          </a:ln>
        </p:spPr>
      </p:sp>
      <p:sp>
        <p:nvSpPr>
          <p:cNvPr id="25" name="Shape 23"/>
          <p:cNvSpPr/>
          <p:nvPr/>
        </p:nvSpPr>
        <p:spPr>
          <a:xfrm>
            <a:off x="8195859" y="1746504"/>
            <a:ext cx="402336" cy="402336"/>
          </a:xfrm>
          <a:prstGeom prst="ellipse">
            <a:avLst/>
          </a:prstGeom>
          <a:solidFill>
            <a:srgbClr val="EA580C"/>
          </a:solidFill>
          <a:ln w="12700">
            <a:solidFill>
              <a:srgbClr val="EA580C"/>
            </a:solidFill>
            <a:prstDash val="solid"/>
          </a:ln>
        </p:spPr>
      </p:sp>
      <p:sp>
        <p:nvSpPr>
          <p:cNvPr id="26" name="Text 24"/>
          <p:cNvSpPr txBox="1"/>
          <p:nvPr/>
        </p:nvSpPr>
        <p:spPr>
          <a:xfrm>
            <a:off x="8195859"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7" name="Text 25"/>
          <p:cNvSpPr txBox="1"/>
          <p:nvPr/>
        </p:nvSpPr>
        <p:spPr>
          <a:xfrm>
            <a:off x="7525329"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LoRA SFT</a:t>
            </a:r>
            <a:endParaRPr lang="en-US" sz="1900" dirty="0"/>
          </a:p>
        </p:txBody>
      </p:sp>
      <p:sp>
        <p:nvSpPr>
          <p:cNvPr id="28" name="Text 26"/>
          <p:cNvSpPr txBox="1"/>
          <p:nvPr/>
        </p:nvSpPr>
        <p:spPr>
          <a:xfrm>
            <a:off x="7543617"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Small steps; validate</a:t>
            </a:r>
            <a:endParaRPr lang="en-US" sz="2000" dirty="0"/>
          </a:p>
        </p:txBody>
      </p:sp>
      <p:sp>
        <p:nvSpPr>
          <p:cNvPr id="29" name="Shape 27"/>
          <p:cNvSpPr/>
          <p:nvPr/>
        </p:nvSpPr>
        <p:spPr>
          <a:xfrm>
            <a:off x="9405884" y="3026664"/>
            <a:ext cx="283464" cy="292608"/>
          </a:xfrm>
          <a:prstGeom prst="rightArrow">
            <a:avLst/>
          </a:prstGeom>
          <a:solidFill>
            <a:srgbClr val="6B7280"/>
          </a:solidFill>
          <a:ln w="12700">
            <a:solidFill>
              <a:srgbClr val="6B7280"/>
            </a:solidFill>
            <a:prstDash val="solid"/>
          </a:ln>
        </p:spPr>
      </p:sp>
      <p:sp>
        <p:nvSpPr>
          <p:cNvPr id="30" name="Shape 28"/>
          <p:cNvSpPr/>
          <p:nvPr/>
        </p:nvSpPr>
        <p:spPr>
          <a:xfrm>
            <a:off x="9753356" y="1618488"/>
            <a:ext cx="1889699" cy="3108960"/>
          </a:xfrm>
          <a:prstGeom prst="roundRect">
            <a:avLst>
              <a:gd name="adj" fmla="val 5807"/>
            </a:avLst>
          </a:prstGeom>
          <a:solidFill>
            <a:srgbClr val="EEF0FF"/>
          </a:solidFill>
          <a:ln w="15875">
            <a:solidFill>
              <a:srgbClr val="4F46E5"/>
            </a:solidFill>
            <a:prstDash val="solid"/>
          </a:ln>
        </p:spPr>
      </p:sp>
      <p:sp>
        <p:nvSpPr>
          <p:cNvPr id="31" name="Shape 29"/>
          <p:cNvSpPr/>
          <p:nvPr/>
        </p:nvSpPr>
        <p:spPr>
          <a:xfrm>
            <a:off x="10497038" y="1746504"/>
            <a:ext cx="402336" cy="402336"/>
          </a:xfrm>
          <a:prstGeom prst="ellipse">
            <a:avLst/>
          </a:prstGeom>
          <a:solidFill>
            <a:srgbClr val="4F46E5"/>
          </a:solidFill>
          <a:ln w="12700">
            <a:solidFill>
              <a:srgbClr val="4F46E5"/>
            </a:solidFill>
            <a:prstDash val="solid"/>
          </a:ln>
        </p:spPr>
      </p:sp>
      <p:sp>
        <p:nvSpPr>
          <p:cNvPr id="32" name="Text 30"/>
          <p:cNvSpPr txBox="1"/>
          <p:nvPr/>
        </p:nvSpPr>
        <p:spPr>
          <a:xfrm>
            <a:off x="10497038" y="174650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33" name="Text 31"/>
          <p:cNvSpPr txBox="1"/>
          <p:nvPr/>
        </p:nvSpPr>
        <p:spPr>
          <a:xfrm>
            <a:off x="9826508" y="2185416"/>
            <a:ext cx="1743395" cy="777240"/>
          </a:xfrm>
          <a:prstGeom prst="rect">
            <a:avLst/>
          </a:prstGeom>
          <a:noFill/>
          <a:ln/>
        </p:spPr>
        <p:txBody>
          <a:bodyPr wrap="square" lIns="50800" tIns="50800" rIns="50800" bIns="5080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Evaluate &amp; decide</a:t>
            </a:r>
            <a:endParaRPr lang="en-US" sz="1900" dirty="0"/>
          </a:p>
        </p:txBody>
      </p:sp>
      <p:sp>
        <p:nvSpPr>
          <p:cNvPr id="34" name="Text 32"/>
          <p:cNvSpPr txBox="1"/>
          <p:nvPr/>
        </p:nvSpPr>
        <p:spPr>
          <a:xfrm>
            <a:off x="9844796" y="2990088"/>
            <a:ext cx="1706819" cy="1691640"/>
          </a:xfrm>
          <a:prstGeom prst="rect">
            <a:avLst/>
          </a:prstGeom>
          <a:noFill/>
          <a:ln/>
        </p:spPr>
        <p:txBody>
          <a:bodyPr wrap="square" lIns="50800" tIns="50800" rIns="50800" bIns="50800" rtlCol="0" anchor="t"/>
          <a:lstStyle/>
          <a:p>
            <a:pPr algn="ctr" indent="0" marL="0">
              <a:buNone/>
            </a:pPr>
            <a:r>
              <a:rPr lang="en-US" sz="2000" dirty="0">
                <a:solidFill>
                  <a:srgbClr val="1F2937"/>
                </a:solidFill>
                <a:latin typeface="Calibri" pitchFamily="34" charset="0"/>
                <a:ea typeface="Calibri" pitchFamily="34" charset="-122"/>
                <a:cs typeface="Calibri" pitchFamily="34" charset="-120"/>
              </a:rPr>
              <a:t>Task, older abilities, safety, cost</a:t>
            </a:r>
            <a:endParaRPr lang="en-US" sz="2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Common pitfalls</a:t>
            </a:r>
            <a:endParaRPr lang="en-US" sz="3200" dirty="0"/>
          </a:p>
        </p:txBody>
      </p:sp>
      <p:sp>
        <p:nvSpPr>
          <p:cNvPr id="6" name="Shape 4"/>
          <p:cNvSpPr/>
          <p:nvPr/>
        </p:nvSpPr>
        <p:spPr>
          <a:xfrm>
            <a:off x="548640" y="1481328"/>
            <a:ext cx="3515258" cy="2276856"/>
          </a:xfrm>
          <a:prstGeom prst="roundRect">
            <a:avLst>
              <a:gd name="adj" fmla="val 4819"/>
            </a:avLst>
          </a:prstGeom>
          <a:solidFill>
            <a:srgbClr val="EEF0FF"/>
          </a:solidFill>
          <a:ln w="12700">
            <a:solidFill>
              <a:srgbClr val="EEF0FF"/>
            </a:solidFill>
            <a:prstDash val="solid"/>
          </a:ln>
        </p:spPr>
      </p:sp>
      <p:sp>
        <p:nvSpPr>
          <p:cNvPr id="7" name="Shape 5"/>
          <p:cNvSpPr/>
          <p:nvPr/>
        </p:nvSpPr>
        <p:spPr>
          <a:xfrm>
            <a:off x="731520" y="1664208"/>
            <a:ext cx="548640" cy="548640"/>
          </a:xfrm>
          <a:prstGeom prst="ellipse">
            <a:avLst/>
          </a:prstGeom>
          <a:solidFill>
            <a:srgbClr val="4F46E5"/>
          </a:solidFill>
          <a:ln w="12700">
            <a:solidFill>
              <a:srgbClr val="4F46E5"/>
            </a:solidFill>
            <a:prstDash val="solid"/>
          </a:ln>
        </p:spPr>
      </p:sp>
      <p:pic>
        <p:nvPicPr>
          <p:cNvPr id="8" name="Image 0" descr="preencoded.png">    </p:cNvPr>
          <p:cNvPicPr>
            <a:picLocks noChangeAspect="1"/>
          </p:cNvPicPr>
          <p:nvPr/>
        </p:nvPicPr>
        <p:blipFill>
          <a:blip r:embed="rId1"/>
          <a:stretch>
            <a:fillRect/>
          </a:stretch>
        </p:blipFill>
        <p:spPr>
          <a:xfrm>
            <a:off x="863194" y="1795882"/>
            <a:ext cx="285293" cy="285293"/>
          </a:xfrm>
          <a:prstGeom prst="rect">
            <a:avLst/>
          </a:prstGeom>
        </p:spPr>
      </p:pic>
      <p:sp>
        <p:nvSpPr>
          <p:cNvPr id="9" name="Text 6"/>
          <p:cNvSpPr txBox="1"/>
          <p:nvPr/>
        </p:nvSpPr>
        <p:spPr>
          <a:xfrm>
            <a:off x="1371600"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Overfitting</a:t>
            </a:r>
            <a:endParaRPr lang="en-US" sz="2100" dirty="0"/>
          </a:p>
        </p:txBody>
      </p:sp>
      <p:sp>
        <p:nvSpPr>
          <p:cNvPr id="10" name="Text 7"/>
          <p:cNvSpPr txBox="1"/>
          <p:nvPr/>
        </p:nvSpPr>
        <p:spPr>
          <a:xfrm>
            <a:off x="731520" y="2304288"/>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Validation loss rises while training loss falls; test on new messages.</a:t>
            </a:r>
            <a:endParaRPr lang="en-US" sz="2000" dirty="0"/>
          </a:p>
        </p:txBody>
      </p:sp>
      <p:sp>
        <p:nvSpPr>
          <p:cNvPr id="11" name="Shape 8"/>
          <p:cNvSpPr/>
          <p:nvPr/>
        </p:nvSpPr>
        <p:spPr>
          <a:xfrm>
            <a:off x="4338218" y="1481328"/>
            <a:ext cx="3515258" cy="2276856"/>
          </a:xfrm>
          <a:prstGeom prst="roundRect">
            <a:avLst>
              <a:gd name="adj" fmla="val 4819"/>
            </a:avLst>
          </a:prstGeom>
          <a:solidFill>
            <a:srgbClr val="F5F3FF"/>
          </a:solidFill>
          <a:ln w="12700">
            <a:solidFill>
              <a:srgbClr val="EEF0FF"/>
            </a:solidFill>
            <a:prstDash val="solid"/>
          </a:ln>
        </p:spPr>
      </p:sp>
      <p:sp>
        <p:nvSpPr>
          <p:cNvPr id="12" name="Shape 9"/>
          <p:cNvSpPr/>
          <p:nvPr/>
        </p:nvSpPr>
        <p:spPr>
          <a:xfrm>
            <a:off x="4521098" y="1664208"/>
            <a:ext cx="548640" cy="548640"/>
          </a:xfrm>
          <a:prstGeom prst="ellipse">
            <a:avLst/>
          </a:prstGeom>
          <a:solidFill>
            <a:srgbClr val="4F46E5"/>
          </a:solidFill>
          <a:ln w="12700">
            <a:solidFill>
              <a:srgbClr val="4F46E5"/>
            </a:solidFill>
            <a:prstDash val="solid"/>
          </a:ln>
        </p:spPr>
      </p:sp>
      <p:pic>
        <p:nvPicPr>
          <p:cNvPr id="13" name="Image 1" descr="preencoded.png">    </p:cNvPr>
          <p:cNvPicPr>
            <a:picLocks noChangeAspect="1"/>
          </p:cNvPicPr>
          <p:nvPr/>
        </p:nvPicPr>
        <p:blipFill>
          <a:blip r:embed="rId2"/>
          <a:stretch>
            <a:fillRect/>
          </a:stretch>
        </p:blipFill>
        <p:spPr>
          <a:xfrm>
            <a:off x="4652772" y="1795882"/>
            <a:ext cx="285293" cy="285293"/>
          </a:xfrm>
          <a:prstGeom prst="rect">
            <a:avLst/>
          </a:prstGeom>
        </p:spPr>
      </p:pic>
      <p:sp>
        <p:nvSpPr>
          <p:cNvPr id="14" name="Text 10"/>
          <p:cNvSpPr txBox="1"/>
          <p:nvPr/>
        </p:nvSpPr>
        <p:spPr>
          <a:xfrm>
            <a:off x="5161178"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Catastrophic forgetting</a:t>
            </a:r>
            <a:endParaRPr lang="en-US" sz="2100" dirty="0"/>
          </a:p>
        </p:txBody>
      </p:sp>
      <p:sp>
        <p:nvSpPr>
          <p:cNvPr id="15" name="Text 11"/>
          <p:cNvSpPr txBox="1"/>
          <p:nvPr/>
        </p:nvSpPr>
        <p:spPr>
          <a:xfrm>
            <a:off x="4521098" y="2304288"/>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The banking model may fail a general question; re-test old abilities.</a:t>
            </a:r>
            <a:endParaRPr lang="en-US" sz="2000" dirty="0"/>
          </a:p>
        </p:txBody>
      </p:sp>
      <p:sp>
        <p:nvSpPr>
          <p:cNvPr id="16" name="Shape 12"/>
          <p:cNvSpPr/>
          <p:nvPr/>
        </p:nvSpPr>
        <p:spPr>
          <a:xfrm>
            <a:off x="8127797" y="1481328"/>
            <a:ext cx="3515258" cy="2276856"/>
          </a:xfrm>
          <a:prstGeom prst="roundRect">
            <a:avLst>
              <a:gd name="adj" fmla="val 4819"/>
            </a:avLst>
          </a:prstGeom>
          <a:solidFill>
            <a:srgbClr val="EEF0FF"/>
          </a:solidFill>
          <a:ln w="12700">
            <a:solidFill>
              <a:srgbClr val="EEF0FF"/>
            </a:solidFill>
            <a:prstDash val="solid"/>
          </a:ln>
        </p:spPr>
      </p:sp>
      <p:sp>
        <p:nvSpPr>
          <p:cNvPr id="17" name="Shape 13"/>
          <p:cNvSpPr/>
          <p:nvPr/>
        </p:nvSpPr>
        <p:spPr>
          <a:xfrm>
            <a:off x="8310677" y="1664208"/>
            <a:ext cx="548640" cy="548640"/>
          </a:xfrm>
          <a:prstGeom prst="ellipse">
            <a:avLst/>
          </a:prstGeom>
          <a:solidFill>
            <a:srgbClr val="4F46E5"/>
          </a:solidFill>
          <a:ln w="12700">
            <a:solidFill>
              <a:srgbClr val="4F46E5"/>
            </a:solidFill>
            <a:prstDash val="solid"/>
          </a:ln>
        </p:spPr>
      </p:sp>
      <p:pic>
        <p:nvPicPr>
          <p:cNvPr id="18" name="Image 2" descr="preencoded.png">    </p:cNvPr>
          <p:cNvPicPr>
            <a:picLocks noChangeAspect="1"/>
          </p:cNvPicPr>
          <p:nvPr/>
        </p:nvPicPr>
        <p:blipFill>
          <a:blip r:embed="rId3"/>
          <a:stretch>
            <a:fillRect/>
          </a:stretch>
        </p:blipFill>
        <p:spPr>
          <a:xfrm>
            <a:off x="8442350" y="1795882"/>
            <a:ext cx="285293" cy="285293"/>
          </a:xfrm>
          <a:prstGeom prst="rect">
            <a:avLst/>
          </a:prstGeom>
        </p:spPr>
      </p:pic>
      <p:sp>
        <p:nvSpPr>
          <p:cNvPr id="19" name="Text 14"/>
          <p:cNvSpPr txBox="1"/>
          <p:nvPr/>
        </p:nvSpPr>
        <p:spPr>
          <a:xfrm>
            <a:off x="8950757" y="1645920"/>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Data leakage</a:t>
            </a:r>
            <a:endParaRPr lang="en-US" sz="2100" dirty="0"/>
          </a:p>
        </p:txBody>
      </p:sp>
      <p:sp>
        <p:nvSpPr>
          <p:cNvPr id="20" name="Text 15"/>
          <p:cNvSpPr txBox="1"/>
          <p:nvPr/>
        </p:nvSpPr>
        <p:spPr>
          <a:xfrm>
            <a:off x="8310677" y="2304288"/>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The same message in train and test inflates accuracy; remove overlap.</a:t>
            </a:r>
            <a:endParaRPr lang="en-US" sz="2000" dirty="0"/>
          </a:p>
        </p:txBody>
      </p:sp>
      <p:sp>
        <p:nvSpPr>
          <p:cNvPr id="21" name="Shape 16"/>
          <p:cNvSpPr/>
          <p:nvPr/>
        </p:nvSpPr>
        <p:spPr>
          <a:xfrm>
            <a:off x="548640" y="4032504"/>
            <a:ext cx="3515258" cy="2276856"/>
          </a:xfrm>
          <a:prstGeom prst="roundRect">
            <a:avLst>
              <a:gd name="adj" fmla="val 4819"/>
            </a:avLst>
          </a:prstGeom>
          <a:solidFill>
            <a:srgbClr val="F5F3FF"/>
          </a:solidFill>
          <a:ln w="12700">
            <a:solidFill>
              <a:srgbClr val="EEF0FF"/>
            </a:solidFill>
            <a:prstDash val="solid"/>
          </a:ln>
        </p:spPr>
      </p:sp>
      <p:sp>
        <p:nvSpPr>
          <p:cNvPr id="22" name="Shape 17"/>
          <p:cNvSpPr/>
          <p:nvPr/>
        </p:nvSpPr>
        <p:spPr>
          <a:xfrm>
            <a:off x="731520" y="4215384"/>
            <a:ext cx="548640" cy="548640"/>
          </a:xfrm>
          <a:prstGeom prst="ellipse">
            <a:avLst/>
          </a:prstGeom>
          <a:solidFill>
            <a:srgbClr val="4F46E5"/>
          </a:solidFill>
          <a:ln w="12700">
            <a:solidFill>
              <a:srgbClr val="4F46E5"/>
            </a:solidFill>
            <a:prstDash val="solid"/>
          </a:ln>
        </p:spPr>
      </p:sp>
      <p:pic>
        <p:nvPicPr>
          <p:cNvPr id="23" name="Image 3" descr="preencoded.png">    </p:cNvPr>
          <p:cNvPicPr>
            <a:picLocks noChangeAspect="1"/>
          </p:cNvPicPr>
          <p:nvPr/>
        </p:nvPicPr>
        <p:blipFill>
          <a:blip r:embed="rId4"/>
          <a:stretch>
            <a:fillRect/>
          </a:stretch>
        </p:blipFill>
        <p:spPr>
          <a:xfrm>
            <a:off x="863194" y="4347058"/>
            <a:ext cx="285293" cy="285293"/>
          </a:xfrm>
          <a:prstGeom prst="rect">
            <a:avLst/>
          </a:prstGeom>
        </p:spPr>
      </p:pic>
      <p:sp>
        <p:nvSpPr>
          <p:cNvPr id="24" name="Text 18"/>
          <p:cNvSpPr txBox="1"/>
          <p:nvPr/>
        </p:nvSpPr>
        <p:spPr>
          <a:xfrm>
            <a:off x="1371600"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Template mismatch</a:t>
            </a:r>
            <a:endParaRPr lang="en-US" sz="2100" dirty="0"/>
          </a:p>
        </p:txBody>
      </p:sp>
      <p:sp>
        <p:nvSpPr>
          <p:cNvPr id="25" name="Text 19"/>
          <p:cNvSpPr txBox="1"/>
          <p:nvPr/>
        </p:nvSpPr>
        <p:spPr>
          <a:xfrm>
            <a:off x="731520" y="4855464"/>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Train and serve with the same chat template, or replies look odd.</a:t>
            </a:r>
            <a:endParaRPr lang="en-US" sz="2000" dirty="0"/>
          </a:p>
        </p:txBody>
      </p:sp>
      <p:sp>
        <p:nvSpPr>
          <p:cNvPr id="26" name="Shape 20"/>
          <p:cNvSpPr/>
          <p:nvPr/>
        </p:nvSpPr>
        <p:spPr>
          <a:xfrm>
            <a:off x="4338218" y="4032504"/>
            <a:ext cx="3515258" cy="2276856"/>
          </a:xfrm>
          <a:prstGeom prst="roundRect">
            <a:avLst>
              <a:gd name="adj" fmla="val 4819"/>
            </a:avLst>
          </a:prstGeom>
          <a:solidFill>
            <a:srgbClr val="EEF0FF"/>
          </a:solidFill>
          <a:ln w="12700">
            <a:solidFill>
              <a:srgbClr val="EEF0FF"/>
            </a:solidFill>
            <a:prstDash val="solid"/>
          </a:ln>
        </p:spPr>
      </p:sp>
      <p:sp>
        <p:nvSpPr>
          <p:cNvPr id="27" name="Shape 21"/>
          <p:cNvSpPr/>
          <p:nvPr/>
        </p:nvSpPr>
        <p:spPr>
          <a:xfrm>
            <a:off x="4521098" y="4215384"/>
            <a:ext cx="548640" cy="548640"/>
          </a:xfrm>
          <a:prstGeom prst="ellipse">
            <a:avLst/>
          </a:prstGeom>
          <a:solidFill>
            <a:srgbClr val="4F46E5"/>
          </a:solidFill>
          <a:ln w="12700">
            <a:solidFill>
              <a:srgbClr val="4F46E5"/>
            </a:solidFill>
            <a:prstDash val="solid"/>
          </a:ln>
        </p:spPr>
      </p:sp>
      <p:pic>
        <p:nvPicPr>
          <p:cNvPr id="28" name="Image 4" descr="preencoded.png">    </p:cNvPr>
          <p:cNvPicPr>
            <a:picLocks noChangeAspect="1"/>
          </p:cNvPicPr>
          <p:nvPr/>
        </p:nvPicPr>
        <p:blipFill>
          <a:blip r:embed="rId5"/>
          <a:stretch>
            <a:fillRect/>
          </a:stretch>
        </p:blipFill>
        <p:spPr>
          <a:xfrm>
            <a:off x="4652772" y="4347058"/>
            <a:ext cx="285293" cy="285293"/>
          </a:xfrm>
          <a:prstGeom prst="rect">
            <a:avLst/>
          </a:prstGeom>
        </p:spPr>
      </p:pic>
      <p:sp>
        <p:nvSpPr>
          <p:cNvPr id="29" name="Text 22"/>
          <p:cNvSpPr txBox="1"/>
          <p:nvPr/>
        </p:nvSpPr>
        <p:spPr>
          <a:xfrm>
            <a:off x="5161178"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Learning rate</a:t>
            </a:r>
            <a:endParaRPr lang="en-US" sz="2100" dirty="0"/>
          </a:p>
        </p:txBody>
      </p:sp>
      <p:sp>
        <p:nvSpPr>
          <p:cNvPr id="30" name="Text 23"/>
          <p:cNvSpPr txBox="1"/>
          <p:nvPr/>
        </p:nvSpPr>
        <p:spPr>
          <a:xfrm>
            <a:off x="4521098" y="4855464"/>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A rate that suits LoRA can wreck full fine-tuning; tune it on validation.</a:t>
            </a:r>
            <a:endParaRPr lang="en-US" sz="2000" dirty="0"/>
          </a:p>
        </p:txBody>
      </p:sp>
      <p:sp>
        <p:nvSpPr>
          <p:cNvPr id="31" name="Shape 24"/>
          <p:cNvSpPr/>
          <p:nvPr/>
        </p:nvSpPr>
        <p:spPr>
          <a:xfrm>
            <a:off x="8127797" y="4032504"/>
            <a:ext cx="3515258" cy="2276856"/>
          </a:xfrm>
          <a:prstGeom prst="roundRect">
            <a:avLst>
              <a:gd name="adj" fmla="val 4819"/>
            </a:avLst>
          </a:prstGeom>
          <a:solidFill>
            <a:srgbClr val="F5F3FF"/>
          </a:solidFill>
          <a:ln w="12700">
            <a:solidFill>
              <a:srgbClr val="EEF0FF"/>
            </a:solidFill>
            <a:prstDash val="solid"/>
          </a:ln>
        </p:spPr>
      </p:sp>
      <p:sp>
        <p:nvSpPr>
          <p:cNvPr id="32" name="Shape 25"/>
          <p:cNvSpPr/>
          <p:nvPr/>
        </p:nvSpPr>
        <p:spPr>
          <a:xfrm>
            <a:off x="8310677" y="4215384"/>
            <a:ext cx="548640" cy="548640"/>
          </a:xfrm>
          <a:prstGeom prst="ellipse">
            <a:avLst/>
          </a:prstGeom>
          <a:solidFill>
            <a:srgbClr val="4F46E5"/>
          </a:solidFill>
          <a:ln w="12700">
            <a:solidFill>
              <a:srgbClr val="4F46E5"/>
            </a:solidFill>
            <a:prstDash val="solid"/>
          </a:ln>
        </p:spPr>
      </p:sp>
      <p:pic>
        <p:nvPicPr>
          <p:cNvPr id="33" name="Image 5" descr="preencoded.png">    </p:cNvPr>
          <p:cNvPicPr>
            <a:picLocks noChangeAspect="1"/>
          </p:cNvPicPr>
          <p:nvPr/>
        </p:nvPicPr>
        <p:blipFill>
          <a:blip r:embed="rId6"/>
          <a:stretch>
            <a:fillRect/>
          </a:stretch>
        </p:blipFill>
        <p:spPr>
          <a:xfrm>
            <a:off x="8442350" y="4347058"/>
            <a:ext cx="285293" cy="285293"/>
          </a:xfrm>
          <a:prstGeom prst="rect">
            <a:avLst/>
          </a:prstGeom>
        </p:spPr>
      </p:pic>
      <p:sp>
        <p:nvSpPr>
          <p:cNvPr id="34" name="Text 26"/>
          <p:cNvSpPr txBox="1"/>
          <p:nvPr/>
        </p:nvSpPr>
        <p:spPr>
          <a:xfrm>
            <a:off x="8950757" y="4197096"/>
            <a:ext cx="2555138" cy="594360"/>
          </a:xfrm>
          <a:prstGeom prst="rect">
            <a:avLst/>
          </a:prstGeom>
          <a:noFill/>
          <a:ln/>
        </p:spPr>
        <p:txBody>
          <a:bodyPr wrap="square" lIns="50800" tIns="50800" rIns="50800" bIns="50800" rtlCol="0" anchor="ctr"/>
          <a:lstStyle/>
          <a:p>
            <a:pPr indent="0" marL="0">
              <a:buNone/>
            </a:pPr>
            <a:r>
              <a:rPr lang="en-US" sz="2100" b="1" dirty="0">
                <a:solidFill>
                  <a:srgbClr val="1E1B4B"/>
                </a:solidFill>
                <a:latin typeface="Calibri" pitchFamily="34" charset="0"/>
                <a:ea typeface="Calibri" pitchFamily="34" charset="-122"/>
                <a:cs typeface="Calibri" pitchFamily="34" charset="-120"/>
              </a:rPr>
              <a:t>Weak evaluation</a:t>
            </a:r>
            <a:endParaRPr lang="en-US" sz="2100" dirty="0"/>
          </a:p>
        </p:txBody>
      </p:sp>
      <p:sp>
        <p:nvSpPr>
          <p:cNvPr id="35" name="Text 27"/>
          <p:cNvSpPr txBox="1"/>
          <p:nvPr/>
        </p:nvSpPr>
        <p:spPr>
          <a:xfrm>
            <a:off x="8310677" y="4855464"/>
            <a:ext cx="3149498" cy="1408176"/>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Report the held-out test and read the errors, not the loss alone.</a:t>
            </a:r>
            <a:endParaRPr lang="en-US" sz="2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2500" b="1" dirty="0">
                <a:solidFill>
                  <a:srgbClr val="1E1B4B"/>
                </a:solidFill>
                <a:latin typeface="Calibri" pitchFamily="34" charset="0"/>
                <a:ea typeface="Calibri" pitchFamily="34" charset="-122"/>
                <a:cs typeface="Calibri" pitchFamily="34" charset="-120"/>
              </a:rPr>
              <a:t>Real results: prompting vs. LoRA fine-tuning (Banking77, 10 intents)</a:t>
            </a:r>
            <a:endParaRPr lang="en-US" sz="2500" dirty="0"/>
          </a:p>
        </p:txBody>
      </p:sp>
      <p:pic>
        <p:nvPicPr>
          <p:cNvPr id="6" name="Image 0" descr="C:\Users\sudee\Downloads\Generative_AI_2027_Teaching_Pack\AI2027_Project\build\figures\week_08\results_bar.png">    </p:cNvPr>
          <p:cNvPicPr>
            <a:picLocks noChangeAspect="1"/>
          </p:cNvPicPr>
          <p:nvPr/>
        </p:nvPicPr>
        <p:blipFill>
          <a:blip r:embed="rId1"/>
          <a:stretch>
            <a:fillRect/>
          </a:stretch>
        </p:blipFill>
        <p:spPr>
          <a:xfrm>
            <a:off x="2353026" y="1481328"/>
            <a:ext cx="7485644" cy="3081528"/>
          </a:xfrm>
          <a:prstGeom prst="rect">
            <a:avLst/>
          </a:prstGeom>
        </p:spPr>
      </p:pic>
      <p:sp>
        <p:nvSpPr>
          <p:cNvPr id="7" name="Text 4"/>
          <p:cNvSpPr txBox="1"/>
          <p:nvPr/>
        </p:nvSpPr>
        <p:spPr>
          <a:xfrm>
            <a:off x="548640" y="4745736"/>
            <a:ext cx="11094415" cy="156362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Accuracy on 200 held-out messages: base, zero-shot 52.5%, base, few-shot 85.0%, LoRA fine-tuned 97.0%.</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Same base model, 200 test messages and greedy decoding.</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Fine-tuning must beat the best prompt and earn its cost.</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Real training curve</a:t>
            </a:r>
            <a:endParaRPr lang="en-US" sz="3200" dirty="0"/>
          </a:p>
        </p:txBody>
      </p:sp>
      <p:pic>
        <p:nvPicPr>
          <p:cNvPr id="6" name="Image 0" descr="C:\Users\sudee\Downloads\Generative_AI_2027_Teaching_Pack\AI2027_Project\build\figures\week_08\loss_curve.png">    </p:cNvPr>
          <p:cNvPicPr>
            <a:picLocks noChangeAspect="1"/>
          </p:cNvPicPr>
          <p:nvPr/>
        </p:nvPicPr>
        <p:blipFill>
          <a:blip r:embed="rId1"/>
          <a:stretch>
            <a:fillRect/>
          </a:stretch>
        </p:blipFill>
        <p:spPr>
          <a:xfrm>
            <a:off x="2835077" y="1481328"/>
            <a:ext cx="6521541" cy="3367278"/>
          </a:xfrm>
          <a:prstGeom prst="rect">
            <a:avLst/>
          </a:prstGeom>
        </p:spPr>
      </p:pic>
      <p:sp>
        <p:nvSpPr>
          <p:cNvPr id="7" name="Text 4"/>
          <p:cNvSpPr txBox="1"/>
          <p:nvPr/>
        </p:nvSpPr>
        <p:spPr>
          <a:xfrm>
            <a:off x="548640" y="5031486"/>
            <a:ext cx="11094415" cy="127787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Training and validation losses fell in the stored run.</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Saved adapter: 8.7 MB; base weights: 1,976 MB.</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No clear loss warning here; inspect errors and older abilities.</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Use and check the adapted classifier</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Prediction uses the same chat format, without gradient updates</a:t>
            </a:r>
            <a:endParaRPr lang="en-US" sz="1800" dirty="0"/>
          </a:p>
        </p:txBody>
      </p:sp>
      <p:sp>
        <p:nvSpPr>
          <p:cNvPr id="7" name="Shape 5"/>
          <p:cNvSpPr/>
          <p:nvPr/>
        </p:nvSpPr>
        <p:spPr>
          <a:xfrm>
            <a:off x="2716115" y="3838927"/>
            <a:ext cx="244024" cy="0"/>
          </a:xfrm>
          <a:prstGeom prst="line">
            <a:avLst/>
          </a:prstGeom>
          <a:noFill/>
          <a:ln w="22860">
            <a:solidFill>
              <a:srgbClr val="009E73"/>
            </a:solidFill>
            <a:prstDash val="solid"/>
            <a:tailEnd type="triangle"/>
          </a:ln>
        </p:spPr>
      </p:sp>
      <p:sp>
        <p:nvSpPr>
          <p:cNvPr id="8" name="Text 6"/>
          <p:cNvSpPr txBox="1"/>
          <p:nvPr/>
        </p:nvSpPr>
        <p:spPr>
          <a:xfrm>
            <a:off x="2037423"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message +</a:t>
            </a:r>
            <a:endParaRPr lang="en-US" sz="1441" dirty="0"/>
          </a:p>
        </p:txBody>
      </p:sp>
      <p:sp>
        <p:nvSpPr>
          <p:cNvPr id="9" name="Text 7"/>
          <p:cNvSpPr txBox="1"/>
          <p:nvPr/>
        </p:nvSpPr>
        <p:spPr>
          <a:xfrm>
            <a:off x="2037423"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reference</a:t>
            </a:r>
            <a:endParaRPr lang="en-US" sz="1441" dirty="0"/>
          </a:p>
        </p:txBody>
      </p:sp>
      <p:sp>
        <p:nvSpPr>
          <p:cNvPr id="10" name="Shape 8"/>
          <p:cNvSpPr/>
          <p:nvPr/>
        </p:nvSpPr>
        <p:spPr>
          <a:xfrm>
            <a:off x="4887929" y="3838927"/>
            <a:ext cx="244024" cy="0"/>
          </a:xfrm>
          <a:prstGeom prst="line">
            <a:avLst/>
          </a:prstGeom>
          <a:noFill/>
          <a:ln w="22860">
            <a:solidFill>
              <a:srgbClr val="009E73"/>
            </a:solidFill>
            <a:prstDash val="solid"/>
            <a:tailEnd type="triangle"/>
          </a:ln>
        </p:spPr>
      </p:sp>
      <p:sp>
        <p:nvSpPr>
          <p:cNvPr id="11" name="Text 9"/>
          <p:cNvSpPr txBox="1"/>
          <p:nvPr/>
        </p:nvSpPr>
        <p:spPr>
          <a:xfrm>
            <a:off x="4209237"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formatted input</a:t>
            </a:r>
            <a:endParaRPr lang="en-US" sz="1441" dirty="0"/>
          </a:p>
        </p:txBody>
      </p:sp>
      <p:sp>
        <p:nvSpPr>
          <p:cNvPr id="12" name="Shape 10"/>
          <p:cNvSpPr/>
          <p:nvPr/>
        </p:nvSpPr>
        <p:spPr>
          <a:xfrm>
            <a:off x="7059743" y="3838927"/>
            <a:ext cx="244024" cy="0"/>
          </a:xfrm>
          <a:prstGeom prst="line">
            <a:avLst/>
          </a:prstGeom>
          <a:noFill/>
          <a:ln w="22860">
            <a:solidFill>
              <a:srgbClr val="009E73"/>
            </a:solidFill>
            <a:prstDash val="solid"/>
            <a:tailEnd type="triangle"/>
          </a:ln>
        </p:spPr>
      </p:sp>
      <p:sp>
        <p:nvSpPr>
          <p:cNvPr id="13" name="Text 11"/>
          <p:cNvSpPr txBox="1"/>
          <p:nvPr/>
        </p:nvSpPr>
        <p:spPr>
          <a:xfrm>
            <a:off x="6381051"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generated reply</a:t>
            </a:r>
            <a:endParaRPr lang="en-US" sz="1441" dirty="0"/>
          </a:p>
        </p:txBody>
      </p:sp>
      <p:sp>
        <p:nvSpPr>
          <p:cNvPr id="14" name="Shape 12"/>
          <p:cNvSpPr/>
          <p:nvPr/>
        </p:nvSpPr>
        <p:spPr>
          <a:xfrm>
            <a:off x="9231556" y="3838927"/>
            <a:ext cx="244024" cy="0"/>
          </a:xfrm>
          <a:prstGeom prst="line">
            <a:avLst/>
          </a:prstGeom>
          <a:noFill/>
          <a:ln w="22860">
            <a:solidFill>
              <a:srgbClr val="009E73"/>
            </a:solidFill>
            <a:prstDash val="solid"/>
            <a:tailEnd type="triangle"/>
          </a:ln>
        </p:spPr>
      </p:sp>
      <p:sp>
        <p:nvSpPr>
          <p:cNvPr id="15" name="Text 13"/>
          <p:cNvSpPr txBox="1"/>
          <p:nvPr/>
        </p:nvSpPr>
        <p:spPr>
          <a:xfrm>
            <a:off x="8552865"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label and score</a:t>
            </a:r>
            <a:endParaRPr lang="en-US" sz="1441" dirty="0"/>
          </a:p>
        </p:txBody>
      </p:sp>
      <p:sp>
        <p:nvSpPr>
          <p:cNvPr id="16" name="Shape 14"/>
          <p:cNvSpPr/>
          <p:nvPr/>
        </p:nvSpPr>
        <p:spPr>
          <a:xfrm>
            <a:off x="788325" y="2939089"/>
            <a:ext cx="1927790" cy="1799677"/>
          </a:xfrm>
          <a:prstGeom prst="roundRect">
            <a:avLst>
              <a:gd name="adj" fmla="val 4065"/>
            </a:avLst>
          </a:prstGeom>
          <a:solidFill>
            <a:srgbClr val="E4F2FB"/>
          </a:solidFill>
          <a:ln w="15240">
            <a:solidFill>
              <a:srgbClr val="0072B2"/>
            </a:solidFill>
            <a:prstDash val="solid"/>
          </a:ln>
        </p:spPr>
      </p:sp>
      <p:sp>
        <p:nvSpPr>
          <p:cNvPr id="17" name="Text 15"/>
          <p:cNvSpPr txBox="1"/>
          <p:nvPr/>
        </p:nvSpPr>
        <p:spPr>
          <a:xfrm>
            <a:off x="849331"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Held-out message</a:t>
            </a:r>
            <a:endParaRPr lang="en-US" sz="1561" dirty="0"/>
          </a:p>
        </p:txBody>
      </p:sp>
      <p:sp>
        <p:nvSpPr>
          <p:cNvPr id="18" name="Text 16"/>
          <p:cNvSpPr txBox="1"/>
          <p:nvPr/>
        </p:nvSpPr>
        <p:spPr>
          <a:xfrm>
            <a:off x="849331"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Not used to learn or</a:t>
            </a:r>
            <a:endParaRPr lang="en-US" sz="1441" dirty="0"/>
          </a:p>
        </p:txBody>
      </p:sp>
      <p:sp>
        <p:nvSpPr>
          <p:cNvPr id="19" name="Text 17"/>
          <p:cNvSpPr txBox="1"/>
          <p:nvPr/>
        </p:nvSpPr>
        <p:spPr>
          <a:xfrm>
            <a:off x="849331"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select</a:t>
            </a:r>
            <a:endParaRPr lang="en-US" sz="1441" dirty="0"/>
          </a:p>
        </p:txBody>
      </p:sp>
      <p:sp>
        <p:nvSpPr>
          <p:cNvPr id="20" name="Text 18"/>
          <p:cNvSpPr txBox="1"/>
          <p:nvPr/>
        </p:nvSpPr>
        <p:spPr>
          <a:xfrm>
            <a:off x="811202"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test_ds</a:t>
            </a:r>
            <a:endParaRPr lang="en-US" sz="1441" dirty="0"/>
          </a:p>
        </p:txBody>
      </p:sp>
      <p:sp>
        <p:nvSpPr>
          <p:cNvPr id="21" name="Shape 19"/>
          <p:cNvSpPr/>
          <p:nvPr/>
        </p:nvSpPr>
        <p:spPr>
          <a:xfrm>
            <a:off x="2960139" y="2939089"/>
            <a:ext cx="1927790" cy="1799677"/>
          </a:xfrm>
          <a:prstGeom prst="rect">
            <a:avLst/>
          </a:prstGeom>
          <a:solidFill>
            <a:srgbClr val="E5F7EF"/>
          </a:solidFill>
          <a:ln w="15240">
            <a:solidFill>
              <a:srgbClr val="009E73"/>
            </a:solidFill>
            <a:prstDash val="solid"/>
          </a:ln>
        </p:spPr>
      </p:sp>
      <p:sp>
        <p:nvSpPr>
          <p:cNvPr id="22" name="Text 20"/>
          <p:cNvSpPr txBox="1"/>
          <p:nvPr/>
        </p:nvSpPr>
        <p:spPr>
          <a:xfrm>
            <a:off x="3021145"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Apply chat format</a:t>
            </a:r>
            <a:endParaRPr lang="en-US" sz="1561" dirty="0"/>
          </a:p>
        </p:txBody>
      </p:sp>
      <p:sp>
        <p:nvSpPr>
          <p:cNvPr id="23" name="Text 21"/>
          <p:cNvSpPr txBox="1"/>
          <p:nvPr/>
        </p:nvSpPr>
        <p:spPr>
          <a:xfrm>
            <a:off x="3021145"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Match training</a:t>
            </a:r>
            <a:endParaRPr lang="en-US" sz="1441" dirty="0"/>
          </a:p>
        </p:txBody>
      </p:sp>
      <p:sp>
        <p:nvSpPr>
          <p:cNvPr id="24" name="Text 22"/>
          <p:cNvSpPr txBox="1"/>
          <p:nvPr/>
        </p:nvSpPr>
        <p:spPr>
          <a:xfrm>
            <a:off x="3021145"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prompt template</a:t>
            </a:r>
            <a:endParaRPr lang="en-US" sz="1441" dirty="0"/>
          </a:p>
        </p:txBody>
      </p:sp>
      <p:sp>
        <p:nvSpPr>
          <p:cNvPr id="25" name="Text 23"/>
          <p:cNvSpPr txBox="1"/>
          <p:nvPr/>
        </p:nvSpPr>
        <p:spPr>
          <a:xfrm>
            <a:off x="2983016"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to_chat</a:t>
            </a:r>
            <a:endParaRPr lang="en-US" sz="1441" dirty="0"/>
          </a:p>
        </p:txBody>
      </p:sp>
      <p:sp>
        <p:nvSpPr>
          <p:cNvPr id="26" name="Shape 24"/>
          <p:cNvSpPr/>
          <p:nvPr/>
        </p:nvSpPr>
        <p:spPr>
          <a:xfrm>
            <a:off x="5131953" y="2939089"/>
            <a:ext cx="1927790" cy="1799677"/>
          </a:xfrm>
          <a:prstGeom prst="rect">
            <a:avLst/>
          </a:prstGeom>
          <a:solidFill>
            <a:srgbClr val="E5F7EF"/>
          </a:solidFill>
          <a:ln w="15240">
            <a:solidFill>
              <a:srgbClr val="009E73"/>
            </a:solidFill>
            <a:prstDash val="solid"/>
          </a:ln>
        </p:spPr>
      </p:sp>
      <p:sp>
        <p:nvSpPr>
          <p:cNvPr id="27" name="Text 25"/>
          <p:cNvSpPr txBox="1"/>
          <p:nvPr/>
        </p:nvSpPr>
        <p:spPr>
          <a:xfrm>
            <a:off x="5192959"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Run with adapter</a:t>
            </a:r>
            <a:endParaRPr lang="en-US" sz="1561" dirty="0"/>
          </a:p>
        </p:txBody>
      </p:sp>
      <p:sp>
        <p:nvSpPr>
          <p:cNvPr id="28" name="Text 26"/>
          <p:cNvSpPr txBox="1"/>
          <p:nvPr/>
        </p:nvSpPr>
        <p:spPr>
          <a:xfrm>
            <a:off x="5192959"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Base plus learned</a:t>
            </a:r>
            <a:endParaRPr lang="en-US" sz="1441" dirty="0"/>
          </a:p>
        </p:txBody>
      </p:sp>
      <p:sp>
        <p:nvSpPr>
          <p:cNvPr id="29" name="Text 27"/>
          <p:cNvSpPr txBox="1"/>
          <p:nvPr/>
        </p:nvSpPr>
        <p:spPr>
          <a:xfrm>
            <a:off x="5192959"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correction</a:t>
            </a:r>
            <a:endParaRPr lang="en-US" sz="1441" dirty="0"/>
          </a:p>
        </p:txBody>
      </p:sp>
      <p:sp>
        <p:nvSpPr>
          <p:cNvPr id="30" name="Text 28"/>
          <p:cNvSpPr txBox="1"/>
          <p:nvPr/>
        </p:nvSpPr>
        <p:spPr>
          <a:xfrm>
            <a:off x="5154830"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tuned</a:t>
            </a:r>
            <a:endParaRPr lang="en-US" sz="1441" dirty="0"/>
          </a:p>
        </p:txBody>
      </p:sp>
      <p:sp>
        <p:nvSpPr>
          <p:cNvPr id="31" name="Shape 29"/>
          <p:cNvSpPr/>
          <p:nvPr/>
        </p:nvSpPr>
        <p:spPr>
          <a:xfrm>
            <a:off x="7303767" y="2939089"/>
            <a:ext cx="1927790" cy="1799677"/>
          </a:xfrm>
          <a:prstGeom prst="roundRect">
            <a:avLst>
              <a:gd name="adj" fmla="val 4065"/>
            </a:avLst>
          </a:prstGeom>
          <a:solidFill>
            <a:srgbClr val="FFF0E6"/>
          </a:solidFill>
          <a:ln w="15240">
            <a:solidFill>
              <a:srgbClr val="D55E00"/>
            </a:solidFill>
            <a:prstDash val="solid"/>
          </a:ln>
        </p:spPr>
      </p:sp>
      <p:sp>
        <p:nvSpPr>
          <p:cNvPr id="32" name="Text 30"/>
          <p:cNvSpPr txBox="1"/>
          <p:nvPr/>
        </p:nvSpPr>
        <p:spPr>
          <a:xfrm>
            <a:off x="7364773"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Parse + score</a:t>
            </a:r>
            <a:endParaRPr lang="en-US" sz="1561" dirty="0"/>
          </a:p>
        </p:txBody>
      </p:sp>
      <p:sp>
        <p:nvSpPr>
          <p:cNvPr id="33" name="Text 31"/>
          <p:cNvSpPr txBox="1"/>
          <p:nvPr/>
        </p:nvSpPr>
        <p:spPr>
          <a:xfrm>
            <a:off x="7364773"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Compare intent with</a:t>
            </a:r>
            <a:endParaRPr lang="en-US" sz="1441" dirty="0"/>
          </a:p>
        </p:txBody>
      </p:sp>
      <p:sp>
        <p:nvSpPr>
          <p:cNvPr id="34" name="Text 32"/>
          <p:cNvSpPr txBox="1"/>
          <p:nvPr/>
        </p:nvSpPr>
        <p:spPr>
          <a:xfrm>
            <a:off x="7364773"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reference</a:t>
            </a:r>
            <a:endParaRPr lang="en-US" sz="1441" dirty="0"/>
          </a:p>
        </p:txBody>
      </p:sp>
      <p:sp>
        <p:nvSpPr>
          <p:cNvPr id="35" name="Text 33"/>
          <p:cNvSpPr txBox="1"/>
          <p:nvPr/>
        </p:nvSpPr>
        <p:spPr>
          <a:xfrm>
            <a:off x="7326644"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evaluate</a:t>
            </a:r>
            <a:endParaRPr lang="en-US" sz="1441" dirty="0"/>
          </a:p>
        </p:txBody>
      </p:sp>
      <p:sp>
        <p:nvSpPr>
          <p:cNvPr id="36" name="Shape 34"/>
          <p:cNvSpPr/>
          <p:nvPr/>
        </p:nvSpPr>
        <p:spPr>
          <a:xfrm>
            <a:off x="9475580" y="2939089"/>
            <a:ext cx="1927790" cy="1799677"/>
          </a:xfrm>
          <a:prstGeom prst="roundRect">
            <a:avLst>
              <a:gd name="adj" fmla="val 4065"/>
            </a:avLst>
          </a:prstGeom>
          <a:solidFill>
            <a:srgbClr val="F9EAF4"/>
          </a:solidFill>
          <a:ln w="15240">
            <a:solidFill>
              <a:srgbClr val="CC79A7"/>
            </a:solidFill>
            <a:prstDash val="solid"/>
          </a:ln>
        </p:spPr>
      </p:sp>
      <p:sp>
        <p:nvSpPr>
          <p:cNvPr id="37" name="Text 35"/>
          <p:cNvSpPr txBox="1"/>
          <p:nvPr/>
        </p:nvSpPr>
        <p:spPr>
          <a:xfrm>
            <a:off x="9536586" y="3336848"/>
            <a:ext cx="1805778"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Compare baseline</a:t>
            </a:r>
            <a:endParaRPr lang="en-US" sz="1561" dirty="0"/>
          </a:p>
        </p:txBody>
      </p:sp>
      <p:sp>
        <p:nvSpPr>
          <p:cNvPr id="38" name="Text 36"/>
          <p:cNvSpPr txBox="1"/>
          <p:nvPr/>
        </p:nvSpPr>
        <p:spPr>
          <a:xfrm>
            <a:off x="9536586" y="3643098"/>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Accuracy, failures</a:t>
            </a:r>
            <a:endParaRPr lang="en-US" sz="1441" dirty="0"/>
          </a:p>
        </p:txBody>
      </p:sp>
      <p:sp>
        <p:nvSpPr>
          <p:cNvPr id="39" name="Text 37"/>
          <p:cNvSpPr txBox="1"/>
          <p:nvPr/>
        </p:nvSpPr>
        <p:spPr>
          <a:xfrm>
            <a:off x="9536586" y="3855399"/>
            <a:ext cx="1805778"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and costs</a:t>
            </a:r>
            <a:endParaRPr lang="en-US" sz="1441" dirty="0"/>
          </a:p>
        </p:txBody>
      </p:sp>
      <p:sp>
        <p:nvSpPr>
          <p:cNvPr id="40" name="Text 38"/>
          <p:cNvSpPr txBox="1"/>
          <p:nvPr/>
        </p:nvSpPr>
        <p:spPr>
          <a:xfrm>
            <a:off x="9498458" y="4128706"/>
            <a:ext cx="1882035"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comparison</a:t>
            </a:r>
            <a:endParaRPr lang="en-US" sz="1441" dirty="0"/>
          </a:p>
        </p:txBody>
      </p:sp>
      <p:sp>
        <p:nvSpPr>
          <p:cNvPr id="41" name="Shape 39"/>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42" name="Text 40"/>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43" name="Shape 41"/>
          <p:cNvSpPr/>
          <p:nvPr/>
        </p:nvSpPr>
        <p:spPr>
          <a:xfrm>
            <a:off x="2118929" y="5630979"/>
            <a:ext cx="198270" cy="198270"/>
          </a:xfrm>
          <a:prstGeom prst="rect">
            <a:avLst/>
          </a:prstGeom>
          <a:solidFill>
            <a:srgbClr val="E5F7EF"/>
          </a:solidFill>
          <a:ln w="15240">
            <a:solidFill>
              <a:srgbClr val="009E73"/>
            </a:solidFill>
            <a:prstDash val="solid"/>
          </a:ln>
        </p:spPr>
      </p:sp>
      <p:sp>
        <p:nvSpPr>
          <p:cNvPr id="44" name="Text 42"/>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45" name="Shape 43"/>
          <p:cNvSpPr/>
          <p:nvPr/>
        </p:nvSpPr>
        <p:spPr>
          <a:xfrm>
            <a:off x="3122778" y="5630979"/>
            <a:ext cx="198270" cy="198270"/>
          </a:xfrm>
          <a:prstGeom prst="roundRect">
            <a:avLst>
              <a:gd name="adj" fmla="val 36895"/>
            </a:avLst>
          </a:prstGeom>
          <a:solidFill>
            <a:srgbClr val="FFF0E6"/>
          </a:solidFill>
          <a:ln w="15240">
            <a:solidFill>
              <a:srgbClr val="D55E00"/>
            </a:solidFill>
            <a:prstDash val="solid"/>
          </a:ln>
        </p:spPr>
      </p:sp>
      <p:sp>
        <p:nvSpPr>
          <p:cNvPr id="46" name="Text 44"/>
          <p:cNvSpPr txBox="1"/>
          <p:nvPr/>
        </p:nvSpPr>
        <p:spPr>
          <a:xfrm>
            <a:off x="3382054"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47" name="Shape 45"/>
          <p:cNvSpPr/>
          <p:nvPr/>
        </p:nvSpPr>
        <p:spPr>
          <a:xfrm>
            <a:off x="4748126" y="5630979"/>
            <a:ext cx="198270" cy="198270"/>
          </a:xfrm>
          <a:prstGeom prst="roundRect">
            <a:avLst>
              <a:gd name="adj" fmla="val 36895"/>
            </a:avLst>
          </a:prstGeom>
          <a:solidFill>
            <a:srgbClr val="F9EAF4"/>
          </a:solidFill>
          <a:ln w="15240">
            <a:solidFill>
              <a:srgbClr val="CC79A7"/>
            </a:solidFill>
            <a:prstDash val="solid"/>
          </a:ln>
        </p:spPr>
      </p:sp>
      <p:sp>
        <p:nvSpPr>
          <p:cNvPr id="48" name="Text 46"/>
          <p:cNvSpPr txBox="1"/>
          <p:nvPr/>
        </p:nvSpPr>
        <p:spPr>
          <a:xfrm>
            <a:off x="5007401"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49" name="Shape 47"/>
          <p:cNvSpPr/>
          <p:nvPr/>
        </p:nvSpPr>
        <p:spPr>
          <a:xfrm>
            <a:off x="5804824" y="5730113"/>
            <a:ext cx="335533" cy="0"/>
          </a:xfrm>
          <a:prstGeom prst="line">
            <a:avLst/>
          </a:prstGeom>
          <a:noFill/>
          <a:ln w="22860">
            <a:solidFill>
              <a:srgbClr val="009E73"/>
            </a:solidFill>
            <a:prstDash val="solid"/>
            <a:tailEnd type="triangle"/>
          </a:ln>
        </p:spPr>
      </p:sp>
      <p:sp>
        <p:nvSpPr>
          <p:cNvPr id="50" name="Text 48"/>
          <p:cNvSpPr txBox="1"/>
          <p:nvPr/>
        </p:nvSpPr>
        <p:spPr>
          <a:xfrm>
            <a:off x="6201363"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51" name="Text 49"/>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Why use the same parser for base and adapted answers?</a:t>
            </a:r>
            <a:endParaRPr lang="en-US" sz="1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Evaluating a fine-tuned model</a:t>
            </a:r>
            <a:endParaRPr lang="en-US" sz="3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193082"/>
                <a:gridCol w="3612135"/>
                <a:gridCol w="5289198"/>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What to check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How</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Example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Task</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Same test as the best prompt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Accuracy on the 200 held-out messages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Earlier abilities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 general-question set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Capital of France? 2 + 2?</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Safety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Re-run refusal tests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Harmful request still refused</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Robustness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Rewording, typos, dates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"lost my card" vs "card gone"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Time and cost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Tokens, seconds, memory</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Seconds per message on the target machine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People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Expert review with a rubric</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A bank agent checks 50 replies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Domain-specific models: build, adapt or retrieve?</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BloombergGPT: 50 B, financial and general training data (2023).</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Specialist examples can adapt a general model.</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Compare prompting plus retrieval first.</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Check sensitive-data rights and governance.</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Responsible AI lens: fine-tuning</a:t>
            </a:r>
            <a:endParaRPr lang="en-US" sz="32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Re-test safety after training.</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Remove sensitive records; check leakage.</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Audit groups and labels.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Check licences and provider terms.</a:t>
            </a:r>
            <a:endParaRPr lang="en-US" sz="2600" dirty="0"/>
          </a:p>
          <a:p>
            <a:pPr marL="254000" indent="-254000">
              <a:spcAft>
                <a:spcPts val="800"/>
              </a:spcAft>
              <a:buSzPct val="100000"/>
              <a:buChar char="●"/>
            </a:pPr>
            <a:r>
              <a:rPr lang="en-US" sz="2600" dirty="0">
                <a:solidFill>
                  <a:srgbClr val="1F2937"/>
                </a:solidFill>
                <a:latin typeface="Calibri" pitchFamily="34" charset="0"/>
                <a:ea typeface="Calibri" pitchFamily="34" charset="-122"/>
                <a:cs typeface="Calibri" pitchFamily="34" charset="-120"/>
              </a:rPr>
              <a:t>Document data, settings, results and limits.</a:t>
            </a:r>
            <a:endParaRPr lang="en-US" sz="26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From labels to a saved adapter</a:t>
            </a:r>
            <a:endParaRPr lang="en-US" sz="3200" dirty="0"/>
          </a:p>
        </p:txBody>
      </p:sp>
      <p:sp>
        <p:nvSpPr>
          <p:cNvPr id="6" name="Text 4"/>
          <p:cNvSpPr txBox="1"/>
          <p:nvPr/>
        </p:nvSpPr>
        <p:spPr>
          <a:xfrm>
            <a:off x="548640" y="1463040"/>
            <a:ext cx="11094415" cy="384048"/>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Read the learning curve and the held-out decisions together</a:t>
            </a:r>
            <a:endParaRPr lang="en-US" sz="1800" dirty="0"/>
          </a:p>
        </p:txBody>
      </p:sp>
      <p:sp>
        <p:nvSpPr>
          <p:cNvPr id="7" name="Shape 5"/>
          <p:cNvSpPr/>
          <p:nvPr/>
        </p:nvSpPr>
        <p:spPr>
          <a:xfrm>
            <a:off x="2354146" y="3838927"/>
            <a:ext cx="244024" cy="0"/>
          </a:xfrm>
          <a:prstGeom prst="line">
            <a:avLst/>
          </a:prstGeom>
          <a:noFill/>
          <a:ln w="22860">
            <a:solidFill>
              <a:srgbClr val="009E73"/>
            </a:solidFill>
            <a:prstDash val="solid"/>
            <a:tailEnd type="triangle"/>
          </a:ln>
        </p:spPr>
      </p:sp>
      <p:sp>
        <p:nvSpPr>
          <p:cNvPr id="8" name="Text 6"/>
          <p:cNvSpPr txBox="1"/>
          <p:nvPr/>
        </p:nvSpPr>
        <p:spPr>
          <a:xfrm>
            <a:off x="167545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data splits</a:t>
            </a:r>
            <a:endParaRPr lang="en-US" sz="1441" dirty="0"/>
          </a:p>
        </p:txBody>
      </p:sp>
      <p:sp>
        <p:nvSpPr>
          <p:cNvPr id="9" name="Shape 7"/>
          <p:cNvSpPr/>
          <p:nvPr/>
        </p:nvSpPr>
        <p:spPr>
          <a:xfrm>
            <a:off x="4163991" y="3838927"/>
            <a:ext cx="244024" cy="0"/>
          </a:xfrm>
          <a:prstGeom prst="line">
            <a:avLst/>
          </a:prstGeom>
          <a:noFill/>
          <a:ln w="22860">
            <a:solidFill>
              <a:srgbClr val="009E73"/>
            </a:solidFill>
            <a:prstDash val="solid"/>
            <a:tailEnd type="triangle"/>
          </a:ln>
        </p:spPr>
      </p:sp>
      <p:sp>
        <p:nvSpPr>
          <p:cNvPr id="10" name="Text 8"/>
          <p:cNvSpPr txBox="1"/>
          <p:nvPr/>
        </p:nvSpPr>
        <p:spPr>
          <a:xfrm>
            <a:off x="3485299"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pairs + baseline</a:t>
            </a:r>
            <a:endParaRPr lang="en-US" sz="1441" dirty="0"/>
          </a:p>
        </p:txBody>
      </p:sp>
      <p:sp>
        <p:nvSpPr>
          <p:cNvPr id="11" name="Text 9"/>
          <p:cNvSpPr txBox="1"/>
          <p:nvPr/>
        </p:nvSpPr>
        <p:spPr>
          <a:xfrm>
            <a:off x="348529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rows</a:t>
            </a:r>
            <a:endParaRPr lang="en-US" sz="1441" dirty="0"/>
          </a:p>
        </p:txBody>
      </p:sp>
      <p:sp>
        <p:nvSpPr>
          <p:cNvPr id="12" name="Shape 10"/>
          <p:cNvSpPr/>
          <p:nvPr/>
        </p:nvSpPr>
        <p:spPr>
          <a:xfrm>
            <a:off x="5973836" y="3838927"/>
            <a:ext cx="244024" cy="0"/>
          </a:xfrm>
          <a:prstGeom prst="line">
            <a:avLst/>
          </a:prstGeom>
          <a:noFill/>
          <a:ln w="22860">
            <a:solidFill>
              <a:srgbClr val="009E73"/>
            </a:solidFill>
            <a:prstDash val="solid"/>
            <a:tailEnd type="triangle"/>
          </a:ln>
        </p:spPr>
      </p:sp>
      <p:sp>
        <p:nvSpPr>
          <p:cNvPr id="13" name="Text 11"/>
          <p:cNvSpPr txBox="1"/>
          <p:nvPr/>
        </p:nvSpPr>
        <p:spPr>
          <a:xfrm>
            <a:off x="529514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LoRA count</a:t>
            </a:r>
            <a:endParaRPr lang="en-US" sz="1441" dirty="0"/>
          </a:p>
        </p:txBody>
      </p:sp>
      <p:sp>
        <p:nvSpPr>
          <p:cNvPr id="14" name="Shape 12"/>
          <p:cNvSpPr/>
          <p:nvPr/>
        </p:nvSpPr>
        <p:spPr>
          <a:xfrm>
            <a:off x="7783680" y="3838927"/>
            <a:ext cx="244024" cy="0"/>
          </a:xfrm>
          <a:prstGeom prst="line">
            <a:avLst/>
          </a:prstGeom>
          <a:noFill/>
          <a:ln w="22860">
            <a:solidFill>
              <a:srgbClr val="009E73"/>
            </a:solidFill>
            <a:prstDash val="solid"/>
            <a:tailEnd type="triangle"/>
          </a:ln>
        </p:spPr>
      </p:sp>
      <p:sp>
        <p:nvSpPr>
          <p:cNvPr id="15" name="Text 13"/>
          <p:cNvSpPr txBox="1"/>
          <p:nvPr/>
        </p:nvSpPr>
        <p:spPr>
          <a:xfrm>
            <a:off x="7104989" y="2453481"/>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model + loss</a:t>
            </a:r>
            <a:endParaRPr lang="en-US" sz="1441" dirty="0"/>
          </a:p>
        </p:txBody>
      </p:sp>
      <p:sp>
        <p:nvSpPr>
          <p:cNvPr id="16" name="Text 14"/>
          <p:cNvSpPr txBox="1"/>
          <p:nvPr/>
        </p:nvSpPr>
        <p:spPr>
          <a:xfrm>
            <a:off x="7104989"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history</a:t>
            </a:r>
            <a:endParaRPr lang="en-US" sz="1441" dirty="0"/>
          </a:p>
        </p:txBody>
      </p:sp>
      <p:sp>
        <p:nvSpPr>
          <p:cNvPr id="17" name="Shape 15"/>
          <p:cNvSpPr/>
          <p:nvPr/>
        </p:nvSpPr>
        <p:spPr>
          <a:xfrm>
            <a:off x="9593525" y="3838927"/>
            <a:ext cx="244024" cy="0"/>
          </a:xfrm>
          <a:prstGeom prst="line">
            <a:avLst/>
          </a:prstGeom>
          <a:noFill/>
          <a:ln w="22860">
            <a:solidFill>
              <a:srgbClr val="009E73"/>
            </a:solidFill>
            <a:prstDash val="solid"/>
            <a:tailEnd type="triangle"/>
          </a:ln>
        </p:spPr>
      </p:sp>
      <p:sp>
        <p:nvSpPr>
          <p:cNvPr id="18" name="Text 16"/>
          <p:cNvSpPr txBox="1"/>
          <p:nvPr/>
        </p:nvSpPr>
        <p:spPr>
          <a:xfrm>
            <a:off x="8914834" y="2665782"/>
            <a:ext cx="1601408" cy="212301"/>
          </a:xfrm>
          <a:prstGeom prst="rect">
            <a:avLst/>
          </a:prstGeom>
          <a:noFill/>
          <a:ln/>
        </p:spPr>
        <p:txBody>
          <a:bodyPr wrap="square" lIns="0" tIns="0" rIns="0" bIns="0" rtlCol="0" anchor="ctr"/>
          <a:lstStyle/>
          <a:p>
            <a:pPr algn="ctr" indent="0" marL="0">
              <a:lnSpc>
                <a:spcPct val="116000"/>
              </a:lnSpc>
              <a:buNone/>
            </a:pPr>
            <a:r>
              <a:rPr lang="en-US" sz="1441" dirty="0">
                <a:solidFill>
                  <a:srgbClr val="0072B2"/>
                </a:solidFill>
                <a:latin typeface="Arial" pitchFamily="34" charset="0"/>
                <a:ea typeface="Arial" pitchFamily="34" charset="-122"/>
                <a:cs typeface="Arial" pitchFamily="34" charset="-120"/>
              </a:rPr>
              <a:t>test outcomes</a:t>
            </a:r>
            <a:endParaRPr lang="en-US" sz="1441" dirty="0"/>
          </a:p>
        </p:txBody>
      </p:sp>
      <p:sp>
        <p:nvSpPr>
          <p:cNvPr id="19" name="Shape 17"/>
          <p:cNvSpPr/>
          <p:nvPr/>
        </p:nvSpPr>
        <p:spPr>
          <a:xfrm>
            <a:off x="788325" y="2939089"/>
            <a:ext cx="1565821" cy="1799677"/>
          </a:xfrm>
          <a:prstGeom prst="roundRect">
            <a:avLst>
              <a:gd name="adj" fmla="val 4672"/>
            </a:avLst>
          </a:prstGeom>
          <a:solidFill>
            <a:srgbClr val="E4F2FB"/>
          </a:solidFill>
          <a:ln w="15240">
            <a:solidFill>
              <a:srgbClr val="0072B2"/>
            </a:solidFill>
            <a:prstDash val="solid"/>
          </a:ln>
        </p:spPr>
      </p:sp>
      <p:sp>
        <p:nvSpPr>
          <p:cNvPr id="20" name="Text 18"/>
          <p:cNvSpPr txBox="1"/>
          <p:nvPr/>
        </p:nvSpPr>
        <p:spPr>
          <a:xfrm>
            <a:off x="849331" y="3230697"/>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Filter + split</a:t>
            </a:r>
            <a:endParaRPr lang="en-US" sz="1561" dirty="0"/>
          </a:p>
        </p:txBody>
      </p:sp>
      <p:sp>
        <p:nvSpPr>
          <p:cNvPr id="21" name="Text 19"/>
          <p:cNvSpPr txBox="1"/>
          <p:nvPr/>
        </p:nvSpPr>
        <p:spPr>
          <a:xfrm>
            <a:off x="849331" y="353694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Ten intents;</a:t>
            </a:r>
            <a:endParaRPr lang="en-US" sz="1441" dirty="0"/>
          </a:p>
        </p:txBody>
      </p:sp>
      <p:sp>
        <p:nvSpPr>
          <p:cNvPr id="22" name="Text 20"/>
          <p:cNvSpPr txBox="1"/>
          <p:nvPr/>
        </p:nvSpPr>
        <p:spPr>
          <a:xfrm>
            <a:off x="849331" y="374924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separate</a:t>
            </a:r>
            <a:endParaRPr lang="en-US" sz="1441" dirty="0"/>
          </a:p>
        </p:txBody>
      </p:sp>
      <p:sp>
        <p:nvSpPr>
          <p:cNvPr id="23" name="Text 21"/>
          <p:cNvSpPr txBox="1"/>
          <p:nvPr/>
        </p:nvSpPr>
        <p:spPr>
          <a:xfrm>
            <a:off x="849331" y="396154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datasets</a:t>
            </a:r>
            <a:endParaRPr lang="en-US" sz="1441" dirty="0"/>
          </a:p>
        </p:txBody>
      </p:sp>
      <p:sp>
        <p:nvSpPr>
          <p:cNvPr id="24" name="Text 22"/>
          <p:cNvSpPr txBox="1"/>
          <p:nvPr/>
        </p:nvSpPr>
        <p:spPr>
          <a:xfrm>
            <a:off x="811202" y="423485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INTENTS</a:t>
            </a:r>
            <a:endParaRPr lang="en-US" sz="1441" dirty="0"/>
          </a:p>
        </p:txBody>
      </p:sp>
      <p:sp>
        <p:nvSpPr>
          <p:cNvPr id="25" name="Shape 23"/>
          <p:cNvSpPr/>
          <p:nvPr/>
        </p:nvSpPr>
        <p:spPr>
          <a:xfrm>
            <a:off x="2598170" y="2939089"/>
            <a:ext cx="1565821" cy="1799677"/>
          </a:xfrm>
          <a:prstGeom prst="rect">
            <a:avLst/>
          </a:prstGeom>
          <a:solidFill>
            <a:srgbClr val="E5F7EF"/>
          </a:solidFill>
          <a:ln w="15240">
            <a:solidFill>
              <a:srgbClr val="009E73"/>
            </a:solidFill>
            <a:prstDash val="solid"/>
          </a:ln>
        </p:spPr>
      </p:sp>
      <p:sp>
        <p:nvSpPr>
          <p:cNvPr id="26" name="Text 24"/>
          <p:cNvSpPr txBox="1"/>
          <p:nvPr/>
        </p:nvSpPr>
        <p:spPr>
          <a:xfrm>
            <a:off x="2659176" y="31157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Format +</a:t>
            </a:r>
            <a:endParaRPr lang="en-US" sz="1561" dirty="0"/>
          </a:p>
        </p:txBody>
      </p:sp>
      <p:sp>
        <p:nvSpPr>
          <p:cNvPr id="27" name="Text 25"/>
          <p:cNvSpPr txBox="1"/>
          <p:nvPr/>
        </p:nvSpPr>
        <p:spPr>
          <a:xfrm>
            <a:off x="2659176" y="334569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baseline</a:t>
            </a:r>
            <a:endParaRPr lang="en-US" sz="1561" dirty="0"/>
          </a:p>
        </p:txBody>
      </p:sp>
      <p:sp>
        <p:nvSpPr>
          <p:cNvPr id="28" name="Text 26"/>
          <p:cNvSpPr txBox="1"/>
          <p:nvPr/>
        </p:nvSpPr>
        <p:spPr>
          <a:xfrm>
            <a:off x="2659176" y="365194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Chat pairs;</a:t>
            </a:r>
            <a:endParaRPr lang="en-US" sz="1441" dirty="0"/>
          </a:p>
        </p:txBody>
      </p:sp>
      <p:sp>
        <p:nvSpPr>
          <p:cNvPr id="29" name="Text 27"/>
          <p:cNvSpPr txBox="1"/>
          <p:nvPr/>
        </p:nvSpPr>
        <p:spPr>
          <a:xfrm>
            <a:off x="2659176" y="386424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base-model</a:t>
            </a:r>
            <a:endParaRPr lang="en-US" sz="1441" dirty="0"/>
          </a:p>
        </p:txBody>
      </p:sp>
      <p:sp>
        <p:nvSpPr>
          <p:cNvPr id="30" name="Text 28"/>
          <p:cNvSpPr txBox="1"/>
          <p:nvPr/>
        </p:nvSpPr>
        <p:spPr>
          <a:xfrm>
            <a:off x="2659176" y="4076546"/>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scores</a:t>
            </a:r>
            <a:endParaRPr lang="en-US" sz="1441" dirty="0"/>
          </a:p>
        </p:txBody>
      </p:sp>
      <p:sp>
        <p:nvSpPr>
          <p:cNvPr id="31" name="Text 29"/>
          <p:cNvSpPr txBox="1"/>
          <p:nvPr/>
        </p:nvSpPr>
        <p:spPr>
          <a:xfrm>
            <a:off x="2621047" y="4349853"/>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to_chat</a:t>
            </a:r>
            <a:endParaRPr lang="en-US" sz="1441" dirty="0"/>
          </a:p>
        </p:txBody>
      </p:sp>
      <p:sp>
        <p:nvSpPr>
          <p:cNvPr id="32" name="Shape 30"/>
          <p:cNvSpPr/>
          <p:nvPr/>
        </p:nvSpPr>
        <p:spPr>
          <a:xfrm>
            <a:off x="4408015" y="2939089"/>
            <a:ext cx="1565821" cy="1799677"/>
          </a:xfrm>
          <a:prstGeom prst="roundRect">
            <a:avLst>
              <a:gd name="adj" fmla="val 4672"/>
            </a:avLst>
          </a:prstGeom>
          <a:solidFill>
            <a:srgbClr val="FFF0E6"/>
          </a:solidFill>
          <a:ln w="15240">
            <a:solidFill>
              <a:srgbClr val="D55E00"/>
            </a:solidFill>
            <a:prstDash val="solid"/>
          </a:ln>
        </p:spPr>
      </p:sp>
      <p:sp>
        <p:nvSpPr>
          <p:cNvPr id="33" name="Text 31"/>
          <p:cNvSpPr txBox="1"/>
          <p:nvPr/>
        </p:nvSpPr>
        <p:spPr>
          <a:xfrm>
            <a:off x="4469021" y="311570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Count</a:t>
            </a:r>
            <a:endParaRPr lang="en-US" sz="1561" dirty="0"/>
          </a:p>
        </p:txBody>
      </p:sp>
      <p:sp>
        <p:nvSpPr>
          <p:cNvPr id="34" name="Text 32"/>
          <p:cNvSpPr txBox="1"/>
          <p:nvPr/>
        </p:nvSpPr>
        <p:spPr>
          <a:xfrm>
            <a:off x="4469021" y="334569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trainables</a:t>
            </a:r>
            <a:endParaRPr lang="en-US" sz="1561" dirty="0"/>
          </a:p>
        </p:txBody>
      </p:sp>
      <p:sp>
        <p:nvSpPr>
          <p:cNvPr id="35" name="Text 33"/>
          <p:cNvSpPr txBox="1"/>
          <p:nvPr/>
        </p:nvSpPr>
        <p:spPr>
          <a:xfrm>
            <a:off x="4469021" y="365194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Weights the</a:t>
            </a:r>
            <a:endParaRPr lang="en-US" sz="1441" dirty="0"/>
          </a:p>
        </p:txBody>
      </p:sp>
      <p:sp>
        <p:nvSpPr>
          <p:cNvPr id="36" name="Text 34"/>
          <p:cNvSpPr txBox="1"/>
          <p:nvPr/>
        </p:nvSpPr>
        <p:spPr>
          <a:xfrm>
            <a:off x="4469021" y="386424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optimiser</a:t>
            </a:r>
            <a:endParaRPr lang="en-US" sz="1441" dirty="0"/>
          </a:p>
        </p:txBody>
      </p:sp>
      <p:sp>
        <p:nvSpPr>
          <p:cNvPr id="37" name="Text 35"/>
          <p:cNvSpPr txBox="1"/>
          <p:nvPr/>
        </p:nvSpPr>
        <p:spPr>
          <a:xfrm>
            <a:off x="4469021" y="4076546"/>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changes</a:t>
            </a:r>
            <a:endParaRPr lang="en-US" sz="1441" dirty="0"/>
          </a:p>
        </p:txBody>
      </p:sp>
      <p:sp>
        <p:nvSpPr>
          <p:cNvPr id="38" name="Text 36"/>
          <p:cNvSpPr txBox="1"/>
          <p:nvPr/>
        </p:nvSpPr>
        <p:spPr>
          <a:xfrm>
            <a:off x="4430892" y="4349853"/>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trainable</a:t>
            </a:r>
            <a:endParaRPr lang="en-US" sz="1441" dirty="0"/>
          </a:p>
        </p:txBody>
      </p:sp>
      <p:sp>
        <p:nvSpPr>
          <p:cNvPr id="39" name="Shape 37"/>
          <p:cNvSpPr/>
          <p:nvPr/>
        </p:nvSpPr>
        <p:spPr>
          <a:xfrm>
            <a:off x="6217860" y="2939089"/>
            <a:ext cx="1565821" cy="1799677"/>
          </a:xfrm>
          <a:prstGeom prst="roundRect">
            <a:avLst>
              <a:gd name="adj" fmla="val 4672"/>
            </a:avLst>
          </a:prstGeom>
          <a:solidFill>
            <a:srgbClr val="FFF0E6"/>
          </a:solidFill>
          <a:ln w="15240">
            <a:solidFill>
              <a:srgbClr val="D55E00"/>
            </a:solidFill>
            <a:prstDash val="solid"/>
          </a:ln>
        </p:spPr>
      </p:sp>
      <p:sp>
        <p:nvSpPr>
          <p:cNvPr id="40" name="Text 38"/>
          <p:cNvSpPr txBox="1"/>
          <p:nvPr/>
        </p:nvSpPr>
        <p:spPr>
          <a:xfrm>
            <a:off x="6278866"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Train +</a:t>
            </a:r>
            <a:endParaRPr lang="en-US" sz="1561" dirty="0"/>
          </a:p>
        </p:txBody>
      </p:sp>
      <p:sp>
        <p:nvSpPr>
          <p:cNvPr id="41" name="Text 39"/>
          <p:cNvSpPr txBox="1"/>
          <p:nvPr/>
        </p:nvSpPr>
        <p:spPr>
          <a:xfrm>
            <a:off x="6278866"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monitor</a:t>
            </a:r>
            <a:endParaRPr lang="en-US" sz="1561" dirty="0"/>
          </a:p>
        </p:txBody>
      </p:sp>
      <p:sp>
        <p:nvSpPr>
          <p:cNvPr id="42" name="Text 40"/>
          <p:cNvSpPr txBox="1"/>
          <p:nvPr/>
        </p:nvSpPr>
        <p:spPr>
          <a:xfrm>
            <a:off x="6278866"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Training and</a:t>
            </a:r>
            <a:endParaRPr lang="en-US" sz="1441" dirty="0"/>
          </a:p>
        </p:txBody>
      </p:sp>
      <p:sp>
        <p:nvSpPr>
          <p:cNvPr id="43" name="Text 41"/>
          <p:cNvSpPr txBox="1"/>
          <p:nvPr/>
        </p:nvSpPr>
        <p:spPr>
          <a:xfrm>
            <a:off x="6278866"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validation losses</a:t>
            </a:r>
            <a:endParaRPr lang="en-US" sz="1441" dirty="0"/>
          </a:p>
        </p:txBody>
      </p:sp>
      <p:sp>
        <p:nvSpPr>
          <p:cNvPr id="44" name="Text 42"/>
          <p:cNvSpPr txBox="1"/>
          <p:nvPr/>
        </p:nvSpPr>
        <p:spPr>
          <a:xfrm>
            <a:off x="6240737"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trainer</a:t>
            </a:r>
            <a:endParaRPr lang="en-US" sz="1441" dirty="0"/>
          </a:p>
        </p:txBody>
      </p:sp>
      <p:sp>
        <p:nvSpPr>
          <p:cNvPr id="45" name="Shape 43"/>
          <p:cNvSpPr/>
          <p:nvPr/>
        </p:nvSpPr>
        <p:spPr>
          <a:xfrm>
            <a:off x="8027705" y="2939089"/>
            <a:ext cx="1565821" cy="1799677"/>
          </a:xfrm>
          <a:prstGeom prst="roundRect">
            <a:avLst>
              <a:gd name="adj" fmla="val 4672"/>
            </a:avLst>
          </a:prstGeom>
          <a:solidFill>
            <a:srgbClr val="F9EAF4"/>
          </a:solidFill>
          <a:ln w="15240">
            <a:solidFill>
              <a:srgbClr val="CC79A7"/>
            </a:solidFill>
            <a:prstDash val="solid"/>
          </a:ln>
        </p:spPr>
      </p:sp>
      <p:sp>
        <p:nvSpPr>
          <p:cNvPr id="46" name="Text 44"/>
          <p:cNvSpPr txBox="1"/>
          <p:nvPr/>
        </p:nvSpPr>
        <p:spPr>
          <a:xfrm>
            <a:off x="8088711" y="3221851"/>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Inspect final</a:t>
            </a:r>
            <a:endParaRPr lang="en-US" sz="1561" dirty="0"/>
          </a:p>
        </p:txBody>
      </p:sp>
      <p:sp>
        <p:nvSpPr>
          <p:cNvPr id="47" name="Text 45"/>
          <p:cNvSpPr txBox="1"/>
          <p:nvPr/>
        </p:nvSpPr>
        <p:spPr>
          <a:xfrm>
            <a:off x="8088711" y="3451844"/>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errors</a:t>
            </a:r>
            <a:endParaRPr lang="en-US" sz="1561" dirty="0"/>
          </a:p>
        </p:txBody>
      </p:sp>
      <p:sp>
        <p:nvSpPr>
          <p:cNvPr id="48" name="Text 46"/>
          <p:cNvSpPr txBox="1"/>
          <p:nvPr/>
        </p:nvSpPr>
        <p:spPr>
          <a:xfrm>
            <a:off x="8088711" y="3758094"/>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Wrong and</a:t>
            </a:r>
            <a:endParaRPr lang="en-US" sz="1441" dirty="0"/>
          </a:p>
        </p:txBody>
      </p:sp>
      <p:sp>
        <p:nvSpPr>
          <p:cNvPr id="49" name="Text 47"/>
          <p:cNvSpPr txBox="1"/>
          <p:nvPr/>
        </p:nvSpPr>
        <p:spPr>
          <a:xfrm>
            <a:off x="8088711" y="3970395"/>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unparsed labels</a:t>
            </a:r>
            <a:endParaRPr lang="en-US" sz="1441" dirty="0"/>
          </a:p>
        </p:txBody>
      </p:sp>
      <p:sp>
        <p:nvSpPr>
          <p:cNvPr id="50" name="Text 48"/>
          <p:cNvSpPr txBox="1"/>
          <p:nvPr/>
        </p:nvSpPr>
        <p:spPr>
          <a:xfrm>
            <a:off x="8050582" y="4243702"/>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errors</a:t>
            </a:r>
            <a:endParaRPr lang="en-US" sz="1441" dirty="0"/>
          </a:p>
        </p:txBody>
      </p:sp>
      <p:sp>
        <p:nvSpPr>
          <p:cNvPr id="51" name="Shape 49"/>
          <p:cNvSpPr/>
          <p:nvPr/>
        </p:nvSpPr>
        <p:spPr>
          <a:xfrm>
            <a:off x="9837549" y="2939089"/>
            <a:ext cx="1565821" cy="1799677"/>
          </a:xfrm>
          <a:prstGeom prst="rect">
            <a:avLst/>
          </a:prstGeom>
          <a:solidFill>
            <a:srgbClr val="F2F4F5"/>
          </a:solidFill>
          <a:ln w="15240">
            <a:solidFill>
              <a:srgbClr val="626B73"/>
            </a:solidFill>
            <a:prstDash val="solid"/>
          </a:ln>
        </p:spPr>
      </p:sp>
      <p:sp>
        <p:nvSpPr>
          <p:cNvPr id="52" name="Text 50"/>
          <p:cNvSpPr txBox="1"/>
          <p:nvPr/>
        </p:nvSpPr>
        <p:spPr>
          <a:xfrm>
            <a:off x="9898555" y="3230697"/>
            <a:ext cx="1443809" cy="229993"/>
          </a:xfrm>
          <a:prstGeom prst="rect">
            <a:avLst/>
          </a:prstGeom>
          <a:noFill/>
          <a:ln/>
        </p:spPr>
        <p:txBody>
          <a:bodyPr wrap="square" lIns="0" tIns="0" rIns="0" bIns="0" rtlCol="0" anchor="ctr"/>
          <a:lstStyle/>
          <a:p>
            <a:pPr algn="ctr" indent="0" marL="0">
              <a:lnSpc>
                <a:spcPct val="116000"/>
              </a:lnSpc>
              <a:buNone/>
            </a:pPr>
            <a:r>
              <a:rPr lang="en-US" sz="1561" b="1" dirty="0">
                <a:solidFill>
                  <a:srgbClr val="1E1B4B"/>
                </a:solidFill>
                <a:latin typeface="Arial" pitchFamily="34" charset="0"/>
                <a:ea typeface="Arial" pitchFamily="34" charset="-122"/>
                <a:cs typeface="Arial" pitchFamily="34" charset="-120"/>
              </a:rPr>
              <a:t>Check + save</a:t>
            </a:r>
            <a:endParaRPr lang="en-US" sz="1561" dirty="0"/>
          </a:p>
        </p:txBody>
      </p:sp>
      <p:sp>
        <p:nvSpPr>
          <p:cNvPr id="53" name="Text 51"/>
          <p:cNvSpPr txBox="1"/>
          <p:nvPr/>
        </p:nvSpPr>
        <p:spPr>
          <a:xfrm>
            <a:off x="9898555" y="353694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Adapter-off</a:t>
            </a:r>
            <a:endParaRPr lang="en-US" sz="1441" dirty="0"/>
          </a:p>
        </p:txBody>
      </p:sp>
      <p:sp>
        <p:nvSpPr>
          <p:cNvPr id="54" name="Text 52"/>
          <p:cNvSpPr txBox="1"/>
          <p:nvPr/>
        </p:nvSpPr>
        <p:spPr>
          <a:xfrm>
            <a:off x="9898555" y="3749248"/>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check; save</a:t>
            </a:r>
            <a:endParaRPr lang="en-US" sz="1441" dirty="0"/>
          </a:p>
        </p:txBody>
      </p:sp>
      <p:sp>
        <p:nvSpPr>
          <p:cNvPr id="55" name="Text 53"/>
          <p:cNvSpPr txBox="1"/>
          <p:nvPr/>
        </p:nvSpPr>
        <p:spPr>
          <a:xfrm>
            <a:off x="9898555" y="3961549"/>
            <a:ext cx="1443809" cy="212301"/>
          </a:xfrm>
          <a:prstGeom prst="rect">
            <a:avLst/>
          </a:prstGeom>
          <a:noFill/>
          <a:ln/>
        </p:spPr>
        <p:txBody>
          <a:bodyPr wrap="square" lIns="0" tIns="0" rIns="0" bIns="0" rtlCol="0" anchor="ctr"/>
          <a:lstStyle/>
          <a:p>
            <a:pPr algn="ctr" indent="0" marL="0">
              <a:lnSpc>
                <a:spcPct val="116000"/>
              </a:lnSpc>
              <a:buNone/>
            </a:pPr>
            <a:r>
              <a:rPr lang="en-US" sz="1441" dirty="0">
                <a:solidFill>
                  <a:srgbClr val="1F2937"/>
                </a:solidFill>
                <a:latin typeface="Arial" pitchFamily="34" charset="0"/>
                <a:ea typeface="Arial" pitchFamily="34" charset="-122"/>
                <a:cs typeface="Arial" pitchFamily="34" charset="-120"/>
              </a:rPr>
              <a:t>weights</a:t>
            </a:r>
            <a:endParaRPr lang="en-US" sz="1441" dirty="0"/>
          </a:p>
        </p:txBody>
      </p:sp>
      <p:sp>
        <p:nvSpPr>
          <p:cNvPr id="56" name="Text 54"/>
          <p:cNvSpPr txBox="1"/>
          <p:nvPr/>
        </p:nvSpPr>
        <p:spPr>
          <a:xfrm>
            <a:off x="9860427" y="4234856"/>
            <a:ext cx="1520066" cy="212301"/>
          </a:xfrm>
          <a:prstGeom prst="rect">
            <a:avLst/>
          </a:prstGeom>
          <a:noFill/>
          <a:ln/>
        </p:spPr>
        <p:txBody>
          <a:bodyPr wrap="square" lIns="0" tIns="0" rIns="0" bIns="0" rtlCol="0" anchor="ctr"/>
          <a:lstStyle/>
          <a:p>
            <a:pPr algn="ctr" indent="0" marL="0">
              <a:lnSpc>
                <a:spcPct val="116000"/>
              </a:lnSpc>
              <a:buNone/>
            </a:pPr>
            <a:r>
              <a:rPr lang="en-US" sz="1441" dirty="0">
                <a:solidFill>
                  <a:srgbClr val="0F766E"/>
                </a:solidFill>
                <a:latin typeface="Arial" pitchFamily="34" charset="0"/>
                <a:ea typeface="Arial" pitchFamily="34" charset="-122"/>
                <a:cs typeface="Arial" pitchFamily="34" charset="-120"/>
              </a:rPr>
              <a:t>adapter_mb</a:t>
            </a:r>
            <a:endParaRPr lang="en-US" sz="1441" dirty="0"/>
          </a:p>
        </p:txBody>
      </p:sp>
      <p:sp>
        <p:nvSpPr>
          <p:cNvPr id="57" name="Shape 55"/>
          <p:cNvSpPr/>
          <p:nvPr/>
        </p:nvSpPr>
        <p:spPr>
          <a:xfrm>
            <a:off x="788325" y="5630979"/>
            <a:ext cx="198270" cy="198270"/>
          </a:xfrm>
          <a:prstGeom prst="roundRect">
            <a:avLst>
              <a:gd name="adj" fmla="val 36895"/>
            </a:avLst>
          </a:prstGeom>
          <a:solidFill>
            <a:srgbClr val="E4F2FB"/>
          </a:solidFill>
          <a:ln w="15240">
            <a:solidFill>
              <a:srgbClr val="0072B2"/>
            </a:solidFill>
            <a:prstDash val="solid"/>
          </a:ln>
        </p:spPr>
      </p:sp>
      <p:sp>
        <p:nvSpPr>
          <p:cNvPr id="58" name="Text 56"/>
          <p:cNvSpPr txBox="1"/>
          <p:nvPr/>
        </p:nvSpPr>
        <p:spPr>
          <a:xfrm>
            <a:off x="1047600" y="5608101"/>
            <a:ext cx="873059"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Input data</a:t>
            </a:r>
            <a:endParaRPr lang="en-US" sz="1441" dirty="0"/>
          </a:p>
        </p:txBody>
      </p:sp>
      <p:sp>
        <p:nvSpPr>
          <p:cNvPr id="59" name="Shape 57"/>
          <p:cNvSpPr/>
          <p:nvPr/>
        </p:nvSpPr>
        <p:spPr>
          <a:xfrm>
            <a:off x="2118929" y="5630979"/>
            <a:ext cx="198270" cy="198270"/>
          </a:xfrm>
          <a:prstGeom prst="rect">
            <a:avLst/>
          </a:prstGeom>
          <a:solidFill>
            <a:srgbClr val="E5F7EF"/>
          </a:solidFill>
          <a:ln w="15240">
            <a:solidFill>
              <a:srgbClr val="009E73"/>
            </a:solidFill>
            <a:prstDash val="solid"/>
          </a:ln>
        </p:spPr>
      </p:sp>
      <p:sp>
        <p:nvSpPr>
          <p:cNvPr id="60" name="Text 58"/>
          <p:cNvSpPr txBox="1"/>
          <p:nvPr/>
        </p:nvSpPr>
        <p:spPr>
          <a:xfrm>
            <a:off x="2378205" y="5608101"/>
            <a:ext cx="546304"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Model</a:t>
            </a:r>
            <a:endParaRPr lang="en-US" sz="1441" dirty="0"/>
          </a:p>
        </p:txBody>
      </p:sp>
      <p:sp>
        <p:nvSpPr>
          <p:cNvPr id="61" name="Shape 59"/>
          <p:cNvSpPr/>
          <p:nvPr/>
        </p:nvSpPr>
        <p:spPr>
          <a:xfrm>
            <a:off x="3122778" y="5630979"/>
            <a:ext cx="198270" cy="198270"/>
          </a:xfrm>
          <a:prstGeom prst="roundRect">
            <a:avLst>
              <a:gd name="adj" fmla="val 36895"/>
            </a:avLst>
          </a:prstGeom>
          <a:solidFill>
            <a:srgbClr val="FFF0E6"/>
          </a:solidFill>
          <a:ln w="15240">
            <a:solidFill>
              <a:srgbClr val="D55E00"/>
            </a:solidFill>
            <a:prstDash val="solid"/>
          </a:ln>
        </p:spPr>
      </p:sp>
      <p:sp>
        <p:nvSpPr>
          <p:cNvPr id="62" name="Text 60"/>
          <p:cNvSpPr txBox="1"/>
          <p:nvPr/>
        </p:nvSpPr>
        <p:spPr>
          <a:xfrm>
            <a:off x="3382054" y="5608101"/>
            <a:ext cx="116780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Loss / update</a:t>
            </a:r>
            <a:endParaRPr lang="en-US" sz="1441" dirty="0"/>
          </a:p>
        </p:txBody>
      </p:sp>
      <p:sp>
        <p:nvSpPr>
          <p:cNvPr id="63" name="Shape 61"/>
          <p:cNvSpPr/>
          <p:nvPr/>
        </p:nvSpPr>
        <p:spPr>
          <a:xfrm>
            <a:off x="4748126" y="5630979"/>
            <a:ext cx="198270" cy="198270"/>
          </a:xfrm>
          <a:prstGeom prst="roundRect">
            <a:avLst>
              <a:gd name="adj" fmla="val 36895"/>
            </a:avLst>
          </a:prstGeom>
          <a:solidFill>
            <a:srgbClr val="F9EAF4"/>
          </a:solidFill>
          <a:ln w="15240">
            <a:solidFill>
              <a:srgbClr val="CC79A7"/>
            </a:solidFill>
            <a:prstDash val="solid"/>
          </a:ln>
        </p:spPr>
      </p:sp>
      <p:sp>
        <p:nvSpPr>
          <p:cNvPr id="64" name="Text 62"/>
          <p:cNvSpPr txBox="1"/>
          <p:nvPr/>
        </p:nvSpPr>
        <p:spPr>
          <a:xfrm>
            <a:off x="5007401" y="5608101"/>
            <a:ext cx="599153"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Output</a:t>
            </a:r>
            <a:endParaRPr lang="en-US" sz="1441" dirty="0"/>
          </a:p>
        </p:txBody>
      </p:sp>
      <p:sp>
        <p:nvSpPr>
          <p:cNvPr id="65" name="Shape 63"/>
          <p:cNvSpPr/>
          <p:nvPr/>
        </p:nvSpPr>
        <p:spPr>
          <a:xfrm>
            <a:off x="5804824" y="5630979"/>
            <a:ext cx="198270" cy="198270"/>
          </a:xfrm>
          <a:prstGeom prst="rect">
            <a:avLst/>
          </a:prstGeom>
          <a:solidFill>
            <a:srgbClr val="F2F4F5"/>
          </a:solidFill>
          <a:ln w="15240">
            <a:solidFill>
              <a:srgbClr val="626B73"/>
            </a:solidFill>
            <a:prstDash val="solid"/>
          </a:ln>
        </p:spPr>
      </p:sp>
      <p:sp>
        <p:nvSpPr>
          <p:cNvPr id="66" name="Text 64"/>
          <p:cNvSpPr txBox="1"/>
          <p:nvPr/>
        </p:nvSpPr>
        <p:spPr>
          <a:xfrm>
            <a:off x="6064099" y="5608101"/>
            <a:ext cx="110434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Human / tool</a:t>
            </a:r>
            <a:endParaRPr lang="en-US" sz="1441" dirty="0"/>
          </a:p>
        </p:txBody>
      </p:sp>
      <p:sp>
        <p:nvSpPr>
          <p:cNvPr id="67" name="Shape 65"/>
          <p:cNvSpPr/>
          <p:nvPr/>
        </p:nvSpPr>
        <p:spPr>
          <a:xfrm>
            <a:off x="7366714" y="5730113"/>
            <a:ext cx="335533" cy="0"/>
          </a:xfrm>
          <a:prstGeom prst="line">
            <a:avLst/>
          </a:prstGeom>
          <a:noFill/>
          <a:ln w="22860">
            <a:solidFill>
              <a:srgbClr val="009E73"/>
            </a:solidFill>
            <a:prstDash val="solid"/>
            <a:tailEnd type="triangle"/>
          </a:ln>
        </p:spPr>
      </p:sp>
      <p:sp>
        <p:nvSpPr>
          <p:cNvPr id="68" name="Text 66"/>
          <p:cNvSpPr txBox="1"/>
          <p:nvPr/>
        </p:nvSpPr>
        <p:spPr>
          <a:xfrm>
            <a:off x="7763253" y="5608101"/>
            <a:ext cx="788576" cy="244024"/>
          </a:xfrm>
          <a:prstGeom prst="rect">
            <a:avLst/>
          </a:prstGeom>
          <a:noFill/>
          <a:ln/>
        </p:spPr>
        <p:txBody>
          <a:bodyPr wrap="square" lIns="0" tIns="0" rIns="0" bIns="0" rtlCol="0" anchor="ctr"/>
          <a:lstStyle/>
          <a:p>
            <a:pPr algn="l" indent="0" marL="0">
              <a:lnSpc>
                <a:spcPct val="116000"/>
              </a:lnSpc>
              <a:buNone/>
            </a:pPr>
            <a:r>
              <a:rPr lang="en-US" sz="1441" dirty="0">
                <a:solidFill>
                  <a:srgbClr val="1F2937"/>
                </a:solidFill>
                <a:latin typeface="Arial" pitchFamily="34" charset="0"/>
                <a:ea typeface="Arial" pitchFamily="34" charset="-122"/>
                <a:cs typeface="Arial" pitchFamily="34" charset="-120"/>
              </a:rPr>
              <a:t>data flow</a:t>
            </a:r>
            <a:endParaRPr lang="en-US" sz="1441" dirty="0"/>
          </a:p>
        </p:txBody>
      </p:sp>
      <p:sp>
        <p:nvSpPr>
          <p:cNvPr id="69" name="Text 67"/>
          <p:cNvSpPr txBox="1"/>
          <p:nvPr/>
        </p:nvSpPr>
        <p:spPr>
          <a:xfrm>
            <a:off x="548640" y="5925312"/>
            <a:ext cx="11094415" cy="475488"/>
          </a:xfrm>
          <a:prstGeom prst="rect">
            <a:avLst/>
          </a:prstGeom>
          <a:noFill/>
          <a:ln/>
        </p:spPr>
        <p:txBody>
          <a:bodyPr wrap="square" lIns="0" tIns="0" rIns="0" bIns="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Check: What two different failures should you distinguish in the test output table?</a:t>
            </a:r>
            <a:endParaRPr lang="en-US" sz="1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Lab 8: LoRA fine-tuning for a banking domain task</a:t>
            </a:r>
            <a:endParaRPr lang="en-US" sz="3200" dirty="0"/>
          </a:p>
        </p:txBody>
      </p:sp>
      <p:sp>
        <p:nvSpPr>
          <p:cNvPr id="6" name="Shape 4"/>
          <p:cNvSpPr/>
          <p:nvPr/>
        </p:nvSpPr>
        <p:spPr>
          <a:xfrm>
            <a:off x="548640" y="1527048"/>
            <a:ext cx="411480" cy="411480"/>
          </a:xfrm>
          <a:prstGeom prst="ellipse">
            <a:avLst/>
          </a:prstGeom>
          <a:solidFill>
            <a:srgbClr val="0F766E"/>
          </a:solidFill>
          <a:ln w="12700">
            <a:solidFill>
              <a:srgbClr val="0F766E"/>
            </a:solidFill>
            <a:prstDash val="solid"/>
          </a:ln>
        </p:spPr>
      </p:sp>
      <p:sp>
        <p:nvSpPr>
          <p:cNvPr id="7" name="Text 5"/>
          <p:cNvSpPr txBox="1"/>
          <p:nvPr/>
        </p:nvSpPr>
        <p:spPr>
          <a:xfrm>
            <a:off x="548640" y="152704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481328"/>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Prepare ten intents; split datasets.</a:t>
            </a:r>
            <a:endParaRPr lang="en-US" sz="2000" dirty="0"/>
          </a:p>
        </p:txBody>
      </p:sp>
      <p:sp>
        <p:nvSpPr>
          <p:cNvPr id="9" name="Shape 7"/>
          <p:cNvSpPr/>
          <p:nvPr/>
        </p:nvSpPr>
        <p:spPr>
          <a:xfrm>
            <a:off x="548640" y="2331720"/>
            <a:ext cx="411480" cy="411480"/>
          </a:xfrm>
          <a:prstGeom prst="ellipse">
            <a:avLst/>
          </a:prstGeom>
          <a:solidFill>
            <a:srgbClr val="0F766E"/>
          </a:solidFill>
          <a:ln w="12700">
            <a:solidFill>
              <a:srgbClr val="0F766E"/>
            </a:solidFill>
            <a:prstDash val="solid"/>
          </a:ln>
        </p:spPr>
      </p:sp>
      <p:sp>
        <p:nvSpPr>
          <p:cNvPr id="10" name="Text 8"/>
          <p:cNvSpPr txBox="1"/>
          <p:nvPr/>
        </p:nvSpPr>
        <p:spPr>
          <a:xfrm>
            <a:off x="548640" y="23317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286000"/>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Measure zero-shot and few-shot.</a:t>
            </a:r>
            <a:endParaRPr lang="en-US" sz="2000" dirty="0"/>
          </a:p>
        </p:txBody>
      </p:sp>
      <p:sp>
        <p:nvSpPr>
          <p:cNvPr id="12" name="Shape 10"/>
          <p:cNvSpPr/>
          <p:nvPr/>
        </p:nvSpPr>
        <p:spPr>
          <a:xfrm>
            <a:off x="548640" y="3136392"/>
            <a:ext cx="411480" cy="411480"/>
          </a:xfrm>
          <a:prstGeom prst="ellipse">
            <a:avLst/>
          </a:prstGeom>
          <a:solidFill>
            <a:srgbClr val="0F766E"/>
          </a:solidFill>
          <a:ln w="12700">
            <a:solidFill>
              <a:srgbClr val="0F766E"/>
            </a:solidFill>
            <a:prstDash val="solid"/>
          </a:ln>
        </p:spPr>
      </p:sp>
      <p:sp>
        <p:nvSpPr>
          <p:cNvPr id="13" name="Text 11"/>
          <p:cNvSpPr txBox="1"/>
          <p:nvPr/>
        </p:nvSpPr>
        <p:spPr>
          <a:xfrm>
            <a:off x="548640" y="31363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090672"/>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Add rank 16 LoRA; count weights.</a:t>
            </a:r>
            <a:endParaRPr lang="en-US" sz="2000" dirty="0"/>
          </a:p>
        </p:txBody>
      </p:sp>
      <p:sp>
        <p:nvSpPr>
          <p:cNvPr id="15" name="Shape 13"/>
          <p:cNvSpPr/>
          <p:nvPr/>
        </p:nvSpPr>
        <p:spPr>
          <a:xfrm>
            <a:off x="548640" y="3941064"/>
            <a:ext cx="411480" cy="411480"/>
          </a:xfrm>
          <a:prstGeom prst="ellipse">
            <a:avLst/>
          </a:prstGeom>
          <a:solidFill>
            <a:srgbClr val="0F766E"/>
          </a:solidFill>
          <a:ln w="12700">
            <a:solidFill>
              <a:srgbClr val="0F766E"/>
            </a:solidFill>
            <a:prstDash val="solid"/>
          </a:ln>
        </p:spPr>
      </p:sp>
      <p:sp>
        <p:nvSpPr>
          <p:cNvPr id="16" name="Text 14"/>
          <p:cNvSpPr txBox="1"/>
          <p:nvPr/>
        </p:nvSpPr>
        <p:spPr>
          <a:xfrm>
            <a:off x="548640" y="394106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895344"/>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Train; watch validation.</a:t>
            </a:r>
            <a:endParaRPr lang="en-US" sz="2000" dirty="0"/>
          </a:p>
        </p:txBody>
      </p:sp>
      <p:sp>
        <p:nvSpPr>
          <p:cNvPr id="18" name="Shape 16"/>
          <p:cNvSpPr/>
          <p:nvPr/>
        </p:nvSpPr>
        <p:spPr>
          <a:xfrm>
            <a:off x="548640" y="4745736"/>
            <a:ext cx="411480" cy="411480"/>
          </a:xfrm>
          <a:prstGeom prst="ellipse">
            <a:avLst/>
          </a:prstGeom>
          <a:solidFill>
            <a:srgbClr val="0F766E"/>
          </a:solidFill>
          <a:ln w="12700">
            <a:solidFill>
              <a:srgbClr val="0F766E"/>
            </a:solidFill>
            <a:prstDash val="solid"/>
          </a:ln>
        </p:spPr>
      </p:sp>
      <p:sp>
        <p:nvSpPr>
          <p:cNvPr id="19" name="Text 17"/>
          <p:cNvSpPr txBox="1"/>
          <p:nvPr/>
        </p:nvSpPr>
        <p:spPr>
          <a:xfrm>
            <a:off x="548640" y="47457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00016"/>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Test and inspect errors.</a:t>
            </a:r>
            <a:endParaRPr lang="en-US" sz="2000" dirty="0"/>
          </a:p>
        </p:txBody>
      </p:sp>
      <p:sp>
        <p:nvSpPr>
          <p:cNvPr id="21" name="Shape 19"/>
          <p:cNvSpPr/>
          <p:nvPr/>
        </p:nvSpPr>
        <p:spPr>
          <a:xfrm>
            <a:off x="548640" y="5550408"/>
            <a:ext cx="411480" cy="411480"/>
          </a:xfrm>
          <a:prstGeom prst="ellipse">
            <a:avLst/>
          </a:prstGeom>
          <a:solidFill>
            <a:srgbClr val="0F766E"/>
          </a:solidFill>
          <a:ln w="12700">
            <a:solidFill>
              <a:srgbClr val="0F766E"/>
            </a:solidFill>
            <a:prstDash val="solid"/>
          </a:ln>
        </p:spPr>
      </p:sp>
      <p:sp>
        <p:nvSpPr>
          <p:cNvPr id="22" name="Text 20"/>
          <p:cNvSpPr txBox="1"/>
          <p:nvPr/>
        </p:nvSpPr>
        <p:spPr>
          <a:xfrm>
            <a:off x="548640" y="555040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04688"/>
            <a:ext cx="6583680" cy="804672"/>
          </a:xfrm>
          <a:prstGeom prst="rect">
            <a:avLst/>
          </a:prstGeom>
          <a:noFill/>
          <a:ln/>
        </p:spPr>
        <p:txBody>
          <a:bodyPr wrap="square" lIns="50800" tIns="50800" rIns="50800" bIns="50800" rtlCol="0" anchor="t"/>
          <a:lstStyle/>
          <a:p>
            <a:pPr indent="0" marL="0">
              <a:buNone/>
            </a:pPr>
            <a:r>
              <a:rPr lang="en-US" sz="2000" dirty="0">
                <a:solidFill>
                  <a:srgbClr val="1F2937"/>
                </a:solidFill>
                <a:latin typeface="Calibri" pitchFamily="34" charset="0"/>
                <a:ea typeface="Calibri" pitchFamily="34" charset="-122"/>
                <a:cs typeface="Calibri" pitchFamily="34" charset="-120"/>
              </a:rPr>
              <a:t>Check older abilities; save adapter.</a:t>
            </a:r>
            <a:endParaRPr lang="en-US" sz="2000" dirty="0"/>
          </a:p>
        </p:txBody>
      </p:sp>
      <p:sp>
        <p:nvSpPr>
          <p:cNvPr id="24" name="Shape 22"/>
          <p:cNvSpPr/>
          <p:nvPr/>
        </p:nvSpPr>
        <p:spPr>
          <a:xfrm>
            <a:off x="8046720" y="1481328"/>
            <a:ext cx="3596335" cy="4828032"/>
          </a:xfrm>
          <a:prstGeom prst="roundRect">
            <a:avLst>
              <a:gd name="adj" fmla="val 3051"/>
            </a:avLst>
          </a:prstGeom>
          <a:solidFill>
            <a:srgbClr val="E6F4F1"/>
          </a:solidFill>
          <a:ln w="12700">
            <a:solidFill>
              <a:srgbClr val="E6F4F1"/>
            </a:solidFill>
            <a:prstDash val="solid"/>
          </a:ln>
        </p:spPr>
      </p:sp>
      <p:sp>
        <p:nvSpPr>
          <p:cNvPr id="25" name="Shape 23"/>
          <p:cNvSpPr/>
          <p:nvPr/>
        </p:nvSpPr>
        <p:spPr>
          <a:xfrm>
            <a:off x="8229600" y="1709928"/>
            <a:ext cx="502920" cy="502920"/>
          </a:xfrm>
          <a:prstGeom prst="ellipse">
            <a:avLst/>
          </a:prstGeom>
          <a:solidFill>
            <a:srgbClr val="0F766E"/>
          </a:solidFill>
          <a:ln w="12700">
            <a:solidFill>
              <a:srgbClr val="0F766E"/>
            </a:solidFill>
            <a:prstDash val="solid"/>
          </a:ln>
        </p:spPr>
      </p:sp>
      <p:pic>
        <p:nvPicPr>
          <p:cNvPr id="26" name="Image 0" descr="preencoded.png">    </p:cNvPr>
          <p:cNvPicPr>
            <a:picLocks noChangeAspect="1"/>
          </p:cNvPicPr>
          <p:nvPr/>
        </p:nvPicPr>
        <p:blipFill>
          <a:blip r:embed="rId1"/>
          <a:stretch>
            <a:fillRect/>
          </a:stretch>
        </p:blipFill>
        <p:spPr>
          <a:xfrm>
            <a:off x="8350301" y="1830629"/>
            <a:ext cx="261518" cy="261518"/>
          </a:xfrm>
          <a:prstGeom prst="rect">
            <a:avLst/>
          </a:prstGeom>
        </p:spPr>
      </p:pic>
      <p:sp>
        <p:nvSpPr>
          <p:cNvPr id="27" name="Text 24"/>
          <p:cNvSpPr txBox="1"/>
          <p:nvPr/>
        </p:nvSpPr>
        <p:spPr>
          <a:xfrm>
            <a:off x="8869680" y="1664208"/>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Runtime</a:t>
            </a:r>
            <a:endParaRPr lang="en-US" sz="1500" dirty="0"/>
          </a:p>
        </p:txBody>
      </p:sp>
      <p:sp>
        <p:nvSpPr>
          <p:cNvPr id="28" name="Text 25"/>
          <p:cNvSpPr txBox="1"/>
          <p:nvPr/>
        </p:nvSpPr>
        <p:spPr>
          <a:xfrm>
            <a:off x="8869680" y="2011680"/>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GPU recommended. A full CPU run took about 84 min; prepare results before class</a:t>
            </a:r>
            <a:endParaRPr lang="en-US" sz="1400" dirty="0"/>
          </a:p>
        </p:txBody>
      </p:sp>
      <p:sp>
        <p:nvSpPr>
          <p:cNvPr id="29" name="Shape 26"/>
          <p:cNvSpPr/>
          <p:nvPr/>
        </p:nvSpPr>
        <p:spPr>
          <a:xfrm>
            <a:off x="8229600" y="3227832"/>
            <a:ext cx="502920" cy="502920"/>
          </a:xfrm>
          <a:prstGeom prst="ellipse">
            <a:avLst/>
          </a:prstGeom>
          <a:solidFill>
            <a:srgbClr val="0F766E"/>
          </a:solidFill>
          <a:ln w="12700">
            <a:solidFill>
              <a:srgbClr val="0F766E"/>
            </a:solidFill>
            <a:prstDash val="solid"/>
          </a:ln>
        </p:spPr>
      </p:sp>
      <p:pic>
        <p:nvPicPr>
          <p:cNvPr id="30" name="Image 1" descr="preencoded.png">    </p:cNvPr>
          <p:cNvPicPr>
            <a:picLocks noChangeAspect="1"/>
          </p:cNvPicPr>
          <p:nvPr/>
        </p:nvPicPr>
        <p:blipFill>
          <a:blip r:embed="rId2"/>
          <a:stretch>
            <a:fillRect/>
          </a:stretch>
        </p:blipFill>
        <p:spPr>
          <a:xfrm>
            <a:off x="8350301" y="3348533"/>
            <a:ext cx="261518" cy="261518"/>
          </a:xfrm>
          <a:prstGeom prst="rect">
            <a:avLst/>
          </a:prstGeom>
        </p:spPr>
      </p:pic>
      <p:sp>
        <p:nvSpPr>
          <p:cNvPr id="31" name="Text 27"/>
          <p:cNvSpPr txBox="1"/>
          <p:nvPr/>
        </p:nvSpPr>
        <p:spPr>
          <a:xfrm>
            <a:off x="8869680" y="3182112"/>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Time</a:t>
            </a:r>
            <a:endParaRPr lang="en-US" sz="1500" dirty="0"/>
          </a:p>
        </p:txBody>
      </p:sp>
      <p:sp>
        <p:nvSpPr>
          <p:cNvPr id="32" name="Text 28"/>
          <p:cNvSpPr txBox="1"/>
          <p:nvPr/>
        </p:nvSpPr>
        <p:spPr>
          <a:xfrm>
            <a:off x="8869680" y="3529584"/>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2-hour lab</a:t>
            </a:r>
            <a:endParaRPr lang="en-US" sz="1400" dirty="0"/>
          </a:p>
        </p:txBody>
      </p:sp>
      <p:sp>
        <p:nvSpPr>
          <p:cNvPr id="33" name="Shape 29"/>
          <p:cNvSpPr/>
          <p:nvPr/>
        </p:nvSpPr>
        <p:spPr>
          <a:xfrm>
            <a:off x="8229600" y="4745736"/>
            <a:ext cx="502920" cy="502920"/>
          </a:xfrm>
          <a:prstGeom prst="ellipse">
            <a:avLst/>
          </a:prstGeom>
          <a:solidFill>
            <a:srgbClr val="0F766E"/>
          </a:solidFill>
          <a:ln w="12700">
            <a:solidFill>
              <a:srgbClr val="0F766E"/>
            </a:solidFill>
            <a:prstDash val="solid"/>
          </a:ln>
        </p:spPr>
      </p:sp>
      <p:pic>
        <p:nvPicPr>
          <p:cNvPr id="34" name="Image 2" descr="preencoded.png">    </p:cNvPr>
          <p:cNvPicPr>
            <a:picLocks noChangeAspect="1"/>
          </p:cNvPicPr>
          <p:nvPr/>
        </p:nvPicPr>
        <p:blipFill>
          <a:blip r:embed="rId3"/>
          <a:stretch>
            <a:fillRect/>
          </a:stretch>
        </p:blipFill>
        <p:spPr>
          <a:xfrm>
            <a:off x="8350301" y="4866437"/>
            <a:ext cx="261518" cy="261518"/>
          </a:xfrm>
          <a:prstGeom prst="rect">
            <a:avLst/>
          </a:prstGeom>
        </p:spPr>
      </p:pic>
      <p:sp>
        <p:nvSpPr>
          <p:cNvPr id="35" name="Text 30"/>
          <p:cNvSpPr txBox="1"/>
          <p:nvPr/>
        </p:nvSpPr>
        <p:spPr>
          <a:xfrm>
            <a:off x="8869680" y="4700016"/>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Hand in</a:t>
            </a:r>
            <a:endParaRPr lang="en-US" sz="1500" dirty="0"/>
          </a:p>
        </p:txBody>
      </p:sp>
      <p:sp>
        <p:nvSpPr>
          <p:cNvPr id="36" name="Text 31"/>
          <p:cNvSpPr txBox="1"/>
          <p:nvPr/>
        </p:nvSpPr>
        <p:spPr>
          <a:xfrm>
            <a:off x="8869680" y="5047488"/>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Notebook with baseline vs fine-tuned table, loss curve, error analysis and three written answers</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Read, watch, practise</a:t>
            </a:r>
            <a:endParaRPr lang="en-US" sz="3200" dirty="0"/>
          </a:p>
        </p:txBody>
      </p:sp>
      <p:sp>
        <p:nvSpPr>
          <p:cNvPr id="6" name="Shape 4"/>
          <p:cNvSpPr/>
          <p:nvPr/>
        </p:nvSpPr>
        <p:spPr>
          <a:xfrm>
            <a:off x="548640" y="1554480"/>
            <a:ext cx="457200" cy="457200"/>
          </a:xfrm>
          <a:prstGeom prst="ellipse">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658368" y="1664208"/>
            <a:ext cx="237744" cy="237744"/>
          </a:xfrm>
          <a:prstGeom prst="rect">
            <a:avLst/>
          </a:prstGeom>
        </p:spPr>
      </p:pic>
      <p:sp>
        <p:nvSpPr>
          <p:cNvPr id="8" name="Text 5"/>
          <p:cNvSpPr txBox="1"/>
          <p:nvPr/>
        </p:nvSpPr>
        <p:spPr>
          <a:xfrm>
            <a:off x="1143000"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Hugging Face LLM Course: Supervised fine-tuning with TRL and LoRA</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Official chapter with notebooks</a:t>
            </a:r>
            <a:endParaRPr lang="en-US" sz="1500" dirty="0"/>
          </a:p>
        </p:txBody>
      </p:sp>
      <p:sp>
        <p:nvSpPr>
          <p:cNvPr id="9" name="Shape 6"/>
          <p:cNvSpPr/>
          <p:nvPr/>
        </p:nvSpPr>
        <p:spPr>
          <a:xfrm>
            <a:off x="548640" y="2377440"/>
            <a:ext cx="457200" cy="457200"/>
          </a:xfrm>
          <a:prstGeom prst="ellipse">
            <a:avLst/>
          </a:prstGeom>
          <a:solidFill>
            <a:srgbClr val="4F46E5"/>
          </a:solidFill>
          <a:ln w="12700">
            <a:solidFill>
              <a:srgbClr val="4F46E5"/>
            </a:solidFill>
            <a:prstDash val="solid"/>
          </a:ln>
        </p:spPr>
      </p:sp>
      <p:pic>
        <p:nvPicPr>
          <p:cNvPr id="10" name="Image 1" descr="preencoded.png">    </p:cNvPr>
          <p:cNvPicPr>
            <a:picLocks noChangeAspect="1"/>
          </p:cNvPicPr>
          <p:nvPr/>
        </p:nvPicPr>
        <p:blipFill>
          <a:blip r:embed="rId3"/>
          <a:stretch>
            <a:fillRect/>
          </a:stretch>
        </p:blipFill>
        <p:spPr>
          <a:xfrm>
            <a:off x="658368" y="2487168"/>
            <a:ext cx="237744" cy="237744"/>
          </a:xfrm>
          <a:prstGeom prst="rect">
            <a:avLst/>
          </a:prstGeom>
        </p:spPr>
      </p:pic>
      <p:sp>
        <p:nvSpPr>
          <p:cNvPr id="11" name="Text 7"/>
          <p:cNvSpPr txBox="1"/>
          <p:nvPr/>
        </p:nvSpPr>
        <p:spPr>
          <a:xfrm>
            <a:off x="1143000"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Hugging Face PEFT documentation</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LoRA, QLoRA, adapters, prompt tuning</a:t>
            </a:r>
            <a:endParaRPr lang="en-US" sz="1500" dirty="0"/>
          </a:p>
        </p:txBody>
      </p:sp>
      <p:sp>
        <p:nvSpPr>
          <p:cNvPr id="12" name="Shape 8"/>
          <p:cNvSpPr/>
          <p:nvPr/>
        </p:nvSpPr>
        <p:spPr>
          <a:xfrm>
            <a:off x="548640" y="3200400"/>
            <a:ext cx="457200" cy="457200"/>
          </a:xfrm>
          <a:prstGeom prst="ellipse">
            <a:avLst/>
          </a:prstGeom>
          <a:solidFill>
            <a:srgbClr val="4F46E5"/>
          </a:solidFill>
          <a:ln w="12700">
            <a:solidFill>
              <a:srgbClr val="4F46E5"/>
            </a:solidFill>
            <a:prstDash val="solid"/>
          </a:ln>
        </p:spPr>
      </p:sp>
      <p:pic>
        <p:nvPicPr>
          <p:cNvPr id="13" name="Image 2" descr="preencoded.png">    </p:cNvPr>
          <p:cNvPicPr>
            <a:picLocks noChangeAspect="1"/>
          </p:cNvPicPr>
          <p:nvPr/>
        </p:nvPicPr>
        <p:blipFill>
          <a:blip r:embed="rId5"/>
          <a:stretch>
            <a:fillRect/>
          </a:stretch>
        </p:blipFill>
        <p:spPr>
          <a:xfrm>
            <a:off x="658368" y="3310128"/>
            <a:ext cx="237744" cy="237744"/>
          </a:xfrm>
          <a:prstGeom prst="rect">
            <a:avLst/>
          </a:prstGeom>
        </p:spPr>
      </p:pic>
      <p:sp>
        <p:nvSpPr>
          <p:cNvPr id="14" name="Text 9"/>
          <p:cNvSpPr txBox="1"/>
          <p:nvPr/>
        </p:nvSpPr>
        <p:spPr>
          <a:xfrm>
            <a:off x="1143000"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Hugging Face TRL documentation</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SFT, DPO, GRPO trainers</a:t>
            </a:r>
            <a:endParaRPr lang="en-US" sz="1500" dirty="0"/>
          </a:p>
        </p:txBody>
      </p:sp>
      <p:sp>
        <p:nvSpPr>
          <p:cNvPr id="15" name="Shape 10"/>
          <p:cNvSpPr/>
          <p:nvPr/>
        </p:nvSpPr>
        <p:spPr>
          <a:xfrm>
            <a:off x="548640" y="4023360"/>
            <a:ext cx="457200" cy="457200"/>
          </a:xfrm>
          <a:prstGeom prst="ellipse">
            <a:avLst/>
          </a:prstGeom>
          <a:solidFill>
            <a:srgbClr val="4F46E5"/>
          </a:solidFill>
          <a:ln w="12700">
            <a:solidFill>
              <a:srgbClr val="4F46E5"/>
            </a:solidFill>
            <a:prstDash val="solid"/>
          </a:ln>
        </p:spPr>
      </p:sp>
      <p:pic>
        <p:nvPicPr>
          <p:cNvPr id="16" name="Image 3" descr="preencoded.png">    </p:cNvPr>
          <p:cNvPicPr>
            <a:picLocks noChangeAspect="1"/>
          </p:cNvPicPr>
          <p:nvPr/>
        </p:nvPicPr>
        <p:blipFill>
          <a:blip r:embed="rId7"/>
          <a:stretch>
            <a:fillRect/>
          </a:stretch>
        </p:blipFill>
        <p:spPr>
          <a:xfrm>
            <a:off x="658368" y="4133088"/>
            <a:ext cx="237744" cy="237744"/>
          </a:xfrm>
          <a:prstGeom prst="rect">
            <a:avLst/>
          </a:prstGeom>
        </p:spPr>
      </p:pic>
      <p:sp>
        <p:nvSpPr>
          <p:cNvPr id="17" name="Text 11"/>
          <p:cNvSpPr txBox="1"/>
          <p:nvPr/>
        </p:nvSpPr>
        <p:spPr>
          <a:xfrm>
            <a:off x="1143000"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Hugging Face blog: Illustrating RLHF</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Clear walkthrough of the pipeline</a:t>
            </a:r>
            <a:endParaRPr lang="en-US" sz="1500" dirty="0"/>
          </a:p>
        </p:txBody>
      </p:sp>
      <p:sp>
        <p:nvSpPr>
          <p:cNvPr id="18" name="Shape 12"/>
          <p:cNvSpPr/>
          <p:nvPr/>
        </p:nvSpPr>
        <p:spPr>
          <a:xfrm>
            <a:off x="6278728" y="1554480"/>
            <a:ext cx="457200" cy="457200"/>
          </a:xfrm>
          <a:prstGeom prst="ellipse">
            <a:avLst/>
          </a:prstGeom>
          <a:solidFill>
            <a:srgbClr val="4F46E5"/>
          </a:solidFill>
          <a:ln w="12700">
            <a:solidFill>
              <a:srgbClr val="4F46E5"/>
            </a:solidFill>
            <a:prstDash val="solid"/>
          </a:ln>
        </p:spPr>
      </p:sp>
      <p:pic>
        <p:nvPicPr>
          <p:cNvPr id="19" name="Image 4" descr="preencoded.png">    </p:cNvPr>
          <p:cNvPicPr>
            <a:picLocks noChangeAspect="1"/>
          </p:cNvPicPr>
          <p:nvPr/>
        </p:nvPicPr>
        <p:blipFill>
          <a:blip r:embed="rId9"/>
          <a:stretch>
            <a:fillRect/>
          </a:stretch>
        </p:blipFill>
        <p:spPr>
          <a:xfrm>
            <a:off x="6388456" y="1664208"/>
            <a:ext cx="237744" cy="237744"/>
          </a:xfrm>
          <a:prstGeom prst="rect">
            <a:avLst/>
          </a:prstGeom>
        </p:spPr>
      </p:pic>
      <p:sp>
        <p:nvSpPr>
          <p:cNvPr id="20" name="Text 13"/>
          <p:cNvSpPr txBox="1"/>
          <p:nvPr/>
        </p:nvSpPr>
        <p:spPr>
          <a:xfrm>
            <a:off x="6873088"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Google ML Crash Course: LLMs (fine-tuning, distillation)</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Official concise module</a:t>
            </a:r>
            <a:endParaRPr lang="en-US" sz="1500" dirty="0"/>
          </a:p>
        </p:txBody>
      </p:sp>
      <p:sp>
        <p:nvSpPr>
          <p:cNvPr id="21" name="Shape 14"/>
          <p:cNvSpPr/>
          <p:nvPr/>
        </p:nvSpPr>
        <p:spPr>
          <a:xfrm>
            <a:off x="6278728" y="2377440"/>
            <a:ext cx="457200" cy="457200"/>
          </a:xfrm>
          <a:prstGeom prst="ellipse">
            <a:avLst/>
          </a:prstGeom>
          <a:solidFill>
            <a:srgbClr val="4F46E5"/>
          </a:solidFill>
          <a:ln w="12700">
            <a:solidFill>
              <a:srgbClr val="4F46E5"/>
            </a:solidFill>
            <a:prstDash val="solid"/>
          </a:ln>
        </p:spPr>
      </p:sp>
      <p:pic>
        <p:nvPicPr>
          <p:cNvPr id="22" name="Image 5" descr="preencoded.png">    </p:cNvPr>
          <p:cNvPicPr>
            <a:picLocks noChangeAspect="1"/>
          </p:cNvPicPr>
          <p:nvPr/>
        </p:nvPicPr>
        <p:blipFill>
          <a:blip r:embed="rId11"/>
          <a:stretch>
            <a:fillRect/>
          </a:stretch>
        </p:blipFill>
        <p:spPr>
          <a:xfrm>
            <a:off x="6388456" y="2487168"/>
            <a:ext cx="237744" cy="237744"/>
          </a:xfrm>
          <a:prstGeom prst="rect">
            <a:avLst/>
          </a:prstGeom>
        </p:spPr>
      </p:pic>
      <p:sp>
        <p:nvSpPr>
          <p:cNvPr id="23" name="Text 15"/>
          <p:cNvSpPr txBox="1"/>
          <p:nvPr/>
        </p:nvSpPr>
        <p:spPr>
          <a:xfrm>
            <a:off x="6873088"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Hu et al. (2021) LoRA</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Low-rank adaptation</a:t>
            </a:r>
            <a:endParaRPr lang="en-US" sz="1500" dirty="0"/>
          </a:p>
        </p:txBody>
      </p:sp>
      <p:sp>
        <p:nvSpPr>
          <p:cNvPr id="24" name="Shape 16"/>
          <p:cNvSpPr/>
          <p:nvPr/>
        </p:nvSpPr>
        <p:spPr>
          <a:xfrm>
            <a:off x="6278728" y="3200400"/>
            <a:ext cx="457200" cy="457200"/>
          </a:xfrm>
          <a:prstGeom prst="ellipse">
            <a:avLst/>
          </a:prstGeom>
          <a:solidFill>
            <a:srgbClr val="4F46E5"/>
          </a:solidFill>
          <a:ln w="12700">
            <a:solidFill>
              <a:srgbClr val="4F46E5"/>
            </a:solidFill>
            <a:prstDash val="solid"/>
          </a:ln>
        </p:spPr>
      </p:sp>
      <p:pic>
        <p:nvPicPr>
          <p:cNvPr id="25" name="Image 6" descr="preencoded.png">    </p:cNvPr>
          <p:cNvPicPr>
            <a:picLocks noChangeAspect="1"/>
          </p:cNvPicPr>
          <p:nvPr/>
        </p:nvPicPr>
        <p:blipFill>
          <a:blip r:embed="rId13"/>
          <a:stretch>
            <a:fillRect/>
          </a:stretch>
        </p:blipFill>
        <p:spPr>
          <a:xfrm>
            <a:off x="6388456" y="3310128"/>
            <a:ext cx="237744" cy="237744"/>
          </a:xfrm>
          <a:prstGeom prst="rect">
            <a:avLst/>
          </a:prstGeom>
        </p:spPr>
      </p:pic>
      <p:sp>
        <p:nvSpPr>
          <p:cNvPr id="26" name="Text 17"/>
          <p:cNvSpPr txBox="1"/>
          <p:nvPr/>
        </p:nvSpPr>
        <p:spPr>
          <a:xfrm>
            <a:off x="6873088"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Rafailov et al. (2023) Direct Preference Optimization</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DPO</a:t>
            </a:r>
            <a:endParaRPr lang="en-US" sz="1500" dirty="0"/>
          </a:p>
        </p:txBody>
      </p:sp>
      <p:sp>
        <p:nvSpPr>
          <p:cNvPr id="27" name="Shape 18"/>
          <p:cNvSpPr/>
          <p:nvPr/>
        </p:nvSpPr>
        <p:spPr>
          <a:xfrm>
            <a:off x="6278728" y="4023360"/>
            <a:ext cx="457200" cy="457200"/>
          </a:xfrm>
          <a:prstGeom prst="ellipse">
            <a:avLst/>
          </a:prstGeom>
          <a:solidFill>
            <a:srgbClr val="4F46E5"/>
          </a:solidFill>
          <a:ln w="12700">
            <a:solidFill>
              <a:srgbClr val="4F46E5"/>
            </a:solidFill>
            <a:prstDash val="solid"/>
          </a:ln>
        </p:spPr>
      </p:sp>
      <p:pic>
        <p:nvPicPr>
          <p:cNvPr id="28" name="Image 7" descr="preencoded.png">    </p:cNvPr>
          <p:cNvPicPr>
            <a:picLocks noChangeAspect="1"/>
          </p:cNvPicPr>
          <p:nvPr/>
        </p:nvPicPr>
        <p:blipFill>
          <a:blip r:embed="rId15"/>
          <a:stretch>
            <a:fillRect/>
          </a:stretch>
        </p:blipFill>
        <p:spPr>
          <a:xfrm>
            <a:off x="6388456" y="4133088"/>
            <a:ext cx="237744" cy="237744"/>
          </a:xfrm>
          <a:prstGeom prst="rect">
            <a:avLst/>
          </a:prstGeom>
        </p:spPr>
      </p:pic>
      <p:sp>
        <p:nvSpPr>
          <p:cNvPr id="29" name="Text 19"/>
          <p:cNvSpPr txBox="1"/>
          <p:nvPr/>
        </p:nvSpPr>
        <p:spPr>
          <a:xfrm>
            <a:off x="6873088"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Ouyang et al. (2022) InstructGPT</a:t>
            </a:r>
            <a:endParaRPr lang="en-US" sz="1500" dirty="0"/>
          </a:p>
          <a:p>
            <a:pPr indent="0" marL="0">
              <a:buNone/>
            </a:pPr>
            <a:r>
              <a:rPr lang="en-US" sz="1400" dirty="0">
                <a:solidFill>
                  <a:srgbClr val="6B7280"/>
                </a:solidFill>
                <a:latin typeface="Calibri" pitchFamily="34" charset="0"/>
                <a:ea typeface="Calibri" pitchFamily="34" charset="-122"/>
                <a:cs typeface="Calibri" pitchFamily="34" charset="-120"/>
              </a:rPr>
              <a:t>SFT + RLHF</a:t>
            </a:r>
            <a:endParaRPr lang="en-US" sz="15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08  ·  FINE-TUNING AND DOMAIN ADAPTATION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What we learned: fine-tuning</a:t>
            </a:r>
            <a:endParaRPr lang="en-US" sz="3200" dirty="0"/>
          </a:p>
        </p:txBody>
      </p:sp>
      <p:sp>
        <p:nvSpPr>
          <p:cNvPr id="6" name="Shape 4"/>
          <p:cNvSpPr/>
          <p:nvPr/>
        </p:nvSpPr>
        <p:spPr>
          <a:xfrm>
            <a:off x="946879" y="1630142"/>
            <a:ext cx="3323515" cy="1376531"/>
          </a:xfrm>
          <a:prstGeom prst="rect">
            <a:avLst/>
          </a:prstGeom>
          <a:solidFill>
            <a:srgbClr val="F2F4F5"/>
          </a:solidFill>
          <a:ln w="15240">
            <a:solidFill>
              <a:srgbClr val="626B73"/>
            </a:solidFill>
            <a:prstDash val="solid"/>
          </a:ln>
        </p:spPr>
      </p:sp>
      <p:sp>
        <p:nvSpPr>
          <p:cNvPr id="7" name="Text 5"/>
          <p:cNvSpPr txBox="1"/>
          <p:nvPr/>
        </p:nvSpPr>
        <p:spPr>
          <a:xfrm>
            <a:off x="1080812"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Choose adaptation</a:t>
            </a:r>
            <a:endParaRPr lang="en-US" sz="1758" dirty="0"/>
          </a:p>
        </p:txBody>
      </p:sp>
      <p:sp>
        <p:nvSpPr>
          <p:cNvPr id="8" name="Text 6"/>
          <p:cNvSpPr txBox="1"/>
          <p:nvPr/>
        </p:nvSpPr>
        <p:spPr>
          <a:xfrm>
            <a:off x="1080812" y="2245935"/>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Prompt for instructions; retrieve</a:t>
            </a:r>
            <a:endParaRPr lang="en-US" sz="1523" dirty="0"/>
          </a:p>
        </p:txBody>
      </p:sp>
      <p:sp>
        <p:nvSpPr>
          <p:cNvPr id="9" name="Text 7"/>
          <p:cNvSpPr txBox="1"/>
          <p:nvPr/>
        </p:nvSpPr>
        <p:spPr>
          <a:xfrm>
            <a:off x="1080812" y="247034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facts; train for measured</a:t>
            </a:r>
            <a:endParaRPr lang="en-US" sz="1523" dirty="0"/>
          </a:p>
        </p:txBody>
      </p:sp>
      <p:sp>
        <p:nvSpPr>
          <p:cNvPr id="10" name="Text 8"/>
          <p:cNvSpPr txBox="1"/>
          <p:nvPr/>
        </p:nvSpPr>
        <p:spPr>
          <a:xfrm>
            <a:off x="1080812" y="2694758"/>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behaviour gaps.</a:t>
            </a:r>
            <a:endParaRPr lang="en-US" sz="1523" dirty="0"/>
          </a:p>
        </p:txBody>
      </p:sp>
      <p:sp>
        <p:nvSpPr>
          <p:cNvPr id="11" name="Shape 9"/>
          <p:cNvSpPr/>
          <p:nvPr/>
        </p:nvSpPr>
        <p:spPr>
          <a:xfrm>
            <a:off x="4434090" y="1630142"/>
            <a:ext cx="3323515" cy="1376531"/>
          </a:xfrm>
          <a:prstGeom prst="roundRect">
            <a:avLst>
              <a:gd name="adj" fmla="val 5314"/>
            </a:avLst>
          </a:prstGeom>
          <a:solidFill>
            <a:srgbClr val="E4F2FB"/>
          </a:solidFill>
          <a:ln w="15240">
            <a:solidFill>
              <a:srgbClr val="0072B2"/>
            </a:solidFill>
            <a:prstDash val="solid"/>
          </a:ln>
        </p:spPr>
      </p:sp>
      <p:sp>
        <p:nvSpPr>
          <p:cNvPr id="12" name="Text 10"/>
          <p:cNvSpPr txBox="1"/>
          <p:nvPr/>
        </p:nvSpPr>
        <p:spPr>
          <a:xfrm>
            <a:off x="4568023"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Learn known answers</a:t>
            </a:r>
            <a:endParaRPr lang="en-US" sz="1758" dirty="0"/>
          </a:p>
        </p:txBody>
      </p:sp>
      <p:sp>
        <p:nvSpPr>
          <p:cNvPr id="13" name="Text 11"/>
          <p:cNvSpPr txBox="1"/>
          <p:nvPr/>
        </p:nvSpPr>
        <p:spPr>
          <a:xfrm>
            <a:off x="4568023" y="2245935"/>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SFT reads the prompt and learns</a:t>
            </a:r>
            <a:endParaRPr lang="en-US" sz="1523" dirty="0"/>
          </a:p>
        </p:txBody>
      </p:sp>
      <p:sp>
        <p:nvSpPr>
          <p:cNvPr id="14" name="Text 12"/>
          <p:cNvSpPr txBox="1"/>
          <p:nvPr/>
        </p:nvSpPr>
        <p:spPr>
          <a:xfrm>
            <a:off x="4568023" y="247034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desired answer tokens with loss</a:t>
            </a:r>
            <a:endParaRPr lang="en-US" sz="1523" dirty="0"/>
          </a:p>
        </p:txBody>
      </p:sp>
      <p:sp>
        <p:nvSpPr>
          <p:cNvPr id="15" name="Text 13"/>
          <p:cNvSpPr txBox="1"/>
          <p:nvPr/>
        </p:nvSpPr>
        <p:spPr>
          <a:xfrm>
            <a:off x="4568023" y="2694758"/>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masking.</a:t>
            </a:r>
            <a:endParaRPr lang="en-US" sz="1523" dirty="0"/>
          </a:p>
        </p:txBody>
      </p:sp>
      <p:sp>
        <p:nvSpPr>
          <p:cNvPr id="16" name="Shape 14"/>
          <p:cNvSpPr/>
          <p:nvPr/>
        </p:nvSpPr>
        <p:spPr>
          <a:xfrm>
            <a:off x="7921301" y="1630142"/>
            <a:ext cx="3323515" cy="1376531"/>
          </a:xfrm>
          <a:prstGeom prst="roundRect">
            <a:avLst>
              <a:gd name="adj" fmla="val 5314"/>
            </a:avLst>
          </a:prstGeom>
          <a:solidFill>
            <a:srgbClr val="FFF0E6"/>
          </a:solidFill>
          <a:ln w="15240">
            <a:solidFill>
              <a:srgbClr val="D55E00"/>
            </a:solidFill>
            <a:prstDash val="solid"/>
          </a:ln>
        </p:spPr>
      </p:sp>
      <p:sp>
        <p:nvSpPr>
          <p:cNvPr id="17" name="Text 15"/>
          <p:cNvSpPr txBox="1"/>
          <p:nvPr/>
        </p:nvSpPr>
        <p:spPr>
          <a:xfrm>
            <a:off x="8055233" y="1674786"/>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Learn preferences</a:t>
            </a:r>
            <a:endParaRPr lang="en-US" sz="1758" dirty="0"/>
          </a:p>
        </p:txBody>
      </p:sp>
      <p:sp>
        <p:nvSpPr>
          <p:cNvPr id="18" name="Text 16"/>
          <p:cNvSpPr txBox="1"/>
          <p:nvPr/>
        </p:nvSpPr>
        <p:spPr>
          <a:xfrm>
            <a:off x="8055233" y="2245935"/>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RLHF, DPO and verified rewards</a:t>
            </a:r>
            <a:endParaRPr lang="en-US" sz="1523" dirty="0"/>
          </a:p>
        </p:txBody>
      </p:sp>
      <p:sp>
        <p:nvSpPr>
          <p:cNvPr id="19" name="Text 17"/>
          <p:cNvSpPr txBox="1"/>
          <p:nvPr/>
        </p:nvSpPr>
        <p:spPr>
          <a:xfrm>
            <a:off x="8055233" y="2470347"/>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use different feedback and update</a:t>
            </a:r>
            <a:endParaRPr lang="en-US" sz="1523" dirty="0"/>
          </a:p>
        </p:txBody>
      </p:sp>
      <p:sp>
        <p:nvSpPr>
          <p:cNvPr id="20" name="Text 18"/>
          <p:cNvSpPr txBox="1"/>
          <p:nvPr/>
        </p:nvSpPr>
        <p:spPr>
          <a:xfrm>
            <a:off x="8055233" y="2694758"/>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paths.</a:t>
            </a:r>
            <a:endParaRPr lang="en-US" sz="1523" dirty="0"/>
          </a:p>
        </p:txBody>
      </p:sp>
      <p:sp>
        <p:nvSpPr>
          <p:cNvPr id="21" name="Shape 19"/>
          <p:cNvSpPr/>
          <p:nvPr/>
        </p:nvSpPr>
        <p:spPr>
          <a:xfrm>
            <a:off x="946879" y="3170368"/>
            <a:ext cx="3323515" cy="1376531"/>
          </a:xfrm>
          <a:prstGeom prst="rect">
            <a:avLst/>
          </a:prstGeom>
          <a:solidFill>
            <a:srgbClr val="E5F7EF"/>
          </a:solidFill>
          <a:ln w="15240">
            <a:solidFill>
              <a:srgbClr val="009E73"/>
            </a:solidFill>
            <a:prstDash val="solid"/>
          </a:ln>
        </p:spPr>
      </p:sp>
      <p:sp>
        <p:nvSpPr>
          <p:cNvPr id="22" name="Text 20"/>
          <p:cNvSpPr txBox="1"/>
          <p:nvPr/>
        </p:nvSpPr>
        <p:spPr>
          <a:xfrm>
            <a:off x="1080812"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Add a small correction</a:t>
            </a:r>
            <a:endParaRPr lang="en-US" sz="1758" dirty="0"/>
          </a:p>
        </p:txBody>
      </p:sp>
      <p:sp>
        <p:nvSpPr>
          <p:cNvPr id="23" name="Text 21"/>
          <p:cNvSpPr txBox="1"/>
          <p:nvPr/>
        </p:nvSpPr>
        <p:spPr>
          <a:xfrm>
            <a:off x="1080812" y="378616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LoRA freezes W and trains A/B;</a:t>
            </a:r>
            <a:endParaRPr lang="en-US" sz="1523" dirty="0"/>
          </a:p>
        </p:txBody>
      </p:sp>
      <p:sp>
        <p:nvSpPr>
          <p:cNvPr id="24" name="Text 22"/>
          <p:cNvSpPr txBox="1"/>
          <p:nvPr/>
        </p:nvSpPr>
        <p:spPr>
          <a:xfrm>
            <a:off x="1080812" y="4010573"/>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QLoRA also compresses base</a:t>
            </a:r>
            <a:endParaRPr lang="en-US" sz="1523" dirty="0"/>
          </a:p>
        </p:txBody>
      </p:sp>
      <p:sp>
        <p:nvSpPr>
          <p:cNvPr id="25" name="Text 23"/>
          <p:cNvSpPr txBox="1"/>
          <p:nvPr/>
        </p:nvSpPr>
        <p:spPr>
          <a:xfrm>
            <a:off x="1080812" y="4234984"/>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weights.</a:t>
            </a:r>
            <a:endParaRPr lang="en-US" sz="1523" dirty="0"/>
          </a:p>
        </p:txBody>
      </p:sp>
      <p:sp>
        <p:nvSpPr>
          <p:cNvPr id="26" name="Shape 24"/>
          <p:cNvSpPr/>
          <p:nvPr/>
        </p:nvSpPr>
        <p:spPr>
          <a:xfrm>
            <a:off x="4434090" y="3170368"/>
            <a:ext cx="3323515" cy="1376531"/>
          </a:xfrm>
          <a:prstGeom prst="roundRect">
            <a:avLst>
              <a:gd name="adj" fmla="val 5314"/>
            </a:avLst>
          </a:prstGeom>
          <a:solidFill>
            <a:srgbClr val="E4F2FB"/>
          </a:solidFill>
          <a:ln w="15240">
            <a:solidFill>
              <a:srgbClr val="0072B2"/>
            </a:solidFill>
            <a:prstDash val="solid"/>
          </a:ln>
        </p:spPr>
      </p:sp>
      <p:sp>
        <p:nvSpPr>
          <p:cNvPr id="27" name="Text 25"/>
          <p:cNvSpPr txBox="1"/>
          <p:nvPr/>
        </p:nvSpPr>
        <p:spPr>
          <a:xfrm>
            <a:off x="4568023"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Keep honest datasets</a:t>
            </a:r>
            <a:endParaRPr lang="en-US" sz="1758" dirty="0"/>
          </a:p>
        </p:txBody>
      </p:sp>
      <p:sp>
        <p:nvSpPr>
          <p:cNvPr id="28" name="Text 26"/>
          <p:cNvSpPr txBox="1"/>
          <p:nvPr/>
        </p:nvSpPr>
        <p:spPr>
          <a:xfrm>
            <a:off x="4568023" y="378616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Separate training, validation and</a:t>
            </a:r>
            <a:endParaRPr lang="en-US" sz="1523" dirty="0"/>
          </a:p>
        </p:txBody>
      </p:sp>
      <p:sp>
        <p:nvSpPr>
          <p:cNvPr id="29" name="Text 27"/>
          <p:cNvSpPr txBox="1"/>
          <p:nvPr/>
        </p:nvSpPr>
        <p:spPr>
          <a:xfrm>
            <a:off x="4568023" y="4010573"/>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final tests; match the chat</a:t>
            </a:r>
            <a:endParaRPr lang="en-US" sz="1523" dirty="0"/>
          </a:p>
        </p:txBody>
      </p:sp>
      <p:sp>
        <p:nvSpPr>
          <p:cNvPr id="30" name="Text 28"/>
          <p:cNvSpPr txBox="1"/>
          <p:nvPr/>
        </p:nvSpPr>
        <p:spPr>
          <a:xfrm>
            <a:off x="4568023" y="4234984"/>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template.</a:t>
            </a:r>
            <a:endParaRPr lang="en-US" sz="1523" dirty="0"/>
          </a:p>
        </p:txBody>
      </p:sp>
      <p:sp>
        <p:nvSpPr>
          <p:cNvPr id="31" name="Shape 29"/>
          <p:cNvSpPr/>
          <p:nvPr/>
        </p:nvSpPr>
        <p:spPr>
          <a:xfrm>
            <a:off x="7921301" y="3170368"/>
            <a:ext cx="3323515" cy="1376531"/>
          </a:xfrm>
          <a:prstGeom prst="roundRect">
            <a:avLst>
              <a:gd name="adj" fmla="val 5314"/>
            </a:avLst>
          </a:prstGeom>
          <a:solidFill>
            <a:srgbClr val="F9EAF4"/>
          </a:solidFill>
          <a:ln w="15240">
            <a:solidFill>
              <a:srgbClr val="CC79A7"/>
            </a:solidFill>
            <a:prstDash val="solid"/>
          </a:ln>
        </p:spPr>
      </p:sp>
      <p:sp>
        <p:nvSpPr>
          <p:cNvPr id="32" name="Text 30"/>
          <p:cNvSpPr txBox="1"/>
          <p:nvPr/>
        </p:nvSpPr>
        <p:spPr>
          <a:xfrm>
            <a:off x="8055233" y="3215012"/>
            <a:ext cx="3055650" cy="535731"/>
          </a:xfrm>
          <a:prstGeom prst="rect">
            <a:avLst/>
          </a:prstGeom>
          <a:noFill/>
          <a:ln/>
        </p:spPr>
        <p:txBody>
          <a:bodyPr wrap="square" lIns="0" tIns="0" rIns="0" bIns="0" rtlCol="0" anchor="ctr"/>
          <a:lstStyle/>
          <a:p>
            <a:pPr algn="l" indent="0" marL="0">
              <a:lnSpc>
                <a:spcPct val="116000"/>
              </a:lnSpc>
              <a:buNone/>
            </a:pPr>
            <a:r>
              <a:rPr lang="en-US" sz="1758" b="1" dirty="0">
                <a:solidFill>
                  <a:srgbClr val="1E1B4B"/>
                </a:solidFill>
                <a:latin typeface="Arial" pitchFamily="34" charset="0"/>
                <a:ea typeface="Arial" pitchFamily="34" charset="-122"/>
                <a:cs typeface="Arial" pitchFamily="34" charset="-120"/>
              </a:rPr>
              <a:t>Earn the training cost</a:t>
            </a:r>
            <a:endParaRPr lang="en-US" sz="1758" dirty="0"/>
          </a:p>
        </p:txBody>
      </p:sp>
      <p:sp>
        <p:nvSpPr>
          <p:cNvPr id="33" name="Text 31"/>
          <p:cNvSpPr txBox="1"/>
          <p:nvPr/>
        </p:nvSpPr>
        <p:spPr>
          <a:xfrm>
            <a:off x="8055233" y="3786161"/>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Beat the best prompt; inspect</a:t>
            </a:r>
            <a:endParaRPr lang="en-US" sz="1523" dirty="0"/>
          </a:p>
        </p:txBody>
      </p:sp>
      <p:sp>
        <p:nvSpPr>
          <p:cNvPr id="34" name="Text 32"/>
          <p:cNvSpPr txBox="1"/>
          <p:nvPr/>
        </p:nvSpPr>
        <p:spPr>
          <a:xfrm>
            <a:off x="8055233" y="4010573"/>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errors, older abilities, safety and</a:t>
            </a:r>
            <a:endParaRPr lang="en-US" sz="1523" dirty="0"/>
          </a:p>
        </p:txBody>
      </p:sp>
      <p:sp>
        <p:nvSpPr>
          <p:cNvPr id="35" name="Text 33"/>
          <p:cNvSpPr txBox="1"/>
          <p:nvPr/>
        </p:nvSpPr>
        <p:spPr>
          <a:xfrm>
            <a:off x="8055233" y="4234984"/>
            <a:ext cx="3055650" cy="224412"/>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cost.</a:t>
            </a:r>
            <a:endParaRPr lang="en-US" sz="1523" dirty="0"/>
          </a:p>
        </p:txBody>
      </p:sp>
      <p:sp>
        <p:nvSpPr>
          <p:cNvPr id="36" name="Text 34"/>
          <p:cNvSpPr txBox="1"/>
          <p:nvPr/>
        </p:nvSpPr>
        <p:spPr>
          <a:xfrm>
            <a:off x="946879" y="4680832"/>
            <a:ext cx="10297937" cy="260425"/>
          </a:xfrm>
          <a:prstGeom prst="rect">
            <a:avLst/>
          </a:prstGeom>
          <a:noFill/>
          <a:ln/>
        </p:spPr>
        <p:txBody>
          <a:bodyPr wrap="square" lIns="0" tIns="0" rIns="0" bIns="0" rtlCol="0" anchor="ctr"/>
          <a:lstStyle/>
          <a:p>
            <a:pPr algn="l" indent="0" marL="0">
              <a:lnSpc>
                <a:spcPct val="116000"/>
              </a:lnSpc>
              <a:buNone/>
            </a:pPr>
            <a:r>
              <a:rPr lang="en-US" sz="1523" b="1" dirty="0">
                <a:solidFill>
                  <a:srgbClr val="1E1B4B"/>
                </a:solidFill>
                <a:latin typeface="Arial" pitchFamily="34" charset="0"/>
                <a:ea typeface="Arial" pitchFamily="34" charset="-122"/>
                <a:cs typeface="Arial" pitchFamily="34" charset="-120"/>
              </a:rPr>
              <a:t>Example to explain aloud</a:t>
            </a:r>
            <a:endParaRPr lang="en-US" sz="1523" dirty="0"/>
          </a:p>
        </p:txBody>
      </p:sp>
      <p:sp>
        <p:nvSpPr>
          <p:cNvPr id="37" name="Text 35"/>
          <p:cNvSpPr txBox="1"/>
          <p:nvPr/>
        </p:nvSpPr>
        <p:spPr>
          <a:xfrm>
            <a:off x="946879" y="4993341"/>
            <a:ext cx="10297937" cy="468764"/>
          </a:xfrm>
          <a:prstGeom prst="rect">
            <a:avLst/>
          </a:prstGeom>
          <a:noFill/>
          <a:ln/>
        </p:spPr>
        <p:txBody>
          <a:bodyPr wrap="square" lIns="0" tIns="0" rIns="0" bIns="0" rtlCol="0" anchor="ctr"/>
          <a:lstStyle/>
          <a:p>
            <a:pPr algn="l" indent="0" marL="0">
              <a:lnSpc>
                <a:spcPct val="116000"/>
              </a:lnSpc>
              <a:buNone/>
            </a:pPr>
            <a:r>
              <a:rPr lang="en-US" sz="1582" dirty="0">
                <a:solidFill>
                  <a:srgbClr val="1F2937"/>
                </a:solidFill>
                <a:latin typeface="Arial" pitchFamily="34" charset="0"/>
                <a:ea typeface="Arial" pitchFamily="34" charset="-122"/>
                <a:cs typeface="Arial" pitchFamily="34" charset="-120"/>
              </a:rPr>
              <a:t>A 4096×4096 layer has 16,777,216 fixed W values; rank 16 A+B adds 131,072 trainable values (0.78%).</a:t>
            </a:r>
            <a:endParaRPr lang="en-US" sz="1582" dirty="0"/>
          </a:p>
        </p:txBody>
      </p:sp>
      <p:sp>
        <p:nvSpPr>
          <p:cNvPr id="38" name="Text 36"/>
          <p:cNvSpPr txBox="1"/>
          <p:nvPr/>
        </p:nvSpPr>
        <p:spPr>
          <a:xfrm>
            <a:off x="946879" y="5529072"/>
            <a:ext cx="10297937" cy="461324"/>
          </a:xfrm>
          <a:prstGeom prst="rect">
            <a:avLst/>
          </a:prstGeom>
          <a:noFill/>
          <a:ln/>
        </p:spPr>
        <p:txBody>
          <a:bodyPr wrap="square" lIns="0" tIns="0" rIns="0" bIns="0" rtlCol="0" anchor="ctr"/>
          <a:lstStyle/>
          <a:p>
            <a:pPr algn="l" indent="0" marL="0">
              <a:lnSpc>
                <a:spcPct val="116000"/>
              </a:lnSpc>
              <a:buNone/>
            </a:pPr>
            <a:r>
              <a:rPr lang="en-US" sz="1523" dirty="0">
                <a:solidFill>
                  <a:srgbClr val="1F2937"/>
                </a:solidFill>
                <a:latin typeface="Arial" pitchFamily="34" charset="0"/>
                <a:ea typeface="Arial" pitchFamily="34" charset="-122"/>
                <a:cs typeface="Arial" pitchFamily="34" charset="-120"/>
              </a:rPr>
              <a:t>Next: in Week 9 we connect text with images, audio and other input types.</a:t>
            </a:r>
            <a:endParaRPr lang="en-US" sz="1523" dirty="0"/>
          </a:p>
        </p:txBody>
      </p:sp>
      <p:sp>
        <p:nvSpPr>
          <p:cNvPr id="39" name="Text 37"/>
          <p:cNvSpPr txBox="1"/>
          <p:nvPr/>
        </p:nvSpPr>
        <p:spPr>
          <a:xfrm>
            <a:off x="548640" y="6044184"/>
            <a:ext cx="11094415" cy="338328"/>
          </a:xfrm>
          <a:prstGeom prst="rect">
            <a:avLst/>
          </a:prstGeom>
          <a:noFill/>
          <a:ln/>
        </p:spPr>
        <p:txBody>
          <a:bodyPr wrap="square" lIns="0" tIns="0" rIns="0" bIns="0" rtlCol="0" anchor="t"/>
          <a:lstStyle/>
          <a:p>
            <a:pPr indent="0" marL="0">
              <a:buNone/>
            </a:pPr>
            <a:r>
              <a:rPr lang="en-US" sz="1600" dirty="0">
                <a:solidFill>
                  <a:srgbClr val="1E1B4B"/>
                </a:solidFill>
                <a:latin typeface="Calibri" pitchFamily="34" charset="0"/>
                <a:ea typeface="Calibri" pitchFamily="34" charset="-122"/>
                <a:cs typeface="Calibri" pitchFamily="34" charset="-120"/>
              </a:rPr>
              <a:t>Exit question: Does falling training loss prove that fine-tuning helped?</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8: Fine-Tuning and Domain Adaptation</dc:title>
  <dc:subject>Generative AI (MSc in Artificial Intelligence)</dc:subject>
  <dc:creator>Generative AI module team</dc:creator>
  <cp:lastModifiedBy>Generative AI module team</cp:lastModifiedBy>
  <cp:revision>1</cp:revision>
  <dcterms:created xsi:type="dcterms:W3CDTF">2026-10-10T07:31:02Z</dcterms:created>
  <dcterms:modified xsi:type="dcterms:W3CDTF">2026-10-10T07:31:02Z</dcterms:modified>
</cp:coreProperties>
</file>