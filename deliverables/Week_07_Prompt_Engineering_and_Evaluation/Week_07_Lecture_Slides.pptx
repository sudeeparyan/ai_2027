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Lst>
  <p:notesMasterIdLst>
    <p:notesMasterId r:id="rId4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notesMaster" Target="notesMasters/notesMaster1.xml"/><Relationship Id="rId49" Type="http://schemas.openxmlformats.org/officeDocument/2006/relationships/presProps" Target="presProps.xml"/><Relationship Id="rId50" Type="http://schemas.openxmlformats.org/officeDocument/2006/relationships/viewProps" Target="viewProps.xml"/><Relationship Id="rId51" Type="http://schemas.openxmlformats.org/officeDocument/2006/relationships/theme" Target="theme/theme1.xml"/><Relationship Id="rId5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Today we design instructions and test their effects. Route “Cannot sign in” to IT_ACCESS: put rules and examples into this request, generate a reply, then check it. The weights stay fixed. Analogy: a task brief guides a trained worker. Ask: what would count as an improved prompt? Common mistake: a confident or nicely formatted reply is not evidence of success.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Start with one task, define a correct result and improve the prompt using measured failures. We will practise examples, reasoning, structured output, context and evaluation. Analogy: learn to write an exam and its marking guide together. Ask: what should your classifier do with an ambiguous message? Common mistake: changing many settings at once hides which change helped.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First distinguish changing input from training weights. Then write clear briefs and examples. Handle multi-step tasks and JSON, before building the evaluation loop. Finish by testing false replies and hostile source instructions. Analogy: prepare, execute and inspect a recipe. Ask: why write criteria before trying prompt variants? Common mistake: choosing a favourite answer first can bias the marking.
Trace the highlighted week. Earlier concepts feed later systems. Ask which earlier idea today needs. Common mistake: treating each week as an unrelated tool.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Introduce these terms before the main theory. Give pairs one minute to answer the quick checks, then take answers. Prompt: Instructions and context supplied to a model for one request. Check: Does rewriting a prompt change the model's stored weights? Answer: No. A prompt changes the input for one request, not the stored weights. Ground truth: A reference answer or observation used to check a model output. Check: For a labelled ticket, which field supplies the expected team? Answer: The label stored with each ticket, such as IT_ACCESS. Accuracy: The fraction of evaluated examples counted as correct. Check: If 32 of 40 predictions are correct, what is the accuracy? Answer: 0.8, or 80%, because 32 ÷ 40 = 0.8. Token: A unit processed or generated by a model; a text token can be a word, word part or character. Check: Does a long reply usually use more output tokens? Answer: Yes. More output text usually means more tokens, time and cost. JSON: A structured text format for exchanging fields and values, including objects and lists. Check: Is valid JSON automatically factually correct? Answer: No. Valid JSON only means the format can be read; the values can still be wrong. Let students explain one example aloud, then connect their example to the next flow diagram. Use the blocks to name the inputs and outputs before introducing notation.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Give three minutes. Collect rewrites and look for missing elements: audience, for example prospective MSc students; purpose, for example explain what the programme covers; key facts to include; tone; length, for example 150 words; format, for example headline plus three bullet points; constraints, such as no unverifiable claims; and success criteria. The last question is the important one: most people never define what good looks like, so they cannot tell whether a new prompt is better. By the end of the lecture, that question will be answered with a test set and a rubric.
Analogy: A vague brief to a designer, such as make a poster, returns something, but rarely what you needed.
Ask: Which missing element makes it impossible to say whether a rewrite is better?
Answer: Success criteria. Without them there is nothing to measure.
Common mistake: Adding more words instead of the missing facts, audience and format.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Section one sets prompting in context. Before about 2020, using a model for a new task meant training or fine-tuning it on labelled examples. Large pre-trained models can instead be steered by the input text alone. We compare the three ways of adapting a model and explain in-context learning. About ten minutes.
Analogy: A prompt is the worksheet for this attempt; training changes the learner.
Ask: Does adding an example update any stored model weight?
Answer: No. The example is part of the input for this request only.
Common mistake: Calling in-context examples fine-tuning.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harness turns prompt design into a measurable experiment. Each item contains input text and a reference answer. A prompt function converts that item into messages, and llm returns generated text plus its output-token count. The scorer then interprets the reply and compares its label with the reference. The evaluate function stores one row per item and computes summary measures. An invalid reply and a recognised but wrong label are different failure types. Compare prompts on the same items with declared settings so that observed differences have meaning. This is a small development dataset, so repeatedly improving a prompt on these examples can overfit them. Reserve new examples for a final check. The harness stores shortened previews of text and output, so those table cells are useful summaries rather than complete records of every response.
Worked example:
The ticket about an expired Moodle password has the reference label IT_ACCESS.
A prompt lists the five permitted teams and asks for a single label.
The scorer searches the returned text for a recognised label.
One wrong answer among 40 changes accuracy by 2.5 percentage points.
Inspect both invalid outputs and valid-but-wrong labels before changing the prompt.
Check: If a prompt improves from 32 to 34 correct answers out of 40, how many examples account for the gain?
Answer: Two examples. That is a five-percentage-point gain, which a small dataset alone may not establish reliably.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The three columns differ in what changes and what it costs. Pre-training changes everything and costs millions. Fine-tuning updates weights on your data; it is cheaper, especially with LoRA in week 8, but needs data and GPU time, and it is best for consistent formats, styles or specialised domains. Prompting changes nothing in the model; iteration takes minutes. The callout is the practical decision rule used by Microsoft, Google and OpenAI guidance: begin with prompting, add retrieval when the problem is missing knowledge, and fine-tune only when a well-designed evaluation shows prompting is insufficient.
Analogy: Pre-training is schooling, fine-tuning is job training, and prompting is today's task sheet.
Ask: A model keeps missing your house style despite careful prompts tested on a test set. What comes next?
Answer: Fine-tuning, because evaluation has shown prompting is not enough. If the problem were missing facts, retrieval would come first.
Common mistake: Fine-tuning to add facts that change often. Retrieval handles changing knowledge better.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Help students form an accurate mental model. The model does not 'understand what you want' in a human sense; it computes the most plausible continuation of all the tokens it receives, as shaped by post-training to follow instructions. Examples in the prompt shift that continuation, which is in-context learning. Treating the prompt as a program has practical consequences: write it deliberately, test it on examples, keep versions, and re-test when the model changes. Modern assistants are trained with an instruction hierarchy in which system or developer messages take priority over user messages, which matters for security later.
Analogy: A prompt is source code for one request: version it, test it, and re-test it when the model changes.
Ask: The provider updates the model behind your API. What should you do with your prompt?
Answer: Re-run your test set. The same prompt can behave differently on a new model.
Common mistake: Treating message priority as a security guarantee.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Section two covers the structure of a prompt and the basic techniques in the descriptor: zero-shot, one-shot, few-shot and role-based prompting. We finish with real results from running these prompt styles on a classification task with a small open model. Ask students to predict which style will win before showing the results. About twenty-five minutes.
Analogy: A task brief gives a worker rules, source material and an output form.
Ask: What should a routing example teach besides its category name?
Answer: The exact output format, and where the boundary lies between similar categories.
Common mistake: Choosing examples only from easy, typical messages.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A prompt has up to five parts. The system or developer message sets the role, rules, tone and policies. Context supplies what the model needs to know: documents, data, history or tool results, clearly delimited, for example with XML-style tags, which the Anthropic and OpenAI guides recommend. Examples show the exact input-output format. The task states what to do, for whom and with which constraints. The output format specifies length and structure, including what to do when unsure. Not every prompt needs every part, but checking against this list catches most problems in the warm-up prompt.
Analogy: A recipe card says who it serves, lists the ingredients and steps, and shows how the dish should look.
Ask: Which part of the anatomy tells the model what to do when it is unsure?
Answer: The output format, which should say what to return when information is missing.
Common mistake: Mixing documents and instructions without delimiters, so the model cannot tell data from commands.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This is a model answer to the warm-up. Walk through each row and point out where each element of the anatomy slide appears. The facts are delimited with tags so the model can distinguish data from instructions, and the rule to use only those facts plus the instruction to omit missing facts reduce hallucinated claims. The format is explicit and testable. The success check at the bottom is not sent to the model; it is the evaluation criterion we will use in section four. Ask students which element they think makes the biggest difference: usually the context, because the model cannot invent the module details correctly.
Ask: Which row of the table is never sent to the model?
Answer: Check. It is the evaluation criterion we apply to the reply afterwards.
Common mistake: Leaving out the facts and hoping the model knows the module details. It will invent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Roles describe who supplied each message and its intended use. Local Qwen uses system, user and assistant through its chat template. Some APIs also support developer instructions; system and developer are distinct roles, not simply a universal rename. Tool messages come from code and may contain untrusted retrieved text. Analogy: separate a manager’s rules from a customer’s attachment. Ask: does placing a command inside a tool result authorise it? Common mistake: roles and delimiters are helpful conventions, not a hard permission boundary.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The descriptor's basic techniques. Zero-shot gives only the instruction. One-shot adds a single example, which is very effective at fixing the output format but can bias the model towards that example's label. Few-shot uses several examples, ideally covering each class and including tricky boundary cases, which usually improves accuracy and consistency, at the cost of longer prompts. Research has shown that the choice, order and even the label balance of examples can change results noticeably, so few-shot prompts must be evaluated like any other design choice.
Analogy: One sample answer shows the format; several varied samples show the range.
Ask: Why can one-shot prompting bias the label?
Answer: The model may copy the single example's label for inputs that look similar.
Common mistake: Assuming more examples always help. Their choice, order and label balance can change results.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This is the few-shot prompt students write in the lab. Point out the design decisions: the rules and the complete label set go in the system message; examples are short, realistic and cover each category; they are not taken from the test set, which would inflate the measured accuracy; and the final line ends with Category and a colon, nudging the model to answer with a single label. Setting temperature to zero makes the evaluation reproducible. The same structure works for any classification or extraction task in the project.
The TASK variable is defined in the lab and lists the permitted teams. This compact lecture example shows two input-answer pairs; the notebook compares examples for all five categories.
Ask: Why must the examples not come from the test set?
Answer: The model would see the answers, so the measured accuracy would be inflated.
Common mistake: Leaving out the final Category: line and then parsing a full sentence as a label.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Role or persona prompting is popular and sometimes useful: it helps set the register and the priorities, for example asking the model to review code as a security specialist makes it focus on vulnerabilities. But students often over-estimate it. A role cannot give the model knowledge it does not have, and research on persona prompts has found small or inconsistent accuracy effects. Worse, an authoritative persona can make hallucinations more convincing. The practical advice from all three vendor guides is to be specific about the behaviour you want rather than relying on a label.
Analogy: A uniform changes how someone looks, not what they know.
Ask: You add You are an expert pharmacist. Does the model now know the latest drug interactions?
Answer: No. A role can change tone and focus but cannot add knowledge; supply current sources instead.
Common mistake: Trusting a persona's confident tone. It can make invented answers more convincing.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These six principles appear, in different words, in the prompt engineering guides of OpenAI, Google and Anthropic, linked on the final slide. Two are often neglected. Allowing uncertainty is one of the simplest hallucination mitigations: models are more likely to invent an answer if the prompt implies an answer must exist. Testing systematically is what separates prompt engineering from prompt guessing. Ask students to check the warm-up rewrite against these six cards.
Analogy: A good briefing for a new colleague covers the same six points.
Ask: Which principle is the simplest guard against invented answers?
Answer: Allowing uncertainty: say what to return when the evidence is missing.
Common mistake: Testing a prompt on a few favourite examples instead of a fixed test set.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These are real results from running the lab notebook on the GPU with a small open model, Qwen2.5-1.5B-Instruct. The chart shows accuracy on forty student-services messages, with Wilson 95% intervals. Every reply in this run contained a recognised label, so the chart shows only accuracy and the differences come from wrong labels, not from format errors. Ask students whether they trust the differences; the honest answer is that with forty items only large differences are reliable, which we quantify in section four.
Ask: With 40 messages, how many answers is a 2.5-point difference?
Answer: One answer.
Common mistake: Declaring a winner from a one-answer difference on a small test set.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Answer: B. Format problems are best fixed by showing the format with examples and listing the allowed outputs, ideally with structured output enforcement later in this lecture. A, a persona, does little for format. C makes outputs more random, the opposite of what we want. D is premature: fine-tuning costs data and time, and should come only after prompting and evaluation show a real limit. Check the invalid-answer count in your own run: it shows whether this format problem occurred.
Ask: Why does a persona not fix the format?
Answer: It changes tone, not the output form. Examples and the list of allowed labels show the form.
Common mistake: Raising the temperature so the model tries other formats. It only adds randomness.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Section three covers the more advanced techniques: chain-of-thought prompting and self-consistency, with real results; how prompting changes with reasoning models; prompt chaining; structured outputs with schemas; context engineering; and prompting for different kinds of task. These techniques matter most when outputs feed into code, as in weeks 11 and 12. About twenty-five minutes.
Analogy: A schema is a form; validation checks the boxes, and source checking checks the contents.
Ask: Can an eight-digit ID still identify the wrong person?
Answer: Yes. The schema checks the shape of the ID, not whether it belongs to the person who wrote the email.
Common mistake: Treating valid JSON as correct data.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Chain-of-thought prompting, introduced by Wei and colleagues in 2022, gives the model room to generate intermediate steps, which improves accuracy on multi-step problems because each generated step becomes context for the next. Kojima and colleagues showed that simply adding let's think step by step helps even without examples. Two practical points: CoT multiplies output length and therefore cost, and you must ask for a parseable final answer. The faithfulness caveat is important for assessment: students should never present a model's reasoning text as evidence that the answer is right.
Analogy: Showing your working in a maths exam gives space for each step, but the working can still contain a mistake.
Ask: Why must a chain-of-thought prompt ask for a clearly marked final answer?
Answer: So code can find and parse the answer reliably at the end of a long reply.
Common mistake: Presenting the model's reasoning text as proof that the answer is right.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Compare measured accuracy and output tokens on sixteen multi-step word problems from the lab. Written steps and sampling several replies spend more computation; they can still produce wrong answers. Self-consistency samples five reasoning paths and selects the most common parsed final answer. A strict majority is not required: when answers tie, this lab chooses the one encountered first. Check the measured gain against the extra tokens and time on the same problems.
Ask: Self-consistency uses about five times the tokens of chain-of-thought. When is that worth paying?
Answer: When the accuracy gain on your own test set justifies the extra cost and time, for example for rare, high-value questions.
Common mistake: Assuming the majority answer is correct. Several samples can agree on the same wrong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Prompting practice has changed with reasoning models. Their vendors, including OpenAI and Anthropic, advise against micromanaging the reasoning: describe the goal, constraints and what a good answer looks like, provide all needed context, and let the model plan. Many APIs expose an effort or thinking-budget setting. Because reasoning models are slower and more expensive, a common architecture routes easy requests to a fast standard model and hard ones to a reasoning model, which students can consider in their projects.
Analogy: Give an experienced professional the goal and constraints, not step-by-step instructions.
Ask: Why route easy requests to a standard model?
Answer: Reasoning models are slower and cost more per answer, and easy requests rarely need the extra thinking.
Common mistake: Micromanaging a reasoning model's steps instead of stating the goal, constraints and output format.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For complex tasks, one giant prompt is hard to debug. Prompt chaining splits the work into steps, each with its own prompt and its own test. The example chain is for writing a report from a source document: extract facts, verify them against the source, draft from verified facts only, critique against a checklist, and finalise. Each step can use a different model or plain code; for instance, verification of dates or numbers is best done by code. This idea leads directly to workflows and agents in week 12, where the steps become tool calls.
Analogy: An assembly line with an inspection after each station.
Ask: In the invoice chain, why add the totals in code rather than in a prompt?
Answer: Code does arithmetic exactly; a model can make arithmetic mistakes.
Common mistake: Passing one step's output to the next without checking it, so an early error spreads.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schema is a contract about output structure. Here the Request model specifies fields, allowed request labels and checks for the ID and date spelling. The try_parse function first finds a JSON object and decodes it, then constructs Request to run those checks. The parse_with_retry function returns immediately when validation succeeds. If parsing or validation fails, it sends the response and error back to the model and tries once more; a second failure returns None. This is a controlled repair path rather than an unlimited loop. Validation is weaker than factual checking: a different eight-digit ID can pass while referring to the wrong student. The date validator checks a YYYY-MM-DD pattern, rather than whether that date exists in the calendar. The lab therefore also compares extracted fields with the labelled reference values.
Worked example:
Aoife's email supplies a name, an eight-digit ID, an extension request and a date.
The prompt asks for those four fields, with null when no date is present.
Malformed JSON or a seven-digit ID triggers the error-handling branch.
A corrected response is checked once more; a second failure returns None.
A valid object is separately compared with gold values to measure correctness.
Check: Would the wrong student ID pass validation if it still contained eight digits?
Answer: Yes. The format check would pass; comparison with the source and reference is needed to detect the wrong value.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Trace the code. Field(pattern=...) really checks eight ASCII digits; the request field has three allowed values. The date field permits a string or null here: the lab adds a date-format validator. Import ValidationError, validate the first response, give a single repair opportunity, then validate again. A second exception must stop or enter an explicit error path. Analogy: a form checker rejects the wrong shape but cannot know whether a stated ID belongs to this person. Ask: what source comparison detects the wrong eight-digit ID? Common mistake: syntactically valid JSON is not validated business data.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Choose relevant information for each call. Label sources; shorten old history. Test source order and token budget. Extra context may distract. Context engineering, a term popularised in 2025 by Anthropic and others, is the natural extension of prompt engineering for applications and agents: deciding what information fills the limited context window at each step. Sources compete for space: instructions, the user's query, retrieved documents, conversation memory and tool outputs. Good practice is to select only what is relevant, summarise or compress old history, order content deliberately, for example Anthropic recommends placing long documents before the question, and delimit and label each source. Irrelevant context can distract the model and increases cost.
Analogy: Pack a suitcase with limited space: keep what this journey needs and leave room for the answer.
Ask: If the request is too long, what should you remove before cutting the current question?
Common mistake: Filling every available token does not guarantee a better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Inference means using a trained model to make a prediction. A new message is placed into the chosen routing prompt, along with the allowed team labels and any worked examples. The model returns text, so the application must interpret it before using it. In the lab, label_scorer looks for a recognised label and compares it with a reference during evaluation. A real new request does not usually have a reference answer available. The application therefore needs a policy for unrecognised or ambiguous replies, such as asking for review. The diagram shows the code path used in the evaluation harness; operational routing and review would be added by an application.
Worked example:
New message: "I cannot sign in to Moodle."
The prompt lists IT_ACCESS and the other permitted teams.
The model replies "IT_ACCESS".
The parser recognises the label; a sentence naming several teams needs inspection.
Check: Can a recognised label still be wrong?
Answer: Yes. A parser checks the form of the reply; it does not establish the correct team.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Different tasks need different prompt emphases. Summaries need an audience, length and faithfulness instruction. Extraction needs a schema and a rule for missing values. Classification needs the full label set, ideally with a one-line definition of each. Code prompts should state versions and interfaces and ask for tests; always run the code. Image prompts, from week 4, describe subject, style, composition and lighting, with negative prompts. For data analysis, ask the model to write code that computes the numbers rather than computing them in its head, which avoids arithmetic hallucination.
Analogy: Different jobs need different briefs: a summary brief names the reader; an extraction brief names the fields.
Ask: For data analysis, why ask the model for code rather than for the numbers?
Answer: Running the code computes exact numbers and shows how they were obtained.
Common mistake: Accepting generated code without running and testing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Welcome back. Section four is the most important for MIMLO 4 and for the project. We set out an evaluation loop, compare the families of evaluation methods, compute a reference-based metric by hand, discuss LLM-as-a-judge and its biases, look at a rubric for human evaluation, and finish with the statistics needed to avoid fooling ourselves with small test sets.
Analogy: An evaluation set is a shared exam, with a marking guide written before grading.
Ask: What does one changed answer do to accuracy on forty questions?
Answer: It moves accuracy by 2.5 percentage points.
Common mistake: Tuning prompts on the final test set. Development examples guide revisions; the final test must stay unused.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Prompt development changes the instructions, rather than the model weights. Begin with examples whose correct answers are known. Write a short prompt and a version with examples, then run both on the same items using the same settings. Accuracy compares the predicted labels with the reference labels; token counts measure part of the cost. Read the cases where the prompts disagree, including replies the parser cannot recognise. Use development examples to revise the prompt. A final check needs fresh examples that were not used for choosing wording. The lab supplies a small development set; adding a separate final set is a project design step, not an extra training stage.
Worked example:
Suppose prompt A gets 32 of 40 labels right and prompt B gets 34.
Accuracy changes from 80% to 85%; two examples produce the gain.
Read those two and any newly wrong examples before choosing B.
Run the selected version on fresh tickets before claiming a reliable improvement.
Check: Did the 80% to 85% improvement change any stored model weights?
Answer: No. Only the prompt changed; two additional examples were correct.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This loop is how professional teams develop LLM features; OpenAI's evaluation best-practices guide describes the same cycle. Define success criteria before writing prompts. Build a test set from realistic inputs, including hard and edge cases, and keep a held-out part you do not look at while tuning. Run with fixed settings and log model version, prompt version and outputs. Score with a combination of methods. Most importantly, read the failures and group them: error analysis tells you whether to change the prompt, add context, change the model, or accept a limitation. Every project must include such a test set.
Analogy: A cook tastes and adjusts while cooking, but the guest judges a fresh plate.
Ask: Why keep part of the test set hidden while tuning?
Answer: A prompt tuned on the same items can overfit them; fresh items show how it does on new inputs.
Common mistake: Skipping error analysis. Reading the failures shows whether to change the prompt, the context or the model.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No single method fits every output. Closed answers, such as labels, numbers and extracted fields, use exact match, accuracy or F1. Free text compared with references can use overlap metrics such as BLEU for translation and ROUGE for summarisation, but these miss paraphrases. Embedding similarity handles paraphrase but not correctness. Programmatic checks, such as schema validation and unit tests for code, are cheap and reliable for what they cover. LLM-as-a-judge scales rubric-based evaluation. Human evaluation remains the reference. Good evaluations combine several.
Analogy: A ruler, a spell-checker and a human editor each catch different problems.
Ask: Which method fits checking that extracted dates are valid?
Answer: Code. A rule or unit test checks the format exactly and cheaply.
Common mistake: Using embedding similarity as a correctness check. Similar meaning is not a true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Work through the example. The reference has eight words, the output six; five words overlap, so recall is five eighths and precision five sixths, and the F1 is about 0.71. ROUGE-2 would count overlapping word pairs instead. Then show the limitation with the paraphrase: 'marks come out a month later' means the same thing but shares almost no words with the reference, so it scores near zero. Reference-based metrics are cheap and reproducible, but for LLM outputs they must be combined with semantic or human evaluation.
Ask: What ROUGE-1 score does the paraphrase marks come out a month later get?
Answer: Zero. No word overlaps with the reference, although the meaning is the same.
Common mistake: Reading a high overlap score as proof of a faithful summary.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Using a model to evaluate another model's output is now standard because it scales. Zheng and colleagues' MT-Bench study found that strong model judges agreed with human preferences about as often as humans agreed with each other, around eighty percent. But judges are biased. They may prefer whichever answer is shown first, prefer longer answers, prefer outputs from their own model family, and be swayed by a confident tone. The lab measures position bias by swapping answer order. The rule for the project: an LLM judge may be used only if calibrated against a sample of human labels, with agreement reported.
Analogy: A referee who sometimes favours the team shown first.
Ask: How does swapping the answer order reveal position bias?
Answer: A consistent judge picks the same underlying answer in both orders; a changed verdict shows the order mattered.
Common mistake: Using an LLM judge without checking it against human labels.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Human evaluation needs a rubric to be consistent. Criteria should be few and distinct, with anchored descriptions for low, middle and high scores so raters interpret them the same way. Faithfulness comes first for summaries, because hallucinated content is the most harmful failure. Use at least two raters on a sample of outputs, measure inter-rater agreement, for example with Cohen's kappa, and discuss disagreements to refine the rubric. The same rubric can then be given to an LLM judge, whose scores are validated against the human ones.
Analogy: A marking scheme with a description for each grade.
Ask: Why put faithfulness first for summaries?
Answer: An unsupported claim is the most harmful failure in a summary.
Common mistake: Using one rater. Without a second rater you cannot measure agreement.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Students routinely conclude that one prompt is better from a two-point difference on thirty examples. Give them the rule of thumb: the standard error of an accuracy p on n items is the square root of p times one minus p over n; for eighty percent on forty items that is about 6.3 points, so the ninety-five percent margin is about plus or minus twelve points. Paired comparison on the same items is more sensitive: look at the items where the prompts disagree. Use several seeds for sampled outputs, a held-out set, and report everything needed to reproduce the result. This slide is examinable.
Ask: Prompt A scores 80% and prompt B 85% on the same 40 items. Is B better?
Answer: Not shown. The margin is about 12 points either way. Look at the items where the prompts disagree, or use more items.
Common mistake: Reporting accuracy without the number of test items.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The final section covers the limitations and challenges listed in the descriptor: hallucination, sensitivity to prompt wording, and security issues including prompt injection and jailbreaks, with a real measurement from the lab; then the supporting tools used in practice, and the responsible-AI lens for prompting.
Analogy: A hostile note inside a document is still a note, not permission to act.
Ask: Where should the application enforce permission to send an email?
Answer: In code, before the email tool runs, for example with an allowlist or a human approval step.
Common mistake: Relying on delimiters and system instructions for security.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These limitations are properties of the models, so good prompts can mitigate but not remove them. Hallucination is reduced by providing context and permission to abstain, but must be verified. Prompt sensitivity means results should always be reported with the exact prompt. The knowledge cut-off is why retrieval and tools exist. Sycophancy, the tendency to agree with the user, is a documented effect of preference training: asking are you sure can make a model abandon a correct answer. Bias should be tested by varying names and demographic details in otherwise identical prompts.
Ask: How would you test a model for sycophancy?
Answer: Ask a question it answers correctly, reply Are you sure? I think it is X with a wrong X, and count how often it switches.
Common mistake: Reporting results without the exact prompt. Small wording changes can change replies.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Separate direct user attacks from instructions planted in documents. This plot counts replies flagged by the notebook’s keyword heuristic. The flags can include false positives and miss real attacks; read the raw outputs before making a security claim. A defended prompt is one layer, not a guarantee. Analogy: a hostile sentence in a parcel should not become a warehouse instruction. Ask: what permission check prevents an unauthorised tool action even if the model asks? Common mistake: treating fewer flags on a small attack set as proof that an application is secure.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The descriptor lists supporting tools. Playgrounds let you iterate and compare models interactively, and vendor access, quotas and costs should be checked before class. Treat prompts as code: version them, template them and log changes. Evaluation frameworks such as OpenAI Evals, promptfoo, the UK AI Security Institute's Inspect, and LangSmith run test sets and compare versions automatically. Prompt optimisers such as DSPy automate the search for better prompts against a metric you define. Observability and guardrails matter once an application is deployed, covered in week 11.
Analogy: Version control and unit tests, applied to prompts.
Ask: Why keep prompts under version control beside the code?
Answer: So every result can be traced to the exact prompt and reproduced.
Common mistake: Letting a prompt optimiser tune against the final test set.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Responsible prompting has four practical elements. Privacy: every prompt is data sent to a model, possibly a third-party service, so the week 1 checklist applies. Bias testing: counterfactual test cases that vary only names or demographic details reveal unequal treatment, and should be part of every test set in the project. Over-reliance: the better outputs look, the more people trust them, so critical workflows need verification steps. Transparency: disclose AI assistance and keep records. The overarching message is that evaluation is itself the core responsible practice.
Ask: How would you check a ticket router for unequal treatment?
Answer: Write pairs of messages that differ only in a name or demographic detail, and compare the routes.
Common mistake: Sending personal data to a third-party API without checking its terms.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lab reuses model calls but changes the success criterion for each task. Classification checks a team label; arithmetic checks the final numerical answer; extraction checks structure and values separately. Self-consistency samples several responses and selects the most common parsed answer, increasing output-token cost without guaranteeing truth. The injection experiment compares a simple summary prompt with one that explicitly treats document text as data. Its hijacked detector is a keyword heuristic, so a flagged word may appear in a harmless quotation and an attack may succeed without those words. The judge experiment swaps answer order to reveal position effects. Inspect the actual A/B verdicts and report invalid replies separately from agreement. These are separate experiments, and each metric should be read together with concrete output examples and its limitations.
Worked example:
For ticket routing, score the permitted label rather than the confidence of the prose.
For arithmetic, extract the final number and compare it with the known answer.
For extraction, count valid output and correct fields as separate results.
For hostile documents, inspect the output as well as the keyword detector.
For judging, swap A and B and inspect invalid verdicts before reporting consistency.
Check: Why inspect examples even after an automatic metric has been calculated?
Answer: Parsers and detectors can miss failures or flag harmless outputs; examples show what the measurement actually counted.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The lab implements the descriptor's tutorial: case studies in prompt engineering with different prompt styles on pre-trained LLMs, extended with a proper evaluation harness. All experiments use a small open model so that every student can run them without cost; the same harness works with API models, which groups can use in their projects. The slide results came from exactly this notebook. Emphasise the written answers: they ask students to interpret numbers critically, including whether differences are significant.
Ask: Why does the CPU path use Qwen2.5-0.5B instead of the 1.5 B model?
Answer: The larger model is too slow on a CPU. Results from the two models are not directly comparable.
Common mistake: Copying the lecture's numbers instead of reporting your own run.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The three vendor guides from OpenAI, Google and Anthropic are the most authoritative, current references for prompting; students should read at least one in full. Anthropic's interactive tutorial is a hands-on course in notebooks. The context engineering article extends prompting to agents. OpenAI's evaluation guide describes the evaluation loop we used. The chain-of-thought and LLM-as-a-judge papers are the key research references. Ozdemir's Quick Start Guide, from the descriptor reading list, also has good chapters on prompting. All links were last checked on 9 October 2026.
Ask: Which guide would you read in full first?
Answer: The guide for the model provider you plan to use in your project.
Common mistake: Copying prompt tricks without testing them on your own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Rebuild the loop: define success, write the brief, run the fixed model, validate, score and inspect errors. Analogy: a task brief and marking guide work together. Ask students to distinguish a wrong label from an unparsed reply, and a valid JSON object from correct extracted facts. Common mistake: generated steps or judge agreement are not independent proof. Explain why order-swapped judge choices must both be valid, and why keyword injection flags need inspection. Keep a fresh final set. Small score changes are uncertain; extra calls cost time and tokens. Enforce permissions in application code and document the tested model and settings.
Exit question: What proves that a prompt revision helped?
Answer: A fair comparison on the same development cases, followed by a fresh final check; report costs and errors.
Say: Recap the six points. The two ideas to remember: structure prompts deliberately, and never claim a prompt is better without measuring it on a test set. Next week we move to the next level of adaptation: fine-tuning, including supervised fine-tuning, preference alignment such as RLHF and DPO, and parameter-efficient methods such as LoRA, which students will apply in the lab. The evaluation harness from today will be used to compare base and fine-tuned models.
Ask: What should every claim that a prompt is better come with?
Answer: The test set it was measured on, its size and the uncertainty of the result.
Common mistake: Claiming a prompt is better without measuring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slideLayout" Target="../slideLayouts/slideLayout1.xml"/><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slideLayout" Target="../slideLayouts/slideLayout1.xml"/><Relationship Id="rId5"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image" Target="../media/image-17-4.png"/><Relationship Id="rId5" Type="http://schemas.openxmlformats.org/officeDocument/2006/relationships/image" Target="../media/image-17-5.png"/><Relationship Id="rId6" Type="http://schemas.openxmlformats.org/officeDocument/2006/relationships/image" Target="../media/image-17-6.png"/><Relationship Id="rId7" Type="http://schemas.openxmlformats.org/officeDocument/2006/relationships/slideLayout" Target="../slideLayouts/slideLayout1.xml"/><Relationship Id="rId8"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image" Target="../media/image-29-2.png"/><Relationship Id="rId3" Type="http://schemas.openxmlformats.org/officeDocument/2006/relationships/image" Target="../media/image-29-3.png"/><Relationship Id="rId4" Type="http://schemas.openxmlformats.org/officeDocument/2006/relationships/image" Target="../media/image-29-4.png"/><Relationship Id="rId5" Type="http://schemas.openxmlformats.org/officeDocument/2006/relationships/image" Target="../media/image-29-5.png"/><Relationship Id="rId6" Type="http://schemas.openxmlformats.org/officeDocument/2006/relationships/image" Target="../media/image-29-6.png"/><Relationship Id="rId7" Type="http://schemas.openxmlformats.org/officeDocument/2006/relationships/slideLayout" Target="../slideLayouts/slideLayout1.xml"/><Relationship Id="rId8"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1.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image" Target="../media/image-34-2.png"/><Relationship Id="rId3" Type="http://schemas.openxmlformats.org/officeDocument/2006/relationships/slideLayout" Target="../slideLayouts/slideLayout1.xml"/><Relationship Id="rId4"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1.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1.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1.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image" Target="../media/image-39-2.png"/><Relationship Id="rId3" Type="http://schemas.openxmlformats.org/officeDocument/2006/relationships/image" Target="../media/image-39-3.png"/><Relationship Id="rId4" Type="http://schemas.openxmlformats.org/officeDocument/2006/relationships/image" Target="../media/image-39-4.png"/><Relationship Id="rId5" Type="http://schemas.openxmlformats.org/officeDocument/2006/relationships/image" Target="../media/image-39-5.png"/><Relationship Id="rId6" Type="http://schemas.openxmlformats.org/officeDocument/2006/relationships/image" Target="../media/image-39-6.png"/><Relationship Id="rId7" Type="http://schemas.openxmlformats.org/officeDocument/2006/relationships/slideLayout" Target="../slideLayouts/slideLayout1.xml"/><Relationship Id="rId8"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1.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image" Target="../media/image-41-2.png"/><Relationship Id="rId3" Type="http://schemas.openxmlformats.org/officeDocument/2006/relationships/image" Target="../media/image-41-3.png"/><Relationship Id="rId4" Type="http://schemas.openxmlformats.org/officeDocument/2006/relationships/image" Target="../media/image-41-4.png"/><Relationship Id="rId5" Type="http://schemas.openxmlformats.org/officeDocument/2006/relationships/image" Target="../media/image-41-5.png"/><Relationship Id="rId6" Type="http://schemas.openxmlformats.org/officeDocument/2006/relationships/image" Target="../media/image-41-6.png"/><Relationship Id="rId7" Type="http://schemas.openxmlformats.org/officeDocument/2006/relationships/slideLayout" Target="../slideLayouts/slideLayout1.xml"/><Relationship Id="rId8"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1.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image" Target="../media/image-44-2.png"/><Relationship Id="rId3" Type="http://schemas.openxmlformats.org/officeDocument/2006/relationships/image" Target="../media/image-44-3.png"/><Relationship Id="rId4" Type="http://schemas.openxmlformats.org/officeDocument/2006/relationships/slideLayout" Target="../slideLayouts/slideLayout1.xml"/><Relationship Id="rId5"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2" Type="http://schemas.openxmlformats.org/officeDocument/2006/relationships/hyperlink" Target="https://developers.openai.com/api/docs/guides/prompt-engineering" TargetMode="External"/><Relationship Id="rId4" Type="http://schemas.openxmlformats.org/officeDocument/2006/relationships/hyperlink" Target="https://ai.google.dev/gemini-api/docs/prompting-strategies" TargetMode="External"/><Relationship Id="rId6" Type="http://schemas.openxmlformats.org/officeDocument/2006/relationships/hyperlink" Target="https://github.com/anthropics/prompt-eng-interactive-tutorial" TargetMode="External"/><Relationship Id="rId8" Type="http://schemas.openxmlformats.org/officeDocument/2006/relationships/hyperlink" Target="https://www.anthropic.com/engineering/effective-context-engineering-for-ai-agents" TargetMode="External"/><Relationship Id="rId10" Type="http://schemas.openxmlformats.org/officeDocument/2006/relationships/hyperlink" Target="https://developers.openai.com/api/docs/guides/evaluation-best-practices" TargetMode="External"/><Relationship Id="rId12" Type="http://schemas.openxmlformats.org/officeDocument/2006/relationships/hyperlink" Target="https://ai.google.dev/gemini-api/docs/structured-output" TargetMode="External"/><Relationship Id="rId14" Type="http://schemas.openxmlformats.org/officeDocument/2006/relationships/hyperlink" Target="https://arxiv.org/abs/2201.11903" TargetMode="External"/><Relationship Id="rId16" Type="http://schemas.openxmlformats.org/officeDocument/2006/relationships/hyperlink" Target="https://arxiv.org/abs/2306.05685" TargetMode="External"/><Relationship Id="rId1" Type="http://schemas.openxmlformats.org/officeDocument/2006/relationships/image" Target="../media/image-45-1.png"/><Relationship Id="rId3" Type="http://schemas.openxmlformats.org/officeDocument/2006/relationships/image" Target="../media/image-45-2.png"/><Relationship Id="rId5" Type="http://schemas.openxmlformats.org/officeDocument/2006/relationships/image" Target="../media/image-45-3.png"/><Relationship Id="rId7" Type="http://schemas.openxmlformats.org/officeDocument/2006/relationships/image" Target="../media/image-45-4.png"/><Relationship Id="rId9" Type="http://schemas.openxmlformats.org/officeDocument/2006/relationships/image" Target="../media/image-45-5.png"/><Relationship Id="rId11" Type="http://schemas.openxmlformats.org/officeDocument/2006/relationships/image" Target="../media/image-45-6.png"/><Relationship Id="rId13" Type="http://schemas.openxmlformats.org/officeDocument/2006/relationships/image" Target="../media/image-45-7.png"/><Relationship Id="rId15" Type="http://schemas.openxmlformats.org/officeDocument/2006/relationships/image" Target="../media/image-45-8.png"/><Relationship Id="rId17" Type="http://schemas.openxmlformats.org/officeDocument/2006/relationships/slideLayout" Target="../slideLayouts/slideLayout1.xml"/><Relationship Id="rId18"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E1B4B"/>
        </a:solidFill>
      </p:bgPr>
    </p:bg>
    <p:spTree>
      <p:nvGrpSpPr>
        <p:cNvPr id="1" name=""/>
        <p:cNvGrpSpPr/>
        <p:nvPr/>
      </p:nvGrpSpPr>
      <p:grpSpPr>
        <a:xfrm>
          <a:off x="0" y="0"/>
          <a:ext cx="0" cy="0"/>
          <a:chOff x="0" y="0"/>
          <a:chExt cx="0" cy="0"/>
        </a:xfrm>
      </p:grpSpPr>
      <p:sp>
        <p:nvSpPr>
          <p:cNvPr id="2" name="Shape 0"/>
          <p:cNvSpPr/>
          <p:nvPr/>
        </p:nvSpPr>
        <p:spPr>
          <a:xfrm>
            <a:off x="731520" y="1051560"/>
            <a:ext cx="1737360" cy="457200"/>
          </a:xfrm>
          <a:prstGeom prst="roundRect">
            <a:avLst>
              <a:gd name="adj" fmla="val 20000"/>
            </a:avLst>
          </a:prstGeom>
          <a:solidFill>
            <a:srgbClr val="EA580C"/>
          </a:solidFill>
          <a:ln w="12700">
            <a:solidFill>
              <a:srgbClr val="EA580C"/>
            </a:solidFill>
            <a:prstDash val="solid"/>
          </a:ln>
        </p:spPr>
      </p:sp>
      <p:sp>
        <p:nvSpPr>
          <p:cNvPr id="3" name="Text 1"/>
          <p:cNvSpPr txBox="1"/>
          <p:nvPr/>
        </p:nvSpPr>
        <p:spPr>
          <a:xfrm>
            <a:off x="731520" y="1051560"/>
            <a:ext cx="1737360" cy="457200"/>
          </a:xfrm>
          <a:prstGeom prst="rect">
            <a:avLst/>
          </a:prstGeom>
          <a:noFill/>
          <a:ln/>
        </p:spPr>
        <p:txBody>
          <a:bodyPr wrap="square" lIns="0" tIns="0" rIns="0" bIns="0" rtlCol="0" anchor="ctr"/>
          <a:lstStyle/>
          <a:p>
            <a:pPr algn="ctr" indent="0" marL="0">
              <a:buNone/>
            </a:pPr>
            <a:r>
              <a:rPr lang="en-US" sz="1600" b="1" spc="200" kern="0" dirty="0">
                <a:solidFill>
                  <a:srgbClr val="FFFFFF"/>
                </a:solidFill>
                <a:latin typeface="Calibri" pitchFamily="34" charset="0"/>
                <a:ea typeface="Calibri" pitchFamily="34" charset="-122"/>
                <a:cs typeface="Calibri" pitchFamily="34" charset="-120"/>
              </a:rPr>
              <a:t>WEEK 07</a:t>
            </a:r>
            <a:endParaRPr lang="en-US" sz="1600" dirty="0"/>
          </a:p>
        </p:txBody>
      </p:sp>
      <p:sp>
        <p:nvSpPr>
          <p:cNvPr id="4" name="Text 2"/>
          <p:cNvSpPr txBox="1"/>
          <p:nvPr/>
        </p:nvSpPr>
        <p:spPr>
          <a:xfrm>
            <a:off x="731520" y="1737360"/>
            <a:ext cx="6766560" cy="2103120"/>
          </a:xfrm>
          <a:prstGeom prst="rect">
            <a:avLst/>
          </a:prstGeom>
          <a:noFill/>
          <a:ln/>
        </p:spPr>
        <p:txBody>
          <a:bodyPr wrap="square" lIns="0" tIns="0" rIns="0" bIns="0" rtlCol="0" anchor="b"/>
          <a:lstStyle/>
          <a:p>
            <a:pPr indent="0" marL="0">
              <a:lnSpc>
                <a:spcPct val="95000"/>
              </a:lnSpc>
              <a:buNone/>
            </a:pPr>
            <a:r>
              <a:rPr lang="en-US" sz="4500" b="1" dirty="0">
                <a:solidFill>
                  <a:srgbClr val="FFFFFF"/>
                </a:solidFill>
                <a:latin typeface="Calibri" pitchFamily="34" charset="0"/>
                <a:ea typeface="Calibri" pitchFamily="34" charset="-122"/>
                <a:cs typeface="Calibri" pitchFamily="34" charset="-120"/>
              </a:rPr>
              <a:t>Prompt Engineering and evaluation</a:t>
            </a:r>
            <a:endParaRPr lang="en-US" sz="4500" dirty="0"/>
          </a:p>
        </p:txBody>
      </p:sp>
      <p:sp>
        <p:nvSpPr>
          <p:cNvPr id="5" name="Text 3"/>
          <p:cNvSpPr txBox="1"/>
          <p:nvPr/>
        </p:nvSpPr>
        <p:spPr>
          <a:xfrm>
            <a:off x="731520" y="3977640"/>
            <a:ext cx="6766560" cy="1097280"/>
          </a:xfrm>
          <a:prstGeom prst="rect">
            <a:avLst/>
          </a:prstGeom>
          <a:noFill/>
          <a:ln/>
        </p:spPr>
        <p:txBody>
          <a:bodyPr wrap="square" lIns="0" tIns="0" rIns="0" bIns="0" rtlCol="0" anchor="t"/>
          <a:lstStyle/>
          <a:p>
            <a:pPr indent="0" marL="0">
              <a:buNone/>
            </a:pPr>
            <a:r>
              <a:rPr lang="en-US" sz="2000" dirty="0">
                <a:solidFill>
                  <a:srgbClr val="C7D2FE"/>
                </a:solidFill>
                <a:latin typeface="Calibri" pitchFamily="34" charset="0"/>
                <a:ea typeface="Calibri" pitchFamily="34" charset="-122"/>
                <a:cs typeface="Calibri" pitchFamily="34" charset="-120"/>
              </a:rPr>
              <a:t>Give clear instructions, check the answers, and improve prompts using evidence</a:t>
            </a:r>
            <a:endParaRPr lang="en-US" sz="2000" dirty="0"/>
          </a:p>
        </p:txBody>
      </p:sp>
      <p:sp>
        <p:nvSpPr>
          <p:cNvPr id="6" name="Text 4"/>
          <p:cNvSpPr txBox="1"/>
          <p:nvPr/>
        </p:nvSpPr>
        <p:spPr>
          <a:xfrm>
            <a:off x="731520" y="5897880"/>
            <a:ext cx="8229600" cy="365760"/>
          </a:xfrm>
          <a:prstGeom prst="rect">
            <a:avLst/>
          </a:prstGeom>
          <a:noFill/>
          <a:ln/>
        </p:spPr>
        <p:txBody>
          <a:bodyPr wrap="square" lIns="0" tIns="0" rIns="0" bIns="0" rtlCol="0" anchor="t"/>
          <a:lstStyle/>
          <a:p>
            <a:pPr indent="0" marL="0">
              <a:buNone/>
            </a:pPr>
            <a:r>
              <a:rPr lang="en-US" sz="1400" dirty="0">
                <a:solidFill>
                  <a:srgbClr val="C7D2FE"/>
                </a:solidFill>
                <a:latin typeface="Calibri" pitchFamily="34" charset="0"/>
                <a:ea typeface="Calibri" pitchFamily="34" charset="-122"/>
                <a:cs typeface="Calibri" pitchFamily="34" charset="-120"/>
              </a:rPr>
              <a:t>MSc in Artificial Intelligence  ·  Generative AI  ·  2-hour lecture</a:t>
            </a:r>
            <a:endParaRPr lang="en-US" sz="1400" dirty="0"/>
          </a:p>
        </p:txBody>
      </p:sp>
      <p:pic>
        <p:nvPicPr>
          <p:cNvPr id="7" name="Image 0" descr="C:\Users\sudee\Downloads\Generative_AI_2027_Teaching_Pack\AI2027_Project\build\figures\week_07\cover.png">    </p:cNvPr>
          <p:cNvPicPr>
            <a:picLocks noChangeAspect="1"/>
          </p:cNvPicPr>
          <p:nvPr/>
        </p:nvPicPr>
        <p:blipFill>
          <a:blip r:embed="rId1"/>
          <a:stretch>
            <a:fillRect/>
          </a:stretch>
        </p:blipFill>
        <p:spPr>
          <a:xfrm>
            <a:off x="7818120" y="1520258"/>
            <a:ext cx="3840480" cy="3817483"/>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07  ·  PROMPT ENGINEERING AND EVALUATION</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2</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By the end of this week you can…</a:t>
            </a:r>
            <a:endParaRPr lang="en-US" sz="3200" dirty="0"/>
          </a:p>
        </p:txBody>
      </p:sp>
      <p:sp>
        <p:nvSpPr>
          <p:cNvPr id="6" name="Shape 4"/>
          <p:cNvSpPr/>
          <p:nvPr/>
        </p:nvSpPr>
        <p:spPr>
          <a:xfrm>
            <a:off x="548640" y="1545336"/>
            <a:ext cx="411480" cy="411480"/>
          </a:xfrm>
          <a:prstGeom prst="ellipse">
            <a:avLst/>
          </a:prstGeom>
          <a:solidFill>
            <a:srgbClr val="4F46E5"/>
          </a:solidFill>
          <a:ln w="12700">
            <a:solidFill>
              <a:srgbClr val="4F46E5"/>
            </a:solidFill>
            <a:prstDash val="solid"/>
          </a:ln>
        </p:spPr>
      </p:sp>
      <p:sp>
        <p:nvSpPr>
          <p:cNvPr id="7" name="Text 5"/>
          <p:cNvSpPr txBox="1"/>
          <p:nvPr/>
        </p:nvSpPr>
        <p:spPr>
          <a:xfrm>
            <a:off x="548640" y="1545336"/>
            <a:ext cx="411480" cy="41148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8" name="Text 6"/>
          <p:cNvSpPr txBox="1"/>
          <p:nvPr/>
        </p:nvSpPr>
        <p:spPr>
          <a:xfrm>
            <a:off x="1143000" y="1527048"/>
            <a:ext cx="6903720" cy="797052"/>
          </a:xfrm>
          <a:prstGeom prst="rect">
            <a:avLst/>
          </a:prstGeom>
          <a:noFill/>
          <a:ln/>
        </p:spPr>
        <p:txBody>
          <a:bodyPr wrap="square" lIns="50800" tIns="50800" rIns="50800" bIns="50800" rtlCol="0" anchor="t"/>
          <a:lstStyle/>
          <a:p>
            <a:pPr indent="0" marL="0">
              <a:buNone/>
            </a:pPr>
            <a:r>
              <a:rPr lang="en-US" sz="2000" dirty="0">
                <a:solidFill>
                  <a:srgbClr val="1F2937"/>
                </a:solidFill>
                <a:latin typeface="Calibri" pitchFamily="34" charset="0"/>
                <a:ea typeface="Calibri" pitchFamily="34" charset="-122"/>
                <a:cs typeface="Calibri" pitchFamily="34" charset="-120"/>
              </a:rPr>
              <a:t>Explain prompting with fixed model weights.</a:t>
            </a:r>
            <a:endParaRPr lang="en-US" sz="2000" dirty="0"/>
          </a:p>
        </p:txBody>
      </p:sp>
      <p:sp>
        <p:nvSpPr>
          <p:cNvPr id="9" name="Shape 7"/>
          <p:cNvSpPr/>
          <p:nvPr/>
        </p:nvSpPr>
        <p:spPr>
          <a:xfrm>
            <a:off x="548640" y="2342388"/>
            <a:ext cx="411480" cy="411480"/>
          </a:xfrm>
          <a:prstGeom prst="ellipse">
            <a:avLst/>
          </a:prstGeom>
          <a:solidFill>
            <a:srgbClr val="4F46E5"/>
          </a:solidFill>
          <a:ln w="12700">
            <a:solidFill>
              <a:srgbClr val="4F46E5"/>
            </a:solidFill>
            <a:prstDash val="solid"/>
          </a:ln>
        </p:spPr>
      </p:sp>
      <p:sp>
        <p:nvSpPr>
          <p:cNvPr id="10" name="Text 8"/>
          <p:cNvSpPr txBox="1"/>
          <p:nvPr/>
        </p:nvSpPr>
        <p:spPr>
          <a:xfrm>
            <a:off x="548640" y="2342388"/>
            <a:ext cx="411480" cy="41148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1" name="Text 9"/>
          <p:cNvSpPr txBox="1"/>
          <p:nvPr/>
        </p:nvSpPr>
        <p:spPr>
          <a:xfrm>
            <a:off x="1143000" y="2324100"/>
            <a:ext cx="6903720" cy="797052"/>
          </a:xfrm>
          <a:prstGeom prst="rect">
            <a:avLst/>
          </a:prstGeom>
          <a:noFill/>
          <a:ln/>
        </p:spPr>
        <p:txBody>
          <a:bodyPr wrap="square" lIns="50800" tIns="50800" rIns="50800" bIns="50800" rtlCol="0" anchor="t"/>
          <a:lstStyle/>
          <a:p>
            <a:pPr indent="0" marL="0">
              <a:buNone/>
            </a:pPr>
            <a:r>
              <a:rPr lang="en-US" sz="2000" dirty="0">
                <a:solidFill>
                  <a:srgbClr val="1F2937"/>
                </a:solidFill>
                <a:latin typeface="Calibri" pitchFamily="34" charset="0"/>
                <a:ea typeface="Calibri" pitchFamily="34" charset="-122"/>
                <a:cs typeface="Calibri" pitchFamily="34" charset="-120"/>
              </a:rPr>
              <a:t>Write rules, sources, examples and a task.</a:t>
            </a:r>
            <a:endParaRPr lang="en-US" sz="2000" dirty="0"/>
          </a:p>
        </p:txBody>
      </p:sp>
      <p:sp>
        <p:nvSpPr>
          <p:cNvPr id="12" name="Shape 10"/>
          <p:cNvSpPr/>
          <p:nvPr/>
        </p:nvSpPr>
        <p:spPr>
          <a:xfrm>
            <a:off x="548640" y="3139440"/>
            <a:ext cx="411480" cy="411480"/>
          </a:xfrm>
          <a:prstGeom prst="ellipse">
            <a:avLst/>
          </a:prstGeom>
          <a:solidFill>
            <a:srgbClr val="4F46E5"/>
          </a:solidFill>
          <a:ln w="12700">
            <a:solidFill>
              <a:srgbClr val="4F46E5"/>
            </a:solidFill>
            <a:prstDash val="solid"/>
          </a:ln>
        </p:spPr>
      </p:sp>
      <p:sp>
        <p:nvSpPr>
          <p:cNvPr id="13" name="Text 11"/>
          <p:cNvSpPr txBox="1"/>
          <p:nvPr/>
        </p:nvSpPr>
        <p:spPr>
          <a:xfrm>
            <a:off x="548640" y="3139440"/>
            <a:ext cx="411480" cy="41148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4" name="Text 12"/>
          <p:cNvSpPr txBox="1"/>
          <p:nvPr/>
        </p:nvSpPr>
        <p:spPr>
          <a:xfrm>
            <a:off x="1143000" y="3121152"/>
            <a:ext cx="6903720" cy="797052"/>
          </a:xfrm>
          <a:prstGeom prst="rect">
            <a:avLst/>
          </a:prstGeom>
          <a:noFill/>
          <a:ln/>
        </p:spPr>
        <p:txBody>
          <a:bodyPr wrap="square" lIns="50800" tIns="50800" rIns="50800" bIns="50800" rtlCol="0" anchor="t"/>
          <a:lstStyle/>
          <a:p>
            <a:pPr indent="0" marL="0">
              <a:buNone/>
            </a:pPr>
            <a:r>
              <a:rPr lang="en-US" sz="2000" dirty="0">
                <a:solidFill>
                  <a:srgbClr val="1F2937"/>
                </a:solidFill>
                <a:latin typeface="Calibri" pitchFamily="34" charset="0"/>
                <a:ea typeface="Calibri" pitchFamily="34" charset="-122"/>
                <a:cs typeface="Calibri" pitchFamily="34" charset="-120"/>
              </a:rPr>
              <a:t>Compare shot counts, roles, reasoning and chains.</a:t>
            </a:r>
            <a:endParaRPr lang="en-US" sz="2000" dirty="0"/>
          </a:p>
        </p:txBody>
      </p:sp>
      <p:sp>
        <p:nvSpPr>
          <p:cNvPr id="15" name="Shape 13"/>
          <p:cNvSpPr/>
          <p:nvPr/>
        </p:nvSpPr>
        <p:spPr>
          <a:xfrm>
            <a:off x="548640" y="3936492"/>
            <a:ext cx="411480" cy="411480"/>
          </a:xfrm>
          <a:prstGeom prst="ellipse">
            <a:avLst/>
          </a:prstGeom>
          <a:solidFill>
            <a:srgbClr val="4F46E5"/>
          </a:solidFill>
          <a:ln w="12700">
            <a:solidFill>
              <a:srgbClr val="4F46E5"/>
            </a:solidFill>
            <a:prstDash val="solid"/>
          </a:ln>
        </p:spPr>
      </p:sp>
      <p:sp>
        <p:nvSpPr>
          <p:cNvPr id="16" name="Text 14"/>
          <p:cNvSpPr txBox="1"/>
          <p:nvPr/>
        </p:nvSpPr>
        <p:spPr>
          <a:xfrm>
            <a:off x="548640" y="3936492"/>
            <a:ext cx="411480" cy="41148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7" name="Text 15"/>
          <p:cNvSpPr txBox="1"/>
          <p:nvPr/>
        </p:nvSpPr>
        <p:spPr>
          <a:xfrm>
            <a:off x="1143000" y="3918204"/>
            <a:ext cx="6903720" cy="797052"/>
          </a:xfrm>
          <a:prstGeom prst="rect">
            <a:avLst/>
          </a:prstGeom>
          <a:noFill/>
          <a:ln/>
        </p:spPr>
        <p:txBody>
          <a:bodyPr wrap="square" lIns="50800" tIns="50800" rIns="50800" bIns="50800" rtlCol="0" anchor="t"/>
          <a:lstStyle/>
          <a:p>
            <a:pPr indent="0" marL="0">
              <a:buNone/>
            </a:pPr>
            <a:r>
              <a:rPr lang="en-US" sz="2000" dirty="0">
                <a:solidFill>
                  <a:srgbClr val="1F2937"/>
                </a:solidFill>
                <a:latin typeface="Calibri" pitchFamily="34" charset="0"/>
                <a:ea typeface="Calibri" pitchFamily="34" charset="-122"/>
                <a:cs typeface="Calibri" pitchFamily="34" charset="-120"/>
              </a:rPr>
              <a:t>Validate structured outputs and select context.</a:t>
            </a:r>
            <a:endParaRPr lang="en-US" sz="2000" dirty="0"/>
          </a:p>
        </p:txBody>
      </p:sp>
      <p:sp>
        <p:nvSpPr>
          <p:cNvPr id="18" name="Shape 16"/>
          <p:cNvSpPr/>
          <p:nvPr/>
        </p:nvSpPr>
        <p:spPr>
          <a:xfrm>
            <a:off x="548640" y="4733544"/>
            <a:ext cx="411480" cy="411480"/>
          </a:xfrm>
          <a:prstGeom prst="ellipse">
            <a:avLst/>
          </a:prstGeom>
          <a:solidFill>
            <a:srgbClr val="4F46E5"/>
          </a:solidFill>
          <a:ln w="12700">
            <a:solidFill>
              <a:srgbClr val="4F46E5"/>
            </a:solidFill>
            <a:prstDash val="solid"/>
          </a:ln>
        </p:spPr>
      </p:sp>
      <p:sp>
        <p:nvSpPr>
          <p:cNvPr id="19" name="Text 17"/>
          <p:cNvSpPr txBox="1"/>
          <p:nvPr/>
        </p:nvSpPr>
        <p:spPr>
          <a:xfrm>
            <a:off x="548640" y="4733544"/>
            <a:ext cx="411480" cy="41148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5</a:t>
            </a:r>
            <a:endParaRPr lang="en-US" sz="1400" dirty="0"/>
          </a:p>
        </p:txBody>
      </p:sp>
      <p:sp>
        <p:nvSpPr>
          <p:cNvPr id="20" name="Text 18"/>
          <p:cNvSpPr txBox="1"/>
          <p:nvPr/>
        </p:nvSpPr>
        <p:spPr>
          <a:xfrm>
            <a:off x="1143000" y="4715256"/>
            <a:ext cx="6903720" cy="797052"/>
          </a:xfrm>
          <a:prstGeom prst="rect">
            <a:avLst/>
          </a:prstGeom>
          <a:noFill/>
          <a:ln/>
        </p:spPr>
        <p:txBody>
          <a:bodyPr wrap="square" lIns="50800" tIns="50800" rIns="50800" bIns="50800" rtlCol="0" anchor="t"/>
          <a:lstStyle/>
          <a:p>
            <a:pPr indent="0" marL="0">
              <a:buNone/>
            </a:pPr>
            <a:r>
              <a:rPr lang="en-US" sz="2000" dirty="0">
                <a:solidFill>
                  <a:srgbClr val="1F2937"/>
                </a:solidFill>
                <a:latin typeface="Calibri" pitchFamily="34" charset="0"/>
                <a:ea typeface="Calibri" pitchFamily="34" charset="-122"/>
                <a:cs typeface="Calibri" pitchFamily="34" charset="-120"/>
              </a:rPr>
              <a:t>Evaluate prompts using references and rubrics.</a:t>
            </a:r>
            <a:endParaRPr lang="en-US" sz="2000" dirty="0"/>
          </a:p>
        </p:txBody>
      </p:sp>
      <p:sp>
        <p:nvSpPr>
          <p:cNvPr id="21" name="Shape 19"/>
          <p:cNvSpPr/>
          <p:nvPr/>
        </p:nvSpPr>
        <p:spPr>
          <a:xfrm>
            <a:off x="548640" y="5530596"/>
            <a:ext cx="411480" cy="411480"/>
          </a:xfrm>
          <a:prstGeom prst="ellipse">
            <a:avLst/>
          </a:prstGeom>
          <a:solidFill>
            <a:srgbClr val="4F46E5"/>
          </a:solidFill>
          <a:ln w="12700">
            <a:solidFill>
              <a:srgbClr val="4F46E5"/>
            </a:solidFill>
            <a:prstDash val="solid"/>
          </a:ln>
        </p:spPr>
      </p:sp>
      <p:sp>
        <p:nvSpPr>
          <p:cNvPr id="22" name="Text 20"/>
          <p:cNvSpPr txBox="1"/>
          <p:nvPr/>
        </p:nvSpPr>
        <p:spPr>
          <a:xfrm>
            <a:off x="548640" y="5530596"/>
            <a:ext cx="411480" cy="41148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6</a:t>
            </a:r>
            <a:endParaRPr lang="en-US" sz="1400" dirty="0"/>
          </a:p>
        </p:txBody>
      </p:sp>
      <p:sp>
        <p:nvSpPr>
          <p:cNvPr id="23" name="Text 21"/>
          <p:cNvSpPr txBox="1"/>
          <p:nvPr/>
        </p:nvSpPr>
        <p:spPr>
          <a:xfrm>
            <a:off x="1143000" y="5512308"/>
            <a:ext cx="6903720" cy="797052"/>
          </a:xfrm>
          <a:prstGeom prst="rect">
            <a:avLst/>
          </a:prstGeom>
          <a:noFill/>
          <a:ln/>
        </p:spPr>
        <p:txBody>
          <a:bodyPr wrap="square" lIns="50800" tIns="50800" rIns="50800" bIns="50800" rtlCol="0" anchor="t"/>
          <a:lstStyle/>
          <a:p>
            <a:pPr indent="0" marL="0">
              <a:buNone/>
            </a:pPr>
            <a:r>
              <a:rPr lang="en-US" sz="2000" dirty="0">
                <a:solidFill>
                  <a:srgbClr val="1F2937"/>
                </a:solidFill>
                <a:latin typeface="Calibri" pitchFamily="34" charset="0"/>
                <a:ea typeface="Calibri" pitchFamily="34" charset="-122"/>
                <a:cs typeface="Calibri" pitchFamily="34" charset="-120"/>
              </a:rPr>
              <a:t>Recognise false replies, sensitivity and injection.</a:t>
            </a:r>
            <a:endParaRPr lang="en-US" sz="2000" dirty="0"/>
          </a:p>
        </p:txBody>
      </p:sp>
      <p:sp>
        <p:nvSpPr>
          <p:cNvPr id="24" name="Shape 22"/>
          <p:cNvSpPr/>
          <p:nvPr/>
        </p:nvSpPr>
        <p:spPr>
          <a:xfrm>
            <a:off x="8458200" y="1527048"/>
            <a:ext cx="3184855" cy="4782312"/>
          </a:xfrm>
          <a:prstGeom prst="roundRect">
            <a:avLst>
              <a:gd name="adj" fmla="val 3445"/>
            </a:avLst>
          </a:prstGeom>
          <a:solidFill>
            <a:srgbClr val="EEF0FF"/>
          </a:solidFill>
          <a:ln w="12700">
            <a:solidFill>
              <a:srgbClr val="EEF0FF"/>
            </a:solidFill>
            <a:prstDash val="solid"/>
          </a:ln>
        </p:spPr>
      </p:sp>
      <p:sp>
        <p:nvSpPr>
          <p:cNvPr id="25" name="Text 23"/>
          <p:cNvSpPr txBox="1"/>
          <p:nvPr/>
        </p:nvSpPr>
        <p:spPr>
          <a:xfrm>
            <a:off x="8686800" y="1664208"/>
            <a:ext cx="2727655" cy="640080"/>
          </a:xfrm>
          <a:prstGeom prst="rect">
            <a:avLst/>
          </a:prstGeom>
          <a:noFill/>
          <a:ln/>
        </p:spPr>
        <p:txBody>
          <a:bodyPr wrap="square" lIns="50800" tIns="50800" rIns="50800" bIns="50800" rtlCol="0" anchor="t"/>
          <a:lstStyle/>
          <a:p>
            <a:pPr indent="0" marL="0">
              <a:buNone/>
            </a:pPr>
            <a:r>
              <a:rPr lang="en-US" sz="1500" b="1" dirty="0">
                <a:solidFill>
                  <a:srgbClr val="1E1B4B"/>
                </a:solidFill>
                <a:latin typeface="Calibri" pitchFamily="34" charset="0"/>
                <a:ea typeface="Calibri" pitchFamily="34" charset="-122"/>
                <a:cs typeface="Calibri" pitchFamily="34" charset="-120"/>
              </a:rPr>
              <a:t>Module learning outcomes (MIMLOs) practised</a:t>
            </a:r>
            <a:endParaRPr lang="en-US" sz="1500" dirty="0"/>
          </a:p>
        </p:txBody>
      </p:sp>
      <p:sp>
        <p:nvSpPr>
          <p:cNvPr id="26" name="Shape 24"/>
          <p:cNvSpPr/>
          <p:nvPr/>
        </p:nvSpPr>
        <p:spPr>
          <a:xfrm>
            <a:off x="8686800" y="2395728"/>
            <a:ext cx="1143000" cy="365760"/>
          </a:xfrm>
          <a:prstGeom prst="roundRect">
            <a:avLst>
              <a:gd name="adj" fmla="val 20000"/>
            </a:avLst>
          </a:prstGeom>
          <a:solidFill>
            <a:srgbClr val="4F46E5"/>
          </a:solidFill>
          <a:ln w="12700">
            <a:solidFill>
              <a:srgbClr val="4F46E5"/>
            </a:solidFill>
            <a:prstDash val="solid"/>
          </a:ln>
        </p:spPr>
      </p:sp>
      <p:sp>
        <p:nvSpPr>
          <p:cNvPr id="27" name="Text 25"/>
          <p:cNvSpPr txBox="1"/>
          <p:nvPr/>
        </p:nvSpPr>
        <p:spPr>
          <a:xfrm>
            <a:off x="8686800" y="2395728"/>
            <a:ext cx="1143000" cy="36576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MIMLO 1</a:t>
            </a:r>
            <a:endParaRPr lang="en-US" sz="1400" dirty="0"/>
          </a:p>
        </p:txBody>
      </p:sp>
      <p:sp>
        <p:nvSpPr>
          <p:cNvPr id="28" name="Text 26"/>
          <p:cNvSpPr txBox="1"/>
          <p:nvPr/>
        </p:nvSpPr>
        <p:spPr>
          <a:xfrm>
            <a:off x="8641080" y="2779776"/>
            <a:ext cx="2819095" cy="777240"/>
          </a:xfrm>
          <a:prstGeom prst="rect">
            <a:avLst/>
          </a:prstGeom>
          <a:noFill/>
          <a:ln/>
        </p:spPr>
        <p:txBody>
          <a:bodyPr wrap="square" lIns="50800" tIns="50800" rIns="50800" bIns="50800" rtlCol="0" anchor="t"/>
          <a:lstStyle/>
          <a:p>
            <a:pPr indent="0" marL="0">
              <a:buNone/>
            </a:pPr>
            <a:r>
              <a:rPr lang="en-US" sz="1400" dirty="0">
                <a:solidFill>
                  <a:srgbClr val="1F2937"/>
                </a:solidFill>
                <a:latin typeface="Calibri" pitchFamily="34" charset="0"/>
                <a:ea typeface="Calibri" pitchFamily="34" charset="-122"/>
                <a:cs typeface="Calibri" pitchFamily="34" charset="-120"/>
              </a:rPr>
              <a:t>Explain core concepts, maths and model families</a:t>
            </a:r>
            <a:endParaRPr lang="en-US" sz="1400" dirty="0"/>
          </a:p>
        </p:txBody>
      </p:sp>
      <p:sp>
        <p:nvSpPr>
          <p:cNvPr id="29" name="Shape 27"/>
          <p:cNvSpPr/>
          <p:nvPr/>
        </p:nvSpPr>
        <p:spPr>
          <a:xfrm>
            <a:off x="8686800" y="3584448"/>
            <a:ext cx="1143000" cy="365760"/>
          </a:xfrm>
          <a:prstGeom prst="roundRect">
            <a:avLst>
              <a:gd name="adj" fmla="val 20000"/>
            </a:avLst>
          </a:prstGeom>
          <a:solidFill>
            <a:srgbClr val="4F46E5"/>
          </a:solidFill>
          <a:ln w="12700">
            <a:solidFill>
              <a:srgbClr val="4F46E5"/>
            </a:solidFill>
            <a:prstDash val="solid"/>
          </a:ln>
        </p:spPr>
      </p:sp>
      <p:sp>
        <p:nvSpPr>
          <p:cNvPr id="30" name="Text 28"/>
          <p:cNvSpPr txBox="1"/>
          <p:nvPr/>
        </p:nvSpPr>
        <p:spPr>
          <a:xfrm>
            <a:off x="8686800" y="3584448"/>
            <a:ext cx="1143000" cy="36576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MIMLO 4</a:t>
            </a:r>
            <a:endParaRPr lang="en-US" sz="1400" dirty="0"/>
          </a:p>
        </p:txBody>
      </p:sp>
      <p:sp>
        <p:nvSpPr>
          <p:cNvPr id="31" name="Text 29"/>
          <p:cNvSpPr txBox="1"/>
          <p:nvPr/>
        </p:nvSpPr>
        <p:spPr>
          <a:xfrm>
            <a:off x="8641080" y="3968496"/>
            <a:ext cx="2819095" cy="777240"/>
          </a:xfrm>
          <a:prstGeom prst="rect">
            <a:avLst/>
          </a:prstGeom>
          <a:noFill/>
          <a:ln/>
        </p:spPr>
        <p:txBody>
          <a:bodyPr wrap="square" lIns="50800" tIns="50800" rIns="50800" bIns="50800" rtlCol="0" anchor="t"/>
          <a:lstStyle/>
          <a:p>
            <a:pPr indent="0" marL="0">
              <a:buNone/>
            </a:pPr>
            <a:r>
              <a:rPr lang="en-US" sz="1400" dirty="0">
                <a:solidFill>
                  <a:srgbClr val="1F2937"/>
                </a:solidFill>
                <a:latin typeface="Calibri" pitchFamily="34" charset="0"/>
                <a:ea typeface="Calibri" pitchFamily="34" charset="-122"/>
                <a:cs typeface="Calibri" pitchFamily="34" charset="-120"/>
              </a:rPr>
              <a:t>Critically evaluate outputs: metrics, humans, ethics</a:t>
            </a:r>
            <a:endParaRPr lang="en-US" sz="1400" dirty="0"/>
          </a:p>
        </p:txBody>
      </p:sp>
      <p:sp>
        <p:nvSpPr>
          <p:cNvPr id="32" name="Shape 30"/>
          <p:cNvSpPr/>
          <p:nvPr/>
        </p:nvSpPr>
        <p:spPr>
          <a:xfrm>
            <a:off x="8686800" y="4773168"/>
            <a:ext cx="1143000" cy="365760"/>
          </a:xfrm>
          <a:prstGeom prst="roundRect">
            <a:avLst>
              <a:gd name="adj" fmla="val 20000"/>
            </a:avLst>
          </a:prstGeom>
          <a:solidFill>
            <a:srgbClr val="4F46E5"/>
          </a:solidFill>
          <a:ln w="12700">
            <a:solidFill>
              <a:srgbClr val="4F46E5"/>
            </a:solidFill>
            <a:prstDash val="solid"/>
          </a:ln>
        </p:spPr>
      </p:sp>
      <p:sp>
        <p:nvSpPr>
          <p:cNvPr id="33" name="Text 31"/>
          <p:cNvSpPr txBox="1"/>
          <p:nvPr/>
        </p:nvSpPr>
        <p:spPr>
          <a:xfrm>
            <a:off x="8686800" y="4773168"/>
            <a:ext cx="1143000" cy="36576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MIMLO 5</a:t>
            </a:r>
            <a:endParaRPr lang="en-US" sz="1400" dirty="0"/>
          </a:p>
        </p:txBody>
      </p:sp>
      <p:sp>
        <p:nvSpPr>
          <p:cNvPr id="34" name="Text 32"/>
          <p:cNvSpPr txBox="1"/>
          <p:nvPr/>
        </p:nvSpPr>
        <p:spPr>
          <a:xfrm>
            <a:off x="8641080" y="5157216"/>
            <a:ext cx="2819095" cy="777240"/>
          </a:xfrm>
          <a:prstGeom prst="rect">
            <a:avLst/>
          </a:prstGeom>
          <a:noFill/>
          <a:ln/>
        </p:spPr>
        <p:txBody>
          <a:bodyPr wrap="square" lIns="50800" tIns="50800" rIns="50800" bIns="50800" rtlCol="0" anchor="t"/>
          <a:lstStyle/>
          <a:p>
            <a:pPr indent="0" marL="0">
              <a:buNone/>
            </a:pPr>
            <a:r>
              <a:rPr lang="en-US" sz="1400" dirty="0">
                <a:solidFill>
                  <a:srgbClr val="1F2937"/>
                </a:solidFill>
                <a:latin typeface="Calibri" pitchFamily="34" charset="0"/>
                <a:ea typeface="Calibri" pitchFamily="34" charset="-122"/>
                <a:cs typeface="Calibri" pitchFamily="34" charset="-120"/>
              </a:rPr>
              <a:t>Deploy models; build RAG and agentic systems</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07  ·  PROMPT ENGINEERING AND EVALUATION</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3</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Where we are in the course</a:t>
            </a:r>
            <a:endParaRPr lang="en-US" sz="3200" dirty="0"/>
          </a:p>
        </p:txBody>
      </p:sp>
      <p:sp>
        <p:nvSpPr>
          <p:cNvPr id="6" name="Text 4"/>
          <p:cNvSpPr txBox="1"/>
          <p:nvPr/>
        </p:nvSpPr>
        <p:spPr>
          <a:xfrm>
            <a:off x="1077042" y="1716126"/>
            <a:ext cx="10037611" cy="264148"/>
          </a:xfrm>
          <a:prstGeom prst="rect">
            <a:avLst/>
          </a:prstGeom>
          <a:noFill/>
          <a:ln/>
        </p:spPr>
        <p:txBody>
          <a:bodyPr wrap="square" lIns="0" tIns="0" rIns="0" bIns="0" rtlCol="0" anchor="ctr"/>
          <a:lstStyle/>
          <a:p>
            <a:pPr algn="l" indent="0" marL="0">
              <a:lnSpc>
                <a:spcPct val="116000"/>
              </a:lnSpc>
              <a:buNone/>
            </a:pPr>
            <a:r>
              <a:rPr lang="en-US" sz="1560" b="1" dirty="0">
                <a:solidFill>
                  <a:srgbClr val="1E1B4B"/>
                </a:solidFill>
                <a:latin typeface="Arial" pitchFamily="34" charset="0"/>
                <a:ea typeface="Arial" pitchFamily="34" charset="-122"/>
                <a:cs typeface="Arial" pitchFamily="34" charset="-120"/>
              </a:rPr>
              <a:t>Foundations and image generators</a:t>
            </a:r>
            <a:endParaRPr lang="en-US" sz="1560" dirty="0"/>
          </a:p>
        </p:txBody>
      </p:sp>
      <p:sp>
        <p:nvSpPr>
          <p:cNvPr id="7" name="Shape 5"/>
          <p:cNvSpPr/>
          <p:nvPr/>
        </p:nvSpPr>
        <p:spPr>
          <a:xfrm>
            <a:off x="1077042" y="2053648"/>
            <a:ext cx="2300286" cy="763093"/>
          </a:xfrm>
          <a:prstGeom prst="roundRect">
            <a:avLst>
              <a:gd name="adj" fmla="val 9586"/>
            </a:avLst>
          </a:prstGeom>
          <a:solidFill>
            <a:srgbClr val="E4F2FB"/>
          </a:solidFill>
          <a:ln w="15240">
            <a:solidFill>
              <a:srgbClr val="0072B2"/>
            </a:solidFill>
            <a:prstDash val="solid"/>
          </a:ln>
        </p:spPr>
      </p:sp>
      <p:sp>
        <p:nvSpPr>
          <p:cNvPr id="8" name="Text 6"/>
          <p:cNvSpPr txBox="1"/>
          <p:nvPr/>
        </p:nvSpPr>
        <p:spPr>
          <a:xfrm>
            <a:off x="1179766" y="2068323"/>
            <a:ext cx="2094838" cy="234798"/>
          </a:xfrm>
          <a:prstGeom prst="rect">
            <a:avLst/>
          </a:prstGeom>
          <a:noFill/>
          <a:ln/>
        </p:spPr>
        <p:txBody>
          <a:bodyPr wrap="square" lIns="0" tIns="0" rIns="0" bIns="0" rtlCol="0" anchor="ctr"/>
          <a:lstStyle/>
          <a:p>
            <a:pPr algn="l" indent="0" marL="0">
              <a:lnSpc>
                <a:spcPct val="116000"/>
              </a:lnSpc>
              <a:buNone/>
            </a:pPr>
            <a:r>
              <a:rPr lang="en-US" sz="1444" b="1" dirty="0">
                <a:solidFill>
                  <a:srgbClr val="0072B2"/>
                </a:solidFill>
                <a:latin typeface="Arial" pitchFamily="34" charset="0"/>
                <a:ea typeface="Arial" pitchFamily="34" charset="-122"/>
                <a:cs typeface="Arial" pitchFamily="34" charset="-120"/>
              </a:rPr>
              <a:t>Week 1</a:t>
            </a:r>
            <a:endParaRPr lang="en-US" sz="1444" dirty="0"/>
          </a:p>
        </p:txBody>
      </p:sp>
      <p:sp>
        <p:nvSpPr>
          <p:cNvPr id="9" name="Text 7"/>
          <p:cNvSpPr txBox="1"/>
          <p:nvPr/>
        </p:nvSpPr>
        <p:spPr>
          <a:xfrm>
            <a:off x="1179766" y="2354483"/>
            <a:ext cx="2094838" cy="212786"/>
          </a:xfrm>
          <a:prstGeom prst="rect">
            <a:avLst/>
          </a:prstGeom>
          <a:noFill/>
          <a:ln/>
        </p:spPr>
        <p:txBody>
          <a:bodyPr wrap="square" lIns="0" tIns="0" rIns="0" bIns="0" rtlCol="0" anchor="ctr"/>
          <a:lstStyle/>
          <a:p>
            <a:pPr algn="l" indent="0" marL="0">
              <a:lnSpc>
                <a:spcPct val="116000"/>
              </a:lnSpc>
              <a:buNone/>
            </a:pPr>
            <a:r>
              <a:rPr lang="en-US" sz="1444" b="1" dirty="0">
                <a:solidFill>
                  <a:srgbClr val="1E1B4B"/>
                </a:solidFill>
                <a:latin typeface="Arial" pitchFamily="34" charset="0"/>
                <a:ea typeface="Arial" pitchFamily="34" charset="-122"/>
                <a:cs typeface="Arial" pitchFamily="34" charset="-120"/>
              </a:rPr>
              <a:t>Introduction and</a:t>
            </a:r>
            <a:endParaRPr lang="en-US" sz="1444" dirty="0"/>
          </a:p>
        </p:txBody>
      </p:sp>
      <p:sp>
        <p:nvSpPr>
          <p:cNvPr id="10" name="Text 8"/>
          <p:cNvSpPr txBox="1"/>
          <p:nvPr/>
        </p:nvSpPr>
        <p:spPr>
          <a:xfrm>
            <a:off x="1179766" y="2567268"/>
            <a:ext cx="2094838" cy="212786"/>
          </a:xfrm>
          <a:prstGeom prst="rect">
            <a:avLst/>
          </a:prstGeom>
          <a:noFill/>
          <a:ln/>
        </p:spPr>
        <p:txBody>
          <a:bodyPr wrap="square" lIns="0" tIns="0" rIns="0" bIns="0" rtlCol="0" anchor="ctr"/>
          <a:lstStyle/>
          <a:p>
            <a:pPr algn="l" indent="0" marL="0">
              <a:lnSpc>
                <a:spcPct val="116000"/>
              </a:lnSpc>
              <a:buNone/>
            </a:pPr>
            <a:r>
              <a:rPr lang="en-US" sz="1444" b="1" dirty="0">
                <a:solidFill>
                  <a:srgbClr val="1E1B4B"/>
                </a:solidFill>
                <a:latin typeface="Arial" pitchFamily="34" charset="0"/>
                <a:ea typeface="Arial" pitchFamily="34" charset="-122"/>
                <a:cs typeface="Arial" pitchFamily="34" charset="-120"/>
              </a:rPr>
              <a:t>responsible AI</a:t>
            </a:r>
            <a:endParaRPr lang="en-US" sz="1444" dirty="0"/>
          </a:p>
        </p:txBody>
      </p:sp>
      <p:sp>
        <p:nvSpPr>
          <p:cNvPr id="11" name="Shape 9"/>
          <p:cNvSpPr/>
          <p:nvPr/>
        </p:nvSpPr>
        <p:spPr>
          <a:xfrm>
            <a:off x="3377328" y="2435195"/>
            <a:ext cx="278823" cy="0"/>
          </a:xfrm>
          <a:prstGeom prst="line">
            <a:avLst/>
          </a:prstGeom>
          <a:noFill/>
          <a:ln w="22860">
            <a:solidFill>
              <a:srgbClr val="0072B2"/>
            </a:solidFill>
            <a:prstDash val="solid"/>
            <a:tailEnd type="triangle"/>
          </a:ln>
        </p:spPr>
      </p:sp>
      <p:sp>
        <p:nvSpPr>
          <p:cNvPr id="12" name="Shape 10"/>
          <p:cNvSpPr/>
          <p:nvPr/>
        </p:nvSpPr>
        <p:spPr>
          <a:xfrm>
            <a:off x="3656151" y="2053648"/>
            <a:ext cx="2300286" cy="763093"/>
          </a:xfrm>
          <a:prstGeom prst="roundRect">
            <a:avLst>
              <a:gd name="adj" fmla="val 9586"/>
            </a:avLst>
          </a:prstGeom>
          <a:solidFill>
            <a:srgbClr val="E4F2FB"/>
          </a:solidFill>
          <a:ln w="15240">
            <a:solidFill>
              <a:srgbClr val="0072B2"/>
            </a:solidFill>
            <a:prstDash val="solid"/>
          </a:ln>
        </p:spPr>
      </p:sp>
      <p:sp>
        <p:nvSpPr>
          <p:cNvPr id="13" name="Text 11"/>
          <p:cNvSpPr txBox="1"/>
          <p:nvPr/>
        </p:nvSpPr>
        <p:spPr>
          <a:xfrm>
            <a:off x="3758875" y="2068323"/>
            <a:ext cx="2094838" cy="234798"/>
          </a:xfrm>
          <a:prstGeom prst="rect">
            <a:avLst/>
          </a:prstGeom>
          <a:noFill/>
          <a:ln/>
        </p:spPr>
        <p:txBody>
          <a:bodyPr wrap="square" lIns="0" tIns="0" rIns="0" bIns="0" rtlCol="0" anchor="ctr"/>
          <a:lstStyle/>
          <a:p>
            <a:pPr algn="l" indent="0" marL="0">
              <a:lnSpc>
                <a:spcPct val="116000"/>
              </a:lnSpc>
              <a:buNone/>
            </a:pPr>
            <a:r>
              <a:rPr lang="en-US" sz="1444" b="1" dirty="0">
                <a:solidFill>
                  <a:srgbClr val="0072B2"/>
                </a:solidFill>
                <a:latin typeface="Arial" pitchFamily="34" charset="0"/>
                <a:ea typeface="Arial" pitchFamily="34" charset="-122"/>
                <a:cs typeface="Arial" pitchFamily="34" charset="-120"/>
              </a:rPr>
              <a:t>Week 2</a:t>
            </a:r>
            <a:endParaRPr lang="en-US" sz="1444" dirty="0"/>
          </a:p>
        </p:txBody>
      </p:sp>
      <p:sp>
        <p:nvSpPr>
          <p:cNvPr id="14" name="Text 12"/>
          <p:cNvSpPr txBox="1"/>
          <p:nvPr/>
        </p:nvSpPr>
        <p:spPr>
          <a:xfrm>
            <a:off x="3758875" y="2354483"/>
            <a:ext cx="2094838" cy="212786"/>
          </a:xfrm>
          <a:prstGeom prst="rect">
            <a:avLst/>
          </a:prstGeom>
          <a:noFill/>
          <a:ln/>
        </p:spPr>
        <p:txBody>
          <a:bodyPr wrap="square" lIns="0" tIns="0" rIns="0" bIns="0" rtlCol="0" anchor="ctr"/>
          <a:lstStyle/>
          <a:p>
            <a:pPr algn="l" indent="0" marL="0">
              <a:lnSpc>
                <a:spcPct val="116000"/>
              </a:lnSpc>
              <a:buNone/>
            </a:pPr>
            <a:r>
              <a:rPr lang="en-US" sz="1444" b="1" dirty="0">
                <a:solidFill>
                  <a:srgbClr val="1E1B4B"/>
                </a:solidFill>
                <a:latin typeface="Arial" pitchFamily="34" charset="0"/>
                <a:ea typeface="Arial" pitchFamily="34" charset="-122"/>
                <a:cs typeface="Arial" pitchFamily="34" charset="-120"/>
              </a:rPr>
              <a:t>Variational</a:t>
            </a:r>
            <a:endParaRPr lang="en-US" sz="1444" dirty="0"/>
          </a:p>
        </p:txBody>
      </p:sp>
      <p:sp>
        <p:nvSpPr>
          <p:cNvPr id="15" name="Text 13"/>
          <p:cNvSpPr txBox="1"/>
          <p:nvPr/>
        </p:nvSpPr>
        <p:spPr>
          <a:xfrm>
            <a:off x="3758875" y="2567268"/>
            <a:ext cx="2094838" cy="212786"/>
          </a:xfrm>
          <a:prstGeom prst="rect">
            <a:avLst/>
          </a:prstGeom>
          <a:noFill/>
          <a:ln/>
        </p:spPr>
        <p:txBody>
          <a:bodyPr wrap="square" lIns="0" tIns="0" rIns="0" bIns="0" rtlCol="0" anchor="ctr"/>
          <a:lstStyle/>
          <a:p>
            <a:pPr algn="l" indent="0" marL="0">
              <a:lnSpc>
                <a:spcPct val="116000"/>
              </a:lnSpc>
              <a:buNone/>
            </a:pPr>
            <a:r>
              <a:rPr lang="en-US" sz="1444" b="1" dirty="0">
                <a:solidFill>
                  <a:srgbClr val="1E1B4B"/>
                </a:solidFill>
                <a:latin typeface="Arial" pitchFamily="34" charset="0"/>
                <a:ea typeface="Arial" pitchFamily="34" charset="-122"/>
                <a:cs typeface="Arial" pitchFamily="34" charset="-120"/>
              </a:rPr>
              <a:t>autoencoders (VAEs)</a:t>
            </a:r>
            <a:endParaRPr lang="en-US" sz="1444" dirty="0"/>
          </a:p>
        </p:txBody>
      </p:sp>
      <p:sp>
        <p:nvSpPr>
          <p:cNvPr id="16" name="Shape 14"/>
          <p:cNvSpPr/>
          <p:nvPr/>
        </p:nvSpPr>
        <p:spPr>
          <a:xfrm>
            <a:off x="5956436" y="2435195"/>
            <a:ext cx="278823" cy="0"/>
          </a:xfrm>
          <a:prstGeom prst="line">
            <a:avLst/>
          </a:prstGeom>
          <a:noFill/>
          <a:ln w="22860">
            <a:solidFill>
              <a:srgbClr val="0072B2"/>
            </a:solidFill>
            <a:prstDash val="solid"/>
            <a:tailEnd type="triangle"/>
          </a:ln>
        </p:spPr>
      </p:sp>
      <p:sp>
        <p:nvSpPr>
          <p:cNvPr id="17" name="Shape 15"/>
          <p:cNvSpPr/>
          <p:nvPr/>
        </p:nvSpPr>
        <p:spPr>
          <a:xfrm>
            <a:off x="6235259" y="2053648"/>
            <a:ext cx="2300286" cy="763093"/>
          </a:xfrm>
          <a:prstGeom prst="roundRect">
            <a:avLst>
              <a:gd name="adj" fmla="val 9586"/>
            </a:avLst>
          </a:prstGeom>
          <a:solidFill>
            <a:srgbClr val="E4F2FB"/>
          </a:solidFill>
          <a:ln w="15240">
            <a:solidFill>
              <a:srgbClr val="0072B2"/>
            </a:solidFill>
            <a:prstDash val="solid"/>
          </a:ln>
        </p:spPr>
      </p:sp>
      <p:sp>
        <p:nvSpPr>
          <p:cNvPr id="18" name="Text 16"/>
          <p:cNvSpPr txBox="1"/>
          <p:nvPr/>
        </p:nvSpPr>
        <p:spPr>
          <a:xfrm>
            <a:off x="6337983" y="2068323"/>
            <a:ext cx="2094838" cy="234798"/>
          </a:xfrm>
          <a:prstGeom prst="rect">
            <a:avLst/>
          </a:prstGeom>
          <a:noFill/>
          <a:ln/>
        </p:spPr>
        <p:txBody>
          <a:bodyPr wrap="square" lIns="0" tIns="0" rIns="0" bIns="0" rtlCol="0" anchor="ctr"/>
          <a:lstStyle/>
          <a:p>
            <a:pPr algn="l" indent="0" marL="0">
              <a:lnSpc>
                <a:spcPct val="116000"/>
              </a:lnSpc>
              <a:buNone/>
            </a:pPr>
            <a:r>
              <a:rPr lang="en-US" sz="1444" b="1" dirty="0">
                <a:solidFill>
                  <a:srgbClr val="0072B2"/>
                </a:solidFill>
                <a:latin typeface="Arial" pitchFamily="34" charset="0"/>
                <a:ea typeface="Arial" pitchFamily="34" charset="-122"/>
                <a:cs typeface="Arial" pitchFamily="34" charset="-120"/>
              </a:rPr>
              <a:t>Week 3</a:t>
            </a:r>
            <a:endParaRPr lang="en-US" sz="1444" dirty="0"/>
          </a:p>
        </p:txBody>
      </p:sp>
      <p:sp>
        <p:nvSpPr>
          <p:cNvPr id="19" name="Text 17"/>
          <p:cNvSpPr txBox="1"/>
          <p:nvPr/>
        </p:nvSpPr>
        <p:spPr>
          <a:xfrm>
            <a:off x="6337983" y="2354483"/>
            <a:ext cx="2094838" cy="212786"/>
          </a:xfrm>
          <a:prstGeom prst="rect">
            <a:avLst/>
          </a:prstGeom>
          <a:noFill/>
          <a:ln/>
        </p:spPr>
        <p:txBody>
          <a:bodyPr wrap="square" lIns="0" tIns="0" rIns="0" bIns="0" rtlCol="0" anchor="ctr"/>
          <a:lstStyle/>
          <a:p>
            <a:pPr algn="l" indent="0" marL="0">
              <a:lnSpc>
                <a:spcPct val="116000"/>
              </a:lnSpc>
              <a:buNone/>
            </a:pPr>
            <a:r>
              <a:rPr lang="en-US" sz="1444" b="1" dirty="0">
                <a:solidFill>
                  <a:srgbClr val="1E1B4B"/>
                </a:solidFill>
                <a:latin typeface="Arial" pitchFamily="34" charset="0"/>
                <a:ea typeface="Arial" pitchFamily="34" charset="-122"/>
                <a:cs typeface="Arial" pitchFamily="34" charset="-120"/>
              </a:rPr>
              <a:t>Generative adversarial</a:t>
            </a:r>
            <a:endParaRPr lang="en-US" sz="1444" dirty="0"/>
          </a:p>
        </p:txBody>
      </p:sp>
      <p:sp>
        <p:nvSpPr>
          <p:cNvPr id="20" name="Text 18"/>
          <p:cNvSpPr txBox="1"/>
          <p:nvPr/>
        </p:nvSpPr>
        <p:spPr>
          <a:xfrm>
            <a:off x="6337983" y="2567268"/>
            <a:ext cx="2094838" cy="212786"/>
          </a:xfrm>
          <a:prstGeom prst="rect">
            <a:avLst/>
          </a:prstGeom>
          <a:noFill/>
          <a:ln/>
        </p:spPr>
        <p:txBody>
          <a:bodyPr wrap="square" lIns="0" tIns="0" rIns="0" bIns="0" rtlCol="0" anchor="ctr"/>
          <a:lstStyle/>
          <a:p>
            <a:pPr algn="l" indent="0" marL="0">
              <a:lnSpc>
                <a:spcPct val="116000"/>
              </a:lnSpc>
              <a:buNone/>
            </a:pPr>
            <a:r>
              <a:rPr lang="en-US" sz="1444" b="1" dirty="0">
                <a:solidFill>
                  <a:srgbClr val="1E1B4B"/>
                </a:solidFill>
                <a:latin typeface="Arial" pitchFamily="34" charset="0"/>
                <a:ea typeface="Arial" pitchFamily="34" charset="-122"/>
                <a:cs typeface="Arial" pitchFamily="34" charset="-120"/>
              </a:rPr>
              <a:t>networks (GANs)</a:t>
            </a:r>
            <a:endParaRPr lang="en-US" sz="1444" dirty="0"/>
          </a:p>
        </p:txBody>
      </p:sp>
      <p:sp>
        <p:nvSpPr>
          <p:cNvPr id="21" name="Shape 19"/>
          <p:cNvSpPr/>
          <p:nvPr/>
        </p:nvSpPr>
        <p:spPr>
          <a:xfrm>
            <a:off x="8535545" y="2435195"/>
            <a:ext cx="278823" cy="0"/>
          </a:xfrm>
          <a:prstGeom prst="line">
            <a:avLst/>
          </a:prstGeom>
          <a:noFill/>
          <a:ln w="22860">
            <a:solidFill>
              <a:srgbClr val="0072B2"/>
            </a:solidFill>
            <a:prstDash val="solid"/>
            <a:tailEnd type="triangle"/>
          </a:ln>
        </p:spPr>
      </p:sp>
      <p:sp>
        <p:nvSpPr>
          <p:cNvPr id="22" name="Shape 20"/>
          <p:cNvSpPr/>
          <p:nvPr/>
        </p:nvSpPr>
        <p:spPr>
          <a:xfrm>
            <a:off x="8814367" y="2053648"/>
            <a:ext cx="2300286" cy="763093"/>
          </a:xfrm>
          <a:prstGeom prst="roundRect">
            <a:avLst>
              <a:gd name="adj" fmla="val 9586"/>
            </a:avLst>
          </a:prstGeom>
          <a:solidFill>
            <a:srgbClr val="E4F2FB"/>
          </a:solidFill>
          <a:ln w="15240">
            <a:solidFill>
              <a:srgbClr val="0072B2"/>
            </a:solidFill>
            <a:prstDash val="solid"/>
          </a:ln>
        </p:spPr>
      </p:sp>
      <p:sp>
        <p:nvSpPr>
          <p:cNvPr id="23" name="Text 21"/>
          <p:cNvSpPr txBox="1"/>
          <p:nvPr/>
        </p:nvSpPr>
        <p:spPr>
          <a:xfrm>
            <a:off x="8917091" y="2068323"/>
            <a:ext cx="2094838" cy="234798"/>
          </a:xfrm>
          <a:prstGeom prst="rect">
            <a:avLst/>
          </a:prstGeom>
          <a:noFill/>
          <a:ln/>
        </p:spPr>
        <p:txBody>
          <a:bodyPr wrap="square" lIns="0" tIns="0" rIns="0" bIns="0" rtlCol="0" anchor="ctr"/>
          <a:lstStyle/>
          <a:p>
            <a:pPr algn="l" indent="0" marL="0">
              <a:lnSpc>
                <a:spcPct val="116000"/>
              </a:lnSpc>
              <a:buNone/>
            </a:pPr>
            <a:r>
              <a:rPr lang="en-US" sz="1444" b="1" dirty="0">
                <a:solidFill>
                  <a:srgbClr val="0072B2"/>
                </a:solidFill>
                <a:latin typeface="Arial" pitchFamily="34" charset="0"/>
                <a:ea typeface="Arial" pitchFamily="34" charset="-122"/>
                <a:cs typeface="Arial" pitchFamily="34" charset="-120"/>
              </a:rPr>
              <a:t>Week 4</a:t>
            </a:r>
            <a:endParaRPr lang="en-US" sz="1444" dirty="0"/>
          </a:p>
        </p:txBody>
      </p:sp>
      <p:sp>
        <p:nvSpPr>
          <p:cNvPr id="24" name="Text 22"/>
          <p:cNvSpPr txBox="1"/>
          <p:nvPr/>
        </p:nvSpPr>
        <p:spPr>
          <a:xfrm>
            <a:off x="8917091" y="2354483"/>
            <a:ext cx="2094838" cy="212786"/>
          </a:xfrm>
          <a:prstGeom prst="rect">
            <a:avLst/>
          </a:prstGeom>
          <a:noFill/>
          <a:ln/>
        </p:spPr>
        <p:txBody>
          <a:bodyPr wrap="square" lIns="0" tIns="0" rIns="0" bIns="0" rtlCol="0" anchor="ctr"/>
          <a:lstStyle/>
          <a:p>
            <a:pPr algn="l" indent="0" marL="0">
              <a:lnSpc>
                <a:spcPct val="116000"/>
              </a:lnSpc>
              <a:buNone/>
            </a:pPr>
            <a:r>
              <a:rPr lang="en-US" sz="1444" b="1" dirty="0">
                <a:solidFill>
                  <a:srgbClr val="1E1B4B"/>
                </a:solidFill>
                <a:latin typeface="Arial" pitchFamily="34" charset="0"/>
                <a:ea typeface="Arial" pitchFamily="34" charset="-122"/>
                <a:cs typeface="Arial" pitchFamily="34" charset="-120"/>
              </a:rPr>
              <a:t>Diffusion</a:t>
            </a:r>
            <a:endParaRPr lang="en-US" sz="1444" dirty="0"/>
          </a:p>
        </p:txBody>
      </p:sp>
      <p:sp>
        <p:nvSpPr>
          <p:cNvPr id="25" name="Text 23"/>
          <p:cNvSpPr txBox="1"/>
          <p:nvPr/>
        </p:nvSpPr>
        <p:spPr>
          <a:xfrm>
            <a:off x="8917091" y="2567268"/>
            <a:ext cx="2094838" cy="212786"/>
          </a:xfrm>
          <a:prstGeom prst="rect">
            <a:avLst/>
          </a:prstGeom>
          <a:noFill/>
          <a:ln/>
        </p:spPr>
        <p:txBody>
          <a:bodyPr wrap="square" lIns="0" tIns="0" rIns="0" bIns="0" rtlCol="0" anchor="ctr"/>
          <a:lstStyle/>
          <a:p>
            <a:pPr algn="l" indent="0" marL="0">
              <a:lnSpc>
                <a:spcPct val="116000"/>
              </a:lnSpc>
              <a:buNone/>
            </a:pPr>
            <a:r>
              <a:rPr lang="en-US" sz="1444" b="1" dirty="0">
                <a:solidFill>
                  <a:srgbClr val="1E1B4B"/>
                </a:solidFill>
                <a:latin typeface="Arial" pitchFamily="34" charset="0"/>
                <a:ea typeface="Arial" pitchFamily="34" charset="-122"/>
                <a:cs typeface="Arial" pitchFamily="34" charset="-120"/>
              </a:rPr>
              <a:t>models</a:t>
            </a:r>
            <a:endParaRPr lang="en-US" sz="1444" dirty="0"/>
          </a:p>
        </p:txBody>
      </p:sp>
      <p:sp>
        <p:nvSpPr>
          <p:cNvPr id="26" name="Shape 24"/>
          <p:cNvSpPr/>
          <p:nvPr/>
        </p:nvSpPr>
        <p:spPr>
          <a:xfrm>
            <a:off x="9964510" y="2816741"/>
            <a:ext cx="0" cy="132074"/>
          </a:xfrm>
          <a:prstGeom prst="line">
            <a:avLst/>
          </a:prstGeom>
          <a:noFill/>
          <a:ln w="22860">
            <a:solidFill>
              <a:srgbClr val="0072B2"/>
            </a:solidFill>
            <a:prstDash val="solid"/>
          </a:ln>
        </p:spPr>
      </p:sp>
      <p:sp>
        <p:nvSpPr>
          <p:cNvPr id="27" name="Shape 25"/>
          <p:cNvSpPr/>
          <p:nvPr/>
        </p:nvSpPr>
        <p:spPr>
          <a:xfrm flipH="1">
            <a:off x="944968" y="2948815"/>
            <a:ext cx="9019542" cy="0"/>
          </a:xfrm>
          <a:prstGeom prst="line">
            <a:avLst/>
          </a:prstGeom>
          <a:noFill/>
          <a:ln w="22860">
            <a:solidFill>
              <a:srgbClr val="0072B2"/>
            </a:solidFill>
            <a:prstDash val="solid"/>
          </a:ln>
        </p:spPr>
      </p:sp>
      <p:sp>
        <p:nvSpPr>
          <p:cNvPr id="28" name="Shape 26"/>
          <p:cNvSpPr/>
          <p:nvPr/>
        </p:nvSpPr>
        <p:spPr>
          <a:xfrm>
            <a:off x="944968" y="2948815"/>
            <a:ext cx="0" cy="858480"/>
          </a:xfrm>
          <a:prstGeom prst="line">
            <a:avLst/>
          </a:prstGeom>
          <a:noFill/>
          <a:ln w="22860">
            <a:solidFill>
              <a:srgbClr val="0072B2"/>
            </a:solidFill>
            <a:prstDash val="solid"/>
          </a:ln>
        </p:spPr>
      </p:sp>
      <p:sp>
        <p:nvSpPr>
          <p:cNvPr id="29" name="Shape 27"/>
          <p:cNvSpPr/>
          <p:nvPr/>
        </p:nvSpPr>
        <p:spPr>
          <a:xfrm>
            <a:off x="944968" y="3807295"/>
            <a:ext cx="132074" cy="0"/>
          </a:xfrm>
          <a:prstGeom prst="line">
            <a:avLst/>
          </a:prstGeom>
          <a:noFill/>
          <a:ln w="22860">
            <a:solidFill>
              <a:srgbClr val="0072B2"/>
            </a:solidFill>
            <a:prstDash val="solid"/>
            <a:tailEnd type="triangle"/>
          </a:ln>
        </p:spPr>
      </p:sp>
      <p:sp>
        <p:nvSpPr>
          <p:cNvPr id="30" name="Text 28"/>
          <p:cNvSpPr txBox="1"/>
          <p:nvPr/>
        </p:nvSpPr>
        <p:spPr>
          <a:xfrm>
            <a:off x="1077042" y="3088226"/>
            <a:ext cx="10037611" cy="264148"/>
          </a:xfrm>
          <a:prstGeom prst="rect">
            <a:avLst/>
          </a:prstGeom>
          <a:noFill/>
          <a:ln/>
        </p:spPr>
        <p:txBody>
          <a:bodyPr wrap="square" lIns="0" tIns="0" rIns="0" bIns="0" rtlCol="0" anchor="ctr"/>
          <a:lstStyle/>
          <a:p>
            <a:pPr algn="l" indent="0" marL="0">
              <a:lnSpc>
                <a:spcPct val="116000"/>
              </a:lnSpc>
              <a:buNone/>
            </a:pPr>
            <a:r>
              <a:rPr lang="en-US" sz="1560" b="1" dirty="0">
                <a:solidFill>
                  <a:srgbClr val="1E1B4B"/>
                </a:solidFill>
                <a:latin typeface="Arial" pitchFamily="34" charset="0"/>
                <a:ea typeface="Arial" pitchFamily="34" charset="-122"/>
                <a:cs typeface="Arial" pitchFamily="34" charset="-120"/>
              </a:rPr>
              <a:t>Language models and adaptation</a:t>
            </a:r>
            <a:endParaRPr lang="en-US" sz="1560" dirty="0"/>
          </a:p>
        </p:txBody>
      </p:sp>
      <p:sp>
        <p:nvSpPr>
          <p:cNvPr id="31" name="Shape 29"/>
          <p:cNvSpPr/>
          <p:nvPr/>
        </p:nvSpPr>
        <p:spPr>
          <a:xfrm>
            <a:off x="1077042" y="3425748"/>
            <a:ext cx="2300286" cy="763093"/>
          </a:xfrm>
          <a:prstGeom prst="roundRect">
            <a:avLst>
              <a:gd name="adj" fmla="val 9586"/>
            </a:avLst>
          </a:prstGeom>
          <a:solidFill>
            <a:srgbClr val="E4F2FB"/>
          </a:solidFill>
          <a:ln w="15240">
            <a:solidFill>
              <a:srgbClr val="0072B2"/>
            </a:solidFill>
            <a:prstDash val="solid"/>
          </a:ln>
        </p:spPr>
      </p:sp>
      <p:sp>
        <p:nvSpPr>
          <p:cNvPr id="32" name="Text 30"/>
          <p:cNvSpPr txBox="1"/>
          <p:nvPr/>
        </p:nvSpPr>
        <p:spPr>
          <a:xfrm>
            <a:off x="1179766" y="3440423"/>
            <a:ext cx="2094838" cy="234798"/>
          </a:xfrm>
          <a:prstGeom prst="rect">
            <a:avLst/>
          </a:prstGeom>
          <a:noFill/>
          <a:ln/>
        </p:spPr>
        <p:txBody>
          <a:bodyPr wrap="square" lIns="0" tIns="0" rIns="0" bIns="0" rtlCol="0" anchor="ctr"/>
          <a:lstStyle/>
          <a:p>
            <a:pPr algn="l" indent="0" marL="0">
              <a:lnSpc>
                <a:spcPct val="116000"/>
              </a:lnSpc>
              <a:buNone/>
            </a:pPr>
            <a:r>
              <a:rPr lang="en-US" sz="1444" b="1" dirty="0">
                <a:solidFill>
                  <a:srgbClr val="0072B2"/>
                </a:solidFill>
                <a:latin typeface="Arial" pitchFamily="34" charset="0"/>
                <a:ea typeface="Arial" pitchFamily="34" charset="-122"/>
                <a:cs typeface="Arial" pitchFamily="34" charset="-120"/>
              </a:rPr>
              <a:t>Week 5</a:t>
            </a:r>
            <a:endParaRPr lang="en-US" sz="1444" dirty="0"/>
          </a:p>
        </p:txBody>
      </p:sp>
      <p:sp>
        <p:nvSpPr>
          <p:cNvPr id="33" name="Text 31"/>
          <p:cNvSpPr txBox="1"/>
          <p:nvPr/>
        </p:nvSpPr>
        <p:spPr>
          <a:xfrm>
            <a:off x="1179766" y="3726583"/>
            <a:ext cx="2094838" cy="212786"/>
          </a:xfrm>
          <a:prstGeom prst="rect">
            <a:avLst/>
          </a:prstGeom>
          <a:noFill/>
          <a:ln/>
        </p:spPr>
        <p:txBody>
          <a:bodyPr wrap="square" lIns="0" tIns="0" rIns="0" bIns="0" rtlCol="0" anchor="ctr"/>
          <a:lstStyle/>
          <a:p>
            <a:pPr algn="l" indent="0" marL="0">
              <a:lnSpc>
                <a:spcPct val="116000"/>
              </a:lnSpc>
              <a:buNone/>
            </a:pPr>
            <a:r>
              <a:rPr lang="en-US" sz="1444" b="1" dirty="0">
                <a:solidFill>
                  <a:srgbClr val="1E1B4B"/>
                </a:solidFill>
                <a:latin typeface="Arial" pitchFamily="34" charset="0"/>
                <a:ea typeface="Arial" pitchFamily="34" charset="-122"/>
                <a:cs typeface="Arial" pitchFamily="34" charset="-120"/>
              </a:rPr>
              <a:t>Transformers</a:t>
            </a:r>
            <a:endParaRPr lang="en-US" sz="1444" dirty="0"/>
          </a:p>
        </p:txBody>
      </p:sp>
      <p:sp>
        <p:nvSpPr>
          <p:cNvPr id="34" name="Text 32"/>
          <p:cNvSpPr txBox="1"/>
          <p:nvPr/>
        </p:nvSpPr>
        <p:spPr>
          <a:xfrm>
            <a:off x="1179766" y="3939369"/>
            <a:ext cx="2094838" cy="212786"/>
          </a:xfrm>
          <a:prstGeom prst="rect">
            <a:avLst/>
          </a:prstGeom>
          <a:noFill/>
          <a:ln/>
        </p:spPr>
        <p:txBody>
          <a:bodyPr wrap="square" lIns="0" tIns="0" rIns="0" bIns="0" rtlCol="0" anchor="ctr"/>
          <a:lstStyle/>
          <a:p>
            <a:pPr algn="l" indent="0" marL="0">
              <a:lnSpc>
                <a:spcPct val="116000"/>
              </a:lnSpc>
              <a:buNone/>
            </a:pPr>
            <a:r>
              <a:rPr lang="en-US" sz="1444" b="1" dirty="0">
                <a:solidFill>
                  <a:srgbClr val="1E1B4B"/>
                </a:solidFill>
                <a:latin typeface="Arial" pitchFamily="34" charset="0"/>
                <a:ea typeface="Arial" pitchFamily="34" charset="-122"/>
                <a:cs typeface="Arial" pitchFamily="34" charset="-120"/>
              </a:rPr>
              <a:t>and attention</a:t>
            </a:r>
            <a:endParaRPr lang="en-US" sz="1444" dirty="0"/>
          </a:p>
        </p:txBody>
      </p:sp>
      <p:sp>
        <p:nvSpPr>
          <p:cNvPr id="35" name="Shape 33"/>
          <p:cNvSpPr/>
          <p:nvPr/>
        </p:nvSpPr>
        <p:spPr>
          <a:xfrm>
            <a:off x="3377328" y="3807295"/>
            <a:ext cx="278823" cy="0"/>
          </a:xfrm>
          <a:prstGeom prst="line">
            <a:avLst/>
          </a:prstGeom>
          <a:noFill/>
          <a:ln w="22860">
            <a:solidFill>
              <a:srgbClr val="0072B2"/>
            </a:solidFill>
            <a:prstDash val="solid"/>
            <a:tailEnd type="triangle"/>
          </a:ln>
        </p:spPr>
      </p:sp>
      <p:sp>
        <p:nvSpPr>
          <p:cNvPr id="36" name="Shape 34"/>
          <p:cNvSpPr/>
          <p:nvPr/>
        </p:nvSpPr>
        <p:spPr>
          <a:xfrm>
            <a:off x="3656151" y="3425748"/>
            <a:ext cx="2300286" cy="763093"/>
          </a:xfrm>
          <a:prstGeom prst="roundRect">
            <a:avLst>
              <a:gd name="adj" fmla="val 9586"/>
            </a:avLst>
          </a:prstGeom>
          <a:solidFill>
            <a:srgbClr val="E4F2FB"/>
          </a:solidFill>
          <a:ln w="15240">
            <a:solidFill>
              <a:srgbClr val="0072B2"/>
            </a:solidFill>
            <a:prstDash val="solid"/>
          </a:ln>
        </p:spPr>
      </p:sp>
      <p:sp>
        <p:nvSpPr>
          <p:cNvPr id="37" name="Text 35"/>
          <p:cNvSpPr txBox="1"/>
          <p:nvPr/>
        </p:nvSpPr>
        <p:spPr>
          <a:xfrm>
            <a:off x="3758875" y="3440423"/>
            <a:ext cx="2094838" cy="234798"/>
          </a:xfrm>
          <a:prstGeom prst="rect">
            <a:avLst/>
          </a:prstGeom>
          <a:noFill/>
          <a:ln/>
        </p:spPr>
        <p:txBody>
          <a:bodyPr wrap="square" lIns="0" tIns="0" rIns="0" bIns="0" rtlCol="0" anchor="ctr"/>
          <a:lstStyle/>
          <a:p>
            <a:pPr algn="l" indent="0" marL="0">
              <a:lnSpc>
                <a:spcPct val="116000"/>
              </a:lnSpc>
              <a:buNone/>
            </a:pPr>
            <a:r>
              <a:rPr lang="en-US" sz="1444" b="1" dirty="0">
                <a:solidFill>
                  <a:srgbClr val="0072B2"/>
                </a:solidFill>
                <a:latin typeface="Arial" pitchFamily="34" charset="0"/>
                <a:ea typeface="Arial" pitchFamily="34" charset="-122"/>
                <a:cs typeface="Arial" pitchFamily="34" charset="-120"/>
              </a:rPr>
              <a:t>Week 6</a:t>
            </a:r>
            <a:endParaRPr lang="en-US" sz="1444" dirty="0"/>
          </a:p>
        </p:txBody>
      </p:sp>
      <p:sp>
        <p:nvSpPr>
          <p:cNvPr id="38" name="Text 36"/>
          <p:cNvSpPr txBox="1"/>
          <p:nvPr/>
        </p:nvSpPr>
        <p:spPr>
          <a:xfrm>
            <a:off x="3758875" y="3726583"/>
            <a:ext cx="2094838" cy="212786"/>
          </a:xfrm>
          <a:prstGeom prst="rect">
            <a:avLst/>
          </a:prstGeom>
          <a:noFill/>
          <a:ln/>
        </p:spPr>
        <p:txBody>
          <a:bodyPr wrap="square" lIns="0" tIns="0" rIns="0" bIns="0" rtlCol="0" anchor="ctr"/>
          <a:lstStyle/>
          <a:p>
            <a:pPr algn="l" indent="0" marL="0">
              <a:lnSpc>
                <a:spcPct val="116000"/>
              </a:lnSpc>
              <a:buNone/>
            </a:pPr>
            <a:r>
              <a:rPr lang="en-US" sz="1444" b="1" dirty="0">
                <a:solidFill>
                  <a:srgbClr val="1E1B4B"/>
                </a:solidFill>
                <a:latin typeface="Arial" pitchFamily="34" charset="0"/>
                <a:ea typeface="Arial" pitchFamily="34" charset="-122"/>
                <a:cs typeface="Arial" pitchFamily="34" charset="-120"/>
              </a:rPr>
              <a:t>Language models</a:t>
            </a:r>
            <a:endParaRPr lang="en-US" sz="1444" dirty="0"/>
          </a:p>
        </p:txBody>
      </p:sp>
      <p:sp>
        <p:nvSpPr>
          <p:cNvPr id="39" name="Text 37"/>
          <p:cNvSpPr txBox="1"/>
          <p:nvPr/>
        </p:nvSpPr>
        <p:spPr>
          <a:xfrm>
            <a:off x="3758875" y="3939369"/>
            <a:ext cx="2094838" cy="212786"/>
          </a:xfrm>
          <a:prstGeom prst="rect">
            <a:avLst/>
          </a:prstGeom>
          <a:noFill/>
          <a:ln/>
        </p:spPr>
        <p:txBody>
          <a:bodyPr wrap="square" lIns="0" tIns="0" rIns="0" bIns="0" rtlCol="0" anchor="ctr"/>
          <a:lstStyle/>
          <a:p>
            <a:pPr algn="l" indent="0" marL="0">
              <a:lnSpc>
                <a:spcPct val="116000"/>
              </a:lnSpc>
              <a:buNone/>
            </a:pPr>
            <a:r>
              <a:rPr lang="en-US" sz="1444" b="1" dirty="0">
                <a:solidFill>
                  <a:srgbClr val="1E1B4B"/>
                </a:solidFill>
                <a:latin typeface="Arial" pitchFamily="34" charset="0"/>
                <a:ea typeface="Arial" pitchFamily="34" charset="-122"/>
                <a:cs typeface="Arial" pitchFamily="34" charset="-120"/>
              </a:rPr>
              <a:t>and families</a:t>
            </a:r>
            <a:endParaRPr lang="en-US" sz="1444" dirty="0"/>
          </a:p>
        </p:txBody>
      </p:sp>
      <p:sp>
        <p:nvSpPr>
          <p:cNvPr id="40" name="Shape 38"/>
          <p:cNvSpPr/>
          <p:nvPr/>
        </p:nvSpPr>
        <p:spPr>
          <a:xfrm>
            <a:off x="5956436" y="3807295"/>
            <a:ext cx="278823" cy="0"/>
          </a:xfrm>
          <a:prstGeom prst="line">
            <a:avLst/>
          </a:prstGeom>
          <a:noFill/>
          <a:ln w="22860">
            <a:solidFill>
              <a:srgbClr val="0072B2"/>
            </a:solidFill>
            <a:prstDash val="solid"/>
            <a:tailEnd type="triangle"/>
          </a:ln>
        </p:spPr>
      </p:sp>
      <p:sp>
        <p:nvSpPr>
          <p:cNvPr id="41" name="Shape 39"/>
          <p:cNvSpPr/>
          <p:nvPr/>
        </p:nvSpPr>
        <p:spPr>
          <a:xfrm>
            <a:off x="6235259" y="3425748"/>
            <a:ext cx="2300286" cy="763093"/>
          </a:xfrm>
          <a:prstGeom prst="roundRect">
            <a:avLst>
              <a:gd name="adj" fmla="val 9586"/>
            </a:avLst>
          </a:prstGeom>
          <a:solidFill>
            <a:srgbClr val="FFF0E6"/>
          </a:solidFill>
          <a:ln w="15240">
            <a:solidFill>
              <a:srgbClr val="D55E00"/>
            </a:solidFill>
            <a:prstDash val="solid"/>
          </a:ln>
        </p:spPr>
      </p:sp>
      <p:sp>
        <p:nvSpPr>
          <p:cNvPr id="42" name="Text 40"/>
          <p:cNvSpPr txBox="1"/>
          <p:nvPr/>
        </p:nvSpPr>
        <p:spPr>
          <a:xfrm>
            <a:off x="6337983" y="3440423"/>
            <a:ext cx="2094838" cy="234798"/>
          </a:xfrm>
          <a:prstGeom prst="rect">
            <a:avLst/>
          </a:prstGeom>
          <a:noFill/>
          <a:ln/>
        </p:spPr>
        <p:txBody>
          <a:bodyPr wrap="square" lIns="0" tIns="0" rIns="0" bIns="0" rtlCol="0" anchor="ctr"/>
          <a:lstStyle/>
          <a:p>
            <a:pPr algn="l" indent="0" marL="0">
              <a:lnSpc>
                <a:spcPct val="116000"/>
              </a:lnSpc>
              <a:buNone/>
            </a:pPr>
            <a:r>
              <a:rPr lang="en-US" sz="1444" b="1" dirty="0">
                <a:solidFill>
                  <a:srgbClr val="D55E00"/>
                </a:solidFill>
                <a:latin typeface="Arial" pitchFamily="34" charset="0"/>
                <a:ea typeface="Arial" pitchFamily="34" charset="-122"/>
                <a:cs typeface="Arial" pitchFamily="34" charset="-120"/>
              </a:rPr>
              <a:t>Week 7: you are here</a:t>
            </a:r>
            <a:endParaRPr lang="en-US" sz="1444" dirty="0"/>
          </a:p>
        </p:txBody>
      </p:sp>
      <p:sp>
        <p:nvSpPr>
          <p:cNvPr id="43" name="Text 41"/>
          <p:cNvSpPr txBox="1"/>
          <p:nvPr/>
        </p:nvSpPr>
        <p:spPr>
          <a:xfrm>
            <a:off x="6337983" y="3726583"/>
            <a:ext cx="2094838" cy="212786"/>
          </a:xfrm>
          <a:prstGeom prst="rect">
            <a:avLst/>
          </a:prstGeom>
          <a:noFill/>
          <a:ln/>
        </p:spPr>
        <p:txBody>
          <a:bodyPr wrap="square" lIns="0" tIns="0" rIns="0" bIns="0" rtlCol="0" anchor="ctr"/>
          <a:lstStyle/>
          <a:p>
            <a:pPr algn="l" indent="0" marL="0">
              <a:lnSpc>
                <a:spcPct val="116000"/>
              </a:lnSpc>
              <a:buNone/>
            </a:pPr>
            <a:r>
              <a:rPr lang="en-US" sz="1444" b="1" dirty="0">
                <a:solidFill>
                  <a:srgbClr val="1E1B4B"/>
                </a:solidFill>
                <a:latin typeface="Arial" pitchFamily="34" charset="0"/>
                <a:ea typeface="Arial" pitchFamily="34" charset="-122"/>
                <a:cs typeface="Arial" pitchFamily="34" charset="-120"/>
              </a:rPr>
              <a:t>Prompting</a:t>
            </a:r>
            <a:endParaRPr lang="en-US" sz="1444" dirty="0"/>
          </a:p>
        </p:txBody>
      </p:sp>
      <p:sp>
        <p:nvSpPr>
          <p:cNvPr id="44" name="Text 42"/>
          <p:cNvSpPr txBox="1"/>
          <p:nvPr/>
        </p:nvSpPr>
        <p:spPr>
          <a:xfrm>
            <a:off x="6337983" y="3939369"/>
            <a:ext cx="2094838" cy="212786"/>
          </a:xfrm>
          <a:prstGeom prst="rect">
            <a:avLst/>
          </a:prstGeom>
          <a:noFill/>
          <a:ln/>
        </p:spPr>
        <p:txBody>
          <a:bodyPr wrap="square" lIns="0" tIns="0" rIns="0" bIns="0" rtlCol="0" anchor="ctr"/>
          <a:lstStyle/>
          <a:p>
            <a:pPr algn="l" indent="0" marL="0">
              <a:lnSpc>
                <a:spcPct val="116000"/>
              </a:lnSpc>
              <a:buNone/>
            </a:pPr>
            <a:r>
              <a:rPr lang="en-US" sz="1444" b="1" dirty="0">
                <a:solidFill>
                  <a:srgbClr val="1E1B4B"/>
                </a:solidFill>
                <a:latin typeface="Arial" pitchFamily="34" charset="0"/>
                <a:ea typeface="Arial" pitchFamily="34" charset="-122"/>
                <a:cs typeface="Arial" pitchFamily="34" charset="-120"/>
              </a:rPr>
              <a:t>and evaluation</a:t>
            </a:r>
            <a:endParaRPr lang="en-US" sz="1444" dirty="0"/>
          </a:p>
        </p:txBody>
      </p:sp>
      <p:sp>
        <p:nvSpPr>
          <p:cNvPr id="45" name="Shape 43"/>
          <p:cNvSpPr/>
          <p:nvPr/>
        </p:nvSpPr>
        <p:spPr>
          <a:xfrm>
            <a:off x="8535545" y="3807295"/>
            <a:ext cx="278823" cy="0"/>
          </a:xfrm>
          <a:prstGeom prst="line">
            <a:avLst/>
          </a:prstGeom>
          <a:noFill/>
          <a:ln w="22860">
            <a:solidFill>
              <a:srgbClr val="0072B2"/>
            </a:solidFill>
            <a:prstDash val="solid"/>
            <a:tailEnd type="triangle"/>
          </a:ln>
        </p:spPr>
      </p:sp>
      <p:sp>
        <p:nvSpPr>
          <p:cNvPr id="46" name="Shape 44"/>
          <p:cNvSpPr/>
          <p:nvPr/>
        </p:nvSpPr>
        <p:spPr>
          <a:xfrm>
            <a:off x="8814367" y="3425748"/>
            <a:ext cx="2300286" cy="763093"/>
          </a:xfrm>
          <a:prstGeom prst="roundRect">
            <a:avLst>
              <a:gd name="adj" fmla="val 9586"/>
            </a:avLst>
          </a:prstGeom>
          <a:solidFill>
            <a:srgbClr val="E4F2FB"/>
          </a:solidFill>
          <a:ln w="15240">
            <a:solidFill>
              <a:srgbClr val="0072B2"/>
            </a:solidFill>
            <a:prstDash val="solid"/>
          </a:ln>
        </p:spPr>
      </p:sp>
      <p:sp>
        <p:nvSpPr>
          <p:cNvPr id="47" name="Text 45"/>
          <p:cNvSpPr txBox="1"/>
          <p:nvPr/>
        </p:nvSpPr>
        <p:spPr>
          <a:xfrm>
            <a:off x="8917091" y="3440423"/>
            <a:ext cx="2094838" cy="234798"/>
          </a:xfrm>
          <a:prstGeom prst="rect">
            <a:avLst/>
          </a:prstGeom>
          <a:noFill/>
          <a:ln/>
        </p:spPr>
        <p:txBody>
          <a:bodyPr wrap="square" lIns="0" tIns="0" rIns="0" bIns="0" rtlCol="0" anchor="ctr"/>
          <a:lstStyle/>
          <a:p>
            <a:pPr algn="l" indent="0" marL="0">
              <a:lnSpc>
                <a:spcPct val="116000"/>
              </a:lnSpc>
              <a:buNone/>
            </a:pPr>
            <a:r>
              <a:rPr lang="en-US" sz="1444" b="1" dirty="0">
                <a:solidFill>
                  <a:srgbClr val="0072B2"/>
                </a:solidFill>
                <a:latin typeface="Arial" pitchFamily="34" charset="0"/>
                <a:ea typeface="Arial" pitchFamily="34" charset="-122"/>
                <a:cs typeface="Arial" pitchFamily="34" charset="-120"/>
              </a:rPr>
              <a:t>Week 8</a:t>
            </a:r>
            <a:endParaRPr lang="en-US" sz="1444" dirty="0"/>
          </a:p>
        </p:txBody>
      </p:sp>
      <p:sp>
        <p:nvSpPr>
          <p:cNvPr id="48" name="Text 46"/>
          <p:cNvSpPr txBox="1"/>
          <p:nvPr/>
        </p:nvSpPr>
        <p:spPr>
          <a:xfrm>
            <a:off x="8917091" y="3726583"/>
            <a:ext cx="2094838" cy="212786"/>
          </a:xfrm>
          <a:prstGeom prst="rect">
            <a:avLst/>
          </a:prstGeom>
          <a:noFill/>
          <a:ln/>
        </p:spPr>
        <p:txBody>
          <a:bodyPr wrap="square" lIns="0" tIns="0" rIns="0" bIns="0" rtlCol="0" anchor="ctr"/>
          <a:lstStyle/>
          <a:p>
            <a:pPr algn="l" indent="0" marL="0">
              <a:lnSpc>
                <a:spcPct val="116000"/>
              </a:lnSpc>
              <a:buNone/>
            </a:pPr>
            <a:r>
              <a:rPr lang="en-US" sz="1444" b="1" dirty="0">
                <a:solidFill>
                  <a:srgbClr val="1E1B4B"/>
                </a:solidFill>
                <a:latin typeface="Arial" pitchFamily="34" charset="0"/>
                <a:ea typeface="Arial" pitchFamily="34" charset="-122"/>
                <a:cs typeface="Arial" pitchFamily="34" charset="-120"/>
              </a:rPr>
              <a:t>Fine-tuning</a:t>
            </a:r>
            <a:endParaRPr lang="en-US" sz="1444" dirty="0"/>
          </a:p>
        </p:txBody>
      </p:sp>
      <p:sp>
        <p:nvSpPr>
          <p:cNvPr id="49" name="Text 47"/>
          <p:cNvSpPr txBox="1"/>
          <p:nvPr/>
        </p:nvSpPr>
        <p:spPr>
          <a:xfrm>
            <a:off x="8917091" y="3939369"/>
            <a:ext cx="2094838" cy="212786"/>
          </a:xfrm>
          <a:prstGeom prst="rect">
            <a:avLst/>
          </a:prstGeom>
          <a:noFill/>
          <a:ln/>
        </p:spPr>
        <p:txBody>
          <a:bodyPr wrap="square" lIns="0" tIns="0" rIns="0" bIns="0" rtlCol="0" anchor="ctr"/>
          <a:lstStyle/>
          <a:p>
            <a:pPr algn="l" indent="0" marL="0">
              <a:lnSpc>
                <a:spcPct val="116000"/>
              </a:lnSpc>
              <a:buNone/>
            </a:pPr>
            <a:r>
              <a:rPr lang="en-US" sz="1444" b="1" dirty="0">
                <a:solidFill>
                  <a:srgbClr val="1E1B4B"/>
                </a:solidFill>
                <a:latin typeface="Arial" pitchFamily="34" charset="0"/>
                <a:ea typeface="Arial" pitchFamily="34" charset="-122"/>
                <a:cs typeface="Arial" pitchFamily="34" charset="-120"/>
              </a:rPr>
              <a:t>and adaptation</a:t>
            </a:r>
            <a:endParaRPr lang="en-US" sz="1444" dirty="0"/>
          </a:p>
        </p:txBody>
      </p:sp>
      <p:sp>
        <p:nvSpPr>
          <p:cNvPr id="50" name="Shape 48"/>
          <p:cNvSpPr/>
          <p:nvPr/>
        </p:nvSpPr>
        <p:spPr>
          <a:xfrm>
            <a:off x="9964510" y="4188841"/>
            <a:ext cx="0" cy="132074"/>
          </a:xfrm>
          <a:prstGeom prst="line">
            <a:avLst/>
          </a:prstGeom>
          <a:noFill/>
          <a:ln w="22860">
            <a:solidFill>
              <a:srgbClr val="0072B2"/>
            </a:solidFill>
            <a:prstDash val="solid"/>
          </a:ln>
        </p:spPr>
      </p:sp>
      <p:sp>
        <p:nvSpPr>
          <p:cNvPr id="51" name="Shape 49"/>
          <p:cNvSpPr/>
          <p:nvPr/>
        </p:nvSpPr>
        <p:spPr>
          <a:xfrm flipH="1">
            <a:off x="944968" y="4320915"/>
            <a:ext cx="9019542" cy="0"/>
          </a:xfrm>
          <a:prstGeom prst="line">
            <a:avLst/>
          </a:prstGeom>
          <a:noFill/>
          <a:ln w="22860">
            <a:solidFill>
              <a:srgbClr val="0072B2"/>
            </a:solidFill>
            <a:prstDash val="solid"/>
          </a:ln>
        </p:spPr>
      </p:sp>
      <p:sp>
        <p:nvSpPr>
          <p:cNvPr id="52" name="Shape 50"/>
          <p:cNvSpPr/>
          <p:nvPr/>
        </p:nvSpPr>
        <p:spPr>
          <a:xfrm>
            <a:off x="944968" y="4320915"/>
            <a:ext cx="0" cy="858480"/>
          </a:xfrm>
          <a:prstGeom prst="line">
            <a:avLst/>
          </a:prstGeom>
          <a:noFill/>
          <a:ln w="22860">
            <a:solidFill>
              <a:srgbClr val="0072B2"/>
            </a:solidFill>
            <a:prstDash val="solid"/>
          </a:ln>
        </p:spPr>
      </p:sp>
      <p:sp>
        <p:nvSpPr>
          <p:cNvPr id="53" name="Shape 51"/>
          <p:cNvSpPr/>
          <p:nvPr/>
        </p:nvSpPr>
        <p:spPr>
          <a:xfrm>
            <a:off x="944968" y="5179395"/>
            <a:ext cx="132074" cy="0"/>
          </a:xfrm>
          <a:prstGeom prst="line">
            <a:avLst/>
          </a:prstGeom>
          <a:noFill/>
          <a:ln w="22860">
            <a:solidFill>
              <a:srgbClr val="0072B2"/>
            </a:solidFill>
            <a:prstDash val="solid"/>
            <a:tailEnd type="triangle"/>
          </a:ln>
        </p:spPr>
      </p:sp>
      <p:sp>
        <p:nvSpPr>
          <p:cNvPr id="54" name="Text 52"/>
          <p:cNvSpPr txBox="1"/>
          <p:nvPr/>
        </p:nvSpPr>
        <p:spPr>
          <a:xfrm>
            <a:off x="1077042" y="4460326"/>
            <a:ext cx="10037611" cy="264148"/>
          </a:xfrm>
          <a:prstGeom prst="rect">
            <a:avLst/>
          </a:prstGeom>
          <a:noFill/>
          <a:ln/>
        </p:spPr>
        <p:txBody>
          <a:bodyPr wrap="square" lIns="0" tIns="0" rIns="0" bIns="0" rtlCol="0" anchor="ctr"/>
          <a:lstStyle/>
          <a:p>
            <a:pPr algn="l" indent="0" marL="0">
              <a:lnSpc>
                <a:spcPct val="116000"/>
              </a:lnSpc>
              <a:buNone/>
            </a:pPr>
            <a:r>
              <a:rPr lang="en-US" sz="1560" b="1" dirty="0">
                <a:solidFill>
                  <a:srgbClr val="1E1B4B"/>
                </a:solidFill>
                <a:latin typeface="Arial" pitchFamily="34" charset="0"/>
                <a:ea typeface="Arial" pitchFamily="34" charset="-122"/>
                <a:cs typeface="Arial" pitchFamily="34" charset="-120"/>
              </a:rPr>
              <a:t>Multimodal applications and deployed systems</a:t>
            </a:r>
            <a:endParaRPr lang="en-US" sz="1560" dirty="0"/>
          </a:p>
        </p:txBody>
      </p:sp>
      <p:sp>
        <p:nvSpPr>
          <p:cNvPr id="55" name="Shape 53"/>
          <p:cNvSpPr/>
          <p:nvPr/>
        </p:nvSpPr>
        <p:spPr>
          <a:xfrm>
            <a:off x="1077042" y="4797848"/>
            <a:ext cx="2300286" cy="763093"/>
          </a:xfrm>
          <a:prstGeom prst="roundRect">
            <a:avLst>
              <a:gd name="adj" fmla="val 9586"/>
            </a:avLst>
          </a:prstGeom>
          <a:solidFill>
            <a:srgbClr val="E4F2FB"/>
          </a:solidFill>
          <a:ln w="15240">
            <a:solidFill>
              <a:srgbClr val="0072B2"/>
            </a:solidFill>
            <a:prstDash val="solid"/>
          </a:ln>
        </p:spPr>
      </p:sp>
      <p:sp>
        <p:nvSpPr>
          <p:cNvPr id="56" name="Text 54"/>
          <p:cNvSpPr txBox="1"/>
          <p:nvPr/>
        </p:nvSpPr>
        <p:spPr>
          <a:xfrm>
            <a:off x="1179766" y="4812523"/>
            <a:ext cx="2094838" cy="234798"/>
          </a:xfrm>
          <a:prstGeom prst="rect">
            <a:avLst/>
          </a:prstGeom>
          <a:noFill/>
          <a:ln/>
        </p:spPr>
        <p:txBody>
          <a:bodyPr wrap="square" lIns="0" tIns="0" rIns="0" bIns="0" rtlCol="0" anchor="ctr"/>
          <a:lstStyle/>
          <a:p>
            <a:pPr algn="l" indent="0" marL="0">
              <a:lnSpc>
                <a:spcPct val="116000"/>
              </a:lnSpc>
              <a:buNone/>
            </a:pPr>
            <a:r>
              <a:rPr lang="en-US" sz="1444" b="1" dirty="0">
                <a:solidFill>
                  <a:srgbClr val="0072B2"/>
                </a:solidFill>
                <a:latin typeface="Arial" pitchFamily="34" charset="0"/>
                <a:ea typeface="Arial" pitchFamily="34" charset="-122"/>
                <a:cs typeface="Arial" pitchFamily="34" charset="-120"/>
              </a:rPr>
              <a:t>Week 9</a:t>
            </a:r>
            <a:endParaRPr lang="en-US" sz="1444" dirty="0"/>
          </a:p>
        </p:txBody>
      </p:sp>
      <p:sp>
        <p:nvSpPr>
          <p:cNvPr id="57" name="Text 55"/>
          <p:cNvSpPr txBox="1"/>
          <p:nvPr/>
        </p:nvSpPr>
        <p:spPr>
          <a:xfrm>
            <a:off x="1179766" y="5098683"/>
            <a:ext cx="2094838" cy="212786"/>
          </a:xfrm>
          <a:prstGeom prst="rect">
            <a:avLst/>
          </a:prstGeom>
          <a:noFill/>
          <a:ln/>
        </p:spPr>
        <p:txBody>
          <a:bodyPr wrap="square" lIns="0" tIns="0" rIns="0" bIns="0" rtlCol="0" anchor="ctr"/>
          <a:lstStyle/>
          <a:p>
            <a:pPr algn="l" indent="0" marL="0">
              <a:lnSpc>
                <a:spcPct val="116000"/>
              </a:lnSpc>
              <a:buNone/>
            </a:pPr>
            <a:r>
              <a:rPr lang="en-US" sz="1444" b="1" dirty="0">
                <a:solidFill>
                  <a:srgbClr val="1E1B4B"/>
                </a:solidFill>
                <a:latin typeface="Arial" pitchFamily="34" charset="0"/>
                <a:ea typeface="Arial" pitchFamily="34" charset="-122"/>
                <a:cs typeface="Arial" pitchFamily="34" charset="-120"/>
              </a:rPr>
              <a:t>Multimodal</a:t>
            </a:r>
            <a:endParaRPr lang="en-US" sz="1444" dirty="0"/>
          </a:p>
        </p:txBody>
      </p:sp>
      <p:sp>
        <p:nvSpPr>
          <p:cNvPr id="58" name="Text 56"/>
          <p:cNvSpPr txBox="1"/>
          <p:nvPr/>
        </p:nvSpPr>
        <p:spPr>
          <a:xfrm>
            <a:off x="1179766" y="5311469"/>
            <a:ext cx="2094838" cy="212786"/>
          </a:xfrm>
          <a:prstGeom prst="rect">
            <a:avLst/>
          </a:prstGeom>
          <a:noFill/>
          <a:ln/>
        </p:spPr>
        <p:txBody>
          <a:bodyPr wrap="square" lIns="0" tIns="0" rIns="0" bIns="0" rtlCol="0" anchor="ctr"/>
          <a:lstStyle/>
          <a:p>
            <a:pPr algn="l" indent="0" marL="0">
              <a:lnSpc>
                <a:spcPct val="116000"/>
              </a:lnSpc>
              <a:buNone/>
            </a:pPr>
            <a:r>
              <a:rPr lang="en-US" sz="1444" b="1" dirty="0">
                <a:solidFill>
                  <a:srgbClr val="1E1B4B"/>
                </a:solidFill>
                <a:latin typeface="Arial" pitchFamily="34" charset="0"/>
                <a:ea typeface="Arial" pitchFamily="34" charset="-122"/>
                <a:cs typeface="Arial" pitchFamily="34" charset="-120"/>
              </a:rPr>
              <a:t>foundations</a:t>
            </a:r>
            <a:endParaRPr lang="en-US" sz="1444" dirty="0"/>
          </a:p>
        </p:txBody>
      </p:sp>
      <p:sp>
        <p:nvSpPr>
          <p:cNvPr id="59" name="Shape 57"/>
          <p:cNvSpPr/>
          <p:nvPr/>
        </p:nvSpPr>
        <p:spPr>
          <a:xfrm>
            <a:off x="3377328" y="5179395"/>
            <a:ext cx="278823" cy="0"/>
          </a:xfrm>
          <a:prstGeom prst="line">
            <a:avLst/>
          </a:prstGeom>
          <a:noFill/>
          <a:ln w="22860">
            <a:solidFill>
              <a:srgbClr val="0072B2"/>
            </a:solidFill>
            <a:prstDash val="solid"/>
            <a:tailEnd type="triangle"/>
          </a:ln>
        </p:spPr>
      </p:sp>
      <p:sp>
        <p:nvSpPr>
          <p:cNvPr id="60" name="Shape 58"/>
          <p:cNvSpPr/>
          <p:nvPr/>
        </p:nvSpPr>
        <p:spPr>
          <a:xfrm>
            <a:off x="3656151" y="4797848"/>
            <a:ext cx="2300286" cy="763093"/>
          </a:xfrm>
          <a:prstGeom prst="roundRect">
            <a:avLst>
              <a:gd name="adj" fmla="val 9586"/>
            </a:avLst>
          </a:prstGeom>
          <a:solidFill>
            <a:srgbClr val="E4F2FB"/>
          </a:solidFill>
          <a:ln w="15240">
            <a:solidFill>
              <a:srgbClr val="0072B2"/>
            </a:solidFill>
            <a:prstDash val="solid"/>
          </a:ln>
        </p:spPr>
      </p:sp>
      <p:sp>
        <p:nvSpPr>
          <p:cNvPr id="61" name="Text 59"/>
          <p:cNvSpPr txBox="1"/>
          <p:nvPr/>
        </p:nvSpPr>
        <p:spPr>
          <a:xfrm>
            <a:off x="3758875" y="4812523"/>
            <a:ext cx="2094838" cy="234798"/>
          </a:xfrm>
          <a:prstGeom prst="rect">
            <a:avLst/>
          </a:prstGeom>
          <a:noFill/>
          <a:ln/>
        </p:spPr>
        <p:txBody>
          <a:bodyPr wrap="square" lIns="0" tIns="0" rIns="0" bIns="0" rtlCol="0" anchor="ctr"/>
          <a:lstStyle/>
          <a:p>
            <a:pPr algn="l" indent="0" marL="0">
              <a:lnSpc>
                <a:spcPct val="116000"/>
              </a:lnSpc>
              <a:buNone/>
            </a:pPr>
            <a:r>
              <a:rPr lang="en-US" sz="1444" b="1" dirty="0">
                <a:solidFill>
                  <a:srgbClr val="0072B2"/>
                </a:solidFill>
                <a:latin typeface="Arial" pitchFamily="34" charset="0"/>
                <a:ea typeface="Arial" pitchFamily="34" charset="-122"/>
                <a:cs typeface="Arial" pitchFamily="34" charset="-120"/>
              </a:rPr>
              <a:t>Week 10</a:t>
            </a:r>
            <a:endParaRPr lang="en-US" sz="1444" dirty="0"/>
          </a:p>
        </p:txBody>
      </p:sp>
      <p:sp>
        <p:nvSpPr>
          <p:cNvPr id="62" name="Text 60"/>
          <p:cNvSpPr txBox="1"/>
          <p:nvPr/>
        </p:nvSpPr>
        <p:spPr>
          <a:xfrm>
            <a:off x="3758875" y="5098683"/>
            <a:ext cx="2094838" cy="212786"/>
          </a:xfrm>
          <a:prstGeom prst="rect">
            <a:avLst/>
          </a:prstGeom>
          <a:noFill/>
          <a:ln/>
        </p:spPr>
        <p:txBody>
          <a:bodyPr wrap="square" lIns="0" tIns="0" rIns="0" bIns="0" rtlCol="0" anchor="ctr"/>
          <a:lstStyle/>
          <a:p>
            <a:pPr algn="l" indent="0" marL="0">
              <a:lnSpc>
                <a:spcPct val="116000"/>
              </a:lnSpc>
              <a:buNone/>
            </a:pPr>
            <a:r>
              <a:rPr lang="en-US" sz="1444" b="1" dirty="0">
                <a:solidFill>
                  <a:srgbClr val="1E1B4B"/>
                </a:solidFill>
                <a:latin typeface="Arial" pitchFamily="34" charset="0"/>
                <a:ea typeface="Arial" pitchFamily="34" charset="-122"/>
                <a:cs typeface="Arial" pitchFamily="34" charset="-120"/>
              </a:rPr>
              <a:t>Multimodal</a:t>
            </a:r>
            <a:endParaRPr lang="en-US" sz="1444" dirty="0"/>
          </a:p>
        </p:txBody>
      </p:sp>
      <p:sp>
        <p:nvSpPr>
          <p:cNvPr id="63" name="Text 61"/>
          <p:cNvSpPr txBox="1"/>
          <p:nvPr/>
        </p:nvSpPr>
        <p:spPr>
          <a:xfrm>
            <a:off x="3758875" y="5311469"/>
            <a:ext cx="2094838" cy="212786"/>
          </a:xfrm>
          <a:prstGeom prst="rect">
            <a:avLst/>
          </a:prstGeom>
          <a:noFill/>
          <a:ln/>
        </p:spPr>
        <p:txBody>
          <a:bodyPr wrap="square" lIns="0" tIns="0" rIns="0" bIns="0" rtlCol="0" anchor="ctr"/>
          <a:lstStyle/>
          <a:p>
            <a:pPr algn="l" indent="0" marL="0">
              <a:lnSpc>
                <a:spcPct val="116000"/>
              </a:lnSpc>
              <a:buNone/>
            </a:pPr>
            <a:r>
              <a:rPr lang="en-US" sz="1444" b="1" dirty="0">
                <a:solidFill>
                  <a:srgbClr val="1E1B4B"/>
                </a:solidFill>
                <a:latin typeface="Arial" pitchFamily="34" charset="0"/>
                <a:ea typeface="Arial" pitchFamily="34" charset="-122"/>
                <a:cs typeface="Arial" pitchFamily="34" charset="-120"/>
              </a:rPr>
              <a:t>applications</a:t>
            </a:r>
            <a:endParaRPr lang="en-US" sz="1444" dirty="0"/>
          </a:p>
        </p:txBody>
      </p:sp>
      <p:sp>
        <p:nvSpPr>
          <p:cNvPr id="64" name="Shape 62"/>
          <p:cNvSpPr/>
          <p:nvPr/>
        </p:nvSpPr>
        <p:spPr>
          <a:xfrm>
            <a:off x="5956436" y="5179395"/>
            <a:ext cx="278823" cy="0"/>
          </a:xfrm>
          <a:prstGeom prst="line">
            <a:avLst/>
          </a:prstGeom>
          <a:noFill/>
          <a:ln w="22860">
            <a:solidFill>
              <a:srgbClr val="0072B2"/>
            </a:solidFill>
            <a:prstDash val="solid"/>
            <a:tailEnd type="triangle"/>
          </a:ln>
        </p:spPr>
      </p:sp>
      <p:sp>
        <p:nvSpPr>
          <p:cNvPr id="65" name="Shape 63"/>
          <p:cNvSpPr/>
          <p:nvPr/>
        </p:nvSpPr>
        <p:spPr>
          <a:xfrm>
            <a:off x="6235259" y="4797848"/>
            <a:ext cx="2300286" cy="763093"/>
          </a:xfrm>
          <a:prstGeom prst="roundRect">
            <a:avLst>
              <a:gd name="adj" fmla="val 9586"/>
            </a:avLst>
          </a:prstGeom>
          <a:solidFill>
            <a:srgbClr val="E4F2FB"/>
          </a:solidFill>
          <a:ln w="15240">
            <a:solidFill>
              <a:srgbClr val="0072B2"/>
            </a:solidFill>
            <a:prstDash val="solid"/>
          </a:ln>
        </p:spPr>
      </p:sp>
      <p:sp>
        <p:nvSpPr>
          <p:cNvPr id="66" name="Text 64"/>
          <p:cNvSpPr txBox="1"/>
          <p:nvPr/>
        </p:nvSpPr>
        <p:spPr>
          <a:xfrm>
            <a:off x="6337983" y="4812523"/>
            <a:ext cx="2094838" cy="234798"/>
          </a:xfrm>
          <a:prstGeom prst="rect">
            <a:avLst/>
          </a:prstGeom>
          <a:noFill/>
          <a:ln/>
        </p:spPr>
        <p:txBody>
          <a:bodyPr wrap="square" lIns="0" tIns="0" rIns="0" bIns="0" rtlCol="0" anchor="ctr"/>
          <a:lstStyle/>
          <a:p>
            <a:pPr algn="l" indent="0" marL="0">
              <a:lnSpc>
                <a:spcPct val="116000"/>
              </a:lnSpc>
              <a:buNone/>
            </a:pPr>
            <a:r>
              <a:rPr lang="en-US" sz="1444" b="1" dirty="0">
                <a:solidFill>
                  <a:srgbClr val="0072B2"/>
                </a:solidFill>
                <a:latin typeface="Arial" pitchFamily="34" charset="0"/>
                <a:ea typeface="Arial" pitchFamily="34" charset="-122"/>
                <a:cs typeface="Arial" pitchFamily="34" charset="-120"/>
              </a:rPr>
              <a:t>Week 11</a:t>
            </a:r>
            <a:endParaRPr lang="en-US" sz="1444" dirty="0"/>
          </a:p>
        </p:txBody>
      </p:sp>
      <p:sp>
        <p:nvSpPr>
          <p:cNvPr id="67" name="Text 65"/>
          <p:cNvSpPr txBox="1"/>
          <p:nvPr/>
        </p:nvSpPr>
        <p:spPr>
          <a:xfrm>
            <a:off x="6337983" y="5098683"/>
            <a:ext cx="2094838" cy="212786"/>
          </a:xfrm>
          <a:prstGeom prst="rect">
            <a:avLst/>
          </a:prstGeom>
          <a:noFill/>
          <a:ln/>
        </p:spPr>
        <p:txBody>
          <a:bodyPr wrap="square" lIns="0" tIns="0" rIns="0" bIns="0" rtlCol="0" anchor="ctr"/>
          <a:lstStyle/>
          <a:p>
            <a:pPr algn="l" indent="0" marL="0">
              <a:lnSpc>
                <a:spcPct val="116000"/>
              </a:lnSpc>
              <a:buNone/>
            </a:pPr>
            <a:r>
              <a:rPr lang="en-US" sz="1444" b="1" dirty="0">
                <a:solidFill>
                  <a:srgbClr val="1E1B4B"/>
                </a:solidFill>
                <a:latin typeface="Arial" pitchFamily="34" charset="0"/>
                <a:ea typeface="Arial" pitchFamily="34" charset="-122"/>
                <a:cs typeface="Arial" pitchFamily="34" charset="-120"/>
              </a:rPr>
              <a:t>Deployment</a:t>
            </a:r>
            <a:endParaRPr lang="en-US" sz="1444" dirty="0"/>
          </a:p>
        </p:txBody>
      </p:sp>
      <p:sp>
        <p:nvSpPr>
          <p:cNvPr id="68" name="Text 66"/>
          <p:cNvSpPr txBox="1"/>
          <p:nvPr/>
        </p:nvSpPr>
        <p:spPr>
          <a:xfrm>
            <a:off x="6337983" y="5311469"/>
            <a:ext cx="2094838" cy="212786"/>
          </a:xfrm>
          <a:prstGeom prst="rect">
            <a:avLst/>
          </a:prstGeom>
          <a:noFill/>
          <a:ln/>
        </p:spPr>
        <p:txBody>
          <a:bodyPr wrap="square" lIns="0" tIns="0" rIns="0" bIns="0" rtlCol="0" anchor="ctr"/>
          <a:lstStyle/>
          <a:p>
            <a:pPr algn="l" indent="0" marL="0">
              <a:lnSpc>
                <a:spcPct val="116000"/>
              </a:lnSpc>
              <a:buNone/>
            </a:pPr>
            <a:r>
              <a:rPr lang="en-US" sz="1444" b="1" dirty="0">
                <a:solidFill>
                  <a:srgbClr val="1E1B4B"/>
                </a:solidFill>
                <a:latin typeface="Arial" pitchFamily="34" charset="0"/>
                <a:ea typeface="Arial" pitchFamily="34" charset="-122"/>
                <a:cs typeface="Arial" pitchFamily="34" charset="-120"/>
              </a:rPr>
              <a:t>and frameworks</a:t>
            </a:r>
            <a:endParaRPr lang="en-US" sz="1444" dirty="0"/>
          </a:p>
        </p:txBody>
      </p:sp>
      <p:sp>
        <p:nvSpPr>
          <p:cNvPr id="69" name="Shape 67"/>
          <p:cNvSpPr/>
          <p:nvPr/>
        </p:nvSpPr>
        <p:spPr>
          <a:xfrm>
            <a:off x="8535545" y="5179395"/>
            <a:ext cx="278823" cy="0"/>
          </a:xfrm>
          <a:prstGeom prst="line">
            <a:avLst/>
          </a:prstGeom>
          <a:noFill/>
          <a:ln w="22860">
            <a:solidFill>
              <a:srgbClr val="0072B2"/>
            </a:solidFill>
            <a:prstDash val="solid"/>
            <a:tailEnd type="triangle"/>
          </a:ln>
        </p:spPr>
      </p:sp>
      <p:sp>
        <p:nvSpPr>
          <p:cNvPr id="70" name="Shape 68"/>
          <p:cNvSpPr/>
          <p:nvPr/>
        </p:nvSpPr>
        <p:spPr>
          <a:xfrm>
            <a:off x="8814367" y="4797848"/>
            <a:ext cx="2300286" cy="763093"/>
          </a:xfrm>
          <a:prstGeom prst="roundRect">
            <a:avLst>
              <a:gd name="adj" fmla="val 9586"/>
            </a:avLst>
          </a:prstGeom>
          <a:solidFill>
            <a:srgbClr val="E4F2FB"/>
          </a:solidFill>
          <a:ln w="15240">
            <a:solidFill>
              <a:srgbClr val="0072B2"/>
            </a:solidFill>
            <a:prstDash val="solid"/>
          </a:ln>
        </p:spPr>
      </p:sp>
      <p:sp>
        <p:nvSpPr>
          <p:cNvPr id="71" name="Text 69"/>
          <p:cNvSpPr txBox="1"/>
          <p:nvPr/>
        </p:nvSpPr>
        <p:spPr>
          <a:xfrm>
            <a:off x="8917091" y="4812523"/>
            <a:ext cx="2094838" cy="234798"/>
          </a:xfrm>
          <a:prstGeom prst="rect">
            <a:avLst/>
          </a:prstGeom>
          <a:noFill/>
          <a:ln/>
        </p:spPr>
        <p:txBody>
          <a:bodyPr wrap="square" lIns="0" tIns="0" rIns="0" bIns="0" rtlCol="0" anchor="ctr"/>
          <a:lstStyle/>
          <a:p>
            <a:pPr algn="l" indent="0" marL="0">
              <a:lnSpc>
                <a:spcPct val="116000"/>
              </a:lnSpc>
              <a:buNone/>
            </a:pPr>
            <a:r>
              <a:rPr lang="en-US" sz="1444" b="1" dirty="0">
                <a:solidFill>
                  <a:srgbClr val="0072B2"/>
                </a:solidFill>
                <a:latin typeface="Arial" pitchFamily="34" charset="0"/>
                <a:ea typeface="Arial" pitchFamily="34" charset="-122"/>
                <a:cs typeface="Arial" pitchFamily="34" charset="-120"/>
              </a:rPr>
              <a:t>Week 12</a:t>
            </a:r>
            <a:endParaRPr lang="en-US" sz="1444" dirty="0"/>
          </a:p>
        </p:txBody>
      </p:sp>
      <p:sp>
        <p:nvSpPr>
          <p:cNvPr id="72" name="Text 70"/>
          <p:cNvSpPr txBox="1"/>
          <p:nvPr/>
        </p:nvSpPr>
        <p:spPr>
          <a:xfrm>
            <a:off x="8917091" y="5098683"/>
            <a:ext cx="2094838" cy="212786"/>
          </a:xfrm>
          <a:prstGeom prst="rect">
            <a:avLst/>
          </a:prstGeom>
          <a:noFill/>
          <a:ln/>
        </p:spPr>
        <p:txBody>
          <a:bodyPr wrap="square" lIns="0" tIns="0" rIns="0" bIns="0" rtlCol="0" anchor="ctr"/>
          <a:lstStyle/>
          <a:p>
            <a:pPr algn="l" indent="0" marL="0">
              <a:lnSpc>
                <a:spcPct val="116000"/>
              </a:lnSpc>
              <a:buNone/>
            </a:pPr>
            <a:r>
              <a:rPr lang="en-US" sz="1444" b="1" dirty="0">
                <a:solidFill>
                  <a:srgbClr val="1E1B4B"/>
                </a:solidFill>
                <a:latin typeface="Arial" pitchFamily="34" charset="0"/>
                <a:ea typeface="Arial" pitchFamily="34" charset="-122"/>
                <a:cs typeface="Arial" pitchFamily="34" charset="-120"/>
              </a:rPr>
              <a:t>Retrieval (RAG)</a:t>
            </a:r>
            <a:endParaRPr lang="en-US" sz="1444" dirty="0"/>
          </a:p>
        </p:txBody>
      </p:sp>
      <p:sp>
        <p:nvSpPr>
          <p:cNvPr id="73" name="Text 71"/>
          <p:cNvSpPr txBox="1"/>
          <p:nvPr/>
        </p:nvSpPr>
        <p:spPr>
          <a:xfrm>
            <a:off x="8917091" y="5311469"/>
            <a:ext cx="2094838" cy="212786"/>
          </a:xfrm>
          <a:prstGeom prst="rect">
            <a:avLst/>
          </a:prstGeom>
          <a:noFill/>
          <a:ln/>
        </p:spPr>
        <p:txBody>
          <a:bodyPr wrap="square" lIns="0" tIns="0" rIns="0" bIns="0" rtlCol="0" anchor="ctr"/>
          <a:lstStyle/>
          <a:p>
            <a:pPr algn="l" indent="0" marL="0">
              <a:lnSpc>
                <a:spcPct val="116000"/>
              </a:lnSpc>
              <a:buNone/>
            </a:pPr>
            <a:r>
              <a:rPr lang="en-US" sz="1444" b="1" dirty="0">
                <a:solidFill>
                  <a:srgbClr val="1E1B4B"/>
                </a:solidFill>
                <a:latin typeface="Arial" pitchFamily="34" charset="0"/>
                <a:ea typeface="Arial" pitchFamily="34" charset="-122"/>
                <a:cs typeface="Arial" pitchFamily="34" charset="-120"/>
              </a:rPr>
              <a:t>and agents</a:t>
            </a:r>
            <a:endParaRPr lang="en-US" sz="1444" dirty="0"/>
          </a:p>
        </p:txBody>
      </p:sp>
      <p:sp>
        <p:nvSpPr>
          <p:cNvPr id="74" name="Text 72"/>
          <p:cNvSpPr txBox="1"/>
          <p:nvPr/>
        </p:nvSpPr>
        <p:spPr>
          <a:xfrm>
            <a:off x="1077042" y="5891126"/>
            <a:ext cx="10037611" cy="271485"/>
          </a:xfrm>
          <a:prstGeom prst="rect">
            <a:avLst/>
          </a:prstGeom>
          <a:noFill/>
          <a:ln/>
        </p:spPr>
        <p:txBody>
          <a:bodyPr wrap="square" lIns="0" tIns="0" rIns="0" bIns="0" rtlCol="0" anchor="ctr"/>
          <a:lstStyle/>
          <a:p>
            <a:pPr algn="l" indent="0" marL="0">
              <a:lnSpc>
                <a:spcPct val="116000"/>
              </a:lnSpc>
              <a:buNone/>
            </a:pPr>
            <a:r>
              <a:rPr lang="en-US" sz="1560" dirty="0">
                <a:solidFill>
                  <a:srgbClr val="1F2937"/>
                </a:solidFill>
                <a:latin typeface="Arial" pitchFamily="34" charset="0"/>
                <a:ea typeface="Arial" pitchFamily="34" charset="-122"/>
                <a:cs typeface="Arial" pitchFamily="34" charset="-120"/>
              </a:rPr>
              <a:t>Responsible use and evaluation continue throughout the course.</a:t>
            </a:r>
            <a:endParaRPr lang="en-US" sz="156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07  ·  PROMPT ENGINEERING AND EVALUATION</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4</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Starting vocabulary</a:t>
            </a:r>
            <a:endParaRPr lang="en-US" sz="32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548640" y="1481328"/>
          <a:ext cx="11094415" cy="914400"/>
        </p:xfrm>
        <a:graphic>
          <a:graphicData uri="http://schemas.openxmlformats.org/drawingml/2006/table">
            <a:tbl>
              <a:tblPr/>
              <a:tblGrid>
                <a:gridCol w="2440771"/>
                <a:gridCol w="4326822"/>
                <a:gridCol w="4326822"/>
              </a:tblGrid>
              <a:tr h="0">
                <a:tc>
                  <a:txBody>
                    <a:bodyPr/>
                    <a:lstStyle/>
                    <a:p>
                      <a:pPr indent="0" marL="0">
                        <a:buNone/>
                      </a:pPr>
                      <a:r>
                        <a:rPr lang="en-US" sz="1900" b="1" dirty="0">
                          <a:solidFill>
                            <a:srgbClr val="FFFFFF"/>
                          </a:solidFill>
                          <a:latin typeface="Calibri" pitchFamily="34" charset="0"/>
                          <a:ea typeface="Calibri" pitchFamily="34" charset="-122"/>
                          <a:cs typeface="Calibri" pitchFamily="34" charset="-120"/>
                        </a:rPr>
                        <a:t>Term</a:t>
                      </a:r>
                      <a:endParaRPr lang="en-US" sz="19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1E1B4B"/>
                    </a:solidFill>
                  </a:tcPr>
                </a:tc>
                <a:tc>
                  <a:txBody>
                    <a:bodyPr/>
                    <a:lstStyle/>
                    <a:p>
                      <a:pPr indent="0" marL="0">
                        <a:buNone/>
                      </a:pPr>
                      <a:r>
                        <a:rPr lang="en-US" sz="1900" b="1" dirty="0">
                          <a:solidFill>
                            <a:srgbClr val="FFFFFF"/>
                          </a:solidFill>
                          <a:latin typeface="Calibri" pitchFamily="34" charset="0"/>
                          <a:ea typeface="Calibri" pitchFamily="34" charset="-122"/>
                          <a:cs typeface="Calibri" pitchFamily="34" charset="-120"/>
                        </a:rPr>
                        <a:t>Plain meaning</a:t>
                      </a:r>
                      <a:endParaRPr lang="en-US" sz="19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1E1B4B"/>
                    </a:solidFill>
                  </a:tcPr>
                </a:tc>
                <a:tc>
                  <a:txBody>
                    <a:bodyPr/>
                    <a:lstStyle/>
                    <a:p>
                      <a:pPr indent="0" marL="0">
                        <a:buNone/>
                      </a:pPr>
                      <a:r>
                        <a:rPr lang="en-US" sz="1900" b="1" dirty="0">
                          <a:solidFill>
                            <a:srgbClr val="FFFFFF"/>
                          </a:solidFill>
                          <a:latin typeface="Calibri" pitchFamily="34" charset="0"/>
                          <a:ea typeface="Calibri" pitchFamily="34" charset="-122"/>
                          <a:cs typeface="Calibri" pitchFamily="34" charset="-120"/>
                        </a:rPr>
                        <a:t>Quick check</a:t>
                      </a:r>
                      <a:endParaRPr lang="en-US" sz="19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1E1B4B"/>
                    </a:solidFill>
                  </a:tcPr>
                </a:tc>
              </a:tr>
              <a:tr h="0">
                <a:tc>
                  <a:txBody>
                    <a:bodyPr/>
                    <a:lstStyle/>
                    <a:p>
                      <a:pPr indent="0" marL="0">
                        <a:buNone/>
                      </a:pPr>
                      <a:r>
                        <a:rPr lang="en-US" sz="1900" b="1" dirty="0">
                          <a:solidFill>
                            <a:srgbClr val="1F2937"/>
                          </a:solidFill>
                          <a:latin typeface="Calibri" pitchFamily="34" charset="0"/>
                          <a:ea typeface="Calibri" pitchFamily="34" charset="-122"/>
                          <a:cs typeface="Calibri" pitchFamily="34" charset="-120"/>
                        </a:rPr>
                        <a:t>Prompt</a:t>
                      </a:r>
                      <a:endParaRPr lang="en-US" sz="19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c>
                  <a:txBody>
                    <a:bodyPr/>
                    <a:lstStyle/>
                    <a:p>
                      <a:pPr indent="0" marL="0">
                        <a:buNone/>
                      </a:pPr>
                      <a:r>
                        <a:rPr lang="en-US" sz="1900" dirty="0">
                          <a:solidFill>
                            <a:srgbClr val="1F2937"/>
                          </a:solidFill>
                          <a:latin typeface="Calibri" pitchFamily="34" charset="0"/>
                          <a:ea typeface="Calibri" pitchFamily="34" charset="-122"/>
                          <a:cs typeface="Calibri" pitchFamily="34" charset="-120"/>
                        </a:rPr>
                        <a:t>Instructions and context supplied to a model for one request.</a:t>
                      </a:r>
                      <a:endParaRPr lang="en-US" sz="19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c>
                  <a:txBody>
                    <a:bodyPr/>
                    <a:lstStyle/>
                    <a:p>
                      <a:pPr indent="0" marL="0">
                        <a:buNone/>
                      </a:pPr>
                      <a:r>
                        <a:rPr lang="en-US" sz="1900" dirty="0">
                          <a:solidFill>
                            <a:srgbClr val="1F2937"/>
                          </a:solidFill>
                          <a:latin typeface="Calibri" pitchFamily="34" charset="0"/>
                          <a:ea typeface="Calibri" pitchFamily="34" charset="-122"/>
                          <a:cs typeface="Calibri" pitchFamily="34" charset="-120"/>
                        </a:rPr>
                        <a:t>Does rewriting a prompt change the model's stored weights?</a:t>
                      </a:r>
                      <a:endParaRPr lang="en-US" sz="19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r>
              <a:tr h="0">
                <a:tc>
                  <a:txBody>
                    <a:bodyPr/>
                    <a:lstStyle/>
                    <a:p>
                      <a:pPr indent="0" marL="0">
                        <a:buNone/>
                      </a:pPr>
                      <a:r>
                        <a:rPr lang="en-US" sz="1900" b="1" dirty="0">
                          <a:solidFill>
                            <a:srgbClr val="1F2937"/>
                          </a:solidFill>
                          <a:latin typeface="Calibri" pitchFamily="34" charset="0"/>
                          <a:ea typeface="Calibri" pitchFamily="34" charset="-122"/>
                          <a:cs typeface="Calibri" pitchFamily="34" charset="-120"/>
                        </a:rPr>
                        <a:t>Ground truth</a:t>
                      </a:r>
                      <a:endParaRPr lang="en-US" sz="19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900" dirty="0">
                          <a:solidFill>
                            <a:srgbClr val="1F2937"/>
                          </a:solidFill>
                          <a:latin typeface="Calibri" pitchFamily="34" charset="0"/>
                          <a:ea typeface="Calibri" pitchFamily="34" charset="-122"/>
                          <a:cs typeface="Calibri" pitchFamily="34" charset="-120"/>
                        </a:rPr>
                        <a:t>A reference answer or observation used to check a model output.</a:t>
                      </a:r>
                      <a:endParaRPr lang="en-US" sz="19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900" dirty="0">
                          <a:solidFill>
                            <a:srgbClr val="1F2937"/>
                          </a:solidFill>
                          <a:latin typeface="Calibri" pitchFamily="34" charset="0"/>
                          <a:ea typeface="Calibri" pitchFamily="34" charset="-122"/>
                          <a:cs typeface="Calibri" pitchFamily="34" charset="-120"/>
                        </a:rPr>
                        <a:t>For a labelled ticket, which field supplies the expected team?</a:t>
                      </a:r>
                      <a:endParaRPr lang="en-US" sz="19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r>
              <a:tr h="0">
                <a:tc>
                  <a:txBody>
                    <a:bodyPr/>
                    <a:lstStyle/>
                    <a:p>
                      <a:pPr indent="0" marL="0">
                        <a:buNone/>
                      </a:pPr>
                      <a:r>
                        <a:rPr lang="en-US" sz="1900" b="1" dirty="0">
                          <a:solidFill>
                            <a:srgbClr val="1F2937"/>
                          </a:solidFill>
                          <a:latin typeface="Calibri" pitchFamily="34" charset="0"/>
                          <a:ea typeface="Calibri" pitchFamily="34" charset="-122"/>
                          <a:cs typeface="Calibri" pitchFamily="34" charset="-120"/>
                        </a:rPr>
                        <a:t>Accuracy</a:t>
                      </a:r>
                      <a:endParaRPr lang="en-US" sz="19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c>
                  <a:txBody>
                    <a:bodyPr/>
                    <a:lstStyle/>
                    <a:p>
                      <a:pPr indent="0" marL="0">
                        <a:buNone/>
                      </a:pPr>
                      <a:r>
                        <a:rPr lang="en-US" sz="1900" dirty="0">
                          <a:solidFill>
                            <a:srgbClr val="1F2937"/>
                          </a:solidFill>
                          <a:latin typeface="Calibri" pitchFamily="34" charset="0"/>
                          <a:ea typeface="Calibri" pitchFamily="34" charset="-122"/>
                          <a:cs typeface="Calibri" pitchFamily="34" charset="-120"/>
                        </a:rPr>
                        <a:t>The fraction of evaluated examples counted as correct.</a:t>
                      </a:r>
                      <a:endParaRPr lang="en-US" sz="19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c>
                  <a:txBody>
                    <a:bodyPr/>
                    <a:lstStyle/>
                    <a:p>
                      <a:pPr indent="0" marL="0">
                        <a:buNone/>
                      </a:pPr>
                      <a:r>
                        <a:rPr lang="en-US" sz="1900" dirty="0">
                          <a:solidFill>
                            <a:srgbClr val="1F2937"/>
                          </a:solidFill>
                          <a:latin typeface="Calibri" pitchFamily="34" charset="0"/>
                          <a:ea typeface="Calibri" pitchFamily="34" charset="-122"/>
                          <a:cs typeface="Calibri" pitchFamily="34" charset="-120"/>
                        </a:rPr>
                        <a:t>If 32 of 40 predictions are correct, what is the accuracy?</a:t>
                      </a:r>
                      <a:endParaRPr lang="en-US" sz="19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r>
              <a:tr h="0">
                <a:tc>
                  <a:txBody>
                    <a:bodyPr/>
                    <a:lstStyle/>
                    <a:p>
                      <a:pPr indent="0" marL="0">
                        <a:buNone/>
                      </a:pPr>
                      <a:r>
                        <a:rPr lang="en-US" sz="1900" b="1" dirty="0">
                          <a:solidFill>
                            <a:srgbClr val="1F2937"/>
                          </a:solidFill>
                          <a:latin typeface="Calibri" pitchFamily="34" charset="0"/>
                          <a:ea typeface="Calibri" pitchFamily="34" charset="-122"/>
                          <a:cs typeface="Calibri" pitchFamily="34" charset="-120"/>
                        </a:rPr>
                        <a:t>Token</a:t>
                      </a:r>
                      <a:endParaRPr lang="en-US" sz="19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900" dirty="0">
                          <a:solidFill>
                            <a:srgbClr val="1F2937"/>
                          </a:solidFill>
                          <a:latin typeface="Calibri" pitchFamily="34" charset="0"/>
                          <a:ea typeface="Calibri" pitchFamily="34" charset="-122"/>
                          <a:cs typeface="Calibri" pitchFamily="34" charset="-120"/>
                        </a:rPr>
                        <a:t>A unit processed or generated by a model; a text token can be a word, word part or character.</a:t>
                      </a:r>
                      <a:endParaRPr lang="en-US" sz="19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900" dirty="0">
                          <a:solidFill>
                            <a:srgbClr val="1F2937"/>
                          </a:solidFill>
                          <a:latin typeface="Calibri" pitchFamily="34" charset="0"/>
                          <a:ea typeface="Calibri" pitchFamily="34" charset="-122"/>
                          <a:cs typeface="Calibri" pitchFamily="34" charset="-120"/>
                        </a:rPr>
                        <a:t>Does a long reply usually use more output tokens?</a:t>
                      </a:r>
                      <a:endParaRPr lang="en-US" sz="19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r>
              <a:tr h="0">
                <a:tc>
                  <a:txBody>
                    <a:bodyPr/>
                    <a:lstStyle/>
                    <a:p>
                      <a:pPr indent="0" marL="0">
                        <a:buNone/>
                      </a:pPr>
                      <a:r>
                        <a:rPr lang="en-US" sz="1900" b="1" dirty="0">
                          <a:solidFill>
                            <a:srgbClr val="1F2937"/>
                          </a:solidFill>
                          <a:latin typeface="Calibri" pitchFamily="34" charset="0"/>
                          <a:ea typeface="Calibri" pitchFamily="34" charset="-122"/>
                          <a:cs typeface="Calibri" pitchFamily="34" charset="-120"/>
                        </a:rPr>
                        <a:t>JSON</a:t>
                      </a:r>
                      <a:endParaRPr lang="en-US" sz="19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c>
                  <a:txBody>
                    <a:bodyPr/>
                    <a:lstStyle/>
                    <a:p>
                      <a:pPr indent="0" marL="0">
                        <a:buNone/>
                      </a:pPr>
                      <a:r>
                        <a:rPr lang="en-US" sz="1900" dirty="0">
                          <a:solidFill>
                            <a:srgbClr val="1F2937"/>
                          </a:solidFill>
                          <a:latin typeface="Calibri" pitchFamily="34" charset="0"/>
                          <a:ea typeface="Calibri" pitchFamily="34" charset="-122"/>
                          <a:cs typeface="Calibri" pitchFamily="34" charset="-120"/>
                        </a:rPr>
                        <a:t>A structured text format for exchanging fields and values, including objects and lists.</a:t>
                      </a:r>
                      <a:endParaRPr lang="en-US" sz="19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c>
                  <a:txBody>
                    <a:bodyPr/>
                    <a:lstStyle/>
                    <a:p>
                      <a:pPr indent="0" marL="0">
                        <a:buNone/>
                      </a:pPr>
                      <a:r>
                        <a:rPr lang="en-US" sz="1900" dirty="0">
                          <a:solidFill>
                            <a:srgbClr val="1F2937"/>
                          </a:solidFill>
                          <a:latin typeface="Calibri" pitchFamily="34" charset="0"/>
                          <a:ea typeface="Calibri" pitchFamily="34" charset="-122"/>
                          <a:cs typeface="Calibri" pitchFamily="34" charset="-120"/>
                        </a:rPr>
                        <a:t>Is valid JSON automatically factually correct?</a:t>
                      </a:r>
                      <a:endParaRPr lang="en-US" sz="19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r>
            </a:tbl>
          </a:graphicData>
        </a:graphic>
      </p:graphicFrame>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07  ·  PROMPT ENGINEERING AND EVALUATION</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5</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Warm-up</a:t>
            </a:r>
            <a:endParaRPr lang="en-US" sz="3200" dirty="0"/>
          </a:p>
        </p:txBody>
      </p:sp>
      <p:sp>
        <p:nvSpPr>
          <p:cNvPr id="6" name="Shape 4"/>
          <p:cNvSpPr/>
          <p:nvPr/>
        </p:nvSpPr>
        <p:spPr>
          <a:xfrm>
            <a:off x="548640" y="1527048"/>
            <a:ext cx="1005840" cy="1005840"/>
          </a:xfrm>
          <a:prstGeom prst="ellipse">
            <a:avLst/>
          </a:prstGeom>
          <a:solidFill>
            <a:srgbClr val="0F766E"/>
          </a:solidFill>
          <a:ln w="12700">
            <a:solidFill>
              <a:srgbClr val="0F766E"/>
            </a:solidFill>
            <a:prstDash val="solid"/>
          </a:ln>
        </p:spPr>
      </p:sp>
      <p:pic>
        <p:nvPicPr>
          <p:cNvPr id="7" name="Image 0" descr="preencoded.png">    </p:cNvPr>
          <p:cNvPicPr>
            <a:picLocks noChangeAspect="1"/>
          </p:cNvPicPr>
          <p:nvPr/>
        </p:nvPicPr>
        <p:blipFill>
          <a:blip r:embed="rId1"/>
          <a:stretch>
            <a:fillRect/>
          </a:stretch>
        </p:blipFill>
        <p:spPr>
          <a:xfrm>
            <a:off x="790042" y="1768450"/>
            <a:ext cx="523037" cy="523037"/>
          </a:xfrm>
          <a:prstGeom prst="rect">
            <a:avLst/>
          </a:prstGeom>
        </p:spPr>
      </p:pic>
      <p:sp>
        <p:nvSpPr>
          <p:cNvPr id="8" name="Text 5"/>
          <p:cNvSpPr txBox="1"/>
          <p:nvPr/>
        </p:nvSpPr>
        <p:spPr>
          <a:xfrm>
            <a:off x="1828800" y="1481328"/>
            <a:ext cx="9814255" cy="1463040"/>
          </a:xfrm>
          <a:prstGeom prst="rect">
            <a:avLst/>
          </a:prstGeom>
          <a:noFill/>
          <a:ln/>
        </p:spPr>
        <p:txBody>
          <a:bodyPr wrap="square" lIns="50800" tIns="50800" rIns="50800" bIns="50800" rtlCol="0" anchor="ctr"/>
          <a:lstStyle/>
          <a:p>
            <a:pPr indent="0" marL="0">
              <a:buNone/>
            </a:pPr>
            <a:r>
              <a:rPr lang="en-US" sz="2600" b="1" dirty="0">
                <a:solidFill>
                  <a:srgbClr val="1E1B4B"/>
                </a:solidFill>
                <a:latin typeface="Calibri" pitchFamily="34" charset="0"/>
                <a:ea typeface="Calibri" pitchFamily="34" charset="-122"/>
                <a:cs typeface="Calibri" pitchFamily="34" charset="-120"/>
              </a:rPr>
              <a:t>A colleague's prompt: 'Write about AI for the website.' What is missing? Rewrite it in pairs.</a:t>
            </a:r>
            <a:endParaRPr lang="en-US" sz="2600" dirty="0"/>
          </a:p>
        </p:txBody>
      </p:sp>
      <p:sp>
        <p:nvSpPr>
          <p:cNvPr id="9" name="Text 6"/>
          <p:cNvSpPr txBox="1"/>
          <p:nvPr/>
        </p:nvSpPr>
        <p:spPr>
          <a:xfrm>
            <a:off x="1828800" y="3172968"/>
            <a:ext cx="9814255" cy="3090672"/>
          </a:xfrm>
          <a:prstGeom prst="rect">
            <a:avLst/>
          </a:prstGeom>
          <a:noFill/>
          <a:ln/>
        </p:spPr>
        <p:txBody>
          <a:bodyPr wrap="square" lIns="50800" tIns="50800" rIns="50800" bIns="50800" rtlCol="0" anchor="t"/>
          <a:lstStyle/>
          <a:p>
            <a:pPr marL="254000" indent="-254000">
              <a:spcAft>
                <a:spcPts val="800"/>
              </a:spcAft>
              <a:buSzPct val="100000"/>
              <a:buChar char="●"/>
            </a:pPr>
            <a:r>
              <a:rPr lang="en-US" sz="2200" dirty="0">
                <a:solidFill>
                  <a:srgbClr val="1F2937"/>
                </a:solidFill>
                <a:latin typeface="Calibri" pitchFamily="34" charset="0"/>
                <a:ea typeface="Calibri" pitchFamily="34" charset="-122"/>
                <a:cs typeface="Calibri" pitchFamily="34" charset="-120"/>
              </a:rPr>
              <a:t>Audience and purpose?</a:t>
            </a:r>
            <a:endParaRPr lang="en-US" sz="2200" dirty="0"/>
          </a:p>
          <a:p>
            <a:pPr marL="254000" indent="-254000">
              <a:spcAft>
                <a:spcPts val="800"/>
              </a:spcAft>
              <a:buSzPct val="100000"/>
              <a:buChar char="●"/>
            </a:pPr>
            <a:r>
              <a:rPr lang="en-US" sz="2200" dirty="0">
                <a:solidFill>
                  <a:srgbClr val="1F2937"/>
                </a:solidFill>
                <a:latin typeface="Calibri" pitchFamily="34" charset="0"/>
                <a:ea typeface="Calibri" pitchFamily="34" charset="-122"/>
                <a:cs typeface="Calibri" pitchFamily="34" charset="-120"/>
              </a:rPr>
              <a:t>Sources, length and format?</a:t>
            </a:r>
            <a:endParaRPr lang="en-US" sz="2200" dirty="0"/>
          </a:p>
          <a:p>
            <a:pPr marL="254000" indent="-254000">
              <a:spcAft>
                <a:spcPts val="800"/>
              </a:spcAft>
              <a:buSzPct val="100000"/>
              <a:buChar char="●"/>
            </a:pPr>
            <a:r>
              <a:rPr lang="en-US" sz="2200" dirty="0">
                <a:solidFill>
                  <a:srgbClr val="1F2937"/>
                </a:solidFill>
                <a:latin typeface="Calibri" pitchFamily="34" charset="0"/>
                <a:ea typeface="Calibri" pitchFamily="34" charset="-122"/>
                <a:cs typeface="Calibri" pitchFamily="34" charset="-120"/>
              </a:rPr>
              <a:t>Success criteria?</a:t>
            </a:r>
            <a:endParaRPr lang="en-US" sz="2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E1B4B"/>
        </a:solidFill>
      </p:bgPr>
    </p:bg>
    <p:spTree>
      <p:nvGrpSpPr>
        <p:cNvPr id="1" name=""/>
        <p:cNvGrpSpPr/>
        <p:nvPr/>
      </p:nvGrpSpPr>
      <p:grpSpPr>
        <a:xfrm>
          <a:off x="0" y="0"/>
          <a:ext cx="0" cy="0"/>
          <a:chOff x="0" y="0"/>
          <a:chExt cx="0" cy="0"/>
        </a:xfrm>
      </p:grpSpPr>
      <p:sp>
        <p:nvSpPr>
          <p:cNvPr id="2" name="Text 0"/>
          <p:cNvSpPr txBox="1"/>
          <p:nvPr/>
        </p:nvSpPr>
        <p:spPr>
          <a:xfrm>
            <a:off x="731520" y="1188720"/>
            <a:ext cx="2926080" cy="1828800"/>
          </a:xfrm>
          <a:prstGeom prst="rect">
            <a:avLst/>
          </a:prstGeom>
          <a:noFill/>
          <a:ln/>
        </p:spPr>
        <p:txBody>
          <a:bodyPr wrap="square" lIns="0" tIns="0" rIns="0" bIns="0" rtlCol="0" anchor="t"/>
          <a:lstStyle/>
          <a:p>
            <a:pPr indent="0" marL="0">
              <a:buNone/>
            </a:pPr>
            <a:r>
              <a:rPr lang="en-US" sz="11000" b="1" dirty="0">
                <a:solidFill>
                  <a:srgbClr val="EA580C"/>
                </a:solidFill>
                <a:latin typeface="Calibri" pitchFamily="34" charset="0"/>
                <a:ea typeface="Calibri" pitchFamily="34" charset="-122"/>
                <a:cs typeface="Calibri" pitchFamily="34" charset="-120"/>
              </a:rPr>
              <a:t>01</a:t>
            </a:r>
            <a:endParaRPr lang="en-US" sz="11000" dirty="0"/>
          </a:p>
        </p:txBody>
      </p:sp>
      <p:sp>
        <p:nvSpPr>
          <p:cNvPr id="3" name="Text 1"/>
          <p:cNvSpPr txBox="1"/>
          <p:nvPr/>
        </p:nvSpPr>
        <p:spPr>
          <a:xfrm>
            <a:off x="731520" y="3063240"/>
            <a:ext cx="10515600" cy="1463040"/>
          </a:xfrm>
          <a:prstGeom prst="rect">
            <a:avLst/>
          </a:prstGeom>
          <a:noFill/>
          <a:ln/>
        </p:spPr>
        <p:txBody>
          <a:bodyPr wrap="square" lIns="0" tIns="0" rIns="0" bIns="0" rtlCol="0" anchor="t"/>
          <a:lstStyle/>
          <a:p>
            <a:pPr indent="0" marL="0">
              <a:buNone/>
            </a:pPr>
            <a:r>
              <a:rPr lang="en-US" sz="4200" b="1" dirty="0">
                <a:solidFill>
                  <a:srgbClr val="FFFFFF"/>
                </a:solidFill>
                <a:latin typeface="Calibri" pitchFamily="34" charset="0"/>
                <a:ea typeface="Calibri" pitchFamily="34" charset="-122"/>
                <a:cs typeface="Calibri" pitchFamily="34" charset="-120"/>
              </a:rPr>
              <a:t>The paradigm shift</a:t>
            </a:r>
            <a:endParaRPr lang="en-US" sz="4200" dirty="0"/>
          </a:p>
        </p:txBody>
      </p:sp>
      <p:sp>
        <p:nvSpPr>
          <p:cNvPr id="4" name="Text 2"/>
          <p:cNvSpPr txBox="1"/>
          <p:nvPr/>
        </p:nvSpPr>
        <p:spPr>
          <a:xfrm>
            <a:off x="731520" y="4617720"/>
            <a:ext cx="10515600" cy="1097280"/>
          </a:xfrm>
          <a:prstGeom prst="rect">
            <a:avLst/>
          </a:prstGeom>
          <a:noFill/>
          <a:ln/>
        </p:spPr>
        <p:txBody>
          <a:bodyPr wrap="square" lIns="0" tIns="0" rIns="0" bIns="0" rtlCol="0" anchor="t"/>
          <a:lstStyle/>
          <a:p>
            <a:pPr indent="0" marL="0">
              <a:buNone/>
            </a:pPr>
            <a:r>
              <a:rPr lang="en-US" sz="2200" i="1" dirty="0">
                <a:solidFill>
                  <a:srgbClr val="C7D2FE"/>
                </a:solidFill>
                <a:latin typeface="Calibri" pitchFamily="34" charset="0"/>
                <a:ea typeface="Calibri" pitchFamily="34" charset="-122"/>
                <a:cs typeface="Calibri" pitchFamily="34" charset="-120"/>
              </a:rPr>
              <a:t>How can instructions change a model's answer without training it again?</a:t>
            </a:r>
            <a:endParaRPr lang="en-US" sz="2200" dirty="0"/>
          </a:p>
        </p:txBody>
      </p:sp>
      <p:sp>
        <p:nvSpPr>
          <p:cNvPr id="5" name="Shape 3"/>
          <p:cNvSpPr/>
          <p:nvPr/>
        </p:nvSpPr>
        <p:spPr>
          <a:xfrm>
            <a:off x="9692640" y="1097280"/>
            <a:ext cx="1554480" cy="1554480"/>
          </a:xfrm>
          <a:prstGeom prst="ellipse">
            <a:avLst/>
          </a:prstGeom>
          <a:solidFill>
            <a:srgbClr val="4F46E5"/>
          </a:solidFill>
          <a:ln w="12700">
            <a:solidFill>
              <a:srgbClr val="4F46E5"/>
            </a:solidFill>
            <a:prstDash val="solid"/>
          </a:ln>
        </p:spPr>
      </p:sp>
      <p:pic>
        <p:nvPicPr>
          <p:cNvPr id="6" name="Image 0" descr="preencoded.png">    </p:cNvPr>
          <p:cNvPicPr>
            <a:picLocks noChangeAspect="1"/>
          </p:cNvPicPr>
          <p:nvPr/>
        </p:nvPicPr>
        <p:blipFill>
          <a:blip r:embed="rId1"/>
          <a:stretch>
            <a:fillRect/>
          </a:stretch>
        </p:blipFill>
        <p:spPr>
          <a:xfrm>
            <a:off x="10065715" y="1470355"/>
            <a:ext cx="808330" cy="808330"/>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07  ·  PROMPT ENGINEERING AND EVALUATION</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7</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The prompt evaluation loop</a:t>
            </a:r>
            <a:endParaRPr lang="en-US" sz="3200" dirty="0"/>
          </a:p>
        </p:txBody>
      </p:sp>
      <p:sp>
        <p:nvSpPr>
          <p:cNvPr id="6" name="Text 4"/>
          <p:cNvSpPr txBox="1"/>
          <p:nvPr/>
        </p:nvSpPr>
        <p:spPr>
          <a:xfrm>
            <a:off x="548640" y="1463040"/>
            <a:ext cx="11094415" cy="384048"/>
          </a:xfrm>
          <a:prstGeom prst="rect">
            <a:avLst/>
          </a:prstGeom>
          <a:noFill/>
          <a:ln/>
        </p:spPr>
        <p:txBody>
          <a:bodyPr wrap="square" lIns="0" tIns="0" rIns="0" bIns="0" rtlCol="0" anchor="t"/>
          <a:lstStyle/>
          <a:p>
            <a:pPr indent="0" marL="0">
              <a:buNone/>
            </a:pPr>
            <a:r>
              <a:rPr lang="en-US" sz="1800" dirty="0">
                <a:solidFill>
                  <a:srgbClr val="6B7280"/>
                </a:solidFill>
                <a:latin typeface="Calibri" pitchFamily="34" charset="0"/>
                <a:ea typeface="Calibri" pitchFamily="34" charset="-122"/>
                <a:cs typeface="Calibri" pitchFamily="34" charset="-120"/>
              </a:rPr>
              <a:t>Follow one labelled student-services ticket through the harness</a:t>
            </a:r>
            <a:endParaRPr lang="en-US" sz="1800" dirty="0"/>
          </a:p>
        </p:txBody>
      </p:sp>
      <p:sp>
        <p:nvSpPr>
          <p:cNvPr id="7" name="Shape 5"/>
          <p:cNvSpPr/>
          <p:nvPr/>
        </p:nvSpPr>
        <p:spPr>
          <a:xfrm>
            <a:off x="2354146" y="3838927"/>
            <a:ext cx="244024" cy="0"/>
          </a:xfrm>
          <a:prstGeom prst="line">
            <a:avLst/>
          </a:prstGeom>
          <a:noFill/>
          <a:ln w="22860">
            <a:solidFill>
              <a:srgbClr val="009E73"/>
            </a:solidFill>
            <a:prstDash val="solid"/>
            <a:tailEnd type="triangle"/>
          </a:ln>
        </p:spPr>
      </p:sp>
      <p:sp>
        <p:nvSpPr>
          <p:cNvPr id="8" name="Text 6"/>
          <p:cNvSpPr txBox="1"/>
          <p:nvPr/>
        </p:nvSpPr>
        <p:spPr>
          <a:xfrm>
            <a:off x="1675454" y="2453481"/>
            <a:ext cx="1601408" cy="212301"/>
          </a:xfrm>
          <a:prstGeom prst="rect">
            <a:avLst/>
          </a:prstGeom>
          <a:noFill/>
          <a:ln/>
        </p:spPr>
        <p:txBody>
          <a:bodyPr wrap="square" lIns="0" tIns="0" rIns="0" bIns="0" rtlCol="0" anchor="ctr"/>
          <a:lstStyle/>
          <a:p>
            <a:pPr algn="ctr" indent="0" marL="0">
              <a:lnSpc>
                <a:spcPct val="116000"/>
              </a:lnSpc>
              <a:buNone/>
            </a:pPr>
            <a:r>
              <a:rPr lang="en-US" sz="1441" dirty="0">
                <a:solidFill>
                  <a:srgbClr val="0072B2"/>
                </a:solidFill>
                <a:latin typeface="Arial" pitchFamily="34" charset="0"/>
                <a:ea typeface="Arial" pitchFamily="34" charset="-122"/>
                <a:cs typeface="Arial" pitchFamily="34" charset="-120"/>
              </a:rPr>
              <a:t>message +</a:t>
            </a:r>
            <a:endParaRPr lang="en-US" sz="1441" dirty="0"/>
          </a:p>
        </p:txBody>
      </p:sp>
      <p:sp>
        <p:nvSpPr>
          <p:cNvPr id="9" name="Text 7"/>
          <p:cNvSpPr txBox="1"/>
          <p:nvPr/>
        </p:nvSpPr>
        <p:spPr>
          <a:xfrm>
            <a:off x="1675454" y="2665782"/>
            <a:ext cx="1601408" cy="212301"/>
          </a:xfrm>
          <a:prstGeom prst="rect">
            <a:avLst/>
          </a:prstGeom>
          <a:noFill/>
          <a:ln/>
        </p:spPr>
        <p:txBody>
          <a:bodyPr wrap="square" lIns="0" tIns="0" rIns="0" bIns="0" rtlCol="0" anchor="ctr"/>
          <a:lstStyle/>
          <a:p>
            <a:pPr algn="ctr" indent="0" marL="0">
              <a:lnSpc>
                <a:spcPct val="116000"/>
              </a:lnSpc>
              <a:buNone/>
            </a:pPr>
            <a:r>
              <a:rPr lang="en-US" sz="1441" dirty="0">
                <a:solidFill>
                  <a:srgbClr val="0072B2"/>
                </a:solidFill>
                <a:latin typeface="Arial" pitchFamily="34" charset="0"/>
                <a:ea typeface="Arial" pitchFamily="34" charset="-122"/>
                <a:cs typeface="Arial" pitchFamily="34" charset="-120"/>
              </a:rPr>
              <a:t>reference</a:t>
            </a:r>
            <a:endParaRPr lang="en-US" sz="1441" dirty="0"/>
          </a:p>
        </p:txBody>
      </p:sp>
      <p:sp>
        <p:nvSpPr>
          <p:cNvPr id="10" name="Shape 8"/>
          <p:cNvSpPr/>
          <p:nvPr/>
        </p:nvSpPr>
        <p:spPr>
          <a:xfrm>
            <a:off x="4163991" y="3838927"/>
            <a:ext cx="244024" cy="0"/>
          </a:xfrm>
          <a:prstGeom prst="line">
            <a:avLst/>
          </a:prstGeom>
          <a:noFill/>
          <a:ln w="22860">
            <a:solidFill>
              <a:srgbClr val="009E73"/>
            </a:solidFill>
            <a:prstDash val="solid"/>
            <a:tailEnd type="triangle"/>
          </a:ln>
        </p:spPr>
      </p:sp>
      <p:sp>
        <p:nvSpPr>
          <p:cNvPr id="11" name="Text 9"/>
          <p:cNvSpPr txBox="1"/>
          <p:nvPr/>
        </p:nvSpPr>
        <p:spPr>
          <a:xfrm>
            <a:off x="3485299" y="2665782"/>
            <a:ext cx="1601408" cy="212301"/>
          </a:xfrm>
          <a:prstGeom prst="rect">
            <a:avLst/>
          </a:prstGeom>
          <a:noFill/>
          <a:ln/>
        </p:spPr>
        <p:txBody>
          <a:bodyPr wrap="square" lIns="0" tIns="0" rIns="0" bIns="0" rtlCol="0" anchor="ctr"/>
          <a:lstStyle/>
          <a:p>
            <a:pPr algn="ctr" indent="0" marL="0">
              <a:lnSpc>
                <a:spcPct val="116000"/>
              </a:lnSpc>
              <a:buNone/>
            </a:pPr>
            <a:r>
              <a:rPr lang="en-US" sz="1441" dirty="0">
                <a:solidFill>
                  <a:srgbClr val="0072B2"/>
                </a:solidFill>
                <a:latin typeface="Arial" pitchFamily="34" charset="0"/>
                <a:ea typeface="Arial" pitchFamily="34" charset="-122"/>
                <a:cs typeface="Arial" pitchFamily="34" charset="-120"/>
              </a:rPr>
              <a:t>chat messages</a:t>
            </a:r>
            <a:endParaRPr lang="en-US" sz="1441" dirty="0"/>
          </a:p>
        </p:txBody>
      </p:sp>
      <p:sp>
        <p:nvSpPr>
          <p:cNvPr id="12" name="Shape 10"/>
          <p:cNvSpPr/>
          <p:nvPr/>
        </p:nvSpPr>
        <p:spPr>
          <a:xfrm>
            <a:off x="5973836" y="3838927"/>
            <a:ext cx="244024" cy="0"/>
          </a:xfrm>
          <a:prstGeom prst="line">
            <a:avLst/>
          </a:prstGeom>
          <a:noFill/>
          <a:ln w="22860">
            <a:solidFill>
              <a:srgbClr val="009E73"/>
            </a:solidFill>
            <a:prstDash val="solid"/>
            <a:tailEnd type="triangle"/>
          </a:ln>
        </p:spPr>
      </p:sp>
      <p:sp>
        <p:nvSpPr>
          <p:cNvPr id="13" name="Text 11"/>
          <p:cNvSpPr txBox="1"/>
          <p:nvPr/>
        </p:nvSpPr>
        <p:spPr>
          <a:xfrm>
            <a:off x="5295144" y="2665782"/>
            <a:ext cx="1601408" cy="212301"/>
          </a:xfrm>
          <a:prstGeom prst="rect">
            <a:avLst/>
          </a:prstGeom>
          <a:noFill/>
          <a:ln/>
        </p:spPr>
        <p:txBody>
          <a:bodyPr wrap="square" lIns="0" tIns="0" rIns="0" bIns="0" rtlCol="0" anchor="ctr"/>
          <a:lstStyle/>
          <a:p>
            <a:pPr algn="ctr" indent="0" marL="0">
              <a:lnSpc>
                <a:spcPct val="116000"/>
              </a:lnSpc>
              <a:buNone/>
            </a:pPr>
            <a:r>
              <a:rPr lang="en-US" sz="1441" dirty="0">
                <a:solidFill>
                  <a:srgbClr val="0072B2"/>
                </a:solidFill>
                <a:latin typeface="Arial" pitchFamily="34" charset="0"/>
                <a:ea typeface="Arial" pitchFamily="34" charset="-122"/>
                <a:cs typeface="Arial" pitchFamily="34" charset="-120"/>
              </a:rPr>
              <a:t>raw reply</a:t>
            </a:r>
            <a:endParaRPr lang="en-US" sz="1441" dirty="0"/>
          </a:p>
        </p:txBody>
      </p:sp>
      <p:sp>
        <p:nvSpPr>
          <p:cNvPr id="14" name="Shape 12"/>
          <p:cNvSpPr/>
          <p:nvPr/>
        </p:nvSpPr>
        <p:spPr>
          <a:xfrm>
            <a:off x="7783680" y="3838927"/>
            <a:ext cx="244024" cy="0"/>
          </a:xfrm>
          <a:prstGeom prst="line">
            <a:avLst/>
          </a:prstGeom>
          <a:noFill/>
          <a:ln w="22860">
            <a:solidFill>
              <a:srgbClr val="009E73"/>
            </a:solidFill>
            <a:prstDash val="solid"/>
            <a:tailEnd type="triangle"/>
          </a:ln>
        </p:spPr>
      </p:sp>
      <p:sp>
        <p:nvSpPr>
          <p:cNvPr id="15" name="Text 13"/>
          <p:cNvSpPr txBox="1"/>
          <p:nvPr/>
        </p:nvSpPr>
        <p:spPr>
          <a:xfrm>
            <a:off x="7104989" y="2665782"/>
            <a:ext cx="1601408" cy="212301"/>
          </a:xfrm>
          <a:prstGeom prst="rect">
            <a:avLst/>
          </a:prstGeom>
          <a:noFill/>
          <a:ln/>
        </p:spPr>
        <p:txBody>
          <a:bodyPr wrap="square" lIns="0" tIns="0" rIns="0" bIns="0" rtlCol="0" anchor="ctr"/>
          <a:lstStyle/>
          <a:p>
            <a:pPr algn="ctr" indent="0" marL="0">
              <a:lnSpc>
                <a:spcPct val="116000"/>
              </a:lnSpc>
              <a:buNone/>
            </a:pPr>
            <a:r>
              <a:rPr lang="en-US" sz="1441" dirty="0">
                <a:solidFill>
                  <a:srgbClr val="0072B2"/>
                </a:solidFill>
                <a:latin typeface="Arial" pitchFamily="34" charset="0"/>
                <a:ea typeface="Arial" pitchFamily="34" charset="-122"/>
                <a:cs typeface="Arial" pitchFamily="34" charset="-120"/>
              </a:rPr>
              <a:t>score + note</a:t>
            </a:r>
            <a:endParaRPr lang="en-US" sz="1441" dirty="0"/>
          </a:p>
        </p:txBody>
      </p:sp>
      <p:sp>
        <p:nvSpPr>
          <p:cNvPr id="16" name="Shape 14"/>
          <p:cNvSpPr/>
          <p:nvPr/>
        </p:nvSpPr>
        <p:spPr>
          <a:xfrm>
            <a:off x="9593525" y="3838927"/>
            <a:ext cx="244024" cy="0"/>
          </a:xfrm>
          <a:prstGeom prst="line">
            <a:avLst/>
          </a:prstGeom>
          <a:noFill/>
          <a:ln w="22860">
            <a:solidFill>
              <a:srgbClr val="009E73"/>
            </a:solidFill>
            <a:prstDash val="solid"/>
            <a:tailEnd type="triangle"/>
          </a:ln>
        </p:spPr>
      </p:sp>
      <p:sp>
        <p:nvSpPr>
          <p:cNvPr id="17" name="Text 15"/>
          <p:cNvSpPr txBox="1"/>
          <p:nvPr/>
        </p:nvSpPr>
        <p:spPr>
          <a:xfrm>
            <a:off x="8914834" y="2665782"/>
            <a:ext cx="1601408" cy="212301"/>
          </a:xfrm>
          <a:prstGeom prst="rect">
            <a:avLst/>
          </a:prstGeom>
          <a:noFill/>
          <a:ln/>
        </p:spPr>
        <p:txBody>
          <a:bodyPr wrap="square" lIns="0" tIns="0" rIns="0" bIns="0" rtlCol="0" anchor="ctr"/>
          <a:lstStyle/>
          <a:p>
            <a:pPr algn="ctr" indent="0" marL="0">
              <a:lnSpc>
                <a:spcPct val="116000"/>
              </a:lnSpc>
              <a:buNone/>
            </a:pPr>
            <a:r>
              <a:rPr lang="en-US" sz="1441" dirty="0">
                <a:solidFill>
                  <a:srgbClr val="0072B2"/>
                </a:solidFill>
                <a:latin typeface="Arial" pitchFamily="34" charset="0"/>
                <a:ea typeface="Arial" pitchFamily="34" charset="-122"/>
                <a:cs typeface="Arial" pitchFamily="34" charset="-120"/>
              </a:rPr>
              <a:t>results table</a:t>
            </a:r>
            <a:endParaRPr lang="en-US" sz="1441" dirty="0"/>
          </a:p>
        </p:txBody>
      </p:sp>
      <p:sp>
        <p:nvSpPr>
          <p:cNvPr id="18" name="Shape 16"/>
          <p:cNvSpPr/>
          <p:nvPr/>
        </p:nvSpPr>
        <p:spPr>
          <a:xfrm flipV="1">
            <a:off x="10620460" y="2191765"/>
            <a:ext cx="0" cy="747324"/>
          </a:xfrm>
          <a:prstGeom prst="line">
            <a:avLst/>
          </a:prstGeom>
          <a:noFill/>
          <a:ln w="22860">
            <a:solidFill>
              <a:srgbClr val="D55E00"/>
            </a:solidFill>
            <a:prstDash val="dash"/>
          </a:ln>
        </p:spPr>
      </p:sp>
      <p:sp>
        <p:nvSpPr>
          <p:cNvPr id="19" name="Shape 17"/>
          <p:cNvSpPr/>
          <p:nvPr/>
        </p:nvSpPr>
        <p:spPr>
          <a:xfrm flipH="1">
            <a:off x="3381080" y="2191765"/>
            <a:ext cx="7239380" cy="0"/>
          </a:xfrm>
          <a:prstGeom prst="line">
            <a:avLst/>
          </a:prstGeom>
          <a:noFill/>
          <a:ln w="22860">
            <a:solidFill>
              <a:srgbClr val="D55E00"/>
            </a:solidFill>
            <a:prstDash val="dash"/>
          </a:ln>
        </p:spPr>
      </p:sp>
      <p:sp>
        <p:nvSpPr>
          <p:cNvPr id="20" name="Shape 18"/>
          <p:cNvSpPr/>
          <p:nvPr/>
        </p:nvSpPr>
        <p:spPr>
          <a:xfrm>
            <a:off x="3381080" y="2191765"/>
            <a:ext cx="0" cy="747324"/>
          </a:xfrm>
          <a:prstGeom prst="line">
            <a:avLst/>
          </a:prstGeom>
          <a:noFill/>
          <a:ln w="22860">
            <a:solidFill>
              <a:srgbClr val="D55E00"/>
            </a:solidFill>
            <a:prstDash val="dash"/>
            <a:tailEnd type="triangle"/>
          </a:ln>
        </p:spPr>
      </p:sp>
      <p:sp>
        <p:nvSpPr>
          <p:cNvPr id="21" name="Text 19"/>
          <p:cNvSpPr txBox="1"/>
          <p:nvPr/>
        </p:nvSpPr>
        <p:spPr>
          <a:xfrm>
            <a:off x="4248817" y="1917238"/>
            <a:ext cx="5503905" cy="228773"/>
          </a:xfrm>
          <a:prstGeom prst="rect">
            <a:avLst/>
          </a:prstGeom>
          <a:noFill/>
          <a:ln/>
        </p:spPr>
        <p:txBody>
          <a:bodyPr wrap="square" lIns="0" tIns="0" rIns="0" bIns="0" rtlCol="0" anchor="ctr"/>
          <a:lstStyle/>
          <a:p>
            <a:pPr algn="ctr" indent="0" marL="0">
              <a:lnSpc>
                <a:spcPct val="116000"/>
              </a:lnSpc>
              <a:buNone/>
            </a:pPr>
            <a:r>
              <a:rPr lang="en-US" sz="1441" dirty="0">
                <a:solidFill>
                  <a:srgbClr val="A64200"/>
                </a:solidFill>
                <a:latin typeface="Arial" pitchFamily="34" charset="0"/>
                <a:ea typeface="Arial" pitchFamily="34" charset="-122"/>
                <a:cs typeface="Arial" pitchFamily="34" charset="-120"/>
              </a:rPr>
              <a:t>Revise from development errors; keep a fresh final test separate.</a:t>
            </a:r>
            <a:endParaRPr lang="en-US" sz="1441" dirty="0"/>
          </a:p>
        </p:txBody>
      </p:sp>
      <p:sp>
        <p:nvSpPr>
          <p:cNvPr id="22" name="Shape 20"/>
          <p:cNvSpPr/>
          <p:nvPr/>
        </p:nvSpPr>
        <p:spPr>
          <a:xfrm>
            <a:off x="788325" y="2939089"/>
            <a:ext cx="1565821" cy="1799677"/>
          </a:xfrm>
          <a:prstGeom prst="roundRect">
            <a:avLst>
              <a:gd name="adj" fmla="val 4672"/>
            </a:avLst>
          </a:prstGeom>
          <a:solidFill>
            <a:srgbClr val="E4F2FB"/>
          </a:solidFill>
          <a:ln w="15240">
            <a:solidFill>
              <a:srgbClr val="0072B2"/>
            </a:solidFill>
            <a:prstDash val="solid"/>
          </a:ln>
        </p:spPr>
      </p:sp>
      <p:sp>
        <p:nvSpPr>
          <p:cNvPr id="23" name="Text 21"/>
          <p:cNvSpPr txBox="1"/>
          <p:nvPr/>
        </p:nvSpPr>
        <p:spPr>
          <a:xfrm>
            <a:off x="849331" y="3221851"/>
            <a:ext cx="1443809" cy="229993"/>
          </a:xfrm>
          <a:prstGeom prst="rect">
            <a:avLst/>
          </a:prstGeom>
          <a:noFill/>
          <a:ln/>
        </p:spPr>
        <p:txBody>
          <a:bodyPr wrap="square" lIns="0" tIns="0" rIns="0" bIns="0" rtlCol="0" anchor="ctr"/>
          <a:lstStyle/>
          <a:p>
            <a:pPr algn="ctr" indent="0" marL="0">
              <a:lnSpc>
                <a:spcPct val="116000"/>
              </a:lnSpc>
              <a:buNone/>
            </a:pPr>
            <a:r>
              <a:rPr lang="en-US" sz="1561" b="1" dirty="0">
                <a:solidFill>
                  <a:srgbClr val="1E1B4B"/>
                </a:solidFill>
                <a:latin typeface="Arial" pitchFamily="34" charset="0"/>
                <a:ea typeface="Arial" pitchFamily="34" charset="-122"/>
                <a:cs typeface="Arial" pitchFamily="34" charset="-120"/>
              </a:rPr>
              <a:t>Labelled</a:t>
            </a:r>
            <a:endParaRPr lang="en-US" sz="1561" dirty="0"/>
          </a:p>
        </p:txBody>
      </p:sp>
      <p:sp>
        <p:nvSpPr>
          <p:cNvPr id="24" name="Text 22"/>
          <p:cNvSpPr txBox="1"/>
          <p:nvPr/>
        </p:nvSpPr>
        <p:spPr>
          <a:xfrm>
            <a:off x="849331" y="3451844"/>
            <a:ext cx="1443809" cy="229993"/>
          </a:xfrm>
          <a:prstGeom prst="rect">
            <a:avLst/>
          </a:prstGeom>
          <a:noFill/>
          <a:ln/>
        </p:spPr>
        <p:txBody>
          <a:bodyPr wrap="square" lIns="0" tIns="0" rIns="0" bIns="0" rtlCol="0" anchor="ctr"/>
          <a:lstStyle/>
          <a:p>
            <a:pPr algn="ctr" indent="0" marL="0">
              <a:lnSpc>
                <a:spcPct val="116000"/>
              </a:lnSpc>
              <a:buNone/>
            </a:pPr>
            <a:r>
              <a:rPr lang="en-US" sz="1561" b="1" dirty="0">
                <a:solidFill>
                  <a:srgbClr val="1E1B4B"/>
                </a:solidFill>
                <a:latin typeface="Arial" pitchFamily="34" charset="0"/>
                <a:ea typeface="Arial" pitchFamily="34" charset="-122"/>
                <a:cs typeface="Arial" pitchFamily="34" charset="-120"/>
              </a:rPr>
              <a:t>message</a:t>
            </a:r>
            <a:endParaRPr lang="en-US" sz="1561" dirty="0"/>
          </a:p>
        </p:txBody>
      </p:sp>
      <p:sp>
        <p:nvSpPr>
          <p:cNvPr id="25" name="Text 23"/>
          <p:cNvSpPr txBox="1"/>
          <p:nvPr/>
        </p:nvSpPr>
        <p:spPr>
          <a:xfrm>
            <a:off x="849331" y="3758094"/>
            <a:ext cx="1443809" cy="212301"/>
          </a:xfrm>
          <a:prstGeom prst="rect">
            <a:avLst/>
          </a:prstGeom>
          <a:noFill/>
          <a:ln/>
        </p:spPr>
        <p:txBody>
          <a:bodyPr wrap="square" lIns="0" tIns="0" rIns="0" bIns="0" rtlCol="0" anchor="ctr"/>
          <a:lstStyle/>
          <a:p>
            <a:pPr algn="ctr" indent="0" marL="0">
              <a:lnSpc>
                <a:spcPct val="116000"/>
              </a:lnSpc>
              <a:buNone/>
            </a:pPr>
            <a:r>
              <a:rPr lang="en-US" sz="1441" dirty="0">
                <a:solidFill>
                  <a:srgbClr val="1F2937"/>
                </a:solidFill>
                <a:latin typeface="Arial" pitchFamily="34" charset="0"/>
                <a:ea typeface="Arial" pitchFamily="34" charset="-122"/>
                <a:cs typeface="Arial" pitchFamily="34" charset="-120"/>
              </a:rPr>
              <a:t>Input and known</a:t>
            </a:r>
            <a:endParaRPr lang="en-US" sz="1441" dirty="0"/>
          </a:p>
        </p:txBody>
      </p:sp>
      <p:sp>
        <p:nvSpPr>
          <p:cNvPr id="26" name="Text 24"/>
          <p:cNvSpPr txBox="1"/>
          <p:nvPr/>
        </p:nvSpPr>
        <p:spPr>
          <a:xfrm>
            <a:off x="849331" y="3970395"/>
            <a:ext cx="1443809" cy="212301"/>
          </a:xfrm>
          <a:prstGeom prst="rect">
            <a:avLst/>
          </a:prstGeom>
          <a:noFill/>
          <a:ln/>
        </p:spPr>
        <p:txBody>
          <a:bodyPr wrap="square" lIns="0" tIns="0" rIns="0" bIns="0" rtlCol="0" anchor="ctr"/>
          <a:lstStyle/>
          <a:p>
            <a:pPr algn="ctr" indent="0" marL="0">
              <a:lnSpc>
                <a:spcPct val="116000"/>
              </a:lnSpc>
              <a:buNone/>
            </a:pPr>
            <a:r>
              <a:rPr lang="en-US" sz="1441" dirty="0">
                <a:solidFill>
                  <a:srgbClr val="1F2937"/>
                </a:solidFill>
                <a:latin typeface="Arial" pitchFamily="34" charset="0"/>
                <a:ea typeface="Arial" pitchFamily="34" charset="-122"/>
                <a:cs typeface="Arial" pitchFamily="34" charset="-120"/>
              </a:rPr>
              <a:t>correct team</a:t>
            </a:r>
            <a:endParaRPr lang="en-US" sz="1441" dirty="0"/>
          </a:p>
        </p:txBody>
      </p:sp>
      <p:sp>
        <p:nvSpPr>
          <p:cNvPr id="27" name="Text 25"/>
          <p:cNvSpPr txBox="1"/>
          <p:nvPr/>
        </p:nvSpPr>
        <p:spPr>
          <a:xfrm>
            <a:off x="811202" y="4243702"/>
            <a:ext cx="1520066" cy="212301"/>
          </a:xfrm>
          <a:prstGeom prst="rect">
            <a:avLst/>
          </a:prstGeom>
          <a:noFill/>
          <a:ln/>
        </p:spPr>
        <p:txBody>
          <a:bodyPr wrap="square" lIns="0" tIns="0" rIns="0" bIns="0" rtlCol="0" anchor="ctr"/>
          <a:lstStyle/>
          <a:p>
            <a:pPr algn="ctr" indent="0" marL="0">
              <a:lnSpc>
                <a:spcPct val="116000"/>
              </a:lnSpc>
              <a:buNone/>
            </a:pPr>
            <a:r>
              <a:rPr lang="en-US" sz="1441" dirty="0">
                <a:solidFill>
                  <a:srgbClr val="0F766E"/>
                </a:solidFill>
                <a:latin typeface="Arial" pitchFamily="34" charset="0"/>
                <a:ea typeface="Arial" pitchFamily="34" charset="-122"/>
                <a:cs typeface="Arial" pitchFamily="34" charset="-120"/>
              </a:rPr>
              <a:t>ticket_ds</a:t>
            </a:r>
            <a:endParaRPr lang="en-US" sz="1441" dirty="0"/>
          </a:p>
        </p:txBody>
      </p:sp>
      <p:sp>
        <p:nvSpPr>
          <p:cNvPr id="28" name="Shape 26"/>
          <p:cNvSpPr/>
          <p:nvPr/>
        </p:nvSpPr>
        <p:spPr>
          <a:xfrm>
            <a:off x="2598170" y="2939089"/>
            <a:ext cx="1565821" cy="1799677"/>
          </a:xfrm>
          <a:prstGeom prst="rect">
            <a:avLst/>
          </a:prstGeom>
          <a:solidFill>
            <a:srgbClr val="F2F4F5"/>
          </a:solidFill>
          <a:ln w="15240">
            <a:solidFill>
              <a:srgbClr val="626B73"/>
            </a:solidFill>
            <a:prstDash val="solid"/>
          </a:ln>
        </p:spPr>
      </p:sp>
      <p:sp>
        <p:nvSpPr>
          <p:cNvPr id="29" name="Text 27"/>
          <p:cNvSpPr txBox="1"/>
          <p:nvPr/>
        </p:nvSpPr>
        <p:spPr>
          <a:xfrm>
            <a:off x="2659176" y="3336848"/>
            <a:ext cx="1443809" cy="229993"/>
          </a:xfrm>
          <a:prstGeom prst="rect">
            <a:avLst/>
          </a:prstGeom>
          <a:noFill/>
          <a:ln/>
        </p:spPr>
        <p:txBody>
          <a:bodyPr wrap="square" lIns="0" tIns="0" rIns="0" bIns="0" rtlCol="0" anchor="ctr"/>
          <a:lstStyle/>
          <a:p>
            <a:pPr algn="ctr" indent="0" marL="0">
              <a:lnSpc>
                <a:spcPct val="116000"/>
              </a:lnSpc>
              <a:buNone/>
            </a:pPr>
            <a:r>
              <a:rPr lang="en-US" sz="1561" b="1" dirty="0">
                <a:solidFill>
                  <a:srgbClr val="1E1B4B"/>
                </a:solidFill>
                <a:latin typeface="Arial" pitchFamily="34" charset="0"/>
                <a:ea typeface="Arial" pitchFamily="34" charset="-122"/>
                <a:cs typeface="Arial" pitchFamily="34" charset="-120"/>
              </a:rPr>
              <a:t>Build prompt</a:t>
            </a:r>
            <a:endParaRPr lang="en-US" sz="1561" dirty="0"/>
          </a:p>
        </p:txBody>
      </p:sp>
      <p:sp>
        <p:nvSpPr>
          <p:cNvPr id="30" name="Text 28"/>
          <p:cNvSpPr txBox="1"/>
          <p:nvPr/>
        </p:nvSpPr>
        <p:spPr>
          <a:xfrm>
            <a:off x="2659176" y="3643098"/>
            <a:ext cx="1443809" cy="212301"/>
          </a:xfrm>
          <a:prstGeom prst="rect">
            <a:avLst/>
          </a:prstGeom>
          <a:noFill/>
          <a:ln/>
        </p:spPr>
        <p:txBody>
          <a:bodyPr wrap="square" lIns="0" tIns="0" rIns="0" bIns="0" rtlCol="0" anchor="ctr"/>
          <a:lstStyle/>
          <a:p>
            <a:pPr algn="ctr" indent="0" marL="0">
              <a:lnSpc>
                <a:spcPct val="116000"/>
              </a:lnSpc>
              <a:buNone/>
            </a:pPr>
            <a:r>
              <a:rPr lang="en-US" sz="1441" dirty="0">
                <a:solidFill>
                  <a:srgbClr val="1F2937"/>
                </a:solidFill>
                <a:latin typeface="Arial" pitchFamily="34" charset="0"/>
                <a:ea typeface="Arial" pitchFamily="34" charset="-122"/>
                <a:cs typeface="Arial" pitchFamily="34" charset="-120"/>
              </a:rPr>
              <a:t>Rules, labels</a:t>
            </a:r>
            <a:endParaRPr lang="en-US" sz="1441" dirty="0"/>
          </a:p>
        </p:txBody>
      </p:sp>
      <p:sp>
        <p:nvSpPr>
          <p:cNvPr id="31" name="Text 29"/>
          <p:cNvSpPr txBox="1"/>
          <p:nvPr/>
        </p:nvSpPr>
        <p:spPr>
          <a:xfrm>
            <a:off x="2659176" y="3855399"/>
            <a:ext cx="1443809" cy="212301"/>
          </a:xfrm>
          <a:prstGeom prst="rect">
            <a:avLst/>
          </a:prstGeom>
          <a:noFill/>
          <a:ln/>
        </p:spPr>
        <p:txBody>
          <a:bodyPr wrap="square" lIns="0" tIns="0" rIns="0" bIns="0" rtlCol="0" anchor="ctr"/>
          <a:lstStyle/>
          <a:p>
            <a:pPr algn="ctr" indent="0" marL="0">
              <a:lnSpc>
                <a:spcPct val="116000"/>
              </a:lnSpc>
              <a:buNone/>
            </a:pPr>
            <a:r>
              <a:rPr lang="en-US" sz="1441" dirty="0">
                <a:solidFill>
                  <a:srgbClr val="1F2937"/>
                </a:solidFill>
                <a:latin typeface="Arial" pitchFamily="34" charset="0"/>
                <a:ea typeface="Arial" pitchFamily="34" charset="-122"/>
                <a:cs typeface="Arial" pitchFamily="34" charset="-120"/>
              </a:rPr>
              <a:t>and examples</a:t>
            </a:r>
            <a:endParaRPr lang="en-US" sz="1441" dirty="0"/>
          </a:p>
        </p:txBody>
      </p:sp>
      <p:sp>
        <p:nvSpPr>
          <p:cNvPr id="32" name="Text 30"/>
          <p:cNvSpPr txBox="1"/>
          <p:nvPr/>
        </p:nvSpPr>
        <p:spPr>
          <a:xfrm>
            <a:off x="2621047" y="4128706"/>
            <a:ext cx="1520066" cy="212301"/>
          </a:xfrm>
          <a:prstGeom prst="rect">
            <a:avLst/>
          </a:prstGeom>
          <a:noFill/>
          <a:ln/>
        </p:spPr>
        <p:txBody>
          <a:bodyPr wrap="square" lIns="0" tIns="0" rIns="0" bIns="0" rtlCol="0" anchor="ctr"/>
          <a:lstStyle/>
          <a:p>
            <a:pPr algn="ctr" indent="0" marL="0">
              <a:lnSpc>
                <a:spcPct val="116000"/>
              </a:lnSpc>
              <a:buNone/>
            </a:pPr>
            <a:r>
              <a:rPr lang="en-US" sz="1441" dirty="0">
                <a:solidFill>
                  <a:srgbClr val="0F766E"/>
                </a:solidFill>
                <a:latin typeface="Arial" pitchFamily="34" charset="0"/>
                <a:ea typeface="Arial" pitchFamily="34" charset="-122"/>
                <a:cs typeface="Arial" pitchFamily="34" charset="-120"/>
              </a:rPr>
              <a:t>few_shot</a:t>
            </a:r>
            <a:endParaRPr lang="en-US" sz="1441" dirty="0"/>
          </a:p>
        </p:txBody>
      </p:sp>
      <p:sp>
        <p:nvSpPr>
          <p:cNvPr id="33" name="Shape 31"/>
          <p:cNvSpPr/>
          <p:nvPr/>
        </p:nvSpPr>
        <p:spPr>
          <a:xfrm>
            <a:off x="4408015" y="2939089"/>
            <a:ext cx="1565821" cy="1799677"/>
          </a:xfrm>
          <a:prstGeom prst="rect">
            <a:avLst/>
          </a:prstGeom>
          <a:solidFill>
            <a:srgbClr val="E5F7EF"/>
          </a:solidFill>
          <a:ln w="15240">
            <a:solidFill>
              <a:srgbClr val="009E73"/>
            </a:solidFill>
            <a:prstDash val="solid"/>
          </a:ln>
        </p:spPr>
      </p:sp>
      <p:sp>
        <p:nvSpPr>
          <p:cNvPr id="34" name="Text 32"/>
          <p:cNvSpPr txBox="1"/>
          <p:nvPr/>
        </p:nvSpPr>
        <p:spPr>
          <a:xfrm>
            <a:off x="4469021" y="3336848"/>
            <a:ext cx="1443809" cy="229993"/>
          </a:xfrm>
          <a:prstGeom prst="rect">
            <a:avLst/>
          </a:prstGeom>
          <a:noFill/>
          <a:ln/>
        </p:spPr>
        <p:txBody>
          <a:bodyPr wrap="square" lIns="0" tIns="0" rIns="0" bIns="0" rtlCol="0" anchor="ctr"/>
          <a:lstStyle/>
          <a:p>
            <a:pPr algn="ctr" indent="0" marL="0">
              <a:lnSpc>
                <a:spcPct val="116000"/>
              </a:lnSpc>
              <a:buNone/>
            </a:pPr>
            <a:r>
              <a:rPr lang="en-US" sz="1561" b="1" dirty="0">
                <a:solidFill>
                  <a:srgbClr val="1E1B4B"/>
                </a:solidFill>
                <a:latin typeface="Arial" pitchFamily="34" charset="0"/>
                <a:ea typeface="Arial" pitchFamily="34" charset="-122"/>
                <a:cs typeface="Arial" pitchFamily="34" charset="-120"/>
              </a:rPr>
              <a:t>Generate reply</a:t>
            </a:r>
            <a:endParaRPr lang="en-US" sz="1561" dirty="0"/>
          </a:p>
        </p:txBody>
      </p:sp>
      <p:sp>
        <p:nvSpPr>
          <p:cNvPr id="35" name="Text 33"/>
          <p:cNvSpPr txBox="1"/>
          <p:nvPr/>
        </p:nvSpPr>
        <p:spPr>
          <a:xfrm>
            <a:off x="4469021" y="3643098"/>
            <a:ext cx="1443809" cy="212301"/>
          </a:xfrm>
          <a:prstGeom prst="rect">
            <a:avLst/>
          </a:prstGeom>
          <a:noFill/>
          <a:ln/>
        </p:spPr>
        <p:txBody>
          <a:bodyPr wrap="square" lIns="0" tIns="0" rIns="0" bIns="0" rtlCol="0" anchor="ctr"/>
          <a:lstStyle/>
          <a:p>
            <a:pPr algn="ctr" indent="0" marL="0">
              <a:lnSpc>
                <a:spcPct val="116000"/>
              </a:lnSpc>
              <a:buNone/>
            </a:pPr>
            <a:r>
              <a:rPr lang="en-US" sz="1441" dirty="0">
                <a:solidFill>
                  <a:srgbClr val="1F2937"/>
                </a:solidFill>
                <a:latin typeface="Arial" pitchFamily="34" charset="0"/>
                <a:ea typeface="Arial" pitchFamily="34" charset="-122"/>
                <a:cs typeface="Arial" pitchFamily="34" charset="-120"/>
              </a:rPr>
              <a:t>Keep model</a:t>
            </a:r>
            <a:endParaRPr lang="en-US" sz="1441" dirty="0"/>
          </a:p>
        </p:txBody>
      </p:sp>
      <p:sp>
        <p:nvSpPr>
          <p:cNvPr id="36" name="Text 34"/>
          <p:cNvSpPr txBox="1"/>
          <p:nvPr/>
        </p:nvSpPr>
        <p:spPr>
          <a:xfrm>
            <a:off x="4469021" y="3855399"/>
            <a:ext cx="1443809" cy="212301"/>
          </a:xfrm>
          <a:prstGeom prst="rect">
            <a:avLst/>
          </a:prstGeom>
          <a:noFill/>
          <a:ln/>
        </p:spPr>
        <p:txBody>
          <a:bodyPr wrap="square" lIns="0" tIns="0" rIns="0" bIns="0" rtlCol="0" anchor="ctr"/>
          <a:lstStyle/>
          <a:p>
            <a:pPr algn="ctr" indent="0" marL="0">
              <a:lnSpc>
                <a:spcPct val="116000"/>
              </a:lnSpc>
              <a:buNone/>
            </a:pPr>
            <a:r>
              <a:rPr lang="en-US" sz="1441" dirty="0">
                <a:solidFill>
                  <a:srgbClr val="1F2937"/>
                </a:solidFill>
                <a:latin typeface="Arial" pitchFamily="34" charset="0"/>
                <a:ea typeface="Arial" pitchFamily="34" charset="-122"/>
                <a:cs typeface="Arial" pitchFamily="34" charset="-120"/>
              </a:rPr>
              <a:t>settings fixed</a:t>
            </a:r>
            <a:endParaRPr lang="en-US" sz="1441" dirty="0"/>
          </a:p>
        </p:txBody>
      </p:sp>
      <p:sp>
        <p:nvSpPr>
          <p:cNvPr id="37" name="Text 35"/>
          <p:cNvSpPr txBox="1"/>
          <p:nvPr/>
        </p:nvSpPr>
        <p:spPr>
          <a:xfrm>
            <a:off x="4430892" y="4128706"/>
            <a:ext cx="1520066" cy="212301"/>
          </a:xfrm>
          <a:prstGeom prst="rect">
            <a:avLst/>
          </a:prstGeom>
          <a:noFill/>
          <a:ln/>
        </p:spPr>
        <p:txBody>
          <a:bodyPr wrap="square" lIns="0" tIns="0" rIns="0" bIns="0" rtlCol="0" anchor="ctr"/>
          <a:lstStyle/>
          <a:p>
            <a:pPr algn="ctr" indent="0" marL="0">
              <a:lnSpc>
                <a:spcPct val="116000"/>
              </a:lnSpc>
              <a:buNone/>
            </a:pPr>
            <a:r>
              <a:rPr lang="en-US" sz="1441" dirty="0">
                <a:solidFill>
                  <a:srgbClr val="0F766E"/>
                </a:solidFill>
                <a:latin typeface="Arial" pitchFamily="34" charset="0"/>
                <a:ea typeface="Arial" pitchFamily="34" charset="-122"/>
                <a:cs typeface="Arial" pitchFamily="34" charset="-120"/>
              </a:rPr>
              <a:t>llm</a:t>
            </a:r>
            <a:endParaRPr lang="en-US" sz="1441" dirty="0"/>
          </a:p>
        </p:txBody>
      </p:sp>
      <p:sp>
        <p:nvSpPr>
          <p:cNvPr id="38" name="Shape 36"/>
          <p:cNvSpPr/>
          <p:nvPr/>
        </p:nvSpPr>
        <p:spPr>
          <a:xfrm>
            <a:off x="6217860" y="2939089"/>
            <a:ext cx="1565821" cy="1799677"/>
          </a:xfrm>
          <a:prstGeom prst="roundRect">
            <a:avLst>
              <a:gd name="adj" fmla="val 4672"/>
            </a:avLst>
          </a:prstGeom>
          <a:solidFill>
            <a:srgbClr val="FFF0E6"/>
          </a:solidFill>
          <a:ln w="15240">
            <a:solidFill>
              <a:srgbClr val="D55E00"/>
            </a:solidFill>
            <a:prstDash val="solid"/>
          </a:ln>
        </p:spPr>
      </p:sp>
      <p:sp>
        <p:nvSpPr>
          <p:cNvPr id="39" name="Text 37"/>
          <p:cNvSpPr txBox="1"/>
          <p:nvPr/>
        </p:nvSpPr>
        <p:spPr>
          <a:xfrm>
            <a:off x="6278866" y="3230697"/>
            <a:ext cx="1443809" cy="229993"/>
          </a:xfrm>
          <a:prstGeom prst="rect">
            <a:avLst/>
          </a:prstGeom>
          <a:noFill/>
          <a:ln/>
        </p:spPr>
        <p:txBody>
          <a:bodyPr wrap="square" lIns="0" tIns="0" rIns="0" bIns="0" rtlCol="0" anchor="ctr"/>
          <a:lstStyle/>
          <a:p>
            <a:pPr algn="ctr" indent="0" marL="0">
              <a:lnSpc>
                <a:spcPct val="116000"/>
              </a:lnSpc>
              <a:buNone/>
            </a:pPr>
            <a:r>
              <a:rPr lang="en-US" sz="1561" b="1" dirty="0">
                <a:solidFill>
                  <a:srgbClr val="1E1B4B"/>
                </a:solidFill>
                <a:latin typeface="Arial" pitchFamily="34" charset="0"/>
                <a:ea typeface="Arial" pitchFamily="34" charset="-122"/>
                <a:cs typeface="Arial" pitchFamily="34" charset="-120"/>
              </a:rPr>
              <a:t>Parse + score</a:t>
            </a:r>
            <a:endParaRPr lang="en-US" sz="1561" dirty="0"/>
          </a:p>
        </p:txBody>
      </p:sp>
      <p:sp>
        <p:nvSpPr>
          <p:cNvPr id="40" name="Text 38"/>
          <p:cNvSpPr txBox="1"/>
          <p:nvPr/>
        </p:nvSpPr>
        <p:spPr>
          <a:xfrm>
            <a:off x="6278866" y="3536948"/>
            <a:ext cx="1443809" cy="212301"/>
          </a:xfrm>
          <a:prstGeom prst="rect">
            <a:avLst/>
          </a:prstGeom>
          <a:noFill/>
          <a:ln/>
        </p:spPr>
        <p:txBody>
          <a:bodyPr wrap="square" lIns="0" tIns="0" rIns="0" bIns="0" rtlCol="0" anchor="ctr"/>
          <a:lstStyle/>
          <a:p>
            <a:pPr algn="ctr" indent="0" marL="0">
              <a:lnSpc>
                <a:spcPct val="116000"/>
              </a:lnSpc>
              <a:buNone/>
            </a:pPr>
            <a:r>
              <a:rPr lang="en-US" sz="1441" dirty="0">
                <a:solidFill>
                  <a:srgbClr val="1F2937"/>
                </a:solidFill>
                <a:latin typeface="Arial" pitchFamily="34" charset="0"/>
                <a:ea typeface="Arial" pitchFamily="34" charset="-122"/>
                <a:cs typeface="Arial" pitchFamily="34" charset="-120"/>
              </a:rPr>
              <a:t>Find label;</a:t>
            </a:r>
            <a:endParaRPr lang="en-US" sz="1441" dirty="0"/>
          </a:p>
        </p:txBody>
      </p:sp>
      <p:sp>
        <p:nvSpPr>
          <p:cNvPr id="41" name="Text 39"/>
          <p:cNvSpPr txBox="1"/>
          <p:nvPr/>
        </p:nvSpPr>
        <p:spPr>
          <a:xfrm>
            <a:off x="6278866" y="3749248"/>
            <a:ext cx="1443809" cy="212301"/>
          </a:xfrm>
          <a:prstGeom prst="rect">
            <a:avLst/>
          </a:prstGeom>
          <a:noFill/>
          <a:ln/>
        </p:spPr>
        <p:txBody>
          <a:bodyPr wrap="square" lIns="0" tIns="0" rIns="0" bIns="0" rtlCol="0" anchor="ctr"/>
          <a:lstStyle/>
          <a:p>
            <a:pPr algn="ctr" indent="0" marL="0">
              <a:lnSpc>
                <a:spcPct val="116000"/>
              </a:lnSpc>
              <a:buNone/>
            </a:pPr>
            <a:r>
              <a:rPr lang="en-US" sz="1441" dirty="0">
                <a:solidFill>
                  <a:srgbClr val="1F2937"/>
                </a:solidFill>
                <a:latin typeface="Arial" pitchFamily="34" charset="0"/>
                <a:ea typeface="Arial" pitchFamily="34" charset="-122"/>
                <a:cs typeface="Arial" pitchFamily="34" charset="-120"/>
              </a:rPr>
              <a:t>compare</a:t>
            </a:r>
            <a:endParaRPr lang="en-US" sz="1441" dirty="0"/>
          </a:p>
        </p:txBody>
      </p:sp>
      <p:sp>
        <p:nvSpPr>
          <p:cNvPr id="42" name="Text 40"/>
          <p:cNvSpPr txBox="1"/>
          <p:nvPr/>
        </p:nvSpPr>
        <p:spPr>
          <a:xfrm>
            <a:off x="6278866" y="3961549"/>
            <a:ext cx="1443809" cy="212301"/>
          </a:xfrm>
          <a:prstGeom prst="rect">
            <a:avLst/>
          </a:prstGeom>
          <a:noFill/>
          <a:ln/>
        </p:spPr>
        <p:txBody>
          <a:bodyPr wrap="square" lIns="0" tIns="0" rIns="0" bIns="0" rtlCol="0" anchor="ctr"/>
          <a:lstStyle/>
          <a:p>
            <a:pPr algn="ctr" indent="0" marL="0">
              <a:lnSpc>
                <a:spcPct val="116000"/>
              </a:lnSpc>
              <a:buNone/>
            </a:pPr>
            <a:r>
              <a:rPr lang="en-US" sz="1441" dirty="0">
                <a:solidFill>
                  <a:srgbClr val="1F2937"/>
                </a:solidFill>
                <a:latin typeface="Arial" pitchFamily="34" charset="0"/>
                <a:ea typeface="Arial" pitchFamily="34" charset="-122"/>
                <a:cs typeface="Arial" pitchFamily="34" charset="-120"/>
              </a:rPr>
              <a:t>reference</a:t>
            </a:r>
            <a:endParaRPr lang="en-US" sz="1441" dirty="0"/>
          </a:p>
        </p:txBody>
      </p:sp>
      <p:sp>
        <p:nvSpPr>
          <p:cNvPr id="43" name="Text 41"/>
          <p:cNvSpPr txBox="1"/>
          <p:nvPr/>
        </p:nvSpPr>
        <p:spPr>
          <a:xfrm>
            <a:off x="6240737" y="4234856"/>
            <a:ext cx="1520066" cy="212301"/>
          </a:xfrm>
          <a:prstGeom prst="rect">
            <a:avLst/>
          </a:prstGeom>
          <a:noFill/>
          <a:ln/>
        </p:spPr>
        <p:txBody>
          <a:bodyPr wrap="square" lIns="0" tIns="0" rIns="0" bIns="0" rtlCol="0" anchor="ctr"/>
          <a:lstStyle/>
          <a:p>
            <a:pPr algn="ctr" indent="0" marL="0">
              <a:lnSpc>
                <a:spcPct val="116000"/>
              </a:lnSpc>
              <a:buNone/>
            </a:pPr>
            <a:r>
              <a:rPr lang="en-US" sz="1441" dirty="0">
                <a:solidFill>
                  <a:srgbClr val="0F766E"/>
                </a:solidFill>
                <a:latin typeface="Arial" pitchFamily="34" charset="0"/>
                <a:ea typeface="Arial" pitchFamily="34" charset="-122"/>
                <a:cs typeface="Arial" pitchFamily="34" charset="-120"/>
              </a:rPr>
              <a:t>label_scorer</a:t>
            </a:r>
            <a:endParaRPr lang="en-US" sz="1441" dirty="0"/>
          </a:p>
        </p:txBody>
      </p:sp>
      <p:sp>
        <p:nvSpPr>
          <p:cNvPr id="44" name="Shape 42"/>
          <p:cNvSpPr/>
          <p:nvPr/>
        </p:nvSpPr>
        <p:spPr>
          <a:xfrm>
            <a:off x="8027705" y="2939089"/>
            <a:ext cx="1565821" cy="1799677"/>
          </a:xfrm>
          <a:prstGeom prst="rect">
            <a:avLst/>
          </a:prstGeom>
          <a:solidFill>
            <a:srgbClr val="F2F4F5"/>
          </a:solidFill>
          <a:ln w="15240">
            <a:solidFill>
              <a:srgbClr val="626B73"/>
            </a:solidFill>
            <a:prstDash val="solid"/>
          </a:ln>
        </p:spPr>
      </p:sp>
      <p:sp>
        <p:nvSpPr>
          <p:cNvPr id="45" name="Text 43"/>
          <p:cNvSpPr txBox="1"/>
          <p:nvPr/>
        </p:nvSpPr>
        <p:spPr>
          <a:xfrm>
            <a:off x="8088711" y="3221851"/>
            <a:ext cx="1443809" cy="229993"/>
          </a:xfrm>
          <a:prstGeom prst="rect">
            <a:avLst/>
          </a:prstGeom>
          <a:noFill/>
          <a:ln/>
        </p:spPr>
        <p:txBody>
          <a:bodyPr wrap="square" lIns="0" tIns="0" rIns="0" bIns="0" rtlCol="0" anchor="ctr"/>
          <a:lstStyle/>
          <a:p>
            <a:pPr algn="ctr" indent="0" marL="0">
              <a:lnSpc>
                <a:spcPct val="116000"/>
              </a:lnSpc>
              <a:buNone/>
            </a:pPr>
            <a:r>
              <a:rPr lang="en-US" sz="1561" b="1" dirty="0">
                <a:solidFill>
                  <a:srgbClr val="1E1B4B"/>
                </a:solidFill>
                <a:latin typeface="Arial" pitchFamily="34" charset="0"/>
                <a:ea typeface="Arial" pitchFamily="34" charset="-122"/>
                <a:cs typeface="Arial" pitchFamily="34" charset="-120"/>
              </a:rPr>
              <a:t>Collect</a:t>
            </a:r>
            <a:endParaRPr lang="en-US" sz="1561" dirty="0"/>
          </a:p>
        </p:txBody>
      </p:sp>
      <p:sp>
        <p:nvSpPr>
          <p:cNvPr id="46" name="Text 44"/>
          <p:cNvSpPr txBox="1"/>
          <p:nvPr/>
        </p:nvSpPr>
        <p:spPr>
          <a:xfrm>
            <a:off x="8088711" y="3451844"/>
            <a:ext cx="1443809" cy="229993"/>
          </a:xfrm>
          <a:prstGeom prst="rect">
            <a:avLst/>
          </a:prstGeom>
          <a:noFill/>
          <a:ln/>
        </p:spPr>
        <p:txBody>
          <a:bodyPr wrap="square" lIns="0" tIns="0" rIns="0" bIns="0" rtlCol="0" anchor="ctr"/>
          <a:lstStyle/>
          <a:p>
            <a:pPr algn="ctr" indent="0" marL="0">
              <a:lnSpc>
                <a:spcPct val="116000"/>
              </a:lnSpc>
              <a:buNone/>
            </a:pPr>
            <a:r>
              <a:rPr lang="en-US" sz="1561" b="1" dirty="0">
                <a:solidFill>
                  <a:srgbClr val="1E1B4B"/>
                </a:solidFill>
                <a:latin typeface="Arial" pitchFamily="34" charset="0"/>
                <a:ea typeface="Arial" pitchFamily="34" charset="-122"/>
                <a:cs typeface="Arial" pitchFamily="34" charset="-120"/>
              </a:rPr>
              <a:t>measures</a:t>
            </a:r>
            <a:endParaRPr lang="en-US" sz="1561" dirty="0"/>
          </a:p>
        </p:txBody>
      </p:sp>
      <p:sp>
        <p:nvSpPr>
          <p:cNvPr id="47" name="Text 45"/>
          <p:cNvSpPr txBox="1"/>
          <p:nvPr/>
        </p:nvSpPr>
        <p:spPr>
          <a:xfrm>
            <a:off x="8088711" y="3758094"/>
            <a:ext cx="1443809" cy="212301"/>
          </a:xfrm>
          <a:prstGeom prst="rect">
            <a:avLst/>
          </a:prstGeom>
          <a:noFill/>
          <a:ln/>
        </p:spPr>
        <p:txBody>
          <a:bodyPr wrap="square" lIns="0" tIns="0" rIns="0" bIns="0" rtlCol="0" anchor="ctr"/>
          <a:lstStyle/>
          <a:p>
            <a:pPr algn="ctr" indent="0" marL="0">
              <a:lnSpc>
                <a:spcPct val="116000"/>
              </a:lnSpc>
              <a:buNone/>
            </a:pPr>
            <a:r>
              <a:rPr lang="en-US" sz="1441" dirty="0">
                <a:solidFill>
                  <a:srgbClr val="1F2937"/>
                </a:solidFill>
                <a:latin typeface="Arial" pitchFamily="34" charset="0"/>
                <a:ea typeface="Arial" pitchFamily="34" charset="-122"/>
                <a:cs typeface="Arial" pitchFamily="34" charset="-120"/>
              </a:rPr>
              <a:t>Scores, tokens</a:t>
            </a:r>
            <a:endParaRPr lang="en-US" sz="1441" dirty="0"/>
          </a:p>
        </p:txBody>
      </p:sp>
      <p:sp>
        <p:nvSpPr>
          <p:cNvPr id="48" name="Text 46"/>
          <p:cNvSpPr txBox="1"/>
          <p:nvPr/>
        </p:nvSpPr>
        <p:spPr>
          <a:xfrm>
            <a:off x="8088711" y="3970395"/>
            <a:ext cx="1443809" cy="212301"/>
          </a:xfrm>
          <a:prstGeom prst="rect">
            <a:avLst/>
          </a:prstGeom>
          <a:noFill/>
          <a:ln/>
        </p:spPr>
        <p:txBody>
          <a:bodyPr wrap="square" lIns="0" tIns="0" rIns="0" bIns="0" rtlCol="0" anchor="ctr"/>
          <a:lstStyle/>
          <a:p>
            <a:pPr algn="ctr" indent="0" marL="0">
              <a:lnSpc>
                <a:spcPct val="116000"/>
              </a:lnSpc>
              <a:buNone/>
            </a:pPr>
            <a:r>
              <a:rPr lang="en-US" sz="1441" dirty="0">
                <a:solidFill>
                  <a:srgbClr val="1F2937"/>
                </a:solidFill>
                <a:latin typeface="Arial" pitchFamily="34" charset="0"/>
                <a:ea typeface="Arial" pitchFamily="34" charset="-122"/>
                <a:cs typeface="Arial" pitchFamily="34" charset="-120"/>
              </a:rPr>
              <a:t>and seconds</a:t>
            </a:r>
            <a:endParaRPr lang="en-US" sz="1441" dirty="0"/>
          </a:p>
        </p:txBody>
      </p:sp>
      <p:sp>
        <p:nvSpPr>
          <p:cNvPr id="49" name="Text 47"/>
          <p:cNvSpPr txBox="1"/>
          <p:nvPr/>
        </p:nvSpPr>
        <p:spPr>
          <a:xfrm>
            <a:off x="8050582" y="4243702"/>
            <a:ext cx="1520066" cy="212301"/>
          </a:xfrm>
          <a:prstGeom prst="rect">
            <a:avLst/>
          </a:prstGeom>
          <a:noFill/>
          <a:ln/>
        </p:spPr>
        <p:txBody>
          <a:bodyPr wrap="square" lIns="0" tIns="0" rIns="0" bIns="0" rtlCol="0" anchor="ctr"/>
          <a:lstStyle/>
          <a:p>
            <a:pPr algn="ctr" indent="0" marL="0">
              <a:lnSpc>
                <a:spcPct val="116000"/>
              </a:lnSpc>
              <a:buNone/>
            </a:pPr>
            <a:r>
              <a:rPr lang="en-US" sz="1441" dirty="0">
                <a:solidFill>
                  <a:srgbClr val="0F766E"/>
                </a:solidFill>
                <a:latin typeface="Arial" pitchFamily="34" charset="0"/>
                <a:ea typeface="Arial" pitchFamily="34" charset="-122"/>
                <a:cs typeface="Arial" pitchFamily="34" charset="-120"/>
              </a:rPr>
              <a:t>evaluate</a:t>
            </a:r>
            <a:endParaRPr lang="en-US" sz="1441" dirty="0"/>
          </a:p>
        </p:txBody>
      </p:sp>
      <p:sp>
        <p:nvSpPr>
          <p:cNvPr id="50" name="Shape 48"/>
          <p:cNvSpPr/>
          <p:nvPr/>
        </p:nvSpPr>
        <p:spPr>
          <a:xfrm>
            <a:off x="9837549" y="2939089"/>
            <a:ext cx="1565821" cy="1799677"/>
          </a:xfrm>
          <a:prstGeom prst="roundRect">
            <a:avLst>
              <a:gd name="adj" fmla="val 4672"/>
            </a:avLst>
          </a:prstGeom>
          <a:solidFill>
            <a:srgbClr val="F9EAF4"/>
          </a:solidFill>
          <a:ln w="15240">
            <a:solidFill>
              <a:srgbClr val="CC79A7"/>
            </a:solidFill>
            <a:prstDash val="solid"/>
          </a:ln>
        </p:spPr>
      </p:sp>
      <p:sp>
        <p:nvSpPr>
          <p:cNvPr id="51" name="Text 49"/>
          <p:cNvSpPr txBox="1"/>
          <p:nvPr/>
        </p:nvSpPr>
        <p:spPr>
          <a:xfrm>
            <a:off x="9898555" y="3336848"/>
            <a:ext cx="1443809" cy="229993"/>
          </a:xfrm>
          <a:prstGeom prst="rect">
            <a:avLst/>
          </a:prstGeom>
          <a:noFill/>
          <a:ln/>
        </p:spPr>
        <p:txBody>
          <a:bodyPr wrap="square" lIns="0" tIns="0" rIns="0" bIns="0" rtlCol="0" anchor="ctr"/>
          <a:lstStyle/>
          <a:p>
            <a:pPr algn="ctr" indent="0" marL="0">
              <a:lnSpc>
                <a:spcPct val="116000"/>
              </a:lnSpc>
              <a:buNone/>
            </a:pPr>
            <a:r>
              <a:rPr lang="en-US" sz="1561" b="1" dirty="0">
                <a:solidFill>
                  <a:srgbClr val="1E1B4B"/>
                </a:solidFill>
                <a:latin typeface="Arial" pitchFamily="34" charset="0"/>
                <a:ea typeface="Arial" pitchFamily="34" charset="-122"/>
                <a:cs typeface="Arial" pitchFamily="34" charset="-120"/>
              </a:rPr>
              <a:t>Review errors</a:t>
            </a:r>
            <a:endParaRPr lang="en-US" sz="1561" dirty="0"/>
          </a:p>
        </p:txBody>
      </p:sp>
      <p:sp>
        <p:nvSpPr>
          <p:cNvPr id="52" name="Text 50"/>
          <p:cNvSpPr txBox="1"/>
          <p:nvPr/>
        </p:nvSpPr>
        <p:spPr>
          <a:xfrm>
            <a:off x="9898555" y="3643098"/>
            <a:ext cx="1443809" cy="212301"/>
          </a:xfrm>
          <a:prstGeom prst="rect">
            <a:avLst/>
          </a:prstGeom>
          <a:noFill/>
          <a:ln/>
        </p:spPr>
        <p:txBody>
          <a:bodyPr wrap="square" lIns="0" tIns="0" rIns="0" bIns="0" rtlCol="0" anchor="ctr"/>
          <a:lstStyle/>
          <a:p>
            <a:pPr algn="ctr" indent="0" marL="0">
              <a:lnSpc>
                <a:spcPct val="116000"/>
              </a:lnSpc>
              <a:buNone/>
            </a:pPr>
            <a:r>
              <a:rPr lang="en-US" sz="1441" dirty="0">
                <a:solidFill>
                  <a:srgbClr val="1F2937"/>
                </a:solidFill>
                <a:latin typeface="Arial" pitchFamily="34" charset="0"/>
                <a:ea typeface="Arial" pitchFamily="34" charset="-122"/>
                <a:cs typeface="Arial" pitchFamily="34" charset="-120"/>
              </a:rPr>
              <a:t>Read wrong and</a:t>
            </a:r>
            <a:endParaRPr lang="en-US" sz="1441" dirty="0"/>
          </a:p>
        </p:txBody>
      </p:sp>
      <p:sp>
        <p:nvSpPr>
          <p:cNvPr id="53" name="Text 51"/>
          <p:cNvSpPr txBox="1"/>
          <p:nvPr/>
        </p:nvSpPr>
        <p:spPr>
          <a:xfrm>
            <a:off x="9898555" y="3855399"/>
            <a:ext cx="1443809" cy="212301"/>
          </a:xfrm>
          <a:prstGeom prst="rect">
            <a:avLst/>
          </a:prstGeom>
          <a:noFill/>
          <a:ln/>
        </p:spPr>
        <p:txBody>
          <a:bodyPr wrap="square" lIns="0" tIns="0" rIns="0" bIns="0" rtlCol="0" anchor="ctr"/>
          <a:lstStyle/>
          <a:p>
            <a:pPr algn="ctr" indent="0" marL="0">
              <a:lnSpc>
                <a:spcPct val="116000"/>
              </a:lnSpc>
              <a:buNone/>
            </a:pPr>
            <a:r>
              <a:rPr lang="en-US" sz="1441" dirty="0">
                <a:solidFill>
                  <a:srgbClr val="1F2937"/>
                </a:solidFill>
                <a:latin typeface="Arial" pitchFamily="34" charset="0"/>
                <a:ea typeface="Arial" pitchFamily="34" charset="-122"/>
                <a:cs typeface="Arial" pitchFamily="34" charset="-120"/>
              </a:rPr>
              <a:t>unparsed replies</a:t>
            </a:r>
            <a:endParaRPr lang="en-US" sz="1441" dirty="0"/>
          </a:p>
        </p:txBody>
      </p:sp>
      <p:sp>
        <p:nvSpPr>
          <p:cNvPr id="54" name="Text 52"/>
          <p:cNvSpPr txBox="1"/>
          <p:nvPr/>
        </p:nvSpPr>
        <p:spPr>
          <a:xfrm>
            <a:off x="9860427" y="4128706"/>
            <a:ext cx="1520066" cy="212301"/>
          </a:xfrm>
          <a:prstGeom prst="rect">
            <a:avLst/>
          </a:prstGeom>
          <a:noFill/>
          <a:ln/>
        </p:spPr>
        <p:txBody>
          <a:bodyPr wrap="square" lIns="0" tIns="0" rIns="0" bIns="0" rtlCol="0" anchor="ctr"/>
          <a:lstStyle/>
          <a:p>
            <a:pPr algn="ctr" indent="0" marL="0">
              <a:lnSpc>
                <a:spcPct val="116000"/>
              </a:lnSpc>
              <a:buNone/>
            </a:pPr>
            <a:r>
              <a:rPr lang="en-US" sz="1441" dirty="0">
                <a:solidFill>
                  <a:srgbClr val="0F766E"/>
                </a:solidFill>
                <a:latin typeface="Arial" pitchFamily="34" charset="0"/>
                <a:ea typeface="Arial" pitchFamily="34" charset="-122"/>
                <a:cs typeface="Arial" pitchFamily="34" charset="-120"/>
              </a:rPr>
              <a:t>errors</a:t>
            </a:r>
            <a:endParaRPr lang="en-US" sz="1441" dirty="0"/>
          </a:p>
        </p:txBody>
      </p:sp>
      <p:sp>
        <p:nvSpPr>
          <p:cNvPr id="55" name="Shape 53"/>
          <p:cNvSpPr/>
          <p:nvPr/>
        </p:nvSpPr>
        <p:spPr>
          <a:xfrm>
            <a:off x="788325" y="5630979"/>
            <a:ext cx="198270" cy="198270"/>
          </a:xfrm>
          <a:prstGeom prst="roundRect">
            <a:avLst>
              <a:gd name="adj" fmla="val 36895"/>
            </a:avLst>
          </a:prstGeom>
          <a:solidFill>
            <a:srgbClr val="E4F2FB"/>
          </a:solidFill>
          <a:ln w="15240">
            <a:solidFill>
              <a:srgbClr val="0072B2"/>
            </a:solidFill>
            <a:prstDash val="solid"/>
          </a:ln>
        </p:spPr>
      </p:sp>
      <p:sp>
        <p:nvSpPr>
          <p:cNvPr id="56" name="Text 54"/>
          <p:cNvSpPr txBox="1"/>
          <p:nvPr/>
        </p:nvSpPr>
        <p:spPr>
          <a:xfrm>
            <a:off x="1047600" y="5608101"/>
            <a:ext cx="873059" cy="244024"/>
          </a:xfrm>
          <a:prstGeom prst="rect">
            <a:avLst/>
          </a:prstGeom>
          <a:noFill/>
          <a:ln/>
        </p:spPr>
        <p:txBody>
          <a:bodyPr wrap="square" lIns="0" tIns="0" rIns="0" bIns="0" rtlCol="0" anchor="ctr"/>
          <a:lstStyle/>
          <a:p>
            <a:pPr algn="l" indent="0" marL="0">
              <a:lnSpc>
                <a:spcPct val="116000"/>
              </a:lnSpc>
              <a:buNone/>
            </a:pPr>
            <a:r>
              <a:rPr lang="en-US" sz="1441" dirty="0">
                <a:solidFill>
                  <a:srgbClr val="1F2937"/>
                </a:solidFill>
                <a:latin typeface="Arial" pitchFamily="34" charset="0"/>
                <a:ea typeface="Arial" pitchFamily="34" charset="-122"/>
                <a:cs typeface="Arial" pitchFamily="34" charset="-120"/>
              </a:rPr>
              <a:t>Input data</a:t>
            </a:r>
            <a:endParaRPr lang="en-US" sz="1441" dirty="0"/>
          </a:p>
        </p:txBody>
      </p:sp>
      <p:sp>
        <p:nvSpPr>
          <p:cNvPr id="57" name="Shape 55"/>
          <p:cNvSpPr/>
          <p:nvPr/>
        </p:nvSpPr>
        <p:spPr>
          <a:xfrm>
            <a:off x="2118929" y="5630979"/>
            <a:ext cx="198270" cy="198270"/>
          </a:xfrm>
          <a:prstGeom prst="rect">
            <a:avLst/>
          </a:prstGeom>
          <a:solidFill>
            <a:srgbClr val="E5F7EF"/>
          </a:solidFill>
          <a:ln w="15240">
            <a:solidFill>
              <a:srgbClr val="009E73"/>
            </a:solidFill>
            <a:prstDash val="solid"/>
          </a:ln>
        </p:spPr>
      </p:sp>
      <p:sp>
        <p:nvSpPr>
          <p:cNvPr id="58" name="Text 56"/>
          <p:cNvSpPr txBox="1"/>
          <p:nvPr/>
        </p:nvSpPr>
        <p:spPr>
          <a:xfrm>
            <a:off x="2378205" y="5608101"/>
            <a:ext cx="546304" cy="244024"/>
          </a:xfrm>
          <a:prstGeom prst="rect">
            <a:avLst/>
          </a:prstGeom>
          <a:noFill/>
          <a:ln/>
        </p:spPr>
        <p:txBody>
          <a:bodyPr wrap="square" lIns="0" tIns="0" rIns="0" bIns="0" rtlCol="0" anchor="ctr"/>
          <a:lstStyle/>
          <a:p>
            <a:pPr algn="l" indent="0" marL="0">
              <a:lnSpc>
                <a:spcPct val="116000"/>
              </a:lnSpc>
              <a:buNone/>
            </a:pPr>
            <a:r>
              <a:rPr lang="en-US" sz="1441" dirty="0">
                <a:solidFill>
                  <a:srgbClr val="1F2937"/>
                </a:solidFill>
                <a:latin typeface="Arial" pitchFamily="34" charset="0"/>
                <a:ea typeface="Arial" pitchFamily="34" charset="-122"/>
                <a:cs typeface="Arial" pitchFamily="34" charset="-120"/>
              </a:rPr>
              <a:t>Model</a:t>
            </a:r>
            <a:endParaRPr lang="en-US" sz="1441" dirty="0"/>
          </a:p>
        </p:txBody>
      </p:sp>
      <p:sp>
        <p:nvSpPr>
          <p:cNvPr id="59" name="Shape 57"/>
          <p:cNvSpPr/>
          <p:nvPr/>
        </p:nvSpPr>
        <p:spPr>
          <a:xfrm>
            <a:off x="3122778" y="5630979"/>
            <a:ext cx="198270" cy="198270"/>
          </a:xfrm>
          <a:prstGeom prst="roundRect">
            <a:avLst>
              <a:gd name="adj" fmla="val 36895"/>
            </a:avLst>
          </a:prstGeom>
          <a:solidFill>
            <a:srgbClr val="FFF0E6"/>
          </a:solidFill>
          <a:ln w="15240">
            <a:solidFill>
              <a:srgbClr val="D55E00"/>
            </a:solidFill>
            <a:prstDash val="solid"/>
          </a:ln>
        </p:spPr>
      </p:sp>
      <p:sp>
        <p:nvSpPr>
          <p:cNvPr id="60" name="Text 58"/>
          <p:cNvSpPr txBox="1"/>
          <p:nvPr/>
        </p:nvSpPr>
        <p:spPr>
          <a:xfrm>
            <a:off x="3382054" y="5608101"/>
            <a:ext cx="1167803" cy="244024"/>
          </a:xfrm>
          <a:prstGeom prst="rect">
            <a:avLst/>
          </a:prstGeom>
          <a:noFill/>
          <a:ln/>
        </p:spPr>
        <p:txBody>
          <a:bodyPr wrap="square" lIns="0" tIns="0" rIns="0" bIns="0" rtlCol="0" anchor="ctr"/>
          <a:lstStyle/>
          <a:p>
            <a:pPr algn="l" indent="0" marL="0">
              <a:lnSpc>
                <a:spcPct val="116000"/>
              </a:lnSpc>
              <a:buNone/>
            </a:pPr>
            <a:r>
              <a:rPr lang="en-US" sz="1441" dirty="0">
                <a:solidFill>
                  <a:srgbClr val="1F2937"/>
                </a:solidFill>
                <a:latin typeface="Arial" pitchFamily="34" charset="0"/>
                <a:ea typeface="Arial" pitchFamily="34" charset="-122"/>
                <a:cs typeface="Arial" pitchFamily="34" charset="-120"/>
              </a:rPr>
              <a:t>Loss / update</a:t>
            </a:r>
            <a:endParaRPr lang="en-US" sz="1441" dirty="0"/>
          </a:p>
        </p:txBody>
      </p:sp>
      <p:sp>
        <p:nvSpPr>
          <p:cNvPr id="61" name="Shape 59"/>
          <p:cNvSpPr/>
          <p:nvPr/>
        </p:nvSpPr>
        <p:spPr>
          <a:xfrm>
            <a:off x="4748126" y="5630979"/>
            <a:ext cx="198270" cy="198270"/>
          </a:xfrm>
          <a:prstGeom prst="roundRect">
            <a:avLst>
              <a:gd name="adj" fmla="val 36895"/>
            </a:avLst>
          </a:prstGeom>
          <a:solidFill>
            <a:srgbClr val="F9EAF4"/>
          </a:solidFill>
          <a:ln w="15240">
            <a:solidFill>
              <a:srgbClr val="CC79A7"/>
            </a:solidFill>
            <a:prstDash val="solid"/>
          </a:ln>
        </p:spPr>
      </p:sp>
      <p:sp>
        <p:nvSpPr>
          <p:cNvPr id="62" name="Text 60"/>
          <p:cNvSpPr txBox="1"/>
          <p:nvPr/>
        </p:nvSpPr>
        <p:spPr>
          <a:xfrm>
            <a:off x="5007401" y="5608101"/>
            <a:ext cx="599153" cy="244024"/>
          </a:xfrm>
          <a:prstGeom prst="rect">
            <a:avLst/>
          </a:prstGeom>
          <a:noFill/>
          <a:ln/>
        </p:spPr>
        <p:txBody>
          <a:bodyPr wrap="square" lIns="0" tIns="0" rIns="0" bIns="0" rtlCol="0" anchor="ctr"/>
          <a:lstStyle/>
          <a:p>
            <a:pPr algn="l" indent="0" marL="0">
              <a:lnSpc>
                <a:spcPct val="116000"/>
              </a:lnSpc>
              <a:buNone/>
            </a:pPr>
            <a:r>
              <a:rPr lang="en-US" sz="1441" dirty="0">
                <a:solidFill>
                  <a:srgbClr val="1F2937"/>
                </a:solidFill>
                <a:latin typeface="Arial" pitchFamily="34" charset="0"/>
                <a:ea typeface="Arial" pitchFamily="34" charset="-122"/>
                <a:cs typeface="Arial" pitchFamily="34" charset="-120"/>
              </a:rPr>
              <a:t>Output</a:t>
            </a:r>
            <a:endParaRPr lang="en-US" sz="1441" dirty="0"/>
          </a:p>
        </p:txBody>
      </p:sp>
      <p:sp>
        <p:nvSpPr>
          <p:cNvPr id="63" name="Shape 61"/>
          <p:cNvSpPr/>
          <p:nvPr/>
        </p:nvSpPr>
        <p:spPr>
          <a:xfrm>
            <a:off x="5804824" y="5630979"/>
            <a:ext cx="198270" cy="198270"/>
          </a:xfrm>
          <a:prstGeom prst="rect">
            <a:avLst/>
          </a:prstGeom>
          <a:solidFill>
            <a:srgbClr val="F2F4F5"/>
          </a:solidFill>
          <a:ln w="15240">
            <a:solidFill>
              <a:srgbClr val="626B73"/>
            </a:solidFill>
            <a:prstDash val="solid"/>
          </a:ln>
        </p:spPr>
      </p:sp>
      <p:sp>
        <p:nvSpPr>
          <p:cNvPr id="64" name="Text 62"/>
          <p:cNvSpPr txBox="1"/>
          <p:nvPr/>
        </p:nvSpPr>
        <p:spPr>
          <a:xfrm>
            <a:off x="6064099" y="5608101"/>
            <a:ext cx="1104346" cy="244024"/>
          </a:xfrm>
          <a:prstGeom prst="rect">
            <a:avLst/>
          </a:prstGeom>
          <a:noFill/>
          <a:ln/>
        </p:spPr>
        <p:txBody>
          <a:bodyPr wrap="square" lIns="0" tIns="0" rIns="0" bIns="0" rtlCol="0" anchor="ctr"/>
          <a:lstStyle/>
          <a:p>
            <a:pPr algn="l" indent="0" marL="0">
              <a:lnSpc>
                <a:spcPct val="116000"/>
              </a:lnSpc>
              <a:buNone/>
            </a:pPr>
            <a:r>
              <a:rPr lang="en-US" sz="1441" dirty="0">
                <a:solidFill>
                  <a:srgbClr val="1F2937"/>
                </a:solidFill>
                <a:latin typeface="Arial" pitchFamily="34" charset="0"/>
                <a:ea typeface="Arial" pitchFamily="34" charset="-122"/>
                <a:cs typeface="Arial" pitchFamily="34" charset="-120"/>
              </a:rPr>
              <a:t>Human / tool</a:t>
            </a:r>
            <a:endParaRPr lang="en-US" sz="1441" dirty="0"/>
          </a:p>
        </p:txBody>
      </p:sp>
      <p:sp>
        <p:nvSpPr>
          <p:cNvPr id="65" name="Shape 63"/>
          <p:cNvSpPr/>
          <p:nvPr/>
        </p:nvSpPr>
        <p:spPr>
          <a:xfrm>
            <a:off x="7366714" y="5730113"/>
            <a:ext cx="335533" cy="0"/>
          </a:xfrm>
          <a:prstGeom prst="line">
            <a:avLst/>
          </a:prstGeom>
          <a:noFill/>
          <a:ln w="22860">
            <a:solidFill>
              <a:srgbClr val="009E73"/>
            </a:solidFill>
            <a:prstDash val="solid"/>
            <a:tailEnd type="triangle"/>
          </a:ln>
        </p:spPr>
      </p:sp>
      <p:sp>
        <p:nvSpPr>
          <p:cNvPr id="66" name="Text 64"/>
          <p:cNvSpPr txBox="1"/>
          <p:nvPr/>
        </p:nvSpPr>
        <p:spPr>
          <a:xfrm>
            <a:off x="7763253" y="5608101"/>
            <a:ext cx="788576" cy="244024"/>
          </a:xfrm>
          <a:prstGeom prst="rect">
            <a:avLst/>
          </a:prstGeom>
          <a:noFill/>
          <a:ln/>
        </p:spPr>
        <p:txBody>
          <a:bodyPr wrap="square" lIns="0" tIns="0" rIns="0" bIns="0" rtlCol="0" anchor="ctr"/>
          <a:lstStyle/>
          <a:p>
            <a:pPr algn="l" indent="0" marL="0">
              <a:lnSpc>
                <a:spcPct val="116000"/>
              </a:lnSpc>
              <a:buNone/>
            </a:pPr>
            <a:r>
              <a:rPr lang="en-US" sz="1441" dirty="0">
                <a:solidFill>
                  <a:srgbClr val="1F2937"/>
                </a:solidFill>
                <a:latin typeface="Arial" pitchFamily="34" charset="0"/>
                <a:ea typeface="Arial" pitchFamily="34" charset="-122"/>
                <a:cs typeface="Arial" pitchFamily="34" charset="-120"/>
              </a:rPr>
              <a:t>data flow</a:t>
            </a:r>
            <a:endParaRPr lang="en-US" sz="1441" dirty="0"/>
          </a:p>
        </p:txBody>
      </p:sp>
      <p:sp>
        <p:nvSpPr>
          <p:cNvPr id="67" name="Shape 65"/>
          <p:cNvSpPr/>
          <p:nvPr/>
        </p:nvSpPr>
        <p:spPr>
          <a:xfrm>
            <a:off x="8750099" y="5730113"/>
            <a:ext cx="335533" cy="0"/>
          </a:xfrm>
          <a:prstGeom prst="line">
            <a:avLst/>
          </a:prstGeom>
          <a:noFill/>
          <a:ln w="22860">
            <a:solidFill>
              <a:srgbClr val="D55E00"/>
            </a:solidFill>
            <a:prstDash val="dash"/>
            <a:tailEnd type="triangle"/>
          </a:ln>
        </p:spPr>
      </p:sp>
      <p:sp>
        <p:nvSpPr>
          <p:cNvPr id="68" name="Text 66"/>
          <p:cNvSpPr txBox="1"/>
          <p:nvPr/>
        </p:nvSpPr>
        <p:spPr>
          <a:xfrm>
            <a:off x="9146638" y="5608101"/>
            <a:ext cx="1494180" cy="244024"/>
          </a:xfrm>
          <a:prstGeom prst="rect">
            <a:avLst/>
          </a:prstGeom>
          <a:noFill/>
          <a:ln/>
        </p:spPr>
        <p:txBody>
          <a:bodyPr wrap="square" lIns="0" tIns="0" rIns="0" bIns="0" rtlCol="0" anchor="ctr"/>
          <a:lstStyle/>
          <a:p>
            <a:pPr algn="l" indent="0" marL="0">
              <a:lnSpc>
                <a:spcPct val="116000"/>
              </a:lnSpc>
              <a:buNone/>
            </a:pPr>
            <a:r>
              <a:rPr lang="en-US" sz="1441" dirty="0">
                <a:solidFill>
                  <a:srgbClr val="1F2937"/>
                </a:solidFill>
                <a:latin typeface="Arial" pitchFamily="34" charset="0"/>
                <a:ea typeface="Arial" pitchFamily="34" charset="-122"/>
                <a:cs typeface="Arial" pitchFamily="34" charset="-120"/>
              </a:rPr>
              <a:t>feedback / repeat</a:t>
            </a:r>
            <a:endParaRPr lang="en-US" sz="1441" dirty="0"/>
          </a:p>
        </p:txBody>
      </p:sp>
      <p:sp>
        <p:nvSpPr>
          <p:cNvPr id="69" name="Text 67"/>
          <p:cNvSpPr txBox="1"/>
          <p:nvPr/>
        </p:nvSpPr>
        <p:spPr>
          <a:xfrm>
            <a:off x="548640" y="5925312"/>
            <a:ext cx="11094415" cy="475488"/>
          </a:xfrm>
          <a:prstGeom prst="rect">
            <a:avLst/>
          </a:prstGeom>
          <a:noFill/>
          <a:ln/>
        </p:spPr>
        <p:txBody>
          <a:bodyPr wrap="square" lIns="0" tIns="0" rIns="0" bIns="0" rtlCol="0" anchor="ctr"/>
          <a:lstStyle/>
          <a:p>
            <a:pPr indent="0" marL="0">
              <a:buNone/>
            </a:pPr>
            <a:r>
              <a:rPr lang="en-US" sz="1600" dirty="0">
                <a:solidFill>
                  <a:srgbClr val="1F2937"/>
                </a:solidFill>
                <a:latin typeface="Calibri" pitchFamily="34" charset="0"/>
                <a:ea typeface="Calibri" pitchFamily="34" charset="-122"/>
                <a:cs typeface="Calibri" pitchFamily="34" charset="-120"/>
              </a:rPr>
              <a:t>Check: If a prompt improves from 32 to 34 correct answers out of 40, how many examples account for the gain?</a:t>
            </a:r>
            <a:endParaRPr lang="en-US" sz="16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07  ·  PROMPT ENGINEERING AND EVALUATION</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8</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Three ways to adapt a model</a:t>
            </a:r>
            <a:endParaRPr lang="en-US" sz="3200" dirty="0"/>
          </a:p>
        </p:txBody>
      </p:sp>
      <p:sp>
        <p:nvSpPr>
          <p:cNvPr id="6" name="Shape 4"/>
          <p:cNvSpPr/>
          <p:nvPr/>
        </p:nvSpPr>
        <p:spPr>
          <a:xfrm>
            <a:off x="548640" y="1481328"/>
            <a:ext cx="3515258" cy="566928"/>
          </a:xfrm>
          <a:prstGeom prst="roundRect">
            <a:avLst>
              <a:gd name="adj" fmla="val 16129"/>
            </a:avLst>
          </a:prstGeom>
          <a:solidFill>
            <a:srgbClr val="4F46E5"/>
          </a:solidFill>
          <a:ln w="12700">
            <a:solidFill>
              <a:srgbClr val="4F46E5"/>
            </a:solidFill>
            <a:prstDash val="solid"/>
          </a:ln>
        </p:spPr>
      </p:sp>
      <p:pic>
        <p:nvPicPr>
          <p:cNvPr id="7" name="Image 0" descr="preencoded.png">    </p:cNvPr>
          <p:cNvPicPr>
            <a:picLocks noChangeAspect="1"/>
          </p:cNvPicPr>
          <p:nvPr/>
        </p:nvPicPr>
        <p:blipFill>
          <a:blip r:embed="rId1"/>
          <a:stretch>
            <a:fillRect/>
          </a:stretch>
        </p:blipFill>
        <p:spPr>
          <a:xfrm>
            <a:off x="713232" y="1591056"/>
            <a:ext cx="347472" cy="347472"/>
          </a:xfrm>
          <a:prstGeom prst="rect">
            <a:avLst/>
          </a:prstGeom>
        </p:spPr>
      </p:pic>
      <p:sp>
        <p:nvSpPr>
          <p:cNvPr id="8" name="Text 5"/>
          <p:cNvSpPr txBox="1"/>
          <p:nvPr/>
        </p:nvSpPr>
        <p:spPr>
          <a:xfrm>
            <a:off x="1143000" y="1481328"/>
            <a:ext cx="2783738" cy="566928"/>
          </a:xfrm>
          <a:prstGeom prst="rect">
            <a:avLst/>
          </a:prstGeom>
          <a:noFill/>
          <a:ln/>
        </p:spPr>
        <p:txBody>
          <a:bodyPr wrap="square" lIns="50800" tIns="50800" rIns="50800" bIns="5080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Pre-training</a:t>
            </a:r>
            <a:endParaRPr lang="en-US" sz="1800" dirty="0"/>
          </a:p>
        </p:txBody>
      </p:sp>
      <p:sp>
        <p:nvSpPr>
          <p:cNvPr id="9" name="Shape 6"/>
          <p:cNvSpPr/>
          <p:nvPr/>
        </p:nvSpPr>
        <p:spPr>
          <a:xfrm>
            <a:off x="548640" y="2167128"/>
            <a:ext cx="3515258" cy="3182112"/>
          </a:xfrm>
          <a:prstGeom prst="roundRect">
            <a:avLst>
              <a:gd name="adj" fmla="val 2874"/>
            </a:avLst>
          </a:prstGeom>
          <a:solidFill>
            <a:srgbClr val="EEF0FF"/>
          </a:solidFill>
          <a:ln w="12700">
            <a:solidFill>
              <a:srgbClr val="EEF0FF"/>
            </a:solidFill>
            <a:prstDash val="solid"/>
          </a:ln>
        </p:spPr>
      </p:sp>
      <p:sp>
        <p:nvSpPr>
          <p:cNvPr id="10" name="Text 7"/>
          <p:cNvSpPr txBox="1"/>
          <p:nvPr/>
        </p:nvSpPr>
        <p:spPr>
          <a:xfrm>
            <a:off x="658368" y="2258568"/>
            <a:ext cx="3295802" cy="3044952"/>
          </a:xfrm>
          <a:prstGeom prst="rect">
            <a:avLst/>
          </a:prstGeom>
          <a:noFill/>
          <a:ln/>
        </p:spPr>
        <p:txBody>
          <a:bodyPr wrap="square" lIns="50800" tIns="50800" rIns="50800" bIns="50800" rtlCol="0" anchor="t"/>
          <a:lstStyle/>
          <a:p>
            <a:pPr marL="254000" indent="-254000">
              <a:spcAft>
                <a:spcPts val="800"/>
              </a:spcAft>
              <a:buSzPct val="100000"/>
              <a:buChar char="●"/>
            </a:pPr>
            <a:r>
              <a:rPr lang="en-US" sz="2300" dirty="0">
                <a:solidFill>
                  <a:srgbClr val="1F2937"/>
                </a:solidFill>
                <a:latin typeface="Calibri" pitchFamily="34" charset="0"/>
                <a:ea typeface="Calibri" pitchFamily="34" charset="-122"/>
                <a:cs typeface="Calibri" pitchFamily="34" charset="-120"/>
              </a:rPr>
              <a:t>Learns general language patterns from huge text</a:t>
            </a:r>
            <a:endParaRPr lang="en-US" sz="2300" dirty="0"/>
          </a:p>
          <a:p>
            <a:pPr marL="254000" indent="-254000">
              <a:spcAft>
                <a:spcPts val="800"/>
              </a:spcAft>
              <a:buSzPct val="100000"/>
              <a:buChar char="●"/>
            </a:pPr>
            <a:r>
              <a:rPr lang="en-US" sz="2300" dirty="0">
                <a:solidFill>
                  <a:srgbClr val="1F2937"/>
                </a:solidFill>
                <a:latin typeface="Calibri" pitchFamily="34" charset="0"/>
                <a:ea typeface="Calibri" pitchFamily="34" charset="-122"/>
                <a:cs typeface="Calibri" pitchFamily="34" charset="-120"/>
              </a:rPr>
              <a:t>Updates every weight; weeks of GPU time</a:t>
            </a:r>
            <a:endParaRPr lang="en-US" sz="2300" dirty="0"/>
          </a:p>
          <a:p>
            <a:pPr marL="254000" indent="-254000">
              <a:spcAft>
                <a:spcPts val="800"/>
              </a:spcAft>
              <a:buSzPct val="100000"/>
              <a:buChar char="●"/>
            </a:pPr>
            <a:r>
              <a:rPr lang="en-US" sz="2300" dirty="0">
                <a:solidFill>
                  <a:srgbClr val="1F2937"/>
                </a:solidFill>
                <a:latin typeface="Calibri" pitchFamily="34" charset="0"/>
                <a:ea typeface="Calibri" pitchFamily="34" charset="-122"/>
                <a:cs typeface="Calibri" pitchFamily="34" charset="-120"/>
              </a:rPr>
              <a:t>Example: building Qwen from web text</a:t>
            </a:r>
            <a:endParaRPr lang="en-US" sz="2300" dirty="0"/>
          </a:p>
        </p:txBody>
      </p:sp>
      <p:sp>
        <p:nvSpPr>
          <p:cNvPr id="11" name="Shape 8"/>
          <p:cNvSpPr/>
          <p:nvPr/>
        </p:nvSpPr>
        <p:spPr>
          <a:xfrm>
            <a:off x="4338218" y="1481328"/>
            <a:ext cx="3515258" cy="566928"/>
          </a:xfrm>
          <a:prstGeom prst="roundRect">
            <a:avLst>
              <a:gd name="adj" fmla="val 16129"/>
            </a:avLst>
          </a:prstGeom>
          <a:solidFill>
            <a:srgbClr val="0F766E"/>
          </a:solidFill>
          <a:ln w="12700">
            <a:solidFill>
              <a:srgbClr val="0F766E"/>
            </a:solidFill>
            <a:prstDash val="solid"/>
          </a:ln>
        </p:spPr>
      </p:sp>
      <p:pic>
        <p:nvPicPr>
          <p:cNvPr id="12" name="Image 1" descr="preencoded.png">    </p:cNvPr>
          <p:cNvPicPr>
            <a:picLocks noChangeAspect="1"/>
          </p:cNvPicPr>
          <p:nvPr/>
        </p:nvPicPr>
        <p:blipFill>
          <a:blip r:embed="rId2"/>
          <a:stretch>
            <a:fillRect/>
          </a:stretch>
        </p:blipFill>
        <p:spPr>
          <a:xfrm>
            <a:off x="4502810" y="1591056"/>
            <a:ext cx="347472" cy="347472"/>
          </a:xfrm>
          <a:prstGeom prst="rect">
            <a:avLst/>
          </a:prstGeom>
        </p:spPr>
      </p:pic>
      <p:sp>
        <p:nvSpPr>
          <p:cNvPr id="13" name="Text 9"/>
          <p:cNvSpPr txBox="1"/>
          <p:nvPr/>
        </p:nvSpPr>
        <p:spPr>
          <a:xfrm>
            <a:off x="4932578" y="1481328"/>
            <a:ext cx="2783738" cy="566928"/>
          </a:xfrm>
          <a:prstGeom prst="rect">
            <a:avLst/>
          </a:prstGeom>
          <a:noFill/>
          <a:ln/>
        </p:spPr>
        <p:txBody>
          <a:bodyPr wrap="square" lIns="50800" tIns="50800" rIns="50800" bIns="5080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Fine-tuning</a:t>
            </a:r>
            <a:endParaRPr lang="en-US" sz="1800" dirty="0"/>
          </a:p>
        </p:txBody>
      </p:sp>
      <p:sp>
        <p:nvSpPr>
          <p:cNvPr id="14" name="Shape 10"/>
          <p:cNvSpPr/>
          <p:nvPr/>
        </p:nvSpPr>
        <p:spPr>
          <a:xfrm>
            <a:off x="4338218" y="2167128"/>
            <a:ext cx="3515258" cy="3182112"/>
          </a:xfrm>
          <a:prstGeom prst="roundRect">
            <a:avLst>
              <a:gd name="adj" fmla="val 2874"/>
            </a:avLst>
          </a:prstGeom>
          <a:solidFill>
            <a:srgbClr val="E6F4F1"/>
          </a:solidFill>
          <a:ln w="12700">
            <a:solidFill>
              <a:srgbClr val="E6F4F1"/>
            </a:solidFill>
            <a:prstDash val="solid"/>
          </a:ln>
        </p:spPr>
      </p:sp>
      <p:sp>
        <p:nvSpPr>
          <p:cNvPr id="15" name="Text 11"/>
          <p:cNvSpPr txBox="1"/>
          <p:nvPr/>
        </p:nvSpPr>
        <p:spPr>
          <a:xfrm>
            <a:off x="4447946" y="2258568"/>
            <a:ext cx="3295802" cy="3044952"/>
          </a:xfrm>
          <a:prstGeom prst="rect">
            <a:avLst/>
          </a:prstGeom>
          <a:noFill/>
          <a:ln/>
        </p:spPr>
        <p:txBody>
          <a:bodyPr wrap="square" lIns="50800" tIns="50800" rIns="50800" bIns="50800" rtlCol="0" anchor="t"/>
          <a:lstStyle/>
          <a:p>
            <a:pPr marL="254000" indent="-254000">
              <a:spcAft>
                <a:spcPts val="800"/>
              </a:spcAft>
              <a:buSzPct val="100000"/>
              <a:buChar char="●"/>
            </a:pPr>
            <a:r>
              <a:rPr lang="en-US" sz="2300" dirty="0">
                <a:solidFill>
                  <a:srgbClr val="1F2937"/>
                </a:solidFill>
                <a:latin typeface="Calibri" pitchFamily="34" charset="0"/>
                <a:ea typeface="Calibri" pitchFamily="34" charset="-122"/>
                <a:cs typeface="Calibri" pitchFamily="34" charset="-120"/>
              </a:rPr>
              <a:t>Learns from your task examples</a:t>
            </a:r>
            <a:endParaRPr lang="en-US" sz="2300" dirty="0"/>
          </a:p>
          <a:p>
            <a:pPr marL="254000" indent="-254000">
              <a:spcAft>
                <a:spcPts val="800"/>
              </a:spcAft>
              <a:buSzPct val="100000"/>
              <a:buChar char="●"/>
            </a:pPr>
            <a:r>
              <a:rPr lang="en-US" sz="2300" dirty="0">
                <a:solidFill>
                  <a:srgbClr val="1F2937"/>
                </a:solidFill>
                <a:latin typeface="Calibri" pitchFamily="34" charset="0"/>
                <a:ea typeface="Calibri" pitchFamily="34" charset="-122"/>
                <a:cs typeface="Calibri" pitchFamily="34" charset="-120"/>
              </a:rPr>
              <a:t>Updates some or all weights</a:t>
            </a:r>
            <a:endParaRPr lang="en-US" sz="2300" dirty="0"/>
          </a:p>
          <a:p>
            <a:pPr marL="254000" indent="-254000">
              <a:spcAft>
                <a:spcPts val="800"/>
              </a:spcAft>
              <a:buSzPct val="100000"/>
              <a:buChar char="●"/>
            </a:pPr>
            <a:r>
              <a:rPr lang="en-US" sz="2300" dirty="0">
                <a:solidFill>
                  <a:srgbClr val="1F2937"/>
                </a:solidFill>
                <a:latin typeface="Calibri" pitchFamily="34" charset="0"/>
                <a:ea typeface="Calibri" pitchFamily="34" charset="-122"/>
                <a:cs typeface="Calibri" pitchFamily="34" charset="-120"/>
              </a:rPr>
              <a:t>Example: 1,000 labelled support tickets (week 8)</a:t>
            </a:r>
            <a:endParaRPr lang="en-US" sz="2300" dirty="0"/>
          </a:p>
        </p:txBody>
      </p:sp>
      <p:sp>
        <p:nvSpPr>
          <p:cNvPr id="16" name="Shape 12"/>
          <p:cNvSpPr/>
          <p:nvPr/>
        </p:nvSpPr>
        <p:spPr>
          <a:xfrm>
            <a:off x="8127797" y="1481328"/>
            <a:ext cx="3515258" cy="566928"/>
          </a:xfrm>
          <a:prstGeom prst="roundRect">
            <a:avLst>
              <a:gd name="adj" fmla="val 16129"/>
            </a:avLst>
          </a:prstGeom>
          <a:solidFill>
            <a:srgbClr val="EA580C"/>
          </a:solidFill>
          <a:ln w="12700">
            <a:solidFill>
              <a:srgbClr val="EA580C"/>
            </a:solidFill>
            <a:prstDash val="solid"/>
          </a:ln>
        </p:spPr>
      </p:sp>
      <p:pic>
        <p:nvPicPr>
          <p:cNvPr id="17" name="Image 2" descr="preencoded.png">    </p:cNvPr>
          <p:cNvPicPr>
            <a:picLocks noChangeAspect="1"/>
          </p:cNvPicPr>
          <p:nvPr/>
        </p:nvPicPr>
        <p:blipFill>
          <a:blip r:embed="rId3"/>
          <a:stretch>
            <a:fillRect/>
          </a:stretch>
        </p:blipFill>
        <p:spPr>
          <a:xfrm>
            <a:off x="8292389" y="1591056"/>
            <a:ext cx="347472" cy="347472"/>
          </a:xfrm>
          <a:prstGeom prst="rect">
            <a:avLst/>
          </a:prstGeom>
        </p:spPr>
      </p:pic>
      <p:sp>
        <p:nvSpPr>
          <p:cNvPr id="18" name="Text 13"/>
          <p:cNvSpPr txBox="1"/>
          <p:nvPr/>
        </p:nvSpPr>
        <p:spPr>
          <a:xfrm>
            <a:off x="8722157" y="1481328"/>
            <a:ext cx="2783738" cy="566928"/>
          </a:xfrm>
          <a:prstGeom prst="rect">
            <a:avLst/>
          </a:prstGeom>
          <a:noFill/>
          <a:ln/>
        </p:spPr>
        <p:txBody>
          <a:bodyPr wrap="square" lIns="50800" tIns="50800" rIns="50800" bIns="5080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Prompting</a:t>
            </a:r>
            <a:endParaRPr lang="en-US" sz="1800" dirty="0"/>
          </a:p>
        </p:txBody>
      </p:sp>
      <p:sp>
        <p:nvSpPr>
          <p:cNvPr id="19" name="Shape 14"/>
          <p:cNvSpPr/>
          <p:nvPr/>
        </p:nvSpPr>
        <p:spPr>
          <a:xfrm>
            <a:off x="8127797" y="2167128"/>
            <a:ext cx="3515258" cy="3182112"/>
          </a:xfrm>
          <a:prstGeom prst="roundRect">
            <a:avLst>
              <a:gd name="adj" fmla="val 2874"/>
            </a:avLst>
          </a:prstGeom>
          <a:solidFill>
            <a:srgbClr val="FFF1E6"/>
          </a:solidFill>
          <a:ln w="12700">
            <a:solidFill>
              <a:srgbClr val="FFF1E6"/>
            </a:solidFill>
            <a:prstDash val="solid"/>
          </a:ln>
        </p:spPr>
      </p:sp>
      <p:sp>
        <p:nvSpPr>
          <p:cNvPr id="20" name="Text 15"/>
          <p:cNvSpPr txBox="1"/>
          <p:nvPr/>
        </p:nvSpPr>
        <p:spPr>
          <a:xfrm>
            <a:off x="8237525" y="2258568"/>
            <a:ext cx="3295802" cy="3044952"/>
          </a:xfrm>
          <a:prstGeom prst="rect">
            <a:avLst/>
          </a:prstGeom>
          <a:noFill/>
          <a:ln/>
        </p:spPr>
        <p:txBody>
          <a:bodyPr wrap="square" lIns="50800" tIns="50800" rIns="50800" bIns="50800" rtlCol="0" anchor="t"/>
          <a:lstStyle/>
          <a:p>
            <a:pPr marL="254000" indent="-254000">
              <a:spcAft>
                <a:spcPts val="800"/>
              </a:spcAft>
              <a:buSzPct val="100000"/>
              <a:buChar char="●"/>
            </a:pPr>
            <a:r>
              <a:rPr lang="en-US" sz="2300" dirty="0">
                <a:solidFill>
                  <a:srgbClr val="1F2937"/>
                </a:solidFill>
                <a:latin typeface="Calibri" pitchFamily="34" charset="0"/>
                <a:ea typeface="Calibri" pitchFamily="34" charset="-122"/>
                <a:cs typeface="Calibri" pitchFamily="34" charset="-120"/>
              </a:rPr>
              <a:t>Supplies instructions and examples in the input</a:t>
            </a:r>
            <a:endParaRPr lang="en-US" sz="2300" dirty="0"/>
          </a:p>
          <a:p>
            <a:pPr marL="254000" indent="-254000">
              <a:spcAft>
                <a:spcPts val="800"/>
              </a:spcAft>
              <a:buSzPct val="100000"/>
              <a:buChar char="●"/>
            </a:pPr>
            <a:r>
              <a:rPr lang="en-US" sz="2300" dirty="0">
                <a:solidFill>
                  <a:srgbClr val="1F2937"/>
                </a:solidFill>
                <a:latin typeface="Calibri" pitchFamily="34" charset="0"/>
                <a:ea typeface="Calibri" pitchFamily="34" charset="-122"/>
                <a:cs typeface="Calibri" pitchFamily="34" charset="-120"/>
              </a:rPr>
              <a:t>Keeps every weight fixed</a:t>
            </a:r>
            <a:endParaRPr lang="en-US" sz="2300" dirty="0"/>
          </a:p>
          <a:p>
            <a:pPr marL="254000" indent="-254000">
              <a:spcAft>
                <a:spcPts val="800"/>
              </a:spcAft>
              <a:buSzPct val="100000"/>
              <a:buChar char="●"/>
            </a:pPr>
            <a:r>
              <a:rPr lang="en-US" sz="2300" dirty="0">
                <a:solidFill>
                  <a:srgbClr val="1F2937"/>
                </a:solidFill>
                <a:latin typeface="Calibri" pitchFamily="34" charset="0"/>
                <a:ea typeface="Calibri" pitchFamily="34" charset="-122"/>
                <a:cs typeface="Calibri" pitchFamily="34" charset="-120"/>
              </a:rPr>
              <a:t>Example: today's routing prompt</a:t>
            </a:r>
            <a:endParaRPr lang="en-US" sz="2300" dirty="0"/>
          </a:p>
        </p:txBody>
      </p:sp>
      <p:sp>
        <p:nvSpPr>
          <p:cNvPr id="21" name="Shape 16"/>
          <p:cNvSpPr/>
          <p:nvPr/>
        </p:nvSpPr>
        <p:spPr>
          <a:xfrm>
            <a:off x="548640" y="5486400"/>
            <a:ext cx="11094415" cy="822960"/>
          </a:xfrm>
          <a:prstGeom prst="roundRect">
            <a:avLst>
              <a:gd name="adj" fmla="val 13333"/>
            </a:avLst>
          </a:prstGeom>
          <a:solidFill>
            <a:srgbClr val="FFF1E6"/>
          </a:solidFill>
          <a:ln w="12700">
            <a:solidFill>
              <a:srgbClr val="FFF1E6"/>
            </a:solidFill>
            <a:prstDash val="solid"/>
          </a:ln>
        </p:spPr>
      </p:sp>
      <p:sp>
        <p:nvSpPr>
          <p:cNvPr id="22" name="Text 17"/>
          <p:cNvSpPr txBox="1"/>
          <p:nvPr/>
        </p:nvSpPr>
        <p:spPr>
          <a:xfrm>
            <a:off x="777240" y="5486400"/>
            <a:ext cx="10637215" cy="822960"/>
          </a:xfrm>
          <a:prstGeom prst="rect">
            <a:avLst/>
          </a:prstGeom>
          <a:noFill/>
          <a:ln/>
        </p:spPr>
        <p:txBody>
          <a:bodyPr wrap="square" lIns="50800" tIns="50800" rIns="50800" bIns="50800" rtlCol="0" anchor="ctr"/>
          <a:lstStyle/>
          <a:p>
            <a:pPr indent="0" marL="0">
              <a:buNone/>
            </a:pPr>
            <a:r>
              <a:rPr lang="en-US" sz="2000" b="1" dirty="0">
                <a:solidFill>
                  <a:srgbClr val="EA580C"/>
                </a:solidFill>
                <a:latin typeface="Calibri" pitchFamily="34" charset="0"/>
                <a:ea typeface="Calibri" pitchFamily="34" charset="-122"/>
                <a:cs typeface="Calibri" pitchFamily="34" charset="-120"/>
              </a:rPr>
              <a:t>Key idea:  </a:t>
            </a:r>
            <a:pPr indent="0" marL="0">
              <a:buNone/>
            </a:pPr>
            <a:r>
              <a:rPr lang="en-US" sz="2000" dirty="0">
                <a:solidFill>
                  <a:srgbClr val="1F2937"/>
                </a:solidFill>
                <a:latin typeface="Calibri" pitchFamily="34" charset="0"/>
                <a:ea typeface="Calibri" pitchFamily="34" charset="-122"/>
                <a:cs typeface="Calibri" pitchFamily="34" charset="-120"/>
              </a:rPr>
              <a:t>Measure prompting; retrieve missing facts; train for persistent behaviour gaps.</a:t>
            </a:r>
            <a:endParaRPr lang="en-US" sz="2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07  ·  PROMPT ENGINEERING AND EVALUATION</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9</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In-context learning: prompts as programs</a:t>
            </a:r>
            <a:endParaRPr lang="en-US" sz="3200" dirty="0"/>
          </a:p>
        </p:txBody>
      </p:sp>
      <p:sp>
        <p:nvSpPr>
          <p:cNvPr id="6" name="Text 4"/>
          <p:cNvSpPr txBox="1"/>
          <p:nvPr/>
        </p:nvSpPr>
        <p:spPr>
          <a:xfrm>
            <a:off x="548640" y="1481328"/>
            <a:ext cx="8138160" cy="4828032"/>
          </a:xfrm>
          <a:prstGeom prst="rect">
            <a:avLst/>
          </a:prstGeom>
          <a:noFill/>
          <a:ln/>
        </p:spPr>
        <p:txBody>
          <a:bodyPr wrap="square" lIns="50800" tIns="50800" rIns="50800" bIns="50800" rtlCol="0" anchor="t"/>
          <a:lstStyle/>
          <a:p>
            <a:pPr marL="254000" indent="-254000">
              <a:spcAft>
                <a:spcPts val="800"/>
              </a:spcAft>
              <a:buSzPct val="100000"/>
              <a:buChar char="●"/>
            </a:pPr>
            <a:r>
              <a:rPr lang="en-US" sz="2600" dirty="0">
                <a:solidFill>
                  <a:srgbClr val="1F2937"/>
                </a:solidFill>
                <a:latin typeface="Calibri" pitchFamily="34" charset="0"/>
                <a:ea typeface="Calibri" pitchFamily="34" charset="-122"/>
                <a:cs typeface="Calibri" pitchFamily="34" charset="-120"/>
              </a:rPr>
              <a:t>Rules, sources, examples and questions become input tokens.</a:t>
            </a:r>
            <a:endParaRPr lang="en-US" sz="2600" dirty="0"/>
          </a:p>
          <a:p>
            <a:pPr marL="254000" indent="-254000">
              <a:spcAft>
                <a:spcPts val="800"/>
              </a:spcAft>
              <a:buSzPct val="100000"/>
              <a:buChar char="●"/>
            </a:pPr>
            <a:r>
              <a:rPr lang="en-US" sz="2600" dirty="0">
                <a:solidFill>
                  <a:srgbClr val="1F2937"/>
                </a:solidFill>
                <a:latin typeface="Calibri" pitchFamily="34" charset="0"/>
                <a:ea typeface="Calibri" pitchFamily="34" charset="-122"/>
                <a:cs typeface="Calibri" pitchFamily="34" charset="-120"/>
              </a:rPr>
              <a:t>Examples guide this request; weights stay fixed.</a:t>
            </a:r>
            <a:endParaRPr lang="en-US" sz="2600" dirty="0"/>
          </a:p>
          <a:p>
            <a:pPr marL="254000" indent="-254000">
              <a:spcAft>
                <a:spcPts val="800"/>
              </a:spcAft>
              <a:buSzPct val="100000"/>
              <a:buChar char="●"/>
            </a:pPr>
            <a:r>
              <a:rPr lang="en-US" sz="2600" dirty="0">
                <a:solidFill>
                  <a:srgbClr val="1F2937"/>
                </a:solidFill>
                <a:latin typeface="Calibri" pitchFamily="34" charset="0"/>
                <a:ea typeface="Calibri" pitchFamily="34" charset="-122"/>
                <a:cs typeface="Calibri" pitchFamily="34" charset="-120"/>
              </a:rPr>
              <a:t>Version the prompt and test it.</a:t>
            </a:r>
            <a:endParaRPr lang="en-US" sz="2600" dirty="0"/>
          </a:p>
          <a:p>
            <a:pPr marL="254000" indent="-254000">
              <a:spcAft>
                <a:spcPts val="800"/>
              </a:spcAft>
              <a:buSzPct val="100000"/>
              <a:buChar char="●"/>
            </a:pPr>
            <a:r>
              <a:rPr lang="en-US" sz="2600" dirty="0">
                <a:solidFill>
                  <a:srgbClr val="1F2937"/>
                </a:solidFill>
                <a:latin typeface="Calibri" pitchFamily="34" charset="0"/>
                <a:ea typeface="Calibri" pitchFamily="34" charset="-122"/>
                <a:cs typeface="Calibri" pitchFamily="34" charset="-120"/>
              </a:rPr>
              <a:t>Message priority is not a security guarantee.</a:t>
            </a:r>
            <a:endParaRPr lang="en-US" sz="2600" dirty="0"/>
          </a:p>
        </p:txBody>
      </p:sp>
      <p:sp>
        <p:nvSpPr>
          <p:cNvPr id="7" name="Shape 5"/>
          <p:cNvSpPr/>
          <p:nvPr/>
        </p:nvSpPr>
        <p:spPr>
          <a:xfrm>
            <a:off x="9464040" y="1847088"/>
            <a:ext cx="2103120" cy="2103120"/>
          </a:xfrm>
          <a:prstGeom prst="ellipse">
            <a:avLst/>
          </a:prstGeom>
          <a:solidFill>
            <a:srgbClr val="EEF0FF"/>
          </a:solidFill>
          <a:ln w="12700">
            <a:solidFill>
              <a:srgbClr val="EEF0FF"/>
            </a:solidFill>
            <a:prstDash val="solid"/>
          </a:ln>
        </p:spPr>
      </p:sp>
      <p:pic>
        <p:nvPicPr>
          <p:cNvPr id="8" name="Image 0" descr="preencoded.png">    </p:cNvPr>
          <p:cNvPicPr>
            <a:picLocks noChangeAspect="1"/>
          </p:cNvPicPr>
          <p:nvPr/>
        </p:nvPicPr>
        <p:blipFill>
          <a:blip r:embed="rId1"/>
          <a:stretch>
            <a:fillRect/>
          </a:stretch>
        </p:blipFill>
        <p:spPr>
          <a:xfrm>
            <a:off x="9968789" y="2351837"/>
            <a:ext cx="1093622" cy="1093622"/>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E1B4B"/>
        </a:solidFill>
      </p:bgPr>
    </p:bg>
    <p:spTree>
      <p:nvGrpSpPr>
        <p:cNvPr id="1" name=""/>
        <p:cNvGrpSpPr/>
        <p:nvPr/>
      </p:nvGrpSpPr>
      <p:grpSpPr>
        <a:xfrm>
          <a:off x="0" y="0"/>
          <a:ext cx="0" cy="0"/>
          <a:chOff x="0" y="0"/>
          <a:chExt cx="0" cy="0"/>
        </a:xfrm>
      </p:grpSpPr>
      <p:sp>
        <p:nvSpPr>
          <p:cNvPr id="2" name="Text 0"/>
          <p:cNvSpPr txBox="1"/>
          <p:nvPr/>
        </p:nvSpPr>
        <p:spPr>
          <a:xfrm>
            <a:off x="731520" y="1188720"/>
            <a:ext cx="2926080" cy="1828800"/>
          </a:xfrm>
          <a:prstGeom prst="rect">
            <a:avLst/>
          </a:prstGeom>
          <a:noFill/>
          <a:ln/>
        </p:spPr>
        <p:txBody>
          <a:bodyPr wrap="square" lIns="0" tIns="0" rIns="0" bIns="0" rtlCol="0" anchor="t"/>
          <a:lstStyle/>
          <a:p>
            <a:pPr indent="0" marL="0">
              <a:buNone/>
            </a:pPr>
            <a:r>
              <a:rPr lang="en-US" sz="11000" b="1" dirty="0">
                <a:solidFill>
                  <a:srgbClr val="EA580C"/>
                </a:solidFill>
                <a:latin typeface="Calibri" pitchFamily="34" charset="0"/>
                <a:ea typeface="Calibri" pitchFamily="34" charset="-122"/>
                <a:cs typeface="Calibri" pitchFamily="34" charset="-120"/>
              </a:rPr>
              <a:t>02</a:t>
            </a:r>
            <a:endParaRPr lang="en-US" sz="11000" dirty="0"/>
          </a:p>
        </p:txBody>
      </p:sp>
      <p:sp>
        <p:nvSpPr>
          <p:cNvPr id="3" name="Text 1"/>
          <p:cNvSpPr txBox="1"/>
          <p:nvPr/>
        </p:nvSpPr>
        <p:spPr>
          <a:xfrm>
            <a:off x="731520" y="3063240"/>
            <a:ext cx="10515600" cy="1463040"/>
          </a:xfrm>
          <a:prstGeom prst="rect">
            <a:avLst/>
          </a:prstGeom>
          <a:noFill/>
          <a:ln/>
        </p:spPr>
        <p:txBody>
          <a:bodyPr wrap="square" lIns="0" tIns="0" rIns="0" bIns="0" rtlCol="0" anchor="t"/>
          <a:lstStyle/>
          <a:p>
            <a:pPr indent="0" marL="0">
              <a:buNone/>
            </a:pPr>
            <a:r>
              <a:rPr lang="en-US" sz="4100" b="1" dirty="0">
                <a:solidFill>
                  <a:srgbClr val="FFFFFF"/>
                </a:solidFill>
                <a:latin typeface="Calibri" pitchFamily="34" charset="0"/>
                <a:ea typeface="Calibri" pitchFamily="34" charset="-122"/>
                <a:cs typeface="Calibri" pitchFamily="34" charset="-120"/>
              </a:rPr>
              <a:t>Anatomy of a prompt and basic techniques</a:t>
            </a:r>
            <a:endParaRPr lang="en-US" sz="4100" dirty="0"/>
          </a:p>
        </p:txBody>
      </p:sp>
      <p:sp>
        <p:nvSpPr>
          <p:cNvPr id="4" name="Text 2"/>
          <p:cNvSpPr txBox="1"/>
          <p:nvPr/>
        </p:nvSpPr>
        <p:spPr>
          <a:xfrm>
            <a:off x="731520" y="4617720"/>
            <a:ext cx="10515600" cy="1097280"/>
          </a:xfrm>
          <a:prstGeom prst="rect">
            <a:avLst/>
          </a:prstGeom>
          <a:noFill/>
          <a:ln/>
        </p:spPr>
        <p:txBody>
          <a:bodyPr wrap="square" lIns="0" tIns="0" rIns="0" bIns="0" rtlCol="0" anchor="t"/>
          <a:lstStyle/>
          <a:p>
            <a:pPr indent="0" marL="0">
              <a:buNone/>
            </a:pPr>
            <a:r>
              <a:rPr lang="en-US" sz="2200" i="1" dirty="0">
                <a:solidFill>
                  <a:srgbClr val="C7D2FE"/>
                </a:solidFill>
                <a:latin typeface="Calibri" pitchFamily="34" charset="0"/>
                <a:ea typeface="Calibri" pitchFamily="34" charset="-122"/>
                <a:cs typeface="Calibri" pitchFamily="34" charset="-120"/>
              </a:rPr>
              <a:t>What goes into a good prompt, and how much do examples help?</a:t>
            </a:r>
            <a:endParaRPr lang="en-US" sz="2200" dirty="0"/>
          </a:p>
        </p:txBody>
      </p:sp>
      <p:sp>
        <p:nvSpPr>
          <p:cNvPr id="5" name="Shape 3"/>
          <p:cNvSpPr/>
          <p:nvPr/>
        </p:nvSpPr>
        <p:spPr>
          <a:xfrm>
            <a:off x="9692640" y="1097280"/>
            <a:ext cx="1554480" cy="1554480"/>
          </a:xfrm>
          <a:prstGeom prst="ellipse">
            <a:avLst/>
          </a:prstGeom>
          <a:solidFill>
            <a:srgbClr val="4F46E5"/>
          </a:solidFill>
          <a:ln w="12700">
            <a:solidFill>
              <a:srgbClr val="4F46E5"/>
            </a:solidFill>
            <a:prstDash val="solid"/>
          </a:ln>
        </p:spPr>
      </p:sp>
      <p:pic>
        <p:nvPicPr>
          <p:cNvPr id="6" name="Image 0" descr="preencoded.png">    </p:cNvPr>
          <p:cNvPicPr>
            <a:picLocks noChangeAspect="1"/>
          </p:cNvPicPr>
          <p:nvPr/>
        </p:nvPicPr>
        <p:blipFill>
          <a:blip r:embed="rId1"/>
          <a:stretch>
            <a:fillRect/>
          </a:stretch>
        </p:blipFill>
        <p:spPr>
          <a:xfrm>
            <a:off x="10065715" y="1470355"/>
            <a:ext cx="808330" cy="808330"/>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07  ·  PROMPT ENGINEERING AND EVALUATION</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11</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Anatomy of a well-structured prompt</a:t>
            </a:r>
            <a:endParaRPr lang="en-US" sz="3200" dirty="0"/>
          </a:p>
        </p:txBody>
      </p:sp>
      <p:sp>
        <p:nvSpPr>
          <p:cNvPr id="6" name="Shape 4"/>
          <p:cNvSpPr/>
          <p:nvPr/>
        </p:nvSpPr>
        <p:spPr>
          <a:xfrm>
            <a:off x="2166828" y="2445270"/>
            <a:ext cx="2193425" cy="416626"/>
          </a:xfrm>
          <a:prstGeom prst="rect">
            <a:avLst/>
          </a:prstGeom>
          <a:solidFill>
            <a:srgbClr val="F2F4F5"/>
          </a:solidFill>
          <a:ln w="15240">
            <a:solidFill>
              <a:srgbClr val="626B73"/>
            </a:solidFill>
            <a:prstDash val="solid"/>
          </a:ln>
        </p:spPr>
      </p:sp>
      <p:sp>
        <p:nvSpPr>
          <p:cNvPr id="7" name="Shape 5"/>
          <p:cNvSpPr/>
          <p:nvPr/>
        </p:nvSpPr>
        <p:spPr>
          <a:xfrm>
            <a:off x="2166828" y="2970859"/>
            <a:ext cx="2193425" cy="416626"/>
          </a:xfrm>
          <a:prstGeom prst="roundRect">
            <a:avLst>
              <a:gd name="adj" fmla="val 17558"/>
            </a:avLst>
          </a:prstGeom>
          <a:solidFill>
            <a:srgbClr val="E4F2FB"/>
          </a:solidFill>
          <a:ln w="15240">
            <a:solidFill>
              <a:srgbClr val="0072B2"/>
            </a:solidFill>
            <a:prstDash val="solid"/>
          </a:ln>
        </p:spPr>
      </p:sp>
      <p:sp>
        <p:nvSpPr>
          <p:cNvPr id="8" name="Shape 6"/>
          <p:cNvSpPr/>
          <p:nvPr/>
        </p:nvSpPr>
        <p:spPr>
          <a:xfrm>
            <a:off x="2166828" y="3496449"/>
            <a:ext cx="2193425" cy="416626"/>
          </a:xfrm>
          <a:prstGeom prst="roundRect">
            <a:avLst>
              <a:gd name="adj" fmla="val 17558"/>
            </a:avLst>
          </a:prstGeom>
          <a:solidFill>
            <a:srgbClr val="E4F2FB"/>
          </a:solidFill>
          <a:ln w="15240">
            <a:solidFill>
              <a:srgbClr val="0072B2"/>
            </a:solidFill>
            <a:prstDash val="solid"/>
          </a:ln>
        </p:spPr>
      </p:sp>
      <p:sp>
        <p:nvSpPr>
          <p:cNvPr id="9" name="Shape 7"/>
          <p:cNvSpPr/>
          <p:nvPr/>
        </p:nvSpPr>
        <p:spPr>
          <a:xfrm>
            <a:off x="2166828" y="4022038"/>
            <a:ext cx="2193425" cy="416626"/>
          </a:xfrm>
          <a:prstGeom prst="rect">
            <a:avLst/>
          </a:prstGeom>
          <a:solidFill>
            <a:srgbClr val="F2F4F5"/>
          </a:solidFill>
          <a:ln w="15240">
            <a:solidFill>
              <a:srgbClr val="626B73"/>
            </a:solidFill>
            <a:prstDash val="solid"/>
          </a:ln>
        </p:spPr>
      </p:sp>
      <p:sp>
        <p:nvSpPr>
          <p:cNvPr id="10" name="Shape 8"/>
          <p:cNvSpPr/>
          <p:nvPr/>
        </p:nvSpPr>
        <p:spPr>
          <a:xfrm>
            <a:off x="2166828" y="4547628"/>
            <a:ext cx="2193425" cy="416626"/>
          </a:xfrm>
          <a:prstGeom prst="roundRect">
            <a:avLst>
              <a:gd name="adj" fmla="val 17558"/>
            </a:avLst>
          </a:prstGeom>
          <a:solidFill>
            <a:srgbClr val="F9EAF4"/>
          </a:solidFill>
          <a:ln w="15240">
            <a:solidFill>
              <a:srgbClr val="CC79A7"/>
            </a:solidFill>
            <a:prstDash val="solid"/>
          </a:ln>
        </p:spPr>
      </p:sp>
      <p:sp>
        <p:nvSpPr>
          <p:cNvPr id="11" name="Shape 9"/>
          <p:cNvSpPr/>
          <p:nvPr/>
        </p:nvSpPr>
        <p:spPr>
          <a:xfrm>
            <a:off x="2102316" y="5541120"/>
            <a:ext cx="141927" cy="141012"/>
          </a:xfrm>
          <a:prstGeom prst="roundRect">
            <a:avLst>
              <a:gd name="adj" fmla="val 51876"/>
            </a:avLst>
          </a:prstGeom>
          <a:solidFill>
            <a:srgbClr val="E4F2FB"/>
          </a:solidFill>
          <a:ln w="15240">
            <a:solidFill>
              <a:srgbClr val="0072B2"/>
            </a:solidFill>
            <a:prstDash val="solid"/>
          </a:ln>
        </p:spPr>
      </p:sp>
      <p:sp>
        <p:nvSpPr>
          <p:cNvPr id="12" name="Shape 10"/>
          <p:cNvSpPr/>
          <p:nvPr/>
        </p:nvSpPr>
        <p:spPr>
          <a:xfrm>
            <a:off x="3779641" y="5541120"/>
            <a:ext cx="141927" cy="141012"/>
          </a:xfrm>
          <a:prstGeom prst="roundRect">
            <a:avLst>
              <a:gd name="adj" fmla="val 51876"/>
            </a:avLst>
          </a:prstGeom>
          <a:solidFill>
            <a:srgbClr val="F9EAF4"/>
          </a:solidFill>
          <a:ln w="15240">
            <a:solidFill>
              <a:srgbClr val="CC79A7"/>
            </a:solidFill>
            <a:prstDash val="solid"/>
          </a:ln>
        </p:spPr>
      </p:sp>
      <p:sp>
        <p:nvSpPr>
          <p:cNvPr id="13" name="Shape 11"/>
          <p:cNvSpPr/>
          <p:nvPr/>
        </p:nvSpPr>
        <p:spPr>
          <a:xfrm>
            <a:off x="5456966" y="5541120"/>
            <a:ext cx="141927" cy="141012"/>
          </a:xfrm>
          <a:prstGeom prst="rect">
            <a:avLst/>
          </a:prstGeom>
          <a:solidFill>
            <a:srgbClr val="F2F4F5"/>
          </a:solidFill>
          <a:ln w="15240">
            <a:solidFill>
              <a:srgbClr val="626B73"/>
            </a:solidFill>
            <a:prstDash val="solid"/>
          </a:ln>
        </p:spPr>
      </p:sp>
      <p:sp>
        <p:nvSpPr>
          <p:cNvPr id="14" name="Text 12"/>
          <p:cNvSpPr txBox="1"/>
          <p:nvPr/>
        </p:nvSpPr>
        <p:spPr>
          <a:xfrm>
            <a:off x="2346548" y="2532882"/>
            <a:ext cx="1833986" cy="241402"/>
          </a:xfrm>
          <a:prstGeom prst="rect">
            <a:avLst/>
          </a:prstGeom>
          <a:noFill/>
          <a:ln/>
        </p:spPr>
        <p:txBody>
          <a:bodyPr wrap="square" lIns="0" tIns="0" rIns="0" bIns="0" rtlCol="0" anchor="ctr"/>
          <a:lstStyle/>
          <a:p>
            <a:pPr algn="ctr" indent="0" marL="0">
              <a:lnSpc>
                <a:spcPct val="116000"/>
              </a:lnSpc>
              <a:buNone/>
            </a:pPr>
            <a:r>
              <a:rPr lang="en-US" sz="1639" b="1" dirty="0">
                <a:solidFill>
                  <a:srgbClr val="1E1B4B"/>
                </a:solidFill>
                <a:latin typeface="Arial" pitchFamily="34" charset="0"/>
                <a:ea typeface="Arial" pitchFamily="34" charset="-122"/>
                <a:cs typeface="Arial" pitchFamily="34" charset="-120"/>
              </a:rPr>
              <a:t>Application rules</a:t>
            </a:r>
            <a:endParaRPr lang="en-US" sz="1639" dirty="0"/>
          </a:p>
        </p:txBody>
      </p:sp>
      <p:sp>
        <p:nvSpPr>
          <p:cNvPr id="15" name="Text 13"/>
          <p:cNvSpPr txBox="1"/>
          <p:nvPr/>
        </p:nvSpPr>
        <p:spPr>
          <a:xfrm>
            <a:off x="4618303" y="2539587"/>
            <a:ext cx="3977418" cy="227990"/>
          </a:xfrm>
          <a:prstGeom prst="rect">
            <a:avLst/>
          </a:prstGeom>
          <a:noFill/>
          <a:ln/>
        </p:spPr>
        <p:txBody>
          <a:bodyPr wrap="square" lIns="0" tIns="0" rIns="0" bIns="0" rtlCol="0" anchor="ctr"/>
          <a:lstStyle/>
          <a:p>
            <a:pPr algn="l" indent="0" marL="0">
              <a:lnSpc>
                <a:spcPct val="116000"/>
              </a:lnSpc>
              <a:buNone/>
            </a:pPr>
            <a:r>
              <a:rPr lang="en-US" sz="1548" dirty="0">
                <a:solidFill>
                  <a:srgbClr val="1F2937"/>
                </a:solidFill>
                <a:latin typeface="Arial" pitchFamily="34" charset="0"/>
                <a:ea typeface="Arial" pitchFamily="34" charset="-122"/>
                <a:cs typeface="Arial" pitchFamily="34" charset="-120"/>
              </a:rPr>
              <a:t>Task boundaries and uncertainty behaviour</a:t>
            </a:r>
            <a:endParaRPr lang="en-US" sz="1548" dirty="0"/>
          </a:p>
        </p:txBody>
      </p:sp>
      <p:sp>
        <p:nvSpPr>
          <p:cNvPr id="16" name="Text 14"/>
          <p:cNvSpPr txBox="1"/>
          <p:nvPr/>
        </p:nvSpPr>
        <p:spPr>
          <a:xfrm>
            <a:off x="2441319" y="3058471"/>
            <a:ext cx="1644444" cy="241402"/>
          </a:xfrm>
          <a:prstGeom prst="rect">
            <a:avLst/>
          </a:prstGeom>
          <a:noFill/>
          <a:ln/>
        </p:spPr>
        <p:txBody>
          <a:bodyPr wrap="square" lIns="0" tIns="0" rIns="0" bIns="0" rtlCol="0" anchor="ctr"/>
          <a:lstStyle/>
          <a:p>
            <a:pPr algn="ctr" indent="0" marL="0">
              <a:lnSpc>
                <a:spcPct val="116000"/>
              </a:lnSpc>
              <a:buNone/>
            </a:pPr>
            <a:r>
              <a:rPr lang="en-US" sz="1639" b="1" dirty="0">
                <a:solidFill>
                  <a:srgbClr val="1E1B4B"/>
                </a:solidFill>
                <a:latin typeface="Arial" pitchFamily="34" charset="0"/>
                <a:ea typeface="Arial" pitchFamily="34" charset="-122"/>
                <a:cs typeface="Arial" pitchFamily="34" charset="-120"/>
              </a:rPr>
              <a:t>Source context</a:t>
            </a:r>
            <a:endParaRPr lang="en-US" sz="1639" dirty="0"/>
          </a:p>
        </p:txBody>
      </p:sp>
      <p:sp>
        <p:nvSpPr>
          <p:cNvPr id="17" name="Text 15"/>
          <p:cNvSpPr txBox="1"/>
          <p:nvPr/>
        </p:nvSpPr>
        <p:spPr>
          <a:xfrm>
            <a:off x="4618303" y="3065177"/>
            <a:ext cx="4241135" cy="227990"/>
          </a:xfrm>
          <a:prstGeom prst="rect">
            <a:avLst/>
          </a:prstGeom>
          <a:noFill/>
          <a:ln/>
        </p:spPr>
        <p:txBody>
          <a:bodyPr wrap="square" lIns="0" tIns="0" rIns="0" bIns="0" rtlCol="0" anchor="ctr"/>
          <a:lstStyle/>
          <a:p>
            <a:pPr algn="l" indent="0" marL="0">
              <a:lnSpc>
                <a:spcPct val="116000"/>
              </a:lnSpc>
              <a:buNone/>
            </a:pPr>
            <a:r>
              <a:rPr lang="en-US" sz="1548" dirty="0">
                <a:solidFill>
                  <a:srgbClr val="1F2937"/>
                </a:solidFill>
                <a:latin typeface="Arial" pitchFamily="34" charset="0"/>
                <a:ea typeface="Arial" pitchFamily="34" charset="-122"/>
                <a:cs typeface="Arial" pitchFamily="34" charset="-120"/>
              </a:rPr>
              <a:t>Facts and documents; label untrusted content</a:t>
            </a:r>
            <a:endParaRPr lang="en-US" sz="1548" dirty="0"/>
          </a:p>
        </p:txBody>
      </p:sp>
      <p:sp>
        <p:nvSpPr>
          <p:cNvPr id="18" name="Text 16"/>
          <p:cNvSpPr txBox="1"/>
          <p:nvPr/>
        </p:nvSpPr>
        <p:spPr>
          <a:xfrm>
            <a:off x="2301114" y="3584061"/>
            <a:ext cx="1924853" cy="241402"/>
          </a:xfrm>
          <a:prstGeom prst="rect">
            <a:avLst/>
          </a:prstGeom>
          <a:noFill/>
          <a:ln/>
        </p:spPr>
        <p:txBody>
          <a:bodyPr wrap="square" lIns="0" tIns="0" rIns="0" bIns="0" rtlCol="0" anchor="ctr"/>
          <a:lstStyle/>
          <a:p>
            <a:pPr algn="ctr" indent="0" marL="0">
              <a:lnSpc>
                <a:spcPct val="116000"/>
              </a:lnSpc>
              <a:buNone/>
            </a:pPr>
            <a:r>
              <a:rPr lang="en-US" sz="1639" b="1" dirty="0">
                <a:solidFill>
                  <a:srgbClr val="1E1B4B"/>
                </a:solidFill>
                <a:latin typeface="Arial" pitchFamily="34" charset="0"/>
                <a:ea typeface="Arial" pitchFamily="34" charset="-122"/>
                <a:cs typeface="Arial" pitchFamily="34" charset="-120"/>
              </a:rPr>
              <a:t>Worked examples</a:t>
            </a:r>
            <a:endParaRPr lang="en-US" sz="1639" dirty="0"/>
          </a:p>
        </p:txBody>
      </p:sp>
      <p:sp>
        <p:nvSpPr>
          <p:cNvPr id="19" name="Text 17"/>
          <p:cNvSpPr txBox="1"/>
          <p:nvPr/>
        </p:nvSpPr>
        <p:spPr>
          <a:xfrm>
            <a:off x="4618303" y="3590766"/>
            <a:ext cx="4312213" cy="227990"/>
          </a:xfrm>
          <a:prstGeom prst="rect">
            <a:avLst/>
          </a:prstGeom>
          <a:noFill/>
          <a:ln/>
        </p:spPr>
        <p:txBody>
          <a:bodyPr wrap="square" lIns="0" tIns="0" rIns="0" bIns="0" rtlCol="0" anchor="ctr"/>
          <a:lstStyle/>
          <a:p>
            <a:pPr algn="l" indent="0" marL="0">
              <a:lnSpc>
                <a:spcPct val="116000"/>
              </a:lnSpc>
              <a:buNone/>
            </a:pPr>
            <a:r>
              <a:rPr lang="en-US" sz="1548" dirty="0">
                <a:solidFill>
                  <a:srgbClr val="1F2937"/>
                </a:solidFill>
                <a:latin typeface="Arial" pitchFamily="34" charset="0"/>
                <a:ea typeface="Arial" pitchFamily="34" charset="-122"/>
                <a:cs typeface="Arial" pitchFamily="34" charset="-120"/>
              </a:rPr>
              <a:t>Varied input-answer pairs in the desired format</a:t>
            </a:r>
            <a:endParaRPr lang="en-US" sz="1548" dirty="0"/>
          </a:p>
        </p:txBody>
      </p:sp>
      <p:sp>
        <p:nvSpPr>
          <p:cNvPr id="20" name="Text 18"/>
          <p:cNvSpPr txBox="1"/>
          <p:nvPr/>
        </p:nvSpPr>
        <p:spPr>
          <a:xfrm>
            <a:off x="2389020" y="4109650"/>
            <a:ext cx="1749042" cy="241402"/>
          </a:xfrm>
          <a:prstGeom prst="rect">
            <a:avLst/>
          </a:prstGeom>
          <a:noFill/>
          <a:ln/>
        </p:spPr>
        <p:txBody>
          <a:bodyPr wrap="square" lIns="0" tIns="0" rIns="0" bIns="0" rtlCol="0" anchor="ctr"/>
          <a:lstStyle/>
          <a:p>
            <a:pPr algn="ctr" indent="0" marL="0">
              <a:lnSpc>
                <a:spcPct val="116000"/>
              </a:lnSpc>
              <a:buNone/>
            </a:pPr>
            <a:r>
              <a:rPr lang="en-US" sz="1639" b="1" dirty="0">
                <a:solidFill>
                  <a:srgbClr val="1E1B4B"/>
                </a:solidFill>
                <a:latin typeface="Arial" pitchFamily="34" charset="0"/>
                <a:ea typeface="Arial" pitchFamily="34" charset="-122"/>
                <a:cs typeface="Arial" pitchFamily="34" charset="-120"/>
              </a:rPr>
              <a:t>Task + audience</a:t>
            </a:r>
            <a:endParaRPr lang="en-US" sz="1639" dirty="0"/>
          </a:p>
        </p:txBody>
      </p:sp>
      <p:sp>
        <p:nvSpPr>
          <p:cNvPr id="21" name="Text 19"/>
          <p:cNvSpPr txBox="1"/>
          <p:nvPr/>
        </p:nvSpPr>
        <p:spPr>
          <a:xfrm>
            <a:off x="4618303" y="4116356"/>
            <a:ext cx="4031804" cy="227990"/>
          </a:xfrm>
          <a:prstGeom prst="rect">
            <a:avLst/>
          </a:prstGeom>
          <a:noFill/>
          <a:ln/>
        </p:spPr>
        <p:txBody>
          <a:bodyPr wrap="square" lIns="0" tIns="0" rIns="0" bIns="0" rtlCol="0" anchor="ctr"/>
          <a:lstStyle/>
          <a:p>
            <a:pPr algn="l" indent="0" marL="0">
              <a:lnSpc>
                <a:spcPct val="116000"/>
              </a:lnSpc>
              <a:buNone/>
            </a:pPr>
            <a:r>
              <a:rPr lang="en-US" sz="1548" dirty="0">
                <a:solidFill>
                  <a:srgbClr val="1F2937"/>
                </a:solidFill>
                <a:latin typeface="Arial" pitchFamily="34" charset="0"/>
                <a:ea typeface="Arial" pitchFamily="34" charset="-122"/>
                <a:cs typeface="Arial" pitchFamily="34" charset="-120"/>
              </a:rPr>
              <a:t>A clear job, constraints and intended reader</a:t>
            </a:r>
            <a:endParaRPr lang="en-US" sz="1548" dirty="0"/>
          </a:p>
        </p:txBody>
      </p:sp>
      <p:sp>
        <p:nvSpPr>
          <p:cNvPr id="22" name="Text 20"/>
          <p:cNvSpPr txBox="1"/>
          <p:nvPr/>
        </p:nvSpPr>
        <p:spPr>
          <a:xfrm>
            <a:off x="2419780" y="4635240"/>
            <a:ext cx="1687522" cy="241402"/>
          </a:xfrm>
          <a:prstGeom prst="rect">
            <a:avLst/>
          </a:prstGeom>
          <a:noFill/>
          <a:ln/>
        </p:spPr>
        <p:txBody>
          <a:bodyPr wrap="square" lIns="0" tIns="0" rIns="0" bIns="0" rtlCol="0" anchor="ctr"/>
          <a:lstStyle/>
          <a:p>
            <a:pPr algn="ctr" indent="0" marL="0">
              <a:lnSpc>
                <a:spcPct val="116000"/>
              </a:lnSpc>
              <a:buNone/>
            </a:pPr>
            <a:r>
              <a:rPr lang="en-US" sz="1639" b="1" dirty="0">
                <a:solidFill>
                  <a:srgbClr val="1E1B4B"/>
                </a:solidFill>
                <a:latin typeface="Arial" pitchFamily="34" charset="0"/>
                <a:ea typeface="Arial" pitchFamily="34" charset="-122"/>
                <a:cs typeface="Arial" pitchFamily="34" charset="-120"/>
              </a:rPr>
              <a:t>Output contract</a:t>
            </a:r>
            <a:endParaRPr lang="en-US" sz="1639" dirty="0"/>
          </a:p>
        </p:txBody>
      </p:sp>
      <p:sp>
        <p:nvSpPr>
          <p:cNvPr id="23" name="Text 21"/>
          <p:cNvSpPr txBox="1"/>
          <p:nvPr/>
        </p:nvSpPr>
        <p:spPr>
          <a:xfrm>
            <a:off x="4618303" y="4641946"/>
            <a:ext cx="4060208" cy="227990"/>
          </a:xfrm>
          <a:prstGeom prst="rect">
            <a:avLst/>
          </a:prstGeom>
          <a:noFill/>
          <a:ln/>
        </p:spPr>
        <p:txBody>
          <a:bodyPr wrap="square" lIns="0" tIns="0" rIns="0" bIns="0" rtlCol="0" anchor="ctr"/>
          <a:lstStyle/>
          <a:p>
            <a:pPr algn="l" indent="0" marL="0">
              <a:lnSpc>
                <a:spcPct val="116000"/>
              </a:lnSpc>
              <a:buNone/>
            </a:pPr>
            <a:r>
              <a:rPr lang="en-US" sz="1548" dirty="0">
                <a:solidFill>
                  <a:srgbClr val="1F2937"/>
                </a:solidFill>
                <a:latin typeface="Arial" pitchFamily="34" charset="0"/>
                <a:ea typeface="Arial" pitchFamily="34" charset="-122"/>
                <a:cs typeface="Arial" pitchFamily="34" charset="-120"/>
              </a:rPr>
              <a:t>Shape, fields, length and application checks</a:t>
            </a:r>
            <a:endParaRPr lang="en-US" sz="1548" dirty="0"/>
          </a:p>
        </p:txBody>
      </p:sp>
      <p:sp>
        <p:nvSpPr>
          <p:cNvPr id="24" name="Text 22"/>
          <p:cNvSpPr txBox="1"/>
          <p:nvPr/>
        </p:nvSpPr>
        <p:spPr>
          <a:xfrm>
            <a:off x="2166828" y="1998168"/>
            <a:ext cx="5423388" cy="254813"/>
          </a:xfrm>
          <a:prstGeom prst="rect">
            <a:avLst/>
          </a:prstGeom>
          <a:noFill/>
          <a:ln/>
        </p:spPr>
        <p:txBody>
          <a:bodyPr wrap="square" lIns="0" tIns="0" rIns="0" bIns="0" rtlCol="0" anchor="ctr"/>
          <a:lstStyle/>
          <a:p>
            <a:pPr algn="l" indent="0" marL="0">
              <a:lnSpc>
                <a:spcPct val="116000"/>
              </a:lnSpc>
              <a:buNone/>
            </a:pPr>
            <a:r>
              <a:rPr lang="en-US" sz="1730" b="1" dirty="0">
                <a:solidFill>
                  <a:srgbClr val="1E1B4B"/>
                </a:solidFill>
                <a:latin typeface="Arial" pitchFamily="34" charset="0"/>
                <a:ea typeface="Arial" pitchFamily="34" charset="-122"/>
                <a:cs typeface="Arial" pitchFamily="34" charset="-120"/>
              </a:rPr>
              <a:t>A prompt is a task brief; order is something to test</a:t>
            </a:r>
            <a:endParaRPr lang="en-US" sz="1730" dirty="0"/>
          </a:p>
        </p:txBody>
      </p:sp>
      <p:sp>
        <p:nvSpPr>
          <p:cNvPr id="25" name="Text 23"/>
          <p:cNvSpPr txBox="1"/>
          <p:nvPr/>
        </p:nvSpPr>
        <p:spPr>
          <a:xfrm>
            <a:off x="2321658" y="5504337"/>
            <a:ext cx="910334" cy="214579"/>
          </a:xfrm>
          <a:prstGeom prst="rect">
            <a:avLst/>
          </a:prstGeom>
          <a:noFill/>
          <a:ln/>
        </p:spPr>
        <p:txBody>
          <a:bodyPr wrap="square" lIns="0" tIns="0" rIns="0" bIns="0" rtlCol="0" anchor="ctr"/>
          <a:lstStyle/>
          <a:p>
            <a:pPr algn="l" indent="0" marL="0">
              <a:lnSpc>
                <a:spcPct val="116000"/>
              </a:lnSpc>
              <a:buNone/>
            </a:pPr>
            <a:r>
              <a:rPr lang="en-US" sz="1457" dirty="0">
                <a:solidFill>
                  <a:srgbClr val="1F2937"/>
                </a:solidFill>
                <a:latin typeface="Arial" pitchFamily="34" charset="0"/>
                <a:ea typeface="Arial" pitchFamily="34" charset="-122"/>
                <a:cs typeface="Arial" pitchFamily="34" charset="-120"/>
              </a:rPr>
              <a:t>Input data</a:t>
            </a:r>
            <a:endParaRPr lang="en-US" sz="1457" dirty="0"/>
          </a:p>
        </p:txBody>
      </p:sp>
      <p:sp>
        <p:nvSpPr>
          <p:cNvPr id="26" name="Text 24"/>
          <p:cNvSpPr txBox="1"/>
          <p:nvPr/>
        </p:nvSpPr>
        <p:spPr>
          <a:xfrm>
            <a:off x="3998983" y="5504337"/>
            <a:ext cx="643252" cy="214579"/>
          </a:xfrm>
          <a:prstGeom prst="rect">
            <a:avLst/>
          </a:prstGeom>
          <a:noFill/>
          <a:ln/>
        </p:spPr>
        <p:txBody>
          <a:bodyPr wrap="square" lIns="0" tIns="0" rIns="0" bIns="0" rtlCol="0" anchor="ctr"/>
          <a:lstStyle/>
          <a:p>
            <a:pPr algn="l" indent="0" marL="0">
              <a:lnSpc>
                <a:spcPct val="116000"/>
              </a:lnSpc>
              <a:buNone/>
            </a:pPr>
            <a:r>
              <a:rPr lang="en-US" sz="1457" dirty="0">
                <a:solidFill>
                  <a:srgbClr val="1F2937"/>
                </a:solidFill>
                <a:latin typeface="Arial" pitchFamily="34" charset="0"/>
                <a:ea typeface="Arial" pitchFamily="34" charset="-122"/>
                <a:cs typeface="Arial" pitchFamily="34" charset="-120"/>
              </a:rPr>
              <a:t>Output</a:t>
            </a:r>
            <a:endParaRPr lang="en-US" sz="1457" dirty="0"/>
          </a:p>
        </p:txBody>
      </p:sp>
      <p:sp>
        <p:nvSpPr>
          <p:cNvPr id="27" name="Text 25"/>
          <p:cNvSpPr txBox="1"/>
          <p:nvPr/>
        </p:nvSpPr>
        <p:spPr>
          <a:xfrm>
            <a:off x="5676308" y="5504337"/>
            <a:ext cx="1142953" cy="214579"/>
          </a:xfrm>
          <a:prstGeom prst="rect">
            <a:avLst/>
          </a:prstGeom>
          <a:noFill/>
          <a:ln/>
        </p:spPr>
        <p:txBody>
          <a:bodyPr wrap="square" lIns="0" tIns="0" rIns="0" bIns="0" rtlCol="0" anchor="ctr"/>
          <a:lstStyle/>
          <a:p>
            <a:pPr algn="l" indent="0" marL="0">
              <a:lnSpc>
                <a:spcPct val="116000"/>
              </a:lnSpc>
              <a:buNone/>
            </a:pPr>
            <a:r>
              <a:rPr lang="en-US" sz="1457" dirty="0">
                <a:solidFill>
                  <a:srgbClr val="1F2937"/>
                </a:solidFill>
                <a:latin typeface="Arial" pitchFamily="34" charset="0"/>
                <a:ea typeface="Arial" pitchFamily="34" charset="-122"/>
                <a:cs typeface="Arial" pitchFamily="34" charset="-120"/>
              </a:rPr>
              <a:t>Human / tool</a:t>
            </a:r>
            <a:endParaRPr lang="en-US" sz="1457"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07  ·  PROMPT ENGINEERING AND EVALUATION</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12</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Worked example: rewriting the warm-up prompt</a:t>
            </a:r>
            <a:endParaRPr lang="en-US" sz="32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548640" y="1481328"/>
          <a:ext cx="11094415" cy="914400"/>
        </p:xfrm>
        <a:graphic>
          <a:graphicData uri="http://schemas.openxmlformats.org/drawingml/2006/table">
            <a:tbl>
              <a:tblPr/>
              <a:tblGrid>
                <a:gridCol w="1557111"/>
                <a:gridCol w="2724944"/>
                <a:gridCol w="6812360"/>
              </a:tblGrid>
              <a:tr h="0">
                <a:tc>
                  <a:txBody>
                    <a:bodyPr/>
                    <a:lstStyle/>
                    <a:p>
                      <a:pPr indent="0" marL="0">
                        <a:buNone/>
                      </a:pPr>
                      <a:r>
                        <a:rPr lang="en-US" sz="2000" b="1" dirty="0">
                          <a:solidFill>
                            <a:srgbClr val="FFFFFF"/>
                          </a:solidFill>
                          <a:latin typeface="Calibri" pitchFamily="34" charset="0"/>
                          <a:ea typeface="Calibri" pitchFamily="34" charset="-122"/>
                          <a:cs typeface="Calibri" pitchFamily="34" charset="-120"/>
                        </a:rPr>
                        <a:t>Element</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1E1B4B"/>
                    </a:solidFill>
                  </a:tcPr>
                </a:tc>
                <a:tc>
                  <a:txBody>
                    <a:bodyPr/>
                    <a:lstStyle/>
                    <a:p>
                      <a:pPr indent="0" marL="0">
                        <a:buNone/>
                      </a:pPr>
                      <a:r>
                        <a:rPr lang="en-US" sz="2000" b="1" dirty="0">
                          <a:solidFill>
                            <a:srgbClr val="FFFFFF"/>
                          </a:solidFill>
                          <a:latin typeface="Calibri" pitchFamily="34" charset="0"/>
                          <a:ea typeface="Calibri" pitchFamily="34" charset="-122"/>
                          <a:cs typeface="Calibri" pitchFamily="34" charset="-120"/>
                        </a:rPr>
                        <a:t>Before</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1E1B4B"/>
                    </a:solidFill>
                  </a:tcPr>
                </a:tc>
                <a:tc>
                  <a:txBody>
                    <a:bodyPr/>
                    <a:lstStyle/>
                    <a:p>
                      <a:pPr indent="0" marL="0">
                        <a:buNone/>
                      </a:pPr>
                      <a:r>
                        <a:rPr lang="en-US" sz="2000" b="1" dirty="0">
                          <a:solidFill>
                            <a:srgbClr val="FFFFFF"/>
                          </a:solidFill>
                          <a:latin typeface="Calibri" pitchFamily="34" charset="0"/>
                          <a:ea typeface="Calibri" pitchFamily="34" charset="-122"/>
                          <a:cs typeface="Calibri" pitchFamily="34" charset="-120"/>
                        </a:rPr>
                        <a:t>After</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1E1B4B"/>
                    </a:solidFill>
                  </a:tcPr>
                </a:tc>
              </a:tr>
              <a:tr h="0">
                <a:tc>
                  <a:txBody>
                    <a:bodyPr/>
                    <a:lstStyle/>
                    <a:p>
                      <a:pPr indent="0" marL="0">
                        <a:buNone/>
                      </a:pPr>
                      <a:r>
                        <a:rPr lang="en-US" sz="2000" b="1" dirty="0">
                          <a:solidFill>
                            <a:srgbClr val="1F2937"/>
                          </a:solidFill>
                          <a:latin typeface="Calibri" pitchFamily="34" charset="0"/>
                          <a:ea typeface="Calibri" pitchFamily="34" charset="-122"/>
                          <a:cs typeface="Calibri" pitchFamily="34" charset="-120"/>
                        </a:rPr>
                        <a:t>Rules</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c>
                  <a:txBody>
                    <a:bodyPr/>
                    <a:lstStyle/>
                    <a:p>
                      <a:pPr indent="0" marL="0">
                        <a:buNone/>
                      </a:pPr>
                      <a:r>
                        <a:rPr lang="en-US" sz="2000" dirty="0">
                          <a:solidFill>
                            <a:srgbClr val="1F2937"/>
                          </a:solidFill>
                          <a:latin typeface="Calibri" pitchFamily="34" charset="0"/>
                          <a:ea typeface="Calibri" pitchFamily="34" charset="-122"/>
                          <a:cs typeface="Calibri" pitchFamily="34" charset="-120"/>
                        </a:rPr>
                        <a:t>None</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c>
                  <a:txBody>
                    <a:bodyPr/>
                    <a:lstStyle/>
                    <a:p>
                      <a:pPr indent="0" marL="0">
                        <a:buNone/>
                      </a:pPr>
                      <a:r>
                        <a:rPr lang="en-US" sz="2000" dirty="0">
                          <a:solidFill>
                            <a:srgbClr val="1F2937"/>
                          </a:solidFill>
                          <a:latin typeface="Calibri" pitchFamily="34" charset="0"/>
                          <a:ea typeface="Calibri" pitchFamily="34" charset="-122"/>
                          <a:cs typeface="Calibri" pitchFamily="34" charset="-120"/>
                        </a:rPr>
                        <a:t>Use supplied facts</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r>
              <a:tr h="0">
                <a:tc>
                  <a:txBody>
                    <a:bodyPr/>
                    <a:lstStyle/>
                    <a:p>
                      <a:pPr indent="0" marL="0">
                        <a:buNone/>
                      </a:pPr>
                      <a:r>
                        <a:rPr lang="en-US" sz="2000" b="1" dirty="0">
                          <a:solidFill>
                            <a:srgbClr val="1F2937"/>
                          </a:solidFill>
                          <a:latin typeface="Calibri" pitchFamily="34" charset="0"/>
                          <a:ea typeface="Calibri" pitchFamily="34" charset="-122"/>
                          <a:cs typeface="Calibri" pitchFamily="34" charset="-120"/>
                        </a:rPr>
                        <a:t>Audience</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2000" dirty="0">
                          <a:solidFill>
                            <a:srgbClr val="1F2937"/>
                          </a:solidFill>
                          <a:latin typeface="Calibri" pitchFamily="34" charset="0"/>
                          <a:ea typeface="Calibri" pitchFamily="34" charset="-122"/>
                          <a:cs typeface="Calibri" pitchFamily="34" charset="-120"/>
                        </a:rPr>
                        <a:t>None</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2000" dirty="0">
                          <a:solidFill>
                            <a:srgbClr val="1F2937"/>
                          </a:solidFill>
                          <a:latin typeface="Calibri" pitchFamily="34" charset="0"/>
                          <a:ea typeface="Calibri" pitchFamily="34" charset="-122"/>
                          <a:cs typeface="Calibri" pitchFamily="34" charset="-120"/>
                        </a:rPr>
                        <a:t>AI beginners</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r>
              <a:tr h="0">
                <a:tc>
                  <a:txBody>
                    <a:bodyPr/>
                    <a:lstStyle/>
                    <a:p>
                      <a:pPr indent="0" marL="0">
                        <a:buNone/>
                      </a:pPr>
                      <a:r>
                        <a:rPr lang="en-US" sz="2000" b="1" dirty="0">
                          <a:solidFill>
                            <a:srgbClr val="1F2937"/>
                          </a:solidFill>
                          <a:latin typeface="Calibri" pitchFamily="34" charset="0"/>
                          <a:ea typeface="Calibri" pitchFamily="34" charset="-122"/>
                          <a:cs typeface="Calibri" pitchFamily="34" charset="-120"/>
                        </a:rPr>
                        <a:t>Facts</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c>
                  <a:txBody>
                    <a:bodyPr/>
                    <a:lstStyle/>
                    <a:p>
                      <a:pPr indent="0" marL="0">
                        <a:buNone/>
                      </a:pPr>
                      <a:r>
                        <a:rPr lang="en-US" sz="2000" dirty="0">
                          <a:solidFill>
                            <a:srgbClr val="1F2937"/>
                          </a:solidFill>
                          <a:latin typeface="Calibri" pitchFamily="34" charset="0"/>
                          <a:ea typeface="Calibri" pitchFamily="34" charset="-122"/>
                          <a:cs typeface="Calibri" pitchFamily="34" charset="-120"/>
                        </a:rPr>
                        <a:t>None</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c>
                  <a:txBody>
                    <a:bodyPr/>
                    <a:lstStyle/>
                    <a:p>
                      <a:pPr indent="0" marL="0">
                        <a:buNone/>
                      </a:pPr>
                      <a:r>
                        <a:rPr lang="en-US" sz="2000" dirty="0">
                          <a:solidFill>
                            <a:srgbClr val="1F2937"/>
                          </a:solidFill>
                          <a:latin typeface="Calibri" pitchFamily="34" charset="0"/>
                          <a:ea typeface="Calibri" pitchFamily="34" charset="-122"/>
                          <a:cs typeface="Calibri" pitchFamily="34" charset="-120"/>
                        </a:rPr>
                        <a:t>12 weeks; Python; 60% project</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r>
              <a:tr h="0">
                <a:tc>
                  <a:txBody>
                    <a:bodyPr/>
                    <a:lstStyle/>
                    <a:p>
                      <a:pPr indent="0" marL="0">
                        <a:buNone/>
                      </a:pPr>
                      <a:r>
                        <a:rPr lang="en-US" sz="2000" b="1" dirty="0">
                          <a:solidFill>
                            <a:srgbClr val="1F2937"/>
                          </a:solidFill>
                          <a:latin typeface="Calibri" pitchFamily="34" charset="0"/>
                          <a:ea typeface="Calibri" pitchFamily="34" charset="-122"/>
                          <a:cs typeface="Calibri" pitchFamily="34" charset="-120"/>
                        </a:rPr>
                        <a:t>Task</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2000" dirty="0">
                          <a:solidFill>
                            <a:srgbClr val="1F2937"/>
                          </a:solidFill>
                          <a:latin typeface="Calibri" pitchFamily="34" charset="0"/>
                          <a:ea typeface="Calibri" pitchFamily="34" charset="-122"/>
                          <a:cs typeface="Calibri" pitchFamily="34" charset="-120"/>
                        </a:rPr>
                        <a:t>Write about AI</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2000" dirty="0">
                          <a:solidFill>
                            <a:srgbClr val="1F2937"/>
                          </a:solidFill>
                          <a:latin typeface="Calibri" pitchFamily="34" charset="0"/>
                          <a:ea typeface="Calibri" pitchFamily="34" charset="-122"/>
                          <a:cs typeface="Calibri" pitchFamily="34" charset="-120"/>
                        </a:rPr>
                        <a:t>Introduce the module</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r>
              <a:tr h="0">
                <a:tc>
                  <a:txBody>
                    <a:bodyPr/>
                    <a:lstStyle/>
                    <a:p>
                      <a:pPr indent="0" marL="0">
                        <a:buNone/>
                      </a:pPr>
                      <a:r>
                        <a:rPr lang="en-US" sz="2000" b="1" dirty="0">
                          <a:solidFill>
                            <a:srgbClr val="1F2937"/>
                          </a:solidFill>
                          <a:latin typeface="Calibri" pitchFamily="34" charset="0"/>
                          <a:ea typeface="Calibri" pitchFamily="34" charset="-122"/>
                          <a:cs typeface="Calibri" pitchFamily="34" charset="-120"/>
                        </a:rPr>
                        <a:t>Format</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c>
                  <a:txBody>
                    <a:bodyPr/>
                    <a:lstStyle/>
                    <a:p>
                      <a:pPr indent="0" marL="0">
                        <a:buNone/>
                      </a:pPr>
                      <a:r>
                        <a:rPr lang="en-US" sz="2000" dirty="0">
                          <a:solidFill>
                            <a:srgbClr val="1F2937"/>
                          </a:solidFill>
                          <a:latin typeface="Calibri" pitchFamily="34" charset="0"/>
                          <a:ea typeface="Calibri" pitchFamily="34" charset="-122"/>
                          <a:cs typeface="Calibri" pitchFamily="34" charset="-120"/>
                        </a:rPr>
                        <a:t>None</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c>
                  <a:txBody>
                    <a:bodyPr/>
                    <a:lstStyle/>
                    <a:p>
                      <a:pPr indent="0" marL="0">
                        <a:buNone/>
                      </a:pPr>
                      <a:r>
                        <a:rPr lang="en-US" sz="2000" dirty="0">
                          <a:solidFill>
                            <a:srgbClr val="1F2937"/>
                          </a:solidFill>
                          <a:latin typeface="Calibri" pitchFamily="34" charset="0"/>
                          <a:ea typeface="Calibri" pitchFamily="34" charset="-122"/>
                          <a:cs typeface="Calibri" pitchFamily="34" charset="-120"/>
                        </a:rPr>
                        <a:t>Headline; three bullets; &lt;120 words</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r>
              <a:tr h="0">
                <a:tc>
                  <a:txBody>
                    <a:bodyPr/>
                    <a:lstStyle/>
                    <a:p>
                      <a:pPr indent="0" marL="0">
                        <a:buNone/>
                      </a:pPr>
                      <a:r>
                        <a:rPr lang="en-US" sz="2000" b="1" dirty="0">
                          <a:solidFill>
                            <a:srgbClr val="1F2937"/>
                          </a:solidFill>
                          <a:latin typeface="Calibri" pitchFamily="34" charset="0"/>
                          <a:ea typeface="Calibri" pitchFamily="34" charset="-122"/>
                          <a:cs typeface="Calibri" pitchFamily="34" charset="-120"/>
                        </a:rPr>
                        <a:t>Check</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2000" dirty="0">
                          <a:solidFill>
                            <a:srgbClr val="1F2937"/>
                          </a:solidFill>
                          <a:latin typeface="Calibri" pitchFamily="34" charset="0"/>
                          <a:ea typeface="Calibri" pitchFamily="34" charset="-122"/>
                          <a:cs typeface="Calibri" pitchFamily="34" charset="-120"/>
                        </a:rPr>
                        <a:t>None</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2000" dirty="0">
                          <a:solidFill>
                            <a:srgbClr val="1F2937"/>
                          </a:solidFill>
                          <a:latin typeface="Calibri" pitchFamily="34" charset="0"/>
                          <a:ea typeface="Calibri" pitchFamily="34" charset="-122"/>
                          <a:cs typeface="Calibri" pitchFamily="34" charset="-120"/>
                        </a:rPr>
                        <a:t>Claims and length</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r>
            </a:tbl>
          </a:graphicData>
        </a:graphic>
      </p:graphicFrame>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07  ·  PROMPT ENGINEERING AND EVALUATION</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13</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Messages and roles in chat APIs</a:t>
            </a:r>
            <a:endParaRPr lang="en-US" sz="32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548640" y="1481328"/>
          <a:ext cx="11094415" cy="914400"/>
        </p:xfrm>
        <a:graphic>
          <a:graphicData uri="http://schemas.openxmlformats.org/drawingml/2006/table">
            <a:tbl>
              <a:tblPr/>
              <a:tblGrid>
                <a:gridCol w="2593500"/>
                <a:gridCol w="4466583"/>
                <a:gridCol w="4034333"/>
              </a:tblGrid>
              <a:tr h="0">
                <a:tc>
                  <a:txBody>
                    <a:bodyPr/>
                    <a:lstStyle/>
                    <a:p>
                      <a:pPr indent="0" marL="0">
                        <a:buNone/>
                      </a:pPr>
                      <a:r>
                        <a:rPr lang="en-US" sz="2000" b="1" dirty="0">
                          <a:solidFill>
                            <a:srgbClr val="FFFFFF"/>
                          </a:solidFill>
                          <a:latin typeface="Calibri" pitchFamily="34" charset="0"/>
                          <a:ea typeface="Calibri" pitchFamily="34" charset="-122"/>
                          <a:cs typeface="Calibri" pitchFamily="34" charset="-120"/>
                        </a:rPr>
                        <a:t>Role</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1E1B4B"/>
                    </a:solidFill>
                  </a:tcPr>
                </a:tc>
                <a:tc>
                  <a:txBody>
                    <a:bodyPr/>
                    <a:lstStyle/>
                    <a:p>
                      <a:pPr indent="0" marL="0">
                        <a:buNone/>
                      </a:pPr>
                      <a:r>
                        <a:rPr lang="en-US" sz="2000" b="1" dirty="0">
                          <a:solidFill>
                            <a:srgbClr val="FFFFFF"/>
                          </a:solidFill>
                          <a:latin typeface="Calibri" pitchFamily="34" charset="0"/>
                          <a:ea typeface="Calibri" pitchFamily="34" charset="-122"/>
                          <a:cs typeface="Calibri" pitchFamily="34" charset="-120"/>
                        </a:rPr>
                        <a:t>Typical use</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1E1B4B"/>
                    </a:solidFill>
                  </a:tcPr>
                </a:tc>
                <a:tc>
                  <a:txBody>
                    <a:bodyPr/>
                    <a:lstStyle/>
                    <a:p>
                      <a:pPr indent="0" marL="0">
                        <a:buNone/>
                      </a:pPr>
                      <a:r>
                        <a:rPr lang="en-US" sz="2000" b="1" dirty="0">
                          <a:solidFill>
                            <a:srgbClr val="FFFFFF"/>
                          </a:solidFill>
                          <a:latin typeface="Calibri" pitchFamily="34" charset="0"/>
                          <a:ea typeface="Calibri" pitchFamily="34" charset="-122"/>
                          <a:cs typeface="Calibri" pitchFamily="34" charset="-120"/>
                        </a:rPr>
                        <a:t>Example</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1E1B4B"/>
                    </a:solidFill>
                  </a:tcPr>
                </a:tc>
              </a:tr>
              <a:tr h="0">
                <a:tc>
                  <a:txBody>
                    <a:bodyPr/>
                    <a:lstStyle/>
                    <a:p>
                      <a:pPr indent="0" marL="0">
                        <a:buNone/>
                      </a:pPr>
                      <a:r>
                        <a:rPr lang="en-US" sz="2000" b="1" dirty="0">
                          <a:solidFill>
                            <a:srgbClr val="1F2937"/>
                          </a:solidFill>
                          <a:latin typeface="Calibri" pitchFamily="34" charset="0"/>
                          <a:ea typeface="Calibri" pitchFamily="34" charset="-122"/>
                          <a:cs typeface="Calibri" pitchFamily="34" charset="-120"/>
                        </a:rPr>
                        <a:t>system / developer</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c>
                  <a:txBody>
                    <a:bodyPr/>
                    <a:lstStyle/>
                    <a:p>
                      <a:pPr indent="0" marL="0">
                        <a:buNone/>
                      </a:pPr>
                      <a:r>
                        <a:rPr lang="en-US" sz="2000" dirty="0">
                          <a:solidFill>
                            <a:srgbClr val="1F2937"/>
                          </a:solidFill>
                          <a:latin typeface="Calibri" pitchFamily="34" charset="0"/>
                          <a:ea typeface="Calibri" pitchFamily="34" charset="-122"/>
                          <a:cs typeface="Calibri" pitchFamily="34" charset="-120"/>
                        </a:rPr>
                        <a:t>Application instructions</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c>
                  <a:txBody>
                    <a:bodyPr/>
                    <a:lstStyle/>
                    <a:p>
                      <a:pPr indent="0" marL="0">
                        <a:buNone/>
                      </a:pPr>
                      <a:r>
                        <a:rPr lang="en-US" sz="2000" dirty="0">
                          <a:solidFill>
                            <a:srgbClr val="1F2937"/>
                          </a:solidFill>
                          <a:latin typeface="Calibri" pitchFamily="34" charset="0"/>
                          <a:ea typeface="Calibri" pitchFamily="34" charset="-122"/>
                          <a:cs typeface="Calibri" pitchFamily="34" charset="-120"/>
                        </a:rPr>
                        <a:t>Reply with one team label.</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r>
              <a:tr h="0">
                <a:tc>
                  <a:txBody>
                    <a:bodyPr/>
                    <a:lstStyle/>
                    <a:p>
                      <a:pPr indent="0" marL="0">
                        <a:buNone/>
                      </a:pPr>
                      <a:r>
                        <a:rPr lang="en-US" sz="2000" b="1" dirty="0">
                          <a:solidFill>
                            <a:srgbClr val="1F2937"/>
                          </a:solidFill>
                          <a:latin typeface="Calibri" pitchFamily="34" charset="0"/>
                          <a:ea typeface="Calibri" pitchFamily="34" charset="-122"/>
                          <a:cs typeface="Calibri" pitchFamily="34" charset="-120"/>
                        </a:rPr>
                        <a:t>user</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2000" dirty="0">
                          <a:solidFill>
                            <a:srgbClr val="1F2937"/>
                          </a:solidFill>
                          <a:latin typeface="Calibri" pitchFamily="34" charset="0"/>
                          <a:ea typeface="Calibri" pitchFamily="34" charset="-122"/>
                          <a:cs typeface="Calibri" pitchFamily="34" charset="-120"/>
                        </a:rPr>
                        <a:t>The request and its content</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2000" dirty="0">
                          <a:solidFill>
                            <a:srgbClr val="1F2937"/>
                          </a:solidFill>
                          <a:latin typeface="Calibri" pitchFamily="34" charset="0"/>
                          <a:ea typeface="Calibri" pitchFamily="34" charset="-122"/>
                          <a:cs typeface="Calibri" pitchFamily="34" charset="-120"/>
                        </a:rPr>
                        <a:t>My exam timetable clashes.</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r>
              <a:tr h="0">
                <a:tc>
                  <a:txBody>
                    <a:bodyPr/>
                    <a:lstStyle/>
                    <a:p>
                      <a:pPr indent="0" marL="0">
                        <a:buNone/>
                      </a:pPr>
                      <a:r>
                        <a:rPr lang="en-US" sz="2000" b="1" dirty="0">
                          <a:solidFill>
                            <a:srgbClr val="1F2937"/>
                          </a:solidFill>
                          <a:latin typeface="Calibri" pitchFamily="34" charset="0"/>
                          <a:ea typeface="Calibri" pitchFamily="34" charset="-122"/>
                          <a:cs typeface="Calibri" pitchFamily="34" charset="-120"/>
                        </a:rPr>
                        <a:t>assistant</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c>
                  <a:txBody>
                    <a:bodyPr/>
                    <a:lstStyle/>
                    <a:p>
                      <a:pPr indent="0" marL="0">
                        <a:buNone/>
                      </a:pPr>
                      <a:r>
                        <a:rPr lang="en-US" sz="2000" dirty="0">
                          <a:solidFill>
                            <a:srgbClr val="1F2937"/>
                          </a:solidFill>
                          <a:latin typeface="Calibri" pitchFamily="34" charset="0"/>
                          <a:ea typeface="Calibri" pitchFamily="34" charset="-122"/>
                          <a:cs typeface="Calibri" pitchFamily="34" charset="-120"/>
                        </a:rPr>
                        <a:t>Replies, or answers in examples</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c>
                  <a:txBody>
                    <a:bodyPr/>
                    <a:lstStyle/>
                    <a:p>
                      <a:pPr indent="0" marL="0">
                        <a:buNone/>
                      </a:pPr>
                      <a:r>
                        <a:rPr lang="en-US" sz="2000" dirty="0">
                          <a:solidFill>
                            <a:srgbClr val="1F2937"/>
                          </a:solidFill>
                          <a:latin typeface="Calibri" pitchFamily="34" charset="0"/>
                          <a:ea typeface="Calibri" pitchFamily="34" charset="-122"/>
                          <a:cs typeface="Calibri" pitchFamily="34" charset="-120"/>
                        </a:rPr>
                        <a:t>TIMETABLE_EXAMS</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r>
              <a:tr h="0">
                <a:tc>
                  <a:txBody>
                    <a:bodyPr/>
                    <a:lstStyle/>
                    <a:p>
                      <a:pPr indent="0" marL="0">
                        <a:buNone/>
                      </a:pPr>
                      <a:r>
                        <a:rPr lang="en-US" sz="2000" b="1" dirty="0">
                          <a:solidFill>
                            <a:srgbClr val="1F2937"/>
                          </a:solidFill>
                          <a:latin typeface="Calibri" pitchFamily="34" charset="0"/>
                          <a:ea typeface="Calibri" pitchFamily="34" charset="-122"/>
                          <a:cs typeface="Calibri" pitchFamily="34" charset="-120"/>
                        </a:rPr>
                        <a:t>tool</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2000" dirty="0">
                          <a:solidFill>
                            <a:srgbClr val="1F2937"/>
                          </a:solidFill>
                          <a:latin typeface="Calibri" pitchFamily="34" charset="0"/>
                          <a:ea typeface="Calibri" pitchFamily="34" charset="-122"/>
                          <a:cs typeface="Calibri" pitchFamily="34" charset="-120"/>
                        </a:rPr>
                        <a:t>Results returned by code</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2000" dirty="0">
                          <a:solidFill>
                            <a:srgbClr val="1F2937"/>
                          </a:solidFill>
                          <a:latin typeface="Calibri" pitchFamily="34" charset="0"/>
                          <a:ea typeface="Calibri" pitchFamily="34" charset="-122"/>
                          <a:cs typeface="Calibri" pitchFamily="34" charset="-120"/>
                        </a:rPr>
                        <a:t>Timetable row for the module</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r>
            </a:tbl>
          </a:graphicData>
        </a:graphic>
      </p:graphicFrame>
      <p:sp>
        <p:nvSpPr>
          <p:cNvPr id="7" name="Shape 4"/>
          <p:cNvSpPr/>
          <p:nvPr/>
        </p:nvSpPr>
        <p:spPr>
          <a:xfrm>
            <a:off x="548640" y="5486400"/>
            <a:ext cx="11094415" cy="822960"/>
          </a:xfrm>
          <a:prstGeom prst="roundRect">
            <a:avLst>
              <a:gd name="adj" fmla="val 13333"/>
            </a:avLst>
          </a:prstGeom>
          <a:solidFill>
            <a:srgbClr val="FFF1E6"/>
          </a:solidFill>
          <a:ln w="12700">
            <a:solidFill>
              <a:srgbClr val="FFF1E6"/>
            </a:solidFill>
            <a:prstDash val="solid"/>
          </a:ln>
        </p:spPr>
      </p:sp>
      <p:sp>
        <p:nvSpPr>
          <p:cNvPr id="8" name="Text 5"/>
          <p:cNvSpPr txBox="1"/>
          <p:nvPr/>
        </p:nvSpPr>
        <p:spPr>
          <a:xfrm>
            <a:off x="777240" y="5486400"/>
            <a:ext cx="10637215" cy="822960"/>
          </a:xfrm>
          <a:prstGeom prst="rect">
            <a:avLst/>
          </a:prstGeom>
          <a:noFill/>
          <a:ln/>
        </p:spPr>
        <p:txBody>
          <a:bodyPr wrap="square" lIns="50800" tIns="50800" rIns="50800" bIns="50800" rtlCol="0" anchor="ctr"/>
          <a:lstStyle/>
          <a:p>
            <a:pPr indent="0" marL="0">
              <a:buNone/>
            </a:pPr>
            <a:r>
              <a:rPr lang="en-US" sz="2000" b="1" dirty="0">
                <a:solidFill>
                  <a:srgbClr val="EA580C"/>
                </a:solidFill>
                <a:latin typeface="Calibri" pitchFamily="34" charset="0"/>
                <a:ea typeface="Calibri" pitchFamily="34" charset="-122"/>
                <a:cs typeface="Calibri" pitchFamily="34" charset="-120"/>
              </a:rPr>
              <a:t>Key idea:  </a:t>
            </a:r>
            <a:pPr indent="0" marL="0">
              <a:buNone/>
            </a:pPr>
            <a:r>
              <a:rPr lang="en-US" sz="2000" dirty="0">
                <a:solidFill>
                  <a:srgbClr val="1F2937"/>
                </a:solidFill>
                <a:latin typeface="Calibri" pitchFamily="34" charset="0"/>
                <a:ea typeface="Calibri" pitchFamily="34" charset="-122"/>
                <a:cs typeface="Calibri" pitchFamily="34" charset="-120"/>
              </a:rPr>
              <a:t>Role support and priority vary by API; enforce permissions in code.</a:t>
            </a:r>
            <a:endParaRPr lang="en-US" sz="2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07  ·  PROMPT ENGINEERING AND EVALUATION</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14</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Zero-shot, one-shot, few-shot</a:t>
            </a:r>
            <a:endParaRPr lang="en-US" sz="3200" dirty="0"/>
          </a:p>
        </p:txBody>
      </p:sp>
      <p:sp>
        <p:nvSpPr>
          <p:cNvPr id="6" name="Shape 4"/>
          <p:cNvSpPr/>
          <p:nvPr/>
        </p:nvSpPr>
        <p:spPr>
          <a:xfrm>
            <a:off x="548640" y="1481328"/>
            <a:ext cx="3515258" cy="566928"/>
          </a:xfrm>
          <a:prstGeom prst="roundRect">
            <a:avLst>
              <a:gd name="adj" fmla="val 16129"/>
            </a:avLst>
          </a:prstGeom>
          <a:solidFill>
            <a:srgbClr val="4F46E5"/>
          </a:solidFill>
          <a:ln w="12700">
            <a:solidFill>
              <a:srgbClr val="4F46E5"/>
            </a:solidFill>
            <a:prstDash val="solid"/>
          </a:ln>
        </p:spPr>
      </p:sp>
      <p:pic>
        <p:nvPicPr>
          <p:cNvPr id="7" name="Image 0" descr="preencoded.png">    </p:cNvPr>
          <p:cNvPicPr>
            <a:picLocks noChangeAspect="1"/>
          </p:cNvPicPr>
          <p:nvPr/>
        </p:nvPicPr>
        <p:blipFill>
          <a:blip r:embed="rId1"/>
          <a:stretch>
            <a:fillRect/>
          </a:stretch>
        </p:blipFill>
        <p:spPr>
          <a:xfrm>
            <a:off x="713232" y="1591056"/>
            <a:ext cx="347472" cy="347472"/>
          </a:xfrm>
          <a:prstGeom prst="rect">
            <a:avLst/>
          </a:prstGeom>
        </p:spPr>
      </p:pic>
      <p:sp>
        <p:nvSpPr>
          <p:cNvPr id="8" name="Text 5"/>
          <p:cNvSpPr txBox="1"/>
          <p:nvPr/>
        </p:nvSpPr>
        <p:spPr>
          <a:xfrm>
            <a:off x="1143000" y="1481328"/>
            <a:ext cx="2783738" cy="566928"/>
          </a:xfrm>
          <a:prstGeom prst="rect">
            <a:avLst/>
          </a:prstGeom>
          <a:noFill/>
          <a:ln/>
        </p:spPr>
        <p:txBody>
          <a:bodyPr wrap="square" lIns="50800" tIns="50800" rIns="50800" bIns="5080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Zero-shot</a:t>
            </a:r>
            <a:endParaRPr lang="en-US" sz="1800" dirty="0"/>
          </a:p>
        </p:txBody>
      </p:sp>
      <p:sp>
        <p:nvSpPr>
          <p:cNvPr id="9" name="Shape 6"/>
          <p:cNvSpPr/>
          <p:nvPr/>
        </p:nvSpPr>
        <p:spPr>
          <a:xfrm>
            <a:off x="548640" y="2167128"/>
            <a:ext cx="3515258" cy="4142232"/>
          </a:xfrm>
          <a:prstGeom prst="roundRect">
            <a:avLst>
              <a:gd name="adj" fmla="val 2601"/>
            </a:avLst>
          </a:prstGeom>
          <a:solidFill>
            <a:srgbClr val="EEF0FF"/>
          </a:solidFill>
          <a:ln w="12700">
            <a:solidFill>
              <a:srgbClr val="EEF0FF"/>
            </a:solidFill>
            <a:prstDash val="solid"/>
          </a:ln>
        </p:spPr>
      </p:sp>
      <p:sp>
        <p:nvSpPr>
          <p:cNvPr id="10" name="Text 7"/>
          <p:cNvSpPr txBox="1"/>
          <p:nvPr/>
        </p:nvSpPr>
        <p:spPr>
          <a:xfrm>
            <a:off x="658368" y="2258568"/>
            <a:ext cx="3295802" cy="4005072"/>
          </a:xfrm>
          <a:prstGeom prst="rect">
            <a:avLst/>
          </a:prstGeom>
          <a:noFill/>
          <a:ln/>
        </p:spPr>
        <p:txBody>
          <a:bodyPr wrap="square" lIns="50800" tIns="50800" rIns="50800" bIns="50800" rtlCol="0" anchor="t"/>
          <a:lstStyle/>
          <a:p>
            <a:pPr marL="254000" indent="-254000">
              <a:spcAft>
                <a:spcPts val="800"/>
              </a:spcAft>
              <a:buSzPct val="100000"/>
              <a:buChar char="●"/>
            </a:pPr>
            <a:r>
              <a:rPr lang="en-US" sz="2400" dirty="0">
                <a:solidFill>
                  <a:srgbClr val="1F2937"/>
                </a:solidFill>
                <a:latin typeface="Calibri" pitchFamily="34" charset="0"/>
                <a:ea typeface="Calibri" pitchFamily="34" charset="-122"/>
                <a:cs typeface="Calibri" pitchFamily="34" charset="-120"/>
              </a:rPr>
              <a:t>Instruction only, no example</a:t>
            </a:r>
            <a:endParaRPr lang="en-US" sz="2400" dirty="0"/>
          </a:p>
          <a:p>
            <a:pPr marL="254000" indent="-254000">
              <a:spcAft>
                <a:spcPts val="800"/>
              </a:spcAft>
              <a:buSzPct val="100000"/>
              <a:buChar char="●"/>
            </a:pPr>
            <a:r>
              <a:rPr lang="en-US" sz="2400" dirty="0">
                <a:solidFill>
                  <a:srgbClr val="1F2937"/>
                </a:solidFill>
                <a:latin typeface="Calibri" pitchFamily="34" charset="0"/>
                <a:ea typeface="Calibri" pitchFamily="34" charset="-122"/>
                <a:cs typeface="Calibri" pitchFamily="34" charset="-120"/>
              </a:rPr>
              <a:t>Shortest input</a:t>
            </a:r>
            <a:endParaRPr lang="en-US" sz="2400" dirty="0"/>
          </a:p>
          <a:p>
            <a:pPr marL="254000" indent="-254000">
              <a:spcAft>
                <a:spcPts val="800"/>
              </a:spcAft>
              <a:buSzPct val="100000"/>
              <a:buChar char="●"/>
            </a:pPr>
            <a:r>
              <a:rPr lang="en-US" sz="2400" dirty="0">
                <a:solidFill>
                  <a:srgbClr val="1F2937"/>
                </a:solidFill>
                <a:latin typeface="Calibri" pitchFamily="34" charset="0"/>
                <a:ea typeface="Calibri" pitchFamily="34" charset="-122"/>
                <a:cs typeface="Calibri" pitchFamily="34" charset="-120"/>
              </a:rPr>
              <a:t>Classify this message: ...</a:t>
            </a:r>
            <a:endParaRPr lang="en-US" sz="2400" dirty="0"/>
          </a:p>
        </p:txBody>
      </p:sp>
      <p:sp>
        <p:nvSpPr>
          <p:cNvPr id="11" name="Shape 8"/>
          <p:cNvSpPr/>
          <p:nvPr/>
        </p:nvSpPr>
        <p:spPr>
          <a:xfrm>
            <a:off x="4338218" y="1481328"/>
            <a:ext cx="3515258" cy="566928"/>
          </a:xfrm>
          <a:prstGeom prst="roundRect">
            <a:avLst>
              <a:gd name="adj" fmla="val 16129"/>
            </a:avLst>
          </a:prstGeom>
          <a:solidFill>
            <a:srgbClr val="0F766E"/>
          </a:solidFill>
          <a:ln w="12700">
            <a:solidFill>
              <a:srgbClr val="0F766E"/>
            </a:solidFill>
            <a:prstDash val="solid"/>
          </a:ln>
        </p:spPr>
      </p:sp>
      <p:pic>
        <p:nvPicPr>
          <p:cNvPr id="12" name="Image 1" descr="preencoded.png">    </p:cNvPr>
          <p:cNvPicPr>
            <a:picLocks noChangeAspect="1"/>
          </p:cNvPicPr>
          <p:nvPr/>
        </p:nvPicPr>
        <p:blipFill>
          <a:blip r:embed="rId2"/>
          <a:stretch>
            <a:fillRect/>
          </a:stretch>
        </p:blipFill>
        <p:spPr>
          <a:xfrm>
            <a:off x="4502810" y="1591056"/>
            <a:ext cx="347472" cy="347472"/>
          </a:xfrm>
          <a:prstGeom prst="rect">
            <a:avLst/>
          </a:prstGeom>
        </p:spPr>
      </p:pic>
      <p:sp>
        <p:nvSpPr>
          <p:cNvPr id="13" name="Text 9"/>
          <p:cNvSpPr txBox="1"/>
          <p:nvPr/>
        </p:nvSpPr>
        <p:spPr>
          <a:xfrm>
            <a:off x="4932578" y="1481328"/>
            <a:ext cx="2783738" cy="566928"/>
          </a:xfrm>
          <a:prstGeom prst="rect">
            <a:avLst/>
          </a:prstGeom>
          <a:noFill/>
          <a:ln/>
        </p:spPr>
        <p:txBody>
          <a:bodyPr wrap="square" lIns="50800" tIns="50800" rIns="50800" bIns="5080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One-shot</a:t>
            </a:r>
            <a:endParaRPr lang="en-US" sz="1800" dirty="0"/>
          </a:p>
        </p:txBody>
      </p:sp>
      <p:sp>
        <p:nvSpPr>
          <p:cNvPr id="14" name="Shape 10"/>
          <p:cNvSpPr/>
          <p:nvPr/>
        </p:nvSpPr>
        <p:spPr>
          <a:xfrm>
            <a:off x="4338218" y="2167128"/>
            <a:ext cx="3515258" cy="4142232"/>
          </a:xfrm>
          <a:prstGeom prst="roundRect">
            <a:avLst>
              <a:gd name="adj" fmla="val 2601"/>
            </a:avLst>
          </a:prstGeom>
          <a:solidFill>
            <a:srgbClr val="E6F4F1"/>
          </a:solidFill>
          <a:ln w="12700">
            <a:solidFill>
              <a:srgbClr val="E6F4F1"/>
            </a:solidFill>
            <a:prstDash val="solid"/>
          </a:ln>
        </p:spPr>
      </p:sp>
      <p:sp>
        <p:nvSpPr>
          <p:cNvPr id="15" name="Text 11"/>
          <p:cNvSpPr txBox="1"/>
          <p:nvPr/>
        </p:nvSpPr>
        <p:spPr>
          <a:xfrm>
            <a:off x="4447946" y="2258568"/>
            <a:ext cx="3295802" cy="4005072"/>
          </a:xfrm>
          <a:prstGeom prst="rect">
            <a:avLst/>
          </a:prstGeom>
          <a:noFill/>
          <a:ln/>
        </p:spPr>
        <p:txBody>
          <a:bodyPr wrap="square" lIns="50800" tIns="50800" rIns="50800" bIns="50800" rtlCol="0" anchor="t"/>
          <a:lstStyle/>
          <a:p>
            <a:pPr marL="254000" indent="-254000">
              <a:spcAft>
                <a:spcPts val="800"/>
              </a:spcAft>
              <a:buSzPct val="100000"/>
              <a:buChar char="●"/>
            </a:pPr>
            <a:r>
              <a:rPr lang="en-US" sz="2400" dirty="0">
                <a:solidFill>
                  <a:srgbClr val="1F2937"/>
                </a:solidFill>
                <a:latin typeface="Calibri" pitchFamily="34" charset="0"/>
                <a:ea typeface="Calibri" pitchFamily="34" charset="-122"/>
                <a:cs typeface="Calibri" pitchFamily="34" charset="-120"/>
              </a:rPr>
              <a:t>One input–answer pair</a:t>
            </a:r>
            <a:endParaRPr lang="en-US" sz="2400" dirty="0"/>
          </a:p>
          <a:p>
            <a:pPr marL="254000" indent="-254000">
              <a:spcAft>
                <a:spcPts val="800"/>
              </a:spcAft>
              <a:buSzPct val="100000"/>
              <a:buChar char="●"/>
            </a:pPr>
            <a:r>
              <a:rPr lang="en-US" sz="2400" dirty="0">
                <a:solidFill>
                  <a:srgbClr val="1F2937"/>
                </a:solidFill>
                <a:latin typeface="Calibri" pitchFamily="34" charset="0"/>
                <a:ea typeface="Calibri" pitchFamily="34" charset="-122"/>
                <a:cs typeface="Calibri" pitchFamily="34" charset="-120"/>
              </a:rPr>
              <a:t>Fixes the format, can bias the label</a:t>
            </a:r>
            <a:endParaRPr lang="en-US" sz="2400" dirty="0"/>
          </a:p>
          <a:p>
            <a:pPr marL="254000" indent="-254000">
              <a:spcAft>
                <a:spcPts val="800"/>
              </a:spcAft>
              <a:buSzPct val="100000"/>
              <a:buChar char="●"/>
            </a:pPr>
            <a:r>
              <a:rPr lang="en-US" sz="2400" dirty="0">
                <a:solidFill>
                  <a:srgbClr val="1F2937"/>
                </a:solidFill>
                <a:latin typeface="Calibri" pitchFamily="34" charset="0"/>
                <a:ea typeface="Calibri" pitchFamily="34" charset="-122"/>
                <a:cs typeface="Calibri" pitchFamily="34" charset="-120"/>
              </a:rPr>
              <a:t>eduroam fails → IT_ACCESS</a:t>
            </a:r>
            <a:endParaRPr lang="en-US" sz="2400" dirty="0"/>
          </a:p>
        </p:txBody>
      </p:sp>
      <p:sp>
        <p:nvSpPr>
          <p:cNvPr id="16" name="Shape 12"/>
          <p:cNvSpPr/>
          <p:nvPr/>
        </p:nvSpPr>
        <p:spPr>
          <a:xfrm>
            <a:off x="8127797" y="1481328"/>
            <a:ext cx="3515258" cy="566928"/>
          </a:xfrm>
          <a:prstGeom prst="roundRect">
            <a:avLst>
              <a:gd name="adj" fmla="val 16129"/>
            </a:avLst>
          </a:prstGeom>
          <a:solidFill>
            <a:srgbClr val="EA580C"/>
          </a:solidFill>
          <a:ln w="12700">
            <a:solidFill>
              <a:srgbClr val="EA580C"/>
            </a:solidFill>
            <a:prstDash val="solid"/>
          </a:ln>
        </p:spPr>
      </p:sp>
      <p:pic>
        <p:nvPicPr>
          <p:cNvPr id="17" name="Image 2" descr="preencoded.png">    </p:cNvPr>
          <p:cNvPicPr>
            <a:picLocks noChangeAspect="1"/>
          </p:cNvPicPr>
          <p:nvPr/>
        </p:nvPicPr>
        <p:blipFill>
          <a:blip r:embed="rId3"/>
          <a:stretch>
            <a:fillRect/>
          </a:stretch>
        </p:blipFill>
        <p:spPr>
          <a:xfrm>
            <a:off x="8292389" y="1591056"/>
            <a:ext cx="347472" cy="347472"/>
          </a:xfrm>
          <a:prstGeom prst="rect">
            <a:avLst/>
          </a:prstGeom>
        </p:spPr>
      </p:pic>
      <p:sp>
        <p:nvSpPr>
          <p:cNvPr id="18" name="Text 13"/>
          <p:cNvSpPr txBox="1"/>
          <p:nvPr/>
        </p:nvSpPr>
        <p:spPr>
          <a:xfrm>
            <a:off x="8722157" y="1481328"/>
            <a:ext cx="2783738" cy="566928"/>
          </a:xfrm>
          <a:prstGeom prst="rect">
            <a:avLst/>
          </a:prstGeom>
          <a:noFill/>
          <a:ln/>
        </p:spPr>
        <p:txBody>
          <a:bodyPr wrap="square" lIns="50800" tIns="50800" rIns="50800" bIns="5080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Few-shot</a:t>
            </a:r>
            <a:endParaRPr lang="en-US" sz="1800" dirty="0"/>
          </a:p>
        </p:txBody>
      </p:sp>
      <p:sp>
        <p:nvSpPr>
          <p:cNvPr id="19" name="Shape 14"/>
          <p:cNvSpPr/>
          <p:nvPr/>
        </p:nvSpPr>
        <p:spPr>
          <a:xfrm>
            <a:off x="8127797" y="2167128"/>
            <a:ext cx="3515258" cy="4142232"/>
          </a:xfrm>
          <a:prstGeom prst="roundRect">
            <a:avLst>
              <a:gd name="adj" fmla="val 2601"/>
            </a:avLst>
          </a:prstGeom>
          <a:solidFill>
            <a:srgbClr val="FFF1E6"/>
          </a:solidFill>
          <a:ln w="12700">
            <a:solidFill>
              <a:srgbClr val="FFF1E6"/>
            </a:solidFill>
            <a:prstDash val="solid"/>
          </a:ln>
        </p:spPr>
      </p:sp>
      <p:sp>
        <p:nvSpPr>
          <p:cNvPr id="20" name="Text 15"/>
          <p:cNvSpPr txBox="1"/>
          <p:nvPr/>
        </p:nvSpPr>
        <p:spPr>
          <a:xfrm>
            <a:off x="8237525" y="2258568"/>
            <a:ext cx="3295802" cy="4005072"/>
          </a:xfrm>
          <a:prstGeom prst="rect">
            <a:avLst/>
          </a:prstGeom>
          <a:noFill/>
          <a:ln/>
        </p:spPr>
        <p:txBody>
          <a:bodyPr wrap="square" lIns="50800" tIns="50800" rIns="50800" bIns="50800" rtlCol="0" anchor="t"/>
          <a:lstStyle/>
          <a:p>
            <a:pPr marL="254000" indent="-254000">
              <a:spcAft>
                <a:spcPts val="800"/>
              </a:spcAft>
              <a:buSzPct val="100000"/>
              <a:buChar char="●"/>
            </a:pPr>
            <a:r>
              <a:rPr lang="en-US" sz="2400" dirty="0">
                <a:solidFill>
                  <a:srgbClr val="1F2937"/>
                </a:solidFill>
                <a:latin typeface="Calibri" pitchFamily="34" charset="0"/>
                <a:ea typeface="Calibri" pitchFamily="34" charset="-122"/>
                <a:cs typeface="Calibri" pitchFamily="34" charset="-120"/>
              </a:rPr>
              <a:t>Several varied pairs, one per label</a:t>
            </a:r>
            <a:endParaRPr lang="en-US" sz="2400" dirty="0"/>
          </a:p>
          <a:p>
            <a:pPr marL="254000" indent="-254000">
              <a:spcAft>
                <a:spcPts val="800"/>
              </a:spcAft>
              <a:buSzPct val="100000"/>
              <a:buChar char="●"/>
            </a:pPr>
            <a:r>
              <a:rPr lang="en-US" sz="2400" dirty="0">
                <a:solidFill>
                  <a:srgbClr val="1F2937"/>
                </a:solidFill>
                <a:latin typeface="Calibri" pitchFamily="34" charset="0"/>
                <a:ea typeface="Calibri" pitchFamily="34" charset="-122"/>
                <a:cs typeface="Calibri" pitchFamily="34" charset="-120"/>
              </a:rPr>
              <a:t>Choice and order change results</a:t>
            </a:r>
            <a:endParaRPr lang="en-US" sz="2400" dirty="0"/>
          </a:p>
          <a:p>
            <a:pPr marL="254000" indent="-254000">
              <a:spcAft>
                <a:spcPts val="800"/>
              </a:spcAft>
              <a:buSzPct val="100000"/>
              <a:buChar char="●"/>
            </a:pPr>
            <a:r>
              <a:rPr lang="en-US" sz="2400" dirty="0">
                <a:solidFill>
                  <a:srgbClr val="1F2937"/>
                </a:solidFill>
                <a:latin typeface="Calibri" pitchFamily="34" charset="0"/>
                <a:ea typeface="Calibri" pitchFamily="34" charset="-122"/>
                <a:cs typeface="Calibri" pitchFamily="34" charset="-120"/>
              </a:rPr>
              <a:t>Five examples, one per team</a:t>
            </a:r>
            <a:endParaRPr lang="en-US" sz="24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07  ·  PROMPT ENGINEERING AND EVALUATION</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15</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A few-shot prompt as chat messages</a:t>
            </a:r>
            <a:endParaRPr lang="en-US" sz="3200" dirty="0"/>
          </a:p>
        </p:txBody>
      </p:sp>
      <p:sp>
        <p:nvSpPr>
          <p:cNvPr id="6" name="Shape 4"/>
          <p:cNvSpPr/>
          <p:nvPr/>
        </p:nvSpPr>
        <p:spPr>
          <a:xfrm>
            <a:off x="548640" y="1481328"/>
            <a:ext cx="6949440" cy="3446780"/>
          </a:xfrm>
          <a:prstGeom prst="roundRect">
            <a:avLst>
              <a:gd name="adj" fmla="val 2653"/>
            </a:avLst>
          </a:prstGeom>
          <a:solidFill>
            <a:srgbClr val="1E1E2E"/>
          </a:solidFill>
          <a:ln w="12700">
            <a:solidFill>
              <a:srgbClr val="1E1E2E"/>
            </a:solidFill>
            <a:prstDash val="solid"/>
          </a:ln>
        </p:spPr>
      </p:sp>
      <p:sp>
        <p:nvSpPr>
          <p:cNvPr id="7" name="Text 5"/>
          <p:cNvSpPr txBox="1"/>
          <p:nvPr/>
        </p:nvSpPr>
        <p:spPr>
          <a:xfrm>
            <a:off x="685800" y="1591056"/>
            <a:ext cx="6675120" cy="3227324"/>
          </a:xfrm>
          <a:prstGeom prst="rect">
            <a:avLst/>
          </a:prstGeom>
          <a:noFill/>
          <a:ln/>
        </p:spPr>
        <p:txBody>
          <a:bodyPr wrap="square" lIns="76200" tIns="76200" rIns="76200" bIns="76200" rtlCol="0" anchor="t"/>
          <a:lstStyle/>
          <a:p>
            <a:pPr indent="0" marL="0">
              <a:lnSpc>
                <a:spcPct val="100000"/>
              </a:lnSpc>
              <a:buNone/>
            </a:pPr>
            <a:r>
              <a:rPr lang="en-US" sz="1900" dirty="0">
                <a:solidFill>
                  <a:srgbClr val="E4E4F0"/>
                </a:solidFill>
                <a:latin typeface="Consolas" pitchFamily="34" charset="0"/>
                <a:ea typeface="Consolas" pitchFamily="34" charset="-122"/>
                <a:cs typeface="Consolas" pitchFamily="34" charset="-120"/>
              </a:rPr>
              <a:t>messages = [</a:t>
            </a:r>
            <a:endParaRPr lang="en-US" sz="1900" dirty="0"/>
          </a:p>
          <a:p>
            <a:pPr indent="0" marL="0">
              <a:lnSpc>
                <a:spcPct val="100000"/>
              </a:lnSpc>
              <a:buNone/>
            </a:pPr>
            <a:r>
              <a:rPr lang="en-US" sz="1900" dirty="0">
                <a:solidFill>
                  <a:srgbClr val="E4E4F0"/>
                </a:solidFill>
                <a:latin typeface="Consolas" pitchFamily="34" charset="0"/>
                <a:ea typeface="Consolas" pitchFamily="34" charset="-122"/>
                <a:cs typeface="Consolas" pitchFamily="34" charset="-120"/>
              </a:rPr>
              <a:t>  {"role": "system", "content": TASK},</a:t>
            </a:r>
            <a:endParaRPr lang="en-US" sz="1900" dirty="0"/>
          </a:p>
          <a:p>
            <a:pPr indent="0" marL="0">
              <a:lnSpc>
                <a:spcPct val="100000"/>
              </a:lnSpc>
              <a:buNone/>
            </a:pPr>
            <a:r>
              <a:rPr lang="en-US" sz="1900" dirty="0">
                <a:solidFill>
                  <a:srgbClr val="E4E4F0"/>
                </a:solidFill>
                <a:latin typeface="Consolas" pitchFamily="34" charset="0"/>
                <a:ea typeface="Consolas" pitchFamily="34" charset="-122"/>
                <a:cs typeface="Consolas" pitchFamily="34" charset="-120"/>
              </a:rPr>
              <a:t>  {"role": "user", "content":</a:t>
            </a:r>
            <a:endParaRPr lang="en-US" sz="1900" dirty="0"/>
          </a:p>
          <a:p>
            <a:pPr indent="0" marL="0">
              <a:lnSpc>
                <a:spcPct val="100000"/>
              </a:lnSpc>
              <a:buNone/>
            </a:pPr>
            <a:r>
              <a:rPr lang="en-US" sz="1900" dirty="0">
                <a:solidFill>
                  <a:srgbClr val="E4E4F0"/>
                </a:solidFill>
                <a:latin typeface="Consolas" pitchFamily="34" charset="0"/>
                <a:ea typeface="Consolas" pitchFamily="34" charset="-122"/>
                <a:cs typeface="Consolas" pitchFamily="34" charset="-120"/>
              </a:rPr>
              <a:t>    "Message: Cannot connect to eduroam.\n"</a:t>
            </a:r>
            <a:endParaRPr lang="en-US" sz="1900" dirty="0"/>
          </a:p>
          <a:p>
            <a:pPr indent="0" marL="0">
              <a:lnSpc>
                <a:spcPct val="100000"/>
              </a:lnSpc>
              <a:buNone/>
            </a:pPr>
            <a:r>
              <a:rPr lang="en-US" sz="1900" dirty="0">
                <a:solidFill>
                  <a:srgbClr val="E4E4F0"/>
                </a:solidFill>
                <a:latin typeface="Consolas" pitchFamily="34" charset="0"/>
                <a:ea typeface="Consolas" pitchFamily="34" charset="-122"/>
                <a:cs typeface="Consolas" pitchFamily="34" charset="-120"/>
              </a:rPr>
              <a:t>    "Category: IT_ACCESS\n\n"</a:t>
            </a:r>
            <a:endParaRPr lang="en-US" sz="1900" dirty="0"/>
          </a:p>
          <a:p>
            <a:pPr indent="0" marL="0">
              <a:lnSpc>
                <a:spcPct val="100000"/>
              </a:lnSpc>
              <a:buNone/>
            </a:pPr>
            <a:r>
              <a:rPr lang="en-US" sz="1900" dirty="0">
                <a:solidFill>
                  <a:srgbClr val="E4E4F0"/>
                </a:solidFill>
                <a:latin typeface="Consolas" pitchFamily="34" charset="0"/>
                <a:ea typeface="Consolas" pitchFamily="34" charset="-122"/>
                <a:cs typeface="Consolas" pitchFamily="34" charset="-120"/>
              </a:rPr>
              <a:t>    "Message: May I get my deposit receipt?\n"</a:t>
            </a:r>
            <a:endParaRPr lang="en-US" sz="1900" dirty="0"/>
          </a:p>
          <a:p>
            <a:pPr indent="0" marL="0">
              <a:lnSpc>
                <a:spcPct val="100000"/>
              </a:lnSpc>
              <a:buNone/>
            </a:pPr>
            <a:r>
              <a:rPr lang="en-US" sz="1900" dirty="0">
                <a:solidFill>
                  <a:srgbClr val="E4E4F0"/>
                </a:solidFill>
                <a:latin typeface="Consolas" pitchFamily="34" charset="0"/>
                <a:ea typeface="Consolas" pitchFamily="34" charset="-122"/>
                <a:cs typeface="Consolas" pitchFamily="34" charset="-120"/>
              </a:rPr>
              <a:t>    "Category: FEES_FINANCE\n\n"</a:t>
            </a:r>
            <a:endParaRPr lang="en-US" sz="1900" dirty="0"/>
          </a:p>
          <a:p>
            <a:pPr indent="0" marL="0">
              <a:lnSpc>
                <a:spcPct val="100000"/>
              </a:lnSpc>
              <a:buNone/>
            </a:pPr>
            <a:r>
              <a:rPr lang="en-US" sz="1900" dirty="0">
                <a:solidFill>
                  <a:srgbClr val="E4E4F0"/>
                </a:solidFill>
                <a:latin typeface="Consolas" pitchFamily="34" charset="0"/>
                <a:ea typeface="Consolas" pitchFamily="34" charset="-122"/>
                <a:cs typeface="Consolas" pitchFamily="34" charset="-120"/>
              </a:rPr>
              <a:t>    "Message: Two exams clash on Friday.\n"</a:t>
            </a:r>
            <a:endParaRPr lang="en-US" sz="1900" dirty="0"/>
          </a:p>
          <a:p>
            <a:pPr indent="0" marL="0">
              <a:lnSpc>
                <a:spcPct val="100000"/>
              </a:lnSpc>
              <a:buNone/>
            </a:pPr>
            <a:r>
              <a:rPr lang="en-US" sz="1900" dirty="0">
                <a:solidFill>
                  <a:srgbClr val="E4E4F0"/>
                </a:solidFill>
                <a:latin typeface="Consolas" pitchFamily="34" charset="0"/>
                <a:ea typeface="Consolas" pitchFamily="34" charset="-122"/>
                <a:cs typeface="Consolas" pitchFamily="34" charset="-120"/>
              </a:rPr>
              <a:t>    "Category:"},</a:t>
            </a:r>
            <a:endParaRPr lang="en-US" sz="1900" dirty="0"/>
          </a:p>
          <a:p>
            <a:pPr indent="0" marL="0">
              <a:lnSpc>
                <a:spcPct val="100000"/>
              </a:lnSpc>
              <a:buNone/>
            </a:pPr>
            <a:r>
              <a:rPr lang="en-US" sz="1900" dirty="0">
                <a:solidFill>
                  <a:srgbClr val="E4E4F0"/>
                </a:solidFill>
                <a:latin typeface="Consolas" pitchFamily="34" charset="0"/>
                <a:ea typeface="Consolas" pitchFamily="34" charset="-122"/>
                <a:cs typeface="Consolas" pitchFamily="34" charset="-120"/>
              </a:rPr>
              <a:t>]</a:t>
            </a:r>
            <a:endParaRPr lang="en-US" sz="1900" dirty="0"/>
          </a:p>
        </p:txBody>
      </p:sp>
      <p:sp>
        <p:nvSpPr>
          <p:cNvPr id="8" name="Text 6"/>
          <p:cNvSpPr txBox="1"/>
          <p:nvPr/>
        </p:nvSpPr>
        <p:spPr>
          <a:xfrm>
            <a:off x="7772400" y="1481328"/>
            <a:ext cx="3870655" cy="4828032"/>
          </a:xfrm>
          <a:prstGeom prst="rect">
            <a:avLst/>
          </a:prstGeom>
          <a:noFill/>
          <a:ln/>
        </p:spPr>
        <p:txBody>
          <a:bodyPr wrap="square" lIns="50800" tIns="50800" rIns="50800" bIns="50800" rtlCol="0" anchor="t"/>
          <a:lstStyle/>
          <a:p>
            <a:pPr marL="254000" indent="-254000">
              <a:spcAft>
                <a:spcPts val="800"/>
              </a:spcAft>
              <a:buSzPct val="100000"/>
              <a:buChar char="●"/>
            </a:pPr>
            <a:r>
              <a:rPr lang="en-US" sz="2000" dirty="0">
                <a:solidFill>
                  <a:srgbClr val="1F2937"/>
                </a:solidFill>
                <a:latin typeface="Calibri" pitchFamily="34" charset="0"/>
                <a:ea typeface="Calibri" pitchFamily="34" charset="-122"/>
                <a:cs typeface="Calibri" pitchFamily="34" charset="-120"/>
              </a:rPr>
              <a:t>Rules define allowed labels.</a:t>
            </a:r>
            <a:endParaRPr lang="en-US" sz="2000" dirty="0"/>
          </a:p>
          <a:p>
            <a:pPr marL="254000" indent="-254000">
              <a:spcAft>
                <a:spcPts val="800"/>
              </a:spcAft>
              <a:buSzPct val="100000"/>
              <a:buChar char="●"/>
            </a:pPr>
            <a:r>
              <a:rPr lang="en-US" sz="2000" dirty="0">
                <a:solidFill>
                  <a:srgbClr val="1F2937"/>
                </a:solidFill>
                <a:latin typeface="Calibri" pitchFamily="34" charset="0"/>
                <a:ea typeface="Calibri" pitchFamily="34" charset="-122"/>
                <a:cs typeface="Calibri" pitchFamily="34" charset="-120"/>
              </a:rPr>
              <a:t>Examples demonstrate the format.</a:t>
            </a:r>
            <a:endParaRPr lang="en-US" sz="2000" dirty="0"/>
          </a:p>
          <a:p>
            <a:pPr marL="254000" indent="-254000">
              <a:spcAft>
                <a:spcPts val="800"/>
              </a:spcAft>
              <a:buSzPct val="100000"/>
              <a:buChar char="●"/>
            </a:pPr>
            <a:r>
              <a:rPr lang="en-US" sz="2000" dirty="0">
                <a:solidFill>
                  <a:srgbClr val="1F2937"/>
                </a:solidFill>
                <a:latin typeface="Calibri" pitchFamily="34" charset="0"/>
                <a:ea typeface="Calibri" pitchFamily="34" charset="-122"/>
                <a:cs typeface="Calibri" pitchFamily="34" charset="-120"/>
              </a:rPr>
              <a:t>Validate the returned reply.</a:t>
            </a:r>
            <a:endParaRPr lang="en-US" sz="20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07  ·  PROMPT ENGINEERING AND EVALUATION</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16</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Role-based prompting and its limits</a:t>
            </a:r>
            <a:endParaRPr lang="en-US" sz="3200" dirty="0"/>
          </a:p>
        </p:txBody>
      </p:sp>
      <p:sp>
        <p:nvSpPr>
          <p:cNvPr id="6" name="Text 4"/>
          <p:cNvSpPr txBox="1"/>
          <p:nvPr/>
        </p:nvSpPr>
        <p:spPr>
          <a:xfrm>
            <a:off x="548640" y="1481328"/>
            <a:ext cx="8138160" cy="4828032"/>
          </a:xfrm>
          <a:prstGeom prst="rect">
            <a:avLst/>
          </a:prstGeom>
          <a:noFill/>
          <a:ln/>
        </p:spPr>
        <p:txBody>
          <a:bodyPr wrap="square" lIns="50800" tIns="50800" rIns="50800" bIns="50800" rtlCol="0" anchor="t"/>
          <a:lstStyle/>
          <a:p>
            <a:pPr marL="254000" indent="-254000">
              <a:spcAft>
                <a:spcPts val="800"/>
              </a:spcAft>
              <a:buSzPct val="100000"/>
              <a:buChar char="●"/>
            </a:pPr>
            <a:r>
              <a:rPr lang="en-US" sz="2600" dirty="0">
                <a:solidFill>
                  <a:srgbClr val="1F2937"/>
                </a:solidFill>
                <a:latin typeface="Calibri" pitchFamily="34" charset="0"/>
                <a:ea typeface="Calibri" pitchFamily="34" charset="-122"/>
                <a:cs typeface="Calibri" pitchFamily="34" charset="-120"/>
              </a:rPr>
              <a:t>A role guides tone and priorities.</a:t>
            </a:r>
            <a:endParaRPr lang="en-US" sz="2600" dirty="0"/>
          </a:p>
          <a:p>
            <a:pPr marL="254000" indent="-254000">
              <a:spcAft>
                <a:spcPts val="800"/>
              </a:spcAft>
              <a:buSzPct val="100000"/>
              <a:buChar char="●"/>
            </a:pPr>
            <a:r>
              <a:rPr lang="en-US" sz="2600" dirty="0">
                <a:solidFill>
                  <a:srgbClr val="1F2937"/>
                </a:solidFill>
                <a:latin typeface="Calibri" pitchFamily="34" charset="0"/>
                <a:ea typeface="Calibri" pitchFamily="34" charset="-122"/>
                <a:cs typeface="Calibri" pitchFamily="34" charset="-120"/>
              </a:rPr>
              <a:t>Name the audience.</a:t>
            </a:r>
            <a:endParaRPr lang="en-US" sz="2600" dirty="0"/>
          </a:p>
          <a:p>
            <a:pPr marL="254000" indent="-254000">
              <a:spcAft>
                <a:spcPts val="800"/>
              </a:spcAft>
              <a:buSzPct val="100000"/>
              <a:buChar char="●"/>
            </a:pPr>
            <a:r>
              <a:rPr lang="en-US" sz="2600" dirty="0">
                <a:solidFill>
                  <a:srgbClr val="1F2937"/>
                </a:solidFill>
                <a:latin typeface="Calibri" pitchFamily="34" charset="0"/>
                <a:ea typeface="Calibri" pitchFamily="34" charset="-122"/>
                <a:cs typeface="Calibri" pitchFamily="34" charset="-120"/>
              </a:rPr>
              <a:t>Roles do not supply missing knowledge.</a:t>
            </a:r>
            <a:endParaRPr lang="en-US" sz="2600" dirty="0"/>
          </a:p>
          <a:p>
            <a:pPr marL="254000" indent="-254000">
              <a:spcAft>
                <a:spcPts val="800"/>
              </a:spcAft>
              <a:buSzPct val="100000"/>
              <a:buChar char="●"/>
            </a:pPr>
            <a:r>
              <a:rPr lang="en-US" sz="2600" dirty="0">
                <a:solidFill>
                  <a:srgbClr val="1F2937"/>
                </a:solidFill>
                <a:latin typeface="Calibri" pitchFamily="34" charset="0"/>
                <a:ea typeface="Calibri" pitchFamily="34" charset="-122"/>
                <a:cs typeface="Calibri" pitchFamily="34" charset="-120"/>
              </a:rPr>
              <a:t>Ask for evidence-based checks.</a:t>
            </a:r>
            <a:endParaRPr lang="en-US" sz="2600" dirty="0"/>
          </a:p>
        </p:txBody>
      </p:sp>
      <p:sp>
        <p:nvSpPr>
          <p:cNvPr id="7" name="Shape 5"/>
          <p:cNvSpPr/>
          <p:nvPr/>
        </p:nvSpPr>
        <p:spPr>
          <a:xfrm>
            <a:off x="9464040" y="1847088"/>
            <a:ext cx="2103120" cy="2103120"/>
          </a:xfrm>
          <a:prstGeom prst="ellipse">
            <a:avLst/>
          </a:prstGeom>
          <a:solidFill>
            <a:srgbClr val="EEF0FF"/>
          </a:solidFill>
          <a:ln w="12700">
            <a:solidFill>
              <a:srgbClr val="EEF0FF"/>
            </a:solidFill>
            <a:prstDash val="solid"/>
          </a:ln>
        </p:spPr>
      </p:sp>
      <p:pic>
        <p:nvPicPr>
          <p:cNvPr id="8" name="Image 0" descr="preencoded.png">    </p:cNvPr>
          <p:cNvPicPr>
            <a:picLocks noChangeAspect="1"/>
          </p:cNvPicPr>
          <p:nvPr/>
        </p:nvPicPr>
        <p:blipFill>
          <a:blip r:embed="rId1"/>
          <a:stretch>
            <a:fillRect/>
          </a:stretch>
        </p:blipFill>
        <p:spPr>
          <a:xfrm>
            <a:off x="9968789" y="2351837"/>
            <a:ext cx="1093622" cy="1093622"/>
          </a:xfrm>
          <a:prstGeom prst="rect">
            <a:avLst/>
          </a:prstGeom>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07  ·  PROMPT ENGINEERING AND EVALUATION</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17</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Principles from the official prompting guides</a:t>
            </a:r>
            <a:endParaRPr lang="en-US" sz="3200" dirty="0"/>
          </a:p>
        </p:txBody>
      </p:sp>
      <p:sp>
        <p:nvSpPr>
          <p:cNvPr id="6" name="Shape 4"/>
          <p:cNvSpPr/>
          <p:nvPr/>
        </p:nvSpPr>
        <p:spPr>
          <a:xfrm>
            <a:off x="548640" y="1481328"/>
            <a:ext cx="3515258" cy="2276856"/>
          </a:xfrm>
          <a:prstGeom prst="roundRect">
            <a:avLst>
              <a:gd name="adj" fmla="val 4819"/>
            </a:avLst>
          </a:prstGeom>
          <a:solidFill>
            <a:srgbClr val="EEF0FF"/>
          </a:solidFill>
          <a:ln w="12700">
            <a:solidFill>
              <a:srgbClr val="EEF0FF"/>
            </a:solidFill>
            <a:prstDash val="solid"/>
          </a:ln>
        </p:spPr>
      </p:sp>
      <p:sp>
        <p:nvSpPr>
          <p:cNvPr id="7" name="Shape 5"/>
          <p:cNvSpPr/>
          <p:nvPr/>
        </p:nvSpPr>
        <p:spPr>
          <a:xfrm>
            <a:off x="731520" y="1664208"/>
            <a:ext cx="548640" cy="548640"/>
          </a:xfrm>
          <a:prstGeom prst="ellipse">
            <a:avLst/>
          </a:prstGeom>
          <a:solidFill>
            <a:srgbClr val="4F46E5"/>
          </a:solidFill>
          <a:ln w="12700">
            <a:solidFill>
              <a:srgbClr val="4F46E5"/>
            </a:solidFill>
            <a:prstDash val="solid"/>
          </a:ln>
        </p:spPr>
      </p:sp>
      <p:pic>
        <p:nvPicPr>
          <p:cNvPr id="8" name="Image 0" descr="preencoded.png">    </p:cNvPr>
          <p:cNvPicPr>
            <a:picLocks noChangeAspect="1"/>
          </p:cNvPicPr>
          <p:nvPr/>
        </p:nvPicPr>
        <p:blipFill>
          <a:blip r:embed="rId1"/>
          <a:stretch>
            <a:fillRect/>
          </a:stretch>
        </p:blipFill>
        <p:spPr>
          <a:xfrm>
            <a:off x="863194" y="1795882"/>
            <a:ext cx="285293" cy="285293"/>
          </a:xfrm>
          <a:prstGeom prst="rect">
            <a:avLst/>
          </a:prstGeom>
        </p:spPr>
      </p:pic>
      <p:sp>
        <p:nvSpPr>
          <p:cNvPr id="9" name="Text 6"/>
          <p:cNvSpPr txBox="1"/>
          <p:nvPr/>
        </p:nvSpPr>
        <p:spPr>
          <a:xfrm>
            <a:off x="1371600" y="1645920"/>
            <a:ext cx="2555138" cy="594360"/>
          </a:xfrm>
          <a:prstGeom prst="rect">
            <a:avLst/>
          </a:prstGeom>
          <a:noFill/>
          <a:ln/>
        </p:spPr>
        <p:txBody>
          <a:bodyPr wrap="square" lIns="50800" tIns="50800" rIns="50800" bIns="50800" rtlCol="0" anchor="ctr"/>
          <a:lstStyle/>
          <a:p>
            <a:pPr indent="0" marL="0">
              <a:buNone/>
            </a:pPr>
            <a:r>
              <a:rPr lang="en-US" sz="2100" b="1" dirty="0">
                <a:solidFill>
                  <a:srgbClr val="1E1B4B"/>
                </a:solidFill>
                <a:latin typeface="Calibri" pitchFamily="34" charset="0"/>
                <a:ea typeface="Calibri" pitchFamily="34" charset="-122"/>
                <a:cs typeface="Calibri" pitchFamily="34" charset="-120"/>
              </a:rPr>
              <a:t>Be clear and specific</a:t>
            </a:r>
            <a:endParaRPr lang="en-US" sz="2100" dirty="0"/>
          </a:p>
        </p:txBody>
      </p:sp>
      <p:sp>
        <p:nvSpPr>
          <p:cNvPr id="10" name="Text 7"/>
          <p:cNvSpPr txBox="1"/>
          <p:nvPr/>
        </p:nvSpPr>
        <p:spPr>
          <a:xfrm>
            <a:off x="731520" y="2304288"/>
            <a:ext cx="3149498" cy="1408176"/>
          </a:xfrm>
          <a:prstGeom prst="rect">
            <a:avLst/>
          </a:prstGeom>
          <a:noFill/>
          <a:ln/>
        </p:spPr>
        <p:txBody>
          <a:bodyPr wrap="square" lIns="50800" tIns="50800" rIns="50800" bIns="50800" rtlCol="0" anchor="t"/>
          <a:lstStyle/>
          <a:p>
            <a:pPr indent="0" marL="0">
              <a:buNone/>
            </a:pPr>
            <a:r>
              <a:rPr lang="en-US" sz="2000" dirty="0">
                <a:solidFill>
                  <a:srgbClr val="1F2937"/>
                </a:solidFill>
                <a:latin typeface="Calibri" pitchFamily="34" charset="0"/>
                <a:ea typeface="Calibri" pitchFamily="34" charset="-122"/>
                <a:cs typeface="Calibri" pitchFamily="34" charset="-120"/>
              </a:rPr>
              <a:t>Say task, audience and format: "three bullets for first-year students".</a:t>
            </a:r>
            <a:endParaRPr lang="en-US" sz="2000" dirty="0"/>
          </a:p>
        </p:txBody>
      </p:sp>
      <p:sp>
        <p:nvSpPr>
          <p:cNvPr id="11" name="Shape 8"/>
          <p:cNvSpPr/>
          <p:nvPr/>
        </p:nvSpPr>
        <p:spPr>
          <a:xfrm>
            <a:off x="4338218" y="1481328"/>
            <a:ext cx="3515258" cy="2276856"/>
          </a:xfrm>
          <a:prstGeom prst="roundRect">
            <a:avLst>
              <a:gd name="adj" fmla="val 4819"/>
            </a:avLst>
          </a:prstGeom>
          <a:solidFill>
            <a:srgbClr val="F5F3FF"/>
          </a:solidFill>
          <a:ln w="12700">
            <a:solidFill>
              <a:srgbClr val="EEF0FF"/>
            </a:solidFill>
            <a:prstDash val="solid"/>
          </a:ln>
        </p:spPr>
      </p:sp>
      <p:sp>
        <p:nvSpPr>
          <p:cNvPr id="12" name="Shape 9"/>
          <p:cNvSpPr/>
          <p:nvPr/>
        </p:nvSpPr>
        <p:spPr>
          <a:xfrm>
            <a:off x="4521098" y="1664208"/>
            <a:ext cx="548640" cy="548640"/>
          </a:xfrm>
          <a:prstGeom prst="ellipse">
            <a:avLst/>
          </a:prstGeom>
          <a:solidFill>
            <a:srgbClr val="4F46E5"/>
          </a:solidFill>
          <a:ln w="12700">
            <a:solidFill>
              <a:srgbClr val="4F46E5"/>
            </a:solidFill>
            <a:prstDash val="solid"/>
          </a:ln>
        </p:spPr>
      </p:sp>
      <p:pic>
        <p:nvPicPr>
          <p:cNvPr id="13" name="Image 1" descr="preencoded.png">    </p:cNvPr>
          <p:cNvPicPr>
            <a:picLocks noChangeAspect="1"/>
          </p:cNvPicPr>
          <p:nvPr/>
        </p:nvPicPr>
        <p:blipFill>
          <a:blip r:embed="rId2"/>
          <a:stretch>
            <a:fillRect/>
          </a:stretch>
        </p:blipFill>
        <p:spPr>
          <a:xfrm>
            <a:off x="4652772" y="1795882"/>
            <a:ext cx="285293" cy="285293"/>
          </a:xfrm>
          <a:prstGeom prst="rect">
            <a:avLst/>
          </a:prstGeom>
        </p:spPr>
      </p:pic>
      <p:sp>
        <p:nvSpPr>
          <p:cNvPr id="14" name="Text 10"/>
          <p:cNvSpPr txBox="1"/>
          <p:nvPr/>
        </p:nvSpPr>
        <p:spPr>
          <a:xfrm>
            <a:off x="5161178" y="1645920"/>
            <a:ext cx="2555138" cy="594360"/>
          </a:xfrm>
          <a:prstGeom prst="rect">
            <a:avLst/>
          </a:prstGeom>
          <a:noFill/>
          <a:ln/>
        </p:spPr>
        <p:txBody>
          <a:bodyPr wrap="square" lIns="50800" tIns="50800" rIns="50800" bIns="50800" rtlCol="0" anchor="ctr"/>
          <a:lstStyle/>
          <a:p>
            <a:pPr indent="0" marL="0">
              <a:buNone/>
            </a:pPr>
            <a:r>
              <a:rPr lang="en-US" sz="2100" b="1" dirty="0">
                <a:solidFill>
                  <a:srgbClr val="1E1B4B"/>
                </a:solidFill>
                <a:latin typeface="Calibri" pitchFamily="34" charset="0"/>
                <a:ea typeface="Calibri" pitchFamily="34" charset="-122"/>
                <a:cs typeface="Calibri" pitchFamily="34" charset="-120"/>
              </a:rPr>
              <a:t>Give context</a:t>
            </a:r>
            <a:endParaRPr lang="en-US" sz="2100" dirty="0"/>
          </a:p>
        </p:txBody>
      </p:sp>
      <p:sp>
        <p:nvSpPr>
          <p:cNvPr id="15" name="Text 11"/>
          <p:cNvSpPr txBox="1"/>
          <p:nvPr/>
        </p:nvSpPr>
        <p:spPr>
          <a:xfrm>
            <a:off x="4521098" y="2304288"/>
            <a:ext cx="3149498" cy="1408176"/>
          </a:xfrm>
          <a:prstGeom prst="rect">
            <a:avLst/>
          </a:prstGeom>
          <a:noFill/>
          <a:ln/>
        </p:spPr>
        <p:txBody>
          <a:bodyPr wrap="square" lIns="50800" tIns="50800" rIns="50800" bIns="50800" rtlCol="0" anchor="t"/>
          <a:lstStyle/>
          <a:p>
            <a:pPr indent="0" marL="0">
              <a:buNone/>
            </a:pPr>
            <a:r>
              <a:rPr lang="en-US" sz="2000" dirty="0">
                <a:solidFill>
                  <a:srgbClr val="1F2937"/>
                </a:solidFill>
                <a:latin typeface="Calibri" pitchFamily="34" charset="0"/>
                <a:ea typeface="Calibri" pitchFamily="34" charset="-122"/>
                <a:cs typeface="Calibri" pitchFamily="34" charset="-120"/>
              </a:rPr>
              <a:t>Paste the facts and mark where each source starts and ends.</a:t>
            </a:r>
            <a:endParaRPr lang="en-US" sz="2000" dirty="0"/>
          </a:p>
        </p:txBody>
      </p:sp>
      <p:sp>
        <p:nvSpPr>
          <p:cNvPr id="16" name="Shape 12"/>
          <p:cNvSpPr/>
          <p:nvPr/>
        </p:nvSpPr>
        <p:spPr>
          <a:xfrm>
            <a:off x="8127797" y="1481328"/>
            <a:ext cx="3515258" cy="2276856"/>
          </a:xfrm>
          <a:prstGeom prst="roundRect">
            <a:avLst>
              <a:gd name="adj" fmla="val 4819"/>
            </a:avLst>
          </a:prstGeom>
          <a:solidFill>
            <a:srgbClr val="EEF0FF"/>
          </a:solidFill>
          <a:ln w="12700">
            <a:solidFill>
              <a:srgbClr val="EEF0FF"/>
            </a:solidFill>
            <a:prstDash val="solid"/>
          </a:ln>
        </p:spPr>
      </p:sp>
      <p:sp>
        <p:nvSpPr>
          <p:cNvPr id="17" name="Shape 13"/>
          <p:cNvSpPr/>
          <p:nvPr/>
        </p:nvSpPr>
        <p:spPr>
          <a:xfrm>
            <a:off x="8310677" y="1664208"/>
            <a:ext cx="548640" cy="548640"/>
          </a:xfrm>
          <a:prstGeom prst="ellipse">
            <a:avLst/>
          </a:prstGeom>
          <a:solidFill>
            <a:srgbClr val="4F46E5"/>
          </a:solidFill>
          <a:ln w="12700">
            <a:solidFill>
              <a:srgbClr val="4F46E5"/>
            </a:solidFill>
            <a:prstDash val="solid"/>
          </a:ln>
        </p:spPr>
      </p:sp>
      <p:pic>
        <p:nvPicPr>
          <p:cNvPr id="18" name="Image 2" descr="preencoded.png">    </p:cNvPr>
          <p:cNvPicPr>
            <a:picLocks noChangeAspect="1"/>
          </p:cNvPicPr>
          <p:nvPr/>
        </p:nvPicPr>
        <p:blipFill>
          <a:blip r:embed="rId3"/>
          <a:stretch>
            <a:fillRect/>
          </a:stretch>
        </p:blipFill>
        <p:spPr>
          <a:xfrm>
            <a:off x="8442350" y="1795882"/>
            <a:ext cx="285293" cy="285293"/>
          </a:xfrm>
          <a:prstGeom prst="rect">
            <a:avLst/>
          </a:prstGeom>
        </p:spPr>
      </p:pic>
      <p:sp>
        <p:nvSpPr>
          <p:cNvPr id="19" name="Text 14"/>
          <p:cNvSpPr txBox="1"/>
          <p:nvPr/>
        </p:nvSpPr>
        <p:spPr>
          <a:xfrm>
            <a:off x="8950757" y="1645920"/>
            <a:ext cx="2555138" cy="594360"/>
          </a:xfrm>
          <a:prstGeom prst="rect">
            <a:avLst/>
          </a:prstGeom>
          <a:noFill/>
          <a:ln/>
        </p:spPr>
        <p:txBody>
          <a:bodyPr wrap="square" lIns="50800" tIns="50800" rIns="50800" bIns="50800" rtlCol="0" anchor="ctr"/>
          <a:lstStyle/>
          <a:p>
            <a:pPr indent="0" marL="0">
              <a:buNone/>
            </a:pPr>
            <a:r>
              <a:rPr lang="en-US" sz="2100" b="1" dirty="0">
                <a:solidFill>
                  <a:srgbClr val="1E1B4B"/>
                </a:solidFill>
                <a:latin typeface="Calibri" pitchFamily="34" charset="0"/>
                <a:ea typeface="Calibri" pitchFamily="34" charset="-122"/>
                <a:cs typeface="Calibri" pitchFamily="34" charset="-120"/>
              </a:rPr>
              <a:t>Show examples</a:t>
            </a:r>
            <a:endParaRPr lang="en-US" sz="2100" dirty="0"/>
          </a:p>
        </p:txBody>
      </p:sp>
      <p:sp>
        <p:nvSpPr>
          <p:cNvPr id="20" name="Text 15"/>
          <p:cNvSpPr txBox="1"/>
          <p:nvPr/>
        </p:nvSpPr>
        <p:spPr>
          <a:xfrm>
            <a:off x="8310677" y="2304288"/>
            <a:ext cx="3149498" cy="1408176"/>
          </a:xfrm>
          <a:prstGeom prst="rect">
            <a:avLst/>
          </a:prstGeom>
          <a:noFill/>
          <a:ln/>
        </p:spPr>
        <p:txBody>
          <a:bodyPr wrap="square" lIns="50800" tIns="50800" rIns="50800" bIns="50800" rtlCol="0" anchor="t"/>
          <a:lstStyle/>
          <a:p>
            <a:pPr indent="0" marL="0">
              <a:buNone/>
            </a:pPr>
            <a:r>
              <a:rPr lang="en-US" sz="2000" dirty="0">
                <a:solidFill>
                  <a:srgbClr val="1F2937"/>
                </a:solidFill>
                <a:latin typeface="Calibri" pitchFamily="34" charset="0"/>
                <a:ea typeface="Calibri" pitchFamily="34" charset="-122"/>
                <a:cs typeface="Calibri" pitchFamily="34" charset="-120"/>
              </a:rPr>
              <a:t>Give varied input–answer pairs, including a tricky boundary case.</a:t>
            </a:r>
            <a:endParaRPr lang="en-US" sz="2000" dirty="0"/>
          </a:p>
        </p:txBody>
      </p:sp>
      <p:sp>
        <p:nvSpPr>
          <p:cNvPr id="21" name="Shape 16"/>
          <p:cNvSpPr/>
          <p:nvPr/>
        </p:nvSpPr>
        <p:spPr>
          <a:xfrm>
            <a:off x="548640" y="4032504"/>
            <a:ext cx="3515258" cy="2276856"/>
          </a:xfrm>
          <a:prstGeom prst="roundRect">
            <a:avLst>
              <a:gd name="adj" fmla="val 4819"/>
            </a:avLst>
          </a:prstGeom>
          <a:solidFill>
            <a:srgbClr val="F5F3FF"/>
          </a:solidFill>
          <a:ln w="12700">
            <a:solidFill>
              <a:srgbClr val="EEF0FF"/>
            </a:solidFill>
            <a:prstDash val="solid"/>
          </a:ln>
        </p:spPr>
      </p:sp>
      <p:sp>
        <p:nvSpPr>
          <p:cNvPr id="22" name="Shape 17"/>
          <p:cNvSpPr/>
          <p:nvPr/>
        </p:nvSpPr>
        <p:spPr>
          <a:xfrm>
            <a:off x="731520" y="4215384"/>
            <a:ext cx="548640" cy="548640"/>
          </a:xfrm>
          <a:prstGeom prst="ellipse">
            <a:avLst/>
          </a:prstGeom>
          <a:solidFill>
            <a:srgbClr val="4F46E5"/>
          </a:solidFill>
          <a:ln w="12700">
            <a:solidFill>
              <a:srgbClr val="4F46E5"/>
            </a:solidFill>
            <a:prstDash val="solid"/>
          </a:ln>
        </p:spPr>
      </p:sp>
      <p:pic>
        <p:nvPicPr>
          <p:cNvPr id="23" name="Image 3" descr="preencoded.png">    </p:cNvPr>
          <p:cNvPicPr>
            <a:picLocks noChangeAspect="1"/>
          </p:cNvPicPr>
          <p:nvPr/>
        </p:nvPicPr>
        <p:blipFill>
          <a:blip r:embed="rId4"/>
          <a:stretch>
            <a:fillRect/>
          </a:stretch>
        </p:blipFill>
        <p:spPr>
          <a:xfrm>
            <a:off x="863194" y="4347058"/>
            <a:ext cx="285293" cy="285293"/>
          </a:xfrm>
          <a:prstGeom prst="rect">
            <a:avLst/>
          </a:prstGeom>
        </p:spPr>
      </p:pic>
      <p:sp>
        <p:nvSpPr>
          <p:cNvPr id="24" name="Text 18"/>
          <p:cNvSpPr txBox="1"/>
          <p:nvPr/>
        </p:nvSpPr>
        <p:spPr>
          <a:xfrm>
            <a:off x="1371600" y="4197096"/>
            <a:ext cx="2555138" cy="594360"/>
          </a:xfrm>
          <a:prstGeom prst="rect">
            <a:avLst/>
          </a:prstGeom>
          <a:noFill/>
          <a:ln/>
        </p:spPr>
        <p:txBody>
          <a:bodyPr wrap="square" lIns="50800" tIns="50800" rIns="50800" bIns="50800" rtlCol="0" anchor="ctr"/>
          <a:lstStyle/>
          <a:p>
            <a:pPr indent="0" marL="0">
              <a:buNone/>
            </a:pPr>
            <a:r>
              <a:rPr lang="en-US" sz="2100" b="1" dirty="0">
                <a:solidFill>
                  <a:srgbClr val="1E1B4B"/>
                </a:solidFill>
                <a:latin typeface="Calibri" pitchFamily="34" charset="0"/>
                <a:ea typeface="Calibri" pitchFamily="34" charset="-122"/>
                <a:cs typeface="Calibri" pitchFamily="34" charset="-120"/>
              </a:rPr>
              <a:t>Break tasks down</a:t>
            </a:r>
            <a:endParaRPr lang="en-US" sz="2100" dirty="0"/>
          </a:p>
        </p:txBody>
      </p:sp>
      <p:sp>
        <p:nvSpPr>
          <p:cNvPr id="25" name="Text 19"/>
          <p:cNvSpPr txBox="1"/>
          <p:nvPr/>
        </p:nvSpPr>
        <p:spPr>
          <a:xfrm>
            <a:off x="731520" y="4855464"/>
            <a:ext cx="3149498" cy="1408176"/>
          </a:xfrm>
          <a:prstGeom prst="rect">
            <a:avLst/>
          </a:prstGeom>
          <a:noFill/>
          <a:ln/>
        </p:spPr>
        <p:txBody>
          <a:bodyPr wrap="square" lIns="50800" tIns="50800" rIns="50800" bIns="50800" rtlCol="0" anchor="t"/>
          <a:lstStyle/>
          <a:p>
            <a:pPr indent="0" marL="0">
              <a:buNone/>
            </a:pPr>
            <a:r>
              <a:rPr lang="en-US" sz="2000" dirty="0">
                <a:solidFill>
                  <a:srgbClr val="1F2937"/>
                </a:solidFill>
                <a:latin typeface="Calibri" pitchFamily="34" charset="0"/>
                <a:ea typeface="Calibri" pitchFamily="34" charset="-122"/>
                <a:cs typeface="Calibri" pitchFamily="34" charset="-120"/>
              </a:rPr>
              <a:t>Extract facts first, then draft; check each step's output.</a:t>
            </a:r>
            <a:endParaRPr lang="en-US" sz="2000" dirty="0"/>
          </a:p>
        </p:txBody>
      </p:sp>
      <p:sp>
        <p:nvSpPr>
          <p:cNvPr id="26" name="Shape 20"/>
          <p:cNvSpPr/>
          <p:nvPr/>
        </p:nvSpPr>
        <p:spPr>
          <a:xfrm>
            <a:off x="4338218" y="4032504"/>
            <a:ext cx="3515258" cy="2276856"/>
          </a:xfrm>
          <a:prstGeom prst="roundRect">
            <a:avLst>
              <a:gd name="adj" fmla="val 4819"/>
            </a:avLst>
          </a:prstGeom>
          <a:solidFill>
            <a:srgbClr val="EEF0FF"/>
          </a:solidFill>
          <a:ln w="12700">
            <a:solidFill>
              <a:srgbClr val="EEF0FF"/>
            </a:solidFill>
            <a:prstDash val="solid"/>
          </a:ln>
        </p:spPr>
      </p:sp>
      <p:sp>
        <p:nvSpPr>
          <p:cNvPr id="27" name="Shape 21"/>
          <p:cNvSpPr/>
          <p:nvPr/>
        </p:nvSpPr>
        <p:spPr>
          <a:xfrm>
            <a:off x="4521098" y="4215384"/>
            <a:ext cx="548640" cy="548640"/>
          </a:xfrm>
          <a:prstGeom prst="ellipse">
            <a:avLst/>
          </a:prstGeom>
          <a:solidFill>
            <a:srgbClr val="4F46E5"/>
          </a:solidFill>
          <a:ln w="12700">
            <a:solidFill>
              <a:srgbClr val="4F46E5"/>
            </a:solidFill>
            <a:prstDash val="solid"/>
          </a:ln>
        </p:spPr>
      </p:sp>
      <p:pic>
        <p:nvPicPr>
          <p:cNvPr id="28" name="Image 4" descr="preencoded.png">    </p:cNvPr>
          <p:cNvPicPr>
            <a:picLocks noChangeAspect="1"/>
          </p:cNvPicPr>
          <p:nvPr/>
        </p:nvPicPr>
        <p:blipFill>
          <a:blip r:embed="rId5"/>
          <a:stretch>
            <a:fillRect/>
          </a:stretch>
        </p:blipFill>
        <p:spPr>
          <a:xfrm>
            <a:off x="4652772" y="4347058"/>
            <a:ext cx="285293" cy="285293"/>
          </a:xfrm>
          <a:prstGeom prst="rect">
            <a:avLst/>
          </a:prstGeom>
        </p:spPr>
      </p:pic>
      <p:sp>
        <p:nvSpPr>
          <p:cNvPr id="29" name="Text 22"/>
          <p:cNvSpPr txBox="1"/>
          <p:nvPr/>
        </p:nvSpPr>
        <p:spPr>
          <a:xfrm>
            <a:off x="5161178" y="4197096"/>
            <a:ext cx="2555138" cy="594360"/>
          </a:xfrm>
          <a:prstGeom prst="rect">
            <a:avLst/>
          </a:prstGeom>
          <a:noFill/>
          <a:ln/>
        </p:spPr>
        <p:txBody>
          <a:bodyPr wrap="square" lIns="50800" tIns="50800" rIns="50800" bIns="50800" rtlCol="0" anchor="ctr"/>
          <a:lstStyle/>
          <a:p>
            <a:pPr indent="0" marL="0">
              <a:buNone/>
            </a:pPr>
            <a:r>
              <a:rPr lang="en-US" sz="2100" b="1" dirty="0">
                <a:solidFill>
                  <a:srgbClr val="1E1B4B"/>
                </a:solidFill>
                <a:latin typeface="Calibri" pitchFamily="34" charset="0"/>
                <a:ea typeface="Calibri" pitchFamily="34" charset="-122"/>
                <a:cs typeface="Calibri" pitchFamily="34" charset="-120"/>
              </a:rPr>
              <a:t>Allow uncertainty</a:t>
            </a:r>
            <a:endParaRPr lang="en-US" sz="2100" dirty="0"/>
          </a:p>
        </p:txBody>
      </p:sp>
      <p:sp>
        <p:nvSpPr>
          <p:cNvPr id="30" name="Text 23"/>
          <p:cNvSpPr txBox="1"/>
          <p:nvPr/>
        </p:nvSpPr>
        <p:spPr>
          <a:xfrm>
            <a:off x="4521098" y="4855464"/>
            <a:ext cx="3149498" cy="1408176"/>
          </a:xfrm>
          <a:prstGeom prst="rect">
            <a:avLst/>
          </a:prstGeom>
          <a:noFill/>
          <a:ln/>
        </p:spPr>
        <p:txBody>
          <a:bodyPr wrap="square" lIns="50800" tIns="50800" rIns="50800" bIns="50800" rtlCol="0" anchor="t"/>
          <a:lstStyle/>
          <a:p>
            <a:pPr indent="0" marL="0">
              <a:buNone/>
            </a:pPr>
            <a:r>
              <a:rPr lang="en-US" sz="2000" dirty="0">
                <a:solidFill>
                  <a:srgbClr val="1F2937"/>
                </a:solidFill>
                <a:latin typeface="Calibri" pitchFamily="34" charset="0"/>
                <a:ea typeface="Calibri" pitchFamily="34" charset="-122"/>
                <a:cs typeface="Calibri" pitchFamily="34" charset="-120"/>
              </a:rPr>
              <a:t>Say what to reply when evidence is missing: "not in the source".</a:t>
            </a:r>
            <a:endParaRPr lang="en-US" sz="2000" dirty="0"/>
          </a:p>
        </p:txBody>
      </p:sp>
      <p:sp>
        <p:nvSpPr>
          <p:cNvPr id="31" name="Shape 24"/>
          <p:cNvSpPr/>
          <p:nvPr/>
        </p:nvSpPr>
        <p:spPr>
          <a:xfrm>
            <a:off x="8127797" y="4032504"/>
            <a:ext cx="3515258" cy="2276856"/>
          </a:xfrm>
          <a:prstGeom prst="roundRect">
            <a:avLst>
              <a:gd name="adj" fmla="val 4819"/>
            </a:avLst>
          </a:prstGeom>
          <a:solidFill>
            <a:srgbClr val="F5F3FF"/>
          </a:solidFill>
          <a:ln w="12700">
            <a:solidFill>
              <a:srgbClr val="EEF0FF"/>
            </a:solidFill>
            <a:prstDash val="solid"/>
          </a:ln>
        </p:spPr>
      </p:sp>
      <p:sp>
        <p:nvSpPr>
          <p:cNvPr id="32" name="Shape 25"/>
          <p:cNvSpPr/>
          <p:nvPr/>
        </p:nvSpPr>
        <p:spPr>
          <a:xfrm>
            <a:off x="8310677" y="4215384"/>
            <a:ext cx="548640" cy="548640"/>
          </a:xfrm>
          <a:prstGeom prst="ellipse">
            <a:avLst/>
          </a:prstGeom>
          <a:solidFill>
            <a:srgbClr val="4F46E5"/>
          </a:solidFill>
          <a:ln w="12700">
            <a:solidFill>
              <a:srgbClr val="4F46E5"/>
            </a:solidFill>
            <a:prstDash val="solid"/>
          </a:ln>
        </p:spPr>
      </p:sp>
      <p:pic>
        <p:nvPicPr>
          <p:cNvPr id="33" name="Image 5" descr="preencoded.png">    </p:cNvPr>
          <p:cNvPicPr>
            <a:picLocks noChangeAspect="1"/>
          </p:cNvPicPr>
          <p:nvPr/>
        </p:nvPicPr>
        <p:blipFill>
          <a:blip r:embed="rId6"/>
          <a:stretch>
            <a:fillRect/>
          </a:stretch>
        </p:blipFill>
        <p:spPr>
          <a:xfrm>
            <a:off x="8442350" y="4347058"/>
            <a:ext cx="285293" cy="285293"/>
          </a:xfrm>
          <a:prstGeom prst="rect">
            <a:avLst/>
          </a:prstGeom>
        </p:spPr>
      </p:pic>
      <p:sp>
        <p:nvSpPr>
          <p:cNvPr id="34" name="Text 26"/>
          <p:cNvSpPr txBox="1"/>
          <p:nvPr/>
        </p:nvSpPr>
        <p:spPr>
          <a:xfrm>
            <a:off x="8950757" y="4197096"/>
            <a:ext cx="2555138" cy="594360"/>
          </a:xfrm>
          <a:prstGeom prst="rect">
            <a:avLst/>
          </a:prstGeom>
          <a:noFill/>
          <a:ln/>
        </p:spPr>
        <p:txBody>
          <a:bodyPr wrap="square" lIns="50800" tIns="50800" rIns="50800" bIns="50800" rtlCol="0" anchor="ctr"/>
          <a:lstStyle/>
          <a:p>
            <a:pPr indent="0" marL="0">
              <a:buNone/>
            </a:pPr>
            <a:r>
              <a:rPr lang="en-US" sz="2100" b="1" dirty="0">
                <a:solidFill>
                  <a:srgbClr val="1E1B4B"/>
                </a:solidFill>
                <a:latin typeface="Calibri" pitchFamily="34" charset="0"/>
                <a:ea typeface="Calibri" pitchFamily="34" charset="-122"/>
                <a:cs typeface="Calibri" pitchFamily="34" charset="-120"/>
              </a:rPr>
              <a:t>Test systematically</a:t>
            </a:r>
            <a:endParaRPr lang="en-US" sz="2100" dirty="0"/>
          </a:p>
        </p:txBody>
      </p:sp>
      <p:sp>
        <p:nvSpPr>
          <p:cNvPr id="35" name="Text 27"/>
          <p:cNvSpPr txBox="1"/>
          <p:nvPr/>
        </p:nvSpPr>
        <p:spPr>
          <a:xfrm>
            <a:off x="8310677" y="4855464"/>
            <a:ext cx="3149498" cy="1408176"/>
          </a:xfrm>
          <a:prstGeom prst="rect">
            <a:avLst/>
          </a:prstGeom>
          <a:noFill/>
          <a:ln/>
        </p:spPr>
        <p:txBody>
          <a:bodyPr wrap="square" lIns="50800" tIns="50800" rIns="50800" bIns="50800" rtlCol="0" anchor="t"/>
          <a:lstStyle/>
          <a:p>
            <a:pPr indent="0" marL="0">
              <a:buNone/>
            </a:pPr>
            <a:r>
              <a:rPr lang="en-US" sz="2000" dirty="0">
                <a:solidFill>
                  <a:srgbClr val="1F2937"/>
                </a:solidFill>
                <a:latin typeface="Calibri" pitchFamily="34" charset="0"/>
                <a:ea typeface="Calibri" pitchFamily="34" charset="-122"/>
                <a:cs typeface="Calibri" pitchFamily="34" charset="-120"/>
              </a:rPr>
              <a:t>Compare prompt versions on the same questions and settings.</a:t>
            </a:r>
            <a:endParaRPr lang="en-US" sz="20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07  ·  PROMPT ENGINEERING AND EVALUATION</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18</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Real results: does few-shot prompting help?</a:t>
            </a:r>
            <a:endParaRPr lang="en-US" sz="3200" dirty="0"/>
          </a:p>
        </p:txBody>
      </p:sp>
      <p:pic>
        <p:nvPicPr>
          <p:cNvPr id="6" name="Image 0" descr="C:\Users\sudee\Downloads\Generative_AI_2027_Teaching_Pack\AI2027_Project\build\figures\week_07\fewshot_results.png">    </p:cNvPr>
          <p:cNvPicPr>
            <a:picLocks noChangeAspect="1"/>
          </p:cNvPicPr>
          <p:nvPr/>
        </p:nvPicPr>
        <p:blipFill>
          <a:blip r:embed="rId1"/>
          <a:stretch>
            <a:fillRect/>
          </a:stretch>
        </p:blipFill>
        <p:spPr>
          <a:xfrm>
            <a:off x="2684316" y="1481328"/>
            <a:ext cx="6823063" cy="3367278"/>
          </a:xfrm>
          <a:prstGeom prst="rect">
            <a:avLst/>
          </a:prstGeom>
        </p:spPr>
      </p:pic>
      <p:sp>
        <p:nvSpPr>
          <p:cNvPr id="7" name="Text 4"/>
          <p:cNvSpPr txBox="1"/>
          <p:nvPr/>
        </p:nvSpPr>
        <p:spPr>
          <a:xfrm>
            <a:off x="548640" y="5031486"/>
            <a:ext cx="11094415" cy="1277874"/>
          </a:xfrm>
          <a:prstGeom prst="rect">
            <a:avLst/>
          </a:prstGeom>
          <a:noFill/>
          <a:ln/>
        </p:spPr>
        <p:txBody>
          <a:bodyPr wrap="square" lIns="50800" tIns="50800" rIns="50800" bIns="50800" rtlCol="0" anchor="t"/>
          <a:lstStyle/>
          <a:p>
            <a:pPr marL="254000" indent="-254000">
              <a:spcAft>
                <a:spcPts val="800"/>
              </a:spcAft>
              <a:buSzPct val="100000"/>
              <a:buChar char="●"/>
            </a:pPr>
            <a:r>
              <a:rPr lang="en-US" sz="1800" dirty="0">
                <a:solidFill>
                  <a:srgbClr val="1F2937"/>
                </a:solidFill>
                <a:latin typeface="Calibri" pitchFamily="34" charset="0"/>
                <a:ea typeface="Calibri" pitchFamily="34" charset="-122"/>
                <a:cs typeface="Calibri" pitchFamily="34" charset="-120"/>
              </a:rPr>
              <a:t>Accuracy on 40 messages: zero-shot 70.0%, one-shot 60.0%, few-shot 72.5%, role + few-shot 67.5%.</a:t>
            </a:r>
            <a:endParaRPr lang="en-US" sz="1800" dirty="0"/>
          </a:p>
          <a:p>
            <a:pPr marL="254000" indent="-254000">
              <a:spcAft>
                <a:spcPts val="800"/>
              </a:spcAft>
              <a:buSzPct val="100000"/>
              <a:buChar char="●"/>
            </a:pPr>
            <a:r>
              <a:rPr lang="en-US" sz="1800" dirty="0">
                <a:solidFill>
                  <a:srgbClr val="1F2937"/>
                </a:solidFill>
                <a:latin typeface="Calibri" pitchFamily="34" charset="0"/>
                <a:ea typeface="Calibri" pitchFamily="34" charset="-122"/>
                <a:cs typeface="Calibri" pitchFamily="34" charset="-120"/>
              </a:rPr>
              <a:t>Same model, 40 messages, temperature 0.</a:t>
            </a:r>
            <a:endParaRPr lang="en-US" sz="1800" dirty="0"/>
          </a:p>
          <a:p>
            <a:pPr marL="254000" indent="-254000">
              <a:spcAft>
                <a:spcPts val="800"/>
              </a:spcAft>
              <a:buSzPct val="100000"/>
              <a:buChar char="●"/>
            </a:pPr>
            <a:r>
              <a:rPr lang="en-US" sz="1800" dirty="0">
                <a:solidFill>
                  <a:srgbClr val="1F2937"/>
                </a:solidFill>
                <a:latin typeface="Calibri" pitchFamily="34" charset="0"/>
                <a:ea typeface="Calibri" pitchFamily="34" charset="-122"/>
                <a:cs typeface="Calibri" pitchFamily="34" charset="-120"/>
              </a:rPr>
              <a:t>One answer changes accuracy by 2.5 percentage points.</a:t>
            </a:r>
            <a:endParaRPr lang="en-US" sz="18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07  ·  PROMPT ENGINEERING AND EVALUATION</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19</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Quick check</a:t>
            </a:r>
            <a:endParaRPr lang="en-US" sz="3200" dirty="0"/>
          </a:p>
        </p:txBody>
      </p:sp>
      <p:sp>
        <p:nvSpPr>
          <p:cNvPr id="6" name="Shape 4"/>
          <p:cNvSpPr/>
          <p:nvPr/>
        </p:nvSpPr>
        <p:spPr>
          <a:xfrm>
            <a:off x="548640" y="1527048"/>
            <a:ext cx="640080" cy="640080"/>
          </a:xfrm>
          <a:prstGeom prst="ellipse">
            <a:avLst/>
          </a:prstGeom>
          <a:solidFill>
            <a:srgbClr val="EA580C"/>
          </a:solidFill>
          <a:ln w="12700">
            <a:solidFill>
              <a:srgbClr val="EA580C"/>
            </a:solidFill>
            <a:prstDash val="solid"/>
          </a:ln>
        </p:spPr>
      </p:sp>
      <p:pic>
        <p:nvPicPr>
          <p:cNvPr id="7" name="Image 0" descr="preencoded.png">    </p:cNvPr>
          <p:cNvPicPr>
            <a:picLocks noChangeAspect="1"/>
          </p:cNvPicPr>
          <p:nvPr/>
        </p:nvPicPr>
        <p:blipFill>
          <a:blip r:embed="rId1"/>
          <a:stretch>
            <a:fillRect/>
          </a:stretch>
        </p:blipFill>
        <p:spPr>
          <a:xfrm>
            <a:off x="702259" y="1680667"/>
            <a:ext cx="332842" cy="332842"/>
          </a:xfrm>
          <a:prstGeom prst="rect">
            <a:avLst/>
          </a:prstGeom>
        </p:spPr>
      </p:pic>
      <p:sp>
        <p:nvSpPr>
          <p:cNvPr id="8" name="Text 5"/>
          <p:cNvSpPr txBox="1"/>
          <p:nvPr/>
        </p:nvSpPr>
        <p:spPr>
          <a:xfrm>
            <a:off x="1417320" y="1481328"/>
            <a:ext cx="10225735" cy="1097280"/>
          </a:xfrm>
          <a:prstGeom prst="rect">
            <a:avLst/>
          </a:prstGeom>
          <a:noFill/>
          <a:ln/>
        </p:spPr>
        <p:txBody>
          <a:bodyPr wrap="square" lIns="50800" tIns="50800" rIns="50800" bIns="50800" rtlCol="0" anchor="ctr"/>
          <a:lstStyle/>
          <a:p>
            <a:pPr indent="0" marL="0">
              <a:buNone/>
            </a:pPr>
            <a:r>
              <a:rPr lang="en-US" sz="2400" b="1" dirty="0">
                <a:solidFill>
                  <a:srgbClr val="1E1B4B"/>
                </a:solidFill>
                <a:latin typeface="Calibri" pitchFamily="34" charset="0"/>
                <a:ea typeface="Calibri" pitchFamily="34" charset="-122"/>
                <a:cs typeface="Calibri" pitchFamily="34" charset="-120"/>
              </a:rPr>
              <a:t>A zero-shot classifier often replies with full sentences instead of a label. What is the most effective first fix?</a:t>
            </a:r>
            <a:endParaRPr lang="en-US" sz="2400" dirty="0"/>
          </a:p>
        </p:txBody>
      </p:sp>
      <p:sp>
        <p:nvSpPr>
          <p:cNvPr id="9" name="Shape 6"/>
          <p:cNvSpPr/>
          <p:nvPr/>
        </p:nvSpPr>
        <p:spPr>
          <a:xfrm>
            <a:off x="548640" y="2807208"/>
            <a:ext cx="5410048" cy="1325880"/>
          </a:xfrm>
          <a:prstGeom prst="roundRect">
            <a:avLst>
              <a:gd name="adj" fmla="val 6897"/>
            </a:avLst>
          </a:prstGeom>
          <a:solidFill>
            <a:srgbClr val="EEF0FF"/>
          </a:solidFill>
          <a:ln w="12700">
            <a:solidFill>
              <a:srgbClr val="EEF0FF"/>
            </a:solidFill>
            <a:prstDash val="solid"/>
          </a:ln>
        </p:spPr>
      </p:sp>
      <p:sp>
        <p:nvSpPr>
          <p:cNvPr id="10" name="Shape 7"/>
          <p:cNvSpPr/>
          <p:nvPr/>
        </p:nvSpPr>
        <p:spPr>
          <a:xfrm>
            <a:off x="713232" y="3241548"/>
            <a:ext cx="457200" cy="457200"/>
          </a:xfrm>
          <a:prstGeom prst="ellipse">
            <a:avLst/>
          </a:prstGeom>
          <a:solidFill>
            <a:srgbClr val="4F46E5"/>
          </a:solidFill>
          <a:ln w="12700">
            <a:solidFill>
              <a:srgbClr val="4F46E5"/>
            </a:solidFill>
            <a:prstDash val="solid"/>
          </a:ln>
        </p:spPr>
      </p:sp>
      <p:sp>
        <p:nvSpPr>
          <p:cNvPr id="11" name="Text 8"/>
          <p:cNvSpPr txBox="1"/>
          <p:nvPr/>
        </p:nvSpPr>
        <p:spPr>
          <a:xfrm>
            <a:off x="713232" y="3241548"/>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A</a:t>
            </a:r>
            <a:endParaRPr lang="en-US" sz="1500" dirty="0"/>
          </a:p>
        </p:txBody>
      </p:sp>
      <p:sp>
        <p:nvSpPr>
          <p:cNvPr id="12" name="Text 9"/>
          <p:cNvSpPr txBox="1"/>
          <p:nvPr/>
        </p:nvSpPr>
        <p:spPr>
          <a:xfrm>
            <a:off x="1325880" y="2807208"/>
            <a:ext cx="4495648" cy="1325880"/>
          </a:xfrm>
          <a:prstGeom prst="rect">
            <a:avLst/>
          </a:prstGeom>
          <a:noFill/>
          <a:ln/>
        </p:spPr>
        <p:txBody>
          <a:bodyPr wrap="square" lIns="50800" tIns="50800" rIns="50800" bIns="50800" rtlCol="0" anchor="ctr"/>
          <a:lstStyle/>
          <a:p>
            <a:pPr indent="0" marL="0">
              <a:buNone/>
            </a:pPr>
            <a:r>
              <a:rPr lang="en-US" sz="2000" dirty="0">
                <a:solidFill>
                  <a:srgbClr val="1F2937"/>
                </a:solidFill>
                <a:latin typeface="Calibri" pitchFamily="34" charset="0"/>
                <a:ea typeface="Calibri" pitchFamily="34" charset="-122"/>
                <a:cs typeface="Calibri" pitchFamily="34" charset="-120"/>
              </a:rPr>
              <a:t>Add a persona at the start: 'You are a world-class classifier'</a:t>
            </a:r>
            <a:endParaRPr lang="en-US" sz="2000" dirty="0"/>
          </a:p>
        </p:txBody>
      </p:sp>
      <p:sp>
        <p:nvSpPr>
          <p:cNvPr id="13" name="Shape 10"/>
          <p:cNvSpPr/>
          <p:nvPr/>
        </p:nvSpPr>
        <p:spPr>
          <a:xfrm>
            <a:off x="6233008" y="2807208"/>
            <a:ext cx="5410048" cy="1325880"/>
          </a:xfrm>
          <a:prstGeom prst="roundRect">
            <a:avLst>
              <a:gd name="adj" fmla="val 6897"/>
            </a:avLst>
          </a:prstGeom>
          <a:solidFill>
            <a:srgbClr val="EEF0FF"/>
          </a:solidFill>
          <a:ln w="12700">
            <a:solidFill>
              <a:srgbClr val="EEF0FF"/>
            </a:solidFill>
            <a:prstDash val="solid"/>
          </a:ln>
        </p:spPr>
      </p:sp>
      <p:sp>
        <p:nvSpPr>
          <p:cNvPr id="14" name="Shape 11"/>
          <p:cNvSpPr/>
          <p:nvPr/>
        </p:nvSpPr>
        <p:spPr>
          <a:xfrm>
            <a:off x="6397600" y="3241548"/>
            <a:ext cx="457200" cy="457200"/>
          </a:xfrm>
          <a:prstGeom prst="ellipse">
            <a:avLst/>
          </a:prstGeom>
          <a:solidFill>
            <a:srgbClr val="4F46E5"/>
          </a:solidFill>
          <a:ln w="12700">
            <a:solidFill>
              <a:srgbClr val="4F46E5"/>
            </a:solidFill>
            <a:prstDash val="solid"/>
          </a:ln>
        </p:spPr>
      </p:sp>
      <p:sp>
        <p:nvSpPr>
          <p:cNvPr id="15" name="Text 12"/>
          <p:cNvSpPr txBox="1"/>
          <p:nvPr/>
        </p:nvSpPr>
        <p:spPr>
          <a:xfrm>
            <a:off x="6397600" y="3241548"/>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B</a:t>
            </a:r>
            <a:endParaRPr lang="en-US" sz="1500" dirty="0"/>
          </a:p>
        </p:txBody>
      </p:sp>
      <p:sp>
        <p:nvSpPr>
          <p:cNvPr id="16" name="Text 13"/>
          <p:cNvSpPr txBox="1"/>
          <p:nvPr/>
        </p:nvSpPr>
        <p:spPr>
          <a:xfrm>
            <a:off x="7010248" y="2807208"/>
            <a:ext cx="4495648" cy="1325880"/>
          </a:xfrm>
          <a:prstGeom prst="rect">
            <a:avLst/>
          </a:prstGeom>
          <a:noFill/>
          <a:ln/>
        </p:spPr>
        <p:txBody>
          <a:bodyPr wrap="square" lIns="50800" tIns="50800" rIns="50800" bIns="50800" rtlCol="0" anchor="ctr"/>
          <a:lstStyle/>
          <a:p>
            <a:pPr indent="0" marL="0">
              <a:buNone/>
            </a:pPr>
            <a:r>
              <a:rPr lang="en-US" sz="2000" dirty="0">
                <a:solidFill>
                  <a:srgbClr val="1F2937"/>
                </a:solidFill>
                <a:latin typeface="Calibri" pitchFamily="34" charset="0"/>
                <a:ea typeface="Calibri" pitchFamily="34" charset="-122"/>
                <a:cs typeface="Calibri" pitchFamily="34" charset="-120"/>
              </a:rPr>
              <a:t>Add a few examples in the exact output format and state the allowed labels</a:t>
            </a:r>
            <a:endParaRPr lang="en-US" sz="2000" dirty="0"/>
          </a:p>
        </p:txBody>
      </p:sp>
      <p:sp>
        <p:nvSpPr>
          <p:cNvPr id="17" name="Shape 14"/>
          <p:cNvSpPr/>
          <p:nvPr/>
        </p:nvSpPr>
        <p:spPr>
          <a:xfrm>
            <a:off x="548640" y="4407408"/>
            <a:ext cx="5410048" cy="1325880"/>
          </a:xfrm>
          <a:prstGeom prst="roundRect">
            <a:avLst>
              <a:gd name="adj" fmla="val 6897"/>
            </a:avLst>
          </a:prstGeom>
          <a:solidFill>
            <a:srgbClr val="EEF0FF"/>
          </a:solidFill>
          <a:ln w="12700">
            <a:solidFill>
              <a:srgbClr val="EEF0FF"/>
            </a:solidFill>
            <a:prstDash val="solid"/>
          </a:ln>
        </p:spPr>
      </p:sp>
      <p:sp>
        <p:nvSpPr>
          <p:cNvPr id="18" name="Shape 15"/>
          <p:cNvSpPr/>
          <p:nvPr/>
        </p:nvSpPr>
        <p:spPr>
          <a:xfrm>
            <a:off x="713232" y="4841748"/>
            <a:ext cx="457200" cy="457200"/>
          </a:xfrm>
          <a:prstGeom prst="ellipse">
            <a:avLst/>
          </a:prstGeom>
          <a:solidFill>
            <a:srgbClr val="4F46E5"/>
          </a:solidFill>
          <a:ln w="12700">
            <a:solidFill>
              <a:srgbClr val="4F46E5"/>
            </a:solidFill>
            <a:prstDash val="solid"/>
          </a:ln>
        </p:spPr>
      </p:sp>
      <p:sp>
        <p:nvSpPr>
          <p:cNvPr id="19" name="Text 16"/>
          <p:cNvSpPr txBox="1"/>
          <p:nvPr/>
        </p:nvSpPr>
        <p:spPr>
          <a:xfrm>
            <a:off x="713232" y="4841748"/>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C</a:t>
            </a:r>
            <a:endParaRPr lang="en-US" sz="1500" dirty="0"/>
          </a:p>
        </p:txBody>
      </p:sp>
      <p:sp>
        <p:nvSpPr>
          <p:cNvPr id="20" name="Text 17"/>
          <p:cNvSpPr txBox="1"/>
          <p:nvPr/>
        </p:nvSpPr>
        <p:spPr>
          <a:xfrm>
            <a:off x="1325880" y="4407408"/>
            <a:ext cx="4495648" cy="1325880"/>
          </a:xfrm>
          <a:prstGeom prst="rect">
            <a:avLst/>
          </a:prstGeom>
          <a:noFill/>
          <a:ln/>
        </p:spPr>
        <p:txBody>
          <a:bodyPr wrap="square" lIns="50800" tIns="50800" rIns="50800" bIns="50800" rtlCol="0" anchor="ctr"/>
          <a:lstStyle/>
          <a:p>
            <a:pPr indent="0" marL="0">
              <a:buNone/>
            </a:pPr>
            <a:r>
              <a:rPr lang="en-US" sz="2000" dirty="0">
                <a:solidFill>
                  <a:srgbClr val="1F2937"/>
                </a:solidFill>
                <a:latin typeface="Calibri" pitchFamily="34" charset="0"/>
                <a:ea typeface="Calibri" pitchFamily="34" charset="-122"/>
                <a:cs typeface="Calibri" pitchFamily="34" charset="-120"/>
              </a:rPr>
              <a:t>Increase the temperature so that it tries other output formats</a:t>
            </a:r>
            <a:endParaRPr lang="en-US" sz="2000" dirty="0"/>
          </a:p>
        </p:txBody>
      </p:sp>
      <p:sp>
        <p:nvSpPr>
          <p:cNvPr id="21" name="Shape 18"/>
          <p:cNvSpPr/>
          <p:nvPr/>
        </p:nvSpPr>
        <p:spPr>
          <a:xfrm>
            <a:off x="6233008" y="4407408"/>
            <a:ext cx="5410048" cy="1325880"/>
          </a:xfrm>
          <a:prstGeom prst="roundRect">
            <a:avLst>
              <a:gd name="adj" fmla="val 6897"/>
            </a:avLst>
          </a:prstGeom>
          <a:solidFill>
            <a:srgbClr val="EEF0FF"/>
          </a:solidFill>
          <a:ln w="12700">
            <a:solidFill>
              <a:srgbClr val="EEF0FF"/>
            </a:solidFill>
            <a:prstDash val="solid"/>
          </a:ln>
        </p:spPr>
      </p:sp>
      <p:sp>
        <p:nvSpPr>
          <p:cNvPr id="22" name="Shape 19"/>
          <p:cNvSpPr/>
          <p:nvPr/>
        </p:nvSpPr>
        <p:spPr>
          <a:xfrm>
            <a:off x="6397600" y="4841748"/>
            <a:ext cx="457200" cy="457200"/>
          </a:xfrm>
          <a:prstGeom prst="ellipse">
            <a:avLst/>
          </a:prstGeom>
          <a:solidFill>
            <a:srgbClr val="4F46E5"/>
          </a:solidFill>
          <a:ln w="12700">
            <a:solidFill>
              <a:srgbClr val="4F46E5"/>
            </a:solidFill>
            <a:prstDash val="solid"/>
          </a:ln>
        </p:spPr>
      </p:sp>
      <p:sp>
        <p:nvSpPr>
          <p:cNvPr id="23" name="Text 20"/>
          <p:cNvSpPr txBox="1"/>
          <p:nvPr/>
        </p:nvSpPr>
        <p:spPr>
          <a:xfrm>
            <a:off x="6397600" y="4841748"/>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D</a:t>
            </a:r>
            <a:endParaRPr lang="en-US" sz="1500" dirty="0"/>
          </a:p>
        </p:txBody>
      </p:sp>
      <p:sp>
        <p:nvSpPr>
          <p:cNvPr id="24" name="Text 21"/>
          <p:cNvSpPr txBox="1"/>
          <p:nvPr/>
        </p:nvSpPr>
        <p:spPr>
          <a:xfrm>
            <a:off x="7010248" y="4407408"/>
            <a:ext cx="4495648" cy="1325880"/>
          </a:xfrm>
          <a:prstGeom prst="rect">
            <a:avLst/>
          </a:prstGeom>
          <a:noFill/>
          <a:ln/>
        </p:spPr>
        <p:txBody>
          <a:bodyPr wrap="square" lIns="50800" tIns="50800" rIns="50800" bIns="50800" rtlCol="0" anchor="ctr"/>
          <a:lstStyle/>
          <a:p>
            <a:pPr indent="0" marL="0">
              <a:buNone/>
            </a:pPr>
            <a:r>
              <a:rPr lang="en-US" sz="2000" dirty="0">
                <a:solidFill>
                  <a:srgbClr val="1F2937"/>
                </a:solidFill>
                <a:latin typeface="Calibri" pitchFamily="34" charset="0"/>
                <a:ea typeface="Calibri" pitchFamily="34" charset="-122"/>
                <a:cs typeface="Calibri" pitchFamily="34" charset="-120"/>
              </a:rPr>
              <a:t>Fine-tune the model immediately on a set of labelled messages</a:t>
            </a:r>
            <a:endParaRPr lang="en-US" sz="2000" dirty="0"/>
          </a:p>
        </p:txBody>
      </p:sp>
      <p:sp>
        <p:nvSpPr>
          <p:cNvPr id="25" name="Text 22"/>
          <p:cNvSpPr txBox="1"/>
          <p:nvPr/>
        </p:nvSpPr>
        <p:spPr>
          <a:xfrm>
            <a:off x="548640" y="5943600"/>
            <a:ext cx="11094415" cy="365760"/>
          </a:xfrm>
          <a:prstGeom prst="rect">
            <a:avLst/>
          </a:prstGeom>
          <a:noFill/>
          <a:ln/>
        </p:spPr>
        <p:txBody>
          <a:bodyPr wrap="square" lIns="50800" tIns="50800" rIns="50800" bIns="50800" rtlCol="0" anchor="t"/>
          <a:lstStyle/>
          <a:p>
            <a:pPr indent="0" marL="0">
              <a:buNone/>
            </a:pPr>
            <a:r>
              <a:rPr lang="en-US" sz="1400" i="1" dirty="0">
                <a:solidFill>
                  <a:srgbClr val="6B7280"/>
                </a:solidFill>
                <a:latin typeface="Calibri" pitchFamily="34" charset="0"/>
                <a:ea typeface="Calibri" pitchFamily="34" charset="-122"/>
                <a:cs typeface="Calibri" pitchFamily="34" charset="-120"/>
              </a:rPr>
              <a:t>Vote, then convince your neighbour (1 minute).</a:t>
            </a:r>
            <a:endParaRPr lang="en-US" sz="14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1E1B4B"/>
        </a:solidFill>
      </p:bgPr>
    </p:bg>
    <p:spTree>
      <p:nvGrpSpPr>
        <p:cNvPr id="1" name=""/>
        <p:cNvGrpSpPr/>
        <p:nvPr/>
      </p:nvGrpSpPr>
      <p:grpSpPr>
        <a:xfrm>
          <a:off x="0" y="0"/>
          <a:ext cx="0" cy="0"/>
          <a:chOff x="0" y="0"/>
          <a:chExt cx="0" cy="0"/>
        </a:xfrm>
      </p:grpSpPr>
      <p:sp>
        <p:nvSpPr>
          <p:cNvPr id="2" name="Text 0"/>
          <p:cNvSpPr txBox="1"/>
          <p:nvPr/>
        </p:nvSpPr>
        <p:spPr>
          <a:xfrm>
            <a:off x="731520" y="1188720"/>
            <a:ext cx="2926080" cy="1828800"/>
          </a:xfrm>
          <a:prstGeom prst="rect">
            <a:avLst/>
          </a:prstGeom>
          <a:noFill/>
          <a:ln/>
        </p:spPr>
        <p:txBody>
          <a:bodyPr wrap="square" lIns="0" tIns="0" rIns="0" bIns="0" rtlCol="0" anchor="t"/>
          <a:lstStyle/>
          <a:p>
            <a:pPr indent="0" marL="0">
              <a:buNone/>
            </a:pPr>
            <a:r>
              <a:rPr lang="en-US" sz="11000" b="1" dirty="0">
                <a:solidFill>
                  <a:srgbClr val="EA580C"/>
                </a:solidFill>
                <a:latin typeface="Calibri" pitchFamily="34" charset="0"/>
                <a:ea typeface="Calibri" pitchFamily="34" charset="-122"/>
                <a:cs typeface="Calibri" pitchFamily="34" charset="-120"/>
              </a:rPr>
              <a:t>03</a:t>
            </a:r>
            <a:endParaRPr lang="en-US" sz="11000" dirty="0"/>
          </a:p>
        </p:txBody>
      </p:sp>
      <p:sp>
        <p:nvSpPr>
          <p:cNvPr id="3" name="Text 1"/>
          <p:cNvSpPr txBox="1"/>
          <p:nvPr/>
        </p:nvSpPr>
        <p:spPr>
          <a:xfrm>
            <a:off x="731520" y="3063240"/>
            <a:ext cx="10515600" cy="1463040"/>
          </a:xfrm>
          <a:prstGeom prst="rect">
            <a:avLst/>
          </a:prstGeom>
          <a:noFill/>
          <a:ln/>
        </p:spPr>
        <p:txBody>
          <a:bodyPr wrap="square" lIns="0" tIns="0" rIns="0" bIns="0" rtlCol="0" anchor="t"/>
          <a:lstStyle/>
          <a:p>
            <a:pPr indent="0" marL="0">
              <a:buNone/>
            </a:pPr>
            <a:r>
              <a:rPr lang="en-US" sz="4200" b="1" dirty="0">
                <a:solidFill>
                  <a:srgbClr val="FFFFFF"/>
                </a:solidFill>
                <a:latin typeface="Calibri" pitchFamily="34" charset="0"/>
                <a:ea typeface="Calibri" pitchFamily="34" charset="-122"/>
                <a:cs typeface="Calibri" pitchFamily="34" charset="-120"/>
              </a:rPr>
              <a:t>Reasoning, structure and context</a:t>
            </a:r>
            <a:endParaRPr lang="en-US" sz="4200" dirty="0"/>
          </a:p>
        </p:txBody>
      </p:sp>
      <p:sp>
        <p:nvSpPr>
          <p:cNvPr id="4" name="Text 2"/>
          <p:cNvSpPr txBox="1"/>
          <p:nvPr/>
        </p:nvSpPr>
        <p:spPr>
          <a:xfrm>
            <a:off x="731520" y="4617720"/>
            <a:ext cx="10515600" cy="1097280"/>
          </a:xfrm>
          <a:prstGeom prst="rect">
            <a:avLst/>
          </a:prstGeom>
          <a:noFill/>
          <a:ln/>
        </p:spPr>
        <p:txBody>
          <a:bodyPr wrap="square" lIns="0" tIns="0" rIns="0" bIns="0" rtlCol="0" anchor="t"/>
          <a:lstStyle/>
          <a:p>
            <a:pPr indent="0" marL="0">
              <a:buNone/>
            </a:pPr>
            <a:r>
              <a:rPr lang="en-US" sz="2200" i="1" dirty="0">
                <a:solidFill>
                  <a:srgbClr val="C7D2FE"/>
                </a:solidFill>
                <a:latin typeface="Calibri" pitchFamily="34" charset="0"/>
                <a:ea typeface="Calibri" pitchFamily="34" charset="-122"/>
                <a:cs typeface="Calibri" pitchFamily="34" charset="-120"/>
              </a:rPr>
              <a:t>How do we handle several steps, return data for code, and supply the right facts?</a:t>
            </a:r>
            <a:endParaRPr lang="en-US" sz="2200" dirty="0"/>
          </a:p>
        </p:txBody>
      </p:sp>
      <p:sp>
        <p:nvSpPr>
          <p:cNvPr id="5" name="Shape 3"/>
          <p:cNvSpPr/>
          <p:nvPr/>
        </p:nvSpPr>
        <p:spPr>
          <a:xfrm>
            <a:off x="9692640" y="1097280"/>
            <a:ext cx="1554480" cy="1554480"/>
          </a:xfrm>
          <a:prstGeom prst="ellipse">
            <a:avLst/>
          </a:prstGeom>
          <a:solidFill>
            <a:srgbClr val="4F46E5"/>
          </a:solidFill>
          <a:ln w="12700">
            <a:solidFill>
              <a:srgbClr val="4F46E5"/>
            </a:solidFill>
            <a:prstDash val="solid"/>
          </a:ln>
        </p:spPr>
      </p:sp>
      <p:pic>
        <p:nvPicPr>
          <p:cNvPr id="6" name="Image 0" descr="preencoded.png">    </p:cNvPr>
          <p:cNvPicPr>
            <a:picLocks noChangeAspect="1"/>
          </p:cNvPicPr>
          <p:nvPr/>
        </p:nvPicPr>
        <p:blipFill>
          <a:blip r:embed="rId1"/>
          <a:stretch>
            <a:fillRect/>
          </a:stretch>
        </p:blipFill>
        <p:spPr>
          <a:xfrm>
            <a:off x="10065715" y="1470355"/>
            <a:ext cx="808330" cy="808330"/>
          </a:xfrm>
          <a:prstGeom prst="rect">
            <a:avLst/>
          </a:prstGeom>
        </p:spPr>
      </p:pic>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07  ·  PROMPT ENGINEERING AND EVALUATION</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21</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Chain-of-thought (CoT) prompting</a:t>
            </a:r>
            <a:endParaRPr lang="en-US" sz="3200" dirty="0"/>
          </a:p>
        </p:txBody>
      </p:sp>
      <p:sp>
        <p:nvSpPr>
          <p:cNvPr id="6" name="Text 4"/>
          <p:cNvSpPr txBox="1"/>
          <p:nvPr/>
        </p:nvSpPr>
        <p:spPr>
          <a:xfrm>
            <a:off x="548640" y="1481328"/>
            <a:ext cx="8138160" cy="4828032"/>
          </a:xfrm>
          <a:prstGeom prst="rect">
            <a:avLst/>
          </a:prstGeom>
          <a:noFill/>
          <a:ln/>
        </p:spPr>
        <p:txBody>
          <a:bodyPr wrap="square" lIns="50800" tIns="50800" rIns="50800" bIns="50800" rtlCol="0" anchor="t"/>
          <a:lstStyle/>
          <a:p>
            <a:pPr marL="254000" indent="-254000">
              <a:spcAft>
                <a:spcPts val="800"/>
              </a:spcAft>
              <a:buSzPct val="100000"/>
              <a:buChar char="●"/>
            </a:pPr>
            <a:r>
              <a:rPr lang="en-US" sz="2600" dirty="0">
                <a:solidFill>
                  <a:srgbClr val="1F2937"/>
                </a:solidFill>
                <a:latin typeface="Calibri" pitchFamily="34" charset="0"/>
                <a:ea typeface="Calibri" pitchFamily="34" charset="-122"/>
                <a:cs typeface="Calibri" pitchFamily="34" charset="-120"/>
              </a:rPr>
              <a:t>Ask for intermediate steps and a clear final answer.</a:t>
            </a:r>
            <a:endParaRPr lang="en-US" sz="2600" dirty="0"/>
          </a:p>
          <a:p>
            <a:pPr marL="254000" indent="-254000">
              <a:spcAft>
                <a:spcPts val="800"/>
              </a:spcAft>
              <a:buSzPct val="100000"/>
              <a:buChar char="●"/>
            </a:pPr>
            <a:r>
              <a:rPr lang="en-US" sz="2600" dirty="0">
                <a:solidFill>
                  <a:srgbClr val="1F2937"/>
                </a:solidFill>
                <a:latin typeface="Calibri" pitchFamily="34" charset="0"/>
                <a:ea typeface="Calibri" pitchFamily="34" charset="-122"/>
                <a:cs typeface="Calibri" pitchFamily="34" charset="-120"/>
              </a:rPr>
              <a:t>Sometimes helps; sometimes fails.</a:t>
            </a:r>
            <a:endParaRPr lang="en-US" sz="2600" dirty="0"/>
          </a:p>
          <a:p>
            <a:pPr marL="254000" indent="-254000">
              <a:spcAft>
                <a:spcPts val="800"/>
              </a:spcAft>
              <a:buSzPct val="100000"/>
              <a:buChar char="●"/>
            </a:pPr>
            <a:r>
              <a:rPr lang="en-US" sz="2600" dirty="0">
                <a:solidFill>
                  <a:srgbClr val="1F2937"/>
                </a:solidFill>
                <a:latin typeface="Calibri" pitchFamily="34" charset="0"/>
                <a:ea typeface="Calibri" pitchFamily="34" charset="-122"/>
                <a:cs typeface="Calibri" pitchFamily="34" charset="-120"/>
              </a:rPr>
              <a:t>Extra output costs tokens and time.</a:t>
            </a:r>
            <a:endParaRPr lang="en-US" sz="2600" dirty="0"/>
          </a:p>
          <a:p>
            <a:pPr marL="254000" indent="-254000">
              <a:spcAft>
                <a:spcPts val="800"/>
              </a:spcAft>
              <a:buSzPct val="100000"/>
              <a:buChar char="●"/>
            </a:pPr>
            <a:r>
              <a:rPr lang="en-US" sz="2600" dirty="0">
                <a:solidFill>
                  <a:srgbClr val="1F2937"/>
                </a:solidFill>
                <a:latin typeface="Calibri" pitchFamily="34" charset="0"/>
                <a:ea typeface="Calibri" pitchFamily="34" charset="-122"/>
                <a:cs typeface="Calibri" pitchFamily="34" charset="-120"/>
              </a:rPr>
              <a:t>Check the answer and its steps.</a:t>
            </a:r>
            <a:endParaRPr lang="en-US" sz="2600" dirty="0"/>
          </a:p>
        </p:txBody>
      </p:sp>
      <p:sp>
        <p:nvSpPr>
          <p:cNvPr id="7" name="Shape 5"/>
          <p:cNvSpPr/>
          <p:nvPr/>
        </p:nvSpPr>
        <p:spPr>
          <a:xfrm>
            <a:off x="9464040" y="1847088"/>
            <a:ext cx="2103120" cy="2103120"/>
          </a:xfrm>
          <a:prstGeom prst="ellipse">
            <a:avLst/>
          </a:prstGeom>
          <a:solidFill>
            <a:srgbClr val="EEF0FF"/>
          </a:solidFill>
          <a:ln w="12700">
            <a:solidFill>
              <a:srgbClr val="EEF0FF"/>
            </a:solidFill>
            <a:prstDash val="solid"/>
          </a:ln>
        </p:spPr>
      </p:sp>
      <p:pic>
        <p:nvPicPr>
          <p:cNvPr id="8" name="Image 0" descr="preencoded.png">    </p:cNvPr>
          <p:cNvPicPr>
            <a:picLocks noChangeAspect="1"/>
          </p:cNvPicPr>
          <p:nvPr/>
        </p:nvPicPr>
        <p:blipFill>
          <a:blip r:embed="rId1"/>
          <a:stretch>
            <a:fillRect/>
          </a:stretch>
        </p:blipFill>
        <p:spPr>
          <a:xfrm>
            <a:off x="9968789" y="2351837"/>
            <a:ext cx="1093622" cy="1093622"/>
          </a:xfrm>
          <a:prstGeom prst="rect">
            <a:avLst/>
          </a:prstGeom>
        </p:spPr>
      </p:pic>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07  ·  PROMPT ENGINEERING AND EVALUATION</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22</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2700" b="1" dirty="0">
                <a:solidFill>
                  <a:srgbClr val="1E1B4B"/>
                </a:solidFill>
                <a:latin typeface="Calibri" pitchFamily="34" charset="0"/>
                <a:ea typeface="Calibri" pitchFamily="34" charset="-122"/>
                <a:cs typeface="Calibri" pitchFamily="34" charset="-120"/>
              </a:rPr>
              <a:t>Real results: direct vs. chain-of-thought vs. self-consistency</a:t>
            </a:r>
            <a:endParaRPr lang="en-US" sz="2700" dirty="0"/>
          </a:p>
        </p:txBody>
      </p:sp>
      <p:pic>
        <p:nvPicPr>
          <p:cNvPr id="6" name="Image 0" descr="C:\Users\sudee\Downloads\Generative_AI_2027_Teaching_Pack\AI2027_Project\build\figures\week_07\cot_results.png">    </p:cNvPr>
          <p:cNvPicPr>
            <a:picLocks noChangeAspect="1"/>
          </p:cNvPicPr>
          <p:nvPr/>
        </p:nvPicPr>
        <p:blipFill>
          <a:blip r:embed="rId1"/>
          <a:stretch>
            <a:fillRect/>
          </a:stretch>
        </p:blipFill>
        <p:spPr>
          <a:xfrm>
            <a:off x="2435478" y="1481328"/>
            <a:ext cx="7320738" cy="3081528"/>
          </a:xfrm>
          <a:prstGeom prst="rect">
            <a:avLst/>
          </a:prstGeom>
        </p:spPr>
      </p:pic>
      <p:sp>
        <p:nvSpPr>
          <p:cNvPr id="7" name="Text 4"/>
          <p:cNvSpPr txBox="1"/>
          <p:nvPr/>
        </p:nvSpPr>
        <p:spPr>
          <a:xfrm>
            <a:off x="548640" y="4745736"/>
            <a:ext cx="11094415" cy="1563624"/>
          </a:xfrm>
          <a:prstGeom prst="rect">
            <a:avLst/>
          </a:prstGeom>
          <a:noFill/>
          <a:ln/>
        </p:spPr>
        <p:txBody>
          <a:bodyPr wrap="square" lIns="50800" tIns="50800" rIns="50800" bIns="50800" rtlCol="0" anchor="t"/>
          <a:lstStyle/>
          <a:p>
            <a:pPr marL="254000" indent="-254000">
              <a:spcAft>
                <a:spcPts val="800"/>
              </a:spcAft>
              <a:buSzPct val="100000"/>
              <a:buChar char="●"/>
            </a:pPr>
            <a:r>
              <a:rPr lang="en-US" sz="1800" dirty="0">
                <a:solidFill>
                  <a:srgbClr val="1F2937"/>
                </a:solidFill>
                <a:latin typeface="Calibri" pitchFamily="34" charset="0"/>
                <a:ea typeface="Calibri" pitchFamily="34" charset="-122"/>
                <a:cs typeface="Calibri" pitchFamily="34" charset="-120"/>
              </a:rPr>
              <a:t>Direct 50.0% (3 tokens); chain-of-thought 81.2% (189 tokens); self-consistency (k=5) 87.5% (914 tokens).</a:t>
            </a:r>
            <a:endParaRPr lang="en-US" sz="1800" dirty="0"/>
          </a:p>
          <a:p>
            <a:pPr marL="254000" indent="-254000">
              <a:spcAft>
                <a:spcPts val="800"/>
              </a:spcAft>
              <a:buSzPct val="100000"/>
              <a:buChar char="●"/>
            </a:pPr>
            <a:r>
              <a:rPr lang="en-US" sz="1800" dirty="0">
                <a:solidFill>
                  <a:srgbClr val="1F2937"/>
                </a:solidFill>
                <a:latin typeface="Calibri" pitchFamily="34" charset="0"/>
                <a:ea typeface="Calibri" pitchFamily="34" charset="-122"/>
                <a:cs typeface="Calibri" pitchFamily="34" charset="-120"/>
              </a:rPr>
              <a:t>Self-consistency samples replies and picks the most common answer.</a:t>
            </a:r>
            <a:endParaRPr lang="en-US" sz="1800" dirty="0"/>
          </a:p>
          <a:p>
            <a:pPr marL="254000" indent="-254000">
              <a:spcAft>
                <a:spcPts val="800"/>
              </a:spcAft>
              <a:buSzPct val="100000"/>
              <a:buChar char="●"/>
            </a:pPr>
            <a:r>
              <a:rPr lang="en-US" sz="1800" dirty="0">
                <a:solidFill>
                  <a:srgbClr val="1F2937"/>
                </a:solidFill>
                <a:latin typeface="Calibri" pitchFamily="34" charset="0"/>
                <a:ea typeface="Calibri" pitchFamily="34" charset="-122"/>
                <a:cs typeface="Calibri" pitchFamily="34" charset="-120"/>
              </a:rPr>
              <a:t>More calls cost more; agreement can be wrong.</a:t>
            </a:r>
            <a:endParaRPr lang="en-US" sz="18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07  ·  PROMPT ENGINEERING AND EVALUATION</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23</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Prompting reasoning models</a:t>
            </a:r>
            <a:endParaRPr lang="en-US" sz="3200" dirty="0"/>
          </a:p>
        </p:txBody>
      </p:sp>
      <p:sp>
        <p:nvSpPr>
          <p:cNvPr id="6" name="Text 4"/>
          <p:cNvSpPr txBox="1"/>
          <p:nvPr/>
        </p:nvSpPr>
        <p:spPr>
          <a:xfrm>
            <a:off x="548640" y="1481328"/>
            <a:ext cx="8138160" cy="4828032"/>
          </a:xfrm>
          <a:prstGeom prst="rect">
            <a:avLst/>
          </a:prstGeom>
          <a:noFill/>
          <a:ln/>
        </p:spPr>
        <p:txBody>
          <a:bodyPr wrap="square" lIns="50800" tIns="50800" rIns="50800" bIns="50800" rtlCol="0" anchor="t"/>
          <a:lstStyle/>
          <a:p>
            <a:pPr marL="254000" indent="-254000">
              <a:spcAft>
                <a:spcPts val="800"/>
              </a:spcAft>
              <a:buSzPct val="100000"/>
              <a:buChar char="●"/>
            </a:pPr>
            <a:r>
              <a:rPr lang="en-US" sz="2600" dirty="0">
                <a:solidFill>
                  <a:srgbClr val="1F2937"/>
                </a:solidFill>
                <a:latin typeface="Calibri" pitchFamily="34" charset="0"/>
                <a:ea typeface="Calibri" pitchFamily="34" charset="-122"/>
                <a:cs typeface="Calibri" pitchFamily="34" charset="-120"/>
              </a:rPr>
              <a:t>State the goal and constraints.</a:t>
            </a:r>
            <a:endParaRPr lang="en-US" sz="2600" dirty="0"/>
          </a:p>
          <a:p>
            <a:pPr marL="254000" indent="-254000">
              <a:spcAft>
                <a:spcPts val="800"/>
              </a:spcAft>
              <a:buSzPct val="100000"/>
              <a:buChar char="●"/>
            </a:pPr>
            <a:r>
              <a:rPr lang="en-US" sz="2600" dirty="0">
                <a:solidFill>
                  <a:srgbClr val="1F2937"/>
                </a:solidFill>
                <a:latin typeface="Calibri" pitchFamily="34" charset="0"/>
                <a:ea typeface="Calibri" pitchFamily="34" charset="-122"/>
                <a:cs typeface="Calibri" pitchFamily="34" charset="-120"/>
              </a:rPr>
              <a:t>Supply needed evidence and final format.</a:t>
            </a:r>
            <a:endParaRPr lang="en-US" sz="2600" dirty="0"/>
          </a:p>
          <a:p>
            <a:pPr marL="254000" indent="-254000">
              <a:spcAft>
                <a:spcPts val="800"/>
              </a:spcAft>
              <a:buSzPct val="100000"/>
              <a:buChar char="●"/>
            </a:pPr>
            <a:r>
              <a:rPr lang="en-US" sz="2600" dirty="0">
                <a:solidFill>
                  <a:srgbClr val="1F2937"/>
                </a:solidFill>
                <a:latin typeface="Calibri" pitchFamily="34" charset="0"/>
                <a:ea typeface="Calibri" pitchFamily="34" charset="-122"/>
                <a:cs typeface="Calibri" pitchFamily="34" charset="-120"/>
              </a:rPr>
              <a:t>Use supported effort settings.</a:t>
            </a:r>
            <a:endParaRPr lang="en-US" sz="2600" dirty="0"/>
          </a:p>
          <a:p>
            <a:pPr marL="254000" indent="-254000">
              <a:spcAft>
                <a:spcPts val="800"/>
              </a:spcAft>
              <a:buSzPct val="100000"/>
              <a:buChar char="●"/>
            </a:pPr>
            <a:r>
              <a:rPr lang="en-US" sz="2600" dirty="0">
                <a:solidFill>
                  <a:srgbClr val="1F2937"/>
                </a:solidFill>
                <a:latin typeface="Calibri" pitchFamily="34" charset="0"/>
                <a:ea typeface="Calibri" pitchFamily="34" charset="-122"/>
                <a:cs typeface="Calibri" pitchFamily="34" charset="-120"/>
              </a:rPr>
              <a:t>Measure correctness, time and cost.</a:t>
            </a:r>
            <a:endParaRPr lang="en-US" sz="2600" dirty="0"/>
          </a:p>
        </p:txBody>
      </p:sp>
      <p:sp>
        <p:nvSpPr>
          <p:cNvPr id="7" name="Shape 5"/>
          <p:cNvSpPr/>
          <p:nvPr/>
        </p:nvSpPr>
        <p:spPr>
          <a:xfrm>
            <a:off x="9464040" y="1847088"/>
            <a:ext cx="2103120" cy="2103120"/>
          </a:xfrm>
          <a:prstGeom prst="ellipse">
            <a:avLst/>
          </a:prstGeom>
          <a:solidFill>
            <a:srgbClr val="EEF0FF"/>
          </a:solidFill>
          <a:ln w="12700">
            <a:solidFill>
              <a:srgbClr val="EEF0FF"/>
            </a:solidFill>
            <a:prstDash val="solid"/>
          </a:ln>
        </p:spPr>
      </p:sp>
      <p:pic>
        <p:nvPicPr>
          <p:cNvPr id="8" name="Image 0" descr="preencoded.png">    </p:cNvPr>
          <p:cNvPicPr>
            <a:picLocks noChangeAspect="1"/>
          </p:cNvPicPr>
          <p:nvPr/>
        </p:nvPicPr>
        <p:blipFill>
          <a:blip r:embed="rId1"/>
          <a:stretch>
            <a:fillRect/>
          </a:stretch>
        </p:blipFill>
        <p:spPr>
          <a:xfrm>
            <a:off x="9968789" y="2351837"/>
            <a:ext cx="1093622" cy="1093622"/>
          </a:xfrm>
          <a:prstGeom prst="rect">
            <a:avLst/>
          </a:prstGeom>
        </p:spPr>
      </p:pic>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07  ·  PROMPT ENGINEERING AND EVALUATION</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24</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Prompt chaining: decompose complex tasks</a:t>
            </a:r>
            <a:endParaRPr lang="en-US" sz="3200" dirty="0"/>
          </a:p>
        </p:txBody>
      </p:sp>
      <p:sp>
        <p:nvSpPr>
          <p:cNvPr id="6" name="Shape 4"/>
          <p:cNvSpPr/>
          <p:nvPr/>
        </p:nvSpPr>
        <p:spPr>
          <a:xfrm>
            <a:off x="548640" y="1618488"/>
            <a:ext cx="1889699" cy="3108960"/>
          </a:xfrm>
          <a:prstGeom prst="roundRect">
            <a:avLst>
              <a:gd name="adj" fmla="val 5807"/>
            </a:avLst>
          </a:prstGeom>
          <a:solidFill>
            <a:srgbClr val="EEF0FF"/>
          </a:solidFill>
          <a:ln w="15875">
            <a:solidFill>
              <a:srgbClr val="4F46E5"/>
            </a:solidFill>
            <a:prstDash val="solid"/>
          </a:ln>
        </p:spPr>
      </p:sp>
      <p:sp>
        <p:nvSpPr>
          <p:cNvPr id="7" name="Shape 5"/>
          <p:cNvSpPr/>
          <p:nvPr/>
        </p:nvSpPr>
        <p:spPr>
          <a:xfrm>
            <a:off x="1292322" y="1746504"/>
            <a:ext cx="402336" cy="402336"/>
          </a:xfrm>
          <a:prstGeom prst="ellipse">
            <a:avLst/>
          </a:prstGeom>
          <a:solidFill>
            <a:srgbClr val="4F46E5"/>
          </a:solidFill>
          <a:ln w="12700">
            <a:solidFill>
              <a:srgbClr val="4F46E5"/>
            </a:solidFill>
            <a:prstDash val="solid"/>
          </a:ln>
        </p:spPr>
      </p:sp>
      <p:sp>
        <p:nvSpPr>
          <p:cNvPr id="8" name="Text 6"/>
          <p:cNvSpPr txBox="1"/>
          <p:nvPr/>
        </p:nvSpPr>
        <p:spPr>
          <a:xfrm>
            <a:off x="1292322" y="1746504"/>
            <a:ext cx="402336" cy="402336"/>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9" name="Text 7"/>
          <p:cNvSpPr txBox="1"/>
          <p:nvPr/>
        </p:nvSpPr>
        <p:spPr>
          <a:xfrm>
            <a:off x="621792" y="2185416"/>
            <a:ext cx="1743395" cy="777240"/>
          </a:xfrm>
          <a:prstGeom prst="rect">
            <a:avLst/>
          </a:prstGeom>
          <a:noFill/>
          <a:ln/>
        </p:spPr>
        <p:txBody>
          <a:bodyPr wrap="square" lIns="50800" tIns="50800" rIns="50800" bIns="50800" rtlCol="0" anchor="ctr"/>
          <a:lstStyle/>
          <a:p>
            <a:pPr algn="ctr" indent="0" marL="0">
              <a:buNone/>
            </a:pPr>
            <a:r>
              <a:rPr lang="en-US" sz="2100" b="1" dirty="0">
                <a:solidFill>
                  <a:srgbClr val="1E1B4B"/>
                </a:solidFill>
                <a:latin typeface="Calibri" pitchFamily="34" charset="0"/>
                <a:ea typeface="Calibri" pitchFamily="34" charset="-122"/>
                <a:cs typeface="Calibri" pitchFamily="34" charset="-120"/>
              </a:rPr>
              <a:t>Extract</a:t>
            </a:r>
            <a:endParaRPr lang="en-US" sz="2100" dirty="0"/>
          </a:p>
        </p:txBody>
      </p:sp>
      <p:sp>
        <p:nvSpPr>
          <p:cNvPr id="10" name="Text 8"/>
          <p:cNvSpPr txBox="1"/>
          <p:nvPr/>
        </p:nvSpPr>
        <p:spPr>
          <a:xfrm>
            <a:off x="640080" y="2990088"/>
            <a:ext cx="1706819" cy="1691640"/>
          </a:xfrm>
          <a:prstGeom prst="rect">
            <a:avLst/>
          </a:prstGeom>
          <a:noFill/>
          <a:ln/>
        </p:spPr>
        <p:txBody>
          <a:bodyPr wrap="square" lIns="50800" tIns="50800" rIns="50800" bIns="50800" rtlCol="0" anchor="t"/>
          <a:lstStyle/>
          <a:p>
            <a:pPr algn="ctr" indent="0" marL="0">
              <a:buNone/>
            </a:pPr>
            <a:r>
              <a:rPr lang="en-US" sz="2000" dirty="0">
                <a:solidFill>
                  <a:srgbClr val="1F2937"/>
                </a:solidFill>
                <a:latin typeface="Calibri" pitchFamily="34" charset="0"/>
                <a:ea typeface="Calibri" pitchFamily="34" charset="-122"/>
                <a:cs typeface="Calibri" pitchFamily="34" charset="-120"/>
              </a:rPr>
              <a:t>Find source facts</a:t>
            </a:r>
            <a:endParaRPr lang="en-US" sz="2000" dirty="0"/>
          </a:p>
        </p:txBody>
      </p:sp>
      <p:sp>
        <p:nvSpPr>
          <p:cNvPr id="11" name="Shape 9"/>
          <p:cNvSpPr/>
          <p:nvPr/>
        </p:nvSpPr>
        <p:spPr>
          <a:xfrm>
            <a:off x="2502347" y="3026664"/>
            <a:ext cx="283464" cy="292608"/>
          </a:xfrm>
          <a:prstGeom prst="rightArrow">
            <a:avLst/>
          </a:prstGeom>
          <a:solidFill>
            <a:srgbClr val="6B7280"/>
          </a:solidFill>
          <a:ln w="12700">
            <a:solidFill>
              <a:srgbClr val="6B7280"/>
            </a:solidFill>
            <a:prstDash val="solid"/>
          </a:ln>
        </p:spPr>
      </p:sp>
      <p:sp>
        <p:nvSpPr>
          <p:cNvPr id="12" name="Shape 10"/>
          <p:cNvSpPr/>
          <p:nvPr/>
        </p:nvSpPr>
        <p:spPr>
          <a:xfrm>
            <a:off x="2849819" y="1618488"/>
            <a:ext cx="1889699" cy="3108960"/>
          </a:xfrm>
          <a:prstGeom prst="roundRect">
            <a:avLst>
              <a:gd name="adj" fmla="val 5807"/>
            </a:avLst>
          </a:prstGeom>
          <a:solidFill>
            <a:srgbClr val="EEF0FF"/>
          </a:solidFill>
          <a:ln w="15875">
            <a:solidFill>
              <a:srgbClr val="4F46E5"/>
            </a:solidFill>
            <a:prstDash val="solid"/>
          </a:ln>
        </p:spPr>
      </p:sp>
      <p:sp>
        <p:nvSpPr>
          <p:cNvPr id="13" name="Shape 11"/>
          <p:cNvSpPr/>
          <p:nvPr/>
        </p:nvSpPr>
        <p:spPr>
          <a:xfrm>
            <a:off x="3593501" y="1746504"/>
            <a:ext cx="402336" cy="402336"/>
          </a:xfrm>
          <a:prstGeom prst="ellipse">
            <a:avLst/>
          </a:prstGeom>
          <a:solidFill>
            <a:srgbClr val="4F46E5"/>
          </a:solidFill>
          <a:ln w="12700">
            <a:solidFill>
              <a:srgbClr val="4F46E5"/>
            </a:solidFill>
            <a:prstDash val="solid"/>
          </a:ln>
        </p:spPr>
      </p:sp>
      <p:sp>
        <p:nvSpPr>
          <p:cNvPr id="14" name="Text 12"/>
          <p:cNvSpPr txBox="1"/>
          <p:nvPr/>
        </p:nvSpPr>
        <p:spPr>
          <a:xfrm>
            <a:off x="3593501" y="1746504"/>
            <a:ext cx="402336" cy="402336"/>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5" name="Text 13"/>
          <p:cNvSpPr txBox="1"/>
          <p:nvPr/>
        </p:nvSpPr>
        <p:spPr>
          <a:xfrm>
            <a:off x="2922971" y="2185416"/>
            <a:ext cx="1743395" cy="777240"/>
          </a:xfrm>
          <a:prstGeom prst="rect">
            <a:avLst/>
          </a:prstGeom>
          <a:noFill/>
          <a:ln/>
        </p:spPr>
        <p:txBody>
          <a:bodyPr wrap="square" lIns="50800" tIns="50800" rIns="50800" bIns="50800" rtlCol="0" anchor="ctr"/>
          <a:lstStyle/>
          <a:p>
            <a:pPr algn="ctr" indent="0" marL="0">
              <a:buNone/>
            </a:pPr>
            <a:r>
              <a:rPr lang="en-US" sz="2100" b="1" dirty="0">
                <a:solidFill>
                  <a:srgbClr val="1E1B4B"/>
                </a:solidFill>
                <a:latin typeface="Calibri" pitchFamily="34" charset="0"/>
                <a:ea typeface="Calibri" pitchFamily="34" charset="-122"/>
                <a:cs typeface="Calibri" pitchFamily="34" charset="-120"/>
              </a:rPr>
              <a:t>Verify</a:t>
            </a:r>
            <a:endParaRPr lang="en-US" sz="2100" dirty="0"/>
          </a:p>
        </p:txBody>
      </p:sp>
      <p:sp>
        <p:nvSpPr>
          <p:cNvPr id="16" name="Text 14"/>
          <p:cNvSpPr txBox="1"/>
          <p:nvPr/>
        </p:nvSpPr>
        <p:spPr>
          <a:xfrm>
            <a:off x="2941259" y="2990088"/>
            <a:ext cx="1706819" cy="1691640"/>
          </a:xfrm>
          <a:prstGeom prst="rect">
            <a:avLst/>
          </a:prstGeom>
          <a:noFill/>
          <a:ln/>
        </p:spPr>
        <p:txBody>
          <a:bodyPr wrap="square" lIns="50800" tIns="50800" rIns="50800" bIns="50800" rtlCol="0" anchor="t"/>
          <a:lstStyle/>
          <a:p>
            <a:pPr algn="ctr" indent="0" marL="0">
              <a:buNone/>
            </a:pPr>
            <a:r>
              <a:rPr lang="en-US" sz="2000" dirty="0">
                <a:solidFill>
                  <a:srgbClr val="1F2937"/>
                </a:solidFill>
                <a:latin typeface="Calibri" pitchFamily="34" charset="0"/>
                <a:ea typeface="Calibri" pitchFamily="34" charset="-122"/>
                <a:cs typeface="Calibri" pitchFamily="34" charset="-120"/>
              </a:rPr>
              <a:t>Check against source</a:t>
            </a:r>
            <a:endParaRPr lang="en-US" sz="2000" dirty="0"/>
          </a:p>
        </p:txBody>
      </p:sp>
      <p:sp>
        <p:nvSpPr>
          <p:cNvPr id="17" name="Shape 15"/>
          <p:cNvSpPr/>
          <p:nvPr/>
        </p:nvSpPr>
        <p:spPr>
          <a:xfrm>
            <a:off x="4803526" y="3026664"/>
            <a:ext cx="283464" cy="292608"/>
          </a:xfrm>
          <a:prstGeom prst="rightArrow">
            <a:avLst/>
          </a:prstGeom>
          <a:solidFill>
            <a:srgbClr val="6B7280"/>
          </a:solidFill>
          <a:ln w="12700">
            <a:solidFill>
              <a:srgbClr val="6B7280"/>
            </a:solidFill>
            <a:prstDash val="solid"/>
          </a:ln>
        </p:spPr>
      </p:sp>
      <p:sp>
        <p:nvSpPr>
          <p:cNvPr id="18" name="Shape 16"/>
          <p:cNvSpPr/>
          <p:nvPr/>
        </p:nvSpPr>
        <p:spPr>
          <a:xfrm>
            <a:off x="5150998" y="1618488"/>
            <a:ext cx="1889699" cy="3108960"/>
          </a:xfrm>
          <a:prstGeom prst="roundRect">
            <a:avLst>
              <a:gd name="adj" fmla="val 5807"/>
            </a:avLst>
          </a:prstGeom>
          <a:solidFill>
            <a:srgbClr val="EEF0FF"/>
          </a:solidFill>
          <a:ln w="15875">
            <a:solidFill>
              <a:srgbClr val="4F46E5"/>
            </a:solidFill>
            <a:prstDash val="solid"/>
          </a:ln>
        </p:spPr>
      </p:sp>
      <p:sp>
        <p:nvSpPr>
          <p:cNvPr id="19" name="Shape 17"/>
          <p:cNvSpPr/>
          <p:nvPr/>
        </p:nvSpPr>
        <p:spPr>
          <a:xfrm>
            <a:off x="5894680" y="1746504"/>
            <a:ext cx="402336" cy="402336"/>
          </a:xfrm>
          <a:prstGeom prst="ellipse">
            <a:avLst/>
          </a:prstGeom>
          <a:solidFill>
            <a:srgbClr val="4F46E5"/>
          </a:solidFill>
          <a:ln w="12700">
            <a:solidFill>
              <a:srgbClr val="4F46E5"/>
            </a:solidFill>
            <a:prstDash val="solid"/>
          </a:ln>
        </p:spPr>
      </p:sp>
      <p:sp>
        <p:nvSpPr>
          <p:cNvPr id="20" name="Text 18"/>
          <p:cNvSpPr txBox="1"/>
          <p:nvPr/>
        </p:nvSpPr>
        <p:spPr>
          <a:xfrm>
            <a:off x="5894680" y="1746504"/>
            <a:ext cx="402336" cy="402336"/>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21" name="Text 19"/>
          <p:cNvSpPr txBox="1"/>
          <p:nvPr/>
        </p:nvSpPr>
        <p:spPr>
          <a:xfrm>
            <a:off x="5224150" y="2185416"/>
            <a:ext cx="1743395" cy="777240"/>
          </a:xfrm>
          <a:prstGeom prst="rect">
            <a:avLst/>
          </a:prstGeom>
          <a:noFill/>
          <a:ln/>
        </p:spPr>
        <p:txBody>
          <a:bodyPr wrap="square" lIns="50800" tIns="50800" rIns="50800" bIns="50800" rtlCol="0" anchor="ctr"/>
          <a:lstStyle/>
          <a:p>
            <a:pPr algn="ctr" indent="0" marL="0">
              <a:buNone/>
            </a:pPr>
            <a:r>
              <a:rPr lang="en-US" sz="2100" b="1" dirty="0">
                <a:solidFill>
                  <a:srgbClr val="1E1B4B"/>
                </a:solidFill>
                <a:latin typeface="Calibri" pitchFamily="34" charset="0"/>
                <a:ea typeface="Calibri" pitchFamily="34" charset="-122"/>
                <a:cs typeface="Calibri" pitchFamily="34" charset="-120"/>
              </a:rPr>
              <a:t>Draft</a:t>
            </a:r>
            <a:endParaRPr lang="en-US" sz="2100" dirty="0"/>
          </a:p>
        </p:txBody>
      </p:sp>
      <p:sp>
        <p:nvSpPr>
          <p:cNvPr id="22" name="Text 20"/>
          <p:cNvSpPr txBox="1"/>
          <p:nvPr/>
        </p:nvSpPr>
        <p:spPr>
          <a:xfrm>
            <a:off x="5242438" y="2990088"/>
            <a:ext cx="1706819" cy="1691640"/>
          </a:xfrm>
          <a:prstGeom prst="rect">
            <a:avLst/>
          </a:prstGeom>
          <a:noFill/>
          <a:ln/>
        </p:spPr>
        <p:txBody>
          <a:bodyPr wrap="square" lIns="50800" tIns="50800" rIns="50800" bIns="50800" rtlCol="0" anchor="t"/>
          <a:lstStyle/>
          <a:p>
            <a:pPr algn="ctr" indent="0" marL="0">
              <a:buNone/>
            </a:pPr>
            <a:r>
              <a:rPr lang="en-US" sz="2000" dirty="0">
                <a:solidFill>
                  <a:srgbClr val="1F2937"/>
                </a:solidFill>
                <a:latin typeface="Calibri" pitchFamily="34" charset="0"/>
                <a:ea typeface="Calibri" pitchFamily="34" charset="-122"/>
                <a:cs typeface="Calibri" pitchFamily="34" charset="-120"/>
              </a:rPr>
              <a:t>Use checked facts</a:t>
            </a:r>
            <a:endParaRPr lang="en-US" sz="2000" dirty="0"/>
          </a:p>
        </p:txBody>
      </p:sp>
      <p:sp>
        <p:nvSpPr>
          <p:cNvPr id="23" name="Shape 21"/>
          <p:cNvSpPr/>
          <p:nvPr/>
        </p:nvSpPr>
        <p:spPr>
          <a:xfrm>
            <a:off x="7104705" y="3026664"/>
            <a:ext cx="283464" cy="292608"/>
          </a:xfrm>
          <a:prstGeom prst="rightArrow">
            <a:avLst/>
          </a:prstGeom>
          <a:solidFill>
            <a:srgbClr val="6B7280"/>
          </a:solidFill>
          <a:ln w="12700">
            <a:solidFill>
              <a:srgbClr val="6B7280"/>
            </a:solidFill>
            <a:prstDash val="solid"/>
          </a:ln>
        </p:spPr>
      </p:sp>
      <p:sp>
        <p:nvSpPr>
          <p:cNvPr id="24" name="Shape 22"/>
          <p:cNvSpPr/>
          <p:nvPr/>
        </p:nvSpPr>
        <p:spPr>
          <a:xfrm>
            <a:off x="7452177" y="1618488"/>
            <a:ext cx="1889699" cy="3108960"/>
          </a:xfrm>
          <a:prstGeom prst="roundRect">
            <a:avLst>
              <a:gd name="adj" fmla="val 5807"/>
            </a:avLst>
          </a:prstGeom>
          <a:solidFill>
            <a:srgbClr val="FFF1E6"/>
          </a:solidFill>
          <a:ln w="15875">
            <a:solidFill>
              <a:srgbClr val="EA580C"/>
            </a:solidFill>
            <a:prstDash val="solid"/>
          </a:ln>
        </p:spPr>
      </p:sp>
      <p:sp>
        <p:nvSpPr>
          <p:cNvPr id="25" name="Shape 23"/>
          <p:cNvSpPr/>
          <p:nvPr/>
        </p:nvSpPr>
        <p:spPr>
          <a:xfrm>
            <a:off x="8195859" y="1746504"/>
            <a:ext cx="402336" cy="402336"/>
          </a:xfrm>
          <a:prstGeom prst="ellipse">
            <a:avLst/>
          </a:prstGeom>
          <a:solidFill>
            <a:srgbClr val="EA580C"/>
          </a:solidFill>
          <a:ln w="12700">
            <a:solidFill>
              <a:srgbClr val="EA580C"/>
            </a:solidFill>
            <a:prstDash val="solid"/>
          </a:ln>
        </p:spPr>
      </p:sp>
      <p:sp>
        <p:nvSpPr>
          <p:cNvPr id="26" name="Text 24"/>
          <p:cNvSpPr txBox="1"/>
          <p:nvPr/>
        </p:nvSpPr>
        <p:spPr>
          <a:xfrm>
            <a:off x="8195859" y="1746504"/>
            <a:ext cx="402336" cy="402336"/>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27" name="Text 25"/>
          <p:cNvSpPr txBox="1"/>
          <p:nvPr/>
        </p:nvSpPr>
        <p:spPr>
          <a:xfrm>
            <a:off x="7525329" y="2185416"/>
            <a:ext cx="1743395" cy="777240"/>
          </a:xfrm>
          <a:prstGeom prst="rect">
            <a:avLst/>
          </a:prstGeom>
          <a:noFill/>
          <a:ln/>
        </p:spPr>
        <p:txBody>
          <a:bodyPr wrap="square" lIns="50800" tIns="50800" rIns="50800" bIns="50800" rtlCol="0" anchor="ctr"/>
          <a:lstStyle/>
          <a:p>
            <a:pPr algn="ctr" indent="0" marL="0">
              <a:buNone/>
            </a:pPr>
            <a:r>
              <a:rPr lang="en-US" sz="2100" b="1" dirty="0">
                <a:solidFill>
                  <a:srgbClr val="1E1B4B"/>
                </a:solidFill>
                <a:latin typeface="Calibri" pitchFamily="34" charset="0"/>
                <a:ea typeface="Calibri" pitchFamily="34" charset="-122"/>
                <a:cs typeface="Calibri" pitchFamily="34" charset="-120"/>
              </a:rPr>
              <a:t>Critique</a:t>
            </a:r>
            <a:endParaRPr lang="en-US" sz="2100" dirty="0"/>
          </a:p>
        </p:txBody>
      </p:sp>
      <p:sp>
        <p:nvSpPr>
          <p:cNvPr id="28" name="Text 26"/>
          <p:cNvSpPr txBox="1"/>
          <p:nvPr/>
        </p:nvSpPr>
        <p:spPr>
          <a:xfrm>
            <a:off x="7543617" y="2990088"/>
            <a:ext cx="1706819" cy="1691640"/>
          </a:xfrm>
          <a:prstGeom prst="rect">
            <a:avLst/>
          </a:prstGeom>
          <a:noFill/>
          <a:ln/>
        </p:spPr>
        <p:txBody>
          <a:bodyPr wrap="square" lIns="50800" tIns="50800" rIns="50800" bIns="50800" rtlCol="0" anchor="t"/>
          <a:lstStyle/>
          <a:p>
            <a:pPr algn="ctr" indent="0" marL="0">
              <a:buNone/>
            </a:pPr>
            <a:r>
              <a:rPr lang="en-US" sz="2000" dirty="0">
                <a:solidFill>
                  <a:srgbClr val="1F2937"/>
                </a:solidFill>
                <a:latin typeface="Calibri" pitchFamily="34" charset="0"/>
                <a:ea typeface="Calibri" pitchFamily="34" charset="-122"/>
                <a:cs typeface="Calibri" pitchFamily="34" charset="-120"/>
              </a:rPr>
              <a:t>Apply checklist</a:t>
            </a:r>
            <a:endParaRPr lang="en-US" sz="2000" dirty="0"/>
          </a:p>
        </p:txBody>
      </p:sp>
      <p:sp>
        <p:nvSpPr>
          <p:cNvPr id="29" name="Shape 27"/>
          <p:cNvSpPr/>
          <p:nvPr/>
        </p:nvSpPr>
        <p:spPr>
          <a:xfrm>
            <a:off x="9405884" y="3026664"/>
            <a:ext cx="283464" cy="292608"/>
          </a:xfrm>
          <a:prstGeom prst="rightArrow">
            <a:avLst/>
          </a:prstGeom>
          <a:solidFill>
            <a:srgbClr val="6B7280"/>
          </a:solidFill>
          <a:ln w="12700">
            <a:solidFill>
              <a:srgbClr val="6B7280"/>
            </a:solidFill>
            <a:prstDash val="solid"/>
          </a:ln>
        </p:spPr>
      </p:sp>
      <p:sp>
        <p:nvSpPr>
          <p:cNvPr id="30" name="Shape 28"/>
          <p:cNvSpPr/>
          <p:nvPr/>
        </p:nvSpPr>
        <p:spPr>
          <a:xfrm>
            <a:off x="9753356" y="1618488"/>
            <a:ext cx="1889699" cy="3108960"/>
          </a:xfrm>
          <a:prstGeom prst="roundRect">
            <a:avLst>
              <a:gd name="adj" fmla="val 5807"/>
            </a:avLst>
          </a:prstGeom>
          <a:solidFill>
            <a:srgbClr val="EEF0FF"/>
          </a:solidFill>
          <a:ln w="15875">
            <a:solidFill>
              <a:srgbClr val="4F46E5"/>
            </a:solidFill>
            <a:prstDash val="solid"/>
          </a:ln>
        </p:spPr>
      </p:sp>
      <p:sp>
        <p:nvSpPr>
          <p:cNvPr id="31" name="Shape 29"/>
          <p:cNvSpPr/>
          <p:nvPr/>
        </p:nvSpPr>
        <p:spPr>
          <a:xfrm>
            <a:off x="10497038" y="1746504"/>
            <a:ext cx="402336" cy="402336"/>
          </a:xfrm>
          <a:prstGeom prst="ellipse">
            <a:avLst/>
          </a:prstGeom>
          <a:solidFill>
            <a:srgbClr val="4F46E5"/>
          </a:solidFill>
          <a:ln w="12700">
            <a:solidFill>
              <a:srgbClr val="4F46E5"/>
            </a:solidFill>
            <a:prstDash val="solid"/>
          </a:ln>
        </p:spPr>
      </p:sp>
      <p:sp>
        <p:nvSpPr>
          <p:cNvPr id="32" name="Text 30"/>
          <p:cNvSpPr txBox="1"/>
          <p:nvPr/>
        </p:nvSpPr>
        <p:spPr>
          <a:xfrm>
            <a:off x="10497038" y="1746504"/>
            <a:ext cx="402336" cy="402336"/>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5</a:t>
            </a:r>
            <a:endParaRPr lang="en-US" sz="1400" dirty="0"/>
          </a:p>
        </p:txBody>
      </p:sp>
      <p:sp>
        <p:nvSpPr>
          <p:cNvPr id="33" name="Text 31"/>
          <p:cNvSpPr txBox="1"/>
          <p:nvPr/>
        </p:nvSpPr>
        <p:spPr>
          <a:xfrm>
            <a:off x="9826508" y="2185416"/>
            <a:ext cx="1743395" cy="777240"/>
          </a:xfrm>
          <a:prstGeom prst="rect">
            <a:avLst/>
          </a:prstGeom>
          <a:noFill/>
          <a:ln/>
        </p:spPr>
        <p:txBody>
          <a:bodyPr wrap="square" lIns="50800" tIns="50800" rIns="50800" bIns="50800" rtlCol="0" anchor="ctr"/>
          <a:lstStyle/>
          <a:p>
            <a:pPr algn="ctr" indent="0" marL="0">
              <a:buNone/>
            </a:pPr>
            <a:r>
              <a:rPr lang="en-US" sz="2100" b="1" dirty="0">
                <a:solidFill>
                  <a:srgbClr val="1E1B4B"/>
                </a:solidFill>
                <a:latin typeface="Calibri" pitchFamily="34" charset="0"/>
                <a:ea typeface="Calibri" pitchFamily="34" charset="-122"/>
                <a:cs typeface="Calibri" pitchFamily="34" charset="-120"/>
              </a:rPr>
              <a:t>Finalise</a:t>
            </a:r>
            <a:endParaRPr lang="en-US" sz="2100" dirty="0"/>
          </a:p>
        </p:txBody>
      </p:sp>
      <p:sp>
        <p:nvSpPr>
          <p:cNvPr id="34" name="Text 32"/>
          <p:cNvSpPr txBox="1"/>
          <p:nvPr/>
        </p:nvSpPr>
        <p:spPr>
          <a:xfrm>
            <a:off x="9844796" y="2990088"/>
            <a:ext cx="1706819" cy="1691640"/>
          </a:xfrm>
          <a:prstGeom prst="rect">
            <a:avLst/>
          </a:prstGeom>
          <a:noFill/>
          <a:ln/>
        </p:spPr>
        <p:txBody>
          <a:bodyPr wrap="square" lIns="50800" tIns="50800" rIns="50800" bIns="50800" rtlCol="0" anchor="t"/>
          <a:lstStyle/>
          <a:p>
            <a:pPr algn="ctr" indent="0" marL="0">
              <a:buNone/>
            </a:pPr>
            <a:r>
              <a:rPr lang="en-US" sz="2000" dirty="0">
                <a:solidFill>
                  <a:srgbClr val="1F2937"/>
                </a:solidFill>
                <a:latin typeface="Calibri" pitchFamily="34" charset="0"/>
                <a:ea typeface="Calibri" pitchFamily="34" charset="-122"/>
                <a:cs typeface="Calibri" pitchFamily="34" charset="-120"/>
              </a:rPr>
              <a:t>Repair and format</a:t>
            </a:r>
            <a:endParaRPr lang="en-US" sz="2000" dirty="0"/>
          </a:p>
        </p:txBody>
      </p:sp>
      <p:sp>
        <p:nvSpPr>
          <p:cNvPr id="35" name="Text 33"/>
          <p:cNvSpPr txBox="1"/>
          <p:nvPr/>
        </p:nvSpPr>
        <p:spPr>
          <a:xfrm>
            <a:off x="548640" y="5001768"/>
            <a:ext cx="11094415" cy="1307592"/>
          </a:xfrm>
          <a:prstGeom prst="rect">
            <a:avLst/>
          </a:prstGeom>
          <a:noFill/>
          <a:ln/>
        </p:spPr>
        <p:txBody>
          <a:bodyPr wrap="square" lIns="50800" tIns="50800" rIns="50800" bIns="50800" rtlCol="0" anchor="t"/>
          <a:lstStyle/>
          <a:p>
            <a:pPr marL="254000" indent="-254000">
              <a:spcAft>
                <a:spcPts val="800"/>
              </a:spcAft>
              <a:buSzPct val="100000"/>
              <a:buChar char="●"/>
            </a:pPr>
            <a:r>
              <a:rPr lang="en-US" sz="2000" dirty="0">
                <a:solidFill>
                  <a:srgbClr val="1F2937"/>
                </a:solidFill>
                <a:latin typeface="Calibri" pitchFamily="34" charset="0"/>
                <a:ea typeface="Calibri" pitchFamily="34" charset="-122"/>
                <a:cs typeface="Calibri" pitchFamily="34" charset="-120"/>
              </a:rPr>
              <a:t>Pass outputs to later prompts; validate each step.</a:t>
            </a:r>
            <a:endParaRPr lang="en-US" sz="2000" dirty="0"/>
          </a:p>
          <a:p>
            <a:pPr marL="254000" indent="-254000">
              <a:spcAft>
                <a:spcPts val="800"/>
              </a:spcAft>
              <a:buSzPct val="100000"/>
              <a:buChar char="●"/>
            </a:pPr>
            <a:r>
              <a:rPr lang="en-US" sz="2000" dirty="0">
                <a:solidFill>
                  <a:srgbClr val="1F2937"/>
                </a:solidFill>
                <a:latin typeface="Calibri" pitchFamily="34" charset="0"/>
                <a:ea typeface="Calibri" pitchFamily="34" charset="-122"/>
                <a:cs typeface="Calibri" pitchFamily="34" charset="-120"/>
              </a:rPr>
              <a:t>Invoice: extract → verify → add in code → explain.</a:t>
            </a:r>
            <a:endParaRPr lang="en-US" sz="20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07  ·  PROMPT ENGINEERING AND EVALUATION</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25</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JSON extraction with a check</a:t>
            </a:r>
            <a:endParaRPr lang="en-US" sz="3200" dirty="0"/>
          </a:p>
        </p:txBody>
      </p:sp>
      <p:sp>
        <p:nvSpPr>
          <p:cNvPr id="6" name="Text 4"/>
          <p:cNvSpPr txBox="1"/>
          <p:nvPr/>
        </p:nvSpPr>
        <p:spPr>
          <a:xfrm>
            <a:off x="548640" y="1463040"/>
            <a:ext cx="11094415" cy="384048"/>
          </a:xfrm>
          <a:prstGeom prst="rect">
            <a:avLst/>
          </a:prstGeom>
          <a:noFill/>
          <a:ln/>
        </p:spPr>
        <p:txBody>
          <a:bodyPr wrap="square" lIns="0" tIns="0" rIns="0" bIns="0" rtlCol="0" anchor="t"/>
          <a:lstStyle/>
          <a:p>
            <a:pPr indent="0" marL="0">
              <a:buNone/>
            </a:pPr>
            <a:r>
              <a:rPr lang="en-US" sz="1800" dirty="0">
                <a:solidFill>
                  <a:srgbClr val="6B7280"/>
                </a:solidFill>
                <a:latin typeface="Calibri" pitchFamily="34" charset="0"/>
                <a:ea typeface="Calibri" pitchFamily="34" charset="-122"/>
                <a:cs typeface="Calibri" pitchFamily="34" charset="-120"/>
              </a:rPr>
              <a:t>Validate structure, then check whether the values match the email</a:t>
            </a:r>
            <a:endParaRPr lang="en-US" sz="1800" dirty="0"/>
          </a:p>
        </p:txBody>
      </p:sp>
      <p:sp>
        <p:nvSpPr>
          <p:cNvPr id="7" name="Shape 5"/>
          <p:cNvSpPr/>
          <p:nvPr/>
        </p:nvSpPr>
        <p:spPr>
          <a:xfrm>
            <a:off x="2354146" y="3838927"/>
            <a:ext cx="244024" cy="0"/>
          </a:xfrm>
          <a:prstGeom prst="line">
            <a:avLst/>
          </a:prstGeom>
          <a:noFill/>
          <a:ln w="22860">
            <a:solidFill>
              <a:srgbClr val="009E73"/>
            </a:solidFill>
            <a:prstDash val="solid"/>
            <a:tailEnd type="triangle"/>
          </a:ln>
        </p:spPr>
      </p:sp>
      <p:sp>
        <p:nvSpPr>
          <p:cNvPr id="8" name="Text 6"/>
          <p:cNvSpPr txBox="1"/>
          <p:nvPr/>
        </p:nvSpPr>
        <p:spPr>
          <a:xfrm>
            <a:off x="1675454" y="2665782"/>
            <a:ext cx="1601408" cy="212301"/>
          </a:xfrm>
          <a:prstGeom prst="rect">
            <a:avLst/>
          </a:prstGeom>
          <a:noFill/>
          <a:ln/>
        </p:spPr>
        <p:txBody>
          <a:bodyPr wrap="square" lIns="0" tIns="0" rIns="0" bIns="0" rtlCol="0" anchor="ctr"/>
          <a:lstStyle/>
          <a:p>
            <a:pPr algn="ctr" indent="0" marL="0">
              <a:lnSpc>
                <a:spcPct val="116000"/>
              </a:lnSpc>
              <a:buNone/>
            </a:pPr>
            <a:r>
              <a:rPr lang="en-US" sz="1441" dirty="0">
                <a:solidFill>
                  <a:srgbClr val="0072B2"/>
                </a:solidFill>
                <a:latin typeface="Arial" pitchFamily="34" charset="0"/>
                <a:ea typeface="Arial" pitchFamily="34" charset="-122"/>
                <a:cs typeface="Arial" pitchFamily="34" charset="-120"/>
              </a:rPr>
              <a:t>email</a:t>
            </a:r>
            <a:endParaRPr lang="en-US" sz="1441" dirty="0"/>
          </a:p>
        </p:txBody>
      </p:sp>
      <p:sp>
        <p:nvSpPr>
          <p:cNvPr id="9" name="Shape 7"/>
          <p:cNvSpPr/>
          <p:nvPr/>
        </p:nvSpPr>
        <p:spPr>
          <a:xfrm>
            <a:off x="4163991" y="3838927"/>
            <a:ext cx="244024" cy="0"/>
          </a:xfrm>
          <a:prstGeom prst="line">
            <a:avLst/>
          </a:prstGeom>
          <a:noFill/>
          <a:ln w="22860">
            <a:solidFill>
              <a:srgbClr val="009E73"/>
            </a:solidFill>
            <a:prstDash val="solid"/>
            <a:tailEnd type="triangle"/>
          </a:ln>
        </p:spPr>
      </p:sp>
      <p:sp>
        <p:nvSpPr>
          <p:cNvPr id="10" name="Text 8"/>
          <p:cNvSpPr txBox="1"/>
          <p:nvPr/>
        </p:nvSpPr>
        <p:spPr>
          <a:xfrm>
            <a:off x="3485299" y="2665782"/>
            <a:ext cx="1601408" cy="212301"/>
          </a:xfrm>
          <a:prstGeom prst="rect">
            <a:avLst/>
          </a:prstGeom>
          <a:noFill/>
          <a:ln/>
        </p:spPr>
        <p:txBody>
          <a:bodyPr wrap="square" lIns="0" tIns="0" rIns="0" bIns="0" rtlCol="0" anchor="ctr"/>
          <a:lstStyle/>
          <a:p>
            <a:pPr algn="ctr" indent="0" marL="0">
              <a:lnSpc>
                <a:spcPct val="116000"/>
              </a:lnSpc>
              <a:buNone/>
            </a:pPr>
            <a:r>
              <a:rPr lang="en-US" sz="1441" dirty="0">
                <a:solidFill>
                  <a:srgbClr val="0072B2"/>
                </a:solidFill>
                <a:latin typeface="Arial" pitchFamily="34" charset="0"/>
                <a:ea typeface="Arial" pitchFamily="34" charset="-122"/>
                <a:cs typeface="Arial" pitchFamily="34" charset="-120"/>
              </a:rPr>
              <a:t>prompt</a:t>
            </a:r>
            <a:endParaRPr lang="en-US" sz="1441" dirty="0"/>
          </a:p>
        </p:txBody>
      </p:sp>
      <p:sp>
        <p:nvSpPr>
          <p:cNvPr id="11" name="Shape 9"/>
          <p:cNvSpPr/>
          <p:nvPr/>
        </p:nvSpPr>
        <p:spPr>
          <a:xfrm>
            <a:off x="5973836" y="3838927"/>
            <a:ext cx="244024" cy="0"/>
          </a:xfrm>
          <a:prstGeom prst="line">
            <a:avLst/>
          </a:prstGeom>
          <a:noFill/>
          <a:ln w="22860">
            <a:solidFill>
              <a:srgbClr val="009E73"/>
            </a:solidFill>
            <a:prstDash val="solid"/>
            <a:tailEnd type="triangle"/>
          </a:ln>
        </p:spPr>
      </p:sp>
      <p:sp>
        <p:nvSpPr>
          <p:cNvPr id="12" name="Text 10"/>
          <p:cNvSpPr txBox="1"/>
          <p:nvPr/>
        </p:nvSpPr>
        <p:spPr>
          <a:xfrm>
            <a:off x="5295144" y="2665782"/>
            <a:ext cx="1601408" cy="212301"/>
          </a:xfrm>
          <a:prstGeom prst="rect">
            <a:avLst/>
          </a:prstGeom>
          <a:noFill/>
          <a:ln/>
        </p:spPr>
        <p:txBody>
          <a:bodyPr wrap="square" lIns="0" tIns="0" rIns="0" bIns="0" rtlCol="0" anchor="ctr"/>
          <a:lstStyle/>
          <a:p>
            <a:pPr algn="ctr" indent="0" marL="0">
              <a:lnSpc>
                <a:spcPct val="116000"/>
              </a:lnSpc>
              <a:buNone/>
            </a:pPr>
            <a:r>
              <a:rPr lang="en-US" sz="1441" dirty="0">
                <a:solidFill>
                  <a:srgbClr val="0072B2"/>
                </a:solidFill>
                <a:latin typeface="Arial" pitchFamily="34" charset="0"/>
                <a:ea typeface="Arial" pitchFamily="34" charset="-122"/>
                <a:cs typeface="Arial" pitchFamily="34" charset="-120"/>
              </a:rPr>
              <a:t>raw JSON text</a:t>
            </a:r>
            <a:endParaRPr lang="en-US" sz="1441" dirty="0"/>
          </a:p>
        </p:txBody>
      </p:sp>
      <p:sp>
        <p:nvSpPr>
          <p:cNvPr id="13" name="Shape 11"/>
          <p:cNvSpPr/>
          <p:nvPr/>
        </p:nvSpPr>
        <p:spPr>
          <a:xfrm>
            <a:off x="7783680" y="3838927"/>
            <a:ext cx="244024" cy="0"/>
          </a:xfrm>
          <a:prstGeom prst="line">
            <a:avLst/>
          </a:prstGeom>
          <a:noFill/>
          <a:ln w="22860">
            <a:solidFill>
              <a:srgbClr val="009E73"/>
            </a:solidFill>
            <a:prstDash val="solid"/>
            <a:tailEnd type="triangle"/>
          </a:ln>
        </p:spPr>
      </p:sp>
      <p:sp>
        <p:nvSpPr>
          <p:cNvPr id="14" name="Text 12"/>
          <p:cNvSpPr txBox="1"/>
          <p:nvPr/>
        </p:nvSpPr>
        <p:spPr>
          <a:xfrm>
            <a:off x="7104989" y="2665782"/>
            <a:ext cx="1601408" cy="212301"/>
          </a:xfrm>
          <a:prstGeom prst="rect">
            <a:avLst/>
          </a:prstGeom>
          <a:noFill/>
          <a:ln/>
        </p:spPr>
        <p:txBody>
          <a:bodyPr wrap="square" lIns="0" tIns="0" rIns="0" bIns="0" rtlCol="0" anchor="ctr"/>
          <a:lstStyle/>
          <a:p>
            <a:pPr algn="ctr" indent="0" marL="0">
              <a:lnSpc>
                <a:spcPct val="116000"/>
              </a:lnSpc>
              <a:buNone/>
            </a:pPr>
            <a:r>
              <a:rPr lang="en-US" sz="1441" dirty="0">
                <a:solidFill>
                  <a:srgbClr val="0072B2"/>
                </a:solidFill>
                <a:latin typeface="Arial" pitchFamily="34" charset="0"/>
                <a:ea typeface="Arial" pitchFamily="34" charset="-122"/>
                <a:cs typeface="Arial" pitchFamily="34" charset="-120"/>
              </a:rPr>
              <a:t>field values</a:t>
            </a:r>
            <a:endParaRPr lang="en-US" sz="1441" dirty="0"/>
          </a:p>
        </p:txBody>
      </p:sp>
      <p:sp>
        <p:nvSpPr>
          <p:cNvPr id="15" name="Shape 13"/>
          <p:cNvSpPr/>
          <p:nvPr/>
        </p:nvSpPr>
        <p:spPr>
          <a:xfrm>
            <a:off x="9593525" y="3838927"/>
            <a:ext cx="244024" cy="0"/>
          </a:xfrm>
          <a:prstGeom prst="line">
            <a:avLst/>
          </a:prstGeom>
          <a:noFill/>
          <a:ln w="22860">
            <a:solidFill>
              <a:srgbClr val="009E73"/>
            </a:solidFill>
            <a:prstDash val="solid"/>
            <a:tailEnd type="triangle"/>
          </a:ln>
        </p:spPr>
      </p:sp>
      <p:sp>
        <p:nvSpPr>
          <p:cNvPr id="16" name="Text 14"/>
          <p:cNvSpPr txBox="1"/>
          <p:nvPr/>
        </p:nvSpPr>
        <p:spPr>
          <a:xfrm>
            <a:off x="8914834" y="2665782"/>
            <a:ext cx="1601408" cy="212301"/>
          </a:xfrm>
          <a:prstGeom prst="rect">
            <a:avLst/>
          </a:prstGeom>
          <a:noFill/>
          <a:ln/>
        </p:spPr>
        <p:txBody>
          <a:bodyPr wrap="square" lIns="0" tIns="0" rIns="0" bIns="0" rtlCol="0" anchor="ctr"/>
          <a:lstStyle/>
          <a:p>
            <a:pPr algn="ctr" indent="0" marL="0">
              <a:lnSpc>
                <a:spcPct val="116000"/>
              </a:lnSpc>
              <a:buNone/>
            </a:pPr>
            <a:r>
              <a:rPr lang="en-US" sz="1441" dirty="0">
                <a:solidFill>
                  <a:srgbClr val="0072B2"/>
                </a:solidFill>
                <a:latin typeface="Arial" pitchFamily="34" charset="0"/>
                <a:ea typeface="Arial" pitchFamily="34" charset="-122"/>
                <a:cs typeface="Arial" pitchFamily="34" charset="-120"/>
              </a:rPr>
              <a:t>object or error</a:t>
            </a:r>
            <a:endParaRPr lang="en-US" sz="1441" dirty="0"/>
          </a:p>
        </p:txBody>
      </p:sp>
      <p:sp>
        <p:nvSpPr>
          <p:cNvPr id="17" name="Shape 15"/>
          <p:cNvSpPr/>
          <p:nvPr/>
        </p:nvSpPr>
        <p:spPr>
          <a:xfrm flipV="1">
            <a:off x="10620460" y="2191765"/>
            <a:ext cx="0" cy="747324"/>
          </a:xfrm>
          <a:prstGeom prst="line">
            <a:avLst/>
          </a:prstGeom>
          <a:noFill/>
          <a:ln w="22860">
            <a:solidFill>
              <a:srgbClr val="D55E00"/>
            </a:solidFill>
            <a:prstDash val="dash"/>
          </a:ln>
        </p:spPr>
      </p:sp>
      <p:sp>
        <p:nvSpPr>
          <p:cNvPr id="18" name="Shape 16"/>
          <p:cNvSpPr/>
          <p:nvPr/>
        </p:nvSpPr>
        <p:spPr>
          <a:xfrm flipH="1">
            <a:off x="3381080" y="2191765"/>
            <a:ext cx="7239380" cy="0"/>
          </a:xfrm>
          <a:prstGeom prst="line">
            <a:avLst/>
          </a:prstGeom>
          <a:noFill/>
          <a:ln w="22860">
            <a:solidFill>
              <a:srgbClr val="D55E00"/>
            </a:solidFill>
            <a:prstDash val="dash"/>
          </a:ln>
        </p:spPr>
      </p:sp>
      <p:sp>
        <p:nvSpPr>
          <p:cNvPr id="19" name="Shape 17"/>
          <p:cNvSpPr/>
          <p:nvPr/>
        </p:nvSpPr>
        <p:spPr>
          <a:xfrm>
            <a:off x="3381080" y="2191765"/>
            <a:ext cx="0" cy="747324"/>
          </a:xfrm>
          <a:prstGeom prst="line">
            <a:avLst/>
          </a:prstGeom>
          <a:noFill/>
          <a:ln w="22860">
            <a:solidFill>
              <a:srgbClr val="D55E00"/>
            </a:solidFill>
            <a:prstDash val="dash"/>
            <a:tailEnd type="triangle"/>
          </a:ln>
        </p:spPr>
      </p:sp>
      <p:sp>
        <p:nvSpPr>
          <p:cNvPr id="20" name="Text 18"/>
          <p:cNvSpPr txBox="1"/>
          <p:nvPr/>
        </p:nvSpPr>
        <p:spPr>
          <a:xfrm>
            <a:off x="4343340" y="1917238"/>
            <a:ext cx="5314860" cy="228773"/>
          </a:xfrm>
          <a:prstGeom prst="rect">
            <a:avLst/>
          </a:prstGeom>
          <a:noFill/>
          <a:ln/>
        </p:spPr>
        <p:txBody>
          <a:bodyPr wrap="square" lIns="0" tIns="0" rIns="0" bIns="0" rtlCol="0" anchor="ctr"/>
          <a:lstStyle/>
          <a:p>
            <a:pPr algn="ctr" indent="0" marL="0">
              <a:lnSpc>
                <a:spcPct val="116000"/>
              </a:lnSpc>
              <a:buNone/>
            </a:pPr>
            <a:r>
              <a:rPr lang="en-US" sz="1441" dirty="0">
                <a:solidFill>
                  <a:srgbClr val="A64200"/>
                </a:solidFill>
                <a:latin typeface="Arial" pitchFamily="34" charset="0"/>
                <a:ea typeface="Arial" pitchFamily="34" charset="-122"/>
                <a:cs typeface="Arial" pitchFamily="34" charset="-120"/>
              </a:rPr>
              <a:t>Append a validation error and retry once; validate the retry too.</a:t>
            </a:r>
            <a:endParaRPr lang="en-US" sz="1441" dirty="0"/>
          </a:p>
        </p:txBody>
      </p:sp>
      <p:sp>
        <p:nvSpPr>
          <p:cNvPr id="21" name="Shape 19"/>
          <p:cNvSpPr/>
          <p:nvPr/>
        </p:nvSpPr>
        <p:spPr>
          <a:xfrm>
            <a:off x="788325" y="2939089"/>
            <a:ext cx="1565821" cy="1799677"/>
          </a:xfrm>
          <a:prstGeom prst="roundRect">
            <a:avLst>
              <a:gd name="adj" fmla="val 4672"/>
            </a:avLst>
          </a:prstGeom>
          <a:solidFill>
            <a:srgbClr val="E4F2FB"/>
          </a:solidFill>
          <a:ln w="15240">
            <a:solidFill>
              <a:srgbClr val="0072B2"/>
            </a:solidFill>
            <a:prstDash val="solid"/>
          </a:ln>
        </p:spPr>
      </p:sp>
      <p:sp>
        <p:nvSpPr>
          <p:cNvPr id="22" name="Text 20"/>
          <p:cNvSpPr txBox="1"/>
          <p:nvPr/>
        </p:nvSpPr>
        <p:spPr>
          <a:xfrm>
            <a:off x="849331" y="3336848"/>
            <a:ext cx="1443809" cy="229993"/>
          </a:xfrm>
          <a:prstGeom prst="rect">
            <a:avLst/>
          </a:prstGeom>
          <a:noFill/>
          <a:ln/>
        </p:spPr>
        <p:txBody>
          <a:bodyPr wrap="square" lIns="0" tIns="0" rIns="0" bIns="0" rtlCol="0" anchor="ctr"/>
          <a:lstStyle/>
          <a:p>
            <a:pPr algn="ctr" indent="0" marL="0">
              <a:lnSpc>
                <a:spcPct val="116000"/>
              </a:lnSpc>
              <a:buNone/>
            </a:pPr>
            <a:r>
              <a:rPr lang="en-US" sz="1561" b="1" dirty="0">
                <a:solidFill>
                  <a:srgbClr val="1E1B4B"/>
                </a:solidFill>
                <a:latin typeface="Arial" pitchFamily="34" charset="0"/>
                <a:ea typeface="Arial" pitchFamily="34" charset="-122"/>
                <a:cs typeface="Arial" pitchFamily="34" charset="-120"/>
              </a:rPr>
              <a:t>Source email</a:t>
            </a:r>
            <a:endParaRPr lang="en-US" sz="1561" dirty="0"/>
          </a:p>
        </p:txBody>
      </p:sp>
      <p:sp>
        <p:nvSpPr>
          <p:cNvPr id="23" name="Text 21"/>
          <p:cNvSpPr txBox="1"/>
          <p:nvPr/>
        </p:nvSpPr>
        <p:spPr>
          <a:xfrm>
            <a:off x="849331" y="3643098"/>
            <a:ext cx="1443809" cy="212301"/>
          </a:xfrm>
          <a:prstGeom prst="rect">
            <a:avLst/>
          </a:prstGeom>
          <a:noFill/>
          <a:ln/>
        </p:spPr>
        <p:txBody>
          <a:bodyPr wrap="square" lIns="0" tIns="0" rIns="0" bIns="0" rtlCol="0" anchor="ctr"/>
          <a:lstStyle/>
          <a:p>
            <a:pPr algn="ctr" indent="0" marL="0">
              <a:lnSpc>
                <a:spcPct val="116000"/>
              </a:lnSpc>
              <a:buNone/>
            </a:pPr>
            <a:r>
              <a:rPr lang="en-US" sz="1441" dirty="0">
                <a:solidFill>
                  <a:srgbClr val="1F2937"/>
                </a:solidFill>
                <a:latin typeface="Arial" pitchFamily="34" charset="0"/>
                <a:ea typeface="Arial" pitchFamily="34" charset="-122"/>
                <a:cs typeface="Arial" pitchFamily="34" charset="-120"/>
              </a:rPr>
              <a:t>Known facts to</a:t>
            </a:r>
            <a:endParaRPr lang="en-US" sz="1441" dirty="0"/>
          </a:p>
        </p:txBody>
      </p:sp>
      <p:sp>
        <p:nvSpPr>
          <p:cNvPr id="24" name="Text 22"/>
          <p:cNvSpPr txBox="1"/>
          <p:nvPr/>
        </p:nvSpPr>
        <p:spPr>
          <a:xfrm>
            <a:off x="849331" y="3855399"/>
            <a:ext cx="1443809" cy="212301"/>
          </a:xfrm>
          <a:prstGeom prst="rect">
            <a:avLst/>
          </a:prstGeom>
          <a:noFill/>
          <a:ln/>
        </p:spPr>
        <p:txBody>
          <a:bodyPr wrap="square" lIns="0" tIns="0" rIns="0" bIns="0" rtlCol="0" anchor="ctr"/>
          <a:lstStyle/>
          <a:p>
            <a:pPr algn="ctr" indent="0" marL="0">
              <a:lnSpc>
                <a:spcPct val="116000"/>
              </a:lnSpc>
              <a:buNone/>
            </a:pPr>
            <a:r>
              <a:rPr lang="en-US" sz="1441" dirty="0">
                <a:solidFill>
                  <a:srgbClr val="1F2937"/>
                </a:solidFill>
                <a:latin typeface="Arial" pitchFamily="34" charset="0"/>
                <a:ea typeface="Arial" pitchFamily="34" charset="-122"/>
                <a:cs typeface="Arial" pitchFamily="34" charset="-120"/>
              </a:rPr>
              <a:t>extract</a:t>
            </a:r>
            <a:endParaRPr lang="en-US" sz="1441" dirty="0"/>
          </a:p>
        </p:txBody>
      </p:sp>
      <p:sp>
        <p:nvSpPr>
          <p:cNvPr id="25" name="Text 23"/>
          <p:cNvSpPr txBox="1"/>
          <p:nvPr/>
        </p:nvSpPr>
        <p:spPr>
          <a:xfrm>
            <a:off x="811202" y="4128706"/>
            <a:ext cx="1520066" cy="212301"/>
          </a:xfrm>
          <a:prstGeom prst="rect">
            <a:avLst/>
          </a:prstGeom>
          <a:noFill/>
          <a:ln/>
        </p:spPr>
        <p:txBody>
          <a:bodyPr wrap="square" lIns="0" tIns="0" rIns="0" bIns="0" rtlCol="0" anchor="ctr"/>
          <a:lstStyle/>
          <a:p>
            <a:pPr algn="ctr" indent="0" marL="0">
              <a:lnSpc>
                <a:spcPct val="116000"/>
              </a:lnSpc>
              <a:buNone/>
            </a:pPr>
            <a:r>
              <a:rPr lang="en-US" sz="1441" dirty="0">
                <a:solidFill>
                  <a:srgbClr val="0F766E"/>
                </a:solidFill>
                <a:latin typeface="Arial" pitchFamily="34" charset="0"/>
                <a:ea typeface="Arial" pitchFamily="34" charset="-122"/>
                <a:cs typeface="Arial" pitchFamily="34" charset="-120"/>
              </a:rPr>
              <a:t>EMAILS</a:t>
            </a:r>
            <a:endParaRPr lang="en-US" sz="1441" dirty="0"/>
          </a:p>
        </p:txBody>
      </p:sp>
      <p:sp>
        <p:nvSpPr>
          <p:cNvPr id="26" name="Shape 24"/>
          <p:cNvSpPr/>
          <p:nvPr/>
        </p:nvSpPr>
        <p:spPr>
          <a:xfrm>
            <a:off x="2598170" y="2939089"/>
            <a:ext cx="1565821" cy="1799677"/>
          </a:xfrm>
          <a:prstGeom prst="rect">
            <a:avLst/>
          </a:prstGeom>
          <a:solidFill>
            <a:srgbClr val="F2F4F5"/>
          </a:solidFill>
          <a:ln w="15240">
            <a:solidFill>
              <a:srgbClr val="626B73"/>
            </a:solidFill>
            <a:prstDash val="solid"/>
          </a:ln>
        </p:spPr>
      </p:sp>
      <p:sp>
        <p:nvSpPr>
          <p:cNvPr id="27" name="Text 25"/>
          <p:cNvSpPr txBox="1"/>
          <p:nvPr/>
        </p:nvSpPr>
        <p:spPr>
          <a:xfrm>
            <a:off x="2659176" y="3115701"/>
            <a:ext cx="1443809" cy="229993"/>
          </a:xfrm>
          <a:prstGeom prst="rect">
            <a:avLst/>
          </a:prstGeom>
          <a:noFill/>
          <a:ln/>
        </p:spPr>
        <p:txBody>
          <a:bodyPr wrap="square" lIns="0" tIns="0" rIns="0" bIns="0" rtlCol="0" anchor="ctr"/>
          <a:lstStyle/>
          <a:p>
            <a:pPr algn="ctr" indent="0" marL="0">
              <a:lnSpc>
                <a:spcPct val="116000"/>
              </a:lnSpc>
              <a:buNone/>
            </a:pPr>
            <a:r>
              <a:rPr lang="en-US" sz="1561" b="1" dirty="0">
                <a:solidFill>
                  <a:srgbClr val="1E1B4B"/>
                </a:solidFill>
                <a:latin typeface="Arial" pitchFamily="34" charset="0"/>
                <a:ea typeface="Arial" pitchFamily="34" charset="-122"/>
                <a:cs typeface="Arial" pitchFamily="34" charset="-120"/>
              </a:rPr>
              <a:t>Schema</a:t>
            </a:r>
            <a:endParaRPr lang="en-US" sz="1561" dirty="0"/>
          </a:p>
        </p:txBody>
      </p:sp>
      <p:sp>
        <p:nvSpPr>
          <p:cNvPr id="28" name="Text 26"/>
          <p:cNvSpPr txBox="1"/>
          <p:nvPr/>
        </p:nvSpPr>
        <p:spPr>
          <a:xfrm>
            <a:off x="2659176" y="3345694"/>
            <a:ext cx="1443809" cy="229993"/>
          </a:xfrm>
          <a:prstGeom prst="rect">
            <a:avLst/>
          </a:prstGeom>
          <a:noFill/>
          <a:ln/>
        </p:spPr>
        <p:txBody>
          <a:bodyPr wrap="square" lIns="0" tIns="0" rIns="0" bIns="0" rtlCol="0" anchor="ctr"/>
          <a:lstStyle/>
          <a:p>
            <a:pPr algn="ctr" indent="0" marL="0">
              <a:lnSpc>
                <a:spcPct val="116000"/>
              </a:lnSpc>
              <a:buNone/>
            </a:pPr>
            <a:r>
              <a:rPr lang="en-US" sz="1561" b="1" dirty="0">
                <a:solidFill>
                  <a:srgbClr val="1E1B4B"/>
                </a:solidFill>
                <a:latin typeface="Arial" pitchFamily="34" charset="0"/>
                <a:ea typeface="Arial" pitchFamily="34" charset="-122"/>
                <a:cs typeface="Arial" pitchFamily="34" charset="-120"/>
              </a:rPr>
              <a:t>prompt</a:t>
            </a:r>
            <a:endParaRPr lang="en-US" sz="1561" dirty="0"/>
          </a:p>
        </p:txBody>
      </p:sp>
      <p:sp>
        <p:nvSpPr>
          <p:cNvPr id="29" name="Text 27"/>
          <p:cNvSpPr txBox="1"/>
          <p:nvPr/>
        </p:nvSpPr>
        <p:spPr>
          <a:xfrm>
            <a:off x="2659176" y="3651944"/>
            <a:ext cx="1443809" cy="212301"/>
          </a:xfrm>
          <a:prstGeom prst="rect">
            <a:avLst/>
          </a:prstGeom>
          <a:noFill/>
          <a:ln/>
        </p:spPr>
        <p:txBody>
          <a:bodyPr wrap="square" lIns="0" tIns="0" rIns="0" bIns="0" rtlCol="0" anchor="ctr"/>
          <a:lstStyle/>
          <a:p>
            <a:pPr algn="ctr" indent="0" marL="0">
              <a:lnSpc>
                <a:spcPct val="116000"/>
              </a:lnSpc>
              <a:buNone/>
            </a:pPr>
            <a:r>
              <a:rPr lang="en-US" sz="1441" dirty="0">
                <a:solidFill>
                  <a:srgbClr val="1F2937"/>
                </a:solidFill>
                <a:latin typeface="Arial" pitchFamily="34" charset="0"/>
                <a:ea typeface="Arial" pitchFamily="34" charset="-122"/>
                <a:cs typeface="Arial" pitchFamily="34" charset="-120"/>
              </a:rPr>
              <a:t>Fields and</a:t>
            </a:r>
            <a:endParaRPr lang="en-US" sz="1441" dirty="0"/>
          </a:p>
        </p:txBody>
      </p:sp>
      <p:sp>
        <p:nvSpPr>
          <p:cNvPr id="30" name="Text 28"/>
          <p:cNvSpPr txBox="1"/>
          <p:nvPr/>
        </p:nvSpPr>
        <p:spPr>
          <a:xfrm>
            <a:off x="2659176" y="3864245"/>
            <a:ext cx="1443809" cy="212301"/>
          </a:xfrm>
          <a:prstGeom prst="rect">
            <a:avLst/>
          </a:prstGeom>
          <a:noFill/>
          <a:ln/>
        </p:spPr>
        <p:txBody>
          <a:bodyPr wrap="square" lIns="0" tIns="0" rIns="0" bIns="0" rtlCol="0" anchor="ctr"/>
          <a:lstStyle/>
          <a:p>
            <a:pPr algn="ctr" indent="0" marL="0">
              <a:lnSpc>
                <a:spcPct val="116000"/>
              </a:lnSpc>
              <a:buNone/>
            </a:pPr>
            <a:r>
              <a:rPr lang="en-US" sz="1441" dirty="0">
                <a:solidFill>
                  <a:srgbClr val="1F2937"/>
                </a:solidFill>
                <a:latin typeface="Arial" pitchFamily="34" charset="0"/>
                <a:ea typeface="Arial" pitchFamily="34" charset="-122"/>
                <a:cs typeface="Arial" pitchFamily="34" charset="-120"/>
              </a:rPr>
              <a:t>allowed</a:t>
            </a:r>
            <a:endParaRPr lang="en-US" sz="1441" dirty="0"/>
          </a:p>
        </p:txBody>
      </p:sp>
      <p:sp>
        <p:nvSpPr>
          <p:cNvPr id="31" name="Text 29"/>
          <p:cNvSpPr txBox="1"/>
          <p:nvPr/>
        </p:nvSpPr>
        <p:spPr>
          <a:xfrm>
            <a:off x="2659176" y="4076546"/>
            <a:ext cx="1443809" cy="212301"/>
          </a:xfrm>
          <a:prstGeom prst="rect">
            <a:avLst/>
          </a:prstGeom>
          <a:noFill/>
          <a:ln/>
        </p:spPr>
        <p:txBody>
          <a:bodyPr wrap="square" lIns="0" tIns="0" rIns="0" bIns="0" rtlCol="0" anchor="ctr"/>
          <a:lstStyle/>
          <a:p>
            <a:pPr algn="ctr" indent="0" marL="0">
              <a:lnSpc>
                <a:spcPct val="116000"/>
              </a:lnSpc>
              <a:buNone/>
            </a:pPr>
            <a:r>
              <a:rPr lang="en-US" sz="1441" dirty="0">
                <a:solidFill>
                  <a:srgbClr val="1F2937"/>
                </a:solidFill>
                <a:latin typeface="Arial" pitchFamily="34" charset="0"/>
                <a:ea typeface="Arial" pitchFamily="34" charset="-122"/>
                <a:cs typeface="Arial" pitchFamily="34" charset="-120"/>
              </a:rPr>
              <a:t>categories</a:t>
            </a:r>
            <a:endParaRPr lang="en-US" sz="1441" dirty="0"/>
          </a:p>
        </p:txBody>
      </p:sp>
      <p:sp>
        <p:nvSpPr>
          <p:cNvPr id="32" name="Text 30"/>
          <p:cNvSpPr txBox="1"/>
          <p:nvPr/>
        </p:nvSpPr>
        <p:spPr>
          <a:xfrm>
            <a:off x="2621047" y="4349853"/>
            <a:ext cx="1520066" cy="212301"/>
          </a:xfrm>
          <a:prstGeom prst="rect">
            <a:avLst/>
          </a:prstGeom>
          <a:noFill/>
          <a:ln/>
        </p:spPr>
        <p:txBody>
          <a:bodyPr wrap="square" lIns="0" tIns="0" rIns="0" bIns="0" rtlCol="0" anchor="ctr"/>
          <a:lstStyle/>
          <a:p>
            <a:pPr algn="ctr" indent="0" marL="0">
              <a:lnSpc>
                <a:spcPct val="116000"/>
              </a:lnSpc>
              <a:buNone/>
            </a:pPr>
            <a:r>
              <a:rPr lang="en-US" sz="1441" dirty="0">
                <a:solidFill>
                  <a:srgbClr val="0F766E"/>
                </a:solidFill>
                <a:latin typeface="Arial" pitchFamily="34" charset="0"/>
                <a:ea typeface="Arial" pitchFamily="34" charset="-122"/>
                <a:cs typeface="Arial" pitchFamily="34" charset="-120"/>
              </a:rPr>
              <a:t>extract_prompt</a:t>
            </a:r>
            <a:endParaRPr lang="en-US" sz="1441" dirty="0"/>
          </a:p>
        </p:txBody>
      </p:sp>
      <p:sp>
        <p:nvSpPr>
          <p:cNvPr id="33" name="Shape 31"/>
          <p:cNvSpPr/>
          <p:nvPr/>
        </p:nvSpPr>
        <p:spPr>
          <a:xfrm>
            <a:off x="4408015" y="2939089"/>
            <a:ext cx="1565821" cy="1799677"/>
          </a:xfrm>
          <a:prstGeom prst="rect">
            <a:avLst/>
          </a:prstGeom>
          <a:solidFill>
            <a:srgbClr val="E5F7EF"/>
          </a:solidFill>
          <a:ln w="15240">
            <a:solidFill>
              <a:srgbClr val="009E73"/>
            </a:solidFill>
            <a:prstDash val="solid"/>
          </a:ln>
        </p:spPr>
      </p:sp>
      <p:sp>
        <p:nvSpPr>
          <p:cNvPr id="34" name="Text 32"/>
          <p:cNvSpPr txBox="1"/>
          <p:nvPr/>
        </p:nvSpPr>
        <p:spPr>
          <a:xfrm>
            <a:off x="4469021" y="3221851"/>
            <a:ext cx="1443809" cy="229993"/>
          </a:xfrm>
          <a:prstGeom prst="rect">
            <a:avLst/>
          </a:prstGeom>
          <a:noFill/>
          <a:ln/>
        </p:spPr>
        <p:txBody>
          <a:bodyPr wrap="square" lIns="0" tIns="0" rIns="0" bIns="0" rtlCol="0" anchor="ctr"/>
          <a:lstStyle/>
          <a:p>
            <a:pPr algn="ctr" indent="0" marL="0">
              <a:lnSpc>
                <a:spcPct val="116000"/>
              </a:lnSpc>
              <a:buNone/>
            </a:pPr>
            <a:r>
              <a:rPr lang="en-US" sz="1561" b="1" dirty="0">
                <a:solidFill>
                  <a:srgbClr val="1E1B4B"/>
                </a:solidFill>
                <a:latin typeface="Arial" pitchFamily="34" charset="0"/>
                <a:ea typeface="Arial" pitchFamily="34" charset="-122"/>
                <a:cs typeface="Arial" pitchFamily="34" charset="-120"/>
              </a:rPr>
              <a:t>Model</a:t>
            </a:r>
            <a:endParaRPr lang="en-US" sz="1561" dirty="0"/>
          </a:p>
        </p:txBody>
      </p:sp>
      <p:sp>
        <p:nvSpPr>
          <p:cNvPr id="35" name="Text 33"/>
          <p:cNvSpPr txBox="1"/>
          <p:nvPr/>
        </p:nvSpPr>
        <p:spPr>
          <a:xfrm>
            <a:off x="4469021" y="3451844"/>
            <a:ext cx="1443809" cy="229993"/>
          </a:xfrm>
          <a:prstGeom prst="rect">
            <a:avLst/>
          </a:prstGeom>
          <a:noFill/>
          <a:ln/>
        </p:spPr>
        <p:txBody>
          <a:bodyPr wrap="square" lIns="0" tIns="0" rIns="0" bIns="0" rtlCol="0" anchor="ctr"/>
          <a:lstStyle/>
          <a:p>
            <a:pPr algn="ctr" indent="0" marL="0">
              <a:lnSpc>
                <a:spcPct val="116000"/>
              </a:lnSpc>
              <a:buNone/>
            </a:pPr>
            <a:r>
              <a:rPr lang="en-US" sz="1561" b="1" dirty="0">
                <a:solidFill>
                  <a:srgbClr val="1E1B4B"/>
                </a:solidFill>
                <a:latin typeface="Arial" pitchFamily="34" charset="0"/>
                <a:ea typeface="Arial" pitchFamily="34" charset="-122"/>
                <a:cs typeface="Arial" pitchFamily="34" charset="-120"/>
              </a:rPr>
              <a:t>response</a:t>
            </a:r>
            <a:endParaRPr lang="en-US" sz="1561" dirty="0"/>
          </a:p>
        </p:txBody>
      </p:sp>
      <p:sp>
        <p:nvSpPr>
          <p:cNvPr id="36" name="Text 34"/>
          <p:cNvSpPr txBox="1"/>
          <p:nvPr/>
        </p:nvSpPr>
        <p:spPr>
          <a:xfrm>
            <a:off x="4469021" y="3758094"/>
            <a:ext cx="1443809" cy="212301"/>
          </a:xfrm>
          <a:prstGeom prst="rect">
            <a:avLst/>
          </a:prstGeom>
          <a:noFill/>
          <a:ln/>
        </p:spPr>
        <p:txBody>
          <a:bodyPr wrap="square" lIns="0" tIns="0" rIns="0" bIns="0" rtlCol="0" anchor="ctr"/>
          <a:lstStyle/>
          <a:p>
            <a:pPr algn="ctr" indent="0" marL="0">
              <a:lnSpc>
                <a:spcPct val="116000"/>
              </a:lnSpc>
              <a:buNone/>
            </a:pPr>
            <a:r>
              <a:rPr lang="en-US" sz="1441" dirty="0">
                <a:solidFill>
                  <a:srgbClr val="1F2937"/>
                </a:solidFill>
                <a:latin typeface="Arial" pitchFamily="34" charset="0"/>
                <a:ea typeface="Arial" pitchFamily="34" charset="-122"/>
                <a:cs typeface="Arial" pitchFamily="34" charset="-120"/>
              </a:rPr>
              <a:t>Propose a JSON</a:t>
            </a:r>
            <a:endParaRPr lang="en-US" sz="1441" dirty="0"/>
          </a:p>
        </p:txBody>
      </p:sp>
      <p:sp>
        <p:nvSpPr>
          <p:cNvPr id="37" name="Text 35"/>
          <p:cNvSpPr txBox="1"/>
          <p:nvPr/>
        </p:nvSpPr>
        <p:spPr>
          <a:xfrm>
            <a:off x="4469021" y="3970395"/>
            <a:ext cx="1443809" cy="212301"/>
          </a:xfrm>
          <a:prstGeom prst="rect">
            <a:avLst/>
          </a:prstGeom>
          <a:noFill/>
          <a:ln/>
        </p:spPr>
        <p:txBody>
          <a:bodyPr wrap="square" lIns="0" tIns="0" rIns="0" bIns="0" rtlCol="0" anchor="ctr"/>
          <a:lstStyle/>
          <a:p>
            <a:pPr algn="ctr" indent="0" marL="0">
              <a:lnSpc>
                <a:spcPct val="116000"/>
              </a:lnSpc>
              <a:buNone/>
            </a:pPr>
            <a:r>
              <a:rPr lang="en-US" sz="1441" dirty="0">
                <a:solidFill>
                  <a:srgbClr val="1F2937"/>
                </a:solidFill>
                <a:latin typeface="Arial" pitchFamily="34" charset="0"/>
                <a:ea typeface="Arial" pitchFamily="34" charset="-122"/>
                <a:cs typeface="Arial" pitchFamily="34" charset="-120"/>
              </a:rPr>
              <a:t>object</a:t>
            </a:r>
            <a:endParaRPr lang="en-US" sz="1441" dirty="0"/>
          </a:p>
        </p:txBody>
      </p:sp>
      <p:sp>
        <p:nvSpPr>
          <p:cNvPr id="38" name="Text 36"/>
          <p:cNvSpPr txBox="1"/>
          <p:nvPr/>
        </p:nvSpPr>
        <p:spPr>
          <a:xfrm>
            <a:off x="4430892" y="4243702"/>
            <a:ext cx="1520066" cy="212301"/>
          </a:xfrm>
          <a:prstGeom prst="rect">
            <a:avLst/>
          </a:prstGeom>
          <a:noFill/>
          <a:ln/>
        </p:spPr>
        <p:txBody>
          <a:bodyPr wrap="square" lIns="0" tIns="0" rIns="0" bIns="0" rtlCol="0" anchor="ctr"/>
          <a:lstStyle/>
          <a:p>
            <a:pPr algn="ctr" indent="0" marL="0">
              <a:lnSpc>
                <a:spcPct val="116000"/>
              </a:lnSpc>
              <a:buNone/>
            </a:pPr>
            <a:r>
              <a:rPr lang="en-US" sz="1441" dirty="0">
                <a:solidFill>
                  <a:srgbClr val="0F766E"/>
                </a:solidFill>
                <a:latin typeface="Arial" pitchFamily="34" charset="0"/>
                <a:ea typeface="Arial" pitchFamily="34" charset="-122"/>
                <a:cs typeface="Arial" pitchFamily="34" charset="-120"/>
              </a:rPr>
              <a:t>llm</a:t>
            </a:r>
            <a:endParaRPr lang="en-US" sz="1441" dirty="0"/>
          </a:p>
        </p:txBody>
      </p:sp>
      <p:sp>
        <p:nvSpPr>
          <p:cNvPr id="39" name="Shape 37"/>
          <p:cNvSpPr/>
          <p:nvPr/>
        </p:nvSpPr>
        <p:spPr>
          <a:xfrm>
            <a:off x="6217860" y="2939089"/>
            <a:ext cx="1565821" cy="1799677"/>
          </a:xfrm>
          <a:prstGeom prst="rect">
            <a:avLst/>
          </a:prstGeom>
          <a:solidFill>
            <a:srgbClr val="E5F7EF"/>
          </a:solidFill>
          <a:ln w="15240">
            <a:solidFill>
              <a:srgbClr val="009E73"/>
            </a:solidFill>
            <a:prstDash val="solid"/>
          </a:ln>
        </p:spPr>
      </p:sp>
      <p:sp>
        <p:nvSpPr>
          <p:cNvPr id="40" name="Text 38"/>
          <p:cNvSpPr txBox="1"/>
          <p:nvPr/>
        </p:nvSpPr>
        <p:spPr>
          <a:xfrm>
            <a:off x="6278866" y="3336848"/>
            <a:ext cx="1443809" cy="229993"/>
          </a:xfrm>
          <a:prstGeom prst="rect">
            <a:avLst/>
          </a:prstGeom>
          <a:noFill/>
          <a:ln/>
        </p:spPr>
        <p:txBody>
          <a:bodyPr wrap="square" lIns="0" tIns="0" rIns="0" bIns="0" rtlCol="0" anchor="ctr"/>
          <a:lstStyle/>
          <a:p>
            <a:pPr algn="ctr" indent="0" marL="0">
              <a:lnSpc>
                <a:spcPct val="116000"/>
              </a:lnSpc>
              <a:buNone/>
            </a:pPr>
            <a:r>
              <a:rPr lang="en-US" sz="1561" b="1" dirty="0">
                <a:solidFill>
                  <a:srgbClr val="1E1B4B"/>
                </a:solidFill>
                <a:latin typeface="Arial" pitchFamily="34" charset="0"/>
                <a:ea typeface="Arial" pitchFamily="34" charset="-122"/>
                <a:cs typeface="Arial" pitchFamily="34" charset="-120"/>
              </a:rPr>
              <a:t>Parse JSON</a:t>
            </a:r>
            <a:endParaRPr lang="en-US" sz="1561" dirty="0"/>
          </a:p>
        </p:txBody>
      </p:sp>
      <p:sp>
        <p:nvSpPr>
          <p:cNvPr id="41" name="Text 39"/>
          <p:cNvSpPr txBox="1"/>
          <p:nvPr/>
        </p:nvSpPr>
        <p:spPr>
          <a:xfrm>
            <a:off x="6278866" y="3643098"/>
            <a:ext cx="1443809" cy="212301"/>
          </a:xfrm>
          <a:prstGeom prst="rect">
            <a:avLst/>
          </a:prstGeom>
          <a:noFill/>
          <a:ln/>
        </p:spPr>
        <p:txBody>
          <a:bodyPr wrap="square" lIns="0" tIns="0" rIns="0" bIns="0" rtlCol="0" anchor="ctr"/>
          <a:lstStyle/>
          <a:p>
            <a:pPr algn="ctr" indent="0" marL="0">
              <a:lnSpc>
                <a:spcPct val="116000"/>
              </a:lnSpc>
              <a:buNone/>
            </a:pPr>
            <a:r>
              <a:rPr lang="en-US" sz="1441" dirty="0">
                <a:solidFill>
                  <a:srgbClr val="1F2937"/>
                </a:solidFill>
                <a:latin typeface="Arial" pitchFamily="34" charset="0"/>
                <a:ea typeface="Arial" pitchFamily="34" charset="-122"/>
                <a:cs typeface="Arial" pitchFamily="34" charset="-120"/>
              </a:rPr>
              <a:t>Decode the</a:t>
            </a:r>
            <a:endParaRPr lang="en-US" sz="1441" dirty="0"/>
          </a:p>
        </p:txBody>
      </p:sp>
      <p:sp>
        <p:nvSpPr>
          <p:cNvPr id="42" name="Text 40"/>
          <p:cNvSpPr txBox="1"/>
          <p:nvPr/>
        </p:nvSpPr>
        <p:spPr>
          <a:xfrm>
            <a:off x="6278866" y="3855399"/>
            <a:ext cx="1443809" cy="212301"/>
          </a:xfrm>
          <a:prstGeom prst="rect">
            <a:avLst/>
          </a:prstGeom>
          <a:noFill/>
          <a:ln/>
        </p:spPr>
        <p:txBody>
          <a:bodyPr wrap="square" lIns="0" tIns="0" rIns="0" bIns="0" rtlCol="0" anchor="ctr"/>
          <a:lstStyle/>
          <a:p>
            <a:pPr algn="ctr" indent="0" marL="0">
              <a:lnSpc>
                <a:spcPct val="116000"/>
              </a:lnSpc>
              <a:buNone/>
            </a:pPr>
            <a:r>
              <a:rPr lang="en-US" sz="1441" dirty="0">
                <a:solidFill>
                  <a:srgbClr val="1F2937"/>
                </a:solidFill>
                <a:latin typeface="Arial" pitchFamily="34" charset="0"/>
                <a:ea typeface="Arial" pitchFamily="34" charset="-122"/>
                <a:cs typeface="Arial" pitchFamily="34" charset="-120"/>
              </a:rPr>
              <a:t>response text</a:t>
            </a:r>
            <a:endParaRPr lang="en-US" sz="1441" dirty="0"/>
          </a:p>
        </p:txBody>
      </p:sp>
      <p:sp>
        <p:nvSpPr>
          <p:cNvPr id="43" name="Text 41"/>
          <p:cNvSpPr txBox="1"/>
          <p:nvPr/>
        </p:nvSpPr>
        <p:spPr>
          <a:xfrm>
            <a:off x="6240737" y="4128706"/>
            <a:ext cx="1520066" cy="212301"/>
          </a:xfrm>
          <a:prstGeom prst="rect">
            <a:avLst/>
          </a:prstGeom>
          <a:noFill/>
          <a:ln/>
        </p:spPr>
        <p:txBody>
          <a:bodyPr wrap="square" lIns="0" tIns="0" rIns="0" bIns="0" rtlCol="0" anchor="ctr"/>
          <a:lstStyle/>
          <a:p>
            <a:pPr algn="ctr" indent="0" marL="0">
              <a:lnSpc>
                <a:spcPct val="116000"/>
              </a:lnSpc>
              <a:buNone/>
            </a:pPr>
            <a:r>
              <a:rPr lang="en-US" sz="1441" dirty="0">
                <a:solidFill>
                  <a:srgbClr val="0F766E"/>
                </a:solidFill>
                <a:latin typeface="Arial" pitchFamily="34" charset="0"/>
                <a:ea typeface="Arial" pitchFamily="34" charset="-122"/>
                <a:cs typeface="Arial" pitchFamily="34" charset="-120"/>
              </a:rPr>
              <a:t>try_parse</a:t>
            </a:r>
            <a:endParaRPr lang="en-US" sz="1441" dirty="0"/>
          </a:p>
        </p:txBody>
      </p:sp>
      <p:sp>
        <p:nvSpPr>
          <p:cNvPr id="44" name="Shape 42"/>
          <p:cNvSpPr/>
          <p:nvPr/>
        </p:nvSpPr>
        <p:spPr>
          <a:xfrm>
            <a:off x="8027705" y="2939089"/>
            <a:ext cx="1565821" cy="1799677"/>
          </a:xfrm>
          <a:prstGeom prst="roundRect">
            <a:avLst>
              <a:gd name="adj" fmla="val 4672"/>
            </a:avLst>
          </a:prstGeom>
          <a:solidFill>
            <a:srgbClr val="FFF0E6"/>
          </a:solidFill>
          <a:ln w="15240">
            <a:solidFill>
              <a:srgbClr val="D55E00"/>
            </a:solidFill>
            <a:prstDash val="solid"/>
          </a:ln>
        </p:spPr>
      </p:sp>
      <p:sp>
        <p:nvSpPr>
          <p:cNvPr id="45" name="Text 43"/>
          <p:cNvSpPr txBox="1"/>
          <p:nvPr/>
        </p:nvSpPr>
        <p:spPr>
          <a:xfrm>
            <a:off x="8088711" y="3336848"/>
            <a:ext cx="1443809" cy="229993"/>
          </a:xfrm>
          <a:prstGeom prst="rect">
            <a:avLst/>
          </a:prstGeom>
          <a:noFill/>
          <a:ln/>
        </p:spPr>
        <p:txBody>
          <a:bodyPr wrap="square" lIns="0" tIns="0" rIns="0" bIns="0" rtlCol="0" anchor="ctr"/>
          <a:lstStyle/>
          <a:p>
            <a:pPr algn="ctr" indent="0" marL="0">
              <a:lnSpc>
                <a:spcPct val="116000"/>
              </a:lnSpc>
              <a:buNone/>
            </a:pPr>
            <a:r>
              <a:rPr lang="en-US" sz="1561" b="1" dirty="0">
                <a:solidFill>
                  <a:srgbClr val="1E1B4B"/>
                </a:solidFill>
                <a:latin typeface="Arial" pitchFamily="34" charset="0"/>
                <a:ea typeface="Arial" pitchFamily="34" charset="-122"/>
                <a:cs typeface="Arial" pitchFamily="34" charset="-120"/>
              </a:rPr>
              <a:t>Validate fields</a:t>
            </a:r>
            <a:endParaRPr lang="en-US" sz="1561" dirty="0"/>
          </a:p>
        </p:txBody>
      </p:sp>
      <p:sp>
        <p:nvSpPr>
          <p:cNvPr id="46" name="Text 44"/>
          <p:cNvSpPr txBox="1"/>
          <p:nvPr/>
        </p:nvSpPr>
        <p:spPr>
          <a:xfrm>
            <a:off x="8088711" y="3643098"/>
            <a:ext cx="1443809" cy="212301"/>
          </a:xfrm>
          <a:prstGeom prst="rect">
            <a:avLst/>
          </a:prstGeom>
          <a:noFill/>
          <a:ln/>
        </p:spPr>
        <p:txBody>
          <a:bodyPr wrap="square" lIns="0" tIns="0" rIns="0" bIns="0" rtlCol="0" anchor="ctr"/>
          <a:lstStyle/>
          <a:p>
            <a:pPr algn="ctr" indent="0" marL="0">
              <a:lnSpc>
                <a:spcPct val="116000"/>
              </a:lnSpc>
              <a:buNone/>
            </a:pPr>
            <a:r>
              <a:rPr lang="en-US" sz="1441" dirty="0">
                <a:solidFill>
                  <a:srgbClr val="1F2937"/>
                </a:solidFill>
                <a:latin typeface="Arial" pitchFamily="34" charset="0"/>
                <a:ea typeface="Arial" pitchFamily="34" charset="-122"/>
                <a:cs typeface="Arial" pitchFamily="34" charset="-120"/>
              </a:rPr>
              <a:t>Check types and</a:t>
            </a:r>
            <a:endParaRPr lang="en-US" sz="1441" dirty="0"/>
          </a:p>
        </p:txBody>
      </p:sp>
      <p:sp>
        <p:nvSpPr>
          <p:cNvPr id="47" name="Text 45"/>
          <p:cNvSpPr txBox="1"/>
          <p:nvPr/>
        </p:nvSpPr>
        <p:spPr>
          <a:xfrm>
            <a:off x="8088711" y="3855399"/>
            <a:ext cx="1443809" cy="212301"/>
          </a:xfrm>
          <a:prstGeom prst="rect">
            <a:avLst/>
          </a:prstGeom>
          <a:noFill/>
          <a:ln/>
        </p:spPr>
        <p:txBody>
          <a:bodyPr wrap="square" lIns="0" tIns="0" rIns="0" bIns="0" rtlCol="0" anchor="ctr"/>
          <a:lstStyle/>
          <a:p>
            <a:pPr algn="ctr" indent="0" marL="0">
              <a:lnSpc>
                <a:spcPct val="116000"/>
              </a:lnSpc>
              <a:buNone/>
            </a:pPr>
            <a:r>
              <a:rPr lang="en-US" sz="1441" dirty="0">
                <a:solidFill>
                  <a:srgbClr val="1F2937"/>
                </a:solidFill>
                <a:latin typeface="Arial" pitchFamily="34" charset="0"/>
                <a:ea typeface="Arial" pitchFamily="34" charset="-122"/>
                <a:cs typeface="Arial" pitchFamily="34" charset="-120"/>
              </a:rPr>
              <a:t>patterns</a:t>
            </a:r>
            <a:endParaRPr lang="en-US" sz="1441" dirty="0"/>
          </a:p>
        </p:txBody>
      </p:sp>
      <p:sp>
        <p:nvSpPr>
          <p:cNvPr id="48" name="Text 46"/>
          <p:cNvSpPr txBox="1"/>
          <p:nvPr/>
        </p:nvSpPr>
        <p:spPr>
          <a:xfrm>
            <a:off x="8050582" y="4128706"/>
            <a:ext cx="1520066" cy="212301"/>
          </a:xfrm>
          <a:prstGeom prst="rect">
            <a:avLst/>
          </a:prstGeom>
          <a:noFill/>
          <a:ln/>
        </p:spPr>
        <p:txBody>
          <a:bodyPr wrap="square" lIns="0" tIns="0" rIns="0" bIns="0" rtlCol="0" anchor="ctr"/>
          <a:lstStyle/>
          <a:p>
            <a:pPr algn="ctr" indent="0" marL="0">
              <a:lnSpc>
                <a:spcPct val="116000"/>
              </a:lnSpc>
              <a:buNone/>
            </a:pPr>
            <a:r>
              <a:rPr lang="en-US" sz="1441" dirty="0">
                <a:solidFill>
                  <a:srgbClr val="0F766E"/>
                </a:solidFill>
                <a:latin typeface="Arial" pitchFamily="34" charset="0"/>
                <a:ea typeface="Arial" pitchFamily="34" charset="-122"/>
                <a:cs typeface="Arial" pitchFamily="34" charset="-120"/>
              </a:rPr>
              <a:t>Request</a:t>
            </a:r>
            <a:endParaRPr lang="en-US" sz="1441" dirty="0"/>
          </a:p>
        </p:txBody>
      </p:sp>
      <p:sp>
        <p:nvSpPr>
          <p:cNvPr id="49" name="Shape 47"/>
          <p:cNvSpPr/>
          <p:nvPr/>
        </p:nvSpPr>
        <p:spPr>
          <a:xfrm>
            <a:off x="9837549" y="2939089"/>
            <a:ext cx="1565821" cy="1799677"/>
          </a:xfrm>
          <a:prstGeom prst="roundRect">
            <a:avLst>
              <a:gd name="adj" fmla="val 4672"/>
            </a:avLst>
          </a:prstGeom>
          <a:solidFill>
            <a:srgbClr val="F9EAF4"/>
          </a:solidFill>
          <a:ln w="15240">
            <a:solidFill>
              <a:srgbClr val="CC79A7"/>
            </a:solidFill>
            <a:prstDash val="solid"/>
          </a:ln>
        </p:spPr>
      </p:sp>
      <p:sp>
        <p:nvSpPr>
          <p:cNvPr id="50" name="Text 48"/>
          <p:cNvSpPr txBox="1"/>
          <p:nvPr/>
        </p:nvSpPr>
        <p:spPr>
          <a:xfrm>
            <a:off x="9898555" y="3221851"/>
            <a:ext cx="1443809" cy="229993"/>
          </a:xfrm>
          <a:prstGeom prst="rect">
            <a:avLst/>
          </a:prstGeom>
          <a:noFill/>
          <a:ln/>
        </p:spPr>
        <p:txBody>
          <a:bodyPr wrap="square" lIns="0" tIns="0" rIns="0" bIns="0" rtlCol="0" anchor="ctr"/>
          <a:lstStyle/>
          <a:p>
            <a:pPr algn="ctr" indent="0" marL="0">
              <a:lnSpc>
                <a:spcPct val="116000"/>
              </a:lnSpc>
              <a:buNone/>
            </a:pPr>
            <a:r>
              <a:rPr lang="en-US" sz="1561" b="1" dirty="0">
                <a:solidFill>
                  <a:srgbClr val="1E1B4B"/>
                </a:solidFill>
                <a:latin typeface="Arial" pitchFamily="34" charset="0"/>
                <a:ea typeface="Arial" pitchFamily="34" charset="-122"/>
                <a:cs typeface="Arial" pitchFamily="34" charset="-120"/>
              </a:rPr>
              <a:t>Accept or</a:t>
            </a:r>
            <a:endParaRPr lang="en-US" sz="1561" dirty="0"/>
          </a:p>
        </p:txBody>
      </p:sp>
      <p:sp>
        <p:nvSpPr>
          <p:cNvPr id="51" name="Text 49"/>
          <p:cNvSpPr txBox="1"/>
          <p:nvPr/>
        </p:nvSpPr>
        <p:spPr>
          <a:xfrm>
            <a:off x="9898555" y="3451844"/>
            <a:ext cx="1443809" cy="229993"/>
          </a:xfrm>
          <a:prstGeom prst="rect">
            <a:avLst/>
          </a:prstGeom>
          <a:noFill/>
          <a:ln/>
        </p:spPr>
        <p:txBody>
          <a:bodyPr wrap="square" lIns="0" tIns="0" rIns="0" bIns="0" rtlCol="0" anchor="ctr"/>
          <a:lstStyle/>
          <a:p>
            <a:pPr algn="ctr" indent="0" marL="0">
              <a:lnSpc>
                <a:spcPct val="116000"/>
              </a:lnSpc>
              <a:buNone/>
            </a:pPr>
            <a:r>
              <a:rPr lang="en-US" sz="1561" b="1" dirty="0">
                <a:solidFill>
                  <a:srgbClr val="1E1B4B"/>
                </a:solidFill>
                <a:latin typeface="Arial" pitchFamily="34" charset="0"/>
                <a:ea typeface="Arial" pitchFamily="34" charset="-122"/>
                <a:cs typeface="Arial" pitchFamily="34" charset="-120"/>
              </a:rPr>
              <a:t>repair</a:t>
            </a:r>
            <a:endParaRPr lang="en-US" sz="1561" dirty="0"/>
          </a:p>
        </p:txBody>
      </p:sp>
      <p:sp>
        <p:nvSpPr>
          <p:cNvPr id="52" name="Text 50"/>
          <p:cNvSpPr txBox="1"/>
          <p:nvPr/>
        </p:nvSpPr>
        <p:spPr>
          <a:xfrm>
            <a:off x="9898555" y="3758094"/>
            <a:ext cx="1443809" cy="212301"/>
          </a:xfrm>
          <a:prstGeom prst="rect">
            <a:avLst/>
          </a:prstGeom>
          <a:noFill/>
          <a:ln/>
        </p:spPr>
        <p:txBody>
          <a:bodyPr wrap="square" lIns="0" tIns="0" rIns="0" bIns="0" rtlCol="0" anchor="ctr"/>
          <a:lstStyle/>
          <a:p>
            <a:pPr algn="ctr" indent="0" marL="0">
              <a:lnSpc>
                <a:spcPct val="116000"/>
              </a:lnSpc>
              <a:buNone/>
            </a:pPr>
            <a:r>
              <a:rPr lang="en-US" sz="1441" dirty="0">
                <a:solidFill>
                  <a:srgbClr val="1F2937"/>
                </a:solidFill>
                <a:latin typeface="Arial" pitchFamily="34" charset="0"/>
                <a:ea typeface="Arial" pitchFamily="34" charset="-122"/>
                <a:cs typeface="Arial" pitchFamily="34" charset="-120"/>
              </a:rPr>
              <a:t>Compare facts;</a:t>
            </a:r>
            <a:endParaRPr lang="en-US" sz="1441" dirty="0"/>
          </a:p>
        </p:txBody>
      </p:sp>
      <p:sp>
        <p:nvSpPr>
          <p:cNvPr id="53" name="Text 51"/>
          <p:cNvSpPr txBox="1"/>
          <p:nvPr/>
        </p:nvSpPr>
        <p:spPr>
          <a:xfrm>
            <a:off x="9898555" y="3970395"/>
            <a:ext cx="1443809" cy="212301"/>
          </a:xfrm>
          <a:prstGeom prst="rect">
            <a:avLst/>
          </a:prstGeom>
          <a:noFill/>
          <a:ln/>
        </p:spPr>
        <p:txBody>
          <a:bodyPr wrap="square" lIns="0" tIns="0" rIns="0" bIns="0" rtlCol="0" anchor="ctr"/>
          <a:lstStyle/>
          <a:p>
            <a:pPr algn="ctr" indent="0" marL="0">
              <a:lnSpc>
                <a:spcPct val="116000"/>
              </a:lnSpc>
              <a:buNone/>
            </a:pPr>
            <a:r>
              <a:rPr lang="en-US" sz="1441" dirty="0">
                <a:solidFill>
                  <a:srgbClr val="1F2937"/>
                </a:solidFill>
                <a:latin typeface="Arial" pitchFamily="34" charset="0"/>
                <a:ea typeface="Arial" pitchFamily="34" charset="-122"/>
                <a:cs typeface="Arial" pitchFamily="34" charset="-120"/>
              </a:rPr>
              <a:t>retry once</a:t>
            </a:r>
            <a:endParaRPr lang="en-US" sz="1441" dirty="0"/>
          </a:p>
        </p:txBody>
      </p:sp>
      <p:sp>
        <p:nvSpPr>
          <p:cNvPr id="54" name="Text 52"/>
          <p:cNvSpPr txBox="1"/>
          <p:nvPr/>
        </p:nvSpPr>
        <p:spPr>
          <a:xfrm>
            <a:off x="9860427" y="4243702"/>
            <a:ext cx="1520066" cy="212301"/>
          </a:xfrm>
          <a:prstGeom prst="rect">
            <a:avLst/>
          </a:prstGeom>
          <a:noFill/>
          <a:ln/>
        </p:spPr>
        <p:txBody>
          <a:bodyPr wrap="square" lIns="0" tIns="0" rIns="0" bIns="0" rtlCol="0" anchor="ctr"/>
          <a:lstStyle/>
          <a:p>
            <a:pPr algn="ctr" indent="0" marL="0">
              <a:lnSpc>
                <a:spcPct val="116000"/>
              </a:lnSpc>
              <a:buNone/>
            </a:pPr>
            <a:r>
              <a:rPr lang="en-US" sz="1441" dirty="0">
                <a:solidFill>
                  <a:srgbClr val="0F766E"/>
                </a:solidFill>
                <a:latin typeface="Arial" pitchFamily="34" charset="0"/>
                <a:ea typeface="Arial" pitchFamily="34" charset="-122"/>
                <a:cs typeface="Arial" pitchFamily="34" charset="-120"/>
              </a:rPr>
              <a:t>parse_with_retry</a:t>
            </a:r>
            <a:endParaRPr lang="en-US" sz="1441" dirty="0"/>
          </a:p>
        </p:txBody>
      </p:sp>
      <p:sp>
        <p:nvSpPr>
          <p:cNvPr id="55" name="Shape 53"/>
          <p:cNvSpPr/>
          <p:nvPr/>
        </p:nvSpPr>
        <p:spPr>
          <a:xfrm>
            <a:off x="788325" y="5630979"/>
            <a:ext cx="198270" cy="198270"/>
          </a:xfrm>
          <a:prstGeom prst="roundRect">
            <a:avLst>
              <a:gd name="adj" fmla="val 36895"/>
            </a:avLst>
          </a:prstGeom>
          <a:solidFill>
            <a:srgbClr val="E4F2FB"/>
          </a:solidFill>
          <a:ln w="15240">
            <a:solidFill>
              <a:srgbClr val="0072B2"/>
            </a:solidFill>
            <a:prstDash val="solid"/>
          </a:ln>
        </p:spPr>
      </p:sp>
      <p:sp>
        <p:nvSpPr>
          <p:cNvPr id="56" name="Text 54"/>
          <p:cNvSpPr txBox="1"/>
          <p:nvPr/>
        </p:nvSpPr>
        <p:spPr>
          <a:xfrm>
            <a:off x="1047600" y="5608101"/>
            <a:ext cx="873059" cy="244024"/>
          </a:xfrm>
          <a:prstGeom prst="rect">
            <a:avLst/>
          </a:prstGeom>
          <a:noFill/>
          <a:ln/>
        </p:spPr>
        <p:txBody>
          <a:bodyPr wrap="square" lIns="0" tIns="0" rIns="0" bIns="0" rtlCol="0" anchor="ctr"/>
          <a:lstStyle/>
          <a:p>
            <a:pPr algn="l" indent="0" marL="0">
              <a:lnSpc>
                <a:spcPct val="116000"/>
              </a:lnSpc>
              <a:buNone/>
            </a:pPr>
            <a:r>
              <a:rPr lang="en-US" sz="1441" dirty="0">
                <a:solidFill>
                  <a:srgbClr val="1F2937"/>
                </a:solidFill>
                <a:latin typeface="Arial" pitchFamily="34" charset="0"/>
                <a:ea typeface="Arial" pitchFamily="34" charset="-122"/>
                <a:cs typeface="Arial" pitchFamily="34" charset="-120"/>
              </a:rPr>
              <a:t>Input data</a:t>
            </a:r>
            <a:endParaRPr lang="en-US" sz="1441" dirty="0"/>
          </a:p>
        </p:txBody>
      </p:sp>
      <p:sp>
        <p:nvSpPr>
          <p:cNvPr id="57" name="Shape 55"/>
          <p:cNvSpPr/>
          <p:nvPr/>
        </p:nvSpPr>
        <p:spPr>
          <a:xfrm>
            <a:off x="2118929" y="5630979"/>
            <a:ext cx="198270" cy="198270"/>
          </a:xfrm>
          <a:prstGeom prst="rect">
            <a:avLst/>
          </a:prstGeom>
          <a:solidFill>
            <a:srgbClr val="E5F7EF"/>
          </a:solidFill>
          <a:ln w="15240">
            <a:solidFill>
              <a:srgbClr val="009E73"/>
            </a:solidFill>
            <a:prstDash val="solid"/>
          </a:ln>
        </p:spPr>
      </p:sp>
      <p:sp>
        <p:nvSpPr>
          <p:cNvPr id="58" name="Text 56"/>
          <p:cNvSpPr txBox="1"/>
          <p:nvPr/>
        </p:nvSpPr>
        <p:spPr>
          <a:xfrm>
            <a:off x="2378205" y="5608101"/>
            <a:ext cx="546304" cy="244024"/>
          </a:xfrm>
          <a:prstGeom prst="rect">
            <a:avLst/>
          </a:prstGeom>
          <a:noFill/>
          <a:ln/>
        </p:spPr>
        <p:txBody>
          <a:bodyPr wrap="square" lIns="0" tIns="0" rIns="0" bIns="0" rtlCol="0" anchor="ctr"/>
          <a:lstStyle/>
          <a:p>
            <a:pPr algn="l" indent="0" marL="0">
              <a:lnSpc>
                <a:spcPct val="116000"/>
              </a:lnSpc>
              <a:buNone/>
            </a:pPr>
            <a:r>
              <a:rPr lang="en-US" sz="1441" dirty="0">
                <a:solidFill>
                  <a:srgbClr val="1F2937"/>
                </a:solidFill>
                <a:latin typeface="Arial" pitchFamily="34" charset="0"/>
                <a:ea typeface="Arial" pitchFamily="34" charset="-122"/>
                <a:cs typeface="Arial" pitchFamily="34" charset="-120"/>
              </a:rPr>
              <a:t>Model</a:t>
            </a:r>
            <a:endParaRPr lang="en-US" sz="1441" dirty="0"/>
          </a:p>
        </p:txBody>
      </p:sp>
      <p:sp>
        <p:nvSpPr>
          <p:cNvPr id="59" name="Shape 57"/>
          <p:cNvSpPr/>
          <p:nvPr/>
        </p:nvSpPr>
        <p:spPr>
          <a:xfrm>
            <a:off x="3122778" y="5630979"/>
            <a:ext cx="198270" cy="198270"/>
          </a:xfrm>
          <a:prstGeom prst="roundRect">
            <a:avLst>
              <a:gd name="adj" fmla="val 36895"/>
            </a:avLst>
          </a:prstGeom>
          <a:solidFill>
            <a:srgbClr val="FFF0E6"/>
          </a:solidFill>
          <a:ln w="15240">
            <a:solidFill>
              <a:srgbClr val="D55E00"/>
            </a:solidFill>
            <a:prstDash val="solid"/>
          </a:ln>
        </p:spPr>
      </p:sp>
      <p:sp>
        <p:nvSpPr>
          <p:cNvPr id="60" name="Text 58"/>
          <p:cNvSpPr txBox="1"/>
          <p:nvPr/>
        </p:nvSpPr>
        <p:spPr>
          <a:xfrm>
            <a:off x="3382054" y="5608101"/>
            <a:ext cx="1167803" cy="244024"/>
          </a:xfrm>
          <a:prstGeom prst="rect">
            <a:avLst/>
          </a:prstGeom>
          <a:noFill/>
          <a:ln/>
        </p:spPr>
        <p:txBody>
          <a:bodyPr wrap="square" lIns="0" tIns="0" rIns="0" bIns="0" rtlCol="0" anchor="ctr"/>
          <a:lstStyle/>
          <a:p>
            <a:pPr algn="l" indent="0" marL="0">
              <a:lnSpc>
                <a:spcPct val="116000"/>
              </a:lnSpc>
              <a:buNone/>
            </a:pPr>
            <a:r>
              <a:rPr lang="en-US" sz="1441" dirty="0">
                <a:solidFill>
                  <a:srgbClr val="1F2937"/>
                </a:solidFill>
                <a:latin typeface="Arial" pitchFamily="34" charset="0"/>
                <a:ea typeface="Arial" pitchFamily="34" charset="-122"/>
                <a:cs typeface="Arial" pitchFamily="34" charset="-120"/>
              </a:rPr>
              <a:t>Loss / update</a:t>
            </a:r>
            <a:endParaRPr lang="en-US" sz="1441" dirty="0"/>
          </a:p>
        </p:txBody>
      </p:sp>
      <p:sp>
        <p:nvSpPr>
          <p:cNvPr id="61" name="Shape 59"/>
          <p:cNvSpPr/>
          <p:nvPr/>
        </p:nvSpPr>
        <p:spPr>
          <a:xfrm>
            <a:off x="4748126" y="5630979"/>
            <a:ext cx="198270" cy="198270"/>
          </a:xfrm>
          <a:prstGeom prst="roundRect">
            <a:avLst>
              <a:gd name="adj" fmla="val 36895"/>
            </a:avLst>
          </a:prstGeom>
          <a:solidFill>
            <a:srgbClr val="F9EAF4"/>
          </a:solidFill>
          <a:ln w="15240">
            <a:solidFill>
              <a:srgbClr val="CC79A7"/>
            </a:solidFill>
            <a:prstDash val="solid"/>
          </a:ln>
        </p:spPr>
      </p:sp>
      <p:sp>
        <p:nvSpPr>
          <p:cNvPr id="62" name="Text 60"/>
          <p:cNvSpPr txBox="1"/>
          <p:nvPr/>
        </p:nvSpPr>
        <p:spPr>
          <a:xfrm>
            <a:off x="5007401" y="5608101"/>
            <a:ext cx="599153" cy="244024"/>
          </a:xfrm>
          <a:prstGeom prst="rect">
            <a:avLst/>
          </a:prstGeom>
          <a:noFill/>
          <a:ln/>
        </p:spPr>
        <p:txBody>
          <a:bodyPr wrap="square" lIns="0" tIns="0" rIns="0" bIns="0" rtlCol="0" anchor="ctr"/>
          <a:lstStyle/>
          <a:p>
            <a:pPr algn="l" indent="0" marL="0">
              <a:lnSpc>
                <a:spcPct val="116000"/>
              </a:lnSpc>
              <a:buNone/>
            </a:pPr>
            <a:r>
              <a:rPr lang="en-US" sz="1441" dirty="0">
                <a:solidFill>
                  <a:srgbClr val="1F2937"/>
                </a:solidFill>
                <a:latin typeface="Arial" pitchFamily="34" charset="0"/>
                <a:ea typeface="Arial" pitchFamily="34" charset="-122"/>
                <a:cs typeface="Arial" pitchFamily="34" charset="-120"/>
              </a:rPr>
              <a:t>Output</a:t>
            </a:r>
            <a:endParaRPr lang="en-US" sz="1441" dirty="0"/>
          </a:p>
        </p:txBody>
      </p:sp>
      <p:sp>
        <p:nvSpPr>
          <p:cNvPr id="63" name="Shape 61"/>
          <p:cNvSpPr/>
          <p:nvPr/>
        </p:nvSpPr>
        <p:spPr>
          <a:xfrm>
            <a:off x="5804824" y="5630979"/>
            <a:ext cx="198270" cy="198270"/>
          </a:xfrm>
          <a:prstGeom prst="rect">
            <a:avLst/>
          </a:prstGeom>
          <a:solidFill>
            <a:srgbClr val="F2F4F5"/>
          </a:solidFill>
          <a:ln w="15240">
            <a:solidFill>
              <a:srgbClr val="626B73"/>
            </a:solidFill>
            <a:prstDash val="solid"/>
          </a:ln>
        </p:spPr>
      </p:sp>
      <p:sp>
        <p:nvSpPr>
          <p:cNvPr id="64" name="Text 62"/>
          <p:cNvSpPr txBox="1"/>
          <p:nvPr/>
        </p:nvSpPr>
        <p:spPr>
          <a:xfrm>
            <a:off x="6064099" y="5608101"/>
            <a:ext cx="1104346" cy="244024"/>
          </a:xfrm>
          <a:prstGeom prst="rect">
            <a:avLst/>
          </a:prstGeom>
          <a:noFill/>
          <a:ln/>
        </p:spPr>
        <p:txBody>
          <a:bodyPr wrap="square" lIns="0" tIns="0" rIns="0" bIns="0" rtlCol="0" anchor="ctr"/>
          <a:lstStyle/>
          <a:p>
            <a:pPr algn="l" indent="0" marL="0">
              <a:lnSpc>
                <a:spcPct val="116000"/>
              </a:lnSpc>
              <a:buNone/>
            </a:pPr>
            <a:r>
              <a:rPr lang="en-US" sz="1441" dirty="0">
                <a:solidFill>
                  <a:srgbClr val="1F2937"/>
                </a:solidFill>
                <a:latin typeface="Arial" pitchFamily="34" charset="0"/>
                <a:ea typeface="Arial" pitchFamily="34" charset="-122"/>
                <a:cs typeface="Arial" pitchFamily="34" charset="-120"/>
              </a:rPr>
              <a:t>Human / tool</a:t>
            </a:r>
            <a:endParaRPr lang="en-US" sz="1441" dirty="0"/>
          </a:p>
        </p:txBody>
      </p:sp>
      <p:sp>
        <p:nvSpPr>
          <p:cNvPr id="65" name="Shape 63"/>
          <p:cNvSpPr/>
          <p:nvPr/>
        </p:nvSpPr>
        <p:spPr>
          <a:xfrm>
            <a:off x="7366714" y="5730113"/>
            <a:ext cx="335533" cy="0"/>
          </a:xfrm>
          <a:prstGeom prst="line">
            <a:avLst/>
          </a:prstGeom>
          <a:noFill/>
          <a:ln w="22860">
            <a:solidFill>
              <a:srgbClr val="009E73"/>
            </a:solidFill>
            <a:prstDash val="solid"/>
            <a:tailEnd type="triangle"/>
          </a:ln>
        </p:spPr>
      </p:sp>
      <p:sp>
        <p:nvSpPr>
          <p:cNvPr id="66" name="Text 64"/>
          <p:cNvSpPr txBox="1"/>
          <p:nvPr/>
        </p:nvSpPr>
        <p:spPr>
          <a:xfrm>
            <a:off x="7763253" y="5608101"/>
            <a:ext cx="788576" cy="244024"/>
          </a:xfrm>
          <a:prstGeom prst="rect">
            <a:avLst/>
          </a:prstGeom>
          <a:noFill/>
          <a:ln/>
        </p:spPr>
        <p:txBody>
          <a:bodyPr wrap="square" lIns="0" tIns="0" rIns="0" bIns="0" rtlCol="0" anchor="ctr"/>
          <a:lstStyle/>
          <a:p>
            <a:pPr algn="l" indent="0" marL="0">
              <a:lnSpc>
                <a:spcPct val="116000"/>
              </a:lnSpc>
              <a:buNone/>
            </a:pPr>
            <a:r>
              <a:rPr lang="en-US" sz="1441" dirty="0">
                <a:solidFill>
                  <a:srgbClr val="1F2937"/>
                </a:solidFill>
                <a:latin typeface="Arial" pitchFamily="34" charset="0"/>
                <a:ea typeface="Arial" pitchFamily="34" charset="-122"/>
                <a:cs typeface="Arial" pitchFamily="34" charset="-120"/>
              </a:rPr>
              <a:t>data flow</a:t>
            </a:r>
            <a:endParaRPr lang="en-US" sz="1441" dirty="0"/>
          </a:p>
        </p:txBody>
      </p:sp>
      <p:sp>
        <p:nvSpPr>
          <p:cNvPr id="67" name="Shape 65"/>
          <p:cNvSpPr/>
          <p:nvPr/>
        </p:nvSpPr>
        <p:spPr>
          <a:xfrm>
            <a:off x="8750099" y="5730113"/>
            <a:ext cx="335533" cy="0"/>
          </a:xfrm>
          <a:prstGeom prst="line">
            <a:avLst/>
          </a:prstGeom>
          <a:noFill/>
          <a:ln w="22860">
            <a:solidFill>
              <a:srgbClr val="D55E00"/>
            </a:solidFill>
            <a:prstDash val="dash"/>
            <a:tailEnd type="triangle"/>
          </a:ln>
        </p:spPr>
      </p:sp>
      <p:sp>
        <p:nvSpPr>
          <p:cNvPr id="68" name="Text 66"/>
          <p:cNvSpPr txBox="1"/>
          <p:nvPr/>
        </p:nvSpPr>
        <p:spPr>
          <a:xfrm>
            <a:off x="9146638" y="5608101"/>
            <a:ext cx="1494180" cy="244024"/>
          </a:xfrm>
          <a:prstGeom prst="rect">
            <a:avLst/>
          </a:prstGeom>
          <a:noFill/>
          <a:ln/>
        </p:spPr>
        <p:txBody>
          <a:bodyPr wrap="square" lIns="0" tIns="0" rIns="0" bIns="0" rtlCol="0" anchor="ctr"/>
          <a:lstStyle/>
          <a:p>
            <a:pPr algn="l" indent="0" marL="0">
              <a:lnSpc>
                <a:spcPct val="116000"/>
              </a:lnSpc>
              <a:buNone/>
            </a:pPr>
            <a:r>
              <a:rPr lang="en-US" sz="1441" dirty="0">
                <a:solidFill>
                  <a:srgbClr val="1F2937"/>
                </a:solidFill>
                <a:latin typeface="Arial" pitchFamily="34" charset="0"/>
                <a:ea typeface="Arial" pitchFamily="34" charset="-122"/>
                <a:cs typeface="Arial" pitchFamily="34" charset="-120"/>
              </a:rPr>
              <a:t>feedback / repeat</a:t>
            </a:r>
            <a:endParaRPr lang="en-US" sz="1441" dirty="0"/>
          </a:p>
        </p:txBody>
      </p:sp>
      <p:sp>
        <p:nvSpPr>
          <p:cNvPr id="69" name="Text 67"/>
          <p:cNvSpPr txBox="1"/>
          <p:nvPr/>
        </p:nvSpPr>
        <p:spPr>
          <a:xfrm>
            <a:off x="548640" y="5925312"/>
            <a:ext cx="11094415" cy="475488"/>
          </a:xfrm>
          <a:prstGeom prst="rect">
            <a:avLst/>
          </a:prstGeom>
          <a:noFill/>
          <a:ln/>
        </p:spPr>
        <p:txBody>
          <a:bodyPr wrap="square" lIns="0" tIns="0" rIns="0" bIns="0" rtlCol="0" anchor="ctr"/>
          <a:lstStyle/>
          <a:p>
            <a:pPr indent="0" marL="0">
              <a:buNone/>
            </a:pPr>
            <a:r>
              <a:rPr lang="en-US" sz="1700" dirty="0">
                <a:solidFill>
                  <a:srgbClr val="1F2937"/>
                </a:solidFill>
                <a:latin typeface="Calibri" pitchFamily="34" charset="0"/>
                <a:ea typeface="Calibri" pitchFamily="34" charset="-122"/>
                <a:cs typeface="Calibri" pitchFamily="34" charset="-120"/>
              </a:rPr>
              <a:t>Check: Would the wrong student ID pass validation if it still contained eight digits?</a:t>
            </a:r>
            <a:endParaRPr lang="en-US" sz="17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07  ·  PROMPT ENGINEERING AND EVALUATION</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26</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Structured outputs: a schema as a contract</a:t>
            </a:r>
            <a:endParaRPr lang="en-US" sz="3200" dirty="0"/>
          </a:p>
        </p:txBody>
      </p:sp>
      <p:sp>
        <p:nvSpPr>
          <p:cNvPr id="6" name="Shape 4"/>
          <p:cNvSpPr/>
          <p:nvPr/>
        </p:nvSpPr>
        <p:spPr>
          <a:xfrm>
            <a:off x="548640" y="1481328"/>
            <a:ext cx="6949440" cy="3524250"/>
          </a:xfrm>
          <a:prstGeom prst="roundRect">
            <a:avLst>
              <a:gd name="adj" fmla="val 2595"/>
            </a:avLst>
          </a:prstGeom>
          <a:solidFill>
            <a:srgbClr val="1E1E2E"/>
          </a:solidFill>
          <a:ln w="12700">
            <a:solidFill>
              <a:srgbClr val="1E1E2E"/>
            </a:solidFill>
            <a:prstDash val="solid"/>
          </a:ln>
        </p:spPr>
      </p:sp>
      <p:sp>
        <p:nvSpPr>
          <p:cNvPr id="7" name="Text 5"/>
          <p:cNvSpPr txBox="1"/>
          <p:nvPr/>
        </p:nvSpPr>
        <p:spPr>
          <a:xfrm>
            <a:off x="685800" y="1591056"/>
            <a:ext cx="6675120" cy="3304794"/>
          </a:xfrm>
          <a:prstGeom prst="rect">
            <a:avLst/>
          </a:prstGeom>
          <a:noFill/>
          <a:ln/>
        </p:spPr>
        <p:txBody>
          <a:bodyPr wrap="square" lIns="76200" tIns="76200" rIns="76200" bIns="76200" rtlCol="0" anchor="t"/>
          <a:lstStyle/>
          <a:p>
            <a:pPr indent="0" marL="0">
              <a:lnSpc>
                <a:spcPct val="100000"/>
              </a:lnSpc>
              <a:buNone/>
            </a:pPr>
            <a:r>
              <a:rPr lang="en-US" sz="1500" dirty="0">
                <a:solidFill>
                  <a:srgbClr val="E4E4F0"/>
                </a:solidFill>
                <a:latin typeface="Consolas" pitchFamily="34" charset="0"/>
                <a:ea typeface="Consolas" pitchFamily="34" charset="-122"/>
                <a:cs typeface="Consolas" pitchFamily="34" charset="-120"/>
              </a:rPr>
              <a:t>from pydantic import BaseModel, Field, ValidationError</a:t>
            </a:r>
            <a:endParaRPr lang="en-US" sz="1500" dirty="0"/>
          </a:p>
          <a:p>
            <a:pPr indent="0" marL="0">
              <a:lnSpc>
                <a:spcPct val="100000"/>
              </a:lnSpc>
              <a:buNone/>
            </a:pPr>
            <a:r>
              <a:rPr lang="en-US" sz="1500" dirty="0">
                <a:solidFill>
                  <a:srgbClr val="E4E4F0"/>
                </a:solidFill>
                <a:latin typeface="Consolas" pitchFamily="34" charset="0"/>
                <a:ea typeface="Consolas" pitchFamily="34" charset="-122"/>
                <a:cs typeface="Consolas" pitchFamily="34" charset="-120"/>
              </a:rPr>
              <a:t>from typing import Literal</a:t>
            </a:r>
            <a:endParaRPr lang="en-US" sz="1500" dirty="0"/>
          </a:p>
          <a:p>
            <a:pPr indent="0" marL="0">
              <a:lnSpc>
                <a:spcPct val="100000"/>
              </a:lnSpc>
              <a:buNone/>
            </a:pPr>
            <a:r>
              <a:rPr lang="en-US" sz="1500" dirty="0">
                <a:solidFill>
                  <a:srgbClr val="E4E4F0"/>
                </a:solidFill>
                <a:latin typeface="Consolas" pitchFamily="34" charset="0"/>
                <a:ea typeface="Consolas" pitchFamily="34" charset="-122"/>
                <a:cs typeface="Consolas" pitchFamily="34" charset="-120"/>
              </a:rPr>
              <a:t>class Request(BaseModel):</a:t>
            </a:r>
            <a:endParaRPr lang="en-US" sz="1500" dirty="0"/>
          </a:p>
          <a:p>
            <a:pPr indent="0" marL="0">
              <a:lnSpc>
                <a:spcPct val="100000"/>
              </a:lnSpc>
              <a:buNone/>
            </a:pPr>
            <a:r>
              <a:rPr lang="en-US" sz="1500" dirty="0">
                <a:solidFill>
                  <a:srgbClr val="E4E4F0"/>
                </a:solidFill>
                <a:latin typeface="Consolas" pitchFamily="34" charset="0"/>
                <a:ea typeface="Consolas" pitchFamily="34" charset="-122"/>
                <a:cs typeface="Consolas" pitchFamily="34" charset="-120"/>
              </a:rPr>
              <a:t>    name: str</a:t>
            </a:r>
            <a:endParaRPr lang="en-US" sz="1500" dirty="0"/>
          </a:p>
          <a:p>
            <a:pPr indent="0" marL="0">
              <a:lnSpc>
                <a:spcPct val="100000"/>
              </a:lnSpc>
              <a:buNone/>
            </a:pPr>
            <a:r>
              <a:rPr lang="en-US" sz="1500" dirty="0">
                <a:solidFill>
                  <a:srgbClr val="E4E4F0"/>
                </a:solidFill>
                <a:latin typeface="Consolas" pitchFamily="34" charset="0"/>
                <a:ea typeface="Consolas" pitchFamily="34" charset="-122"/>
                <a:cs typeface="Consolas" pitchFamily="34" charset="-120"/>
              </a:rPr>
              <a:t>    student_id: str = Field(pattern=r"^[0-9]{8}$")</a:t>
            </a:r>
            <a:endParaRPr lang="en-US" sz="1500" dirty="0"/>
          </a:p>
          <a:p>
            <a:pPr indent="0" marL="0">
              <a:lnSpc>
                <a:spcPct val="100000"/>
              </a:lnSpc>
              <a:buNone/>
            </a:pPr>
            <a:r>
              <a:rPr lang="en-US" sz="1500" dirty="0">
                <a:solidFill>
                  <a:srgbClr val="E4E4F0"/>
                </a:solidFill>
                <a:latin typeface="Consolas" pitchFamily="34" charset="0"/>
                <a:ea typeface="Consolas" pitchFamily="34" charset="-122"/>
                <a:cs typeface="Consolas" pitchFamily="34" charset="-120"/>
              </a:rPr>
              <a:t>    request: Literal["extension", "invoice", "deferral"]</a:t>
            </a:r>
            <a:endParaRPr lang="en-US" sz="1500" dirty="0"/>
          </a:p>
          <a:p>
            <a:pPr indent="0" marL="0">
              <a:lnSpc>
                <a:spcPct val="100000"/>
              </a:lnSpc>
              <a:buNone/>
            </a:pPr>
            <a:r>
              <a:rPr lang="en-US" sz="1500" dirty="0">
                <a:solidFill>
                  <a:srgbClr val="E4E4F0"/>
                </a:solidFill>
                <a:latin typeface="Consolas" pitchFamily="34" charset="0"/>
                <a:ea typeface="Consolas" pitchFamily="34" charset="-122"/>
                <a:cs typeface="Consolas" pitchFamily="34" charset="-120"/>
              </a:rPr>
              <a:t>    date: str | None = None</a:t>
            </a:r>
            <a:endParaRPr lang="en-US" sz="1500" dirty="0"/>
          </a:p>
          <a:p>
            <a:pPr indent="0" marL="0">
              <a:lnSpc>
                <a:spcPct val="100000"/>
              </a:lnSpc>
              <a:buNone/>
            </a:pPr>
            <a:r>
              <a:rPr lang="en-US" sz="1500" dirty="0">
                <a:solidFill>
                  <a:srgbClr val="E4E4F0"/>
                </a:solidFill>
                <a:latin typeface="Consolas" pitchFamily="34" charset="0"/>
                <a:ea typeface="Consolas" pitchFamily="34" charset="-122"/>
                <a:cs typeface="Consolas" pitchFamily="34" charset="-120"/>
              </a:rPr>
              <a:t>raw = llm(extract_prompt(email))</a:t>
            </a:r>
            <a:endParaRPr lang="en-US" sz="1500" dirty="0"/>
          </a:p>
          <a:p>
            <a:pPr indent="0" marL="0">
              <a:lnSpc>
                <a:spcPct val="100000"/>
              </a:lnSpc>
              <a:buNone/>
            </a:pPr>
            <a:r>
              <a:rPr lang="en-US" sz="1500" dirty="0">
                <a:solidFill>
                  <a:srgbClr val="E4E4F0"/>
                </a:solidFill>
                <a:latin typeface="Consolas" pitchFamily="34" charset="0"/>
                <a:ea typeface="Consolas" pitchFamily="34" charset="-122"/>
                <a:cs typeface="Consolas" pitchFamily="34" charset="-120"/>
              </a:rPr>
              <a:t>try:</a:t>
            </a:r>
            <a:endParaRPr lang="en-US" sz="1500" dirty="0"/>
          </a:p>
          <a:p>
            <a:pPr indent="0" marL="0">
              <a:lnSpc>
                <a:spcPct val="100000"/>
              </a:lnSpc>
              <a:buNone/>
            </a:pPr>
            <a:r>
              <a:rPr lang="en-US" sz="1500" dirty="0">
                <a:solidFill>
                  <a:srgbClr val="E4E4F0"/>
                </a:solidFill>
                <a:latin typeface="Consolas" pitchFamily="34" charset="0"/>
                <a:ea typeface="Consolas" pitchFamily="34" charset="-122"/>
                <a:cs typeface="Consolas" pitchFamily="34" charset="-120"/>
              </a:rPr>
              <a:t>    req = Request.model_validate_json(raw)</a:t>
            </a:r>
            <a:endParaRPr lang="en-US" sz="1500" dirty="0"/>
          </a:p>
          <a:p>
            <a:pPr indent="0" marL="0">
              <a:lnSpc>
                <a:spcPct val="100000"/>
              </a:lnSpc>
              <a:buNone/>
            </a:pPr>
            <a:r>
              <a:rPr lang="en-US" sz="1500" dirty="0">
                <a:solidFill>
                  <a:srgbClr val="E4E4F0"/>
                </a:solidFill>
                <a:latin typeface="Consolas" pitchFamily="34" charset="0"/>
                <a:ea typeface="Consolas" pitchFamily="34" charset="-122"/>
                <a:cs typeface="Consolas" pitchFamily="34" charset="-120"/>
              </a:rPr>
              <a:t>except ValidationError as err:</a:t>
            </a:r>
            <a:endParaRPr lang="en-US" sz="1500" dirty="0"/>
          </a:p>
          <a:p>
            <a:pPr indent="0" marL="0">
              <a:lnSpc>
                <a:spcPct val="100000"/>
              </a:lnSpc>
              <a:buNone/>
            </a:pPr>
            <a:r>
              <a:rPr lang="en-US" sz="1500" dirty="0">
                <a:solidFill>
                  <a:srgbClr val="E4E4F0"/>
                </a:solidFill>
                <a:latin typeface="Consolas" pitchFamily="34" charset="0"/>
                <a:ea typeface="Consolas" pitchFamily="34" charset="-122"/>
                <a:cs typeface="Consolas" pitchFamily="34" charset="-120"/>
              </a:rPr>
              <a:t>    raw = llm(fix_prompt(raw, err))</a:t>
            </a:r>
            <a:endParaRPr lang="en-US" sz="1500" dirty="0"/>
          </a:p>
          <a:p>
            <a:pPr indent="0" marL="0">
              <a:lnSpc>
                <a:spcPct val="100000"/>
              </a:lnSpc>
              <a:buNone/>
            </a:pPr>
            <a:r>
              <a:rPr lang="en-US" sz="1500" dirty="0">
                <a:solidFill>
                  <a:srgbClr val="E4E4F0"/>
                </a:solidFill>
                <a:latin typeface="Consolas" pitchFamily="34" charset="0"/>
                <a:ea typeface="Consolas" pitchFamily="34" charset="-122"/>
                <a:cs typeface="Consolas" pitchFamily="34" charset="-120"/>
              </a:rPr>
              <a:t>    req = Request.model_validate_json(raw)  # may still fail</a:t>
            </a:r>
            <a:endParaRPr lang="en-US" sz="1500" dirty="0"/>
          </a:p>
        </p:txBody>
      </p:sp>
      <p:sp>
        <p:nvSpPr>
          <p:cNvPr id="8" name="Text 6"/>
          <p:cNvSpPr txBox="1"/>
          <p:nvPr/>
        </p:nvSpPr>
        <p:spPr>
          <a:xfrm>
            <a:off x="7772400" y="1481328"/>
            <a:ext cx="3870655" cy="4828032"/>
          </a:xfrm>
          <a:prstGeom prst="rect">
            <a:avLst/>
          </a:prstGeom>
          <a:noFill/>
          <a:ln/>
        </p:spPr>
        <p:txBody>
          <a:bodyPr wrap="square" lIns="50800" tIns="50800" rIns="50800" bIns="50800" rtlCol="0" anchor="t"/>
          <a:lstStyle/>
          <a:p>
            <a:pPr marL="254000" indent="-254000">
              <a:spcAft>
                <a:spcPts val="800"/>
              </a:spcAft>
              <a:buSzPct val="100000"/>
              <a:buChar char="●"/>
            </a:pPr>
            <a:r>
              <a:rPr lang="en-US" sz="2000" dirty="0">
                <a:solidFill>
                  <a:srgbClr val="1F2937"/>
                </a:solidFill>
                <a:latin typeface="Calibri" pitchFamily="34" charset="0"/>
                <a:ea typeface="Calibri" pitchFamily="34" charset="-122"/>
                <a:cs typeface="Calibri" pitchFamily="34" charset="-120"/>
              </a:rPr>
              <a:t>A schema checks fields, types and constraints.</a:t>
            </a:r>
            <a:endParaRPr lang="en-US" sz="2000" dirty="0"/>
          </a:p>
          <a:p>
            <a:pPr marL="254000" indent="-254000">
              <a:spcAft>
                <a:spcPts val="800"/>
              </a:spcAft>
              <a:buSzPct val="100000"/>
              <a:buChar char="●"/>
            </a:pPr>
            <a:r>
              <a:rPr lang="en-US" sz="2000" dirty="0">
                <a:solidFill>
                  <a:srgbClr val="1F2937"/>
                </a:solidFill>
                <a:latin typeface="Calibri" pitchFamily="34" charset="0"/>
                <a:ea typeface="Calibri" pitchFamily="34" charset="-122"/>
                <a:cs typeface="Calibri" pitchFamily="34" charset="-120"/>
              </a:rPr>
              <a:t>Validate the first reply and the retry.</a:t>
            </a:r>
            <a:endParaRPr lang="en-US" sz="2000" dirty="0"/>
          </a:p>
          <a:p>
            <a:pPr marL="254000" indent="-254000">
              <a:spcAft>
                <a:spcPts val="800"/>
              </a:spcAft>
              <a:buSzPct val="100000"/>
              <a:buChar char="●"/>
            </a:pPr>
            <a:r>
              <a:rPr lang="en-US" sz="2000" dirty="0">
                <a:solidFill>
                  <a:srgbClr val="1F2937"/>
                </a:solidFill>
                <a:latin typeface="Calibri" pitchFamily="34" charset="0"/>
                <a:ea typeface="Calibri" pitchFamily="34" charset="-122"/>
                <a:cs typeface="Calibri" pitchFamily="34" charset="-120"/>
              </a:rPr>
              <a:t>Check facts separately; reject a second failure.</a:t>
            </a:r>
            <a:endParaRPr lang="en-US" sz="20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07  ·  PROMPT ENGINEERING AND EVALUATION</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27</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Context engineering: what the model sees matters most</a:t>
            </a:r>
            <a:endParaRPr lang="en-US" sz="3200" dirty="0"/>
          </a:p>
        </p:txBody>
      </p:sp>
      <p:sp>
        <p:nvSpPr>
          <p:cNvPr id="6" name="Shape 4"/>
          <p:cNvSpPr/>
          <p:nvPr/>
        </p:nvSpPr>
        <p:spPr>
          <a:xfrm>
            <a:off x="4051915" y="2703121"/>
            <a:ext cx="231489" cy="0"/>
          </a:xfrm>
          <a:prstGeom prst="line">
            <a:avLst/>
          </a:prstGeom>
          <a:noFill/>
          <a:ln w="22860">
            <a:solidFill>
              <a:srgbClr val="4F46E5"/>
            </a:solidFill>
            <a:prstDash val="solid"/>
          </a:ln>
        </p:spPr>
      </p:sp>
      <p:sp>
        <p:nvSpPr>
          <p:cNvPr id="7" name="Shape 5"/>
          <p:cNvSpPr/>
          <p:nvPr/>
        </p:nvSpPr>
        <p:spPr>
          <a:xfrm>
            <a:off x="4283404" y="2703121"/>
            <a:ext cx="0" cy="1182835"/>
          </a:xfrm>
          <a:prstGeom prst="line">
            <a:avLst/>
          </a:prstGeom>
          <a:noFill/>
          <a:ln w="22860">
            <a:solidFill>
              <a:srgbClr val="4F46E5"/>
            </a:solidFill>
            <a:prstDash val="solid"/>
          </a:ln>
        </p:spPr>
      </p:sp>
      <p:sp>
        <p:nvSpPr>
          <p:cNvPr id="8" name="Shape 6"/>
          <p:cNvSpPr/>
          <p:nvPr/>
        </p:nvSpPr>
        <p:spPr>
          <a:xfrm>
            <a:off x="4051915" y="3163113"/>
            <a:ext cx="231489" cy="0"/>
          </a:xfrm>
          <a:prstGeom prst="line">
            <a:avLst/>
          </a:prstGeom>
          <a:noFill/>
          <a:ln w="22860">
            <a:solidFill>
              <a:srgbClr val="4F46E5"/>
            </a:solidFill>
            <a:prstDash val="solid"/>
          </a:ln>
        </p:spPr>
      </p:sp>
      <p:sp>
        <p:nvSpPr>
          <p:cNvPr id="9" name="Shape 7"/>
          <p:cNvSpPr/>
          <p:nvPr/>
        </p:nvSpPr>
        <p:spPr>
          <a:xfrm>
            <a:off x="4283404" y="3163113"/>
            <a:ext cx="0" cy="722844"/>
          </a:xfrm>
          <a:prstGeom prst="line">
            <a:avLst/>
          </a:prstGeom>
          <a:noFill/>
          <a:ln w="22860">
            <a:solidFill>
              <a:srgbClr val="4F46E5"/>
            </a:solidFill>
            <a:prstDash val="solid"/>
          </a:ln>
        </p:spPr>
      </p:sp>
      <p:sp>
        <p:nvSpPr>
          <p:cNvPr id="10" name="Shape 8"/>
          <p:cNvSpPr/>
          <p:nvPr/>
        </p:nvSpPr>
        <p:spPr>
          <a:xfrm>
            <a:off x="4051915" y="3623104"/>
            <a:ext cx="231489" cy="0"/>
          </a:xfrm>
          <a:prstGeom prst="line">
            <a:avLst/>
          </a:prstGeom>
          <a:noFill/>
          <a:ln w="22860">
            <a:solidFill>
              <a:srgbClr val="4F46E5"/>
            </a:solidFill>
            <a:prstDash val="solid"/>
          </a:ln>
        </p:spPr>
      </p:sp>
      <p:sp>
        <p:nvSpPr>
          <p:cNvPr id="11" name="Shape 9"/>
          <p:cNvSpPr/>
          <p:nvPr/>
        </p:nvSpPr>
        <p:spPr>
          <a:xfrm>
            <a:off x="4283404" y="3623104"/>
            <a:ext cx="0" cy="262852"/>
          </a:xfrm>
          <a:prstGeom prst="line">
            <a:avLst/>
          </a:prstGeom>
          <a:noFill/>
          <a:ln w="22860">
            <a:solidFill>
              <a:srgbClr val="4F46E5"/>
            </a:solidFill>
            <a:prstDash val="solid"/>
          </a:ln>
        </p:spPr>
      </p:sp>
      <p:sp>
        <p:nvSpPr>
          <p:cNvPr id="12" name="Shape 10"/>
          <p:cNvSpPr/>
          <p:nvPr/>
        </p:nvSpPr>
        <p:spPr>
          <a:xfrm>
            <a:off x="4051915" y="4083096"/>
            <a:ext cx="231489" cy="0"/>
          </a:xfrm>
          <a:prstGeom prst="line">
            <a:avLst/>
          </a:prstGeom>
          <a:noFill/>
          <a:ln w="22860">
            <a:solidFill>
              <a:srgbClr val="4F46E5"/>
            </a:solidFill>
            <a:prstDash val="solid"/>
          </a:ln>
        </p:spPr>
      </p:sp>
      <p:sp>
        <p:nvSpPr>
          <p:cNvPr id="13" name="Shape 11"/>
          <p:cNvSpPr/>
          <p:nvPr/>
        </p:nvSpPr>
        <p:spPr>
          <a:xfrm flipV="1">
            <a:off x="4283404" y="3885956"/>
            <a:ext cx="0" cy="197139"/>
          </a:xfrm>
          <a:prstGeom prst="line">
            <a:avLst/>
          </a:prstGeom>
          <a:noFill/>
          <a:ln w="22860">
            <a:solidFill>
              <a:srgbClr val="4F46E5"/>
            </a:solidFill>
            <a:prstDash val="solid"/>
          </a:ln>
        </p:spPr>
      </p:sp>
      <p:sp>
        <p:nvSpPr>
          <p:cNvPr id="14" name="Shape 12"/>
          <p:cNvSpPr/>
          <p:nvPr/>
        </p:nvSpPr>
        <p:spPr>
          <a:xfrm>
            <a:off x="4051915" y="4543087"/>
            <a:ext cx="231489" cy="0"/>
          </a:xfrm>
          <a:prstGeom prst="line">
            <a:avLst/>
          </a:prstGeom>
          <a:noFill/>
          <a:ln w="22860">
            <a:solidFill>
              <a:srgbClr val="4F46E5"/>
            </a:solidFill>
            <a:prstDash val="solid"/>
          </a:ln>
        </p:spPr>
      </p:sp>
      <p:sp>
        <p:nvSpPr>
          <p:cNvPr id="15" name="Shape 13"/>
          <p:cNvSpPr/>
          <p:nvPr/>
        </p:nvSpPr>
        <p:spPr>
          <a:xfrm flipV="1">
            <a:off x="4283404" y="3885956"/>
            <a:ext cx="0" cy="657131"/>
          </a:xfrm>
          <a:prstGeom prst="line">
            <a:avLst/>
          </a:prstGeom>
          <a:noFill/>
          <a:ln w="22860">
            <a:solidFill>
              <a:srgbClr val="4F46E5"/>
            </a:solidFill>
            <a:prstDash val="solid"/>
          </a:ln>
        </p:spPr>
      </p:sp>
      <p:sp>
        <p:nvSpPr>
          <p:cNvPr id="16" name="Shape 14"/>
          <p:cNvSpPr/>
          <p:nvPr/>
        </p:nvSpPr>
        <p:spPr>
          <a:xfrm>
            <a:off x="4283404" y="3885956"/>
            <a:ext cx="297629" cy="0"/>
          </a:xfrm>
          <a:prstGeom prst="line">
            <a:avLst/>
          </a:prstGeom>
          <a:noFill/>
          <a:ln w="22860">
            <a:solidFill>
              <a:srgbClr val="4F46E5"/>
            </a:solidFill>
            <a:prstDash val="solid"/>
            <a:tailEnd type="triangle"/>
          </a:ln>
        </p:spPr>
      </p:sp>
      <p:sp>
        <p:nvSpPr>
          <p:cNvPr id="17" name="Shape 15"/>
          <p:cNvSpPr/>
          <p:nvPr/>
        </p:nvSpPr>
        <p:spPr>
          <a:xfrm>
            <a:off x="4283404" y="3885956"/>
            <a:ext cx="297629" cy="0"/>
          </a:xfrm>
          <a:prstGeom prst="line">
            <a:avLst/>
          </a:prstGeom>
          <a:noFill/>
          <a:ln w="22860">
            <a:solidFill>
              <a:srgbClr val="4F46E5"/>
            </a:solidFill>
            <a:prstDash val="solid"/>
            <a:tailEnd type="triangle"/>
          </a:ln>
        </p:spPr>
      </p:sp>
      <p:sp>
        <p:nvSpPr>
          <p:cNvPr id="18" name="Shape 16"/>
          <p:cNvSpPr/>
          <p:nvPr/>
        </p:nvSpPr>
        <p:spPr>
          <a:xfrm>
            <a:off x="4283404" y="3885956"/>
            <a:ext cx="297629" cy="0"/>
          </a:xfrm>
          <a:prstGeom prst="line">
            <a:avLst/>
          </a:prstGeom>
          <a:noFill/>
          <a:ln w="22860">
            <a:solidFill>
              <a:srgbClr val="4F46E5"/>
            </a:solidFill>
            <a:prstDash val="solid"/>
            <a:tailEnd type="triangle"/>
          </a:ln>
        </p:spPr>
      </p:sp>
      <p:sp>
        <p:nvSpPr>
          <p:cNvPr id="19" name="Shape 17"/>
          <p:cNvSpPr/>
          <p:nvPr/>
        </p:nvSpPr>
        <p:spPr>
          <a:xfrm>
            <a:off x="4283404" y="3885956"/>
            <a:ext cx="297629" cy="0"/>
          </a:xfrm>
          <a:prstGeom prst="line">
            <a:avLst/>
          </a:prstGeom>
          <a:noFill/>
          <a:ln w="22860">
            <a:solidFill>
              <a:srgbClr val="4F46E5"/>
            </a:solidFill>
            <a:prstDash val="solid"/>
            <a:tailEnd type="triangle"/>
          </a:ln>
        </p:spPr>
      </p:sp>
      <p:sp>
        <p:nvSpPr>
          <p:cNvPr id="20" name="Shape 18"/>
          <p:cNvSpPr/>
          <p:nvPr/>
        </p:nvSpPr>
        <p:spPr>
          <a:xfrm>
            <a:off x="4283404" y="3885956"/>
            <a:ext cx="297629" cy="0"/>
          </a:xfrm>
          <a:prstGeom prst="line">
            <a:avLst/>
          </a:prstGeom>
          <a:noFill/>
          <a:ln w="22860">
            <a:solidFill>
              <a:srgbClr val="4F46E5"/>
            </a:solidFill>
            <a:prstDash val="solid"/>
            <a:tailEnd type="triangle"/>
          </a:ln>
        </p:spPr>
      </p:sp>
      <p:sp>
        <p:nvSpPr>
          <p:cNvPr id="21" name="Shape 19"/>
          <p:cNvSpPr/>
          <p:nvPr/>
        </p:nvSpPr>
        <p:spPr>
          <a:xfrm>
            <a:off x="6102248" y="3885956"/>
            <a:ext cx="562188" cy="0"/>
          </a:xfrm>
          <a:prstGeom prst="line">
            <a:avLst/>
          </a:prstGeom>
          <a:noFill/>
          <a:ln w="22860">
            <a:solidFill>
              <a:srgbClr val="4F46E5"/>
            </a:solidFill>
            <a:prstDash val="solid"/>
            <a:tailEnd type="triangle"/>
          </a:ln>
        </p:spPr>
      </p:sp>
      <p:sp>
        <p:nvSpPr>
          <p:cNvPr id="22" name="Shape 20"/>
          <p:cNvSpPr/>
          <p:nvPr/>
        </p:nvSpPr>
        <p:spPr>
          <a:xfrm>
            <a:off x="8516350" y="3885956"/>
            <a:ext cx="429909" cy="0"/>
          </a:xfrm>
          <a:prstGeom prst="line">
            <a:avLst/>
          </a:prstGeom>
          <a:noFill/>
          <a:ln w="22860">
            <a:solidFill>
              <a:srgbClr val="4F46E5"/>
            </a:solidFill>
            <a:prstDash val="solid"/>
            <a:tailEnd type="triangle"/>
          </a:ln>
        </p:spPr>
      </p:sp>
      <p:sp>
        <p:nvSpPr>
          <p:cNvPr id="23" name="Shape 21"/>
          <p:cNvSpPr/>
          <p:nvPr/>
        </p:nvSpPr>
        <p:spPr>
          <a:xfrm>
            <a:off x="2067721" y="2538838"/>
            <a:ext cx="1984193" cy="328565"/>
          </a:xfrm>
          <a:prstGeom prst="rect">
            <a:avLst/>
          </a:prstGeom>
          <a:solidFill>
            <a:srgbClr val="F2F4F5"/>
          </a:solidFill>
          <a:ln w="15240">
            <a:solidFill>
              <a:srgbClr val="626B73"/>
            </a:solidFill>
            <a:prstDash val="solid"/>
          </a:ln>
        </p:spPr>
      </p:sp>
      <p:sp>
        <p:nvSpPr>
          <p:cNvPr id="24" name="Shape 22"/>
          <p:cNvSpPr/>
          <p:nvPr/>
        </p:nvSpPr>
        <p:spPr>
          <a:xfrm>
            <a:off x="2067721" y="2998830"/>
            <a:ext cx="1984193" cy="328565"/>
          </a:xfrm>
          <a:prstGeom prst="roundRect">
            <a:avLst>
              <a:gd name="adj" fmla="val 22264"/>
            </a:avLst>
          </a:prstGeom>
          <a:solidFill>
            <a:srgbClr val="E4F2FB"/>
          </a:solidFill>
          <a:ln w="15240">
            <a:solidFill>
              <a:srgbClr val="0072B2"/>
            </a:solidFill>
            <a:prstDash val="solid"/>
          </a:ln>
        </p:spPr>
      </p:sp>
      <p:sp>
        <p:nvSpPr>
          <p:cNvPr id="25" name="Shape 23"/>
          <p:cNvSpPr/>
          <p:nvPr/>
        </p:nvSpPr>
        <p:spPr>
          <a:xfrm>
            <a:off x="2067721" y="3458821"/>
            <a:ext cx="1984193" cy="328565"/>
          </a:xfrm>
          <a:prstGeom prst="roundRect">
            <a:avLst>
              <a:gd name="adj" fmla="val 22264"/>
            </a:avLst>
          </a:prstGeom>
          <a:solidFill>
            <a:srgbClr val="E4F2FB"/>
          </a:solidFill>
          <a:ln w="15240">
            <a:solidFill>
              <a:srgbClr val="0072B2"/>
            </a:solidFill>
            <a:prstDash val="solid"/>
          </a:ln>
        </p:spPr>
      </p:sp>
      <p:sp>
        <p:nvSpPr>
          <p:cNvPr id="26" name="Shape 24"/>
          <p:cNvSpPr/>
          <p:nvPr/>
        </p:nvSpPr>
        <p:spPr>
          <a:xfrm>
            <a:off x="2067721" y="3918813"/>
            <a:ext cx="1984193" cy="328565"/>
          </a:xfrm>
          <a:prstGeom prst="roundRect">
            <a:avLst>
              <a:gd name="adj" fmla="val 22264"/>
            </a:avLst>
          </a:prstGeom>
          <a:solidFill>
            <a:srgbClr val="E4F2FB"/>
          </a:solidFill>
          <a:ln w="15240">
            <a:solidFill>
              <a:srgbClr val="0072B2"/>
            </a:solidFill>
            <a:prstDash val="solid"/>
          </a:ln>
        </p:spPr>
      </p:sp>
      <p:sp>
        <p:nvSpPr>
          <p:cNvPr id="27" name="Shape 25"/>
          <p:cNvSpPr/>
          <p:nvPr/>
        </p:nvSpPr>
        <p:spPr>
          <a:xfrm>
            <a:off x="2067721" y="4378804"/>
            <a:ext cx="1984193" cy="328565"/>
          </a:xfrm>
          <a:prstGeom prst="rect">
            <a:avLst/>
          </a:prstGeom>
          <a:solidFill>
            <a:srgbClr val="F2F4F5"/>
          </a:solidFill>
          <a:ln w="15240">
            <a:solidFill>
              <a:srgbClr val="626B73"/>
            </a:solidFill>
            <a:prstDash val="solid"/>
          </a:ln>
        </p:spPr>
      </p:sp>
      <p:sp>
        <p:nvSpPr>
          <p:cNvPr id="28" name="Shape 26"/>
          <p:cNvSpPr/>
          <p:nvPr/>
        </p:nvSpPr>
        <p:spPr>
          <a:xfrm>
            <a:off x="4581033" y="3425965"/>
            <a:ext cx="1521215" cy="919983"/>
          </a:xfrm>
          <a:prstGeom prst="rect">
            <a:avLst/>
          </a:prstGeom>
          <a:solidFill>
            <a:srgbClr val="F2F4F5"/>
          </a:solidFill>
          <a:ln w="15240">
            <a:solidFill>
              <a:srgbClr val="626B73"/>
            </a:solidFill>
            <a:prstDash val="solid"/>
          </a:ln>
        </p:spPr>
      </p:sp>
      <p:sp>
        <p:nvSpPr>
          <p:cNvPr id="29" name="Shape 27"/>
          <p:cNvSpPr/>
          <p:nvPr/>
        </p:nvSpPr>
        <p:spPr>
          <a:xfrm>
            <a:off x="6664436" y="2768834"/>
            <a:ext cx="1851914" cy="2168531"/>
          </a:xfrm>
          <a:prstGeom prst="roundRect">
            <a:avLst>
              <a:gd name="adj" fmla="val 3950"/>
            </a:avLst>
          </a:prstGeom>
          <a:solidFill>
            <a:srgbClr val="E4F2FB"/>
          </a:solidFill>
          <a:ln w="15240">
            <a:solidFill>
              <a:srgbClr val="0072B2"/>
            </a:solidFill>
            <a:prstDash val="solid"/>
          </a:ln>
        </p:spPr>
      </p:sp>
      <p:sp>
        <p:nvSpPr>
          <p:cNvPr id="30" name="Shape 28"/>
          <p:cNvSpPr/>
          <p:nvPr/>
        </p:nvSpPr>
        <p:spPr>
          <a:xfrm>
            <a:off x="6763646" y="2933117"/>
            <a:ext cx="1653495" cy="295709"/>
          </a:xfrm>
          <a:prstGeom prst="rect">
            <a:avLst/>
          </a:prstGeom>
          <a:solidFill>
            <a:srgbClr val="F2F4F5"/>
          </a:solidFill>
          <a:ln w="15240">
            <a:solidFill>
              <a:srgbClr val="626B73"/>
            </a:solidFill>
            <a:prstDash val="solid"/>
          </a:ln>
        </p:spPr>
      </p:sp>
      <p:sp>
        <p:nvSpPr>
          <p:cNvPr id="31" name="Shape 29"/>
          <p:cNvSpPr/>
          <p:nvPr/>
        </p:nvSpPr>
        <p:spPr>
          <a:xfrm>
            <a:off x="6763646" y="3314253"/>
            <a:ext cx="1653495" cy="295709"/>
          </a:xfrm>
          <a:prstGeom prst="roundRect">
            <a:avLst>
              <a:gd name="adj" fmla="val 24738"/>
            </a:avLst>
          </a:prstGeom>
          <a:solidFill>
            <a:srgbClr val="E4F2FB"/>
          </a:solidFill>
          <a:ln w="15240">
            <a:solidFill>
              <a:srgbClr val="0072B2"/>
            </a:solidFill>
            <a:prstDash val="solid"/>
          </a:ln>
        </p:spPr>
      </p:sp>
      <p:sp>
        <p:nvSpPr>
          <p:cNvPr id="32" name="Shape 30"/>
          <p:cNvSpPr/>
          <p:nvPr/>
        </p:nvSpPr>
        <p:spPr>
          <a:xfrm>
            <a:off x="6763646" y="3695389"/>
            <a:ext cx="1653495" cy="295709"/>
          </a:xfrm>
          <a:prstGeom prst="roundRect">
            <a:avLst>
              <a:gd name="adj" fmla="val 24738"/>
            </a:avLst>
          </a:prstGeom>
          <a:solidFill>
            <a:srgbClr val="E4F2FB"/>
          </a:solidFill>
          <a:ln w="15240">
            <a:solidFill>
              <a:srgbClr val="0072B2"/>
            </a:solidFill>
            <a:prstDash val="solid"/>
          </a:ln>
        </p:spPr>
      </p:sp>
      <p:sp>
        <p:nvSpPr>
          <p:cNvPr id="33" name="Shape 31"/>
          <p:cNvSpPr/>
          <p:nvPr/>
        </p:nvSpPr>
        <p:spPr>
          <a:xfrm>
            <a:off x="6763646" y="4076524"/>
            <a:ext cx="1653495" cy="295709"/>
          </a:xfrm>
          <a:prstGeom prst="roundRect">
            <a:avLst>
              <a:gd name="adj" fmla="val 24738"/>
            </a:avLst>
          </a:prstGeom>
          <a:solidFill>
            <a:srgbClr val="E4F2FB"/>
          </a:solidFill>
          <a:ln w="15240">
            <a:solidFill>
              <a:srgbClr val="0072B2"/>
            </a:solidFill>
            <a:prstDash val="solid"/>
          </a:ln>
        </p:spPr>
      </p:sp>
      <p:sp>
        <p:nvSpPr>
          <p:cNvPr id="34" name="Shape 32"/>
          <p:cNvSpPr/>
          <p:nvPr/>
        </p:nvSpPr>
        <p:spPr>
          <a:xfrm>
            <a:off x="6763646" y="4457660"/>
            <a:ext cx="1653495" cy="295709"/>
          </a:xfrm>
          <a:prstGeom prst="roundRect">
            <a:avLst>
              <a:gd name="adj" fmla="val 24738"/>
            </a:avLst>
          </a:prstGeom>
          <a:solidFill>
            <a:srgbClr val="F9EAF4"/>
          </a:solidFill>
          <a:ln w="15240">
            <a:solidFill>
              <a:srgbClr val="CC79A7"/>
            </a:solidFill>
            <a:prstDash val="solid"/>
          </a:ln>
        </p:spPr>
      </p:sp>
      <p:sp>
        <p:nvSpPr>
          <p:cNvPr id="35" name="Shape 33"/>
          <p:cNvSpPr/>
          <p:nvPr/>
        </p:nvSpPr>
        <p:spPr>
          <a:xfrm>
            <a:off x="8946259" y="3425965"/>
            <a:ext cx="1455075" cy="919983"/>
          </a:xfrm>
          <a:prstGeom prst="rect">
            <a:avLst/>
          </a:prstGeom>
          <a:solidFill>
            <a:srgbClr val="E5F7EF"/>
          </a:solidFill>
          <a:ln w="15240">
            <a:solidFill>
              <a:srgbClr val="009E73"/>
            </a:solidFill>
            <a:prstDash val="solid"/>
          </a:ln>
        </p:spPr>
      </p:sp>
      <p:sp>
        <p:nvSpPr>
          <p:cNvPr id="36" name="Shape 34"/>
          <p:cNvSpPr/>
          <p:nvPr/>
        </p:nvSpPr>
        <p:spPr>
          <a:xfrm>
            <a:off x="2001582" y="5482784"/>
            <a:ext cx="145508" cy="144569"/>
          </a:xfrm>
          <a:prstGeom prst="roundRect">
            <a:avLst>
              <a:gd name="adj" fmla="val 50600"/>
            </a:avLst>
          </a:prstGeom>
          <a:solidFill>
            <a:srgbClr val="E4F2FB"/>
          </a:solidFill>
          <a:ln w="15240">
            <a:solidFill>
              <a:srgbClr val="0072B2"/>
            </a:solidFill>
            <a:prstDash val="solid"/>
          </a:ln>
        </p:spPr>
      </p:sp>
      <p:sp>
        <p:nvSpPr>
          <p:cNvPr id="37" name="Shape 35"/>
          <p:cNvSpPr/>
          <p:nvPr/>
        </p:nvSpPr>
        <p:spPr>
          <a:xfrm>
            <a:off x="3721216" y="5482784"/>
            <a:ext cx="145508" cy="144569"/>
          </a:xfrm>
          <a:prstGeom prst="rect">
            <a:avLst/>
          </a:prstGeom>
          <a:solidFill>
            <a:srgbClr val="E5F7EF"/>
          </a:solidFill>
          <a:ln w="15240">
            <a:solidFill>
              <a:srgbClr val="009E73"/>
            </a:solidFill>
            <a:prstDash val="solid"/>
          </a:ln>
        </p:spPr>
      </p:sp>
      <p:sp>
        <p:nvSpPr>
          <p:cNvPr id="38" name="Shape 36"/>
          <p:cNvSpPr/>
          <p:nvPr/>
        </p:nvSpPr>
        <p:spPr>
          <a:xfrm>
            <a:off x="5440850" y="5482784"/>
            <a:ext cx="145508" cy="144569"/>
          </a:xfrm>
          <a:prstGeom prst="roundRect">
            <a:avLst>
              <a:gd name="adj" fmla="val 50600"/>
            </a:avLst>
          </a:prstGeom>
          <a:solidFill>
            <a:srgbClr val="F9EAF4"/>
          </a:solidFill>
          <a:ln w="15240">
            <a:solidFill>
              <a:srgbClr val="CC79A7"/>
            </a:solidFill>
            <a:prstDash val="solid"/>
          </a:ln>
        </p:spPr>
      </p:sp>
      <p:sp>
        <p:nvSpPr>
          <p:cNvPr id="39" name="Shape 37"/>
          <p:cNvSpPr/>
          <p:nvPr/>
        </p:nvSpPr>
        <p:spPr>
          <a:xfrm>
            <a:off x="7160485" y="5482784"/>
            <a:ext cx="145508" cy="144569"/>
          </a:xfrm>
          <a:prstGeom prst="rect">
            <a:avLst/>
          </a:prstGeom>
          <a:solidFill>
            <a:srgbClr val="F2F4F5"/>
          </a:solidFill>
          <a:ln w="15240">
            <a:solidFill>
              <a:srgbClr val="626B73"/>
            </a:solidFill>
            <a:prstDash val="solid"/>
          </a:ln>
        </p:spPr>
      </p:sp>
      <p:sp>
        <p:nvSpPr>
          <p:cNvPr id="40" name="Text 38"/>
          <p:cNvSpPr txBox="1"/>
          <p:nvPr/>
        </p:nvSpPr>
        <p:spPr>
          <a:xfrm>
            <a:off x="2166526" y="2586250"/>
            <a:ext cx="1786585" cy="233741"/>
          </a:xfrm>
          <a:prstGeom prst="rect">
            <a:avLst/>
          </a:prstGeom>
          <a:noFill/>
          <a:ln/>
        </p:spPr>
        <p:txBody>
          <a:bodyPr wrap="square" lIns="0" tIns="0" rIns="0" bIns="0" rtlCol="0" anchor="ctr"/>
          <a:lstStyle/>
          <a:p>
            <a:pPr algn="ctr" indent="0" marL="0">
              <a:lnSpc>
                <a:spcPct val="116000"/>
              </a:lnSpc>
              <a:buNone/>
            </a:pPr>
            <a:r>
              <a:rPr lang="en-US" sz="1587" b="1" dirty="0">
                <a:solidFill>
                  <a:srgbClr val="1E1B4B"/>
                </a:solidFill>
                <a:latin typeface="Arial" pitchFamily="34" charset="0"/>
                <a:ea typeface="Arial" pitchFamily="34" charset="-122"/>
                <a:cs typeface="Arial" pitchFamily="34" charset="-120"/>
              </a:rPr>
              <a:t>App instructions</a:t>
            </a:r>
            <a:endParaRPr lang="en-US" sz="1587" dirty="0"/>
          </a:p>
        </p:txBody>
      </p:sp>
      <p:sp>
        <p:nvSpPr>
          <p:cNvPr id="41" name="Text 39"/>
          <p:cNvSpPr txBox="1"/>
          <p:nvPr/>
        </p:nvSpPr>
        <p:spPr>
          <a:xfrm>
            <a:off x="2307852" y="3046242"/>
            <a:ext cx="1503933" cy="233741"/>
          </a:xfrm>
          <a:prstGeom prst="rect">
            <a:avLst/>
          </a:prstGeom>
          <a:noFill/>
          <a:ln/>
        </p:spPr>
        <p:txBody>
          <a:bodyPr wrap="square" lIns="0" tIns="0" rIns="0" bIns="0" rtlCol="0" anchor="ctr"/>
          <a:lstStyle/>
          <a:p>
            <a:pPr algn="ctr" indent="0" marL="0">
              <a:lnSpc>
                <a:spcPct val="116000"/>
              </a:lnSpc>
              <a:buNone/>
            </a:pPr>
            <a:r>
              <a:rPr lang="en-US" sz="1587" b="1" dirty="0">
                <a:solidFill>
                  <a:srgbClr val="1E1B4B"/>
                </a:solidFill>
                <a:latin typeface="Arial" pitchFamily="34" charset="0"/>
                <a:ea typeface="Arial" pitchFamily="34" charset="-122"/>
                <a:cs typeface="Arial" pitchFamily="34" charset="-120"/>
              </a:rPr>
              <a:t>User question</a:t>
            </a:r>
            <a:endParaRPr lang="en-US" sz="1587" dirty="0"/>
          </a:p>
        </p:txBody>
      </p:sp>
      <p:sp>
        <p:nvSpPr>
          <p:cNvPr id="42" name="Text 40"/>
          <p:cNvSpPr txBox="1"/>
          <p:nvPr/>
        </p:nvSpPr>
        <p:spPr>
          <a:xfrm>
            <a:off x="2060531" y="3506233"/>
            <a:ext cx="1998574" cy="233741"/>
          </a:xfrm>
          <a:prstGeom prst="rect">
            <a:avLst/>
          </a:prstGeom>
          <a:noFill/>
          <a:ln/>
        </p:spPr>
        <p:txBody>
          <a:bodyPr wrap="square" lIns="0" tIns="0" rIns="0" bIns="0" rtlCol="0" anchor="ctr"/>
          <a:lstStyle/>
          <a:p>
            <a:pPr algn="ctr" indent="0" marL="0">
              <a:lnSpc>
                <a:spcPct val="116000"/>
              </a:lnSpc>
              <a:buNone/>
            </a:pPr>
            <a:r>
              <a:rPr lang="en-US" sz="1587" b="1" dirty="0">
                <a:solidFill>
                  <a:srgbClr val="1E1B4B"/>
                </a:solidFill>
                <a:latin typeface="Arial" pitchFamily="34" charset="0"/>
                <a:ea typeface="Arial" pitchFamily="34" charset="-122"/>
                <a:cs typeface="Arial" pitchFamily="34" charset="-120"/>
              </a:rPr>
              <a:t>Source documents</a:t>
            </a:r>
            <a:endParaRPr lang="en-US" sz="1587" dirty="0"/>
          </a:p>
        </p:txBody>
      </p:sp>
      <p:sp>
        <p:nvSpPr>
          <p:cNvPr id="43" name="Text 41"/>
          <p:cNvSpPr txBox="1"/>
          <p:nvPr/>
        </p:nvSpPr>
        <p:spPr>
          <a:xfrm>
            <a:off x="2197441" y="3966225"/>
            <a:ext cx="1724755" cy="233741"/>
          </a:xfrm>
          <a:prstGeom prst="rect">
            <a:avLst/>
          </a:prstGeom>
          <a:noFill/>
          <a:ln/>
        </p:spPr>
        <p:txBody>
          <a:bodyPr wrap="square" lIns="0" tIns="0" rIns="0" bIns="0" rtlCol="0" anchor="ctr"/>
          <a:lstStyle/>
          <a:p>
            <a:pPr algn="ctr" indent="0" marL="0">
              <a:lnSpc>
                <a:spcPct val="116000"/>
              </a:lnSpc>
              <a:buNone/>
            </a:pPr>
            <a:r>
              <a:rPr lang="en-US" sz="1587" b="1" dirty="0">
                <a:solidFill>
                  <a:srgbClr val="1E1B4B"/>
                </a:solidFill>
                <a:latin typeface="Arial" pitchFamily="34" charset="0"/>
                <a:ea typeface="Arial" pitchFamily="34" charset="-122"/>
                <a:cs typeface="Arial" pitchFamily="34" charset="-120"/>
              </a:rPr>
              <a:t>Selected history</a:t>
            </a:r>
            <a:endParaRPr lang="en-US" sz="1587" dirty="0"/>
          </a:p>
        </p:txBody>
      </p:sp>
      <p:sp>
        <p:nvSpPr>
          <p:cNvPr id="44" name="Text 42"/>
          <p:cNvSpPr txBox="1"/>
          <p:nvPr/>
        </p:nvSpPr>
        <p:spPr>
          <a:xfrm>
            <a:off x="2417158" y="4426217"/>
            <a:ext cx="1285320" cy="233741"/>
          </a:xfrm>
          <a:prstGeom prst="rect">
            <a:avLst/>
          </a:prstGeom>
          <a:noFill/>
          <a:ln/>
        </p:spPr>
        <p:txBody>
          <a:bodyPr wrap="square" lIns="0" tIns="0" rIns="0" bIns="0" rtlCol="0" anchor="ctr"/>
          <a:lstStyle/>
          <a:p>
            <a:pPr algn="ctr" indent="0" marL="0">
              <a:lnSpc>
                <a:spcPct val="116000"/>
              </a:lnSpc>
              <a:buNone/>
            </a:pPr>
            <a:r>
              <a:rPr lang="en-US" sz="1587" b="1" dirty="0">
                <a:solidFill>
                  <a:srgbClr val="1E1B4B"/>
                </a:solidFill>
                <a:latin typeface="Arial" pitchFamily="34" charset="0"/>
                <a:ea typeface="Arial" pitchFamily="34" charset="-122"/>
                <a:cs typeface="Arial" pitchFamily="34" charset="-120"/>
              </a:rPr>
              <a:t>Tool results</a:t>
            </a:r>
            <a:endParaRPr lang="en-US" sz="1587" dirty="0"/>
          </a:p>
        </p:txBody>
      </p:sp>
      <p:sp>
        <p:nvSpPr>
          <p:cNvPr id="45" name="Text 43"/>
          <p:cNvSpPr txBox="1"/>
          <p:nvPr/>
        </p:nvSpPr>
        <p:spPr>
          <a:xfrm>
            <a:off x="4696500" y="3473472"/>
            <a:ext cx="1290280" cy="274990"/>
          </a:xfrm>
          <a:prstGeom prst="rect">
            <a:avLst/>
          </a:prstGeom>
          <a:noFill/>
          <a:ln/>
        </p:spPr>
        <p:txBody>
          <a:bodyPr wrap="square" lIns="0" tIns="0" rIns="0" bIns="0" rtlCol="0" anchor="ctr"/>
          <a:lstStyle/>
          <a:p>
            <a:pPr algn="ctr" indent="0" marL="0">
              <a:lnSpc>
                <a:spcPct val="116000"/>
              </a:lnSpc>
              <a:buNone/>
            </a:pPr>
            <a:r>
              <a:rPr lang="en-US" sz="1867" b="1" dirty="0">
                <a:solidFill>
                  <a:srgbClr val="1E1B4B"/>
                </a:solidFill>
                <a:latin typeface="Arial" pitchFamily="34" charset="0"/>
                <a:ea typeface="Arial" pitchFamily="34" charset="-122"/>
                <a:cs typeface="Arial" pitchFamily="34" charset="-120"/>
              </a:rPr>
              <a:t>Select</a:t>
            </a:r>
            <a:endParaRPr lang="en-US" sz="1867" dirty="0"/>
          </a:p>
        </p:txBody>
      </p:sp>
      <p:sp>
        <p:nvSpPr>
          <p:cNvPr id="46" name="Text 44"/>
          <p:cNvSpPr txBox="1"/>
          <p:nvPr/>
        </p:nvSpPr>
        <p:spPr>
          <a:xfrm>
            <a:off x="4696500" y="3748462"/>
            <a:ext cx="1290280" cy="274990"/>
          </a:xfrm>
          <a:prstGeom prst="rect">
            <a:avLst/>
          </a:prstGeom>
          <a:noFill/>
          <a:ln/>
        </p:spPr>
        <p:txBody>
          <a:bodyPr wrap="square" lIns="0" tIns="0" rIns="0" bIns="0" rtlCol="0" anchor="ctr"/>
          <a:lstStyle/>
          <a:p>
            <a:pPr algn="ctr" indent="0" marL="0">
              <a:lnSpc>
                <a:spcPct val="116000"/>
              </a:lnSpc>
              <a:buNone/>
            </a:pPr>
            <a:r>
              <a:rPr lang="en-US" sz="1867" b="1" dirty="0">
                <a:solidFill>
                  <a:srgbClr val="1E1B4B"/>
                </a:solidFill>
                <a:latin typeface="Arial" pitchFamily="34" charset="0"/>
                <a:ea typeface="Arial" pitchFamily="34" charset="-122"/>
                <a:cs typeface="Arial" pitchFamily="34" charset="-120"/>
              </a:rPr>
              <a:t>compress</a:t>
            </a:r>
            <a:endParaRPr lang="en-US" sz="1867" dirty="0"/>
          </a:p>
        </p:txBody>
      </p:sp>
      <p:sp>
        <p:nvSpPr>
          <p:cNvPr id="47" name="Text 45"/>
          <p:cNvSpPr txBox="1"/>
          <p:nvPr/>
        </p:nvSpPr>
        <p:spPr>
          <a:xfrm>
            <a:off x="4696500" y="4023451"/>
            <a:ext cx="1290280" cy="274990"/>
          </a:xfrm>
          <a:prstGeom prst="rect">
            <a:avLst/>
          </a:prstGeom>
          <a:noFill/>
          <a:ln/>
        </p:spPr>
        <p:txBody>
          <a:bodyPr wrap="square" lIns="0" tIns="0" rIns="0" bIns="0" rtlCol="0" anchor="ctr"/>
          <a:lstStyle/>
          <a:p>
            <a:pPr algn="ctr" indent="0" marL="0">
              <a:lnSpc>
                <a:spcPct val="116000"/>
              </a:lnSpc>
              <a:buNone/>
            </a:pPr>
            <a:r>
              <a:rPr lang="en-US" sz="1867" b="1" dirty="0">
                <a:solidFill>
                  <a:srgbClr val="1E1B4B"/>
                </a:solidFill>
                <a:latin typeface="Arial" pitchFamily="34" charset="0"/>
                <a:ea typeface="Arial" pitchFamily="34" charset="-122"/>
                <a:cs typeface="Arial" pitchFamily="34" charset="-120"/>
              </a:rPr>
              <a:t>order</a:t>
            </a:r>
            <a:endParaRPr lang="en-US" sz="1867" dirty="0"/>
          </a:p>
        </p:txBody>
      </p:sp>
      <p:sp>
        <p:nvSpPr>
          <p:cNvPr id="48" name="Text 46"/>
          <p:cNvSpPr txBox="1"/>
          <p:nvPr/>
        </p:nvSpPr>
        <p:spPr>
          <a:xfrm>
            <a:off x="6835139" y="2324204"/>
            <a:ext cx="1510509" cy="247491"/>
          </a:xfrm>
          <a:prstGeom prst="rect">
            <a:avLst/>
          </a:prstGeom>
          <a:noFill/>
          <a:ln/>
        </p:spPr>
        <p:txBody>
          <a:bodyPr wrap="square" lIns="0" tIns="0" rIns="0" bIns="0" rtlCol="0" anchor="ctr"/>
          <a:lstStyle/>
          <a:p>
            <a:pPr algn="ctr" indent="0" marL="0">
              <a:lnSpc>
                <a:spcPct val="116000"/>
              </a:lnSpc>
              <a:buNone/>
            </a:pPr>
            <a:r>
              <a:rPr lang="en-US" sz="1680" b="1" dirty="0">
                <a:solidFill>
                  <a:srgbClr val="1E1B4B"/>
                </a:solidFill>
                <a:latin typeface="Arial" pitchFamily="34" charset="0"/>
                <a:ea typeface="Arial" pitchFamily="34" charset="-122"/>
                <a:cs typeface="Arial" pitchFamily="34" charset="-120"/>
              </a:rPr>
              <a:t>Token budget</a:t>
            </a:r>
            <a:endParaRPr lang="en-US" sz="1680" dirty="0"/>
          </a:p>
        </p:txBody>
      </p:sp>
      <p:sp>
        <p:nvSpPr>
          <p:cNvPr id="49" name="Text 47"/>
          <p:cNvSpPr txBox="1"/>
          <p:nvPr/>
        </p:nvSpPr>
        <p:spPr>
          <a:xfrm>
            <a:off x="7287153" y="2970975"/>
            <a:ext cx="606480" cy="219992"/>
          </a:xfrm>
          <a:prstGeom prst="rect">
            <a:avLst/>
          </a:prstGeom>
          <a:noFill/>
          <a:ln/>
        </p:spPr>
        <p:txBody>
          <a:bodyPr wrap="square" lIns="0" tIns="0" rIns="0" bIns="0" rtlCol="0" anchor="ctr"/>
          <a:lstStyle/>
          <a:p>
            <a:pPr algn="ctr" indent="0" marL="0">
              <a:lnSpc>
                <a:spcPct val="116000"/>
              </a:lnSpc>
              <a:buNone/>
            </a:pPr>
            <a:r>
              <a:rPr lang="en-US" sz="1493" b="1" dirty="0">
                <a:solidFill>
                  <a:srgbClr val="1E1B4B"/>
                </a:solidFill>
                <a:latin typeface="Arial" pitchFamily="34" charset="0"/>
                <a:ea typeface="Arial" pitchFamily="34" charset="-122"/>
                <a:cs typeface="Arial" pitchFamily="34" charset="-120"/>
              </a:rPr>
              <a:t>Rules</a:t>
            </a:r>
            <a:endParaRPr lang="en-US" sz="1493" dirty="0"/>
          </a:p>
        </p:txBody>
      </p:sp>
      <p:sp>
        <p:nvSpPr>
          <p:cNvPr id="50" name="Text 48"/>
          <p:cNvSpPr txBox="1"/>
          <p:nvPr/>
        </p:nvSpPr>
        <p:spPr>
          <a:xfrm>
            <a:off x="6863176" y="3352111"/>
            <a:ext cx="1454435" cy="219992"/>
          </a:xfrm>
          <a:prstGeom prst="rect">
            <a:avLst/>
          </a:prstGeom>
          <a:noFill/>
          <a:ln/>
        </p:spPr>
        <p:txBody>
          <a:bodyPr wrap="square" lIns="0" tIns="0" rIns="0" bIns="0" rtlCol="0" anchor="ctr"/>
          <a:lstStyle/>
          <a:p>
            <a:pPr algn="ctr" indent="0" marL="0">
              <a:lnSpc>
                <a:spcPct val="116000"/>
              </a:lnSpc>
              <a:buNone/>
            </a:pPr>
            <a:r>
              <a:rPr lang="en-US" sz="1493" b="1" dirty="0">
                <a:solidFill>
                  <a:srgbClr val="1E1B4B"/>
                </a:solidFill>
                <a:latin typeface="Arial" pitchFamily="34" charset="0"/>
                <a:ea typeface="Arial" pitchFamily="34" charset="-122"/>
                <a:cs typeface="Arial" pitchFamily="34" charset="-120"/>
              </a:rPr>
              <a:t>Useful sources</a:t>
            </a:r>
            <a:endParaRPr lang="en-US" sz="1493" dirty="0"/>
          </a:p>
        </p:txBody>
      </p:sp>
      <p:sp>
        <p:nvSpPr>
          <p:cNvPr id="51" name="Text 49"/>
          <p:cNvSpPr txBox="1"/>
          <p:nvPr/>
        </p:nvSpPr>
        <p:spPr>
          <a:xfrm>
            <a:off x="6885258" y="3733247"/>
            <a:ext cx="1410271" cy="219992"/>
          </a:xfrm>
          <a:prstGeom prst="rect">
            <a:avLst/>
          </a:prstGeom>
          <a:noFill/>
          <a:ln/>
        </p:spPr>
        <p:txBody>
          <a:bodyPr wrap="square" lIns="0" tIns="0" rIns="0" bIns="0" rtlCol="0" anchor="ctr"/>
          <a:lstStyle/>
          <a:p>
            <a:pPr algn="ctr" indent="0" marL="0">
              <a:lnSpc>
                <a:spcPct val="116000"/>
              </a:lnSpc>
              <a:buNone/>
            </a:pPr>
            <a:r>
              <a:rPr lang="en-US" sz="1493" b="1" dirty="0">
                <a:solidFill>
                  <a:srgbClr val="1E1B4B"/>
                </a:solidFill>
                <a:latin typeface="Arial" pitchFamily="34" charset="0"/>
                <a:ea typeface="Arial" pitchFamily="34" charset="-122"/>
                <a:cs typeface="Arial" pitchFamily="34" charset="-120"/>
              </a:rPr>
              <a:t>Recent history</a:t>
            </a:r>
            <a:endParaRPr lang="en-US" sz="1493" dirty="0"/>
          </a:p>
        </p:txBody>
      </p:sp>
      <p:sp>
        <p:nvSpPr>
          <p:cNvPr id="52" name="Text 50"/>
          <p:cNvSpPr txBox="1"/>
          <p:nvPr/>
        </p:nvSpPr>
        <p:spPr>
          <a:xfrm>
            <a:off x="7136994" y="4114383"/>
            <a:ext cx="906798" cy="219992"/>
          </a:xfrm>
          <a:prstGeom prst="rect">
            <a:avLst/>
          </a:prstGeom>
          <a:noFill/>
          <a:ln/>
        </p:spPr>
        <p:txBody>
          <a:bodyPr wrap="square" lIns="0" tIns="0" rIns="0" bIns="0" rtlCol="0" anchor="ctr"/>
          <a:lstStyle/>
          <a:p>
            <a:pPr algn="ctr" indent="0" marL="0">
              <a:lnSpc>
                <a:spcPct val="116000"/>
              </a:lnSpc>
              <a:buNone/>
            </a:pPr>
            <a:r>
              <a:rPr lang="en-US" sz="1493" b="1" dirty="0">
                <a:solidFill>
                  <a:srgbClr val="1E1B4B"/>
                </a:solidFill>
                <a:latin typeface="Arial" pitchFamily="34" charset="0"/>
                <a:ea typeface="Arial" pitchFamily="34" charset="-122"/>
                <a:cs typeface="Arial" pitchFamily="34" charset="-120"/>
              </a:rPr>
              <a:t>Question</a:t>
            </a:r>
            <a:endParaRPr lang="en-US" sz="1493" dirty="0"/>
          </a:p>
        </p:txBody>
      </p:sp>
      <p:sp>
        <p:nvSpPr>
          <p:cNvPr id="53" name="Text 51"/>
          <p:cNvSpPr txBox="1"/>
          <p:nvPr/>
        </p:nvSpPr>
        <p:spPr>
          <a:xfrm>
            <a:off x="6867592" y="4495519"/>
            <a:ext cx="1445602" cy="219992"/>
          </a:xfrm>
          <a:prstGeom prst="rect">
            <a:avLst/>
          </a:prstGeom>
          <a:noFill/>
          <a:ln/>
        </p:spPr>
        <p:txBody>
          <a:bodyPr wrap="square" lIns="0" tIns="0" rIns="0" bIns="0" rtlCol="0" anchor="ctr"/>
          <a:lstStyle/>
          <a:p>
            <a:pPr algn="ctr" indent="0" marL="0">
              <a:lnSpc>
                <a:spcPct val="116000"/>
              </a:lnSpc>
              <a:buNone/>
            </a:pPr>
            <a:r>
              <a:rPr lang="en-US" sz="1493" b="1" dirty="0">
                <a:solidFill>
                  <a:srgbClr val="1E1B4B"/>
                </a:solidFill>
                <a:latin typeface="Arial" pitchFamily="34" charset="0"/>
                <a:ea typeface="Arial" pitchFamily="34" charset="-122"/>
                <a:cs typeface="Arial" pitchFamily="34" charset="-120"/>
              </a:rPr>
              <a:t>Output reserve</a:t>
            </a:r>
            <a:endParaRPr lang="en-US" sz="1493" dirty="0"/>
          </a:p>
        </p:txBody>
      </p:sp>
      <p:sp>
        <p:nvSpPr>
          <p:cNvPr id="54" name="Text 52"/>
          <p:cNvSpPr txBox="1"/>
          <p:nvPr/>
        </p:nvSpPr>
        <p:spPr>
          <a:xfrm>
            <a:off x="9237978" y="3597217"/>
            <a:ext cx="871637" cy="288739"/>
          </a:xfrm>
          <a:prstGeom prst="rect">
            <a:avLst/>
          </a:prstGeom>
          <a:noFill/>
          <a:ln/>
        </p:spPr>
        <p:txBody>
          <a:bodyPr wrap="square" lIns="0" tIns="0" rIns="0" bIns="0" rtlCol="0" anchor="ctr"/>
          <a:lstStyle/>
          <a:p>
            <a:pPr algn="ctr" indent="0" marL="0">
              <a:lnSpc>
                <a:spcPct val="116000"/>
              </a:lnSpc>
              <a:buNone/>
            </a:pPr>
            <a:r>
              <a:rPr lang="en-US" sz="1960" b="1" dirty="0">
                <a:solidFill>
                  <a:srgbClr val="1E1B4B"/>
                </a:solidFill>
                <a:latin typeface="Arial" pitchFamily="34" charset="0"/>
                <a:ea typeface="Arial" pitchFamily="34" charset="-122"/>
                <a:cs typeface="Arial" pitchFamily="34" charset="-120"/>
              </a:rPr>
              <a:t>Fixed</a:t>
            </a:r>
            <a:endParaRPr lang="en-US" sz="1960" dirty="0"/>
          </a:p>
        </p:txBody>
      </p:sp>
      <p:sp>
        <p:nvSpPr>
          <p:cNvPr id="55" name="Text 53"/>
          <p:cNvSpPr txBox="1"/>
          <p:nvPr/>
        </p:nvSpPr>
        <p:spPr>
          <a:xfrm>
            <a:off x="9237978" y="3885956"/>
            <a:ext cx="871637" cy="288739"/>
          </a:xfrm>
          <a:prstGeom prst="rect">
            <a:avLst/>
          </a:prstGeom>
          <a:noFill/>
          <a:ln/>
        </p:spPr>
        <p:txBody>
          <a:bodyPr wrap="square" lIns="0" tIns="0" rIns="0" bIns="0" rtlCol="0" anchor="ctr"/>
          <a:lstStyle/>
          <a:p>
            <a:pPr algn="ctr" indent="0" marL="0">
              <a:lnSpc>
                <a:spcPct val="116000"/>
              </a:lnSpc>
              <a:buNone/>
            </a:pPr>
            <a:r>
              <a:rPr lang="en-US" sz="1960" b="1" dirty="0">
                <a:solidFill>
                  <a:srgbClr val="1E1B4B"/>
                </a:solidFill>
                <a:latin typeface="Arial" pitchFamily="34" charset="0"/>
                <a:ea typeface="Arial" pitchFamily="34" charset="-122"/>
                <a:cs typeface="Arial" pitchFamily="34" charset="-120"/>
              </a:rPr>
              <a:t>model</a:t>
            </a:r>
            <a:endParaRPr lang="en-US" sz="1960" dirty="0"/>
          </a:p>
        </p:txBody>
      </p:sp>
      <p:sp>
        <p:nvSpPr>
          <p:cNvPr id="56" name="Text 54"/>
          <p:cNvSpPr txBox="1"/>
          <p:nvPr/>
        </p:nvSpPr>
        <p:spPr>
          <a:xfrm>
            <a:off x="2067721" y="5013083"/>
            <a:ext cx="6433409" cy="219992"/>
          </a:xfrm>
          <a:prstGeom prst="rect">
            <a:avLst/>
          </a:prstGeom>
          <a:noFill/>
          <a:ln/>
        </p:spPr>
        <p:txBody>
          <a:bodyPr wrap="square" lIns="0" tIns="0" rIns="0" bIns="0" rtlCol="0" anchor="ctr"/>
          <a:lstStyle/>
          <a:p>
            <a:pPr algn="l" indent="0" marL="0">
              <a:lnSpc>
                <a:spcPct val="116000"/>
              </a:lnSpc>
              <a:buNone/>
            </a:pPr>
            <a:r>
              <a:rPr lang="en-US" sz="1493" dirty="0">
                <a:solidFill>
                  <a:srgbClr val="1F2937"/>
                </a:solidFill>
                <a:latin typeface="Arial" pitchFamily="34" charset="0"/>
                <a:ea typeface="Arial" pitchFamily="34" charset="-122"/>
                <a:cs typeface="Arial" pitchFamily="34" charset="-120"/>
              </a:rPr>
              <a:t>Select relevant evidence; extra context can distract. Validate the final reply.</a:t>
            </a:r>
            <a:endParaRPr lang="en-US" sz="1493" dirty="0"/>
          </a:p>
        </p:txBody>
      </p:sp>
      <p:sp>
        <p:nvSpPr>
          <p:cNvPr id="57" name="Text 55"/>
          <p:cNvSpPr txBox="1"/>
          <p:nvPr/>
        </p:nvSpPr>
        <p:spPr>
          <a:xfrm>
            <a:off x="2226457" y="5445073"/>
            <a:ext cx="933296" cy="219992"/>
          </a:xfrm>
          <a:prstGeom prst="rect">
            <a:avLst/>
          </a:prstGeom>
          <a:noFill/>
          <a:ln/>
        </p:spPr>
        <p:txBody>
          <a:bodyPr wrap="square" lIns="0" tIns="0" rIns="0" bIns="0" rtlCol="0" anchor="ctr"/>
          <a:lstStyle/>
          <a:p>
            <a:pPr algn="l" indent="0" marL="0">
              <a:lnSpc>
                <a:spcPct val="116000"/>
              </a:lnSpc>
              <a:buNone/>
            </a:pPr>
            <a:r>
              <a:rPr lang="en-US" sz="1493" dirty="0">
                <a:solidFill>
                  <a:srgbClr val="1F2937"/>
                </a:solidFill>
                <a:latin typeface="Arial" pitchFamily="34" charset="0"/>
                <a:ea typeface="Arial" pitchFamily="34" charset="-122"/>
                <a:cs typeface="Arial" pitchFamily="34" charset="-120"/>
              </a:rPr>
              <a:t>Input data</a:t>
            </a:r>
            <a:endParaRPr lang="en-US" sz="1493" dirty="0"/>
          </a:p>
        </p:txBody>
      </p:sp>
      <p:sp>
        <p:nvSpPr>
          <p:cNvPr id="58" name="Text 56"/>
          <p:cNvSpPr txBox="1"/>
          <p:nvPr/>
        </p:nvSpPr>
        <p:spPr>
          <a:xfrm>
            <a:off x="3946091" y="5445073"/>
            <a:ext cx="606480" cy="219992"/>
          </a:xfrm>
          <a:prstGeom prst="rect">
            <a:avLst/>
          </a:prstGeom>
          <a:noFill/>
          <a:ln/>
        </p:spPr>
        <p:txBody>
          <a:bodyPr wrap="square" lIns="0" tIns="0" rIns="0" bIns="0" rtlCol="0" anchor="ctr"/>
          <a:lstStyle/>
          <a:p>
            <a:pPr algn="l" indent="0" marL="0">
              <a:lnSpc>
                <a:spcPct val="116000"/>
              </a:lnSpc>
              <a:buNone/>
            </a:pPr>
            <a:r>
              <a:rPr lang="en-US" sz="1493" dirty="0">
                <a:solidFill>
                  <a:srgbClr val="1F2937"/>
                </a:solidFill>
                <a:latin typeface="Arial" pitchFamily="34" charset="0"/>
                <a:ea typeface="Arial" pitchFamily="34" charset="-122"/>
                <a:cs typeface="Arial" pitchFamily="34" charset="-120"/>
              </a:rPr>
              <a:t>Model</a:t>
            </a:r>
            <a:endParaRPr lang="en-US" sz="1493" dirty="0"/>
          </a:p>
        </p:txBody>
      </p:sp>
      <p:sp>
        <p:nvSpPr>
          <p:cNvPr id="59" name="Text 57"/>
          <p:cNvSpPr txBox="1"/>
          <p:nvPr/>
        </p:nvSpPr>
        <p:spPr>
          <a:xfrm>
            <a:off x="5665726" y="5445073"/>
            <a:ext cx="659478" cy="219992"/>
          </a:xfrm>
          <a:prstGeom prst="rect">
            <a:avLst/>
          </a:prstGeom>
          <a:noFill/>
          <a:ln/>
        </p:spPr>
        <p:txBody>
          <a:bodyPr wrap="square" lIns="0" tIns="0" rIns="0" bIns="0" rtlCol="0" anchor="ctr"/>
          <a:lstStyle/>
          <a:p>
            <a:pPr algn="l" indent="0" marL="0">
              <a:lnSpc>
                <a:spcPct val="116000"/>
              </a:lnSpc>
              <a:buNone/>
            </a:pPr>
            <a:r>
              <a:rPr lang="en-US" sz="1493" dirty="0">
                <a:solidFill>
                  <a:srgbClr val="1F2937"/>
                </a:solidFill>
                <a:latin typeface="Arial" pitchFamily="34" charset="0"/>
                <a:ea typeface="Arial" pitchFamily="34" charset="-122"/>
                <a:cs typeface="Arial" pitchFamily="34" charset="-120"/>
              </a:rPr>
              <a:t>Output</a:t>
            </a:r>
            <a:endParaRPr lang="en-US" sz="1493" dirty="0"/>
          </a:p>
        </p:txBody>
      </p:sp>
      <p:sp>
        <p:nvSpPr>
          <p:cNvPr id="60" name="Text 58"/>
          <p:cNvSpPr txBox="1"/>
          <p:nvPr/>
        </p:nvSpPr>
        <p:spPr>
          <a:xfrm>
            <a:off x="7385360" y="5445073"/>
            <a:ext cx="1171784" cy="219992"/>
          </a:xfrm>
          <a:prstGeom prst="rect">
            <a:avLst/>
          </a:prstGeom>
          <a:noFill/>
          <a:ln/>
        </p:spPr>
        <p:txBody>
          <a:bodyPr wrap="square" lIns="0" tIns="0" rIns="0" bIns="0" rtlCol="0" anchor="ctr"/>
          <a:lstStyle/>
          <a:p>
            <a:pPr algn="l" indent="0" marL="0">
              <a:lnSpc>
                <a:spcPct val="116000"/>
              </a:lnSpc>
              <a:buNone/>
            </a:pPr>
            <a:r>
              <a:rPr lang="en-US" sz="1493" dirty="0">
                <a:solidFill>
                  <a:srgbClr val="1F2937"/>
                </a:solidFill>
                <a:latin typeface="Arial" pitchFamily="34" charset="0"/>
                <a:ea typeface="Arial" pitchFamily="34" charset="-122"/>
                <a:cs typeface="Arial" pitchFamily="34" charset="-120"/>
              </a:rPr>
              <a:t>Human / tool</a:t>
            </a:r>
            <a:endParaRPr lang="en-US" sz="1493"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07  ·  PROMPT ENGINEERING AND EVALUATION</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28</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Route one new message</a:t>
            </a:r>
            <a:endParaRPr lang="en-US" sz="3200" dirty="0"/>
          </a:p>
        </p:txBody>
      </p:sp>
      <p:sp>
        <p:nvSpPr>
          <p:cNvPr id="6" name="Text 4"/>
          <p:cNvSpPr txBox="1"/>
          <p:nvPr/>
        </p:nvSpPr>
        <p:spPr>
          <a:xfrm>
            <a:off x="548640" y="1463040"/>
            <a:ext cx="11094415" cy="384048"/>
          </a:xfrm>
          <a:prstGeom prst="rect">
            <a:avLst/>
          </a:prstGeom>
          <a:noFill/>
          <a:ln/>
        </p:spPr>
        <p:txBody>
          <a:bodyPr wrap="square" lIns="0" tIns="0" rIns="0" bIns="0" rtlCol="0" anchor="t"/>
          <a:lstStyle/>
          <a:p>
            <a:pPr indent="0" marL="0">
              <a:buNone/>
            </a:pPr>
            <a:r>
              <a:rPr lang="en-US" sz="1800" dirty="0">
                <a:solidFill>
                  <a:srgbClr val="6B7280"/>
                </a:solidFill>
                <a:latin typeface="Calibri" pitchFamily="34" charset="0"/>
                <a:ea typeface="Calibri" pitchFamily="34" charset="-122"/>
                <a:cs typeface="Calibri" pitchFamily="34" charset="-120"/>
              </a:rPr>
              <a:t>Inference uses the selected prompt to make a prediction</a:t>
            </a:r>
            <a:endParaRPr lang="en-US" sz="1800" dirty="0"/>
          </a:p>
        </p:txBody>
      </p:sp>
      <p:sp>
        <p:nvSpPr>
          <p:cNvPr id="7" name="Shape 5"/>
          <p:cNvSpPr/>
          <p:nvPr/>
        </p:nvSpPr>
        <p:spPr>
          <a:xfrm>
            <a:off x="2716115" y="3838927"/>
            <a:ext cx="244024" cy="0"/>
          </a:xfrm>
          <a:prstGeom prst="line">
            <a:avLst/>
          </a:prstGeom>
          <a:noFill/>
          <a:ln w="22860">
            <a:solidFill>
              <a:srgbClr val="009E73"/>
            </a:solidFill>
            <a:prstDash val="solid"/>
            <a:tailEnd type="triangle"/>
          </a:ln>
        </p:spPr>
      </p:sp>
      <p:sp>
        <p:nvSpPr>
          <p:cNvPr id="8" name="Text 6"/>
          <p:cNvSpPr txBox="1"/>
          <p:nvPr/>
        </p:nvSpPr>
        <p:spPr>
          <a:xfrm>
            <a:off x="2037423" y="2665782"/>
            <a:ext cx="1601408" cy="212301"/>
          </a:xfrm>
          <a:prstGeom prst="rect">
            <a:avLst/>
          </a:prstGeom>
          <a:noFill/>
          <a:ln/>
        </p:spPr>
        <p:txBody>
          <a:bodyPr wrap="square" lIns="0" tIns="0" rIns="0" bIns="0" rtlCol="0" anchor="ctr"/>
          <a:lstStyle/>
          <a:p>
            <a:pPr algn="ctr" indent="0" marL="0">
              <a:lnSpc>
                <a:spcPct val="116000"/>
              </a:lnSpc>
              <a:buNone/>
            </a:pPr>
            <a:r>
              <a:rPr lang="en-US" sz="1441" dirty="0">
                <a:solidFill>
                  <a:srgbClr val="0072B2"/>
                </a:solidFill>
                <a:latin typeface="Arial" pitchFamily="34" charset="0"/>
                <a:ea typeface="Arial" pitchFamily="34" charset="-122"/>
                <a:cs typeface="Arial" pitchFamily="34" charset="-120"/>
              </a:rPr>
              <a:t>request text</a:t>
            </a:r>
            <a:endParaRPr lang="en-US" sz="1441" dirty="0"/>
          </a:p>
        </p:txBody>
      </p:sp>
      <p:sp>
        <p:nvSpPr>
          <p:cNvPr id="9" name="Shape 7"/>
          <p:cNvSpPr/>
          <p:nvPr/>
        </p:nvSpPr>
        <p:spPr>
          <a:xfrm>
            <a:off x="4887929" y="3838927"/>
            <a:ext cx="244024" cy="0"/>
          </a:xfrm>
          <a:prstGeom prst="line">
            <a:avLst/>
          </a:prstGeom>
          <a:noFill/>
          <a:ln w="22860">
            <a:solidFill>
              <a:srgbClr val="009E73"/>
            </a:solidFill>
            <a:prstDash val="solid"/>
            <a:tailEnd type="triangle"/>
          </a:ln>
        </p:spPr>
      </p:sp>
      <p:sp>
        <p:nvSpPr>
          <p:cNvPr id="10" name="Text 8"/>
          <p:cNvSpPr txBox="1"/>
          <p:nvPr/>
        </p:nvSpPr>
        <p:spPr>
          <a:xfrm>
            <a:off x="4209237" y="2665782"/>
            <a:ext cx="1601408" cy="212301"/>
          </a:xfrm>
          <a:prstGeom prst="rect">
            <a:avLst/>
          </a:prstGeom>
          <a:noFill/>
          <a:ln/>
        </p:spPr>
        <p:txBody>
          <a:bodyPr wrap="square" lIns="0" tIns="0" rIns="0" bIns="0" rtlCol="0" anchor="ctr"/>
          <a:lstStyle/>
          <a:p>
            <a:pPr algn="ctr" indent="0" marL="0">
              <a:lnSpc>
                <a:spcPct val="116000"/>
              </a:lnSpc>
              <a:buNone/>
            </a:pPr>
            <a:r>
              <a:rPr lang="en-US" sz="1441" dirty="0">
                <a:solidFill>
                  <a:srgbClr val="0072B2"/>
                </a:solidFill>
                <a:latin typeface="Arial" pitchFamily="34" charset="0"/>
                <a:ea typeface="Arial" pitchFamily="34" charset="-122"/>
                <a:cs typeface="Arial" pitchFamily="34" charset="-120"/>
              </a:rPr>
              <a:t>chat messages</a:t>
            </a:r>
            <a:endParaRPr lang="en-US" sz="1441" dirty="0"/>
          </a:p>
        </p:txBody>
      </p:sp>
      <p:sp>
        <p:nvSpPr>
          <p:cNvPr id="11" name="Shape 9"/>
          <p:cNvSpPr/>
          <p:nvPr/>
        </p:nvSpPr>
        <p:spPr>
          <a:xfrm>
            <a:off x="7059743" y="3838927"/>
            <a:ext cx="244024" cy="0"/>
          </a:xfrm>
          <a:prstGeom prst="line">
            <a:avLst/>
          </a:prstGeom>
          <a:noFill/>
          <a:ln w="22860">
            <a:solidFill>
              <a:srgbClr val="009E73"/>
            </a:solidFill>
            <a:prstDash val="solid"/>
            <a:tailEnd type="triangle"/>
          </a:ln>
        </p:spPr>
      </p:sp>
      <p:sp>
        <p:nvSpPr>
          <p:cNvPr id="12" name="Text 10"/>
          <p:cNvSpPr txBox="1"/>
          <p:nvPr/>
        </p:nvSpPr>
        <p:spPr>
          <a:xfrm>
            <a:off x="6381051" y="2665782"/>
            <a:ext cx="1601408" cy="212301"/>
          </a:xfrm>
          <a:prstGeom prst="rect">
            <a:avLst/>
          </a:prstGeom>
          <a:noFill/>
          <a:ln/>
        </p:spPr>
        <p:txBody>
          <a:bodyPr wrap="square" lIns="0" tIns="0" rIns="0" bIns="0" rtlCol="0" anchor="ctr"/>
          <a:lstStyle/>
          <a:p>
            <a:pPr algn="ctr" indent="0" marL="0">
              <a:lnSpc>
                <a:spcPct val="116000"/>
              </a:lnSpc>
              <a:buNone/>
            </a:pPr>
            <a:r>
              <a:rPr lang="en-US" sz="1441" dirty="0">
                <a:solidFill>
                  <a:srgbClr val="0072B2"/>
                </a:solidFill>
                <a:latin typeface="Arial" pitchFamily="34" charset="0"/>
                <a:ea typeface="Arial" pitchFamily="34" charset="-122"/>
                <a:cs typeface="Arial" pitchFamily="34" charset="-120"/>
              </a:rPr>
              <a:t>raw reply</a:t>
            </a:r>
            <a:endParaRPr lang="en-US" sz="1441" dirty="0"/>
          </a:p>
        </p:txBody>
      </p:sp>
      <p:sp>
        <p:nvSpPr>
          <p:cNvPr id="13" name="Shape 11"/>
          <p:cNvSpPr/>
          <p:nvPr/>
        </p:nvSpPr>
        <p:spPr>
          <a:xfrm>
            <a:off x="9231556" y="3838927"/>
            <a:ext cx="244024" cy="0"/>
          </a:xfrm>
          <a:prstGeom prst="line">
            <a:avLst/>
          </a:prstGeom>
          <a:noFill/>
          <a:ln w="22860">
            <a:solidFill>
              <a:srgbClr val="009E73"/>
            </a:solidFill>
            <a:prstDash val="solid"/>
            <a:tailEnd type="triangle"/>
          </a:ln>
        </p:spPr>
      </p:sp>
      <p:sp>
        <p:nvSpPr>
          <p:cNvPr id="14" name="Text 12"/>
          <p:cNvSpPr txBox="1"/>
          <p:nvPr/>
        </p:nvSpPr>
        <p:spPr>
          <a:xfrm>
            <a:off x="8552865" y="2453481"/>
            <a:ext cx="1601408" cy="212301"/>
          </a:xfrm>
          <a:prstGeom prst="rect">
            <a:avLst/>
          </a:prstGeom>
          <a:noFill/>
          <a:ln/>
        </p:spPr>
        <p:txBody>
          <a:bodyPr wrap="square" lIns="0" tIns="0" rIns="0" bIns="0" rtlCol="0" anchor="ctr"/>
          <a:lstStyle/>
          <a:p>
            <a:pPr algn="ctr" indent="0" marL="0">
              <a:lnSpc>
                <a:spcPct val="116000"/>
              </a:lnSpc>
              <a:buNone/>
            </a:pPr>
            <a:r>
              <a:rPr lang="en-US" sz="1441" dirty="0">
                <a:solidFill>
                  <a:srgbClr val="0072B2"/>
                </a:solidFill>
                <a:latin typeface="Arial" pitchFamily="34" charset="0"/>
                <a:ea typeface="Arial" pitchFamily="34" charset="-122"/>
                <a:cs typeface="Arial" pitchFamily="34" charset="-120"/>
              </a:rPr>
              <a:t>label or parse</a:t>
            </a:r>
            <a:endParaRPr lang="en-US" sz="1441" dirty="0"/>
          </a:p>
        </p:txBody>
      </p:sp>
      <p:sp>
        <p:nvSpPr>
          <p:cNvPr id="15" name="Text 13"/>
          <p:cNvSpPr txBox="1"/>
          <p:nvPr/>
        </p:nvSpPr>
        <p:spPr>
          <a:xfrm>
            <a:off x="8552865" y="2665782"/>
            <a:ext cx="1601408" cy="212301"/>
          </a:xfrm>
          <a:prstGeom prst="rect">
            <a:avLst/>
          </a:prstGeom>
          <a:noFill/>
          <a:ln/>
        </p:spPr>
        <p:txBody>
          <a:bodyPr wrap="square" lIns="0" tIns="0" rIns="0" bIns="0" rtlCol="0" anchor="ctr"/>
          <a:lstStyle/>
          <a:p>
            <a:pPr algn="ctr" indent="0" marL="0">
              <a:lnSpc>
                <a:spcPct val="116000"/>
              </a:lnSpc>
              <a:buNone/>
            </a:pPr>
            <a:r>
              <a:rPr lang="en-US" sz="1441" dirty="0">
                <a:solidFill>
                  <a:srgbClr val="0072B2"/>
                </a:solidFill>
                <a:latin typeface="Arial" pitchFamily="34" charset="0"/>
                <a:ea typeface="Arial" pitchFamily="34" charset="-122"/>
                <a:cs typeface="Arial" pitchFamily="34" charset="-120"/>
              </a:rPr>
              <a:t>failure</a:t>
            </a:r>
            <a:endParaRPr lang="en-US" sz="1441" dirty="0"/>
          </a:p>
        </p:txBody>
      </p:sp>
      <p:sp>
        <p:nvSpPr>
          <p:cNvPr id="16" name="Shape 14"/>
          <p:cNvSpPr/>
          <p:nvPr/>
        </p:nvSpPr>
        <p:spPr>
          <a:xfrm>
            <a:off x="788325" y="2939089"/>
            <a:ext cx="1927790" cy="1799677"/>
          </a:xfrm>
          <a:prstGeom prst="roundRect">
            <a:avLst>
              <a:gd name="adj" fmla="val 4065"/>
            </a:avLst>
          </a:prstGeom>
          <a:solidFill>
            <a:srgbClr val="E4F2FB"/>
          </a:solidFill>
          <a:ln w="15240">
            <a:solidFill>
              <a:srgbClr val="0072B2"/>
            </a:solidFill>
            <a:prstDash val="solid"/>
          </a:ln>
        </p:spPr>
      </p:sp>
      <p:sp>
        <p:nvSpPr>
          <p:cNvPr id="17" name="Text 15"/>
          <p:cNvSpPr txBox="1"/>
          <p:nvPr/>
        </p:nvSpPr>
        <p:spPr>
          <a:xfrm>
            <a:off x="849331" y="3336848"/>
            <a:ext cx="1805778" cy="229993"/>
          </a:xfrm>
          <a:prstGeom prst="rect">
            <a:avLst/>
          </a:prstGeom>
          <a:noFill/>
          <a:ln/>
        </p:spPr>
        <p:txBody>
          <a:bodyPr wrap="square" lIns="0" tIns="0" rIns="0" bIns="0" rtlCol="0" anchor="ctr"/>
          <a:lstStyle/>
          <a:p>
            <a:pPr algn="ctr" indent="0" marL="0">
              <a:lnSpc>
                <a:spcPct val="116000"/>
              </a:lnSpc>
              <a:buNone/>
            </a:pPr>
            <a:r>
              <a:rPr lang="en-US" sz="1561" b="1" dirty="0">
                <a:solidFill>
                  <a:srgbClr val="1E1B4B"/>
                </a:solidFill>
                <a:latin typeface="Arial" pitchFamily="34" charset="0"/>
                <a:ea typeface="Arial" pitchFamily="34" charset="-122"/>
                <a:cs typeface="Arial" pitchFamily="34" charset="-120"/>
              </a:rPr>
              <a:t>New message</a:t>
            </a:r>
            <a:endParaRPr lang="en-US" sz="1561" dirty="0"/>
          </a:p>
        </p:txBody>
      </p:sp>
      <p:sp>
        <p:nvSpPr>
          <p:cNvPr id="18" name="Text 16"/>
          <p:cNvSpPr txBox="1"/>
          <p:nvPr/>
        </p:nvSpPr>
        <p:spPr>
          <a:xfrm>
            <a:off x="849331" y="3643098"/>
            <a:ext cx="1805778" cy="212301"/>
          </a:xfrm>
          <a:prstGeom prst="rect">
            <a:avLst/>
          </a:prstGeom>
          <a:noFill/>
          <a:ln/>
        </p:spPr>
        <p:txBody>
          <a:bodyPr wrap="square" lIns="0" tIns="0" rIns="0" bIns="0" rtlCol="0" anchor="ctr"/>
          <a:lstStyle/>
          <a:p>
            <a:pPr algn="ctr" indent="0" marL="0">
              <a:lnSpc>
                <a:spcPct val="116000"/>
              </a:lnSpc>
              <a:buNone/>
            </a:pPr>
            <a:r>
              <a:rPr lang="en-US" sz="1441" dirty="0">
                <a:solidFill>
                  <a:srgbClr val="1F2937"/>
                </a:solidFill>
                <a:latin typeface="Arial" pitchFamily="34" charset="0"/>
                <a:ea typeface="Arial" pitchFamily="34" charset="-122"/>
                <a:cs typeface="Arial" pitchFamily="34" charset="-120"/>
              </a:rPr>
              <a:t>Read one student</a:t>
            </a:r>
            <a:endParaRPr lang="en-US" sz="1441" dirty="0"/>
          </a:p>
        </p:txBody>
      </p:sp>
      <p:sp>
        <p:nvSpPr>
          <p:cNvPr id="19" name="Text 17"/>
          <p:cNvSpPr txBox="1"/>
          <p:nvPr/>
        </p:nvSpPr>
        <p:spPr>
          <a:xfrm>
            <a:off x="849331" y="3855399"/>
            <a:ext cx="1805778" cy="212301"/>
          </a:xfrm>
          <a:prstGeom prst="rect">
            <a:avLst/>
          </a:prstGeom>
          <a:noFill/>
          <a:ln/>
        </p:spPr>
        <p:txBody>
          <a:bodyPr wrap="square" lIns="0" tIns="0" rIns="0" bIns="0" rtlCol="0" anchor="ctr"/>
          <a:lstStyle/>
          <a:p>
            <a:pPr algn="ctr" indent="0" marL="0">
              <a:lnSpc>
                <a:spcPct val="116000"/>
              </a:lnSpc>
              <a:buNone/>
            </a:pPr>
            <a:r>
              <a:rPr lang="en-US" sz="1441" dirty="0">
                <a:solidFill>
                  <a:srgbClr val="1F2937"/>
                </a:solidFill>
                <a:latin typeface="Arial" pitchFamily="34" charset="0"/>
                <a:ea typeface="Arial" pitchFamily="34" charset="-122"/>
                <a:cs typeface="Arial" pitchFamily="34" charset="-120"/>
              </a:rPr>
              <a:t>request</a:t>
            </a:r>
            <a:endParaRPr lang="en-US" sz="1441" dirty="0"/>
          </a:p>
        </p:txBody>
      </p:sp>
      <p:sp>
        <p:nvSpPr>
          <p:cNvPr id="20" name="Text 18"/>
          <p:cNvSpPr txBox="1"/>
          <p:nvPr/>
        </p:nvSpPr>
        <p:spPr>
          <a:xfrm>
            <a:off x="811202" y="4128706"/>
            <a:ext cx="1882035" cy="212301"/>
          </a:xfrm>
          <a:prstGeom prst="rect">
            <a:avLst/>
          </a:prstGeom>
          <a:noFill/>
          <a:ln/>
        </p:spPr>
        <p:txBody>
          <a:bodyPr wrap="square" lIns="0" tIns="0" rIns="0" bIns="0" rtlCol="0" anchor="ctr"/>
          <a:lstStyle/>
          <a:p>
            <a:pPr algn="ctr" indent="0" marL="0">
              <a:lnSpc>
                <a:spcPct val="116000"/>
              </a:lnSpc>
              <a:buNone/>
            </a:pPr>
            <a:r>
              <a:rPr lang="en-US" sz="1441" dirty="0">
                <a:solidFill>
                  <a:srgbClr val="0F766E"/>
                </a:solidFill>
                <a:latin typeface="Arial" pitchFamily="34" charset="0"/>
                <a:ea typeface="Arial" pitchFamily="34" charset="-122"/>
                <a:cs typeface="Arial" pitchFamily="34" charset="-120"/>
              </a:rPr>
              <a:t>ticket_ds</a:t>
            </a:r>
            <a:endParaRPr lang="en-US" sz="1441" dirty="0"/>
          </a:p>
        </p:txBody>
      </p:sp>
      <p:sp>
        <p:nvSpPr>
          <p:cNvPr id="21" name="Shape 19"/>
          <p:cNvSpPr/>
          <p:nvPr/>
        </p:nvSpPr>
        <p:spPr>
          <a:xfrm>
            <a:off x="2960139" y="2939089"/>
            <a:ext cx="1927790" cy="1799677"/>
          </a:xfrm>
          <a:prstGeom prst="rect">
            <a:avLst/>
          </a:prstGeom>
          <a:solidFill>
            <a:srgbClr val="F2F4F5"/>
          </a:solidFill>
          <a:ln w="15240">
            <a:solidFill>
              <a:srgbClr val="626B73"/>
            </a:solidFill>
            <a:prstDash val="solid"/>
          </a:ln>
        </p:spPr>
      </p:sp>
      <p:sp>
        <p:nvSpPr>
          <p:cNvPr id="22" name="Text 20"/>
          <p:cNvSpPr txBox="1"/>
          <p:nvPr/>
        </p:nvSpPr>
        <p:spPr>
          <a:xfrm>
            <a:off x="3021145" y="3336848"/>
            <a:ext cx="1805778" cy="229993"/>
          </a:xfrm>
          <a:prstGeom prst="rect">
            <a:avLst/>
          </a:prstGeom>
          <a:noFill/>
          <a:ln/>
        </p:spPr>
        <p:txBody>
          <a:bodyPr wrap="square" lIns="0" tIns="0" rIns="0" bIns="0" rtlCol="0" anchor="ctr"/>
          <a:lstStyle/>
          <a:p>
            <a:pPr algn="ctr" indent="0" marL="0">
              <a:lnSpc>
                <a:spcPct val="116000"/>
              </a:lnSpc>
              <a:buNone/>
            </a:pPr>
            <a:r>
              <a:rPr lang="en-US" sz="1561" b="1" dirty="0">
                <a:solidFill>
                  <a:srgbClr val="1E1B4B"/>
                </a:solidFill>
                <a:latin typeface="Arial" pitchFamily="34" charset="0"/>
                <a:ea typeface="Arial" pitchFamily="34" charset="-122"/>
                <a:cs typeface="Arial" pitchFamily="34" charset="-120"/>
              </a:rPr>
              <a:t>Add routing rules</a:t>
            </a:r>
            <a:endParaRPr lang="en-US" sz="1561" dirty="0"/>
          </a:p>
        </p:txBody>
      </p:sp>
      <p:sp>
        <p:nvSpPr>
          <p:cNvPr id="23" name="Text 21"/>
          <p:cNvSpPr txBox="1"/>
          <p:nvPr/>
        </p:nvSpPr>
        <p:spPr>
          <a:xfrm>
            <a:off x="3021145" y="3643098"/>
            <a:ext cx="1805778" cy="212301"/>
          </a:xfrm>
          <a:prstGeom prst="rect">
            <a:avLst/>
          </a:prstGeom>
          <a:noFill/>
          <a:ln/>
        </p:spPr>
        <p:txBody>
          <a:bodyPr wrap="square" lIns="0" tIns="0" rIns="0" bIns="0" rtlCol="0" anchor="ctr"/>
          <a:lstStyle/>
          <a:p>
            <a:pPr algn="ctr" indent="0" marL="0">
              <a:lnSpc>
                <a:spcPct val="116000"/>
              </a:lnSpc>
              <a:buNone/>
            </a:pPr>
            <a:r>
              <a:rPr lang="en-US" sz="1441" dirty="0">
                <a:solidFill>
                  <a:srgbClr val="1F2937"/>
                </a:solidFill>
                <a:latin typeface="Arial" pitchFamily="34" charset="0"/>
                <a:ea typeface="Arial" pitchFamily="34" charset="-122"/>
                <a:cs typeface="Arial" pitchFamily="34" charset="-120"/>
              </a:rPr>
              <a:t>Allowed teams and</a:t>
            </a:r>
            <a:endParaRPr lang="en-US" sz="1441" dirty="0"/>
          </a:p>
        </p:txBody>
      </p:sp>
      <p:sp>
        <p:nvSpPr>
          <p:cNvPr id="24" name="Text 22"/>
          <p:cNvSpPr txBox="1"/>
          <p:nvPr/>
        </p:nvSpPr>
        <p:spPr>
          <a:xfrm>
            <a:off x="3021145" y="3855399"/>
            <a:ext cx="1805778" cy="212301"/>
          </a:xfrm>
          <a:prstGeom prst="rect">
            <a:avLst/>
          </a:prstGeom>
          <a:noFill/>
          <a:ln/>
        </p:spPr>
        <p:txBody>
          <a:bodyPr wrap="square" lIns="0" tIns="0" rIns="0" bIns="0" rtlCol="0" anchor="ctr"/>
          <a:lstStyle/>
          <a:p>
            <a:pPr algn="ctr" indent="0" marL="0">
              <a:lnSpc>
                <a:spcPct val="116000"/>
              </a:lnSpc>
              <a:buNone/>
            </a:pPr>
            <a:r>
              <a:rPr lang="en-US" sz="1441" dirty="0">
                <a:solidFill>
                  <a:srgbClr val="1F2937"/>
                </a:solidFill>
                <a:latin typeface="Arial" pitchFamily="34" charset="0"/>
                <a:ea typeface="Arial" pitchFamily="34" charset="-122"/>
                <a:cs typeface="Arial" pitchFamily="34" charset="-120"/>
              </a:rPr>
              <a:t>examples</a:t>
            </a:r>
            <a:endParaRPr lang="en-US" sz="1441" dirty="0"/>
          </a:p>
        </p:txBody>
      </p:sp>
      <p:sp>
        <p:nvSpPr>
          <p:cNvPr id="25" name="Text 23"/>
          <p:cNvSpPr txBox="1"/>
          <p:nvPr/>
        </p:nvSpPr>
        <p:spPr>
          <a:xfrm>
            <a:off x="2983016" y="4128706"/>
            <a:ext cx="1882035" cy="212301"/>
          </a:xfrm>
          <a:prstGeom prst="rect">
            <a:avLst/>
          </a:prstGeom>
          <a:noFill/>
          <a:ln/>
        </p:spPr>
        <p:txBody>
          <a:bodyPr wrap="square" lIns="0" tIns="0" rIns="0" bIns="0" rtlCol="0" anchor="ctr"/>
          <a:lstStyle/>
          <a:p>
            <a:pPr algn="ctr" indent="0" marL="0">
              <a:lnSpc>
                <a:spcPct val="116000"/>
              </a:lnSpc>
              <a:buNone/>
            </a:pPr>
            <a:r>
              <a:rPr lang="en-US" sz="1441" dirty="0">
                <a:solidFill>
                  <a:srgbClr val="0F766E"/>
                </a:solidFill>
                <a:latin typeface="Arial" pitchFamily="34" charset="0"/>
                <a:ea typeface="Arial" pitchFamily="34" charset="-122"/>
                <a:cs typeface="Arial" pitchFamily="34" charset="-120"/>
              </a:rPr>
              <a:t>few_shot</a:t>
            </a:r>
            <a:endParaRPr lang="en-US" sz="1441" dirty="0"/>
          </a:p>
        </p:txBody>
      </p:sp>
      <p:sp>
        <p:nvSpPr>
          <p:cNvPr id="26" name="Shape 24"/>
          <p:cNvSpPr/>
          <p:nvPr/>
        </p:nvSpPr>
        <p:spPr>
          <a:xfrm>
            <a:off x="5131953" y="2939089"/>
            <a:ext cx="1927790" cy="1799677"/>
          </a:xfrm>
          <a:prstGeom prst="rect">
            <a:avLst/>
          </a:prstGeom>
          <a:solidFill>
            <a:srgbClr val="E5F7EF"/>
          </a:solidFill>
          <a:ln w="15240">
            <a:solidFill>
              <a:srgbClr val="009E73"/>
            </a:solidFill>
            <a:prstDash val="solid"/>
          </a:ln>
        </p:spPr>
      </p:sp>
      <p:sp>
        <p:nvSpPr>
          <p:cNvPr id="27" name="Text 25"/>
          <p:cNvSpPr txBox="1"/>
          <p:nvPr/>
        </p:nvSpPr>
        <p:spPr>
          <a:xfrm>
            <a:off x="5192959" y="3336848"/>
            <a:ext cx="1805778" cy="229993"/>
          </a:xfrm>
          <a:prstGeom prst="rect">
            <a:avLst/>
          </a:prstGeom>
          <a:noFill/>
          <a:ln/>
        </p:spPr>
        <p:txBody>
          <a:bodyPr wrap="square" lIns="0" tIns="0" rIns="0" bIns="0" rtlCol="0" anchor="ctr"/>
          <a:lstStyle/>
          <a:p>
            <a:pPr algn="ctr" indent="0" marL="0">
              <a:lnSpc>
                <a:spcPct val="116000"/>
              </a:lnSpc>
              <a:buNone/>
            </a:pPr>
            <a:r>
              <a:rPr lang="en-US" sz="1561" b="1" dirty="0">
                <a:solidFill>
                  <a:srgbClr val="1E1B4B"/>
                </a:solidFill>
                <a:latin typeface="Arial" pitchFamily="34" charset="0"/>
                <a:ea typeface="Arial" pitchFamily="34" charset="-122"/>
                <a:cs typeface="Arial" pitchFamily="34" charset="-120"/>
              </a:rPr>
              <a:t>Call fixed model</a:t>
            </a:r>
            <a:endParaRPr lang="en-US" sz="1561" dirty="0"/>
          </a:p>
        </p:txBody>
      </p:sp>
      <p:sp>
        <p:nvSpPr>
          <p:cNvPr id="28" name="Text 26"/>
          <p:cNvSpPr txBox="1"/>
          <p:nvPr/>
        </p:nvSpPr>
        <p:spPr>
          <a:xfrm>
            <a:off x="5192959" y="3643098"/>
            <a:ext cx="1805778" cy="212301"/>
          </a:xfrm>
          <a:prstGeom prst="rect">
            <a:avLst/>
          </a:prstGeom>
          <a:noFill/>
          <a:ln/>
        </p:spPr>
        <p:txBody>
          <a:bodyPr wrap="square" lIns="0" tIns="0" rIns="0" bIns="0" rtlCol="0" anchor="ctr"/>
          <a:lstStyle/>
          <a:p>
            <a:pPr algn="ctr" indent="0" marL="0">
              <a:lnSpc>
                <a:spcPct val="116000"/>
              </a:lnSpc>
              <a:buNone/>
            </a:pPr>
            <a:r>
              <a:rPr lang="en-US" sz="1441" dirty="0">
                <a:solidFill>
                  <a:srgbClr val="1F2937"/>
                </a:solidFill>
                <a:latin typeface="Arial" pitchFamily="34" charset="0"/>
                <a:ea typeface="Arial" pitchFamily="34" charset="-122"/>
                <a:cs typeface="Arial" pitchFamily="34" charset="-120"/>
              </a:rPr>
              <a:t>Generate a</a:t>
            </a:r>
            <a:endParaRPr lang="en-US" sz="1441" dirty="0"/>
          </a:p>
        </p:txBody>
      </p:sp>
      <p:sp>
        <p:nvSpPr>
          <p:cNvPr id="29" name="Text 27"/>
          <p:cNvSpPr txBox="1"/>
          <p:nvPr/>
        </p:nvSpPr>
        <p:spPr>
          <a:xfrm>
            <a:off x="5192959" y="3855399"/>
            <a:ext cx="1805778" cy="212301"/>
          </a:xfrm>
          <a:prstGeom prst="rect">
            <a:avLst/>
          </a:prstGeom>
          <a:noFill/>
          <a:ln/>
        </p:spPr>
        <p:txBody>
          <a:bodyPr wrap="square" lIns="0" tIns="0" rIns="0" bIns="0" rtlCol="0" anchor="ctr"/>
          <a:lstStyle/>
          <a:p>
            <a:pPr algn="ctr" indent="0" marL="0">
              <a:lnSpc>
                <a:spcPct val="116000"/>
              </a:lnSpc>
              <a:buNone/>
            </a:pPr>
            <a:r>
              <a:rPr lang="en-US" sz="1441" dirty="0">
                <a:solidFill>
                  <a:srgbClr val="1F2937"/>
                </a:solidFill>
                <a:latin typeface="Arial" pitchFamily="34" charset="0"/>
                <a:ea typeface="Arial" pitchFamily="34" charset="-122"/>
                <a:cs typeface="Arial" pitchFamily="34" charset="-120"/>
              </a:rPr>
              <a:t>candidate reply</a:t>
            </a:r>
            <a:endParaRPr lang="en-US" sz="1441" dirty="0"/>
          </a:p>
        </p:txBody>
      </p:sp>
      <p:sp>
        <p:nvSpPr>
          <p:cNvPr id="30" name="Text 28"/>
          <p:cNvSpPr txBox="1"/>
          <p:nvPr/>
        </p:nvSpPr>
        <p:spPr>
          <a:xfrm>
            <a:off x="5154830" y="4128706"/>
            <a:ext cx="1882035" cy="212301"/>
          </a:xfrm>
          <a:prstGeom prst="rect">
            <a:avLst/>
          </a:prstGeom>
          <a:noFill/>
          <a:ln/>
        </p:spPr>
        <p:txBody>
          <a:bodyPr wrap="square" lIns="0" tIns="0" rIns="0" bIns="0" rtlCol="0" anchor="ctr"/>
          <a:lstStyle/>
          <a:p>
            <a:pPr algn="ctr" indent="0" marL="0">
              <a:lnSpc>
                <a:spcPct val="116000"/>
              </a:lnSpc>
              <a:buNone/>
            </a:pPr>
            <a:r>
              <a:rPr lang="en-US" sz="1441" dirty="0">
                <a:solidFill>
                  <a:srgbClr val="0F766E"/>
                </a:solidFill>
                <a:latin typeface="Arial" pitchFamily="34" charset="0"/>
                <a:ea typeface="Arial" pitchFamily="34" charset="-122"/>
                <a:cs typeface="Arial" pitchFamily="34" charset="-120"/>
              </a:rPr>
              <a:t>llm</a:t>
            </a:r>
            <a:endParaRPr lang="en-US" sz="1441" dirty="0"/>
          </a:p>
        </p:txBody>
      </p:sp>
      <p:sp>
        <p:nvSpPr>
          <p:cNvPr id="31" name="Shape 29"/>
          <p:cNvSpPr/>
          <p:nvPr/>
        </p:nvSpPr>
        <p:spPr>
          <a:xfrm>
            <a:off x="7303767" y="2939089"/>
            <a:ext cx="1927790" cy="1799677"/>
          </a:xfrm>
          <a:prstGeom prst="rect">
            <a:avLst/>
          </a:prstGeom>
          <a:solidFill>
            <a:srgbClr val="E5F7EF"/>
          </a:solidFill>
          <a:ln w="15240">
            <a:solidFill>
              <a:srgbClr val="009E73"/>
            </a:solidFill>
            <a:prstDash val="solid"/>
          </a:ln>
        </p:spPr>
      </p:sp>
      <p:sp>
        <p:nvSpPr>
          <p:cNvPr id="32" name="Text 30"/>
          <p:cNvSpPr txBox="1"/>
          <p:nvPr/>
        </p:nvSpPr>
        <p:spPr>
          <a:xfrm>
            <a:off x="7364773" y="3336848"/>
            <a:ext cx="1805778" cy="229993"/>
          </a:xfrm>
          <a:prstGeom prst="rect">
            <a:avLst/>
          </a:prstGeom>
          <a:noFill/>
          <a:ln/>
        </p:spPr>
        <p:txBody>
          <a:bodyPr wrap="square" lIns="0" tIns="0" rIns="0" bIns="0" rtlCol="0" anchor="ctr"/>
          <a:lstStyle/>
          <a:p>
            <a:pPr algn="ctr" indent="0" marL="0">
              <a:lnSpc>
                <a:spcPct val="116000"/>
              </a:lnSpc>
              <a:buNone/>
            </a:pPr>
            <a:r>
              <a:rPr lang="en-US" sz="1561" b="1" dirty="0">
                <a:solidFill>
                  <a:srgbClr val="1E1B4B"/>
                </a:solidFill>
                <a:latin typeface="Arial" pitchFamily="34" charset="0"/>
                <a:ea typeface="Arial" pitchFamily="34" charset="-122"/>
                <a:cs typeface="Arial" pitchFamily="34" charset="-120"/>
              </a:rPr>
              <a:t>Parse candidate</a:t>
            </a:r>
            <a:endParaRPr lang="en-US" sz="1561" dirty="0"/>
          </a:p>
        </p:txBody>
      </p:sp>
      <p:sp>
        <p:nvSpPr>
          <p:cNvPr id="33" name="Text 31"/>
          <p:cNvSpPr txBox="1"/>
          <p:nvPr/>
        </p:nvSpPr>
        <p:spPr>
          <a:xfrm>
            <a:off x="7364773" y="3643098"/>
            <a:ext cx="1805778" cy="212301"/>
          </a:xfrm>
          <a:prstGeom prst="rect">
            <a:avLst/>
          </a:prstGeom>
          <a:noFill/>
          <a:ln/>
        </p:spPr>
        <p:txBody>
          <a:bodyPr wrap="square" lIns="0" tIns="0" rIns="0" bIns="0" rtlCol="0" anchor="ctr"/>
          <a:lstStyle/>
          <a:p>
            <a:pPr algn="ctr" indent="0" marL="0">
              <a:lnSpc>
                <a:spcPct val="116000"/>
              </a:lnSpc>
              <a:buNone/>
            </a:pPr>
            <a:r>
              <a:rPr lang="en-US" sz="1441" dirty="0">
                <a:solidFill>
                  <a:srgbClr val="1F2937"/>
                </a:solidFill>
                <a:latin typeface="Arial" pitchFamily="34" charset="0"/>
                <a:ea typeface="Arial" pitchFamily="34" charset="-122"/>
                <a:cs typeface="Arial" pitchFamily="34" charset="-120"/>
              </a:rPr>
              <a:t>Find one recognised</a:t>
            </a:r>
            <a:endParaRPr lang="en-US" sz="1441" dirty="0"/>
          </a:p>
        </p:txBody>
      </p:sp>
      <p:sp>
        <p:nvSpPr>
          <p:cNvPr id="34" name="Text 32"/>
          <p:cNvSpPr txBox="1"/>
          <p:nvPr/>
        </p:nvSpPr>
        <p:spPr>
          <a:xfrm>
            <a:off x="7364773" y="3855399"/>
            <a:ext cx="1805778" cy="212301"/>
          </a:xfrm>
          <a:prstGeom prst="rect">
            <a:avLst/>
          </a:prstGeom>
          <a:noFill/>
          <a:ln/>
        </p:spPr>
        <p:txBody>
          <a:bodyPr wrap="square" lIns="0" tIns="0" rIns="0" bIns="0" rtlCol="0" anchor="ctr"/>
          <a:lstStyle/>
          <a:p>
            <a:pPr algn="ctr" indent="0" marL="0">
              <a:lnSpc>
                <a:spcPct val="116000"/>
              </a:lnSpc>
              <a:buNone/>
            </a:pPr>
            <a:r>
              <a:rPr lang="en-US" sz="1441" dirty="0">
                <a:solidFill>
                  <a:srgbClr val="1F2937"/>
                </a:solidFill>
                <a:latin typeface="Arial" pitchFamily="34" charset="0"/>
                <a:ea typeface="Arial" pitchFamily="34" charset="-122"/>
                <a:cs typeface="Arial" pitchFamily="34" charset="-120"/>
              </a:rPr>
              <a:t>team</a:t>
            </a:r>
            <a:endParaRPr lang="en-US" sz="1441" dirty="0"/>
          </a:p>
        </p:txBody>
      </p:sp>
      <p:sp>
        <p:nvSpPr>
          <p:cNvPr id="35" name="Text 33"/>
          <p:cNvSpPr txBox="1"/>
          <p:nvPr/>
        </p:nvSpPr>
        <p:spPr>
          <a:xfrm>
            <a:off x="7326644" y="4128706"/>
            <a:ext cx="1882035" cy="212301"/>
          </a:xfrm>
          <a:prstGeom prst="rect">
            <a:avLst/>
          </a:prstGeom>
          <a:noFill/>
          <a:ln/>
        </p:spPr>
        <p:txBody>
          <a:bodyPr wrap="square" lIns="0" tIns="0" rIns="0" bIns="0" rtlCol="0" anchor="ctr"/>
          <a:lstStyle/>
          <a:p>
            <a:pPr algn="ctr" indent="0" marL="0">
              <a:lnSpc>
                <a:spcPct val="116000"/>
              </a:lnSpc>
              <a:buNone/>
            </a:pPr>
            <a:r>
              <a:rPr lang="en-US" sz="1441" dirty="0">
                <a:solidFill>
                  <a:srgbClr val="0F766E"/>
                </a:solidFill>
                <a:latin typeface="Arial" pitchFamily="34" charset="0"/>
                <a:ea typeface="Arial" pitchFamily="34" charset="-122"/>
                <a:cs typeface="Arial" pitchFamily="34" charset="-120"/>
              </a:rPr>
              <a:t>label_scorer</a:t>
            </a:r>
            <a:endParaRPr lang="en-US" sz="1441" dirty="0"/>
          </a:p>
        </p:txBody>
      </p:sp>
      <p:sp>
        <p:nvSpPr>
          <p:cNvPr id="36" name="Shape 34"/>
          <p:cNvSpPr/>
          <p:nvPr/>
        </p:nvSpPr>
        <p:spPr>
          <a:xfrm>
            <a:off x="9475580" y="2939089"/>
            <a:ext cx="1927790" cy="1799677"/>
          </a:xfrm>
          <a:prstGeom prst="roundRect">
            <a:avLst>
              <a:gd name="adj" fmla="val 4065"/>
            </a:avLst>
          </a:prstGeom>
          <a:solidFill>
            <a:srgbClr val="F9EAF4"/>
          </a:solidFill>
          <a:ln w="15240">
            <a:solidFill>
              <a:srgbClr val="CC79A7"/>
            </a:solidFill>
            <a:prstDash val="solid"/>
          </a:ln>
        </p:spPr>
      </p:sp>
      <p:sp>
        <p:nvSpPr>
          <p:cNvPr id="37" name="Text 35"/>
          <p:cNvSpPr txBox="1"/>
          <p:nvPr/>
        </p:nvSpPr>
        <p:spPr>
          <a:xfrm>
            <a:off x="9536586" y="3336848"/>
            <a:ext cx="1805778" cy="229993"/>
          </a:xfrm>
          <a:prstGeom prst="rect">
            <a:avLst/>
          </a:prstGeom>
          <a:noFill/>
          <a:ln/>
        </p:spPr>
        <p:txBody>
          <a:bodyPr wrap="square" lIns="0" tIns="0" rIns="0" bIns="0" rtlCol="0" anchor="ctr"/>
          <a:lstStyle/>
          <a:p>
            <a:pPr algn="ctr" indent="0" marL="0">
              <a:lnSpc>
                <a:spcPct val="116000"/>
              </a:lnSpc>
              <a:buNone/>
            </a:pPr>
            <a:r>
              <a:rPr lang="en-US" sz="1561" b="1" dirty="0">
                <a:solidFill>
                  <a:srgbClr val="1E1B4B"/>
                </a:solidFill>
                <a:latin typeface="Arial" pitchFamily="34" charset="0"/>
                <a:ea typeface="Arial" pitchFamily="34" charset="-122"/>
                <a:cs typeface="Arial" pitchFamily="34" charset="-120"/>
              </a:rPr>
              <a:t>Check decision</a:t>
            </a:r>
            <a:endParaRPr lang="en-US" sz="1561" dirty="0"/>
          </a:p>
        </p:txBody>
      </p:sp>
      <p:sp>
        <p:nvSpPr>
          <p:cNvPr id="38" name="Text 36"/>
          <p:cNvSpPr txBox="1"/>
          <p:nvPr/>
        </p:nvSpPr>
        <p:spPr>
          <a:xfrm>
            <a:off x="9536586" y="3643098"/>
            <a:ext cx="1805778" cy="212301"/>
          </a:xfrm>
          <a:prstGeom prst="rect">
            <a:avLst/>
          </a:prstGeom>
          <a:noFill/>
          <a:ln/>
        </p:spPr>
        <p:txBody>
          <a:bodyPr wrap="square" lIns="0" tIns="0" rIns="0" bIns="0" rtlCol="0" anchor="ctr"/>
          <a:lstStyle/>
          <a:p>
            <a:pPr algn="ctr" indent="0" marL="0">
              <a:lnSpc>
                <a:spcPct val="116000"/>
              </a:lnSpc>
              <a:buNone/>
            </a:pPr>
            <a:r>
              <a:rPr lang="en-US" sz="1441" dirty="0">
                <a:solidFill>
                  <a:srgbClr val="1F2937"/>
                </a:solidFill>
                <a:latin typeface="Arial" pitchFamily="34" charset="0"/>
                <a:ea typeface="Arial" pitchFamily="34" charset="-122"/>
                <a:cs typeface="Arial" pitchFamily="34" charset="-120"/>
              </a:rPr>
              <a:t>Review ambiguity</a:t>
            </a:r>
            <a:endParaRPr lang="en-US" sz="1441" dirty="0"/>
          </a:p>
        </p:txBody>
      </p:sp>
      <p:sp>
        <p:nvSpPr>
          <p:cNvPr id="39" name="Text 37"/>
          <p:cNvSpPr txBox="1"/>
          <p:nvPr/>
        </p:nvSpPr>
        <p:spPr>
          <a:xfrm>
            <a:off x="9536586" y="3855399"/>
            <a:ext cx="1805778" cy="212301"/>
          </a:xfrm>
          <a:prstGeom prst="rect">
            <a:avLst/>
          </a:prstGeom>
          <a:noFill/>
          <a:ln/>
        </p:spPr>
        <p:txBody>
          <a:bodyPr wrap="square" lIns="0" tIns="0" rIns="0" bIns="0" rtlCol="0" anchor="ctr"/>
          <a:lstStyle/>
          <a:p>
            <a:pPr algn="ctr" indent="0" marL="0">
              <a:lnSpc>
                <a:spcPct val="116000"/>
              </a:lnSpc>
              <a:buNone/>
            </a:pPr>
            <a:r>
              <a:rPr lang="en-US" sz="1441" dirty="0">
                <a:solidFill>
                  <a:srgbClr val="1F2937"/>
                </a:solidFill>
                <a:latin typeface="Arial" pitchFamily="34" charset="0"/>
                <a:ea typeface="Arial" pitchFamily="34" charset="-122"/>
                <a:cs typeface="Arial" pitchFamily="34" charset="-120"/>
              </a:rPr>
              <a:t>and failure</a:t>
            </a:r>
            <a:endParaRPr lang="en-US" sz="1441" dirty="0"/>
          </a:p>
        </p:txBody>
      </p:sp>
      <p:sp>
        <p:nvSpPr>
          <p:cNvPr id="40" name="Text 38"/>
          <p:cNvSpPr txBox="1"/>
          <p:nvPr/>
        </p:nvSpPr>
        <p:spPr>
          <a:xfrm>
            <a:off x="9498458" y="4128706"/>
            <a:ext cx="1882035" cy="212301"/>
          </a:xfrm>
          <a:prstGeom prst="rect">
            <a:avLst/>
          </a:prstGeom>
          <a:noFill/>
          <a:ln/>
        </p:spPr>
        <p:txBody>
          <a:bodyPr wrap="square" lIns="0" tIns="0" rIns="0" bIns="0" rtlCol="0" anchor="ctr"/>
          <a:lstStyle/>
          <a:p>
            <a:pPr algn="ctr" indent="0" marL="0">
              <a:lnSpc>
                <a:spcPct val="116000"/>
              </a:lnSpc>
              <a:buNone/>
            </a:pPr>
            <a:r>
              <a:rPr lang="en-US" sz="1441" dirty="0">
                <a:solidFill>
                  <a:srgbClr val="0F766E"/>
                </a:solidFill>
                <a:latin typeface="Arial" pitchFamily="34" charset="0"/>
                <a:ea typeface="Arial" pitchFamily="34" charset="-122"/>
                <a:cs typeface="Arial" pitchFamily="34" charset="-120"/>
              </a:rPr>
              <a:t>errors</a:t>
            </a:r>
            <a:endParaRPr lang="en-US" sz="1441" dirty="0"/>
          </a:p>
        </p:txBody>
      </p:sp>
      <p:sp>
        <p:nvSpPr>
          <p:cNvPr id="41" name="Shape 39"/>
          <p:cNvSpPr/>
          <p:nvPr/>
        </p:nvSpPr>
        <p:spPr>
          <a:xfrm>
            <a:off x="788325" y="5630979"/>
            <a:ext cx="198270" cy="198270"/>
          </a:xfrm>
          <a:prstGeom prst="roundRect">
            <a:avLst>
              <a:gd name="adj" fmla="val 36895"/>
            </a:avLst>
          </a:prstGeom>
          <a:solidFill>
            <a:srgbClr val="E4F2FB"/>
          </a:solidFill>
          <a:ln w="15240">
            <a:solidFill>
              <a:srgbClr val="0072B2"/>
            </a:solidFill>
            <a:prstDash val="solid"/>
          </a:ln>
        </p:spPr>
      </p:sp>
      <p:sp>
        <p:nvSpPr>
          <p:cNvPr id="42" name="Text 40"/>
          <p:cNvSpPr txBox="1"/>
          <p:nvPr/>
        </p:nvSpPr>
        <p:spPr>
          <a:xfrm>
            <a:off x="1047600" y="5608101"/>
            <a:ext cx="873059" cy="244024"/>
          </a:xfrm>
          <a:prstGeom prst="rect">
            <a:avLst/>
          </a:prstGeom>
          <a:noFill/>
          <a:ln/>
        </p:spPr>
        <p:txBody>
          <a:bodyPr wrap="square" lIns="0" tIns="0" rIns="0" bIns="0" rtlCol="0" anchor="ctr"/>
          <a:lstStyle/>
          <a:p>
            <a:pPr algn="l" indent="0" marL="0">
              <a:lnSpc>
                <a:spcPct val="116000"/>
              </a:lnSpc>
              <a:buNone/>
            </a:pPr>
            <a:r>
              <a:rPr lang="en-US" sz="1441" dirty="0">
                <a:solidFill>
                  <a:srgbClr val="1F2937"/>
                </a:solidFill>
                <a:latin typeface="Arial" pitchFamily="34" charset="0"/>
                <a:ea typeface="Arial" pitchFamily="34" charset="-122"/>
                <a:cs typeface="Arial" pitchFamily="34" charset="-120"/>
              </a:rPr>
              <a:t>Input data</a:t>
            </a:r>
            <a:endParaRPr lang="en-US" sz="1441" dirty="0"/>
          </a:p>
        </p:txBody>
      </p:sp>
      <p:sp>
        <p:nvSpPr>
          <p:cNvPr id="43" name="Shape 41"/>
          <p:cNvSpPr/>
          <p:nvPr/>
        </p:nvSpPr>
        <p:spPr>
          <a:xfrm>
            <a:off x="2118929" y="5630979"/>
            <a:ext cx="198270" cy="198270"/>
          </a:xfrm>
          <a:prstGeom prst="rect">
            <a:avLst/>
          </a:prstGeom>
          <a:solidFill>
            <a:srgbClr val="E5F7EF"/>
          </a:solidFill>
          <a:ln w="15240">
            <a:solidFill>
              <a:srgbClr val="009E73"/>
            </a:solidFill>
            <a:prstDash val="solid"/>
          </a:ln>
        </p:spPr>
      </p:sp>
      <p:sp>
        <p:nvSpPr>
          <p:cNvPr id="44" name="Text 42"/>
          <p:cNvSpPr txBox="1"/>
          <p:nvPr/>
        </p:nvSpPr>
        <p:spPr>
          <a:xfrm>
            <a:off x="2378205" y="5608101"/>
            <a:ext cx="546304" cy="244024"/>
          </a:xfrm>
          <a:prstGeom prst="rect">
            <a:avLst/>
          </a:prstGeom>
          <a:noFill/>
          <a:ln/>
        </p:spPr>
        <p:txBody>
          <a:bodyPr wrap="square" lIns="0" tIns="0" rIns="0" bIns="0" rtlCol="0" anchor="ctr"/>
          <a:lstStyle/>
          <a:p>
            <a:pPr algn="l" indent="0" marL="0">
              <a:lnSpc>
                <a:spcPct val="116000"/>
              </a:lnSpc>
              <a:buNone/>
            </a:pPr>
            <a:r>
              <a:rPr lang="en-US" sz="1441" dirty="0">
                <a:solidFill>
                  <a:srgbClr val="1F2937"/>
                </a:solidFill>
                <a:latin typeface="Arial" pitchFamily="34" charset="0"/>
                <a:ea typeface="Arial" pitchFamily="34" charset="-122"/>
                <a:cs typeface="Arial" pitchFamily="34" charset="-120"/>
              </a:rPr>
              <a:t>Model</a:t>
            </a:r>
            <a:endParaRPr lang="en-US" sz="1441" dirty="0"/>
          </a:p>
        </p:txBody>
      </p:sp>
      <p:sp>
        <p:nvSpPr>
          <p:cNvPr id="45" name="Shape 43"/>
          <p:cNvSpPr/>
          <p:nvPr/>
        </p:nvSpPr>
        <p:spPr>
          <a:xfrm>
            <a:off x="3122778" y="5630979"/>
            <a:ext cx="198270" cy="198270"/>
          </a:xfrm>
          <a:prstGeom prst="roundRect">
            <a:avLst>
              <a:gd name="adj" fmla="val 36895"/>
            </a:avLst>
          </a:prstGeom>
          <a:solidFill>
            <a:srgbClr val="F9EAF4"/>
          </a:solidFill>
          <a:ln w="15240">
            <a:solidFill>
              <a:srgbClr val="CC79A7"/>
            </a:solidFill>
            <a:prstDash val="solid"/>
          </a:ln>
        </p:spPr>
      </p:sp>
      <p:sp>
        <p:nvSpPr>
          <p:cNvPr id="46" name="Text 44"/>
          <p:cNvSpPr txBox="1"/>
          <p:nvPr/>
        </p:nvSpPr>
        <p:spPr>
          <a:xfrm>
            <a:off x="3382054" y="5608101"/>
            <a:ext cx="599153" cy="244024"/>
          </a:xfrm>
          <a:prstGeom prst="rect">
            <a:avLst/>
          </a:prstGeom>
          <a:noFill/>
          <a:ln/>
        </p:spPr>
        <p:txBody>
          <a:bodyPr wrap="square" lIns="0" tIns="0" rIns="0" bIns="0" rtlCol="0" anchor="ctr"/>
          <a:lstStyle/>
          <a:p>
            <a:pPr algn="l" indent="0" marL="0">
              <a:lnSpc>
                <a:spcPct val="116000"/>
              </a:lnSpc>
              <a:buNone/>
            </a:pPr>
            <a:r>
              <a:rPr lang="en-US" sz="1441" dirty="0">
                <a:solidFill>
                  <a:srgbClr val="1F2937"/>
                </a:solidFill>
                <a:latin typeface="Arial" pitchFamily="34" charset="0"/>
                <a:ea typeface="Arial" pitchFamily="34" charset="-122"/>
                <a:cs typeface="Arial" pitchFamily="34" charset="-120"/>
              </a:rPr>
              <a:t>Output</a:t>
            </a:r>
            <a:endParaRPr lang="en-US" sz="1441" dirty="0"/>
          </a:p>
        </p:txBody>
      </p:sp>
      <p:sp>
        <p:nvSpPr>
          <p:cNvPr id="47" name="Shape 45"/>
          <p:cNvSpPr/>
          <p:nvPr/>
        </p:nvSpPr>
        <p:spPr>
          <a:xfrm>
            <a:off x="4179476" y="5630979"/>
            <a:ext cx="198270" cy="198270"/>
          </a:xfrm>
          <a:prstGeom prst="rect">
            <a:avLst/>
          </a:prstGeom>
          <a:solidFill>
            <a:srgbClr val="F2F4F5"/>
          </a:solidFill>
          <a:ln w="15240">
            <a:solidFill>
              <a:srgbClr val="626B73"/>
            </a:solidFill>
            <a:prstDash val="solid"/>
          </a:ln>
        </p:spPr>
      </p:sp>
      <p:sp>
        <p:nvSpPr>
          <p:cNvPr id="48" name="Text 46"/>
          <p:cNvSpPr txBox="1"/>
          <p:nvPr/>
        </p:nvSpPr>
        <p:spPr>
          <a:xfrm>
            <a:off x="4438751" y="5608101"/>
            <a:ext cx="1104346" cy="244024"/>
          </a:xfrm>
          <a:prstGeom prst="rect">
            <a:avLst/>
          </a:prstGeom>
          <a:noFill/>
          <a:ln/>
        </p:spPr>
        <p:txBody>
          <a:bodyPr wrap="square" lIns="0" tIns="0" rIns="0" bIns="0" rtlCol="0" anchor="ctr"/>
          <a:lstStyle/>
          <a:p>
            <a:pPr algn="l" indent="0" marL="0">
              <a:lnSpc>
                <a:spcPct val="116000"/>
              </a:lnSpc>
              <a:buNone/>
            </a:pPr>
            <a:r>
              <a:rPr lang="en-US" sz="1441" dirty="0">
                <a:solidFill>
                  <a:srgbClr val="1F2937"/>
                </a:solidFill>
                <a:latin typeface="Arial" pitchFamily="34" charset="0"/>
                <a:ea typeface="Arial" pitchFamily="34" charset="-122"/>
                <a:cs typeface="Arial" pitchFamily="34" charset="-120"/>
              </a:rPr>
              <a:t>Human / tool</a:t>
            </a:r>
            <a:endParaRPr lang="en-US" sz="1441" dirty="0"/>
          </a:p>
        </p:txBody>
      </p:sp>
      <p:sp>
        <p:nvSpPr>
          <p:cNvPr id="49" name="Shape 47"/>
          <p:cNvSpPr/>
          <p:nvPr/>
        </p:nvSpPr>
        <p:spPr>
          <a:xfrm>
            <a:off x="5741367" y="5730113"/>
            <a:ext cx="335533" cy="0"/>
          </a:xfrm>
          <a:prstGeom prst="line">
            <a:avLst/>
          </a:prstGeom>
          <a:noFill/>
          <a:ln w="22860">
            <a:solidFill>
              <a:srgbClr val="009E73"/>
            </a:solidFill>
            <a:prstDash val="solid"/>
            <a:tailEnd type="triangle"/>
          </a:ln>
        </p:spPr>
      </p:sp>
      <p:sp>
        <p:nvSpPr>
          <p:cNvPr id="50" name="Text 48"/>
          <p:cNvSpPr txBox="1"/>
          <p:nvPr/>
        </p:nvSpPr>
        <p:spPr>
          <a:xfrm>
            <a:off x="6137906" y="5608101"/>
            <a:ext cx="788576" cy="244024"/>
          </a:xfrm>
          <a:prstGeom prst="rect">
            <a:avLst/>
          </a:prstGeom>
          <a:noFill/>
          <a:ln/>
        </p:spPr>
        <p:txBody>
          <a:bodyPr wrap="square" lIns="0" tIns="0" rIns="0" bIns="0" rtlCol="0" anchor="ctr"/>
          <a:lstStyle/>
          <a:p>
            <a:pPr algn="l" indent="0" marL="0">
              <a:lnSpc>
                <a:spcPct val="116000"/>
              </a:lnSpc>
              <a:buNone/>
            </a:pPr>
            <a:r>
              <a:rPr lang="en-US" sz="1441" dirty="0">
                <a:solidFill>
                  <a:srgbClr val="1F2937"/>
                </a:solidFill>
                <a:latin typeface="Arial" pitchFamily="34" charset="0"/>
                <a:ea typeface="Arial" pitchFamily="34" charset="-122"/>
                <a:cs typeface="Arial" pitchFamily="34" charset="-120"/>
              </a:rPr>
              <a:t>data flow</a:t>
            </a:r>
            <a:endParaRPr lang="en-US" sz="1441" dirty="0"/>
          </a:p>
        </p:txBody>
      </p:sp>
      <p:sp>
        <p:nvSpPr>
          <p:cNvPr id="51" name="Text 49"/>
          <p:cNvSpPr txBox="1"/>
          <p:nvPr/>
        </p:nvSpPr>
        <p:spPr>
          <a:xfrm>
            <a:off x="548640" y="5925312"/>
            <a:ext cx="11094415" cy="475488"/>
          </a:xfrm>
          <a:prstGeom prst="rect">
            <a:avLst/>
          </a:prstGeom>
          <a:noFill/>
          <a:ln/>
        </p:spPr>
        <p:txBody>
          <a:bodyPr wrap="square" lIns="0" tIns="0" rIns="0" bIns="0" rtlCol="0" anchor="ctr"/>
          <a:lstStyle/>
          <a:p>
            <a:pPr indent="0" marL="0">
              <a:buNone/>
            </a:pPr>
            <a:r>
              <a:rPr lang="en-US" sz="1700" dirty="0">
                <a:solidFill>
                  <a:srgbClr val="1F2937"/>
                </a:solidFill>
                <a:latin typeface="Calibri" pitchFamily="34" charset="0"/>
                <a:ea typeface="Calibri" pitchFamily="34" charset="-122"/>
                <a:cs typeface="Calibri" pitchFamily="34" charset="-120"/>
              </a:rPr>
              <a:t>Check: Can a recognised label still be wrong?</a:t>
            </a:r>
            <a:endParaRPr lang="en-US" sz="17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07  ·  PROMPT ENGINEERING AND EVALUATION</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29</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Prompting for different tasks</a:t>
            </a:r>
            <a:endParaRPr lang="en-US" sz="3200" dirty="0"/>
          </a:p>
        </p:txBody>
      </p:sp>
      <p:sp>
        <p:nvSpPr>
          <p:cNvPr id="6" name="Shape 4"/>
          <p:cNvSpPr/>
          <p:nvPr/>
        </p:nvSpPr>
        <p:spPr>
          <a:xfrm>
            <a:off x="548640" y="1481328"/>
            <a:ext cx="3515258" cy="2276856"/>
          </a:xfrm>
          <a:prstGeom prst="roundRect">
            <a:avLst>
              <a:gd name="adj" fmla="val 4819"/>
            </a:avLst>
          </a:prstGeom>
          <a:solidFill>
            <a:srgbClr val="EEF0FF"/>
          </a:solidFill>
          <a:ln w="12700">
            <a:solidFill>
              <a:srgbClr val="EEF0FF"/>
            </a:solidFill>
            <a:prstDash val="solid"/>
          </a:ln>
        </p:spPr>
      </p:sp>
      <p:sp>
        <p:nvSpPr>
          <p:cNvPr id="7" name="Shape 5"/>
          <p:cNvSpPr/>
          <p:nvPr/>
        </p:nvSpPr>
        <p:spPr>
          <a:xfrm>
            <a:off x="731520" y="1664208"/>
            <a:ext cx="548640" cy="548640"/>
          </a:xfrm>
          <a:prstGeom prst="ellipse">
            <a:avLst/>
          </a:prstGeom>
          <a:solidFill>
            <a:srgbClr val="4F46E5"/>
          </a:solidFill>
          <a:ln w="12700">
            <a:solidFill>
              <a:srgbClr val="4F46E5"/>
            </a:solidFill>
            <a:prstDash val="solid"/>
          </a:ln>
        </p:spPr>
      </p:sp>
      <p:pic>
        <p:nvPicPr>
          <p:cNvPr id="8" name="Image 0" descr="preencoded.png">    </p:cNvPr>
          <p:cNvPicPr>
            <a:picLocks noChangeAspect="1"/>
          </p:cNvPicPr>
          <p:nvPr/>
        </p:nvPicPr>
        <p:blipFill>
          <a:blip r:embed="rId1"/>
          <a:stretch>
            <a:fillRect/>
          </a:stretch>
        </p:blipFill>
        <p:spPr>
          <a:xfrm>
            <a:off x="863194" y="1795882"/>
            <a:ext cx="285293" cy="285293"/>
          </a:xfrm>
          <a:prstGeom prst="rect">
            <a:avLst/>
          </a:prstGeom>
        </p:spPr>
      </p:pic>
      <p:sp>
        <p:nvSpPr>
          <p:cNvPr id="9" name="Text 6"/>
          <p:cNvSpPr txBox="1"/>
          <p:nvPr/>
        </p:nvSpPr>
        <p:spPr>
          <a:xfrm>
            <a:off x="1371600" y="1645920"/>
            <a:ext cx="2555138" cy="594360"/>
          </a:xfrm>
          <a:prstGeom prst="rect">
            <a:avLst/>
          </a:prstGeom>
          <a:noFill/>
          <a:ln/>
        </p:spPr>
        <p:txBody>
          <a:bodyPr wrap="square" lIns="50800" tIns="50800" rIns="50800" bIns="50800" rtlCol="0" anchor="ctr"/>
          <a:lstStyle/>
          <a:p>
            <a:pPr indent="0" marL="0">
              <a:buNone/>
            </a:pPr>
            <a:r>
              <a:rPr lang="en-US" sz="2100" b="1" dirty="0">
                <a:solidFill>
                  <a:srgbClr val="1E1B4B"/>
                </a:solidFill>
                <a:latin typeface="Calibri" pitchFamily="34" charset="0"/>
                <a:ea typeface="Calibri" pitchFamily="34" charset="-122"/>
                <a:cs typeface="Calibri" pitchFamily="34" charset="-120"/>
              </a:rPr>
              <a:t>Summarisation</a:t>
            </a:r>
            <a:endParaRPr lang="en-US" sz="2100" dirty="0"/>
          </a:p>
        </p:txBody>
      </p:sp>
      <p:sp>
        <p:nvSpPr>
          <p:cNvPr id="10" name="Text 7"/>
          <p:cNvSpPr txBox="1"/>
          <p:nvPr/>
        </p:nvSpPr>
        <p:spPr>
          <a:xfrm>
            <a:off x="731520" y="2304288"/>
            <a:ext cx="3149498" cy="1408176"/>
          </a:xfrm>
          <a:prstGeom prst="rect">
            <a:avLst/>
          </a:prstGeom>
          <a:noFill/>
          <a:ln/>
        </p:spPr>
        <p:txBody>
          <a:bodyPr wrap="square" lIns="50800" tIns="50800" rIns="50800" bIns="50800" rtlCol="0" anchor="t"/>
          <a:lstStyle/>
          <a:p>
            <a:pPr indent="0" marL="0">
              <a:buNone/>
            </a:pPr>
            <a:r>
              <a:rPr lang="en-US" sz="2000" dirty="0">
                <a:solidFill>
                  <a:srgbClr val="1F2937"/>
                </a:solidFill>
                <a:latin typeface="Calibri" pitchFamily="34" charset="0"/>
                <a:ea typeface="Calibri" pitchFamily="34" charset="-122"/>
                <a:cs typeface="Calibri" pitchFamily="34" charset="-120"/>
              </a:rPr>
              <a:t>Name the reader and length; keep only claims in the source.</a:t>
            </a:r>
            <a:endParaRPr lang="en-US" sz="2000" dirty="0"/>
          </a:p>
        </p:txBody>
      </p:sp>
      <p:sp>
        <p:nvSpPr>
          <p:cNvPr id="11" name="Shape 8"/>
          <p:cNvSpPr/>
          <p:nvPr/>
        </p:nvSpPr>
        <p:spPr>
          <a:xfrm>
            <a:off x="4338218" y="1481328"/>
            <a:ext cx="3515258" cy="2276856"/>
          </a:xfrm>
          <a:prstGeom prst="roundRect">
            <a:avLst>
              <a:gd name="adj" fmla="val 4819"/>
            </a:avLst>
          </a:prstGeom>
          <a:solidFill>
            <a:srgbClr val="F5F3FF"/>
          </a:solidFill>
          <a:ln w="12700">
            <a:solidFill>
              <a:srgbClr val="EEF0FF"/>
            </a:solidFill>
            <a:prstDash val="solid"/>
          </a:ln>
        </p:spPr>
      </p:sp>
      <p:sp>
        <p:nvSpPr>
          <p:cNvPr id="12" name="Shape 9"/>
          <p:cNvSpPr/>
          <p:nvPr/>
        </p:nvSpPr>
        <p:spPr>
          <a:xfrm>
            <a:off x="4521098" y="1664208"/>
            <a:ext cx="548640" cy="548640"/>
          </a:xfrm>
          <a:prstGeom prst="ellipse">
            <a:avLst/>
          </a:prstGeom>
          <a:solidFill>
            <a:srgbClr val="4F46E5"/>
          </a:solidFill>
          <a:ln w="12700">
            <a:solidFill>
              <a:srgbClr val="4F46E5"/>
            </a:solidFill>
            <a:prstDash val="solid"/>
          </a:ln>
        </p:spPr>
      </p:sp>
      <p:pic>
        <p:nvPicPr>
          <p:cNvPr id="13" name="Image 1" descr="preencoded.png">    </p:cNvPr>
          <p:cNvPicPr>
            <a:picLocks noChangeAspect="1"/>
          </p:cNvPicPr>
          <p:nvPr/>
        </p:nvPicPr>
        <p:blipFill>
          <a:blip r:embed="rId2"/>
          <a:stretch>
            <a:fillRect/>
          </a:stretch>
        </p:blipFill>
        <p:spPr>
          <a:xfrm>
            <a:off x="4652772" y="1795882"/>
            <a:ext cx="285293" cy="285293"/>
          </a:xfrm>
          <a:prstGeom prst="rect">
            <a:avLst/>
          </a:prstGeom>
        </p:spPr>
      </p:pic>
      <p:sp>
        <p:nvSpPr>
          <p:cNvPr id="14" name="Text 10"/>
          <p:cNvSpPr txBox="1"/>
          <p:nvPr/>
        </p:nvSpPr>
        <p:spPr>
          <a:xfrm>
            <a:off x="5161178" y="1645920"/>
            <a:ext cx="2555138" cy="594360"/>
          </a:xfrm>
          <a:prstGeom prst="rect">
            <a:avLst/>
          </a:prstGeom>
          <a:noFill/>
          <a:ln/>
        </p:spPr>
        <p:txBody>
          <a:bodyPr wrap="square" lIns="50800" tIns="50800" rIns="50800" bIns="50800" rtlCol="0" anchor="ctr"/>
          <a:lstStyle/>
          <a:p>
            <a:pPr indent="0" marL="0">
              <a:buNone/>
            </a:pPr>
            <a:r>
              <a:rPr lang="en-US" sz="2100" b="1" dirty="0">
                <a:solidFill>
                  <a:srgbClr val="1E1B4B"/>
                </a:solidFill>
                <a:latin typeface="Calibri" pitchFamily="34" charset="0"/>
                <a:ea typeface="Calibri" pitchFamily="34" charset="-122"/>
                <a:cs typeface="Calibri" pitchFamily="34" charset="-120"/>
              </a:rPr>
              <a:t>Extraction</a:t>
            </a:r>
            <a:endParaRPr lang="en-US" sz="2100" dirty="0"/>
          </a:p>
        </p:txBody>
      </p:sp>
      <p:sp>
        <p:nvSpPr>
          <p:cNvPr id="15" name="Text 11"/>
          <p:cNvSpPr txBox="1"/>
          <p:nvPr/>
        </p:nvSpPr>
        <p:spPr>
          <a:xfrm>
            <a:off x="4521098" y="2304288"/>
            <a:ext cx="3149498" cy="1408176"/>
          </a:xfrm>
          <a:prstGeom prst="rect">
            <a:avLst/>
          </a:prstGeom>
          <a:noFill/>
          <a:ln/>
        </p:spPr>
        <p:txBody>
          <a:bodyPr wrap="square" lIns="50800" tIns="50800" rIns="50800" bIns="50800" rtlCol="0" anchor="t"/>
          <a:lstStyle/>
          <a:p>
            <a:pPr indent="0" marL="0">
              <a:buNone/>
            </a:pPr>
            <a:r>
              <a:rPr lang="en-US" sz="2000" dirty="0">
                <a:solidFill>
                  <a:srgbClr val="1F2937"/>
                </a:solidFill>
                <a:latin typeface="Calibri" pitchFamily="34" charset="0"/>
                <a:ea typeface="Calibri" pitchFamily="34" charset="-122"/>
                <a:cs typeface="Calibri" pitchFamily="34" charset="-120"/>
              </a:rPr>
              <a:t>List the fields, return null for missing ones, validate in code.</a:t>
            </a:r>
            <a:endParaRPr lang="en-US" sz="2000" dirty="0"/>
          </a:p>
        </p:txBody>
      </p:sp>
      <p:sp>
        <p:nvSpPr>
          <p:cNvPr id="16" name="Shape 12"/>
          <p:cNvSpPr/>
          <p:nvPr/>
        </p:nvSpPr>
        <p:spPr>
          <a:xfrm>
            <a:off x="8127797" y="1481328"/>
            <a:ext cx="3515258" cy="2276856"/>
          </a:xfrm>
          <a:prstGeom prst="roundRect">
            <a:avLst>
              <a:gd name="adj" fmla="val 4819"/>
            </a:avLst>
          </a:prstGeom>
          <a:solidFill>
            <a:srgbClr val="EEF0FF"/>
          </a:solidFill>
          <a:ln w="12700">
            <a:solidFill>
              <a:srgbClr val="EEF0FF"/>
            </a:solidFill>
            <a:prstDash val="solid"/>
          </a:ln>
        </p:spPr>
      </p:sp>
      <p:sp>
        <p:nvSpPr>
          <p:cNvPr id="17" name="Shape 13"/>
          <p:cNvSpPr/>
          <p:nvPr/>
        </p:nvSpPr>
        <p:spPr>
          <a:xfrm>
            <a:off x="8310677" y="1664208"/>
            <a:ext cx="548640" cy="548640"/>
          </a:xfrm>
          <a:prstGeom prst="ellipse">
            <a:avLst/>
          </a:prstGeom>
          <a:solidFill>
            <a:srgbClr val="4F46E5"/>
          </a:solidFill>
          <a:ln w="12700">
            <a:solidFill>
              <a:srgbClr val="4F46E5"/>
            </a:solidFill>
            <a:prstDash val="solid"/>
          </a:ln>
        </p:spPr>
      </p:sp>
      <p:pic>
        <p:nvPicPr>
          <p:cNvPr id="18" name="Image 2" descr="preencoded.png">    </p:cNvPr>
          <p:cNvPicPr>
            <a:picLocks noChangeAspect="1"/>
          </p:cNvPicPr>
          <p:nvPr/>
        </p:nvPicPr>
        <p:blipFill>
          <a:blip r:embed="rId3"/>
          <a:stretch>
            <a:fillRect/>
          </a:stretch>
        </p:blipFill>
        <p:spPr>
          <a:xfrm>
            <a:off x="8442350" y="1795882"/>
            <a:ext cx="285293" cy="285293"/>
          </a:xfrm>
          <a:prstGeom prst="rect">
            <a:avLst/>
          </a:prstGeom>
        </p:spPr>
      </p:pic>
      <p:sp>
        <p:nvSpPr>
          <p:cNvPr id="19" name="Text 14"/>
          <p:cNvSpPr txBox="1"/>
          <p:nvPr/>
        </p:nvSpPr>
        <p:spPr>
          <a:xfrm>
            <a:off x="8950757" y="1645920"/>
            <a:ext cx="2555138" cy="594360"/>
          </a:xfrm>
          <a:prstGeom prst="rect">
            <a:avLst/>
          </a:prstGeom>
          <a:noFill/>
          <a:ln/>
        </p:spPr>
        <p:txBody>
          <a:bodyPr wrap="square" lIns="50800" tIns="50800" rIns="50800" bIns="50800" rtlCol="0" anchor="ctr"/>
          <a:lstStyle/>
          <a:p>
            <a:pPr indent="0" marL="0">
              <a:buNone/>
            </a:pPr>
            <a:r>
              <a:rPr lang="en-US" sz="2100" b="1" dirty="0">
                <a:solidFill>
                  <a:srgbClr val="1E1B4B"/>
                </a:solidFill>
                <a:latin typeface="Calibri" pitchFamily="34" charset="0"/>
                <a:ea typeface="Calibri" pitchFamily="34" charset="-122"/>
                <a:cs typeface="Calibri" pitchFamily="34" charset="-120"/>
              </a:rPr>
              <a:t>Classification</a:t>
            </a:r>
            <a:endParaRPr lang="en-US" sz="2100" dirty="0"/>
          </a:p>
        </p:txBody>
      </p:sp>
      <p:sp>
        <p:nvSpPr>
          <p:cNvPr id="20" name="Text 15"/>
          <p:cNvSpPr txBox="1"/>
          <p:nvPr/>
        </p:nvSpPr>
        <p:spPr>
          <a:xfrm>
            <a:off x="8310677" y="2304288"/>
            <a:ext cx="3149498" cy="1408176"/>
          </a:xfrm>
          <a:prstGeom prst="rect">
            <a:avLst/>
          </a:prstGeom>
          <a:noFill/>
          <a:ln/>
        </p:spPr>
        <p:txBody>
          <a:bodyPr wrap="square" lIns="50800" tIns="50800" rIns="50800" bIns="50800" rtlCol="0" anchor="t"/>
          <a:lstStyle/>
          <a:p>
            <a:pPr indent="0" marL="0">
              <a:buNone/>
            </a:pPr>
            <a:r>
              <a:rPr lang="en-US" sz="2000" dirty="0">
                <a:solidFill>
                  <a:srgbClr val="1F2937"/>
                </a:solidFill>
                <a:latin typeface="Calibri" pitchFamily="34" charset="0"/>
                <a:ea typeface="Calibri" pitchFamily="34" charset="-122"/>
                <a:cs typeface="Calibri" pitchFamily="34" charset="-120"/>
              </a:rPr>
              <a:t>Define every label in one line and give an example of each.</a:t>
            </a:r>
            <a:endParaRPr lang="en-US" sz="2000" dirty="0"/>
          </a:p>
        </p:txBody>
      </p:sp>
      <p:sp>
        <p:nvSpPr>
          <p:cNvPr id="21" name="Shape 16"/>
          <p:cNvSpPr/>
          <p:nvPr/>
        </p:nvSpPr>
        <p:spPr>
          <a:xfrm>
            <a:off x="548640" y="4032504"/>
            <a:ext cx="3515258" cy="2276856"/>
          </a:xfrm>
          <a:prstGeom prst="roundRect">
            <a:avLst>
              <a:gd name="adj" fmla="val 4819"/>
            </a:avLst>
          </a:prstGeom>
          <a:solidFill>
            <a:srgbClr val="F5F3FF"/>
          </a:solidFill>
          <a:ln w="12700">
            <a:solidFill>
              <a:srgbClr val="EEF0FF"/>
            </a:solidFill>
            <a:prstDash val="solid"/>
          </a:ln>
        </p:spPr>
      </p:sp>
      <p:sp>
        <p:nvSpPr>
          <p:cNvPr id="22" name="Shape 17"/>
          <p:cNvSpPr/>
          <p:nvPr/>
        </p:nvSpPr>
        <p:spPr>
          <a:xfrm>
            <a:off x="731520" y="4215384"/>
            <a:ext cx="548640" cy="548640"/>
          </a:xfrm>
          <a:prstGeom prst="ellipse">
            <a:avLst/>
          </a:prstGeom>
          <a:solidFill>
            <a:srgbClr val="4F46E5"/>
          </a:solidFill>
          <a:ln w="12700">
            <a:solidFill>
              <a:srgbClr val="4F46E5"/>
            </a:solidFill>
            <a:prstDash val="solid"/>
          </a:ln>
        </p:spPr>
      </p:sp>
      <p:pic>
        <p:nvPicPr>
          <p:cNvPr id="23" name="Image 3" descr="preencoded.png">    </p:cNvPr>
          <p:cNvPicPr>
            <a:picLocks noChangeAspect="1"/>
          </p:cNvPicPr>
          <p:nvPr/>
        </p:nvPicPr>
        <p:blipFill>
          <a:blip r:embed="rId4"/>
          <a:stretch>
            <a:fillRect/>
          </a:stretch>
        </p:blipFill>
        <p:spPr>
          <a:xfrm>
            <a:off x="863194" y="4347058"/>
            <a:ext cx="285293" cy="285293"/>
          </a:xfrm>
          <a:prstGeom prst="rect">
            <a:avLst/>
          </a:prstGeom>
        </p:spPr>
      </p:pic>
      <p:sp>
        <p:nvSpPr>
          <p:cNvPr id="24" name="Text 18"/>
          <p:cNvSpPr txBox="1"/>
          <p:nvPr/>
        </p:nvSpPr>
        <p:spPr>
          <a:xfrm>
            <a:off x="1371600" y="4197096"/>
            <a:ext cx="2555138" cy="594360"/>
          </a:xfrm>
          <a:prstGeom prst="rect">
            <a:avLst/>
          </a:prstGeom>
          <a:noFill/>
          <a:ln/>
        </p:spPr>
        <p:txBody>
          <a:bodyPr wrap="square" lIns="50800" tIns="50800" rIns="50800" bIns="50800" rtlCol="0" anchor="ctr"/>
          <a:lstStyle/>
          <a:p>
            <a:pPr indent="0" marL="0">
              <a:buNone/>
            </a:pPr>
            <a:r>
              <a:rPr lang="en-US" sz="2100" b="1" dirty="0">
                <a:solidFill>
                  <a:srgbClr val="1E1B4B"/>
                </a:solidFill>
                <a:latin typeface="Calibri" pitchFamily="34" charset="0"/>
                <a:ea typeface="Calibri" pitchFamily="34" charset="-122"/>
                <a:cs typeface="Calibri" pitchFamily="34" charset="-120"/>
              </a:rPr>
              <a:t>Code</a:t>
            </a:r>
            <a:endParaRPr lang="en-US" sz="2100" dirty="0"/>
          </a:p>
        </p:txBody>
      </p:sp>
      <p:sp>
        <p:nvSpPr>
          <p:cNvPr id="25" name="Text 19"/>
          <p:cNvSpPr txBox="1"/>
          <p:nvPr/>
        </p:nvSpPr>
        <p:spPr>
          <a:xfrm>
            <a:off x="731520" y="4855464"/>
            <a:ext cx="3149498" cy="1408176"/>
          </a:xfrm>
          <a:prstGeom prst="rect">
            <a:avLst/>
          </a:prstGeom>
          <a:noFill/>
          <a:ln/>
        </p:spPr>
        <p:txBody>
          <a:bodyPr wrap="square" lIns="50800" tIns="50800" rIns="50800" bIns="50800" rtlCol="0" anchor="t"/>
          <a:lstStyle/>
          <a:p>
            <a:pPr indent="0" marL="0">
              <a:buNone/>
            </a:pPr>
            <a:r>
              <a:rPr lang="en-US" sz="2000" dirty="0">
                <a:solidFill>
                  <a:srgbClr val="1F2937"/>
                </a:solidFill>
                <a:latin typeface="Calibri" pitchFamily="34" charset="0"/>
                <a:ea typeface="Calibri" pitchFamily="34" charset="-122"/>
                <a:cs typeface="Calibri" pitchFamily="34" charset="-120"/>
              </a:rPr>
              <a:t>State inputs, outputs and versions; run the tests before trusting it.</a:t>
            </a:r>
            <a:endParaRPr lang="en-US" sz="2000" dirty="0"/>
          </a:p>
        </p:txBody>
      </p:sp>
      <p:sp>
        <p:nvSpPr>
          <p:cNvPr id="26" name="Shape 20"/>
          <p:cNvSpPr/>
          <p:nvPr/>
        </p:nvSpPr>
        <p:spPr>
          <a:xfrm>
            <a:off x="4338218" y="4032504"/>
            <a:ext cx="3515258" cy="2276856"/>
          </a:xfrm>
          <a:prstGeom prst="roundRect">
            <a:avLst>
              <a:gd name="adj" fmla="val 4819"/>
            </a:avLst>
          </a:prstGeom>
          <a:solidFill>
            <a:srgbClr val="EEF0FF"/>
          </a:solidFill>
          <a:ln w="12700">
            <a:solidFill>
              <a:srgbClr val="EEF0FF"/>
            </a:solidFill>
            <a:prstDash val="solid"/>
          </a:ln>
        </p:spPr>
      </p:sp>
      <p:sp>
        <p:nvSpPr>
          <p:cNvPr id="27" name="Shape 21"/>
          <p:cNvSpPr/>
          <p:nvPr/>
        </p:nvSpPr>
        <p:spPr>
          <a:xfrm>
            <a:off x="4521098" y="4215384"/>
            <a:ext cx="548640" cy="548640"/>
          </a:xfrm>
          <a:prstGeom prst="ellipse">
            <a:avLst/>
          </a:prstGeom>
          <a:solidFill>
            <a:srgbClr val="4F46E5"/>
          </a:solidFill>
          <a:ln w="12700">
            <a:solidFill>
              <a:srgbClr val="4F46E5"/>
            </a:solidFill>
            <a:prstDash val="solid"/>
          </a:ln>
        </p:spPr>
      </p:sp>
      <p:pic>
        <p:nvPicPr>
          <p:cNvPr id="28" name="Image 4" descr="preencoded.png">    </p:cNvPr>
          <p:cNvPicPr>
            <a:picLocks noChangeAspect="1"/>
          </p:cNvPicPr>
          <p:nvPr/>
        </p:nvPicPr>
        <p:blipFill>
          <a:blip r:embed="rId5"/>
          <a:stretch>
            <a:fillRect/>
          </a:stretch>
        </p:blipFill>
        <p:spPr>
          <a:xfrm>
            <a:off x="4652772" y="4347058"/>
            <a:ext cx="285293" cy="285293"/>
          </a:xfrm>
          <a:prstGeom prst="rect">
            <a:avLst/>
          </a:prstGeom>
        </p:spPr>
      </p:pic>
      <p:sp>
        <p:nvSpPr>
          <p:cNvPr id="29" name="Text 22"/>
          <p:cNvSpPr txBox="1"/>
          <p:nvPr/>
        </p:nvSpPr>
        <p:spPr>
          <a:xfrm>
            <a:off x="5161178" y="4197096"/>
            <a:ext cx="2555138" cy="594360"/>
          </a:xfrm>
          <a:prstGeom prst="rect">
            <a:avLst/>
          </a:prstGeom>
          <a:noFill/>
          <a:ln/>
        </p:spPr>
        <p:txBody>
          <a:bodyPr wrap="square" lIns="50800" tIns="50800" rIns="50800" bIns="50800" rtlCol="0" anchor="ctr"/>
          <a:lstStyle/>
          <a:p>
            <a:pPr indent="0" marL="0">
              <a:buNone/>
            </a:pPr>
            <a:r>
              <a:rPr lang="en-US" sz="2100" b="1" dirty="0">
                <a:solidFill>
                  <a:srgbClr val="1E1B4B"/>
                </a:solidFill>
                <a:latin typeface="Calibri" pitchFamily="34" charset="0"/>
                <a:ea typeface="Calibri" pitchFamily="34" charset="-122"/>
                <a:cs typeface="Calibri" pitchFamily="34" charset="-120"/>
              </a:rPr>
              <a:t>Image generation</a:t>
            </a:r>
            <a:endParaRPr lang="en-US" sz="2100" dirty="0"/>
          </a:p>
        </p:txBody>
      </p:sp>
      <p:sp>
        <p:nvSpPr>
          <p:cNvPr id="30" name="Text 23"/>
          <p:cNvSpPr txBox="1"/>
          <p:nvPr/>
        </p:nvSpPr>
        <p:spPr>
          <a:xfrm>
            <a:off x="4521098" y="4855464"/>
            <a:ext cx="3149498" cy="1408176"/>
          </a:xfrm>
          <a:prstGeom prst="rect">
            <a:avLst/>
          </a:prstGeom>
          <a:noFill/>
          <a:ln/>
        </p:spPr>
        <p:txBody>
          <a:bodyPr wrap="square" lIns="50800" tIns="50800" rIns="50800" bIns="50800" rtlCol="0" anchor="t"/>
          <a:lstStyle/>
          <a:p>
            <a:pPr indent="0" marL="0">
              <a:buNone/>
            </a:pPr>
            <a:r>
              <a:rPr lang="en-US" sz="2000" dirty="0">
                <a:solidFill>
                  <a:srgbClr val="1F2937"/>
                </a:solidFill>
                <a:latin typeface="Calibri" pitchFamily="34" charset="0"/>
                <a:ea typeface="Calibri" pitchFamily="34" charset="-122"/>
                <a:cs typeface="Calibri" pitchFamily="34" charset="-120"/>
              </a:rPr>
              <a:t>Describe subject, style and composition: "a lighthouse at dusk, watercolour".</a:t>
            </a:r>
            <a:endParaRPr lang="en-US" sz="2000" dirty="0"/>
          </a:p>
        </p:txBody>
      </p:sp>
      <p:sp>
        <p:nvSpPr>
          <p:cNvPr id="31" name="Shape 24"/>
          <p:cNvSpPr/>
          <p:nvPr/>
        </p:nvSpPr>
        <p:spPr>
          <a:xfrm>
            <a:off x="8127797" y="4032504"/>
            <a:ext cx="3515258" cy="2276856"/>
          </a:xfrm>
          <a:prstGeom prst="roundRect">
            <a:avLst>
              <a:gd name="adj" fmla="val 4819"/>
            </a:avLst>
          </a:prstGeom>
          <a:solidFill>
            <a:srgbClr val="F5F3FF"/>
          </a:solidFill>
          <a:ln w="12700">
            <a:solidFill>
              <a:srgbClr val="EEF0FF"/>
            </a:solidFill>
            <a:prstDash val="solid"/>
          </a:ln>
        </p:spPr>
      </p:sp>
      <p:sp>
        <p:nvSpPr>
          <p:cNvPr id="32" name="Shape 25"/>
          <p:cNvSpPr/>
          <p:nvPr/>
        </p:nvSpPr>
        <p:spPr>
          <a:xfrm>
            <a:off x="8310677" y="4215384"/>
            <a:ext cx="548640" cy="548640"/>
          </a:xfrm>
          <a:prstGeom prst="ellipse">
            <a:avLst/>
          </a:prstGeom>
          <a:solidFill>
            <a:srgbClr val="4F46E5"/>
          </a:solidFill>
          <a:ln w="12700">
            <a:solidFill>
              <a:srgbClr val="4F46E5"/>
            </a:solidFill>
            <a:prstDash val="solid"/>
          </a:ln>
        </p:spPr>
      </p:sp>
      <p:pic>
        <p:nvPicPr>
          <p:cNvPr id="33" name="Image 5" descr="preencoded.png">    </p:cNvPr>
          <p:cNvPicPr>
            <a:picLocks noChangeAspect="1"/>
          </p:cNvPicPr>
          <p:nvPr/>
        </p:nvPicPr>
        <p:blipFill>
          <a:blip r:embed="rId6"/>
          <a:stretch>
            <a:fillRect/>
          </a:stretch>
        </p:blipFill>
        <p:spPr>
          <a:xfrm>
            <a:off x="8442350" y="4347058"/>
            <a:ext cx="285293" cy="285293"/>
          </a:xfrm>
          <a:prstGeom prst="rect">
            <a:avLst/>
          </a:prstGeom>
        </p:spPr>
      </p:pic>
      <p:sp>
        <p:nvSpPr>
          <p:cNvPr id="34" name="Text 26"/>
          <p:cNvSpPr txBox="1"/>
          <p:nvPr/>
        </p:nvSpPr>
        <p:spPr>
          <a:xfrm>
            <a:off x="8950757" y="4197096"/>
            <a:ext cx="2555138" cy="594360"/>
          </a:xfrm>
          <a:prstGeom prst="rect">
            <a:avLst/>
          </a:prstGeom>
          <a:noFill/>
          <a:ln/>
        </p:spPr>
        <p:txBody>
          <a:bodyPr wrap="square" lIns="50800" tIns="50800" rIns="50800" bIns="50800" rtlCol="0" anchor="ctr"/>
          <a:lstStyle/>
          <a:p>
            <a:pPr indent="0" marL="0">
              <a:buNone/>
            </a:pPr>
            <a:r>
              <a:rPr lang="en-US" sz="2100" b="1" dirty="0">
                <a:solidFill>
                  <a:srgbClr val="1E1B4B"/>
                </a:solidFill>
                <a:latin typeface="Calibri" pitchFamily="34" charset="0"/>
                <a:ea typeface="Calibri" pitchFamily="34" charset="-122"/>
                <a:cs typeface="Calibri" pitchFamily="34" charset="-120"/>
              </a:rPr>
              <a:t>Data analysis</a:t>
            </a:r>
            <a:endParaRPr lang="en-US" sz="2100" dirty="0"/>
          </a:p>
        </p:txBody>
      </p:sp>
      <p:sp>
        <p:nvSpPr>
          <p:cNvPr id="35" name="Text 27"/>
          <p:cNvSpPr txBox="1"/>
          <p:nvPr/>
        </p:nvSpPr>
        <p:spPr>
          <a:xfrm>
            <a:off x="8310677" y="4855464"/>
            <a:ext cx="3149498" cy="1408176"/>
          </a:xfrm>
          <a:prstGeom prst="rect">
            <a:avLst/>
          </a:prstGeom>
          <a:noFill/>
          <a:ln/>
        </p:spPr>
        <p:txBody>
          <a:bodyPr wrap="square" lIns="50800" tIns="50800" rIns="50800" bIns="50800" rtlCol="0" anchor="t"/>
          <a:lstStyle/>
          <a:p>
            <a:pPr indent="0" marL="0">
              <a:buNone/>
            </a:pPr>
            <a:r>
              <a:rPr lang="en-US" sz="2000" dirty="0">
                <a:solidFill>
                  <a:srgbClr val="1F2937"/>
                </a:solidFill>
                <a:latin typeface="Calibri" pitchFamily="34" charset="0"/>
                <a:ea typeface="Calibri" pitchFamily="34" charset="-122"/>
                <a:cs typeface="Calibri" pitchFamily="34" charset="-120"/>
              </a:rPr>
              <a:t>Explain each column; ask for code that computes the numbers.</a:t>
            </a:r>
            <a:endParaRPr lang="en-US" sz="20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1E1B4B"/>
        </a:solidFill>
      </p:bgPr>
    </p:bg>
    <p:spTree>
      <p:nvGrpSpPr>
        <p:cNvPr id="1" name=""/>
        <p:cNvGrpSpPr/>
        <p:nvPr/>
      </p:nvGrpSpPr>
      <p:grpSpPr>
        <a:xfrm>
          <a:off x="0" y="0"/>
          <a:ext cx="0" cy="0"/>
          <a:chOff x="0" y="0"/>
          <a:chExt cx="0" cy="0"/>
        </a:xfrm>
      </p:grpSpPr>
      <p:sp>
        <p:nvSpPr>
          <p:cNvPr id="2" name="Text 0"/>
          <p:cNvSpPr txBox="1"/>
          <p:nvPr/>
        </p:nvSpPr>
        <p:spPr>
          <a:xfrm>
            <a:off x="731520" y="1188720"/>
            <a:ext cx="2926080" cy="1828800"/>
          </a:xfrm>
          <a:prstGeom prst="rect">
            <a:avLst/>
          </a:prstGeom>
          <a:noFill/>
          <a:ln/>
        </p:spPr>
        <p:txBody>
          <a:bodyPr wrap="square" lIns="0" tIns="0" rIns="0" bIns="0" rtlCol="0" anchor="t"/>
          <a:lstStyle/>
          <a:p>
            <a:pPr indent="0" marL="0">
              <a:buNone/>
            </a:pPr>
            <a:r>
              <a:rPr lang="en-US" sz="11000" b="1" dirty="0">
                <a:solidFill>
                  <a:srgbClr val="EA580C"/>
                </a:solidFill>
                <a:latin typeface="Calibri" pitchFamily="34" charset="0"/>
                <a:ea typeface="Calibri" pitchFamily="34" charset="-122"/>
                <a:cs typeface="Calibri" pitchFamily="34" charset="-120"/>
              </a:rPr>
              <a:t>04</a:t>
            </a:r>
            <a:endParaRPr lang="en-US" sz="11000" dirty="0"/>
          </a:p>
        </p:txBody>
      </p:sp>
      <p:sp>
        <p:nvSpPr>
          <p:cNvPr id="3" name="Text 1"/>
          <p:cNvSpPr txBox="1"/>
          <p:nvPr/>
        </p:nvSpPr>
        <p:spPr>
          <a:xfrm>
            <a:off x="731520" y="3063240"/>
            <a:ext cx="10515600" cy="1463040"/>
          </a:xfrm>
          <a:prstGeom prst="rect">
            <a:avLst/>
          </a:prstGeom>
          <a:noFill/>
          <a:ln/>
        </p:spPr>
        <p:txBody>
          <a:bodyPr wrap="square" lIns="0" tIns="0" rIns="0" bIns="0" rtlCol="0" anchor="t"/>
          <a:lstStyle/>
          <a:p>
            <a:pPr indent="0" marL="0">
              <a:buNone/>
            </a:pPr>
            <a:r>
              <a:rPr lang="en-US" sz="4200" b="1" dirty="0">
                <a:solidFill>
                  <a:srgbClr val="FFFFFF"/>
                </a:solidFill>
                <a:latin typeface="Calibri" pitchFamily="34" charset="0"/>
                <a:ea typeface="Calibri" pitchFamily="34" charset="-122"/>
                <a:cs typeface="Calibri" pitchFamily="34" charset="-120"/>
              </a:rPr>
              <a:t>Evaluation methods</a:t>
            </a:r>
            <a:endParaRPr lang="en-US" sz="4200" dirty="0"/>
          </a:p>
        </p:txBody>
      </p:sp>
      <p:sp>
        <p:nvSpPr>
          <p:cNvPr id="4" name="Text 2"/>
          <p:cNvSpPr txBox="1"/>
          <p:nvPr/>
        </p:nvSpPr>
        <p:spPr>
          <a:xfrm>
            <a:off x="731520" y="4617720"/>
            <a:ext cx="10515600" cy="1097280"/>
          </a:xfrm>
          <a:prstGeom prst="rect">
            <a:avLst/>
          </a:prstGeom>
          <a:noFill/>
          <a:ln/>
        </p:spPr>
        <p:txBody>
          <a:bodyPr wrap="square" lIns="0" tIns="0" rIns="0" bIns="0" rtlCol="0" anchor="t"/>
          <a:lstStyle/>
          <a:p>
            <a:pPr indent="0" marL="0">
              <a:buNone/>
            </a:pPr>
            <a:r>
              <a:rPr lang="en-US" sz="2200" i="1" dirty="0">
                <a:solidFill>
                  <a:srgbClr val="C7D2FE"/>
                </a:solidFill>
                <a:latin typeface="Calibri" pitchFamily="34" charset="0"/>
                <a:ea typeface="Calibri" pitchFamily="34" charset="-122"/>
                <a:cs typeface="Calibri" pitchFamily="34" charset="-120"/>
              </a:rPr>
              <a:t>How do you know a prompt, or a model, is actually better?</a:t>
            </a:r>
            <a:endParaRPr lang="en-US" sz="2200" dirty="0"/>
          </a:p>
        </p:txBody>
      </p:sp>
      <p:sp>
        <p:nvSpPr>
          <p:cNvPr id="5" name="Shape 3"/>
          <p:cNvSpPr/>
          <p:nvPr/>
        </p:nvSpPr>
        <p:spPr>
          <a:xfrm>
            <a:off x="9692640" y="1097280"/>
            <a:ext cx="1554480" cy="1554480"/>
          </a:xfrm>
          <a:prstGeom prst="ellipse">
            <a:avLst/>
          </a:prstGeom>
          <a:solidFill>
            <a:srgbClr val="4F46E5"/>
          </a:solidFill>
          <a:ln w="12700">
            <a:solidFill>
              <a:srgbClr val="4F46E5"/>
            </a:solidFill>
            <a:prstDash val="solid"/>
          </a:ln>
        </p:spPr>
      </p:sp>
      <p:pic>
        <p:nvPicPr>
          <p:cNvPr id="6" name="Image 0" descr="preencoded.png">    </p:cNvPr>
          <p:cNvPicPr>
            <a:picLocks noChangeAspect="1"/>
          </p:cNvPicPr>
          <p:nvPr/>
        </p:nvPicPr>
        <p:blipFill>
          <a:blip r:embed="rId1"/>
          <a:stretch>
            <a:fillRect/>
          </a:stretch>
        </p:blipFill>
        <p:spPr>
          <a:xfrm>
            <a:off x="10065715" y="1470355"/>
            <a:ext cx="808330" cy="808330"/>
          </a:xfrm>
          <a:prstGeom prst="rect">
            <a:avLst/>
          </a:prstGeom>
        </p:spPr>
      </p:pic>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07  ·  PROMPT ENGINEERING AND EVALUATION</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31</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Improve a prompt using evidence</a:t>
            </a:r>
            <a:endParaRPr lang="en-US" sz="3200" dirty="0"/>
          </a:p>
        </p:txBody>
      </p:sp>
      <p:sp>
        <p:nvSpPr>
          <p:cNvPr id="6" name="Text 4"/>
          <p:cNvSpPr txBox="1"/>
          <p:nvPr/>
        </p:nvSpPr>
        <p:spPr>
          <a:xfrm>
            <a:off x="548640" y="1463040"/>
            <a:ext cx="11094415" cy="384048"/>
          </a:xfrm>
          <a:prstGeom prst="rect">
            <a:avLst/>
          </a:prstGeom>
          <a:noFill/>
          <a:ln/>
        </p:spPr>
        <p:txBody>
          <a:bodyPr wrap="square" lIns="0" tIns="0" rIns="0" bIns="0" rtlCol="0" anchor="t"/>
          <a:lstStyle/>
          <a:p>
            <a:pPr indent="0" marL="0">
              <a:buNone/>
            </a:pPr>
            <a:r>
              <a:rPr lang="en-US" sz="1800" dirty="0">
                <a:solidFill>
                  <a:srgbClr val="6B7280"/>
                </a:solidFill>
                <a:latin typeface="Calibri" pitchFamily="34" charset="0"/>
                <a:ea typeface="Calibri" pitchFamily="34" charset="-122"/>
                <a:cs typeface="Calibri" pitchFamily="34" charset="-120"/>
              </a:rPr>
              <a:t>This is prompt development: model weights stay fixed</a:t>
            </a:r>
            <a:endParaRPr lang="en-US" sz="1800" dirty="0"/>
          </a:p>
        </p:txBody>
      </p:sp>
      <p:sp>
        <p:nvSpPr>
          <p:cNvPr id="7" name="Shape 5"/>
          <p:cNvSpPr/>
          <p:nvPr/>
        </p:nvSpPr>
        <p:spPr>
          <a:xfrm>
            <a:off x="2716115" y="3838927"/>
            <a:ext cx="244024" cy="0"/>
          </a:xfrm>
          <a:prstGeom prst="line">
            <a:avLst/>
          </a:prstGeom>
          <a:noFill/>
          <a:ln w="22860">
            <a:solidFill>
              <a:srgbClr val="009E73"/>
            </a:solidFill>
            <a:prstDash val="solid"/>
            <a:tailEnd type="triangle"/>
          </a:ln>
        </p:spPr>
      </p:sp>
      <p:sp>
        <p:nvSpPr>
          <p:cNvPr id="8" name="Text 6"/>
          <p:cNvSpPr txBox="1"/>
          <p:nvPr/>
        </p:nvSpPr>
        <p:spPr>
          <a:xfrm>
            <a:off x="2037423" y="2665782"/>
            <a:ext cx="1601408" cy="212301"/>
          </a:xfrm>
          <a:prstGeom prst="rect">
            <a:avLst/>
          </a:prstGeom>
          <a:noFill/>
          <a:ln/>
        </p:spPr>
        <p:txBody>
          <a:bodyPr wrap="square" lIns="0" tIns="0" rIns="0" bIns="0" rtlCol="0" anchor="ctr"/>
          <a:lstStyle/>
          <a:p>
            <a:pPr algn="ctr" indent="0" marL="0">
              <a:lnSpc>
                <a:spcPct val="116000"/>
              </a:lnSpc>
              <a:buNone/>
            </a:pPr>
            <a:r>
              <a:rPr lang="en-US" sz="1441" dirty="0">
                <a:solidFill>
                  <a:srgbClr val="0072B2"/>
                </a:solidFill>
                <a:latin typeface="Arial" pitchFamily="34" charset="0"/>
                <a:ea typeface="Arial" pitchFamily="34" charset="-122"/>
                <a:cs typeface="Arial" pitchFamily="34" charset="-120"/>
              </a:rPr>
              <a:t>labelled examples</a:t>
            </a:r>
            <a:endParaRPr lang="en-US" sz="1441" dirty="0"/>
          </a:p>
        </p:txBody>
      </p:sp>
      <p:sp>
        <p:nvSpPr>
          <p:cNvPr id="9" name="Shape 7"/>
          <p:cNvSpPr/>
          <p:nvPr/>
        </p:nvSpPr>
        <p:spPr>
          <a:xfrm>
            <a:off x="4887929" y="3838927"/>
            <a:ext cx="244024" cy="0"/>
          </a:xfrm>
          <a:prstGeom prst="line">
            <a:avLst/>
          </a:prstGeom>
          <a:noFill/>
          <a:ln w="22860">
            <a:solidFill>
              <a:srgbClr val="009E73"/>
            </a:solidFill>
            <a:prstDash val="solid"/>
            <a:tailEnd type="triangle"/>
          </a:ln>
        </p:spPr>
      </p:sp>
      <p:sp>
        <p:nvSpPr>
          <p:cNvPr id="10" name="Text 8"/>
          <p:cNvSpPr txBox="1"/>
          <p:nvPr/>
        </p:nvSpPr>
        <p:spPr>
          <a:xfrm>
            <a:off x="4209237" y="2665782"/>
            <a:ext cx="1601408" cy="212301"/>
          </a:xfrm>
          <a:prstGeom prst="rect">
            <a:avLst/>
          </a:prstGeom>
          <a:noFill/>
          <a:ln/>
        </p:spPr>
        <p:txBody>
          <a:bodyPr wrap="square" lIns="0" tIns="0" rIns="0" bIns="0" rtlCol="0" anchor="ctr"/>
          <a:lstStyle/>
          <a:p>
            <a:pPr algn="ctr" indent="0" marL="0">
              <a:lnSpc>
                <a:spcPct val="116000"/>
              </a:lnSpc>
              <a:buNone/>
            </a:pPr>
            <a:r>
              <a:rPr lang="en-US" sz="1441" dirty="0">
                <a:solidFill>
                  <a:srgbClr val="0072B2"/>
                </a:solidFill>
                <a:latin typeface="Arial" pitchFamily="34" charset="0"/>
                <a:ea typeface="Arial" pitchFamily="34" charset="-122"/>
                <a:cs typeface="Arial" pitchFamily="34" charset="-120"/>
              </a:rPr>
              <a:t>prompt versions</a:t>
            </a:r>
            <a:endParaRPr lang="en-US" sz="1441" dirty="0"/>
          </a:p>
        </p:txBody>
      </p:sp>
      <p:sp>
        <p:nvSpPr>
          <p:cNvPr id="11" name="Shape 9"/>
          <p:cNvSpPr/>
          <p:nvPr/>
        </p:nvSpPr>
        <p:spPr>
          <a:xfrm>
            <a:off x="7059743" y="3838927"/>
            <a:ext cx="244024" cy="0"/>
          </a:xfrm>
          <a:prstGeom prst="line">
            <a:avLst/>
          </a:prstGeom>
          <a:noFill/>
          <a:ln w="22860">
            <a:solidFill>
              <a:srgbClr val="009E73"/>
            </a:solidFill>
            <a:prstDash val="solid"/>
            <a:tailEnd type="triangle"/>
          </a:ln>
        </p:spPr>
      </p:sp>
      <p:sp>
        <p:nvSpPr>
          <p:cNvPr id="12" name="Text 10"/>
          <p:cNvSpPr txBox="1"/>
          <p:nvPr/>
        </p:nvSpPr>
        <p:spPr>
          <a:xfrm>
            <a:off x="6381051" y="2665782"/>
            <a:ext cx="1601408" cy="212301"/>
          </a:xfrm>
          <a:prstGeom prst="rect">
            <a:avLst/>
          </a:prstGeom>
          <a:noFill/>
          <a:ln/>
        </p:spPr>
        <p:txBody>
          <a:bodyPr wrap="square" lIns="0" tIns="0" rIns="0" bIns="0" rtlCol="0" anchor="ctr"/>
          <a:lstStyle/>
          <a:p>
            <a:pPr algn="ctr" indent="0" marL="0">
              <a:lnSpc>
                <a:spcPct val="116000"/>
              </a:lnSpc>
              <a:buNone/>
            </a:pPr>
            <a:r>
              <a:rPr lang="en-US" sz="1441" dirty="0">
                <a:solidFill>
                  <a:srgbClr val="0072B2"/>
                </a:solidFill>
                <a:latin typeface="Arial" pitchFamily="34" charset="0"/>
                <a:ea typeface="Arial" pitchFamily="34" charset="-122"/>
                <a:cs typeface="Arial" pitchFamily="34" charset="-120"/>
              </a:rPr>
              <a:t>result tables</a:t>
            </a:r>
            <a:endParaRPr lang="en-US" sz="1441" dirty="0"/>
          </a:p>
        </p:txBody>
      </p:sp>
      <p:sp>
        <p:nvSpPr>
          <p:cNvPr id="13" name="Shape 11"/>
          <p:cNvSpPr/>
          <p:nvPr/>
        </p:nvSpPr>
        <p:spPr>
          <a:xfrm>
            <a:off x="9231556" y="3838927"/>
            <a:ext cx="244024" cy="0"/>
          </a:xfrm>
          <a:prstGeom prst="line">
            <a:avLst/>
          </a:prstGeom>
          <a:noFill/>
          <a:ln w="22860">
            <a:solidFill>
              <a:srgbClr val="009E73"/>
            </a:solidFill>
            <a:prstDash val="solid"/>
            <a:tailEnd type="triangle"/>
          </a:ln>
        </p:spPr>
      </p:sp>
      <p:sp>
        <p:nvSpPr>
          <p:cNvPr id="14" name="Text 12"/>
          <p:cNvSpPr txBox="1"/>
          <p:nvPr/>
        </p:nvSpPr>
        <p:spPr>
          <a:xfrm>
            <a:off x="8552865" y="2665782"/>
            <a:ext cx="1601408" cy="212301"/>
          </a:xfrm>
          <a:prstGeom prst="rect">
            <a:avLst/>
          </a:prstGeom>
          <a:noFill/>
          <a:ln/>
        </p:spPr>
        <p:txBody>
          <a:bodyPr wrap="square" lIns="0" tIns="0" rIns="0" bIns="0" rtlCol="0" anchor="ctr"/>
          <a:lstStyle/>
          <a:p>
            <a:pPr algn="ctr" indent="0" marL="0">
              <a:lnSpc>
                <a:spcPct val="116000"/>
              </a:lnSpc>
              <a:buNone/>
            </a:pPr>
            <a:r>
              <a:rPr lang="en-US" sz="1441" dirty="0">
                <a:solidFill>
                  <a:srgbClr val="0072B2"/>
                </a:solidFill>
                <a:latin typeface="Arial" pitchFamily="34" charset="0"/>
                <a:ea typeface="Arial" pitchFamily="34" charset="-122"/>
                <a:cs typeface="Arial" pitchFamily="34" charset="-120"/>
              </a:rPr>
              <a:t>chosen prompt</a:t>
            </a:r>
            <a:endParaRPr lang="en-US" sz="1441" dirty="0"/>
          </a:p>
        </p:txBody>
      </p:sp>
      <p:sp>
        <p:nvSpPr>
          <p:cNvPr id="15" name="Shape 13"/>
          <p:cNvSpPr/>
          <p:nvPr/>
        </p:nvSpPr>
        <p:spPr>
          <a:xfrm flipV="1">
            <a:off x="8267661" y="2191765"/>
            <a:ext cx="0" cy="747324"/>
          </a:xfrm>
          <a:prstGeom prst="line">
            <a:avLst/>
          </a:prstGeom>
          <a:noFill/>
          <a:ln w="22860">
            <a:solidFill>
              <a:srgbClr val="D55E00"/>
            </a:solidFill>
            <a:prstDash val="dash"/>
          </a:ln>
        </p:spPr>
      </p:sp>
      <p:sp>
        <p:nvSpPr>
          <p:cNvPr id="16" name="Shape 14"/>
          <p:cNvSpPr/>
          <p:nvPr/>
        </p:nvSpPr>
        <p:spPr>
          <a:xfrm flipH="1">
            <a:off x="3924034" y="2191765"/>
            <a:ext cx="4343628" cy="0"/>
          </a:xfrm>
          <a:prstGeom prst="line">
            <a:avLst/>
          </a:prstGeom>
          <a:noFill/>
          <a:ln w="22860">
            <a:solidFill>
              <a:srgbClr val="D55E00"/>
            </a:solidFill>
            <a:prstDash val="dash"/>
          </a:ln>
        </p:spPr>
      </p:sp>
      <p:sp>
        <p:nvSpPr>
          <p:cNvPr id="17" name="Shape 15"/>
          <p:cNvSpPr/>
          <p:nvPr/>
        </p:nvSpPr>
        <p:spPr>
          <a:xfrm>
            <a:off x="3924034" y="2191765"/>
            <a:ext cx="0" cy="747324"/>
          </a:xfrm>
          <a:prstGeom prst="line">
            <a:avLst/>
          </a:prstGeom>
          <a:noFill/>
          <a:ln w="22860">
            <a:solidFill>
              <a:srgbClr val="D55E00"/>
            </a:solidFill>
            <a:prstDash val="dash"/>
            <a:tailEnd type="triangle"/>
          </a:ln>
        </p:spPr>
      </p:sp>
      <p:sp>
        <p:nvSpPr>
          <p:cNvPr id="18" name="Text 16"/>
          <p:cNvSpPr txBox="1"/>
          <p:nvPr/>
        </p:nvSpPr>
        <p:spPr>
          <a:xfrm>
            <a:off x="3238860" y="1917238"/>
            <a:ext cx="5713976" cy="228773"/>
          </a:xfrm>
          <a:prstGeom prst="rect">
            <a:avLst/>
          </a:prstGeom>
          <a:noFill/>
          <a:ln/>
        </p:spPr>
        <p:txBody>
          <a:bodyPr wrap="square" lIns="0" tIns="0" rIns="0" bIns="0" rtlCol="0" anchor="ctr"/>
          <a:lstStyle/>
          <a:p>
            <a:pPr algn="ctr" indent="0" marL="0">
              <a:lnSpc>
                <a:spcPct val="116000"/>
              </a:lnSpc>
              <a:buNone/>
            </a:pPr>
            <a:r>
              <a:rPr lang="en-US" sz="1441" dirty="0">
                <a:solidFill>
                  <a:srgbClr val="A64200"/>
                </a:solidFill>
                <a:latin typeface="Arial" pitchFamily="34" charset="0"/>
                <a:ea typeface="Arial" pitchFamily="34" charset="-122"/>
                <a:cs typeface="Arial" pitchFamily="34" charset="-120"/>
              </a:rPr>
              <a:t>Revise prompts from development errors; model weights stay fixed.</a:t>
            </a:r>
            <a:endParaRPr lang="en-US" sz="1441" dirty="0"/>
          </a:p>
        </p:txBody>
      </p:sp>
      <p:sp>
        <p:nvSpPr>
          <p:cNvPr id="19" name="Shape 17"/>
          <p:cNvSpPr/>
          <p:nvPr/>
        </p:nvSpPr>
        <p:spPr>
          <a:xfrm>
            <a:off x="788325" y="2939089"/>
            <a:ext cx="1927790" cy="1799677"/>
          </a:xfrm>
          <a:prstGeom prst="roundRect">
            <a:avLst>
              <a:gd name="adj" fmla="val 4065"/>
            </a:avLst>
          </a:prstGeom>
          <a:solidFill>
            <a:srgbClr val="E4F2FB"/>
          </a:solidFill>
          <a:ln w="15240">
            <a:solidFill>
              <a:srgbClr val="0072B2"/>
            </a:solidFill>
            <a:prstDash val="solid"/>
          </a:ln>
        </p:spPr>
      </p:sp>
      <p:sp>
        <p:nvSpPr>
          <p:cNvPr id="20" name="Text 18"/>
          <p:cNvSpPr txBox="1"/>
          <p:nvPr/>
        </p:nvSpPr>
        <p:spPr>
          <a:xfrm>
            <a:off x="849331" y="3221851"/>
            <a:ext cx="1805778" cy="229993"/>
          </a:xfrm>
          <a:prstGeom prst="rect">
            <a:avLst/>
          </a:prstGeom>
          <a:noFill/>
          <a:ln/>
        </p:spPr>
        <p:txBody>
          <a:bodyPr wrap="square" lIns="0" tIns="0" rIns="0" bIns="0" rtlCol="0" anchor="ctr"/>
          <a:lstStyle/>
          <a:p>
            <a:pPr algn="ctr" indent="0" marL="0">
              <a:lnSpc>
                <a:spcPct val="116000"/>
              </a:lnSpc>
              <a:buNone/>
            </a:pPr>
            <a:r>
              <a:rPr lang="en-US" sz="1561" b="1" dirty="0">
                <a:solidFill>
                  <a:srgbClr val="1E1B4B"/>
                </a:solidFill>
                <a:latin typeface="Arial" pitchFamily="34" charset="0"/>
                <a:ea typeface="Arial" pitchFamily="34" charset="-122"/>
                <a:cs typeface="Arial" pitchFamily="34" charset="-120"/>
              </a:rPr>
              <a:t>Choose</a:t>
            </a:r>
            <a:endParaRPr lang="en-US" sz="1561" dirty="0"/>
          </a:p>
        </p:txBody>
      </p:sp>
      <p:sp>
        <p:nvSpPr>
          <p:cNvPr id="21" name="Text 19"/>
          <p:cNvSpPr txBox="1"/>
          <p:nvPr/>
        </p:nvSpPr>
        <p:spPr>
          <a:xfrm>
            <a:off x="849331" y="3451844"/>
            <a:ext cx="1805778" cy="229993"/>
          </a:xfrm>
          <a:prstGeom prst="rect">
            <a:avLst/>
          </a:prstGeom>
          <a:noFill/>
          <a:ln/>
        </p:spPr>
        <p:txBody>
          <a:bodyPr wrap="square" lIns="0" tIns="0" rIns="0" bIns="0" rtlCol="0" anchor="ctr"/>
          <a:lstStyle/>
          <a:p>
            <a:pPr algn="ctr" indent="0" marL="0">
              <a:lnSpc>
                <a:spcPct val="116000"/>
              </a:lnSpc>
              <a:buNone/>
            </a:pPr>
            <a:r>
              <a:rPr lang="en-US" sz="1561" b="1" dirty="0">
                <a:solidFill>
                  <a:srgbClr val="1E1B4B"/>
                </a:solidFill>
                <a:latin typeface="Arial" pitchFamily="34" charset="0"/>
                <a:ea typeface="Arial" pitchFamily="34" charset="-122"/>
                <a:cs typeface="Arial" pitchFamily="34" charset="-120"/>
              </a:rPr>
              <a:t>development set</a:t>
            </a:r>
            <a:endParaRPr lang="en-US" sz="1561" dirty="0"/>
          </a:p>
        </p:txBody>
      </p:sp>
      <p:sp>
        <p:nvSpPr>
          <p:cNvPr id="22" name="Text 20"/>
          <p:cNvSpPr txBox="1"/>
          <p:nvPr/>
        </p:nvSpPr>
        <p:spPr>
          <a:xfrm>
            <a:off x="849331" y="3758094"/>
            <a:ext cx="1805778" cy="212301"/>
          </a:xfrm>
          <a:prstGeom prst="rect">
            <a:avLst/>
          </a:prstGeom>
          <a:noFill/>
          <a:ln/>
        </p:spPr>
        <p:txBody>
          <a:bodyPr wrap="square" lIns="0" tIns="0" rIns="0" bIns="0" rtlCol="0" anchor="ctr"/>
          <a:lstStyle/>
          <a:p>
            <a:pPr algn="ctr" indent="0" marL="0">
              <a:lnSpc>
                <a:spcPct val="116000"/>
              </a:lnSpc>
              <a:buNone/>
            </a:pPr>
            <a:r>
              <a:rPr lang="en-US" sz="1441" dirty="0">
                <a:solidFill>
                  <a:srgbClr val="1F2937"/>
                </a:solidFill>
                <a:latin typeface="Arial" pitchFamily="34" charset="0"/>
                <a:ea typeface="Arial" pitchFamily="34" charset="-122"/>
                <a:cs typeface="Arial" pitchFamily="34" charset="-120"/>
              </a:rPr>
              <a:t>Inputs with known</a:t>
            </a:r>
            <a:endParaRPr lang="en-US" sz="1441" dirty="0"/>
          </a:p>
        </p:txBody>
      </p:sp>
      <p:sp>
        <p:nvSpPr>
          <p:cNvPr id="23" name="Text 21"/>
          <p:cNvSpPr txBox="1"/>
          <p:nvPr/>
        </p:nvSpPr>
        <p:spPr>
          <a:xfrm>
            <a:off x="849331" y="3970395"/>
            <a:ext cx="1805778" cy="212301"/>
          </a:xfrm>
          <a:prstGeom prst="rect">
            <a:avLst/>
          </a:prstGeom>
          <a:noFill/>
          <a:ln/>
        </p:spPr>
        <p:txBody>
          <a:bodyPr wrap="square" lIns="0" tIns="0" rIns="0" bIns="0" rtlCol="0" anchor="ctr"/>
          <a:lstStyle/>
          <a:p>
            <a:pPr algn="ctr" indent="0" marL="0">
              <a:lnSpc>
                <a:spcPct val="116000"/>
              </a:lnSpc>
              <a:buNone/>
            </a:pPr>
            <a:r>
              <a:rPr lang="en-US" sz="1441" dirty="0">
                <a:solidFill>
                  <a:srgbClr val="1F2937"/>
                </a:solidFill>
                <a:latin typeface="Arial" pitchFamily="34" charset="0"/>
                <a:ea typeface="Arial" pitchFamily="34" charset="-122"/>
                <a:cs typeface="Arial" pitchFamily="34" charset="-120"/>
              </a:rPr>
              <a:t>answers</a:t>
            </a:r>
            <a:endParaRPr lang="en-US" sz="1441" dirty="0"/>
          </a:p>
        </p:txBody>
      </p:sp>
      <p:sp>
        <p:nvSpPr>
          <p:cNvPr id="24" name="Text 22"/>
          <p:cNvSpPr txBox="1"/>
          <p:nvPr/>
        </p:nvSpPr>
        <p:spPr>
          <a:xfrm>
            <a:off x="811202" y="4243702"/>
            <a:ext cx="1882035" cy="212301"/>
          </a:xfrm>
          <a:prstGeom prst="rect">
            <a:avLst/>
          </a:prstGeom>
          <a:noFill/>
          <a:ln/>
        </p:spPr>
        <p:txBody>
          <a:bodyPr wrap="square" lIns="0" tIns="0" rIns="0" bIns="0" rtlCol="0" anchor="ctr"/>
          <a:lstStyle/>
          <a:p>
            <a:pPr algn="ctr" indent="0" marL="0">
              <a:lnSpc>
                <a:spcPct val="116000"/>
              </a:lnSpc>
              <a:buNone/>
            </a:pPr>
            <a:r>
              <a:rPr lang="en-US" sz="1441" dirty="0">
                <a:solidFill>
                  <a:srgbClr val="0F766E"/>
                </a:solidFill>
                <a:latin typeface="Arial" pitchFamily="34" charset="0"/>
                <a:ea typeface="Arial" pitchFamily="34" charset="-122"/>
                <a:cs typeface="Arial" pitchFamily="34" charset="-120"/>
              </a:rPr>
              <a:t>ticket_ds</a:t>
            </a:r>
            <a:endParaRPr lang="en-US" sz="1441" dirty="0"/>
          </a:p>
        </p:txBody>
      </p:sp>
      <p:sp>
        <p:nvSpPr>
          <p:cNvPr id="25" name="Shape 23"/>
          <p:cNvSpPr/>
          <p:nvPr/>
        </p:nvSpPr>
        <p:spPr>
          <a:xfrm>
            <a:off x="2960139" y="2939089"/>
            <a:ext cx="1927790" cy="1799677"/>
          </a:xfrm>
          <a:prstGeom prst="rect">
            <a:avLst/>
          </a:prstGeom>
          <a:solidFill>
            <a:srgbClr val="F2F4F5"/>
          </a:solidFill>
          <a:ln w="15240">
            <a:solidFill>
              <a:srgbClr val="626B73"/>
            </a:solidFill>
            <a:prstDash val="solid"/>
          </a:ln>
        </p:spPr>
      </p:sp>
      <p:sp>
        <p:nvSpPr>
          <p:cNvPr id="26" name="Text 24"/>
          <p:cNvSpPr txBox="1"/>
          <p:nvPr/>
        </p:nvSpPr>
        <p:spPr>
          <a:xfrm>
            <a:off x="3021145" y="3336848"/>
            <a:ext cx="1805778" cy="229993"/>
          </a:xfrm>
          <a:prstGeom prst="rect">
            <a:avLst/>
          </a:prstGeom>
          <a:noFill/>
          <a:ln/>
        </p:spPr>
        <p:txBody>
          <a:bodyPr wrap="square" lIns="0" tIns="0" rIns="0" bIns="0" rtlCol="0" anchor="ctr"/>
          <a:lstStyle/>
          <a:p>
            <a:pPr algn="ctr" indent="0" marL="0">
              <a:lnSpc>
                <a:spcPct val="116000"/>
              </a:lnSpc>
              <a:buNone/>
            </a:pPr>
            <a:r>
              <a:rPr lang="en-US" sz="1561" b="1" dirty="0">
                <a:solidFill>
                  <a:srgbClr val="1E1B4B"/>
                </a:solidFill>
                <a:latin typeface="Arial" pitchFamily="34" charset="0"/>
                <a:ea typeface="Arial" pitchFamily="34" charset="-122"/>
                <a:cs typeface="Arial" pitchFamily="34" charset="-120"/>
              </a:rPr>
              <a:t>Write two prompts</a:t>
            </a:r>
            <a:endParaRPr lang="en-US" sz="1561" dirty="0"/>
          </a:p>
        </p:txBody>
      </p:sp>
      <p:sp>
        <p:nvSpPr>
          <p:cNvPr id="27" name="Text 25"/>
          <p:cNvSpPr txBox="1"/>
          <p:nvPr/>
        </p:nvSpPr>
        <p:spPr>
          <a:xfrm>
            <a:off x="3021145" y="3643098"/>
            <a:ext cx="1805778" cy="212301"/>
          </a:xfrm>
          <a:prstGeom prst="rect">
            <a:avLst/>
          </a:prstGeom>
          <a:noFill/>
          <a:ln/>
        </p:spPr>
        <p:txBody>
          <a:bodyPr wrap="square" lIns="0" tIns="0" rIns="0" bIns="0" rtlCol="0" anchor="ctr"/>
          <a:lstStyle/>
          <a:p>
            <a:pPr algn="ctr" indent="0" marL="0">
              <a:lnSpc>
                <a:spcPct val="116000"/>
              </a:lnSpc>
              <a:buNone/>
            </a:pPr>
            <a:r>
              <a:rPr lang="en-US" sz="1441" dirty="0">
                <a:solidFill>
                  <a:srgbClr val="1F2937"/>
                </a:solidFill>
                <a:latin typeface="Arial" pitchFamily="34" charset="0"/>
                <a:ea typeface="Arial" pitchFamily="34" charset="-122"/>
                <a:cs typeface="Arial" pitchFamily="34" charset="-120"/>
              </a:rPr>
              <a:t>Hold model and</a:t>
            </a:r>
            <a:endParaRPr lang="en-US" sz="1441" dirty="0"/>
          </a:p>
        </p:txBody>
      </p:sp>
      <p:sp>
        <p:nvSpPr>
          <p:cNvPr id="28" name="Text 26"/>
          <p:cNvSpPr txBox="1"/>
          <p:nvPr/>
        </p:nvSpPr>
        <p:spPr>
          <a:xfrm>
            <a:off x="3021145" y="3855399"/>
            <a:ext cx="1805778" cy="212301"/>
          </a:xfrm>
          <a:prstGeom prst="rect">
            <a:avLst/>
          </a:prstGeom>
          <a:noFill/>
          <a:ln/>
        </p:spPr>
        <p:txBody>
          <a:bodyPr wrap="square" lIns="0" tIns="0" rIns="0" bIns="0" rtlCol="0" anchor="ctr"/>
          <a:lstStyle/>
          <a:p>
            <a:pPr algn="ctr" indent="0" marL="0">
              <a:lnSpc>
                <a:spcPct val="116000"/>
              </a:lnSpc>
              <a:buNone/>
            </a:pPr>
            <a:r>
              <a:rPr lang="en-US" sz="1441" dirty="0">
                <a:solidFill>
                  <a:srgbClr val="1F2937"/>
                </a:solidFill>
                <a:latin typeface="Arial" pitchFamily="34" charset="0"/>
                <a:ea typeface="Arial" pitchFamily="34" charset="-122"/>
                <a:cs typeface="Arial" pitchFamily="34" charset="-120"/>
              </a:rPr>
              <a:t>settings fixed</a:t>
            </a:r>
            <a:endParaRPr lang="en-US" sz="1441" dirty="0"/>
          </a:p>
        </p:txBody>
      </p:sp>
      <p:sp>
        <p:nvSpPr>
          <p:cNvPr id="29" name="Text 27"/>
          <p:cNvSpPr txBox="1"/>
          <p:nvPr/>
        </p:nvSpPr>
        <p:spPr>
          <a:xfrm>
            <a:off x="2983016" y="4128706"/>
            <a:ext cx="1882035" cy="212301"/>
          </a:xfrm>
          <a:prstGeom prst="rect">
            <a:avLst/>
          </a:prstGeom>
          <a:noFill/>
          <a:ln/>
        </p:spPr>
        <p:txBody>
          <a:bodyPr wrap="square" lIns="0" tIns="0" rIns="0" bIns="0" rtlCol="0" anchor="ctr"/>
          <a:lstStyle/>
          <a:p>
            <a:pPr algn="ctr" indent="0" marL="0">
              <a:lnSpc>
                <a:spcPct val="116000"/>
              </a:lnSpc>
              <a:buNone/>
            </a:pPr>
            <a:r>
              <a:rPr lang="en-US" sz="1441" dirty="0">
                <a:solidFill>
                  <a:srgbClr val="0F766E"/>
                </a:solidFill>
                <a:latin typeface="Arial" pitchFamily="34" charset="0"/>
                <a:ea typeface="Arial" pitchFamily="34" charset="-122"/>
                <a:cs typeface="Arial" pitchFamily="34" charset="-120"/>
              </a:rPr>
              <a:t>few_shot</a:t>
            </a:r>
            <a:endParaRPr lang="en-US" sz="1441" dirty="0"/>
          </a:p>
        </p:txBody>
      </p:sp>
      <p:sp>
        <p:nvSpPr>
          <p:cNvPr id="30" name="Shape 28"/>
          <p:cNvSpPr/>
          <p:nvPr/>
        </p:nvSpPr>
        <p:spPr>
          <a:xfrm>
            <a:off x="5131953" y="2939089"/>
            <a:ext cx="1927790" cy="1799677"/>
          </a:xfrm>
          <a:prstGeom prst="rect">
            <a:avLst/>
          </a:prstGeom>
          <a:solidFill>
            <a:srgbClr val="E5F7EF"/>
          </a:solidFill>
          <a:ln w="15240">
            <a:solidFill>
              <a:srgbClr val="009E73"/>
            </a:solidFill>
            <a:prstDash val="solid"/>
          </a:ln>
        </p:spPr>
      </p:sp>
      <p:sp>
        <p:nvSpPr>
          <p:cNvPr id="31" name="Text 29"/>
          <p:cNvSpPr txBox="1"/>
          <p:nvPr/>
        </p:nvSpPr>
        <p:spPr>
          <a:xfrm>
            <a:off x="5192959" y="3336848"/>
            <a:ext cx="1805778" cy="229993"/>
          </a:xfrm>
          <a:prstGeom prst="rect">
            <a:avLst/>
          </a:prstGeom>
          <a:noFill/>
          <a:ln/>
        </p:spPr>
        <p:txBody>
          <a:bodyPr wrap="square" lIns="0" tIns="0" rIns="0" bIns="0" rtlCol="0" anchor="ctr"/>
          <a:lstStyle/>
          <a:p>
            <a:pPr algn="ctr" indent="0" marL="0">
              <a:lnSpc>
                <a:spcPct val="116000"/>
              </a:lnSpc>
              <a:buNone/>
            </a:pPr>
            <a:r>
              <a:rPr lang="en-US" sz="1561" b="1" dirty="0">
                <a:solidFill>
                  <a:srgbClr val="1E1B4B"/>
                </a:solidFill>
                <a:latin typeface="Arial" pitchFamily="34" charset="0"/>
                <a:ea typeface="Arial" pitchFamily="34" charset="-122"/>
                <a:cs typeface="Arial" pitchFamily="34" charset="-120"/>
              </a:rPr>
              <a:t>Run both versions</a:t>
            </a:r>
            <a:endParaRPr lang="en-US" sz="1561" dirty="0"/>
          </a:p>
        </p:txBody>
      </p:sp>
      <p:sp>
        <p:nvSpPr>
          <p:cNvPr id="32" name="Text 30"/>
          <p:cNvSpPr txBox="1"/>
          <p:nvPr/>
        </p:nvSpPr>
        <p:spPr>
          <a:xfrm>
            <a:off x="5192959" y="3643098"/>
            <a:ext cx="1805778" cy="212301"/>
          </a:xfrm>
          <a:prstGeom prst="rect">
            <a:avLst/>
          </a:prstGeom>
          <a:noFill/>
          <a:ln/>
        </p:spPr>
        <p:txBody>
          <a:bodyPr wrap="square" lIns="0" tIns="0" rIns="0" bIns="0" rtlCol="0" anchor="ctr"/>
          <a:lstStyle/>
          <a:p>
            <a:pPr algn="ctr" indent="0" marL="0">
              <a:lnSpc>
                <a:spcPct val="116000"/>
              </a:lnSpc>
              <a:buNone/>
            </a:pPr>
            <a:r>
              <a:rPr lang="en-US" sz="1441" dirty="0">
                <a:solidFill>
                  <a:srgbClr val="1F2937"/>
                </a:solidFill>
                <a:latin typeface="Arial" pitchFamily="34" charset="0"/>
                <a:ea typeface="Arial" pitchFamily="34" charset="-122"/>
                <a:cs typeface="Arial" pitchFamily="34" charset="-120"/>
              </a:rPr>
              <a:t>Record answers and</a:t>
            </a:r>
            <a:endParaRPr lang="en-US" sz="1441" dirty="0"/>
          </a:p>
        </p:txBody>
      </p:sp>
      <p:sp>
        <p:nvSpPr>
          <p:cNvPr id="33" name="Text 31"/>
          <p:cNvSpPr txBox="1"/>
          <p:nvPr/>
        </p:nvSpPr>
        <p:spPr>
          <a:xfrm>
            <a:off x="5192959" y="3855399"/>
            <a:ext cx="1805778" cy="212301"/>
          </a:xfrm>
          <a:prstGeom prst="rect">
            <a:avLst/>
          </a:prstGeom>
          <a:noFill/>
          <a:ln/>
        </p:spPr>
        <p:txBody>
          <a:bodyPr wrap="square" lIns="0" tIns="0" rIns="0" bIns="0" rtlCol="0" anchor="ctr"/>
          <a:lstStyle/>
          <a:p>
            <a:pPr algn="ctr" indent="0" marL="0">
              <a:lnSpc>
                <a:spcPct val="116000"/>
              </a:lnSpc>
              <a:buNone/>
            </a:pPr>
            <a:r>
              <a:rPr lang="en-US" sz="1441" dirty="0">
                <a:solidFill>
                  <a:srgbClr val="1F2937"/>
                </a:solidFill>
                <a:latin typeface="Arial" pitchFamily="34" charset="0"/>
                <a:ea typeface="Arial" pitchFamily="34" charset="-122"/>
                <a:cs typeface="Arial" pitchFamily="34" charset="-120"/>
              </a:rPr>
              <a:t>costs</a:t>
            </a:r>
            <a:endParaRPr lang="en-US" sz="1441" dirty="0"/>
          </a:p>
        </p:txBody>
      </p:sp>
      <p:sp>
        <p:nvSpPr>
          <p:cNvPr id="34" name="Text 32"/>
          <p:cNvSpPr txBox="1"/>
          <p:nvPr/>
        </p:nvSpPr>
        <p:spPr>
          <a:xfrm>
            <a:off x="5154830" y="4128706"/>
            <a:ext cx="1882035" cy="212301"/>
          </a:xfrm>
          <a:prstGeom prst="rect">
            <a:avLst/>
          </a:prstGeom>
          <a:noFill/>
          <a:ln/>
        </p:spPr>
        <p:txBody>
          <a:bodyPr wrap="square" lIns="0" tIns="0" rIns="0" bIns="0" rtlCol="0" anchor="ctr"/>
          <a:lstStyle/>
          <a:p>
            <a:pPr algn="ctr" indent="0" marL="0">
              <a:lnSpc>
                <a:spcPct val="116000"/>
              </a:lnSpc>
              <a:buNone/>
            </a:pPr>
            <a:r>
              <a:rPr lang="en-US" sz="1441" dirty="0">
                <a:solidFill>
                  <a:srgbClr val="0F766E"/>
                </a:solidFill>
                <a:latin typeface="Arial" pitchFamily="34" charset="0"/>
                <a:ea typeface="Arial" pitchFamily="34" charset="-122"/>
                <a:cs typeface="Arial" pitchFamily="34" charset="-120"/>
              </a:rPr>
              <a:t>evaluate</a:t>
            </a:r>
            <a:endParaRPr lang="en-US" sz="1441" dirty="0"/>
          </a:p>
        </p:txBody>
      </p:sp>
      <p:sp>
        <p:nvSpPr>
          <p:cNvPr id="35" name="Shape 33"/>
          <p:cNvSpPr/>
          <p:nvPr/>
        </p:nvSpPr>
        <p:spPr>
          <a:xfrm>
            <a:off x="7303767" y="2939089"/>
            <a:ext cx="1927790" cy="1799677"/>
          </a:xfrm>
          <a:prstGeom prst="roundRect">
            <a:avLst>
              <a:gd name="adj" fmla="val 4065"/>
            </a:avLst>
          </a:prstGeom>
          <a:solidFill>
            <a:srgbClr val="FFF0E6"/>
          </a:solidFill>
          <a:ln w="15240">
            <a:solidFill>
              <a:srgbClr val="D55E00"/>
            </a:solidFill>
            <a:prstDash val="solid"/>
          </a:ln>
        </p:spPr>
      </p:sp>
      <p:sp>
        <p:nvSpPr>
          <p:cNvPr id="36" name="Text 34"/>
          <p:cNvSpPr txBox="1"/>
          <p:nvPr/>
        </p:nvSpPr>
        <p:spPr>
          <a:xfrm>
            <a:off x="7364773" y="3221851"/>
            <a:ext cx="1805778" cy="229993"/>
          </a:xfrm>
          <a:prstGeom prst="rect">
            <a:avLst/>
          </a:prstGeom>
          <a:noFill/>
          <a:ln/>
        </p:spPr>
        <p:txBody>
          <a:bodyPr wrap="square" lIns="0" tIns="0" rIns="0" bIns="0" rtlCol="0" anchor="ctr"/>
          <a:lstStyle/>
          <a:p>
            <a:pPr algn="ctr" indent="0" marL="0">
              <a:lnSpc>
                <a:spcPct val="116000"/>
              </a:lnSpc>
              <a:buNone/>
            </a:pPr>
            <a:r>
              <a:rPr lang="en-US" sz="1561" b="1" dirty="0">
                <a:solidFill>
                  <a:srgbClr val="1E1B4B"/>
                </a:solidFill>
                <a:latin typeface="Arial" pitchFamily="34" charset="0"/>
                <a:ea typeface="Arial" pitchFamily="34" charset="-122"/>
                <a:cs typeface="Arial" pitchFamily="34" charset="-120"/>
              </a:rPr>
              <a:t>Inspect</a:t>
            </a:r>
            <a:endParaRPr lang="en-US" sz="1561" dirty="0"/>
          </a:p>
        </p:txBody>
      </p:sp>
      <p:sp>
        <p:nvSpPr>
          <p:cNvPr id="37" name="Text 35"/>
          <p:cNvSpPr txBox="1"/>
          <p:nvPr/>
        </p:nvSpPr>
        <p:spPr>
          <a:xfrm>
            <a:off x="7364773" y="3451844"/>
            <a:ext cx="1805778" cy="229993"/>
          </a:xfrm>
          <a:prstGeom prst="rect">
            <a:avLst/>
          </a:prstGeom>
          <a:noFill/>
          <a:ln/>
        </p:spPr>
        <p:txBody>
          <a:bodyPr wrap="square" lIns="0" tIns="0" rIns="0" bIns="0" rtlCol="0" anchor="ctr"/>
          <a:lstStyle/>
          <a:p>
            <a:pPr algn="ctr" indent="0" marL="0">
              <a:lnSpc>
                <a:spcPct val="116000"/>
              </a:lnSpc>
              <a:buNone/>
            </a:pPr>
            <a:r>
              <a:rPr lang="en-US" sz="1561" b="1" dirty="0">
                <a:solidFill>
                  <a:srgbClr val="1E1B4B"/>
                </a:solidFill>
                <a:latin typeface="Arial" pitchFamily="34" charset="0"/>
                <a:ea typeface="Arial" pitchFamily="34" charset="-122"/>
                <a:cs typeface="Arial" pitchFamily="34" charset="-120"/>
              </a:rPr>
              <a:t>differences</a:t>
            </a:r>
            <a:endParaRPr lang="en-US" sz="1561" dirty="0"/>
          </a:p>
        </p:txBody>
      </p:sp>
      <p:sp>
        <p:nvSpPr>
          <p:cNvPr id="38" name="Text 36"/>
          <p:cNvSpPr txBox="1"/>
          <p:nvPr/>
        </p:nvSpPr>
        <p:spPr>
          <a:xfrm>
            <a:off x="7364773" y="3758094"/>
            <a:ext cx="1805778" cy="212301"/>
          </a:xfrm>
          <a:prstGeom prst="rect">
            <a:avLst/>
          </a:prstGeom>
          <a:noFill/>
          <a:ln/>
        </p:spPr>
        <p:txBody>
          <a:bodyPr wrap="square" lIns="0" tIns="0" rIns="0" bIns="0" rtlCol="0" anchor="ctr"/>
          <a:lstStyle/>
          <a:p>
            <a:pPr algn="ctr" indent="0" marL="0">
              <a:lnSpc>
                <a:spcPct val="116000"/>
              </a:lnSpc>
              <a:buNone/>
            </a:pPr>
            <a:r>
              <a:rPr lang="en-US" sz="1441" dirty="0">
                <a:solidFill>
                  <a:srgbClr val="1F2937"/>
                </a:solidFill>
                <a:latin typeface="Arial" pitchFamily="34" charset="0"/>
                <a:ea typeface="Arial" pitchFamily="34" charset="-122"/>
                <a:cs typeface="Arial" pitchFamily="34" charset="-120"/>
              </a:rPr>
              <a:t>Wrong labels and</a:t>
            </a:r>
            <a:endParaRPr lang="en-US" sz="1441" dirty="0"/>
          </a:p>
        </p:txBody>
      </p:sp>
      <p:sp>
        <p:nvSpPr>
          <p:cNvPr id="39" name="Text 37"/>
          <p:cNvSpPr txBox="1"/>
          <p:nvPr/>
        </p:nvSpPr>
        <p:spPr>
          <a:xfrm>
            <a:off x="7364773" y="3970395"/>
            <a:ext cx="1805778" cy="212301"/>
          </a:xfrm>
          <a:prstGeom prst="rect">
            <a:avLst/>
          </a:prstGeom>
          <a:noFill/>
          <a:ln/>
        </p:spPr>
        <p:txBody>
          <a:bodyPr wrap="square" lIns="0" tIns="0" rIns="0" bIns="0" rtlCol="0" anchor="ctr"/>
          <a:lstStyle/>
          <a:p>
            <a:pPr algn="ctr" indent="0" marL="0">
              <a:lnSpc>
                <a:spcPct val="116000"/>
              </a:lnSpc>
              <a:buNone/>
            </a:pPr>
            <a:r>
              <a:rPr lang="en-US" sz="1441" dirty="0">
                <a:solidFill>
                  <a:srgbClr val="1F2937"/>
                </a:solidFill>
                <a:latin typeface="Arial" pitchFamily="34" charset="0"/>
                <a:ea typeface="Arial" pitchFamily="34" charset="-122"/>
                <a:cs typeface="Arial" pitchFamily="34" charset="-120"/>
              </a:rPr>
              <a:t>parse failures</a:t>
            </a:r>
            <a:endParaRPr lang="en-US" sz="1441" dirty="0"/>
          </a:p>
        </p:txBody>
      </p:sp>
      <p:sp>
        <p:nvSpPr>
          <p:cNvPr id="40" name="Text 38"/>
          <p:cNvSpPr txBox="1"/>
          <p:nvPr/>
        </p:nvSpPr>
        <p:spPr>
          <a:xfrm>
            <a:off x="7326644" y="4243702"/>
            <a:ext cx="1882035" cy="212301"/>
          </a:xfrm>
          <a:prstGeom prst="rect">
            <a:avLst/>
          </a:prstGeom>
          <a:noFill/>
          <a:ln/>
        </p:spPr>
        <p:txBody>
          <a:bodyPr wrap="square" lIns="0" tIns="0" rIns="0" bIns="0" rtlCol="0" anchor="ctr"/>
          <a:lstStyle/>
          <a:p>
            <a:pPr algn="ctr" indent="0" marL="0">
              <a:lnSpc>
                <a:spcPct val="116000"/>
              </a:lnSpc>
              <a:buNone/>
            </a:pPr>
            <a:r>
              <a:rPr lang="en-US" sz="1441" dirty="0">
                <a:solidFill>
                  <a:srgbClr val="0F766E"/>
                </a:solidFill>
                <a:latin typeface="Arial" pitchFamily="34" charset="0"/>
                <a:ea typeface="Arial" pitchFamily="34" charset="-122"/>
                <a:cs typeface="Arial" pitchFamily="34" charset="-120"/>
              </a:rPr>
              <a:t>errors</a:t>
            </a:r>
            <a:endParaRPr lang="en-US" sz="1441" dirty="0"/>
          </a:p>
        </p:txBody>
      </p:sp>
      <p:sp>
        <p:nvSpPr>
          <p:cNvPr id="41" name="Shape 39"/>
          <p:cNvSpPr/>
          <p:nvPr/>
        </p:nvSpPr>
        <p:spPr>
          <a:xfrm>
            <a:off x="9475580" y="2939089"/>
            <a:ext cx="1927790" cy="1799677"/>
          </a:xfrm>
          <a:prstGeom prst="roundRect">
            <a:avLst>
              <a:gd name="adj" fmla="val 4065"/>
            </a:avLst>
          </a:prstGeom>
          <a:solidFill>
            <a:srgbClr val="F9EAF4"/>
          </a:solidFill>
          <a:ln w="15240">
            <a:solidFill>
              <a:srgbClr val="CC79A7"/>
            </a:solidFill>
            <a:prstDash val="solid"/>
          </a:ln>
        </p:spPr>
      </p:sp>
      <p:sp>
        <p:nvSpPr>
          <p:cNvPr id="42" name="Text 40"/>
          <p:cNvSpPr txBox="1"/>
          <p:nvPr/>
        </p:nvSpPr>
        <p:spPr>
          <a:xfrm>
            <a:off x="9536586" y="3336848"/>
            <a:ext cx="1805778" cy="229993"/>
          </a:xfrm>
          <a:prstGeom prst="rect">
            <a:avLst/>
          </a:prstGeom>
          <a:noFill/>
          <a:ln/>
        </p:spPr>
        <p:txBody>
          <a:bodyPr wrap="square" lIns="0" tIns="0" rIns="0" bIns="0" rtlCol="0" anchor="ctr"/>
          <a:lstStyle/>
          <a:p>
            <a:pPr algn="ctr" indent="0" marL="0">
              <a:lnSpc>
                <a:spcPct val="116000"/>
              </a:lnSpc>
              <a:buNone/>
            </a:pPr>
            <a:r>
              <a:rPr lang="en-US" sz="1561" b="1" dirty="0">
                <a:solidFill>
                  <a:srgbClr val="1E1B4B"/>
                </a:solidFill>
                <a:latin typeface="Arial" pitchFamily="34" charset="0"/>
                <a:ea typeface="Arial" pitchFamily="34" charset="-122"/>
                <a:cs typeface="Arial" pitchFamily="34" charset="-120"/>
              </a:rPr>
              <a:t>Use fresh final set</a:t>
            </a:r>
            <a:endParaRPr lang="en-US" sz="1561" dirty="0"/>
          </a:p>
        </p:txBody>
      </p:sp>
      <p:sp>
        <p:nvSpPr>
          <p:cNvPr id="43" name="Text 41"/>
          <p:cNvSpPr txBox="1"/>
          <p:nvPr/>
        </p:nvSpPr>
        <p:spPr>
          <a:xfrm>
            <a:off x="9536586" y="3643098"/>
            <a:ext cx="1805778" cy="212301"/>
          </a:xfrm>
          <a:prstGeom prst="rect">
            <a:avLst/>
          </a:prstGeom>
          <a:noFill/>
          <a:ln/>
        </p:spPr>
        <p:txBody>
          <a:bodyPr wrap="square" lIns="0" tIns="0" rIns="0" bIns="0" rtlCol="0" anchor="ctr"/>
          <a:lstStyle/>
          <a:p>
            <a:pPr algn="ctr" indent="0" marL="0">
              <a:lnSpc>
                <a:spcPct val="116000"/>
              </a:lnSpc>
              <a:buNone/>
            </a:pPr>
            <a:r>
              <a:rPr lang="en-US" sz="1441" dirty="0">
                <a:solidFill>
                  <a:srgbClr val="1F2937"/>
                </a:solidFill>
                <a:latin typeface="Arial" pitchFamily="34" charset="0"/>
                <a:ea typeface="Arial" pitchFamily="34" charset="-122"/>
                <a:cs typeface="Arial" pitchFamily="34" charset="-120"/>
              </a:rPr>
              <a:t>No further prompt</a:t>
            </a:r>
            <a:endParaRPr lang="en-US" sz="1441" dirty="0"/>
          </a:p>
        </p:txBody>
      </p:sp>
      <p:sp>
        <p:nvSpPr>
          <p:cNvPr id="44" name="Text 42"/>
          <p:cNvSpPr txBox="1"/>
          <p:nvPr/>
        </p:nvSpPr>
        <p:spPr>
          <a:xfrm>
            <a:off x="9536586" y="3855399"/>
            <a:ext cx="1805778" cy="212301"/>
          </a:xfrm>
          <a:prstGeom prst="rect">
            <a:avLst/>
          </a:prstGeom>
          <a:noFill/>
          <a:ln/>
        </p:spPr>
        <p:txBody>
          <a:bodyPr wrap="square" lIns="0" tIns="0" rIns="0" bIns="0" rtlCol="0" anchor="ctr"/>
          <a:lstStyle/>
          <a:p>
            <a:pPr algn="ctr" indent="0" marL="0">
              <a:lnSpc>
                <a:spcPct val="116000"/>
              </a:lnSpc>
              <a:buNone/>
            </a:pPr>
            <a:r>
              <a:rPr lang="en-US" sz="1441" dirty="0">
                <a:solidFill>
                  <a:srgbClr val="1F2937"/>
                </a:solidFill>
                <a:latin typeface="Arial" pitchFamily="34" charset="0"/>
                <a:ea typeface="Arial" pitchFamily="34" charset="-122"/>
                <a:cs typeface="Arial" pitchFamily="34" charset="-120"/>
              </a:rPr>
              <a:t>revisions</a:t>
            </a:r>
            <a:endParaRPr lang="en-US" sz="1441" dirty="0"/>
          </a:p>
        </p:txBody>
      </p:sp>
      <p:sp>
        <p:nvSpPr>
          <p:cNvPr id="45" name="Text 43"/>
          <p:cNvSpPr txBox="1"/>
          <p:nvPr/>
        </p:nvSpPr>
        <p:spPr>
          <a:xfrm>
            <a:off x="9498458" y="4128706"/>
            <a:ext cx="1882035" cy="212301"/>
          </a:xfrm>
          <a:prstGeom prst="rect">
            <a:avLst/>
          </a:prstGeom>
          <a:noFill/>
          <a:ln/>
        </p:spPr>
        <p:txBody>
          <a:bodyPr wrap="square" lIns="0" tIns="0" rIns="0" bIns="0" rtlCol="0" anchor="ctr"/>
          <a:lstStyle/>
          <a:p>
            <a:pPr algn="ctr" indent="0" marL="0">
              <a:lnSpc>
                <a:spcPct val="116000"/>
              </a:lnSpc>
              <a:buNone/>
            </a:pPr>
            <a:r>
              <a:rPr lang="en-US" sz="1441" dirty="0">
                <a:solidFill>
                  <a:srgbClr val="0F766E"/>
                </a:solidFill>
                <a:latin typeface="Arial" pitchFamily="34" charset="0"/>
                <a:ea typeface="Arial" pitchFamily="34" charset="-122"/>
                <a:cs typeface="Arial" pitchFamily="34" charset="-120"/>
              </a:rPr>
              <a:t>label_scorer</a:t>
            </a:r>
            <a:endParaRPr lang="en-US" sz="1441" dirty="0"/>
          </a:p>
        </p:txBody>
      </p:sp>
      <p:sp>
        <p:nvSpPr>
          <p:cNvPr id="46" name="Shape 44"/>
          <p:cNvSpPr/>
          <p:nvPr/>
        </p:nvSpPr>
        <p:spPr>
          <a:xfrm>
            <a:off x="788325" y="5630979"/>
            <a:ext cx="198270" cy="198270"/>
          </a:xfrm>
          <a:prstGeom prst="roundRect">
            <a:avLst>
              <a:gd name="adj" fmla="val 36895"/>
            </a:avLst>
          </a:prstGeom>
          <a:solidFill>
            <a:srgbClr val="E4F2FB"/>
          </a:solidFill>
          <a:ln w="15240">
            <a:solidFill>
              <a:srgbClr val="0072B2"/>
            </a:solidFill>
            <a:prstDash val="solid"/>
          </a:ln>
        </p:spPr>
      </p:sp>
      <p:sp>
        <p:nvSpPr>
          <p:cNvPr id="47" name="Text 45"/>
          <p:cNvSpPr txBox="1"/>
          <p:nvPr/>
        </p:nvSpPr>
        <p:spPr>
          <a:xfrm>
            <a:off x="1047600" y="5608101"/>
            <a:ext cx="873059" cy="244024"/>
          </a:xfrm>
          <a:prstGeom prst="rect">
            <a:avLst/>
          </a:prstGeom>
          <a:noFill/>
          <a:ln/>
        </p:spPr>
        <p:txBody>
          <a:bodyPr wrap="square" lIns="0" tIns="0" rIns="0" bIns="0" rtlCol="0" anchor="ctr"/>
          <a:lstStyle/>
          <a:p>
            <a:pPr algn="l" indent="0" marL="0">
              <a:lnSpc>
                <a:spcPct val="116000"/>
              </a:lnSpc>
              <a:buNone/>
            </a:pPr>
            <a:r>
              <a:rPr lang="en-US" sz="1441" dirty="0">
                <a:solidFill>
                  <a:srgbClr val="1F2937"/>
                </a:solidFill>
                <a:latin typeface="Arial" pitchFamily="34" charset="0"/>
                <a:ea typeface="Arial" pitchFamily="34" charset="-122"/>
                <a:cs typeface="Arial" pitchFamily="34" charset="-120"/>
              </a:rPr>
              <a:t>Input data</a:t>
            </a:r>
            <a:endParaRPr lang="en-US" sz="1441" dirty="0"/>
          </a:p>
        </p:txBody>
      </p:sp>
      <p:sp>
        <p:nvSpPr>
          <p:cNvPr id="48" name="Shape 46"/>
          <p:cNvSpPr/>
          <p:nvPr/>
        </p:nvSpPr>
        <p:spPr>
          <a:xfrm>
            <a:off x="2118929" y="5630979"/>
            <a:ext cx="198270" cy="198270"/>
          </a:xfrm>
          <a:prstGeom prst="rect">
            <a:avLst/>
          </a:prstGeom>
          <a:solidFill>
            <a:srgbClr val="E5F7EF"/>
          </a:solidFill>
          <a:ln w="15240">
            <a:solidFill>
              <a:srgbClr val="009E73"/>
            </a:solidFill>
            <a:prstDash val="solid"/>
          </a:ln>
        </p:spPr>
      </p:sp>
      <p:sp>
        <p:nvSpPr>
          <p:cNvPr id="49" name="Text 47"/>
          <p:cNvSpPr txBox="1"/>
          <p:nvPr/>
        </p:nvSpPr>
        <p:spPr>
          <a:xfrm>
            <a:off x="2378205" y="5608101"/>
            <a:ext cx="546304" cy="244024"/>
          </a:xfrm>
          <a:prstGeom prst="rect">
            <a:avLst/>
          </a:prstGeom>
          <a:noFill/>
          <a:ln/>
        </p:spPr>
        <p:txBody>
          <a:bodyPr wrap="square" lIns="0" tIns="0" rIns="0" bIns="0" rtlCol="0" anchor="ctr"/>
          <a:lstStyle/>
          <a:p>
            <a:pPr algn="l" indent="0" marL="0">
              <a:lnSpc>
                <a:spcPct val="116000"/>
              </a:lnSpc>
              <a:buNone/>
            </a:pPr>
            <a:r>
              <a:rPr lang="en-US" sz="1441" dirty="0">
                <a:solidFill>
                  <a:srgbClr val="1F2937"/>
                </a:solidFill>
                <a:latin typeface="Arial" pitchFamily="34" charset="0"/>
                <a:ea typeface="Arial" pitchFamily="34" charset="-122"/>
                <a:cs typeface="Arial" pitchFamily="34" charset="-120"/>
              </a:rPr>
              <a:t>Model</a:t>
            </a:r>
            <a:endParaRPr lang="en-US" sz="1441" dirty="0"/>
          </a:p>
        </p:txBody>
      </p:sp>
      <p:sp>
        <p:nvSpPr>
          <p:cNvPr id="50" name="Shape 48"/>
          <p:cNvSpPr/>
          <p:nvPr/>
        </p:nvSpPr>
        <p:spPr>
          <a:xfrm>
            <a:off x="3122778" y="5630979"/>
            <a:ext cx="198270" cy="198270"/>
          </a:xfrm>
          <a:prstGeom prst="roundRect">
            <a:avLst>
              <a:gd name="adj" fmla="val 36895"/>
            </a:avLst>
          </a:prstGeom>
          <a:solidFill>
            <a:srgbClr val="FFF0E6"/>
          </a:solidFill>
          <a:ln w="15240">
            <a:solidFill>
              <a:srgbClr val="D55E00"/>
            </a:solidFill>
            <a:prstDash val="solid"/>
          </a:ln>
        </p:spPr>
      </p:sp>
      <p:sp>
        <p:nvSpPr>
          <p:cNvPr id="51" name="Text 49"/>
          <p:cNvSpPr txBox="1"/>
          <p:nvPr/>
        </p:nvSpPr>
        <p:spPr>
          <a:xfrm>
            <a:off x="3382054" y="5608101"/>
            <a:ext cx="1167803" cy="244024"/>
          </a:xfrm>
          <a:prstGeom prst="rect">
            <a:avLst/>
          </a:prstGeom>
          <a:noFill/>
          <a:ln/>
        </p:spPr>
        <p:txBody>
          <a:bodyPr wrap="square" lIns="0" tIns="0" rIns="0" bIns="0" rtlCol="0" anchor="ctr"/>
          <a:lstStyle/>
          <a:p>
            <a:pPr algn="l" indent="0" marL="0">
              <a:lnSpc>
                <a:spcPct val="116000"/>
              </a:lnSpc>
              <a:buNone/>
            </a:pPr>
            <a:r>
              <a:rPr lang="en-US" sz="1441" dirty="0">
                <a:solidFill>
                  <a:srgbClr val="1F2937"/>
                </a:solidFill>
                <a:latin typeface="Arial" pitchFamily="34" charset="0"/>
                <a:ea typeface="Arial" pitchFamily="34" charset="-122"/>
                <a:cs typeface="Arial" pitchFamily="34" charset="-120"/>
              </a:rPr>
              <a:t>Loss / update</a:t>
            </a:r>
            <a:endParaRPr lang="en-US" sz="1441" dirty="0"/>
          </a:p>
        </p:txBody>
      </p:sp>
      <p:sp>
        <p:nvSpPr>
          <p:cNvPr id="52" name="Shape 50"/>
          <p:cNvSpPr/>
          <p:nvPr/>
        </p:nvSpPr>
        <p:spPr>
          <a:xfrm>
            <a:off x="4748126" y="5630979"/>
            <a:ext cx="198270" cy="198270"/>
          </a:xfrm>
          <a:prstGeom prst="roundRect">
            <a:avLst>
              <a:gd name="adj" fmla="val 36895"/>
            </a:avLst>
          </a:prstGeom>
          <a:solidFill>
            <a:srgbClr val="F9EAF4"/>
          </a:solidFill>
          <a:ln w="15240">
            <a:solidFill>
              <a:srgbClr val="CC79A7"/>
            </a:solidFill>
            <a:prstDash val="solid"/>
          </a:ln>
        </p:spPr>
      </p:sp>
      <p:sp>
        <p:nvSpPr>
          <p:cNvPr id="53" name="Text 51"/>
          <p:cNvSpPr txBox="1"/>
          <p:nvPr/>
        </p:nvSpPr>
        <p:spPr>
          <a:xfrm>
            <a:off x="5007401" y="5608101"/>
            <a:ext cx="599153" cy="244024"/>
          </a:xfrm>
          <a:prstGeom prst="rect">
            <a:avLst/>
          </a:prstGeom>
          <a:noFill/>
          <a:ln/>
        </p:spPr>
        <p:txBody>
          <a:bodyPr wrap="square" lIns="0" tIns="0" rIns="0" bIns="0" rtlCol="0" anchor="ctr"/>
          <a:lstStyle/>
          <a:p>
            <a:pPr algn="l" indent="0" marL="0">
              <a:lnSpc>
                <a:spcPct val="116000"/>
              </a:lnSpc>
              <a:buNone/>
            </a:pPr>
            <a:r>
              <a:rPr lang="en-US" sz="1441" dirty="0">
                <a:solidFill>
                  <a:srgbClr val="1F2937"/>
                </a:solidFill>
                <a:latin typeface="Arial" pitchFamily="34" charset="0"/>
                <a:ea typeface="Arial" pitchFamily="34" charset="-122"/>
                <a:cs typeface="Arial" pitchFamily="34" charset="-120"/>
              </a:rPr>
              <a:t>Output</a:t>
            </a:r>
            <a:endParaRPr lang="en-US" sz="1441" dirty="0"/>
          </a:p>
        </p:txBody>
      </p:sp>
      <p:sp>
        <p:nvSpPr>
          <p:cNvPr id="54" name="Shape 52"/>
          <p:cNvSpPr/>
          <p:nvPr/>
        </p:nvSpPr>
        <p:spPr>
          <a:xfrm>
            <a:off x="5804824" y="5630979"/>
            <a:ext cx="198270" cy="198270"/>
          </a:xfrm>
          <a:prstGeom prst="rect">
            <a:avLst/>
          </a:prstGeom>
          <a:solidFill>
            <a:srgbClr val="F2F4F5"/>
          </a:solidFill>
          <a:ln w="15240">
            <a:solidFill>
              <a:srgbClr val="626B73"/>
            </a:solidFill>
            <a:prstDash val="solid"/>
          </a:ln>
        </p:spPr>
      </p:sp>
      <p:sp>
        <p:nvSpPr>
          <p:cNvPr id="55" name="Text 53"/>
          <p:cNvSpPr txBox="1"/>
          <p:nvPr/>
        </p:nvSpPr>
        <p:spPr>
          <a:xfrm>
            <a:off x="6064099" y="5608101"/>
            <a:ext cx="1104346" cy="244024"/>
          </a:xfrm>
          <a:prstGeom prst="rect">
            <a:avLst/>
          </a:prstGeom>
          <a:noFill/>
          <a:ln/>
        </p:spPr>
        <p:txBody>
          <a:bodyPr wrap="square" lIns="0" tIns="0" rIns="0" bIns="0" rtlCol="0" anchor="ctr"/>
          <a:lstStyle/>
          <a:p>
            <a:pPr algn="l" indent="0" marL="0">
              <a:lnSpc>
                <a:spcPct val="116000"/>
              </a:lnSpc>
              <a:buNone/>
            </a:pPr>
            <a:r>
              <a:rPr lang="en-US" sz="1441" dirty="0">
                <a:solidFill>
                  <a:srgbClr val="1F2937"/>
                </a:solidFill>
                <a:latin typeface="Arial" pitchFamily="34" charset="0"/>
                <a:ea typeface="Arial" pitchFamily="34" charset="-122"/>
                <a:cs typeface="Arial" pitchFamily="34" charset="-120"/>
              </a:rPr>
              <a:t>Human / tool</a:t>
            </a:r>
            <a:endParaRPr lang="en-US" sz="1441" dirty="0"/>
          </a:p>
        </p:txBody>
      </p:sp>
      <p:sp>
        <p:nvSpPr>
          <p:cNvPr id="56" name="Shape 54"/>
          <p:cNvSpPr/>
          <p:nvPr/>
        </p:nvSpPr>
        <p:spPr>
          <a:xfrm>
            <a:off x="7366714" y="5730113"/>
            <a:ext cx="335533" cy="0"/>
          </a:xfrm>
          <a:prstGeom prst="line">
            <a:avLst/>
          </a:prstGeom>
          <a:noFill/>
          <a:ln w="22860">
            <a:solidFill>
              <a:srgbClr val="009E73"/>
            </a:solidFill>
            <a:prstDash val="solid"/>
            <a:tailEnd type="triangle"/>
          </a:ln>
        </p:spPr>
      </p:sp>
      <p:sp>
        <p:nvSpPr>
          <p:cNvPr id="57" name="Text 55"/>
          <p:cNvSpPr txBox="1"/>
          <p:nvPr/>
        </p:nvSpPr>
        <p:spPr>
          <a:xfrm>
            <a:off x="7763253" y="5608101"/>
            <a:ext cx="788576" cy="244024"/>
          </a:xfrm>
          <a:prstGeom prst="rect">
            <a:avLst/>
          </a:prstGeom>
          <a:noFill/>
          <a:ln/>
        </p:spPr>
        <p:txBody>
          <a:bodyPr wrap="square" lIns="0" tIns="0" rIns="0" bIns="0" rtlCol="0" anchor="ctr"/>
          <a:lstStyle/>
          <a:p>
            <a:pPr algn="l" indent="0" marL="0">
              <a:lnSpc>
                <a:spcPct val="116000"/>
              </a:lnSpc>
              <a:buNone/>
            </a:pPr>
            <a:r>
              <a:rPr lang="en-US" sz="1441" dirty="0">
                <a:solidFill>
                  <a:srgbClr val="1F2937"/>
                </a:solidFill>
                <a:latin typeface="Arial" pitchFamily="34" charset="0"/>
                <a:ea typeface="Arial" pitchFamily="34" charset="-122"/>
                <a:cs typeface="Arial" pitchFamily="34" charset="-120"/>
              </a:rPr>
              <a:t>data flow</a:t>
            </a:r>
            <a:endParaRPr lang="en-US" sz="1441" dirty="0"/>
          </a:p>
        </p:txBody>
      </p:sp>
      <p:sp>
        <p:nvSpPr>
          <p:cNvPr id="58" name="Shape 56"/>
          <p:cNvSpPr/>
          <p:nvPr/>
        </p:nvSpPr>
        <p:spPr>
          <a:xfrm>
            <a:off x="8750099" y="5730113"/>
            <a:ext cx="335533" cy="0"/>
          </a:xfrm>
          <a:prstGeom prst="line">
            <a:avLst/>
          </a:prstGeom>
          <a:noFill/>
          <a:ln w="22860">
            <a:solidFill>
              <a:srgbClr val="D55E00"/>
            </a:solidFill>
            <a:prstDash val="dash"/>
            <a:tailEnd type="triangle"/>
          </a:ln>
        </p:spPr>
      </p:sp>
      <p:sp>
        <p:nvSpPr>
          <p:cNvPr id="59" name="Text 57"/>
          <p:cNvSpPr txBox="1"/>
          <p:nvPr/>
        </p:nvSpPr>
        <p:spPr>
          <a:xfrm>
            <a:off x="9146638" y="5608101"/>
            <a:ext cx="1494180" cy="244024"/>
          </a:xfrm>
          <a:prstGeom prst="rect">
            <a:avLst/>
          </a:prstGeom>
          <a:noFill/>
          <a:ln/>
        </p:spPr>
        <p:txBody>
          <a:bodyPr wrap="square" lIns="0" tIns="0" rIns="0" bIns="0" rtlCol="0" anchor="ctr"/>
          <a:lstStyle/>
          <a:p>
            <a:pPr algn="l" indent="0" marL="0">
              <a:lnSpc>
                <a:spcPct val="116000"/>
              </a:lnSpc>
              <a:buNone/>
            </a:pPr>
            <a:r>
              <a:rPr lang="en-US" sz="1441" dirty="0">
                <a:solidFill>
                  <a:srgbClr val="1F2937"/>
                </a:solidFill>
                <a:latin typeface="Arial" pitchFamily="34" charset="0"/>
                <a:ea typeface="Arial" pitchFamily="34" charset="-122"/>
                <a:cs typeface="Arial" pitchFamily="34" charset="-120"/>
              </a:rPr>
              <a:t>feedback / repeat</a:t>
            </a:r>
            <a:endParaRPr lang="en-US" sz="1441" dirty="0"/>
          </a:p>
        </p:txBody>
      </p:sp>
      <p:sp>
        <p:nvSpPr>
          <p:cNvPr id="60" name="Text 58"/>
          <p:cNvSpPr txBox="1"/>
          <p:nvPr/>
        </p:nvSpPr>
        <p:spPr>
          <a:xfrm>
            <a:off x="548640" y="5925312"/>
            <a:ext cx="11094415" cy="475488"/>
          </a:xfrm>
          <a:prstGeom prst="rect">
            <a:avLst/>
          </a:prstGeom>
          <a:noFill/>
          <a:ln/>
        </p:spPr>
        <p:txBody>
          <a:bodyPr wrap="square" lIns="0" tIns="0" rIns="0" bIns="0" rtlCol="0" anchor="ctr"/>
          <a:lstStyle/>
          <a:p>
            <a:pPr indent="0" marL="0">
              <a:buNone/>
            </a:pPr>
            <a:r>
              <a:rPr lang="en-US" sz="1700" dirty="0">
                <a:solidFill>
                  <a:srgbClr val="1F2937"/>
                </a:solidFill>
                <a:latin typeface="Calibri" pitchFamily="34" charset="0"/>
                <a:ea typeface="Calibri" pitchFamily="34" charset="-122"/>
                <a:cs typeface="Calibri" pitchFamily="34" charset="-120"/>
              </a:rPr>
              <a:t>Check: Did the 80% to 85% improvement change any stored model weights?</a:t>
            </a:r>
            <a:endParaRPr lang="en-US" sz="17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07  ·  PROMPT ENGINEERING AND EVALUATION</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32</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The evaluation loop (eval-driven development)</a:t>
            </a:r>
            <a:endParaRPr lang="en-US" sz="3200" dirty="0"/>
          </a:p>
        </p:txBody>
      </p:sp>
      <p:sp>
        <p:nvSpPr>
          <p:cNvPr id="6" name="Shape 4"/>
          <p:cNvSpPr/>
          <p:nvPr/>
        </p:nvSpPr>
        <p:spPr>
          <a:xfrm>
            <a:off x="548640" y="1618488"/>
            <a:ext cx="1889699" cy="3108960"/>
          </a:xfrm>
          <a:prstGeom prst="roundRect">
            <a:avLst>
              <a:gd name="adj" fmla="val 5807"/>
            </a:avLst>
          </a:prstGeom>
          <a:solidFill>
            <a:srgbClr val="EEF0FF"/>
          </a:solidFill>
          <a:ln w="15875">
            <a:solidFill>
              <a:srgbClr val="4F46E5"/>
            </a:solidFill>
            <a:prstDash val="solid"/>
          </a:ln>
        </p:spPr>
      </p:sp>
      <p:sp>
        <p:nvSpPr>
          <p:cNvPr id="7" name="Shape 5"/>
          <p:cNvSpPr/>
          <p:nvPr/>
        </p:nvSpPr>
        <p:spPr>
          <a:xfrm>
            <a:off x="1292322" y="1746504"/>
            <a:ext cx="402336" cy="402336"/>
          </a:xfrm>
          <a:prstGeom prst="ellipse">
            <a:avLst/>
          </a:prstGeom>
          <a:solidFill>
            <a:srgbClr val="4F46E5"/>
          </a:solidFill>
          <a:ln w="12700">
            <a:solidFill>
              <a:srgbClr val="4F46E5"/>
            </a:solidFill>
            <a:prstDash val="solid"/>
          </a:ln>
        </p:spPr>
      </p:sp>
      <p:sp>
        <p:nvSpPr>
          <p:cNvPr id="8" name="Text 6"/>
          <p:cNvSpPr txBox="1"/>
          <p:nvPr/>
        </p:nvSpPr>
        <p:spPr>
          <a:xfrm>
            <a:off x="1292322" y="1746504"/>
            <a:ext cx="402336" cy="402336"/>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9" name="Text 7"/>
          <p:cNvSpPr txBox="1"/>
          <p:nvPr/>
        </p:nvSpPr>
        <p:spPr>
          <a:xfrm>
            <a:off x="621792" y="2185416"/>
            <a:ext cx="1743395" cy="777240"/>
          </a:xfrm>
          <a:prstGeom prst="rect">
            <a:avLst/>
          </a:prstGeom>
          <a:noFill/>
          <a:ln/>
        </p:spPr>
        <p:txBody>
          <a:bodyPr wrap="square" lIns="50800" tIns="50800" rIns="50800" bIns="50800" rtlCol="0" anchor="ctr"/>
          <a:lstStyle/>
          <a:p>
            <a:pPr algn="ctr" indent="0" marL="0">
              <a:buNone/>
            </a:pPr>
            <a:r>
              <a:rPr lang="en-US" sz="1900" b="1" dirty="0">
                <a:solidFill>
                  <a:srgbClr val="1E1B4B"/>
                </a:solidFill>
                <a:latin typeface="Calibri" pitchFamily="34" charset="0"/>
                <a:ea typeface="Calibri" pitchFamily="34" charset="-122"/>
                <a:cs typeface="Calibri" pitchFamily="34" charset="-120"/>
              </a:rPr>
              <a:t>Define success</a:t>
            </a:r>
            <a:endParaRPr lang="en-US" sz="1900" dirty="0"/>
          </a:p>
        </p:txBody>
      </p:sp>
      <p:sp>
        <p:nvSpPr>
          <p:cNvPr id="10" name="Text 8"/>
          <p:cNvSpPr txBox="1"/>
          <p:nvPr/>
        </p:nvSpPr>
        <p:spPr>
          <a:xfrm>
            <a:off x="640080" y="2990088"/>
            <a:ext cx="1706819" cy="1691640"/>
          </a:xfrm>
          <a:prstGeom prst="rect">
            <a:avLst/>
          </a:prstGeom>
          <a:noFill/>
          <a:ln/>
        </p:spPr>
        <p:txBody>
          <a:bodyPr wrap="square" lIns="50800" tIns="50800" rIns="50800" bIns="50800" rtlCol="0" anchor="t"/>
          <a:lstStyle/>
          <a:p>
            <a:pPr algn="ctr" indent="0" marL="0">
              <a:buNone/>
            </a:pPr>
            <a:r>
              <a:rPr lang="en-US" sz="2000" dirty="0">
                <a:solidFill>
                  <a:srgbClr val="1F2937"/>
                </a:solidFill>
                <a:latin typeface="Calibri" pitchFamily="34" charset="0"/>
                <a:ea typeface="Calibri" pitchFamily="34" charset="-122"/>
                <a:cs typeface="Calibri" pitchFamily="34" charset="-120"/>
              </a:rPr>
              <a:t>Write criteria</a:t>
            </a:r>
            <a:endParaRPr lang="en-US" sz="2000" dirty="0"/>
          </a:p>
        </p:txBody>
      </p:sp>
      <p:sp>
        <p:nvSpPr>
          <p:cNvPr id="11" name="Shape 9"/>
          <p:cNvSpPr/>
          <p:nvPr/>
        </p:nvSpPr>
        <p:spPr>
          <a:xfrm>
            <a:off x="2502347" y="3026664"/>
            <a:ext cx="283464" cy="292608"/>
          </a:xfrm>
          <a:prstGeom prst="rightArrow">
            <a:avLst/>
          </a:prstGeom>
          <a:solidFill>
            <a:srgbClr val="6B7280"/>
          </a:solidFill>
          <a:ln w="12700">
            <a:solidFill>
              <a:srgbClr val="6B7280"/>
            </a:solidFill>
            <a:prstDash val="solid"/>
          </a:ln>
        </p:spPr>
      </p:sp>
      <p:sp>
        <p:nvSpPr>
          <p:cNvPr id="12" name="Shape 10"/>
          <p:cNvSpPr/>
          <p:nvPr/>
        </p:nvSpPr>
        <p:spPr>
          <a:xfrm>
            <a:off x="2849819" y="1618488"/>
            <a:ext cx="1889699" cy="3108960"/>
          </a:xfrm>
          <a:prstGeom prst="roundRect">
            <a:avLst>
              <a:gd name="adj" fmla="val 5807"/>
            </a:avLst>
          </a:prstGeom>
          <a:solidFill>
            <a:srgbClr val="EEF0FF"/>
          </a:solidFill>
          <a:ln w="15875">
            <a:solidFill>
              <a:srgbClr val="4F46E5"/>
            </a:solidFill>
            <a:prstDash val="solid"/>
          </a:ln>
        </p:spPr>
      </p:sp>
      <p:sp>
        <p:nvSpPr>
          <p:cNvPr id="13" name="Shape 11"/>
          <p:cNvSpPr/>
          <p:nvPr/>
        </p:nvSpPr>
        <p:spPr>
          <a:xfrm>
            <a:off x="3593501" y="1746504"/>
            <a:ext cx="402336" cy="402336"/>
          </a:xfrm>
          <a:prstGeom prst="ellipse">
            <a:avLst/>
          </a:prstGeom>
          <a:solidFill>
            <a:srgbClr val="4F46E5"/>
          </a:solidFill>
          <a:ln w="12700">
            <a:solidFill>
              <a:srgbClr val="4F46E5"/>
            </a:solidFill>
            <a:prstDash val="solid"/>
          </a:ln>
        </p:spPr>
      </p:sp>
      <p:sp>
        <p:nvSpPr>
          <p:cNvPr id="14" name="Text 12"/>
          <p:cNvSpPr txBox="1"/>
          <p:nvPr/>
        </p:nvSpPr>
        <p:spPr>
          <a:xfrm>
            <a:off x="3593501" y="1746504"/>
            <a:ext cx="402336" cy="402336"/>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5" name="Text 13"/>
          <p:cNvSpPr txBox="1"/>
          <p:nvPr/>
        </p:nvSpPr>
        <p:spPr>
          <a:xfrm>
            <a:off x="2922971" y="2185416"/>
            <a:ext cx="1743395" cy="777240"/>
          </a:xfrm>
          <a:prstGeom prst="rect">
            <a:avLst/>
          </a:prstGeom>
          <a:noFill/>
          <a:ln/>
        </p:spPr>
        <p:txBody>
          <a:bodyPr wrap="square" lIns="50800" tIns="50800" rIns="50800" bIns="50800" rtlCol="0" anchor="ctr"/>
          <a:lstStyle/>
          <a:p>
            <a:pPr algn="ctr" indent="0" marL="0">
              <a:buNone/>
            </a:pPr>
            <a:r>
              <a:rPr lang="en-US" sz="1900" b="1" dirty="0">
                <a:solidFill>
                  <a:srgbClr val="1E1B4B"/>
                </a:solidFill>
                <a:latin typeface="Calibri" pitchFamily="34" charset="0"/>
                <a:ea typeface="Calibri" pitchFamily="34" charset="-122"/>
                <a:cs typeface="Calibri" pitchFamily="34" charset="-120"/>
              </a:rPr>
              <a:t>Build a test set</a:t>
            </a:r>
            <a:endParaRPr lang="en-US" sz="1900" dirty="0"/>
          </a:p>
        </p:txBody>
      </p:sp>
      <p:sp>
        <p:nvSpPr>
          <p:cNvPr id="16" name="Text 14"/>
          <p:cNvSpPr txBox="1"/>
          <p:nvPr/>
        </p:nvSpPr>
        <p:spPr>
          <a:xfrm>
            <a:off x="2941259" y="2990088"/>
            <a:ext cx="1706819" cy="1691640"/>
          </a:xfrm>
          <a:prstGeom prst="rect">
            <a:avLst/>
          </a:prstGeom>
          <a:noFill/>
          <a:ln/>
        </p:spPr>
        <p:txBody>
          <a:bodyPr wrap="square" lIns="50800" tIns="50800" rIns="50800" bIns="50800" rtlCol="0" anchor="t"/>
          <a:lstStyle/>
          <a:p>
            <a:pPr algn="ctr" indent="0" marL="0">
              <a:buNone/>
            </a:pPr>
            <a:r>
              <a:rPr lang="en-US" sz="2000" dirty="0">
                <a:solidFill>
                  <a:srgbClr val="1F2937"/>
                </a:solidFill>
                <a:latin typeface="Calibri" pitchFamily="34" charset="0"/>
                <a:ea typeface="Calibri" pitchFamily="34" charset="-122"/>
                <a:cs typeface="Calibri" pitchFamily="34" charset="-120"/>
              </a:rPr>
              <a:t>Real inputs; hold some out</a:t>
            </a:r>
            <a:endParaRPr lang="en-US" sz="2000" dirty="0"/>
          </a:p>
        </p:txBody>
      </p:sp>
      <p:sp>
        <p:nvSpPr>
          <p:cNvPr id="17" name="Shape 15"/>
          <p:cNvSpPr/>
          <p:nvPr/>
        </p:nvSpPr>
        <p:spPr>
          <a:xfrm>
            <a:off x="4803526" y="3026664"/>
            <a:ext cx="283464" cy="292608"/>
          </a:xfrm>
          <a:prstGeom prst="rightArrow">
            <a:avLst/>
          </a:prstGeom>
          <a:solidFill>
            <a:srgbClr val="6B7280"/>
          </a:solidFill>
          <a:ln w="12700">
            <a:solidFill>
              <a:srgbClr val="6B7280"/>
            </a:solidFill>
            <a:prstDash val="solid"/>
          </a:ln>
        </p:spPr>
      </p:sp>
      <p:sp>
        <p:nvSpPr>
          <p:cNvPr id="18" name="Shape 16"/>
          <p:cNvSpPr/>
          <p:nvPr/>
        </p:nvSpPr>
        <p:spPr>
          <a:xfrm>
            <a:off x="5150998" y="1618488"/>
            <a:ext cx="1889699" cy="3108960"/>
          </a:xfrm>
          <a:prstGeom prst="roundRect">
            <a:avLst>
              <a:gd name="adj" fmla="val 5807"/>
            </a:avLst>
          </a:prstGeom>
          <a:solidFill>
            <a:srgbClr val="EEF0FF"/>
          </a:solidFill>
          <a:ln w="15875">
            <a:solidFill>
              <a:srgbClr val="4F46E5"/>
            </a:solidFill>
            <a:prstDash val="solid"/>
          </a:ln>
        </p:spPr>
      </p:sp>
      <p:sp>
        <p:nvSpPr>
          <p:cNvPr id="19" name="Shape 17"/>
          <p:cNvSpPr/>
          <p:nvPr/>
        </p:nvSpPr>
        <p:spPr>
          <a:xfrm>
            <a:off x="5894680" y="1746504"/>
            <a:ext cx="402336" cy="402336"/>
          </a:xfrm>
          <a:prstGeom prst="ellipse">
            <a:avLst/>
          </a:prstGeom>
          <a:solidFill>
            <a:srgbClr val="4F46E5"/>
          </a:solidFill>
          <a:ln w="12700">
            <a:solidFill>
              <a:srgbClr val="4F46E5"/>
            </a:solidFill>
            <a:prstDash val="solid"/>
          </a:ln>
        </p:spPr>
      </p:sp>
      <p:sp>
        <p:nvSpPr>
          <p:cNvPr id="20" name="Text 18"/>
          <p:cNvSpPr txBox="1"/>
          <p:nvPr/>
        </p:nvSpPr>
        <p:spPr>
          <a:xfrm>
            <a:off x="5894680" y="1746504"/>
            <a:ext cx="402336" cy="402336"/>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21" name="Text 19"/>
          <p:cNvSpPr txBox="1"/>
          <p:nvPr/>
        </p:nvSpPr>
        <p:spPr>
          <a:xfrm>
            <a:off x="5224150" y="2185416"/>
            <a:ext cx="1743395" cy="777240"/>
          </a:xfrm>
          <a:prstGeom prst="rect">
            <a:avLst/>
          </a:prstGeom>
          <a:noFill/>
          <a:ln/>
        </p:spPr>
        <p:txBody>
          <a:bodyPr wrap="square" lIns="50800" tIns="50800" rIns="50800" bIns="50800" rtlCol="0" anchor="ctr"/>
          <a:lstStyle/>
          <a:p>
            <a:pPr algn="ctr" indent="0" marL="0">
              <a:buNone/>
            </a:pPr>
            <a:r>
              <a:rPr lang="en-US" sz="1900" b="1" dirty="0">
                <a:solidFill>
                  <a:srgbClr val="1E1B4B"/>
                </a:solidFill>
                <a:latin typeface="Calibri" pitchFamily="34" charset="0"/>
                <a:ea typeface="Calibri" pitchFamily="34" charset="-122"/>
                <a:cs typeface="Calibri" pitchFamily="34" charset="-120"/>
              </a:rPr>
              <a:t>Run</a:t>
            </a:r>
            <a:endParaRPr lang="en-US" sz="1900" dirty="0"/>
          </a:p>
        </p:txBody>
      </p:sp>
      <p:sp>
        <p:nvSpPr>
          <p:cNvPr id="22" name="Text 20"/>
          <p:cNvSpPr txBox="1"/>
          <p:nvPr/>
        </p:nvSpPr>
        <p:spPr>
          <a:xfrm>
            <a:off x="5242438" y="2990088"/>
            <a:ext cx="1706819" cy="1691640"/>
          </a:xfrm>
          <a:prstGeom prst="rect">
            <a:avLst/>
          </a:prstGeom>
          <a:noFill/>
          <a:ln/>
        </p:spPr>
        <p:txBody>
          <a:bodyPr wrap="square" lIns="50800" tIns="50800" rIns="50800" bIns="50800" rtlCol="0" anchor="t"/>
          <a:lstStyle/>
          <a:p>
            <a:pPr algn="ctr" indent="0" marL="0">
              <a:buNone/>
            </a:pPr>
            <a:r>
              <a:rPr lang="en-US" sz="2000" dirty="0">
                <a:solidFill>
                  <a:srgbClr val="1F2937"/>
                </a:solidFill>
                <a:latin typeface="Calibri" pitchFamily="34" charset="0"/>
                <a:ea typeface="Calibri" pitchFamily="34" charset="-122"/>
                <a:cs typeface="Calibri" pitchFamily="34" charset="-120"/>
              </a:rPr>
              <a:t>Fixed settings; log replies</a:t>
            </a:r>
            <a:endParaRPr lang="en-US" sz="2000" dirty="0"/>
          </a:p>
        </p:txBody>
      </p:sp>
      <p:sp>
        <p:nvSpPr>
          <p:cNvPr id="23" name="Shape 21"/>
          <p:cNvSpPr/>
          <p:nvPr/>
        </p:nvSpPr>
        <p:spPr>
          <a:xfrm>
            <a:off x="7104705" y="3026664"/>
            <a:ext cx="283464" cy="292608"/>
          </a:xfrm>
          <a:prstGeom prst="rightArrow">
            <a:avLst/>
          </a:prstGeom>
          <a:solidFill>
            <a:srgbClr val="6B7280"/>
          </a:solidFill>
          <a:ln w="12700">
            <a:solidFill>
              <a:srgbClr val="6B7280"/>
            </a:solidFill>
            <a:prstDash val="solid"/>
          </a:ln>
        </p:spPr>
      </p:sp>
      <p:sp>
        <p:nvSpPr>
          <p:cNvPr id="24" name="Shape 22"/>
          <p:cNvSpPr/>
          <p:nvPr/>
        </p:nvSpPr>
        <p:spPr>
          <a:xfrm>
            <a:off x="7452177" y="1618488"/>
            <a:ext cx="1889699" cy="3108960"/>
          </a:xfrm>
          <a:prstGeom prst="roundRect">
            <a:avLst>
              <a:gd name="adj" fmla="val 5807"/>
            </a:avLst>
          </a:prstGeom>
          <a:solidFill>
            <a:srgbClr val="FFF1E6"/>
          </a:solidFill>
          <a:ln w="15875">
            <a:solidFill>
              <a:srgbClr val="EA580C"/>
            </a:solidFill>
            <a:prstDash val="solid"/>
          </a:ln>
        </p:spPr>
      </p:sp>
      <p:sp>
        <p:nvSpPr>
          <p:cNvPr id="25" name="Shape 23"/>
          <p:cNvSpPr/>
          <p:nvPr/>
        </p:nvSpPr>
        <p:spPr>
          <a:xfrm>
            <a:off x="8195859" y="1746504"/>
            <a:ext cx="402336" cy="402336"/>
          </a:xfrm>
          <a:prstGeom prst="ellipse">
            <a:avLst/>
          </a:prstGeom>
          <a:solidFill>
            <a:srgbClr val="EA580C"/>
          </a:solidFill>
          <a:ln w="12700">
            <a:solidFill>
              <a:srgbClr val="EA580C"/>
            </a:solidFill>
            <a:prstDash val="solid"/>
          </a:ln>
        </p:spPr>
      </p:sp>
      <p:sp>
        <p:nvSpPr>
          <p:cNvPr id="26" name="Text 24"/>
          <p:cNvSpPr txBox="1"/>
          <p:nvPr/>
        </p:nvSpPr>
        <p:spPr>
          <a:xfrm>
            <a:off x="8195859" y="1746504"/>
            <a:ext cx="402336" cy="402336"/>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27" name="Text 25"/>
          <p:cNvSpPr txBox="1"/>
          <p:nvPr/>
        </p:nvSpPr>
        <p:spPr>
          <a:xfrm>
            <a:off x="7525329" y="2185416"/>
            <a:ext cx="1743395" cy="777240"/>
          </a:xfrm>
          <a:prstGeom prst="rect">
            <a:avLst/>
          </a:prstGeom>
          <a:noFill/>
          <a:ln/>
        </p:spPr>
        <p:txBody>
          <a:bodyPr wrap="square" lIns="50800" tIns="50800" rIns="50800" bIns="50800" rtlCol="0" anchor="ctr"/>
          <a:lstStyle/>
          <a:p>
            <a:pPr algn="ctr" indent="0" marL="0">
              <a:buNone/>
            </a:pPr>
            <a:r>
              <a:rPr lang="en-US" sz="1900" b="1" dirty="0">
                <a:solidFill>
                  <a:srgbClr val="1E1B4B"/>
                </a:solidFill>
                <a:latin typeface="Calibri" pitchFamily="34" charset="0"/>
                <a:ea typeface="Calibri" pitchFamily="34" charset="-122"/>
                <a:cs typeface="Calibri" pitchFamily="34" charset="-120"/>
              </a:rPr>
              <a:t>Score</a:t>
            </a:r>
            <a:endParaRPr lang="en-US" sz="1900" dirty="0"/>
          </a:p>
        </p:txBody>
      </p:sp>
      <p:sp>
        <p:nvSpPr>
          <p:cNvPr id="28" name="Text 26"/>
          <p:cNvSpPr txBox="1"/>
          <p:nvPr/>
        </p:nvSpPr>
        <p:spPr>
          <a:xfrm>
            <a:off x="7543617" y="2990088"/>
            <a:ext cx="1706819" cy="1691640"/>
          </a:xfrm>
          <a:prstGeom prst="rect">
            <a:avLst/>
          </a:prstGeom>
          <a:noFill/>
          <a:ln/>
        </p:spPr>
        <p:txBody>
          <a:bodyPr wrap="square" lIns="50800" tIns="50800" rIns="50800" bIns="50800" rtlCol="0" anchor="t"/>
          <a:lstStyle/>
          <a:p>
            <a:pPr algn="ctr" indent="0" marL="0">
              <a:buNone/>
            </a:pPr>
            <a:r>
              <a:rPr lang="en-US" sz="2000" dirty="0">
                <a:solidFill>
                  <a:srgbClr val="1F2937"/>
                </a:solidFill>
                <a:latin typeface="Calibri" pitchFamily="34" charset="0"/>
                <a:ea typeface="Calibri" pitchFamily="34" charset="-122"/>
                <a:cs typeface="Calibri" pitchFamily="34" charset="-120"/>
              </a:rPr>
              <a:t>Metrics, rubric, people</a:t>
            </a:r>
            <a:endParaRPr lang="en-US" sz="2000" dirty="0"/>
          </a:p>
        </p:txBody>
      </p:sp>
      <p:sp>
        <p:nvSpPr>
          <p:cNvPr id="29" name="Shape 27"/>
          <p:cNvSpPr/>
          <p:nvPr/>
        </p:nvSpPr>
        <p:spPr>
          <a:xfrm>
            <a:off x="9405884" y="3026664"/>
            <a:ext cx="283464" cy="292608"/>
          </a:xfrm>
          <a:prstGeom prst="rightArrow">
            <a:avLst/>
          </a:prstGeom>
          <a:solidFill>
            <a:srgbClr val="6B7280"/>
          </a:solidFill>
          <a:ln w="12700">
            <a:solidFill>
              <a:srgbClr val="6B7280"/>
            </a:solidFill>
            <a:prstDash val="solid"/>
          </a:ln>
        </p:spPr>
      </p:sp>
      <p:sp>
        <p:nvSpPr>
          <p:cNvPr id="30" name="Shape 28"/>
          <p:cNvSpPr/>
          <p:nvPr/>
        </p:nvSpPr>
        <p:spPr>
          <a:xfrm>
            <a:off x="9753356" y="1618488"/>
            <a:ext cx="1889699" cy="3108960"/>
          </a:xfrm>
          <a:prstGeom prst="roundRect">
            <a:avLst>
              <a:gd name="adj" fmla="val 5807"/>
            </a:avLst>
          </a:prstGeom>
          <a:solidFill>
            <a:srgbClr val="EEF0FF"/>
          </a:solidFill>
          <a:ln w="15875">
            <a:solidFill>
              <a:srgbClr val="4F46E5"/>
            </a:solidFill>
            <a:prstDash val="solid"/>
          </a:ln>
        </p:spPr>
      </p:sp>
      <p:sp>
        <p:nvSpPr>
          <p:cNvPr id="31" name="Shape 29"/>
          <p:cNvSpPr/>
          <p:nvPr/>
        </p:nvSpPr>
        <p:spPr>
          <a:xfrm>
            <a:off x="10497038" y="1746504"/>
            <a:ext cx="402336" cy="402336"/>
          </a:xfrm>
          <a:prstGeom prst="ellipse">
            <a:avLst/>
          </a:prstGeom>
          <a:solidFill>
            <a:srgbClr val="4F46E5"/>
          </a:solidFill>
          <a:ln w="12700">
            <a:solidFill>
              <a:srgbClr val="4F46E5"/>
            </a:solidFill>
            <a:prstDash val="solid"/>
          </a:ln>
        </p:spPr>
      </p:sp>
      <p:sp>
        <p:nvSpPr>
          <p:cNvPr id="32" name="Text 30"/>
          <p:cNvSpPr txBox="1"/>
          <p:nvPr/>
        </p:nvSpPr>
        <p:spPr>
          <a:xfrm>
            <a:off x="10497038" y="1746504"/>
            <a:ext cx="402336" cy="402336"/>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5</a:t>
            </a:r>
            <a:endParaRPr lang="en-US" sz="1400" dirty="0"/>
          </a:p>
        </p:txBody>
      </p:sp>
      <p:sp>
        <p:nvSpPr>
          <p:cNvPr id="33" name="Text 31"/>
          <p:cNvSpPr txBox="1"/>
          <p:nvPr/>
        </p:nvSpPr>
        <p:spPr>
          <a:xfrm>
            <a:off x="9826508" y="2185416"/>
            <a:ext cx="1743395" cy="777240"/>
          </a:xfrm>
          <a:prstGeom prst="rect">
            <a:avLst/>
          </a:prstGeom>
          <a:noFill/>
          <a:ln/>
        </p:spPr>
        <p:txBody>
          <a:bodyPr wrap="square" lIns="50800" tIns="50800" rIns="50800" bIns="50800" rtlCol="0" anchor="ctr"/>
          <a:lstStyle/>
          <a:p>
            <a:pPr algn="ctr" indent="0" marL="0">
              <a:buNone/>
            </a:pPr>
            <a:r>
              <a:rPr lang="en-US" sz="1900" b="1" dirty="0">
                <a:solidFill>
                  <a:srgbClr val="1E1B4B"/>
                </a:solidFill>
                <a:latin typeface="Calibri" pitchFamily="34" charset="0"/>
                <a:ea typeface="Calibri" pitchFamily="34" charset="-122"/>
                <a:cs typeface="Calibri" pitchFamily="34" charset="-120"/>
              </a:rPr>
              <a:t>Analyse errors</a:t>
            </a:r>
            <a:endParaRPr lang="en-US" sz="1900" dirty="0"/>
          </a:p>
        </p:txBody>
      </p:sp>
      <p:sp>
        <p:nvSpPr>
          <p:cNvPr id="34" name="Text 32"/>
          <p:cNvSpPr txBox="1"/>
          <p:nvPr/>
        </p:nvSpPr>
        <p:spPr>
          <a:xfrm>
            <a:off x="9844796" y="2990088"/>
            <a:ext cx="1706819" cy="1691640"/>
          </a:xfrm>
          <a:prstGeom prst="rect">
            <a:avLst/>
          </a:prstGeom>
          <a:noFill/>
          <a:ln/>
        </p:spPr>
        <p:txBody>
          <a:bodyPr wrap="square" lIns="50800" tIns="50800" rIns="50800" bIns="50800" rtlCol="0" anchor="t"/>
          <a:lstStyle/>
          <a:p>
            <a:pPr algn="ctr" indent="0" marL="0">
              <a:buNone/>
            </a:pPr>
            <a:r>
              <a:rPr lang="en-US" sz="2000" dirty="0">
                <a:solidFill>
                  <a:srgbClr val="1F2937"/>
                </a:solidFill>
                <a:latin typeface="Calibri" pitchFamily="34" charset="0"/>
                <a:ea typeface="Calibri" pitchFamily="34" charset="-122"/>
                <a:cs typeface="Calibri" pitchFamily="34" charset="-120"/>
              </a:rPr>
              <a:t>Read failures; revise</a:t>
            </a:r>
            <a:endParaRPr lang="en-US" sz="2000" dirty="0"/>
          </a:p>
        </p:txBody>
      </p:sp>
      <p:sp>
        <p:nvSpPr>
          <p:cNvPr id="35" name="Shape 33"/>
          <p:cNvSpPr/>
          <p:nvPr/>
        </p:nvSpPr>
        <p:spPr>
          <a:xfrm>
            <a:off x="548640" y="5486400"/>
            <a:ext cx="11094415" cy="822960"/>
          </a:xfrm>
          <a:prstGeom prst="roundRect">
            <a:avLst>
              <a:gd name="adj" fmla="val 13333"/>
            </a:avLst>
          </a:prstGeom>
          <a:solidFill>
            <a:srgbClr val="FFF1E6"/>
          </a:solidFill>
          <a:ln w="12700">
            <a:solidFill>
              <a:srgbClr val="FFF1E6"/>
            </a:solidFill>
            <a:prstDash val="solid"/>
          </a:ln>
        </p:spPr>
      </p:sp>
      <p:sp>
        <p:nvSpPr>
          <p:cNvPr id="36" name="Text 34"/>
          <p:cNvSpPr txBox="1"/>
          <p:nvPr/>
        </p:nvSpPr>
        <p:spPr>
          <a:xfrm>
            <a:off x="777240" y="5486400"/>
            <a:ext cx="10637215" cy="822960"/>
          </a:xfrm>
          <a:prstGeom prst="rect">
            <a:avLst/>
          </a:prstGeom>
          <a:noFill/>
          <a:ln/>
        </p:spPr>
        <p:txBody>
          <a:bodyPr wrap="square" lIns="50800" tIns="50800" rIns="50800" bIns="50800" rtlCol="0" anchor="ctr"/>
          <a:lstStyle/>
          <a:p>
            <a:pPr indent="0" marL="0">
              <a:buNone/>
            </a:pPr>
            <a:r>
              <a:rPr lang="en-US" sz="2000" b="1" dirty="0">
                <a:solidFill>
                  <a:srgbClr val="EA580C"/>
                </a:solidFill>
                <a:latin typeface="Calibri" pitchFamily="34" charset="0"/>
                <a:ea typeface="Calibri" pitchFamily="34" charset="-122"/>
                <a:cs typeface="Calibri" pitchFamily="34" charset="-120"/>
              </a:rPr>
              <a:t>Key idea:  </a:t>
            </a:r>
            <a:pPr indent="0" marL="0">
              <a:buNone/>
            </a:pPr>
            <a:r>
              <a:rPr lang="en-US" sz="2000" dirty="0">
                <a:solidFill>
                  <a:srgbClr val="1F2937"/>
                </a:solidFill>
                <a:latin typeface="Calibri" pitchFamily="34" charset="0"/>
                <a:ea typeface="Calibri" pitchFamily="34" charset="-122"/>
                <a:cs typeface="Calibri" pitchFamily="34" charset="-120"/>
              </a:rPr>
              <a:t>Develop on one set; finish with fresh examples.</a:t>
            </a:r>
            <a:endParaRPr lang="en-US" sz="20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07  ·  PROMPT ENGINEERING AND EVALUATION</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33</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Families of evaluation methods</a:t>
            </a:r>
            <a:endParaRPr lang="en-US" sz="3200" dirty="0"/>
          </a:p>
        </p:txBody>
      </p:sp>
      <p:graphicFrame>
        <p:nvGraphicFramePr>
          <p:cNvPr id="34" name="Table 0"/>
          <p:cNvGraphicFramePr>
            <a:graphicFrameLocks noGrp="1"/>
          </p:cNvGraphicFramePr>
          <p:nvPr>
            <p:extLst>
              <p:ext uri="{D42A27DB-BD31-4B8C-83A1-F6EECF244321}">
                <p14:modId xmlns:p14="http://schemas.microsoft.com/office/powerpoint/2010/main" val="1579011935"/>
              </p:ext>
            </p:extLst>
          </p:nvPr>
        </p:nvGraphicFramePr>
        <p:xfrm>
          <a:off x="548640" y="1481328"/>
          <a:ext cx="11094415" cy="914400"/>
        </p:xfrm>
        <a:graphic>
          <a:graphicData uri="http://schemas.openxmlformats.org/drawingml/2006/table">
            <a:tbl>
              <a:tblPr/>
              <a:tblGrid>
                <a:gridCol w="2311337"/>
                <a:gridCol w="3351438"/>
                <a:gridCol w="3351438"/>
                <a:gridCol w="2080203"/>
              </a:tblGrid>
              <a:tr h="0">
                <a:tc>
                  <a:txBody>
                    <a:bodyPr/>
                    <a:lstStyle/>
                    <a:p>
                      <a:pPr indent="0" marL="0">
                        <a:buNone/>
                      </a:pPr>
                      <a:r>
                        <a:rPr lang="en-US" sz="1900" b="1" dirty="0">
                          <a:solidFill>
                            <a:srgbClr val="FFFFFF"/>
                          </a:solidFill>
                          <a:latin typeface="Calibri" pitchFamily="34" charset="0"/>
                          <a:ea typeface="Calibri" pitchFamily="34" charset="-122"/>
                          <a:cs typeface="Calibri" pitchFamily="34" charset="-120"/>
                        </a:rPr>
                        <a:t>Method</a:t>
                      </a:r>
                      <a:endParaRPr lang="en-US" sz="19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1E1B4B"/>
                    </a:solidFill>
                  </a:tcPr>
                </a:tc>
                <a:tc>
                  <a:txBody>
                    <a:bodyPr/>
                    <a:lstStyle/>
                    <a:p>
                      <a:pPr indent="0" marL="0">
                        <a:buNone/>
                      </a:pPr>
                      <a:r>
                        <a:rPr lang="en-US" sz="1900" b="1" dirty="0">
                          <a:solidFill>
                            <a:srgbClr val="FFFFFF"/>
                          </a:solidFill>
                          <a:latin typeface="Calibri" pitchFamily="34" charset="0"/>
                          <a:ea typeface="Calibri" pitchFamily="34" charset="-122"/>
                          <a:cs typeface="Calibri" pitchFamily="34" charset="-120"/>
                        </a:rPr>
                        <a:t>Checks</a:t>
                      </a:r>
                      <a:endParaRPr lang="en-US" sz="19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1E1B4B"/>
                    </a:solidFill>
                  </a:tcPr>
                </a:tc>
                <a:tc>
                  <a:txBody>
                    <a:bodyPr/>
                    <a:lstStyle/>
                    <a:p>
                      <a:pPr indent="0" marL="0">
                        <a:buNone/>
                      </a:pPr>
                      <a:r>
                        <a:rPr lang="en-US" sz="1900" b="1" dirty="0">
                          <a:solidFill>
                            <a:srgbClr val="FFFFFF"/>
                          </a:solidFill>
                          <a:latin typeface="Calibri" pitchFamily="34" charset="0"/>
                          <a:ea typeface="Calibri" pitchFamily="34" charset="-122"/>
                          <a:cs typeface="Calibri" pitchFamily="34" charset="-120"/>
                        </a:rPr>
                        <a:t>Example</a:t>
                      </a:r>
                      <a:endParaRPr lang="en-US" sz="19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1E1B4B"/>
                    </a:solidFill>
                  </a:tcPr>
                </a:tc>
                <a:tc>
                  <a:txBody>
                    <a:bodyPr/>
                    <a:lstStyle/>
                    <a:p>
                      <a:pPr indent="0" marL="0">
                        <a:buNone/>
                      </a:pPr>
                      <a:r>
                        <a:rPr lang="en-US" sz="1900" b="1" dirty="0">
                          <a:solidFill>
                            <a:srgbClr val="FFFFFF"/>
                          </a:solidFill>
                          <a:latin typeface="Calibri" pitchFamily="34" charset="0"/>
                          <a:ea typeface="Calibri" pitchFamily="34" charset="-122"/>
                          <a:cs typeface="Calibri" pitchFamily="34" charset="-120"/>
                        </a:rPr>
                        <a:t>Limit</a:t>
                      </a:r>
                      <a:endParaRPr lang="en-US" sz="19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1E1B4B"/>
                    </a:solidFill>
                  </a:tcPr>
                </a:tc>
              </a:tr>
              <a:tr h="0">
                <a:tc>
                  <a:txBody>
                    <a:bodyPr/>
                    <a:lstStyle/>
                    <a:p>
                      <a:pPr indent="0" marL="0">
                        <a:buNone/>
                      </a:pPr>
                      <a:r>
                        <a:rPr lang="en-US" sz="1900" b="1" dirty="0">
                          <a:solidFill>
                            <a:srgbClr val="1F2937"/>
                          </a:solidFill>
                          <a:latin typeface="Calibri" pitchFamily="34" charset="0"/>
                          <a:ea typeface="Calibri" pitchFamily="34" charset="-122"/>
                          <a:cs typeface="Calibri" pitchFamily="34" charset="-120"/>
                        </a:rPr>
                        <a:t>Exact match / F1</a:t>
                      </a:r>
                      <a:endParaRPr lang="en-US" sz="19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c>
                  <a:txBody>
                    <a:bodyPr/>
                    <a:lstStyle/>
                    <a:p>
                      <a:pPr indent="0" marL="0">
                        <a:buNone/>
                      </a:pPr>
                      <a:r>
                        <a:rPr lang="en-US" sz="1900" dirty="0">
                          <a:solidFill>
                            <a:srgbClr val="1F2937"/>
                          </a:solidFill>
                          <a:latin typeface="Calibri" pitchFamily="34" charset="0"/>
                          <a:ea typeface="Calibri" pitchFamily="34" charset="-122"/>
                          <a:cs typeface="Calibri" pitchFamily="34" charset="-120"/>
                        </a:rPr>
                        <a:t>Agreement with a reference</a:t>
                      </a:r>
                      <a:endParaRPr lang="en-US" sz="19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c>
                  <a:txBody>
                    <a:bodyPr/>
                    <a:lstStyle/>
                    <a:p>
                      <a:pPr indent="0" marL="0">
                        <a:buNone/>
                      </a:pPr>
                      <a:r>
                        <a:rPr lang="en-US" sz="1900" dirty="0">
                          <a:solidFill>
                            <a:srgbClr val="1F2937"/>
                          </a:solidFill>
                          <a:latin typeface="Calibri" pitchFamily="34" charset="0"/>
                          <a:ea typeface="Calibri" pitchFamily="34" charset="-122"/>
                          <a:cs typeface="Calibri" pitchFamily="34" charset="-120"/>
                        </a:rPr>
                        <a:t>Label matches the gold label</a:t>
                      </a:r>
                      <a:endParaRPr lang="en-US" sz="19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c>
                  <a:txBody>
                    <a:bodyPr/>
                    <a:lstStyle/>
                    <a:p>
                      <a:pPr indent="0" marL="0">
                        <a:buNone/>
                      </a:pPr>
                      <a:r>
                        <a:rPr lang="en-US" sz="1900" dirty="0">
                          <a:solidFill>
                            <a:srgbClr val="1F2937"/>
                          </a:solidFill>
                          <a:latin typeface="Calibri" pitchFamily="34" charset="0"/>
                          <a:ea typeface="Calibri" pitchFamily="34" charset="-122"/>
                          <a:cs typeface="Calibri" pitchFamily="34" charset="-120"/>
                        </a:rPr>
                        <a:t>Open-ended answers</a:t>
                      </a:r>
                      <a:endParaRPr lang="en-US" sz="19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r>
              <a:tr h="0">
                <a:tc>
                  <a:txBody>
                    <a:bodyPr/>
                    <a:lstStyle/>
                    <a:p>
                      <a:pPr indent="0" marL="0">
                        <a:buNone/>
                      </a:pPr>
                      <a:r>
                        <a:rPr lang="en-US" sz="1900" b="1" dirty="0">
                          <a:solidFill>
                            <a:srgbClr val="1F2937"/>
                          </a:solidFill>
                          <a:latin typeface="Calibri" pitchFamily="34" charset="0"/>
                          <a:ea typeface="Calibri" pitchFamily="34" charset="-122"/>
                          <a:cs typeface="Calibri" pitchFamily="34" charset="-120"/>
                        </a:rPr>
                        <a:t>BLEU / ROUGE</a:t>
                      </a:r>
                      <a:endParaRPr lang="en-US" sz="19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900" dirty="0">
                          <a:solidFill>
                            <a:srgbClr val="1F2937"/>
                          </a:solidFill>
                          <a:latin typeface="Calibri" pitchFamily="34" charset="0"/>
                          <a:ea typeface="Calibri" pitchFamily="34" charset="-122"/>
                          <a:cs typeface="Calibri" pitchFamily="34" charset="-120"/>
                        </a:rPr>
                        <a:t>Word overlap with a reference</a:t>
                      </a:r>
                      <a:endParaRPr lang="en-US" sz="19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900" dirty="0">
                          <a:solidFill>
                            <a:srgbClr val="1F2937"/>
                          </a:solidFill>
                          <a:latin typeface="Calibri" pitchFamily="34" charset="0"/>
                          <a:ea typeface="Calibri" pitchFamily="34" charset="-122"/>
                          <a:cs typeface="Calibri" pitchFamily="34" charset="-120"/>
                        </a:rPr>
                        <a:t>Summary vs. reference summary</a:t>
                      </a:r>
                      <a:endParaRPr lang="en-US" sz="19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900" dirty="0">
                          <a:solidFill>
                            <a:srgbClr val="1F2937"/>
                          </a:solidFill>
                          <a:latin typeface="Calibri" pitchFamily="34" charset="0"/>
                          <a:ea typeface="Calibri" pitchFamily="34" charset="-122"/>
                          <a:cs typeface="Calibri" pitchFamily="34" charset="-120"/>
                        </a:rPr>
                        <a:t>Misses paraphrases</a:t>
                      </a:r>
                      <a:endParaRPr lang="en-US" sz="19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r>
              <a:tr h="0">
                <a:tc>
                  <a:txBody>
                    <a:bodyPr/>
                    <a:lstStyle/>
                    <a:p>
                      <a:pPr indent="0" marL="0">
                        <a:buNone/>
                      </a:pPr>
                      <a:r>
                        <a:rPr lang="en-US" sz="1900" b="1" dirty="0">
                          <a:solidFill>
                            <a:srgbClr val="1F2937"/>
                          </a:solidFill>
                          <a:latin typeface="Calibri" pitchFamily="34" charset="0"/>
                          <a:ea typeface="Calibri" pitchFamily="34" charset="-122"/>
                          <a:cs typeface="Calibri" pitchFamily="34" charset="-120"/>
                        </a:rPr>
                        <a:t>Embedding similarity</a:t>
                      </a:r>
                      <a:endParaRPr lang="en-US" sz="19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c>
                  <a:txBody>
                    <a:bodyPr/>
                    <a:lstStyle/>
                    <a:p>
                      <a:pPr indent="0" marL="0">
                        <a:buNone/>
                      </a:pPr>
                      <a:r>
                        <a:rPr lang="en-US" sz="1900" dirty="0">
                          <a:solidFill>
                            <a:srgbClr val="1F2937"/>
                          </a:solidFill>
                          <a:latin typeface="Calibri" pitchFamily="34" charset="0"/>
                          <a:ea typeface="Calibri" pitchFamily="34" charset="-122"/>
                          <a:cs typeface="Calibri" pitchFamily="34" charset="-120"/>
                        </a:rPr>
                        <a:t>Closeness of meaning</a:t>
                      </a:r>
                      <a:endParaRPr lang="en-US" sz="19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c>
                  <a:txBody>
                    <a:bodyPr/>
                    <a:lstStyle/>
                    <a:p>
                      <a:pPr indent="0" marL="0">
                        <a:buNone/>
                      </a:pPr>
                      <a:r>
                        <a:rPr lang="en-US" sz="1900" dirty="0">
                          <a:solidFill>
                            <a:srgbClr val="1F2937"/>
                          </a:solidFill>
                          <a:latin typeface="Calibri" pitchFamily="34" charset="0"/>
                          <a:ea typeface="Calibri" pitchFamily="34" charset="-122"/>
                          <a:cs typeface="Calibri" pitchFamily="34" charset="-120"/>
                        </a:rPr>
                        <a:t>Answer near the reference</a:t>
                      </a:r>
                      <a:endParaRPr lang="en-US" sz="19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c>
                  <a:txBody>
                    <a:bodyPr/>
                    <a:lstStyle/>
                    <a:p>
                      <a:pPr indent="0" marL="0">
                        <a:buNone/>
                      </a:pPr>
                      <a:r>
                        <a:rPr lang="en-US" sz="1900" dirty="0">
                          <a:solidFill>
                            <a:srgbClr val="1F2937"/>
                          </a:solidFill>
                          <a:latin typeface="Calibri" pitchFamily="34" charset="0"/>
                          <a:ea typeface="Calibri" pitchFamily="34" charset="-122"/>
                          <a:cs typeface="Calibri" pitchFamily="34" charset="-120"/>
                        </a:rPr>
                        <a:t>Not truth</a:t>
                      </a:r>
                      <a:endParaRPr lang="en-US" sz="19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r>
              <a:tr h="0">
                <a:tc>
                  <a:txBody>
                    <a:bodyPr/>
                    <a:lstStyle/>
                    <a:p>
                      <a:pPr indent="0" marL="0">
                        <a:buNone/>
                      </a:pPr>
                      <a:r>
                        <a:rPr lang="en-US" sz="1900" b="1" dirty="0">
                          <a:solidFill>
                            <a:srgbClr val="1F2937"/>
                          </a:solidFill>
                          <a:latin typeface="Calibri" pitchFamily="34" charset="0"/>
                          <a:ea typeface="Calibri" pitchFamily="34" charset="-122"/>
                          <a:cs typeface="Calibri" pitchFamily="34" charset="-120"/>
                        </a:rPr>
                        <a:t>Code checks</a:t>
                      </a:r>
                      <a:endParaRPr lang="en-US" sz="19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900" dirty="0">
                          <a:solidFill>
                            <a:srgbClr val="1F2937"/>
                          </a:solidFill>
                          <a:latin typeface="Calibri" pitchFamily="34" charset="0"/>
                          <a:ea typeface="Calibri" pitchFamily="34" charset="-122"/>
                          <a:cs typeface="Calibri" pitchFamily="34" charset="-120"/>
                        </a:rPr>
                        <a:t>Rules and unit tests</a:t>
                      </a:r>
                      <a:endParaRPr lang="en-US" sz="19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900" dirty="0">
                          <a:solidFill>
                            <a:srgbClr val="1F2937"/>
                          </a:solidFill>
                          <a:latin typeface="Calibri" pitchFamily="34" charset="0"/>
                          <a:ea typeface="Calibri" pitchFamily="34" charset="-122"/>
                          <a:cs typeface="Calibri" pitchFamily="34" charset="-120"/>
                        </a:rPr>
                        <a:t>JSON schema; date format</a:t>
                      </a:r>
                      <a:endParaRPr lang="en-US" sz="19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900" dirty="0">
                          <a:solidFill>
                            <a:srgbClr val="1F2937"/>
                          </a:solidFill>
                          <a:latin typeface="Calibri" pitchFamily="34" charset="0"/>
                          <a:ea typeface="Calibri" pitchFamily="34" charset="-122"/>
                          <a:cs typeface="Calibri" pitchFamily="34" charset="-120"/>
                        </a:rPr>
                        <a:t>Only what is coded</a:t>
                      </a:r>
                      <a:endParaRPr lang="en-US" sz="19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r>
              <a:tr h="0">
                <a:tc>
                  <a:txBody>
                    <a:bodyPr/>
                    <a:lstStyle/>
                    <a:p>
                      <a:pPr indent="0" marL="0">
                        <a:buNone/>
                      </a:pPr>
                      <a:r>
                        <a:rPr lang="en-US" sz="1900" b="1" dirty="0">
                          <a:solidFill>
                            <a:srgbClr val="1F2937"/>
                          </a:solidFill>
                          <a:latin typeface="Calibri" pitchFamily="34" charset="0"/>
                          <a:ea typeface="Calibri" pitchFamily="34" charset="-122"/>
                          <a:cs typeface="Calibri" pitchFamily="34" charset="-120"/>
                        </a:rPr>
                        <a:t>LLM judge</a:t>
                      </a:r>
                      <a:endParaRPr lang="en-US" sz="19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c>
                  <a:txBody>
                    <a:bodyPr/>
                    <a:lstStyle/>
                    <a:p>
                      <a:pPr indent="0" marL="0">
                        <a:buNone/>
                      </a:pPr>
                      <a:r>
                        <a:rPr lang="en-US" sz="1900" dirty="0">
                          <a:solidFill>
                            <a:srgbClr val="1F2937"/>
                          </a:solidFill>
                          <a:latin typeface="Calibri" pitchFamily="34" charset="0"/>
                          <a:ea typeface="Calibri" pitchFamily="34" charset="-122"/>
                          <a:cs typeface="Calibri" pitchFamily="34" charset="-120"/>
                        </a:rPr>
                        <a:t>Score against a rubric</a:t>
                      </a:r>
                      <a:endParaRPr lang="en-US" sz="19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c>
                  <a:txBody>
                    <a:bodyPr/>
                    <a:lstStyle/>
                    <a:p>
                      <a:pPr indent="0" marL="0">
                        <a:buNone/>
                      </a:pPr>
                      <a:r>
                        <a:rPr lang="en-US" sz="1900" dirty="0">
                          <a:solidFill>
                            <a:srgbClr val="1F2937"/>
                          </a:solidFill>
                          <a:latin typeface="Calibri" pitchFamily="34" charset="0"/>
                          <a:ea typeface="Calibri" pitchFamily="34" charset="-122"/>
                          <a:cs typeface="Calibri" pitchFamily="34" charset="-120"/>
                        </a:rPr>
                        <a:t>Faithfulness 1–5</a:t>
                      </a:r>
                      <a:endParaRPr lang="en-US" sz="19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c>
                  <a:txBody>
                    <a:bodyPr/>
                    <a:lstStyle/>
                    <a:p>
                      <a:pPr indent="0" marL="0">
                        <a:buNone/>
                      </a:pPr>
                      <a:r>
                        <a:rPr lang="en-US" sz="1900" dirty="0">
                          <a:solidFill>
                            <a:srgbClr val="1F2937"/>
                          </a:solidFill>
                          <a:latin typeface="Calibri" pitchFamily="34" charset="0"/>
                          <a:ea typeface="Calibri" pitchFamily="34" charset="-122"/>
                          <a:cs typeface="Calibri" pitchFamily="34" charset="-120"/>
                        </a:rPr>
                        <a:t>Judge bias</a:t>
                      </a:r>
                      <a:endParaRPr lang="en-US" sz="19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r>
              <a:tr h="0">
                <a:tc>
                  <a:txBody>
                    <a:bodyPr/>
                    <a:lstStyle/>
                    <a:p>
                      <a:pPr indent="0" marL="0">
                        <a:buNone/>
                      </a:pPr>
                      <a:r>
                        <a:rPr lang="en-US" sz="1900" b="1" dirty="0">
                          <a:solidFill>
                            <a:srgbClr val="1F2937"/>
                          </a:solidFill>
                          <a:latin typeface="Calibri" pitchFamily="34" charset="0"/>
                          <a:ea typeface="Calibri" pitchFamily="34" charset="-122"/>
                          <a:cs typeface="Calibri" pitchFamily="34" charset="-120"/>
                        </a:rPr>
                        <a:t>Human review</a:t>
                      </a:r>
                      <a:endParaRPr lang="en-US" sz="19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900" dirty="0">
                          <a:solidFill>
                            <a:srgbClr val="1F2937"/>
                          </a:solidFill>
                          <a:latin typeface="Calibri" pitchFamily="34" charset="0"/>
                          <a:ea typeface="Calibri" pitchFamily="34" charset="-122"/>
                          <a:cs typeface="Calibri" pitchFamily="34" charset="-120"/>
                        </a:rPr>
                        <a:t>Useful and correct?</a:t>
                      </a:r>
                      <a:endParaRPr lang="en-US" sz="19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900" dirty="0">
                          <a:solidFill>
                            <a:srgbClr val="1F2937"/>
                          </a:solidFill>
                          <a:latin typeface="Calibri" pitchFamily="34" charset="0"/>
                          <a:ea typeface="Calibri" pitchFamily="34" charset="-122"/>
                          <a:cs typeface="Calibri" pitchFamily="34" charset="-120"/>
                        </a:rPr>
                        <a:t>Two raters, one rubric</a:t>
                      </a:r>
                      <a:endParaRPr lang="en-US" sz="19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900" dirty="0">
                          <a:solidFill>
                            <a:srgbClr val="1F2937"/>
                          </a:solidFill>
                          <a:latin typeface="Calibri" pitchFamily="34" charset="0"/>
                          <a:ea typeface="Calibri" pitchFamily="34" charset="-122"/>
                          <a:cs typeface="Calibri" pitchFamily="34" charset="-120"/>
                        </a:rPr>
                        <a:t>Disagreement; cost</a:t>
                      </a:r>
                      <a:endParaRPr lang="en-US" sz="19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r>
            </a:tbl>
          </a:graphicData>
        </a:graphic>
      </p:graphicFrame>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07  ·  PROMPT ENGINEERING AND EVALUATION</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34</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A reference-based metric by hand: ROUGE-1</a:t>
            </a:r>
            <a:endParaRPr lang="en-US" sz="3200" dirty="0"/>
          </a:p>
        </p:txBody>
      </p:sp>
      <p:sp>
        <p:nvSpPr>
          <p:cNvPr id="6" name="Shape 4"/>
          <p:cNvSpPr/>
          <p:nvPr/>
        </p:nvSpPr>
        <p:spPr>
          <a:xfrm>
            <a:off x="548640" y="1481328"/>
            <a:ext cx="11094415" cy="2194560"/>
          </a:xfrm>
          <a:prstGeom prst="roundRect">
            <a:avLst>
              <a:gd name="adj" fmla="val 5000"/>
            </a:avLst>
          </a:prstGeom>
          <a:solidFill>
            <a:srgbClr val="EEF0FF"/>
          </a:solidFill>
          <a:ln w="12700">
            <a:solidFill>
              <a:srgbClr val="EEF0FF"/>
            </a:solidFill>
            <a:prstDash val="solid"/>
          </a:ln>
        </p:spPr>
      </p:sp>
      <p:pic>
        <p:nvPicPr>
          <p:cNvPr id="7" name="Image 0" descr="C:\Users\sudee\Downloads\Generative_AI_2027_Teaching_Pack\AI2027_Project\build\eq\a7ce078a697fdda9.png">    </p:cNvPr>
          <p:cNvPicPr>
            <a:picLocks noChangeAspect="1"/>
          </p:cNvPicPr>
          <p:nvPr/>
        </p:nvPicPr>
        <p:blipFill>
          <a:blip r:embed="rId1"/>
          <a:stretch>
            <a:fillRect/>
          </a:stretch>
        </p:blipFill>
        <p:spPr>
          <a:xfrm>
            <a:off x="1929232" y="1768856"/>
            <a:ext cx="8333232" cy="704088"/>
          </a:xfrm>
          <a:prstGeom prst="rect">
            <a:avLst/>
          </a:prstGeom>
        </p:spPr>
      </p:pic>
      <p:pic>
        <p:nvPicPr>
          <p:cNvPr id="8" name="Image 1" descr="C:\Users\sudee\Downloads\Generative_AI_2027_Teaching_Pack\AI2027_Project\build\eq\45bd3f17ddae1873.png">    </p:cNvPr>
          <p:cNvPicPr>
            <a:picLocks noChangeAspect="1"/>
          </p:cNvPicPr>
          <p:nvPr/>
        </p:nvPicPr>
        <p:blipFill>
          <a:blip r:embed="rId2"/>
          <a:stretch>
            <a:fillRect/>
          </a:stretch>
        </p:blipFill>
        <p:spPr>
          <a:xfrm>
            <a:off x="4542892" y="2714752"/>
            <a:ext cx="3105912" cy="673608"/>
          </a:xfrm>
          <a:prstGeom prst="rect">
            <a:avLst/>
          </a:prstGeom>
        </p:spPr>
      </p:pic>
      <p:sp>
        <p:nvSpPr>
          <p:cNvPr id="9" name="Text 5"/>
          <p:cNvSpPr txBox="1"/>
          <p:nvPr/>
        </p:nvSpPr>
        <p:spPr>
          <a:xfrm>
            <a:off x="548640" y="3904488"/>
            <a:ext cx="6035040" cy="365760"/>
          </a:xfrm>
          <a:prstGeom prst="rect">
            <a:avLst/>
          </a:prstGeom>
          <a:noFill/>
          <a:ln/>
        </p:spPr>
        <p:txBody>
          <a:bodyPr wrap="square" lIns="50800" tIns="50800" rIns="50800" bIns="50800" rtlCol="0" anchor="t"/>
          <a:lstStyle/>
          <a:p>
            <a:pPr indent="0" marL="0">
              <a:buNone/>
            </a:pPr>
            <a:r>
              <a:rPr lang="en-US" sz="1500" b="1" dirty="0">
                <a:solidFill>
                  <a:srgbClr val="4F46E5"/>
                </a:solidFill>
                <a:latin typeface="Calibri" pitchFamily="34" charset="0"/>
                <a:ea typeface="Calibri" pitchFamily="34" charset="-122"/>
                <a:cs typeface="Calibri" pitchFamily="34" charset="-120"/>
              </a:rPr>
              <a:t>Read it as</a:t>
            </a:r>
            <a:endParaRPr lang="en-US" sz="1500" dirty="0"/>
          </a:p>
        </p:txBody>
      </p:sp>
      <p:sp>
        <p:nvSpPr>
          <p:cNvPr id="10" name="Text 6"/>
          <p:cNvSpPr txBox="1"/>
          <p:nvPr/>
        </p:nvSpPr>
        <p:spPr>
          <a:xfrm>
            <a:off x="548640" y="4288536"/>
            <a:ext cx="6035040" cy="1993392"/>
          </a:xfrm>
          <a:prstGeom prst="rect">
            <a:avLst/>
          </a:prstGeom>
          <a:noFill/>
          <a:ln/>
        </p:spPr>
        <p:txBody>
          <a:bodyPr wrap="square" lIns="50800" tIns="50800" rIns="50800" bIns="50800" rtlCol="0" anchor="t"/>
          <a:lstStyle/>
          <a:p>
            <a:pPr marL="254000" indent="-254000">
              <a:spcAft>
                <a:spcPts val="800"/>
              </a:spcAft>
              <a:buSzPct val="100000"/>
              <a:buChar char="●"/>
            </a:pPr>
            <a:r>
              <a:rPr lang="en-US" sz="1800" dirty="0">
                <a:solidFill>
                  <a:srgbClr val="1F2937"/>
                </a:solidFill>
                <a:latin typeface="Calibri" pitchFamily="34" charset="0"/>
                <a:ea typeface="Calibri" pitchFamily="34" charset="-122"/>
                <a:cs typeface="Calibri" pitchFamily="34" charset="-120"/>
              </a:rPr>
              <a:t>Reference: the exam results are published in four weeks. (8 words)</a:t>
            </a:r>
            <a:endParaRPr lang="en-US" sz="1800" dirty="0"/>
          </a:p>
          <a:p>
            <a:pPr marL="254000" indent="-254000">
              <a:spcAft>
                <a:spcPts val="800"/>
              </a:spcAft>
              <a:buSzPct val="100000"/>
              <a:buChar char="●"/>
            </a:pPr>
            <a:r>
              <a:rPr lang="en-US" sz="1800" dirty="0">
                <a:solidFill>
                  <a:srgbClr val="1F2937"/>
                </a:solidFill>
                <a:latin typeface="Calibri" pitchFamily="34" charset="0"/>
                <a:ea typeface="Calibri" pitchFamily="34" charset="-122"/>
                <a:cs typeface="Calibri" pitchFamily="34" charset="-120"/>
              </a:rPr>
              <a:t>Output: results are published after four weeks. (6 words)</a:t>
            </a:r>
            <a:endParaRPr lang="en-US" sz="1800" dirty="0"/>
          </a:p>
          <a:p>
            <a:pPr marL="254000" indent="-254000">
              <a:spcAft>
                <a:spcPts val="800"/>
              </a:spcAft>
              <a:buSzPct val="100000"/>
              <a:buChar char="●"/>
            </a:pPr>
            <a:r>
              <a:rPr lang="en-US" sz="1800" dirty="0">
                <a:solidFill>
                  <a:srgbClr val="1F2937"/>
                </a:solidFill>
                <a:latin typeface="Calibri" pitchFamily="34" charset="0"/>
                <a:ea typeface="Calibri" pitchFamily="34" charset="-122"/>
                <a:cs typeface="Calibri" pitchFamily="34" charset="-120"/>
              </a:rPr>
              <a:t>Five overlap: recall 5/8; precision 5/6; F1 ≈ 0.71.</a:t>
            </a:r>
            <a:endParaRPr lang="en-US" sz="1800" dirty="0"/>
          </a:p>
        </p:txBody>
      </p:sp>
      <p:sp>
        <p:nvSpPr>
          <p:cNvPr id="11" name="Text 7"/>
          <p:cNvSpPr txBox="1"/>
          <p:nvPr/>
        </p:nvSpPr>
        <p:spPr>
          <a:xfrm>
            <a:off x="6858000" y="3904488"/>
            <a:ext cx="4785055" cy="365760"/>
          </a:xfrm>
          <a:prstGeom prst="rect">
            <a:avLst/>
          </a:prstGeom>
          <a:noFill/>
          <a:ln/>
        </p:spPr>
        <p:txBody>
          <a:bodyPr wrap="square" lIns="50800" tIns="50800" rIns="50800" bIns="50800" rtlCol="0" anchor="t"/>
          <a:lstStyle/>
          <a:p>
            <a:pPr indent="0" marL="0">
              <a:buNone/>
            </a:pPr>
            <a:r>
              <a:rPr lang="en-US" sz="1500" b="1" dirty="0">
                <a:solidFill>
                  <a:srgbClr val="4F46E5"/>
                </a:solidFill>
                <a:latin typeface="Calibri" pitchFamily="34" charset="0"/>
                <a:ea typeface="Calibri" pitchFamily="34" charset="-122"/>
                <a:cs typeface="Calibri" pitchFamily="34" charset="-120"/>
              </a:rPr>
              <a:t>Symbols</a:t>
            </a:r>
            <a:endParaRPr lang="en-US" sz="1500" dirty="0"/>
          </a:p>
        </p:txBody>
      </p:sp>
      <p:sp>
        <p:nvSpPr>
          <p:cNvPr id="12" name="Text 8"/>
          <p:cNvSpPr txBox="1"/>
          <p:nvPr/>
        </p:nvSpPr>
        <p:spPr>
          <a:xfrm>
            <a:off x="6858000" y="4315968"/>
            <a:ext cx="1143000" cy="685800"/>
          </a:xfrm>
          <a:prstGeom prst="rect">
            <a:avLst/>
          </a:prstGeom>
          <a:noFill/>
          <a:ln/>
        </p:spPr>
        <p:txBody>
          <a:bodyPr wrap="square" lIns="50800" tIns="50800" rIns="50800" bIns="50800" rtlCol="0" anchor="ctr"/>
          <a:lstStyle/>
          <a:p>
            <a:pPr indent="0" marL="0">
              <a:buNone/>
            </a:pPr>
            <a:r>
              <a:rPr lang="en-US" sz="1700" b="1" dirty="0">
                <a:solidFill>
                  <a:srgbClr val="1E1B4B"/>
                </a:solidFill>
                <a:latin typeface="Cambria Math" pitchFamily="34" charset="0"/>
                <a:ea typeface="Cambria Math" pitchFamily="34" charset="-122"/>
                <a:cs typeface="Cambria Math" pitchFamily="34" charset="-120"/>
              </a:rPr>
              <a:t>ROUGE-1</a:t>
            </a:r>
            <a:endParaRPr lang="en-US" sz="1700" dirty="0"/>
          </a:p>
        </p:txBody>
      </p:sp>
      <p:sp>
        <p:nvSpPr>
          <p:cNvPr id="13" name="Text 9"/>
          <p:cNvSpPr txBox="1"/>
          <p:nvPr/>
        </p:nvSpPr>
        <p:spPr>
          <a:xfrm>
            <a:off x="8046720" y="4315968"/>
            <a:ext cx="3596335" cy="685800"/>
          </a:xfrm>
          <a:prstGeom prst="rect">
            <a:avLst/>
          </a:prstGeom>
          <a:noFill/>
          <a:ln/>
        </p:spPr>
        <p:txBody>
          <a:bodyPr wrap="square" lIns="50800" tIns="50800" rIns="50800" bIns="50800" rtlCol="0" anchor="ctr"/>
          <a:lstStyle/>
          <a:p>
            <a:pPr indent="0" marL="0">
              <a:buNone/>
            </a:pPr>
            <a:r>
              <a:rPr lang="en-US" sz="1600" dirty="0">
                <a:solidFill>
                  <a:srgbClr val="1F2937"/>
                </a:solidFill>
                <a:latin typeface="Calibri" pitchFamily="34" charset="0"/>
                <a:ea typeface="Calibri" pitchFamily="34" charset="-122"/>
                <a:cs typeface="Calibri" pitchFamily="34" charset="-120"/>
              </a:rPr>
              <a:t>counts matching single words</a:t>
            </a:r>
            <a:endParaRPr lang="en-US" sz="1600" dirty="0"/>
          </a:p>
        </p:txBody>
      </p:sp>
      <p:sp>
        <p:nvSpPr>
          <p:cNvPr id="14" name="Text 10"/>
          <p:cNvSpPr txBox="1"/>
          <p:nvPr/>
        </p:nvSpPr>
        <p:spPr>
          <a:xfrm>
            <a:off x="6858000" y="5001768"/>
            <a:ext cx="1143000" cy="685800"/>
          </a:xfrm>
          <a:prstGeom prst="rect">
            <a:avLst/>
          </a:prstGeom>
          <a:noFill/>
          <a:ln/>
        </p:spPr>
        <p:txBody>
          <a:bodyPr wrap="square" lIns="50800" tIns="50800" rIns="50800" bIns="50800" rtlCol="0" anchor="ctr"/>
          <a:lstStyle/>
          <a:p>
            <a:pPr indent="0" marL="0">
              <a:buNone/>
            </a:pPr>
            <a:r>
              <a:rPr lang="en-US" sz="1700" b="1" dirty="0">
                <a:solidFill>
                  <a:srgbClr val="1E1B4B"/>
                </a:solidFill>
                <a:latin typeface="Cambria Math" pitchFamily="34" charset="0"/>
                <a:ea typeface="Cambria Math" pitchFamily="34" charset="-122"/>
                <a:cs typeface="Cambria Math" pitchFamily="34" charset="-120"/>
              </a:rPr>
              <a:t>BLEU</a:t>
            </a:r>
            <a:endParaRPr lang="en-US" sz="1700" dirty="0"/>
          </a:p>
        </p:txBody>
      </p:sp>
      <p:sp>
        <p:nvSpPr>
          <p:cNvPr id="15" name="Text 11"/>
          <p:cNvSpPr txBox="1"/>
          <p:nvPr/>
        </p:nvSpPr>
        <p:spPr>
          <a:xfrm>
            <a:off x="8046720" y="5001768"/>
            <a:ext cx="3596335" cy="685800"/>
          </a:xfrm>
          <a:prstGeom prst="rect">
            <a:avLst/>
          </a:prstGeom>
          <a:noFill/>
          <a:ln/>
        </p:spPr>
        <p:txBody>
          <a:bodyPr wrap="square" lIns="50800" tIns="50800" rIns="50800" bIns="50800" rtlCol="0" anchor="ctr"/>
          <a:lstStyle/>
          <a:p>
            <a:pPr indent="0" marL="0">
              <a:buNone/>
            </a:pPr>
            <a:r>
              <a:rPr lang="en-US" sz="1600" dirty="0">
                <a:solidFill>
                  <a:srgbClr val="1F2937"/>
                </a:solidFill>
                <a:latin typeface="Calibri" pitchFamily="34" charset="0"/>
                <a:ea typeface="Calibri" pitchFamily="34" charset="-122"/>
                <a:cs typeface="Calibri" pitchFamily="34" charset="-120"/>
              </a:rPr>
              <a:t>counts matching word sequences, often for translation</a:t>
            </a:r>
            <a:endParaRPr lang="en-US" sz="16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07  ·  PROMPT ENGINEERING AND EVALUATION</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35</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LLM-as-a-judge</a:t>
            </a:r>
            <a:endParaRPr lang="en-US" sz="3200" dirty="0"/>
          </a:p>
        </p:txBody>
      </p:sp>
      <p:sp>
        <p:nvSpPr>
          <p:cNvPr id="6" name="Text 4"/>
          <p:cNvSpPr txBox="1"/>
          <p:nvPr/>
        </p:nvSpPr>
        <p:spPr>
          <a:xfrm>
            <a:off x="548640" y="1481328"/>
            <a:ext cx="8138160" cy="4828032"/>
          </a:xfrm>
          <a:prstGeom prst="rect">
            <a:avLst/>
          </a:prstGeom>
          <a:noFill/>
          <a:ln/>
        </p:spPr>
        <p:txBody>
          <a:bodyPr wrap="square" lIns="50800" tIns="50800" rIns="50800" bIns="50800" rtlCol="0" anchor="t"/>
          <a:lstStyle/>
          <a:p>
            <a:pPr marL="254000" indent="-254000">
              <a:spcAft>
                <a:spcPts val="800"/>
              </a:spcAft>
              <a:buSzPct val="100000"/>
              <a:buChar char="●"/>
            </a:pPr>
            <a:r>
              <a:rPr lang="en-US" sz="2600" dirty="0">
                <a:solidFill>
                  <a:srgbClr val="1F2937"/>
                </a:solidFill>
                <a:latin typeface="Calibri" pitchFamily="34" charset="0"/>
                <a:ea typeface="Calibri" pitchFamily="34" charset="-122"/>
                <a:cs typeface="Calibri" pitchFamily="34" charset="-120"/>
              </a:rPr>
              <a:t>A judge applies a written rubric.</a:t>
            </a:r>
            <a:endParaRPr lang="en-US" sz="2600" dirty="0"/>
          </a:p>
          <a:p>
            <a:pPr marL="254000" indent="-254000">
              <a:spcAft>
                <a:spcPts val="800"/>
              </a:spcAft>
              <a:buSzPct val="100000"/>
              <a:buChar char="●"/>
            </a:pPr>
            <a:r>
              <a:rPr lang="en-US" sz="2600" dirty="0">
                <a:solidFill>
                  <a:srgbClr val="1F2937"/>
                </a:solidFill>
                <a:latin typeface="Calibri" pitchFamily="34" charset="0"/>
                <a:ea typeface="Calibri" pitchFamily="34" charset="-122"/>
                <a:cs typeface="Calibri" pitchFamily="34" charset="-120"/>
              </a:rPr>
              <a:t>MT-Bench: strong judges ≈ 80% human agreement.</a:t>
            </a:r>
            <a:endParaRPr lang="en-US" sz="2600" dirty="0"/>
          </a:p>
          <a:p>
            <a:pPr marL="254000" indent="-254000">
              <a:spcAft>
                <a:spcPts val="800"/>
              </a:spcAft>
              <a:buSzPct val="100000"/>
              <a:buChar char="●"/>
            </a:pPr>
            <a:r>
              <a:rPr lang="en-US" sz="2600" dirty="0">
                <a:solidFill>
                  <a:srgbClr val="1F2937"/>
                </a:solidFill>
                <a:latin typeface="Calibri" pitchFamily="34" charset="0"/>
                <a:ea typeface="Calibri" pitchFamily="34" charset="-122"/>
                <a:cs typeface="Calibri" pitchFamily="34" charset="-120"/>
              </a:rPr>
              <a:t>Check position, length and self-preference biases.</a:t>
            </a:r>
            <a:endParaRPr lang="en-US" sz="2600" dirty="0"/>
          </a:p>
          <a:p>
            <a:pPr marL="254000" indent="-254000">
              <a:spcAft>
                <a:spcPts val="800"/>
              </a:spcAft>
              <a:buSzPct val="100000"/>
              <a:buChar char="●"/>
            </a:pPr>
            <a:r>
              <a:rPr lang="en-US" sz="2600" dirty="0">
                <a:solidFill>
                  <a:srgbClr val="1F2937"/>
                </a:solidFill>
                <a:latin typeface="Calibri" pitchFamily="34" charset="0"/>
                <a:ea typeface="Calibri" pitchFamily="34" charset="-122"/>
                <a:cs typeface="Calibri" pitchFamily="34" charset="-120"/>
              </a:rPr>
              <a:t>Swap order; calibrate with human scores.</a:t>
            </a:r>
            <a:endParaRPr lang="en-US" sz="2600" dirty="0"/>
          </a:p>
        </p:txBody>
      </p:sp>
      <p:sp>
        <p:nvSpPr>
          <p:cNvPr id="7" name="Shape 5"/>
          <p:cNvSpPr/>
          <p:nvPr/>
        </p:nvSpPr>
        <p:spPr>
          <a:xfrm>
            <a:off x="9464040" y="1847088"/>
            <a:ext cx="2103120" cy="2103120"/>
          </a:xfrm>
          <a:prstGeom prst="ellipse">
            <a:avLst/>
          </a:prstGeom>
          <a:solidFill>
            <a:srgbClr val="EEF0FF"/>
          </a:solidFill>
          <a:ln w="12700">
            <a:solidFill>
              <a:srgbClr val="EEF0FF"/>
            </a:solidFill>
            <a:prstDash val="solid"/>
          </a:ln>
        </p:spPr>
      </p:sp>
      <p:pic>
        <p:nvPicPr>
          <p:cNvPr id="8" name="Image 0" descr="preencoded.png">    </p:cNvPr>
          <p:cNvPicPr>
            <a:picLocks noChangeAspect="1"/>
          </p:cNvPicPr>
          <p:nvPr/>
        </p:nvPicPr>
        <p:blipFill>
          <a:blip r:embed="rId1"/>
          <a:stretch>
            <a:fillRect/>
          </a:stretch>
        </p:blipFill>
        <p:spPr>
          <a:xfrm>
            <a:off x="9968789" y="2351837"/>
            <a:ext cx="1093622" cy="1093622"/>
          </a:xfrm>
          <a:prstGeom prst="rect">
            <a:avLst/>
          </a:prstGeom>
        </p:spPr>
      </p:pic>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07  ·  PROMPT ENGINEERING AND EVALUATION</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36</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A rubric for human (or LLM) evaluation of summaries</a:t>
            </a:r>
            <a:endParaRPr lang="en-US" sz="3200" dirty="0"/>
          </a:p>
        </p:txBody>
      </p:sp>
      <p:graphicFrame>
        <p:nvGraphicFramePr>
          <p:cNvPr id="37" name="Table 0"/>
          <p:cNvGraphicFramePr>
            <a:graphicFrameLocks noGrp="1"/>
          </p:cNvGraphicFramePr>
          <p:nvPr>
            <p:extLst>
              <p:ext uri="{D42A27DB-BD31-4B8C-83A1-F6EECF244321}">
                <p14:modId xmlns:p14="http://schemas.microsoft.com/office/powerpoint/2010/main" val="1579011935"/>
              </p:ext>
            </p:extLst>
          </p:nvPr>
        </p:nvGraphicFramePr>
        <p:xfrm>
          <a:off x="548640" y="1481328"/>
          <a:ext cx="11094415" cy="914400"/>
        </p:xfrm>
        <a:graphic>
          <a:graphicData uri="http://schemas.openxmlformats.org/drawingml/2006/table">
            <a:tbl>
              <a:tblPr/>
              <a:tblGrid>
                <a:gridCol w="2113222"/>
                <a:gridCol w="3169833"/>
                <a:gridCol w="2817629"/>
                <a:gridCol w="2993731"/>
              </a:tblGrid>
              <a:tr h="0">
                <a:tc>
                  <a:txBody>
                    <a:bodyPr/>
                    <a:lstStyle/>
                    <a:p>
                      <a:pPr indent="0" marL="0">
                        <a:buNone/>
                      </a:pPr>
                      <a:r>
                        <a:rPr lang="en-US" sz="2000" b="1" dirty="0">
                          <a:solidFill>
                            <a:srgbClr val="FFFFFF"/>
                          </a:solidFill>
                          <a:latin typeface="Calibri" pitchFamily="34" charset="0"/>
                          <a:ea typeface="Calibri" pitchFamily="34" charset="-122"/>
                          <a:cs typeface="Calibri" pitchFamily="34" charset="-120"/>
                        </a:rPr>
                        <a:t>Criterion</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1E1B4B"/>
                    </a:solidFill>
                  </a:tcPr>
                </a:tc>
                <a:tc>
                  <a:txBody>
                    <a:bodyPr/>
                    <a:lstStyle/>
                    <a:p>
                      <a:pPr indent="0" marL="0">
                        <a:buNone/>
                      </a:pPr>
                      <a:r>
                        <a:rPr lang="en-US" sz="2000" b="1" dirty="0">
                          <a:solidFill>
                            <a:srgbClr val="FFFFFF"/>
                          </a:solidFill>
                          <a:latin typeface="Calibri" pitchFamily="34" charset="0"/>
                          <a:ea typeface="Calibri" pitchFamily="34" charset="-122"/>
                          <a:cs typeface="Calibri" pitchFamily="34" charset="-120"/>
                        </a:rPr>
                        <a:t>1: poor</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1E1B4B"/>
                    </a:solidFill>
                  </a:tcPr>
                </a:tc>
                <a:tc>
                  <a:txBody>
                    <a:bodyPr/>
                    <a:lstStyle/>
                    <a:p>
                      <a:pPr indent="0" marL="0">
                        <a:buNone/>
                      </a:pPr>
                      <a:r>
                        <a:rPr lang="en-US" sz="2000" b="1" dirty="0">
                          <a:solidFill>
                            <a:srgbClr val="FFFFFF"/>
                          </a:solidFill>
                          <a:latin typeface="Calibri" pitchFamily="34" charset="0"/>
                          <a:ea typeface="Calibri" pitchFamily="34" charset="-122"/>
                          <a:cs typeface="Calibri" pitchFamily="34" charset="-120"/>
                        </a:rPr>
                        <a:t>3: acceptable</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1E1B4B"/>
                    </a:solidFill>
                  </a:tcPr>
                </a:tc>
                <a:tc>
                  <a:txBody>
                    <a:bodyPr/>
                    <a:lstStyle/>
                    <a:p>
                      <a:pPr indent="0" marL="0">
                        <a:buNone/>
                      </a:pPr>
                      <a:r>
                        <a:rPr lang="en-US" sz="2000" b="1" dirty="0">
                          <a:solidFill>
                            <a:srgbClr val="FFFFFF"/>
                          </a:solidFill>
                          <a:latin typeface="Calibri" pitchFamily="34" charset="0"/>
                          <a:ea typeface="Calibri" pitchFamily="34" charset="-122"/>
                          <a:cs typeface="Calibri" pitchFamily="34" charset="-120"/>
                        </a:rPr>
                        <a:t>5: excellent</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1E1B4B"/>
                    </a:solidFill>
                  </a:tcPr>
                </a:tc>
              </a:tr>
              <a:tr h="0">
                <a:tc>
                  <a:txBody>
                    <a:bodyPr/>
                    <a:lstStyle/>
                    <a:p>
                      <a:pPr indent="0" marL="0">
                        <a:buNone/>
                      </a:pPr>
                      <a:r>
                        <a:rPr lang="en-US" sz="2000" b="1" dirty="0">
                          <a:solidFill>
                            <a:srgbClr val="1F2937"/>
                          </a:solidFill>
                          <a:latin typeface="Calibri" pitchFamily="34" charset="0"/>
                          <a:ea typeface="Calibri" pitchFamily="34" charset="-122"/>
                          <a:cs typeface="Calibri" pitchFamily="34" charset="-120"/>
                        </a:rPr>
                        <a:t>Faithfulness</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c>
                  <a:txBody>
                    <a:bodyPr/>
                    <a:lstStyle/>
                    <a:p>
                      <a:pPr indent="0" marL="0">
                        <a:buNone/>
                      </a:pPr>
                      <a:r>
                        <a:rPr lang="en-US" sz="2000" dirty="0">
                          <a:solidFill>
                            <a:srgbClr val="1F2937"/>
                          </a:solidFill>
                          <a:latin typeface="Calibri" pitchFamily="34" charset="0"/>
                          <a:ea typeface="Calibri" pitchFamily="34" charset="-122"/>
                          <a:cs typeface="Calibri" pitchFamily="34" charset="-120"/>
                        </a:rPr>
                        <a:t>Unsupported claims</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c>
                  <a:txBody>
                    <a:bodyPr/>
                    <a:lstStyle/>
                    <a:p>
                      <a:pPr indent="0" marL="0">
                        <a:buNone/>
                      </a:pPr>
                      <a:r>
                        <a:rPr lang="en-US" sz="2000" dirty="0">
                          <a:solidFill>
                            <a:srgbClr val="1F2937"/>
                          </a:solidFill>
                          <a:latin typeface="Calibri" pitchFamily="34" charset="0"/>
                          <a:ea typeface="Calibri" pitchFamily="34" charset="-122"/>
                          <a:cs typeface="Calibri" pitchFamily="34" charset="-120"/>
                        </a:rPr>
                        <a:t>Minor gap</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c>
                  <a:txBody>
                    <a:bodyPr/>
                    <a:lstStyle/>
                    <a:p>
                      <a:pPr indent="0" marL="0">
                        <a:buNone/>
                      </a:pPr>
                      <a:r>
                        <a:rPr lang="en-US" sz="2000" dirty="0">
                          <a:solidFill>
                            <a:srgbClr val="1F2937"/>
                          </a:solidFill>
                          <a:latin typeface="Calibri" pitchFamily="34" charset="0"/>
                          <a:ea typeface="Calibri" pitchFamily="34" charset="-122"/>
                          <a:cs typeface="Calibri" pitchFamily="34" charset="-120"/>
                        </a:rPr>
                        <a:t>All supported</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r>
              <a:tr h="0">
                <a:tc>
                  <a:txBody>
                    <a:bodyPr/>
                    <a:lstStyle/>
                    <a:p>
                      <a:pPr indent="0" marL="0">
                        <a:buNone/>
                      </a:pPr>
                      <a:r>
                        <a:rPr lang="en-US" sz="2000" b="1" dirty="0">
                          <a:solidFill>
                            <a:srgbClr val="1F2937"/>
                          </a:solidFill>
                          <a:latin typeface="Calibri" pitchFamily="34" charset="0"/>
                          <a:ea typeface="Calibri" pitchFamily="34" charset="-122"/>
                          <a:cs typeface="Calibri" pitchFamily="34" charset="-120"/>
                        </a:rPr>
                        <a:t>Coverage</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2000" dirty="0">
                          <a:solidFill>
                            <a:srgbClr val="1F2937"/>
                          </a:solidFill>
                          <a:latin typeface="Calibri" pitchFamily="34" charset="0"/>
                          <a:ea typeface="Calibri" pitchFamily="34" charset="-122"/>
                          <a:cs typeface="Calibri" pitchFamily="34" charset="-120"/>
                        </a:rPr>
                        <a:t>Key omissions</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2000" dirty="0">
                          <a:solidFill>
                            <a:srgbClr val="1F2937"/>
                          </a:solidFill>
                          <a:latin typeface="Calibri" pitchFamily="34" charset="0"/>
                          <a:ea typeface="Calibri" pitchFamily="34" charset="-122"/>
                          <a:cs typeface="Calibri" pitchFamily="34" charset="-120"/>
                        </a:rPr>
                        <a:t>Most points</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2000" dirty="0">
                          <a:solidFill>
                            <a:srgbClr val="1F2937"/>
                          </a:solidFill>
                          <a:latin typeface="Calibri" pitchFamily="34" charset="0"/>
                          <a:ea typeface="Calibri" pitchFamily="34" charset="-122"/>
                          <a:cs typeface="Calibri" pitchFamily="34" charset="-120"/>
                        </a:rPr>
                        <a:t>All needed points</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r>
              <a:tr h="0">
                <a:tc>
                  <a:txBody>
                    <a:bodyPr/>
                    <a:lstStyle/>
                    <a:p>
                      <a:pPr indent="0" marL="0">
                        <a:buNone/>
                      </a:pPr>
                      <a:r>
                        <a:rPr lang="en-US" sz="2000" b="1" dirty="0">
                          <a:solidFill>
                            <a:srgbClr val="1F2937"/>
                          </a:solidFill>
                          <a:latin typeface="Calibri" pitchFamily="34" charset="0"/>
                          <a:ea typeface="Calibri" pitchFamily="34" charset="-122"/>
                          <a:cs typeface="Calibri" pitchFamily="34" charset="-120"/>
                        </a:rPr>
                        <a:t>Clarity</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c>
                  <a:txBody>
                    <a:bodyPr/>
                    <a:lstStyle/>
                    <a:p>
                      <a:pPr indent="0" marL="0">
                        <a:buNone/>
                      </a:pPr>
                      <a:r>
                        <a:rPr lang="en-US" sz="2000" dirty="0">
                          <a:solidFill>
                            <a:srgbClr val="1F2937"/>
                          </a:solidFill>
                          <a:latin typeface="Calibri" pitchFamily="34" charset="0"/>
                          <a:ea typeface="Calibri" pitchFamily="34" charset="-122"/>
                          <a:cs typeface="Calibri" pitchFamily="34" charset="-120"/>
                        </a:rPr>
                        <a:t>Hard to follow</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c>
                  <a:txBody>
                    <a:bodyPr/>
                    <a:lstStyle/>
                    <a:p>
                      <a:pPr indent="0" marL="0">
                        <a:buNone/>
                      </a:pPr>
                      <a:r>
                        <a:rPr lang="en-US" sz="2000" dirty="0">
                          <a:solidFill>
                            <a:srgbClr val="1F2937"/>
                          </a:solidFill>
                          <a:latin typeface="Calibri" pitchFamily="34" charset="0"/>
                          <a:ea typeface="Calibri" pitchFamily="34" charset="-122"/>
                          <a:cs typeface="Calibri" pitchFamily="34" charset="-120"/>
                        </a:rPr>
                        <a:t>Understandable</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c>
                  <a:txBody>
                    <a:bodyPr/>
                    <a:lstStyle/>
                    <a:p>
                      <a:pPr indent="0" marL="0">
                        <a:buNone/>
                      </a:pPr>
                      <a:r>
                        <a:rPr lang="en-US" sz="2000" dirty="0">
                          <a:solidFill>
                            <a:srgbClr val="1F2937"/>
                          </a:solidFill>
                          <a:latin typeface="Calibri" pitchFamily="34" charset="0"/>
                          <a:ea typeface="Calibri" pitchFamily="34" charset="-122"/>
                          <a:cs typeface="Calibri" pitchFamily="34" charset="-120"/>
                        </a:rPr>
                        <a:t>Audience-ready</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r>
              <a:tr h="0">
                <a:tc>
                  <a:txBody>
                    <a:bodyPr/>
                    <a:lstStyle/>
                    <a:p>
                      <a:pPr indent="0" marL="0">
                        <a:buNone/>
                      </a:pPr>
                      <a:r>
                        <a:rPr lang="en-US" sz="2000" b="1" dirty="0">
                          <a:solidFill>
                            <a:srgbClr val="1F2937"/>
                          </a:solidFill>
                          <a:latin typeface="Calibri" pitchFamily="34" charset="0"/>
                          <a:ea typeface="Calibri" pitchFamily="34" charset="-122"/>
                          <a:cs typeface="Calibri" pitchFamily="34" charset="-120"/>
                        </a:rPr>
                        <a:t>Format</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2000" dirty="0">
                          <a:solidFill>
                            <a:srgbClr val="1F2937"/>
                          </a:solidFill>
                          <a:latin typeface="Calibri" pitchFamily="34" charset="0"/>
                          <a:ea typeface="Calibri" pitchFamily="34" charset="-122"/>
                          <a:cs typeface="Calibri" pitchFamily="34" charset="-120"/>
                        </a:rPr>
                        <a:t>Ignored</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2000" dirty="0">
                          <a:solidFill>
                            <a:srgbClr val="1F2937"/>
                          </a:solidFill>
                          <a:latin typeface="Calibri" pitchFamily="34" charset="0"/>
                          <a:ea typeface="Calibri" pitchFamily="34" charset="-122"/>
                          <a:cs typeface="Calibri" pitchFamily="34" charset="-120"/>
                        </a:rPr>
                        <a:t>Minor deviations</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2000" dirty="0">
                          <a:solidFill>
                            <a:srgbClr val="1F2937"/>
                          </a:solidFill>
                          <a:latin typeface="Calibri" pitchFamily="34" charset="0"/>
                          <a:ea typeface="Calibri" pitchFamily="34" charset="-122"/>
                          <a:cs typeface="Calibri" pitchFamily="34" charset="-120"/>
                        </a:rPr>
                        <a:t>Exact</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r>
            </a:tbl>
          </a:graphicData>
        </a:graphic>
      </p:graphicFrame>
      <p:sp>
        <p:nvSpPr>
          <p:cNvPr id="7" name="Shape 4"/>
          <p:cNvSpPr/>
          <p:nvPr/>
        </p:nvSpPr>
        <p:spPr>
          <a:xfrm>
            <a:off x="548640" y="5486400"/>
            <a:ext cx="11094415" cy="822960"/>
          </a:xfrm>
          <a:prstGeom prst="roundRect">
            <a:avLst>
              <a:gd name="adj" fmla="val 13333"/>
            </a:avLst>
          </a:prstGeom>
          <a:solidFill>
            <a:srgbClr val="FFF1E6"/>
          </a:solidFill>
          <a:ln w="12700">
            <a:solidFill>
              <a:srgbClr val="FFF1E6"/>
            </a:solidFill>
            <a:prstDash val="solid"/>
          </a:ln>
        </p:spPr>
      </p:sp>
      <p:sp>
        <p:nvSpPr>
          <p:cNvPr id="8" name="Text 5"/>
          <p:cNvSpPr txBox="1"/>
          <p:nvPr/>
        </p:nvSpPr>
        <p:spPr>
          <a:xfrm>
            <a:off x="777240" y="5486400"/>
            <a:ext cx="10637215" cy="822960"/>
          </a:xfrm>
          <a:prstGeom prst="rect">
            <a:avLst/>
          </a:prstGeom>
          <a:noFill/>
          <a:ln/>
        </p:spPr>
        <p:txBody>
          <a:bodyPr wrap="square" lIns="50800" tIns="50800" rIns="50800" bIns="50800" rtlCol="0" anchor="ctr"/>
          <a:lstStyle/>
          <a:p>
            <a:pPr indent="0" marL="0">
              <a:buNone/>
            </a:pPr>
            <a:r>
              <a:rPr lang="en-US" sz="2000" b="1" dirty="0">
                <a:solidFill>
                  <a:srgbClr val="EA580C"/>
                </a:solidFill>
                <a:latin typeface="Calibri" pitchFamily="34" charset="0"/>
                <a:ea typeface="Calibri" pitchFamily="34" charset="-122"/>
                <a:cs typeface="Calibri" pitchFamily="34" charset="-120"/>
              </a:rPr>
              <a:t>Key idea:  </a:t>
            </a:r>
            <a:pPr indent="0" marL="0">
              <a:buNone/>
            </a:pPr>
            <a:r>
              <a:rPr lang="en-US" sz="2000" dirty="0">
                <a:solidFill>
                  <a:srgbClr val="1F2937"/>
                </a:solidFill>
                <a:latin typeface="Calibri" pitchFamily="34" charset="0"/>
                <a:ea typeface="Calibri" pitchFamily="34" charset="-122"/>
                <a:cs typeface="Calibri" pitchFamily="34" charset="-120"/>
              </a:rPr>
              <a:t>Two people score a sample; discuss disagreement.</a:t>
            </a:r>
            <a:endParaRPr lang="en-US" sz="20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07  ·  PROMPT ENGINEERING AND EVALUATION</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37</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Statistics: don't fool yourself with small test sets</a:t>
            </a:r>
            <a:endParaRPr lang="en-US" sz="3200" dirty="0"/>
          </a:p>
        </p:txBody>
      </p:sp>
      <p:sp>
        <p:nvSpPr>
          <p:cNvPr id="6" name="Text 4"/>
          <p:cNvSpPr txBox="1"/>
          <p:nvPr/>
        </p:nvSpPr>
        <p:spPr>
          <a:xfrm>
            <a:off x="548640" y="1481328"/>
            <a:ext cx="8138160" cy="4828032"/>
          </a:xfrm>
          <a:prstGeom prst="rect">
            <a:avLst/>
          </a:prstGeom>
          <a:noFill/>
          <a:ln/>
        </p:spPr>
        <p:txBody>
          <a:bodyPr wrap="square" lIns="50800" tIns="50800" rIns="50800" bIns="50800" rtlCol="0" anchor="t"/>
          <a:lstStyle/>
          <a:p>
            <a:pPr marL="254000" indent="-254000">
              <a:spcAft>
                <a:spcPts val="800"/>
              </a:spcAft>
              <a:buSzPct val="100000"/>
              <a:buChar char="●"/>
            </a:pPr>
            <a:r>
              <a:rPr lang="en-US" sz="2600" dirty="0">
                <a:solidFill>
                  <a:srgbClr val="1F2937"/>
                </a:solidFill>
                <a:latin typeface="Calibri" pitchFamily="34" charset="0"/>
                <a:ea typeface="Calibri" pitchFamily="34" charset="-122"/>
                <a:cs typeface="Calibri" pitchFamily="34" charset="-120"/>
              </a:rPr>
              <a:t>40 questions: one answer = 2.5 points.</a:t>
            </a:r>
            <a:endParaRPr lang="en-US" sz="2600" dirty="0"/>
          </a:p>
          <a:p>
            <a:pPr marL="254000" indent="-254000">
              <a:spcAft>
                <a:spcPts val="800"/>
              </a:spcAft>
              <a:buSzPct val="100000"/>
              <a:buChar char="●"/>
            </a:pPr>
            <a:r>
              <a:rPr lang="en-US" sz="2600" dirty="0">
                <a:solidFill>
                  <a:srgbClr val="1F2937"/>
                </a:solidFill>
                <a:latin typeface="Calibri" pitchFamily="34" charset="0"/>
                <a:ea typeface="Calibri" pitchFamily="34" charset="-122"/>
                <a:cs typeface="Calibri" pitchFamily="34" charset="-120"/>
              </a:rPr>
              <a:t>80% accuracy has roughly ±12-point uncertainty.</a:t>
            </a:r>
            <a:endParaRPr lang="en-US" sz="2600" dirty="0"/>
          </a:p>
          <a:p>
            <a:pPr marL="254000" indent="-254000">
              <a:spcAft>
                <a:spcPts val="800"/>
              </a:spcAft>
              <a:buSzPct val="100000"/>
              <a:buChar char="●"/>
            </a:pPr>
            <a:r>
              <a:rPr lang="en-US" sz="2600" dirty="0">
                <a:solidFill>
                  <a:srgbClr val="1F2937"/>
                </a:solidFill>
                <a:latin typeface="Calibri" pitchFamily="34" charset="0"/>
                <a:ea typeface="Calibri" pitchFamily="34" charset="-122"/>
                <a:cs typeface="Calibri" pitchFamily="34" charset="-120"/>
              </a:rPr>
              <a:t>Use paired comparisons; repeat sampling.</a:t>
            </a:r>
            <a:endParaRPr lang="en-US" sz="2600" dirty="0"/>
          </a:p>
          <a:p>
            <a:pPr marL="254000" indent="-254000">
              <a:spcAft>
                <a:spcPts val="800"/>
              </a:spcAft>
              <a:buSzPct val="100000"/>
              <a:buChar char="●"/>
            </a:pPr>
            <a:r>
              <a:rPr lang="en-US" sz="2600" dirty="0">
                <a:solidFill>
                  <a:srgbClr val="1F2937"/>
                </a:solidFill>
                <a:latin typeface="Calibri" pitchFamily="34" charset="0"/>
                <a:ea typeface="Calibri" pitchFamily="34" charset="-122"/>
                <a:cs typeface="Calibri" pitchFamily="34" charset="-120"/>
              </a:rPr>
              <a:t>Keep a final test separate.</a:t>
            </a:r>
            <a:endParaRPr lang="en-US" sz="2600" dirty="0"/>
          </a:p>
          <a:p>
            <a:pPr marL="254000" indent="-254000">
              <a:spcAft>
                <a:spcPts val="800"/>
              </a:spcAft>
              <a:buSzPct val="100000"/>
              <a:buChar char="●"/>
            </a:pPr>
            <a:r>
              <a:rPr lang="en-US" sz="2600" dirty="0">
                <a:solidFill>
                  <a:srgbClr val="1F2937"/>
                </a:solidFill>
                <a:latin typeface="Calibri" pitchFamily="34" charset="0"/>
                <a:ea typeface="Calibri" pitchFamily="34" charset="-122"/>
                <a:cs typeface="Calibri" pitchFamily="34" charset="-120"/>
              </a:rPr>
              <a:t>Log settings and errors.</a:t>
            </a:r>
            <a:endParaRPr lang="en-US" sz="2600" dirty="0"/>
          </a:p>
        </p:txBody>
      </p:sp>
      <p:sp>
        <p:nvSpPr>
          <p:cNvPr id="7" name="Shape 5"/>
          <p:cNvSpPr/>
          <p:nvPr/>
        </p:nvSpPr>
        <p:spPr>
          <a:xfrm>
            <a:off x="9464040" y="1847088"/>
            <a:ext cx="2103120" cy="2103120"/>
          </a:xfrm>
          <a:prstGeom prst="ellipse">
            <a:avLst/>
          </a:prstGeom>
          <a:solidFill>
            <a:srgbClr val="EEF0FF"/>
          </a:solidFill>
          <a:ln w="12700">
            <a:solidFill>
              <a:srgbClr val="EEF0FF"/>
            </a:solidFill>
            <a:prstDash val="solid"/>
          </a:ln>
        </p:spPr>
      </p:sp>
      <p:pic>
        <p:nvPicPr>
          <p:cNvPr id="8" name="Image 0" descr="preencoded.png">    </p:cNvPr>
          <p:cNvPicPr>
            <a:picLocks noChangeAspect="1"/>
          </p:cNvPicPr>
          <p:nvPr/>
        </p:nvPicPr>
        <p:blipFill>
          <a:blip r:embed="rId1"/>
          <a:stretch>
            <a:fillRect/>
          </a:stretch>
        </p:blipFill>
        <p:spPr>
          <a:xfrm>
            <a:off x="9968789" y="2351837"/>
            <a:ext cx="1093622" cy="1093622"/>
          </a:xfrm>
          <a:prstGeom prst="rect">
            <a:avLst/>
          </a:prstGeom>
        </p:spPr>
      </p:pic>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1E1B4B"/>
        </a:solidFill>
      </p:bgPr>
    </p:bg>
    <p:spTree>
      <p:nvGrpSpPr>
        <p:cNvPr id="1" name=""/>
        <p:cNvGrpSpPr/>
        <p:nvPr/>
      </p:nvGrpSpPr>
      <p:grpSpPr>
        <a:xfrm>
          <a:off x="0" y="0"/>
          <a:ext cx="0" cy="0"/>
          <a:chOff x="0" y="0"/>
          <a:chExt cx="0" cy="0"/>
        </a:xfrm>
      </p:grpSpPr>
      <p:sp>
        <p:nvSpPr>
          <p:cNvPr id="2" name="Text 0"/>
          <p:cNvSpPr txBox="1"/>
          <p:nvPr/>
        </p:nvSpPr>
        <p:spPr>
          <a:xfrm>
            <a:off x="731520" y="1188720"/>
            <a:ext cx="2926080" cy="1828800"/>
          </a:xfrm>
          <a:prstGeom prst="rect">
            <a:avLst/>
          </a:prstGeom>
          <a:noFill/>
          <a:ln/>
        </p:spPr>
        <p:txBody>
          <a:bodyPr wrap="square" lIns="0" tIns="0" rIns="0" bIns="0" rtlCol="0" anchor="t"/>
          <a:lstStyle/>
          <a:p>
            <a:pPr indent="0" marL="0">
              <a:buNone/>
            </a:pPr>
            <a:r>
              <a:rPr lang="en-US" sz="11000" b="1" dirty="0">
                <a:solidFill>
                  <a:srgbClr val="EA580C"/>
                </a:solidFill>
                <a:latin typeface="Calibri" pitchFamily="34" charset="0"/>
                <a:ea typeface="Calibri" pitchFamily="34" charset="-122"/>
                <a:cs typeface="Calibri" pitchFamily="34" charset="-120"/>
              </a:rPr>
              <a:t>05</a:t>
            </a:r>
            <a:endParaRPr lang="en-US" sz="11000" dirty="0"/>
          </a:p>
        </p:txBody>
      </p:sp>
      <p:sp>
        <p:nvSpPr>
          <p:cNvPr id="3" name="Text 1"/>
          <p:cNvSpPr txBox="1"/>
          <p:nvPr/>
        </p:nvSpPr>
        <p:spPr>
          <a:xfrm>
            <a:off x="731520" y="3063240"/>
            <a:ext cx="10515600" cy="1463040"/>
          </a:xfrm>
          <a:prstGeom prst="rect">
            <a:avLst/>
          </a:prstGeom>
          <a:noFill/>
          <a:ln/>
        </p:spPr>
        <p:txBody>
          <a:bodyPr wrap="square" lIns="0" tIns="0" rIns="0" bIns="0" rtlCol="0" anchor="t"/>
          <a:lstStyle/>
          <a:p>
            <a:pPr indent="0" marL="0">
              <a:buNone/>
            </a:pPr>
            <a:r>
              <a:rPr lang="en-US" sz="4200" b="1" dirty="0">
                <a:solidFill>
                  <a:srgbClr val="FFFFFF"/>
                </a:solidFill>
                <a:latin typeface="Calibri" pitchFamily="34" charset="0"/>
                <a:ea typeface="Calibri" pitchFamily="34" charset="-122"/>
                <a:cs typeface="Calibri" pitchFamily="34" charset="-120"/>
              </a:rPr>
              <a:t>Limitations, security and tools</a:t>
            </a:r>
            <a:endParaRPr lang="en-US" sz="4200" dirty="0"/>
          </a:p>
        </p:txBody>
      </p:sp>
      <p:sp>
        <p:nvSpPr>
          <p:cNvPr id="4" name="Text 2"/>
          <p:cNvSpPr txBox="1"/>
          <p:nvPr/>
        </p:nvSpPr>
        <p:spPr>
          <a:xfrm>
            <a:off x="731520" y="4617720"/>
            <a:ext cx="10515600" cy="1097280"/>
          </a:xfrm>
          <a:prstGeom prst="rect">
            <a:avLst/>
          </a:prstGeom>
          <a:noFill/>
          <a:ln/>
        </p:spPr>
        <p:txBody>
          <a:bodyPr wrap="square" lIns="0" tIns="0" rIns="0" bIns="0" rtlCol="0" anchor="t"/>
          <a:lstStyle/>
          <a:p>
            <a:pPr indent="0" marL="0">
              <a:buNone/>
            </a:pPr>
            <a:r>
              <a:rPr lang="en-US" sz="2200" i="1" dirty="0">
                <a:solidFill>
                  <a:srgbClr val="C7D2FE"/>
                </a:solidFill>
                <a:latin typeface="Calibri" pitchFamily="34" charset="0"/>
                <a:ea typeface="Calibri" pitchFamily="34" charset="-122"/>
                <a:cs typeface="Calibri" pitchFamily="34" charset="-120"/>
              </a:rPr>
              <a:t>What can still go wrong, and what tools help?</a:t>
            </a:r>
            <a:endParaRPr lang="en-US" sz="2200" dirty="0"/>
          </a:p>
        </p:txBody>
      </p:sp>
      <p:sp>
        <p:nvSpPr>
          <p:cNvPr id="5" name="Shape 3"/>
          <p:cNvSpPr/>
          <p:nvPr/>
        </p:nvSpPr>
        <p:spPr>
          <a:xfrm>
            <a:off x="9692640" y="1097280"/>
            <a:ext cx="1554480" cy="1554480"/>
          </a:xfrm>
          <a:prstGeom prst="ellipse">
            <a:avLst/>
          </a:prstGeom>
          <a:solidFill>
            <a:srgbClr val="4F46E5"/>
          </a:solidFill>
          <a:ln w="12700">
            <a:solidFill>
              <a:srgbClr val="4F46E5"/>
            </a:solidFill>
            <a:prstDash val="solid"/>
          </a:ln>
        </p:spPr>
      </p:sp>
      <p:pic>
        <p:nvPicPr>
          <p:cNvPr id="6" name="Image 0" descr="preencoded.png">    </p:cNvPr>
          <p:cNvPicPr>
            <a:picLocks noChangeAspect="1"/>
          </p:cNvPicPr>
          <p:nvPr/>
        </p:nvPicPr>
        <p:blipFill>
          <a:blip r:embed="rId1"/>
          <a:stretch>
            <a:fillRect/>
          </a:stretch>
        </p:blipFill>
        <p:spPr>
          <a:xfrm>
            <a:off x="10065715" y="1470355"/>
            <a:ext cx="808330" cy="808330"/>
          </a:xfrm>
          <a:prstGeom prst="rect">
            <a:avLst/>
          </a:prstGeom>
        </p:spPr>
      </p:pic>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07  ·  PROMPT ENGINEERING AND EVALUATION</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39</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Limitations that prompting cannot remove</a:t>
            </a:r>
            <a:endParaRPr lang="en-US" sz="3200" dirty="0"/>
          </a:p>
        </p:txBody>
      </p:sp>
      <p:sp>
        <p:nvSpPr>
          <p:cNvPr id="6" name="Shape 4"/>
          <p:cNvSpPr/>
          <p:nvPr/>
        </p:nvSpPr>
        <p:spPr>
          <a:xfrm>
            <a:off x="548640" y="1481328"/>
            <a:ext cx="3515258" cy="2276856"/>
          </a:xfrm>
          <a:prstGeom prst="roundRect">
            <a:avLst>
              <a:gd name="adj" fmla="val 4819"/>
            </a:avLst>
          </a:prstGeom>
          <a:solidFill>
            <a:srgbClr val="EEF0FF"/>
          </a:solidFill>
          <a:ln w="12700">
            <a:solidFill>
              <a:srgbClr val="EEF0FF"/>
            </a:solidFill>
            <a:prstDash val="solid"/>
          </a:ln>
        </p:spPr>
      </p:sp>
      <p:sp>
        <p:nvSpPr>
          <p:cNvPr id="7" name="Shape 5"/>
          <p:cNvSpPr/>
          <p:nvPr/>
        </p:nvSpPr>
        <p:spPr>
          <a:xfrm>
            <a:off x="731520" y="1664208"/>
            <a:ext cx="548640" cy="548640"/>
          </a:xfrm>
          <a:prstGeom prst="ellipse">
            <a:avLst/>
          </a:prstGeom>
          <a:solidFill>
            <a:srgbClr val="4F46E5"/>
          </a:solidFill>
          <a:ln w="12700">
            <a:solidFill>
              <a:srgbClr val="4F46E5"/>
            </a:solidFill>
            <a:prstDash val="solid"/>
          </a:ln>
        </p:spPr>
      </p:sp>
      <p:pic>
        <p:nvPicPr>
          <p:cNvPr id="8" name="Image 0" descr="preencoded.png">    </p:cNvPr>
          <p:cNvPicPr>
            <a:picLocks noChangeAspect="1"/>
          </p:cNvPicPr>
          <p:nvPr/>
        </p:nvPicPr>
        <p:blipFill>
          <a:blip r:embed="rId1"/>
          <a:stretch>
            <a:fillRect/>
          </a:stretch>
        </p:blipFill>
        <p:spPr>
          <a:xfrm>
            <a:off x="863194" y="1795882"/>
            <a:ext cx="285293" cy="285293"/>
          </a:xfrm>
          <a:prstGeom prst="rect">
            <a:avLst/>
          </a:prstGeom>
        </p:spPr>
      </p:pic>
      <p:sp>
        <p:nvSpPr>
          <p:cNvPr id="9" name="Text 6"/>
          <p:cNvSpPr txBox="1"/>
          <p:nvPr/>
        </p:nvSpPr>
        <p:spPr>
          <a:xfrm>
            <a:off x="1371600" y="1645920"/>
            <a:ext cx="2555138" cy="594360"/>
          </a:xfrm>
          <a:prstGeom prst="rect">
            <a:avLst/>
          </a:prstGeom>
          <a:noFill/>
          <a:ln/>
        </p:spPr>
        <p:txBody>
          <a:bodyPr wrap="square" lIns="50800" tIns="50800" rIns="50800" bIns="50800" rtlCol="0" anchor="ctr"/>
          <a:lstStyle/>
          <a:p>
            <a:pPr indent="0" marL="0">
              <a:buNone/>
            </a:pPr>
            <a:r>
              <a:rPr lang="en-US" sz="2100" b="1" dirty="0">
                <a:solidFill>
                  <a:srgbClr val="1E1B4B"/>
                </a:solidFill>
                <a:latin typeface="Calibri" pitchFamily="34" charset="0"/>
                <a:ea typeface="Calibri" pitchFamily="34" charset="-122"/>
                <a:cs typeface="Calibri" pitchFamily="34" charset="-120"/>
              </a:rPr>
              <a:t>Hallucination</a:t>
            </a:r>
            <a:endParaRPr lang="en-US" sz="2100" dirty="0"/>
          </a:p>
        </p:txBody>
      </p:sp>
      <p:sp>
        <p:nvSpPr>
          <p:cNvPr id="10" name="Text 7"/>
          <p:cNvSpPr txBox="1"/>
          <p:nvPr/>
        </p:nvSpPr>
        <p:spPr>
          <a:xfrm>
            <a:off x="731520" y="2304288"/>
            <a:ext cx="3149498" cy="1408176"/>
          </a:xfrm>
          <a:prstGeom prst="rect">
            <a:avLst/>
          </a:prstGeom>
          <a:noFill/>
          <a:ln/>
        </p:spPr>
        <p:txBody>
          <a:bodyPr wrap="square" lIns="50800" tIns="50800" rIns="50800" bIns="50800" rtlCol="0" anchor="t"/>
          <a:lstStyle/>
          <a:p>
            <a:pPr indent="0" marL="0">
              <a:buNone/>
            </a:pPr>
            <a:r>
              <a:rPr lang="en-US" sz="2200" dirty="0">
                <a:solidFill>
                  <a:srgbClr val="1F2937"/>
                </a:solidFill>
                <a:latin typeface="Calibri" pitchFamily="34" charset="0"/>
                <a:ea typeface="Calibri" pitchFamily="34" charset="-122"/>
                <a:cs typeface="Calibri" pitchFamily="34" charset="-120"/>
              </a:rPr>
              <a:t>Fluent text can be false: an invented reference that looks real.</a:t>
            </a:r>
            <a:endParaRPr lang="en-US" sz="2200" dirty="0"/>
          </a:p>
        </p:txBody>
      </p:sp>
      <p:sp>
        <p:nvSpPr>
          <p:cNvPr id="11" name="Shape 8"/>
          <p:cNvSpPr/>
          <p:nvPr/>
        </p:nvSpPr>
        <p:spPr>
          <a:xfrm>
            <a:off x="4338218" y="1481328"/>
            <a:ext cx="3515258" cy="2276856"/>
          </a:xfrm>
          <a:prstGeom prst="roundRect">
            <a:avLst>
              <a:gd name="adj" fmla="val 4819"/>
            </a:avLst>
          </a:prstGeom>
          <a:solidFill>
            <a:srgbClr val="F5F3FF"/>
          </a:solidFill>
          <a:ln w="12700">
            <a:solidFill>
              <a:srgbClr val="EEF0FF"/>
            </a:solidFill>
            <a:prstDash val="solid"/>
          </a:ln>
        </p:spPr>
      </p:sp>
      <p:sp>
        <p:nvSpPr>
          <p:cNvPr id="12" name="Shape 9"/>
          <p:cNvSpPr/>
          <p:nvPr/>
        </p:nvSpPr>
        <p:spPr>
          <a:xfrm>
            <a:off x="4521098" y="1664208"/>
            <a:ext cx="548640" cy="548640"/>
          </a:xfrm>
          <a:prstGeom prst="ellipse">
            <a:avLst/>
          </a:prstGeom>
          <a:solidFill>
            <a:srgbClr val="4F46E5"/>
          </a:solidFill>
          <a:ln w="12700">
            <a:solidFill>
              <a:srgbClr val="4F46E5"/>
            </a:solidFill>
            <a:prstDash val="solid"/>
          </a:ln>
        </p:spPr>
      </p:sp>
      <p:pic>
        <p:nvPicPr>
          <p:cNvPr id="13" name="Image 1" descr="preencoded.png">    </p:cNvPr>
          <p:cNvPicPr>
            <a:picLocks noChangeAspect="1"/>
          </p:cNvPicPr>
          <p:nvPr/>
        </p:nvPicPr>
        <p:blipFill>
          <a:blip r:embed="rId2"/>
          <a:stretch>
            <a:fillRect/>
          </a:stretch>
        </p:blipFill>
        <p:spPr>
          <a:xfrm>
            <a:off x="4652772" y="1795882"/>
            <a:ext cx="285293" cy="285293"/>
          </a:xfrm>
          <a:prstGeom prst="rect">
            <a:avLst/>
          </a:prstGeom>
        </p:spPr>
      </p:pic>
      <p:sp>
        <p:nvSpPr>
          <p:cNvPr id="14" name="Text 10"/>
          <p:cNvSpPr txBox="1"/>
          <p:nvPr/>
        </p:nvSpPr>
        <p:spPr>
          <a:xfrm>
            <a:off x="5161178" y="1645920"/>
            <a:ext cx="2555138" cy="594360"/>
          </a:xfrm>
          <a:prstGeom prst="rect">
            <a:avLst/>
          </a:prstGeom>
          <a:noFill/>
          <a:ln/>
        </p:spPr>
        <p:txBody>
          <a:bodyPr wrap="square" lIns="50800" tIns="50800" rIns="50800" bIns="50800" rtlCol="0" anchor="ctr"/>
          <a:lstStyle/>
          <a:p>
            <a:pPr indent="0" marL="0">
              <a:buNone/>
            </a:pPr>
            <a:r>
              <a:rPr lang="en-US" sz="2100" b="1" dirty="0">
                <a:solidFill>
                  <a:srgbClr val="1E1B4B"/>
                </a:solidFill>
                <a:latin typeface="Calibri" pitchFamily="34" charset="0"/>
                <a:ea typeface="Calibri" pitchFamily="34" charset="-122"/>
                <a:cs typeface="Calibri" pitchFamily="34" charset="-120"/>
              </a:rPr>
              <a:t>Prompt sensitivity</a:t>
            </a:r>
            <a:endParaRPr lang="en-US" sz="2100" dirty="0"/>
          </a:p>
        </p:txBody>
      </p:sp>
      <p:sp>
        <p:nvSpPr>
          <p:cNvPr id="15" name="Text 11"/>
          <p:cNvSpPr txBox="1"/>
          <p:nvPr/>
        </p:nvSpPr>
        <p:spPr>
          <a:xfrm>
            <a:off x="4521098" y="2304288"/>
            <a:ext cx="3149498" cy="1408176"/>
          </a:xfrm>
          <a:prstGeom prst="rect">
            <a:avLst/>
          </a:prstGeom>
          <a:noFill/>
          <a:ln/>
        </p:spPr>
        <p:txBody>
          <a:bodyPr wrap="square" lIns="50800" tIns="50800" rIns="50800" bIns="50800" rtlCol="0" anchor="t"/>
          <a:lstStyle/>
          <a:p>
            <a:pPr indent="0" marL="0">
              <a:buNone/>
            </a:pPr>
            <a:r>
              <a:rPr lang="en-US" sz="2200" dirty="0">
                <a:solidFill>
                  <a:srgbClr val="1F2937"/>
                </a:solidFill>
                <a:latin typeface="Calibri" pitchFamily="34" charset="0"/>
                <a:ea typeface="Calibri" pitchFamily="34" charset="-122"/>
                <a:cs typeface="Calibri" pitchFamily="34" charset="-120"/>
              </a:rPr>
              <a:t>Swapping two examples' order can change the label.</a:t>
            </a:r>
            <a:endParaRPr lang="en-US" sz="2200" dirty="0"/>
          </a:p>
        </p:txBody>
      </p:sp>
      <p:sp>
        <p:nvSpPr>
          <p:cNvPr id="16" name="Shape 12"/>
          <p:cNvSpPr/>
          <p:nvPr/>
        </p:nvSpPr>
        <p:spPr>
          <a:xfrm>
            <a:off x="8127797" y="1481328"/>
            <a:ext cx="3515258" cy="2276856"/>
          </a:xfrm>
          <a:prstGeom prst="roundRect">
            <a:avLst>
              <a:gd name="adj" fmla="val 4819"/>
            </a:avLst>
          </a:prstGeom>
          <a:solidFill>
            <a:srgbClr val="EEF0FF"/>
          </a:solidFill>
          <a:ln w="12700">
            <a:solidFill>
              <a:srgbClr val="EEF0FF"/>
            </a:solidFill>
            <a:prstDash val="solid"/>
          </a:ln>
        </p:spPr>
      </p:sp>
      <p:sp>
        <p:nvSpPr>
          <p:cNvPr id="17" name="Shape 13"/>
          <p:cNvSpPr/>
          <p:nvPr/>
        </p:nvSpPr>
        <p:spPr>
          <a:xfrm>
            <a:off x="8310677" y="1664208"/>
            <a:ext cx="548640" cy="548640"/>
          </a:xfrm>
          <a:prstGeom prst="ellipse">
            <a:avLst/>
          </a:prstGeom>
          <a:solidFill>
            <a:srgbClr val="4F46E5"/>
          </a:solidFill>
          <a:ln w="12700">
            <a:solidFill>
              <a:srgbClr val="4F46E5"/>
            </a:solidFill>
            <a:prstDash val="solid"/>
          </a:ln>
        </p:spPr>
      </p:sp>
      <p:pic>
        <p:nvPicPr>
          <p:cNvPr id="18" name="Image 2" descr="preencoded.png">    </p:cNvPr>
          <p:cNvPicPr>
            <a:picLocks noChangeAspect="1"/>
          </p:cNvPicPr>
          <p:nvPr/>
        </p:nvPicPr>
        <p:blipFill>
          <a:blip r:embed="rId3"/>
          <a:stretch>
            <a:fillRect/>
          </a:stretch>
        </p:blipFill>
        <p:spPr>
          <a:xfrm>
            <a:off x="8442350" y="1795882"/>
            <a:ext cx="285293" cy="285293"/>
          </a:xfrm>
          <a:prstGeom prst="rect">
            <a:avLst/>
          </a:prstGeom>
        </p:spPr>
      </p:pic>
      <p:sp>
        <p:nvSpPr>
          <p:cNvPr id="19" name="Text 14"/>
          <p:cNvSpPr txBox="1"/>
          <p:nvPr/>
        </p:nvSpPr>
        <p:spPr>
          <a:xfrm>
            <a:off x="8950757" y="1645920"/>
            <a:ext cx="2555138" cy="594360"/>
          </a:xfrm>
          <a:prstGeom prst="rect">
            <a:avLst/>
          </a:prstGeom>
          <a:noFill/>
          <a:ln/>
        </p:spPr>
        <p:txBody>
          <a:bodyPr wrap="square" lIns="50800" tIns="50800" rIns="50800" bIns="50800" rtlCol="0" anchor="ctr"/>
          <a:lstStyle/>
          <a:p>
            <a:pPr indent="0" marL="0">
              <a:buNone/>
            </a:pPr>
            <a:r>
              <a:rPr lang="en-US" sz="2100" b="1" dirty="0">
                <a:solidFill>
                  <a:srgbClr val="1E1B4B"/>
                </a:solidFill>
                <a:latin typeface="Calibri" pitchFamily="34" charset="0"/>
                <a:ea typeface="Calibri" pitchFamily="34" charset="-122"/>
                <a:cs typeface="Calibri" pitchFamily="34" charset="-120"/>
              </a:rPr>
              <a:t>Knowledge cut-off</a:t>
            </a:r>
            <a:endParaRPr lang="en-US" sz="2100" dirty="0"/>
          </a:p>
        </p:txBody>
      </p:sp>
      <p:sp>
        <p:nvSpPr>
          <p:cNvPr id="20" name="Text 15"/>
          <p:cNvSpPr txBox="1"/>
          <p:nvPr/>
        </p:nvSpPr>
        <p:spPr>
          <a:xfrm>
            <a:off x="8310677" y="2304288"/>
            <a:ext cx="3149498" cy="1408176"/>
          </a:xfrm>
          <a:prstGeom prst="rect">
            <a:avLst/>
          </a:prstGeom>
          <a:noFill/>
          <a:ln/>
        </p:spPr>
        <p:txBody>
          <a:bodyPr wrap="square" lIns="50800" tIns="50800" rIns="50800" bIns="50800" rtlCol="0" anchor="t"/>
          <a:lstStyle/>
          <a:p>
            <a:pPr indent="0" marL="0">
              <a:buNone/>
            </a:pPr>
            <a:r>
              <a:rPr lang="en-US" sz="2200" dirty="0">
                <a:solidFill>
                  <a:srgbClr val="1F2937"/>
                </a:solidFill>
                <a:latin typeface="Calibri" pitchFamily="34" charset="0"/>
                <a:ea typeface="Calibri" pitchFamily="34" charset="-122"/>
                <a:cs typeface="Calibri" pitchFamily="34" charset="-120"/>
              </a:rPr>
              <a:t>The model may not know this year's fees; supply current sources.</a:t>
            </a:r>
            <a:endParaRPr lang="en-US" sz="2200" dirty="0"/>
          </a:p>
        </p:txBody>
      </p:sp>
      <p:sp>
        <p:nvSpPr>
          <p:cNvPr id="21" name="Shape 16"/>
          <p:cNvSpPr/>
          <p:nvPr/>
        </p:nvSpPr>
        <p:spPr>
          <a:xfrm>
            <a:off x="548640" y="4032504"/>
            <a:ext cx="3515258" cy="2276856"/>
          </a:xfrm>
          <a:prstGeom prst="roundRect">
            <a:avLst>
              <a:gd name="adj" fmla="val 4819"/>
            </a:avLst>
          </a:prstGeom>
          <a:solidFill>
            <a:srgbClr val="F5F3FF"/>
          </a:solidFill>
          <a:ln w="12700">
            <a:solidFill>
              <a:srgbClr val="EEF0FF"/>
            </a:solidFill>
            <a:prstDash val="solid"/>
          </a:ln>
        </p:spPr>
      </p:sp>
      <p:sp>
        <p:nvSpPr>
          <p:cNvPr id="22" name="Shape 17"/>
          <p:cNvSpPr/>
          <p:nvPr/>
        </p:nvSpPr>
        <p:spPr>
          <a:xfrm>
            <a:off x="731520" y="4215384"/>
            <a:ext cx="548640" cy="548640"/>
          </a:xfrm>
          <a:prstGeom prst="ellipse">
            <a:avLst/>
          </a:prstGeom>
          <a:solidFill>
            <a:srgbClr val="4F46E5"/>
          </a:solidFill>
          <a:ln w="12700">
            <a:solidFill>
              <a:srgbClr val="4F46E5"/>
            </a:solidFill>
            <a:prstDash val="solid"/>
          </a:ln>
        </p:spPr>
      </p:sp>
      <p:pic>
        <p:nvPicPr>
          <p:cNvPr id="23" name="Image 3" descr="preencoded.png">    </p:cNvPr>
          <p:cNvPicPr>
            <a:picLocks noChangeAspect="1"/>
          </p:cNvPicPr>
          <p:nvPr/>
        </p:nvPicPr>
        <p:blipFill>
          <a:blip r:embed="rId4"/>
          <a:stretch>
            <a:fillRect/>
          </a:stretch>
        </p:blipFill>
        <p:spPr>
          <a:xfrm>
            <a:off x="863194" y="4347058"/>
            <a:ext cx="285293" cy="285293"/>
          </a:xfrm>
          <a:prstGeom prst="rect">
            <a:avLst/>
          </a:prstGeom>
        </p:spPr>
      </p:pic>
      <p:sp>
        <p:nvSpPr>
          <p:cNvPr id="24" name="Text 18"/>
          <p:cNvSpPr txBox="1"/>
          <p:nvPr/>
        </p:nvSpPr>
        <p:spPr>
          <a:xfrm>
            <a:off x="1371600" y="4197096"/>
            <a:ext cx="2555138" cy="594360"/>
          </a:xfrm>
          <a:prstGeom prst="rect">
            <a:avLst/>
          </a:prstGeom>
          <a:noFill/>
          <a:ln/>
        </p:spPr>
        <p:txBody>
          <a:bodyPr wrap="square" lIns="50800" tIns="50800" rIns="50800" bIns="50800" rtlCol="0" anchor="ctr"/>
          <a:lstStyle/>
          <a:p>
            <a:pPr indent="0" marL="0">
              <a:buNone/>
            </a:pPr>
            <a:r>
              <a:rPr lang="en-US" sz="2100" b="1" dirty="0">
                <a:solidFill>
                  <a:srgbClr val="1E1B4B"/>
                </a:solidFill>
                <a:latin typeface="Calibri" pitchFamily="34" charset="0"/>
                <a:ea typeface="Calibri" pitchFamily="34" charset="-122"/>
                <a:cs typeface="Calibri" pitchFamily="34" charset="-120"/>
              </a:rPr>
              <a:t>Sycophancy</a:t>
            </a:r>
            <a:endParaRPr lang="en-US" sz="2100" dirty="0"/>
          </a:p>
        </p:txBody>
      </p:sp>
      <p:sp>
        <p:nvSpPr>
          <p:cNvPr id="25" name="Text 19"/>
          <p:cNvSpPr txBox="1"/>
          <p:nvPr/>
        </p:nvSpPr>
        <p:spPr>
          <a:xfrm>
            <a:off x="731520" y="4855464"/>
            <a:ext cx="3149498" cy="1408176"/>
          </a:xfrm>
          <a:prstGeom prst="rect">
            <a:avLst/>
          </a:prstGeom>
          <a:noFill/>
          <a:ln/>
        </p:spPr>
        <p:txBody>
          <a:bodyPr wrap="square" lIns="50800" tIns="50800" rIns="50800" bIns="50800" rtlCol="0" anchor="t"/>
          <a:lstStyle/>
          <a:p>
            <a:pPr indent="0" marL="0">
              <a:buNone/>
            </a:pPr>
            <a:r>
              <a:rPr lang="en-US" sz="2200" dirty="0">
                <a:solidFill>
                  <a:srgbClr val="1F2937"/>
                </a:solidFill>
                <a:latin typeface="Calibri" pitchFamily="34" charset="0"/>
                <a:ea typeface="Calibri" pitchFamily="34" charset="-122"/>
                <a:cs typeface="Calibri" pitchFamily="34" charset="-120"/>
              </a:rPr>
              <a:t>"Are you sure?" can make a model drop a correct answer.</a:t>
            </a:r>
            <a:endParaRPr lang="en-US" sz="2200" dirty="0"/>
          </a:p>
        </p:txBody>
      </p:sp>
      <p:sp>
        <p:nvSpPr>
          <p:cNvPr id="26" name="Shape 20"/>
          <p:cNvSpPr/>
          <p:nvPr/>
        </p:nvSpPr>
        <p:spPr>
          <a:xfrm>
            <a:off x="4338218" y="4032504"/>
            <a:ext cx="3515258" cy="2276856"/>
          </a:xfrm>
          <a:prstGeom prst="roundRect">
            <a:avLst>
              <a:gd name="adj" fmla="val 4819"/>
            </a:avLst>
          </a:prstGeom>
          <a:solidFill>
            <a:srgbClr val="EEF0FF"/>
          </a:solidFill>
          <a:ln w="12700">
            <a:solidFill>
              <a:srgbClr val="EEF0FF"/>
            </a:solidFill>
            <a:prstDash val="solid"/>
          </a:ln>
        </p:spPr>
      </p:sp>
      <p:sp>
        <p:nvSpPr>
          <p:cNvPr id="27" name="Shape 21"/>
          <p:cNvSpPr/>
          <p:nvPr/>
        </p:nvSpPr>
        <p:spPr>
          <a:xfrm>
            <a:off x="4521098" y="4215384"/>
            <a:ext cx="548640" cy="548640"/>
          </a:xfrm>
          <a:prstGeom prst="ellipse">
            <a:avLst/>
          </a:prstGeom>
          <a:solidFill>
            <a:srgbClr val="4F46E5"/>
          </a:solidFill>
          <a:ln w="12700">
            <a:solidFill>
              <a:srgbClr val="4F46E5"/>
            </a:solidFill>
            <a:prstDash val="solid"/>
          </a:ln>
        </p:spPr>
      </p:sp>
      <p:pic>
        <p:nvPicPr>
          <p:cNvPr id="28" name="Image 4" descr="preencoded.png">    </p:cNvPr>
          <p:cNvPicPr>
            <a:picLocks noChangeAspect="1"/>
          </p:cNvPicPr>
          <p:nvPr/>
        </p:nvPicPr>
        <p:blipFill>
          <a:blip r:embed="rId5"/>
          <a:stretch>
            <a:fillRect/>
          </a:stretch>
        </p:blipFill>
        <p:spPr>
          <a:xfrm>
            <a:off x="4652772" y="4347058"/>
            <a:ext cx="285293" cy="285293"/>
          </a:xfrm>
          <a:prstGeom prst="rect">
            <a:avLst/>
          </a:prstGeom>
        </p:spPr>
      </p:pic>
      <p:sp>
        <p:nvSpPr>
          <p:cNvPr id="29" name="Text 22"/>
          <p:cNvSpPr txBox="1"/>
          <p:nvPr/>
        </p:nvSpPr>
        <p:spPr>
          <a:xfrm>
            <a:off x="5161178" y="4197096"/>
            <a:ext cx="2555138" cy="594360"/>
          </a:xfrm>
          <a:prstGeom prst="rect">
            <a:avLst/>
          </a:prstGeom>
          <a:noFill/>
          <a:ln/>
        </p:spPr>
        <p:txBody>
          <a:bodyPr wrap="square" lIns="50800" tIns="50800" rIns="50800" bIns="50800" rtlCol="0" anchor="ctr"/>
          <a:lstStyle/>
          <a:p>
            <a:pPr indent="0" marL="0">
              <a:buNone/>
            </a:pPr>
            <a:r>
              <a:rPr lang="en-US" sz="2100" b="1" dirty="0">
                <a:solidFill>
                  <a:srgbClr val="1E1B4B"/>
                </a:solidFill>
                <a:latin typeface="Calibri" pitchFamily="34" charset="0"/>
                <a:ea typeface="Calibri" pitchFamily="34" charset="-122"/>
                <a:cs typeface="Calibri" pitchFamily="34" charset="-120"/>
              </a:rPr>
              <a:t>Bias</a:t>
            </a:r>
            <a:endParaRPr lang="en-US" sz="2100" dirty="0"/>
          </a:p>
        </p:txBody>
      </p:sp>
      <p:sp>
        <p:nvSpPr>
          <p:cNvPr id="30" name="Text 23"/>
          <p:cNvSpPr txBox="1"/>
          <p:nvPr/>
        </p:nvSpPr>
        <p:spPr>
          <a:xfrm>
            <a:off x="4521098" y="4855464"/>
            <a:ext cx="3149498" cy="1408176"/>
          </a:xfrm>
          <a:prstGeom prst="rect">
            <a:avLst/>
          </a:prstGeom>
          <a:noFill/>
          <a:ln/>
        </p:spPr>
        <p:txBody>
          <a:bodyPr wrap="square" lIns="50800" tIns="50800" rIns="50800" bIns="50800" rtlCol="0" anchor="t"/>
          <a:lstStyle/>
          <a:p>
            <a:pPr indent="0" marL="0">
              <a:buNone/>
            </a:pPr>
            <a:r>
              <a:rPr lang="en-US" sz="2200" dirty="0">
                <a:solidFill>
                  <a:srgbClr val="1F2937"/>
                </a:solidFill>
                <a:latin typeface="Calibri" pitchFamily="34" charset="0"/>
                <a:ea typeface="Calibri" pitchFamily="34" charset="-122"/>
                <a:cs typeface="Calibri" pitchFamily="34" charset="-120"/>
              </a:rPr>
              <a:t>Change only the name in a message and compare the replies.</a:t>
            </a:r>
            <a:endParaRPr lang="en-US" sz="2200" dirty="0"/>
          </a:p>
        </p:txBody>
      </p:sp>
      <p:sp>
        <p:nvSpPr>
          <p:cNvPr id="31" name="Shape 24"/>
          <p:cNvSpPr/>
          <p:nvPr/>
        </p:nvSpPr>
        <p:spPr>
          <a:xfrm>
            <a:off x="8127797" y="4032504"/>
            <a:ext cx="3515258" cy="2276856"/>
          </a:xfrm>
          <a:prstGeom prst="roundRect">
            <a:avLst>
              <a:gd name="adj" fmla="val 4819"/>
            </a:avLst>
          </a:prstGeom>
          <a:solidFill>
            <a:srgbClr val="F5F3FF"/>
          </a:solidFill>
          <a:ln w="12700">
            <a:solidFill>
              <a:srgbClr val="EEF0FF"/>
            </a:solidFill>
            <a:prstDash val="solid"/>
          </a:ln>
        </p:spPr>
      </p:sp>
      <p:sp>
        <p:nvSpPr>
          <p:cNvPr id="32" name="Shape 25"/>
          <p:cNvSpPr/>
          <p:nvPr/>
        </p:nvSpPr>
        <p:spPr>
          <a:xfrm>
            <a:off x="8310677" y="4215384"/>
            <a:ext cx="548640" cy="548640"/>
          </a:xfrm>
          <a:prstGeom prst="ellipse">
            <a:avLst/>
          </a:prstGeom>
          <a:solidFill>
            <a:srgbClr val="4F46E5"/>
          </a:solidFill>
          <a:ln w="12700">
            <a:solidFill>
              <a:srgbClr val="4F46E5"/>
            </a:solidFill>
            <a:prstDash val="solid"/>
          </a:ln>
        </p:spPr>
      </p:sp>
      <p:pic>
        <p:nvPicPr>
          <p:cNvPr id="33" name="Image 5" descr="preencoded.png">    </p:cNvPr>
          <p:cNvPicPr>
            <a:picLocks noChangeAspect="1"/>
          </p:cNvPicPr>
          <p:nvPr/>
        </p:nvPicPr>
        <p:blipFill>
          <a:blip r:embed="rId6"/>
          <a:stretch>
            <a:fillRect/>
          </a:stretch>
        </p:blipFill>
        <p:spPr>
          <a:xfrm>
            <a:off x="8442350" y="4347058"/>
            <a:ext cx="285293" cy="285293"/>
          </a:xfrm>
          <a:prstGeom prst="rect">
            <a:avLst/>
          </a:prstGeom>
        </p:spPr>
      </p:pic>
      <p:sp>
        <p:nvSpPr>
          <p:cNvPr id="34" name="Text 26"/>
          <p:cNvSpPr txBox="1"/>
          <p:nvPr/>
        </p:nvSpPr>
        <p:spPr>
          <a:xfrm>
            <a:off x="8950757" y="4197096"/>
            <a:ext cx="2555138" cy="594360"/>
          </a:xfrm>
          <a:prstGeom prst="rect">
            <a:avLst/>
          </a:prstGeom>
          <a:noFill/>
          <a:ln/>
        </p:spPr>
        <p:txBody>
          <a:bodyPr wrap="square" lIns="50800" tIns="50800" rIns="50800" bIns="50800" rtlCol="0" anchor="ctr"/>
          <a:lstStyle/>
          <a:p>
            <a:pPr indent="0" marL="0">
              <a:buNone/>
            </a:pPr>
            <a:r>
              <a:rPr lang="en-US" sz="2100" b="1" dirty="0">
                <a:solidFill>
                  <a:srgbClr val="1E1B4B"/>
                </a:solidFill>
                <a:latin typeface="Calibri" pitchFamily="34" charset="0"/>
                <a:ea typeface="Calibri" pitchFamily="34" charset="-122"/>
                <a:cs typeface="Calibri" pitchFamily="34" charset="-120"/>
              </a:rPr>
              <a:t>Non-determinism</a:t>
            </a:r>
            <a:endParaRPr lang="en-US" sz="2100" dirty="0"/>
          </a:p>
        </p:txBody>
      </p:sp>
      <p:sp>
        <p:nvSpPr>
          <p:cNvPr id="35" name="Text 27"/>
          <p:cNvSpPr txBox="1"/>
          <p:nvPr/>
        </p:nvSpPr>
        <p:spPr>
          <a:xfrm>
            <a:off x="8310677" y="4855464"/>
            <a:ext cx="3149498" cy="1408176"/>
          </a:xfrm>
          <a:prstGeom prst="rect">
            <a:avLst/>
          </a:prstGeom>
          <a:noFill/>
          <a:ln/>
        </p:spPr>
        <p:txBody>
          <a:bodyPr wrap="square" lIns="50800" tIns="50800" rIns="50800" bIns="50800" rtlCol="0" anchor="t"/>
          <a:lstStyle/>
          <a:p>
            <a:pPr indent="0" marL="0">
              <a:buNone/>
            </a:pPr>
            <a:r>
              <a:rPr lang="en-US" sz="2200" dirty="0">
                <a:solidFill>
                  <a:srgbClr val="1F2937"/>
                </a:solidFill>
                <a:latin typeface="Calibri" pitchFamily="34" charset="0"/>
                <a:ea typeface="Calibri" pitchFamily="34" charset="-122"/>
                <a:cs typeface="Calibri" pitchFamily="34" charset="-120"/>
              </a:rPr>
              <a:t>Sampling and service updates can change a reply; log versions.</a:t>
            </a:r>
            <a:endParaRPr lang="en-US" sz="22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07  ·  PROMPT ENGINEERING AND EVALUATION</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40</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Prompt injection and jailbreaks: a real measurement</a:t>
            </a:r>
            <a:endParaRPr lang="en-US" sz="3200" dirty="0"/>
          </a:p>
        </p:txBody>
      </p:sp>
      <p:pic>
        <p:nvPicPr>
          <p:cNvPr id="6" name="Image 0" descr="C:\Users\sudee\Downloads\Generative_AI_2027_Teaching_Pack\AI2027_Project\build\figures\week_07\injection_results.png">    </p:cNvPr>
          <p:cNvPicPr>
            <a:picLocks noChangeAspect="1"/>
          </p:cNvPicPr>
          <p:nvPr/>
        </p:nvPicPr>
        <p:blipFill>
          <a:blip r:embed="rId1"/>
          <a:stretch>
            <a:fillRect/>
          </a:stretch>
        </p:blipFill>
        <p:spPr>
          <a:xfrm>
            <a:off x="3534303" y="1481328"/>
            <a:ext cx="5123088" cy="3081528"/>
          </a:xfrm>
          <a:prstGeom prst="rect">
            <a:avLst/>
          </a:prstGeom>
        </p:spPr>
      </p:pic>
      <p:sp>
        <p:nvSpPr>
          <p:cNvPr id="7" name="Text 4"/>
          <p:cNvSpPr txBox="1"/>
          <p:nvPr/>
        </p:nvSpPr>
        <p:spPr>
          <a:xfrm>
            <a:off x="548640" y="4745736"/>
            <a:ext cx="11094415" cy="1563624"/>
          </a:xfrm>
          <a:prstGeom prst="rect">
            <a:avLst/>
          </a:prstGeom>
          <a:noFill/>
          <a:ln/>
        </p:spPr>
        <p:txBody>
          <a:bodyPr wrap="square" lIns="50800" tIns="50800" rIns="50800" bIns="50800" rtlCol="0" anchor="t"/>
          <a:lstStyle/>
          <a:p>
            <a:pPr marL="254000" indent="-254000">
              <a:spcAft>
                <a:spcPts val="800"/>
              </a:spcAft>
              <a:buSzPct val="100000"/>
              <a:buChar char="●"/>
            </a:pPr>
            <a:r>
              <a:rPr lang="en-US" sz="1800" dirty="0">
                <a:solidFill>
                  <a:srgbClr val="1F2937"/>
                </a:solidFill>
                <a:latin typeface="Calibri" pitchFamily="34" charset="0"/>
                <a:ea typeface="Calibri" pitchFamily="34" charset="-122"/>
                <a:cs typeface="Calibri" pitchFamily="34" charset="-120"/>
              </a:rPr>
              <a:t>Direct injection targets instructions; jailbreaks target safety.</a:t>
            </a:r>
            <a:endParaRPr lang="en-US" sz="1800" dirty="0"/>
          </a:p>
          <a:p>
            <a:pPr marL="254000" indent="-254000">
              <a:spcAft>
                <a:spcPts val="800"/>
              </a:spcAft>
              <a:buSzPct val="100000"/>
              <a:buChar char="●"/>
            </a:pPr>
            <a:r>
              <a:rPr lang="en-US" sz="1800" dirty="0">
                <a:solidFill>
                  <a:srgbClr val="1F2937"/>
                </a:solidFill>
                <a:latin typeface="Calibri" pitchFamily="34" charset="0"/>
                <a:ea typeface="Calibri" pitchFamily="34" charset="-122"/>
                <a:cs typeface="Calibri" pitchFamily="34" charset="-120"/>
              </a:rPr>
              <a:t>Indirect injection hides commands in sources. Measured keyword flags on 3 injected-document replies: naive prompt 100% (3 of 3), defended prompt 67% (2 of 3).</a:t>
            </a:r>
            <a:endParaRPr lang="en-US" sz="1800" dirty="0"/>
          </a:p>
          <a:p>
            <a:pPr marL="254000" indent="-254000">
              <a:spcAft>
                <a:spcPts val="800"/>
              </a:spcAft>
              <a:buSzPct val="100000"/>
              <a:buChar char="●"/>
            </a:pPr>
            <a:r>
              <a:rPr lang="en-US" sz="1800" dirty="0">
                <a:solidFill>
                  <a:srgbClr val="1F2937"/>
                </a:solidFill>
                <a:latin typeface="Calibri" pitchFamily="34" charset="0"/>
                <a:ea typeface="Calibri" pitchFamily="34" charset="-122"/>
                <a:cs typeface="Calibri" pitchFamily="34" charset="-120"/>
              </a:rPr>
              <a:t>Use permissions, approved tools, validation and review.</a:t>
            </a:r>
            <a:endParaRPr lang="en-US" sz="180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07  ·  PROMPT ENGINEERING AND EVALUATION</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41</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Supporting tools</a:t>
            </a:r>
            <a:endParaRPr lang="en-US" sz="3200" dirty="0"/>
          </a:p>
        </p:txBody>
      </p:sp>
      <p:sp>
        <p:nvSpPr>
          <p:cNvPr id="6" name="Shape 4"/>
          <p:cNvSpPr/>
          <p:nvPr/>
        </p:nvSpPr>
        <p:spPr>
          <a:xfrm>
            <a:off x="548640" y="1481328"/>
            <a:ext cx="3515258" cy="2276856"/>
          </a:xfrm>
          <a:prstGeom prst="roundRect">
            <a:avLst>
              <a:gd name="adj" fmla="val 4819"/>
            </a:avLst>
          </a:prstGeom>
          <a:solidFill>
            <a:srgbClr val="EEF0FF"/>
          </a:solidFill>
          <a:ln w="12700">
            <a:solidFill>
              <a:srgbClr val="EEF0FF"/>
            </a:solidFill>
            <a:prstDash val="solid"/>
          </a:ln>
        </p:spPr>
      </p:sp>
      <p:sp>
        <p:nvSpPr>
          <p:cNvPr id="7" name="Shape 5"/>
          <p:cNvSpPr/>
          <p:nvPr/>
        </p:nvSpPr>
        <p:spPr>
          <a:xfrm>
            <a:off x="731520" y="1664208"/>
            <a:ext cx="548640" cy="548640"/>
          </a:xfrm>
          <a:prstGeom prst="ellipse">
            <a:avLst/>
          </a:prstGeom>
          <a:solidFill>
            <a:srgbClr val="4F46E5"/>
          </a:solidFill>
          <a:ln w="12700">
            <a:solidFill>
              <a:srgbClr val="4F46E5"/>
            </a:solidFill>
            <a:prstDash val="solid"/>
          </a:ln>
        </p:spPr>
      </p:sp>
      <p:pic>
        <p:nvPicPr>
          <p:cNvPr id="8" name="Image 0" descr="preencoded.png">    </p:cNvPr>
          <p:cNvPicPr>
            <a:picLocks noChangeAspect="1"/>
          </p:cNvPicPr>
          <p:nvPr/>
        </p:nvPicPr>
        <p:blipFill>
          <a:blip r:embed="rId1"/>
          <a:stretch>
            <a:fillRect/>
          </a:stretch>
        </p:blipFill>
        <p:spPr>
          <a:xfrm>
            <a:off x="863194" y="1795882"/>
            <a:ext cx="285293" cy="285293"/>
          </a:xfrm>
          <a:prstGeom prst="rect">
            <a:avLst/>
          </a:prstGeom>
        </p:spPr>
      </p:pic>
      <p:sp>
        <p:nvSpPr>
          <p:cNvPr id="9" name="Text 6"/>
          <p:cNvSpPr txBox="1"/>
          <p:nvPr/>
        </p:nvSpPr>
        <p:spPr>
          <a:xfrm>
            <a:off x="1371600" y="1645920"/>
            <a:ext cx="2555138" cy="594360"/>
          </a:xfrm>
          <a:prstGeom prst="rect">
            <a:avLst/>
          </a:prstGeom>
          <a:noFill/>
          <a:ln/>
        </p:spPr>
        <p:txBody>
          <a:bodyPr wrap="square" lIns="50800" tIns="50800" rIns="50800" bIns="50800" rtlCol="0" anchor="ctr"/>
          <a:lstStyle/>
          <a:p>
            <a:pPr indent="0" marL="0">
              <a:buNone/>
            </a:pPr>
            <a:r>
              <a:rPr lang="en-US" sz="2100" b="1" dirty="0">
                <a:solidFill>
                  <a:srgbClr val="1E1B4B"/>
                </a:solidFill>
                <a:latin typeface="Calibri" pitchFamily="34" charset="0"/>
                <a:ea typeface="Calibri" pitchFamily="34" charset="-122"/>
                <a:cs typeface="Calibri" pitchFamily="34" charset="-120"/>
              </a:rPr>
              <a:t>Playgrounds</a:t>
            </a:r>
            <a:endParaRPr lang="en-US" sz="2100" dirty="0"/>
          </a:p>
        </p:txBody>
      </p:sp>
      <p:sp>
        <p:nvSpPr>
          <p:cNvPr id="10" name="Text 7"/>
          <p:cNvSpPr txBox="1"/>
          <p:nvPr/>
        </p:nvSpPr>
        <p:spPr>
          <a:xfrm>
            <a:off x="731520" y="2304288"/>
            <a:ext cx="3149498" cy="1408176"/>
          </a:xfrm>
          <a:prstGeom prst="rect">
            <a:avLst/>
          </a:prstGeom>
          <a:noFill/>
          <a:ln/>
        </p:spPr>
        <p:txBody>
          <a:bodyPr wrap="square" lIns="50800" tIns="50800" rIns="50800" bIns="50800" rtlCol="0" anchor="t"/>
          <a:lstStyle/>
          <a:p>
            <a:pPr indent="0" marL="0">
              <a:buNone/>
            </a:pPr>
            <a:r>
              <a:rPr lang="en-US" sz="2100" dirty="0">
                <a:solidFill>
                  <a:srgbClr val="1F2937"/>
                </a:solidFill>
                <a:latin typeface="Calibri" pitchFamily="34" charset="0"/>
                <a:ea typeface="Calibri" pitchFamily="34" charset="-122"/>
                <a:cs typeface="Calibri" pitchFamily="34" charset="-120"/>
              </a:rPr>
              <a:t>Try a prompt by hand; check access, quotas and costs first.</a:t>
            </a:r>
            <a:endParaRPr lang="en-US" sz="2100" dirty="0"/>
          </a:p>
        </p:txBody>
      </p:sp>
      <p:sp>
        <p:nvSpPr>
          <p:cNvPr id="11" name="Shape 8"/>
          <p:cNvSpPr/>
          <p:nvPr/>
        </p:nvSpPr>
        <p:spPr>
          <a:xfrm>
            <a:off x="4338218" y="1481328"/>
            <a:ext cx="3515258" cy="2276856"/>
          </a:xfrm>
          <a:prstGeom prst="roundRect">
            <a:avLst>
              <a:gd name="adj" fmla="val 4819"/>
            </a:avLst>
          </a:prstGeom>
          <a:solidFill>
            <a:srgbClr val="F5F3FF"/>
          </a:solidFill>
          <a:ln w="12700">
            <a:solidFill>
              <a:srgbClr val="EEF0FF"/>
            </a:solidFill>
            <a:prstDash val="solid"/>
          </a:ln>
        </p:spPr>
      </p:sp>
      <p:sp>
        <p:nvSpPr>
          <p:cNvPr id="12" name="Shape 9"/>
          <p:cNvSpPr/>
          <p:nvPr/>
        </p:nvSpPr>
        <p:spPr>
          <a:xfrm>
            <a:off x="4521098" y="1664208"/>
            <a:ext cx="548640" cy="548640"/>
          </a:xfrm>
          <a:prstGeom prst="ellipse">
            <a:avLst/>
          </a:prstGeom>
          <a:solidFill>
            <a:srgbClr val="4F46E5"/>
          </a:solidFill>
          <a:ln w="12700">
            <a:solidFill>
              <a:srgbClr val="4F46E5"/>
            </a:solidFill>
            <a:prstDash val="solid"/>
          </a:ln>
        </p:spPr>
      </p:sp>
      <p:pic>
        <p:nvPicPr>
          <p:cNvPr id="13" name="Image 1" descr="preencoded.png">    </p:cNvPr>
          <p:cNvPicPr>
            <a:picLocks noChangeAspect="1"/>
          </p:cNvPicPr>
          <p:nvPr/>
        </p:nvPicPr>
        <p:blipFill>
          <a:blip r:embed="rId2"/>
          <a:stretch>
            <a:fillRect/>
          </a:stretch>
        </p:blipFill>
        <p:spPr>
          <a:xfrm>
            <a:off x="4652772" y="1795882"/>
            <a:ext cx="285293" cy="285293"/>
          </a:xfrm>
          <a:prstGeom prst="rect">
            <a:avLst/>
          </a:prstGeom>
        </p:spPr>
      </p:pic>
      <p:sp>
        <p:nvSpPr>
          <p:cNvPr id="14" name="Text 10"/>
          <p:cNvSpPr txBox="1"/>
          <p:nvPr/>
        </p:nvSpPr>
        <p:spPr>
          <a:xfrm>
            <a:off x="5161178" y="1645920"/>
            <a:ext cx="2555138" cy="594360"/>
          </a:xfrm>
          <a:prstGeom prst="rect">
            <a:avLst/>
          </a:prstGeom>
          <a:noFill/>
          <a:ln/>
        </p:spPr>
        <p:txBody>
          <a:bodyPr wrap="square" lIns="50800" tIns="50800" rIns="50800" bIns="50800" rtlCol="0" anchor="ctr"/>
          <a:lstStyle/>
          <a:p>
            <a:pPr indent="0" marL="0">
              <a:buNone/>
            </a:pPr>
            <a:r>
              <a:rPr lang="en-US" sz="2100" b="1" dirty="0">
                <a:solidFill>
                  <a:srgbClr val="1E1B4B"/>
                </a:solidFill>
                <a:latin typeface="Calibri" pitchFamily="34" charset="0"/>
                <a:ea typeface="Calibri" pitchFamily="34" charset="-122"/>
                <a:cs typeface="Calibri" pitchFamily="34" charset="-120"/>
              </a:rPr>
              <a:t>Prompt management</a:t>
            </a:r>
            <a:endParaRPr lang="en-US" sz="2100" dirty="0"/>
          </a:p>
        </p:txBody>
      </p:sp>
      <p:sp>
        <p:nvSpPr>
          <p:cNvPr id="15" name="Text 11"/>
          <p:cNvSpPr txBox="1"/>
          <p:nvPr/>
        </p:nvSpPr>
        <p:spPr>
          <a:xfrm>
            <a:off x="4521098" y="2304288"/>
            <a:ext cx="3149498" cy="1408176"/>
          </a:xfrm>
          <a:prstGeom prst="rect">
            <a:avLst/>
          </a:prstGeom>
          <a:noFill/>
          <a:ln/>
        </p:spPr>
        <p:txBody>
          <a:bodyPr wrap="square" lIns="50800" tIns="50800" rIns="50800" bIns="50800" rtlCol="0" anchor="t"/>
          <a:lstStyle/>
          <a:p>
            <a:pPr indent="0" marL="0">
              <a:buNone/>
            </a:pPr>
            <a:r>
              <a:rPr lang="en-US" sz="2100" dirty="0">
                <a:solidFill>
                  <a:srgbClr val="1F2937"/>
                </a:solidFill>
                <a:latin typeface="Calibri" pitchFamily="34" charset="0"/>
                <a:ea typeface="Calibri" pitchFamily="34" charset="-122"/>
                <a:cs typeface="Calibri" pitchFamily="34" charset="-120"/>
              </a:rPr>
              <a:t>Keep prompt templates under version control beside the code.</a:t>
            </a:r>
            <a:endParaRPr lang="en-US" sz="2100" dirty="0"/>
          </a:p>
        </p:txBody>
      </p:sp>
      <p:sp>
        <p:nvSpPr>
          <p:cNvPr id="16" name="Shape 12"/>
          <p:cNvSpPr/>
          <p:nvPr/>
        </p:nvSpPr>
        <p:spPr>
          <a:xfrm>
            <a:off x="8127797" y="1481328"/>
            <a:ext cx="3515258" cy="2276856"/>
          </a:xfrm>
          <a:prstGeom prst="roundRect">
            <a:avLst>
              <a:gd name="adj" fmla="val 4819"/>
            </a:avLst>
          </a:prstGeom>
          <a:solidFill>
            <a:srgbClr val="EEF0FF"/>
          </a:solidFill>
          <a:ln w="12700">
            <a:solidFill>
              <a:srgbClr val="EEF0FF"/>
            </a:solidFill>
            <a:prstDash val="solid"/>
          </a:ln>
        </p:spPr>
      </p:sp>
      <p:sp>
        <p:nvSpPr>
          <p:cNvPr id="17" name="Shape 13"/>
          <p:cNvSpPr/>
          <p:nvPr/>
        </p:nvSpPr>
        <p:spPr>
          <a:xfrm>
            <a:off x="8310677" y="1664208"/>
            <a:ext cx="548640" cy="548640"/>
          </a:xfrm>
          <a:prstGeom prst="ellipse">
            <a:avLst/>
          </a:prstGeom>
          <a:solidFill>
            <a:srgbClr val="4F46E5"/>
          </a:solidFill>
          <a:ln w="12700">
            <a:solidFill>
              <a:srgbClr val="4F46E5"/>
            </a:solidFill>
            <a:prstDash val="solid"/>
          </a:ln>
        </p:spPr>
      </p:sp>
      <p:pic>
        <p:nvPicPr>
          <p:cNvPr id="18" name="Image 2" descr="preencoded.png">    </p:cNvPr>
          <p:cNvPicPr>
            <a:picLocks noChangeAspect="1"/>
          </p:cNvPicPr>
          <p:nvPr/>
        </p:nvPicPr>
        <p:blipFill>
          <a:blip r:embed="rId3"/>
          <a:stretch>
            <a:fillRect/>
          </a:stretch>
        </p:blipFill>
        <p:spPr>
          <a:xfrm>
            <a:off x="8442350" y="1795882"/>
            <a:ext cx="285293" cy="285293"/>
          </a:xfrm>
          <a:prstGeom prst="rect">
            <a:avLst/>
          </a:prstGeom>
        </p:spPr>
      </p:pic>
      <p:sp>
        <p:nvSpPr>
          <p:cNvPr id="19" name="Text 14"/>
          <p:cNvSpPr txBox="1"/>
          <p:nvPr/>
        </p:nvSpPr>
        <p:spPr>
          <a:xfrm>
            <a:off x="8950757" y="1645920"/>
            <a:ext cx="2555138" cy="594360"/>
          </a:xfrm>
          <a:prstGeom prst="rect">
            <a:avLst/>
          </a:prstGeom>
          <a:noFill/>
          <a:ln/>
        </p:spPr>
        <p:txBody>
          <a:bodyPr wrap="square" lIns="50800" tIns="50800" rIns="50800" bIns="50800" rtlCol="0" anchor="ctr"/>
          <a:lstStyle/>
          <a:p>
            <a:pPr indent="0" marL="0">
              <a:buNone/>
            </a:pPr>
            <a:r>
              <a:rPr lang="en-US" sz="2100" b="1" dirty="0">
                <a:solidFill>
                  <a:srgbClr val="1E1B4B"/>
                </a:solidFill>
                <a:latin typeface="Calibri" pitchFamily="34" charset="0"/>
                <a:ea typeface="Calibri" pitchFamily="34" charset="-122"/>
                <a:cs typeface="Calibri" pitchFamily="34" charset="-120"/>
              </a:rPr>
              <a:t>Evaluation frameworks</a:t>
            </a:r>
            <a:endParaRPr lang="en-US" sz="2100" dirty="0"/>
          </a:p>
        </p:txBody>
      </p:sp>
      <p:sp>
        <p:nvSpPr>
          <p:cNvPr id="20" name="Text 15"/>
          <p:cNvSpPr txBox="1"/>
          <p:nvPr/>
        </p:nvSpPr>
        <p:spPr>
          <a:xfrm>
            <a:off x="8310677" y="2304288"/>
            <a:ext cx="3149498" cy="1408176"/>
          </a:xfrm>
          <a:prstGeom prst="rect">
            <a:avLst/>
          </a:prstGeom>
          <a:noFill/>
          <a:ln/>
        </p:spPr>
        <p:txBody>
          <a:bodyPr wrap="square" lIns="50800" tIns="50800" rIns="50800" bIns="50800" rtlCol="0" anchor="t"/>
          <a:lstStyle/>
          <a:p>
            <a:pPr indent="0" marL="0">
              <a:buNone/>
            </a:pPr>
            <a:r>
              <a:rPr lang="en-US" sz="2100" dirty="0">
                <a:solidFill>
                  <a:srgbClr val="1F2937"/>
                </a:solidFill>
                <a:latin typeface="Calibri" pitchFamily="34" charset="0"/>
                <a:ea typeface="Calibri" pitchFamily="34" charset="-122"/>
                <a:cs typeface="Calibri" pitchFamily="34" charset="-120"/>
              </a:rPr>
              <a:t>Run fixed test cases automatically: promptfoo, Inspect, OpenAI Evals.</a:t>
            </a:r>
            <a:endParaRPr lang="en-US" sz="2100" dirty="0"/>
          </a:p>
        </p:txBody>
      </p:sp>
      <p:sp>
        <p:nvSpPr>
          <p:cNvPr id="21" name="Shape 16"/>
          <p:cNvSpPr/>
          <p:nvPr/>
        </p:nvSpPr>
        <p:spPr>
          <a:xfrm>
            <a:off x="548640" y="4032504"/>
            <a:ext cx="3515258" cy="2276856"/>
          </a:xfrm>
          <a:prstGeom prst="roundRect">
            <a:avLst>
              <a:gd name="adj" fmla="val 4819"/>
            </a:avLst>
          </a:prstGeom>
          <a:solidFill>
            <a:srgbClr val="F5F3FF"/>
          </a:solidFill>
          <a:ln w="12700">
            <a:solidFill>
              <a:srgbClr val="EEF0FF"/>
            </a:solidFill>
            <a:prstDash val="solid"/>
          </a:ln>
        </p:spPr>
      </p:sp>
      <p:sp>
        <p:nvSpPr>
          <p:cNvPr id="22" name="Shape 17"/>
          <p:cNvSpPr/>
          <p:nvPr/>
        </p:nvSpPr>
        <p:spPr>
          <a:xfrm>
            <a:off x="731520" y="4215384"/>
            <a:ext cx="548640" cy="548640"/>
          </a:xfrm>
          <a:prstGeom prst="ellipse">
            <a:avLst/>
          </a:prstGeom>
          <a:solidFill>
            <a:srgbClr val="4F46E5"/>
          </a:solidFill>
          <a:ln w="12700">
            <a:solidFill>
              <a:srgbClr val="4F46E5"/>
            </a:solidFill>
            <a:prstDash val="solid"/>
          </a:ln>
        </p:spPr>
      </p:sp>
      <p:pic>
        <p:nvPicPr>
          <p:cNvPr id="23" name="Image 3" descr="preencoded.png">    </p:cNvPr>
          <p:cNvPicPr>
            <a:picLocks noChangeAspect="1"/>
          </p:cNvPicPr>
          <p:nvPr/>
        </p:nvPicPr>
        <p:blipFill>
          <a:blip r:embed="rId4"/>
          <a:stretch>
            <a:fillRect/>
          </a:stretch>
        </p:blipFill>
        <p:spPr>
          <a:xfrm>
            <a:off x="863194" y="4347058"/>
            <a:ext cx="285293" cy="285293"/>
          </a:xfrm>
          <a:prstGeom prst="rect">
            <a:avLst/>
          </a:prstGeom>
        </p:spPr>
      </p:pic>
      <p:sp>
        <p:nvSpPr>
          <p:cNvPr id="24" name="Text 18"/>
          <p:cNvSpPr txBox="1"/>
          <p:nvPr/>
        </p:nvSpPr>
        <p:spPr>
          <a:xfrm>
            <a:off x="1371600" y="4197096"/>
            <a:ext cx="2555138" cy="594360"/>
          </a:xfrm>
          <a:prstGeom prst="rect">
            <a:avLst/>
          </a:prstGeom>
          <a:noFill/>
          <a:ln/>
        </p:spPr>
        <p:txBody>
          <a:bodyPr wrap="square" lIns="50800" tIns="50800" rIns="50800" bIns="50800" rtlCol="0" anchor="ctr"/>
          <a:lstStyle/>
          <a:p>
            <a:pPr indent="0" marL="0">
              <a:buNone/>
            </a:pPr>
            <a:r>
              <a:rPr lang="en-US" sz="2100" b="1" dirty="0">
                <a:solidFill>
                  <a:srgbClr val="1E1B4B"/>
                </a:solidFill>
                <a:latin typeface="Calibri" pitchFamily="34" charset="0"/>
                <a:ea typeface="Calibri" pitchFamily="34" charset="-122"/>
                <a:cs typeface="Calibri" pitchFamily="34" charset="-120"/>
              </a:rPr>
              <a:t>Prompt optimisers</a:t>
            </a:r>
            <a:endParaRPr lang="en-US" sz="2100" dirty="0"/>
          </a:p>
        </p:txBody>
      </p:sp>
      <p:sp>
        <p:nvSpPr>
          <p:cNvPr id="25" name="Text 19"/>
          <p:cNvSpPr txBox="1"/>
          <p:nvPr/>
        </p:nvSpPr>
        <p:spPr>
          <a:xfrm>
            <a:off x="731520" y="4855464"/>
            <a:ext cx="3149498" cy="1408176"/>
          </a:xfrm>
          <a:prstGeom prst="rect">
            <a:avLst/>
          </a:prstGeom>
          <a:noFill/>
          <a:ln/>
        </p:spPr>
        <p:txBody>
          <a:bodyPr wrap="square" lIns="50800" tIns="50800" rIns="50800" bIns="50800" rtlCol="0" anchor="t"/>
          <a:lstStyle/>
          <a:p>
            <a:pPr indent="0" marL="0">
              <a:buNone/>
            </a:pPr>
            <a:r>
              <a:rPr lang="en-US" sz="2100" dirty="0">
                <a:solidFill>
                  <a:srgbClr val="1F2937"/>
                </a:solidFill>
                <a:latin typeface="Calibri" pitchFamily="34" charset="0"/>
                <a:ea typeface="Calibri" pitchFamily="34" charset="-122"/>
                <a:cs typeface="Calibri" pitchFamily="34" charset="-120"/>
              </a:rPr>
              <a:t>Search prompt versions against your metric, for example DSPy.</a:t>
            </a:r>
            <a:endParaRPr lang="en-US" sz="2100" dirty="0"/>
          </a:p>
        </p:txBody>
      </p:sp>
      <p:sp>
        <p:nvSpPr>
          <p:cNvPr id="26" name="Shape 20"/>
          <p:cNvSpPr/>
          <p:nvPr/>
        </p:nvSpPr>
        <p:spPr>
          <a:xfrm>
            <a:off x="4338218" y="4032504"/>
            <a:ext cx="3515258" cy="2276856"/>
          </a:xfrm>
          <a:prstGeom prst="roundRect">
            <a:avLst>
              <a:gd name="adj" fmla="val 4819"/>
            </a:avLst>
          </a:prstGeom>
          <a:solidFill>
            <a:srgbClr val="EEF0FF"/>
          </a:solidFill>
          <a:ln w="12700">
            <a:solidFill>
              <a:srgbClr val="EEF0FF"/>
            </a:solidFill>
            <a:prstDash val="solid"/>
          </a:ln>
        </p:spPr>
      </p:sp>
      <p:sp>
        <p:nvSpPr>
          <p:cNvPr id="27" name="Shape 21"/>
          <p:cNvSpPr/>
          <p:nvPr/>
        </p:nvSpPr>
        <p:spPr>
          <a:xfrm>
            <a:off x="4521098" y="4215384"/>
            <a:ext cx="548640" cy="548640"/>
          </a:xfrm>
          <a:prstGeom prst="ellipse">
            <a:avLst/>
          </a:prstGeom>
          <a:solidFill>
            <a:srgbClr val="4F46E5"/>
          </a:solidFill>
          <a:ln w="12700">
            <a:solidFill>
              <a:srgbClr val="4F46E5"/>
            </a:solidFill>
            <a:prstDash val="solid"/>
          </a:ln>
        </p:spPr>
      </p:sp>
      <p:pic>
        <p:nvPicPr>
          <p:cNvPr id="28" name="Image 4" descr="preencoded.png">    </p:cNvPr>
          <p:cNvPicPr>
            <a:picLocks noChangeAspect="1"/>
          </p:cNvPicPr>
          <p:nvPr/>
        </p:nvPicPr>
        <p:blipFill>
          <a:blip r:embed="rId5"/>
          <a:stretch>
            <a:fillRect/>
          </a:stretch>
        </p:blipFill>
        <p:spPr>
          <a:xfrm>
            <a:off x="4652772" y="4347058"/>
            <a:ext cx="285293" cy="285293"/>
          </a:xfrm>
          <a:prstGeom prst="rect">
            <a:avLst/>
          </a:prstGeom>
        </p:spPr>
      </p:pic>
      <p:sp>
        <p:nvSpPr>
          <p:cNvPr id="29" name="Text 22"/>
          <p:cNvSpPr txBox="1"/>
          <p:nvPr/>
        </p:nvSpPr>
        <p:spPr>
          <a:xfrm>
            <a:off x="5161178" y="4197096"/>
            <a:ext cx="2555138" cy="594360"/>
          </a:xfrm>
          <a:prstGeom prst="rect">
            <a:avLst/>
          </a:prstGeom>
          <a:noFill/>
          <a:ln/>
        </p:spPr>
        <p:txBody>
          <a:bodyPr wrap="square" lIns="50800" tIns="50800" rIns="50800" bIns="50800" rtlCol="0" anchor="ctr"/>
          <a:lstStyle/>
          <a:p>
            <a:pPr indent="0" marL="0">
              <a:buNone/>
            </a:pPr>
            <a:r>
              <a:rPr lang="en-US" sz="2100" b="1" dirty="0">
                <a:solidFill>
                  <a:srgbClr val="1E1B4B"/>
                </a:solidFill>
                <a:latin typeface="Calibri" pitchFamily="34" charset="0"/>
                <a:ea typeface="Calibri" pitchFamily="34" charset="-122"/>
                <a:cs typeface="Calibri" pitchFamily="34" charset="-120"/>
              </a:rPr>
              <a:t>Observability</a:t>
            </a:r>
            <a:endParaRPr lang="en-US" sz="2100" dirty="0"/>
          </a:p>
        </p:txBody>
      </p:sp>
      <p:sp>
        <p:nvSpPr>
          <p:cNvPr id="30" name="Text 23"/>
          <p:cNvSpPr txBox="1"/>
          <p:nvPr/>
        </p:nvSpPr>
        <p:spPr>
          <a:xfrm>
            <a:off x="4521098" y="4855464"/>
            <a:ext cx="3149498" cy="1408176"/>
          </a:xfrm>
          <a:prstGeom prst="rect">
            <a:avLst/>
          </a:prstGeom>
          <a:noFill/>
          <a:ln/>
        </p:spPr>
        <p:txBody>
          <a:bodyPr wrap="square" lIns="50800" tIns="50800" rIns="50800" bIns="50800" rtlCol="0" anchor="t"/>
          <a:lstStyle/>
          <a:p>
            <a:pPr indent="0" marL="0">
              <a:buNone/>
            </a:pPr>
            <a:r>
              <a:rPr lang="en-US" sz="2100" dirty="0">
                <a:solidFill>
                  <a:srgbClr val="1F2937"/>
                </a:solidFill>
                <a:latin typeface="Calibri" pitchFamily="34" charset="0"/>
                <a:ea typeface="Calibri" pitchFamily="34" charset="-122"/>
                <a:cs typeface="Calibri" pitchFamily="34" charset="-120"/>
              </a:rPr>
              <a:t>Log each call's prompt version, tokens, time and errors.</a:t>
            </a:r>
            <a:endParaRPr lang="en-US" sz="2100" dirty="0"/>
          </a:p>
        </p:txBody>
      </p:sp>
      <p:sp>
        <p:nvSpPr>
          <p:cNvPr id="31" name="Shape 24"/>
          <p:cNvSpPr/>
          <p:nvPr/>
        </p:nvSpPr>
        <p:spPr>
          <a:xfrm>
            <a:off x="8127797" y="4032504"/>
            <a:ext cx="3515258" cy="2276856"/>
          </a:xfrm>
          <a:prstGeom prst="roundRect">
            <a:avLst>
              <a:gd name="adj" fmla="val 4819"/>
            </a:avLst>
          </a:prstGeom>
          <a:solidFill>
            <a:srgbClr val="F5F3FF"/>
          </a:solidFill>
          <a:ln w="12700">
            <a:solidFill>
              <a:srgbClr val="EEF0FF"/>
            </a:solidFill>
            <a:prstDash val="solid"/>
          </a:ln>
        </p:spPr>
      </p:sp>
      <p:sp>
        <p:nvSpPr>
          <p:cNvPr id="32" name="Shape 25"/>
          <p:cNvSpPr/>
          <p:nvPr/>
        </p:nvSpPr>
        <p:spPr>
          <a:xfrm>
            <a:off x="8310677" y="4215384"/>
            <a:ext cx="548640" cy="548640"/>
          </a:xfrm>
          <a:prstGeom prst="ellipse">
            <a:avLst/>
          </a:prstGeom>
          <a:solidFill>
            <a:srgbClr val="4F46E5"/>
          </a:solidFill>
          <a:ln w="12700">
            <a:solidFill>
              <a:srgbClr val="4F46E5"/>
            </a:solidFill>
            <a:prstDash val="solid"/>
          </a:ln>
        </p:spPr>
      </p:sp>
      <p:pic>
        <p:nvPicPr>
          <p:cNvPr id="33" name="Image 5" descr="preencoded.png">    </p:cNvPr>
          <p:cNvPicPr>
            <a:picLocks noChangeAspect="1"/>
          </p:cNvPicPr>
          <p:nvPr/>
        </p:nvPicPr>
        <p:blipFill>
          <a:blip r:embed="rId6"/>
          <a:stretch>
            <a:fillRect/>
          </a:stretch>
        </p:blipFill>
        <p:spPr>
          <a:xfrm>
            <a:off x="8442350" y="4347058"/>
            <a:ext cx="285293" cy="285293"/>
          </a:xfrm>
          <a:prstGeom prst="rect">
            <a:avLst/>
          </a:prstGeom>
        </p:spPr>
      </p:pic>
      <p:sp>
        <p:nvSpPr>
          <p:cNvPr id="34" name="Text 26"/>
          <p:cNvSpPr txBox="1"/>
          <p:nvPr/>
        </p:nvSpPr>
        <p:spPr>
          <a:xfrm>
            <a:off x="8950757" y="4197096"/>
            <a:ext cx="2555138" cy="594360"/>
          </a:xfrm>
          <a:prstGeom prst="rect">
            <a:avLst/>
          </a:prstGeom>
          <a:noFill/>
          <a:ln/>
        </p:spPr>
        <p:txBody>
          <a:bodyPr wrap="square" lIns="50800" tIns="50800" rIns="50800" bIns="50800" rtlCol="0" anchor="ctr"/>
          <a:lstStyle/>
          <a:p>
            <a:pPr indent="0" marL="0">
              <a:buNone/>
            </a:pPr>
            <a:r>
              <a:rPr lang="en-US" sz="2100" b="1" dirty="0">
                <a:solidFill>
                  <a:srgbClr val="1E1B4B"/>
                </a:solidFill>
                <a:latin typeface="Calibri" pitchFamily="34" charset="0"/>
                <a:ea typeface="Calibri" pitchFamily="34" charset="-122"/>
                <a:cs typeface="Calibri" pitchFamily="34" charset="-120"/>
              </a:rPr>
              <a:t>Guardrails</a:t>
            </a:r>
            <a:endParaRPr lang="en-US" sz="2100" dirty="0"/>
          </a:p>
        </p:txBody>
      </p:sp>
      <p:sp>
        <p:nvSpPr>
          <p:cNvPr id="35" name="Text 27"/>
          <p:cNvSpPr txBox="1"/>
          <p:nvPr/>
        </p:nvSpPr>
        <p:spPr>
          <a:xfrm>
            <a:off x="8310677" y="4855464"/>
            <a:ext cx="3149498" cy="1408176"/>
          </a:xfrm>
          <a:prstGeom prst="rect">
            <a:avLst/>
          </a:prstGeom>
          <a:noFill/>
          <a:ln/>
        </p:spPr>
        <p:txBody>
          <a:bodyPr wrap="square" lIns="50800" tIns="50800" rIns="50800" bIns="50800" rtlCol="0" anchor="t"/>
          <a:lstStyle/>
          <a:p>
            <a:pPr indent="0" marL="0">
              <a:buNone/>
            </a:pPr>
            <a:r>
              <a:rPr lang="en-US" sz="2100" dirty="0">
                <a:solidFill>
                  <a:srgbClr val="1F2937"/>
                </a:solidFill>
                <a:latin typeface="Calibri" pitchFamily="34" charset="0"/>
                <a:ea typeface="Calibri" pitchFamily="34" charset="-122"/>
                <a:cs typeface="Calibri" pitchFamily="34" charset="-120"/>
              </a:rPr>
              <a:t>Check inputs and outputs, and test what the checks miss.</a:t>
            </a:r>
            <a:endParaRPr lang="en-US" sz="210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07  ·  PROMPT ENGINEERING AND EVALUATION</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42</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Responsible AI lens: prompting and evaluation</a:t>
            </a:r>
            <a:endParaRPr lang="en-US" sz="3200" dirty="0"/>
          </a:p>
        </p:txBody>
      </p:sp>
      <p:sp>
        <p:nvSpPr>
          <p:cNvPr id="6" name="Text 4"/>
          <p:cNvSpPr txBox="1"/>
          <p:nvPr/>
        </p:nvSpPr>
        <p:spPr>
          <a:xfrm>
            <a:off x="548640" y="1481328"/>
            <a:ext cx="8138160" cy="4828032"/>
          </a:xfrm>
          <a:prstGeom prst="rect">
            <a:avLst/>
          </a:prstGeom>
          <a:noFill/>
          <a:ln/>
        </p:spPr>
        <p:txBody>
          <a:bodyPr wrap="square" lIns="50800" tIns="50800" rIns="50800" bIns="50800" rtlCol="0" anchor="t"/>
          <a:lstStyle/>
          <a:p>
            <a:pPr marL="254000" indent="-254000">
              <a:spcAft>
                <a:spcPts val="800"/>
              </a:spcAft>
              <a:buSzPct val="100000"/>
              <a:buChar char="●"/>
            </a:pPr>
            <a:r>
              <a:rPr lang="en-US" sz="2600" dirty="0">
                <a:solidFill>
                  <a:srgbClr val="1F2937"/>
                </a:solidFill>
                <a:latin typeface="Calibri" pitchFamily="34" charset="0"/>
                <a:ea typeface="Calibri" pitchFamily="34" charset="-122"/>
                <a:cs typeface="Calibri" pitchFamily="34" charset="-120"/>
              </a:rPr>
              <a:t>Protect prompt data.</a:t>
            </a:r>
            <a:endParaRPr lang="en-US" sz="2600" dirty="0"/>
          </a:p>
          <a:p>
            <a:pPr marL="254000" indent="-254000">
              <a:spcAft>
                <a:spcPts val="800"/>
              </a:spcAft>
              <a:buSzPct val="100000"/>
              <a:buChar char="●"/>
            </a:pPr>
            <a:r>
              <a:rPr lang="en-US" sz="2600" dirty="0">
                <a:solidFill>
                  <a:srgbClr val="1F2937"/>
                </a:solidFill>
                <a:latin typeface="Calibri" pitchFamily="34" charset="0"/>
                <a:ea typeface="Calibri" pitchFamily="34" charset="-122"/>
                <a:cs typeface="Calibri" pitchFamily="34" charset="-120"/>
              </a:rPr>
              <a:t>Test groups and languages.</a:t>
            </a:r>
            <a:endParaRPr lang="en-US" sz="2600" dirty="0"/>
          </a:p>
          <a:p>
            <a:pPr marL="254000" indent="-254000">
              <a:spcAft>
                <a:spcPts val="800"/>
              </a:spcAft>
              <a:buSzPct val="100000"/>
              <a:buChar char="●"/>
            </a:pPr>
            <a:r>
              <a:rPr lang="en-US" sz="2600" dirty="0">
                <a:solidFill>
                  <a:srgbClr val="1F2937"/>
                </a:solidFill>
                <a:latin typeface="Calibri" pitchFamily="34" charset="0"/>
                <a:ea typeface="Calibri" pitchFamily="34" charset="-122"/>
                <a:cs typeface="Calibri" pitchFamily="34" charset="-120"/>
              </a:rPr>
              <a:t>Verify important results.</a:t>
            </a:r>
            <a:endParaRPr lang="en-US" sz="2600" dirty="0"/>
          </a:p>
          <a:p>
            <a:pPr marL="254000" indent="-254000">
              <a:spcAft>
                <a:spcPts val="800"/>
              </a:spcAft>
              <a:buSzPct val="100000"/>
              <a:buChar char="●"/>
            </a:pPr>
            <a:r>
              <a:rPr lang="en-US" sz="2600" dirty="0">
                <a:solidFill>
                  <a:srgbClr val="1F2937"/>
                </a:solidFill>
                <a:latin typeface="Calibri" pitchFamily="34" charset="0"/>
                <a:ea typeface="Calibri" pitchFamily="34" charset="-122"/>
                <a:cs typeface="Calibri" pitchFamily="34" charset="-120"/>
              </a:rPr>
              <a:t>Document versions, errors and responsibility.</a:t>
            </a:r>
            <a:endParaRPr lang="en-US" sz="2600" dirty="0"/>
          </a:p>
        </p:txBody>
      </p:sp>
      <p:sp>
        <p:nvSpPr>
          <p:cNvPr id="7" name="Shape 5"/>
          <p:cNvSpPr/>
          <p:nvPr/>
        </p:nvSpPr>
        <p:spPr>
          <a:xfrm>
            <a:off x="9464040" y="1847088"/>
            <a:ext cx="2103120" cy="2103120"/>
          </a:xfrm>
          <a:prstGeom prst="ellipse">
            <a:avLst/>
          </a:prstGeom>
          <a:solidFill>
            <a:srgbClr val="EEF0FF"/>
          </a:solidFill>
          <a:ln w="12700">
            <a:solidFill>
              <a:srgbClr val="EEF0FF"/>
            </a:solidFill>
            <a:prstDash val="solid"/>
          </a:ln>
        </p:spPr>
      </p:sp>
      <p:pic>
        <p:nvPicPr>
          <p:cNvPr id="8" name="Image 0" descr="preencoded.png">    </p:cNvPr>
          <p:cNvPicPr>
            <a:picLocks noChangeAspect="1"/>
          </p:cNvPicPr>
          <p:nvPr/>
        </p:nvPicPr>
        <p:blipFill>
          <a:blip r:embed="rId1"/>
          <a:stretch>
            <a:fillRect/>
          </a:stretch>
        </p:blipFill>
        <p:spPr>
          <a:xfrm>
            <a:off x="9968789" y="2351837"/>
            <a:ext cx="1093622" cy="1093622"/>
          </a:xfrm>
          <a:prstGeom prst="rect">
            <a:avLst/>
          </a:prstGeom>
        </p:spPr>
      </p:pic>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07  ·  PROMPT ENGINEERING AND EVALUATION</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43</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Five prompt experiments</a:t>
            </a:r>
            <a:endParaRPr lang="en-US" sz="3200" dirty="0"/>
          </a:p>
        </p:txBody>
      </p:sp>
      <p:sp>
        <p:nvSpPr>
          <p:cNvPr id="6" name="Text 4"/>
          <p:cNvSpPr txBox="1"/>
          <p:nvPr/>
        </p:nvSpPr>
        <p:spPr>
          <a:xfrm>
            <a:off x="548640" y="1463040"/>
            <a:ext cx="11094415" cy="384048"/>
          </a:xfrm>
          <a:prstGeom prst="rect">
            <a:avLst/>
          </a:prstGeom>
          <a:noFill/>
          <a:ln/>
        </p:spPr>
        <p:txBody>
          <a:bodyPr wrap="square" lIns="0" tIns="0" rIns="0" bIns="0" rtlCol="0" anchor="t"/>
          <a:lstStyle/>
          <a:p>
            <a:pPr indent="0" marL="0">
              <a:buNone/>
            </a:pPr>
            <a:r>
              <a:rPr lang="en-US" sz="1800" dirty="0">
                <a:solidFill>
                  <a:srgbClr val="6B7280"/>
                </a:solidFill>
                <a:latin typeface="Calibri" pitchFamily="34" charset="0"/>
                <a:ea typeface="Calibri" pitchFamily="34" charset="-122"/>
                <a:cs typeface="Calibri" pitchFamily="34" charset="-120"/>
              </a:rPr>
              <a:t>Use a different success check for each task</a:t>
            </a:r>
            <a:endParaRPr lang="en-US" sz="1800" dirty="0"/>
          </a:p>
        </p:txBody>
      </p:sp>
      <p:sp>
        <p:nvSpPr>
          <p:cNvPr id="7" name="Shape 5"/>
          <p:cNvSpPr/>
          <p:nvPr/>
        </p:nvSpPr>
        <p:spPr>
          <a:xfrm>
            <a:off x="2354146" y="3838927"/>
            <a:ext cx="244024" cy="0"/>
          </a:xfrm>
          <a:prstGeom prst="line">
            <a:avLst/>
          </a:prstGeom>
          <a:noFill/>
          <a:ln w="22860">
            <a:solidFill>
              <a:srgbClr val="009E73"/>
            </a:solidFill>
            <a:prstDash val="solid"/>
            <a:tailEnd type="triangle"/>
          </a:ln>
        </p:spPr>
      </p:sp>
      <p:sp>
        <p:nvSpPr>
          <p:cNvPr id="8" name="Text 6"/>
          <p:cNvSpPr txBox="1"/>
          <p:nvPr/>
        </p:nvSpPr>
        <p:spPr>
          <a:xfrm>
            <a:off x="1675454" y="2665782"/>
            <a:ext cx="1601408" cy="212301"/>
          </a:xfrm>
          <a:prstGeom prst="rect">
            <a:avLst/>
          </a:prstGeom>
          <a:noFill/>
          <a:ln/>
        </p:spPr>
        <p:txBody>
          <a:bodyPr wrap="square" lIns="0" tIns="0" rIns="0" bIns="0" rtlCol="0" anchor="ctr"/>
          <a:lstStyle/>
          <a:p>
            <a:pPr algn="ctr" indent="0" marL="0">
              <a:lnSpc>
                <a:spcPct val="116000"/>
              </a:lnSpc>
              <a:buNone/>
            </a:pPr>
            <a:r>
              <a:rPr lang="en-US" sz="1441" dirty="0">
                <a:solidFill>
                  <a:srgbClr val="0072B2"/>
                </a:solidFill>
                <a:latin typeface="Arial" pitchFamily="34" charset="0"/>
                <a:ea typeface="Arial" pitchFamily="34" charset="-122"/>
                <a:cs typeface="Arial" pitchFamily="34" charset="-120"/>
              </a:rPr>
              <a:t>routing results</a:t>
            </a:r>
            <a:endParaRPr lang="en-US" sz="1441" dirty="0"/>
          </a:p>
        </p:txBody>
      </p:sp>
      <p:sp>
        <p:nvSpPr>
          <p:cNvPr id="9" name="Shape 7"/>
          <p:cNvSpPr/>
          <p:nvPr/>
        </p:nvSpPr>
        <p:spPr>
          <a:xfrm>
            <a:off x="4163991" y="3838927"/>
            <a:ext cx="244024" cy="0"/>
          </a:xfrm>
          <a:prstGeom prst="line">
            <a:avLst/>
          </a:prstGeom>
          <a:noFill/>
          <a:ln w="22860">
            <a:solidFill>
              <a:srgbClr val="009E73"/>
            </a:solidFill>
            <a:prstDash val="solid"/>
            <a:tailEnd type="triangle"/>
          </a:ln>
        </p:spPr>
      </p:sp>
      <p:sp>
        <p:nvSpPr>
          <p:cNvPr id="10" name="Text 8"/>
          <p:cNvSpPr txBox="1"/>
          <p:nvPr/>
        </p:nvSpPr>
        <p:spPr>
          <a:xfrm>
            <a:off x="3485299" y="2665782"/>
            <a:ext cx="1601408" cy="212301"/>
          </a:xfrm>
          <a:prstGeom prst="rect">
            <a:avLst/>
          </a:prstGeom>
          <a:noFill/>
          <a:ln/>
        </p:spPr>
        <p:txBody>
          <a:bodyPr wrap="square" lIns="0" tIns="0" rIns="0" bIns="0" rtlCol="0" anchor="ctr"/>
          <a:lstStyle/>
          <a:p>
            <a:pPr algn="ctr" indent="0" marL="0">
              <a:lnSpc>
                <a:spcPct val="116000"/>
              </a:lnSpc>
              <a:buNone/>
            </a:pPr>
            <a:r>
              <a:rPr lang="en-US" sz="1441" dirty="0">
                <a:solidFill>
                  <a:srgbClr val="0072B2"/>
                </a:solidFill>
                <a:latin typeface="Arial" pitchFamily="34" charset="0"/>
                <a:ea typeface="Arial" pitchFamily="34" charset="-122"/>
                <a:cs typeface="Arial" pitchFamily="34" charset="-120"/>
              </a:rPr>
              <a:t>number scores</a:t>
            </a:r>
            <a:endParaRPr lang="en-US" sz="1441" dirty="0"/>
          </a:p>
        </p:txBody>
      </p:sp>
      <p:sp>
        <p:nvSpPr>
          <p:cNvPr id="11" name="Shape 9"/>
          <p:cNvSpPr/>
          <p:nvPr/>
        </p:nvSpPr>
        <p:spPr>
          <a:xfrm>
            <a:off x="5973836" y="3838927"/>
            <a:ext cx="244024" cy="0"/>
          </a:xfrm>
          <a:prstGeom prst="line">
            <a:avLst/>
          </a:prstGeom>
          <a:noFill/>
          <a:ln w="22860">
            <a:solidFill>
              <a:srgbClr val="009E73"/>
            </a:solidFill>
            <a:prstDash val="solid"/>
            <a:tailEnd type="triangle"/>
          </a:ln>
        </p:spPr>
      </p:sp>
      <p:sp>
        <p:nvSpPr>
          <p:cNvPr id="12" name="Text 10"/>
          <p:cNvSpPr txBox="1"/>
          <p:nvPr/>
        </p:nvSpPr>
        <p:spPr>
          <a:xfrm>
            <a:off x="5295144" y="2665782"/>
            <a:ext cx="1601408" cy="212301"/>
          </a:xfrm>
          <a:prstGeom prst="rect">
            <a:avLst/>
          </a:prstGeom>
          <a:noFill/>
          <a:ln/>
        </p:spPr>
        <p:txBody>
          <a:bodyPr wrap="square" lIns="0" tIns="0" rIns="0" bIns="0" rtlCol="0" anchor="ctr"/>
          <a:lstStyle/>
          <a:p>
            <a:pPr algn="ctr" indent="0" marL="0">
              <a:lnSpc>
                <a:spcPct val="116000"/>
              </a:lnSpc>
              <a:buNone/>
            </a:pPr>
            <a:r>
              <a:rPr lang="en-US" sz="1441" dirty="0">
                <a:solidFill>
                  <a:srgbClr val="0072B2"/>
                </a:solidFill>
                <a:latin typeface="Arial" pitchFamily="34" charset="0"/>
                <a:ea typeface="Arial" pitchFamily="34" charset="-122"/>
                <a:cs typeface="Arial" pitchFamily="34" charset="-120"/>
              </a:rPr>
              <a:t>extraction checks</a:t>
            </a:r>
            <a:endParaRPr lang="en-US" sz="1441" dirty="0"/>
          </a:p>
        </p:txBody>
      </p:sp>
      <p:sp>
        <p:nvSpPr>
          <p:cNvPr id="13" name="Shape 11"/>
          <p:cNvSpPr/>
          <p:nvPr/>
        </p:nvSpPr>
        <p:spPr>
          <a:xfrm>
            <a:off x="7783680" y="3838927"/>
            <a:ext cx="244024" cy="0"/>
          </a:xfrm>
          <a:prstGeom prst="line">
            <a:avLst/>
          </a:prstGeom>
          <a:noFill/>
          <a:ln w="22860">
            <a:solidFill>
              <a:srgbClr val="009E73"/>
            </a:solidFill>
            <a:prstDash val="solid"/>
            <a:tailEnd type="triangle"/>
          </a:ln>
        </p:spPr>
      </p:sp>
      <p:sp>
        <p:nvSpPr>
          <p:cNvPr id="14" name="Text 12"/>
          <p:cNvSpPr txBox="1"/>
          <p:nvPr/>
        </p:nvSpPr>
        <p:spPr>
          <a:xfrm>
            <a:off x="7104989" y="2665782"/>
            <a:ext cx="1601408" cy="212301"/>
          </a:xfrm>
          <a:prstGeom prst="rect">
            <a:avLst/>
          </a:prstGeom>
          <a:noFill/>
          <a:ln/>
        </p:spPr>
        <p:txBody>
          <a:bodyPr wrap="square" lIns="0" tIns="0" rIns="0" bIns="0" rtlCol="0" anchor="ctr"/>
          <a:lstStyle/>
          <a:p>
            <a:pPr algn="ctr" indent="0" marL="0">
              <a:lnSpc>
                <a:spcPct val="116000"/>
              </a:lnSpc>
              <a:buNone/>
            </a:pPr>
            <a:r>
              <a:rPr lang="en-US" sz="1441" dirty="0">
                <a:solidFill>
                  <a:srgbClr val="0072B2"/>
                </a:solidFill>
                <a:latin typeface="Arial" pitchFamily="34" charset="0"/>
                <a:ea typeface="Arial" pitchFamily="34" charset="-122"/>
                <a:cs typeface="Arial" pitchFamily="34" charset="-120"/>
              </a:rPr>
              <a:t>flagged reply table</a:t>
            </a:r>
            <a:endParaRPr lang="en-US" sz="1441" dirty="0"/>
          </a:p>
        </p:txBody>
      </p:sp>
      <p:sp>
        <p:nvSpPr>
          <p:cNvPr id="15" name="Shape 13"/>
          <p:cNvSpPr/>
          <p:nvPr/>
        </p:nvSpPr>
        <p:spPr>
          <a:xfrm>
            <a:off x="9593525" y="3838927"/>
            <a:ext cx="244024" cy="0"/>
          </a:xfrm>
          <a:prstGeom prst="line">
            <a:avLst/>
          </a:prstGeom>
          <a:noFill/>
          <a:ln w="22860">
            <a:solidFill>
              <a:srgbClr val="009E73"/>
            </a:solidFill>
            <a:prstDash val="solid"/>
            <a:tailEnd type="triangle"/>
          </a:ln>
        </p:spPr>
      </p:sp>
      <p:sp>
        <p:nvSpPr>
          <p:cNvPr id="16" name="Text 14"/>
          <p:cNvSpPr txBox="1"/>
          <p:nvPr/>
        </p:nvSpPr>
        <p:spPr>
          <a:xfrm>
            <a:off x="8914834" y="2665782"/>
            <a:ext cx="1601408" cy="212301"/>
          </a:xfrm>
          <a:prstGeom prst="rect">
            <a:avLst/>
          </a:prstGeom>
          <a:noFill/>
          <a:ln/>
        </p:spPr>
        <p:txBody>
          <a:bodyPr wrap="square" lIns="0" tIns="0" rIns="0" bIns="0" rtlCol="0" anchor="ctr"/>
          <a:lstStyle/>
          <a:p>
            <a:pPr algn="ctr" indent="0" marL="0">
              <a:lnSpc>
                <a:spcPct val="116000"/>
              </a:lnSpc>
              <a:buNone/>
            </a:pPr>
            <a:r>
              <a:rPr lang="en-US" sz="1441" dirty="0">
                <a:solidFill>
                  <a:srgbClr val="0072B2"/>
                </a:solidFill>
                <a:latin typeface="Arial" pitchFamily="34" charset="0"/>
                <a:ea typeface="Arial" pitchFamily="34" charset="-122"/>
                <a:cs typeface="Arial" pitchFamily="34" charset="-120"/>
              </a:rPr>
              <a:t>judge verdicts</a:t>
            </a:r>
            <a:endParaRPr lang="en-US" sz="1441" dirty="0"/>
          </a:p>
        </p:txBody>
      </p:sp>
      <p:sp>
        <p:nvSpPr>
          <p:cNvPr id="17" name="Shape 15"/>
          <p:cNvSpPr/>
          <p:nvPr/>
        </p:nvSpPr>
        <p:spPr>
          <a:xfrm>
            <a:off x="788325" y="2939089"/>
            <a:ext cx="1565821" cy="1799677"/>
          </a:xfrm>
          <a:prstGeom prst="rect">
            <a:avLst/>
          </a:prstGeom>
          <a:solidFill>
            <a:srgbClr val="E5F7EF"/>
          </a:solidFill>
          <a:ln w="15240">
            <a:solidFill>
              <a:srgbClr val="009E73"/>
            </a:solidFill>
            <a:prstDash val="solid"/>
          </a:ln>
        </p:spPr>
      </p:sp>
      <p:sp>
        <p:nvSpPr>
          <p:cNvPr id="18" name="Text 16"/>
          <p:cNvSpPr txBox="1"/>
          <p:nvPr/>
        </p:nvSpPr>
        <p:spPr>
          <a:xfrm>
            <a:off x="849331" y="3221851"/>
            <a:ext cx="1443809" cy="229993"/>
          </a:xfrm>
          <a:prstGeom prst="rect">
            <a:avLst/>
          </a:prstGeom>
          <a:noFill/>
          <a:ln/>
        </p:spPr>
        <p:txBody>
          <a:bodyPr wrap="square" lIns="0" tIns="0" rIns="0" bIns="0" rtlCol="0" anchor="ctr"/>
          <a:lstStyle/>
          <a:p>
            <a:pPr algn="ctr" indent="0" marL="0">
              <a:lnSpc>
                <a:spcPct val="116000"/>
              </a:lnSpc>
              <a:buNone/>
            </a:pPr>
            <a:r>
              <a:rPr lang="en-US" sz="1561" b="1" dirty="0">
                <a:solidFill>
                  <a:srgbClr val="1E1B4B"/>
                </a:solidFill>
                <a:latin typeface="Arial" pitchFamily="34" charset="0"/>
                <a:ea typeface="Arial" pitchFamily="34" charset="-122"/>
                <a:cs typeface="Arial" pitchFamily="34" charset="-120"/>
              </a:rPr>
              <a:t>Route</a:t>
            </a:r>
            <a:endParaRPr lang="en-US" sz="1561" dirty="0"/>
          </a:p>
        </p:txBody>
      </p:sp>
      <p:sp>
        <p:nvSpPr>
          <p:cNvPr id="19" name="Text 17"/>
          <p:cNvSpPr txBox="1"/>
          <p:nvPr/>
        </p:nvSpPr>
        <p:spPr>
          <a:xfrm>
            <a:off x="849331" y="3451844"/>
            <a:ext cx="1443809" cy="229993"/>
          </a:xfrm>
          <a:prstGeom prst="rect">
            <a:avLst/>
          </a:prstGeom>
          <a:noFill/>
          <a:ln/>
        </p:spPr>
        <p:txBody>
          <a:bodyPr wrap="square" lIns="0" tIns="0" rIns="0" bIns="0" rtlCol="0" anchor="ctr"/>
          <a:lstStyle/>
          <a:p>
            <a:pPr algn="ctr" indent="0" marL="0">
              <a:lnSpc>
                <a:spcPct val="116000"/>
              </a:lnSpc>
              <a:buNone/>
            </a:pPr>
            <a:r>
              <a:rPr lang="en-US" sz="1561" b="1" dirty="0">
                <a:solidFill>
                  <a:srgbClr val="1E1B4B"/>
                </a:solidFill>
                <a:latin typeface="Arial" pitchFamily="34" charset="0"/>
                <a:ea typeface="Arial" pitchFamily="34" charset="-122"/>
                <a:cs typeface="Arial" pitchFamily="34" charset="-120"/>
              </a:rPr>
              <a:t>messages</a:t>
            </a:r>
            <a:endParaRPr lang="en-US" sz="1561" dirty="0"/>
          </a:p>
        </p:txBody>
      </p:sp>
      <p:sp>
        <p:nvSpPr>
          <p:cNvPr id="20" name="Text 18"/>
          <p:cNvSpPr txBox="1"/>
          <p:nvPr/>
        </p:nvSpPr>
        <p:spPr>
          <a:xfrm>
            <a:off x="849331" y="3758094"/>
            <a:ext cx="1443809" cy="212301"/>
          </a:xfrm>
          <a:prstGeom prst="rect">
            <a:avLst/>
          </a:prstGeom>
          <a:noFill/>
          <a:ln/>
        </p:spPr>
        <p:txBody>
          <a:bodyPr wrap="square" lIns="0" tIns="0" rIns="0" bIns="0" rtlCol="0" anchor="ctr"/>
          <a:lstStyle/>
          <a:p>
            <a:pPr algn="ctr" indent="0" marL="0">
              <a:lnSpc>
                <a:spcPct val="116000"/>
              </a:lnSpc>
              <a:buNone/>
            </a:pPr>
            <a:r>
              <a:rPr lang="en-US" sz="1441" dirty="0">
                <a:solidFill>
                  <a:srgbClr val="1F2937"/>
                </a:solidFill>
                <a:latin typeface="Arial" pitchFamily="34" charset="0"/>
                <a:ea typeface="Arial" pitchFamily="34" charset="-122"/>
                <a:cs typeface="Arial" pitchFamily="34" charset="-120"/>
              </a:rPr>
              <a:t>Same tickets;</a:t>
            </a:r>
            <a:endParaRPr lang="en-US" sz="1441" dirty="0"/>
          </a:p>
        </p:txBody>
      </p:sp>
      <p:sp>
        <p:nvSpPr>
          <p:cNvPr id="21" name="Text 19"/>
          <p:cNvSpPr txBox="1"/>
          <p:nvPr/>
        </p:nvSpPr>
        <p:spPr>
          <a:xfrm>
            <a:off x="849331" y="3970395"/>
            <a:ext cx="1443809" cy="212301"/>
          </a:xfrm>
          <a:prstGeom prst="rect">
            <a:avLst/>
          </a:prstGeom>
          <a:noFill/>
          <a:ln/>
        </p:spPr>
        <p:txBody>
          <a:bodyPr wrap="square" lIns="0" tIns="0" rIns="0" bIns="0" rtlCol="0" anchor="ctr"/>
          <a:lstStyle/>
          <a:p>
            <a:pPr algn="ctr" indent="0" marL="0">
              <a:lnSpc>
                <a:spcPct val="116000"/>
              </a:lnSpc>
              <a:buNone/>
            </a:pPr>
            <a:r>
              <a:rPr lang="en-US" sz="1441" dirty="0">
                <a:solidFill>
                  <a:srgbClr val="1F2937"/>
                </a:solidFill>
                <a:latin typeface="Arial" pitchFamily="34" charset="0"/>
                <a:ea typeface="Arial" pitchFamily="34" charset="-122"/>
                <a:cs typeface="Arial" pitchFamily="34" charset="-120"/>
              </a:rPr>
              <a:t>varied prompts</a:t>
            </a:r>
            <a:endParaRPr lang="en-US" sz="1441" dirty="0"/>
          </a:p>
        </p:txBody>
      </p:sp>
      <p:sp>
        <p:nvSpPr>
          <p:cNvPr id="22" name="Text 20"/>
          <p:cNvSpPr txBox="1"/>
          <p:nvPr/>
        </p:nvSpPr>
        <p:spPr>
          <a:xfrm>
            <a:off x="811202" y="4243702"/>
            <a:ext cx="1520066" cy="212301"/>
          </a:xfrm>
          <a:prstGeom prst="rect">
            <a:avLst/>
          </a:prstGeom>
          <a:noFill/>
          <a:ln/>
        </p:spPr>
        <p:txBody>
          <a:bodyPr wrap="square" lIns="0" tIns="0" rIns="0" bIns="0" rtlCol="0" anchor="ctr"/>
          <a:lstStyle/>
          <a:p>
            <a:pPr algn="ctr" indent="0" marL="0">
              <a:lnSpc>
                <a:spcPct val="116000"/>
              </a:lnSpc>
              <a:buNone/>
            </a:pPr>
            <a:r>
              <a:rPr lang="en-US" sz="1441" dirty="0">
                <a:solidFill>
                  <a:srgbClr val="0F766E"/>
                </a:solidFill>
                <a:latin typeface="Arial" pitchFamily="34" charset="0"/>
                <a:ea typeface="Arial" pitchFamily="34" charset="-122"/>
                <a:cs typeface="Arial" pitchFamily="34" charset="-120"/>
              </a:rPr>
              <a:t>evaluate</a:t>
            </a:r>
            <a:endParaRPr lang="en-US" sz="1441" dirty="0"/>
          </a:p>
        </p:txBody>
      </p:sp>
      <p:sp>
        <p:nvSpPr>
          <p:cNvPr id="23" name="Shape 21"/>
          <p:cNvSpPr/>
          <p:nvPr/>
        </p:nvSpPr>
        <p:spPr>
          <a:xfrm>
            <a:off x="2598170" y="2939089"/>
            <a:ext cx="1565821" cy="1799677"/>
          </a:xfrm>
          <a:prstGeom prst="roundRect">
            <a:avLst>
              <a:gd name="adj" fmla="val 4672"/>
            </a:avLst>
          </a:prstGeom>
          <a:solidFill>
            <a:srgbClr val="FFF0E6"/>
          </a:solidFill>
          <a:ln w="15240">
            <a:solidFill>
              <a:srgbClr val="D55E00"/>
            </a:solidFill>
            <a:prstDash val="solid"/>
          </a:ln>
        </p:spPr>
      </p:sp>
      <p:sp>
        <p:nvSpPr>
          <p:cNvPr id="24" name="Text 22"/>
          <p:cNvSpPr txBox="1"/>
          <p:nvPr/>
        </p:nvSpPr>
        <p:spPr>
          <a:xfrm>
            <a:off x="2659176" y="3221851"/>
            <a:ext cx="1443809" cy="229993"/>
          </a:xfrm>
          <a:prstGeom prst="rect">
            <a:avLst/>
          </a:prstGeom>
          <a:noFill/>
          <a:ln/>
        </p:spPr>
        <p:txBody>
          <a:bodyPr wrap="square" lIns="0" tIns="0" rIns="0" bIns="0" rtlCol="0" anchor="ctr"/>
          <a:lstStyle/>
          <a:p>
            <a:pPr algn="ctr" indent="0" marL="0">
              <a:lnSpc>
                <a:spcPct val="116000"/>
              </a:lnSpc>
              <a:buNone/>
            </a:pPr>
            <a:r>
              <a:rPr lang="en-US" sz="1561" b="1" dirty="0">
                <a:solidFill>
                  <a:srgbClr val="1E1B4B"/>
                </a:solidFill>
                <a:latin typeface="Arial" pitchFamily="34" charset="0"/>
                <a:ea typeface="Arial" pitchFamily="34" charset="-122"/>
                <a:cs typeface="Arial" pitchFamily="34" charset="-120"/>
              </a:rPr>
              <a:t>Score</a:t>
            </a:r>
            <a:endParaRPr lang="en-US" sz="1561" dirty="0"/>
          </a:p>
        </p:txBody>
      </p:sp>
      <p:sp>
        <p:nvSpPr>
          <p:cNvPr id="25" name="Text 23"/>
          <p:cNvSpPr txBox="1"/>
          <p:nvPr/>
        </p:nvSpPr>
        <p:spPr>
          <a:xfrm>
            <a:off x="2659176" y="3451844"/>
            <a:ext cx="1443809" cy="229993"/>
          </a:xfrm>
          <a:prstGeom prst="rect">
            <a:avLst/>
          </a:prstGeom>
          <a:noFill/>
          <a:ln/>
        </p:spPr>
        <p:txBody>
          <a:bodyPr wrap="square" lIns="0" tIns="0" rIns="0" bIns="0" rtlCol="0" anchor="ctr"/>
          <a:lstStyle/>
          <a:p>
            <a:pPr algn="ctr" indent="0" marL="0">
              <a:lnSpc>
                <a:spcPct val="116000"/>
              </a:lnSpc>
              <a:buNone/>
            </a:pPr>
            <a:r>
              <a:rPr lang="en-US" sz="1561" b="1" dirty="0">
                <a:solidFill>
                  <a:srgbClr val="1E1B4B"/>
                </a:solidFill>
                <a:latin typeface="Arial" pitchFamily="34" charset="0"/>
                <a:ea typeface="Arial" pitchFamily="34" charset="-122"/>
                <a:cs typeface="Arial" pitchFamily="34" charset="-120"/>
              </a:rPr>
              <a:t>numbers</a:t>
            </a:r>
            <a:endParaRPr lang="en-US" sz="1561" dirty="0"/>
          </a:p>
        </p:txBody>
      </p:sp>
      <p:sp>
        <p:nvSpPr>
          <p:cNvPr id="26" name="Text 24"/>
          <p:cNvSpPr txBox="1"/>
          <p:nvPr/>
        </p:nvSpPr>
        <p:spPr>
          <a:xfrm>
            <a:off x="2659176" y="3758094"/>
            <a:ext cx="1443809" cy="212301"/>
          </a:xfrm>
          <a:prstGeom prst="rect">
            <a:avLst/>
          </a:prstGeom>
          <a:noFill/>
          <a:ln/>
        </p:spPr>
        <p:txBody>
          <a:bodyPr wrap="square" lIns="0" tIns="0" rIns="0" bIns="0" rtlCol="0" anchor="ctr"/>
          <a:lstStyle/>
          <a:p>
            <a:pPr algn="ctr" indent="0" marL="0">
              <a:lnSpc>
                <a:spcPct val="116000"/>
              </a:lnSpc>
              <a:buNone/>
            </a:pPr>
            <a:r>
              <a:rPr lang="en-US" sz="1441" dirty="0">
                <a:solidFill>
                  <a:srgbClr val="1F2937"/>
                </a:solidFill>
                <a:latin typeface="Arial" pitchFamily="34" charset="0"/>
                <a:ea typeface="Arial" pitchFamily="34" charset="-122"/>
                <a:cs typeface="Arial" pitchFamily="34" charset="-120"/>
              </a:rPr>
              <a:t>Answers, steps</a:t>
            </a:r>
            <a:endParaRPr lang="en-US" sz="1441" dirty="0"/>
          </a:p>
        </p:txBody>
      </p:sp>
      <p:sp>
        <p:nvSpPr>
          <p:cNvPr id="27" name="Text 25"/>
          <p:cNvSpPr txBox="1"/>
          <p:nvPr/>
        </p:nvSpPr>
        <p:spPr>
          <a:xfrm>
            <a:off x="2659176" y="3970395"/>
            <a:ext cx="1443809" cy="212301"/>
          </a:xfrm>
          <a:prstGeom prst="rect">
            <a:avLst/>
          </a:prstGeom>
          <a:noFill/>
          <a:ln/>
        </p:spPr>
        <p:txBody>
          <a:bodyPr wrap="square" lIns="0" tIns="0" rIns="0" bIns="0" rtlCol="0" anchor="ctr"/>
          <a:lstStyle/>
          <a:p>
            <a:pPr algn="ctr" indent="0" marL="0">
              <a:lnSpc>
                <a:spcPct val="116000"/>
              </a:lnSpc>
              <a:buNone/>
            </a:pPr>
            <a:r>
              <a:rPr lang="en-US" sz="1441" dirty="0">
                <a:solidFill>
                  <a:srgbClr val="1F2937"/>
                </a:solidFill>
                <a:latin typeface="Arial" pitchFamily="34" charset="0"/>
                <a:ea typeface="Arial" pitchFamily="34" charset="-122"/>
                <a:cs typeface="Arial" pitchFamily="34" charset="-120"/>
              </a:rPr>
              <a:t>and most votes</a:t>
            </a:r>
            <a:endParaRPr lang="en-US" sz="1441" dirty="0"/>
          </a:p>
        </p:txBody>
      </p:sp>
      <p:sp>
        <p:nvSpPr>
          <p:cNvPr id="28" name="Text 26"/>
          <p:cNvSpPr txBox="1"/>
          <p:nvPr/>
        </p:nvSpPr>
        <p:spPr>
          <a:xfrm>
            <a:off x="2621047" y="4243702"/>
            <a:ext cx="1520066" cy="212301"/>
          </a:xfrm>
          <a:prstGeom prst="rect">
            <a:avLst/>
          </a:prstGeom>
          <a:noFill/>
          <a:ln/>
        </p:spPr>
        <p:txBody>
          <a:bodyPr wrap="square" lIns="0" tIns="0" rIns="0" bIns="0" rtlCol="0" anchor="ctr"/>
          <a:lstStyle/>
          <a:p>
            <a:pPr algn="ctr" indent="0" marL="0">
              <a:lnSpc>
                <a:spcPct val="116000"/>
              </a:lnSpc>
              <a:buNone/>
            </a:pPr>
            <a:r>
              <a:rPr lang="en-US" sz="1441" dirty="0">
                <a:solidFill>
                  <a:srgbClr val="0F766E"/>
                </a:solidFill>
                <a:latin typeface="Arial" pitchFamily="34" charset="0"/>
                <a:ea typeface="Arial" pitchFamily="34" charset="-122"/>
                <a:cs typeface="Arial" pitchFamily="34" charset="-120"/>
              </a:rPr>
              <a:t>num_scorer</a:t>
            </a:r>
            <a:endParaRPr lang="en-US" sz="1441" dirty="0"/>
          </a:p>
        </p:txBody>
      </p:sp>
      <p:sp>
        <p:nvSpPr>
          <p:cNvPr id="29" name="Shape 27"/>
          <p:cNvSpPr/>
          <p:nvPr/>
        </p:nvSpPr>
        <p:spPr>
          <a:xfrm>
            <a:off x="4408015" y="2939089"/>
            <a:ext cx="1565821" cy="1799677"/>
          </a:xfrm>
          <a:prstGeom prst="rect">
            <a:avLst/>
          </a:prstGeom>
          <a:solidFill>
            <a:srgbClr val="E5F7EF"/>
          </a:solidFill>
          <a:ln w="15240">
            <a:solidFill>
              <a:srgbClr val="009E73"/>
            </a:solidFill>
            <a:prstDash val="solid"/>
          </a:ln>
        </p:spPr>
      </p:sp>
      <p:sp>
        <p:nvSpPr>
          <p:cNvPr id="30" name="Text 28"/>
          <p:cNvSpPr txBox="1"/>
          <p:nvPr/>
        </p:nvSpPr>
        <p:spPr>
          <a:xfrm>
            <a:off x="4469021" y="3336848"/>
            <a:ext cx="1443809" cy="229993"/>
          </a:xfrm>
          <a:prstGeom prst="rect">
            <a:avLst/>
          </a:prstGeom>
          <a:noFill/>
          <a:ln/>
        </p:spPr>
        <p:txBody>
          <a:bodyPr wrap="square" lIns="0" tIns="0" rIns="0" bIns="0" rtlCol="0" anchor="ctr"/>
          <a:lstStyle/>
          <a:p>
            <a:pPr algn="ctr" indent="0" marL="0">
              <a:lnSpc>
                <a:spcPct val="116000"/>
              </a:lnSpc>
              <a:buNone/>
            </a:pPr>
            <a:r>
              <a:rPr lang="en-US" sz="1561" b="1" dirty="0">
                <a:solidFill>
                  <a:srgbClr val="1E1B4B"/>
                </a:solidFill>
                <a:latin typeface="Arial" pitchFamily="34" charset="0"/>
                <a:ea typeface="Arial" pitchFamily="34" charset="-122"/>
                <a:cs typeface="Arial" pitchFamily="34" charset="-120"/>
              </a:rPr>
              <a:t>Extract fields</a:t>
            </a:r>
            <a:endParaRPr lang="en-US" sz="1561" dirty="0"/>
          </a:p>
        </p:txBody>
      </p:sp>
      <p:sp>
        <p:nvSpPr>
          <p:cNvPr id="31" name="Text 29"/>
          <p:cNvSpPr txBox="1"/>
          <p:nvPr/>
        </p:nvSpPr>
        <p:spPr>
          <a:xfrm>
            <a:off x="4469021" y="3643098"/>
            <a:ext cx="1443809" cy="212301"/>
          </a:xfrm>
          <a:prstGeom prst="rect">
            <a:avLst/>
          </a:prstGeom>
          <a:noFill/>
          <a:ln/>
        </p:spPr>
        <p:txBody>
          <a:bodyPr wrap="square" lIns="0" tIns="0" rIns="0" bIns="0" rtlCol="0" anchor="ctr"/>
          <a:lstStyle/>
          <a:p>
            <a:pPr algn="ctr" indent="0" marL="0">
              <a:lnSpc>
                <a:spcPct val="116000"/>
              </a:lnSpc>
              <a:buNone/>
            </a:pPr>
            <a:r>
              <a:rPr lang="en-US" sz="1441" dirty="0">
                <a:solidFill>
                  <a:srgbClr val="1F2937"/>
                </a:solidFill>
                <a:latin typeface="Arial" pitchFamily="34" charset="0"/>
                <a:ea typeface="Arial" pitchFamily="34" charset="-122"/>
                <a:cs typeface="Arial" pitchFamily="34" charset="-120"/>
              </a:rPr>
              <a:t>Check format</a:t>
            </a:r>
            <a:endParaRPr lang="en-US" sz="1441" dirty="0"/>
          </a:p>
        </p:txBody>
      </p:sp>
      <p:sp>
        <p:nvSpPr>
          <p:cNvPr id="32" name="Text 30"/>
          <p:cNvSpPr txBox="1"/>
          <p:nvPr/>
        </p:nvSpPr>
        <p:spPr>
          <a:xfrm>
            <a:off x="4469021" y="3855399"/>
            <a:ext cx="1443809" cy="212301"/>
          </a:xfrm>
          <a:prstGeom prst="rect">
            <a:avLst/>
          </a:prstGeom>
          <a:noFill/>
          <a:ln/>
        </p:spPr>
        <p:txBody>
          <a:bodyPr wrap="square" lIns="0" tIns="0" rIns="0" bIns="0" rtlCol="0" anchor="ctr"/>
          <a:lstStyle/>
          <a:p>
            <a:pPr algn="ctr" indent="0" marL="0">
              <a:lnSpc>
                <a:spcPct val="116000"/>
              </a:lnSpc>
              <a:buNone/>
            </a:pPr>
            <a:r>
              <a:rPr lang="en-US" sz="1441" dirty="0">
                <a:solidFill>
                  <a:srgbClr val="1F2937"/>
                </a:solidFill>
                <a:latin typeface="Arial" pitchFamily="34" charset="0"/>
                <a:ea typeface="Arial" pitchFamily="34" charset="-122"/>
                <a:cs typeface="Arial" pitchFamily="34" charset="-120"/>
              </a:rPr>
              <a:t>and source facts</a:t>
            </a:r>
            <a:endParaRPr lang="en-US" sz="1441" dirty="0"/>
          </a:p>
        </p:txBody>
      </p:sp>
      <p:sp>
        <p:nvSpPr>
          <p:cNvPr id="33" name="Text 31"/>
          <p:cNvSpPr txBox="1"/>
          <p:nvPr/>
        </p:nvSpPr>
        <p:spPr>
          <a:xfrm>
            <a:off x="4430892" y="4128706"/>
            <a:ext cx="1520066" cy="212301"/>
          </a:xfrm>
          <a:prstGeom prst="rect">
            <a:avLst/>
          </a:prstGeom>
          <a:noFill/>
          <a:ln/>
        </p:spPr>
        <p:txBody>
          <a:bodyPr wrap="square" lIns="0" tIns="0" rIns="0" bIns="0" rtlCol="0" anchor="ctr"/>
          <a:lstStyle/>
          <a:p>
            <a:pPr algn="ctr" indent="0" marL="0">
              <a:lnSpc>
                <a:spcPct val="116000"/>
              </a:lnSpc>
              <a:buNone/>
            </a:pPr>
            <a:r>
              <a:rPr lang="en-US" sz="1441" dirty="0">
                <a:solidFill>
                  <a:srgbClr val="0F766E"/>
                </a:solidFill>
                <a:latin typeface="Arial" pitchFamily="34" charset="0"/>
                <a:ea typeface="Arial" pitchFamily="34" charset="-122"/>
                <a:cs typeface="Arial" pitchFamily="34" charset="-120"/>
              </a:rPr>
              <a:t>parse_with_retry</a:t>
            </a:r>
            <a:endParaRPr lang="en-US" sz="1441" dirty="0"/>
          </a:p>
        </p:txBody>
      </p:sp>
      <p:sp>
        <p:nvSpPr>
          <p:cNvPr id="34" name="Shape 32"/>
          <p:cNvSpPr/>
          <p:nvPr/>
        </p:nvSpPr>
        <p:spPr>
          <a:xfrm>
            <a:off x="6217860" y="2939089"/>
            <a:ext cx="1565821" cy="1799677"/>
          </a:xfrm>
          <a:prstGeom prst="rect">
            <a:avLst/>
          </a:prstGeom>
          <a:solidFill>
            <a:srgbClr val="F2F4F5"/>
          </a:solidFill>
          <a:ln w="15240">
            <a:solidFill>
              <a:srgbClr val="626B73"/>
            </a:solidFill>
            <a:prstDash val="solid"/>
          </a:ln>
        </p:spPr>
      </p:sp>
      <p:sp>
        <p:nvSpPr>
          <p:cNvPr id="35" name="Text 33"/>
          <p:cNvSpPr txBox="1"/>
          <p:nvPr/>
        </p:nvSpPr>
        <p:spPr>
          <a:xfrm>
            <a:off x="6278866" y="3221851"/>
            <a:ext cx="1443809" cy="229993"/>
          </a:xfrm>
          <a:prstGeom prst="rect">
            <a:avLst/>
          </a:prstGeom>
          <a:noFill/>
          <a:ln/>
        </p:spPr>
        <p:txBody>
          <a:bodyPr wrap="square" lIns="0" tIns="0" rIns="0" bIns="0" rtlCol="0" anchor="ctr"/>
          <a:lstStyle/>
          <a:p>
            <a:pPr algn="ctr" indent="0" marL="0">
              <a:lnSpc>
                <a:spcPct val="116000"/>
              </a:lnSpc>
              <a:buNone/>
            </a:pPr>
            <a:r>
              <a:rPr lang="en-US" sz="1561" b="1" dirty="0">
                <a:solidFill>
                  <a:srgbClr val="1E1B4B"/>
                </a:solidFill>
                <a:latin typeface="Arial" pitchFamily="34" charset="0"/>
                <a:ea typeface="Arial" pitchFamily="34" charset="-122"/>
                <a:cs typeface="Arial" pitchFamily="34" charset="-120"/>
              </a:rPr>
              <a:t>Inspect</a:t>
            </a:r>
            <a:endParaRPr lang="en-US" sz="1561" dirty="0"/>
          </a:p>
        </p:txBody>
      </p:sp>
      <p:sp>
        <p:nvSpPr>
          <p:cNvPr id="36" name="Text 34"/>
          <p:cNvSpPr txBox="1"/>
          <p:nvPr/>
        </p:nvSpPr>
        <p:spPr>
          <a:xfrm>
            <a:off x="6278866" y="3451844"/>
            <a:ext cx="1443809" cy="229993"/>
          </a:xfrm>
          <a:prstGeom prst="rect">
            <a:avLst/>
          </a:prstGeom>
          <a:noFill/>
          <a:ln/>
        </p:spPr>
        <p:txBody>
          <a:bodyPr wrap="square" lIns="0" tIns="0" rIns="0" bIns="0" rtlCol="0" anchor="ctr"/>
          <a:lstStyle/>
          <a:p>
            <a:pPr algn="ctr" indent="0" marL="0">
              <a:lnSpc>
                <a:spcPct val="116000"/>
              </a:lnSpc>
              <a:buNone/>
            </a:pPr>
            <a:r>
              <a:rPr lang="en-US" sz="1561" b="1" dirty="0">
                <a:solidFill>
                  <a:srgbClr val="1E1B4B"/>
                </a:solidFill>
                <a:latin typeface="Arial" pitchFamily="34" charset="0"/>
                <a:ea typeface="Arial" pitchFamily="34" charset="-122"/>
                <a:cs typeface="Arial" pitchFamily="34" charset="-120"/>
              </a:rPr>
              <a:t>injection</a:t>
            </a:r>
            <a:endParaRPr lang="en-US" sz="1561" dirty="0"/>
          </a:p>
        </p:txBody>
      </p:sp>
      <p:sp>
        <p:nvSpPr>
          <p:cNvPr id="37" name="Text 35"/>
          <p:cNvSpPr txBox="1"/>
          <p:nvPr/>
        </p:nvSpPr>
        <p:spPr>
          <a:xfrm>
            <a:off x="6278866" y="3758094"/>
            <a:ext cx="1443809" cy="212301"/>
          </a:xfrm>
          <a:prstGeom prst="rect">
            <a:avLst/>
          </a:prstGeom>
          <a:noFill/>
          <a:ln/>
        </p:spPr>
        <p:txBody>
          <a:bodyPr wrap="square" lIns="0" tIns="0" rIns="0" bIns="0" rtlCol="0" anchor="ctr"/>
          <a:lstStyle/>
          <a:p>
            <a:pPr algn="ctr" indent="0" marL="0">
              <a:lnSpc>
                <a:spcPct val="116000"/>
              </a:lnSpc>
              <a:buNone/>
            </a:pPr>
            <a:r>
              <a:rPr lang="en-US" sz="1441" dirty="0">
                <a:solidFill>
                  <a:srgbClr val="1F2937"/>
                </a:solidFill>
                <a:latin typeface="Arial" pitchFamily="34" charset="0"/>
                <a:ea typeface="Arial" pitchFamily="34" charset="-122"/>
                <a:cs typeface="Arial" pitchFamily="34" charset="-120"/>
              </a:rPr>
              <a:t>Read heuristic</a:t>
            </a:r>
            <a:endParaRPr lang="en-US" sz="1441" dirty="0"/>
          </a:p>
        </p:txBody>
      </p:sp>
      <p:sp>
        <p:nvSpPr>
          <p:cNvPr id="38" name="Text 36"/>
          <p:cNvSpPr txBox="1"/>
          <p:nvPr/>
        </p:nvSpPr>
        <p:spPr>
          <a:xfrm>
            <a:off x="6278866" y="3970395"/>
            <a:ext cx="1443809" cy="212301"/>
          </a:xfrm>
          <a:prstGeom prst="rect">
            <a:avLst/>
          </a:prstGeom>
          <a:noFill/>
          <a:ln/>
        </p:spPr>
        <p:txBody>
          <a:bodyPr wrap="square" lIns="0" tIns="0" rIns="0" bIns="0" rtlCol="0" anchor="ctr"/>
          <a:lstStyle/>
          <a:p>
            <a:pPr algn="ctr" indent="0" marL="0">
              <a:lnSpc>
                <a:spcPct val="116000"/>
              </a:lnSpc>
              <a:buNone/>
            </a:pPr>
            <a:r>
              <a:rPr lang="en-US" sz="1441" dirty="0">
                <a:solidFill>
                  <a:srgbClr val="1F2937"/>
                </a:solidFill>
                <a:latin typeface="Arial" pitchFamily="34" charset="0"/>
                <a:ea typeface="Arial" pitchFamily="34" charset="-122"/>
                <a:cs typeface="Arial" pitchFamily="34" charset="-120"/>
              </a:rPr>
              <a:t>flags and replies</a:t>
            </a:r>
            <a:endParaRPr lang="en-US" sz="1441" dirty="0"/>
          </a:p>
        </p:txBody>
      </p:sp>
      <p:sp>
        <p:nvSpPr>
          <p:cNvPr id="39" name="Text 37"/>
          <p:cNvSpPr txBox="1"/>
          <p:nvPr/>
        </p:nvSpPr>
        <p:spPr>
          <a:xfrm>
            <a:off x="6240737" y="4243702"/>
            <a:ext cx="1520066" cy="212301"/>
          </a:xfrm>
          <a:prstGeom prst="rect">
            <a:avLst/>
          </a:prstGeom>
          <a:noFill/>
          <a:ln/>
        </p:spPr>
        <p:txBody>
          <a:bodyPr wrap="square" lIns="0" tIns="0" rIns="0" bIns="0" rtlCol="0" anchor="ctr"/>
          <a:lstStyle/>
          <a:p>
            <a:pPr algn="ctr" indent="0" marL="0">
              <a:lnSpc>
                <a:spcPct val="116000"/>
              </a:lnSpc>
              <a:buNone/>
            </a:pPr>
            <a:r>
              <a:rPr lang="en-US" sz="1441" dirty="0">
                <a:solidFill>
                  <a:srgbClr val="0F766E"/>
                </a:solidFill>
                <a:latin typeface="Arial" pitchFamily="34" charset="0"/>
                <a:ea typeface="Arial" pitchFamily="34" charset="-122"/>
                <a:cs typeface="Arial" pitchFamily="34" charset="-120"/>
              </a:rPr>
              <a:t>hijacked</a:t>
            </a:r>
            <a:endParaRPr lang="en-US" sz="1441" dirty="0"/>
          </a:p>
        </p:txBody>
      </p:sp>
      <p:sp>
        <p:nvSpPr>
          <p:cNvPr id="40" name="Shape 38"/>
          <p:cNvSpPr/>
          <p:nvPr/>
        </p:nvSpPr>
        <p:spPr>
          <a:xfrm>
            <a:off x="8027705" y="2939089"/>
            <a:ext cx="1565821" cy="1799677"/>
          </a:xfrm>
          <a:prstGeom prst="rect">
            <a:avLst/>
          </a:prstGeom>
          <a:solidFill>
            <a:srgbClr val="F2F4F5"/>
          </a:solidFill>
          <a:ln w="15240">
            <a:solidFill>
              <a:srgbClr val="626B73"/>
            </a:solidFill>
            <a:prstDash val="solid"/>
          </a:ln>
        </p:spPr>
      </p:sp>
      <p:sp>
        <p:nvSpPr>
          <p:cNvPr id="41" name="Text 39"/>
          <p:cNvSpPr txBox="1"/>
          <p:nvPr/>
        </p:nvSpPr>
        <p:spPr>
          <a:xfrm>
            <a:off x="8088711" y="3221851"/>
            <a:ext cx="1443809" cy="229993"/>
          </a:xfrm>
          <a:prstGeom prst="rect">
            <a:avLst/>
          </a:prstGeom>
          <a:noFill/>
          <a:ln/>
        </p:spPr>
        <p:txBody>
          <a:bodyPr wrap="square" lIns="0" tIns="0" rIns="0" bIns="0" rtlCol="0" anchor="ctr"/>
          <a:lstStyle/>
          <a:p>
            <a:pPr algn="ctr" indent="0" marL="0">
              <a:lnSpc>
                <a:spcPct val="116000"/>
              </a:lnSpc>
              <a:buNone/>
            </a:pPr>
            <a:r>
              <a:rPr lang="en-US" sz="1561" b="1" dirty="0">
                <a:solidFill>
                  <a:srgbClr val="1E1B4B"/>
                </a:solidFill>
                <a:latin typeface="Arial" pitchFamily="34" charset="0"/>
                <a:ea typeface="Arial" pitchFamily="34" charset="-122"/>
                <a:cs typeface="Arial" pitchFamily="34" charset="-120"/>
              </a:rPr>
              <a:t>Swap judge</a:t>
            </a:r>
            <a:endParaRPr lang="en-US" sz="1561" dirty="0"/>
          </a:p>
        </p:txBody>
      </p:sp>
      <p:sp>
        <p:nvSpPr>
          <p:cNvPr id="42" name="Text 40"/>
          <p:cNvSpPr txBox="1"/>
          <p:nvPr/>
        </p:nvSpPr>
        <p:spPr>
          <a:xfrm>
            <a:off x="8088711" y="3451844"/>
            <a:ext cx="1443809" cy="229993"/>
          </a:xfrm>
          <a:prstGeom prst="rect">
            <a:avLst/>
          </a:prstGeom>
          <a:noFill/>
          <a:ln/>
        </p:spPr>
        <p:txBody>
          <a:bodyPr wrap="square" lIns="0" tIns="0" rIns="0" bIns="0" rtlCol="0" anchor="ctr"/>
          <a:lstStyle/>
          <a:p>
            <a:pPr algn="ctr" indent="0" marL="0">
              <a:lnSpc>
                <a:spcPct val="116000"/>
              </a:lnSpc>
              <a:buNone/>
            </a:pPr>
            <a:r>
              <a:rPr lang="en-US" sz="1561" b="1" dirty="0">
                <a:solidFill>
                  <a:srgbClr val="1E1B4B"/>
                </a:solidFill>
                <a:latin typeface="Arial" pitchFamily="34" charset="0"/>
                <a:ea typeface="Arial" pitchFamily="34" charset="-122"/>
                <a:cs typeface="Arial" pitchFamily="34" charset="-120"/>
              </a:rPr>
              <a:t>order</a:t>
            </a:r>
            <a:endParaRPr lang="en-US" sz="1561" dirty="0"/>
          </a:p>
        </p:txBody>
      </p:sp>
      <p:sp>
        <p:nvSpPr>
          <p:cNvPr id="43" name="Text 41"/>
          <p:cNvSpPr txBox="1"/>
          <p:nvPr/>
        </p:nvSpPr>
        <p:spPr>
          <a:xfrm>
            <a:off x="8088711" y="3758094"/>
            <a:ext cx="1443809" cy="212301"/>
          </a:xfrm>
          <a:prstGeom prst="rect">
            <a:avLst/>
          </a:prstGeom>
          <a:noFill/>
          <a:ln/>
        </p:spPr>
        <p:txBody>
          <a:bodyPr wrap="square" lIns="0" tIns="0" rIns="0" bIns="0" rtlCol="0" anchor="ctr"/>
          <a:lstStyle/>
          <a:p>
            <a:pPr algn="ctr" indent="0" marL="0">
              <a:lnSpc>
                <a:spcPct val="116000"/>
              </a:lnSpc>
              <a:buNone/>
            </a:pPr>
            <a:r>
              <a:rPr lang="en-US" sz="1441" dirty="0">
                <a:solidFill>
                  <a:srgbClr val="1F2937"/>
                </a:solidFill>
                <a:latin typeface="Arial" pitchFamily="34" charset="0"/>
                <a:ea typeface="Arial" pitchFamily="34" charset="-122"/>
                <a:cs typeface="Arial" pitchFamily="34" charset="-120"/>
              </a:rPr>
              <a:t>Require valid</a:t>
            </a:r>
            <a:endParaRPr lang="en-US" sz="1441" dirty="0"/>
          </a:p>
        </p:txBody>
      </p:sp>
      <p:sp>
        <p:nvSpPr>
          <p:cNvPr id="44" name="Text 42"/>
          <p:cNvSpPr txBox="1"/>
          <p:nvPr/>
        </p:nvSpPr>
        <p:spPr>
          <a:xfrm>
            <a:off x="8088711" y="3970395"/>
            <a:ext cx="1443809" cy="212301"/>
          </a:xfrm>
          <a:prstGeom prst="rect">
            <a:avLst/>
          </a:prstGeom>
          <a:noFill/>
          <a:ln/>
        </p:spPr>
        <p:txBody>
          <a:bodyPr wrap="square" lIns="0" tIns="0" rIns="0" bIns="0" rtlCol="0" anchor="ctr"/>
          <a:lstStyle/>
          <a:p>
            <a:pPr algn="ctr" indent="0" marL="0">
              <a:lnSpc>
                <a:spcPct val="116000"/>
              </a:lnSpc>
              <a:buNone/>
            </a:pPr>
            <a:r>
              <a:rPr lang="en-US" sz="1441" dirty="0">
                <a:solidFill>
                  <a:srgbClr val="1F2937"/>
                </a:solidFill>
                <a:latin typeface="Arial" pitchFamily="34" charset="0"/>
                <a:ea typeface="Arial" pitchFamily="34" charset="-122"/>
                <a:cs typeface="Arial" pitchFamily="34" charset="-120"/>
              </a:rPr>
              <a:t>A/B choices</a:t>
            </a:r>
            <a:endParaRPr lang="en-US" sz="1441" dirty="0"/>
          </a:p>
        </p:txBody>
      </p:sp>
      <p:sp>
        <p:nvSpPr>
          <p:cNvPr id="45" name="Text 43"/>
          <p:cNvSpPr txBox="1"/>
          <p:nvPr/>
        </p:nvSpPr>
        <p:spPr>
          <a:xfrm>
            <a:off x="8050582" y="4243702"/>
            <a:ext cx="1520066" cy="212301"/>
          </a:xfrm>
          <a:prstGeom prst="rect">
            <a:avLst/>
          </a:prstGeom>
          <a:noFill/>
          <a:ln/>
        </p:spPr>
        <p:txBody>
          <a:bodyPr wrap="square" lIns="0" tIns="0" rIns="0" bIns="0" rtlCol="0" anchor="ctr"/>
          <a:lstStyle/>
          <a:p>
            <a:pPr algn="ctr" indent="0" marL="0">
              <a:lnSpc>
                <a:spcPct val="116000"/>
              </a:lnSpc>
              <a:buNone/>
            </a:pPr>
            <a:r>
              <a:rPr lang="en-US" sz="1441" dirty="0">
                <a:solidFill>
                  <a:srgbClr val="0F766E"/>
                </a:solidFill>
                <a:latin typeface="Arial" pitchFamily="34" charset="0"/>
                <a:ea typeface="Arial" pitchFamily="34" charset="-122"/>
                <a:cs typeface="Arial" pitchFamily="34" charset="-120"/>
              </a:rPr>
              <a:t>judge</a:t>
            </a:r>
            <a:endParaRPr lang="en-US" sz="1441" dirty="0"/>
          </a:p>
        </p:txBody>
      </p:sp>
      <p:sp>
        <p:nvSpPr>
          <p:cNvPr id="46" name="Shape 44"/>
          <p:cNvSpPr/>
          <p:nvPr/>
        </p:nvSpPr>
        <p:spPr>
          <a:xfrm>
            <a:off x="9837549" y="2939089"/>
            <a:ext cx="1565821" cy="1799677"/>
          </a:xfrm>
          <a:prstGeom prst="roundRect">
            <a:avLst>
              <a:gd name="adj" fmla="val 4672"/>
            </a:avLst>
          </a:prstGeom>
          <a:solidFill>
            <a:srgbClr val="F9EAF4"/>
          </a:solidFill>
          <a:ln w="15240">
            <a:solidFill>
              <a:srgbClr val="CC79A7"/>
            </a:solidFill>
            <a:prstDash val="solid"/>
          </a:ln>
        </p:spPr>
      </p:sp>
      <p:sp>
        <p:nvSpPr>
          <p:cNvPr id="47" name="Text 45"/>
          <p:cNvSpPr txBox="1"/>
          <p:nvPr/>
        </p:nvSpPr>
        <p:spPr>
          <a:xfrm>
            <a:off x="9898555" y="3221851"/>
            <a:ext cx="1443809" cy="229993"/>
          </a:xfrm>
          <a:prstGeom prst="rect">
            <a:avLst/>
          </a:prstGeom>
          <a:noFill/>
          <a:ln/>
        </p:spPr>
        <p:txBody>
          <a:bodyPr wrap="square" lIns="0" tIns="0" rIns="0" bIns="0" rtlCol="0" anchor="ctr"/>
          <a:lstStyle/>
          <a:p>
            <a:pPr algn="ctr" indent="0" marL="0">
              <a:lnSpc>
                <a:spcPct val="116000"/>
              </a:lnSpc>
              <a:buNone/>
            </a:pPr>
            <a:r>
              <a:rPr lang="en-US" sz="1561" b="1" dirty="0">
                <a:solidFill>
                  <a:srgbClr val="1E1B4B"/>
                </a:solidFill>
                <a:latin typeface="Arial" pitchFamily="34" charset="0"/>
                <a:ea typeface="Arial" pitchFamily="34" charset="-122"/>
                <a:cs typeface="Arial" pitchFamily="34" charset="-120"/>
              </a:rPr>
              <a:t>Report</a:t>
            </a:r>
            <a:endParaRPr lang="en-US" sz="1561" dirty="0"/>
          </a:p>
        </p:txBody>
      </p:sp>
      <p:sp>
        <p:nvSpPr>
          <p:cNvPr id="48" name="Text 46"/>
          <p:cNvSpPr txBox="1"/>
          <p:nvPr/>
        </p:nvSpPr>
        <p:spPr>
          <a:xfrm>
            <a:off x="9898555" y="3451844"/>
            <a:ext cx="1443809" cy="229993"/>
          </a:xfrm>
          <a:prstGeom prst="rect">
            <a:avLst/>
          </a:prstGeom>
          <a:noFill/>
          <a:ln/>
        </p:spPr>
        <p:txBody>
          <a:bodyPr wrap="square" lIns="0" tIns="0" rIns="0" bIns="0" rtlCol="0" anchor="ctr"/>
          <a:lstStyle/>
          <a:p>
            <a:pPr algn="ctr" indent="0" marL="0">
              <a:lnSpc>
                <a:spcPct val="116000"/>
              </a:lnSpc>
              <a:buNone/>
            </a:pPr>
            <a:r>
              <a:rPr lang="en-US" sz="1561" b="1" dirty="0">
                <a:solidFill>
                  <a:srgbClr val="1E1B4B"/>
                </a:solidFill>
                <a:latin typeface="Arial" pitchFamily="34" charset="0"/>
                <a:ea typeface="Arial" pitchFamily="34" charset="-122"/>
                <a:cs typeface="Arial" pitchFamily="34" charset="-120"/>
              </a:rPr>
              <a:t>evidence</a:t>
            </a:r>
            <a:endParaRPr lang="en-US" sz="1561" dirty="0"/>
          </a:p>
        </p:txBody>
      </p:sp>
      <p:sp>
        <p:nvSpPr>
          <p:cNvPr id="49" name="Text 47"/>
          <p:cNvSpPr txBox="1"/>
          <p:nvPr/>
        </p:nvSpPr>
        <p:spPr>
          <a:xfrm>
            <a:off x="9898555" y="3758094"/>
            <a:ext cx="1443809" cy="212301"/>
          </a:xfrm>
          <a:prstGeom prst="rect">
            <a:avLst/>
          </a:prstGeom>
          <a:noFill/>
          <a:ln/>
        </p:spPr>
        <p:txBody>
          <a:bodyPr wrap="square" lIns="0" tIns="0" rIns="0" bIns="0" rtlCol="0" anchor="ctr"/>
          <a:lstStyle/>
          <a:p>
            <a:pPr algn="ctr" indent="0" marL="0">
              <a:lnSpc>
                <a:spcPct val="116000"/>
              </a:lnSpc>
              <a:buNone/>
            </a:pPr>
            <a:r>
              <a:rPr lang="en-US" sz="1441" dirty="0">
                <a:solidFill>
                  <a:srgbClr val="1F2937"/>
                </a:solidFill>
                <a:latin typeface="Arial" pitchFamily="34" charset="0"/>
                <a:ea typeface="Arial" pitchFamily="34" charset="-122"/>
                <a:cs typeface="Arial" pitchFamily="34" charset="-120"/>
              </a:rPr>
              <a:t>Scores, costs</a:t>
            </a:r>
            <a:endParaRPr lang="en-US" sz="1441" dirty="0"/>
          </a:p>
        </p:txBody>
      </p:sp>
      <p:sp>
        <p:nvSpPr>
          <p:cNvPr id="50" name="Text 48"/>
          <p:cNvSpPr txBox="1"/>
          <p:nvPr/>
        </p:nvSpPr>
        <p:spPr>
          <a:xfrm>
            <a:off x="9898555" y="3970395"/>
            <a:ext cx="1443809" cy="212301"/>
          </a:xfrm>
          <a:prstGeom prst="rect">
            <a:avLst/>
          </a:prstGeom>
          <a:noFill/>
          <a:ln/>
        </p:spPr>
        <p:txBody>
          <a:bodyPr wrap="square" lIns="0" tIns="0" rIns="0" bIns="0" rtlCol="0" anchor="ctr"/>
          <a:lstStyle/>
          <a:p>
            <a:pPr algn="ctr" indent="0" marL="0">
              <a:lnSpc>
                <a:spcPct val="116000"/>
              </a:lnSpc>
              <a:buNone/>
            </a:pPr>
            <a:r>
              <a:rPr lang="en-US" sz="1441" dirty="0">
                <a:solidFill>
                  <a:srgbClr val="1F2937"/>
                </a:solidFill>
                <a:latin typeface="Arial" pitchFamily="34" charset="0"/>
                <a:ea typeface="Arial" pitchFamily="34" charset="-122"/>
                <a:cs typeface="Arial" pitchFamily="34" charset="-120"/>
              </a:rPr>
              <a:t>and limitations</a:t>
            </a:r>
            <a:endParaRPr lang="en-US" sz="1441" dirty="0"/>
          </a:p>
        </p:txBody>
      </p:sp>
      <p:sp>
        <p:nvSpPr>
          <p:cNvPr id="51" name="Text 49"/>
          <p:cNvSpPr txBox="1"/>
          <p:nvPr/>
        </p:nvSpPr>
        <p:spPr>
          <a:xfrm>
            <a:off x="9860427" y="4243702"/>
            <a:ext cx="1520066" cy="212301"/>
          </a:xfrm>
          <a:prstGeom prst="rect">
            <a:avLst/>
          </a:prstGeom>
          <a:noFill/>
          <a:ln/>
        </p:spPr>
        <p:txBody>
          <a:bodyPr wrap="square" lIns="0" tIns="0" rIns="0" bIns="0" rtlCol="0" anchor="ctr"/>
          <a:lstStyle/>
          <a:p>
            <a:pPr algn="ctr" indent="0" marL="0">
              <a:lnSpc>
                <a:spcPct val="116000"/>
              </a:lnSpc>
              <a:buNone/>
            </a:pPr>
            <a:r>
              <a:rPr lang="en-US" sz="1441" dirty="0">
                <a:solidFill>
                  <a:srgbClr val="0F766E"/>
                </a:solidFill>
                <a:latin typeface="Arial" pitchFamily="34" charset="0"/>
                <a:ea typeface="Arial" pitchFamily="34" charset="-122"/>
                <a:cs typeface="Arial" pitchFamily="34" charset="-120"/>
              </a:rPr>
              <a:t>summaries</a:t>
            </a:r>
            <a:endParaRPr lang="en-US" sz="1441" dirty="0"/>
          </a:p>
        </p:txBody>
      </p:sp>
      <p:sp>
        <p:nvSpPr>
          <p:cNvPr id="52" name="Shape 50"/>
          <p:cNvSpPr/>
          <p:nvPr/>
        </p:nvSpPr>
        <p:spPr>
          <a:xfrm>
            <a:off x="788325" y="5630979"/>
            <a:ext cx="198270" cy="198270"/>
          </a:xfrm>
          <a:prstGeom prst="rect">
            <a:avLst/>
          </a:prstGeom>
          <a:solidFill>
            <a:srgbClr val="E5F7EF"/>
          </a:solidFill>
          <a:ln w="15240">
            <a:solidFill>
              <a:srgbClr val="009E73"/>
            </a:solidFill>
            <a:prstDash val="solid"/>
          </a:ln>
        </p:spPr>
      </p:sp>
      <p:sp>
        <p:nvSpPr>
          <p:cNvPr id="53" name="Text 51"/>
          <p:cNvSpPr txBox="1"/>
          <p:nvPr/>
        </p:nvSpPr>
        <p:spPr>
          <a:xfrm>
            <a:off x="1047600" y="5608101"/>
            <a:ext cx="546304" cy="244024"/>
          </a:xfrm>
          <a:prstGeom prst="rect">
            <a:avLst/>
          </a:prstGeom>
          <a:noFill/>
          <a:ln/>
        </p:spPr>
        <p:txBody>
          <a:bodyPr wrap="square" lIns="0" tIns="0" rIns="0" bIns="0" rtlCol="0" anchor="ctr"/>
          <a:lstStyle/>
          <a:p>
            <a:pPr algn="l" indent="0" marL="0">
              <a:lnSpc>
                <a:spcPct val="116000"/>
              </a:lnSpc>
              <a:buNone/>
            </a:pPr>
            <a:r>
              <a:rPr lang="en-US" sz="1441" dirty="0">
                <a:solidFill>
                  <a:srgbClr val="1F2937"/>
                </a:solidFill>
                <a:latin typeface="Arial" pitchFamily="34" charset="0"/>
                <a:ea typeface="Arial" pitchFamily="34" charset="-122"/>
                <a:cs typeface="Arial" pitchFamily="34" charset="-120"/>
              </a:rPr>
              <a:t>Model</a:t>
            </a:r>
            <a:endParaRPr lang="en-US" sz="1441" dirty="0"/>
          </a:p>
        </p:txBody>
      </p:sp>
      <p:sp>
        <p:nvSpPr>
          <p:cNvPr id="54" name="Shape 52"/>
          <p:cNvSpPr/>
          <p:nvPr/>
        </p:nvSpPr>
        <p:spPr>
          <a:xfrm>
            <a:off x="1792174" y="5630979"/>
            <a:ext cx="198270" cy="198270"/>
          </a:xfrm>
          <a:prstGeom prst="roundRect">
            <a:avLst>
              <a:gd name="adj" fmla="val 36895"/>
            </a:avLst>
          </a:prstGeom>
          <a:solidFill>
            <a:srgbClr val="FFF0E6"/>
          </a:solidFill>
          <a:ln w="15240">
            <a:solidFill>
              <a:srgbClr val="D55E00"/>
            </a:solidFill>
            <a:prstDash val="solid"/>
          </a:ln>
        </p:spPr>
      </p:sp>
      <p:sp>
        <p:nvSpPr>
          <p:cNvPr id="55" name="Text 53"/>
          <p:cNvSpPr txBox="1"/>
          <p:nvPr/>
        </p:nvSpPr>
        <p:spPr>
          <a:xfrm>
            <a:off x="2051449" y="5608101"/>
            <a:ext cx="1167803" cy="244024"/>
          </a:xfrm>
          <a:prstGeom prst="rect">
            <a:avLst/>
          </a:prstGeom>
          <a:noFill/>
          <a:ln/>
        </p:spPr>
        <p:txBody>
          <a:bodyPr wrap="square" lIns="0" tIns="0" rIns="0" bIns="0" rtlCol="0" anchor="ctr"/>
          <a:lstStyle/>
          <a:p>
            <a:pPr algn="l" indent="0" marL="0">
              <a:lnSpc>
                <a:spcPct val="116000"/>
              </a:lnSpc>
              <a:buNone/>
            </a:pPr>
            <a:r>
              <a:rPr lang="en-US" sz="1441" dirty="0">
                <a:solidFill>
                  <a:srgbClr val="1F2937"/>
                </a:solidFill>
                <a:latin typeface="Arial" pitchFamily="34" charset="0"/>
                <a:ea typeface="Arial" pitchFamily="34" charset="-122"/>
                <a:cs typeface="Arial" pitchFamily="34" charset="-120"/>
              </a:rPr>
              <a:t>Loss / update</a:t>
            </a:r>
            <a:endParaRPr lang="en-US" sz="1441" dirty="0"/>
          </a:p>
        </p:txBody>
      </p:sp>
      <p:sp>
        <p:nvSpPr>
          <p:cNvPr id="56" name="Shape 54"/>
          <p:cNvSpPr/>
          <p:nvPr/>
        </p:nvSpPr>
        <p:spPr>
          <a:xfrm>
            <a:off x="3417521" y="5630979"/>
            <a:ext cx="198270" cy="198270"/>
          </a:xfrm>
          <a:prstGeom prst="roundRect">
            <a:avLst>
              <a:gd name="adj" fmla="val 36895"/>
            </a:avLst>
          </a:prstGeom>
          <a:solidFill>
            <a:srgbClr val="F9EAF4"/>
          </a:solidFill>
          <a:ln w="15240">
            <a:solidFill>
              <a:srgbClr val="CC79A7"/>
            </a:solidFill>
            <a:prstDash val="solid"/>
          </a:ln>
        </p:spPr>
      </p:sp>
      <p:sp>
        <p:nvSpPr>
          <p:cNvPr id="57" name="Text 55"/>
          <p:cNvSpPr txBox="1"/>
          <p:nvPr/>
        </p:nvSpPr>
        <p:spPr>
          <a:xfrm>
            <a:off x="3676797" y="5608101"/>
            <a:ext cx="599153" cy="244024"/>
          </a:xfrm>
          <a:prstGeom prst="rect">
            <a:avLst/>
          </a:prstGeom>
          <a:noFill/>
          <a:ln/>
        </p:spPr>
        <p:txBody>
          <a:bodyPr wrap="square" lIns="0" tIns="0" rIns="0" bIns="0" rtlCol="0" anchor="ctr"/>
          <a:lstStyle/>
          <a:p>
            <a:pPr algn="l" indent="0" marL="0">
              <a:lnSpc>
                <a:spcPct val="116000"/>
              </a:lnSpc>
              <a:buNone/>
            </a:pPr>
            <a:r>
              <a:rPr lang="en-US" sz="1441" dirty="0">
                <a:solidFill>
                  <a:srgbClr val="1F2937"/>
                </a:solidFill>
                <a:latin typeface="Arial" pitchFamily="34" charset="0"/>
                <a:ea typeface="Arial" pitchFamily="34" charset="-122"/>
                <a:cs typeface="Arial" pitchFamily="34" charset="-120"/>
              </a:rPr>
              <a:t>Output</a:t>
            </a:r>
            <a:endParaRPr lang="en-US" sz="1441" dirty="0"/>
          </a:p>
        </p:txBody>
      </p:sp>
      <p:sp>
        <p:nvSpPr>
          <p:cNvPr id="58" name="Shape 56"/>
          <p:cNvSpPr/>
          <p:nvPr/>
        </p:nvSpPr>
        <p:spPr>
          <a:xfrm>
            <a:off x="4474219" y="5630979"/>
            <a:ext cx="198270" cy="198270"/>
          </a:xfrm>
          <a:prstGeom prst="rect">
            <a:avLst/>
          </a:prstGeom>
          <a:solidFill>
            <a:srgbClr val="F2F4F5"/>
          </a:solidFill>
          <a:ln w="15240">
            <a:solidFill>
              <a:srgbClr val="626B73"/>
            </a:solidFill>
            <a:prstDash val="solid"/>
          </a:ln>
        </p:spPr>
      </p:sp>
      <p:sp>
        <p:nvSpPr>
          <p:cNvPr id="59" name="Text 57"/>
          <p:cNvSpPr txBox="1"/>
          <p:nvPr/>
        </p:nvSpPr>
        <p:spPr>
          <a:xfrm>
            <a:off x="4733495" y="5608101"/>
            <a:ext cx="1104346" cy="244024"/>
          </a:xfrm>
          <a:prstGeom prst="rect">
            <a:avLst/>
          </a:prstGeom>
          <a:noFill/>
          <a:ln/>
        </p:spPr>
        <p:txBody>
          <a:bodyPr wrap="square" lIns="0" tIns="0" rIns="0" bIns="0" rtlCol="0" anchor="ctr"/>
          <a:lstStyle/>
          <a:p>
            <a:pPr algn="l" indent="0" marL="0">
              <a:lnSpc>
                <a:spcPct val="116000"/>
              </a:lnSpc>
              <a:buNone/>
            </a:pPr>
            <a:r>
              <a:rPr lang="en-US" sz="1441" dirty="0">
                <a:solidFill>
                  <a:srgbClr val="1F2937"/>
                </a:solidFill>
                <a:latin typeface="Arial" pitchFamily="34" charset="0"/>
                <a:ea typeface="Arial" pitchFamily="34" charset="-122"/>
                <a:cs typeface="Arial" pitchFamily="34" charset="-120"/>
              </a:rPr>
              <a:t>Human / tool</a:t>
            </a:r>
            <a:endParaRPr lang="en-US" sz="1441" dirty="0"/>
          </a:p>
        </p:txBody>
      </p:sp>
      <p:sp>
        <p:nvSpPr>
          <p:cNvPr id="60" name="Shape 58"/>
          <p:cNvSpPr/>
          <p:nvPr/>
        </p:nvSpPr>
        <p:spPr>
          <a:xfrm>
            <a:off x="6036110" y="5730113"/>
            <a:ext cx="335533" cy="0"/>
          </a:xfrm>
          <a:prstGeom prst="line">
            <a:avLst/>
          </a:prstGeom>
          <a:noFill/>
          <a:ln w="22860">
            <a:solidFill>
              <a:srgbClr val="009E73"/>
            </a:solidFill>
            <a:prstDash val="solid"/>
            <a:tailEnd type="triangle"/>
          </a:ln>
        </p:spPr>
      </p:sp>
      <p:sp>
        <p:nvSpPr>
          <p:cNvPr id="61" name="Text 59"/>
          <p:cNvSpPr txBox="1"/>
          <p:nvPr/>
        </p:nvSpPr>
        <p:spPr>
          <a:xfrm>
            <a:off x="6432649" y="5608101"/>
            <a:ext cx="788576" cy="244024"/>
          </a:xfrm>
          <a:prstGeom prst="rect">
            <a:avLst/>
          </a:prstGeom>
          <a:noFill/>
          <a:ln/>
        </p:spPr>
        <p:txBody>
          <a:bodyPr wrap="square" lIns="0" tIns="0" rIns="0" bIns="0" rtlCol="0" anchor="ctr"/>
          <a:lstStyle/>
          <a:p>
            <a:pPr algn="l" indent="0" marL="0">
              <a:lnSpc>
                <a:spcPct val="116000"/>
              </a:lnSpc>
              <a:buNone/>
            </a:pPr>
            <a:r>
              <a:rPr lang="en-US" sz="1441" dirty="0">
                <a:solidFill>
                  <a:srgbClr val="1F2937"/>
                </a:solidFill>
                <a:latin typeface="Arial" pitchFamily="34" charset="0"/>
                <a:ea typeface="Arial" pitchFamily="34" charset="-122"/>
                <a:cs typeface="Arial" pitchFamily="34" charset="-120"/>
              </a:rPr>
              <a:t>data flow</a:t>
            </a:r>
            <a:endParaRPr lang="en-US" sz="1441" dirty="0"/>
          </a:p>
        </p:txBody>
      </p:sp>
      <p:sp>
        <p:nvSpPr>
          <p:cNvPr id="62" name="Text 60"/>
          <p:cNvSpPr txBox="1"/>
          <p:nvPr/>
        </p:nvSpPr>
        <p:spPr>
          <a:xfrm>
            <a:off x="548640" y="5925312"/>
            <a:ext cx="11094415" cy="475488"/>
          </a:xfrm>
          <a:prstGeom prst="rect">
            <a:avLst/>
          </a:prstGeom>
          <a:noFill/>
          <a:ln/>
        </p:spPr>
        <p:txBody>
          <a:bodyPr wrap="square" lIns="0" tIns="0" rIns="0" bIns="0" rtlCol="0" anchor="ctr"/>
          <a:lstStyle/>
          <a:p>
            <a:pPr indent="0" marL="0">
              <a:buNone/>
            </a:pPr>
            <a:r>
              <a:rPr lang="en-US" sz="1700" dirty="0">
                <a:solidFill>
                  <a:srgbClr val="1F2937"/>
                </a:solidFill>
                <a:latin typeface="Calibri" pitchFamily="34" charset="0"/>
                <a:ea typeface="Calibri" pitchFamily="34" charset="-122"/>
                <a:cs typeface="Calibri" pitchFamily="34" charset="-120"/>
              </a:rPr>
              <a:t>Check: Why inspect examples even after an automatic metric has been calculated?</a:t>
            </a:r>
            <a:endParaRPr lang="en-US" sz="170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07  ·  PROMPT ENGINEERING AND EVALUATION</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44</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Lab 7: prompt engineering with evidence</a:t>
            </a:r>
            <a:endParaRPr lang="en-US" sz="3200" dirty="0"/>
          </a:p>
        </p:txBody>
      </p:sp>
      <p:sp>
        <p:nvSpPr>
          <p:cNvPr id="6" name="Shape 4"/>
          <p:cNvSpPr/>
          <p:nvPr/>
        </p:nvSpPr>
        <p:spPr>
          <a:xfrm>
            <a:off x="548640" y="1527048"/>
            <a:ext cx="411480" cy="411480"/>
          </a:xfrm>
          <a:prstGeom prst="ellipse">
            <a:avLst/>
          </a:prstGeom>
          <a:solidFill>
            <a:srgbClr val="0F766E"/>
          </a:solidFill>
          <a:ln w="12700">
            <a:solidFill>
              <a:srgbClr val="0F766E"/>
            </a:solidFill>
            <a:prstDash val="solid"/>
          </a:ln>
        </p:spPr>
      </p:sp>
      <p:sp>
        <p:nvSpPr>
          <p:cNvPr id="7" name="Text 5"/>
          <p:cNvSpPr txBox="1"/>
          <p:nvPr/>
        </p:nvSpPr>
        <p:spPr>
          <a:xfrm>
            <a:off x="548640" y="1527048"/>
            <a:ext cx="411480" cy="41148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8" name="Text 6"/>
          <p:cNvSpPr txBox="1"/>
          <p:nvPr/>
        </p:nvSpPr>
        <p:spPr>
          <a:xfrm>
            <a:off x="1143000" y="1481328"/>
            <a:ext cx="6583680" cy="804672"/>
          </a:xfrm>
          <a:prstGeom prst="rect">
            <a:avLst/>
          </a:prstGeom>
          <a:noFill/>
          <a:ln/>
        </p:spPr>
        <p:txBody>
          <a:bodyPr wrap="square" lIns="50800" tIns="50800" rIns="50800" bIns="50800" rtlCol="0" anchor="t"/>
          <a:lstStyle/>
          <a:p>
            <a:pPr indent="0" marL="0">
              <a:buNone/>
            </a:pPr>
            <a:r>
              <a:rPr lang="en-US" sz="2000" dirty="0">
                <a:solidFill>
                  <a:srgbClr val="1F2937"/>
                </a:solidFill>
                <a:latin typeface="Calibri" pitchFamily="34" charset="0"/>
                <a:ea typeface="Calibri" pitchFamily="34" charset="-122"/>
                <a:cs typeface="Calibri" pitchFamily="34" charset="-120"/>
              </a:rPr>
              <a:t>Compare routing prompts.</a:t>
            </a:r>
            <a:endParaRPr lang="en-US" sz="2000" dirty="0"/>
          </a:p>
        </p:txBody>
      </p:sp>
      <p:sp>
        <p:nvSpPr>
          <p:cNvPr id="9" name="Shape 7"/>
          <p:cNvSpPr/>
          <p:nvPr/>
        </p:nvSpPr>
        <p:spPr>
          <a:xfrm>
            <a:off x="548640" y="2331720"/>
            <a:ext cx="411480" cy="411480"/>
          </a:xfrm>
          <a:prstGeom prst="ellipse">
            <a:avLst/>
          </a:prstGeom>
          <a:solidFill>
            <a:srgbClr val="0F766E"/>
          </a:solidFill>
          <a:ln w="12700">
            <a:solidFill>
              <a:srgbClr val="0F766E"/>
            </a:solidFill>
            <a:prstDash val="solid"/>
          </a:ln>
        </p:spPr>
      </p:sp>
      <p:sp>
        <p:nvSpPr>
          <p:cNvPr id="10" name="Text 8"/>
          <p:cNvSpPr txBox="1"/>
          <p:nvPr/>
        </p:nvSpPr>
        <p:spPr>
          <a:xfrm>
            <a:off x="548640" y="2331720"/>
            <a:ext cx="411480" cy="41148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1" name="Text 9"/>
          <p:cNvSpPr txBox="1"/>
          <p:nvPr/>
        </p:nvSpPr>
        <p:spPr>
          <a:xfrm>
            <a:off x="1143000" y="2286000"/>
            <a:ext cx="6583680" cy="804672"/>
          </a:xfrm>
          <a:prstGeom prst="rect">
            <a:avLst/>
          </a:prstGeom>
          <a:noFill/>
          <a:ln/>
        </p:spPr>
        <p:txBody>
          <a:bodyPr wrap="square" lIns="50800" tIns="50800" rIns="50800" bIns="50800" rtlCol="0" anchor="t"/>
          <a:lstStyle/>
          <a:p>
            <a:pPr indent="0" marL="0">
              <a:buNone/>
            </a:pPr>
            <a:r>
              <a:rPr lang="en-US" sz="2000" dirty="0">
                <a:solidFill>
                  <a:srgbClr val="1F2937"/>
                </a:solidFill>
                <a:latin typeface="Calibri" pitchFamily="34" charset="0"/>
                <a:ea typeface="Calibri" pitchFamily="34" charset="-122"/>
                <a:cs typeface="Calibri" pitchFamily="34" charset="-120"/>
              </a:rPr>
              <a:t>Score direct answers, steps and votes.</a:t>
            </a:r>
            <a:endParaRPr lang="en-US" sz="2000" dirty="0"/>
          </a:p>
        </p:txBody>
      </p:sp>
      <p:sp>
        <p:nvSpPr>
          <p:cNvPr id="12" name="Shape 10"/>
          <p:cNvSpPr/>
          <p:nvPr/>
        </p:nvSpPr>
        <p:spPr>
          <a:xfrm>
            <a:off x="548640" y="3136392"/>
            <a:ext cx="411480" cy="411480"/>
          </a:xfrm>
          <a:prstGeom prst="ellipse">
            <a:avLst/>
          </a:prstGeom>
          <a:solidFill>
            <a:srgbClr val="0F766E"/>
          </a:solidFill>
          <a:ln w="12700">
            <a:solidFill>
              <a:srgbClr val="0F766E"/>
            </a:solidFill>
            <a:prstDash val="solid"/>
          </a:ln>
        </p:spPr>
      </p:sp>
      <p:sp>
        <p:nvSpPr>
          <p:cNvPr id="13" name="Text 11"/>
          <p:cNvSpPr txBox="1"/>
          <p:nvPr/>
        </p:nvSpPr>
        <p:spPr>
          <a:xfrm>
            <a:off x="548640" y="3136392"/>
            <a:ext cx="411480" cy="41148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4" name="Text 12"/>
          <p:cNvSpPr txBox="1"/>
          <p:nvPr/>
        </p:nvSpPr>
        <p:spPr>
          <a:xfrm>
            <a:off x="1143000" y="3090672"/>
            <a:ext cx="6583680" cy="804672"/>
          </a:xfrm>
          <a:prstGeom prst="rect">
            <a:avLst/>
          </a:prstGeom>
          <a:noFill/>
          <a:ln/>
        </p:spPr>
        <p:txBody>
          <a:bodyPr wrap="square" lIns="50800" tIns="50800" rIns="50800" bIns="50800" rtlCol="0" anchor="t"/>
          <a:lstStyle/>
          <a:p>
            <a:pPr indent="0" marL="0">
              <a:buNone/>
            </a:pPr>
            <a:r>
              <a:rPr lang="en-US" sz="2000" dirty="0">
                <a:solidFill>
                  <a:srgbClr val="1F2937"/>
                </a:solidFill>
                <a:latin typeface="Calibri" pitchFamily="34" charset="0"/>
                <a:ea typeface="Calibri" pitchFamily="34" charset="-122"/>
                <a:cs typeface="Calibri" pitchFamily="34" charset="-120"/>
              </a:rPr>
              <a:t>Validate extraction and one retry.</a:t>
            </a:r>
            <a:endParaRPr lang="en-US" sz="2000" dirty="0"/>
          </a:p>
        </p:txBody>
      </p:sp>
      <p:sp>
        <p:nvSpPr>
          <p:cNvPr id="15" name="Shape 13"/>
          <p:cNvSpPr/>
          <p:nvPr/>
        </p:nvSpPr>
        <p:spPr>
          <a:xfrm>
            <a:off x="548640" y="3941064"/>
            <a:ext cx="411480" cy="411480"/>
          </a:xfrm>
          <a:prstGeom prst="ellipse">
            <a:avLst/>
          </a:prstGeom>
          <a:solidFill>
            <a:srgbClr val="0F766E"/>
          </a:solidFill>
          <a:ln w="12700">
            <a:solidFill>
              <a:srgbClr val="0F766E"/>
            </a:solidFill>
            <a:prstDash val="solid"/>
          </a:ln>
        </p:spPr>
      </p:sp>
      <p:sp>
        <p:nvSpPr>
          <p:cNvPr id="16" name="Text 14"/>
          <p:cNvSpPr txBox="1"/>
          <p:nvPr/>
        </p:nvSpPr>
        <p:spPr>
          <a:xfrm>
            <a:off x="548640" y="3941064"/>
            <a:ext cx="411480" cy="41148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7" name="Text 15"/>
          <p:cNvSpPr txBox="1"/>
          <p:nvPr/>
        </p:nvSpPr>
        <p:spPr>
          <a:xfrm>
            <a:off x="1143000" y="3895344"/>
            <a:ext cx="6583680" cy="804672"/>
          </a:xfrm>
          <a:prstGeom prst="rect">
            <a:avLst/>
          </a:prstGeom>
          <a:noFill/>
          <a:ln/>
        </p:spPr>
        <p:txBody>
          <a:bodyPr wrap="square" lIns="50800" tIns="50800" rIns="50800" bIns="50800" rtlCol="0" anchor="t"/>
          <a:lstStyle/>
          <a:p>
            <a:pPr indent="0" marL="0">
              <a:buNone/>
            </a:pPr>
            <a:r>
              <a:rPr lang="en-US" sz="2000" dirty="0">
                <a:solidFill>
                  <a:srgbClr val="1F2937"/>
                </a:solidFill>
                <a:latin typeface="Calibri" pitchFamily="34" charset="0"/>
                <a:ea typeface="Calibri" pitchFamily="34" charset="-122"/>
                <a:cs typeface="Calibri" pitchFamily="34" charset="-120"/>
              </a:rPr>
              <a:t>Inspect injection flags.</a:t>
            </a:r>
            <a:endParaRPr lang="en-US" sz="2000" dirty="0"/>
          </a:p>
        </p:txBody>
      </p:sp>
      <p:sp>
        <p:nvSpPr>
          <p:cNvPr id="18" name="Shape 16"/>
          <p:cNvSpPr/>
          <p:nvPr/>
        </p:nvSpPr>
        <p:spPr>
          <a:xfrm>
            <a:off x="548640" y="4745736"/>
            <a:ext cx="411480" cy="411480"/>
          </a:xfrm>
          <a:prstGeom prst="ellipse">
            <a:avLst/>
          </a:prstGeom>
          <a:solidFill>
            <a:srgbClr val="0F766E"/>
          </a:solidFill>
          <a:ln w="12700">
            <a:solidFill>
              <a:srgbClr val="0F766E"/>
            </a:solidFill>
            <a:prstDash val="solid"/>
          </a:ln>
        </p:spPr>
      </p:sp>
      <p:sp>
        <p:nvSpPr>
          <p:cNvPr id="19" name="Text 17"/>
          <p:cNvSpPr txBox="1"/>
          <p:nvPr/>
        </p:nvSpPr>
        <p:spPr>
          <a:xfrm>
            <a:off x="548640" y="4745736"/>
            <a:ext cx="411480" cy="41148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5</a:t>
            </a:r>
            <a:endParaRPr lang="en-US" sz="1400" dirty="0"/>
          </a:p>
        </p:txBody>
      </p:sp>
      <p:sp>
        <p:nvSpPr>
          <p:cNvPr id="20" name="Text 18"/>
          <p:cNvSpPr txBox="1"/>
          <p:nvPr/>
        </p:nvSpPr>
        <p:spPr>
          <a:xfrm>
            <a:off x="1143000" y="4700016"/>
            <a:ext cx="6583680" cy="804672"/>
          </a:xfrm>
          <a:prstGeom prst="rect">
            <a:avLst/>
          </a:prstGeom>
          <a:noFill/>
          <a:ln/>
        </p:spPr>
        <p:txBody>
          <a:bodyPr wrap="square" lIns="50800" tIns="50800" rIns="50800" bIns="50800" rtlCol="0" anchor="t"/>
          <a:lstStyle/>
          <a:p>
            <a:pPr indent="0" marL="0">
              <a:buNone/>
            </a:pPr>
            <a:r>
              <a:rPr lang="en-US" sz="2000" dirty="0">
                <a:solidFill>
                  <a:srgbClr val="1F2937"/>
                </a:solidFill>
                <a:latin typeface="Calibri" pitchFamily="34" charset="0"/>
                <a:ea typeface="Calibri" pitchFamily="34" charset="-122"/>
                <a:cs typeface="Calibri" pitchFamily="34" charset="-120"/>
              </a:rPr>
              <a:t>Swap judge order.</a:t>
            </a:r>
            <a:endParaRPr lang="en-US" sz="2000" dirty="0"/>
          </a:p>
        </p:txBody>
      </p:sp>
      <p:sp>
        <p:nvSpPr>
          <p:cNvPr id="21" name="Shape 19"/>
          <p:cNvSpPr/>
          <p:nvPr/>
        </p:nvSpPr>
        <p:spPr>
          <a:xfrm>
            <a:off x="548640" y="5550408"/>
            <a:ext cx="411480" cy="411480"/>
          </a:xfrm>
          <a:prstGeom prst="ellipse">
            <a:avLst/>
          </a:prstGeom>
          <a:solidFill>
            <a:srgbClr val="0F766E"/>
          </a:solidFill>
          <a:ln w="12700">
            <a:solidFill>
              <a:srgbClr val="0F766E"/>
            </a:solidFill>
            <a:prstDash val="solid"/>
          </a:ln>
        </p:spPr>
      </p:sp>
      <p:sp>
        <p:nvSpPr>
          <p:cNvPr id="22" name="Text 20"/>
          <p:cNvSpPr txBox="1"/>
          <p:nvPr/>
        </p:nvSpPr>
        <p:spPr>
          <a:xfrm>
            <a:off x="548640" y="5550408"/>
            <a:ext cx="411480" cy="41148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6</a:t>
            </a:r>
            <a:endParaRPr lang="en-US" sz="1400" dirty="0"/>
          </a:p>
        </p:txBody>
      </p:sp>
      <p:sp>
        <p:nvSpPr>
          <p:cNvPr id="23" name="Text 21"/>
          <p:cNvSpPr txBox="1"/>
          <p:nvPr/>
        </p:nvSpPr>
        <p:spPr>
          <a:xfrm>
            <a:off x="1143000" y="5504688"/>
            <a:ext cx="6583680" cy="804672"/>
          </a:xfrm>
          <a:prstGeom prst="rect">
            <a:avLst/>
          </a:prstGeom>
          <a:noFill/>
          <a:ln/>
        </p:spPr>
        <p:txBody>
          <a:bodyPr wrap="square" lIns="50800" tIns="50800" rIns="50800" bIns="50800" rtlCol="0" anchor="t"/>
          <a:lstStyle/>
          <a:p>
            <a:pPr indent="0" marL="0">
              <a:buNone/>
            </a:pPr>
            <a:r>
              <a:rPr lang="en-US" sz="2000" dirty="0">
                <a:solidFill>
                  <a:srgbClr val="1F2937"/>
                </a:solidFill>
                <a:latin typeface="Calibri" pitchFamily="34" charset="0"/>
                <a:ea typeface="Calibri" pitchFamily="34" charset="-122"/>
                <a:cs typeface="Calibri" pitchFamily="34" charset="-120"/>
              </a:rPr>
              <a:t>Report evidence, cost and limits.</a:t>
            </a:r>
            <a:endParaRPr lang="en-US" sz="2000" dirty="0"/>
          </a:p>
        </p:txBody>
      </p:sp>
      <p:sp>
        <p:nvSpPr>
          <p:cNvPr id="24" name="Shape 22"/>
          <p:cNvSpPr/>
          <p:nvPr/>
        </p:nvSpPr>
        <p:spPr>
          <a:xfrm>
            <a:off x="8046720" y="1481328"/>
            <a:ext cx="3596335" cy="4828032"/>
          </a:xfrm>
          <a:prstGeom prst="roundRect">
            <a:avLst>
              <a:gd name="adj" fmla="val 3051"/>
            </a:avLst>
          </a:prstGeom>
          <a:solidFill>
            <a:srgbClr val="E6F4F1"/>
          </a:solidFill>
          <a:ln w="12700">
            <a:solidFill>
              <a:srgbClr val="E6F4F1"/>
            </a:solidFill>
            <a:prstDash val="solid"/>
          </a:ln>
        </p:spPr>
      </p:sp>
      <p:sp>
        <p:nvSpPr>
          <p:cNvPr id="25" name="Shape 23"/>
          <p:cNvSpPr/>
          <p:nvPr/>
        </p:nvSpPr>
        <p:spPr>
          <a:xfrm>
            <a:off x="8229600" y="1709928"/>
            <a:ext cx="502920" cy="502920"/>
          </a:xfrm>
          <a:prstGeom prst="ellipse">
            <a:avLst/>
          </a:prstGeom>
          <a:solidFill>
            <a:srgbClr val="0F766E"/>
          </a:solidFill>
          <a:ln w="12700">
            <a:solidFill>
              <a:srgbClr val="0F766E"/>
            </a:solidFill>
            <a:prstDash val="solid"/>
          </a:ln>
        </p:spPr>
      </p:sp>
      <p:pic>
        <p:nvPicPr>
          <p:cNvPr id="26" name="Image 0" descr="preencoded.png">    </p:cNvPr>
          <p:cNvPicPr>
            <a:picLocks noChangeAspect="1"/>
          </p:cNvPicPr>
          <p:nvPr/>
        </p:nvPicPr>
        <p:blipFill>
          <a:blip r:embed="rId1"/>
          <a:stretch>
            <a:fillRect/>
          </a:stretch>
        </p:blipFill>
        <p:spPr>
          <a:xfrm>
            <a:off x="8350301" y="1830629"/>
            <a:ext cx="261518" cy="261518"/>
          </a:xfrm>
          <a:prstGeom prst="rect">
            <a:avLst/>
          </a:prstGeom>
        </p:spPr>
      </p:pic>
      <p:sp>
        <p:nvSpPr>
          <p:cNvPr id="27" name="Text 24"/>
          <p:cNvSpPr txBox="1"/>
          <p:nvPr/>
        </p:nvSpPr>
        <p:spPr>
          <a:xfrm>
            <a:off x="8869680" y="1664208"/>
            <a:ext cx="2681935" cy="365760"/>
          </a:xfrm>
          <a:prstGeom prst="rect">
            <a:avLst/>
          </a:prstGeom>
          <a:noFill/>
          <a:ln/>
        </p:spPr>
        <p:txBody>
          <a:bodyPr wrap="square" lIns="50800" tIns="50800" rIns="50800" bIns="50800" rtlCol="0" anchor="t"/>
          <a:lstStyle/>
          <a:p>
            <a:pPr indent="0" marL="0">
              <a:buNone/>
            </a:pPr>
            <a:r>
              <a:rPr lang="en-US" sz="1500" b="1" dirty="0">
                <a:solidFill>
                  <a:srgbClr val="1E1B4B"/>
                </a:solidFill>
                <a:latin typeface="Calibri" pitchFamily="34" charset="0"/>
                <a:ea typeface="Calibri" pitchFamily="34" charset="-122"/>
                <a:cs typeface="Calibri" pitchFamily="34" charset="-120"/>
              </a:rPr>
              <a:t>Runtime</a:t>
            </a:r>
            <a:endParaRPr lang="en-US" sz="1500" dirty="0"/>
          </a:p>
        </p:txBody>
      </p:sp>
      <p:sp>
        <p:nvSpPr>
          <p:cNvPr id="28" name="Text 25"/>
          <p:cNvSpPr txBox="1"/>
          <p:nvPr/>
        </p:nvSpPr>
        <p:spPr>
          <a:xfrm>
            <a:off x="8869680" y="2011680"/>
            <a:ext cx="2636215" cy="1106424"/>
          </a:xfrm>
          <a:prstGeom prst="rect">
            <a:avLst/>
          </a:prstGeom>
          <a:noFill/>
          <a:ln/>
        </p:spPr>
        <p:txBody>
          <a:bodyPr wrap="square" lIns="50800" tIns="50800" rIns="50800" bIns="50800" rtlCol="0" anchor="t"/>
          <a:lstStyle/>
          <a:p>
            <a:pPr indent="0" marL="0">
              <a:buNone/>
            </a:pPr>
            <a:r>
              <a:rPr lang="en-US" sz="1400" dirty="0">
                <a:solidFill>
                  <a:srgbClr val="1F2937"/>
                </a:solidFill>
                <a:latin typeface="Calibri" pitchFamily="34" charset="0"/>
                <a:ea typeface="Calibri" pitchFamily="34" charset="-122"/>
                <a:cs typeface="Calibri" pitchFamily="34" charset="-120"/>
              </a:rPr>
              <a:t>Colab T4 GPU (Qwen2.5-1.5B) or CPU (0.5B). About 1 hour on a 4 GB laptop GPU after downloads</a:t>
            </a:r>
            <a:endParaRPr lang="en-US" sz="1400" dirty="0"/>
          </a:p>
        </p:txBody>
      </p:sp>
      <p:sp>
        <p:nvSpPr>
          <p:cNvPr id="29" name="Shape 26"/>
          <p:cNvSpPr/>
          <p:nvPr/>
        </p:nvSpPr>
        <p:spPr>
          <a:xfrm>
            <a:off x="8229600" y="3227832"/>
            <a:ext cx="502920" cy="502920"/>
          </a:xfrm>
          <a:prstGeom prst="ellipse">
            <a:avLst/>
          </a:prstGeom>
          <a:solidFill>
            <a:srgbClr val="0F766E"/>
          </a:solidFill>
          <a:ln w="12700">
            <a:solidFill>
              <a:srgbClr val="0F766E"/>
            </a:solidFill>
            <a:prstDash val="solid"/>
          </a:ln>
        </p:spPr>
      </p:sp>
      <p:pic>
        <p:nvPicPr>
          <p:cNvPr id="30" name="Image 1" descr="preencoded.png">    </p:cNvPr>
          <p:cNvPicPr>
            <a:picLocks noChangeAspect="1"/>
          </p:cNvPicPr>
          <p:nvPr/>
        </p:nvPicPr>
        <p:blipFill>
          <a:blip r:embed="rId2"/>
          <a:stretch>
            <a:fillRect/>
          </a:stretch>
        </p:blipFill>
        <p:spPr>
          <a:xfrm>
            <a:off x="8350301" y="3348533"/>
            <a:ext cx="261518" cy="261518"/>
          </a:xfrm>
          <a:prstGeom prst="rect">
            <a:avLst/>
          </a:prstGeom>
        </p:spPr>
      </p:pic>
      <p:sp>
        <p:nvSpPr>
          <p:cNvPr id="31" name="Text 27"/>
          <p:cNvSpPr txBox="1"/>
          <p:nvPr/>
        </p:nvSpPr>
        <p:spPr>
          <a:xfrm>
            <a:off x="8869680" y="3182112"/>
            <a:ext cx="2681935" cy="365760"/>
          </a:xfrm>
          <a:prstGeom prst="rect">
            <a:avLst/>
          </a:prstGeom>
          <a:noFill/>
          <a:ln/>
        </p:spPr>
        <p:txBody>
          <a:bodyPr wrap="square" lIns="50800" tIns="50800" rIns="50800" bIns="50800" rtlCol="0" anchor="t"/>
          <a:lstStyle/>
          <a:p>
            <a:pPr indent="0" marL="0">
              <a:buNone/>
            </a:pPr>
            <a:r>
              <a:rPr lang="en-US" sz="1500" b="1" dirty="0">
                <a:solidFill>
                  <a:srgbClr val="1E1B4B"/>
                </a:solidFill>
                <a:latin typeface="Calibri" pitchFamily="34" charset="0"/>
                <a:ea typeface="Calibri" pitchFamily="34" charset="-122"/>
                <a:cs typeface="Calibri" pitchFamily="34" charset="-120"/>
              </a:rPr>
              <a:t>Time</a:t>
            </a:r>
            <a:endParaRPr lang="en-US" sz="1500" dirty="0"/>
          </a:p>
        </p:txBody>
      </p:sp>
      <p:sp>
        <p:nvSpPr>
          <p:cNvPr id="32" name="Text 28"/>
          <p:cNvSpPr txBox="1"/>
          <p:nvPr/>
        </p:nvSpPr>
        <p:spPr>
          <a:xfrm>
            <a:off x="8869680" y="3529584"/>
            <a:ext cx="2636215" cy="1106424"/>
          </a:xfrm>
          <a:prstGeom prst="rect">
            <a:avLst/>
          </a:prstGeom>
          <a:noFill/>
          <a:ln/>
        </p:spPr>
        <p:txBody>
          <a:bodyPr wrap="square" lIns="50800" tIns="50800" rIns="50800" bIns="50800" rtlCol="0" anchor="t"/>
          <a:lstStyle/>
          <a:p>
            <a:pPr indent="0" marL="0">
              <a:buNone/>
            </a:pPr>
            <a:r>
              <a:rPr lang="en-US" sz="1400" dirty="0">
                <a:solidFill>
                  <a:srgbClr val="1F2937"/>
                </a:solidFill>
                <a:latin typeface="Calibri" pitchFamily="34" charset="0"/>
                <a:ea typeface="Calibri" pitchFamily="34" charset="-122"/>
                <a:cs typeface="Calibri" pitchFamily="34" charset="-120"/>
              </a:rPr>
              <a:t>2-hour lab</a:t>
            </a:r>
            <a:endParaRPr lang="en-US" sz="1400" dirty="0"/>
          </a:p>
        </p:txBody>
      </p:sp>
      <p:sp>
        <p:nvSpPr>
          <p:cNvPr id="33" name="Shape 29"/>
          <p:cNvSpPr/>
          <p:nvPr/>
        </p:nvSpPr>
        <p:spPr>
          <a:xfrm>
            <a:off x="8229600" y="4745736"/>
            <a:ext cx="502920" cy="502920"/>
          </a:xfrm>
          <a:prstGeom prst="ellipse">
            <a:avLst/>
          </a:prstGeom>
          <a:solidFill>
            <a:srgbClr val="0F766E"/>
          </a:solidFill>
          <a:ln w="12700">
            <a:solidFill>
              <a:srgbClr val="0F766E"/>
            </a:solidFill>
            <a:prstDash val="solid"/>
          </a:ln>
        </p:spPr>
      </p:sp>
      <p:pic>
        <p:nvPicPr>
          <p:cNvPr id="34" name="Image 2" descr="preencoded.png">    </p:cNvPr>
          <p:cNvPicPr>
            <a:picLocks noChangeAspect="1"/>
          </p:cNvPicPr>
          <p:nvPr/>
        </p:nvPicPr>
        <p:blipFill>
          <a:blip r:embed="rId3"/>
          <a:stretch>
            <a:fillRect/>
          </a:stretch>
        </p:blipFill>
        <p:spPr>
          <a:xfrm>
            <a:off x="8350301" y="4866437"/>
            <a:ext cx="261518" cy="261518"/>
          </a:xfrm>
          <a:prstGeom prst="rect">
            <a:avLst/>
          </a:prstGeom>
        </p:spPr>
      </p:pic>
      <p:sp>
        <p:nvSpPr>
          <p:cNvPr id="35" name="Text 30"/>
          <p:cNvSpPr txBox="1"/>
          <p:nvPr/>
        </p:nvSpPr>
        <p:spPr>
          <a:xfrm>
            <a:off x="8869680" y="4700016"/>
            <a:ext cx="2681935" cy="365760"/>
          </a:xfrm>
          <a:prstGeom prst="rect">
            <a:avLst/>
          </a:prstGeom>
          <a:noFill/>
          <a:ln/>
        </p:spPr>
        <p:txBody>
          <a:bodyPr wrap="square" lIns="50800" tIns="50800" rIns="50800" bIns="50800" rtlCol="0" anchor="t"/>
          <a:lstStyle/>
          <a:p>
            <a:pPr indent="0" marL="0">
              <a:buNone/>
            </a:pPr>
            <a:r>
              <a:rPr lang="en-US" sz="1500" b="1" dirty="0">
                <a:solidFill>
                  <a:srgbClr val="1E1B4B"/>
                </a:solidFill>
                <a:latin typeface="Calibri" pitchFamily="34" charset="0"/>
                <a:ea typeface="Calibri" pitchFamily="34" charset="-122"/>
                <a:cs typeface="Calibri" pitchFamily="34" charset="-120"/>
              </a:rPr>
              <a:t>Hand in</a:t>
            </a:r>
            <a:endParaRPr lang="en-US" sz="1500" dirty="0"/>
          </a:p>
        </p:txBody>
      </p:sp>
      <p:sp>
        <p:nvSpPr>
          <p:cNvPr id="36" name="Text 31"/>
          <p:cNvSpPr txBox="1"/>
          <p:nvPr/>
        </p:nvSpPr>
        <p:spPr>
          <a:xfrm>
            <a:off x="8869680" y="5047488"/>
            <a:ext cx="2636215" cy="1106424"/>
          </a:xfrm>
          <a:prstGeom prst="rect">
            <a:avLst/>
          </a:prstGeom>
          <a:noFill/>
          <a:ln/>
        </p:spPr>
        <p:txBody>
          <a:bodyPr wrap="square" lIns="50800" tIns="50800" rIns="50800" bIns="50800" rtlCol="0" anchor="t"/>
          <a:lstStyle/>
          <a:p>
            <a:pPr indent="0" marL="0">
              <a:buNone/>
            </a:pPr>
            <a:r>
              <a:rPr lang="en-US" sz="1400" dirty="0">
                <a:solidFill>
                  <a:srgbClr val="1F2937"/>
                </a:solidFill>
                <a:latin typeface="Calibri" pitchFamily="34" charset="0"/>
                <a:ea typeface="Calibri" pitchFamily="34" charset="-122"/>
                <a:cs typeface="Calibri" pitchFamily="34" charset="-120"/>
              </a:rPr>
              <a:t>Notebook with results tables, error analysis and five written answers; the harness for your project</a:t>
            </a:r>
            <a:endParaRPr lang="en-US" sz="140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07  ·  PROMPT ENGINEERING AND EVALUATION</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45</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Read, watch, practise</a:t>
            </a:r>
            <a:endParaRPr lang="en-US" sz="3200" dirty="0"/>
          </a:p>
        </p:txBody>
      </p:sp>
      <p:sp>
        <p:nvSpPr>
          <p:cNvPr id="6" name="Shape 4"/>
          <p:cNvSpPr/>
          <p:nvPr/>
        </p:nvSpPr>
        <p:spPr>
          <a:xfrm>
            <a:off x="548640" y="1554480"/>
            <a:ext cx="457200" cy="457200"/>
          </a:xfrm>
          <a:prstGeom prst="ellipse">
            <a:avLst/>
          </a:prstGeom>
          <a:solidFill>
            <a:srgbClr val="4F46E5"/>
          </a:solidFill>
          <a:ln w="12700">
            <a:solidFill>
              <a:srgbClr val="4F46E5"/>
            </a:solidFill>
            <a:prstDash val="solid"/>
          </a:ln>
        </p:spPr>
      </p:sp>
      <p:pic>
        <p:nvPicPr>
          <p:cNvPr id="7" name="Image 0" descr="preencoded.png">    </p:cNvPr>
          <p:cNvPicPr>
            <a:picLocks noChangeAspect="1"/>
          </p:cNvPicPr>
          <p:nvPr/>
        </p:nvPicPr>
        <p:blipFill>
          <a:blip r:embed="rId1"/>
          <a:stretch>
            <a:fillRect/>
          </a:stretch>
        </p:blipFill>
        <p:spPr>
          <a:xfrm>
            <a:off x="658368" y="1664208"/>
            <a:ext cx="237744" cy="237744"/>
          </a:xfrm>
          <a:prstGeom prst="rect">
            <a:avLst/>
          </a:prstGeom>
        </p:spPr>
      </p:pic>
      <p:sp>
        <p:nvSpPr>
          <p:cNvPr id="8" name="Text 5"/>
          <p:cNvSpPr txBox="1"/>
          <p:nvPr/>
        </p:nvSpPr>
        <p:spPr>
          <a:xfrm>
            <a:off x="1143000" y="1481328"/>
            <a:ext cx="4724248" cy="777240"/>
          </a:xfrm>
          <a:prstGeom prst="rect">
            <a:avLst/>
          </a:prstGeom>
          <a:noFill/>
          <a:ln/>
        </p:spPr>
        <p:txBody>
          <a:bodyPr wrap="square" lIns="50800" tIns="50800" rIns="50800" bIns="50800" rtlCol="0" anchor="ctr"/>
          <a:lstStyle/>
          <a:p>
            <a:pPr indent="0" marL="0">
              <a:buNone/>
            </a:pPr>
            <a:r>
              <a:rPr lang="en-US" sz="1500" b="1" u="sng" dirty="0">
                <a:solidFill>
                  <a:srgbClr val="1E1B4B"/>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OpenAI: Prompt engineering guide</a:t>
            </a:r>
            <a:endParaRPr lang="en-US" sz="1500" dirty="0"/>
          </a:p>
          <a:p>
            <a:pPr indent="0" marL="0">
              <a:buNone/>
            </a:pPr>
            <a:r>
              <a:rPr lang="en-US" sz="1400" dirty="0">
                <a:solidFill>
                  <a:srgbClr val="6B7280"/>
                </a:solidFill>
                <a:latin typeface="Calibri" pitchFamily="34" charset="0"/>
                <a:ea typeface="Calibri" pitchFamily="34" charset="-122"/>
                <a:cs typeface="Calibri" pitchFamily="34" charset="-120"/>
              </a:rPr>
              <a:t>Official guidance including reasoning models</a:t>
            </a:r>
            <a:endParaRPr lang="en-US" sz="1500" dirty="0"/>
          </a:p>
        </p:txBody>
      </p:sp>
      <p:sp>
        <p:nvSpPr>
          <p:cNvPr id="9" name="Shape 6"/>
          <p:cNvSpPr/>
          <p:nvPr/>
        </p:nvSpPr>
        <p:spPr>
          <a:xfrm>
            <a:off x="548640" y="2377440"/>
            <a:ext cx="457200" cy="457200"/>
          </a:xfrm>
          <a:prstGeom prst="ellipse">
            <a:avLst/>
          </a:prstGeom>
          <a:solidFill>
            <a:srgbClr val="4F46E5"/>
          </a:solidFill>
          <a:ln w="12700">
            <a:solidFill>
              <a:srgbClr val="4F46E5"/>
            </a:solidFill>
            <a:prstDash val="solid"/>
          </a:ln>
        </p:spPr>
      </p:sp>
      <p:pic>
        <p:nvPicPr>
          <p:cNvPr id="10" name="Image 1" descr="preencoded.png">    </p:cNvPr>
          <p:cNvPicPr>
            <a:picLocks noChangeAspect="1"/>
          </p:cNvPicPr>
          <p:nvPr/>
        </p:nvPicPr>
        <p:blipFill>
          <a:blip r:embed="rId3"/>
          <a:stretch>
            <a:fillRect/>
          </a:stretch>
        </p:blipFill>
        <p:spPr>
          <a:xfrm>
            <a:off x="658368" y="2487168"/>
            <a:ext cx="237744" cy="237744"/>
          </a:xfrm>
          <a:prstGeom prst="rect">
            <a:avLst/>
          </a:prstGeom>
        </p:spPr>
      </p:pic>
      <p:sp>
        <p:nvSpPr>
          <p:cNvPr id="11" name="Text 7"/>
          <p:cNvSpPr txBox="1"/>
          <p:nvPr/>
        </p:nvSpPr>
        <p:spPr>
          <a:xfrm>
            <a:off x="1143000" y="2304288"/>
            <a:ext cx="4724248" cy="777240"/>
          </a:xfrm>
          <a:prstGeom prst="rect">
            <a:avLst/>
          </a:prstGeom>
          <a:noFill/>
          <a:ln/>
        </p:spPr>
        <p:txBody>
          <a:bodyPr wrap="square" lIns="50800" tIns="50800" rIns="50800" bIns="50800" rtlCol="0" anchor="ctr"/>
          <a:lstStyle/>
          <a:p>
            <a:pPr indent="0" marL="0">
              <a:buNone/>
            </a:pPr>
            <a:r>
              <a:rPr lang="en-US" sz="1500" b="1" u="sng" dirty="0">
                <a:solidFill>
                  <a:srgbClr val="1E1B4B"/>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Google Gemini API: Prompt design strategies</a:t>
            </a:r>
            <a:endParaRPr lang="en-US" sz="1500" dirty="0"/>
          </a:p>
          <a:p>
            <a:pPr indent="0" marL="0">
              <a:buNone/>
            </a:pPr>
            <a:r>
              <a:rPr lang="en-US" sz="1400" dirty="0">
                <a:solidFill>
                  <a:srgbClr val="6B7280"/>
                </a:solidFill>
                <a:latin typeface="Calibri" pitchFamily="34" charset="0"/>
                <a:ea typeface="Calibri" pitchFamily="34" charset="-122"/>
                <a:cs typeface="Calibri" pitchFamily="34" charset="-120"/>
              </a:rPr>
              <a:t>Official guide with examples</a:t>
            </a:r>
            <a:endParaRPr lang="en-US" sz="1500" dirty="0"/>
          </a:p>
        </p:txBody>
      </p:sp>
      <p:sp>
        <p:nvSpPr>
          <p:cNvPr id="12" name="Shape 8"/>
          <p:cNvSpPr/>
          <p:nvPr/>
        </p:nvSpPr>
        <p:spPr>
          <a:xfrm>
            <a:off x="548640" y="3200400"/>
            <a:ext cx="457200" cy="457200"/>
          </a:xfrm>
          <a:prstGeom prst="ellipse">
            <a:avLst/>
          </a:prstGeom>
          <a:solidFill>
            <a:srgbClr val="4F46E5"/>
          </a:solidFill>
          <a:ln w="12700">
            <a:solidFill>
              <a:srgbClr val="4F46E5"/>
            </a:solidFill>
            <a:prstDash val="solid"/>
          </a:ln>
        </p:spPr>
      </p:sp>
      <p:pic>
        <p:nvPicPr>
          <p:cNvPr id="13" name="Image 2" descr="preencoded.png">    </p:cNvPr>
          <p:cNvPicPr>
            <a:picLocks noChangeAspect="1"/>
          </p:cNvPicPr>
          <p:nvPr/>
        </p:nvPicPr>
        <p:blipFill>
          <a:blip r:embed="rId5"/>
          <a:stretch>
            <a:fillRect/>
          </a:stretch>
        </p:blipFill>
        <p:spPr>
          <a:xfrm>
            <a:off x="658368" y="3310128"/>
            <a:ext cx="237744" cy="237744"/>
          </a:xfrm>
          <a:prstGeom prst="rect">
            <a:avLst/>
          </a:prstGeom>
        </p:spPr>
      </p:pic>
      <p:sp>
        <p:nvSpPr>
          <p:cNvPr id="14" name="Text 9"/>
          <p:cNvSpPr txBox="1"/>
          <p:nvPr/>
        </p:nvSpPr>
        <p:spPr>
          <a:xfrm>
            <a:off x="1143000" y="3127248"/>
            <a:ext cx="4724248" cy="777240"/>
          </a:xfrm>
          <a:prstGeom prst="rect">
            <a:avLst/>
          </a:prstGeom>
          <a:noFill/>
          <a:ln/>
        </p:spPr>
        <p:txBody>
          <a:bodyPr wrap="square" lIns="50800" tIns="50800" rIns="50800" bIns="50800" rtlCol="0" anchor="ctr"/>
          <a:lstStyle/>
          <a:p>
            <a:pPr indent="0" marL="0">
              <a:buNone/>
            </a:pPr>
            <a:r>
              <a:rPr lang="en-US" sz="1500" b="1" u="sng" dirty="0">
                <a:solidFill>
                  <a:srgbClr val="1E1B4B"/>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Anthropic: Interactive prompt engineering tutorial</a:t>
            </a:r>
            <a:endParaRPr lang="en-US" sz="1500" dirty="0"/>
          </a:p>
          <a:p>
            <a:pPr indent="0" marL="0">
              <a:buNone/>
            </a:pPr>
            <a:r>
              <a:rPr lang="en-US" sz="1400" dirty="0">
                <a:solidFill>
                  <a:srgbClr val="6B7280"/>
                </a:solidFill>
                <a:latin typeface="Calibri" pitchFamily="34" charset="0"/>
                <a:ea typeface="Calibri" pitchFamily="34" charset="-122"/>
                <a:cs typeface="Calibri" pitchFamily="34" charset="-120"/>
              </a:rPr>
              <a:t>9 chapters of notebooks</a:t>
            </a:r>
            <a:endParaRPr lang="en-US" sz="1500" dirty="0"/>
          </a:p>
        </p:txBody>
      </p:sp>
      <p:sp>
        <p:nvSpPr>
          <p:cNvPr id="15" name="Shape 10"/>
          <p:cNvSpPr/>
          <p:nvPr/>
        </p:nvSpPr>
        <p:spPr>
          <a:xfrm>
            <a:off x="548640" y="4023360"/>
            <a:ext cx="457200" cy="457200"/>
          </a:xfrm>
          <a:prstGeom prst="ellipse">
            <a:avLst/>
          </a:prstGeom>
          <a:solidFill>
            <a:srgbClr val="4F46E5"/>
          </a:solidFill>
          <a:ln w="12700">
            <a:solidFill>
              <a:srgbClr val="4F46E5"/>
            </a:solidFill>
            <a:prstDash val="solid"/>
          </a:ln>
        </p:spPr>
      </p:sp>
      <p:pic>
        <p:nvPicPr>
          <p:cNvPr id="16" name="Image 3" descr="preencoded.png">    </p:cNvPr>
          <p:cNvPicPr>
            <a:picLocks noChangeAspect="1"/>
          </p:cNvPicPr>
          <p:nvPr/>
        </p:nvPicPr>
        <p:blipFill>
          <a:blip r:embed="rId7"/>
          <a:stretch>
            <a:fillRect/>
          </a:stretch>
        </p:blipFill>
        <p:spPr>
          <a:xfrm>
            <a:off x="658368" y="4133088"/>
            <a:ext cx="237744" cy="237744"/>
          </a:xfrm>
          <a:prstGeom prst="rect">
            <a:avLst/>
          </a:prstGeom>
        </p:spPr>
      </p:pic>
      <p:sp>
        <p:nvSpPr>
          <p:cNvPr id="17" name="Text 11"/>
          <p:cNvSpPr txBox="1"/>
          <p:nvPr/>
        </p:nvSpPr>
        <p:spPr>
          <a:xfrm>
            <a:off x="1143000" y="3950208"/>
            <a:ext cx="4724248" cy="777240"/>
          </a:xfrm>
          <a:prstGeom prst="rect">
            <a:avLst/>
          </a:prstGeom>
          <a:noFill/>
          <a:ln/>
        </p:spPr>
        <p:txBody>
          <a:bodyPr wrap="square" lIns="50800" tIns="50800" rIns="50800" bIns="50800" rtlCol="0" anchor="ctr"/>
          <a:lstStyle/>
          <a:p>
            <a:pPr indent="0" marL="0">
              <a:buNone/>
            </a:pPr>
            <a:r>
              <a:rPr lang="en-US" sz="1500" b="1" u="sng" dirty="0">
                <a:solidFill>
                  <a:srgbClr val="1E1B4B"/>
                </a:solidFill>
                <a:latin typeface="Calibri" pitchFamily="34" charset="0"/>
                <a:ea typeface="Calibri" pitchFamily="34" charset="-122"/>
                <a:cs typeface="Calibri" pitchFamily="34" charset="-120"/>
                <a:hlinkClick r:id="rId8" invalidUrl="" action="" tgtFrame="" tooltip="" history="1" highlightClick="0" endSnd="0">
                  <a:extLst>
                    <a:ext uri="{A12FA001-AC4F-418D-AE19-62706E023703}">
                      <ahyp:hlinkClr xmlns:ahyp="http://schemas.microsoft.com/office/drawing/2018/hyperlinkcolor" val="tx"/>
                    </a:ext>
                  </a:extLst>
                </a:hlinkClick>
              </a:rPr>
              <a:t>Anthropic: Effective context engineering for AI agents</a:t>
            </a:r>
            <a:endParaRPr lang="en-US" sz="1500" dirty="0"/>
          </a:p>
          <a:p>
            <a:pPr indent="0" marL="0">
              <a:buNone/>
            </a:pPr>
            <a:r>
              <a:rPr lang="en-US" sz="1400" dirty="0">
                <a:solidFill>
                  <a:srgbClr val="6B7280"/>
                </a:solidFill>
                <a:latin typeface="Calibri" pitchFamily="34" charset="0"/>
                <a:ea typeface="Calibri" pitchFamily="34" charset="-122"/>
                <a:cs typeface="Calibri" pitchFamily="34" charset="-120"/>
              </a:rPr>
              <a:t>From prompts to context</a:t>
            </a:r>
            <a:endParaRPr lang="en-US" sz="1500" dirty="0"/>
          </a:p>
        </p:txBody>
      </p:sp>
      <p:sp>
        <p:nvSpPr>
          <p:cNvPr id="18" name="Shape 12"/>
          <p:cNvSpPr/>
          <p:nvPr/>
        </p:nvSpPr>
        <p:spPr>
          <a:xfrm>
            <a:off x="6278728" y="1554480"/>
            <a:ext cx="457200" cy="457200"/>
          </a:xfrm>
          <a:prstGeom prst="ellipse">
            <a:avLst/>
          </a:prstGeom>
          <a:solidFill>
            <a:srgbClr val="4F46E5"/>
          </a:solidFill>
          <a:ln w="12700">
            <a:solidFill>
              <a:srgbClr val="4F46E5"/>
            </a:solidFill>
            <a:prstDash val="solid"/>
          </a:ln>
        </p:spPr>
      </p:sp>
      <p:pic>
        <p:nvPicPr>
          <p:cNvPr id="19" name="Image 4" descr="preencoded.png">    </p:cNvPr>
          <p:cNvPicPr>
            <a:picLocks noChangeAspect="1"/>
          </p:cNvPicPr>
          <p:nvPr/>
        </p:nvPicPr>
        <p:blipFill>
          <a:blip r:embed="rId9"/>
          <a:stretch>
            <a:fillRect/>
          </a:stretch>
        </p:blipFill>
        <p:spPr>
          <a:xfrm>
            <a:off x="6388456" y="1664208"/>
            <a:ext cx="237744" cy="237744"/>
          </a:xfrm>
          <a:prstGeom prst="rect">
            <a:avLst/>
          </a:prstGeom>
        </p:spPr>
      </p:pic>
      <p:sp>
        <p:nvSpPr>
          <p:cNvPr id="20" name="Text 13"/>
          <p:cNvSpPr txBox="1"/>
          <p:nvPr/>
        </p:nvSpPr>
        <p:spPr>
          <a:xfrm>
            <a:off x="6873088" y="1481328"/>
            <a:ext cx="4724248" cy="777240"/>
          </a:xfrm>
          <a:prstGeom prst="rect">
            <a:avLst/>
          </a:prstGeom>
          <a:noFill/>
          <a:ln/>
        </p:spPr>
        <p:txBody>
          <a:bodyPr wrap="square" lIns="50800" tIns="50800" rIns="50800" bIns="50800" rtlCol="0" anchor="ctr"/>
          <a:lstStyle/>
          <a:p>
            <a:pPr indent="0" marL="0">
              <a:buNone/>
            </a:pPr>
            <a:r>
              <a:rPr lang="en-US" sz="1500" b="1" u="sng" dirty="0">
                <a:solidFill>
                  <a:srgbClr val="1E1B4B"/>
                </a:solidFill>
                <a:latin typeface="Calibri" pitchFamily="34" charset="0"/>
                <a:ea typeface="Calibri" pitchFamily="34" charset="-122"/>
                <a:cs typeface="Calibri" pitchFamily="34" charset="-120"/>
                <a:hlinkClick r:id="rId10" invalidUrl="" action="" tgtFrame="" tooltip="" history="1" highlightClick="0" endSnd="0">
                  <a:extLst>
                    <a:ext uri="{A12FA001-AC4F-418D-AE19-62706E023703}">
                      <ahyp:hlinkClr xmlns:ahyp="http://schemas.microsoft.com/office/drawing/2018/hyperlinkcolor" val="tx"/>
                    </a:ext>
                  </a:extLst>
                </a:hlinkClick>
              </a:rPr>
              <a:t>OpenAI: Evaluation best practices</a:t>
            </a:r>
            <a:endParaRPr lang="en-US" sz="1500" dirty="0"/>
          </a:p>
          <a:p>
            <a:pPr indent="0" marL="0">
              <a:buNone/>
            </a:pPr>
            <a:r>
              <a:rPr lang="en-US" sz="1400" dirty="0">
                <a:solidFill>
                  <a:srgbClr val="6B7280"/>
                </a:solidFill>
                <a:latin typeface="Calibri" pitchFamily="34" charset="0"/>
                <a:ea typeface="Calibri" pitchFamily="34" charset="-122"/>
                <a:cs typeface="Calibri" pitchFamily="34" charset="-120"/>
              </a:rPr>
              <a:t>Building eval sets and loops</a:t>
            </a:r>
            <a:endParaRPr lang="en-US" sz="1500" dirty="0"/>
          </a:p>
        </p:txBody>
      </p:sp>
      <p:sp>
        <p:nvSpPr>
          <p:cNvPr id="21" name="Shape 14"/>
          <p:cNvSpPr/>
          <p:nvPr/>
        </p:nvSpPr>
        <p:spPr>
          <a:xfrm>
            <a:off x="6278728" y="2377440"/>
            <a:ext cx="457200" cy="457200"/>
          </a:xfrm>
          <a:prstGeom prst="ellipse">
            <a:avLst/>
          </a:prstGeom>
          <a:solidFill>
            <a:srgbClr val="4F46E5"/>
          </a:solidFill>
          <a:ln w="12700">
            <a:solidFill>
              <a:srgbClr val="4F46E5"/>
            </a:solidFill>
            <a:prstDash val="solid"/>
          </a:ln>
        </p:spPr>
      </p:sp>
      <p:pic>
        <p:nvPicPr>
          <p:cNvPr id="22" name="Image 5" descr="preencoded.png">    </p:cNvPr>
          <p:cNvPicPr>
            <a:picLocks noChangeAspect="1"/>
          </p:cNvPicPr>
          <p:nvPr/>
        </p:nvPicPr>
        <p:blipFill>
          <a:blip r:embed="rId11"/>
          <a:stretch>
            <a:fillRect/>
          </a:stretch>
        </p:blipFill>
        <p:spPr>
          <a:xfrm>
            <a:off x="6388456" y="2487168"/>
            <a:ext cx="237744" cy="237744"/>
          </a:xfrm>
          <a:prstGeom prst="rect">
            <a:avLst/>
          </a:prstGeom>
        </p:spPr>
      </p:pic>
      <p:sp>
        <p:nvSpPr>
          <p:cNvPr id="23" name="Text 15"/>
          <p:cNvSpPr txBox="1"/>
          <p:nvPr/>
        </p:nvSpPr>
        <p:spPr>
          <a:xfrm>
            <a:off x="6873088" y="2304288"/>
            <a:ext cx="4724248" cy="777240"/>
          </a:xfrm>
          <a:prstGeom prst="rect">
            <a:avLst/>
          </a:prstGeom>
          <a:noFill/>
          <a:ln/>
        </p:spPr>
        <p:txBody>
          <a:bodyPr wrap="square" lIns="50800" tIns="50800" rIns="50800" bIns="50800" rtlCol="0" anchor="ctr"/>
          <a:lstStyle/>
          <a:p>
            <a:pPr indent="0" marL="0">
              <a:buNone/>
            </a:pPr>
            <a:r>
              <a:rPr lang="en-US" sz="1500" b="1" u="sng" dirty="0">
                <a:solidFill>
                  <a:srgbClr val="1E1B4B"/>
                </a:solidFill>
                <a:latin typeface="Calibri" pitchFamily="34" charset="0"/>
                <a:ea typeface="Calibri" pitchFamily="34" charset="-122"/>
                <a:cs typeface="Calibri" pitchFamily="34" charset="-120"/>
                <a:hlinkClick r:id="rId12" invalidUrl="" action="" tgtFrame="" tooltip="" history="1" highlightClick="0" endSnd="0">
                  <a:extLst>
                    <a:ext uri="{A12FA001-AC4F-418D-AE19-62706E023703}">
                      <ahyp:hlinkClr xmlns:ahyp="http://schemas.microsoft.com/office/drawing/2018/hyperlinkcolor" val="tx"/>
                    </a:ext>
                  </a:extLst>
                </a:hlinkClick>
              </a:rPr>
              <a:t>Google Gemini API: Structured output</a:t>
            </a:r>
            <a:endParaRPr lang="en-US" sz="1500" dirty="0"/>
          </a:p>
          <a:p>
            <a:pPr indent="0" marL="0">
              <a:buNone/>
            </a:pPr>
            <a:r>
              <a:rPr lang="en-US" sz="1400" dirty="0">
                <a:solidFill>
                  <a:srgbClr val="6B7280"/>
                </a:solidFill>
                <a:latin typeface="Calibri" pitchFamily="34" charset="0"/>
                <a:ea typeface="Calibri" pitchFamily="34" charset="-122"/>
                <a:cs typeface="Calibri" pitchFamily="34" charset="-120"/>
              </a:rPr>
              <a:t>Schemas; values still need validation</a:t>
            </a:r>
            <a:endParaRPr lang="en-US" sz="1500" dirty="0"/>
          </a:p>
        </p:txBody>
      </p:sp>
      <p:sp>
        <p:nvSpPr>
          <p:cNvPr id="24" name="Shape 16"/>
          <p:cNvSpPr/>
          <p:nvPr/>
        </p:nvSpPr>
        <p:spPr>
          <a:xfrm>
            <a:off x="6278728" y="3200400"/>
            <a:ext cx="457200" cy="457200"/>
          </a:xfrm>
          <a:prstGeom prst="ellipse">
            <a:avLst/>
          </a:prstGeom>
          <a:solidFill>
            <a:srgbClr val="4F46E5"/>
          </a:solidFill>
          <a:ln w="12700">
            <a:solidFill>
              <a:srgbClr val="4F46E5"/>
            </a:solidFill>
            <a:prstDash val="solid"/>
          </a:ln>
        </p:spPr>
      </p:sp>
      <p:pic>
        <p:nvPicPr>
          <p:cNvPr id="25" name="Image 6" descr="preencoded.png">    </p:cNvPr>
          <p:cNvPicPr>
            <a:picLocks noChangeAspect="1"/>
          </p:cNvPicPr>
          <p:nvPr/>
        </p:nvPicPr>
        <p:blipFill>
          <a:blip r:embed="rId13"/>
          <a:stretch>
            <a:fillRect/>
          </a:stretch>
        </p:blipFill>
        <p:spPr>
          <a:xfrm>
            <a:off x="6388456" y="3310128"/>
            <a:ext cx="237744" cy="237744"/>
          </a:xfrm>
          <a:prstGeom prst="rect">
            <a:avLst/>
          </a:prstGeom>
        </p:spPr>
      </p:pic>
      <p:sp>
        <p:nvSpPr>
          <p:cNvPr id="26" name="Text 17"/>
          <p:cNvSpPr txBox="1"/>
          <p:nvPr/>
        </p:nvSpPr>
        <p:spPr>
          <a:xfrm>
            <a:off x="6873088" y="3127248"/>
            <a:ext cx="4724248" cy="777240"/>
          </a:xfrm>
          <a:prstGeom prst="rect">
            <a:avLst/>
          </a:prstGeom>
          <a:noFill/>
          <a:ln/>
        </p:spPr>
        <p:txBody>
          <a:bodyPr wrap="square" lIns="50800" tIns="50800" rIns="50800" bIns="50800" rtlCol="0" anchor="ctr"/>
          <a:lstStyle/>
          <a:p>
            <a:pPr indent="0" marL="0">
              <a:buNone/>
            </a:pPr>
            <a:r>
              <a:rPr lang="en-US" sz="1500" b="1" u="sng" dirty="0">
                <a:solidFill>
                  <a:srgbClr val="1E1B4B"/>
                </a:solidFill>
                <a:latin typeface="Calibri" pitchFamily="34" charset="0"/>
                <a:ea typeface="Calibri" pitchFamily="34" charset="-122"/>
                <a:cs typeface="Calibri" pitchFamily="34" charset="-120"/>
                <a:hlinkClick r:id="rId14" invalidUrl="" action="" tgtFrame="" tooltip="" history="1" highlightClick="0" endSnd="0">
                  <a:extLst>
                    <a:ext uri="{A12FA001-AC4F-418D-AE19-62706E023703}">
                      <ahyp:hlinkClr xmlns:ahyp="http://schemas.microsoft.com/office/drawing/2018/hyperlinkcolor" val="tx"/>
                    </a:ext>
                  </a:extLst>
                </a:hlinkClick>
              </a:rPr>
              <a:t>Wei et al. (2022) Chain-of-Thought Prompting</a:t>
            </a:r>
            <a:endParaRPr lang="en-US" sz="1500" dirty="0"/>
          </a:p>
          <a:p>
            <a:pPr indent="0" marL="0">
              <a:buNone/>
            </a:pPr>
            <a:r>
              <a:rPr lang="en-US" sz="1400" dirty="0">
                <a:solidFill>
                  <a:srgbClr val="6B7280"/>
                </a:solidFill>
                <a:latin typeface="Calibri" pitchFamily="34" charset="0"/>
                <a:ea typeface="Calibri" pitchFamily="34" charset="-122"/>
                <a:cs typeface="Calibri" pitchFamily="34" charset="-120"/>
              </a:rPr>
              <a:t>The CoT paper</a:t>
            </a:r>
            <a:endParaRPr lang="en-US" sz="1500" dirty="0"/>
          </a:p>
        </p:txBody>
      </p:sp>
      <p:sp>
        <p:nvSpPr>
          <p:cNvPr id="27" name="Shape 18"/>
          <p:cNvSpPr/>
          <p:nvPr/>
        </p:nvSpPr>
        <p:spPr>
          <a:xfrm>
            <a:off x="6278728" y="4023360"/>
            <a:ext cx="457200" cy="457200"/>
          </a:xfrm>
          <a:prstGeom prst="ellipse">
            <a:avLst/>
          </a:prstGeom>
          <a:solidFill>
            <a:srgbClr val="4F46E5"/>
          </a:solidFill>
          <a:ln w="12700">
            <a:solidFill>
              <a:srgbClr val="4F46E5"/>
            </a:solidFill>
            <a:prstDash val="solid"/>
          </a:ln>
        </p:spPr>
      </p:sp>
      <p:pic>
        <p:nvPicPr>
          <p:cNvPr id="28" name="Image 7" descr="preencoded.png">    </p:cNvPr>
          <p:cNvPicPr>
            <a:picLocks noChangeAspect="1"/>
          </p:cNvPicPr>
          <p:nvPr/>
        </p:nvPicPr>
        <p:blipFill>
          <a:blip r:embed="rId15"/>
          <a:stretch>
            <a:fillRect/>
          </a:stretch>
        </p:blipFill>
        <p:spPr>
          <a:xfrm>
            <a:off x="6388456" y="4133088"/>
            <a:ext cx="237744" cy="237744"/>
          </a:xfrm>
          <a:prstGeom prst="rect">
            <a:avLst/>
          </a:prstGeom>
        </p:spPr>
      </p:pic>
      <p:sp>
        <p:nvSpPr>
          <p:cNvPr id="29" name="Text 19"/>
          <p:cNvSpPr txBox="1"/>
          <p:nvPr/>
        </p:nvSpPr>
        <p:spPr>
          <a:xfrm>
            <a:off x="6873088" y="3950208"/>
            <a:ext cx="4724248" cy="777240"/>
          </a:xfrm>
          <a:prstGeom prst="rect">
            <a:avLst/>
          </a:prstGeom>
          <a:noFill/>
          <a:ln/>
        </p:spPr>
        <p:txBody>
          <a:bodyPr wrap="square" lIns="50800" tIns="50800" rIns="50800" bIns="50800" rtlCol="0" anchor="ctr"/>
          <a:lstStyle/>
          <a:p>
            <a:pPr indent="0" marL="0">
              <a:buNone/>
            </a:pPr>
            <a:r>
              <a:rPr lang="en-US" sz="1500" b="1" u="sng" dirty="0">
                <a:solidFill>
                  <a:srgbClr val="1E1B4B"/>
                </a:solidFill>
                <a:latin typeface="Calibri" pitchFamily="34" charset="0"/>
                <a:ea typeface="Calibri" pitchFamily="34" charset="-122"/>
                <a:cs typeface="Calibri" pitchFamily="34" charset="-120"/>
                <a:hlinkClick r:id="rId16" invalidUrl="" action="" tgtFrame="" tooltip="" history="1" highlightClick="0" endSnd="0">
                  <a:extLst>
                    <a:ext uri="{A12FA001-AC4F-418D-AE19-62706E023703}">
                      <ahyp:hlinkClr xmlns:ahyp="http://schemas.microsoft.com/office/drawing/2018/hyperlinkcolor" val="tx"/>
                    </a:ext>
                  </a:extLst>
                </a:hlinkClick>
              </a:rPr>
              <a:t>Zheng et al. (2023) Judging LLM-as-a-Judge</a:t>
            </a:r>
            <a:endParaRPr lang="en-US" sz="1500" dirty="0"/>
          </a:p>
          <a:p>
            <a:pPr indent="0" marL="0">
              <a:buNone/>
            </a:pPr>
            <a:r>
              <a:rPr lang="en-US" sz="1400" dirty="0">
                <a:solidFill>
                  <a:srgbClr val="6B7280"/>
                </a:solidFill>
                <a:latin typeface="Calibri" pitchFamily="34" charset="0"/>
                <a:ea typeface="Calibri" pitchFamily="34" charset="-122"/>
                <a:cs typeface="Calibri" pitchFamily="34" charset="-120"/>
              </a:rPr>
              <a:t>Judge agreement and biases</a:t>
            </a:r>
            <a:endParaRPr lang="en-US" sz="150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07  ·  PROMPT ENGINEERING AND EVALUATION</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46</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What we learned: prompts and evidence</a:t>
            </a:r>
            <a:endParaRPr lang="en-US" sz="3200" dirty="0"/>
          </a:p>
        </p:txBody>
      </p:sp>
      <p:sp>
        <p:nvSpPr>
          <p:cNvPr id="6" name="Shape 4"/>
          <p:cNvSpPr/>
          <p:nvPr/>
        </p:nvSpPr>
        <p:spPr>
          <a:xfrm>
            <a:off x="946879" y="1630142"/>
            <a:ext cx="3323515" cy="1376531"/>
          </a:xfrm>
          <a:prstGeom prst="roundRect">
            <a:avLst>
              <a:gd name="adj" fmla="val 5314"/>
            </a:avLst>
          </a:prstGeom>
          <a:solidFill>
            <a:srgbClr val="E4F2FB"/>
          </a:solidFill>
          <a:ln w="15240">
            <a:solidFill>
              <a:srgbClr val="0072B2"/>
            </a:solidFill>
            <a:prstDash val="solid"/>
          </a:ln>
        </p:spPr>
      </p:sp>
      <p:sp>
        <p:nvSpPr>
          <p:cNvPr id="7" name="Text 5"/>
          <p:cNvSpPr txBox="1"/>
          <p:nvPr/>
        </p:nvSpPr>
        <p:spPr>
          <a:xfrm>
            <a:off x="1080812" y="1674786"/>
            <a:ext cx="3055650" cy="535731"/>
          </a:xfrm>
          <a:prstGeom prst="rect">
            <a:avLst/>
          </a:prstGeom>
          <a:noFill/>
          <a:ln/>
        </p:spPr>
        <p:txBody>
          <a:bodyPr wrap="square" lIns="0" tIns="0" rIns="0" bIns="0" rtlCol="0" anchor="ctr"/>
          <a:lstStyle/>
          <a:p>
            <a:pPr algn="l" indent="0" marL="0">
              <a:lnSpc>
                <a:spcPct val="116000"/>
              </a:lnSpc>
              <a:buNone/>
            </a:pPr>
            <a:r>
              <a:rPr lang="en-US" sz="1758" b="1" dirty="0">
                <a:solidFill>
                  <a:srgbClr val="1E1B4B"/>
                </a:solidFill>
                <a:latin typeface="Arial" pitchFamily="34" charset="0"/>
                <a:ea typeface="Arial" pitchFamily="34" charset="-122"/>
                <a:cs typeface="Arial" pitchFamily="34" charset="-120"/>
              </a:rPr>
              <a:t>Change the request</a:t>
            </a:r>
            <a:endParaRPr lang="en-US" sz="1758" dirty="0"/>
          </a:p>
        </p:txBody>
      </p:sp>
      <p:sp>
        <p:nvSpPr>
          <p:cNvPr id="8" name="Text 6"/>
          <p:cNvSpPr txBox="1"/>
          <p:nvPr/>
        </p:nvSpPr>
        <p:spPr>
          <a:xfrm>
            <a:off x="1080812" y="2358141"/>
            <a:ext cx="3055650" cy="224412"/>
          </a:xfrm>
          <a:prstGeom prst="rect">
            <a:avLst/>
          </a:prstGeom>
          <a:noFill/>
          <a:ln/>
        </p:spPr>
        <p:txBody>
          <a:bodyPr wrap="square" lIns="0" tIns="0" rIns="0" bIns="0" rtlCol="0" anchor="ctr"/>
          <a:lstStyle/>
          <a:p>
            <a:pPr algn="l" indent="0" marL="0">
              <a:lnSpc>
                <a:spcPct val="116000"/>
              </a:lnSpc>
              <a:buNone/>
            </a:pPr>
            <a:r>
              <a:rPr lang="en-US" sz="1523" dirty="0">
                <a:solidFill>
                  <a:srgbClr val="1F2937"/>
                </a:solidFill>
                <a:latin typeface="Arial" pitchFamily="34" charset="0"/>
                <a:ea typeface="Arial" pitchFamily="34" charset="-122"/>
                <a:cs typeface="Arial" pitchFamily="34" charset="-120"/>
              </a:rPr>
              <a:t>Prompts guide replies while the</a:t>
            </a:r>
            <a:endParaRPr lang="en-US" sz="1523" dirty="0"/>
          </a:p>
        </p:txBody>
      </p:sp>
      <p:sp>
        <p:nvSpPr>
          <p:cNvPr id="9" name="Text 7"/>
          <p:cNvSpPr txBox="1"/>
          <p:nvPr/>
        </p:nvSpPr>
        <p:spPr>
          <a:xfrm>
            <a:off x="1080812" y="2582552"/>
            <a:ext cx="3055650" cy="224412"/>
          </a:xfrm>
          <a:prstGeom prst="rect">
            <a:avLst/>
          </a:prstGeom>
          <a:noFill/>
          <a:ln/>
        </p:spPr>
        <p:txBody>
          <a:bodyPr wrap="square" lIns="0" tIns="0" rIns="0" bIns="0" rtlCol="0" anchor="ctr"/>
          <a:lstStyle/>
          <a:p>
            <a:pPr algn="l" indent="0" marL="0">
              <a:lnSpc>
                <a:spcPct val="116000"/>
              </a:lnSpc>
              <a:buNone/>
            </a:pPr>
            <a:r>
              <a:rPr lang="en-US" sz="1523" dirty="0">
                <a:solidFill>
                  <a:srgbClr val="1F2937"/>
                </a:solidFill>
                <a:latin typeface="Arial" pitchFamily="34" charset="0"/>
                <a:ea typeface="Arial" pitchFamily="34" charset="-122"/>
                <a:cs typeface="Arial" pitchFamily="34" charset="-120"/>
              </a:rPr>
              <a:t>learned model weights stay fixed.</a:t>
            </a:r>
            <a:endParaRPr lang="en-US" sz="1523" dirty="0"/>
          </a:p>
        </p:txBody>
      </p:sp>
      <p:sp>
        <p:nvSpPr>
          <p:cNvPr id="10" name="Shape 8"/>
          <p:cNvSpPr/>
          <p:nvPr/>
        </p:nvSpPr>
        <p:spPr>
          <a:xfrm>
            <a:off x="4434090" y="1630142"/>
            <a:ext cx="3323515" cy="1376531"/>
          </a:xfrm>
          <a:prstGeom prst="rect">
            <a:avLst/>
          </a:prstGeom>
          <a:solidFill>
            <a:srgbClr val="F2F4F5"/>
          </a:solidFill>
          <a:ln w="15240">
            <a:solidFill>
              <a:srgbClr val="626B73"/>
            </a:solidFill>
            <a:prstDash val="solid"/>
          </a:ln>
        </p:spPr>
      </p:sp>
      <p:sp>
        <p:nvSpPr>
          <p:cNvPr id="11" name="Text 9"/>
          <p:cNvSpPr txBox="1"/>
          <p:nvPr/>
        </p:nvSpPr>
        <p:spPr>
          <a:xfrm>
            <a:off x="4568023" y="1674786"/>
            <a:ext cx="3055650" cy="535731"/>
          </a:xfrm>
          <a:prstGeom prst="rect">
            <a:avLst/>
          </a:prstGeom>
          <a:noFill/>
          <a:ln/>
        </p:spPr>
        <p:txBody>
          <a:bodyPr wrap="square" lIns="0" tIns="0" rIns="0" bIns="0" rtlCol="0" anchor="ctr"/>
          <a:lstStyle/>
          <a:p>
            <a:pPr algn="l" indent="0" marL="0">
              <a:lnSpc>
                <a:spcPct val="116000"/>
              </a:lnSpc>
              <a:buNone/>
            </a:pPr>
            <a:r>
              <a:rPr lang="en-US" sz="1758" b="1" dirty="0">
                <a:solidFill>
                  <a:srgbClr val="1E1B4B"/>
                </a:solidFill>
                <a:latin typeface="Arial" pitchFamily="34" charset="0"/>
                <a:ea typeface="Arial" pitchFamily="34" charset="-122"/>
                <a:cs typeface="Arial" pitchFamily="34" charset="-120"/>
              </a:rPr>
              <a:t>Write a clear brief</a:t>
            </a:r>
            <a:endParaRPr lang="en-US" sz="1758" dirty="0"/>
          </a:p>
        </p:txBody>
      </p:sp>
      <p:sp>
        <p:nvSpPr>
          <p:cNvPr id="12" name="Text 10"/>
          <p:cNvSpPr txBox="1"/>
          <p:nvPr/>
        </p:nvSpPr>
        <p:spPr>
          <a:xfrm>
            <a:off x="4568023" y="2245935"/>
            <a:ext cx="3055650" cy="224412"/>
          </a:xfrm>
          <a:prstGeom prst="rect">
            <a:avLst/>
          </a:prstGeom>
          <a:noFill/>
          <a:ln/>
        </p:spPr>
        <p:txBody>
          <a:bodyPr wrap="square" lIns="0" tIns="0" rIns="0" bIns="0" rtlCol="0" anchor="ctr"/>
          <a:lstStyle/>
          <a:p>
            <a:pPr algn="l" indent="0" marL="0">
              <a:lnSpc>
                <a:spcPct val="116000"/>
              </a:lnSpc>
              <a:buNone/>
            </a:pPr>
            <a:r>
              <a:rPr lang="en-US" sz="1523" dirty="0">
                <a:solidFill>
                  <a:srgbClr val="1F2937"/>
                </a:solidFill>
                <a:latin typeface="Arial" pitchFamily="34" charset="0"/>
                <a:ea typeface="Arial" pitchFamily="34" charset="-122"/>
                <a:cs typeface="Arial" pitchFamily="34" charset="-120"/>
              </a:rPr>
              <a:t>Rules, sources, examples, task</a:t>
            </a:r>
            <a:endParaRPr lang="en-US" sz="1523" dirty="0"/>
          </a:p>
        </p:txBody>
      </p:sp>
      <p:sp>
        <p:nvSpPr>
          <p:cNvPr id="13" name="Text 11"/>
          <p:cNvSpPr txBox="1"/>
          <p:nvPr/>
        </p:nvSpPr>
        <p:spPr>
          <a:xfrm>
            <a:off x="4568023" y="2470347"/>
            <a:ext cx="3055650" cy="224412"/>
          </a:xfrm>
          <a:prstGeom prst="rect">
            <a:avLst/>
          </a:prstGeom>
          <a:noFill/>
          <a:ln/>
        </p:spPr>
        <p:txBody>
          <a:bodyPr wrap="square" lIns="0" tIns="0" rIns="0" bIns="0" rtlCol="0" anchor="ctr"/>
          <a:lstStyle/>
          <a:p>
            <a:pPr algn="l" indent="0" marL="0">
              <a:lnSpc>
                <a:spcPct val="116000"/>
              </a:lnSpc>
              <a:buNone/>
            </a:pPr>
            <a:r>
              <a:rPr lang="en-US" sz="1523" dirty="0">
                <a:solidFill>
                  <a:srgbClr val="1F2937"/>
                </a:solidFill>
                <a:latin typeface="Arial" pitchFamily="34" charset="0"/>
                <a:ea typeface="Arial" pitchFamily="34" charset="-122"/>
                <a:cs typeface="Arial" pitchFamily="34" charset="-120"/>
              </a:rPr>
              <a:t>and format make expectations</a:t>
            </a:r>
            <a:endParaRPr lang="en-US" sz="1523" dirty="0"/>
          </a:p>
        </p:txBody>
      </p:sp>
      <p:sp>
        <p:nvSpPr>
          <p:cNvPr id="14" name="Text 12"/>
          <p:cNvSpPr txBox="1"/>
          <p:nvPr/>
        </p:nvSpPr>
        <p:spPr>
          <a:xfrm>
            <a:off x="4568023" y="2694758"/>
            <a:ext cx="3055650" cy="224412"/>
          </a:xfrm>
          <a:prstGeom prst="rect">
            <a:avLst/>
          </a:prstGeom>
          <a:noFill/>
          <a:ln/>
        </p:spPr>
        <p:txBody>
          <a:bodyPr wrap="square" lIns="0" tIns="0" rIns="0" bIns="0" rtlCol="0" anchor="ctr"/>
          <a:lstStyle/>
          <a:p>
            <a:pPr algn="l" indent="0" marL="0">
              <a:lnSpc>
                <a:spcPct val="116000"/>
              </a:lnSpc>
              <a:buNone/>
            </a:pPr>
            <a:r>
              <a:rPr lang="en-US" sz="1523" dirty="0">
                <a:solidFill>
                  <a:srgbClr val="1F2937"/>
                </a:solidFill>
                <a:latin typeface="Arial" pitchFamily="34" charset="0"/>
                <a:ea typeface="Arial" pitchFamily="34" charset="-122"/>
                <a:cs typeface="Arial" pitchFamily="34" charset="-120"/>
              </a:rPr>
              <a:t>explicit.</a:t>
            </a:r>
            <a:endParaRPr lang="en-US" sz="1523" dirty="0"/>
          </a:p>
        </p:txBody>
      </p:sp>
      <p:sp>
        <p:nvSpPr>
          <p:cNvPr id="15" name="Shape 13"/>
          <p:cNvSpPr/>
          <p:nvPr/>
        </p:nvSpPr>
        <p:spPr>
          <a:xfrm>
            <a:off x="7921301" y="1630142"/>
            <a:ext cx="3323515" cy="1376531"/>
          </a:xfrm>
          <a:prstGeom prst="rect">
            <a:avLst/>
          </a:prstGeom>
          <a:solidFill>
            <a:srgbClr val="E5F7EF"/>
          </a:solidFill>
          <a:ln w="15240">
            <a:solidFill>
              <a:srgbClr val="009E73"/>
            </a:solidFill>
            <a:prstDash val="solid"/>
          </a:ln>
        </p:spPr>
      </p:sp>
      <p:sp>
        <p:nvSpPr>
          <p:cNvPr id="16" name="Text 14"/>
          <p:cNvSpPr txBox="1"/>
          <p:nvPr/>
        </p:nvSpPr>
        <p:spPr>
          <a:xfrm>
            <a:off x="8055233" y="1674786"/>
            <a:ext cx="3055650" cy="535731"/>
          </a:xfrm>
          <a:prstGeom prst="rect">
            <a:avLst/>
          </a:prstGeom>
          <a:noFill/>
          <a:ln/>
        </p:spPr>
        <p:txBody>
          <a:bodyPr wrap="square" lIns="0" tIns="0" rIns="0" bIns="0" rtlCol="0" anchor="ctr"/>
          <a:lstStyle/>
          <a:p>
            <a:pPr algn="l" indent="0" marL="0">
              <a:lnSpc>
                <a:spcPct val="116000"/>
              </a:lnSpc>
              <a:buNone/>
            </a:pPr>
            <a:r>
              <a:rPr lang="en-US" sz="1758" b="1" dirty="0">
                <a:solidFill>
                  <a:srgbClr val="1E1B4B"/>
                </a:solidFill>
                <a:latin typeface="Arial" pitchFamily="34" charset="0"/>
                <a:ea typeface="Arial" pitchFamily="34" charset="-122"/>
                <a:cs typeface="Arial" pitchFamily="34" charset="-120"/>
              </a:rPr>
              <a:t>Reason and chain</a:t>
            </a:r>
            <a:endParaRPr lang="en-US" sz="1758" dirty="0"/>
          </a:p>
        </p:txBody>
      </p:sp>
      <p:sp>
        <p:nvSpPr>
          <p:cNvPr id="17" name="Text 15"/>
          <p:cNvSpPr txBox="1"/>
          <p:nvPr/>
        </p:nvSpPr>
        <p:spPr>
          <a:xfrm>
            <a:off x="8055233" y="2245935"/>
            <a:ext cx="3055650" cy="224412"/>
          </a:xfrm>
          <a:prstGeom prst="rect">
            <a:avLst/>
          </a:prstGeom>
          <a:noFill/>
          <a:ln/>
        </p:spPr>
        <p:txBody>
          <a:bodyPr wrap="square" lIns="0" tIns="0" rIns="0" bIns="0" rtlCol="0" anchor="ctr"/>
          <a:lstStyle/>
          <a:p>
            <a:pPr algn="l" indent="0" marL="0">
              <a:lnSpc>
                <a:spcPct val="116000"/>
              </a:lnSpc>
              <a:buNone/>
            </a:pPr>
            <a:r>
              <a:rPr lang="en-US" sz="1523" dirty="0">
                <a:solidFill>
                  <a:srgbClr val="1F2937"/>
                </a:solidFill>
                <a:latin typeface="Arial" pitchFamily="34" charset="0"/>
                <a:ea typeface="Arial" pitchFamily="34" charset="-122"/>
                <a:cs typeface="Arial" pitchFamily="34" charset="-120"/>
              </a:rPr>
              <a:t>Check intermediate outputs; extra</a:t>
            </a:r>
            <a:endParaRPr lang="en-US" sz="1523" dirty="0"/>
          </a:p>
        </p:txBody>
      </p:sp>
      <p:sp>
        <p:nvSpPr>
          <p:cNvPr id="18" name="Text 16"/>
          <p:cNvSpPr txBox="1"/>
          <p:nvPr/>
        </p:nvSpPr>
        <p:spPr>
          <a:xfrm>
            <a:off x="8055233" y="2470347"/>
            <a:ext cx="3055650" cy="224412"/>
          </a:xfrm>
          <a:prstGeom prst="rect">
            <a:avLst/>
          </a:prstGeom>
          <a:noFill/>
          <a:ln/>
        </p:spPr>
        <p:txBody>
          <a:bodyPr wrap="square" lIns="0" tIns="0" rIns="0" bIns="0" rtlCol="0" anchor="ctr"/>
          <a:lstStyle/>
          <a:p>
            <a:pPr algn="l" indent="0" marL="0">
              <a:lnSpc>
                <a:spcPct val="116000"/>
              </a:lnSpc>
              <a:buNone/>
            </a:pPr>
            <a:r>
              <a:rPr lang="en-US" sz="1523" dirty="0">
                <a:solidFill>
                  <a:srgbClr val="1F2937"/>
                </a:solidFill>
                <a:latin typeface="Arial" pitchFamily="34" charset="0"/>
                <a:ea typeface="Arial" pitchFamily="34" charset="-122"/>
                <a:cs typeface="Arial" pitchFamily="34" charset="-120"/>
              </a:rPr>
              <a:t>calls and tokens must earn their</a:t>
            </a:r>
            <a:endParaRPr lang="en-US" sz="1523" dirty="0"/>
          </a:p>
        </p:txBody>
      </p:sp>
      <p:sp>
        <p:nvSpPr>
          <p:cNvPr id="19" name="Text 17"/>
          <p:cNvSpPr txBox="1"/>
          <p:nvPr/>
        </p:nvSpPr>
        <p:spPr>
          <a:xfrm>
            <a:off x="8055233" y="2694758"/>
            <a:ext cx="3055650" cy="224412"/>
          </a:xfrm>
          <a:prstGeom prst="rect">
            <a:avLst/>
          </a:prstGeom>
          <a:noFill/>
          <a:ln/>
        </p:spPr>
        <p:txBody>
          <a:bodyPr wrap="square" lIns="0" tIns="0" rIns="0" bIns="0" rtlCol="0" anchor="ctr"/>
          <a:lstStyle/>
          <a:p>
            <a:pPr algn="l" indent="0" marL="0">
              <a:lnSpc>
                <a:spcPct val="116000"/>
              </a:lnSpc>
              <a:buNone/>
            </a:pPr>
            <a:r>
              <a:rPr lang="en-US" sz="1523" dirty="0">
                <a:solidFill>
                  <a:srgbClr val="1F2937"/>
                </a:solidFill>
                <a:latin typeface="Arial" pitchFamily="34" charset="0"/>
                <a:ea typeface="Arial" pitchFamily="34" charset="-122"/>
                <a:cs typeface="Arial" pitchFamily="34" charset="-120"/>
              </a:rPr>
              <a:t>cost.</a:t>
            </a:r>
            <a:endParaRPr lang="en-US" sz="1523" dirty="0"/>
          </a:p>
        </p:txBody>
      </p:sp>
      <p:sp>
        <p:nvSpPr>
          <p:cNvPr id="20" name="Shape 18"/>
          <p:cNvSpPr/>
          <p:nvPr/>
        </p:nvSpPr>
        <p:spPr>
          <a:xfrm>
            <a:off x="946879" y="3170368"/>
            <a:ext cx="3323515" cy="1376531"/>
          </a:xfrm>
          <a:prstGeom prst="roundRect">
            <a:avLst>
              <a:gd name="adj" fmla="val 5314"/>
            </a:avLst>
          </a:prstGeom>
          <a:solidFill>
            <a:srgbClr val="FFF0E6"/>
          </a:solidFill>
          <a:ln w="15240">
            <a:solidFill>
              <a:srgbClr val="D55E00"/>
            </a:solidFill>
            <a:prstDash val="solid"/>
          </a:ln>
        </p:spPr>
      </p:sp>
      <p:sp>
        <p:nvSpPr>
          <p:cNvPr id="21" name="Text 19"/>
          <p:cNvSpPr txBox="1"/>
          <p:nvPr/>
        </p:nvSpPr>
        <p:spPr>
          <a:xfrm>
            <a:off x="1080812" y="3215012"/>
            <a:ext cx="3055650" cy="535731"/>
          </a:xfrm>
          <a:prstGeom prst="rect">
            <a:avLst/>
          </a:prstGeom>
          <a:noFill/>
          <a:ln/>
        </p:spPr>
        <p:txBody>
          <a:bodyPr wrap="square" lIns="0" tIns="0" rIns="0" bIns="0" rtlCol="0" anchor="ctr"/>
          <a:lstStyle/>
          <a:p>
            <a:pPr algn="l" indent="0" marL="0">
              <a:lnSpc>
                <a:spcPct val="116000"/>
              </a:lnSpc>
              <a:buNone/>
            </a:pPr>
            <a:r>
              <a:rPr lang="en-US" sz="1758" b="1" dirty="0">
                <a:solidFill>
                  <a:srgbClr val="1E1B4B"/>
                </a:solidFill>
                <a:latin typeface="Arial" pitchFamily="34" charset="0"/>
                <a:ea typeface="Arial" pitchFamily="34" charset="-122"/>
                <a:cs typeface="Arial" pitchFamily="34" charset="-120"/>
              </a:rPr>
              <a:t>Validate the result</a:t>
            </a:r>
            <a:endParaRPr lang="en-US" sz="1758" dirty="0"/>
          </a:p>
        </p:txBody>
      </p:sp>
      <p:sp>
        <p:nvSpPr>
          <p:cNvPr id="22" name="Text 20"/>
          <p:cNvSpPr txBox="1"/>
          <p:nvPr/>
        </p:nvSpPr>
        <p:spPr>
          <a:xfrm>
            <a:off x="1080812" y="3786161"/>
            <a:ext cx="3055650" cy="224412"/>
          </a:xfrm>
          <a:prstGeom prst="rect">
            <a:avLst/>
          </a:prstGeom>
          <a:noFill/>
          <a:ln/>
        </p:spPr>
        <p:txBody>
          <a:bodyPr wrap="square" lIns="0" tIns="0" rIns="0" bIns="0" rtlCol="0" anchor="ctr"/>
          <a:lstStyle/>
          <a:p>
            <a:pPr algn="l" indent="0" marL="0">
              <a:lnSpc>
                <a:spcPct val="116000"/>
              </a:lnSpc>
              <a:buNone/>
            </a:pPr>
            <a:r>
              <a:rPr lang="en-US" sz="1523" dirty="0">
                <a:solidFill>
                  <a:srgbClr val="1F2937"/>
                </a:solidFill>
                <a:latin typeface="Arial" pitchFamily="34" charset="0"/>
                <a:ea typeface="Arial" pitchFamily="34" charset="-122"/>
                <a:cs typeface="Arial" pitchFamily="34" charset="-120"/>
              </a:rPr>
              <a:t>Check JSON fields and</a:t>
            </a:r>
            <a:endParaRPr lang="en-US" sz="1523" dirty="0"/>
          </a:p>
        </p:txBody>
      </p:sp>
      <p:sp>
        <p:nvSpPr>
          <p:cNvPr id="23" name="Text 21"/>
          <p:cNvSpPr txBox="1"/>
          <p:nvPr/>
        </p:nvSpPr>
        <p:spPr>
          <a:xfrm>
            <a:off x="1080812" y="4010573"/>
            <a:ext cx="3055650" cy="224412"/>
          </a:xfrm>
          <a:prstGeom prst="rect">
            <a:avLst/>
          </a:prstGeom>
          <a:noFill/>
          <a:ln/>
        </p:spPr>
        <p:txBody>
          <a:bodyPr wrap="square" lIns="0" tIns="0" rIns="0" bIns="0" rtlCol="0" anchor="ctr"/>
          <a:lstStyle/>
          <a:p>
            <a:pPr algn="l" indent="0" marL="0">
              <a:lnSpc>
                <a:spcPct val="116000"/>
              </a:lnSpc>
              <a:buNone/>
            </a:pPr>
            <a:r>
              <a:rPr lang="en-US" sz="1523" dirty="0">
                <a:solidFill>
                  <a:srgbClr val="1F2937"/>
                </a:solidFill>
                <a:latin typeface="Arial" pitchFamily="34" charset="0"/>
                <a:ea typeface="Arial" pitchFamily="34" charset="-122"/>
                <a:cs typeface="Arial" pitchFamily="34" charset="-120"/>
              </a:rPr>
              <a:t>constraints, then compare values</a:t>
            </a:r>
            <a:endParaRPr lang="en-US" sz="1523" dirty="0"/>
          </a:p>
        </p:txBody>
      </p:sp>
      <p:sp>
        <p:nvSpPr>
          <p:cNvPr id="24" name="Text 22"/>
          <p:cNvSpPr txBox="1"/>
          <p:nvPr/>
        </p:nvSpPr>
        <p:spPr>
          <a:xfrm>
            <a:off x="1080812" y="4234984"/>
            <a:ext cx="3055650" cy="224412"/>
          </a:xfrm>
          <a:prstGeom prst="rect">
            <a:avLst/>
          </a:prstGeom>
          <a:noFill/>
          <a:ln/>
        </p:spPr>
        <p:txBody>
          <a:bodyPr wrap="square" lIns="0" tIns="0" rIns="0" bIns="0" rtlCol="0" anchor="ctr"/>
          <a:lstStyle/>
          <a:p>
            <a:pPr algn="l" indent="0" marL="0">
              <a:lnSpc>
                <a:spcPct val="116000"/>
              </a:lnSpc>
              <a:buNone/>
            </a:pPr>
            <a:r>
              <a:rPr lang="en-US" sz="1523" dirty="0">
                <a:solidFill>
                  <a:srgbClr val="1F2937"/>
                </a:solidFill>
                <a:latin typeface="Arial" pitchFamily="34" charset="0"/>
                <a:ea typeface="Arial" pitchFamily="34" charset="-122"/>
                <a:cs typeface="Arial" pitchFamily="34" charset="-120"/>
              </a:rPr>
              <a:t>with sources.</a:t>
            </a:r>
            <a:endParaRPr lang="en-US" sz="1523" dirty="0"/>
          </a:p>
        </p:txBody>
      </p:sp>
      <p:sp>
        <p:nvSpPr>
          <p:cNvPr id="25" name="Shape 23"/>
          <p:cNvSpPr/>
          <p:nvPr/>
        </p:nvSpPr>
        <p:spPr>
          <a:xfrm>
            <a:off x="4434090" y="3170368"/>
            <a:ext cx="3323515" cy="1376531"/>
          </a:xfrm>
          <a:prstGeom prst="roundRect">
            <a:avLst>
              <a:gd name="adj" fmla="val 5314"/>
            </a:avLst>
          </a:prstGeom>
          <a:solidFill>
            <a:srgbClr val="F9EAF4"/>
          </a:solidFill>
          <a:ln w="15240">
            <a:solidFill>
              <a:srgbClr val="CC79A7"/>
            </a:solidFill>
            <a:prstDash val="solid"/>
          </a:ln>
        </p:spPr>
      </p:sp>
      <p:sp>
        <p:nvSpPr>
          <p:cNvPr id="26" name="Text 24"/>
          <p:cNvSpPr txBox="1"/>
          <p:nvPr/>
        </p:nvSpPr>
        <p:spPr>
          <a:xfrm>
            <a:off x="4568023" y="3215012"/>
            <a:ext cx="3055650" cy="535731"/>
          </a:xfrm>
          <a:prstGeom prst="rect">
            <a:avLst/>
          </a:prstGeom>
          <a:noFill/>
          <a:ln/>
        </p:spPr>
        <p:txBody>
          <a:bodyPr wrap="square" lIns="0" tIns="0" rIns="0" bIns="0" rtlCol="0" anchor="ctr"/>
          <a:lstStyle/>
          <a:p>
            <a:pPr algn="l" indent="0" marL="0">
              <a:lnSpc>
                <a:spcPct val="116000"/>
              </a:lnSpc>
              <a:buNone/>
            </a:pPr>
            <a:r>
              <a:rPr lang="en-US" sz="1758" b="1" dirty="0">
                <a:solidFill>
                  <a:srgbClr val="1E1B4B"/>
                </a:solidFill>
                <a:latin typeface="Arial" pitchFamily="34" charset="0"/>
                <a:ea typeface="Arial" pitchFamily="34" charset="-122"/>
                <a:cs typeface="Arial" pitchFamily="34" charset="-120"/>
              </a:rPr>
              <a:t>Evaluate fairly</a:t>
            </a:r>
            <a:endParaRPr lang="en-US" sz="1758" dirty="0"/>
          </a:p>
        </p:txBody>
      </p:sp>
      <p:sp>
        <p:nvSpPr>
          <p:cNvPr id="27" name="Text 25"/>
          <p:cNvSpPr txBox="1"/>
          <p:nvPr/>
        </p:nvSpPr>
        <p:spPr>
          <a:xfrm>
            <a:off x="4568023" y="3786161"/>
            <a:ext cx="3055650" cy="224412"/>
          </a:xfrm>
          <a:prstGeom prst="rect">
            <a:avLst/>
          </a:prstGeom>
          <a:noFill/>
          <a:ln/>
        </p:spPr>
        <p:txBody>
          <a:bodyPr wrap="square" lIns="0" tIns="0" rIns="0" bIns="0" rtlCol="0" anchor="ctr"/>
          <a:lstStyle/>
          <a:p>
            <a:pPr algn="l" indent="0" marL="0">
              <a:lnSpc>
                <a:spcPct val="116000"/>
              </a:lnSpc>
              <a:buNone/>
            </a:pPr>
            <a:r>
              <a:rPr lang="en-US" sz="1523" dirty="0">
                <a:solidFill>
                  <a:srgbClr val="1F2937"/>
                </a:solidFill>
                <a:latin typeface="Arial" pitchFamily="34" charset="0"/>
                <a:ea typeface="Arial" pitchFamily="34" charset="-122"/>
                <a:cs typeface="Arial" pitchFamily="34" charset="-120"/>
              </a:rPr>
              <a:t>Use realistic cases, references,</a:t>
            </a:r>
            <a:endParaRPr lang="en-US" sz="1523" dirty="0"/>
          </a:p>
        </p:txBody>
      </p:sp>
      <p:sp>
        <p:nvSpPr>
          <p:cNvPr id="28" name="Text 26"/>
          <p:cNvSpPr txBox="1"/>
          <p:nvPr/>
        </p:nvSpPr>
        <p:spPr>
          <a:xfrm>
            <a:off x="4568023" y="4010573"/>
            <a:ext cx="3055650" cy="224412"/>
          </a:xfrm>
          <a:prstGeom prst="rect">
            <a:avLst/>
          </a:prstGeom>
          <a:noFill/>
          <a:ln/>
        </p:spPr>
        <p:txBody>
          <a:bodyPr wrap="square" lIns="0" tIns="0" rIns="0" bIns="0" rtlCol="0" anchor="ctr"/>
          <a:lstStyle/>
          <a:p>
            <a:pPr algn="l" indent="0" marL="0">
              <a:lnSpc>
                <a:spcPct val="116000"/>
              </a:lnSpc>
              <a:buNone/>
            </a:pPr>
            <a:r>
              <a:rPr lang="en-US" sz="1523" dirty="0">
                <a:solidFill>
                  <a:srgbClr val="1F2937"/>
                </a:solidFill>
                <a:latin typeface="Arial" pitchFamily="34" charset="0"/>
                <a:ea typeface="Arial" pitchFamily="34" charset="-122"/>
                <a:cs typeface="Arial" pitchFamily="34" charset="-120"/>
              </a:rPr>
              <a:t>rubrics, fresh tests and error</a:t>
            </a:r>
            <a:endParaRPr lang="en-US" sz="1523" dirty="0"/>
          </a:p>
        </p:txBody>
      </p:sp>
      <p:sp>
        <p:nvSpPr>
          <p:cNvPr id="29" name="Text 27"/>
          <p:cNvSpPr txBox="1"/>
          <p:nvPr/>
        </p:nvSpPr>
        <p:spPr>
          <a:xfrm>
            <a:off x="4568023" y="4234984"/>
            <a:ext cx="3055650" cy="224412"/>
          </a:xfrm>
          <a:prstGeom prst="rect">
            <a:avLst/>
          </a:prstGeom>
          <a:noFill/>
          <a:ln/>
        </p:spPr>
        <p:txBody>
          <a:bodyPr wrap="square" lIns="0" tIns="0" rIns="0" bIns="0" rtlCol="0" anchor="ctr"/>
          <a:lstStyle/>
          <a:p>
            <a:pPr algn="l" indent="0" marL="0">
              <a:lnSpc>
                <a:spcPct val="116000"/>
              </a:lnSpc>
              <a:buNone/>
            </a:pPr>
            <a:r>
              <a:rPr lang="en-US" sz="1523" dirty="0">
                <a:solidFill>
                  <a:srgbClr val="1F2937"/>
                </a:solidFill>
                <a:latin typeface="Arial" pitchFamily="34" charset="0"/>
                <a:ea typeface="Arial" pitchFamily="34" charset="-122"/>
                <a:cs typeface="Arial" pitchFamily="34" charset="-120"/>
              </a:rPr>
              <a:t>review.</a:t>
            </a:r>
            <a:endParaRPr lang="en-US" sz="1523" dirty="0"/>
          </a:p>
        </p:txBody>
      </p:sp>
      <p:sp>
        <p:nvSpPr>
          <p:cNvPr id="30" name="Shape 28"/>
          <p:cNvSpPr/>
          <p:nvPr/>
        </p:nvSpPr>
        <p:spPr>
          <a:xfrm>
            <a:off x="7921301" y="3170368"/>
            <a:ext cx="3323515" cy="1376531"/>
          </a:xfrm>
          <a:prstGeom prst="rect">
            <a:avLst/>
          </a:prstGeom>
          <a:solidFill>
            <a:srgbClr val="F2F4F5"/>
          </a:solidFill>
          <a:ln w="15240">
            <a:solidFill>
              <a:srgbClr val="626B73"/>
            </a:solidFill>
            <a:prstDash val="solid"/>
          </a:ln>
        </p:spPr>
      </p:sp>
      <p:sp>
        <p:nvSpPr>
          <p:cNvPr id="31" name="Text 29"/>
          <p:cNvSpPr txBox="1"/>
          <p:nvPr/>
        </p:nvSpPr>
        <p:spPr>
          <a:xfrm>
            <a:off x="8055233" y="3215012"/>
            <a:ext cx="3055650" cy="535731"/>
          </a:xfrm>
          <a:prstGeom prst="rect">
            <a:avLst/>
          </a:prstGeom>
          <a:noFill/>
          <a:ln/>
        </p:spPr>
        <p:txBody>
          <a:bodyPr wrap="square" lIns="0" tIns="0" rIns="0" bIns="0" rtlCol="0" anchor="ctr"/>
          <a:lstStyle/>
          <a:p>
            <a:pPr algn="l" indent="0" marL="0">
              <a:lnSpc>
                <a:spcPct val="116000"/>
              </a:lnSpc>
              <a:buNone/>
            </a:pPr>
            <a:r>
              <a:rPr lang="en-US" sz="1758" b="1" dirty="0">
                <a:solidFill>
                  <a:srgbClr val="1E1B4B"/>
                </a:solidFill>
                <a:latin typeface="Arial" pitchFamily="34" charset="0"/>
                <a:ea typeface="Arial" pitchFamily="34" charset="-122"/>
                <a:cs typeface="Arial" pitchFamily="34" charset="-120"/>
              </a:rPr>
              <a:t>Protect the application</a:t>
            </a:r>
            <a:endParaRPr lang="en-US" sz="1758" dirty="0"/>
          </a:p>
        </p:txBody>
      </p:sp>
      <p:sp>
        <p:nvSpPr>
          <p:cNvPr id="32" name="Text 30"/>
          <p:cNvSpPr txBox="1"/>
          <p:nvPr/>
        </p:nvSpPr>
        <p:spPr>
          <a:xfrm>
            <a:off x="8055233" y="3786161"/>
            <a:ext cx="3055650" cy="224412"/>
          </a:xfrm>
          <a:prstGeom prst="rect">
            <a:avLst/>
          </a:prstGeom>
          <a:noFill/>
          <a:ln/>
        </p:spPr>
        <p:txBody>
          <a:bodyPr wrap="square" lIns="0" tIns="0" rIns="0" bIns="0" rtlCol="0" anchor="ctr"/>
          <a:lstStyle/>
          <a:p>
            <a:pPr algn="l" indent="0" marL="0">
              <a:lnSpc>
                <a:spcPct val="116000"/>
              </a:lnSpc>
              <a:buNone/>
            </a:pPr>
            <a:r>
              <a:rPr lang="en-US" sz="1523" dirty="0">
                <a:solidFill>
                  <a:srgbClr val="1F2937"/>
                </a:solidFill>
                <a:latin typeface="Arial" pitchFamily="34" charset="0"/>
                <a:ea typeface="Arial" pitchFamily="34" charset="-122"/>
                <a:cs typeface="Arial" pitchFamily="34" charset="-120"/>
              </a:rPr>
              <a:t>Treat source commands as</a:t>
            </a:r>
            <a:endParaRPr lang="en-US" sz="1523" dirty="0"/>
          </a:p>
        </p:txBody>
      </p:sp>
      <p:sp>
        <p:nvSpPr>
          <p:cNvPr id="33" name="Text 31"/>
          <p:cNvSpPr txBox="1"/>
          <p:nvPr/>
        </p:nvSpPr>
        <p:spPr>
          <a:xfrm>
            <a:off x="8055233" y="4010573"/>
            <a:ext cx="3055650" cy="224412"/>
          </a:xfrm>
          <a:prstGeom prst="rect">
            <a:avLst/>
          </a:prstGeom>
          <a:noFill/>
          <a:ln/>
        </p:spPr>
        <p:txBody>
          <a:bodyPr wrap="square" lIns="0" tIns="0" rIns="0" bIns="0" rtlCol="0" anchor="ctr"/>
          <a:lstStyle/>
          <a:p>
            <a:pPr algn="l" indent="0" marL="0">
              <a:lnSpc>
                <a:spcPct val="116000"/>
              </a:lnSpc>
              <a:buNone/>
            </a:pPr>
            <a:r>
              <a:rPr lang="en-US" sz="1523" dirty="0">
                <a:solidFill>
                  <a:srgbClr val="1F2937"/>
                </a:solidFill>
                <a:latin typeface="Arial" pitchFamily="34" charset="0"/>
                <a:ea typeface="Arial" pitchFamily="34" charset="-122"/>
                <a:cs typeface="Arial" pitchFamily="34" charset="-120"/>
              </a:rPr>
              <a:t>untrusted; enforce tool</a:t>
            </a:r>
            <a:endParaRPr lang="en-US" sz="1523" dirty="0"/>
          </a:p>
        </p:txBody>
      </p:sp>
      <p:sp>
        <p:nvSpPr>
          <p:cNvPr id="34" name="Text 32"/>
          <p:cNvSpPr txBox="1"/>
          <p:nvPr/>
        </p:nvSpPr>
        <p:spPr>
          <a:xfrm>
            <a:off x="8055233" y="4234984"/>
            <a:ext cx="3055650" cy="224412"/>
          </a:xfrm>
          <a:prstGeom prst="rect">
            <a:avLst/>
          </a:prstGeom>
          <a:noFill/>
          <a:ln/>
        </p:spPr>
        <p:txBody>
          <a:bodyPr wrap="square" lIns="0" tIns="0" rIns="0" bIns="0" rtlCol="0" anchor="ctr"/>
          <a:lstStyle/>
          <a:p>
            <a:pPr algn="l" indent="0" marL="0">
              <a:lnSpc>
                <a:spcPct val="116000"/>
              </a:lnSpc>
              <a:buNone/>
            </a:pPr>
            <a:r>
              <a:rPr lang="en-US" sz="1523" dirty="0">
                <a:solidFill>
                  <a:srgbClr val="1F2937"/>
                </a:solidFill>
                <a:latin typeface="Arial" pitchFamily="34" charset="0"/>
                <a:ea typeface="Arial" pitchFamily="34" charset="-122"/>
                <a:cs typeface="Arial" pitchFamily="34" charset="-120"/>
              </a:rPr>
              <a:t>permissions in code.</a:t>
            </a:r>
            <a:endParaRPr lang="en-US" sz="1523" dirty="0"/>
          </a:p>
        </p:txBody>
      </p:sp>
      <p:sp>
        <p:nvSpPr>
          <p:cNvPr id="35" name="Text 33"/>
          <p:cNvSpPr txBox="1"/>
          <p:nvPr/>
        </p:nvSpPr>
        <p:spPr>
          <a:xfrm>
            <a:off x="946879" y="4680832"/>
            <a:ext cx="10297937" cy="260425"/>
          </a:xfrm>
          <a:prstGeom prst="rect">
            <a:avLst/>
          </a:prstGeom>
          <a:noFill/>
          <a:ln/>
        </p:spPr>
        <p:txBody>
          <a:bodyPr wrap="square" lIns="0" tIns="0" rIns="0" bIns="0" rtlCol="0" anchor="ctr"/>
          <a:lstStyle/>
          <a:p>
            <a:pPr algn="l" indent="0" marL="0">
              <a:lnSpc>
                <a:spcPct val="116000"/>
              </a:lnSpc>
              <a:buNone/>
            </a:pPr>
            <a:r>
              <a:rPr lang="en-US" sz="1523" b="1" dirty="0">
                <a:solidFill>
                  <a:srgbClr val="1E1B4B"/>
                </a:solidFill>
                <a:latin typeface="Arial" pitchFamily="34" charset="0"/>
                <a:ea typeface="Arial" pitchFamily="34" charset="-122"/>
                <a:cs typeface="Arial" pitchFamily="34" charset="-120"/>
              </a:rPr>
              <a:t>Example to explain aloud</a:t>
            </a:r>
            <a:endParaRPr lang="en-US" sz="1523" dirty="0"/>
          </a:p>
        </p:txBody>
      </p:sp>
      <p:sp>
        <p:nvSpPr>
          <p:cNvPr id="36" name="Text 34"/>
          <p:cNvSpPr txBox="1"/>
          <p:nvPr/>
        </p:nvSpPr>
        <p:spPr>
          <a:xfrm>
            <a:off x="946879" y="4993341"/>
            <a:ext cx="10297937" cy="468764"/>
          </a:xfrm>
          <a:prstGeom prst="rect">
            <a:avLst/>
          </a:prstGeom>
          <a:noFill/>
          <a:ln/>
        </p:spPr>
        <p:txBody>
          <a:bodyPr wrap="square" lIns="0" tIns="0" rIns="0" bIns="0" rtlCol="0" anchor="ctr"/>
          <a:lstStyle/>
          <a:p>
            <a:pPr algn="l" indent="0" marL="0">
              <a:lnSpc>
                <a:spcPct val="116000"/>
              </a:lnSpc>
              <a:buNone/>
            </a:pPr>
            <a:r>
              <a:rPr lang="en-US" sz="1582" dirty="0">
                <a:solidFill>
                  <a:srgbClr val="1F2937"/>
                </a:solidFill>
                <a:latin typeface="Arial" pitchFamily="34" charset="0"/>
                <a:ea typeface="Arial" pitchFamily="34" charset="-122"/>
                <a:cs typeface="Arial" pitchFamily="34" charset="-120"/>
              </a:rPr>
              <a:t>40 messages: one changed answer moves accuracy by 2.5 points; a valid ID can still be the wrong ID.</a:t>
            </a:r>
            <a:endParaRPr lang="en-US" sz="1582" dirty="0"/>
          </a:p>
        </p:txBody>
      </p:sp>
      <p:sp>
        <p:nvSpPr>
          <p:cNvPr id="37" name="Text 35"/>
          <p:cNvSpPr txBox="1"/>
          <p:nvPr/>
        </p:nvSpPr>
        <p:spPr>
          <a:xfrm>
            <a:off x="946879" y="5529072"/>
            <a:ext cx="10297937" cy="461324"/>
          </a:xfrm>
          <a:prstGeom prst="rect">
            <a:avLst/>
          </a:prstGeom>
          <a:noFill/>
          <a:ln/>
        </p:spPr>
        <p:txBody>
          <a:bodyPr wrap="square" lIns="0" tIns="0" rIns="0" bIns="0" rtlCol="0" anchor="ctr"/>
          <a:lstStyle/>
          <a:p>
            <a:pPr algn="l" indent="0" marL="0">
              <a:lnSpc>
                <a:spcPct val="116000"/>
              </a:lnSpc>
              <a:buNone/>
            </a:pPr>
            <a:r>
              <a:rPr lang="en-US" sz="1523" dirty="0">
                <a:solidFill>
                  <a:srgbClr val="1F2937"/>
                </a:solidFill>
                <a:latin typeface="Arial" pitchFamily="34" charset="0"/>
                <a:ea typeface="Arial" pitchFamily="34" charset="-122"/>
                <a:cs typeface="Arial" pitchFamily="34" charset="-120"/>
              </a:rPr>
              <a:t>Next: in Week 8 we train small adapters when the best prompt leaves persistent gaps.</a:t>
            </a:r>
            <a:endParaRPr lang="en-US" sz="1523" dirty="0"/>
          </a:p>
        </p:txBody>
      </p:sp>
      <p:sp>
        <p:nvSpPr>
          <p:cNvPr id="38" name="Text 36"/>
          <p:cNvSpPr txBox="1"/>
          <p:nvPr/>
        </p:nvSpPr>
        <p:spPr>
          <a:xfrm>
            <a:off x="548640" y="6044184"/>
            <a:ext cx="11094415" cy="338328"/>
          </a:xfrm>
          <a:prstGeom prst="rect">
            <a:avLst/>
          </a:prstGeom>
          <a:noFill/>
          <a:ln/>
        </p:spPr>
        <p:txBody>
          <a:bodyPr wrap="square" lIns="0" tIns="0" rIns="0" bIns="0" rtlCol="0" anchor="t"/>
          <a:lstStyle/>
          <a:p>
            <a:pPr indent="0" marL="0">
              <a:buNone/>
            </a:pPr>
            <a:r>
              <a:rPr lang="en-US" sz="1600" dirty="0">
                <a:solidFill>
                  <a:srgbClr val="1E1B4B"/>
                </a:solidFill>
                <a:latin typeface="Calibri" pitchFamily="34" charset="0"/>
                <a:ea typeface="Calibri" pitchFamily="34" charset="-122"/>
                <a:cs typeface="Calibri" pitchFamily="34" charset="-120"/>
              </a:rPr>
              <a:t>Exit question: What proves that a prompt revision helped?</a:t>
            </a:r>
            <a:endParaRPr lang="en-US" sz="1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46</Slides>
  <Notes>46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46</vt:i4>
      </vt:variant>
    </vt:vector>
  </HeadingPairs>
  <TitlesOfParts>
    <vt:vector size="4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Week 7: Prompt Engineering and evaluation</dc:title>
  <dc:subject>Generative AI (MSc in Artificial Intelligence)</dc:subject>
  <dc:creator>Generative AI module team</dc:creator>
  <cp:lastModifiedBy>Generative AI module team</cp:lastModifiedBy>
  <cp:revision>1</cp:revision>
  <dcterms:created xsi:type="dcterms:W3CDTF">2026-10-10T07:30:59Z</dcterms:created>
  <dcterms:modified xsi:type="dcterms:W3CDTF">2026-10-10T07:30:59Z</dcterms:modified>
</cp:coreProperties>
</file>