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7, prompt engineering and evaluation. This is the week that most directly changes how students use AI tools every day. The message of the week is in the subtitle: prompting is not a bag of magic phrases; it is the design of an input, and it only counts as engineering when you measure the result. We will learn the techniques recommended by OpenAI, Google and Anthropic's official guides, see real measured comparisons on a small open model, and build an evaluation harness in the lab that groups can reuse in their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outcomes. The first frames prompting as one of three ways to adapt a model, alongside pre-training and fine-tuning. The second and third are the core techniques named in the descriptor: zero-, one- and few-shot, role-based prompting and chain-of-thought, plus newer practice such as self-consistency, prompt chaining and prompting reasoning models. The fourth covers structured outputs and context engineering, which dominate professional use in 2026. The fifth is evaluation, the heart of MIMLO 4. The sixth covers limitations and security, particularly prompt injection. This week practises MIMLOs 1, 4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follows the descriptor's week 7 exactly: the paradigm shift; basic prompting techniques; chain-of-thought; prompting for different tasks; evaluation methods; limitations and challenges; supporting tools. I added structured outputs and context engineering because they are now standard practice. Take the break after section 3. The results slides in sections 2 and 3 come from running this week's lab notebook on a small open model; show them as evidence and ask students whether they believe the differences, which leads into the statistics in section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Prompt: Instructions and context supplied to a model for one request. Ask: Does rewriting a prompt change the model's stored weights? Ground truth: A reference answer used to check a prediction. Ask: For a labelled ticket, which field supplies the expected team? Accuracy: The fraction of evaluated examples counted as correct. Ask: If 32 of 40 predictions are correct, what is the accuracy? Let students explain one example aloud, then connect their example to the next flow diagram. Use the numbered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three minutes. Collect rewrites and look for missing elements: audience, for example prospective MSc students; purpose, for example explain what the programme covers; key facts to include; tone; length, for example 150 words; format, for example headline plus three bullet points; constraints, such as no unverifiable claims; and success criteria. The last question is the important one: most people never define what good looks like, so they cannot tell whether a new prompt is better. By the end of the lecture, that question will be answered with a test set and a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sets prompting in context. Before about 2020, using a model for a new task meant training or fine-tuning it on labelled examples. Large pre-trained models can instead be steered by the input text alone. We compare the three ways of adapting a model and explain in-context learning. About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harness turns prompt design into a measurable experiment. Each item contains input text and a reference answer. A prompt function converts that item into messages, and llm returns generated text plus its output-token count. The scorer then interprets the reply and compares its label with the reference. evaluate stores one row per item and computes summary measures. An invalid reply and a recognised but wrong label are different failure types. Compare prompts on the same items with declared settings so that observed differences have meaning. This is a small development dataset, so repeatedly improving a prompt on these examples can overfit them. Reserve new examples for a final check. The harness stores shortened previews of text and output, so those table cells are useful summaries rather than complete records of every response.
Worked example:
The ticket about an expired Moodle password has the reference label IT_ACCESS.
A prompt lists the five permitted teams and asks for a single label.
The scorer searches the returned text for a recognised label.
One wrong answer among 40 changes accuracy by 2.5 percentage points.
Inspect both invalid outputs and valid-but-wrong labels before changing the prompt.
Check: If a prompt improves from 32 to 34 correct answers out of 40, how many examples account for the gain?
Answer: Two examples. That is a five-percentage-point gain, which a small dataset alone may not establish reliably.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columns differ in what changes and what it costs. Pre-training changes everything and costs millions. Fine-tuning updates weights on your data; it is cheaper, especially with LoRA in week 8, but needs data and GPU time, and it is best for consistent formats, styles or specialised domains. Prompting changes nothing in the model; iteration takes minutes. The callout is the practical decision rule used by Microsoft, Google and OpenAI guidance: begin with prompting, add retrieval when the problem is missing knowledge, and fine-tune only when a well-designed evaluation shows prompting is insufficient.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Help students form an accurate mental model. The model does not 'understand what you want' in a human sense; it computes the most plausible continuation of all the tokens it receives, as shaped by post-training to follow instructions. Examples in the prompt shift that continuation, which is in-context learning. Treating the prompt as a program has practical consequences: write it deliberately, test it on examples, keep versions, and re-test when the model changes. Modern assistants are trained with an instruction hierarchy in which system or developer messages take priority over user messages, which matters for security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covers the structure of a prompt and the basic techniques in the descriptor: zero-shot, one-shot, few-shot and role-based prompting. We finish with real results from running these prompt styles on a classification task with a small open model. Ask students to predict which style will win before showing the results. About twenty-five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has up to five parts. The system or developer message sets the role, rules, tone and policies. Context supplies what the model needs to know: documents, data, history or tool results, clearly delimited, for example with XML-style tags, which the Anthropic and OpenAI guides recommend. Examples show the exact input-output format. The task states what to do, for whom and with which constraints. The output format specifies length and structure, including what to do when unsure. Not every prompt needs every part, but checking against this list catches most problems in the warm-up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model answer to the warm-up. Walk through each row and point out where each element of the anatomy slide appears. The facts are delimited with tags so the model can distinguish data from instructions, and the rule to use only those facts plus the instruction to omit missing facts reduce hallucinated claims. The format is explicit and testable. The success check at the bottom is not sent to the model; it is the evaluation criterion we will use in section four. Ask students which element they think makes the biggest difference: usually the context, because the model cannot invent the module details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major chat APIs structure a conversation as a list of messages with roles. The system message, which OpenAI now calls the developer message, is written by the application builder and holds persistent rules. User messages come from the end user and should be treated as untrusted. Assistant messages hold earlier model replies; you can also write assistant messages yourself to provide example outputs. Tool messages carry results of function calls, used for agents in week 12. The instruction hierarchy is a training goal, not a guarantee, as the prompt-injection experiment will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descriptor's basic techniques. Zero-shot gives only the instruction. One-shot adds a single example, which is very effective at fixing the output format but can bias the model towards that example's label. Few-shot uses several examples, ideally covering each class and including tricky boundary cases, which usually improves accuracy and consistency, at the cost of longer prompts. Research has shown that the choice, order and even the label balance of examples can change results noticeably, so few-shot prompts must be evaluated like any other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few-shot prompt students write in the lab. Point out the design decisions: the rules and the complete label set go in the system message; examples are short, realistic and cover each category; they are not taken from the test set, which would inflate the measured accuracy; and the final line ends with Category and a colon, nudging the model to answer with a single label. Setting temperature to zero makes the evaluation reproducible. The same structure works for any classification or extraction task in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or persona prompting is popular and sometimes useful: it helps set the register and the priorities, for example asking the model to review code as a security specialist makes it focus on vulnerabilities. But students often over-estimate it. A role cannot give the model knowledge it does not have, and research on persona prompts has found small or inconsistent accuracy effects. Worse, an authoritative persona can make hallucinations more convincing. The practical advice from all three vendor guides is to be specific about the behaviour you want rather than relying on a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principles appear, in different words, in the prompt engineering guides of OpenAI, Google and Anthropic, linked on the final slide. Two are often neglected. Allowing uncertainty is one of the simplest hallucination mitigations: models are more likely to invent an answer if the prompt implies an answer must exist. Testing systematically is what separates prompt engineering from prompt guessing. Ask students to check the warm-up rewrite against these six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results from running the lab notebook on the GPU with a small open model, Qwen 2.5 at one and a half billion parameters. The left chart shows accuracy on forty student-services messages, the right chart the number of invalid answers, where the model did not reply with one of the five labels. Invalid answers are often the main difference between zero-shot and few-shot: examples teach the output format. Ask students whether they trust the differences; the honest answer is that with forty items only large differences are reliable, which we quantify in section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Format problems are best fixed by showing the format with examples and listing the allowed outputs, ideally with structured output enforcement later in this lecture. A, a persona, does little for format. C makes outputs more random, the opposite of what we want. D is premature: fine-tuning costs data and time, and should come only after prompting and evaluation show a real limit. This is exactly the effect visible in the invalid-answer chart on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covers the more advanced techniques: chain-of-thought prompting and self-consistency, with real results; how prompting changes with reasoning models; prompt chaining; structured outputs with schemas; context engineering; and prompting for different kinds of task. These techniques matter most when outputs feed into code, as in weeks 11 and 12. About twenty-five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Chain-of-thought prompting, introduced by Wei and colleagues in 2022, gives the model room to generate intermediate steps, which improves accuracy on multi-step problems because each generated step becomes context for the next. Kojima and colleagues showed that simply adding let's think step by step helps even without examples. Two practical points: CoT multiplies output length and therefore cost, and you must ask for a parseable final answer. The faithfulness caveat is important for assessment: students should never present a model's reasoning text as evidence that the answer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results on sixteen multi-step word problems from the lab, with the same small model. The left chart shows accuracy, the right the average number of output tokens per problem, which is a direct proxy for cost and latency. Chain-of-thought typically improves accuracy over direct answers at many times the token cost; self-consistency samples five reasoning paths and takes the majority vote, often improving accuracy again at five times the cost of chain-of-thought. The engineering question is not which is best but which meets the quality bar at acceptable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Prompting practice has changed with reasoning models. Their vendors, including OpenAI and Anthropic, advise against micromanaging the reasoning: describe the goal, constraints and what a good answer looks like, provide all needed context, and let the model plan. Many APIs expose an effort or thinking-budget setting. Because reasoning models are slower and more expensive, a common architecture routes easy requests to a fast standard model and hard ones to a reasoning model, which students can consider in their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complex tasks, one giant prompt is hard to debug. Prompt chaining splits the work into steps, each with its own prompt and its own test. The example chain is for writing a report from a source document: extract facts, verify them against the source, draft from verified facts only, critique against a checklist, and finalise. Each step can use a different model or plain code; for instance, verification of dates or numbers is best done by code. This idea leads directly to workflows and agents in week 12, where the steps become tool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schema is a contract about output structure. Here the Request model specifies fields, allowed request labels and checks for the ID and date spelling. try_parse first finds a JSON object and decodes it, then constructs Request to run those checks. parse_with_retry returns immediately when validation succeeds. If parsing or validation fails, it sends the response and error back to the model and tries once more; a second failure returns None. This is a controlled repair path rather than an unlimited loop. Validation is weaker than factual checking: a different eight-digit ID can pass while referring to the wrong student. The date validator checks a YYYY-MM-DD pattern, rather than whether that date exists in the calendar. The lab therefore also compares extracted fields with the labelled reference values.
Worked example:
Aoife's email supplies a name, an eight-digit ID, an extension request and a date.
The prompt asks for those four fields, with null when no date is present.
Malformed JSON or a seven-digit ID triggers the error-handling branch.
A corrected response is checked once more; a second failure returns None.
A valid object is separately compared with gold values to measure correctness.
Check: Would the wrong student ID pass validation if it still contained eight digits?
Answer: Yes. The format check would pass; comparison with the source and reference is needed to detect the wrong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Applications need machine-readable outputs. Define the expected structure as a schema, here with the pydantic library. The OpenAI, Gemini and other APIs can constrain decoding so that the output always matches a JSON schema, and open-model libraries offer the same. Whether or not the API enforces it, validate in code and, on failure, retry with the validation error, which fixes most format errors. The crucial lesson, echoed in Google's structured-output documentation, is that a valid structure says nothing about whether the values are correct; field-level accuracy must still be evaluated.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engineering, a term popularised in 2025 by Anthropic and others, is the natural extension of prompt engineering for applications and agents: deciding what information fills the limited context window at each step. Sources compete for space: instructions, the user's query, retrieved documents, conversation memory and tool outputs. Good practice is to select only what is relevant, summarise or compress old history, order content deliberately, for example Anthropic recommends placing long documents before the question, and delimit and label each source. Irrelevant context can distract the model and increases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tasks need different prompt emphases. Summaries need an audience, length and faithfulness instruction. Extraction needs a schema and a rule for missing values. Classification needs the full label set, ideally with a one-line definition of each. Code prompts should state versions and interfaces and ask for tests; always run the code. Image prompts, from week 4, describe subject, style, composition and lighting, with negative prompts. For data analysis, ask the model to write code that computes the numbers rather than computing them in its head, which avoids arithmetic hallucination.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Section four is the most important for MIMLO 4 and for the project. We set out an evaluation loop, compare the families of evaluation methods, compute a reference-based metric by hand, discuss LLM-as-a-judge and its biases, look at a rubric for human evaluation, and finish with the statistics needed to avoid fooling ourselves with small test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loop is how professional teams develop LLM features; OpenAI's evaluation best-practices guide describes the same cycle. Define success criteria before writing prompts. Build a test set from realistic inputs, including hard and edge cases, and keep a held-out part you do not look at while tuning. Run with fixed settings and log model version, prompt version and outputs. Score with a combination of methods. Most importantly, read the failures and group them: error analysis tells you whether to change the prompt, add context, change the model, or accept a limitation. Every project must include such a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single method fits every output. Closed answers, such as labels, numbers and extracted fields, use exact match, accuracy or F1. Free text compared with references can use overlap metrics such as BLEU for translation and ROUGE for summarisation, but these miss paraphrases. Embedding similarity handles paraphrase but not correctness. Programmatic checks, such as schema validation and unit tests for code, are cheap and reliable for what they cover. LLM-as-a-judge scales rubric-based evaluation. Human evaluation remains the reference. Good evaluations combine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through the example. The reference has eight words, the output six; five words overlap, so recall is five eighths and precision five sixths, and the F1 is about 0.71. ROUGE-2 would count overlapping word pairs instead. Then show the limitation with the paraphrase: 'marks come out a month later' means the same thing but shares almost no words with the reference, so it scores near zero. Reference-based metrics are cheap and reproducible, but for LLM outputs they must be combined with semantic or human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a model to evaluate another model's output is now standard because it scales. Zheng and colleagues' MT-Bench study found that strong model judges agreed with human preferences about as often as humans agreed with each other, around eighty percent. But judges are biased. They may prefer whichever answer is shown first, prefer longer answers, prefer outputs from their own model family, and be swayed by a confident tone. The lab measures position bias by swapping answer order. The rule for the project: an LLM judge may be used only if calibrated against a sample of human labels, with agreement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Human evaluation needs a rubric to be consistent. Criteria should be few and distinct, with anchored descriptions for low, middle and high scores so raters interpret them the same way. Faithfulness comes first for summaries, because hallucinated content is the most harmful failure. Use at least two raters on a sample of outputs, measure inter-rater agreement, for example with Cohen's kappa, and discuss disagreements to refine the rubric. The same rubric can then be given to an LLM judge, whose scores are validated against the human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routinely conclude that one prompt is better from a two-point difference on thirty examples. Give them the rule of thumb: the standard error of an accuracy p on n items is the square root of p times one minus p over n; for eighty percent on forty items that is about 6.3 points, so the ninety-five percent margin is about plus or minus twelve points. Paired comparison on the same items is more sensitive: look at the items where the prompts disagree. Use several seeds for sampled outputs, a held-out set, and report everything needed to reproduce the result. This slide is examinable.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section covers the limitations and challenges listed in the descriptor: hallucination, sensitivity to prompt wording, and security issues including prompt injection and jailbreaks, with a real measurement from the lab; then the supporting tools used in practice, and the responsible-AI lens for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limitations are properties of the models, so good prompts can mitigate but not remove them. Hallucination is reduced by providing context and permission to abstain, but must be verified. Prompt sensitivity means results should always be reported with the exact prompt. The knowledge cut-off is why retrieval and tools exist. Sycophancy, the tendency to agree with the user, is a documented effect of preference training: asking are you sure can make a model abandon a correct answer. Bias should be tested by varying names and demographic details in otherwise identical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injection is the top security risk for LLM applications in the OWASP list for LLMs. In direct injection or jailbreaking, the user tries to make the model ignore its rules. Indirect injection is subtler and more dangerous for applications: malicious instructions are placed in content the model processes, such as a web page, an email or a document in a retrieval index. The chart shows our lab measurement of how often the small model obeyed injected instructions with a naive prompt and with a defended prompt using delimiters and a system rule. The defence helps but does not solve the problem, because instructions and data share the same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descriptor lists supporting tools. Playgrounds let you iterate and compare models interactively, and all three major vendors provide one with free access for experimentation. Treat prompts as code: version them, template them and log changes. Evaluation frameworks such as OpenAI Evals, promptfoo, the UK AI Security Institute's Inspect, and LangSmith run test sets and compare versions automatically. Prompt optimisers such as DSPy automate the search for better prompts against a metric you define. Observability and guardrails matter once an application is deployed, covered in week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Responsible prompting has four practical elements. Privacy: every prompt is data sent to a model, possibly a third-party service, so the week 1 checklist applies. Bias testing: counterfactual test cases that vary only names or demographic details reveal unequal treatment, and should be part of every test set in the project. Over-reliance: the better outputs look, the more people trust them, so critical workflows need verification steps. Transparency: disclose AI assistance and keep records. The overarching message is that evaluation is itself the core responsible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reuses model calls but changes the success criterion for each task. Classification checks a team label; arithmetic checks the final numerical answer; extraction checks structure and values separately. Self-consistency samples several responses and selects the most common parsed answer, increasing output-token cost without guaranteeing truth. The injection experiment compares a simple summary prompt with one that explicitly treats document text as data. Its hijacked detector is a keyword heuristic, so a flagged word may appear in a harmless quotation and an attack may succeed without those words. The judge experiment swaps answer order to reveal position effects. Inspect the actual A/B verdicts: the current consistency expression can count two invalid replies as consistent. These are separate experiments, and each metric should be read together with concrete output examples and its limitations.
Worked example:
For ticket routing, score the permitted label rather than the confidence of the prose.
For arithmetic, extract the final number and compare it with the known answer.
For extraction, count valid output and correct fields as separate results.
For hostile documents, inspect the output as well as the keyword detector.
For judging, swap A and B and inspect invalid verdicts before reporting consistency.
Check: Why inspect examples even after an automatic metric has been calculated?
Answer: Parsers and detectors can miss failures or flag harmless outputs; examples show what the measurement actually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implements the descriptor's tutorial: case studies in prompt engineering with different prompt styles on pre-trained LLMs, extended with a proper evaluation harness. All experiments use a small open model so that every student can run them without cost; the same harness works with API models, which groups can use in their projects. The slide results came from exactly this notebook. Emphasise the written answers: they ask students to interpret numbers critically, including whether differences are significant.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eight points. The two ideas to remember: structure prompts deliberately, and never claim a prompt is better without measuring it on a test set. Next week we move to the next level of adaptation: fine-tuning, including supervised fine-tuning, preference alignment such as RLHF and DPO, and parameter-efficient methods such as LoRA, which students will apply in the lab. The evaluation harness from today will be used to compare base and fine-tuned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vendor guides from OpenAI, Google and Anthropic are the most authoritative, current references for prompting; students should read at least one in full. Anthropic's interactive tutorial is a hands-on course in notebooks. The context engineering article extends prompting to agents. OpenAI's evaluation guide describes the evaluation loop we used. The chain-of-thought and LLM-as-a-judge papers are the key research references. Ozdemir's Quick Start Guide, from the descriptor reading list, also has good chapters on prompting. All links were checked in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slideLayout" Target="../slideLayouts/slideLayout1.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1.xml"/><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image" Target="../media/image-43-8.png"/><Relationship Id="rId9" Type="http://schemas.openxmlformats.org/officeDocument/2006/relationships/slideLayout" Target="../slideLayouts/slideLayout1.xml"/><Relationship Id="rId10"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developers.openai.com/api/docs/guides/prompt-engineering" TargetMode="External"/><Relationship Id="rId4" Type="http://schemas.openxmlformats.org/officeDocument/2006/relationships/hyperlink" Target="https://ai.google.dev/gemini-api/docs/prompting-strategies" TargetMode="External"/><Relationship Id="rId6" Type="http://schemas.openxmlformats.org/officeDocument/2006/relationships/hyperlink" Target="https://github.com/anthropics/prompt-eng-interactive-tutorial" TargetMode="External"/><Relationship Id="rId8" Type="http://schemas.openxmlformats.org/officeDocument/2006/relationships/hyperlink" Target="https://www.anthropic.com/engineering/effective-context-engineering-for-ai-agents" TargetMode="External"/><Relationship Id="rId10" Type="http://schemas.openxmlformats.org/officeDocument/2006/relationships/hyperlink" Target="https://developers.openai.com/api/docs/guides/evaluation-best-practices" TargetMode="External"/><Relationship Id="rId12" Type="http://schemas.openxmlformats.org/officeDocument/2006/relationships/hyperlink" Target="https://ai.google.dev/gemini-api/docs/structured-output" TargetMode="External"/><Relationship Id="rId14" Type="http://schemas.openxmlformats.org/officeDocument/2006/relationships/hyperlink" Target="https://arxiv.org/abs/2201.11903" TargetMode="External"/><Relationship Id="rId16" Type="http://schemas.openxmlformats.org/officeDocument/2006/relationships/hyperlink" Target="https://arxiv.org/abs/2306.05685" TargetMode="External"/><Relationship Id="rId1" Type="http://schemas.openxmlformats.org/officeDocument/2006/relationships/image" Target="../media/image-44-1.png"/><Relationship Id="rId3" Type="http://schemas.openxmlformats.org/officeDocument/2006/relationships/image" Target="../media/image-44-2.png"/><Relationship Id="rId5" Type="http://schemas.openxmlformats.org/officeDocument/2006/relationships/image" Target="../media/image-44-3.png"/><Relationship Id="rId7" Type="http://schemas.openxmlformats.org/officeDocument/2006/relationships/image" Target="../media/image-44-4.png"/><Relationship Id="rId9" Type="http://schemas.openxmlformats.org/officeDocument/2006/relationships/image" Target="../media/image-44-5.png"/><Relationship Id="rId11" Type="http://schemas.openxmlformats.org/officeDocument/2006/relationships/image" Target="../media/image-44-6.png"/><Relationship Id="rId13" Type="http://schemas.openxmlformats.org/officeDocument/2006/relationships/image" Target="../media/image-44-7.png"/><Relationship Id="rId15" Type="http://schemas.openxmlformats.org/officeDocument/2006/relationships/image" Target="../media/image-44-8.png"/><Relationship Id="rId17" Type="http://schemas.openxmlformats.org/officeDocument/2006/relationships/slideLayout" Target="../slideLayouts/slideLayout1.xml"/><Relationship Id="rId18"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07</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600" b="1" dirty="0">
                <a:solidFill>
                  <a:srgbClr val="FFFFFF"/>
                </a:solidFill>
                <a:latin typeface="Calibri" pitchFamily="34" charset="0"/>
                <a:ea typeface="Calibri" pitchFamily="34" charset="-122"/>
                <a:cs typeface="Calibri" pitchFamily="34" charset="-120"/>
              </a:rPr>
              <a:t>Prompt Engineering and evaluation</a:t>
            </a:r>
            <a:endParaRPr lang="en-US" sz="46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Getting reliable results from language models: prompting techniques, structured outputs, context engineering, and how to evaluate them</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3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300" dirty="0"/>
          </a:p>
        </p:txBody>
      </p:sp>
      <p:pic>
        <p:nvPicPr>
          <p:cNvPr id="7" name="Image 0" descr="C:\Users\sudee\Downloads\Generative_AI_2027_Teaching_Pack\AI2027_Project\build\figures\week_07\cover.png">    </p:cNvPr>
          <p:cNvPicPr>
            <a:picLocks noChangeAspect="1"/>
          </p:cNvPicPr>
          <p:nvPr/>
        </p:nvPicPr>
        <p:blipFill>
          <a:blip r:embed="rId1"/>
          <a:stretch>
            <a:fillRect/>
          </a:stretch>
        </p:blipFill>
        <p:spPr>
          <a:xfrm>
            <a:off x="7818120" y="1520258"/>
            <a:ext cx="3840480" cy="38174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1577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Explain the </a:t>
            </a:r>
            <a:pPr indent="0" marL="0">
              <a:buNone/>
            </a:pPr>
            <a:r>
              <a:rPr lang="en-US" sz="1600" b="1" dirty="0">
                <a:solidFill>
                  <a:srgbClr val="1F2937"/>
                </a:solidFill>
                <a:latin typeface="Calibri" pitchFamily="34" charset="0"/>
                <a:ea typeface="Calibri" pitchFamily="34" charset="-122"/>
                <a:cs typeface="Calibri" pitchFamily="34" charset="-120"/>
              </a:rPr>
              <a:t>paradigm shift</a:t>
            </a:r>
            <a:pPr indent="0" marL="0">
              <a:buNone/>
            </a:pPr>
            <a:r>
              <a:rPr lang="en-US" sz="1600" dirty="0">
                <a:solidFill>
                  <a:srgbClr val="1F2937"/>
                </a:solidFill>
                <a:latin typeface="Calibri" pitchFamily="34" charset="0"/>
                <a:ea typeface="Calibri" pitchFamily="34" charset="-122"/>
                <a:cs typeface="Calibri" pitchFamily="34" charset="-120"/>
              </a:rPr>
              <a:t> from pre-training and fine-tuning to prompt-based use and </a:t>
            </a:r>
            <a:pPr indent="0" marL="0">
              <a:buNone/>
            </a:pPr>
            <a:r>
              <a:rPr lang="en-US" sz="1600" b="1" dirty="0">
                <a:solidFill>
                  <a:srgbClr val="1F2937"/>
                </a:solidFill>
                <a:latin typeface="Calibri" pitchFamily="34" charset="0"/>
                <a:ea typeface="Calibri" pitchFamily="34" charset="-122"/>
                <a:cs typeface="Calibri" pitchFamily="34" charset="-120"/>
              </a:rPr>
              <a:t>in-context learning</a:t>
            </a:r>
            <a:pPr indent="0" marL="0">
              <a:buNone/>
            </a:pPr>
            <a:r>
              <a:rPr lang="en-US" sz="1600" dirty="0">
                <a:solidFill>
                  <a:srgbClr val="1F2937"/>
                </a:solidFill>
                <a:latin typeface="Calibri" pitchFamily="34" charset="0"/>
                <a:ea typeface="Calibri" pitchFamily="34" charset="-122"/>
                <a:cs typeface="Calibri" pitchFamily="34" charset="-120"/>
              </a:rPr>
              <a:t>.</a:t>
            </a:r>
            <a:endParaRPr lang="en-US" sz="1600" dirty="0"/>
          </a:p>
        </p:txBody>
      </p:sp>
      <p:sp>
        <p:nvSpPr>
          <p:cNvPr id="9" name="Shape 7"/>
          <p:cNvSpPr/>
          <p:nvPr/>
        </p:nvSpPr>
        <p:spPr>
          <a:xfrm>
            <a:off x="548640" y="226110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2611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42820"/>
            <a:ext cx="6903720" cy="71577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Write well-structured prompts using </a:t>
            </a:r>
            <a:pPr indent="0" marL="0">
              <a:buNone/>
            </a:pPr>
            <a:r>
              <a:rPr lang="en-US" sz="1600" b="1" dirty="0">
                <a:solidFill>
                  <a:srgbClr val="1F2937"/>
                </a:solidFill>
                <a:latin typeface="Calibri" pitchFamily="34" charset="0"/>
                <a:ea typeface="Calibri" pitchFamily="34" charset="-122"/>
                <a:cs typeface="Calibri" pitchFamily="34" charset="-120"/>
              </a:rPr>
              <a:t>system and user messages</a:t>
            </a:r>
            <a:pPr indent="0" marL="0">
              <a:buNone/>
            </a:pPr>
            <a:r>
              <a:rPr lang="en-US" sz="1600" dirty="0">
                <a:solidFill>
                  <a:srgbClr val="1F2937"/>
                </a:solidFill>
                <a:latin typeface="Calibri" pitchFamily="34" charset="0"/>
                <a:ea typeface="Calibri" pitchFamily="34" charset="-122"/>
                <a:cs typeface="Calibri" pitchFamily="34" charset="-120"/>
              </a:rPr>
              <a:t>, context, examples and an output format.</a:t>
            </a:r>
            <a:endParaRPr lang="en-US" sz="1600" dirty="0"/>
          </a:p>
        </p:txBody>
      </p:sp>
      <p:sp>
        <p:nvSpPr>
          <p:cNvPr id="12" name="Shape 10"/>
          <p:cNvSpPr/>
          <p:nvPr/>
        </p:nvSpPr>
        <p:spPr>
          <a:xfrm>
            <a:off x="548640" y="297688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29768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2958592"/>
            <a:ext cx="6903720" cy="95961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Apply </a:t>
            </a:r>
            <a:pPr indent="0" marL="0">
              <a:buNone/>
            </a:pPr>
            <a:r>
              <a:rPr lang="en-US" sz="1600" b="1" dirty="0">
                <a:solidFill>
                  <a:srgbClr val="1F2937"/>
                </a:solidFill>
                <a:latin typeface="Calibri" pitchFamily="34" charset="0"/>
                <a:ea typeface="Calibri" pitchFamily="34" charset="-122"/>
                <a:cs typeface="Calibri" pitchFamily="34" charset="-120"/>
              </a:rPr>
              <a:t>zero-shot, one-shot, few-shot and role-based</a:t>
            </a:r>
            <a:pPr indent="0" marL="0">
              <a:buNone/>
            </a:pPr>
            <a:r>
              <a:rPr lang="en-US" sz="1600" dirty="0">
                <a:solidFill>
                  <a:srgbClr val="1F2937"/>
                </a:solidFill>
                <a:latin typeface="Calibri" pitchFamily="34" charset="0"/>
                <a:ea typeface="Calibri" pitchFamily="34" charset="-122"/>
                <a:cs typeface="Calibri" pitchFamily="34" charset="-120"/>
              </a:rPr>
              <a:t> prompting, </a:t>
            </a:r>
            <a:pPr indent="0" marL="0">
              <a:buNone/>
            </a:pPr>
            <a:r>
              <a:rPr lang="en-US" sz="1600" b="1" dirty="0">
                <a:solidFill>
                  <a:srgbClr val="1F2937"/>
                </a:solidFill>
                <a:latin typeface="Calibri" pitchFamily="34" charset="0"/>
                <a:ea typeface="Calibri" pitchFamily="34" charset="-122"/>
                <a:cs typeface="Calibri" pitchFamily="34" charset="-120"/>
              </a:rPr>
              <a:t>chain-of-thought</a:t>
            </a:r>
            <a:pPr indent="0" marL="0">
              <a:buNone/>
            </a:pPr>
            <a:r>
              <a:rPr lang="en-US" sz="1600" dirty="0">
                <a:solidFill>
                  <a:srgbClr val="1F2937"/>
                </a:solidFill>
                <a:latin typeface="Calibri" pitchFamily="34" charset="0"/>
                <a:ea typeface="Calibri" pitchFamily="34" charset="-122"/>
                <a:cs typeface="Calibri" pitchFamily="34" charset="-120"/>
              </a:rPr>
              <a:t>, self-consistency and prompt chaining; prompt </a:t>
            </a:r>
            <a:pPr indent="0" marL="0">
              <a:buNone/>
            </a:pPr>
            <a:r>
              <a:rPr lang="en-US" sz="1600" b="1" dirty="0">
                <a:solidFill>
                  <a:srgbClr val="1F2937"/>
                </a:solidFill>
                <a:latin typeface="Calibri" pitchFamily="34" charset="0"/>
                <a:ea typeface="Calibri" pitchFamily="34" charset="-122"/>
                <a:cs typeface="Calibri" pitchFamily="34" charset="-120"/>
              </a:rPr>
              <a:t>reasoning models</a:t>
            </a:r>
            <a:pPr indent="0" marL="0">
              <a:buNone/>
            </a:pPr>
            <a:r>
              <a:rPr lang="en-US" sz="1600" dirty="0">
                <a:solidFill>
                  <a:srgbClr val="1F2937"/>
                </a:solidFill>
                <a:latin typeface="Calibri" pitchFamily="34" charset="0"/>
                <a:ea typeface="Calibri" pitchFamily="34" charset="-122"/>
                <a:cs typeface="Calibri" pitchFamily="34" charset="-120"/>
              </a:rPr>
              <a:t> appropriately.</a:t>
            </a:r>
            <a:endParaRPr lang="en-US" sz="1600" dirty="0"/>
          </a:p>
        </p:txBody>
      </p:sp>
      <p:sp>
        <p:nvSpPr>
          <p:cNvPr id="15" name="Shape 13"/>
          <p:cNvSpPr/>
          <p:nvPr/>
        </p:nvSpPr>
        <p:spPr>
          <a:xfrm>
            <a:off x="548640" y="393649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9364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918204"/>
            <a:ext cx="6903720" cy="71577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Produce and validate </a:t>
            </a:r>
            <a:pPr indent="0" marL="0">
              <a:buNone/>
            </a:pPr>
            <a:r>
              <a:rPr lang="en-US" sz="1600" b="1" dirty="0">
                <a:solidFill>
                  <a:srgbClr val="1F2937"/>
                </a:solidFill>
                <a:latin typeface="Calibri" pitchFamily="34" charset="0"/>
                <a:ea typeface="Calibri" pitchFamily="34" charset="-122"/>
                <a:cs typeface="Calibri" pitchFamily="34" charset="-120"/>
              </a:rPr>
              <a:t>structured outputs</a:t>
            </a:r>
            <a:pPr indent="0" marL="0">
              <a:buNone/>
            </a:pPr>
            <a:r>
              <a:rPr lang="en-US" sz="1600" dirty="0">
                <a:solidFill>
                  <a:srgbClr val="1F2937"/>
                </a:solidFill>
                <a:latin typeface="Calibri" pitchFamily="34" charset="0"/>
                <a:ea typeface="Calibri" pitchFamily="34" charset="-122"/>
                <a:cs typeface="Calibri" pitchFamily="34" charset="-120"/>
              </a:rPr>
              <a:t> and practise </a:t>
            </a:r>
            <a:pPr indent="0" marL="0">
              <a:buNone/>
            </a:pPr>
            <a:r>
              <a:rPr lang="en-US" sz="1600" b="1" dirty="0">
                <a:solidFill>
                  <a:srgbClr val="1F2937"/>
                </a:solidFill>
                <a:latin typeface="Calibri" pitchFamily="34" charset="0"/>
                <a:ea typeface="Calibri" pitchFamily="34" charset="-122"/>
                <a:cs typeface="Calibri" pitchFamily="34" charset="-120"/>
              </a:rPr>
              <a:t>context engineering</a:t>
            </a:r>
            <a:pPr indent="0" marL="0">
              <a:buNone/>
            </a:pPr>
            <a:r>
              <a:rPr lang="en-US" sz="1600" dirty="0">
                <a:solidFill>
                  <a:srgbClr val="1F2937"/>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48640" y="465226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6522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633976"/>
            <a:ext cx="6903720" cy="95961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Evaluate prompts and outputs with </a:t>
            </a:r>
            <a:pPr indent="0" marL="0">
              <a:buNone/>
            </a:pPr>
            <a:r>
              <a:rPr lang="en-US" sz="1600" b="1" dirty="0">
                <a:solidFill>
                  <a:srgbClr val="1F2937"/>
                </a:solidFill>
                <a:latin typeface="Calibri" pitchFamily="34" charset="0"/>
                <a:ea typeface="Calibri" pitchFamily="34" charset="-122"/>
                <a:cs typeface="Calibri" pitchFamily="34" charset="-120"/>
              </a:rPr>
              <a:t>test sets, rubrics, reference-based metrics, LLM-as-a-judge and human evaluation</a:t>
            </a:r>
            <a:pPr indent="0" marL="0">
              <a:buNone/>
            </a:pPr>
            <a:r>
              <a:rPr lang="en-US" sz="1600" dirty="0">
                <a:solidFill>
                  <a:srgbClr val="1F2937"/>
                </a:solidFill>
                <a:latin typeface="Calibri" pitchFamily="34" charset="0"/>
                <a:ea typeface="Calibri" pitchFamily="34" charset="-122"/>
                <a:cs typeface="Calibri" pitchFamily="34" charset="-120"/>
              </a:rPr>
              <a:t>, with attention to statistics and bias.</a:t>
            </a:r>
            <a:endParaRPr lang="en-US" sz="1600" dirty="0"/>
          </a:p>
        </p:txBody>
      </p:sp>
      <p:sp>
        <p:nvSpPr>
          <p:cNvPr id="21" name="Shape 19"/>
          <p:cNvSpPr/>
          <p:nvPr/>
        </p:nvSpPr>
        <p:spPr>
          <a:xfrm>
            <a:off x="548640" y="561187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61187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93588"/>
            <a:ext cx="6903720" cy="71577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Recognise limitations and risks (</a:t>
            </a:r>
            <a:pPr indent="0" marL="0">
              <a:buNone/>
            </a:pPr>
            <a:r>
              <a:rPr lang="en-US" sz="1600" b="1" dirty="0">
                <a:solidFill>
                  <a:srgbClr val="1F2937"/>
                </a:solidFill>
                <a:latin typeface="Calibri" pitchFamily="34" charset="0"/>
                <a:ea typeface="Calibri" pitchFamily="34" charset="-122"/>
                <a:cs typeface="Calibri" pitchFamily="34" charset="-120"/>
              </a:rPr>
              <a:t>hallucination, prompt sensitivity, prompt injection</a:t>
            </a:r>
            <a:pPr indent="0" marL="0">
              <a:buNone/>
            </a:pPr>
            <a:r>
              <a:rPr lang="en-US" sz="1600" dirty="0">
                <a:solidFill>
                  <a:srgbClr val="1F2937"/>
                </a:solidFill>
                <a:latin typeface="Calibri" pitchFamily="34" charset="0"/>
                <a:ea typeface="Calibri" pitchFamily="34" charset="-122"/>
                <a:cs typeface="Calibri" pitchFamily="34" charset="-120"/>
              </a:rPr>
              <a:t>) and use supporting tools.</a:t>
            </a:r>
            <a:endParaRPr lang="en-US" sz="16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1</a:t>
            </a:r>
            <a:endParaRPr lang="en-US" sz="13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Explain core concepts, maths and model families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4</a:t>
            </a:r>
            <a:endParaRPr lang="en-US" sz="13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
        <p:nvSpPr>
          <p:cNvPr id="32" name="Shape 30"/>
          <p:cNvSpPr/>
          <p:nvPr/>
        </p:nvSpPr>
        <p:spPr>
          <a:xfrm>
            <a:off x="8686800" y="4773168"/>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77316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5</a:t>
            </a:r>
            <a:endParaRPr lang="en-US" sz="1300" dirty="0"/>
          </a:p>
        </p:txBody>
      </p:sp>
      <p:sp>
        <p:nvSpPr>
          <p:cNvPr id="34" name="Text 32"/>
          <p:cNvSpPr txBox="1"/>
          <p:nvPr/>
        </p:nvSpPr>
        <p:spPr>
          <a:xfrm>
            <a:off x="8641080" y="515721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Deploy models; build RAG and agentic systems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Today's plan</a:t>
            </a:r>
            <a:endParaRPr lang="en-US" sz="3200" dirty="0"/>
          </a:p>
        </p:txBody>
      </p:sp>
      <p:sp>
        <p:nvSpPr>
          <p:cNvPr id="6" name="Shape 4"/>
          <p:cNvSpPr/>
          <p:nvPr/>
        </p:nvSpPr>
        <p:spPr>
          <a:xfrm>
            <a:off x="548640" y="1572768"/>
            <a:ext cx="8686800" cy="566928"/>
          </a:xfrm>
          <a:prstGeom prst="roundRect">
            <a:avLst>
              <a:gd name="adj" fmla="val 16129"/>
            </a:avLst>
          </a:prstGeom>
          <a:solidFill>
            <a:srgbClr val="EEF0FF"/>
          </a:solidFill>
          <a:ln w="12700">
            <a:solidFill>
              <a:srgbClr val="EEF0FF"/>
            </a:solidFill>
            <a:prstDash val="solid"/>
          </a:ln>
        </p:spPr>
      </p:sp>
      <p:sp>
        <p:nvSpPr>
          <p:cNvPr id="7" name="Shape 5"/>
          <p:cNvSpPr/>
          <p:nvPr/>
        </p:nvSpPr>
        <p:spPr>
          <a:xfrm>
            <a:off x="685800" y="1664208"/>
            <a:ext cx="384048" cy="384048"/>
          </a:xfrm>
          <a:prstGeom prst="ellipse">
            <a:avLst/>
          </a:prstGeom>
          <a:solidFill>
            <a:srgbClr val="4F46E5"/>
          </a:solidFill>
          <a:ln w="12700">
            <a:solidFill>
              <a:srgbClr val="4F46E5"/>
            </a:solidFill>
            <a:prstDash val="solid"/>
          </a:ln>
        </p:spPr>
      </p:sp>
      <p:sp>
        <p:nvSpPr>
          <p:cNvPr id="8" name="Text 6"/>
          <p:cNvSpPr txBox="1"/>
          <p:nvPr/>
        </p:nvSpPr>
        <p:spPr>
          <a:xfrm>
            <a:off x="685800"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188720" y="157276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Warm-up: fix a bad prompt</a:t>
            </a:r>
            <a:endParaRPr lang="en-US" sz="1900" dirty="0"/>
          </a:p>
        </p:txBody>
      </p:sp>
      <p:sp>
        <p:nvSpPr>
          <p:cNvPr id="10" name="Text 8"/>
          <p:cNvSpPr txBox="1"/>
          <p:nvPr/>
        </p:nvSpPr>
        <p:spPr>
          <a:xfrm>
            <a:off x="8046720" y="157276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6 min</a:t>
            </a:r>
            <a:endParaRPr lang="en-US" sz="1400" dirty="0"/>
          </a:p>
        </p:txBody>
      </p:sp>
      <p:sp>
        <p:nvSpPr>
          <p:cNvPr id="11" name="Shape 9"/>
          <p:cNvSpPr/>
          <p:nvPr/>
        </p:nvSpPr>
        <p:spPr>
          <a:xfrm>
            <a:off x="548640" y="2249424"/>
            <a:ext cx="8686800" cy="566928"/>
          </a:xfrm>
          <a:prstGeom prst="roundRect">
            <a:avLst>
              <a:gd name="adj" fmla="val 16129"/>
            </a:avLst>
          </a:prstGeom>
          <a:solidFill>
            <a:srgbClr val="F5F3FF"/>
          </a:solidFill>
          <a:ln w="12700">
            <a:solidFill>
              <a:srgbClr val="EEF0FF"/>
            </a:solidFill>
            <a:prstDash val="solid"/>
          </a:ln>
        </p:spPr>
      </p:sp>
      <p:sp>
        <p:nvSpPr>
          <p:cNvPr id="12" name="Shape 10"/>
          <p:cNvSpPr/>
          <p:nvPr/>
        </p:nvSpPr>
        <p:spPr>
          <a:xfrm>
            <a:off x="685800" y="2340864"/>
            <a:ext cx="384048" cy="384048"/>
          </a:xfrm>
          <a:prstGeom prst="ellipse">
            <a:avLst/>
          </a:prstGeom>
          <a:solidFill>
            <a:srgbClr val="4F46E5"/>
          </a:solidFill>
          <a:ln w="12700">
            <a:solidFill>
              <a:srgbClr val="4F46E5"/>
            </a:solidFill>
            <a:prstDash val="solid"/>
          </a:ln>
        </p:spPr>
      </p:sp>
      <p:sp>
        <p:nvSpPr>
          <p:cNvPr id="13" name="Text 11"/>
          <p:cNvSpPr txBox="1"/>
          <p:nvPr/>
        </p:nvSpPr>
        <p:spPr>
          <a:xfrm>
            <a:off x="685800" y="23408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188720" y="224942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1 · The paradigm shift</a:t>
            </a:r>
            <a:endParaRPr lang="en-US" sz="1900" dirty="0"/>
          </a:p>
        </p:txBody>
      </p:sp>
      <p:sp>
        <p:nvSpPr>
          <p:cNvPr id="15" name="Text 13"/>
          <p:cNvSpPr txBox="1"/>
          <p:nvPr/>
        </p:nvSpPr>
        <p:spPr>
          <a:xfrm>
            <a:off x="8046720" y="224942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10 min</a:t>
            </a:r>
            <a:endParaRPr lang="en-US" sz="1400" dirty="0"/>
          </a:p>
        </p:txBody>
      </p:sp>
      <p:sp>
        <p:nvSpPr>
          <p:cNvPr id="16" name="Shape 14"/>
          <p:cNvSpPr/>
          <p:nvPr/>
        </p:nvSpPr>
        <p:spPr>
          <a:xfrm>
            <a:off x="548640" y="2926080"/>
            <a:ext cx="8686800" cy="566928"/>
          </a:xfrm>
          <a:prstGeom prst="roundRect">
            <a:avLst>
              <a:gd name="adj" fmla="val 16129"/>
            </a:avLst>
          </a:prstGeom>
          <a:solidFill>
            <a:srgbClr val="EEF0FF"/>
          </a:solidFill>
          <a:ln w="12700">
            <a:solidFill>
              <a:srgbClr val="EEF0FF"/>
            </a:solidFill>
            <a:prstDash val="solid"/>
          </a:ln>
        </p:spPr>
      </p:sp>
      <p:sp>
        <p:nvSpPr>
          <p:cNvPr id="17" name="Shape 15"/>
          <p:cNvSpPr/>
          <p:nvPr/>
        </p:nvSpPr>
        <p:spPr>
          <a:xfrm>
            <a:off x="685800" y="3017520"/>
            <a:ext cx="384048" cy="384048"/>
          </a:xfrm>
          <a:prstGeom prst="ellipse">
            <a:avLst/>
          </a:prstGeom>
          <a:solidFill>
            <a:srgbClr val="4F46E5"/>
          </a:solidFill>
          <a:ln w="12700">
            <a:solidFill>
              <a:srgbClr val="4F46E5"/>
            </a:solidFill>
            <a:prstDash val="solid"/>
          </a:ln>
        </p:spPr>
      </p:sp>
      <p:sp>
        <p:nvSpPr>
          <p:cNvPr id="18" name="Text 16"/>
          <p:cNvSpPr txBox="1"/>
          <p:nvPr/>
        </p:nvSpPr>
        <p:spPr>
          <a:xfrm>
            <a:off x="685800" y="30175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188720" y="2926080"/>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2 · Anatomy of a prompt and basic techniques</a:t>
            </a:r>
            <a:endParaRPr lang="en-US" sz="1900" dirty="0"/>
          </a:p>
        </p:txBody>
      </p:sp>
      <p:sp>
        <p:nvSpPr>
          <p:cNvPr id="20" name="Text 18"/>
          <p:cNvSpPr txBox="1"/>
          <p:nvPr/>
        </p:nvSpPr>
        <p:spPr>
          <a:xfrm>
            <a:off x="8046720" y="2926080"/>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25 min</a:t>
            </a:r>
            <a:endParaRPr lang="en-US" sz="1400" dirty="0"/>
          </a:p>
        </p:txBody>
      </p:sp>
      <p:sp>
        <p:nvSpPr>
          <p:cNvPr id="21" name="Shape 19"/>
          <p:cNvSpPr/>
          <p:nvPr/>
        </p:nvSpPr>
        <p:spPr>
          <a:xfrm>
            <a:off x="548640" y="3602736"/>
            <a:ext cx="8686800" cy="566928"/>
          </a:xfrm>
          <a:prstGeom prst="roundRect">
            <a:avLst>
              <a:gd name="adj" fmla="val 16129"/>
            </a:avLst>
          </a:prstGeom>
          <a:solidFill>
            <a:srgbClr val="F5F3FF"/>
          </a:solidFill>
          <a:ln w="12700">
            <a:solidFill>
              <a:srgbClr val="EEF0FF"/>
            </a:solidFill>
            <a:prstDash val="solid"/>
          </a:ln>
        </p:spPr>
      </p:sp>
      <p:sp>
        <p:nvSpPr>
          <p:cNvPr id="22" name="Shape 20"/>
          <p:cNvSpPr/>
          <p:nvPr/>
        </p:nvSpPr>
        <p:spPr>
          <a:xfrm>
            <a:off x="685800" y="3694176"/>
            <a:ext cx="384048" cy="384048"/>
          </a:xfrm>
          <a:prstGeom prst="ellipse">
            <a:avLst/>
          </a:prstGeom>
          <a:solidFill>
            <a:srgbClr val="4F46E5"/>
          </a:solidFill>
          <a:ln w="12700">
            <a:solidFill>
              <a:srgbClr val="4F46E5"/>
            </a:solidFill>
            <a:prstDash val="solid"/>
          </a:ln>
        </p:spPr>
      </p:sp>
      <p:sp>
        <p:nvSpPr>
          <p:cNvPr id="23" name="Text 21"/>
          <p:cNvSpPr txBox="1"/>
          <p:nvPr/>
        </p:nvSpPr>
        <p:spPr>
          <a:xfrm>
            <a:off x="685800" y="36941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1188720" y="3602736"/>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3 · Reasoning, structure and context</a:t>
            </a:r>
            <a:endParaRPr lang="en-US" sz="1900" dirty="0"/>
          </a:p>
        </p:txBody>
      </p:sp>
      <p:sp>
        <p:nvSpPr>
          <p:cNvPr id="25" name="Text 23"/>
          <p:cNvSpPr txBox="1"/>
          <p:nvPr/>
        </p:nvSpPr>
        <p:spPr>
          <a:xfrm>
            <a:off x="8046720" y="3602736"/>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25 min</a:t>
            </a:r>
            <a:endParaRPr lang="en-US" sz="1400" dirty="0"/>
          </a:p>
        </p:txBody>
      </p:sp>
      <p:sp>
        <p:nvSpPr>
          <p:cNvPr id="26" name="Shape 24"/>
          <p:cNvSpPr/>
          <p:nvPr/>
        </p:nvSpPr>
        <p:spPr>
          <a:xfrm>
            <a:off x="548640" y="4279392"/>
            <a:ext cx="8686800" cy="566928"/>
          </a:xfrm>
          <a:prstGeom prst="roundRect">
            <a:avLst>
              <a:gd name="adj" fmla="val 16129"/>
            </a:avLst>
          </a:prstGeom>
          <a:solidFill>
            <a:srgbClr val="EEF0FF"/>
          </a:solidFill>
          <a:ln w="12700">
            <a:solidFill>
              <a:srgbClr val="EEF0FF"/>
            </a:solidFill>
            <a:prstDash val="solid"/>
          </a:ln>
        </p:spPr>
      </p:sp>
      <p:sp>
        <p:nvSpPr>
          <p:cNvPr id="27" name="Shape 25"/>
          <p:cNvSpPr/>
          <p:nvPr/>
        </p:nvSpPr>
        <p:spPr>
          <a:xfrm>
            <a:off x="685800" y="4370832"/>
            <a:ext cx="384048" cy="384048"/>
          </a:xfrm>
          <a:prstGeom prst="ellipse">
            <a:avLst/>
          </a:prstGeom>
          <a:solidFill>
            <a:srgbClr val="4F46E5"/>
          </a:solidFill>
          <a:ln w="12700">
            <a:solidFill>
              <a:srgbClr val="4F46E5"/>
            </a:solidFill>
            <a:prstDash val="solid"/>
          </a:ln>
        </p:spPr>
      </p:sp>
      <p:sp>
        <p:nvSpPr>
          <p:cNvPr id="28" name="Text 26"/>
          <p:cNvSpPr txBox="1"/>
          <p:nvPr/>
        </p:nvSpPr>
        <p:spPr>
          <a:xfrm>
            <a:off x="685800" y="43708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1188720" y="4279392"/>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4 · Evaluation methods</a:t>
            </a:r>
            <a:endParaRPr lang="en-US" sz="1900" dirty="0"/>
          </a:p>
        </p:txBody>
      </p:sp>
      <p:sp>
        <p:nvSpPr>
          <p:cNvPr id="30" name="Text 28"/>
          <p:cNvSpPr txBox="1"/>
          <p:nvPr/>
        </p:nvSpPr>
        <p:spPr>
          <a:xfrm>
            <a:off x="8046720" y="4279392"/>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25 min</a:t>
            </a:r>
            <a:endParaRPr lang="en-US" sz="1400" dirty="0"/>
          </a:p>
        </p:txBody>
      </p:sp>
      <p:sp>
        <p:nvSpPr>
          <p:cNvPr id="31" name="Shape 29"/>
          <p:cNvSpPr/>
          <p:nvPr/>
        </p:nvSpPr>
        <p:spPr>
          <a:xfrm>
            <a:off x="548640" y="4956048"/>
            <a:ext cx="8686800" cy="566928"/>
          </a:xfrm>
          <a:prstGeom prst="roundRect">
            <a:avLst>
              <a:gd name="adj" fmla="val 16129"/>
            </a:avLst>
          </a:prstGeom>
          <a:solidFill>
            <a:srgbClr val="F5F3FF"/>
          </a:solidFill>
          <a:ln w="12700">
            <a:solidFill>
              <a:srgbClr val="EEF0FF"/>
            </a:solidFill>
            <a:prstDash val="solid"/>
          </a:ln>
        </p:spPr>
      </p:sp>
      <p:sp>
        <p:nvSpPr>
          <p:cNvPr id="32" name="Shape 30"/>
          <p:cNvSpPr/>
          <p:nvPr/>
        </p:nvSpPr>
        <p:spPr>
          <a:xfrm>
            <a:off x="685800" y="5047488"/>
            <a:ext cx="384048" cy="384048"/>
          </a:xfrm>
          <a:prstGeom prst="ellipse">
            <a:avLst/>
          </a:prstGeom>
          <a:solidFill>
            <a:srgbClr val="4F46E5"/>
          </a:solidFill>
          <a:ln w="12700">
            <a:solidFill>
              <a:srgbClr val="4F46E5"/>
            </a:solidFill>
            <a:prstDash val="solid"/>
          </a:ln>
        </p:spPr>
      </p:sp>
      <p:sp>
        <p:nvSpPr>
          <p:cNvPr id="33" name="Text 31"/>
          <p:cNvSpPr txBox="1"/>
          <p:nvPr/>
        </p:nvSpPr>
        <p:spPr>
          <a:xfrm>
            <a:off x="685800" y="5047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4" name="Text 32"/>
          <p:cNvSpPr txBox="1"/>
          <p:nvPr/>
        </p:nvSpPr>
        <p:spPr>
          <a:xfrm>
            <a:off x="1188720" y="495604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5 · Limitations, security and tools</a:t>
            </a:r>
            <a:endParaRPr lang="en-US" sz="1900" dirty="0"/>
          </a:p>
        </p:txBody>
      </p:sp>
      <p:sp>
        <p:nvSpPr>
          <p:cNvPr id="35" name="Text 33"/>
          <p:cNvSpPr txBox="1"/>
          <p:nvPr/>
        </p:nvSpPr>
        <p:spPr>
          <a:xfrm>
            <a:off x="8046720" y="495604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20 min</a:t>
            </a:r>
            <a:endParaRPr lang="en-US" sz="1400" dirty="0"/>
          </a:p>
        </p:txBody>
      </p:sp>
      <p:sp>
        <p:nvSpPr>
          <p:cNvPr id="36" name="Shape 34"/>
          <p:cNvSpPr/>
          <p:nvPr/>
        </p:nvSpPr>
        <p:spPr>
          <a:xfrm>
            <a:off x="548640" y="5632704"/>
            <a:ext cx="8686800" cy="566928"/>
          </a:xfrm>
          <a:prstGeom prst="roundRect">
            <a:avLst>
              <a:gd name="adj" fmla="val 16129"/>
            </a:avLst>
          </a:prstGeom>
          <a:solidFill>
            <a:srgbClr val="EEF0FF"/>
          </a:solidFill>
          <a:ln w="12700">
            <a:solidFill>
              <a:srgbClr val="EEF0FF"/>
            </a:solidFill>
            <a:prstDash val="solid"/>
          </a:ln>
        </p:spPr>
      </p:sp>
      <p:sp>
        <p:nvSpPr>
          <p:cNvPr id="37" name="Shape 35"/>
          <p:cNvSpPr/>
          <p:nvPr/>
        </p:nvSpPr>
        <p:spPr>
          <a:xfrm>
            <a:off x="685800" y="5724144"/>
            <a:ext cx="384048" cy="384048"/>
          </a:xfrm>
          <a:prstGeom prst="ellipse">
            <a:avLst/>
          </a:prstGeom>
          <a:solidFill>
            <a:srgbClr val="4F46E5"/>
          </a:solidFill>
          <a:ln w="12700">
            <a:solidFill>
              <a:srgbClr val="4F46E5"/>
            </a:solidFill>
            <a:prstDash val="solid"/>
          </a:ln>
        </p:spPr>
      </p:sp>
      <p:sp>
        <p:nvSpPr>
          <p:cNvPr id="38" name="Text 36"/>
          <p:cNvSpPr txBox="1"/>
          <p:nvPr/>
        </p:nvSpPr>
        <p:spPr>
          <a:xfrm>
            <a:off x="685800" y="57241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9" name="Text 37"/>
          <p:cNvSpPr txBox="1"/>
          <p:nvPr/>
        </p:nvSpPr>
        <p:spPr>
          <a:xfrm>
            <a:off x="1188720" y="563270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Lab preview and wrap-up</a:t>
            </a:r>
            <a:endParaRPr lang="en-US" sz="1900" dirty="0"/>
          </a:p>
        </p:txBody>
      </p:sp>
      <p:sp>
        <p:nvSpPr>
          <p:cNvPr id="40" name="Text 38"/>
          <p:cNvSpPr txBox="1"/>
          <p:nvPr/>
        </p:nvSpPr>
        <p:spPr>
          <a:xfrm>
            <a:off x="8046720" y="563270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6 min</a:t>
            </a:r>
            <a:endParaRPr lang="en-US" sz="1400" dirty="0"/>
          </a:p>
        </p:txBody>
      </p:sp>
      <p:sp>
        <p:nvSpPr>
          <p:cNvPr id="41" name="Shape 39"/>
          <p:cNvSpPr/>
          <p:nvPr/>
        </p:nvSpPr>
        <p:spPr>
          <a:xfrm>
            <a:off x="9784080" y="2377440"/>
            <a:ext cx="1737360" cy="1737360"/>
          </a:xfrm>
          <a:prstGeom prst="ellipse">
            <a:avLst/>
          </a:prstGeom>
          <a:solidFill>
            <a:srgbClr val="EEF0FF"/>
          </a:solidFill>
          <a:ln w="12700">
            <a:solidFill>
              <a:srgbClr val="EEF0FF"/>
            </a:solidFill>
            <a:prstDash val="solid"/>
          </a:ln>
        </p:spPr>
      </p:sp>
      <p:pic>
        <p:nvPicPr>
          <p:cNvPr id="42" name="Image 0" descr="preencoded.png">    </p:cNvPr>
          <p:cNvPicPr>
            <a:picLocks noChangeAspect="1"/>
          </p:cNvPicPr>
          <p:nvPr/>
        </p:nvPicPr>
        <p:blipFill>
          <a:blip r:embed="rId1"/>
          <a:stretch>
            <a:fillRect/>
          </a:stretch>
        </p:blipFill>
        <p:spPr>
          <a:xfrm>
            <a:off x="10201046" y="2794406"/>
            <a:ext cx="903427" cy="90342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849069"/>
                <a:gridCol w="9245346"/>
              </a:tblGrid>
              <a:tr h="0">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Term</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Plain meaning</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Prompt</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Instructions and context supplied to a model for one request.</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Ground truth</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 reference answer used to check a prediction.</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Accuracy</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The fraction of evaluated examples counted as correct.</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A colleague's prompt: 'Write about AI for the website.' What is missing? Rewrite it in pairs.</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Who is the audience? What is the purpose and the key message?</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What length, tone, structure and format? Any facts or sources to use?</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How will you know if the output is good?</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The paradigm shift</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Why can we now adapt a model just by writing text?</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prompt evaluation loop</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Follow one labelled student-services ticket through the harness</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Labelled item</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A message and its known correct team</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ticket_ds</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input text</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Build prompt</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Add the task, permitted labels and optional examples</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zero_shot / few_shot</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chat messages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Generate text</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Run the same model with declared decoding settings</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llm</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raw response</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Parse and score</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Find a label; compare it with ground truth</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label_scorer</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score + note</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Collect measures</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Store scores, output-token counts and elapsed time</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evaluate</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results table</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Review errors</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Inspect invalid outputs and mistaken category decisions</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errors</a:t>
            </a:r>
            <a:endParaRPr lang="en-US" sz="1200" dirty="0"/>
          </a:p>
        </p:txBody>
      </p:sp>
      <p:sp>
        <p:nvSpPr>
          <p:cNvPr id="41" name="Shape 39"/>
          <p:cNvSpPr/>
          <p:nvPr/>
        </p:nvSpPr>
        <p:spPr>
          <a:xfrm>
            <a:off x="2289847" y="5422392"/>
            <a:ext cx="0" cy="109728"/>
          </a:xfrm>
          <a:prstGeom prst="line">
            <a:avLst/>
          </a:prstGeom>
          <a:noFill/>
          <a:ln w="20320">
            <a:solidFill>
              <a:srgbClr val="0F766E"/>
            </a:solidFill>
            <a:prstDash val="dash"/>
          </a:ln>
        </p:spPr>
      </p:sp>
      <p:sp>
        <p:nvSpPr>
          <p:cNvPr id="42" name="Shape 40"/>
          <p:cNvSpPr/>
          <p:nvPr/>
        </p:nvSpPr>
        <p:spPr>
          <a:xfrm flipH="1">
            <a:off x="603504" y="5532120"/>
            <a:ext cx="1686343" cy="0"/>
          </a:xfrm>
          <a:prstGeom prst="line">
            <a:avLst/>
          </a:prstGeom>
          <a:noFill/>
          <a:ln w="20320">
            <a:solidFill>
              <a:srgbClr val="0F766E"/>
            </a:solidFill>
            <a:prstDash val="dash"/>
          </a:ln>
        </p:spPr>
      </p:sp>
      <p:sp>
        <p:nvSpPr>
          <p:cNvPr id="43" name="Shape 41"/>
          <p:cNvSpPr/>
          <p:nvPr/>
        </p:nvSpPr>
        <p:spPr>
          <a:xfrm flipV="1">
            <a:off x="603504" y="1828800"/>
            <a:ext cx="0" cy="3703320"/>
          </a:xfrm>
          <a:prstGeom prst="line">
            <a:avLst/>
          </a:prstGeom>
          <a:noFill/>
          <a:ln w="20320">
            <a:solidFill>
              <a:srgbClr val="0F766E"/>
            </a:solidFill>
            <a:prstDash val="dash"/>
          </a:ln>
        </p:spPr>
      </p:sp>
      <p:sp>
        <p:nvSpPr>
          <p:cNvPr id="44" name="Shape 42"/>
          <p:cNvSpPr/>
          <p:nvPr/>
        </p:nvSpPr>
        <p:spPr>
          <a:xfrm>
            <a:off x="603504" y="1828800"/>
            <a:ext cx="5492344" cy="0"/>
          </a:xfrm>
          <a:prstGeom prst="line">
            <a:avLst/>
          </a:prstGeom>
          <a:noFill/>
          <a:ln w="20320">
            <a:solidFill>
              <a:srgbClr val="0F766E"/>
            </a:solidFill>
            <a:prstDash val="dash"/>
          </a:ln>
        </p:spPr>
      </p:sp>
      <p:sp>
        <p:nvSpPr>
          <p:cNvPr id="45" name="Shape 43"/>
          <p:cNvSpPr/>
          <p:nvPr/>
        </p:nvSpPr>
        <p:spPr>
          <a:xfrm>
            <a:off x="6095848" y="1828800"/>
            <a:ext cx="0" cy="36576"/>
          </a:xfrm>
          <a:prstGeom prst="line">
            <a:avLst/>
          </a:prstGeom>
          <a:noFill/>
          <a:ln w="20320">
            <a:solidFill>
              <a:srgbClr val="0F766E"/>
            </a:solidFill>
            <a:prstDash val="dash"/>
            <a:tailEnd type="triangle"/>
          </a:ln>
        </p:spPr>
      </p:sp>
      <p:sp>
        <p:nvSpPr>
          <p:cNvPr id="46" name="Text 44"/>
          <p:cNvSpPr txBox="1"/>
          <p:nvPr/>
        </p:nvSpPr>
        <p:spPr>
          <a:xfrm>
            <a:off x="685800" y="5577840"/>
            <a:ext cx="10820095" cy="438912"/>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Repeat: Use development errors to revise prompts; keep a final test set separate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Three ways to adapt a model</a:t>
            </a:r>
            <a:endParaRPr lang="en-US" sz="3200" dirty="0"/>
          </a:p>
        </p:txBody>
      </p:sp>
      <p:sp>
        <p:nvSpPr>
          <p:cNvPr id="6" name="Shape 4"/>
          <p:cNvSpPr/>
          <p:nvPr/>
        </p:nvSpPr>
        <p:spPr>
          <a:xfrm>
            <a:off x="548640" y="1481328"/>
            <a:ext cx="351525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Pre-training</a:t>
            </a:r>
            <a:endParaRPr lang="en-US" sz="1800" dirty="0"/>
          </a:p>
        </p:txBody>
      </p:sp>
      <p:sp>
        <p:nvSpPr>
          <p:cNvPr id="9" name="Shape 6"/>
          <p:cNvSpPr/>
          <p:nvPr/>
        </p:nvSpPr>
        <p:spPr>
          <a:xfrm>
            <a:off x="548640" y="2167128"/>
            <a:ext cx="351525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329580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Learn general knowledge from trillions of tokens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Changes all weights; enormous cost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Done by a few organisations (week 6)</a:t>
            </a:r>
            <a:endParaRPr lang="en-US" sz="2000" dirty="0"/>
          </a:p>
        </p:txBody>
      </p:sp>
      <p:sp>
        <p:nvSpPr>
          <p:cNvPr id="11" name="Shape 8"/>
          <p:cNvSpPr/>
          <p:nvPr/>
        </p:nvSpPr>
        <p:spPr>
          <a:xfrm>
            <a:off x="4338218" y="1481328"/>
            <a:ext cx="351525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4502810" y="1591056"/>
            <a:ext cx="347472" cy="347472"/>
          </a:xfrm>
          <a:prstGeom prst="rect">
            <a:avLst/>
          </a:prstGeom>
        </p:spPr>
      </p:pic>
      <p:sp>
        <p:nvSpPr>
          <p:cNvPr id="13" name="Text 9"/>
          <p:cNvSpPr txBox="1"/>
          <p:nvPr/>
        </p:nvSpPr>
        <p:spPr>
          <a:xfrm>
            <a:off x="4932578"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Fine-tuning</a:t>
            </a:r>
            <a:endParaRPr lang="en-US" sz="1800" dirty="0"/>
          </a:p>
        </p:txBody>
      </p:sp>
      <p:sp>
        <p:nvSpPr>
          <p:cNvPr id="14" name="Shape 10"/>
          <p:cNvSpPr/>
          <p:nvPr/>
        </p:nvSpPr>
        <p:spPr>
          <a:xfrm>
            <a:off x="4338218" y="2167128"/>
            <a:ext cx="351525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4447946" y="2258568"/>
            <a:ext cx="329580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Update (some) weights on task data</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Hundreds to thousands of examples; GPU hours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Consistent style, format or domain (week 8)</a:t>
            </a:r>
            <a:endParaRPr lang="en-US" sz="2000" dirty="0"/>
          </a:p>
        </p:txBody>
      </p:sp>
      <p:sp>
        <p:nvSpPr>
          <p:cNvPr id="16" name="Shape 12"/>
          <p:cNvSpPr/>
          <p:nvPr/>
        </p:nvSpPr>
        <p:spPr>
          <a:xfrm>
            <a:off x="8127797" y="1481328"/>
            <a:ext cx="3515258" cy="566928"/>
          </a:xfrm>
          <a:prstGeom prst="roundRect">
            <a:avLst>
              <a:gd name="adj" fmla="val 16129"/>
            </a:avLst>
          </a:prstGeom>
          <a:solidFill>
            <a:srgbClr val="EA580C"/>
          </a:solidFill>
          <a:ln w="12700">
            <a:solidFill>
              <a:srgbClr val="EA580C"/>
            </a:solidFill>
            <a:prstDash val="solid"/>
          </a:ln>
        </p:spPr>
      </p:sp>
      <p:pic>
        <p:nvPicPr>
          <p:cNvPr id="17" name="Image 2" descr="preencoded.png">    </p:cNvPr>
          <p:cNvPicPr>
            <a:picLocks noChangeAspect="1"/>
          </p:cNvPicPr>
          <p:nvPr/>
        </p:nvPicPr>
        <p:blipFill>
          <a:blip r:embed="rId3"/>
          <a:stretch>
            <a:fillRect/>
          </a:stretch>
        </p:blipFill>
        <p:spPr>
          <a:xfrm>
            <a:off x="8292389" y="1591056"/>
            <a:ext cx="347472" cy="347472"/>
          </a:xfrm>
          <a:prstGeom prst="rect">
            <a:avLst/>
          </a:prstGeom>
        </p:spPr>
      </p:pic>
      <p:sp>
        <p:nvSpPr>
          <p:cNvPr id="18" name="Text 13"/>
          <p:cNvSpPr txBox="1"/>
          <p:nvPr/>
        </p:nvSpPr>
        <p:spPr>
          <a:xfrm>
            <a:off x="8722157"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Prompting</a:t>
            </a:r>
            <a:endParaRPr lang="en-US" sz="1800" dirty="0"/>
          </a:p>
        </p:txBody>
      </p:sp>
      <p:sp>
        <p:nvSpPr>
          <p:cNvPr id="19" name="Shape 14"/>
          <p:cNvSpPr/>
          <p:nvPr/>
        </p:nvSpPr>
        <p:spPr>
          <a:xfrm>
            <a:off x="8127797" y="2167128"/>
            <a:ext cx="3515258" cy="3182112"/>
          </a:xfrm>
          <a:prstGeom prst="roundRect">
            <a:avLst>
              <a:gd name="adj" fmla="val 2874"/>
            </a:avLst>
          </a:prstGeom>
          <a:solidFill>
            <a:srgbClr val="FFF1E6"/>
          </a:solidFill>
          <a:ln w="12700">
            <a:solidFill>
              <a:srgbClr val="FFF1E6"/>
            </a:solidFill>
            <a:prstDash val="solid"/>
          </a:ln>
        </p:spPr>
      </p:sp>
      <p:sp>
        <p:nvSpPr>
          <p:cNvPr id="20" name="Text 15"/>
          <p:cNvSpPr txBox="1"/>
          <p:nvPr/>
        </p:nvSpPr>
        <p:spPr>
          <a:xfrm>
            <a:off x="8237525" y="2258568"/>
            <a:ext cx="329580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No weight changes: steer with the input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Minutes to iterate; cost per call</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first thing to try for any task</a:t>
            </a:r>
            <a:endParaRPr lang="en-US" sz="2000" dirty="0"/>
          </a:p>
        </p:txBody>
      </p:sp>
      <p:sp>
        <p:nvSpPr>
          <p:cNvPr id="21" name="Shape 16"/>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22" name="Text 17"/>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Start with prompting (plus retrieval for knowledge); fine-tune only when evaluation shows prompting cannot reach the quality bar.</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In-context learning: prompts as programs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The model sees only </a:t>
            </a:r>
            <a:pPr indent="0" marL="0">
              <a:buNone/>
            </a:pPr>
            <a:r>
              <a:rPr lang="en-US" sz="2200" b="1" dirty="0">
                <a:solidFill>
                  <a:srgbClr val="1F2937"/>
                </a:solidFill>
                <a:latin typeface="Calibri" pitchFamily="34" charset="0"/>
                <a:ea typeface="Calibri" pitchFamily="34" charset="-122"/>
                <a:cs typeface="Calibri" pitchFamily="34" charset="-120"/>
              </a:rPr>
              <a:t>tokens</a:t>
            </a:r>
            <a:pPr indent="0" marL="0">
              <a:buNone/>
            </a:pPr>
            <a:r>
              <a:rPr lang="en-US" sz="2200" dirty="0">
                <a:solidFill>
                  <a:srgbClr val="1F2937"/>
                </a:solidFill>
                <a:latin typeface="Calibri" pitchFamily="34" charset="0"/>
                <a:ea typeface="Calibri" pitchFamily="34" charset="-122"/>
                <a:cs typeface="Calibri" pitchFamily="34" charset="-120"/>
              </a:rPr>
              <a:t>: system instructions + conversation + documents + examples + question.</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It continues that text as its training made most likely; </a:t>
            </a:r>
            <a:pPr indent="0" marL="0">
              <a:buNone/>
            </a:pPr>
            <a:r>
              <a:rPr lang="en-US" sz="2200" b="1" dirty="0">
                <a:solidFill>
                  <a:srgbClr val="1F2937"/>
                </a:solidFill>
                <a:latin typeface="Calibri" pitchFamily="34" charset="0"/>
                <a:ea typeface="Calibri" pitchFamily="34" charset="-122"/>
                <a:cs typeface="Calibri" pitchFamily="34" charset="-120"/>
              </a:rPr>
              <a:t>in-context learning</a:t>
            </a:r>
            <a:pPr indent="0" marL="0">
              <a:buNone/>
            </a:pPr>
            <a:r>
              <a:rPr lang="en-US" sz="2200" dirty="0">
                <a:solidFill>
                  <a:srgbClr val="1F2937"/>
                </a:solidFill>
                <a:latin typeface="Calibri" pitchFamily="34" charset="0"/>
                <a:ea typeface="Calibri" pitchFamily="34" charset="-122"/>
                <a:cs typeface="Calibri" pitchFamily="34" charset="-120"/>
              </a:rPr>
              <a:t> means examples in the prompt change behaviour without training (GPT-3, 2020).</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So a prompt is a </a:t>
            </a:r>
            <a:pPr indent="0" marL="0">
              <a:buNone/>
            </a:pPr>
            <a:r>
              <a:rPr lang="en-US" sz="2200" b="1" dirty="0">
                <a:solidFill>
                  <a:srgbClr val="1F2937"/>
                </a:solidFill>
                <a:latin typeface="Calibri" pitchFamily="34" charset="0"/>
                <a:ea typeface="Calibri" pitchFamily="34" charset="-122"/>
                <a:cs typeface="Calibri" pitchFamily="34" charset="-120"/>
              </a:rPr>
              <a:t>program in natural language</a:t>
            </a:r>
            <a:pPr indent="0" marL="0">
              <a:buNone/>
            </a:pPr>
            <a:r>
              <a:rPr lang="en-US" sz="2200" dirty="0">
                <a:solidFill>
                  <a:srgbClr val="1F2937"/>
                </a:solidFill>
                <a:latin typeface="Calibri" pitchFamily="34" charset="0"/>
                <a:ea typeface="Calibri" pitchFamily="34" charset="-122"/>
                <a:cs typeface="Calibri" pitchFamily="34" charset="-120"/>
              </a:rPr>
              <a:t>: it needs clear specification, testing and version control.</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Assistants are post-trained to follow instructions and to give </a:t>
            </a:r>
            <a:pPr indent="0" marL="0">
              <a:buNone/>
            </a:pPr>
            <a:r>
              <a:rPr lang="en-US" sz="2200" b="1" dirty="0">
                <a:solidFill>
                  <a:srgbClr val="1F2937"/>
                </a:solidFill>
                <a:latin typeface="Calibri" pitchFamily="34" charset="0"/>
                <a:ea typeface="Calibri" pitchFamily="34" charset="-122"/>
                <a:cs typeface="Calibri" pitchFamily="34" charset="-120"/>
              </a:rPr>
              <a:t>system/developer</a:t>
            </a:r>
            <a:pPr indent="0" marL="0">
              <a:buNone/>
            </a:pPr>
            <a:r>
              <a:rPr lang="en-US" sz="2200" dirty="0">
                <a:solidFill>
                  <a:srgbClr val="1F2937"/>
                </a:solidFill>
                <a:latin typeface="Calibri" pitchFamily="34" charset="0"/>
                <a:ea typeface="Calibri" pitchFamily="34" charset="-122"/>
                <a:cs typeface="Calibri" pitchFamily="34" charset="-120"/>
              </a:rPr>
              <a:t> messages priority over user messages.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Anatomy of a prompt and basic techniques</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goes into a good prompt, and how much do examples help?</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Anatomy of a well-structured prompt</a:t>
            </a:r>
            <a:endParaRPr lang="en-US" sz="3200" dirty="0"/>
          </a:p>
        </p:txBody>
      </p:sp>
      <p:pic>
        <p:nvPicPr>
          <p:cNvPr id="6" name="Image 0" descr="C:\Users\sudee\Downloads\Generative_AI_2027_Teaching_Pack\AI2027_Project\build\figures\week_07\anatomy.png">    </p:cNvPr>
          <p:cNvPicPr>
            <a:picLocks noChangeAspect="1"/>
          </p:cNvPicPr>
          <p:nvPr/>
        </p:nvPicPr>
        <p:blipFill>
          <a:blip r:embed="rId1"/>
          <a:stretch>
            <a:fillRect/>
          </a:stretch>
        </p:blipFill>
        <p:spPr>
          <a:xfrm>
            <a:off x="548640" y="1596260"/>
            <a:ext cx="11094415" cy="459816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Worked example: rewriting the warm-up prompt</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426903"/>
                <a:gridCol w="1733502"/>
                <a:gridCol w="6934010"/>
              </a:tblGrid>
              <a:tr h="0">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Element</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Role / rules (system)</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(none)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You write for the college website. Use only the facts provided. UK English, friendly, no hype.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Audience &amp; purpose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(none)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Prospective MSc students deciding whether to apply</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Context</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(none)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&lt;facts&gt; 12-week module; labs in Python; covers VAEs, GANs, diffusion, LLMs, RAG, agents; group project 60%, exam 40% &lt;/facts&gt;</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Task</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Write about AI.</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Write a short introduction to the Generative AI module.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Format</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(none)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A headline plus 3 bullet points, under 120 words; if a fact is missing, leave it out</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Success check</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(none)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Every claim appears in &lt;facts&gt;; readable by a non-expert; within length</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Messages and roles in chat APIs</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849069"/>
                <a:gridCol w="3800864"/>
                <a:gridCol w="544448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Role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Written by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Use it for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system / developer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The application builder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Persistent rules, persona, policies, output format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user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The end user (untrusted)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The request, plus any content they paste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assistant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The model (or you, for examples)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Previous answers; example outputs in few-shot prompts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tool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The application, after running a tool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Results of function calls (week 12)</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Instruction hierarchy: models are trained to prioritise system/developer rules over user text, and user text over content inside documents.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Zero-shot, one-shot, few-shot</a:t>
            </a:r>
            <a:endParaRPr lang="en-US" sz="3200" dirty="0"/>
          </a:p>
        </p:txBody>
      </p:sp>
      <p:sp>
        <p:nvSpPr>
          <p:cNvPr id="6" name="Shape 4"/>
          <p:cNvSpPr/>
          <p:nvPr/>
        </p:nvSpPr>
        <p:spPr>
          <a:xfrm>
            <a:off x="548640" y="1481328"/>
            <a:ext cx="351525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Zero-shot</a:t>
            </a:r>
            <a:endParaRPr lang="en-US" sz="1800" dirty="0"/>
          </a:p>
        </p:txBody>
      </p:sp>
      <p:sp>
        <p:nvSpPr>
          <p:cNvPr id="9" name="Shape 6"/>
          <p:cNvSpPr/>
          <p:nvPr/>
        </p:nvSpPr>
        <p:spPr>
          <a:xfrm>
            <a:off x="548640" y="2167128"/>
            <a:ext cx="3515258" cy="4142232"/>
          </a:xfrm>
          <a:prstGeom prst="roundRect">
            <a:avLst>
              <a:gd name="adj" fmla="val 2601"/>
            </a:avLst>
          </a:prstGeom>
          <a:solidFill>
            <a:srgbClr val="EEF0FF"/>
          </a:solidFill>
          <a:ln w="12700">
            <a:solidFill>
              <a:srgbClr val="EEF0FF"/>
            </a:solidFill>
            <a:prstDash val="solid"/>
          </a:ln>
        </p:spPr>
      </p:sp>
      <p:sp>
        <p:nvSpPr>
          <p:cNvPr id="10" name="Text 7"/>
          <p:cNvSpPr txBox="1"/>
          <p:nvPr/>
        </p:nvSpPr>
        <p:spPr>
          <a:xfrm>
            <a:off x="658368"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Instruction only</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'Classify this message into one of: IT_ACCESS, FEES…'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Cheapest; relies on the model knowing the task</a:t>
            </a:r>
            <a:endParaRPr lang="en-US" sz="2000" dirty="0"/>
          </a:p>
        </p:txBody>
      </p:sp>
      <p:sp>
        <p:nvSpPr>
          <p:cNvPr id="11" name="Shape 8"/>
          <p:cNvSpPr/>
          <p:nvPr/>
        </p:nvSpPr>
        <p:spPr>
          <a:xfrm>
            <a:off x="4338218" y="1481328"/>
            <a:ext cx="351525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4502810" y="1591056"/>
            <a:ext cx="347472" cy="347472"/>
          </a:xfrm>
          <a:prstGeom prst="rect">
            <a:avLst/>
          </a:prstGeom>
        </p:spPr>
      </p:pic>
      <p:sp>
        <p:nvSpPr>
          <p:cNvPr id="13" name="Text 9"/>
          <p:cNvSpPr txBox="1"/>
          <p:nvPr/>
        </p:nvSpPr>
        <p:spPr>
          <a:xfrm>
            <a:off x="4932578"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One-shot</a:t>
            </a:r>
            <a:endParaRPr lang="en-US" sz="1800" dirty="0"/>
          </a:p>
        </p:txBody>
      </p:sp>
      <p:sp>
        <p:nvSpPr>
          <p:cNvPr id="14" name="Shape 10"/>
          <p:cNvSpPr/>
          <p:nvPr/>
        </p:nvSpPr>
        <p:spPr>
          <a:xfrm>
            <a:off x="4338218" y="2167128"/>
            <a:ext cx="3515258" cy="4142232"/>
          </a:xfrm>
          <a:prstGeom prst="roundRect">
            <a:avLst>
              <a:gd name="adj" fmla="val 2601"/>
            </a:avLst>
          </a:prstGeom>
          <a:solidFill>
            <a:srgbClr val="E6F4F1"/>
          </a:solidFill>
          <a:ln w="12700">
            <a:solidFill>
              <a:srgbClr val="E6F4F1"/>
            </a:solidFill>
            <a:prstDash val="solid"/>
          </a:ln>
        </p:spPr>
      </p:sp>
      <p:sp>
        <p:nvSpPr>
          <p:cNvPr id="15" name="Text 11"/>
          <p:cNvSpPr txBox="1"/>
          <p:nvPr/>
        </p:nvSpPr>
        <p:spPr>
          <a:xfrm>
            <a:off x="4447946"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Instruction + one example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Shows the exact output format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Can bias outputs towards the example's label</a:t>
            </a:r>
            <a:endParaRPr lang="en-US" sz="2000" dirty="0"/>
          </a:p>
        </p:txBody>
      </p:sp>
      <p:sp>
        <p:nvSpPr>
          <p:cNvPr id="16" name="Shape 12"/>
          <p:cNvSpPr/>
          <p:nvPr/>
        </p:nvSpPr>
        <p:spPr>
          <a:xfrm>
            <a:off x="8127797" y="1481328"/>
            <a:ext cx="3515258" cy="566928"/>
          </a:xfrm>
          <a:prstGeom prst="roundRect">
            <a:avLst>
              <a:gd name="adj" fmla="val 16129"/>
            </a:avLst>
          </a:prstGeom>
          <a:solidFill>
            <a:srgbClr val="EA580C"/>
          </a:solidFill>
          <a:ln w="12700">
            <a:solidFill>
              <a:srgbClr val="EA580C"/>
            </a:solidFill>
            <a:prstDash val="solid"/>
          </a:ln>
        </p:spPr>
      </p:sp>
      <p:pic>
        <p:nvPicPr>
          <p:cNvPr id="17" name="Image 2" descr="preencoded.png">    </p:cNvPr>
          <p:cNvPicPr>
            <a:picLocks noChangeAspect="1"/>
          </p:cNvPicPr>
          <p:nvPr/>
        </p:nvPicPr>
        <p:blipFill>
          <a:blip r:embed="rId3"/>
          <a:stretch>
            <a:fillRect/>
          </a:stretch>
        </p:blipFill>
        <p:spPr>
          <a:xfrm>
            <a:off x="8292389" y="1591056"/>
            <a:ext cx="347472" cy="347472"/>
          </a:xfrm>
          <a:prstGeom prst="rect">
            <a:avLst/>
          </a:prstGeom>
        </p:spPr>
      </p:pic>
      <p:sp>
        <p:nvSpPr>
          <p:cNvPr id="18" name="Text 13"/>
          <p:cNvSpPr txBox="1"/>
          <p:nvPr/>
        </p:nvSpPr>
        <p:spPr>
          <a:xfrm>
            <a:off x="8722157"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Few-shot</a:t>
            </a:r>
            <a:endParaRPr lang="en-US" sz="1800" dirty="0"/>
          </a:p>
        </p:txBody>
      </p:sp>
      <p:sp>
        <p:nvSpPr>
          <p:cNvPr id="19" name="Shape 14"/>
          <p:cNvSpPr/>
          <p:nvPr/>
        </p:nvSpPr>
        <p:spPr>
          <a:xfrm>
            <a:off x="8127797" y="2167128"/>
            <a:ext cx="3515258" cy="4142232"/>
          </a:xfrm>
          <a:prstGeom prst="roundRect">
            <a:avLst>
              <a:gd name="adj" fmla="val 2601"/>
            </a:avLst>
          </a:prstGeom>
          <a:solidFill>
            <a:srgbClr val="FFF1E6"/>
          </a:solidFill>
          <a:ln w="12700">
            <a:solidFill>
              <a:srgbClr val="FFF1E6"/>
            </a:solidFill>
            <a:prstDash val="solid"/>
          </a:ln>
        </p:spPr>
      </p:sp>
      <p:sp>
        <p:nvSpPr>
          <p:cNvPr id="20" name="Text 15"/>
          <p:cNvSpPr txBox="1"/>
          <p:nvPr/>
        </p:nvSpPr>
        <p:spPr>
          <a:xfrm>
            <a:off x="8237525"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Instruction + several diverse examples (often 3–10)</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Clarifies boundaries between classes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More tokens; choose and order examples carefully</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few-shot prompt as chat messages</a:t>
            </a:r>
            <a:endParaRPr lang="en-US" sz="3200" dirty="0"/>
          </a:p>
        </p:txBody>
      </p:sp>
      <p:sp>
        <p:nvSpPr>
          <p:cNvPr id="6" name="Shape 4"/>
          <p:cNvSpPr/>
          <p:nvPr/>
        </p:nvSpPr>
        <p:spPr>
          <a:xfrm>
            <a:off x="548640" y="1481328"/>
            <a:ext cx="6949440" cy="4221480"/>
          </a:xfrm>
          <a:prstGeom prst="roundRect">
            <a:avLst>
              <a:gd name="adj" fmla="val 2166"/>
            </a:avLst>
          </a:prstGeom>
          <a:solidFill>
            <a:srgbClr val="1E1E2E"/>
          </a:solidFill>
          <a:ln w="12700">
            <a:solidFill>
              <a:srgbClr val="1E1E2E"/>
            </a:solidFill>
            <a:prstDash val="solid"/>
          </a:ln>
        </p:spPr>
      </p:sp>
      <p:sp>
        <p:nvSpPr>
          <p:cNvPr id="7" name="Text 5"/>
          <p:cNvSpPr txBox="1"/>
          <p:nvPr/>
        </p:nvSpPr>
        <p:spPr>
          <a:xfrm>
            <a:off x="685800" y="1591056"/>
            <a:ext cx="6675120" cy="4002024"/>
          </a:xfrm>
          <a:prstGeom prst="rect">
            <a:avLst/>
          </a:prstGeom>
          <a:noFill/>
          <a:ln/>
        </p:spPr>
        <p:txBody>
          <a:bodyPr wrap="square" lIns="76200" tIns="76200" rIns="76200" bIns="76200" rtlCol="0" anchor="t"/>
          <a:lstStyle/>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messages = [</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{"role": "system", "content":</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"You route student messages to one team. "</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"Answer with exactly one label: IT_ACCESS, "</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"FEES_FINANCE, TIMETABLE_EXAMS, WELLBEING, LIBRARY."},</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{"role": "user", "content":</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"Examples:\n"</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"Message: My laptop can't connect to eduroam.\n"</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"Category: IT_ACCESS\n\n"</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"Message: Can I get a receipt for my deposit?\n"</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"Category: FEES_FINANCE\n\n"</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"…one example per category…\n\n"</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"Message: Two of my exams clash on Friday.\n"</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"Category:"},</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a:t>
            </a:r>
            <a:endParaRPr lang="en-US" sz="16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Rules and allowed labels live in the </a:t>
            </a:r>
            <a:pPr indent="0" marL="0">
              <a:buNone/>
            </a:pPr>
            <a:r>
              <a:rPr lang="en-US" sz="1800" b="1" dirty="0">
                <a:solidFill>
                  <a:srgbClr val="1F2937"/>
                </a:solidFill>
                <a:latin typeface="Calibri" pitchFamily="34" charset="0"/>
                <a:ea typeface="Calibri" pitchFamily="34" charset="-122"/>
                <a:cs typeface="Calibri" pitchFamily="34" charset="-120"/>
              </a:rPr>
              <a:t>system</a:t>
            </a:r>
            <a:pPr indent="0" marL="0">
              <a:buNone/>
            </a:pPr>
            <a:r>
              <a:rPr lang="en-US" sz="1800" dirty="0">
                <a:solidFill>
                  <a:srgbClr val="1F2937"/>
                </a:solidFill>
                <a:latin typeface="Calibri" pitchFamily="34" charset="0"/>
                <a:ea typeface="Calibri" pitchFamily="34" charset="-122"/>
                <a:cs typeface="Calibri" pitchFamily="34" charset="-120"/>
              </a:rPr>
              <a:t> message.</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Examples use exactly the format we want back.</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Ending with 'Category:' invites a one-word answer.</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Role-based prompting and its limits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'You are an experienced triage officer / tutor / security reviewer…' sets tone, vocabulary and priorities.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Useful for </a:t>
            </a:r>
            <a:pPr indent="0" marL="0">
              <a:buNone/>
            </a:pPr>
            <a:r>
              <a:rPr lang="en-US" sz="2200" b="1" dirty="0">
                <a:solidFill>
                  <a:srgbClr val="1F2937"/>
                </a:solidFill>
                <a:latin typeface="Calibri" pitchFamily="34" charset="0"/>
                <a:ea typeface="Calibri" pitchFamily="34" charset="-122"/>
                <a:cs typeface="Calibri" pitchFamily="34" charset="-120"/>
              </a:rPr>
              <a:t>audience and style</a:t>
            </a:r>
            <a:pPr indent="0" marL="0">
              <a:buNone/>
            </a:pPr>
            <a:r>
              <a:rPr lang="en-US" sz="2200" dirty="0">
                <a:solidFill>
                  <a:srgbClr val="1F2937"/>
                </a:solidFill>
                <a:latin typeface="Calibri" pitchFamily="34" charset="0"/>
                <a:ea typeface="Calibri" pitchFamily="34" charset="-122"/>
                <a:cs typeface="Calibri" pitchFamily="34" charset="-120"/>
              </a:rPr>
              <a:t> (explain to a first-year student vs. an examiner).</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A role does </a:t>
            </a:r>
            <a:pPr indent="0" marL="0">
              <a:buNone/>
            </a:pPr>
            <a:r>
              <a:rPr lang="en-US" sz="2200" b="1" dirty="0">
                <a:solidFill>
                  <a:srgbClr val="1F2937"/>
                </a:solidFill>
                <a:latin typeface="Calibri" pitchFamily="34" charset="0"/>
                <a:ea typeface="Calibri" pitchFamily="34" charset="-122"/>
                <a:cs typeface="Calibri" pitchFamily="34" charset="-120"/>
              </a:rPr>
              <a:t>not</a:t>
            </a:r>
            <a:pPr indent="0" marL="0">
              <a:buNone/>
            </a:pPr>
            <a:r>
              <a:rPr lang="en-US" sz="2200" dirty="0">
                <a:solidFill>
                  <a:srgbClr val="1F2937"/>
                </a:solidFill>
                <a:latin typeface="Calibri" pitchFamily="34" charset="0"/>
                <a:ea typeface="Calibri" pitchFamily="34" charset="-122"/>
                <a:cs typeface="Calibri" pitchFamily="34" charset="-120"/>
              </a:rPr>
              <a:t> add knowledge or accuracy the model lacks; claiming expertise can make wrong answers sound more confident.</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Specific instructions ('check each claim against the document') beat vague personas ('you are a genius').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Principles from the official prompting guides</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Be clear and specific</a:t>
            </a:r>
            <a:endParaRPr lang="en-US" sz="19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State the task, audience, length and format. Say what to do, not only what to avoid.</a:t>
            </a:r>
            <a:endParaRPr lang="en-US" sz="19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Give context</a:t>
            </a:r>
            <a:endParaRPr lang="en-US" sz="19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Provide the documents and facts needed; separate them from instructions with delimiters or tags.</a:t>
            </a:r>
            <a:endParaRPr lang="en-US" sz="19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Show examples</a:t>
            </a:r>
            <a:endParaRPr lang="en-US" sz="19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A few diverse examples fix format and resolve ambiguity better than long explanations.</a:t>
            </a:r>
            <a:endParaRPr lang="en-US" sz="19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Break tasks down</a:t>
            </a:r>
            <a:endParaRPr lang="en-US" sz="19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Split complex work into steps or chained prompts; ask for reasoning when steps matter.</a:t>
            </a:r>
            <a:endParaRPr lang="en-US" sz="19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Allow uncertainty</a:t>
            </a:r>
            <a:endParaRPr lang="en-US" sz="19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Tell the model what to do if information is missing ('say you don't know'), reducing hallucination.</a:t>
            </a:r>
            <a:endParaRPr lang="en-US" sz="19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Test systematically</a:t>
            </a:r>
            <a:endParaRPr lang="en-US" sz="19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Compare prompt versions on a fixed test set with fixed settings (section 4).</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Real results: does few-shot prompting help?</a:t>
            </a:r>
            <a:endParaRPr lang="en-US" sz="3200" dirty="0"/>
          </a:p>
        </p:txBody>
      </p:sp>
      <p:pic>
        <p:nvPicPr>
          <p:cNvPr id="6" name="Image 0" descr="C:\Users\sudee\Downloads\Generative_AI_2027_Teaching_Pack\AI2027_Project\build\figures\week_07\fewshot_results.png">    </p:cNvPr>
          <p:cNvPicPr>
            <a:picLocks noChangeAspect="1"/>
          </p:cNvPicPr>
          <p:nvPr/>
        </p:nvPicPr>
        <p:blipFill>
          <a:blip r:embed="rId1"/>
          <a:stretch>
            <a:fillRect/>
          </a:stretch>
        </p:blipFill>
        <p:spPr>
          <a:xfrm>
            <a:off x="2799460" y="1481328"/>
            <a:ext cx="6592776" cy="3367278"/>
          </a:xfrm>
          <a:prstGeom prst="rect">
            <a:avLst/>
          </a:prstGeom>
        </p:spPr>
      </p:pic>
      <p:sp>
        <p:nvSpPr>
          <p:cNvPr id="7" name="Text 4"/>
          <p:cNvSpPr txBox="1"/>
          <p:nvPr/>
        </p:nvSpPr>
        <p:spPr>
          <a:xfrm>
            <a:off x="548640" y="5031486"/>
            <a:ext cx="11094415" cy="12778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Accuracy on 40 messages: zero-shot 70%, one-shot 60%, few-shot 72%, role + few-shot 68%.</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Same model, same messages, temperature 0: only the prompt changed.</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With only 40 items, differences of a few points are within noise (section 4).</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A zero-shot classifier often replies with full sentences instead of a label. What is the most effective first fix?</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Add a persona: 'You are a world-class classifier'</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Add a few examples in the exact output format and state the allowed labels</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Increase the temperature so it tries other formats</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Fine-tune the model immediately</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Reasoning, structure and context</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we get multi-step reasoning, machine-readable outputs and the right information into the prompt?</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Chain-of-thought (CoT) prompting</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Ask the model to write intermediate steps before the answer (Wei et al., 2022); zero-shot version: 'Let's think step by step' (Kojima et al., 2022).</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Helps multi-step arithmetic, logic and planning, mainly in larger models.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Costs many more output tokens, so it is slower and more expensive.</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Ask for a clearly marked final answer ('Answer: …') so it can be parsed and scored.</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The written steps are </a:t>
            </a:r>
            <a:pPr indent="0" marL="0">
              <a:buNone/>
            </a:pPr>
            <a:r>
              <a:rPr lang="en-US" sz="2200" b="1" dirty="0">
                <a:solidFill>
                  <a:srgbClr val="1F2937"/>
                </a:solidFill>
                <a:latin typeface="Calibri" pitchFamily="34" charset="0"/>
                <a:ea typeface="Calibri" pitchFamily="34" charset="-122"/>
                <a:cs typeface="Calibri" pitchFamily="34" charset="-120"/>
              </a:rPr>
              <a:t>not</a:t>
            </a:r>
            <a:pPr indent="0" marL="0">
              <a:buNone/>
            </a:pPr>
            <a:r>
              <a:rPr lang="en-US" sz="2200" dirty="0">
                <a:solidFill>
                  <a:srgbClr val="1F2937"/>
                </a:solidFill>
                <a:latin typeface="Calibri" pitchFamily="34" charset="0"/>
                <a:ea typeface="Calibri" pitchFamily="34" charset="-122"/>
                <a:cs typeface="Calibri" pitchFamily="34" charset="-120"/>
              </a:rPr>
              <a:t> a faithful record of the model's computation: score the answer, spot-check the steps.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700" b="1" dirty="0">
                <a:solidFill>
                  <a:srgbClr val="1E1B4B"/>
                </a:solidFill>
                <a:latin typeface="Calibri" pitchFamily="34" charset="0"/>
                <a:ea typeface="Calibri" pitchFamily="34" charset="-122"/>
                <a:cs typeface="Calibri" pitchFamily="34" charset="-120"/>
              </a:rPr>
              <a:t>Real results: direct vs. chain-of-thought vs. self-consistency</a:t>
            </a:r>
            <a:endParaRPr lang="en-US" sz="2700" dirty="0"/>
          </a:p>
        </p:txBody>
      </p:sp>
      <p:pic>
        <p:nvPicPr>
          <p:cNvPr id="6" name="Image 0" descr="C:\Users\sudee\Downloads\Generative_AI_2027_Teaching_Pack\AI2027_Project\build\figures\week_07\cot_results.png">    </p:cNvPr>
          <p:cNvPicPr>
            <a:picLocks noChangeAspect="1"/>
          </p:cNvPicPr>
          <p:nvPr/>
        </p:nvPicPr>
        <p:blipFill>
          <a:blip r:embed="rId1"/>
          <a:stretch>
            <a:fillRect/>
          </a:stretch>
        </p:blipFill>
        <p:spPr>
          <a:xfrm>
            <a:off x="2325030" y="1481328"/>
            <a:ext cx="7541634" cy="3081528"/>
          </a:xfrm>
          <a:prstGeom prst="rect">
            <a:avLst/>
          </a:prstGeom>
        </p:spPr>
      </p:pic>
      <p:sp>
        <p:nvSpPr>
          <p:cNvPr id="7" name="Text 4"/>
          <p:cNvSpPr txBox="1"/>
          <p:nvPr/>
        </p:nvSpPr>
        <p:spPr>
          <a:xfrm>
            <a:off x="548640" y="4745736"/>
            <a:ext cx="11094415" cy="156362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direct 50% (3 tokens); chain-of-thought 81% (189 tokens); self-consistency (k=5) 88% (914 tokens).</a:t>
            </a:r>
            <a:endParaRPr lang="en-US" sz="1800" dirty="0"/>
          </a:p>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Self-consistency</a:t>
            </a:r>
            <a:pPr indent="0" marL="0">
              <a:buNone/>
            </a:pPr>
            <a:r>
              <a:rPr lang="en-US" sz="1800" dirty="0">
                <a:solidFill>
                  <a:srgbClr val="1F2937"/>
                </a:solidFill>
                <a:latin typeface="Calibri" pitchFamily="34" charset="0"/>
                <a:ea typeface="Calibri" pitchFamily="34" charset="-122"/>
                <a:cs typeface="Calibri" pitchFamily="34" charset="-120"/>
              </a:rPr>
              <a:t> (Wang et al., 2022): sample several reasoning paths at temperature &gt; 0 and take the majority answer.</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Accuracy gains cost tokens: always report both.</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Prompting reasoning models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Reasoning models already think before answering (week 6); 'think step by step' adds little.</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Give </a:t>
            </a:r>
            <a:pPr indent="0" marL="0">
              <a:buNone/>
            </a:pPr>
            <a:r>
              <a:rPr lang="en-US" sz="2200" b="1" dirty="0">
                <a:solidFill>
                  <a:srgbClr val="1F2937"/>
                </a:solidFill>
                <a:latin typeface="Calibri" pitchFamily="34" charset="0"/>
                <a:ea typeface="Calibri" pitchFamily="34" charset="-122"/>
                <a:cs typeface="Calibri" pitchFamily="34" charset="-120"/>
              </a:rPr>
              <a:t>goals, constraints and success criteria</a:t>
            </a:r>
            <a:pPr indent="0" marL="0">
              <a:buNone/>
            </a:pPr>
            <a:r>
              <a:rPr lang="en-US" sz="2200" dirty="0">
                <a:solidFill>
                  <a:srgbClr val="1F2937"/>
                </a:solidFill>
                <a:latin typeface="Calibri" pitchFamily="34" charset="0"/>
                <a:ea typeface="Calibri" pitchFamily="34" charset="-122"/>
                <a:cs typeface="Calibri" pitchFamily="34" charset="-120"/>
              </a:rPr>
              <a:t>, not step-by-step instructions on how to think.</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Provide complete context up front; ask for the final answer in a clear format.</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Use a reasoning </a:t>
            </a:r>
            <a:pPr indent="0" marL="0">
              <a:buNone/>
            </a:pPr>
            <a:r>
              <a:rPr lang="en-US" sz="2200" b="1" dirty="0">
                <a:solidFill>
                  <a:srgbClr val="1F2937"/>
                </a:solidFill>
                <a:latin typeface="Calibri" pitchFamily="34" charset="0"/>
                <a:ea typeface="Calibri" pitchFamily="34" charset="-122"/>
                <a:cs typeface="Calibri" pitchFamily="34" charset="-120"/>
              </a:rPr>
              <a:t>effort / budget</a:t>
            </a:r>
            <a:pPr indent="0" marL="0">
              <a:buNone/>
            </a:pPr>
            <a:r>
              <a:rPr lang="en-US" sz="2200" dirty="0">
                <a:solidFill>
                  <a:srgbClr val="1F2937"/>
                </a:solidFill>
                <a:latin typeface="Calibri" pitchFamily="34" charset="0"/>
                <a:ea typeface="Calibri" pitchFamily="34" charset="-122"/>
                <a:cs typeface="Calibri" pitchFamily="34" charset="-120"/>
              </a:rPr>
              <a:t> setting where available; more effort = better on hard problems, slower and costlier.</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Use them for hard multi-step problems; use standard models for simple, high-volume tasks.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Prompt chaining: decompose complex tasks</a:t>
            </a:r>
            <a:endParaRPr lang="en-US" sz="32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Extract</a:t>
            </a:r>
            <a:endParaRPr lang="en-US" sz="19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Pull the facts from the source document</a:t>
            </a:r>
            <a:endParaRPr lang="en-US" sz="17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Verify</a:t>
            </a:r>
            <a:endParaRPr lang="en-US" sz="19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Check each fact against the source; flag gaps</a:t>
            </a:r>
            <a:endParaRPr lang="en-US" sz="17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EEF0FF"/>
          </a:solidFill>
          <a:ln w="15875">
            <a:solidFill>
              <a:srgbClr val="4F46E5"/>
            </a:solidFill>
            <a:prstDash val="solid"/>
          </a:ln>
        </p:spPr>
      </p:sp>
      <p:sp>
        <p:nvSpPr>
          <p:cNvPr id="19" name="Shape 17"/>
          <p:cNvSpPr/>
          <p:nvPr/>
        </p:nvSpPr>
        <p:spPr>
          <a:xfrm>
            <a:off x="5894680" y="1746504"/>
            <a:ext cx="402336" cy="402336"/>
          </a:xfrm>
          <a:prstGeom prst="ellipse">
            <a:avLst/>
          </a:prstGeom>
          <a:solidFill>
            <a:srgbClr val="4F46E5"/>
          </a:solidFill>
          <a:ln w="12700">
            <a:solidFill>
              <a:srgbClr val="4F46E5"/>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Draft</a:t>
            </a:r>
            <a:endParaRPr lang="en-US" sz="19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Write the output from verified facts only</a:t>
            </a:r>
            <a:endParaRPr lang="en-US" sz="17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FFF1E6"/>
          </a:solidFill>
          <a:ln w="15875">
            <a:solidFill>
              <a:srgbClr val="EA580C"/>
            </a:solidFill>
            <a:prstDash val="solid"/>
          </a:ln>
        </p:spPr>
      </p:sp>
      <p:sp>
        <p:nvSpPr>
          <p:cNvPr id="25" name="Shape 23"/>
          <p:cNvSpPr/>
          <p:nvPr/>
        </p:nvSpPr>
        <p:spPr>
          <a:xfrm>
            <a:off x="8195859" y="1746504"/>
            <a:ext cx="402336" cy="402336"/>
          </a:xfrm>
          <a:prstGeom prst="ellipse">
            <a:avLst/>
          </a:prstGeom>
          <a:solidFill>
            <a:srgbClr val="EA580C"/>
          </a:solidFill>
          <a:ln w="12700">
            <a:solidFill>
              <a:srgbClr val="EA580C"/>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Critique</a:t>
            </a:r>
            <a:endParaRPr lang="en-US" sz="19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Review the draft against a checklist</a:t>
            </a:r>
            <a:endParaRPr lang="en-US" sz="17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EEF0FF"/>
          </a:solidFill>
          <a:ln w="15875">
            <a:solidFill>
              <a:srgbClr val="4F46E5"/>
            </a:solidFill>
            <a:prstDash val="solid"/>
          </a:ln>
        </p:spPr>
      </p:sp>
      <p:sp>
        <p:nvSpPr>
          <p:cNvPr id="31" name="Shape 29"/>
          <p:cNvSpPr/>
          <p:nvPr/>
        </p:nvSpPr>
        <p:spPr>
          <a:xfrm>
            <a:off x="10497038" y="1746504"/>
            <a:ext cx="402336" cy="402336"/>
          </a:xfrm>
          <a:prstGeom prst="ellipse">
            <a:avLst/>
          </a:prstGeom>
          <a:solidFill>
            <a:srgbClr val="4F46E5"/>
          </a:solidFill>
          <a:ln w="12700">
            <a:solidFill>
              <a:srgbClr val="4F46E5"/>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Finalise</a:t>
            </a:r>
            <a:endParaRPr lang="en-US" sz="19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Fix issues; output in the required format</a:t>
            </a:r>
            <a:endParaRPr lang="en-US" sz="1700" dirty="0"/>
          </a:p>
        </p:txBody>
      </p:sp>
      <p:sp>
        <p:nvSpPr>
          <p:cNvPr id="35" name="Text 33"/>
          <p:cNvSpPr txBox="1"/>
          <p:nvPr/>
        </p:nvSpPr>
        <p:spPr>
          <a:xfrm>
            <a:off x="548640" y="5001768"/>
            <a:ext cx="11094415" cy="130759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Each step has a small, testable prompt; failures are easier to locate and fix.</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Chains can mix models (cheap for extraction, strong for drafting) and code (for checks).</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JSON extraction with a check</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Validate structure, then check whether the values match the email</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Source email</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The original text contains the facts to extract</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EMAILS</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email text</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Schema prompt</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Request named fields and permitted request categories</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extract_prompt / SCHEMA_HINT</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schema + source messages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Model response</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The model proposes a JSON object</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llm</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raw text</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Parse JSON</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Find the object and decode its syntax</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try_parse</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decoded field values</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Validate fields</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Check required types, labels, ID and date patterns</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Request</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valid object or error</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Decide + compare</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Accept valid data, check references, or attempt one repair</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154" dirty="0">
                <a:solidFill>
                  <a:srgbClr val="0F766E"/>
                </a:solidFill>
                <a:latin typeface="Consolas" pitchFamily="34" charset="0"/>
                <a:ea typeface="Consolas" pitchFamily="34" charset="-122"/>
                <a:cs typeface="Consolas" pitchFamily="34" charset="-120"/>
              </a:rPr>
              <a:t>parse_with_retry / rows_extract</a:t>
            </a:r>
            <a:endParaRPr lang="en-US" sz="1154" dirty="0"/>
          </a:p>
        </p:txBody>
      </p:sp>
      <p:sp>
        <p:nvSpPr>
          <p:cNvPr id="41" name="Shape 39"/>
          <p:cNvSpPr/>
          <p:nvPr/>
        </p:nvSpPr>
        <p:spPr>
          <a:xfrm>
            <a:off x="2289847" y="5422392"/>
            <a:ext cx="0" cy="109728"/>
          </a:xfrm>
          <a:prstGeom prst="line">
            <a:avLst/>
          </a:prstGeom>
          <a:noFill/>
          <a:ln w="20320">
            <a:solidFill>
              <a:srgbClr val="0F766E"/>
            </a:solidFill>
            <a:prstDash val="dash"/>
          </a:ln>
        </p:spPr>
      </p:sp>
      <p:sp>
        <p:nvSpPr>
          <p:cNvPr id="42" name="Shape 40"/>
          <p:cNvSpPr/>
          <p:nvPr/>
        </p:nvSpPr>
        <p:spPr>
          <a:xfrm flipH="1">
            <a:off x="603504" y="5532120"/>
            <a:ext cx="1686343" cy="0"/>
          </a:xfrm>
          <a:prstGeom prst="line">
            <a:avLst/>
          </a:prstGeom>
          <a:noFill/>
          <a:ln w="20320">
            <a:solidFill>
              <a:srgbClr val="0F766E"/>
            </a:solidFill>
            <a:prstDash val="dash"/>
          </a:ln>
        </p:spPr>
      </p:sp>
      <p:sp>
        <p:nvSpPr>
          <p:cNvPr id="43" name="Shape 41"/>
          <p:cNvSpPr/>
          <p:nvPr/>
        </p:nvSpPr>
        <p:spPr>
          <a:xfrm flipV="1">
            <a:off x="603504" y="1828800"/>
            <a:ext cx="0" cy="3703320"/>
          </a:xfrm>
          <a:prstGeom prst="line">
            <a:avLst/>
          </a:prstGeom>
          <a:noFill/>
          <a:ln w="20320">
            <a:solidFill>
              <a:srgbClr val="0F766E"/>
            </a:solidFill>
            <a:prstDash val="dash"/>
          </a:ln>
        </p:spPr>
      </p:sp>
      <p:sp>
        <p:nvSpPr>
          <p:cNvPr id="44" name="Shape 42"/>
          <p:cNvSpPr/>
          <p:nvPr/>
        </p:nvSpPr>
        <p:spPr>
          <a:xfrm>
            <a:off x="603504" y="1828800"/>
            <a:ext cx="9298344" cy="0"/>
          </a:xfrm>
          <a:prstGeom prst="line">
            <a:avLst/>
          </a:prstGeom>
          <a:noFill/>
          <a:ln w="20320">
            <a:solidFill>
              <a:srgbClr val="0F766E"/>
            </a:solidFill>
            <a:prstDash val="dash"/>
          </a:ln>
        </p:spPr>
      </p:sp>
      <p:sp>
        <p:nvSpPr>
          <p:cNvPr id="45" name="Shape 43"/>
          <p:cNvSpPr/>
          <p:nvPr/>
        </p:nvSpPr>
        <p:spPr>
          <a:xfrm>
            <a:off x="9901848" y="1828800"/>
            <a:ext cx="0" cy="36576"/>
          </a:xfrm>
          <a:prstGeom prst="line">
            <a:avLst/>
          </a:prstGeom>
          <a:noFill/>
          <a:ln w="20320">
            <a:solidFill>
              <a:srgbClr val="0F766E"/>
            </a:solidFill>
            <a:prstDash val="dash"/>
            <a:tailEnd type="triangle"/>
          </a:ln>
        </p:spPr>
      </p:sp>
      <p:sp>
        <p:nvSpPr>
          <p:cNvPr id="46" name="Text 44"/>
          <p:cNvSpPr txBox="1"/>
          <p:nvPr/>
        </p:nvSpPr>
        <p:spPr>
          <a:xfrm>
            <a:off x="685800" y="5577840"/>
            <a:ext cx="10820095" cy="438912"/>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Repeat: On a validation error, append the error and retry once</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Structured outputs: a schema as a contract</a:t>
            </a:r>
            <a:endParaRPr lang="en-US" sz="3200" dirty="0"/>
          </a:p>
        </p:txBody>
      </p:sp>
      <p:sp>
        <p:nvSpPr>
          <p:cNvPr id="6" name="Shape 4"/>
          <p:cNvSpPr/>
          <p:nvPr/>
        </p:nvSpPr>
        <p:spPr>
          <a:xfrm>
            <a:off x="548640" y="1481328"/>
            <a:ext cx="6949440" cy="3539744"/>
          </a:xfrm>
          <a:prstGeom prst="roundRect">
            <a:avLst>
              <a:gd name="adj" fmla="val 2583"/>
            </a:avLst>
          </a:prstGeom>
          <a:solidFill>
            <a:srgbClr val="1E1E2E"/>
          </a:solidFill>
          <a:ln w="12700">
            <a:solidFill>
              <a:srgbClr val="1E1E2E"/>
            </a:solidFill>
            <a:prstDash val="solid"/>
          </a:ln>
        </p:spPr>
      </p:sp>
      <p:sp>
        <p:nvSpPr>
          <p:cNvPr id="7" name="Text 5"/>
          <p:cNvSpPr txBox="1"/>
          <p:nvPr/>
        </p:nvSpPr>
        <p:spPr>
          <a:xfrm>
            <a:off x="685800" y="1591056"/>
            <a:ext cx="6675120" cy="3320288"/>
          </a:xfrm>
          <a:prstGeom prst="rect">
            <a:avLst/>
          </a:prstGeom>
          <a:noFill/>
          <a:ln/>
        </p:spPr>
        <p:txBody>
          <a:bodyPr wrap="square" lIns="76200" tIns="76200" rIns="76200" bIns="76200" rtlCol="0" anchor="t"/>
          <a:lstStyle/>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from pydantic import BaseModel</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from typing import Literal, Optional</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class Request(BaseModel):</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name: str</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student_id: str          # validated: 8 digits</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request: Literal["extension", "invoice", "deferral"]</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date: Optional[str] = None   # YYYY-MM-DD or null</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raw = llm(extract_prompt(email))</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try:</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req = Request.model_validate_json(raw)</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except ValidationError as err:</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raw = llm(fix_prompt(raw, err))   # one retry with the error</a:t>
            </a:r>
            <a:endParaRPr lang="en-US" sz="14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Many APIs can </a:t>
            </a:r>
            <a:pPr indent="0" marL="0">
              <a:buNone/>
            </a:pPr>
            <a:r>
              <a:rPr lang="en-US" sz="1800" b="1" dirty="0">
                <a:solidFill>
                  <a:srgbClr val="1F2937"/>
                </a:solidFill>
                <a:latin typeface="Calibri" pitchFamily="34" charset="0"/>
                <a:ea typeface="Calibri" pitchFamily="34" charset="-122"/>
                <a:cs typeface="Calibri" pitchFamily="34" charset="-120"/>
              </a:rPr>
              <a:t>enforce</a:t>
            </a:r>
            <a:pPr indent="0" marL="0">
              <a:buNone/>
            </a:pPr>
            <a:r>
              <a:rPr lang="en-US" sz="1800" dirty="0">
                <a:solidFill>
                  <a:srgbClr val="1F2937"/>
                </a:solidFill>
                <a:latin typeface="Calibri" pitchFamily="34" charset="0"/>
                <a:ea typeface="Calibri" pitchFamily="34" charset="-122"/>
                <a:cs typeface="Calibri" pitchFamily="34" charset="-120"/>
              </a:rPr>
              <a:t> a JSON schema during decoding (structured outputs).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Always </a:t>
            </a:r>
            <a:pPr indent="0" marL="0">
              <a:buNone/>
            </a:pPr>
            <a:r>
              <a:rPr lang="en-US" sz="1800" b="1" dirty="0">
                <a:solidFill>
                  <a:srgbClr val="1F2937"/>
                </a:solidFill>
                <a:latin typeface="Calibri" pitchFamily="34" charset="0"/>
                <a:ea typeface="Calibri" pitchFamily="34" charset="-122"/>
                <a:cs typeface="Calibri" pitchFamily="34" charset="-120"/>
              </a:rPr>
              <a:t>validate</a:t>
            </a:r>
            <a:pPr indent="0" marL="0">
              <a:buNone/>
            </a:pPr>
            <a:r>
              <a:rPr lang="en-US" sz="1800" dirty="0">
                <a:solidFill>
                  <a:srgbClr val="1F2937"/>
                </a:solidFill>
                <a:latin typeface="Calibri" pitchFamily="34" charset="0"/>
                <a:ea typeface="Calibri" pitchFamily="34" charset="-122"/>
                <a:cs typeface="Calibri" pitchFamily="34" charset="-120"/>
              </a:rPr>
              <a:t> in code; retry with the error message.</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Valid ≠ correct: a well-formed date can still be the wrong date.</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Context engineering: what the model sees matters most</a:t>
            </a:r>
            <a:endParaRPr lang="en-US" sz="3200" dirty="0"/>
          </a:p>
        </p:txBody>
      </p:sp>
      <p:pic>
        <p:nvPicPr>
          <p:cNvPr id="6" name="Image 0" descr="C:\Users\sudee\Downloads\Generative_AI_2027_Teaching_Pack\AI2027_Project\build\figures\week_07\context_eng.png">    </p:cNvPr>
          <p:cNvPicPr>
            <a:picLocks noChangeAspect="1"/>
          </p:cNvPicPr>
          <p:nvPr/>
        </p:nvPicPr>
        <p:blipFill>
          <a:blip r:embed="rId1"/>
          <a:stretch>
            <a:fillRect/>
          </a:stretch>
        </p:blipFill>
        <p:spPr>
          <a:xfrm>
            <a:off x="1932976" y="1481328"/>
            <a:ext cx="8325743" cy="3081528"/>
          </a:xfrm>
          <a:prstGeom prst="rect">
            <a:avLst/>
          </a:prstGeom>
        </p:spPr>
      </p:pic>
      <p:sp>
        <p:nvSpPr>
          <p:cNvPr id="7" name="Text 4"/>
          <p:cNvSpPr txBox="1"/>
          <p:nvPr/>
        </p:nvSpPr>
        <p:spPr>
          <a:xfrm>
            <a:off x="548640" y="4745736"/>
            <a:ext cx="11094415" cy="1563624"/>
          </a:xfrm>
          <a:prstGeom prst="rect">
            <a:avLst/>
          </a:prstGeom>
          <a:noFill/>
          <a:ln/>
        </p:spPr>
        <p:txBody>
          <a:bodyPr wrap="square" lIns="50800" tIns="50800" rIns="50800" bIns="50800" rtlCol="0" anchor="t"/>
          <a:lstStyle/>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Select</a:t>
            </a:r>
            <a:pPr indent="0" marL="0">
              <a:buNone/>
            </a:pPr>
            <a:r>
              <a:rPr lang="en-US" sz="1800" dirty="0">
                <a:solidFill>
                  <a:srgbClr val="1F2937"/>
                </a:solidFill>
                <a:latin typeface="Calibri" pitchFamily="34" charset="0"/>
                <a:ea typeface="Calibri" pitchFamily="34" charset="-122"/>
                <a:cs typeface="Calibri" pitchFamily="34" charset="-120"/>
              </a:rPr>
              <a:t> only relevant information (retrieval, week 12); </a:t>
            </a:r>
            <a:pPr indent="0" marL="0">
              <a:buNone/>
            </a:pPr>
            <a:r>
              <a:rPr lang="en-US" sz="1800" b="1" dirty="0">
                <a:solidFill>
                  <a:srgbClr val="1F2937"/>
                </a:solidFill>
                <a:latin typeface="Calibri" pitchFamily="34" charset="0"/>
                <a:ea typeface="Calibri" pitchFamily="34" charset="-122"/>
                <a:cs typeface="Calibri" pitchFamily="34" charset="-120"/>
              </a:rPr>
              <a:t>compress</a:t>
            </a:r>
            <a:pPr indent="0" marL="0">
              <a:buNone/>
            </a:pPr>
            <a:r>
              <a:rPr lang="en-US" sz="1800" dirty="0">
                <a:solidFill>
                  <a:srgbClr val="1F2937"/>
                </a:solidFill>
                <a:latin typeface="Calibri" pitchFamily="34" charset="0"/>
                <a:ea typeface="Calibri" pitchFamily="34" charset="-122"/>
                <a:cs typeface="Calibri" pitchFamily="34" charset="-120"/>
              </a:rPr>
              <a:t> long histories; </a:t>
            </a:r>
            <a:pPr indent="0" marL="0">
              <a:buNone/>
            </a:pPr>
            <a:r>
              <a:rPr lang="en-US" sz="1800" b="1" dirty="0">
                <a:solidFill>
                  <a:srgbClr val="1F2937"/>
                </a:solidFill>
                <a:latin typeface="Calibri" pitchFamily="34" charset="0"/>
                <a:ea typeface="Calibri" pitchFamily="34" charset="-122"/>
                <a:cs typeface="Calibri" pitchFamily="34" charset="-120"/>
              </a:rPr>
              <a:t>order</a:t>
            </a:r>
            <a:pPr indent="0" marL="0">
              <a:buNone/>
            </a:pPr>
            <a:r>
              <a:rPr lang="en-US" sz="1800" dirty="0">
                <a:solidFill>
                  <a:srgbClr val="1F2937"/>
                </a:solidFill>
                <a:latin typeface="Calibri" pitchFamily="34" charset="0"/>
                <a:ea typeface="Calibri" pitchFamily="34" charset="-122"/>
                <a:cs typeface="Calibri" pitchFamily="34" charset="-120"/>
              </a:rPr>
              <a:t> deliberately (long documents before the question).</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Delimit sources and label them; keep instructions consistent.</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More context is not always better: cost, latency and distraction grow with length.</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Prompting for different tasks</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Summarisation</a:t>
            </a:r>
            <a:endParaRPr lang="en-US" sz="19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Audience, length, what to keep (numbers, decisions); 'use only the text'; ask for key facts as bullets.</a:t>
            </a:r>
            <a:endParaRPr lang="en-US" sz="19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Extraction</a:t>
            </a:r>
            <a:endParaRPr lang="en-US" sz="19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Schema, allowed values, null when absent, temperature 0, validation.</a:t>
            </a:r>
            <a:endParaRPr lang="en-US" sz="19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Classification</a:t>
            </a:r>
            <a:endParaRPr lang="en-US" sz="19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Full label set with definitions; examples per class; one-word answers.</a:t>
            </a:r>
            <a:endParaRPr lang="en-US" sz="19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Code</a:t>
            </a:r>
            <a:endParaRPr lang="en-US" sz="19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Language, versions, interfaces, tests to pass; ask for explanations of changes; run the code.</a:t>
            </a:r>
            <a:endParaRPr lang="en-US" sz="19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Image generation</a:t>
            </a:r>
            <a:endParaRPr lang="en-US" sz="19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Subject, style, composition, lighting, aspect ratio; negative prompts (week 4).</a:t>
            </a:r>
            <a:endParaRPr lang="en-US" sz="19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Data analysis</a:t>
            </a:r>
            <a:endParaRPr lang="en-US" sz="19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Give the data schema; ask for code, not computed numbers; verify results.</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Evaluation methods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you know a prompt, or a model, is actually better?</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evaluation loop (eval-driven development)</a:t>
            </a:r>
            <a:endParaRPr lang="en-US" sz="32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Define success</a:t>
            </a:r>
            <a:endParaRPr lang="en-US" sz="19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What makes an output good? Write criteria and examples</a:t>
            </a:r>
            <a:endParaRPr lang="en-US" sz="17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Build a test set</a:t>
            </a:r>
            <a:endParaRPr lang="en-US" sz="19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Realistic inputs incl. edge cases; hold some out</a:t>
            </a:r>
            <a:endParaRPr lang="en-US" sz="17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EEF0FF"/>
          </a:solidFill>
          <a:ln w="15875">
            <a:solidFill>
              <a:srgbClr val="4F46E5"/>
            </a:solidFill>
            <a:prstDash val="solid"/>
          </a:ln>
        </p:spPr>
      </p:sp>
      <p:sp>
        <p:nvSpPr>
          <p:cNvPr id="19" name="Shape 17"/>
          <p:cNvSpPr/>
          <p:nvPr/>
        </p:nvSpPr>
        <p:spPr>
          <a:xfrm>
            <a:off x="5894680" y="1746504"/>
            <a:ext cx="402336" cy="402336"/>
          </a:xfrm>
          <a:prstGeom prst="ellipse">
            <a:avLst/>
          </a:prstGeom>
          <a:solidFill>
            <a:srgbClr val="4F46E5"/>
          </a:solidFill>
          <a:ln w="12700">
            <a:solidFill>
              <a:srgbClr val="4F46E5"/>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Run</a:t>
            </a:r>
            <a:endParaRPr lang="en-US" sz="19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Fixed model, version, settings; log everything</a:t>
            </a:r>
            <a:endParaRPr lang="en-US" sz="17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FFF1E6"/>
          </a:solidFill>
          <a:ln w="15875">
            <a:solidFill>
              <a:srgbClr val="EA580C"/>
            </a:solidFill>
            <a:prstDash val="solid"/>
          </a:ln>
        </p:spPr>
      </p:sp>
      <p:sp>
        <p:nvSpPr>
          <p:cNvPr id="25" name="Shape 23"/>
          <p:cNvSpPr/>
          <p:nvPr/>
        </p:nvSpPr>
        <p:spPr>
          <a:xfrm>
            <a:off x="8195859" y="1746504"/>
            <a:ext cx="402336" cy="402336"/>
          </a:xfrm>
          <a:prstGeom prst="ellipse">
            <a:avLst/>
          </a:prstGeom>
          <a:solidFill>
            <a:srgbClr val="EA580C"/>
          </a:solidFill>
          <a:ln w="12700">
            <a:solidFill>
              <a:srgbClr val="EA580C"/>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Score</a:t>
            </a:r>
            <a:endParaRPr lang="en-US" sz="19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Automatic metrics + rubric + human review</a:t>
            </a:r>
            <a:endParaRPr lang="en-US" sz="17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EEF0FF"/>
          </a:solidFill>
          <a:ln w="15875">
            <a:solidFill>
              <a:srgbClr val="4F46E5"/>
            </a:solidFill>
            <a:prstDash val="solid"/>
          </a:ln>
        </p:spPr>
      </p:sp>
      <p:sp>
        <p:nvSpPr>
          <p:cNvPr id="31" name="Shape 29"/>
          <p:cNvSpPr/>
          <p:nvPr/>
        </p:nvSpPr>
        <p:spPr>
          <a:xfrm>
            <a:off x="10497038" y="1746504"/>
            <a:ext cx="402336" cy="402336"/>
          </a:xfrm>
          <a:prstGeom prst="ellipse">
            <a:avLst/>
          </a:prstGeom>
          <a:solidFill>
            <a:srgbClr val="4F46E5"/>
          </a:solidFill>
          <a:ln w="12700">
            <a:solidFill>
              <a:srgbClr val="4F46E5"/>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Analyse errors</a:t>
            </a:r>
            <a:endParaRPr lang="en-US" sz="19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Read failures; group them; fix the cause; repeat</a:t>
            </a:r>
            <a:endParaRPr lang="en-US" sz="1700" dirty="0"/>
          </a:p>
        </p:txBody>
      </p:sp>
      <p:sp>
        <p:nvSpPr>
          <p:cNvPr id="35" name="Shape 33"/>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36" name="Text 34"/>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Without a test set there is no prompt engineering, only guessing. Start with 20–50 realistic examples and grow it from real failures.</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Families of evaluation methods</a:t>
            </a:r>
            <a:endParaRPr lang="en-US" sz="3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323830"/>
                <a:gridCol w="3598189"/>
                <a:gridCol w="2098943"/>
                <a:gridCol w="3073453"/>
              </a:tblGrid>
              <a:tr h="0">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Method</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Measures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Needs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Limitation</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Exact match / accuracy / F1</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Correct label or value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Gold answers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Only for closed answers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Reference overlap (BLEU, ROUGE)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Word overlap with a reference text</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Reference outputs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Misses paraphrases; rewards copying</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Semantic similarity</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Embedding similarity to a reference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References + embedding model</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Similar ≠ correct</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Programmatic checks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Schema valid, code passes tests, constraints met</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Test code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Only what you can check automatically</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LLM-as-a-judge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Rubric-based quality at scale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Judge prompt + rubric</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Biases; must be calibrated against humans</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800" b="1" dirty="0">
                          <a:solidFill>
                            <a:srgbClr val="1F2937"/>
                          </a:solidFill>
                          <a:latin typeface="Calibri" pitchFamily="34" charset="0"/>
                          <a:ea typeface="Calibri" pitchFamily="34" charset="-122"/>
                          <a:cs typeface="Calibri" pitchFamily="34" charset="-120"/>
                        </a:rPr>
                        <a:t>Human evaluation</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Usefulness, correctness, safety</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Raters, rubric, time</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800" dirty="0">
                          <a:solidFill>
                            <a:srgbClr val="1F2937"/>
                          </a:solidFill>
                          <a:latin typeface="Calibri" pitchFamily="34" charset="0"/>
                          <a:ea typeface="Calibri" pitchFamily="34" charset="-122"/>
                          <a:cs typeface="Calibri" pitchFamily="34" charset="-120"/>
                        </a:rPr>
                        <a:t>Costly, subjective; measure agreement</a:t>
                      </a:r>
                      <a:endParaRPr lang="en-US" sz="18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reference-based metric by hand: ROUGE-1</a:t>
            </a:r>
            <a:endParaRPr lang="en-US" sz="3200" dirty="0"/>
          </a:p>
        </p:txBody>
      </p:sp>
      <p:sp>
        <p:nvSpPr>
          <p:cNvPr id="6" name="Shape 4"/>
          <p:cNvSpPr/>
          <p:nvPr/>
        </p:nvSpPr>
        <p:spPr>
          <a:xfrm>
            <a:off x="548640" y="1481328"/>
            <a:ext cx="11094415" cy="2194560"/>
          </a:xfrm>
          <a:prstGeom prst="roundRect">
            <a:avLst>
              <a:gd name="adj" fmla="val 5000"/>
            </a:avLst>
          </a:prstGeom>
          <a:solidFill>
            <a:srgbClr val="EEF0FF"/>
          </a:solidFill>
          <a:ln w="12700">
            <a:solidFill>
              <a:srgbClr val="EEF0FF"/>
            </a:solidFill>
            <a:prstDash val="solid"/>
          </a:ln>
        </p:spPr>
      </p:sp>
      <p:pic>
        <p:nvPicPr>
          <p:cNvPr id="7" name="Image 0" descr="C:\Users\sudee\Downloads\Generative_AI_2027_Teaching_Pack\AI2027_Project\build\eq\a7ce078a697fdda9.png">    </p:cNvPr>
          <p:cNvPicPr>
            <a:picLocks noChangeAspect="1"/>
          </p:cNvPicPr>
          <p:nvPr/>
        </p:nvPicPr>
        <p:blipFill>
          <a:blip r:embed="rId1"/>
          <a:stretch>
            <a:fillRect/>
          </a:stretch>
        </p:blipFill>
        <p:spPr>
          <a:xfrm>
            <a:off x="1929232" y="1768856"/>
            <a:ext cx="8333232" cy="704088"/>
          </a:xfrm>
          <a:prstGeom prst="rect">
            <a:avLst/>
          </a:prstGeom>
        </p:spPr>
      </p:pic>
      <p:pic>
        <p:nvPicPr>
          <p:cNvPr id="8" name="Image 1" descr="C:\Users\sudee\Downloads\Generative_AI_2027_Teaching_Pack\AI2027_Project\build\eq\45bd3f17ddae1873.png">    </p:cNvPr>
          <p:cNvPicPr>
            <a:picLocks noChangeAspect="1"/>
          </p:cNvPicPr>
          <p:nvPr/>
        </p:nvPicPr>
        <p:blipFill>
          <a:blip r:embed="rId2"/>
          <a:stretch>
            <a:fillRect/>
          </a:stretch>
        </p:blipFill>
        <p:spPr>
          <a:xfrm>
            <a:off x="4542892" y="2714752"/>
            <a:ext cx="3105912" cy="673608"/>
          </a:xfrm>
          <a:prstGeom prst="rect">
            <a:avLst/>
          </a:prstGeom>
        </p:spPr>
      </p:pic>
      <p:sp>
        <p:nvSpPr>
          <p:cNvPr id="9" name="Text 5"/>
          <p:cNvSpPr txBox="1"/>
          <p:nvPr/>
        </p:nvSpPr>
        <p:spPr>
          <a:xfrm>
            <a:off x="548640" y="390448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288536"/>
            <a:ext cx="6035040" cy="1993392"/>
          </a:xfrm>
          <a:prstGeom prst="rect">
            <a:avLst/>
          </a:prstGeom>
          <a:noFill/>
          <a:ln/>
        </p:spPr>
        <p:txBody>
          <a:bodyPr wrap="square" lIns="50800" tIns="50800" rIns="50800" bIns="50800" rtlCol="0" anchor="t"/>
          <a:lstStyle/>
          <a:p>
            <a:pPr marL="254000" indent="-254000">
              <a:spcAft>
                <a:spcPts val="800"/>
              </a:spcAft>
              <a:buSzPct val="100000"/>
              <a:buChar char="●"/>
            </a:pPr>
            <a:r>
              <a:rPr lang="en-US" sz="1400" dirty="0">
                <a:solidFill>
                  <a:srgbClr val="1F2937"/>
                </a:solidFill>
                <a:latin typeface="Calibri" pitchFamily="34" charset="0"/>
                <a:ea typeface="Calibri" pitchFamily="34" charset="-122"/>
                <a:cs typeface="Calibri" pitchFamily="34" charset="-120"/>
              </a:rPr>
              <a:t>Reference: 'the exam results are published in four weeks' (8 words). Output: 'results are published after four weeks' (6 words).</a:t>
            </a:r>
            <a:endParaRPr lang="en-US" sz="1400" dirty="0"/>
          </a:p>
          <a:p>
            <a:pPr marL="254000" indent="-254000">
              <a:spcAft>
                <a:spcPts val="800"/>
              </a:spcAft>
              <a:buSzPct val="100000"/>
              <a:buChar char="●"/>
            </a:pPr>
            <a:r>
              <a:rPr lang="en-US" sz="1400" dirty="0">
                <a:solidFill>
                  <a:srgbClr val="1F2937"/>
                </a:solidFill>
                <a:latin typeface="Calibri" pitchFamily="34" charset="0"/>
                <a:ea typeface="Calibri" pitchFamily="34" charset="-122"/>
                <a:cs typeface="Calibri" pitchFamily="34" charset="-120"/>
              </a:rPr>
              <a:t>Overlap: results, are, published, four, weeks = 5. Recall 5/8 = 0.63, precision 5/6 = 0.83, F1 = 0.71.</a:t>
            </a:r>
            <a:endParaRPr lang="en-US" sz="1400" dirty="0"/>
          </a:p>
          <a:p>
            <a:pPr marL="254000" indent="-254000">
              <a:spcAft>
                <a:spcPts val="800"/>
              </a:spcAft>
              <a:buSzPct val="100000"/>
              <a:buChar char="●"/>
            </a:pPr>
            <a:r>
              <a:rPr lang="en-US" sz="1400" dirty="0">
                <a:solidFill>
                  <a:srgbClr val="1F2937"/>
                </a:solidFill>
                <a:latin typeface="Calibri" pitchFamily="34" charset="0"/>
                <a:ea typeface="Calibri" pitchFamily="34" charset="-122"/>
                <a:cs typeface="Calibri" pitchFamily="34" charset="-120"/>
              </a:rPr>
              <a:t>A correct paraphrase ('marks come out a month later') scores near 0: overlap ≠ meaning.</a:t>
            </a:r>
            <a:endParaRPr lang="en-US" sz="1400" dirty="0"/>
          </a:p>
        </p:txBody>
      </p:sp>
      <p:sp>
        <p:nvSpPr>
          <p:cNvPr id="11" name="Text 7"/>
          <p:cNvSpPr txBox="1"/>
          <p:nvPr/>
        </p:nvSpPr>
        <p:spPr>
          <a:xfrm>
            <a:off x="6858000" y="390448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31596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ROUGE-1</a:t>
            </a:r>
            <a:endParaRPr lang="en-US" sz="1700" dirty="0"/>
          </a:p>
        </p:txBody>
      </p:sp>
      <p:sp>
        <p:nvSpPr>
          <p:cNvPr id="13" name="Text 9"/>
          <p:cNvSpPr txBox="1"/>
          <p:nvPr/>
        </p:nvSpPr>
        <p:spPr>
          <a:xfrm>
            <a:off x="8046720" y="431596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unigram (single-word) overlap</a:t>
            </a:r>
            <a:endParaRPr lang="en-US" sz="1600" dirty="0"/>
          </a:p>
        </p:txBody>
      </p:sp>
      <p:sp>
        <p:nvSpPr>
          <p:cNvPr id="14" name="Text 10"/>
          <p:cNvSpPr txBox="1"/>
          <p:nvPr/>
        </p:nvSpPr>
        <p:spPr>
          <a:xfrm>
            <a:off x="6858000" y="500176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BLEU</a:t>
            </a:r>
            <a:endParaRPr lang="en-US" sz="1700" dirty="0"/>
          </a:p>
        </p:txBody>
      </p:sp>
      <p:sp>
        <p:nvSpPr>
          <p:cNvPr id="15" name="Text 11"/>
          <p:cNvSpPr txBox="1"/>
          <p:nvPr/>
        </p:nvSpPr>
        <p:spPr>
          <a:xfrm>
            <a:off x="8046720" y="500176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precision of n-grams, used for translation</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LLM-as-a-judge</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A strong model grades outputs with a </a:t>
            </a:r>
            <a:pPr indent="0" marL="0">
              <a:buNone/>
            </a:pPr>
            <a:r>
              <a:rPr lang="en-US" sz="2200" b="1" dirty="0">
                <a:solidFill>
                  <a:srgbClr val="1F2937"/>
                </a:solidFill>
                <a:latin typeface="Calibri" pitchFamily="34" charset="0"/>
                <a:ea typeface="Calibri" pitchFamily="34" charset="-122"/>
                <a:cs typeface="Calibri" pitchFamily="34" charset="-120"/>
              </a:rPr>
              <a:t>rubric</a:t>
            </a:r>
            <a:pPr indent="0" marL="0">
              <a:buNone/>
            </a:pPr>
            <a:r>
              <a:rPr lang="en-US" sz="2200" dirty="0">
                <a:solidFill>
                  <a:srgbClr val="1F2937"/>
                </a:solidFill>
                <a:latin typeface="Calibri" pitchFamily="34" charset="0"/>
                <a:ea typeface="Calibri" pitchFamily="34" charset="-122"/>
                <a:cs typeface="Calibri" pitchFamily="34" charset="-120"/>
              </a:rPr>
              <a:t>, or compares two answers pairwise (Zheng et al., 2023, MT-Bench).</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Strong judges agreed with human preferences about as often as humans agree with each other (≈ 80%) on MT-Bench.</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Known biases: </a:t>
            </a:r>
            <a:pPr indent="0" marL="0">
              <a:buNone/>
            </a:pPr>
            <a:r>
              <a:rPr lang="en-US" sz="2200" b="1" dirty="0">
                <a:solidFill>
                  <a:srgbClr val="1F2937"/>
                </a:solidFill>
                <a:latin typeface="Calibri" pitchFamily="34" charset="0"/>
                <a:ea typeface="Calibri" pitchFamily="34" charset="-122"/>
                <a:cs typeface="Calibri" pitchFamily="34" charset="-120"/>
              </a:rPr>
              <a:t>position</a:t>
            </a:r>
            <a:pPr indent="0" marL="0">
              <a:buNone/>
            </a:pPr>
            <a:r>
              <a:rPr lang="en-US" sz="2200" dirty="0">
                <a:solidFill>
                  <a:srgbClr val="1F2937"/>
                </a:solidFill>
                <a:latin typeface="Calibri" pitchFamily="34" charset="0"/>
                <a:ea typeface="Calibri" pitchFamily="34" charset="-122"/>
                <a:cs typeface="Calibri" pitchFamily="34" charset="-120"/>
              </a:rPr>
              <a:t>, </a:t>
            </a:r>
            <a:pPr indent="0" marL="0">
              <a:buNone/>
            </a:pPr>
            <a:r>
              <a:rPr lang="en-US" sz="2200" b="1" dirty="0">
                <a:solidFill>
                  <a:srgbClr val="1F2937"/>
                </a:solidFill>
                <a:latin typeface="Calibri" pitchFamily="34" charset="0"/>
                <a:ea typeface="Calibri" pitchFamily="34" charset="-122"/>
                <a:cs typeface="Calibri" pitchFamily="34" charset="-120"/>
              </a:rPr>
              <a:t>verbosity</a:t>
            </a:r>
            <a:pPr indent="0" marL="0">
              <a:buNone/>
            </a:pPr>
            <a:r>
              <a:rPr lang="en-US" sz="2200" dirty="0">
                <a:solidFill>
                  <a:srgbClr val="1F2937"/>
                </a:solidFill>
                <a:latin typeface="Calibri" pitchFamily="34" charset="0"/>
                <a:ea typeface="Calibri" pitchFamily="34" charset="-122"/>
                <a:cs typeface="Calibri" pitchFamily="34" charset="-120"/>
              </a:rPr>
              <a:t> (longer looks better), </a:t>
            </a:r>
            <a:pPr indent="0" marL="0">
              <a:buNone/>
            </a:pPr>
            <a:r>
              <a:rPr lang="en-US" sz="2200" b="1" dirty="0">
                <a:solidFill>
                  <a:srgbClr val="1F2937"/>
                </a:solidFill>
                <a:latin typeface="Calibri" pitchFamily="34" charset="0"/>
                <a:ea typeface="Calibri" pitchFamily="34" charset="-122"/>
                <a:cs typeface="Calibri" pitchFamily="34" charset="-120"/>
              </a:rPr>
              <a:t>self-preference</a:t>
            </a:r>
            <a:pPr indent="0" marL="0">
              <a:buNone/>
            </a:pPr>
            <a:r>
              <a:rPr lang="en-US" sz="2200" dirty="0">
                <a:solidFill>
                  <a:srgbClr val="1F2937"/>
                </a:solidFill>
                <a:latin typeface="Calibri" pitchFamily="34" charset="0"/>
                <a:ea typeface="Calibri" pitchFamily="34" charset="-122"/>
                <a:cs typeface="Calibri" pitchFamily="34" charset="-120"/>
              </a:rPr>
              <a:t>, and style over correctness.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Mitigate: evaluate both orders, use rubrics and reference answers, use a different model family, </a:t>
            </a:r>
            <a:pPr indent="0" marL="0">
              <a:buNone/>
            </a:pPr>
            <a:r>
              <a:rPr lang="en-US" sz="2200" b="1" dirty="0">
                <a:solidFill>
                  <a:srgbClr val="1F2937"/>
                </a:solidFill>
                <a:latin typeface="Calibri" pitchFamily="34" charset="0"/>
                <a:ea typeface="Calibri" pitchFamily="34" charset="-122"/>
                <a:cs typeface="Calibri" pitchFamily="34" charset="-120"/>
              </a:rPr>
              <a:t>calibrate on human labels</a:t>
            </a:r>
            <a:pPr indent="0" marL="0">
              <a:buNone/>
            </a:pPr>
            <a:r>
              <a:rPr lang="en-US" sz="2200" dirty="0">
                <a:solidFill>
                  <a:srgbClr val="1F2937"/>
                </a:solidFill>
                <a:latin typeface="Calibri" pitchFamily="34" charset="0"/>
                <a:ea typeface="Calibri" pitchFamily="34" charset="-122"/>
                <a:cs typeface="Calibri" pitchFamily="34" charset="-120"/>
              </a:rPr>
              <a:t> and report agreement.</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rubric for human (or LLM) evaluation of summaries</a:t>
            </a:r>
            <a:endParaRPr lang="en-US" sz="3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935480"/>
                <a:gridCol w="3071666"/>
                <a:gridCol w="2383628"/>
                <a:gridCol w="3703641"/>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Criterion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1 (poor)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3 (acceptable)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5 (excellent)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Faithfulness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Contains claims not in the source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Minor unsupported detail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Every claim supported by the source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Coverage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Misses key points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Most key points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All key points, no padding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Clarity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Hard to follow</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Understandable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Clear and well organised for the audience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Format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Ignores instructions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Minor deviations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Exactly as specified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Use ≥ 2 raters on a sample, measure agreement (e.g. Cohen's kappa), and discuss disagreements to sharpen the rubric.</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Statistics: don't fool yourself with small test sets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With n = 40 items, one item = 2.5 points; the 95% margin for 80% accuracy is about ±12 points.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Compare prompts on the </a:t>
            </a:r>
            <a:pPr indent="0" marL="0">
              <a:buNone/>
            </a:pPr>
            <a:r>
              <a:rPr lang="en-US" sz="2200" b="1" dirty="0">
                <a:solidFill>
                  <a:srgbClr val="1F2937"/>
                </a:solidFill>
                <a:latin typeface="Calibri" pitchFamily="34" charset="0"/>
                <a:ea typeface="Calibri" pitchFamily="34" charset="-122"/>
                <a:cs typeface="Calibri" pitchFamily="34" charset="-120"/>
              </a:rPr>
              <a:t>same</a:t>
            </a:r>
            <a:pPr indent="0" marL="0">
              <a:buNone/>
            </a:pPr>
            <a:r>
              <a:rPr lang="en-US" sz="2200" dirty="0">
                <a:solidFill>
                  <a:srgbClr val="1F2937"/>
                </a:solidFill>
                <a:latin typeface="Calibri" pitchFamily="34" charset="0"/>
                <a:ea typeface="Calibri" pitchFamily="34" charset="-122"/>
                <a:cs typeface="Calibri" pitchFamily="34" charset="-120"/>
              </a:rPr>
              <a:t> items (paired); count items where they disagree.</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Sampled outputs vary: run several seeds and report mean ± spread.</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Keep a </a:t>
            </a:r>
            <a:pPr indent="0" marL="0">
              <a:buNone/>
            </a:pPr>
            <a:r>
              <a:rPr lang="en-US" sz="2200" b="1" dirty="0">
                <a:solidFill>
                  <a:srgbClr val="1F2937"/>
                </a:solidFill>
                <a:latin typeface="Calibri" pitchFamily="34" charset="0"/>
                <a:ea typeface="Calibri" pitchFamily="34" charset="-122"/>
                <a:cs typeface="Calibri" pitchFamily="34" charset="-120"/>
              </a:rPr>
              <a:t>held-out</a:t>
            </a:r>
            <a:pPr indent="0" marL="0">
              <a:buNone/>
            </a:pPr>
            <a:r>
              <a:rPr lang="en-US" sz="2200" dirty="0">
                <a:solidFill>
                  <a:srgbClr val="1F2937"/>
                </a:solidFill>
                <a:latin typeface="Calibri" pitchFamily="34" charset="0"/>
                <a:ea typeface="Calibri" pitchFamily="34" charset="-122"/>
                <a:cs typeface="Calibri" pitchFamily="34" charset="-120"/>
              </a:rPr>
              <a:t> set: prompts tuned on the test set overfit it.</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Report model, version, date, settings, n, and failure examples.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Limitations, security and tools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can still go wrong, and what tools help?</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Limitations that prompting cannot remove</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Hallucination</a:t>
            </a:r>
            <a:endParaRPr lang="en-US" sz="19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Fluent but false output; reduced by context, 'say you don't know', and verification, not eliminated.</a:t>
            </a:r>
            <a:endParaRPr lang="en-US" sz="19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Prompt sensitivity</a:t>
            </a:r>
            <a:endParaRPr lang="en-US" sz="19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Small wording, order or format changes can shift accuracy by several points.</a:t>
            </a:r>
            <a:endParaRPr lang="en-US" sz="19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Knowledge cut-off</a:t>
            </a:r>
            <a:endParaRPr lang="en-US" sz="19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Pre-training data ends at a date; recent facts need retrieval or tools.</a:t>
            </a:r>
            <a:endParaRPr lang="en-US" sz="19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Sycophancy</a:t>
            </a:r>
            <a:endParaRPr lang="en-US" sz="19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Models tend to agree with the user's stated view, even when it is wrong.</a:t>
            </a:r>
            <a:endParaRPr lang="en-US" sz="19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Bias</a:t>
            </a:r>
            <a:endParaRPr lang="en-US" sz="19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Outputs can stereotype or treat groups differently; test with varied names and demographics.</a:t>
            </a:r>
            <a:endParaRPr lang="en-US" sz="19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Non-determinism</a:t>
            </a:r>
            <a:endParaRPr lang="en-US" sz="19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Sampling and server changes alter outputs; fix settings and log versions.</a:t>
            </a:r>
            <a:endParaRPr lang="en-US" sz="1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Prompt injection and jailbreaks: a real measurement</a:t>
            </a:r>
            <a:endParaRPr lang="en-US" sz="3200" dirty="0"/>
          </a:p>
        </p:txBody>
      </p:sp>
      <p:pic>
        <p:nvPicPr>
          <p:cNvPr id="6" name="Image 0" descr="C:\Users\sudee\Downloads\Generative_AI_2027_Teaching_Pack\AI2027_Project\build\figures\week_07\injection_results.png">    </p:cNvPr>
          <p:cNvPicPr>
            <a:picLocks noChangeAspect="1"/>
          </p:cNvPicPr>
          <p:nvPr/>
        </p:nvPicPr>
        <p:blipFill>
          <a:blip r:embed="rId1"/>
          <a:stretch>
            <a:fillRect/>
          </a:stretch>
        </p:blipFill>
        <p:spPr>
          <a:xfrm>
            <a:off x="4024027" y="1481328"/>
            <a:ext cx="4143641" cy="2510028"/>
          </a:xfrm>
          <a:prstGeom prst="rect">
            <a:avLst/>
          </a:prstGeom>
        </p:spPr>
      </p:pic>
      <p:sp>
        <p:nvSpPr>
          <p:cNvPr id="7" name="Text 4"/>
          <p:cNvSpPr txBox="1"/>
          <p:nvPr/>
        </p:nvSpPr>
        <p:spPr>
          <a:xfrm>
            <a:off x="548640" y="4174236"/>
            <a:ext cx="11094415" cy="2135124"/>
          </a:xfrm>
          <a:prstGeom prst="rect">
            <a:avLst/>
          </a:prstGeom>
          <a:noFill/>
          <a:ln/>
        </p:spPr>
        <p:txBody>
          <a:bodyPr wrap="square" lIns="50800" tIns="50800" rIns="50800" bIns="50800" rtlCol="0" anchor="t"/>
          <a:lstStyle/>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Direct injection / jailbreak</a:t>
            </a:r>
            <a:pPr indent="0" marL="0">
              <a:buNone/>
            </a:pPr>
            <a:r>
              <a:rPr lang="en-US" sz="1800" dirty="0">
                <a:solidFill>
                  <a:srgbClr val="1F2937"/>
                </a:solidFill>
                <a:latin typeface="Calibri" pitchFamily="34" charset="0"/>
                <a:ea typeface="Calibri" pitchFamily="34" charset="-122"/>
                <a:cs typeface="Calibri" pitchFamily="34" charset="-120"/>
              </a:rPr>
              <a:t>: the user tries to override rules. </a:t>
            </a:r>
            <a:pPr indent="0" marL="0">
              <a:buNone/>
            </a:pPr>
            <a:r>
              <a:rPr lang="en-US" sz="1800" b="1" dirty="0">
                <a:solidFill>
                  <a:srgbClr val="1F2937"/>
                </a:solidFill>
                <a:latin typeface="Calibri" pitchFamily="34" charset="0"/>
                <a:ea typeface="Calibri" pitchFamily="34" charset="-122"/>
                <a:cs typeface="Calibri" pitchFamily="34" charset="-120"/>
              </a:rPr>
              <a:t>Indirect injection</a:t>
            </a:r>
            <a:pPr indent="0" marL="0">
              <a:buNone/>
            </a:pPr>
            <a:r>
              <a:rPr lang="en-US" sz="1800" dirty="0">
                <a:solidFill>
                  <a:srgbClr val="1F2937"/>
                </a:solidFill>
                <a:latin typeface="Calibri" pitchFamily="34" charset="0"/>
                <a:ea typeface="Calibri" pitchFamily="34" charset="-122"/>
                <a:cs typeface="Calibri" pitchFamily="34" charset="-120"/>
              </a:rPr>
              <a:t>: instructions hidden in documents, web pages or emails the model reads.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Measured attack success on 3 injected documents: naive prompt 100% (3 of 3), defended prompt 67% (2 of 3).</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No prompt fully fixes injection: add least privilege, tool allow-lists, output checks and human approval for actions (week 12).</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Supporting tools</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Playgrounds</a:t>
            </a:r>
            <a:endParaRPr lang="en-US" sz="19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Google AI Studio, OpenAI Playground, Anthropic Console: iterate quickly, compare models, export code.</a:t>
            </a:r>
            <a:endParaRPr lang="en-US" sz="19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Prompt management</a:t>
            </a:r>
            <a:endParaRPr lang="en-US" sz="19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Version prompts like code; templates with variables; changelogs.</a:t>
            </a:r>
            <a:endParaRPr lang="en-US" sz="19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Evaluation frameworks</a:t>
            </a:r>
            <a:endParaRPr lang="en-US" sz="19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OpenAI Evals, promptfoo, Inspect, LangSmith: run test sets, score, compare versions.</a:t>
            </a:r>
            <a:endParaRPr lang="en-US" sz="19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Prompt optimisers</a:t>
            </a:r>
            <a:endParaRPr lang="en-US" sz="19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DSPy and vendor 'improve prompt' features search for better prompts against a metric.</a:t>
            </a:r>
            <a:endParaRPr lang="en-US" sz="19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Observability</a:t>
            </a:r>
            <a:endParaRPr lang="en-US" sz="19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Trace every call (inputs, outputs, tokens, latency) in production (week 11).</a:t>
            </a:r>
            <a:endParaRPr lang="en-US" sz="19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Guardrails</a:t>
            </a:r>
            <a:endParaRPr lang="en-US" sz="19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Input/output filters, schema enforcement, PII detection, injection classifiers.</a:t>
            </a:r>
            <a:endParaRPr lang="en-US" sz="1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Responsible AI lens: prompting and evaluation</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Privacy</a:t>
            </a:r>
            <a:pPr indent="0" marL="0">
              <a:buNone/>
            </a:pPr>
            <a:r>
              <a:rPr lang="en-US" sz="2200" dirty="0">
                <a:solidFill>
                  <a:srgbClr val="1F2937"/>
                </a:solidFill>
                <a:latin typeface="Calibri" pitchFamily="34" charset="0"/>
                <a:ea typeface="Calibri" pitchFamily="34" charset="-122"/>
                <a:cs typeface="Calibri" pitchFamily="34" charset="-120"/>
              </a:rPr>
              <a:t>: prompts are data. Do not paste personal or confidential information into tools without approval.</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Bias testing</a:t>
            </a:r>
            <a:pPr indent="0" marL="0">
              <a:buNone/>
            </a:pPr>
            <a:r>
              <a:rPr lang="en-US" sz="2200" dirty="0">
                <a:solidFill>
                  <a:srgbClr val="1F2937"/>
                </a:solidFill>
                <a:latin typeface="Calibri" pitchFamily="34" charset="0"/>
                <a:ea typeface="Calibri" pitchFamily="34" charset="-122"/>
                <a:cs typeface="Calibri" pitchFamily="34" charset="-120"/>
              </a:rPr>
              <a:t>: include varied names, dialects and demographics in test sets; compare outcomes.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Over-reliance</a:t>
            </a:r>
            <a:pPr indent="0" marL="0">
              <a:buNone/>
            </a:pPr>
            <a:r>
              <a:rPr lang="en-US" sz="2200" dirty="0">
                <a:solidFill>
                  <a:srgbClr val="1F2937"/>
                </a:solidFill>
                <a:latin typeface="Calibri" pitchFamily="34" charset="0"/>
                <a:ea typeface="Calibri" pitchFamily="34" charset="-122"/>
                <a:cs typeface="Calibri" pitchFamily="34" charset="-120"/>
              </a:rPr>
              <a:t>: a polished answer invites trust; design for human verification where it matters.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Transparency</a:t>
            </a:r>
            <a:pPr indent="0" marL="0">
              <a:buNone/>
            </a:pPr>
            <a:r>
              <a:rPr lang="en-US" sz="2200" dirty="0">
                <a:solidFill>
                  <a:srgbClr val="1F2937"/>
                </a:solidFill>
                <a:latin typeface="Calibri" pitchFamily="34" charset="0"/>
                <a:ea typeface="Calibri" pitchFamily="34" charset="-122"/>
                <a:cs typeface="Calibri" pitchFamily="34" charset="-120"/>
              </a:rPr>
              <a:t>: disclose AI assistance and keep prompts and versions for accountability.</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Evaluation </a:t>
            </a:r>
            <a:pPr indent="0" marL="0">
              <a:buNone/>
            </a:pPr>
            <a:r>
              <a:rPr lang="en-US" sz="2200" b="1" dirty="0">
                <a:solidFill>
                  <a:srgbClr val="1F2937"/>
                </a:solidFill>
                <a:latin typeface="Calibri" pitchFamily="34" charset="0"/>
                <a:ea typeface="Calibri" pitchFamily="34" charset="-122"/>
                <a:cs typeface="Calibri" pitchFamily="34" charset="-120"/>
              </a:rPr>
              <a:t>is</a:t>
            </a:r>
            <a:pPr indent="0" marL="0">
              <a:buNone/>
            </a:pPr>
            <a:r>
              <a:rPr lang="en-US" sz="2200" dirty="0">
                <a:solidFill>
                  <a:srgbClr val="1F2937"/>
                </a:solidFill>
                <a:latin typeface="Calibri" pitchFamily="34" charset="0"/>
                <a:ea typeface="Calibri" pitchFamily="34" charset="-122"/>
                <a:cs typeface="Calibri" pitchFamily="34" charset="-120"/>
              </a:rPr>
              <a:t> responsible practice: untested prompts are untested software.</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Five prompt experiments</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Use a different success check for each task</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Route tickets</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prompt strategies with the same labelled messages</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evaluate / label_scorer</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classification table</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Score numbers</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direct answers, written steps and sampled votes</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num_scorer / majority_vote</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number-task measures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Extract fields</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Separate schema validity from field correctness</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parse_with_retry</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extraction measures</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Test injection</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summary prompts on documents containing hostile instructions</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defended_prompt / hijacked</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attack-test table</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Swap judge order</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Check whether answer position changes the verdict</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judge</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judge verdicts</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Summarise evidence</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Report correctness, costs, failures and measurement limits</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summaries / res / inj</a:t>
            </a:r>
            <a:endParaRPr lang="en-US" sz="1200"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Why inspect examples even after an automatic metric has been calculated?</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Lab 7: prompt engineering with evidence</a:t>
            </a:r>
            <a:endParaRPr lang="en-US" sz="32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Build a reusable </a:t>
            </a:r>
            <a:pPr indent="0" marL="0">
              <a:buNone/>
            </a:pPr>
            <a:r>
              <a:rPr lang="en-US" sz="1700" b="1" dirty="0">
                <a:solidFill>
                  <a:srgbClr val="1F2937"/>
                </a:solidFill>
                <a:latin typeface="Calibri" pitchFamily="34" charset="0"/>
                <a:ea typeface="Calibri" pitchFamily="34" charset="-122"/>
                <a:cs typeface="Calibri" pitchFamily="34" charset="-120"/>
              </a:rPr>
              <a:t>evaluation harness</a:t>
            </a:r>
            <a:pPr indent="0" marL="0">
              <a:buNone/>
            </a:pPr>
            <a:r>
              <a:rPr lang="en-US" sz="1700" dirty="0">
                <a:solidFill>
                  <a:srgbClr val="1F2937"/>
                </a:solidFill>
                <a:latin typeface="Calibri" pitchFamily="34" charset="0"/>
                <a:ea typeface="Calibri" pitchFamily="34" charset="-122"/>
                <a:cs typeface="Calibri" pitchFamily="34" charset="-120"/>
              </a:rPr>
              <a:t> (fixed model and settings, results table).</a:t>
            </a:r>
            <a:endParaRPr lang="en-US" sz="1700" dirty="0"/>
          </a:p>
        </p:txBody>
      </p:sp>
      <p:sp>
        <p:nvSpPr>
          <p:cNvPr id="9" name="Shape 7"/>
          <p:cNvSpPr/>
          <p:nvPr/>
        </p:nvSpPr>
        <p:spPr>
          <a:xfrm>
            <a:off x="548640" y="2331720"/>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6000"/>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Compare </a:t>
            </a:r>
            <a:pPr indent="0" marL="0">
              <a:buNone/>
            </a:pPr>
            <a:r>
              <a:rPr lang="en-US" sz="1700" b="1" dirty="0">
                <a:solidFill>
                  <a:srgbClr val="1F2937"/>
                </a:solidFill>
                <a:latin typeface="Calibri" pitchFamily="34" charset="0"/>
                <a:ea typeface="Calibri" pitchFamily="34" charset="-122"/>
                <a:cs typeface="Calibri" pitchFamily="34" charset="-120"/>
              </a:rPr>
              <a:t>zero-, one-, few-shot and role</a:t>
            </a:r>
            <a:pPr indent="0" marL="0">
              <a:buNone/>
            </a:pPr>
            <a:r>
              <a:rPr lang="en-US" sz="1700" dirty="0">
                <a:solidFill>
                  <a:srgbClr val="1F2937"/>
                </a:solidFill>
                <a:latin typeface="Calibri" pitchFamily="34" charset="0"/>
                <a:ea typeface="Calibri" pitchFamily="34" charset="-122"/>
                <a:cs typeface="Calibri" pitchFamily="34" charset="-120"/>
              </a:rPr>
              <a:t> prompts on 40 labelled messages; analyse errors.</a:t>
            </a:r>
            <a:endParaRPr lang="en-US" sz="1700" dirty="0"/>
          </a:p>
        </p:txBody>
      </p:sp>
      <p:sp>
        <p:nvSpPr>
          <p:cNvPr id="12" name="Shape 10"/>
          <p:cNvSpPr/>
          <p:nvPr/>
        </p:nvSpPr>
        <p:spPr>
          <a:xfrm>
            <a:off x="548640" y="3136392"/>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1363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90672"/>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Compare </a:t>
            </a:r>
            <a:pPr indent="0" marL="0">
              <a:buNone/>
            </a:pPr>
            <a:r>
              <a:rPr lang="en-US" sz="1700" b="1" dirty="0">
                <a:solidFill>
                  <a:srgbClr val="1F2937"/>
                </a:solidFill>
                <a:latin typeface="Calibri" pitchFamily="34" charset="0"/>
                <a:ea typeface="Calibri" pitchFamily="34" charset="-122"/>
                <a:cs typeface="Calibri" pitchFamily="34" charset="-120"/>
              </a:rPr>
              <a:t>direct, chain-of-thought and self-consistency</a:t>
            </a:r>
            <a:pPr indent="0" marL="0">
              <a:buNone/>
            </a:pPr>
            <a:r>
              <a:rPr lang="en-US" sz="1700" dirty="0">
                <a:solidFill>
                  <a:srgbClr val="1F2937"/>
                </a:solidFill>
                <a:latin typeface="Calibri" pitchFamily="34" charset="0"/>
                <a:ea typeface="Calibri" pitchFamily="34" charset="-122"/>
                <a:cs typeface="Calibri" pitchFamily="34" charset="-120"/>
              </a:rPr>
              <a:t> on word problems: accuracy vs tokens.</a:t>
            </a:r>
            <a:endParaRPr lang="en-US" sz="1700" dirty="0"/>
          </a:p>
        </p:txBody>
      </p:sp>
      <p:sp>
        <p:nvSpPr>
          <p:cNvPr id="15" name="Shape 13"/>
          <p:cNvSpPr/>
          <p:nvPr/>
        </p:nvSpPr>
        <p:spPr>
          <a:xfrm>
            <a:off x="548640" y="3941064"/>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39410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895344"/>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Extract </a:t>
            </a:r>
            <a:pPr indent="0" marL="0">
              <a:buNone/>
            </a:pPr>
            <a:r>
              <a:rPr lang="en-US" sz="1700" b="1" dirty="0">
                <a:solidFill>
                  <a:srgbClr val="1F2937"/>
                </a:solidFill>
                <a:latin typeface="Calibri" pitchFamily="34" charset="0"/>
                <a:ea typeface="Calibri" pitchFamily="34" charset="-122"/>
                <a:cs typeface="Calibri" pitchFamily="34" charset="-120"/>
              </a:rPr>
              <a:t>JSON</a:t>
            </a:r>
            <a:pPr indent="0" marL="0">
              <a:buNone/>
            </a:pPr>
            <a:r>
              <a:rPr lang="en-US" sz="1700" dirty="0">
                <a:solidFill>
                  <a:srgbClr val="1F2937"/>
                </a:solidFill>
                <a:latin typeface="Calibri" pitchFamily="34" charset="0"/>
                <a:ea typeface="Calibri" pitchFamily="34" charset="-122"/>
                <a:cs typeface="Calibri" pitchFamily="34" charset="-120"/>
              </a:rPr>
              <a:t> from emails, validate with a schema and </a:t>
            </a:r>
            <a:pPr indent="0" marL="0">
              <a:buNone/>
            </a:pPr>
            <a:r>
              <a:rPr lang="en-US" sz="1700" b="1" dirty="0">
                <a:solidFill>
                  <a:srgbClr val="1F2937"/>
                </a:solidFill>
                <a:latin typeface="Calibri" pitchFamily="34" charset="0"/>
                <a:ea typeface="Calibri" pitchFamily="34" charset="-122"/>
                <a:cs typeface="Calibri" pitchFamily="34" charset="-120"/>
              </a:rPr>
              <a:t>retry</a:t>
            </a:r>
            <a:pPr indent="0" marL="0">
              <a:buNone/>
            </a:pPr>
            <a:r>
              <a:rPr lang="en-US" sz="1700" dirty="0">
                <a:solidFill>
                  <a:srgbClr val="1F2937"/>
                </a:solidFill>
                <a:latin typeface="Calibri" pitchFamily="34" charset="0"/>
                <a:ea typeface="Calibri" pitchFamily="34" charset="-122"/>
                <a:cs typeface="Calibri" pitchFamily="34" charset="-120"/>
              </a:rPr>
              <a:t> on errors; valid vs correct.</a:t>
            </a:r>
            <a:endParaRPr lang="en-US" sz="1700" dirty="0"/>
          </a:p>
        </p:txBody>
      </p:sp>
      <p:sp>
        <p:nvSpPr>
          <p:cNvPr id="18" name="Shape 16"/>
          <p:cNvSpPr/>
          <p:nvPr/>
        </p:nvSpPr>
        <p:spPr>
          <a:xfrm>
            <a:off x="548640" y="4745736"/>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47457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00016"/>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Measure </a:t>
            </a:r>
            <a:pPr indent="0" marL="0">
              <a:buNone/>
            </a:pPr>
            <a:r>
              <a:rPr lang="en-US" sz="1700" b="1" dirty="0">
                <a:solidFill>
                  <a:srgbClr val="1F2937"/>
                </a:solidFill>
                <a:latin typeface="Calibri" pitchFamily="34" charset="0"/>
                <a:ea typeface="Calibri" pitchFamily="34" charset="-122"/>
                <a:cs typeface="Calibri" pitchFamily="34" charset="-120"/>
              </a:rPr>
              <a:t>prompt injection</a:t>
            </a:r>
            <a:pPr indent="0" marL="0">
              <a:buNone/>
            </a:pPr>
            <a:r>
              <a:rPr lang="en-US" sz="1700" dirty="0">
                <a:solidFill>
                  <a:srgbClr val="1F2937"/>
                </a:solidFill>
                <a:latin typeface="Calibri" pitchFamily="34" charset="0"/>
                <a:ea typeface="Calibri" pitchFamily="34" charset="-122"/>
                <a:cs typeface="Calibri" pitchFamily="34" charset="-120"/>
              </a:rPr>
              <a:t> success with a naive and a defended prompt.</a:t>
            </a:r>
            <a:endParaRPr lang="en-US" sz="1700" dirty="0"/>
          </a:p>
        </p:txBody>
      </p:sp>
      <p:sp>
        <p:nvSpPr>
          <p:cNvPr id="21" name="Shape 19"/>
          <p:cNvSpPr/>
          <p:nvPr/>
        </p:nvSpPr>
        <p:spPr>
          <a:xfrm>
            <a:off x="548640" y="5550408"/>
            <a:ext cx="411480" cy="411480"/>
          </a:xfrm>
          <a:prstGeom prst="ellipse">
            <a:avLst/>
          </a:prstGeom>
          <a:solidFill>
            <a:srgbClr val="0F766E"/>
          </a:solidFill>
          <a:ln w="12700">
            <a:solidFill>
              <a:srgbClr val="0F766E"/>
            </a:solidFill>
            <a:prstDash val="solid"/>
          </a:ln>
        </p:spPr>
      </p:sp>
      <p:sp>
        <p:nvSpPr>
          <p:cNvPr id="22" name="Text 20"/>
          <p:cNvSpPr txBox="1"/>
          <p:nvPr/>
        </p:nvSpPr>
        <p:spPr>
          <a:xfrm>
            <a:off x="548640" y="5550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0468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Use </a:t>
            </a:r>
            <a:pPr indent="0" marL="0">
              <a:buNone/>
            </a:pPr>
            <a:r>
              <a:rPr lang="en-US" sz="1700" b="1" dirty="0">
                <a:solidFill>
                  <a:srgbClr val="1F2937"/>
                </a:solidFill>
                <a:latin typeface="Calibri" pitchFamily="34" charset="0"/>
                <a:ea typeface="Calibri" pitchFamily="34" charset="-122"/>
                <a:cs typeface="Calibri" pitchFamily="34" charset="-120"/>
              </a:rPr>
              <a:t>LLM-as-a-judge</a:t>
            </a:r>
            <a:pPr indent="0" marL="0">
              <a:buNone/>
            </a:pPr>
            <a:r>
              <a:rPr lang="en-US" sz="1700" dirty="0">
                <a:solidFill>
                  <a:srgbClr val="1F2937"/>
                </a:solidFill>
                <a:latin typeface="Calibri" pitchFamily="34" charset="0"/>
                <a:ea typeface="Calibri" pitchFamily="34" charset="-122"/>
                <a:cs typeface="Calibri" pitchFamily="34" charset="-120"/>
              </a:rPr>
              <a:t> and test it for </a:t>
            </a:r>
            <a:pPr indent="0" marL="0">
              <a:buNone/>
            </a:pPr>
            <a:r>
              <a:rPr lang="en-US" sz="1700" b="1" dirty="0">
                <a:solidFill>
                  <a:srgbClr val="1F2937"/>
                </a:solidFill>
                <a:latin typeface="Calibri" pitchFamily="34" charset="0"/>
                <a:ea typeface="Calibri" pitchFamily="34" charset="-122"/>
                <a:cs typeface="Calibri" pitchFamily="34" charset="-120"/>
              </a:rPr>
              <a:t>position bias</a:t>
            </a:r>
            <a:pPr indent="0" marL="0">
              <a:buNone/>
            </a:pPr>
            <a:r>
              <a:rPr lang="en-US" sz="1700" dirty="0">
                <a:solidFill>
                  <a:srgbClr val="1F2937"/>
                </a:solidFill>
                <a:latin typeface="Calibri" pitchFamily="34" charset="0"/>
                <a:ea typeface="Calibri" pitchFamily="34" charset="-122"/>
                <a:cs typeface="Calibri" pitchFamily="34" charset="-120"/>
              </a:rPr>
              <a:t>.</a:t>
            </a:r>
            <a:endParaRPr lang="en-US" sz="1700" dirty="0"/>
          </a:p>
        </p:txBody>
      </p:sp>
      <p:sp>
        <p:nvSpPr>
          <p:cNvPr id="24" name="Shape 22"/>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5" name="Shape 23"/>
          <p:cNvSpPr/>
          <p:nvPr/>
        </p:nvSpPr>
        <p:spPr>
          <a:xfrm>
            <a:off x="8229600" y="1709928"/>
            <a:ext cx="502920" cy="502920"/>
          </a:xfrm>
          <a:prstGeom prst="ellipse">
            <a:avLst/>
          </a:prstGeom>
          <a:solidFill>
            <a:srgbClr val="0F766E"/>
          </a:solidFill>
          <a:ln w="12700">
            <a:solidFill>
              <a:srgbClr val="0F766E"/>
            </a:solidFill>
            <a:prstDash val="solid"/>
          </a:ln>
        </p:spPr>
      </p:sp>
      <p:pic>
        <p:nvPicPr>
          <p:cNvPr id="26"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7" name="Text 24"/>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8" name="Text 25"/>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Google Colab T4 GPU (Qwen2.5-1.5B) or CPU (Qwen2.5-0.5B, slower)</a:t>
            </a:r>
            <a:endParaRPr lang="en-US" sz="1400" dirty="0"/>
          </a:p>
        </p:txBody>
      </p:sp>
      <p:sp>
        <p:nvSpPr>
          <p:cNvPr id="29" name="Shape 26"/>
          <p:cNvSpPr/>
          <p:nvPr/>
        </p:nvSpPr>
        <p:spPr>
          <a:xfrm>
            <a:off x="8229600" y="3227832"/>
            <a:ext cx="502920" cy="502920"/>
          </a:xfrm>
          <a:prstGeom prst="ellipse">
            <a:avLst/>
          </a:prstGeom>
          <a:solidFill>
            <a:srgbClr val="0F766E"/>
          </a:solidFill>
          <a:ln w="12700">
            <a:solidFill>
              <a:srgbClr val="0F766E"/>
            </a:solidFill>
            <a:prstDash val="solid"/>
          </a:ln>
        </p:spPr>
      </p:sp>
      <p:pic>
        <p:nvPicPr>
          <p:cNvPr id="30"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31" name="Text 27"/>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32" name="Text 28"/>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3" name="Shape 29"/>
          <p:cNvSpPr/>
          <p:nvPr/>
        </p:nvSpPr>
        <p:spPr>
          <a:xfrm>
            <a:off x="8229600" y="4745736"/>
            <a:ext cx="502920" cy="502920"/>
          </a:xfrm>
          <a:prstGeom prst="ellipse">
            <a:avLst/>
          </a:prstGeom>
          <a:solidFill>
            <a:srgbClr val="0F766E"/>
          </a:solidFill>
          <a:ln w="12700">
            <a:solidFill>
              <a:srgbClr val="0F766E"/>
            </a:solidFill>
            <a:prstDash val="solid"/>
          </a:ln>
        </p:spPr>
      </p:sp>
      <p:pic>
        <p:nvPicPr>
          <p:cNvPr id="34"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5" name="Text 30"/>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6" name="Text 31"/>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Notebook with results tables, error analysis and five written answers; the harness for your project</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Key takeaways</a:t>
            </a:r>
            <a:endParaRPr lang="en-US" sz="3200" dirty="0"/>
          </a:p>
        </p:txBody>
      </p:sp>
      <p:pic>
        <p:nvPicPr>
          <p:cNvPr id="6" name="Image 0" descr="preencoded.png">    </p:cNvPr>
          <p:cNvPicPr>
            <a:picLocks noChangeAspect="1"/>
          </p:cNvPicPr>
          <p:nvPr/>
        </p:nvPicPr>
        <p:blipFill>
          <a:blip r:embed="rId1"/>
          <a:stretch>
            <a:fillRect/>
          </a:stretch>
        </p:blipFill>
        <p:spPr>
          <a:xfrm>
            <a:off x="548640" y="1554480"/>
            <a:ext cx="384048" cy="384048"/>
          </a:xfrm>
          <a:prstGeom prst="rect">
            <a:avLst/>
          </a:prstGeom>
        </p:spPr>
      </p:pic>
      <p:sp>
        <p:nvSpPr>
          <p:cNvPr id="7" name="Text 4"/>
          <p:cNvSpPr txBox="1"/>
          <p:nvPr/>
        </p:nvSpPr>
        <p:spPr>
          <a:xfrm>
            <a:off x="1097280" y="1481328"/>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Prompting adapts a model without changing weights; start here, add retrieval, fine-tune last.</a:t>
            </a:r>
            <a:endParaRPr lang="en-US" sz="1900" dirty="0"/>
          </a:p>
        </p:txBody>
      </p:sp>
      <p:pic>
        <p:nvPicPr>
          <p:cNvPr id="8" name="Image 1" descr="preencoded.png">    </p:cNvPr>
          <p:cNvPicPr>
            <a:picLocks noChangeAspect="1"/>
          </p:cNvPicPr>
          <p:nvPr/>
        </p:nvPicPr>
        <p:blipFill>
          <a:blip r:embed="rId2"/>
          <a:stretch>
            <a:fillRect/>
          </a:stretch>
        </p:blipFill>
        <p:spPr>
          <a:xfrm>
            <a:off x="548640" y="2761488"/>
            <a:ext cx="384048" cy="384048"/>
          </a:xfrm>
          <a:prstGeom prst="rect">
            <a:avLst/>
          </a:prstGeom>
        </p:spPr>
      </p:pic>
      <p:sp>
        <p:nvSpPr>
          <p:cNvPr id="9" name="Text 5"/>
          <p:cNvSpPr txBox="1"/>
          <p:nvPr/>
        </p:nvSpPr>
        <p:spPr>
          <a:xfrm>
            <a:off x="1097280" y="2688336"/>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Structure prompts: </a:t>
            </a:r>
            <a:pPr indent="0" marL="0">
              <a:buNone/>
            </a:pPr>
            <a:r>
              <a:rPr lang="en-US" sz="1900" b="1" dirty="0">
                <a:solidFill>
                  <a:srgbClr val="1F2937"/>
                </a:solidFill>
                <a:latin typeface="Calibri" pitchFamily="34" charset="0"/>
                <a:ea typeface="Calibri" pitchFamily="34" charset="-122"/>
                <a:cs typeface="Calibri" pitchFamily="34" charset="-120"/>
              </a:rPr>
              <a:t>system rules</a:t>
            </a:r>
            <a:pPr indent="0" marL="0">
              <a:buNone/>
            </a:pPr>
            <a:r>
              <a:rPr lang="en-US" sz="1900" dirty="0">
                <a:solidFill>
                  <a:srgbClr val="1F2937"/>
                </a:solidFill>
                <a:latin typeface="Calibri" pitchFamily="34" charset="0"/>
                <a:ea typeface="Calibri" pitchFamily="34" charset="-122"/>
                <a:cs typeface="Calibri" pitchFamily="34" charset="-120"/>
              </a:rPr>
              <a:t>, delimited </a:t>
            </a:r>
            <a:pPr indent="0" marL="0">
              <a:buNone/>
            </a:pPr>
            <a:r>
              <a:rPr lang="en-US" sz="1900" b="1" dirty="0">
                <a:solidFill>
                  <a:srgbClr val="1F2937"/>
                </a:solidFill>
                <a:latin typeface="Calibri" pitchFamily="34" charset="0"/>
                <a:ea typeface="Calibri" pitchFamily="34" charset="-122"/>
                <a:cs typeface="Calibri" pitchFamily="34" charset="-120"/>
              </a:rPr>
              <a:t>context</a:t>
            </a:r>
            <a:pPr indent="0" marL="0">
              <a:buNone/>
            </a:pPr>
            <a:r>
              <a:rPr lang="en-US" sz="1900" dirty="0">
                <a:solidFill>
                  <a:srgbClr val="1F2937"/>
                </a:solidFill>
                <a:latin typeface="Calibri" pitchFamily="34" charset="0"/>
                <a:ea typeface="Calibri" pitchFamily="34" charset="-122"/>
                <a:cs typeface="Calibri" pitchFamily="34" charset="-120"/>
              </a:rPr>
              <a:t>, </a:t>
            </a:r>
            <a:pPr indent="0" marL="0">
              <a:buNone/>
            </a:pPr>
            <a:r>
              <a:rPr lang="en-US" sz="1900" b="1" dirty="0">
                <a:solidFill>
                  <a:srgbClr val="1F2937"/>
                </a:solidFill>
                <a:latin typeface="Calibri" pitchFamily="34" charset="0"/>
                <a:ea typeface="Calibri" pitchFamily="34" charset="-122"/>
                <a:cs typeface="Calibri" pitchFamily="34" charset="-120"/>
              </a:rPr>
              <a:t>examples</a:t>
            </a:r>
            <a:pPr indent="0" marL="0">
              <a:buNone/>
            </a:pPr>
            <a:r>
              <a:rPr lang="en-US" sz="1900" dirty="0">
                <a:solidFill>
                  <a:srgbClr val="1F2937"/>
                </a:solidFill>
                <a:latin typeface="Calibri" pitchFamily="34" charset="0"/>
                <a:ea typeface="Calibri" pitchFamily="34" charset="-122"/>
                <a:cs typeface="Calibri" pitchFamily="34" charset="-120"/>
              </a:rPr>
              <a:t>, clear </a:t>
            </a:r>
            <a:pPr indent="0" marL="0">
              <a:buNone/>
            </a:pPr>
            <a:r>
              <a:rPr lang="en-US" sz="1900" b="1" dirty="0">
                <a:solidFill>
                  <a:srgbClr val="1F2937"/>
                </a:solidFill>
                <a:latin typeface="Calibri" pitchFamily="34" charset="0"/>
                <a:ea typeface="Calibri" pitchFamily="34" charset="-122"/>
                <a:cs typeface="Calibri" pitchFamily="34" charset="-120"/>
              </a:rPr>
              <a:t>task</a:t>
            </a:r>
            <a:pPr indent="0" marL="0">
              <a:buNone/>
            </a:pPr>
            <a:r>
              <a:rPr lang="en-US" sz="1900" dirty="0">
                <a:solidFill>
                  <a:srgbClr val="1F2937"/>
                </a:solidFill>
                <a:latin typeface="Calibri" pitchFamily="34" charset="0"/>
                <a:ea typeface="Calibri" pitchFamily="34" charset="-122"/>
                <a:cs typeface="Calibri" pitchFamily="34" charset="-120"/>
              </a:rPr>
              <a:t>, explicit </a:t>
            </a:r>
            <a:pPr indent="0" marL="0">
              <a:buNone/>
            </a:pPr>
            <a:r>
              <a:rPr lang="en-US" sz="1900" b="1" dirty="0">
                <a:solidFill>
                  <a:srgbClr val="1F2937"/>
                </a:solidFill>
                <a:latin typeface="Calibri" pitchFamily="34" charset="0"/>
                <a:ea typeface="Calibri" pitchFamily="34" charset="-122"/>
                <a:cs typeface="Calibri" pitchFamily="34" charset="-120"/>
              </a:rPr>
              <a:t>format</a:t>
            </a:r>
            <a:pPr indent="0" marL="0">
              <a:buNone/>
            </a:pPr>
            <a:r>
              <a:rPr lang="en-US" sz="1900" dirty="0">
                <a:solidFill>
                  <a:srgbClr val="1F2937"/>
                </a:solidFill>
                <a:latin typeface="Calibri" pitchFamily="34" charset="0"/>
                <a:ea typeface="Calibri" pitchFamily="34" charset="-122"/>
                <a:cs typeface="Calibri" pitchFamily="34" charset="-120"/>
              </a:rPr>
              <a:t>.</a:t>
            </a:r>
            <a:endParaRPr lang="en-US" sz="1900" dirty="0"/>
          </a:p>
        </p:txBody>
      </p:sp>
      <p:pic>
        <p:nvPicPr>
          <p:cNvPr id="10" name="Image 2" descr="preencoded.png">    </p:cNvPr>
          <p:cNvPicPr>
            <a:picLocks noChangeAspect="1"/>
          </p:cNvPicPr>
          <p:nvPr/>
        </p:nvPicPr>
        <p:blipFill>
          <a:blip r:embed="rId3"/>
          <a:stretch>
            <a:fillRect/>
          </a:stretch>
        </p:blipFill>
        <p:spPr>
          <a:xfrm>
            <a:off x="548640" y="3968496"/>
            <a:ext cx="384048" cy="384048"/>
          </a:xfrm>
          <a:prstGeom prst="rect">
            <a:avLst/>
          </a:prstGeom>
        </p:spPr>
      </p:pic>
      <p:sp>
        <p:nvSpPr>
          <p:cNvPr id="11" name="Text 6"/>
          <p:cNvSpPr txBox="1"/>
          <p:nvPr/>
        </p:nvSpPr>
        <p:spPr>
          <a:xfrm>
            <a:off x="1097280" y="3895344"/>
            <a:ext cx="4769968" cy="1161288"/>
          </a:xfrm>
          <a:prstGeom prst="rect">
            <a:avLst/>
          </a:prstGeom>
          <a:noFill/>
          <a:ln/>
        </p:spPr>
        <p:txBody>
          <a:bodyPr wrap="square" lIns="50800" tIns="50800" rIns="50800" bIns="50800" rtlCol="0" anchor="t"/>
          <a:lstStyle/>
          <a:p>
            <a:pPr indent="0" marL="0">
              <a:buNone/>
            </a:pPr>
            <a:r>
              <a:rPr lang="en-US" sz="1900" b="1" dirty="0">
                <a:solidFill>
                  <a:srgbClr val="1F2937"/>
                </a:solidFill>
                <a:latin typeface="Calibri" pitchFamily="34" charset="0"/>
                <a:ea typeface="Calibri" pitchFamily="34" charset="-122"/>
                <a:cs typeface="Calibri" pitchFamily="34" charset="-120"/>
              </a:rPr>
              <a:t>Few-shot</a:t>
            </a:r>
            <a:pPr indent="0" marL="0">
              <a:buNone/>
            </a:pPr>
            <a:r>
              <a:rPr lang="en-US" sz="1900" dirty="0">
                <a:solidFill>
                  <a:srgbClr val="1F2937"/>
                </a:solidFill>
                <a:latin typeface="Calibri" pitchFamily="34" charset="0"/>
                <a:ea typeface="Calibri" pitchFamily="34" charset="-122"/>
                <a:cs typeface="Calibri" pitchFamily="34" charset="-120"/>
              </a:rPr>
              <a:t> examples fix format and boundaries; roles set tone, not knowledge.</a:t>
            </a:r>
            <a:endParaRPr lang="en-US" sz="1900" dirty="0"/>
          </a:p>
        </p:txBody>
      </p:sp>
      <p:pic>
        <p:nvPicPr>
          <p:cNvPr id="12" name="Image 3" descr="preencoded.png">    </p:cNvPr>
          <p:cNvPicPr>
            <a:picLocks noChangeAspect="1"/>
          </p:cNvPicPr>
          <p:nvPr/>
        </p:nvPicPr>
        <p:blipFill>
          <a:blip r:embed="rId4"/>
          <a:stretch>
            <a:fillRect/>
          </a:stretch>
        </p:blipFill>
        <p:spPr>
          <a:xfrm>
            <a:off x="548640" y="5175504"/>
            <a:ext cx="384048" cy="384048"/>
          </a:xfrm>
          <a:prstGeom prst="rect">
            <a:avLst/>
          </a:prstGeom>
        </p:spPr>
      </p:pic>
      <p:sp>
        <p:nvSpPr>
          <p:cNvPr id="13" name="Text 7"/>
          <p:cNvSpPr txBox="1"/>
          <p:nvPr/>
        </p:nvSpPr>
        <p:spPr>
          <a:xfrm>
            <a:off x="1097280" y="5102352"/>
            <a:ext cx="4769968" cy="1161288"/>
          </a:xfrm>
          <a:prstGeom prst="rect">
            <a:avLst/>
          </a:prstGeom>
          <a:noFill/>
          <a:ln/>
        </p:spPr>
        <p:txBody>
          <a:bodyPr wrap="square" lIns="50800" tIns="50800" rIns="50800" bIns="50800" rtlCol="0" anchor="t"/>
          <a:lstStyle/>
          <a:p>
            <a:pPr indent="0" marL="0">
              <a:buNone/>
            </a:pPr>
            <a:r>
              <a:rPr lang="en-US" sz="1900" b="1" dirty="0">
                <a:solidFill>
                  <a:srgbClr val="1F2937"/>
                </a:solidFill>
                <a:latin typeface="Calibri" pitchFamily="34" charset="0"/>
                <a:ea typeface="Calibri" pitchFamily="34" charset="-122"/>
                <a:cs typeface="Calibri" pitchFamily="34" charset="-120"/>
              </a:rPr>
              <a:t>CoT</a:t>
            </a:r>
            <a:pPr indent="0" marL="0">
              <a:buNone/>
            </a:pPr>
            <a:r>
              <a:rPr lang="en-US" sz="1900" dirty="0">
                <a:solidFill>
                  <a:srgbClr val="1F2937"/>
                </a:solidFill>
                <a:latin typeface="Calibri" pitchFamily="34" charset="0"/>
                <a:ea typeface="Calibri" pitchFamily="34" charset="-122"/>
                <a:cs typeface="Calibri" pitchFamily="34" charset="-120"/>
              </a:rPr>
              <a:t> and </a:t>
            </a:r>
            <a:pPr indent="0" marL="0">
              <a:buNone/>
            </a:pPr>
            <a:r>
              <a:rPr lang="en-US" sz="1900" b="1" dirty="0">
                <a:solidFill>
                  <a:srgbClr val="1F2937"/>
                </a:solidFill>
                <a:latin typeface="Calibri" pitchFamily="34" charset="0"/>
                <a:ea typeface="Calibri" pitchFamily="34" charset="-122"/>
                <a:cs typeface="Calibri" pitchFamily="34" charset="-120"/>
              </a:rPr>
              <a:t>self-consistency</a:t>
            </a:r>
            <a:pPr indent="0" marL="0">
              <a:buNone/>
            </a:pPr>
            <a:r>
              <a:rPr lang="en-US" sz="1900" dirty="0">
                <a:solidFill>
                  <a:srgbClr val="1F2937"/>
                </a:solidFill>
                <a:latin typeface="Calibri" pitchFamily="34" charset="0"/>
                <a:ea typeface="Calibri" pitchFamily="34" charset="-122"/>
                <a:cs typeface="Calibri" pitchFamily="34" charset="-120"/>
              </a:rPr>
              <a:t> improve multi-step accuracy at a token cost; reasoning models need goals, not scripts.</a:t>
            </a:r>
            <a:endParaRPr lang="en-US" sz="1900" dirty="0"/>
          </a:p>
        </p:txBody>
      </p:sp>
      <p:pic>
        <p:nvPicPr>
          <p:cNvPr id="14" name="Image 4" descr="preencoded.png">    </p:cNvPr>
          <p:cNvPicPr>
            <a:picLocks noChangeAspect="1"/>
          </p:cNvPicPr>
          <p:nvPr/>
        </p:nvPicPr>
        <p:blipFill>
          <a:blip r:embed="rId5"/>
          <a:stretch>
            <a:fillRect/>
          </a:stretch>
        </p:blipFill>
        <p:spPr>
          <a:xfrm>
            <a:off x="6278728" y="1554480"/>
            <a:ext cx="384048" cy="384048"/>
          </a:xfrm>
          <a:prstGeom prst="rect">
            <a:avLst/>
          </a:prstGeom>
        </p:spPr>
      </p:pic>
      <p:sp>
        <p:nvSpPr>
          <p:cNvPr id="15" name="Text 8"/>
          <p:cNvSpPr txBox="1"/>
          <p:nvPr/>
        </p:nvSpPr>
        <p:spPr>
          <a:xfrm>
            <a:off x="6827368" y="1481328"/>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Use </a:t>
            </a:r>
            <a:pPr indent="0" marL="0">
              <a:buNone/>
            </a:pPr>
            <a:r>
              <a:rPr lang="en-US" sz="1900" b="1" dirty="0">
                <a:solidFill>
                  <a:srgbClr val="1F2937"/>
                </a:solidFill>
                <a:latin typeface="Calibri" pitchFamily="34" charset="0"/>
                <a:ea typeface="Calibri" pitchFamily="34" charset="-122"/>
                <a:cs typeface="Calibri" pitchFamily="34" charset="-120"/>
              </a:rPr>
              <a:t>schemas</a:t>
            </a:r>
            <a:pPr indent="0" marL="0">
              <a:buNone/>
            </a:pPr>
            <a:r>
              <a:rPr lang="en-US" sz="1900" dirty="0">
                <a:solidFill>
                  <a:srgbClr val="1F2937"/>
                </a:solidFill>
                <a:latin typeface="Calibri" pitchFamily="34" charset="0"/>
                <a:ea typeface="Calibri" pitchFamily="34" charset="-122"/>
                <a:cs typeface="Calibri" pitchFamily="34" charset="-120"/>
              </a:rPr>
              <a:t> and validation: valid ≠ correct; engineer the </a:t>
            </a:r>
            <a:pPr indent="0" marL="0">
              <a:buNone/>
            </a:pPr>
            <a:r>
              <a:rPr lang="en-US" sz="1900" b="1" dirty="0">
                <a:solidFill>
                  <a:srgbClr val="1F2937"/>
                </a:solidFill>
                <a:latin typeface="Calibri" pitchFamily="34" charset="0"/>
                <a:ea typeface="Calibri" pitchFamily="34" charset="-122"/>
                <a:cs typeface="Calibri" pitchFamily="34" charset="-120"/>
              </a:rPr>
              <a:t>context</a:t>
            </a:r>
            <a:pPr indent="0" marL="0">
              <a:buNone/>
            </a:pPr>
            <a:r>
              <a:rPr lang="en-US" sz="1900" dirty="0">
                <a:solidFill>
                  <a:srgbClr val="1F2937"/>
                </a:solidFill>
                <a:latin typeface="Calibri" pitchFamily="34" charset="0"/>
                <a:ea typeface="Calibri" pitchFamily="34" charset="-122"/>
                <a:cs typeface="Calibri" pitchFamily="34" charset="-120"/>
              </a:rPr>
              <a:t>, not just the words.</a:t>
            </a:r>
            <a:endParaRPr lang="en-US" sz="1900" dirty="0"/>
          </a:p>
        </p:txBody>
      </p:sp>
      <p:pic>
        <p:nvPicPr>
          <p:cNvPr id="16" name="Image 5" descr="preencoded.png">    </p:cNvPr>
          <p:cNvPicPr>
            <a:picLocks noChangeAspect="1"/>
          </p:cNvPicPr>
          <p:nvPr/>
        </p:nvPicPr>
        <p:blipFill>
          <a:blip r:embed="rId6"/>
          <a:stretch>
            <a:fillRect/>
          </a:stretch>
        </p:blipFill>
        <p:spPr>
          <a:xfrm>
            <a:off x="6278728" y="2761488"/>
            <a:ext cx="384048" cy="384048"/>
          </a:xfrm>
          <a:prstGeom prst="rect">
            <a:avLst/>
          </a:prstGeom>
        </p:spPr>
      </p:pic>
      <p:sp>
        <p:nvSpPr>
          <p:cNvPr id="17" name="Text 9"/>
          <p:cNvSpPr txBox="1"/>
          <p:nvPr/>
        </p:nvSpPr>
        <p:spPr>
          <a:xfrm>
            <a:off x="6827368" y="2688336"/>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Evaluate with a </a:t>
            </a:r>
            <a:pPr indent="0" marL="0">
              <a:buNone/>
            </a:pPr>
            <a:r>
              <a:rPr lang="en-US" sz="1900" b="1" dirty="0">
                <a:solidFill>
                  <a:srgbClr val="1F2937"/>
                </a:solidFill>
                <a:latin typeface="Calibri" pitchFamily="34" charset="0"/>
                <a:ea typeface="Calibri" pitchFamily="34" charset="-122"/>
                <a:cs typeface="Calibri" pitchFamily="34" charset="-120"/>
              </a:rPr>
              <a:t>test set</a:t>
            </a:r>
            <a:pPr indent="0" marL="0">
              <a:buNone/>
            </a:pPr>
            <a:r>
              <a:rPr lang="en-US" sz="1900" dirty="0">
                <a:solidFill>
                  <a:srgbClr val="1F2937"/>
                </a:solidFill>
                <a:latin typeface="Calibri" pitchFamily="34" charset="0"/>
                <a:ea typeface="Calibri" pitchFamily="34" charset="-122"/>
                <a:cs typeface="Calibri" pitchFamily="34" charset="-120"/>
              </a:rPr>
              <a:t>: metrics, rubrics, LLM judges calibrated on humans; mind the statistics.</a:t>
            </a:r>
            <a:endParaRPr lang="en-US" sz="1900" dirty="0"/>
          </a:p>
        </p:txBody>
      </p:sp>
      <p:pic>
        <p:nvPicPr>
          <p:cNvPr id="18" name="Image 6" descr="preencoded.png">    </p:cNvPr>
          <p:cNvPicPr>
            <a:picLocks noChangeAspect="1"/>
          </p:cNvPicPr>
          <p:nvPr/>
        </p:nvPicPr>
        <p:blipFill>
          <a:blip r:embed="rId7"/>
          <a:stretch>
            <a:fillRect/>
          </a:stretch>
        </p:blipFill>
        <p:spPr>
          <a:xfrm>
            <a:off x="6278728" y="3968496"/>
            <a:ext cx="384048" cy="384048"/>
          </a:xfrm>
          <a:prstGeom prst="rect">
            <a:avLst/>
          </a:prstGeom>
        </p:spPr>
      </p:pic>
      <p:sp>
        <p:nvSpPr>
          <p:cNvPr id="19" name="Text 10"/>
          <p:cNvSpPr txBox="1"/>
          <p:nvPr/>
        </p:nvSpPr>
        <p:spPr>
          <a:xfrm>
            <a:off x="6827368" y="3895344"/>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Limitations remain: hallucination, sensitivity, sycophancy, bias; </a:t>
            </a:r>
            <a:pPr indent="0" marL="0">
              <a:buNone/>
            </a:pPr>
            <a:r>
              <a:rPr lang="en-US" sz="1900" b="1" dirty="0">
                <a:solidFill>
                  <a:srgbClr val="1F2937"/>
                </a:solidFill>
                <a:latin typeface="Calibri" pitchFamily="34" charset="0"/>
                <a:ea typeface="Calibri" pitchFamily="34" charset="-122"/>
                <a:cs typeface="Calibri" pitchFamily="34" charset="-120"/>
              </a:rPr>
              <a:t>prompt injection</a:t>
            </a:r>
            <a:pPr indent="0" marL="0">
              <a:buNone/>
            </a:pPr>
            <a:r>
              <a:rPr lang="en-US" sz="1900" dirty="0">
                <a:solidFill>
                  <a:srgbClr val="1F2937"/>
                </a:solidFill>
                <a:latin typeface="Calibri" pitchFamily="34" charset="0"/>
                <a:ea typeface="Calibri" pitchFamily="34" charset="-122"/>
                <a:cs typeface="Calibri" pitchFamily="34" charset="-120"/>
              </a:rPr>
              <a:t> needs defence in depth.</a:t>
            </a:r>
            <a:endParaRPr lang="en-US" sz="1900" dirty="0"/>
          </a:p>
        </p:txBody>
      </p:sp>
      <p:pic>
        <p:nvPicPr>
          <p:cNvPr id="20" name="Image 7" descr="preencoded.png">    </p:cNvPr>
          <p:cNvPicPr>
            <a:picLocks noChangeAspect="1"/>
          </p:cNvPicPr>
          <p:nvPr/>
        </p:nvPicPr>
        <p:blipFill>
          <a:blip r:embed="rId8"/>
          <a:stretch>
            <a:fillRect/>
          </a:stretch>
        </p:blipFill>
        <p:spPr>
          <a:xfrm>
            <a:off x="6278728" y="5175504"/>
            <a:ext cx="384048" cy="384048"/>
          </a:xfrm>
          <a:prstGeom prst="rect">
            <a:avLst/>
          </a:prstGeom>
        </p:spPr>
      </p:pic>
      <p:sp>
        <p:nvSpPr>
          <p:cNvPr id="21" name="Text 11"/>
          <p:cNvSpPr txBox="1"/>
          <p:nvPr/>
        </p:nvSpPr>
        <p:spPr>
          <a:xfrm>
            <a:off x="6827368" y="5102352"/>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Version, test and log prompts like code.</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07  ·  PROMPT ENGINEERING AND EVALUATION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OpenAI: Prompt engineering guide</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Official guidance incl. reasoning models</a:t>
            </a:r>
            <a:endParaRPr lang="en-US" sz="1500" dirty="0"/>
          </a:p>
        </p:txBody>
      </p:sp>
      <p:sp>
        <p:nvSpPr>
          <p:cNvPr id="9" name="Shape 6"/>
          <p:cNvSpPr/>
          <p:nvPr/>
        </p:nvSpPr>
        <p:spPr>
          <a:xfrm>
            <a:off x="548640" y="2377440"/>
            <a:ext cx="457200" cy="457200"/>
          </a:xfrm>
          <a:prstGeom prst="ellipse">
            <a:avLst/>
          </a:prstGeom>
          <a:solidFill>
            <a:srgbClr val="4F46E5"/>
          </a:solidFill>
          <a:ln w="12700">
            <a:solidFill>
              <a:srgbClr val="4F46E5"/>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Google Gemini API: Prompt design strategies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Official guide with examples</a:t>
            </a:r>
            <a:endParaRPr lang="en-US" sz="1500" dirty="0"/>
          </a:p>
        </p:txBody>
      </p:sp>
      <p:sp>
        <p:nvSpPr>
          <p:cNvPr id="12" name="Shape 8"/>
          <p:cNvSpPr/>
          <p:nvPr/>
        </p:nvSpPr>
        <p:spPr>
          <a:xfrm>
            <a:off x="548640" y="3200400"/>
            <a:ext cx="457200" cy="45720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Anthropic: Interactive prompt engineering tutorial</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9 chapters of notebooks</a:t>
            </a:r>
            <a:endParaRPr lang="en-US" sz="1500" dirty="0"/>
          </a:p>
        </p:txBody>
      </p:sp>
      <p:sp>
        <p:nvSpPr>
          <p:cNvPr id="15" name="Shape 10"/>
          <p:cNvSpPr/>
          <p:nvPr/>
        </p:nvSpPr>
        <p:spPr>
          <a:xfrm>
            <a:off x="548640" y="4023360"/>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Anthropic: Effective context engineering for AI agents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From prompts to context</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OpenAI: Evaluation best practices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Building eval sets and loops</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Google Gemini API: Structured output</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Schemas; values still need validation</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Wei et al. (2022) Chain-of-Thought Prompting</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The CoT paper</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Zheng et al. (2023) Judging LLM-as-a-Judge</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Judge agreement and biases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7: Prompt Engineering and evaluation</dc:title>
  <dc:subject>Generative AI (MSc in Artificial Intelligence)</dc:subject>
  <dc:creator>Generative AI module team</dc:creator>
  <cp:lastModifiedBy>Generative AI module team</cp:lastModifiedBy>
  <cp:revision>1</cp:revision>
  <dcterms:created xsi:type="dcterms:W3CDTF">2026-10-06T20:33:55Z</dcterms:created>
  <dcterms:modified xsi:type="dcterms:W3CDTF">2026-10-06T20:33:55Z</dcterms:modified>
</cp:coreProperties>
</file>