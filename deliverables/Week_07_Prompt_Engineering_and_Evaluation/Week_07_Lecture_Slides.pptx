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This week turns prompting from guesswork into a measured design task.
Explain: A prompt is the text a model receives for one request. Prompt engineering means designing that text deliberately. An evaluation harness is code that runs many examples and scores them. Prompting keeps the model weights fixed. Evidence, not impressions, decides whether a prompt is better.
Example: A student-services assistant must route "Two of my exams clash on Friday" to TIMETABLE_EXAMS. One prompt may answer with a sentence; another may return the exact label. Only a test on many labelled messages shows which works better. A recipe card is an analogy; clearer steps help the cook, but someone still has to taste the dish.
Ask: How would you know that a new prompt is better than the old one?
Answer: Run both on the same labelled messages with fixed settings, compare accuracy, and read the errors.
Watch out: One impressive reply is an anecdote, not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By the end, students can write a prompt, check its structured output, and judge it with fair evidence.
Explain: Writing a prompt means stating rules, sources, examples, task and format. Validation checks that a reply has the required fields and types. A held-out set is a group of examples kept aside for one final check. Evaluation compares prompts using scores and error reading. These outcomes support MIMLOs 1, 4 and 5.
Example: In the lab, four routing prompts run on 20 development messages. The best one then runs once on 20 held-out messages. A JSON extraction step returns six objects, each checked against a schema and against the source email. Each outcome therefore produces a number you can report and question.
Ask: Which outcome needs more than a fluent reply?
Answer: All three: a fluent reply can still carry the wrong label, wrong fields or an unfair comparison.
Watch out: Do not confuse writing a longer prompt with writing a better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session moves from what a prompt is, to techniques, to evaluation, and finally to risks and tools.
Explain: Section one explains why prompting needs no retraining. Section two dissects a prompt and compares example counts. Section three covers reasoning, structured output and context. Section four builds evaluation methods. Section five covers limits, injection and supporting tools.
Example: Week 6 showed how a model chooses tokens with fixed weights. This week changes only the input around those weights. Week 8 then changes some weights through fine-tuning. A route map is an analogy; it shows the order of stops, but not how long each conversation will take.
Ask: Which week changes model weights: 6, 7 or 8?
Answer: Week 8. Weeks 6 and 7 use fixed weights; week 8 fine-tunes small adapters.
Watch out: Evaluation is not an add-on at the end; it shapes every earlier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Prompts, accuracy and JSON are the three ideas needed to read every table in today's lab.
Explain: A prompt is the input text for one request. Changing it changes the request, not the stored weights. Accuracy is correct items divided by all scored items. JSON is a text format with named fields that code can read. Valid JSON can still contain wrong values.
Example: Suppose a prompt routes 16 of 20 development messages correctly. Its accuracy is 16 ÷ 20 = 0.8, or 80%. One more correct message gives 85%, so one item moves the score by five percentage points. A JSON reply such as {"student_id": "23145678"} parses correctly even when the email gave a different number.
Ask: If 17 of 20 messages are correct, what is the accuracy?
Answer: 85%, because 17 ÷ 20 = 0.85.
Watch out: On a small development set every single item counts, so do not over-read a five-point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vague request leaves the model to guess the audience, facts, format and success criteria.
Explain: Audience means the intended reader. Purpose is the job the text must do. Sources are the facts the writer may use. Format fixes length and structure. Success criteria say how the result will be judged.
Example: "Write about AI for the website" names none of these. A rewrite might read: for prospective MSc students, introduce this 12-week module in three bullets under 120 words, using only the supplied course facts. Briefing a new colleague is an analogy; clear instructions get better work. A colleague can ask questions; a model usually just guesses.
Ask: Which missing element would you add first, and why?
Answer: Usually the audience and purpose, because they decide length, tone and which facts matter.
Watch out: Adding more words is not the goal; each added element should remove one specific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same fixed model can perform different tasks because the prompt changes what it conditions on.
Explain: Conditioning means the model predicts the next token given all earlier tokens. The prompt supplies those earlier tokens. Different prompts therefore make different continuations likely. No weight changes during this process. This is why one model can summarise, classify and translate.
Example: Give the same 0.5-billion-parameter model "Translate to French: good morning" and then "Classify: my exams clash". The weights are identical in both calls. Only the input tokens differ, so the most likely continuation differs. A piano is an analogy; one instrument plays different pieces from different sheet music. Unlike sheet music, a prompt does not guarantee the result.
Ask: If a prompt fixes an error today, will the model remember the fix tomorrow?
Answer: No. The fix lives in the prompt, so every future request must include it.
Watch out: Do not say the model learned from your prompt in the training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evaluation loop holds the model fixed, changes one prompt, and scores every reply against a known answer.
Explain: A development set is a small labelled collection used while revising prompts. A prompt function turns one message into chat messages. The model generates a short reply with fixed settings. A scorer turns that reply into a number and a note. The harness averages scores and records output tokens.
Example: The ticket "I can't log into Moodle" has the label IT_ACCESS. The few-shot prompt adds five worked examples. A reply of "IT_ACCESS" scores 1; "IT ACCESS" also counts. Across 20 messages, 17 correct gives 85%. A driving-test route is an analogy; one route for every candidate makes scores comparable. Unlike a test route, a prompt can be tuned to fit these particular messages.
Ask: Which part changes between two runs of the loop?
Answer: Only the prompt function; the model, settings, messages and scorer stay fixed.
Watch out: Reading the wrong replies matters as much as the accuracy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Pre-training, fine-tuning and prompting adapt a model at very different costs, and only the first two change weights.
Explain: Pre-training learns general language from huge text collections. Fine-tuning continues training on task examples. Prompting supplies instructions and examples inside the input. Weights are the learned numbers inside the model. Prompting is the cheapest to try and the easiest to change.
Example: Pre-training a model such as Qwen uses large GPU clusters and trillions of tokens. Week 8 fine-tunes a small adapter on 200 banking-support messages using CPU. Today's routing prompt changes in seconds. A new employee is an analogy; education, job training, then a daily briefing. Unlike an employee, the model forgets the briefing after each request.
Ask: A model keeps misusing a company term despite good prompts. What would you try next?
Answer: Supply the definition in the context; fine-tune only if the gap persists across many examples.
Watch out: Fine-tuning does not reliably add new facts; retrieval suits information that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In-context learning means a model follows a pattern shown in the prompt without any weight update.
Explain: The GPT-3 paper in 2020 popularised the term in-context learning. Instructions and examples become ordinary input tokens. Attention lets later tokens use those examples. A prompt therefore behaves like a small program written in language. Like code, it needs versions and tests.
Example: Show "eduroam fails → IT_ACCESS" and "deposit receipt → FEES_FINANCE", then ask about "exam clash". The model continues the pattern and often answers TIMETABLE_EXAMS. Removing examples removes their guidance, but the pretrained model may still give the same answer. A worked example on a whiteboard is an analogy that breaks when the board is wiped.
Ask: Why must the examples be sent again with every request?
Answer: They exist only in that request's input; the weights never store them.
Watch out: Message priority, such as system over user, is not a security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This section dissects a good prompt and tests how much worked examples help.
Explain: A prompt has parts: rules, source context, examples, task and output format. A zero-shot prompt has no examples. A few-shot prompt includes several worked examples. A role prompt assigns a persona such as a triage officer. Each part should be tested, not assumed.
Example: The routing task uses five team labels. A zero-shot prompt lists the labels and the message. A few-shot prompt adds one example per label, which costs extra input tokens on every call. The lab measures whether those tokens buy accuracy. A recipe is an analogy; ingredients help, but only tasting proves the dish.
Ask: Predict: will five examples always beat zero examples?
Answer: Not always. Examples usually fix the format, but they can also bias labels; the lab measures it.
Watch out: Do not add every technique at once, or you cannot tell which one helped.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well-structured prompt reads like a task brief with five labelled parts.
Explain: Rules set the task boundaries and what to do when unsure. Sources supply the facts the answer may use. Examples show input–answer pairs in the target format. The task names the job, audience and constraints. The format fixes fields and length so code can check them.
Example: For the routing assistant, the rule is "answer with exactly one label". The source is the student's message. Five examples show one message per team. The task says "classify this message", and the format is "the label only". A contractor's job brief is an analogy, although a contractor can query unclear parts and a model rarely does.
Ask: Which part lets code check the reply automatically?
Answer: The output format, because a fixed shape such as one label can be parsed and scored.
Watch out: The best order of parts is an empirical question; test it rather than copying a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Rewriting the warm-up prompt shows how each added element removes one guess.
Explain: The original prompt had only a vague task. The rewrite adds rules, audience, facts, task, format and a check. Supplied facts mean the model need not invent them. The format limits length and structure. The check says how a reviewer will judge the result.
Example: "Write about AI" becomes: using only the supplied facts, introduce the 12-week module to AI beginners as a headline and three bullets under 120 words. The facts are 12 weeks, Python labs and a group project worth 60%. A reviewer then checks every claim against those facts and counts the words.
Ask: Which added line most reduces the risk of invented facts?
Answer: "Use only the supplied facts", combined with checking each claim against them afterwards.
Watch out: A detailed prompt can still produce errors, so keep the final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Chat APIs split a request into messages with roles, and each role has a typical job.
Explain: A message is one turn with a role and content. The system or developer message carries application rules. The user message carries the request. Assistant messages hold model replies, including example answers. Tool messages return results from code, such as a database lookup.
Example: For routing, the system message says "Reply with one team label". The user sends "My exam timetable clashes". A few-shot prompt can include earlier assistant turns answering TIMETABLE_EXAMS. A tool message might return the student's timetable row. Stage directions in a play are an analogy, but actors cannot be tricked by lines inside the script.
Ask: Does putting a rule in the system message guarantee it is followed?
Answer: No. It usually gets priority, but behaviour varies by model; enforce real permissions in code.
Watch out: Role names and support differ between providers, so check the documentation of the API you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Zero-, one- and few-shot prompts differ only in how many worked examples they include.
Explain: Zero-shot gives the instruction alone. One-shot adds one input–answer pair. Few-shot adds several pairs, often one per label. Examples mainly teach the output format and the boundaries between labels. Their choice and order can change results.
Example: Your CPU core with Qwen2.5-0.5B-Instruct measured zero-shot 20%, one-shot 25%, few-shot 50%, role + few-shot 50% on 20 development messages. Read the zero-shot errors table: a small model can collapse onto one favourite label. Showing one solved exercise before an exam is an analogy; students may copy its shape too closely.
Ask: Why might a single example hurt accuracy?
Answer: It can bias the model towards that example's label or wording instead of the task rule.
Watch out: Choose examples that differ from your test messages, or the score measures copying.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few-shot prompt is just a list of chat messages whose user text contains worked examples.
Explain: TASK is a string holding the rules and allowed labels. Each example pairs a message with its category. The new message ends with "Category:" and no answer. The model continues the pattern by writing a label. Code then validates the returned text.
Example: The prompt shows eduroam → IT_ACCESS and deposit receipt → FEES_FINANCE. The final line is "Message: Two exams clash. Category:". A correct continuation is TIMETABLE_EXAMS. In the lab, few_shot builds this text from the EXAMPLES list, and check_few_shot confirms that all five pairs appear.
Ask: Why end the prompt with "Category:" instead of a question?
Answer: It makes the label the most natural next tokens, which keeps replies short and parseable.
Watch out: The examples must never be copied from the test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role prompt changes tone and focus, but it cannot supply knowledge the model lacks.
Explain: A role, or persona, tells the model whom to act as. It can shift vocabulary, tone and priorities. It does not add facts or skills to the weights. Its effect on accuracy is often small or inconsistent. Only a measured comparison shows whether it helps.
Example: The lab adds "You are an experienced student-services triage officer" to the few-shot prompt. In the stored GPU run, role + few-shot did not beat few-shot alone: Accuracy on 40 messages: zero-shot 70.0%, one-shot 60.0%, few-shot 72.5%, role + few-shot 67.5%. A costume is an analogy; it changes appearance, not ability.
Ask: When is a role prompt most likely to help?
Answer: When the task needs a particular tone or audience, such as a supportive reply to a worried student.
Watch out: Phrases such as "world-class expert" do not make answers more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official guides from OpenAI, Google and Anthropic agree on six practical principles.
Explain: Be specific about task, audience and format. Give context and mark where each source starts and ends. Show varied examples, including a hard boundary case. Break long tasks into checked steps. Allow the model to say the answer is not in the source.
Example: A vague request is "Summarise this policy". A specific one is "Summarise the attached refund policy for first-year students in three bullets; if a detail is missing, write 'not in the policy'". The second gives a reader, a length, a source and an uncertainty rule. Each element can then be checked in the output.
Ask: Which principle protects most directly against invented answers?
Answer: Allowing uncertainty, together with supplying the source and checking claims against it.
Watch out: Guides give good starting points; your own test set decides what works for your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stored GPU run shows modest, uneven differences between four prompts on 40 messages.
Explain: The chart shows accuracy for four prompts on the same 40 labelled messages. A confidence interval is a range of plausible true accuracies. The error bars are Wilson 95% intervals. Separate accuracy intervals do not determine whether paired differences are significant. Your CPU lab uses a smaller model and 20 development messages.
Example: **Measured (Qwen2.5-1.5B-Instruct, 40 messages, temperature 0):** accuracy zero-shot 70.0%, one-shot 60.0%, few-shot 72.5%, role + few-shot 67.5%; invalid labels zero-shot 0, one-shot 0, few-shot 0, role + few-shot 0. With 40 messages, one changed answer moves accuracy by 2.5 percentage points. Your CPU core measured zero-shot 20%, one-shot 25%, few-shot 50%, role + few-shot 50% with Qwen2.5-0.5B-Instruct.
Ask: Would you ship the best prompt based on this chart alone?
Answer: Not yet. Compare paired disagreements, confirm on held-out messages and read the errors first.
Watch out: Model size matters: the same prompts behave differently on 0.5B and 1.5B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When replies have the wrong format, show the format before trying anything heavier.
Explain: A format failure means the content may be right but code cannot parse it. Examples demonstrate the exact output shape. Listing the allowed labels removes guesswork. Temperature controls randomness, not format. Fine-tuning is slower and costlier than a prompt fix.
Example: Zero-shot replies such as "This message seems to be about IT access" fail an exact-label parser. Adding five examples ending in "Category: IT_ACCESS" usually produces short labels. The lab's label_scorer then counts them as valid. A persona alone rarely changes the reply length.
Ask: Which option is the most effective first fix?
Answer: B. Show examples in the exact format and list the allowed labels, then measure again.
Watch out: A parser that accepts long sentences can hide format failures; count invalid replies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This section covers multi-step reasoning, outputs that code can trust, and choosing what goes into the context.
Explain: Chain-of-thought asks for intermediate steps before an answer. Self-consistency samples several answers and votes. Structured output returns fields that code can validate. Context engineering selects what the model sees within a token budget. Each technique has a measurable cost.
Example: A word problem asks how many laptops 28 students need in teams of four, with two laptops per team. A direct answer may guess; a step-by-step reply computes 7 teams × 2 = 14. The step-by-step reply costs many more output tokens. Showing working in a maths class is an analogy, though written steps may not reflect the model's computation.
Ask: Predict: will asking for steps always improve accuracy?
Answer: No. It often helps multi-step problems, but it costs tokens and can still end with a wrong answer.
Watch out: Longer outputs mean more time and cost; measure both alongside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Chain-of-thought prompting asks the model to write intermediate steps before its final answer.
Explain: A step is a short written calculation or inference. Written steps give later tokens more context to build on. The final answer should appear on a marked last line. Parsing that line gives a number to score. Extra steps cost output tokens and time.
Example: For 28 students in teams of 4, each team with 2 laptops, the steps are 28 ÷ 4 = 7 teams and 7 × 2 = 14 laptops. The reply ends with a marked final-answer line giving 14. If the token cap cuts the reply before that line, the last number may be an intermediate value such as 7.
Ask: Why request a marked final-answer line at the end?
Answer: It gives code a reliable place to find the final answer, separate from the working.
Watch out: Plausible steps can still lead to a wrong answer, and correct answers can follow flawed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In the stored GPU run, step-by-step answers and voting raised accuracy but multiplied output tokens.
Explain: Direct answers return only a number. Chain-of-thought adds written steps. Self-consistency samples several step-by-step answers at temperature 0.7 and keeps the most common number. Temperature above zero makes replies vary. Cost grows with every extra sample.
Example: **Measured (Qwen2.5-1.5B-Instruct):** direct 50.0% (3 tokens); chain-of-thought 81.2% (189 tokens); self-consistency (k=5) 87.5% (914 tokens). Report accuracy together with token cost. The stored run used 16 problems, so one problem is 6.25 percentage points. Your CPU core measured direct 33% on 6 problems (4 output tokens); chain-of-thought 50% on 6 problems (190 output tokens); self-consistency (k=3) 100% on 1 problem (573 output tokens).
Ask: Is a five-sample vote worth about five times the tokens of one step-by-step answer?
Answer: It depends on the cost of an error; measure the gain on your own task first.
Watch out: Agreement is not proof; several samples can agree on the same wrong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Reasoning models already spend tokens thinking, so prompts should state goals rather than script steps.
Explain: A reasoning model is trained to generate internal reasoning before answering. Providers expose settings such as reasoning effort or a thinking budget. Asking for step-by-step text is often unnecessary. State the goal, constraints, evidence and final format instead. Thinking tokens still cost time and money.
Example: Week 6 compared Qwen3-0.6B with thinking off and on. On an easy word problem both modes were correct, but thinking used several times more tokens. On a harder puzzle, thinking ran out of its token budget in every run. More thinking is a cost to justify, not a free improvement.
Ask: What should you measure before switching a task to a reasoning model?
Answer: Final-answer accuracy, completion rate, tokens and elapsed time on representative examples.
Watch out: A visible reasoning trace is not guaranteed to show how the answer was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Prompt chaining splits a complex task into smaller prompts and passes each checked output to the next.
Explain: A chain is a sequence of model calls. Each call has one narrow job. Code can check the output between calls. Errors are easier to find because each step is visible. Chains cost more calls and time than one prompt.
Example: For an invoice question, step one extracts line items as JSON. Step two checks each item against the document. Code, not the model, adds the totals. A final prompt explains the result to the customer. An assembly line with inspection stations is an analogy; unlike a factory, every station here can invent a new kind of error.
Ask: Why let code add the invoice totals instead of the model?
Answer: Arithmetic in code is exact and testable; the model can make silent calculation errors.
Watch out: A chain without checks between steps just passes errors along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Structured extraction checks the shape of the reply first and the facts second.
Explain: A schema lists required fields, their types and allowed values. Parsing turns JSON text into a Python dictionary. Validation checks each field against the schema rules. A retry sends the error back to the model once. Correctness compares each valid field with the source email.
Example: Aoife's email gives the ID 23145678 and the date 14 March 2027. A reply containing 2314567 fails the eight-digit rule, so the error goes back once. A reply containing 23145687 passes validation but is wrong. A paper form with labelled boxes is an analogy; the boxes force the format, but cannot check what is written in them.
Ask: Can a wrong eight-digit student ID pass validation?
Answer: Yes. The format rule passes; only comparing with the email reveals the wrong value.
Watch out: Count valid outputs and correct outputs separately, because they measure different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schema turns "return JSON" into a contract that code can check before using the reply.
Explain: Pydantic is a Python library for data validation. A BaseModel class lists fields and their types. Literal restricts a field to listed values. A pattern such as eight digits constrains text. ValidationError reports which rule failed.
Example: A reply with "student_id": "2314567" fails because the ID has seven digits. The error goes back to the model once, and the retry is validated again. Two failures return None instead of a guess. In the stored GPU run, 50.0% of outputs were valid JSON after at most one retry, but only 33.3% had every field correct. Your CPU core measured 100% valid after at most one retry, 33% with every field correct.
Ask: Does a provider's structured-output mode remove the need for validation?
Answer: It enforces the shape, but you must still check the values against the source.
Watch out: Never let a second failure pass silently into downstream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Context engineering decides which information enters the model's limited context window, and in what order.
Explain: The context window is the maximum number of tokens one request can hold. Candidates include instructions, the question, documents, history and tool results. Selection keeps the most relevant items. Compression shortens them, for example by summarising old turns. Ordering places key material where the model uses it best.
Example: A policy question might have ten candidate documents but room for three. Choosing the three most relevant passages leaves space for the answer. Including all ten can push out recent history or distract the model. Packing a suitcase under a weight limit is an analogy, but irrelevant text can actively mislead.
Ask: Why reserve part of the budget for the answer?
Answer: Output tokens share the same limit, so a full context can cut the reply short.
Watch out: A larger context window does not guarantee the model uses every part reliably.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Inference applies the chosen prompt to one new message and turns the reply into one team label.
Explain: Inference means using fixed weights to answer a new input. The prompt lists the five allowed teams and five examples. Generation stops after at most eight new tokens. The scorer accepts a reply naming exactly one label. A reply naming two teams counts as invalid.
Example: "I cannot sign in to Moodle" goes into the few-shot prompt. The model replies "IT_ACCESS", which the scorer recognises. A reply of "IT_ACCESS or LIBRARY" would be invalid. A postal sorting machine is an analogy; it reads a code and picks one bin. Unlike the machine, the model can pick a valid but wrong bin.
Ask: Can a recognised label still be wrong?
Answer: Yes. Parsing checks the form; only the known label shows whether the team is correct.
Watch out: Never count a reply as correct because the right team appears among several named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Each task type needs a different prompt emphasis and a different check.
Explain: Summaries need a reader, a length and a rule to use only the source. Extraction needs named fields and null for missing values. Classification needs a one-line definition per label. Code needs inputs, outputs and versions, then real tests. Data analysis should ask for code that computes the numbers.
Example: For an image model, "a lighthouse at dusk, watercolour, wide view" names the subject, style and composition. For a spreadsheet question, "write pandas code that computes the mean fee per programme" lets you run and check the result. The checks differ: a visual review in one case and an executed test in the other.
Ask: Why ask for code instead of the number itself in data analysis?
Answer: Code can be run, inspected and repeated; a number typed by the model may be invented.
Watch out: One prompt template rarely fits every task; match the check to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Evaluation turns "this prompt seems better" into a measured, repeatable claim.
Explain: A test set is a collection of inputs with known answers or a rubric. A metric turns each output into a score. A rubric is a written scoring guide for open-ended answers. Human review checks what metrics miss. Statistics show whether a difference could be chance.
Example: Two prompts score 80% and 85% on 20 messages: a gap of one message. On 200 messages, the same five-point gap would be ten messages and far more convincing. A critic tasting one dish versus a whole menu is an analogy, though a whole menu can still be unrepresentative.
Ask: Predict: how many test messages would you want before trusting a five-point gain?
Answer: Usually hundreds, or a paired comparison on the same items, plus a held-out check.
Watch out: A test set that resembles your prompt examples will overstate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Prompt development compares two prompt versions on the same development messages, then reads the items that changed.
Explain: Prompts A and B differ in one component only. Both run with the same model, messages and settings. The comparison shows which messages changed from wrong to right, and back. A held-out set gives one final check after choosing. Model weights never change in this loop.
Example: Prompt A gets 16 of 20 development labels right; prompt B gets 17. Accuracy rises from 80% to 85%, which is one message. Suppose B fixes two messages but breaks one: the net gain is still one. Editing an essay against a fixed marking guide is an analogy; you change the text, not the marker.
Ask: Did the rise from 80% to 85% change any model weights?
Answer: No. Only the prompt changed; one more message was answered correctly.
Watch out: A one-message gain on 20 examples is weak evidence; confirm it on held-out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Eval-driven development writes the test before revising the prompt, just as tests guide software changes.
Explain: Success criteria say what a good output must do. The test set holds realistic inputs, with some kept aside. Each run uses fixed settings and logs every reply. Scoring applies metrics, rubrics or people. Error analysis reads failures and suggests the next single change.
Example: For routing, success is "exactly one correct label". The lab's 40 synthetic tickets split into 20 and 20. Each run logs replies and output tokens. Scoring counts correct and invalid labels. Reading errors may show that "extra exam time for dyslexia" sits between two teams, which is a labelling problem rather than a prompt problem.
Ask: Why log every reply rather than only the accuracy?
Answer: Replies explain failures and allow rescoring if the scorer changes.
Watch out: Changing several prompt parts at once hides which change caused the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Different evaluation methods check different things, so most applications combine several.
Explain: Exact match compares an output with a reference answer. BLEU and ROUGE count overlapping words or word sequences. Embedding similarity compares meaning as vectors. Code checks apply rules such as schemas and unit tests. LLM judges and people score against a rubric.
Example: Routing uses exact match on labels. Extraction uses a schema check plus field comparison. A summary might use ROUGE against a reference, an LLM judge for faithfulness, and two people on a sample of 30. A medical check-up is an analogy; several tests, each blind to some conditions.
Ask: Which method would you use for "Is this email reply polite and correct?"
Answer: A rubric scored by people, possibly assisted by a calibrated LLM judge.
Watch out: A high overlap score can reward copying the reference wording rather than being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ROUGE-1 measures how many single words an output shares with a reference answer.
Explain: Recall is overlapping words divided by reference words. Precision is overlapping words divided by output words. F1 is their harmonic mean, which is high only when both are high. ROUGE is common for summaries. BLEU counts longer word sequences and is common for translation.
Example: The reference has 8 words and the output has 6. Five words overlap: results, are, published, four and weeks. Recall is 5/8 = 0.625 and precision is 5/6 ≈ 0.83. F1 = 2 × 0.83 × 0.625 ÷ (0.83 + 0.625) ≈ 0.71.
Ask: Would "results are not published after four weeks" score well?
Answer: Yes: recall stays 5/8, yet the meaning is reversed, because overlap ignores negation.
Watch out: Word overlap rewards surface similarity, not factual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An LLM judge scores outputs against a rubric, but its own biases must be measured.
Explain: A judge prompt shows a question, answers and a rubric, then asks for a verdict. Position bias prefers the first or second slot. Verbosity bias prefers longer answers. Self-preference favours outputs from the same model family. Calibration compares judge verdicts with human labels.
Example: Zheng et al. (2023) reported over 80% agreement between strong judges such as GPT-4 and human preferences on MT-Bench. In the stored GPU run, the Qwen2.5-1.5B-Instruct judge gave valid A/B verdicts selecting the same underlying answer in both orders for 75% of pairs and was correct in both orders for 75%. Your CPU core's Qwen2.5-0.5B-Instruct judge was consistent in both orders for 0 of 4 pairs, correct in both orders for 0 of 4.
Ask: A judge picks A, then picks A again after swapping. What does that show?
Answer: Position bias for that pair: the verdict followed the slot, not the answer.
Watch out: An unparsable verdict is missing evidence, not a vote for either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rubric splits the vague question of summary quality into separate, scorable criteria with anchored levels.
Explain: A criterion is one quality to judge, such as faithfulness. Faithfulness means every claim is supported by the source. Coverage means the key points are present. Anchors describe what scores of 1, 3 and 5 look like. Agreement between two raters shows whether the rubric is clear.
Example: A summary of the fees policy omits the hardship fund but invents nothing. It scores 5 on faithfulness and 3 on coverage. If two raters give 3 and 5 for coverage, discuss the anchor wording and rescore. Exam marking schemes are the analogy; they also need moderation.
Ask: Why score criteria separately instead of giving one overall mark?
Answer: Separate scores show which quality failed, so the next prompt revision has a clear target.
Watch out: An LLM judge using this rubric still needs calibration against human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Small test sets make accuracy uncertain, so report intervals and compare prompts on the same items.
Explain: A confidence interval gives a range of plausible true accuracies. Its width shrinks roughly with the square root of the test-set size. A paired comparison scores both prompts on identical items. Then only the items that change between prompts matter. A final test set stays untouched until the end.
Example: At 80% on 40 items, the Wilson 95% interval is about 65% to 89%. At 80% on 400 items, it narrows to about 76% to 84%. Ten times the data gives roughly a third of the width, because √10 ≈ 3.2. A prompt that fixes 3 items and breaks 1 has a net gain of 2.
Ask: Prompt B beats A by one message out of 20. Should you switch?
Answer: Not on that evidence alone; check more items, read the changes and confirm on held-out data.
Watch out: Trying many prompt variants on one small set and keeping the best overstates its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last section covers what prompting cannot fix, how prompts are attacked, and which tools help.
Explain: Hallucination means fluent but unsupported output. Prompt sensitivity means small wording changes alter answers. Prompt injection hides instructions inside content the model reads. A jailbreak tries to bypass safety rules. Tools help version, test and monitor prompts.
Example: A summariser reads a web page containing "Ignore all previous instructions". A naive prompt may obey it. A defended prompt marks the page as untrusted data, which helps but does not guarantee safety. A bank teller handling a forged note is an analogy; training helps, but the bank still needs vault controls.
Ask: Predict: can a carefully written system prompt fully stop injection?
Answer: No. Instructions and data share one context; real protection needs permissions and checks in code.
Watch out: Do not test security only with attacks you wrote yourself; include varied phrasings.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Some failures come from the model itself and need checks, data or design, not better wording.
Explain: A knowledge cut-off is the date after which training data stops. Sycophancy means agreeing with the user against the evidence. Prompt sensitivity means small changes alter answers. Non-determinism means replies can vary between runs or service versions. Bias means outputs differ unfairly between groups.
Example: Ask "Are you sure?" after a correct answer; some models switch to a wrong one. Swap only the student's name in a message and compare the replies to test for bias. Ask about this year's fees and a model may confidently give older figures. Each needs a test, not a stronger instruction.
Ask: Which limitation does retrieval address most directly?
Answer: The knowledge cut-off, by supplying current sources; it does not remove hallucination entirely.
Watch out: Temperature 0 reduces sampling variation but does not guarantee identical replies from a hosted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defended prompt can reduce keyword-flagged injection replies, but it does not remove the risk.
Explain: Direct injection is typed by the user. Indirect injection hides instructions inside documents the model reads. The lab's detector flags keywords such as HACKED or pirate. A keyword flag is a rough heuristic, not proof.
Example: Three of six documents contain attacks. The defended prompt marks document text as untrusted and wraps it in tags. In the stored GPU run, the keyword heuristic flagged 3 of 3 injected-document replies with the naive prompt and 2 of 3 injected-document replies with the defended prompt. Inspect the actual replies before claiming instruction-following. Your CPU core flagged naive prompt 2 of 3, defended prompt 2 of 3.
Ask: A reply says "The document contains a poem about pirates". Is that a successful attack?
Answer: No. It describes the attack instead of obeying it, yet the keyword detector flags it; read every reply.
Watch out: For systems with tools, use least privilege, allow-lists, validation and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Tools make prompt work repeatable: versioned, tested, monitored and guarded.
Explain: A playground is a web page for trying prompts by hand. Version control stores prompt templates beside the code that uses them. Evaluation frameworks run fixed test cases automatically. Prompt optimisers search prompt variants against a metric. Observability logs each call's prompt version, tokens, time and errors.
Example: A team stores its routing prompt in Git. Every change runs promptfoo on 200 labelled tickets, and the merge is blocked if accuracy drops. Logs show that average output tokens rose after one edit. Unit tests in software are the analogy; prompt tests are noisier, so thresholds need margins.
Ask: What should be logged for every production model call?
Answer: The prompt version, model and settings, tokens, latency, errors and, where permitted, the input and output.
Watch out: Guardrails are code too; measure what they miss and what they block wrongly.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Responsible prompting protects data, tests fairness, and keeps people accountable for decisions.
Explain: Prompts are data, so personal information needs a lawful basis and care. Counterfactual tests change one attribute, such as a name, and compare outputs. Over-reliance means trusting outputs without checking. Documentation records prompt versions, tests and known failures. A named person stays responsible for decisions.
Example: Before sending student emails to a hosted API, replace names and IDs with invented ones, as the lab does. Then test whether "Aoife" and "Rahul" receive the same routing for identical problems. Log which prompt version produced each decision. GDPR also gives people rights to information about significant automated decisions.
Ask: Why use invented examples when testing hosted models?
Answer: They avoid sending personal data to a third party while still exercising the task.
Watch out: Removing names alone may not anonymise a message; rare circumstances can still identify someone.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lab chooses a prompt on development messages and reports it once on held-out messages.
Explain: The 40 synthetic tickets are split into two halves of 20. Four prompts run on the development half. The best accuracy, with fewer tokens as a tie-break, picks the prompt. The chosen prompt then runs once on the held-out half. Both accuracies go into the evidence table.
Example: Suppose few-shot scores 85% on development and 75% on held-out messages. The ten-point drop is two messages out of 20. It suggests part of the development gain fitted those particular messages. Practising on past exam papers and then sitting a new paper is an analogy; only the new paper shows what transfers.
Ask: Why not report the development score as the final result?
Answer: The prompt was chosen on those messages, so their score overstates accuracy on new messages.
Watch out: Never revise the prompt after reading held-out errors, or that set stops being held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lab builds one evaluation harness and uses it for five prompt experiments, all on a CPU.
Explain: The core uses Qwen2.5-0.5B-Instruct with short, capped replies. Part 1 compares four routing prompts, then checks the best on held-out messages. Part 2 compares direct, step-by-step and voted answers. Parts 3–5 cover JSON extraction, injection and a judge. Each TODO has a check that prints ✅.
Example: On the course laptop with 4 CPU threads, the whole core took 7.3 minutes once the model was downloaded. The chosen prompt, role + few-shot, scored 45% on held-out messages. The lecture's stored results came from a larger 1.5B model on a GPU, so numbers differ.
Ask: Which number from the lab is the fairest estimate of routing accuracy?
Answer: The held-out accuracy of the prompt chosen on the development messages.
Watch out: Keep both API switches False for the core; hosted judging is optional and uses invented pairs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Use the official guides for current practice and the papers for the evidence behind each technique.
Explain: Provider guides describe recommended prompt structure for their models. The Anthropic tutorial offers interactive notebooks. Context-engineering articles extend prompting to agents and tools. Evaluation guides explain how to build test sets. Papers such as Wei et al. (2022) report the original experiments.
Example: Start with the Google or OpenAI prompting guide and rewrite the warm-up prompt using its checklist. Then read the evaluation best-practices guide and design 30 test cases for your project. Finally, skim the chain-of-thought paper's results tables to see which tasks improved.
Ask: Why prefer an official guide over a viral list of prompt tricks?
Answer: Official guides are maintained for current models and explain their advice; viral tricks may be outdated or untested.
Watch out: Guides change as models change, so note the date you read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Prompting changes the input, not the model, so every claimed improvement needs a fair, measured comparison.
Explain: A clear brief states rules, sources, examples, task and format. Step-by-step prompts can help multi-step problems but cost tokens. A schema checks structure; a gold comparison checks facts. Held-out messages give the fairer final estimate. Injected instructions are untrusted data, so permissions belong in code.
Example: On 20 messages, one changed answer moves accuracy by five percentage points. A JSON reply with a well-formed but wrong ID still passes the schema. A judge that picks A in both orders is following position, not quality.
Ask: What evidence would convince you that a prompt revision helped?
Answer: A gain on the same development messages, confirmed once on held-out messages, with costs and errors reported.
Watch out: Do not mix the stored GPU results with your own CPU run without naming the model and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2" Type="http://schemas.openxmlformats.org/officeDocument/2006/relationships/hyperlink" Target="https://developers.openai.com/api/docs/guides/prompt-engineering" TargetMode="External"/><Relationship Id="rId4" Type="http://schemas.openxmlformats.org/officeDocument/2006/relationships/hyperlink" Target="https://ai.google.dev/gemini-api/docs/prompting-strategies" TargetMode="External"/><Relationship Id="rId6" Type="http://schemas.openxmlformats.org/officeDocument/2006/relationships/hyperlink" Target="https://github.com/anthropics/prompt-eng-interactive-tutorial" TargetMode="External"/><Relationship Id="rId8" Type="http://schemas.openxmlformats.org/officeDocument/2006/relationships/hyperlink" Target="https://developers.openai.com/api/docs/guides/evaluation-best-practices" TargetMode="External"/><Relationship Id="rId10" Type="http://schemas.openxmlformats.org/officeDocument/2006/relationships/hyperlink" Target="https://arxiv.org/abs/2306.05685" TargetMode="External"/><Relationship Id="rId12" Type="http://schemas.openxmlformats.org/officeDocument/2006/relationships/hyperlink" Target="https://www.youtube.com/watch?v=EWvNQjAaOHw" TargetMode="External"/><Relationship Id="rId1" Type="http://schemas.openxmlformats.org/officeDocument/2006/relationships/image" Target="../media/image-45-1.png"/><Relationship Id="rId3" Type="http://schemas.openxmlformats.org/officeDocument/2006/relationships/image" Target="../media/image-45-2.png"/><Relationship Id="rId5" Type="http://schemas.openxmlformats.org/officeDocument/2006/relationships/image" Target="../media/image-45-3.png"/><Relationship Id="rId7" Type="http://schemas.openxmlformats.org/officeDocument/2006/relationships/image" Target="../media/image-45-4.png"/><Relationship Id="rId9" Type="http://schemas.openxmlformats.org/officeDocument/2006/relationships/image" Target="../media/image-45-5.png"/><Relationship Id="rId11" Type="http://schemas.openxmlformats.org/officeDocument/2006/relationships/image" Target="../media/image-45-6.png"/><Relationship Id="rId13" Type="http://schemas.openxmlformats.org/officeDocument/2006/relationships/slideLayout" Target="../slideLayouts/slideLayout1.xml"/><Relationship Id="rId1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731520" y="1051560"/>
            <a:ext cx="1737360" cy="457200"/>
          </a:xfrm>
          <a:prstGeom prst="roundRect">
            <a:avLst>
              <a:gd name="adj" fmla="val 20000"/>
            </a:avLst>
          </a:prstGeom>
          <a:solidFill>
            <a:srgbClr val="EA580C"/>
          </a:solidFill>
          <a:ln w="12700">
            <a:solidFill>
              <a:srgbClr val="EA580C"/>
            </a:solidFill>
            <a:prstDash val="solid"/>
          </a:ln>
        </p:spPr>
      </p:sp>
      <p:sp>
        <p:nvSpPr>
          <p:cNvPr id="3" name="Text 1"/>
          <p:cNvSpPr txBox="1"/>
          <p:nvPr/>
        </p:nvSpPr>
        <p:spPr>
          <a:xfrm>
            <a:off x="731520" y="1051560"/>
            <a:ext cx="1737360" cy="457200"/>
          </a:xfrm>
          <a:prstGeom prst="rect">
            <a:avLst/>
          </a:prstGeom>
          <a:noFill/>
          <a:ln/>
        </p:spPr>
        <p:txBody>
          <a:bodyPr wrap="square" lIns="0" tIns="0" rIns="0" bIns="0" rtlCol="0" anchor="ctr"/>
          <a:lstStyle/>
          <a:p>
            <a:pPr algn="ctr" indent="0" marL="0">
              <a:buNone/>
            </a:pPr>
            <a:r>
              <a:rPr lang="en-US" sz="1600" b="1" spc="200" kern="0" dirty="0">
                <a:solidFill>
                  <a:srgbClr val="FFFFFF"/>
                </a:solidFill>
                <a:latin typeface="Calibri" pitchFamily="34" charset="0"/>
                <a:ea typeface="Calibri" pitchFamily="34" charset="-122"/>
                <a:cs typeface="Calibri" pitchFamily="34" charset="-120"/>
              </a:rPr>
              <a:t>WEEK 07</a:t>
            </a:r>
            <a:endParaRPr lang="en-US" sz="1600" dirty="0"/>
          </a:p>
        </p:txBody>
      </p:sp>
      <p:sp>
        <p:nvSpPr>
          <p:cNvPr id="4" name="Text 2"/>
          <p:cNvSpPr txBox="1"/>
          <p:nvPr/>
        </p:nvSpPr>
        <p:spPr>
          <a:xfrm>
            <a:off x="731520" y="1737360"/>
            <a:ext cx="6766560" cy="2103120"/>
          </a:xfrm>
          <a:prstGeom prst="rect">
            <a:avLst/>
          </a:prstGeom>
          <a:noFill/>
          <a:ln/>
        </p:spPr>
        <p:txBody>
          <a:bodyPr wrap="square" lIns="0" tIns="0" rIns="0" bIns="0" rtlCol="0" anchor="b"/>
          <a:lstStyle/>
          <a:p>
            <a:pPr indent="0" marL="0">
              <a:lnSpc>
                <a:spcPct val="95000"/>
              </a:lnSpc>
              <a:buNone/>
            </a:pPr>
            <a:r>
              <a:rPr lang="en-US" sz="4500" b="1" dirty="0">
                <a:solidFill>
                  <a:srgbClr val="FFFFFF"/>
                </a:solidFill>
                <a:latin typeface="Calibri" pitchFamily="34" charset="0"/>
                <a:ea typeface="Calibri" pitchFamily="34" charset="-122"/>
                <a:cs typeface="Calibri" pitchFamily="34" charset="-120"/>
              </a:rPr>
              <a:t>Prompt Engineering and evaluation</a:t>
            </a:r>
            <a:endParaRPr lang="en-US" sz="4500" dirty="0"/>
          </a:p>
        </p:txBody>
      </p:sp>
      <p:sp>
        <p:nvSpPr>
          <p:cNvPr id="5" name="Text 3"/>
          <p:cNvSpPr txBox="1"/>
          <p:nvPr/>
        </p:nvSpPr>
        <p:spPr>
          <a:xfrm>
            <a:off x="731520" y="3977640"/>
            <a:ext cx="6766560" cy="1097280"/>
          </a:xfrm>
          <a:prstGeom prst="rect">
            <a:avLst/>
          </a:prstGeom>
          <a:noFill/>
          <a:ln/>
        </p:spPr>
        <p:txBody>
          <a:bodyPr wrap="square" lIns="0" tIns="0" rIns="0" bIns="0" rtlCol="0" anchor="t"/>
          <a:lstStyle/>
          <a:p>
            <a:pPr indent="0" marL="0">
              <a:buNone/>
            </a:pPr>
            <a:r>
              <a:rPr lang="en-US" sz="2000" dirty="0">
                <a:solidFill>
                  <a:srgbClr val="C7D2FE"/>
                </a:solidFill>
                <a:latin typeface="Calibri" pitchFamily="34" charset="0"/>
                <a:ea typeface="Calibri" pitchFamily="34" charset="-122"/>
                <a:cs typeface="Calibri" pitchFamily="34" charset="-120"/>
              </a:rPr>
              <a:t>Give clear instructions, check the answers, and improve prompts using evidence</a:t>
            </a:r>
            <a:endParaRPr lang="en-US" sz="2000" dirty="0"/>
          </a:p>
        </p:txBody>
      </p:sp>
      <p:sp>
        <p:nvSpPr>
          <p:cNvPr id="6" name="Text 4"/>
          <p:cNvSpPr txBox="1"/>
          <p:nvPr/>
        </p:nvSpPr>
        <p:spPr>
          <a:xfrm>
            <a:off x="731520" y="5897880"/>
            <a:ext cx="8229600" cy="365760"/>
          </a:xfrm>
          <a:prstGeom prst="rect">
            <a:avLst/>
          </a:prstGeom>
          <a:noFill/>
          <a:ln/>
        </p:spPr>
        <p:txBody>
          <a:bodyPr wrap="square" lIns="0" tIns="0" rIns="0" bIns="0" rtlCol="0" anchor="t"/>
          <a:lstStyle/>
          <a:p>
            <a:pPr indent="0" marL="0">
              <a:buNone/>
            </a:pPr>
            <a:r>
              <a:rPr lang="en-US" sz="1400" dirty="0">
                <a:solidFill>
                  <a:srgbClr val="C7D2FE"/>
                </a:solidFill>
                <a:latin typeface="Calibri" pitchFamily="34" charset="0"/>
                <a:ea typeface="Calibri" pitchFamily="34" charset="-122"/>
                <a:cs typeface="Calibri" pitchFamily="34" charset="-120"/>
              </a:rPr>
              <a:t>MSc in Artificial Intelligence  ·  Generative AI  ·  2-hour lecture</a:t>
            </a:r>
            <a:endParaRPr lang="en-US" sz="1400" dirty="0"/>
          </a:p>
        </p:txBody>
      </p:sp>
      <p:pic>
        <p:nvPicPr>
          <p:cNvPr id="7" name="Image 0" descr="C:\Users\sudee\Downloads\Generative_AI_2027_Teaching_Pack\AI2027_Project\build\figures\week_07\cover.png">    </p:cNvPr>
          <p:cNvPicPr>
            <a:picLocks noChangeAspect="1"/>
          </p:cNvPicPr>
          <p:nvPr/>
        </p:nvPicPr>
        <p:blipFill>
          <a:blip r:embed="rId1"/>
          <a:stretch>
            <a:fillRect/>
          </a:stretch>
        </p:blipFill>
        <p:spPr>
          <a:xfrm>
            <a:off x="7818120" y="1520258"/>
            <a:ext cx="3840480" cy="38174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By the end of this week you can…</a:t>
            </a:r>
            <a:endParaRPr lang="en-US" sz="3200" dirty="0"/>
          </a:p>
        </p:txBody>
      </p:sp>
      <p:sp>
        <p:nvSpPr>
          <p:cNvPr id="6" name="Shape 4"/>
          <p:cNvSpPr/>
          <p:nvPr/>
        </p:nvSpPr>
        <p:spPr>
          <a:xfrm>
            <a:off x="548640" y="1545336"/>
            <a:ext cx="411480" cy="411480"/>
          </a:xfrm>
          <a:prstGeom prst="ellipse">
            <a:avLst/>
          </a:prstGeom>
          <a:solidFill>
            <a:srgbClr val="4F46E5"/>
          </a:solidFill>
          <a:ln w="12700">
            <a:solidFill>
              <a:srgbClr val="4F46E5"/>
            </a:solidFill>
            <a:prstDash val="solid"/>
          </a:ln>
        </p:spPr>
      </p:sp>
      <p:sp>
        <p:nvSpPr>
          <p:cNvPr id="7" name="Text 5"/>
          <p:cNvSpPr txBox="1"/>
          <p:nvPr/>
        </p:nvSpPr>
        <p:spPr>
          <a:xfrm>
            <a:off x="548640" y="154533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527048"/>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Write and test prompts</a:t>
            </a:r>
            <a:endParaRPr lang="en-US" sz="2000" dirty="0"/>
          </a:p>
        </p:txBody>
      </p:sp>
      <p:sp>
        <p:nvSpPr>
          <p:cNvPr id="9" name="Shape 7"/>
          <p:cNvSpPr/>
          <p:nvPr/>
        </p:nvSpPr>
        <p:spPr>
          <a:xfrm>
            <a:off x="548640" y="3139440"/>
            <a:ext cx="411480" cy="411480"/>
          </a:xfrm>
          <a:prstGeom prst="ellipse">
            <a:avLst/>
          </a:prstGeom>
          <a:solidFill>
            <a:srgbClr val="4F46E5"/>
          </a:solidFill>
          <a:ln w="12700">
            <a:solidFill>
              <a:srgbClr val="4F46E5"/>
            </a:solidFill>
            <a:prstDash val="solid"/>
          </a:ln>
        </p:spPr>
      </p:sp>
      <p:sp>
        <p:nvSpPr>
          <p:cNvPr id="10" name="Text 8"/>
          <p:cNvSpPr txBox="1"/>
          <p:nvPr/>
        </p:nvSpPr>
        <p:spPr>
          <a:xfrm>
            <a:off x="548640" y="31394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3121152"/>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Validate structured replies</a:t>
            </a:r>
            <a:endParaRPr lang="en-US" sz="2000" dirty="0"/>
          </a:p>
        </p:txBody>
      </p:sp>
      <p:sp>
        <p:nvSpPr>
          <p:cNvPr id="12" name="Shape 10"/>
          <p:cNvSpPr/>
          <p:nvPr/>
        </p:nvSpPr>
        <p:spPr>
          <a:xfrm>
            <a:off x="548640" y="4733544"/>
            <a:ext cx="411480" cy="411480"/>
          </a:xfrm>
          <a:prstGeom prst="ellipse">
            <a:avLst/>
          </a:prstGeom>
          <a:solidFill>
            <a:srgbClr val="4F46E5"/>
          </a:solidFill>
          <a:ln w="12700">
            <a:solidFill>
              <a:srgbClr val="4F46E5"/>
            </a:solidFill>
            <a:prstDash val="solid"/>
          </a:ln>
        </p:spPr>
      </p:sp>
      <p:sp>
        <p:nvSpPr>
          <p:cNvPr id="13" name="Text 11"/>
          <p:cNvSpPr txBox="1"/>
          <p:nvPr/>
        </p:nvSpPr>
        <p:spPr>
          <a:xfrm>
            <a:off x="548640" y="473354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4715256"/>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Evaluate with held-out evidence</a:t>
            </a:r>
            <a:endParaRPr lang="en-US" sz="2000" dirty="0"/>
          </a:p>
        </p:txBody>
      </p:sp>
      <p:sp>
        <p:nvSpPr>
          <p:cNvPr id="15" name="Shape 13"/>
          <p:cNvSpPr/>
          <p:nvPr/>
        </p:nvSpPr>
        <p:spPr>
          <a:xfrm>
            <a:off x="8458200" y="1527048"/>
            <a:ext cx="3184855" cy="4782312"/>
          </a:xfrm>
          <a:prstGeom prst="roundRect">
            <a:avLst>
              <a:gd name="adj" fmla="val 3445"/>
            </a:avLst>
          </a:prstGeom>
          <a:solidFill>
            <a:srgbClr val="EEF0FF"/>
          </a:solidFill>
          <a:ln w="12700">
            <a:solidFill>
              <a:srgbClr val="EEF0FF"/>
            </a:solidFill>
            <a:prstDash val="solid"/>
          </a:ln>
        </p:spPr>
      </p:sp>
      <p:sp>
        <p:nvSpPr>
          <p:cNvPr id="16" name="Text 14"/>
          <p:cNvSpPr txBox="1"/>
          <p:nvPr/>
        </p:nvSpPr>
        <p:spPr>
          <a:xfrm>
            <a:off x="8686800" y="1664208"/>
            <a:ext cx="2727655" cy="64008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Module outcomes</a:t>
            </a:r>
            <a:endParaRPr lang="en-US" sz="1500" dirty="0"/>
          </a:p>
        </p:txBody>
      </p:sp>
      <p:sp>
        <p:nvSpPr>
          <p:cNvPr id="17" name="Shape 15"/>
          <p:cNvSpPr/>
          <p:nvPr/>
        </p:nvSpPr>
        <p:spPr>
          <a:xfrm>
            <a:off x="8686800" y="2395728"/>
            <a:ext cx="1143000" cy="365760"/>
          </a:xfrm>
          <a:prstGeom prst="roundRect">
            <a:avLst>
              <a:gd name="adj" fmla="val 20000"/>
            </a:avLst>
          </a:prstGeom>
          <a:solidFill>
            <a:srgbClr val="4F46E5"/>
          </a:solidFill>
          <a:ln w="12700">
            <a:solidFill>
              <a:srgbClr val="4F46E5"/>
            </a:solidFill>
            <a:prstDash val="solid"/>
          </a:ln>
        </p:spPr>
      </p:sp>
      <p:sp>
        <p:nvSpPr>
          <p:cNvPr id="18" name="Text 16"/>
          <p:cNvSpPr txBox="1"/>
          <p:nvPr/>
        </p:nvSpPr>
        <p:spPr>
          <a:xfrm>
            <a:off x="8686800" y="239572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1</a:t>
            </a:r>
            <a:endParaRPr lang="en-US" sz="1400" dirty="0"/>
          </a:p>
        </p:txBody>
      </p:sp>
      <p:sp>
        <p:nvSpPr>
          <p:cNvPr id="19" name="Text 17"/>
          <p:cNvSpPr txBox="1"/>
          <p:nvPr/>
        </p:nvSpPr>
        <p:spPr>
          <a:xfrm>
            <a:off x="8641080" y="277977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Explain core concepts, maths and model families</a:t>
            </a:r>
            <a:endParaRPr lang="en-US" sz="1400" dirty="0"/>
          </a:p>
        </p:txBody>
      </p:sp>
      <p:sp>
        <p:nvSpPr>
          <p:cNvPr id="20" name="Shape 18"/>
          <p:cNvSpPr/>
          <p:nvPr/>
        </p:nvSpPr>
        <p:spPr>
          <a:xfrm>
            <a:off x="8686800" y="3584448"/>
            <a:ext cx="1143000" cy="365760"/>
          </a:xfrm>
          <a:prstGeom prst="roundRect">
            <a:avLst>
              <a:gd name="adj" fmla="val 20000"/>
            </a:avLst>
          </a:prstGeom>
          <a:solidFill>
            <a:srgbClr val="4F46E5"/>
          </a:solidFill>
          <a:ln w="12700">
            <a:solidFill>
              <a:srgbClr val="4F46E5"/>
            </a:solidFill>
            <a:prstDash val="solid"/>
          </a:ln>
        </p:spPr>
      </p:sp>
      <p:sp>
        <p:nvSpPr>
          <p:cNvPr id="21" name="Text 19"/>
          <p:cNvSpPr txBox="1"/>
          <p:nvPr/>
        </p:nvSpPr>
        <p:spPr>
          <a:xfrm>
            <a:off x="8686800" y="358444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4</a:t>
            </a:r>
            <a:endParaRPr lang="en-US" sz="1400" dirty="0"/>
          </a:p>
        </p:txBody>
      </p:sp>
      <p:sp>
        <p:nvSpPr>
          <p:cNvPr id="22" name="Text 20"/>
          <p:cNvSpPr txBox="1"/>
          <p:nvPr/>
        </p:nvSpPr>
        <p:spPr>
          <a:xfrm>
            <a:off x="8641080" y="396849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Critically evaluate outputs: metrics, humans, ethics</a:t>
            </a:r>
            <a:endParaRPr lang="en-US" sz="1400" dirty="0"/>
          </a:p>
        </p:txBody>
      </p:sp>
      <p:sp>
        <p:nvSpPr>
          <p:cNvPr id="23" name="Shape 21"/>
          <p:cNvSpPr/>
          <p:nvPr/>
        </p:nvSpPr>
        <p:spPr>
          <a:xfrm>
            <a:off x="8686800" y="4773168"/>
            <a:ext cx="1143000" cy="365760"/>
          </a:xfrm>
          <a:prstGeom prst="roundRect">
            <a:avLst>
              <a:gd name="adj" fmla="val 20000"/>
            </a:avLst>
          </a:prstGeom>
          <a:solidFill>
            <a:srgbClr val="4F46E5"/>
          </a:solidFill>
          <a:ln w="12700">
            <a:solidFill>
              <a:srgbClr val="4F46E5"/>
            </a:solidFill>
            <a:prstDash val="solid"/>
          </a:ln>
        </p:spPr>
      </p:sp>
      <p:sp>
        <p:nvSpPr>
          <p:cNvPr id="24" name="Text 22"/>
          <p:cNvSpPr txBox="1"/>
          <p:nvPr/>
        </p:nvSpPr>
        <p:spPr>
          <a:xfrm>
            <a:off x="8686800" y="477316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5</a:t>
            </a:r>
            <a:endParaRPr lang="en-US" sz="1400" dirty="0"/>
          </a:p>
        </p:txBody>
      </p:sp>
      <p:sp>
        <p:nvSpPr>
          <p:cNvPr id="25" name="Text 23"/>
          <p:cNvSpPr txBox="1"/>
          <p:nvPr/>
        </p:nvSpPr>
        <p:spPr>
          <a:xfrm>
            <a:off x="8641080" y="515721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Deploy models; build RAG and agentic systems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Where we are in the course</a:t>
            </a:r>
            <a:endParaRPr lang="en-US" sz="3200" dirty="0"/>
          </a:p>
        </p:txBody>
      </p:sp>
      <p:sp>
        <p:nvSpPr>
          <p:cNvPr id="6" name="Text 4"/>
          <p:cNvSpPr txBox="1"/>
          <p:nvPr/>
        </p:nvSpPr>
        <p:spPr>
          <a:xfrm>
            <a:off x="1077042" y="17161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Images</a:t>
            </a:r>
            <a:endParaRPr lang="en-US" sz="1560" dirty="0"/>
          </a:p>
        </p:txBody>
      </p:sp>
      <p:sp>
        <p:nvSpPr>
          <p:cNvPr id="7" name="Shape 5"/>
          <p:cNvSpPr/>
          <p:nvPr/>
        </p:nvSpPr>
        <p:spPr>
          <a:xfrm>
            <a:off x="1077042" y="2053648"/>
            <a:ext cx="2300286" cy="763093"/>
          </a:xfrm>
          <a:prstGeom prst="roundRect">
            <a:avLst>
              <a:gd name="adj" fmla="val 9586"/>
            </a:avLst>
          </a:prstGeom>
          <a:solidFill>
            <a:srgbClr val="E4F2FB"/>
          </a:solidFill>
          <a:ln w="15240">
            <a:solidFill>
              <a:srgbClr val="0072B2"/>
            </a:solidFill>
            <a:prstDash val="solid"/>
          </a:ln>
        </p:spPr>
      </p:sp>
      <p:sp>
        <p:nvSpPr>
          <p:cNvPr id="8" name="Text 6"/>
          <p:cNvSpPr txBox="1"/>
          <p:nvPr/>
        </p:nvSpPr>
        <p:spPr>
          <a:xfrm>
            <a:off x="1179766"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a:t>
            </a:r>
            <a:endParaRPr lang="en-US" sz="1444" dirty="0"/>
          </a:p>
        </p:txBody>
      </p:sp>
      <p:sp>
        <p:nvSpPr>
          <p:cNvPr id="9" name="Text 7"/>
          <p:cNvSpPr txBox="1"/>
          <p:nvPr/>
        </p:nvSpPr>
        <p:spPr>
          <a:xfrm>
            <a:off x="1179766"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Introduction</a:t>
            </a:r>
            <a:endParaRPr lang="en-US" sz="1444" dirty="0"/>
          </a:p>
        </p:txBody>
      </p:sp>
      <p:sp>
        <p:nvSpPr>
          <p:cNvPr id="10" name="Shape 8"/>
          <p:cNvSpPr/>
          <p:nvPr/>
        </p:nvSpPr>
        <p:spPr>
          <a:xfrm>
            <a:off x="3377328" y="2435195"/>
            <a:ext cx="278823" cy="0"/>
          </a:xfrm>
          <a:prstGeom prst="line">
            <a:avLst/>
          </a:prstGeom>
          <a:noFill/>
          <a:ln w="22860">
            <a:solidFill>
              <a:srgbClr val="0072B2"/>
            </a:solidFill>
            <a:prstDash val="solid"/>
            <a:tailEnd type="triangle"/>
          </a:ln>
        </p:spPr>
      </p:sp>
      <p:sp>
        <p:nvSpPr>
          <p:cNvPr id="11" name="Shape 9"/>
          <p:cNvSpPr/>
          <p:nvPr/>
        </p:nvSpPr>
        <p:spPr>
          <a:xfrm>
            <a:off x="3656151" y="2053648"/>
            <a:ext cx="2300286" cy="763093"/>
          </a:xfrm>
          <a:prstGeom prst="roundRect">
            <a:avLst>
              <a:gd name="adj" fmla="val 9586"/>
            </a:avLst>
          </a:prstGeom>
          <a:solidFill>
            <a:srgbClr val="E4F2FB"/>
          </a:solidFill>
          <a:ln w="15240">
            <a:solidFill>
              <a:srgbClr val="0072B2"/>
            </a:solidFill>
            <a:prstDash val="solid"/>
          </a:ln>
        </p:spPr>
      </p:sp>
      <p:sp>
        <p:nvSpPr>
          <p:cNvPr id="12" name="Text 10"/>
          <p:cNvSpPr txBox="1"/>
          <p:nvPr/>
        </p:nvSpPr>
        <p:spPr>
          <a:xfrm>
            <a:off x="3758875"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2</a:t>
            </a:r>
            <a:endParaRPr lang="en-US" sz="1444" dirty="0"/>
          </a:p>
        </p:txBody>
      </p:sp>
      <p:sp>
        <p:nvSpPr>
          <p:cNvPr id="13" name="Text 11"/>
          <p:cNvSpPr txBox="1"/>
          <p:nvPr/>
        </p:nvSpPr>
        <p:spPr>
          <a:xfrm>
            <a:off x="3758875"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VAEs</a:t>
            </a:r>
            <a:endParaRPr lang="en-US" sz="1444" dirty="0"/>
          </a:p>
        </p:txBody>
      </p:sp>
      <p:sp>
        <p:nvSpPr>
          <p:cNvPr id="14" name="Shape 12"/>
          <p:cNvSpPr/>
          <p:nvPr/>
        </p:nvSpPr>
        <p:spPr>
          <a:xfrm>
            <a:off x="5956436" y="2435195"/>
            <a:ext cx="278823" cy="0"/>
          </a:xfrm>
          <a:prstGeom prst="line">
            <a:avLst/>
          </a:prstGeom>
          <a:noFill/>
          <a:ln w="22860">
            <a:solidFill>
              <a:srgbClr val="0072B2"/>
            </a:solidFill>
            <a:prstDash val="solid"/>
            <a:tailEnd type="triangle"/>
          </a:ln>
        </p:spPr>
      </p:sp>
      <p:sp>
        <p:nvSpPr>
          <p:cNvPr id="15" name="Shape 13"/>
          <p:cNvSpPr/>
          <p:nvPr/>
        </p:nvSpPr>
        <p:spPr>
          <a:xfrm>
            <a:off x="6235259" y="2053648"/>
            <a:ext cx="2300286" cy="763093"/>
          </a:xfrm>
          <a:prstGeom prst="roundRect">
            <a:avLst>
              <a:gd name="adj" fmla="val 9586"/>
            </a:avLst>
          </a:prstGeom>
          <a:solidFill>
            <a:srgbClr val="E4F2FB"/>
          </a:solidFill>
          <a:ln w="15240">
            <a:solidFill>
              <a:srgbClr val="0072B2"/>
            </a:solidFill>
            <a:prstDash val="solid"/>
          </a:ln>
        </p:spPr>
      </p:sp>
      <p:sp>
        <p:nvSpPr>
          <p:cNvPr id="16" name="Text 14"/>
          <p:cNvSpPr txBox="1"/>
          <p:nvPr/>
        </p:nvSpPr>
        <p:spPr>
          <a:xfrm>
            <a:off x="6337983"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3</a:t>
            </a:r>
            <a:endParaRPr lang="en-US" sz="1444" dirty="0"/>
          </a:p>
        </p:txBody>
      </p:sp>
      <p:sp>
        <p:nvSpPr>
          <p:cNvPr id="17" name="Text 15"/>
          <p:cNvSpPr txBox="1"/>
          <p:nvPr/>
        </p:nvSpPr>
        <p:spPr>
          <a:xfrm>
            <a:off x="6337983"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GANs</a:t>
            </a:r>
            <a:endParaRPr lang="en-US" sz="1444" dirty="0"/>
          </a:p>
        </p:txBody>
      </p:sp>
      <p:sp>
        <p:nvSpPr>
          <p:cNvPr id="18" name="Shape 16"/>
          <p:cNvSpPr/>
          <p:nvPr/>
        </p:nvSpPr>
        <p:spPr>
          <a:xfrm>
            <a:off x="8535545" y="2435195"/>
            <a:ext cx="278823" cy="0"/>
          </a:xfrm>
          <a:prstGeom prst="line">
            <a:avLst/>
          </a:prstGeom>
          <a:noFill/>
          <a:ln w="22860">
            <a:solidFill>
              <a:srgbClr val="0072B2"/>
            </a:solidFill>
            <a:prstDash val="solid"/>
            <a:tailEnd type="triangle"/>
          </a:ln>
        </p:spPr>
      </p:sp>
      <p:sp>
        <p:nvSpPr>
          <p:cNvPr id="19" name="Shape 17"/>
          <p:cNvSpPr/>
          <p:nvPr/>
        </p:nvSpPr>
        <p:spPr>
          <a:xfrm>
            <a:off x="8814367" y="2053648"/>
            <a:ext cx="2300286" cy="763093"/>
          </a:xfrm>
          <a:prstGeom prst="roundRect">
            <a:avLst>
              <a:gd name="adj" fmla="val 9586"/>
            </a:avLst>
          </a:prstGeom>
          <a:solidFill>
            <a:srgbClr val="E4F2FB"/>
          </a:solidFill>
          <a:ln w="15240">
            <a:solidFill>
              <a:srgbClr val="0072B2"/>
            </a:solidFill>
            <a:prstDash val="solid"/>
          </a:ln>
        </p:spPr>
      </p:sp>
      <p:sp>
        <p:nvSpPr>
          <p:cNvPr id="20" name="Text 18"/>
          <p:cNvSpPr txBox="1"/>
          <p:nvPr/>
        </p:nvSpPr>
        <p:spPr>
          <a:xfrm>
            <a:off x="8917091"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4</a:t>
            </a:r>
            <a:endParaRPr lang="en-US" sz="1444" dirty="0"/>
          </a:p>
        </p:txBody>
      </p:sp>
      <p:sp>
        <p:nvSpPr>
          <p:cNvPr id="21" name="Text 19"/>
          <p:cNvSpPr txBox="1"/>
          <p:nvPr/>
        </p:nvSpPr>
        <p:spPr>
          <a:xfrm>
            <a:off x="8917091"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Diffusion</a:t>
            </a:r>
            <a:endParaRPr lang="en-US" sz="1444" dirty="0"/>
          </a:p>
        </p:txBody>
      </p:sp>
      <p:sp>
        <p:nvSpPr>
          <p:cNvPr id="22" name="Shape 20"/>
          <p:cNvSpPr/>
          <p:nvPr/>
        </p:nvSpPr>
        <p:spPr>
          <a:xfrm>
            <a:off x="9964510" y="2816741"/>
            <a:ext cx="0" cy="132074"/>
          </a:xfrm>
          <a:prstGeom prst="line">
            <a:avLst/>
          </a:prstGeom>
          <a:noFill/>
          <a:ln w="22860">
            <a:solidFill>
              <a:srgbClr val="0072B2"/>
            </a:solidFill>
            <a:prstDash val="solid"/>
          </a:ln>
        </p:spPr>
      </p:sp>
      <p:sp>
        <p:nvSpPr>
          <p:cNvPr id="23" name="Shape 21"/>
          <p:cNvSpPr/>
          <p:nvPr/>
        </p:nvSpPr>
        <p:spPr>
          <a:xfrm flipH="1">
            <a:off x="944968" y="2948815"/>
            <a:ext cx="9019542" cy="0"/>
          </a:xfrm>
          <a:prstGeom prst="line">
            <a:avLst/>
          </a:prstGeom>
          <a:noFill/>
          <a:ln w="22860">
            <a:solidFill>
              <a:srgbClr val="0072B2"/>
            </a:solidFill>
            <a:prstDash val="solid"/>
          </a:ln>
        </p:spPr>
      </p:sp>
      <p:sp>
        <p:nvSpPr>
          <p:cNvPr id="24" name="Shape 22"/>
          <p:cNvSpPr/>
          <p:nvPr/>
        </p:nvSpPr>
        <p:spPr>
          <a:xfrm>
            <a:off x="944968" y="2948815"/>
            <a:ext cx="0" cy="858480"/>
          </a:xfrm>
          <a:prstGeom prst="line">
            <a:avLst/>
          </a:prstGeom>
          <a:noFill/>
          <a:ln w="22860">
            <a:solidFill>
              <a:srgbClr val="0072B2"/>
            </a:solidFill>
            <a:prstDash val="solid"/>
          </a:ln>
        </p:spPr>
      </p:sp>
      <p:sp>
        <p:nvSpPr>
          <p:cNvPr id="25" name="Shape 23"/>
          <p:cNvSpPr/>
          <p:nvPr/>
        </p:nvSpPr>
        <p:spPr>
          <a:xfrm>
            <a:off x="944968" y="3807295"/>
            <a:ext cx="132074" cy="0"/>
          </a:xfrm>
          <a:prstGeom prst="line">
            <a:avLst/>
          </a:prstGeom>
          <a:noFill/>
          <a:ln w="22860">
            <a:solidFill>
              <a:srgbClr val="0072B2"/>
            </a:solidFill>
            <a:prstDash val="solid"/>
            <a:tailEnd type="triangle"/>
          </a:ln>
        </p:spPr>
      </p:sp>
      <p:sp>
        <p:nvSpPr>
          <p:cNvPr id="26" name="Text 24"/>
          <p:cNvSpPr txBox="1"/>
          <p:nvPr/>
        </p:nvSpPr>
        <p:spPr>
          <a:xfrm>
            <a:off x="1077042" y="30882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Language</a:t>
            </a:r>
            <a:endParaRPr lang="en-US" sz="1560" dirty="0"/>
          </a:p>
        </p:txBody>
      </p:sp>
      <p:sp>
        <p:nvSpPr>
          <p:cNvPr id="27" name="Shape 25"/>
          <p:cNvSpPr/>
          <p:nvPr/>
        </p:nvSpPr>
        <p:spPr>
          <a:xfrm>
            <a:off x="1077042" y="3425748"/>
            <a:ext cx="2300286" cy="763093"/>
          </a:xfrm>
          <a:prstGeom prst="roundRect">
            <a:avLst>
              <a:gd name="adj" fmla="val 9586"/>
            </a:avLst>
          </a:prstGeom>
          <a:solidFill>
            <a:srgbClr val="E4F2FB"/>
          </a:solidFill>
          <a:ln w="15240">
            <a:solidFill>
              <a:srgbClr val="0072B2"/>
            </a:solidFill>
            <a:prstDash val="solid"/>
          </a:ln>
        </p:spPr>
      </p:sp>
      <p:sp>
        <p:nvSpPr>
          <p:cNvPr id="28" name="Text 26"/>
          <p:cNvSpPr txBox="1"/>
          <p:nvPr/>
        </p:nvSpPr>
        <p:spPr>
          <a:xfrm>
            <a:off x="1179766"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5</a:t>
            </a:r>
            <a:endParaRPr lang="en-US" sz="1444" dirty="0"/>
          </a:p>
        </p:txBody>
      </p:sp>
      <p:sp>
        <p:nvSpPr>
          <p:cNvPr id="29" name="Text 27"/>
          <p:cNvSpPr txBox="1"/>
          <p:nvPr/>
        </p:nvSpPr>
        <p:spPr>
          <a:xfrm>
            <a:off x="1179766"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Transformers</a:t>
            </a:r>
            <a:endParaRPr lang="en-US" sz="1444" dirty="0"/>
          </a:p>
        </p:txBody>
      </p:sp>
      <p:sp>
        <p:nvSpPr>
          <p:cNvPr id="30" name="Shape 28"/>
          <p:cNvSpPr/>
          <p:nvPr/>
        </p:nvSpPr>
        <p:spPr>
          <a:xfrm>
            <a:off x="3377328" y="3807295"/>
            <a:ext cx="278823" cy="0"/>
          </a:xfrm>
          <a:prstGeom prst="line">
            <a:avLst/>
          </a:prstGeom>
          <a:noFill/>
          <a:ln w="22860">
            <a:solidFill>
              <a:srgbClr val="0072B2"/>
            </a:solidFill>
            <a:prstDash val="solid"/>
            <a:tailEnd type="triangle"/>
          </a:ln>
        </p:spPr>
      </p:sp>
      <p:sp>
        <p:nvSpPr>
          <p:cNvPr id="31" name="Shape 29"/>
          <p:cNvSpPr/>
          <p:nvPr/>
        </p:nvSpPr>
        <p:spPr>
          <a:xfrm>
            <a:off x="3656151" y="3425748"/>
            <a:ext cx="2300286" cy="763093"/>
          </a:xfrm>
          <a:prstGeom prst="roundRect">
            <a:avLst>
              <a:gd name="adj" fmla="val 9586"/>
            </a:avLst>
          </a:prstGeom>
          <a:solidFill>
            <a:srgbClr val="E4F2FB"/>
          </a:solidFill>
          <a:ln w="15240">
            <a:solidFill>
              <a:srgbClr val="0072B2"/>
            </a:solidFill>
            <a:prstDash val="solid"/>
          </a:ln>
        </p:spPr>
      </p:sp>
      <p:sp>
        <p:nvSpPr>
          <p:cNvPr id="32" name="Text 30"/>
          <p:cNvSpPr txBox="1"/>
          <p:nvPr/>
        </p:nvSpPr>
        <p:spPr>
          <a:xfrm>
            <a:off x="3758875"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6</a:t>
            </a:r>
            <a:endParaRPr lang="en-US" sz="1444" dirty="0"/>
          </a:p>
        </p:txBody>
      </p:sp>
      <p:sp>
        <p:nvSpPr>
          <p:cNvPr id="33" name="Text 31"/>
          <p:cNvSpPr txBox="1"/>
          <p:nvPr/>
        </p:nvSpPr>
        <p:spPr>
          <a:xfrm>
            <a:off x="3758875"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LLMs</a:t>
            </a:r>
            <a:endParaRPr lang="en-US" sz="1444" dirty="0"/>
          </a:p>
        </p:txBody>
      </p:sp>
      <p:sp>
        <p:nvSpPr>
          <p:cNvPr id="34" name="Shape 32"/>
          <p:cNvSpPr/>
          <p:nvPr/>
        </p:nvSpPr>
        <p:spPr>
          <a:xfrm>
            <a:off x="5956436" y="3807295"/>
            <a:ext cx="278823" cy="0"/>
          </a:xfrm>
          <a:prstGeom prst="line">
            <a:avLst/>
          </a:prstGeom>
          <a:noFill/>
          <a:ln w="22860">
            <a:solidFill>
              <a:srgbClr val="0072B2"/>
            </a:solidFill>
            <a:prstDash val="solid"/>
            <a:tailEnd type="triangle"/>
          </a:ln>
        </p:spPr>
      </p:sp>
      <p:sp>
        <p:nvSpPr>
          <p:cNvPr id="35" name="Shape 33"/>
          <p:cNvSpPr/>
          <p:nvPr/>
        </p:nvSpPr>
        <p:spPr>
          <a:xfrm>
            <a:off x="6235259" y="3425748"/>
            <a:ext cx="2300286" cy="763093"/>
          </a:xfrm>
          <a:prstGeom prst="roundRect">
            <a:avLst>
              <a:gd name="adj" fmla="val 9586"/>
            </a:avLst>
          </a:prstGeom>
          <a:solidFill>
            <a:srgbClr val="FFF0E6"/>
          </a:solidFill>
          <a:ln w="15240">
            <a:solidFill>
              <a:srgbClr val="D55E00"/>
            </a:solidFill>
            <a:prstDash val="solid"/>
          </a:ln>
        </p:spPr>
      </p:sp>
      <p:sp>
        <p:nvSpPr>
          <p:cNvPr id="36" name="Text 34"/>
          <p:cNvSpPr txBox="1"/>
          <p:nvPr/>
        </p:nvSpPr>
        <p:spPr>
          <a:xfrm>
            <a:off x="6337983"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D55E00"/>
                </a:solidFill>
                <a:latin typeface="Arial" pitchFamily="34" charset="0"/>
                <a:ea typeface="Arial" pitchFamily="34" charset="-122"/>
                <a:cs typeface="Arial" pitchFamily="34" charset="-120"/>
              </a:rPr>
              <a:t>7: you are here</a:t>
            </a:r>
            <a:endParaRPr lang="en-US" sz="1444" dirty="0"/>
          </a:p>
        </p:txBody>
      </p:sp>
      <p:sp>
        <p:nvSpPr>
          <p:cNvPr id="37" name="Text 35"/>
          <p:cNvSpPr txBox="1"/>
          <p:nvPr/>
        </p:nvSpPr>
        <p:spPr>
          <a:xfrm>
            <a:off x="6337983"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Prompting</a:t>
            </a:r>
            <a:endParaRPr lang="en-US" sz="1444" dirty="0"/>
          </a:p>
        </p:txBody>
      </p:sp>
      <p:sp>
        <p:nvSpPr>
          <p:cNvPr id="38" name="Shape 36"/>
          <p:cNvSpPr/>
          <p:nvPr/>
        </p:nvSpPr>
        <p:spPr>
          <a:xfrm>
            <a:off x="8535545" y="3807295"/>
            <a:ext cx="278823" cy="0"/>
          </a:xfrm>
          <a:prstGeom prst="line">
            <a:avLst/>
          </a:prstGeom>
          <a:noFill/>
          <a:ln w="22860">
            <a:solidFill>
              <a:srgbClr val="0072B2"/>
            </a:solidFill>
            <a:prstDash val="solid"/>
            <a:tailEnd type="triangle"/>
          </a:ln>
        </p:spPr>
      </p:sp>
      <p:sp>
        <p:nvSpPr>
          <p:cNvPr id="39" name="Shape 37"/>
          <p:cNvSpPr/>
          <p:nvPr/>
        </p:nvSpPr>
        <p:spPr>
          <a:xfrm>
            <a:off x="8814367" y="3425748"/>
            <a:ext cx="2300286" cy="763093"/>
          </a:xfrm>
          <a:prstGeom prst="roundRect">
            <a:avLst>
              <a:gd name="adj" fmla="val 9586"/>
            </a:avLst>
          </a:prstGeom>
          <a:solidFill>
            <a:srgbClr val="E4F2FB"/>
          </a:solidFill>
          <a:ln w="15240">
            <a:solidFill>
              <a:srgbClr val="0072B2"/>
            </a:solidFill>
            <a:prstDash val="solid"/>
          </a:ln>
        </p:spPr>
      </p:sp>
      <p:sp>
        <p:nvSpPr>
          <p:cNvPr id="40" name="Text 38"/>
          <p:cNvSpPr txBox="1"/>
          <p:nvPr/>
        </p:nvSpPr>
        <p:spPr>
          <a:xfrm>
            <a:off x="8917091"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8</a:t>
            </a:r>
            <a:endParaRPr lang="en-US" sz="1444" dirty="0"/>
          </a:p>
        </p:txBody>
      </p:sp>
      <p:sp>
        <p:nvSpPr>
          <p:cNvPr id="41" name="Text 39"/>
          <p:cNvSpPr txBox="1"/>
          <p:nvPr/>
        </p:nvSpPr>
        <p:spPr>
          <a:xfrm>
            <a:off x="8917091"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Fine-tuning</a:t>
            </a:r>
            <a:endParaRPr lang="en-US" sz="1444" dirty="0"/>
          </a:p>
        </p:txBody>
      </p:sp>
      <p:sp>
        <p:nvSpPr>
          <p:cNvPr id="42" name="Shape 40"/>
          <p:cNvSpPr/>
          <p:nvPr/>
        </p:nvSpPr>
        <p:spPr>
          <a:xfrm>
            <a:off x="9964510" y="4188841"/>
            <a:ext cx="0" cy="132074"/>
          </a:xfrm>
          <a:prstGeom prst="line">
            <a:avLst/>
          </a:prstGeom>
          <a:noFill/>
          <a:ln w="22860">
            <a:solidFill>
              <a:srgbClr val="0072B2"/>
            </a:solidFill>
            <a:prstDash val="solid"/>
          </a:ln>
        </p:spPr>
      </p:sp>
      <p:sp>
        <p:nvSpPr>
          <p:cNvPr id="43" name="Shape 41"/>
          <p:cNvSpPr/>
          <p:nvPr/>
        </p:nvSpPr>
        <p:spPr>
          <a:xfrm flipH="1">
            <a:off x="944968" y="4320915"/>
            <a:ext cx="9019542" cy="0"/>
          </a:xfrm>
          <a:prstGeom prst="line">
            <a:avLst/>
          </a:prstGeom>
          <a:noFill/>
          <a:ln w="22860">
            <a:solidFill>
              <a:srgbClr val="0072B2"/>
            </a:solidFill>
            <a:prstDash val="solid"/>
          </a:ln>
        </p:spPr>
      </p:sp>
      <p:sp>
        <p:nvSpPr>
          <p:cNvPr id="44" name="Shape 42"/>
          <p:cNvSpPr/>
          <p:nvPr/>
        </p:nvSpPr>
        <p:spPr>
          <a:xfrm>
            <a:off x="944968" y="4320915"/>
            <a:ext cx="0" cy="858480"/>
          </a:xfrm>
          <a:prstGeom prst="line">
            <a:avLst/>
          </a:prstGeom>
          <a:noFill/>
          <a:ln w="22860">
            <a:solidFill>
              <a:srgbClr val="0072B2"/>
            </a:solidFill>
            <a:prstDash val="solid"/>
          </a:ln>
        </p:spPr>
      </p:sp>
      <p:sp>
        <p:nvSpPr>
          <p:cNvPr id="45" name="Shape 43"/>
          <p:cNvSpPr/>
          <p:nvPr/>
        </p:nvSpPr>
        <p:spPr>
          <a:xfrm>
            <a:off x="944968" y="5179395"/>
            <a:ext cx="132074" cy="0"/>
          </a:xfrm>
          <a:prstGeom prst="line">
            <a:avLst/>
          </a:prstGeom>
          <a:noFill/>
          <a:ln w="22860">
            <a:solidFill>
              <a:srgbClr val="0072B2"/>
            </a:solidFill>
            <a:prstDash val="solid"/>
            <a:tailEnd type="triangle"/>
          </a:ln>
        </p:spPr>
      </p:sp>
      <p:sp>
        <p:nvSpPr>
          <p:cNvPr id="46" name="Text 44"/>
          <p:cNvSpPr txBox="1"/>
          <p:nvPr/>
        </p:nvSpPr>
        <p:spPr>
          <a:xfrm>
            <a:off x="1077042" y="44603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Systems</a:t>
            </a:r>
            <a:endParaRPr lang="en-US" sz="1560" dirty="0"/>
          </a:p>
        </p:txBody>
      </p:sp>
      <p:sp>
        <p:nvSpPr>
          <p:cNvPr id="47" name="Shape 45"/>
          <p:cNvSpPr/>
          <p:nvPr/>
        </p:nvSpPr>
        <p:spPr>
          <a:xfrm>
            <a:off x="1077042" y="4797848"/>
            <a:ext cx="2300286" cy="763093"/>
          </a:xfrm>
          <a:prstGeom prst="roundRect">
            <a:avLst>
              <a:gd name="adj" fmla="val 9586"/>
            </a:avLst>
          </a:prstGeom>
          <a:solidFill>
            <a:srgbClr val="E4F2FB"/>
          </a:solidFill>
          <a:ln w="15240">
            <a:solidFill>
              <a:srgbClr val="0072B2"/>
            </a:solidFill>
            <a:prstDash val="solid"/>
          </a:ln>
        </p:spPr>
      </p:sp>
      <p:sp>
        <p:nvSpPr>
          <p:cNvPr id="48" name="Text 46"/>
          <p:cNvSpPr txBox="1"/>
          <p:nvPr/>
        </p:nvSpPr>
        <p:spPr>
          <a:xfrm>
            <a:off x="1179766"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9</a:t>
            </a:r>
            <a:endParaRPr lang="en-US" sz="1444" dirty="0"/>
          </a:p>
        </p:txBody>
      </p:sp>
      <p:sp>
        <p:nvSpPr>
          <p:cNvPr id="49" name="Text 47"/>
          <p:cNvSpPr txBox="1"/>
          <p:nvPr/>
        </p:nvSpPr>
        <p:spPr>
          <a:xfrm>
            <a:off x="1179766"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Multimodal</a:t>
            </a:r>
            <a:endParaRPr lang="en-US" sz="1444" dirty="0"/>
          </a:p>
        </p:txBody>
      </p:sp>
      <p:sp>
        <p:nvSpPr>
          <p:cNvPr id="50" name="Shape 48"/>
          <p:cNvSpPr/>
          <p:nvPr/>
        </p:nvSpPr>
        <p:spPr>
          <a:xfrm>
            <a:off x="3377328" y="5179395"/>
            <a:ext cx="278823" cy="0"/>
          </a:xfrm>
          <a:prstGeom prst="line">
            <a:avLst/>
          </a:prstGeom>
          <a:noFill/>
          <a:ln w="22860">
            <a:solidFill>
              <a:srgbClr val="0072B2"/>
            </a:solidFill>
            <a:prstDash val="solid"/>
            <a:tailEnd type="triangle"/>
          </a:ln>
        </p:spPr>
      </p:sp>
      <p:sp>
        <p:nvSpPr>
          <p:cNvPr id="51" name="Shape 49"/>
          <p:cNvSpPr/>
          <p:nvPr/>
        </p:nvSpPr>
        <p:spPr>
          <a:xfrm>
            <a:off x="3656151" y="4797848"/>
            <a:ext cx="2300286" cy="763093"/>
          </a:xfrm>
          <a:prstGeom prst="roundRect">
            <a:avLst>
              <a:gd name="adj" fmla="val 9586"/>
            </a:avLst>
          </a:prstGeom>
          <a:solidFill>
            <a:srgbClr val="E4F2FB"/>
          </a:solidFill>
          <a:ln w="15240">
            <a:solidFill>
              <a:srgbClr val="0072B2"/>
            </a:solidFill>
            <a:prstDash val="solid"/>
          </a:ln>
        </p:spPr>
      </p:sp>
      <p:sp>
        <p:nvSpPr>
          <p:cNvPr id="52" name="Text 50"/>
          <p:cNvSpPr txBox="1"/>
          <p:nvPr/>
        </p:nvSpPr>
        <p:spPr>
          <a:xfrm>
            <a:off x="3758875"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10</a:t>
            </a:r>
            <a:endParaRPr lang="en-US" sz="1444" dirty="0"/>
          </a:p>
        </p:txBody>
      </p:sp>
      <p:sp>
        <p:nvSpPr>
          <p:cNvPr id="53" name="Text 51"/>
          <p:cNvSpPr txBox="1"/>
          <p:nvPr/>
        </p:nvSpPr>
        <p:spPr>
          <a:xfrm>
            <a:off x="3758875"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Applications</a:t>
            </a:r>
            <a:endParaRPr lang="en-US" sz="1444" dirty="0"/>
          </a:p>
        </p:txBody>
      </p:sp>
      <p:sp>
        <p:nvSpPr>
          <p:cNvPr id="54" name="Shape 52"/>
          <p:cNvSpPr/>
          <p:nvPr/>
        </p:nvSpPr>
        <p:spPr>
          <a:xfrm>
            <a:off x="5956436" y="5179395"/>
            <a:ext cx="278823" cy="0"/>
          </a:xfrm>
          <a:prstGeom prst="line">
            <a:avLst/>
          </a:prstGeom>
          <a:noFill/>
          <a:ln w="22860">
            <a:solidFill>
              <a:srgbClr val="0072B2"/>
            </a:solidFill>
            <a:prstDash val="solid"/>
            <a:tailEnd type="triangle"/>
          </a:ln>
        </p:spPr>
      </p:sp>
      <p:sp>
        <p:nvSpPr>
          <p:cNvPr id="55" name="Shape 53"/>
          <p:cNvSpPr/>
          <p:nvPr/>
        </p:nvSpPr>
        <p:spPr>
          <a:xfrm>
            <a:off x="6235259" y="4797848"/>
            <a:ext cx="2300286" cy="763093"/>
          </a:xfrm>
          <a:prstGeom prst="roundRect">
            <a:avLst>
              <a:gd name="adj" fmla="val 9586"/>
            </a:avLst>
          </a:prstGeom>
          <a:solidFill>
            <a:srgbClr val="E4F2FB"/>
          </a:solidFill>
          <a:ln w="15240">
            <a:solidFill>
              <a:srgbClr val="0072B2"/>
            </a:solidFill>
            <a:prstDash val="solid"/>
          </a:ln>
        </p:spPr>
      </p:sp>
      <p:sp>
        <p:nvSpPr>
          <p:cNvPr id="56" name="Text 54"/>
          <p:cNvSpPr txBox="1"/>
          <p:nvPr/>
        </p:nvSpPr>
        <p:spPr>
          <a:xfrm>
            <a:off x="6337983"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11</a:t>
            </a:r>
            <a:endParaRPr lang="en-US" sz="1444" dirty="0"/>
          </a:p>
        </p:txBody>
      </p:sp>
      <p:sp>
        <p:nvSpPr>
          <p:cNvPr id="57" name="Text 55"/>
          <p:cNvSpPr txBox="1"/>
          <p:nvPr/>
        </p:nvSpPr>
        <p:spPr>
          <a:xfrm>
            <a:off x="6337983"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Deployment</a:t>
            </a:r>
            <a:endParaRPr lang="en-US" sz="1444" dirty="0"/>
          </a:p>
        </p:txBody>
      </p:sp>
      <p:sp>
        <p:nvSpPr>
          <p:cNvPr id="58" name="Shape 56"/>
          <p:cNvSpPr/>
          <p:nvPr/>
        </p:nvSpPr>
        <p:spPr>
          <a:xfrm>
            <a:off x="8535545" y="5179395"/>
            <a:ext cx="278823" cy="0"/>
          </a:xfrm>
          <a:prstGeom prst="line">
            <a:avLst/>
          </a:prstGeom>
          <a:noFill/>
          <a:ln w="22860">
            <a:solidFill>
              <a:srgbClr val="0072B2"/>
            </a:solidFill>
            <a:prstDash val="solid"/>
            <a:tailEnd type="triangle"/>
          </a:ln>
        </p:spPr>
      </p:sp>
      <p:sp>
        <p:nvSpPr>
          <p:cNvPr id="59" name="Shape 57"/>
          <p:cNvSpPr/>
          <p:nvPr/>
        </p:nvSpPr>
        <p:spPr>
          <a:xfrm>
            <a:off x="8814367" y="4797848"/>
            <a:ext cx="2300286" cy="763093"/>
          </a:xfrm>
          <a:prstGeom prst="roundRect">
            <a:avLst>
              <a:gd name="adj" fmla="val 9586"/>
            </a:avLst>
          </a:prstGeom>
          <a:solidFill>
            <a:srgbClr val="E4F2FB"/>
          </a:solidFill>
          <a:ln w="15240">
            <a:solidFill>
              <a:srgbClr val="0072B2"/>
            </a:solidFill>
            <a:prstDash val="solid"/>
          </a:ln>
        </p:spPr>
      </p:sp>
      <p:sp>
        <p:nvSpPr>
          <p:cNvPr id="60" name="Text 58"/>
          <p:cNvSpPr txBox="1"/>
          <p:nvPr/>
        </p:nvSpPr>
        <p:spPr>
          <a:xfrm>
            <a:off x="8917091"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12</a:t>
            </a:r>
            <a:endParaRPr lang="en-US" sz="1444" dirty="0"/>
          </a:p>
        </p:txBody>
      </p:sp>
      <p:sp>
        <p:nvSpPr>
          <p:cNvPr id="61" name="Text 59"/>
          <p:cNvSpPr txBox="1"/>
          <p:nvPr/>
        </p:nvSpPr>
        <p:spPr>
          <a:xfrm>
            <a:off x="8917091"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RAG &amp; agents</a:t>
            </a:r>
            <a:endParaRPr lang="en-US" sz="1444" dirty="0"/>
          </a:p>
        </p:txBody>
      </p:sp>
      <p:sp>
        <p:nvSpPr>
          <p:cNvPr id="62" name="Text 60"/>
          <p:cNvSpPr txBox="1"/>
          <p:nvPr/>
        </p:nvSpPr>
        <p:spPr>
          <a:xfrm>
            <a:off x="1077042" y="5891126"/>
            <a:ext cx="10037611" cy="271485"/>
          </a:xfrm>
          <a:prstGeom prst="rect">
            <a:avLst/>
          </a:prstGeom>
          <a:noFill/>
          <a:ln/>
        </p:spPr>
        <p:txBody>
          <a:bodyPr wrap="square" lIns="0" tIns="0" rIns="0" bIns="0" rtlCol="0" anchor="ctr"/>
          <a:lstStyle/>
          <a:p>
            <a:pPr algn="l" indent="0" marL="0">
              <a:lnSpc>
                <a:spcPct val="116000"/>
              </a:lnSpc>
              <a:buNone/>
            </a:pPr>
            <a:r>
              <a:rPr lang="en-US" sz="1560" dirty="0">
                <a:solidFill>
                  <a:srgbClr val="1F2937"/>
                </a:solidFill>
                <a:latin typeface="Arial" pitchFamily="34" charset="0"/>
                <a:ea typeface="Arial" pitchFamily="34" charset="-122"/>
                <a:cs typeface="Arial" pitchFamily="34" charset="-120"/>
              </a:rPr>
              <a:t>Check evidence throughout</a:t>
            </a:r>
            <a:endParaRPr lang="en-US" sz="15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Starting vocabulary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106436"/>
                <a:gridCol w="7987979"/>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Term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Meaning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Prompt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Input text for one request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Accuracy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Correct ÷ all scored items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JSON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Named fields code can read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Warm-up</a:t>
            </a:r>
            <a:endParaRPr lang="en-US" sz="3200" dirty="0"/>
          </a:p>
        </p:txBody>
      </p:sp>
      <p:sp>
        <p:nvSpPr>
          <p:cNvPr id="6" name="Shape 4"/>
          <p:cNvSpPr/>
          <p:nvPr/>
        </p:nvSpPr>
        <p:spPr>
          <a:xfrm>
            <a:off x="548640" y="1527048"/>
            <a:ext cx="1005840" cy="1005840"/>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790042" y="1768450"/>
            <a:ext cx="523037" cy="523037"/>
          </a:xfrm>
          <a:prstGeom prst="rect">
            <a:avLst/>
          </a:prstGeom>
        </p:spPr>
      </p:pic>
      <p:sp>
        <p:nvSpPr>
          <p:cNvPr id="8" name="Text 5"/>
          <p:cNvSpPr txBox="1"/>
          <p:nvPr/>
        </p:nvSpPr>
        <p:spPr>
          <a:xfrm>
            <a:off x="1828800" y="1481328"/>
            <a:ext cx="9814255" cy="1463040"/>
          </a:xfrm>
          <a:prstGeom prst="rect">
            <a:avLst/>
          </a:prstGeom>
          <a:noFill/>
          <a:ln/>
        </p:spPr>
        <p:txBody>
          <a:bodyPr wrap="square" lIns="50800" tIns="50800" rIns="50800" bIns="50800" rtlCol="0" anchor="ctr"/>
          <a:lstStyle/>
          <a:p>
            <a:pPr indent="0" marL="0">
              <a:buNone/>
            </a:pPr>
            <a:r>
              <a:rPr lang="en-US" sz="2600" b="1" dirty="0">
                <a:solidFill>
                  <a:srgbClr val="1E1B4B"/>
                </a:solidFill>
                <a:latin typeface="Calibri" pitchFamily="34" charset="0"/>
                <a:ea typeface="Calibri" pitchFamily="34" charset="-122"/>
                <a:cs typeface="Calibri" pitchFamily="34" charset="-120"/>
              </a:rPr>
              <a:t>A colleague's prompt: 'Write about AI for the website.' What is missing? Rewrite it in pairs.</a:t>
            </a:r>
            <a:endParaRPr lang="en-US" sz="2600" dirty="0"/>
          </a:p>
        </p:txBody>
      </p:sp>
      <p:sp>
        <p:nvSpPr>
          <p:cNvPr id="9" name="Text 6"/>
          <p:cNvSpPr txBox="1"/>
          <p:nvPr/>
        </p:nvSpPr>
        <p:spPr>
          <a:xfrm>
            <a:off x="1828800" y="3172968"/>
            <a:ext cx="9814255" cy="3090672"/>
          </a:xfrm>
          <a:prstGeom prst="rect">
            <a:avLst/>
          </a:prstGeom>
          <a:noFill/>
          <a:ln/>
        </p:spPr>
        <p:txBody>
          <a:bodyPr wrap="square" lIns="50800" tIns="50800" rIns="50800" bIns="50800" rtlCol="0" anchor="t"/>
          <a:lstStyle/>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Audience and purpose?</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Sources, length, format?</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How to judge success?</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01</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The paradigm shift</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can instructions change a model's answer without training it again?</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prompt evaluation loop</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Weights fixed</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message</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messages</a:t>
            </a:r>
            <a:endParaRPr lang="en-US" sz="1441" dirty="0"/>
          </a:p>
        </p:txBody>
      </p:sp>
      <p:sp>
        <p:nvSpPr>
          <p:cNvPr id="11" name="Shape 9"/>
          <p:cNvSpPr/>
          <p:nvPr/>
        </p:nvSpPr>
        <p:spPr>
          <a:xfrm>
            <a:off x="5973836" y="3838927"/>
            <a:ext cx="244024" cy="0"/>
          </a:xfrm>
          <a:prstGeom prst="line">
            <a:avLst/>
          </a:prstGeom>
          <a:noFill/>
          <a:ln w="22860">
            <a:solidFill>
              <a:srgbClr val="009E73"/>
            </a:solidFill>
            <a:prstDash val="solid"/>
            <a:tailEnd type="triangle"/>
          </a:ln>
        </p:spPr>
      </p:sp>
      <p:sp>
        <p:nvSpPr>
          <p:cNvPr id="12" name="Text 10"/>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reply</a:t>
            </a:r>
            <a:endParaRPr lang="en-US" sz="1441" dirty="0"/>
          </a:p>
        </p:txBody>
      </p:sp>
      <p:sp>
        <p:nvSpPr>
          <p:cNvPr id="13" name="Shape 11"/>
          <p:cNvSpPr/>
          <p:nvPr/>
        </p:nvSpPr>
        <p:spPr>
          <a:xfrm>
            <a:off x="7783680" y="3838927"/>
            <a:ext cx="244024" cy="0"/>
          </a:xfrm>
          <a:prstGeom prst="line">
            <a:avLst/>
          </a:prstGeom>
          <a:noFill/>
          <a:ln w="22860">
            <a:solidFill>
              <a:srgbClr val="009E73"/>
            </a:solidFill>
            <a:prstDash val="solid"/>
            <a:tailEnd type="triangle"/>
          </a:ln>
        </p:spPr>
      </p:sp>
      <p:sp>
        <p:nvSpPr>
          <p:cNvPr id="14" name="Text 12"/>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score</a:t>
            </a:r>
            <a:endParaRPr lang="en-US" sz="1441" dirty="0"/>
          </a:p>
        </p:txBody>
      </p:sp>
      <p:sp>
        <p:nvSpPr>
          <p:cNvPr id="15" name="Shape 13"/>
          <p:cNvSpPr/>
          <p:nvPr/>
        </p:nvSpPr>
        <p:spPr>
          <a:xfrm>
            <a:off x="9593525" y="3838927"/>
            <a:ext cx="244024" cy="0"/>
          </a:xfrm>
          <a:prstGeom prst="line">
            <a:avLst/>
          </a:prstGeom>
          <a:noFill/>
          <a:ln w="22860">
            <a:solidFill>
              <a:srgbClr val="009E73"/>
            </a:solidFill>
            <a:prstDash val="solid"/>
            <a:tailEnd type="triangle"/>
          </a:ln>
        </p:spPr>
      </p:sp>
      <p:sp>
        <p:nvSpPr>
          <p:cNvPr id="16" name="Text 14"/>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summary</a:t>
            </a:r>
            <a:endParaRPr lang="en-US" sz="1441" dirty="0"/>
          </a:p>
        </p:txBody>
      </p:sp>
      <p:sp>
        <p:nvSpPr>
          <p:cNvPr id="17" name="Shape 15"/>
          <p:cNvSpPr/>
          <p:nvPr/>
        </p:nvSpPr>
        <p:spPr>
          <a:xfrm flipV="1">
            <a:off x="10620460" y="2191765"/>
            <a:ext cx="0" cy="747324"/>
          </a:xfrm>
          <a:prstGeom prst="line">
            <a:avLst/>
          </a:prstGeom>
          <a:noFill/>
          <a:ln w="22860">
            <a:solidFill>
              <a:srgbClr val="D55E00"/>
            </a:solidFill>
            <a:prstDash val="dash"/>
          </a:ln>
        </p:spPr>
      </p:sp>
      <p:sp>
        <p:nvSpPr>
          <p:cNvPr id="18" name="Shape 16"/>
          <p:cNvSpPr/>
          <p:nvPr/>
        </p:nvSpPr>
        <p:spPr>
          <a:xfrm flipH="1">
            <a:off x="3381080" y="2191765"/>
            <a:ext cx="7239380" cy="0"/>
          </a:xfrm>
          <a:prstGeom prst="line">
            <a:avLst/>
          </a:prstGeom>
          <a:noFill/>
          <a:ln w="22860">
            <a:solidFill>
              <a:srgbClr val="D55E00"/>
            </a:solidFill>
            <a:prstDash val="dash"/>
          </a:ln>
        </p:spPr>
      </p:sp>
      <p:sp>
        <p:nvSpPr>
          <p:cNvPr id="19" name="Shape 17"/>
          <p:cNvSpPr/>
          <p:nvPr/>
        </p:nvSpPr>
        <p:spPr>
          <a:xfrm>
            <a:off x="3381080" y="2191765"/>
            <a:ext cx="0" cy="747324"/>
          </a:xfrm>
          <a:prstGeom prst="line">
            <a:avLst/>
          </a:prstGeom>
          <a:noFill/>
          <a:ln w="22860">
            <a:solidFill>
              <a:srgbClr val="D55E00"/>
            </a:solidFill>
            <a:prstDash val="dash"/>
            <a:tailEnd type="triangle"/>
          </a:ln>
        </p:spPr>
      </p:sp>
      <p:sp>
        <p:nvSpPr>
          <p:cNvPr id="20" name="Text 18"/>
          <p:cNvSpPr txBox="1"/>
          <p:nvPr/>
        </p:nvSpPr>
        <p:spPr>
          <a:xfrm>
            <a:off x="6680828" y="1917238"/>
            <a:ext cx="639885"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Revise</a:t>
            </a:r>
            <a:endParaRPr lang="en-US" sz="1441" dirty="0"/>
          </a:p>
        </p:txBody>
      </p:sp>
      <p:sp>
        <p:nvSpPr>
          <p:cNvPr id="21" name="Shape 19"/>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22" name="Text 20"/>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Ticket</a:t>
            </a:r>
            <a:endParaRPr lang="en-US" sz="1561" dirty="0"/>
          </a:p>
        </p:txBody>
      </p:sp>
      <p:sp>
        <p:nvSpPr>
          <p:cNvPr id="23" name="Text 21"/>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labelled</a:t>
            </a:r>
            <a:endParaRPr lang="en-US" sz="1441" dirty="0"/>
          </a:p>
        </p:txBody>
      </p:sp>
      <p:sp>
        <p:nvSpPr>
          <p:cNvPr id="24" name="Shape 22"/>
          <p:cNvSpPr/>
          <p:nvPr/>
        </p:nvSpPr>
        <p:spPr>
          <a:xfrm>
            <a:off x="2598170" y="2939089"/>
            <a:ext cx="1565821" cy="1799677"/>
          </a:xfrm>
          <a:prstGeom prst="rect">
            <a:avLst/>
          </a:prstGeom>
          <a:solidFill>
            <a:srgbClr val="F2F4F5"/>
          </a:solidFill>
          <a:ln w="15240">
            <a:solidFill>
              <a:srgbClr val="626B73"/>
            </a:solidFill>
            <a:prstDash val="solid"/>
          </a:ln>
        </p:spPr>
      </p:sp>
      <p:sp>
        <p:nvSpPr>
          <p:cNvPr id="25" name="Text 23"/>
          <p:cNvSpPr txBox="1"/>
          <p:nvPr/>
        </p:nvSpPr>
        <p:spPr>
          <a:xfrm>
            <a:off x="265917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Prompt</a:t>
            </a:r>
            <a:endParaRPr lang="en-US" sz="1561" dirty="0"/>
          </a:p>
        </p:txBody>
      </p:sp>
      <p:sp>
        <p:nvSpPr>
          <p:cNvPr id="26" name="Text 24"/>
          <p:cNvSpPr txBox="1"/>
          <p:nvPr/>
        </p:nvSpPr>
        <p:spPr>
          <a:xfrm>
            <a:off x="265917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few-shot</a:t>
            </a:r>
            <a:endParaRPr lang="en-US" sz="1441" dirty="0"/>
          </a:p>
        </p:txBody>
      </p:sp>
      <p:sp>
        <p:nvSpPr>
          <p:cNvPr id="27" name="Shape 25"/>
          <p:cNvSpPr/>
          <p:nvPr/>
        </p:nvSpPr>
        <p:spPr>
          <a:xfrm>
            <a:off x="4408015" y="2939089"/>
            <a:ext cx="1565821" cy="1799677"/>
          </a:xfrm>
          <a:prstGeom prst="rect">
            <a:avLst/>
          </a:prstGeom>
          <a:solidFill>
            <a:srgbClr val="E5F7EF"/>
          </a:solidFill>
          <a:ln w="15240">
            <a:solidFill>
              <a:srgbClr val="009E73"/>
            </a:solidFill>
            <a:prstDash val="solid"/>
          </a:ln>
        </p:spPr>
      </p:sp>
      <p:sp>
        <p:nvSpPr>
          <p:cNvPr id="28" name="Text 26"/>
          <p:cNvSpPr txBox="1"/>
          <p:nvPr/>
        </p:nvSpPr>
        <p:spPr>
          <a:xfrm>
            <a:off x="4469021"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Generate</a:t>
            </a:r>
            <a:endParaRPr lang="en-US" sz="1561" dirty="0"/>
          </a:p>
        </p:txBody>
      </p:sp>
      <p:sp>
        <p:nvSpPr>
          <p:cNvPr id="29" name="Text 27"/>
          <p:cNvSpPr txBox="1"/>
          <p:nvPr/>
        </p:nvSpPr>
        <p:spPr>
          <a:xfrm>
            <a:off x="4469021"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fixed weights</a:t>
            </a:r>
            <a:endParaRPr lang="en-US" sz="1441" dirty="0"/>
          </a:p>
        </p:txBody>
      </p:sp>
      <p:sp>
        <p:nvSpPr>
          <p:cNvPr id="30" name="Text 28"/>
          <p:cNvSpPr txBox="1"/>
          <p:nvPr/>
        </p:nvSpPr>
        <p:spPr>
          <a:xfrm>
            <a:off x="4430892"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llm</a:t>
            </a:r>
            <a:endParaRPr lang="en-US" sz="1441" dirty="0"/>
          </a:p>
        </p:txBody>
      </p:sp>
      <p:sp>
        <p:nvSpPr>
          <p:cNvPr id="31" name="Shape 29"/>
          <p:cNvSpPr/>
          <p:nvPr/>
        </p:nvSpPr>
        <p:spPr>
          <a:xfrm>
            <a:off x="6217860" y="2939089"/>
            <a:ext cx="1565821" cy="1799677"/>
          </a:xfrm>
          <a:prstGeom prst="roundRect">
            <a:avLst>
              <a:gd name="adj" fmla="val 4672"/>
            </a:avLst>
          </a:prstGeom>
          <a:solidFill>
            <a:srgbClr val="FFF0E6"/>
          </a:solidFill>
          <a:ln w="15240">
            <a:solidFill>
              <a:srgbClr val="D55E00"/>
            </a:solidFill>
            <a:prstDash val="solid"/>
          </a:ln>
        </p:spPr>
      </p:sp>
      <p:sp>
        <p:nvSpPr>
          <p:cNvPr id="32" name="Text 30"/>
          <p:cNvSpPr txBox="1"/>
          <p:nvPr/>
        </p:nvSpPr>
        <p:spPr>
          <a:xfrm>
            <a:off x="627886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Score</a:t>
            </a:r>
            <a:endParaRPr lang="en-US" sz="1561" dirty="0"/>
          </a:p>
        </p:txBody>
      </p:sp>
      <p:sp>
        <p:nvSpPr>
          <p:cNvPr id="33" name="Text 31"/>
          <p:cNvSpPr txBox="1"/>
          <p:nvPr/>
        </p:nvSpPr>
        <p:spPr>
          <a:xfrm>
            <a:off x="627886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vs label</a:t>
            </a:r>
            <a:endParaRPr lang="en-US" sz="1441" dirty="0"/>
          </a:p>
        </p:txBody>
      </p:sp>
      <p:sp>
        <p:nvSpPr>
          <p:cNvPr id="34" name="Shape 32"/>
          <p:cNvSpPr/>
          <p:nvPr/>
        </p:nvSpPr>
        <p:spPr>
          <a:xfrm>
            <a:off x="8027705" y="2939089"/>
            <a:ext cx="1565821" cy="1799677"/>
          </a:xfrm>
          <a:prstGeom prst="rect">
            <a:avLst/>
          </a:prstGeom>
          <a:solidFill>
            <a:srgbClr val="F2F4F5"/>
          </a:solidFill>
          <a:ln w="15240">
            <a:solidFill>
              <a:srgbClr val="626B73"/>
            </a:solidFill>
            <a:prstDash val="solid"/>
          </a:ln>
        </p:spPr>
      </p:sp>
      <p:sp>
        <p:nvSpPr>
          <p:cNvPr id="35" name="Text 33"/>
          <p:cNvSpPr txBox="1"/>
          <p:nvPr/>
        </p:nvSpPr>
        <p:spPr>
          <a:xfrm>
            <a:off x="8088711"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Summarise</a:t>
            </a:r>
            <a:endParaRPr lang="en-US" sz="1561" dirty="0"/>
          </a:p>
        </p:txBody>
      </p:sp>
      <p:sp>
        <p:nvSpPr>
          <p:cNvPr id="36" name="Text 34"/>
          <p:cNvSpPr txBox="1"/>
          <p:nvPr/>
        </p:nvSpPr>
        <p:spPr>
          <a:xfrm>
            <a:off x="8088711"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accuracy</a:t>
            </a:r>
            <a:endParaRPr lang="en-US" sz="1441" dirty="0"/>
          </a:p>
        </p:txBody>
      </p:sp>
      <p:sp>
        <p:nvSpPr>
          <p:cNvPr id="37" name="Text 35"/>
          <p:cNvSpPr txBox="1"/>
          <p:nvPr/>
        </p:nvSpPr>
        <p:spPr>
          <a:xfrm>
            <a:off x="8050582"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evaluate</a:t>
            </a:r>
            <a:endParaRPr lang="en-US" sz="1441" dirty="0"/>
          </a:p>
        </p:txBody>
      </p:sp>
      <p:sp>
        <p:nvSpPr>
          <p:cNvPr id="38" name="Shape 36"/>
          <p:cNvSpPr/>
          <p:nvPr/>
        </p:nvSpPr>
        <p:spPr>
          <a:xfrm>
            <a:off x="9837549" y="2939089"/>
            <a:ext cx="1565821" cy="1799677"/>
          </a:xfrm>
          <a:prstGeom prst="roundRect">
            <a:avLst>
              <a:gd name="adj" fmla="val 4672"/>
            </a:avLst>
          </a:prstGeom>
          <a:solidFill>
            <a:srgbClr val="F9EAF4"/>
          </a:solidFill>
          <a:ln w="15240">
            <a:solidFill>
              <a:srgbClr val="CC79A7"/>
            </a:solidFill>
            <a:prstDash val="solid"/>
          </a:ln>
        </p:spPr>
      </p:sp>
      <p:sp>
        <p:nvSpPr>
          <p:cNvPr id="39" name="Text 37"/>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Review</a:t>
            </a:r>
            <a:endParaRPr lang="en-US" sz="1561" dirty="0"/>
          </a:p>
        </p:txBody>
      </p:sp>
      <p:sp>
        <p:nvSpPr>
          <p:cNvPr id="40" name="Text 38"/>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errors</a:t>
            </a:r>
            <a:endParaRPr lang="en-US" sz="1441" dirty="0"/>
          </a:p>
        </p:txBody>
      </p:sp>
      <p:sp>
        <p:nvSpPr>
          <p:cNvPr id="41" name="Shape 39"/>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2" name="Text 40"/>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3" name="Shape 41"/>
          <p:cNvSpPr/>
          <p:nvPr/>
        </p:nvSpPr>
        <p:spPr>
          <a:xfrm>
            <a:off x="1676436" y="5630979"/>
            <a:ext cx="198270" cy="198270"/>
          </a:xfrm>
          <a:prstGeom prst="rect">
            <a:avLst/>
          </a:prstGeom>
          <a:solidFill>
            <a:srgbClr val="E5F7EF"/>
          </a:solidFill>
          <a:ln w="15240">
            <a:solidFill>
              <a:srgbClr val="009E73"/>
            </a:solidFill>
            <a:prstDash val="solid"/>
          </a:ln>
        </p:spPr>
      </p:sp>
      <p:sp>
        <p:nvSpPr>
          <p:cNvPr id="44" name="Text 42"/>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5" name="Shape 43"/>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46" name="Text 44"/>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47" name="Shape 45"/>
          <p:cNvSpPr/>
          <p:nvPr/>
        </p:nvSpPr>
        <p:spPr>
          <a:xfrm>
            <a:off x="3705159" y="5630979"/>
            <a:ext cx="198270" cy="198270"/>
          </a:xfrm>
          <a:prstGeom prst="roundRect">
            <a:avLst>
              <a:gd name="adj" fmla="val 36895"/>
            </a:avLst>
          </a:prstGeom>
          <a:solidFill>
            <a:srgbClr val="F9EAF4"/>
          </a:solidFill>
          <a:ln w="15240">
            <a:solidFill>
              <a:srgbClr val="CC79A7"/>
            </a:solidFill>
            <a:prstDash val="solid"/>
          </a:ln>
        </p:spPr>
      </p:sp>
      <p:sp>
        <p:nvSpPr>
          <p:cNvPr id="48" name="Text 46"/>
          <p:cNvSpPr txBox="1"/>
          <p:nvPr/>
        </p:nvSpPr>
        <p:spPr>
          <a:xfrm>
            <a:off x="3964435"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9" name="Shape 47"/>
          <p:cNvSpPr/>
          <p:nvPr/>
        </p:nvSpPr>
        <p:spPr>
          <a:xfrm>
            <a:off x="4761857" y="5630979"/>
            <a:ext cx="198270" cy="198270"/>
          </a:xfrm>
          <a:prstGeom prst="rect">
            <a:avLst/>
          </a:prstGeom>
          <a:solidFill>
            <a:srgbClr val="F2F4F5"/>
          </a:solidFill>
          <a:ln w="15240">
            <a:solidFill>
              <a:srgbClr val="626B73"/>
            </a:solidFill>
            <a:prstDash val="solid"/>
          </a:ln>
        </p:spPr>
      </p:sp>
      <p:sp>
        <p:nvSpPr>
          <p:cNvPr id="50" name="Text 48"/>
          <p:cNvSpPr txBox="1"/>
          <p:nvPr/>
        </p:nvSpPr>
        <p:spPr>
          <a:xfrm>
            <a:off x="5021133"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51" name="Shape 49"/>
          <p:cNvSpPr/>
          <p:nvPr/>
        </p:nvSpPr>
        <p:spPr>
          <a:xfrm>
            <a:off x="5618334" y="5730113"/>
            <a:ext cx="335533" cy="0"/>
          </a:xfrm>
          <a:prstGeom prst="line">
            <a:avLst/>
          </a:prstGeom>
          <a:noFill/>
          <a:ln w="22860">
            <a:solidFill>
              <a:srgbClr val="009E73"/>
            </a:solidFill>
            <a:prstDash val="solid"/>
            <a:tailEnd type="triangle"/>
          </a:ln>
        </p:spPr>
      </p:sp>
      <p:sp>
        <p:nvSpPr>
          <p:cNvPr id="52" name="Text 50"/>
          <p:cNvSpPr txBox="1"/>
          <p:nvPr/>
        </p:nvSpPr>
        <p:spPr>
          <a:xfrm>
            <a:off x="6014873"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3" name="Shape 51"/>
          <p:cNvSpPr/>
          <p:nvPr/>
        </p:nvSpPr>
        <p:spPr>
          <a:xfrm>
            <a:off x="6643519" y="5730113"/>
            <a:ext cx="335533" cy="0"/>
          </a:xfrm>
          <a:prstGeom prst="line">
            <a:avLst/>
          </a:prstGeom>
          <a:noFill/>
          <a:ln w="22860">
            <a:solidFill>
              <a:srgbClr val="D55E00"/>
            </a:solidFill>
            <a:prstDash val="dash"/>
            <a:tailEnd type="triangle"/>
          </a:ln>
        </p:spPr>
      </p:sp>
      <p:sp>
        <p:nvSpPr>
          <p:cNvPr id="54" name="Text 52"/>
          <p:cNvSpPr txBox="1"/>
          <p:nvPr/>
        </p:nvSpPr>
        <p:spPr>
          <a:xfrm>
            <a:off x="7040058"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55" name="Text 53"/>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Weights change?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Three ways to adapt a model</a:t>
            </a:r>
            <a:endParaRPr lang="en-US" sz="3200" dirty="0"/>
          </a:p>
        </p:txBody>
      </p:sp>
      <p:sp>
        <p:nvSpPr>
          <p:cNvPr id="6" name="Shape 4"/>
          <p:cNvSpPr/>
          <p:nvPr/>
        </p:nvSpPr>
        <p:spPr>
          <a:xfrm>
            <a:off x="548640" y="1481328"/>
            <a:ext cx="3515258" cy="566928"/>
          </a:xfrm>
          <a:prstGeom prst="roundRect">
            <a:avLst>
              <a:gd name="adj" fmla="val 16129"/>
            </a:avLst>
          </a:prstGeom>
          <a:solidFill>
            <a:srgbClr val="4F46E5"/>
          </a:solidFill>
          <a:ln w="12700">
            <a:solidFill>
              <a:srgbClr val="4F46E5"/>
            </a:solidFill>
            <a:prstDash val="solid"/>
          </a:ln>
        </p:spPr>
      </p:sp>
      <p:sp>
        <p:nvSpPr>
          <p:cNvPr id="7" name="Text 5"/>
          <p:cNvSpPr txBox="1"/>
          <p:nvPr/>
        </p:nvSpPr>
        <p:spPr>
          <a:xfrm>
            <a:off x="731520" y="1481328"/>
            <a:ext cx="314949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Pre-training</a:t>
            </a:r>
            <a:endParaRPr lang="en-US" sz="1800" dirty="0"/>
          </a:p>
        </p:txBody>
      </p:sp>
      <p:sp>
        <p:nvSpPr>
          <p:cNvPr id="8" name="Shape 6"/>
          <p:cNvSpPr/>
          <p:nvPr/>
        </p:nvSpPr>
        <p:spPr>
          <a:xfrm>
            <a:off x="548640" y="2167128"/>
            <a:ext cx="3515258" cy="3182112"/>
          </a:xfrm>
          <a:prstGeom prst="roundRect">
            <a:avLst>
              <a:gd name="adj" fmla="val 2874"/>
            </a:avLst>
          </a:prstGeom>
          <a:solidFill>
            <a:srgbClr val="EEF0FF"/>
          </a:solidFill>
          <a:ln w="12700">
            <a:solidFill>
              <a:srgbClr val="EEF0FF"/>
            </a:solidFill>
            <a:prstDash val="solid"/>
          </a:ln>
        </p:spPr>
      </p:sp>
      <p:sp>
        <p:nvSpPr>
          <p:cNvPr id="9" name="Text 7"/>
          <p:cNvSpPr txBox="1"/>
          <p:nvPr/>
        </p:nvSpPr>
        <p:spPr>
          <a:xfrm>
            <a:off x="658368" y="2258568"/>
            <a:ext cx="3295802" cy="304495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Huge general text</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Updates all weights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Weeks of GPU time</a:t>
            </a:r>
            <a:endParaRPr lang="en-US" sz="2400" dirty="0"/>
          </a:p>
        </p:txBody>
      </p:sp>
      <p:sp>
        <p:nvSpPr>
          <p:cNvPr id="10" name="Shape 8"/>
          <p:cNvSpPr/>
          <p:nvPr/>
        </p:nvSpPr>
        <p:spPr>
          <a:xfrm>
            <a:off x="4338218" y="1481328"/>
            <a:ext cx="3515258" cy="566928"/>
          </a:xfrm>
          <a:prstGeom prst="roundRect">
            <a:avLst>
              <a:gd name="adj" fmla="val 16129"/>
            </a:avLst>
          </a:prstGeom>
          <a:solidFill>
            <a:srgbClr val="0F766E"/>
          </a:solidFill>
          <a:ln w="12700">
            <a:solidFill>
              <a:srgbClr val="0F766E"/>
            </a:solidFill>
            <a:prstDash val="solid"/>
          </a:ln>
        </p:spPr>
      </p:sp>
      <p:sp>
        <p:nvSpPr>
          <p:cNvPr id="11" name="Text 9"/>
          <p:cNvSpPr txBox="1"/>
          <p:nvPr/>
        </p:nvSpPr>
        <p:spPr>
          <a:xfrm>
            <a:off x="4521098" y="1481328"/>
            <a:ext cx="314949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Fine-tuning</a:t>
            </a:r>
            <a:endParaRPr lang="en-US" sz="1800" dirty="0"/>
          </a:p>
        </p:txBody>
      </p:sp>
      <p:sp>
        <p:nvSpPr>
          <p:cNvPr id="12" name="Shape 10"/>
          <p:cNvSpPr/>
          <p:nvPr/>
        </p:nvSpPr>
        <p:spPr>
          <a:xfrm>
            <a:off x="4338218" y="2167128"/>
            <a:ext cx="3515258" cy="3182112"/>
          </a:xfrm>
          <a:prstGeom prst="roundRect">
            <a:avLst>
              <a:gd name="adj" fmla="val 2874"/>
            </a:avLst>
          </a:prstGeom>
          <a:solidFill>
            <a:srgbClr val="E6F4F1"/>
          </a:solidFill>
          <a:ln w="12700">
            <a:solidFill>
              <a:srgbClr val="E6F4F1"/>
            </a:solidFill>
            <a:prstDash val="solid"/>
          </a:ln>
        </p:spPr>
      </p:sp>
      <p:sp>
        <p:nvSpPr>
          <p:cNvPr id="13" name="Text 11"/>
          <p:cNvSpPr txBox="1"/>
          <p:nvPr/>
        </p:nvSpPr>
        <p:spPr>
          <a:xfrm>
            <a:off x="4447946" y="2258568"/>
            <a:ext cx="3295802" cy="304495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Your task examples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Updates some weights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Week 8</a:t>
            </a:r>
            <a:endParaRPr lang="en-US" sz="2400" dirty="0"/>
          </a:p>
        </p:txBody>
      </p:sp>
      <p:sp>
        <p:nvSpPr>
          <p:cNvPr id="14" name="Shape 12"/>
          <p:cNvSpPr/>
          <p:nvPr/>
        </p:nvSpPr>
        <p:spPr>
          <a:xfrm>
            <a:off x="8127797" y="1481328"/>
            <a:ext cx="3515258" cy="566928"/>
          </a:xfrm>
          <a:prstGeom prst="roundRect">
            <a:avLst>
              <a:gd name="adj" fmla="val 16129"/>
            </a:avLst>
          </a:prstGeom>
          <a:solidFill>
            <a:srgbClr val="EA580C"/>
          </a:solidFill>
          <a:ln w="12700">
            <a:solidFill>
              <a:srgbClr val="EA580C"/>
            </a:solidFill>
            <a:prstDash val="solid"/>
          </a:ln>
        </p:spPr>
      </p:sp>
      <p:sp>
        <p:nvSpPr>
          <p:cNvPr id="15" name="Text 13"/>
          <p:cNvSpPr txBox="1"/>
          <p:nvPr/>
        </p:nvSpPr>
        <p:spPr>
          <a:xfrm>
            <a:off x="8310677" y="1481328"/>
            <a:ext cx="314949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Prompting</a:t>
            </a:r>
            <a:endParaRPr lang="en-US" sz="1800" dirty="0"/>
          </a:p>
        </p:txBody>
      </p:sp>
      <p:sp>
        <p:nvSpPr>
          <p:cNvPr id="16" name="Shape 14"/>
          <p:cNvSpPr/>
          <p:nvPr/>
        </p:nvSpPr>
        <p:spPr>
          <a:xfrm>
            <a:off x="8127797" y="2167128"/>
            <a:ext cx="3515258" cy="3182112"/>
          </a:xfrm>
          <a:prstGeom prst="roundRect">
            <a:avLst>
              <a:gd name="adj" fmla="val 2874"/>
            </a:avLst>
          </a:prstGeom>
          <a:solidFill>
            <a:srgbClr val="FFF1E6"/>
          </a:solidFill>
          <a:ln w="12700">
            <a:solidFill>
              <a:srgbClr val="FFF1E6"/>
            </a:solidFill>
            <a:prstDash val="solid"/>
          </a:ln>
        </p:spPr>
      </p:sp>
      <p:sp>
        <p:nvSpPr>
          <p:cNvPr id="17" name="Text 15"/>
          <p:cNvSpPr txBox="1"/>
          <p:nvPr/>
        </p:nvSpPr>
        <p:spPr>
          <a:xfrm>
            <a:off x="8237525" y="2258568"/>
            <a:ext cx="3295802" cy="304495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Instructions in the input</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Weights stay fixed</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Today's lab</a:t>
            </a:r>
            <a:endParaRPr lang="en-US" sz="2400" dirty="0"/>
          </a:p>
        </p:txBody>
      </p:sp>
      <p:sp>
        <p:nvSpPr>
          <p:cNvPr id="18" name="Shape 16"/>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19" name="Text 17"/>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Prompt first; fine-tune persistent gaps.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In-context learning: prompts as programs</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Instructions and examples become input tokens.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Weights stay fixed.</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Version and test prompts.</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Examples</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eduroam fails → IT_ACCESS</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New</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Exam clash → ?</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02</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100" b="1" dirty="0">
                <a:solidFill>
                  <a:srgbClr val="FFFFFF"/>
                </a:solidFill>
                <a:latin typeface="Calibri" pitchFamily="34" charset="0"/>
                <a:ea typeface="Calibri" pitchFamily="34" charset="-122"/>
                <a:cs typeface="Calibri" pitchFamily="34" charset="-120"/>
              </a:rPr>
              <a:t>Anatomy of a prompt and basic techniques</a:t>
            </a:r>
            <a:endParaRPr lang="en-US" sz="41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What goes into a good prompt, and how much do examples help?</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Anatomy of a well-structured prompt</a:t>
            </a:r>
            <a:endParaRPr lang="en-US" sz="3200" dirty="0"/>
          </a:p>
        </p:txBody>
      </p:sp>
      <p:sp>
        <p:nvSpPr>
          <p:cNvPr id="6" name="Shape 4"/>
          <p:cNvSpPr/>
          <p:nvPr/>
        </p:nvSpPr>
        <p:spPr>
          <a:xfrm>
            <a:off x="2067721" y="2405279"/>
            <a:ext cx="1984193" cy="427135"/>
          </a:xfrm>
          <a:prstGeom prst="rect">
            <a:avLst/>
          </a:prstGeom>
          <a:solidFill>
            <a:srgbClr val="F2F4F5"/>
          </a:solidFill>
          <a:ln w="15240">
            <a:solidFill>
              <a:srgbClr val="626B73"/>
            </a:solidFill>
            <a:prstDash val="solid"/>
          </a:ln>
        </p:spPr>
      </p:sp>
      <p:sp>
        <p:nvSpPr>
          <p:cNvPr id="7" name="Shape 5"/>
          <p:cNvSpPr/>
          <p:nvPr/>
        </p:nvSpPr>
        <p:spPr>
          <a:xfrm>
            <a:off x="2067721" y="2944126"/>
            <a:ext cx="1984193" cy="427135"/>
          </a:xfrm>
          <a:prstGeom prst="roundRect">
            <a:avLst>
              <a:gd name="adj" fmla="val 17126"/>
            </a:avLst>
          </a:prstGeom>
          <a:solidFill>
            <a:srgbClr val="E4F2FB"/>
          </a:solidFill>
          <a:ln w="15240">
            <a:solidFill>
              <a:srgbClr val="0072B2"/>
            </a:solidFill>
            <a:prstDash val="solid"/>
          </a:ln>
        </p:spPr>
      </p:sp>
      <p:sp>
        <p:nvSpPr>
          <p:cNvPr id="8" name="Shape 6"/>
          <p:cNvSpPr/>
          <p:nvPr/>
        </p:nvSpPr>
        <p:spPr>
          <a:xfrm>
            <a:off x="2067721" y="3482973"/>
            <a:ext cx="1984193" cy="427135"/>
          </a:xfrm>
          <a:prstGeom prst="roundRect">
            <a:avLst>
              <a:gd name="adj" fmla="val 17126"/>
            </a:avLst>
          </a:prstGeom>
          <a:solidFill>
            <a:srgbClr val="E4F2FB"/>
          </a:solidFill>
          <a:ln w="15240">
            <a:solidFill>
              <a:srgbClr val="0072B2"/>
            </a:solidFill>
            <a:prstDash val="solid"/>
          </a:ln>
        </p:spPr>
      </p:sp>
      <p:sp>
        <p:nvSpPr>
          <p:cNvPr id="9" name="Shape 7"/>
          <p:cNvSpPr/>
          <p:nvPr/>
        </p:nvSpPr>
        <p:spPr>
          <a:xfrm>
            <a:off x="2067721" y="4021820"/>
            <a:ext cx="1984193" cy="427135"/>
          </a:xfrm>
          <a:prstGeom prst="rect">
            <a:avLst/>
          </a:prstGeom>
          <a:solidFill>
            <a:srgbClr val="F2F4F5"/>
          </a:solidFill>
          <a:ln w="15240">
            <a:solidFill>
              <a:srgbClr val="626B73"/>
            </a:solidFill>
            <a:prstDash val="solid"/>
          </a:ln>
        </p:spPr>
      </p:sp>
      <p:sp>
        <p:nvSpPr>
          <p:cNvPr id="10" name="Shape 8"/>
          <p:cNvSpPr/>
          <p:nvPr/>
        </p:nvSpPr>
        <p:spPr>
          <a:xfrm>
            <a:off x="2067721" y="4560668"/>
            <a:ext cx="1984193" cy="427135"/>
          </a:xfrm>
          <a:prstGeom prst="roundRect">
            <a:avLst>
              <a:gd name="adj" fmla="val 17126"/>
            </a:avLst>
          </a:prstGeom>
          <a:solidFill>
            <a:srgbClr val="F9EAF4"/>
          </a:solidFill>
          <a:ln w="15240">
            <a:solidFill>
              <a:srgbClr val="CC79A7"/>
            </a:solidFill>
            <a:prstDash val="solid"/>
          </a:ln>
        </p:spPr>
      </p:sp>
      <p:sp>
        <p:nvSpPr>
          <p:cNvPr id="11" name="Shape 9"/>
          <p:cNvSpPr/>
          <p:nvPr/>
        </p:nvSpPr>
        <p:spPr>
          <a:xfrm>
            <a:off x="2001582" y="5316368"/>
            <a:ext cx="145508" cy="144569"/>
          </a:xfrm>
          <a:prstGeom prst="roundRect">
            <a:avLst>
              <a:gd name="adj" fmla="val 50600"/>
            </a:avLst>
          </a:prstGeom>
          <a:solidFill>
            <a:srgbClr val="E4F2FB"/>
          </a:solidFill>
          <a:ln w="15240">
            <a:solidFill>
              <a:srgbClr val="0072B2"/>
            </a:solidFill>
            <a:prstDash val="solid"/>
          </a:ln>
        </p:spPr>
      </p:sp>
      <p:sp>
        <p:nvSpPr>
          <p:cNvPr id="12" name="Shape 10"/>
          <p:cNvSpPr/>
          <p:nvPr/>
        </p:nvSpPr>
        <p:spPr>
          <a:xfrm>
            <a:off x="3721216" y="5316368"/>
            <a:ext cx="145508" cy="144569"/>
          </a:xfrm>
          <a:prstGeom prst="roundRect">
            <a:avLst>
              <a:gd name="adj" fmla="val 50600"/>
            </a:avLst>
          </a:prstGeom>
          <a:solidFill>
            <a:srgbClr val="F9EAF4"/>
          </a:solidFill>
          <a:ln w="15240">
            <a:solidFill>
              <a:srgbClr val="CC79A7"/>
            </a:solidFill>
            <a:prstDash val="solid"/>
          </a:ln>
        </p:spPr>
      </p:sp>
      <p:sp>
        <p:nvSpPr>
          <p:cNvPr id="13" name="Shape 11"/>
          <p:cNvSpPr/>
          <p:nvPr/>
        </p:nvSpPr>
        <p:spPr>
          <a:xfrm>
            <a:off x="5440850" y="5316368"/>
            <a:ext cx="145508" cy="144569"/>
          </a:xfrm>
          <a:prstGeom prst="rect">
            <a:avLst/>
          </a:prstGeom>
          <a:solidFill>
            <a:srgbClr val="F2F4F5"/>
          </a:solidFill>
          <a:ln w="15240">
            <a:solidFill>
              <a:srgbClr val="626B73"/>
            </a:solidFill>
            <a:prstDash val="solid"/>
          </a:ln>
        </p:spPr>
      </p:sp>
      <p:sp>
        <p:nvSpPr>
          <p:cNvPr id="14" name="Text 12"/>
          <p:cNvSpPr txBox="1"/>
          <p:nvPr/>
        </p:nvSpPr>
        <p:spPr>
          <a:xfrm>
            <a:off x="2699996" y="2488226"/>
            <a:ext cx="719644"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Rules</a:t>
            </a:r>
            <a:endParaRPr lang="en-US" sz="1773" dirty="0"/>
          </a:p>
        </p:txBody>
      </p:sp>
      <p:sp>
        <p:nvSpPr>
          <p:cNvPr id="15" name="Text 13"/>
          <p:cNvSpPr txBox="1"/>
          <p:nvPr/>
        </p:nvSpPr>
        <p:spPr>
          <a:xfrm>
            <a:off x="4316474" y="2495101"/>
            <a:ext cx="362239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Task limits; what to do when unsure</a:t>
            </a:r>
            <a:endParaRPr lang="en-US" sz="1680" dirty="0"/>
          </a:p>
        </p:txBody>
      </p:sp>
      <p:sp>
        <p:nvSpPr>
          <p:cNvPr id="16" name="Text 14"/>
          <p:cNvSpPr txBox="1"/>
          <p:nvPr/>
        </p:nvSpPr>
        <p:spPr>
          <a:xfrm>
            <a:off x="2563087" y="3027073"/>
            <a:ext cx="993462"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Sources</a:t>
            </a:r>
            <a:endParaRPr lang="en-US" sz="1773" dirty="0"/>
          </a:p>
        </p:txBody>
      </p:sp>
      <p:sp>
        <p:nvSpPr>
          <p:cNvPr id="17" name="Text 15"/>
          <p:cNvSpPr txBox="1"/>
          <p:nvPr/>
        </p:nvSpPr>
        <p:spPr>
          <a:xfrm>
            <a:off x="4316474" y="3033948"/>
            <a:ext cx="2675205"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Facts; mark untrusted text</a:t>
            </a:r>
            <a:endParaRPr lang="en-US" sz="1680" dirty="0"/>
          </a:p>
        </p:txBody>
      </p:sp>
      <p:sp>
        <p:nvSpPr>
          <p:cNvPr id="18" name="Text 16"/>
          <p:cNvSpPr txBox="1"/>
          <p:nvPr/>
        </p:nvSpPr>
        <p:spPr>
          <a:xfrm>
            <a:off x="2483591" y="3565920"/>
            <a:ext cx="1152454"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Examples</a:t>
            </a:r>
            <a:endParaRPr lang="en-US" sz="1773" dirty="0"/>
          </a:p>
        </p:txBody>
      </p:sp>
      <p:sp>
        <p:nvSpPr>
          <p:cNvPr id="19" name="Text 17"/>
          <p:cNvSpPr txBox="1"/>
          <p:nvPr/>
        </p:nvSpPr>
        <p:spPr>
          <a:xfrm>
            <a:off x="4316474" y="3572795"/>
            <a:ext cx="3197586"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Varied pairs in the target format</a:t>
            </a:r>
            <a:endParaRPr lang="en-US" sz="1680" dirty="0"/>
          </a:p>
        </p:txBody>
      </p:sp>
      <p:sp>
        <p:nvSpPr>
          <p:cNvPr id="20" name="Text 18"/>
          <p:cNvSpPr txBox="1"/>
          <p:nvPr/>
        </p:nvSpPr>
        <p:spPr>
          <a:xfrm>
            <a:off x="2761619" y="4104768"/>
            <a:ext cx="596397"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Task</a:t>
            </a:r>
            <a:endParaRPr lang="en-US" sz="1773" dirty="0"/>
          </a:p>
        </p:txBody>
      </p:sp>
      <p:sp>
        <p:nvSpPr>
          <p:cNvPr id="21" name="Text 19"/>
          <p:cNvSpPr txBox="1"/>
          <p:nvPr/>
        </p:nvSpPr>
        <p:spPr>
          <a:xfrm>
            <a:off x="4316474" y="4111642"/>
            <a:ext cx="2701703"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Job, audience, constraints</a:t>
            </a:r>
            <a:endParaRPr lang="en-US" sz="1680" dirty="0"/>
          </a:p>
        </p:txBody>
      </p:sp>
      <p:sp>
        <p:nvSpPr>
          <p:cNvPr id="22" name="Text 20"/>
          <p:cNvSpPr txBox="1"/>
          <p:nvPr/>
        </p:nvSpPr>
        <p:spPr>
          <a:xfrm>
            <a:off x="2620501" y="4643615"/>
            <a:ext cx="878635"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Format</a:t>
            </a:r>
            <a:endParaRPr lang="en-US" sz="1773" dirty="0"/>
          </a:p>
        </p:txBody>
      </p:sp>
      <p:sp>
        <p:nvSpPr>
          <p:cNvPr id="23" name="Text 21"/>
          <p:cNvSpPr txBox="1"/>
          <p:nvPr/>
        </p:nvSpPr>
        <p:spPr>
          <a:xfrm>
            <a:off x="4316474" y="4650490"/>
            <a:ext cx="2260060"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Fields, length, checks</a:t>
            </a:r>
            <a:endParaRPr lang="en-US" sz="1680" dirty="0"/>
          </a:p>
        </p:txBody>
      </p:sp>
      <p:sp>
        <p:nvSpPr>
          <p:cNvPr id="24" name="Text 22"/>
          <p:cNvSpPr txBox="1"/>
          <p:nvPr/>
        </p:nvSpPr>
        <p:spPr>
          <a:xfrm>
            <a:off x="2226457" y="5278656"/>
            <a:ext cx="933296"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Input data</a:t>
            </a:r>
            <a:endParaRPr lang="en-US" sz="1493" dirty="0"/>
          </a:p>
        </p:txBody>
      </p:sp>
      <p:sp>
        <p:nvSpPr>
          <p:cNvPr id="25" name="Text 23"/>
          <p:cNvSpPr txBox="1"/>
          <p:nvPr/>
        </p:nvSpPr>
        <p:spPr>
          <a:xfrm>
            <a:off x="3946091" y="5278656"/>
            <a:ext cx="659478"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Output</a:t>
            </a:r>
            <a:endParaRPr lang="en-US" sz="1493" dirty="0"/>
          </a:p>
        </p:txBody>
      </p:sp>
      <p:sp>
        <p:nvSpPr>
          <p:cNvPr id="26" name="Text 24"/>
          <p:cNvSpPr txBox="1"/>
          <p:nvPr/>
        </p:nvSpPr>
        <p:spPr>
          <a:xfrm>
            <a:off x="5665726" y="5278656"/>
            <a:ext cx="1171784"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Human / tool</a:t>
            </a:r>
            <a:endParaRPr lang="en-US" sz="1493"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Worked example: rewriting the warm-up prompt</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1557111"/>
                <a:gridCol w="2724944"/>
                <a:gridCol w="6812360"/>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Element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Before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After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Rules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None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Use supplied facts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Audience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None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AI beginners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Facts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None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12 weeks; Python; 60% project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Task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Write about AI</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Introduce the module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Format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None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Headline; three bullets; &lt;120 words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Check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None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Claims and length</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Messages and roles in chat APIs</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566062"/>
                <a:gridCol w="2377375"/>
                <a:gridCol w="515097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Role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Use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Example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system / developer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App rules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Reply with one label.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user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Request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My exam timetable clashes.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assistant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Replies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TIMETABLE_EXAMS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tool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Code results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Timetable row</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8" name="Text 5"/>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Enforce permissions in code.</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Zero-shot, one-shot, few-shot</a:t>
            </a:r>
            <a:endParaRPr lang="en-US" sz="3200" dirty="0"/>
          </a:p>
        </p:txBody>
      </p:sp>
      <p:sp>
        <p:nvSpPr>
          <p:cNvPr id="6" name="Shape 4"/>
          <p:cNvSpPr/>
          <p:nvPr/>
        </p:nvSpPr>
        <p:spPr>
          <a:xfrm>
            <a:off x="548640" y="1481328"/>
            <a:ext cx="3515258" cy="566928"/>
          </a:xfrm>
          <a:prstGeom prst="roundRect">
            <a:avLst>
              <a:gd name="adj" fmla="val 16129"/>
            </a:avLst>
          </a:prstGeom>
          <a:solidFill>
            <a:srgbClr val="4F46E5"/>
          </a:solidFill>
          <a:ln w="12700">
            <a:solidFill>
              <a:srgbClr val="4F46E5"/>
            </a:solidFill>
            <a:prstDash val="solid"/>
          </a:ln>
        </p:spPr>
      </p:sp>
      <p:sp>
        <p:nvSpPr>
          <p:cNvPr id="7" name="Text 5"/>
          <p:cNvSpPr txBox="1"/>
          <p:nvPr/>
        </p:nvSpPr>
        <p:spPr>
          <a:xfrm>
            <a:off x="731520" y="1481328"/>
            <a:ext cx="314949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Zero-shot</a:t>
            </a:r>
            <a:endParaRPr lang="en-US" sz="1800" dirty="0"/>
          </a:p>
        </p:txBody>
      </p:sp>
      <p:sp>
        <p:nvSpPr>
          <p:cNvPr id="8" name="Shape 6"/>
          <p:cNvSpPr/>
          <p:nvPr/>
        </p:nvSpPr>
        <p:spPr>
          <a:xfrm>
            <a:off x="548640" y="2167128"/>
            <a:ext cx="3515258" cy="4142232"/>
          </a:xfrm>
          <a:prstGeom prst="roundRect">
            <a:avLst>
              <a:gd name="adj" fmla="val 2601"/>
            </a:avLst>
          </a:prstGeom>
          <a:solidFill>
            <a:srgbClr val="EEF0FF"/>
          </a:solidFill>
          <a:ln w="12700">
            <a:solidFill>
              <a:srgbClr val="EEF0FF"/>
            </a:solidFill>
            <a:prstDash val="solid"/>
          </a:ln>
        </p:spPr>
      </p:sp>
      <p:sp>
        <p:nvSpPr>
          <p:cNvPr id="9" name="Text 7"/>
          <p:cNvSpPr txBox="1"/>
          <p:nvPr/>
        </p:nvSpPr>
        <p:spPr>
          <a:xfrm>
            <a:off x="658368" y="2258568"/>
            <a:ext cx="329580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Instruction only</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Shortest input</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No format example</a:t>
            </a:r>
            <a:endParaRPr lang="en-US" sz="2400" dirty="0"/>
          </a:p>
        </p:txBody>
      </p:sp>
      <p:sp>
        <p:nvSpPr>
          <p:cNvPr id="10" name="Shape 8"/>
          <p:cNvSpPr/>
          <p:nvPr/>
        </p:nvSpPr>
        <p:spPr>
          <a:xfrm>
            <a:off x="4338218" y="1481328"/>
            <a:ext cx="3515258" cy="566928"/>
          </a:xfrm>
          <a:prstGeom prst="roundRect">
            <a:avLst>
              <a:gd name="adj" fmla="val 16129"/>
            </a:avLst>
          </a:prstGeom>
          <a:solidFill>
            <a:srgbClr val="0F766E"/>
          </a:solidFill>
          <a:ln w="12700">
            <a:solidFill>
              <a:srgbClr val="0F766E"/>
            </a:solidFill>
            <a:prstDash val="solid"/>
          </a:ln>
        </p:spPr>
      </p:sp>
      <p:sp>
        <p:nvSpPr>
          <p:cNvPr id="11" name="Text 9"/>
          <p:cNvSpPr txBox="1"/>
          <p:nvPr/>
        </p:nvSpPr>
        <p:spPr>
          <a:xfrm>
            <a:off x="4521098" y="1481328"/>
            <a:ext cx="314949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One-shot</a:t>
            </a:r>
            <a:endParaRPr lang="en-US" sz="1800" dirty="0"/>
          </a:p>
        </p:txBody>
      </p:sp>
      <p:sp>
        <p:nvSpPr>
          <p:cNvPr id="12" name="Shape 10"/>
          <p:cNvSpPr/>
          <p:nvPr/>
        </p:nvSpPr>
        <p:spPr>
          <a:xfrm>
            <a:off x="4338218" y="2167128"/>
            <a:ext cx="3515258" cy="4142232"/>
          </a:xfrm>
          <a:prstGeom prst="roundRect">
            <a:avLst>
              <a:gd name="adj" fmla="val 2601"/>
            </a:avLst>
          </a:prstGeom>
          <a:solidFill>
            <a:srgbClr val="E6F4F1"/>
          </a:solidFill>
          <a:ln w="12700">
            <a:solidFill>
              <a:srgbClr val="E6F4F1"/>
            </a:solidFill>
            <a:prstDash val="solid"/>
          </a:ln>
        </p:spPr>
      </p:sp>
      <p:sp>
        <p:nvSpPr>
          <p:cNvPr id="13" name="Text 11"/>
          <p:cNvSpPr txBox="1"/>
          <p:nvPr/>
        </p:nvSpPr>
        <p:spPr>
          <a:xfrm>
            <a:off x="4447946" y="2258568"/>
            <a:ext cx="329580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One example pair</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Shows the format</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Can bias labels</a:t>
            </a:r>
            <a:endParaRPr lang="en-US" sz="2400" dirty="0"/>
          </a:p>
        </p:txBody>
      </p:sp>
      <p:sp>
        <p:nvSpPr>
          <p:cNvPr id="14" name="Shape 12"/>
          <p:cNvSpPr/>
          <p:nvPr/>
        </p:nvSpPr>
        <p:spPr>
          <a:xfrm>
            <a:off x="8127797" y="1481328"/>
            <a:ext cx="3515258" cy="566928"/>
          </a:xfrm>
          <a:prstGeom prst="roundRect">
            <a:avLst>
              <a:gd name="adj" fmla="val 16129"/>
            </a:avLst>
          </a:prstGeom>
          <a:solidFill>
            <a:srgbClr val="EA580C"/>
          </a:solidFill>
          <a:ln w="12700">
            <a:solidFill>
              <a:srgbClr val="EA580C"/>
            </a:solidFill>
            <a:prstDash val="solid"/>
          </a:ln>
        </p:spPr>
      </p:sp>
      <p:sp>
        <p:nvSpPr>
          <p:cNvPr id="15" name="Text 13"/>
          <p:cNvSpPr txBox="1"/>
          <p:nvPr/>
        </p:nvSpPr>
        <p:spPr>
          <a:xfrm>
            <a:off x="8310677" y="1481328"/>
            <a:ext cx="314949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Few-shot</a:t>
            </a:r>
            <a:endParaRPr lang="en-US" sz="1800" dirty="0"/>
          </a:p>
        </p:txBody>
      </p:sp>
      <p:sp>
        <p:nvSpPr>
          <p:cNvPr id="16" name="Shape 14"/>
          <p:cNvSpPr/>
          <p:nvPr/>
        </p:nvSpPr>
        <p:spPr>
          <a:xfrm>
            <a:off x="8127797" y="2167128"/>
            <a:ext cx="3515258" cy="4142232"/>
          </a:xfrm>
          <a:prstGeom prst="roundRect">
            <a:avLst>
              <a:gd name="adj" fmla="val 2601"/>
            </a:avLst>
          </a:prstGeom>
          <a:solidFill>
            <a:srgbClr val="FFF1E6"/>
          </a:solidFill>
          <a:ln w="12700">
            <a:solidFill>
              <a:srgbClr val="FFF1E6"/>
            </a:solidFill>
            <a:prstDash val="solid"/>
          </a:ln>
        </p:spPr>
      </p:sp>
      <p:sp>
        <p:nvSpPr>
          <p:cNvPr id="17" name="Text 15"/>
          <p:cNvSpPr txBox="1"/>
          <p:nvPr/>
        </p:nvSpPr>
        <p:spPr>
          <a:xfrm>
            <a:off x="8237525" y="2258568"/>
            <a:ext cx="329580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One example per label</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Order matters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More input tokens</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 few-shot prompt as chat messages</a:t>
            </a:r>
            <a:endParaRPr lang="en-US" sz="3200" dirty="0"/>
          </a:p>
        </p:txBody>
      </p:sp>
      <p:sp>
        <p:nvSpPr>
          <p:cNvPr id="6" name="Shape 4"/>
          <p:cNvSpPr/>
          <p:nvPr/>
        </p:nvSpPr>
        <p:spPr>
          <a:xfrm>
            <a:off x="548640" y="1481328"/>
            <a:ext cx="6949440" cy="2129790"/>
          </a:xfrm>
          <a:prstGeom prst="roundRect">
            <a:avLst>
              <a:gd name="adj" fmla="val 4293"/>
            </a:avLst>
          </a:prstGeom>
          <a:solidFill>
            <a:srgbClr val="1E1E2E"/>
          </a:solidFill>
          <a:ln w="12700">
            <a:solidFill>
              <a:srgbClr val="1E1E2E"/>
            </a:solidFill>
            <a:prstDash val="solid"/>
          </a:ln>
        </p:spPr>
      </p:sp>
      <p:sp>
        <p:nvSpPr>
          <p:cNvPr id="7" name="Text 5"/>
          <p:cNvSpPr txBox="1"/>
          <p:nvPr/>
        </p:nvSpPr>
        <p:spPr>
          <a:xfrm>
            <a:off x="685800" y="1591056"/>
            <a:ext cx="6675120" cy="1910334"/>
          </a:xfrm>
          <a:prstGeom prst="rect">
            <a:avLst/>
          </a:prstGeom>
          <a:noFill/>
          <a:ln/>
        </p:spPr>
        <p:txBody>
          <a:bodyPr wrap="square" lIns="76200" tIns="76200" rIns="76200" bIns="76200" rtlCol="0" anchor="t"/>
          <a:lstStyle/>
          <a:p>
            <a:pPr indent="0" marL="0">
              <a:lnSpc>
                <a:spcPct val="100000"/>
              </a:lnSpc>
              <a:buNone/>
            </a:pPr>
            <a:r>
              <a:rPr lang="en-US" sz="1500" dirty="0">
                <a:solidFill>
                  <a:srgbClr val="E4E4F0"/>
                </a:solidFill>
                <a:latin typeface="Consolas" pitchFamily="34" charset="0"/>
                <a:ea typeface="Consolas" pitchFamily="34" charset="-122"/>
                <a:cs typeface="Consolas" pitchFamily="34" charset="-120"/>
              </a:rPr>
              <a:t>messages = [</a:t>
            </a:r>
            <a:endParaRPr lang="en-US" sz="1500" dirty="0"/>
          </a:p>
          <a:p>
            <a:pPr indent="0" marL="0">
              <a:lnSpc>
                <a:spcPct val="100000"/>
              </a:lnSpc>
              <a:buNone/>
            </a:pPr>
            <a:r>
              <a:rPr lang="en-US" sz="1500" dirty="0">
                <a:solidFill>
                  <a:srgbClr val="E4E4F0"/>
                </a:solidFill>
                <a:latin typeface="Consolas" pitchFamily="34" charset="0"/>
                <a:ea typeface="Consolas" pitchFamily="34" charset="-122"/>
                <a:cs typeface="Consolas" pitchFamily="34" charset="-120"/>
              </a:rPr>
              <a:t>  {"role": "system", "content": TASK},</a:t>
            </a:r>
            <a:endParaRPr lang="en-US" sz="1500" dirty="0"/>
          </a:p>
          <a:p>
            <a:pPr indent="0" marL="0">
              <a:lnSpc>
                <a:spcPct val="100000"/>
              </a:lnSpc>
              <a:buNone/>
            </a:pPr>
            <a:r>
              <a:rPr lang="en-US" sz="1500" dirty="0">
                <a:solidFill>
                  <a:srgbClr val="E4E4F0"/>
                </a:solidFill>
                <a:latin typeface="Consolas" pitchFamily="34" charset="0"/>
                <a:ea typeface="Consolas" pitchFamily="34" charset="-122"/>
                <a:cs typeface="Consolas" pitchFamily="34" charset="-120"/>
              </a:rPr>
              <a:t>  {"role": "user", "content":</a:t>
            </a:r>
            <a:endParaRPr lang="en-US" sz="1500" dirty="0"/>
          </a:p>
          <a:p>
            <a:pPr indent="0" marL="0">
              <a:lnSpc>
                <a:spcPct val="100000"/>
              </a:lnSpc>
              <a:buNone/>
            </a:pPr>
            <a:r>
              <a:rPr lang="en-US" sz="1500" dirty="0">
                <a:solidFill>
                  <a:srgbClr val="E4E4F0"/>
                </a:solidFill>
                <a:latin typeface="Consolas" pitchFamily="34" charset="0"/>
                <a:ea typeface="Consolas" pitchFamily="34" charset="-122"/>
                <a:cs typeface="Consolas" pitchFamily="34" charset="-120"/>
              </a:rPr>
              <a:t>    "Message: eduroam fails.\nCategory: IT_ACCESS\n\n"</a:t>
            </a:r>
            <a:endParaRPr lang="en-US" sz="1500" dirty="0"/>
          </a:p>
          <a:p>
            <a:pPr indent="0" marL="0">
              <a:lnSpc>
                <a:spcPct val="100000"/>
              </a:lnSpc>
              <a:buNone/>
            </a:pPr>
            <a:r>
              <a:rPr lang="en-US" sz="1500" dirty="0">
                <a:solidFill>
                  <a:srgbClr val="E4E4F0"/>
                </a:solidFill>
                <a:latin typeface="Consolas" pitchFamily="34" charset="0"/>
                <a:ea typeface="Consolas" pitchFamily="34" charset="-122"/>
                <a:cs typeface="Consolas" pitchFamily="34" charset="-120"/>
              </a:rPr>
              <a:t>    "Message: Deposit receipt?\nCategory: FEES_FINANCE\n\n"</a:t>
            </a:r>
            <a:endParaRPr lang="en-US" sz="1500" dirty="0"/>
          </a:p>
          <a:p>
            <a:pPr indent="0" marL="0">
              <a:lnSpc>
                <a:spcPct val="100000"/>
              </a:lnSpc>
              <a:buNone/>
            </a:pPr>
            <a:r>
              <a:rPr lang="en-US" sz="1500" dirty="0">
                <a:solidFill>
                  <a:srgbClr val="E4E4F0"/>
                </a:solidFill>
                <a:latin typeface="Consolas" pitchFamily="34" charset="0"/>
                <a:ea typeface="Consolas" pitchFamily="34" charset="-122"/>
                <a:cs typeface="Consolas" pitchFamily="34" charset="-120"/>
              </a:rPr>
              <a:t>    "Message: Two exams clash.\nCategory:"},</a:t>
            </a:r>
            <a:endParaRPr lang="en-US" sz="1500" dirty="0"/>
          </a:p>
          <a:p>
            <a:pPr indent="0" marL="0">
              <a:lnSpc>
                <a:spcPct val="100000"/>
              </a:lnSpc>
              <a:buNone/>
            </a:pPr>
            <a:r>
              <a:rPr lang="en-US" sz="1500" dirty="0">
                <a:solidFill>
                  <a:srgbClr val="E4E4F0"/>
                </a:solidFill>
                <a:latin typeface="Consolas" pitchFamily="34" charset="0"/>
                <a:ea typeface="Consolas" pitchFamily="34" charset="-122"/>
                <a:cs typeface="Consolas" pitchFamily="34" charset="-120"/>
              </a:rPr>
              <a:t>]</a:t>
            </a:r>
            <a:endParaRPr lang="en-US" sz="1500" dirty="0"/>
          </a:p>
        </p:txBody>
      </p:sp>
      <p:sp>
        <p:nvSpPr>
          <p:cNvPr id="8" name="Text 6"/>
          <p:cNvSpPr txBox="1"/>
          <p:nvPr/>
        </p:nvSpPr>
        <p:spPr>
          <a:xfrm>
            <a:off x="7772400" y="1481328"/>
            <a:ext cx="3870655"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Rules define the labels.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Examples show the format.</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Role-based prompting and its limits</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A role sets tone and priorities.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It adds no knowledge.</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Measure its effect.</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Plain</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Classify this message.</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Role</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You are a triage officer. Classify…</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Principles from the official prompting guides</a:t>
            </a:r>
            <a:endParaRPr lang="en-US" sz="3200" dirty="0"/>
          </a:p>
        </p:txBody>
      </p:sp>
      <p:sp>
        <p:nvSpPr>
          <p:cNvPr id="6" name="Shape 4"/>
          <p:cNvSpPr/>
          <p:nvPr/>
        </p:nvSpPr>
        <p:spPr>
          <a:xfrm>
            <a:off x="548640" y="1481328"/>
            <a:ext cx="351525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Be specific</a:t>
            </a:r>
            <a:endParaRPr lang="en-US" sz="2100" dirty="0"/>
          </a:p>
        </p:txBody>
      </p:sp>
      <p:sp>
        <p:nvSpPr>
          <p:cNvPr id="8" name="Text 6"/>
          <p:cNvSpPr txBox="1"/>
          <p:nvPr/>
        </p:nvSpPr>
        <p:spPr>
          <a:xfrm>
            <a:off x="731520"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Task, audience, format</a:t>
            </a:r>
            <a:endParaRPr lang="en-US" sz="2200" dirty="0"/>
          </a:p>
        </p:txBody>
      </p:sp>
      <p:sp>
        <p:nvSpPr>
          <p:cNvPr id="9" name="Shape 7"/>
          <p:cNvSpPr/>
          <p:nvPr/>
        </p:nvSpPr>
        <p:spPr>
          <a:xfrm>
            <a:off x="4338218" y="1481328"/>
            <a:ext cx="351525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4521098"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Give context</a:t>
            </a:r>
            <a:endParaRPr lang="en-US" sz="2100" dirty="0"/>
          </a:p>
        </p:txBody>
      </p:sp>
      <p:sp>
        <p:nvSpPr>
          <p:cNvPr id="11" name="Text 9"/>
          <p:cNvSpPr txBox="1"/>
          <p:nvPr/>
        </p:nvSpPr>
        <p:spPr>
          <a:xfrm>
            <a:off x="4521098"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Mark source boundaries</a:t>
            </a:r>
            <a:endParaRPr lang="en-US" sz="2200" dirty="0"/>
          </a:p>
        </p:txBody>
      </p:sp>
      <p:sp>
        <p:nvSpPr>
          <p:cNvPr id="12" name="Shape 10"/>
          <p:cNvSpPr/>
          <p:nvPr/>
        </p:nvSpPr>
        <p:spPr>
          <a:xfrm>
            <a:off x="8127797" y="1481328"/>
            <a:ext cx="351525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8310677"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Show examples</a:t>
            </a:r>
            <a:endParaRPr lang="en-US" sz="2100" dirty="0"/>
          </a:p>
        </p:txBody>
      </p:sp>
      <p:sp>
        <p:nvSpPr>
          <p:cNvPr id="14" name="Text 12"/>
          <p:cNvSpPr txBox="1"/>
          <p:nvPr/>
        </p:nvSpPr>
        <p:spPr>
          <a:xfrm>
            <a:off x="8310677"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Include a boundary case</a:t>
            </a:r>
            <a:endParaRPr lang="en-US" sz="2200" dirty="0"/>
          </a:p>
        </p:txBody>
      </p:sp>
      <p:sp>
        <p:nvSpPr>
          <p:cNvPr id="15" name="Shape 13"/>
          <p:cNvSpPr/>
          <p:nvPr/>
        </p:nvSpPr>
        <p:spPr>
          <a:xfrm>
            <a:off x="548640" y="4032504"/>
            <a:ext cx="351525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731520"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Break tasks down</a:t>
            </a:r>
            <a:endParaRPr lang="en-US" sz="2100" dirty="0"/>
          </a:p>
        </p:txBody>
      </p:sp>
      <p:sp>
        <p:nvSpPr>
          <p:cNvPr id="17" name="Text 15"/>
          <p:cNvSpPr txBox="1"/>
          <p:nvPr/>
        </p:nvSpPr>
        <p:spPr>
          <a:xfrm>
            <a:off x="731520"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Check each step</a:t>
            </a:r>
            <a:endParaRPr lang="en-US" sz="2200" dirty="0"/>
          </a:p>
        </p:txBody>
      </p:sp>
      <p:sp>
        <p:nvSpPr>
          <p:cNvPr id="18" name="Shape 16"/>
          <p:cNvSpPr/>
          <p:nvPr/>
        </p:nvSpPr>
        <p:spPr>
          <a:xfrm>
            <a:off x="4338218" y="4032504"/>
            <a:ext cx="3515258" cy="2276856"/>
          </a:xfrm>
          <a:prstGeom prst="roundRect">
            <a:avLst>
              <a:gd name="adj" fmla="val 4819"/>
            </a:avLst>
          </a:prstGeom>
          <a:solidFill>
            <a:srgbClr val="EEF0FF"/>
          </a:solidFill>
          <a:ln w="12700">
            <a:solidFill>
              <a:srgbClr val="EEF0FF"/>
            </a:solidFill>
            <a:prstDash val="solid"/>
          </a:ln>
        </p:spPr>
      </p:sp>
      <p:sp>
        <p:nvSpPr>
          <p:cNvPr id="19" name="Text 17"/>
          <p:cNvSpPr txBox="1"/>
          <p:nvPr/>
        </p:nvSpPr>
        <p:spPr>
          <a:xfrm>
            <a:off x="4521098"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Allow uncertainty</a:t>
            </a:r>
            <a:endParaRPr lang="en-US" sz="2100" dirty="0"/>
          </a:p>
        </p:txBody>
      </p:sp>
      <p:sp>
        <p:nvSpPr>
          <p:cNvPr id="20" name="Text 18"/>
          <p:cNvSpPr txBox="1"/>
          <p:nvPr/>
        </p:nvSpPr>
        <p:spPr>
          <a:xfrm>
            <a:off x="4521098"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Permit 'not in source'</a:t>
            </a:r>
            <a:endParaRPr lang="en-US" sz="2200" dirty="0"/>
          </a:p>
        </p:txBody>
      </p:sp>
      <p:sp>
        <p:nvSpPr>
          <p:cNvPr id="21" name="Shape 19"/>
          <p:cNvSpPr/>
          <p:nvPr/>
        </p:nvSpPr>
        <p:spPr>
          <a:xfrm>
            <a:off x="8127797" y="4032504"/>
            <a:ext cx="3515258" cy="2276856"/>
          </a:xfrm>
          <a:prstGeom prst="roundRect">
            <a:avLst>
              <a:gd name="adj" fmla="val 4819"/>
            </a:avLst>
          </a:prstGeom>
          <a:solidFill>
            <a:srgbClr val="F5F3FF"/>
          </a:solidFill>
          <a:ln w="12700">
            <a:solidFill>
              <a:srgbClr val="EEF0FF"/>
            </a:solidFill>
            <a:prstDash val="solid"/>
          </a:ln>
        </p:spPr>
      </p:sp>
      <p:sp>
        <p:nvSpPr>
          <p:cNvPr id="22" name="Text 20"/>
          <p:cNvSpPr txBox="1"/>
          <p:nvPr/>
        </p:nvSpPr>
        <p:spPr>
          <a:xfrm>
            <a:off x="8310677"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Test</a:t>
            </a:r>
            <a:endParaRPr lang="en-US" sz="2100" dirty="0"/>
          </a:p>
        </p:txBody>
      </p:sp>
      <p:sp>
        <p:nvSpPr>
          <p:cNvPr id="23" name="Text 21"/>
          <p:cNvSpPr txBox="1"/>
          <p:nvPr/>
        </p:nvSpPr>
        <p:spPr>
          <a:xfrm>
            <a:off x="8310677"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Same questions, fixed settings</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Real results: does few-shot prompting help?</a:t>
            </a:r>
            <a:endParaRPr lang="en-US" sz="3200" dirty="0"/>
          </a:p>
        </p:txBody>
      </p:sp>
      <p:pic>
        <p:nvPicPr>
          <p:cNvPr id="6" name="Image 0" descr="C:\Users\sudee\Downloads\Generative_AI_2027_Teaching_Pack\AI2027_Project\build\figures\week_07\fewshot_results.png">    </p:cNvPr>
          <p:cNvPicPr>
            <a:picLocks noChangeAspect="1"/>
          </p:cNvPicPr>
          <p:nvPr/>
        </p:nvPicPr>
        <p:blipFill>
          <a:blip r:embed="rId1"/>
          <a:stretch>
            <a:fillRect/>
          </a:stretch>
        </p:blipFill>
        <p:spPr>
          <a:xfrm>
            <a:off x="2684316" y="1481328"/>
            <a:ext cx="6823063" cy="3367278"/>
          </a:xfrm>
          <a:prstGeom prst="rect">
            <a:avLst/>
          </a:prstGeom>
        </p:spPr>
      </p:pic>
      <p:sp>
        <p:nvSpPr>
          <p:cNvPr id="7" name="Text 4"/>
          <p:cNvSpPr txBox="1"/>
          <p:nvPr/>
        </p:nvSpPr>
        <p:spPr>
          <a:xfrm>
            <a:off x="548640" y="5031486"/>
            <a:ext cx="11094415" cy="1277874"/>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Accuracy on 40 messages: zero-shot 70.0%, one-shot 60.0%, few-shot 72.5%, role + few-shot 67.5%.</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Stored GPU run: Qwen2.5-1.5B-Instruct, temperature 0.</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One answer = 2.5 points.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Zero-shot replies are sentences, not labels. Best first fix?</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Add an expert persona</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Show examples and allowed labels</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Raise the temperature</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Fine-tune on labelled messages</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03</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Reasoning, structure and context</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do we handle several steps, return data for code, and supply the right facts?</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Chain-of-thought (CoT) prompting</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Ask for steps, then a final answer.</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Helps some multi-step tasks.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Costs tokens; check the answer.</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Problem</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28 students, teams of 4, 2 laptops each</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Steps</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28 ÷ 4 = 7 teams; 7 × 2 = 14</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2700" b="1" dirty="0">
                <a:solidFill>
                  <a:srgbClr val="1E1B4B"/>
                </a:solidFill>
                <a:latin typeface="Calibri" pitchFamily="34" charset="0"/>
                <a:ea typeface="Calibri" pitchFamily="34" charset="-122"/>
                <a:cs typeface="Calibri" pitchFamily="34" charset="-120"/>
              </a:rPr>
              <a:t>Real results: direct vs. chain-of-thought vs. self-consistency</a:t>
            </a:r>
            <a:endParaRPr lang="en-US" sz="2700" dirty="0"/>
          </a:p>
        </p:txBody>
      </p:sp>
      <p:pic>
        <p:nvPicPr>
          <p:cNvPr id="6" name="Image 0" descr="C:\Users\sudee\Downloads\Generative_AI_2027_Teaching_Pack\AI2027_Project\build\figures\week_07\cot_results.png">    </p:cNvPr>
          <p:cNvPicPr>
            <a:picLocks noChangeAspect="1"/>
          </p:cNvPicPr>
          <p:nvPr/>
        </p:nvPicPr>
        <p:blipFill>
          <a:blip r:embed="rId1"/>
          <a:stretch>
            <a:fillRect/>
          </a:stretch>
        </p:blipFill>
        <p:spPr>
          <a:xfrm>
            <a:off x="2435478" y="1481328"/>
            <a:ext cx="7320738" cy="3081528"/>
          </a:xfrm>
          <a:prstGeom prst="rect">
            <a:avLst/>
          </a:prstGeom>
        </p:spPr>
      </p:pic>
      <p:sp>
        <p:nvSpPr>
          <p:cNvPr id="7" name="Text 4"/>
          <p:cNvSpPr txBox="1"/>
          <p:nvPr/>
        </p:nvSpPr>
        <p:spPr>
          <a:xfrm>
            <a:off x="548640" y="4745736"/>
            <a:ext cx="11094415" cy="1563624"/>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Direct 50.0% (3 tokens); chain-of-thought 81.2% (189 tokens); self-consistency (k=5) 87.5% (914 tokens).</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Voting samples several replies.</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More calls cost more; agreement can be wrong.</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Prompting reasoning models</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State goal, constraints and format.</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Use supported effort settings.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Measure correctness, time and cost.</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Prompt part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Reasoning model</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Show steps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Often unnecessary</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Effort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 setting, not words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Check</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The final answer</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Prompt chaining: decompose complex tasks</a:t>
            </a:r>
            <a:endParaRPr lang="en-US" sz="3200" dirty="0"/>
          </a:p>
        </p:txBody>
      </p:sp>
      <p:sp>
        <p:nvSpPr>
          <p:cNvPr id="6" name="Shape 4"/>
          <p:cNvSpPr/>
          <p:nvPr/>
        </p:nvSpPr>
        <p:spPr>
          <a:xfrm>
            <a:off x="2681233" y="3514007"/>
            <a:ext cx="246543" cy="0"/>
          </a:xfrm>
          <a:prstGeom prst="line">
            <a:avLst/>
          </a:prstGeom>
          <a:noFill/>
          <a:ln w="22860">
            <a:solidFill>
              <a:srgbClr val="009E73"/>
            </a:solidFill>
            <a:prstDash val="solid"/>
            <a:tailEnd type="triangle"/>
          </a:ln>
        </p:spPr>
      </p:sp>
      <p:sp>
        <p:nvSpPr>
          <p:cNvPr id="7" name="Text 5"/>
          <p:cNvSpPr txBox="1"/>
          <p:nvPr/>
        </p:nvSpPr>
        <p:spPr>
          <a:xfrm>
            <a:off x="1995537" y="2513660"/>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facts</a:t>
            </a:r>
            <a:endParaRPr lang="en-US" sz="1456" dirty="0"/>
          </a:p>
        </p:txBody>
      </p:sp>
      <p:sp>
        <p:nvSpPr>
          <p:cNvPr id="8" name="Shape 6"/>
          <p:cNvSpPr/>
          <p:nvPr/>
        </p:nvSpPr>
        <p:spPr>
          <a:xfrm>
            <a:off x="4875462" y="3514007"/>
            <a:ext cx="246543" cy="0"/>
          </a:xfrm>
          <a:prstGeom prst="line">
            <a:avLst/>
          </a:prstGeom>
          <a:noFill/>
          <a:ln w="22860">
            <a:solidFill>
              <a:srgbClr val="009E73"/>
            </a:solidFill>
            <a:prstDash val="solid"/>
            <a:tailEnd type="triangle"/>
          </a:ln>
        </p:spPr>
      </p:sp>
      <p:sp>
        <p:nvSpPr>
          <p:cNvPr id="9" name="Text 7"/>
          <p:cNvSpPr txBox="1"/>
          <p:nvPr/>
        </p:nvSpPr>
        <p:spPr>
          <a:xfrm>
            <a:off x="4189765" y="2513660"/>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checked facts</a:t>
            </a:r>
            <a:endParaRPr lang="en-US" sz="1456" dirty="0"/>
          </a:p>
        </p:txBody>
      </p:sp>
      <p:sp>
        <p:nvSpPr>
          <p:cNvPr id="10" name="Shape 8"/>
          <p:cNvSpPr/>
          <p:nvPr/>
        </p:nvSpPr>
        <p:spPr>
          <a:xfrm>
            <a:off x="7069691" y="3514007"/>
            <a:ext cx="246543" cy="0"/>
          </a:xfrm>
          <a:prstGeom prst="line">
            <a:avLst/>
          </a:prstGeom>
          <a:noFill/>
          <a:ln w="22860">
            <a:solidFill>
              <a:srgbClr val="009E73"/>
            </a:solidFill>
            <a:prstDash val="solid"/>
            <a:tailEnd type="triangle"/>
          </a:ln>
        </p:spPr>
      </p:sp>
      <p:sp>
        <p:nvSpPr>
          <p:cNvPr id="11" name="Text 9"/>
          <p:cNvSpPr txBox="1"/>
          <p:nvPr/>
        </p:nvSpPr>
        <p:spPr>
          <a:xfrm>
            <a:off x="6383994" y="2513660"/>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draft</a:t>
            </a:r>
            <a:endParaRPr lang="en-US" sz="1456" dirty="0"/>
          </a:p>
        </p:txBody>
      </p:sp>
      <p:sp>
        <p:nvSpPr>
          <p:cNvPr id="12" name="Shape 10"/>
          <p:cNvSpPr/>
          <p:nvPr/>
        </p:nvSpPr>
        <p:spPr>
          <a:xfrm>
            <a:off x="9263919" y="3514007"/>
            <a:ext cx="246543" cy="0"/>
          </a:xfrm>
          <a:prstGeom prst="line">
            <a:avLst/>
          </a:prstGeom>
          <a:noFill/>
          <a:ln w="22860">
            <a:solidFill>
              <a:srgbClr val="009E73"/>
            </a:solidFill>
            <a:prstDash val="solid"/>
            <a:tailEnd type="triangle"/>
          </a:ln>
        </p:spPr>
      </p:sp>
      <p:sp>
        <p:nvSpPr>
          <p:cNvPr id="13" name="Text 11"/>
          <p:cNvSpPr txBox="1"/>
          <p:nvPr/>
        </p:nvSpPr>
        <p:spPr>
          <a:xfrm>
            <a:off x="8578223" y="2513660"/>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issues</a:t>
            </a:r>
            <a:endParaRPr lang="en-US" sz="1456" dirty="0"/>
          </a:p>
        </p:txBody>
      </p:sp>
      <p:sp>
        <p:nvSpPr>
          <p:cNvPr id="14" name="Shape 12"/>
          <p:cNvSpPr/>
          <p:nvPr/>
        </p:nvSpPr>
        <p:spPr>
          <a:xfrm>
            <a:off x="733547" y="2789788"/>
            <a:ext cx="1947686" cy="1448438"/>
          </a:xfrm>
          <a:prstGeom prst="rect">
            <a:avLst/>
          </a:prstGeom>
          <a:solidFill>
            <a:srgbClr val="F2F4F5"/>
          </a:solidFill>
          <a:ln w="15240">
            <a:solidFill>
              <a:srgbClr val="626B73"/>
            </a:solidFill>
            <a:prstDash val="solid"/>
          </a:ln>
        </p:spPr>
      </p:sp>
      <p:sp>
        <p:nvSpPr>
          <p:cNvPr id="15" name="Text 13"/>
          <p:cNvSpPr txBox="1"/>
          <p:nvPr/>
        </p:nvSpPr>
        <p:spPr>
          <a:xfrm>
            <a:off x="795183" y="3252055"/>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Extract</a:t>
            </a:r>
            <a:endParaRPr lang="en-US" sz="1577" dirty="0"/>
          </a:p>
        </p:txBody>
      </p:sp>
      <p:sp>
        <p:nvSpPr>
          <p:cNvPr id="16" name="Text 14"/>
          <p:cNvSpPr txBox="1"/>
          <p:nvPr/>
        </p:nvSpPr>
        <p:spPr>
          <a:xfrm>
            <a:off x="795183" y="3561466"/>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Source facts</a:t>
            </a:r>
            <a:endParaRPr lang="en-US" sz="1456" dirty="0"/>
          </a:p>
        </p:txBody>
      </p:sp>
      <p:sp>
        <p:nvSpPr>
          <p:cNvPr id="17" name="Shape 15"/>
          <p:cNvSpPr/>
          <p:nvPr/>
        </p:nvSpPr>
        <p:spPr>
          <a:xfrm>
            <a:off x="2927776" y="2789788"/>
            <a:ext cx="1947686" cy="1448438"/>
          </a:xfrm>
          <a:prstGeom prst="roundRect">
            <a:avLst>
              <a:gd name="adj" fmla="val 5050"/>
            </a:avLst>
          </a:prstGeom>
          <a:solidFill>
            <a:srgbClr val="FFF0E6"/>
          </a:solidFill>
          <a:ln w="15240">
            <a:solidFill>
              <a:srgbClr val="D55E00"/>
            </a:solidFill>
            <a:prstDash val="solid"/>
          </a:ln>
        </p:spPr>
      </p:sp>
      <p:sp>
        <p:nvSpPr>
          <p:cNvPr id="18" name="Text 16"/>
          <p:cNvSpPr txBox="1"/>
          <p:nvPr/>
        </p:nvSpPr>
        <p:spPr>
          <a:xfrm>
            <a:off x="2989411" y="3252055"/>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Verify</a:t>
            </a:r>
            <a:endParaRPr lang="en-US" sz="1577" dirty="0"/>
          </a:p>
        </p:txBody>
      </p:sp>
      <p:sp>
        <p:nvSpPr>
          <p:cNvPr id="19" name="Text 17"/>
          <p:cNvSpPr txBox="1"/>
          <p:nvPr/>
        </p:nvSpPr>
        <p:spPr>
          <a:xfrm>
            <a:off x="2989411" y="3561466"/>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Against source</a:t>
            </a:r>
            <a:endParaRPr lang="en-US" sz="1456" dirty="0"/>
          </a:p>
        </p:txBody>
      </p:sp>
      <p:sp>
        <p:nvSpPr>
          <p:cNvPr id="20" name="Shape 18"/>
          <p:cNvSpPr/>
          <p:nvPr/>
        </p:nvSpPr>
        <p:spPr>
          <a:xfrm>
            <a:off x="5122004" y="2789788"/>
            <a:ext cx="1947686" cy="1448438"/>
          </a:xfrm>
          <a:prstGeom prst="rect">
            <a:avLst/>
          </a:prstGeom>
          <a:solidFill>
            <a:srgbClr val="E5F7EF"/>
          </a:solidFill>
          <a:ln w="15240">
            <a:solidFill>
              <a:srgbClr val="009E73"/>
            </a:solidFill>
            <a:prstDash val="solid"/>
          </a:ln>
        </p:spPr>
      </p:sp>
      <p:sp>
        <p:nvSpPr>
          <p:cNvPr id="21" name="Text 19"/>
          <p:cNvSpPr txBox="1"/>
          <p:nvPr/>
        </p:nvSpPr>
        <p:spPr>
          <a:xfrm>
            <a:off x="5183640" y="3252055"/>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Draft</a:t>
            </a:r>
            <a:endParaRPr lang="en-US" sz="1577" dirty="0"/>
          </a:p>
        </p:txBody>
      </p:sp>
      <p:sp>
        <p:nvSpPr>
          <p:cNvPr id="22" name="Text 20"/>
          <p:cNvSpPr txBox="1"/>
          <p:nvPr/>
        </p:nvSpPr>
        <p:spPr>
          <a:xfrm>
            <a:off x="5183640" y="3561466"/>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Checked facts</a:t>
            </a:r>
            <a:endParaRPr lang="en-US" sz="1456" dirty="0"/>
          </a:p>
        </p:txBody>
      </p:sp>
      <p:sp>
        <p:nvSpPr>
          <p:cNvPr id="23" name="Shape 21"/>
          <p:cNvSpPr/>
          <p:nvPr/>
        </p:nvSpPr>
        <p:spPr>
          <a:xfrm>
            <a:off x="7316233" y="2789788"/>
            <a:ext cx="1947686" cy="1448438"/>
          </a:xfrm>
          <a:prstGeom prst="roundRect">
            <a:avLst>
              <a:gd name="adj" fmla="val 5050"/>
            </a:avLst>
          </a:prstGeom>
          <a:solidFill>
            <a:srgbClr val="FFF0E6"/>
          </a:solidFill>
          <a:ln w="15240">
            <a:solidFill>
              <a:srgbClr val="D55E00"/>
            </a:solidFill>
            <a:prstDash val="solid"/>
          </a:ln>
        </p:spPr>
      </p:sp>
      <p:sp>
        <p:nvSpPr>
          <p:cNvPr id="24" name="Text 22"/>
          <p:cNvSpPr txBox="1"/>
          <p:nvPr/>
        </p:nvSpPr>
        <p:spPr>
          <a:xfrm>
            <a:off x="7377869" y="3252055"/>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Critique</a:t>
            </a:r>
            <a:endParaRPr lang="en-US" sz="1577" dirty="0"/>
          </a:p>
        </p:txBody>
      </p:sp>
      <p:sp>
        <p:nvSpPr>
          <p:cNvPr id="25" name="Text 23"/>
          <p:cNvSpPr txBox="1"/>
          <p:nvPr/>
        </p:nvSpPr>
        <p:spPr>
          <a:xfrm>
            <a:off x="7377869" y="3561466"/>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Checklist</a:t>
            </a:r>
            <a:endParaRPr lang="en-US" sz="1456" dirty="0"/>
          </a:p>
        </p:txBody>
      </p:sp>
      <p:sp>
        <p:nvSpPr>
          <p:cNvPr id="26" name="Shape 24"/>
          <p:cNvSpPr/>
          <p:nvPr/>
        </p:nvSpPr>
        <p:spPr>
          <a:xfrm>
            <a:off x="9510462" y="2789788"/>
            <a:ext cx="1947686" cy="1448438"/>
          </a:xfrm>
          <a:prstGeom prst="roundRect">
            <a:avLst>
              <a:gd name="adj" fmla="val 5050"/>
            </a:avLst>
          </a:prstGeom>
          <a:solidFill>
            <a:srgbClr val="F9EAF4"/>
          </a:solidFill>
          <a:ln w="15240">
            <a:solidFill>
              <a:srgbClr val="CC79A7"/>
            </a:solidFill>
            <a:prstDash val="solid"/>
          </a:ln>
        </p:spPr>
      </p:sp>
      <p:sp>
        <p:nvSpPr>
          <p:cNvPr id="27" name="Text 25"/>
          <p:cNvSpPr txBox="1"/>
          <p:nvPr/>
        </p:nvSpPr>
        <p:spPr>
          <a:xfrm>
            <a:off x="9572098" y="3252055"/>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Finalise</a:t>
            </a:r>
            <a:endParaRPr lang="en-US" sz="1577" dirty="0"/>
          </a:p>
        </p:txBody>
      </p:sp>
      <p:sp>
        <p:nvSpPr>
          <p:cNvPr id="28" name="Text 26"/>
          <p:cNvSpPr txBox="1"/>
          <p:nvPr/>
        </p:nvSpPr>
        <p:spPr>
          <a:xfrm>
            <a:off x="9572098" y="3561466"/>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Repair, format</a:t>
            </a:r>
            <a:endParaRPr lang="en-US" sz="1456" dirty="0"/>
          </a:p>
        </p:txBody>
      </p:sp>
      <p:sp>
        <p:nvSpPr>
          <p:cNvPr id="29" name="Shape 27"/>
          <p:cNvSpPr/>
          <p:nvPr/>
        </p:nvSpPr>
        <p:spPr>
          <a:xfrm>
            <a:off x="733547" y="4507882"/>
            <a:ext cx="200316" cy="200316"/>
          </a:xfrm>
          <a:prstGeom prst="rect">
            <a:avLst/>
          </a:prstGeom>
          <a:solidFill>
            <a:srgbClr val="E5F7EF"/>
          </a:solidFill>
          <a:ln w="15240">
            <a:solidFill>
              <a:srgbClr val="009E73"/>
            </a:solidFill>
            <a:prstDash val="solid"/>
          </a:ln>
        </p:spPr>
      </p:sp>
      <p:sp>
        <p:nvSpPr>
          <p:cNvPr id="30" name="Text 28"/>
          <p:cNvSpPr txBox="1"/>
          <p:nvPr/>
        </p:nvSpPr>
        <p:spPr>
          <a:xfrm>
            <a:off x="995498" y="4484768"/>
            <a:ext cx="551942"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Model</a:t>
            </a:r>
            <a:endParaRPr lang="en-US" sz="1456" dirty="0"/>
          </a:p>
        </p:txBody>
      </p:sp>
      <p:sp>
        <p:nvSpPr>
          <p:cNvPr id="31" name="Shape 29"/>
          <p:cNvSpPr/>
          <p:nvPr/>
        </p:nvSpPr>
        <p:spPr>
          <a:xfrm>
            <a:off x="1747756" y="4507882"/>
            <a:ext cx="200316" cy="200316"/>
          </a:xfrm>
          <a:prstGeom prst="roundRect">
            <a:avLst>
              <a:gd name="adj" fmla="val 36518"/>
            </a:avLst>
          </a:prstGeom>
          <a:solidFill>
            <a:srgbClr val="FFF0E6"/>
          </a:solidFill>
          <a:ln w="15240">
            <a:solidFill>
              <a:srgbClr val="D55E00"/>
            </a:solidFill>
            <a:prstDash val="solid"/>
          </a:ln>
        </p:spPr>
      </p:sp>
      <p:sp>
        <p:nvSpPr>
          <p:cNvPr id="32" name="Text 30"/>
          <p:cNvSpPr txBox="1"/>
          <p:nvPr/>
        </p:nvSpPr>
        <p:spPr>
          <a:xfrm>
            <a:off x="2009708" y="4484768"/>
            <a:ext cx="573185"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Check</a:t>
            </a:r>
            <a:endParaRPr lang="en-US" sz="1456" dirty="0"/>
          </a:p>
        </p:txBody>
      </p:sp>
      <p:sp>
        <p:nvSpPr>
          <p:cNvPr id="33" name="Shape 31"/>
          <p:cNvSpPr/>
          <p:nvPr/>
        </p:nvSpPr>
        <p:spPr>
          <a:xfrm>
            <a:off x="2783208" y="4507882"/>
            <a:ext cx="200316" cy="200316"/>
          </a:xfrm>
          <a:prstGeom prst="roundRect">
            <a:avLst>
              <a:gd name="adj" fmla="val 36518"/>
            </a:avLst>
          </a:prstGeom>
          <a:solidFill>
            <a:srgbClr val="F9EAF4"/>
          </a:solidFill>
          <a:ln w="15240">
            <a:solidFill>
              <a:srgbClr val="CC79A7"/>
            </a:solidFill>
            <a:prstDash val="solid"/>
          </a:ln>
        </p:spPr>
      </p:sp>
      <p:sp>
        <p:nvSpPr>
          <p:cNvPr id="34" name="Text 32"/>
          <p:cNvSpPr txBox="1"/>
          <p:nvPr/>
        </p:nvSpPr>
        <p:spPr>
          <a:xfrm>
            <a:off x="3045160" y="4484768"/>
            <a:ext cx="605337"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Output</a:t>
            </a:r>
            <a:endParaRPr lang="en-US" sz="1456" dirty="0"/>
          </a:p>
        </p:txBody>
      </p:sp>
      <p:sp>
        <p:nvSpPr>
          <p:cNvPr id="35" name="Shape 33"/>
          <p:cNvSpPr/>
          <p:nvPr/>
        </p:nvSpPr>
        <p:spPr>
          <a:xfrm>
            <a:off x="3850812" y="4507882"/>
            <a:ext cx="200316" cy="200316"/>
          </a:xfrm>
          <a:prstGeom prst="rect">
            <a:avLst/>
          </a:prstGeom>
          <a:solidFill>
            <a:srgbClr val="F2F4F5"/>
          </a:solidFill>
          <a:ln w="15240">
            <a:solidFill>
              <a:srgbClr val="626B73"/>
            </a:solidFill>
            <a:prstDash val="solid"/>
          </a:ln>
        </p:spPr>
      </p:sp>
      <p:sp>
        <p:nvSpPr>
          <p:cNvPr id="36" name="Text 34"/>
          <p:cNvSpPr txBox="1"/>
          <p:nvPr/>
        </p:nvSpPr>
        <p:spPr>
          <a:xfrm>
            <a:off x="4112764" y="4484768"/>
            <a:ext cx="403049"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Tool</a:t>
            </a:r>
            <a:endParaRPr lang="en-US" sz="1456" dirty="0"/>
          </a:p>
        </p:txBody>
      </p:sp>
      <p:sp>
        <p:nvSpPr>
          <p:cNvPr id="37" name="Shape 35"/>
          <p:cNvSpPr/>
          <p:nvPr/>
        </p:nvSpPr>
        <p:spPr>
          <a:xfrm>
            <a:off x="4716129" y="4608039"/>
            <a:ext cx="338996" cy="0"/>
          </a:xfrm>
          <a:prstGeom prst="line">
            <a:avLst/>
          </a:prstGeom>
          <a:noFill/>
          <a:ln w="22860">
            <a:solidFill>
              <a:srgbClr val="009E73"/>
            </a:solidFill>
            <a:prstDash val="solid"/>
            <a:tailEnd type="triangle"/>
          </a:ln>
        </p:spPr>
      </p:sp>
      <p:sp>
        <p:nvSpPr>
          <p:cNvPr id="38" name="Text 36"/>
          <p:cNvSpPr txBox="1"/>
          <p:nvPr/>
        </p:nvSpPr>
        <p:spPr>
          <a:xfrm>
            <a:off x="5116761" y="4484768"/>
            <a:ext cx="434818"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Flow</a:t>
            </a:r>
            <a:endParaRPr lang="en-US" sz="1456" dirty="0"/>
          </a:p>
        </p:txBody>
      </p:sp>
      <p:sp>
        <p:nvSpPr>
          <p:cNvPr id="39" name="Text 37"/>
          <p:cNvSpPr txBox="1"/>
          <p:nvPr/>
        </p:nvSpPr>
        <p:spPr>
          <a:xfrm>
            <a:off x="548640" y="5819140"/>
            <a:ext cx="11094415" cy="49022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Validate each step's output.</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JSON extraction with a check</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Shape, then facts</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email</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messages</a:t>
            </a:r>
            <a:endParaRPr lang="en-US" sz="1441" dirty="0"/>
          </a:p>
        </p:txBody>
      </p:sp>
      <p:sp>
        <p:nvSpPr>
          <p:cNvPr id="11" name="Shape 9"/>
          <p:cNvSpPr/>
          <p:nvPr/>
        </p:nvSpPr>
        <p:spPr>
          <a:xfrm>
            <a:off x="5973836" y="3838927"/>
            <a:ext cx="244024" cy="0"/>
          </a:xfrm>
          <a:prstGeom prst="line">
            <a:avLst/>
          </a:prstGeom>
          <a:noFill/>
          <a:ln w="22860">
            <a:solidFill>
              <a:srgbClr val="009E73"/>
            </a:solidFill>
            <a:prstDash val="solid"/>
            <a:tailEnd type="triangle"/>
          </a:ln>
        </p:spPr>
      </p:sp>
      <p:sp>
        <p:nvSpPr>
          <p:cNvPr id="12" name="Text 10"/>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text</a:t>
            </a:r>
            <a:endParaRPr lang="en-US" sz="1441" dirty="0"/>
          </a:p>
        </p:txBody>
      </p:sp>
      <p:sp>
        <p:nvSpPr>
          <p:cNvPr id="13" name="Shape 11"/>
          <p:cNvSpPr/>
          <p:nvPr/>
        </p:nvSpPr>
        <p:spPr>
          <a:xfrm>
            <a:off x="7783680" y="3838927"/>
            <a:ext cx="244024" cy="0"/>
          </a:xfrm>
          <a:prstGeom prst="line">
            <a:avLst/>
          </a:prstGeom>
          <a:noFill/>
          <a:ln w="22860">
            <a:solidFill>
              <a:srgbClr val="009E73"/>
            </a:solidFill>
            <a:prstDash val="solid"/>
            <a:tailEnd type="triangle"/>
          </a:ln>
        </p:spPr>
      </p:sp>
      <p:sp>
        <p:nvSpPr>
          <p:cNvPr id="14" name="Text 12"/>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dict</a:t>
            </a:r>
            <a:endParaRPr lang="en-US" sz="1441" dirty="0"/>
          </a:p>
        </p:txBody>
      </p:sp>
      <p:sp>
        <p:nvSpPr>
          <p:cNvPr id="15" name="Shape 13"/>
          <p:cNvSpPr/>
          <p:nvPr/>
        </p:nvSpPr>
        <p:spPr>
          <a:xfrm>
            <a:off x="9593525" y="3838927"/>
            <a:ext cx="244024" cy="0"/>
          </a:xfrm>
          <a:prstGeom prst="line">
            <a:avLst/>
          </a:prstGeom>
          <a:noFill/>
          <a:ln w="22860">
            <a:solidFill>
              <a:srgbClr val="009E73"/>
            </a:solidFill>
            <a:prstDash val="solid"/>
            <a:tailEnd type="triangle"/>
          </a:ln>
        </p:spPr>
      </p:sp>
      <p:sp>
        <p:nvSpPr>
          <p:cNvPr id="16" name="Text 14"/>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object</a:t>
            </a:r>
            <a:endParaRPr lang="en-US" sz="1441" dirty="0"/>
          </a:p>
        </p:txBody>
      </p:sp>
      <p:sp>
        <p:nvSpPr>
          <p:cNvPr id="17" name="Shape 15"/>
          <p:cNvSpPr/>
          <p:nvPr/>
        </p:nvSpPr>
        <p:spPr>
          <a:xfrm flipV="1">
            <a:off x="8810615" y="2191765"/>
            <a:ext cx="0" cy="747324"/>
          </a:xfrm>
          <a:prstGeom prst="line">
            <a:avLst/>
          </a:prstGeom>
          <a:noFill/>
          <a:ln w="22860">
            <a:solidFill>
              <a:srgbClr val="D55E00"/>
            </a:solidFill>
            <a:prstDash val="dash"/>
          </a:ln>
        </p:spPr>
      </p:sp>
      <p:sp>
        <p:nvSpPr>
          <p:cNvPr id="18" name="Shape 16"/>
          <p:cNvSpPr/>
          <p:nvPr/>
        </p:nvSpPr>
        <p:spPr>
          <a:xfrm flipH="1">
            <a:off x="5190925" y="2191765"/>
            <a:ext cx="3619690" cy="0"/>
          </a:xfrm>
          <a:prstGeom prst="line">
            <a:avLst/>
          </a:prstGeom>
          <a:noFill/>
          <a:ln w="22860">
            <a:solidFill>
              <a:srgbClr val="D55E00"/>
            </a:solidFill>
            <a:prstDash val="dash"/>
          </a:ln>
        </p:spPr>
      </p:sp>
      <p:sp>
        <p:nvSpPr>
          <p:cNvPr id="19" name="Shape 17"/>
          <p:cNvSpPr/>
          <p:nvPr/>
        </p:nvSpPr>
        <p:spPr>
          <a:xfrm>
            <a:off x="5190925" y="2191765"/>
            <a:ext cx="0" cy="747324"/>
          </a:xfrm>
          <a:prstGeom prst="line">
            <a:avLst/>
          </a:prstGeom>
          <a:noFill/>
          <a:ln w="22860">
            <a:solidFill>
              <a:srgbClr val="D55E00"/>
            </a:solidFill>
            <a:prstDash val="dash"/>
            <a:tailEnd type="triangle"/>
          </a:ln>
        </p:spPr>
      </p:sp>
      <p:sp>
        <p:nvSpPr>
          <p:cNvPr id="20" name="Text 18"/>
          <p:cNvSpPr txBox="1"/>
          <p:nvPr/>
        </p:nvSpPr>
        <p:spPr>
          <a:xfrm>
            <a:off x="6512335" y="1917238"/>
            <a:ext cx="976869"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Retry once</a:t>
            </a:r>
            <a:endParaRPr lang="en-US" sz="1441" dirty="0"/>
          </a:p>
        </p:txBody>
      </p:sp>
      <p:sp>
        <p:nvSpPr>
          <p:cNvPr id="21" name="Shape 19"/>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22" name="Text 20"/>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Email</a:t>
            </a:r>
            <a:endParaRPr lang="en-US" sz="1561" dirty="0"/>
          </a:p>
        </p:txBody>
      </p:sp>
      <p:sp>
        <p:nvSpPr>
          <p:cNvPr id="23" name="Text 21"/>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source</a:t>
            </a:r>
            <a:endParaRPr lang="en-US" sz="1441" dirty="0"/>
          </a:p>
        </p:txBody>
      </p:sp>
      <p:sp>
        <p:nvSpPr>
          <p:cNvPr id="24" name="Shape 22"/>
          <p:cNvSpPr/>
          <p:nvPr/>
        </p:nvSpPr>
        <p:spPr>
          <a:xfrm>
            <a:off x="2598170" y="2939089"/>
            <a:ext cx="1565821" cy="1799677"/>
          </a:xfrm>
          <a:prstGeom prst="rect">
            <a:avLst/>
          </a:prstGeom>
          <a:solidFill>
            <a:srgbClr val="F2F4F5"/>
          </a:solidFill>
          <a:ln w="15240">
            <a:solidFill>
              <a:srgbClr val="626B73"/>
            </a:solidFill>
            <a:prstDash val="solid"/>
          </a:ln>
        </p:spPr>
      </p:sp>
      <p:sp>
        <p:nvSpPr>
          <p:cNvPr id="25" name="Text 23"/>
          <p:cNvSpPr txBox="1"/>
          <p:nvPr/>
        </p:nvSpPr>
        <p:spPr>
          <a:xfrm>
            <a:off x="265917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Prompt</a:t>
            </a:r>
            <a:endParaRPr lang="en-US" sz="1561" dirty="0"/>
          </a:p>
        </p:txBody>
      </p:sp>
      <p:sp>
        <p:nvSpPr>
          <p:cNvPr id="26" name="Text 24"/>
          <p:cNvSpPr txBox="1"/>
          <p:nvPr/>
        </p:nvSpPr>
        <p:spPr>
          <a:xfrm>
            <a:off x="265917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schema</a:t>
            </a:r>
            <a:endParaRPr lang="en-US" sz="1441" dirty="0"/>
          </a:p>
        </p:txBody>
      </p:sp>
      <p:sp>
        <p:nvSpPr>
          <p:cNvPr id="27" name="Shape 25"/>
          <p:cNvSpPr/>
          <p:nvPr/>
        </p:nvSpPr>
        <p:spPr>
          <a:xfrm>
            <a:off x="4408015" y="2939089"/>
            <a:ext cx="1565821" cy="1799677"/>
          </a:xfrm>
          <a:prstGeom prst="rect">
            <a:avLst/>
          </a:prstGeom>
          <a:solidFill>
            <a:srgbClr val="E5F7EF"/>
          </a:solidFill>
          <a:ln w="15240">
            <a:solidFill>
              <a:srgbClr val="009E73"/>
            </a:solidFill>
            <a:prstDash val="solid"/>
          </a:ln>
        </p:spPr>
      </p:sp>
      <p:sp>
        <p:nvSpPr>
          <p:cNvPr id="28" name="Text 26"/>
          <p:cNvSpPr txBox="1"/>
          <p:nvPr/>
        </p:nvSpPr>
        <p:spPr>
          <a:xfrm>
            <a:off x="446902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Generate</a:t>
            </a:r>
            <a:endParaRPr lang="en-US" sz="1561" dirty="0"/>
          </a:p>
        </p:txBody>
      </p:sp>
      <p:sp>
        <p:nvSpPr>
          <p:cNvPr id="29" name="Text 27"/>
          <p:cNvSpPr txBox="1"/>
          <p:nvPr/>
        </p:nvSpPr>
        <p:spPr>
          <a:xfrm>
            <a:off x="446902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JSON</a:t>
            </a:r>
            <a:endParaRPr lang="en-US" sz="1441" dirty="0"/>
          </a:p>
        </p:txBody>
      </p:sp>
      <p:sp>
        <p:nvSpPr>
          <p:cNvPr id="30" name="Shape 28"/>
          <p:cNvSpPr/>
          <p:nvPr/>
        </p:nvSpPr>
        <p:spPr>
          <a:xfrm>
            <a:off x="6217860" y="2939089"/>
            <a:ext cx="1565821" cy="1799677"/>
          </a:xfrm>
          <a:prstGeom prst="rect">
            <a:avLst/>
          </a:prstGeom>
          <a:solidFill>
            <a:srgbClr val="F2F4F5"/>
          </a:solidFill>
          <a:ln w="15240">
            <a:solidFill>
              <a:srgbClr val="626B73"/>
            </a:solidFill>
            <a:prstDash val="solid"/>
          </a:ln>
        </p:spPr>
      </p:sp>
      <p:sp>
        <p:nvSpPr>
          <p:cNvPr id="31" name="Text 29"/>
          <p:cNvSpPr txBox="1"/>
          <p:nvPr/>
        </p:nvSpPr>
        <p:spPr>
          <a:xfrm>
            <a:off x="6278866"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Parse</a:t>
            </a:r>
            <a:endParaRPr lang="en-US" sz="1561" dirty="0"/>
          </a:p>
        </p:txBody>
      </p:sp>
      <p:sp>
        <p:nvSpPr>
          <p:cNvPr id="32" name="Text 30"/>
          <p:cNvSpPr txBox="1"/>
          <p:nvPr/>
        </p:nvSpPr>
        <p:spPr>
          <a:xfrm>
            <a:off x="6278866"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to dict</a:t>
            </a:r>
            <a:endParaRPr lang="en-US" sz="1441" dirty="0"/>
          </a:p>
        </p:txBody>
      </p:sp>
      <p:sp>
        <p:nvSpPr>
          <p:cNvPr id="33" name="Text 31"/>
          <p:cNvSpPr txBox="1"/>
          <p:nvPr/>
        </p:nvSpPr>
        <p:spPr>
          <a:xfrm>
            <a:off x="624073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try_parse</a:t>
            </a:r>
            <a:endParaRPr lang="en-US" sz="1441" dirty="0"/>
          </a:p>
        </p:txBody>
      </p:sp>
      <p:sp>
        <p:nvSpPr>
          <p:cNvPr id="34" name="Shape 32"/>
          <p:cNvSpPr/>
          <p:nvPr/>
        </p:nvSpPr>
        <p:spPr>
          <a:xfrm>
            <a:off x="8027705" y="2939089"/>
            <a:ext cx="1565821" cy="1799677"/>
          </a:xfrm>
          <a:prstGeom prst="roundRect">
            <a:avLst>
              <a:gd name="adj" fmla="val 4672"/>
            </a:avLst>
          </a:prstGeom>
          <a:solidFill>
            <a:srgbClr val="FFF0E6"/>
          </a:solidFill>
          <a:ln w="15240">
            <a:solidFill>
              <a:srgbClr val="D55E00"/>
            </a:solidFill>
            <a:prstDash val="solid"/>
          </a:ln>
        </p:spPr>
      </p:sp>
      <p:sp>
        <p:nvSpPr>
          <p:cNvPr id="35" name="Text 33"/>
          <p:cNvSpPr txBox="1"/>
          <p:nvPr/>
        </p:nvSpPr>
        <p:spPr>
          <a:xfrm>
            <a:off x="8088711"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Validate</a:t>
            </a:r>
            <a:endParaRPr lang="en-US" sz="1561" dirty="0"/>
          </a:p>
        </p:txBody>
      </p:sp>
      <p:sp>
        <p:nvSpPr>
          <p:cNvPr id="36" name="Text 34"/>
          <p:cNvSpPr txBox="1"/>
          <p:nvPr/>
        </p:nvSpPr>
        <p:spPr>
          <a:xfrm>
            <a:off x="8088711"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rules</a:t>
            </a:r>
            <a:endParaRPr lang="en-US" sz="1441" dirty="0"/>
          </a:p>
        </p:txBody>
      </p:sp>
      <p:sp>
        <p:nvSpPr>
          <p:cNvPr id="37" name="Text 35"/>
          <p:cNvSpPr txBox="1"/>
          <p:nvPr/>
        </p:nvSpPr>
        <p:spPr>
          <a:xfrm>
            <a:off x="8050582"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Request</a:t>
            </a:r>
            <a:endParaRPr lang="en-US" sz="1441" dirty="0"/>
          </a:p>
        </p:txBody>
      </p:sp>
      <p:sp>
        <p:nvSpPr>
          <p:cNvPr id="38" name="Shape 36"/>
          <p:cNvSpPr/>
          <p:nvPr/>
        </p:nvSpPr>
        <p:spPr>
          <a:xfrm>
            <a:off x="9837549" y="2939089"/>
            <a:ext cx="1565821" cy="1799677"/>
          </a:xfrm>
          <a:prstGeom prst="roundRect">
            <a:avLst>
              <a:gd name="adj" fmla="val 4672"/>
            </a:avLst>
          </a:prstGeom>
          <a:solidFill>
            <a:srgbClr val="FFF0E6"/>
          </a:solidFill>
          <a:ln w="15240">
            <a:solidFill>
              <a:srgbClr val="D55E00"/>
            </a:solidFill>
            <a:prstDash val="solid"/>
          </a:ln>
        </p:spPr>
      </p:sp>
      <p:sp>
        <p:nvSpPr>
          <p:cNvPr id="39" name="Text 37"/>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Compare</a:t>
            </a:r>
            <a:endParaRPr lang="en-US" sz="1561" dirty="0"/>
          </a:p>
        </p:txBody>
      </p:sp>
      <p:sp>
        <p:nvSpPr>
          <p:cNvPr id="40" name="Text 38"/>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gold</a:t>
            </a:r>
            <a:endParaRPr lang="en-US" sz="1441" dirty="0"/>
          </a:p>
        </p:txBody>
      </p:sp>
      <p:sp>
        <p:nvSpPr>
          <p:cNvPr id="41" name="Shape 39"/>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2" name="Text 40"/>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3" name="Shape 41"/>
          <p:cNvSpPr/>
          <p:nvPr/>
        </p:nvSpPr>
        <p:spPr>
          <a:xfrm>
            <a:off x="1676436" y="5630979"/>
            <a:ext cx="198270" cy="198270"/>
          </a:xfrm>
          <a:prstGeom prst="rect">
            <a:avLst/>
          </a:prstGeom>
          <a:solidFill>
            <a:srgbClr val="E5F7EF"/>
          </a:solidFill>
          <a:ln w="15240">
            <a:solidFill>
              <a:srgbClr val="009E73"/>
            </a:solidFill>
            <a:prstDash val="solid"/>
          </a:ln>
        </p:spPr>
      </p:sp>
      <p:sp>
        <p:nvSpPr>
          <p:cNvPr id="44" name="Text 42"/>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5" name="Shape 43"/>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46" name="Text 44"/>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47" name="Shape 45"/>
          <p:cNvSpPr/>
          <p:nvPr/>
        </p:nvSpPr>
        <p:spPr>
          <a:xfrm>
            <a:off x="3705159" y="5630979"/>
            <a:ext cx="198270" cy="198270"/>
          </a:xfrm>
          <a:prstGeom prst="rect">
            <a:avLst/>
          </a:prstGeom>
          <a:solidFill>
            <a:srgbClr val="F2F4F5"/>
          </a:solidFill>
          <a:ln w="15240">
            <a:solidFill>
              <a:srgbClr val="626B73"/>
            </a:solidFill>
            <a:prstDash val="solid"/>
          </a:ln>
        </p:spPr>
      </p:sp>
      <p:sp>
        <p:nvSpPr>
          <p:cNvPr id="48" name="Text 46"/>
          <p:cNvSpPr txBox="1"/>
          <p:nvPr/>
        </p:nvSpPr>
        <p:spPr>
          <a:xfrm>
            <a:off x="3964435"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9" name="Shape 47"/>
          <p:cNvSpPr/>
          <p:nvPr/>
        </p:nvSpPr>
        <p:spPr>
          <a:xfrm>
            <a:off x="4561636" y="5730113"/>
            <a:ext cx="335533" cy="0"/>
          </a:xfrm>
          <a:prstGeom prst="line">
            <a:avLst/>
          </a:prstGeom>
          <a:noFill/>
          <a:ln w="22860">
            <a:solidFill>
              <a:srgbClr val="009E73"/>
            </a:solidFill>
            <a:prstDash val="solid"/>
            <a:tailEnd type="triangle"/>
          </a:ln>
        </p:spPr>
      </p:sp>
      <p:sp>
        <p:nvSpPr>
          <p:cNvPr id="50" name="Text 48"/>
          <p:cNvSpPr txBox="1"/>
          <p:nvPr/>
        </p:nvSpPr>
        <p:spPr>
          <a:xfrm>
            <a:off x="4958175"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1" name="Shape 49"/>
          <p:cNvSpPr/>
          <p:nvPr/>
        </p:nvSpPr>
        <p:spPr>
          <a:xfrm>
            <a:off x="5586821" y="5730113"/>
            <a:ext cx="335533" cy="0"/>
          </a:xfrm>
          <a:prstGeom prst="line">
            <a:avLst/>
          </a:prstGeom>
          <a:noFill/>
          <a:ln w="22860">
            <a:solidFill>
              <a:srgbClr val="D55E00"/>
            </a:solidFill>
            <a:prstDash val="dash"/>
            <a:tailEnd type="triangle"/>
          </a:ln>
        </p:spPr>
      </p:sp>
      <p:sp>
        <p:nvSpPr>
          <p:cNvPr id="52" name="Text 50"/>
          <p:cNvSpPr txBox="1"/>
          <p:nvPr/>
        </p:nvSpPr>
        <p:spPr>
          <a:xfrm>
            <a:off x="5983360"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53" name="Text 51"/>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Valid but wrong?</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Structured outputs: a schema as a contract</a:t>
            </a:r>
            <a:endParaRPr lang="en-US" sz="3200" dirty="0"/>
          </a:p>
        </p:txBody>
      </p:sp>
      <p:sp>
        <p:nvSpPr>
          <p:cNvPr id="6" name="Shape 4"/>
          <p:cNvSpPr/>
          <p:nvPr/>
        </p:nvSpPr>
        <p:spPr>
          <a:xfrm>
            <a:off x="548640" y="1481328"/>
            <a:ext cx="6949440" cy="2734056"/>
          </a:xfrm>
          <a:prstGeom prst="roundRect">
            <a:avLst>
              <a:gd name="adj" fmla="val 3344"/>
            </a:avLst>
          </a:prstGeom>
          <a:solidFill>
            <a:srgbClr val="1E1E2E"/>
          </a:solidFill>
          <a:ln w="12700">
            <a:solidFill>
              <a:srgbClr val="1E1E2E"/>
            </a:solidFill>
            <a:prstDash val="solid"/>
          </a:ln>
        </p:spPr>
      </p:sp>
      <p:sp>
        <p:nvSpPr>
          <p:cNvPr id="7" name="Text 5"/>
          <p:cNvSpPr txBox="1"/>
          <p:nvPr/>
        </p:nvSpPr>
        <p:spPr>
          <a:xfrm>
            <a:off x="685800" y="1591056"/>
            <a:ext cx="6675120" cy="2514600"/>
          </a:xfrm>
          <a:prstGeom prst="rect">
            <a:avLst/>
          </a:prstGeom>
          <a:noFill/>
          <a:ln/>
        </p:spPr>
        <p:txBody>
          <a:bodyPr wrap="square" lIns="76200" tIns="76200" rIns="76200" bIns="76200" rtlCol="0" anchor="t"/>
          <a:lstStyle/>
          <a:p>
            <a:pPr indent="0" marL="0">
              <a:lnSpc>
                <a:spcPct val="100000"/>
              </a:lnSpc>
              <a:buNone/>
            </a:pPr>
            <a:r>
              <a:rPr lang="en-US" sz="1600" dirty="0">
                <a:solidFill>
                  <a:srgbClr val="E4E4F0"/>
                </a:solidFill>
                <a:latin typeface="Consolas" pitchFamily="34" charset="0"/>
                <a:ea typeface="Consolas" pitchFamily="34" charset="-122"/>
                <a:cs typeface="Consolas" pitchFamily="34" charset="-120"/>
              </a:rPr>
              <a:t>class Request(BaseModel):</a:t>
            </a:r>
            <a:endParaRPr lang="en-US" sz="1600" dirty="0"/>
          </a:p>
          <a:p>
            <a:pPr indent="0" marL="0">
              <a:lnSpc>
                <a:spcPct val="100000"/>
              </a:lnSpc>
              <a:buNone/>
            </a:pPr>
            <a:r>
              <a:rPr lang="en-US" sz="1600" dirty="0">
                <a:solidFill>
                  <a:srgbClr val="E4E4F0"/>
                </a:solidFill>
                <a:latin typeface="Consolas" pitchFamily="34" charset="0"/>
                <a:ea typeface="Consolas" pitchFamily="34" charset="-122"/>
                <a:cs typeface="Consolas" pitchFamily="34" charset="-120"/>
              </a:rPr>
              <a:t>    name: str</a:t>
            </a:r>
            <a:endParaRPr lang="en-US" sz="1600" dirty="0"/>
          </a:p>
          <a:p>
            <a:pPr indent="0" marL="0">
              <a:lnSpc>
                <a:spcPct val="100000"/>
              </a:lnSpc>
              <a:buNone/>
            </a:pPr>
            <a:r>
              <a:rPr lang="en-US" sz="1600" dirty="0">
                <a:solidFill>
                  <a:srgbClr val="E4E4F0"/>
                </a:solidFill>
                <a:latin typeface="Consolas" pitchFamily="34" charset="0"/>
                <a:ea typeface="Consolas" pitchFamily="34" charset="-122"/>
                <a:cs typeface="Consolas" pitchFamily="34" charset="-120"/>
              </a:rPr>
              <a:t>    student_id: str = Field(pattern=r"^\d{8}$")</a:t>
            </a:r>
            <a:endParaRPr lang="en-US" sz="1600" dirty="0"/>
          </a:p>
          <a:p>
            <a:pPr indent="0" marL="0">
              <a:lnSpc>
                <a:spcPct val="100000"/>
              </a:lnSpc>
              <a:buNone/>
            </a:pPr>
            <a:r>
              <a:rPr lang="en-US" sz="1600" dirty="0">
                <a:solidFill>
                  <a:srgbClr val="E4E4F0"/>
                </a:solidFill>
                <a:latin typeface="Consolas" pitchFamily="34" charset="0"/>
                <a:ea typeface="Consolas" pitchFamily="34" charset="-122"/>
                <a:cs typeface="Consolas" pitchFamily="34" charset="-120"/>
              </a:rPr>
              <a:t>    request: Literal["extension", "invoice", "deferral"]</a:t>
            </a:r>
            <a:endParaRPr lang="en-US" sz="1600" dirty="0"/>
          </a:p>
          <a:p>
            <a:pPr indent="0" marL="0">
              <a:lnSpc>
                <a:spcPct val="100000"/>
              </a:lnSpc>
              <a:buNone/>
            </a:pPr>
            <a:r>
              <a:rPr lang="en-US" sz="1600" dirty="0">
                <a:solidFill>
                  <a:srgbClr val="E4E4F0"/>
                </a:solidFill>
                <a:latin typeface="Consolas" pitchFamily="34" charset="0"/>
                <a:ea typeface="Consolas" pitchFamily="34" charset="-122"/>
                <a:cs typeface="Consolas" pitchFamily="34" charset="-120"/>
              </a:rPr>
              <a:t>    date: str | None = None</a:t>
            </a:r>
            <a:endParaRPr lang="en-US" sz="1600" dirty="0"/>
          </a:p>
          <a:p>
            <a:pPr indent="0" marL="0">
              <a:lnSpc>
                <a:spcPct val="100000"/>
              </a:lnSpc>
              <a:buNone/>
            </a:pPr>
            <a:r>
              <a:rPr lang="en-US" sz="1600" dirty="0">
                <a:solidFill>
                  <a:srgbClr val="E4E4F0"/>
                </a:solidFill>
                <a:latin typeface="Consolas" pitchFamily="34" charset="0"/>
                <a:ea typeface="Consolas" pitchFamily="34" charset="-122"/>
                <a:cs typeface="Consolas" pitchFamily="34" charset="-120"/>
              </a:rPr>
              <a:t> </a:t>
            </a:r>
            <a:endParaRPr lang="en-US" sz="1600" dirty="0"/>
          </a:p>
          <a:p>
            <a:pPr indent="0" marL="0">
              <a:lnSpc>
                <a:spcPct val="100000"/>
              </a:lnSpc>
              <a:buNone/>
            </a:pPr>
            <a:r>
              <a:rPr lang="en-US" sz="1600" dirty="0">
                <a:solidFill>
                  <a:srgbClr val="E4E4F0"/>
                </a:solidFill>
                <a:latin typeface="Consolas" pitchFamily="34" charset="0"/>
                <a:ea typeface="Consolas" pitchFamily="34" charset="-122"/>
                <a:cs typeface="Consolas" pitchFamily="34" charset="-120"/>
              </a:rPr>
              <a:t> </a:t>
            </a:r>
            <a:endParaRPr lang="en-US" sz="1600" dirty="0"/>
          </a:p>
          <a:p>
            <a:pPr indent="0" marL="0">
              <a:lnSpc>
                <a:spcPct val="100000"/>
              </a:lnSpc>
              <a:buNone/>
            </a:pPr>
            <a:r>
              <a:rPr lang="en-US" sz="1600" dirty="0">
                <a:solidFill>
                  <a:srgbClr val="9CA3AF"/>
                </a:solidFill>
                <a:latin typeface="Consolas" pitchFamily="34" charset="0"/>
                <a:ea typeface="Consolas" pitchFamily="34" charset="-122"/>
                <a:cs typeface="Consolas" pitchFamily="34" charset="-120"/>
              </a:rPr>
              <a:t># Lab helper validates both attempts</a:t>
            </a:r>
            <a:endParaRPr lang="en-US" sz="1600" dirty="0"/>
          </a:p>
          <a:p>
            <a:pPr indent="0" marL="0">
              <a:lnSpc>
                <a:spcPct val="100000"/>
              </a:lnSpc>
              <a:buNone/>
            </a:pPr>
            <a:r>
              <a:rPr lang="en-US" sz="1600" dirty="0">
                <a:solidFill>
                  <a:srgbClr val="E4E4F0"/>
                </a:solidFill>
                <a:latin typeface="Consolas" pitchFamily="34" charset="0"/>
                <a:ea typeface="Consolas" pitchFamily="34" charset="-122"/>
                <a:cs typeface="Consolas" pitchFamily="34" charset="-120"/>
              </a:rPr>
              <a:t>req, retries = parse_with_retry(messages)</a:t>
            </a:r>
            <a:endParaRPr lang="en-US" sz="1600" dirty="0"/>
          </a:p>
        </p:txBody>
      </p:sp>
      <p:sp>
        <p:nvSpPr>
          <p:cNvPr id="8" name="Text 6"/>
          <p:cNvSpPr txBox="1"/>
          <p:nvPr/>
        </p:nvSpPr>
        <p:spPr>
          <a:xfrm>
            <a:off x="7772400" y="1481328"/>
            <a:ext cx="3870655"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Schema checks shape.</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Compare facts separately.</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Context engineering: what the model sees matters most</a:t>
            </a:r>
            <a:endParaRPr lang="en-US" sz="3200" dirty="0"/>
          </a:p>
        </p:txBody>
      </p:sp>
      <p:sp>
        <p:nvSpPr>
          <p:cNvPr id="6" name="Shape 4"/>
          <p:cNvSpPr/>
          <p:nvPr/>
        </p:nvSpPr>
        <p:spPr>
          <a:xfrm>
            <a:off x="3522797" y="2603271"/>
            <a:ext cx="198419" cy="0"/>
          </a:xfrm>
          <a:prstGeom prst="line">
            <a:avLst/>
          </a:prstGeom>
          <a:noFill/>
          <a:ln w="22860">
            <a:solidFill>
              <a:srgbClr val="4F46E5"/>
            </a:solidFill>
            <a:prstDash val="solid"/>
          </a:ln>
        </p:spPr>
      </p:sp>
      <p:sp>
        <p:nvSpPr>
          <p:cNvPr id="7" name="Shape 5"/>
          <p:cNvSpPr/>
          <p:nvPr/>
        </p:nvSpPr>
        <p:spPr>
          <a:xfrm>
            <a:off x="3721216" y="2603271"/>
            <a:ext cx="0" cy="1182835"/>
          </a:xfrm>
          <a:prstGeom prst="line">
            <a:avLst/>
          </a:prstGeom>
          <a:noFill/>
          <a:ln w="22860">
            <a:solidFill>
              <a:srgbClr val="4F46E5"/>
            </a:solidFill>
            <a:prstDash val="solid"/>
          </a:ln>
        </p:spPr>
      </p:sp>
      <p:sp>
        <p:nvSpPr>
          <p:cNvPr id="8" name="Shape 6"/>
          <p:cNvSpPr/>
          <p:nvPr/>
        </p:nvSpPr>
        <p:spPr>
          <a:xfrm>
            <a:off x="3522797" y="3063263"/>
            <a:ext cx="198419" cy="0"/>
          </a:xfrm>
          <a:prstGeom prst="line">
            <a:avLst/>
          </a:prstGeom>
          <a:noFill/>
          <a:ln w="22860">
            <a:solidFill>
              <a:srgbClr val="4F46E5"/>
            </a:solidFill>
            <a:prstDash val="solid"/>
          </a:ln>
        </p:spPr>
      </p:sp>
      <p:sp>
        <p:nvSpPr>
          <p:cNvPr id="9" name="Shape 7"/>
          <p:cNvSpPr/>
          <p:nvPr/>
        </p:nvSpPr>
        <p:spPr>
          <a:xfrm>
            <a:off x="3721216" y="3063263"/>
            <a:ext cx="0" cy="722844"/>
          </a:xfrm>
          <a:prstGeom prst="line">
            <a:avLst/>
          </a:prstGeom>
          <a:noFill/>
          <a:ln w="22860">
            <a:solidFill>
              <a:srgbClr val="4F46E5"/>
            </a:solidFill>
            <a:prstDash val="solid"/>
          </a:ln>
        </p:spPr>
      </p:sp>
      <p:sp>
        <p:nvSpPr>
          <p:cNvPr id="10" name="Shape 8"/>
          <p:cNvSpPr/>
          <p:nvPr/>
        </p:nvSpPr>
        <p:spPr>
          <a:xfrm>
            <a:off x="3522797" y="3523254"/>
            <a:ext cx="198419" cy="0"/>
          </a:xfrm>
          <a:prstGeom prst="line">
            <a:avLst/>
          </a:prstGeom>
          <a:noFill/>
          <a:ln w="22860">
            <a:solidFill>
              <a:srgbClr val="4F46E5"/>
            </a:solidFill>
            <a:prstDash val="solid"/>
          </a:ln>
        </p:spPr>
      </p:sp>
      <p:sp>
        <p:nvSpPr>
          <p:cNvPr id="11" name="Shape 9"/>
          <p:cNvSpPr/>
          <p:nvPr/>
        </p:nvSpPr>
        <p:spPr>
          <a:xfrm>
            <a:off x="3721216" y="3523254"/>
            <a:ext cx="0" cy="262852"/>
          </a:xfrm>
          <a:prstGeom prst="line">
            <a:avLst/>
          </a:prstGeom>
          <a:noFill/>
          <a:ln w="22860">
            <a:solidFill>
              <a:srgbClr val="4F46E5"/>
            </a:solidFill>
            <a:prstDash val="solid"/>
          </a:ln>
        </p:spPr>
      </p:sp>
      <p:sp>
        <p:nvSpPr>
          <p:cNvPr id="12" name="Shape 10"/>
          <p:cNvSpPr/>
          <p:nvPr/>
        </p:nvSpPr>
        <p:spPr>
          <a:xfrm>
            <a:off x="3522797" y="3983246"/>
            <a:ext cx="198419" cy="0"/>
          </a:xfrm>
          <a:prstGeom prst="line">
            <a:avLst/>
          </a:prstGeom>
          <a:noFill/>
          <a:ln w="22860">
            <a:solidFill>
              <a:srgbClr val="4F46E5"/>
            </a:solidFill>
            <a:prstDash val="solid"/>
          </a:ln>
        </p:spPr>
      </p:sp>
      <p:sp>
        <p:nvSpPr>
          <p:cNvPr id="13" name="Shape 11"/>
          <p:cNvSpPr/>
          <p:nvPr/>
        </p:nvSpPr>
        <p:spPr>
          <a:xfrm flipV="1">
            <a:off x="3721216" y="3786107"/>
            <a:ext cx="0" cy="197139"/>
          </a:xfrm>
          <a:prstGeom prst="line">
            <a:avLst/>
          </a:prstGeom>
          <a:noFill/>
          <a:ln w="22860">
            <a:solidFill>
              <a:srgbClr val="4F46E5"/>
            </a:solidFill>
            <a:prstDash val="solid"/>
          </a:ln>
        </p:spPr>
      </p:sp>
      <p:sp>
        <p:nvSpPr>
          <p:cNvPr id="14" name="Shape 12"/>
          <p:cNvSpPr/>
          <p:nvPr/>
        </p:nvSpPr>
        <p:spPr>
          <a:xfrm>
            <a:off x="3522797" y="4443237"/>
            <a:ext cx="198419" cy="0"/>
          </a:xfrm>
          <a:prstGeom prst="line">
            <a:avLst/>
          </a:prstGeom>
          <a:noFill/>
          <a:ln w="22860">
            <a:solidFill>
              <a:srgbClr val="4F46E5"/>
            </a:solidFill>
            <a:prstDash val="solid"/>
          </a:ln>
        </p:spPr>
      </p:sp>
      <p:sp>
        <p:nvSpPr>
          <p:cNvPr id="15" name="Shape 13"/>
          <p:cNvSpPr/>
          <p:nvPr/>
        </p:nvSpPr>
        <p:spPr>
          <a:xfrm flipV="1">
            <a:off x="3721216" y="3786107"/>
            <a:ext cx="0" cy="657131"/>
          </a:xfrm>
          <a:prstGeom prst="line">
            <a:avLst/>
          </a:prstGeom>
          <a:noFill/>
          <a:ln w="22860">
            <a:solidFill>
              <a:srgbClr val="4F46E5"/>
            </a:solidFill>
            <a:prstDash val="solid"/>
          </a:ln>
        </p:spPr>
      </p:sp>
      <p:sp>
        <p:nvSpPr>
          <p:cNvPr id="16" name="Shape 14"/>
          <p:cNvSpPr/>
          <p:nvPr/>
        </p:nvSpPr>
        <p:spPr>
          <a:xfrm>
            <a:off x="3721216" y="3786107"/>
            <a:ext cx="1124376" cy="0"/>
          </a:xfrm>
          <a:prstGeom prst="line">
            <a:avLst/>
          </a:prstGeom>
          <a:noFill/>
          <a:ln w="22860">
            <a:solidFill>
              <a:srgbClr val="4F46E5"/>
            </a:solidFill>
            <a:prstDash val="solid"/>
            <a:tailEnd type="triangle"/>
          </a:ln>
        </p:spPr>
      </p:sp>
      <p:sp>
        <p:nvSpPr>
          <p:cNvPr id="17" name="Shape 15"/>
          <p:cNvSpPr/>
          <p:nvPr/>
        </p:nvSpPr>
        <p:spPr>
          <a:xfrm>
            <a:off x="3721216" y="3786107"/>
            <a:ext cx="1124376" cy="0"/>
          </a:xfrm>
          <a:prstGeom prst="line">
            <a:avLst/>
          </a:prstGeom>
          <a:noFill/>
          <a:ln w="22860">
            <a:solidFill>
              <a:srgbClr val="4F46E5"/>
            </a:solidFill>
            <a:prstDash val="solid"/>
            <a:tailEnd type="triangle"/>
          </a:ln>
        </p:spPr>
      </p:sp>
      <p:sp>
        <p:nvSpPr>
          <p:cNvPr id="18" name="Shape 16"/>
          <p:cNvSpPr/>
          <p:nvPr/>
        </p:nvSpPr>
        <p:spPr>
          <a:xfrm>
            <a:off x="3721216" y="3786107"/>
            <a:ext cx="1124376" cy="0"/>
          </a:xfrm>
          <a:prstGeom prst="line">
            <a:avLst/>
          </a:prstGeom>
          <a:noFill/>
          <a:ln w="22860">
            <a:solidFill>
              <a:srgbClr val="4F46E5"/>
            </a:solidFill>
            <a:prstDash val="solid"/>
            <a:tailEnd type="triangle"/>
          </a:ln>
        </p:spPr>
      </p:sp>
      <p:sp>
        <p:nvSpPr>
          <p:cNvPr id="19" name="Shape 17"/>
          <p:cNvSpPr/>
          <p:nvPr/>
        </p:nvSpPr>
        <p:spPr>
          <a:xfrm>
            <a:off x="3721216" y="3786107"/>
            <a:ext cx="1124376" cy="0"/>
          </a:xfrm>
          <a:prstGeom prst="line">
            <a:avLst/>
          </a:prstGeom>
          <a:noFill/>
          <a:ln w="22860">
            <a:solidFill>
              <a:srgbClr val="4F46E5"/>
            </a:solidFill>
            <a:prstDash val="solid"/>
            <a:tailEnd type="triangle"/>
          </a:ln>
        </p:spPr>
      </p:sp>
      <p:sp>
        <p:nvSpPr>
          <p:cNvPr id="20" name="Shape 18"/>
          <p:cNvSpPr/>
          <p:nvPr/>
        </p:nvSpPr>
        <p:spPr>
          <a:xfrm>
            <a:off x="3721216" y="3786107"/>
            <a:ext cx="1124376" cy="0"/>
          </a:xfrm>
          <a:prstGeom prst="line">
            <a:avLst/>
          </a:prstGeom>
          <a:noFill/>
          <a:ln w="22860">
            <a:solidFill>
              <a:srgbClr val="4F46E5"/>
            </a:solidFill>
            <a:prstDash val="solid"/>
            <a:tailEnd type="triangle"/>
          </a:ln>
        </p:spPr>
      </p:sp>
      <p:sp>
        <p:nvSpPr>
          <p:cNvPr id="21" name="Shape 19"/>
          <p:cNvSpPr/>
          <p:nvPr/>
        </p:nvSpPr>
        <p:spPr>
          <a:xfrm>
            <a:off x="5969969" y="3786107"/>
            <a:ext cx="992097" cy="0"/>
          </a:xfrm>
          <a:prstGeom prst="line">
            <a:avLst/>
          </a:prstGeom>
          <a:noFill/>
          <a:ln w="22860">
            <a:solidFill>
              <a:srgbClr val="4F46E5"/>
            </a:solidFill>
            <a:prstDash val="solid"/>
            <a:tailEnd type="triangle"/>
          </a:ln>
        </p:spPr>
      </p:sp>
      <p:sp>
        <p:nvSpPr>
          <p:cNvPr id="22" name="Shape 20"/>
          <p:cNvSpPr/>
          <p:nvPr/>
        </p:nvSpPr>
        <p:spPr>
          <a:xfrm>
            <a:off x="8549420" y="3786107"/>
            <a:ext cx="727538" cy="0"/>
          </a:xfrm>
          <a:prstGeom prst="line">
            <a:avLst/>
          </a:prstGeom>
          <a:noFill/>
          <a:ln w="22860">
            <a:solidFill>
              <a:srgbClr val="4F46E5"/>
            </a:solidFill>
            <a:prstDash val="solid"/>
            <a:tailEnd type="triangle"/>
          </a:ln>
        </p:spPr>
      </p:sp>
      <p:sp>
        <p:nvSpPr>
          <p:cNvPr id="23" name="Shape 21"/>
          <p:cNvSpPr/>
          <p:nvPr/>
        </p:nvSpPr>
        <p:spPr>
          <a:xfrm>
            <a:off x="2067721" y="2438989"/>
            <a:ext cx="1455075" cy="328565"/>
          </a:xfrm>
          <a:prstGeom prst="rect">
            <a:avLst/>
          </a:prstGeom>
          <a:solidFill>
            <a:srgbClr val="F2F4F5"/>
          </a:solidFill>
          <a:ln w="15240">
            <a:solidFill>
              <a:srgbClr val="626B73"/>
            </a:solidFill>
            <a:prstDash val="solid"/>
          </a:ln>
        </p:spPr>
      </p:sp>
      <p:sp>
        <p:nvSpPr>
          <p:cNvPr id="24" name="Shape 22"/>
          <p:cNvSpPr/>
          <p:nvPr/>
        </p:nvSpPr>
        <p:spPr>
          <a:xfrm>
            <a:off x="2067721" y="2898980"/>
            <a:ext cx="1455075" cy="328565"/>
          </a:xfrm>
          <a:prstGeom prst="roundRect">
            <a:avLst>
              <a:gd name="adj" fmla="val 22264"/>
            </a:avLst>
          </a:prstGeom>
          <a:solidFill>
            <a:srgbClr val="E4F2FB"/>
          </a:solidFill>
          <a:ln w="15240">
            <a:solidFill>
              <a:srgbClr val="0072B2"/>
            </a:solidFill>
            <a:prstDash val="solid"/>
          </a:ln>
        </p:spPr>
      </p:sp>
      <p:sp>
        <p:nvSpPr>
          <p:cNvPr id="25" name="Shape 23"/>
          <p:cNvSpPr/>
          <p:nvPr/>
        </p:nvSpPr>
        <p:spPr>
          <a:xfrm>
            <a:off x="2067721" y="3358972"/>
            <a:ext cx="1455075" cy="328565"/>
          </a:xfrm>
          <a:prstGeom prst="roundRect">
            <a:avLst>
              <a:gd name="adj" fmla="val 22264"/>
            </a:avLst>
          </a:prstGeom>
          <a:solidFill>
            <a:srgbClr val="E4F2FB"/>
          </a:solidFill>
          <a:ln w="15240">
            <a:solidFill>
              <a:srgbClr val="0072B2"/>
            </a:solidFill>
            <a:prstDash val="solid"/>
          </a:ln>
        </p:spPr>
      </p:sp>
      <p:sp>
        <p:nvSpPr>
          <p:cNvPr id="26" name="Shape 24"/>
          <p:cNvSpPr/>
          <p:nvPr/>
        </p:nvSpPr>
        <p:spPr>
          <a:xfrm>
            <a:off x="2067721" y="3818963"/>
            <a:ext cx="1455075" cy="328565"/>
          </a:xfrm>
          <a:prstGeom prst="roundRect">
            <a:avLst>
              <a:gd name="adj" fmla="val 22264"/>
            </a:avLst>
          </a:prstGeom>
          <a:solidFill>
            <a:srgbClr val="E4F2FB"/>
          </a:solidFill>
          <a:ln w="15240">
            <a:solidFill>
              <a:srgbClr val="0072B2"/>
            </a:solidFill>
            <a:prstDash val="solid"/>
          </a:ln>
        </p:spPr>
      </p:sp>
      <p:sp>
        <p:nvSpPr>
          <p:cNvPr id="27" name="Shape 25"/>
          <p:cNvSpPr/>
          <p:nvPr/>
        </p:nvSpPr>
        <p:spPr>
          <a:xfrm>
            <a:off x="2067721" y="4278955"/>
            <a:ext cx="1455075" cy="328565"/>
          </a:xfrm>
          <a:prstGeom prst="rect">
            <a:avLst/>
          </a:prstGeom>
          <a:solidFill>
            <a:srgbClr val="F2F4F5"/>
          </a:solidFill>
          <a:ln w="15240">
            <a:solidFill>
              <a:srgbClr val="626B73"/>
            </a:solidFill>
            <a:prstDash val="solid"/>
          </a:ln>
        </p:spPr>
      </p:sp>
      <p:sp>
        <p:nvSpPr>
          <p:cNvPr id="28" name="Shape 26"/>
          <p:cNvSpPr/>
          <p:nvPr/>
        </p:nvSpPr>
        <p:spPr>
          <a:xfrm>
            <a:off x="4845592" y="3326115"/>
            <a:ext cx="1124376" cy="919983"/>
          </a:xfrm>
          <a:prstGeom prst="rect">
            <a:avLst/>
          </a:prstGeom>
          <a:solidFill>
            <a:srgbClr val="F2F4F5"/>
          </a:solidFill>
          <a:ln w="15240">
            <a:solidFill>
              <a:srgbClr val="626B73"/>
            </a:solidFill>
            <a:prstDash val="solid"/>
          </a:ln>
        </p:spPr>
      </p:sp>
      <p:sp>
        <p:nvSpPr>
          <p:cNvPr id="29" name="Shape 27"/>
          <p:cNvSpPr/>
          <p:nvPr/>
        </p:nvSpPr>
        <p:spPr>
          <a:xfrm>
            <a:off x="6962065" y="2668984"/>
            <a:ext cx="1587355" cy="2168531"/>
          </a:xfrm>
          <a:prstGeom prst="roundRect">
            <a:avLst>
              <a:gd name="adj" fmla="val 4608"/>
            </a:avLst>
          </a:prstGeom>
          <a:solidFill>
            <a:srgbClr val="E4F2FB"/>
          </a:solidFill>
          <a:ln w="15240">
            <a:solidFill>
              <a:srgbClr val="0072B2"/>
            </a:solidFill>
            <a:prstDash val="solid"/>
          </a:ln>
        </p:spPr>
      </p:sp>
      <p:sp>
        <p:nvSpPr>
          <p:cNvPr id="30" name="Shape 28"/>
          <p:cNvSpPr/>
          <p:nvPr/>
        </p:nvSpPr>
        <p:spPr>
          <a:xfrm>
            <a:off x="7041433" y="2833267"/>
            <a:ext cx="1428619" cy="295709"/>
          </a:xfrm>
          <a:prstGeom prst="rect">
            <a:avLst/>
          </a:prstGeom>
          <a:solidFill>
            <a:srgbClr val="F2F4F5"/>
          </a:solidFill>
          <a:ln w="15240">
            <a:solidFill>
              <a:srgbClr val="626B73"/>
            </a:solidFill>
            <a:prstDash val="solid"/>
          </a:ln>
        </p:spPr>
      </p:sp>
      <p:sp>
        <p:nvSpPr>
          <p:cNvPr id="31" name="Shape 29"/>
          <p:cNvSpPr/>
          <p:nvPr/>
        </p:nvSpPr>
        <p:spPr>
          <a:xfrm>
            <a:off x="7041433" y="3214403"/>
            <a:ext cx="1428619" cy="295709"/>
          </a:xfrm>
          <a:prstGeom prst="roundRect">
            <a:avLst>
              <a:gd name="adj" fmla="val 24738"/>
            </a:avLst>
          </a:prstGeom>
          <a:solidFill>
            <a:srgbClr val="E4F2FB"/>
          </a:solidFill>
          <a:ln w="15240">
            <a:solidFill>
              <a:srgbClr val="0072B2"/>
            </a:solidFill>
            <a:prstDash val="solid"/>
          </a:ln>
        </p:spPr>
      </p:sp>
      <p:sp>
        <p:nvSpPr>
          <p:cNvPr id="32" name="Shape 30"/>
          <p:cNvSpPr/>
          <p:nvPr/>
        </p:nvSpPr>
        <p:spPr>
          <a:xfrm>
            <a:off x="7041433" y="3595539"/>
            <a:ext cx="1428619" cy="295709"/>
          </a:xfrm>
          <a:prstGeom prst="roundRect">
            <a:avLst>
              <a:gd name="adj" fmla="val 24738"/>
            </a:avLst>
          </a:prstGeom>
          <a:solidFill>
            <a:srgbClr val="E4F2FB"/>
          </a:solidFill>
          <a:ln w="15240">
            <a:solidFill>
              <a:srgbClr val="0072B2"/>
            </a:solidFill>
            <a:prstDash val="solid"/>
          </a:ln>
        </p:spPr>
      </p:sp>
      <p:sp>
        <p:nvSpPr>
          <p:cNvPr id="33" name="Shape 31"/>
          <p:cNvSpPr/>
          <p:nvPr/>
        </p:nvSpPr>
        <p:spPr>
          <a:xfrm>
            <a:off x="7041433" y="3976675"/>
            <a:ext cx="1428619" cy="295709"/>
          </a:xfrm>
          <a:prstGeom prst="roundRect">
            <a:avLst>
              <a:gd name="adj" fmla="val 24738"/>
            </a:avLst>
          </a:prstGeom>
          <a:solidFill>
            <a:srgbClr val="E4F2FB"/>
          </a:solidFill>
          <a:ln w="15240">
            <a:solidFill>
              <a:srgbClr val="0072B2"/>
            </a:solidFill>
            <a:prstDash val="solid"/>
          </a:ln>
        </p:spPr>
      </p:sp>
      <p:sp>
        <p:nvSpPr>
          <p:cNvPr id="34" name="Shape 32"/>
          <p:cNvSpPr/>
          <p:nvPr/>
        </p:nvSpPr>
        <p:spPr>
          <a:xfrm>
            <a:off x="7041433" y="4357810"/>
            <a:ext cx="1428619" cy="295709"/>
          </a:xfrm>
          <a:prstGeom prst="roundRect">
            <a:avLst>
              <a:gd name="adj" fmla="val 24738"/>
            </a:avLst>
          </a:prstGeom>
          <a:solidFill>
            <a:srgbClr val="F9EAF4"/>
          </a:solidFill>
          <a:ln w="15240">
            <a:solidFill>
              <a:srgbClr val="CC79A7"/>
            </a:solidFill>
            <a:prstDash val="solid"/>
          </a:ln>
        </p:spPr>
      </p:sp>
      <p:sp>
        <p:nvSpPr>
          <p:cNvPr id="35" name="Shape 33"/>
          <p:cNvSpPr/>
          <p:nvPr/>
        </p:nvSpPr>
        <p:spPr>
          <a:xfrm>
            <a:off x="9276958" y="3326115"/>
            <a:ext cx="1124376" cy="919983"/>
          </a:xfrm>
          <a:prstGeom prst="rect">
            <a:avLst/>
          </a:prstGeom>
          <a:solidFill>
            <a:srgbClr val="E5F7EF"/>
          </a:solidFill>
          <a:ln w="15240">
            <a:solidFill>
              <a:srgbClr val="009E73"/>
            </a:solidFill>
            <a:prstDash val="solid"/>
          </a:ln>
        </p:spPr>
      </p:sp>
      <p:sp>
        <p:nvSpPr>
          <p:cNvPr id="36" name="Shape 34"/>
          <p:cNvSpPr/>
          <p:nvPr/>
        </p:nvSpPr>
        <p:spPr>
          <a:xfrm>
            <a:off x="2001582" y="5382934"/>
            <a:ext cx="145508" cy="144569"/>
          </a:xfrm>
          <a:prstGeom prst="roundRect">
            <a:avLst>
              <a:gd name="adj" fmla="val 50600"/>
            </a:avLst>
          </a:prstGeom>
          <a:solidFill>
            <a:srgbClr val="E4F2FB"/>
          </a:solidFill>
          <a:ln w="15240">
            <a:solidFill>
              <a:srgbClr val="0072B2"/>
            </a:solidFill>
            <a:prstDash val="solid"/>
          </a:ln>
        </p:spPr>
      </p:sp>
      <p:sp>
        <p:nvSpPr>
          <p:cNvPr id="37" name="Shape 35"/>
          <p:cNvSpPr/>
          <p:nvPr/>
        </p:nvSpPr>
        <p:spPr>
          <a:xfrm>
            <a:off x="3721216" y="5382934"/>
            <a:ext cx="145508" cy="144569"/>
          </a:xfrm>
          <a:prstGeom prst="rect">
            <a:avLst/>
          </a:prstGeom>
          <a:solidFill>
            <a:srgbClr val="E5F7EF"/>
          </a:solidFill>
          <a:ln w="15240">
            <a:solidFill>
              <a:srgbClr val="009E73"/>
            </a:solidFill>
            <a:prstDash val="solid"/>
          </a:ln>
        </p:spPr>
      </p:sp>
      <p:sp>
        <p:nvSpPr>
          <p:cNvPr id="38" name="Shape 36"/>
          <p:cNvSpPr/>
          <p:nvPr/>
        </p:nvSpPr>
        <p:spPr>
          <a:xfrm>
            <a:off x="5440850" y="5382934"/>
            <a:ext cx="145508" cy="144569"/>
          </a:xfrm>
          <a:prstGeom prst="roundRect">
            <a:avLst>
              <a:gd name="adj" fmla="val 50600"/>
            </a:avLst>
          </a:prstGeom>
          <a:solidFill>
            <a:srgbClr val="F9EAF4"/>
          </a:solidFill>
          <a:ln w="15240">
            <a:solidFill>
              <a:srgbClr val="CC79A7"/>
            </a:solidFill>
            <a:prstDash val="solid"/>
          </a:ln>
        </p:spPr>
      </p:sp>
      <p:sp>
        <p:nvSpPr>
          <p:cNvPr id="39" name="Shape 37"/>
          <p:cNvSpPr/>
          <p:nvPr/>
        </p:nvSpPr>
        <p:spPr>
          <a:xfrm>
            <a:off x="7160485" y="5382934"/>
            <a:ext cx="145508" cy="144569"/>
          </a:xfrm>
          <a:prstGeom prst="rect">
            <a:avLst/>
          </a:prstGeom>
          <a:solidFill>
            <a:srgbClr val="F2F4F5"/>
          </a:solidFill>
          <a:ln w="15240">
            <a:solidFill>
              <a:srgbClr val="626B73"/>
            </a:solidFill>
            <a:prstDash val="solid"/>
          </a:ln>
        </p:spPr>
      </p:sp>
      <p:sp>
        <p:nvSpPr>
          <p:cNvPr id="40" name="Text 38"/>
          <p:cNvSpPr txBox="1"/>
          <p:nvPr/>
        </p:nvSpPr>
        <p:spPr>
          <a:xfrm>
            <a:off x="2140454" y="2486401"/>
            <a:ext cx="1309610"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Instructions</a:t>
            </a:r>
            <a:endParaRPr lang="en-US" sz="1587" dirty="0"/>
          </a:p>
        </p:txBody>
      </p:sp>
      <p:sp>
        <p:nvSpPr>
          <p:cNvPr id="41" name="Text 39"/>
          <p:cNvSpPr txBox="1"/>
          <p:nvPr/>
        </p:nvSpPr>
        <p:spPr>
          <a:xfrm>
            <a:off x="2286196" y="2946392"/>
            <a:ext cx="1018126"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Question</a:t>
            </a:r>
            <a:endParaRPr lang="en-US" sz="1587" dirty="0"/>
          </a:p>
        </p:txBody>
      </p:sp>
      <p:sp>
        <p:nvSpPr>
          <p:cNvPr id="42" name="Text 40"/>
          <p:cNvSpPr txBox="1"/>
          <p:nvPr/>
        </p:nvSpPr>
        <p:spPr>
          <a:xfrm>
            <a:off x="2175785" y="3406384"/>
            <a:ext cx="1238947"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Documents</a:t>
            </a:r>
            <a:endParaRPr lang="en-US" sz="1587" dirty="0"/>
          </a:p>
        </p:txBody>
      </p:sp>
      <p:sp>
        <p:nvSpPr>
          <p:cNvPr id="43" name="Text 41"/>
          <p:cNvSpPr txBox="1"/>
          <p:nvPr/>
        </p:nvSpPr>
        <p:spPr>
          <a:xfrm>
            <a:off x="2387774" y="3866375"/>
            <a:ext cx="814970"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History</a:t>
            </a:r>
            <a:endParaRPr lang="en-US" sz="1587" dirty="0"/>
          </a:p>
        </p:txBody>
      </p:sp>
      <p:sp>
        <p:nvSpPr>
          <p:cNvPr id="44" name="Text 42"/>
          <p:cNvSpPr txBox="1"/>
          <p:nvPr/>
        </p:nvSpPr>
        <p:spPr>
          <a:xfrm>
            <a:off x="2152599" y="4326367"/>
            <a:ext cx="1285320"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Tool results</a:t>
            </a:r>
            <a:endParaRPr lang="en-US" sz="1587" dirty="0"/>
          </a:p>
        </p:txBody>
      </p:sp>
      <p:sp>
        <p:nvSpPr>
          <p:cNvPr id="45" name="Text 43"/>
          <p:cNvSpPr txBox="1"/>
          <p:nvPr/>
        </p:nvSpPr>
        <p:spPr>
          <a:xfrm>
            <a:off x="3777008" y="3467545"/>
            <a:ext cx="1012792" cy="219992"/>
          </a:xfrm>
          <a:prstGeom prst="rect">
            <a:avLst/>
          </a:prstGeom>
          <a:noFill/>
          <a:ln/>
        </p:spPr>
        <p:txBody>
          <a:bodyPr wrap="square" lIns="0" tIns="0" rIns="0" bIns="0" rtlCol="0" anchor="ctr"/>
          <a:lstStyle/>
          <a:p>
            <a:pPr algn="ctr" indent="0" marL="0">
              <a:lnSpc>
                <a:spcPct val="116000"/>
              </a:lnSpc>
              <a:buNone/>
            </a:pPr>
            <a:r>
              <a:rPr lang="en-US" sz="1493" dirty="0">
                <a:solidFill>
                  <a:srgbClr val="0072B2"/>
                </a:solidFill>
                <a:latin typeface="Arial" pitchFamily="34" charset="0"/>
                <a:ea typeface="Arial" pitchFamily="34" charset="-122"/>
                <a:cs typeface="Arial" pitchFamily="34" charset="-120"/>
              </a:rPr>
              <a:t>candidates</a:t>
            </a:r>
            <a:endParaRPr lang="en-US" sz="1493" dirty="0"/>
          </a:p>
        </p:txBody>
      </p:sp>
      <p:sp>
        <p:nvSpPr>
          <p:cNvPr id="46" name="Text 44"/>
          <p:cNvSpPr txBox="1"/>
          <p:nvPr/>
        </p:nvSpPr>
        <p:spPr>
          <a:xfrm>
            <a:off x="4822721" y="3394246"/>
            <a:ext cx="1170119"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Select</a:t>
            </a:r>
            <a:endParaRPr lang="en-US" sz="1773" dirty="0"/>
          </a:p>
        </p:txBody>
      </p:sp>
      <p:sp>
        <p:nvSpPr>
          <p:cNvPr id="47" name="Text 45"/>
          <p:cNvSpPr txBox="1"/>
          <p:nvPr/>
        </p:nvSpPr>
        <p:spPr>
          <a:xfrm>
            <a:off x="4822721" y="3655487"/>
            <a:ext cx="1170119"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compress</a:t>
            </a:r>
            <a:endParaRPr lang="en-US" sz="1773" dirty="0"/>
          </a:p>
        </p:txBody>
      </p:sp>
      <p:sp>
        <p:nvSpPr>
          <p:cNvPr id="48" name="Text 46"/>
          <p:cNvSpPr txBox="1"/>
          <p:nvPr/>
        </p:nvSpPr>
        <p:spPr>
          <a:xfrm>
            <a:off x="4822721" y="3916727"/>
            <a:ext cx="1170119"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order</a:t>
            </a:r>
            <a:endParaRPr lang="en-US" sz="1773" dirty="0"/>
          </a:p>
        </p:txBody>
      </p:sp>
      <p:sp>
        <p:nvSpPr>
          <p:cNvPr id="49" name="Text 47"/>
          <p:cNvSpPr txBox="1"/>
          <p:nvPr/>
        </p:nvSpPr>
        <p:spPr>
          <a:xfrm>
            <a:off x="5986120" y="3467545"/>
            <a:ext cx="959795" cy="219992"/>
          </a:xfrm>
          <a:prstGeom prst="rect">
            <a:avLst/>
          </a:prstGeom>
          <a:noFill/>
          <a:ln/>
        </p:spPr>
        <p:txBody>
          <a:bodyPr wrap="square" lIns="0" tIns="0" rIns="0" bIns="0" rtlCol="0" anchor="ctr"/>
          <a:lstStyle/>
          <a:p>
            <a:pPr algn="ctr" indent="0" marL="0">
              <a:lnSpc>
                <a:spcPct val="116000"/>
              </a:lnSpc>
              <a:buNone/>
            </a:pPr>
            <a:r>
              <a:rPr lang="en-US" sz="1493" dirty="0">
                <a:solidFill>
                  <a:srgbClr val="0072B2"/>
                </a:solidFill>
                <a:latin typeface="Arial" pitchFamily="34" charset="0"/>
                <a:ea typeface="Arial" pitchFamily="34" charset="-122"/>
                <a:cs typeface="Arial" pitchFamily="34" charset="-120"/>
              </a:rPr>
              <a:t>kept items</a:t>
            </a:r>
            <a:endParaRPr lang="en-US" sz="1493" dirty="0"/>
          </a:p>
        </p:txBody>
      </p:sp>
      <p:sp>
        <p:nvSpPr>
          <p:cNvPr id="50" name="Text 48"/>
          <p:cNvSpPr txBox="1"/>
          <p:nvPr/>
        </p:nvSpPr>
        <p:spPr>
          <a:xfrm>
            <a:off x="7000488" y="2224354"/>
            <a:ext cx="1510509"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Token budget</a:t>
            </a:r>
            <a:endParaRPr lang="en-US" sz="1680" dirty="0"/>
          </a:p>
        </p:txBody>
      </p:sp>
      <p:sp>
        <p:nvSpPr>
          <p:cNvPr id="51" name="Text 49"/>
          <p:cNvSpPr txBox="1"/>
          <p:nvPr/>
        </p:nvSpPr>
        <p:spPr>
          <a:xfrm>
            <a:off x="7452503" y="2871126"/>
            <a:ext cx="606480" cy="219992"/>
          </a:xfrm>
          <a:prstGeom prst="rect">
            <a:avLst/>
          </a:prstGeom>
          <a:noFill/>
          <a:ln/>
        </p:spPr>
        <p:txBody>
          <a:bodyPr wrap="square" lIns="0" tIns="0" rIns="0" bIns="0" rtlCol="0" anchor="ctr"/>
          <a:lstStyle/>
          <a:p>
            <a:pPr algn="ctr" indent="0" marL="0">
              <a:lnSpc>
                <a:spcPct val="116000"/>
              </a:lnSpc>
              <a:buNone/>
            </a:pPr>
            <a:r>
              <a:rPr lang="en-US" sz="1493" b="1" dirty="0">
                <a:solidFill>
                  <a:srgbClr val="1E1B4B"/>
                </a:solidFill>
                <a:latin typeface="Arial" pitchFamily="34" charset="0"/>
                <a:ea typeface="Arial" pitchFamily="34" charset="-122"/>
                <a:cs typeface="Arial" pitchFamily="34" charset="-120"/>
              </a:rPr>
              <a:t>Rules</a:t>
            </a:r>
            <a:endParaRPr lang="en-US" sz="1493" dirty="0"/>
          </a:p>
        </p:txBody>
      </p:sp>
      <p:sp>
        <p:nvSpPr>
          <p:cNvPr id="52" name="Text 50"/>
          <p:cNvSpPr txBox="1"/>
          <p:nvPr/>
        </p:nvSpPr>
        <p:spPr>
          <a:xfrm>
            <a:off x="7112437" y="3252261"/>
            <a:ext cx="1286611" cy="219992"/>
          </a:xfrm>
          <a:prstGeom prst="rect">
            <a:avLst/>
          </a:prstGeom>
          <a:noFill/>
          <a:ln/>
        </p:spPr>
        <p:txBody>
          <a:bodyPr wrap="square" lIns="0" tIns="0" rIns="0" bIns="0" rtlCol="0" anchor="ctr"/>
          <a:lstStyle/>
          <a:p>
            <a:pPr algn="ctr" indent="0" marL="0">
              <a:lnSpc>
                <a:spcPct val="116000"/>
              </a:lnSpc>
              <a:buNone/>
            </a:pPr>
            <a:r>
              <a:rPr lang="en-US" sz="1493" b="1" dirty="0">
                <a:solidFill>
                  <a:srgbClr val="1E1B4B"/>
                </a:solidFill>
                <a:latin typeface="Arial" pitchFamily="34" charset="0"/>
                <a:ea typeface="Arial" pitchFamily="34" charset="-122"/>
                <a:cs typeface="Arial" pitchFamily="34" charset="-120"/>
              </a:rPr>
              <a:t>Best sources</a:t>
            </a:r>
            <a:endParaRPr lang="en-US" sz="1493" dirty="0"/>
          </a:p>
        </p:txBody>
      </p:sp>
      <p:sp>
        <p:nvSpPr>
          <p:cNvPr id="53" name="Text 51"/>
          <p:cNvSpPr txBox="1"/>
          <p:nvPr/>
        </p:nvSpPr>
        <p:spPr>
          <a:xfrm>
            <a:off x="7130103" y="3633397"/>
            <a:ext cx="1251279" cy="219992"/>
          </a:xfrm>
          <a:prstGeom prst="rect">
            <a:avLst/>
          </a:prstGeom>
          <a:noFill/>
          <a:ln/>
        </p:spPr>
        <p:txBody>
          <a:bodyPr wrap="square" lIns="0" tIns="0" rIns="0" bIns="0" rtlCol="0" anchor="ctr"/>
          <a:lstStyle/>
          <a:p>
            <a:pPr algn="ctr" indent="0" marL="0">
              <a:lnSpc>
                <a:spcPct val="116000"/>
              </a:lnSpc>
              <a:buNone/>
            </a:pPr>
            <a:r>
              <a:rPr lang="en-US" sz="1493" b="1" dirty="0">
                <a:solidFill>
                  <a:srgbClr val="1E1B4B"/>
                </a:solidFill>
                <a:latin typeface="Arial" pitchFamily="34" charset="0"/>
                <a:ea typeface="Arial" pitchFamily="34" charset="-122"/>
                <a:cs typeface="Arial" pitchFamily="34" charset="-120"/>
              </a:rPr>
              <a:t>Recent turns</a:t>
            </a:r>
            <a:endParaRPr lang="en-US" sz="1493" dirty="0"/>
          </a:p>
        </p:txBody>
      </p:sp>
      <p:sp>
        <p:nvSpPr>
          <p:cNvPr id="54" name="Text 52"/>
          <p:cNvSpPr txBox="1"/>
          <p:nvPr/>
        </p:nvSpPr>
        <p:spPr>
          <a:xfrm>
            <a:off x="7302344" y="4014533"/>
            <a:ext cx="906798" cy="219992"/>
          </a:xfrm>
          <a:prstGeom prst="rect">
            <a:avLst/>
          </a:prstGeom>
          <a:noFill/>
          <a:ln/>
        </p:spPr>
        <p:txBody>
          <a:bodyPr wrap="square" lIns="0" tIns="0" rIns="0" bIns="0" rtlCol="0" anchor="ctr"/>
          <a:lstStyle/>
          <a:p>
            <a:pPr algn="ctr" indent="0" marL="0">
              <a:lnSpc>
                <a:spcPct val="116000"/>
              </a:lnSpc>
              <a:buNone/>
            </a:pPr>
            <a:r>
              <a:rPr lang="en-US" sz="1493" b="1" dirty="0">
                <a:solidFill>
                  <a:srgbClr val="1E1B4B"/>
                </a:solidFill>
                <a:latin typeface="Arial" pitchFamily="34" charset="0"/>
                <a:ea typeface="Arial" pitchFamily="34" charset="-122"/>
                <a:cs typeface="Arial" pitchFamily="34" charset="-120"/>
              </a:rPr>
              <a:t>Question</a:t>
            </a:r>
            <a:endParaRPr lang="en-US" sz="1493" dirty="0"/>
          </a:p>
        </p:txBody>
      </p:sp>
      <p:sp>
        <p:nvSpPr>
          <p:cNvPr id="55" name="Text 53"/>
          <p:cNvSpPr txBox="1"/>
          <p:nvPr/>
        </p:nvSpPr>
        <p:spPr>
          <a:xfrm>
            <a:off x="7068273" y="4395669"/>
            <a:ext cx="1374939" cy="219992"/>
          </a:xfrm>
          <a:prstGeom prst="rect">
            <a:avLst/>
          </a:prstGeom>
          <a:noFill/>
          <a:ln/>
        </p:spPr>
        <p:txBody>
          <a:bodyPr wrap="square" lIns="0" tIns="0" rIns="0" bIns="0" rtlCol="0" anchor="ctr"/>
          <a:lstStyle/>
          <a:p>
            <a:pPr algn="ctr" indent="0" marL="0">
              <a:lnSpc>
                <a:spcPct val="116000"/>
              </a:lnSpc>
              <a:buNone/>
            </a:pPr>
            <a:r>
              <a:rPr lang="en-US" sz="1493" b="1" dirty="0">
                <a:solidFill>
                  <a:srgbClr val="1E1B4B"/>
                </a:solidFill>
                <a:latin typeface="Arial" pitchFamily="34" charset="0"/>
                <a:ea typeface="Arial" pitchFamily="34" charset="-122"/>
                <a:cs typeface="Arial" pitchFamily="34" charset="-120"/>
              </a:rPr>
              <a:t>Answer space</a:t>
            </a:r>
            <a:endParaRPr lang="en-US" sz="1493" dirty="0"/>
          </a:p>
        </p:txBody>
      </p:sp>
      <p:sp>
        <p:nvSpPr>
          <p:cNvPr id="56" name="Text 54"/>
          <p:cNvSpPr txBox="1"/>
          <p:nvPr/>
        </p:nvSpPr>
        <p:spPr>
          <a:xfrm>
            <a:off x="8561368" y="3467545"/>
            <a:ext cx="703642" cy="219992"/>
          </a:xfrm>
          <a:prstGeom prst="rect">
            <a:avLst/>
          </a:prstGeom>
          <a:noFill/>
          <a:ln/>
        </p:spPr>
        <p:txBody>
          <a:bodyPr wrap="square" lIns="0" tIns="0" rIns="0" bIns="0" rtlCol="0" anchor="ctr"/>
          <a:lstStyle/>
          <a:p>
            <a:pPr algn="ctr" indent="0" marL="0">
              <a:lnSpc>
                <a:spcPct val="116000"/>
              </a:lnSpc>
              <a:buNone/>
            </a:pPr>
            <a:r>
              <a:rPr lang="en-US" sz="1493" dirty="0">
                <a:solidFill>
                  <a:srgbClr val="0072B2"/>
                </a:solidFill>
                <a:latin typeface="Arial" pitchFamily="34" charset="0"/>
                <a:ea typeface="Arial" pitchFamily="34" charset="-122"/>
                <a:cs typeface="Arial" pitchFamily="34" charset="-120"/>
              </a:rPr>
              <a:t>context</a:t>
            </a:r>
            <a:endParaRPr lang="en-US" sz="1493" dirty="0"/>
          </a:p>
        </p:txBody>
      </p:sp>
      <p:sp>
        <p:nvSpPr>
          <p:cNvPr id="57" name="Text 55"/>
          <p:cNvSpPr txBox="1"/>
          <p:nvPr/>
        </p:nvSpPr>
        <p:spPr>
          <a:xfrm>
            <a:off x="9419244" y="3511117"/>
            <a:ext cx="839805"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Fixed</a:t>
            </a:r>
            <a:endParaRPr lang="en-US" sz="1867" dirty="0"/>
          </a:p>
        </p:txBody>
      </p:sp>
      <p:sp>
        <p:nvSpPr>
          <p:cNvPr id="58" name="Text 56"/>
          <p:cNvSpPr txBox="1"/>
          <p:nvPr/>
        </p:nvSpPr>
        <p:spPr>
          <a:xfrm>
            <a:off x="9419244" y="3786107"/>
            <a:ext cx="839805"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model</a:t>
            </a:r>
            <a:endParaRPr lang="en-US" sz="1867" dirty="0"/>
          </a:p>
        </p:txBody>
      </p:sp>
      <p:sp>
        <p:nvSpPr>
          <p:cNvPr id="59" name="Text 57"/>
          <p:cNvSpPr txBox="1"/>
          <p:nvPr/>
        </p:nvSpPr>
        <p:spPr>
          <a:xfrm>
            <a:off x="2226457" y="5345223"/>
            <a:ext cx="933296"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Input data</a:t>
            </a:r>
            <a:endParaRPr lang="en-US" sz="1493" dirty="0"/>
          </a:p>
        </p:txBody>
      </p:sp>
      <p:sp>
        <p:nvSpPr>
          <p:cNvPr id="60" name="Text 58"/>
          <p:cNvSpPr txBox="1"/>
          <p:nvPr/>
        </p:nvSpPr>
        <p:spPr>
          <a:xfrm>
            <a:off x="3946091" y="5345223"/>
            <a:ext cx="606480"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Model</a:t>
            </a:r>
            <a:endParaRPr lang="en-US" sz="1493" dirty="0"/>
          </a:p>
        </p:txBody>
      </p:sp>
      <p:sp>
        <p:nvSpPr>
          <p:cNvPr id="61" name="Text 59"/>
          <p:cNvSpPr txBox="1"/>
          <p:nvPr/>
        </p:nvSpPr>
        <p:spPr>
          <a:xfrm>
            <a:off x="5665726" y="5345223"/>
            <a:ext cx="659478"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Output</a:t>
            </a:r>
            <a:endParaRPr lang="en-US" sz="1493" dirty="0"/>
          </a:p>
        </p:txBody>
      </p:sp>
      <p:sp>
        <p:nvSpPr>
          <p:cNvPr id="62" name="Text 60"/>
          <p:cNvSpPr txBox="1"/>
          <p:nvPr/>
        </p:nvSpPr>
        <p:spPr>
          <a:xfrm>
            <a:off x="7385360" y="5345223"/>
            <a:ext cx="1171784"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Human / tool</a:t>
            </a:r>
            <a:endParaRPr lang="en-US" sz="1493"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Route one new message</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Chosen prompt</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text</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messages</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reply</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label</a:t>
            </a:r>
            <a:endParaRPr lang="en-US" sz="1441" dirty="0"/>
          </a:p>
        </p:txBody>
      </p:sp>
      <p:sp>
        <p:nvSpPr>
          <p:cNvPr id="15" name="Shape 13"/>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16" name="Text 14"/>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Message</a:t>
            </a:r>
            <a:endParaRPr lang="en-US" sz="1561" dirty="0"/>
          </a:p>
        </p:txBody>
      </p:sp>
      <p:sp>
        <p:nvSpPr>
          <p:cNvPr id="17" name="Text 15"/>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new</a:t>
            </a:r>
            <a:endParaRPr lang="en-US" sz="1441" dirty="0"/>
          </a:p>
        </p:txBody>
      </p:sp>
      <p:sp>
        <p:nvSpPr>
          <p:cNvPr id="18" name="Shape 16"/>
          <p:cNvSpPr/>
          <p:nvPr/>
        </p:nvSpPr>
        <p:spPr>
          <a:xfrm>
            <a:off x="2960139" y="2939089"/>
            <a:ext cx="1927790" cy="1799677"/>
          </a:xfrm>
          <a:prstGeom prst="rect">
            <a:avLst/>
          </a:prstGeom>
          <a:solidFill>
            <a:srgbClr val="F2F4F5"/>
          </a:solidFill>
          <a:ln w="15240">
            <a:solidFill>
              <a:srgbClr val="626B73"/>
            </a:solidFill>
            <a:prstDash val="solid"/>
          </a:ln>
        </p:spPr>
      </p:sp>
      <p:sp>
        <p:nvSpPr>
          <p:cNvPr id="19" name="Text 17"/>
          <p:cNvSpPr txBox="1"/>
          <p:nvPr/>
        </p:nvSpPr>
        <p:spPr>
          <a:xfrm>
            <a:off x="3021145"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Prompt</a:t>
            </a:r>
            <a:endParaRPr lang="en-US" sz="1561" dirty="0"/>
          </a:p>
        </p:txBody>
      </p:sp>
      <p:sp>
        <p:nvSpPr>
          <p:cNvPr id="20" name="Text 18"/>
          <p:cNvSpPr txBox="1"/>
          <p:nvPr/>
        </p:nvSpPr>
        <p:spPr>
          <a:xfrm>
            <a:off x="3021145"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chosen</a:t>
            </a:r>
            <a:endParaRPr lang="en-US" sz="1441" dirty="0"/>
          </a:p>
        </p:txBody>
      </p:sp>
      <p:sp>
        <p:nvSpPr>
          <p:cNvPr id="21" name="Shape 19"/>
          <p:cNvSpPr/>
          <p:nvPr/>
        </p:nvSpPr>
        <p:spPr>
          <a:xfrm>
            <a:off x="5131953" y="2939089"/>
            <a:ext cx="1927790" cy="1799677"/>
          </a:xfrm>
          <a:prstGeom prst="rect">
            <a:avLst/>
          </a:prstGeom>
          <a:solidFill>
            <a:srgbClr val="E5F7EF"/>
          </a:solidFill>
          <a:ln w="15240">
            <a:solidFill>
              <a:srgbClr val="009E73"/>
            </a:solidFill>
            <a:prstDash val="solid"/>
          </a:ln>
        </p:spPr>
      </p:sp>
      <p:sp>
        <p:nvSpPr>
          <p:cNvPr id="22" name="Text 20"/>
          <p:cNvSpPr txBox="1"/>
          <p:nvPr/>
        </p:nvSpPr>
        <p:spPr>
          <a:xfrm>
            <a:off x="5192959"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Generate</a:t>
            </a:r>
            <a:endParaRPr lang="en-US" sz="1561" dirty="0"/>
          </a:p>
        </p:txBody>
      </p:sp>
      <p:sp>
        <p:nvSpPr>
          <p:cNvPr id="23" name="Text 21"/>
          <p:cNvSpPr txBox="1"/>
          <p:nvPr/>
        </p:nvSpPr>
        <p:spPr>
          <a:xfrm>
            <a:off x="5192959"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 8 tokens</a:t>
            </a:r>
            <a:endParaRPr lang="en-US" sz="1441" dirty="0"/>
          </a:p>
        </p:txBody>
      </p:sp>
      <p:sp>
        <p:nvSpPr>
          <p:cNvPr id="24" name="Shape 22"/>
          <p:cNvSpPr/>
          <p:nvPr/>
        </p:nvSpPr>
        <p:spPr>
          <a:xfrm>
            <a:off x="7303767" y="2939089"/>
            <a:ext cx="1927790" cy="1799677"/>
          </a:xfrm>
          <a:prstGeom prst="roundRect">
            <a:avLst>
              <a:gd name="adj" fmla="val 4065"/>
            </a:avLst>
          </a:prstGeom>
          <a:solidFill>
            <a:srgbClr val="FFF0E6"/>
          </a:solidFill>
          <a:ln w="15240">
            <a:solidFill>
              <a:srgbClr val="D55E00"/>
            </a:solidFill>
            <a:prstDash val="solid"/>
          </a:ln>
        </p:spPr>
      </p:sp>
      <p:sp>
        <p:nvSpPr>
          <p:cNvPr id="25" name="Text 23"/>
          <p:cNvSpPr txBox="1"/>
          <p:nvPr/>
        </p:nvSpPr>
        <p:spPr>
          <a:xfrm>
            <a:off x="7364773"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Parse</a:t>
            </a:r>
            <a:endParaRPr lang="en-US" sz="1561" dirty="0"/>
          </a:p>
        </p:txBody>
      </p:sp>
      <p:sp>
        <p:nvSpPr>
          <p:cNvPr id="26" name="Text 24"/>
          <p:cNvSpPr txBox="1"/>
          <p:nvPr/>
        </p:nvSpPr>
        <p:spPr>
          <a:xfrm>
            <a:off x="7364773"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one label</a:t>
            </a:r>
            <a:endParaRPr lang="en-US" sz="1441" dirty="0"/>
          </a:p>
        </p:txBody>
      </p:sp>
      <p:sp>
        <p:nvSpPr>
          <p:cNvPr id="27" name="Text 25"/>
          <p:cNvSpPr txBox="1"/>
          <p:nvPr/>
        </p:nvSpPr>
        <p:spPr>
          <a:xfrm>
            <a:off x="7326644"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label_scorer</a:t>
            </a:r>
            <a:endParaRPr lang="en-US" sz="1441" dirty="0"/>
          </a:p>
        </p:txBody>
      </p:sp>
      <p:sp>
        <p:nvSpPr>
          <p:cNvPr id="28" name="Shape 26"/>
          <p:cNvSpPr/>
          <p:nvPr/>
        </p:nvSpPr>
        <p:spPr>
          <a:xfrm>
            <a:off x="9475580" y="2939089"/>
            <a:ext cx="1927790" cy="1799677"/>
          </a:xfrm>
          <a:prstGeom prst="roundRect">
            <a:avLst>
              <a:gd name="adj" fmla="val 4065"/>
            </a:avLst>
          </a:prstGeom>
          <a:solidFill>
            <a:srgbClr val="F9EAF4"/>
          </a:solidFill>
          <a:ln w="15240">
            <a:solidFill>
              <a:srgbClr val="CC79A7"/>
            </a:solidFill>
            <a:prstDash val="solid"/>
          </a:ln>
        </p:spPr>
      </p:sp>
      <p:sp>
        <p:nvSpPr>
          <p:cNvPr id="29" name="Text 27"/>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Route</a:t>
            </a:r>
            <a:endParaRPr lang="en-US" sz="1561" dirty="0"/>
          </a:p>
        </p:txBody>
      </p:sp>
      <p:sp>
        <p:nvSpPr>
          <p:cNvPr id="30" name="Text 28"/>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IT_ACCESS</a:t>
            </a:r>
            <a:endParaRPr lang="en-US" sz="1441" dirty="0"/>
          </a:p>
        </p:txBody>
      </p:sp>
      <p:sp>
        <p:nvSpPr>
          <p:cNvPr id="31" name="Shape 29"/>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2" name="Text 30"/>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3" name="Shape 31"/>
          <p:cNvSpPr/>
          <p:nvPr/>
        </p:nvSpPr>
        <p:spPr>
          <a:xfrm>
            <a:off x="1676436" y="5630979"/>
            <a:ext cx="198270" cy="198270"/>
          </a:xfrm>
          <a:prstGeom prst="rect">
            <a:avLst/>
          </a:prstGeom>
          <a:solidFill>
            <a:srgbClr val="E5F7EF"/>
          </a:solidFill>
          <a:ln w="15240">
            <a:solidFill>
              <a:srgbClr val="009E73"/>
            </a:solidFill>
            <a:prstDash val="solid"/>
          </a:ln>
        </p:spPr>
      </p:sp>
      <p:sp>
        <p:nvSpPr>
          <p:cNvPr id="34" name="Text 32"/>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5" name="Shape 33"/>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36" name="Text 34"/>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37" name="Shape 35"/>
          <p:cNvSpPr/>
          <p:nvPr/>
        </p:nvSpPr>
        <p:spPr>
          <a:xfrm>
            <a:off x="3705159" y="5630979"/>
            <a:ext cx="198270" cy="198270"/>
          </a:xfrm>
          <a:prstGeom prst="roundRect">
            <a:avLst>
              <a:gd name="adj" fmla="val 36895"/>
            </a:avLst>
          </a:prstGeom>
          <a:solidFill>
            <a:srgbClr val="F9EAF4"/>
          </a:solidFill>
          <a:ln w="15240">
            <a:solidFill>
              <a:srgbClr val="CC79A7"/>
            </a:solidFill>
            <a:prstDash val="solid"/>
          </a:ln>
        </p:spPr>
      </p:sp>
      <p:sp>
        <p:nvSpPr>
          <p:cNvPr id="38" name="Text 36"/>
          <p:cNvSpPr txBox="1"/>
          <p:nvPr/>
        </p:nvSpPr>
        <p:spPr>
          <a:xfrm>
            <a:off x="3964435"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39" name="Shape 37"/>
          <p:cNvSpPr/>
          <p:nvPr/>
        </p:nvSpPr>
        <p:spPr>
          <a:xfrm>
            <a:off x="4761857" y="5630979"/>
            <a:ext cx="198270" cy="198270"/>
          </a:xfrm>
          <a:prstGeom prst="rect">
            <a:avLst/>
          </a:prstGeom>
          <a:solidFill>
            <a:srgbClr val="F2F4F5"/>
          </a:solidFill>
          <a:ln w="15240">
            <a:solidFill>
              <a:srgbClr val="626B73"/>
            </a:solidFill>
            <a:prstDash val="solid"/>
          </a:ln>
        </p:spPr>
      </p:sp>
      <p:sp>
        <p:nvSpPr>
          <p:cNvPr id="40" name="Text 38"/>
          <p:cNvSpPr txBox="1"/>
          <p:nvPr/>
        </p:nvSpPr>
        <p:spPr>
          <a:xfrm>
            <a:off x="5021133"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1" name="Shape 39"/>
          <p:cNvSpPr/>
          <p:nvPr/>
        </p:nvSpPr>
        <p:spPr>
          <a:xfrm>
            <a:off x="5618334" y="5730113"/>
            <a:ext cx="335533" cy="0"/>
          </a:xfrm>
          <a:prstGeom prst="line">
            <a:avLst/>
          </a:prstGeom>
          <a:noFill/>
          <a:ln w="22860">
            <a:solidFill>
              <a:srgbClr val="009E73"/>
            </a:solidFill>
            <a:prstDash val="solid"/>
            <a:tailEnd type="triangle"/>
          </a:ln>
        </p:spPr>
      </p:sp>
      <p:sp>
        <p:nvSpPr>
          <p:cNvPr id="42" name="Text 40"/>
          <p:cNvSpPr txBox="1"/>
          <p:nvPr/>
        </p:nvSpPr>
        <p:spPr>
          <a:xfrm>
            <a:off x="6014873"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3" name="Text 41"/>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Valid but wrong?</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Prompting for different tasks</a:t>
            </a:r>
            <a:endParaRPr lang="en-US" sz="3200" dirty="0"/>
          </a:p>
        </p:txBody>
      </p:sp>
      <p:sp>
        <p:nvSpPr>
          <p:cNvPr id="6" name="Shape 4"/>
          <p:cNvSpPr/>
          <p:nvPr/>
        </p:nvSpPr>
        <p:spPr>
          <a:xfrm>
            <a:off x="548640" y="1481328"/>
            <a:ext cx="351525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Summarise</a:t>
            </a:r>
            <a:endParaRPr lang="en-US" sz="2100" dirty="0"/>
          </a:p>
        </p:txBody>
      </p:sp>
      <p:sp>
        <p:nvSpPr>
          <p:cNvPr id="8" name="Text 6"/>
          <p:cNvSpPr txBox="1"/>
          <p:nvPr/>
        </p:nvSpPr>
        <p:spPr>
          <a:xfrm>
            <a:off x="731520"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Reader, length, source only</a:t>
            </a:r>
            <a:endParaRPr lang="en-US" sz="2200" dirty="0"/>
          </a:p>
        </p:txBody>
      </p:sp>
      <p:sp>
        <p:nvSpPr>
          <p:cNvPr id="9" name="Shape 7"/>
          <p:cNvSpPr/>
          <p:nvPr/>
        </p:nvSpPr>
        <p:spPr>
          <a:xfrm>
            <a:off x="4338218" y="1481328"/>
            <a:ext cx="351525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4521098"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Extract</a:t>
            </a:r>
            <a:endParaRPr lang="en-US" sz="2100" dirty="0"/>
          </a:p>
        </p:txBody>
      </p:sp>
      <p:sp>
        <p:nvSpPr>
          <p:cNvPr id="11" name="Text 9"/>
          <p:cNvSpPr txBox="1"/>
          <p:nvPr/>
        </p:nvSpPr>
        <p:spPr>
          <a:xfrm>
            <a:off x="4521098"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Fields; null if missing</a:t>
            </a:r>
            <a:endParaRPr lang="en-US" sz="2200" dirty="0"/>
          </a:p>
        </p:txBody>
      </p:sp>
      <p:sp>
        <p:nvSpPr>
          <p:cNvPr id="12" name="Shape 10"/>
          <p:cNvSpPr/>
          <p:nvPr/>
        </p:nvSpPr>
        <p:spPr>
          <a:xfrm>
            <a:off x="8127797" y="1481328"/>
            <a:ext cx="351525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8310677"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Classify</a:t>
            </a:r>
            <a:endParaRPr lang="en-US" sz="2100" dirty="0"/>
          </a:p>
        </p:txBody>
      </p:sp>
      <p:sp>
        <p:nvSpPr>
          <p:cNvPr id="14" name="Text 12"/>
          <p:cNvSpPr txBox="1"/>
          <p:nvPr/>
        </p:nvSpPr>
        <p:spPr>
          <a:xfrm>
            <a:off x="8310677"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Define each label</a:t>
            </a:r>
            <a:endParaRPr lang="en-US" sz="2200" dirty="0"/>
          </a:p>
        </p:txBody>
      </p:sp>
      <p:sp>
        <p:nvSpPr>
          <p:cNvPr id="15" name="Shape 13"/>
          <p:cNvSpPr/>
          <p:nvPr/>
        </p:nvSpPr>
        <p:spPr>
          <a:xfrm>
            <a:off x="548640" y="4032504"/>
            <a:ext cx="351525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731520"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Code</a:t>
            </a:r>
            <a:endParaRPr lang="en-US" sz="2100" dirty="0"/>
          </a:p>
        </p:txBody>
      </p:sp>
      <p:sp>
        <p:nvSpPr>
          <p:cNvPr id="17" name="Text 15"/>
          <p:cNvSpPr txBox="1"/>
          <p:nvPr/>
        </p:nvSpPr>
        <p:spPr>
          <a:xfrm>
            <a:off x="731520"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State versions; run tests</a:t>
            </a:r>
            <a:endParaRPr lang="en-US" sz="2200" dirty="0"/>
          </a:p>
        </p:txBody>
      </p:sp>
      <p:sp>
        <p:nvSpPr>
          <p:cNvPr id="18" name="Shape 16"/>
          <p:cNvSpPr/>
          <p:nvPr/>
        </p:nvSpPr>
        <p:spPr>
          <a:xfrm>
            <a:off x="4338218" y="4032504"/>
            <a:ext cx="3515258" cy="2276856"/>
          </a:xfrm>
          <a:prstGeom prst="roundRect">
            <a:avLst>
              <a:gd name="adj" fmla="val 4819"/>
            </a:avLst>
          </a:prstGeom>
          <a:solidFill>
            <a:srgbClr val="EEF0FF"/>
          </a:solidFill>
          <a:ln w="12700">
            <a:solidFill>
              <a:srgbClr val="EEF0FF"/>
            </a:solidFill>
            <a:prstDash val="solid"/>
          </a:ln>
        </p:spPr>
      </p:sp>
      <p:sp>
        <p:nvSpPr>
          <p:cNvPr id="19" name="Text 17"/>
          <p:cNvSpPr txBox="1"/>
          <p:nvPr/>
        </p:nvSpPr>
        <p:spPr>
          <a:xfrm>
            <a:off x="4521098"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Images</a:t>
            </a:r>
            <a:endParaRPr lang="en-US" sz="2100" dirty="0"/>
          </a:p>
        </p:txBody>
      </p:sp>
      <p:sp>
        <p:nvSpPr>
          <p:cNvPr id="20" name="Text 18"/>
          <p:cNvSpPr txBox="1"/>
          <p:nvPr/>
        </p:nvSpPr>
        <p:spPr>
          <a:xfrm>
            <a:off x="4521098"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Subject, style, composition</a:t>
            </a:r>
            <a:endParaRPr lang="en-US" sz="2200" dirty="0"/>
          </a:p>
        </p:txBody>
      </p:sp>
      <p:sp>
        <p:nvSpPr>
          <p:cNvPr id="21" name="Shape 19"/>
          <p:cNvSpPr/>
          <p:nvPr/>
        </p:nvSpPr>
        <p:spPr>
          <a:xfrm>
            <a:off x="8127797" y="4032504"/>
            <a:ext cx="3515258" cy="2276856"/>
          </a:xfrm>
          <a:prstGeom prst="roundRect">
            <a:avLst>
              <a:gd name="adj" fmla="val 4819"/>
            </a:avLst>
          </a:prstGeom>
          <a:solidFill>
            <a:srgbClr val="F5F3FF"/>
          </a:solidFill>
          <a:ln w="12700">
            <a:solidFill>
              <a:srgbClr val="EEF0FF"/>
            </a:solidFill>
            <a:prstDash val="solid"/>
          </a:ln>
        </p:spPr>
      </p:sp>
      <p:sp>
        <p:nvSpPr>
          <p:cNvPr id="22" name="Text 20"/>
          <p:cNvSpPr txBox="1"/>
          <p:nvPr/>
        </p:nvSpPr>
        <p:spPr>
          <a:xfrm>
            <a:off x="8310677"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Analyse data</a:t>
            </a:r>
            <a:endParaRPr lang="en-US" sz="2100" dirty="0"/>
          </a:p>
        </p:txBody>
      </p:sp>
      <p:sp>
        <p:nvSpPr>
          <p:cNvPr id="23" name="Text 21"/>
          <p:cNvSpPr txBox="1"/>
          <p:nvPr/>
        </p:nvSpPr>
        <p:spPr>
          <a:xfrm>
            <a:off x="8310677"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Ask for computing code</a:t>
            </a:r>
            <a:endParaRPr lang="en-US"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04</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Evaluation methods</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do you know a prompt, or a model, is actually better?</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Improve a prompt using evidence</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Weights fixed</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messages</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prompts</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summaries</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changes</a:t>
            </a:r>
            <a:endParaRPr lang="en-US" sz="1441" dirty="0"/>
          </a:p>
        </p:txBody>
      </p:sp>
      <p:sp>
        <p:nvSpPr>
          <p:cNvPr id="15" name="Shape 13"/>
          <p:cNvSpPr/>
          <p:nvPr/>
        </p:nvSpPr>
        <p:spPr>
          <a:xfrm flipV="1">
            <a:off x="10439475" y="2191765"/>
            <a:ext cx="0" cy="747324"/>
          </a:xfrm>
          <a:prstGeom prst="line">
            <a:avLst/>
          </a:prstGeom>
          <a:noFill/>
          <a:ln w="22860">
            <a:solidFill>
              <a:srgbClr val="D55E00"/>
            </a:solidFill>
            <a:prstDash val="dash"/>
          </a:ln>
        </p:spPr>
      </p:sp>
      <p:sp>
        <p:nvSpPr>
          <p:cNvPr id="16" name="Shape 14"/>
          <p:cNvSpPr/>
          <p:nvPr/>
        </p:nvSpPr>
        <p:spPr>
          <a:xfrm flipH="1">
            <a:off x="3924034" y="2191765"/>
            <a:ext cx="6515442" cy="0"/>
          </a:xfrm>
          <a:prstGeom prst="line">
            <a:avLst/>
          </a:prstGeom>
          <a:noFill/>
          <a:ln w="22860">
            <a:solidFill>
              <a:srgbClr val="D55E00"/>
            </a:solidFill>
            <a:prstDash val="dash"/>
          </a:ln>
        </p:spPr>
      </p:sp>
      <p:sp>
        <p:nvSpPr>
          <p:cNvPr id="17" name="Shape 15"/>
          <p:cNvSpPr/>
          <p:nvPr/>
        </p:nvSpPr>
        <p:spPr>
          <a:xfrm>
            <a:off x="3924034" y="2191765"/>
            <a:ext cx="0" cy="747324"/>
          </a:xfrm>
          <a:prstGeom prst="line">
            <a:avLst/>
          </a:prstGeom>
          <a:noFill/>
          <a:ln w="22860">
            <a:solidFill>
              <a:srgbClr val="D55E00"/>
            </a:solidFill>
            <a:prstDash val="dash"/>
            <a:tailEnd type="triangle"/>
          </a:ln>
        </p:spPr>
      </p:sp>
      <p:sp>
        <p:nvSpPr>
          <p:cNvPr id="18" name="Text 16"/>
          <p:cNvSpPr txBox="1"/>
          <p:nvPr/>
        </p:nvSpPr>
        <p:spPr>
          <a:xfrm>
            <a:off x="6861812" y="1917238"/>
            <a:ext cx="639885"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Revise</a:t>
            </a:r>
            <a:endParaRPr lang="en-US" sz="1441" dirty="0"/>
          </a:p>
        </p:txBody>
      </p:sp>
      <p:sp>
        <p:nvSpPr>
          <p:cNvPr id="19" name="Shape 17"/>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20" name="Text 18"/>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Dev set</a:t>
            </a:r>
            <a:endParaRPr lang="en-US" sz="1561" dirty="0"/>
          </a:p>
        </p:txBody>
      </p:sp>
      <p:sp>
        <p:nvSpPr>
          <p:cNvPr id="21" name="Text 19"/>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labelled</a:t>
            </a:r>
            <a:endParaRPr lang="en-US" sz="1441" dirty="0"/>
          </a:p>
        </p:txBody>
      </p:sp>
      <p:sp>
        <p:nvSpPr>
          <p:cNvPr id="22" name="Shape 20"/>
          <p:cNvSpPr/>
          <p:nvPr/>
        </p:nvSpPr>
        <p:spPr>
          <a:xfrm>
            <a:off x="2960139" y="2939089"/>
            <a:ext cx="1927790" cy="1799677"/>
          </a:xfrm>
          <a:prstGeom prst="rect">
            <a:avLst/>
          </a:prstGeom>
          <a:solidFill>
            <a:srgbClr val="F2F4F5"/>
          </a:solidFill>
          <a:ln w="15240">
            <a:solidFill>
              <a:srgbClr val="626B73"/>
            </a:solidFill>
            <a:prstDash val="solid"/>
          </a:ln>
        </p:spPr>
      </p:sp>
      <p:sp>
        <p:nvSpPr>
          <p:cNvPr id="23" name="Text 21"/>
          <p:cNvSpPr txBox="1"/>
          <p:nvPr/>
        </p:nvSpPr>
        <p:spPr>
          <a:xfrm>
            <a:off x="3021145"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Two prompts</a:t>
            </a:r>
            <a:endParaRPr lang="en-US" sz="1561" dirty="0"/>
          </a:p>
        </p:txBody>
      </p:sp>
      <p:sp>
        <p:nvSpPr>
          <p:cNvPr id="24" name="Text 22"/>
          <p:cNvSpPr txBox="1"/>
          <p:nvPr/>
        </p:nvSpPr>
        <p:spPr>
          <a:xfrm>
            <a:off x="3021145"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one change</a:t>
            </a:r>
            <a:endParaRPr lang="en-US" sz="1441" dirty="0"/>
          </a:p>
        </p:txBody>
      </p:sp>
      <p:sp>
        <p:nvSpPr>
          <p:cNvPr id="25" name="Shape 23"/>
          <p:cNvSpPr/>
          <p:nvPr/>
        </p:nvSpPr>
        <p:spPr>
          <a:xfrm>
            <a:off x="5131953" y="2939089"/>
            <a:ext cx="1927790" cy="1799677"/>
          </a:xfrm>
          <a:prstGeom prst="rect">
            <a:avLst/>
          </a:prstGeom>
          <a:solidFill>
            <a:srgbClr val="E5F7EF"/>
          </a:solidFill>
          <a:ln w="15240">
            <a:solidFill>
              <a:srgbClr val="009E73"/>
            </a:solidFill>
            <a:prstDash val="solid"/>
          </a:ln>
        </p:spPr>
      </p:sp>
      <p:sp>
        <p:nvSpPr>
          <p:cNvPr id="26" name="Text 24"/>
          <p:cNvSpPr txBox="1"/>
          <p:nvPr/>
        </p:nvSpPr>
        <p:spPr>
          <a:xfrm>
            <a:off x="5192959"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Run both</a:t>
            </a:r>
            <a:endParaRPr lang="en-US" sz="1561" dirty="0"/>
          </a:p>
        </p:txBody>
      </p:sp>
      <p:sp>
        <p:nvSpPr>
          <p:cNvPr id="27" name="Text 25"/>
          <p:cNvSpPr txBox="1"/>
          <p:nvPr/>
        </p:nvSpPr>
        <p:spPr>
          <a:xfrm>
            <a:off x="5192959"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same settings</a:t>
            </a:r>
            <a:endParaRPr lang="en-US" sz="1441" dirty="0"/>
          </a:p>
        </p:txBody>
      </p:sp>
      <p:sp>
        <p:nvSpPr>
          <p:cNvPr id="28" name="Text 26"/>
          <p:cNvSpPr txBox="1"/>
          <p:nvPr/>
        </p:nvSpPr>
        <p:spPr>
          <a:xfrm>
            <a:off x="5154830"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evaluate</a:t>
            </a:r>
            <a:endParaRPr lang="en-US" sz="1441" dirty="0"/>
          </a:p>
        </p:txBody>
      </p:sp>
      <p:sp>
        <p:nvSpPr>
          <p:cNvPr id="29" name="Shape 27"/>
          <p:cNvSpPr/>
          <p:nvPr/>
        </p:nvSpPr>
        <p:spPr>
          <a:xfrm>
            <a:off x="7303767" y="2939089"/>
            <a:ext cx="1927790" cy="1799677"/>
          </a:xfrm>
          <a:prstGeom prst="roundRect">
            <a:avLst>
              <a:gd name="adj" fmla="val 4065"/>
            </a:avLst>
          </a:prstGeom>
          <a:solidFill>
            <a:srgbClr val="FFF0E6"/>
          </a:solidFill>
          <a:ln w="15240">
            <a:solidFill>
              <a:srgbClr val="D55E00"/>
            </a:solidFill>
            <a:prstDash val="solid"/>
          </a:ln>
        </p:spPr>
      </p:sp>
      <p:sp>
        <p:nvSpPr>
          <p:cNvPr id="30" name="Text 28"/>
          <p:cNvSpPr txBox="1"/>
          <p:nvPr/>
        </p:nvSpPr>
        <p:spPr>
          <a:xfrm>
            <a:off x="7364773"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Compare</a:t>
            </a:r>
            <a:endParaRPr lang="en-US" sz="1561" dirty="0"/>
          </a:p>
        </p:txBody>
      </p:sp>
      <p:sp>
        <p:nvSpPr>
          <p:cNvPr id="31" name="Text 29"/>
          <p:cNvSpPr txBox="1"/>
          <p:nvPr/>
        </p:nvSpPr>
        <p:spPr>
          <a:xfrm>
            <a:off x="7364773"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16 vs 17</a:t>
            </a:r>
            <a:endParaRPr lang="en-US" sz="1441" dirty="0"/>
          </a:p>
        </p:txBody>
      </p:sp>
      <p:sp>
        <p:nvSpPr>
          <p:cNvPr id="32" name="Shape 30"/>
          <p:cNvSpPr/>
          <p:nvPr/>
        </p:nvSpPr>
        <p:spPr>
          <a:xfrm>
            <a:off x="9475580" y="2939089"/>
            <a:ext cx="1927790" cy="1799677"/>
          </a:xfrm>
          <a:prstGeom prst="roundRect">
            <a:avLst>
              <a:gd name="adj" fmla="val 4065"/>
            </a:avLst>
          </a:prstGeom>
          <a:solidFill>
            <a:srgbClr val="F9EAF4"/>
          </a:solidFill>
          <a:ln w="15240">
            <a:solidFill>
              <a:srgbClr val="CC79A7"/>
            </a:solidFill>
            <a:prstDash val="solid"/>
          </a:ln>
        </p:spPr>
      </p:sp>
      <p:sp>
        <p:nvSpPr>
          <p:cNvPr id="33" name="Text 31"/>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Read</a:t>
            </a:r>
            <a:endParaRPr lang="en-US" sz="1561" dirty="0"/>
          </a:p>
        </p:txBody>
      </p:sp>
      <p:sp>
        <p:nvSpPr>
          <p:cNvPr id="34" name="Text 32"/>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changed items</a:t>
            </a:r>
            <a:endParaRPr lang="en-US" sz="1441" dirty="0"/>
          </a:p>
        </p:txBody>
      </p:sp>
      <p:sp>
        <p:nvSpPr>
          <p:cNvPr id="35" name="Shape 33"/>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6" name="Text 34"/>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7" name="Shape 35"/>
          <p:cNvSpPr/>
          <p:nvPr/>
        </p:nvSpPr>
        <p:spPr>
          <a:xfrm>
            <a:off x="1676436" y="5630979"/>
            <a:ext cx="198270" cy="198270"/>
          </a:xfrm>
          <a:prstGeom prst="rect">
            <a:avLst/>
          </a:prstGeom>
          <a:solidFill>
            <a:srgbClr val="E5F7EF"/>
          </a:solidFill>
          <a:ln w="15240">
            <a:solidFill>
              <a:srgbClr val="009E73"/>
            </a:solidFill>
            <a:prstDash val="solid"/>
          </a:ln>
        </p:spPr>
      </p:sp>
      <p:sp>
        <p:nvSpPr>
          <p:cNvPr id="38" name="Text 36"/>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9" name="Shape 37"/>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40" name="Text 38"/>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41" name="Shape 39"/>
          <p:cNvSpPr/>
          <p:nvPr/>
        </p:nvSpPr>
        <p:spPr>
          <a:xfrm>
            <a:off x="3705159" y="5630979"/>
            <a:ext cx="198270" cy="198270"/>
          </a:xfrm>
          <a:prstGeom prst="roundRect">
            <a:avLst>
              <a:gd name="adj" fmla="val 36895"/>
            </a:avLst>
          </a:prstGeom>
          <a:solidFill>
            <a:srgbClr val="F9EAF4"/>
          </a:solidFill>
          <a:ln w="15240">
            <a:solidFill>
              <a:srgbClr val="CC79A7"/>
            </a:solidFill>
            <a:prstDash val="solid"/>
          </a:ln>
        </p:spPr>
      </p:sp>
      <p:sp>
        <p:nvSpPr>
          <p:cNvPr id="42" name="Text 40"/>
          <p:cNvSpPr txBox="1"/>
          <p:nvPr/>
        </p:nvSpPr>
        <p:spPr>
          <a:xfrm>
            <a:off x="3964435"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3" name="Shape 41"/>
          <p:cNvSpPr/>
          <p:nvPr/>
        </p:nvSpPr>
        <p:spPr>
          <a:xfrm>
            <a:off x="4761857" y="5630979"/>
            <a:ext cx="198270" cy="198270"/>
          </a:xfrm>
          <a:prstGeom prst="rect">
            <a:avLst/>
          </a:prstGeom>
          <a:solidFill>
            <a:srgbClr val="F2F4F5"/>
          </a:solidFill>
          <a:ln w="15240">
            <a:solidFill>
              <a:srgbClr val="626B73"/>
            </a:solidFill>
            <a:prstDash val="solid"/>
          </a:ln>
        </p:spPr>
      </p:sp>
      <p:sp>
        <p:nvSpPr>
          <p:cNvPr id="44" name="Text 42"/>
          <p:cNvSpPr txBox="1"/>
          <p:nvPr/>
        </p:nvSpPr>
        <p:spPr>
          <a:xfrm>
            <a:off x="5021133"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5" name="Shape 43"/>
          <p:cNvSpPr/>
          <p:nvPr/>
        </p:nvSpPr>
        <p:spPr>
          <a:xfrm>
            <a:off x="5618334" y="5730113"/>
            <a:ext cx="335533" cy="0"/>
          </a:xfrm>
          <a:prstGeom prst="line">
            <a:avLst/>
          </a:prstGeom>
          <a:noFill/>
          <a:ln w="22860">
            <a:solidFill>
              <a:srgbClr val="009E73"/>
            </a:solidFill>
            <a:prstDash val="solid"/>
            <a:tailEnd type="triangle"/>
          </a:ln>
        </p:spPr>
      </p:sp>
      <p:sp>
        <p:nvSpPr>
          <p:cNvPr id="46" name="Text 44"/>
          <p:cNvSpPr txBox="1"/>
          <p:nvPr/>
        </p:nvSpPr>
        <p:spPr>
          <a:xfrm>
            <a:off x="6014873"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7" name="Shape 45"/>
          <p:cNvSpPr/>
          <p:nvPr/>
        </p:nvSpPr>
        <p:spPr>
          <a:xfrm>
            <a:off x="6643519" y="5730113"/>
            <a:ext cx="335533" cy="0"/>
          </a:xfrm>
          <a:prstGeom prst="line">
            <a:avLst/>
          </a:prstGeom>
          <a:noFill/>
          <a:ln w="22860">
            <a:solidFill>
              <a:srgbClr val="D55E00"/>
            </a:solidFill>
            <a:prstDash val="dash"/>
            <a:tailEnd type="triangle"/>
          </a:ln>
        </p:spPr>
      </p:sp>
      <p:sp>
        <p:nvSpPr>
          <p:cNvPr id="48" name="Text 46"/>
          <p:cNvSpPr txBox="1"/>
          <p:nvPr/>
        </p:nvSpPr>
        <p:spPr>
          <a:xfrm>
            <a:off x="7040058"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49" name="Text 47"/>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Weights change?</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evaluation loop (eval-driven development)</a:t>
            </a:r>
            <a:endParaRPr lang="en-US" sz="3200" dirty="0"/>
          </a:p>
        </p:txBody>
      </p:sp>
      <p:sp>
        <p:nvSpPr>
          <p:cNvPr id="6" name="Shape 4"/>
          <p:cNvSpPr/>
          <p:nvPr/>
        </p:nvSpPr>
        <p:spPr>
          <a:xfrm>
            <a:off x="2681233" y="3361353"/>
            <a:ext cx="246543" cy="0"/>
          </a:xfrm>
          <a:prstGeom prst="line">
            <a:avLst/>
          </a:prstGeom>
          <a:noFill/>
          <a:ln w="22860">
            <a:solidFill>
              <a:srgbClr val="009E73"/>
            </a:solidFill>
            <a:prstDash val="solid"/>
            <a:tailEnd type="triangle"/>
          </a:ln>
        </p:spPr>
      </p:sp>
      <p:sp>
        <p:nvSpPr>
          <p:cNvPr id="7" name="Text 5"/>
          <p:cNvSpPr txBox="1"/>
          <p:nvPr/>
        </p:nvSpPr>
        <p:spPr>
          <a:xfrm>
            <a:off x="1995537"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criteria</a:t>
            </a:r>
            <a:endParaRPr lang="en-US" sz="1456" dirty="0"/>
          </a:p>
        </p:txBody>
      </p:sp>
      <p:sp>
        <p:nvSpPr>
          <p:cNvPr id="8" name="Shape 6"/>
          <p:cNvSpPr/>
          <p:nvPr/>
        </p:nvSpPr>
        <p:spPr>
          <a:xfrm>
            <a:off x="4875462" y="3361353"/>
            <a:ext cx="246543" cy="0"/>
          </a:xfrm>
          <a:prstGeom prst="line">
            <a:avLst/>
          </a:prstGeom>
          <a:noFill/>
          <a:ln w="22860">
            <a:solidFill>
              <a:srgbClr val="009E73"/>
            </a:solidFill>
            <a:prstDash val="solid"/>
            <a:tailEnd type="triangle"/>
          </a:ln>
        </p:spPr>
      </p:sp>
      <p:sp>
        <p:nvSpPr>
          <p:cNvPr id="9" name="Text 7"/>
          <p:cNvSpPr txBox="1"/>
          <p:nvPr/>
        </p:nvSpPr>
        <p:spPr>
          <a:xfrm>
            <a:off x="4189765"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examples</a:t>
            </a:r>
            <a:endParaRPr lang="en-US" sz="1456" dirty="0"/>
          </a:p>
        </p:txBody>
      </p:sp>
      <p:sp>
        <p:nvSpPr>
          <p:cNvPr id="10" name="Shape 8"/>
          <p:cNvSpPr/>
          <p:nvPr/>
        </p:nvSpPr>
        <p:spPr>
          <a:xfrm>
            <a:off x="7069691" y="3361353"/>
            <a:ext cx="246543" cy="0"/>
          </a:xfrm>
          <a:prstGeom prst="line">
            <a:avLst/>
          </a:prstGeom>
          <a:noFill/>
          <a:ln w="22860">
            <a:solidFill>
              <a:srgbClr val="009E73"/>
            </a:solidFill>
            <a:prstDash val="solid"/>
            <a:tailEnd type="triangle"/>
          </a:ln>
        </p:spPr>
      </p:sp>
      <p:sp>
        <p:nvSpPr>
          <p:cNvPr id="11" name="Text 9"/>
          <p:cNvSpPr txBox="1"/>
          <p:nvPr/>
        </p:nvSpPr>
        <p:spPr>
          <a:xfrm>
            <a:off x="6383994"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replies</a:t>
            </a:r>
            <a:endParaRPr lang="en-US" sz="1456" dirty="0"/>
          </a:p>
        </p:txBody>
      </p:sp>
      <p:sp>
        <p:nvSpPr>
          <p:cNvPr id="12" name="Shape 10"/>
          <p:cNvSpPr/>
          <p:nvPr/>
        </p:nvSpPr>
        <p:spPr>
          <a:xfrm>
            <a:off x="9263919" y="3361353"/>
            <a:ext cx="246543" cy="0"/>
          </a:xfrm>
          <a:prstGeom prst="line">
            <a:avLst/>
          </a:prstGeom>
          <a:noFill/>
          <a:ln w="22860">
            <a:solidFill>
              <a:srgbClr val="009E73"/>
            </a:solidFill>
            <a:prstDash val="solid"/>
            <a:tailEnd type="triangle"/>
          </a:ln>
        </p:spPr>
      </p:sp>
      <p:sp>
        <p:nvSpPr>
          <p:cNvPr id="13" name="Text 11"/>
          <p:cNvSpPr txBox="1"/>
          <p:nvPr/>
        </p:nvSpPr>
        <p:spPr>
          <a:xfrm>
            <a:off x="8578223"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scores</a:t>
            </a:r>
            <a:endParaRPr lang="en-US" sz="1456" dirty="0"/>
          </a:p>
        </p:txBody>
      </p:sp>
      <p:sp>
        <p:nvSpPr>
          <p:cNvPr id="14" name="Shape 12"/>
          <p:cNvSpPr/>
          <p:nvPr/>
        </p:nvSpPr>
        <p:spPr>
          <a:xfrm>
            <a:off x="733547" y="2637134"/>
            <a:ext cx="1947686" cy="1448438"/>
          </a:xfrm>
          <a:prstGeom prst="rect">
            <a:avLst/>
          </a:prstGeom>
          <a:solidFill>
            <a:srgbClr val="F2F4F5"/>
          </a:solidFill>
          <a:ln w="15240">
            <a:solidFill>
              <a:srgbClr val="626B73"/>
            </a:solidFill>
            <a:prstDash val="solid"/>
          </a:ln>
        </p:spPr>
      </p:sp>
      <p:sp>
        <p:nvSpPr>
          <p:cNvPr id="15" name="Text 13"/>
          <p:cNvSpPr txBox="1"/>
          <p:nvPr/>
        </p:nvSpPr>
        <p:spPr>
          <a:xfrm>
            <a:off x="795183"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Define success</a:t>
            </a:r>
            <a:endParaRPr lang="en-US" sz="1577" dirty="0"/>
          </a:p>
        </p:txBody>
      </p:sp>
      <p:sp>
        <p:nvSpPr>
          <p:cNvPr id="16" name="Text 14"/>
          <p:cNvSpPr txBox="1"/>
          <p:nvPr/>
        </p:nvSpPr>
        <p:spPr>
          <a:xfrm>
            <a:off x="795183"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Criteria</a:t>
            </a:r>
            <a:endParaRPr lang="en-US" sz="1456" dirty="0"/>
          </a:p>
        </p:txBody>
      </p:sp>
      <p:sp>
        <p:nvSpPr>
          <p:cNvPr id="17" name="Shape 15"/>
          <p:cNvSpPr/>
          <p:nvPr/>
        </p:nvSpPr>
        <p:spPr>
          <a:xfrm>
            <a:off x="2927776" y="2637134"/>
            <a:ext cx="1947686" cy="1448438"/>
          </a:xfrm>
          <a:prstGeom prst="roundRect">
            <a:avLst>
              <a:gd name="adj" fmla="val 5050"/>
            </a:avLst>
          </a:prstGeom>
          <a:solidFill>
            <a:srgbClr val="E4F2FB"/>
          </a:solidFill>
          <a:ln w="15240">
            <a:solidFill>
              <a:srgbClr val="0072B2"/>
            </a:solidFill>
            <a:prstDash val="solid"/>
          </a:ln>
        </p:spPr>
      </p:sp>
      <p:sp>
        <p:nvSpPr>
          <p:cNvPr id="18" name="Text 16"/>
          <p:cNvSpPr txBox="1"/>
          <p:nvPr/>
        </p:nvSpPr>
        <p:spPr>
          <a:xfrm>
            <a:off x="2989411"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Build test set</a:t>
            </a:r>
            <a:endParaRPr lang="en-US" sz="1577" dirty="0"/>
          </a:p>
        </p:txBody>
      </p:sp>
      <p:sp>
        <p:nvSpPr>
          <p:cNvPr id="19" name="Text 17"/>
          <p:cNvSpPr txBox="1"/>
          <p:nvPr/>
        </p:nvSpPr>
        <p:spPr>
          <a:xfrm>
            <a:off x="2989411"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Hold some out</a:t>
            </a:r>
            <a:endParaRPr lang="en-US" sz="1456" dirty="0"/>
          </a:p>
        </p:txBody>
      </p:sp>
      <p:sp>
        <p:nvSpPr>
          <p:cNvPr id="20" name="Shape 18"/>
          <p:cNvSpPr/>
          <p:nvPr/>
        </p:nvSpPr>
        <p:spPr>
          <a:xfrm>
            <a:off x="5122004" y="2637134"/>
            <a:ext cx="1947686" cy="1448438"/>
          </a:xfrm>
          <a:prstGeom prst="rect">
            <a:avLst/>
          </a:prstGeom>
          <a:solidFill>
            <a:srgbClr val="E5F7EF"/>
          </a:solidFill>
          <a:ln w="15240">
            <a:solidFill>
              <a:srgbClr val="009E73"/>
            </a:solidFill>
            <a:prstDash val="solid"/>
          </a:ln>
        </p:spPr>
      </p:sp>
      <p:sp>
        <p:nvSpPr>
          <p:cNvPr id="21" name="Text 19"/>
          <p:cNvSpPr txBox="1"/>
          <p:nvPr/>
        </p:nvSpPr>
        <p:spPr>
          <a:xfrm>
            <a:off x="5183640"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Run</a:t>
            </a:r>
            <a:endParaRPr lang="en-US" sz="1577" dirty="0"/>
          </a:p>
        </p:txBody>
      </p:sp>
      <p:sp>
        <p:nvSpPr>
          <p:cNvPr id="22" name="Text 20"/>
          <p:cNvSpPr txBox="1"/>
          <p:nvPr/>
        </p:nvSpPr>
        <p:spPr>
          <a:xfrm>
            <a:off x="5183640"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Fixed settings</a:t>
            </a:r>
            <a:endParaRPr lang="en-US" sz="1456" dirty="0"/>
          </a:p>
        </p:txBody>
      </p:sp>
      <p:sp>
        <p:nvSpPr>
          <p:cNvPr id="23" name="Shape 21"/>
          <p:cNvSpPr/>
          <p:nvPr/>
        </p:nvSpPr>
        <p:spPr>
          <a:xfrm>
            <a:off x="7316233" y="2637134"/>
            <a:ext cx="1947686" cy="1448438"/>
          </a:xfrm>
          <a:prstGeom prst="roundRect">
            <a:avLst>
              <a:gd name="adj" fmla="val 5050"/>
            </a:avLst>
          </a:prstGeom>
          <a:solidFill>
            <a:srgbClr val="FFF0E6"/>
          </a:solidFill>
          <a:ln w="15240">
            <a:solidFill>
              <a:srgbClr val="D55E00"/>
            </a:solidFill>
            <a:prstDash val="solid"/>
          </a:ln>
        </p:spPr>
      </p:sp>
      <p:sp>
        <p:nvSpPr>
          <p:cNvPr id="24" name="Text 22"/>
          <p:cNvSpPr txBox="1"/>
          <p:nvPr/>
        </p:nvSpPr>
        <p:spPr>
          <a:xfrm>
            <a:off x="7377869"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Score</a:t>
            </a:r>
            <a:endParaRPr lang="en-US" sz="1577" dirty="0"/>
          </a:p>
        </p:txBody>
      </p:sp>
      <p:sp>
        <p:nvSpPr>
          <p:cNvPr id="25" name="Text 23"/>
          <p:cNvSpPr txBox="1"/>
          <p:nvPr/>
        </p:nvSpPr>
        <p:spPr>
          <a:xfrm>
            <a:off x="7377869"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Metrics, rubric</a:t>
            </a:r>
            <a:endParaRPr lang="en-US" sz="1456" dirty="0"/>
          </a:p>
        </p:txBody>
      </p:sp>
      <p:sp>
        <p:nvSpPr>
          <p:cNvPr id="26" name="Shape 24"/>
          <p:cNvSpPr/>
          <p:nvPr/>
        </p:nvSpPr>
        <p:spPr>
          <a:xfrm>
            <a:off x="9510462" y="2637134"/>
            <a:ext cx="1947686" cy="1448438"/>
          </a:xfrm>
          <a:prstGeom prst="roundRect">
            <a:avLst>
              <a:gd name="adj" fmla="val 5050"/>
            </a:avLst>
          </a:prstGeom>
          <a:solidFill>
            <a:srgbClr val="F9EAF4"/>
          </a:solidFill>
          <a:ln w="15240">
            <a:solidFill>
              <a:srgbClr val="CC79A7"/>
            </a:solidFill>
            <a:prstDash val="solid"/>
          </a:ln>
        </p:spPr>
      </p:sp>
      <p:sp>
        <p:nvSpPr>
          <p:cNvPr id="27" name="Text 25"/>
          <p:cNvSpPr txBox="1"/>
          <p:nvPr/>
        </p:nvSpPr>
        <p:spPr>
          <a:xfrm>
            <a:off x="9572098"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Analyse errors</a:t>
            </a:r>
            <a:endParaRPr lang="en-US" sz="1577" dirty="0"/>
          </a:p>
        </p:txBody>
      </p:sp>
      <p:sp>
        <p:nvSpPr>
          <p:cNvPr id="28" name="Text 26"/>
          <p:cNvSpPr txBox="1"/>
          <p:nvPr/>
        </p:nvSpPr>
        <p:spPr>
          <a:xfrm>
            <a:off x="9572098"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Next change</a:t>
            </a:r>
            <a:endParaRPr lang="en-US" sz="1456" dirty="0"/>
          </a:p>
        </p:txBody>
      </p:sp>
      <p:sp>
        <p:nvSpPr>
          <p:cNvPr id="29" name="Shape 27"/>
          <p:cNvSpPr/>
          <p:nvPr/>
        </p:nvSpPr>
        <p:spPr>
          <a:xfrm>
            <a:off x="733547" y="4355228"/>
            <a:ext cx="200316" cy="200316"/>
          </a:xfrm>
          <a:prstGeom prst="roundRect">
            <a:avLst>
              <a:gd name="adj" fmla="val 36518"/>
            </a:avLst>
          </a:prstGeom>
          <a:solidFill>
            <a:srgbClr val="E4F2FB"/>
          </a:solidFill>
          <a:ln w="15240">
            <a:solidFill>
              <a:srgbClr val="0072B2"/>
            </a:solidFill>
            <a:prstDash val="solid"/>
          </a:ln>
        </p:spPr>
      </p:sp>
      <p:sp>
        <p:nvSpPr>
          <p:cNvPr id="30" name="Text 28"/>
          <p:cNvSpPr txBox="1"/>
          <p:nvPr/>
        </p:nvSpPr>
        <p:spPr>
          <a:xfrm>
            <a:off x="995498" y="4332114"/>
            <a:ext cx="435010"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Data</a:t>
            </a:r>
            <a:endParaRPr lang="en-US" sz="1456" dirty="0"/>
          </a:p>
        </p:txBody>
      </p:sp>
      <p:sp>
        <p:nvSpPr>
          <p:cNvPr id="31" name="Shape 29"/>
          <p:cNvSpPr/>
          <p:nvPr/>
        </p:nvSpPr>
        <p:spPr>
          <a:xfrm>
            <a:off x="1630824" y="4355228"/>
            <a:ext cx="200316" cy="200316"/>
          </a:xfrm>
          <a:prstGeom prst="rect">
            <a:avLst/>
          </a:prstGeom>
          <a:solidFill>
            <a:srgbClr val="E5F7EF"/>
          </a:solidFill>
          <a:ln w="15240">
            <a:solidFill>
              <a:srgbClr val="009E73"/>
            </a:solidFill>
            <a:prstDash val="solid"/>
          </a:ln>
        </p:spPr>
      </p:sp>
      <p:sp>
        <p:nvSpPr>
          <p:cNvPr id="32" name="Text 30"/>
          <p:cNvSpPr txBox="1"/>
          <p:nvPr/>
        </p:nvSpPr>
        <p:spPr>
          <a:xfrm>
            <a:off x="1892775" y="4332114"/>
            <a:ext cx="551942"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Model</a:t>
            </a:r>
            <a:endParaRPr lang="en-US" sz="1456" dirty="0"/>
          </a:p>
        </p:txBody>
      </p:sp>
      <p:sp>
        <p:nvSpPr>
          <p:cNvPr id="33" name="Shape 31"/>
          <p:cNvSpPr/>
          <p:nvPr/>
        </p:nvSpPr>
        <p:spPr>
          <a:xfrm>
            <a:off x="2645033" y="4355228"/>
            <a:ext cx="200316" cy="200316"/>
          </a:xfrm>
          <a:prstGeom prst="roundRect">
            <a:avLst>
              <a:gd name="adj" fmla="val 36518"/>
            </a:avLst>
          </a:prstGeom>
          <a:solidFill>
            <a:srgbClr val="FFF0E6"/>
          </a:solidFill>
          <a:ln w="15240">
            <a:solidFill>
              <a:srgbClr val="D55E00"/>
            </a:solidFill>
            <a:prstDash val="solid"/>
          </a:ln>
        </p:spPr>
      </p:sp>
      <p:sp>
        <p:nvSpPr>
          <p:cNvPr id="34" name="Text 32"/>
          <p:cNvSpPr txBox="1"/>
          <p:nvPr/>
        </p:nvSpPr>
        <p:spPr>
          <a:xfrm>
            <a:off x="2906984" y="4332114"/>
            <a:ext cx="573185"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Check</a:t>
            </a:r>
            <a:endParaRPr lang="en-US" sz="1456" dirty="0"/>
          </a:p>
        </p:txBody>
      </p:sp>
      <p:sp>
        <p:nvSpPr>
          <p:cNvPr id="35" name="Shape 33"/>
          <p:cNvSpPr/>
          <p:nvPr/>
        </p:nvSpPr>
        <p:spPr>
          <a:xfrm>
            <a:off x="3680485" y="4355228"/>
            <a:ext cx="200316" cy="200316"/>
          </a:xfrm>
          <a:prstGeom prst="roundRect">
            <a:avLst>
              <a:gd name="adj" fmla="val 36518"/>
            </a:avLst>
          </a:prstGeom>
          <a:solidFill>
            <a:srgbClr val="F9EAF4"/>
          </a:solidFill>
          <a:ln w="15240">
            <a:solidFill>
              <a:srgbClr val="CC79A7"/>
            </a:solidFill>
            <a:prstDash val="solid"/>
          </a:ln>
        </p:spPr>
      </p:sp>
      <p:sp>
        <p:nvSpPr>
          <p:cNvPr id="36" name="Text 34"/>
          <p:cNvSpPr txBox="1"/>
          <p:nvPr/>
        </p:nvSpPr>
        <p:spPr>
          <a:xfrm>
            <a:off x="3942437" y="4332114"/>
            <a:ext cx="605337"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Output</a:t>
            </a:r>
            <a:endParaRPr lang="en-US" sz="1456" dirty="0"/>
          </a:p>
        </p:txBody>
      </p:sp>
      <p:sp>
        <p:nvSpPr>
          <p:cNvPr id="37" name="Shape 35"/>
          <p:cNvSpPr/>
          <p:nvPr/>
        </p:nvSpPr>
        <p:spPr>
          <a:xfrm>
            <a:off x="4748089" y="4355228"/>
            <a:ext cx="200316" cy="200316"/>
          </a:xfrm>
          <a:prstGeom prst="rect">
            <a:avLst/>
          </a:prstGeom>
          <a:solidFill>
            <a:srgbClr val="F2F4F5"/>
          </a:solidFill>
          <a:ln w="15240">
            <a:solidFill>
              <a:srgbClr val="626B73"/>
            </a:solidFill>
            <a:prstDash val="solid"/>
          </a:ln>
        </p:spPr>
      </p:sp>
      <p:sp>
        <p:nvSpPr>
          <p:cNvPr id="38" name="Text 36"/>
          <p:cNvSpPr txBox="1"/>
          <p:nvPr/>
        </p:nvSpPr>
        <p:spPr>
          <a:xfrm>
            <a:off x="5010041" y="4332114"/>
            <a:ext cx="403049"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Tool</a:t>
            </a:r>
            <a:endParaRPr lang="en-US" sz="1456" dirty="0"/>
          </a:p>
        </p:txBody>
      </p:sp>
      <p:sp>
        <p:nvSpPr>
          <p:cNvPr id="39" name="Shape 37"/>
          <p:cNvSpPr/>
          <p:nvPr/>
        </p:nvSpPr>
        <p:spPr>
          <a:xfrm>
            <a:off x="5613406" y="4455385"/>
            <a:ext cx="338996" cy="0"/>
          </a:xfrm>
          <a:prstGeom prst="line">
            <a:avLst/>
          </a:prstGeom>
          <a:noFill/>
          <a:ln w="22860">
            <a:solidFill>
              <a:srgbClr val="009E73"/>
            </a:solidFill>
            <a:prstDash val="solid"/>
            <a:tailEnd type="triangle"/>
          </a:ln>
        </p:spPr>
      </p:sp>
      <p:sp>
        <p:nvSpPr>
          <p:cNvPr id="40" name="Text 38"/>
          <p:cNvSpPr txBox="1"/>
          <p:nvPr/>
        </p:nvSpPr>
        <p:spPr>
          <a:xfrm>
            <a:off x="6014037" y="4332114"/>
            <a:ext cx="434818"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Flow</a:t>
            </a:r>
            <a:endParaRPr lang="en-US" sz="1456" dirty="0"/>
          </a:p>
        </p:txBody>
      </p:sp>
      <p:sp>
        <p:nvSpPr>
          <p:cNvPr id="41" name="Shape 39"/>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42" name="Text 40"/>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Develop on one set; finish on fresh examples.</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Families of evaluation methods</a:t>
            </a:r>
            <a:endParaRPr lang="en-US" sz="3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832617"/>
                <a:gridCol w="4012874"/>
                <a:gridCol w="4248925"/>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Method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Checks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Limit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Exact match</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Matches reference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Open answers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BLEU / ROUGE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Word overlap</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Paraphrases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Embeddings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Similar meaning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Not truth</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Code checks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Schema; tests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Coded rules only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LLM judge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Rubric score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Judge bias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Human review</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Useful; correct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Cost; disagreement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 reference-based metric by hand: ROUGE-1</a:t>
            </a:r>
            <a:endParaRPr lang="en-US" sz="3200" dirty="0"/>
          </a:p>
        </p:txBody>
      </p:sp>
      <p:sp>
        <p:nvSpPr>
          <p:cNvPr id="6" name="Shape 4"/>
          <p:cNvSpPr/>
          <p:nvPr/>
        </p:nvSpPr>
        <p:spPr>
          <a:xfrm>
            <a:off x="548640" y="1481328"/>
            <a:ext cx="11094415" cy="2194560"/>
          </a:xfrm>
          <a:prstGeom prst="roundRect">
            <a:avLst>
              <a:gd name="adj" fmla="val 5000"/>
            </a:avLst>
          </a:prstGeom>
          <a:solidFill>
            <a:srgbClr val="EEF0FF"/>
          </a:solidFill>
          <a:ln w="12700">
            <a:solidFill>
              <a:srgbClr val="EEF0FF"/>
            </a:solidFill>
            <a:prstDash val="solid"/>
          </a:ln>
        </p:spPr>
      </p:sp>
      <p:pic>
        <p:nvPicPr>
          <p:cNvPr id="7" name="Image 0" descr="C:\Users\sudee\Downloads\Generative_AI_2027_Teaching_Pack\AI2027_Project\build\eq\a7ce078a697fdda9.png">    </p:cNvPr>
          <p:cNvPicPr>
            <a:picLocks noChangeAspect="1"/>
          </p:cNvPicPr>
          <p:nvPr/>
        </p:nvPicPr>
        <p:blipFill>
          <a:blip r:embed="rId1"/>
          <a:stretch>
            <a:fillRect/>
          </a:stretch>
        </p:blipFill>
        <p:spPr>
          <a:xfrm>
            <a:off x="1929232" y="1768856"/>
            <a:ext cx="8333232" cy="704088"/>
          </a:xfrm>
          <a:prstGeom prst="rect">
            <a:avLst/>
          </a:prstGeom>
        </p:spPr>
      </p:pic>
      <p:pic>
        <p:nvPicPr>
          <p:cNvPr id="8" name="Image 1" descr="C:\Users\sudee\Downloads\Generative_AI_2027_Teaching_Pack\AI2027_Project\build\eq\45bd3f17ddae1873.png">    </p:cNvPr>
          <p:cNvPicPr>
            <a:picLocks noChangeAspect="1"/>
          </p:cNvPicPr>
          <p:nvPr/>
        </p:nvPicPr>
        <p:blipFill>
          <a:blip r:embed="rId2"/>
          <a:stretch>
            <a:fillRect/>
          </a:stretch>
        </p:blipFill>
        <p:spPr>
          <a:xfrm>
            <a:off x="4542892" y="2714752"/>
            <a:ext cx="3105912" cy="673608"/>
          </a:xfrm>
          <a:prstGeom prst="rect">
            <a:avLst/>
          </a:prstGeom>
        </p:spPr>
      </p:pic>
      <p:sp>
        <p:nvSpPr>
          <p:cNvPr id="9" name="Text 5"/>
          <p:cNvSpPr txBox="1"/>
          <p:nvPr/>
        </p:nvSpPr>
        <p:spPr>
          <a:xfrm>
            <a:off x="548640" y="390448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10" name="Text 6"/>
          <p:cNvSpPr txBox="1"/>
          <p:nvPr/>
        </p:nvSpPr>
        <p:spPr>
          <a:xfrm>
            <a:off x="548640" y="4288536"/>
            <a:ext cx="6035040" cy="1993392"/>
          </a:xfrm>
          <a:prstGeom prst="rect">
            <a:avLst/>
          </a:prstGeom>
          <a:noFill/>
          <a:ln/>
        </p:spPr>
        <p:txBody>
          <a:bodyPr wrap="square" lIns="50800" tIns="50800" rIns="50800" bIns="50800" rtlCol="0" anchor="t"/>
          <a:lstStyle/>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Reference (8 words): the exam results are published in four weeks.</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Output (6 words): results are published after four weeks.</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Overlap 5: recall 5/8, precision 5/6, F1 ≈ 0.71.</a:t>
            </a:r>
            <a:endParaRPr lang="en-US" sz="1900" dirty="0"/>
          </a:p>
        </p:txBody>
      </p:sp>
      <p:sp>
        <p:nvSpPr>
          <p:cNvPr id="11" name="Text 7"/>
          <p:cNvSpPr txBox="1"/>
          <p:nvPr/>
        </p:nvSpPr>
        <p:spPr>
          <a:xfrm>
            <a:off x="6858000" y="390448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2" name="Text 8"/>
          <p:cNvSpPr txBox="1"/>
          <p:nvPr/>
        </p:nvSpPr>
        <p:spPr>
          <a:xfrm>
            <a:off x="6858000" y="431596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ROUGE-1</a:t>
            </a:r>
            <a:endParaRPr lang="en-US" sz="1800" dirty="0"/>
          </a:p>
        </p:txBody>
      </p:sp>
      <p:sp>
        <p:nvSpPr>
          <p:cNvPr id="13" name="Text 9"/>
          <p:cNvSpPr txBox="1"/>
          <p:nvPr/>
        </p:nvSpPr>
        <p:spPr>
          <a:xfrm>
            <a:off x="8046720" y="431596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single-word overlap</a:t>
            </a:r>
            <a:endParaRPr lang="en-US" sz="1700" dirty="0"/>
          </a:p>
        </p:txBody>
      </p:sp>
      <p:sp>
        <p:nvSpPr>
          <p:cNvPr id="14" name="Text 10"/>
          <p:cNvSpPr txBox="1"/>
          <p:nvPr/>
        </p:nvSpPr>
        <p:spPr>
          <a:xfrm>
            <a:off x="6858000" y="500176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F1</a:t>
            </a:r>
            <a:endParaRPr lang="en-US" sz="1800" dirty="0"/>
          </a:p>
        </p:txBody>
      </p:sp>
      <p:sp>
        <p:nvSpPr>
          <p:cNvPr id="15" name="Text 11"/>
          <p:cNvSpPr txBox="1"/>
          <p:nvPr/>
        </p:nvSpPr>
        <p:spPr>
          <a:xfrm>
            <a:off x="8046720" y="500176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balances both</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LLM-as-a-judge</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Judge with a written rubric.</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Swap the answer order.</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Calibrate with human labels.</a:t>
            </a:r>
            <a:endParaRPr lang="en-US" sz="26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Bias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Check</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Position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Swap A and B</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Length</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Control length</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Self-preference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Different judge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 rubric for human (or LLM) evaluation of summaries</a:t>
            </a:r>
            <a:endParaRPr lang="en-US" sz="3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1920187"/>
                <a:gridCol w="3840374"/>
                <a:gridCol w="2346896"/>
                <a:gridCol w="298695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Criterion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Faithful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Unsupported claims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Minor gap</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All supported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Coverage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Key omissions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Most points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All points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Clarity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Hard to follow</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Clear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Audience-ready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Format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Ignored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Minor slips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Exact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8" name="Text 5"/>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Two raters score a sample.</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Statistics: don't fool yourself with small test sets</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20 items: one answer = 5 points.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Compare prompts on the same items.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Keep a final test separate.</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40 items</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80% correct: 95% interval ≈ 65%–89%</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400 items</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80% correct: 95% interval ≈ 76%–84%</a:t>
            </a:r>
            <a:endParaRPr lang="en-US" sz="2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05</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Limitations, security and tools</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What can still go wrong, and what tools help?</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Limitations that prompting cannot remove</a:t>
            </a:r>
            <a:endParaRPr lang="en-US" sz="3200" dirty="0"/>
          </a:p>
        </p:txBody>
      </p:sp>
      <p:sp>
        <p:nvSpPr>
          <p:cNvPr id="6" name="Shape 4"/>
          <p:cNvSpPr/>
          <p:nvPr/>
        </p:nvSpPr>
        <p:spPr>
          <a:xfrm>
            <a:off x="548640" y="1481328"/>
            <a:ext cx="351525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Hallucination</a:t>
            </a:r>
            <a:endParaRPr lang="en-US" sz="2100" dirty="0"/>
          </a:p>
        </p:txBody>
      </p:sp>
      <p:sp>
        <p:nvSpPr>
          <p:cNvPr id="8" name="Text 6"/>
          <p:cNvSpPr txBox="1"/>
          <p:nvPr/>
        </p:nvSpPr>
        <p:spPr>
          <a:xfrm>
            <a:off x="731520"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Plausible invented reference</a:t>
            </a:r>
            <a:endParaRPr lang="en-US" sz="2200" dirty="0"/>
          </a:p>
        </p:txBody>
      </p:sp>
      <p:sp>
        <p:nvSpPr>
          <p:cNvPr id="9" name="Shape 7"/>
          <p:cNvSpPr/>
          <p:nvPr/>
        </p:nvSpPr>
        <p:spPr>
          <a:xfrm>
            <a:off x="4338218" y="1481328"/>
            <a:ext cx="351525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4521098"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Sensitivity</a:t>
            </a:r>
            <a:endParaRPr lang="en-US" sz="2100" dirty="0"/>
          </a:p>
        </p:txBody>
      </p:sp>
      <p:sp>
        <p:nvSpPr>
          <p:cNvPr id="11" name="Text 9"/>
          <p:cNvSpPr txBox="1"/>
          <p:nvPr/>
        </p:nvSpPr>
        <p:spPr>
          <a:xfrm>
            <a:off x="4521098"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Example order changes label</a:t>
            </a:r>
            <a:endParaRPr lang="en-US" sz="2200" dirty="0"/>
          </a:p>
        </p:txBody>
      </p:sp>
      <p:sp>
        <p:nvSpPr>
          <p:cNvPr id="12" name="Shape 10"/>
          <p:cNvSpPr/>
          <p:nvPr/>
        </p:nvSpPr>
        <p:spPr>
          <a:xfrm>
            <a:off x="8127797" y="1481328"/>
            <a:ext cx="351525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8310677"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Cut-off</a:t>
            </a:r>
            <a:endParaRPr lang="en-US" sz="2100" dirty="0"/>
          </a:p>
        </p:txBody>
      </p:sp>
      <p:sp>
        <p:nvSpPr>
          <p:cNvPr id="14" name="Text 12"/>
          <p:cNvSpPr txBox="1"/>
          <p:nvPr/>
        </p:nvSpPr>
        <p:spPr>
          <a:xfrm>
            <a:off x="8310677"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Unaware of this year's fees</a:t>
            </a:r>
            <a:endParaRPr lang="en-US" sz="2200" dirty="0"/>
          </a:p>
        </p:txBody>
      </p:sp>
      <p:sp>
        <p:nvSpPr>
          <p:cNvPr id="15" name="Shape 13"/>
          <p:cNvSpPr/>
          <p:nvPr/>
        </p:nvSpPr>
        <p:spPr>
          <a:xfrm>
            <a:off x="548640" y="4032504"/>
            <a:ext cx="351525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731520"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Sycophancy</a:t>
            </a:r>
            <a:endParaRPr lang="en-US" sz="2100" dirty="0"/>
          </a:p>
        </p:txBody>
      </p:sp>
      <p:sp>
        <p:nvSpPr>
          <p:cNvPr id="17" name="Text 15"/>
          <p:cNvSpPr txBox="1"/>
          <p:nvPr/>
        </p:nvSpPr>
        <p:spPr>
          <a:xfrm>
            <a:off x="731520"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Drops correct answer when doubted</a:t>
            </a:r>
            <a:endParaRPr lang="en-US" sz="2200" dirty="0"/>
          </a:p>
        </p:txBody>
      </p:sp>
      <p:sp>
        <p:nvSpPr>
          <p:cNvPr id="18" name="Shape 16"/>
          <p:cNvSpPr/>
          <p:nvPr/>
        </p:nvSpPr>
        <p:spPr>
          <a:xfrm>
            <a:off x="4338218" y="4032504"/>
            <a:ext cx="3515258" cy="2276856"/>
          </a:xfrm>
          <a:prstGeom prst="roundRect">
            <a:avLst>
              <a:gd name="adj" fmla="val 4819"/>
            </a:avLst>
          </a:prstGeom>
          <a:solidFill>
            <a:srgbClr val="EEF0FF"/>
          </a:solidFill>
          <a:ln w="12700">
            <a:solidFill>
              <a:srgbClr val="EEF0FF"/>
            </a:solidFill>
            <a:prstDash val="solid"/>
          </a:ln>
        </p:spPr>
      </p:sp>
      <p:sp>
        <p:nvSpPr>
          <p:cNvPr id="19" name="Text 17"/>
          <p:cNvSpPr txBox="1"/>
          <p:nvPr/>
        </p:nvSpPr>
        <p:spPr>
          <a:xfrm>
            <a:off x="4521098"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Bias</a:t>
            </a:r>
            <a:endParaRPr lang="en-US" sz="2100" dirty="0"/>
          </a:p>
        </p:txBody>
      </p:sp>
      <p:sp>
        <p:nvSpPr>
          <p:cNvPr id="20" name="Text 18"/>
          <p:cNvSpPr txBox="1"/>
          <p:nvPr/>
        </p:nvSpPr>
        <p:spPr>
          <a:xfrm>
            <a:off x="4521098"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Name change alters reply</a:t>
            </a:r>
            <a:endParaRPr lang="en-US" sz="2200" dirty="0"/>
          </a:p>
        </p:txBody>
      </p:sp>
      <p:sp>
        <p:nvSpPr>
          <p:cNvPr id="21" name="Shape 19"/>
          <p:cNvSpPr/>
          <p:nvPr/>
        </p:nvSpPr>
        <p:spPr>
          <a:xfrm>
            <a:off x="8127797" y="4032504"/>
            <a:ext cx="3515258" cy="2276856"/>
          </a:xfrm>
          <a:prstGeom prst="roundRect">
            <a:avLst>
              <a:gd name="adj" fmla="val 4819"/>
            </a:avLst>
          </a:prstGeom>
          <a:solidFill>
            <a:srgbClr val="F5F3FF"/>
          </a:solidFill>
          <a:ln w="12700">
            <a:solidFill>
              <a:srgbClr val="EEF0FF"/>
            </a:solidFill>
            <a:prstDash val="solid"/>
          </a:ln>
        </p:spPr>
      </p:sp>
      <p:sp>
        <p:nvSpPr>
          <p:cNvPr id="22" name="Text 20"/>
          <p:cNvSpPr txBox="1"/>
          <p:nvPr/>
        </p:nvSpPr>
        <p:spPr>
          <a:xfrm>
            <a:off x="8310677"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Non-determinism</a:t>
            </a:r>
            <a:endParaRPr lang="en-US" sz="2100" dirty="0"/>
          </a:p>
        </p:txBody>
      </p:sp>
      <p:sp>
        <p:nvSpPr>
          <p:cNvPr id="23" name="Text 21"/>
          <p:cNvSpPr txBox="1"/>
          <p:nvPr/>
        </p:nvSpPr>
        <p:spPr>
          <a:xfrm>
            <a:off x="8310677"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Service updates change replies</a:t>
            </a:r>
            <a:endParaRPr lang="en-US"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Prompt injection and jailbreaks: a real measurement</a:t>
            </a:r>
            <a:endParaRPr lang="en-US" sz="3200" dirty="0"/>
          </a:p>
        </p:txBody>
      </p:sp>
      <p:pic>
        <p:nvPicPr>
          <p:cNvPr id="6" name="Image 0" descr="C:\Users\sudee\Downloads\Generative_AI_2027_Teaching_Pack\AI2027_Project\build\figures\week_07\injection_results.png">    </p:cNvPr>
          <p:cNvPicPr>
            <a:picLocks noChangeAspect="1"/>
          </p:cNvPicPr>
          <p:nvPr/>
        </p:nvPicPr>
        <p:blipFill>
          <a:blip r:embed="rId1"/>
          <a:stretch>
            <a:fillRect/>
          </a:stretch>
        </p:blipFill>
        <p:spPr>
          <a:xfrm>
            <a:off x="3296772" y="1481328"/>
            <a:ext cx="5598152" cy="3367278"/>
          </a:xfrm>
          <a:prstGeom prst="rect">
            <a:avLst/>
          </a:prstGeom>
        </p:spPr>
      </p:pic>
      <p:sp>
        <p:nvSpPr>
          <p:cNvPr id="7" name="Text 4"/>
          <p:cNvSpPr txBox="1"/>
          <p:nvPr/>
        </p:nvSpPr>
        <p:spPr>
          <a:xfrm>
            <a:off x="548640" y="5031486"/>
            <a:ext cx="11094415" cy="1277874"/>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Injection hides commands in content.</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Keyword flags on 3 injected documents: naive 3 of 3, defended 2 of 3.</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Enforce permissions and review in code.</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Supporting tools</a:t>
            </a:r>
            <a:endParaRPr lang="en-US" sz="3200" dirty="0"/>
          </a:p>
        </p:txBody>
      </p:sp>
      <p:sp>
        <p:nvSpPr>
          <p:cNvPr id="6" name="Shape 4"/>
          <p:cNvSpPr/>
          <p:nvPr/>
        </p:nvSpPr>
        <p:spPr>
          <a:xfrm>
            <a:off x="548640" y="1481328"/>
            <a:ext cx="351525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Playgrounds</a:t>
            </a:r>
            <a:endParaRPr lang="en-US" sz="2100" dirty="0"/>
          </a:p>
        </p:txBody>
      </p:sp>
      <p:sp>
        <p:nvSpPr>
          <p:cNvPr id="8" name="Text 6"/>
          <p:cNvSpPr txBox="1"/>
          <p:nvPr/>
        </p:nvSpPr>
        <p:spPr>
          <a:xfrm>
            <a:off x="731520"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Try prompts by hand</a:t>
            </a:r>
            <a:endParaRPr lang="en-US" sz="2200" dirty="0"/>
          </a:p>
        </p:txBody>
      </p:sp>
      <p:sp>
        <p:nvSpPr>
          <p:cNvPr id="9" name="Shape 7"/>
          <p:cNvSpPr/>
          <p:nvPr/>
        </p:nvSpPr>
        <p:spPr>
          <a:xfrm>
            <a:off x="4338218" y="1481328"/>
            <a:ext cx="351525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4521098"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Version control</a:t>
            </a:r>
            <a:endParaRPr lang="en-US" sz="2100" dirty="0"/>
          </a:p>
        </p:txBody>
      </p:sp>
      <p:sp>
        <p:nvSpPr>
          <p:cNvPr id="11" name="Text 9"/>
          <p:cNvSpPr txBox="1"/>
          <p:nvPr/>
        </p:nvSpPr>
        <p:spPr>
          <a:xfrm>
            <a:off x="4521098"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Prompts beside code</a:t>
            </a:r>
            <a:endParaRPr lang="en-US" sz="2200" dirty="0"/>
          </a:p>
        </p:txBody>
      </p:sp>
      <p:sp>
        <p:nvSpPr>
          <p:cNvPr id="12" name="Shape 10"/>
          <p:cNvSpPr/>
          <p:nvPr/>
        </p:nvSpPr>
        <p:spPr>
          <a:xfrm>
            <a:off x="8127797" y="1481328"/>
            <a:ext cx="351525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8310677"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Eval frameworks</a:t>
            </a:r>
            <a:endParaRPr lang="en-US" sz="2100" dirty="0"/>
          </a:p>
        </p:txBody>
      </p:sp>
      <p:sp>
        <p:nvSpPr>
          <p:cNvPr id="14" name="Text 12"/>
          <p:cNvSpPr txBox="1"/>
          <p:nvPr/>
        </p:nvSpPr>
        <p:spPr>
          <a:xfrm>
            <a:off x="8310677"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promptfoo, Inspect, OpenAI Evals</a:t>
            </a:r>
            <a:endParaRPr lang="en-US" sz="2200" dirty="0"/>
          </a:p>
        </p:txBody>
      </p:sp>
      <p:sp>
        <p:nvSpPr>
          <p:cNvPr id="15" name="Shape 13"/>
          <p:cNvSpPr/>
          <p:nvPr/>
        </p:nvSpPr>
        <p:spPr>
          <a:xfrm>
            <a:off x="548640" y="4032504"/>
            <a:ext cx="351525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731520"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Optimisers</a:t>
            </a:r>
            <a:endParaRPr lang="en-US" sz="2100" dirty="0"/>
          </a:p>
        </p:txBody>
      </p:sp>
      <p:sp>
        <p:nvSpPr>
          <p:cNvPr id="17" name="Text 15"/>
          <p:cNvSpPr txBox="1"/>
          <p:nvPr/>
        </p:nvSpPr>
        <p:spPr>
          <a:xfrm>
            <a:off x="731520"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Search prompts, e.g. DSPy</a:t>
            </a:r>
            <a:endParaRPr lang="en-US" sz="2200" dirty="0"/>
          </a:p>
        </p:txBody>
      </p:sp>
      <p:sp>
        <p:nvSpPr>
          <p:cNvPr id="18" name="Shape 16"/>
          <p:cNvSpPr/>
          <p:nvPr/>
        </p:nvSpPr>
        <p:spPr>
          <a:xfrm>
            <a:off x="4338218" y="4032504"/>
            <a:ext cx="3515258" cy="2276856"/>
          </a:xfrm>
          <a:prstGeom prst="roundRect">
            <a:avLst>
              <a:gd name="adj" fmla="val 4819"/>
            </a:avLst>
          </a:prstGeom>
          <a:solidFill>
            <a:srgbClr val="EEF0FF"/>
          </a:solidFill>
          <a:ln w="12700">
            <a:solidFill>
              <a:srgbClr val="EEF0FF"/>
            </a:solidFill>
            <a:prstDash val="solid"/>
          </a:ln>
        </p:spPr>
      </p:sp>
      <p:sp>
        <p:nvSpPr>
          <p:cNvPr id="19" name="Text 17"/>
          <p:cNvSpPr txBox="1"/>
          <p:nvPr/>
        </p:nvSpPr>
        <p:spPr>
          <a:xfrm>
            <a:off x="4521098"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Observability</a:t>
            </a:r>
            <a:endParaRPr lang="en-US" sz="2100" dirty="0"/>
          </a:p>
        </p:txBody>
      </p:sp>
      <p:sp>
        <p:nvSpPr>
          <p:cNvPr id="20" name="Text 18"/>
          <p:cNvSpPr txBox="1"/>
          <p:nvPr/>
        </p:nvSpPr>
        <p:spPr>
          <a:xfrm>
            <a:off x="4521098"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Log versions, tokens, errors</a:t>
            </a:r>
            <a:endParaRPr lang="en-US" sz="2200" dirty="0"/>
          </a:p>
        </p:txBody>
      </p:sp>
      <p:sp>
        <p:nvSpPr>
          <p:cNvPr id="21" name="Shape 19"/>
          <p:cNvSpPr/>
          <p:nvPr/>
        </p:nvSpPr>
        <p:spPr>
          <a:xfrm>
            <a:off x="8127797" y="4032504"/>
            <a:ext cx="3515258" cy="2276856"/>
          </a:xfrm>
          <a:prstGeom prst="roundRect">
            <a:avLst>
              <a:gd name="adj" fmla="val 4819"/>
            </a:avLst>
          </a:prstGeom>
          <a:solidFill>
            <a:srgbClr val="F5F3FF"/>
          </a:solidFill>
          <a:ln w="12700">
            <a:solidFill>
              <a:srgbClr val="EEF0FF"/>
            </a:solidFill>
            <a:prstDash val="solid"/>
          </a:ln>
        </p:spPr>
      </p:sp>
      <p:sp>
        <p:nvSpPr>
          <p:cNvPr id="22" name="Text 20"/>
          <p:cNvSpPr txBox="1"/>
          <p:nvPr/>
        </p:nvSpPr>
        <p:spPr>
          <a:xfrm>
            <a:off x="8310677"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Guardrails</a:t>
            </a:r>
            <a:endParaRPr lang="en-US" sz="2100" dirty="0"/>
          </a:p>
        </p:txBody>
      </p:sp>
      <p:sp>
        <p:nvSpPr>
          <p:cNvPr id="23" name="Text 21"/>
          <p:cNvSpPr txBox="1"/>
          <p:nvPr/>
        </p:nvSpPr>
        <p:spPr>
          <a:xfrm>
            <a:off x="8310677"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Check inputs and outputs</a:t>
            </a:r>
            <a:endParaRPr lang="en-US" sz="2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Responsible AI lens: prompting and evaluation</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Protect personal data in prompts.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Test groups and languages.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Document versions and responsibility.</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Risk</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Check</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Privacy</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Invented or approved data</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Bias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Swap names, dialects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Over-reliance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Human review</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Choose on development; report on held-out</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Part 1</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messages</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summaries</a:t>
            </a:r>
            <a:endParaRPr lang="en-US" sz="1441" dirty="0"/>
          </a:p>
        </p:txBody>
      </p:sp>
      <p:sp>
        <p:nvSpPr>
          <p:cNvPr id="11" name="Shape 9"/>
          <p:cNvSpPr/>
          <p:nvPr/>
        </p:nvSpPr>
        <p:spPr>
          <a:xfrm>
            <a:off x="7783680" y="3838927"/>
            <a:ext cx="244024" cy="0"/>
          </a:xfrm>
          <a:prstGeom prst="line">
            <a:avLst/>
          </a:prstGeom>
          <a:noFill/>
          <a:ln w="22860">
            <a:solidFill>
              <a:srgbClr val="009E73"/>
            </a:solidFill>
            <a:prstDash val="solid"/>
            <a:tailEnd type="triangle"/>
          </a:ln>
        </p:spPr>
      </p:sp>
      <p:sp>
        <p:nvSpPr>
          <p:cNvPr id="12" name="Text 10"/>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messages</a:t>
            </a:r>
            <a:endParaRPr lang="en-US" sz="1441" dirty="0"/>
          </a:p>
        </p:txBody>
      </p:sp>
      <p:sp>
        <p:nvSpPr>
          <p:cNvPr id="13" name="Shape 11"/>
          <p:cNvSpPr/>
          <p:nvPr/>
        </p:nvSpPr>
        <p:spPr>
          <a:xfrm>
            <a:off x="9593525" y="3838927"/>
            <a:ext cx="244024" cy="0"/>
          </a:xfrm>
          <a:prstGeom prst="line">
            <a:avLst/>
          </a:prstGeom>
          <a:noFill/>
          <a:ln w="22860">
            <a:solidFill>
              <a:srgbClr val="009E73"/>
            </a:solidFill>
            <a:prstDash val="solid"/>
            <a:tailEnd type="triangle"/>
          </a:ln>
        </p:spPr>
      </p:sp>
      <p:sp>
        <p:nvSpPr>
          <p:cNvPr id="14" name="Text 12"/>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accuracy</a:t>
            </a:r>
            <a:endParaRPr lang="en-US" sz="1441" dirty="0"/>
          </a:p>
        </p:txBody>
      </p:sp>
      <p:sp>
        <p:nvSpPr>
          <p:cNvPr id="15" name="Shape 13"/>
          <p:cNvSpPr/>
          <p:nvPr/>
        </p:nvSpPr>
        <p:spPr>
          <a:xfrm>
            <a:off x="5190925" y="4738766"/>
            <a:ext cx="0" cy="198270"/>
          </a:xfrm>
          <a:prstGeom prst="line">
            <a:avLst/>
          </a:prstGeom>
          <a:noFill/>
          <a:ln w="22860">
            <a:solidFill>
              <a:srgbClr val="0072B2"/>
            </a:solidFill>
            <a:prstDash val="solid"/>
          </a:ln>
        </p:spPr>
      </p:sp>
      <p:sp>
        <p:nvSpPr>
          <p:cNvPr id="16" name="Shape 14"/>
          <p:cNvSpPr/>
          <p:nvPr/>
        </p:nvSpPr>
        <p:spPr>
          <a:xfrm>
            <a:off x="5190925" y="4937035"/>
            <a:ext cx="3619690" cy="0"/>
          </a:xfrm>
          <a:prstGeom prst="line">
            <a:avLst/>
          </a:prstGeom>
          <a:noFill/>
          <a:ln w="22860">
            <a:solidFill>
              <a:srgbClr val="0072B2"/>
            </a:solidFill>
            <a:prstDash val="solid"/>
          </a:ln>
        </p:spPr>
      </p:sp>
      <p:sp>
        <p:nvSpPr>
          <p:cNvPr id="17" name="Shape 15"/>
          <p:cNvSpPr/>
          <p:nvPr/>
        </p:nvSpPr>
        <p:spPr>
          <a:xfrm flipV="1">
            <a:off x="8810615" y="4738766"/>
            <a:ext cx="0" cy="198270"/>
          </a:xfrm>
          <a:prstGeom prst="line">
            <a:avLst/>
          </a:prstGeom>
          <a:noFill/>
          <a:ln w="22860">
            <a:solidFill>
              <a:srgbClr val="0072B2"/>
            </a:solidFill>
            <a:prstDash val="solid"/>
            <a:tailEnd type="triangle"/>
          </a:ln>
        </p:spPr>
      </p:sp>
      <p:sp>
        <p:nvSpPr>
          <p:cNvPr id="18" name="Text 16"/>
          <p:cNvSpPr txBox="1"/>
          <p:nvPr/>
        </p:nvSpPr>
        <p:spPr>
          <a:xfrm>
            <a:off x="6343843" y="4967538"/>
            <a:ext cx="1313854"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chosen prompt</a:t>
            </a:r>
            <a:endParaRPr lang="en-US" sz="1441" dirty="0"/>
          </a:p>
        </p:txBody>
      </p:sp>
      <p:sp>
        <p:nvSpPr>
          <p:cNvPr id="19" name="Shape 17"/>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20" name="Text 18"/>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Dev set</a:t>
            </a:r>
            <a:endParaRPr lang="en-US" sz="1561" dirty="0"/>
          </a:p>
        </p:txBody>
      </p:sp>
      <p:sp>
        <p:nvSpPr>
          <p:cNvPr id="21" name="Text 19"/>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20 messages</a:t>
            </a:r>
            <a:endParaRPr lang="en-US" sz="1441" dirty="0"/>
          </a:p>
        </p:txBody>
      </p:sp>
      <p:sp>
        <p:nvSpPr>
          <p:cNvPr id="22" name="Shape 20"/>
          <p:cNvSpPr/>
          <p:nvPr/>
        </p:nvSpPr>
        <p:spPr>
          <a:xfrm>
            <a:off x="2598170" y="2939089"/>
            <a:ext cx="1565821" cy="1799677"/>
          </a:xfrm>
          <a:prstGeom prst="rect">
            <a:avLst/>
          </a:prstGeom>
          <a:solidFill>
            <a:srgbClr val="E5F7EF"/>
          </a:solidFill>
          <a:ln w="15240">
            <a:solidFill>
              <a:srgbClr val="009E73"/>
            </a:solidFill>
            <a:prstDash val="solid"/>
          </a:ln>
        </p:spPr>
      </p:sp>
      <p:sp>
        <p:nvSpPr>
          <p:cNvPr id="23" name="Text 21"/>
          <p:cNvSpPr txBox="1"/>
          <p:nvPr/>
        </p:nvSpPr>
        <p:spPr>
          <a:xfrm>
            <a:off x="2659176"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Run prompts</a:t>
            </a:r>
            <a:endParaRPr lang="en-US" sz="1561" dirty="0"/>
          </a:p>
        </p:txBody>
      </p:sp>
      <p:sp>
        <p:nvSpPr>
          <p:cNvPr id="24" name="Text 22"/>
          <p:cNvSpPr txBox="1"/>
          <p:nvPr/>
        </p:nvSpPr>
        <p:spPr>
          <a:xfrm>
            <a:off x="2659176"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4 versions</a:t>
            </a:r>
            <a:endParaRPr lang="en-US" sz="1441" dirty="0"/>
          </a:p>
        </p:txBody>
      </p:sp>
      <p:sp>
        <p:nvSpPr>
          <p:cNvPr id="25" name="Text 23"/>
          <p:cNvSpPr txBox="1"/>
          <p:nvPr/>
        </p:nvSpPr>
        <p:spPr>
          <a:xfrm>
            <a:off x="262104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evaluate</a:t>
            </a:r>
            <a:endParaRPr lang="en-US" sz="1441" dirty="0"/>
          </a:p>
        </p:txBody>
      </p:sp>
      <p:sp>
        <p:nvSpPr>
          <p:cNvPr id="26" name="Shape 24"/>
          <p:cNvSpPr/>
          <p:nvPr/>
        </p:nvSpPr>
        <p:spPr>
          <a:xfrm>
            <a:off x="4408015" y="2939089"/>
            <a:ext cx="1565821" cy="1799677"/>
          </a:xfrm>
          <a:prstGeom prst="roundRect">
            <a:avLst>
              <a:gd name="adj" fmla="val 4672"/>
            </a:avLst>
          </a:prstGeom>
          <a:solidFill>
            <a:srgbClr val="FFF0E6"/>
          </a:solidFill>
          <a:ln w="15240">
            <a:solidFill>
              <a:srgbClr val="D55E00"/>
            </a:solidFill>
            <a:prstDash val="solid"/>
          </a:ln>
        </p:spPr>
      </p:sp>
      <p:sp>
        <p:nvSpPr>
          <p:cNvPr id="27" name="Text 25"/>
          <p:cNvSpPr txBox="1"/>
          <p:nvPr/>
        </p:nvSpPr>
        <p:spPr>
          <a:xfrm>
            <a:off x="446902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Choose</a:t>
            </a:r>
            <a:endParaRPr lang="en-US" sz="1561" dirty="0"/>
          </a:p>
        </p:txBody>
      </p:sp>
      <p:sp>
        <p:nvSpPr>
          <p:cNvPr id="28" name="Text 26"/>
          <p:cNvSpPr txBox="1"/>
          <p:nvPr/>
        </p:nvSpPr>
        <p:spPr>
          <a:xfrm>
            <a:off x="446902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best</a:t>
            </a:r>
            <a:endParaRPr lang="en-US" sz="1441" dirty="0"/>
          </a:p>
        </p:txBody>
      </p:sp>
      <p:sp>
        <p:nvSpPr>
          <p:cNvPr id="29" name="Shape 27"/>
          <p:cNvSpPr/>
          <p:nvPr/>
        </p:nvSpPr>
        <p:spPr>
          <a:xfrm>
            <a:off x="6217860" y="2939089"/>
            <a:ext cx="1565821" cy="1799677"/>
          </a:xfrm>
          <a:prstGeom prst="roundRect">
            <a:avLst>
              <a:gd name="adj" fmla="val 4672"/>
            </a:avLst>
          </a:prstGeom>
          <a:solidFill>
            <a:srgbClr val="E4F2FB"/>
          </a:solidFill>
          <a:ln w="15240">
            <a:solidFill>
              <a:srgbClr val="0072B2"/>
            </a:solidFill>
            <a:prstDash val="solid"/>
          </a:ln>
        </p:spPr>
      </p:sp>
      <p:sp>
        <p:nvSpPr>
          <p:cNvPr id="30" name="Text 28"/>
          <p:cNvSpPr txBox="1"/>
          <p:nvPr/>
        </p:nvSpPr>
        <p:spPr>
          <a:xfrm>
            <a:off x="627886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Held-out</a:t>
            </a:r>
            <a:endParaRPr lang="en-US" sz="1561" dirty="0"/>
          </a:p>
        </p:txBody>
      </p:sp>
      <p:sp>
        <p:nvSpPr>
          <p:cNvPr id="31" name="Text 29"/>
          <p:cNvSpPr txBox="1"/>
          <p:nvPr/>
        </p:nvSpPr>
        <p:spPr>
          <a:xfrm>
            <a:off x="627886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20 new</a:t>
            </a:r>
            <a:endParaRPr lang="en-US" sz="1441" dirty="0"/>
          </a:p>
        </p:txBody>
      </p:sp>
      <p:sp>
        <p:nvSpPr>
          <p:cNvPr id="32" name="Shape 30"/>
          <p:cNvSpPr/>
          <p:nvPr/>
        </p:nvSpPr>
        <p:spPr>
          <a:xfrm>
            <a:off x="8027705" y="2939089"/>
            <a:ext cx="1565821" cy="1799677"/>
          </a:xfrm>
          <a:prstGeom prst="rect">
            <a:avLst/>
          </a:prstGeom>
          <a:solidFill>
            <a:srgbClr val="E5F7EF"/>
          </a:solidFill>
          <a:ln w="15240">
            <a:solidFill>
              <a:srgbClr val="009E73"/>
            </a:solidFill>
            <a:prstDash val="solid"/>
          </a:ln>
        </p:spPr>
      </p:sp>
      <p:sp>
        <p:nvSpPr>
          <p:cNvPr id="33" name="Text 31"/>
          <p:cNvSpPr txBox="1"/>
          <p:nvPr/>
        </p:nvSpPr>
        <p:spPr>
          <a:xfrm>
            <a:off x="808871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Run once</a:t>
            </a:r>
            <a:endParaRPr lang="en-US" sz="1561" dirty="0"/>
          </a:p>
        </p:txBody>
      </p:sp>
      <p:sp>
        <p:nvSpPr>
          <p:cNvPr id="34" name="Text 32"/>
          <p:cNvSpPr txBox="1"/>
          <p:nvPr/>
        </p:nvSpPr>
        <p:spPr>
          <a:xfrm>
            <a:off x="808871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chosen</a:t>
            </a:r>
            <a:endParaRPr lang="en-US" sz="1441" dirty="0"/>
          </a:p>
        </p:txBody>
      </p:sp>
      <p:sp>
        <p:nvSpPr>
          <p:cNvPr id="35" name="Shape 33"/>
          <p:cNvSpPr/>
          <p:nvPr/>
        </p:nvSpPr>
        <p:spPr>
          <a:xfrm>
            <a:off x="9837549" y="2939089"/>
            <a:ext cx="1565821" cy="1799677"/>
          </a:xfrm>
          <a:prstGeom prst="roundRect">
            <a:avLst>
              <a:gd name="adj" fmla="val 4672"/>
            </a:avLst>
          </a:prstGeom>
          <a:solidFill>
            <a:srgbClr val="F9EAF4"/>
          </a:solidFill>
          <a:ln w="15240">
            <a:solidFill>
              <a:srgbClr val="CC79A7"/>
            </a:solidFill>
            <a:prstDash val="solid"/>
          </a:ln>
        </p:spPr>
      </p:sp>
      <p:sp>
        <p:nvSpPr>
          <p:cNvPr id="36" name="Text 34"/>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Report</a:t>
            </a:r>
            <a:endParaRPr lang="en-US" sz="1561" dirty="0"/>
          </a:p>
        </p:txBody>
      </p:sp>
      <p:sp>
        <p:nvSpPr>
          <p:cNvPr id="37" name="Text 35"/>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both scores</a:t>
            </a:r>
            <a:endParaRPr lang="en-US" sz="1441" dirty="0"/>
          </a:p>
        </p:txBody>
      </p:sp>
      <p:sp>
        <p:nvSpPr>
          <p:cNvPr id="38" name="Shape 36"/>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9" name="Text 37"/>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0" name="Shape 38"/>
          <p:cNvSpPr/>
          <p:nvPr/>
        </p:nvSpPr>
        <p:spPr>
          <a:xfrm>
            <a:off x="1676436" y="5630979"/>
            <a:ext cx="198270" cy="198270"/>
          </a:xfrm>
          <a:prstGeom prst="rect">
            <a:avLst/>
          </a:prstGeom>
          <a:solidFill>
            <a:srgbClr val="E5F7EF"/>
          </a:solidFill>
          <a:ln w="15240">
            <a:solidFill>
              <a:srgbClr val="009E73"/>
            </a:solidFill>
            <a:prstDash val="solid"/>
          </a:ln>
        </p:spPr>
      </p:sp>
      <p:sp>
        <p:nvSpPr>
          <p:cNvPr id="41" name="Text 39"/>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2" name="Shape 40"/>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43" name="Text 41"/>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44" name="Shape 42"/>
          <p:cNvSpPr/>
          <p:nvPr/>
        </p:nvSpPr>
        <p:spPr>
          <a:xfrm>
            <a:off x="3705159" y="5630979"/>
            <a:ext cx="198270" cy="198270"/>
          </a:xfrm>
          <a:prstGeom prst="roundRect">
            <a:avLst>
              <a:gd name="adj" fmla="val 36895"/>
            </a:avLst>
          </a:prstGeom>
          <a:solidFill>
            <a:srgbClr val="F9EAF4"/>
          </a:solidFill>
          <a:ln w="15240">
            <a:solidFill>
              <a:srgbClr val="CC79A7"/>
            </a:solidFill>
            <a:prstDash val="solid"/>
          </a:ln>
        </p:spPr>
      </p:sp>
      <p:sp>
        <p:nvSpPr>
          <p:cNvPr id="45" name="Text 43"/>
          <p:cNvSpPr txBox="1"/>
          <p:nvPr/>
        </p:nvSpPr>
        <p:spPr>
          <a:xfrm>
            <a:off x="3964435"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6" name="Shape 44"/>
          <p:cNvSpPr/>
          <p:nvPr/>
        </p:nvSpPr>
        <p:spPr>
          <a:xfrm>
            <a:off x="4761857" y="5730113"/>
            <a:ext cx="335533" cy="0"/>
          </a:xfrm>
          <a:prstGeom prst="line">
            <a:avLst/>
          </a:prstGeom>
          <a:noFill/>
          <a:ln w="22860">
            <a:solidFill>
              <a:srgbClr val="009E73"/>
            </a:solidFill>
            <a:prstDash val="solid"/>
            <a:tailEnd type="triangle"/>
          </a:ln>
        </p:spPr>
      </p:sp>
      <p:sp>
        <p:nvSpPr>
          <p:cNvPr id="47" name="Text 45"/>
          <p:cNvSpPr txBox="1"/>
          <p:nvPr/>
        </p:nvSpPr>
        <p:spPr>
          <a:xfrm>
            <a:off x="5158396"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8" name="Text 46"/>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Why held-out?</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Lab 7: prompt engineering with evidence</a:t>
            </a:r>
            <a:endParaRPr lang="en-US" sz="3200" dirty="0"/>
          </a:p>
        </p:txBody>
      </p:sp>
      <p:sp>
        <p:nvSpPr>
          <p:cNvPr id="6" name="Shape 4"/>
          <p:cNvSpPr/>
          <p:nvPr/>
        </p:nvSpPr>
        <p:spPr>
          <a:xfrm>
            <a:off x="548640" y="1527048"/>
            <a:ext cx="411480" cy="411480"/>
          </a:xfrm>
          <a:prstGeom prst="ellipse">
            <a:avLst/>
          </a:prstGeom>
          <a:solidFill>
            <a:srgbClr val="0F766E"/>
          </a:solidFill>
          <a:ln w="12700">
            <a:solidFill>
              <a:srgbClr val="0F766E"/>
            </a:solidFill>
            <a:prstDash val="solid"/>
          </a:ln>
        </p:spPr>
      </p:sp>
      <p:sp>
        <p:nvSpPr>
          <p:cNvPr id="7" name="Text 5"/>
          <p:cNvSpPr txBox="1"/>
          <p:nvPr/>
        </p:nvSpPr>
        <p:spPr>
          <a:xfrm>
            <a:off x="548640" y="15270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481328"/>
            <a:ext cx="6583680" cy="80467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Compare routing prompts.</a:t>
            </a:r>
            <a:endParaRPr lang="en-US" sz="2000" dirty="0"/>
          </a:p>
        </p:txBody>
      </p:sp>
      <p:sp>
        <p:nvSpPr>
          <p:cNvPr id="9" name="Shape 7"/>
          <p:cNvSpPr/>
          <p:nvPr/>
        </p:nvSpPr>
        <p:spPr>
          <a:xfrm>
            <a:off x="548640" y="2331720"/>
            <a:ext cx="411480" cy="411480"/>
          </a:xfrm>
          <a:prstGeom prst="ellipse">
            <a:avLst/>
          </a:prstGeom>
          <a:solidFill>
            <a:srgbClr val="0F766E"/>
          </a:solidFill>
          <a:ln w="12700">
            <a:solidFill>
              <a:srgbClr val="0F766E"/>
            </a:solidFill>
            <a:prstDash val="solid"/>
          </a:ln>
        </p:spPr>
      </p:sp>
      <p:sp>
        <p:nvSpPr>
          <p:cNvPr id="10" name="Text 8"/>
          <p:cNvSpPr txBox="1"/>
          <p:nvPr/>
        </p:nvSpPr>
        <p:spPr>
          <a:xfrm>
            <a:off x="548640" y="23317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2286000"/>
            <a:ext cx="6583680" cy="80467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Check held-out messages.</a:t>
            </a:r>
            <a:endParaRPr lang="en-US" sz="2000" dirty="0"/>
          </a:p>
        </p:txBody>
      </p:sp>
      <p:sp>
        <p:nvSpPr>
          <p:cNvPr id="12" name="Shape 10"/>
          <p:cNvSpPr/>
          <p:nvPr/>
        </p:nvSpPr>
        <p:spPr>
          <a:xfrm>
            <a:off x="548640" y="3136392"/>
            <a:ext cx="411480" cy="411480"/>
          </a:xfrm>
          <a:prstGeom prst="ellipse">
            <a:avLst/>
          </a:prstGeom>
          <a:solidFill>
            <a:srgbClr val="0F766E"/>
          </a:solidFill>
          <a:ln w="12700">
            <a:solidFill>
              <a:srgbClr val="0F766E"/>
            </a:solidFill>
            <a:prstDash val="solid"/>
          </a:ln>
        </p:spPr>
      </p:sp>
      <p:sp>
        <p:nvSpPr>
          <p:cNvPr id="13" name="Text 11"/>
          <p:cNvSpPr txBox="1"/>
          <p:nvPr/>
        </p:nvSpPr>
        <p:spPr>
          <a:xfrm>
            <a:off x="548640" y="313639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090672"/>
            <a:ext cx="6583680" cy="80467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Score steps and votes.</a:t>
            </a:r>
            <a:endParaRPr lang="en-US" sz="2000" dirty="0"/>
          </a:p>
        </p:txBody>
      </p:sp>
      <p:sp>
        <p:nvSpPr>
          <p:cNvPr id="15" name="Shape 13"/>
          <p:cNvSpPr/>
          <p:nvPr/>
        </p:nvSpPr>
        <p:spPr>
          <a:xfrm>
            <a:off x="548640" y="3941064"/>
            <a:ext cx="411480" cy="411480"/>
          </a:xfrm>
          <a:prstGeom prst="ellipse">
            <a:avLst/>
          </a:prstGeom>
          <a:solidFill>
            <a:srgbClr val="0F766E"/>
          </a:solidFill>
          <a:ln w="12700">
            <a:solidFill>
              <a:srgbClr val="0F766E"/>
            </a:solidFill>
            <a:prstDash val="solid"/>
          </a:ln>
        </p:spPr>
      </p:sp>
      <p:sp>
        <p:nvSpPr>
          <p:cNvPr id="16" name="Text 14"/>
          <p:cNvSpPr txBox="1"/>
          <p:nvPr/>
        </p:nvSpPr>
        <p:spPr>
          <a:xfrm>
            <a:off x="548640" y="394106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3895344"/>
            <a:ext cx="6583680" cy="80467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Validate JSON.</a:t>
            </a:r>
            <a:endParaRPr lang="en-US" sz="2000" dirty="0"/>
          </a:p>
        </p:txBody>
      </p:sp>
      <p:sp>
        <p:nvSpPr>
          <p:cNvPr id="18" name="Shape 16"/>
          <p:cNvSpPr/>
          <p:nvPr/>
        </p:nvSpPr>
        <p:spPr>
          <a:xfrm>
            <a:off x="548640" y="4745736"/>
            <a:ext cx="411480" cy="411480"/>
          </a:xfrm>
          <a:prstGeom prst="ellipse">
            <a:avLst/>
          </a:prstGeom>
          <a:solidFill>
            <a:srgbClr val="0F766E"/>
          </a:solidFill>
          <a:ln w="12700">
            <a:solidFill>
              <a:srgbClr val="0F766E"/>
            </a:solidFill>
            <a:prstDash val="solid"/>
          </a:ln>
        </p:spPr>
      </p:sp>
      <p:sp>
        <p:nvSpPr>
          <p:cNvPr id="19" name="Text 17"/>
          <p:cNvSpPr txBox="1"/>
          <p:nvPr/>
        </p:nvSpPr>
        <p:spPr>
          <a:xfrm>
            <a:off x="548640" y="474573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txBox="1"/>
          <p:nvPr/>
        </p:nvSpPr>
        <p:spPr>
          <a:xfrm>
            <a:off x="1143000" y="4700016"/>
            <a:ext cx="6583680" cy="80467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Read injection replies.</a:t>
            </a:r>
            <a:endParaRPr lang="en-US" sz="2000" dirty="0"/>
          </a:p>
        </p:txBody>
      </p:sp>
      <p:sp>
        <p:nvSpPr>
          <p:cNvPr id="21" name="Shape 19"/>
          <p:cNvSpPr/>
          <p:nvPr/>
        </p:nvSpPr>
        <p:spPr>
          <a:xfrm>
            <a:off x="548640" y="5550408"/>
            <a:ext cx="411480" cy="411480"/>
          </a:xfrm>
          <a:prstGeom prst="ellipse">
            <a:avLst/>
          </a:prstGeom>
          <a:solidFill>
            <a:srgbClr val="0F766E"/>
          </a:solidFill>
          <a:ln w="12700">
            <a:solidFill>
              <a:srgbClr val="0F766E"/>
            </a:solidFill>
            <a:prstDash val="solid"/>
          </a:ln>
        </p:spPr>
      </p:sp>
      <p:sp>
        <p:nvSpPr>
          <p:cNvPr id="22" name="Text 20"/>
          <p:cNvSpPr txBox="1"/>
          <p:nvPr/>
        </p:nvSpPr>
        <p:spPr>
          <a:xfrm>
            <a:off x="548640" y="55504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txBox="1"/>
          <p:nvPr/>
        </p:nvSpPr>
        <p:spPr>
          <a:xfrm>
            <a:off x="1143000" y="5504688"/>
            <a:ext cx="6583680" cy="80467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Swap judge order.</a:t>
            </a:r>
            <a:endParaRPr lang="en-US" sz="2000" dirty="0"/>
          </a:p>
        </p:txBody>
      </p:sp>
      <p:sp>
        <p:nvSpPr>
          <p:cNvPr id="24" name="Shape 22"/>
          <p:cNvSpPr/>
          <p:nvPr/>
        </p:nvSpPr>
        <p:spPr>
          <a:xfrm>
            <a:off x="8046720" y="1481328"/>
            <a:ext cx="3596335" cy="4828032"/>
          </a:xfrm>
          <a:prstGeom prst="roundRect">
            <a:avLst>
              <a:gd name="adj" fmla="val 3051"/>
            </a:avLst>
          </a:prstGeom>
          <a:solidFill>
            <a:srgbClr val="E6F4F1"/>
          </a:solidFill>
          <a:ln w="12700">
            <a:solidFill>
              <a:srgbClr val="E6F4F1"/>
            </a:solidFill>
            <a:prstDash val="solid"/>
          </a:ln>
        </p:spPr>
      </p:sp>
      <p:sp>
        <p:nvSpPr>
          <p:cNvPr id="25" name="Shape 23"/>
          <p:cNvSpPr/>
          <p:nvPr/>
        </p:nvSpPr>
        <p:spPr>
          <a:xfrm>
            <a:off x="8229600" y="1709928"/>
            <a:ext cx="502920" cy="502920"/>
          </a:xfrm>
          <a:prstGeom prst="ellipse">
            <a:avLst/>
          </a:prstGeom>
          <a:solidFill>
            <a:srgbClr val="0F766E"/>
          </a:solidFill>
          <a:ln w="12700">
            <a:solidFill>
              <a:srgbClr val="0F766E"/>
            </a:solidFill>
            <a:prstDash val="solid"/>
          </a:ln>
        </p:spPr>
      </p:sp>
      <p:pic>
        <p:nvPicPr>
          <p:cNvPr id="26" name="Image 0" descr="preencoded.png">    </p:cNvPr>
          <p:cNvPicPr>
            <a:picLocks noChangeAspect="1"/>
          </p:cNvPicPr>
          <p:nvPr/>
        </p:nvPicPr>
        <p:blipFill>
          <a:blip r:embed="rId1"/>
          <a:stretch>
            <a:fillRect/>
          </a:stretch>
        </p:blipFill>
        <p:spPr>
          <a:xfrm>
            <a:off x="8350301" y="1830629"/>
            <a:ext cx="261518" cy="261518"/>
          </a:xfrm>
          <a:prstGeom prst="rect">
            <a:avLst/>
          </a:prstGeom>
        </p:spPr>
      </p:pic>
      <p:sp>
        <p:nvSpPr>
          <p:cNvPr id="27" name="Text 24"/>
          <p:cNvSpPr txBox="1"/>
          <p:nvPr/>
        </p:nvSpPr>
        <p:spPr>
          <a:xfrm>
            <a:off x="8869680" y="1664208"/>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Runtime</a:t>
            </a:r>
            <a:endParaRPr lang="en-US" sz="1500" dirty="0"/>
          </a:p>
        </p:txBody>
      </p:sp>
      <p:sp>
        <p:nvSpPr>
          <p:cNvPr id="28" name="Text 25"/>
          <p:cNvSpPr txBox="1"/>
          <p:nvPr/>
        </p:nvSpPr>
        <p:spPr>
          <a:xfrm>
            <a:off x="8869680" y="2011680"/>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CPU core took 7.3 minutes. Stretch optional.</a:t>
            </a:r>
            <a:endParaRPr lang="en-US" sz="1400" dirty="0"/>
          </a:p>
        </p:txBody>
      </p:sp>
      <p:sp>
        <p:nvSpPr>
          <p:cNvPr id="29" name="Shape 26"/>
          <p:cNvSpPr/>
          <p:nvPr/>
        </p:nvSpPr>
        <p:spPr>
          <a:xfrm>
            <a:off x="8229600" y="3227832"/>
            <a:ext cx="502920" cy="502920"/>
          </a:xfrm>
          <a:prstGeom prst="ellipse">
            <a:avLst/>
          </a:prstGeom>
          <a:solidFill>
            <a:srgbClr val="0F766E"/>
          </a:solidFill>
          <a:ln w="12700">
            <a:solidFill>
              <a:srgbClr val="0F766E"/>
            </a:solidFill>
            <a:prstDash val="solid"/>
          </a:ln>
        </p:spPr>
      </p:sp>
      <p:pic>
        <p:nvPicPr>
          <p:cNvPr id="30" name="Image 1" descr="preencoded.png">    </p:cNvPr>
          <p:cNvPicPr>
            <a:picLocks noChangeAspect="1"/>
          </p:cNvPicPr>
          <p:nvPr/>
        </p:nvPicPr>
        <p:blipFill>
          <a:blip r:embed="rId2"/>
          <a:stretch>
            <a:fillRect/>
          </a:stretch>
        </p:blipFill>
        <p:spPr>
          <a:xfrm>
            <a:off x="8350301" y="3348533"/>
            <a:ext cx="261518" cy="261518"/>
          </a:xfrm>
          <a:prstGeom prst="rect">
            <a:avLst/>
          </a:prstGeom>
        </p:spPr>
      </p:pic>
      <p:sp>
        <p:nvSpPr>
          <p:cNvPr id="31" name="Text 27"/>
          <p:cNvSpPr txBox="1"/>
          <p:nvPr/>
        </p:nvSpPr>
        <p:spPr>
          <a:xfrm>
            <a:off x="8869680" y="3182112"/>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Time</a:t>
            </a:r>
            <a:endParaRPr lang="en-US" sz="1500" dirty="0"/>
          </a:p>
        </p:txBody>
      </p:sp>
      <p:sp>
        <p:nvSpPr>
          <p:cNvPr id="32" name="Text 28"/>
          <p:cNvSpPr txBox="1"/>
          <p:nvPr/>
        </p:nvSpPr>
        <p:spPr>
          <a:xfrm>
            <a:off x="8869680" y="3529584"/>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2-hour lab</a:t>
            </a:r>
            <a:endParaRPr lang="en-US" sz="1400" dirty="0"/>
          </a:p>
        </p:txBody>
      </p:sp>
      <p:sp>
        <p:nvSpPr>
          <p:cNvPr id="33" name="Shape 29"/>
          <p:cNvSpPr/>
          <p:nvPr/>
        </p:nvSpPr>
        <p:spPr>
          <a:xfrm>
            <a:off x="8229600" y="4745736"/>
            <a:ext cx="502920" cy="502920"/>
          </a:xfrm>
          <a:prstGeom prst="ellipse">
            <a:avLst/>
          </a:prstGeom>
          <a:solidFill>
            <a:srgbClr val="0F766E"/>
          </a:solidFill>
          <a:ln w="12700">
            <a:solidFill>
              <a:srgbClr val="0F766E"/>
            </a:solidFill>
            <a:prstDash val="solid"/>
          </a:ln>
        </p:spPr>
      </p:sp>
      <p:pic>
        <p:nvPicPr>
          <p:cNvPr id="34" name="Image 2" descr="preencoded.png">    </p:cNvPr>
          <p:cNvPicPr>
            <a:picLocks noChangeAspect="1"/>
          </p:cNvPicPr>
          <p:nvPr/>
        </p:nvPicPr>
        <p:blipFill>
          <a:blip r:embed="rId3"/>
          <a:stretch>
            <a:fillRect/>
          </a:stretch>
        </p:blipFill>
        <p:spPr>
          <a:xfrm>
            <a:off x="8350301" y="4866437"/>
            <a:ext cx="261518" cy="261518"/>
          </a:xfrm>
          <a:prstGeom prst="rect">
            <a:avLst/>
          </a:prstGeom>
        </p:spPr>
      </p:pic>
      <p:sp>
        <p:nvSpPr>
          <p:cNvPr id="35" name="Text 30"/>
          <p:cNvSpPr txBox="1"/>
          <p:nvPr/>
        </p:nvSpPr>
        <p:spPr>
          <a:xfrm>
            <a:off x="8869680" y="4700016"/>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Hand in</a:t>
            </a:r>
            <a:endParaRPr lang="en-US" sz="1500" dirty="0"/>
          </a:p>
        </p:txBody>
      </p:sp>
      <p:sp>
        <p:nvSpPr>
          <p:cNvPr id="36" name="Text 31"/>
          <p:cNvSpPr txBox="1"/>
          <p:nvPr/>
        </p:nvSpPr>
        <p:spPr>
          <a:xfrm>
            <a:off x="8869680" y="5047488"/>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Evidence table, errors, five answers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Read, watch, practise</a:t>
            </a:r>
            <a:endParaRPr lang="en-US" sz="3200" dirty="0"/>
          </a:p>
        </p:txBody>
      </p:sp>
      <p:sp>
        <p:nvSpPr>
          <p:cNvPr id="6" name="Shape 4"/>
          <p:cNvSpPr/>
          <p:nvPr/>
        </p:nvSpPr>
        <p:spPr>
          <a:xfrm>
            <a:off x="548640" y="1554480"/>
            <a:ext cx="457200" cy="457200"/>
          </a:xfrm>
          <a:prstGeom prst="ellipse">
            <a:avLst/>
          </a:prstGeom>
          <a:solidFill>
            <a:srgbClr val="4F46E5"/>
          </a:solidFill>
          <a:ln w="12700">
            <a:solidFill>
              <a:srgbClr val="4F46E5"/>
            </a:solidFill>
            <a:prstDash val="solid"/>
          </a:ln>
        </p:spPr>
      </p:sp>
      <p:pic>
        <p:nvPicPr>
          <p:cNvPr id="7" name="Image 0" descr="preencoded.png">    </p:cNvPr>
          <p:cNvPicPr>
            <a:picLocks noChangeAspect="1"/>
          </p:cNvPicPr>
          <p:nvPr/>
        </p:nvPicPr>
        <p:blipFill>
          <a:blip r:embed="rId1"/>
          <a:stretch>
            <a:fillRect/>
          </a:stretch>
        </p:blipFill>
        <p:spPr>
          <a:xfrm>
            <a:off x="658368" y="1664208"/>
            <a:ext cx="237744" cy="237744"/>
          </a:xfrm>
          <a:prstGeom prst="rect">
            <a:avLst/>
          </a:prstGeom>
        </p:spPr>
      </p:pic>
      <p:sp>
        <p:nvSpPr>
          <p:cNvPr id="8" name="Text 5"/>
          <p:cNvSpPr txBox="1"/>
          <p:nvPr/>
        </p:nvSpPr>
        <p:spPr>
          <a:xfrm>
            <a:off x="1143000" y="1481328"/>
            <a:ext cx="10454335" cy="758952"/>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OpenAI: Prompt guide</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Guidance</a:t>
            </a:r>
            <a:endParaRPr lang="en-US" sz="1500" dirty="0"/>
          </a:p>
        </p:txBody>
      </p:sp>
      <p:sp>
        <p:nvSpPr>
          <p:cNvPr id="9" name="Shape 6"/>
          <p:cNvSpPr/>
          <p:nvPr/>
        </p:nvSpPr>
        <p:spPr>
          <a:xfrm>
            <a:off x="548640" y="2359152"/>
            <a:ext cx="457200" cy="457200"/>
          </a:xfrm>
          <a:prstGeom prst="ellipse">
            <a:avLst/>
          </a:prstGeom>
          <a:solidFill>
            <a:srgbClr val="4F46E5"/>
          </a:solidFill>
          <a:ln w="12700">
            <a:solidFill>
              <a:srgbClr val="4F46E5"/>
            </a:solidFill>
            <a:prstDash val="solid"/>
          </a:ln>
        </p:spPr>
      </p:sp>
      <p:pic>
        <p:nvPicPr>
          <p:cNvPr id="10" name="Image 1" descr="preencoded.png">    </p:cNvPr>
          <p:cNvPicPr>
            <a:picLocks noChangeAspect="1"/>
          </p:cNvPicPr>
          <p:nvPr/>
        </p:nvPicPr>
        <p:blipFill>
          <a:blip r:embed="rId3"/>
          <a:stretch>
            <a:fillRect/>
          </a:stretch>
        </p:blipFill>
        <p:spPr>
          <a:xfrm>
            <a:off x="658368" y="2468880"/>
            <a:ext cx="237744" cy="237744"/>
          </a:xfrm>
          <a:prstGeom prst="rect">
            <a:avLst/>
          </a:prstGeom>
        </p:spPr>
      </p:pic>
      <p:sp>
        <p:nvSpPr>
          <p:cNvPr id="11" name="Text 7"/>
          <p:cNvSpPr txBox="1"/>
          <p:nvPr/>
        </p:nvSpPr>
        <p:spPr>
          <a:xfrm>
            <a:off x="1143000" y="2286000"/>
            <a:ext cx="10454335" cy="758952"/>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Gemini: Prompt guide</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Examples</a:t>
            </a:r>
            <a:endParaRPr lang="en-US" sz="1500" dirty="0"/>
          </a:p>
        </p:txBody>
      </p:sp>
      <p:sp>
        <p:nvSpPr>
          <p:cNvPr id="12" name="Shape 8"/>
          <p:cNvSpPr/>
          <p:nvPr/>
        </p:nvSpPr>
        <p:spPr>
          <a:xfrm>
            <a:off x="548640" y="3163824"/>
            <a:ext cx="457200" cy="457200"/>
          </a:xfrm>
          <a:prstGeom prst="ellipse">
            <a:avLst/>
          </a:prstGeom>
          <a:solidFill>
            <a:srgbClr val="4F46E5"/>
          </a:solidFill>
          <a:ln w="12700">
            <a:solidFill>
              <a:srgbClr val="4F46E5"/>
            </a:solidFill>
            <a:prstDash val="solid"/>
          </a:ln>
        </p:spPr>
      </p:sp>
      <p:pic>
        <p:nvPicPr>
          <p:cNvPr id="13" name="Image 2" descr="preencoded.png">    </p:cNvPr>
          <p:cNvPicPr>
            <a:picLocks noChangeAspect="1"/>
          </p:cNvPicPr>
          <p:nvPr/>
        </p:nvPicPr>
        <p:blipFill>
          <a:blip r:embed="rId5"/>
          <a:stretch>
            <a:fillRect/>
          </a:stretch>
        </p:blipFill>
        <p:spPr>
          <a:xfrm>
            <a:off x="658368" y="3273552"/>
            <a:ext cx="237744" cy="237744"/>
          </a:xfrm>
          <a:prstGeom prst="rect">
            <a:avLst/>
          </a:prstGeom>
        </p:spPr>
      </p:pic>
      <p:sp>
        <p:nvSpPr>
          <p:cNvPr id="14" name="Text 9"/>
          <p:cNvSpPr txBox="1"/>
          <p:nvPr/>
        </p:nvSpPr>
        <p:spPr>
          <a:xfrm>
            <a:off x="1143000" y="3090672"/>
            <a:ext cx="10454335" cy="758952"/>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Anthropic: Prompt tutorial</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Exercises</a:t>
            </a:r>
            <a:endParaRPr lang="en-US" sz="1500" dirty="0"/>
          </a:p>
        </p:txBody>
      </p:sp>
      <p:sp>
        <p:nvSpPr>
          <p:cNvPr id="15" name="Shape 10"/>
          <p:cNvSpPr/>
          <p:nvPr/>
        </p:nvSpPr>
        <p:spPr>
          <a:xfrm>
            <a:off x="548640" y="3968496"/>
            <a:ext cx="457200" cy="457200"/>
          </a:xfrm>
          <a:prstGeom prst="ellipse">
            <a:avLst/>
          </a:prstGeom>
          <a:solidFill>
            <a:srgbClr val="4F46E5"/>
          </a:solidFill>
          <a:ln w="12700">
            <a:solidFill>
              <a:srgbClr val="4F46E5"/>
            </a:solidFill>
            <a:prstDash val="solid"/>
          </a:ln>
        </p:spPr>
      </p:sp>
      <p:pic>
        <p:nvPicPr>
          <p:cNvPr id="16" name="Image 3" descr="preencoded.png">    </p:cNvPr>
          <p:cNvPicPr>
            <a:picLocks noChangeAspect="1"/>
          </p:cNvPicPr>
          <p:nvPr/>
        </p:nvPicPr>
        <p:blipFill>
          <a:blip r:embed="rId7"/>
          <a:stretch>
            <a:fillRect/>
          </a:stretch>
        </p:blipFill>
        <p:spPr>
          <a:xfrm>
            <a:off x="658368" y="4078224"/>
            <a:ext cx="237744" cy="237744"/>
          </a:xfrm>
          <a:prstGeom prst="rect">
            <a:avLst/>
          </a:prstGeom>
        </p:spPr>
      </p:pic>
      <p:sp>
        <p:nvSpPr>
          <p:cNvPr id="17" name="Text 11"/>
          <p:cNvSpPr txBox="1"/>
          <p:nvPr/>
        </p:nvSpPr>
        <p:spPr>
          <a:xfrm>
            <a:off x="1143000" y="3895344"/>
            <a:ext cx="10454335" cy="758952"/>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OpenAI: Evaluation guide</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Test design</a:t>
            </a:r>
            <a:endParaRPr lang="en-US" sz="1500" dirty="0"/>
          </a:p>
        </p:txBody>
      </p:sp>
      <p:sp>
        <p:nvSpPr>
          <p:cNvPr id="18" name="Shape 12"/>
          <p:cNvSpPr/>
          <p:nvPr/>
        </p:nvSpPr>
        <p:spPr>
          <a:xfrm>
            <a:off x="548640" y="4773168"/>
            <a:ext cx="457200" cy="457200"/>
          </a:xfrm>
          <a:prstGeom prst="ellipse">
            <a:avLst/>
          </a:prstGeom>
          <a:solidFill>
            <a:srgbClr val="4F46E5"/>
          </a:solidFill>
          <a:ln w="12700">
            <a:solidFill>
              <a:srgbClr val="4F46E5"/>
            </a:solidFill>
            <a:prstDash val="solid"/>
          </a:ln>
        </p:spPr>
      </p:sp>
      <p:pic>
        <p:nvPicPr>
          <p:cNvPr id="19" name="Image 4" descr="preencoded.png">    </p:cNvPr>
          <p:cNvPicPr>
            <a:picLocks noChangeAspect="1"/>
          </p:cNvPicPr>
          <p:nvPr/>
        </p:nvPicPr>
        <p:blipFill>
          <a:blip r:embed="rId9"/>
          <a:stretch>
            <a:fillRect/>
          </a:stretch>
        </p:blipFill>
        <p:spPr>
          <a:xfrm>
            <a:off x="658368" y="4882896"/>
            <a:ext cx="237744" cy="237744"/>
          </a:xfrm>
          <a:prstGeom prst="rect">
            <a:avLst/>
          </a:prstGeom>
        </p:spPr>
      </p:pic>
      <p:sp>
        <p:nvSpPr>
          <p:cNvPr id="20" name="Text 13"/>
          <p:cNvSpPr txBox="1"/>
          <p:nvPr/>
        </p:nvSpPr>
        <p:spPr>
          <a:xfrm>
            <a:off x="1143000" y="4700016"/>
            <a:ext cx="10454335" cy="758952"/>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Zheng: LLM judges (2023)</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Biases</a:t>
            </a:r>
            <a:endParaRPr lang="en-US" sz="1500" dirty="0"/>
          </a:p>
        </p:txBody>
      </p:sp>
      <p:sp>
        <p:nvSpPr>
          <p:cNvPr id="21" name="Shape 14"/>
          <p:cNvSpPr/>
          <p:nvPr/>
        </p:nvSpPr>
        <p:spPr>
          <a:xfrm>
            <a:off x="548640" y="5577840"/>
            <a:ext cx="457200" cy="457200"/>
          </a:xfrm>
          <a:prstGeom prst="ellipse">
            <a:avLst/>
          </a:prstGeom>
          <a:solidFill>
            <a:srgbClr val="DC2626"/>
          </a:solidFill>
          <a:ln w="12700">
            <a:solidFill>
              <a:srgbClr val="DC2626"/>
            </a:solidFill>
            <a:prstDash val="solid"/>
          </a:ln>
        </p:spPr>
      </p:sp>
      <p:pic>
        <p:nvPicPr>
          <p:cNvPr id="22" name="Image 5" descr="preencoded.png">    </p:cNvPr>
          <p:cNvPicPr>
            <a:picLocks noChangeAspect="1"/>
          </p:cNvPicPr>
          <p:nvPr/>
        </p:nvPicPr>
        <p:blipFill>
          <a:blip r:embed="rId11"/>
          <a:stretch>
            <a:fillRect/>
          </a:stretch>
        </p:blipFill>
        <p:spPr>
          <a:xfrm>
            <a:off x="658368" y="5687568"/>
            <a:ext cx="237744" cy="237744"/>
          </a:xfrm>
          <a:prstGeom prst="rect">
            <a:avLst/>
          </a:prstGeom>
        </p:spPr>
      </p:pic>
      <p:sp>
        <p:nvSpPr>
          <p:cNvPr id="23" name="Text 15"/>
          <p:cNvSpPr txBox="1"/>
          <p:nvPr/>
        </p:nvSpPr>
        <p:spPr>
          <a:xfrm>
            <a:off x="1143000" y="5504688"/>
            <a:ext cx="10454335" cy="758952"/>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Karpathy: How I use LLMs</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Practice</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07  ·  PROMPT ENGINEERING AND EVALUATION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What we learned: prompts and evidence</a:t>
            </a:r>
            <a:endParaRPr lang="en-US" sz="3200" dirty="0"/>
          </a:p>
        </p:txBody>
      </p:sp>
      <p:sp>
        <p:nvSpPr>
          <p:cNvPr id="6" name="Shape 4"/>
          <p:cNvSpPr/>
          <p:nvPr/>
        </p:nvSpPr>
        <p:spPr>
          <a:xfrm>
            <a:off x="946879" y="1630142"/>
            <a:ext cx="3323515" cy="1376531"/>
          </a:xfrm>
          <a:prstGeom prst="roundRect">
            <a:avLst>
              <a:gd name="adj" fmla="val 5314"/>
            </a:avLst>
          </a:prstGeom>
          <a:solidFill>
            <a:srgbClr val="E4F2FB"/>
          </a:solidFill>
          <a:ln w="15240">
            <a:solidFill>
              <a:srgbClr val="0072B2"/>
            </a:solidFill>
            <a:prstDash val="solid"/>
          </a:ln>
        </p:spPr>
      </p:sp>
      <p:sp>
        <p:nvSpPr>
          <p:cNvPr id="7" name="Text 5"/>
          <p:cNvSpPr txBox="1"/>
          <p:nvPr/>
        </p:nvSpPr>
        <p:spPr>
          <a:xfrm>
            <a:off x="1080812"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Prompts</a:t>
            </a:r>
            <a:endParaRPr lang="en-US" sz="1758" dirty="0"/>
          </a:p>
        </p:txBody>
      </p:sp>
      <p:sp>
        <p:nvSpPr>
          <p:cNvPr id="8" name="Text 6"/>
          <p:cNvSpPr txBox="1"/>
          <p:nvPr/>
        </p:nvSpPr>
        <p:spPr>
          <a:xfrm>
            <a:off x="1080812"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Weights fixed</a:t>
            </a:r>
            <a:endParaRPr lang="en-US" sz="1523" dirty="0"/>
          </a:p>
        </p:txBody>
      </p:sp>
      <p:sp>
        <p:nvSpPr>
          <p:cNvPr id="9" name="Shape 7"/>
          <p:cNvSpPr/>
          <p:nvPr/>
        </p:nvSpPr>
        <p:spPr>
          <a:xfrm>
            <a:off x="4434090" y="1630142"/>
            <a:ext cx="3323515" cy="1376531"/>
          </a:xfrm>
          <a:prstGeom prst="rect">
            <a:avLst/>
          </a:prstGeom>
          <a:solidFill>
            <a:srgbClr val="F2F4F5"/>
          </a:solidFill>
          <a:ln w="15240">
            <a:solidFill>
              <a:srgbClr val="626B73"/>
            </a:solidFill>
            <a:prstDash val="solid"/>
          </a:ln>
        </p:spPr>
      </p:sp>
      <p:sp>
        <p:nvSpPr>
          <p:cNvPr id="10" name="Text 8"/>
          <p:cNvSpPr txBox="1"/>
          <p:nvPr/>
        </p:nvSpPr>
        <p:spPr>
          <a:xfrm>
            <a:off x="456802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Briefs</a:t>
            </a:r>
            <a:endParaRPr lang="en-US" sz="1758" dirty="0"/>
          </a:p>
        </p:txBody>
      </p:sp>
      <p:sp>
        <p:nvSpPr>
          <p:cNvPr id="11" name="Text 9"/>
          <p:cNvSpPr txBox="1"/>
          <p:nvPr/>
        </p:nvSpPr>
        <p:spPr>
          <a:xfrm>
            <a:off x="456802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Clear parts</a:t>
            </a:r>
            <a:endParaRPr lang="en-US" sz="1523" dirty="0"/>
          </a:p>
        </p:txBody>
      </p:sp>
      <p:sp>
        <p:nvSpPr>
          <p:cNvPr id="12" name="Shape 10"/>
          <p:cNvSpPr/>
          <p:nvPr/>
        </p:nvSpPr>
        <p:spPr>
          <a:xfrm>
            <a:off x="7921301" y="1630142"/>
            <a:ext cx="3323515" cy="1376531"/>
          </a:xfrm>
          <a:prstGeom prst="rect">
            <a:avLst/>
          </a:prstGeom>
          <a:solidFill>
            <a:srgbClr val="E5F7EF"/>
          </a:solidFill>
          <a:ln w="15240">
            <a:solidFill>
              <a:srgbClr val="009E73"/>
            </a:solidFill>
            <a:prstDash val="solid"/>
          </a:ln>
        </p:spPr>
      </p:sp>
      <p:sp>
        <p:nvSpPr>
          <p:cNvPr id="13" name="Text 11"/>
          <p:cNvSpPr txBox="1"/>
          <p:nvPr/>
        </p:nvSpPr>
        <p:spPr>
          <a:xfrm>
            <a:off x="805523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Reasoning</a:t>
            </a:r>
            <a:endParaRPr lang="en-US" sz="1758" dirty="0"/>
          </a:p>
        </p:txBody>
      </p:sp>
      <p:sp>
        <p:nvSpPr>
          <p:cNvPr id="14" name="Text 12"/>
          <p:cNvSpPr txBox="1"/>
          <p:nvPr/>
        </p:nvSpPr>
        <p:spPr>
          <a:xfrm>
            <a:off x="805523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Costs tokens</a:t>
            </a:r>
            <a:endParaRPr lang="en-US" sz="1523" dirty="0"/>
          </a:p>
        </p:txBody>
      </p:sp>
      <p:sp>
        <p:nvSpPr>
          <p:cNvPr id="15" name="Shape 13"/>
          <p:cNvSpPr/>
          <p:nvPr/>
        </p:nvSpPr>
        <p:spPr>
          <a:xfrm>
            <a:off x="946879" y="3170368"/>
            <a:ext cx="3323515" cy="1376531"/>
          </a:xfrm>
          <a:prstGeom prst="roundRect">
            <a:avLst>
              <a:gd name="adj" fmla="val 5314"/>
            </a:avLst>
          </a:prstGeom>
          <a:solidFill>
            <a:srgbClr val="FFF0E6"/>
          </a:solidFill>
          <a:ln w="15240">
            <a:solidFill>
              <a:srgbClr val="D55E00"/>
            </a:solidFill>
            <a:prstDash val="solid"/>
          </a:ln>
        </p:spPr>
      </p:sp>
      <p:sp>
        <p:nvSpPr>
          <p:cNvPr id="16" name="Text 14"/>
          <p:cNvSpPr txBox="1"/>
          <p:nvPr/>
        </p:nvSpPr>
        <p:spPr>
          <a:xfrm>
            <a:off x="1080812"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Schemas</a:t>
            </a:r>
            <a:endParaRPr lang="en-US" sz="1758" dirty="0"/>
          </a:p>
        </p:txBody>
      </p:sp>
      <p:sp>
        <p:nvSpPr>
          <p:cNvPr id="17" name="Text 15"/>
          <p:cNvSpPr txBox="1"/>
          <p:nvPr/>
        </p:nvSpPr>
        <p:spPr>
          <a:xfrm>
            <a:off x="1080812"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Shape only</a:t>
            </a:r>
            <a:endParaRPr lang="en-US" sz="1523" dirty="0"/>
          </a:p>
        </p:txBody>
      </p:sp>
      <p:sp>
        <p:nvSpPr>
          <p:cNvPr id="18" name="Shape 16"/>
          <p:cNvSpPr/>
          <p:nvPr/>
        </p:nvSpPr>
        <p:spPr>
          <a:xfrm>
            <a:off x="4434090" y="3170368"/>
            <a:ext cx="3323515" cy="1376531"/>
          </a:xfrm>
          <a:prstGeom prst="roundRect">
            <a:avLst>
              <a:gd name="adj" fmla="val 5314"/>
            </a:avLst>
          </a:prstGeom>
          <a:solidFill>
            <a:srgbClr val="F9EAF4"/>
          </a:solidFill>
          <a:ln w="15240">
            <a:solidFill>
              <a:srgbClr val="CC79A7"/>
            </a:solidFill>
            <a:prstDash val="solid"/>
          </a:ln>
        </p:spPr>
      </p:sp>
      <p:sp>
        <p:nvSpPr>
          <p:cNvPr id="19" name="Text 17"/>
          <p:cNvSpPr txBox="1"/>
          <p:nvPr/>
        </p:nvSpPr>
        <p:spPr>
          <a:xfrm>
            <a:off x="456802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Evaluation</a:t>
            </a:r>
            <a:endParaRPr lang="en-US" sz="1758" dirty="0"/>
          </a:p>
        </p:txBody>
      </p:sp>
      <p:sp>
        <p:nvSpPr>
          <p:cNvPr id="20" name="Text 18"/>
          <p:cNvSpPr txBox="1"/>
          <p:nvPr/>
        </p:nvSpPr>
        <p:spPr>
          <a:xfrm>
            <a:off x="456802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Held-out test</a:t>
            </a:r>
            <a:endParaRPr lang="en-US" sz="1523" dirty="0"/>
          </a:p>
        </p:txBody>
      </p:sp>
      <p:sp>
        <p:nvSpPr>
          <p:cNvPr id="21" name="Shape 19"/>
          <p:cNvSpPr/>
          <p:nvPr/>
        </p:nvSpPr>
        <p:spPr>
          <a:xfrm>
            <a:off x="7921301" y="3170368"/>
            <a:ext cx="3323515" cy="1376531"/>
          </a:xfrm>
          <a:prstGeom prst="rect">
            <a:avLst/>
          </a:prstGeom>
          <a:solidFill>
            <a:srgbClr val="F2F4F5"/>
          </a:solidFill>
          <a:ln w="15240">
            <a:solidFill>
              <a:srgbClr val="626B73"/>
            </a:solidFill>
            <a:prstDash val="solid"/>
          </a:ln>
        </p:spPr>
      </p:sp>
      <p:sp>
        <p:nvSpPr>
          <p:cNvPr id="22" name="Text 20"/>
          <p:cNvSpPr txBox="1"/>
          <p:nvPr/>
        </p:nvSpPr>
        <p:spPr>
          <a:xfrm>
            <a:off x="805523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Security</a:t>
            </a:r>
            <a:endParaRPr lang="en-US" sz="1758" dirty="0"/>
          </a:p>
        </p:txBody>
      </p:sp>
      <p:sp>
        <p:nvSpPr>
          <p:cNvPr id="23" name="Text 21"/>
          <p:cNvSpPr txBox="1"/>
          <p:nvPr/>
        </p:nvSpPr>
        <p:spPr>
          <a:xfrm>
            <a:off x="805523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Code permissions</a:t>
            </a:r>
            <a:endParaRPr lang="en-US" sz="1523" dirty="0"/>
          </a:p>
        </p:txBody>
      </p:sp>
      <p:sp>
        <p:nvSpPr>
          <p:cNvPr id="24" name="Text 22"/>
          <p:cNvSpPr txBox="1"/>
          <p:nvPr/>
        </p:nvSpPr>
        <p:spPr>
          <a:xfrm>
            <a:off x="946879" y="4680832"/>
            <a:ext cx="10297937" cy="260425"/>
          </a:xfrm>
          <a:prstGeom prst="rect">
            <a:avLst/>
          </a:prstGeom>
          <a:noFill/>
          <a:ln/>
        </p:spPr>
        <p:txBody>
          <a:bodyPr wrap="square" lIns="0" tIns="0" rIns="0" bIns="0" rtlCol="0" anchor="ctr"/>
          <a:lstStyle/>
          <a:p>
            <a:pPr algn="l" indent="0" marL="0">
              <a:lnSpc>
                <a:spcPct val="116000"/>
              </a:lnSpc>
              <a:buNone/>
            </a:pPr>
            <a:r>
              <a:rPr lang="en-US" sz="1523" b="1" dirty="0">
                <a:solidFill>
                  <a:srgbClr val="1E1B4B"/>
                </a:solidFill>
                <a:latin typeface="Arial" pitchFamily="34" charset="0"/>
                <a:ea typeface="Arial" pitchFamily="34" charset="-122"/>
                <a:cs typeface="Arial" pitchFamily="34" charset="-120"/>
              </a:rPr>
              <a:t>Example to explain aloud</a:t>
            </a:r>
            <a:endParaRPr lang="en-US" sz="1523" dirty="0"/>
          </a:p>
        </p:txBody>
      </p:sp>
      <p:sp>
        <p:nvSpPr>
          <p:cNvPr id="25" name="Text 23"/>
          <p:cNvSpPr txBox="1"/>
          <p:nvPr/>
        </p:nvSpPr>
        <p:spPr>
          <a:xfrm>
            <a:off x="946879" y="4993341"/>
            <a:ext cx="10297937" cy="468764"/>
          </a:xfrm>
          <a:prstGeom prst="rect">
            <a:avLst/>
          </a:prstGeom>
          <a:noFill/>
          <a:ln/>
        </p:spPr>
        <p:txBody>
          <a:bodyPr wrap="square" lIns="0" tIns="0" rIns="0" bIns="0" rtlCol="0" anchor="ctr"/>
          <a:lstStyle/>
          <a:p>
            <a:pPr algn="l" indent="0" marL="0">
              <a:lnSpc>
                <a:spcPct val="116000"/>
              </a:lnSpc>
              <a:buNone/>
            </a:pPr>
            <a:r>
              <a:rPr lang="en-US" sz="1582" dirty="0">
                <a:solidFill>
                  <a:srgbClr val="1F2937"/>
                </a:solidFill>
                <a:latin typeface="Arial" pitchFamily="34" charset="0"/>
                <a:ea typeface="Arial" pitchFamily="34" charset="-122"/>
                <a:cs typeface="Arial" pitchFamily="34" charset="-120"/>
              </a:rPr>
              <a:t>Illustration: 17 of 20 is 85%.</a:t>
            </a:r>
            <a:endParaRPr lang="en-US" sz="1582" dirty="0"/>
          </a:p>
        </p:txBody>
      </p:sp>
      <p:sp>
        <p:nvSpPr>
          <p:cNvPr id="26" name="Text 24"/>
          <p:cNvSpPr txBox="1"/>
          <p:nvPr/>
        </p:nvSpPr>
        <p:spPr>
          <a:xfrm>
            <a:off x="946879" y="5529072"/>
            <a:ext cx="10297937" cy="461324"/>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Next: fine-tuning.</a:t>
            </a:r>
            <a:endParaRPr lang="en-US" sz="1523" dirty="0"/>
          </a:p>
        </p:txBody>
      </p:sp>
      <p:sp>
        <p:nvSpPr>
          <p:cNvPr id="27" name="Text 25"/>
          <p:cNvSpPr txBox="1"/>
          <p:nvPr/>
        </p:nvSpPr>
        <p:spPr>
          <a:xfrm>
            <a:off x="548640" y="6044184"/>
            <a:ext cx="11094415" cy="338328"/>
          </a:xfrm>
          <a:prstGeom prst="rect">
            <a:avLst/>
          </a:prstGeom>
          <a:noFill/>
          <a:ln/>
        </p:spPr>
        <p:txBody>
          <a:bodyPr wrap="square" lIns="0" tIns="0" rIns="0" bIns="0" rtlCol="0" anchor="t"/>
          <a:lstStyle/>
          <a:p>
            <a:pPr indent="0" marL="0">
              <a:buNone/>
            </a:pPr>
            <a:r>
              <a:rPr lang="en-US" sz="1600" dirty="0">
                <a:solidFill>
                  <a:srgbClr val="1E1B4B"/>
                </a:solidFill>
                <a:latin typeface="Calibri" pitchFamily="34" charset="0"/>
                <a:ea typeface="Calibri" pitchFamily="34" charset="-122"/>
                <a:cs typeface="Calibri" pitchFamily="34" charset="-120"/>
              </a:rPr>
              <a:t>Exit question: Valid JSON proves facts?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7: Prompt Engineering and evaluation</dc:title>
  <dc:subject>Generative AI (MSc in Artificial Intelligence)</dc:subject>
  <dc:creator>Generative AI module team</dc:creator>
  <cp:lastModifiedBy>Generative AI module team</cp:lastModifiedBy>
  <cp:revision>1</cp:revision>
  <dcterms:created xsi:type="dcterms:W3CDTF">2026-10-12T06:07:03Z</dcterms:created>
  <dcterms:modified xsi:type="dcterms:W3CDTF">2026-10-12T06:07:03Z</dcterms:modified>
</cp:coreProperties>
</file>