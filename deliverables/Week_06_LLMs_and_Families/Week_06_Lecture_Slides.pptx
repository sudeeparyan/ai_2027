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week 6. Last week we built the transformer. This week we scale it up: large language models, the technology behind chat assistants, coding assistants and most of the tools students use daily. We will see how NLP evolved to this point, what pre-training on trillions of tokens involves and why scaling laws guided the industry, how the choice of decoding strategy changes the output, and how to navigate the crowded landscape of model families, open and closed, small and large, standard and reasoning. The lab puts BERT, T5 and a decoder LLM side by side and queries a model through an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outcomes. The first gives historical context, which examiners like because it explains why the current design won. The second explains what makes a transformer a large language model: data, scale and context. The third is practical decoding. The fourth, the families, maps directly onto the descriptor's list: GPT, BERT, LLaMA and T5, extended with the families that matter in 2026. The fifth is critical literacy: model cards, licences and benchmarks. The sixth is hands-on with Hugging Face and APIs. This week practises MIMLO 1 on model families, MIMLO 3 on frameworks, and MIMLO 5 on using models in real applications.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follows the descriptor's week 6: evolution of NLP; how transformers are used in LLMs; architecture overview; LLM families; applications. I have added decoding strategies and model selection because students need them for the lab and the project. The families section and the choosing section are the longest, since that is where students most need guidance in 2026: there are hundreds of models and the names change monthly. Take the break after section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these terms before the main theory. Token ID: An integer identifying a text unit in one particular tokenizer's vocabulary. Ask: Must two different tokenizers assign the same IDs to 'Dublin'? Probability distribution: Nonnegative probabilities for possible outcomes, adding to one. Ask: Do [0.6, 0.3, 0.1] form a probability distribution? Causal language model: A model predicting the next token from the tokens already present. Ask: What input is available before the next answer token is generated? Let students explain one example aloud, then connect their example to the next flow diagram. Use the numbered blocks to name the inputs and outputs before introducing notation.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Collect answers for three minutes. Good answers: different model families and sizes; different pre-training data and cut-off dates; different post-training and safety policies; different system prompts; whether web search or other tools are used; and sampling randomness, which students met in week 1. Asking the same assistant twice can give different answers because of sampling, and even with the same settings because of server-side changes. Today's lecture explains each of these factors. Keep the list: it becomes a checklist for comparing models in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is a short history of natural language processing, told as a sequence of ideas, each fixing a weakness of the previous one: counting word sequences, representing words as vectors, reading sequences with recurrent networks, attention, pre-training and scale. Students who understand this sequence can explain why today's LLMs are designed as they are. About twelve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chat interface hides several transformations. First, the user's question becomes a message with a role. A chat template adds the model-specific formatting that distinguishes user text from the assistant reply. The tokenizer converts that formatted input into IDs. The decoder then predicts successive tokens; its generation settings determine how each prediction is chosen. The returned tensor includes both the input and generated continuation, so the helper slices away the input before decoding the answer. No training happens during this call: the model's learned weights stay fixed. The lab compares this decoder workflow with BERT's masked-token prediction and Flan-T5's separate input encoder and output decoder. Those families perform different operations even when their demonstrations use similar questions. The token count and elapsed time describe this measured call, rather than guaranteeing answer quality.
Worked example:
The question 'What is the capital of Ireland?' is placed in a user message.
The chat template adds the role and assistant-start formatting expected by Qwen.
Generation repeatedly predicts another token until stopping or reaching its budget.
The code slices off the input so the returned answer contains new tokens only.
The same helper returns a token count and elapsed seconds for comparison.
Check: Why does chat slice the generated tensor at the original input length?
Answer: Because decoder generation returns input IDs followed by the continuation; the helper returns only the new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along the timeline. Early systems used hand-written rules and statistics such as n-gram language models, which count how often word sequences occur. Word2vec in 2013 represented words as dense vectors learned from context, so similar words got similar vectors. Sequence-to-sequence RNNs in 2014, with attention added in 2015, made neural translation work. The transformer in 2017 removed recurrence. In 2018, BERT and GPT showed that pre-training on unlabelled text and then fine-tuning beats task-specific models. GPT-3 in 2020 showed that scale enables few-shot prompting. ChatGPT in 2022 added instruction and preference tuning. Since then: open weights, multimodality, reasoning models and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n-gram model is exactly the bigram name model from the week 1 lab, applied to words. It works surprisingly well for short contexts and powered speech recognition and machine translation for decades. Its two fatal weaknesses motivate everything after it. First, sparsity: the number of possible word sequences explodes with n, so most are never observed and get zero probability. Second, words are atomic symbols, so knowledge about cat does not transfer to dog. Neural language models, starting with Bengio and colleagues in 2003, fixed both by representing words as learned vectors and predicting with a network that generalises.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a compact exam answer to 'describe the evolution of NLP'. Each row fixes the previous row's main limitation. Word embeddings gave similarity but one vector per word regardless of context, so bank by a river and bank with money were identical. RNNs gave context-dependent representations but were sequential and forgetful. Transformer LLMs give contextual representations over very long contexts with parallel training. The last column reminds students that LLMs have their own limitations, which we address in weeks 7, 8 and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explains what makes an LLM large and capable: the pre-training pipeline and its data, the compute budget, the empirical scaling laws that guided how big models and datasets should be, the phenomenon of in-context learning and the debate about emergent abilities, and the context window. About twenty-five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expands the week 1 pipeline. Data collection draws on web crawls such as Common Crawl, books, code repositories, scientific papers and multilingual text. Cleaning is a major engineering effort: removing duplicates, which otherwise get memorised; filtering low-quality or unsafe pages, often with classifier models; and removing benchmark test sets to avoid contamination. A tokenizer is trained on the data. Pre-training runs next-token prediction on thousands of GPUs for weeks. Post-training, week 8, turns the base model into an assistant. Emphasise that the architecture is the one from last week, simply scaled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approximation from the scaling-law literature is worth memorising. Each parameter participates in about two floating-point operations per token in the forward pass and about four in the backward pass. Work through the example: seven billion parameters times two trillion tokens times six is about eight point four times ten to the twenty-two operations. Divide by an effective throughput of four hundred teraflops per second per GPU, allowing for real-world efficiency, and you get roughly fifty-eight thousand GPU-hours, or a thousand GPUs for about two and a half days. Frontier models use orders of magnitude more. This is why most organisations adapt existing models rather than pre-training.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plot uses the published Chinchilla fit, where loss equals a constant plus a term that shrinks with parameters plus a term that shrinks with data. For each model size, more compute means more data and lower loss, but each size eventually flattens, and the dashed line shows the best size for each budget. The right plot shows the Chinchilla rule of about twenty tokens per parameter. GPT-3 used only about 1.7 tokens per parameter; Chinchilla used twenty; Llama 3 8B used almost two thousand, deliberately over-training a small model because inference cost, not training cost, dominates when millions of people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figures give a sense of the data scale. GPT-3 trained on about three hundred billion tokens. Chinchilla used one point four trillion for a seventy-billion-parameter model. Hugging Face's FineWeb, released openly in 2024, contains about fifteen trillion tokens of filtered web text, showing that open datasets now reach frontier scale. Meta reported more than fifteen trillion tokens for Llama 3. A trillion tokens is roughly seven hundred and fifty billion words, thousands of times the size of English Wikipedia. At this scale data quality, filtering and deduplication, not just quantity, determine model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GPT-3's paper was titled Language Models are Few-Shot Learners: given a handful of input-output examples in the prompt, a large model continues the pattern for new inputs. This in-context learning is the foundation of prompt engineering next week. Researchers also reported emergent abilities that seemed to appear suddenly above some size. Schaeffer and colleagues showed that many such jumps are artefacts of all-or-nothing metrics such as exact match; measured with a continuous metric, performance often improves smoothly. The practical message is not to assume a capability from model size, but to test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context window is the maximum number of tokens the model can attend to in one call, including the prompt, the conversation history, any documents or tool outputs, and the generated answer. It grew from a few thousand to over a million tokens thanks to rotary scaling and efficient attention from last week. Two caveats. Longer context costs more money and time, since attention and the KV cache scale with length. And models do not use long contexts uniformly: Liu and colleagues found in 2023 that information in the middle of a long input is used less reliably than information at the start or end. Selecting relevant context remains important.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counts computed for the lecture. The same English sentence, an Irish translation and a short Python function were tokenised with the tokenisers of GPT-2, BERT, Flan-T5, Qwen 2.5 and SmolLM2. English is cheap for all of them; Irish and code vary much more. Larger vocabularies trained on multilingual and code data, such as Qwen's, usually need fewer tokens for such text. Because pricing, speed and context limits are all measured in tokens, the tokeniser is a practical factor in model choice, not just a technical detail. Students repeat this comparison in the first part of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three returns to the decoding ideas from week 1 in more depth, now that we understand the model producing the probabilities. We compare the main strategies, look at real next-token distributions from a small open LLM, and check understanding with a quiz. About thirteen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neural model provides logits, unnormalised scores for all vocabulary tokens. Decoding is the policy used to turn those scores into a continuation. Greedy decoding chooses the highest-scoring token; the sample helper instead draws a token from probabilities. Temperature rescales logits: a lower positive value concentrates probability on stronger candidates, while a higher value spreads it. Top-k filtering uses a score threshold based on the kth candidate; ties at that threshold can retain additional tokens. Top-p filtering keeps enough leading candidates to reach a chosen cumulative probability, so its retained count depends on model confidence. The chosen token changes the next prefix and therefore the next prediction. A more diverse output is not necessarily more accurate. The manual loop runs its specified number of steps; it does not contain an explicit end-of-sequence stopping test.
Worked example:
The lab's five scores [2, 1, 0.5, 0.1, -1] give probabilities about [0.56, 0.21, 0.12, 0.08, 0.03].
Top-k with k=2 retains the two highest-scoring candidates in this example.
Top-p with p=0.8 instead retains three: their cumulative probability first exceeds 0.8.
Removed candidates get zero probability; retained probabilities are renormalised.
Sampling selects one ID, which is appended before the next model call.
Check: Why can top-p retain different numbers of candidates at successive positions?
Answer: The probability distribution changes with the prefix; a confident distribution needs fewer candidates to reach 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table row by row. Greedy decoding is deterministic and good for short, factual outputs, but in long generations it tends to loop. Beam search keeps several candidate sequences and was the standard for translation with encoder-decoder models; in open-ended chat it produces bland text. Temperature, top-k and top-p, from week 1, shape the sampling distribution; top-p adapts to the model's confidence and is the common default. Repetition penalties reduce loops but can harm tasks where repetition is correct, such as code. Settings must be reported in evaluations, and some reasoning-model APIs fix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distributions from the Qwen 2.5 half-billion-parameter base model, the pre-trained model before instruction tuning, computed for these slides. A base model is a pure next-token predictor, and the result is instructive. Even for the capital of Ireland the probability is spread: located, the and Dublin are all plausible continuations of the text, and the single most likely token is a blank line, because the web contains many fill-in-the-blank worksheets with exactly this sentence. Dublin gets only about five per cent. The model has not decided anything; it continues text the way its training data does. For my favourite food is, the probability is spread even more thinly. Two lessons follow. Decoding settings shape what comes out, and top-p adapts to how spread the distribution is. And turning a text continuer into an assistant that answers Dublin is the job of post-training, week 8. It also connects to hallucination: sampling from a flat distribution still produces fluent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B. Extraction has one correct answer, so we want the most likely tokens, deterministically, and we should validate the output format, for example with a JSON schema, which is covered next week. A adds randomness and errors to a task that needs none. C is unnecessary, and a strong repetition penalty could corrupt numbers that legitimately repeat digits. D increases the chance of rare, wrong tokens. A good follow-up: for brainstorming marketing slogans, which setting would you pick instead? Higher temperature with top-p.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Section four is the map of the model landscape. We organise models by architecture family, then by access, proprietary or open-weight, and then by the newer categories that matter for choosing a model: small language models, mixture-of-experts models and reasoning models. The goal is not to memorise product names, which change every month, but to be able to place any new model on this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modern language models descend from the 2017 transformer. The encoder-only branch, starting with BERT, produces representations: classification and embeddings for search; ModernBERT in 2024 showed this branch is still active. The encoder-decoder branch, T5 and BART, maps inputs to outputs; Whisper for speech is also here. The decoder-only branch is where almost all chat models sit: OpenAI's GPT family, Anthropic's Claude, Google's Gemini, Meta's Llama, Alibaba's Qwen, DeepSeek, Mistral, Microsoft's Phi, AI2's OLMo, which releases its data too, and OpenAI's open-weight gpt-oss models released in 2025. Stress that the descriptor's GPT, BERT, LLaMA and T5 fall into three different branches.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corresponds directly to the descriptor's tutorial activity, comparing outputs across families. In the lab students give the same inputs to all three. BERT, given the capital of Ireland is mask, ranks candidate words for the blank. Flan-T5, an instruction-tuned T5, answers questions, translates or summarises when the task is stated in the input. A decoder chat model answers in open-ended text. The teaching notes list the actual outputs we obtained when preparing the lecture. The key conceptual point is that these are different tools, not better or worse versions of the same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maps the main families to their developers and access models; version numbers are deliberately omitted. Proprietary families are used through the developer's app or API. Open-weight families can be downloaded, but licences differ: Qwen and OLMo mostly use the permissive Apache 2.0 licence; DeepSeek's R1 used MIT; Llama uses a community licence with conditions and requires accepting it on Hugging Face; Gemma has its own terms. The line between the two worlds is blurred: Google has both Gemini and Gemma, OpenAI released gpt-oss, and Mistral offers both. Students must check the licence before using a model in a project or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architecture and access, four categories guide real choices. Small language models have improved dramatically through better data and distillation; a well-trained few-billion-parameter model now matches much larger models of a few years ago on many tasks and can run locally, which helps privacy and cost. Mixture-of-experts models trade memory for speed, as we saw last week. Reasoning models spend extra compute at inference time. Multimodal LLMs are covered in weeks 9 and 10. A single product may combine several: a small model for routing, a reasoning model for hard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Reasoning models are trained, typically with reinforcement learning on problems whose answers can be checked automatically, to generate a long chain of intermediate reasoning before the final answer. Spending more tokens thinking, called test-time compute, often improves results on maths, science and coding. DeepSeek-R1, released openly in January 2025, showed how to do this with reinforcement learning. The bullet reports what happened when we ran the small open Qwen3 model, three times per mode, on an easy word problem and on a scheduling puzzle with a hidden constraint: only one two-GPU run fits on three GPUs at a time, so five runs take twenty hours. Read it as a cost-benefit table: on the easy problem thinking cannot improve a correct answer and costs several times the tokens; on the puzzle, ask whether the extra tokens bought correct answers. One lesson from preparing it: Qwen3's thinking mode needs sampling, as its model card says; with greedy decoding it repeated itself until the token budget ran out. Two cautions: thinking costs time and money, and the displayed reasoning is not a faithful window into the model's computation.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C. T5, the Text-to-Text Transfer Transformer, is an encoder-decoder model that casts every task, from translation to classification, as generating an output text from an input text. A is wrong: BERT is an encoder. B is wrong: most open-weight releases publish weights only; fully open models such as OLMo that also release data and code are the exception. D is the opposite of the truth: reasoning models spend more computation at inference time, so they are usually slower and more expensive per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section is practical. We look at what a model card should tell you, what licences allow, how to read benchmark tables critically, the trade-offs between calling an API and running a model locally, the code for both, typical applications, a process for choosing a model, and the responsible-AI issues specific to LLMs. This section feeds directly into the project, where groups must justify their model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cards, proposed by Mitchell and colleagues in 2019, are the standard documentation for models on Hugging Face and elsewhere. Teach students to read them like a datasheet before using a model. Quality varies widely: some cards are detailed, others are a few lines. Missing information, such as undisclosed training data, is itself important information for a risk assessment. In the lab, students fill in this table for two models they use, and the project requires it for every model the group relies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Licences decide what students and their future employers may legally do with a model. Permissive licences such as Apache 2.0 and MIT allow commercial use and modification with attribution. Community licences such as Llama's and Gemma's allow broad free use but impose acceptable-use policies and, for Llama, require a separate licence for services with more than seven hundred million monthly users. OpenRAIL licences, used by Stable Diffusion 1.5, list prohibited uses. Research licences forbid commercial use. API terms govern data retention and outputs. The table simplifies; the project requires groups to quote the actual licence of each model they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Benchmark tables appear in every model release. Explain what the common ones measure and why caution is needed. Contamination: benchmark questions leak into web-scraped training data, inflating scores. Saturation: when all top models score above ninety percent, differences are noise. Prompt sensitivity: scores change with formatting and the number of examples. Arena-style human preference rankings capture real prompts but favour longer, more confident answers. The practical rule, developed next week, is to build a small evaluation set for your own task and test shortlisted models on it with fixed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choice appears in every project. Hosted APIs give the best capability without hardware, but send data to a provider and cost money per token; models may be updated or retired, which harms reproducibility. Running an open model locally gives privacy, control and a fixed version, and makes fine-tuning possible, but requires hardware and operational effort, and small local models are less capable. Many organisations use both. Week 11 covers deployment in detail; this week students try both routes in the lab, using free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Hugging Face Transformers library is the standard way to use open models in Python. The pipeline function hides the tokenizer, model and processing behind one call per task. For chat models we pass a list of messages with roles; the pipeline formats them with the model's chat template, the special tokens it was trained with, which we meet again in fine-tuning in week 8. Use deterministic decoding when comparing models, as here. In the lab students run these exact cells, and the notebook explains how to control device placement and generation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pattern for hosted models, shown with Hugging Face's Inference Providers, which offer free monthly credits and route to many open models; the same message format works with OpenAI, Google's Gemini OpenAI-compatible endpoint, and local servers such as Ollama and vLLM. The key habits: read keys from environment variables or Colab secrets, set temperature explicitly, record the model name and date, and log token usage for cost estimation. Provider model names and free tiers change, so the lab notebook checks for a key and falls back to a local model if none is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Summarise the applications. LLMs are excellent at transforming text: drafting, rewriting, summarising, translating, extracting information into structured formats, explaining and writing code. With tools, such as retrieval, code execution and search, they can answer questions over private documents and perform calculations reliably. They are weak at recalling rare or recent facts, producing exact citations, arithmetic without tools, and anything that depends on character-level details, because they see tokens rather than letters. High-stakes uses need human review. This framing prepares for weeks 7, 11 and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five-step process is what the project expects. Define the task precisely, including examples of good outputs. List constraints: data that cannot leave the organisation rules out some APIs; a mobile app needs a small model. Shortlist a few candidates across families and sizes. Evaluate them on your own test set with fixed prompts and settings, measuring quality, cost per request and latency. Decide, document the reasoning, and plan to re-test, because hosted models change and new models appear every month. Week 7 teaches how to build the evaluation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responsible-AI issues for LLMs combine what we have seen before with some specific points. Training-data transparency is poor across most of the industry, and legal cases about using copyrighted books and news continue. Bias shows up both as stereotyped content and as unequal quality across languages, connecting to tokenisation. Hallucination remains the central reliability risk. Memorisation can expose personal data from training sets. Open weights are a trade-off: they enable independent research, privacy-preserving local use and auditing, but also make safety measures easier to remove. The EU AI Act adds obligations for providers of general-purpose AI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lab is a sequence of comparison experiments, rather than one shared model pipeline. Token counts show how the same text becomes different pieces. The family demonstrations then expose different output interfaces: BERT ranks words for a blank, Flan-T5 transforms input text into output text, and Qwen continues a formatted conversation. Decoding experiments keep a story prefix fixed while changing how tokens are selected. Perplexity measures the predictability of supplied text, but differences in token boundaries prevent a direct per-token ranking across model families. The call log measures output length and elapsed time. Finally, the thinking experiment checks final numerical answers across sampled seeds, rather than trusting persuasive intermediate text. Different mode settings also use different token budgets and sampling parameters, so the comparison reflects the complete settings used, rather than isolating the thinking switch alone.
Worked example:
Count tokens for identical source text before comparing the models' outputs.
BERT fills [MASK]; T5 and Qwen generate text using different architectures.
Use the same story prefix for greedy, beam and sampled continuations.
Treat perplexity under different tokenisers as different prediction measurements.
For the scheduling puzzle, compare final-answer correctness, tokens and time across runs.
Check: Can lower perplexity from one tokenizer prove that its model answers questions better?
Answer: No. Tokenisers define different prediction units, and text predictability is not the same measurement as question-answer correctness.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implements the descriptor's tutorial for this week: use pretrained models, compare outputs across GPT, BERT and T5 style families, and query a GPT or LLaMA-family model through the Hugging Face API. We use Qwen, an openly licensed decoder family, because Llama downloads are gated behind a licence acceptance; students can optionally request Llama access. The decoding part asks them to implement top-k and top-p themselves. The API part works with a free Hugging Face token or falls back to a local model. The reasoning part makes test-time compute concrete.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eight points. Students should now be able to place any new model announcement on the map: which family, open or closed, how big, whether it reasons or is multimodal, and under what licence. Next week we move from choosing a model to using it well: prompt engineering, context engineering, structured outputs, and above all how to evaluate prompts and outputs systematically, which is also the core of MIMLO 4. Ask students to complete the lab and bring one prompt they use regularly.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Karpathy's one-hour introduction is the best single overview; his longer deep dive covers reasoning models well. Google's short video is a gentle alternative. Chapters 1 and 2 of the Hugging Face LLM Course cover pipelines, models and tokenizers with runnable code. Tunstall and colleagues' chapters 1 and 5, and part one of Ozdemir's book, are the descriptor's readings. The Chinchilla paper is readable and important for the scaling discussion. All links were checked in September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1.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slideLayout" Target="../slideLayouts/slideLayout1.xml"/><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image" Target="../media/image-43-6.png"/><Relationship Id="rId7" Type="http://schemas.openxmlformats.org/officeDocument/2006/relationships/image" Target="../media/image-43-7.png"/><Relationship Id="rId8" Type="http://schemas.openxmlformats.org/officeDocument/2006/relationships/image" Target="../media/image-43-8.png"/><Relationship Id="rId9" Type="http://schemas.openxmlformats.org/officeDocument/2006/relationships/slideLayout" Target="../slideLayouts/slideLayout1.xml"/><Relationship Id="rId10"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2" Type="http://schemas.openxmlformats.org/officeDocument/2006/relationships/hyperlink" Target="https://www.youtube.com/watch?v=zjkBMFhNj_g" TargetMode="External"/><Relationship Id="rId4" Type="http://schemas.openxmlformats.org/officeDocument/2006/relationships/hyperlink" Target="https://www.youtube.com/watch?v=7xTGNNLPyMI" TargetMode="External"/><Relationship Id="rId6" Type="http://schemas.openxmlformats.org/officeDocument/2006/relationships/hyperlink" Target="https://www.youtube.com/watch?v=zizonToFXDs" TargetMode="External"/><Relationship Id="rId8" Type="http://schemas.openxmlformats.org/officeDocument/2006/relationships/hyperlink" Target="https://huggingface.co/learn/llm-course/chapter1/1" TargetMode="External"/><Relationship Id="rId10" Type="http://schemas.openxmlformats.org/officeDocument/2006/relationships/hyperlink" Target="https://developers.google.com/machine-learning/crash-course/llm" TargetMode="External"/><Relationship Id="rId12" Type="http://schemas.openxmlformats.org/officeDocument/2006/relationships/hyperlink" Target="https://www.oreilly.com/library/view/natural-language-processing/9781098136789/" TargetMode="External"/><Relationship Id="rId14" Type="http://schemas.openxmlformats.org/officeDocument/2006/relationships/hyperlink" Target="https://www.informit.com/store/quick-start-guide-to-large-language-models-strategies-9780138199197" TargetMode="External"/><Relationship Id="rId16" Type="http://schemas.openxmlformats.org/officeDocument/2006/relationships/hyperlink" Target="https://arxiv.org/abs/2203.15556" TargetMode="External"/><Relationship Id="rId1" Type="http://schemas.openxmlformats.org/officeDocument/2006/relationships/image" Target="../media/image-44-1.png"/><Relationship Id="rId3" Type="http://schemas.openxmlformats.org/officeDocument/2006/relationships/image" Target="../media/image-44-2.png"/><Relationship Id="rId5" Type="http://schemas.openxmlformats.org/officeDocument/2006/relationships/image" Target="../media/image-44-3.png"/><Relationship Id="rId7" Type="http://schemas.openxmlformats.org/officeDocument/2006/relationships/image" Target="../media/image-44-4.png"/><Relationship Id="rId9" Type="http://schemas.openxmlformats.org/officeDocument/2006/relationships/image" Target="../media/image-44-5.png"/><Relationship Id="rId11" Type="http://schemas.openxmlformats.org/officeDocument/2006/relationships/image" Target="../media/image-44-6.png"/><Relationship Id="rId13" Type="http://schemas.openxmlformats.org/officeDocument/2006/relationships/image" Target="../media/image-44-7.png"/><Relationship Id="rId15" Type="http://schemas.openxmlformats.org/officeDocument/2006/relationships/image" Target="../media/image-44-8.png"/><Relationship Id="rId17" Type="http://schemas.openxmlformats.org/officeDocument/2006/relationships/slideLayout" Target="../slideLayouts/slideLayout1.xml"/><Relationship Id="rId18"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B4B"/>
        </a:solidFill>
      </p:bgPr>
    </p:bg>
    <p:spTree>
      <p:nvGrpSpPr>
        <p:cNvPr id="1" name=""/>
        <p:cNvGrpSpPr/>
        <p:nvPr/>
      </p:nvGrpSpPr>
      <p:grpSpPr>
        <a:xfrm>
          <a:off x="0" y="0"/>
          <a:ext cx="0" cy="0"/>
          <a:chOff x="0" y="0"/>
          <a:chExt cx="0" cy="0"/>
        </a:xfrm>
      </p:grpSpPr>
      <p:sp>
        <p:nvSpPr>
          <p:cNvPr id="2" name="Shape 0"/>
          <p:cNvSpPr/>
          <p:nvPr/>
        </p:nvSpPr>
        <p:spPr>
          <a:xfrm>
            <a:off x="731520" y="1051560"/>
            <a:ext cx="1737360" cy="457200"/>
          </a:xfrm>
          <a:prstGeom prst="roundRect">
            <a:avLst>
              <a:gd name="adj" fmla="val 20000"/>
            </a:avLst>
          </a:prstGeom>
          <a:solidFill>
            <a:srgbClr val="EA580C"/>
          </a:solidFill>
          <a:ln w="12700">
            <a:solidFill>
              <a:srgbClr val="EA580C"/>
            </a:solidFill>
            <a:prstDash val="solid"/>
          </a:ln>
        </p:spPr>
      </p:sp>
      <p:sp>
        <p:nvSpPr>
          <p:cNvPr id="3" name="Text 1"/>
          <p:cNvSpPr txBox="1"/>
          <p:nvPr/>
        </p:nvSpPr>
        <p:spPr>
          <a:xfrm>
            <a:off x="731520" y="1051560"/>
            <a:ext cx="1737360" cy="457200"/>
          </a:xfrm>
          <a:prstGeom prst="rect">
            <a:avLst/>
          </a:prstGeom>
          <a:noFill/>
          <a:ln/>
        </p:spPr>
        <p:txBody>
          <a:bodyPr wrap="square" lIns="0" tIns="0" rIns="0" bIns="0" rtlCol="0" anchor="ctr"/>
          <a:lstStyle/>
          <a:p>
            <a:pPr algn="ctr" indent="0" marL="0">
              <a:buNone/>
            </a:pPr>
            <a:r>
              <a:rPr lang="en-US" sz="1600" b="1" spc="200" kern="0" dirty="0">
                <a:solidFill>
                  <a:srgbClr val="FFFFFF"/>
                </a:solidFill>
                <a:latin typeface="Calibri" pitchFamily="34" charset="0"/>
                <a:ea typeface="Calibri" pitchFamily="34" charset="-122"/>
                <a:cs typeface="Calibri" pitchFamily="34" charset="-120"/>
              </a:rPr>
              <a:t>WEEK 06</a:t>
            </a:r>
            <a:endParaRPr lang="en-US" sz="1600" dirty="0"/>
          </a:p>
        </p:txBody>
      </p:sp>
      <p:sp>
        <p:nvSpPr>
          <p:cNvPr id="4" name="Text 2"/>
          <p:cNvSpPr txBox="1"/>
          <p:nvPr/>
        </p:nvSpPr>
        <p:spPr>
          <a:xfrm>
            <a:off x="731520" y="1737360"/>
            <a:ext cx="6766560" cy="2103120"/>
          </a:xfrm>
          <a:prstGeom prst="rect">
            <a:avLst/>
          </a:prstGeom>
          <a:noFill/>
          <a:ln/>
        </p:spPr>
        <p:txBody>
          <a:bodyPr wrap="square" lIns="0" tIns="0" rIns="0" bIns="0" rtlCol="0" anchor="b"/>
          <a:lstStyle/>
          <a:p>
            <a:pPr indent="0" marL="0">
              <a:lnSpc>
                <a:spcPct val="95000"/>
              </a:lnSpc>
              <a:buNone/>
            </a:pPr>
            <a:r>
              <a:rPr lang="en-US" sz="4600" b="1" dirty="0">
                <a:solidFill>
                  <a:srgbClr val="FFFFFF"/>
                </a:solidFill>
                <a:latin typeface="Calibri" pitchFamily="34" charset="0"/>
                <a:ea typeface="Calibri" pitchFamily="34" charset="-122"/>
                <a:cs typeface="Calibri" pitchFamily="34" charset="-120"/>
              </a:rPr>
              <a:t>Large Language Models (LLMs) and families</a:t>
            </a:r>
            <a:endParaRPr lang="en-US" sz="4600" dirty="0"/>
          </a:p>
        </p:txBody>
      </p:sp>
      <p:sp>
        <p:nvSpPr>
          <p:cNvPr id="5" name="Text 3"/>
          <p:cNvSpPr txBox="1"/>
          <p:nvPr/>
        </p:nvSpPr>
        <p:spPr>
          <a:xfrm>
            <a:off x="731520" y="3977640"/>
            <a:ext cx="6766560" cy="1097280"/>
          </a:xfrm>
          <a:prstGeom prst="rect">
            <a:avLst/>
          </a:prstGeom>
          <a:noFill/>
          <a:ln/>
        </p:spPr>
        <p:txBody>
          <a:bodyPr wrap="square" lIns="0" tIns="0" rIns="0" bIns="0" rtlCol="0" anchor="t"/>
          <a:lstStyle/>
          <a:p>
            <a:pPr indent="0" marL="0">
              <a:buNone/>
            </a:pPr>
            <a:r>
              <a:rPr lang="en-US" sz="2000" dirty="0">
                <a:solidFill>
                  <a:srgbClr val="C7D2FE"/>
                </a:solidFill>
                <a:latin typeface="Calibri" pitchFamily="34" charset="0"/>
                <a:ea typeface="Calibri" pitchFamily="34" charset="-122"/>
                <a:cs typeface="Calibri" pitchFamily="34" charset="-120"/>
              </a:rPr>
              <a:t>From n-grams to frontier models: how LLMs are built and scaled, how they decode, and how to choose among model families</a:t>
            </a:r>
            <a:endParaRPr lang="en-US" sz="2000" dirty="0"/>
          </a:p>
        </p:txBody>
      </p:sp>
      <p:sp>
        <p:nvSpPr>
          <p:cNvPr id="6" name="Text 4"/>
          <p:cNvSpPr txBox="1"/>
          <p:nvPr/>
        </p:nvSpPr>
        <p:spPr>
          <a:xfrm>
            <a:off x="731520" y="5897880"/>
            <a:ext cx="8229600" cy="365760"/>
          </a:xfrm>
          <a:prstGeom prst="rect">
            <a:avLst/>
          </a:prstGeom>
          <a:noFill/>
          <a:ln/>
        </p:spPr>
        <p:txBody>
          <a:bodyPr wrap="square" lIns="0" tIns="0" rIns="0" bIns="0" rtlCol="0" anchor="t"/>
          <a:lstStyle/>
          <a:p>
            <a:pPr indent="0" marL="0">
              <a:buNone/>
            </a:pPr>
            <a:r>
              <a:rPr lang="en-US" sz="1300" dirty="0">
                <a:solidFill>
                  <a:srgbClr val="C7D2FE"/>
                </a:solidFill>
                <a:latin typeface="Calibri" pitchFamily="34" charset="0"/>
                <a:ea typeface="Calibri" pitchFamily="34" charset="-122"/>
                <a:cs typeface="Calibri" pitchFamily="34" charset="-120"/>
              </a:rPr>
              <a:t>MSc in Artificial Intelligence  ·  Generative AI  ·  2-hour lecture</a:t>
            </a:r>
            <a:endParaRPr lang="en-US" sz="1300" dirty="0"/>
          </a:p>
        </p:txBody>
      </p:sp>
      <p:pic>
        <p:nvPicPr>
          <p:cNvPr id="7" name="Image 0" descr="C:\Users\sudee\Downloads\Generative_AI_2027_Teaching_Pack\AI2027_Project\build\figures\week_06\cover.png">    </p:cNvPr>
          <p:cNvPicPr>
            <a:picLocks noChangeAspect="1"/>
          </p:cNvPicPr>
          <p:nvPr/>
        </p:nvPicPr>
        <p:blipFill>
          <a:blip r:embed="rId1"/>
          <a:stretch>
            <a:fillRect/>
          </a:stretch>
        </p:blipFill>
        <p:spPr>
          <a:xfrm>
            <a:off x="7818120" y="1520258"/>
            <a:ext cx="3840480" cy="381748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By the end of this week you can…</a:t>
            </a:r>
            <a:endParaRPr lang="en-US" sz="3200" dirty="0"/>
          </a:p>
        </p:txBody>
      </p:sp>
      <p:sp>
        <p:nvSpPr>
          <p:cNvPr id="6" name="Shape 4"/>
          <p:cNvSpPr/>
          <p:nvPr/>
        </p:nvSpPr>
        <p:spPr>
          <a:xfrm>
            <a:off x="548640" y="1545336"/>
            <a:ext cx="411480" cy="411480"/>
          </a:xfrm>
          <a:prstGeom prst="ellipse">
            <a:avLst/>
          </a:prstGeom>
          <a:solidFill>
            <a:srgbClr val="4F46E5"/>
          </a:solidFill>
          <a:ln w="12700">
            <a:solidFill>
              <a:srgbClr val="4F46E5"/>
            </a:solidFill>
            <a:prstDash val="solid"/>
          </a:ln>
        </p:spPr>
      </p:sp>
      <p:sp>
        <p:nvSpPr>
          <p:cNvPr id="7" name="Text 5"/>
          <p:cNvSpPr txBox="1"/>
          <p:nvPr/>
        </p:nvSpPr>
        <p:spPr>
          <a:xfrm>
            <a:off x="548640" y="15453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527048"/>
            <a:ext cx="6903720" cy="756412"/>
          </a:xfrm>
          <a:prstGeom prst="rect">
            <a:avLst/>
          </a:prstGeom>
          <a:noFill/>
          <a:ln/>
        </p:spPr>
        <p:txBody>
          <a:bodyPr wrap="square" lIns="50800" tIns="50800" rIns="50800" bIns="50800" rtlCol="0" anchor="t"/>
          <a:lstStyle/>
          <a:p>
            <a:pPr indent="0" marL="0">
              <a:buNone/>
            </a:pPr>
            <a:r>
              <a:rPr lang="en-US" sz="1600" dirty="0">
                <a:solidFill>
                  <a:srgbClr val="1F2937"/>
                </a:solidFill>
                <a:latin typeface="Calibri" pitchFamily="34" charset="0"/>
                <a:ea typeface="Calibri" pitchFamily="34" charset="-122"/>
                <a:cs typeface="Calibri" pitchFamily="34" charset="-120"/>
              </a:rPr>
              <a:t>Trace the </a:t>
            </a:r>
            <a:pPr indent="0" marL="0">
              <a:buNone/>
            </a:pPr>
            <a:r>
              <a:rPr lang="en-US" sz="1600" b="1" dirty="0">
                <a:solidFill>
                  <a:srgbClr val="1F2937"/>
                </a:solidFill>
                <a:latin typeface="Calibri" pitchFamily="34" charset="0"/>
                <a:ea typeface="Calibri" pitchFamily="34" charset="-122"/>
                <a:cs typeface="Calibri" pitchFamily="34" charset="-120"/>
              </a:rPr>
              <a:t>evolution of NLP</a:t>
            </a:r>
            <a:pPr indent="0" marL="0">
              <a:buNone/>
            </a:pPr>
            <a:r>
              <a:rPr lang="en-US" sz="1600" dirty="0">
                <a:solidFill>
                  <a:srgbClr val="1F2937"/>
                </a:solidFill>
                <a:latin typeface="Calibri" pitchFamily="34" charset="0"/>
                <a:ea typeface="Calibri" pitchFamily="34" charset="-122"/>
                <a:cs typeface="Calibri" pitchFamily="34" charset="-120"/>
              </a:rPr>
              <a:t> from n-grams and word embeddings through RNNs to transformer LLMs.</a:t>
            </a:r>
            <a:endParaRPr lang="en-US" sz="1600" dirty="0"/>
          </a:p>
        </p:txBody>
      </p:sp>
      <p:sp>
        <p:nvSpPr>
          <p:cNvPr id="9" name="Shape 7"/>
          <p:cNvSpPr/>
          <p:nvPr/>
        </p:nvSpPr>
        <p:spPr>
          <a:xfrm>
            <a:off x="548640" y="2301748"/>
            <a:ext cx="411480" cy="411480"/>
          </a:xfrm>
          <a:prstGeom prst="ellipse">
            <a:avLst/>
          </a:prstGeom>
          <a:solidFill>
            <a:srgbClr val="4F46E5"/>
          </a:solidFill>
          <a:ln w="12700">
            <a:solidFill>
              <a:srgbClr val="4F46E5"/>
            </a:solidFill>
            <a:prstDash val="solid"/>
          </a:ln>
        </p:spPr>
      </p:sp>
      <p:sp>
        <p:nvSpPr>
          <p:cNvPr id="10" name="Text 8"/>
          <p:cNvSpPr txBox="1"/>
          <p:nvPr/>
        </p:nvSpPr>
        <p:spPr>
          <a:xfrm>
            <a:off x="548640" y="230174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283460"/>
            <a:ext cx="6903720" cy="756412"/>
          </a:xfrm>
          <a:prstGeom prst="rect">
            <a:avLst/>
          </a:prstGeom>
          <a:noFill/>
          <a:ln/>
        </p:spPr>
        <p:txBody>
          <a:bodyPr wrap="square" lIns="50800" tIns="50800" rIns="50800" bIns="50800" rtlCol="0" anchor="t"/>
          <a:lstStyle/>
          <a:p>
            <a:pPr indent="0" marL="0">
              <a:buNone/>
            </a:pPr>
            <a:r>
              <a:rPr lang="en-US" sz="1600" dirty="0">
                <a:solidFill>
                  <a:srgbClr val="1F2937"/>
                </a:solidFill>
                <a:latin typeface="Calibri" pitchFamily="34" charset="0"/>
                <a:ea typeface="Calibri" pitchFamily="34" charset="-122"/>
                <a:cs typeface="Calibri" pitchFamily="34" charset="-120"/>
              </a:rPr>
              <a:t>Explain how transformers become LLMs: </a:t>
            </a:r>
            <a:pPr indent="0" marL="0">
              <a:buNone/>
            </a:pPr>
            <a:r>
              <a:rPr lang="en-US" sz="1600" b="1" dirty="0">
                <a:solidFill>
                  <a:srgbClr val="1F2937"/>
                </a:solidFill>
                <a:latin typeface="Calibri" pitchFamily="34" charset="0"/>
                <a:ea typeface="Calibri" pitchFamily="34" charset="-122"/>
                <a:cs typeface="Calibri" pitchFamily="34" charset="-120"/>
              </a:rPr>
              <a:t>pre-training</a:t>
            </a:r>
            <a:pPr indent="0" marL="0">
              <a:buNone/>
            </a:pPr>
            <a:r>
              <a:rPr lang="en-US" sz="1600" dirty="0">
                <a:solidFill>
                  <a:srgbClr val="1F2937"/>
                </a:solidFill>
                <a:latin typeface="Calibri" pitchFamily="34" charset="0"/>
                <a:ea typeface="Calibri" pitchFamily="34" charset="-122"/>
                <a:cs typeface="Calibri" pitchFamily="34" charset="-120"/>
              </a:rPr>
              <a:t> data, </a:t>
            </a:r>
            <a:pPr indent="0" marL="0">
              <a:buNone/>
            </a:pPr>
            <a:r>
              <a:rPr lang="en-US" sz="1600" b="1" dirty="0">
                <a:solidFill>
                  <a:srgbClr val="1F2937"/>
                </a:solidFill>
                <a:latin typeface="Calibri" pitchFamily="34" charset="0"/>
                <a:ea typeface="Calibri" pitchFamily="34" charset="-122"/>
                <a:cs typeface="Calibri" pitchFamily="34" charset="-120"/>
              </a:rPr>
              <a:t>scaling laws</a:t>
            </a:r>
            <a:pPr indent="0" marL="0">
              <a:buNone/>
            </a:pPr>
            <a:r>
              <a:rPr lang="en-US" sz="1600" dirty="0">
                <a:solidFill>
                  <a:srgbClr val="1F2937"/>
                </a:solidFill>
                <a:latin typeface="Calibri" pitchFamily="34" charset="0"/>
                <a:ea typeface="Calibri" pitchFamily="34" charset="-122"/>
                <a:cs typeface="Calibri" pitchFamily="34" charset="-120"/>
              </a:rPr>
              <a:t>, compute, and </a:t>
            </a:r>
            <a:pPr indent="0" marL="0">
              <a:buNone/>
            </a:pPr>
            <a:r>
              <a:rPr lang="en-US" sz="1600" b="1" dirty="0">
                <a:solidFill>
                  <a:srgbClr val="1F2937"/>
                </a:solidFill>
                <a:latin typeface="Calibri" pitchFamily="34" charset="0"/>
                <a:ea typeface="Calibri" pitchFamily="34" charset="-122"/>
                <a:cs typeface="Calibri" pitchFamily="34" charset="-120"/>
              </a:rPr>
              <a:t>context windows</a:t>
            </a:r>
            <a:pPr indent="0" marL="0">
              <a:buNone/>
            </a:pPr>
            <a:r>
              <a:rPr lang="en-US" sz="1600" dirty="0">
                <a:solidFill>
                  <a:srgbClr val="1F2937"/>
                </a:solidFill>
                <a:latin typeface="Calibri" pitchFamily="34" charset="0"/>
                <a:ea typeface="Calibri" pitchFamily="34" charset="-122"/>
                <a:cs typeface="Calibri" pitchFamily="34" charset="-120"/>
              </a:rPr>
              <a:t>.</a:t>
            </a:r>
            <a:endParaRPr lang="en-US" sz="1600" dirty="0"/>
          </a:p>
        </p:txBody>
      </p:sp>
      <p:sp>
        <p:nvSpPr>
          <p:cNvPr id="12" name="Shape 10"/>
          <p:cNvSpPr/>
          <p:nvPr/>
        </p:nvSpPr>
        <p:spPr>
          <a:xfrm>
            <a:off x="548640" y="3058160"/>
            <a:ext cx="411480" cy="411480"/>
          </a:xfrm>
          <a:prstGeom prst="ellipse">
            <a:avLst/>
          </a:prstGeom>
          <a:solidFill>
            <a:srgbClr val="4F46E5"/>
          </a:solidFill>
          <a:ln w="12700">
            <a:solidFill>
              <a:srgbClr val="4F46E5"/>
            </a:solidFill>
            <a:prstDash val="solid"/>
          </a:ln>
        </p:spPr>
      </p:sp>
      <p:sp>
        <p:nvSpPr>
          <p:cNvPr id="13" name="Text 11"/>
          <p:cNvSpPr txBox="1"/>
          <p:nvPr/>
        </p:nvSpPr>
        <p:spPr>
          <a:xfrm>
            <a:off x="548640" y="30581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039872"/>
            <a:ext cx="6903720" cy="756412"/>
          </a:xfrm>
          <a:prstGeom prst="rect">
            <a:avLst/>
          </a:prstGeom>
          <a:noFill/>
          <a:ln/>
        </p:spPr>
        <p:txBody>
          <a:bodyPr wrap="square" lIns="50800" tIns="50800" rIns="50800" bIns="50800" rtlCol="0" anchor="t"/>
          <a:lstStyle/>
          <a:p>
            <a:pPr indent="0" marL="0">
              <a:buNone/>
            </a:pPr>
            <a:r>
              <a:rPr lang="en-US" sz="1600" dirty="0">
                <a:solidFill>
                  <a:srgbClr val="1F2937"/>
                </a:solidFill>
                <a:latin typeface="Calibri" pitchFamily="34" charset="0"/>
                <a:ea typeface="Calibri" pitchFamily="34" charset="-122"/>
                <a:cs typeface="Calibri" pitchFamily="34" charset="-120"/>
              </a:rPr>
              <a:t>Compare </a:t>
            </a:r>
            <a:pPr indent="0" marL="0">
              <a:buNone/>
            </a:pPr>
            <a:r>
              <a:rPr lang="en-US" sz="1600" b="1" dirty="0">
                <a:solidFill>
                  <a:srgbClr val="1F2937"/>
                </a:solidFill>
                <a:latin typeface="Calibri" pitchFamily="34" charset="0"/>
                <a:ea typeface="Calibri" pitchFamily="34" charset="-122"/>
                <a:cs typeface="Calibri" pitchFamily="34" charset="-120"/>
              </a:rPr>
              <a:t>decoding strategies</a:t>
            </a:r>
            <a:pPr indent="0" marL="0">
              <a:buNone/>
            </a:pPr>
            <a:r>
              <a:rPr lang="en-US" sz="1600" dirty="0">
                <a:solidFill>
                  <a:srgbClr val="1F2937"/>
                </a:solidFill>
                <a:latin typeface="Calibri" pitchFamily="34" charset="0"/>
                <a:ea typeface="Calibri" pitchFamily="34" charset="-122"/>
                <a:cs typeface="Calibri" pitchFamily="34" charset="-120"/>
              </a:rPr>
              <a:t> (greedy, beam, temperature, top-k, top-p) and choose settings for a task.</a:t>
            </a:r>
            <a:endParaRPr lang="en-US" sz="1600" dirty="0"/>
          </a:p>
        </p:txBody>
      </p:sp>
      <p:sp>
        <p:nvSpPr>
          <p:cNvPr id="15" name="Shape 13"/>
          <p:cNvSpPr/>
          <p:nvPr/>
        </p:nvSpPr>
        <p:spPr>
          <a:xfrm>
            <a:off x="548640" y="3814572"/>
            <a:ext cx="411480" cy="411480"/>
          </a:xfrm>
          <a:prstGeom prst="ellipse">
            <a:avLst/>
          </a:prstGeom>
          <a:solidFill>
            <a:srgbClr val="4F46E5"/>
          </a:solidFill>
          <a:ln w="12700">
            <a:solidFill>
              <a:srgbClr val="4F46E5"/>
            </a:solidFill>
            <a:prstDash val="solid"/>
          </a:ln>
        </p:spPr>
      </p:sp>
      <p:sp>
        <p:nvSpPr>
          <p:cNvPr id="16" name="Text 14"/>
          <p:cNvSpPr txBox="1"/>
          <p:nvPr/>
        </p:nvSpPr>
        <p:spPr>
          <a:xfrm>
            <a:off x="548640" y="381457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3796284"/>
            <a:ext cx="6903720" cy="1000252"/>
          </a:xfrm>
          <a:prstGeom prst="rect">
            <a:avLst/>
          </a:prstGeom>
          <a:noFill/>
          <a:ln/>
        </p:spPr>
        <p:txBody>
          <a:bodyPr wrap="square" lIns="50800" tIns="50800" rIns="50800" bIns="50800" rtlCol="0" anchor="t"/>
          <a:lstStyle/>
          <a:p>
            <a:pPr indent="0" marL="0">
              <a:buNone/>
            </a:pPr>
            <a:r>
              <a:rPr lang="en-US" sz="1600" dirty="0">
                <a:solidFill>
                  <a:srgbClr val="1F2937"/>
                </a:solidFill>
                <a:latin typeface="Calibri" pitchFamily="34" charset="0"/>
                <a:ea typeface="Calibri" pitchFamily="34" charset="-122"/>
                <a:cs typeface="Calibri" pitchFamily="34" charset="-120"/>
              </a:rPr>
              <a:t>Distinguish </a:t>
            </a:r>
            <a:pPr indent="0" marL="0">
              <a:buNone/>
            </a:pPr>
            <a:r>
              <a:rPr lang="en-US" sz="1600" b="1" dirty="0">
                <a:solidFill>
                  <a:srgbClr val="1F2937"/>
                </a:solidFill>
                <a:latin typeface="Calibri" pitchFamily="34" charset="0"/>
                <a:ea typeface="Calibri" pitchFamily="34" charset="-122"/>
                <a:cs typeface="Calibri" pitchFamily="34" charset="-120"/>
              </a:rPr>
              <a:t>LLM families</a:t>
            </a:r>
            <a:pPr indent="0" marL="0">
              <a:buNone/>
            </a:pPr>
            <a:r>
              <a:rPr lang="en-US" sz="1600" dirty="0">
                <a:solidFill>
                  <a:srgbClr val="1F2937"/>
                </a:solidFill>
                <a:latin typeface="Calibri" pitchFamily="34" charset="0"/>
                <a:ea typeface="Calibri" pitchFamily="34" charset="-122"/>
                <a:cs typeface="Calibri" pitchFamily="34" charset="-120"/>
              </a:rPr>
              <a:t>: encoder (BERT), encoder–decoder (T5), decoder-only (GPT, LLaMA, Gemini, Claude, Mistral, Qwen, DeepSeek); proprietary vs </a:t>
            </a:r>
            <a:pPr indent="0" marL="0">
              <a:buNone/>
            </a:pPr>
            <a:r>
              <a:rPr lang="en-US" sz="1600" b="1" dirty="0">
                <a:solidFill>
                  <a:srgbClr val="1F2937"/>
                </a:solidFill>
                <a:latin typeface="Calibri" pitchFamily="34" charset="0"/>
                <a:ea typeface="Calibri" pitchFamily="34" charset="-122"/>
                <a:cs typeface="Calibri" pitchFamily="34" charset="-120"/>
              </a:rPr>
              <a:t>open-weight</a:t>
            </a:r>
            <a:pPr indent="0" marL="0">
              <a:buNone/>
            </a:pPr>
            <a:r>
              <a:rPr lang="en-US" sz="1600" dirty="0">
                <a:solidFill>
                  <a:srgbClr val="1F2937"/>
                </a:solidFill>
                <a:latin typeface="Calibri" pitchFamily="34" charset="0"/>
                <a:ea typeface="Calibri" pitchFamily="34" charset="-122"/>
                <a:cs typeface="Calibri" pitchFamily="34" charset="-120"/>
              </a:rPr>
              <a:t>; small, mixture-of-experts and </a:t>
            </a:r>
            <a:pPr indent="0" marL="0">
              <a:buNone/>
            </a:pPr>
            <a:r>
              <a:rPr lang="en-US" sz="1600" b="1" dirty="0">
                <a:solidFill>
                  <a:srgbClr val="1F2937"/>
                </a:solidFill>
                <a:latin typeface="Calibri" pitchFamily="34" charset="0"/>
                <a:ea typeface="Calibri" pitchFamily="34" charset="-122"/>
                <a:cs typeface="Calibri" pitchFamily="34" charset="-120"/>
              </a:rPr>
              <a:t>reasoning</a:t>
            </a:r>
            <a:pPr indent="0" marL="0">
              <a:buNone/>
            </a:pPr>
            <a:r>
              <a:rPr lang="en-US" sz="1600" dirty="0">
                <a:solidFill>
                  <a:srgbClr val="1F2937"/>
                </a:solidFill>
                <a:latin typeface="Calibri" pitchFamily="34" charset="0"/>
                <a:ea typeface="Calibri" pitchFamily="34" charset="-122"/>
                <a:cs typeface="Calibri" pitchFamily="34" charset="-120"/>
              </a:rPr>
              <a:t> models.</a:t>
            </a:r>
            <a:endParaRPr lang="en-US" sz="1600" dirty="0"/>
          </a:p>
        </p:txBody>
      </p:sp>
      <p:sp>
        <p:nvSpPr>
          <p:cNvPr id="18" name="Shape 16"/>
          <p:cNvSpPr/>
          <p:nvPr/>
        </p:nvSpPr>
        <p:spPr>
          <a:xfrm>
            <a:off x="548640" y="4814824"/>
            <a:ext cx="411480" cy="411480"/>
          </a:xfrm>
          <a:prstGeom prst="ellipse">
            <a:avLst/>
          </a:prstGeom>
          <a:solidFill>
            <a:srgbClr val="4F46E5"/>
          </a:solidFill>
          <a:ln w="12700">
            <a:solidFill>
              <a:srgbClr val="4F46E5"/>
            </a:solidFill>
            <a:prstDash val="solid"/>
          </a:ln>
        </p:spPr>
      </p:sp>
      <p:sp>
        <p:nvSpPr>
          <p:cNvPr id="19" name="Text 17"/>
          <p:cNvSpPr txBox="1"/>
          <p:nvPr/>
        </p:nvSpPr>
        <p:spPr>
          <a:xfrm>
            <a:off x="548640" y="481482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796536"/>
            <a:ext cx="6903720" cy="756412"/>
          </a:xfrm>
          <a:prstGeom prst="rect">
            <a:avLst/>
          </a:prstGeom>
          <a:noFill/>
          <a:ln/>
        </p:spPr>
        <p:txBody>
          <a:bodyPr wrap="square" lIns="50800" tIns="50800" rIns="50800" bIns="50800" rtlCol="0" anchor="t"/>
          <a:lstStyle/>
          <a:p>
            <a:pPr indent="0" marL="0">
              <a:buNone/>
            </a:pPr>
            <a:r>
              <a:rPr lang="en-US" sz="1600" dirty="0">
                <a:solidFill>
                  <a:srgbClr val="1F2937"/>
                </a:solidFill>
                <a:latin typeface="Calibri" pitchFamily="34" charset="0"/>
                <a:ea typeface="Calibri" pitchFamily="34" charset="-122"/>
                <a:cs typeface="Calibri" pitchFamily="34" charset="-120"/>
              </a:rPr>
              <a:t>Read </a:t>
            </a:r>
            <a:pPr indent="0" marL="0">
              <a:buNone/>
            </a:pPr>
            <a:r>
              <a:rPr lang="en-US" sz="1600" b="1" dirty="0">
                <a:solidFill>
                  <a:srgbClr val="1F2937"/>
                </a:solidFill>
                <a:latin typeface="Calibri" pitchFamily="34" charset="0"/>
                <a:ea typeface="Calibri" pitchFamily="34" charset="-122"/>
                <a:cs typeface="Calibri" pitchFamily="34" charset="-120"/>
              </a:rPr>
              <a:t>model cards</a:t>
            </a:r>
            <a:pPr indent="0" marL="0">
              <a:buNone/>
            </a:pPr>
            <a:r>
              <a:rPr lang="en-US" sz="1600" dirty="0">
                <a:solidFill>
                  <a:srgbClr val="1F2937"/>
                </a:solidFill>
                <a:latin typeface="Calibri" pitchFamily="34" charset="0"/>
                <a:ea typeface="Calibri" pitchFamily="34" charset="-122"/>
                <a:cs typeface="Calibri" pitchFamily="34" charset="-120"/>
              </a:rPr>
              <a:t>, licences and </a:t>
            </a:r>
            <a:pPr indent="0" marL="0">
              <a:buNone/>
            </a:pPr>
            <a:r>
              <a:rPr lang="en-US" sz="1600" b="1" dirty="0">
                <a:solidFill>
                  <a:srgbClr val="1F2937"/>
                </a:solidFill>
                <a:latin typeface="Calibri" pitchFamily="34" charset="0"/>
                <a:ea typeface="Calibri" pitchFamily="34" charset="-122"/>
                <a:cs typeface="Calibri" pitchFamily="34" charset="-120"/>
              </a:rPr>
              <a:t>benchmarks</a:t>
            </a:r>
            <a:pPr indent="0" marL="0">
              <a:buNone/>
            </a:pPr>
            <a:r>
              <a:rPr lang="en-US" sz="1600" dirty="0">
                <a:solidFill>
                  <a:srgbClr val="1F2937"/>
                </a:solidFill>
                <a:latin typeface="Calibri" pitchFamily="34" charset="0"/>
                <a:ea typeface="Calibri" pitchFamily="34" charset="-122"/>
                <a:cs typeface="Calibri" pitchFamily="34" charset="-120"/>
              </a:rPr>
              <a:t> critically, and choose a model for an application.</a:t>
            </a:r>
            <a:endParaRPr lang="en-US" sz="1600" dirty="0"/>
          </a:p>
        </p:txBody>
      </p:sp>
      <p:sp>
        <p:nvSpPr>
          <p:cNvPr id="21" name="Shape 19"/>
          <p:cNvSpPr/>
          <p:nvPr/>
        </p:nvSpPr>
        <p:spPr>
          <a:xfrm>
            <a:off x="548640" y="5571236"/>
            <a:ext cx="411480" cy="411480"/>
          </a:xfrm>
          <a:prstGeom prst="ellipse">
            <a:avLst/>
          </a:prstGeom>
          <a:solidFill>
            <a:srgbClr val="4F46E5"/>
          </a:solidFill>
          <a:ln w="12700">
            <a:solidFill>
              <a:srgbClr val="4F46E5"/>
            </a:solidFill>
            <a:prstDash val="solid"/>
          </a:ln>
        </p:spPr>
      </p:sp>
      <p:sp>
        <p:nvSpPr>
          <p:cNvPr id="22" name="Text 20"/>
          <p:cNvSpPr txBox="1"/>
          <p:nvPr/>
        </p:nvSpPr>
        <p:spPr>
          <a:xfrm>
            <a:off x="548640" y="55712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3" name="Text 21"/>
          <p:cNvSpPr txBox="1"/>
          <p:nvPr/>
        </p:nvSpPr>
        <p:spPr>
          <a:xfrm>
            <a:off x="1143000" y="5552948"/>
            <a:ext cx="6903720" cy="756412"/>
          </a:xfrm>
          <a:prstGeom prst="rect">
            <a:avLst/>
          </a:prstGeom>
          <a:noFill/>
          <a:ln/>
        </p:spPr>
        <p:txBody>
          <a:bodyPr wrap="square" lIns="50800" tIns="50800" rIns="50800" bIns="50800" rtlCol="0" anchor="t"/>
          <a:lstStyle/>
          <a:p>
            <a:pPr indent="0" marL="0">
              <a:buNone/>
            </a:pPr>
            <a:r>
              <a:rPr lang="en-US" sz="1600" dirty="0">
                <a:solidFill>
                  <a:srgbClr val="1F2937"/>
                </a:solidFill>
                <a:latin typeface="Calibri" pitchFamily="34" charset="0"/>
                <a:ea typeface="Calibri" pitchFamily="34" charset="-122"/>
                <a:cs typeface="Calibri" pitchFamily="34" charset="-120"/>
              </a:rPr>
              <a:t>Use pretrained models with </a:t>
            </a:r>
            <a:pPr indent="0" marL="0">
              <a:buNone/>
            </a:pPr>
            <a:r>
              <a:rPr lang="en-US" sz="1600" b="1" dirty="0">
                <a:solidFill>
                  <a:srgbClr val="1F2937"/>
                </a:solidFill>
                <a:latin typeface="Calibri" pitchFamily="34" charset="0"/>
                <a:ea typeface="Calibri" pitchFamily="34" charset="-122"/>
                <a:cs typeface="Calibri" pitchFamily="34" charset="-120"/>
              </a:rPr>
              <a:t>Hugging Face</a:t>
            </a:r>
            <a:pPr indent="0" marL="0">
              <a:buNone/>
            </a:pPr>
            <a:r>
              <a:rPr lang="en-US" sz="1600" dirty="0">
                <a:solidFill>
                  <a:srgbClr val="1F2937"/>
                </a:solidFill>
                <a:latin typeface="Calibri" pitchFamily="34" charset="0"/>
                <a:ea typeface="Calibri" pitchFamily="34" charset="-122"/>
                <a:cs typeface="Calibri" pitchFamily="34" charset="-120"/>
              </a:rPr>
              <a:t> pipelines and query an LLM through an API or local runtime.</a:t>
            </a:r>
            <a:endParaRPr lang="en-US" sz="1600" dirty="0"/>
          </a:p>
        </p:txBody>
      </p:sp>
      <p:sp>
        <p:nvSpPr>
          <p:cNvPr id="24" name="Shape 22"/>
          <p:cNvSpPr/>
          <p:nvPr/>
        </p:nvSpPr>
        <p:spPr>
          <a:xfrm>
            <a:off x="8458200" y="1527048"/>
            <a:ext cx="3184855" cy="4782312"/>
          </a:xfrm>
          <a:prstGeom prst="roundRect">
            <a:avLst>
              <a:gd name="adj" fmla="val 3445"/>
            </a:avLst>
          </a:prstGeom>
          <a:solidFill>
            <a:srgbClr val="EEF0FF"/>
          </a:solidFill>
          <a:ln w="12700">
            <a:solidFill>
              <a:srgbClr val="EEF0FF"/>
            </a:solidFill>
            <a:prstDash val="solid"/>
          </a:ln>
        </p:spPr>
      </p:sp>
      <p:sp>
        <p:nvSpPr>
          <p:cNvPr id="25" name="Text 23"/>
          <p:cNvSpPr txBox="1"/>
          <p:nvPr/>
        </p:nvSpPr>
        <p:spPr>
          <a:xfrm>
            <a:off x="8686800" y="1664208"/>
            <a:ext cx="2727655" cy="64008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Module learning outcomes (MIMLOs) practised</a:t>
            </a:r>
            <a:endParaRPr lang="en-US" sz="1500" dirty="0"/>
          </a:p>
        </p:txBody>
      </p:sp>
      <p:sp>
        <p:nvSpPr>
          <p:cNvPr id="26" name="Shape 24"/>
          <p:cNvSpPr/>
          <p:nvPr/>
        </p:nvSpPr>
        <p:spPr>
          <a:xfrm>
            <a:off x="8686800" y="2395728"/>
            <a:ext cx="1143000" cy="365760"/>
          </a:xfrm>
          <a:prstGeom prst="roundRect">
            <a:avLst>
              <a:gd name="adj" fmla="val 20000"/>
            </a:avLst>
          </a:prstGeom>
          <a:solidFill>
            <a:srgbClr val="4F46E5"/>
          </a:solidFill>
          <a:ln w="12700">
            <a:solidFill>
              <a:srgbClr val="4F46E5"/>
            </a:solidFill>
            <a:prstDash val="solid"/>
          </a:ln>
        </p:spPr>
      </p:sp>
      <p:sp>
        <p:nvSpPr>
          <p:cNvPr id="27" name="Text 25"/>
          <p:cNvSpPr txBox="1"/>
          <p:nvPr/>
        </p:nvSpPr>
        <p:spPr>
          <a:xfrm>
            <a:off x="8686800" y="2395728"/>
            <a:ext cx="11430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MIMLO 1</a:t>
            </a:r>
            <a:endParaRPr lang="en-US" sz="1300" dirty="0"/>
          </a:p>
        </p:txBody>
      </p:sp>
      <p:sp>
        <p:nvSpPr>
          <p:cNvPr id="28" name="Text 26"/>
          <p:cNvSpPr txBox="1"/>
          <p:nvPr/>
        </p:nvSpPr>
        <p:spPr>
          <a:xfrm>
            <a:off x="8641080" y="277977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Explain core concepts, maths and model families</a:t>
            </a:r>
            <a:endParaRPr lang="en-US" sz="1400" dirty="0"/>
          </a:p>
        </p:txBody>
      </p:sp>
      <p:sp>
        <p:nvSpPr>
          <p:cNvPr id="29" name="Shape 27"/>
          <p:cNvSpPr/>
          <p:nvPr/>
        </p:nvSpPr>
        <p:spPr>
          <a:xfrm>
            <a:off x="8686800" y="3584448"/>
            <a:ext cx="1143000" cy="365760"/>
          </a:xfrm>
          <a:prstGeom prst="roundRect">
            <a:avLst>
              <a:gd name="adj" fmla="val 20000"/>
            </a:avLst>
          </a:prstGeom>
          <a:solidFill>
            <a:srgbClr val="4F46E5"/>
          </a:solidFill>
          <a:ln w="12700">
            <a:solidFill>
              <a:srgbClr val="4F46E5"/>
            </a:solidFill>
            <a:prstDash val="solid"/>
          </a:ln>
        </p:spPr>
      </p:sp>
      <p:sp>
        <p:nvSpPr>
          <p:cNvPr id="30" name="Text 28"/>
          <p:cNvSpPr txBox="1"/>
          <p:nvPr/>
        </p:nvSpPr>
        <p:spPr>
          <a:xfrm>
            <a:off x="8686800" y="3584448"/>
            <a:ext cx="11430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MIMLO 3</a:t>
            </a:r>
            <a:endParaRPr lang="en-US" sz="1300" dirty="0"/>
          </a:p>
        </p:txBody>
      </p:sp>
      <p:sp>
        <p:nvSpPr>
          <p:cNvPr id="31" name="Text 29"/>
          <p:cNvSpPr txBox="1"/>
          <p:nvPr/>
        </p:nvSpPr>
        <p:spPr>
          <a:xfrm>
            <a:off x="8641080" y="396849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Design, implement and fine-tune models</a:t>
            </a:r>
            <a:endParaRPr lang="en-US" sz="1400" dirty="0"/>
          </a:p>
        </p:txBody>
      </p:sp>
      <p:sp>
        <p:nvSpPr>
          <p:cNvPr id="32" name="Shape 30"/>
          <p:cNvSpPr/>
          <p:nvPr/>
        </p:nvSpPr>
        <p:spPr>
          <a:xfrm>
            <a:off x="8686800" y="4773168"/>
            <a:ext cx="1143000" cy="365760"/>
          </a:xfrm>
          <a:prstGeom prst="roundRect">
            <a:avLst>
              <a:gd name="adj" fmla="val 20000"/>
            </a:avLst>
          </a:prstGeom>
          <a:solidFill>
            <a:srgbClr val="4F46E5"/>
          </a:solidFill>
          <a:ln w="12700">
            <a:solidFill>
              <a:srgbClr val="4F46E5"/>
            </a:solidFill>
            <a:prstDash val="solid"/>
          </a:ln>
        </p:spPr>
      </p:sp>
      <p:sp>
        <p:nvSpPr>
          <p:cNvPr id="33" name="Text 31"/>
          <p:cNvSpPr txBox="1"/>
          <p:nvPr/>
        </p:nvSpPr>
        <p:spPr>
          <a:xfrm>
            <a:off x="8686800" y="4773168"/>
            <a:ext cx="11430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MIMLO 5</a:t>
            </a:r>
            <a:endParaRPr lang="en-US" sz="1300" dirty="0"/>
          </a:p>
        </p:txBody>
      </p:sp>
      <p:sp>
        <p:nvSpPr>
          <p:cNvPr id="34" name="Text 32"/>
          <p:cNvSpPr txBox="1"/>
          <p:nvPr/>
        </p:nvSpPr>
        <p:spPr>
          <a:xfrm>
            <a:off x="8641080" y="515721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Deploy models; build RAG and agentic systems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Today's plan</a:t>
            </a:r>
            <a:endParaRPr lang="en-US" sz="3200" dirty="0"/>
          </a:p>
        </p:txBody>
      </p:sp>
      <p:sp>
        <p:nvSpPr>
          <p:cNvPr id="6" name="Shape 4"/>
          <p:cNvSpPr/>
          <p:nvPr/>
        </p:nvSpPr>
        <p:spPr>
          <a:xfrm>
            <a:off x="548640" y="1572768"/>
            <a:ext cx="8686800" cy="566928"/>
          </a:xfrm>
          <a:prstGeom prst="roundRect">
            <a:avLst>
              <a:gd name="adj" fmla="val 16129"/>
            </a:avLst>
          </a:prstGeom>
          <a:solidFill>
            <a:srgbClr val="EEF0FF"/>
          </a:solidFill>
          <a:ln w="12700">
            <a:solidFill>
              <a:srgbClr val="EEF0FF"/>
            </a:solidFill>
            <a:prstDash val="solid"/>
          </a:ln>
        </p:spPr>
      </p:sp>
      <p:sp>
        <p:nvSpPr>
          <p:cNvPr id="7" name="Shape 5"/>
          <p:cNvSpPr/>
          <p:nvPr/>
        </p:nvSpPr>
        <p:spPr>
          <a:xfrm>
            <a:off x="685800" y="1664208"/>
            <a:ext cx="384048" cy="384048"/>
          </a:xfrm>
          <a:prstGeom prst="ellipse">
            <a:avLst/>
          </a:prstGeom>
          <a:solidFill>
            <a:srgbClr val="4F46E5"/>
          </a:solidFill>
          <a:ln w="12700">
            <a:solidFill>
              <a:srgbClr val="4F46E5"/>
            </a:solidFill>
            <a:prstDash val="solid"/>
          </a:ln>
        </p:spPr>
      </p:sp>
      <p:sp>
        <p:nvSpPr>
          <p:cNvPr id="8" name="Text 6"/>
          <p:cNvSpPr txBox="1"/>
          <p:nvPr/>
        </p:nvSpPr>
        <p:spPr>
          <a:xfrm>
            <a:off x="685800" y="16642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188720" y="1572768"/>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Warm-up: two assistants, two answers</a:t>
            </a:r>
            <a:endParaRPr lang="en-US" sz="1900" dirty="0"/>
          </a:p>
        </p:txBody>
      </p:sp>
      <p:sp>
        <p:nvSpPr>
          <p:cNvPr id="10" name="Text 8"/>
          <p:cNvSpPr txBox="1"/>
          <p:nvPr/>
        </p:nvSpPr>
        <p:spPr>
          <a:xfrm>
            <a:off x="8046720" y="1572768"/>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5 min</a:t>
            </a:r>
            <a:endParaRPr lang="en-US" sz="1400" dirty="0"/>
          </a:p>
        </p:txBody>
      </p:sp>
      <p:sp>
        <p:nvSpPr>
          <p:cNvPr id="11" name="Shape 9"/>
          <p:cNvSpPr/>
          <p:nvPr/>
        </p:nvSpPr>
        <p:spPr>
          <a:xfrm>
            <a:off x="548640" y="2249424"/>
            <a:ext cx="8686800" cy="566928"/>
          </a:xfrm>
          <a:prstGeom prst="roundRect">
            <a:avLst>
              <a:gd name="adj" fmla="val 16129"/>
            </a:avLst>
          </a:prstGeom>
          <a:solidFill>
            <a:srgbClr val="F5F3FF"/>
          </a:solidFill>
          <a:ln w="12700">
            <a:solidFill>
              <a:srgbClr val="EEF0FF"/>
            </a:solidFill>
            <a:prstDash val="solid"/>
          </a:ln>
        </p:spPr>
      </p:sp>
      <p:sp>
        <p:nvSpPr>
          <p:cNvPr id="12" name="Shape 10"/>
          <p:cNvSpPr/>
          <p:nvPr/>
        </p:nvSpPr>
        <p:spPr>
          <a:xfrm>
            <a:off x="685800" y="2340864"/>
            <a:ext cx="384048" cy="384048"/>
          </a:xfrm>
          <a:prstGeom prst="ellipse">
            <a:avLst/>
          </a:prstGeom>
          <a:solidFill>
            <a:srgbClr val="4F46E5"/>
          </a:solidFill>
          <a:ln w="12700">
            <a:solidFill>
              <a:srgbClr val="4F46E5"/>
            </a:solidFill>
            <a:prstDash val="solid"/>
          </a:ln>
        </p:spPr>
      </p:sp>
      <p:sp>
        <p:nvSpPr>
          <p:cNvPr id="13" name="Text 11"/>
          <p:cNvSpPr txBox="1"/>
          <p:nvPr/>
        </p:nvSpPr>
        <p:spPr>
          <a:xfrm>
            <a:off x="685800" y="23408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188720" y="2249424"/>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1 · The evolution of NLP</a:t>
            </a:r>
            <a:endParaRPr lang="en-US" sz="1900" dirty="0"/>
          </a:p>
        </p:txBody>
      </p:sp>
      <p:sp>
        <p:nvSpPr>
          <p:cNvPr id="15" name="Text 13"/>
          <p:cNvSpPr txBox="1"/>
          <p:nvPr/>
        </p:nvSpPr>
        <p:spPr>
          <a:xfrm>
            <a:off x="8046720" y="2249424"/>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12 min</a:t>
            </a:r>
            <a:endParaRPr lang="en-US" sz="1400" dirty="0"/>
          </a:p>
        </p:txBody>
      </p:sp>
      <p:sp>
        <p:nvSpPr>
          <p:cNvPr id="16" name="Shape 14"/>
          <p:cNvSpPr/>
          <p:nvPr/>
        </p:nvSpPr>
        <p:spPr>
          <a:xfrm>
            <a:off x="548640" y="2926080"/>
            <a:ext cx="8686800" cy="566928"/>
          </a:xfrm>
          <a:prstGeom prst="roundRect">
            <a:avLst>
              <a:gd name="adj" fmla="val 16129"/>
            </a:avLst>
          </a:prstGeom>
          <a:solidFill>
            <a:srgbClr val="EEF0FF"/>
          </a:solidFill>
          <a:ln w="12700">
            <a:solidFill>
              <a:srgbClr val="EEF0FF"/>
            </a:solidFill>
            <a:prstDash val="solid"/>
          </a:ln>
        </p:spPr>
      </p:sp>
      <p:sp>
        <p:nvSpPr>
          <p:cNvPr id="17" name="Shape 15"/>
          <p:cNvSpPr/>
          <p:nvPr/>
        </p:nvSpPr>
        <p:spPr>
          <a:xfrm>
            <a:off x="685800" y="3017520"/>
            <a:ext cx="384048" cy="384048"/>
          </a:xfrm>
          <a:prstGeom prst="ellipse">
            <a:avLst/>
          </a:prstGeom>
          <a:solidFill>
            <a:srgbClr val="4F46E5"/>
          </a:solidFill>
          <a:ln w="12700">
            <a:solidFill>
              <a:srgbClr val="4F46E5"/>
            </a:solidFill>
            <a:prstDash val="solid"/>
          </a:ln>
        </p:spPr>
      </p:sp>
      <p:sp>
        <p:nvSpPr>
          <p:cNvPr id="18" name="Text 16"/>
          <p:cNvSpPr txBox="1"/>
          <p:nvPr/>
        </p:nvSpPr>
        <p:spPr>
          <a:xfrm>
            <a:off x="685800" y="30175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1188720" y="2926080"/>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2 · From transformer to LLM: data, scale, context</a:t>
            </a:r>
            <a:endParaRPr lang="en-US" sz="1900" dirty="0"/>
          </a:p>
        </p:txBody>
      </p:sp>
      <p:sp>
        <p:nvSpPr>
          <p:cNvPr id="20" name="Text 18"/>
          <p:cNvSpPr txBox="1"/>
          <p:nvPr/>
        </p:nvSpPr>
        <p:spPr>
          <a:xfrm>
            <a:off x="8046720" y="2926080"/>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25 min</a:t>
            </a:r>
            <a:endParaRPr lang="en-US" sz="1400" dirty="0"/>
          </a:p>
        </p:txBody>
      </p:sp>
      <p:sp>
        <p:nvSpPr>
          <p:cNvPr id="21" name="Shape 19"/>
          <p:cNvSpPr/>
          <p:nvPr/>
        </p:nvSpPr>
        <p:spPr>
          <a:xfrm>
            <a:off x="548640" y="3602736"/>
            <a:ext cx="8686800" cy="566928"/>
          </a:xfrm>
          <a:prstGeom prst="roundRect">
            <a:avLst>
              <a:gd name="adj" fmla="val 16129"/>
            </a:avLst>
          </a:prstGeom>
          <a:solidFill>
            <a:srgbClr val="F5F3FF"/>
          </a:solidFill>
          <a:ln w="12700">
            <a:solidFill>
              <a:srgbClr val="EEF0FF"/>
            </a:solidFill>
            <a:prstDash val="solid"/>
          </a:ln>
        </p:spPr>
      </p:sp>
      <p:sp>
        <p:nvSpPr>
          <p:cNvPr id="22" name="Shape 20"/>
          <p:cNvSpPr/>
          <p:nvPr/>
        </p:nvSpPr>
        <p:spPr>
          <a:xfrm>
            <a:off x="685800" y="3694176"/>
            <a:ext cx="384048" cy="384048"/>
          </a:xfrm>
          <a:prstGeom prst="ellipse">
            <a:avLst/>
          </a:prstGeom>
          <a:solidFill>
            <a:srgbClr val="4F46E5"/>
          </a:solidFill>
          <a:ln w="12700">
            <a:solidFill>
              <a:srgbClr val="4F46E5"/>
            </a:solidFill>
            <a:prstDash val="solid"/>
          </a:ln>
        </p:spPr>
      </p:sp>
      <p:sp>
        <p:nvSpPr>
          <p:cNvPr id="23" name="Text 21"/>
          <p:cNvSpPr txBox="1"/>
          <p:nvPr/>
        </p:nvSpPr>
        <p:spPr>
          <a:xfrm>
            <a:off x="685800" y="369417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Text 22"/>
          <p:cNvSpPr txBox="1"/>
          <p:nvPr/>
        </p:nvSpPr>
        <p:spPr>
          <a:xfrm>
            <a:off x="1188720" y="3602736"/>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3 · Decoding strategies</a:t>
            </a:r>
            <a:endParaRPr lang="en-US" sz="1900" dirty="0"/>
          </a:p>
        </p:txBody>
      </p:sp>
      <p:sp>
        <p:nvSpPr>
          <p:cNvPr id="25" name="Text 23"/>
          <p:cNvSpPr txBox="1"/>
          <p:nvPr/>
        </p:nvSpPr>
        <p:spPr>
          <a:xfrm>
            <a:off x="8046720" y="3602736"/>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13 min</a:t>
            </a:r>
            <a:endParaRPr lang="en-US" sz="1400" dirty="0"/>
          </a:p>
        </p:txBody>
      </p:sp>
      <p:sp>
        <p:nvSpPr>
          <p:cNvPr id="26" name="Shape 24"/>
          <p:cNvSpPr/>
          <p:nvPr/>
        </p:nvSpPr>
        <p:spPr>
          <a:xfrm>
            <a:off x="548640" y="4279392"/>
            <a:ext cx="8686800" cy="566928"/>
          </a:xfrm>
          <a:prstGeom prst="roundRect">
            <a:avLst>
              <a:gd name="adj" fmla="val 16129"/>
            </a:avLst>
          </a:prstGeom>
          <a:solidFill>
            <a:srgbClr val="EEF0FF"/>
          </a:solidFill>
          <a:ln w="12700">
            <a:solidFill>
              <a:srgbClr val="EEF0FF"/>
            </a:solidFill>
            <a:prstDash val="solid"/>
          </a:ln>
        </p:spPr>
      </p:sp>
      <p:sp>
        <p:nvSpPr>
          <p:cNvPr id="27" name="Shape 25"/>
          <p:cNvSpPr/>
          <p:nvPr/>
        </p:nvSpPr>
        <p:spPr>
          <a:xfrm>
            <a:off x="685800" y="4370832"/>
            <a:ext cx="384048" cy="384048"/>
          </a:xfrm>
          <a:prstGeom prst="ellipse">
            <a:avLst/>
          </a:prstGeom>
          <a:solidFill>
            <a:srgbClr val="4F46E5"/>
          </a:solidFill>
          <a:ln w="12700">
            <a:solidFill>
              <a:srgbClr val="4F46E5"/>
            </a:solidFill>
            <a:prstDash val="solid"/>
          </a:ln>
        </p:spPr>
      </p:sp>
      <p:sp>
        <p:nvSpPr>
          <p:cNvPr id="28" name="Text 26"/>
          <p:cNvSpPr txBox="1"/>
          <p:nvPr/>
        </p:nvSpPr>
        <p:spPr>
          <a:xfrm>
            <a:off x="685800" y="43708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9" name="Text 27"/>
          <p:cNvSpPr txBox="1"/>
          <p:nvPr/>
        </p:nvSpPr>
        <p:spPr>
          <a:xfrm>
            <a:off x="1188720" y="4279392"/>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4 · LLM families</a:t>
            </a:r>
            <a:endParaRPr lang="en-US" sz="1900" dirty="0"/>
          </a:p>
        </p:txBody>
      </p:sp>
      <p:sp>
        <p:nvSpPr>
          <p:cNvPr id="30" name="Text 28"/>
          <p:cNvSpPr txBox="1"/>
          <p:nvPr/>
        </p:nvSpPr>
        <p:spPr>
          <a:xfrm>
            <a:off x="8046720" y="4279392"/>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27 min</a:t>
            </a:r>
            <a:endParaRPr lang="en-US" sz="1400" dirty="0"/>
          </a:p>
        </p:txBody>
      </p:sp>
      <p:sp>
        <p:nvSpPr>
          <p:cNvPr id="31" name="Shape 29"/>
          <p:cNvSpPr/>
          <p:nvPr/>
        </p:nvSpPr>
        <p:spPr>
          <a:xfrm>
            <a:off x="548640" y="4956048"/>
            <a:ext cx="8686800" cy="566928"/>
          </a:xfrm>
          <a:prstGeom prst="roundRect">
            <a:avLst>
              <a:gd name="adj" fmla="val 16129"/>
            </a:avLst>
          </a:prstGeom>
          <a:solidFill>
            <a:srgbClr val="F5F3FF"/>
          </a:solidFill>
          <a:ln w="12700">
            <a:solidFill>
              <a:srgbClr val="EEF0FF"/>
            </a:solidFill>
            <a:prstDash val="solid"/>
          </a:ln>
        </p:spPr>
      </p:sp>
      <p:sp>
        <p:nvSpPr>
          <p:cNvPr id="32" name="Shape 30"/>
          <p:cNvSpPr/>
          <p:nvPr/>
        </p:nvSpPr>
        <p:spPr>
          <a:xfrm>
            <a:off x="685800" y="5047488"/>
            <a:ext cx="384048" cy="384048"/>
          </a:xfrm>
          <a:prstGeom prst="ellipse">
            <a:avLst/>
          </a:prstGeom>
          <a:solidFill>
            <a:srgbClr val="4F46E5"/>
          </a:solidFill>
          <a:ln w="12700">
            <a:solidFill>
              <a:srgbClr val="4F46E5"/>
            </a:solidFill>
            <a:prstDash val="solid"/>
          </a:ln>
        </p:spPr>
      </p:sp>
      <p:sp>
        <p:nvSpPr>
          <p:cNvPr id="33" name="Text 31"/>
          <p:cNvSpPr txBox="1"/>
          <p:nvPr/>
        </p:nvSpPr>
        <p:spPr>
          <a:xfrm>
            <a:off x="685800" y="5047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4" name="Text 32"/>
          <p:cNvSpPr txBox="1"/>
          <p:nvPr/>
        </p:nvSpPr>
        <p:spPr>
          <a:xfrm>
            <a:off x="1188720" y="4956048"/>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5 · Choosing and using models</a:t>
            </a:r>
            <a:endParaRPr lang="en-US" sz="1900" dirty="0"/>
          </a:p>
        </p:txBody>
      </p:sp>
      <p:sp>
        <p:nvSpPr>
          <p:cNvPr id="35" name="Text 33"/>
          <p:cNvSpPr txBox="1"/>
          <p:nvPr/>
        </p:nvSpPr>
        <p:spPr>
          <a:xfrm>
            <a:off x="8046720" y="4956048"/>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30 min</a:t>
            </a:r>
            <a:endParaRPr lang="en-US" sz="1400" dirty="0"/>
          </a:p>
        </p:txBody>
      </p:sp>
      <p:sp>
        <p:nvSpPr>
          <p:cNvPr id="36" name="Shape 34"/>
          <p:cNvSpPr/>
          <p:nvPr/>
        </p:nvSpPr>
        <p:spPr>
          <a:xfrm>
            <a:off x="548640" y="5632704"/>
            <a:ext cx="8686800" cy="566928"/>
          </a:xfrm>
          <a:prstGeom prst="roundRect">
            <a:avLst>
              <a:gd name="adj" fmla="val 16129"/>
            </a:avLst>
          </a:prstGeom>
          <a:solidFill>
            <a:srgbClr val="EEF0FF"/>
          </a:solidFill>
          <a:ln w="12700">
            <a:solidFill>
              <a:srgbClr val="EEF0FF"/>
            </a:solidFill>
            <a:prstDash val="solid"/>
          </a:ln>
        </p:spPr>
      </p:sp>
      <p:sp>
        <p:nvSpPr>
          <p:cNvPr id="37" name="Shape 35"/>
          <p:cNvSpPr/>
          <p:nvPr/>
        </p:nvSpPr>
        <p:spPr>
          <a:xfrm>
            <a:off x="685800" y="5724144"/>
            <a:ext cx="384048" cy="384048"/>
          </a:xfrm>
          <a:prstGeom prst="ellipse">
            <a:avLst/>
          </a:prstGeom>
          <a:solidFill>
            <a:srgbClr val="4F46E5"/>
          </a:solidFill>
          <a:ln w="12700">
            <a:solidFill>
              <a:srgbClr val="4F46E5"/>
            </a:solidFill>
            <a:prstDash val="solid"/>
          </a:ln>
        </p:spPr>
      </p:sp>
      <p:sp>
        <p:nvSpPr>
          <p:cNvPr id="38" name="Text 36"/>
          <p:cNvSpPr txBox="1"/>
          <p:nvPr/>
        </p:nvSpPr>
        <p:spPr>
          <a:xfrm>
            <a:off x="685800" y="57241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9" name="Text 37"/>
          <p:cNvSpPr txBox="1"/>
          <p:nvPr/>
        </p:nvSpPr>
        <p:spPr>
          <a:xfrm>
            <a:off x="1188720" y="5632704"/>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Lab preview and wrap-up</a:t>
            </a:r>
            <a:endParaRPr lang="en-US" sz="1900" dirty="0"/>
          </a:p>
        </p:txBody>
      </p:sp>
      <p:sp>
        <p:nvSpPr>
          <p:cNvPr id="40" name="Text 38"/>
          <p:cNvSpPr txBox="1"/>
          <p:nvPr/>
        </p:nvSpPr>
        <p:spPr>
          <a:xfrm>
            <a:off x="8046720" y="5632704"/>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8 min</a:t>
            </a:r>
            <a:endParaRPr lang="en-US" sz="1400" dirty="0"/>
          </a:p>
        </p:txBody>
      </p:sp>
      <p:sp>
        <p:nvSpPr>
          <p:cNvPr id="41" name="Shape 39"/>
          <p:cNvSpPr/>
          <p:nvPr/>
        </p:nvSpPr>
        <p:spPr>
          <a:xfrm>
            <a:off x="9784080" y="2377440"/>
            <a:ext cx="1737360" cy="1737360"/>
          </a:xfrm>
          <a:prstGeom prst="ellipse">
            <a:avLst/>
          </a:prstGeom>
          <a:solidFill>
            <a:srgbClr val="EEF0FF"/>
          </a:solidFill>
          <a:ln w="12700">
            <a:solidFill>
              <a:srgbClr val="EEF0FF"/>
            </a:solidFill>
            <a:prstDash val="solid"/>
          </a:ln>
        </p:spPr>
      </p:sp>
      <p:pic>
        <p:nvPicPr>
          <p:cNvPr id="42" name="Image 0" descr="preencoded.png">    </p:cNvPr>
          <p:cNvPicPr>
            <a:picLocks noChangeAspect="1"/>
          </p:cNvPicPr>
          <p:nvPr/>
        </p:nvPicPr>
        <p:blipFill>
          <a:blip r:embed="rId1"/>
          <a:stretch>
            <a:fillRect/>
          </a:stretch>
        </p:blipFill>
        <p:spPr>
          <a:xfrm>
            <a:off x="10201046" y="2794406"/>
            <a:ext cx="903427" cy="90342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Starting vocabulary</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3169833"/>
                <a:gridCol w="7924582"/>
              </a:tblGrid>
              <a:tr h="0">
                <a:tc>
                  <a:txBody>
                    <a:bodyPr/>
                    <a:lstStyle/>
                    <a:p>
                      <a:pPr indent="0" marL="0">
                        <a:buNone/>
                      </a:pPr>
                      <a:r>
                        <a:rPr lang="en-US" sz="2200" b="1" dirty="0">
                          <a:solidFill>
                            <a:srgbClr val="FFFFFF"/>
                          </a:solidFill>
                          <a:latin typeface="Calibri" pitchFamily="34" charset="0"/>
                          <a:ea typeface="Calibri" pitchFamily="34" charset="-122"/>
                          <a:cs typeface="Calibri" pitchFamily="34" charset="-120"/>
                        </a:rPr>
                        <a:t>Term</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200" b="1" dirty="0">
                          <a:solidFill>
                            <a:srgbClr val="FFFFFF"/>
                          </a:solidFill>
                          <a:latin typeface="Calibri" pitchFamily="34" charset="0"/>
                          <a:ea typeface="Calibri" pitchFamily="34" charset="-122"/>
                          <a:cs typeface="Calibri" pitchFamily="34" charset="-120"/>
                        </a:rPr>
                        <a:t>Plain meaning</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200" b="1" dirty="0">
                          <a:solidFill>
                            <a:srgbClr val="1F2937"/>
                          </a:solidFill>
                          <a:latin typeface="Calibri" pitchFamily="34" charset="0"/>
                          <a:ea typeface="Calibri" pitchFamily="34" charset="-122"/>
                          <a:cs typeface="Calibri" pitchFamily="34" charset="-120"/>
                        </a:rPr>
                        <a:t>Token ID</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200" dirty="0">
                          <a:solidFill>
                            <a:srgbClr val="1F2937"/>
                          </a:solidFill>
                          <a:latin typeface="Calibri" pitchFamily="34" charset="0"/>
                          <a:ea typeface="Calibri" pitchFamily="34" charset="-122"/>
                          <a:cs typeface="Calibri" pitchFamily="34" charset="-120"/>
                        </a:rPr>
                        <a:t>An integer identifying a text unit in one particular tokenizer's vocabulary.</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200" b="1" dirty="0">
                          <a:solidFill>
                            <a:srgbClr val="1F2937"/>
                          </a:solidFill>
                          <a:latin typeface="Calibri" pitchFamily="34" charset="0"/>
                          <a:ea typeface="Calibri" pitchFamily="34" charset="-122"/>
                          <a:cs typeface="Calibri" pitchFamily="34" charset="-120"/>
                        </a:rPr>
                        <a:t>Probability distribution</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200" dirty="0">
                          <a:solidFill>
                            <a:srgbClr val="1F2937"/>
                          </a:solidFill>
                          <a:latin typeface="Calibri" pitchFamily="34" charset="0"/>
                          <a:ea typeface="Calibri" pitchFamily="34" charset="-122"/>
                          <a:cs typeface="Calibri" pitchFamily="34" charset="-120"/>
                        </a:rPr>
                        <a:t>Nonnegative probabilities for possible outcomes, adding to one.</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200" b="1" dirty="0">
                          <a:solidFill>
                            <a:srgbClr val="1F2937"/>
                          </a:solidFill>
                          <a:latin typeface="Calibri" pitchFamily="34" charset="0"/>
                          <a:ea typeface="Calibri" pitchFamily="34" charset="-122"/>
                          <a:cs typeface="Calibri" pitchFamily="34" charset="-120"/>
                        </a:rPr>
                        <a:t>Causal language model</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200" dirty="0">
                          <a:solidFill>
                            <a:srgbClr val="1F2937"/>
                          </a:solidFill>
                          <a:latin typeface="Calibri" pitchFamily="34" charset="0"/>
                          <a:ea typeface="Calibri" pitchFamily="34" charset="-122"/>
                          <a:cs typeface="Calibri" pitchFamily="34" charset="-120"/>
                        </a:rPr>
                        <a:t>A model predicting the next token from the tokens already present.</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Warm-up</a:t>
            </a:r>
            <a:endParaRPr lang="en-US" sz="3200" dirty="0"/>
          </a:p>
        </p:txBody>
      </p:sp>
      <p:sp>
        <p:nvSpPr>
          <p:cNvPr id="6" name="Shape 4"/>
          <p:cNvSpPr/>
          <p:nvPr/>
        </p:nvSpPr>
        <p:spPr>
          <a:xfrm>
            <a:off x="548640" y="1527048"/>
            <a:ext cx="1005840" cy="1005840"/>
          </a:xfrm>
          <a:prstGeom prst="ellipse">
            <a:avLst/>
          </a:prstGeom>
          <a:solidFill>
            <a:srgbClr val="0F766E"/>
          </a:solidFill>
          <a:ln w="12700">
            <a:solidFill>
              <a:srgbClr val="0F766E"/>
            </a:solidFill>
            <a:prstDash val="solid"/>
          </a:ln>
        </p:spPr>
      </p:sp>
      <p:pic>
        <p:nvPicPr>
          <p:cNvPr id="7" name="Image 0" descr="preencoded.png">    </p:cNvPr>
          <p:cNvPicPr>
            <a:picLocks noChangeAspect="1"/>
          </p:cNvPicPr>
          <p:nvPr/>
        </p:nvPicPr>
        <p:blipFill>
          <a:blip r:embed="rId1"/>
          <a:stretch>
            <a:fillRect/>
          </a:stretch>
        </p:blipFill>
        <p:spPr>
          <a:xfrm>
            <a:off x="790042" y="1768450"/>
            <a:ext cx="523037" cy="523037"/>
          </a:xfrm>
          <a:prstGeom prst="rect">
            <a:avLst/>
          </a:prstGeom>
        </p:spPr>
      </p:pic>
      <p:sp>
        <p:nvSpPr>
          <p:cNvPr id="8" name="Text 5"/>
          <p:cNvSpPr txBox="1"/>
          <p:nvPr/>
        </p:nvSpPr>
        <p:spPr>
          <a:xfrm>
            <a:off x="1828800" y="1481328"/>
            <a:ext cx="9814255" cy="1463040"/>
          </a:xfrm>
          <a:prstGeom prst="rect">
            <a:avLst/>
          </a:prstGeom>
          <a:noFill/>
          <a:ln/>
        </p:spPr>
        <p:txBody>
          <a:bodyPr wrap="square" lIns="50800" tIns="50800" rIns="50800" bIns="50800" rtlCol="0" anchor="ctr"/>
          <a:lstStyle/>
          <a:p>
            <a:pPr indent="0" marL="0">
              <a:buNone/>
            </a:pPr>
            <a:r>
              <a:rPr lang="en-US" sz="2600" b="1" dirty="0">
                <a:solidFill>
                  <a:srgbClr val="1E1B4B"/>
                </a:solidFill>
                <a:latin typeface="Calibri" pitchFamily="34" charset="0"/>
                <a:ea typeface="Calibri" pitchFamily="34" charset="-122"/>
                <a:cs typeface="Calibri" pitchFamily="34" charset="-120"/>
              </a:rPr>
              <a:t>You ask two chat assistants the same question and get different answers. List every reason you can think of.</a:t>
            </a:r>
            <a:endParaRPr lang="en-US" sz="2600" dirty="0"/>
          </a:p>
        </p:txBody>
      </p:sp>
      <p:sp>
        <p:nvSpPr>
          <p:cNvPr id="9" name="Text 6"/>
          <p:cNvSpPr txBox="1"/>
          <p:nvPr/>
        </p:nvSpPr>
        <p:spPr>
          <a:xfrm>
            <a:off x="1828800" y="3172968"/>
            <a:ext cx="9814255" cy="3090672"/>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Differences in the </a:t>
            </a:r>
            <a:pPr indent="0" marL="0">
              <a:buNone/>
            </a:pPr>
            <a:r>
              <a:rPr lang="en-US" sz="1800" b="1" dirty="0">
                <a:solidFill>
                  <a:srgbClr val="1F2937"/>
                </a:solidFill>
                <a:latin typeface="Calibri" pitchFamily="34" charset="0"/>
                <a:ea typeface="Calibri" pitchFamily="34" charset="-122"/>
                <a:cs typeface="Calibri" pitchFamily="34" charset="-120"/>
              </a:rPr>
              <a:t>model</a:t>
            </a:r>
            <a:pPr indent="0" marL="0">
              <a:buNone/>
            </a:pPr>
            <a:r>
              <a:rPr lang="en-US" sz="1800" dirty="0">
                <a:solidFill>
                  <a:srgbClr val="1F2937"/>
                </a:solidFill>
                <a:latin typeface="Calibri" pitchFamily="34" charset="0"/>
                <a:ea typeface="Calibri" pitchFamily="34" charset="-122"/>
                <a:cs typeface="Calibri" pitchFamily="34" charset="-120"/>
              </a:rPr>
              <a:t>? In the </a:t>
            </a:r>
            <a:pPr indent="0" marL="0">
              <a:buNone/>
            </a:pPr>
            <a:r>
              <a:rPr lang="en-US" sz="1800" b="1" dirty="0">
                <a:solidFill>
                  <a:srgbClr val="1F2937"/>
                </a:solidFill>
                <a:latin typeface="Calibri" pitchFamily="34" charset="0"/>
                <a:ea typeface="Calibri" pitchFamily="34" charset="-122"/>
                <a:cs typeface="Calibri" pitchFamily="34" charset="-120"/>
              </a:rPr>
              <a:t>training data</a:t>
            </a:r>
            <a:pPr indent="0" marL="0">
              <a:buNone/>
            </a:pPr>
            <a:r>
              <a:rPr lang="en-US" sz="1800" dirty="0">
                <a:solidFill>
                  <a:srgbClr val="1F2937"/>
                </a:solidFill>
                <a:latin typeface="Calibri" pitchFamily="34" charset="0"/>
                <a:ea typeface="Calibri" pitchFamily="34" charset="-122"/>
                <a:cs typeface="Calibri" pitchFamily="34" charset="-120"/>
              </a:rPr>
              <a:t>? In the </a:t>
            </a:r>
            <a:pPr indent="0" marL="0">
              <a:buNone/>
            </a:pPr>
            <a:r>
              <a:rPr lang="en-US" sz="1800" b="1" dirty="0">
                <a:solidFill>
                  <a:srgbClr val="1F2937"/>
                </a:solidFill>
                <a:latin typeface="Calibri" pitchFamily="34" charset="0"/>
                <a:ea typeface="Calibri" pitchFamily="34" charset="-122"/>
                <a:cs typeface="Calibri" pitchFamily="34" charset="-120"/>
              </a:rPr>
              <a:t>date</a:t>
            </a:r>
            <a:pPr indent="0" marL="0">
              <a:buNone/>
            </a:pPr>
            <a:r>
              <a:rPr lang="en-US" sz="1800" dirty="0">
                <a:solidFill>
                  <a:srgbClr val="1F2937"/>
                </a:solidFill>
                <a:latin typeface="Calibri" pitchFamily="34" charset="0"/>
                <a:ea typeface="Calibri" pitchFamily="34" charset="-122"/>
                <a:cs typeface="Calibri" pitchFamily="34" charset="-120"/>
              </a:rPr>
              <a:t> of training?</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Differences in hidden </a:t>
            </a:r>
            <a:pPr indent="0" marL="0">
              <a:buNone/>
            </a:pPr>
            <a:r>
              <a:rPr lang="en-US" sz="1800" b="1" dirty="0">
                <a:solidFill>
                  <a:srgbClr val="1F2937"/>
                </a:solidFill>
                <a:latin typeface="Calibri" pitchFamily="34" charset="0"/>
                <a:ea typeface="Calibri" pitchFamily="34" charset="-122"/>
                <a:cs typeface="Calibri" pitchFamily="34" charset="-120"/>
              </a:rPr>
              <a:t>instructions</a:t>
            </a:r>
            <a:pPr indent="0" marL="0">
              <a:buNone/>
            </a:pPr>
            <a:r>
              <a:rPr lang="en-US" sz="1800" dirty="0">
                <a:solidFill>
                  <a:srgbClr val="1F2937"/>
                </a:solidFill>
                <a:latin typeface="Calibri" pitchFamily="34" charset="0"/>
                <a:ea typeface="Calibri" pitchFamily="34" charset="-122"/>
                <a:cs typeface="Calibri" pitchFamily="34" charset="-120"/>
              </a:rPr>
              <a:t>, </a:t>
            </a:r>
            <a:pPr indent="0" marL="0">
              <a:buNone/>
            </a:pPr>
            <a:r>
              <a:rPr lang="en-US" sz="1800" b="1" dirty="0">
                <a:solidFill>
                  <a:srgbClr val="1F2937"/>
                </a:solidFill>
                <a:latin typeface="Calibri" pitchFamily="34" charset="0"/>
                <a:ea typeface="Calibri" pitchFamily="34" charset="-122"/>
                <a:cs typeface="Calibri" pitchFamily="34" charset="-120"/>
              </a:rPr>
              <a:t>tools</a:t>
            </a:r>
            <a:pPr indent="0" marL="0">
              <a:buNone/>
            </a:pPr>
            <a:r>
              <a:rPr lang="en-US" sz="1800" dirty="0">
                <a:solidFill>
                  <a:srgbClr val="1F2937"/>
                </a:solidFill>
                <a:latin typeface="Calibri" pitchFamily="34" charset="0"/>
                <a:ea typeface="Calibri" pitchFamily="34" charset="-122"/>
                <a:cs typeface="Calibri" pitchFamily="34" charset="-120"/>
              </a:rPr>
              <a:t> (web search) or </a:t>
            </a:r>
            <a:pPr indent="0" marL="0">
              <a:buNone/>
            </a:pPr>
            <a:r>
              <a:rPr lang="en-US" sz="1800" b="1" dirty="0">
                <a:solidFill>
                  <a:srgbClr val="1F2937"/>
                </a:solidFill>
                <a:latin typeface="Calibri" pitchFamily="34" charset="0"/>
                <a:ea typeface="Calibri" pitchFamily="34" charset="-122"/>
                <a:cs typeface="Calibri" pitchFamily="34" charset="-120"/>
              </a:rPr>
              <a:t>decoding settings</a:t>
            </a:r>
            <a:pPr indent="0" marL="0">
              <a:buNone/>
            </a:pPr>
            <a:r>
              <a:rPr lang="en-US" sz="1800" dirty="0">
                <a:solidFill>
                  <a:srgbClr val="1F2937"/>
                </a:solidFill>
                <a:latin typeface="Calibri" pitchFamily="34" charset="0"/>
                <a:ea typeface="Calibri" pitchFamily="34" charset="-122"/>
                <a:cs typeface="Calibri" pitchFamily="34" charset="-120"/>
              </a:rPr>
              <a:t>?</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Would asking the </a:t>
            </a:r>
            <a:pPr indent="0" marL="0">
              <a:buNone/>
            </a:pPr>
            <a:r>
              <a:rPr lang="en-US" sz="1800" b="1" dirty="0">
                <a:solidFill>
                  <a:srgbClr val="1F2937"/>
                </a:solidFill>
                <a:latin typeface="Calibri" pitchFamily="34" charset="0"/>
                <a:ea typeface="Calibri" pitchFamily="34" charset="-122"/>
                <a:cs typeface="Calibri" pitchFamily="34" charset="-120"/>
              </a:rPr>
              <a:t>same</a:t>
            </a:r>
            <a:pPr indent="0" marL="0">
              <a:buNone/>
            </a:pPr>
            <a:r>
              <a:rPr lang="en-US" sz="1800" dirty="0">
                <a:solidFill>
                  <a:srgbClr val="1F2937"/>
                </a:solidFill>
                <a:latin typeface="Calibri" pitchFamily="34" charset="0"/>
                <a:ea typeface="Calibri" pitchFamily="34" charset="-122"/>
                <a:cs typeface="Calibri" pitchFamily="34" charset="-120"/>
              </a:rPr>
              <a:t> assistant twice give the same answer? Why or why not?</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01</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The evolution of NLP</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did we get from counting word pairs to chat assistants?</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 decoder chat request</a:t>
            </a:r>
            <a:endParaRPr lang="en-US" sz="3200" dirty="0"/>
          </a:p>
        </p:txBody>
      </p:sp>
      <p:sp>
        <p:nvSpPr>
          <p:cNvPr id="6" name="Text 4"/>
          <p:cNvSpPr txBox="1"/>
          <p:nvPr/>
        </p:nvSpPr>
        <p:spPr>
          <a:xfrm>
            <a:off x="548640" y="1481328"/>
            <a:ext cx="11094415" cy="365760"/>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Trace a user's question through the local model</a:t>
            </a:r>
            <a:endParaRPr lang="en-US" sz="1800" dirty="0"/>
          </a:p>
        </p:txBody>
      </p:sp>
      <p:sp>
        <p:nvSpPr>
          <p:cNvPr id="7" name="Shape 5"/>
          <p:cNvSpPr/>
          <p:nvPr/>
        </p:nvSpPr>
        <p:spPr>
          <a:xfrm>
            <a:off x="3762331" y="2569464"/>
            <a:ext cx="861033" cy="0"/>
          </a:xfrm>
          <a:prstGeom prst="line">
            <a:avLst/>
          </a:prstGeom>
          <a:noFill/>
          <a:ln w="20320">
            <a:solidFill>
              <a:srgbClr val="4F46E5"/>
            </a:solidFill>
            <a:prstDash val="solid"/>
            <a:tailEnd type="triangle"/>
          </a:ln>
        </p:spPr>
      </p:sp>
      <p:sp>
        <p:nvSpPr>
          <p:cNvPr id="8" name="Shape 6"/>
          <p:cNvSpPr/>
          <p:nvPr/>
        </p:nvSpPr>
        <p:spPr>
          <a:xfrm>
            <a:off x="7568331" y="2569464"/>
            <a:ext cx="861033" cy="0"/>
          </a:xfrm>
          <a:prstGeom prst="line">
            <a:avLst/>
          </a:prstGeom>
          <a:noFill/>
          <a:ln w="20320">
            <a:solidFill>
              <a:srgbClr val="4F46E5"/>
            </a:solidFill>
            <a:prstDash val="solid"/>
            <a:tailEnd type="triangle"/>
          </a:ln>
        </p:spPr>
      </p:sp>
      <p:sp>
        <p:nvSpPr>
          <p:cNvPr id="9" name="Shape 7"/>
          <p:cNvSpPr/>
          <p:nvPr/>
        </p:nvSpPr>
        <p:spPr>
          <a:xfrm>
            <a:off x="9901848" y="3621024"/>
            <a:ext cx="0" cy="54864"/>
          </a:xfrm>
          <a:prstGeom prst="line">
            <a:avLst/>
          </a:prstGeom>
          <a:noFill/>
          <a:ln w="20320">
            <a:solidFill>
              <a:srgbClr val="4F46E5"/>
            </a:solidFill>
            <a:prstDash val="solid"/>
            <a:tailEnd type="triangle"/>
          </a:ln>
        </p:spPr>
      </p:sp>
      <p:sp>
        <p:nvSpPr>
          <p:cNvPr id="10" name="Shape 8"/>
          <p:cNvSpPr/>
          <p:nvPr/>
        </p:nvSpPr>
        <p:spPr>
          <a:xfrm flipH="1">
            <a:off x="7568331" y="4398264"/>
            <a:ext cx="861033" cy="0"/>
          </a:xfrm>
          <a:prstGeom prst="line">
            <a:avLst/>
          </a:prstGeom>
          <a:noFill/>
          <a:ln w="20320">
            <a:solidFill>
              <a:srgbClr val="4F46E5"/>
            </a:solidFill>
            <a:prstDash val="solid"/>
            <a:tailEnd type="triangle"/>
          </a:ln>
        </p:spPr>
      </p:sp>
      <p:sp>
        <p:nvSpPr>
          <p:cNvPr id="11" name="Shape 9"/>
          <p:cNvSpPr/>
          <p:nvPr/>
        </p:nvSpPr>
        <p:spPr>
          <a:xfrm flipH="1">
            <a:off x="3762331" y="4398264"/>
            <a:ext cx="861033" cy="0"/>
          </a:xfrm>
          <a:prstGeom prst="line">
            <a:avLst/>
          </a:prstGeom>
          <a:noFill/>
          <a:ln w="20320">
            <a:solidFill>
              <a:srgbClr val="4F46E5"/>
            </a:solidFill>
            <a:prstDash val="solid"/>
            <a:tailEnd type="triangle"/>
          </a:ln>
        </p:spPr>
      </p:sp>
      <p:sp>
        <p:nvSpPr>
          <p:cNvPr id="12" name="Shape 10"/>
          <p:cNvSpPr/>
          <p:nvPr/>
        </p:nvSpPr>
        <p:spPr>
          <a:xfrm>
            <a:off x="872227" y="1883664"/>
            <a:ext cx="2835239" cy="1344168"/>
          </a:xfrm>
          <a:prstGeom prst="rect">
            <a:avLst/>
          </a:prstGeom>
          <a:solidFill>
            <a:srgbClr val="F5F3FF"/>
          </a:solidFill>
          <a:ln w="16510">
            <a:solidFill>
              <a:srgbClr val="4F46E5"/>
            </a:solidFill>
            <a:prstDash val="solid"/>
          </a:ln>
        </p:spPr>
      </p:sp>
      <p:sp>
        <p:nvSpPr>
          <p:cNvPr id="13" name="Text 11"/>
          <p:cNvSpPr txBox="1"/>
          <p:nvPr/>
        </p:nvSpPr>
        <p:spPr>
          <a:xfrm>
            <a:off x="945379"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1. User question</a:t>
            </a:r>
            <a:endParaRPr lang="en-US" sz="1900" dirty="0"/>
          </a:p>
        </p:txBody>
      </p:sp>
      <p:sp>
        <p:nvSpPr>
          <p:cNvPr id="14" name="Text 12"/>
          <p:cNvSpPr txBox="1"/>
          <p:nvPr/>
        </p:nvSpPr>
        <p:spPr>
          <a:xfrm>
            <a:off x="963667"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A request with an output-token budget</a:t>
            </a:r>
            <a:endParaRPr lang="en-US" sz="1700" dirty="0"/>
          </a:p>
        </p:txBody>
      </p:sp>
      <p:sp>
        <p:nvSpPr>
          <p:cNvPr id="15" name="Text 13"/>
          <p:cNvSpPr txBox="1"/>
          <p:nvPr/>
        </p:nvSpPr>
        <p:spPr>
          <a:xfrm>
            <a:off x="927091"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chat</a:t>
            </a:r>
            <a:endParaRPr lang="en-US" sz="1200" dirty="0"/>
          </a:p>
        </p:txBody>
      </p:sp>
      <p:sp>
        <p:nvSpPr>
          <p:cNvPr id="16" name="Text 14"/>
          <p:cNvSpPr txBox="1"/>
          <p:nvPr/>
        </p:nvSpPr>
        <p:spPr>
          <a:xfrm>
            <a:off x="872227"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user message</a:t>
            </a:r>
            <a:endParaRPr lang="en-US" sz="1500" dirty="0"/>
          </a:p>
        </p:txBody>
      </p:sp>
      <p:sp>
        <p:nvSpPr>
          <p:cNvPr id="17" name="Shape 15"/>
          <p:cNvSpPr/>
          <p:nvPr/>
        </p:nvSpPr>
        <p:spPr>
          <a:xfrm>
            <a:off x="4678228" y="1883664"/>
            <a:ext cx="2835239" cy="1344168"/>
          </a:xfrm>
          <a:prstGeom prst="rect">
            <a:avLst/>
          </a:prstGeom>
          <a:solidFill>
            <a:srgbClr val="F5F3FF"/>
          </a:solidFill>
          <a:ln w="16510">
            <a:solidFill>
              <a:srgbClr val="4F46E5"/>
            </a:solidFill>
            <a:prstDash val="solid"/>
          </a:ln>
        </p:spPr>
      </p:sp>
      <p:sp>
        <p:nvSpPr>
          <p:cNvPr id="18" name="Text 16"/>
          <p:cNvSpPr txBox="1"/>
          <p:nvPr/>
        </p:nvSpPr>
        <p:spPr>
          <a:xfrm>
            <a:off x="4751380"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2. Chat template</a:t>
            </a:r>
            <a:endParaRPr lang="en-US" sz="1900" dirty="0"/>
          </a:p>
        </p:txBody>
      </p:sp>
      <p:sp>
        <p:nvSpPr>
          <p:cNvPr id="19" name="Text 17"/>
          <p:cNvSpPr txBox="1"/>
          <p:nvPr/>
        </p:nvSpPr>
        <p:spPr>
          <a:xfrm>
            <a:off x="4769668"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Wrap message roles using the model's expected format</a:t>
            </a:r>
            <a:endParaRPr lang="en-US" sz="1700" dirty="0"/>
          </a:p>
        </p:txBody>
      </p:sp>
      <p:sp>
        <p:nvSpPr>
          <p:cNvPr id="20" name="Text 18"/>
          <p:cNvSpPr txBox="1"/>
          <p:nvPr/>
        </p:nvSpPr>
        <p:spPr>
          <a:xfrm>
            <a:off x="4733092"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tok.apply_chat_template</a:t>
            </a:r>
            <a:endParaRPr lang="en-US" sz="1200" dirty="0"/>
          </a:p>
        </p:txBody>
      </p:sp>
      <p:sp>
        <p:nvSpPr>
          <p:cNvPr id="21" name="Text 19"/>
          <p:cNvSpPr txBox="1"/>
          <p:nvPr/>
        </p:nvSpPr>
        <p:spPr>
          <a:xfrm>
            <a:off x="4678228"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formatted messages</a:t>
            </a:r>
            <a:endParaRPr lang="en-US" sz="1500" dirty="0"/>
          </a:p>
        </p:txBody>
      </p:sp>
      <p:sp>
        <p:nvSpPr>
          <p:cNvPr id="22" name="Shape 20"/>
          <p:cNvSpPr/>
          <p:nvPr/>
        </p:nvSpPr>
        <p:spPr>
          <a:xfrm>
            <a:off x="8484229" y="1883664"/>
            <a:ext cx="2835239" cy="1344168"/>
          </a:xfrm>
          <a:prstGeom prst="rect">
            <a:avLst/>
          </a:prstGeom>
          <a:solidFill>
            <a:srgbClr val="F5F3FF"/>
          </a:solidFill>
          <a:ln w="16510">
            <a:solidFill>
              <a:srgbClr val="4F46E5"/>
            </a:solidFill>
            <a:prstDash val="solid"/>
          </a:ln>
        </p:spPr>
      </p:sp>
      <p:sp>
        <p:nvSpPr>
          <p:cNvPr id="23" name="Text 21"/>
          <p:cNvSpPr txBox="1"/>
          <p:nvPr/>
        </p:nvSpPr>
        <p:spPr>
          <a:xfrm>
            <a:off x="8557381"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3. Input IDs</a:t>
            </a:r>
            <a:endParaRPr lang="en-US" sz="1900" dirty="0"/>
          </a:p>
        </p:txBody>
      </p:sp>
      <p:sp>
        <p:nvSpPr>
          <p:cNvPr id="24" name="Text 22"/>
          <p:cNvSpPr txBox="1"/>
          <p:nvPr/>
        </p:nvSpPr>
        <p:spPr>
          <a:xfrm>
            <a:off x="8575669"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Token IDs represent the entire formatted conversation</a:t>
            </a:r>
            <a:endParaRPr lang="en-US" sz="1700" dirty="0"/>
          </a:p>
        </p:txBody>
      </p:sp>
      <p:sp>
        <p:nvSpPr>
          <p:cNvPr id="25" name="Text 23"/>
          <p:cNvSpPr txBox="1"/>
          <p:nvPr/>
        </p:nvSpPr>
        <p:spPr>
          <a:xfrm>
            <a:off x="8539093"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inputs</a:t>
            </a:r>
            <a:endParaRPr lang="en-US" sz="1200" dirty="0"/>
          </a:p>
        </p:txBody>
      </p:sp>
      <p:sp>
        <p:nvSpPr>
          <p:cNvPr id="26" name="Text 24"/>
          <p:cNvSpPr txBox="1"/>
          <p:nvPr/>
        </p:nvSpPr>
        <p:spPr>
          <a:xfrm>
            <a:off x="8484229"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conversation IDs</a:t>
            </a:r>
            <a:endParaRPr lang="en-US" sz="1500" dirty="0"/>
          </a:p>
        </p:txBody>
      </p:sp>
      <p:sp>
        <p:nvSpPr>
          <p:cNvPr id="27" name="Shape 25"/>
          <p:cNvSpPr/>
          <p:nvPr/>
        </p:nvSpPr>
        <p:spPr>
          <a:xfrm>
            <a:off x="8484229" y="3712464"/>
            <a:ext cx="2835239" cy="1344168"/>
          </a:xfrm>
          <a:prstGeom prst="rect">
            <a:avLst/>
          </a:prstGeom>
          <a:solidFill>
            <a:srgbClr val="F5F3FF"/>
          </a:solidFill>
          <a:ln w="16510">
            <a:solidFill>
              <a:srgbClr val="4F46E5"/>
            </a:solidFill>
            <a:prstDash val="solid"/>
          </a:ln>
        </p:spPr>
      </p:sp>
      <p:sp>
        <p:nvSpPr>
          <p:cNvPr id="28" name="Text 26"/>
          <p:cNvSpPr txBox="1"/>
          <p:nvPr/>
        </p:nvSpPr>
        <p:spPr>
          <a:xfrm>
            <a:off x="8557381"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4. Model generation</a:t>
            </a:r>
            <a:endParaRPr lang="en-US" sz="1900" dirty="0"/>
          </a:p>
        </p:txBody>
      </p:sp>
      <p:sp>
        <p:nvSpPr>
          <p:cNvPr id="29" name="Text 27"/>
          <p:cNvSpPr txBox="1"/>
          <p:nvPr/>
        </p:nvSpPr>
        <p:spPr>
          <a:xfrm>
            <a:off x="8575669"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Predict and choose the next token repeatedly</a:t>
            </a:r>
            <a:endParaRPr lang="en-US" sz="1700" dirty="0"/>
          </a:p>
        </p:txBody>
      </p:sp>
      <p:sp>
        <p:nvSpPr>
          <p:cNvPr id="30" name="Text 28"/>
          <p:cNvSpPr txBox="1"/>
          <p:nvPr/>
        </p:nvSpPr>
        <p:spPr>
          <a:xfrm>
            <a:off x="8539093"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model.generate</a:t>
            </a:r>
            <a:endParaRPr lang="en-US" sz="1200" dirty="0"/>
          </a:p>
        </p:txBody>
      </p:sp>
      <p:sp>
        <p:nvSpPr>
          <p:cNvPr id="31" name="Text 29"/>
          <p:cNvSpPr txBox="1"/>
          <p:nvPr/>
        </p:nvSpPr>
        <p:spPr>
          <a:xfrm>
            <a:off x="8484229"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input plus output IDs</a:t>
            </a:r>
            <a:endParaRPr lang="en-US" sz="1500" dirty="0"/>
          </a:p>
        </p:txBody>
      </p:sp>
      <p:sp>
        <p:nvSpPr>
          <p:cNvPr id="32" name="Shape 30"/>
          <p:cNvSpPr/>
          <p:nvPr/>
        </p:nvSpPr>
        <p:spPr>
          <a:xfrm>
            <a:off x="4678228" y="3712464"/>
            <a:ext cx="2835239" cy="1344168"/>
          </a:xfrm>
          <a:prstGeom prst="rect">
            <a:avLst/>
          </a:prstGeom>
          <a:solidFill>
            <a:srgbClr val="F5F3FF"/>
          </a:solidFill>
          <a:ln w="16510">
            <a:solidFill>
              <a:srgbClr val="4F46E5"/>
            </a:solidFill>
            <a:prstDash val="solid"/>
          </a:ln>
        </p:spPr>
      </p:sp>
      <p:sp>
        <p:nvSpPr>
          <p:cNvPr id="33" name="Text 31"/>
          <p:cNvSpPr txBox="1"/>
          <p:nvPr/>
        </p:nvSpPr>
        <p:spPr>
          <a:xfrm>
            <a:off x="4751380"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5. New token slice</a:t>
            </a:r>
            <a:endParaRPr lang="en-US" sz="1900" dirty="0"/>
          </a:p>
        </p:txBody>
      </p:sp>
      <p:sp>
        <p:nvSpPr>
          <p:cNvPr id="34" name="Text 32"/>
          <p:cNvSpPr txBox="1"/>
          <p:nvPr/>
        </p:nvSpPr>
        <p:spPr>
          <a:xfrm>
            <a:off x="4769668"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Separate generated tokens from the original input</a:t>
            </a:r>
            <a:endParaRPr lang="en-US" sz="1700" dirty="0"/>
          </a:p>
        </p:txBody>
      </p:sp>
      <p:sp>
        <p:nvSpPr>
          <p:cNvPr id="35" name="Text 33"/>
          <p:cNvSpPr txBox="1"/>
          <p:nvPr/>
        </p:nvSpPr>
        <p:spPr>
          <a:xfrm>
            <a:off x="4733092"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new</a:t>
            </a:r>
            <a:endParaRPr lang="en-US" sz="1200" dirty="0"/>
          </a:p>
        </p:txBody>
      </p:sp>
      <p:sp>
        <p:nvSpPr>
          <p:cNvPr id="36" name="Text 34"/>
          <p:cNvSpPr txBox="1"/>
          <p:nvPr/>
        </p:nvSpPr>
        <p:spPr>
          <a:xfrm>
            <a:off x="4678228"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new token IDs</a:t>
            </a:r>
            <a:endParaRPr lang="en-US" sz="1500" dirty="0"/>
          </a:p>
        </p:txBody>
      </p:sp>
      <p:sp>
        <p:nvSpPr>
          <p:cNvPr id="37" name="Shape 35"/>
          <p:cNvSpPr/>
          <p:nvPr/>
        </p:nvSpPr>
        <p:spPr>
          <a:xfrm>
            <a:off x="872227" y="3712464"/>
            <a:ext cx="2835239" cy="1344168"/>
          </a:xfrm>
          <a:prstGeom prst="rect">
            <a:avLst/>
          </a:prstGeom>
          <a:solidFill>
            <a:srgbClr val="F5F3FF"/>
          </a:solidFill>
          <a:ln w="16510">
            <a:solidFill>
              <a:srgbClr val="4F46E5"/>
            </a:solidFill>
            <a:prstDash val="solid"/>
          </a:ln>
        </p:spPr>
      </p:sp>
      <p:sp>
        <p:nvSpPr>
          <p:cNvPr id="38" name="Text 36"/>
          <p:cNvSpPr txBox="1"/>
          <p:nvPr/>
        </p:nvSpPr>
        <p:spPr>
          <a:xfrm>
            <a:off x="945379"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6. Answer + measures</a:t>
            </a:r>
            <a:endParaRPr lang="en-US" sz="1900" dirty="0"/>
          </a:p>
        </p:txBody>
      </p:sp>
      <p:sp>
        <p:nvSpPr>
          <p:cNvPr id="39" name="Text 37"/>
          <p:cNvSpPr txBox="1"/>
          <p:nvPr/>
        </p:nvSpPr>
        <p:spPr>
          <a:xfrm>
            <a:off x="963667"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Decode text; record output tokens and elapsed time</a:t>
            </a:r>
            <a:endParaRPr lang="en-US" sz="1700" dirty="0"/>
          </a:p>
        </p:txBody>
      </p:sp>
      <p:sp>
        <p:nvSpPr>
          <p:cNvPr id="40" name="Text 38"/>
          <p:cNvSpPr txBox="1"/>
          <p:nvPr/>
        </p:nvSpPr>
        <p:spPr>
          <a:xfrm>
            <a:off x="927091"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chat</a:t>
            </a:r>
            <a:endParaRPr lang="en-US" sz="1200" dirty="0"/>
          </a:p>
        </p:txBody>
      </p:sp>
      <p:sp>
        <p:nvSpPr>
          <p:cNvPr id="41" name="Text 39"/>
          <p:cNvSpPr txBox="1"/>
          <p:nvPr/>
        </p:nvSpPr>
        <p:spPr>
          <a:xfrm>
            <a:off x="548640" y="5715000"/>
            <a:ext cx="11094415" cy="548640"/>
          </a:xfrm>
          <a:prstGeom prst="rect">
            <a:avLst/>
          </a:prstGeom>
          <a:noFill/>
          <a:ln/>
        </p:spPr>
        <p:txBody>
          <a:bodyPr wrap="square" lIns="0" tIns="0" rIns="0" bIns="0" rtlCol="0" anchor="t"/>
          <a:lstStyle/>
          <a:p>
            <a:pPr indent="0" marL="0">
              <a:buNone/>
            </a:pPr>
            <a:r>
              <a:rPr lang="en-US" sz="1700" dirty="0">
                <a:solidFill>
                  <a:srgbClr val="1F2937"/>
                </a:solidFill>
                <a:latin typeface="Calibri" pitchFamily="34" charset="0"/>
                <a:ea typeface="Calibri" pitchFamily="34" charset="-122"/>
                <a:cs typeface="Calibri" pitchFamily="34" charset="-120"/>
              </a:rPr>
              <a:t>Check: Why does chat slice the generated tensor at the original input length?</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Forty years of NLP in one line</a:t>
            </a:r>
            <a:endParaRPr lang="en-US" sz="3200" dirty="0"/>
          </a:p>
        </p:txBody>
      </p:sp>
      <p:pic>
        <p:nvPicPr>
          <p:cNvPr id="6" name="Image 0" descr="C:\Users\sudee\Downloads\Generative_AI_2027_Teaching_Pack\AI2027_Project\build\figures\week_06\nlp_timeline.png">    </p:cNvPr>
          <p:cNvPicPr>
            <a:picLocks noChangeAspect="1"/>
          </p:cNvPicPr>
          <p:nvPr/>
        </p:nvPicPr>
        <p:blipFill>
          <a:blip r:embed="rId1"/>
          <a:stretch>
            <a:fillRect/>
          </a:stretch>
        </p:blipFill>
        <p:spPr>
          <a:xfrm>
            <a:off x="548640" y="1842209"/>
            <a:ext cx="11094415" cy="410627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Where it started: n-gram language models</a:t>
            </a:r>
            <a:endParaRPr lang="en-US" sz="3200" dirty="0"/>
          </a:p>
        </p:txBody>
      </p:sp>
      <p:sp>
        <p:nvSpPr>
          <p:cNvPr id="6" name="Shape 4"/>
          <p:cNvSpPr/>
          <p:nvPr/>
        </p:nvSpPr>
        <p:spPr>
          <a:xfrm>
            <a:off x="548640" y="1481328"/>
            <a:ext cx="11094415" cy="1325880"/>
          </a:xfrm>
          <a:prstGeom prst="roundRect">
            <a:avLst>
              <a:gd name="adj" fmla="val 8276"/>
            </a:avLst>
          </a:prstGeom>
          <a:solidFill>
            <a:srgbClr val="EEF0FF"/>
          </a:solidFill>
          <a:ln w="12700">
            <a:solidFill>
              <a:srgbClr val="EEF0FF"/>
            </a:solidFill>
            <a:prstDash val="solid"/>
          </a:ln>
        </p:spPr>
      </p:sp>
      <p:pic>
        <p:nvPicPr>
          <p:cNvPr id="7" name="Image 0" descr="C:\Users\sudee\Downloads\Generative_AI_2027_Teaching_Pack\AI2027_Project\build\eq\ffcb2db10b7a1782.png">    </p:cNvPr>
          <p:cNvPicPr>
            <a:picLocks noChangeAspect="1"/>
          </p:cNvPicPr>
          <p:nvPr/>
        </p:nvPicPr>
        <p:blipFill>
          <a:blip r:embed="rId1"/>
          <a:stretch>
            <a:fillRect/>
          </a:stretch>
        </p:blipFill>
        <p:spPr>
          <a:xfrm>
            <a:off x="2679040" y="1766316"/>
            <a:ext cx="6833616" cy="755904"/>
          </a:xfrm>
          <a:prstGeom prst="rect">
            <a:avLst/>
          </a:prstGeom>
        </p:spPr>
      </p:pic>
      <p:sp>
        <p:nvSpPr>
          <p:cNvPr id="8" name="Text 5"/>
          <p:cNvSpPr txBox="1"/>
          <p:nvPr/>
        </p:nvSpPr>
        <p:spPr>
          <a:xfrm>
            <a:off x="548640" y="303580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9" name="Text 6"/>
          <p:cNvSpPr txBox="1"/>
          <p:nvPr/>
        </p:nvSpPr>
        <p:spPr>
          <a:xfrm>
            <a:off x="548640" y="3419856"/>
            <a:ext cx="6035040" cy="2862072"/>
          </a:xfrm>
          <a:prstGeom prst="rect">
            <a:avLst/>
          </a:prstGeom>
          <a:noFill/>
          <a:ln/>
        </p:spPr>
        <p:txBody>
          <a:bodyPr wrap="square" lIns="50800" tIns="50800" rIns="50800" bIns="50800" rtlCol="0" anchor="t"/>
          <a:lstStyle/>
          <a:p>
            <a:pPr marL="254000" indent="-254000">
              <a:spcAft>
                <a:spcPts val="800"/>
              </a:spcAft>
              <a:buSzPct val="100000"/>
              <a:buChar char="●"/>
            </a:pPr>
            <a:r>
              <a:rPr lang="en-US" sz="1700" dirty="0">
                <a:solidFill>
                  <a:srgbClr val="1F2937"/>
                </a:solidFill>
                <a:latin typeface="Calibri" pitchFamily="34" charset="0"/>
                <a:ea typeface="Calibri" pitchFamily="34" charset="-122"/>
                <a:cs typeface="Calibri" pitchFamily="34" charset="-120"/>
              </a:rPr>
              <a:t>Predict the next word from the previous n − 1 words by </a:t>
            </a:r>
            <a:pPr indent="0" marL="0">
              <a:buNone/>
            </a:pPr>
            <a:r>
              <a:rPr lang="en-US" sz="1700" b="1" dirty="0">
                <a:solidFill>
                  <a:srgbClr val="1F2937"/>
                </a:solidFill>
                <a:latin typeface="Calibri" pitchFamily="34" charset="0"/>
                <a:ea typeface="Calibri" pitchFamily="34" charset="-122"/>
                <a:cs typeface="Calibri" pitchFamily="34" charset="-120"/>
              </a:rPr>
              <a:t>counting</a:t>
            </a:r>
            <a:pPr indent="0" marL="0">
              <a:buNone/>
            </a:pPr>
            <a:r>
              <a:rPr lang="en-US" sz="1700" dirty="0">
                <a:solidFill>
                  <a:srgbClr val="1F2937"/>
                </a:solidFill>
                <a:latin typeface="Calibri" pitchFamily="34" charset="0"/>
                <a:ea typeface="Calibri" pitchFamily="34" charset="-122"/>
                <a:cs typeface="Calibri" pitchFamily="34" charset="-120"/>
              </a:rPr>
              <a:t> (maximum likelihood, as in the week 1 lab).</a:t>
            </a:r>
            <a:endParaRPr lang="en-US" sz="1700" dirty="0"/>
          </a:p>
          <a:p>
            <a:pPr marL="254000" indent="-254000">
              <a:spcAft>
                <a:spcPts val="800"/>
              </a:spcAft>
              <a:buSzPct val="100000"/>
              <a:buChar char="●"/>
            </a:pPr>
            <a:r>
              <a:rPr lang="en-US" sz="1700" b="1" dirty="0">
                <a:solidFill>
                  <a:srgbClr val="1F2937"/>
                </a:solidFill>
                <a:latin typeface="Calibri" pitchFamily="34" charset="0"/>
                <a:ea typeface="Calibri" pitchFamily="34" charset="-122"/>
                <a:cs typeface="Calibri" pitchFamily="34" charset="-120"/>
              </a:rPr>
              <a:t>Sparsity</a:t>
            </a:r>
            <a:pPr indent="0" marL="0">
              <a:buNone/>
            </a:pPr>
            <a:r>
              <a:rPr lang="en-US" sz="1700" dirty="0">
                <a:solidFill>
                  <a:srgbClr val="1F2937"/>
                </a:solidFill>
                <a:latin typeface="Calibri" pitchFamily="34" charset="0"/>
                <a:ea typeface="Calibri" pitchFamily="34" charset="-122"/>
                <a:cs typeface="Calibri" pitchFamily="34" charset="-120"/>
              </a:rPr>
              <a:t>: most long word sequences never appear in any corpus, so counts are zero; smoothing only partly helps.</a:t>
            </a:r>
            <a:endParaRPr lang="en-US" sz="1700" dirty="0"/>
          </a:p>
          <a:p>
            <a:pPr marL="254000" indent="-254000">
              <a:spcAft>
                <a:spcPts val="800"/>
              </a:spcAft>
              <a:buSzPct val="100000"/>
              <a:buChar char="●"/>
            </a:pPr>
            <a:r>
              <a:rPr lang="en-US" sz="1700" dirty="0">
                <a:solidFill>
                  <a:srgbClr val="1F2937"/>
                </a:solidFill>
                <a:latin typeface="Calibri" pitchFamily="34" charset="0"/>
                <a:ea typeface="Calibri" pitchFamily="34" charset="-122"/>
                <a:cs typeface="Calibri" pitchFamily="34" charset="-120"/>
              </a:rPr>
              <a:t>No notion of similarity: 'cat sat' tells you nothing about 'dog sat'. Neural models fix both with </a:t>
            </a:r>
            <a:pPr indent="0" marL="0">
              <a:buNone/>
            </a:pPr>
            <a:r>
              <a:rPr lang="en-US" sz="1700" b="1" dirty="0">
                <a:solidFill>
                  <a:srgbClr val="1F2937"/>
                </a:solidFill>
                <a:latin typeface="Calibri" pitchFamily="34" charset="0"/>
                <a:ea typeface="Calibri" pitchFamily="34" charset="-122"/>
                <a:cs typeface="Calibri" pitchFamily="34" charset="-120"/>
              </a:rPr>
              <a:t>embeddings</a:t>
            </a:r>
            <a:pPr indent="0" marL="0">
              <a:buNone/>
            </a:pPr>
            <a:r>
              <a:rPr lang="en-US" sz="1700" dirty="0">
                <a:solidFill>
                  <a:srgbClr val="1F2937"/>
                </a:solidFill>
                <a:latin typeface="Calibri" pitchFamily="34" charset="0"/>
                <a:ea typeface="Calibri" pitchFamily="34" charset="-122"/>
                <a:cs typeface="Calibri" pitchFamily="34" charset="-120"/>
              </a:rPr>
              <a:t>.</a:t>
            </a:r>
            <a:endParaRPr lang="en-US" sz="1700" dirty="0"/>
          </a:p>
        </p:txBody>
      </p:sp>
      <p:sp>
        <p:nvSpPr>
          <p:cNvPr id="10" name="Text 7"/>
          <p:cNvSpPr txBox="1"/>
          <p:nvPr/>
        </p:nvSpPr>
        <p:spPr>
          <a:xfrm>
            <a:off x="6858000" y="303580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1" name="Text 8"/>
          <p:cNvSpPr txBox="1"/>
          <p:nvPr/>
        </p:nvSpPr>
        <p:spPr>
          <a:xfrm>
            <a:off x="6858000" y="34472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n</a:t>
            </a:r>
            <a:endParaRPr lang="en-US" sz="1800" dirty="0"/>
          </a:p>
        </p:txBody>
      </p:sp>
      <p:sp>
        <p:nvSpPr>
          <p:cNvPr id="12" name="Text 9"/>
          <p:cNvSpPr txBox="1"/>
          <p:nvPr/>
        </p:nvSpPr>
        <p:spPr>
          <a:xfrm>
            <a:off x="8046720" y="34472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context length (e.g. 3 = trigram)</a:t>
            </a:r>
            <a:endParaRPr lang="en-US" sz="1700" dirty="0"/>
          </a:p>
        </p:txBody>
      </p:sp>
      <p:sp>
        <p:nvSpPr>
          <p:cNvPr id="13" name="Text 10"/>
          <p:cNvSpPr txBox="1"/>
          <p:nvPr/>
        </p:nvSpPr>
        <p:spPr>
          <a:xfrm>
            <a:off x="6858000" y="41330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count(·)</a:t>
            </a:r>
            <a:endParaRPr lang="en-US" sz="1800" dirty="0"/>
          </a:p>
        </p:txBody>
      </p:sp>
      <p:sp>
        <p:nvSpPr>
          <p:cNvPr id="14" name="Text 11"/>
          <p:cNvSpPr txBox="1"/>
          <p:nvPr/>
        </p:nvSpPr>
        <p:spPr>
          <a:xfrm>
            <a:off x="8046720" y="41330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occurrences in the corpus</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Each generation fixed a limitation of the last</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490583"/>
                <a:gridCol w="2415111"/>
                <a:gridCol w="2339639"/>
                <a:gridCol w="3849083"/>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Approach</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Representation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Context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Main limitation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n-gram LM</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Words as symbols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n − 1 words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Sparsity; no similarity between words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Word embeddings (word2vec, GloVe)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One vector per word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None at use time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Same vector for 'bank' (river) and 'bank' (money)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RNN / LSTM</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Contextual hidden states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Whole sequence, in theory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Sequential; long-range information fades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Transformer LLM</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Contextual vectors via attention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Thousands to millions of tokens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Cost grows with context; hallucination; data hunger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02</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100" b="1" dirty="0">
                <a:solidFill>
                  <a:srgbClr val="FFFFFF"/>
                </a:solidFill>
                <a:latin typeface="Calibri" pitchFamily="34" charset="0"/>
                <a:ea typeface="Calibri" pitchFamily="34" charset="-122"/>
                <a:cs typeface="Calibri" pitchFamily="34" charset="-120"/>
              </a:rPr>
              <a:t>From transformer to LLM: data, scale, context</a:t>
            </a:r>
            <a:endParaRPr lang="en-US" sz="41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What turns a transformer into a large language model?</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LLM pipeline, in more detail</a:t>
            </a:r>
            <a:endParaRPr lang="en-US" sz="3200" dirty="0"/>
          </a:p>
        </p:txBody>
      </p:sp>
      <p:sp>
        <p:nvSpPr>
          <p:cNvPr id="6" name="Shape 4"/>
          <p:cNvSpPr/>
          <p:nvPr/>
        </p:nvSpPr>
        <p:spPr>
          <a:xfrm>
            <a:off x="548640" y="1618488"/>
            <a:ext cx="1889699" cy="3108960"/>
          </a:xfrm>
          <a:prstGeom prst="roundRect">
            <a:avLst>
              <a:gd name="adj" fmla="val 5807"/>
            </a:avLst>
          </a:prstGeom>
          <a:solidFill>
            <a:srgbClr val="EEF0FF"/>
          </a:solidFill>
          <a:ln w="15875">
            <a:solidFill>
              <a:srgbClr val="4F46E5"/>
            </a:solidFill>
            <a:prstDash val="solid"/>
          </a:ln>
        </p:spPr>
      </p:sp>
      <p:sp>
        <p:nvSpPr>
          <p:cNvPr id="7" name="Shape 5"/>
          <p:cNvSpPr/>
          <p:nvPr/>
        </p:nvSpPr>
        <p:spPr>
          <a:xfrm>
            <a:off x="1292322" y="1746504"/>
            <a:ext cx="402336" cy="402336"/>
          </a:xfrm>
          <a:prstGeom prst="ellipse">
            <a:avLst/>
          </a:prstGeom>
          <a:solidFill>
            <a:srgbClr val="4F46E5"/>
          </a:solidFill>
          <a:ln w="12700">
            <a:solidFill>
              <a:srgbClr val="4F46E5"/>
            </a:solidFill>
            <a:prstDash val="solid"/>
          </a:ln>
        </p:spPr>
      </p:sp>
      <p:sp>
        <p:nvSpPr>
          <p:cNvPr id="8" name="Text 6"/>
          <p:cNvSpPr txBox="1"/>
          <p:nvPr/>
        </p:nvSpPr>
        <p:spPr>
          <a:xfrm>
            <a:off x="1292322"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621792"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Collect data</a:t>
            </a:r>
            <a:endParaRPr lang="en-US" sz="1900" dirty="0"/>
          </a:p>
        </p:txBody>
      </p:sp>
      <p:sp>
        <p:nvSpPr>
          <p:cNvPr id="10" name="Text 8"/>
          <p:cNvSpPr txBox="1"/>
          <p:nvPr/>
        </p:nvSpPr>
        <p:spPr>
          <a:xfrm>
            <a:off x="640080" y="2990088"/>
            <a:ext cx="1706819" cy="1691640"/>
          </a:xfrm>
          <a:prstGeom prst="rect">
            <a:avLst/>
          </a:prstGeom>
          <a:noFill/>
          <a:ln/>
        </p:spPr>
        <p:txBody>
          <a:bodyPr wrap="square" lIns="50800" tIns="50800" rIns="50800" bIns="50800" rtlCol="0" anchor="t"/>
          <a:lstStyle/>
          <a:p>
            <a:pPr algn="ctr" indent="0" marL="0">
              <a:buNone/>
            </a:pPr>
            <a:r>
              <a:rPr lang="en-US" sz="1600" dirty="0">
                <a:solidFill>
                  <a:srgbClr val="1F2937"/>
                </a:solidFill>
                <a:latin typeface="Calibri" pitchFamily="34" charset="0"/>
                <a:ea typeface="Calibri" pitchFamily="34" charset="-122"/>
                <a:cs typeface="Calibri" pitchFamily="34" charset="-120"/>
              </a:rPr>
              <a:t>Web crawl, books, code, maths, papers, multilingual text</a:t>
            </a:r>
            <a:endParaRPr lang="en-US" sz="1600" dirty="0"/>
          </a:p>
        </p:txBody>
      </p:sp>
      <p:sp>
        <p:nvSpPr>
          <p:cNvPr id="11" name="Shape 9"/>
          <p:cNvSpPr/>
          <p:nvPr/>
        </p:nvSpPr>
        <p:spPr>
          <a:xfrm>
            <a:off x="2502347" y="3026664"/>
            <a:ext cx="283464" cy="292608"/>
          </a:xfrm>
          <a:prstGeom prst="rightArrow">
            <a:avLst/>
          </a:prstGeom>
          <a:solidFill>
            <a:srgbClr val="6B7280"/>
          </a:solidFill>
          <a:ln w="12700">
            <a:solidFill>
              <a:srgbClr val="6B7280"/>
            </a:solidFill>
            <a:prstDash val="solid"/>
          </a:ln>
        </p:spPr>
      </p:sp>
      <p:sp>
        <p:nvSpPr>
          <p:cNvPr id="12" name="Shape 10"/>
          <p:cNvSpPr/>
          <p:nvPr/>
        </p:nvSpPr>
        <p:spPr>
          <a:xfrm>
            <a:off x="2849819" y="1618488"/>
            <a:ext cx="1889699" cy="3108960"/>
          </a:xfrm>
          <a:prstGeom prst="roundRect">
            <a:avLst>
              <a:gd name="adj" fmla="val 5807"/>
            </a:avLst>
          </a:prstGeom>
          <a:solidFill>
            <a:srgbClr val="EEF0FF"/>
          </a:solidFill>
          <a:ln w="15875">
            <a:solidFill>
              <a:srgbClr val="4F46E5"/>
            </a:solidFill>
            <a:prstDash val="solid"/>
          </a:ln>
        </p:spPr>
      </p:sp>
      <p:sp>
        <p:nvSpPr>
          <p:cNvPr id="13" name="Shape 11"/>
          <p:cNvSpPr/>
          <p:nvPr/>
        </p:nvSpPr>
        <p:spPr>
          <a:xfrm>
            <a:off x="3593501" y="1746504"/>
            <a:ext cx="402336" cy="402336"/>
          </a:xfrm>
          <a:prstGeom prst="ellipse">
            <a:avLst/>
          </a:prstGeom>
          <a:solidFill>
            <a:srgbClr val="4F46E5"/>
          </a:solidFill>
          <a:ln w="12700">
            <a:solidFill>
              <a:srgbClr val="4F46E5"/>
            </a:solidFill>
            <a:prstDash val="solid"/>
          </a:ln>
        </p:spPr>
      </p:sp>
      <p:sp>
        <p:nvSpPr>
          <p:cNvPr id="14" name="Text 12"/>
          <p:cNvSpPr txBox="1"/>
          <p:nvPr/>
        </p:nvSpPr>
        <p:spPr>
          <a:xfrm>
            <a:off x="3593501"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2922971"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Clean &amp; filter</a:t>
            </a:r>
            <a:endParaRPr lang="en-US" sz="1900" dirty="0"/>
          </a:p>
        </p:txBody>
      </p:sp>
      <p:sp>
        <p:nvSpPr>
          <p:cNvPr id="16" name="Text 14"/>
          <p:cNvSpPr txBox="1"/>
          <p:nvPr/>
        </p:nvSpPr>
        <p:spPr>
          <a:xfrm>
            <a:off x="2941259" y="2990088"/>
            <a:ext cx="1706819" cy="1691640"/>
          </a:xfrm>
          <a:prstGeom prst="rect">
            <a:avLst/>
          </a:prstGeom>
          <a:noFill/>
          <a:ln/>
        </p:spPr>
        <p:txBody>
          <a:bodyPr wrap="square" lIns="50800" tIns="50800" rIns="50800" bIns="50800" rtlCol="0" anchor="t"/>
          <a:lstStyle/>
          <a:p>
            <a:pPr algn="ctr" indent="0" marL="0">
              <a:buNone/>
            </a:pPr>
            <a:r>
              <a:rPr lang="en-US" sz="1600" dirty="0">
                <a:solidFill>
                  <a:srgbClr val="1F2937"/>
                </a:solidFill>
                <a:latin typeface="Calibri" pitchFamily="34" charset="0"/>
                <a:ea typeface="Calibri" pitchFamily="34" charset="-122"/>
                <a:cs typeface="Calibri" pitchFamily="34" charset="-120"/>
              </a:rPr>
              <a:t>De-duplicate, remove low quality and unsafe text, decontaminate test sets</a:t>
            </a:r>
            <a:endParaRPr lang="en-US" sz="1600" dirty="0"/>
          </a:p>
        </p:txBody>
      </p:sp>
      <p:sp>
        <p:nvSpPr>
          <p:cNvPr id="17" name="Shape 15"/>
          <p:cNvSpPr/>
          <p:nvPr/>
        </p:nvSpPr>
        <p:spPr>
          <a:xfrm>
            <a:off x="4803526" y="3026664"/>
            <a:ext cx="283464" cy="292608"/>
          </a:xfrm>
          <a:prstGeom prst="rightArrow">
            <a:avLst/>
          </a:prstGeom>
          <a:solidFill>
            <a:srgbClr val="6B7280"/>
          </a:solidFill>
          <a:ln w="12700">
            <a:solidFill>
              <a:srgbClr val="6B7280"/>
            </a:solidFill>
            <a:prstDash val="solid"/>
          </a:ln>
        </p:spPr>
      </p:sp>
      <p:sp>
        <p:nvSpPr>
          <p:cNvPr id="18" name="Shape 16"/>
          <p:cNvSpPr/>
          <p:nvPr/>
        </p:nvSpPr>
        <p:spPr>
          <a:xfrm>
            <a:off x="5150998" y="1618488"/>
            <a:ext cx="1889699" cy="3108960"/>
          </a:xfrm>
          <a:prstGeom prst="roundRect">
            <a:avLst>
              <a:gd name="adj" fmla="val 5807"/>
            </a:avLst>
          </a:prstGeom>
          <a:solidFill>
            <a:srgbClr val="EEF0FF"/>
          </a:solidFill>
          <a:ln w="15875">
            <a:solidFill>
              <a:srgbClr val="4F46E5"/>
            </a:solidFill>
            <a:prstDash val="solid"/>
          </a:ln>
        </p:spPr>
      </p:sp>
      <p:sp>
        <p:nvSpPr>
          <p:cNvPr id="19" name="Shape 17"/>
          <p:cNvSpPr/>
          <p:nvPr/>
        </p:nvSpPr>
        <p:spPr>
          <a:xfrm>
            <a:off x="5894680" y="1746504"/>
            <a:ext cx="402336" cy="402336"/>
          </a:xfrm>
          <a:prstGeom prst="ellipse">
            <a:avLst/>
          </a:prstGeom>
          <a:solidFill>
            <a:srgbClr val="4F46E5"/>
          </a:solidFill>
          <a:ln w="12700">
            <a:solidFill>
              <a:srgbClr val="4F46E5"/>
            </a:solidFill>
            <a:prstDash val="solid"/>
          </a:ln>
        </p:spPr>
      </p:sp>
      <p:sp>
        <p:nvSpPr>
          <p:cNvPr id="20" name="Text 18"/>
          <p:cNvSpPr txBox="1"/>
          <p:nvPr/>
        </p:nvSpPr>
        <p:spPr>
          <a:xfrm>
            <a:off x="5894680"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1" name="Text 19"/>
          <p:cNvSpPr txBox="1"/>
          <p:nvPr/>
        </p:nvSpPr>
        <p:spPr>
          <a:xfrm>
            <a:off x="5224150"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Tokenise</a:t>
            </a:r>
            <a:endParaRPr lang="en-US" sz="1900" dirty="0"/>
          </a:p>
        </p:txBody>
      </p:sp>
      <p:sp>
        <p:nvSpPr>
          <p:cNvPr id="22" name="Text 20"/>
          <p:cNvSpPr txBox="1"/>
          <p:nvPr/>
        </p:nvSpPr>
        <p:spPr>
          <a:xfrm>
            <a:off x="5242438" y="2990088"/>
            <a:ext cx="1706819" cy="1691640"/>
          </a:xfrm>
          <a:prstGeom prst="rect">
            <a:avLst/>
          </a:prstGeom>
          <a:noFill/>
          <a:ln/>
        </p:spPr>
        <p:txBody>
          <a:bodyPr wrap="square" lIns="50800" tIns="50800" rIns="50800" bIns="50800" rtlCol="0" anchor="t"/>
          <a:lstStyle/>
          <a:p>
            <a:pPr algn="ctr" indent="0" marL="0">
              <a:buNone/>
            </a:pPr>
            <a:r>
              <a:rPr lang="en-US" sz="1600" dirty="0">
                <a:solidFill>
                  <a:srgbClr val="1F2937"/>
                </a:solidFill>
                <a:latin typeface="Calibri" pitchFamily="34" charset="0"/>
                <a:ea typeface="Calibri" pitchFamily="34" charset="-122"/>
                <a:cs typeface="Calibri" pitchFamily="34" charset="-120"/>
              </a:rPr>
              <a:t>Train a BPE tokenizer; trillions of tokens</a:t>
            </a:r>
            <a:endParaRPr lang="en-US" sz="1600" dirty="0"/>
          </a:p>
        </p:txBody>
      </p:sp>
      <p:sp>
        <p:nvSpPr>
          <p:cNvPr id="23" name="Shape 21"/>
          <p:cNvSpPr/>
          <p:nvPr/>
        </p:nvSpPr>
        <p:spPr>
          <a:xfrm>
            <a:off x="7104705" y="3026664"/>
            <a:ext cx="283464" cy="292608"/>
          </a:xfrm>
          <a:prstGeom prst="rightArrow">
            <a:avLst/>
          </a:prstGeom>
          <a:solidFill>
            <a:srgbClr val="6B7280"/>
          </a:solidFill>
          <a:ln w="12700">
            <a:solidFill>
              <a:srgbClr val="6B7280"/>
            </a:solidFill>
            <a:prstDash val="solid"/>
          </a:ln>
        </p:spPr>
      </p:sp>
      <p:sp>
        <p:nvSpPr>
          <p:cNvPr id="24" name="Shape 22"/>
          <p:cNvSpPr/>
          <p:nvPr/>
        </p:nvSpPr>
        <p:spPr>
          <a:xfrm>
            <a:off x="7452177" y="1618488"/>
            <a:ext cx="1889699" cy="3108960"/>
          </a:xfrm>
          <a:prstGeom prst="roundRect">
            <a:avLst>
              <a:gd name="adj" fmla="val 5807"/>
            </a:avLst>
          </a:prstGeom>
          <a:solidFill>
            <a:srgbClr val="FFF1E6"/>
          </a:solidFill>
          <a:ln w="15875">
            <a:solidFill>
              <a:srgbClr val="EA580C"/>
            </a:solidFill>
            <a:prstDash val="solid"/>
          </a:ln>
        </p:spPr>
      </p:sp>
      <p:sp>
        <p:nvSpPr>
          <p:cNvPr id="25" name="Shape 23"/>
          <p:cNvSpPr/>
          <p:nvPr/>
        </p:nvSpPr>
        <p:spPr>
          <a:xfrm>
            <a:off x="8195859" y="1746504"/>
            <a:ext cx="402336" cy="402336"/>
          </a:xfrm>
          <a:prstGeom prst="ellipse">
            <a:avLst/>
          </a:prstGeom>
          <a:solidFill>
            <a:srgbClr val="EA580C"/>
          </a:solidFill>
          <a:ln w="12700">
            <a:solidFill>
              <a:srgbClr val="EA580C"/>
            </a:solidFill>
            <a:prstDash val="solid"/>
          </a:ln>
        </p:spPr>
      </p:sp>
      <p:sp>
        <p:nvSpPr>
          <p:cNvPr id="26" name="Text 24"/>
          <p:cNvSpPr txBox="1"/>
          <p:nvPr/>
        </p:nvSpPr>
        <p:spPr>
          <a:xfrm>
            <a:off x="8195859"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7" name="Text 25"/>
          <p:cNvSpPr txBox="1"/>
          <p:nvPr/>
        </p:nvSpPr>
        <p:spPr>
          <a:xfrm>
            <a:off x="7525329"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Pre-train</a:t>
            </a:r>
            <a:endParaRPr lang="en-US" sz="1900" dirty="0"/>
          </a:p>
        </p:txBody>
      </p:sp>
      <p:sp>
        <p:nvSpPr>
          <p:cNvPr id="28" name="Text 26"/>
          <p:cNvSpPr txBox="1"/>
          <p:nvPr/>
        </p:nvSpPr>
        <p:spPr>
          <a:xfrm>
            <a:off x="7543617" y="2990088"/>
            <a:ext cx="1706819" cy="1691640"/>
          </a:xfrm>
          <a:prstGeom prst="rect">
            <a:avLst/>
          </a:prstGeom>
          <a:noFill/>
          <a:ln/>
        </p:spPr>
        <p:txBody>
          <a:bodyPr wrap="square" lIns="50800" tIns="50800" rIns="50800" bIns="50800" rtlCol="0" anchor="t"/>
          <a:lstStyle/>
          <a:p>
            <a:pPr algn="ctr" indent="0" marL="0">
              <a:buNone/>
            </a:pPr>
            <a:r>
              <a:rPr lang="en-US" sz="1600" dirty="0">
                <a:solidFill>
                  <a:srgbClr val="1F2937"/>
                </a:solidFill>
                <a:latin typeface="Calibri" pitchFamily="34" charset="0"/>
                <a:ea typeface="Calibri" pitchFamily="34" charset="-122"/>
                <a:cs typeface="Calibri" pitchFamily="34" charset="-120"/>
              </a:rPr>
              <a:t>Next-token prediction on thousands of GPUs for weeks</a:t>
            </a:r>
            <a:endParaRPr lang="en-US" sz="1600" dirty="0"/>
          </a:p>
        </p:txBody>
      </p:sp>
      <p:sp>
        <p:nvSpPr>
          <p:cNvPr id="29" name="Shape 27"/>
          <p:cNvSpPr/>
          <p:nvPr/>
        </p:nvSpPr>
        <p:spPr>
          <a:xfrm>
            <a:off x="9405884" y="3026664"/>
            <a:ext cx="283464" cy="292608"/>
          </a:xfrm>
          <a:prstGeom prst="rightArrow">
            <a:avLst/>
          </a:prstGeom>
          <a:solidFill>
            <a:srgbClr val="6B7280"/>
          </a:solidFill>
          <a:ln w="12700">
            <a:solidFill>
              <a:srgbClr val="6B7280"/>
            </a:solidFill>
            <a:prstDash val="solid"/>
          </a:ln>
        </p:spPr>
      </p:sp>
      <p:sp>
        <p:nvSpPr>
          <p:cNvPr id="30" name="Shape 28"/>
          <p:cNvSpPr/>
          <p:nvPr/>
        </p:nvSpPr>
        <p:spPr>
          <a:xfrm>
            <a:off x="9753356" y="1618488"/>
            <a:ext cx="1889699" cy="3108960"/>
          </a:xfrm>
          <a:prstGeom prst="roundRect">
            <a:avLst>
              <a:gd name="adj" fmla="val 5807"/>
            </a:avLst>
          </a:prstGeom>
          <a:solidFill>
            <a:srgbClr val="EEF0FF"/>
          </a:solidFill>
          <a:ln w="15875">
            <a:solidFill>
              <a:srgbClr val="4F46E5"/>
            </a:solidFill>
            <a:prstDash val="solid"/>
          </a:ln>
        </p:spPr>
      </p:sp>
      <p:sp>
        <p:nvSpPr>
          <p:cNvPr id="31" name="Shape 29"/>
          <p:cNvSpPr/>
          <p:nvPr/>
        </p:nvSpPr>
        <p:spPr>
          <a:xfrm>
            <a:off x="10497038" y="1746504"/>
            <a:ext cx="402336" cy="402336"/>
          </a:xfrm>
          <a:prstGeom prst="ellipse">
            <a:avLst/>
          </a:prstGeom>
          <a:solidFill>
            <a:srgbClr val="4F46E5"/>
          </a:solidFill>
          <a:ln w="12700">
            <a:solidFill>
              <a:srgbClr val="4F46E5"/>
            </a:solidFill>
            <a:prstDash val="solid"/>
          </a:ln>
        </p:spPr>
      </p:sp>
      <p:sp>
        <p:nvSpPr>
          <p:cNvPr id="32" name="Text 30"/>
          <p:cNvSpPr txBox="1"/>
          <p:nvPr/>
        </p:nvSpPr>
        <p:spPr>
          <a:xfrm>
            <a:off x="10497038"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3" name="Text 31"/>
          <p:cNvSpPr txBox="1"/>
          <p:nvPr/>
        </p:nvSpPr>
        <p:spPr>
          <a:xfrm>
            <a:off x="9826508"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Post-train</a:t>
            </a:r>
            <a:endParaRPr lang="en-US" sz="1900" dirty="0"/>
          </a:p>
        </p:txBody>
      </p:sp>
      <p:sp>
        <p:nvSpPr>
          <p:cNvPr id="34" name="Text 32"/>
          <p:cNvSpPr txBox="1"/>
          <p:nvPr/>
        </p:nvSpPr>
        <p:spPr>
          <a:xfrm>
            <a:off x="9844796" y="2990088"/>
            <a:ext cx="1706819" cy="1691640"/>
          </a:xfrm>
          <a:prstGeom prst="rect">
            <a:avLst/>
          </a:prstGeom>
          <a:noFill/>
          <a:ln/>
        </p:spPr>
        <p:txBody>
          <a:bodyPr wrap="square" lIns="50800" tIns="50800" rIns="50800" bIns="50800" rtlCol="0" anchor="t"/>
          <a:lstStyle/>
          <a:p>
            <a:pPr algn="ctr" indent="0" marL="0">
              <a:buNone/>
            </a:pPr>
            <a:r>
              <a:rPr lang="en-US" sz="1600" dirty="0">
                <a:solidFill>
                  <a:srgbClr val="1F2937"/>
                </a:solidFill>
                <a:latin typeface="Calibri" pitchFamily="34" charset="0"/>
                <a:ea typeface="Calibri" pitchFamily="34" charset="-122"/>
                <a:cs typeface="Calibri" pitchFamily="34" charset="-120"/>
              </a:rPr>
              <a:t>Instruction tuning, preference tuning, RL for reasoning (week 8)</a:t>
            </a:r>
            <a:endParaRPr lang="en-US" sz="1600" dirty="0"/>
          </a:p>
        </p:txBody>
      </p:sp>
      <p:sp>
        <p:nvSpPr>
          <p:cNvPr id="35" name="Text 33"/>
          <p:cNvSpPr txBox="1"/>
          <p:nvPr/>
        </p:nvSpPr>
        <p:spPr>
          <a:xfrm>
            <a:off x="548640" y="5001768"/>
            <a:ext cx="11094415" cy="130759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Data quality and mix matter as much as size: code and maths data improve reasoning; synthetic data is increasingly used.</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The same decoder transformer from week 5, just much bigger and trained on far more data.</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How much compute does pre-training need?</a:t>
            </a:r>
            <a:endParaRPr lang="en-US" sz="3200" dirty="0"/>
          </a:p>
        </p:txBody>
      </p:sp>
      <p:sp>
        <p:nvSpPr>
          <p:cNvPr id="6" name="Shape 4"/>
          <p:cNvSpPr/>
          <p:nvPr/>
        </p:nvSpPr>
        <p:spPr>
          <a:xfrm>
            <a:off x="548640" y="1481328"/>
            <a:ext cx="11094415" cy="1325880"/>
          </a:xfrm>
          <a:prstGeom prst="roundRect">
            <a:avLst>
              <a:gd name="adj" fmla="val 8276"/>
            </a:avLst>
          </a:prstGeom>
          <a:solidFill>
            <a:srgbClr val="EEF0FF"/>
          </a:solidFill>
          <a:ln w="12700">
            <a:solidFill>
              <a:srgbClr val="EEF0FF"/>
            </a:solidFill>
            <a:prstDash val="solid"/>
          </a:ln>
        </p:spPr>
      </p:sp>
      <p:pic>
        <p:nvPicPr>
          <p:cNvPr id="7" name="Image 0" descr="C:\Users\sudee\Downloads\Generative_AI_2027_Teaching_Pack\AI2027_Project\build\eq\c28b5009352b3ea2.png">    </p:cNvPr>
          <p:cNvPicPr>
            <a:picLocks noChangeAspect="1"/>
          </p:cNvPicPr>
          <p:nvPr/>
        </p:nvPicPr>
        <p:blipFill>
          <a:blip r:embed="rId1"/>
          <a:stretch>
            <a:fillRect/>
          </a:stretch>
        </p:blipFill>
        <p:spPr>
          <a:xfrm>
            <a:off x="5449672" y="1969008"/>
            <a:ext cx="1292352" cy="350520"/>
          </a:xfrm>
          <a:prstGeom prst="rect">
            <a:avLst/>
          </a:prstGeom>
        </p:spPr>
      </p:pic>
      <p:sp>
        <p:nvSpPr>
          <p:cNvPr id="8" name="Text 5"/>
          <p:cNvSpPr txBox="1"/>
          <p:nvPr/>
        </p:nvSpPr>
        <p:spPr>
          <a:xfrm>
            <a:off x="548640" y="303580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9" name="Text 6"/>
          <p:cNvSpPr txBox="1"/>
          <p:nvPr/>
        </p:nvSpPr>
        <p:spPr>
          <a:xfrm>
            <a:off x="548640" y="3419856"/>
            <a:ext cx="6035040" cy="2862072"/>
          </a:xfrm>
          <a:prstGeom prst="rect">
            <a:avLst/>
          </a:prstGeom>
          <a:noFill/>
          <a:ln/>
        </p:spPr>
        <p:txBody>
          <a:bodyPr wrap="square" lIns="50800" tIns="50800" rIns="50800" bIns="50800" rtlCol="0" anchor="t"/>
          <a:lstStyle/>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Training FLOPs ≈ 6 × parameters × training tokens (2 for the forward pass, 4 for the backward pass, per parameter per token).</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Example: a 7 B-parameter model on 2 T tokens: 6 × 7×10⁹ × 2×10¹² ≈ 8.4 × 10²² FLOPs.</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At an effective 400 TFLOP/s per GPU that is ≈ 58,000 GPU-hours, which is why pre-training is done by few organisations.</a:t>
            </a:r>
            <a:endParaRPr lang="en-US" sz="1900" dirty="0"/>
          </a:p>
        </p:txBody>
      </p:sp>
      <p:sp>
        <p:nvSpPr>
          <p:cNvPr id="10" name="Text 7"/>
          <p:cNvSpPr txBox="1"/>
          <p:nvPr/>
        </p:nvSpPr>
        <p:spPr>
          <a:xfrm>
            <a:off x="6858000" y="303580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1" name="Text 8"/>
          <p:cNvSpPr txBox="1"/>
          <p:nvPr/>
        </p:nvSpPr>
        <p:spPr>
          <a:xfrm>
            <a:off x="6858000" y="34472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C</a:t>
            </a:r>
            <a:endParaRPr lang="en-US" sz="1700" dirty="0"/>
          </a:p>
        </p:txBody>
      </p:sp>
      <p:sp>
        <p:nvSpPr>
          <p:cNvPr id="12" name="Text 9"/>
          <p:cNvSpPr txBox="1"/>
          <p:nvPr/>
        </p:nvSpPr>
        <p:spPr>
          <a:xfrm>
            <a:off x="8046720" y="34472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training compute (floating-point operations)</a:t>
            </a:r>
            <a:endParaRPr lang="en-US" sz="1600" dirty="0"/>
          </a:p>
        </p:txBody>
      </p:sp>
      <p:sp>
        <p:nvSpPr>
          <p:cNvPr id="13" name="Text 10"/>
          <p:cNvSpPr txBox="1"/>
          <p:nvPr/>
        </p:nvSpPr>
        <p:spPr>
          <a:xfrm>
            <a:off x="6858000" y="41330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N</a:t>
            </a:r>
            <a:endParaRPr lang="en-US" sz="1700" dirty="0"/>
          </a:p>
        </p:txBody>
      </p:sp>
      <p:sp>
        <p:nvSpPr>
          <p:cNvPr id="14" name="Text 11"/>
          <p:cNvSpPr txBox="1"/>
          <p:nvPr/>
        </p:nvSpPr>
        <p:spPr>
          <a:xfrm>
            <a:off x="8046720" y="41330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number of parameters</a:t>
            </a:r>
            <a:endParaRPr lang="en-US" sz="1600" dirty="0"/>
          </a:p>
        </p:txBody>
      </p:sp>
      <p:sp>
        <p:nvSpPr>
          <p:cNvPr id="15" name="Text 12"/>
          <p:cNvSpPr txBox="1"/>
          <p:nvPr/>
        </p:nvSpPr>
        <p:spPr>
          <a:xfrm>
            <a:off x="6858000" y="48188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D</a:t>
            </a:r>
            <a:endParaRPr lang="en-US" sz="1700" dirty="0"/>
          </a:p>
        </p:txBody>
      </p:sp>
      <p:sp>
        <p:nvSpPr>
          <p:cNvPr id="16" name="Text 13"/>
          <p:cNvSpPr txBox="1"/>
          <p:nvPr/>
        </p:nvSpPr>
        <p:spPr>
          <a:xfrm>
            <a:off x="8046720" y="48188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number of training tokens</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Scaling laws: loss is predictable from size and data</a:t>
            </a:r>
            <a:endParaRPr lang="en-US" sz="3200" dirty="0"/>
          </a:p>
        </p:txBody>
      </p:sp>
      <p:pic>
        <p:nvPicPr>
          <p:cNvPr id="6" name="Image 0" descr="C:\Users\sudee\Downloads\Generative_AI_2027_Teaching_Pack\AI2027_Project\build\figures\week_06\scaling.png">    </p:cNvPr>
          <p:cNvPicPr>
            <a:picLocks noChangeAspect="1"/>
          </p:cNvPicPr>
          <p:nvPr/>
        </p:nvPicPr>
        <p:blipFill>
          <a:blip r:embed="rId1"/>
          <a:stretch>
            <a:fillRect/>
          </a:stretch>
        </p:blipFill>
        <p:spPr>
          <a:xfrm>
            <a:off x="3405695" y="1481328"/>
            <a:ext cx="5380305" cy="2510028"/>
          </a:xfrm>
          <a:prstGeom prst="rect">
            <a:avLst/>
          </a:prstGeom>
        </p:spPr>
      </p:pic>
      <p:sp>
        <p:nvSpPr>
          <p:cNvPr id="7" name="Text 4"/>
          <p:cNvSpPr txBox="1"/>
          <p:nvPr/>
        </p:nvSpPr>
        <p:spPr>
          <a:xfrm>
            <a:off x="548640" y="4174236"/>
            <a:ext cx="11094415" cy="2135124"/>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Loss falls smoothly as a power law in parameters N and tokens D (Kaplan et al., 2020; Hoffmann et al., 2022).</a:t>
            </a:r>
            <a:endParaRPr lang="en-US" sz="1800" dirty="0"/>
          </a:p>
          <a:p>
            <a:pPr marL="254000" indent="-254000">
              <a:spcAft>
                <a:spcPts val="800"/>
              </a:spcAft>
              <a:buSzPct val="100000"/>
              <a:buChar char="●"/>
            </a:pPr>
            <a:r>
              <a:rPr lang="en-US" sz="1800" b="1" dirty="0">
                <a:solidFill>
                  <a:srgbClr val="1F2937"/>
                </a:solidFill>
                <a:latin typeface="Calibri" pitchFamily="34" charset="0"/>
                <a:ea typeface="Calibri" pitchFamily="34" charset="-122"/>
                <a:cs typeface="Calibri" pitchFamily="34" charset="-120"/>
              </a:rPr>
              <a:t>Chinchilla</a:t>
            </a:r>
            <a:pPr indent="0" marL="0">
              <a:buNone/>
            </a:pPr>
            <a:r>
              <a:rPr lang="en-US" sz="1800" dirty="0">
                <a:solidFill>
                  <a:srgbClr val="1F2937"/>
                </a:solidFill>
                <a:latin typeface="Calibri" pitchFamily="34" charset="0"/>
                <a:ea typeface="Calibri" pitchFamily="34" charset="-122"/>
                <a:cs typeface="Calibri" pitchFamily="34" charset="-120"/>
              </a:rPr>
              <a:t>: for a fixed compute budget, train with roughly </a:t>
            </a:r>
            <a:pPr indent="0" marL="0">
              <a:buNone/>
            </a:pPr>
            <a:r>
              <a:rPr lang="en-US" sz="1800" b="1" dirty="0">
                <a:solidFill>
                  <a:srgbClr val="1F2937"/>
                </a:solidFill>
                <a:latin typeface="Calibri" pitchFamily="34" charset="0"/>
                <a:ea typeface="Calibri" pitchFamily="34" charset="-122"/>
                <a:cs typeface="Calibri" pitchFamily="34" charset="-120"/>
              </a:rPr>
              <a:t>20 tokens per parameter</a:t>
            </a:r>
            <a:pPr indent="0" marL="0">
              <a:buNone/>
            </a:pPr>
            <a:r>
              <a:rPr lang="en-US" sz="1800" dirty="0">
                <a:solidFill>
                  <a:srgbClr val="1F2937"/>
                </a:solidFill>
                <a:latin typeface="Calibri" pitchFamily="34" charset="0"/>
                <a:ea typeface="Calibri" pitchFamily="34" charset="-122"/>
                <a:cs typeface="Calibri" pitchFamily="34" charset="-120"/>
              </a:rPr>
              <a:t>; GPT-3 was under-trained.</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Modern models train far beyond 20 tokens/parameter (e.g. Llama 3 8B on 15 T tokens) because smaller models are cheaper to </a:t>
            </a:r>
            <a:pPr indent="0" marL="0">
              <a:buNone/>
            </a:pPr>
            <a:r>
              <a:rPr lang="en-US" sz="1800" b="1" dirty="0">
                <a:solidFill>
                  <a:srgbClr val="1F2937"/>
                </a:solidFill>
                <a:latin typeface="Calibri" pitchFamily="34" charset="0"/>
                <a:ea typeface="Calibri" pitchFamily="34" charset="-122"/>
                <a:cs typeface="Calibri" pitchFamily="34" charset="-120"/>
              </a:rPr>
              <a:t>serve</a:t>
            </a:r>
            <a:pPr indent="0" marL="0">
              <a:buNone/>
            </a:pPr>
            <a:r>
              <a:rPr lang="en-US" sz="1800" dirty="0">
                <a:solidFill>
                  <a:srgbClr val="1F2937"/>
                </a:solidFill>
                <a:latin typeface="Calibri" pitchFamily="34" charset="0"/>
                <a:ea typeface="Calibri" pitchFamily="34" charset="-122"/>
                <a:cs typeface="Calibri" pitchFamily="34" charset="-120"/>
              </a:rPr>
              <a:t>.</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scale of pre-training data</a:t>
            </a:r>
            <a:endParaRPr lang="en-US" sz="3200" dirty="0"/>
          </a:p>
        </p:txBody>
      </p:sp>
      <p:sp>
        <p:nvSpPr>
          <p:cNvPr id="6" name="Shape 4"/>
          <p:cNvSpPr/>
          <p:nvPr/>
        </p:nvSpPr>
        <p:spPr>
          <a:xfrm>
            <a:off x="548640" y="1664208"/>
            <a:ext cx="2567864" cy="3822192"/>
          </a:xfrm>
          <a:prstGeom prst="roundRect">
            <a:avLst>
              <a:gd name="adj" fmla="val 4273"/>
            </a:avLst>
          </a:prstGeom>
          <a:solidFill>
            <a:srgbClr val="EEF0FF"/>
          </a:solidFill>
          <a:ln w="12700">
            <a:solidFill>
              <a:srgbClr val="EEF0FF"/>
            </a:solidFill>
            <a:prstDash val="solid"/>
          </a:ln>
        </p:spPr>
      </p:sp>
      <p:sp>
        <p:nvSpPr>
          <p:cNvPr id="7" name="Text 5"/>
          <p:cNvSpPr txBox="1"/>
          <p:nvPr/>
        </p:nvSpPr>
        <p:spPr>
          <a:xfrm>
            <a:off x="685800" y="1892808"/>
            <a:ext cx="2293544" cy="1371600"/>
          </a:xfrm>
          <a:prstGeom prst="rect">
            <a:avLst/>
          </a:prstGeom>
          <a:noFill/>
          <a:ln/>
        </p:spPr>
        <p:txBody>
          <a:bodyPr wrap="square" lIns="50800" tIns="50800" rIns="50800" bIns="50800" rtlCol="0" anchor="ctr"/>
          <a:lstStyle/>
          <a:p>
            <a:pPr algn="ctr" indent="0" marL="0">
              <a:buNone/>
            </a:pPr>
            <a:r>
              <a:rPr lang="en-US" sz="6000" b="1" dirty="0">
                <a:solidFill>
                  <a:srgbClr val="4F46E5"/>
                </a:solidFill>
                <a:latin typeface="Calibri" pitchFamily="34" charset="0"/>
                <a:ea typeface="Calibri" pitchFamily="34" charset="-122"/>
                <a:cs typeface="Calibri" pitchFamily="34" charset="-120"/>
              </a:rPr>
              <a:t>300 B</a:t>
            </a:r>
            <a:endParaRPr lang="en-US" sz="6000" dirty="0"/>
          </a:p>
        </p:txBody>
      </p:sp>
      <p:sp>
        <p:nvSpPr>
          <p:cNvPr id="8" name="Text 6"/>
          <p:cNvSpPr txBox="1"/>
          <p:nvPr/>
        </p:nvSpPr>
        <p:spPr>
          <a:xfrm>
            <a:off x="731520" y="3355848"/>
            <a:ext cx="2202104" cy="1901952"/>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tokens used to train GPT-3 (2020)</a:t>
            </a:r>
            <a:endParaRPr lang="en-US" sz="1700" dirty="0"/>
          </a:p>
        </p:txBody>
      </p:sp>
      <p:sp>
        <p:nvSpPr>
          <p:cNvPr id="9" name="Shape 7"/>
          <p:cNvSpPr/>
          <p:nvPr/>
        </p:nvSpPr>
        <p:spPr>
          <a:xfrm>
            <a:off x="3390824" y="1664208"/>
            <a:ext cx="2567864" cy="3822192"/>
          </a:xfrm>
          <a:prstGeom prst="roundRect">
            <a:avLst>
              <a:gd name="adj" fmla="val 4273"/>
            </a:avLst>
          </a:prstGeom>
          <a:solidFill>
            <a:srgbClr val="EEF0FF"/>
          </a:solidFill>
          <a:ln w="12700">
            <a:solidFill>
              <a:srgbClr val="EEF0FF"/>
            </a:solidFill>
            <a:prstDash val="solid"/>
          </a:ln>
        </p:spPr>
      </p:sp>
      <p:sp>
        <p:nvSpPr>
          <p:cNvPr id="10" name="Text 8"/>
          <p:cNvSpPr txBox="1"/>
          <p:nvPr/>
        </p:nvSpPr>
        <p:spPr>
          <a:xfrm>
            <a:off x="3527984" y="1892808"/>
            <a:ext cx="2293544" cy="1371600"/>
          </a:xfrm>
          <a:prstGeom prst="rect">
            <a:avLst/>
          </a:prstGeom>
          <a:noFill/>
          <a:ln/>
        </p:spPr>
        <p:txBody>
          <a:bodyPr wrap="square" lIns="50800" tIns="50800" rIns="50800" bIns="50800" rtlCol="0" anchor="ctr"/>
          <a:lstStyle/>
          <a:p>
            <a:pPr algn="ctr" indent="0" marL="0">
              <a:buNone/>
            </a:pPr>
            <a:r>
              <a:rPr lang="en-US" sz="6000" b="1" dirty="0">
                <a:solidFill>
                  <a:srgbClr val="4F46E5"/>
                </a:solidFill>
                <a:latin typeface="Calibri" pitchFamily="34" charset="0"/>
                <a:ea typeface="Calibri" pitchFamily="34" charset="-122"/>
                <a:cs typeface="Calibri" pitchFamily="34" charset="-120"/>
              </a:rPr>
              <a:t>1.4 T</a:t>
            </a:r>
            <a:endParaRPr lang="en-US" sz="6000" dirty="0"/>
          </a:p>
        </p:txBody>
      </p:sp>
      <p:sp>
        <p:nvSpPr>
          <p:cNvPr id="11" name="Text 9"/>
          <p:cNvSpPr txBox="1"/>
          <p:nvPr/>
        </p:nvSpPr>
        <p:spPr>
          <a:xfrm>
            <a:off x="3573704" y="3355848"/>
            <a:ext cx="2202104" cy="1901952"/>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tokens for Chinchilla (2022), a 70 B model</a:t>
            </a:r>
            <a:endParaRPr lang="en-US" sz="1700" dirty="0"/>
          </a:p>
        </p:txBody>
      </p:sp>
      <p:sp>
        <p:nvSpPr>
          <p:cNvPr id="12" name="Shape 10"/>
          <p:cNvSpPr/>
          <p:nvPr/>
        </p:nvSpPr>
        <p:spPr>
          <a:xfrm>
            <a:off x="6233008" y="1664208"/>
            <a:ext cx="2567864" cy="3822192"/>
          </a:xfrm>
          <a:prstGeom prst="roundRect">
            <a:avLst>
              <a:gd name="adj" fmla="val 4273"/>
            </a:avLst>
          </a:prstGeom>
          <a:solidFill>
            <a:srgbClr val="EEF0FF"/>
          </a:solidFill>
          <a:ln w="12700">
            <a:solidFill>
              <a:srgbClr val="EEF0FF"/>
            </a:solidFill>
            <a:prstDash val="solid"/>
          </a:ln>
        </p:spPr>
      </p:sp>
      <p:sp>
        <p:nvSpPr>
          <p:cNvPr id="13" name="Text 11"/>
          <p:cNvSpPr txBox="1"/>
          <p:nvPr/>
        </p:nvSpPr>
        <p:spPr>
          <a:xfrm>
            <a:off x="6370168" y="1892808"/>
            <a:ext cx="2293544" cy="1371600"/>
          </a:xfrm>
          <a:prstGeom prst="rect">
            <a:avLst/>
          </a:prstGeom>
          <a:noFill/>
          <a:ln/>
        </p:spPr>
        <p:txBody>
          <a:bodyPr wrap="square" lIns="50800" tIns="50800" rIns="50800" bIns="50800" rtlCol="0" anchor="ctr"/>
          <a:lstStyle/>
          <a:p>
            <a:pPr algn="ctr" indent="0" marL="0">
              <a:buNone/>
            </a:pPr>
            <a:r>
              <a:rPr lang="en-US" sz="6000" b="1" dirty="0">
                <a:solidFill>
                  <a:srgbClr val="4F46E5"/>
                </a:solidFill>
                <a:latin typeface="Calibri" pitchFamily="34" charset="0"/>
                <a:ea typeface="Calibri" pitchFamily="34" charset="-122"/>
                <a:cs typeface="Calibri" pitchFamily="34" charset="-120"/>
              </a:rPr>
              <a:t>15 T</a:t>
            </a:r>
            <a:endParaRPr lang="en-US" sz="6000" dirty="0"/>
          </a:p>
        </p:txBody>
      </p:sp>
      <p:sp>
        <p:nvSpPr>
          <p:cNvPr id="14" name="Text 12"/>
          <p:cNvSpPr txBox="1"/>
          <p:nvPr/>
        </p:nvSpPr>
        <p:spPr>
          <a:xfrm>
            <a:off x="6415888" y="3355848"/>
            <a:ext cx="2202104" cy="1901952"/>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tokens in FineWeb (2024), an open, filtered web dataset from Hugging Face</a:t>
            </a:r>
            <a:endParaRPr lang="en-US" sz="1700" dirty="0"/>
          </a:p>
        </p:txBody>
      </p:sp>
      <p:sp>
        <p:nvSpPr>
          <p:cNvPr id="15" name="Shape 13"/>
          <p:cNvSpPr/>
          <p:nvPr/>
        </p:nvSpPr>
        <p:spPr>
          <a:xfrm>
            <a:off x="9075191" y="1664208"/>
            <a:ext cx="2567864" cy="3822192"/>
          </a:xfrm>
          <a:prstGeom prst="roundRect">
            <a:avLst>
              <a:gd name="adj" fmla="val 4273"/>
            </a:avLst>
          </a:prstGeom>
          <a:solidFill>
            <a:srgbClr val="EEF0FF"/>
          </a:solidFill>
          <a:ln w="12700">
            <a:solidFill>
              <a:srgbClr val="EEF0FF"/>
            </a:solidFill>
            <a:prstDash val="solid"/>
          </a:ln>
        </p:spPr>
      </p:sp>
      <p:sp>
        <p:nvSpPr>
          <p:cNvPr id="16" name="Text 14"/>
          <p:cNvSpPr txBox="1"/>
          <p:nvPr/>
        </p:nvSpPr>
        <p:spPr>
          <a:xfrm>
            <a:off x="9212351" y="1892808"/>
            <a:ext cx="2293544" cy="1371600"/>
          </a:xfrm>
          <a:prstGeom prst="rect">
            <a:avLst/>
          </a:prstGeom>
          <a:noFill/>
          <a:ln/>
        </p:spPr>
        <p:txBody>
          <a:bodyPr wrap="square" lIns="50800" tIns="50800" rIns="50800" bIns="50800" rtlCol="0" anchor="ctr"/>
          <a:lstStyle/>
          <a:p>
            <a:pPr algn="ctr" indent="0" marL="0">
              <a:buNone/>
            </a:pPr>
            <a:r>
              <a:rPr lang="en-US" sz="6000" b="1" dirty="0">
                <a:solidFill>
                  <a:srgbClr val="4F46E5"/>
                </a:solidFill>
                <a:latin typeface="Calibri" pitchFamily="34" charset="0"/>
                <a:ea typeface="Calibri" pitchFamily="34" charset="-122"/>
                <a:cs typeface="Calibri" pitchFamily="34" charset="-120"/>
              </a:rPr>
              <a:t>15 T+</a:t>
            </a:r>
            <a:endParaRPr lang="en-US" sz="6000" dirty="0"/>
          </a:p>
        </p:txBody>
      </p:sp>
      <p:sp>
        <p:nvSpPr>
          <p:cNvPr id="17" name="Text 15"/>
          <p:cNvSpPr txBox="1"/>
          <p:nvPr/>
        </p:nvSpPr>
        <p:spPr>
          <a:xfrm>
            <a:off x="9258071" y="3355848"/>
            <a:ext cx="2202104" cy="1901952"/>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tokens used to pre-train Llama 3 (Meta, 2024)</a:t>
            </a:r>
            <a:endParaRPr lang="en-US" sz="1700" dirty="0"/>
          </a:p>
        </p:txBody>
      </p:sp>
      <p:sp>
        <p:nvSpPr>
          <p:cNvPr id="18" name="Text 16"/>
          <p:cNvSpPr txBox="1"/>
          <p:nvPr/>
        </p:nvSpPr>
        <p:spPr>
          <a:xfrm>
            <a:off x="548640" y="5623560"/>
            <a:ext cx="11094415" cy="640080"/>
          </a:xfrm>
          <a:prstGeom prst="rect">
            <a:avLst/>
          </a:prstGeom>
          <a:noFill/>
          <a:ln/>
        </p:spPr>
        <p:txBody>
          <a:bodyPr wrap="square" lIns="50800" tIns="50800" rIns="50800" bIns="50800" rtlCol="0" anchor="t"/>
          <a:lstStyle/>
          <a:p>
            <a:pPr indent="0" marL="0">
              <a:buNone/>
            </a:pPr>
            <a:r>
              <a:rPr lang="en-US" sz="1400" i="1" dirty="0">
                <a:solidFill>
                  <a:srgbClr val="6B7280"/>
                </a:solidFill>
                <a:latin typeface="Calibri" pitchFamily="34" charset="0"/>
                <a:ea typeface="Calibri" pitchFamily="34" charset="-122"/>
                <a:cs typeface="Calibri" pitchFamily="34" charset="-120"/>
              </a:rPr>
              <a:t>One trillion tokens is roughly 750 billion English words, thousands of times all of Wikipedia. Figures as reported by the developers.</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In-context learning and 'emergent' abilities</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In-context learning</a:t>
            </a:r>
            <a:pPr indent="0" marL="0">
              <a:buNone/>
            </a:pPr>
            <a:r>
              <a:rPr lang="en-US" sz="2200" dirty="0">
                <a:solidFill>
                  <a:srgbClr val="1F2937"/>
                </a:solidFill>
                <a:latin typeface="Calibri" pitchFamily="34" charset="0"/>
                <a:ea typeface="Calibri" pitchFamily="34" charset="-122"/>
                <a:cs typeface="Calibri" pitchFamily="34" charset="-120"/>
              </a:rPr>
              <a:t> (GPT-3, 2020): large models can learn a task from a few examples in the prompt, without weight updates (week 7).</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Some abilities appear to 'switch on' at scale, such as multi-step arithmetic.</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Debate</a:t>
            </a:r>
            <a:pPr indent="0" marL="0">
              <a:buNone/>
            </a:pPr>
            <a:r>
              <a:rPr lang="en-US" sz="2200" dirty="0">
                <a:solidFill>
                  <a:srgbClr val="1F2937"/>
                </a:solidFill>
                <a:latin typeface="Calibri" pitchFamily="34" charset="0"/>
                <a:ea typeface="Calibri" pitchFamily="34" charset="-122"/>
                <a:cs typeface="Calibri" pitchFamily="34" charset="-120"/>
              </a:rPr>
              <a:t>: much apparent emergence depends on the metric; with smooth metrics many abilities improve gradually (Schaeffer et al., 2023).</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Practical lesson: test the capability you need on </a:t>
            </a:r>
            <a:pPr indent="0" marL="0">
              <a:buNone/>
            </a:pPr>
            <a:r>
              <a:rPr lang="en-US" sz="2200" b="1" dirty="0">
                <a:solidFill>
                  <a:srgbClr val="1F2937"/>
                </a:solidFill>
                <a:latin typeface="Calibri" pitchFamily="34" charset="0"/>
                <a:ea typeface="Calibri" pitchFamily="34" charset="-122"/>
                <a:cs typeface="Calibri" pitchFamily="34" charset="-120"/>
              </a:rPr>
              <a:t>your</a:t>
            </a:r>
            <a:pPr indent="0" marL="0">
              <a:buNone/>
            </a:pPr>
            <a:r>
              <a:rPr lang="en-US" sz="2200" dirty="0">
                <a:solidFill>
                  <a:srgbClr val="1F2937"/>
                </a:solidFill>
                <a:latin typeface="Calibri" pitchFamily="34" charset="0"/>
                <a:ea typeface="Calibri" pitchFamily="34" charset="-122"/>
                <a:cs typeface="Calibri" pitchFamily="34" charset="-120"/>
              </a:rPr>
              <a:t> task, at the size you can afford.</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Context windows: how much the model can see at once</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Grew from 512–2,048 tokens (2018–2020) to 128 K–2 M tokens in current models.</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Everything counts: system prompt, conversation history, retrieved documents, tool outputs and the answer.</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Cost and latency grow with context; long inputs can be </a:t>
            </a:r>
            <a:pPr indent="0" marL="0">
              <a:buNone/>
            </a:pPr>
            <a:r>
              <a:rPr lang="en-US" sz="2200" b="1" dirty="0">
                <a:solidFill>
                  <a:srgbClr val="1F2937"/>
                </a:solidFill>
                <a:latin typeface="Calibri" pitchFamily="34" charset="0"/>
                <a:ea typeface="Calibri" pitchFamily="34" charset="-122"/>
                <a:cs typeface="Calibri" pitchFamily="34" charset="-120"/>
              </a:rPr>
              <a:t>lost in the middle</a:t>
            </a:r>
            <a:pPr indent="0" marL="0">
              <a:buNone/>
            </a:pPr>
            <a:r>
              <a:rPr lang="en-US" sz="2200" dirty="0">
                <a:solidFill>
                  <a:srgbClr val="1F2937"/>
                </a:solidFill>
                <a:latin typeface="Calibri" pitchFamily="34" charset="0"/>
                <a:ea typeface="Calibri" pitchFamily="34" charset="-122"/>
                <a:cs typeface="Calibri" pitchFamily="34" charset="-120"/>
              </a:rPr>
              <a:t> (models use the start and end best).</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Long context does not remove the need for </a:t>
            </a:r>
            <a:pPr indent="0" marL="0">
              <a:buNone/>
            </a:pPr>
            <a:r>
              <a:rPr lang="en-US" sz="2200" b="1" dirty="0">
                <a:solidFill>
                  <a:srgbClr val="1F2937"/>
                </a:solidFill>
                <a:latin typeface="Calibri" pitchFamily="34" charset="0"/>
                <a:ea typeface="Calibri" pitchFamily="34" charset="-122"/>
                <a:cs typeface="Calibri" pitchFamily="34" charset="-120"/>
              </a:rPr>
              <a:t>retrieval</a:t>
            </a:r>
            <a:pPr indent="0" marL="0">
              <a:buNone/>
            </a:pPr>
            <a:r>
              <a:rPr lang="en-US" sz="2200" dirty="0">
                <a:solidFill>
                  <a:srgbClr val="1F2937"/>
                </a:solidFill>
                <a:latin typeface="Calibri" pitchFamily="34" charset="0"/>
                <a:ea typeface="Calibri" pitchFamily="34" charset="-122"/>
                <a:cs typeface="Calibri" pitchFamily="34" charset="-120"/>
              </a:rPr>
              <a:t> (week 12): selecting the right information still matters.</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Tokenisers differ between model families</a:t>
            </a:r>
            <a:endParaRPr lang="en-US" sz="3200" dirty="0"/>
          </a:p>
        </p:txBody>
      </p:sp>
      <p:pic>
        <p:nvPicPr>
          <p:cNvPr id="6" name="Image 0" descr="C:\Users\sudee\Downloads\Generative_AI_2027_Teaching_Pack\AI2027_Project\build\figures\week_06\tokenizers.png">    </p:cNvPr>
          <p:cNvPicPr>
            <a:picLocks noChangeAspect="1"/>
          </p:cNvPicPr>
          <p:nvPr/>
        </p:nvPicPr>
        <p:blipFill>
          <a:blip r:embed="rId1"/>
          <a:stretch>
            <a:fillRect/>
          </a:stretch>
        </p:blipFill>
        <p:spPr>
          <a:xfrm>
            <a:off x="2544482" y="1481328"/>
            <a:ext cx="7102732" cy="3081528"/>
          </a:xfrm>
          <a:prstGeom prst="rect">
            <a:avLst/>
          </a:prstGeom>
        </p:spPr>
      </p:pic>
      <p:sp>
        <p:nvSpPr>
          <p:cNvPr id="7" name="Text 4"/>
          <p:cNvSpPr txBox="1"/>
          <p:nvPr/>
        </p:nvSpPr>
        <p:spPr>
          <a:xfrm>
            <a:off x="548640" y="4745736"/>
            <a:ext cx="11094415" cy="1563624"/>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Real token counts for the same texts with five tokenisers (vocabulary size in the legend).</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Larger, more multilingual vocabularies usually need fewer tokens, especially for non-English text and code.</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Token counts drive </a:t>
            </a:r>
            <a:pPr indent="0" marL="0">
              <a:buNone/>
            </a:pPr>
            <a:r>
              <a:rPr lang="en-US" sz="1800" b="1" dirty="0">
                <a:solidFill>
                  <a:srgbClr val="1F2937"/>
                </a:solidFill>
                <a:latin typeface="Calibri" pitchFamily="34" charset="0"/>
                <a:ea typeface="Calibri" pitchFamily="34" charset="-122"/>
                <a:cs typeface="Calibri" pitchFamily="34" charset="-120"/>
              </a:rPr>
              <a:t>cost, speed and context use</a:t>
            </a:r>
            <a:pPr indent="0" marL="0">
              <a:buNone/>
            </a:pPr>
            <a:r>
              <a:rPr lang="en-US" sz="1800" dirty="0">
                <a:solidFill>
                  <a:srgbClr val="1F2937"/>
                </a:solidFill>
                <a:latin typeface="Calibri" pitchFamily="34" charset="0"/>
                <a:ea typeface="Calibri" pitchFamily="34" charset="-122"/>
                <a:cs typeface="Calibri" pitchFamily="34" charset="-120"/>
              </a:rPr>
              <a:t>, so compare them when choosing a model.</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03</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Decoding strategies</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The model gives probabilities. How do we turn them into text?</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Choose one next token</a:t>
            </a:r>
            <a:endParaRPr lang="en-US" sz="3200" dirty="0"/>
          </a:p>
        </p:txBody>
      </p:sp>
      <p:sp>
        <p:nvSpPr>
          <p:cNvPr id="6" name="Text 4"/>
          <p:cNvSpPr txBox="1"/>
          <p:nvPr/>
        </p:nvSpPr>
        <p:spPr>
          <a:xfrm>
            <a:off x="548640" y="1481328"/>
            <a:ext cx="11094415" cy="365760"/>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Separate model scores from the decoding policy</a:t>
            </a:r>
            <a:endParaRPr lang="en-US" sz="1800" dirty="0"/>
          </a:p>
        </p:txBody>
      </p:sp>
      <p:sp>
        <p:nvSpPr>
          <p:cNvPr id="7" name="Shape 5"/>
          <p:cNvSpPr/>
          <p:nvPr/>
        </p:nvSpPr>
        <p:spPr>
          <a:xfrm>
            <a:off x="3762331" y="2569464"/>
            <a:ext cx="861033" cy="0"/>
          </a:xfrm>
          <a:prstGeom prst="line">
            <a:avLst/>
          </a:prstGeom>
          <a:noFill/>
          <a:ln w="20320">
            <a:solidFill>
              <a:srgbClr val="4F46E5"/>
            </a:solidFill>
            <a:prstDash val="solid"/>
            <a:tailEnd type="triangle"/>
          </a:ln>
        </p:spPr>
      </p:sp>
      <p:sp>
        <p:nvSpPr>
          <p:cNvPr id="8" name="Shape 6"/>
          <p:cNvSpPr/>
          <p:nvPr/>
        </p:nvSpPr>
        <p:spPr>
          <a:xfrm>
            <a:off x="7568331" y="2569464"/>
            <a:ext cx="861033" cy="0"/>
          </a:xfrm>
          <a:prstGeom prst="line">
            <a:avLst/>
          </a:prstGeom>
          <a:noFill/>
          <a:ln w="20320">
            <a:solidFill>
              <a:srgbClr val="4F46E5"/>
            </a:solidFill>
            <a:prstDash val="solid"/>
            <a:tailEnd type="triangle"/>
          </a:ln>
        </p:spPr>
      </p:sp>
      <p:sp>
        <p:nvSpPr>
          <p:cNvPr id="9" name="Shape 7"/>
          <p:cNvSpPr/>
          <p:nvPr/>
        </p:nvSpPr>
        <p:spPr>
          <a:xfrm>
            <a:off x="9901848" y="3621024"/>
            <a:ext cx="0" cy="54864"/>
          </a:xfrm>
          <a:prstGeom prst="line">
            <a:avLst/>
          </a:prstGeom>
          <a:noFill/>
          <a:ln w="20320">
            <a:solidFill>
              <a:srgbClr val="4F46E5"/>
            </a:solidFill>
            <a:prstDash val="solid"/>
            <a:tailEnd type="triangle"/>
          </a:ln>
        </p:spPr>
      </p:sp>
      <p:sp>
        <p:nvSpPr>
          <p:cNvPr id="10" name="Shape 8"/>
          <p:cNvSpPr/>
          <p:nvPr/>
        </p:nvSpPr>
        <p:spPr>
          <a:xfrm flipH="1">
            <a:off x="7568331" y="4398264"/>
            <a:ext cx="861033" cy="0"/>
          </a:xfrm>
          <a:prstGeom prst="line">
            <a:avLst/>
          </a:prstGeom>
          <a:noFill/>
          <a:ln w="20320">
            <a:solidFill>
              <a:srgbClr val="4F46E5"/>
            </a:solidFill>
            <a:prstDash val="solid"/>
            <a:tailEnd type="triangle"/>
          </a:ln>
        </p:spPr>
      </p:sp>
      <p:sp>
        <p:nvSpPr>
          <p:cNvPr id="11" name="Shape 9"/>
          <p:cNvSpPr/>
          <p:nvPr/>
        </p:nvSpPr>
        <p:spPr>
          <a:xfrm flipH="1">
            <a:off x="3762331" y="4398264"/>
            <a:ext cx="861033" cy="0"/>
          </a:xfrm>
          <a:prstGeom prst="line">
            <a:avLst/>
          </a:prstGeom>
          <a:noFill/>
          <a:ln w="20320">
            <a:solidFill>
              <a:srgbClr val="4F46E5"/>
            </a:solidFill>
            <a:prstDash val="solid"/>
            <a:tailEnd type="triangle"/>
          </a:ln>
        </p:spPr>
      </p:sp>
      <p:sp>
        <p:nvSpPr>
          <p:cNvPr id="12" name="Shape 10"/>
          <p:cNvSpPr/>
          <p:nvPr/>
        </p:nvSpPr>
        <p:spPr>
          <a:xfrm>
            <a:off x="872227" y="1883664"/>
            <a:ext cx="2835239" cy="1344168"/>
          </a:xfrm>
          <a:prstGeom prst="rect">
            <a:avLst/>
          </a:prstGeom>
          <a:solidFill>
            <a:srgbClr val="F5F3FF"/>
          </a:solidFill>
          <a:ln w="16510">
            <a:solidFill>
              <a:srgbClr val="4F46E5"/>
            </a:solidFill>
            <a:prstDash val="solid"/>
          </a:ln>
        </p:spPr>
      </p:sp>
      <p:sp>
        <p:nvSpPr>
          <p:cNvPr id="13" name="Text 11"/>
          <p:cNvSpPr txBox="1"/>
          <p:nvPr/>
        </p:nvSpPr>
        <p:spPr>
          <a:xfrm>
            <a:off x="945379"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1. Current prefix</a:t>
            </a:r>
            <a:endParaRPr lang="en-US" sz="1900" dirty="0"/>
          </a:p>
        </p:txBody>
      </p:sp>
      <p:sp>
        <p:nvSpPr>
          <p:cNvPr id="14" name="Text 12"/>
          <p:cNvSpPr txBox="1"/>
          <p:nvPr/>
        </p:nvSpPr>
        <p:spPr>
          <a:xfrm>
            <a:off x="963667"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IDs for text generated so far</a:t>
            </a:r>
            <a:endParaRPr lang="en-US" sz="1700" dirty="0"/>
          </a:p>
        </p:txBody>
      </p:sp>
      <p:sp>
        <p:nvSpPr>
          <p:cNvPr id="15" name="Text 13"/>
          <p:cNvSpPr txBox="1"/>
          <p:nvPr/>
        </p:nvSpPr>
        <p:spPr>
          <a:xfrm>
            <a:off x="927091"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ids</a:t>
            </a:r>
            <a:endParaRPr lang="en-US" sz="1200" dirty="0"/>
          </a:p>
        </p:txBody>
      </p:sp>
      <p:sp>
        <p:nvSpPr>
          <p:cNvPr id="16" name="Text 14"/>
          <p:cNvSpPr txBox="1"/>
          <p:nvPr/>
        </p:nvSpPr>
        <p:spPr>
          <a:xfrm>
            <a:off x="872227"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prefix IDs</a:t>
            </a:r>
            <a:endParaRPr lang="en-US" sz="1500" dirty="0"/>
          </a:p>
        </p:txBody>
      </p:sp>
      <p:sp>
        <p:nvSpPr>
          <p:cNvPr id="17" name="Shape 15"/>
          <p:cNvSpPr/>
          <p:nvPr/>
        </p:nvSpPr>
        <p:spPr>
          <a:xfrm>
            <a:off x="4678228" y="1883664"/>
            <a:ext cx="2835239" cy="1344168"/>
          </a:xfrm>
          <a:prstGeom prst="rect">
            <a:avLst/>
          </a:prstGeom>
          <a:solidFill>
            <a:srgbClr val="F5F3FF"/>
          </a:solidFill>
          <a:ln w="16510">
            <a:solidFill>
              <a:srgbClr val="4F46E5"/>
            </a:solidFill>
            <a:prstDash val="solid"/>
          </a:ln>
        </p:spPr>
      </p:sp>
      <p:sp>
        <p:nvSpPr>
          <p:cNvPr id="18" name="Text 16"/>
          <p:cNvSpPr txBox="1"/>
          <p:nvPr/>
        </p:nvSpPr>
        <p:spPr>
          <a:xfrm>
            <a:off x="4751380"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2. Next-token logits</a:t>
            </a:r>
            <a:endParaRPr lang="en-US" sz="1900" dirty="0"/>
          </a:p>
        </p:txBody>
      </p:sp>
      <p:sp>
        <p:nvSpPr>
          <p:cNvPr id="19" name="Text 17"/>
          <p:cNvSpPr txBox="1"/>
          <p:nvPr/>
        </p:nvSpPr>
        <p:spPr>
          <a:xfrm>
            <a:off x="4769668"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Read the last position's vocabulary scores</a:t>
            </a:r>
            <a:endParaRPr lang="en-US" sz="1700" dirty="0"/>
          </a:p>
        </p:txBody>
      </p:sp>
      <p:sp>
        <p:nvSpPr>
          <p:cNvPr id="20" name="Text 18"/>
          <p:cNvSpPr txBox="1"/>
          <p:nvPr/>
        </p:nvSpPr>
        <p:spPr>
          <a:xfrm>
            <a:off x="4733092"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dec(ids).logits</a:t>
            </a:r>
            <a:endParaRPr lang="en-US" sz="1200" dirty="0"/>
          </a:p>
        </p:txBody>
      </p:sp>
      <p:sp>
        <p:nvSpPr>
          <p:cNvPr id="21" name="Text 19"/>
          <p:cNvSpPr txBox="1"/>
          <p:nvPr/>
        </p:nvSpPr>
        <p:spPr>
          <a:xfrm>
            <a:off x="4678228"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vocabulary scores</a:t>
            </a:r>
            <a:endParaRPr lang="en-US" sz="1500" dirty="0"/>
          </a:p>
        </p:txBody>
      </p:sp>
      <p:sp>
        <p:nvSpPr>
          <p:cNvPr id="22" name="Shape 20"/>
          <p:cNvSpPr/>
          <p:nvPr/>
        </p:nvSpPr>
        <p:spPr>
          <a:xfrm>
            <a:off x="8484229" y="1883664"/>
            <a:ext cx="2835239" cy="1344168"/>
          </a:xfrm>
          <a:prstGeom prst="rect">
            <a:avLst/>
          </a:prstGeom>
          <a:solidFill>
            <a:srgbClr val="F5F3FF"/>
          </a:solidFill>
          <a:ln w="16510">
            <a:solidFill>
              <a:srgbClr val="4F46E5"/>
            </a:solidFill>
            <a:prstDash val="solid"/>
          </a:ln>
        </p:spPr>
      </p:sp>
      <p:sp>
        <p:nvSpPr>
          <p:cNvPr id="23" name="Text 21"/>
          <p:cNvSpPr txBox="1"/>
          <p:nvPr/>
        </p:nvSpPr>
        <p:spPr>
          <a:xfrm>
            <a:off x="8557381"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3. Temperature</a:t>
            </a:r>
            <a:endParaRPr lang="en-US" sz="1900" dirty="0"/>
          </a:p>
        </p:txBody>
      </p:sp>
      <p:sp>
        <p:nvSpPr>
          <p:cNvPr id="24" name="Text 22"/>
          <p:cNvSpPr txBox="1"/>
          <p:nvPr/>
        </p:nvSpPr>
        <p:spPr>
          <a:xfrm>
            <a:off x="8575669"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Rescale scores to change probability concentration</a:t>
            </a:r>
            <a:endParaRPr lang="en-US" sz="1700" dirty="0"/>
          </a:p>
        </p:txBody>
      </p:sp>
      <p:sp>
        <p:nvSpPr>
          <p:cNvPr id="25" name="Text 23"/>
          <p:cNvSpPr txBox="1"/>
          <p:nvPr/>
        </p:nvSpPr>
        <p:spPr>
          <a:xfrm>
            <a:off x="8539093"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sample</a:t>
            </a:r>
            <a:endParaRPr lang="en-US" sz="1200" dirty="0"/>
          </a:p>
        </p:txBody>
      </p:sp>
      <p:sp>
        <p:nvSpPr>
          <p:cNvPr id="26" name="Text 24"/>
          <p:cNvSpPr txBox="1"/>
          <p:nvPr/>
        </p:nvSpPr>
        <p:spPr>
          <a:xfrm>
            <a:off x="8484229"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rescaled scores</a:t>
            </a:r>
            <a:endParaRPr lang="en-US" sz="1500" dirty="0"/>
          </a:p>
        </p:txBody>
      </p:sp>
      <p:sp>
        <p:nvSpPr>
          <p:cNvPr id="27" name="Shape 25"/>
          <p:cNvSpPr/>
          <p:nvPr/>
        </p:nvSpPr>
        <p:spPr>
          <a:xfrm>
            <a:off x="8484229" y="3712464"/>
            <a:ext cx="2835239" cy="1344168"/>
          </a:xfrm>
          <a:prstGeom prst="rect">
            <a:avLst/>
          </a:prstGeom>
          <a:solidFill>
            <a:srgbClr val="F5F3FF"/>
          </a:solidFill>
          <a:ln w="16510">
            <a:solidFill>
              <a:srgbClr val="4F46E5"/>
            </a:solidFill>
            <a:prstDash val="solid"/>
          </a:ln>
        </p:spPr>
      </p:sp>
      <p:sp>
        <p:nvSpPr>
          <p:cNvPr id="28" name="Text 26"/>
          <p:cNvSpPr txBox="1"/>
          <p:nvPr/>
        </p:nvSpPr>
        <p:spPr>
          <a:xfrm>
            <a:off x="8557381"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4. Filter candidates</a:t>
            </a:r>
            <a:endParaRPr lang="en-US" sz="1900" dirty="0"/>
          </a:p>
        </p:txBody>
      </p:sp>
      <p:sp>
        <p:nvSpPr>
          <p:cNvPr id="29" name="Text 27"/>
          <p:cNvSpPr txBox="1"/>
          <p:nvPr/>
        </p:nvSpPr>
        <p:spPr>
          <a:xfrm>
            <a:off x="8575669"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Keep a top-k threshold or top-p probability nucleus</a:t>
            </a:r>
            <a:endParaRPr lang="en-US" sz="1700" dirty="0"/>
          </a:p>
        </p:txBody>
      </p:sp>
      <p:sp>
        <p:nvSpPr>
          <p:cNvPr id="30" name="Text 28"/>
          <p:cNvSpPr txBox="1"/>
          <p:nvPr/>
        </p:nvSpPr>
        <p:spPr>
          <a:xfrm>
            <a:off x="8539093"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top_k_filter / top_p_filter</a:t>
            </a:r>
            <a:endParaRPr lang="en-US" sz="1200" dirty="0"/>
          </a:p>
        </p:txBody>
      </p:sp>
      <p:sp>
        <p:nvSpPr>
          <p:cNvPr id="31" name="Text 29"/>
          <p:cNvSpPr txBox="1"/>
          <p:nvPr/>
        </p:nvSpPr>
        <p:spPr>
          <a:xfrm>
            <a:off x="8484229"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filtered logits</a:t>
            </a:r>
            <a:endParaRPr lang="en-US" sz="1500" dirty="0"/>
          </a:p>
        </p:txBody>
      </p:sp>
      <p:sp>
        <p:nvSpPr>
          <p:cNvPr id="32" name="Shape 30"/>
          <p:cNvSpPr/>
          <p:nvPr/>
        </p:nvSpPr>
        <p:spPr>
          <a:xfrm>
            <a:off x="4678228" y="3712464"/>
            <a:ext cx="2835239" cy="1344168"/>
          </a:xfrm>
          <a:prstGeom prst="rect">
            <a:avLst/>
          </a:prstGeom>
          <a:solidFill>
            <a:srgbClr val="F5F3FF"/>
          </a:solidFill>
          <a:ln w="16510">
            <a:solidFill>
              <a:srgbClr val="4F46E5"/>
            </a:solidFill>
            <a:prstDash val="solid"/>
          </a:ln>
        </p:spPr>
      </p:sp>
      <p:sp>
        <p:nvSpPr>
          <p:cNvPr id="33" name="Text 31"/>
          <p:cNvSpPr txBox="1"/>
          <p:nvPr/>
        </p:nvSpPr>
        <p:spPr>
          <a:xfrm>
            <a:off x="4751380"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5. Sample one ID</a:t>
            </a:r>
            <a:endParaRPr lang="en-US" sz="1900" dirty="0"/>
          </a:p>
        </p:txBody>
      </p:sp>
      <p:sp>
        <p:nvSpPr>
          <p:cNvPr id="34" name="Text 32"/>
          <p:cNvSpPr txBox="1"/>
          <p:nvPr/>
        </p:nvSpPr>
        <p:spPr>
          <a:xfrm>
            <a:off x="4769668"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Draw from the remaining normalised probability distribution</a:t>
            </a:r>
            <a:endParaRPr lang="en-US" sz="1700" dirty="0"/>
          </a:p>
        </p:txBody>
      </p:sp>
      <p:sp>
        <p:nvSpPr>
          <p:cNvPr id="35" name="Text 33"/>
          <p:cNvSpPr txBox="1"/>
          <p:nvPr/>
        </p:nvSpPr>
        <p:spPr>
          <a:xfrm>
            <a:off x="4733092"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torch.multinomial</a:t>
            </a:r>
            <a:endParaRPr lang="en-US" sz="1200" dirty="0"/>
          </a:p>
        </p:txBody>
      </p:sp>
      <p:sp>
        <p:nvSpPr>
          <p:cNvPr id="36" name="Text 34"/>
          <p:cNvSpPr txBox="1"/>
          <p:nvPr/>
        </p:nvSpPr>
        <p:spPr>
          <a:xfrm>
            <a:off x="4678228"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chosen ID</a:t>
            </a:r>
            <a:endParaRPr lang="en-US" sz="1500" dirty="0"/>
          </a:p>
        </p:txBody>
      </p:sp>
      <p:sp>
        <p:nvSpPr>
          <p:cNvPr id="37" name="Shape 35"/>
          <p:cNvSpPr/>
          <p:nvPr/>
        </p:nvSpPr>
        <p:spPr>
          <a:xfrm>
            <a:off x="872227" y="3712464"/>
            <a:ext cx="2835239" cy="1344168"/>
          </a:xfrm>
          <a:prstGeom prst="rect">
            <a:avLst/>
          </a:prstGeom>
          <a:solidFill>
            <a:srgbClr val="F5F3FF"/>
          </a:solidFill>
          <a:ln w="16510">
            <a:solidFill>
              <a:srgbClr val="4F46E5"/>
            </a:solidFill>
            <a:prstDash val="solid"/>
          </a:ln>
        </p:spPr>
      </p:sp>
      <p:sp>
        <p:nvSpPr>
          <p:cNvPr id="38" name="Text 36"/>
          <p:cNvSpPr txBox="1"/>
          <p:nvPr/>
        </p:nvSpPr>
        <p:spPr>
          <a:xfrm>
            <a:off x="945379"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6. Append ID</a:t>
            </a:r>
            <a:endParaRPr lang="en-US" sz="1900" dirty="0"/>
          </a:p>
        </p:txBody>
      </p:sp>
      <p:sp>
        <p:nvSpPr>
          <p:cNvPr id="39" name="Text 37"/>
          <p:cNvSpPr txBox="1"/>
          <p:nvPr/>
        </p:nvSpPr>
        <p:spPr>
          <a:xfrm>
            <a:off x="963667"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The chosen token becomes part of the next prefix</a:t>
            </a:r>
            <a:endParaRPr lang="en-US" sz="1700" dirty="0"/>
          </a:p>
        </p:txBody>
      </p:sp>
      <p:sp>
        <p:nvSpPr>
          <p:cNvPr id="40" name="Text 38"/>
          <p:cNvSpPr txBox="1"/>
          <p:nvPr/>
        </p:nvSpPr>
        <p:spPr>
          <a:xfrm>
            <a:off x="927091"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sample</a:t>
            </a:r>
            <a:endParaRPr lang="en-US" sz="1200" dirty="0"/>
          </a:p>
        </p:txBody>
      </p:sp>
      <p:sp>
        <p:nvSpPr>
          <p:cNvPr id="41" name="Shape 39"/>
          <p:cNvSpPr/>
          <p:nvPr/>
        </p:nvSpPr>
        <p:spPr>
          <a:xfrm>
            <a:off x="2289847" y="5422392"/>
            <a:ext cx="0" cy="109728"/>
          </a:xfrm>
          <a:prstGeom prst="line">
            <a:avLst/>
          </a:prstGeom>
          <a:noFill/>
          <a:ln w="20320">
            <a:solidFill>
              <a:srgbClr val="0F766E"/>
            </a:solidFill>
            <a:prstDash val="dash"/>
          </a:ln>
        </p:spPr>
      </p:sp>
      <p:sp>
        <p:nvSpPr>
          <p:cNvPr id="42" name="Shape 40"/>
          <p:cNvSpPr/>
          <p:nvPr/>
        </p:nvSpPr>
        <p:spPr>
          <a:xfrm flipH="1">
            <a:off x="603504" y="5532120"/>
            <a:ext cx="1686343" cy="0"/>
          </a:xfrm>
          <a:prstGeom prst="line">
            <a:avLst/>
          </a:prstGeom>
          <a:noFill/>
          <a:ln w="20320">
            <a:solidFill>
              <a:srgbClr val="0F766E"/>
            </a:solidFill>
            <a:prstDash val="dash"/>
          </a:ln>
        </p:spPr>
      </p:sp>
      <p:sp>
        <p:nvSpPr>
          <p:cNvPr id="43" name="Shape 41"/>
          <p:cNvSpPr/>
          <p:nvPr/>
        </p:nvSpPr>
        <p:spPr>
          <a:xfrm flipV="1">
            <a:off x="603504" y="1828800"/>
            <a:ext cx="0" cy="3703320"/>
          </a:xfrm>
          <a:prstGeom prst="line">
            <a:avLst/>
          </a:prstGeom>
          <a:noFill/>
          <a:ln w="20320">
            <a:solidFill>
              <a:srgbClr val="0F766E"/>
            </a:solidFill>
            <a:prstDash val="dash"/>
          </a:ln>
        </p:spPr>
      </p:sp>
      <p:sp>
        <p:nvSpPr>
          <p:cNvPr id="44" name="Shape 42"/>
          <p:cNvSpPr/>
          <p:nvPr/>
        </p:nvSpPr>
        <p:spPr>
          <a:xfrm>
            <a:off x="603504" y="1828800"/>
            <a:ext cx="1686343" cy="0"/>
          </a:xfrm>
          <a:prstGeom prst="line">
            <a:avLst/>
          </a:prstGeom>
          <a:noFill/>
          <a:ln w="20320">
            <a:solidFill>
              <a:srgbClr val="0F766E"/>
            </a:solidFill>
            <a:prstDash val="dash"/>
          </a:ln>
        </p:spPr>
      </p:sp>
      <p:sp>
        <p:nvSpPr>
          <p:cNvPr id="45" name="Shape 43"/>
          <p:cNvSpPr/>
          <p:nvPr/>
        </p:nvSpPr>
        <p:spPr>
          <a:xfrm>
            <a:off x="2289847" y="1828800"/>
            <a:ext cx="0" cy="36576"/>
          </a:xfrm>
          <a:prstGeom prst="line">
            <a:avLst/>
          </a:prstGeom>
          <a:noFill/>
          <a:ln w="20320">
            <a:solidFill>
              <a:srgbClr val="0F766E"/>
            </a:solidFill>
            <a:prstDash val="dash"/>
            <a:tailEnd type="triangle"/>
          </a:ln>
        </p:spPr>
      </p:sp>
      <p:sp>
        <p:nvSpPr>
          <p:cNvPr id="46" name="Text 44"/>
          <p:cNvSpPr txBox="1"/>
          <p:nvPr/>
        </p:nvSpPr>
        <p:spPr>
          <a:xfrm>
            <a:off x="685800" y="5577840"/>
            <a:ext cx="10820095" cy="438912"/>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Repeat: Run the next iteration with the extended prefix</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Decoding strategies compared</a:t>
            </a:r>
            <a:endParaRPr lang="en-US" sz="3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1793240"/>
                <a:gridCol w="3522162"/>
                <a:gridCol w="3042082"/>
                <a:gridCol w="2736931"/>
              </a:tblGrid>
              <a:tr h="0">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Strategy</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How it works</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Good for</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Watch out for</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1800" b="1" dirty="0">
                          <a:solidFill>
                            <a:srgbClr val="1F2937"/>
                          </a:solidFill>
                          <a:latin typeface="Calibri" pitchFamily="34" charset="0"/>
                          <a:ea typeface="Calibri" pitchFamily="34" charset="-122"/>
                          <a:cs typeface="Calibri" pitchFamily="34" charset="-120"/>
                        </a:rPr>
                        <a:t>Greedy</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Always take the most likely token</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Short factual answers, extraction</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Repetition loops; dull text</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800" b="1" dirty="0">
                          <a:solidFill>
                            <a:srgbClr val="1F2937"/>
                          </a:solidFill>
                          <a:latin typeface="Calibri" pitchFamily="34" charset="0"/>
                          <a:ea typeface="Calibri" pitchFamily="34" charset="-122"/>
                          <a:cs typeface="Calibri" pitchFamily="34" charset="-120"/>
                        </a:rPr>
                        <a:t>Beam search</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Keep the k most likely partial sequences</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Translation, summarisation (encoder–decoder)</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Generic, short outputs in open-ended chat</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1F2937"/>
                          </a:solidFill>
                          <a:latin typeface="Calibri" pitchFamily="34" charset="0"/>
                          <a:ea typeface="Calibri" pitchFamily="34" charset="-122"/>
                          <a:cs typeface="Calibri" pitchFamily="34" charset="-120"/>
                        </a:rPr>
                        <a:t>Temperature</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Rescale logits by 1/T, then sample</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Controlling creativity</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High T: errors; T → 0 = greedy</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800" b="1" dirty="0">
                          <a:solidFill>
                            <a:srgbClr val="1F2937"/>
                          </a:solidFill>
                          <a:latin typeface="Calibri" pitchFamily="34" charset="0"/>
                          <a:ea typeface="Calibri" pitchFamily="34" charset="-122"/>
                          <a:cs typeface="Calibri" pitchFamily="34" charset="-120"/>
                        </a:rPr>
                        <a:t>Top-k</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Sample among the k most likely tokens</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Removing the unlikely tail</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Fixed k ignores model confidence</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1F2937"/>
                          </a:solidFill>
                          <a:latin typeface="Calibri" pitchFamily="34" charset="0"/>
                          <a:ea typeface="Calibri" pitchFamily="34" charset="-122"/>
                          <a:cs typeface="Calibri" pitchFamily="34" charset="-120"/>
                        </a:rPr>
                        <a:t>Top-p (nucleus)</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Sample among the smallest set with total probability p</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General chat and writing</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Combine carefully with temperature</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800" b="1" dirty="0">
                          <a:solidFill>
                            <a:srgbClr val="1F2937"/>
                          </a:solidFill>
                          <a:latin typeface="Calibri" pitchFamily="34" charset="0"/>
                          <a:ea typeface="Calibri" pitchFamily="34" charset="-122"/>
                          <a:cs typeface="Calibri" pitchFamily="34" charset="-120"/>
                        </a:rPr>
                        <a:t>Repetition penalty</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Down-weight tokens already used</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Long generations</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Can distort facts, names, code</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Real next-token distributions from a small open LLM</a:t>
            </a:r>
            <a:endParaRPr lang="en-US" sz="3200" dirty="0"/>
          </a:p>
        </p:txBody>
      </p:sp>
      <p:pic>
        <p:nvPicPr>
          <p:cNvPr id="6" name="Image 0" descr="C:\Users\sudee\Downloads\Generative_AI_2027_Teaching_Pack\AI2027_Project\build\figures\week_06\next_token.png">    </p:cNvPr>
          <p:cNvPicPr>
            <a:picLocks noChangeAspect="1"/>
          </p:cNvPicPr>
          <p:nvPr/>
        </p:nvPicPr>
        <p:blipFill>
          <a:blip r:embed="rId1"/>
          <a:stretch>
            <a:fillRect/>
          </a:stretch>
        </p:blipFill>
        <p:spPr>
          <a:xfrm>
            <a:off x="2591680" y="1481328"/>
            <a:ext cx="7008335" cy="2795778"/>
          </a:xfrm>
          <a:prstGeom prst="rect">
            <a:avLst/>
          </a:prstGeom>
        </p:spPr>
      </p:pic>
      <p:sp>
        <p:nvSpPr>
          <p:cNvPr id="7" name="Text 4"/>
          <p:cNvSpPr txBox="1"/>
          <p:nvPr/>
        </p:nvSpPr>
        <p:spPr>
          <a:xfrm>
            <a:off x="548640" y="4459986"/>
            <a:ext cx="11094415" cy="1849374"/>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Even a factual prefix continues in many ways (' located', ' the', ' Dublin'); the top token ' ______' comes from fill-in-the-blank worksheets in web text.</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An open prompt spreads probability even more thinly: sampling gives variety, and top-p adapts to the spread.</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A base model </a:t>
            </a:r>
            <a:pPr indent="0" marL="0">
              <a:buNone/>
            </a:pPr>
            <a:r>
              <a:rPr lang="en-US" sz="1800" b="1" dirty="0">
                <a:solidFill>
                  <a:srgbClr val="1F2937"/>
                </a:solidFill>
                <a:latin typeface="Calibri" pitchFamily="34" charset="0"/>
                <a:ea typeface="Calibri" pitchFamily="34" charset="-122"/>
                <a:cs typeface="Calibri" pitchFamily="34" charset="-120"/>
              </a:rPr>
              <a:t>continues text</a:t>
            </a:r>
            <a:pPr indent="0" marL="0">
              <a:buNone/>
            </a:pPr>
            <a:r>
              <a:rPr lang="en-US" sz="1800" dirty="0">
                <a:solidFill>
                  <a:srgbClr val="1F2937"/>
                </a:solidFill>
                <a:latin typeface="Calibri" pitchFamily="34" charset="0"/>
                <a:ea typeface="Calibri" pitchFamily="34" charset="-122"/>
                <a:cs typeface="Calibri" pitchFamily="34" charset="-120"/>
              </a:rPr>
              <a:t>; it does not answer. Post-training (week 8) makes it answer 'Dublin'.</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You build a tool that extracts invoice numbers and totals into JSON. Which decoding setting is most appropriate?</a:t>
            </a:r>
            <a:endParaRPr lang="en-US" sz="24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Temperature 1.5 with top-p 0.95, for variety</a:t>
            </a:r>
            <a:endParaRPr lang="en-US" sz="18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Greedy decoding (temperature 0) plus output validation</a:t>
            </a:r>
            <a:endParaRPr lang="en-US" sz="18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Beam search with a large repetition penalty</a:t>
            </a:r>
            <a:endParaRPr lang="en-US" sz="18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High top-k so rare tokens can appear</a:t>
            </a:r>
            <a:endParaRPr lang="en-US" sz="18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300" i="1" dirty="0">
                <a:solidFill>
                  <a:srgbClr val="6B7280"/>
                </a:solidFill>
                <a:latin typeface="Calibri" pitchFamily="34" charset="0"/>
                <a:ea typeface="Calibri" pitchFamily="34" charset="-122"/>
                <a:cs typeface="Calibri" pitchFamily="34" charset="-120"/>
              </a:rPr>
              <a:t>Vote, then convince your neighbour (1 minute).</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04</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LLM families</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GPT, BERT, LLaMA, T5, Claude, Gemini, Qwen…: how do they relate?</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 family tree of transformer language models</a:t>
            </a:r>
            <a:endParaRPr lang="en-US" sz="3200" dirty="0"/>
          </a:p>
        </p:txBody>
      </p:sp>
      <p:pic>
        <p:nvPicPr>
          <p:cNvPr id="6" name="Image 0" descr="C:\Users\sudee\Downloads\Generative_AI_2027_Teaching_Pack\AI2027_Project\build\figures\week_06\family_tree.png">    </p:cNvPr>
          <p:cNvPicPr>
            <a:picLocks noChangeAspect="1"/>
          </p:cNvPicPr>
          <p:nvPr/>
        </p:nvPicPr>
        <p:blipFill>
          <a:blip r:embed="rId1"/>
          <a:stretch>
            <a:fillRect/>
          </a:stretch>
        </p:blipFill>
        <p:spPr>
          <a:xfrm>
            <a:off x="663002" y="1481328"/>
            <a:ext cx="10865690" cy="4828032"/>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BERT vs. T5 vs. GPT-style: same input, different jobs</a:t>
            </a:r>
            <a:endParaRPr lang="en-US" sz="3200" dirty="0"/>
          </a:p>
        </p:txBody>
      </p:sp>
      <p:sp>
        <p:nvSpPr>
          <p:cNvPr id="6" name="Shape 4"/>
          <p:cNvSpPr/>
          <p:nvPr/>
        </p:nvSpPr>
        <p:spPr>
          <a:xfrm>
            <a:off x="548640" y="1481328"/>
            <a:ext cx="3515258" cy="566928"/>
          </a:xfrm>
          <a:prstGeom prst="roundRect">
            <a:avLst>
              <a:gd name="adj" fmla="val 16129"/>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713232" y="1591056"/>
            <a:ext cx="347472" cy="347472"/>
          </a:xfrm>
          <a:prstGeom prst="rect">
            <a:avLst/>
          </a:prstGeom>
        </p:spPr>
      </p:pic>
      <p:sp>
        <p:nvSpPr>
          <p:cNvPr id="8" name="Text 5"/>
          <p:cNvSpPr txBox="1"/>
          <p:nvPr/>
        </p:nvSpPr>
        <p:spPr>
          <a:xfrm>
            <a:off x="1143000" y="1481328"/>
            <a:ext cx="278373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BERT (encoder)</a:t>
            </a:r>
            <a:endParaRPr lang="en-US" sz="1800" dirty="0"/>
          </a:p>
        </p:txBody>
      </p:sp>
      <p:sp>
        <p:nvSpPr>
          <p:cNvPr id="9" name="Shape 6"/>
          <p:cNvSpPr/>
          <p:nvPr/>
        </p:nvSpPr>
        <p:spPr>
          <a:xfrm>
            <a:off x="548640" y="2167128"/>
            <a:ext cx="3515258" cy="4142232"/>
          </a:xfrm>
          <a:prstGeom prst="roundRect">
            <a:avLst>
              <a:gd name="adj" fmla="val 2601"/>
            </a:avLst>
          </a:prstGeom>
          <a:solidFill>
            <a:srgbClr val="EEF0FF"/>
          </a:solidFill>
          <a:ln w="12700">
            <a:solidFill>
              <a:srgbClr val="EEF0FF"/>
            </a:solidFill>
            <a:prstDash val="solid"/>
          </a:ln>
        </p:spPr>
      </p:sp>
      <p:sp>
        <p:nvSpPr>
          <p:cNvPr id="10" name="Text 7"/>
          <p:cNvSpPr txBox="1"/>
          <p:nvPr/>
        </p:nvSpPr>
        <p:spPr>
          <a:xfrm>
            <a:off x="658368" y="2258568"/>
            <a:ext cx="329580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Fills in a </a:t>
            </a:r>
            <a:pPr indent="0" marL="0">
              <a:buNone/>
            </a:pPr>
            <a:r>
              <a:rPr lang="en-US" sz="2000" b="1" dirty="0">
                <a:solidFill>
                  <a:srgbClr val="1F2937"/>
                </a:solidFill>
                <a:latin typeface="Calibri" pitchFamily="34" charset="0"/>
                <a:ea typeface="Calibri" pitchFamily="34" charset="-122"/>
                <a:cs typeface="Calibri" pitchFamily="34" charset="-120"/>
              </a:rPr>
              <a:t>[MASK]</a:t>
            </a:r>
            <a:pPr indent="0" marL="0">
              <a:buNone/>
            </a:pPr>
            <a:r>
              <a:rPr lang="en-US" sz="2000" dirty="0">
                <a:solidFill>
                  <a:srgbClr val="1F2937"/>
                </a:solidFill>
                <a:latin typeface="Calibri" pitchFamily="34" charset="0"/>
                <a:ea typeface="Calibri" pitchFamily="34" charset="-122"/>
                <a:cs typeface="Calibri" pitchFamily="34" charset="-120"/>
              </a:rPr>
              <a:t> using both sides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Output: probabilities for the masked word, or a vector</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Use: classification, entity tagging, embeddings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Not a free-text generator</a:t>
            </a:r>
            <a:endParaRPr lang="en-US" sz="2000" dirty="0"/>
          </a:p>
        </p:txBody>
      </p:sp>
      <p:sp>
        <p:nvSpPr>
          <p:cNvPr id="11" name="Shape 8"/>
          <p:cNvSpPr/>
          <p:nvPr/>
        </p:nvSpPr>
        <p:spPr>
          <a:xfrm>
            <a:off x="4338218" y="1481328"/>
            <a:ext cx="3515258" cy="566928"/>
          </a:xfrm>
          <a:prstGeom prst="roundRect">
            <a:avLst>
              <a:gd name="adj" fmla="val 16129"/>
            </a:avLst>
          </a:prstGeom>
          <a:solidFill>
            <a:srgbClr val="0F766E"/>
          </a:solidFill>
          <a:ln w="12700">
            <a:solidFill>
              <a:srgbClr val="0F766E"/>
            </a:solidFill>
            <a:prstDash val="solid"/>
          </a:ln>
        </p:spPr>
      </p:sp>
      <p:pic>
        <p:nvPicPr>
          <p:cNvPr id="12" name="Image 1" descr="preencoded.png">    </p:cNvPr>
          <p:cNvPicPr>
            <a:picLocks noChangeAspect="1"/>
          </p:cNvPicPr>
          <p:nvPr/>
        </p:nvPicPr>
        <p:blipFill>
          <a:blip r:embed="rId2"/>
          <a:stretch>
            <a:fillRect/>
          </a:stretch>
        </p:blipFill>
        <p:spPr>
          <a:xfrm>
            <a:off x="4502810" y="1591056"/>
            <a:ext cx="347472" cy="347472"/>
          </a:xfrm>
          <a:prstGeom prst="rect">
            <a:avLst/>
          </a:prstGeom>
        </p:spPr>
      </p:pic>
      <p:sp>
        <p:nvSpPr>
          <p:cNvPr id="13" name="Text 9"/>
          <p:cNvSpPr txBox="1"/>
          <p:nvPr/>
        </p:nvSpPr>
        <p:spPr>
          <a:xfrm>
            <a:off x="4932578" y="1481328"/>
            <a:ext cx="278373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T5 / Flan-T5 (enc–dec)</a:t>
            </a:r>
            <a:endParaRPr lang="en-US" sz="1800" dirty="0"/>
          </a:p>
        </p:txBody>
      </p:sp>
      <p:sp>
        <p:nvSpPr>
          <p:cNvPr id="14" name="Shape 10"/>
          <p:cNvSpPr/>
          <p:nvPr/>
        </p:nvSpPr>
        <p:spPr>
          <a:xfrm>
            <a:off x="4338218" y="2167128"/>
            <a:ext cx="3515258" cy="4142232"/>
          </a:xfrm>
          <a:prstGeom prst="roundRect">
            <a:avLst>
              <a:gd name="adj" fmla="val 2601"/>
            </a:avLst>
          </a:prstGeom>
          <a:solidFill>
            <a:srgbClr val="E6F4F1"/>
          </a:solidFill>
          <a:ln w="12700">
            <a:solidFill>
              <a:srgbClr val="E6F4F1"/>
            </a:solidFill>
            <a:prstDash val="solid"/>
          </a:ln>
        </p:spPr>
      </p:sp>
      <p:sp>
        <p:nvSpPr>
          <p:cNvPr id="15" name="Text 11"/>
          <p:cNvSpPr txBox="1"/>
          <p:nvPr/>
        </p:nvSpPr>
        <p:spPr>
          <a:xfrm>
            <a:off x="4447946" y="2258568"/>
            <a:ext cx="329580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Every task as </a:t>
            </a:r>
            <a:pPr indent="0" marL="0">
              <a:buNone/>
            </a:pPr>
            <a:r>
              <a:rPr lang="en-US" sz="2000" b="1" dirty="0">
                <a:solidFill>
                  <a:srgbClr val="1F2937"/>
                </a:solidFill>
                <a:latin typeface="Calibri" pitchFamily="34" charset="0"/>
                <a:ea typeface="Calibri" pitchFamily="34" charset="-122"/>
                <a:cs typeface="Calibri" pitchFamily="34" charset="-120"/>
              </a:rPr>
              <a:t>text-to-text</a:t>
            </a:r>
            <a:pPr indent="0" marL="0">
              <a:buNone/>
            </a:pPr>
            <a:r>
              <a:rPr lang="en-US" sz="2000" dirty="0">
                <a:solidFill>
                  <a:srgbClr val="1F2937"/>
                </a:solidFill>
                <a:latin typeface="Calibri" pitchFamily="34" charset="0"/>
                <a:ea typeface="Calibri" pitchFamily="34" charset="-122"/>
                <a:cs typeface="Calibri" pitchFamily="34" charset="-120"/>
              </a:rPr>
              <a:t>: 'translate…', 'summarize…'</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Output: a new text conditioned on the input</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Use: translation, summarisation, QA</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Instruction-tuned Flan versions follow prompts</a:t>
            </a:r>
            <a:endParaRPr lang="en-US" sz="2000" dirty="0"/>
          </a:p>
        </p:txBody>
      </p:sp>
      <p:sp>
        <p:nvSpPr>
          <p:cNvPr id="16" name="Shape 12"/>
          <p:cNvSpPr/>
          <p:nvPr/>
        </p:nvSpPr>
        <p:spPr>
          <a:xfrm>
            <a:off x="8127797" y="1481328"/>
            <a:ext cx="3515258" cy="566928"/>
          </a:xfrm>
          <a:prstGeom prst="roundRect">
            <a:avLst>
              <a:gd name="adj" fmla="val 16129"/>
            </a:avLst>
          </a:prstGeom>
          <a:solidFill>
            <a:srgbClr val="EA580C"/>
          </a:solidFill>
          <a:ln w="12700">
            <a:solidFill>
              <a:srgbClr val="EA580C"/>
            </a:solidFill>
            <a:prstDash val="solid"/>
          </a:ln>
        </p:spPr>
      </p:sp>
      <p:pic>
        <p:nvPicPr>
          <p:cNvPr id="17" name="Image 2" descr="preencoded.png">    </p:cNvPr>
          <p:cNvPicPr>
            <a:picLocks noChangeAspect="1"/>
          </p:cNvPicPr>
          <p:nvPr/>
        </p:nvPicPr>
        <p:blipFill>
          <a:blip r:embed="rId3"/>
          <a:stretch>
            <a:fillRect/>
          </a:stretch>
        </p:blipFill>
        <p:spPr>
          <a:xfrm>
            <a:off x="8292389" y="1591056"/>
            <a:ext cx="347472" cy="347472"/>
          </a:xfrm>
          <a:prstGeom prst="rect">
            <a:avLst/>
          </a:prstGeom>
        </p:spPr>
      </p:pic>
      <p:sp>
        <p:nvSpPr>
          <p:cNvPr id="18" name="Text 13"/>
          <p:cNvSpPr txBox="1"/>
          <p:nvPr/>
        </p:nvSpPr>
        <p:spPr>
          <a:xfrm>
            <a:off x="8722157" y="1481328"/>
            <a:ext cx="278373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GPT-style (decoder)</a:t>
            </a:r>
            <a:endParaRPr lang="en-US" sz="1800" dirty="0"/>
          </a:p>
        </p:txBody>
      </p:sp>
      <p:sp>
        <p:nvSpPr>
          <p:cNvPr id="19" name="Shape 14"/>
          <p:cNvSpPr/>
          <p:nvPr/>
        </p:nvSpPr>
        <p:spPr>
          <a:xfrm>
            <a:off x="8127797" y="2167128"/>
            <a:ext cx="3515258" cy="4142232"/>
          </a:xfrm>
          <a:prstGeom prst="roundRect">
            <a:avLst>
              <a:gd name="adj" fmla="val 2601"/>
            </a:avLst>
          </a:prstGeom>
          <a:solidFill>
            <a:srgbClr val="FFF1E6"/>
          </a:solidFill>
          <a:ln w="12700">
            <a:solidFill>
              <a:srgbClr val="FFF1E6"/>
            </a:solidFill>
            <a:prstDash val="solid"/>
          </a:ln>
        </p:spPr>
      </p:sp>
      <p:sp>
        <p:nvSpPr>
          <p:cNvPr id="20" name="Text 15"/>
          <p:cNvSpPr txBox="1"/>
          <p:nvPr/>
        </p:nvSpPr>
        <p:spPr>
          <a:xfrm>
            <a:off x="8237525" y="2258568"/>
            <a:ext cx="329580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b="1" dirty="0">
                <a:solidFill>
                  <a:srgbClr val="1F2937"/>
                </a:solidFill>
                <a:latin typeface="Calibri" pitchFamily="34" charset="0"/>
                <a:ea typeface="Calibri" pitchFamily="34" charset="-122"/>
                <a:cs typeface="Calibri" pitchFamily="34" charset="-120"/>
              </a:rPr>
              <a:t>Continues</a:t>
            </a:r>
            <a:pPr indent="0" marL="0">
              <a:buNone/>
            </a:pPr>
            <a:r>
              <a:rPr lang="en-US" sz="2000" dirty="0">
                <a:solidFill>
                  <a:srgbClr val="1F2937"/>
                </a:solidFill>
                <a:latin typeface="Calibri" pitchFamily="34" charset="0"/>
                <a:ea typeface="Calibri" pitchFamily="34" charset="-122"/>
                <a:cs typeface="Calibri" pitchFamily="34" charset="-120"/>
              </a:rPr>
              <a:t> text; chat models continue a conversation</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Output: open-ended generation</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Use: chat, writing, code, reasoning, agents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The family behind almost all assistants</a:t>
            </a:r>
            <a:endParaRPr lang="en-US" sz="2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Proprietary and open-weight families (examples, 2026)</a:t>
            </a:r>
            <a:endParaRPr lang="en-US" sz="3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1366520"/>
                <a:gridCol w="1594437"/>
                <a:gridCol w="3212265"/>
                <a:gridCol w="4921194"/>
              </a:tblGrid>
              <a:tr h="0">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Family</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Developer</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Access</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Notes</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1700" b="1" dirty="0">
                          <a:solidFill>
                            <a:srgbClr val="1F2937"/>
                          </a:solidFill>
                          <a:latin typeface="Calibri" pitchFamily="34" charset="0"/>
                          <a:ea typeface="Calibri" pitchFamily="34" charset="-122"/>
                          <a:cs typeface="Calibri" pitchFamily="34" charset="-120"/>
                        </a:rPr>
                        <a:t>GPT</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OpenAI</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Proprietary API/app</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Also open-weight gpt-oss models (2025)</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700" b="1" dirty="0">
                          <a:solidFill>
                            <a:srgbClr val="1F2937"/>
                          </a:solidFill>
                          <a:latin typeface="Calibri" pitchFamily="34" charset="0"/>
                          <a:ea typeface="Calibri" pitchFamily="34" charset="-122"/>
                          <a:cs typeface="Calibri" pitchFamily="34" charset="-120"/>
                        </a:rPr>
                        <a:t>Claude</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Anthropic</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Proprietary API/app</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Strong at long documents and code</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700" b="1" dirty="0">
                          <a:solidFill>
                            <a:srgbClr val="1F2937"/>
                          </a:solidFill>
                          <a:latin typeface="Calibri" pitchFamily="34" charset="0"/>
                          <a:ea typeface="Calibri" pitchFamily="34" charset="-122"/>
                          <a:cs typeface="Calibri" pitchFamily="34" charset="-120"/>
                        </a:rPr>
                        <a:t>Gemini</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Google</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Proprietary API/app</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Natively multimodal; Gemma = open-weight sibling</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700" b="1" dirty="0">
                          <a:solidFill>
                            <a:srgbClr val="1F2937"/>
                          </a:solidFill>
                          <a:latin typeface="Calibri" pitchFamily="34" charset="0"/>
                          <a:ea typeface="Calibri" pitchFamily="34" charset="-122"/>
                          <a:cs typeface="Calibri" pitchFamily="34" charset="-120"/>
                        </a:rPr>
                        <a:t>Llama</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Meta</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Open-weight (community licence)</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Gated download; licence conditions</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700" b="1" dirty="0">
                          <a:solidFill>
                            <a:srgbClr val="1F2937"/>
                          </a:solidFill>
                          <a:latin typeface="Calibri" pitchFamily="34" charset="0"/>
                          <a:ea typeface="Calibri" pitchFamily="34" charset="-122"/>
                          <a:cs typeface="Calibri" pitchFamily="34" charset="-120"/>
                        </a:rPr>
                        <a:t>Qwen</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Alibaba</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Open-weight (mostly Apache 2.0)</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Many sizes; strong multilingual and code</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700" b="1" dirty="0">
                          <a:solidFill>
                            <a:srgbClr val="1F2937"/>
                          </a:solidFill>
                          <a:latin typeface="Calibri" pitchFamily="34" charset="0"/>
                          <a:ea typeface="Calibri" pitchFamily="34" charset="-122"/>
                          <a:cs typeface="Calibri" pitchFamily="34" charset="-120"/>
                        </a:rPr>
                        <a:t>DeepSeek</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DeepSeek</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Open-weight (MIT for R1)</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MoE; open reasoning model R1 (2025)</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700" b="1" dirty="0">
                          <a:solidFill>
                            <a:srgbClr val="1F2937"/>
                          </a:solidFill>
                          <a:latin typeface="Calibri" pitchFamily="34" charset="0"/>
                          <a:ea typeface="Calibri" pitchFamily="34" charset="-122"/>
                          <a:cs typeface="Calibri" pitchFamily="34" charset="-120"/>
                        </a:rPr>
                        <a:t>Mistral</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Mistral AI</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Open-weight and proprietary</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European; MoE (Mixtral)</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700" b="1" dirty="0">
                          <a:solidFill>
                            <a:srgbClr val="1F2937"/>
                          </a:solidFill>
                          <a:latin typeface="Calibri" pitchFamily="34" charset="0"/>
                          <a:ea typeface="Calibri" pitchFamily="34" charset="-122"/>
                          <a:cs typeface="Calibri" pitchFamily="34" charset="-120"/>
                        </a:rPr>
                        <a:t>Phi / OLMo</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Microsoft / AI2</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Open-weight (MIT / Apache)</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Small models; OLMo also releases data and code</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Newer categories that matter when choosing</a:t>
            </a:r>
            <a:endParaRPr lang="en-US" sz="3200" dirty="0"/>
          </a:p>
        </p:txBody>
      </p:sp>
      <p:sp>
        <p:nvSpPr>
          <p:cNvPr id="6" name="Shape 4"/>
          <p:cNvSpPr/>
          <p:nvPr/>
        </p:nvSpPr>
        <p:spPr>
          <a:xfrm>
            <a:off x="548640" y="1481328"/>
            <a:ext cx="541004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444992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Small language models</a:t>
            </a:r>
            <a:endParaRPr lang="en-US" sz="1900" dirty="0"/>
          </a:p>
        </p:txBody>
      </p:sp>
      <p:sp>
        <p:nvSpPr>
          <p:cNvPr id="10" name="Text 7"/>
          <p:cNvSpPr txBox="1"/>
          <p:nvPr/>
        </p:nvSpPr>
        <p:spPr>
          <a:xfrm>
            <a:off x="731520" y="2304288"/>
            <a:ext cx="504428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0.1–8 B parameters (e.g. Phi, Gemma, Qwen small, SmolLM): run on laptops and phones; good for narrow tasks; cheaper and private.</a:t>
            </a:r>
            <a:endParaRPr lang="en-US" sz="1900" dirty="0"/>
          </a:p>
        </p:txBody>
      </p:sp>
      <p:sp>
        <p:nvSpPr>
          <p:cNvPr id="11" name="Shape 8"/>
          <p:cNvSpPr/>
          <p:nvPr/>
        </p:nvSpPr>
        <p:spPr>
          <a:xfrm>
            <a:off x="6233008" y="1481328"/>
            <a:ext cx="541004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641588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6547561" y="1795882"/>
            <a:ext cx="285293" cy="285293"/>
          </a:xfrm>
          <a:prstGeom prst="rect">
            <a:avLst/>
          </a:prstGeom>
        </p:spPr>
      </p:pic>
      <p:sp>
        <p:nvSpPr>
          <p:cNvPr id="14" name="Text 10"/>
          <p:cNvSpPr txBox="1"/>
          <p:nvPr/>
        </p:nvSpPr>
        <p:spPr>
          <a:xfrm>
            <a:off x="7055968" y="1645920"/>
            <a:ext cx="444992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Mixture-of-experts</a:t>
            </a:r>
            <a:endParaRPr lang="en-US" sz="1900" dirty="0"/>
          </a:p>
        </p:txBody>
      </p:sp>
      <p:sp>
        <p:nvSpPr>
          <p:cNvPr id="15" name="Text 11"/>
          <p:cNvSpPr txBox="1"/>
          <p:nvPr/>
        </p:nvSpPr>
        <p:spPr>
          <a:xfrm>
            <a:off x="6415888" y="2304288"/>
            <a:ext cx="504428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Huge total size, few active parameters per token (week 5): strong quality per unit of compute; need lots of memory.</a:t>
            </a:r>
            <a:endParaRPr lang="en-US" sz="1900" dirty="0"/>
          </a:p>
        </p:txBody>
      </p:sp>
      <p:sp>
        <p:nvSpPr>
          <p:cNvPr id="16" name="Shape 12"/>
          <p:cNvSpPr/>
          <p:nvPr/>
        </p:nvSpPr>
        <p:spPr>
          <a:xfrm>
            <a:off x="548640" y="4032504"/>
            <a:ext cx="541004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731520" y="4215384"/>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63194" y="4347058"/>
            <a:ext cx="285293" cy="285293"/>
          </a:xfrm>
          <a:prstGeom prst="rect">
            <a:avLst/>
          </a:prstGeom>
        </p:spPr>
      </p:pic>
      <p:sp>
        <p:nvSpPr>
          <p:cNvPr id="19" name="Text 14"/>
          <p:cNvSpPr txBox="1"/>
          <p:nvPr/>
        </p:nvSpPr>
        <p:spPr>
          <a:xfrm>
            <a:off x="1371600" y="4197096"/>
            <a:ext cx="444992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Reasoning models</a:t>
            </a:r>
            <a:endParaRPr lang="en-US" sz="1900" dirty="0"/>
          </a:p>
        </p:txBody>
      </p:sp>
      <p:sp>
        <p:nvSpPr>
          <p:cNvPr id="20" name="Text 15"/>
          <p:cNvSpPr txBox="1"/>
          <p:nvPr/>
        </p:nvSpPr>
        <p:spPr>
          <a:xfrm>
            <a:off x="731520" y="4855464"/>
            <a:ext cx="504428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Trained to 'think' step by step before answering; better at maths and code; slower and costlier.</a:t>
            </a:r>
            <a:endParaRPr lang="en-US" sz="1900" dirty="0"/>
          </a:p>
        </p:txBody>
      </p:sp>
      <p:sp>
        <p:nvSpPr>
          <p:cNvPr id="21" name="Shape 16"/>
          <p:cNvSpPr/>
          <p:nvPr/>
        </p:nvSpPr>
        <p:spPr>
          <a:xfrm>
            <a:off x="6233008" y="4032504"/>
            <a:ext cx="541004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6415888"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6547561" y="4347058"/>
            <a:ext cx="285293" cy="285293"/>
          </a:xfrm>
          <a:prstGeom prst="rect">
            <a:avLst/>
          </a:prstGeom>
        </p:spPr>
      </p:pic>
      <p:sp>
        <p:nvSpPr>
          <p:cNvPr id="24" name="Text 18"/>
          <p:cNvSpPr txBox="1"/>
          <p:nvPr/>
        </p:nvSpPr>
        <p:spPr>
          <a:xfrm>
            <a:off x="7055968" y="4197096"/>
            <a:ext cx="444992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Multimodal LLMs</a:t>
            </a:r>
            <a:endParaRPr lang="en-US" sz="1900" dirty="0"/>
          </a:p>
        </p:txBody>
      </p:sp>
      <p:sp>
        <p:nvSpPr>
          <p:cNvPr id="25" name="Text 19"/>
          <p:cNvSpPr txBox="1"/>
          <p:nvPr/>
        </p:nvSpPr>
        <p:spPr>
          <a:xfrm>
            <a:off x="6415888" y="4855464"/>
            <a:ext cx="504428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Read images, audio and video as well as text (weeks 9–10).</a:t>
            </a:r>
            <a:endParaRPr lang="en-US" sz="1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Reasoning models and test-time compute</a:t>
            </a:r>
            <a:endParaRPr lang="en-US" sz="3200" dirty="0"/>
          </a:p>
        </p:txBody>
      </p:sp>
      <p:pic>
        <p:nvPicPr>
          <p:cNvPr id="6" name="Image 0" descr="C:\Users\sudee\Downloads\Generative_AI_2027_Teaching_Pack\AI2027_Project\build\figures\week_06\reasoning.png">    </p:cNvPr>
          <p:cNvPicPr>
            <a:picLocks noChangeAspect="1"/>
          </p:cNvPicPr>
          <p:nvPr/>
        </p:nvPicPr>
        <p:blipFill>
          <a:blip r:embed="rId1"/>
          <a:stretch>
            <a:fillRect/>
          </a:stretch>
        </p:blipFill>
        <p:spPr>
          <a:xfrm>
            <a:off x="2917704" y="1481328"/>
            <a:ext cx="6356286" cy="2313432"/>
          </a:xfrm>
          <a:prstGeom prst="rect">
            <a:avLst/>
          </a:prstGeom>
        </p:spPr>
      </p:pic>
      <p:sp>
        <p:nvSpPr>
          <p:cNvPr id="7" name="Text 4"/>
          <p:cNvSpPr txBox="1"/>
          <p:nvPr/>
        </p:nvSpPr>
        <p:spPr>
          <a:xfrm>
            <a:off x="548640" y="3977640"/>
            <a:ext cx="11094415" cy="2331720"/>
          </a:xfrm>
          <a:prstGeom prst="rect">
            <a:avLst/>
          </a:prstGeom>
          <a:noFill/>
          <a:ln/>
        </p:spPr>
        <p:txBody>
          <a:bodyPr wrap="square" lIns="50800" tIns="50800" rIns="50800" bIns="50800" rtlCol="0" anchor="t"/>
          <a:lstStyle/>
          <a:p>
            <a:pPr marL="254000" indent="-254000">
              <a:spcAft>
                <a:spcPts val="800"/>
              </a:spcAft>
              <a:buSzPct val="100000"/>
              <a:buChar char="●"/>
            </a:pPr>
            <a:r>
              <a:rPr lang="en-US" sz="1700" dirty="0">
                <a:solidFill>
                  <a:srgbClr val="1F2937"/>
                </a:solidFill>
                <a:latin typeface="Calibri" pitchFamily="34" charset="0"/>
                <a:ea typeface="Calibri" pitchFamily="34" charset="-122"/>
                <a:cs typeface="Calibri" pitchFamily="34" charset="-120"/>
              </a:rPr>
              <a:t>Examples: OpenAI's o-series (2024), DeepSeek-R1 (2025, open), 'thinking' modes in Claude, Gemini and Qwen3.</a:t>
            </a:r>
            <a:endParaRPr lang="en-US" sz="1700" dirty="0"/>
          </a:p>
          <a:p>
            <a:pPr marL="254000" indent="-254000">
              <a:spcAft>
                <a:spcPts val="800"/>
              </a:spcAft>
              <a:buSzPct val="100000"/>
              <a:buChar char="●"/>
            </a:pPr>
            <a:r>
              <a:rPr lang="en-US" sz="1700" dirty="0">
                <a:solidFill>
                  <a:srgbClr val="1F2937"/>
                </a:solidFill>
                <a:latin typeface="Calibri" pitchFamily="34" charset="0"/>
                <a:ea typeface="Calibri" pitchFamily="34" charset="-122"/>
                <a:cs typeface="Calibri" pitchFamily="34" charset="-120"/>
              </a:rPr>
              <a:t>Measured (Qwen3-0.6B, 3 runs per mode, thinking off vs on): word problem: 3/3 vs 3/3 correct, ≈154 vs ≈783 tokens; scheduling puzzle: 1/3 vs 0/3 correct, ≈117 vs ≈2,048 tokens (thinking hit its 2,048-token limit every time).</a:t>
            </a:r>
            <a:endParaRPr lang="en-US" sz="1700" dirty="0"/>
          </a:p>
          <a:p>
            <a:pPr marL="254000" indent="-254000">
              <a:spcAft>
                <a:spcPts val="800"/>
              </a:spcAft>
              <a:buSzPct val="100000"/>
              <a:buChar char="●"/>
            </a:pPr>
            <a:r>
              <a:rPr lang="en-US" sz="1700" dirty="0">
                <a:solidFill>
                  <a:srgbClr val="1F2937"/>
                </a:solidFill>
                <a:latin typeface="Calibri" pitchFamily="34" charset="0"/>
                <a:ea typeface="Calibri" pitchFamily="34" charset="-122"/>
                <a:cs typeface="Calibri" pitchFamily="34" charset="-120"/>
              </a:rPr>
              <a:t>Visible reasoning text is </a:t>
            </a:r>
            <a:pPr indent="0" marL="0">
              <a:buNone/>
            </a:pPr>
            <a:r>
              <a:rPr lang="en-US" sz="1700" b="1" dirty="0">
                <a:solidFill>
                  <a:srgbClr val="1F2937"/>
                </a:solidFill>
                <a:latin typeface="Calibri" pitchFamily="34" charset="0"/>
                <a:ea typeface="Calibri" pitchFamily="34" charset="-122"/>
                <a:cs typeface="Calibri" pitchFamily="34" charset="-120"/>
              </a:rPr>
              <a:t>not</a:t>
            </a:r>
            <a:pPr indent="0" marL="0">
              <a:buNone/>
            </a:pPr>
            <a:r>
              <a:rPr lang="en-US" sz="1700" dirty="0">
                <a:solidFill>
                  <a:srgbClr val="1F2937"/>
                </a:solidFill>
                <a:latin typeface="Calibri" pitchFamily="34" charset="0"/>
                <a:ea typeface="Calibri" pitchFamily="34" charset="-122"/>
                <a:cs typeface="Calibri" pitchFamily="34" charset="-120"/>
              </a:rPr>
              <a:t> guaranteed to reflect the model's internal computation; evaluate the answer, not the story.</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Which statement about model families is correct?</a:t>
            </a:r>
            <a:endParaRPr lang="en-US" sz="24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BERT and GPT are both decoder-only chat models</a:t>
            </a:r>
            <a:endParaRPr lang="en-US" sz="18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Open-weight models always come with their training data and code</a:t>
            </a:r>
            <a:endParaRPr lang="en-US" sz="18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T5 frames every task as text-to-text with an encoder–decoder</a:t>
            </a:r>
            <a:endParaRPr lang="en-US" sz="18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Reasoning models are faster because they skip the thinking step</a:t>
            </a:r>
            <a:endParaRPr lang="en-US" sz="18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300" i="1" dirty="0">
                <a:solidFill>
                  <a:srgbClr val="6B7280"/>
                </a:solidFill>
                <a:latin typeface="Calibri" pitchFamily="34" charset="0"/>
                <a:ea typeface="Calibri" pitchFamily="34" charset="-122"/>
                <a:cs typeface="Calibri" pitchFamily="34" charset="-120"/>
              </a:rPr>
              <a:t>Vote, then convince your neighbour (1 minute).</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05</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Choosing and using models</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do you pick the right model and use it responsibly?</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What a model card should tell you</a:t>
            </a:r>
            <a:endParaRPr lang="en-US" sz="3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773604"/>
                <a:gridCol w="8320811"/>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Section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Questions to ask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Intended use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What was it built for? What uses are out of scope?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Training data</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Which sources, languages and dates? Any personal or copyrighted data?</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Evaluation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Which benchmarks, with what settings? Any safety evaluations?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Limitations &amp; biases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Known failure modes, languages or groups where it performs worse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Licence &amp; access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Commercial use? Attribution? Usage restrictions? Gating?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Technical details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Size, context length, tokenizer, chat template, hardware needs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Licences at a glance (always read the actual text)</a:t>
            </a:r>
            <a:endParaRPr lang="en-US" sz="32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733407"/>
                <a:gridCol w="3537350"/>
                <a:gridCol w="4823659"/>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Licence type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Examples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What it usually means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Permissive (Apache 2.0, MIT)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Qwen (most), OLMo, Phi, DeepSeek-R1, gpt-oss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Use, modify, commercialise; keep notices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Community / custom</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Llama, Gemma</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Free use with conditions: acceptable-use policy, attribution, limits for very large services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Responsible AI licences (OpenRAIL)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Stable Diffusion 1.5, BLOOM</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Open use with listed prohibited uses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Non-commercial / research</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Some research releases (e.g. SD-Turbo)</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No commercial use without a separate agreement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Proprietary API terms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GPT, Claude, Gemini</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Pay per use; data handling and output terms set by the provider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Benchmarks: useful, but read them critically</a:t>
            </a:r>
            <a:endParaRPr lang="en-US" sz="3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278317"/>
                <a:gridCol w="4457578"/>
                <a:gridCol w="4358520"/>
              </a:tblGrid>
              <a:tr h="0">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Benchmark</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Measures</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Caveat</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1700" b="1" dirty="0">
                          <a:solidFill>
                            <a:srgbClr val="1F2937"/>
                          </a:solidFill>
                          <a:latin typeface="Calibri" pitchFamily="34" charset="0"/>
                          <a:ea typeface="Calibri" pitchFamily="34" charset="-122"/>
                          <a:cs typeface="Calibri" pitchFamily="34" charset="-120"/>
                        </a:rPr>
                        <a:t>MMLU / MMLU-Pro</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Multiple-choice knowledge across 57+ subjects</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Saturated at the top; possible contamination</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700" b="1" dirty="0">
                          <a:solidFill>
                            <a:srgbClr val="1F2937"/>
                          </a:solidFill>
                          <a:latin typeface="Calibri" pitchFamily="34" charset="0"/>
                          <a:ea typeface="Calibri" pitchFamily="34" charset="-122"/>
                          <a:cs typeface="Calibri" pitchFamily="34" charset="-120"/>
                        </a:rPr>
                        <a:t>GSM8K, MATH</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Maths word problems and competition maths</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Answer format sensitivity; memorisation</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700" b="1" dirty="0">
                          <a:solidFill>
                            <a:srgbClr val="1F2937"/>
                          </a:solidFill>
                          <a:latin typeface="Calibri" pitchFamily="34" charset="0"/>
                          <a:ea typeface="Calibri" pitchFamily="34" charset="-122"/>
                          <a:cs typeface="Calibri" pitchFamily="34" charset="-120"/>
                        </a:rPr>
                        <a:t>HumanEval, SWE-bench</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Writing code; fixing real repository issues</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Narrow languages and tasks</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700" b="1" dirty="0">
                          <a:solidFill>
                            <a:srgbClr val="1F2937"/>
                          </a:solidFill>
                          <a:latin typeface="Calibri" pitchFamily="34" charset="0"/>
                          <a:ea typeface="Calibri" pitchFamily="34" charset="-122"/>
                          <a:cs typeface="Calibri" pitchFamily="34" charset="-120"/>
                        </a:rPr>
                        <a:t>GPQA</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Very hard graduate-level science questions</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Small; experts disagree on some items</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700" b="1" dirty="0">
                          <a:solidFill>
                            <a:srgbClr val="1F2937"/>
                          </a:solidFill>
                          <a:latin typeface="Calibri" pitchFamily="34" charset="0"/>
                          <a:ea typeface="Calibri" pitchFamily="34" charset="-122"/>
                          <a:cs typeface="Calibri" pitchFamily="34" charset="-120"/>
                        </a:rPr>
                        <a:t>Human preference arenas</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Pairwise votes on real prompts (Elo-style)</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Style and length bias; not your users</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
        <p:nvSpPr>
          <p:cNvPr id="7" name="Shape 4"/>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8" name="Text 5"/>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1800" b="1" dirty="0">
                <a:solidFill>
                  <a:srgbClr val="EA580C"/>
                </a:solidFill>
                <a:latin typeface="Calibri" pitchFamily="34" charset="0"/>
                <a:ea typeface="Calibri" pitchFamily="34" charset="-122"/>
                <a:cs typeface="Calibri" pitchFamily="34" charset="-120"/>
              </a:rPr>
              <a:t>Key idea:  </a:t>
            </a:r>
            <a:pPr indent="0" marL="0">
              <a:buNone/>
            </a:pPr>
            <a:r>
              <a:rPr lang="en-US" sz="1800" dirty="0">
                <a:solidFill>
                  <a:srgbClr val="1F2937"/>
                </a:solidFill>
                <a:latin typeface="Calibri" pitchFamily="34" charset="0"/>
                <a:ea typeface="Calibri" pitchFamily="34" charset="-122"/>
                <a:cs typeface="Calibri" pitchFamily="34" charset="-120"/>
              </a:rPr>
              <a:t>Benchmarks are not your task. Build a small test set from your own use case (week 7) and evaluate candidates on it.</a:t>
            </a:r>
            <a:endParaRPr lang="en-US" sz="1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Calling an API vs. running an open model yourself</a:t>
            </a:r>
            <a:endParaRPr lang="en-US" sz="3200" dirty="0"/>
          </a:p>
        </p:txBody>
      </p:sp>
      <p:sp>
        <p:nvSpPr>
          <p:cNvPr id="6" name="Shape 4"/>
          <p:cNvSpPr/>
          <p:nvPr/>
        </p:nvSpPr>
        <p:spPr>
          <a:xfrm>
            <a:off x="548640" y="1481328"/>
            <a:ext cx="5410048" cy="566928"/>
          </a:xfrm>
          <a:prstGeom prst="roundRect">
            <a:avLst>
              <a:gd name="adj" fmla="val 16129"/>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713232" y="1591056"/>
            <a:ext cx="347472" cy="347472"/>
          </a:xfrm>
          <a:prstGeom prst="rect">
            <a:avLst/>
          </a:prstGeom>
        </p:spPr>
      </p:pic>
      <p:sp>
        <p:nvSpPr>
          <p:cNvPr id="8" name="Text 5"/>
          <p:cNvSpPr txBox="1"/>
          <p:nvPr/>
        </p:nvSpPr>
        <p:spPr>
          <a:xfrm>
            <a:off x="1143000"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Hosted API</a:t>
            </a:r>
            <a:endParaRPr lang="en-US" sz="1800" dirty="0"/>
          </a:p>
        </p:txBody>
      </p:sp>
      <p:sp>
        <p:nvSpPr>
          <p:cNvPr id="9" name="Shape 6"/>
          <p:cNvSpPr/>
          <p:nvPr/>
        </p:nvSpPr>
        <p:spPr>
          <a:xfrm>
            <a:off x="548640" y="2167128"/>
            <a:ext cx="5410048" cy="4142232"/>
          </a:xfrm>
          <a:prstGeom prst="roundRect">
            <a:avLst>
              <a:gd name="adj" fmla="val 2208"/>
            </a:avLst>
          </a:prstGeom>
          <a:solidFill>
            <a:srgbClr val="EEF0FF"/>
          </a:solidFill>
          <a:ln w="12700">
            <a:solidFill>
              <a:srgbClr val="EEF0FF"/>
            </a:solidFill>
            <a:prstDash val="solid"/>
          </a:ln>
        </p:spPr>
      </p:sp>
      <p:sp>
        <p:nvSpPr>
          <p:cNvPr id="10" name="Text 7"/>
          <p:cNvSpPr txBox="1"/>
          <p:nvPr/>
        </p:nvSpPr>
        <p:spPr>
          <a:xfrm>
            <a:off x="658368" y="2258568"/>
            <a:ext cx="519059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Strongest models; no hardware to manage</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Pay per token; costs grow with usage</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Data leaves your organisation (check terms)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Rate limits; the provider may change or retire models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Examples: OpenAI, Anthropic, Google, Hugging Face Inference Providers</a:t>
            </a:r>
            <a:endParaRPr lang="en-US" sz="2000" dirty="0"/>
          </a:p>
        </p:txBody>
      </p:sp>
      <p:sp>
        <p:nvSpPr>
          <p:cNvPr id="11" name="Shape 8"/>
          <p:cNvSpPr/>
          <p:nvPr/>
        </p:nvSpPr>
        <p:spPr>
          <a:xfrm>
            <a:off x="6233008" y="1481328"/>
            <a:ext cx="5410048" cy="566928"/>
          </a:xfrm>
          <a:prstGeom prst="roundRect">
            <a:avLst>
              <a:gd name="adj" fmla="val 16129"/>
            </a:avLst>
          </a:prstGeom>
          <a:solidFill>
            <a:srgbClr val="0F766E"/>
          </a:solidFill>
          <a:ln w="12700">
            <a:solidFill>
              <a:srgbClr val="0F766E"/>
            </a:solidFill>
            <a:prstDash val="solid"/>
          </a:ln>
        </p:spPr>
      </p:sp>
      <p:pic>
        <p:nvPicPr>
          <p:cNvPr id="12" name="Image 1" descr="preencoded.png">    </p:cNvPr>
          <p:cNvPicPr>
            <a:picLocks noChangeAspect="1"/>
          </p:cNvPicPr>
          <p:nvPr/>
        </p:nvPicPr>
        <p:blipFill>
          <a:blip r:embed="rId2"/>
          <a:stretch>
            <a:fillRect/>
          </a:stretch>
        </p:blipFill>
        <p:spPr>
          <a:xfrm>
            <a:off x="6397600" y="1591056"/>
            <a:ext cx="347472" cy="347472"/>
          </a:xfrm>
          <a:prstGeom prst="rect">
            <a:avLst/>
          </a:prstGeom>
        </p:spPr>
      </p:pic>
      <p:sp>
        <p:nvSpPr>
          <p:cNvPr id="13" name="Text 9"/>
          <p:cNvSpPr txBox="1"/>
          <p:nvPr/>
        </p:nvSpPr>
        <p:spPr>
          <a:xfrm>
            <a:off x="6827368"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Local / self-hosted</a:t>
            </a:r>
            <a:endParaRPr lang="en-US" sz="1800" dirty="0"/>
          </a:p>
        </p:txBody>
      </p:sp>
      <p:sp>
        <p:nvSpPr>
          <p:cNvPr id="14" name="Shape 10"/>
          <p:cNvSpPr/>
          <p:nvPr/>
        </p:nvSpPr>
        <p:spPr>
          <a:xfrm>
            <a:off x="6233008" y="2167128"/>
            <a:ext cx="5410048" cy="4142232"/>
          </a:xfrm>
          <a:prstGeom prst="roundRect">
            <a:avLst>
              <a:gd name="adj" fmla="val 2208"/>
            </a:avLst>
          </a:prstGeom>
          <a:solidFill>
            <a:srgbClr val="E6F4F1"/>
          </a:solidFill>
          <a:ln w="12700">
            <a:solidFill>
              <a:srgbClr val="E6F4F1"/>
            </a:solidFill>
            <a:prstDash val="solid"/>
          </a:ln>
        </p:spPr>
      </p:sp>
      <p:sp>
        <p:nvSpPr>
          <p:cNvPr id="15" name="Text 11"/>
          <p:cNvSpPr txBox="1"/>
          <p:nvPr/>
        </p:nvSpPr>
        <p:spPr>
          <a:xfrm>
            <a:off x="6342736" y="2258568"/>
            <a:ext cx="519059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Full control, privacy, fixed versions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Needs GPU/CPU memory; you handle updates and safety</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Cheaper at high volume; free for experiments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Can fine-tune (week 8)</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Examples: Hugging Face Transformers, Ollama, vLLM (week 11)</a:t>
            </a:r>
            <a:endParaRPr lang="en-US" sz="2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Using pretrained models with Hugging Face pipelines</a:t>
            </a:r>
            <a:endParaRPr lang="en-US" sz="3200" dirty="0"/>
          </a:p>
        </p:txBody>
      </p:sp>
      <p:sp>
        <p:nvSpPr>
          <p:cNvPr id="6" name="Shape 4"/>
          <p:cNvSpPr/>
          <p:nvPr/>
        </p:nvSpPr>
        <p:spPr>
          <a:xfrm>
            <a:off x="548640" y="1481328"/>
            <a:ext cx="6949440" cy="3059430"/>
          </a:xfrm>
          <a:prstGeom prst="roundRect">
            <a:avLst>
              <a:gd name="adj" fmla="val 2989"/>
            </a:avLst>
          </a:prstGeom>
          <a:solidFill>
            <a:srgbClr val="1E1E2E"/>
          </a:solidFill>
          <a:ln w="12700">
            <a:solidFill>
              <a:srgbClr val="1E1E2E"/>
            </a:solidFill>
            <a:prstDash val="solid"/>
          </a:ln>
        </p:spPr>
      </p:sp>
      <p:sp>
        <p:nvSpPr>
          <p:cNvPr id="7" name="Text 5"/>
          <p:cNvSpPr txBox="1"/>
          <p:nvPr/>
        </p:nvSpPr>
        <p:spPr>
          <a:xfrm>
            <a:off x="685800" y="1591056"/>
            <a:ext cx="6675120" cy="2839974"/>
          </a:xfrm>
          <a:prstGeom prst="rect">
            <a:avLst/>
          </a:prstGeom>
          <a:noFill/>
          <a:ln/>
        </p:spPr>
        <p:txBody>
          <a:bodyPr wrap="square" lIns="76200" tIns="76200" rIns="76200" bIns="76200" rtlCol="0" anchor="t"/>
          <a:lstStyle/>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from transformers import pipeline</a:t>
            </a:r>
            <a:endParaRPr lang="en-US" sz="1500" dirty="0"/>
          </a:p>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 </a:t>
            </a:r>
            <a:endParaRPr lang="en-US" sz="1500" dirty="0"/>
          </a:p>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fill = pipeline("fill-mask", model="bert-base-uncased")</a:t>
            </a:r>
            <a:endParaRPr lang="en-US" sz="1500" dirty="0"/>
          </a:p>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fill("The capital of Ireland is [MASK].")</a:t>
            </a:r>
            <a:endParaRPr lang="en-US" sz="1500" dirty="0"/>
          </a:p>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 </a:t>
            </a:r>
            <a:endParaRPr lang="en-US" sz="1500" dirty="0"/>
          </a:p>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chat = pipeline("text-generation",</a:t>
            </a:r>
            <a:endParaRPr lang="en-US" sz="1500" dirty="0"/>
          </a:p>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                model="Qwen/Qwen2.5-0.5B-Instruct")</a:t>
            </a:r>
            <a:endParaRPr lang="en-US" sz="1500" dirty="0"/>
          </a:p>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messages = [{"role": "user",</a:t>
            </a:r>
            <a:endParaRPr lang="en-US" sz="1500" dirty="0"/>
          </a:p>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             "content": "Explain tokens in one sentence."}]</a:t>
            </a:r>
            <a:endParaRPr lang="en-US" sz="1500" dirty="0"/>
          </a:p>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out = chat(messages, max_new_tokens=60, do_sample=False)</a:t>
            </a:r>
            <a:endParaRPr lang="en-US" sz="1500" dirty="0"/>
          </a:p>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print(out[0]["generated_text"][-1]["content"])</a:t>
            </a:r>
            <a:endParaRPr lang="en-US" sz="1500" dirty="0"/>
          </a:p>
        </p:txBody>
      </p:sp>
      <p:sp>
        <p:nvSpPr>
          <p:cNvPr id="8" name="Text 6"/>
          <p:cNvSpPr txBox="1"/>
          <p:nvPr/>
        </p:nvSpPr>
        <p:spPr>
          <a:xfrm>
            <a:off x="7772400" y="1481328"/>
            <a:ext cx="3870655"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4F46E5"/>
                </a:solidFill>
                <a:latin typeface="Consolas" pitchFamily="34" charset="0"/>
                <a:ea typeface="Consolas" pitchFamily="34" charset="-122"/>
                <a:cs typeface="Consolas" pitchFamily="34" charset="-120"/>
              </a:rPr>
              <a:t>pipeline</a:t>
            </a:r>
            <a:pPr indent="0" marL="0">
              <a:buNone/>
            </a:pPr>
            <a:r>
              <a:rPr lang="en-US" sz="1800" dirty="0">
                <a:solidFill>
                  <a:srgbClr val="1F2937"/>
                </a:solidFill>
                <a:latin typeface="Calibri" pitchFamily="34" charset="0"/>
                <a:ea typeface="Calibri" pitchFamily="34" charset="-122"/>
                <a:cs typeface="Calibri" pitchFamily="34" charset="-120"/>
              </a:rPr>
              <a:t> bundles the tokenizer, model and pre/post-processing.</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Chat models expect </a:t>
            </a:r>
            <a:pPr indent="0" marL="0">
              <a:buNone/>
            </a:pPr>
            <a:r>
              <a:rPr lang="en-US" sz="1800" b="1" dirty="0">
                <a:solidFill>
                  <a:srgbClr val="1F2937"/>
                </a:solidFill>
                <a:latin typeface="Calibri" pitchFamily="34" charset="0"/>
                <a:ea typeface="Calibri" pitchFamily="34" charset="-122"/>
                <a:cs typeface="Calibri" pitchFamily="34" charset="-120"/>
              </a:rPr>
              <a:t>messages</a:t>
            </a:r>
            <a:pPr indent="0" marL="0">
              <a:buNone/>
            </a:pPr>
            <a:r>
              <a:rPr lang="en-US" sz="1800" dirty="0">
                <a:solidFill>
                  <a:srgbClr val="1F2937"/>
                </a:solidFill>
                <a:latin typeface="Calibri" pitchFamily="34" charset="0"/>
                <a:ea typeface="Calibri" pitchFamily="34" charset="-122"/>
                <a:cs typeface="Calibri" pitchFamily="34" charset="-120"/>
              </a:rPr>
              <a:t>; the pipeline applies the model's chat template.</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Models download from the Hugging Face Hub on first use.</a:t>
            </a:r>
            <a:endParaRPr lang="en-US" sz="1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Querying a hosted model through an API</a:t>
            </a:r>
            <a:endParaRPr lang="en-US" sz="3200" dirty="0"/>
          </a:p>
        </p:txBody>
      </p:sp>
      <p:sp>
        <p:nvSpPr>
          <p:cNvPr id="6" name="Shape 4"/>
          <p:cNvSpPr/>
          <p:nvPr/>
        </p:nvSpPr>
        <p:spPr>
          <a:xfrm>
            <a:off x="548640" y="1481328"/>
            <a:ext cx="6949440" cy="3229864"/>
          </a:xfrm>
          <a:prstGeom prst="roundRect">
            <a:avLst>
              <a:gd name="adj" fmla="val 2831"/>
            </a:avLst>
          </a:prstGeom>
          <a:solidFill>
            <a:srgbClr val="1E1E2E"/>
          </a:solidFill>
          <a:ln w="12700">
            <a:solidFill>
              <a:srgbClr val="1E1E2E"/>
            </a:solidFill>
            <a:prstDash val="solid"/>
          </a:ln>
        </p:spPr>
      </p:sp>
      <p:sp>
        <p:nvSpPr>
          <p:cNvPr id="7" name="Text 5"/>
          <p:cNvSpPr txBox="1"/>
          <p:nvPr/>
        </p:nvSpPr>
        <p:spPr>
          <a:xfrm>
            <a:off x="685800" y="1591056"/>
            <a:ext cx="6675120" cy="3010408"/>
          </a:xfrm>
          <a:prstGeom prst="rect">
            <a:avLst/>
          </a:prstGeom>
          <a:noFill/>
          <a:ln/>
        </p:spPr>
        <p:txBody>
          <a:bodyPr wrap="square" lIns="76200" tIns="76200" rIns="76200" bIns="76200" rtlCol="0" anchor="t"/>
          <a:lstStyle/>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import os</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from huggingface_hub import InferenceClient</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client = InferenceClient(api_key=os.environ["HF_TOKEN"])</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resp = client.chat.completions.create(</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model="Qwen/Qwen2.5-7B-Instruct",</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messages=[{"role": "user",</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"content": "Name three LLM families."}],</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max_tokens=100, temperature=0.2)</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print(resp.choices[0].message.content)</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print(resp.usage)   # prompt and completion tokens</a:t>
            </a:r>
            <a:endParaRPr lang="en-US" sz="1600" dirty="0"/>
          </a:p>
        </p:txBody>
      </p:sp>
      <p:sp>
        <p:nvSpPr>
          <p:cNvPr id="8" name="Text 6"/>
          <p:cNvSpPr txBox="1"/>
          <p:nvPr/>
        </p:nvSpPr>
        <p:spPr>
          <a:xfrm>
            <a:off x="7772400" y="1481328"/>
            <a:ext cx="3870655"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Most providers use this </a:t>
            </a:r>
            <a:pPr indent="0" marL="0">
              <a:buNone/>
            </a:pPr>
            <a:r>
              <a:rPr lang="en-US" sz="1800" b="1" dirty="0">
                <a:solidFill>
                  <a:srgbClr val="1F2937"/>
                </a:solidFill>
                <a:latin typeface="Calibri" pitchFamily="34" charset="0"/>
                <a:ea typeface="Calibri" pitchFamily="34" charset="-122"/>
                <a:cs typeface="Calibri" pitchFamily="34" charset="-120"/>
              </a:rPr>
              <a:t>OpenAI-compatible</a:t>
            </a:r>
            <a:pPr indent="0" marL="0">
              <a:buNone/>
            </a:pPr>
            <a:r>
              <a:rPr lang="en-US" sz="1800" dirty="0">
                <a:solidFill>
                  <a:srgbClr val="1F2937"/>
                </a:solidFill>
                <a:latin typeface="Calibri" pitchFamily="34" charset="0"/>
                <a:ea typeface="Calibri" pitchFamily="34" charset="-122"/>
                <a:cs typeface="Calibri" pitchFamily="34" charset="-120"/>
              </a:rPr>
              <a:t> chat format: messages in, message out.</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Keys belong in environment variables or secrets, never in notebooks.</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Log </a:t>
            </a:r>
            <a:pPr indent="0" marL="0">
              <a:buNone/>
            </a:pPr>
            <a:r>
              <a:rPr lang="en-US" sz="1800" b="1" dirty="0">
                <a:solidFill>
                  <a:srgbClr val="1F2937"/>
                </a:solidFill>
                <a:latin typeface="Calibri" pitchFamily="34" charset="0"/>
                <a:ea typeface="Calibri" pitchFamily="34" charset="-122"/>
                <a:cs typeface="Calibri" pitchFamily="34" charset="-120"/>
              </a:rPr>
              <a:t>usage</a:t>
            </a:r>
            <a:pPr indent="0" marL="0">
              <a:buNone/>
            </a:pPr>
            <a:r>
              <a:rPr lang="en-US" sz="1800" dirty="0">
                <a:solidFill>
                  <a:srgbClr val="1F2937"/>
                </a:solidFill>
                <a:latin typeface="Calibri" pitchFamily="34" charset="0"/>
                <a:ea typeface="Calibri" pitchFamily="34" charset="-122"/>
                <a:cs typeface="Calibri" pitchFamily="34" charset="-120"/>
              </a:rPr>
              <a:t> (tokens) to estimate cost; record model and date.</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What LLMs are used for, and where they struggle</a:t>
            </a:r>
            <a:endParaRPr lang="en-US" sz="3200" dirty="0"/>
          </a:p>
        </p:txBody>
      </p:sp>
      <p:sp>
        <p:nvSpPr>
          <p:cNvPr id="6" name="Shape 4"/>
          <p:cNvSpPr/>
          <p:nvPr/>
        </p:nvSpPr>
        <p:spPr>
          <a:xfrm>
            <a:off x="548640" y="1481328"/>
            <a:ext cx="3515258" cy="4828032"/>
          </a:xfrm>
          <a:prstGeom prst="roundRect">
            <a:avLst>
              <a:gd name="adj" fmla="val 3121"/>
            </a:avLst>
          </a:prstGeom>
          <a:solidFill>
            <a:srgbClr val="EEF0FF"/>
          </a:solidFill>
          <a:ln w="12700">
            <a:solidFill>
              <a:srgbClr val="EEF0FF"/>
            </a:solidFill>
            <a:prstDash val="solid"/>
          </a:ln>
        </p:spPr>
      </p:sp>
      <p:sp>
        <p:nvSpPr>
          <p:cNvPr id="7" name="Shape 5"/>
          <p:cNvSpPr/>
          <p:nvPr/>
        </p:nvSpPr>
        <p:spPr>
          <a:xfrm>
            <a:off x="777240" y="1709928"/>
            <a:ext cx="685800" cy="68580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941832" y="1874520"/>
            <a:ext cx="356616" cy="356616"/>
          </a:xfrm>
          <a:prstGeom prst="rect">
            <a:avLst/>
          </a:prstGeom>
        </p:spPr>
      </p:pic>
      <p:sp>
        <p:nvSpPr>
          <p:cNvPr id="9" name="Text 6"/>
          <p:cNvSpPr txBox="1"/>
          <p:nvPr/>
        </p:nvSpPr>
        <p:spPr>
          <a:xfrm>
            <a:off x="731520" y="2487168"/>
            <a:ext cx="3149498" cy="548640"/>
          </a:xfrm>
          <a:prstGeom prst="rect">
            <a:avLst/>
          </a:prstGeom>
          <a:noFill/>
          <a:ln/>
        </p:spPr>
        <p:txBody>
          <a:bodyPr wrap="square" lIns="50800" tIns="50800" rIns="50800" bIns="50800" rtlCol="0" anchor="ctr"/>
          <a:lstStyle/>
          <a:p>
            <a:pPr indent="0" marL="0">
              <a:buNone/>
            </a:pPr>
            <a:r>
              <a:rPr lang="en-US" sz="2000" b="1" dirty="0">
                <a:solidFill>
                  <a:srgbClr val="1E1B4B"/>
                </a:solidFill>
                <a:latin typeface="Calibri" pitchFamily="34" charset="0"/>
                <a:ea typeface="Calibri" pitchFamily="34" charset="-122"/>
                <a:cs typeface="Calibri" pitchFamily="34" charset="-120"/>
              </a:rPr>
              <a:t>Strong</a:t>
            </a:r>
            <a:endParaRPr lang="en-US" sz="2000" dirty="0"/>
          </a:p>
        </p:txBody>
      </p:sp>
      <p:sp>
        <p:nvSpPr>
          <p:cNvPr id="10" name="Text 7"/>
          <p:cNvSpPr txBox="1"/>
          <p:nvPr/>
        </p:nvSpPr>
        <p:spPr>
          <a:xfrm>
            <a:off x="731520" y="3035808"/>
            <a:ext cx="3149498" cy="3227832"/>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Drafting and rewriting, summarisation, translation, extraction into structured formats, coding help, tutoring, brainstorming.</a:t>
            </a:r>
            <a:endParaRPr lang="en-US" sz="1900" dirty="0"/>
          </a:p>
        </p:txBody>
      </p:sp>
      <p:sp>
        <p:nvSpPr>
          <p:cNvPr id="11" name="Shape 8"/>
          <p:cNvSpPr/>
          <p:nvPr/>
        </p:nvSpPr>
        <p:spPr>
          <a:xfrm>
            <a:off x="4338218" y="1481328"/>
            <a:ext cx="3515258" cy="4828032"/>
          </a:xfrm>
          <a:prstGeom prst="roundRect">
            <a:avLst>
              <a:gd name="adj" fmla="val 3121"/>
            </a:avLst>
          </a:prstGeom>
          <a:solidFill>
            <a:srgbClr val="F5F3FF"/>
          </a:solidFill>
          <a:ln w="12700">
            <a:solidFill>
              <a:srgbClr val="EEF0FF"/>
            </a:solidFill>
            <a:prstDash val="solid"/>
          </a:ln>
        </p:spPr>
      </p:sp>
      <p:sp>
        <p:nvSpPr>
          <p:cNvPr id="12" name="Shape 9"/>
          <p:cNvSpPr/>
          <p:nvPr/>
        </p:nvSpPr>
        <p:spPr>
          <a:xfrm>
            <a:off x="4566818" y="1709928"/>
            <a:ext cx="685800" cy="68580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4731410" y="1874520"/>
            <a:ext cx="356616" cy="356616"/>
          </a:xfrm>
          <a:prstGeom prst="rect">
            <a:avLst/>
          </a:prstGeom>
        </p:spPr>
      </p:pic>
      <p:sp>
        <p:nvSpPr>
          <p:cNvPr id="14" name="Text 10"/>
          <p:cNvSpPr txBox="1"/>
          <p:nvPr/>
        </p:nvSpPr>
        <p:spPr>
          <a:xfrm>
            <a:off x="4521098" y="2487168"/>
            <a:ext cx="3149498" cy="548640"/>
          </a:xfrm>
          <a:prstGeom prst="rect">
            <a:avLst/>
          </a:prstGeom>
          <a:noFill/>
          <a:ln/>
        </p:spPr>
        <p:txBody>
          <a:bodyPr wrap="square" lIns="50800" tIns="50800" rIns="50800" bIns="50800" rtlCol="0" anchor="ctr"/>
          <a:lstStyle/>
          <a:p>
            <a:pPr indent="0" marL="0">
              <a:buNone/>
            </a:pPr>
            <a:r>
              <a:rPr lang="en-US" sz="2000" b="1" dirty="0">
                <a:solidFill>
                  <a:srgbClr val="1E1B4B"/>
                </a:solidFill>
                <a:latin typeface="Calibri" pitchFamily="34" charset="0"/>
                <a:ea typeface="Calibri" pitchFamily="34" charset="-122"/>
                <a:cs typeface="Calibri" pitchFamily="34" charset="-120"/>
              </a:rPr>
              <a:t>Strong with tools</a:t>
            </a:r>
            <a:endParaRPr lang="en-US" sz="2000" dirty="0"/>
          </a:p>
        </p:txBody>
      </p:sp>
      <p:sp>
        <p:nvSpPr>
          <p:cNvPr id="15" name="Text 11"/>
          <p:cNvSpPr txBox="1"/>
          <p:nvPr/>
        </p:nvSpPr>
        <p:spPr>
          <a:xfrm>
            <a:off x="4521098" y="3035808"/>
            <a:ext cx="3149498" cy="3227832"/>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Question answering over documents (RAG, week 12), calculations with code, workflows and agents.</a:t>
            </a:r>
            <a:endParaRPr lang="en-US" sz="1900" dirty="0"/>
          </a:p>
        </p:txBody>
      </p:sp>
      <p:sp>
        <p:nvSpPr>
          <p:cNvPr id="16" name="Shape 12"/>
          <p:cNvSpPr/>
          <p:nvPr/>
        </p:nvSpPr>
        <p:spPr>
          <a:xfrm>
            <a:off x="8127797" y="1481328"/>
            <a:ext cx="3515258" cy="4828032"/>
          </a:xfrm>
          <a:prstGeom prst="roundRect">
            <a:avLst>
              <a:gd name="adj" fmla="val 3121"/>
            </a:avLst>
          </a:prstGeom>
          <a:solidFill>
            <a:srgbClr val="EEF0FF"/>
          </a:solidFill>
          <a:ln w="12700">
            <a:solidFill>
              <a:srgbClr val="EEF0FF"/>
            </a:solidFill>
            <a:prstDash val="solid"/>
          </a:ln>
        </p:spPr>
      </p:sp>
      <p:sp>
        <p:nvSpPr>
          <p:cNvPr id="17" name="Shape 13"/>
          <p:cNvSpPr/>
          <p:nvPr/>
        </p:nvSpPr>
        <p:spPr>
          <a:xfrm>
            <a:off x="8356397" y="1709928"/>
            <a:ext cx="685800" cy="68580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520989" y="1874520"/>
            <a:ext cx="356616" cy="356616"/>
          </a:xfrm>
          <a:prstGeom prst="rect">
            <a:avLst/>
          </a:prstGeom>
        </p:spPr>
      </p:pic>
      <p:sp>
        <p:nvSpPr>
          <p:cNvPr id="19" name="Text 14"/>
          <p:cNvSpPr txBox="1"/>
          <p:nvPr/>
        </p:nvSpPr>
        <p:spPr>
          <a:xfrm>
            <a:off x="8310677" y="2487168"/>
            <a:ext cx="3149498" cy="548640"/>
          </a:xfrm>
          <a:prstGeom prst="rect">
            <a:avLst/>
          </a:prstGeom>
          <a:noFill/>
          <a:ln/>
        </p:spPr>
        <p:txBody>
          <a:bodyPr wrap="square" lIns="50800" tIns="50800" rIns="50800" bIns="50800" rtlCol="0" anchor="ctr"/>
          <a:lstStyle/>
          <a:p>
            <a:pPr indent="0" marL="0">
              <a:buNone/>
            </a:pPr>
            <a:r>
              <a:rPr lang="en-US" sz="2000" b="1" dirty="0">
                <a:solidFill>
                  <a:srgbClr val="1E1B4B"/>
                </a:solidFill>
                <a:latin typeface="Calibri" pitchFamily="34" charset="0"/>
                <a:ea typeface="Calibri" pitchFamily="34" charset="-122"/>
                <a:cs typeface="Calibri" pitchFamily="34" charset="-120"/>
              </a:rPr>
              <a:t>Weak or risky</a:t>
            </a:r>
            <a:endParaRPr lang="en-US" sz="2000" dirty="0"/>
          </a:p>
        </p:txBody>
      </p:sp>
      <p:sp>
        <p:nvSpPr>
          <p:cNvPr id="20" name="Text 15"/>
          <p:cNvSpPr txBox="1"/>
          <p:nvPr/>
        </p:nvSpPr>
        <p:spPr>
          <a:xfrm>
            <a:off x="8310677" y="3035808"/>
            <a:ext cx="3149498" cy="3227832"/>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Up-to-date or rare facts, exact citations, arithmetic without tools, high-stakes advice without review, counting characters.</a:t>
            </a:r>
            <a:endParaRPr lang="en-US" sz="1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 practical process for choosing a model</a:t>
            </a:r>
            <a:endParaRPr lang="en-US" sz="3200" dirty="0"/>
          </a:p>
        </p:txBody>
      </p:sp>
      <p:sp>
        <p:nvSpPr>
          <p:cNvPr id="6" name="Shape 4"/>
          <p:cNvSpPr/>
          <p:nvPr/>
        </p:nvSpPr>
        <p:spPr>
          <a:xfrm>
            <a:off x="548640" y="1618488"/>
            <a:ext cx="1889699" cy="3108960"/>
          </a:xfrm>
          <a:prstGeom prst="roundRect">
            <a:avLst>
              <a:gd name="adj" fmla="val 5807"/>
            </a:avLst>
          </a:prstGeom>
          <a:solidFill>
            <a:srgbClr val="EEF0FF"/>
          </a:solidFill>
          <a:ln w="15875">
            <a:solidFill>
              <a:srgbClr val="4F46E5"/>
            </a:solidFill>
            <a:prstDash val="solid"/>
          </a:ln>
        </p:spPr>
      </p:sp>
      <p:sp>
        <p:nvSpPr>
          <p:cNvPr id="7" name="Shape 5"/>
          <p:cNvSpPr/>
          <p:nvPr/>
        </p:nvSpPr>
        <p:spPr>
          <a:xfrm>
            <a:off x="1292322" y="1746504"/>
            <a:ext cx="402336" cy="402336"/>
          </a:xfrm>
          <a:prstGeom prst="ellipse">
            <a:avLst/>
          </a:prstGeom>
          <a:solidFill>
            <a:srgbClr val="4F46E5"/>
          </a:solidFill>
          <a:ln w="12700">
            <a:solidFill>
              <a:srgbClr val="4F46E5"/>
            </a:solidFill>
            <a:prstDash val="solid"/>
          </a:ln>
        </p:spPr>
      </p:sp>
      <p:sp>
        <p:nvSpPr>
          <p:cNvPr id="8" name="Text 6"/>
          <p:cNvSpPr txBox="1"/>
          <p:nvPr/>
        </p:nvSpPr>
        <p:spPr>
          <a:xfrm>
            <a:off x="1292322"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621792"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Define the task</a:t>
            </a:r>
            <a:endParaRPr lang="en-US" sz="1900" dirty="0"/>
          </a:p>
        </p:txBody>
      </p:sp>
      <p:sp>
        <p:nvSpPr>
          <p:cNvPr id="10" name="Text 8"/>
          <p:cNvSpPr txBox="1"/>
          <p:nvPr/>
        </p:nvSpPr>
        <p:spPr>
          <a:xfrm>
            <a:off x="640080"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Inputs, outputs, quality bar, languages, examples</a:t>
            </a:r>
            <a:endParaRPr lang="en-US" sz="1700" dirty="0"/>
          </a:p>
        </p:txBody>
      </p:sp>
      <p:sp>
        <p:nvSpPr>
          <p:cNvPr id="11" name="Shape 9"/>
          <p:cNvSpPr/>
          <p:nvPr/>
        </p:nvSpPr>
        <p:spPr>
          <a:xfrm>
            <a:off x="2502347" y="3026664"/>
            <a:ext cx="283464" cy="292608"/>
          </a:xfrm>
          <a:prstGeom prst="rightArrow">
            <a:avLst/>
          </a:prstGeom>
          <a:solidFill>
            <a:srgbClr val="6B7280"/>
          </a:solidFill>
          <a:ln w="12700">
            <a:solidFill>
              <a:srgbClr val="6B7280"/>
            </a:solidFill>
            <a:prstDash val="solid"/>
          </a:ln>
        </p:spPr>
      </p:sp>
      <p:sp>
        <p:nvSpPr>
          <p:cNvPr id="12" name="Shape 10"/>
          <p:cNvSpPr/>
          <p:nvPr/>
        </p:nvSpPr>
        <p:spPr>
          <a:xfrm>
            <a:off x="2849819" y="1618488"/>
            <a:ext cx="1889699" cy="3108960"/>
          </a:xfrm>
          <a:prstGeom prst="roundRect">
            <a:avLst>
              <a:gd name="adj" fmla="val 5807"/>
            </a:avLst>
          </a:prstGeom>
          <a:solidFill>
            <a:srgbClr val="EEF0FF"/>
          </a:solidFill>
          <a:ln w="15875">
            <a:solidFill>
              <a:srgbClr val="4F46E5"/>
            </a:solidFill>
            <a:prstDash val="solid"/>
          </a:ln>
        </p:spPr>
      </p:sp>
      <p:sp>
        <p:nvSpPr>
          <p:cNvPr id="13" name="Shape 11"/>
          <p:cNvSpPr/>
          <p:nvPr/>
        </p:nvSpPr>
        <p:spPr>
          <a:xfrm>
            <a:off x="3593501" y="1746504"/>
            <a:ext cx="402336" cy="402336"/>
          </a:xfrm>
          <a:prstGeom prst="ellipse">
            <a:avLst/>
          </a:prstGeom>
          <a:solidFill>
            <a:srgbClr val="4F46E5"/>
          </a:solidFill>
          <a:ln w="12700">
            <a:solidFill>
              <a:srgbClr val="4F46E5"/>
            </a:solidFill>
            <a:prstDash val="solid"/>
          </a:ln>
        </p:spPr>
      </p:sp>
      <p:sp>
        <p:nvSpPr>
          <p:cNvPr id="14" name="Text 12"/>
          <p:cNvSpPr txBox="1"/>
          <p:nvPr/>
        </p:nvSpPr>
        <p:spPr>
          <a:xfrm>
            <a:off x="3593501"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2922971"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Constraints</a:t>
            </a:r>
            <a:endParaRPr lang="en-US" sz="1900" dirty="0"/>
          </a:p>
        </p:txBody>
      </p:sp>
      <p:sp>
        <p:nvSpPr>
          <p:cNvPr id="16" name="Text 14"/>
          <p:cNvSpPr txBox="1"/>
          <p:nvPr/>
        </p:nvSpPr>
        <p:spPr>
          <a:xfrm>
            <a:off x="2941259"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Privacy, budget, latency, hardware, licence</a:t>
            </a:r>
            <a:endParaRPr lang="en-US" sz="1700" dirty="0"/>
          </a:p>
        </p:txBody>
      </p:sp>
      <p:sp>
        <p:nvSpPr>
          <p:cNvPr id="17" name="Shape 15"/>
          <p:cNvSpPr/>
          <p:nvPr/>
        </p:nvSpPr>
        <p:spPr>
          <a:xfrm>
            <a:off x="4803526" y="3026664"/>
            <a:ext cx="283464" cy="292608"/>
          </a:xfrm>
          <a:prstGeom prst="rightArrow">
            <a:avLst/>
          </a:prstGeom>
          <a:solidFill>
            <a:srgbClr val="6B7280"/>
          </a:solidFill>
          <a:ln w="12700">
            <a:solidFill>
              <a:srgbClr val="6B7280"/>
            </a:solidFill>
            <a:prstDash val="solid"/>
          </a:ln>
        </p:spPr>
      </p:sp>
      <p:sp>
        <p:nvSpPr>
          <p:cNvPr id="18" name="Shape 16"/>
          <p:cNvSpPr/>
          <p:nvPr/>
        </p:nvSpPr>
        <p:spPr>
          <a:xfrm>
            <a:off x="5150998" y="1618488"/>
            <a:ext cx="1889699" cy="3108960"/>
          </a:xfrm>
          <a:prstGeom prst="roundRect">
            <a:avLst>
              <a:gd name="adj" fmla="val 5807"/>
            </a:avLst>
          </a:prstGeom>
          <a:solidFill>
            <a:srgbClr val="EEF0FF"/>
          </a:solidFill>
          <a:ln w="15875">
            <a:solidFill>
              <a:srgbClr val="4F46E5"/>
            </a:solidFill>
            <a:prstDash val="solid"/>
          </a:ln>
        </p:spPr>
      </p:sp>
      <p:sp>
        <p:nvSpPr>
          <p:cNvPr id="19" name="Shape 17"/>
          <p:cNvSpPr/>
          <p:nvPr/>
        </p:nvSpPr>
        <p:spPr>
          <a:xfrm>
            <a:off x="5894680" y="1746504"/>
            <a:ext cx="402336" cy="402336"/>
          </a:xfrm>
          <a:prstGeom prst="ellipse">
            <a:avLst/>
          </a:prstGeom>
          <a:solidFill>
            <a:srgbClr val="4F46E5"/>
          </a:solidFill>
          <a:ln w="12700">
            <a:solidFill>
              <a:srgbClr val="4F46E5"/>
            </a:solidFill>
            <a:prstDash val="solid"/>
          </a:ln>
        </p:spPr>
      </p:sp>
      <p:sp>
        <p:nvSpPr>
          <p:cNvPr id="20" name="Text 18"/>
          <p:cNvSpPr txBox="1"/>
          <p:nvPr/>
        </p:nvSpPr>
        <p:spPr>
          <a:xfrm>
            <a:off x="5894680"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1" name="Text 19"/>
          <p:cNvSpPr txBox="1"/>
          <p:nvPr/>
        </p:nvSpPr>
        <p:spPr>
          <a:xfrm>
            <a:off x="5224150"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Shortlist</a:t>
            </a:r>
            <a:endParaRPr lang="en-US" sz="1900" dirty="0"/>
          </a:p>
        </p:txBody>
      </p:sp>
      <p:sp>
        <p:nvSpPr>
          <p:cNvPr id="22" name="Text 20"/>
          <p:cNvSpPr txBox="1"/>
          <p:nvPr/>
        </p:nvSpPr>
        <p:spPr>
          <a:xfrm>
            <a:off x="5242438"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2–4 candidates: sizes and families that fit</a:t>
            </a:r>
            <a:endParaRPr lang="en-US" sz="1700" dirty="0"/>
          </a:p>
        </p:txBody>
      </p:sp>
      <p:sp>
        <p:nvSpPr>
          <p:cNvPr id="23" name="Shape 21"/>
          <p:cNvSpPr/>
          <p:nvPr/>
        </p:nvSpPr>
        <p:spPr>
          <a:xfrm>
            <a:off x="7104705" y="3026664"/>
            <a:ext cx="283464" cy="292608"/>
          </a:xfrm>
          <a:prstGeom prst="rightArrow">
            <a:avLst/>
          </a:prstGeom>
          <a:solidFill>
            <a:srgbClr val="6B7280"/>
          </a:solidFill>
          <a:ln w="12700">
            <a:solidFill>
              <a:srgbClr val="6B7280"/>
            </a:solidFill>
            <a:prstDash val="solid"/>
          </a:ln>
        </p:spPr>
      </p:sp>
      <p:sp>
        <p:nvSpPr>
          <p:cNvPr id="24" name="Shape 22"/>
          <p:cNvSpPr/>
          <p:nvPr/>
        </p:nvSpPr>
        <p:spPr>
          <a:xfrm>
            <a:off x="7452177" y="1618488"/>
            <a:ext cx="1889699" cy="3108960"/>
          </a:xfrm>
          <a:prstGeom prst="roundRect">
            <a:avLst>
              <a:gd name="adj" fmla="val 5807"/>
            </a:avLst>
          </a:prstGeom>
          <a:solidFill>
            <a:srgbClr val="FFF1E6"/>
          </a:solidFill>
          <a:ln w="15875">
            <a:solidFill>
              <a:srgbClr val="EA580C"/>
            </a:solidFill>
            <a:prstDash val="solid"/>
          </a:ln>
        </p:spPr>
      </p:sp>
      <p:sp>
        <p:nvSpPr>
          <p:cNvPr id="25" name="Shape 23"/>
          <p:cNvSpPr/>
          <p:nvPr/>
        </p:nvSpPr>
        <p:spPr>
          <a:xfrm>
            <a:off x="8195859" y="1746504"/>
            <a:ext cx="402336" cy="402336"/>
          </a:xfrm>
          <a:prstGeom prst="ellipse">
            <a:avLst/>
          </a:prstGeom>
          <a:solidFill>
            <a:srgbClr val="EA580C"/>
          </a:solidFill>
          <a:ln w="12700">
            <a:solidFill>
              <a:srgbClr val="EA580C"/>
            </a:solidFill>
            <a:prstDash val="solid"/>
          </a:ln>
        </p:spPr>
      </p:sp>
      <p:sp>
        <p:nvSpPr>
          <p:cNvPr id="26" name="Text 24"/>
          <p:cNvSpPr txBox="1"/>
          <p:nvPr/>
        </p:nvSpPr>
        <p:spPr>
          <a:xfrm>
            <a:off x="8195859"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7" name="Text 25"/>
          <p:cNvSpPr txBox="1"/>
          <p:nvPr/>
        </p:nvSpPr>
        <p:spPr>
          <a:xfrm>
            <a:off x="7525329"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Evaluate on your data</a:t>
            </a:r>
            <a:endParaRPr lang="en-US" sz="1900" dirty="0"/>
          </a:p>
        </p:txBody>
      </p:sp>
      <p:sp>
        <p:nvSpPr>
          <p:cNvPr id="28" name="Text 26"/>
          <p:cNvSpPr txBox="1"/>
          <p:nvPr/>
        </p:nvSpPr>
        <p:spPr>
          <a:xfrm>
            <a:off x="7543617"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Fixed prompts and settings; quality, cost, speed</a:t>
            </a:r>
            <a:endParaRPr lang="en-US" sz="1700" dirty="0"/>
          </a:p>
        </p:txBody>
      </p:sp>
      <p:sp>
        <p:nvSpPr>
          <p:cNvPr id="29" name="Shape 27"/>
          <p:cNvSpPr/>
          <p:nvPr/>
        </p:nvSpPr>
        <p:spPr>
          <a:xfrm>
            <a:off x="9405884" y="3026664"/>
            <a:ext cx="283464" cy="292608"/>
          </a:xfrm>
          <a:prstGeom prst="rightArrow">
            <a:avLst/>
          </a:prstGeom>
          <a:solidFill>
            <a:srgbClr val="6B7280"/>
          </a:solidFill>
          <a:ln w="12700">
            <a:solidFill>
              <a:srgbClr val="6B7280"/>
            </a:solidFill>
            <a:prstDash val="solid"/>
          </a:ln>
        </p:spPr>
      </p:sp>
      <p:sp>
        <p:nvSpPr>
          <p:cNvPr id="30" name="Shape 28"/>
          <p:cNvSpPr/>
          <p:nvPr/>
        </p:nvSpPr>
        <p:spPr>
          <a:xfrm>
            <a:off x="9753356" y="1618488"/>
            <a:ext cx="1889699" cy="3108960"/>
          </a:xfrm>
          <a:prstGeom prst="roundRect">
            <a:avLst>
              <a:gd name="adj" fmla="val 5807"/>
            </a:avLst>
          </a:prstGeom>
          <a:solidFill>
            <a:srgbClr val="EEF0FF"/>
          </a:solidFill>
          <a:ln w="15875">
            <a:solidFill>
              <a:srgbClr val="4F46E5"/>
            </a:solidFill>
            <a:prstDash val="solid"/>
          </a:ln>
        </p:spPr>
      </p:sp>
      <p:sp>
        <p:nvSpPr>
          <p:cNvPr id="31" name="Shape 29"/>
          <p:cNvSpPr/>
          <p:nvPr/>
        </p:nvSpPr>
        <p:spPr>
          <a:xfrm>
            <a:off x="10497038" y="1746504"/>
            <a:ext cx="402336" cy="402336"/>
          </a:xfrm>
          <a:prstGeom prst="ellipse">
            <a:avLst/>
          </a:prstGeom>
          <a:solidFill>
            <a:srgbClr val="4F46E5"/>
          </a:solidFill>
          <a:ln w="12700">
            <a:solidFill>
              <a:srgbClr val="4F46E5"/>
            </a:solidFill>
            <a:prstDash val="solid"/>
          </a:ln>
        </p:spPr>
      </p:sp>
      <p:sp>
        <p:nvSpPr>
          <p:cNvPr id="32" name="Text 30"/>
          <p:cNvSpPr txBox="1"/>
          <p:nvPr/>
        </p:nvSpPr>
        <p:spPr>
          <a:xfrm>
            <a:off x="10497038"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3" name="Text 31"/>
          <p:cNvSpPr txBox="1"/>
          <p:nvPr/>
        </p:nvSpPr>
        <p:spPr>
          <a:xfrm>
            <a:off x="9826508"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Decide &amp; monitor</a:t>
            </a:r>
            <a:endParaRPr lang="en-US" sz="1900" dirty="0"/>
          </a:p>
        </p:txBody>
      </p:sp>
      <p:sp>
        <p:nvSpPr>
          <p:cNvPr id="34" name="Text 32"/>
          <p:cNvSpPr txBox="1"/>
          <p:nvPr/>
        </p:nvSpPr>
        <p:spPr>
          <a:xfrm>
            <a:off x="9844796"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Document choice; re-test when models change</a:t>
            </a:r>
            <a:endParaRPr lang="en-US" sz="1700" dirty="0"/>
          </a:p>
        </p:txBody>
      </p:sp>
      <p:sp>
        <p:nvSpPr>
          <p:cNvPr id="35" name="Shape 33"/>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36" name="Text 34"/>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1800" b="1" dirty="0">
                <a:solidFill>
                  <a:srgbClr val="EA580C"/>
                </a:solidFill>
                <a:latin typeface="Calibri" pitchFamily="34" charset="0"/>
                <a:ea typeface="Calibri" pitchFamily="34" charset="-122"/>
                <a:cs typeface="Calibri" pitchFamily="34" charset="-120"/>
              </a:rPr>
              <a:t>Key idea:  </a:t>
            </a:r>
            <a:pPr indent="0" marL="0">
              <a:buNone/>
            </a:pPr>
            <a:r>
              <a:rPr lang="en-US" sz="1800" dirty="0">
                <a:solidFill>
                  <a:srgbClr val="1F2937"/>
                </a:solidFill>
                <a:latin typeface="Calibri" pitchFamily="34" charset="0"/>
                <a:ea typeface="Calibri" pitchFamily="34" charset="-122"/>
                <a:cs typeface="Calibri" pitchFamily="34" charset="-120"/>
              </a:rPr>
              <a:t>The best model is the smallest, cheapest one that meets your quality bar on your own test set, within your privacy and licence constraints.</a:t>
            </a:r>
            <a:endParaRPr lang="en-US" sz="1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Responsible AI lens: large language models</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100" b="1" dirty="0">
                <a:solidFill>
                  <a:srgbClr val="1F2937"/>
                </a:solidFill>
                <a:latin typeface="Calibri" pitchFamily="34" charset="0"/>
                <a:ea typeface="Calibri" pitchFamily="34" charset="-122"/>
                <a:cs typeface="Calibri" pitchFamily="34" charset="-120"/>
              </a:rPr>
              <a:t>Data provenance and copyright</a:t>
            </a:r>
            <a:pPr indent="0" marL="0">
              <a:buNone/>
            </a:pPr>
            <a:r>
              <a:rPr lang="en-US" sz="2100" dirty="0">
                <a:solidFill>
                  <a:srgbClr val="1F2937"/>
                </a:solidFill>
                <a:latin typeface="Calibri" pitchFamily="34" charset="0"/>
                <a:ea typeface="Calibri" pitchFamily="34" charset="-122"/>
                <a:cs typeface="Calibri" pitchFamily="34" charset="-120"/>
              </a:rPr>
              <a:t>: most developers disclose little about training data; lawsuits over training on copyrighted text continue.</a:t>
            </a:r>
            <a:endParaRPr lang="en-US" sz="2100" dirty="0"/>
          </a:p>
          <a:p>
            <a:pPr marL="254000" indent="-254000">
              <a:spcAft>
                <a:spcPts val="800"/>
              </a:spcAft>
              <a:buSzPct val="100000"/>
              <a:buChar char="●"/>
            </a:pPr>
            <a:r>
              <a:rPr lang="en-US" sz="2100" b="1" dirty="0">
                <a:solidFill>
                  <a:srgbClr val="1F2937"/>
                </a:solidFill>
                <a:latin typeface="Calibri" pitchFamily="34" charset="0"/>
                <a:ea typeface="Calibri" pitchFamily="34" charset="-122"/>
                <a:cs typeface="Calibri" pitchFamily="34" charset="-120"/>
              </a:rPr>
              <a:t>Bias</a:t>
            </a:r>
            <a:pPr indent="0" marL="0">
              <a:buNone/>
            </a:pPr>
            <a:r>
              <a:rPr lang="en-US" sz="2100" dirty="0">
                <a:solidFill>
                  <a:srgbClr val="1F2937"/>
                </a:solidFill>
                <a:latin typeface="Calibri" pitchFamily="34" charset="0"/>
                <a:ea typeface="Calibri" pitchFamily="34" charset="-122"/>
                <a:cs typeface="Calibri" pitchFamily="34" charset="-120"/>
              </a:rPr>
              <a:t>: models reproduce stereotypes and perform worse for some languages and dialects; test across the groups you serve.</a:t>
            </a:r>
            <a:endParaRPr lang="en-US" sz="2100" dirty="0"/>
          </a:p>
          <a:p>
            <a:pPr marL="254000" indent="-254000">
              <a:spcAft>
                <a:spcPts val="800"/>
              </a:spcAft>
              <a:buSzPct val="100000"/>
              <a:buChar char="●"/>
            </a:pPr>
            <a:r>
              <a:rPr lang="en-US" sz="2100" b="1" dirty="0">
                <a:solidFill>
                  <a:srgbClr val="1F2937"/>
                </a:solidFill>
                <a:latin typeface="Calibri" pitchFamily="34" charset="0"/>
                <a:ea typeface="Calibri" pitchFamily="34" charset="-122"/>
                <a:cs typeface="Calibri" pitchFamily="34" charset="-120"/>
              </a:rPr>
              <a:t>Hallucination and overconfidence</a:t>
            </a:r>
            <a:pPr indent="0" marL="0">
              <a:buNone/>
            </a:pPr>
            <a:r>
              <a:rPr lang="en-US" sz="2100" dirty="0">
                <a:solidFill>
                  <a:srgbClr val="1F2937"/>
                </a:solidFill>
                <a:latin typeface="Calibri" pitchFamily="34" charset="0"/>
                <a:ea typeface="Calibri" pitchFamily="34" charset="-122"/>
                <a:cs typeface="Calibri" pitchFamily="34" charset="-120"/>
              </a:rPr>
              <a:t>: fluent answers without guarantees (weeks 7 and 12).</a:t>
            </a:r>
            <a:endParaRPr lang="en-US" sz="2100" dirty="0"/>
          </a:p>
          <a:p>
            <a:pPr marL="254000" indent="-254000">
              <a:spcAft>
                <a:spcPts val="800"/>
              </a:spcAft>
              <a:buSzPct val="100000"/>
              <a:buChar char="●"/>
            </a:pPr>
            <a:r>
              <a:rPr lang="en-US" sz="2100" b="1" dirty="0">
                <a:solidFill>
                  <a:srgbClr val="1F2937"/>
                </a:solidFill>
                <a:latin typeface="Calibri" pitchFamily="34" charset="0"/>
                <a:ea typeface="Calibri" pitchFamily="34" charset="-122"/>
                <a:cs typeface="Calibri" pitchFamily="34" charset="-120"/>
              </a:rPr>
              <a:t>Privacy</a:t>
            </a:r>
            <a:pPr indent="0" marL="0">
              <a:buNone/>
            </a:pPr>
            <a:r>
              <a:rPr lang="en-US" sz="2100" dirty="0">
                <a:solidFill>
                  <a:srgbClr val="1F2937"/>
                </a:solidFill>
                <a:latin typeface="Calibri" pitchFamily="34" charset="0"/>
                <a:ea typeface="Calibri" pitchFamily="34" charset="-122"/>
                <a:cs typeface="Calibri" pitchFamily="34" charset="-120"/>
              </a:rPr>
              <a:t>: models can memorise and regurgitate training data; do not send personal data to tools without approval.</a:t>
            </a:r>
            <a:endParaRPr lang="en-US" sz="2100" dirty="0"/>
          </a:p>
          <a:p>
            <a:pPr marL="254000" indent="-254000">
              <a:spcAft>
                <a:spcPts val="800"/>
              </a:spcAft>
              <a:buSzPct val="100000"/>
              <a:buChar char="●"/>
            </a:pPr>
            <a:r>
              <a:rPr lang="en-US" sz="2100" b="1" dirty="0">
                <a:solidFill>
                  <a:srgbClr val="1F2937"/>
                </a:solidFill>
                <a:latin typeface="Calibri" pitchFamily="34" charset="0"/>
                <a:ea typeface="Calibri" pitchFamily="34" charset="-122"/>
                <a:cs typeface="Calibri" pitchFamily="34" charset="-120"/>
              </a:rPr>
              <a:t>Openness and accountability</a:t>
            </a:r>
            <a:pPr indent="0" marL="0">
              <a:buNone/>
            </a:pPr>
            <a:r>
              <a:rPr lang="en-US" sz="2100" dirty="0">
                <a:solidFill>
                  <a:srgbClr val="1F2937"/>
                </a:solidFill>
                <a:latin typeface="Calibri" pitchFamily="34" charset="0"/>
                <a:ea typeface="Calibri" pitchFamily="34" charset="-122"/>
                <a:cs typeface="Calibri" pitchFamily="34" charset="-120"/>
              </a:rPr>
              <a:t>: open weights enable scrutiny and local control but also misuse; licences and model cards set obligations.</a:t>
            </a:r>
            <a:endParaRPr lang="en-US" sz="21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Compare models with evidence</a:t>
            </a:r>
            <a:endParaRPr lang="en-US" sz="3200" dirty="0"/>
          </a:p>
        </p:txBody>
      </p:sp>
      <p:sp>
        <p:nvSpPr>
          <p:cNvPr id="6" name="Text 4"/>
          <p:cNvSpPr txBox="1"/>
          <p:nvPr/>
        </p:nvSpPr>
        <p:spPr>
          <a:xfrm>
            <a:off x="548640" y="1481328"/>
            <a:ext cx="11094415" cy="365760"/>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Different experiments answer different comparison questions</a:t>
            </a:r>
            <a:endParaRPr lang="en-US" sz="1800" dirty="0"/>
          </a:p>
        </p:txBody>
      </p:sp>
      <p:sp>
        <p:nvSpPr>
          <p:cNvPr id="7" name="Shape 5"/>
          <p:cNvSpPr/>
          <p:nvPr/>
        </p:nvSpPr>
        <p:spPr>
          <a:xfrm>
            <a:off x="3762331" y="2569464"/>
            <a:ext cx="861033" cy="0"/>
          </a:xfrm>
          <a:prstGeom prst="line">
            <a:avLst/>
          </a:prstGeom>
          <a:noFill/>
          <a:ln w="20320">
            <a:solidFill>
              <a:srgbClr val="4F46E5"/>
            </a:solidFill>
            <a:prstDash val="solid"/>
            <a:tailEnd type="triangle"/>
          </a:ln>
        </p:spPr>
      </p:sp>
      <p:sp>
        <p:nvSpPr>
          <p:cNvPr id="8" name="Shape 6"/>
          <p:cNvSpPr/>
          <p:nvPr/>
        </p:nvSpPr>
        <p:spPr>
          <a:xfrm>
            <a:off x="7568331" y="2569464"/>
            <a:ext cx="861033" cy="0"/>
          </a:xfrm>
          <a:prstGeom prst="line">
            <a:avLst/>
          </a:prstGeom>
          <a:noFill/>
          <a:ln w="20320">
            <a:solidFill>
              <a:srgbClr val="4F46E5"/>
            </a:solidFill>
            <a:prstDash val="solid"/>
            <a:tailEnd type="triangle"/>
          </a:ln>
        </p:spPr>
      </p:sp>
      <p:sp>
        <p:nvSpPr>
          <p:cNvPr id="9" name="Shape 7"/>
          <p:cNvSpPr/>
          <p:nvPr/>
        </p:nvSpPr>
        <p:spPr>
          <a:xfrm>
            <a:off x="9901848" y="3621024"/>
            <a:ext cx="0" cy="54864"/>
          </a:xfrm>
          <a:prstGeom prst="line">
            <a:avLst/>
          </a:prstGeom>
          <a:noFill/>
          <a:ln w="20320">
            <a:solidFill>
              <a:srgbClr val="4F46E5"/>
            </a:solidFill>
            <a:prstDash val="solid"/>
            <a:tailEnd type="triangle"/>
          </a:ln>
        </p:spPr>
      </p:sp>
      <p:sp>
        <p:nvSpPr>
          <p:cNvPr id="10" name="Shape 8"/>
          <p:cNvSpPr/>
          <p:nvPr/>
        </p:nvSpPr>
        <p:spPr>
          <a:xfrm flipH="1">
            <a:off x="7568331" y="4398264"/>
            <a:ext cx="861033" cy="0"/>
          </a:xfrm>
          <a:prstGeom prst="line">
            <a:avLst/>
          </a:prstGeom>
          <a:noFill/>
          <a:ln w="20320">
            <a:solidFill>
              <a:srgbClr val="4F46E5"/>
            </a:solidFill>
            <a:prstDash val="solid"/>
            <a:tailEnd type="triangle"/>
          </a:ln>
        </p:spPr>
      </p:sp>
      <p:sp>
        <p:nvSpPr>
          <p:cNvPr id="11" name="Shape 9"/>
          <p:cNvSpPr/>
          <p:nvPr/>
        </p:nvSpPr>
        <p:spPr>
          <a:xfrm flipH="1">
            <a:off x="3762331" y="4398264"/>
            <a:ext cx="861033" cy="0"/>
          </a:xfrm>
          <a:prstGeom prst="line">
            <a:avLst/>
          </a:prstGeom>
          <a:noFill/>
          <a:ln w="20320">
            <a:solidFill>
              <a:srgbClr val="4F46E5"/>
            </a:solidFill>
            <a:prstDash val="solid"/>
            <a:tailEnd type="triangle"/>
          </a:ln>
        </p:spPr>
      </p:sp>
      <p:sp>
        <p:nvSpPr>
          <p:cNvPr id="12" name="Shape 10"/>
          <p:cNvSpPr/>
          <p:nvPr/>
        </p:nvSpPr>
        <p:spPr>
          <a:xfrm>
            <a:off x="872227" y="1883664"/>
            <a:ext cx="2835239" cy="1344168"/>
          </a:xfrm>
          <a:prstGeom prst="rect">
            <a:avLst/>
          </a:prstGeom>
          <a:solidFill>
            <a:srgbClr val="F5F3FF"/>
          </a:solidFill>
          <a:ln w="16510">
            <a:solidFill>
              <a:srgbClr val="4F46E5"/>
            </a:solidFill>
            <a:prstDash val="solid"/>
          </a:ln>
        </p:spPr>
      </p:sp>
      <p:sp>
        <p:nvSpPr>
          <p:cNvPr id="13" name="Text 11"/>
          <p:cNvSpPr txBox="1"/>
          <p:nvPr/>
        </p:nvSpPr>
        <p:spPr>
          <a:xfrm>
            <a:off x="945379"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1. Compare tokenisers</a:t>
            </a:r>
            <a:endParaRPr lang="en-US" sz="1900" dirty="0"/>
          </a:p>
        </p:txBody>
      </p:sp>
      <p:sp>
        <p:nvSpPr>
          <p:cNvPr id="14" name="Text 12"/>
          <p:cNvSpPr txBox="1"/>
          <p:nvPr/>
        </p:nvSpPr>
        <p:spPr>
          <a:xfrm>
            <a:off x="963667"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Count pieces for the same English, Irish and code</a:t>
            </a:r>
            <a:endParaRPr lang="en-US" sz="1700" dirty="0"/>
          </a:p>
        </p:txBody>
      </p:sp>
      <p:sp>
        <p:nvSpPr>
          <p:cNvPr id="15" name="Text 13"/>
          <p:cNvSpPr txBox="1"/>
          <p:nvPr/>
        </p:nvSpPr>
        <p:spPr>
          <a:xfrm>
            <a:off x="927091"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tokenizers / df_tok</a:t>
            </a:r>
            <a:endParaRPr lang="en-US" sz="1200" dirty="0"/>
          </a:p>
        </p:txBody>
      </p:sp>
      <p:sp>
        <p:nvSpPr>
          <p:cNvPr id="16" name="Text 14"/>
          <p:cNvSpPr txBox="1"/>
          <p:nvPr/>
        </p:nvSpPr>
        <p:spPr>
          <a:xfrm>
            <a:off x="872227"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tokenisation observations</a:t>
            </a:r>
            <a:endParaRPr lang="en-US" sz="1500" dirty="0"/>
          </a:p>
        </p:txBody>
      </p:sp>
      <p:sp>
        <p:nvSpPr>
          <p:cNvPr id="17" name="Shape 15"/>
          <p:cNvSpPr/>
          <p:nvPr/>
        </p:nvSpPr>
        <p:spPr>
          <a:xfrm>
            <a:off x="4678228" y="1883664"/>
            <a:ext cx="2835239" cy="1344168"/>
          </a:xfrm>
          <a:prstGeom prst="rect">
            <a:avLst/>
          </a:prstGeom>
          <a:solidFill>
            <a:srgbClr val="F5F3FF"/>
          </a:solidFill>
          <a:ln w="16510">
            <a:solidFill>
              <a:srgbClr val="4F46E5"/>
            </a:solidFill>
            <a:prstDash val="solid"/>
          </a:ln>
        </p:spPr>
      </p:sp>
      <p:sp>
        <p:nvSpPr>
          <p:cNvPr id="18" name="Text 16"/>
          <p:cNvSpPr txBox="1"/>
          <p:nvPr/>
        </p:nvSpPr>
        <p:spPr>
          <a:xfrm>
            <a:off x="4751380"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2. Compare families</a:t>
            </a:r>
            <a:endParaRPr lang="en-US" sz="1900" dirty="0"/>
          </a:p>
        </p:txBody>
      </p:sp>
      <p:sp>
        <p:nvSpPr>
          <p:cNvPr id="19" name="Text 17"/>
          <p:cNvSpPr txBox="1"/>
          <p:nvPr/>
        </p:nvSpPr>
        <p:spPr>
          <a:xfrm>
            <a:off x="4769668"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Mask filling, text-to-text and decoder chat</a:t>
            </a:r>
            <a:endParaRPr lang="en-US" sz="1700" dirty="0"/>
          </a:p>
        </p:txBody>
      </p:sp>
      <p:sp>
        <p:nvSpPr>
          <p:cNvPr id="20" name="Text 18"/>
          <p:cNvSpPr txBox="1"/>
          <p:nvPr/>
        </p:nvSpPr>
        <p:spPr>
          <a:xfrm>
            <a:off x="4733092"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fill / t5_generate / chat</a:t>
            </a:r>
            <a:endParaRPr lang="en-US" sz="1200" dirty="0"/>
          </a:p>
        </p:txBody>
      </p:sp>
      <p:sp>
        <p:nvSpPr>
          <p:cNvPr id="21" name="Text 19"/>
          <p:cNvSpPr txBox="1"/>
          <p:nvPr/>
        </p:nvSpPr>
        <p:spPr>
          <a:xfrm>
            <a:off x="4678228"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family outputs</a:t>
            </a:r>
            <a:endParaRPr lang="en-US" sz="1500" dirty="0"/>
          </a:p>
        </p:txBody>
      </p:sp>
      <p:sp>
        <p:nvSpPr>
          <p:cNvPr id="22" name="Shape 20"/>
          <p:cNvSpPr/>
          <p:nvPr/>
        </p:nvSpPr>
        <p:spPr>
          <a:xfrm>
            <a:off x="8484229" y="1883664"/>
            <a:ext cx="2835239" cy="1344168"/>
          </a:xfrm>
          <a:prstGeom prst="rect">
            <a:avLst/>
          </a:prstGeom>
          <a:solidFill>
            <a:srgbClr val="F5F3FF"/>
          </a:solidFill>
          <a:ln w="16510">
            <a:solidFill>
              <a:srgbClr val="4F46E5"/>
            </a:solidFill>
            <a:prstDash val="solid"/>
          </a:ln>
        </p:spPr>
      </p:sp>
      <p:sp>
        <p:nvSpPr>
          <p:cNvPr id="23" name="Text 21"/>
          <p:cNvSpPr txBox="1"/>
          <p:nvPr/>
        </p:nvSpPr>
        <p:spPr>
          <a:xfrm>
            <a:off x="8557381"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3. Compare decoding</a:t>
            </a:r>
            <a:endParaRPr lang="en-US" sz="1900" dirty="0"/>
          </a:p>
        </p:txBody>
      </p:sp>
      <p:sp>
        <p:nvSpPr>
          <p:cNvPr id="24" name="Text 22"/>
          <p:cNvSpPr txBox="1"/>
          <p:nvPr/>
        </p:nvSpPr>
        <p:spPr>
          <a:xfrm>
            <a:off x="8575669"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Hold a prompt fixed; vary token-selection settings</a:t>
            </a:r>
            <a:endParaRPr lang="en-US" sz="1700" dirty="0"/>
          </a:p>
        </p:txBody>
      </p:sp>
      <p:sp>
        <p:nvSpPr>
          <p:cNvPr id="25" name="Text 23"/>
          <p:cNvSpPr txBox="1"/>
          <p:nvPr/>
        </p:nvSpPr>
        <p:spPr>
          <a:xfrm>
            <a:off x="8539093"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sample / outputs</a:t>
            </a:r>
            <a:endParaRPr lang="en-US" sz="1200" dirty="0"/>
          </a:p>
        </p:txBody>
      </p:sp>
      <p:sp>
        <p:nvSpPr>
          <p:cNvPr id="26" name="Text 24"/>
          <p:cNvSpPr txBox="1"/>
          <p:nvPr/>
        </p:nvSpPr>
        <p:spPr>
          <a:xfrm>
            <a:off x="8484229"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decoding outputs</a:t>
            </a:r>
            <a:endParaRPr lang="en-US" sz="1500" dirty="0"/>
          </a:p>
        </p:txBody>
      </p:sp>
      <p:sp>
        <p:nvSpPr>
          <p:cNvPr id="27" name="Shape 25"/>
          <p:cNvSpPr/>
          <p:nvPr/>
        </p:nvSpPr>
        <p:spPr>
          <a:xfrm>
            <a:off x="8484229" y="3712464"/>
            <a:ext cx="2835239" cy="1344168"/>
          </a:xfrm>
          <a:prstGeom prst="rect">
            <a:avLst/>
          </a:prstGeom>
          <a:solidFill>
            <a:srgbClr val="F5F3FF"/>
          </a:solidFill>
          <a:ln w="16510">
            <a:solidFill>
              <a:srgbClr val="4F46E5"/>
            </a:solidFill>
            <a:prstDash val="solid"/>
          </a:ln>
        </p:spPr>
      </p:sp>
      <p:sp>
        <p:nvSpPr>
          <p:cNvPr id="28" name="Text 26"/>
          <p:cNvSpPr txBox="1"/>
          <p:nvPr/>
        </p:nvSpPr>
        <p:spPr>
          <a:xfrm>
            <a:off x="8557381"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4. Measure predictability</a:t>
            </a:r>
            <a:endParaRPr lang="en-US" sz="1900" dirty="0"/>
          </a:p>
        </p:txBody>
      </p:sp>
      <p:sp>
        <p:nvSpPr>
          <p:cNvPr id="29" name="Text 27"/>
          <p:cNvSpPr txBox="1"/>
          <p:nvPr/>
        </p:nvSpPr>
        <p:spPr>
          <a:xfrm>
            <a:off x="8575669"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Calculate loss on the supplied text</a:t>
            </a:r>
            <a:endParaRPr lang="en-US" sz="1700" dirty="0"/>
          </a:p>
        </p:txBody>
      </p:sp>
      <p:sp>
        <p:nvSpPr>
          <p:cNvPr id="30" name="Text 28"/>
          <p:cNvSpPr txBox="1"/>
          <p:nvPr/>
        </p:nvSpPr>
        <p:spPr>
          <a:xfrm>
            <a:off x="8539093"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perplexity</a:t>
            </a:r>
            <a:endParaRPr lang="en-US" sz="1200" dirty="0"/>
          </a:p>
        </p:txBody>
      </p:sp>
      <p:sp>
        <p:nvSpPr>
          <p:cNvPr id="31" name="Text 29"/>
          <p:cNvSpPr txBox="1"/>
          <p:nvPr/>
        </p:nvSpPr>
        <p:spPr>
          <a:xfrm>
            <a:off x="8484229"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loss/PPL table</a:t>
            </a:r>
            <a:endParaRPr lang="en-US" sz="1500" dirty="0"/>
          </a:p>
        </p:txBody>
      </p:sp>
      <p:sp>
        <p:nvSpPr>
          <p:cNvPr id="32" name="Shape 30"/>
          <p:cNvSpPr/>
          <p:nvPr/>
        </p:nvSpPr>
        <p:spPr>
          <a:xfrm>
            <a:off x="4678228" y="3712464"/>
            <a:ext cx="2835239" cy="1344168"/>
          </a:xfrm>
          <a:prstGeom prst="rect">
            <a:avLst/>
          </a:prstGeom>
          <a:solidFill>
            <a:srgbClr val="F5F3FF"/>
          </a:solidFill>
          <a:ln w="16510">
            <a:solidFill>
              <a:srgbClr val="4F46E5"/>
            </a:solidFill>
            <a:prstDash val="solid"/>
          </a:ln>
        </p:spPr>
      </p:sp>
      <p:sp>
        <p:nvSpPr>
          <p:cNvPr id="33" name="Text 31"/>
          <p:cNvSpPr txBox="1"/>
          <p:nvPr/>
        </p:nvSpPr>
        <p:spPr>
          <a:xfrm>
            <a:off x="4751380"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5. Log model calls</a:t>
            </a:r>
            <a:endParaRPr lang="en-US" sz="1900" dirty="0"/>
          </a:p>
        </p:txBody>
      </p:sp>
      <p:sp>
        <p:nvSpPr>
          <p:cNvPr id="34" name="Text 32"/>
          <p:cNvSpPr txBox="1"/>
          <p:nvPr/>
        </p:nvSpPr>
        <p:spPr>
          <a:xfrm>
            <a:off x="4769668"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Record local and available hosted-route output measures</a:t>
            </a:r>
            <a:endParaRPr lang="en-US" sz="1700" dirty="0"/>
          </a:p>
        </p:txBody>
      </p:sp>
      <p:sp>
        <p:nvSpPr>
          <p:cNvPr id="35" name="Text 33"/>
          <p:cNvSpPr txBox="1"/>
          <p:nvPr/>
        </p:nvSpPr>
        <p:spPr>
          <a:xfrm>
            <a:off x="4733092"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log</a:t>
            </a:r>
            <a:endParaRPr lang="en-US" sz="1200" dirty="0"/>
          </a:p>
        </p:txBody>
      </p:sp>
      <p:sp>
        <p:nvSpPr>
          <p:cNvPr id="36" name="Text 34"/>
          <p:cNvSpPr txBox="1"/>
          <p:nvPr/>
        </p:nvSpPr>
        <p:spPr>
          <a:xfrm>
            <a:off x="4678228"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token/time observations</a:t>
            </a:r>
            <a:endParaRPr lang="en-US" sz="1500" dirty="0"/>
          </a:p>
        </p:txBody>
      </p:sp>
      <p:sp>
        <p:nvSpPr>
          <p:cNvPr id="37" name="Shape 35"/>
          <p:cNvSpPr/>
          <p:nvPr/>
        </p:nvSpPr>
        <p:spPr>
          <a:xfrm>
            <a:off x="872227" y="3712464"/>
            <a:ext cx="2835239" cy="1344168"/>
          </a:xfrm>
          <a:prstGeom prst="rect">
            <a:avLst/>
          </a:prstGeom>
          <a:solidFill>
            <a:srgbClr val="F5F3FF"/>
          </a:solidFill>
          <a:ln w="16510">
            <a:solidFill>
              <a:srgbClr val="4F46E5"/>
            </a:solidFill>
            <a:prstDash val="solid"/>
          </a:ln>
        </p:spPr>
      </p:sp>
      <p:sp>
        <p:nvSpPr>
          <p:cNvPr id="38" name="Text 36"/>
          <p:cNvSpPr txBox="1"/>
          <p:nvPr/>
        </p:nvSpPr>
        <p:spPr>
          <a:xfrm>
            <a:off x="945379"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6. Check thinking</a:t>
            </a:r>
            <a:endParaRPr lang="en-US" sz="1900" dirty="0"/>
          </a:p>
        </p:txBody>
      </p:sp>
      <p:sp>
        <p:nvSpPr>
          <p:cNvPr id="39" name="Text 37"/>
          <p:cNvSpPr txBox="1"/>
          <p:nvPr/>
        </p:nvSpPr>
        <p:spPr>
          <a:xfrm>
            <a:off x="963667"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Score final answers across modes and sampled seeds</a:t>
            </a:r>
            <a:endParaRPr lang="en-US" sz="1700" dirty="0"/>
          </a:p>
        </p:txBody>
      </p:sp>
      <p:sp>
        <p:nvSpPr>
          <p:cNvPr id="40" name="Text 38"/>
          <p:cNvSpPr txBox="1"/>
          <p:nvPr/>
        </p:nvSpPr>
        <p:spPr>
          <a:xfrm>
            <a:off x="927091"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reason_df</a:t>
            </a:r>
            <a:endParaRPr lang="en-US" sz="1200" dirty="0"/>
          </a:p>
        </p:txBody>
      </p:sp>
      <p:sp>
        <p:nvSpPr>
          <p:cNvPr id="41" name="Text 39"/>
          <p:cNvSpPr txBox="1"/>
          <p:nvPr/>
        </p:nvSpPr>
        <p:spPr>
          <a:xfrm>
            <a:off x="548640" y="5715000"/>
            <a:ext cx="11094415" cy="548640"/>
          </a:xfrm>
          <a:prstGeom prst="rect">
            <a:avLst/>
          </a:prstGeom>
          <a:noFill/>
          <a:ln/>
        </p:spPr>
        <p:txBody>
          <a:bodyPr wrap="square" lIns="0" tIns="0" rIns="0" bIns="0" rtlCol="0" anchor="t"/>
          <a:lstStyle/>
          <a:p>
            <a:pPr indent="0" marL="0">
              <a:buNone/>
            </a:pPr>
            <a:r>
              <a:rPr lang="en-US" sz="1700" dirty="0">
                <a:solidFill>
                  <a:srgbClr val="1F2937"/>
                </a:solidFill>
                <a:latin typeface="Calibri" pitchFamily="34" charset="0"/>
                <a:ea typeface="Calibri" pitchFamily="34" charset="-122"/>
                <a:cs typeface="Calibri" pitchFamily="34" charset="-120"/>
              </a:rPr>
              <a:t>Check: Can lower perplexity from one tokenizer prove that its model answers questions better?</a:t>
            </a:r>
            <a:endParaRPr lang="en-US" sz="1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Lab 6: compare LLM families and query a model</a:t>
            </a:r>
            <a:endParaRPr lang="en-US" sz="3200" dirty="0"/>
          </a:p>
        </p:txBody>
      </p:sp>
      <p:sp>
        <p:nvSpPr>
          <p:cNvPr id="6" name="Shape 4"/>
          <p:cNvSpPr/>
          <p:nvPr/>
        </p:nvSpPr>
        <p:spPr>
          <a:xfrm>
            <a:off x="548640" y="1527048"/>
            <a:ext cx="411480" cy="411480"/>
          </a:xfrm>
          <a:prstGeom prst="ellipse">
            <a:avLst/>
          </a:prstGeom>
          <a:solidFill>
            <a:srgbClr val="0F766E"/>
          </a:solidFill>
          <a:ln w="12700">
            <a:solidFill>
              <a:srgbClr val="0F766E"/>
            </a:solidFill>
            <a:prstDash val="solid"/>
          </a:ln>
        </p:spPr>
      </p:sp>
      <p:sp>
        <p:nvSpPr>
          <p:cNvPr id="7" name="Text 5"/>
          <p:cNvSpPr txBox="1"/>
          <p:nvPr/>
        </p:nvSpPr>
        <p:spPr>
          <a:xfrm>
            <a:off x="548640" y="152704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481328"/>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Compare </a:t>
            </a:r>
            <a:pPr indent="0" marL="0">
              <a:buNone/>
            </a:pPr>
            <a:r>
              <a:rPr lang="en-US" sz="1700" b="1" dirty="0">
                <a:solidFill>
                  <a:srgbClr val="1F2937"/>
                </a:solidFill>
                <a:latin typeface="Calibri" pitchFamily="34" charset="0"/>
                <a:ea typeface="Calibri" pitchFamily="34" charset="-122"/>
                <a:cs typeface="Calibri" pitchFamily="34" charset="-120"/>
              </a:rPr>
              <a:t>tokenisers</a:t>
            </a:r>
            <a:pPr indent="0" marL="0">
              <a:buNone/>
            </a:pPr>
            <a:r>
              <a:rPr lang="en-US" sz="1700" dirty="0">
                <a:solidFill>
                  <a:srgbClr val="1F2937"/>
                </a:solidFill>
                <a:latin typeface="Calibri" pitchFamily="34" charset="0"/>
                <a:ea typeface="Calibri" pitchFamily="34" charset="-122"/>
                <a:cs typeface="Calibri" pitchFamily="34" charset="-120"/>
              </a:rPr>
              <a:t> of GPT-2, BERT, T5 and Qwen on English, another language and code.</a:t>
            </a:r>
            <a:endParaRPr lang="en-US" sz="1700" dirty="0"/>
          </a:p>
        </p:txBody>
      </p:sp>
      <p:sp>
        <p:nvSpPr>
          <p:cNvPr id="9" name="Shape 7"/>
          <p:cNvSpPr/>
          <p:nvPr/>
        </p:nvSpPr>
        <p:spPr>
          <a:xfrm>
            <a:off x="548640" y="2331720"/>
            <a:ext cx="411480" cy="411480"/>
          </a:xfrm>
          <a:prstGeom prst="ellipse">
            <a:avLst/>
          </a:prstGeom>
          <a:solidFill>
            <a:srgbClr val="0F766E"/>
          </a:solidFill>
          <a:ln w="12700">
            <a:solidFill>
              <a:srgbClr val="0F766E"/>
            </a:solidFill>
            <a:prstDash val="solid"/>
          </a:ln>
        </p:spPr>
      </p:sp>
      <p:sp>
        <p:nvSpPr>
          <p:cNvPr id="10" name="Text 8"/>
          <p:cNvSpPr txBox="1"/>
          <p:nvPr/>
        </p:nvSpPr>
        <p:spPr>
          <a:xfrm>
            <a:off x="548640" y="233172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286000"/>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Give the same inputs to </a:t>
            </a:r>
            <a:pPr indent="0" marL="0">
              <a:buNone/>
            </a:pPr>
            <a:r>
              <a:rPr lang="en-US" sz="1700" b="1" dirty="0">
                <a:solidFill>
                  <a:srgbClr val="1F2937"/>
                </a:solidFill>
                <a:latin typeface="Calibri" pitchFamily="34" charset="0"/>
                <a:ea typeface="Calibri" pitchFamily="34" charset="-122"/>
                <a:cs typeface="Calibri" pitchFamily="34" charset="-120"/>
              </a:rPr>
              <a:t>BERT</a:t>
            </a:r>
            <a:pPr indent="0" marL="0">
              <a:buNone/>
            </a:pPr>
            <a:r>
              <a:rPr lang="en-US" sz="1700" dirty="0">
                <a:solidFill>
                  <a:srgbClr val="1F2937"/>
                </a:solidFill>
                <a:latin typeface="Calibri" pitchFamily="34" charset="0"/>
                <a:ea typeface="Calibri" pitchFamily="34" charset="-122"/>
                <a:cs typeface="Calibri" pitchFamily="34" charset="-120"/>
              </a:rPr>
              <a:t> (fill-mask), </a:t>
            </a:r>
            <a:pPr indent="0" marL="0">
              <a:buNone/>
            </a:pPr>
            <a:r>
              <a:rPr lang="en-US" sz="1700" b="1" dirty="0">
                <a:solidFill>
                  <a:srgbClr val="1F2937"/>
                </a:solidFill>
                <a:latin typeface="Calibri" pitchFamily="34" charset="0"/>
                <a:ea typeface="Calibri" pitchFamily="34" charset="-122"/>
                <a:cs typeface="Calibri" pitchFamily="34" charset="-120"/>
              </a:rPr>
              <a:t>Flan-T5</a:t>
            </a:r>
            <a:pPr indent="0" marL="0">
              <a:buNone/>
            </a:pPr>
            <a:r>
              <a:rPr lang="en-US" sz="1700" dirty="0">
                <a:solidFill>
                  <a:srgbClr val="1F2937"/>
                </a:solidFill>
                <a:latin typeface="Calibri" pitchFamily="34" charset="0"/>
                <a:ea typeface="Calibri" pitchFamily="34" charset="-122"/>
                <a:cs typeface="Calibri" pitchFamily="34" charset="-120"/>
              </a:rPr>
              <a:t> (text-to-text) and a </a:t>
            </a:r>
            <a:pPr indent="0" marL="0">
              <a:buNone/>
            </a:pPr>
            <a:r>
              <a:rPr lang="en-US" sz="1700" b="1" dirty="0">
                <a:solidFill>
                  <a:srgbClr val="1F2937"/>
                </a:solidFill>
                <a:latin typeface="Calibri" pitchFamily="34" charset="0"/>
                <a:ea typeface="Calibri" pitchFamily="34" charset="-122"/>
                <a:cs typeface="Calibri" pitchFamily="34" charset="-120"/>
              </a:rPr>
              <a:t>decoder LLM</a:t>
            </a:r>
            <a:pPr indent="0" marL="0">
              <a:buNone/>
            </a:pPr>
            <a:r>
              <a:rPr lang="en-US" sz="1700" dirty="0">
                <a:solidFill>
                  <a:srgbClr val="1F2937"/>
                </a:solidFill>
                <a:latin typeface="Calibri" pitchFamily="34" charset="0"/>
                <a:ea typeface="Calibri" pitchFamily="34" charset="-122"/>
                <a:cs typeface="Calibri" pitchFamily="34" charset="-120"/>
              </a:rPr>
              <a:t>; fill in a comparison table.</a:t>
            </a:r>
            <a:endParaRPr lang="en-US" sz="1700" dirty="0"/>
          </a:p>
        </p:txBody>
      </p:sp>
      <p:sp>
        <p:nvSpPr>
          <p:cNvPr id="12" name="Shape 10"/>
          <p:cNvSpPr/>
          <p:nvPr/>
        </p:nvSpPr>
        <p:spPr>
          <a:xfrm>
            <a:off x="548640" y="3136392"/>
            <a:ext cx="411480" cy="411480"/>
          </a:xfrm>
          <a:prstGeom prst="ellipse">
            <a:avLst/>
          </a:prstGeom>
          <a:solidFill>
            <a:srgbClr val="0F766E"/>
          </a:solidFill>
          <a:ln w="12700">
            <a:solidFill>
              <a:srgbClr val="0F766E"/>
            </a:solidFill>
            <a:prstDash val="solid"/>
          </a:ln>
        </p:spPr>
      </p:sp>
      <p:sp>
        <p:nvSpPr>
          <p:cNvPr id="13" name="Text 11"/>
          <p:cNvSpPr txBox="1"/>
          <p:nvPr/>
        </p:nvSpPr>
        <p:spPr>
          <a:xfrm>
            <a:off x="548640" y="313639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090672"/>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Implement </a:t>
            </a:r>
            <a:pPr indent="0" marL="0">
              <a:buNone/>
            </a:pPr>
            <a:r>
              <a:rPr lang="en-US" sz="1700" b="1" dirty="0">
                <a:solidFill>
                  <a:srgbClr val="1F2937"/>
                </a:solidFill>
                <a:latin typeface="Calibri" pitchFamily="34" charset="0"/>
                <a:ea typeface="Calibri" pitchFamily="34" charset="-122"/>
                <a:cs typeface="Calibri" pitchFamily="34" charset="-120"/>
              </a:rPr>
              <a:t>top-k</a:t>
            </a:r>
            <a:pPr indent="0" marL="0">
              <a:buNone/>
            </a:pPr>
            <a:r>
              <a:rPr lang="en-US" sz="1700" dirty="0">
                <a:solidFill>
                  <a:srgbClr val="1F2937"/>
                </a:solidFill>
                <a:latin typeface="Calibri" pitchFamily="34" charset="0"/>
                <a:ea typeface="Calibri" pitchFamily="34" charset="-122"/>
                <a:cs typeface="Calibri" pitchFamily="34" charset="-120"/>
              </a:rPr>
              <a:t> and </a:t>
            </a:r>
            <a:pPr indent="0" marL="0">
              <a:buNone/>
            </a:pPr>
            <a:r>
              <a:rPr lang="en-US" sz="1700" b="1" dirty="0">
                <a:solidFill>
                  <a:srgbClr val="1F2937"/>
                </a:solidFill>
                <a:latin typeface="Calibri" pitchFamily="34" charset="0"/>
                <a:ea typeface="Calibri" pitchFamily="34" charset="-122"/>
                <a:cs typeface="Calibri" pitchFamily="34" charset="-120"/>
              </a:rPr>
              <a:t>top-p</a:t>
            </a:r>
            <a:pPr indent="0" marL="0">
              <a:buNone/>
            </a:pPr>
            <a:r>
              <a:rPr lang="en-US" sz="1700" dirty="0">
                <a:solidFill>
                  <a:srgbClr val="1F2937"/>
                </a:solidFill>
                <a:latin typeface="Calibri" pitchFamily="34" charset="0"/>
                <a:ea typeface="Calibri" pitchFamily="34" charset="-122"/>
                <a:cs typeface="Calibri" pitchFamily="34" charset="-120"/>
              </a:rPr>
              <a:t> filtering; compare greedy, beam and sampled outputs.</a:t>
            </a:r>
            <a:endParaRPr lang="en-US" sz="1700" dirty="0"/>
          </a:p>
        </p:txBody>
      </p:sp>
      <p:sp>
        <p:nvSpPr>
          <p:cNvPr id="15" name="Shape 13"/>
          <p:cNvSpPr/>
          <p:nvPr/>
        </p:nvSpPr>
        <p:spPr>
          <a:xfrm>
            <a:off x="548640" y="3941064"/>
            <a:ext cx="411480" cy="411480"/>
          </a:xfrm>
          <a:prstGeom prst="ellipse">
            <a:avLst/>
          </a:prstGeom>
          <a:solidFill>
            <a:srgbClr val="0F766E"/>
          </a:solidFill>
          <a:ln w="12700">
            <a:solidFill>
              <a:srgbClr val="0F766E"/>
            </a:solidFill>
            <a:prstDash val="solid"/>
          </a:ln>
        </p:spPr>
      </p:sp>
      <p:sp>
        <p:nvSpPr>
          <p:cNvPr id="16" name="Text 14"/>
          <p:cNvSpPr txBox="1"/>
          <p:nvPr/>
        </p:nvSpPr>
        <p:spPr>
          <a:xfrm>
            <a:off x="548640" y="394106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3895344"/>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Compute </a:t>
            </a:r>
            <a:pPr indent="0" marL="0">
              <a:buNone/>
            </a:pPr>
            <a:r>
              <a:rPr lang="en-US" sz="1700" b="1" dirty="0">
                <a:solidFill>
                  <a:srgbClr val="1F2937"/>
                </a:solidFill>
                <a:latin typeface="Calibri" pitchFamily="34" charset="0"/>
                <a:ea typeface="Calibri" pitchFamily="34" charset="-122"/>
                <a:cs typeface="Calibri" pitchFamily="34" charset="-120"/>
              </a:rPr>
              <a:t>perplexity</a:t>
            </a:r>
            <a:pPr indent="0" marL="0">
              <a:buNone/>
            </a:pPr>
            <a:r>
              <a:rPr lang="en-US" sz="1700" dirty="0">
                <a:solidFill>
                  <a:srgbClr val="1F2937"/>
                </a:solidFill>
                <a:latin typeface="Calibri" pitchFamily="34" charset="0"/>
                <a:ea typeface="Calibri" pitchFamily="34" charset="-122"/>
                <a:cs typeface="Calibri" pitchFamily="34" charset="-120"/>
              </a:rPr>
              <a:t> of normal, shuffled and foreign-language text.</a:t>
            </a:r>
            <a:endParaRPr lang="en-US" sz="1700" dirty="0"/>
          </a:p>
        </p:txBody>
      </p:sp>
      <p:sp>
        <p:nvSpPr>
          <p:cNvPr id="18" name="Shape 16"/>
          <p:cNvSpPr/>
          <p:nvPr/>
        </p:nvSpPr>
        <p:spPr>
          <a:xfrm>
            <a:off x="548640" y="4745736"/>
            <a:ext cx="411480" cy="411480"/>
          </a:xfrm>
          <a:prstGeom prst="ellipse">
            <a:avLst/>
          </a:prstGeom>
          <a:solidFill>
            <a:srgbClr val="0F766E"/>
          </a:solidFill>
          <a:ln w="12700">
            <a:solidFill>
              <a:srgbClr val="0F766E"/>
            </a:solidFill>
            <a:prstDash val="solid"/>
          </a:ln>
        </p:spPr>
      </p:sp>
      <p:sp>
        <p:nvSpPr>
          <p:cNvPr id="19" name="Text 17"/>
          <p:cNvSpPr txBox="1"/>
          <p:nvPr/>
        </p:nvSpPr>
        <p:spPr>
          <a:xfrm>
            <a:off x="548640" y="47457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700016"/>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Query a hosted model through an </a:t>
            </a:r>
            <a:pPr indent="0" marL="0">
              <a:buNone/>
            </a:pPr>
            <a:r>
              <a:rPr lang="en-US" sz="1700" b="1" dirty="0">
                <a:solidFill>
                  <a:srgbClr val="1F2937"/>
                </a:solidFill>
                <a:latin typeface="Calibri" pitchFamily="34" charset="0"/>
                <a:ea typeface="Calibri" pitchFamily="34" charset="-122"/>
                <a:cs typeface="Calibri" pitchFamily="34" charset="-120"/>
              </a:rPr>
              <a:t>API</a:t>
            </a:r>
            <a:pPr indent="0" marL="0">
              <a:buNone/>
            </a:pPr>
            <a:r>
              <a:rPr lang="en-US" sz="1700" dirty="0">
                <a:solidFill>
                  <a:srgbClr val="1F2937"/>
                </a:solidFill>
                <a:latin typeface="Calibri" pitchFamily="34" charset="0"/>
                <a:ea typeface="Calibri" pitchFamily="34" charset="-122"/>
                <a:cs typeface="Calibri" pitchFamily="34" charset="-120"/>
              </a:rPr>
              <a:t> (free tier) or a local runtime; log tokens and latency.</a:t>
            </a:r>
            <a:endParaRPr lang="en-US" sz="1700" dirty="0"/>
          </a:p>
        </p:txBody>
      </p:sp>
      <p:sp>
        <p:nvSpPr>
          <p:cNvPr id="21" name="Shape 19"/>
          <p:cNvSpPr/>
          <p:nvPr/>
        </p:nvSpPr>
        <p:spPr>
          <a:xfrm>
            <a:off x="548640" y="5550408"/>
            <a:ext cx="411480" cy="411480"/>
          </a:xfrm>
          <a:prstGeom prst="ellipse">
            <a:avLst/>
          </a:prstGeom>
          <a:solidFill>
            <a:srgbClr val="0F766E"/>
          </a:solidFill>
          <a:ln w="12700">
            <a:solidFill>
              <a:srgbClr val="0F766E"/>
            </a:solidFill>
            <a:prstDash val="solid"/>
          </a:ln>
        </p:spPr>
      </p:sp>
      <p:sp>
        <p:nvSpPr>
          <p:cNvPr id="22" name="Text 20"/>
          <p:cNvSpPr txBox="1"/>
          <p:nvPr/>
        </p:nvSpPr>
        <p:spPr>
          <a:xfrm>
            <a:off x="548640" y="555040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3" name="Text 21"/>
          <p:cNvSpPr txBox="1"/>
          <p:nvPr/>
        </p:nvSpPr>
        <p:spPr>
          <a:xfrm>
            <a:off x="1143000" y="5504688"/>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Run a small </a:t>
            </a:r>
            <a:pPr indent="0" marL="0">
              <a:buNone/>
            </a:pPr>
            <a:r>
              <a:rPr lang="en-US" sz="1700" b="1" dirty="0">
                <a:solidFill>
                  <a:srgbClr val="1F2937"/>
                </a:solidFill>
                <a:latin typeface="Calibri" pitchFamily="34" charset="0"/>
                <a:ea typeface="Calibri" pitchFamily="34" charset="-122"/>
                <a:cs typeface="Calibri" pitchFamily="34" charset="-120"/>
              </a:rPr>
              <a:t>reasoning model</a:t>
            </a:r>
            <a:pPr indent="0" marL="0">
              <a:buNone/>
            </a:pPr>
            <a:r>
              <a:rPr lang="en-US" sz="1700" dirty="0">
                <a:solidFill>
                  <a:srgbClr val="1F2937"/>
                </a:solidFill>
                <a:latin typeface="Calibri" pitchFamily="34" charset="0"/>
                <a:ea typeface="Calibri" pitchFamily="34" charset="-122"/>
                <a:cs typeface="Calibri" pitchFamily="34" charset="-120"/>
              </a:rPr>
              <a:t> with thinking on and off; compare answers, tokens and time.</a:t>
            </a:r>
            <a:endParaRPr lang="en-US" sz="1700" dirty="0"/>
          </a:p>
        </p:txBody>
      </p:sp>
      <p:sp>
        <p:nvSpPr>
          <p:cNvPr id="24" name="Shape 22"/>
          <p:cNvSpPr/>
          <p:nvPr/>
        </p:nvSpPr>
        <p:spPr>
          <a:xfrm>
            <a:off x="8046720" y="1481328"/>
            <a:ext cx="3596335" cy="4828032"/>
          </a:xfrm>
          <a:prstGeom prst="roundRect">
            <a:avLst>
              <a:gd name="adj" fmla="val 3051"/>
            </a:avLst>
          </a:prstGeom>
          <a:solidFill>
            <a:srgbClr val="E6F4F1"/>
          </a:solidFill>
          <a:ln w="12700">
            <a:solidFill>
              <a:srgbClr val="E6F4F1"/>
            </a:solidFill>
            <a:prstDash val="solid"/>
          </a:ln>
        </p:spPr>
      </p:sp>
      <p:sp>
        <p:nvSpPr>
          <p:cNvPr id="25" name="Shape 23"/>
          <p:cNvSpPr/>
          <p:nvPr/>
        </p:nvSpPr>
        <p:spPr>
          <a:xfrm>
            <a:off x="8229600" y="1709928"/>
            <a:ext cx="502920" cy="502920"/>
          </a:xfrm>
          <a:prstGeom prst="ellipse">
            <a:avLst/>
          </a:prstGeom>
          <a:solidFill>
            <a:srgbClr val="0F766E"/>
          </a:solidFill>
          <a:ln w="12700">
            <a:solidFill>
              <a:srgbClr val="0F766E"/>
            </a:solidFill>
            <a:prstDash val="solid"/>
          </a:ln>
        </p:spPr>
      </p:sp>
      <p:pic>
        <p:nvPicPr>
          <p:cNvPr id="26" name="Image 0" descr="preencoded.png">    </p:cNvPr>
          <p:cNvPicPr>
            <a:picLocks noChangeAspect="1"/>
          </p:cNvPicPr>
          <p:nvPr/>
        </p:nvPicPr>
        <p:blipFill>
          <a:blip r:embed="rId1"/>
          <a:stretch>
            <a:fillRect/>
          </a:stretch>
        </p:blipFill>
        <p:spPr>
          <a:xfrm>
            <a:off x="8350301" y="1830629"/>
            <a:ext cx="261518" cy="261518"/>
          </a:xfrm>
          <a:prstGeom prst="rect">
            <a:avLst/>
          </a:prstGeom>
        </p:spPr>
      </p:pic>
      <p:sp>
        <p:nvSpPr>
          <p:cNvPr id="27" name="Text 24"/>
          <p:cNvSpPr txBox="1"/>
          <p:nvPr/>
        </p:nvSpPr>
        <p:spPr>
          <a:xfrm>
            <a:off x="8869680" y="1664208"/>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Runtime</a:t>
            </a:r>
            <a:endParaRPr lang="en-US" sz="1500" dirty="0"/>
          </a:p>
        </p:txBody>
      </p:sp>
      <p:sp>
        <p:nvSpPr>
          <p:cNvPr id="28" name="Text 25"/>
          <p:cNvSpPr txBox="1"/>
          <p:nvPr/>
        </p:nvSpPr>
        <p:spPr>
          <a:xfrm>
            <a:off x="8869680" y="2011680"/>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Google Colab (T4 GPU recommended) or CPU; API key optional</a:t>
            </a:r>
            <a:endParaRPr lang="en-US" sz="1400" dirty="0"/>
          </a:p>
        </p:txBody>
      </p:sp>
      <p:sp>
        <p:nvSpPr>
          <p:cNvPr id="29" name="Shape 26"/>
          <p:cNvSpPr/>
          <p:nvPr/>
        </p:nvSpPr>
        <p:spPr>
          <a:xfrm>
            <a:off x="8229600" y="3227832"/>
            <a:ext cx="502920" cy="502920"/>
          </a:xfrm>
          <a:prstGeom prst="ellipse">
            <a:avLst/>
          </a:prstGeom>
          <a:solidFill>
            <a:srgbClr val="0F766E"/>
          </a:solidFill>
          <a:ln w="12700">
            <a:solidFill>
              <a:srgbClr val="0F766E"/>
            </a:solidFill>
            <a:prstDash val="solid"/>
          </a:ln>
        </p:spPr>
      </p:sp>
      <p:pic>
        <p:nvPicPr>
          <p:cNvPr id="30" name="Image 1" descr="preencoded.png">    </p:cNvPr>
          <p:cNvPicPr>
            <a:picLocks noChangeAspect="1"/>
          </p:cNvPicPr>
          <p:nvPr/>
        </p:nvPicPr>
        <p:blipFill>
          <a:blip r:embed="rId2"/>
          <a:stretch>
            <a:fillRect/>
          </a:stretch>
        </p:blipFill>
        <p:spPr>
          <a:xfrm>
            <a:off x="8350301" y="3348533"/>
            <a:ext cx="261518" cy="261518"/>
          </a:xfrm>
          <a:prstGeom prst="rect">
            <a:avLst/>
          </a:prstGeom>
        </p:spPr>
      </p:pic>
      <p:sp>
        <p:nvSpPr>
          <p:cNvPr id="31" name="Text 27"/>
          <p:cNvSpPr txBox="1"/>
          <p:nvPr/>
        </p:nvSpPr>
        <p:spPr>
          <a:xfrm>
            <a:off x="8869680" y="3182112"/>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Time</a:t>
            </a:r>
            <a:endParaRPr lang="en-US" sz="1500" dirty="0"/>
          </a:p>
        </p:txBody>
      </p:sp>
      <p:sp>
        <p:nvSpPr>
          <p:cNvPr id="32" name="Text 28"/>
          <p:cNvSpPr txBox="1"/>
          <p:nvPr/>
        </p:nvSpPr>
        <p:spPr>
          <a:xfrm>
            <a:off x="8869680" y="3529584"/>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2-hour lab</a:t>
            </a:r>
            <a:endParaRPr lang="en-US" sz="1400" dirty="0"/>
          </a:p>
        </p:txBody>
      </p:sp>
      <p:sp>
        <p:nvSpPr>
          <p:cNvPr id="33" name="Shape 29"/>
          <p:cNvSpPr/>
          <p:nvPr/>
        </p:nvSpPr>
        <p:spPr>
          <a:xfrm>
            <a:off x="8229600" y="4745736"/>
            <a:ext cx="502920" cy="502920"/>
          </a:xfrm>
          <a:prstGeom prst="ellipse">
            <a:avLst/>
          </a:prstGeom>
          <a:solidFill>
            <a:srgbClr val="0F766E"/>
          </a:solidFill>
          <a:ln w="12700">
            <a:solidFill>
              <a:srgbClr val="0F766E"/>
            </a:solidFill>
            <a:prstDash val="solid"/>
          </a:ln>
        </p:spPr>
      </p:sp>
      <p:pic>
        <p:nvPicPr>
          <p:cNvPr id="34" name="Image 2" descr="preencoded.png">    </p:cNvPr>
          <p:cNvPicPr>
            <a:picLocks noChangeAspect="1"/>
          </p:cNvPicPr>
          <p:nvPr/>
        </p:nvPicPr>
        <p:blipFill>
          <a:blip r:embed="rId3"/>
          <a:stretch>
            <a:fillRect/>
          </a:stretch>
        </p:blipFill>
        <p:spPr>
          <a:xfrm>
            <a:off x="8350301" y="4866437"/>
            <a:ext cx="261518" cy="261518"/>
          </a:xfrm>
          <a:prstGeom prst="rect">
            <a:avLst/>
          </a:prstGeom>
        </p:spPr>
      </p:pic>
      <p:sp>
        <p:nvSpPr>
          <p:cNvPr id="35" name="Text 30"/>
          <p:cNvSpPr txBox="1"/>
          <p:nvPr/>
        </p:nvSpPr>
        <p:spPr>
          <a:xfrm>
            <a:off x="8869680" y="4700016"/>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Hand in</a:t>
            </a:r>
            <a:endParaRPr lang="en-US" sz="1500" dirty="0"/>
          </a:p>
        </p:txBody>
      </p:sp>
      <p:sp>
        <p:nvSpPr>
          <p:cNvPr id="36" name="Text 31"/>
          <p:cNvSpPr txBox="1"/>
          <p:nvPr/>
        </p:nvSpPr>
        <p:spPr>
          <a:xfrm>
            <a:off x="8869680" y="5047488"/>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Notebook with comparison tables, decoding implementation, perplexity results, API log and written answers</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Key takeaways</a:t>
            </a:r>
            <a:endParaRPr lang="en-US" sz="3200" dirty="0"/>
          </a:p>
        </p:txBody>
      </p:sp>
      <p:pic>
        <p:nvPicPr>
          <p:cNvPr id="6" name="Image 0" descr="preencoded.png">    </p:cNvPr>
          <p:cNvPicPr>
            <a:picLocks noChangeAspect="1"/>
          </p:cNvPicPr>
          <p:nvPr/>
        </p:nvPicPr>
        <p:blipFill>
          <a:blip r:embed="rId1"/>
          <a:stretch>
            <a:fillRect/>
          </a:stretch>
        </p:blipFill>
        <p:spPr>
          <a:xfrm>
            <a:off x="548640" y="1554480"/>
            <a:ext cx="384048" cy="384048"/>
          </a:xfrm>
          <a:prstGeom prst="rect">
            <a:avLst/>
          </a:prstGeom>
        </p:spPr>
      </p:pic>
      <p:sp>
        <p:nvSpPr>
          <p:cNvPr id="7" name="Text 4"/>
          <p:cNvSpPr txBox="1"/>
          <p:nvPr/>
        </p:nvSpPr>
        <p:spPr>
          <a:xfrm>
            <a:off x="1097280" y="1481328"/>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NLP evolved from </a:t>
            </a:r>
            <a:pPr indent="0" marL="0">
              <a:buNone/>
            </a:pPr>
            <a:r>
              <a:rPr lang="en-US" sz="1900" b="1" dirty="0">
                <a:solidFill>
                  <a:srgbClr val="1F2937"/>
                </a:solidFill>
                <a:latin typeface="Calibri" pitchFamily="34" charset="0"/>
                <a:ea typeface="Calibri" pitchFamily="34" charset="-122"/>
                <a:cs typeface="Calibri" pitchFamily="34" charset="-120"/>
              </a:rPr>
              <a:t>n-grams</a:t>
            </a:r>
            <a:pPr indent="0" marL="0">
              <a:buNone/>
            </a:pPr>
            <a:r>
              <a:rPr lang="en-US" sz="1900" dirty="0">
                <a:solidFill>
                  <a:srgbClr val="1F2937"/>
                </a:solidFill>
                <a:latin typeface="Calibri" pitchFamily="34" charset="0"/>
                <a:ea typeface="Calibri" pitchFamily="34" charset="-122"/>
                <a:cs typeface="Calibri" pitchFamily="34" charset="-120"/>
              </a:rPr>
              <a:t> → </a:t>
            </a:r>
            <a:pPr indent="0" marL="0">
              <a:buNone/>
            </a:pPr>
            <a:r>
              <a:rPr lang="en-US" sz="1900" b="1" dirty="0">
                <a:solidFill>
                  <a:srgbClr val="1F2937"/>
                </a:solidFill>
                <a:latin typeface="Calibri" pitchFamily="34" charset="0"/>
                <a:ea typeface="Calibri" pitchFamily="34" charset="-122"/>
                <a:cs typeface="Calibri" pitchFamily="34" charset="-120"/>
              </a:rPr>
              <a:t>embeddings</a:t>
            </a:r>
            <a:pPr indent="0" marL="0">
              <a:buNone/>
            </a:pPr>
            <a:r>
              <a:rPr lang="en-US" sz="1900" dirty="0">
                <a:solidFill>
                  <a:srgbClr val="1F2937"/>
                </a:solidFill>
                <a:latin typeface="Calibri" pitchFamily="34" charset="0"/>
                <a:ea typeface="Calibri" pitchFamily="34" charset="-122"/>
                <a:cs typeface="Calibri" pitchFamily="34" charset="-120"/>
              </a:rPr>
              <a:t> → </a:t>
            </a:r>
            <a:pPr indent="0" marL="0">
              <a:buNone/>
            </a:pPr>
            <a:r>
              <a:rPr lang="en-US" sz="1900" b="1" dirty="0">
                <a:solidFill>
                  <a:srgbClr val="1F2937"/>
                </a:solidFill>
                <a:latin typeface="Calibri" pitchFamily="34" charset="0"/>
                <a:ea typeface="Calibri" pitchFamily="34" charset="-122"/>
                <a:cs typeface="Calibri" pitchFamily="34" charset="-120"/>
              </a:rPr>
              <a:t>RNNs</a:t>
            </a:r>
            <a:pPr indent="0" marL="0">
              <a:buNone/>
            </a:pPr>
            <a:r>
              <a:rPr lang="en-US" sz="1900" dirty="0">
                <a:solidFill>
                  <a:srgbClr val="1F2937"/>
                </a:solidFill>
                <a:latin typeface="Calibri" pitchFamily="34" charset="0"/>
                <a:ea typeface="Calibri" pitchFamily="34" charset="-122"/>
                <a:cs typeface="Calibri" pitchFamily="34" charset="-120"/>
              </a:rPr>
              <a:t> → </a:t>
            </a:r>
            <a:pPr indent="0" marL="0">
              <a:buNone/>
            </a:pPr>
            <a:r>
              <a:rPr lang="en-US" sz="1900" b="1" dirty="0">
                <a:solidFill>
                  <a:srgbClr val="1F2937"/>
                </a:solidFill>
                <a:latin typeface="Calibri" pitchFamily="34" charset="0"/>
                <a:ea typeface="Calibri" pitchFamily="34" charset="-122"/>
                <a:cs typeface="Calibri" pitchFamily="34" charset="-120"/>
              </a:rPr>
              <a:t>transformer LLMs</a:t>
            </a:r>
            <a:pPr indent="0" marL="0">
              <a:buNone/>
            </a:pPr>
            <a:r>
              <a:rPr lang="en-US" sz="1900" dirty="0">
                <a:solidFill>
                  <a:srgbClr val="1F2937"/>
                </a:solidFill>
                <a:latin typeface="Calibri" pitchFamily="34" charset="0"/>
                <a:ea typeface="Calibri" pitchFamily="34" charset="-122"/>
                <a:cs typeface="Calibri" pitchFamily="34" charset="-120"/>
              </a:rPr>
              <a:t>, each fixing the last one's limits.</a:t>
            </a:r>
            <a:endParaRPr lang="en-US" sz="1900" dirty="0"/>
          </a:p>
        </p:txBody>
      </p:sp>
      <p:pic>
        <p:nvPicPr>
          <p:cNvPr id="8" name="Image 1" descr="preencoded.png">    </p:cNvPr>
          <p:cNvPicPr>
            <a:picLocks noChangeAspect="1"/>
          </p:cNvPicPr>
          <p:nvPr/>
        </p:nvPicPr>
        <p:blipFill>
          <a:blip r:embed="rId2"/>
          <a:stretch>
            <a:fillRect/>
          </a:stretch>
        </p:blipFill>
        <p:spPr>
          <a:xfrm>
            <a:off x="548640" y="2761488"/>
            <a:ext cx="384048" cy="384048"/>
          </a:xfrm>
          <a:prstGeom prst="rect">
            <a:avLst/>
          </a:prstGeom>
        </p:spPr>
      </p:pic>
      <p:sp>
        <p:nvSpPr>
          <p:cNvPr id="9" name="Text 5"/>
          <p:cNvSpPr txBox="1"/>
          <p:nvPr/>
        </p:nvSpPr>
        <p:spPr>
          <a:xfrm>
            <a:off x="1097280" y="2688336"/>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LLMs = transformers + huge curated data + compute (C ≈ 6ND) + post-training.</a:t>
            </a:r>
            <a:endParaRPr lang="en-US" sz="1900" dirty="0"/>
          </a:p>
        </p:txBody>
      </p:sp>
      <p:pic>
        <p:nvPicPr>
          <p:cNvPr id="10" name="Image 2" descr="preencoded.png">    </p:cNvPr>
          <p:cNvPicPr>
            <a:picLocks noChangeAspect="1"/>
          </p:cNvPicPr>
          <p:nvPr/>
        </p:nvPicPr>
        <p:blipFill>
          <a:blip r:embed="rId3"/>
          <a:stretch>
            <a:fillRect/>
          </a:stretch>
        </p:blipFill>
        <p:spPr>
          <a:xfrm>
            <a:off x="548640" y="3968496"/>
            <a:ext cx="384048" cy="384048"/>
          </a:xfrm>
          <a:prstGeom prst="rect">
            <a:avLst/>
          </a:prstGeom>
        </p:spPr>
      </p:pic>
      <p:sp>
        <p:nvSpPr>
          <p:cNvPr id="11" name="Text 6"/>
          <p:cNvSpPr txBox="1"/>
          <p:nvPr/>
        </p:nvSpPr>
        <p:spPr>
          <a:xfrm>
            <a:off x="1097280" y="3895344"/>
            <a:ext cx="4769968" cy="1161288"/>
          </a:xfrm>
          <a:prstGeom prst="rect">
            <a:avLst/>
          </a:prstGeom>
          <a:noFill/>
          <a:ln/>
        </p:spPr>
        <p:txBody>
          <a:bodyPr wrap="square" lIns="50800" tIns="50800" rIns="50800" bIns="50800" rtlCol="0" anchor="t"/>
          <a:lstStyle/>
          <a:p>
            <a:pPr indent="0" marL="0">
              <a:buNone/>
            </a:pPr>
            <a:r>
              <a:rPr lang="en-US" sz="1900" b="1" dirty="0">
                <a:solidFill>
                  <a:srgbClr val="1F2937"/>
                </a:solidFill>
                <a:latin typeface="Calibri" pitchFamily="34" charset="0"/>
                <a:ea typeface="Calibri" pitchFamily="34" charset="-122"/>
                <a:cs typeface="Calibri" pitchFamily="34" charset="-120"/>
              </a:rPr>
              <a:t>Scaling laws</a:t>
            </a:r>
            <a:pPr indent="0" marL="0">
              <a:buNone/>
            </a:pPr>
            <a:r>
              <a:rPr lang="en-US" sz="1900" dirty="0">
                <a:solidFill>
                  <a:srgbClr val="1F2937"/>
                </a:solidFill>
                <a:latin typeface="Calibri" pitchFamily="34" charset="0"/>
                <a:ea typeface="Calibri" pitchFamily="34" charset="-122"/>
                <a:cs typeface="Calibri" pitchFamily="34" charset="-120"/>
              </a:rPr>
              <a:t> make loss predictable; Chinchilla: ~20 tokens/parameter; today's small models are trained far longer.</a:t>
            </a:r>
            <a:endParaRPr lang="en-US" sz="1900" dirty="0"/>
          </a:p>
        </p:txBody>
      </p:sp>
      <p:pic>
        <p:nvPicPr>
          <p:cNvPr id="12" name="Image 3" descr="preencoded.png">    </p:cNvPr>
          <p:cNvPicPr>
            <a:picLocks noChangeAspect="1"/>
          </p:cNvPicPr>
          <p:nvPr/>
        </p:nvPicPr>
        <p:blipFill>
          <a:blip r:embed="rId4"/>
          <a:stretch>
            <a:fillRect/>
          </a:stretch>
        </p:blipFill>
        <p:spPr>
          <a:xfrm>
            <a:off x="548640" y="5175504"/>
            <a:ext cx="384048" cy="384048"/>
          </a:xfrm>
          <a:prstGeom prst="rect">
            <a:avLst/>
          </a:prstGeom>
        </p:spPr>
      </p:pic>
      <p:sp>
        <p:nvSpPr>
          <p:cNvPr id="13" name="Text 7"/>
          <p:cNvSpPr txBox="1"/>
          <p:nvPr/>
        </p:nvSpPr>
        <p:spPr>
          <a:xfrm>
            <a:off x="1097280" y="5102352"/>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Context windows are large but not free; information can get lost in the middle.</a:t>
            </a:r>
            <a:endParaRPr lang="en-US" sz="1900" dirty="0"/>
          </a:p>
        </p:txBody>
      </p:sp>
      <p:pic>
        <p:nvPicPr>
          <p:cNvPr id="14" name="Image 4" descr="preencoded.png">    </p:cNvPr>
          <p:cNvPicPr>
            <a:picLocks noChangeAspect="1"/>
          </p:cNvPicPr>
          <p:nvPr/>
        </p:nvPicPr>
        <p:blipFill>
          <a:blip r:embed="rId5"/>
          <a:stretch>
            <a:fillRect/>
          </a:stretch>
        </p:blipFill>
        <p:spPr>
          <a:xfrm>
            <a:off x="6278728" y="1554480"/>
            <a:ext cx="384048" cy="384048"/>
          </a:xfrm>
          <a:prstGeom prst="rect">
            <a:avLst/>
          </a:prstGeom>
        </p:spPr>
      </p:pic>
      <p:sp>
        <p:nvSpPr>
          <p:cNvPr id="15" name="Text 8"/>
          <p:cNvSpPr txBox="1"/>
          <p:nvPr/>
        </p:nvSpPr>
        <p:spPr>
          <a:xfrm>
            <a:off x="6827368" y="1481328"/>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Decoding: greedy/beam for exact tasks, temperature/top-p for open-ended ones; always report settings.</a:t>
            </a:r>
            <a:endParaRPr lang="en-US" sz="1900" dirty="0"/>
          </a:p>
        </p:txBody>
      </p:sp>
      <p:pic>
        <p:nvPicPr>
          <p:cNvPr id="16" name="Image 5" descr="preencoded.png">    </p:cNvPr>
          <p:cNvPicPr>
            <a:picLocks noChangeAspect="1"/>
          </p:cNvPicPr>
          <p:nvPr/>
        </p:nvPicPr>
        <p:blipFill>
          <a:blip r:embed="rId6"/>
          <a:stretch>
            <a:fillRect/>
          </a:stretch>
        </p:blipFill>
        <p:spPr>
          <a:xfrm>
            <a:off x="6278728" y="2761488"/>
            <a:ext cx="384048" cy="384048"/>
          </a:xfrm>
          <a:prstGeom prst="rect">
            <a:avLst/>
          </a:prstGeom>
        </p:spPr>
      </p:pic>
      <p:sp>
        <p:nvSpPr>
          <p:cNvPr id="17" name="Text 9"/>
          <p:cNvSpPr txBox="1"/>
          <p:nvPr/>
        </p:nvSpPr>
        <p:spPr>
          <a:xfrm>
            <a:off x="6827368" y="2688336"/>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Families: </a:t>
            </a:r>
            <a:pPr indent="0" marL="0">
              <a:buNone/>
            </a:pPr>
            <a:r>
              <a:rPr lang="en-US" sz="1900" b="1" dirty="0">
                <a:solidFill>
                  <a:srgbClr val="1F2937"/>
                </a:solidFill>
                <a:latin typeface="Calibri" pitchFamily="34" charset="0"/>
                <a:ea typeface="Calibri" pitchFamily="34" charset="-122"/>
                <a:cs typeface="Calibri" pitchFamily="34" charset="-120"/>
              </a:rPr>
              <a:t>BERT</a:t>
            </a:r>
            <a:pPr indent="0" marL="0">
              <a:buNone/>
            </a:pPr>
            <a:r>
              <a:rPr lang="en-US" sz="1900" dirty="0">
                <a:solidFill>
                  <a:srgbClr val="1F2937"/>
                </a:solidFill>
                <a:latin typeface="Calibri" pitchFamily="34" charset="0"/>
                <a:ea typeface="Calibri" pitchFamily="34" charset="-122"/>
                <a:cs typeface="Calibri" pitchFamily="34" charset="-120"/>
              </a:rPr>
              <a:t> (encoder), </a:t>
            </a:r>
            <a:pPr indent="0" marL="0">
              <a:buNone/>
            </a:pPr>
            <a:r>
              <a:rPr lang="en-US" sz="1900" b="1" dirty="0">
                <a:solidFill>
                  <a:srgbClr val="1F2937"/>
                </a:solidFill>
                <a:latin typeface="Calibri" pitchFamily="34" charset="0"/>
                <a:ea typeface="Calibri" pitchFamily="34" charset="-122"/>
                <a:cs typeface="Calibri" pitchFamily="34" charset="-120"/>
              </a:rPr>
              <a:t>T5</a:t>
            </a:r>
            <a:pPr indent="0" marL="0">
              <a:buNone/>
            </a:pPr>
            <a:r>
              <a:rPr lang="en-US" sz="1900" dirty="0">
                <a:solidFill>
                  <a:srgbClr val="1F2937"/>
                </a:solidFill>
                <a:latin typeface="Calibri" pitchFamily="34" charset="0"/>
                <a:ea typeface="Calibri" pitchFamily="34" charset="-122"/>
                <a:cs typeface="Calibri" pitchFamily="34" charset="-120"/>
              </a:rPr>
              <a:t> (enc–dec), </a:t>
            </a:r>
            <a:pPr indent="0" marL="0">
              <a:buNone/>
            </a:pPr>
            <a:r>
              <a:rPr lang="en-US" sz="1900" b="1" dirty="0">
                <a:solidFill>
                  <a:srgbClr val="1F2937"/>
                </a:solidFill>
                <a:latin typeface="Calibri" pitchFamily="34" charset="0"/>
                <a:ea typeface="Calibri" pitchFamily="34" charset="-122"/>
                <a:cs typeface="Calibri" pitchFamily="34" charset="-120"/>
              </a:rPr>
              <a:t>GPT, LLaMA, Gemini, Claude, Qwen, DeepSeek, Mistral</a:t>
            </a:r>
            <a:pPr indent="0" marL="0">
              <a:buNone/>
            </a:pPr>
            <a:r>
              <a:rPr lang="en-US" sz="1900" dirty="0">
                <a:solidFill>
                  <a:srgbClr val="1F2937"/>
                </a:solidFill>
                <a:latin typeface="Calibri" pitchFamily="34" charset="0"/>
                <a:ea typeface="Calibri" pitchFamily="34" charset="-122"/>
                <a:cs typeface="Calibri" pitchFamily="34" charset="-120"/>
              </a:rPr>
              <a:t> (decoder).</a:t>
            </a:r>
            <a:endParaRPr lang="en-US" sz="1900" dirty="0"/>
          </a:p>
        </p:txBody>
      </p:sp>
      <p:pic>
        <p:nvPicPr>
          <p:cNvPr id="18" name="Image 6" descr="preencoded.png">    </p:cNvPr>
          <p:cNvPicPr>
            <a:picLocks noChangeAspect="1"/>
          </p:cNvPicPr>
          <p:nvPr/>
        </p:nvPicPr>
        <p:blipFill>
          <a:blip r:embed="rId7"/>
          <a:stretch>
            <a:fillRect/>
          </a:stretch>
        </p:blipFill>
        <p:spPr>
          <a:xfrm>
            <a:off x="6278728" y="3968496"/>
            <a:ext cx="384048" cy="384048"/>
          </a:xfrm>
          <a:prstGeom prst="rect">
            <a:avLst/>
          </a:prstGeom>
        </p:spPr>
      </p:pic>
      <p:sp>
        <p:nvSpPr>
          <p:cNvPr id="19" name="Text 10"/>
          <p:cNvSpPr txBox="1"/>
          <p:nvPr/>
        </p:nvSpPr>
        <p:spPr>
          <a:xfrm>
            <a:off x="6827368" y="3895344"/>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Proprietary vs </a:t>
            </a:r>
            <a:pPr indent="0" marL="0">
              <a:buNone/>
            </a:pPr>
            <a:r>
              <a:rPr lang="en-US" sz="1900" b="1" dirty="0">
                <a:solidFill>
                  <a:srgbClr val="1F2937"/>
                </a:solidFill>
                <a:latin typeface="Calibri" pitchFamily="34" charset="0"/>
                <a:ea typeface="Calibri" pitchFamily="34" charset="-122"/>
                <a:cs typeface="Calibri" pitchFamily="34" charset="-120"/>
              </a:rPr>
              <a:t>open-weight</a:t>
            </a:r>
            <a:pPr indent="0" marL="0">
              <a:buNone/>
            </a:pPr>
            <a:r>
              <a:rPr lang="en-US" sz="1900" dirty="0">
                <a:solidFill>
                  <a:srgbClr val="1F2937"/>
                </a:solidFill>
                <a:latin typeface="Calibri" pitchFamily="34" charset="0"/>
                <a:ea typeface="Calibri" pitchFamily="34" charset="-122"/>
                <a:cs typeface="Calibri" pitchFamily="34" charset="-120"/>
              </a:rPr>
              <a:t>; small, MoE, </a:t>
            </a:r>
            <a:pPr indent="0" marL="0">
              <a:buNone/>
            </a:pPr>
            <a:r>
              <a:rPr lang="en-US" sz="1900" b="1" dirty="0">
                <a:solidFill>
                  <a:srgbClr val="1F2937"/>
                </a:solidFill>
                <a:latin typeface="Calibri" pitchFamily="34" charset="0"/>
                <a:ea typeface="Calibri" pitchFamily="34" charset="-122"/>
                <a:cs typeface="Calibri" pitchFamily="34" charset="-120"/>
              </a:rPr>
              <a:t>reasoning</a:t>
            </a:r>
            <a:pPr indent="0" marL="0">
              <a:buNone/>
            </a:pPr>
            <a:r>
              <a:rPr lang="en-US" sz="1900" dirty="0">
                <a:solidFill>
                  <a:srgbClr val="1F2937"/>
                </a:solidFill>
                <a:latin typeface="Calibri" pitchFamily="34" charset="0"/>
                <a:ea typeface="Calibri" pitchFamily="34" charset="-122"/>
                <a:cs typeface="Calibri" pitchFamily="34" charset="-120"/>
              </a:rPr>
              <a:t> and multimodal models.</a:t>
            </a:r>
            <a:endParaRPr lang="en-US" sz="1900" dirty="0"/>
          </a:p>
        </p:txBody>
      </p:sp>
      <p:pic>
        <p:nvPicPr>
          <p:cNvPr id="20" name="Image 7" descr="preencoded.png">    </p:cNvPr>
          <p:cNvPicPr>
            <a:picLocks noChangeAspect="1"/>
          </p:cNvPicPr>
          <p:nvPr/>
        </p:nvPicPr>
        <p:blipFill>
          <a:blip r:embed="rId8"/>
          <a:stretch>
            <a:fillRect/>
          </a:stretch>
        </p:blipFill>
        <p:spPr>
          <a:xfrm>
            <a:off x="6278728" y="5175504"/>
            <a:ext cx="384048" cy="384048"/>
          </a:xfrm>
          <a:prstGeom prst="rect">
            <a:avLst/>
          </a:prstGeom>
        </p:spPr>
      </p:pic>
      <p:sp>
        <p:nvSpPr>
          <p:cNvPr id="21" name="Text 11"/>
          <p:cNvSpPr txBox="1"/>
          <p:nvPr/>
        </p:nvSpPr>
        <p:spPr>
          <a:xfrm>
            <a:off x="6827368" y="5102352"/>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Choose with model cards, licences and </a:t>
            </a:r>
            <a:pPr indent="0" marL="0">
              <a:buNone/>
            </a:pPr>
            <a:r>
              <a:rPr lang="en-US" sz="1900" b="1" dirty="0">
                <a:solidFill>
                  <a:srgbClr val="1F2937"/>
                </a:solidFill>
                <a:latin typeface="Calibri" pitchFamily="34" charset="0"/>
                <a:ea typeface="Calibri" pitchFamily="34" charset="-122"/>
                <a:cs typeface="Calibri" pitchFamily="34" charset="-120"/>
              </a:rPr>
              <a:t>your own test set</a:t>
            </a:r>
            <a:pPr indent="0" marL="0">
              <a:buNone/>
            </a:pPr>
            <a:r>
              <a:rPr lang="en-US" sz="1900" dirty="0">
                <a:solidFill>
                  <a:srgbClr val="1F2937"/>
                </a:solidFill>
                <a:latin typeface="Calibri" pitchFamily="34" charset="0"/>
                <a:ea typeface="Calibri" pitchFamily="34" charset="-122"/>
                <a:cs typeface="Calibri" pitchFamily="34" charset="-120"/>
              </a:rPr>
              <a:t>, not leaderboards alone.</a:t>
            </a:r>
            <a:endParaRPr lang="en-US" sz="1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Read, watch, practise</a:t>
            </a:r>
            <a:endParaRPr lang="en-US" sz="3200" dirty="0"/>
          </a:p>
        </p:txBody>
      </p:sp>
      <p:sp>
        <p:nvSpPr>
          <p:cNvPr id="6" name="Shape 4"/>
          <p:cNvSpPr/>
          <p:nvPr/>
        </p:nvSpPr>
        <p:spPr>
          <a:xfrm>
            <a:off x="548640" y="1554480"/>
            <a:ext cx="457200" cy="457200"/>
          </a:xfrm>
          <a:prstGeom prst="ellipse">
            <a:avLst/>
          </a:prstGeom>
          <a:solidFill>
            <a:srgbClr val="DC2626"/>
          </a:solidFill>
          <a:ln w="12700">
            <a:solidFill>
              <a:srgbClr val="DC2626"/>
            </a:solidFill>
            <a:prstDash val="solid"/>
          </a:ln>
        </p:spPr>
      </p:sp>
      <p:pic>
        <p:nvPicPr>
          <p:cNvPr id="7" name="Image 0" descr="preencoded.png">    </p:cNvPr>
          <p:cNvPicPr>
            <a:picLocks noChangeAspect="1"/>
          </p:cNvPicPr>
          <p:nvPr/>
        </p:nvPicPr>
        <p:blipFill>
          <a:blip r:embed="rId1"/>
          <a:stretch>
            <a:fillRect/>
          </a:stretch>
        </p:blipFill>
        <p:spPr>
          <a:xfrm>
            <a:off x="658368" y="1664208"/>
            <a:ext cx="237744" cy="237744"/>
          </a:xfrm>
          <a:prstGeom prst="rect">
            <a:avLst/>
          </a:prstGeom>
        </p:spPr>
      </p:pic>
      <p:sp>
        <p:nvSpPr>
          <p:cNvPr id="8" name="Text 5"/>
          <p:cNvSpPr txBox="1"/>
          <p:nvPr/>
        </p:nvSpPr>
        <p:spPr>
          <a:xfrm>
            <a:off x="1143000" y="148132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Andrej Karpathy: Intro to Large Language Models</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1 h overview: pre-training, post-training, risks</a:t>
            </a:r>
            <a:endParaRPr lang="en-US" sz="1500" dirty="0"/>
          </a:p>
        </p:txBody>
      </p:sp>
      <p:sp>
        <p:nvSpPr>
          <p:cNvPr id="9" name="Shape 6"/>
          <p:cNvSpPr/>
          <p:nvPr/>
        </p:nvSpPr>
        <p:spPr>
          <a:xfrm>
            <a:off x="548640" y="2377440"/>
            <a:ext cx="457200" cy="457200"/>
          </a:xfrm>
          <a:prstGeom prst="ellipse">
            <a:avLst/>
          </a:prstGeom>
          <a:solidFill>
            <a:srgbClr val="DC2626"/>
          </a:solidFill>
          <a:ln w="12700">
            <a:solidFill>
              <a:srgbClr val="DC2626"/>
            </a:solidFill>
            <a:prstDash val="solid"/>
          </a:ln>
        </p:spPr>
      </p:sp>
      <p:pic>
        <p:nvPicPr>
          <p:cNvPr id="10" name="Image 1" descr="preencoded.png">    </p:cNvPr>
          <p:cNvPicPr>
            <a:picLocks noChangeAspect="1"/>
          </p:cNvPicPr>
          <p:nvPr/>
        </p:nvPicPr>
        <p:blipFill>
          <a:blip r:embed="rId3"/>
          <a:stretch>
            <a:fillRect/>
          </a:stretch>
        </p:blipFill>
        <p:spPr>
          <a:xfrm>
            <a:off x="658368" y="2487168"/>
            <a:ext cx="237744" cy="237744"/>
          </a:xfrm>
          <a:prstGeom prst="rect">
            <a:avLst/>
          </a:prstGeom>
        </p:spPr>
      </p:pic>
      <p:sp>
        <p:nvSpPr>
          <p:cNvPr id="11" name="Text 7"/>
          <p:cNvSpPr txBox="1"/>
          <p:nvPr/>
        </p:nvSpPr>
        <p:spPr>
          <a:xfrm>
            <a:off x="1143000" y="230428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Andrej Karpathy: Deep Dive into LLMs like ChatGPT</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3.5 h deep dive incl. reasoning models</a:t>
            </a:r>
            <a:endParaRPr lang="en-US" sz="1500" dirty="0"/>
          </a:p>
        </p:txBody>
      </p:sp>
      <p:sp>
        <p:nvSpPr>
          <p:cNvPr id="12" name="Shape 8"/>
          <p:cNvSpPr/>
          <p:nvPr/>
        </p:nvSpPr>
        <p:spPr>
          <a:xfrm>
            <a:off x="548640" y="3200400"/>
            <a:ext cx="457200" cy="457200"/>
          </a:xfrm>
          <a:prstGeom prst="ellipse">
            <a:avLst/>
          </a:prstGeom>
          <a:solidFill>
            <a:srgbClr val="DC2626"/>
          </a:solidFill>
          <a:ln w="12700">
            <a:solidFill>
              <a:srgbClr val="DC2626"/>
            </a:solidFill>
            <a:prstDash val="solid"/>
          </a:ln>
        </p:spPr>
      </p:sp>
      <p:pic>
        <p:nvPicPr>
          <p:cNvPr id="13" name="Image 2" descr="preencoded.png">    </p:cNvPr>
          <p:cNvPicPr>
            <a:picLocks noChangeAspect="1"/>
          </p:cNvPicPr>
          <p:nvPr/>
        </p:nvPicPr>
        <p:blipFill>
          <a:blip r:embed="rId5"/>
          <a:stretch>
            <a:fillRect/>
          </a:stretch>
        </p:blipFill>
        <p:spPr>
          <a:xfrm>
            <a:off x="658368" y="3310128"/>
            <a:ext cx="237744" cy="237744"/>
          </a:xfrm>
          <a:prstGeom prst="rect">
            <a:avLst/>
          </a:prstGeom>
        </p:spPr>
      </p:pic>
      <p:sp>
        <p:nvSpPr>
          <p:cNvPr id="14" name="Text 9"/>
          <p:cNvSpPr txBox="1"/>
          <p:nvPr/>
        </p:nvSpPr>
        <p:spPr>
          <a:xfrm>
            <a:off x="1143000" y="312724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Google Cloud Tech: Introduction to large language models</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Short overview</a:t>
            </a:r>
            <a:endParaRPr lang="en-US" sz="1500" dirty="0"/>
          </a:p>
        </p:txBody>
      </p:sp>
      <p:sp>
        <p:nvSpPr>
          <p:cNvPr id="15" name="Shape 10"/>
          <p:cNvSpPr/>
          <p:nvPr/>
        </p:nvSpPr>
        <p:spPr>
          <a:xfrm>
            <a:off x="548640" y="4023360"/>
            <a:ext cx="457200" cy="457200"/>
          </a:xfrm>
          <a:prstGeom prst="ellipse">
            <a:avLst/>
          </a:prstGeom>
          <a:solidFill>
            <a:srgbClr val="4F46E5"/>
          </a:solidFill>
          <a:ln w="12700">
            <a:solidFill>
              <a:srgbClr val="4F46E5"/>
            </a:solidFill>
            <a:prstDash val="solid"/>
          </a:ln>
        </p:spPr>
      </p:sp>
      <p:pic>
        <p:nvPicPr>
          <p:cNvPr id="16" name="Image 3" descr="preencoded.png">    </p:cNvPr>
          <p:cNvPicPr>
            <a:picLocks noChangeAspect="1"/>
          </p:cNvPicPr>
          <p:nvPr/>
        </p:nvPicPr>
        <p:blipFill>
          <a:blip r:embed="rId7"/>
          <a:stretch>
            <a:fillRect/>
          </a:stretch>
        </p:blipFill>
        <p:spPr>
          <a:xfrm>
            <a:off x="658368" y="4133088"/>
            <a:ext cx="237744" cy="237744"/>
          </a:xfrm>
          <a:prstGeom prst="rect">
            <a:avLst/>
          </a:prstGeom>
        </p:spPr>
      </p:pic>
      <p:sp>
        <p:nvSpPr>
          <p:cNvPr id="17" name="Text 11"/>
          <p:cNvSpPr txBox="1"/>
          <p:nvPr/>
        </p:nvSpPr>
        <p:spPr>
          <a:xfrm>
            <a:off x="1143000" y="395020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Hugging Face LLM Course, chapters 1–2</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Pipelines, models and tokenizers</a:t>
            </a:r>
            <a:endParaRPr lang="en-US" sz="1500" dirty="0"/>
          </a:p>
        </p:txBody>
      </p:sp>
      <p:sp>
        <p:nvSpPr>
          <p:cNvPr id="18" name="Shape 12"/>
          <p:cNvSpPr/>
          <p:nvPr/>
        </p:nvSpPr>
        <p:spPr>
          <a:xfrm>
            <a:off x="6278728" y="1554480"/>
            <a:ext cx="457200" cy="457200"/>
          </a:xfrm>
          <a:prstGeom prst="ellipse">
            <a:avLst/>
          </a:prstGeom>
          <a:solidFill>
            <a:srgbClr val="4F46E5"/>
          </a:solidFill>
          <a:ln w="12700">
            <a:solidFill>
              <a:srgbClr val="4F46E5"/>
            </a:solidFill>
            <a:prstDash val="solid"/>
          </a:ln>
        </p:spPr>
      </p:sp>
      <p:pic>
        <p:nvPicPr>
          <p:cNvPr id="19" name="Image 4" descr="preencoded.png">    </p:cNvPr>
          <p:cNvPicPr>
            <a:picLocks noChangeAspect="1"/>
          </p:cNvPicPr>
          <p:nvPr/>
        </p:nvPicPr>
        <p:blipFill>
          <a:blip r:embed="rId9"/>
          <a:stretch>
            <a:fillRect/>
          </a:stretch>
        </p:blipFill>
        <p:spPr>
          <a:xfrm>
            <a:off x="6388456" y="1664208"/>
            <a:ext cx="237744" cy="237744"/>
          </a:xfrm>
          <a:prstGeom prst="rect">
            <a:avLst/>
          </a:prstGeom>
        </p:spPr>
      </p:pic>
      <p:sp>
        <p:nvSpPr>
          <p:cNvPr id="20" name="Text 13"/>
          <p:cNvSpPr txBox="1"/>
          <p:nvPr/>
        </p:nvSpPr>
        <p:spPr>
          <a:xfrm>
            <a:off x="6873088" y="148132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Google ML Crash Course: Introduction to LLMs</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Concise official module</a:t>
            </a:r>
            <a:endParaRPr lang="en-US" sz="1500" dirty="0"/>
          </a:p>
        </p:txBody>
      </p:sp>
      <p:sp>
        <p:nvSpPr>
          <p:cNvPr id="21" name="Shape 14"/>
          <p:cNvSpPr/>
          <p:nvPr/>
        </p:nvSpPr>
        <p:spPr>
          <a:xfrm>
            <a:off x="6278728" y="2377440"/>
            <a:ext cx="457200" cy="457200"/>
          </a:xfrm>
          <a:prstGeom prst="ellipse">
            <a:avLst/>
          </a:prstGeom>
          <a:solidFill>
            <a:srgbClr val="4F46E5"/>
          </a:solidFill>
          <a:ln w="12700">
            <a:solidFill>
              <a:srgbClr val="4F46E5"/>
            </a:solidFill>
            <a:prstDash val="solid"/>
          </a:ln>
        </p:spPr>
      </p:sp>
      <p:pic>
        <p:nvPicPr>
          <p:cNvPr id="22" name="Image 5" descr="preencoded.png">    </p:cNvPr>
          <p:cNvPicPr>
            <a:picLocks noChangeAspect="1"/>
          </p:cNvPicPr>
          <p:nvPr/>
        </p:nvPicPr>
        <p:blipFill>
          <a:blip r:embed="rId11"/>
          <a:stretch>
            <a:fillRect/>
          </a:stretch>
        </p:blipFill>
        <p:spPr>
          <a:xfrm>
            <a:off x="6388456" y="2487168"/>
            <a:ext cx="237744" cy="237744"/>
          </a:xfrm>
          <a:prstGeom prst="rect">
            <a:avLst/>
          </a:prstGeom>
        </p:spPr>
      </p:pic>
      <p:sp>
        <p:nvSpPr>
          <p:cNvPr id="23" name="Text 15"/>
          <p:cNvSpPr txBox="1"/>
          <p:nvPr/>
        </p:nvSpPr>
        <p:spPr>
          <a:xfrm>
            <a:off x="6873088" y="230428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Tunstall et al. (2022) NLP with Transformers, ch. 1 and 5</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Descriptor 7.9 reading</a:t>
            </a:r>
            <a:endParaRPr lang="en-US" sz="1500" dirty="0"/>
          </a:p>
        </p:txBody>
      </p:sp>
      <p:sp>
        <p:nvSpPr>
          <p:cNvPr id="24" name="Shape 16"/>
          <p:cNvSpPr/>
          <p:nvPr/>
        </p:nvSpPr>
        <p:spPr>
          <a:xfrm>
            <a:off x="6278728" y="3200400"/>
            <a:ext cx="457200" cy="457200"/>
          </a:xfrm>
          <a:prstGeom prst="ellipse">
            <a:avLst/>
          </a:prstGeom>
          <a:solidFill>
            <a:srgbClr val="4F46E5"/>
          </a:solidFill>
          <a:ln w="12700">
            <a:solidFill>
              <a:srgbClr val="4F46E5"/>
            </a:solidFill>
            <a:prstDash val="solid"/>
          </a:ln>
        </p:spPr>
      </p:sp>
      <p:pic>
        <p:nvPicPr>
          <p:cNvPr id="25" name="Image 6" descr="preencoded.png">    </p:cNvPr>
          <p:cNvPicPr>
            <a:picLocks noChangeAspect="1"/>
          </p:cNvPicPr>
          <p:nvPr/>
        </p:nvPicPr>
        <p:blipFill>
          <a:blip r:embed="rId13"/>
          <a:stretch>
            <a:fillRect/>
          </a:stretch>
        </p:blipFill>
        <p:spPr>
          <a:xfrm>
            <a:off x="6388456" y="3310128"/>
            <a:ext cx="237744" cy="237744"/>
          </a:xfrm>
          <a:prstGeom prst="rect">
            <a:avLst/>
          </a:prstGeom>
        </p:spPr>
      </p:pic>
      <p:sp>
        <p:nvSpPr>
          <p:cNvPr id="26" name="Text 17"/>
          <p:cNvSpPr txBox="1"/>
          <p:nvPr/>
        </p:nvSpPr>
        <p:spPr>
          <a:xfrm>
            <a:off x="6873088" y="312724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Ozdemir (2023) Quick Start Guide to LLMs, part I</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Descriptor 7.9 supplementary</a:t>
            </a:r>
            <a:endParaRPr lang="en-US" sz="1500" dirty="0"/>
          </a:p>
        </p:txBody>
      </p:sp>
      <p:sp>
        <p:nvSpPr>
          <p:cNvPr id="27" name="Shape 18"/>
          <p:cNvSpPr/>
          <p:nvPr/>
        </p:nvSpPr>
        <p:spPr>
          <a:xfrm>
            <a:off x="6278728" y="4023360"/>
            <a:ext cx="457200" cy="457200"/>
          </a:xfrm>
          <a:prstGeom prst="ellipse">
            <a:avLst/>
          </a:prstGeom>
          <a:solidFill>
            <a:srgbClr val="4F46E5"/>
          </a:solidFill>
          <a:ln w="12700">
            <a:solidFill>
              <a:srgbClr val="4F46E5"/>
            </a:solidFill>
            <a:prstDash val="solid"/>
          </a:ln>
        </p:spPr>
      </p:sp>
      <p:pic>
        <p:nvPicPr>
          <p:cNvPr id="28" name="Image 7" descr="preencoded.png">    </p:cNvPr>
          <p:cNvPicPr>
            <a:picLocks noChangeAspect="1"/>
          </p:cNvPicPr>
          <p:nvPr/>
        </p:nvPicPr>
        <p:blipFill>
          <a:blip r:embed="rId15"/>
          <a:stretch>
            <a:fillRect/>
          </a:stretch>
        </p:blipFill>
        <p:spPr>
          <a:xfrm>
            <a:off x="6388456" y="4133088"/>
            <a:ext cx="237744" cy="237744"/>
          </a:xfrm>
          <a:prstGeom prst="rect">
            <a:avLst/>
          </a:prstGeom>
        </p:spPr>
      </p:pic>
      <p:sp>
        <p:nvSpPr>
          <p:cNvPr id="29" name="Text 19"/>
          <p:cNvSpPr txBox="1"/>
          <p:nvPr/>
        </p:nvSpPr>
        <p:spPr>
          <a:xfrm>
            <a:off x="6873088" y="395020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Hoffmann et al. (2022) Training Compute-Optimal LLMs (Chinchilla)</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Scaling laws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6: Large Language Models (LLMs) and families</dc:title>
  <dc:subject>Generative AI (MSc in Artificial Intelligence)</dc:subject>
  <dc:creator>Generative AI module team</dc:creator>
  <cp:lastModifiedBy>Generative AI module team</cp:lastModifiedBy>
  <cp:revision>1</cp:revision>
  <dcterms:created xsi:type="dcterms:W3CDTF">2026-10-06T20:33:53Z</dcterms:created>
  <dcterms:modified xsi:type="dcterms:W3CDTF">2026-10-06T20:33:53Z</dcterms:modified>
</cp:coreProperties>
</file>