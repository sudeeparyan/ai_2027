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notesMasterIdLst>
    <p:notesMasterId r:id="rId4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Language-model choice connects learned prediction, token selection, architecture and measured task requirements.
Explain: A language model assigns probabilities to token sequences. Tokens are pieces of text represented by integer IDs. Training changes learned numbers called parameters. Inference uses those parameters to produce or score text. A deployed assistant also includes instructions, tools and an interface.
Example: Two assistants can receive the same question and return different answers. One may retrieve a current document while another relies on earlier training. Think of comparing two tools with different settings and attachments. The analogy does not establish either answer's correctness; verify the actual claim against evidence.
Ask: What would you record before deciding which assistant is better for a task?
Answer: Record the task, model version, prompt, available tools, decoding settings, quality checks and measured time or usage.
Watch out: A product name alone does not reveal the model configuration or evaluation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The weekly outcomes combine explaining mechanisms, running controlled inference and choosing models using evidence.
Explain: Pre-training learns patterns from many examples. Post-training adapts behaviour using instructions or feedback. Decoding selects output tokens from model scores. Architecture describes how input and output are processed. Access terms determine how a release can be used.
Example: Use a fictional study-guide task: generate a short definition, verify its meaning, then record the configuration. Explaining why a token was selected is different from proving the definition correct. The small CPU checkpoint makes mechanisms inspectable; it cannot stand in for every model family or deployment requirement.
Ask: Which outcome requires more than obtaining a fluent reply?
Answer: Critical model comparison needs a task rubric, matched examples and measured constraints, followed by verification of the outputs.
Watch out: The lab runs already trained weights; this week does not claim to pre-train a large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Place language-model comparison after transformer mechanisms and before prompting, fine-tuning and retrieval.
Explain: Last week explained attention and transformer representations. This week studies training scale and inference behaviour. Next week changes prompts and measures task performance. Fine-tuning later changes selected weights. Retrieval supplies relevant source material during an application request.
Example: Trace an invented question about a course policy. A decoder can generate wording, prompting can specify format, and retrieval can supply the actual policy passage. These contributions work together but have different inputs and evaluation needs. A course map shows dependencies; it does not make their mechanisms interchangeable.
Ask: Does adding a retrieved paragraph necessarily update the model weights?
Answer: It normally changes the request context. Weight updates require a separate training process with an objective and optimiser.
Watch out: Do not treat prompting, retrieval and fine-tuning as three names for the same operation.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Token IDs, probability distributions and causal prediction make this week's local inference experiments readable.
Explain: An ID is an integer for one vocabulary entry. A tokenizer defines the vocabulary and segmentation. A probability distribution has nonnegative entries adding to one. Causal prediction uses only preceding supplied tokens. These ideas determine the shapes in the lab.
Example: A sequence [1,3] has one batch row and three token IDs. A probability vector [0.6,0.3,0.1] has three possible candidates and sums to one. The numbers illustrate shapes and probability rules; the IDs need not correspond to these words in a real tokenizer. A separate vocabulary length V determines the model's score dimension.
Ask: Can token ID 3 be interpreted as the same word in every tokenizer?
Answer: No. Its meaning depends on the chosen vocabulary. Decode IDs with their own tokenizer and inspect actual pieces.
Watch out: Sequence length counts positions; vocabulary size counts possible token entries. They are different dimensions.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Different answers can arise from model training, the surrounding application or the token-selection policy.
Explain: A prompt is the supplied request text. System instructions can add behaviour requirements. Tools can provide retrieved facts or calculations. Decoding settings affect which continuation is selected. Versions and conversation history can also differ between requests.
Example: Ask two fictional assistants for a three-item reading list. One retrieves course materials; the other invents plausible titles. Their surface formats may match while source accuracy differs. Comparing the wording alone resembles checking two calculators' displays without checking their inputs; that analogy leaves model uncertainty and generated citations unexplained.
Ask: What should remain fixed when testing one decoding-setting change?
Answer: Keep the checkpoint, prompt, supplied context, tool access and evaluation rubric fixed, then record the changed setting.
Watch out: A repeated answer is not automatically correct, and a different answer is not automatically worse.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The history of language modelling explains why counts, vectors, recurrence and attention remain useful ideas.
Explain: Natural language processing, or NLP, handles human language computationally. Counts estimate familiar local patterns. Embeddings are learned numerical representations. Recurrent networks carry a state through a sequence. Attention relates positions using the supplied context.
Example: A word-pair model can count continuations after 'the cat'. A representation-based model can share clues with other animal contexts. Neither example guarantees factual understanding. Think of replacing an exact phrase catalogue with reusable features: reuse helps unseen combinations, but it also permits mistaken generalisations and does not supply external verification.
Ask: Why does a larger catalogue of phrases still struggle with unseen combinations?
Answer: Long contexts create many possible combinations, while exact counts share limited information across phrases without additional smoothing or representations.
Watch out: Historical methods are not obsolete for every job; compare their task fit and limitations.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A local chat call formats a message, generates new IDs and removes the prefix before returning the answer.
Explain: The message contains a role and content. A template adds conversation markers. Tokenisation produces integer IDs. Generation repeatedly appends IDs with fixed weights. Slicing removes the original input before decoding the new answer.
Example: For an illustrative input [1,5] and returned sequence [1,8], slice at position five to keep three generated IDs. The helper counts those three and records its call time. Real requests use the checkpoint's actual template; invented shapes do not predict its wording, speed or quality. Hosted APIs normally return answer text through a different interface.
Ask: Why does the local helper slice at the original input length?
Answer: Decoder generation includes the input prefix. Removing it avoids counting or displaying that prefix as newly generated answer tokens.
Watch out: A correct slice verifies the output boundary, not whether the generated answer is true.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The timeline shows changing representations and interfaces rather than a universal ranking of language-model intelligence.
Explain: An n-gram is a local sequence of n words. Word vectors attach learned features to words. Recurrent state carries information between positions. Transformers use contextual attention. Broad pre-training and later assistant tuning changed how these models are used.
Example: Follow 'bank' through the timeline. A fixed word vector gives it one representation, while contextual processing can distinguish a river bank from a bank loan. This is a representation example, not a guarantee of correct financial or geographical knowledge. Earlier techniques can still be efficient for restricted, well-defined tasks.
Ask: Does every arrow on a historical timeline carry a tensor between the displayed models?
Answer: No. Chronological comparisons show developments; operation diagrams separately show actual data flow and tensor shapes.
Watch out: A historical product release and a scientific architecture innovation need different kinds of source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An n-gram estimates the next word's probability using observed continuation counts for a short context.
Explain: The symbol p denotes probability, and the vertical bar means given. The symbol w_t is the word at position t. The index t counts positions, and n includes the predicted word. Count means observed occurrences in the training text. The denominator counts the preceding context. Smoothing handles unseen or rare events.
Example: If 'the cat' occurs ten times and 'the cat sat' occurs six times, the estimate for 'sat' is 6/10, or 0.6. Other observed continuations share the remaining probability. This arithmetic is a classroom example. An unseen context can have a zero denominator and needs a fallback.
Ask: Does a count ratio of 0.6 prove that the continuation is true?
Answer: No. It estimates continuation frequency under the model assumptions; factual correctness needs a separate check.
Watch out: Here n counts words including the predicted word, so a trigram uses two preceding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Each representation solves some earlier limitations while introducing costs and remaining failure modes.
Explain: Count models need observed contexts. Fixed embeddings share features but do not resolve every word sense. Recurrent networks process a sequence through repeated state updates. Transformers construct context-dependent representations using attention. None of these designs makes generated statements inherently true.
Example: Compare 'river bank' and 'bank loan'. A single stored vector for 'bank' cannot depend on the surrounding phrase at use time. A contextual vector can change with that phrase. This explanation describes representational capacity; actual sense separation and downstream task success still need a measured evaluation with matched examples.
Ask: What is the difference between adding context and establishing reliable knowledge?
Answer: Context changes the information used for prediction. Reliable knowledge needs suitable sources, training or retrieval, and checked outputs.
Watch out: Do not infer a universal winner from one architecture's advantage on one illustrative weakness.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A transformer becomes a useful language model through data, training objectives, scale and later adaptation.
Explain: A parameter is a learned numerical weight. A training token is one processed piece from the corpus. Compute counts numerical operations. Pre-training learns broad prediction patterns. Post-training shapes instruction-following or other intended behaviour.
Example: Separate one billion parameters from twenty billion training tokens on the board. The first counts adjustable numbers; the second counts processed examples. A recipe with more adjustable controls is not automatically better than one trained on appropriate data. That analogy omits architecture, optimisation and serving costs, which must be assessed separately.
Ask: What changes if the same model is trained on more tokens?
Answer: The architecture can remain unchanged while more prediction examples update its weights, using additional training computation.
Watch out: Parameter count, corpus size and context length are distinct quantities with different units.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Developer pre-training compares causal predictions with known next-token targets and uses gradients to update weights.
Explain: A shifted target is the next token for each input position. The causal mask blocks later answers. Cross-entropy measures error against known targets. An optimiser uses gradients to update weights. Post-training follows with instructions or feedback.
Example: From tokens [A,B,C,D], inputs [A,B,C] pair with targets [B,C,D]. Logits can have shape [B,L,V] and targets [B,L]. The target branch enters the loss directly; it is not leaked into earlier causal inputs. This explains the developer's training process. The current lab only scores published weights and contains no such optimiser update.
Ask: Does passing labels to the lab's no-gradient perplexity call update model weights?
Answer: No. It returns the prediction loss; learning additionally requires gradient computation and an optimiser step.
Watch out: Keep a metric for checking frozen weights separate from a training loss used for an update.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The development pipeline turns authorised source material into learned weights and then adapted behaviour.
Explain: Cleaning removes unsuitable material and duplicates. Decontamination checks for evaluation examples in training data. Tokenisation maps text pieces to IDs. Pre-training predicts known next tokens. Post-training uses task demonstrations or feedback to adapt the model.
Example: A document first yields clean text, then IDs shaped [B,L] for B sequences of length L. A decoder produces scores [B,L,V] over V vocabulary entries. Known next-token IDs supply the targets. This conceptual development pipeline is broader than one batch update; the separate training diagram exposes the prediction, loss and optimiser operations.
Ask: Why remove benchmark test overlap before reporting evaluation scores?
Answer: Overlap can make the evaluation reflect prior exposure rather than the generalisation needed for the intended task.
Watch out: Cleaning decisions require documentation and checks; filtering does not automatically establish data rights or eliminate bias.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The dense-model compute estimate multiplies parameters and training tokens, while actual elapsed time depends on the system.
Explain: C denotes training compute in floating-point operations. N counts model parameters. D counts processed training tokens. The factor six approximates forward and backward work for dense transformers. It omits some architecture and implementation costs.
Example: For the displayed planning inputs, N is seven billion and D is two trillion. Six times those quantities gives 8.4 × 10²² operations. This is illustrative arithmetic, not the timing of a lab run. Converting operations to seconds additionally requires an explicitly assumed or measured throughput and realistic utilisation.
Ask: Can the equation determine wall-clock training time from parameter count alone?
Answer: No. It also needs token count, and elapsed time depends on hardware throughput, coordination, memory and utilisation.
Watch out: Do not present a hypothetical compute-to-time conversion as an observed runtime or hardware benchmark.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Scaling fits describe measured relationships in a study and support planning within their assumptions.
Explain: A scaling law is an empirical relationship involving loss, size or compute. Loss measures prediction error under a defined objective. A fitted curve summarises observations. Chinchilla studied a particular training-compute balance. Later serving costs can favour a different balance.
Example: In the study's fit, twenty training tokens per parameter is a useful planning reference. A hypothetical one-billion-parameter model would therefore correspond to twenty billion tokens at that ratio. The curves are calculations from a published fit, rather than new lab measurements. Their smoothness does not guarantee a particular downstream capability or universal optimal ratio.
Ask: Why might an application train a smaller model longer than this reference ratio suggests?
Answer: A large number of later requests can make reduced per-request inference cost valuable, changing the full lifecycle trade-off.
Watch out: Fit constants and reference ratios must be attributed to their study, not treated as laws for every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Historical training-token counts illustrate scale, while token units and corpus disclosures require careful interpretation.
Explain: A billion represents 10⁹ units. A trillion represents 10¹² units. Training-token totals count processed tokenizer pieces. Dataset size and processed training-token count can differ. A model's disclosed corpus does not establish its knowledge of every included topic.
Example: The slide separates reported GPT-3 and Chinchilla training totals from FineWeb's dataset scale and Llama's disclosed pre-training scale. These are historical developer or paper reports, not outcomes from this course's lab. Comparing tokens to words is only approximate because language, code and tokenizer boundaries change how much text each token represents.
Ask: Why is a token-to-word conversion unsuitable as an exact multilingual cost estimate?
Answer: Different languages and tokenizers divide text differently; count the actual formatted input and generated tokens for the chosen model.
Watch out: Do not confuse downloaded dataset size, unique source text and the number of tokens processed across training.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Prompt demonstrations can guide inference while leaving weights fixed, and scoring can make gradual gains look abrupt.
Explain: In-context learning uses examples inside the current prompt. Those examples change the input context. Ordinary inference does not perform an optimiser update. An exact-match score gives credit only to a fully matching answer. That scoring rule can hide partial progress.
Example: Provide 'good → positive' and 'awful → negative', then ask for 'great'. The intended pattern answer is positive, but the small model's actual reply needs checking. This is an illustrative task demonstration, not a training run. A changed response could arise from supplied context without any learned parameter being modified.
Ask: What would distinguish prompt demonstrations from fine-tuning?
Answer: Fine-tuning computes a training objective and updates selected weights; prompt demonstrations are supplied as context during a request.
Watch out: A sudden thresholded benchmark score does not by itself prove a sudden underlying capability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A context window bounds usable request tokens without guaranteeing that every supplied detail is used reliably.
Explain: The context window is the model's allowed sequence budget. Instructions and conversation history consume tokens. Sources and tool results can consume more. Output may share the budget or have another cap. Limits and accounting depend on the actual model and interface.
Example: With an illustrative 100-token combined budget, 20 instruction tokens, 50 source tokens and 10 history tokens leave 20 for output. Actual templates can add markers, so count the formatted request. Think of a notebook page with finite space: fitting a fact on the page does not guarantee the model will correctly retrieve or apply it.
Ask: What should be checked after a long source passage fits within the limit?
Answer: Test whether the reply uses the relevant details accurately, including facts in different positions and necessary supporting context.
Watch out: A large advertised limit does not establish faithful recall or remove the need for relevant-source selection.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The same source text can produce different token pieces and counts across tokenizer/model pairs.
Explain: A tokenizer defines a vocabulary and segmentation rules. Vocabulary entries can include subword pieces or format markers. Token IDs belong to that vocabulary. Whitespace word counting is a separate convenience. Counts affect context accounting and per-token measurements.
Example: A fictional two-word phrase represented by five pieces has 2.5 tokens per whitespace word. The chart instead shows stored measured counts for named tokenizers and fixed source texts. Keep that distinction visible. Accented names and indentation are useful inspection cases because punctuation, spaces and language coverage can change the segmentation.
Ask: Must two tokenizers use the same integer ID for the word Dublin?
Answer: No. Each has its own vocabulary and rules. Compare the source text and decoded pieces before interpreting the counts.
Watch out: Different token counts do not rank answer quality, and format markers must be handled consistently.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Decoding is the policy that turns model scores into successive output tokens while learned weights remain fixed.
Explain: A logit is an unnormalised score for a candidate token. Softmax converts scores to probabilities. Greedy decoding chooses the largest score. Sampling draws according to a distribution. Beam search retains several possible partial sequences.
Example: For five candidate tokens, the model produces a score vector [V] with V equal to five in the teaching example. A decoding filter changes which candidates remain eligible. Selecting one ID extends the prefix from [1,L] to [1,L+1]. The next model call then receives a changed prefix, while using the same learned parameters.
Ask: Which part changes when you apply top-p to already computed scores?
Answer: The candidate-selection policy changes. The fixed model produced the scores before filtering; a new token subsequently changes its next input.
Watch out: A sampling policy affects diversity and selection, but does not provide a truthfulness guarantee.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The decoding loop changes the prefix after one token choice while reusing the same trained model weights.
Explain: The decoder returns vocabulary logits. Temperature rescales them using a positive divisor. Filtering excludes some candidates. Sampling draws one ID from retained probabilities. Appending that ID changes the next input sequence.
Example: The worked scores [2,1,0.5,0.1,−1] produce a distribution whose first three candidates exceed cumulative mass 0.8. The retained candidates are renormalised before a draw. At the next position, model scores can differ because the prefix changed. The manual lab loop runs a fixed short number of steps and does not implement an explicit end-token stop.
Ask: Why can the top-p candidate count change on successive calls?
Answer: The new prefix changes the distribution. A concentrated distribution reaches the threshold with fewer entries than an uncertain one.
Watch out: Temperature and top-p change selection; they neither update the model nor guarantee factual accuracy.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Token-selection rules make different trade-offs, so choose and report settings according to the task.
Explain: Temperature is a positive score divisor before softmax. Top-k uses a kth-score threshold. Top-p keeps leading candidates reaching cumulative probability p. A repetition penalty modifies previously used token scores. Beam search maintains multiple partial sequences.
Example: The five-score example [2,1,0.5,0.1,−1] gives about [0.56,0.21,0.12,0.08,0.03]. Top-p 0.8 retains the first three candidates and renormalises their probabilities. These are illustrative calculations. A threshold-based top-k can retain extra tied candidates, and applying temperature first can change the subsequent top-p set.
Ask: How do you implement greedy generation without dividing scores by zero?
Answer: Use the runtime's greedy option, such as do_sample=False. Temperature must remain positive in the manual softmax sampler.
Watch out: Do not equate deterministic selection with correct extraction; verify output format and the underlying facts.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Stored next-token probabilities reveal continuation patterns for specific prompts and checkpoints, rather than verified factual answers.
Explain: A base model continues text using learned patterns. Instruction tuning adapts responses toward requested tasks. A probability ranks candidate continuations for a particular prefix. Token labels can include leading spaces or blank markers. The chart exposes those measured candidates.
Example: The archived chart uses the base Qwen2.5-0.5B checkpoint. Its leading-space marker helps explain why displayed token strings look unusual. The current CPU lab uses a different small instruction checkpoint and caps output. Changing checkpoints is a new experiment; the archived bars and probabilities must not be relabelled as its new results.
Ask: Does the most probable continuation establish that a factual question has been answered correctly?
Answer: It describes model continuation likelihood for that prefix. Check whether the continuation actually answers the question and matches reliable evidence.
Watch out: A completion pattern does not identify the particular training examples that caused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Structured extraction needs consistent selection plus validation of both format and source content.
Explain: An extraction task selects requested fields from supplied input. JSON is a structured text format. Greedy decoding chooses the highest-scoring token. A validator checks the requested schema. Source comparison checks whether the values were copied or inferred correctly.
Example: Use a fictional invoice with total 12.50 and an invoice ID. The goal is to preserve those values, rather than generate varied alternatives. Greedy selection can still produce malformed JSON or a wrong total. This worked task example defines the desired behaviour; it is not a claim that the course's small checkpoint passes it.
Ask: Which option best matches this structured extraction task?
Answer: D. Greedy decoding plus output validation gives a consistent starting policy, while format and source-value checks remain necessary.
Watch out: Temperature zero can be an API-specific convention; the manual sampler must not divide by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Model families are compared along architecture, access, size and behaviour rather than by names alone.
Explain: An encoder represents supplied input using its available context. A decoder predicts successive output tokens. An encoder–decoder conditions generation on an encoded source. Open-weight means weights are downloadable under terms. A hosted product can conceal architectural details.
Example: For one fictional course question, BERT can fill a supplied mask, T5 can transform a task-prefixed source, and a decoder can continue a formatted chat. Their output interfaces differ before any quality comparison starts. The family names identify useful examples; they do not specify identical training data, context limits, licences or application features.
Ask: Can you infer that every named assistant has a fully disclosed decoder-only internal architecture?
Answer: No. Distinguish publicly documented architecture from an observed text-generation interface, especially for proprietary products.
Watch out: A familiar family label must not replace reading the exact release's card and terms.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Architecture describes input and output processing, while access terms describe how a model release is available.
Explain: Encoder-only models build input representations. Encoder–decoders encode a source and generate separate output. Decoder-only models continue a prefix. A masked objective predicts hidden input pieces. A causal objective predicts using preceding pieces only.
Example: An illustrative input [1,4] can contain a mask for BERT. A text-to-text task can use a source [1,4] and a separately generated target [1,3]. A decoder instead returns prefix plus continuation. These shapes show interfaces, not equal task difficulty or measured superiority. A downloadable checkpoint can belong to any architectural family.
Ask: Does open-weight access determine whether a model is an encoder or decoder?
Answer: No. Access and architecture are separate dimensions; inspect both when matching the model to an application.
Watch out: A category diagram is a comparison of designs, not a data pipeline connecting different released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BERT, T5 and a decoder support different interfaces even when demonstrations use related input topics.
Explain: BERT's mask-filling interface ranks missing-token candidates. T5 represents the source before generating another sequence. A decoder appends tokens to its existing prefix. Chat markers distinguish message roles. Task quality must be assessed for the requested output.
Example: Supply 'The capital of Ireland is [MASK]' to BERT, a question to Flan-T5, and a formatted message to the decoder. The recorded companion table labels its exact checkpoints. The new CPU core's SmolLM2 reply belongs to another model and cap. Similar wording does not make mask ranking, translation and chat the same measured task.
Ask: When could an encoder be preferable to a chat decoder?
Answer: For classification, tagging or retrieval representations, an encoder's output interface may fit the task directly and efficiently.
Watch out: Do not rank all families by how fluent one short demonstration sounds; match their outputs to actual requirements.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Access varies by release, and downloadable weights still require licence, provenance and operational checks.
Explain: A proprietary API exposes a hosted interface. Open-weight access makes learned weights downloadable. Open-source claims involve additional materials and licence definitions. A model card documents uses and limits. Terms can differ between releases within one family.
Example: Use the table to create a shortlist for a fictional public study-guide service. Then inspect the actual release, including notices, access approval, disclosed training sources and supported inputs. This table groups examples; it cannot establish that every family member has identical licence permissions or that any provider is available in every account or region.
Ask: Does downloading model weights automatically provide training data, training code and unrestricted use?
Answer: No. Check exactly which materials are released and what the licence allows, alongside the application's own requirements.
Watch out: Product names and availability change; preserve a dated release record instead of relying on a family-level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Size, expert routing, extra inference computation and input modalities are separate model-selection properties.
Explain: A small model uses fewer learned parameters. Mixture-of-experts routes tokens to selected expert networks. Total weight storage can exceed active-per-token computation. A reasoning configuration spends extra generated computation. Multimodal models accept supported non-text input types.
Example: Compare a hypothetical model storing ten experts while activating two for each token. Activating two does not remove storage for the other experts. The numbers illustrate the distinction, not a measured release. Likewise, generating a longer thinking trace uses more token work, but final-answer accuracy and completion still need an actual evaluation.
Ask: Can a model be small, open-weight and reasoning-capable at the same time?
Answer: These labels describe different properties. Verify the exact architecture, terms, supported mode and task performance instead of treating categories as exclusive.
Watch out: A lower active-parameter count does not by itself establish the memory needed to load a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Extra inference computation is a budget to evaluate using completed final answers, tokens and measured time.
Explain: Test-time compute is work performed during inference. A thinking mode can generate intermediate text before an answer. Completion checks whether the response reached its intended final section. Accuracy compares the final answer with a verified reference. Visible reasoning is generated output.
Example: The stored scheduling puzzle has three GPUs, but each run needs two for four hours. Only one fits at once, so five runs require twenty hours. The archived Qwen3-0.6B comparison on the slide used different sampling and caps for each mode; the Word notes give its full table. The new core tests answer-scoring logic only.
Ask: What is missing if a long response uses its whole budget without a final answer?
Answer: It has not established a completed correct response. Report the cap, completion flag, accuracy, generated-token count and elapsed time together.
Watch out: Do not score persuasive intermediate text as ground truth or assume more thinking always improves accuracy.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The correct architecture statement describes T5's source encoding and separate text generation without making access guarantees.
Explain: A masked language model predicts hidden input tokens. A causal decoder predicts successive output tokens. T5 combines an encoder with a decoder. Open-weight releases do not automatically include all training materials. Reasoning configurations can spend additional inference time.
Example: For a translation task, T5 reads an English source and generates a German sequence. Input and output lengths can differ; neither sequence needs to be a single missing word. This worked interface example distinguishes architectures without proving that a particular T5 checkpoint translates well. Inspect actual outputs under matched evaluation settings.
Ask: Which architecture statement is correct?
Answer: C. T5 frames tasks as text-to-text using an encoder–decoder, while the other options conflate architectures, release materials or reasoning cost.
Watch out: An observed text-generation interface does not disclose every internal design detail of a proprietary assistant.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Choose a model by explicit task requirements and measured evidence under practical constraints.
Explain: A task defines expected input and output. A constraint limits acceptable data handling, cost or hardware. A shortlist contains plausible candidates. Evaluation measures the required behaviour on representative examples. Monitoring checks whether that behaviour changes after deployment.
Example: For a fictional course FAQ, require correct answers supported by supplied course passages, a specified format and an explicit refusal when evidence is absent. Compare candidates using the same questions and sources. Think of selecting laboratory equipment for a defined measurement: specifications narrow the options, but the final choice needs calibration on the intended workload.
Ask: Why is a broadly popular model insufficient evidence for this FAQ task?
Answer: Its reported tests may not measure source faithfulness, refusal behaviour, the relevant language or the application's actual constraints.
Watch out: Choose settings on development examples and keep a separate final test for an honest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A model card records intended uses and evidence, and missing disclosures must remain visible in the decision.
Explain: A model card documents a released model. Intended use defines the planned tasks and audience. Evaluation sections should state tests and settings. Limitations identify known weaknesses. Technical details include tokenizer, template, size and context information.
Example: Inspect the core SmolLM2 card and the optional Qwen3 card. Record their exact IDs, disclosed evaluations, licence and recommended usage. A blank training-data detail should be recorded as undisclosed rather than filled with an assumption. Like an instrument datasheet, a model card helps interpretation; it is not an independent certificate that every reported capability transfers to your task.
Ask: What should you do if a requirement depends on information absent from the card?
Answer: Record the gap, seek reliable evidence or choose another candidate; do not silently assume the missing property.
Watch out: A model card's benchmark number must be read with its evaluation procedure and supported limitations.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Model use requires the exact release terms and application requirements, rather than a licence-family shortcut.
Explain: A licence grants specified permissions under conditions. Notices can be required when redistributing materials. Custom terms can impose additional limits. Research-only access may exclude commercial use. Hosted API terms concern service access and data handling.
Example: For a fictional student prototype, check whether the selected checkpoint permits the intended use and what notices accompany redistribution. A prototype's later public deployment can change the applicable operational questions. The table offers categories, not legal conclusions about every release. Keep the actual licence text and revision with the model-selection record.
Ask: Does a no-cost download establish unrestricted commercial rights?
Answer: No. Price and permission are different facts; read the release's actual terms and address the intended use.
Watch out: Do not transfer one checkpoint's permissions to an entire family or present this overview as individual legal advice.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Benchmarks help create a shortlist, while representative task tests support the actual model-selection decision.
Explain: A benchmark is a defined evaluation set and procedure. Contamination means evaluation material appeared during training. A harness supplies the scoring and execution rules. Preference votes can reflect style or length. Task mismatch limits a score's relevance.
Example: A model can lead a code benchmark yet fail a fictional course-policy extraction task. The benchmark and application request different outputs under different checks. Keep the detailed MMLU, maths, code, science and preference examples in the Word notes. Their names identify evaluation families; they do not establish a current leaderboard ordering or equal scoring conditions.
Ask: How should benchmark evidence guide your final choice?
Answer: A. Use it to shortlist candidates, then compare them on representative held-out task examples with matched settings and constraints.
Watch out: Freeze development choices before the final test; selecting a winner on that same test overstates the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Hosted and local inference differ in operational responsibility, data handling and available measurement evidence.
Explain: An API is a software request-and-response interface. A hosted provider runs the model hardware. Local inference loads weights into the chosen runtime. Both paths require version and configuration records. Costs and permitted inputs depend on the deployment.
Example: The lab sends only an invented explanation through an optional shared provider and always prints a local rubric. A local checkpoint instead produces newly generated IDs that can be counted directly. The wrapper returns text without provider usage metadata, so that row keeps usage missing. Do not infer hosted token counts from the local tokenizer.
Ask: Which responsibilities remain when you run downloadable weights locally?
Answer: Memory, runtime maintenance, licence compliance, input protection, output checks and version monitoring still need to be managed.
Watch out: OpenAI API costs are separate from a ChatGPT subscription; no API spending is required for the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A pipeline can combine formatting, model inference and output processing, while explicit device and task checks remain necessary.
Explain: A pipeline is a high-level runtime helper. A chat request contains role/content messages. The checkpoint's template supplies its conversation format. Generation appends output tokens using fixed weights. The first model load can require file downloads.
Example: The projected fragment uses the lab's small checkpoint and a 24-token cap on CPU. Its chat output separates the assistant message through the pipeline's returned structure. The notebook also exposes formatting and prefix slicing directly in the chat helper. These are two interfaces to inference, not two different training methods or guaranteed-quality responses.
Ask: What should be checked before copying a chat pipeline example to another checkpoint?
Answer: Confirm its supported task, chat template, output structure, generation parameters and device settings against that checkpoint's documentation.
Watch out: Do not apply a conversation template intended for another model or silently move the default to a GPU.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Local and hosted calls are alternative inference routes with different response formats and available usage evidence.
Explain: Local inference templates and tokenises messages. A hosted API receives structured text requests. The provider formats its supported model input. Local decoder output contains prefix and continuation. Hosted responses normally expose a separate answer message.
Example: The local chat helper returns answer text, generated-ID count and elapsed call time. The shared hosted wrapper returns text or None, so provider usage remains missing in the log. The same fictional question keeps task wording comparable, but tokenizers, settings and timing boundaries can still differ. Neither route updates weights during this demonstration.
Ask: Can a locally counted prompt estimate be presented as the provider's actual usage?
Answer: No. Different templates and tokenizers can change counts; report usage only when the chosen interface supplies it.
Watch out: Do not add another key reader or SDK; the shared provider switch and local fallback handle access.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Optional hosted feedback uses the shared provider controls and preserves a complete local fallback.
Explain: The shared dispatcher selects one opted-in provider. Both provider switches default to false. The wrapper returns text or None. It manages secrets and bounded retries centrally. The local rubric remains available without provider access.
Example: Send the supplied fictional study-guide explanation with a small output cap. If no response is obtained, print the local rubric and continue. Do not read or display keys in this cell. The call illustrates a request interface; it does not evaluate the provider broadly or reveal its internal tokenizer, usage or reasoning process.
Ask: Does the presence of a saved key authorise a hosted request?
Answer: No. The student must explicitly enable exactly one shared provider switch after considering account, region, cost and data-use terms.
Watch out: A wrapper-call time can include retries and has a different boundary from a local generation measurement.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Useful language-model applications need task-specific verification, including checks on any supporting tool outputs.
Explain: Drafting produces candidate wording for review. Extraction selects fields from supplied material. Retrieval supplies potentially relevant sources. Tools can perform calculations or other operations. A hallucination is generated content unsupported by the relevant evidence.
Example: A fictional course assistant can rewrite a supplied paragraph accurately while inventing an unsupported policy deadline in another answer. A retrieved passage helps only if it contains the needed fact and is used faithfully. A calculator helps only when its inputs and returned result are checked. These examples define failure checks rather than guaranteeing that tools eliminate mistakes.
Ask: What distinguishes a fluent summary from a faithful summary?
Answer: Faithfulness requires preserving the source's meaning and important qualifications, without adding unsupported facts or removing essential constraints.
Watch out: Check citations, numbers and high-impact claims against reliable evidence; polish alone does not establish reliability.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A disciplined selection workflow creates requirements, compares candidates and monitors a documented decision.
Explain: The task specification names required outputs. Constraints capture operational and data requirements. A shortlist identifies eligible releases. Evaluation measures fixed models under documented settings. Monitoring checks changes in quality, cost or availability.
Example: For an invented reading-list extractor, create development examples with unusual punctuation and a separate held-out final set. Shortlist compatible models, choose prompt settings on development data, then freeze them before testing. The diagram's arrows carry specifications and evidence; its evaluation block checks frozen models rather than updating learned weights.
Ask: Why should the final test remain separate from choosing prompts or candidates?
Answer: Repeated choices based on the same test adapt the decision to that set and can overstate generalisation to new requests.
Watch out: A provider version change can invalidate earlier evidence; record the change and repeat the relevant checks.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Responsible model choice includes data rights, group performance, factual checks, privacy and review accountability.
Explain: Provenance is the documented source history of data or outputs. Bias can change performance across groups or languages. Privacy concerns how information is stored and exposed. Review accountability identifies who handles errors. Version records connect results to configurations.
Example: Use invented study-guide text for this lab's optional API demonstration. A real deployment can require stronger data controls and review procedures. Test accented names and language variants without assuming one prompt establishes fairness. The comparison table names practical checks; it does not certify the model, release terms or application as suitable for all users.
Ask: What evidence is missing from a single successful English demonstration?
Answer: Representative language/group tests, failure cases, source verification, operational records and checks for the application's own data-handling requirements.
Watch out: Do not send confidential student or personal records through the optional example; retain its supplied invented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The core generation path tokenises a fixed prompt, appends selected IDs and verifies the resulting reply.
Explain: Text becomes IDs shaped [1,L]. The fixed decoder predicts vocabulary scores [V]. Greedy selection or sampling chooses another ID. Appending extends the prefix for repetition. Decoding makes text available for a task check.
Example: A 16-step manual continuation uses the same small checkpoint throughout. Record its prefix, temperature and filtering settings before comparing outputs. The diagram traces this coherent generation path only. Token-count tables, perplexity and synthetic final-answer checks are separate experiments, while optional BERT/T5/Qwen reasoning runs create additional workloads with their own evidence.
Ask: Does the repetition arrow imply a model-weight update?
Answer: It changes the token prefix and repeats inference with fixed weights; an optimiser step would belong to training.
Watch out: Do not connect unrelated measurements as if one experiment's output supplied another's input.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The required CPU lab separates tokenizer counts, controlled generation, predictability scoring and answer verification.
Explain: One small instruction checkpoint supplies real local inference. Filters are checked on known score vectors. Perplexity measures supplied-text predictability. A request log records output length and timing. Optional stretches load additional family or reasoning models.
Example: The core uses a 24-token reply cap, 16-step manual continuations and four short perplexity texts. On the course laptop the whole core took 33 seconds once the checkpoint was downloaded. Archived family and reasoning results remain labelled separately.
Ask: Which evidence can the synthetic reasoning-scoring check establish?
Answer: It verifies completion and final-number bookkeeping on known responses; it does not measure a reasoning checkpoint's accuracy.
Watch out: Enabling optional downloads or longer thinking creates a different workload requiring its own settings and measurement.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Use accessible explanations for intuition and primary papers or current model cards for technical claims.
Explain: A teaching video can connect mechanisms to applications. A course chapter provides executable examples. A primary paper explains a study's methods. A model card documents a release and recommended use. Documentation describes the supported runtime interface.
Example: Start with the introductory LLM video, then read the official chat-template and perplexity guidance. For optional Qwen3 thinking, inspect the current card's sampling recommendation before changing settings. The sources serve different purposes; a broad overview cannot establish an exact checkpoint's licence, availability, output cap or measured performance on your task.
Ask: Which source would you consult before changing an optional thinking model's decoding settings?
Answer: Use that release's official card and runtime documentation, then evaluate the changed configuration on representative tasks.
Watch out: Source-check dates document this revision; current model and account details can require renewed verification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short: Connect model development, request formatting, token selection and task verification without confusing their measurements.
Explain: Training learns parameters from examples. Inference uses fixed parameters. A tokenizer defines prediction units. Decoding selects output candidates. Evaluation checks whether outputs satisfy the actual task and constraints.
Example: Return to the five illustrative candidate probabilities. Top-p 0.8 retains three candidates, but none of that arithmetic verifies a generated definition. The CPU notebook then supplies actual outputs and measured predictability for its named checkpoint. Stored diagrams and tables expose other architectures and configurations; keep their provenance distinct from the new run.
Ask: Does a longer thinking trace prove that the final answer is better?
Answer: No. Compare completed final correctness, token use and actual elapsed time across representative repeated examples.
Watch out: Do not combine stored and fresh model results into one table without identifying their checkpoints, settings and dates.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image" Target="../media/image-44-3.png"/><Relationship Id="rId4" Type="http://schemas.openxmlformats.org/officeDocument/2006/relationships/slideLayout" Target="../slideLayouts/slideLayout1.xml"/><Relationship Id="rId5"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2" Type="http://schemas.openxmlformats.org/officeDocument/2006/relationships/hyperlink" Target="https://www.youtube.com/watch?v=zjkBMFhNj_g" TargetMode="External"/><Relationship Id="rId4" Type="http://schemas.openxmlformats.org/officeDocument/2006/relationships/hyperlink" Target="https://huggingface.co/learn/llm-course/en/chapter1/6" TargetMode="External"/><Relationship Id="rId6" Type="http://schemas.openxmlformats.org/officeDocument/2006/relationships/hyperlink" Target="https://huggingface.co/docs/transformers/en/chat_templating" TargetMode="External"/><Relationship Id="rId8" Type="http://schemas.openxmlformats.org/officeDocument/2006/relationships/hyperlink" Target="https://huggingface.co/docs/transformers/en/perplexity" TargetMode="External"/><Relationship Id="rId10" Type="http://schemas.openxmlformats.org/officeDocument/2006/relationships/hyperlink" Target="https://huggingface.co/Qwen/Qwen3-0.6B" TargetMode="External"/><Relationship Id="rId1" Type="http://schemas.openxmlformats.org/officeDocument/2006/relationships/image" Target="../media/image-45-1.png"/><Relationship Id="rId3" Type="http://schemas.openxmlformats.org/officeDocument/2006/relationships/image" Target="../media/image-45-2.png"/><Relationship Id="rId5" Type="http://schemas.openxmlformats.org/officeDocument/2006/relationships/image" Target="../media/image-45-3.png"/><Relationship Id="rId7" Type="http://schemas.openxmlformats.org/officeDocument/2006/relationships/image" Target="../media/image-45-4.png"/><Relationship Id="rId9" Type="http://schemas.openxmlformats.org/officeDocument/2006/relationships/image" Target="../media/image-45-5.png"/><Relationship Id="rId11" Type="http://schemas.openxmlformats.org/officeDocument/2006/relationships/slideLayout" Target="../slideLayouts/slideLayout1.xml"/><Relationship Id="rId1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1B4B"/>
        </a:solidFill>
      </p:bgPr>
    </p:bg>
    <p:spTree>
      <p:nvGrpSpPr>
        <p:cNvPr id="1" name=""/>
        <p:cNvGrpSpPr/>
        <p:nvPr/>
      </p:nvGrpSpPr>
      <p:grpSpPr>
        <a:xfrm>
          <a:off x="0" y="0"/>
          <a:ext cx="0" cy="0"/>
          <a:chOff x="0" y="0"/>
          <a:chExt cx="0" cy="0"/>
        </a:xfrm>
      </p:grpSpPr>
      <p:sp>
        <p:nvSpPr>
          <p:cNvPr id="2" name="Shape 0"/>
          <p:cNvSpPr/>
          <p:nvPr/>
        </p:nvSpPr>
        <p:spPr>
          <a:xfrm>
            <a:off x="731520" y="1051560"/>
            <a:ext cx="1737360" cy="457200"/>
          </a:xfrm>
          <a:prstGeom prst="roundRect">
            <a:avLst>
              <a:gd name="adj" fmla="val 20000"/>
            </a:avLst>
          </a:prstGeom>
          <a:solidFill>
            <a:srgbClr val="EA580C"/>
          </a:solidFill>
          <a:ln w="12700">
            <a:solidFill>
              <a:srgbClr val="EA580C"/>
            </a:solidFill>
            <a:prstDash val="solid"/>
          </a:ln>
        </p:spPr>
      </p:sp>
      <p:sp>
        <p:nvSpPr>
          <p:cNvPr id="3" name="Text 1"/>
          <p:cNvSpPr txBox="1"/>
          <p:nvPr/>
        </p:nvSpPr>
        <p:spPr>
          <a:xfrm>
            <a:off x="731520" y="1051560"/>
            <a:ext cx="1737360" cy="457200"/>
          </a:xfrm>
          <a:prstGeom prst="rect">
            <a:avLst/>
          </a:prstGeom>
          <a:noFill/>
          <a:ln/>
        </p:spPr>
        <p:txBody>
          <a:bodyPr wrap="square" lIns="0" tIns="0" rIns="0" bIns="0" rtlCol="0" anchor="ctr"/>
          <a:lstStyle/>
          <a:p>
            <a:pPr algn="ctr" indent="0" marL="0">
              <a:buNone/>
            </a:pPr>
            <a:r>
              <a:rPr lang="en-US" sz="1600" b="1" spc="200" kern="0" dirty="0">
                <a:solidFill>
                  <a:srgbClr val="FFFFFF"/>
                </a:solidFill>
                <a:latin typeface="Calibri" pitchFamily="34" charset="0"/>
                <a:ea typeface="Calibri" pitchFamily="34" charset="-122"/>
                <a:cs typeface="Calibri" pitchFamily="34" charset="-120"/>
              </a:rPr>
              <a:t>WEEK 06</a:t>
            </a:r>
            <a:endParaRPr lang="en-US" sz="1600" dirty="0"/>
          </a:p>
        </p:txBody>
      </p:sp>
      <p:sp>
        <p:nvSpPr>
          <p:cNvPr id="4" name="Text 2"/>
          <p:cNvSpPr txBox="1"/>
          <p:nvPr/>
        </p:nvSpPr>
        <p:spPr>
          <a:xfrm>
            <a:off x="731520" y="1737360"/>
            <a:ext cx="6766560" cy="2103120"/>
          </a:xfrm>
          <a:prstGeom prst="rect">
            <a:avLst/>
          </a:prstGeom>
          <a:noFill/>
          <a:ln/>
        </p:spPr>
        <p:txBody>
          <a:bodyPr wrap="square" lIns="0" tIns="0" rIns="0" bIns="0" rtlCol="0" anchor="b"/>
          <a:lstStyle/>
          <a:p>
            <a:pPr indent="0" marL="0">
              <a:lnSpc>
                <a:spcPct val="95000"/>
              </a:lnSpc>
              <a:buNone/>
            </a:pPr>
            <a:r>
              <a:rPr lang="en-US" sz="4500" b="1" dirty="0">
                <a:solidFill>
                  <a:srgbClr val="FFFFFF"/>
                </a:solidFill>
                <a:latin typeface="Calibri" pitchFamily="34" charset="0"/>
                <a:ea typeface="Calibri" pitchFamily="34" charset="-122"/>
                <a:cs typeface="Calibri" pitchFamily="34" charset="-120"/>
              </a:rPr>
              <a:t>Large Language Models (LLMs) and families</a:t>
            </a:r>
            <a:endParaRPr lang="en-US" sz="4500" dirty="0"/>
          </a:p>
        </p:txBody>
      </p:sp>
      <p:sp>
        <p:nvSpPr>
          <p:cNvPr id="5" name="Text 3"/>
          <p:cNvSpPr txBox="1"/>
          <p:nvPr/>
        </p:nvSpPr>
        <p:spPr>
          <a:xfrm>
            <a:off x="731520" y="3977640"/>
            <a:ext cx="6766560" cy="1097280"/>
          </a:xfrm>
          <a:prstGeom prst="rect">
            <a:avLst/>
          </a:prstGeom>
          <a:noFill/>
          <a:ln/>
        </p:spPr>
        <p:txBody>
          <a:bodyPr wrap="square" lIns="0" tIns="0" rIns="0" bIns="0" rtlCol="0" anchor="t"/>
          <a:lstStyle/>
          <a:p>
            <a:pPr indent="0" marL="0">
              <a:buNone/>
            </a:pPr>
            <a:r>
              <a:rPr lang="en-US" sz="2000" dirty="0">
                <a:solidFill>
                  <a:srgbClr val="C7D2FE"/>
                </a:solidFill>
                <a:latin typeface="Calibri" pitchFamily="34" charset="0"/>
                <a:ea typeface="Calibri" pitchFamily="34" charset="-122"/>
                <a:cs typeface="Calibri" pitchFamily="34" charset="-120"/>
              </a:rPr>
              <a:t>How language models learn, choose tokens and differ, and how to compare them for a task</a:t>
            </a:r>
            <a:endParaRPr lang="en-US" sz="2000" dirty="0"/>
          </a:p>
        </p:txBody>
      </p:sp>
      <p:sp>
        <p:nvSpPr>
          <p:cNvPr id="6" name="Text 4"/>
          <p:cNvSpPr txBox="1"/>
          <p:nvPr/>
        </p:nvSpPr>
        <p:spPr>
          <a:xfrm>
            <a:off x="731520" y="5897880"/>
            <a:ext cx="8229600" cy="365760"/>
          </a:xfrm>
          <a:prstGeom prst="rect">
            <a:avLst/>
          </a:prstGeom>
          <a:noFill/>
          <a:ln/>
        </p:spPr>
        <p:txBody>
          <a:bodyPr wrap="square" lIns="0" tIns="0" rIns="0" bIns="0" rtlCol="0" anchor="t"/>
          <a:lstStyle/>
          <a:p>
            <a:pPr indent="0" marL="0">
              <a:buNone/>
            </a:pPr>
            <a:r>
              <a:rPr lang="en-US" sz="1400" dirty="0">
                <a:solidFill>
                  <a:srgbClr val="C7D2FE"/>
                </a:solidFill>
                <a:latin typeface="Calibri" pitchFamily="34" charset="0"/>
                <a:ea typeface="Calibri" pitchFamily="34" charset="-122"/>
                <a:cs typeface="Calibri" pitchFamily="34" charset="-120"/>
              </a:rPr>
              <a:t>MSc in Artificial Intelligence  ·  Generative AI  ·  2-hour lecture</a:t>
            </a:r>
            <a:endParaRPr lang="en-US" sz="1400" dirty="0"/>
          </a:p>
        </p:txBody>
      </p:sp>
      <p:pic>
        <p:nvPicPr>
          <p:cNvPr id="7" name="Image 0" descr="C:\Users\sudee\Downloads\Generative_AI_2027_Teaching_Pack\AI2027_Project\build\figures\week_06\cover.png">    </p:cNvPr>
          <p:cNvPicPr>
            <a:picLocks noChangeAspect="1"/>
          </p:cNvPicPr>
          <p:nvPr/>
        </p:nvPicPr>
        <p:blipFill>
          <a:blip r:embed="rId1"/>
          <a:stretch>
            <a:fillRect/>
          </a:stretch>
        </p:blipFill>
        <p:spPr>
          <a:xfrm>
            <a:off x="7818120" y="1520258"/>
            <a:ext cx="3840480" cy="381748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06  ·  LARGE LANGUAGE MODELS (LLMS) AND FAMILIES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2</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By the end of this week you can…</a:t>
            </a:r>
            <a:endParaRPr lang="en-US" sz="3200" dirty="0"/>
          </a:p>
        </p:txBody>
      </p:sp>
      <p:sp>
        <p:nvSpPr>
          <p:cNvPr id="6" name="Shape 4"/>
          <p:cNvSpPr/>
          <p:nvPr/>
        </p:nvSpPr>
        <p:spPr>
          <a:xfrm>
            <a:off x="548640" y="1545336"/>
            <a:ext cx="411480" cy="411480"/>
          </a:xfrm>
          <a:prstGeom prst="ellipse">
            <a:avLst/>
          </a:prstGeom>
          <a:solidFill>
            <a:srgbClr val="4F46E5"/>
          </a:solidFill>
          <a:ln w="12700">
            <a:solidFill>
              <a:srgbClr val="4F46E5"/>
            </a:solidFill>
            <a:prstDash val="solid"/>
          </a:ln>
        </p:spPr>
      </p:sp>
      <p:sp>
        <p:nvSpPr>
          <p:cNvPr id="7" name="Text 5"/>
          <p:cNvSpPr txBox="1"/>
          <p:nvPr/>
        </p:nvSpPr>
        <p:spPr>
          <a:xfrm>
            <a:off x="548640" y="1545336"/>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txBox="1"/>
          <p:nvPr/>
        </p:nvSpPr>
        <p:spPr>
          <a:xfrm>
            <a:off x="1143000" y="1527048"/>
            <a:ext cx="6903720" cy="1594104"/>
          </a:xfrm>
          <a:prstGeom prst="rect">
            <a:avLst/>
          </a:prstGeom>
          <a:noFill/>
          <a:ln/>
        </p:spPr>
        <p:txBody>
          <a:bodyPr wrap="square" lIns="50800" tIns="50800" rIns="50800" bIns="50800" rtlCol="0" anchor="t"/>
          <a:lstStyle/>
          <a:p>
            <a:pPr indent="0" marL="0">
              <a:buNone/>
            </a:pPr>
            <a:r>
              <a:rPr lang="en-US" sz="2000" dirty="0">
                <a:solidFill>
                  <a:srgbClr val="1F2937"/>
                </a:solidFill>
                <a:latin typeface="Calibri" pitchFamily="34" charset="0"/>
                <a:ea typeface="Calibri" pitchFamily="34" charset="-122"/>
                <a:cs typeface="Calibri" pitchFamily="34" charset="-120"/>
              </a:rPr>
              <a:t>Explain LLM training</a:t>
            </a:r>
            <a:endParaRPr lang="en-US" sz="2000" dirty="0"/>
          </a:p>
        </p:txBody>
      </p:sp>
      <p:sp>
        <p:nvSpPr>
          <p:cNvPr id="9" name="Shape 7"/>
          <p:cNvSpPr/>
          <p:nvPr/>
        </p:nvSpPr>
        <p:spPr>
          <a:xfrm>
            <a:off x="548640" y="3139440"/>
            <a:ext cx="411480" cy="411480"/>
          </a:xfrm>
          <a:prstGeom prst="ellipse">
            <a:avLst/>
          </a:prstGeom>
          <a:solidFill>
            <a:srgbClr val="4F46E5"/>
          </a:solidFill>
          <a:ln w="12700">
            <a:solidFill>
              <a:srgbClr val="4F46E5"/>
            </a:solidFill>
            <a:prstDash val="solid"/>
          </a:ln>
        </p:spPr>
      </p:sp>
      <p:sp>
        <p:nvSpPr>
          <p:cNvPr id="10" name="Text 8"/>
          <p:cNvSpPr txBox="1"/>
          <p:nvPr/>
        </p:nvSpPr>
        <p:spPr>
          <a:xfrm>
            <a:off x="548640" y="3139440"/>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txBox="1"/>
          <p:nvPr/>
        </p:nvSpPr>
        <p:spPr>
          <a:xfrm>
            <a:off x="1143000" y="3121152"/>
            <a:ext cx="6903720" cy="1594104"/>
          </a:xfrm>
          <a:prstGeom prst="rect">
            <a:avLst/>
          </a:prstGeom>
          <a:noFill/>
          <a:ln/>
        </p:spPr>
        <p:txBody>
          <a:bodyPr wrap="square" lIns="50800" tIns="50800" rIns="50800" bIns="50800" rtlCol="0" anchor="t"/>
          <a:lstStyle/>
          <a:p>
            <a:pPr indent="0" marL="0">
              <a:buNone/>
            </a:pPr>
            <a:r>
              <a:rPr lang="en-US" sz="2000" dirty="0">
                <a:solidFill>
                  <a:srgbClr val="1F2937"/>
                </a:solidFill>
                <a:latin typeface="Calibri" pitchFamily="34" charset="0"/>
                <a:ea typeface="Calibri" pitchFamily="34" charset="-122"/>
                <a:cs typeface="Calibri" pitchFamily="34" charset="-120"/>
              </a:rPr>
              <a:t>Compare decoding rules</a:t>
            </a:r>
            <a:endParaRPr lang="en-US" sz="2000" dirty="0"/>
          </a:p>
        </p:txBody>
      </p:sp>
      <p:sp>
        <p:nvSpPr>
          <p:cNvPr id="12" name="Shape 10"/>
          <p:cNvSpPr/>
          <p:nvPr/>
        </p:nvSpPr>
        <p:spPr>
          <a:xfrm>
            <a:off x="548640" y="4733544"/>
            <a:ext cx="411480" cy="411480"/>
          </a:xfrm>
          <a:prstGeom prst="ellipse">
            <a:avLst/>
          </a:prstGeom>
          <a:solidFill>
            <a:srgbClr val="4F46E5"/>
          </a:solidFill>
          <a:ln w="12700">
            <a:solidFill>
              <a:srgbClr val="4F46E5"/>
            </a:solidFill>
            <a:prstDash val="solid"/>
          </a:ln>
        </p:spPr>
      </p:sp>
      <p:sp>
        <p:nvSpPr>
          <p:cNvPr id="13" name="Text 11"/>
          <p:cNvSpPr txBox="1"/>
          <p:nvPr/>
        </p:nvSpPr>
        <p:spPr>
          <a:xfrm>
            <a:off x="548640" y="4733544"/>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txBox="1"/>
          <p:nvPr/>
        </p:nvSpPr>
        <p:spPr>
          <a:xfrm>
            <a:off x="1143000" y="4715256"/>
            <a:ext cx="6903720" cy="1594104"/>
          </a:xfrm>
          <a:prstGeom prst="rect">
            <a:avLst/>
          </a:prstGeom>
          <a:noFill/>
          <a:ln/>
        </p:spPr>
        <p:txBody>
          <a:bodyPr wrap="square" lIns="50800" tIns="50800" rIns="50800" bIns="50800" rtlCol="0" anchor="t"/>
          <a:lstStyle/>
          <a:p>
            <a:pPr indent="0" marL="0">
              <a:buNone/>
            </a:pPr>
            <a:r>
              <a:rPr lang="en-US" sz="2000" dirty="0">
                <a:solidFill>
                  <a:srgbClr val="1F2937"/>
                </a:solidFill>
                <a:latin typeface="Calibri" pitchFamily="34" charset="0"/>
                <a:ea typeface="Calibri" pitchFamily="34" charset="-122"/>
                <a:cs typeface="Calibri" pitchFamily="34" charset="-120"/>
              </a:rPr>
              <a:t>Choose a model for a task</a:t>
            </a:r>
            <a:endParaRPr lang="en-US" sz="2000" dirty="0"/>
          </a:p>
        </p:txBody>
      </p:sp>
      <p:sp>
        <p:nvSpPr>
          <p:cNvPr id="15" name="Shape 13"/>
          <p:cNvSpPr/>
          <p:nvPr/>
        </p:nvSpPr>
        <p:spPr>
          <a:xfrm>
            <a:off x="8458200" y="1527048"/>
            <a:ext cx="3184855" cy="4782312"/>
          </a:xfrm>
          <a:prstGeom prst="roundRect">
            <a:avLst>
              <a:gd name="adj" fmla="val 3445"/>
            </a:avLst>
          </a:prstGeom>
          <a:solidFill>
            <a:srgbClr val="EEF0FF"/>
          </a:solidFill>
          <a:ln w="12700">
            <a:solidFill>
              <a:srgbClr val="EEF0FF"/>
            </a:solidFill>
            <a:prstDash val="solid"/>
          </a:ln>
        </p:spPr>
      </p:sp>
      <p:sp>
        <p:nvSpPr>
          <p:cNvPr id="16" name="Text 14"/>
          <p:cNvSpPr txBox="1"/>
          <p:nvPr/>
        </p:nvSpPr>
        <p:spPr>
          <a:xfrm>
            <a:off x="8686800" y="1664208"/>
            <a:ext cx="2727655" cy="640080"/>
          </a:xfrm>
          <a:prstGeom prst="rect">
            <a:avLst/>
          </a:prstGeom>
          <a:noFill/>
          <a:ln/>
        </p:spPr>
        <p:txBody>
          <a:bodyPr wrap="square" lIns="50800" tIns="50800" rIns="50800" bIns="50800" rtlCol="0" anchor="t"/>
          <a:lstStyle/>
          <a:p>
            <a:pPr indent="0" marL="0">
              <a:buNone/>
            </a:pPr>
            <a:r>
              <a:rPr lang="en-US" sz="1500" b="1" dirty="0">
                <a:solidFill>
                  <a:srgbClr val="1E1B4B"/>
                </a:solidFill>
                <a:latin typeface="Calibri" pitchFamily="34" charset="0"/>
                <a:ea typeface="Calibri" pitchFamily="34" charset="-122"/>
                <a:cs typeface="Calibri" pitchFamily="34" charset="-120"/>
              </a:rPr>
              <a:t>Module outcomes</a:t>
            </a:r>
            <a:endParaRPr lang="en-US" sz="1500" dirty="0"/>
          </a:p>
        </p:txBody>
      </p:sp>
      <p:sp>
        <p:nvSpPr>
          <p:cNvPr id="17" name="Shape 15"/>
          <p:cNvSpPr/>
          <p:nvPr/>
        </p:nvSpPr>
        <p:spPr>
          <a:xfrm>
            <a:off x="8686800" y="2395728"/>
            <a:ext cx="1143000" cy="365760"/>
          </a:xfrm>
          <a:prstGeom prst="roundRect">
            <a:avLst>
              <a:gd name="adj" fmla="val 20000"/>
            </a:avLst>
          </a:prstGeom>
          <a:solidFill>
            <a:srgbClr val="4F46E5"/>
          </a:solidFill>
          <a:ln w="12700">
            <a:solidFill>
              <a:srgbClr val="4F46E5"/>
            </a:solidFill>
            <a:prstDash val="solid"/>
          </a:ln>
        </p:spPr>
      </p:sp>
      <p:sp>
        <p:nvSpPr>
          <p:cNvPr id="18" name="Text 16"/>
          <p:cNvSpPr txBox="1"/>
          <p:nvPr/>
        </p:nvSpPr>
        <p:spPr>
          <a:xfrm>
            <a:off x="8686800" y="2395728"/>
            <a:ext cx="114300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MIMLO 1</a:t>
            </a:r>
            <a:endParaRPr lang="en-US" sz="1400" dirty="0"/>
          </a:p>
        </p:txBody>
      </p:sp>
      <p:sp>
        <p:nvSpPr>
          <p:cNvPr id="19" name="Text 17"/>
          <p:cNvSpPr txBox="1"/>
          <p:nvPr/>
        </p:nvSpPr>
        <p:spPr>
          <a:xfrm>
            <a:off x="8641080" y="2779776"/>
            <a:ext cx="2819095" cy="777240"/>
          </a:xfrm>
          <a:prstGeom prst="rect">
            <a:avLst/>
          </a:prstGeom>
          <a:noFill/>
          <a:ln/>
        </p:spPr>
        <p:txBody>
          <a:bodyPr wrap="square" lIns="50800" tIns="50800" rIns="50800" bIns="50800" rtlCol="0" anchor="t"/>
          <a:lstStyle/>
          <a:p>
            <a:pPr indent="0" marL="0">
              <a:buNone/>
            </a:pPr>
            <a:r>
              <a:rPr lang="en-US" sz="1400" dirty="0">
                <a:solidFill>
                  <a:srgbClr val="1F2937"/>
                </a:solidFill>
                <a:latin typeface="Calibri" pitchFamily="34" charset="0"/>
                <a:ea typeface="Calibri" pitchFamily="34" charset="-122"/>
                <a:cs typeface="Calibri" pitchFamily="34" charset="-120"/>
              </a:rPr>
              <a:t>Explain core concepts, maths and model families</a:t>
            </a:r>
            <a:endParaRPr lang="en-US" sz="1400" dirty="0"/>
          </a:p>
        </p:txBody>
      </p:sp>
      <p:sp>
        <p:nvSpPr>
          <p:cNvPr id="20" name="Shape 18"/>
          <p:cNvSpPr/>
          <p:nvPr/>
        </p:nvSpPr>
        <p:spPr>
          <a:xfrm>
            <a:off x="8686800" y="3584448"/>
            <a:ext cx="1143000" cy="365760"/>
          </a:xfrm>
          <a:prstGeom prst="roundRect">
            <a:avLst>
              <a:gd name="adj" fmla="val 20000"/>
            </a:avLst>
          </a:prstGeom>
          <a:solidFill>
            <a:srgbClr val="4F46E5"/>
          </a:solidFill>
          <a:ln w="12700">
            <a:solidFill>
              <a:srgbClr val="4F46E5"/>
            </a:solidFill>
            <a:prstDash val="solid"/>
          </a:ln>
        </p:spPr>
      </p:sp>
      <p:sp>
        <p:nvSpPr>
          <p:cNvPr id="21" name="Text 19"/>
          <p:cNvSpPr txBox="1"/>
          <p:nvPr/>
        </p:nvSpPr>
        <p:spPr>
          <a:xfrm>
            <a:off x="8686800" y="3584448"/>
            <a:ext cx="114300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MIMLO 3</a:t>
            </a:r>
            <a:endParaRPr lang="en-US" sz="1400" dirty="0"/>
          </a:p>
        </p:txBody>
      </p:sp>
      <p:sp>
        <p:nvSpPr>
          <p:cNvPr id="22" name="Text 20"/>
          <p:cNvSpPr txBox="1"/>
          <p:nvPr/>
        </p:nvSpPr>
        <p:spPr>
          <a:xfrm>
            <a:off x="8641080" y="3968496"/>
            <a:ext cx="2819095" cy="777240"/>
          </a:xfrm>
          <a:prstGeom prst="rect">
            <a:avLst/>
          </a:prstGeom>
          <a:noFill/>
          <a:ln/>
        </p:spPr>
        <p:txBody>
          <a:bodyPr wrap="square" lIns="50800" tIns="50800" rIns="50800" bIns="50800" rtlCol="0" anchor="t"/>
          <a:lstStyle/>
          <a:p>
            <a:pPr indent="0" marL="0">
              <a:buNone/>
            </a:pPr>
            <a:r>
              <a:rPr lang="en-US" sz="1400" dirty="0">
                <a:solidFill>
                  <a:srgbClr val="1F2937"/>
                </a:solidFill>
                <a:latin typeface="Calibri" pitchFamily="34" charset="0"/>
                <a:ea typeface="Calibri" pitchFamily="34" charset="-122"/>
                <a:cs typeface="Calibri" pitchFamily="34" charset="-120"/>
              </a:rPr>
              <a:t>Design, implement and fine-tune models</a:t>
            </a:r>
            <a:endParaRPr lang="en-US" sz="1400" dirty="0"/>
          </a:p>
        </p:txBody>
      </p:sp>
      <p:sp>
        <p:nvSpPr>
          <p:cNvPr id="23" name="Shape 21"/>
          <p:cNvSpPr/>
          <p:nvPr/>
        </p:nvSpPr>
        <p:spPr>
          <a:xfrm>
            <a:off x="8686800" y="4773168"/>
            <a:ext cx="1143000" cy="365760"/>
          </a:xfrm>
          <a:prstGeom prst="roundRect">
            <a:avLst>
              <a:gd name="adj" fmla="val 20000"/>
            </a:avLst>
          </a:prstGeom>
          <a:solidFill>
            <a:srgbClr val="4F46E5"/>
          </a:solidFill>
          <a:ln w="12700">
            <a:solidFill>
              <a:srgbClr val="4F46E5"/>
            </a:solidFill>
            <a:prstDash val="solid"/>
          </a:ln>
        </p:spPr>
      </p:sp>
      <p:sp>
        <p:nvSpPr>
          <p:cNvPr id="24" name="Text 22"/>
          <p:cNvSpPr txBox="1"/>
          <p:nvPr/>
        </p:nvSpPr>
        <p:spPr>
          <a:xfrm>
            <a:off x="8686800" y="4773168"/>
            <a:ext cx="114300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MIMLO 5</a:t>
            </a:r>
            <a:endParaRPr lang="en-US" sz="1400" dirty="0"/>
          </a:p>
        </p:txBody>
      </p:sp>
      <p:sp>
        <p:nvSpPr>
          <p:cNvPr id="25" name="Text 23"/>
          <p:cNvSpPr txBox="1"/>
          <p:nvPr/>
        </p:nvSpPr>
        <p:spPr>
          <a:xfrm>
            <a:off x="8641080" y="5157216"/>
            <a:ext cx="2819095" cy="777240"/>
          </a:xfrm>
          <a:prstGeom prst="rect">
            <a:avLst/>
          </a:prstGeom>
          <a:noFill/>
          <a:ln/>
        </p:spPr>
        <p:txBody>
          <a:bodyPr wrap="square" lIns="50800" tIns="50800" rIns="50800" bIns="50800" rtlCol="0" anchor="t"/>
          <a:lstStyle/>
          <a:p>
            <a:pPr indent="0" marL="0">
              <a:buNone/>
            </a:pPr>
            <a:r>
              <a:rPr lang="en-US" sz="1400" dirty="0">
                <a:solidFill>
                  <a:srgbClr val="1F2937"/>
                </a:solidFill>
                <a:latin typeface="Calibri" pitchFamily="34" charset="0"/>
                <a:ea typeface="Calibri" pitchFamily="34" charset="-122"/>
                <a:cs typeface="Calibri" pitchFamily="34" charset="-120"/>
              </a:rPr>
              <a:t>Deploy models; build RAG and agentic systems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06  ·  LARGE LANGUAGE MODELS (LLMS) AND FAMILIES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3</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Where we are in the course</a:t>
            </a:r>
            <a:endParaRPr lang="en-US" sz="3200" dirty="0"/>
          </a:p>
        </p:txBody>
      </p:sp>
      <p:sp>
        <p:nvSpPr>
          <p:cNvPr id="6" name="Text 4"/>
          <p:cNvSpPr txBox="1"/>
          <p:nvPr/>
        </p:nvSpPr>
        <p:spPr>
          <a:xfrm>
            <a:off x="1077042" y="1716126"/>
            <a:ext cx="10037611" cy="264148"/>
          </a:xfrm>
          <a:prstGeom prst="rect">
            <a:avLst/>
          </a:prstGeom>
          <a:noFill/>
          <a:ln/>
        </p:spPr>
        <p:txBody>
          <a:bodyPr wrap="square" lIns="0" tIns="0" rIns="0" bIns="0" rtlCol="0" anchor="ctr"/>
          <a:lstStyle/>
          <a:p>
            <a:pPr algn="l" indent="0" marL="0">
              <a:lnSpc>
                <a:spcPct val="116000"/>
              </a:lnSpc>
              <a:buNone/>
            </a:pPr>
            <a:r>
              <a:rPr lang="en-US" sz="1560" b="1" dirty="0">
                <a:solidFill>
                  <a:srgbClr val="1E1B4B"/>
                </a:solidFill>
                <a:latin typeface="Arial" pitchFamily="34" charset="0"/>
                <a:ea typeface="Arial" pitchFamily="34" charset="-122"/>
                <a:cs typeface="Arial" pitchFamily="34" charset="-120"/>
              </a:rPr>
              <a:t>Images</a:t>
            </a:r>
            <a:endParaRPr lang="en-US" sz="1560" dirty="0"/>
          </a:p>
        </p:txBody>
      </p:sp>
      <p:sp>
        <p:nvSpPr>
          <p:cNvPr id="7" name="Shape 5"/>
          <p:cNvSpPr/>
          <p:nvPr/>
        </p:nvSpPr>
        <p:spPr>
          <a:xfrm>
            <a:off x="1077042" y="2053648"/>
            <a:ext cx="2300286" cy="763093"/>
          </a:xfrm>
          <a:prstGeom prst="roundRect">
            <a:avLst>
              <a:gd name="adj" fmla="val 9586"/>
            </a:avLst>
          </a:prstGeom>
          <a:solidFill>
            <a:srgbClr val="E4F2FB"/>
          </a:solidFill>
          <a:ln w="15240">
            <a:solidFill>
              <a:srgbClr val="0072B2"/>
            </a:solidFill>
            <a:prstDash val="solid"/>
          </a:ln>
        </p:spPr>
      </p:sp>
      <p:sp>
        <p:nvSpPr>
          <p:cNvPr id="8" name="Text 6"/>
          <p:cNvSpPr txBox="1"/>
          <p:nvPr/>
        </p:nvSpPr>
        <p:spPr>
          <a:xfrm>
            <a:off x="1179766" y="20683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0072B2"/>
                </a:solidFill>
                <a:latin typeface="Arial" pitchFamily="34" charset="0"/>
                <a:ea typeface="Arial" pitchFamily="34" charset="-122"/>
                <a:cs typeface="Arial" pitchFamily="34" charset="-120"/>
              </a:rPr>
              <a:t>1</a:t>
            </a:r>
            <a:endParaRPr lang="en-US" sz="1444" dirty="0"/>
          </a:p>
        </p:txBody>
      </p:sp>
      <p:sp>
        <p:nvSpPr>
          <p:cNvPr id="9" name="Text 7"/>
          <p:cNvSpPr txBox="1"/>
          <p:nvPr/>
        </p:nvSpPr>
        <p:spPr>
          <a:xfrm>
            <a:off x="1179766" y="2332470"/>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Introduction</a:t>
            </a:r>
            <a:endParaRPr lang="en-US" sz="1444" dirty="0"/>
          </a:p>
        </p:txBody>
      </p:sp>
      <p:sp>
        <p:nvSpPr>
          <p:cNvPr id="10" name="Shape 8"/>
          <p:cNvSpPr/>
          <p:nvPr/>
        </p:nvSpPr>
        <p:spPr>
          <a:xfrm>
            <a:off x="3377328" y="2435195"/>
            <a:ext cx="278823" cy="0"/>
          </a:xfrm>
          <a:prstGeom prst="line">
            <a:avLst/>
          </a:prstGeom>
          <a:noFill/>
          <a:ln w="22860">
            <a:solidFill>
              <a:srgbClr val="0072B2"/>
            </a:solidFill>
            <a:prstDash val="solid"/>
            <a:tailEnd type="triangle"/>
          </a:ln>
        </p:spPr>
      </p:sp>
      <p:sp>
        <p:nvSpPr>
          <p:cNvPr id="11" name="Shape 9"/>
          <p:cNvSpPr/>
          <p:nvPr/>
        </p:nvSpPr>
        <p:spPr>
          <a:xfrm>
            <a:off x="3656151" y="2053648"/>
            <a:ext cx="2300286" cy="763093"/>
          </a:xfrm>
          <a:prstGeom prst="roundRect">
            <a:avLst>
              <a:gd name="adj" fmla="val 9586"/>
            </a:avLst>
          </a:prstGeom>
          <a:solidFill>
            <a:srgbClr val="E4F2FB"/>
          </a:solidFill>
          <a:ln w="15240">
            <a:solidFill>
              <a:srgbClr val="0072B2"/>
            </a:solidFill>
            <a:prstDash val="solid"/>
          </a:ln>
        </p:spPr>
      </p:sp>
      <p:sp>
        <p:nvSpPr>
          <p:cNvPr id="12" name="Text 10"/>
          <p:cNvSpPr txBox="1"/>
          <p:nvPr/>
        </p:nvSpPr>
        <p:spPr>
          <a:xfrm>
            <a:off x="3758875" y="20683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0072B2"/>
                </a:solidFill>
                <a:latin typeface="Arial" pitchFamily="34" charset="0"/>
                <a:ea typeface="Arial" pitchFamily="34" charset="-122"/>
                <a:cs typeface="Arial" pitchFamily="34" charset="-120"/>
              </a:rPr>
              <a:t>2</a:t>
            </a:r>
            <a:endParaRPr lang="en-US" sz="1444" dirty="0"/>
          </a:p>
        </p:txBody>
      </p:sp>
      <p:sp>
        <p:nvSpPr>
          <p:cNvPr id="13" name="Text 11"/>
          <p:cNvSpPr txBox="1"/>
          <p:nvPr/>
        </p:nvSpPr>
        <p:spPr>
          <a:xfrm>
            <a:off x="3758875" y="2332470"/>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VAEs</a:t>
            </a:r>
            <a:endParaRPr lang="en-US" sz="1444" dirty="0"/>
          </a:p>
        </p:txBody>
      </p:sp>
      <p:sp>
        <p:nvSpPr>
          <p:cNvPr id="14" name="Shape 12"/>
          <p:cNvSpPr/>
          <p:nvPr/>
        </p:nvSpPr>
        <p:spPr>
          <a:xfrm>
            <a:off x="5956436" y="2435195"/>
            <a:ext cx="278823" cy="0"/>
          </a:xfrm>
          <a:prstGeom prst="line">
            <a:avLst/>
          </a:prstGeom>
          <a:noFill/>
          <a:ln w="22860">
            <a:solidFill>
              <a:srgbClr val="0072B2"/>
            </a:solidFill>
            <a:prstDash val="solid"/>
            <a:tailEnd type="triangle"/>
          </a:ln>
        </p:spPr>
      </p:sp>
      <p:sp>
        <p:nvSpPr>
          <p:cNvPr id="15" name="Shape 13"/>
          <p:cNvSpPr/>
          <p:nvPr/>
        </p:nvSpPr>
        <p:spPr>
          <a:xfrm>
            <a:off x="6235259" y="2053648"/>
            <a:ext cx="2300286" cy="763093"/>
          </a:xfrm>
          <a:prstGeom prst="roundRect">
            <a:avLst>
              <a:gd name="adj" fmla="val 9586"/>
            </a:avLst>
          </a:prstGeom>
          <a:solidFill>
            <a:srgbClr val="E4F2FB"/>
          </a:solidFill>
          <a:ln w="15240">
            <a:solidFill>
              <a:srgbClr val="0072B2"/>
            </a:solidFill>
            <a:prstDash val="solid"/>
          </a:ln>
        </p:spPr>
      </p:sp>
      <p:sp>
        <p:nvSpPr>
          <p:cNvPr id="16" name="Text 14"/>
          <p:cNvSpPr txBox="1"/>
          <p:nvPr/>
        </p:nvSpPr>
        <p:spPr>
          <a:xfrm>
            <a:off x="6337983" y="20683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0072B2"/>
                </a:solidFill>
                <a:latin typeface="Arial" pitchFamily="34" charset="0"/>
                <a:ea typeface="Arial" pitchFamily="34" charset="-122"/>
                <a:cs typeface="Arial" pitchFamily="34" charset="-120"/>
              </a:rPr>
              <a:t>3</a:t>
            </a:r>
            <a:endParaRPr lang="en-US" sz="1444" dirty="0"/>
          </a:p>
        </p:txBody>
      </p:sp>
      <p:sp>
        <p:nvSpPr>
          <p:cNvPr id="17" name="Text 15"/>
          <p:cNvSpPr txBox="1"/>
          <p:nvPr/>
        </p:nvSpPr>
        <p:spPr>
          <a:xfrm>
            <a:off x="6337983" y="2332470"/>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GANs</a:t>
            </a:r>
            <a:endParaRPr lang="en-US" sz="1444" dirty="0"/>
          </a:p>
        </p:txBody>
      </p:sp>
      <p:sp>
        <p:nvSpPr>
          <p:cNvPr id="18" name="Shape 16"/>
          <p:cNvSpPr/>
          <p:nvPr/>
        </p:nvSpPr>
        <p:spPr>
          <a:xfrm>
            <a:off x="8535545" y="2435195"/>
            <a:ext cx="278823" cy="0"/>
          </a:xfrm>
          <a:prstGeom prst="line">
            <a:avLst/>
          </a:prstGeom>
          <a:noFill/>
          <a:ln w="22860">
            <a:solidFill>
              <a:srgbClr val="0072B2"/>
            </a:solidFill>
            <a:prstDash val="solid"/>
            <a:tailEnd type="triangle"/>
          </a:ln>
        </p:spPr>
      </p:sp>
      <p:sp>
        <p:nvSpPr>
          <p:cNvPr id="19" name="Shape 17"/>
          <p:cNvSpPr/>
          <p:nvPr/>
        </p:nvSpPr>
        <p:spPr>
          <a:xfrm>
            <a:off x="8814367" y="2053648"/>
            <a:ext cx="2300286" cy="763093"/>
          </a:xfrm>
          <a:prstGeom prst="roundRect">
            <a:avLst>
              <a:gd name="adj" fmla="val 9586"/>
            </a:avLst>
          </a:prstGeom>
          <a:solidFill>
            <a:srgbClr val="E4F2FB"/>
          </a:solidFill>
          <a:ln w="15240">
            <a:solidFill>
              <a:srgbClr val="0072B2"/>
            </a:solidFill>
            <a:prstDash val="solid"/>
          </a:ln>
        </p:spPr>
      </p:sp>
      <p:sp>
        <p:nvSpPr>
          <p:cNvPr id="20" name="Text 18"/>
          <p:cNvSpPr txBox="1"/>
          <p:nvPr/>
        </p:nvSpPr>
        <p:spPr>
          <a:xfrm>
            <a:off x="8917091" y="20683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0072B2"/>
                </a:solidFill>
                <a:latin typeface="Arial" pitchFamily="34" charset="0"/>
                <a:ea typeface="Arial" pitchFamily="34" charset="-122"/>
                <a:cs typeface="Arial" pitchFamily="34" charset="-120"/>
              </a:rPr>
              <a:t>4</a:t>
            </a:r>
            <a:endParaRPr lang="en-US" sz="1444" dirty="0"/>
          </a:p>
        </p:txBody>
      </p:sp>
      <p:sp>
        <p:nvSpPr>
          <p:cNvPr id="21" name="Text 19"/>
          <p:cNvSpPr txBox="1"/>
          <p:nvPr/>
        </p:nvSpPr>
        <p:spPr>
          <a:xfrm>
            <a:off x="8917091" y="2332470"/>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Diffusion</a:t>
            </a:r>
            <a:endParaRPr lang="en-US" sz="1444" dirty="0"/>
          </a:p>
        </p:txBody>
      </p:sp>
      <p:sp>
        <p:nvSpPr>
          <p:cNvPr id="22" name="Shape 20"/>
          <p:cNvSpPr/>
          <p:nvPr/>
        </p:nvSpPr>
        <p:spPr>
          <a:xfrm>
            <a:off x="9964510" y="2816741"/>
            <a:ext cx="0" cy="132074"/>
          </a:xfrm>
          <a:prstGeom prst="line">
            <a:avLst/>
          </a:prstGeom>
          <a:noFill/>
          <a:ln w="22860">
            <a:solidFill>
              <a:srgbClr val="0072B2"/>
            </a:solidFill>
            <a:prstDash val="solid"/>
          </a:ln>
        </p:spPr>
      </p:sp>
      <p:sp>
        <p:nvSpPr>
          <p:cNvPr id="23" name="Shape 21"/>
          <p:cNvSpPr/>
          <p:nvPr/>
        </p:nvSpPr>
        <p:spPr>
          <a:xfrm flipH="1">
            <a:off x="944968" y="2948815"/>
            <a:ext cx="9019542" cy="0"/>
          </a:xfrm>
          <a:prstGeom prst="line">
            <a:avLst/>
          </a:prstGeom>
          <a:noFill/>
          <a:ln w="22860">
            <a:solidFill>
              <a:srgbClr val="0072B2"/>
            </a:solidFill>
            <a:prstDash val="solid"/>
          </a:ln>
        </p:spPr>
      </p:sp>
      <p:sp>
        <p:nvSpPr>
          <p:cNvPr id="24" name="Shape 22"/>
          <p:cNvSpPr/>
          <p:nvPr/>
        </p:nvSpPr>
        <p:spPr>
          <a:xfrm>
            <a:off x="944968" y="2948815"/>
            <a:ext cx="0" cy="858480"/>
          </a:xfrm>
          <a:prstGeom prst="line">
            <a:avLst/>
          </a:prstGeom>
          <a:noFill/>
          <a:ln w="22860">
            <a:solidFill>
              <a:srgbClr val="0072B2"/>
            </a:solidFill>
            <a:prstDash val="solid"/>
          </a:ln>
        </p:spPr>
      </p:sp>
      <p:sp>
        <p:nvSpPr>
          <p:cNvPr id="25" name="Shape 23"/>
          <p:cNvSpPr/>
          <p:nvPr/>
        </p:nvSpPr>
        <p:spPr>
          <a:xfrm>
            <a:off x="944968" y="3807295"/>
            <a:ext cx="132074" cy="0"/>
          </a:xfrm>
          <a:prstGeom prst="line">
            <a:avLst/>
          </a:prstGeom>
          <a:noFill/>
          <a:ln w="22860">
            <a:solidFill>
              <a:srgbClr val="0072B2"/>
            </a:solidFill>
            <a:prstDash val="solid"/>
            <a:tailEnd type="triangle"/>
          </a:ln>
        </p:spPr>
      </p:sp>
      <p:sp>
        <p:nvSpPr>
          <p:cNvPr id="26" name="Text 24"/>
          <p:cNvSpPr txBox="1"/>
          <p:nvPr/>
        </p:nvSpPr>
        <p:spPr>
          <a:xfrm>
            <a:off x="1077042" y="3088226"/>
            <a:ext cx="10037611" cy="264148"/>
          </a:xfrm>
          <a:prstGeom prst="rect">
            <a:avLst/>
          </a:prstGeom>
          <a:noFill/>
          <a:ln/>
        </p:spPr>
        <p:txBody>
          <a:bodyPr wrap="square" lIns="0" tIns="0" rIns="0" bIns="0" rtlCol="0" anchor="ctr"/>
          <a:lstStyle/>
          <a:p>
            <a:pPr algn="l" indent="0" marL="0">
              <a:lnSpc>
                <a:spcPct val="116000"/>
              </a:lnSpc>
              <a:buNone/>
            </a:pPr>
            <a:r>
              <a:rPr lang="en-US" sz="1560" b="1" dirty="0">
                <a:solidFill>
                  <a:srgbClr val="1E1B4B"/>
                </a:solidFill>
                <a:latin typeface="Arial" pitchFamily="34" charset="0"/>
                <a:ea typeface="Arial" pitchFamily="34" charset="-122"/>
                <a:cs typeface="Arial" pitchFamily="34" charset="-120"/>
              </a:rPr>
              <a:t>Language</a:t>
            </a:r>
            <a:endParaRPr lang="en-US" sz="1560" dirty="0"/>
          </a:p>
        </p:txBody>
      </p:sp>
      <p:sp>
        <p:nvSpPr>
          <p:cNvPr id="27" name="Shape 25"/>
          <p:cNvSpPr/>
          <p:nvPr/>
        </p:nvSpPr>
        <p:spPr>
          <a:xfrm>
            <a:off x="1077042" y="3425748"/>
            <a:ext cx="2300286" cy="763093"/>
          </a:xfrm>
          <a:prstGeom prst="roundRect">
            <a:avLst>
              <a:gd name="adj" fmla="val 9586"/>
            </a:avLst>
          </a:prstGeom>
          <a:solidFill>
            <a:srgbClr val="E4F2FB"/>
          </a:solidFill>
          <a:ln w="15240">
            <a:solidFill>
              <a:srgbClr val="0072B2"/>
            </a:solidFill>
            <a:prstDash val="solid"/>
          </a:ln>
        </p:spPr>
      </p:sp>
      <p:sp>
        <p:nvSpPr>
          <p:cNvPr id="28" name="Text 26"/>
          <p:cNvSpPr txBox="1"/>
          <p:nvPr/>
        </p:nvSpPr>
        <p:spPr>
          <a:xfrm>
            <a:off x="1179766" y="34404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0072B2"/>
                </a:solidFill>
                <a:latin typeface="Arial" pitchFamily="34" charset="0"/>
                <a:ea typeface="Arial" pitchFamily="34" charset="-122"/>
                <a:cs typeface="Arial" pitchFamily="34" charset="-120"/>
              </a:rPr>
              <a:t>5</a:t>
            </a:r>
            <a:endParaRPr lang="en-US" sz="1444" dirty="0"/>
          </a:p>
        </p:txBody>
      </p:sp>
      <p:sp>
        <p:nvSpPr>
          <p:cNvPr id="29" name="Text 27"/>
          <p:cNvSpPr txBox="1"/>
          <p:nvPr/>
        </p:nvSpPr>
        <p:spPr>
          <a:xfrm>
            <a:off x="1179766" y="3704571"/>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Transformers</a:t>
            </a:r>
            <a:endParaRPr lang="en-US" sz="1444" dirty="0"/>
          </a:p>
        </p:txBody>
      </p:sp>
      <p:sp>
        <p:nvSpPr>
          <p:cNvPr id="30" name="Shape 28"/>
          <p:cNvSpPr/>
          <p:nvPr/>
        </p:nvSpPr>
        <p:spPr>
          <a:xfrm>
            <a:off x="3377328" y="3807295"/>
            <a:ext cx="278823" cy="0"/>
          </a:xfrm>
          <a:prstGeom prst="line">
            <a:avLst/>
          </a:prstGeom>
          <a:noFill/>
          <a:ln w="22860">
            <a:solidFill>
              <a:srgbClr val="0072B2"/>
            </a:solidFill>
            <a:prstDash val="solid"/>
            <a:tailEnd type="triangle"/>
          </a:ln>
        </p:spPr>
      </p:sp>
      <p:sp>
        <p:nvSpPr>
          <p:cNvPr id="31" name="Shape 29"/>
          <p:cNvSpPr/>
          <p:nvPr/>
        </p:nvSpPr>
        <p:spPr>
          <a:xfrm>
            <a:off x="3656151" y="3425748"/>
            <a:ext cx="2300286" cy="763093"/>
          </a:xfrm>
          <a:prstGeom prst="roundRect">
            <a:avLst>
              <a:gd name="adj" fmla="val 9586"/>
            </a:avLst>
          </a:prstGeom>
          <a:solidFill>
            <a:srgbClr val="FFF0E6"/>
          </a:solidFill>
          <a:ln w="15240">
            <a:solidFill>
              <a:srgbClr val="D55E00"/>
            </a:solidFill>
            <a:prstDash val="solid"/>
          </a:ln>
        </p:spPr>
      </p:sp>
      <p:sp>
        <p:nvSpPr>
          <p:cNvPr id="32" name="Text 30"/>
          <p:cNvSpPr txBox="1"/>
          <p:nvPr/>
        </p:nvSpPr>
        <p:spPr>
          <a:xfrm>
            <a:off x="3758875" y="34404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D55E00"/>
                </a:solidFill>
                <a:latin typeface="Arial" pitchFamily="34" charset="0"/>
                <a:ea typeface="Arial" pitchFamily="34" charset="-122"/>
                <a:cs typeface="Arial" pitchFamily="34" charset="-120"/>
              </a:rPr>
              <a:t>6: you are here</a:t>
            </a:r>
            <a:endParaRPr lang="en-US" sz="1444" dirty="0"/>
          </a:p>
        </p:txBody>
      </p:sp>
      <p:sp>
        <p:nvSpPr>
          <p:cNvPr id="33" name="Text 31"/>
          <p:cNvSpPr txBox="1"/>
          <p:nvPr/>
        </p:nvSpPr>
        <p:spPr>
          <a:xfrm>
            <a:off x="3758875" y="3704571"/>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LLMs</a:t>
            </a:r>
            <a:endParaRPr lang="en-US" sz="1444" dirty="0"/>
          </a:p>
        </p:txBody>
      </p:sp>
      <p:sp>
        <p:nvSpPr>
          <p:cNvPr id="34" name="Shape 32"/>
          <p:cNvSpPr/>
          <p:nvPr/>
        </p:nvSpPr>
        <p:spPr>
          <a:xfrm>
            <a:off x="5956436" y="3807295"/>
            <a:ext cx="278823" cy="0"/>
          </a:xfrm>
          <a:prstGeom prst="line">
            <a:avLst/>
          </a:prstGeom>
          <a:noFill/>
          <a:ln w="22860">
            <a:solidFill>
              <a:srgbClr val="0072B2"/>
            </a:solidFill>
            <a:prstDash val="solid"/>
            <a:tailEnd type="triangle"/>
          </a:ln>
        </p:spPr>
      </p:sp>
      <p:sp>
        <p:nvSpPr>
          <p:cNvPr id="35" name="Shape 33"/>
          <p:cNvSpPr/>
          <p:nvPr/>
        </p:nvSpPr>
        <p:spPr>
          <a:xfrm>
            <a:off x="6235259" y="3425748"/>
            <a:ext cx="2300286" cy="763093"/>
          </a:xfrm>
          <a:prstGeom prst="roundRect">
            <a:avLst>
              <a:gd name="adj" fmla="val 9586"/>
            </a:avLst>
          </a:prstGeom>
          <a:solidFill>
            <a:srgbClr val="E4F2FB"/>
          </a:solidFill>
          <a:ln w="15240">
            <a:solidFill>
              <a:srgbClr val="0072B2"/>
            </a:solidFill>
            <a:prstDash val="solid"/>
          </a:ln>
        </p:spPr>
      </p:sp>
      <p:sp>
        <p:nvSpPr>
          <p:cNvPr id="36" name="Text 34"/>
          <p:cNvSpPr txBox="1"/>
          <p:nvPr/>
        </p:nvSpPr>
        <p:spPr>
          <a:xfrm>
            <a:off x="6337983" y="34404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0072B2"/>
                </a:solidFill>
                <a:latin typeface="Arial" pitchFamily="34" charset="0"/>
                <a:ea typeface="Arial" pitchFamily="34" charset="-122"/>
                <a:cs typeface="Arial" pitchFamily="34" charset="-120"/>
              </a:rPr>
              <a:t>7</a:t>
            </a:r>
            <a:endParaRPr lang="en-US" sz="1444" dirty="0"/>
          </a:p>
        </p:txBody>
      </p:sp>
      <p:sp>
        <p:nvSpPr>
          <p:cNvPr id="37" name="Text 35"/>
          <p:cNvSpPr txBox="1"/>
          <p:nvPr/>
        </p:nvSpPr>
        <p:spPr>
          <a:xfrm>
            <a:off x="6337983" y="3704571"/>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Prompting</a:t>
            </a:r>
            <a:endParaRPr lang="en-US" sz="1444" dirty="0"/>
          </a:p>
        </p:txBody>
      </p:sp>
      <p:sp>
        <p:nvSpPr>
          <p:cNvPr id="38" name="Shape 36"/>
          <p:cNvSpPr/>
          <p:nvPr/>
        </p:nvSpPr>
        <p:spPr>
          <a:xfrm>
            <a:off x="8535545" y="3807295"/>
            <a:ext cx="278823" cy="0"/>
          </a:xfrm>
          <a:prstGeom prst="line">
            <a:avLst/>
          </a:prstGeom>
          <a:noFill/>
          <a:ln w="22860">
            <a:solidFill>
              <a:srgbClr val="0072B2"/>
            </a:solidFill>
            <a:prstDash val="solid"/>
            <a:tailEnd type="triangle"/>
          </a:ln>
        </p:spPr>
      </p:sp>
      <p:sp>
        <p:nvSpPr>
          <p:cNvPr id="39" name="Shape 37"/>
          <p:cNvSpPr/>
          <p:nvPr/>
        </p:nvSpPr>
        <p:spPr>
          <a:xfrm>
            <a:off x="8814367" y="3425748"/>
            <a:ext cx="2300286" cy="763093"/>
          </a:xfrm>
          <a:prstGeom prst="roundRect">
            <a:avLst>
              <a:gd name="adj" fmla="val 9586"/>
            </a:avLst>
          </a:prstGeom>
          <a:solidFill>
            <a:srgbClr val="E4F2FB"/>
          </a:solidFill>
          <a:ln w="15240">
            <a:solidFill>
              <a:srgbClr val="0072B2"/>
            </a:solidFill>
            <a:prstDash val="solid"/>
          </a:ln>
        </p:spPr>
      </p:sp>
      <p:sp>
        <p:nvSpPr>
          <p:cNvPr id="40" name="Text 38"/>
          <p:cNvSpPr txBox="1"/>
          <p:nvPr/>
        </p:nvSpPr>
        <p:spPr>
          <a:xfrm>
            <a:off x="8917091" y="34404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0072B2"/>
                </a:solidFill>
                <a:latin typeface="Arial" pitchFamily="34" charset="0"/>
                <a:ea typeface="Arial" pitchFamily="34" charset="-122"/>
                <a:cs typeface="Arial" pitchFamily="34" charset="-120"/>
              </a:rPr>
              <a:t>8</a:t>
            </a:r>
            <a:endParaRPr lang="en-US" sz="1444" dirty="0"/>
          </a:p>
        </p:txBody>
      </p:sp>
      <p:sp>
        <p:nvSpPr>
          <p:cNvPr id="41" name="Text 39"/>
          <p:cNvSpPr txBox="1"/>
          <p:nvPr/>
        </p:nvSpPr>
        <p:spPr>
          <a:xfrm>
            <a:off x="8917091" y="3704571"/>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Fine-tuning</a:t>
            </a:r>
            <a:endParaRPr lang="en-US" sz="1444" dirty="0"/>
          </a:p>
        </p:txBody>
      </p:sp>
      <p:sp>
        <p:nvSpPr>
          <p:cNvPr id="42" name="Shape 40"/>
          <p:cNvSpPr/>
          <p:nvPr/>
        </p:nvSpPr>
        <p:spPr>
          <a:xfrm>
            <a:off x="9964510" y="4188841"/>
            <a:ext cx="0" cy="132074"/>
          </a:xfrm>
          <a:prstGeom prst="line">
            <a:avLst/>
          </a:prstGeom>
          <a:noFill/>
          <a:ln w="22860">
            <a:solidFill>
              <a:srgbClr val="0072B2"/>
            </a:solidFill>
            <a:prstDash val="solid"/>
          </a:ln>
        </p:spPr>
      </p:sp>
      <p:sp>
        <p:nvSpPr>
          <p:cNvPr id="43" name="Shape 41"/>
          <p:cNvSpPr/>
          <p:nvPr/>
        </p:nvSpPr>
        <p:spPr>
          <a:xfrm flipH="1">
            <a:off x="944968" y="4320915"/>
            <a:ext cx="9019542" cy="0"/>
          </a:xfrm>
          <a:prstGeom prst="line">
            <a:avLst/>
          </a:prstGeom>
          <a:noFill/>
          <a:ln w="22860">
            <a:solidFill>
              <a:srgbClr val="0072B2"/>
            </a:solidFill>
            <a:prstDash val="solid"/>
          </a:ln>
        </p:spPr>
      </p:sp>
      <p:sp>
        <p:nvSpPr>
          <p:cNvPr id="44" name="Shape 42"/>
          <p:cNvSpPr/>
          <p:nvPr/>
        </p:nvSpPr>
        <p:spPr>
          <a:xfrm>
            <a:off x="944968" y="4320915"/>
            <a:ext cx="0" cy="858480"/>
          </a:xfrm>
          <a:prstGeom prst="line">
            <a:avLst/>
          </a:prstGeom>
          <a:noFill/>
          <a:ln w="22860">
            <a:solidFill>
              <a:srgbClr val="0072B2"/>
            </a:solidFill>
            <a:prstDash val="solid"/>
          </a:ln>
        </p:spPr>
      </p:sp>
      <p:sp>
        <p:nvSpPr>
          <p:cNvPr id="45" name="Shape 43"/>
          <p:cNvSpPr/>
          <p:nvPr/>
        </p:nvSpPr>
        <p:spPr>
          <a:xfrm>
            <a:off x="944968" y="5179395"/>
            <a:ext cx="132074" cy="0"/>
          </a:xfrm>
          <a:prstGeom prst="line">
            <a:avLst/>
          </a:prstGeom>
          <a:noFill/>
          <a:ln w="22860">
            <a:solidFill>
              <a:srgbClr val="0072B2"/>
            </a:solidFill>
            <a:prstDash val="solid"/>
            <a:tailEnd type="triangle"/>
          </a:ln>
        </p:spPr>
      </p:sp>
      <p:sp>
        <p:nvSpPr>
          <p:cNvPr id="46" name="Text 44"/>
          <p:cNvSpPr txBox="1"/>
          <p:nvPr/>
        </p:nvSpPr>
        <p:spPr>
          <a:xfrm>
            <a:off x="1077042" y="4460326"/>
            <a:ext cx="10037611" cy="264148"/>
          </a:xfrm>
          <a:prstGeom prst="rect">
            <a:avLst/>
          </a:prstGeom>
          <a:noFill/>
          <a:ln/>
        </p:spPr>
        <p:txBody>
          <a:bodyPr wrap="square" lIns="0" tIns="0" rIns="0" bIns="0" rtlCol="0" anchor="ctr"/>
          <a:lstStyle/>
          <a:p>
            <a:pPr algn="l" indent="0" marL="0">
              <a:lnSpc>
                <a:spcPct val="116000"/>
              </a:lnSpc>
              <a:buNone/>
            </a:pPr>
            <a:r>
              <a:rPr lang="en-US" sz="1560" b="1" dirty="0">
                <a:solidFill>
                  <a:srgbClr val="1E1B4B"/>
                </a:solidFill>
                <a:latin typeface="Arial" pitchFamily="34" charset="0"/>
                <a:ea typeface="Arial" pitchFamily="34" charset="-122"/>
                <a:cs typeface="Arial" pitchFamily="34" charset="-120"/>
              </a:rPr>
              <a:t>Systems</a:t>
            </a:r>
            <a:endParaRPr lang="en-US" sz="1560" dirty="0"/>
          </a:p>
        </p:txBody>
      </p:sp>
      <p:sp>
        <p:nvSpPr>
          <p:cNvPr id="47" name="Shape 45"/>
          <p:cNvSpPr/>
          <p:nvPr/>
        </p:nvSpPr>
        <p:spPr>
          <a:xfrm>
            <a:off x="1077042" y="4797848"/>
            <a:ext cx="2300286" cy="763093"/>
          </a:xfrm>
          <a:prstGeom prst="roundRect">
            <a:avLst>
              <a:gd name="adj" fmla="val 9586"/>
            </a:avLst>
          </a:prstGeom>
          <a:solidFill>
            <a:srgbClr val="E4F2FB"/>
          </a:solidFill>
          <a:ln w="15240">
            <a:solidFill>
              <a:srgbClr val="0072B2"/>
            </a:solidFill>
            <a:prstDash val="solid"/>
          </a:ln>
        </p:spPr>
      </p:sp>
      <p:sp>
        <p:nvSpPr>
          <p:cNvPr id="48" name="Text 46"/>
          <p:cNvSpPr txBox="1"/>
          <p:nvPr/>
        </p:nvSpPr>
        <p:spPr>
          <a:xfrm>
            <a:off x="1179766" y="48125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0072B2"/>
                </a:solidFill>
                <a:latin typeface="Arial" pitchFamily="34" charset="0"/>
                <a:ea typeface="Arial" pitchFamily="34" charset="-122"/>
                <a:cs typeface="Arial" pitchFamily="34" charset="-120"/>
              </a:rPr>
              <a:t>9</a:t>
            </a:r>
            <a:endParaRPr lang="en-US" sz="1444" dirty="0"/>
          </a:p>
        </p:txBody>
      </p:sp>
      <p:sp>
        <p:nvSpPr>
          <p:cNvPr id="49" name="Text 47"/>
          <p:cNvSpPr txBox="1"/>
          <p:nvPr/>
        </p:nvSpPr>
        <p:spPr>
          <a:xfrm>
            <a:off x="1179766" y="5076671"/>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Multimodal</a:t>
            </a:r>
            <a:endParaRPr lang="en-US" sz="1444" dirty="0"/>
          </a:p>
        </p:txBody>
      </p:sp>
      <p:sp>
        <p:nvSpPr>
          <p:cNvPr id="50" name="Shape 48"/>
          <p:cNvSpPr/>
          <p:nvPr/>
        </p:nvSpPr>
        <p:spPr>
          <a:xfrm>
            <a:off x="3377328" y="5179395"/>
            <a:ext cx="278823" cy="0"/>
          </a:xfrm>
          <a:prstGeom prst="line">
            <a:avLst/>
          </a:prstGeom>
          <a:noFill/>
          <a:ln w="22860">
            <a:solidFill>
              <a:srgbClr val="0072B2"/>
            </a:solidFill>
            <a:prstDash val="solid"/>
            <a:tailEnd type="triangle"/>
          </a:ln>
        </p:spPr>
      </p:sp>
      <p:sp>
        <p:nvSpPr>
          <p:cNvPr id="51" name="Shape 49"/>
          <p:cNvSpPr/>
          <p:nvPr/>
        </p:nvSpPr>
        <p:spPr>
          <a:xfrm>
            <a:off x="3656151" y="4797848"/>
            <a:ext cx="2300286" cy="763093"/>
          </a:xfrm>
          <a:prstGeom prst="roundRect">
            <a:avLst>
              <a:gd name="adj" fmla="val 9586"/>
            </a:avLst>
          </a:prstGeom>
          <a:solidFill>
            <a:srgbClr val="E4F2FB"/>
          </a:solidFill>
          <a:ln w="15240">
            <a:solidFill>
              <a:srgbClr val="0072B2"/>
            </a:solidFill>
            <a:prstDash val="solid"/>
          </a:ln>
        </p:spPr>
      </p:sp>
      <p:sp>
        <p:nvSpPr>
          <p:cNvPr id="52" name="Text 50"/>
          <p:cNvSpPr txBox="1"/>
          <p:nvPr/>
        </p:nvSpPr>
        <p:spPr>
          <a:xfrm>
            <a:off x="3758875" y="48125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0072B2"/>
                </a:solidFill>
                <a:latin typeface="Arial" pitchFamily="34" charset="0"/>
                <a:ea typeface="Arial" pitchFamily="34" charset="-122"/>
                <a:cs typeface="Arial" pitchFamily="34" charset="-120"/>
              </a:rPr>
              <a:t>10</a:t>
            </a:r>
            <a:endParaRPr lang="en-US" sz="1444" dirty="0"/>
          </a:p>
        </p:txBody>
      </p:sp>
      <p:sp>
        <p:nvSpPr>
          <p:cNvPr id="53" name="Text 51"/>
          <p:cNvSpPr txBox="1"/>
          <p:nvPr/>
        </p:nvSpPr>
        <p:spPr>
          <a:xfrm>
            <a:off x="3758875" y="5076671"/>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Applications</a:t>
            </a:r>
            <a:endParaRPr lang="en-US" sz="1444" dirty="0"/>
          </a:p>
        </p:txBody>
      </p:sp>
      <p:sp>
        <p:nvSpPr>
          <p:cNvPr id="54" name="Shape 52"/>
          <p:cNvSpPr/>
          <p:nvPr/>
        </p:nvSpPr>
        <p:spPr>
          <a:xfrm>
            <a:off x="5956436" y="5179395"/>
            <a:ext cx="278823" cy="0"/>
          </a:xfrm>
          <a:prstGeom prst="line">
            <a:avLst/>
          </a:prstGeom>
          <a:noFill/>
          <a:ln w="22860">
            <a:solidFill>
              <a:srgbClr val="0072B2"/>
            </a:solidFill>
            <a:prstDash val="solid"/>
            <a:tailEnd type="triangle"/>
          </a:ln>
        </p:spPr>
      </p:sp>
      <p:sp>
        <p:nvSpPr>
          <p:cNvPr id="55" name="Shape 53"/>
          <p:cNvSpPr/>
          <p:nvPr/>
        </p:nvSpPr>
        <p:spPr>
          <a:xfrm>
            <a:off x="6235259" y="4797848"/>
            <a:ext cx="2300286" cy="763093"/>
          </a:xfrm>
          <a:prstGeom prst="roundRect">
            <a:avLst>
              <a:gd name="adj" fmla="val 9586"/>
            </a:avLst>
          </a:prstGeom>
          <a:solidFill>
            <a:srgbClr val="E4F2FB"/>
          </a:solidFill>
          <a:ln w="15240">
            <a:solidFill>
              <a:srgbClr val="0072B2"/>
            </a:solidFill>
            <a:prstDash val="solid"/>
          </a:ln>
        </p:spPr>
      </p:sp>
      <p:sp>
        <p:nvSpPr>
          <p:cNvPr id="56" name="Text 54"/>
          <p:cNvSpPr txBox="1"/>
          <p:nvPr/>
        </p:nvSpPr>
        <p:spPr>
          <a:xfrm>
            <a:off x="6337983" y="48125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0072B2"/>
                </a:solidFill>
                <a:latin typeface="Arial" pitchFamily="34" charset="0"/>
                <a:ea typeface="Arial" pitchFamily="34" charset="-122"/>
                <a:cs typeface="Arial" pitchFamily="34" charset="-120"/>
              </a:rPr>
              <a:t>11</a:t>
            </a:r>
            <a:endParaRPr lang="en-US" sz="1444" dirty="0"/>
          </a:p>
        </p:txBody>
      </p:sp>
      <p:sp>
        <p:nvSpPr>
          <p:cNvPr id="57" name="Text 55"/>
          <p:cNvSpPr txBox="1"/>
          <p:nvPr/>
        </p:nvSpPr>
        <p:spPr>
          <a:xfrm>
            <a:off x="6337983" y="5076671"/>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Deployment</a:t>
            </a:r>
            <a:endParaRPr lang="en-US" sz="1444" dirty="0"/>
          </a:p>
        </p:txBody>
      </p:sp>
      <p:sp>
        <p:nvSpPr>
          <p:cNvPr id="58" name="Shape 56"/>
          <p:cNvSpPr/>
          <p:nvPr/>
        </p:nvSpPr>
        <p:spPr>
          <a:xfrm>
            <a:off x="8535545" y="5179395"/>
            <a:ext cx="278823" cy="0"/>
          </a:xfrm>
          <a:prstGeom prst="line">
            <a:avLst/>
          </a:prstGeom>
          <a:noFill/>
          <a:ln w="22860">
            <a:solidFill>
              <a:srgbClr val="0072B2"/>
            </a:solidFill>
            <a:prstDash val="solid"/>
            <a:tailEnd type="triangle"/>
          </a:ln>
        </p:spPr>
      </p:sp>
      <p:sp>
        <p:nvSpPr>
          <p:cNvPr id="59" name="Shape 57"/>
          <p:cNvSpPr/>
          <p:nvPr/>
        </p:nvSpPr>
        <p:spPr>
          <a:xfrm>
            <a:off x="8814367" y="4797848"/>
            <a:ext cx="2300286" cy="763093"/>
          </a:xfrm>
          <a:prstGeom prst="roundRect">
            <a:avLst>
              <a:gd name="adj" fmla="val 9586"/>
            </a:avLst>
          </a:prstGeom>
          <a:solidFill>
            <a:srgbClr val="E4F2FB"/>
          </a:solidFill>
          <a:ln w="15240">
            <a:solidFill>
              <a:srgbClr val="0072B2"/>
            </a:solidFill>
            <a:prstDash val="solid"/>
          </a:ln>
        </p:spPr>
      </p:sp>
      <p:sp>
        <p:nvSpPr>
          <p:cNvPr id="60" name="Text 58"/>
          <p:cNvSpPr txBox="1"/>
          <p:nvPr/>
        </p:nvSpPr>
        <p:spPr>
          <a:xfrm>
            <a:off x="8917091" y="4812523"/>
            <a:ext cx="2094838" cy="234798"/>
          </a:xfrm>
          <a:prstGeom prst="rect">
            <a:avLst/>
          </a:prstGeom>
          <a:noFill/>
          <a:ln/>
        </p:spPr>
        <p:txBody>
          <a:bodyPr wrap="square" lIns="0" tIns="0" rIns="0" bIns="0" rtlCol="0" anchor="ctr"/>
          <a:lstStyle/>
          <a:p>
            <a:pPr algn="l" indent="0" marL="0">
              <a:lnSpc>
                <a:spcPct val="116000"/>
              </a:lnSpc>
              <a:buNone/>
            </a:pPr>
            <a:r>
              <a:rPr lang="en-US" sz="1444" b="1" dirty="0">
                <a:solidFill>
                  <a:srgbClr val="0072B2"/>
                </a:solidFill>
                <a:latin typeface="Arial" pitchFamily="34" charset="0"/>
                <a:ea typeface="Arial" pitchFamily="34" charset="-122"/>
                <a:cs typeface="Arial" pitchFamily="34" charset="-120"/>
              </a:rPr>
              <a:t>12</a:t>
            </a:r>
            <a:endParaRPr lang="en-US" sz="1444" dirty="0"/>
          </a:p>
        </p:txBody>
      </p:sp>
      <p:sp>
        <p:nvSpPr>
          <p:cNvPr id="61" name="Text 59"/>
          <p:cNvSpPr txBox="1"/>
          <p:nvPr/>
        </p:nvSpPr>
        <p:spPr>
          <a:xfrm>
            <a:off x="8917091" y="5076671"/>
            <a:ext cx="2094838" cy="469596"/>
          </a:xfrm>
          <a:prstGeom prst="rect">
            <a:avLst/>
          </a:prstGeom>
          <a:noFill/>
          <a:ln/>
        </p:spPr>
        <p:txBody>
          <a:bodyPr wrap="square" lIns="0" tIns="0" rIns="0" bIns="0" rtlCol="0" anchor="ctr"/>
          <a:lstStyle/>
          <a:p>
            <a:pPr algn="l" indent="0" marL="0">
              <a:lnSpc>
                <a:spcPct val="116000"/>
              </a:lnSpc>
              <a:buNone/>
            </a:pPr>
            <a:r>
              <a:rPr lang="en-US" sz="1444" b="1" dirty="0">
                <a:solidFill>
                  <a:srgbClr val="1E1B4B"/>
                </a:solidFill>
                <a:latin typeface="Arial" pitchFamily="34" charset="0"/>
                <a:ea typeface="Arial" pitchFamily="34" charset="-122"/>
                <a:cs typeface="Arial" pitchFamily="34" charset="-120"/>
              </a:rPr>
              <a:t>RAG &amp; agents</a:t>
            </a:r>
            <a:endParaRPr lang="en-US" sz="1444" dirty="0"/>
          </a:p>
        </p:txBody>
      </p:sp>
      <p:sp>
        <p:nvSpPr>
          <p:cNvPr id="62" name="Text 60"/>
          <p:cNvSpPr txBox="1"/>
          <p:nvPr/>
        </p:nvSpPr>
        <p:spPr>
          <a:xfrm>
            <a:off x="1077042" y="5891126"/>
            <a:ext cx="10037611" cy="271485"/>
          </a:xfrm>
          <a:prstGeom prst="rect">
            <a:avLst/>
          </a:prstGeom>
          <a:noFill/>
          <a:ln/>
        </p:spPr>
        <p:txBody>
          <a:bodyPr wrap="square" lIns="0" tIns="0" rIns="0" bIns="0" rtlCol="0" anchor="ctr"/>
          <a:lstStyle/>
          <a:p>
            <a:pPr algn="l" indent="0" marL="0">
              <a:lnSpc>
                <a:spcPct val="116000"/>
              </a:lnSpc>
              <a:buNone/>
            </a:pPr>
            <a:r>
              <a:rPr lang="en-US" sz="1560" dirty="0">
                <a:solidFill>
                  <a:srgbClr val="1F2937"/>
                </a:solidFill>
                <a:latin typeface="Arial" pitchFamily="34" charset="0"/>
                <a:ea typeface="Arial" pitchFamily="34" charset="-122"/>
                <a:cs typeface="Arial" pitchFamily="34" charset="-120"/>
              </a:rPr>
              <a:t>Check evidence throughout</a:t>
            </a:r>
            <a:endParaRPr lang="en-US" sz="156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06  ·  LARGE LANGUAGE MODELS (LLMS) AND FAMILIES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4</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Starting vocabulary</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11094415" cy="914400"/>
        </p:xfrm>
        <a:graphic>
          <a:graphicData uri="http://schemas.openxmlformats.org/drawingml/2006/table">
            <a:tbl>
              <a:tblPr/>
              <a:tblGrid>
                <a:gridCol w="3106436"/>
                <a:gridCol w="7987979"/>
              </a:tblGrid>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Term</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Meaning</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Token ID</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Integer for a vocabulary entry</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Probability distribution</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Probabilities adding to one</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Causal language model</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Predicts from preceding tokens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06  ·  LARGE LANGUAGE MODELS (LLMS) AND FAMILIES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5</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Warm-up</a:t>
            </a:r>
            <a:endParaRPr lang="en-US" sz="3200" dirty="0"/>
          </a:p>
        </p:txBody>
      </p:sp>
      <p:sp>
        <p:nvSpPr>
          <p:cNvPr id="6" name="Shape 4"/>
          <p:cNvSpPr/>
          <p:nvPr/>
        </p:nvSpPr>
        <p:spPr>
          <a:xfrm>
            <a:off x="548640" y="1527048"/>
            <a:ext cx="1005840" cy="1005840"/>
          </a:xfrm>
          <a:prstGeom prst="ellipse">
            <a:avLst/>
          </a:prstGeom>
          <a:solidFill>
            <a:srgbClr val="0F766E"/>
          </a:solidFill>
          <a:ln w="12700">
            <a:solidFill>
              <a:srgbClr val="0F766E"/>
            </a:solidFill>
            <a:prstDash val="solid"/>
          </a:ln>
        </p:spPr>
      </p:sp>
      <p:pic>
        <p:nvPicPr>
          <p:cNvPr id="7" name="Image 0" descr="preencoded.png">    </p:cNvPr>
          <p:cNvPicPr>
            <a:picLocks noChangeAspect="1"/>
          </p:cNvPicPr>
          <p:nvPr/>
        </p:nvPicPr>
        <p:blipFill>
          <a:blip r:embed="rId1"/>
          <a:stretch>
            <a:fillRect/>
          </a:stretch>
        </p:blipFill>
        <p:spPr>
          <a:xfrm>
            <a:off x="790042" y="1768450"/>
            <a:ext cx="523037" cy="523037"/>
          </a:xfrm>
          <a:prstGeom prst="rect">
            <a:avLst/>
          </a:prstGeom>
        </p:spPr>
      </p:pic>
      <p:sp>
        <p:nvSpPr>
          <p:cNvPr id="8" name="Text 5"/>
          <p:cNvSpPr txBox="1"/>
          <p:nvPr/>
        </p:nvSpPr>
        <p:spPr>
          <a:xfrm>
            <a:off x="1828800" y="1481328"/>
            <a:ext cx="9814255" cy="1463040"/>
          </a:xfrm>
          <a:prstGeom prst="rect">
            <a:avLst/>
          </a:prstGeom>
          <a:noFill/>
          <a:ln/>
        </p:spPr>
        <p:txBody>
          <a:bodyPr wrap="square" lIns="50800" tIns="50800" rIns="50800" bIns="50800" rtlCol="0" anchor="ctr"/>
          <a:lstStyle/>
          <a:p>
            <a:pPr indent="0" marL="0">
              <a:buNone/>
            </a:pPr>
            <a:r>
              <a:rPr lang="en-US" sz="2600" b="1" dirty="0">
                <a:solidFill>
                  <a:srgbClr val="1E1B4B"/>
                </a:solidFill>
                <a:latin typeface="Calibri" pitchFamily="34" charset="0"/>
                <a:ea typeface="Calibri" pitchFamily="34" charset="-122"/>
                <a:cs typeface="Calibri" pitchFamily="34" charset="-120"/>
              </a:rPr>
              <a:t>Two assistants answer differently. Which settings or evidence would you compare?</a:t>
            </a:r>
            <a:endParaRPr lang="en-US" sz="2600" dirty="0"/>
          </a:p>
        </p:txBody>
      </p:sp>
      <p:sp>
        <p:nvSpPr>
          <p:cNvPr id="9" name="Text 6"/>
          <p:cNvSpPr txBox="1"/>
          <p:nvPr/>
        </p:nvSpPr>
        <p:spPr>
          <a:xfrm>
            <a:off x="1828800" y="3172968"/>
            <a:ext cx="9814255" cy="3090672"/>
          </a:xfrm>
          <a:prstGeom prst="rect">
            <a:avLst/>
          </a:prstGeom>
          <a:noFill/>
          <a:ln/>
        </p:spPr>
        <p:txBody>
          <a:bodyPr wrap="square" lIns="50800" tIns="50800" rIns="50800" bIns="50800" rtlCol="0" anchor="t"/>
          <a:lstStyle/>
          <a:p>
            <a:pPr marL="254000" indent="-254000">
              <a:spcAft>
                <a:spcPts val="800"/>
              </a:spcAft>
              <a:buSzPct val="100000"/>
              <a:buChar char="●"/>
            </a:pPr>
            <a:r>
              <a:rPr lang="en-US" sz="2200" dirty="0">
                <a:solidFill>
                  <a:srgbClr val="1F2937"/>
                </a:solidFill>
                <a:latin typeface="Calibri" pitchFamily="34" charset="0"/>
                <a:ea typeface="Calibri" pitchFamily="34" charset="-122"/>
                <a:cs typeface="Calibri" pitchFamily="34" charset="-120"/>
              </a:rPr>
              <a:t>Model and training?</a:t>
            </a:r>
            <a:endParaRPr lang="en-US" sz="2200" dirty="0"/>
          </a:p>
          <a:p>
            <a:pPr marL="254000" indent="-254000">
              <a:spcAft>
                <a:spcPts val="800"/>
              </a:spcAft>
              <a:buSzPct val="100000"/>
              <a:buChar char="●"/>
            </a:pPr>
            <a:r>
              <a:rPr lang="en-US" sz="2200" dirty="0">
                <a:solidFill>
                  <a:srgbClr val="1F2937"/>
                </a:solidFill>
                <a:latin typeface="Calibri" pitchFamily="34" charset="0"/>
                <a:ea typeface="Calibri" pitchFamily="34" charset="-122"/>
                <a:cs typeface="Calibri" pitchFamily="34" charset="-120"/>
              </a:rPr>
              <a:t>Context, tools and decoding?</a:t>
            </a:r>
            <a:endParaRPr lang="en-US" sz="2200" dirty="0"/>
          </a:p>
          <a:p>
            <a:pPr marL="254000" indent="-254000">
              <a:spcAft>
                <a:spcPts val="800"/>
              </a:spcAft>
              <a:buSzPct val="100000"/>
              <a:buChar char="●"/>
            </a:pPr>
            <a:r>
              <a:rPr lang="en-US" sz="2200" dirty="0">
                <a:solidFill>
                  <a:srgbClr val="1F2937"/>
                </a:solidFill>
                <a:latin typeface="Calibri" pitchFamily="34" charset="0"/>
                <a:ea typeface="Calibri" pitchFamily="34" charset="-122"/>
                <a:cs typeface="Calibri" pitchFamily="34" charset="-120"/>
              </a:rPr>
              <a:t>Correctness under one rubric?</a:t>
            </a:r>
            <a:endParaRPr lang="en-US" sz="2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E1B4B"/>
        </a:solidFill>
      </p:bgPr>
    </p:bg>
    <p:spTree>
      <p:nvGrpSpPr>
        <p:cNvPr id="1" name=""/>
        <p:cNvGrpSpPr/>
        <p:nvPr/>
      </p:nvGrpSpPr>
      <p:grpSpPr>
        <a:xfrm>
          <a:off x="0" y="0"/>
          <a:ext cx="0" cy="0"/>
          <a:chOff x="0" y="0"/>
          <a:chExt cx="0" cy="0"/>
        </a:xfrm>
      </p:grpSpPr>
      <p:sp>
        <p:nvSpPr>
          <p:cNvPr id="2" name="Text 0"/>
          <p:cNvSpPr txBox="1"/>
          <p:nvPr/>
        </p:nvSpPr>
        <p:spPr>
          <a:xfrm>
            <a:off x="731520" y="1188720"/>
            <a:ext cx="2926080" cy="1828800"/>
          </a:xfrm>
          <a:prstGeom prst="rect">
            <a:avLst/>
          </a:prstGeom>
          <a:noFill/>
          <a:ln/>
        </p:spPr>
        <p:txBody>
          <a:bodyPr wrap="square" lIns="0" tIns="0" rIns="0" bIns="0" rtlCol="0" anchor="t"/>
          <a:lstStyle/>
          <a:p>
            <a:pPr indent="0" marL="0">
              <a:buNone/>
            </a:pPr>
            <a:r>
              <a:rPr lang="en-US" sz="11000" b="1" dirty="0">
                <a:solidFill>
                  <a:srgbClr val="EA580C"/>
                </a:solidFill>
                <a:latin typeface="Calibri" pitchFamily="34" charset="0"/>
                <a:ea typeface="Calibri" pitchFamily="34" charset="-122"/>
                <a:cs typeface="Calibri" pitchFamily="34" charset="-120"/>
              </a:rPr>
              <a:t>01</a:t>
            </a:r>
            <a:endParaRPr lang="en-US" sz="11000" dirty="0"/>
          </a:p>
        </p:txBody>
      </p:sp>
      <p:sp>
        <p:nvSpPr>
          <p:cNvPr id="3" name="Text 1"/>
          <p:cNvSpPr txBox="1"/>
          <p:nvPr/>
        </p:nvSpPr>
        <p:spPr>
          <a:xfrm>
            <a:off x="731520" y="3063240"/>
            <a:ext cx="10515600" cy="1463040"/>
          </a:xfrm>
          <a:prstGeom prst="rect">
            <a:avLst/>
          </a:prstGeom>
          <a:noFill/>
          <a:ln/>
        </p:spPr>
        <p:txBody>
          <a:bodyPr wrap="square" lIns="0" tIns="0" rIns="0" bIns="0" rtlCol="0" anchor="t"/>
          <a:lstStyle/>
          <a:p>
            <a:pPr indent="0" marL="0">
              <a:buNone/>
            </a:pPr>
            <a:r>
              <a:rPr lang="en-US" sz="4200" b="1" dirty="0">
                <a:solidFill>
                  <a:srgbClr val="FFFFFF"/>
                </a:solidFill>
                <a:latin typeface="Calibri" pitchFamily="34" charset="0"/>
                <a:ea typeface="Calibri" pitchFamily="34" charset="-122"/>
                <a:cs typeface="Calibri" pitchFamily="34" charset="-120"/>
              </a:rPr>
              <a:t>The evolution of NLP</a:t>
            </a:r>
            <a:endParaRPr lang="en-US" sz="4200" dirty="0"/>
          </a:p>
        </p:txBody>
      </p:sp>
      <p:sp>
        <p:nvSpPr>
          <p:cNvPr id="4" name="Text 2"/>
          <p:cNvSpPr txBox="1"/>
          <p:nvPr/>
        </p:nvSpPr>
        <p:spPr>
          <a:xfrm>
            <a:off x="731520" y="4617720"/>
            <a:ext cx="10515600" cy="1097280"/>
          </a:xfrm>
          <a:prstGeom prst="rect">
            <a:avLst/>
          </a:prstGeom>
          <a:noFill/>
          <a:ln/>
        </p:spPr>
        <p:txBody>
          <a:bodyPr wrap="square" lIns="0" tIns="0" rIns="0" bIns="0" rtlCol="0" anchor="t"/>
          <a:lstStyle/>
          <a:p>
            <a:pPr indent="0" marL="0">
              <a:buNone/>
            </a:pPr>
            <a:r>
              <a:rPr lang="en-US" sz="2200" i="1" dirty="0">
                <a:solidFill>
                  <a:srgbClr val="C7D2FE"/>
                </a:solidFill>
                <a:latin typeface="Calibri" pitchFamily="34" charset="0"/>
                <a:ea typeface="Calibri" pitchFamily="34" charset="-122"/>
                <a:cs typeface="Calibri" pitchFamily="34" charset="-120"/>
              </a:rPr>
              <a:t>How did we get from counting word pairs to chat assistants?</a:t>
            </a:r>
            <a:endParaRPr lang="en-US" sz="2200" dirty="0"/>
          </a:p>
        </p:txBody>
      </p:sp>
      <p:sp>
        <p:nvSpPr>
          <p:cNvPr id="5" name="Shape 3"/>
          <p:cNvSpPr/>
          <p:nvPr/>
        </p:nvSpPr>
        <p:spPr>
          <a:xfrm>
            <a:off x="9692640" y="1097280"/>
            <a:ext cx="1554480" cy="1554480"/>
          </a:xfrm>
          <a:prstGeom prst="ellipse">
            <a:avLst/>
          </a:prstGeom>
          <a:solidFill>
            <a:srgbClr val="4F46E5"/>
          </a:solidFill>
          <a:ln w="12700">
            <a:solidFill>
              <a:srgbClr val="4F46E5"/>
            </a:solidFill>
            <a:prstDash val="solid"/>
          </a:ln>
        </p:spPr>
      </p:sp>
      <p:pic>
        <p:nvPicPr>
          <p:cNvPr id="6" name="Image 0" descr="preencoded.png">    </p:cNvPr>
          <p:cNvPicPr>
            <a:picLocks noChangeAspect="1"/>
          </p:cNvPicPr>
          <p:nvPr/>
        </p:nvPicPr>
        <p:blipFill>
          <a:blip r:embed="rId1"/>
          <a:stretch>
            <a:fillRect/>
          </a:stretch>
        </p:blipFill>
        <p:spPr>
          <a:xfrm>
            <a:off x="10065715" y="1470355"/>
            <a:ext cx="808330" cy="80833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06  ·  LARGE LANGUAGE MODELS (LLMS) AND FAMILIES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7</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A decoder chat request</a:t>
            </a:r>
            <a:endParaRPr lang="en-US" sz="3200" dirty="0"/>
          </a:p>
        </p:txBody>
      </p:sp>
      <p:sp>
        <p:nvSpPr>
          <p:cNvPr id="6" name="Text 4"/>
          <p:cNvSpPr txBox="1"/>
          <p:nvPr/>
        </p:nvSpPr>
        <p:spPr>
          <a:xfrm>
            <a:off x="548640" y="1463040"/>
            <a:ext cx="11094415" cy="384048"/>
          </a:xfrm>
          <a:prstGeom prst="rect">
            <a:avLst/>
          </a:prstGeom>
          <a:noFill/>
          <a:ln/>
        </p:spPr>
        <p:txBody>
          <a:bodyPr wrap="square" lIns="0" tIns="0" rIns="0" bIns="0" rtlCol="0" anchor="t"/>
          <a:lstStyle/>
          <a:p>
            <a:pPr indent="0" marL="0">
              <a:buNone/>
            </a:pPr>
            <a:r>
              <a:rPr lang="en-US" sz="1800" dirty="0">
                <a:solidFill>
                  <a:srgbClr val="6B7280"/>
                </a:solidFill>
                <a:latin typeface="Calibri" pitchFamily="34" charset="0"/>
                <a:ea typeface="Calibri" pitchFamily="34" charset="-122"/>
                <a:cs typeface="Calibri" pitchFamily="34" charset="-120"/>
              </a:rPr>
              <a:t>Local chat; fixed weights</a:t>
            </a:r>
            <a:endParaRPr lang="en-US" sz="1800" dirty="0"/>
          </a:p>
        </p:txBody>
      </p:sp>
      <p:sp>
        <p:nvSpPr>
          <p:cNvPr id="7" name="Shape 5"/>
          <p:cNvSpPr/>
          <p:nvPr/>
        </p:nvSpPr>
        <p:spPr>
          <a:xfrm>
            <a:off x="2354146" y="3838927"/>
            <a:ext cx="244024" cy="0"/>
          </a:xfrm>
          <a:prstGeom prst="line">
            <a:avLst/>
          </a:prstGeom>
          <a:noFill/>
          <a:ln w="22860">
            <a:solidFill>
              <a:srgbClr val="009E73"/>
            </a:solidFill>
            <a:prstDash val="solid"/>
            <a:tailEnd type="triangle"/>
          </a:ln>
        </p:spPr>
      </p:sp>
      <p:sp>
        <p:nvSpPr>
          <p:cNvPr id="8" name="Text 6"/>
          <p:cNvSpPr txBox="1"/>
          <p:nvPr/>
        </p:nvSpPr>
        <p:spPr>
          <a:xfrm>
            <a:off x="1675454"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messages</a:t>
            </a:r>
            <a:endParaRPr lang="en-US" sz="1441" dirty="0"/>
          </a:p>
        </p:txBody>
      </p:sp>
      <p:sp>
        <p:nvSpPr>
          <p:cNvPr id="9" name="Shape 7"/>
          <p:cNvSpPr/>
          <p:nvPr/>
        </p:nvSpPr>
        <p:spPr>
          <a:xfrm>
            <a:off x="4163991" y="3838927"/>
            <a:ext cx="244024" cy="0"/>
          </a:xfrm>
          <a:prstGeom prst="line">
            <a:avLst/>
          </a:prstGeom>
          <a:noFill/>
          <a:ln w="22860">
            <a:solidFill>
              <a:srgbClr val="009E73"/>
            </a:solidFill>
            <a:prstDash val="solid"/>
            <a:tailEnd type="triangle"/>
          </a:ln>
        </p:spPr>
      </p:sp>
      <p:sp>
        <p:nvSpPr>
          <p:cNvPr id="10" name="Text 8"/>
          <p:cNvSpPr txBox="1"/>
          <p:nvPr/>
        </p:nvSpPr>
        <p:spPr>
          <a:xfrm>
            <a:off x="3485299"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text</a:t>
            </a:r>
            <a:endParaRPr lang="en-US" sz="1441" dirty="0"/>
          </a:p>
        </p:txBody>
      </p:sp>
      <p:sp>
        <p:nvSpPr>
          <p:cNvPr id="11" name="Shape 9"/>
          <p:cNvSpPr/>
          <p:nvPr/>
        </p:nvSpPr>
        <p:spPr>
          <a:xfrm>
            <a:off x="5973836" y="3838927"/>
            <a:ext cx="244024" cy="0"/>
          </a:xfrm>
          <a:prstGeom prst="line">
            <a:avLst/>
          </a:prstGeom>
          <a:noFill/>
          <a:ln w="22860">
            <a:solidFill>
              <a:srgbClr val="009E73"/>
            </a:solidFill>
            <a:prstDash val="solid"/>
            <a:tailEnd type="triangle"/>
          </a:ln>
        </p:spPr>
      </p:sp>
      <p:sp>
        <p:nvSpPr>
          <p:cNvPr id="12" name="Text 10"/>
          <p:cNvSpPr txBox="1"/>
          <p:nvPr/>
        </p:nvSpPr>
        <p:spPr>
          <a:xfrm>
            <a:off x="5295144"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IDs</a:t>
            </a:r>
            <a:endParaRPr lang="en-US" sz="1441" dirty="0"/>
          </a:p>
        </p:txBody>
      </p:sp>
      <p:sp>
        <p:nvSpPr>
          <p:cNvPr id="13" name="Shape 11"/>
          <p:cNvSpPr/>
          <p:nvPr/>
        </p:nvSpPr>
        <p:spPr>
          <a:xfrm>
            <a:off x="7783680" y="3838927"/>
            <a:ext cx="244024" cy="0"/>
          </a:xfrm>
          <a:prstGeom prst="line">
            <a:avLst/>
          </a:prstGeom>
          <a:noFill/>
          <a:ln w="22860">
            <a:solidFill>
              <a:srgbClr val="009E73"/>
            </a:solidFill>
            <a:prstDash val="solid"/>
            <a:tailEnd type="triangle"/>
          </a:ln>
        </p:spPr>
      </p:sp>
      <p:sp>
        <p:nvSpPr>
          <p:cNvPr id="14" name="Text 12"/>
          <p:cNvSpPr txBox="1"/>
          <p:nvPr/>
        </p:nvSpPr>
        <p:spPr>
          <a:xfrm>
            <a:off x="7104989"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prefix + answer</a:t>
            </a:r>
            <a:endParaRPr lang="en-US" sz="1441" dirty="0"/>
          </a:p>
        </p:txBody>
      </p:sp>
      <p:sp>
        <p:nvSpPr>
          <p:cNvPr id="15" name="Shape 13"/>
          <p:cNvSpPr/>
          <p:nvPr/>
        </p:nvSpPr>
        <p:spPr>
          <a:xfrm>
            <a:off x="9593525" y="3838927"/>
            <a:ext cx="244024" cy="0"/>
          </a:xfrm>
          <a:prstGeom prst="line">
            <a:avLst/>
          </a:prstGeom>
          <a:noFill/>
          <a:ln w="22860">
            <a:solidFill>
              <a:srgbClr val="009E73"/>
            </a:solidFill>
            <a:prstDash val="solid"/>
            <a:tailEnd type="triangle"/>
          </a:ln>
        </p:spPr>
      </p:sp>
      <p:sp>
        <p:nvSpPr>
          <p:cNvPr id="16" name="Text 14"/>
          <p:cNvSpPr txBox="1"/>
          <p:nvPr/>
        </p:nvSpPr>
        <p:spPr>
          <a:xfrm>
            <a:off x="8914834"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new IDs</a:t>
            </a:r>
            <a:endParaRPr lang="en-US" sz="1441" dirty="0"/>
          </a:p>
        </p:txBody>
      </p:sp>
      <p:sp>
        <p:nvSpPr>
          <p:cNvPr id="17" name="Shape 15"/>
          <p:cNvSpPr/>
          <p:nvPr/>
        </p:nvSpPr>
        <p:spPr>
          <a:xfrm>
            <a:off x="788325" y="2939089"/>
            <a:ext cx="1565821" cy="1799677"/>
          </a:xfrm>
          <a:prstGeom prst="roundRect">
            <a:avLst>
              <a:gd name="adj" fmla="val 4672"/>
            </a:avLst>
          </a:prstGeom>
          <a:solidFill>
            <a:srgbClr val="E4F2FB"/>
          </a:solidFill>
          <a:ln w="15240">
            <a:solidFill>
              <a:srgbClr val="0072B2"/>
            </a:solidFill>
            <a:prstDash val="solid"/>
          </a:ln>
        </p:spPr>
      </p:sp>
      <p:sp>
        <p:nvSpPr>
          <p:cNvPr id="18" name="Text 16"/>
          <p:cNvSpPr txBox="1"/>
          <p:nvPr/>
        </p:nvSpPr>
        <p:spPr>
          <a:xfrm>
            <a:off x="849331" y="3579652"/>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Prepare</a:t>
            </a:r>
            <a:endParaRPr lang="en-US" sz="1561" dirty="0"/>
          </a:p>
        </p:txBody>
      </p:sp>
      <p:sp>
        <p:nvSpPr>
          <p:cNvPr id="19" name="Text 17"/>
          <p:cNvSpPr txBox="1"/>
          <p:nvPr/>
        </p:nvSpPr>
        <p:spPr>
          <a:xfrm>
            <a:off x="849331" y="3885902"/>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message</a:t>
            </a:r>
            <a:endParaRPr lang="en-US" sz="1441" dirty="0"/>
          </a:p>
        </p:txBody>
      </p:sp>
      <p:sp>
        <p:nvSpPr>
          <p:cNvPr id="20" name="Shape 18"/>
          <p:cNvSpPr/>
          <p:nvPr/>
        </p:nvSpPr>
        <p:spPr>
          <a:xfrm>
            <a:off x="2598170" y="2939089"/>
            <a:ext cx="1565821" cy="1799677"/>
          </a:xfrm>
          <a:prstGeom prst="rect">
            <a:avLst/>
          </a:prstGeom>
          <a:solidFill>
            <a:srgbClr val="F2F4F5"/>
          </a:solidFill>
          <a:ln w="15240">
            <a:solidFill>
              <a:srgbClr val="626B73"/>
            </a:solidFill>
            <a:prstDash val="solid"/>
          </a:ln>
        </p:spPr>
      </p:sp>
      <p:sp>
        <p:nvSpPr>
          <p:cNvPr id="21" name="Text 19"/>
          <p:cNvSpPr txBox="1"/>
          <p:nvPr/>
        </p:nvSpPr>
        <p:spPr>
          <a:xfrm>
            <a:off x="2659176" y="3579652"/>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Format</a:t>
            </a:r>
            <a:endParaRPr lang="en-US" sz="1561" dirty="0"/>
          </a:p>
        </p:txBody>
      </p:sp>
      <p:sp>
        <p:nvSpPr>
          <p:cNvPr id="22" name="Text 20"/>
          <p:cNvSpPr txBox="1"/>
          <p:nvPr/>
        </p:nvSpPr>
        <p:spPr>
          <a:xfrm>
            <a:off x="2659176" y="3885902"/>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chat template</a:t>
            </a:r>
            <a:endParaRPr lang="en-US" sz="1441" dirty="0"/>
          </a:p>
        </p:txBody>
      </p:sp>
      <p:sp>
        <p:nvSpPr>
          <p:cNvPr id="23" name="Shape 21"/>
          <p:cNvSpPr/>
          <p:nvPr/>
        </p:nvSpPr>
        <p:spPr>
          <a:xfrm>
            <a:off x="4408015" y="2939089"/>
            <a:ext cx="1565821" cy="1799677"/>
          </a:xfrm>
          <a:prstGeom prst="rect">
            <a:avLst/>
          </a:prstGeom>
          <a:solidFill>
            <a:srgbClr val="F2F4F5"/>
          </a:solidFill>
          <a:ln w="15240">
            <a:solidFill>
              <a:srgbClr val="626B73"/>
            </a:solidFill>
            <a:prstDash val="solid"/>
          </a:ln>
        </p:spPr>
      </p:sp>
      <p:sp>
        <p:nvSpPr>
          <p:cNvPr id="24" name="Text 22"/>
          <p:cNvSpPr txBox="1"/>
          <p:nvPr/>
        </p:nvSpPr>
        <p:spPr>
          <a:xfrm>
            <a:off x="4469021" y="3579652"/>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Tokenise</a:t>
            </a:r>
            <a:endParaRPr lang="en-US" sz="1561" dirty="0"/>
          </a:p>
        </p:txBody>
      </p:sp>
      <p:sp>
        <p:nvSpPr>
          <p:cNvPr id="25" name="Text 23"/>
          <p:cNvSpPr txBox="1"/>
          <p:nvPr/>
        </p:nvSpPr>
        <p:spPr>
          <a:xfrm>
            <a:off x="4469021" y="3885902"/>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[1,L]</a:t>
            </a:r>
            <a:endParaRPr lang="en-US" sz="1441" dirty="0"/>
          </a:p>
        </p:txBody>
      </p:sp>
      <p:sp>
        <p:nvSpPr>
          <p:cNvPr id="26" name="Shape 24"/>
          <p:cNvSpPr/>
          <p:nvPr/>
        </p:nvSpPr>
        <p:spPr>
          <a:xfrm>
            <a:off x="6217860" y="2939089"/>
            <a:ext cx="1565821" cy="1799677"/>
          </a:xfrm>
          <a:prstGeom prst="rect">
            <a:avLst/>
          </a:prstGeom>
          <a:solidFill>
            <a:srgbClr val="E5F7EF"/>
          </a:solidFill>
          <a:ln w="15240">
            <a:solidFill>
              <a:srgbClr val="009E73"/>
            </a:solidFill>
            <a:prstDash val="solid"/>
          </a:ln>
        </p:spPr>
      </p:sp>
      <p:sp>
        <p:nvSpPr>
          <p:cNvPr id="27" name="Text 25"/>
          <p:cNvSpPr txBox="1"/>
          <p:nvPr/>
        </p:nvSpPr>
        <p:spPr>
          <a:xfrm>
            <a:off x="6278866" y="3442998"/>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Generate</a:t>
            </a:r>
            <a:endParaRPr lang="en-US" sz="1561" dirty="0"/>
          </a:p>
        </p:txBody>
      </p:sp>
      <p:sp>
        <p:nvSpPr>
          <p:cNvPr id="28" name="Text 26"/>
          <p:cNvSpPr txBox="1"/>
          <p:nvPr/>
        </p:nvSpPr>
        <p:spPr>
          <a:xfrm>
            <a:off x="6278866" y="3749248"/>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answer IDs</a:t>
            </a:r>
            <a:endParaRPr lang="en-US" sz="1441" dirty="0"/>
          </a:p>
        </p:txBody>
      </p:sp>
      <p:sp>
        <p:nvSpPr>
          <p:cNvPr id="29" name="Text 27"/>
          <p:cNvSpPr txBox="1"/>
          <p:nvPr/>
        </p:nvSpPr>
        <p:spPr>
          <a:xfrm>
            <a:off x="6240737" y="4022555"/>
            <a:ext cx="1520066" cy="212301"/>
          </a:xfrm>
          <a:prstGeom prst="rect">
            <a:avLst/>
          </a:prstGeom>
          <a:noFill/>
          <a:ln/>
        </p:spPr>
        <p:txBody>
          <a:bodyPr wrap="square" lIns="0" tIns="0" rIns="0" bIns="0" rtlCol="0" anchor="ctr"/>
          <a:lstStyle/>
          <a:p>
            <a:pPr algn="ctr" indent="0" marL="0">
              <a:lnSpc>
                <a:spcPct val="116000"/>
              </a:lnSpc>
              <a:buNone/>
            </a:pPr>
            <a:r>
              <a:rPr lang="en-US" sz="1441" dirty="0">
                <a:solidFill>
                  <a:srgbClr val="0F766E"/>
                </a:solidFill>
                <a:latin typeface="Arial" pitchFamily="34" charset="0"/>
                <a:ea typeface="Arial" pitchFamily="34" charset="-122"/>
                <a:cs typeface="Arial" pitchFamily="34" charset="-120"/>
              </a:rPr>
              <a:t>model.generate</a:t>
            </a:r>
            <a:endParaRPr lang="en-US" sz="1441" dirty="0"/>
          </a:p>
        </p:txBody>
      </p:sp>
      <p:sp>
        <p:nvSpPr>
          <p:cNvPr id="30" name="Shape 28"/>
          <p:cNvSpPr/>
          <p:nvPr/>
        </p:nvSpPr>
        <p:spPr>
          <a:xfrm>
            <a:off x="8027705" y="2939089"/>
            <a:ext cx="1565821" cy="1799677"/>
          </a:xfrm>
          <a:prstGeom prst="rect">
            <a:avLst/>
          </a:prstGeom>
          <a:solidFill>
            <a:srgbClr val="F2F4F5"/>
          </a:solidFill>
          <a:ln w="15240">
            <a:solidFill>
              <a:srgbClr val="626B73"/>
            </a:solidFill>
            <a:prstDash val="solid"/>
          </a:ln>
        </p:spPr>
      </p:sp>
      <p:sp>
        <p:nvSpPr>
          <p:cNvPr id="31" name="Text 29"/>
          <p:cNvSpPr txBox="1"/>
          <p:nvPr/>
        </p:nvSpPr>
        <p:spPr>
          <a:xfrm>
            <a:off x="8088711" y="3579652"/>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Slice</a:t>
            </a:r>
            <a:endParaRPr lang="en-US" sz="1561" dirty="0"/>
          </a:p>
        </p:txBody>
      </p:sp>
      <p:sp>
        <p:nvSpPr>
          <p:cNvPr id="32" name="Text 30"/>
          <p:cNvSpPr txBox="1"/>
          <p:nvPr/>
        </p:nvSpPr>
        <p:spPr>
          <a:xfrm>
            <a:off x="8088711" y="3885902"/>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new IDs</a:t>
            </a:r>
            <a:endParaRPr lang="en-US" sz="1441" dirty="0"/>
          </a:p>
        </p:txBody>
      </p:sp>
      <p:sp>
        <p:nvSpPr>
          <p:cNvPr id="33" name="Shape 31"/>
          <p:cNvSpPr/>
          <p:nvPr/>
        </p:nvSpPr>
        <p:spPr>
          <a:xfrm>
            <a:off x="9837549" y="2939089"/>
            <a:ext cx="1565821" cy="1799677"/>
          </a:xfrm>
          <a:prstGeom prst="roundRect">
            <a:avLst>
              <a:gd name="adj" fmla="val 4672"/>
            </a:avLst>
          </a:prstGeom>
          <a:solidFill>
            <a:srgbClr val="F9EAF4"/>
          </a:solidFill>
          <a:ln w="15240">
            <a:solidFill>
              <a:srgbClr val="CC79A7"/>
            </a:solidFill>
            <a:prstDash val="solid"/>
          </a:ln>
        </p:spPr>
      </p:sp>
      <p:sp>
        <p:nvSpPr>
          <p:cNvPr id="34" name="Text 32"/>
          <p:cNvSpPr txBox="1"/>
          <p:nvPr/>
        </p:nvSpPr>
        <p:spPr>
          <a:xfrm>
            <a:off x="9898555" y="3579652"/>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Decode</a:t>
            </a:r>
            <a:endParaRPr lang="en-US" sz="1561" dirty="0"/>
          </a:p>
        </p:txBody>
      </p:sp>
      <p:sp>
        <p:nvSpPr>
          <p:cNvPr id="35" name="Text 33"/>
          <p:cNvSpPr txBox="1"/>
          <p:nvPr/>
        </p:nvSpPr>
        <p:spPr>
          <a:xfrm>
            <a:off x="9898555" y="3885902"/>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text</a:t>
            </a:r>
            <a:endParaRPr lang="en-US" sz="1441" dirty="0"/>
          </a:p>
        </p:txBody>
      </p:sp>
      <p:sp>
        <p:nvSpPr>
          <p:cNvPr id="36" name="Shape 34"/>
          <p:cNvSpPr/>
          <p:nvPr/>
        </p:nvSpPr>
        <p:spPr>
          <a:xfrm>
            <a:off x="788325" y="5630979"/>
            <a:ext cx="198270" cy="198270"/>
          </a:xfrm>
          <a:prstGeom prst="roundRect">
            <a:avLst>
              <a:gd name="adj" fmla="val 36895"/>
            </a:avLst>
          </a:prstGeom>
          <a:solidFill>
            <a:srgbClr val="E4F2FB"/>
          </a:solidFill>
          <a:ln w="15240">
            <a:solidFill>
              <a:srgbClr val="0072B2"/>
            </a:solidFill>
            <a:prstDash val="solid"/>
          </a:ln>
        </p:spPr>
      </p:sp>
      <p:sp>
        <p:nvSpPr>
          <p:cNvPr id="37" name="Text 35"/>
          <p:cNvSpPr txBox="1"/>
          <p:nvPr/>
        </p:nvSpPr>
        <p:spPr>
          <a:xfrm>
            <a:off x="1047600" y="5608101"/>
            <a:ext cx="430566"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Data</a:t>
            </a:r>
            <a:endParaRPr lang="en-US" sz="1441" dirty="0"/>
          </a:p>
        </p:txBody>
      </p:sp>
      <p:sp>
        <p:nvSpPr>
          <p:cNvPr id="38" name="Shape 36"/>
          <p:cNvSpPr/>
          <p:nvPr/>
        </p:nvSpPr>
        <p:spPr>
          <a:xfrm>
            <a:off x="1676436" y="5630979"/>
            <a:ext cx="198270" cy="198270"/>
          </a:xfrm>
          <a:prstGeom prst="rect">
            <a:avLst/>
          </a:prstGeom>
          <a:solidFill>
            <a:srgbClr val="E5F7EF"/>
          </a:solidFill>
          <a:ln w="15240">
            <a:solidFill>
              <a:srgbClr val="009E73"/>
            </a:solidFill>
            <a:prstDash val="solid"/>
          </a:ln>
        </p:spPr>
      </p:sp>
      <p:sp>
        <p:nvSpPr>
          <p:cNvPr id="39" name="Text 37"/>
          <p:cNvSpPr txBox="1"/>
          <p:nvPr/>
        </p:nvSpPr>
        <p:spPr>
          <a:xfrm>
            <a:off x="1935711" y="5608101"/>
            <a:ext cx="546304"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Model</a:t>
            </a:r>
            <a:endParaRPr lang="en-US" sz="1441" dirty="0"/>
          </a:p>
        </p:txBody>
      </p:sp>
      <p:sp>
        <p:nvSpPr>
          <p:cNvPr id="40" name="Shape 38"/>
          <p:cNvSpPr/>
          <p:nvPr/>
        </p:nvSpPr>
        <p:spPr>
          <a:xfrm>
            <a:off x="2680284" y="5630979"/>
            <a:ext cx="198270" cy="198270"/>
          </a:xfrm>
          <a:prstGeom prst="roundRect">
            <a:avLst>
              <a:gd name="adj" fmla="val 36895"/>
            </a:avLst>
          </a:prstGeom>
          <a:solidFill>
            <a:srgbClr val="F9EAF4"/>
          </a:solidFill>
          <a:ln w="15240">
            <a:solidFill>
              <a:srgbClr val="CC79A7"/>
            </a:solidFill>
            <a:prstDash val="solid"/>
          </a:ln>
        </p:spPr>
      </p:sp>
      <p:sp>
        <p:nvSpPr>
          <p:cNvPr id="41" name="Text 39"/>
          <p:cNvSpPr txBox="1"/>
          <p:nvPr/>
        </p:nvSpPr>
        <p:spPr>
          <a:xfrm>
            <a:off x="2939560" y="5608101"/>
            <a:ext cx="599153"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Output</a:t>
            </a:r>
            <a:endParaRPr lang="en-US" sz="1441" dirty="0"/>
          </a:p>
        </p:txBody>
      </p:sp>
      <p:sp>
        <p:nvSpPr>
          <p:cNvPr id="42" name="Shape 40"/>
          <p:cNvSpPr/>
          <p:nvPr/>
        </p:nvSpPr>
        <p:spPr>
          <a:xfrm>
            <a:off x="3736982" y="5630979"/>
            <a:ext cx="198270" cy="198270"/>
          </a:xfrm>
          <a:prstGeom prst="rect">
            <a:avLst/>
          </a:prstGeom>
          <a:solidFill>
            <a:srgbClr val="F2F4F5"/>
          </a:solidFill>
          <a:ln w="15240">
            <a:solidFill>
              <a:srgbClr val="626B73"/>
            </a:solidFill>
            <a:prstDash val="solid"/>
          </a:ln>
        </p:spPr>
      </p:sp>
      <p:sp>
        <p:nvSpPr>
          <p:cNvPr id="43" name="Text 41"/>
          <p:cNvSpPr txBox="1"/>
          <p:nvPr/>
        </p:nvSpPr>
        <p:spPr>
          <a:xfrm>
            <a:off x="3996258" y="5608101"/>
            <a:ext cx="398932"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Tool</a:t>
            </a:r>
            <a:endParaRPr lang="en-US" sz="1441" dirty="0"/>
          </a:p>
        </p:txBody>
      </p:sp>
      <p:sp>
        <p:nvSpPr>
          <p:cNvPr id="44" name="Shape 42"/>
          <p:cNvSpPr/>
          <p:nvPr/>
        </p:nvSpPr>
        <p:spPr>
          <a:xfrm>
            <a:off x="4593459" y="5730113"/>
            <a:ext cx="335533" cy="0"/>
          </a:xfrm>
          <a:prstGeom prst="line">
            <a:avLst/>
          </a:prstGeom>
          <a:noFill/>
          <a:ln w="22860">
            <a:solidFill>
              <a:srgbClr val="009E73"/>
            </a:solidFill>
            <a:prstDash val="solid"/>
            <a:tailEnd type="triangle"/>
          </a:ln>
        </p:spPr>
      </p:sp>
      <p:sp>
        <p:nvSpPr>
          <p:cNvPr id="45" name="Text 43"/>
          <p:cNvSpPr txBox="1"/>
          <p:nvPr/>
        </p:nvSpPr>
        <p:spPr>
          <a:xfrm>
            <a:off x="4989998" y="5608101"/>
            <a:ext cx="430376"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Flow</a:t>
            </a:r>
            <a:endParaRPr lang="en-US" sz="1441" dirty="0"/>
          </a:p>
        </p:txBody>
      </p:sp>
      <p:sp>
        <p:nvSpPr>
          <p:cNvPr id="46" name="Text 44"/>
          <p:cNvSpPr txBox="1"/>
          <p:nvPr/>
        </p:nvSpPr>
        <p:spPr>
          <a:xfrm>
            <a:off x="548640" y="5925312"/>
            <a:ext cx="11094415" cy="475488"/>
          </a:xfrm>
          <a:prstGeom prst="rect">
            <a:avLst/>
          </a:prstGeom>
          <a:noFill/>
          <a:ln/>
        </p:spPr>
        <p:txBody>
          <a:bodyPr wrap="square" lIns="0" tIns="0" rIns="0" bIns="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Check: Why slice?</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06  ·  LARGE LANGUAGE MODELS (LLMS) AND FAMILIES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8</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Forty years of NLP in one line</a:t>
            </a:r>
            <a:endParaRPr lang="en-US" sz="3200" dirty="0"/>
          </a:p>
        </p:txBody>
      </p:sp>
      <p:sp>
        <p:nvSpPr>
          <p:cNvPr id="6" name="Shape 4"/>
          <p:cNvSpPr/>
          <p:nvPr/>
        </p:nvSpPr>
        <p:spPr>
          <a:xfrm>
            <a:off x="10560923" y="3494238"/>
            <a:ext cx="0" cy="120332"/>
          </a:xfrm>
          <a:prstGeom prst="line">
            <a:avLst/>
          </a:prstGeom>
          <a:noFill/>
          <a:ln w="22860">
            <a:solidFill>
              <a:srgbClr val="4F46E5"/>
            </a:solidFill>
            <a:prstDash val="solid"/>
          </a:ln>
        </p:spPr>
      </p:sp>
      <p:sp>
        <p:nvSpPr>
          <p:cNvPr id="7" name="Shape 5"/>
          <p:cNvSpPr/>
          <p:nvPr/>
        </p:nvSpPr>
        <p:spPr>
          <a:xfrm flipH="1">
            <a:off x="852456" y="3614570"/>
            <a:ext cx="9708467" cy="0"/>
          </a:xfrm>
          <a:prstGeom prst="line">
            <a:avLst/>
          </a:prstGeom>
          <a:noFill/>
          <a:ln w="22860">
            <a:solidFill>
              <a:srgbClr val="4F46E5"/>
            </a:solidFill>
            <a:prstDash val="solid"/>
          </a:ln>
        </p:spPr>
      </p:sp>
      <p:sp>
        <p:nvSpPr>
          <p:cNvPr id="8" name="Shape 6"/>
          <p:cNvSpPr/>
          <p:nvPr/>
        </p:nvSpPr>
        <p:spPr>
          <a:xfrm>
            <a:off x="852456" y="3614570"/>
            <a:ext cx="0" cy="942599"/>
          </a:xfrm>
          <a:prstGeom prst="line">
            <a:avLst/>
          </a:prstGeom>
          <a:noFill/>
          <a:ln w="22860">
            <a:solidFill>
              <a:srgbClr val="4F46E5"/>
            </a:solidFill>
            <a:prstDash val="solid"/>
          </a:ln>
        </p:spPr>
      </p:sp>
      <p:sp>
        <p:nvSpPr>
          <p:cNvPr id="9" name="Shape 7"/>
          <p:cNvSpPr/>
          <p:nvPr/>
        </p:nvSpPr>
        <p:spPr>
          <a:xfrm>
            <a:off x="3269332" y="3032967"/>
            <a:ext cx="327712" cy="0"/>
          </a:xfrm>
          <a:prstGeom prst="line">
            <a:avLst/>
          </a:prstGeom>
          <a:noFill/>
          <a:ln w="22860">
            <a:solidFill>
              <a:srgbClr val="4F46E5"/>
            </a:solidFill>
            <a:prstDash val="solid"/>
            <a:tailEnd type="triangle"/>
          </a:ln>
        </p:spPr>
      </p:sp>
      <p:sp>
        <p:nvSpPr>
          <p:cNvPr id="10" name="Shape 8"/>
          <p:cNvSpPr/>
          <p:nvPr/>
        </p:nvSpPr>
        <p:spPr>
          <a:xfrm>
            <a:off x="5931992" y="3032967"/>
            <a:ext cx="327712" cy="0"/>
          </a:xfrm>
          <a:prstGeom prst="line">
            <a:avLst/>
          </a:prstGeom>
          <a:noFill/>
          <a:ln w="22860">
            <a:solidFill>
              <a:srgbClr val="4F46E5"/>
            </a:solidFill>
            <a:prstDash val="solid"/>
            <a:tailEnd type="triangle"/>
          </a:ln>
        </p:spPr>
      </p:sp>
      <p:sp>
        <p:nvSpPr>
          <p:cNvPr id="11" name="Shape 9"/>
          <p:cNvSpPr/>
          <p:nvPr/>
        </p:nvSpPr>
        <p:spPr>
          <a:xfrm>
            <a:off x="8594651" y="3032967"/>
            <a:ext cx="327712" cy="0"/>
          </a:xfrm>
          <a:prstGeom prst="line">
            <a:avLst/>
          </a:prstGeom>
          <a:noFill/>
          <a:ln w="22860">
            <a:solidFill>
              <a:srgbClr val="4F46E5"/>
            </a:solidFill>
            <a:prstDash val="solid"/>
            <a:tailEnd type="triangle"/>
          </a:ln>
        </p:spPr>
      </p:sp>
      <p:sp>
        <p:nvSpPr>
          <p:cNvPr id="12" name="Shape 10"/>
          <p:cNvSpPr/>
          <p:nvPr/>
        </p:nvSpPr>
        <p:spPr>
          <a:xfrm>
            <a:off x="3269332" y="4557169"/>
            <a:ext cx="327712" cy="0"/>
          </a:xfrm>
          <a:prstGeom prst="line">
            <a:avLst/>
          </a:prstGeom>
          <a:noFill/>
          <a:ln w="22860">
            <a:solidFill>
              <a:srgbClr val="4F46E5"/>
            </a:solidFill>
            <a:prstDash val="solid"/>
            <a:tailEnd type="triangle"/>
          </a:ln>
        </p:spPr>
      </p:sp>
      <p:sp>
        <p:nvSpPr>
          <p:cNvPr id="13" name="Shape 11"/>
          <p:cNvSpPr/>
          <p:nvPr/>
        </p:nvSpPr>
        <p:spPr>
          <a:xfrm>
            <a:off x="5931992" y="4557169"/>
            <a:ext cx="327712" cy="0"/>
          </a:xfrm>
          <a:prstGeom prst="line">
            <a:avLst/>
          </a:prstGeom>
          <a:noFill/>
          <a:ln w="22860">
            <a:solidFill>
              <a:srgbClr val="4F46E5"/>
            </a:solidFill>
            <a:prstDash val="solid"/>
            <a:tailEnd type="triangle"/>
          </a:ln>
        </p:spPr>
      </p:sp>
      <p:sp>
        <p:nvSpPr>
          <p:cNvPr id="14" name="Shape 12"/>
          <p:cNvSpPr/>
          <p:nvPr/>
        </p:nvSpPr>
        <p:spPr>
          <a:xfrm>
            <a:off x="8594651" y="4557169"/>
            <a:ext cx="327712" cy="0"/>
          </a:xfrm>
          <a:prstGeom prst="line">
            <a:avLst/>
          </a:prstGeom>
          <a:noFill/>
          <a:ln w="22860">
            <a:solidFill>
              <a:srgbClr val="4F46E5"/>
            </a:solidFill>
            <a:prstDash val="solid"/>
            <a:tailEnd type="triangle"/>
          </a:ln>
        </p:spPr>
      </p:sp>
      <p:sp>
        <p:nvSpPr>
          <p:cNvPr id="15" name="Shape 13"/>
          <p:cNvSpPr/>
          <p:nvPr/>
        </p:nvSpPr>
        <p:spPr>
          <a:xfrm>
            <a:off x="852456" y="4557169"/>
            <a:ext cx="81928" cy="0"/>
          </a:xfrm>
          <a:prstGeom prst="line">
            <a:avLst/>
          </a:prstGeom>
          <a:noFill/>
          <a:ln w="22860">
            <a:solidFill>
              <a:srgbClr val="4F46E5"/>
            </a:solidFill>
            <a:prstDash val="solid"/>
            <a:tailEnd type="triangle"/>
          </a:ln>
        </p:spPr>
      </p:sp>
      <p:sp>
        <p:nvSpPr>
          <p:cNvPr id="16" name="Shape 14"/>
          <p:cNvSpPr/>
          <p:nvPr/>
        </p:nvSpPr>
        <p:spPr>
          <a:xfrm>
            <a:off x="934384" y="2571695"/>
            <a:ext cx="2334948" cy="922543"/>
          </a:xfrm>
          <a:prstGeom prst="rect">
            <a:avLst/>
          </a:prstGeom>
          <a:solidFill>
            <a:srgbClr val="E5F7EF"/>
          </a:solidFill>
          <a:ln w="15240">
            <a:solidFill>
              <a:srgbClr val="009E73"/>
            </a:solidFill>
            <a:prstDash val="solid"/>
          </a:ln>
        </p:spPr>
      </p:sp>
      <p:sp>
        <p:nvSpPr>
          <p:cNvPr id="17" name="Shape 15"/>
          <p:cNvSpPr/>
          <p:nvPr/>
        </p:nvSpPr>
        <p:spPr>
          <a:xfrm>
            <a:off x="3597044" y="2571695"/>
            <a:ext cx="2334948" cy="922543"/>
          </a:xfrm>
          <a:prstGeom prst="rect">
            <a:avLst/>
          </a:prstGeom>
          <a:solidFill>
            <a:srgbClr val="E5F7EF"/>
          </a:solidFill>
          <a:ln w="15240">
            <a:solidFill>
              <a:srgbClr val="009E73"/>
            </a:solidFill>
            <a:prstDash val="solid"/>
          </a:ln>
        </p:spPr>
      </p:sp>
      <p:sp>
        <p:nvSpPr>
          <p:cNvPr id="18" name="Shape 16"/>
          <p:cNvSpPr/>
          <p:nvPr/>
        </p:nvSpPr>
        <p:spPr>
          <a:xfrm>
            <a:off x="6259704" y="2571695"/>
            <a:ext cx="2334948" cy="922543"/>
          </a:xfrm>
          <a:prstGeom prst="rect">
            <a:avLst/>
          </a:prstGeom>
          <a:solidFill>
            <a:srgbClr val="E5F7EF"/>
          </a:solidFill>
          <a:ln w="15240">
            <a:solidFill>
              <a:srgbClr val="009E73"/>
            </a:solidFill>
            <a:prstDash val="solid"/>
          </a:ln>
        </p:spPr>
      </p:sp>
      <p:sp>
        <p:nvSpPr>
          <p:cNvPr id="19" name="Shape 17"/>
          <p:cNvSpPr/>
          <p:nvPr/>
        </p:nvSpPr>
        <p:spPr>
          <a:xfrm>
            <a:off x="8922363" y="2571695"/>
            <a:ext cx="2334948" cy="922543"/>
          </a:xfrm>
          <a:prstGeom prst="rect">
            <a:avLst/>
          </a:prstGeom>
          <a:solidFill>
            <a:srgbClr val="E5F7EF"/>
          </a:solidFill>
          <a:ln w="15240">
            <a:solidFill>
              <a:srgbClr val="009E73"/>
            </a:solidFill>
            <a:prstDash val="solid"/>
          </a:ln>
        </p:spPr>
      </p:sp>
      <p:sp>
        <p:nvSpPr>
          <p:cNvPr id="20" name="Shape 18"/>
          <p:cNvSpPr/>
          <p:nvPr/>
        </p:nvSpPr>
        <p:spPr>
          <a:xfrm>
            <a:off x="934384" y="4095897"/>
            <a:ext cx="2334948" cy="922543"/>
          </a:xfrm>
          <a:prstGeom prst="rect">
            <a:avLst/>
          </a:prstGeom>
          <a:solidFill>
            <a:srgbClr val="E5F7EF"/>
          </a:solidFill>
          <a:ln w="15240">
            <a:solidFill>
              <a:srgbClr val="009E73"/>
            </a:solidFill>
            <a:prstDash val="solid"/>
          </a:ln>
        </p:spPr>
      </p:sp>
      <p:sp>
        <p:nvSpPr>
          <p:cNvPr id="21" name="Shape 19"/>
          <p:cNvSpPr/>
          <p:nvPr/>
        </p:nvSpPr>
        <p:spPr>
          <a:xfrm>
            <a:off x="3597044" y="4095897"/>
            <a:ext cx="2334948" cy="922543"/>
          </a:xfrm>
          <a:prstGeom prst="rect">
            <a:avLst/>
          </a:prstGeom>
          <a:solidFill>
            <a:srgbClr val="E5F7EF"/>
          </a:solidFill>
          <a:ln w="15240">
            <a:solidFill>
              <a:srgbClr val="009E73"/>
            </a:solidFill>
            <a:prstDash val="solid"/>
          </a:ln>
        </p:spPr>
      </p:sp>
      <p:sp>
        <p:nvSpPr>
          <p:cNvPr id="22" name="Shape 20"/>
          <p:cNvSpPr/>
          <p:nvPr/>
        </p:nvSpPr>
        <p:spPr>
          <a:xfrm>
            <a:off x="6259704" y="4095897"/>
            <a:ext cx="2334948" cy="922543"/>
          </a:xfrm>
          <a:prstGeom prst="rect">
            <a:avLst/>
          </a:prstGeom>
          <a:solidFill>
            <a:srgbClr val="E5F7EF"/>
          </a:solidFill>
          <a:ln w="15240">
            <a:solidFill>
              <a:srgbClr val="009E73"/>
            </a:solidFill>
            <a:prstDash val="solid"/>
          </a:ln>
        </p:spPr>
      </p:sp>
      <p:sp>
        <p:nvSpPr>
          <p:cNvPr id="23" name="Shape 21"/>
          <p:cNvSpPr/>
          <p:nvPr/>
        </p:nvSpPr>
        <p:spPr>
          <a:xfrm>
            <a:off x="8922363" y="4095897"/>
            <a:ext cx="2334948" cy="922543"/>
          </a:xfrm>
          <a:prstGeom prst="rect">
            <a:avLst/>
          </a:prstGeom>
          <a:solidFill>
            <a:srgbClr val="E5F7EF"/>
          </a:solidFill>
          <a:ln w="15240">
            <a:solidFill>
              <a:srgbClr val="009E73"/>
            </a:solidFill>
            <a:prstDash val="solid"/>
          </a:ln>
        </p:spPr>
      </p:sp>
      <p:sp>
        <p:nvSpPr>
          <p:cNvPr id="24" name="Text 22"/>
          <p:cNvSpPr txBox="1"/>
          <p:nvPr/>
        </p:nvSpPr>
        <p:spPr>
          <a:xfrm>
            <a:off x="1314560" y="2799225"/>
            <a:ext cx="1574596" cy="233741"/>
          </a:xfrm>
          <a:prstGeom prst="rect">
            <a:avLst/>
          </a:prstGeom>
          <a:noFill/>
          <a:ln/>
        </p:spPr>
        <p:txBody>
          <a:bodyPr wrap="square" lIns="0" tIns="0" rIns="0" bIns="0" rtlCol="0" anchor="ctr"/>
          <a:lstStyle/>
          <a:p>
            <a:pPr algn="ctr" indent="0" marL="0">
              <a:lnSpc>
                <a:spcPct val="116000"/>
              </a:lnSpc>
              <a:buNone/>
            </a:pPr>
            <a:r>
              <a:rPr lang="en-US" sz="1587" b="1" dirty="0">
                <a:solidFill>
                  <a:srgbClr val="1E1B4B"/>
                </a:solidFill>
                <a:latin typeface="Arial" pitchFamily="34" charset="0"/>
                <a:ea typeface="Arial" pitchFamily="34" charset="-122"/>
                <a:cs typeface="Arial" pitchFamily="34" charset="-120"/>
              </a:rPr>
              <a:t>Count phrases</a:t>
            </a:r>
            <a:endParaRPr lang="en-US" sz="1587" dirty="0"/>
          </a:p>
        </p:txBody>
      </p:sp>
      <p:sp>
        <p:nvSpPr>
          <p:cNvPr id="25" name="Text 23"/>
          <p:cNvSpPr txBox="1"/>
          <p:nvPr/>
        </p:nvSpPr>
        <p:spPr>
          <a:xfrm>
            <a:off x="1314560" y="3032967"/>
            <a:ext cx="1574596" cy="233741"/>
          </a:xfrm>
          <a:prstGeom prst="rect">
            <a:avLst/>
          </a:prstGeom>
          <a:noFill/>
          <a:ln/>
        </p:spPr>
        <p:txBody>
          <a:bodyPr wrap="square" lIns="0" tIns="0" rIns="0" bIns="0" rtlCol="0" anchor="ctr"/>
          <a:lstStyle/>
          <a:p>
            <a:pPr algn="ctr" indent="0" marL="0">
              <a:lnSpc>
                <a:spcPct val="116000"/>
              </a:lnSpc>
              <a:buNone/>
            </a:pPr>
            <a:r>
              <a:rPr lang="en-US" sz="1587" b="1" dirty="0">
                <a:solidFill>
                  <a:srgbClr val="1E1B4B"/>
                </a:solidFill>
                <a:latin typeface="Arial" pitchFamily="34" charset="0"/>
                <a:ea typeface="Arial" pitchFamily="34" charset="-122"/>
                <a:cs typeface="Arial" pitchFamily="34" charset="-120"/>
              </a:rPr>
              <a:t>n-grams</a:t>
            </a:r>
            <a:endParaRPr lang="en-US" sz="1587" dirty="0"/>
          </a:p>
        </p:txBody>
      </p:sp>
      <p:sp>
        <p:nvSpPr>
          <p:cNvPr id="26" name="Text 24"/>
          <p:cNvSpPr txBox="1"/>
          <p:nvPr/>
        </p:nvSpPr>
        <p:spPr>
          <a:xfrm>
            <a:off x="1769452" y="2233666"/>
            <a:ext cx="664811" cy="233741"/>
          </a:xfrm>
          <a:prstGeom prst="rect">
            <a:avLst/>
          </a:prstGeom>
          <a:noFill/>
          <a:ln/>
        </p:spPr>
        <p:txBody>
          <a:bodyPr wrap="square" lIns="0" tIns="0" rIns="0" bIns="0" rtlCol="0" anchor="ctr"/>
          <a:lstStyle/>
          <a:p>
            <a:pPr algn="ctr" indent="0" marL="0">
              <a:lnSpc>
                <a:spcPct val="116000"/>
              </a:lnSpc>
              <a:buNone/>
            </a:pPr>
            <a:r>
              <a:rPr lang="en-US" sz="1587" b="1" dirty="0">
                <a:solidFill>
                  <a:srgbClr val="1E1B4B"/>
                </a:solidFill>
                <a:latin typeface="Arial" pitchFamily="34" charset="0"/>
                <a:ea typeface="Arial" pitchFamily="34" charset="-122"/>
                <a:cs typeface="Arial" pitchFamily="34" charset="-120"/>
              </a:rPr>
              <a:t>1990s</a:t>
            </a:r>
            <a:endParaRPr lang="en-US" sz="1587" dirty="0"/>
          </a:p>
        </p:txBody>
      </p:sp>
      <p:sp>
        <p:nvSpPr>
          <p:cNvPr id="27" name="Text 25"/>
          <p:cNvSpPr txBox="1"/>
          <p:nvPr/>
        </p:nvSpPr>
        <p:spPr>
          <a:xfrm>
            <a:off x="4045329" y="2799225"/>
            <a:ext cx="1438377" cy="233741"/>
          </a:xfrm>
          <a:prstGeom prst="rect">
            <a:avLst/>
          </a:prstGeom>
          <a:noFill/>
          <a:ln/>
        </p:spPr>
        <p:txBody>
          <a:bodyPr wrap="square" lIns="0" tIns="0" rIns="0" bIns="0" rtlCol="0" anchor="ctr"/>
          <a:lstStyle/>
          <a:p>
            <a:pPr algn="ctr" indent="0" marL="0">
              <a:lnSpc>
                <a:spcPct val="116000"/>
              </a:lnSpc>
              <a:buNone/>
            </a:pPr>
            <a:r>
              <a:rPr lang="en-US" sz="1587" b="1" dirty="0">
                <a:solidFill>
                  <a:srgbClr val="1E1B4B"/>
                </a:solidFill>
                <a:latin typeface="Arial" pitchFamily="34" charset="0"/>
                <a:ea typeface="Arial" pitchFamily="34" charset="-122"/>
                <a:cs typeface="Arial" pitchFamily="34" charset="-120"/>
              </a:rPr>
              <a:t>Word vectors</a:t>
            </a:r>
            <a:endParaRPr lang="en-US" sz="1587" dirty="0"/>
          </a:p>
        </p:txBody>
      </p:sp>
      <p:sp>
        <p:nvSpPr>
          <p:cNvPr id="28" name="Text 26"/>
          <p:cNvSpPr txBox="1"/>
          <p:nvPr/>
        </p:nvSpPr>
        <p:spPr>
          <a:xfrm>
            <a:off x="4045329" y="3032967"/>
            <a:ext cx="1438377" cy="233741"/>
          </a:xfrm>
          <a:prstGeom prst="rect">
            <a:avLst/>
          </a:prstGeom>
          <a:noFill/>
          <a:ln/>
        </p:spPr>
        <p:txBody>
          <a:bodyPr wrap="square" lIns="0" tIns="0" rIns="0" bIns="0" rtlCol="0" anchor="ctr"/>
          <a:lstStyle/>
          <a:p>
            <a:pPr algn="ctr" indent="0" marL="0">
              <a:lnSpc>
                <a:spcPct val="116000"/>
              </a:lnSpc>
              <a:buNone/>
            </a:pPr>
            <a:r>
              <a:rPr lang="en-US" sz="1587" b="1" dirty="0">
                <a:solidFill>
                  <a:srgbClr val="1E1B4B"/>
                </a:solidFill>
                <a:latin typeface="Arial" pitchFamily="34" charset="0"/>
                <a:ea typeface="Arial" pitchFamily="34" charset="-122"/>
                <a:cs typeface="Arial" pitchFamily="34" charset="-120"/>
              </a:rPr>
              <a:t>word2vec</a:t>
            </a:r>
            <a:endParaRPr lang="en-US" sz="1587" dirty="0"/>
          </a:p>
        </p:txBody>
      </p:sp>
      <p:sp>
        <p:nvSpPr>
          <p:cNvPr id="29" name="Text 27"/>
          <p:cNvSpPr txBox="1"/>
          <p:nvPr/>
        </p:nvSpPr>
        <p:spPr>
          <a:xfrm>
            <a:off x="4489526" y="2233666"/>
            <a:ext cx="549984" cy="233741"/>
          </a:xfrm>
          <a:prstGeom prst="rect">
            <a:avLst/>
          </a:prstGeom>
          <a:noFill/>
          <a:ln/>
        </p:spPr>
        <p:txBody>
          <a:bodyPr wrap="square" lIns="0" tIns="0" rIns="0" bIns="0" rtlCol="0" anchor="ctr"/>
          <a:lstStyle/>
          <a:p>
            <a:pPr algn="ctr" indent="0" marL="0">
              <a:lnSpc>
                <a:spcPct val="116000"/>
              </a:lnSpc>
              <a:buNone/>
            </a:pPr>
            <a:r>
              <a:rPr lang="en-US" sz="1587" b="1" dirty="0">
                <a:solidFill>
                  <a:srgbClr val="1E1B4B"/>
                </a:solidFill>
                <a:latin typeface="Arial" pitchFamily="34" charset="0"/>
                <a:ea typeface="Arial" pitchFamily="34" charset="-122"/>
                <a:cs typeface="Arial" pitchFamily="34" charset="-120"/>
              </a:rPr>
              <a:t>2013</a:t>
            </a:r>
            <a:endParaRPr lang="en-US" sz="1587" dirty="0"/>
          </a:p>
        </p:txBody>
      </p:sp>
      <p:sp>
        <p:nvSpPr>
          <p:cNvPr id="30" name="Text 28"/>
          <p:cNvSpPr txBox="1"/>
          <p:nvPr/>
        </p:nvSpPr>
        <p:spPr>
          <a:xfrm>
            <a:off x="6445556" y="2799225"/>
            <a:ext cx="1963242" cy="233741"/>
          </a:xfrm>
          <a:prstGeom prst="rect">
            <a:avLst/>
          </a:prstGeom>
          <a:noFill/>
          <a:ln/>
        </p:spPr>
        <p:txBody>
          <a:bodyPr wrap="square" lIns="0" tIns="0" rIns="0" bIns="0" rtlCol="0" anchor="ctr"/>
          <a:lstStyle/>
          <a:p>
            <a:pPr algn="ctr" indent="0" marL="0">
              <a:lnSpc>
                <a:spcPct val="116000"/>
              </a:lnSpc>
              <a:buNone/>
            </a:pPr>
            <a:r>
              <a:rPr lang="en-US" sz="1587" b="1" dirty="0">
                <a:solidFill>
                  <a:srgbClr val="1E1B4B"/>
                </a:solidFill>
                <a:latin typeface="Arial" pitchFamily="34" charset="0"/>
                <a:ea typeface="Arial" pitchFamily="34" charset="-122"/>
                <a:cs typeface="Arial" pitchFamily="34" charset="-120"/>
              </a:rPr>
              <a:t>Sequence memory</a:t>
            </a:r>
            <a:endParaRPr lang="en-US" sz="1587" dirty="0"/>
          </a:p>
        </p:txBody>
      </p:sp>
      <p:sp>
        <p:nvSpPr>
          <p:cNvPr id="31" name="Text 29"/>
          <p:cNvSpPr txBox="1"/>
          <p:nvPr/>
        </p:nvSpPr>
        <p:spPr>
          <a:xfrm>
            <a:off x="6445556" y="3032967"/>
            <a:ext cx="1963242" cy="233741"/>
          </a:xfrm>
          <a:prstGeom prst="rect">
            <a:avLst/>
          </a:prstGeom>
          <a:noFill/>
          <a:ln/>
        </p:spPr>
        <p:txBody>
          <a:bodyPr wrap="square" lIns="0" tIns="0" rIns="0" bIns="0" rtlCol="0" anchor="ctr"/>
          <a:lstStyle/>
          <a:p>
            <a:pPr algn="ctr" indent="0" marL="0">
              <a:lnSpc>
                <a:spcPct val="116000"/>
              </a:lnSpc>
              <a:buNone/>
            </a:pPr>
            <a:r>
              <a:rPr lang="en-US" sz="1587" b="1" dirty="0">
                <a:solidFill>
                  <a:srgbClr val="1E1B4B"/>
                </a:solidFill>
                <a:latin typeface="Arial" pitchFamily="34" charset="0"/>
                <a:ea typeface="Arial" pitchFamily="34" charset="-122"/>
                <a:cs typeface="Arial" pitchFamily="34" charset="-120"/>
              </a:rPr>
              <a:t>RNN + attention</a:t>
            </a:r>
            <a:endParaRPr lang="en-US" sz="1587" dirty="0"/>
          </a:p>
        </p:txBody>
      </p:sp>
      <p:sp>
        <p:nvSpPr>
          <p:cNvPr id="32" name="Text 30"/>
          <p:cNvSpPr txBox="1"/>
          <p:nvPr/>
        </p:nvSpPr>
        <p:spPr>
          <a:xfrm>
            <a:off x="6979944" y="2233666"/>
            <a:ext cx="894466" cy="233741"/>
          </a:xfrm>
          <a:prstGeom prst="rect">
            <a:avLst/>
          </a:prstGeom>
          <a:noFill/>
          <a:ln/>
        </p:spPr>
        <p:txBody>
          <a:bodyPr wrap="square" lIns="0" tIns="0" rIns="0" bIns="0" rtlCol="0" anchor="ctr"/>
          <a:lstStyle/>
          <a:p>
            <a:pPr algn="ctr" indent="0" marL="0">
              <a:lnSpc>
                <a:spcPct val="116000"/>
              </a:lnSpc>
              <a:buNone/>
            </a:pPr>
            <a:r>
              <a:rPr lang="en-US" sz="1587" b="1" dirty="0">
                <a:solidFill>
                  <a:srgbClr val="1E1B4B"/>
                </a:solidFill>
                <a:latin typeface="Arial" pitchFamily="34" charset="0"/>
                <a:ea typeface="Arial" pitchFamily="34" charset="-122"/>
                <a:cs typeface="Arial" pitchFamily="34" charset="-120"/>
              </a:rPr>
              <a:t>2014–15</a:t>
            </a:r>
            <a:endParaRPr lang="en-US" sz="1587" dirty="0"/>
          </a:p>
        </p:txBody>
      </p:sp>
      <p:sp>
        <p:nvSpPr>
          <p:cNvPr id="33" name="Text 31"/>
          <p:cNvSpPr txBox="1"/>
          <p:nvPr/>
        </p:nvSpPr>
        <p:spPr>
          <a:xfrm>
            <a:off x="9170046" y="2799225"/>
            <a:ext cx="1839582" cy="233741"/>
          </a:xfrm>
          <a:prstGeom prst="rect">
            <a:avLst/>
          </a:prstGeom>
          <a:noFill/>
          <a:ln/>
        </p:spPr>
        <p:txBody>
          <a:bodyPr wrap="square" lIns="0" tIns="0" rIns="0" bIns="0" rtlCol="0" anchor="ctr"/>
          <a:lstStyle/>
          <a:p>
            <a:pPr algn="ctr" indent="0" marL="0">
              <a:lnSpc>
                <a:spcPct val="116000"/>
              </a:lnSpc>
              <a:buNone/>
            </a:pPr>
            <a:r>
              <a:rPr lang="en-US" sz="1587" b="1" dirty="0">
                <a:solidFill>
                  <a:srgbClr val="1E1B4B"/>
                </a:solidFill>
                <a:latin typeface="Arial" pitchFamily="34" charset="0"/>
                <a:ea typeface="Arial" pitchFamily="34" charset="-122"/>
                <a:cs typeface="Arial" pitchFamily="34" charset="-120"/>
              </a:rPr>
              <a:t>Context attention</a:t>
            </a:r>
            <a:endParaRPr lang="en-US" sz="1587" dirty="0"/>
          </a:p>
        </p:txBody>
      </p:sp>
      <p:sp>
        <p:nvSpPr>
          <p:cNvPr id="34" name="Text 32"/>
          <p:cNvSpPr txBox="1"/>
          <p:nvPr/>
        </p:nvSpPr>
        <p:spPr>
          <a:xfrm>
            <a:off x="9170046" y="3032967"/>
            <a:ext cx="1839582" cy="233741"/>
          </a:xfrm>
          <a:prstGeom prst="rect">
            <a:avLst/>
          </a:prstGeom>
          <a:noFill/>
          <a:ln/>
        </p:spPr>
        <p:txBody>
          <a:bodyPr wrap="square" lIns="0" tIns="0" rIns="0" bIns="0" rtlCol="0" anchor="ctr"/>
          <a:lstStyle/>
          <a:p>
            <a:pPr algn="ctr" indent="0" marL="0">
              <a:lnSpc>
                <a:spcPct val="116000"/>
              </a:lnSpc>
              <a:buNone/>
            </a:pPr>
            <a:r>
              <a:rPr lang="en-US" sz="1587" b="1" dirty="0">
                <a:solidFill>
                  <a:srgbClr val="1E1B4B"/>
                </a:solidFill>
                <a:latin typeface="Arial" pitchFamily="34" charset="0"/>
                <a:ea typeface="Arial" pitchFamily="34" charset="-122"/>
                <a:cs typeface="Arial" pitchFamily="34" charset="-120"/>
              </a:rPr>
              <a:t>Transformer</a:t>
            </a:r>
            <a:endParaRPr lang="en-US" sz="1587" dirty="0"/>
          </a:p>
        </p:txBody>
      </p:sp>
      <p:sp>
        <p:nvSpPr>
          <p:cNvPr id="35" name="Text 33"/>
          <p:cNvSpPr txBox="1"/>
          <p:nvPr/>
        </p:nvSpPr>
        <p:spPr>
          <a:xfrm>
            <a:off x="9814845" y="2233666"/>
            <a:ext cx="549984" cy="233741"/>
          </a:xfrm>
          <a:prstGeom prst="rect">
            <a:avLst/>
          </a:prstGeom>
          <a:noFill/>
          <a:ln/>
        </p:spPr>
        <p:txBody>
          <a:bodyPr wrap="square" lIns="0" tIns="0" rIns="0" bIns="0" rtlCol="0" anchor="ctr"/>
          <a:lstStyle/>
          <a:p>
            <a:pPr algn="ctr" indent="0" marL="0">
              <a:lnSpc>
                <a:spcPct val="116000"/>
              </a:lnSpc>
              <a:buNone/>
            </a:pPr>
            <a:r>
              <a:rPr lang="en-US" sz="1587" b="1" dirty="0">
                <a:solidFill>
                  <a:srgbClr val="1E1B4B"/>
                </a:solidFill>
                <a:latin typeface="Arial" pitchFamily="34" charset="0"/>
                <a:ea typeface="Arial" pitchFamily="34" charset="-122"/>
                <a:cs typeface="Arial" pitchFamily="34" charset="-120"/>
              </a:rPr>
              <a:t>2017</a:t>
            </a:r>
            <a:endParaRPr lang="en-US" sz="1587" dirty="0"/>
          </a:p>
        </p:txBody>
      </p:sp>
      <p:sp>
        <p:nvSpPr>
          <p:cNvPr id="36" name="Text 34"/>
          <p:cNvSpPr txBox="1"/>
          <p:nvPr/>
        </p:nvSpPr>
        <p:spPr>
          <a:xfrm>
            <a:off x="1455886" y="4323427"/>
            <a:ext cx="1291945" cy="233741"/>
          </a:xfrm>
          <a:prstGeom prst="rect">
            <a:avLst/>
          </a:prstGeom>
          <a:noFill/>
          <a:ln/>
        </p:spPr>
        <p:txBody>
          <a:bodyPr wrap="square" lIns="0" tIns="0" rIns="0" bIns="0" rtlCol="0" anchor="ctr"/>
          <a:lstStyle/>
          <a:p>
            <a:pPr algn="ctr" indent="0" marL="0">
              <a:lnSpc>
                <a:spcPct val="116000"/>
              </a:lnSpc>
              <a:buNone/>
            </a:pPr>
            <a:r>
              <a:rPr lang="en-US" sz="1587" b="1" dirty="0">
                <a:solidFill>
                  <a:srgbClr val="1E1B4B"/>
                </a:solidFill>
                <a:latin typeface="Arial" pitchFamily="34" charset="0"/>
                <a:ea typeface="Arial" pitchFamily="34" charset="-122"/>
                <a:cs typeface="Arial" pitchFamily="34" charset="-120"/>
              </a:rPr>
              <a:t>Pre-train</a:t>
            </a:r>
            <a:endParaRPr lang="en-US" sz="1587" dirty="0"/>
          </a:p>
        </p:txBody>
      </p:sp>
      <p:sp>
        <p:nvSpPr>
          <p:cNvPr id="37" name="Text 35"/>
          <p:cNvSpPr txBox="1"/>
          <p:nvPr/>
        </p:nvSpPr>
        <p:spPr>
          <a:xfrm>
            <a:off x="1455886" y="4557169"/>
            <a:ext cx="1291945" cy="233741"/>
          </a:xfrm>
          <a:prstGeom prst="rect">
            <a:avLst/>
          </a:prstGeom>
          <a:noFill/>
          <a:ln/>
        </p:spPr>
        <p:txBody>
          <a:bodyPr wrap="square" lIns="0" tIns="0" rIns="0" bIns="0" rtlCol="0" anchor="ctr"/>
          <a:lstStyle/>
          <a:p>
            <a:pPr algn="ctr" indent="0" marL="0">
              <a:lnSpc>
                <a:spcPct val="116000"/>
              </a:lnSpc>
              <a:buNone/>
            </a:pPr>
            <a:r>
              <a:rPr lang="en-US" sz="1587" b="1" dirty="0">
                <a:solidFill>
                  <a:srgbClr val="1E1B4B"/>
                </a:solidFill>
                <a:latin typeface="Arial" pitchFamily="34" charset="0"/>
                <a:ea typeface="Arial" pitchFamily="34" charset="-122"/>
                <a:cs typeface="Arial" pitchFamily="34" charset="-120"/>
              </a:rPr>
              <a:t>BERT / GPT</a:t>
            </a:r>
            <a:endParaRPr lang="en-US" sz="1587" dirty="0"/>
          </a:p>
        </p:txBody>
      </p:sp>
      <p:sp>
        <p:nvSpPr>
          <p:cNvPr id="38" name="Text 36"/>
          <p:cNvSpPr txBox="1"/>
          <p:nvPr/>
        </p:nvSpPr>
        <p:spPr>
          <a:xfrm>
            <a:off x="1826866" y="3757868"/>
            <a:ext cx="549984" cy="233741"/>
          </a:xfrm>
          <a:prstGeom prst="rect">
            <a:avLst/>
          </a:prstGeom>
          <a:noFill/>
          <a:ln/>
        </p:spPr>
        <p:txBody>
          <a:bodyPr wrap="square" lIns="0" tIns="0" rIns="0" bIns="0" rtlCol="0" anchor="ctr"/>
          <a:lstStyle/>
          <a:p>
            <a:pPr algn="ctr" indent="0" marL="0">
              <a:lnSpc>
                <a:spcPct val="116000"/>
              </a:lnSpc>
              <a:buNone/>
            </a:pPr>
            <a:r>
              <a:rPr lang="en-US" sz="1587" b="1" dirty="0">
                <a:solidFill>
                  <a:srgbClr val="1E1B4B"/>
                </a:solidFill>
                <a:latin typeface="Arial" pitchFamily="34" charset="0"/>
                <a:ea typeface="Arial" pitchFamily="34" charset="-122"/>
                <a:cs typeface="Arial" pitchFamily="34" charset="-120"/>
              </a:rPr>
              <a:t>2018</a:t>
            </a:r>
            <a:endParaRPr lang="en-US" sz="1587" dirty="0"/>
          </a:p>
        </p:txBody>
      </p:sp>
      <p:sp>
        <p:nvSpPr>
          <p:cNvPr id="39" name="Text 37"/>
          <p:cNvSpPr txBox="1"/>
          <p:nvPr/>
        </p:nvSpPr>
        <p:spPr>
          <a:xfrm>
            <a:off x="3840310" y="4323427"/>
            <a:ext cx="1848415" cy="233741"/>
          </a:xfrm>
          <a:prstGeom prst="rect">
            <a:avLst/>
          </a:prstGeom>
          <a:noFill/>
          <a:ln/>
        </p:spPr>
        <p:txBody>
          <a:bodyPr wrap="square" lIns="0" tIns="0" rIns="0" bIns="0" rtlCol="0" anchor="ctr"/>
          <a:lstStyle/>
          <a:p>
            <a:pPr algn="ctr" indent="0" marL="0">
              <a:lnSpc>
                <a:spcPct val="116000"/>
              </a:lnSpc>
              <a:buNone/>
            </a:pPr>
            <a:r>
              <a:rPr lang="en-US" sz="1587" b="1" dirty="0">
                <a:solidFill>
                  <a:srgbClr val="1E1B4B"/>
                </a:solidFill>
                <a:latin typeface="Arial" pitchFamily="34" charset="0"/>
                <a:ea typeface="Arial" pitchFamily="34" charset="-122"/>
                <a:cs typeface="Arial" pitchFamily="34" charset="-120"/>
              </a:rPr>
              <a:t>Prompt examples</a:t>
            </a:r>
            <a:endParaRPr lang="en-US" sz="1587" dirty="0"/>
          </a:p>
        </p:txBody>
      </p:sp>
      <p:sp>
        <p:nvSpPr>
          <p:cNvPr id="40" name="Text 38"/>
          <p:cNvSpPr txBox="1"/>
          <p:nvPr/>
        </p:nvSpPr>
        <p:spPr>
          <a:xfrm>
            <a:off x="3840310" y="4557169"/>
            <a:ext cx="1848415" cy="233741"/>
          </a:xfrm>
          <a:prstGeom prst="rect">
            <a:avLst/>
          </a:prstGeom>
          <a:noFill/>
          <a:ln/>
        </p:spPr>
        <p:txBody>
          <a:bodyPr wrap="square" lIns="0" tIns="0" rIns="0" bIns="0" rtlCol="0" anchor="ctr"/>
          <a:lstStyle/>
          <a:p>
            <a:pPr algn="ctr" indent="0" marL="0">
              <a:lnSpc>
                <a:spcPct val="116000"/>
              </a:lnSpc>
              <a:buNone/>
            </a:pPr>
            <a:r>
              <a:rPr lang="en-US" sz="1587" b="1" dirty="0">
                <a:solidFill>
                  <a:srgbClr val="1E1B4B"/>
                </a:solidFill>
                <a:latin typeface="Arial" pitchFamily="34" charset="0"/>
                <a:ea typeface="Arial" pitchFamily="34" charset="-122"/>
                <a:cs typeface="Arial" pitchFamily="34" charset="-120"/>
              </a:rPr>
              <a:t>GPT-3</a:t>
            </a:r>
            <a:endParaRPr lang="en-US" sz="1587" dirty="0"/>
          </a:p>
        </p:txBody>
      </p:sp>
      <p:sp>
        <p:nvSpPr>
          <p:cNvPr id="41" name="Text 39"/>
          <p:cNvSpPr txBox="1"/>
          <p:nvPr/>
        </p:nvSpPr>
        <p:spPr>
          <a:xfrm>
            <a:off x="4489526" y="3757868"/>
            <a:ext cx="549984" cy="233741"/>
          </a:xfrm>
          <a:prstGeom prst="rect">
            <a:avLst/>
          </a:prstGeom>
          <a:noFill/>
          <a:ln/>
        </p:spPr>
        <p:txBody>
          <a:bodyPr wrap="square" lIns="0" tIns="0" rIns="0" bIns="0" rtlCol="0" anchor="ctr"/>
          <a:lstStyle/>
          <a:p>
            <a:pPr algn="ctr" indent="0" marL="0">
              <a:lnSpc>
                <a:spcPct val="116000"/>
              </a:lnSpc>
              <a:buNone/>
            </a:pPr>
            <a:r>
              <a:rPr lang="en-US" sz="1587" b="1" dirty="0">
                <a:solidFill>
                  <a:srgbClr val="1E1B4B"/>
                </a:solidFill>
                <a:latin typeface="Arial" pitchFamily="34" charset="0"/>
                <a:ea typeface="Arial" pitchFamily="34" charset="-122"/>
                <a:cs typeface="Arial" pitchFamily="34" charset="-120"/>
              </a:rPr>
              <a:t>2020</a:t>
            </a:r>
            <a:endParaRPr lang="en-US" sz="1587" dirty="0"/>
          </a:p>
        </p:txBody>
      </p:sp>
      <p:sp>
        <p:nvSpPr>
          <p:cNvPr id="42" name="Text 40"/>
          <p:cNvSpPr txBox="1"/>
          <p:nvPr/>
        </p:nvSpPr>
        <p:spPr>
          <a:xfrm>
            <a:off x="6547134" y="4323427"/>
            <a:ext cx="1760086" cy="233741"/>
          </a:xfrm>
          <a:prstGeom prst="rect">
            <a:avLst/>
          </a:prstGeom>
          <a:noFill/>
          <a:ln/>
        </p:spPr>
        <p:txBody>
          <a:bodyPr wrap="square" lIns="0" tIns="0" rIns="0" bIns="0" rtlCol="0" anchor="ctr"/>
          <a:lstStyle/>
          <a:p>
            <a:pPr algn="ctr" indent="0" marL="0">
              <a:lnSpc>
                <a:spcPct val="116000"/>
              </a:lnSpc>
              <a:buNone/>
            </a:pPr>
            <a:r>
              <a:rPr lang="en-US" sz="1587" b="1" dirty="0">
                <a:solidFill>
                  <a:srgbClr val="1E1B4B"/>
                </a:solidFill>
                <a:latin typeface="Arial" pitchFamily="34" charset="0"/>
                <a:ea typeface="Arial" pitchFamily="34" charset="-122"/>
                <a:cs typeface="Arial" pitchFamily="34" charset="-120"/>
              </a:rPr>
              <a:t>Assistant tuning</a:t>
            </a:r>
            <a:endParaRPr lang="en-US" sz="1587" dirty="0"/>
          </a:p>
        </p:txBody>
      </p:sp>
      <p:sp>
        <p:nvSpPr>
          <p:cNvPr id="43" name="Text 41"/>
          <p:cNvSpPr txBox="1"/>
          <p:nvPr/>
        </p:nvSpPr>
        <p:spPr>
          <a:xfrm>
            <a:off x="6547134" y="4557169"/>
            <a:ext cx="1760086" cy="233741"/>
          </a:xfrm>
          <a:prstGeom prst="rect">
            <a:avLst/>
          </a:prstGeom>
          <a:noFill/>
          <a:ln/>
        </p:spPr>
        <p:txBody>
          <a:bodyPr wrap="square" lIns="0" tIns="0" rIns="0" bIns="0" rtlCol="0" anchor="ctr"/>
          <a:lstStyle/>
          <a:p>
            <a:pPr algn="ctr" indent="0" marL="0">
              <a:lnSpc>
                <a:spcPct val="116000"/>
              </a:lnSpc>
              <a:buNone/>
            </a:pPr>
            <a:r>
              <a:rPr lang="en-US" sz="1587" b="1" dirty="0">
                <a:solidFill>
                  <a:srgbClr val="1E1B4B"/>
                </a:solidFill>
                <a:latin typeface="Arial" pitchFamily="34" charset="0"/>
                <a:ea typeface="Arial" pitchFamily="34" charset="-122"/>
                <a:cs typeface="Arial" pitchFamily="34" charset="-120"/>
              </a:rPr>
              <a:t>ChatGPT</a:t>
            </a:r>
            <a:endParaRPr lang="en-US" sz="1587" dirty="0"/>
          </a:p>
        </p:txBody>
      </p:sp>
      <p:sp>
        <p:nvSpPr>
          <p:cNvPr id="44" name="Text 42"/>
          <p:cNvSpPr txBox="1"/>
          <p:nvPr/>
        </p:nvSpPr>
        <p:spPr>
          <a:xfrm>
            <a:off x="7152185" y="3757868"/>
            <a:ext cx="549984" cy="233741"/>
          </a:xfrm>
          <a:prstGeom prst="rect">
            <a:avLst/>
          </a:prstGeom>
          <a:noFill/>
          <a:ln/>
        </p:spPr>
        <p:txBody>
          <a:bodyPr wrap="square" lIns="0" tIns="0" rIns="0" bIns="0" rtlCol="0" anchor="ctr"/>
          <a:lstStyle/>
          <a:p>
            <a:pPr algn="ctr" indent="0" marL="0">
              <a:lnSpc>
                <a:spcPct val="116000"/>
              </a:lnSpc>
              <a:buNone/>
            </a:pPr>
            <a:r>
              <a:rPr lang="en-US" sz="1587" b="1" dirty="0">
                <a:solidFill>
                  <a:srgbClr val="1E1B4B"/>
                </a:solidFill>
                <a:latin typeface="Arial" pitchFamily="34" charset="0"/>
                <a:ea typeface="Arial" pitchFamily="34" charset="-122"/>
                <a:cs typeface="Arial" pitchFamily="34" charset="-120"/>
              </a:rPr>
              <a:t>2022</a:t>
            </a:r>
            <a:endParaRPr lang="en-US" sz="1587" dirty="0"/>
          </a:p>
        </p:txBody>
      </p:sp>
      <p:sp>
        <p:nvSpPr>
          <p:cNvPr id="45" name="Text 43"/>
          <p:cNvSpPr txBox="1"/>
          <p:nvPr/>
        </p:nvSpPr>
        <p:spPr>
          <a:xfrm>
            <a:off x="9178879" y="4323427"/>
            <a:ext cx="1821916" cy="233741"/>
          </a:xfrm>
          <a:prstGeom prst="rect">
            <a:avLst/>
          </a:prstGeom>
          <a:noFill/>
          <a:ln/>
        </p:spPr>
        <p:txBody>
          <a:bodyPr wrap="square" lIns="0" tIns="0" rIns="0" bIns="0" rtlCol="0" anchor="ctr"/>
          <a:lstStyle/>
          <a:p>
            <a:pPr algn="ctr" indent="0" marL="0">
              <a:lnSpc>
                <a:spcPct val="116000"/>
              </a:lnSpc>
              <a:buNone/>
            </a:pPr>
            <a:r>
              <a:rPr lang="en-US" sz="1587" b="1" dirty="0">
                <a:solidFill>
                  <a:srgbClr val="1E1B4B"/>
                </a:solidFill>
                <a:latin typeface="Arial" pitchFamily="34" charset="0"/>
                <a:ea typeface="Arial" pitchFamily="34" charset="-122"/>
                <a:cs typeface="Arial" pitchFamily="34" charset="-120"/>
              </a:rPr>
              <a:t>More input types</a:t>
            </a:r>
            <a:endParaRPr lang="en-US" sz="1587" dirty="0"/>
          </a:p>
        </p:txBody>
      </p:sp>
      <p:sp>
        <p:nvSpPr>
          <p:cNvPr id="46" name="Text 44"/>
          <p:cNvSpPr txBox="1"/>
          <p:nvPr/>
        </p:nvSpPr>
        <p:spPr>
          <a:xfrm>
            <a:off x="9178879" y="4557169"/>
            <a:ext cx="1821916" cy="233741"/>
          </a:xfrm>
          <a:prstGeom prst="rect">
            <a:avLst/>
          </a:prstGeom>
          <a:noFill/>
          <a:ln/>
        </p:spPr>
        <p:txBody>
          <a:bodyPr wrap="square" lIns="0" tIns="0" rIns="0" bIns="0" rtlCol="0" anchor="ctr"/>
          <a:lstStyle/>
          <a:p>
            <a:pPr algn="ctr" indent="0" marL="0">
              <a:lnSpc>
                <a:spcPct val="116000"/>
              </a:lnSpc>
              <a:buNone/>
            </a:pPr>
            <a:r>
              <a:rPr lang="en-US" sz="1587" b="1" dirty="0">
                <a:solidFill>
                  <a:srgbClr val="1E1B4B"/>
                </a:solidFill>
                <a:latin typeface="Arial" pitchFamily="34" charset="0"/>
                <a:ea typeface="Arial" pitchFamily="34" charset="-122"/>
                <a:cs typeface="Arial" pitchFamily="34" charset="-120"/>
              </a:rPr>
              <a:t>Reasoning; tools</a:t>
            </a:r>
            <a:endParaRPr lang="en-US" sz="1587" dirty="0"/>
          </a:p>
        </p:txBody>
      </p:sp>
      <p:sp>
        <p:nvSpPr>
          <p:cNvPr id="47" name="Text 45"/>
          <p:cNvSpPr txBox="1"/>
          <p:nvPr/>
        </p:nvSpPr>
        <p:spPr>
          <a:xfrm>
            <a:off x="9753015" y="3757868"/>
            <a:ext cx="673644" cy="233741"/>
          </a:xfrm>
          <a:prstGeom prst="rect">
            <a:avLst/>
          </a:prstGeom>
          <a:noFill/>
          <a:ln/>
        </p:spPr>
        <p:txBody>
          <a:bodyPr wrap="square" lIns="0" tIns="0" rIns="0" bIns="0" rtlCol="0" anchor="ctr"/>
          <a:lstStyle/>
          <a:p>
            <a:pPr algn="ctr" indent="0" marL="0">
              <a:lnSpc>
                <a:spcPct val="116000"/>
              </a:lnSpc>
              <a:buNone/>
            </a:pPr>
            <a:r>
              <a:rPr lang="en-US" sz="1587" b="1" dirty="0">
                <a:solidFill>
                  <a:srgbClr val="1E1B4B"/>
                </a:solidFill>
                <a:latin typeface="Arial" pitchFamily="34" charset="0"/>
                <a:ea typeface="Arial" pitchFamily="34" charset="-122"/>
                <a:cs typeface="Arial" pitchFamily="34" charset="-120"/>
              </a:rPr>
              <a:t>2024+</a:t>
            </a:r>
            <a:endParaRPr lang="en-US" sz="1587" dirty="0"/>
          </a:p>
        </p:txBody>
      </p:sp>
      <p:sp>
        <p:nvSpPr>
          <p:cNvPr id="48" name="Text 46"/>
          <p:cNvSpPr txBox="1"/>
          <p:nvPr/>
        </p:nvSpPr>
        <p:spPr>
          <a:xfrm>
            <a:off x="934384" y="1668685"/>
            <a:ext cx="3307672" cy="261240"/>
          </a:xfrm>
          <a:prstGeom prst="rect">
            <a:avLst/>
          </a:prstGeom>
          <a:noFill/>
          <a:ln/>
        </p:spPr>
        <p:txBody>
          <a:bodyPr wrap="square" lIns="0" tIns="0" rIns="0" bIns="0" rtlCol="0" anchor="ctr"/>
          <a:lstStyle/>
          <a:p>
            <a:pPr algn="l" indent="0" marL="0">
              <a:lnSpc>
                <a:spcPct val="116000"/>
              </a:lnSpc>
              <a:buNone/>
            </a:pPr>
            <a:r>
              <a:rPr lang="en-US" sz="1773" b="1" dirty="0">
                <a:solidFill>
                  <a:srgbClr val="1E1B4B"/>
                </a:solidFill>
                <a:latin typeface="Arial" pitchFamily="34" charset="0"/>
                <a:ea typeface="Arial" pitchFamily="34" charset="-122"/>
                <a:cs typeface="Arial" pitchFamily="34" charset="-120"/>
              </a:rPr>
              <a:t>Older methods still have uses</a:t>
            </a:r>
            <a:endParaRPr lang="en-US" sz="1773"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06  ·  LARGE LANGUAGE MODELS (LLMS) AND FAMILIES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9</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Where it started: n-gram language models</a:t>
            </a:r>
            <a:endParaRPr lang="en-US" sz="3200" dirty="0"/>
          </a:p>
        </p:txBody>
      </p:sp>
      <p:sp>
        <p:nvSpPr>
          <p:cNvPr id="6" name="Shape 4"/>
          <p:cNvSpPr/>
          <p:nvPr/>
        </p:nvSpPr>
        <p:spPr>
          <a:xfrm>
            <a:off x="548640" y="1481328"/>
            <a:ext cx="11094415" cy="1325880"/>
          </a:xfrm>
          <a:prstGeom prst="roundRect">
            <a:avLst>
              <a:gd name="adj" fmla="val 8276"/>
            </a:avLst>
          </a:prstGeom>
          <a:solidFill>
            <a:srgbClr val="EEF0FF"/>
          </a:solidFill>
          <a:ln w="12700">
            <a:solidFill>
              <a:srgbClr val="EEF0FF"/>
            </a:solidFill>
            <a:prstDash val="solid"/>
          </a:ln>
        </p:spPr>
      </p:sp>
      <p:pic>
        <p:nvPicPr>
          <p:cNvPr id="7" name="Image 0" descr="C:\Users\sudee\Downloads\Generative_AI_2027_Teaching_Pack\AI2027_Project\build\eq\ffcb2db10b7a1782.png">    </p:cNvPr>
          <p:cNvPicPr>
            <a:picLocks noChangeAspect="1"/>
          </p:cNvPicPr>
          <p:nvPr/>
        </p:nvPicPr>
        <p:blipFill>
          <a:blip r:embed="rId1"/>
          <a:stretch>
            <a:fillRect/>
          </a:stretch>
        </p:blipFill>
        <p:spPr>
          <a:xfrm>
            <a:off x="2679040" y="1766316"/>
            <a:ext cx="6833616" cy="755904"/>
          </a:xfrm>
          <a:prstGeom prst="rect">
            <a:avLst/>
          </a:prstGeom>
        </p:spPr>
      </p:pic>
      <p:sp>
        <p:nvSpPr>
          <p:cNvPr id="8" name="Text 5"/>
          <p:cNvSpPr txBox="1"/>
          <p:nvPr/>
        </p:nvSpPr>
        <p:spPr>
          <a:xfrm>
            <a:off x="548640" y="3035808"/>
            <a:ext cx="6035040" cy="365760"/>
          </a:xfrm>
          <a:prstGeom prst="rect">
            <a:avLst/>
          </a:prstGeom>
          <a:noFill/>
          <a:ln/>
        </p:spPr>
        <p:txBody>
          <a:bodyPr wrap="square" lIns="50800" tIns="50800" rIns="50800" bIns="50800" rtlCol="0" anchor="t"/>
          <a:lstStyle/>
          <a:p>
            <a:pPr indent="0" marL="0">
              <a:buNone/>
            </a:pPr>
            <a:r>
              <a:rPr lang="en-US" sz="1500" b="1" dirty="0">
                <a:solidFill>
                  <a:srgbClr val="4F46E5"/>
                </a:solidFill>
                <a:latin typeface="Calibri" pitchFamily="34" charset="0"/>
                <a:ea typeface="Calibri" pitchFamily="34" charset="-122"/>
                <a:cs typeface="Calibri" pitchFamily="34" charset="-120"/>
              </a:rPr>
              <a:t>Read it as</a:t>
            </a:r>
            <a:endParaRPr lang="en-US" sz="1500" dirty="0"/>
          </a:p>
        </p:txBody>
      </p:sp>
      <p:sp>
        <p:nvSpPr>
          <p:cNvPr id="9" name="Text 6"/>
          <p:cNvSpPr txBox="1"/>
          <p:nvPr/>
        </p:nvSpPr>
        <p:spPr>
          <a:xfrm>
            <a:off x="548640" y="3419856"/>
            <a:ext cx="6035040" cy="2862072"/>
          </a:xfrm>
          <a:prstGeom prst="rect">
            <a:avLst/>
          </a:prstGeom>
          <a:noFill/>
          <a:ln/>
        </p:spPr>
        <p:txBody>
          <a:bodyPr wrap="square" lIns="50800" tIns="50800" rIns="50800" bIns="50800" rtlCol="0" anchor="t"/>
          <a:lstStyle/>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Trigram: two preceding words.</a:t>
            </a:r>
            <a:endParaRPr lang="en-US" sz="2000" dirty="0"/>
          </a:p>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Illustration: 6 continuations / 10 contexts = 0.6.</a:t>
            </a:r>
            <a:endParaRPr lang="en-US" sz="2000" dirty="0"/>
          </a:p>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Unseen contexts need smoothing.</a:t>
            </a:r>
            <a:endParaRPr lang="en-US" sz="2000" dirty="0"/>
          </a:p>
        </p:txBody>
      </p:sp>
      <p:sp>
        <p:nvSpPr>
          <p:cNvPr id="10" name="Text 7"/>
          <p:cNvSpPr txBox="1"/>
          <p:nvPr/>
        </p:nvSpPr>
        <p:spPr>
          <a:xfrm>
            <a:off x="6858000" y="3035808"/>
            <a:ext cx="4785055" cy="365760"/>
          </a:xfrm>
          <a:prstGeom prst="rect">
            <a:avLst/>
          </a:prstGeom>
          <a:noFill/>
          <a:ln/>
        </p:spPr>
        <p:txBody>
          <a:bodyPr wrap="square" lIns="50800" tIns="50800" rIns="50800" bIns="50800" rtlCol="0" anchor="t"/>
          <a:lstStyle/>
          <a:p>
            <a:pPr indent="0" marL="0">
              <a:buNone/>
            </a:pPr>
            <a:r>
              <a:rPr lang="en-US" sz="1500" b="1" dirty="0">
                <a:solidFill>
                  <a:srgbClr val="4F46E5"/>
                </a:solidFill>
                <a:latin typeface="Calibri" pitchFamily="34" charset="0"/>
                <a:ea typeface="Calibri" pitchFamily="34" charset="-122"/>
                <a:cs typeface="Calibri" pitchFamily="34" charset="-120"/>
              </a:rPr>
              <a:t>Symbols</a:t>
            </a:r>
            <a:endParaRPr lang="en-US" sz="1500" dirty="0"/>
          </a:p>
        </p:txBody>
      </p:sp>
      <p:sp>
        <p:nvSpPr>
          <p:cNvPr id="11" name="Text 8"/>
          <p:cNvSpPr txBox="1"/>
          <p:nvPr/>
        </p:nvSpPr>
        <p:spPr>
          <a:xfrm>
            <a:off x="6858000" y="3447288"/>
            <a:ext cx="1143000" cy="685800"/>
          </a:xfrm>
          <a:prstGeom prst="rect">
            <a:avLst/>
          </a:prstGeom>
          <a:noFill/>
          <a:ln/>
        </p:spPr>
        <p:txBody>
          <a:bodyPr wrap="square" lIns="50800" tIns="50800" rIns="50800" bIns="50800" rtlCol="0" anchor="ctr"/>
          <a:lstStyle/>
          <a:p>
            <a:pPr indent="0" marL="0">
              <a:buNone/>
            </a:pPr>
            <a:r>
              <a:rPr lang="en-US" sz="1800" b="1" dirty="0">
                <a:solidFill>
                  <a:srgbClr val="1E1B4B"/>
                </a:solidFill>
                <a:latin typeface="Cambria Math" pitchFamily="34" charset="0"/>
                <a:ea typeface="Cambria Math" pitchFamily="34" charset="-122"/>
                <a:cs typeface="Cambria Math" pitchFamily="34" charset="-120"/>
              </a:rPr>
              <a:t>p</a:t>
            </a:r>
            <a:endParaRPr lang="en-US" sz="1800" dirty="0"/>
          </a:p>
        </p:txBody>
      </p:sp>
      <p:sp>
        <p:nvSpPr>
          <p:cNvPr id="12" name="Text 9"/>
          <p:cNvSpPr txBox="1"/>
          <p:nvPr/>
        </p:nvSpPr>
        <p:spPr>
          <a:xfrm>
            <a:off x="8046720" y="3447288"/>
            <a:ext cx="3596335" cy="685800"/>
          </a:xfrm>
          <a:prstGeom prst="rect">
            <a:avLst/>
          </a:prstGeom>
          <a:noFill/>
          <a:ln/>
        </p:spPr>
        <p:txBody>
          <a:bodyPr wrap="square" lIns="50800" tIns="50800" rIns="50800" bIns="5080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probability</a:t>
            </a:r>
            <a:endParaRPr lang="en-US" sz="1700" dirty="0"/>
          </a:p>
        </p:txBody>
      </p:sp>
      <p:sp>
        <p:nvSpPr>
          <p:cNvPr id="13" name="Text 10"/>
          <p:cNvSpPr txBox="1"/>
          <p:nvPr/>
        </p:nvSpPr>
        <p:spPr>
          <a:xfrm>
            <a:off x="6858000" y="4133088"/>
            <a:ext cx="1143000" cy="685800"/>
          </a:xfrm>
          <a:prstGeom prst="rect">
            <a:avLst/>
          </a:prstGeom>
          <a:noFill/>
          <a:ln/>
        </p:spPr>
        <p:txBody>
          <a:bodyPr wrap="square" lIns="50800" tIns="50800" rIns="50800" bIns="50800" rtlCol="0" anchor="ctr"/>
          <a:lstStyle/>
          <a:p>
            <a:pPr indent="0" marL="0">
              <a:buNone/>
            </a:pPr>
            <a:r>
              <a:rPr lang="en-US" sz="1800" b="1" dirty="0">
                <a:solidFill>
                  <a:srgbClr val="1E1B4B"/>
                </a:solidFill>
                <a:latin typeface="Cambria Math" pitchFamily="34" charset="0"/>
                <a:ea typeface="Cambria Math" pitchFamily="34" charset="-122"/>
                <a:cs typeface="Cambria Math" pitchFamily="34" charset="-120"/>
              </a:rPr>
              <a:t>wₜ / t</a:t>
            </a:r>
            <a:endParaRPr lang="en-US" sz="1800" dirty="0"/>
          </a:p>
        </p:txBody>
      </p:sp>
      <p:sp>
        <p:nvSpPr>
          <p:cNvPr id="14" name="Text 11"/>
          <p:cNvSpPr txBox="1"/>
          <p:nvPr/>
        </p:nvSpPr>
        <p:spPr>
          <a:xfrm>
            <a:off x="8046720" y="4133088"/>
            <a:ext cx="3596335" cy="685800"/>
          </a:xfrm>
          <a:prstGeom prst="rect">
            <a:avLst/>
          </a:prstGeom>
          <a:noFill/>
          <a:ln/>
        </p:spPr>
        <p:txBody>
          <a:bodyPr wrap="square" lIns="50800" tIns="50800" rIns="50800" bIns="5080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word / position</a:t>
            </a:r>
            <a:endParaRPr lang="en-US" sz="1700" dirty="0"/>
          </a:p>
        </p:txBody>
      </p:sp>
      <p:sp>
        <p:nvSpPr>
          <p:cNvPr id="15" name="Text 12"/>
          <p:cNvSpPr txBox="1"/>
          <p:nvPr/>
        </p:nvSpPr>
        <p:spPr>
          <a:xfrm>
            <a:off x="6858000" y="4818888"/>
            <a:ext cx="1143000" cy="685800"/>
          </a:xfrm>
          <a:prstGeom prst="rect">
            <a:avLst/>
          </a:prstGeom>
          <a:noFill/>
          <a:ln/>
        </p:spPr>
        <p:txBody>
          <a:bodyPr wrap="square" lIns="50800" tIns="50800" rIns="50800" bIns="50800" rtlCol="0" anchor="ctr"/>
          <a:lstStyle/>
          <a:p>
            <a:pPr indent="0" marL="0">
              <a:buNone/>
            </a:pPr>
            <a:r>
              <a:rPr lang="en-US" sz="1800" b="1" dirty="0">
                <a:solidFill>
                  <a:srgbClr val="1E1B4B"/>
                </a:solidFill>
                <a:latin typeface="Cambria Math" pitchFamily="34" charset="0"/>
                <a:ea typeface="Cambria Math" pitchFamily="34" charset="-122"/>
                <a:cs typeface="Cambria Math" pitchFamily="34" charset="-120"/>
              </a:rPr>
              <a:t>n</a:t>
            </a:r>
            <a:endParaRPr lang="en-US" sz="1800" dirty="0"/>
          </a:p>
        </p:txBody>
      </p:sp>
      <p:sp>
        <p:nvSpPr>
          <p:cNvPr id="16" name="Text 13"/>
          <p:cNvSpPr txBox="1"/>
          <p:nvPr/>
        </p:nvSpPr>
        <p:spPr>
          <a:xfrm>
            <a:off x="8046720" y="4818888"/>
            <a:ext cx="3596335" cy="685800"/>
          </a:xfrm>
          <a:prstGeom prst="rect">
            <a:avLst/>
          </a:prstGeom>
          <a:noFill/>
          <a:ln/>
        </p:spPr>
        <p:txBody>
          <a:bodyPr wrap="square" lIns="50800" tIns="50800" rIns="50800" bIns="5080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word count including prediction</a:t>
            </a:r>
            <a:endParaRPr lang="en-US" sz="1700" dirty="0"/>
          </a:p>
        </p:txBody>
      </p:sp>
      <p:sp>
        <p:nvSpPr>
          <p:cNvPr id="17" name="Text 14"/>
          <p:cNvSpPr txBox="1"/>
          <p:nvPr/>
        </p:nvSpPr>
        <p:spPr>
          <a:xfrm>
            <a:off x="6858000" y="5504688"/>
            <a:ext cx="1143000" cy="685800"/>
          </a:xfrm>
          <a:prstGeom prst="rect">
            <a:avLst/>
          </a:prstGeom>
          <a:noFill/>
          <a:ln/>
        </p:spPr>
        <p:txBody>
          <a:bodyPr wrap="square" lIns="50800" tIns="50800" rIns="50800" bIns="50800" rtlCol="0" anchor="ctr"/>
          <a:lstStyle/>
          <a:p>
            <a:pPr indent="0" marL="0">
              <a:buNone/>
            </a:pPr>
            <a:r>
              <a:rPr lang="en-US" sz="1800" b="1" dirty="0">
                <a:solidFill>
                  <a:srgbClr val="1E1B4B"/>
                </a:solidFill>
                <a:latin typeface="Cambria Math" pitchFamily="34" charset="0"/>
                <a:ea typeface="Cambria Math" pitchFamily="34" charset="-122"/>
                <a:cs typeface="Cambria Math" pitchFamily="34" charset="-120"/>
              </a:rPr>
              <a:t>count</a:t>
            </a:r>
            <a:endParaRPr lang="en-US" sz="1800" dirty="0"/>
          </a:p>
        </p:txBody>
      </p:sp>
      <p:sp>
        <p:nvSpPr>
          <p:cNvPr id="18" name="Text 15"/>
          <p:cNvSpPr txBox="1"/>
          <p:nvPr/>
        </p:nvSpPr>
        <p:spPr>
          <a:xfrm>
            <a:off x="8046720" y="5504688"/>
            <a:ext cx="3596335" cy="685800"/>
          </a:xfrm>
          <a:prstGeom prst="rect">
            <a:avLst/>
          </a:prstGeom>
          <a:noFill/>
          <a:ln/>
        </p:spPr>
        <p:txBody>
          <a:bodyPr wrap="square" lIns="50800" tIns="50800" rIns="50800" bIns="5080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observed occurrences</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06  ·  LARGE LANGUAGE MODELS (LLMS) AND FAMILIES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10</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Each generation fixed a limitation of the last</a:t>
            </a:r>
            <a:endParaRPr lang="en-US" sz="3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11094415" cy="914400"/>
        </p:xfrm>
        <a:graphic>
          <a:graphicData uri="http://schemas.openxmlformats.org/drawingml/2006/table">
            <a:tbl>
              <a:tblPr/>
              <a:tblGrid>
                <a:gridCol w="2832617"/>
                <a:gridCol w="4721028"/>
                <a:gridCol w="3540771"/>
              </a:tblGrid>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Method</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Representation</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Limit</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n-gram</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Counts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Unseen phrases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Word vectors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Fixed features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Word senses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RNN/LSTM</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Recurrent state</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Sequential work</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Transformer</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Contextual attention</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Cost; errors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E1B4B"/>
        </a:solidFill>
      </p:bgPr>
    </p:bg>
    <p:spTree>
      <p:nvGrpSpPr>
        <p:cNvPr id="1" name=""/>
        <p:cNvGrpSpPr/>
        <p:nvPr/>
      </p:nvGrpSpPr>
      <p:grpSpPr>
        <a:xfrm>
          <a:off x="0" y="0"/>
          <a:ext cx="0" cy="0"/>
          <a:chOff x="0" y="0"/>
          <a:chExt cx="0" cy="0"/>
        </a:xfrm>
      </p:grpSpPr>
      <p:sp>
        <p:nvSpPr>
          <p:cNvPr id="2" name="Text 0"/>
          <p:cNvSpPr txBox="1"/>
          <p:nvPr/>
        </p:nvSpPr>
        <p:spPr>
          <a:xfrm>
            <a:off x="731520" y="1188720"/>
            <a:ext cx="2926080" cy="1828800"/>
          </a:xfrm>
          <a:prstGeom prst="rect">
            <a:avLst/>
          </a:prstGeom>
          <a:noFill/>
          <a:ln/>
        </p:spPr>
        <p:txBody>
          <a:bodyPr wrap="square" lIns="0" tIns="0" rIns="0" bIns="0" rtlCol="0" anchor="t"/>
          <a:lstStyle/>
          <a:p>
            <a:pPr indent="0" marL="0">
              <a:buNone/>
            </a:pPr>
            <a:r>
              <a:rPr lang="en-US" sz="11000" b="1" dirty="0">
                <a:solidFill>
                  <a:srgbClr val="EA580C"/>
                </a:solidFill>
                <a:latin typeface="Calibri" pitchFamily="34" charset="0"/>
                <a:ea typeface="Calibri" pitchFamily="34" charset="-122"/>
                <a:cs typeface="Calibri" pitchFamily="34" charset="-120"/>
              </a:rPr>
              <a:t>02</a:t>
            </a:r>
            <a:endParaRPr lang="en-US" sz="11000" dirty="0"/>
          </a:p>
        </p:txBody>
      </p:sp>
      <p:sp>
        <p:nvSpPr>
          <p:cNvPr id="3" name="Text 1"/>
          <p:cNvSpPr txBox="1"/>
          <p:nvPr/>
        </p:nvSpPr>
        <p:spPr>
          <a:xfrm>
            <a:off x="731520" y="3063240"/>
            <a:ext cx="10515600" cy="1463040"/>
          </a:xfrm>
          <a:prstGeom prst="rect">
            <a:avLst/>
          </a:prstGeom>
          <a:noFill/>
          <a:ln/>
        </p:spPr>
        <p:txBody>
          <a:bodyPr wrap="square" lIns="0" tIns="0" rIns="0" bIns="0" rtlCol="0" anchor="t"/>
          <a:lstStyle/>
          <a:p>
            <a:pPr indent="0" marL="0">
              <a:buNone/>
            </a:pPr>
            <a:r>
              <a:rPr lang="en-US" sz="4100" b="1" dirty="0">
                <a:solidFill>
                  <a:srgbClr val="FFFFFF"/>
                </a:solidFill>
                <a:latin typeface="Calibri" pitchFamily="34" charset="0"/>
                <a:ea typeface="Calibri" pitchFamily="34" charset="-122"/>
                <a:cs typeface="Calibri" pitchFamily="34" charset="-120"/>
              </a:rPr>
              <a:t>From transformer to LLM: data, scale, context</a:t>
            </a:r>
            <a:endParaRPr lang="en-US" sz="4100" dirty="0"/>
          </a:p>
        </p:txBody>
      </p:sp>
      <p:sp>
        <p:nvSpPr>
          <p:cNvPr id="4" name="Text 2"/>
          <p:cNvSpPr txBox="1"/>
          <p:nvPr/>
        </p:nvSpPr>
        <p:spPr>
          <a:xfrm>
            <a:off x="731520" y="4617720"/>
            <a:ext cx="10515600" cy="1097280"/>
          </a:xfrm>
          <a:prstGeom prst="rect">
            <a:avLst/>
          </a:prstGeom>
          <a:noFill/>
          <a:ln/>
        </p:spPr>
        <p:txBody>
          <a:bodyPr wrap="square" lIns="0" tIns="0" rIns="0" bIns="0" rtlCol="0" anchor="t"/>
          <a:lstStyle/>
          <a:p>
            <a:pPr indent="0" marL="0">
              <a:buNone/>
            </a:pPr>
            <a:r>
              <a:rPr lang="en-US" sz="2200" i="1" dirty="0">
                <a:solidFill>
                  <a:srgbClr val="C7D2FE"/>
                </a:solidFill>
                <a:latin typeface="Calibri" pitchFamily="34" charset="0"/>
                <a:ea typeface="Calibri" pitchFamily="34" charset="-122"/>
                <a:cs typeface="Calibri" pitchFamily="34" charset="-120"/>
              </a:rPr>
              <a:t>What turns a transformer into a large language model?</a:t>
            </a:r>
            <a:endParaRPr lang="en-US" sz="2200" dirty="0"/>
          </a:p>
        </p:txBody>
      </p:sp>
      <p:sp>
        <p:nvSpPr>
          <p:cNvPr id="5" name="Shape 3"/>
          <p:cNvSpPr/>
          <p:nvPr/>
        </p:nvSpPr>
        <p:spPr>
          <a:xfrm>
            <a:off x="9692640" y="1097280"/>
            <a:ext cx="1554480" cy="1554480"/>
          </a:xfrm>
          <a:prstGeom prst="ellipse">
            <a:avLst/>
          </a:prstGeom>
          <a:solidFill>
            <a:srgbClr val="4F46E5"/>
          </a:solidFill>
          <a:ln w="12700">
            <a:solidFill>
              <a:srgbClr val="4F46E5"/>
            </a:solidFill>
            <a:prstDash val="solid"/>
          </a:ln>
        </p:spPr>
      </p:sp>
      <p:pic>
        <p:nvPicPr>
          <p:cNvPr id="6" name="Image 0" descr="preencoded.png">    </p:cNvPr>
          <p:cNvPicPr>
            <a:picLocks noChangeAspect="1"/>
          </p:cNvPicPr>
          <p:nvPr/>
        </p:nvPicPr>
        <p:blipFill>
          <a:blip r:embed="rId1"/>
          <a:stretch>
            <a:fillRect/>
          </a:stretch>
        </p:blipFill>
        <p:spPr>
          <a:xfrm>
            <a:off x="10065715" y="1470355"/>
            <a:ext cx="808330" cy="80833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06  ·  LARGE LANGUAGE MODELS (LLMS) AND FAMILIES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12</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How pre-training learns a language model</a:t>
            </a:r>
            <a:endParaRPr lang="en-US" sz="3200" dirty="0"/>
          </a:p>
        </p:txBody>
      </p:sp>
      <p:sp>
        <p:nvSpPr>
          <p:cNvPr id="6" name="Text 4"/>
          <p:cNvSpPr txBox="1"/>
          <p:nvPr/>
        </p:nvSpPr>
        <p:spPr>
          <a:xfrm>
            <a:off x="548640" y="1463040"/>
            <a:ext cx="11094415" cy="384048"/>
          </a:xfrm>
          <a:prstGeom prst="rect">
            <a:avLst/>
          </a:prstGeom>
          <a:noFill/>
          <a:ln/>
        </p:spPr>
        <p:txBody>
          <a:bodyPr wrap="square" lIns="0" tIns="0" rIns="0" bIns="0" rtlCol="0" anchor="t"/>
          <a:lstStyle/>
          <a:p>
            <a:pPr indent="0" marL="0">
              <a:buNone/>
            </a:pPr>
            <a:r>
              <a:rPr lang="en-US" sz="1800" dirty="0">
                <a:solidFill>
                  <a:srgbClr val="6B7280"/>
                </a:solidFill>
                <a:latin typeface="Calibri" pitchFamily="34" charset="0"/>
                <a:ea typeface="Calibri" pitchFamily="34" charset="-122"/>
                <a:cs typeface="Calibri" pitchFamily="34" charset="-120"/>
              </a:rPr>
              <a:t>Developer training; lab scores</a:t>
            </a:r>
            <a:endParaRPr lang="en-US" sz="1800" dirty="0"/>
          </a:p>
        </p:txBody>
      </p:sp>
      <p:sp>
        <p:nvSpPr>
          <p:cNvPr id="7" name="Shape 5"/>
          <p:cNvSpPr/>
          <p:nvPr/>
        </p:nvSpPr>
        <p:spPr>
          <a:xfrm>
            <a:off x="2354146" y="3838927"/>
            <a:ext cx="244024" cy="0"/>
          </a:xfrm>
          <a:prstGeom prst="line">
            <a:avLst/>
          </a:prstGeom>
          <a:noFill/>
          <a:ln w="22860">
            <a:solidFill>
              <a:srgbClr val="009E73"/>
            </a:solidFill>
            <a:prstDash val="solid"/>
            <a:tailEnd type="triangle"/>
          </a:ln>
        </p:spPr>
      </p:sp>
      <p:sp>
        <p:nvSpPr>
          <p:cNvPr id="8" name="Text 6"/>
          <p:cNvSpPr txBox="1"/>
          <p:nvPr/>
        </p:nvSpPr>
        <p:spPr>
          <a:xfrm>
            <a:off x="1675454"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clean text</a:t>
            </a:r>
            <a:endParaRPr lang="en-US" sz="1441" dirty="0"/>
          </a:p>
        </p:txBody>
      </p:sp>
      <p:sp>
        <p:nvSpPr>
          <p:cNvPr id="9" name="Shape 7"/>
          <p:cNvSpPr/>
          <p:nvPr/>
        </p:nvSpPr>
        <p:spPr>
          <a:xfrm>
            <a:off x="4163991" y="3838927"/>
            <a:ext cx="244024" cy="0"/>
          </a:xfrm>
          <a:prstGeom prst="line">
            <a:avLst/>
          </a:prstGeom>
          <a:noFill/>
          <a:ln w="22860">
            <a:solidFill>
              <a:srgbClr val="009E73"/>
            </a:solidFill>
            <a:prstDash val="solid"/>
            <a:tailEnd type="triangle"/>
          </a:ln>
        </p:spPr>
      </p:sp>
      <p:sp>
        <p:nvSpPr>
          <p:cNvPr id="10" name="Text 8"/>
          <p:cNvSpPr txBox="1"/>
          <p:nvPr/>
        </p:nvSpPr>
        <p:spPr>
          <a:xfrm>
            <a:off x="3485299"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IDs</a:t>
            </a:r>
            <a:endParaRPr lang="en-US" sz="1441" dirty="0"/>
          </a:p>
        </p:txBody>
      </p:sp>
      <p:sp>
        <p:nvSpPr>
          <p:cNvPr id="11" name="Shape 9"/>
          <p:cNvSpPr/>
          <p:nvPr/>
        </p:nvSpPr>
        <p:spPr>
          <a:xfrm>
            <a:off x="5973836" y="3838927"/>
            <a:ext cx="244024" cy="0"/>
          </a:xfrm>
          <a:prstGeom prst="line">
            <a:avLst/>
          </a:prstGeom>
          <a:noFill/>
          <a:ln w="22860">
            <a:solidFill>
              <a:srgbClr val="009E73"/>
            </a:solidFill>
            <a:prstDash val="solid"/>
            <a:tailEnd type="triangle"/>
          </a:ln>
        </p:spPr>
      </p:sp>
      <p:sp>
        <p:nvSpPr>
          <p:cNvPr id="12" name="Text 10"/>
          <p:cNvSpPr txBox="1"/>
          <p:nvPr/>
        </p:nvSpPr>
        <p:spPr>
          <a:xfrm>
            <a:off x="5295144"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logits</a:t>
            </a:r>
            <a:endParaRPr lang="en-US" sz="1441" dirty="0"/>
          </a:p>
        </p:txBody>
      </p:sp>
      <p:sp>
        <p:nvSpPr>
          <p:cNvPr id="13" name="Shape 11"/>
          <p:cNvSpPr/>
          <p:nvPr/>
        </p:nvSpPr>
        <p:spPr>
          <a:xfrm>
            <a:off x="7783680" y="3838927"/>
            <a:ext cx="244024" cy="0"/>
          </a:xfrm>
          <a:prstGeom prst="line">
            <a:avLst/>
          </a:prstGeom>
          <a:noFill/>
          <a:ln w="22860">
            <a:solidFill>
              <a:srgbClr val="009E73"/>
            </a:solidFill>
            <a:prstDash val="solid"/>
            <a:tailEnd type="triangle"/>
          </a:ln>
        </p:spPr>
      </p:sp>
      <p:sp>
        <p:nvSpPr>
          <p:cNvPr id="14" name="Text 12"/>
          <p:cNvSpPr txBox="1"/>
          <p:nvPr/>
        </p:nvSpPr>
        <p:spPr>
          <a:xfrm>
            <a:off x="7104989"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loss</a:t>
            </a:r>
            <a:endParaRPr lang="en-US" sz="1441" dirty="0"/>
          </a:p>
        </p:txBody>
      </p:sp>
      <p:sp>
        <p:nvSpPr>
          <p:cNvPr id="15" name="Shape 13"/>
          <p:cNvSpPr/>
          <p:nvPr/>
        </p:nvSpPr>
        <p:spPr>
          <a:xfrm>
            <a:off x="9593525" y="3838927"/>
            <a:ext cx="244024" cy="0"/>
          </a:xfrm>
          <a:prstGeom prst="line">
            <a:avLst/>
          </a:prstGeom>
          <a:noFill/>
          <a:ln w="22860">
            <a:solidFill>
              <a:srgbClr val="009E73"/>
            </a:solidFill>
            <a:prstDash val="solid"/>
            <a:tailEnd type="triangle"/>
          </a:ln>
        </p:spPr>
      </p:sp>
      <p:sp>
        <p:nvSpPr>
          <p:cNvPr id="16" name="Text 14"/>
          <p:cNvSpPr txBox="1"/>
          <p:nvPr/>
        </p:nvSpPr>
        <p:spPr>
          <a:xfrm>
            <a:off x="8914834"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weights</a:t>
            </a:r>
            <a:endParaRPr lang="en-US" sz="1441" dirty="0"/>
          </a:p>
        </p:txBody>
      </p:sp>
      <p:sp>
        <p:nvSpPr>
          <p:cNvPr id="17" name="Shape 15"/>
          <p:cNvSpPr/>
          <p:nvPr/>
        </p:nvSpPr>
        <p:spPr>
          <a:xfrm>
            <a:off x="3381080" y="4738766"/>
            <a:ext cx="0" cy="198270"/>
          </a:xfrm>
          <a:prstGeom prst="line">
            <a:avLst/>
          </a:prstGeom>
          <a:noFill/>
          <a:ln w="22860">
            <a:solidFill>
              <a:srgbClr val="0072B2"/>
            </a:solidFill>
            <a:prstDash val="solid"/>
          </a:ln>
        </p:spPr>
      </p:sp>
      <p:sp>
        <p:nvSpPr>
          <p:cNvPr id="18" name="Shape 16"/>
          <p:cNvSpPr/>
          <p:nvPr/>
        </p:nvSpPr>
        <p:spPr>
          <a:xfrm>
            <a:off x="3381080" y="4937035"/>
            <a:ext cx="3619690" cy="0"/>
          </a:xfrm>
          <a:prstGeom prst="line">
            <a:avLst/>
          </a:prstGeom>
          <a:noFill/>
          <a:ln w="22860">
            <a:solidFill>
              <a:srgbClr val="0072B2"/>
            </a:solidFill>
            <a:prstDash val="solid"/>
          </a:ln>
        </p:spPr>
      </p:sp>
      <p:sp>
        <p:nvSpPr>
          <p:cNvPr id="19" name="Shape 17"/>
          <p:cNvSpPr/>
          <p:nvPr/>
        </p:nvSpPr>
        <p:spPr>
          <a:xfrm flipV="1">
            <a:off x="7000770" y="4738766"/>
            <a:ext cx="0" cy="198270"/>
          </a:xfrm>
          <a:prstGeom prst="line">
            <a:avLst/>
          </a:prstGeom>
          <a:noFill/>
          <a:ln w="22860">
            <a:solidFill>
              <a:srgbClr val="0072B2"/>
            </a:solidFill>
            <a:prstDash val="solid"/>
            <a:tailEnd type="triangle"/>
          </a:ln>
        </p:spPr>
      </p:sp>
      <p:sp>
        <p:nvSpPr>
          <p:cNvPr id="20" name="Text 18"/>
          <p:cNvSpPr txBox="1"/>
          <p:nvPr/>
        </p:nvSpPr>
        <p:spPr>
          <a:xfrm>
            <a:off x="4870888" y="4967538"/>
            <a:ext cx="640074" cy="228773"/>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targets</a:t>
            </a:r>
            <a:endParaRPr lang="en-US" sz="1441" dirty="0"/>
          </a:p>
        </p:txBody>
      </p:sp>
      <p:sp>
        <p:nvSpPr>
          <p:cNvPr id="21" name="Shape 19"/>
          <p:cNvSpPr/>
          <p:nvPr/>
        </p:nvSpPr>
        <p:spPr>
          <a:xfrm flipV="1">
            <a:off x="8810615" y="2191765"/>
            <a:ext cx="0" cy="747324"/>
          </a:xfrm>
          <a:prstGeom prst="line">
            <a:avLst/>
          </a:prstGeom>
          <a:noFill/>
          <a:ln w="22860">
            <a:solidFill>
              <a:srgbClr val="D55E00"/>
            </a:solidFill>
            <a:prstDash val="dash"/>
          </a:ln>
        </p:spPr>
      </p:sp>
      <p:sp>
        <p:nvSpPr>
          <p:cNvPr id="22" name="Shape 20"/>
          <p:cNvSpPr/>
          <p:nvPr/>
        </p:nvSpPr>
        <p:spPr>
          <a:xfrm flipH="1">
            <a:off x="5190925" y="2191765"/>
            <a:ext cx="3619690" cy="0"/>
          </a:xfrm>
          <a:prstGeom prst="line">
            <a:avLst/>
          </a:prstGeom>
          <a:noFill/>
          <a:ln w="22860">
            <a:solidFill>
              <a:srgbClr val="D55E00"/>
            </a:solidFill>
            <a:prstDash val="dash"/>
          </a:ln>
        </p:spPr>
      </p:sp>
      <p:sp>
        <p:nvSpPr>
          <p:cNvPr id="23" name="Shape 21"/>
          <p:cNvSpPr/>
          <p:nvPr/>
        </p:nvSpPr>
        <p:spPr>
          <a:xfrm>
            <a:off x="5190925" y="2191765"/>
            <a:ext cx="0" cy="747324"/>
          </a:xfrm>
          <a:prstGeom prst="line">
            <a:avLst/>
          </a:prstGeom>
          <a:noFill/>
          <a:ln w="22860">
            <a:solidFill>
              <a:srgbClr val="D55E00"/>
            </a:solidFill>
            <a:prstDash val="dash"/>
            <a:tailEnd type="triangle"/>
          </a:ln>
        </p:spPr>
      </p:sp>
      <p:sp>
        <p:nvSpPr>
          <p:cNvPr id="24" name="Text 22"/>
          <p:cNvSpPr txBox="1"/>
          <p:nvPr/>
        </p:nvSpPr>
        <p:spPr>
          <a:xfrm>
            <a:off x="6664916" y="1917238"/>
            <a:ext cx="671708" cy="228773"/>
          </a:xfrm>
          <a:prstGeom prst="rect">
            <a:avLst/>
          </a:prstGeom>
          <a:noFill/>
          <a:ln/>
        </p:spPr>
        <p:txBody>
          <a:bodyPr wrap="square" lIns="0" tIns="0" rIns="0" bIns="0" rtlCol="0" anchor="ctr"/>
          <a:lstStyle/>
          <a:p>
            <a:pPr algn="ctr" indent="0" marL="0">
              <a:lnSpc>
                <a:spcPct val="116000"/>
              </a:lnSpc>
              <a:buNone/>
            </a:pPr>
            <a:r>
              <a:rPr lang="en-US" sz="1441" dirty="0">
                <a:solidFill>
                  <a:srgbClr val="A64200"/>
                </a:solidFill>
                <a:latin typeface="Arial" pitchFamily="34" charset="0"/>
                <a:ea typeface="Arial" pitchFamily="34" charset="-122"/>
                <a:cs typeface="Arial" pitchFamily="34" charset="-120"/>
              </a:rPr>
              <a:t>Repeat</a:t>
            </a:r>
            <a:endParaRPr lang="en-US" sz="1441" dirty="0"/>
          </a:p>
        </p:txBody>
      </p:sp>
      <p:sp>
        <p:nvSpPr>
          <p:cNvPr id="25" name="Shape 23"/>
          <p:cNvSpPr/>
          <p:nvPr/>
        </p:nvSpPr>
        <p:spPr>
          <a:xfrm>
            <a:off x="788325" y="2939089"/>
            <a:ext cx="1565821" cy="1799677"/>
          </a:xfrm>
          <a:prstGeom prst="roundRect">
            <a:avLst>
              <a:gd name="adj" fmla="val 4672"/>
            </a:avLst>
          </a:prstGeom>
          <a:solidFill>
            <a:srgbClr val="E4F2FB"/>
          </a:solidFill>
          <a:ln w="15240">
            <a:solidFill>
              <a:srgbClr val="0072B2"/>
            </a:solidFill>
            <a:prstDash val="solid"/>
          </a:ln>
        </p:spPr>
      </p:sp>
      <p:sp>
        <p:nvSpPr>
          <p:cNvPr id="26" name="Text 24"/>
          <p:cNvSpPr txBox="1"/>
          <p:nvPr/>
        </p:nvSpPr>
        <p:spPr>
          <a:xfrm>
            <a:off x="849331" y="3579652"/>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Text</a:t>
            </a:r>
            <a:endParaRPr lang="en-US" sz="1561" dirty="0"/>
          </a:p>
        </p:txBody>
      </p:sp>
      <p:sp>
        <p:nvSpPr>
          <p:cNvPr id="27" name="Text 25"/>
          <p:cNvSpPr txBox="1"/>
          <p:nvPr/>
        </p:nvSpPr>
        <p:spPr>
          <a:xfrm>
            <a:off x="849331" y="3885902"/>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sources</a:t>
            </a:r>
            <a:endParaRPr lang="en-US" sz="1441" dirty="0"/>
          </a:p>
        </p:txBody>
      </p:sp>
      <p:sp>
        <p:nvSpPr>
          <p:cNvPr id="28" name="Shape 26"/>
          <p:cNvSpPr/>
          <p:nvPr/>
        </p:nvSpPr>
        <p:spPr>
          <a:xfrm>
            <a:off x="2598170" y="2939089"/>
            <a:ext cx="1565821" cy="1799677"/>
          </a:xfrm>
          <a:prstGeom prst="rect">
            <a:avLst/>
          </a:prstGeom>
          <a:solidFill>
            <a:srgbClr val="F2F4F5"/>
          </a:solidFill>
          <a:ln w="15240">
            <a:solidFill>
              <a:srgbClr val="626B73"/>
            </a:solidFill>
            <a:prstDash val="solid"/>
          </a:ln>
        </p:spPr>
      </p:sp>
      <p:sp>
        <p:nvSpPr>
          <p:cNvPr id="29" name="Text 27"/>
          <p:cNvSpPr txBox="1"/>
          <p:nvPr/>
        </p:nvSpPr>
        <p:spPr>
          <a:xfrm>
            <a:off x="2659176" y="3579652"/>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Shift</a:t>
            </a:r>
            <a:endParaRPr lang="en-US" sz="1561" dirty="0"/>
          </a:p>
        </p:txBody>
      </p:sp>
      <p:sp>
        <p:nvSpPr>
          <p:cNvPr id="30" name="Text 28"/>
          <p:cNvSpPr txBox="1"/>
          <p:nvPr/>
        </p:nvSpPr>
        <p:spPr>
          <a:xfrm>
            <a:off x="2659176" y="3885902"/>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targets</a:t>
            </a:r>
            <a:endParaRPr lang="en-US" sz="1441" dirty="0"/>
          </a:p>
        </p:txBody>
      </p:sp>
      <p:sp>
        <p:nvSpPr>
          <p:cNvPr id="31" name="Shape 29"/>
          <p:cNvSpPr/>
          <p:nvPr/>
        </p:nvSpPr>
        <p:spPr>
          <a:xfrm>
            <a:off x="4408015" y="2939089"/>
            <a:ext cx="1565821" cy="1799677"/>
          </a:xfrm>
          <a:prstGeom prst="rect">
            <a:avLst/>
          </a:prstGeom>
          <a:solidFill>
            <a:srgbClr val="E5F7EF"/>
          </a:solidFill>
          <a:ln w="15240">
            <a:solidFill>
              <a:srgbClr val="009E73"/>
            </a:solidFill>
            <a:prstDash val="solid"/>
          </a:ln>
        </p:spPr>
      </p:sp>
      <p:sp>
        <p:nvSpPr>
          <p:cNvPr id="32" name="Text 30"/>
          <p:cNvSpPr txBox="1"/>
          <p:nvPr/>
        </p:nvSpPr>
        <p:spPr>
          <a:xfrm>
            <a:off x="4469021" y="3579652"/>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Predict</a:t>
            </a:r>
            <a:endParaRPr lang="en-US" sz="1561" dirty="0"/>
          </a:p>
        </p:txBody>
      </p:sp>
      <p:sp>
        <p:nvSpPr>
          <p:cNvPr id="33" name="Text 31"/>
          <p:cNvSpPr txBox="1"/>
          <p:nvPr/>
        </p:nvSpPr>
        <p:spPr>
          <a:xfrm>
            <a:off x="4469021" y="3885902"/>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[B,L,V]</a:t>
            </a:r>
            <a:endParaRPr lang="en-US" sz="1441" dirty="0"/>
          </a:p>
        </p:txBody>
      </p:sp>
      <p:sp>
        <p:nvSpPr>
          <p:cNvPr id="34" name="Shape 32"/>
          <p:cNvSpPr/>
          <p:nvPr/>
        </p:nvSpPr>
        <p:spPr>
          <a:xfrm>
            <a:off x="6217860" y="2939089"/>
            <a:ext cx="1565821" cy="1799677"/>
          </a:xfrm>
          <a:prstGeom prst="roundRect">
            <a:avLst>
              <a:gd name="adj" fmla="val 4672"/>
            </a:avLst>
          </a:prstGeom>
          <a:solidFill>
            <a:srgbClr val="FFF0E6"/>
          </a:solidFill>
          <a:ln w="15240">
            <a:solidFill>
              <a:srgbClr val="D55E00"/>
            </a:solidFill>
            <a:prstDash val="solid"/>
          </a:ln>
        </p:spPr>
      </p:sp>
      <p:sp>
        <p:nvSpPr>
          <p:cNvPr id="35" name="Text 33"/>
          <p:cNvSpPr txBox="1"/>
          <p:nvPr/>
        </p:nvSpPr>
        <p:spPr>
          <a:xfrm>
            <a:off x="6278866" y="3579652"/>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Loss</a:t>
            </a:r>
            <a:endParaRPr lang="en-US" sz="1561" dirty="0"/>
          </a:p>
        </p:txBody>
      </p:sp>
      <p:sp>
        <p:nvSpPr>
          <p:cNvPr id="36" name="Text 34"/>
          <p:cNvSpPr txBox="1"/>
          <p:nvPr/>
        </p:nvSpPr>
        <p:spPr>
          <a:xfrm>
            <a:off x="6278866" y="3885902"/>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cross-entropy</a:t>
            </a:r>
            <a:endParaRPr lang="en-US" sz="1441" dirty="0"/>
          </a:p>
        </p:txBody>
      </p:sp>
      <p:sp>
        <p:nvSpPr>
          <p:cNvPr id="37" name="Shape 35"/>
          <p:cNvSpPr/>
          <p:nvPr/>
        </p:nvSpPr>
        <p:spPr>
          <a:xfrm>
            <a:off x="8027705" y="2939089"/>
            <a:ext cx="1565821" cy="1799677"/>
          </a:xfrm>
          <a:prstGeom prst="rect">
            <a:avLst/>
          </a:prstGeom>
          <a:solidFill>
            <a:srgbClr val="F2F4F5"/>
          </a:solidFill>
          <a:ln w="15240">
            <a:solidFill>
              <a:srgbClr val="626B73"/>
            </a:solidFill>
            <a:prstDash val="solid"/>
          </a:ln>
        </p:spPr>
      </p:sp>
      <p:sp>
        <p:nvSpPr>
          <p:cNvPr id="38" name="Text 36"/>
          <p:cNvSpPr txBox="1"/>
          <p:nvPr/>
        </p:nvSpPr>
        <p:spPr>
          <a:xfrm>
            <a:off x="8088711" y="3579652"/>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Update</a:t>
            </a:r>
            <a:endParaRPr lang="en-US" sz="1561" dirty="0"/>
          </a:p>
        </p:txBody>
      </p:sp>
      <p:sp>
        <p:nvSpPr>
          <p:cNvPr id="39" name="Text 37"/>
          <p:cNvSpPr txBox="1"/>
          <p:nvPr/>
        </p:nvSpPr>
        <p:spPr>
          <a:xfrm>
            <a:off x="8088711" y="3885902"/>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gradients</a:t>
            </a:r>
            <a:endParaRPr lang="en-US" sz="1441" dirty="0"/>
          </a:p>
        </p:txBody>
      </p:sp>
      <p:sp>
        <p:nvSpPr>
          <p:cNvPr id="40" name="Shape 38"/>
          <p:cNvSpPr/>
          <p:nvPr/>
        </p:nvSpPr>
        <p:spPr>
          <a:xfrm>
            <a:off x="9837549" y="2939089"/>
            <a:ext cx="1565821" cy="1799677"/>
          </a:xfrm>
          <a:prstGeom prst="rect">
            <a:avLst/>
          </a:prstGeom>
          <a:solidFill>
            <a:srgbClr val="E5F7EF"/>
          </a:solidFill>
          <a:ln w="15240">
            <a:solidFill>
              <a:srgbClr val="009E73"/>
            </a:solidFill>
            <a:prstDash val="solid"/>
          </a:ln>
        </p:spPr>
      </p:sp>
      <p:sp>
        <p:nvSpPr>
          <p:cNvPr id="41" name="Text 39"/>
          <p:cNvSpPr txBox="1"/>
          <p:nvPr/>
        </p:nvSpPr>
        <p:spPr>
          <a:xfrm>
            <a:off x="9898555" y="3579652"/>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Post-train</a:t>
            </a:r>
            <a:endParaRPr lang="en-US" sz="1561" dirty="0"/>
          </a:p>
        </p:txBody>
      </p:sp>
      <p:sp>
        <p:nvSpPr>
          <p:cNvPr id="42" name="Text 40"/>
          <p:cNvSpPr txBox="1"/>
          <p:nvPr/>
        </p:nvSpPr>
        <p:spPr>
          <a:xfrm>
            <a:off x="9898555" y="3885902"/>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instructions</a:t>
            </a:r>
            <a:endParaRPr lang="en-US" sz="1441" dirty="0"/>
          </a:p>
        </p:txBody>
      </p:sp>
      <p:sp>
        <p:nvSpPr>
          <p:cNvPr id="43" name="Shape 41"/>
          <p:cNvSpPr/>
          <p:nvPr/>
        </p:nvSpPr>
        <p:spPr>
          <a:xfrm>
            <a:off x="788325" y="5630979"/>
            <a:ext cx="198270" cy="198270"/>
          </a:xfrm>
          <a:prstGeom prst="roundRect">
            <a:avLst>
              <a:gd name="adj" fmla="val 36895"/>
            </a:avLst>
          </a:prstGeom>
          <a:solidFill>
            <a:srgbClr val="E4F2FB"/>
          </a:solidFill>
          <a:ln w="15240">
            <a:solidFill>
              <a:srgbClr val="0072B2"/>
            </a:solidFill>
            <a:prstDash val="solid"/>
          </a:ln>
        </p:spPr>
      </p:sp>
      <p:sp>
        <p:nvSpPr>
          <p:cNvPr id="44" name="Text 42"/>
          <p:cNvSpPr txBox="1"/>
          <p:nvPr/>
        </p:nvSpPr>
        <p:spPr>
          <a:xfrm>
            <a:off x="1047600" y="5608101"/>
            <a:ext cx="430566"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Data</a:t>
            </a:r>
            <a:endParaRPr lang="en-US" sz="1441" dirty="0"/>
          </a:p>
        </p:txBody>
      </p:sp>
      <p:sp>
        <p:nvSpPr>
          <p:cNvPr id="45" name="Shape 43"/>
          <p:cNvSpPr/>
          <p:nvPr/>
        </p:nvSpPr>
        <p:spPr>
          <a:xfrm>
            <a:off x="1676436" y="5630979"/>
            <a:ext cx="198270" cy="198270"/>
          </a:xfrm>
          <a:prstGeom prst="rect">
            <a:avLst/>
          </a:prstGeom>
          <a:solidFill>
            <a:srgbClr val="E5F7EF"/>
          </a:solidFill>
          <a:ln w="15240">
            <a:solidFill>
              <a:srgbClr val="009E73"/>
            </a:solidFill>
            <a:prstDash val="solid"/>
          </a:ln>
        </p:spPr>
      </p:sp>
      <p:sp>
        <p:nvSpPr>
          <p:cNvPr id="46" name="Text 44"/>
          <p:cNvSpPr txBox="1"/>
          <p:nvPr/>
        </p:nvSpPr>
        <p:spPr>
          <a:xfrm>
            <a:off x="1935711" y="5608101"/>
            <a:ext cx="546304"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Model</a:t>
            </a:r>
            <a:endParaRPr lang="en-US" sz="1441" dirty="0"/>
          </a:p>
        </p:txBody>
      </p:sp>
      <p:sp>
        <p:nvSpPr>
          <p:cNvPr id="47" name="Shape 45"/>
          <p:cNvSpPr/>
          <p:nvPr/>
        </p:nvSpPr>
        <p:spPr>
          <a:xfrm>
            <a:off x="2680284" y="5630979"/>
            <a:ext cx="198270" cy="198270"/>
          </a:xfrm>
          <a:prstGeom prst="roundRect">
            <a:avLst>
              <a:gd name="adj" fmla="val 36895"/>
            </a:avLst>
          </a:prstGeom>
          <a:solidFill>
            <a:srgbClr val="FFF0E6"/>
          </a:solidFill>
          <a:ln w="15240">
            <a:solidFill>
              <a:srgbClr val="D55E00"/>
            </a:solidFill>
            <a:prstDash val="solid"/>
          </a:ln>
        </p:spPr>
      </p:sp>
      <p:sp>
        <p:nvSpPr>
          <p:cNvPr id="48" name="Text 46"/>
          <p:cNvSpPr txBox="1"/>
          <p:nvPr/>
        </p:nvSpPr>
        <p:spPr>
          <a:xfrm>
            <a:off x="2939560" y="5608101"/>
            <a:ext cx="430566"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Loss</a:t>
            </a:r>
            <a:endParaRPr lang="en-US" sz="1441" dirty="0"/>
          </a:p>
        </p:txBody>
      </p:sp>
      <p:sp>
        <p:nvSpPr>
          <p:cNvPr id="49" name="Shape 47"/>
          <p:cNvSpPr/>
          <p:nvPr/>
        </p:nvSpPr>
        <p:spPr>
          <a:xfrm>
            <a:off x="3568395" y="5630979"/>
            <a:ext cx="198270" cy="198270"/>
          </a:xfrm>
          <a:prstGeom prst="rect">
            <a:avLst/>
          </a:prstGeom>
          <a:solidFill>
            <a:srgbClr val="F2F4F5"/>
          </a:solidFill>
          <a:ln w="15240">
            <a:solidFill>
              <a:srgbClr val="626B73"/>
            </a:solidFill>
            <a:prstDash val="solid"/>
          </a:ln>
        </p:spPr>
      </p:sp>
      <p:sp>
        <p:nvSpPr>
          <p:cNvPr id="50" name="Text 48"/>
          <p:cNvSpPr txBox="1"/>
          <p:nvPr/>
        </p:nvSpPr>
        <p:spPr>
          <a:xfrm>
            <a:off x="3827671" y="5608101"/>
            <a:ext cx="398932"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Tool</a:t>
            </a:r>
            <a:endParaRPr lang="en-US" sz="1441" dirty="0"/>
          </a:p>
        </p:txBody>
      </p:sp>
      <p:sp>
        <p:nvSpPr>
          <p:cNvPr id="51" name="Shape 49"/>
          <p:cNvSpPr/>
          <p:nvPr/>
        </p:nvSpPr>
        <p:spPr>
          <a:xfrm>
            <a:off x="4424872" y="5730113"/>
            <a:ext cx="335533" cy="0"/>
          </a:xfrm>
          <a:prstGeom prst="line">
            <a:avLst/>
          </a:prstGeom>
          <a:noFill/>
          <a:ln w="22860">
            <a:solidFill>
              <a:srgbClr val="009E73"/>
            </a:solidFill>
            <a:prstDash val="solid"/>
            <a:tailEnd type="triangle"/>
          </a:ln>
        </p:spPr>
      </p:sp>
      <p:sp>
        <p:nvSpPr>
          <p:cNvPr id="52" name="Text 50"/>
          <p:cNvSpPr txBox="1"/>
          <p:nvPr/>
        </p:nvSpPr>
        <p:spPr>
          <a:xfrm>
            <a:off x="4821411" y="5608101"/>
            <a:ext cx="430376"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Flow</a:t>
            </a:r>
            <a:endParaRPr lang="en-US" sz="1441" dirty="0"/>
          </a:p>
        </p:txBody>
      </p:sp>
      <p:sp>
        <p:nvSpPr>
          <p:cNvPr id="53" name="Shape 51"/>
          <p:cNvSpPr/>
          <p:nvPr/>
        </p:nvSpPr>
        <p:spPr>
          <a:xfrm>
            <a:off x="5450057" y="5730113"/>
            <a:ext cx="335533" cy="0"/>
          </a:xfrm>
          <a:prstGeom prst="line">
            <a:avLst/>
          </a:prstGeom>
          <a:noFill/>
          <a:ln w="22860">
            <a:solidFill>
              <a:srgbClr val="D55E00"/>
            </a:solidFill>
            <a:prstDash val="dash"/>
            <a:tailEnd type="triangle"/>
          </a:ln>
        </p:spPr>
      </p:sp>
      <p:sp>
        <p:nvSpPr>
          <p:cNvPr id="54" name="Text 52"/>
          <p:cNvSpPr txBox="1"/>
          <p:nvPr/>
        </p:nvSpPr>
        <p:spPr>
          <a:xfrm>
            <a:off x="5846596" y="5608101"/>
            <a:ext cx="641205"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Repeat</a:t>
            </a:r>
            <a:endParaRPr lang="en-US" sz="1441" dirty="0"/>
          </a:p>
        </p:txBody>
      </p:sp>
      <p:sp>
        <p:nvSpPr>
          <p:cNvPr id="55" name="Text 53"/>
          <p:cNvSpPr txBox="1"/>
          <p:nvPr/>
        </p:nvSpPr>
        <p:spPr>
          <a:xfrm>
            <a:off x="548640" y="5925312"/>
            <a:ext cx="11094415" cy="475488"/>
          </a:xfrm>
          <a:prstGeom prst="rect">
            <a:avLst/>
          </a:prstGeom>
          <a:noFill/>
          <a:ln/>
        </p:spPr>
        <p:txBody>
          <a:bodyPr wrap="square" lIns="0" tIns="0" rIns="0" bIns="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Check: Does scoring update weights?</a:t>
            </a:r>
            <a:endParaRPr lang="en-US" sz="1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06  ·  LARGE LANGUAGE MODELS (LLMS) AND FAMILIES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13</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The LLM pipeline, in more detail</a:t>
            </a:r>
            <a:endParaRPr lang="en-US" sz="3200" dirty="0"/>
          </a:p>
        </p:txBody>
      </p:sp>
      <p:sp>
        <p:nvSpPr>
          <p:cNvPr id="6" name="Shape 4"/>
          <p:cNvSpPr/>
          <p:nvPr/>
        </p:nvSpPr>
        <p:spPr>
          <a:xfrm>
            <a:off x="2681233" y="3514007"/>
            <a:ext cx="246543" cy="0"/>
          </a:xfrm>
          <a:prstGeom prst="line">
            <a:avLst/>
          </a:prstGeom>
          <a:noFill/>
          <a:ln w="22860">
            <a:solidFill>
              <a:srgbClr val="009E73"/>
            </a:solidFill>
            <a:prstDash val="solid"/>
            <a:tailEnd type="triangle"/>
          </a:ln>
        </p:spPr>
      </p:sp>
      <p:sp>
        <p:nvSpPr>
          <p:cNvPr id="7" name="Text 5"/>
          <p:cNvSpPr txBox="1"/>
          <p:nvPr/>
        </p:nvSpPr>
        <p:spPr>
          <a:xfrm>
            <a:off x="1995537" y="2513660"/>
            <a:ext cx="1617936" cy="214492"/>
          </a:xfrm>
          <a:prstGeom prst="rect">
            <a:avLst/>
          </a:prstGeom>
          <a:noFill/>
          <a:ln/>
        </p:spPr>
        <p:txBody>
          <a:bodyPr wrap="square" lIns="0" tIns="0" rIns="0" bIns="0" rtlCol="0" anchor="ctr"/>
          <a:lstStyle/>
          <a:p>
            <a:pPr algn="ctr" indent="0" marL="0">
              <a:lnSpc>
                <a:spcPct val="116000"/>
              </a:lnSpc>
              <a:buNone/>
            </a:pPr>
            <a:r>
              <a:rPr lang="en-US" sz="1456" dirty="0">
                <a:solidFill>
                  <a:srgbClr val="0072B2"/>
                </a:solidFill>
                <a:latin typeface="Arial" pitchFamily="34" charset="0"/>
                <a:ea typeface="Arial" pitchFamily="34" charset="-122"/>
                <a:cs typeface="Arial" pitchFamily="34" charset="-120"/>
              </a:rPr>
              <a:t>text</a:t>
            </a:r>
            <a:endParaRPr lang="en-US" sz="1456" dirty="0"/>
          </a:p>
        </p:txBody>
      </p:sp>
      <p:sp>
        <p:nvSpPr>
          <p:cNvPr id="8" name="Shape 6"/>
          <p:cNvSpPr/>
          <p:nvPr/>
        </p:nvSpPr>
        <p:spPr>
          <a:xfrm>
            <a:off x="4875462" y="3514007"/>
            <a:ext cx="246543" cy="0"/>
          </a:xfrm>
          <a:prstGeom prst="line">
            <a:avLst/>
          </a:prstGeom>
          <a:noFill/>
          <a:ln w="22860">
            <a:solidFill>
              <a:srgbClr val="009E73"/>
            </a:solidFill>
            <a:prstDash val="solid"/>
            <a:tailEnd type="triangle"/>
          </a:ln>
        </p:spPr>
      </p:sp>
      <p:sp>
        <p:nvSpPr>
          <p:cNvPr id="9" name="Text 7"/>
          <p:cNvSpPr txBox="1"/>
          <p:nvPr/>
        </p:nvSpPr>
        <p:spPr>
          <a:xfrm>
            <a:off x="4189765" y="2513660"/>
            <a:ext cx="1617936" cy="214492"/>
          </a:xfrm>
          <a:prstGeom prst="rect">
            <a:avLst/>
          </a:prstGeom>
          <a:noFill/>
          <a:ln/>
        </p:spPr>
        <p:txBody>
          <a:bodyPr wrap="square" lIns="0" tIns="0" rIns="0" bIns="0" rtlCol="0" anchor="ctr"/>
          <a:lstStyle/>
          <a:p>
            <a:pPr algn="ctr" indent="0" marL="0">
              <a:lnSpc>
                <a:spcPct val="116000"/>
              </a:lnSpc>
              <a:buNone/>
            </a:pPr>
            <a:r>
              <a:rPr lang="en-US" sz="1456" dirty="0">
                <a:solidFill>
                  <a:srgbClr val="0072B2"/>
                </a:solidFill>
                <a:latin typeface="Arial" pitchFamily="34" charset="0"/>
                <a:ea typeface="Arial" pitchFamily="34" charset="-122"/>
                <a:cs typeface="Arial" pitchFamily="34" charset="-120"/>
              </a:rPr>
              <a:t>clean text</a:t>
            </a:r>
            <a:endParaRPr lang="en-US" sz="1456" dirty="0"/>
          </a:p>
        </p:txBody>
      </p:sp>
      <p:sp>
        <p:nvSpPr>
          <p:cNvPr id="10" name="Shape 8"/>
          <p:cNvSpPr/>
          <p:nvPr/>
        </p:nvSpPr>
        <p:spPr>
          <a:xfrm>
            <a:off x="7069691" y="3514007"/>
            <a:ext cx="246543" cy="0"/>
          </a:xfrm>
          <a:prstGeom prst="line">
            <a:avLst/>
          </a:prstGeom>
          <a:noFill/>
          <a:ln w="22860">
            <a:solidFill>
              <a:srgbClr val="009E73"/>
            </a:solidFill>
            <a:prstDash val="solid"/>
            <a:tailEnd type="triangle"/>
          </a:ln>
        </p:spPr>
      </p:sp>
      <p:sp>
        <p:nvSpPr>
          <p:cNvPr id="11" name="Text 9"/>
          <p:cNvSpPr txBox="1"/>
          <p:nvPr/>
        </p:nvSpPr>
        <p:spPr>
          <a:xfrm>
            <a:off x="6383994" y="2513660"/>
            <a:ext cx="1617936" cy="214492"/>
          </a:xfrm>
          <a:prstGeom prst="rect">
            <a:avLst/>
          </a:prstGeom>
          <a:noFill/>
          <a:ln/>
        </p:spPr>
        <p:txBody>
          <a:bodyPr wrap="square" lIns="0" tIns="0" rIns="0" bIns="0" rtlCol="0" anchor="ctr"/>
          <a:lstStyle/>
          <a:p>
            <a:pPr algn="ctr" indent="0" marL="0">
              <a:lnSpc>
                <a:spcPct val="116000"/>
              </a:lnSpc>
              <a:buNone/>
            </a:pPr>
            <a:r>
              <a:rPr lang="en-US" sz="1456" dirty="0">
                <a:solidFill>
                  <a:srgbClr val="0072B2"/>
                </a:solidFill>
                <a:latin typeface="Arial" pitchFamily="34" charset="0"/>
                <a:ea typeface="Arial" pitchFamily="34" charset="-122"/>
                <a:cs typeface="Arial" pitchFamily="34" charset="-120"/>
              </a:rPr>
              <a:t>IDs</a:t>
            </a:r>
            <a:endParaRPr lang="en-US" sz="1456" dirty="0"/>
          </a:p>
        </p:txBody>
      </p:sp>
      <p:sp>
        <p:nvSpPr>
          <p:cNvPr id="12" name="Shape 10"/>
          <p:cNvSpPr/>
          <p:nvPr/>
        </p:nvSpPr>
        <p:spPr>
          <a:xfrm>
            <a:off x="9263919" y="3514007"/>
            <a:ext cx="246543" cy="0"/>
          </a:xfrm>
          <a:prstGeom prst="line">
            <a:avLst/>
          </a:prstGeom>
          <a:noFill/>
          <a:ln w="22860">
            <a:solidFill>
              <a:srgbClr val="009E73"/>
            </a:solidFill>
            <a:prstDash val="solid"/>
            <a:tailEnd type="triangle"/>
          </a:ln>
        </p:spPr>
      </p:sp>
      <p:sp>
        <p:nvSpPr>
          <p:cNvPr id="13" name="Text 11"/>
          <p:cNvSpPr txBox="1"/>
          <p:nvPr/>
        </p:nvSpPr>
        <p:spPr>
          <a:xfrm>
            <a:off x="8578223" y="2513660"/>
            <a:ext cx="1617936" cy="214492"/>
          </a:xfrm>
          <a:prstGeom prst="rect">
            <a:avLst/>
          </a:prstGeom>
          <a:noFill/>
          <a:ln/>
        </p:spPr>
        <p:txBody>
          <a:bodyPr wrap="square" lIns="0" tIns="0" rIns="0" bIns="0" rtlCol="0" anchor="ctr"/>
          <a:lstStyle/>
          <a:p>
            <a:pPr algn="ctr" indent="0" marL="0">
              <a:lnSpc>
                <a:spcPct val="116000"/>
              </a:lnSpc>
              <a:buNone/>
            </a:pPr>
            <a:r>
              <a:rPr lang="en-US" sz="1456" dirty="0">
                <a:solidFill>
                  <a:srgbClr val="0072B2"/>
                </a:solidFill>
                <a:latin typeface="Arial" pitchFamily="34" charset="0"/>
                <a:ea typeface="Arial" pitchFamily="34" charset="-122"/>
                <a:cs typeface="Arial" pitchFamily="34" charset="-120"/>
              </a:rPr>
              <a:t>base weights</a:t>
            </a:r>
            <a:endParaRPr lang="en-US" sz="1456" dirty="0"/>
          </a:p>
        </p:txBody>
      </p:sp>
      <p:sp>
        <p:nvSpPr>
          <p:cNvPr id="14" name="Shape 12"/>
          <p:cNvSpPr/>
          <p:nvPr/>
        </p:nvSpPr>
        <p:spPr>
          <a:xfrm>
            <a:off x="733547" y="2789788"/>
            <a:ext cx="1947686" cy="1448438"/>
          </a:xfrm>
          <a:prstGeom prst="roundRect">
            <a:avLst>
              <a:gd name="adj" fmla="val 5050"/>
            </a:avLst>
          </a:prstGeom>
          <a:solidFill>
            <a:srgbClr val="E4F2FB"/>
          </a:solidFill>
          <a:ln w="15240">
            <a:solidFill>
              <a:srgbClr val="0072B2"/>
            </a:solidFill>
            <a:prstDash val="solid"/>
          </a:ln>
        </p:spPr>
      </p:sp>
      <p:sp>
        <p:nvSpPr>
          <p:cNvPr id="15" name="Text 13"/>
          <p:cNvSpPr txBox="1"/>
          <p:nvPr/>
        </p:nvSpPr>
        <p:spPr>
          <a:xfrm>
            <a:off x="795183" y="3252055"/>
            <a:ext cx="1824415" cy="232366"/>
          </a:xfrm>
          <a:prstGeom prst="rect">
            <a:avLst/>
          </a:prstGeom>
          <a:noFill/>
          <a:ln/>
        </p:spPr>
        <p:txBody>
          <a:bodyPr wrap="square" lIns="0" tIns="0" rIns="0" bIns="0" rtlCol="0" anchor="ctr"/>
          <a:lstStyle/>
          <a:p>
            <a:pPr algn="ctr" indent="0" marL="0">
              <a:lnSpc>
                <a:spcPct val="116000"/>
              </a:lnSpc>
              <a:buNone/>
            </a:pPr>
            <a:r>
              <a:rPr lang="en-US" sz="1577" b="1" dirty="0">
                <a:solidFill>
                  <a:srgbClr val="1E1B4B"/>
                </a:solidFill>
                <a:latin typeface="Arial" pitchFamily="34" charset="0"/>
                <a:ea typeface="Arial" pitchFamily="34" charset="-122"/>
                <a:cs typeface="Arial" pitchFamily="34" charset="-120"/>
              </a:rPr>
              <a:t>Collect</a:t>
            </a:r>
            <a:endParaRPr lang="en-US" sz="1577" dirty="0"/>
          </a:p>
        </p:txBody>
      </p:sp>
      <p:sp>
        <p:nvSpPr>
          <p:cNvPr id="16" name="Text 14"/>
          <p:cNvSpPr txBox="1"/>
          <p:nvPr/>
        </p:nvSpPr>
        <p:spPr>
          <a:xfrm>
            <a:off x="795183" y="3561466"/>
            <a:ext cx="1824415" cy="214492"/>
          </a:xfrm>
          <a:prstGeom prst="rect">
            <a:avLst/>
          </a:prstGeom>
          <a:noFill/>
          <a:ln/>
        </p:spPr>
        <p:txBody>
          <a:bodyPr wrap="square" lIns="0" tIns="0" rIns="0" bIns="0" rtlCol="0" anchor="ctr"/>
          <a:lstStyle/>
          <a:p>
            <a:pPr algn="ctr" indent="0" marL="0">
              <a:lnSpc>
                <a:spcPct val="116000"/>
              </a:lnSpc>
              <a:buNone/>
            </a:pPr>
            <a:r>
              <a:rPr lang="en-US" sz="1456" dirty="0">
                <a:solidFill>
                  <a:srgbClr val="1F2937"/>
                </a:solidFill>
                <a:latin typeface="Arial" pitchFamily="34" charset="0"/>
                <a:ea typeface="Arial" pitchFamily="34" charset="-122"/>
                <a:cs typeface="Arial" pitchFamily="34" charset="-120"/>
              </a:rPr>
              <a:t>Authorised text</a:t>
            </a:r>
            <a:endParaRPr lang="en-US" sz="1456" dirty="0"/>
          </a:p>
        </p:txBody>
      </p:sp>
      <p:sp>
        <p:nvSpPr>
          <p:cNvPr id="17" name="Shape 15"/>
          <p:cNvSpPr/>
          <p:nvPr/>
        </p:nvSpPr>
        <p:spPr>
          <a:xfrm>
            <a:off x="2927776" y="2789788"/>
            <a:ext cx="1947686" cy="1448438"/>
          </a:xfrm>
          <a:prstGeom prst="rect">
            <a:avLst/>
          </a:prstGeom>
          <a:solidFill>
            <a:srgbClr val="F2F4F5"/>
          </a:solidFill>
          <a:ln w="15240">
            <a:solidFill>
              <a:srgbClr val="626B73"/>
            </a:solidFill>
            <a:prstDash val="solid"/>
          </a:ln>
        </p:spPr>
      </p:sp>
      <p:sp>
        <p:nvSpPr>
          <p:cNvPr id="18" name="Text 16"/>
          <p:cNvSpPr txBox="1"/>
          <p:nvPr/>
        </p:nvSpPr>
        <p:spPr>
          <a:xfrm>
            <a:off x="2989411" y="3252055"/>
            <a:ext cx="1824415" cy="232366"/>
          </a:xfrm>
          <a:prstGeom prst="rect">
            <a:avLst/>
          </a:prstGeom>
          <a:noFill/>
          <a:ln/>
        </p:spPr>
        <p:txBody>
          <a:bodyPr wrap="square" lIns="0" tIns="0" rIns="0" bIns="0" rtlCol="0" anchor="ctr"/>
          <a:lstStyle/>
          <a:p>
            <a:pPr algn="ctr" indent="0" marL="0">
              <a:lnSpc>
                <a:spcPct val="116000"/>
              </a:lnSpc>
              <a:buNone/>
            </a:pPr>
            <a:r>
              <a:rPr lang="en-US" sz="1577" b="1" dirty="0">
                <a:solidFill>
                  <a:srgbClr val="1E1B4B"/>
                </a:solidFill>
                <a:latin typeface="Arial" pitchFamily="34" charset="0"/>
                <a:ea typeface="Arial" pitchFamily="34" charset="-122"/>
                <a:cs typeface="Arial" pitchFamily="34" charset="-120"/>
              </a:rPr>
              <a:t>Clean</a:t>
            </a:r>
            <a:endParaRPr lang="en-US" sz="1577" dirty="0"/>
          </a:p>
        </p:txBody>
      </p:sp>
      <p:sp>
        <p:nvSpPr>
          <p:cNvPr id="19" name="Text 17"/>
          <p:cNvSpPr txBox="1"/>
          <p:nvPr/>
        </p:nvSpPr>
        <p:spPr>
          <a:xfrm>
            <a:off x="2989411" y="3561466"/>
            <a:ext cx="1824415" cy="214492"/>
          </a:xfrm>
          <a:prstGeom prst="rect">
            <a:avLst/>
          </a:prstGeom>
          <a:noFill/>
          <a:ln/>
        </p:spPr>
        <p:txBody>
          <a:bodyPr wrap="square" lIns="0" tIns="0" rIns="0" bIns="0" rtlCol="0" anchor="ctr"/>
          <a:lstStyle/>
          <a:p>
            <a:pPr algn="ctr" indent="0" marL="0">
              <a:lnSpc>
                <a:spcPct val="116000"/>
              </a:lnSpc>
              <a:buNone/>
            </a:pPr>
            <a:r>
              <a:rPr lang="en-US" sz="1456" dirty="0">
                <a:solidFill>
                  <a:srgbClr val="1F2937"/>
                </a:solidFill>
                <a:latin typeface="Arial" pitchFamily="34" charset="0"/>
                <a:ea typeface="Arial" pitchFamily="34" charset="-122"/>
                <a:cs typeface="Arial" pitchFamily="34" charset="-120"/>
              </a:rPr>
              <a:t>Deduplicate</a:t>
            </a:r>
            <a:endParaRPr lang="en-US" sz="1456" dirty="0"/>
          </a:p>
        </p:txBody>
      </p:sp>
      <p:sp>
        <p:nvSpPr>
          <p:cNvPr id="20" name="Shape 18"/>
          <p:cNvSpPr/>
          <p:nvPr/>
        </p:nvSpPr>
        <p:spPr>
          <a:xfrm>
            <a:off x="5122004" y="2789788"/>
            <a:ext cx="1947686" cy="1448438"/>
          </a:xfrm>
          <a:prstGeom prst="rect">
            <a:avLst/>
          </a:prstGeom>
          <a:solidFill>
            <a:srgbClr val="F2F4F5"/>
          </a:solidFill>
          <a:ln w="15240">
            <a:solidFill>
              <a:srgbClr val="626B73"/>
            </a:solidFill>
            <a:prstDash val="solid"/>
          </a:ln>
        </p:spPr>
      </p:sp>
      <p:sp>
        <p:nvSpPr>
          <p:cNvPr id="21" name="Text 19"/>
          <p:cNvSpPr txBox="1"/>
          <p:nvPr/>
        </p:nvSpPr>
        <p:spPr>
          <a:xfrm>
            <a:off x="5183640" y="3252055"/>
            <a:ext cx="1824415" cy="232366"/>
          </a:xfrm>
          <a:prstGeom prst="rect">
            <a:avLst/>
          </a:prstGeom>
          <a:noFill/>
          <a:ln/>
        </p:spPr>
        <p:txBody>
          <a:bodyPr wrap="square" lIns="0" tIns="0" rIns="0" bIns="0" rtlCol="0" anchor="ctr"/>
          <a:lstStyle/>
          <a:p>
            <a:pPr algn="ctr" indent="0" marL="0">
              <a:lnSpc>
                <a:spcPct val="116000"/>
              </a:lnSpc>
              <a:buNone/>
            </a:pPr>
            <a:r>
              <a:rPr lang="en-US" sz="1577" b="1" dirty="0">
                <a:solidFill>
                  <a:srgbClr val="1E1B4B"/>
                </a:solidFill>
                <a:latin typeface="Arial" pitchFamily="34" charset="0"/>
                <a:ea typeface="Arial" pitchFamily="34" charset="-122"/>
                <a:cs typeface="Arial" pitchFamily="34" charset="-120"/>
              </a:rPr>
              <a:t>Tokenise</a:t>
            </a:r>
            <a:endParaRPr lang="en-US" sz="1577" dirty="0"/>
          </a:p>
        </p:txBody>
      </p:sp>
      <p:sp>
        <p:nvSpPr>
          <p:cNvPr id="22" name="Text 20"/>
          <p:cNvSpPr txBox="1"/>
          <p:nvPr/>
        </p:nvSpPr>
        <p:spPr>
          <a:xfrm>
            <a:off x="5183640" y="3561466"/>
            <a:ext cx="1824415" cy="214492"/>
          </a:xfrm>
          <a:prstGeom prst="rect">
            <a:avLst/>
          </a:prstGeom>
          <a:noFill/>
          <a:ln/>
        </p:spPr>
        <p:txBody>
          <a:bodyPr wrap="square" lIns="0" tIns="0" rIns="0" bIns="0" rtlCol="0" anchor="ctr"/>
          <a:lstStyle/>
          <a:p>
            <a:pPr algn="ctr" indent="0" marL="0">
              <a:lnSpc>
                <a:spcPct val="116000"/>
              </a:lnSpc>
              <a:buNone/>
            </a:pPr>
            <a:r>
              <a:rPr lang="en-US" sz="1456" dirty="0">
                <a:solidFill>
                  <a:srgbClr val="1F2937"/>
                </a:solidFill>
                <a:latin typeface="Arial" pitchFamily="34" charset="0"/>
                <a:ea typeface="Arial" pitchFamily="34" charset="-122"/>
                <a:cs typeface="Arial" pitchFamily="34" charset="-120"/>
              </a:rPr>
              <a:t>Vocabulary IDs</a:t>
            </a:r>
            <a:endParaRPr lang="en-US" sz="1456" dirty="0"/>
          </a:p>
        </p:txBody>
      </p:sp>
      <p:sp>
        <p:nvSpPr>
          <p:cNvPr id="23" name="Shape 21"/>
          <p:cNvSpPr/>
          <p:nvPr/>
        </p:nvSpPr>
        <p:spPr>
          <a:xfrm>
            <a:off x="7316233" y="2789788"/>
            <a:ext cx="1947686" cy="1448438"/>
          </a:xfrm>
          <a:prstGeom prst="rect">
            <a:avLst/>
          </a:prstGeom>
          <a:solidFill>
            <a:srgbClr val="E5F7EF"/>
          </a:solidFill>
          <a:ln w="15240">
            <a:solidFill>
              <a:srgbClr val="009E73"/>
            </a:solidFill>
            <a:prstDash val="solid"/>
          </a:ln>
        </p:spPr>
      </p:sp>
      <p:sp>
        <p:nvSpPr>
          <p:cNvPr id="24" name="Text 22"/>
          <p:cNvSpPr txBox="1"/>
          <p:nvPr/>
        </p:nvSpPr>
        <p:spPr>
          <a:xfrm>
            <a:off x="7377869" y="3252055"/>
            <a:ext cx="1824415" cy="232366"/>
          </a:xfrm>
          <a:prstGeom prst="rect">
            <a:avLst/>
          </a:prstGeom>
          <a:noFill/>
          <a:ln/>
        </p:spPr>
        <p:txBody>
          <a:bodyPr wrap="square" lIns="0" tIns="0" rIns="0" bIns="0" rtlCol="0" anchor="ctr"/>
          <a:lstStyle/>
          <a:p>
            <a:pPr algn="ctr" indent="0" marL="0">
              <a:lnSpc>
                <a:spcPct val="116000"/>
              </a:lnSpc>
              <a:buNone/>
            </a:pPr>
            <a:r>
              <a:rPr lang="en-US" sz="1577" b="1" dirty="0">
                <a:solidFill>
                  <a:srgbClr val="1E1B4B"/>
                </a:solidFill>
                <a:latin typeface="Arial" pitchFamily="34" charset="0"/>
                <a:ea typeface="Arial" pitchFamily="34" charset="-122"/>
                <a:cs typeface="Arial" pitchFamily="34" charset="-120"/>
              </a:rPr>
              <a:t>Pre-train</a:t>
            </a:r>
            <a:endParaRPr lang="en-US" sz="1577" dirty="0"/>
          </a:p>
        </p:txBody>
      </p:sp>
      <p:sp>
        <p:nvSpPr>
          <p:cNvPr id="25" name="Text 23"/>
          <p:cNvSpPr txBox="1"/>
          <p:nvPr/>
        </p:nvSpPr>
        <p:spPr>
          <a:xfrm>
            <a:off x="7377869" y="3561466"/>
            <a:ext cx="1824415" cy="214492"/>
          </a:xfrm>
          <a:prstGeom prst="rect">
            <a:avLst/>
          </a:prstGeom>
          <a:noFill/>
          <a:ln/>
        </p:spPr>
        <p:txBody>
          <a:bodyPr wrap="square" lIns="0" tIns="0" rIns="0" bIns="0" rtlCol="0" anchor="ctr"/>
          <a:lstStyle/>
          <a:p>
            <a:pPr algn="ctr" indent="0" marL="0">
              <a:lnSpc>
                <a:spcPct val="116000"/>
              </a:lnSpc>
              <a:buNone/>
            </a:pPr>
            <a:r>
              <a:rPr lang="en-US" sz="1456" dirty="0">
                <a:solidFill>
                  <a:srgbClr val="1F2937"/>
                </a:solidFill>
                <a:latin typeface="Arial" pitchFamily="34" charset="0"/>
                <a:ea typeface="Arial" pitchFamily="34" charset="-122"/>
                <a:cs typeface="Arial" pitchFamily="34" charset="-120"/>
              </a:rPr>
              <a:t>Predict tokens</a:t>
            </a:r>
            <a:endParaRPr lang="en-US" sz="1456" dirty="0"/>
          </a:p>
        </p:txBody>
      </p:sp>
      <p:sp>
        <p:nvSpPr>
          <p:cNvPr id="26" name="Shape 24"/>
          <p:cNvSpPr/>
          <p:nvPr/>
        </p:nvSpPr>
        <p:spPr>
          <a:xfrm>
            <a:off x="9510462" y="2789788"/>
            <a:ext cx="1947686" cy="1448438"/>
          </a:xfrm>
          <a:prstGeom prst="rect">
            <a:avLst/>
          </a:prstGeom>
          <a:solidFill>
            <a:srgbClr val="E5F7EF"/>
          </a:solidFill>
          <a:ln w="15240">
            <a:solidFill>
              <a:srgbClr val="009E73"/>
            </a:solidFill>
            <a:prstDash val="solid"/>
          </a:ln>
        </p:spPr>
      </p:sp>
      <p:sp>
        <p:nvSpPr>
          <p:cNvPr id="27" name="Text 25"/>
          <p:cNvSpPr txBox="1"/>
          <p:nvPr/>
        </p:nvSpPr>
        <p:spPr>
          <a:xfrm>
            <a:off x="9572098" y="3252055"/>
            <a:ext cx="1824415" cy="232366"/>
          </a:xfrm>
          <a:prstGeom prst="rect">
            <a:avLst/>
          </a:prstGeom>
          <a:noFill/>
          <a:ln/>
        </p:spPr>
        <p:txBody>
          <a:bodyPr wrap="square" lIns="0" tIns="0" rIns="0" bIns="0" rtlCol="0" anchor="ctr"/>
          <a:lstStyle/>
          <a:p>
            <a:pPr algn="ctr" indent="0" marL="0">
              <a:lnSpc>
                <a:spcPct val="116000"/>
              </a:lnSpc>
              <a:buNone/>
            </a:pPr>
            <a:r>
              <a:rPr lang="en-US" sz="1577" b="1" dirty="0">
                <a:solidFill>
                  <a:srgbClr val="1E1B4B"/>
                </a:solidFill>
                <a:latin typeface="Arial" pitchFamily="34" charset="0"/>
                <a:ea typeface="Arial" pitchFamily="34" charset="-122"/>
                <a:cs typeface="Arial" pitchFamily="34" charset="-120"/>
              </a:rPr>
              <a:t>Post-train</a:t>
            </a:r>
            <a:endParaRPr lang="en-US" sz="1577" dirty="0"/>
          </a:p>
        </p:txBody>
      </p:sp>
      <p:sp>
        <p:nvSpPr>
          <p:cNvPr id="28" name="Text 26"/>
          <p:cNvSpPr txBox="1"/>
          <p:nvPr/>
        </p:nvSpPr>
        <p:spPr>
          <a:xfrm>
            <a:off x="9572098" y="3561466"/>
            <a:ext cx="1824415" cy="214492"/>
          </a:xfrm>
          <a:prstGeom prst="rect">
            <a:avLst/>
          </a:prstGeom>
          <a:noFill/>
          <a:ln/>
        </p:spPr>
        <p:txBody>
          <a:bodyPr wrap="square" lIns="0" tIns="0" rIns="0" bIns="0" rtlCol="0" anchor="ctr"/>
          <a:lstStyle/>
          <a:p>
            <a:pPr algn="ctr" indent="0" marL="0">
              <a:lnSpc>
                <a:spcPct val="116000"/>
              </a:lnSpc>
              <a:buNone/>
            </a:pPr>
            <a:r>
              <a:rPr lang="en-US" sz="1456" dirty="0">
                <a:solidFill>
                  <a:srgbClr val="1F2937"/>
                </a:solidFill>
                <a:latin typeface="Arial" pitchFamily="34" charset="0"/>
                <a:ea typeface="Arial" pitchFamily="34" charset="-122"/>
                <a:cs typeface="Arial" pitchFamily="34" charset="-120"/>
              </a:rPr>
              <a:t>Instructions</a:t>
            </a:r>
            <a:endParaRPr lang="en-US" sz="1456" dirty="0"/>
          </a:p>
        </p:txBody>
      </p:sp>
      <p:sp>
        <p:nvSpPr>
          <p:cNvPr id="29" name="Shape 27"/>
          <p:cNvSpPr/>
          <p:nvPr/>
        </p:nvSpPr>
        <p:spPr>
          <a:xfrm>
            <a:off x="733547" y="4507882"/>
            <a:ext cx="200316" cy="200316"/>
          </a:xfrm>
          <a:prstGeom prst="roundRect">
            <a:avLst>
              <a:gd name="adj" fmla="val 36518"/>
            </a:avLst>
          </a:prstGeom>
          <a:solidFill>
            <a:srgbClr val="E4F2FB"/>
          </a:solidFill>
          <a:ln w="15240">
            <a:solidFill>
              <a:srgbClr val="0072B2"/>
            </a:solidFill>
            <a:prstDash val="solid"/>
          </a:ln>
        </p:spPr>
      </p:sp>
      <p:sp>
        <p:nvSpPr>
          <p:cNvPr id="30" name="Text 28"/>
          <p:cNvSpPr txBox="1"/>
          <p:nvPr/>
        </p:nvSpPr>
        <p:spPr>
          <a:xfrm>
            <a:off x="995498" y="4484768"/>
            <a:ext cx="435010" cy="246543"/>
          </a:xfrm>
          <a:prstGeom prst="rect">
            <a:avLst/>
          </a:prstGeom>
          <a:noFill/>
          <a:ln/>
        </p:spPr>
        <p:txBody>
          <a:bodyPr wrap="square" lIns="0" tIns="0" rIns="0" bIns="0" rtlCol="0" anchor="ctr"/>
          <a:lstStyle/>
          <a:p>
            <a:pPr algn="l" indent="0" marL="0">
              <a:lnSpc>
                <a:spcPct val="116000"/>
              </a:lnSpc>
              <a:buNone/>
            </a:pPr>
            <a:r>
              <a:rPr lang="en-US" sz="1456" dirty="0">
                <a:solidFill>
                  <a:srgbClr val="1F2937"/>
                </a:solidFill>
                <a:latin typeface="Arial" pitchFamily="34" charset="0"/>
                <a:ea typeface="Arial" pitchFamily="34" charset="-122"/>
                <a:cs typeface="Arial" pitchFamily="34" charset="-120"/>
              </a:rPr>
              <a:t>Data</a:t>
            </a:r>
            <a:endParaRPr lang="en-US" sz="1456" dirty="0"/>
          </a:p>
        </p:txBody>
      </p:sp>
      <p:sp>
        <p:nvSpPr>
          <p:cNvPr id="31" name="Shape 29"/>
          <p:cNvSpPr/>
          <p:nvPr/>
        </p:nvSpPr>
        <p:spPr>
          <a:xfrm>
            <a:off x="1630824" y="4507882"/>
            <a:ext cx="200316" cy="200316"/>
          </a:xfrm>
          <a:prstGeom prst="rect">
            <a:avLst/>
          </a:prstGeom>
          <a:solidFill>
            <a:srgbClr val="E5F7EF"/>
          </a:solidFill>
          <a:ln w="15240">
            <a:solidFill>
              <a:srgbClr val="009E73"/>
            </a:solidFill>
            <a:prstDash val="solid"/>
          </a:ln>
        </p:spPr>
      </p:sp>
      <p:sp>
        <p:nvSpPr>
          <p:cNvPr id="32" name="Text 30"/>
          <p:cNvSpPr txBox="1"/>
          <p:nvPr/>
        </p:nvSpPr>
        <p:spPr>
          <a:xfrm>
            <a:off x="1892775" y="4484768"/>
            <a:ext cx="551942" cy="246543"/>
          </a:xfrm>
          <a:prstGeom prst="rect">
            <a:avLst/>
          </a:prstGeom>
          <a:noFill/>
          <a:ln/>
        </p:spPr>
        <p:txBody>
          <a:bodyPr wrap="square" lIns="0" tIns="0" rIns="0" bIns="0" rtlCol="0" anchor="ctr"/>
          <a:lstStyle/>
          <a:p>
            <a:pPr algn="l" indent="0" marL="0">
              <a:lnSpc>
                <a:spcPct val="116000"/>
              </a:lnSpc>
              <a:buNone/>
            </a:pPr>
            <a:r>
              <a:rPr lang="en-US" sz="1456" dirty="0">
                <a:solidFill>
                  <a:srgbClr val="1F2937"/>
                </a:solidFill>
                <a:latin typeface="Arial" pitchFamily="34" charset="0"/>
                <a:ea typeface="Arial" pitchFamily="34" charset="-122"/>
                <a:cs typeface="Arial" pitchFamily="34" charset="-120"/>
              </a:rPr>
              <a:t>Model</a:t>
            </a:r>
            <a:endParaRPr lang="en-US" sz="1456" dirty="0"/>
          </a:p>
        </p:txBody>
      </p:sp>
      <p:sp>
        <p:nvSpPr>
          <p:cNvPr id="33" name="Shape 31"/>
          <p:cNvSpPr/>
          <p:nvPr/>
        </p:nvSpPr>
        <p:spPr>
          <a:xfrm>
            <a:off x="2645033" y="4507882"/>
            <a:ext cx="200316" cy="200316"/>
          </a:xfrm>
          <a:prstGeom prst="rect">
            <a:avLst/>
          </a:prstGeom>
          <a:solidFill>
            <a:srgbClr val="F2F4F5"/>
          </a:solidFill>
          <a:ln w="15240">
            <a:solidFill>
              <a:srgbClr val="626B73"/>
            </a:solidFill>
            <a:prstDash val="solid"/>
          </a:ln>
        </p:spPr>
      </p:sp>
      <p:sp>
        <p:nvSpPr>
          <p:cNvPr id="34" name="Text 32"/>
          <p:cNvSpPr txBox="1"/>
          <p:nvPr/>
        </p:nvSpPr>
        <p:spPr>
          <a:xfrm>
            <a:off x="2906984" y="4484768"/>
            <a:ext cx="403049" cy="246543"/>
          </a:xfrm>
          <a:prstGeom prst="rect">
            <a:avLst/>
          </a:prstGeom>
          <a:noFill/>
          <a:ln/>
        </p:spPr>
        <p:txBody>
          <a:bodyPr wrap="square" lIns="0" tIns="0" rIns="0" bIns="0" rtlCol="0" anchor="ctr"/>
          <a:lstStyle/>
          <a:p>
            <a:pPr algn="l" indent="0" marL="0">
              <a:lnSpc>
                <a:spcPct val="116000"/>
              </a:lnSpc>
              <a:buNone/>
            </a:pPr>
            <a:r>
              <a:rPr lang="en-US" sz="1456" dirty="0">
                <a:solidFill>
                  <a:srgbClr val="1F2937"/>
                </a:solidFill>
                <a:latin typeface="Arial" pitchFamily="34" charset="0"/>
                <a:ea typeface="Arial" pitchFamily="34" charset="-122"/>
                <a:cs typeface="Arial" pitchFamily="34" charset="-120"/>
              </a:rPr>
              <a:t>Tool</a:t>
            </a:r>
            <a:endParaRPr lang="en-US" sz="1456" dirty="0"/>
          </a:p>
        </p:txBody>
      </p:sp>
      <p:sp>
        <p:nvSpPr>
          <p:cNvPr id="35" name="Shape 33"/>
          <p:cNvSpPr/>
          <p:nvPr/>
        </p:nvSpPr>
        <p:spPr>
          <a:xfrm>
            <a:off x="3510350" y="4608039"/>
            <a:ext cx="338996" cy="0"/>
          </a:xfrm>
          <a:prstGeom prst="line">
            <a:avLst/>
          </a:prstGeom>
          <a:noFill/>
          <a:ln w="22860">
            <a:solidFill>
              <a:srgbClr val="009E73"/>
            </a:solidFill>
            <a:prstDash val="solid"/>
            <a:tailEnd type="triangle"/>
          </a:ln>
        </p:spPr>
      </p:sp>
      <p:sp>
        <p:nvSpPr>
          <p:cNvPr id="36" name="Text 34"/>
          <p:cNvSpPr txBox="1"/>
          <p:nvPr/>
        </p:nvSpPr>
        <p:spPr>
          <a:xfrm>
            <a:off x="3910981" y="4484768"/>
            <a:ext cx="434818" cy="246543"/>
          </a:xfrm>
          <a:prstGeom prst="rect">
            <a:avLst/>
          </a:prstGeom>
          <a:noFill/>
          <a:ln/>
        </p:spPr>
        <p:txBody>
          <a:bodyPr wrap="square" lIns="0" tIns="0" rIns="0" bIns="0" rtlCol="0" anchor="ctr"/>
          <a:lstStyle/>
          <a:p>
            <a:pPr algn="l" indent="0" marL="0">
              <a:lnSpc>
                <a:spcPct val="116000"/>
              </a:lnSpc>
              <a:buNone/>
            </a:pPr>
            <a:r>
              <a:rPr lang="en-US" sz="1456" dirty="0">
                <a:solidFill>
                  <a:srgbClr val="1F2937"/>
                </a:solidFill>
                <a:latin typeface="Arial" pitchFamily="34" charset="0"/>
                <a:ea typeface="Arial" pitchFamily="34" charset="-122"/>
                <a:cs typeface="Arial" pitchFamily="34" charset="-120"/>
              </a:rPr>
              <a:t>Flow</a:t>
            </a:r>
            <a:endParaRPr lang="en-US" sz="1456" dirty="0"/>
          </a:p>
        </p:txBody>
      </p:sp>
      <p:sp>
        <p:nvSpPr>
          <p:cNvPr id="37" name="Text 35"/>
          <p:cNvSpPr txBox="1"/>
          <p:nvPr/>
        </p:nvSpPr>
        <p:spPr>
          <a:xfrm>
            <a:off x="548640" y="5819140"/>
            <a:ext cx="11094415" cy="490220"/>
          </a:xfrm>
          <a:prstGeom prst="rect">
            <a:avLst/>
          </a:prstGeom>
          <a:noFill/>
          <a:ln/>
        </p:spPr>
        <p:txBody>
          <a:bodyPr wrap="square" lIns="0" tIns="0" rIns="0" bIns="0" rtlCol="0" anchor="t"/>
          <a:lstStyle/>
          <a:p>
            <a:pPr marL="254000" indent="-254000">
              <a:spcAft>
                <a:spcPts val="800"/>
              </a:spcAft>
              <a:buSzPct val="100000"/>
              <a:buChar char="●"/>
            </a:pPr>
            <a:r>
              <a:rPr lang="en-US" sz="1800" dirty="0">
                <a:solidFill>
                  <a:srgbClr val="1F2937"/>
                </a:solidFill>
                <a:latin typeface="Calibri" pitchFamily="34" charset="0"/>
                <a:ea typeface="Calibri" pitchFamily="34" charset="-122"/>
                <a:cs typeface="Calibri" pitchFamily="34" charset="-120"/>
              </a:rPr>
              <a:t>Data mix affects learning.</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06  ·  LARGE LANGUAGE MODELS (LLMS) AND FAMILIES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14</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How much compute does pre-training need?</a:t>
            </a:r>
            <a:endParaRPr lang="en-US" sz="3200" dirty="0"/>
          </a:p>
        </p:txBody>
      </p:sp>
      <p:sp>
        <p:nvSpPr>
          <p:cNvPr id="6" name="Shape 4"/>
          <p:cNvSpPr/>
          <p:nvPr/>
        </p:nvSpPr>
        <p:spPr>
          <a:xfrm>
            <a:off x="548640" y="1481328"/>
            <a:ext cx="11094415" cy="1325880"/>
          </a:xfrm>
          <a:prstGeom prst="roundRect">
            <a:avLst>
              <a:gd name="adj" fmla="val 8276"/>
            </a:avLst>
          </a:prstGeom>
          <a:solidFill>
            <a:srgbClr val="EEF0FF"/>
          </a:solidFill>
          <a:ln w="12700">
            <a:solidFill>
              <a:srgbClr val="EEF0FF"/>
            </a:solidFill>
            <a:prstDash val="solid"/>
          </a:ln>
        </p:spPr>
      </p:sp>
      <p:pic>
        <p:nvPicPr>
          <p:cNvPr id="7" name="Image 0" descr="C:\Users\sudee\Downloads\Generative_AI_2027_Teaching_Pack\AI2027_Project\build\eq\c28b5009352b3ea2.png">    </p:cNvPr>
          <p:cNvPicPr>
            <a:picLocks noChangeAspect="1"/>
          </p:cNvPicPr>
          <p:nvPr/>
        </p:nvPicPr>
        <p:blipFill>
          <a:blip r:embed="rId1"/>
          <a:stretch>
            <a:fillRect/>
          </a:stretch>
        </p:blipFill>
        <p:spPr>
          <a:xfrm>
            <a:off x="5449672" y="1969008"/>
            <a:ext cx="1292352" cy="350520"/>
          </a:xfrm>
          <a:prstGeom prst="rect">
            <a:avLst/>
          </a:prstGeom>
        </p:spPr>
      </p:pic>
      <p:sp>
        <p:nvSpPr>
          <p:cNvPr id="8" name="Text 5"/>
          <p:cNvSpPr txBox="1"/>
          <p:nvPr/>
        </p:nvSpPr>
        <p:spPr>
          <a:xfrm>
            <a:off x="548640" y="3035808"/>
            <a:ext cx="6035040" cy="365760"/>
          </a:xfrm>
          <a:prstGeom prst="rect">
            <a:avLst/>
          </a:prstGeom>
          <a:noFill/>
          <a:ln/>
        </p:spPr>
        <p:txBody>
          <a:bodyPr wrap="square" lIns="50800" tIns="50800" rIns="50800" bIns="50800" rtlCol="0" anchor="t"/>
          <a:lstStyle/>
          <a:p>
            <a:pPr indent="0" marL="0">
              <a:buNone/>
            </a:pPr>
            <a:r>
              <a:rPr lang="en-US" sz="1500" b="1" dirty="0">
                <a:solidFill>
                  <a:srgbClr val="4F46E5"/>
                </a:solidFill>
                <a:latin typeface="Calibri" pitchFamily="34" charset="0"/>
                <a:ea typeface="Calibri" pitchFamily="34" charset="-122"/>
                <a:cs typeface="Calibri" pitchFamily="34" charset="-120"/>
              </a:rPr>
              <a:t>Read it as</a:t>
            </a:r>
            <a:endParaRPr lang="en-US" sz="1500" dirty="0"/>
          </a:p>
        </p:txBody>
      </p:sp>
      <p:sp>
        <p:nvSpPr>
          <p:cNvPr id="9" name="Text 6"/>
          <p:cNvSpPr txBox="1"/>
          <p:nvPr/>
        </p:nvSpPr>
        <p:spPr>
          <a:xfrm>
            <a:off x="548640" y="3419856"/>
            <a:ext cx="6035040" cy="2862072"/>
          </a:xfrm>
          <a:prstGeom prst="rect">
            <a:avLst/>
          </a:prstGeom>
          <a:noFill/>
          <a:ln/>
        </p:spPr>
        <p:txBody>
          <a:bodyPr wrap="square" lIns="50800" tIns="50800" rIns="50800" bIns="50800" rtlCol="0" anchor="t"/>
          <a:lstStyle/>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Rough dense training estimate.</a:t>
            </a:r>
            <a:endParaRPr lang="en-US" sz="2000" dirty="0"/>
          </a:p>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Illustration: 6 × 7 B × 2 T = 8.4 × 10²² operations.</a:t>
            </a:r>
            <a:endParaRPr lang="en-US" sz="2000" dirty="0"/>
          </a:p>
        </p:txBody>
      </p:sp>
      <p:sp>
        <p:nvSpPr>
          <p:cNvPr id="10" name="Text 7"/>
          <p:cNvSpPr txBox="1"/>
          <p:nvPr/>
        </p:nvSpPr>
        <p:spPr>
          <a:xfrm>
            <a:off x="6858000" y="3035808"/>
            <a:ext cx="4785055" cy="365760"/>
          </a:xfrm>
          <a:prstGeom prst="rect">
            <a:avLst/>
          </a:prstGeom>
          <a:noFill/>
          <a:ln/>
        </p:spPr>
        <p:txBody>
          <a:bodyPr wrap="square" lIns="50800" tIns="50800" rIns="50800" bIns="50800" rtlCol="0" anchor="t"/>
          <a:lstStyle/>
          <a:p>
            <a:pPr indent="0" marL="0">
              <a:buNone/>
            </a:pPr>
            <a:r>
              <a:rPr lang="en-US" sz="1500" b="1" dirty="0">
                <a:solidFill>
                  <a:srgbClr val="4F46E5"/>
                </a:solidFill>
                <a:latin typeface="Calibri" pitchFamily="34" charset="0"/>
                <a:ea typeface="Calibri" pitchFamily="34" charset="-122"/>
                <a:cs typeface="Calibri" pitchFamily="34" charset="-120"/>
              </a:rPr>
              <a:t>Symbols</a:t>
            </a:r>
            <a:endParaRPr lang="en-US" sz="1500" dirty="0"/>
          </a:p>
        </p:txBody>
      </p:sp>
      <p:sp>
        <p:nvSpPr>
          <p:cNvPr id="11" name="Text 8"/>
          <p:cNvSpPr txBox="1"/>
          <p:nvPr/>
        </p:nvSpPr>
        <p:spPr>
          <a:xfrm>
            <a:off x="6858000" y="3447288"/>
            <a:ext cx="1143000" cy="685800"/>
          </a:xfrm>
          <a:prstGeom prst="rect">
            <a:avLst/>
          </a:prstGeom>
          <a:noFill/>
          <a:ln/>
        </p:spPr>
        <p:txBody>
          <a:bodyPr wrap="square" lIns="50800" tIns="50800" rIns="50800" bIns="50800" rtlCol="0" anchor="ctr"/>
          <a:lstStyle/>
          <a:p>
            <a:pPr indent="0" marL="0">
              <a:buNone/>
            </a:pPr>
            <a:r>
              <a:rPr lang="en-US" sz="1800" b="1" dirty="0">
                <a:solidFill>
                  <a:srgbClr val="1E1B4B"/>
                </a:solidFill>
                <a:latin typeface="Cambria Math" pitchFamily="34" charset="0"/>
                <a:ea typeface="Cambria Math" pitchFamily="34" charset="-122"/>
                <a:cs typeface="Cambria Math" pitchFamily="34" charset="-120"/>
              </a:rPr>
              <a:t>C</a:t>
            </a:r>
            <a:endParaRPr lang="en-US" sz="1800" dirty="0"/>
          </a:p>
        </p:txBody>
      </p:sp>
      <p:sp>
        <p:nvSpPr>
          <p:cNvPr id="12" name="Text 9"/>
          <p:cNvSpPr txBox="1"/>
          <p:nvPr/>
        </p:nvSpPr>
        <p:spPr>
          <a:xfrm>
            <a:off x="8046720" y="3447288"/>
            <a:ext cx="3596335" cy="685800"/>
          </a:xfrm>
          <a:prstGeom prst="rect">
            <a:avLst/>
          </a:prstGeom>
          <a:noFill/>
          <a:ln/>
        </p:spPr>
        <p:txBody>
          <a:bodyPr wrap="square" lIns="50800" tIns="50800" rIns="50800" bIns="5080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operations</a:t>
            </a:r>
            <a:endParaRPr lang="en-US" sz="1700" dirty="0"/>
          </a:p>
        </p:txBody>
      </p:sp>
      <p:sp>
        <p:nvSpPr>
          <p:cNvPr id="13" name="Text 10"/>
          <p:cNvSpPr txBox="1"/>
          <p:nvPr/>
        </p:nvSpPr>
        <p:spPr>
          <a:xfrm>
            <a:off x="6858000" y="4133088"/>
            <a:ext cx="1143000" cy="685800"/>
          </a:xfrm>
          <a:prstGeom prst="rect">
            <a:avLst/>
          </a:prstGeom>
          <a:noFill/>
          <a:ln/>
        </p:spPr>
        <p:txBody>
          <a:bodyPr wrap="square" lIns="50800" tIns="50800" rIns="50800" bIns="50800" rtlCol="0" anchor="ctr"/>
          <a:lstStyle/>
          <a:p>
            <a:pPr indent="0" marL="0">
              <a:buNone/>
            </a:pPr>
            <a:r>
              <a:rPr lang="en-US" sz="1800" b="1" dirty="0">
                <a:solidFill>
                  <a:srgbClr val="1E1B4B"/>
                </a:solidFill>
                <a:latin typeface="Cambria Math" pitchFamily="34" charset="0"/>
                <a:ea typeface="Cambria Math" pitchFamily="34" charset="-122"/>
                <a:cs typeface="Cambria Math" pitchFamily="34" charset="-120"/>
              </a:rPr>
              <a:t>N</a:t>
            </a:r>
            <a:endParaRPr lang="en-US" sz="1800" dirty="0"/>
          </a:p>
        </p:txBody>
      </p:sp>
      <p:sp>
        <p:nvSpPr>
          <p:cNvPr id="14" name="Text 11"/>
          <p:cNvSpPr txBox="1"/>
          <p:nvPr/>
        </p:nvSpPr>
        <p:spPr>
          <a:xfrm>
            <a:off x="8046720" y="4133088"/>
            <a:ext cx="3596335" cy="685800"/>
          </a:xfrm>
          <a:prstGeom prst="rect">
            <a:avLst/>
          </a:prstGeom>
          <a:noFill/>
          <a:ln/>
        </p:spPr>
        <p:txBody>
          <a:bodyPr wrap="square" lIns="50800" tIns="50800" rIns="50800" bIns="5080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parameters</a:t>
            </a:r>
            <a:endParaRPr lang="en-US" sz="1700" dirty="0"/>
          </a:p>
        </p:txBody>
      </p:sp>
      <p:sp>
        <p:nvSpPr>
          <p:cNvPr id="15" name="Text 12"/>
          <p:cNvSpPr txBox="1"/>
          <p:nvPr/>
        </p:nvSpPr>
        <p:spPr>
          <a:xfrm>
            <a:off x="6858000" y="4818888"/>
            <a:ext cx="1143000" cy="685800"/>
          </a:xfrm>
          <a:prstGeom prst="rect">
            <a:avLst/>
          </a:prstGeom>
          <a:noFill/>
          <a:ln/>
        </p:spPr>
        <p:txBody>
          <a:bodyPr wrap="square" lIns="50800" tIns="50800" rIns="50800" bIns="50800" rtlCol="0" anchor="ctr"/>
          <a:lstStyle/>
          <a:p>
            <a:pPr indent="0" marL="0">
              <a:buNone/>
            </a:pPr>
            <a:r>
              <a:rPr lang="en-US" sz="1800" b="1" dirty="0">
                <a:solidFill>
                  <a:srgbClr val="1E1B4B"/>
                </a:solidFill>
                <a:latin typeface="Cambria Math" pitchFamily="34" charset="0"/>
                <a:ea typeface="Cambria Math" pitchFamily="34" charset="-122"/>
                <a:cs typeface="Cambria Math" pitchFamily="34" charset="-120"/>
              </a:rPr>
              <a:t>D</a:t>
            </a:r>
            <a:endParaRPr lang="en-US" sz="1800" dirty="0"/>
          </a:p>
        </p:txBody>
      </p:sp>
      <p:sp>
        <p:nvSpPr>
          <p:cNvPr id="16" name="Text 13"/>
          <p:cNvSpPr txBox="1"/>
          <p:nvPr/>
        </p:nvSpPr>
        <p:spPr>
          <a:xfrm>
            <a:off x="8046720" y="4818888"/>
            <a:ext cx="3596335" cy="685800"/>
          </a:xfrm>
          <a:prstGeom prst="rect">
            <a:avLst/>
          </a:prstGeom>
          <a:noFill/>
          <a:ln/>
        </p:spPr>
        <p:txBody>
          <a:bodyPr wrap="square" lIns="50800" tIns="50800" rIns="50800" bIns="5080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training tokens</a:t>
            </a:r>
            <a:endParaRPr lang="en-US" sz="1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06  ·  LARGE LANGUAGE MODELS (LLMS) AND FAMILIES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15</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Scaling laws: loss is predictable from size and data</a:t>
            </a:r>
            <a:endParaRPr lang="en-US" sz="3200" dirty="0"/>
          </a:p>
        </p:txBody>
      </p:sp>
      <p:pic>
        <p:nvPicPr>
          <p:cNvPr id="6" name="Image 0" descr="C:\Users\sudee\Downloads\Generative_AI_2027_Teaching_Pack\AI2027_Project\build\figures\week_06\scaling.png">    </p:cNvPr>
          <p:cNvPicPr>
            <a:picLocks noChangeAspect="1"/>
          </p:cNvPicPr>
          <p:nvPr/>
        </p:nvPicPr>
        <p:blipFill>
          <a:blip r:embed="rId1"/>
          <a:stretch>
            <a:fillRect/>
          </a:stretch>
        </p:blipFill>
        <p:spPr>
          <a:xfrm>
            <a:off x="1377538" y="1481328"/>
            <a:ext cx="9436618" cy="3762756"/>
          </a:xfrm>
          <a:prstGeom prst="rect">
            <a:avLst/>
          </a:prstGeom>
        </p:spPr>
      </p:pic>
      <p:sp>
        <p:nvSpPr>
          <p:cNvPr id="7" name="Text 4"/>
          <p:cNvSpPr txBox="1"/>
          <p:nvPr/>
        </p:nvSpPr>
        <p:spPr>
          <a:xfrm>
            <a:off x="548640" y="5426964"/>
            <a:ext cx="11094415" cy="882396"/>
          </a:xfrm>
          <a:prstGeom prst="rect">
            <a:avLst/>
          </a:prstGeom>
          <a:noFill/>
          <a:ln/>
        </p:spPr>
        <p:txBody>
          <a:bodyPr wrap="square" lIns="50800" tIns="50800" rIns="50800" bIns="50800" rtlCol="0" anchor="t"/>
          <a:lstStyle/>
          <a:p>
            <a:pPr marL="254000" indent="-254000">
              <a:spcAft>
                <a:spcPts val="800"/>
              </a:spcAft>
              <a:buSzPct val="100000"/>
              <a:buChar char="●"/>
            </a:pPr>
            <a:r>
              <a:rPr lang="en-US" sz="1800" dirty="0">
                <a:solidFill>
                  <a:srgbClr val="1F2937"/>
                </a:solidFill>
                <a:latin typeface="Calibri" pitchFamily="34" charset="0"/>
                <a:ea typeface="Calibri" pitchFamily="34" charset="-122"/>
                <a:cs typeface="Calibri" pitchFamily="34" charset="-120"/>
              </a:rPr>
              <a:t>Published fit; not a new run.</a:t>
            </a:r>
            <a:endParaRPr lang="en-US" sz="1800" dirty="0"/>
          </a:p>
          <a:p>
            <a:pPr marL="254000" indent="-254000">
              <a:spcAft>
                <a:spcPts val="800"/>
              </a:spcAft>
              <a:buSzPct val="100000"/>
              <a:buChar char="●"/>
            </a:pPr>
            <a:r>
              <a:rPr lang="en-US" sz="1800" dirty="0">
                <a:solidFill>
                  <a:srgbClr val="1F2937"/>
                </a:solidFill>
                <a:latin typeface="Calibri" pitchFamily="34" charset="0"/>
                <a:ea typeface="Calibri" pitchFamily="34" charset="-122"/>
                <a:cs typeface="Calibri" pitchFamily="34" charset="-120"/>
              </a:rPr>
              <a:t>Training/serving constraints change the balance.</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06  ·  LARGE LANGUAGE MODELS (LLMS) AND FAMILIES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16</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The scale of pre-training data</a:t>
            </a:r>
            <a:endParaRPr lang="en-US" sz="3200" dirty="0"/>
          </a:p>
        </p:txBody>
      </p:sp>
      <p:sp>
        <p:nvSpPr>
          <p:cNvPr id="6" name="Shape 4"/>
          <p:cNvSpPr/>
          <p:nvPr/>
        </p:nvSpPr>
        <p:spPr>
          <a:xfrm>
            <a:off x="548640" y="1664208"/>
            <a:ext cx="2567864" cy="3822192"/>
          </a:xfrm>
          <a:prstGeom prst="roundRect">
            <a:avLst>
              <a:gd name="adj" fmla="val 4273"/>
            </a:avLst>
          </a:prstGeom>
          <a:solidFill>
            <a:srgbClr val="EEF0FF"/>
          </a:solidFill>
          <a:ln w="12700">
            <a:solidFill>
              <a:srgbClr val="EEF0FF"/>
            </a:solidFill>
            <a:prstDash val="solid"/>
          </a:ln>
        </p:spPr>
      </p:sp>
      <p:sp>
        <p:nvSpPr>
          <p:cNvPr id="7" name="Text 5"/>
          <p:cNvSpPr txBox="1"/>
          <p:nvPr/>
        </p:nvSpPr>
        <p:spPr>
          <a:xfrm>
            <a:off x="685800" y="1892808"/>
            <a:ext cx="2293544" cy="1371600"/>
          </a:xfrm>
          <a:prstGeom prst="rect">
            <a:avLst/>
          </a:prstGeom>
          <a:noFill/>
          <a:ln/>
        </p:spPr>
        <p:txBody>
          <a:bodyPr wrap="square" lIns="50800" tIns="50800" rIns="50800" bIns="50800" rtlCol="0" anchor="ctr"/>
          <a:lstStyle/>
          <a:p>
            <a:pPr algn="ctr" indent="0" marL="0">
              <a:buNone/>
            </a:pPr>
            <a:r>
              <a:rPr lang="en-US" sz="6000" b="1" dirty="0">
                <a:solidFill>
                  <a:srgbClr val="4F46E5"/>
                </a:solidFill>
                <a:latin typeface="Calibri" pitchFamily="34" charset="0"/>
                <a:ea typeface="Calibri" pitchFamily="34" charset="-122"/>
                <a:cs typeface="Calibri" pitchFamily="34" charset="-120"/>
              </a:rPr>
              <a:t>300 B</a:t>
            </a:r>
            <a:endParaRPr lang="en-US" sz="6000" dirty="0"/>
          </a:p>
        </p:txBody>
      </p:sp>
      <p:sp>
        <p:nvSpPr>
          <p:cNvPr id="8" name="Text 6"/>
          <p:cNvSpPr txBox="1"/>
          <p:nvPr/>
        </p:nvSpPr>
        <p:spPr>
          <a:xfrm>
            <a:off x="731520" y="3355848"/>
            <a:ext cx="2202104" cy="1901952"/>
          </a:xfrm>
          <a:prstGeom prst="rect">
            <a:avLst/>
          </a:prstGeom>
          <a:noFill/>
          <a:ln/>
        </p:spPr>
        <p:txBody>
          <a:bodyPr wrap="square" lIns="50800" tIns="50800" rIns="50800" bIns="50800" rtlCol="0" anchor="t"/>
          <a:lstStyle/>
          <a:p>
            <a:pPr algn="ctr" indent="0" marL="0">
              <a:buNone/>
            </a:pPr>
            <a:r>
              <a:rPr lang="en-US" sz="1900" dirty="0">
                <a:solidFill>
                  <a:srgbClr val="1F2937"/>
                </a:solidFill>
                <a:latin typeface="Calibri" pitchFamily="34" charset="0"/>
                <a:ea typeface="Calibri" pitchFamily="34" charset="-122"/>
                <a:cs typeface="Calibri" pitchFamily="34" charset="-120"/>
              </a:rPr>
              <a:t>GPT-3 training (2020)</a:t>
            </a:r>
            <a:endParaRPr lang="en-US" sz="1900" dirty="0"/>
          </a:p>
        </p:txBody>
      </p:sp>
      <p:sp>
        <p:nvSpPr>
          <p:cNvPr id="9" name="Shape 7"/>
          <p:cNvSpPr/>
          <p:nvPr/>
        </p:nvSpPr>
        <p:spPr>
          <a:xfrm>
            <a:off x="3390824" y="1664208"/>
            <a:ext cx="2567864" cy="3822192"/>
          </a:xfrm>
          <a:prstGeom prst="roundRect">
            <a:avLst>
              <a:gd name="adj" fmla="val 4273"/>
            </a:avLst>
          </a:prstGeom>
          <a:solidFill>
            <a:srgbClr val="EEF0FF"/>
          </a:solidFill>
          <a:ln w="12700">
            <a:solidFill>
              <a:srgbClr val="EEF0FF"/>
            </a:solidFill>
            <a:prstDash val="solid"/>
          </a:ln>
        </p:spPr>
      </p:sp>
      <p:sp>
        <p:nvSpPr>
          <p:cNvPr id="10" name="Text 8"/>
          <p:cNvSpPr txBox="1"/>
          <p:nvPr/>
        </p:nvSpPr>
        <p:spPr>
          <a:xfrm>
            <a:off x="3527984" y="1892808"/>
            <a:ext cx="2293544" cy="1371600"/>
          </a:xfrm>
          <a:prstGeom prst="rect">
            <a:avLst/>
          </a:prstGeom>
          <a:noFill/>
          <a:ln/>
        </p:spPr>
        <p:txBody>
          <a:bodyPr wrap="square" lIns="50800" tIns="50800" rIns="50800" bIns="50800" rtlCol="0" anchor="ctr"/>
          <a:lstStyle/>
          <a:p>
            <a:pPr algn="ctr" indent="0" marL="0">
              <a:buNone/>
            </a:pPr>
            <a:r>
              <a:rPr lang="en-US" sz="6000" b="1" dirty="0">
                <a:solidFill>
                  <a:srgbClr val="4F46E5"/>
                </a:solidFill>
                <a:latin typeface="Calibri" pitchFamily="34" charset="0"/>
                <a:ea typeface="Calibri" pitchFamily="34" charset="-122"/>
                <a:cs typeface="Calibri" pitchFamily="34" charset="-120"/>
              </a:rPr>
              <a:t>1.4 T</a:t>
            </a:r>
            <a:endParaRPr lang="en-US" sz="6000" dirty="0"/>
          </a:p>
        </p:txBody>
      </p:sp>
      <p:sp>
        <p:nvSpPr>
          <p:cNvPr id="11" name="Text 9"/>
          <p:cNvSpPr txBox="1"/>
          <p:nvPr/>
        </p:nvSpPr>
        <p:spPr>
          <a:xfrm>
            <a:off x="3573704" y="3355848"/>
            <a:ext cx="2202104" cy="1901952"/>
          </a:xfrm>
          <a:prstGeom prst="rect">
            <a:avLst/>
          </a:prstGeom>
          <a:noFill/>
          <a:ln/>
        </p:spPr>
        <p:txBody>
          <a:bodyPr wrap="square" lIns="50800" tIns="50800" rIns="50800" bIns="50800" rtlCol="0" anchor="t"/>
          <a:lstStyle/>
          <a:p>
            <a:pPr algn="ctr" indent="0" marL="0">
              <a:buNone/>
            </a:pPr>
            <a:r>
              <a:rPr lang="en-US" sz="1900" dirty="0">
                <a:solidFill>
                  <a:srgbClr val="1F2937"/>
                </a:solidFill>
                <a:latin typeface="Calibri" pitchFamily="34" charset="0"/>
                <a:ea typeface="Calibri" pitchFamily="34" charset="-122"/>
                <a:cs typeface="Calibri" pitchFamily="34" charset="-120"/>
              </a:rPr>
              <a:t>Chinchilla training (2022)</a:t>
            </a:r>
            <a:endParaRPr lang="en-US" sz="1900" dirty="0"/>
          </a:p>
        </p:txBody>
      </p:sp>
      <p:sp>
        <p:nvSpPr>
          <p:cNvPr id="12" name="Shape 10"/>
          <p:cNvSpPr/>
          <p:nvPr/>
        </p:nvSpPr>
        <p:spPr>
          <a:xfrm>
            <a:off x="6233008" y="1664208"/>
            <a:ext cx="2567864" cy="3822192"/>
          </a:xfrm>
          <a:prstGeom prst="roundRect">
            <a:avLst>
              <a:gd name="adj" fmla="val 4273"/>
            </a:avLst>
          </a:prstGeom>
          <a:solidFill>
            <a:srgbClr val="EEF0FF"/>
          </a:solidFill>
          <a:ln w="12700">
            <a:solidFill>
              <a:srgbClr val="EEF0FF"/>
            </a:solidFill>
            <a:prstDash val="solid"/>
          </a:ln>
        </p:spPr>
      </p:sp>
      <p:sp>
        <p:nvSpPr>
          <p:cNvPr id="13" name="Text 11"/>
          <p:cNvSpPr txBox="1"/>
          <p:nvPr/>
        </p:nvSpPr>
        <p:spPr>
          <a:xfrm>
            <a:off x="6370168" y="1892808"/>
            <a:ext cx="2293544" cy="1371600"/>
          </a:xfrm>
          <a:prstGeom prst="rect">
            <a:avLst/>
          </a:prstGeom>
          <a:noFill/>
          <a:ln/>
        </p:spPr>
        <p:txBody>
          <a:bodyPr wrap="square" lIns="50800" tIns="50800" rIns="50800" bIns="50800" rtlCol="0" anchor="ctr"/>
          <a:lstStyle/>
          <a:p>
            <a:pPr algn="ctr" indent="0" marL="0">
              <a:buNone/>
            </a:pPr>
            <a:r>
              <a:rPr lang="en-US" sz="6000" b="1" dirty="0">
                <a:solidFill>
                  <a:srgbClr val="4F46E5"/>
                </a:solidFill>
                <a:latin typeface="Calibri" pitchFamily="34" charset="0"/>
                <a:ea typeface="Calibri" pitchFamily="34" charset="-122"/>
                <a:cs typeface="Calibri" pitchFamily="34" charset="-120"/>
              </a:rPr>
              <a:t>15 T</a:t>
            </a:r>
            <a:endParaRPr lang="en-US" sz="6000" dirty="0"/>
          </a:p>
        </p:txBody>
      </p:sp>
      <p:sp>
        <p:nvSpPr>
          <p:cNvPr id="14" name="Text 12"/>
          <p:cNvSpPr txBox="1"/>
          <p:nvPr/>
        </p:nvSpPr>
        <p:spPr>
          <a:xfrm>
            <a:off x="6415888" y="3355848"/>
            <a:ext cx="2202104" cy="1901952"/>
          </a:xfrm>
          <a:prstGeom prst="rect">
            <a:avLst/>
          </a:prstGeom>
          <a:noFill/>
          <a:ln/>
        </p:spPr>
        <p:txBody>
          <a:bodyPr wrap="square" lIns="50800" tIns="50800" rIns="50800" bIns="50800" rtlCol="0" anchor="t"/>
          <a:lstStyle/>
          <a:p>
            <a:pPr algn="ctr" indent="0" marL="0">
              <a:buNone/>
            </a:pPr>
            <a:r>
              <a:rPr lang="en-US" sz="1900" dirty="0">
                <a:solidFill>
                  <a:srgbClr val="1F2937"/>
                </a:solidFill>
                <a:latin typeface="Calibri" pitchFamily="34" charset="0"/>
                <a:ea typeface="Calibri" pitchFamily="34" charset="-122"/>
                <a:cs typeface="Calibri" pitchFamily="34" charset="-120"/>
              </a:rPr>
              <a:t>FineWeb dataset (2024)</a:t>
            </a:r>
            <a:endParaRPr lang="en-US" sz="1900" dirty="0"/>
          </a:p>
        </p:txBody>
      </p:sp>
      <p:sp>
        <p:nvSpPr>
          <p:cNvPr id="15" name="Shape 13"/>
          <p:cNvSpPr/>
          <p:nvPr/>
        </p:nvSpPr>
        <p:spPr>
          <a:xfrm>
            <a:off x="9075191" y="1664208"/>
            <a:ext cx="2567864" cy="3822192"/>
          </a:xfrm>
          <a:prstGeom prst="roundRect">
            <a:avLst>
              <a:gd name="adj" fmla="val 4273"/>
            </a:avLst>
          </a:prstGeom>
          <a:solidFill>
            <a:srgbClr val="EEF0FF"/>
          </a:solidFill>
          <a:ln w="12700">
            <a:solidFill>
              <a:srgbClr val="EEF0FF"/>
            </a:solidFill>
            <a:prstDash val="solid"/>
          </a:ln>
        </p:spPr>
      </p:sp>
      <p:sp>
        <p:nvSpPr>
          <p:cNvPr id="16" name="Text 14"/>
          <p:cNvSpPr txBox="1"/>
          <p:nvPr/>
        </p:nvSpPr>
        <p:spPr>
          <a:xfrm>
            <a:off x="9212351" y="1892808"/>
            <a:ext cx="2293544" cy="1371600"/>
          </a:xfrm>
          <a:prstGeom prst="rect">
            <a:avLst/>
          </a:prstGeom>
          <a:noFill/>
          <a:ln/>
        </p:spPr>
        <p:txBody>
          <a:bodyPr wrap="square" lIns="50800" tIns="50800" rIns="50800" bIns="50800" rtlCol="0" anchor="ctr"/>
          <a:lstStyle/>
          <a:p>
            <a:pPr algn="ctr" indent="0" marL="0">
              <a:buNone/>
            </a:pPr>
            <a:r>
              <a:rPr lang="en-US" sz="6000" b="1" dirty="0">
                <a:solidFill>
                  <a:srgbClr val="4F46E5"/>
                </a:solidFill>
                <a:latin typeface="Calibri" pitchFamily="34" charset="0"/>
                <a:ea typeface="Calibri" pitchFamily="34" charset="-122"/>
                <a:cs typeface="Calibri" pitchFamily="34" charset="-120"/>
              </a:rPr>
              <a:t>15 T+</a:t>
            </a:r>
            <a:endParaRPr lang="en-US" sz="6000" dirty="0"/>
          </a:p>
        </p:txBody>
      </p:sp>
      <p:sp>
        <p:nvSpPr>
          <p:cNvPr id="17" name="Text 15"/>
          <p:cNvSpPr txBox="1"/>
          <p:nvPr/>
        </p:nvSpPr>
        <p:spPr>
          <a:xfrm>
            <a:off x="9258071" y="3355848"/>
            <a:ext cx="2202104" cy="1901952"/>
          </a:xfrm>
          <a:prstGeom prst="rect">
            <a:avLst/>
          </a:prstGeom>
          <a:noFill/>
          <a:ln/>
        </p:spPr>
        <p:txBody>
          <a:bodyPr wrap="square" lIns="50800" tIns="50800" rIns="50800" bIns="50800" rtlCol="0" anchor="t"/>
          <a:lstStyle/>
          <a:p>
            <a:pPr algn="ctr" indent="0" marL="0">
              <a:buNone/>
            </a:pPr>
            <a:r>
              <a:rPr lang="en-US" sz="1900" dirty="0">
                <a:solidFill>
                  <a:srgbClr val="1F2937"/>
                </a:solidFill>
                <a:latin typeface="Calibri" pitchFamily="34" charset="0"/>
                <a:ea typeface="Calibri" pitchFamily="34" charset="-122"/>
                <a:cs typeface="Calibri" pitchFamily="34" charset="-120"/>
              </a:rPr>
              <a:t>Llama 3 training (2024)</a:t>
            </a:r>
            <a:endParaRPr lang="en-US" sz="1900" dirty="0"/>
          </a:p>
        </p:txBody>
      </p:sp>
      <p:sp>
        <p:nvSpPr>
          <p:cNvPr id="18" name="Text 16"/>
          <p:cNvSpPr txBox="1"/>
          <p:nvPr/>
        </p:nvSpPr>
        <p:spPr>
          <a:xfrm>
            <a:off x="548640" y="5623560"/>
            <a:ext cx="11094415" cy="640080"/>
          </a:xfrm>
          <a:prstGeom prst="rect">
            <a:avLst/>
          </a:prstGeom>
          <a:noFill/>
          <a:ln/>
        </p:spPr>
        <p:txBody>
          <a:bodyPr wrap="square" lIns="50800" tIns="50800" rIns="50800" bIns="50800" rtlCol="0" anchor="t"/>
          <a:lstStyle/>
          <a:p>
            <a:pPr indent="0" marL="0">
              <a:buNone/>
            </a:pPr>
            <a:r>
              <a:rPr lang="en-US" sz="1400" i="1" dirty="0">
                <a:solidFill>
                  <a:srgbClr val="6B7280"/>
                </a:solidFill>
                <a:latin typeface="Calibri" pitchFamily="34" charset="0"/>
                <a:ea typeface="Calibri" pitchFamily="34" charset="-122"/>
                <a:cs typeface="Calibri" pitchFamily="34" charset="-120"/>
              </a:rPr>
              <a:t>Historical developer reports; token units vary.</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06  ·  LARGE LANGUAGE MODELS (LLMS) AND FAMILIES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17</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In-context learning and 'emergent' abilities</a:t>
            </a:r>
            <a:endParaRPr lang="en-US" sz="3200" dirty="0"/>
          </a:p>
        </p:txBody>
      </p:sp>
      <p:sp>
        <p:nvSpPr>
          <p:cNvPr id="6" name="Text 4"/>
          <p:cNvSpPr txBox="1"/>
          <p:nvPr/>
        </p:nvSpPr>
        <p:spPr>
          <a:xfrm>
            <a:off x="548640" y="1481328"/>
            <a:ext cx="4297680" cy="4828032"/>
          </a:xfrm>
          <a:prstGeom prst="rect">
            <a:avLst/>
          </a:prstGeom>
          <a:noFill/>
          <a:ln/>
        </p:spPr>
        <p:txBody>
          <a:bodyPr wrap="square" lIns="50800" tIns="50800" rIns="50800" bIns="50800" rtlCol="0" anchor="t"/>
          <a:lstStyle/>
          <a:p>
            <a:pPr marL="254000" indent="-254000">
              <a:spcAft>
                <a:spcPts val="800"/>
              </a:spcAft>
              <a:buSzPct val="100000"/>
              <a:buChar char="●"/>
            </a:pPr>
            <a:r>
              <a:rPr lang="en-US" sz="2600" dirty="0">
                <a:solidFill>
                  <a:srgbClr val="1F2937"/>
                </a:solidFill>
                <a:latin typeface="Calibri" pitchFamily="34" charset="0"/>
                <a:ea typeface="Calibri" pitchFamily="34" charset="-122"/>
                <a:cs typeface="Calibri" pitchFamily="34" charset="-120"/>
              </a:rPr>
              <a:t>Prompt examples change context.</a:t>
            </a:r>
            <a:endParaRPr lang="en-US" sz="2600" dirty="0"/>
          </a:p>
          <a:p>
            <a:pPr marL="254000" indent="-254000">
              <a:spcAft>
                <a:spcPts val="800"/>
              </a:spcAft>
              <a:buSzPct val="100000"/>
              <a:buChar char="●"/>
            </a:pPr>
            <a:r>
              <a:rPr lang="en-US" sz="2600" dirty="0">
                <a:solidFill>
                  <a:srgbClr val="1F2937"/>
                </a:solidFill>
                <a:latin typeface="Calibri" pitchFamily="34" charset="0"/>
                <a:ea typeface="Calibri" pitchFamily="34" charset="-122"/>
                <a:cs typeface="Calibri" pitchFamily="34" charset="-120"/>
              </a:rPr>
              <a:t>Weights stay fixed.</a:t>
            </a:r>
            <a:endParaRPr lang="en-US" sz="2600" dirty="0"/>
          </a:p>
          <a:p>
            <a:pPr marL="254000" indent="-254000">
              <a:spcAft>
                <a:spcPts val="800"/>
              </a:spcAft>
              <a:buSzPct val="100000"/>
              <a:buChar char="●"/>
            </a:pPr>
            <a:r>
              <a:rPr lang="en-US" sz="2600" dirty="0">
                <a:solidFill>
                  <a:srgbClr val="1F2937"/>
                </a:solidFill>
                <a:latin typeface="Calibri" pitchFamily="34" charset="0"/>
                <a:ea typeface="Calibri" pitchFamily="34" charset="-122"/>
                <a:cs typeface="Calibri" pitchFamily="34" charset="-120"/>
              </a:rPr>
              <a:t>Test the actual capability.</a:t>
            </a:r>
            <a:endParaRPr lang="en-US" sz="2600" dirty="0"/>
          </a:p>
        </p:txBody>
      </p:sp>
      <p:sp>
        <p:nvSpPr>
          <p:cNvPr id="7" name="Shape 5"/>
          <p:cNvSpPr/>
          <p:nvPr/>
        </p:nvSpPr>
        <p:spPr>
          <a:xfrm>
            <a:off x="5257800" y="2624328"/>
            <a:ext cx="6385255" cy="0"/>
          </a:xfrm>
          <a:prstGeom prst="line">
            <a:avLst/>
          </a:prstGeom>
          <a:noFill/>
          <a:ln w="12700">
            <a:solidFill>
              <a:srgbClr val="C7D2FE"/>
            </a:solidFill>
            <a:prstDash val="solid"/>
          </a:ln>
        </p:spPr>
      </p:sp>
      <p:sp>
        <p:nvSpPr>
          <p:cNvPr id="8" name="Text 6"/>
          <p:cNvSpPr txBox="1"/>
          <p:nvPr/>
        </p:nvSpPr>
        <p:spPr>
          <a:xfrm>
            <a:off x="5257800" y="1481328"/>
            <a:ext cx="1371600" cy="1033272"/>
          </a:xfrm>
          <a:prstGeom prst="rect">
            <a:avLst/>
          </a:prstGeom>
          <a:noFill/>
          <a:ln/>
        </p:spPr>
        <p:txBody>
          <a:bodyPr wrap="square" lIns="0" tIns="0" rIns="0" bIns="0" rtlCol="0" anchor="ctr"/>
          <a:lstStyle/>
          <a:p>
            <a:pPr indent="0" marL="0">
              <a:buNone/>
            </a:pPr>
            <a:r>
              <a:rPr lang="en-US" sz="1800" b="1" dirty="0">
                <a:solidFill>
                  <a:srgbClr val="0F766E"/>
                </a:solidFill>
                <a:latin typeface="Calibri" pitchFamily="34" charset="0"/>
                <a:ea typeface="Calibri" pitchFamily="34" charset="-122"/>
                <a:cs typeface="Calibri" pitchFamily="34" charset="-120"/>
              </a:rPr>
              <a:t>Examples</a:t>
            </a:r>
            <a:endParaRPr lang="en-US" sz="1800" dirty="0"/>
          </a:p>
        </p:txBody>
      </p:sp>
      <p:sp>
        <p:nvSpPr>
          <p:cNvPr id="9" name="Text 7"/>
          <p:cNvSpPr txBox="1"/>
          <p:nvPr/>
        </p:nvSpPr>
        <p:spPr>
          <a:xfrm>
            <a:off x="6766560" y="1481328"/>
            <a:ext cx="4876495" cy="1033272"/>
          </a:xfrm>
          <a:prstGeom prst="rect">
            <a:avLst/>
          </a:prstGeom>
          <a:noFill/>
          <a:ln/>
        </p:spPr>
        <p:txBody>
          <a:bodyPr wrap="square" lIns="0" tIns="0" rIns="0" bIns="0" rtlCol="0" anchor="ctr"/>
          <a:lstStyle/>
          <a:p>
            <a:pPr indent="0" marL="0">
              <a:buNone/>
            </a:pPr>
            <a:r>
              <a:rPr lang="en-US" sz="2200" dirty="0">
                <a:solidFill>
                  <a:srgbClr val="1F2937"/>
                </a:solidFill>
                <a:latin typeface="Calibri" pitchFamily="34" charset="0"/>
                <a:ea typeface="Calibri" pitchFamily="34" charset="-122"/>
                <a:cs typeface="Calibri" pitchFamily="34" charset="-120"/>
              </a:rPr>
              <a:t>good → positive; awful → negative</a:t>
            </a:r>
            <a:endParaRPr lang="en-US" sz="2200" dirty="0"/>
          </a:p>
        </p:txBody>
      </p:sp>
      <p:sp>
        <p:nvSpPr>
          <p:cNvPr id="10" name="Shape 8"/>
          <p:cNvSpPr/>
          <p:nvPr/>
        </p:nvSpPr>
        <p:spPr>
          <a:xfrm>
            <a:off x="5257800" y="3950208"/>
            <a:ext cx="6385255" cy="0"/>
          </a:xfrm>
          <a:prstGeom prst="line">
            <a:avLst/>
          </a:prstGeom>
          <a:noFill/>
          <a:ln w="12700">
            <a:solidFill>
              <a:srgbClr val="C7D2FE"/>
            </a:solidFill>
            <a:prstDash val="solid"/>
          </a:ln>
        </p:spPr>
      </p:sp>
      <p:sp>
        <p:nvSpPr>
          <p:cNvPr id="11" name="Text 9"/>
          <p:cNvSpPr txBox="1"/>
          <p:nvPr/>
        </p:nvSpPr>
        <p:spPr>
          <a:xfrm>
            <a:off x="5257800" y="2807208"/>
            <a:ext cx="1371600" cy="1033272"/>
          </a:xfrm>
          <a:prstGeom prst="rect">
            <a:avLst/>
          </a:prstGeom>
          <a:noFill/>
          <a:ln/>
        </p:spPr>
        <p:txBody>
          <a:bodyPr wrap="square" lIns="0" tIns="0" rIns="0" bIns="0" rtlCol="0" anchor="ctr"/>
          <a:lstStyle/>
          <a:p>
            <a:pPr indent="0" marL="0">
              <a:buNone/>
            </a:pPr>
            <a:r>
              <a:rPr lang="en-US" sz="1800" b="1" dirty="0">
                <a:solidFill>
                  <a:srgbClr val="0F766E"/>
                </a:solidFill>
                <a:latin typeface="Calibri" pitchFamily="34" charset="0"/>
                <a:ea typeface="Calibri" pitchFamily="34" charset="-122"/>
                <a:cs typeface="Calibri" pitchFamily="34" charset="-120"/>
              </a:rPr>
              <a:t>Predict</a:t>
            </a:r>
            <a:endParaRPr lang="en-US" sz="1800" dirty="0"/>
          </a:p>
        </p:txBody>
      </p:sp>
      <p:sp>
        <p:nvSpPr>
          <p:cNvPr id="12" name="Text 10"/>
          <p:cNvSpPr txBox="1"/>
          <p:nvPr/>
        </p:nvSpPr>
        <p:spPr>
          <a:xfrm>
            <a:off x="6766560" y="2807208"/>
            <a:ext cx="4876495" cy="1033272"/>
          </a:xfrm>
          <a:prstGeom prst="rect">
            <a:avLst/>
          </a:prstGeom>
          <a:noFill/>
          <a:ln/>
        </p:spPr>
        <p:txBody>
          <a:bodyPr wrap="square" lIns="0" tIns="0" rIns="0" bIns="0" rtlCol="0" anchor="ctr"/>
          <a:lstStyle/>
          <a:p>
            <a:pPr indent="0" marL="0">
              <a:buNone/>
            </a:pPr>
            <a:r>
              <a:rPr lang="en-US" sz="2200" dirty="0">
                <a:solidFill>
                  <a:srgbClr val="1F2937"/>
                </a:solidFill>
                <a:latin typeface="Calibri" pitchFamily="34" charset="0"/>
                <a:ea typeface="Calibri" pitchFamily="34" charset="-122"/>
                <a:cs typeface="Calibri" pitchFamily="34" charset="-120"/>
              </a:rPr>
              <a:t>great → ?</a:t>
            </a:r>
            <a:endParaRPr lang="en-US" sz="2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06  ·  LARGE LANGUAGE MODELS (LLMS) AND FAMILIES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18</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Context windows: how much the model can see at once</a:t>
            </a:r>
            <a:endParaRPr lang="en-US" sz="3200" dirty="0"/>
          </a:p>
        </p:txBody>
      </p:sp>
      <p:sp>
        <p:nvSpPr>
          <p:cNvPr id="6" name="Text 4"/>
          <p:cNvSpPr txBox="1"/>
          <p:nvPr/>
        </p:nvSpPr>
        <p:spPr>
          <a:xfrm>
            <a:off x="548640" y="1481328"/>
            <a:ext cx="4297680" cy="4828032"/>
          </a:xfrm>
          <a:prstGeom prst="rect">
            <a:avLst/>
          </a:prstGeom>
          <a:noFill/>
          <a:ln/>
        </p:spPr>
        <p:txBody>
          <a:bodyPr wrap="square" lIns="50800" tIns="50800" rIns="50800" bIns="50800" rtlCol="0" anchor="t"/>
          <a:lstStyle/>
          <a:p>
            <a:pPr marL="254000" indent="-254000">
              <a:spcAft>
                <a:spcPts val="800"/>
              </a:spcAft>
              <a:buSzPct val="100000"/>
              <a:buChar char="●"/>
            </a:pPr>
            <a:r>
              <a:rPr lang="en-US" sz="2600" dirty="0">
                <a:solidFill>
                  <a:srgbClr val="1F2937"/>
                </a:solidFill>
                <a:latin typeface="Calibri" pitchFamily="34" charset="0"/>
                <a:ea typeface="Calibri" pitchFamily="34" charset="-122"/>
                <a:cs typeface="Calibri" pitchFamily="34" charset="-120"/>
              </a:rPr>
              <a:t>Count formatted tokens.</a:t>
            </a:r>
            <a:endParaRPr lang="en-US" sz="2600" dirty="0"/>
          </a:p>
          <a:p>
            <a:pPr marL="254000" indent="-254000">
              <a:spcAft>
                <a:spcPts val="800"/>
              </a:spcAft>
              <a:buSzPct val="100000"/>
              <a:buChar char="●"/>
            </a:pPr>
            <a:r>
              <a:rPr lang="en-US" sz="2600" dirty="0">
                <a:solidFill>
                  <a:srgbClr val="1F2937"/>
                </a:solidFill>
                <a:latin typeface="Calibri" pitchFamily="34" charset="0"/>
                <a:ea typeface="Calibri" pitchFamily="34" charset="-122"/>
                <a:cs typeface="Calibri" pitchFamily="34" charset="-120"/>
              </a:rPr>
              <a:t>Capacity does not guarantee recall.</a:t>
            </a:r>
            <a:endParaRPr lang="en-US" sz="2600" dirty="0"/>
          </a:p>
          <a:p>
            <a:pPr marL="254000" indent="-254000">
              <a:spcAft>
                <a:spcPts val="800"/>
              </a:spcAft>
              <a:buSzPct val="100000"/>
              <a:buChar char="●"/>
            </a:pPr>
            <a:r>
              <a:rPr lang="en-US" sz="2600" dirty="0">
                <a:solidFill>
                  <a:srgbClr val="1F2937"/>
                </a:solidFill>
                <a:latin typeface="Calibri" pitchFamily="34" charset="0"/>
                <a:ea typeface="Calibri" pitchFamily="34" charset="-122"/>
                <a:cs typeface="Calibri" pitchFamily="34" charset="-120"/>
              </a:rPr>
              <a:t>Check model-specific caps.</a:t>
            </a:r>
            <a:endParaRPr lang="en-US" sz="2600" dirty="0"/>
          </a:p>
        </p:txBody>
      </p:sp>
      <p:sp>
        <p:nvSpPr>
          <p:cNvPr id="7" name="Shape 5"/>
          <p:cNvSpPr/>
          <p:nvPr/>
        </p:nvSpPr>
        <p:spPr>
          <a:xfrm>
            <a:off x="5257800" y="2624328"/>
            <a:ext cx="6385255" cy="0"/>
          </a:xfrm>
          <a:prstGeom prst="line">
            <a:avLst/>
          </a:prstGeom>
          <a:noFill/>
          <a:ln w="12700">
            <a:solidFill>
              <a:srgbClr val="C7D2FE"/>
            </a:solidFill>
            <a:prstDash val="solid"/>
          </a:ln>
        </p:spPr>
      </p:sp>
      <p:sp>
        <p:nvSpPr>
          <p:cNvPr id="8" name="Text 6"/>
          <p:cNvSpPr txBox="1"/>
          <p:nvPr/>
        </p:nvSpPr>
        <p:spPr>
          <a:xfrm>
            <a:off x="5257800" y="1481328"/>
            <a:ext cx="1371600" cy="1033272"/>
          </a:xfrm>
          <a:prstGeom prst="rect">
            <a:avLst/>
          </a:prstGeom>
          <a:noFill/>
          <a:ln/>
        </p:spPr>
        <p:txBody>
          <a:bodyPr wrap="square" lIns="0" tIns="0" rIns="0" bIns="0" rtlCol="0" anchor="ctr"/>
          <a:lstStyle/>
          <a:p>
            <a:pPr indent="0" marL="0">
              <a:buNone/>
            </a:pPr>
            <a:r>
              <a:rPr lang="en-US" sz="1800" b="1" dirty="0">
                <a:solidFill>
                  <a:srgbClr val="0F766E"/>
                </a:solidFill>
                <a:latin typeface="Calibri" pitchFamily="34" charset="0"/>
                <a:ea typeface="Calibri" pitchFamily="34" charset="-122"/>
                <a:cs typeface="Calibri" pitchFamily="34" charset="-120"/>
              </a:rPr>
              <a:t>Input</a:t>
            </a:r>
            <a:endParaRPr lang="en-US" sz="1800" dirty="0"/>
          </a:p>
        </p:txBody>
      </p:sp>
      <p:sp>
        <p:nvSpPr>
          <p:cNvPr id="9" name="Text 7"/>
          <p:cNvSpPr txBox="1"/>
          <p:nvPr/>
        </p:nvSpPr>
        <p:spPr>
          <a:xfrm>
            <a:off x="6766560" y="1481328"/>
            <a:ext cx="4876495" cy="1033272"/>
          </a:xfrm>
          <a:prstGeom prst="rect">
            <a:avLst/>
          </a:prstGeom>
          <a:noFill/>
          <a:ln/>
        </p:spPr>
        <p:txBody>
          <a:bodyPr wrap="square" lIns="0" tIns="0" rIns="0" bIns="0" rtlCol="0" anchor="ctr"/>
          <a:lstStyle/>
          <a:p>
            <a:pPr indent="0" marL="0">
              <a:buNone/>
            </a:pPr>
            <a:r>
              <a:rPr lang="en-US" sz="2200" dirty="0">
                <a:solidFill>
                  <a:srgbClr val="1F2937"/>
                </a:solidFill>
                <a:latin typeface="Calibri" pitchFamily="34" charset="0"/>
                <a:ea typeface="Calibri" pitchFamily="34" charset="-122"/>
                <a:cs typeface="Calibri" pitchFamily="34" charset="-120"/>
              </a:rPr>
              <a:t>Instructions + sources + history</a:t>
            </a:r>
            <a:endParaRPr lang="en-US" sz="2200" dirty="0"/>
          </a:p>
        </p:txBody>
      </p:sp>
      <p:sp>
        <p:nvSpPr>
          <p:cNvPr id="10" name="Shape 8"/>
          <p:cNvSpPr/>
          <p:nvPr/>
        </p:nvSpPr>
        <p:spPr>
          <a:xfrm>
            <a:off x="5257800" y="3950208"/>
            <a:ext cx="6385255" cy="0"/>
          </a:xfrm>
          <a:prstGeom prst="line">
            <a:avLst/>
          </a:prstGeom>
          <a:noFill/>
          <a:ln w="12700">
            <a:solidFill>
              <a:srgbClr val="C7D2FE"/>
            </a:solidFill>
            <a:prstDash val="solid"/>
          </a:ln>
        </p:spPr>
      </p:sp>
      <p:sp>
        <p:nvSpPr>
          <p:cNvPr id="11" name="Text 9"/>
          <p:cNvSpPr txBox="1"/>
          <p:nvPr/>
        </p:nvSpPr>
        <p:spPr>
          <a:xfrm>
            <a:off x="5257800" y="2807208"/>
            <a:ext cx="1371600" cy="1033272"/>
          </a:xfrm>
          <a:prstGeom prst="rect">
            <a:avLst/>
          </a:prstGeom>
          <a:noFill/>
          <a:ln/>
        </p:spPr>
        <p:txBody>
          <a:bodyPr wrap="square" lIns="0" tIns="0" rIns="0" bIns="0" rtlCol="0" anchor="ctr"/>
          <a:lstStyle/>
          <a:p>
            <a:pPr indent="0" marL="0">
              <a:buNone/>
            </a:pPr>
            <a:r>
              <a:rPr lang="en-US" sz="1800" b="1" dirty="0">
                <a:solidFill>
                  <a:srgbClr val="0F766E"/>
                </a:solidFill>
                <a:latin typeface="Calibri" pitchFamily="34" charset="0"/>
                <a:ea typeface="Calibri" pitchFamily="34" charset="-122"/>
                <a:cs typeface="Calibri" pitchFamily="34" charset="-120"/>
              </a:rPr>
              <a:t>Output</a:t>
            </a:r>
            <a:endParaRPr lang="en-US" sz="1800" dirty="0"/>
          </a:p>
        </p:txBody>
      </p:sp>
      <p:sp>
        <p:nvSpPr>
          <p:cNvPr id="12" name="Text 10"/>
          <p:cNvSpPr txBox="1"/>
          <p:nvPr/>
        </p:nvSpPr>
        <p:spPr>
          <a:xfrm>
            <a:off x="6766560" y="2807208"/>
            <a:ext cx="4876495" cy="1033272"/>
          </a:xfrm>
          <a:prstGeom prst="rect">
            <a:avLst/>
          </a:prstGeom>
          <a:noFill/>
          <a:ln/>
        </p:spPr>
        <p:txBody>
          <a:bodyPr wrap="square" lIns="0" tIns="0" rIns="0" bIns="0" rtlCol="0" anchor="ctr"/>
          <a:lstStyle/>
          <a:p>
            <a:pPr indent="0" marL="0">
              <a:buNone/>
            </a:pPr>
            <a:r>
              <a:rPr lang="en-US" sz="2200" dirty="0">
                <a:solidFill>
                  <a:srgbClr val="1F2937"/>
                </a:solidFill>
                <a:latin typeface="Calibri" pitchFamily="34" charset="0"/>
                <a:ea typeface="Calibri" pitchFamily="34" charset="-122"/>
                <a:cs typeface="Calibri" pitchFamily="34" charset="-120"/>
              </a:rPr>
              <a:t>Generated tokens</a:t>
            </a:r>
            <a:endParaRPr lang="en-US" sz="2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06  ·  LARGE LANGUAGE MODELS (LLMS) AND FAMILIES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19</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Tokenisers differ between model families</a:t>
            </a:r>
            <a:endParaRPr lang="en-US" sz="3200" dirty="0"/>
          </a:p>
        </p:txBody>
      </p:sp>
      <p:pic>
        <p:nvPicPr>
          <p:cNvPr id="6" name="Image 0" descr="C:\Users\sudee\Downloads\Generative_AI_2027_Teaching_Pack\AI2027_Project\build\figures\week_06\tokenizers.png">    </p:cNvPr>
          <p:cNvPicPr>
            <a:picLocks noChangeAspect="1"/>
          </p:cNvPicPr>
          <p:nvPr/>
        </p:nvPicPr>
        <p:blipFill>
          <a:blip r:embed="rId1"/>
          <a:stretch>
            <a:fillRect/>
          </a:stretch>
        </p:blipFill>
        <p:spPr>
          <a:xfrm>
            <a:off x="548640" y="1577638"/>
            <a:ext cx="11094415" cy="3174658"/>
          </a:xfrm>
          <a:prstGeom prst="rect">
            <a:avLst/>
          </a:prstGeom>
        </p:spPr>
      </p:pic>
      <p:sp>
        <p:nvSpPr>
          <p:cNvPr id="7" name="Text 4"/>
          <p:cNvSpPr txBox="1"/>
          <p:nvPr/>
        </p:nvSpPr>
        <p:spPr>
          <a:xfrm>
            <a:off x="548640" y="4935176"/>
            <a:ext cx="11094415" cy="1374184"/>
          </a:xfrm>
          <a:prstGeom prst="rect">
            <a:avLst/>
          </a:prstGeom>
          <a:noFill/>
          <a:ln/>
        </p:spPr>
        <p:txBody>
          <a:bodyPr wrap="square" lIns="50800" tIns="50800" rIns="50800" bIns="50800" rtlCol="0" anchor="t"/>
          <a:lstStyle/>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Stored counts for fixed texts.</a:t>
            </a:r>
            <a:endParaRPr lang="en-US" sz="2000" dirty="0"/>
          </a:p>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Inspect actual pieces and markers.</a:t>
            </a:r>
            <a:endParaRPr lang="en-US" sz="2000" dirty="0"/>
          </a:p>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Language and code affect budgets.</a:t>
            </a:r>
            <a:endParaRPr lang="en-US" sz="2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E1B4B"/>
        </a:solidFill>
      </p:bgPr>
    </p:bg>
    <p:spTree>
      <p:nvGrpSpPr>
        <p:cNvPr id="1" name=""/>
        <p:cNvGrpSpPr/>
        <p:nvPr/>
      </p:nvGrpSpPr>
      <p:grpSpPr>
        <a:xfrm>
          <a:off x="0" y="0"/>
          <a:ext cx="0" cy="0"/>
          <a:chOff x="0" y="0"/>
          <a:chExt cx="0" cy="0"/>
        </a:xfrm>
      </p:grpSpPr>
      <p:sp>
        <p:nvSpPr>
          <p:cNvPr id="2" name="Text 0"/>
          <p:cNvSpPr txBox="1"/>
          <p:nvPr/>
        </p:nvSpPr>
        <p:spPr>
          <a:xfrm>
            <a:off x="731520" y="1188720"/>
            <a:ext cx="2926080" cy="1828800"/>
          </a:xfrm>
          <a:prstGeom prst="rect">
            <a:avLst/>
          </a:prstGeom>
          <a:noFill/>
          <a:ln/>
        </p:spPr>
        <p:txBody>
          <a:bodyPr wrap="square" lIns="0" tIns="0" rIns="0" bIns="0" rtlCol="0" anchor="t"/>
          <a:lstStyle/>
          <a:p>
            <a:pPr indent="0" marL="0">
              <a:buNone/>
            </a:pPr>
            <a:r>
              <a:rPr lang="en-US" sz="11000" b="1" dirty="0">
                <a:solidFill>
                  <a:srgbClr val="EA580C"/>
                </a:solidFill>
                <a:latin typeface="Calibri" pitchFamily="34" charset="0"/>
                <a:ea typeface="Calibri" pitchFamily="34" charset="-122"/>
                <a:cs typeface="Calibri" pitchFamily="34" charset="-120"/>
              </a:rPr>
              <a:t>03</a:t>
            </a:r>
            <a:endParaRPr lang="en-US" sz="11000" dirty="0"/>
          </a:p>
        </p:txBody>
      </p:sp>
      <p:sp>
        <p:nvSpPr>
          <p:cNvPr id="3" name="Text 1"/>
          <p:cNvSpPr txBox="1"/>
          <p:nvPr/>
        </p:nvSpPr>
        <p:spPr>
          <a:xfrm>
            <a:off x="731520" y="3063240"/>
            <a:ext cx="10515600" cy="1463040"/>
          </a:xfrm>
          <a:prstGeom prst="rect">
            <a:avLst/>
          </a:prstGeom>
          <a:noFill/>
          <a:ln/>
        </p:spPr>
        <p:txBody>
          <a:bodyPr wrap="square" lIns="0" tIns="0" rIns="0" bIns="0" rtlCol="0" anchor="t"/>
          <a:lstStyle/>
          <a:p>
            <a:pPr indent="0" marL="0">
              <a:buNone/>
            </a:pPr>
            <a:r>
              <a:rPr lang="en-US" sz="4200" b="1" dirty="0">
                <a:solidFill>
                  <a:srgbClr val="FFFFFF"/>
                </a:solidFill>
                <a:latin typeface="Calibri" pitchFamily="34" charset="0"/>
                <a:ea typeface="Calibri" pitchFamily="34" charset="-122"/>
                <a:cs typeface="Calibri" pitchFamily="34" charset="-120"/>
              </a:rPr>
              <a:t>Decoding strategies</a:t>
            </a:r>
            <a:endParaRPr lang="en-US" sz="4200" dirty="0"/>
          </a:p>
        </p:txBody>
      </p:sp>
      <p:sp>
        <p:nvSpPr>
          <p:cNvPr id="4" name="Text 2"/>
          <p:cNvSpPr txBox="1"/>
          <p:nvPr/>
        </p:nvSpPr>
        <p:spPr>
          <a:xfrm>
            <a:off x="731520" y="4617720"/>
            <a:ext cx="10515600" cy="1097280"/>
          </a:xfrm>
          <a:prstGeom prst="rect">
            <a:avLst/>
          </a:prstGeom>
          <a:noFill/>
          <a:ln/>
        </p:spPr>
        <p:txBody>
          <a:bodyPr wrap="square" lIns="0" tIns="0" rIns="0" bIns="0" rtlCol="0" anchor="t"/>
          <a:lstStyle/>
          <a:p>
            <a:pPr indent="0" marL="0">
              <a:buNone/>
            </a:pPr>
            <a:r>
              <a:rPr lang="en-US" sz="2200" i="1" dirty="0">
                <a:solidFill>
                  <a:srgbClr val="C7D2FE"/>
                </a:solidFill>
                <a:latin typeface="Calibri" pitchFamily="34" charset="0"/>
                <a:ea typeface="Calibri" pitchFamily="34" charset="-122"/>
                <a:cs typeface="Calibri" pitchFamily="34" charset="-120"/>
              </a:rPr>
              <a:t>The model gives probabilities. How do we turn them into text?</a:t>
            </a:r>
            <a:endParaRPr lang="en-US" sz="2200" dirty="0"/>
          </a:p>
        </p:txBody>
      </p:sp>
      <p:sp>
        <p:nvSpPr>
          <p:cNvPr id="5" name="Shape 3"/>
          <p:cNvSpPr/>
          <p:nvPr/>
        </p:nvSpPr>
        <p:spPr>
          <a:xfrm>
            <a:off x="9692640" y="1097280"/>
            <a:ext cx="1554480" cy="1554480"/>
          </a:xfrm>
          <a:prstGeom prst="ellipse">
            <a:avLst/>
          </a:prstGeom>
          <a:solidFill>
            <a:srgbClr val="4F46E5"/>
          </a:solidFill>
          <a:ln w="12700">
            <a:solidFill>
              <a:srgbClr val="4F46E5"/>
            </a:solidFill>
            <a:prstDash val="solid"/>
          </a:ln>
        </p:spPr>
      </p:sp>
      <p:pic>
        <p:nvPicPr>
          <p:cNvPr id="6" name="Image 0" descr="preencoded.png">    </p:cNvPr>
          <p:cNvPicPr>
            <a:picLocks noChangeAspect="1"/>
          </p:cNvPicPr>
          <p:nvPr/>
        </p:nvPicPr>
        <p:blipFill>
          <a:blip r:embed="rId1"/>
          <a:stretch>
            <a:fillRect/>
          </a:stretch>
        </p:blipFill>
        <p:spPr>
          <a:xfrm>
            <a:off x="10065715" y="1470355"/>
            <a:ext cx="808330" cy="80833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06  ·  LARGE LANGUAGE MODELS (LLMS) AND FAMILIES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21</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Choose one next token</a:t>
            </a:r>
            <a:endParaRPr lang="en-US" sz="3200" dirty="0"/>
          </a:p>
        </p:txBody>
      </p:sp>
      <p:sp>
        <p:nvSpPr>
          <p:cNvPr id="6" name="Text 4"/>
          <p:cNvSpPr txBox="1"/>
          <p:nvPr/>
        </p:nvSpPr>
        <p:spPr>
          <a:xfrm>
            <a:off x="548640" y="1463040"/>
            <a:ext cx="11094415" cy="384048"/>
          </a:xfrm>
          <a:prstGeom prst="rect">
            <a:avLst/>
          </a:prstGeom>
          <a:noFill/>
          <a:ln/>
        </p:spPr>
        <p:txBody>
          <a:bodyPr wrap="square" lIns="0" tIns="0" rIns="0" bIns="0" rtlCol="0" anchor="t"/>
          <a:lstStyle/>
          <a:p>
            <a:pPr indent="0" marL="0">
              <a:buNone/>
            </a:pPr>
            <a:r>
              <a:rPr lang="en-US" sz="1800" dirty="0">
                <a:solidFill>
                  <a:srgbClr val="6B7280"/>
                </a:solidFill>
                <a:latin typeface="Calibri" pitchFamily="34" charset="0"/>
                <a:ea typeface="Calibri" pitchFamily="34" charset="-122"/>
                <a:cs typeface="Calibri" pitchFamily="34" charset="-120"/>
              </a:rPr>
              <a:t>Choose; reuse fixed weights</a:t>
            </a:r>
            <a:endParaRPr lang="en-US" sz="1800" dirty="0"/>
          </a:p>
        </p:txBody>
      </p:sp>
      <p:sp>
        <p:nvSpPr>
          <p:cNvPr id="7" name="Shape 5"/>
          <p:cNvSpPr/>
          <p:nvPr/>
        </p:nvSpPr>
        <p:spPr>
          <a:xfrm>
            <a:off x="2354146" y="3838927"/>
            <a:ext cx="244024" cy="0"/>
          </a:xfrm>
          <a:prstGeom prst="line">
            <a:avLst/>
          </a:prstGeom>
          <a:noFill/>
          <a:ln w="22860">
            <a:solidFill>
              <a:srgbClr val="009E73"/>
            </a:solidFill>
            <a:prstDash val="solid"/>
            <a:tailEnd type="triangle"/>
          </a:ln>
        </p:spPr>
      </p:sp>
      <p:sp>
        <p:nvSpPr>
          <p:cNvPr id="8" name="Text 6"/>
          <p:cNvSpPr txBox="1"/>
          <p:nvPr/>
        </p:nvSpPr>
        <p:spPr>
          <a:xfrm>
            <a:off x="1675454"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IDs</a:t>
            </a:r>
            <a:endParaRPr lang="en-US" sz="1441" dirty="0"/>
          </a:p>
        </p:txBody>
      </p:sp>
      <p:sp>
        <p:nvSpPr>
          <p:cNvPr id="9" name="Shape 7"/>
          <p:cNvSpPr/>
          <p:nvPr/>
        </p:nvSpPr>
        <p:spPr>
          <a:xfrm>
            <a:off x="4163991" y="3838927"/>
            <a:ext cx="244024" cy="0"/>
          </a:xfrm>
          <a:prstGeom prst="line">
            <a:avLst/>
          </a:prstGeom>
          <a:noFill/>
          <a:ln w="22860">
            <a:solidFill>
              <a:srgbClr val="009E73"/>
            </a:solidFill>
            <a:prstDash val="solid"/>
            <a:tailEnd type="triangle"/>
          </a:ln>
        </p:spPr>
      </p:sp>
      <p:sp>
        <p:nvSpPr>
          <p:cNvPr id="10" name="Text 8"/>
          <p:cNvSpPr txBox="1"/>
          <p:nvPr/>
        </p:nvSpPr>
        <p:spPr>
          <a:xfrm>
            <a:off x="3485299"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scores</a:t>
            </a:r>
            <a:endParaRPr lang="en-US" sz="1441" dirty="0"/>
          </a:p>
        </p:txBody>
      </p:sp>
      <p:sp>
        <p:nvSpPr>
          <p:cNvPr id="11" name="Shape 9"/>
          <p:cNvSpPr/>
          <p:nvPr/>
        </p:nvSpPr>
        <p:spPr>
          <a:xfrm>
            <a:off x="5973836" y="3838927"/>
            <a:ext cx="244024" cy="0"/>
          </a:xfrm>
          <a:prstGeom prst="line">
            <a:avLst/>
          </a:prstGeom>
          <a:noFill/>
          <a:ln w="22860">
            <a:solidFill>
              <a:srgbClr val="009E73"/>
            </a:solidFill>
            <a:prstDash val="solid"/>
            <a:tailEnd type="triangle"/>
          </a:ln>
        </p:spPr>
      </p:sp>
      <p:sp>
        <p:nvSpPr>
          <p:cNvPr id="12" name="Text 10"/>
          <p:cNvSpPr txBox="1"/>
          <p:nvPr/>
        </p:nvSpPr>
        <p:spPr>
          <a:xfrm>
            <a:off x="5295144"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scaled</a:t>
            </a:r>
            <a:endParaRPr lang="en-US" sz="1441" dirty="0"/>
          </a:p>
        </p:txBody>
      </p:sp>
      <p:sp>
        <p:nvSpPr>
          <p:cNvPr id="13" name="Shape 11"/>
          <p:cNvSpPr/>
          <p:nvPr/>
        </p:nvSpPr>
        <p:spPr>
          <a:xfrm>
            <a:off x="7783680" y="3838927"/>
            <a:ext cx="244024" cy="0"/>
          </a:xfrm>
          <a:prstGeom prst="line">
            <a:avLst/>
          </a:prstGeom>
          <a:noFill/>
          <a:ln w="22860">
            <a:solidFill>
              <a:srgbClr val="009E73"/>
            </a:solidFill>
            <a:prstDash val="solid"/>
            <a:tailEnd type="triangle"/>
          </a:ln>
        </p:spPr>
      </p:sp>
      <p:sp>
        <p:nvSpPr>
          <p:cNvPr id="14" name="Text 12"/>
          <p:cNvSpPr txBox="1"/>
          <p:nvPr/>
        </p:nvSpPr>
        <p:spPr>
          <a:xfrm>
            <a:off x="7104989"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probabilities</a:t>
            </a:r>
            <a:endParaRPr lang="en-US" sz="1441" dirty="0"/>
          </a:p>
        </p:txBody>
      </p:sp>
      <p:sp>
        <p:nvSpPr>
          <p:cNvPr id="15" name="Shape 13"/>
          <p:cNvSpPr/>
          <p:nvPr/>
        </p:nvSpPr>
        <p:spPr>
          <a:xfrm>
            <a:off x="9593525" y="3838927"/>
            <a:ext cx="244024" cy="0"/>
          </a:xfrm>
          <a:prstGeom prst="line">
            <a:avLst/>
          </a:prstGeom>
          <a:noFill/>
          <a:ln w="22860">
            <a:solidFill>
              <a:srgbClr val="009E73"/>
            </a:solidFill>
            <a:prstDash val="solid"/>
            <a:tailEnd type="triangle"/>
          </a:ln>
        </p:spPr>
      </p:sp>
      <p:sp>
        <p:nvSpPr>
          <p:cNvPr id="16" name="Text 14"/>
          <p:cNvSpPr txBox="1"/>
          <p:nvPr/>
        </p:nvSpPr>
        <p:spPr>
          <a:xfrm>
            <a:off x="8914834"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ID</a:t>
            </a:r>
            <a:endParaRPr lang="en-US" sz="1441" dirty="0"/>
          </a:p>
        </p:txBody>
      </p:sp>
      <p:sp>
        <p:nvSpPr>
          <p:cNvPr id="17" name="Shape 15"/>
          <p:cNvSpPr/>
          <p:nvPr/>
        </p:nvSpPr>
        <p:spPr>
          <a:xfrm flipV="1">
            <a:off x="10620460" y="2191765"/>
            <a:ext cx="0" cy="747324"/>
          </a:xfrm>
          <a:prstGeom prst="line">
            <a:avLst/>
          </a:prstGeom>
          <a:noFill/>
          <a:ln w="22860">
            <a:solidFill>
              <a:srgbClr val="D55E00"/>
            </a:solidFill>
            <a:prstDash val="dash"/>
          </a:ln>
        </p:spPr>
      </p:sp>
      <p:sp>
        <p:nvSpPr>
          <p:cNvPr id="18" name="Shape 16"/>
          <p:cNvSpPr/>
          <p:nvPr/>
        </p:nvSpPr>
        <p:spPr>
          <a:xfrm flipH="1">
            <a:off x="1571235" y="2191765"/>
            <a:ext cx="9049224" cy="0"/>
          </a:xfrm>
          <a:prstGeom prst="line">
            <a:avLst/>
          </a:prstGeom>
          <a:noFill/>
          <a:ln w="22860">
            <a:solidFill>
              <a:srgbClr val="D55E00"/>
            </a:solidFill>
            <a:prstDash val="dash"/>
          </a:ln>
        </p:spPr>
      </p:sp>
      <p:sp>
        <p:nvSpPr>
          <p:cNvPr id="19" name="Shape 17"/>
          <p:cNvSpPr/>
          <p:nvPr/>
        </p:nvSpPr>
        <p:spPr>
          <a:xfrm>
            <a:off x="1571235" y="2191765"/>
            <a:ext cx="0" cy="747324"/>
          </a:xfrm>
          <a:prstGeom prst="line">
            <a:avLst/>
          </a:prstGeom>
          <a:noFill/>
          <a:ln w="22860">
            <a:solidFill>
              <a:srgbClr val="D55E00"/>
            </a:solidFill>
            <a:prstDash val="dash"/>
            <a:tailEnd type="triangle"/>
          </a:ln>
        </p:spPr>
      </p:sp>
      <p:sp>
        <p:nvSpPr>
          <p:cNvPr id="20" name="Text 18"/>
          <p:cNvSpPr txBox="1"/>
          <p:nvPr/>
        </p:nvSpPr>
        <p:spPr>
          <a:xfrm>
            <a:off x="5759994" y="1917238"/>
            <a:ext cx="671708" cy="228773"/>
          </a:xfrm>
          <a:prstGeom prst="rect">
            <a:avLst/>
          </a:prstGeom>
          <a:noFill/>
          <a:ln/>
        </p:spPr>
        <p:txBody>
          <a:bodyPr wrap="square" lIns="0" tIns="0" rIns="0" bIns="0" rtlCol="0" anchor="ctr"/>
          <a:lstStyle/>
          <a:p>
            <a:pPr algn="ctr" indent="0" marL="0">
              <a:lnSpc>
                <a:spcPct val="116000"/>
              </a:lnSpc>
              <a:buNone/>
            </a:pPr>
            <a:r>
              <a:rPr lang="en-US" sz="1441" dirty="0">
                <a:solidFill>
                  <a:srgbClr val="A64200"/>
                </a:solidFill>
                <a:latin typeface="Arial" pitchFamily="34" charset="0"/>
                <a:ea typeface="Arial" pitchFamily="34" charset="-122"/>
                <a:cs typeface="Arial" pitchFamily="34" charset="-120"/>
              </a:rPr>
              <a:t>Repeat</a:t>
            </a:r>
            <a:endParaRPr lang="en-US" sz="1441" dirty="0"/>
          </a:p>
        </p:txBody>
      </p:sp>
      <p:sp>
        <p:nvSpPr>
          <p:cNvPr id="21" name="Shape 19"/>
          <p:cNvSpPr/>
          <p:nvPr/>
        </p:nvSpPr>
        <p:spPr>
          <a:xfrm>
            <a:off x="788325" y="2939089"/>
            <a:ext cx="1565821" cy="1799677"/>
          </a:xfrm>
          <a:prstGeom prst="roundRect">
            <a:avLst>
              <a:gd name="adj" fmla="val 4672"/>
            </a:avLst>
          </a:prstGeom>
          <a:solidFill>
            <a:srgbClr val="E4F2FB"/>
          </a:solidFill>
          <a:ln w="15240">
            <a:solidFill>
              <a:srgbClr val="0072B2"/>
            </a:solidFill>
            <a:prstDash val="solid"/>
          </a:ln>
        </p:spPr>
      </p:sp>
      <p:sp>
        <p:nvSpPr>
          <p:cNvPr id="22" name="Text 20"/>
          <p:cNvSpPr txBox="1"/>
          <p:nvPr/>
        </p:nvSpPr>
        <p:spPr>
          <a:xfrm>
            <a:off x="849331" y="3579652"/>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Prefix</a:t>
            </a:r>
            <a:endParaRPr lang="en-US" sz="1561" dirty="0"/>
          </a:p>
        </p:txBody>
      </p:sp>
      <p:sp>
        <p:nvSpPr>
          <p:cNvPr id="23" name="Text 21"/>
          <p:cNvSpPr txBox="1"/>
          <p:nvPr/>
        </p:nvSpPr>
        <p:spPr>
          <a:xfrm>
            <a:off x="849331" y="3885902"/>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[1,L]</a:t>
            </a:r>
            <a:endParaRPr lang="en-US" sz="1441" dirty="0"/>
          </a:p>
        </p:txBody>
      </p:sp>
      <p:sp>
        <p:nvSpPr>
          <p:cNvPr id="24" name="Shape 22"/>
          <p:cNvSpPr/>
          <p:nvPr/>
        </p:nvSpPr>
        <p:spPr>
          <a:xfrm>
            <a:off x="2598170" y="2939089"/>
            <a:ext cx="1565821" cy="1799677"/>
          </a:xfrm>
          <a:prstGeom prst="rect">
            <a:avLst/>
          </a:prstGeom>
          <a:solidFill>
            <a:srgbClr val="E5F7EF"/>
          </a:solidFill>
          <a:ln w="15240">
            <a:solidFill>
              <a:srgbClr val="009E73"/>
            </a:solidFill>
            <a:prstDash val="solid"/>
          </a:ln>
        </p:spPr>
      </p:sp>
      <p:sp>
        <p:nvSpPr>
          <p:cNvPr id="25" name="Text 23"/>
          <p:cNvSpPr txBox="1"/>
          <p:nvPr/>
        </p:nvSpPr>
        <p:spPr>
          <a:xfrm>
            <a:off x="2659176" y="3579652"/>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Scores</a:t>
            </a:r>
            <a:endParaRPr lang="en-US" sz="1561" dirty="0"/>
          </a:p>
        </p:txBody>
      </p:sp>
      <p:sp>
        <p:nvSpPr>
          <p:cNvPr id="26" name="Text 24"/>
          <p:cNvSpPr txBox="1"/>
          <p:nvPr/>
        </p:nvSpPr>
        <p:spPr>
          <a:xfrm>
            <a:off x="2659176" y="3885902"/>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[V]</a:t>
            </a:r>
            <a:endParaRPr lang="en-US" sz="1441" dirty="0"/>
          </a:p>
        </p:txBody>
      </p:sp>
      <p:sp>
        <p:nvSpPr>
          <p:cNvPr id="27" name="Shape 25"/>
          <p:cNvSpPr/>
          <p:nvPr/>
        </p:nvSpPr>
        <p:spPr>
          <a:xfrm>
            <a:off x="4408015" y="2939089"/>
            <a:ext cx="1565821" cy="1799677"/>
          </a:xfrm>
          <a:prstGeom prst="rect">
            <a:avLst/>
          </a:prstGeom>
          <a:solidFill>
            <a:srgbClr val="F2F4F5"/>
          </a:solidFill>
          <a:ln w="15240">
            <a:solidFill>
              <a:srgbClr val="626B73"/>
            </a:solidFill>
            <a:prstDash val="solid"/>
          </a:ln>
        </p:spPr>
      </p:sp>
      <p:sp>
        <p:nvSpPr>
          <p:cNvPr id="28" name="Text 26"/>
          <p:cNvSpPr txBox="1"/>
          <p:nvPr/>
        </p:nvSpPr>
        <p:spPr>
          <a:xfrm>
            <a:off x="4469021" y="3579652"/>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Scale</a:t>
            </a:r>
            <a:endParaRPr lang="en-US" sz="1561" dirty="0"/>
          </a:p>
        </p:txBody>
      </p:sp>
      <p:sp>
        <p:nvSpPr>
          <p:cNvPr id="29" name="Text 27"/>
          <p:cNvSpPr txBox="1"/>
          <p:nvPr/>
        </p:nvSpPr>
        <p:spPr>
          <a:xfrm>
            <a:off x="4469021" y="3885902"/>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T &gt; 0</a:t>
            </a:r>
            <a:endParaRPr lang="en-US" sz="1441" dirty="0"/>
          </a:p>
        </p:txBody>
      </p:sp>
      <p:sp>
        <p:nvSpPr>
          <p:cNvPr id="30" name="Shape 28"/>
          <p:cNvSpPr/>
          <p:nvPr/>
        </p:nvSpPr>
        <p:spPr>
          <a:xfrm>
            <a:off x="6217860" y="2939089"/>
            <a:ext cx="1565821" cy="1799677"/>
          </a:xfrm>
          <a:prstGeom prst="rect">
            <a:avLst/>
          </a:prstGeom>
          <a:solidFill>
            <a:srgbClr val="F2F4F5"/>
          </a:solidFill>
          <a:ln w="15240">
            <a:solidFill>
              <a:srgbClr val="626B73"/>
            </a:solidFill>
            <a:prstDash val="solid"/>
          </a:ln>
        </p:spPr>
      </p:sp>
      <p:sp>
        <p:nvSpPr>
          <p:cNvPr id="31" name="Text 29"/>
          <p:cNvSpPr txBox="1"/>
          <p:nvPr/>
        </p:nvSpPr>
        <p:spPr>
          <a:xfrm>
            <a:off x="6278866" y="3442998"/>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Filter</a:t>
            </a:r>
            <a:endParaRPr lang="en-US" sz="1561" dirty="0"/>
          </a:p>
        </p:txBody>
      </p:sp>
      <p:sp>
        <p:nvSpPr>
          <p:cNvPr id="32" name="Text 30"/>
          <p:cNvSpPr txBox="1"/>
          <p:nvPr/>
        </p:nvSpPr>
        <p:spPr>
          <a:xfrm>
            <a:off x="6278866" y="3749248"/>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p/k</a:t>
            </a:r>
            <a:endParaRPr lang="en-US" sz="1441" dirty="0"/>
          </a:p>
        </p:txBody>
      </p:sp>
      <p:sp>
        <p:nvSpPr>
          <p:cNvPr id="33" name="Text 31"/>
          <p:cNvSpPr txBox="1"/>
          <p:nvPr/>
        </p:nvSpPr>
        <p:spPr>
          <a:xfrm>
            <a:off x="6240737" y="4022555"/>
            <a:ext cx="1520066" cy="212301"/>
          </a:xfrm>
          <a:prstGeom prst="rect">
            <a:avLst/>
          </a:prstGeom>
          <a:noFill/>
          <a:ln/>
        </p:spPr>
        <p:txBody>
          <a:bodyPr wrap="square" lIns="0" tIns="0" rIns="0" bIns="0" rtlCol="0" anchor="ctr"/>
          <a:lstStyle/>
          <a:p>
            <a:pPr algn="ctr" indent="0" marL="0">
              <a:lnSpc>
                <a:spcPct val="116000"/>
              </a:lnSpc>
              <a:buNone/>
            </a:pPr>
            <a:r>
              <a:rPr lang="en-US" sz="1441" dirty="0">
                <a:solidFill>
                  <a:srgbClr val="0F766E"/>
                </a:solidFill>
                <a:latin typeface="Arial" pitchFamily="34" charset="0"/>
                <a:ea typeface="Arial" pitchFamily="34" charset="-122"/>
                <a:cs typeface="Arial" pitchFamily="34" charset="-120"/>
              </a:rPr>
              <a:t>top_p_filter</a:t>
            </a:r>
            <a:endParaRPr lang="en-US" sz="1441" dirty="0"/>
          </a:p>
        </p:txBody>
      </p:sp>
      <p:sp>
        <p:nvSpPr>
          <p:cNvPr id="34" name="Shape 32"/>
          <p:cNvSpPr/>
          <p:nvPr/>
        </p:nvSpPr>
        <p:spPr>
          <a:xfrm>
            <a:off x="8027705" y="2939089"/>
            <a:ext cx="1565821" cy="1799677"/>
          </a:xfrm>
          <a:prstGeom prst="rect">
            <a:avLst/>
          </a:prstGeom>
          <a:solidFill>
            <a:srgbClr val="F2F4F5"/>
          </a:solidFill>
          <a:ln w="15240">
            <a:solidFill>
              <a:srgbClr val="626B73"/>
            </a:solidFill>
            <a:prstDash val="solid"/>
          </a:ln>
        </p:spPr>
      </p:sp>
      <p:sp>
        <p:nvSpPr>
          <p:cNvPr id="35" name="Text 33"/>
          <p:cNvSpPr txBox="1"/>
          <p:nvPr/>
        </p:nvSpPr>
        <p:spPr>
          <a:xfrm>
            <a:off x="8088711" y="3442998"/>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Draw</a:t>
            </a:r>
            <a:endParaRPr lang="en-US" sz="1561" dirty="0"/>
          </a:p>
        </p:txBody>
      </p:sp>
      <p:sp>
        <p:nvSpPr>
          <p:cNvPr id="36" name="Text 34"/>
          <p:cNvSpPr txBox="1"/>
          <p:nvPr/>
        </p:nvSpPr>
        <p:spPr>
          <a:xfrm>
            <a:off x="8088711" y="3749248"/>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ID</a:t>
            </a:r>
            <a:endParaRPr lang="en-US" sz="1441" dirty="0"/>
          </a:p>
        </p:txBody>
      </p:sp>
      <p:sp>
        <p:nvSpPr>
          <p:cNvPr id="37" name="Text 35"/>
          <p:cNvSpPr txBox="1"/>
          <p:nvPr/>
        </p:nvSpPr>
        <p:spPr>
          <a:xfrm>
            <a:off x="8050582" y="4022555"/>
            <a:ext cx="1520066" cy="212301"/>
          </a:xfrm>
          <a:prstGeom prst="rect">
            <a:avLst/>
          </a:prstGeom>
          <a:noFill/>
          <a:ln/>
        </p:spPr>
        <p:txBody>
          <a:bodyPr wrap="square" lIns="0" tIns="0" rIns="0" bIns="0" rtlCol="0" anchor="ctr"/>
          <a:lstStyle/>
          <a:p>
            <a:pPr algn="ctr" indent="0" marL="0">
              <a:lnSpc>
                <a:spcPct val="116000"/>
              </a:lnSpc>
              <a:buNone/>
            </a:pPr>
            <a:r>
              <a:rPr lang="en-US" sz="1441" dirty="0">
                <a:solidFill>
                  <a:srgbClr val="0F766E"/>
                </a:solidFill>
                <a:latin typeface="Arial" pitchFamily="34" charset="0"/>
                <a:ea typeface="Arial" pitchFamily="34" charset="-122"/>
                <a:cs typeface="Arial" pitchFamily="34" charset="-120"/>
              </a:rPr>
              <a:t>torch.multinomial</a:t>
            </a:r>
            <a:endParaRPr lang="en-US" sz="1441" dirty="0"/>
          </a:p>
        </p:txBody>
      </p:sp>
      <p:sp>
        <p:nvSpPr>
          <p:cNvPr id="38" name="Shape 36"/>
          <p:cNvSpPr/>
          <p:nvPr/>
        </p:nvSpPr>
        <p:spPr>
          <a:xfrm>
            <a:off x="9837549" y="2939089"/>
            <a:ext cx="1565821" cy="1799677"/>
          </a:xfrm>
          <a:prstGeom prst="roundRect">
            <a:avLst>
              <a:gd name="adj" fmla="val 4672"/>
            </a:avLst>
          </a:prstGeom>
          <a:solidFill>
            <a:srgbClr val="F9EAF4"/>
          </a:solidFill>
          <a:ln w="15240">
            <a:solidFill>
              <a:srgbClr val="CC79A7"/>
            </a:solidFill>
            <a:prstDash val="solid"/>
          </a:ln>
        </p:spPr>
      </p:sp>
      <p:sp>
        <p:nvSpPr>
          <p:cNvPr id="39" name="Text 37"/>
          <p:cNvSpPr txBox="1"/>
          <p:nvPr/>
        </p:nvSpPr>
        <p:spPr>
          <a:xfrm>
            <a:off x="9898555" y="3579652"/>
            <a:ext cx="1443809"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Append</a:t>
            </a:r>
            <a:endParaRPr lang="en-US" sz="1561" dirty="0"/>
          </a:p>
        </p:txBody>
      </p:sp>
      <p:sp>
        <p:nvSpPr>
          <p:cNvPr id="40" name="Text 38"/>
          <p:cNvSpPr txBox="1"/>
          <p:nvPr/>
        </p:nvSpPr>
        <p:spPr>
          <a:xfrm>
            <a:off x="9898555" y="3885902"/>
            <a:ext cx="1443809"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prefix</a:t>
            </a:r>
            <a:endParaRPr lang="en-US" sz="1441" dirty="0"/>
          </a:p>
        </p:txBody>
      </p:sp>
      <p:sp>
        <p:nvSpPr>
          <p:cNvPr id="41" name="Shape 39"/>
          <p:cNvSpPr/>
          <p:nvPr/>
        </p:nvSpPr>
        <p:spPr>
          <a:xfrm>
            <a:off x="788325" y="5630979"/>
            <a:ext cx="198270" cy="198270"/>
          </a:xfrm>
          <a:prstGeom prst="roundRect">
            <a:avLst>
              <a:gd name="adj" fmla="val 36895"/>
            </a:avLst>
          </a:prstGeom>
          <a:solidFill>
            <a:srgbClr val="E4F2FB"/>
          </a:solidFill>
          <a:ln w="15240">
            <a:solidFill>
              <a:srgbClr val="0072B2"/>
            </a:solidFill>
            <a:prstDash val="solid"/>
          </a:ln>
        </p:spPr>
      </p:sp>
      <p:sp>
        <p:nvSpPr>
          <p:cNvPr id="42" name="Text 40"/>
          <p:cNvSpPr txBox="1"/>
          <p:nvPr/>
        </p:nvSpPr>
        <p:spPr>
          <a:xfrm>
            <a:off x="1047600" y="5608101"/>
            <a:ext cx="430566"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Data</a:t>
            </a:r>
            <a:endParaRPr lang="en-US" sz="1441" dirty="0"/>
          </a:p>
        </p:txBody>
      </p:sp>
      <p:sp>
        <p:nvSpPr>
          <p:cNvPr id="43" name="Shape 41"/>
          <p:cNvSpPr/>
          <p:nvPr/>
        </p:nvSpPr>
        <p:spPr>
          <a:xfrm>
            <a:off x="1676436" y="5630979"/>
            <a:ext cx="198270" cy="198270"/>
          </a:xfrm>
          <a:prstGeom prst="rect">
            <a:avLst/>
          </a:prstGeom>
          <a:solidFill>
            <a:srgbClr val="E5F7EF"/>
          </a:solidFill>
          <a:ln w="15240">
            <a:solidFill>
              <a:srgbClr val="009E73"/>
            </a:solidFill>
            <a:prstDash val="solid"/>
          </a:ln>
        </p:spPr>
      </p:sp>
      <p:sp>
        <p:nvSpPr>
          <p:cNvPr id="44" name="Text 42"/>
          <p:cNvSpPr txBox="1"/>
          <p:nvPr/>
        </p:nvSpPr>
        <p:spPr>
          <a:xfrm>
            <a:off x="1935711" y="5608101"/>
            <a:ext cx="546304"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Model</a:t>
            </a:r>
            <a:endParaRPr lang="en-US" sz="1441" dirty="0"/>
          </a:p>
        </p:txBody>
      </p:sp>
      <p:sp>
        <p:nvSpPr>
          <p:cNvPr id="45" name="Shape 43"/>
          <p:cNvSpPr/>
          <p:nvPr/>
        </p:nvSpPr>
        <p:spPr>
          <a:xfrm>
            <a:off x="2680284" y="5630979"/>
            <a:ext cx="198270" cy="198270"/>
          </a:xfrm>
          <a:prstGeom prst="roundRect">
            <a:avLst>
              <a:gd name="adj" fmla="val 36895"/>
            </a:avLst>
          </a:prstGeom>
          <a:solidFill>
            <a:srgbClr val="F9EAF4"/>
          </a:solidFill>
          <a:ln w="15240">
            <a:solidFill>
              <a:srgbClr val="CC79A7"/>
            </a:solidFill>
            <a:prstDash val="solid"/>
          </a:ln>
        </p:spPr>
      </p:sp>
      <p:sp>
        <p:nvSpPr>
          <p:cNvPr id="46" name="Text 44"/>
          <p:cNvSpPr txBox="1"/>
          <p:nvPr/>
        </p:nvSpPr>
        <p:spPr>
          <a:xfrm>
            <a:off x="2939560" y="5608101"/>
            <a:ext cx="599153"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Output</a:t>
            </a:r>
            <a:endParaRPr lang="en-US" sz="1441" dirty="0"/>
          </a:p>
        </p:txBody>
      </p:sp>
      <p:sp>
        <p:nvSpPr>
          <p:cNvPr id="47" name="Shape 45"/>
          <p:cNvSpPr/>
          <p:nvPr/>
        </p:nvSpPr>
        <p:spPr>
          <a:xfrm>
            <a:off x="3736982" y="5630979"/>
            <a:ext cx="198270" cy="198270"/>
          </a:xfrm>
          <a:prstGeom prst="rect">
            <a:avLst/>
          </a:prstGeom>
          <a:solidFill>
            <a:srgbClr val="F2F4F5"/>
          </a:solidFill>
          <a:ln w="15240">
            <a:solidFill>
              <a:srgbClr val="626B73"/>
            </a:solidFill>
            <a:prstDash val="solid"/>
          </a:ln>
        </p:spPr>
      </p:sp>
      <p:sp>
        <p:nvSpPr>
          <p:cNvPr id="48" name="Text 46"/>
          <p:cNvSpPr txBox="1"/>
          <p:nvPr/>
        </p:nvSpPr>
        <p:spPr>
          <a:xfrm>
            <a:off x="3996258" y="5608101"/>
            <a:ext cx="398932"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Tool</a:t>
            </a:r>
            <a:endParaRPr lang="en-US" sz="1441" dirty="0"/>
          </a:p>
        </p:txBody>
      </p:sp>
      <p:sp>
        <p:nvSpPr>
          <p:cNvPr id="49" name="Shape 47"/>
          <p:cNvSpPr/>
          <p:nvPr/>
        </p:nvSpPr>
        <p:spPr>
          <a:xfrm>
            <a:off x="4593459" y="5730113"/>
            <a:ext cx="335533" cy="0"/>
          </a:xfrm>
          <a:prstGeom prst="line">
            <a:avLst/>
          </a:prstGeom>
          <a:noFill/>
          <a:ln w="22860">
            <a:solidFill>
              <a:srgbClr val="009E73"/>
            </a:solidFill>
            <a:prstDash val="solid"/>
            <a:tailEnd type="triangle"/>
          </a:ln>
        </p:spPr>
      </p:sp>
      <p:sp>
        <p:nvSpPr>
          <p:cNvPr id="50" name="Text 48"/>
          <p:cNvSpPr txBox="1"/>
          <p:nvPr/>
        </p:nvSpPr>
        <p:spPr>
          <a:xfrm>
            <a:off x="4989998" y="5608101"/>
            <a:ext cx="430376"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Flow</a:t>
            </a:r>
            <a:endParaRPr lang="en-US" sz="1441" dirty="0"/>
          </a:p>
        </p:txBody>
      </p:sp>
      <p:sp>
        <p:nvSpPr>
          <p:cNvPr id="51" name="Shape 49"/>
          <p:cNvSpPr/>
          <p:nvPr/>
        </p:nvSpPr>
        <p:spPr>
          <a:xfrm>
            <a:off x="5618644" y="5730113"/>
            <a:ext cx="335533" cy="0"/>
          </a:xfrm>
          <a:prstGeom prst="line">
            <a:avLst/>
          </a:prstGeom>
          <a:noFill/>
          <a:ln w="22860">
            <a:solidFill>
              <a:srgbClr val="D55E00"/>
            </a:solidFill>
            <a:prstDash val="dash"/>
            <a:tailEnd type="triangle"/>
          </a:ln>
        </p:spPr>
      </p:sp>
      <p:sp>
        <p:nvSpPr>
          <p:cNvPr id="52" name="Text 50"/>
          <p:cNvSpPr txBox="1"/>
          <p:nvPr/>
        </p:nvSpPr>
        <p:spPr>
          <a:xfrm>
            <a:off x="6015183" y="5608101"/>
            <a:ext cx="641205"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Repeat</a:t>
            </a:r>
            <a:endParaRPr lang="en-US" sz="1441" dirty="0"/>
          </a:p>
        </p:txBody>
      </p:sp>
      <p:sp>
        <p:nvSpPr>
          <p:cNvPr id="53" name="Text 51"/>
          <p:cNvSpPr txBox="1"/>
          <p:nvPr/>
        </p:nvSpPr>
        <p:spPr>
          <a:xfrm>
            <a:off x="548640" y="5925312"/>
            <a:ext cx="11094415" cy="475488"/>
          </a:xfrm>
          <a:prstGeom prst="rect">
            <a:avLst/>
          </a:prstGeom>
          <a:noFill/>
          <a:ln/>
        </p:spPr>
        <p:txBody>
          <a:bodyPr wrap="square" lIns="0" tIns="0" rIns="0" bIns="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Check: Can retained count vary?</a:t>
            </a:r>
            <a:endParaRPr lang="en-US" sz="17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06  ·  LARGE LANGUAGE MODELS (LLMS) AND FAMILIES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22</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Decoding strategies compared</a:t>
            </a:r>
            <a:endParaRPr lang="en-US" sz="32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11094415" cy="914400"/>
        </p:xfrm>
        <a:graphic>
          <a:graphicData uri="http://schemas.openxmlformats.org/drawingml/2006/table">
            <a:tbl>
              <a:tblPr/>
              <a:tblGrid>
                <a:gridCol w="2976550"/>
                <a:gridCol w="4329528"/>
                <a:gridCol w="3788337"/>
              </a:tblGrid>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Rule</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Choice</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Risk</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Greedy</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Argmax</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Repetition</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Beam</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Several prefixes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Generic output</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Temperature</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Rescale scores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Variety</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Top-k</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Score threshold</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Ties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Top-p</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Cumulative mass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Variable count</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Penalty</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Reduce repeats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Needed repeats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06  ·  LARGE LANGUAGE MODELS (LLMS) AND FAMILIES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23</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Real next-token distributions from a small open LLM</a:t>
            </a:r>
            <a:endParaRPr lang="en-US" sz="3200" dirty="0"/>
          </a:p>
        </p:txBody>
      </p:sp>
      <p:pic>
        <p:nvPicPr>
          <p:cNvPr id="6" name="Image 0" descr="C:\Users\sudee\Downloads\Generative_AI_2027_Teaching_Pack\AI2027_Project\build\figures\week_06\next_token.png">    </p:cNvPr>
          <p:cNvPicPr>
            <a:picLocks noChangeAspect="1"/>
          </p:cNvPicPr>
          <p:nvPr/>
        </p:nvPicPr>
        <p:blipFill>
          <a:blip r:embed="rId1"/>
          <a:stretch>
            <a:fillRect/>
          </a:stretch>
        </p:blipFill>
        <p:spPr>
          <a:xfrm>
            <a:off x="769881" y="1481328"/>
            <a:ext cx="10651934" cy="3367278"/>
          </a:xfrm>
          <a:prstGeom prst="rect">
            <a:avLst/>
          </a:prstGeom>
        </p:spPr>
      </p:pic>
      <p:sp>
        <p:nvSpPr>
          <p:cNvPr id="7" name="Text 4"/>
          <p:cNvSpPr txBox="1"/>
          <p:nvPr/>
        </p:nvSpPr>
        <p:spPr>
          <a:xfrm>
            <a:off x="548640" y="5031486"/>
            <a:ext cx="11094415" cy="1277874"/>
          </a:xfrm>
          <a:prstGeom prst="rect">
            <a:avLst/>
          </a:prstGeom>
          <a:noFill/>
          <a:ln/>
        </p:spPr>
        <p:txBody>
          <a:bodyPr wrap="square" lIns="50800" tIns="50800" rIns="50800" bIns="50800" rtlCol="0" anchor="t"/>
          <a:lstStyle/>
          <a:p>
            <a:pPr marL="254000" indent="-254000">
              <a:spcAft>
                <a:spcPts val="800"/>
              </a:spcAft>
              <a:buSzPct val="100000"/>
              <a:buChar char="●"/>
            </a:pPr>
            <a:r>
              <a:rPr lang="en-US" sz="1800" dirty="0">
                <a:solidFill>
                  <a:srgbClr val="1F2937"/>
                </a:solidFill>
                <a:latin typeface="Calibri" pitchFamily="34" charset="0"/>
                <a:ea typeface="Calibri" pitchFamily="34" charset="-122"/>
                <a:cs typeface="Calibri" pitchFamily="34" charset="-120"/>
              </a:rPr>
              <a:t>Archived base-model predictions.</a:t>
            </a:r>
            <a:endParaRPr lang="en-US" sz="1800" dirty="0"/>
          </a:p>
          <a:p>
            <a:pPr marL="254000" indent="-254000">
              <a:spcAft>
                <a:spcPts val="800"/>
              </a:spcAft>
              <a:buSzPct val="100000"/>
              <a:buChar char="●"/>
            </a:pPr>
            <a:r>
              <a:rPr lang="en-US" sz="1800" dirty="0">
                <a:solidFill>
                  <a:srgbClr val="1F2937"/>
                </a:solidFill>
                <a:latin typeface="Calibri" pitchFamily="34" charset="0"/>
                <a:ea typeface="Calibri" pitchFamily="34" charset="-122"/>
                <a:cs typeface="Calibri" pitchFamily="34" charset="-120"/>
              </a:rPr>
              <a:t>Probable continuations can be wrong.</a:t>
            </a:r>
            <a:endParaRPr lang="en-US" sz="1800" dirty="0"/>
          </a:p>
          <a:p>
            <a:pPr marL="254000" indent="-254000">
              <a:spcAft>
                <a:spcPts val="800"/>
              </a:spcAft>
              <a:buSzPct val="100000"/>
              <a:buChar char="●"/>
            </a:pPr>
            <a:r>
              <a:rPr lang="en-US" sz="1800" dirty="0">
                <a:solidFill>
                  <a:srgbClr val="1F2937"/>
                </a:solidFill>
                <a:latin typeface="Calibri" pitchFamily="34" charset="0"/>
                <a:ea typeface="Calibri" pitchFamily="34" charset="-122"/>
                <a:cs typeface="Calibri" pitchFamily="34" charset="-120"/>
              </a:rPr>
              <a:t>New checkpoint needs new evidence.</a:t>
            </a:r>
            <a:endParaRPr lang="en-US" sz="1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06  ·  LARGE LANGUAGE MODELS (LLMS) AND FAMILIES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24</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Quick check</a:t>
            </a:r>
            <a:endParaRPr lang="en-US" sz="3200" dirty="0"/>
          </a:p>
        </p:txBody>
      </p:sp>
      <p:sp>
        <p:nvSpPr>
          <p:cNvPr id="6" name="Shape 4"/>
          <p:cNvSpPr/>
          <p:nvPr/>
        </p:nvSpPr>
        <p:spPr>
          <a:xfrm>
            <a:off x="548640" y="1527048"/>
            <a:ext cx="640080" cy="640080"/>
          </a:xfrm>
          <a:prstGeom prst="ellipse">
            <a:avLst/>
          </a:prstGeom>
          <a:solidFill>
            <a:srgbClr val="EA580C"/>
          </a:solidFill>
          <a:ln w="12700">
            <a:solidFill>
              <a:srgbClr val="EA580C"/>
            </a:solidFill>
            <a:prstDash val="solid"/>
          </a:ln>
        </p:spPr>
      </p:sp>
      <p:pic>
        <p:nvPicPr>
          <p:cNvPr id="7" name="Image 0" descr="preencoded.png">    </p:cNvPr>
          <p:cNvPicPr>
            <a:picLocks noChangeAspect="1"/>
          </p:cNvPicPr>
          <p:nvPr/>
        </p:nvPicPr>
        <p:blipFill>
          <a:blip r:embed="rId1"/>
          <a:stretch>
            <a:fillRect/>
          </a:stretch>
        </p:blipFill>
        <p:spPr>
          <a:xfrm>
            <a:off x="702259" y="1680667"/>
            <a:ext cx="332842" cy="332842"/>
          </a:xfrm>
          <a:prstGeom prst="rect">
            <a:avLst/>
          </a:prstGeom>
        </p:spPr>
      </p:pic>
      <p:sp>
        <p:nvSpPr>
          <p:cNvPr id="8" name="Text 5"/>
          <p:cNvSpPr txBox="1"/>
          <p:nvPr/>
        </p:nvSpPr>
        <p:spPr>
          <a:xfrm>
            <a:off x="1417320" y="1481328"/>
            <a:ext cx="10225735" cy="1097280"/>
          </a:xfrm>
          <a:prstGeom prst="rect">
            <a:avLst/>
          </a:prstGeom>
          <a:noFill/>
          <a:ln/>
        </p:spPr>
        <p:txBody>
          <a:bodyPr wrap="square" lIns="50800" tIns="50800" rIns="50800" bIns="50800" rtlCol="0" anchor="ctr"/>
          <a:lstStyle/>
          <a:p>
            <a:pPr indent="0" marL="0">
              <a:buNone/>
            </a:pPr>
            <a:r>
              <a:rPr lang="en-US" sz="2400" b="1" dirty="0">
                <a:solidFill>
                  <a:srgbClr val="1E1B4B"/>
                </a:solidFill>
                <a:latin typeface="Calibri" pitchFamily="34" charset="0"/>
                <a:ea typeface="Calibri" pitchFamily="34" charset="-122"/>
                <a:cs typeface="Calibri" pitchFamily="34" charset="-120"/>
              </a:rPr>
              <a:t>Which policy suits structured invoice extraction?</a:t>
            </a:r>
            <a:endParaRPr lang="en-US" sz="2400" dirty="0"/>
          </a:p>
        </p:txBody>
      </p:sp>
      <p:sp>
        <p:nvSpPr>
          <p:cNvPr id="9" name="Shape 6"/>
          <p:cNvSpPr/>
          <p:nvPr/>
        </p:nvSpPr>
        <p:spPr>
          <a:xfrm>
            <a:off x="548640" y="2807208"/>
            <a:ext cx="5410048" cy="1325880"/>
          </a:xfrm>
          <a:prstGeom prst="roundRect">
            <a:avLst>
              <a:gd name="adj" fmla="val 6897"/>
            </a:avLst>
          </a:prstGeom>
          <a:solidFill>
            <a:srgbClr val="EEF0FF"/>
          </a:solidFill>
          <a:ln w="12700">
            <a:solidFill>
              <a:srgbClr val="EEF0FF"/>
            </a:solidFill>
            <a:prstDash val="solid"/>
          </a:ln>
        </p:spPr>
      </p:sp>
      <p:sp>
        <p:nvSpPr>
          <p:cNvPr id="10" name="Shape 7"/>
          <p:cNvSpPr/>
          <p:nvPr/>
        </p:nvSpPr>
        <p:spPr>
          <a:xfrm>
            <a:off x="713232" y="3241548"/>
            <a:ext cx="457200" cy="457200"/>
          </a:xfrm>
          <a:prstGeom prst="ellipse">
            <a:avLst/>
          </a:prstGeom>
          <a:solidFill>
            <a:srgbClr val="4F46E5"/>
          </a:solidFill>
          <a:ln w="12700">
            <a:solidFill>
              <a:srgbClr val="4F46E5"/>
            </a:solidFill>
            <a:prstDash val="solid"/>
          </a:ln>
        </p:spPr>
      </p:sp>
      <p:sp>
        <p:nvSpPr>
          <p:cNvPr id="11" name="Text 8"/>
          <p:cNvSpPr txBox="1"/>
          <p:nvPr/>
        </p:nvSpPr>
        <p:spPr>
          <a:xfrm>
            <a:off x="713232" y="32415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a:t>
            </a:r>
            <a:endParaRPr lang="en-US" sz="1500" dirty="0"/>
          </a:p>
        </p:txBody>
      </p:sp>
      <p:sp>
        <p:nvSpPr>
          <p:cNvPr id="12" name="Text 9"/>
          <p:cNvSpPr txBox="1"/>
          <p:nvPr/>
        </p:nvSpPr>
        <p:spPr>
          <a:xfrm>
            <a:off x="1325880" y="2807208"/>
            <a:ext cx="4495648" cy="1325880"/>
          </a:xfrm>
          <a:prstGeom prst="rect">
            <a:avLst/>
          </a:prstGeom>
          <a:noFill/>
          <a:ln/>
        </p:spPr>
        <p:txBody>
          <a:bodyPr wrap="square" lIns="50800" tIns="50800" rIns="50800" bIns="50800" rtlCol="0" anchor="ctr"/>
          <a:lstStyle/>
          <a:p>
            <a:pPr indent="0" marL="0">
              <a:buNone/>
            </a:pPr>
            <a:r>
              <a:rPr lang="en-US" sz="2000" dirty="0">
                <a:solidFill>
                  <a:srgbClr val="1F2937"/>
                </a:solidFill>
                <a:latin typeface="Calibri" pitchFamily="34" charset="0"/>
                <a:ea typeface="Calibri" pitchFamily="34" charset="-122"/>
                <a:cs typeface="Calibri" pitchFamily="34" charset="-120"/>
              </a:rPr>
              <a:t>High temperature for variety</a:t>
            </a:r>
            <a:endParaRPr lang="en-US" sz="2000" dirty="0"/>
          </a:p>
        </p:txBody>
      </p:sp>
      <p:sp>
        <p:nvSpPr>
          <p:cNvPr id="13" name="Shape 10"/>
          <p:cNvSpPr/>
          <p:nvPr/>
        </p:nvSpPr>
        <p:spPr>
          <a:xfrm>
            <a:off x="6233008" y="2807208"/>
            <a:ext cx="5410048" cy="1325880"/>
          </a:xfrm>
          <a:prstGeom prst="roundRect">
            <a:avLst>
              <a:gd name="adj" fmla="val 6897"/>
            </a:avLst>
          </a:prstGeom>
          <a:solidFill>
            <a:srgbClr val="EEF0FF"/>
          </a:solidFill>
          <a:ln w="12700">
            <a:solidFill>
              <a:srgbClr val="EEF0FF"/>
            </a:solidFill>
            <a:prstDash val="solid"/>
          </a:ln>
        </p:spPr>
      </p:sp>
      <p:sp>
        <p:nvSpPr>
          <p:cNvPr id="14" name="Shape 11"/>
          <p:cNvSpPr/>
          <p:nvPr/>
        </p:nvSpPr>
        <p:spPr>
          <a:xfrm>
            <a:off x="6397600" y="3241548"/>
            <a:ext cx="457200" cy="457200"/>
          </a:xfrm>
          <a:prstGeom prst="ellipse">
            <a:avLst/>
          </a:prstGeom>
          <a:solidFill>
            <a:srgbClr val="4F46E5"/>
          </a:solidFill>
          <a:ln w="12700">
            <a:solidFill>
              <a:srgbClr val="4F46E5"/>
            </a:solidFill>
            <a:prstDash val="solid"/>
          </a:ln>
        </p:spPr>
      </p:sp>
      <p:sp>
        <p:nvSpPr>
          <p:cNvPr id="15" name="Text 12"/>
          <p:cNvSpPr txBox="1"/>
          <p:nvPr/>
        </p:nvSpPr>
        <p:spPr>
          <a:xfrm>
            <a:off x="6397600" y="32415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a:t>
            </a:r>
            <a:endParaRPr lang="en-US" sz="1500" dirty="0"/>
          </a:p>
        </p:txBody>
      </p:sp>
      <p:sp>
        <p:nvSpPr>
          <p:cNvPr id="16" name="Text 13"/>
          <p:cNvSpPr txBox="1"/>
          <p:nvPr/>
        </p:nvSpPr>
        <p:spPr>
          <a:xfrm>
            <a:off x="7010248" y="2807208"/>
            <a:ext cx="4495648" cy="1325880"/>
          </a:xfrm>
          <a:prstGeom prst="rect">
            <a:avLst/>
          </a:prstGeom>
          <a:noFill/>
          <a:ln/>
        </p:spPr>
        <p:txBody>
          <a:bodyPr wrap="square" lIns="50800" tIns="50800" rIns="50800" bIns="50800" rtlCol="0" anchor="ctr"/>
          <a:lstStyle/>
          <a:p>
            <a:pPr indent="0" marL="0">
              <a:buNone/>
            </a:pPr>
            <a:r>
              <a:rPr lang="en-US" sz="2000" dirty="0">
                <a:solidFill>
                  <a:srgbClr val="1F2937"/>
                </a:solidFill>
                <a:latin typeface="Calibri" pitchFamily="34" charset="0"/>
                <a:ea typeface="Calibri" pitchFamily="34" charset="-122"/>
                <a:cs typeface="Calibri" pitchFamily="34" charset="-120"/>
              </a:rPr>
              <a:t>Large candidate set</a:t>
            </a:r>
            <a:endParaRPr lang="en-US" sz="2000" dirty="0"/>
          </a:p>
        </p:txBody>
      </p:sp>
      <p:sp>
        <p:nvSpPr>
          <p:cNvPr id="17" name="Shape 14"/>
          <p:cNvSpPr/>
          <p:nvPr/>
        </p:nvSpPr>
        <p:spPr>
          <a:xfrm>
            <a:off x="548640" y="4407408"/>
            <a:ext cx="5410048" cy="1325880"/>
          </a:xfrm>
          <a:prstGeom prst="roundRect">
            <a:avLst>
              <a:gd name="adj" fmla="val 6897"/>
            </a:avLst>
          </a:prstGeom>
          <a:solidFill>
            <a:srgbClr val="EEF0FF"/>
          </a:solidFill>
          <a:ln w="12700">
            <a:solidFill>
              <a:srgbClr val="EEF0FF"/>
            </a:solidFill>
            <a:prstDash val="solid"/>
          </a:ln>
        </p:spPr>
      </p:sp>
      <p:sp>
        <p:nvSpPr>
          <p:cNvPr id="18" name="Shape 15"/>
          <p:cNvSpPr/>
          <p:nvPr/>
        </p:nvSpPr>
        <p:spPr>
          <a:xfrm>
            <a:off x="713232" y="4841748"/>
            <a:ext cx="457200" cy="457200"/>
          </a:xfrm>
          <a:prstGeom prst="ellipse">
            <a:avLst/>
          </a:prstGeom>
          <a:solidFill>
            <a:srgbClr val="4F46E5"/>
          </a:solidFill>
          <a:ln w="12700">
            <a:solidFill>
              <a:srgbClr val="4F46E5"/>
            </a:solidFill>
            <a:prstDash val="solid"/>
          </a:ln>
        </p:spPr>
      </p:sp>
      <p:sp>
        <p:nvSpPr>
          <p:cNvPr id="19" name="Text 16"/>
          <p:cNvSpPr txBox="1"/>
          <p:nvPr/>
        </p:nvSpPr>
        <p:spPr>
          <a:xfrm>
            <a:off x="713232" y="48417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a:t>
            </a:r>
            <a:endParaRPr lang="en-US" sz="1500" dirty="0"/>
          </a:p>
        </p:txBody>
      </p:sp>
      <p:sp>
        <p:nvSpPr>
          <p:cNvPr id="20" name="Text 17"/>
          <p:cNvSpPr txBox="1"/>
          <p:nvPr/>
        </p:nvSpPr>
        <p:spPr>
          <a:xfrm>
            <a:off x="1325880" y="4407408"/>
            <a:ext cx="4495648" cy="1325880"/>
          </a:xfrm>
          <a:prstGeom prst="rect">
            <a:avLst/>
          </a:prstGeom>
          <a:noFill/>
          <a:ln/>
        </p:spPr>
        <p:txBody>
          <a:bodyPr wrap="square" lIns="50800" tIns="50800" rIns="50800" bIns="50800" rtlCol="0" anchor="ctr"/>
          <a:lstStyle/>
          <a:p>
            <a:pPr indent="0" marL="0">
              <a:buNone/>
            </a:pPr>
            <a:r>
              <a:rPr lang="en-US" sz="2000" dirty="0">
                <a:solidFill>
                  <a:srgbClr val="1F2937"/>
                </a:solidFill>
                <a:latin typeface="Calibri" pitchFamily="34" charset="0"/>
                <a:ea typeface="Calibri" pitchFamily="34" charset="-122"/>
                <a:cs typeface="Calibri" pitchFamily="34" charset="-120"/>
              </a:rPr>
              <a:t>Heavy repetition penalties</a:t>
            </a:r>
            <a:endParaRPr lang="en-US" sz="2000" dirty="0"/>
          </a:p>
        </p:txBody>
      </p:sp>
      <p:sp>
        <p:nvSpPr>
          <p:cNvPr id="21" name="Shape 18"/>
          <p:cNvSpPr/>
          <p:nvPr/>
        </p:nvSpPr>
        <p:spPr>
          <a:xfrm>
            <a:off x="6233008" y="4407408"/>
            <a:ext cx="5410048" cy="1325880"/>
          </a:xfrm>
          <a:prstGeom prst="roundRect">
            <a:avLst>
              <a:gd name="adj" fmla="val 6897"/>
            </a:avLst>
          </a:prstGeom>
          <a:solidFill>
            <a:srgbClr val="EEF0FF"/>
          </a:solidFill>
          <a:ln w="12700">
            <a:solidFill>
              <a:srgbClr val="EEF0FF"/>
            </a:solidFill>
            <a:prstDash val="solid"/>
          </a:ln>
        </p:spPr>
      </p:sp>
      <p:sp>
        <p:nvSpPr>
          <p:cNvPr id="22" name="Shape 19"/>
          <p:cNvSpPr/>
          <p:nvPr/>
        </p:nvSpPr>
        <p:spPr>
          <a:xfrm>
            <a:off x="6397600" y="4841748"/>
            <a:ext cx="457200" cy="457200"/>
          </a:xfrm>
          <a:prstGeom prst="ellipse">
            <a:avLst/>
          </a:prstGeom>
          <a:solidFill>
            <a:srgbClr val="4F46E5"/>
          </a:solidFill>
          <a:ln w="12700">
            <a:solidFill>
              <a:srgbClr val="4F46E5"/>
            </a:solidFill>
            <a:prstDash val="solid"/>
          </a:ln>
        </p:spPr>
      </p:sp>
      <p:sp>
        <p:nvSpPr>
          <p:cNvPr id="23" name="Text 20"/>
          <p:cNvSpPr txBox="1"/>
          <p:nvPr/>
        </p:nvSpPr>
        <p:spPr>
          <a:xfrm>
            <a:off x="6397600" y="48417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a:t>
            </a:r>
            <a:endParaRPr lang="en-US" sz="1500" dirty="0"/>
          </a:p>
        </p:txBody>
      </p:sp>
      <p:sp>
        <p:nvSpPr>
          <p:cNvPr id="24" name="Text 21"/>
          <p:cNvSpPr txBox="1"/>
          <p:nvPr/>
        </p:nvSpPr>
        <p:spPr>
          <a:xfrm>
            <a:off x="7010248" y="4407408"/>
            <a:ext cx="4495648" cy="1325880"/>
          </a:xfrm>
          <a:prstGeom prst="rect">
            <a:avLst/>
          </a:prstGeom>
          <a:noFill/>
          <a:ln/>
        </p:spPr>
        <p:txBody>
          <a:bodyPr wrap="square" lIns="50800" tIns="50800" rIns="50800" bIns="50800" rtlCol="0" anchor="ctr"/>
          <a:lstStyle/>
          <a:p>
            <a:pPr indent="0" marL="0">
              <a:buNone/>
            </a:pPr>
            <a:r>
              <a:rPr lang="en-US" sz="2000" dirty="0">
                <a:solidFill>
                  <a:srgbClr val="1F2937"/>
                </a:solidFill>
                <a:latin typeface="Calibri" pitchFamily="34" charset="0"/>
                <a:ea typeface="Calibri" pitchFamily="34" charset="-122"/>
                <a:cs typeface="Calibri" pitchFamily="34" charset="-120"/>
              </a:rPr>
              <a:t>Greedy plus validation</a:t>
            </a:r>
            <a:endParaRPr lang="en-US" sz="2000" dirty="0"/>
          </a:p>
        </p:txBody>
      </p:sp>
      <p:sp>
        <p:nvSpPr>
          <p:cNvPr id="25" name="Text 22"/>
          <p:cNvSpPr txBox="1"/>
          <p:nvPr/>
        </p:nvSpPr>
        <p:spPr>
          <a:xfrm>
            <a:off x="548640" y="5943600"/>
            <a:ext cx="11094415" cy="365760"/>
          </a:xfrm>
          <a:prstGeom prst="rect">
            <a:avLst/>
          </a:prstGeom>
          <a:noFill/>
          <a:ln/>
        </p:spPr>
        <p:txBody>
          <a:bodyPr wrap="square" lIns="50800" tIns="50800" rIns="50800" bIns="50800" rtlCol="0" anchor="t"/>
          <a:lstStyle/>
          <a:p>
            <a:pPr indent="0" marL="0">
              <a:buNone/>
            </a:pPr>
            <a:r>
              <a:rPr lang="en-US" sz="1400" i="1" dirty="0">
                <a:solidFill>
                  <a:srgbClr val="6B7280"/>
                </a:solidFill>
                <a:latin typeface="Calibri" pitchFamily="34" charset="0"/>
                <a:ea typeface="Calibri" pitchFamily="34" charset="-122"/>
                <a:cs typeface="Calibri" pitchFamily="34" charset="-120"/>
              </a:rPr>
              <a:t>Vote, then convince your neighbour (1 minute).</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E1B4B"/>
        </a:solidFill>
      </p:bgPr>
    </p:bg>
    <p:spTree>
      <p:nvGrpSpPr>
        <p:cNvPr id="1" name=""/>
        <p:cNvGrpSpPr/>
        <p:nvPr/>
      </p:nvGrpSpPr>
      <p:grpSpPr>
        <a:xfrm>
          <a:off x="0" y="0"/>
          <a:ext cx="0" cy="0"/>
          <a:chOff x="0" y="0"/>
          <a:chExt cx="0" cy="0"/>
        </a:xfrm>
      </p:grpSpPr>
      <p:sp>
        <p:nvSpPr>
          <p:cNvPr id="2" name="Text 0"/>
          <p:cNvSpPr txBox="1"/>
          <p:nvPr/>
        </p:nvSpPr>
        <p:spPr>
          <a:xfrm>
            <a:off x="731520" y="1188720"/>
            <a:ext cx="2926080" cy="1828800"/>
          </a:xfrm>
          <a:prstGeom prst="rect">
            <a:avLst/>
          </a:prstGeom>
          <a:noFill/>
          <a:ln/>
        </p:spPr>
        <p:txBody>
          <a:bodyPr wrap="square" lIns="0" tIns="0" rIns="0" bIns="0" rtlCol="0" anchor="t"/>
          <a:lstStyle/>
          <a:p>
            <a:pPr indent="0" marL="0">
              <a:buNone/>
            </a:pPr>
            <a:r>
              <a:rPr lang="en-US" sz="11000" b="1" dirty="0">
                <a:solidFill>
                  <a:srgbClr val="EA580C"/>
                </a:solidFill>
                <a:latin typeface="Calibri" pitchFamily="34" charset="0"/>
                <a:ea typeface="Calibri" pitchFamily="34" charset="-122"/>
                <a:cs typeface="Calibri" pitchFamily="34" charset="-120"/>
              </a:rPr>
              <a:t>04</a:t>
            </a:r>
            <a:endParaRPr lang="en-US" sz="11000" dirty="0"/>
          </a:p>
        </p:txBody>
      </p:sp>
      <p:sp>
        <p:nvSpPr>
          <p:cNvPr id="3" name="Text 1"/>
          <p:cNvSpPr txBox="1"/>
          <p:nvPr/>
        </p:nvSpPr>
        <p:spPr>
          <a:xfrm>
            <a:off x="731520" y="3063240"/>
            <a:ext cx="10515600" cy="1463040"/>
          </a:xfrm>
          <a:prstGeom prst="rect">
            <a:avLst/>
          </a:prstGeom>
          <a:noFill/>
          <a:ln/>
        </p:spPr>
        <p:txBody>
          <a:bodyPr wrap="square" lIns="0" tIns="0" rIns="0" bIns="0" rtlCol="0" anchor="t"/>
          <a:lstStyle/>
          <a:p>
            <a:pPr indent="0" marL="0">
              <a:buNone/>
            </a:pPr>
            <a:r>
              <a:rPr lang="en-US" sz="4200" b="1" dirty="0">
                <a:solidFill>
                  <a:srgbClr val="FFFFFF"/>
                </a:solidFill>
                <a:latin typeface="Calibri" pitchFamily="34" charset="0"/>
                <a:ea typeface="Calibri" pitchFamily="34" charset="-122"/>
                <a:cs typeface="Calibri" pitchFamily="34" charset="-120"/>
              </a:rPr>
              <a:t>LLM families</a:t>
            </a:r>
            <a:endParaRPr lang="en-US" sz="4200" dirty="0"/>
          </a:p>
        </p:txBody>
      </p:sp>
      <p:sp>
        <p:nvSpPr>
          <p:cNvPr id="4" name="Text 2"/>
          <p:cNvSpPr txBox="1"/>
          <p:nvPr/>
        </p:nvSpPr>
        <p:spPr>
          <a:xfrm>
            <a:off x="731520" y="4617720"/>
            <a:ext cx="10515600" cy="1097280"/>
          </a:xfrm>
          <a:prstGeom prst="rect">
            <a:avLst/>
          </a:prstGeom>
          <a:noFill/>
          <a:ln/>
        </p:spPr>
        <p:txBody>
          <a:bodyPr wrap="square" lIns="0" tIns="0" rIns="0" bIns="0" rtlCol="0" anchor="t"/>
          <a:lstStyle/>
          <a:p>
            <a:pPr indent="0" marL="0">
              <a:buNone/>
            </a:pPr>
            <a:r>
              <a:rPr lang="en-US" sz="2200" i="1" dirty="0">
                <a:solidFill>
                  <a:srgbClr val="C7D2FE"/>
                </a:solidFill>
                <a:latin typeface="Calibri" pitchFamily="34" charset="0"/>
                <a:ea typeface="Calibri" pitchFamily="34" charset="-122"/>
                <a:cs typeface="Calibri" pitchFamily="34" charset="-120"/>
              </a:rPr>
              <a:t>GPT, BERT, LLaMA, T5, Claude, Gemini, Qwen…: how do they relate?</a:t>
            </a:r>
            <a:endParaRPr lang="en-US" sz="2200" dirty="0"/>
          </a:p>
        </p:txBody>
      </p:sp>
      <p:sp>
        <p:nvSpPr>
          <p:cNvPr id="5" name="Shape 3"/>
          <p:cNvSpPr/>
          <p:nvPr/>
        </p:nvSpPr>
        <p:spPr>
          <a:xfrm>
            <a:off x="9692640" y="1097280"/>
            <a:ext cx="1554480" cy="1554480"/>
          </a:xfrm>
          <a:prstGeom prst="ellipse">
            <a:avLst/>
          </a:prstGeom>
          <a:solidFill>
            <a:srgbClr val="4F46E5"/>
          </a:solidFill>
          <a:ln w="12700">
            <a:solidFill>
              <a:srgbClr val="4F46E5"/>
            </a:solidFill>
            <a:prstDash val="solid"/>
          </a:ln>
        </p:spPr>
      </p:sp>
      <p:pic>
        <p:nvPicPr>
          <p:cNvPr id="6" name="Image 0" descr="preencoded.png">    </p:cNvPr>
          <p:cNvPicPr>
            <a:picLocks noChangeAspect="1"/>
          </p:cNvPicPr>
          <p:nvPr/>
        </p:nvPicPr>
        <p:blipFill>
          <a:blip r:embed="rId1"/>
          <a:stretch>
            <a:fillRect/>
          </a:stretch>
        </p:blipFill>
        <p:spPr>
          <a:xfrm>
            <a:off x="10065715" y="1470355"/>
            <a:ext cx="808330" cy="80833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06  ·  LARGE LANGUAGE MODELS (LLMS) AND FAMILIES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26</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A family tree of transformer language models</a:t>
            </a:r>
            <a:endParaRPr lang="en-US" sz="3200" dirty="0"/>
          </a:p>
        </p:txBody>
      </p:sp>
      <p:sp>
        <p:nvSpPr>
          <p:cNvPr id="6" name="Shape 4"/>
          <p:cNvSpPr/>
          <p:nvPr/>
        </p:nvSpPr>
        <p:spPr>
          <a:xfrm>
            <a:off x="6095848" y="2571695"/>
            <a:ext cx="0" cy="160442"/>
          </a:xfrm>
          <a:prstGeom prst="line">
            <a:avLst/>
          </a:prstGeom>
          <a:noFill/>
          <a:ln w="22860">
            <a:solidFill>
              <a:srgbClr val="4F46E5"/>
            </a:solidFill>
            <a:prstDash val="solid"/>
          </a:ln>
        </p:spPr>
      </p:sp>
      <p:sp>
        <p:nvSpPr>
          <p:cNvPr id="7" name="Shape 5"/>
          <p:cNvSpPr/>
          <p:nvPr/>
        </p:nvSpPr>
        <p:spPr>
          <a:xfrm flipH="1">
            <a:off x="2572944" y="2732137"/>
            <a:ext cx="3522904" cy="0"/>
          </a:xfrm>
          <a:prstGeom prst="line">
            <a:avLst/>
          </a:prstGeom>
          <a:noFill/>
          <a:ln w="22860">
            <a:solidFill>
              <a:srgbClr val="4F46E5"/>
            </a:solidFill>
            <a:prstDash val="solid"/>
          </a:ln>
        </p:spPr>
      </p:sp>
      <p:sp>
        <p:nvSpPr>
          <p:cNvPr id="8" name="Shape 6"/>
          <p:cNvSpPr/>
          <p:nvPr/>
        </p:nvSpPr>
        <p:spPr>
          <a:xfrm>
            <a:off x="6095848" y="2571695"/>
            <a:ext cx="0" cy="160442"/>
          </a:xfrm>
          <a:prstGeom prst="line">
            <a:avLst/>
          </a:prstGeom>
          <a:noFill/>
          <a:ln w="22860">
            <a:solidFill>
              <a:srgbClr val="4F46E5"/>
            </a:solidFill>
            <a:prstDash val="solid"/>
          </a:ln>
        </p:spPr>
      </p:sp>
      <p:sp>
        <p:nvSpPr>
          <p:cNvPr id="9" name="Shape 7"/>
          <p:cNvSpPr/>
          <p:nvPr/>
        </p:nvSpPr>
        <p:spPr>
          <a:xfrm>
            <a:off x="6095848" y="2732137"/>
            <a:ext cx="0" cy="0"/>
          </a:xfrm>
          <a:prstGeom prst="line">
            <a:avLst/>
          </a:prstGeom>
          <a:noFill/>
          <a:ln w="22860">
            <a:solidFill>
              <a:srgbClr val="4F46E5"/>
            </a:solidFill>
            <a:prstDash val="solid"/>
          </a:ln>
        </p:spPr>
      </p:sp>
      <p:sp>
        <p:nvSpPr>
          <p:cNvPr id="10" name="Shape 8"/>
          <p:cNvSpPr/>
          <p:nvPr/>
        </p:nvSpPr>
        <p:spPr>
          <a:xfrm>
            <a:off x="6095848" y="2571695"/>
            <a:ext cx="0" cy="160442"/>
          </a:xfrm>
          <a:prstGeom prst="line">
            <a:avLst/>
          </a:prstGeom>
          <a:noFill/>
          <a:ln w="22860">
            <a:solidFill>
              <a:srgbClr val="4F46E5"/>
            </a:solidFill>
            <a:prstDash val="solid"/>
          </a:ln>
        </p:spPr>
      </p:sp>
      <p:sp>
        <p:nvSpPr>
          <p:cNvPr id="11" name="Shape 9"/>
          <p:cNvSpPr/>
          <p:nvPr/>
        </p:nvSpPr>
        <p:spPr>
          <a:xfrm>
            <a:off x="6095848" y="2732137"/>
            <a:ext cx="3522904" cy="0"/>
          </a:xfrm>
          <a:prstGeom prst="line">
            <a:avLst/>
          </a:prstGeom>
          <a:noFill/>
          <a:ln w="22860">
            <a:solidFill>
              <a:srgbClr val="4F46E5"/>
            </a:solidFill>
            <a:prstDash val="solid"/>
          </a:ln>
        </p:spPr>
      </p:sp>
      <p:sp>
        <p:nvSpPr>
          <p:cNvPr id="12" name="Shape 10"/>
          <p:cNvSpPr/>
          <p:nvPr/>
        </p:nvSpPr>
        <p:spPr>
          <a:xfrm>
            <a:off x="2572944" y="2732137"/>
            <a:ext cx="0" cy="200553"/>
          </a:xfrm>
          <a:prstGeom prst="line">
            <a:avLst/>
          </a:prstGeom>
          <a:noFill/>
          <a:ln w="22860">
            <a:solidFill>
              <a:srgbClr val="4F46E5"/>
            </a:solidFill>
            <a:prstDash val="solid"/>
            <a:tailEnd type="triangle"/>
          </a:ln>
        </p:spPr>
      </p:sp>
      <p:sp>
        <p:nvSpPr>
          <p:cNvPr id="13" name="Shape 11"/>
          <p:cNvSpPr/>
          <p:nvPr/>
        </p:nvSpPr>
        <p:spPr>
          <a:xfrm>
            <a:off x="6095848" y="2732137"/>
            <a:ext cx="0" cy="200553"/>
          </a:xfrm>
          <a:prstGeom prst="line">
            <a:avLst/>
          </a:prstGeom>
          <a:noFill/>
          <a:ln w="22860">
            <a:solidFill>
              <a:srgbClr val="4F46E5"/>
            </a:solidFill>
            <a:prstDash val="solid"/>
            <a:tailEnd type="triangle"/>
          </a:ln>
        </p:spPr>
      </p:sp>
      <p:sp>
        <p:nvSpPr>
          <p:cNvPr id="14" name="Shape 12"/>
          <p:cNvSpPr/>
          <p:nvPr/>
        </p:nvSpPr>
        <p:spPr>
          <a:xfrm>
            <a:off x="9618751" y="2732137"/>
            <a:ext cx="0" cy="200553"/>
          </a:xfrm>
          <a:prstGeom prst="line">
            <a:avLst/>
          </a:prstGeom>
          <a:noFill/>
          <a:ln w="22860">
            <a:solidFill>
              <a:srgbClr val="4F46E5"/>
            </a:solidFill>
            <a:prstDash val="solid"/>
            <a:tailEnd type="triangle"/>
          </a:ln>
        </p:spPr>
      </p:sp>
      <p:sp>
        <p:nvSpPr>
          <p:cNvPr id="15" name="Shape 13"/>
          <p:cNvSpPr/>
          <p:nvPr/>
        </p:nvSpPr>
        <p:spPr>
          <a:xfrm>
            <a:off x="4948856" y="2010147"/>
            <a:ext cx="2293984" cy="561548"/>
          </a:xfrm>
          <a:prstGeom prst="rect">
            <a:avLst/>
          </a:prstGeom>
          <a:solidFill>
            <a:srgbClr val="E5F7EF"/>
          </a:solidFill>
          <a:ln w="15240">
            <a:solidFill>
              <a:srgbClr val="009E73"/>
            </a:solidFill>
            <a:prstDash val="solid"/>
          </a:ln>
        </p:spPr>
      </p:sp>
      <p:sp>
        <p:nvSpPr>
          <p:cNvPr id="16" name="Shape 14"/>
          <p:cNvSpPr/>
          <p:nvPr/>
        </p:nvSpPr>
        <p:spPr>
          <a:xfrm>
            <a:off x="934384" y="2932690"/>
            <a:ext cx="3277120" cy="641769"/>
          </a:xfrm>
          <a:prstGeom prst="rect">
            <a:avLst/>
          </a:prstGeom>
          <a:solidFill>
            <a:srgbClr val="E5F7EF"/>
          </a:solidFill>
          <a:ln w="15240">
            <a:solidFill>
              <a:srgbClr val="009E73"/>
            </a:solidFill>
            <a:prstDash val="solid"/>
          </a:ln>
        </p:spPr>
      </p:sp>
      <p:sp>
        <p:nvSpPr>
          <p:cNvPr id="17" name="Shape 15"/>
          <p:cNvSpPr/>
          <p:nvPr/>
        </p:nvSpPr>
        <p:spPr>
          <a:xfrm>
            <a:off x="4457288" y="2932690"/>
            <a:ext cx="3277120" cy="641769"/>
          </a:xfrm>
          <a:prstGeom prst="rect">
            <a:avLst/>
          </a:prstGeom>
          <a:solidFill>
            <a:srgbClr val="E5F7EF"/>
          </a:solidFill>
          <a:ln w="15240">
            <a:solidFill>
              <a:srgbClr val="009E73"/>
            </a:solidFill>
            <a:prstDash val="solid"/>
          </a:ln>
        </p:spPr>
      </p:sp>
      <p:sp>
        <p:nvSpPr>
          <p:cNvPr id="18" name="Shape 16"/>
          <p:cNvSpPr/>
          <p:nvPr/>
        </p:nvSpPr>
        <p:spPr>
          <a:xfrm>
            <a:off x="7980191" y="2932690"/>
            <a:ext cx="3277120" cy="641769"/>
          </a:xfrm>
          <a:prstGeom prst="rect">
            <a:avLst/>
          </a:prstGeom>
          <a:solidFill>
            <a:srgbClr val="E5F7EF"/>
          </a:solidFill>
          <a:ln w="15240">
            <a:solidFill>
              <a:srgbClr val="009E73"/>
            </a:solidFill>
            <a:prstDash val="solid"/>
          </a:ln>
        </p:spPr>
      </p:sp>
      <p:sp>
        <p:nvSpPr>
          <p:cNvPr id="19" name="Text 17"/>
          <p:cNvSpPr txBox="1"/>
          <p:nvPr/>
        </p:nvSpPr>
        <p:spPr>
          <a:xfrm>
            <a:off x="5316144" y="2153426"/>
            <a:ext cx="1559407" cy="274990"/>
          </a:xfrm>
          <a:prstGeom prst="rect">
            <a:avLst/>
          </a:prstGeom>
          <a:noFill/>
          <a:ln/>
        </p:spPr>
        <p:txBody>
          <a:bodyPr wrap="square" lIns="0" tIns="0" rIns="0" bIns="0" rtlCol="0" anchor="ctr"/>
          <a:lstStyle/>
          <a:p>
            <a:pPr algn="ctr" indent="0" marL="0">
              <a:lnSpc>
                <a:spcPct val="116000"/>
              </a:lnSpc>
              <a:buNone/>
            </a:pPr>
            <a:r>
              <a:rPr lang="en-US" sz="1867" b="1" dirty="0">
                <a:solidFill>
                  <a:srgbClr val="1E1B4B"/>
                </a:solidFill>
                <a:latin typeface="Arial" pitchFamily="34" charset="0"/>
                <a:ea typeface="Arial" pitchFamily="34" charset="-122"/>
                <a:cs typeface="Arial" pitchFamily="34" charset="-120"/>
              </a:rPr>
              <a:t>Transformer</a:t>
            </a:r>
            <a:endParaRPr lang="en-US" sz="1867" dirty="0"/>
          </a:p>
        </p:txBody>
      </p:sp>
      <p:sp>
        <p:nvSpPr>
          <p:cNvPr id="20" name="Text 18"/>
          <p:cNvSpPr txBox="1"/>
          <p:nvPr/>
        </p:nvSpPr>
        <p:spPr>
          <a:xfrm>
            <a:off x="1724648" y="3116080"/>
            <a:ext cx="1696592" cy="274990"/>
          </a:xfrm>
          <a:prstGeom prst="rect">
            <a:avLst/>
          </a:prstGeom>
          <a:noFill/>
          <a:ln/>
        </p:spPr>
        <p:txBody>
          <a:bodyPr wrap="square" lIns="0" tIns="0" rIns="0" bIns="0" rtlCol="0" anchor="ctr"/>
          <a:lstStyle/>
          <a:p>
            <a:pPr algn="ctr" indent="0" marL="0">
              <a:lnSpc>
                <a:spcPct val="116000"/>
              </a:lnSpc>
              <a:buNone/>
            </a:pPr>
            <a:r>
              <a:rPr lang="en-US" sz="1867" b="1" dirty="0">
                <a:solidFill>
                  <a:srgbClr val="1E1B4B"/>
                </a:solidFill>
                <a:latin typeface="Arial" pitchFamily="34" charset="0"/>
                <a:ea typeface="Arial" pitchFamily="34" charset="-122"/>
                <a:cs typeface="Arial" pitchFamily="34" charset="-120"/>
              </a:rPr>
              <a:t>Encoder-only</a:t>
            </a:r>
            <a:endParaRPr lang="en-US" sz="1867" dirty="0"/>
          </a:p>
        </p:txBody>
      </p:sp>
      <p:sp>
        <p:nvSpPr>
          <p:cNvPr id="21" name="Text 19"/>
          <p:cNvSpPr txBox="1"/>
          <p:nvPr/>
        </p:nvSpPr>
        <p:spPr>
          <a:xfrm>
            <a:off x="1016312" y="3675352"/>
            <a:ext cx="1357274" cy="219992"/>
          </a:xfrm>
          <a:prstGeom prst="rect">
            <a:avLst/>
          </a:prstGeom>
          <a:noFill/>
          <a:ln/>
        </p:spPr>
        <p:txBody>
          <a:bodyPr wrap="square" lIns="0" tIns="0" rIns="0" bIns="0" rtlCol="0" anchor="ctr"/>
          <a:lstStyle/>
          <a:p>
            <a:pPr algn="l" indent="0" marL="0">
              <a:lnSpc>
                <a:spcPct val="116000"/>
              </a:lnSpc>
              <a:buNone/>
            </a:pPr>
            <a:r>
              <a:rPr lang="en-US" sz="1493" dirty="0">
                <a:solidFill>
                  <a:srgbClr val="1F2937"/>
                </a:solidFill>
                <a:latin typeface="Arial" pitchFamily="34" charset="0"/>
                <a:ea typeface="Arial" pitchFamily="34" charset="-122"/>
                <a:cs typeface="Arial" pitchFamily="34" charset="-120"/>
              </a:rPr>
              <a:t>Reads all input</a:t>
            </a:r>
            <a:endParaRPr lang="en-US" sz="1493" dirty="0"/>
          </a:p>
        </p:txBody>
      </p:sp>
      <p:sp>
        <p:nvSpPr>
          <p:cNvPr id="22" name="Text 20"/>
          <p:cNvSpPr txBox="1"/>
          <p:nvPr/>
        </p:nvSpPr>
        <p:spPr>
          <a:xfrm>
            <a:off x="1016312" y="4092502"/>
            <a:ext cx="1920645" cy="219992"/>
          </a:xfrm>
          <a:prstGeom prst="rect">
            <a:avLst/>
          </a:prstGeom>
          <a:noFill/>
          <a:ln/>
        </p:spPr>
        <p:txBody>
          <a:bodyPr wrap="square" lIns="0" tIns="0" rIns="0" bIns="0" rtlCol="0" anchor="ctr"/>
          <a:lstStyle/>
          <a:p>
            <a:pPr algn="l" indent="0" marL="0">
              <a:lnSpc>
                <a:spcPct val="116000"/>
              </a:lnSpc>
              <a:buNone/>
            </a:pPr>
            <a:r>
              <a:rPr lang="en-US" sz="1493" dirty="0">
                <a:solidFill>
                  <a:srgbClr val="1F2937"/>
                </a:solidFill>
                <a:latin typeface="Arial" pitchFamily="34" charset="0"/>
                <a:ea typeface="Arial" pitchFamily="34" charset="-122"/>
                <a:cs typeface="Arial" pitchFamily="34" charset="-120"/>
              </a:rPr>
              <a:t>BERT / ModernBERT</a:t>
            </a:r>
            <a:endParaRPr lang="en-US" sz="1493" dirty="0"/>
          </a:p>
        </p:txBody>
      </p:sp>
      <p:sp>
        <p:nvSpPr>
          <p:cNvPr id="23" name="Text 21"/>
          <p:cNvSpPr txBox="1"/>
          <p:nvPr/>
        </p:nvSpPr>
        <p:spPr>
          <a:xfrm>
            <a:off x="1016312" y="4509652"/>
            <a:ext cx="2399551" cy="219992"/>
          </a:xfrm>
          <a:prstGeom prst="rect">
            <a:avLst/>
          </a:prstGeom>
          <a:noFill/>
          <a:ln/>
        </p:spPr>
        <p:txBody>
          <a:bodyPr wrap="square" lIns="0" tIns="0" rIns="0" bIns="0" rtlCol="0" anchor="ctr"/>
          <a:lstStyle/>
          <a:p>
            <a:pPr algn="l" indent="0" marL="0">
              <a:lnSpc>
                <a:spcPct val="116000"/>
              </a:lnSpc>
              <a:buNone/>
            </a:pPr>
            <a:r>
              <a:rPr lang="en-US" sz="1493" dirty="0">
                <a:solidFill>
                  <a:srgbClr val="1F2937"/>
                </a:solidFill>
                <a:latin typeface="Arial" pitchFamily="34" charset="0"/>
                <a:ea typeface="Arial" pitchFamily="34" charset="-122"/>
                <a:cs typeface="Arial" pitchFamily="34" charset="-120"/>
              </a:rPr>
              <a:t>Masks; labels; embeddings</a:t>
            </a:r>
            <a:endParaRPr lang="en-US" sz="1493" dirty="0"/>
          </a:p>
        </p:txBody>
      </p:sp>
      <p:sp>
        <p:nvSpPr>
          <p:cNvPr id="24" name="Text 22"/>
          <p:cNvSpPr txBox="1"/>
          <p:nvPr/>
        </p:nvSpPr>
        <p:spPr>
          <a:xfrm>
            <a:off x="4986982" y="3116080"/>
            <a:ext cx="2217731" cy="274990"/>
          </a:xfrm>
          <a:prstGeom prst="rect">
            <a:avLst/>
          </a:prstGeom>
          <a:noFill/>
          <a:ln/>
        </p:spPr>
        <p:txBody>
          <a:bodyPr wrap="square" lIns="0" tIns="0" rIns="0" bIns="0" rtlCol="0" anchor="ctr"/>
          <a:lstStyle/>
          <a:p>
            <a:pPr algn="ctr" indent="0" marL="0">
              <a:lnSpc>
                <a:spcPct val="116000"/>
              </a:lnSpc>
              <a:buNone/>
            </a:pPr>
            <a:r>
              <a:rPr lang="en-US" sz="1867" b="1" dirty="0">
                <a:solidFill>
                  <a:srgbClr val="1E1B4B"/>
                </a:solidFill>
                <a:latin typeface="Arial" pitchFamily="34" charset="0"/>
                <a:ea typeface="Arial" pitchFamily="34" charset="-122"/>
                <a:cs typeface="Arial" pitchFamily="34" charset="-120"/>
              </a:rPr>
              <a:t>Encoder–decoder</a:t>
            </a:r>
            <a:endParaRPr lang="en-US" sz="1867" dirty="0"/>
          </a:p>
        </p:txBody>
      </p:sp>
      <p:sp>
        <p:nvSpPr>
          <p:cNvPr id="25" name="Text 23"/>
          <p:cNvSpPr txBox="1"/>
          <p:nvPr/>
        </p:nvSpPr>
        <p:spPr>
          <a:xfrm>
            <a:off x="4539216" y="3675352"/>
            <a:ext cx="2611540" cy="219992"/>
          </a:xfrm>
          <a:prstGeom prst="rect">
            <a:avLst/>
          </a:prstGeom>
          <a:noFill/>
          <a:ln/>
        </p:spPr>
        <p:txBody>
          <a:bodyPr wrap="square" lIns="0" tIns="0" rIns="0" bIns="0" rtlCol="0" anchor="ctr"/>
          <a:lstStyle/>
          <a:p>
            <a:pPr algn="l" indent="0" marL="0">
              <a:lnSpc>
                <a:spcPct val="116000"/>
              </a:lnSpc>
              <a:buNone/>
            </a:pPr>
            <a:r>
              <a:rPr lang="en-US" sz="1493" dirty="0">
                <a:solidFill>
                  <a:srgbClr val="1F2937"/>
                </a:solidFill>
                <a:latin typeface="Arial" pitchFamily="34" charset="0"/>
                <a:ea typeface="Arial" pitchFamily="34" charset="-122"/>
                <a:cs typeface="Arial" pitchFamily="34" charset="-120"/>
              </a:rPr>
              <a:t>Read source; generate output</a:t>
            </a:r>
            <a:endParaRPr lang="en-US" sz="1493" dirty="0"/>
          </a:p>
        </p:txBody>
      </p:sp>
      <p:sp>
        <p:nvSpPr>
          <p:cNvPr id="26" name="Text 24"/>
          <p:cNvSpPr txBox="1"/>
          <p:nvPr/>
        </p:nvSpPr>
        <p:spPr>
          <a:xfrm>
            <a:off x="4539216" y="4092502"/>
            <a:ext cx="2143398" cy="219992"/>
          </a:xfrm>
          <a:prstGeom prst="rect">
            <a:avLst/>
          </a:prstGeom>
          <a:noFill/>
          <a:ln/>
        </p:spPr>
        <p:txBody>
          <a:bodyPr wrap="square" lIns="0" tIns="0" rIns="0" bIns="0" rtlCol="0" anchor="ctr"/>
          <a:lstStyle/>
          <a:p>
            <a:pPr algn="l" indent="0" marL="0">
              <a:lnSpc>
                <a:spcPct val="116000"/>
              </a:lnSpc>
              <a:buNone/>
            </a:pPr>
            <a:r>
              <a:rPr lang="en-US" sz="1493" dirty="0">
                <a:solidFill>
                  <a:srgbClr val="1F2937"/>
                </a:solidFill>
                <a:latin typeface="Arial" pitchFamily="34" charset="0"/>
                <a:ea typeface="Arial" pitchFamily="34" charset="-122"/>
                <a:cs typeface="Arial" pitchFamily="34" charset="-120"/>
              </a:rPr>
              <a:t>T5 / Flan-T5: text → text</a:t>
            </a:r>
            <a:endParaRPr lang="en-US" sz="1493" dirty="0"/>
          </a:p>
        </p:txBody>
      </p:sp>
      <p:sp>
        <p:nvSpPr>
          <p:cNvPr id="27" name="Text 25"/>
          <p:cNvSpPr txBox="1"/>
          <p:nvPr/>
        </p:nvSpPr>
        <p:spPr>
          <a:xfrm>
            <a:off x="4539216" y="4509652"/>
            <a:ext cx="2452548" cy="219992"/>
          </a:xfrm>
          <a:prstGeom prst="rect">
            <a:avLst/>
          </a:prstGeom>
          <a:noFill/>
          <a:ln/>
        </p:spPr>
        <p:txBody>
          <a:bodyPr wrap="square" lIns="0" tIns="0" rIns="0" bIns="0" rtlCol="0" anchor="ctr"/>
          <a:lstStyle/>
          <a:p>
            <a:pPr algn="l" indent="0" marL="0">
              <a:lnSpc>
                <a:spcPct val="116000"/>
              </a:lnSpc>
              <a:buNone/>
            </a:pPr>
            <a:r>
              <a:rPr lang="en-US" sz="1493" dirty="0">
                <a:solidFill>
                  <a:srgbClr val="1F2937"/>
                </a:solidFill>
                <a:latin typeface="Arial" pitchFamily="34" charset="0"/>
                <a:ea typeface="Arial" pitchFamily="34" charset="-122"/>
                <a:cs typeface="Arial" pitchFamily="34" charset="-120"/>
              </a:rPr>
              <a:t>Whisper: audio → transcript</a:t>
            </a:r>
            <a:endParaRPr lang="en-US" sz="1493" dirty="0"/>
          </a:p>
        </p:txBody>
      </p:sp>
      <p:sp>
        <p:nvSpPr>
          <p:cNvPr id="28" name="Text 26"/>
          <p:cNvSpPr txBox="1"/>
          <p:nvPr/>
        </p:nvSpPr>
        <p:spPr>
          <a:xfrm>
            <a:off x="8770455" y="3116080"/>
            <a:ext cx="1696592" cy="274990"/>
          </a:xfrm>
          <a:prstGeom prst="rect">
            <a:avLst/>
          </a:prstGeom>
          <a:noFill/>
          <a:ln/>
        </p:spPr>
        <p:txBody>
          <a:bodyPr wrap="square" lIns="0" tIns="0" rIns="0" bIns="0" rtlCol="0" anchor="ctr"/>
          <a:lstStyle/>
          <a:p>
            <a:pPr algn="ctr" indent="0" marL="0">
              <a:lnSpc>
                <a:spcPct val="116000"/>
              </a:lnSpc>
              <a:buNone/>
            </a:pPr>
            <a:r>
              <a:rPr lang="en-US" sz="1867" b="1" dirty="0">
                <a:solidFill>
                  <a:srgbClr val="1E1B4B"/>
                </a:solidFill>
                <a:latin typeface="Arial" pitchFamily="34" charset="0"/>
                <a:ea typeface="Arial" pitchFamily="34" charset="-122"/>
                <a:cs typeface="Arial" pitchFamily="34" charset="-120"/>
              </a:rPr>
              <a:t>Decoder-only</a:t>
            </a:r>
            <a:endParaRPr lang="en-US" sz="1867" dirty="0"/>
          </a:p>
        </p:txBody>
      </p:sp>
      <p:sp>
        <p:nvSpPr>
          <p:cNvPr id="29" name="Text 27"/>
          <p:cNvSpPr txBox="1"/>
          <p:nvPr/>
        </p:nvSpPr>
        <p:spPr>
          <a:xfrm>
            <a:off x="8062119" y="3675352"/>
            <a:ext cx="2055070" cy="219992"/>
          </a:xfrm>
          <a:prstGeom prst="rect">
            <a:avLst/>
          </a:prstGeom>
          <a:noFill/>
          <a:ln/>
        </p:spPr>
        <p:txBody>
          <a:bodyPr wrap="square" lIns="0" tIns="0" rIns="0" bIns="0" rtlCol="0" anchor="ctr"/>
          <a:lstStyle/>
          <a:p>
            <a:pPr algn="l" indent="0" marL="0">
              <a:lnSpc>
                <a:spcPct val="116000"/>
              </a:lnSpc>
              <a:buNone/>
            </a:pPr>
            <a:r>
              <a:rPr lang="en-US" sz="1493" dirty="0">
                <a:solidFill>
                  <a:srgbClr val="1F2937"/>
                </a:solidFill>
                <a:latin typeface="Arial" pitchFamily="34" charset="0"/>
                <a:ea typeface="Arial" pitchFamily="34" charset="-122"/>
                <a:cs typeface="Arial" pitchFamily="34" charset="-120"/>
              </a:rPr>
              <a:t>Continue a token prefix</a:t>
            </a:r>
            <a:endParaRPr lang="en-US" sz="1493" dirty="0"/>
          </a:p>
        </p:txBody>
      </p:sp>
      <p:sp>
        <p:nvSpPr>
          <p:cNvPr id="30" name="Text 28"/>
          <p:cNvSpPr txBox="1"/>
          <p:nvPr/>
        </p:nvSpPr>
        <p:spPr>
          <a:xfrm>
            <a:off x="8062119" y="4092502"/>
            <a:ext cx="2108067" cy="219992"/>
          </a:xfrm>
          <a:prstGeom prst="rect">
            <a:avLst/>
          </a:prstGeom>
          <a:noFill/>
          <a:ln/>
        </p:spPr>
        <p:txBody>
          <a:bodyPr wrap="square" lIns="0" tIns="0" rIns="0" bIns="0" rtlCol="0" anchor="ctr"/>
          <a:lstStyle/>
          <a:p>
            <a:pPr algn="l" indent="0" marL="0">
              <a:lnSpc>
                <a:spcPct val="116000"/>
              </a:lnSpc>
              <a:buNone/>
            </a:pPr>
            <a:r>
              <a:rPr lang="en-US" sz="1493" dirty="0">
                <a:solidFill>
                  <a:srgbClr val="1F2937"/>
                </a:solidFill>
                <a:latin typeface="Arial" pitchFamily="34" charset="0"/>
                <a:ea typeface="Arial" pitchFamily="34" charset="-122"/>
                <a:cs typeface="Arial" pitchFamily="34" charset="-120"/>
              </a:rPr>
              <a:t>Qwen / Llama / Gemma</a:t>
            </a:r>
            <a:endParaRPr lang="en-US" sz="1493" dirty="0"/>
          </a:p>
        </p:txBody>
      </p:sp>
      <p:sp>
        <p:nvSpPr>
          <p:cNvPr id="31" name="Text 29"/>
          <p:cNvSpPr txBox="1"/>
          <p:nvPr/>
        </p:nvSpPr>
        <p:spPr>
          <a:xfrm>
            <a:off x="8062119" y="4509652"/>
            <a:ext cx="1885313" cy="219992"/>
          </a:xfrm>
          <a:prstGeom prst="rect">
            <a:avLst/>
          </a:prstGeom>
          <a:noFill/>
          <a:ln/>
        </p:spPr>
        <p:txBody>
          <a:bodyPr wrap="square" lIns="0" tIns="0" rIns="0" bIns="0" rtlCol="0" anchor="ctr"/>
          <a:lstStyle/>
          <a:p>
            <a:pPr algn="l" indent="0" marL="0">
              <a:lnSpc>
                <a:spcPct val="116000"/>
              </a:lnSpc>
              <a:buNone/>
            </a:pPr>
            <a:r>
              <a:rPr lang="en-US" sz="1493" dirty="0">
                <a:solidFill>
                  <a:srgbClr val="1F2937"/>
                </a:solidFill>
                <a:latin typeface="Arial" pitchFamily="34" charset="0"/>
                <a:ea typeface="Arial" pitchFamily="34" charset="-122"/>
                <a:cs typeface="Arial" pitchFamily="34" charset="-120"/>
              </a:rPr>
              <a:t>GPT-style generation</a:t>
            </a:r>
            <a:endParaRPr lang="en-US" sz="1493"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06  ·  LARGE LANGUAGE MODELS (LLMS) AND FAMILIES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27</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BERT vs. T5 vs. GPT-style: same input, different jobs</a:t>
            </a:r>
            <a:endParaRPr lang="en-US" sz="3200" dirty="0"/>
          </a:p>
        </p:txBody>
      </p:sp>
      <p:sp>
        <p:nvSpPr>
          <p:cNvPr id="6" name="Shape 4"/>
          <p:cNvSpPr/>
          <p:nvPr/>
        </p:nvSpPr>
        <p:spPr>
          <a:xfrm>
            <a:off x="548640" y="1481328"/>
            <a:ext cx="3515258" cy="566928"/>
          </a:xfrm>
          <a:prstGeom prst="roundRect">
            <a:avLst>
              <a:gd name="adj" fmla="val 16129"/>
            </a:avLst>
          </a:prstGeom>
          <a:solidFill>
            <a:srgbClr val="4F46E5"/>
          </a:solidFill>
          <a:ln w="12700">
            <a:solidFill>
              <a:srgbClr val="4F46E5"/>
            </a:solidFill>
            <a:prstDash val="solid"/>
          </a:ln>
        </p:spPr>
      </p:sp>
      <p:sp>
        <p:nvSpPr>
          <p:cNvPr id="7" name="Text 5"/>
          <p:cNvSpPr txBox="1"/>
          <p:nvPr/>
        </p:nvSpPr>
        <p:spPr>
          <a:xfrm>
            <a:off x="731520" y="1481328"/>
            <a:ext cx="3149498" cy="566928"/>
          </a:xfrm>
          <a:prstGeom prst="rect">
            <a:avLst/>
          </a:prstGeom>
          <a:noFill/>
          <a:ln/>
        </p:spPr>
        <p:txBody>
          <a:bodyPr wrap="square" lIns="50800" tIns="50800" rIns="50800" bIns="5080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BERT: encoder</a:t>
            </a:r>
            <a:endParaRPr lang="en-US" sz="1800" dirty="0"/>
          </a:p>
        </p:txBody>
      </p:sp>
      <p:sp>
        <p:nvSpPr>
          <p:cNvPr id="8" name="Shape 6"/>
          <p:cNvSpPr/>
          <p:nvPr/>
        </p:nvSpPr>
        <p:spPr>
          <a:xfrm>
            <a:off x="548640" y="2167128"/>
            <a:ext cx="3515258" cy="4142232"/>
          </a:xfrm>
          <a:prstGeom prst="roundRect">
            <a:avLst>
              <a:gd name="adj" fmla="val 2601"/>
            </a:avLst>
          </a:prstGeom>
          <a:solidFill>
            <a:srgbClr val="EEF0FF"/>
          </a:solidFill>
          <a:ln w="12700">
            <a:solidFill>
              <a:srgbClr val="EEF0FF"/>
            </a:solidFill>
            <a:prstDash val="solid"/>
          </a:ln>
        </p:spPr>
      </p:sp>
      <p:sp>
        <p:nvSpPr>
          <p:cNvPr id="9" name="Text 7"/>
          <p:cNvSpPr txBox="1"/>
          <p:nvPr/>
        </p:nvSpPr>
        <p:spPr>
          <a:xfrm>
            <a:off x="658368" y="2258568"/>
            <a:ext cx="3295802" cy="4005072"/>
          </a:xfrm>
          <a:prstGeom prst="rect">
            <a:avLst/>
          </a:prstGeom>
          <a:noFill/>
          <a:ln/>
        </p:spPr>
        <p:txBody>
          <a:bodyPr wrap="square" lIns="50800" tIns="50800" rIns="50800" bIns="50800" rtlCol="0" anchor="t"/>
          <a:lstStyle/>
          <a:p>
            <a:pPr marL="254000" indent="-254000">
              <a:spcAft>
                <a:spcPts val="800"/>
              </a:spcAft>
              <a:buSzPct val="100000"/>
              <a:buChar char="●"/>
            </a:pPr>
            <a:r>
              <a:rPr lang="en-US" sz="2400" dirty="0">
                <a:solidFill>
                  <a:srgbClr val="1F2937"/>
                </a:solidFill>
                <a:latin typeface="Calibri" pitchFamily="34" charset="0"/>
                <a:ea typeface="Calibri" pitchFamily="34" charset="-122"/>
                <a:cs typeface="Calibri" pitchFamily="34" charset="-120"/>
              </a:rPr>
              <a:t>Input: supplied mask</a:t>
            </a:r>
            <a:endParaRPr lang="en-US" sz="2400" dirty="0"/>
          </a:p>
          <a:p>
            <a:pPr marL="254000" indent="-254000">
              <a:spcAft>
                <a:spcPts val="800"/>
              </a:spcAft>
              <a:buSzPct val="100000"/>
              <a:buChar char="●"/>
            </a:pPr>
            <a:r>
              <a:rPr lang="en-US" sz="2400" dirty="0">
                <a:solidFill>
                  <a:srgbClr val="1F2937"/>
                </a:solidFill>
                <a:latin typeface="Calibri" pitchFamily="34" charset="0"/>
                <a:ea typeface="Calibri" pitchFamily="34" charset="-122"/>
                <a:cs typeface="Calibri" pitchFamily="34" charset="-120"/>
              </a:rPr>
              <a:t>Output: ranked token</a:t>
            </a:r>
            <a:endParaRPr lang="en-US" sz="2400" dirty="0"/>
          </a:p>
          <a:p>
            <a:pPr marL="254000" indent="-254000">
              <a:spcAft>
                <a:spcPts val="800"/>
              </a:spcAft>
              <a:buSzPct val="100000"/>
              <a:buChar char="●"/>
            </a:pPr>
            <a:r>
              <a:rPr lang="en-US" sz="2400" dirty="0">
                <a:solidFill>
                  <a:srgbClr val="1F2937"/>
                </a:solidFill>
                <a:latin typeface="Calibri" pitchFamily="34" charset="0"/>
                <a:ea typeface="Calibri" pitchFamily="34" charset="-122"/>
                <a:cs typeface="Calibri" pitchFamily="34" charset="-120"/>
              </a:rPr>
              <a:t>Use: labels/representations</a:t>
            </a:r>
            <a:endParaRPr lang="en-US" sz="2400" dirty="0"/>
          </a:p>
        </p:txBody>
      </p:sp>
      <p:sp>
        <p:nvSpPr>
          <p:cNvPr id="10" name="Shape 8"/>
          <p:cNvSpPr/>
          <p:nvPr/>
        </p:nvSpPr>
        <p:spPr>
          <a:xfrm>
            <a:off x="4338218" y="1481328"/>
            <a:ext cx="3515258" cy="566928"/>
          </a:xfrm>
          <a:prstGeom prst="roundRect">
            <a:avLst>
              <a:gd name="adj" fmla="val 16129"/>
            </a:avLst>
          </a:prstGeom>
          <a:solidFill>
            <a:srgbClr val="0F766E"/>
          </a:solidFill>
          <a:ln w="12700">
            <a:solidFill>
              <a:srgbClr val="0F766E"/>
            </a:solidFill>
            <a:prstDash val="solid"/>
          </a:ln>
        </p:spPr>
      </p:sp>
      <p:sp>
        <p:nvSpPr>
          <p:cNvPr id="11" name="Text 9"/>
          <p:cNvSpPr txBox="1"/>
          <p:nvPr/>
        </p:nvSpPr>
        <p:spPr>
          <a:xfrm>
            <a:off x="4521098" y="1481328"/>
            <a:ext cx="3149498" cy="566928"/>
          </a:xfrm>
          <a:prstGeom prst="rect">
            <a:avLst/>
          </a:prstGeom>
          <a:noFill/>
          <a:ln/>
        </p:spPr>
        <p:txBody>
          <a:bodyPr wrap="square" lIns="50800" tIns="50800" rIns="50800" bIns="5080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T5: encoder–decoder</a:t>
            </a:r>
            <a:endParaRPr lang="en-US" sz="1800" dirty="0"/>
          </a:p>
        </p:txBody>
      </p:sp>
      <p:sp>
        <p:nvSpPr>
          <p:cNvPr id="12" name="Shape 10"/>
          <p:cNvSpPr/>
          <p:nvPr/>
        </p:nvSpPr>
        <p:spPr>
          <a:xfrm>
            <a:off x="4338218" y="2167128"/>
            <a:ext cx="3515258" cy="4142232"/>
          </a:xfrm>
          <a:prstGeom prst="roundRect">
            <a:avLst>
              <a:gd name="adj" fmla="val 2601"/>
            </a:avLst>
          </a:prstGeom>
          <a:solidFill>
            <a:srgbClr val="E6F4F1"/>
          </a:solidFill>
          <a:ln w="12700">
            <a:solidFill>
              <a:srgbClr val="E6F4F1"/>
            </a:solidFill>
            <a:prstDash val="solid"/>
          </a:ln>
        </p:spPr>
      </p:sp>
      <p:sp>
        <p:nvSpPr>
          <p:cNvPr id="13" name="Text 11"/>
          <p:cNvSpPr txBox="1"/>
          <p:nvPr/>
        </p:nvSpPr>
        <p:spPr>
          <a:xfrm>
            <a:off x="4447946" y="2258568"/>
            <a:ext cx="3295802" cy="4005072"/>
          </a:xfrm>
          <a:prstGeom prst="rect">
            <a:avLst/>
          </a:prstGeom>
          <a:noFill/>
          <a:ln/>
        </p:spPr>
        <p:txBody>
          <a:bodyPr wrap="square" lIns="50800" tIns="50800" rIns="50800" bIns="50800" rtlCol="0" anchor="t"/>
          <a:lstStyle/>
          <a:p>
            <a:pPr marL="254000" indent="-254000">
              <a:spcAft>
                <a:spcPts val="800"/>
              </a:spcAft>
              <a:buSzPct val="100000"/>
              <a:buChar char="●"/>
            </a:pPr>
            <a:r>
              <a:rPr lang="en-US" sz="2400" dirty="0">
                <a:solidFill>
                  <a:srgbClr val="1F2937"/>
                </a:solidFill>
                <a:latin typeface="Calibri" pitchFamily="34" charset="0"/>
                <a:ea typeface="Calibri" pitchFamily="34" charset="-122"/>
                <a:cs typeface="Calibri" pitchFamily="34" charset="-120"/>
              </a:rPr>
              <a:t>Input: source tokens</a:t>
            </a:r>
            <a:endParaRPr lang="en-US" sz="2400" dirty="0"/>
          </a:p>
          <a:p>
            <a:pPr marL="254000" indent="-254000">
              <a:spcAft>
                <a:spcPts val="800"/>
              </a:spcAft>
              <a:buSzPct val="100000"/>
              <a:buChar char="●"/>
            </a:pPr>
            <a:r>
              <a:rPr lang="en-US" sz="2400" dirty="0">
                <a:solidFill>
                  <a:srgbClr val="1F2937"/>
                </a:solidFill>
                <a:latin typeface="Calibri" pitchFamily="34" charset="0"/>
                <a:ea typeface="Calibri" pitchFamily="34" charset="-122"/>
                <a:cs typeface="Calibri" pitchFamily="34" charset="-120"/>
              </a:rPr>
              <a:t>Output: new sequence</a:t>
            </a:r>
            <a:endParaRPr lang="en-US" sz="2400" dirty="0"/>
          </a:p>
          <a:p>
            <a:pPr marL="254000" indent="-254000">
              <a:spcAft>
                <a:spcPts val="800"/>
              </a:spcAft>
              <a:buSzPct val="100000"/>
              <a:buChar char="●"/>
            </a:pPr>
            <a:r>
              <a:rPr lang="en-US" sz="2400" dirty="0">
                <a:solidFill>
                  <a:srgbClr val="1F2937"/>
                </a:solidFill>
                <a:latin typeface="Calibri" pitchFamily="34" charset="0"/>
                <a:ea typeface="Calibri" pitchFamily="34" charset="-122"/>
                <a:cs typeface="Calibri" pitchFamily="34" charset="-120"/>
              </a:rPr>
              <a:t>Use: text transformation</a:t>
            </a:r>
            <a:endParaRPr lang="en-US" sz="2400" dirty="0"/>
          </a:p>
        </p:txBody>
      </p:sp>
      <p:sp>
        <p:nvSpPr>
          <p:cNvPr id="14" name="Shape 12"/>
          <p:cNvSpPr/>
          <p:nvPr/>
        </p:nvSpPr>
        <p:spPr>
          <a:xfrm>
            <a:off x="8127797" y="1481328"/>
            <a:ext cx="3515258" cy="566928"/>
          </a:xfrm>
          <a:prstGeom prst="roundRect">
            <a:avLst>
              <a:gd name="adj" fmla="val 16129"/>
            </a:avLst>
          </a:prstGeom>
          <a:solidFill>
            <a:srgbClr val="EA580C"/>
          </a:solidFill>
          <a:ln w="12700">
            <a:solidFill>
              <a:srgbClr val="EA580C"/>
            </a:solidFill>
            <a:prstDash val="solid"/>
          </a:ln>
        </p:spPr>
      </p:sp>
      <p:sp>
        <p:nvSpPr>
          <p:cNvPr id="15" name="Text 13"/>
          <p:cNvSpPr txBox="1"/>
          <p:nvPr/>
        </p:nvSpPr>
        <p:spPr>
          <a:xfrm>
            <a:off x="8310677" y="1481328"/>
            <a:ext cx="3149498" cy="566928"/>
          </a:xfrm>
          <a:prstGeom prst="rect">
            <a:avLst/>
          </a:prstGeom>
          <a:noFill/>
          <a:ln/>
        </p:spPr>
        <p:txBody>
          <a:bodyPr wrap="square" lIns="50800" tIns="50800" rIns="50800" bIns="5080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Decoder</a:t>
            </a:r>
            <a:endParaRPr lang="en-US" sz="1800" dirty="0"/>
          </a:p>
        </p:txBody>
      </p:sp>
      <p:sp>
        <p:nvSpPr>
          <p:cNvPr id="16" name="Shape 14"/>
          <p:cNvSpPr/>
          <p:nvPr/>
        </p:nvSpPr>
        <p:spPr>
          <a:xfrm>
            <a:off x="8127797" y="2167128"/>
            <a:ext cx="3515258" cy="4142232"/>
          </a:xfrm>
          <a:prstGeom prst="roundRect">
            <a:avLst>
              <a:gd name="adj" fmla="val 2601"/>
            </a:avLst>
          </a:prstGeom>
          <a:solidFill>
            <a:srgbClr val="FFF1E6"/>
          </a:solidFill>
          <a:ln w="12700">
            <a:solidFill>
              <a:srgbClr val="FFF1E6"/>
            </a:solidFill>
            <a:prstDash val="solid"/>
          </a:ln>
        </p:spPr>
      </p:sp>
      <p:sp>
        <p:nvSpPr>
          <p:cNvPr id="17" name="Text 15"/>
          <p:cNvSpPr txBox="1"/>
          <p:nvPr/>
        </p:nvSpPr>
        <p:spPr>
          <a:xfrm>
            <a:off x="8237525" y="2258568"/>
            <a:ext cx="3295802" cy="4005072"/>
          </a:xfrm>
          <a:prstGeom prst="rect">
            <a:avLst/>
          </a:prstGeom>
          <a:noFill/>
          <a:ln/>
        </p:spPr>
        <p:txBody>
          <a:bodyPr wrap="square" lIns="50800" tIns="50800" rIns="50800" bIns="50800" rtlCol="0" anchor="t"/>
          <a:lstStyle/>
          <a:p>
            <a:pPr marL="254000" indent="-254000">
              <a:spcAft>
                <a:spcPts val="800"/>
              </a:spcAft>
              <a:buSzPct val="100000"/>
              <a:buChar char="●"/>
            </a:pPr>
            <a:r>
              <a:rPr lang="en-US" sz="2400" dirty="0">
                <a:solidFill>
                  <a:srgbClr val="1F2937"/>
                </a:solidFill>
                <a:latin typeface="Calibri" pitchFamily="34" charset="0"/>
                <a:ea typeface="Calibri" pitchFamily="34" charset="-122"/>
                <a:cs typeface="Calibri" pitchFamily="34" charset="-120"/>
              </a:rPr>
              <a:t>Input: prefix IDs</a:t>
            </a:r>
            <a:endParaRPr lang="en-US" sz="2400" dirty="0"/>
          </a:p>
          <a:p>
            <a:pPr marL="254000" indent="-254000">
              <a:spcAft>
                <a:spcPts val="800"/>
              </a:spcAft>
              <a:buSzPct val="100000"/>
              <a:buChar char="●"/>
            </a:pPr>
            <a:r>
              <a:rPr lang="en-US" sz="2400" dirty="0">
                <a:solidFill>
                  <a:srgbClr val="1F2937"/>
                </a:solidFill>
                <a:latin typeface="Calibri" pitchFamily="34" charset="0"/>
                <a:ea typeface="Calibri" pitchFamily="34" charset="-122"/>
                <a:cs typeface="Calibri" pitchFamily="34" charset="-120"/>
              </a:rPr>
              <a:t>Output: appended IDs</a:t>
            </a:r>
            <a:endParaRPr lang="en-US" sz="2400" dirty="0"/>
          </a:p>
          <a:p>
            <a:pPr marL="254000" indent="-254000">
              <a:spcAft>
                <a:spcPts val="800"/>
              </a:spcAft>
              <a:buSzPct val="100000"/>
              <a:buChar char="●"/>
            </a:pPr>
            <a:r>
              <a:rPr lang="en-US" sz="2400" dirty="0">
                <a:solidFill>
                  <a:srgbClr val="1F2937"/>
                </a:solidFill>
                <a:latin typeface="Calibri" pitchFamily="34" charset="0"/>
                <a:ea typeface="Calibri" pitchFamily="34" charset="-122"/>
                <a:cs typeface="Calibri" pitchFamily="34" charset="-120"/>
              </a:rPr>
              <a:t>Chat: template required</a:t>
            </a:r>
            <a:endParaRPr lang="en-US" sz="2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06  ·  LARGE LANGUAGE MODELS (LLMS) AND FAMILIES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28</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Proprietary and open-weight families (examples, 2026)</a:t>
            </a:r>
            <a:endParaRPr lang="en-US" sz="32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11094415" cy="914400"/>
        </p:xfrm>
        <a:graphic>
          <a:graphicData uri="http://schemas.openxmlformats.org/drawingml/2006/table">
            <a:tbl>
              <a:tblPr/>
              <a:tblGrid>
                <a:gridCol w="2946954"/>
                <a:gridCol w="3987055"/>
                <a:gridCol w="4160406"/>
              </a:tblGrid>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Examples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Developer</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Access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GPT/Claude/Gemini</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OpenAI/Anthropic/Google</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API/app</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Llama/Qwen</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Meta/Alibaba</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Release-specific weights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DeepSeek/Mistral</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DeepSeek/Mistral AI</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Weights/API</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Phi/OLMo</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Microsoft/Ai2</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Weights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bl>
          </a:graphicData>
        </a:graphic>
      </p:graphicFrame>
      <p:sp>
        <p:nvSpPr>
          <p:cNvPr id="7" name="Shape 4"/>
          <p:cNvSpPr/>
          <p:nvPr/>
        </p:nvSpPr>
        <p:spPr>
          <a:xfrm>
            <a:off x="548640" y="5486400"/>
            <a:ext cx="11094415" cy="822960"/>
          </a:xfrm>
          <a:prstGeom prst="roundRect">
            <a:avLst>
              <a:gd name="adj" fmla="val 13333"/>
            </a:avLst>
          </a:prstGeom>
          <a:solidFill>
            <a:srgbClr val="FFF1E6"/>
          </a:solidFill>
          <a:ln w="12700">
            <a:solidFill>
              <a:srgbClr val="FFF1E6"/>
            </a:solidFill>
            <a:prstDash val="solid"/>
          </a:ln>
        </p:spPr>
      </p:sp>
      <p:sp>
        <p:nvSpPr>
          <p:cNvPr id="8" name="Text 5"/>
          <p:cNvSpPr txBox="1"/>
          <p:nvPr/>
        </p:nvSpPr>
        <p:spPr>
          <a:xfrm>
            <a:off x="777240" y="5486400"/>
            <a:ext cx="10637215" cy="822960"/>
          </a:xfrm>
          <a:prstGeom prst="rect">
            <a:avLst/>
          </a:prstGeom>
          <a:noFill/>
          <a:ln/>
        </p:spPr>
        <p:txBody>
          <a:bodyPr wrap="square" lIns="50800" tIns="50800" rIns="50800" bIns="50800" rtlCol="0" anchor="ctr"/>
          <a:lstStyle/>
          <a:p>
            <a:pPr indent="0" marL="0">
              <a:buNone/>
            </a:pPr>
            <a:r>
              <a:rPr lang="en-US" sz="2000" b="1" dirty="0">
                <a:solidFill>
                  <a:srgbClr val="EA580C"/>
                </a:solidFill>
                <a:latin typeface="Calibri" pitchFamily="34" charset="0"/>
                <a:ea typeface="Calibri" pitchFamily="34" charset="-122"/>
                <a:cs typeface="Calibri" pitchFamily="34" charset="-120"/>
              </a:rPr>
              <a:t>Key idea:  </a:t>
            </a:r>
            <a:pPr indent="0" marL="0">
              <a:buNone/>
            </a:pPr>
            <a:r>
              <a:rPr lang="en-US" sz="2000" dirty="0">
                <a:solidFill>
                  <a:srgbClr val="1F2937"/>
                </a:solidFill>
                <a:latin typeface="Calibri" pitchFamily="34" charset="0"/>
                <a:ea typeface="Calibri" pitchFamily="34" charset="-122"/>
                <a:cs typeface="Calibri" pitchFamily="34" charset="-120"/>
              </a:rPr>
              <a:t>Read each release's terms.</a:t>
            </a:r>
            <a:endParaRPr lang="en-US" sz="2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06  ·  LARGE LANGUAGE MODELS (LLMS) AND FAMILIES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29</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Newer categories that matter when choosing</a:t>
            </a:r>
            <a:endParaRPr lang="en-US" sz="3200" dirty="0"/>
          </a:p>
        </p:txBody>
      </p:sp>
      <p:sp>
        <p:nvSpPr>
          <p:cNvPr id="6" name="Shape 4"/>
          <p:cNvSpPr/>
          <p:nvPr/>
        </p:nvSpPr>
        <p:spPr>
          <a:xfrm>
            <a:off x="548640" y="1481328"/>
            <a:ext cx="5410048" cy="2276856"/>
          </a:xfrm>
          <a:prstGeom prst="roundRect">
            <a:avLst>
              <a:gd name="adj" fmla="val 4819"/>
            </a:avLst>
          </a:prstGeom>
          <a:solidFill>
            <a:srgbClr val="EEF0FF"/>
          </a:solidFill>
          <a:ln w="12700">
            <a:solidFill>
              <a:srgbClr val="EEF0FF"/>
            </a:solidFill>
            <a:prstDash val="solid"/>
          </a:ln>
        </p:spPr>
      </p:sp>
      <p:sp>
        <p:nvSpPr>
          <p:cNvPr id="7" name="Text 5"/>
          <p:cNvSpPr txBox="1"/>
          <p:nvPr/>
        </p:nvSpPr>
        <p:spPr>
          <a:xfrm>
            <a:off x="731520" y="1645920"/>
            <a:ext cx="5090008" cy="594360"/>
          </a:xfrm>
          <a:prstGeom prst="rect">
            <a:avLst/>
          </a:prstGeom>
          <a:noFill/>
          <a:ln/>
        </p:spPr>
        <p:txBody>
          <a:bodyPr wrap="square" lIns="50800" tIns="50800" rIns="50800" bIns="50800" rtlCol="0" anchor="ctr"/>
          <a:lstStyle/>
          <a:p>
            <a:pPr indent="0" marL="0">
              <a:buNone/>
            </a:pPr>
            <a:r>
              <a:rPr lang="en-US" sz="2100" b="1" dirty="0">
                <a:solidFill>
                  <a:srgbClr val="1E1B4B"/>
                </a:solidFill>
                <a:latin typeface="Calibri" pitchFamily="34" charset="0"/>
                <a:ea typeface="Calibri" pitchFamily="34" charset="-122"/>
                <a:cs typeface="Calibri" pitchFamily="34" charset="-120"/>
              </a:rPr>
              <a:t>Small models</a:t>
            </a:r>
            <a:endParaRPr lang="en-US" sz="2100" dirty="0"/>
          </a:p>
        </p:txBody>
      </p:sp>
      <p:sp>
        <p:nvSpPr>
          <p:cNvPr id="8" name="Text 6"/>
          <p:cNvSpPr txBox="1"/>
          <p:nvPr/>
        </p:nvSpPr>
        <p:spPr>
          <a:xfrm>
            <a:off x="731520" y="2304288"/>
            <a:ext cx="5044288" cy="1408176"/>
          </a:xfrm>
          <a:prstGeom prst="rect">
            <a:avLst/>
          </a:prstGeom>
          <a:noFill/>
          <a:ln/>
        </p:spPr>
        <p:txBody>
          <a:bodyPr wrap="square" lIns="50800" tIns="50800" rIns="50800" bIns="50800" rtlCol="0" anchor="t"/>
          <a:lstStyle/>
          <a:p>
            <a:pPr indent="0" marL="0">
              <a:buNone/>
            </a:pPr>
            <a:r>
              <a:rPr lang="en-US" sz="2200" dirty="0">
                <a:solidFill>
                  <a:srgbClr val="1F2937"/>
                </a:solidFill>
                <a:latin typeface="Calibri" pitchFamily="34" charset="0"/>
                <a:ea typeface="Calibri" pitchFamily="34" charset="-122"/>
                <a:cs typeface="Calibri" pitchFamily="34" charset="-120"/>
              </a:rPr>
              <a:t>Fewer weights; verify task fit.</a:t>
            </a:r>
            <a:endParaRPr lang="en-US" sz="2200" dirty="0"/>
          </a:p>
        </p:txBody>
      </p:sp>
      <p:sp>
        <p:nvSpPr>
          <p:cNvPr id="9" name="Shape 7"/>
          <p:cNvSpPr/>
          <p:nvPr/>
        </p:nvSpPr>
        <p:spPr>
          <a:xfrm>
            <a:off x="6233008" y="1481328"/>
            <a:ext cx="5410048" cy="2276856"/>
          </a:xfrm>
          <a:prstGeom prst="roundRect">
            <a:avLst>
              <a:gd name="adj" fmla="val 4819"/>
            </a:avLst>
          </a:prstGeom>
          <a:solidFill>
            <a:srgbClr val="F5F3FF"/>
          </a:solidFill>
          <a:ln w="12700">
            <a:solidFill>
              <a:srgbClr val="EEF0FF"/>
            </a:solidFill>
            <a:prstDash val="solid"/>
          </a:ln>
        </p:spPr>
      </p:sp>
      <p:sp>
        <p:nvSpPr>
          <p:cNvPr id="10" name="Text 8"/>
          <p:cNvSpPr txBox="1"/>
          <p:nvPr/>
        </p:nvSpPr>
        <p:spPr>
          <a:xfrm>
            <a:off x="6415888" y="1645920"/>
            <a:ext cx="5090008" cy="594360"/>
          </a:xfrm>
          <a:prstGeom prst="rect">
            <a:avLst/>
          </a:prstGeom>
          <a:noFill/>
          <a:ln/>
        </p:spPr>
        <p:txBody>
          <a:bodyPr wrap="square" lIns="50800" tIns="50800" rIns="50800" bIns="50800" rtlCol="0" anchor="ctr"/>
          <a:lstStyle/>
          <a:p>
            <a:pPr indent="0" marL="0">
              <a:buNone/>
            </a:pPr>
            <a:r>
              <a:rPr lang="en-US" sz="2100" b="1" dirty="0">
                <a:solidFill>
                  <a:srgbClr val="1E1B4B"/>
                </a:solidFill>
                <a:latin typeface="Calibri" pitchFamily="34" charset="0"/>
                <a:ea typeface="Calibri" pitchFamily="34" charset="-122"/>
                <a:cs typeface="Calibri" pitchFamily="34" charset="-120"/>
              </a:rPr>
              <a:t>Expert routing</a:t>
            </a:r>
            <a:endParaRPr lang="en-US" sz="2100" dirty="0"/>
          </a:p>
        </p:txBody>
      </p:sp>
      <p:sp>
        <p:nvSpPr>
          <p:cNvPr id="11" name="Text 9"/>
          <p:cNvSpPr txBox="1"/>
          <p:nvPr/>
        </p:nvSpPr>
        <p:spPr>
          <a:xfrm>
            <a:off x="6415888" y="2304288"/>
            <a:ext cx="5044288" cy="1408176"/>
          </a:xfrm>
          <a:prstGeom prst="rect">
            <a:avLst/>
          </a:prstGeom>
          <a:noFill/>
          <a:ln/>
        </p:spPr>
        <p:txBody>
          <a:bodyPr wrap="square" lIns="50800" tIns="50800" rIns="50800" bIns="50800" rtlCol="0" anchor="t"/>
          <a:lstStyle/>
          <a:p>
            <a:pPr indent="0" marL="0">
              <a:buNone/>
            </a:pPr>
            <a:r>
              <a:rPr lang="en-US" sz="2200" dirty="0">
                <a:solidFill>
                  <a:srgbClr val="1F2937"/>
                </a:solidFill>
                <a:latin typeface="Calibri" pitchFamily="34" charset="0"/>
                <a:ea typeface="Calibri" pitchFamily="34" charset="-122"/>
                <a:cs typeface="Calibri" pitchFamily="34" charset="-120"/>
              </a:rPr>
              <a:t>Selected experts; total storage remains.</a:t>
            </a:r>
            <a:endParaRPr lang="en-US" sz="2200" dirty="0"/>
          </a:p>
        </p:txBody>
      </p:sp>
      <p:sp>
        <p:nvSpPr>
          <p:cNvPr id="12" name="Shape 10"/>
          <p:cNvSpPr/>
          <p:nvPr/>
        </p:nvSpPr>
        <p:spPr>
          <a:xfrm>
            <a:off x="548640" y="4032504"/>
            <a:ext cx="5410048" cy="2276856"/>
          </a:xfrm>
          <a:prstGeom prst="roundRect">
            <a:avLst>
              <a:gd name="adj" fmla="val 4819"/>
            </a:avLst>
          </a:prstGeom>
          <a:solidFill>
            <a:srgbClr val="EEF0FF"/>
          </a:solidFill>
          <a:ln w="12700">
            <a:solidFill>
              <a:srgbClr val="EEF0FF"/>
            </a:solidFill>
            <a:prstDash val="solid"/>
          </a:ln>
        </p:spPr>
      </p:sp>
      <p:sp>
        <p:nvSpPr>
          <p:cNvPr id="13" name="Text 11"/>
          <p:cNvSpPr txBox="1"/>
          <p:nvPr/>
        </p:nvSpPr>
        <p:spPr>
          <a:xfrm>
            <a:off x="731520" y="4197096"/>
            <a:ext cx="5090008" cy="594360"/>
          </a:xfrm>
          <a:prstGeom prst="rect">
            <a:avLst/>
          </a:prstGeom>
          <a:noFill/>
          <a:ln/>
        </p:spPr>
        <p:txBody>
          <a:bodyPr wrap="square" lIns="50800" tIns="50800" rIns="50800" bIns="50800" rtlCol="0" anchor="ctr"/>
          <a:lstStyle/>
          <a:p>
            <a:pPr indent="0" marL="0">
              <a:buNone/>
            </a:pPr>
            <a:r>
              <a:rPr lang="en-US" sz="2100" b="1" dirty="0">
                <a:solidFill>
                  <a:srgbClr val="1E1B4B"/>
                </a:solidFill>
                <a:latin typeface="Calibri" pitchFamily="34" charset="0"/>
                <a:ea typeface="Calibri" pitchFamily="34" charset="-122"/>
                <a:cs typeface="Calibri" pitchFamily="34" charset="-120"/>
              </a:rPr>
              <a:t>Reasoning</a:t>
            </a:r>
            <a:endParaRPr lang="en-US" sz="2100" dirty="0"/>
          </a:p>
        </p:txBody>
      </p:sp>
      <p:sp>
        <p:nvSpPr>
          <p:cNvPr id="14" name="Text 12"/>
          <p:cNvSpPr txBox="1"/>
          <p:nvPr/>
        </p:nvSpPr>
        <p:spPr>
          <a:xfrm>
            <a:off x="731520" y="4855464"/>
            <a:ext cx="5044288" cy="1408176"/>
          </a:xfrm>
          <a:prstGeom prst="rect">
            <a:avLst/>
          </a:prstGeom>
          <a:noFill/>
          <a:ln/>
        </p:spPr>
        <p:txBody>
          <a:bodyPr wrap="square" lIns="50800" tIns="50800" rIns="50800" bIns="50800" rtlCol="0" anchor="t"/>
          <a:lstStyle/>
          <a:p>
            <a:pPr indent="0" marL="0">
              <a:buNone/>
            </a:pPr>
            <a:r>
              <a:rPr lang="en-US" sz="2200" dirty="0">
                <a:solidFill>
                  <a:srgbClr val="1F2937"/>
                </a:solidFill>
                <a:latin typeface="Calibri" pitchFamily="34" charset="0"/>
                <a:ea typeface="Calibri" pitchFamily="34" charset="-122"/>
                <a:cs typeface="Calibri" pitchFamily="34" charset="-120"/>
              </a:rPr>
              <a:t>Extra tokens; check completed answers.</a:t>
            </a:r>
            <a:endParaRPr lang="en-US" sz="2200" dirty="0"/>
          </a:p>
        </p:txBody>
      </p:sp>
      <p:sp>
        <p:nvSpPr>
          <p:cNvPr id="15" name="Shape 13"/>
          <p:cNvSpPr/>
          <p:nvPr/>
        </p:nvSpPr>
        <p:spPr>
          <a:xfrm>
            <a:off x="6233008" y="4032504"/>
            <a:ext cx="5410048" cy="2276856"/>
          </a:xfrm>
          <a:prstGeom prst="roundRect">
            <a:avLst>
              <a:gd name="adj" fmla="val 4819"/>
            </a:avLst>
          </a:prstGeom>
          <a:solidFill>
            <a:srgbClr val="F5F3FF"/>
          </a:solidFill>
          <a:ln w="12700">
            <a:solidFill>
              <a:srgbClr val="EEF0FF"/>
            </a:solidFill>
            <a:prstDash val="solid"/>
          </a:ln>
        </p:spPr>
      </p:sp>
      <p:sp>
        <p:nvSpPr>
          <p:cNvPr id="16" name="Text 14"/>
          <p:cNvSpPr txBox="1"/>
          <p:nvPr/>
        </p:nvSpPr>
        <p:spPr>
          <a:xfrm>
            <a:off x="6415888" y="4197096"/>
            <a:ext cx="5090008" cy="594360"/>
          </a:xfrm>
          <a:prstGeom prst="rect">
            <a:avLst/>
          </a:prstGeom>
          <a:noFill/>
          <a:ln/>
        </p:spPr>
        <p:txBody>
          <a:bodyPr wrap="square" lIns="50800" tIns="50800" rIns="50800" bIns="50800" rtlCol="0" anchor="ctr"/>
          <a:lstStyle/>
          <a:p>
            <a:pPr indent="0" marL="0">
              <a:buNone/>
            </a:pPr>
            <a:r>
              <a:rPr lang="en-US" sz="2100" b="1" dirty="0">
                <a:solidFill>
                  <a:srgbClr val="1E1B4B"/>
                </a:solidFill>
                <a:latin typeface="Calibri" pitchFamily="34" charset="0"/>
                <a:ea typeface="Calibri" pitchFamily="34" charset="-122"/>
                <a:cs typeface="Calibri" pitchFamily="34" charset="-120"/>
              </a:rPr>
              <a:t>Multimodal</a:t>
            </a:r>
            <a:endParaRPr lang="en-US" sz="2100" dirty="0"/>
          </a:p>
        </p:txBody>
      </p:sp>
      <p:sp>
        <p:nvSpPr>
          <p:cNvPr id="17" name="Text 15"/>
          <p:cNvSpPr txBox="1"/>
          <p:nvPr/>
        </p:nvSpPr>
        <p:spPr>
          <a:xfrm>
            <a:off x="6415888" y="4855464"/>
            <a:ext cx="5044288" cy="1408176"/>
          </a:xfrm>
          <a:prstGeom prst="rect">
            <a:avLst/>
          </a:prstGeom>
          <a:noFill/>
          <a:ln/>
        </p:spPr>
        <p:txBody>
          <a:bodyPr wrap="square" lIns="50800" tIns="50800" rIns="50800" bIns="50800" rtlCol="0" anchor="t"/>
          <a:lstStyle/>
          <a:p>
            <a:pPr indent="0" marL="0">
              <a:buNone/>
            </a:pPr>
            <a:r>
              <a:rPr lang="en-US" sz="2200" dirty="0">
                <a:solidFill>
                  <a:srgbClr val="1F2937"/>
                </a:solidFill>
                <a:latin typeface="Calibri" pitchFamily="34" charset="0"/>
                <a:ea typeface="Calibri" pitchFamily="34" charset="-122"/>
                <a:cs typeface="Calibri" pitchFamily="34" charset="-120"/>
              </a:rPr>
              <a:t>Additional inputs; verify supported modalities.</a:t>
            </a:r>
            <a:endParaRPr lang="en-US" sz="2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06  ·  LARGE LANGUAGE MODELS (LLMS) AND FAMILIES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30</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Reasoning models and test-time compute</a:t>
            </a:r>
            <a:endParaRPr lang="en-US" sz="3200" dirty="0"/>
          </a:p>
        </p:txBody>
      </p:sp>
      <p:sp>
        <p:nvSpPr>
          <p:cNvPr id="6" name="Shape 4"/>
          <p:cNvSpPr/>
          <p:nvPr/>
        </p:nvSpPr>
        <p:spPr>
          <a:xfrm>
            <a:off x="2818728" y="3073077"/>
            <a:ext cx="1228920" cy="0"/>
          </a:xfrm>
          <a:prstGeom prst="line">
            <a:avLst/>
          </a:prstGeom>
          <a:noFill/>
          <a:ln w="22860">
            <a:solidFill>
              <a:srgbClr val="4F46E5"/>
            </a:solidFill>
            <a:prstDash val="solid"/>
            <a:tailEnd type="triangle"/>
          </a:ln>
        </p:spPr>
      </p:sp>
      <p:sp>
        <p:nvSpPr>
          <p:cNvPr id="7" name="Shape 5"/>
          <p:cNvSpPr/>
          <p:nvPr/>
        </p:nvSpPr>
        <p:spPr>
          <a:xfrm>
            <a:off x="7242839" y="3073077"/>
            <a:ext cx="1474704" cy="0"/>
          </a:xfrm>
          <a:prstGeom prst="line">
            <a:avLst/>
          </a:prstGeom>
          <a:noFill/>
          <a:ln w="22860">
            <a:solidFill>
              <a:srgbClr val="4F46E5"/>
            </a:solidFill>
            <a:prstDash val="solid"/>
            <a:tailEnd type="triangle"/>
          </a:ln>
        </p:spPr>
      </p:sp>
      <p:sp>
        <p:nvSpPr>
          <p:cNvPr id="8" name="Shape 6"/>
          <p:cNvSpPr/>
          <p:nvPr/>
        </p:nvSpPr>
        <p:spPr>
          <a:xfrm>
            <a:off x="2818728" y="4216229"/>
            <a:ext cx="1228920" cy="0"/>
          </a:xfrm>
          <a:prstGeom prst="line">
            <a:avLst/>
          </a:prstGeom>
          <a:noFill/>
          <a:ln w="22860">
            <a:solidFill>
              <a:srgbClr val="4F46E5"/>
            </a:solidFill>
            <a:prstDash val="solid"/>
            <a:tailEnd type="triangle"/>
          </a:ln>
        </p:spPr>
      </p:sp>
      <p:sp>
        <p:nvSpPr>
          <p:cNvPr id="9" name="Shape 7"/>
          <p:cNvSpPr/>
          <p:nvPr/>
        </p:nvSpPr>
        <p:spPr>
          <a:xfrm>
            <a:off x="7242839" y="4216229"/>
            <a:ext cx="1474704" cy="0"/>
          </a:xfrm>
          <a:prstGeom prst="line">
            <a:avLst/>
          </a:prstGeom>
          <a:noFill/>
          <a:ln w="22860">
            <a:solidFill>
              <a:srgbClr val="4F46E5"/>
            </a:solidFill>
            <a:prstDash val="solid"/>
            <a:tailEnd type="triangle"/>
          </a:ln>
        </p:spPr>
      </p:sp>
      <p:sp>
        <p:nvSpPr>
          <p:cNvPr id="10" name="Shape 8"/>
          <p:cNvSpPr/>
          <p:nvPr/>
        </p:nvSpPr>
        <p:spPr>
          <a:xfrm>
            <a:off x="8553687" y="5612077"/>
            <a:ext cx="450604" cy="0"/>
          </a:xfrm>
          <a:prstGeom prst="line">
            <a:avLst/>
          </a:prstGeom>
          <a:noFill/>
          <a:ln w="22860">
            <a:solidFill>
              <a:srgbClr val="4F46E5"/>
            </a:solidFill>
            <a:prstDash val="solid"/>
            <a:tailEnd type="triangle"/>
          </a:ln>
        </p:spPr>
      </p:sp>
      <p:sp>
        <p:nvSpPr>
          <p:cNvPr id="11" name="Shape 9"/>
          <p:cNvSpPr/>
          <p:nvPr/>
        </p:nvSpPr>
        <p:spPr>
          <a:xfrm>
            <a:off x="934384" y="2732137"/>
            <a:ext cx="1884344" cy="681880"/>
          </a:xfrm>
          <a:prstGeom prst="roundRect">
            <a:avLst>
              <a:gd name="adj" fmla="val 10728"/>
            </a:avLst>
          </a:prstGeom>
          <a:solidFill>
            <a:srgbClr val="E4F2FB"/>
          </a:solidFill>
          <a:ln w="15240">
            <a:solidFill>
              <a:srgbClr val="0072B2"/>
            </a:solidFill>
            <a:prstDash val="solid"/>
          </a:ln>
        </p:spPr>
      </p:sp>
      <p:sp>
        <p:nvSpPr>
          <p:cNvPr id="12" name="Shape 10"/>
          <p:cNvSpPr/>
          <p:nvPr/>
        </p:nvSpPr>
        <p:spPr>
          <a:xfrm>
            <a:off x="4047648" y="2732137"/>
            <a:ext cx="3195192" cy="681880"/>
          </a:xfrm>
          <a:prstGeom prst="rect">
            <a:avLst/>
          </a:prstGeom>
          <a:solidFill>
            <a:srgbClr val="E5F7EF"/>
          </a:solidFill>
          <a:ln w="15240">
            <a:solidFill>
              <a:srgbClr val="009E73"/>
            </a:solidFill>
            <a:prstDash val="solid"/>
          </a:ln>
        </p:spPr>
      </p:sp>
      <p:sp>
        <p:nvSpPr>
          <p:cNvPr id="13" name="Shape 11"/>
          <p:cNvSpPr/>
          <p:nvPr/>
        </p:nvSpPr>
        <p:spPr>
          <a:xfrm>
            <a:off x="8717543" y="2732137"/>
            <a:ext cx="2293984" cy="681880"/>
          </a:xfrm>
          <a:prstGeom prst="rect">
            <a:avLst/>
          </a:prstGeom>
          <a:solidFill>
            <a:srgbClr val="FFF0E6"/>
          </a:solidFill>
          <a:ln w="15240">
            <a:solidFill>
              <a:srgbClr val="D55E00"/>
            </a:solidFill>
            <a:prstDash val="solid"/>
          </a:ln>
        </p:spPr>
      </p:sp>
      <p:sp>
        <p:nvSpPr>
          <p:cNvPr id="14" name="Shape 12"/>
          <p:cNvSpPr/>
          <p:nvPr/>
        </p:nvSpPr>
        <p:spPr>
          <a:xfrm>
            <a:off x="934384" y="3775012"/>
            <a:ext cx="1884344" cy="882433"/>
          </a:xfrm>
          <a:prstGeom prst="roundRect">
            <a:avLst>
              <a:gd name="adj" fmla="val 8290"/>
            </a:avLst>
          </a:prstGeom>
          <a:solidFill>
            <a:srgbClr val="E4F2FB"/>
          </a:solidFill>
          <a:ln w="15240">
            <a:solidFill>
              <a:srgbClr val="0072B2"/>
            </a:solidFill>
            <a:prstDash val="solid"/>
          </a:ln>
        </p:spPr>
      </p:sp>
      <p:sp>
        <p:nvSpPr>
          <p:cNvPr id="15" name="Shape 13"/>
          <p:cNvSpPr/>
          <p:nvPr/>
        </p:nvSpPr>
        <p:spPr>
          <a:xfrm>
            <a:off x="4047648" y="3775012"/>
            <a:ext cx="3195192" cy="882433"/>
          </a:xfrm>
          <a:prstGeom prst="rect">
            <a:avLst/>
          </a:prstGeom>
          <a:solidFill>
            <a:srgbClr val="E5F7EF"/>
          </a:solidFill>
          <a:ln w="15240">
            <a:solidFill>
              <a:srgbClr val="009E73"/>
            </a:solidFill>
            <a:prstDash val="solid"/>
          </a:ln>
        </p:spPr>
      </p:sp>
      <p:sp>
        <p:nvSpPr>
          <p:cNvPr id="16" name="Shape 14"/>
          <p:cNvSpPr/>
          <p:nvPr/>
        </p:nvSpPr>
        <p:spPr>
          <a:xfrm>
            <a:off x="8717543" y="3775012"/>
            <a:ext cx="2293984" cy="882433"/>
          </a:xfrm>
          <a:prstGeom prst="rect">
            <a:avLst/>
          </a:prstGeom>
          <a:solidFill>
            <a:srgbClr val="FFF0E6"/>
          </a:solidFill>
          <a:ln w="15240">
            <a:solidFill>
              <a:srgbClr val="D55E00"/>
            </a:solidFill>
            <a:prstDash val="solid"/>
          </a:ln>
        </p:spPr>
      </p:sp>
      <p:sp>
        <p:nvSpPr>
          <p:cNvPr id="17" name="Shape 15"/>
          <p:cNvSpPr/>
          <p:nvPr/>
        </p:nvSpPr>
        <p:spPr>
          <a:xfrm>
            <a:off x="852456" y="5523833"/>
            <a:ext cx="180242" cy="176487"/>
          </a:xfrm>
          <a:prstGeom prst="roundRect">
            <a:avLst>
              <a:gd name="adj" fmla="val 41449"/>
            </a:avLst>
          </a:prstGeom>
          <a:solidFill>
            <a:srgbClr val="E4F2FB"/>
          </a:solidFill>
          <a:ln w="15240">
            <a:solidFill>
              <a:srgbClr val="0072B2"/>
            </a:solidFill>
            <a:prstDash val="solid"/>
          </a:ln>
        </p:spPr>
      </p:sp>
      <p:sp>
        <p:nvSpPr>
          <p:cNvPr id="18" name="Shape 16"/>
          <p:cNvSpPr/>
          <p:nvPr/>
        </p:nvSpPr>
        <p:spPr>
          <a:xfrm>
            <a:off x="2982584" y="5523833"/>
            <a:ext cx="180242" cy="176487"/>
          </a:xfrm>
          <a:prstGeom prst="rect">
            <a:avLst/>
          </a:prstGeom>
          <a:solidFill>
            <a:srgbClr val="E5F7EF"/>
          </a:solidFill>
          <a:ln w="15240">
            <a:solidFill>
              <a:srgbClr val="009E73"/>
            </a:solidFill>
            <a:prstDash val="solid"/>
          </a:ln>
        </p:spPr>
      </p:sp>
      <p:sp>
        <p:nvSpPr>
          <p:cNvPr id="19" name="Shape 17"/>
          <p:cNvSpPr/>
          <p:nvPr/>
        </p:nvSpPr>
        <p:spPr>
          <a:xfrm>
            <a:off x="5112712" y="5523833"/>
            <a:ext cx="180242" cy="176487"/>
          </a:xfrm>
          <a:prstGeom prst="rect">
            <a:avLst/>
          </a:prstGeom>
          <a:solidFill>
            <a:srgbClr val="FFF0E6"/>
          </a:solidFill>
          <a:ln w="15240">
            <a:solidFill>
              <a:srgbClr val="D55E00"/>
            </a:solidFill>
            <a:prstDash val="solid"/>
          </a:ln>
        </p:spPr>
      </p:sp>
      <p:sp>
        <p:nvSpPr>
          <p:cNvPr id="20" name="Text 18"/>
          <p:cNvSpPr txBox="1"/>
          <p:nvPr/>
        </p:nvSpPr>
        <p:spPr>
          <a:xfrm>
            <a:off x="934384" y="1989570"/>
            <a:ext cx="5683712" cy="261240"/>
          </a:xfrm>
          <a:prstGeom prst="rect">
            <a:avLst/>
          </a:prstGeom>
          <a:noFill/>
          <a:ln/>
        </p:spPr>
        <p:txBody>
          <a:bodyPr wrap="square" lIns="0" tIns="0" rIns="0" bIns="0" rtlCol="0" anchor="ctr"/>
          <a:lstStyle/>
          <a:p>
            <a:pPr algn="l" indent="0" marL="0">
              <a:lnSpc>
                <a:spcPct val="116000"/>
              </a:lnSpc>
              <a:buNone/>
            </a:pPr>
            <a:r>
              <a:rPr lang="en-US" sz="1773" b="1" dirty="0">
                <a:solidFill>
                  <a:srgbClr val="1E1B4B"/>
                </a:solidFill>
                <a:latin typeface="Arial" pitchFamily="34" charset="0"/>
                <a:ea typeface="Arial" pitchFamily="34" charset="-122"/>
                <a:cs typeface="Arial" pitchFamily="34" charset="-120"/>
              </a:rPr>
              <a:t>Extra inference computation is a budget to evaluate</a:t>
            </a:r>
            <a:endParaRPr lang="en-US" sz="1773" dirty="0"/>
          </a:p>
        </p:txBody>
      </p:sp>
      <p:sp>
        <p:nvSpPr>
          <p:cNvPr id="21" name="Text 19"/>
          <p:cNvSpPr txBox="1"/>
          <p:nvPr/>
        </p:nvSpPr>
        <p:spPr>
          <a:xfrm>
            <a:off x="1370075" y="2928708"/>
            <a:ext cx="1012963" cy="288739"/>
          </a:xfrm>
          <a:prstGeom prst="rect">
            <a:avLst/>
          </a:prstGeom>
          <a:noFill/>
          <a:ln/>
        </p:spPr>
        <p:txBody>
          <a:bodyPr wrap="square" lIns="0" tIns="0" rIns="0" bIns="0" rtlCol="0" anchor="ctr"/>
          <a:lstStyle/>
          <a:p>
            <a:pPr algn="ctr" indent="0" marL="0">
              <a:lnSpc>
                <a:spcPct val="116000"/>
              </a:lnSpc>
              <a:buNone/>
            </a:pPr>
            <a:r>
              <a:rPr lang="en-US" sz="1960" b="1" dirty="0">
                <a:solidFill>
                  <a:srgbClr val="1E1B4B"/>
                </a:solidFill>
                <a:latin typeface="Arial" pitchFamily="34" charset="0"/>
                <a:ea typeface="Arial" pitchFamily="34" charset="-122"/>
                <a:cs typeface="Arial" pitchFamily="34" charset="-120"/>
              </a:rPr>
              <a:t>Prompt</a:t>
            </a:r>
            <a:endParaRPr lang="en-US" sz="1960" dirty="0"/>
          </a:p>
        </p:txBody>
      </p:sp>
      <p:sp>
        <p:nvSpPr>
          <p:cNvPr id="22" name="Text 20"/>
          <p:cNvSpPr txBox="1"/>
          <p:nvPr/>
        </p:nvSpPr>
        <p:spPr>
          <a:xfrm>
            <a:off x="4580543" y="2935582"/>
            <a:ext cx="2129402" cy="274990"/>
          </a:xfrm>
          <a:prstGeom prst="rect">
            <a:avLst/>
          </a:prstGeom>
          <a:noFill/>
          <a:ln/>
        </p:spPr>
        <p:txBody>
          <a:bodyPr wrap="square" lIns="0" tIns="0" rIns="0" bIns="0" rtlCol="0" anchor="ctr"/>
          <a:lstStyle/>
          <a:p>
            <a:pPr algn="ctr" indent="0" marL="0">
              <a:lnSpc>
                <a:spcPct val="116000"/>
              </a:lnSpc>
              <a:buNone/>
            </a:pPr>
            <a:r>
              <a:rPr lang="en-US" sz="1867" b="1" dirty="0">
                <a:solidFill>
                  <a:srgbClr val="1E1B4B"/>
                </a:solidFill>
                <a:latin typeface="Arial" pitchFamily="34" charset="0"/>
                <a:ea typeface="Arial" pitchFamily="34" charset="-122"/>
                <a:cs typeface="Arial" pitchFamily="34" charset="-120"/>
              </a:rPr>
              <a:t>Generate answer</a:t>
            </a:r>
            <a:endParaRPr lang="en-US" sz="1867" dirty="0"/>
          </a:p>
        </p:txBody>
      </p:sp>
      <p:sp>
        <p:nvSpPr>
          <p:cNvPr id="23" name="Text 21"/>
          <p:cNvSpPr txBox="1"/>
          <p:nvPr/>
        </p:nvSpPr>
        <p:spPr>
          <a:xfrm>
            <a:off x="8967658" y="2935582"/>
            <a:ext cx="1793754" cy="274990"/>
          </a:xfrm>
          <a:prstGeom prst="rect">
            <a:avLst/>
          </a:prstGeom>
          <a:noFill/>
          <a:ln/>
        </p:spPr>
        <p:txBody>
          <a:bodyPr wrap="square" lIns="0" tIns="0" rIns="0" bIns="0" rtlCol="0" anchor="ctr"/>
          <a:lstStyle/>
          <a:p>
            <a:pPr algn="ctr" indent="0" marL="0">
              <a:lnSpc>
                <a:spcPct val="116000"/>
              </a:lnSpc>
              <a:buNone/>
            </a:pPr>
            <a:r>
              <a:rPr lang="en-US" sz="1867" b="1" dirty="0">
                <a:solidFill>
                  <a:srgbClr val="1E1B4B"/>
                </a:solidFill>
                <a:latin typeface="Arial" pitchFamily="34" charset="0"/>
                <a:ea typeface="Arial" pitchFamily="34" charset="-122"/>
                <a:cs typeface="Arial" pitchFamily="34" charset="-120"/>
              </a:rPr>
              <a:t>Check answer</a:t>
            </a:r>
            <a:endParaRPr lang="en-US" sz="1867" dirty="0"/>
          </a:p>
        </p:txBody>
      </p:sp>
      <p:sp>
        <p:nvSpPr>
          <p:cNvPr id="24" name="Text 22"/>
          <p:cNvSpPr txBox="1"/>
          <p:nvPr/>
        </p:nvSpPr>
        <p:spPr>
          <a:xfrm>
            <a:off x="2922375" y="2756820"/>
            <a:ext cx="1021625" cy="219992"/>
          </a:xfrm>
          <a:prstGeom prst="rect">
            <a:avLst/>
          </a:prstGeom>
          <a:noFill/>
          <a:ln/>
        </p:spPr>
        <p:txBody>
          <a:bodyPr wrap="square" lIns="0" tIns="0" rIns="0" bIns="0" rtlCol="0" anchor="ctr"/>
          <a:lstStyle/>
          <a:p>
            <a:pPr algn="ctr" indent="0" marL="0">
              <a:lnSpc>
                <a:spcPct val="116000"/>
              </a:lnSpc>
              <a:buNone/>
            </a:pPr>
            <a:r>
              <a:rPr lang="en-US" sz="1493" dirty="0">
                <a:solidFill>
                  <a:srgbClr val="0072B2"/>
                </a:solidFill>
                <a:latin typeface="Arial" pitchFamily="34" charset="0"/>
                <a:ea typeface="Arial" pitchFamily="34" charset="-122"/>
                <a:cs typeface="Arial" pitchFamily="34" charset="-120"/>
              </a:rPr>
              <a:t>prompt IDs</a:t>
            </a:r>
            <a:endParaRPr lang="en-US" sz="1493" dirty="0"/>
          </a:p>
        </p:txBody>
      </p:sp>
      <p:sp>
        <p:nvSpPr>
          <p:cNvPr id="25" name="Text 23"/>
          <p:cNvSpPr txBox="1"/>
          <p:nvPr/>
        </p:nvSpPr>
        <p:spPr>
          <a:xfrm>
            <a:off x="7628370" y="2756820"/>
            <a:ext cx="703642" cy="219992"/>
          </a:xfrm>
          <a:prstGeom prst="rect">
            <a:avLst/>
          </a:prstGeom>
          <a:noFill/>
          <a:ln/>
        </p:spPr>
        <p:txBody>
          <a:bodyPr wrap="square" lIns="0" tIns="0" rIns="0" bIns="0" rtlCol="0" anchor="ctr"/>
          <a:lstStyle/>
          <a:p>
            <a:pPr algn="ctr" indent="0" marL="0">
              <a:lnSpc>
                <a:spcPct val="116000"/>
              </a:lnSpc>
              <a:buNone/>
            </a:pPr>
            <a:r>
              <a:rPr lang="en-US" sz="1493" dirty="0">
                <a:solidFill>
                  <a:srgbClr val="0072B2"/>
                </a:solidFill>
                <a:latin typeface="Arial" pitchFamily="34" charset="0"/>
                <a:ea typeface="Arial" pitchFamily="34" charset="-122"/>
                <a:cs typeface="Arial" pitchFamily="34" charset="-120"/>
              </a:rPr>
              <a:t>answer</a:t>
            </a:r>
            <a:endParaRPr lang="en-US" sz="1493" dirty="0"/>
          </a:p>
        </p:txBody>
      </p:sp>
      <p:sp>
        <p:nvSpPr>
          <p:cNvPr id="26" name="Text 24"/>
          <p:cNvSpPr txBox="1"/>
          <p:nvPr/>
        </p:nvSpPr>
        <p:spPr>
          <a:xfrm>
            <a:off x="1370075" y="4071859"/>
            <a:ext cx="1012963" cy="288739"/>
          </a:xfrm>
          <a:prstGeom prst="rect">
            <a:avLst/>
          </a:prstGeom>
          <a:noFill/>
          <a:ln/>
        </p:spPr>
        <p:txBody>
          <a:bodyPr wrap="square" lIns="0" tIns="0" rIns="0" bIns="0" rtlCol="0" anchor="ctr"/>
          <a:lstStyle/>
          <a:p>
            <a:pPr algn="ctr" indent="0" marL="0">
              <a:lnSpc>
                <a:spcPct val="116000"/>
              </a:lnSpc>
              <a:buNone/>
            </a:pPr>
            <a:r>
              <a:rPr lang="en-US" sz="1960" b="1" dirty="0">
                <a:solidFill>
                  <a:srgbClr val="1E1B4B"/>
                </a:solidFill>
                <a:latin typeface="Arial" pitchFamily="34" charset="0"/>
                <a:ea typeface="Arial" pitchFamily="34" charset="-122"/>
                <a:cs typeface="Arial" pitchFamily="34" charset="-120"/>
              </a:rPr>
              <a:t>Prompt</a:t>
            </a:r>
            <a:endParaRPr lang="en-US" sz="1960" dirty="0"/>
          </a:p>
        </p:txBody>
      </p:sp>
      <p:sp>
        <p:nvSpPr>
          <p:cNvPr id="27" name="Text 25"/>
          <p:cNvSpPr txBox="1"/>
          <p:nvPr/>
        </p:nvSpPr>
        <p:spPr>
          <a:xfrm>
            <a:off x="4439217" y="3941239"/>
            <a:ext cx="2412054" cy="274990"/>
          </a:xfrm>
          <a:prstGeom prst="rect">
            <a:avLst/>
          </a:prstGeom>
          <a:noFill/>
          <a:ln/>
        </p:spPr>
        <p:txBody>
          <a:bodyPr wrap="square" lIns="0" tIns="0" rIns="0" bIns="0" rtlCol="0" anchor="ctr"/>
          <a:lstStyle/>
          <a:p>
            <a:pPr algn="ctr" indent="0" marL="0">
              <a:lnSpc>
                <a:spcPct val="116000"/>
              </a:lnSpc>
              <a:buNone/>
            </a:pPr>
            <a:r>
              <a:rPr lang="en-US" sz="1867" b="1" dirty="0">
                <a:solidFill>
                  <a:srgbClr val="1E1B4B"/>
                </a:solidFill>
                <a:latin typeface="Arial" pitchFamily="34" charset="0"/>
                <a:ea typeface="Arial" pitchFamily="34" charset="-122"/>
                <a:cs typeface="Arial" pitchFamily="34" charset="-120"/>
              </a:rPr>
              <a:t>Extra computation</a:t>
            </a:r>
            <a:endParaRPr lang="en-US" sz="1867" dirty="0"/>
          </a:p>
        </p:txBody>
      </p:sp>
      <p:sp>
        <p:nvSpPr>
          <p:cNvPr id="28" name="Text 26"/>
          <p:cNvSpPr txBox="1"/>
          <p:nvPr/>
        </p:nvSpPr>
        <p:spPr>
          <a:xfrm>
            <a:off x="4439217" y="4216229"/>
            <a:ext cx="2412054" cy="274990"/>
          </a:xfrm>
          <a:prstGeom prst="rect">
            <a:avLst/>
          </a:prstGeom>
          <a:noFill/>
          <a:ln/>
        </p:spPr>
        <p:txBody>
          <a:bodyPr wrap="square" lIns="0" tIns="0" rIns="0" bIns="0" rtlCol="0" anchor="ctr"/>
          <a:lstStyle/>
          <a:p>
            <a:pPr algn="ctr" indent="0" marL="0">
              <a:lnSpc>
                <a:spcPct val="116000"/>
              </a:lnSpc>
              <a:buNone/>
            </a:pPr>
            <a:r>
              <a:rPr lang="en-US" sz="1867" b="1" dirty="0">
                <a:solidFill>
                  <a:srgbClr val="1E1B4B"/>
                </a:solidFill>
                <a:latin typeface="Arial" pitchFamily="34" charset="0"/>
                <a:ea typeface="Arial" pitchFamily="34" charset="-122"/>
                <a:cs typeface="Arial" pitchFamily="34" charset="-120"/>
              </a:rPr>
              <a:t>(budgeted thinking)</a:t>
            </a:r>
            <a:endParaRPr lang="en-US" sz="1867" dirty="0"/>
          </a:p>
        </p:txBody>
      </p:sp>
      <p:sp>
        <p:nvSpPr>
          <p:cNvPr id="29" name="Text 27"/>
          <p:cNvSpPr txBox="1"/>
          <p:nvPr/>
        </p:nvSpPr>
        <p:spPr>
          <a:xfrm>
            <a:off x="9144316" y="3941239"/>
            <a:ext cx="1440439" cy="274990"/>
          </a:xfrm>
          <a:prstGeom prst="rect">
            <a:avLst/>
          </a:prstGeom>
          <a:noFill/>
          <a:ln/>
        </p:spPr>
        <p:txBody>
          <a:bodyPr wrap="square" lIns="0" tIns="0" rIns="0" bIns="0" rtlCol="0" anchor="ctr"/>
          <a:lstStyle/>
          <a:p>
            <a:pPr algn="ctr" indent="0" marL="0">
              <a:lnSpc>
                <a:spcPct val="116000"/>
              </a:lnSpc>
              <a:buNone/>
            </a:pPr>
            <a:r>
              <a:rPr lang="en-US" sz="1867" b="1" dirty="0">
                <a:solidFill>
                  <a:srgbClr val="1E1B4B"/>
                </a:solidFill>
                <a:latin typeface="Arial" pitchFamily="34" charset="0"/>
                <a:ea typeface="Arial" pitchFamily="34" charset="-122"/>
                <a:cs typeface="Arial" pitchFamily="34" charset="-120"/>
              </a:rPr>
              <a:t>Check final</a:t>
            </a:r>
            <a:endParaRPr lang="en-US" sz="1867" dirty="0"/>
          </a:p>
        </p:txBody>
      </p:sp>
      <p:sp>
        <p:nvSpPr>
          <p:cNvPr id="30" name="Text 28"/>
          <p:cNvSpPr txBox="1"/>
          <p:nvPr/>
        </p:nvSpPr>
        <p:spPr>
          <a:xfrm>
            <a:off x="9144316" y="4216229"/>
            <a:ext cx="1440439" cy="274990"/>
          </a:xfrm>
          <a:prstGeom prst="rect">
            <a:avLst/>
          </a:prstGeom>
          <a:noFill/>
          <a:ln/>
        </p:spPr>
        <p:txBody>
          <a:bodyPr wrap="square" lIns="0" tIns="0" rIns="0" bIns="0" rtlCol="0" anchor="ctr"/>
          <a:lstStyle/>
          <a:p>
            <a:pPr algn="ctr" indent="0" marL="0">
              <a:lnSpc>
                <a:spcPct val="116000"/>
              </a:lnSpc>
              <a:buNone/>
            </a:pPr>
            <a:r>
              <a:rPr lang="en-US" sz="1867" b="1" dirty="0">
                <a:solidFill>
                  <a:srgbClr val="1E1B4B"/>
                </a:solidFill>
                <a:latin typeface="Arial" pitchFamily="34" charset="0"/>
                <a:ea typeface="Arial" pitchFamily="34" charset="-122"/>
                <a:cs typeface="Arial" pitchFamily="34" charset="-120"/>
              </a:rPr>
              <a:t>answer</a:t>
            </a:r>
            <a:endParaRPr lang="en-US" sz="1867" dirty="0"/>
          </a:p>
        </p:txBody>
      </p:sp>
      <p:sp>
        <p:nvSpPr>
          <p:cNvPr id="31" name="Text 29"/>
          <p:cNvSpPr txBox="1"/>
          <p:nvPr/>
        </p:nvSpPr>
        <p:spPr>
          <a:xfrm>
            <a:off x="2922375" y="3899971"/>
            <a:ext cx="1021625" cy="219992"/>
          </a:xfrm>
          <a:prstGeom prst="rect">
            <a:avLst/>
          </a:prstGeom>
          <a:noFill/>
          <a:ln/>
        </p:spPr>
        <p:txBody>
          <a:bodyPr wrap="square" lIns="0" tIns="0" rIns="0" bIns="0" rtlCol="0" anchor="ctr"/>
          <a:lstStyle/>
          <a:p>
            <a:pPr algn="ctr" indent="0" marL="0">
              <a:lnSpc>
                <a:spcPct val="116000"/>
              </a:lnSpc>
              <a:buNone/>
            </a:pPr>
            <a:r>
              <a:rPr lang="en-US" sz="1493" dirty="0">
                <a:solidFill>
                  <a:srgbClr val="0072B2"/>
                </a:solidFill>
                <a:latin typeface="Arial" pitchFamily="34" charset="0"/>
                <a:ea typeface="Arial" pitchFamily="34" charset="-122"/>
                <a:cs typeface="Arial" pitchFamily="34" charset="-120"/>
              </a:rPr>
              <a:t>prompt IDs</a:t>
            </a:r>
            <a:endParaRPr lang="en-US" sz="1493" dirty="0"/>
          </a:p>
        </p:txBody>
      </p:sp>
      <p:sp>
        <p:nvSpPr>
          <p:cNvPr id="32" name="Text 30"/>
          <p:cNvSpPr txBox="1"/>
          <p:nvPr/>
        </p:nvSpPr>
        <p:spPr>
          <a:xfrm>
            <a:off x="7305971" y="3899971"/>
            <a:ext cx="1348441" cy="219992"/>
          </a:xfrm>
          <a:prstGeom prst="rect">
            <a:avLst/>
          </a:prstGeom>
          <a:noFill/>
          <a:ln/>
        </p:spPr>
        <p:txBody>
          <a:bodyPr wrap="square" lIns="0" tIns="0" rIns="0" bIns="0" rtlCol="0" anchor="ctr"/>
          <a:lstStyle/>
          <a:p>
            <a:pPr algn="ctr" indent="0" marL="0">
              <a:lnSpc>
                <a:spcPct val="116000"/>
              </a:lnSpc>
              <a:buNone/>
            </a:pPr>
            <a:r>
              <a:rPr lang="en-US" sz="1493" dirty="0">
                <a:solidFill>
                  <a:srgbClr val="0072B2"/>
                </a:solidFill>
                <a:latin typeface="Arial" pitchFamily="34" charset="0"/>
                <a:ea typeface="Arial" pitchFamily="34" charset="-122"/>
                <a:cs typeface="Arial" pitchFamily="34" charset="-120"/>
              </a:rPr>
              <a:t>trace + answer</a:t>
            </a:r>
            <a:endParaRPr lang="en-US" sz="1493" dirty="0"/>
          </a:p>
        </p:txBody>
      </p:sp>
      <p:sp>
        <p:nvSpPr>
          <p:cNvPr id="33" name="Text 31"/>
          <p:cNvSpPr txBox="1"/>
          <p:nvPr/>
        </p:nvSpPr>
        <p:spPr>
          <a:xfrm>
            <a:off x="1131011" y="5502081"/>
            <a:ext cx="933296" cy="219992"/>
          </a:xfrm>
          <a:prstGeom prst="rect">
            <a:avLst/>
          </a:prstGeom>
          <a:noFill/>
          <a:ln/>
        </p:spPr>
        <p:txBody>
          <a:bodyPr wrap="square" lIns="0" tIns="0" rIns="0" bIns="0" rtlCol="0" anchor="ctr"/>
          <a:lstStyle/>
          <a:p>
            <a:pPr algn="l" indent="0" marL="0">
              <a:lnSpc>
                <a:spcPct val="116000"/>
              </a:lnSpc>
              <a:buNone/>
            </a:pPr>
            <a:r>
              <a:rPr lang="en-US" sz="1493" dirty="0">
                <a:solidFill>
                  <a:srgbClr val="1F2937"/>
                </a:solidFill>
                <a:latin typeface="Arial" pitchFamily="34" charset="0"/>
                <a:ea typeface="Arial" pitchFamily="34" charset="-122"/>
                <a:cs typeface="Arial" pitchFamily="34" charset="-120"/>
              </a:rPr>
              <a:t>Input data</a:t>
            </a:r>
            <a:endParaRPr lang="en-US" sz="1493" dirty="0"/>
          </a:p>
        </p:txBody>
      </p:sp>
      <p:sp>
        <p:nvSpPr>
          <p:cNvPr id="34" name="Text 32"/>
          <p:cNvSpPr txBox="1"/>
          <p:nvPr/>
        </p:nvSpPr>
        <p:spPr>
          <a:xfrm>
            <a:off x="3261139" y="5502081"/>
            <a:ext cx="606480" cy="219992"/>
          </a:xfrm>
          <a:prstGeom prst="rect">
            <a:avLst/>
          </a:prstGeom>
          <a:noFill/>
          <a:ln/>
        </p:spPr>
        <p:txBody>
          <a:bodyPr wrap="square" lIns="0" tIns="0" rIns="0" bIns="0" rtlCol="0" anchor="ctr"/>
          <a:lstStyle/>
          <a:p>
            <a:pPr algn="l" indent="0" marL="0">
              <a:lnSpc>
                <a:spcPct val="116000"/>
              </a:lnSpc>
              <a:buNone/>
            </a:pPr>
            <a:r>
              <a:rPr lang="en-US" sz="1493" dirty="0">
                <a:solidFill>
                  <a:srgbClr val="1F2937"/>
                </a:solidFill>
                <a:latin typeface="Arial" pitchFamily="34" charset="0"/>
                <a:ea typeface="Arial" pitchFamily="34" charset="-122"/>
                <a:cs typeface="Arial" pitchFamily="34" charset="-120"/>
              </a:rPr>
              <a:t>Model</a:t>
            </a:r>
            <a:endParaRPr lang="en-US" sz="1493" dirty="0"/>
          </a:p>
        </p:txBody>
      </p:sp>
      <p:sp>
        <p:nvSpPr>
          <p:cNvPr id="35" name="Text 33"/>
          <p:cNvSpPr txBox="1"/>
          <p:nvPr/>
        </p:nvSpPr>
        <p:spPr>
          <a:xfrm>
            <a:off x="5391267" y="5502081"/>
            <a:ext cx="1489767" cy="219992"/>
          </a:xfrm>
          <a:prstGeom prst="rect">
            <a:avLst/>
          </a:prstGeom>
          <a:noFill/>
          <a:ln/>
        </p:spPr>
        <p:txBody>
          <a:bodyPr wrap="square" lIns="0" tIns="0" rIns="0" bIns="0" rtlCol="0" anchor="ctr"/>
          <a:lstStyle/>
          <a:p>
            <a:pPr algn="l" indent="0" marL="0">
              <a:lnSpc>
                <a:spcPct val="116000"/>
              </a:lnSpc>
              <a:buNone/>
            </a:pPr>
            <a:r>
              <a:rPr lang="en-US" sz="1493" dirty="0">
                <a:solidFill>
                  <a:srgbClr val="1F2937"/>
                </a:solidFill>
                <a:latin typeface="Arial" pitchFamily="34" charset="0"/>
                <a:ea typeface="Arial" pitchFamily="34" charset="-122"/>
                <a:cs typeface="Arial" pitchFamily="34" charset="-120"/>
              </a:rPr>
              <a:t>Measure / check</a:t>
            </a:r>
            <a:endParaRPr lang="en-US" sz="1493" dirty="0"/>
          </a:p>
        </p:txBody>
      </p:sp>
      <p:sp>
        <p:nvSpPr>
          <p:cNvPr id="36" name="Text 34"/>
          <p:cNvSpPr txBox="1"/>
          <p:nvPr/>
        </p:nvSpPr>
        <p:spPr>
          <a:xfrm>
            <a:off x="9127183" y="5502081"/>
            <a:ext cx="491653" cy="219992"/>
          </a:xfrm>
          <a:prstGeom prst="rect">
            <a:avLst/>
          </a:prstGeom>
          <a:noFill/>
          <a:ln/>
        </p:spPr>
        <p:txBody>
          <a:bodyPr wrap="square" lIns="0" tIns="0" rIns="0" bIns="0" rtlCol="0" anchor="ctr"/>
          <a:lstStyle/>
          <a:p>
            <a:pPr algn="l" indent="0" marL="0">
              <a:lnSpc>
                <a:spcPct val="116000"/>
              </a:lnSpc>
              <a:buNone/>
            </a:pPr>
            <a:r>
              <a:rPr lang="en-US" sz="1493" dirty="0">
                <a:solidFill>
                  <a:srgbClr val="1F2937"/>
                </a:solidFill>
                <a:latin typeface="Arial" pitchFamily="34" charset="0"/>
                <a:ea typeface="Arial" pitchFamily="34" charset="-122"/>
                <a:cs typeface="Arial" pitchFamily="34" charset="-120"/>
              </a:rPr>
              <a:t>Flow</a:t>
            </a:r>
            <a:endParaRPr lang="en-US" sz="1493"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06  ·  LARGE LANGUAGE MODELS (LLMS) AND FAMILIES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31</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Quick check</a:t>
            </a:r>
            <a:endParaRPr lang="en-US" sz="3200" dirty="0"/>
          </a:p>
        </p:txBody>
      </p:sp>
      <p:sp>
        <p:nvSpPr>
          <p:cNvPr id="6" name="Shape 4"/>
          <p:cNvSpPr/>
          <p:nvPr/>
        </p:nvSpPr>
        <p:spPr>
          <a:xfrm>
            <a:off x="548640" y="1527048"/>
            <a:ext cx="640080" cy="640080"/>
          </a:xfrm>
          <a:prstGeom prst="ellipse">
            <a:avLst/>
          </a:prstGeom>
          <a:solidFill>
            <a:srgbClr val="EA580C"/>
          </a:solidFill>
          <a:ln w="12700">
            <a:solidFill>
              <a:srgbClr val="EA580C"/>
            </a:solidFill>
            <a:prstDash val="solid"/>
          </a:ln>
        </p:spPr>
      </p:sp>
      <p:pic>
        <p:nvPicPr>
          <p:cNvPr id="7" name="Image 0" descr="preencoded.png">    </p:cNvPr>
          <p:cNvPicPr>
            <a:picLocks noChangeAspect="1"/>
          </p:cNvPicPr>
          <p:nvPr/>
        </p:nvPicPr>
        <p:blipFill>
          <a:blip r:embed="rId1"/>
          <a:stretch>
            <a:fillRect/>
          </a:stretch>
        </p:blipFill>
        <p:spPr>
          <a:xfrm>
            <a:off x="702259" y="1680667"/>
            <a:ext cx="332842" cy="332842"/>
          </a:xfrm>
          <a:prstGeom prst="rect">
            <a:avLst/>
          </a:prstGeom>
        </p:spPr>
      </p:pic>
      <p:sp>
        <p:nvSpPr>
          <p:cNvPr id="8" name="Text 5"/>
          <p:cNvSpPr txBox="1"/>
          <p:nvPr/>
        </p:nvSpPr>
        <p:spPr>
          <a:xfrm>
            <a:off x="1417320" y="1481328"/>
            <a:ext cx="10225735" cy="1097280"/>
          </a:xfrm>
          <a:prstGeom prst="rect">
            <a:avLst/>
          </a:prstGeom>
          <a:noFill/>
          <a:ln/>
        </p:spPr>
        <p:txBody>
          <a:bodyPr wrap="square" lIns="50800" tIns="50800" rIns="50800" bIns="50800" rtlCol="0" anchor="ctr"/>
          <a:lstStyle/>
          <a:p>
            <a:pPr indent="0" marL="0">
              <a:buNone/>
            </a:pPr>
            <a:r>
              <a:rPr lang="en-US" sz="2400" b="1" dirty="0">
                <a:solidFill>
                  <a:srgbClr val="1E1B4B"/>
                </a:solidFill>
                <a:latin typeface="Calibri" pitchFamily="34" charset="0"/>
                <a:ea typeface="Calibri" pitchFamily="34" charset="-122"/>
                <a:cs typeface="Calibri" pitchFamily="34" charset="-120"/>
              </a:rPr>
              <a:t>Which architecture statement is correct?</a:t>
            </a:r>
            <a:endParaRPr lang="en-US" sz="2400" dirty="0"/>
          </a:p>
        </p:txBody>
      </p:sp>
      <p:sp>
        <p:nvSpPr>
          <p:cNvPr id="9" name="Shape 6"/>
          <p:cNvSpPr/>
          <p:nvPr/>
        </p:nvSpPr>
        <p:spPr>
          <a:xfrm>
            <a:off x="548640" y="2807208"/>
            <a:ext cx="5410048" cy="1325880"/>
          </a:xfrm>
          <a:prstGeom prst="roundRect">
            <a:avLst>
              <a:gd name="adj" fmla="val 6897"/>
            </a:avLst>
          </a:prstGeom>
          <a:solidFill>
            <a:srgbClr val="EEF0FF"/>
          </a:solidFill>
          <a:ln w="12700">
            <a:solidFill>
              <a:srgbClr val="EEF0FF"/>
            </a:solidFill>
            <a:prstDash val="solid"/>
          </a:ln>
        </p:spPr>
      </p:sp>
      <p:sp>
        <p:nvSpPr>
          <p:cNvPr id="10" name="Shape 7"/>
          <p:cNvSpPr/>
          <p:nvPr/>
        </p:nvSpPr>
        <p:spPr>
          <a:xfrm>
            <a:off x="713232" y="3241548"/>
            <a:ext cx="457200" cy="457200"/>
          </a:xfrm>
          <a:prstGeom prst="ellipse">
            <a:avLst/>
          </a:prstGeom>
          <a:solidFill>
            <a:srgbClr val="4F46E5"/>
          </a:solidFill>
          <a:ln w="12700">
            <a:solidFill>
              <a:srgbClr val="4F46E5"/>
            </a:solidFill>
            <a:prstDash val="solid"/>
          </a:ln>
        </p:spPr>
      </p:sp>
      <p:sp>
        <p:nvSpPr>
          <p:cNvPr id="11" name="Text 8"/>
          <p:cNvSpPr txBox="1"/>
          <p:nvPr/>
        </p:nvSpPr>
        <p:spPr>
          <a:xfrm>
            <a:off x="713232" y="32415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a:t>
            </a:r>
            <a:endParaRPr lang="en-US" sz="1500" dirty="0"/>
          </a:p>
        </p:txBody>
      </p:sp>
      <p:sp>
        <p:nvSpPr>
          <p:cNvPr id="12" name="Text 9"/>
          <p:cNvSpPr txBox="1"/>
          <p:nvPr/>
        </p:nvSpPr>
        <p:spPr>
          <a:xfrm>
            <a:off x="1325880" y="2807208"/>
            <a:ext cx="4495648" cy="1325880"/>
          </a:xfrm>
          <a:prstGeom prst="rect">
            <a:avLst/>
          </a:prstGeom>
          <a:noFill/>
          <a:ln/>
        </p:spPr>
        <p:txBody>
          <a:bodyPr wrap="square" lIns="50800" tIns="50800" rIns="50800" bIns="50800" rtlCol="0" anchor="ctr"/>
          <a:lstStyle/>
          <a:p>
            <a:pPr indent="0" marL="0">
              <a:buNone/>
            </a:pPr>
            <a:r>
              <a:rPr lang="en-US" sz="2000" dirty="0">
                <a:solidFill>
                  <a:srgbClr val="1F2937"/>
                </a:solidFill>
                <a:latin typeface="Calibri" pitchFamily="34" charset="0"/>
                <a:ea typeface="Calibri" pitchFamily="34" charset="-122"/>
                <a:cs typeface="Calibri" pitchFamily="34" charset="-120"/>
              </a:rPr>
              <a:t>BERT is decoder-only chat</a:t>
            </a:r>
            <a:endParaRPr lang="en-US" sz="2000" dirty="0"/>
          </a:p>
        </p:txBody>
      </p:sp>
      <p:sp>
        <p:nvSpPr>
          <p:cNvPr id="13" name="Shape 10"/>
          <p:cNvSpPr/>
          <p:nvPr/>
        </p:nvSpPr>
        <p:spPr>
          <a:xfrm>
            <a:off x="6233008" y="2807208"/>
            <a:ext cx="5410048" cy="1325880"/>
          </a:xfrm>
          <a:prstGeom prst="roundRect">
            <a:avLst>
              <a:gd name="adj" fmla="val 6897"/>
            </a:avLst>
          </a:prstGeom>
          <a:solidFill>
            <a:srgbClr val="EEF0FF"/>
          </a:solidFill>
          <a:ln w="12700">
            <a:solidFill>
              <a:srgbClr val="EEF0FF"/>
            </a:solidFill>
            <a:prstDash val="solid"/>
          </a:ln>
        </p:spPr>
      </p:sp>
      <p:sp>
        <p:nvSpPr>
          <p:cNvPr id="14" name="Shape 11"/>
          <p:cNvSpPr/>
          <p:nvPr/>
        </p:nvSpPr>
        <p:spPr>
          <a:xfrm>
            <a:off x="6397600" y="3241548"/>
            <a:ext cx="457200" cy="457200"/>
          </a:xfrm>
          <a:prstGeom prst="ellipse">
            <a:avLst/>
          </a:prstGeom>
          <a:solidFill>
            <a:srgbClr val="4F46E5"/>
          </a:solidFill>
          <a:ln w="12700">
            <a:solidFill>
              <a:srgbClr val="4F46E5"/>
            </a:solidFill>
            <a:prstDash val="solid"/>
          </a:ln>
        </p:spPr>
      </p:sp>
      <p:sp>
        <p:nvSpPr>
          <p:cNvPr id="15" name="Text 12"/>
          <p:cNvSpPr txBox="1"/>
          <p:nvPr/>
        </p:nvSpPr>
        <p:spPr>
          <a:xfrm>
            <a:off x="6397600" y="32415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a:t>
            </a:r>
            <a:endParaRPr lang="en-US" sz="1500" dirty="0"/>
          </a:p>
        </p:txBody>
      </p:sp>
      <p:sp>
        <p:nvSpPr>
          <p:cNvPr id="16" name="Text 13"/>
          <p:cNvSpPr txBox="1"/>
          <p:nvPr/>
        </p:nvSpPr>
        <p:spPr>
          <a:xfrm>
            <a:off x="7010248" y="2807208"/>
            <a:ext cx="4495648" cy="1325880"/>
          </a:xfrm>
          <a:prstGeom prst="rect">
            <a:avLst/>
          </a:prstGeom>
          <a:noFill/>
          <a:ln/>
        </p:spPr>
        <p:txBody>
          <a:bodyPr wrap="square" lIns="50800" tIns="50800" rIns="50800" bIns="50800" rtlCol="0" anchor="ctr"/>
          <a:lstStyle/>
          <a:p>
            <a:pPr indent="0" marL="0">
              <a:buNone/>
            </a:pPr>
            <a:r>
              <a:rPr lang="en-US" sz="2000" dirty="0">
                <a:solidFill>
                  <a:srgbClr val="1F2937"/>
                </a:solidFill>
                <a:latin typeface="Calibri" pitchFamily="34" charset="0"/>
                <a:ea typeface="Calibri" pitchFamily="34" charset="-122"/>
                <a:cs typeface="Calibri" pitchFamily="34" charset="-120"/>
              </a:rPr>
              <a:t>All weights include training data</a:t>
            </a:r>
            <a:endParaRPr lang="en-US" sz="2000" dirty="0"/>
          </a:p>
        </p:txBody>
      </p:sp>
      <p:sp>
        <p:nvSpPr>
          <p:cNvPr id="17" name="Shape 14"/>
          <p:cNvSpPr/>
          <p:nvPr/>
        </p:nvSpPr>
        <p:spPr>
          <a:xfrm>
            <a:off x="548640" y="4407408"/>
            <a:ext cx="5410048" cy="1325880"/>
          </a:xfrm>
          <a:prstGeom prst="roundRect">
            <a:avLst>
              <a:gd name="adj" fmla="val 6897"/>
            </a:avLst>
          </a:prstGeom>
          <a:solidFill>
            <a:srgbClr val="EEF0FF"/>
          </a:solidFill>
          <a:ln w="12700">
            <a:solidFill>
              <a:srgbClr val="EEF0FF"/>
            </a:solidFill>
            <a:prstDash val="solid"/>
          </a:ln>
        </p:spPr>
      </p:sp>
      <p:sp>
        <p:nvSpPr>
          <p:cNvPr id="18" name="Shape 15"/>
          <p:cNvSpPr/>
          <p:nvPr/>
        </p:nvSpPr>
        <p:spPr>
          <a:xfrm>
            <a:off x="713232" y="4841748"/>
            <a:ext cx="457200" cy="457200"/>
          </a:xfrm>
          <a:prstGeom prst="ellipse">
            <a:avLst/>
          </a:prstGeom>
          <a:solidFill>
            <a:srgbClr val="4F46E5"/>
          </a:solidFill>
          <a:ln w="12700">
            <a:solidFill>
              <a:srgbClr val="4F46E5"/>
            </a:solidFill>
            <a:prstDash val="solid"/>
          </a:ln>
        </p:spPr>
      </p:sp>
      <p:sp>
        <p:nvSpPr>
          <p:cNvPr id="19" name="Text 16"/>
          <p:cNvSpPr txBox="1"/>
          <p:nvPr/>
        </p:nvSpPr>
        <p:spPr>
          <a:xfrm>
            <a:off x="713232" y="48417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a:t>
            </a:r>
            <a:endParaRPr lang="en-US" sz="1500" dirty="0"/>
          </a:p>
        </p:txBody>
      </p:sp>
      <p:sp>
        <p:nvSpPr>
          <p:cNvPr id="20" name="Text 17"/>
          <p:cNvSpPr txBox="1"/>
          <p:nvPr/>
        </p:nvSpPr>
        <p:spPr>
          <a:xfrm>
            <a:off x="1325880" y="4407408"/>
            <a:ext cx="4495648" cy="1325880"/>
          </a:xfrm>
          <a:prstGeom prst="rect">
            <a:avLst/>
          </a:prstGeom>
          <a:noFill/>
          <a:ln/>
        </p:spPr>
        <p:txBody>
          <a:bodyPr wrap="square" lIns="50800" tIns="50800" rIns="50800" bIns="50800" rtlCol="0" anchor="ctr"/>
          <a:lstStyle/>
          <a:p>
            <a:pPr indent="0" marL="0">
              <a:buNone/>
            </a:pPr>
            <a:r>
              <a:rPr lang="en-US" sz="2000" dirty="0">
                <a:solidFill>
                  <a:srgbClr val="1F2937"/>
                </a:solidFill>
                <a:latin typeface="Calibri" pitchFamily="34" charset="0"/>
                <a:ea typeface="Calibri" pitchFamily="34" charset="-122"/>
                <a:cs typeface="Calibri" pitchFamily="34" charset="-120"/>
              </a:rPr>
              <a:t>T5 encodes source and generates text</a:t>
            </a:r>
            <a:endParaRPr lang="en-US" sz="2000" dirty="0"/>
          </a:p>
        </p:txBody>
      </p:sp>
      <p:sp>
        <p:nvSpPr>
          <p:cNvPr id="21" name="Shape 18"/>
          <p:cNvSpPr/>
          <p:nvPr/>
        </p:nvSpPr>
        <p:spPr>
          <a:xfrm>
            <a:off x="6233008" y="4407408"/>
            <a:ext cx="5410048" cy="1325880"/>
          </a:xfrm>
          <a:prstGeom prst="roundRect">
            <a:avLst>
              <a:gd name="adj" fmla="val 6897"/>
            </a:avLst>
          </a:prstGeom>
          <a:solidFill>
            <a:srgbClr val="EEF0FF"/>
          </a:solidFill>
          <a:ln w="12700">
            <a:solidFill>
              <a:srgbClr val="EEF0FF"/>
            </a:solidFill>
            <a:prstDash val="solid"/>
          </a:ln>
        </p:spPr>
      </p:sp>
      <p:sp>
        <p:nvSpPr>
          <p:cNvPr id="22" name="Shape 19"/>
          <p:cNvSpPr/>
          <p:nvPr/>
        </p:nvSpPr>
        <p:spPr>
          <a:xfrm>
            <a:off x="6397600" y="4841748"/>
            <a:ext cx="457200" cy="457200"/>
          </a:xfrm>
          <a:prstGeom prst="ellipse">
            <a:avLst/>
          </a:prstGeom>
          <a:solidFill>
            <a:srgbClr val="4F46E5"/>
          </a:solidFill>
          <a:ln w="12700">
            <a:solidFill>
              <a:srgbClr val="4F46E5"/>
            </a:solidFill>
            <a:prstDash val="solid"/>
          </a:ln>
        </p:spPr>
      </p:sp>
      <p:sp>
        <p:nvSpPr>
          <p:cNvPr id="23" name="Text 20"/>
          <p:cNvSpPr txBox="1"/>
          <p:nvPr/>
        </p:nvSpPr>
        <p:spPr>
          <a:xfrm>
            <a:off x="6397600" y="48417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a:t>
            </a:r>
            <a:endParaRPr lang="en-US" sz="1500" dirty="0"/>
          </a:p>
        </p:txBody>
      </p:sp>
      <p:sp>
        <p:nvSpPr>
          <p:cNvPr id="24" name="Text 21"/>
          <p:cNvSpPr txBox="1"/>
          <p:nvPr/>
        </p:nvSpPr>
        <p:spPr>
          <a:xfrm>
            <a:off x="7010248" y="4407408"/>
            <a:ext cx="4495648" cy="1325880"/>
          </a:xfrm>
          <a:prstGeom prst="rect">
            <a:avLst/>
          </a:prstGeom>
          <a:noFill/>
          <a:ln/>
        </p:spPr>
        <p:txBody>
          <a:bodyPr wrap="square" lIns="50800" tIns="50800" rIns="50800" bIns="50800" rtlCol="0" anchor="ctr"/>
          <a:lstStyle/>
          <a:p>
            <a:pPr indent="0" marL="0">
              <a:buNone/>
            </a:pPr>
            <a:r>
              <a:rPr lang="en-US" sz="2000" dirty="0">
                <a:solidFill>
                  <a:srgbClr val="1F2937"/>
                </a:solidFill>
                <a:latin typeface="Calibri" pitchFamily="34" charset="0"/>
                <a:ea typeface="Calibri" pitchFamily="34" charset="-122"/>
                <a:cs typeface="Calibri" pitchFamily="34" charset="-120"/>
              </a:rPr>
              <a:t>Thinking always reduces time</a:t>
            </a:r>
            <a:endParaRPr lang="en-US" sz="2000" dirty="0"/>
          </a:p>
        </p:txBody>
      </p:sp>
      <p:sp>
        <p:nvSpPr>
          <p:cNvPr id="25" name="Text 22"/>
          <p:cNvSpPr txBox="1"/>
          <p:nvPr/>
        </p:nvSpPr>
        <p:spPr>
          <a:xfrm>
            <a:off x="548640" y="5943600"/>
            <a:ext cx="11094415" cy="365760"/>
          </a:xfrm>
          <a:prstGeom prst="rect">
            <a:avLst/>
          </a:prstGeom>
          <a:noFill/>
          <a:ln/>
        </p:spPr>
        <p:txBody>
          <a:bodyPr wrap="square" lIns="50800" tIns="50800" rIns="50800" bIns="50800" rtlCol="0" anchor="t"/>
          <a:lstStyle/>
          <a:p>
            <a:pPr indent="0" marL="0">
              <a:buNone/>
            </a:pPr>
            <a:r>
              <a:rPr lang="en-US" sz="1400" i="1" dirty="0">
                <a:solidFill>
                  <a:srgbClr val="6B7280"/>
                </a:solidFill>
                <a:latin typeface="Calibri" pitchFamily="34" charset="0"/>
                <a:ea typeface="Calibri" pitchFamily="34" charset="-122"/>
                <a:cs typeface="Calibri" pitchFamily="34" charset="-120"/>
              </a:rPr>
              <a:t>Vote, then convince your neighbour (1 minute).</a:t>
            </a:r>
            <a:endParaRPr lang="en-US" sz="1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E1B4B"/>
        </a:solidFill>
      </p:bgPr>
    </p:bg>
    <p:spTree>
      <p:nvGrpSpPr>
        <p:cNvPr id="1" name=""/>
        <p:cNvGrpSpPr/>
        <p:nvPr/>
      </p:nvGrpSpPr>
      <p:grpSpPr>
        <a:xfrm>
          <a:off x="0" y="0"/>
          <a:ext cx="0" cy="0"/>
          <a:chOff x="0" y="0"/>
          <a:chExt cx="0" cy="0"/>
        </a:xfrm>
      </p:grpSpPr>
      <p:sp>
        <p:nvSpPr>
          <p:cNvPr id="2" name="Text 0"/>
          <p:cNvSpPr txBox="1"/>
          <p:nvPr/>
        </p:nvSpPr>
        <p:spPr>
          <a:xfrm>
            <a:off x="731520" y="1188720"/>
            <a:ext cx="2926080" cy="1828800"/>
          </a:xfrm>
          <a:prstGeom prst="rect">
            <a:avLst/>
          </a:prstGeom>
          <a:noFill/>
          <a:ln/>
        </p:spPr>
        <p:txBody>
          <a:bodyPr wrap="square" lIns="0" tIns="0" rIns="0" bIns="0" rtlCol="0" anchor="t"/>
          <a:lstStyle/>
          <a:p>
            <a:pPr indent="0" marL="0">
              <a:buNone/>
            </a:pPr>
            <a:r>
              <a:rPr lang="en-US" sz="11000" b="1" dirty="0">
                <a:solidFill>
                  <a:srgbClr val="EA580C"/>
                </a:solidFill>
                <a:latin typeface="Calibri" pitchFamily="34" charset="0"/>
                <a:ea typeface="Calibri" pitchFamily="34" charset="-122"/>
                <a:cs typeface="Calibri" pitchFamily="34" charset="-120"/>
              </a:rPr>
              <a:t>05</a:t>
            </a:r>
            <a:endParaRPr lang="en-US" sz="11000" dirty="0"/>
          </a:p>
        </p:txBody>
      </p:sp>
      <p:sp>
        <p:nvSpPr>
          <p:cNvPr id="3" name="Text 1"/>
          <p:cNvSpPr txBox="1"/>
          <p:nvPr/>
        </p:nvSpPr>
        <p:spPr>
          <a:xfrm>
            <a:off x="731520" y="3063240"/>
            <a:ext cx="10515600" cy="1463040"/>
          </a:xfrm>
          <a:prstGeom prst="rect">
            <a:avLst/>
          </a:prstGeom>
          <a:noFill/>
          <a:ln/>
        </p:spPr>
        <p:txBody>
          <a:bodyPr wrap="square" lIns="0" tIns="0" rIns="0" bIns="0" rtlCol="0" anchor="t"/>
          <a:lstStyle/>
          <a:p>
            <a:pPr indent="0" marL="0">
              <a:buNone/>
            </a:pPr>
            <a:r>
              <a:rPr lang="en-US" sz="4200" b="1" dirty="0">
                <a:solidFill>
                  <a:srgbClr val="FFFFFF"/>
                </a:solidFill>
                <a:latin typeface="Calibri" pitchFamily="34" charset="0"/>
                <a:ea typeface="Calibri" pitchFamily="34" charset="-122"/>
                <a:cs typeface="Calibri" pitchFamily="34" charset="-120"/>
              </a:rPr>
              <a:t>Choosing and using models</a:t>
            </a:r>
            <a:endParaRPr lang="en-US" sz="4200" dirty="0"/>
          </a:p>
        </p:txBody>
      </p:sp>
      <p:sp>
        <p:nvSpPr>
          <p:cNvPr id="4" name="Text 2"/>
          <p:cNvSpPr txBox="1"/>
          <p:nvPr/>
        </p:nvSpPr>
        <p:spPr>
          <a:xfrm>
            <a:off x="731520" y="4617720"/>
            <a:ext cx="10515600" cy="1097280"/>
          </a:xfrm>
          <a:prstGeom prst="rect">
            <a:avLst/>
          </a:prstGeom>
          <a:noFill/>
          <a:ln/>
        </p:spPr>
        <p:txBody>
          <a:bodyPr wrap="square" lIns="0" tIns="0" rIns="0" bIns="0" rtlCol="0" anchor="t"/>
          <a:lstStyle/>
          <a:p>
            <a:pPr indent="0" marL="0">
              <a:buNone/>
            </a:pPr>
            <a:r>
              <a:rPr lang="en-US" sz="2200" i="1" dirty="0">
                <a:solidFill>
                  <a:srgbClr val="C7D2FE"/>
                </a:solidFill>
                <a:latin typeface="Calibri" pitchFamily="34" charset="0"/>
                <a:ea typeface="Calibri" pitchFamily="34" charset="-122"/>
                <a:cs typeface="Calibri" pitchFamily="34" charset="-120"/>
              </a:rPr>
              <a:t>How do you pick the right model and use it responsibly?</a:t>
            </a:r>
            <a:endParaRPr lang="en-US" sz="2200" dirty="0"/>
          </a:p>
        </p:txBody>
      </p:sp>
      <p:sp>
        <p:nvSpPr>
          <p:cNvPr id="5" name="Shape 3"/>
          <p:cNvSpPr/>
          <p:nvPr/>
        </p:nvSpPr>
        <p:spPr>
          <a:xfrm>
            <a:off x="9692640" y="1097280"/>
            <a:ext cx="1554480" cy="1554480"/>
          </a:xfrm>
          <a:prstGeom prst="ellipse">
            <a:avLst/>
          </a:prstGeom>
          <a:solidFill>
            <a:srgbClr val="4F46E5"/>
          </a:solidFill>
          <a:ln w="12700">
            <a:solidFill>
              <a:srgbClr val="4F46E5"/>
            </a:solidFill>
            <a:prstDash val="solid"/>
          </a:ln>
        </p:spPr>
      </p:sp>
      <p:pic>
        <p:nvPicPr>
          <p:cNvPr id="6" name="Image 0" descr="preencoded.png">    </p:cNvPr>
          <p:cNvPicPr>
            <a:picLocks noChangeAspect="1"/>
          </p:cNvPicPr>
          <p:nvPr/>
        </p:nvPicPr>
        <p:blipFill>
          <a:blip r:embed="rId1"/>
          <a:stretch>
            <a:fillRect/>
          </a:stretch>
        </p:blipFill>
        <p:spPr>
          <a:xfrm>
            <a:off x="10065715" y="1470355"/>
            <a:ext cx="808330" cy="80833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06  ·  LARGE LANGUAGE MODELS (LLMS) AND FAMILIES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33</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What a model card should tell you</a:t>
            </a:r>
            <a:endParaRPr lang="en-US" sz="32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11094415" cy="914400"/>
        </p:xfrm>
        <a:graphic>
          <a:graphicData uri="http://schemas.openxmlformats.org/drawingml/2006/table">
            <a:tbl>
              <a:tblPr/>
              <a:tblGrid>
                <a:gridCol w="4034333"/>
                <a:gridCol w="7060082"/>
              </a:tblGrid>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Card section</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Check</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Use</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Task/users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Data</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Disclosure</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Evaluation</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Settings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Limits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Known failures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Licence</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Permissions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Technical</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Size/template/context</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06  ·  LARGE LANGUAGE MODELS (LLMS) AND FAMILIES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34</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Licences at a glance (always read the actual text)</a:t>
            </a:r>
            <a:endParaRPr lang="en-US" sz="32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11094415" cy="914400"/>
        </p:xfrm>
        <a:graphic>
          <a:graphicData uri="http://schemas.openxmlformats.org/drawingml/2006/table">
            <a:tbl>
              <a:tblPr/>
              <a:tblGrid>
                <a:gridCol w="4241982"/>
                <a:gridCol w="6852433"/>
              </a:tblGrid>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Terms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Check</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MIT/Apache</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Notices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Custom</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Use conditions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OpenRAIL</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Restrictions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Research-only</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Commercial permission</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2000" b="1" dirty="0">
                          <a:solidFill>
                            <a:srgbClr val="1F2937"/>
                          </a:solidFill>
                          <a:latin typeface="Calibri" pitchFamily="34" charset="0"/>
                          <a:ea typeface="Calibri" pitchFamily="34" charset="-122"/>
                          <a:cs typeface="Calibri" pitchFamily="34" charset="-120"/>
                        </a:rPr>
                        <a:t>Hosted API</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Data/cost/access</a:t>
                      </a:r>
                      <a:endParaRPr lang="en-US" sz="2000" dirty="0">
                        <a:latin typeface="Calibri" charset="0"/>
                        <a:ea typeface="Calibri" charset="0"/>
                        <a:cs typeface="Calibri" charset="0"/>
                      </a:endParaRPr>
                    </a:p>
                  </a:txBody>
                  <a:tcPr marL="54864" marR="54864" marT="54864" marB="54864"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06  ·  LARGE LANGUAGE MODELS (LLMS) AND FAMILIES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35</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Benchmarks: useful, but read them critically</a:t>
            </a:r>
            <a:endParaRPr lang="en-US" sz="3200" dirty="0"/>
          </a:p>
        </p:txBody>
      </p:sp>
      <p:sp>
        <p:nvSpPr>
          <p:cNvPr id="6" name="Shape 4"/>
          <p:cNvSpPr/>
          <p:nvPr/>
        </p:nvSpPr>
        <p:spPr>
          <a:xfrm>
            <a:off x="548640" y="1527048"/>
            <a:ext cx="640080" cy="640080"/>
          </a:xfrm>
          <a:prstGeom prst="ellipse">
            <a:avLst/>
          </a:prstGeom>
          <a:solidFill>
            <a:srgbClr val="EA580C"/>
          </a:solidFill>
          <a:ln w="12700">
            <a:solidFill>
              <a:srgbClr val="EA580C"/>
            </a:solidFill>
            <a:prstDash val="solid"/>
          </a:ln>
        </p:spPr>
      </p:sp>
      <p:pic>
        <p:nvPicPr>
          <p:cNvPr id="7" name="Image 0" descr="preencoded.png">    </p:cNvPr>
          <p:cNvPicPr>
            <a:picLocks noChangeAspect="1"/>
          </p:cNvPicPr>
          <p:nvPr/>
        </p:nvPicPr>
        <p:blipFill>
          <a:blip r:embed="rId1"/>
          <a:stretch>
            <a:fillRect/>
          </a:stretch>
        </p:blipFill>
        <p:spPr>
          <a:xfrm>
            <a:off x="702259" y="1680667"/>
            <a:ext cx="332842" cy="332842"/>
          </a:xfrm>
          <a:prstGeom prst="rect">
            <a:avLst/>
          </a:prstGeom>
        </p:spPr>
      </p:pic>
      <p:sp>
        <p:nvSpPr>
          <p:cNvPr id="8" name="Text 5"/>
          <p:cNvSpPr txBox="1"/>
          <p:nvPr/>
        </p:nvSpPr>
        <p:spPr>
          <a:xfrm>
            <a:off x="1417320" y="1481328"/>
            <a:ext cx="10225735" cy="1097280"/>
          </a:xfrm>
          <a:prstGeom prst="rect">
            <a:avLst/>
          </a:prstGeom>
          <a:noFill/>
          <a:ln/>
        </p:spPr>
        <p:txBody>
          <a:bodyPr wrap="square" lIns="50800" tIns="50800" rIns="50800" bIns="50800" rtlCol="0" anchor="ctr"/>
          <a:lstStyle/>
          <a:p>
            <a:pPr indent="0" marL="0">
              <a:buNone/>
            </a:pPr>
            <a:r>
              <a:rPr lang="en-US" sz="2400" b="1" dirty="0">
                <a:solidFill>
                  <a:srgbClr val="1E1B4B"/>
                </a:solidFill>
                <a:latin typeface="Calibri" pitchFamily="34" charset="0"/>
                <a:ea typeface="Calibri" pitchFamily="34" charset="-122"/>
                <a:cs typeface="Calibri" pitchFamily="34" charset="-120"/>
              </a:rPr>
              <a:t>How should benchmarks guide model choice?</a:t>
            </a:r>
            <a:endParaRPr lang="en-US" sz="2400" dirty="0"/>
          </a:p>
        </p:txBody>
      </p:sp>
      <p:sp>
        <p:nvSpPr>
          <p:cNvPr id="9" name="Shape 6"/>
          <p:cNvSpPr/>
          <p:nvPr/>
        </p:nvSpPr>
        <p:spPr>
          <a:xfrm>
            <a:off x="548640" y="2807208"/>
            <a:ext cx="5410048" cy="1325880"/>
          </a:xfrm>
          <a:prstGeom prst="roundRect">
            <a:avLst>
              <a:gd name="adj" fmla="val 6897"/>
            </a:avLst>
          </a:prstGeom>
          <a:solidFill>
            <a:srgbClr val="EEF0FF"/>
          </a:solidFill>
          <a:ln w="12700">
            <a:solidFill>
              <a:srgbClr val="EEF0FF"/>
            </a:solidFill>
            <a:prstDash val="solid"/>
          </a:ln>
        </p:spPr>
      </p:sp>
      <p:sp>
        <p:nvSpPr>
          <p:cNvPr id="10" name="Shape 7"/>
          <p:cNvSpPr/>
          <p:nvPr/>
        </p:nvSpPr>
        <p:spPr>
          <a:xfrm>
            <a:off x="713232" y="3241548"/>
            <a:ext cx="457200" cy="457200"/>
          </a:xfrm>
          <a:prstGeom prst="ellipse">
            <a:avLst/>
          </a:prstGeom>
          <a:solidFill>
            <a:srgbClr val="4F46E5"/>
          </a:solidFill>
          <a:ln w="12700">
            <a:solidFill>
              <a:srgbClr val="4F46E5"/>
            </a:solidFill>
            <a:prstDash val="solid"/>
          </a:ln>
        </p:spPr>
      </p:sp>
      <p:sp>
        <p:nvSpPr>
          <p:cNvPr id="11" name="Text 8"/>
          <p:cNvSpPr txBox="1"/>
          <p:nvPr/>
        </p:nvSpPr>
        <p:spPr>
          <a:xfrm>
            <a:off x="713232" y="32415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a:t>
            </a:r>
            <a:endParaRPr lang="en-US" sz="1500" dirty="0"/>
          </a:p>
        </p:txBody>
      </p:sp>
      <p:sp>
        <p:nvSpPr>
          <p:cNvPr id="12" name="Text 9"/>
          <p:cNvSpPr txBox="1"/>
          <p:nvPr/>
        </p:nvSpPr>
        <p:spPr>
          <a:xfrm>
            <a:off x="1325880" y="2807208"/>
            <a:ext cx="4495648" cy="1325880"/>
          </a:xfrm>
          <a:prstGeom prst="rect">
            <a:avLst/>
          </a:prstGeom>
          <a:noFill/>
          <a:ln/>
        </p:spPr>
        <p:txBody>
          <a:bodyPr wrap="square" lIns="50800" tIns="50800" rIns="50800" bIns="50800" rtlCol="0" anchor="ctr"/>
          <a:lstStyle/>
          <a:p>
            <a:pPr indent="0" marL="0">
              <a:buNone/>
            </a:pPr>
            <a:r>
              <a:rPr lang="en-US" sz="2000" dirty="0">
                <a:solidFill>
                  <a:srgbClr val="1F2937"/>
                </a:solidFill>
                <a:latin typeface="Calibri" pitchFamily="34" charset="0"/>
                <a:ea typeface="Calibri" pitchFamily="34" charset="-122"/>
                <a:cs typeface="Calibri" pitchFamily="34" charset="-120"/>
              </a:rPr>
              <a:t>Shortlist, then task tests</a:t>
            </a:r>
            <a:endParaRPr lang="en-US" sz="2000" dirty="0"/>
          </a:p>
        </p:txBody>
      </p:sp>
      <p:sp>
        <p:nvSpPr>
          <p:cNvPr id="13" name="Shape 10"/>
          <p:cNvSpPr/>
          <p:nvPr/>
        </p:nvSpPr>
        <p:spPr>
          <a:xfrm>
            <a:off x="6233008" y="2807208"/>
            <a:ext cx="5410048" cy="1325880"/>
          </a:xfrm>
          <a:prstGeom prst="roundRect">
            <a:avLst>
              <a:gd name="adj" fmla="val 6897"/>
            </a:avLst>
          </a:prstGeom>
          <a:solidFill>
            <a:srgbClr val="EEF0FF"/>
          </a:solidFill>
          <a:ln w="12700">
            <a:solidFill>
              <a:srgbClr val="EEF0FF"/>
            </a:solidFill>
            <a:prstDash val="solid"/>
          </a:ln>
        </p:spPr>
      </p:sp>
      <p:sp>
        <p:nvSpPr>
          <p:cNvPr id="14" name="Shape 11"/>
          <p:cNvSpPr/>
          <p:nvPr/>
        </p:nvSpPr>
        <p:spPr>
          <a:xfrm>
            <a:off x="6397600" y="3241548"/>
            <a:ext cx="457200" cy="457200"/>
          </a:xfrm>
          <a:prstGeom prst="ellipse">
            <a:avLst/>
          </a:prstGeom>
          <a:solidFill>
            <a:srgbClr val="4F46E5"/>
          </a:solidFill>
          <a:ln w="12700">
            <a:solidFill>
              <a:srgbClr val="4F46E5"/>
            </a:solidFill>
            <a:prstDash val="solid"/>
          </a:ln>
        </p:spPr>
      </p:sp>
      <p:sp>
        <p:nvSpPr>
          <p:cNvPr id="15" name="Text 12"/>
          <p:cNvSpPr txBox="1"/>
          <p:nvPr/>
        </p:nvSpPr>
        <p:spPr>
          <a:xfrm>
            <a:off x="6397600" y="32415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a:t>
            </a:r>
            <a:endParaRPr lang="en-US" sz="1500" dirty="0"/>
          </a:p>
        </p:txBody>
      </p:sp>
      <p:sp>
        <p:nvSpPr>
          <p:cNvPr id="16" name="Text 13"/>
          <p:cNvSpPr txBox="1"/>
          <p:nvPr/>
        </p:nvSpPr>
        <p:spPr>
          <a:xfrm>
            <a:off x="7010248" y="2807208"/>
            <a:ext cx="4495648" cy="1325880"/>
          </a:xfrm>
          <a:prstGeom prst="rect">
            <a:avLst/>
          </a:prstGeom>
          <a:noFill/>
          <a:ln/>
        </p:spPr>
        <p:txBody>
          <a:bodyPr wrap="square" lIns="50800" tIns="50800" rIns="50800" bIns="50800" rtlCol="0" anchor="ctr"/>
          <a:lstStyle/>
          <a:p>
            <a:pPr indent="0" marL="0">
              <a:buNone/>
            </a:pPr>
            <a:r>
              <a:rPr lang="en-US" sz="2000" dirty="0">
                <a:solidFill>
                  <a:srgbClr val="1F2937"/>
                </a:solidFill>
                <a:latin typeface="Calibri" pitchFamily="34" charset="0"/>
                <a:ea typeface="Calibri" pitchFamily="34" charset="-122"/>
                <a:cs typeface="Calibri" pitchFamily="34" charset="-120"/>
              </a:rPr>
              <a:t>Pick the largest score</a:t>
            </a:r>
            <a:endParaRPr lang="en-US" sz="2000" dirty="0"/>
          </a:p>
        </p:txBody>
      </p:sp>
      <p:sp>
        <p:nvSpPr>
          <p:cNvPr id="17" name="Shape 14"/>
          <p:cNvSpPr/>
          <p:nvPr/>
        </p:nvSpPr>
        <p:spPr>
          <a:xfrm>
            <a:off x="548640" y="4407408"/>
            <a:ext cx="5410048" cy="1325880"/>
          </a:xfrm>
          <a:prstGeom prst="roundRect">
            <a:avLst>
              <a:gd name="adj" fmla="val 6897"/>
            </a:avLst>
          </a:prstGeom>
          <a:solidFill>
            <a:srgbClr val="EEF0FF"/>
          </a:solidFill>
          <a:ln w="12700">
            <a:solidFill>
              <a:srgbClr val="EEF0FF"/>
            </a:solidFill>
            <a:prstDash val="solid"/>
          </a:ln>
        </p:spPr>
      </p:sp>
      <p:sp>
        <p:nvSpPr>
          <p:cNvPr id="18" name="Shape 15"/>
          <p:cNvSpPr/>
          <p:nvPr/>
        </p:nvSpPr>
        <p:spPr>
          <a:xfrm>
            <a:off x="713232" y="4841748"/>
            <a:ext cx="457200" cy="457200"/>
          </a:xfrm>
          <a:prstGeom prst="ellipse">
            <a:avLst/>
          </a:prstGeom>
          <a:solidFill>
            <a:srgbClr val="4F46E5"/>
          </a:solidFill>
          <a:ln w="12700">
            <a:solidFill>
              <a:srgbClr val="4F46E5"/>
            </a:solidFill>
            <a:prstDash val="solid"/>
          </a:ln>
        </p:spPr>
      </p:sp>
      <p:sp>
        <p:nvSpPr>
          <p:cNvPr id="19" name="Text 16"/>
          <p:cNvSpPr txBox="1"/>
          <p:nvPr/>
        </p:nvSpPr>
        <p:spPr>
          <a:xfrm>
            <a:off x="713232" y="48417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a:t>
            </a:r>
            <a:endParaRPr lang="en-US" sz="1500" dirty="0"/>
          </a:p>
        </p:txBody>
      </p:sp>
      <p:sp>
        <p:nvSpPr>
          <p:cNvPr id="20" name="Text 17"/>
          <p:cNvSpPr txBox="1"/>
          <p:nvPr/>
        </p:nvSpPr>
        <p:spPr>
          <a:xfrm>
            <a:off x="1325880" y="4407408"/>
            <a:ext cx="4495648" cy="1325880"/>
          </a:xfrm>
          <a:prstGeom prst="rect">
            <a:avLst/>
          </a:prstGeom>
          <a:noFill/>
          <a:ln/>
        </p:spPr>
        <p:txBody>
          <a:bodyPr wrap="square" lIns="50800" tIns="50800" rIns="50800" bIns="50800" rtlCol="0" anchor="ctr"/>
          <a:lstStyle/>
          <a:p>
            <a:pPr indent="0" marL="0">
              <a:buNone/>
            </a:pPr>
            <a:r>
              <a:rPr lang="en-US" sz="2000" dirty="0">
                <a:solidFill>
                  <a:srgbClr val="1F2937"/>
                </a:solidFill>
                <a:latin typeface="Calibri" pitchFamily="34" charset="0"/>
                <a:ea typeface="Calibri" pitchFamily="34" charset="-122"/>
                <a:cs typeface="Calibri" pitchFamily="34" charset="-120"/>
              </a:rPr>
              <a:t>Ignore evaluation settings</a:t>
            </a:r>
            <a:endParaRPr lang="en-US" sz="2000" dirty="0"/>
          </a:p>
        </p:txBody>
      </p:sp>
      <p:sp>
        <p:nvSpPr>
          <p:cNvPr id="21" name="Shape 18"/>
          <p:cNvSpPr/>
          <p:nvPr/>
        </p:nvSpPr>
        <p:spPr>
          <a:xfrm>
            <a:off x="6233008" y="4407408"/>
            <a:ext cx="5410048" cy="1325880"/>
          </a:xfrm>
          <a:prstGeom prst="roundRect">
            <a:avLst>
              <a:gd name="adj" fmla="val 6897"/>
            </a:avLst>
          </a:prstGeom>
          <a:solidFill>
            <a:srgbClr val="EEF0FF"/>
          </a:solidFill>
          <a:ln w="12700">
            <a:solidFill>
              <a:srgbClr val="EEF0FF"/>
            </a:solidFill>
            <a:prstDash val="solid"/>
          </a:ln>
        </p:spPr>
      </p:sp>
      <p:sp>
        <p:nvSpPr>
          <p:cNvPr id="22" name="Shape 19"/>
          <p:cNvSpPr/>
          <p:nvPr/>
        </p:nvSpPr>
        <p:spPr>
          <a:xfrm>
            <a:off x="6397600" y="4841748"/>
            <a:ext cx="457200" cy="457200"/>
          </a:xfrm>
          <a:prstGeom prst="ellipse">
            <a:avLst/>
          </a:prstGeom>
          <a:solidFill>
            <a:srgbClr val="4F46E5"/>
          </a:solidFill>
          <a:ln w="12700">
            <a:solidFill>
              <a:srgbClr val="4F46E5"/>
            </a:solidFill>
            <a:prstDash val="solid"/>
          </a:ln>
        </p:spPr>
      </p:sp>
      <p:sp>
        <p:nvSpPr>
          <p:cNvPr id="23" name="Text 20"/>
          <p:cNvSpPr txBox="1"/>
          <p:nvPr/>
        </p:nvSpPr>
        <p:spPr>
          <a:xfrm>
            <a:off x="6397600" y="48417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a:t>
            </a:r>
            <a:endParaRPr lang="en-US" sz="1500" dirty="0"/>
          </a:p>
        </p:txBody>
      </p:sp>
      <p:sp>
        <p:nvSpPr>
          <p:cNvPr id="24" name="Text 21"/>
          <p:cNvSpPr txBox="1"/>
          <p:nvPr/>
        </p:nvSpPr>
        <p:spPr>
          <a:xfrm>
            <a:off x="7010248" y="4407408"/>
            <a:ext cx="4495648" cy="1325880"/>
          </a:xfrm>
          <a:prstGeom prst="rect">
            <a:avLst/>
          </a:prstGeom>
          <a:noFill/>
          <a:ln/>
        </p:spPr>
        <p:txBody>
          <a:bodyPr wrap="square" lIns="50800" tIns="50800" rIns="50800" bIns="50800" rtlCol="0" anchor="ctr"/>
          <a:lstStyle/>
          <a:p>
            <a:pPr indent="0" marL="0">
              <a:buNone/>
            </a:pPr>
            <a:r>
              <a:rPr lang="en-US" sz="2000" dirty="0">
                <a:solidFill>
                  <a:srgbClr val="1F2937"/>
                </a:solidFill>
                <a:latin typeface="Calibri" pitchFamily="34" charset="0"/>
                <a:ea typeface="Calibri" pitchFamily="34" charset="-122"/>
                <a:cs typeface="Calibri" pitchFamily="34" charset="-120"/>
              </a:rPr>
              <a:t>Trust one stylish reply</a:t>
            </a:r>
            <a:endParaRPr lang="en-US" sz="2000" dirty="0"/>
          </a:p>
        </p:txBody>
      </p:sp>
      <p:sp>
        <p:nvSpPr>
          <p:cNvPr id="25" name="Text 22"/>
          <p:cNvSpPr txBox="1"/>
          <p:nvPr/>
        </p:nvSpPr>
        <p:spPr>
          <a:xfrm>
            <a:off x="548640" y="5943600"/>
            <a:ext cx="11094415" cy="365760"/>
          </a:xfrm>
          <a:prstGeom prst="rect">
            <a:avLst/>
          </a:prstGeom>
          <a:noFill/>
          <a:ln/>
        </p:spPr>
        <p:txBody>
          <a:bodyPr wrap="square" lIns="50800" tIns="50800" rIns="50800" bIns="50800" rtlCol="0" anchor="t"/>
          <a:lstStyle/>
          <a:p>
            <a:pPr indent="0" marL="0">
              <a:buNone/>
            </a:pPr>
            <a:r>
              <a:rPr lang="en-US" sz="1400" i="1" dirty="0">
                <a:solidFill>
                  <a:srgbClr val="6B7280"/>
                </a:solidFill>
                <a:latin typeface="Calibri" pitchFamily="34" charset="0"/>
                <a:ea typeface="Calibri" pitchFamily="34" charset="-122"/>
                <a:cs typeface="Calibri" pitchFamily="34" charset="-120"/>
              </a:rPr>
              <a:t>Vote, then convince your neighbour (1 minute).</a:t>
            </a:r>
            <a:endParaRPr lang="en-US" sz="1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06  ·  LARGE LANGUAGE MODELS (LLMS) AND FAMILIES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36</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Calling an API vs. running an open model yourself</a:t>
            </a:r>
            <a:endParaRPr lang="en-US" sz="3200" dirty="0"/>
          </a:p>
        </p:txBody>
      </p:sp>
      <p:sp>
        <p:nvSpPr>
          <p:cNvPr id="6" name="Shape 4"/>
          <p:cNvSpPr/>
          <p:nvPr/>
        </p:nvSpPr>
        <p:spPr>
          <a:xfrm>
            <a:off x="548640" y="1481328"/>
            <a:ext cx="5410048" cy="566928"/>
          </a:xfrm>
          <a:prstGeom prst="roundRect">
            <a:avLst>
              <a:gd name="adj" fmla="val 16129"/>
            </a:avLst>
          </a:prstGeom>
          <a:solidFill>
            <a:srgbClr val="4F46E5"/>
          </a:solidFill>
          <a:ln w="12700">
            <a:solidFill>
              <a:srgbClr val="4F46E5"/>
            </a:solidFill>
            <a:prstDash val="solid"/>
          </a:ln>
        </p:spPr>
      </p:sp>
      <p:sp>
        <p:nvSpPr>
          <p:cNvPr id="7" name="Text 5"/>
          <p:cNvSpPr txBox="1"/>
          <p:nvPr/>
        </p:nvSpPr>
        <p:spPr>
          <a:xfrm>
            <a:off x="731520" y="1481328"/>
            <a:ext cx="5044288" cy="566928"/>
          </a:xfrm>
          <a:prstGeom prst="rect">
            <a:avLst/>
          </a:prstGeom>
          <a:noFill/>
          <a:ln/>
        </p:spPr>
        <p:txBody>
          <a:bodyPr wrap="square" lIns="50800" tIns="50800" rIns="50800" bIns="5080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Hosted API</a:t>
            </a:r>
            <a:endParaRPr lang="en-US" sz="1800" dirty="0"/>
          </a:p>
        </p:txBody>
      </p:sp>
      <p:sp>
        <p:nvSpPr>
          <p:cNvPr id="8" name="Shape 6"/>
          <p:cNvSpPr/>
          <p:nvPr/>
        </p:nvSpPr>
        <p:spPr>
          <a:xfrm>
            <a:off x="548640" y="2167128"/>
            <a:ext cx="5410048" cy="4142232"/>
          </a:xfrm>
          <a:prstGeom prst="roundRect">
            <a:avLst>
              <a:gd name="adj" fmla="val 2208"/>
            </a:avLst>
          </a:prstGeom>
          <a:solidFill>
            <a:srgbClr val="EEF0FF"/>
          </a:solidFill>
          <a:ln w="12700">
            <a:solidFill>
              <a:srgbClr val="EEF0FF"/>
            </a:solidFill>
            <a:prstDash val="solid"/>
          </a:ln>
        </p:spPr>
      </p:sp>
      <p:sp>
        <p:nvSpPr>
          <p:cNvPr id="9" name="Text 7"/>
          <p:cNvSpPr txBox="1"/>
          <p:nvPr/>
        </p:nvSpPr>
        <p:spPr>
          <a:xfrm>
            <a:off x="658368" y="2258568"/>
            <a:ext cx="5190592" cy="4005072"/>
          </a:xfrm>
          <a:prstGeom prst="rect">
            <a:avLst/>
          </a:prstGeom>
          <a:noFill/>
          <a:ln/>
        </p:spPr>
        <p:txBody>
          <a:bodyPr wrap="square" lIns="50800" tIns="50800" rIns="50800" bIns="50800" rtlCol="0" anchor="t"/>
          <a:lstStyle/>
          <a:p>
            <a:pPr marL="254000" indent="-254000">
              <a:spcAft>
                <a:spcPts val="800"/>
              </a:spcAft>
              <a:buSzPct val="100000"/>
              <a:buChar char="●"/>
            </a:pPr>
            <a:r>
              <a:rPr lang="en-US" sz="2400" dirty="0">
                <a:solidFill>
                  <a:srgbClr val="1F2937"/>
                </a:solidFill>
                <a:latin typeface="Calibri" pitchFamily="34" charset="0"/>
                <a:ea typeface="Calibri" pitchFamily="34" charset="-122"/>
                <a:cs typeface="Calibri" pitchFamily="34" charset="-120"/>
              </a:rPr>
              <a:t>Provider runs model.</a:t>
            </a:r>
            <a:endParaRPr lang="en-US" sz="2400" dirty="0"/>
          </a:p>
          <a:p>
            <a:pPr marL="254000" indent="-254000">
              <a:spcAft>
                <a:spcPts val="800"/>
              </a:spcAft>
              <a:buSzPct val="100000"/>
              <a:buChar char="●"/>
            </a:pPr>
            <a:r>
              <a:rPr lang="en-US" sz="2400" dirty="0">
                <a:solidFill>
                  <a:srgbClr val="1F2937"/>
                </a:solidFill>
                <a:latin typeface="Calibri" pitchFamily="34" charset="0"/>
                <a:ea typeface="Calibri" pitchFamily="34" charset="-122"/>
                <a:cs typeface="Calibri" pitchFamily="34" charset="-120"/>
              </a:rPr>
              <a:t>Check data/cost/version.</a:t>
            </a:r>
            <a:endParaRPr lang="en-US" sz="2400" dirty="0"/>
          </a:p>
        </p:txBody>
      </p:sp>
      <p:sp>
        <p:nvSpPr>
          <p:cNvPr id="10" name="Shape 8"/>
          <p:cNvSpPr/>
          <p:nvPr/>
        </p:nvSpPr>
        <p:spPr>
          <a:xfrm>
            <a:off x="6233008" y="1481328"/>
            <a:ext cx="5410048" cy="566928"/>
          </a:xfrm>
          <a:prstGeom prst="roundRect">
            <a:avLst>
              <a:gd name="adj" fmla="val 16129"/>
            </a:avLst>
          </a:prstGeom>
          <a:solidFill>
            <a:srgbClr val="0F766E"/>
          </a:solidFill>
          <a:ln w="12700">
            <a:solidFill>
              <a:srgbClr val="0F766E"/>
            </a:solidFill>
            <a:prstDash val="solid"/>
          </a:ln>
        </p:spPr>
      </p:sp>
      <p:sp>
        <p:nvSpPr>
          <p:cNvPr id="11" name="Text 9"/>
          <p:cNvSpPr txBox="1"/>
          <p:nvPr/>
        </p:nvSpPr>
        <p:spPr>
          <a:xfrm>
            <a:off x="6415888" y="1481328"/>
            <a:ext cx="5044288" cy="566928"/>
          </a:xfrm>
          <a:prstGeom prst="rect">
            <a:avLst/>
          </a:prstGeom>
          <a:noFill/>
          <a:ln/>
        </p:spPr>
        <p:txBody>
          <a:bodyPr wrap="square" lIns="50800" tIns="50800" rIns="50800" bIns="5080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Local runtime</a:t>
            </a:r>
            <a:endParaRPr lang="en-US" sz="1800" dirty="0"/>
          </a:p>
        </p:txBody>
      </p:sp>
      <p:sp>
        <p:nvSpPr>
          <p:cNvPr id="12" name="Shape 10"/>
          <p:cNvSpPr/>
          <p:nvPr/>
        </p:nvSpPr>
        <p:spPr>
          <a:xfrm>
            <a:off x="6233008" y="2167128"/>
            <a:ext cx="5410048" cy="4142232"/>
          </a:xfrm>
          <a:prstGeom prst="roundRect">
            <a:avLst>
              <a:gd name="adj" fmla="val 2208"/>
            </a:avLst>
          </a:prstGeom>
          <a:solidFill>
            <a:srgbClr val="E6F4F1"/>
          </a:solidFill>
          <a:ln w="12700">
            <a:solidFill>
              <a:srgbClr val="E6F4F1"/>
            </a:solidFill>
            <a:prstDash val="solid"/>
          </a:ln>
        </p:spPr>
      </p:sp>
      <p:sp>
        <p:nvSpPr>
          <p:cNvPr id="13" name="Text 11"/>
          <p:cNvSpPr txBox="1"/>
          <p:nvPr/>
        </p:nvSpPr>
        <p:spPr>
          <a:xfrm>
            <a:off x="6342736" y="2258568"/>
            <a:ext cx="5190592" cy="4005072"/>
          </a:xfrm>
          <a:prstGeom prst="rect">
            <a:avLst/>
          </a:prstGeom>
          <a:noFill/>
          <a:ln/>
        </p:spPr>
        <p:txBody>
          <a:bodyPr wrap="square" lIns="50800" tIns="50800" rIns="50800" bIns="50800" rtlCol="0" anchor="t"/>
          <a:lstStyle/>
          <a:p>
            <a:pPr marL="254000" indent="-254000">
              <a:spcAft>
                <a:spcPts val="800"/>
              </a:spcAft>
              <a:buSzPct val="100000"/>
              <a:buChar char="●"/>
            </a:pPr>
            <a:r>
              <a:rPr lang="en-US" sz="2400" dirty="0">
                <a:solidFill>
                  <a:srgbClr val="1F2937"/>
                </a:solidFill>
                <a:latin typeface="Calibri" pitchFamily="34" charset="0"/>
                <a:ea typeface="Calibri" pitchFamily="34" charset="-122"/>
                <a:cs typeface="Calibri" pitchFamily="34" charset="-120"/>
              </a:rPr>
              <a:t>Manage weights/runtime.</a:t>
            </a:r>
            <a:endParaRPr lang="en-US" sz="2400" dirty="0"/>
          </a:p>
          <a:p>
            <a:pPr marL="254000" indent="-254000">
              <a:spcAft>
                <a:spcPts val="800"/>
              </a:spcAft>
              <a:buSzPct val="100000"/>
              <a:buChar char="●"/>
            </a:pPr>
            <a:r>
              <a:rPr lang="en-US" sz="2400" dirty="0">
                <a:solidFill>
                  <a:srgbClr val="1F2937"/>
                </a:solidFill>
                <a:latin typeface="Calibri" pitchFamily="34" charset="0"/>
                <a:ea typeface="Calibri" pitchFamily="34" charset="-122"/>
                <a:cs typeface="Calibri" pitchFamily="34" charset="-120"/>
              </a:rPr>
              <a:t>Control chosen version.</a:t>
            </a:r>
            <a:endParaRPr lang="en-US" sz="2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06  ·  LARGE LANGUAGE MODELS (LLMS) AND FAMILIES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37</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Using pretrained models with Hugging Face pipelines</a:t>
            </a:r>
            <a:endParaRPr lang="en-US" sz="3200" dirty="0"/>
          </a:p>
        </p:txBody>
      </p:sp>
      <p:sp>
        <p:nvSpPr>
          <p:cNvPr id="6" name="Shape 4"/>
          <p:cNvSpPr/>
          <p:nvPr/>
        </p:nvSpPr>
        <p:spPr>
          <a:xfrm>
            <a:off x="548640" y="1481328"/>
            <a:ext cx="6949440" cy="2858008"/>
          </a:xfrm>
          <a:prstGeom prst="roundRect">
            <a:avLst>
              <a:gd name="adj" fmla="val 3199"/>
            </a:avLst>
          </a:prstGeom>
          <a:solidFill>
            <a:srgbClr val="1E1E2E"/>
          </a:solidFill>
          <a:ln w="12700">
            <a:solidFill>
              <a:srgbClr val="1E1E2E"/>
            </a:solidFill>
            <a:prstDash val="solid"/>
          </a:ln>
        </p:spPr>
      </p:sp>
      <p:sp>
        <p:nvSpPr>
          <p:cNvPr id="7" name="Text 5"/>
          <p:cNvSpPr txBox="1"/>
          <p:nvPr/>
        </p:nvSpPr>
        <p:spPr>
          <a:xfrm>
            <a:off x="685800" y="1591056"/>
            <a:ext cx="6675120" cy="2638552"/>
          </a:xfrm>
          <a:prstGeom prst="rect">
            <a:avLst/>
          </a:prstGeom>
          <a:noFill/>
          <a:ln/>
        </p:spPr>
        <p:txBody>
          <a:bodyPr wrap="square" lIns="76200" tIns="76200" rIns="76200" bIns="76200" rtlCol="0" anchor="t"/>
          <a:lstStyle/>
          <a:p>
            <a:pPr indent="0" marL="0">
              <a:lnSpc>
                <a:spcPct val="100000"/>
              </a:lnSpc>
              <a:buNone/>
            </a:pPr>
            <a:r>
              <a:rPr lang="en-US" sz="1900" dirty="0">
                <a:solidFill>
                  <a:srgbClr val="E4E4F0"/>
                </a:solidFill>
                <a:latin typeface="Consolas" pitchFamily="34" charset="0"/>
                <a:ea typeface="Consolas" pitchFamily="34" charset="-122"/>
                <a:cs typeface="Consolas" pitchFamily="34" charset="-120"/>
              </a:rPr>
              <a:t>from transformers import pipeline</a:t>
            </a:r>
            <a:endParaRPr lang="en-US" sz="1900" dirty="0"/>
          </a:p>
          <a:p>
            <a:pPr indent="0" marL="0">
              <a:lnSpc>
                <a:spcPct val="100000"/>
              </a:lnSpc>
              <a:buNone/>
            </a:pPr>
            <a:r>
              <a:rPr lang="en-US" sz="1900" dirty="0">
                <a:solidFill>
                  <a:srgbClr val="E4E4F0"/>
                </a:solidFill>
                <a:latin typeface="Consolas" pitchFamily="34" charset="0"/>
                <a:ea typeface="Consolas" pitchFamily="34" charset="-122"/>
                <a:cs typeface="Consolas" pitchFamily="34" charset="-120"/>
              </a:rPr>
              <a:t> </a:t>
            </a:r>
            <a:endParaRPr lang="en-US" sz="1900" dirty="0"/>
          </a:p>
          <a:p>
            <a:pPr indent="0" marL="0">
              <a:lnSpc>
                <a:spcPct val="100000"/>
              </a:lnSpc>
              <a:buNone/>
            </a:pPr>
            <a:r>
              <a:rPr lang="en-US" sz="1900" dirty="0">
                <a:solidFill>
                  <a:srgbClr val="9CA3AF"/>
                </a:solidFill>
                <a:latin typeface="Consolas" pitchFamily="34" charset="0"/>
                <a:ea typeface="Consolas" pitchFamily="34" charset="-122"/>
                <a:cs typeface="Consolas" pitchFamily="34" charset="-120"/>
              </a:rPr>
              <a:t># DECODER_ID and messages are lab variables</a:t>
            </a:r>
            <a:endParaRPr lang="en-US" sz="1900" dirty="0"/>
          </a:p>
          <a:p>
            <a:pPr indent="0" marL="0">
              <a:lnSpc>
                <a:spcPct val="100000"/>
              </a:lnSpc>
              <a:buNone/>
            </a:pPr>
            <a:r>
              <a:rPr lang="en-US" sz="1900" dirty="0">
                <a:solidFill>
                  <a:srgbClr val="E4E4F0"/>
                </a:solidFill>
                <a:latin typeface="Consolas" pitchFamily="34" charset="0"/>
                <a:ea typeface="Consolas" pitchFamily="34" charset="-122"/>
                <a:cs typeface="Consolas" pitchFamily="34" charset="-120"/>
              </a:rPr>
              <a:t>run = pipeline("text-generation",</a:t>
            </a:r>
            <a:endParaRPr lang="en-US" sz="1900" dirty="0"/>
          </a:p>
          <a:p>
            <a:pPr indent="0" marL="0">
              <a:lnSpc>
                <a:spcPct val="100000"/>
              </a:lnSpc>
              <a:buNone/>
            </a:pPr>
            <a:r>
              <a:rPr lang="en-US" sz="1900" dirty="0">
                <a:solidFill>
                  <a:srgbClr val="E4E4F0"/>
                </a:solidFill>
                <a:latin typeface="Consolas" pitchFamily="34" charset="0"/>
                <a:ea typeface="Consolas" pitchFamily="34" charset="-122"/>
                <a:cs typeface="Consolas" pitchFamily="34" charset="-120"/>
              </a:rPr>
              <a:t>               model=DECODER_ID, device=-1)</a:t>
            </a:r>
            <a:endParaRPr lang="en-US" sz="1900" dirty="0"/>
          </a:p>
          <a:p>
            <a:pPr indent="0" marL="0">
              <a:lnSpc>
                <a:spcPct val="100000"/>
              </a:lnSpc>
              <a:buNone/>
            </a:pPr>
            <a:r>
              <a:rPr lang="en-US" sz="1900" dirty="0">
                <a:solidFill>
                  <a:srgbClr val="E4E4F0"/>
                </a:solidFill>
                <a:latin typeface="Consolas" pitchFamily="34" charset="0"/>
                <a:ea typeface="Consolas" pitchFamily="34" charset="-122"/>
                <a:cs typeface="Consolas" pitchFamily="34" charset="-120"/>
              </a:rPr>
              <a:t>reply = run(messages, max_new_tokens=24,</a:t>
            </a:r>
            <a:endParaRPr lang="en-US" sz="1900" dirty="0"/>
          </a:p>
          <a:p>
            <a:pPr indent="0" marL="0">
              <a:lnSpc>
                <a:spcPct val="100000"/>
              </a:lnSpc>
              <a:buNone/>
            </a:pPr>
            <a:r>
              <a:rPr lang="en-US" sz="1900" dirty="0">
                <a:solidFill>
                  <a:srgbClr val="E4E4F0"/>
                </a:solidFill>
                <a:latin typeface="Consolas" pitchFamily="34" charset="0"/>
                <a:ea typeface="Consolas" pitchFamily="34" charset="-122"/>
                <a:cs typeface="Consolas" pitchFamily="34" charset="-120"/>
              </a:rPr>
              <a:t>            do_sample=False)</a:t>
            </a:r>
            <a:endParaRPr lang="en-US" sz="1900" dirty="0"/>
          </a:p>
          <a:p>
            <a:pPr indent="0" marL="0">
              <a:lnSpc>
                <a:spcPct val="100000"/>
              </a:lnSpc>
              <a:buNone/>
            </a:pPr>
            <a:r>
              <a:rPr lang="en-US" sz="1900" dirty="0">
                <a:solidFill>
                  <a:srgbClr val="E4E4F0"/>
                </a:solidFill>
                <a:latin typeface="Consolas" pitchFamily="34" charset="0"/>
                <a:ea typeface="Consolas" pitchFamily="34" charset="-122"/>
                <a:cs typeface="Consolas" pitchFamily="34" charset="-120"/>
              </a:rPr>
              <a:t>print(reply[0]["generated_text"][-1]["content"])</a:t>
            </a:r>
            <a:endParaRPr lang="en-US" sz="1900" dirty="0"/>
          </a:p>
        </p:txBody>
      </p:sp>
      <p:sp>
        <p:nvSpPr>
          <p:cNvPr id="8" name="Text 6"/>
          <p:cNvSpPr txBox="1"/>
          <p:nvPr/>
        </p:nvSpPr>
        <p:spPr>
          <a:xfrm>
            <a:off x="7772400" y="1481328"/>
            <a:ext cx="3870655" cy="4828032"/>
          </a:xfrm>
          <a:prstGeom prst="rect">
            <a:avLst/>
          </a:prstGeom>
          <a:noFill/>
          <a:ln/>
        </p:spPr>
        <p:txBody>
          <a:bodyPr wrap="square" lIns="50800" tIns="50800" rIns="50800" bIns="50800" rtlCol="0" anchor="t"/>
          <a:lstStyle/>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Template handles roles.</a:t>
            </a:r>
            <a:endParaRPr lang="en-US" sz="2000" dirty="0"/>
          </a:p>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CPU explicitly selected.</a:t>
            </a:r>
            <a:endParaRPr lang="en-US" sz="2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06  ·  LARGE LANGUAGE MODELS (LLMS) AND FAMILIES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38</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Read a local or hosted chat call end to end</a:t>
            </a:r>
            <a:endParaRPr lang="en-US" sz="3200" dirty="0"/>
          </a:p>
        </p:txBody>
      </p:sp>
      <p:sp>
        <p:nvSpPr>
          <p:cNvPr id="6" name="Text 4"/>
          <p:cNvSpPr txBox="1"/>
          <p:nvPr/>
        </p:nvSpPr>
        <p:spPr>
          <a:xfrm>
            <a:off x="548640" y="1463040"/>
            <a:ext cx="11094415" cy="384048"/>
          </a:xfrm>
          <a:prstGeom prst="rect">
            <a:avLst/>
          </a:prstGeom>
          <a:noFill/>
          <a:ln/>
        </p:spPr>
        <p:txBody>
          <a:bodyPr wrap="square" lIns="0" tIns="0" rIns="0" bIns="0" rtlCol="0" anchor="t"/>
          <a:lstStyle/>
          <a:p>
            <a:pPr indent="0" marL="0">
              <a:buNone/>
            </a:pPr>
            <a:r>
              <a:rPr lang="en-US" sz="1800" dirty="0">
                <a:solidFill>
                  <a:srgbClr val="6B7280"/>
                </a:solidFill>
                <a:latin typeface="Calibri" pitchFamily="34" charset="0"/>
                <a:ea typeface="Calibri" pitchFamily="34" charset="-122"/>
                <a:cs typeface="Calibri" pitchFamily="34" charset="-120"/>
              </a:rPr>
              <a:t>Alternative routes</a:t>
            </a:r>
            <a:endParaRPr lang="en-US" sz="1800" dirty="0"/>
          </a:p>
        </p:txBody>
      </p:sp>
      <p:sp>
        <p:nvSpPr>
          <p:cNvPr id="7" name="Shape 5"/>
          <p:cNvSpPr/>
          <p:nvPr/>
        </p:nvSpPr>
        <p:spPr>
          <a:xfrm>
            <a:off x="2716115" y="3838927"/>
            <a:ext cx="244024" cy="0"/>
          </a:xfrm>
          <a:prstGeom prst="line">
            <a:avLst/>
          </a:prstGeom>
          <a:noFill/>
          <a:ln w="22860">
            <a:solidFill>
              <a:srgbClr val="009E73"/>
            </a:solidFill>
            <a:prstDash val="solid"/>
            <a:tailEnd type="triangle"/>
          </a:ln>
        </p:spPr>
      </p:sp>
      <p:sp>
        <p:nvSpPr>
          <p:cNvPr id="8" name="Text 6"/>
          <p:cNvSpPr txBox="1"/>
          <p:nvPr/>
        </p:nvSpPr>
        <p:spPr>
          <a:xfrm>
            <a:off x="2037423" y="2453481"/>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messages,</a:t>
            </a:r>
            <a:endParaRPr lang="en-US" sz="1441" dirty="0"/>
          </a:p>
        </p:txBody>
      </p:sp>
      <p:sp>
        <p:nvSpPr>
          <p:cNvPr id="9" name="Text 7"/>
          <p:cNvSpPr txBox="1"/>
          <p:nvPr/>
        </p:nvSpPr>
        <p:spPr>
          <a:xfrm>
            <a:off x="2037423"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settings</a:t>
            </a:r>
            <a:endParaRPr lang="en-US" sz="1441" dirty="0"/>
          </a:p>
        </p:txBody>
      </p:sp>
      <p:sp>
        <p:nvSpPr>
          <p:cNvPr id="10" name="Shape 8"/>
          <p:cNvSpPr/>
          <p:nvPr/>
        </p:nvSpPr>
        <p:spPr>
          <a:xfrm>
            <a:off x="4887929" y="3838927"/>
            <a:ext cx="244024" cy="0"/>
          </a:xfrm>
          <a:prstGeom prst="line">
            <a:avLst/>
          </a:prstGeom>
          <a:noFill/>
          <a:ln w="22860">
            <a:solidFill>
              <a:srgbClr val="009E73"/>
            </a:solidFill>
            <a:prstDash val="solid"/>
            <a:tailEnd type="triangle"/>
          </a:ln>
        </p:spPr>
      </p:sp>
      <p:sp>
        <p:nvSpPr>
          <p:cNvPr id="11" name="Text 9"/>
          <p:cNvSpPr txBox="1"/>
          <p:nvPr/>
        </p:nvSpPr>
        <p:spPr>
          <a:xfrm>
            <a:off x="4209237"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IDs or request</a:t>
            </a:r>
            <a:endParaRPr lang="en-US" sz="1441" dirty="0"/>
          </a:p>
        </p:txBody>
      </p:sp>
      <p:sp>
        <p:nvSpPr>
          <p:cNvPr id="12" name="Shape 10"/>
          <p:cNvSpPr/>
          <p:nvPr/>
        </p:nvSpPr>
        <p:spPr>
          <a:xfrm>
            <a:off x="7059743" y="3838927"/>
            <a:ext cx="244024" cy="0"/>
          </a:xfrm>
          <a:prstGeom prst="line">
            <a:avLst/>
          </a:prstGeom>
          <a:noFill/>
          <a:ln w="22860">
            <a:solidFill>
              <a:srgbClr val="009E73"/>
            </a:solidFill>
            <a:prstDash val="solid"/>
            <a:tailEnd type="triangle"/>
          </a:ln>
        </p:spPr>
      </p:sp>
      <p:sp>
        <p:nvSpPr>
          <p:cNvPr id="13" name="Text 11"/>
          <p:cNvSpPr txBox="1"/>
          <p:nvPr/>
        </p:nvSpPr>
        <p:spPr>
          <a:xfrm>
            <a:off x="6381051" y="2453481"/>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continuation or</a:t>
            </a:r>
            <a:endParaRPr lang="en-US" sz="1441" dirty="0"/>
          </a:p>
        </p:txBody>
      </p:sp>
      <p:sp>
        <p:nvSpPr>
          <p:cNvPr id="14" name="Text 12"/>
          <p:cNvSpPr txBox="1"/>
          <p:nvPr/>
        </p:nvSpPr>
        <p:spPr>
          <a:xfrm>
            <a:off x="6381051"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response</a:t>
            </a:r>
            <a:endParaRPr lang="en-US" sz="1441" dirty="0"/>
          </a:p>
        </p:txBody>
      </p:sp>
      <p:sp>
        <p:nvSpPr>
          <p:cNvPr id="15" name="Shape 13"/>
          <p:cNvSpPr/>
          <p:nvPr/>
        </p:nvSpPr>
        <p:spPr>
          <a:xfrm>
            <a:off x="9231556" y="3838927"/>
            <a:ext cx="244024" cy="0"/>
          </a:xfrm>
          <a:prstGeom prst="line">
            <a:avLst/>
          </a:prstGeom>
          <a:noFill/>
          <a:ln w="22860">
            <a:solidFill>
              <a:srgbClr val="009E73"/>
            </a:solidFill>
            <a:prstDash val="solid"/>
            <a:tailEnd type="triangle"/>
          </a:ln>
        </p:spPr>
      </p:sp>
      <p:sp>
        <p:nvSpPr>
          <p:cNvPr id="16" name="Text 14"/>
          <p:cNvSpPr txBox="1"/>
          <p:nvPr/>
        </p:nvSpPr>
        <p:spPr>
          <a:xfrm>
            <a:off x="8552865" y="2665782"/>
            <a:ext cx="1601408"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text</a:t>
            </a:r>
            <a:endParaRPr lang="en-US" sz="1441" dirty="0"/>
          </a:p>
        </p:txBody>
      </p:sp>
      <p:sp>
        <p:nvSpPr>
          <p:cNvPr id="17" name="Shape 15"/>
          <p:cNvSpPr/>
          <p:nvPr/>
        </p:nvSpPr>
        <p:spPr>
          <a:xfrm>
            <a:off x="788325" y="2939089"/>
            <a:ext cx="1927790" cy="1799677"/>
          </a:xfrm>
          <a:prstGeom prst="roundRect">
            <a:avLst>
              <a:gd name="adj" fmla="val 4065"/>
            </a:avLst>
          </a:prstGeom>
          <a:solidFill>
            <a:srgbClr val="E4F2FB"/>
          </a:solidFill>
          <a:ln w="15240">
            <a:solidFill>
              <a:srgbClr val="0072B2"/>
            </a:solidFill>
            <a:prstDash val="solid"/>
          </a:ln>
        </p:spPr>
      </p:sp>
      <p:sp>
        <p:nvSpPr>
          <p:cNvPr id="18" name="Text 16"/>
          <p:cNvSpPr txBox="1"/>
          <p:nvPr/>
        </p:nvSpPr>
        <p:spPr>
          <a:xfrm>
            <a:off x="849331" y="3579652"/>
            <a:ext cx="1805778"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Prepare</a:t>
            </a:r>
            <a:endParaRPr lang="en-US" sz="1561" dirty="0"/>
          </a:p>
        </p:txBody>
      </p:sp>
      <p:sp>
        <p:nvSpPr>
          <p:cNvPr id="19" name="Text 17"/>
          <p:cNvSpPr txBox="1"/>
          <p:nvPr/>
        </p:nvSpPr>
        <p:spPr>
          <a:xfrm>
            <a:off x="849331" y="3885902"/>
            <a:ext cx="1805778"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messages, budget</a:t>
            </a:r>
            <a:endParaRPr lang="en-US" sz="1441" dirty="0"/>
          </a:p>
        </p:txBody>
      </p:sp>
      <p:sp>
        <p:nvSpPr>
          <p:cNvPr id="20" name="Shape 18"/>
          <p:cNvSpPr/>
          <p:nvPr/>
        </p:nvSpPr>
        <p:spPr>
          <a:xfrm>
            <a:off x="2960139" y="2939089"/>
            <a:ext cx="1927790" cy="1799677"/>
          </a:xfrm>
          <a:prstGeom prst="rect">
            <a:avLst/>
          </a:prstGeom>
          <a:solidFill>
            <a:srgbClr val="F2F4F5"/>
          </a:solidFill>
          <a:ln w="15240">
            <a:solidFill>
              <a:srgbClr val="626B73"/>
            </a:solidFill>
            <a:prstDash val="solid"/>
          </a:ln>
        </p:spPr>
      </p:sp>
      <p:sp>
        <p:nvSpPr>
          <p:cNvPr id="21" name="Text 19"/>
          <p:cNvSpPr txBox="1"/>
          <p:nvPr/>
        </p:nvSpPr>
        <p:spPr>
          <a:xfrm>
            <a:off x="3021145" y="3442998"/>
            <a:ext cx="1805778"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Choose</a:t>
            </a:r>
            <a:endParaRPr lang="en-US" sz="1561" dirty="0"/>
          </a:p>
        </p:txBody>
      </p:sp>
      <p:sp>
        <p:nvSpPr>
          <p:cNvPr id="22" name="Text 20"/>
          <p:cNvSpPr txBox="1"/>
          <p:nvPr/>
        </p:nvSpPr>
        <p:spPr>
          <a:xfrm>
            <a:off x="3021145" y="3749248"/>
            <a:ext cx="1805778"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route</a:t>
            </a:r>
            <a:endParaRPr lang="en-US" sz="1441" dirty="0"/>
          </a:p>
        </p:txBody>
      </p:sp>
      <p:sp>
        <p:nvSpPr>
          <p:cNvPr id="23" name="Text 21"/>
          <p:cNvSpPr txBox="1"/>
          <p:nvPr/>
        </p:nvSpPr>
        <p:spPr>
          <a:xfrm>
            <a:off x="2983016" y="4022555"/>
            <a:ext cx="1882035" cy="212301"/>
          </a:xfrm>
          <a:prstGeom prst="rect">
            <a:avLst/>
          </a:prstGeom>
          <a:noFill/>
          <a:ln/>
        </p:spPr>
        <p:txBody>
          <a:bodyPr wrap="square" lIns="0" tIns="0" rIns="0" bIns="0" rtlCol="0" anchor="ctr"/>
          <a:lstStyle/>
          <a:p>
            <a:pPr algn="ctr" indent="0" marL="0">
              <a:lnSpc>
                <a:spcPct val="116000"/>
              </a:lnSpc>
              <a:buNone/>
            </a:pPr>
            <a:r>
              <a:rPr lang="en-US" sz="1441" dirty="0">
                <a:solidFill>
                  <a:srgbClr val="0F766E"/>
                </a:solidFill>
                <a:latin typeface="Arial" pitchFamily="34" charset="0"/>
                <a:ea typeface="Arial" pitchFamily="34" charset="-122"/>
                <a:cs typeface="Arial" pitchFamily="34" charset="-120"/>
              </a:rPr>
              <a:t>ask_model</a:t>
            </a:r>
            <a:endParaRPr lang="en-US" sz="1441" dirty="0"/>
          </a:p>
        </p:txBody>
      </p:sp>
      <p:sp>
        <p:nvSpPr>
          <p:cNvPr id="24" name="Shape 22"/>
          <p:cNvSpPr/>
          <p:nvPr/>
        </p:nvSpPr>
        <p:spPr>
          <a:xfrm>
            <a:off x="5131953" y="2939089"/>
            <a:ext cx="1927790" cy="1799677"/>
          </a:xfrm>
          <a:prstGeom prst="rect">
            <a:avLst/>
          </a:prstGeom>
          <a:solidFill>
            <a:srgbClr val="E5F7EF"/>
          </a:solidFill>
          <a:ln w="15240">
            <a:solidFill>
              <a:srgbClr val="009E73"/>
            </a:solidFill>
            <a:prstDash val="solid"/>
          </a:ln>
        </p:spPr>
      </p:sp>
      <p:sp>
        <p:nvSpPr>
          <p:cNvPr id="25" name="Text 23"/>
          <p:cNvSpPr txBox="1"/>
          <p:nvPr/>
        </p:nvSpPr>
        <p:spPr>
          <a:xfrm>
            <a:off x="5192959" y="3579652"/>
            <a:ext cx="1805778"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Generate</a:t>
            </a:r>
            <a:endParaRPr lang="en-US" sz="1561" dirty="0"/>
          </a:p>
        </p:txBody>
      </p:sp>
      <p:sp>
        <p:nvSpPr>
          <p:cNvPr id="26" name="Text 24"/>
          <p:cNvSpPr txBox="1"/>
          <p:nvPr/>
        </p:nvSpPr>
        <p:spPr>
          <a:xfrm>
            <a:off x="5192959" y="3885902"/>
            <a:ext cx="1805778"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fixed weights</a:t>
            </a:r>
            <a:endParaRPr lang="en-US" sz="1441" dirty="0"/>
          </a:p>
        </p:txBody>
      </p:sp>
      <p:sp>
        <p:nvSpPr>
          <p:cNvPr id="27" name="Shape 25"/>
          <p:cNvSpPr/>
          <p:nvPr/>
        </p:nvSpPr>
        <p:spPr>
          <a:xfrm>
            <a:off x="7303767" y="2939089"/>
            <a:ext cx="1927790" cy="1799677"/>
          </a:xfrm>
          <a:prstGeom prst="roundRect">
            <a:avLst>
              <a:gd name="adj" fmla="val 4065"/>
            </a:avLst>
          </a:prstGeom>
          <a:solidFill>
            <a:srgbClr val="F9EAF4"/>
          </a:solidFill>
          <a:ln w="15240">
            <a:solidFill>
              <a:srgbClr val="CC79A7"/>
            </a:solidFill>
            <a:prstDash val="solid"/>
          </a:ln>
        </p:spPr>
      </p:sp>
      <p:sp>
        <p:nvSpPr>
          <p:cNvPr id="28" name="Text 26"/>
          <p:cNvSpPr txBox="1"/>
          <p:nvPr/>
        </p:nvSpPr>
        <p:spPr>
          <a:xfrm>
            <a:off x="7364773" y="3579652"/>
            <a:ext cx="1805778"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Read</a:t>
            </a:r>
            <a:endParaRPr lang="en-US" sz="1561" dirty="0"/>
          </a:p>
        </p:txBody>
      </p:sp>
      <p:sp>
        <p:nvSpPr>
          <p:cNvPr id="29" name="Text 27"/>
          <p:cNvSpPr txBox="1"/>
          <p:nvPr/>
        </p:nvSpPr>
        <p:spPr>
          <a:xfrm>
            <a:off x="7364773" y="3885902"/>
            <a:ext cx="1805778"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answer</a:t>
            </a:r>
            <a:endParaRPr lang="en-US" sz="1441" dirty="0"/>
          </a:p>
        </p:txBody>
      </p:sp>
      <p:sp>
        <p:nvSpPr>
          <p:cNvPr id="30" name="Shape 28"/>
          <p:cNvSpPr/>
          <p:nvPr/>
        </p:nvSpPr>
        <p:spPr>
          <a:xfrm>
            <a:off x="9475580" y="2939089"/>
            <a:ext cx="1927790" cy="1799677"/>
          </a:xfrm>
          <a:prstGeom prst="roundRect">
            <a:avLst>
              <a:gd name="adj" fmla="val 4065"/>
            </a:avLst>
          </a:prstGeom>
          <a:solidFill>
            <a:srgbClr val="FFF0E6"/>
          </a:solidFill>
          <a:ln w="15240">
            <a:solidFill>
              <a:srgbClr val="D55E00"/>
            </a:solidFill>
            <a:prstDash val="solid"/>
          </a:ln>
        </p:spPr>
      </p:sp>
      <p:sp>
        <p:nvSpPr>
          <p:cNvPr id="31" name="Text 29"/>
          <p:cNvSpPr txBox="1"/>
          <p:nvPr/>
        </p:nvSpPr>
        <p:spPr>
          <a:xfrm>
            <a:off x="9536586" y="3579652"/>
            <a:ext cx="1805778"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Record</a:t>
            </a:r>
            <a:endParaRPr lang="en-US" sz="1561" dirty="0"/>
          </a:p>
        </p:txBody>
      </p:sp>
      <p:sp>
        <p:nvSpPr>
          <p:cNvPr id="32" name="Text 30"/>
          <p:cNvSpPr txBox="1"/>
          <p:nvPr/>
        </p:nvSpPr>
        <p:spPr>
          <a:xfrm>
            <a:off x="9536586" y="3885902"/>
            <a:ext cx="1805778"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verify</a:t>
            </a:r>
            <a:endParaRPr lang="en-US" sz="1441" dirty="0"/>
          </a:p>
        </p:txBody>
      </p:sp>
      <p:sp>
        <p:nvSpPr>
          <p:cNvPr id="33" name="Shape 31"/>
          <p:cNvSpPr/>
          <p:nvPr/>
        </p:nvSpPr>
        <p:spPr>
          <a:xfrm>
            <a:off x="788325" y="5630979"/>
            <a:ext cx="198270" cy="198270"/>
          </a:xfrm>
          <a:prstGeom prst="roundRect">
            <a:avLst>
              <a:gd name="adj" fmla="val 36895"/>
            </a:avLst>
          </a:prstGeom>
          <a:solidFill>
            <a:srgbClr val="E4F2FB"/>
          </a:solidFill>
          <a:ln w="15240">
            <a:solidFill>
              <a:srgbClr val="0072B2"/>
            </a:solidFill>
            <a:prstDash val="solid"/>
          </a:ln>
        </p:spPr>
      </p:sp>
      <p:sp>
        <p:nvSpPr>
          <p:cNvPr id="34" name="Text 32"/>
          <p:cNvSpPr txBox="1"/>
          <p:nvPr/>
        </p:nvSpPr>
        <p:spPr>
          <a:xfrm>
            <a:off x="1047600" y="5608101"/>
            <a:ext cx="430566"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Data</a:t>
            </a:r>
            <a:endParaRPr lang="en-US" sz="1441" dirty="0"/>
          </a:p>
        </p:txBody>
      </p:sp>
      <p:sp>
        <p:nvSpPr>
          <p:cNvPr id="35" name="Shape 33"/>
          <p:cNvSpPr/>
          <p:nvPr/>
        </p:nvSpPr>
        <p:spPr>
          <a:xfrm>
            <a:off x="1676436" y="5630979"/>
            <a:ext cx="198270" cy="198270"/>
          </a:xfrm>
          <a:prstGeom prst="rect">
            <a:avLst/>
          </a:prstGeom>
          <a:solidFill>
            <a:srgbClr val="E5F7EF"/>
          </a:solidFill>
          <a:ln w="15240">
            <a:solidFill>
              <a:srgbClr val="009E73"/>
            </a:solidFill>
            <a:prstDash val="solid"/>
          </a:ln>
        </p:spPr>
      </p:sp>
      <p:sp>
        <p:nvSpPr>
          <p:cNvPr id="36" name="Text 34"/>
          <p:cNvSpPr txBox="1"/>
          <p:nvPr/>
        </p:nvSpPr>
        <p:spPr>
          <a:xfrm>
            <a:off x="1935711" y="5608101"/>
            <a:ext cx="546304"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Model</a:t>
            </a:r>
            <a:endParaRPr lang="en-US" sz="1441" dirty="0"/>
          </a:p>
        </p:txBody>
      </p:sp>
      <p:sp>
        <p:nvSpPr>
          <p:cNvPr id="37" name="Shape 35"/>
          <p:cNvSpPr/>
          <p:nvPr/>
        </p:nvSpPr>
        <p:spPr>
          <a:xfrm>
            <a:off x="2680284" y="5630979"/>
            <a:ext cx="198270" cy="198270"/>
          </a:xfrm>
          <a:prstGeom prst="roundRect">
            <a:avLst>
              <a:gd name="adj" fmla="val 36895"/>
            </a:avLst>
          </a:prstGeom>
          <a:solidFill>
            <a:srgbClr val="FFF0E6"/>
          </a:solidFill>
          <a:ln w="15240">
            <a:solidFill>
              <a:srgbClr val="D55E00"/>
            </a:solidFill>
            <a:prstDash val="solid"/>
          </a:ln>
        </p:spPr>
      </p:sp>
      <p:sp>
        <p:nvSpPr>
          <p:cNvPr id="38" name="Text 36"/>
          <p:cNvSpPr txBox="1"/>
          <p:nvPr/>
        </p:nvSpPr>
        <p:spPr>
          <a:xfrm>
            <a:off x="2939560" y="5608101"/>
            <a:ext cx="567330"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Check</a:t>
            </a:r>
            <a:endParaRPr lang="en-US" sz="1441" dirty="0"/>
          </a:p>
        </p:txBody>
      </p:sp>
      <p:sp>
        <p:nvSpPr>
          <p:cNvPr id="39" name="Shape 37"/>
          <p:cNvSpPr/>
          <p:nvPr/>
        </p:nvSpPr>
        <p:spPr>
          <a:xfrm>
            <a:off x="3705159" y="5630979"/>
            <a:ext cx="198270" cy="198270"/>
          </a:xfrm>
          <a:prstGeom prst="roundRect">
            <a:avLst>
              <a:gd name="adj" fmla="val 36895"/>
            </a:avLst>
          </a:prstGeom>
          <a:solidFill>
            <a:srgbClr val="F9EAF4"/>
          </a:solidFill>
          <a:ln w="15240">
            <a:solidFill>
              <a:srgbClr val="CC79A7"/>
            </a:solidFill>
            <a:prstDash val="solid"/>
          </a:ln>
        </p:spPr>
      </p:sp>
      <p:sp>
        <p:nvSpPr>
          <p:cNvPr id="40" name="Text 38"/>
          <p:cNvSpPr txBox="1"/>
          <p:nvPr/>
        </p:nvSpPr>
        <p:spPr>
          <a:xfrm>
            <a:off x="3964435" y="5608101"/>
            <a:ext cx="599153"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Output</a:t>
            </a:r>
            <a:endParaRPr lang="en-US" sz="1441" dirty="0"/>
          </a:p>
        </p:txBody>
      </p:sp>
      <p:sp>
        <p:nvSpPr>
          <p:cNvPr id="41" name="Shape 39"/>
          <p:cNvSpPr/>
          <p:nvPr/>
        </p:nvSpPr>
        <p:spPr>
          <a:xfrm>
            <a:off x="4761857" y="5630979"/>
            <a:ext cx="198270" cy="198270"/>
          </a:xfrm>
          <a:prstGeom prst="rect">
            <a:avLst/>
          </a:prstGeom>
          <a:solidFill>
            <a:srgbClr val="F2F4F5"/>
          </a:solidFill>
          <a:ln w="15240">
            <a:solidFill>
              <a:srgbClr val="626B73"/>
            </a:solidFill>
            <a:prstDash val="solid"/>
          </a:ln>
        </p:spPr>
      </p:sp>
      <p:sp>
        <p:nvSpPr>
          <p:cNvPr id="42" name="Text 40"/>
          <p:cNvSpPr txBox="1"/>
          <p:nvPr/>
        </p:nvSpPr>
        <p:spPr>
          <a:xfrm>
            <a:off x="5021133" y="5608101"/>
            <a:ext cx="398932"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Tool</a:t>
            </a:r>
            <a:endParaRPr lang="en-US" sz="1441" dirty="0"/>
          </a:p>
        </p:txBody>
      </p:sp>
      <p:sp>
        <p:nvSpPr>
          <p:cNvPr id="43" name="Shape 41"/>
          <p:cNvSpPr/>
          <p:nvPr/>
        </p:nvSpPr>
        <p:spPr>
          <a:xfrm>
            <a:off x="5618334" y="5730113"/>
            <a:ext cx="335533" cy="0"/>
          </a:xfrm>
          <a:prstGeom prst="line">
            <a:avLst/>
          </a:prstGeom>
          <a:noFill/>
          <a:ln w="22860">
            <a:solidFill>
              <a:srgbClr val="009E73"/>
            </a:solidFill>
            <a:prstDash val="solid"/>
            <a:tailEnd type="triangle"/>
          </a:ln>
        </p:spPr>
      </p:sp>
      <p:sp>
        <p:nvSpPr>
          <p:cNvPr id="44" name="Text 42"/>
          <p:cNvSpPr txBox="1"/>
          <p:nvPr/>
        </p:nvSpPr>
        <p:spPr>
          <a:xfrm>
            <a:off x="6014873" y="5608101"/>
            <a:ext cx="430376"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Flow</a:t>
            </a:r>
            <a:endParaRPr lang="en-US" sz="1441" dirty="0"/>
          </a:p>
        </p:txBody>
      </p:sp>
      <p:sp>
        <p:nvSpPr>
          <p:cNvPr id="45" name="Text 43"/>
          <p:cNvSpPr txBox="1"/>
          <p:nvPr/>
        </p:nvSpPr>
        <p:spPr>
          <a:xfrm>
            <a:off x="548640" y="5925312"/>
            <a:ext cx="11094415" cy="475488"/>
          </a:xfrm>
          <a:prstGeom prst="rect">
            <a:avLst/>
          </a:prstGeom>
          <a:noFill/>
          <a:ln/>
        </p:spPr>
        <p:txBody>
          <a:bodyPr wrap="square" lIns="0" tIns="0" rIns="0" bIns="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Check: Same tokenizer everywhere?</a:t>
            </a:r>
            <a:endParaRPr lang="en-US" sz="17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06  ·  LARGE LANGUAGE MODELS (LLMS) AND FAMILIES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39</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Querying a hosted model through an API</a:t>
            </a:r>
            <a:endParaRPr lang="en-US" sz="3200" dirty="0"/>
          </a:p>
        </p:txBody>
      </p:sp>
      <p:sp>
        <p:nvSpPr>
          <p:cNvPr id="6" name="Shape 4"/>
          <p:cNvSpPr/>
          <p:nvPr/>
        </p:nvSpPr>
        <p:spPr>
          <a:xfrm>
            <a:off x="548640" y="1481328"/>
            <a:ext cx="6949440" cy="1432560"/>
          </a:xfrm>
          <a:prstGeom prst="roundRect">
            <a:avLst>
              <a:gd name="adj" fmla="val 6383"/>
            </a:avLst>
          </a:prstGeom>
          <a:solidFill>
            <a:srgbClr val="1E1E2E"/>
          </a:solidFill>
          <a:ln w="12700">
            <a:solidFill>
              <a:srgbClr val="1E1E2E"/>
            </a:solidFill>
            <a:prstDash val="solid"/>
          </a:ln>
        </p:spPr>
      </p:sp>
      <p:sp>
        <p:nvSpPr>
          <p:cNvPr id="7" name="Text 5"/>
          <p:cNvSpPr txBox="1"/>
          <p:nvPr/>
        </p:nvSpPr>
        <p:spPr>
          <a:xfrm>
            <a:off x="685800" y="1591056"/>
            <a:ext cx="6675120" cy="1213104"/>
          </a:xfrm>
          <a:prstGeom prst="rect">
            <a:avLst/>
          </a:prstGeom>
          <a:noFill/>
          <a:ln/>
        </p:spPr>
        <p:txBody>
          <a:bodyPr wrap="square" lIns="76200" tIns="76200" rIns="76200" bIns="76200" rtlCol="0" anchor="t"/>
          <a:lstStyle/>
          <a:p>
            <a:pPr indent="0" marL="0">
              <a:lnSpc>
                <a:spcPct val="100000"/>
              </a:lnSpc>
              <a:buNone/>
            </a:pPr>
            <a:r>
              <a:rPr lang="en-US" sz="1500" dirty="0">
                <a:solidFill>
                  <a:srgbClr val="9CA3AF"/>
                </a:solidFill>
                <a:latin typeface="Consolas" pitchFamily="34" charset="0"/>
                <a:ea typeface="Consolas" pitchFamily="34" charset="-122"/>
                <a:cs typeface="Consolas" pitchFamily="34" charset="-120"/>
              </a:rPr>
              <a:t># Shared setup handles provider access</a:t>
            </a:r>
            <a:endParaRPr lang="en-US" sz="1500" dirty="0"/>
          </a:p>
          <a:p>
            <a:pPr indent="0" marL="0">
              <a:lnSpc>
                <a:spcPct val="100000"/>
              </a:lnSpc>
              <a:buNone/>
            </a:pPr>
            <a:r>
              <a:rPr lang="en-US" sz="1500" dirty="0">
                <a:solidFill>
                  <a:srgbClr val="E4E4F0"/>
                </a:solidFill>
                <a:latin typeface="Consolas" pitchFamily="34" charset="0"/>
                <a:ea typeface="Consolas" pitchFamily="34" charset="-122"/>
                <a:cs typeface="Consolas" pitchFamily="34" charset="-120"/>
              </a:rPr>
              <a:t>answer = ask_model("Explain tokens in one sentence.",</a:t>
            </a:r>
            <a:endParaRPr lang="en-US" sz="1500" dirty="0"/>
          </a:p>
          <a:p>
            <a:pPr indent="0" marL="0">
              <a:lnSpc>
                <a:spcPct val="100000"/>
              </a:lnSpc>
              <a:buNone/>
            </a:pPr>
            <a:r>
              <a:rPr lang="en-US" sz="1500" dirty="0">
                <a:solidFill>
                  <a:srgbClr val="E4E4F0"/>
                </a:solidFill>
                <a:latin typeface="Consolas" pitchFamily="34" charset="0"/>
                <a:ea typeface="Consolas" pitchFamily="34" charset="-122"/>
                <a:cs typeface="Consolas" pitchFamily="34" charset="-120"/>
              </a:rPr>
              <a:t>                   temperature=0.2, max_output_tokens=128)</a:t>
            </a:r>
            <a:endParaRPr lang="en-US" sz="1500" dirty="0"/>
          </a:p>
          <a:p>
            <a:pPr indent="0" marL="0">
              <a:lnSpc>
                <a:spcPct val="100000"/>
              </a:lnSpc>
              <a:buNone/>
            </a:pPr>
            <a:r>
              <a:rPr lang="en-US" sz="1500" dirty="0">
                <a:solidFill>
                  <a:srgbClr val="E4E4F0"/>
                </a:solidFill>
                <a:latin typeface="Consolas" pitchFamily="34" charset="0"/>
                <a:ea typeface="Consolas" pitchFamily="34" charset="-122"/>
                <a:cs typeface="Consolas" pitchFamily="34" charset="-120"/>
              </a:rPr>
              <a:t>print(answer or local_rubric)</a:t>
            </a:r>
            <a:endParaRPr lang="en-US" sz="1500" dirty="0"/>
          </a:p>
        </p:txBody>
      </p:sp>
      <p:sp>
        <p:nvSpPr>
          <p:cNvPr id="8" name="Text 6"/>
          <p:cNvSpPr txBox="1"/>
          <p:nvPr/>
        </p:nvSpPr>
        <p:spPr>
          <a:xfrm>
            <a:off x="7772400" y="1481328"/>
            <a:ext cx="3870655" cy="4828032"/>
          </a:xfrm>
          <a:prstGeom prst="rect">
            <a:avLst/>
          </a:prstGeom>
          <a:noFill/>
          <a:ln/>
        </p:spPr>
        <p:txBody>
          <a:bodyPr wrap="square" lIns="50800" tIns="50800" rIns="50800" bIns="50800" rtlCol="0" anchor="t"/>
          <a:lstStyle/>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Both switches default False.</a:t>
            </a:r>
            <a:endParaRPr lang="en-US" sz="2000" dirty="0"/>
          </a:p>
          <a:p>
            <a:pPr marL="254000" indent="-254000">
              <a:spcAft>
                <a:spcPts val="800"/>
              </a:spcAft>
              <a:buSzPct val="100000"/>
              <a:buChar char="●"/>
            </a:pPr>
            <a:r>
              <a:rPr lang="en-US" sz="2000" dirty="0">
                <a:solidFill>
                  <a:srgbClr val="1F2937"/>
                </a:solidFill>
                <a:latin typeface="Calibri" pitchFamily="34" charset="0"/>
                <a:ea typeface="Calibri" pitchFamily="34" charset="-122"/>
                <a:cs typeface="Calibri" pitchFamily="34" charset="-120"/>
              </a:rPr>
              <a:t>Enable exactly one; local fallback remains.</a:t>
            </a:r>
            <a:endParaRPr lang="en-US" sz="2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06  ·  LARGE LANGUAGE MODELS (LLMS) AND FAMILIES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40</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What LLMs are used for, and where they struggle</a:t>
            </a:r>
            <a:endParaRPr lang="en-US" sz="3200" dirty="0"/>
          </a:p>
        </p:txBody>
      </p:sp>
      <p:sp>
        <p:nvSpPr>
          <p:cNvPr id="6" name="Shape 4"/>
          <p:cNvSpPr/>
          <p:nvPr/>
        </p:nvSpPr>
        <p:spPr>
          <a:xfrm>
            <a:off x="548640" y="1481328"/>
            <a:ext cx="3515258" cy="4828032"/>
          </a:xfrm>
          <a:prstGeom prst="roundRect">
            <a:avLst>
              <a:gd name="adj" fmla="val 3121"/>
            </a:avLst>
          </a:prstGeom>
          <a:solidFill>
            <a:srgbClr val="EEF0FF"/>
          </a:solidFill>
          <a:ln w="12700">
            <a:solidFill>
              <a:srgbClr val="EEF0FF"/>
            </a:solidFill>
            <a:prstDash val="solid"/>
          </a:ln>
        </p:spPr>
      </p:sp>
      <p:sp>
        <p:nvSpPr>
          <p:cNvPr id="7" name="Text 5"/>
          <p:cNvSpPr txBox="1"/>
          <p:nvPr/>
        </p:nvSpPr>
        <p:spPr>
          <a:xfrm>
            <a:off x="731520" y="1755648"/>
            <a:ext cx="3149498" cy="548640"/>
          </a:xfrm>
          <a:prstGeom prst="rect">
            <a:avLst/>
          </a:prstGeom>
          <a:noFill/>
          <a:ln/>
        </p:spPr>
        <p:txBody>
          <a:bodyPr wrap="square" lIns="50800" tIns="50800" rIns="50800" bIns="50800" rtlCol="0" anchor="ctr"/>
          <a:lstStyle/>
          <a:p>
            <a:pPr indent="0" marL="0">
              <a:buNone/>
            </a:pPr>
            <a:r>
              <a:rPr lang="en-US" sz="2100" b="1" dirty="0">
                <a:solidFill>
                  <a:srgbClr val="1E1B4B"/>
                </a:solidFill>
                <a:latin typeface="Calibri" pitchFamily="34" charset="0"/>
                <a:ea typeface="Calibri" pitchFamily="34" charset="-122"/>
                <a:cs typeface="Calibri" pitchFamily="34" charset="-120"/>
              </a:rPr>
              <a:t>Draft/extract</a:t>
            </a:r>
            <a:endParaRPr lang="en-US" sz="2100" dirty="0"/>
          </a:p>
        </p:txBody>
      </p:sp>
      <p:sp>
        <p:nvSpPr>
          <p:cNvPr id="8" name="Text 6"/>
          <p:cNvSpPr txBox="1"/>
          <p:nvPr/>
        </p:nvSpPr>
        <p:spPr>
          <a:xfrm>
            <a:off x="731520" y="2304288"/>
            <a:ext cx="3149498" cy="3959352"/>
          </a:xfrm>
          <a:prstGeom prst="rect">
            <a:avLst/>
          </a:prstGeom>
          <a:noFill/>
          <a:ln/>
        </p:spPr>
        <p:txBody>
          <a:bodyPr wrap="square" lIns="50800" tIns="50800" rIns="50800" bIns="50800" rtlCol="0" anchor="t"/>
          <a:lstStyle/>
          <a:p>
            <a:pPr indent="0" marL="0">
              <a:buNone/>
            </a:pPr>
            <a:r>
              <a:rPr lang="en-US" sz="2200" dirty="0">
                <a:solidFill>
                  <a:srgbClr val="1F2937"/>
                </a:solidFill>
                <a:latin typeface="Calibri" pitchFamily="34" charset="0"/>
                <a:ea typeface="Calibri" pitchFamily="34" charset="-122"/>
                <a:cs typeface="Calibri" pitchFamily="34" charset="-120"/>
              </a:rPr>
              <a:t>Verify wording and source values.</a:t>
            </a:r>
            <a:endParaRPr lang="en-US" sz="2200" dirty="0"/>
          </a:p>
        </p:txBody>
      </p:sp>
      <p:sp>
        <p:nvSpPr>
          <p:cNvPr id="9" name="Shape 7"/>
          <p:cNvSpPr/>
          <p:nvPr/>
        </p:nvSpPr>
        <p:spPr>
          <a:xfrm>
            <a:off x="4338218" y="1481328"/>
            <a:ext cx="3515258" cy="4828032"/>
          </a:xfrm>
          <a:prstGeom prst="roundRect">
            <a:avLst>
              <a:gd name="adj" fmla="val 3121"/>
            </a:avLst>
          </a:prstGeom>
          <a:solidFill>
            <a:srgbClr val="F5F3FF"/>
          </a:solidFill>
          <a:ln w="12700">
            <a:solidFill>
              <a:srgbClr val="EEF0FF"/>
            </a:solidFill>
            <a:prstDash val="solid"/>
          </a:ln>
        </p:spPr>
      </p:sp>
      <p:sp>
        <p:nvSpPr>
          <p:cNvPr id="10" name="Text 8"/>
          <p:cNvSpPr txBox="1"/>
          <p:nvPr/>
        </p:nvSpPr>
        <p:spPr>
          <a:xfrm>
            <a:off x="4521098" y="1755648"/>
            <a:ext cx="3149498" cy="548640"/>
          </a:xfrm>
          <a:prstGeom prst="rect">
            <a:avLst/>
          </a:prstGeom>
          <a:noFill/>
          <a:ln/>
        </p:spPr>
        <p:txBody>
          <a:bodyPr wrap="square" lIns="50800" tIns="50800" rIns="50800" bIns="50800" rtlCol="0" anchor="ctr"/>
          <a:lstStyle/>
          <a:p>
            <a:pPr indent="0" marL="0">
              <a:buNone/>
            </a:pPr>
            <a:r>
              <a:rPr lang="en-US" sz="2100" b="1" dirty="0">
                <a:solidFill>
                  <a:srgbClr val="1E1B4B"/>
                </a:solidFill>
                <a:latin typeface="Calibri" pitchFamily="34" charset="0"/>
                <a:ea typeface="Calibri" pitchFamily="34" charset="-122"/>
                <a:cs typeface="Calibri" pitchFamily="34" charset="-120"/>
              </a:rPr>
              <a:t>Use tools</a:t>
            </a:r>
            <a:endParaRPr lang="en-US" sz="2100" dirty="0"/>
          </a:p>
        </p:txBody>
      </p:sp>
      <p:sp>
        <p:nvSpPr>
          <p:cNvPr id="11" name="Text 9"/>
          <p:cNvSpPr txBox="1"/>
          <p:nvPr/>
        </p:nvSpPr>
        <p:spPr>
          <a:xfrm>
            <a:off x="4521098" y="2304288"/>
            <a:ext cx="3149498" cy="3959352"/>
          </a:xfrm>
          <a:prstGeom prst="rect">
            <a:avLst/>
          </a:prstGeom>
          <a:noFill/>
          <a:ln/>
        </p:spPr>
        <p:txBody>
          <a:bodyPr wrap="square" lIns="50800" tIns="50800" rIns="50800" bIns="50800" rtlCol="0" anchor="t"/>
          <a:lstStyle/>
          <a:p>
            <a:pPr indent="0" marL="0">
              <a:buNone/>
            </a:pPr>
            <a:r>
              <a:rPr lang="en-US" sz="2200" dirty="0">
                <a:solidFill>
                  <a:srgbClr val="1F2937"/>
                </a:solidFill>
                <a:latin typeface="Calibri" pitchFamily="34" charset="0"/>
                <a:ea typeface="Calibri" pitchFamily="34" charset="-122"/>
                <a:cs typeface="Calibri" pitchFamily="34" charset="-120"/>
              </a:rPr>
              <a:t>Check tool inputs and results.</a:t>
            </a:r>
            <a:endParaRPr lang="en-US" sz="2200" dirty="0"/>
          </a:p>
        </p:txBody>
      </p:sp>
      <p:sp>
        <p:nvSpPr>
          <p:cNvPr id="12" name="Shape 10"/>
          <p:cNvSpPr/>
          <p:nvPr/>
        </p:nvSpPr>
        <p:spPr>
          <a:xfrm>
            <a:off x="8127797" y="1481328"/>
            <a:ext cx="3515258" cy="4828032"/>
          </a:xfrm>
          <a:prstGeom prst="roundRect">
            <a:avLst>
              <a:gd name="adj" fmla="val 3121"/>
            </a:avLst>
          </a:prstGeom>
          <a:solidFill>
            <a:srgbClr val="EEF0FF"/>
          </a:solidFill>
          <a:ln w="12700">
            <a:solidFill>
              <a:srgbClr val="EEF0FF"/>
            </a:solidFill>
            <a:prstDash val="solid"/>
          </a:ln>
        </p:spPr>
      </p:sp>
      <p:sp>
        <p:nvSpPr>
          <p:cNvPr id="13" name="Text 11"/>
          <p:cNvSpPr txBox="1"/>
          <p:nvPr/>
        </p:nvSpPr>
        <p:spPr>
          <a:xfrm>
            <a:off x="8310677" y="1755648"/>
            <a:ext cx="3149498" cy="548640"/>
          </a:xfrm>
          <a:prstGeom prst="rect">
            <a:avLst/>
          </a:prstGeom>
          <a:noFill/>
          <a:ln/>
        </p:spPr>
        <p:txBody>
          <a:bodyPr wrap="square" lIns="50800" tIns="50800" rIns="50800" bIns="50800" rtlCol="0" anchor="ctr"/>
          <a:lstStyle/>
          <a:p>
            <a:pPr indent="0" marL="0">
              <a:buNone/>
            </a:pPr>
            <a:r>
              <a:rPr lang="en-US" sz="2100" b="1" dirty="0">
                <a:solidFill>
                  <a:srgbClr val="1E1B4B"/>
                </a:solidFill>
                <a:latin typeface="Calibri" pitchFamily="34" charset="0"/>
                <a:ea typeface="Calibri" pitchFamily="34" charset="-122"/>
                <a:cs typeface="Calibri" pitchFamily="34" charset="-120"/>
              </a:rPr>
              <a:t>High-impact claims</a:t>
            </a:r>
            <a:endParaRPr lang="en-US" sz="2100" dirty="0"/>
          </a:p>
        </p:txBody>
      </p:sp>
      <p:sp>
        <p:nvSpPr>
          <p:cNvPr id="14" name="Text 12"/>
          <p:cNvSpPr txBox="1"/>
          <p:nvPr/>
        </p:nvSpPr>
        <p:spPr>
          <a:xfrm>
            <a:off x="8310677" y="2304288"/>
            <a:ext cx="3149498" cy="3959352"/>
          </a:xfrm>
          <a:prstGeom prst="rect">
            <a:avLst/>
          </a:prstGeom>
          <a:noFill/>
          <a:ln/>
        </p:spPr>
        <p:txBody>
          <a:bodyPr wrap="square" lIns="50800" tIns="50800" rIns="50800" bIns="50800" rtlCol="0" anchor="t"/>
          <a:lstStyle/>
          <a:p>
            <a:pPr indent="0" marL="0">
              <a:buNone/>
            </a:pPr>
            <a:r>
              <a:rPr lang="en-US" sz="2200" dirty="0">
                <a:solidFill>
                  <a:srgbClr val="1F2937"/>
                </a:solidFill>
                <a:latin typeface="Calibri" pitchFamily="34" charset="0"/>
                <a:ea typeface="Calibri" pitchFamily="34" charset="-122"/>
                <a:cs typeface="Calibri" pitchFamily="34" charset="-120"/>
              </a:rPr>
              <a:t>Verify facts, citations and calculations.</a:t>
            </a:r>
            <a:endParaRPr lang="en-US" sz="22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06  ·  LARGE LANGUAGE MODELS (LLMS) AND FAMILIES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41</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A practical process for choosing a model</a:t>
            </a:r>
            <a:endParaRPr lang="en-US" sz="3200" dirty="0"/>
          </a:p>
        </p:txBody>
      </p:sp>
      <p:sp>
        <p:nvSpPr>
          <p:cNvPr id="6" name="Shape 4"/>
          <p:cNvSpPr/>
          <p:nvPr/>
        </p:nvSpPr>
        <p:spPr>
          <a:xfrm>
            <a:off x="2681233" y="3361353"/>
            <a:ext cx="246543" cy="0"/>
          </a:xfrm>
          <a:prstGeom prst="line">
            <a:avLst/>
          </a:prstGeom>
          <a:noFill/>
          <a:ln w="22860">
            <a:solidFill>
              <a:srgbClr val="009E73"/>
            </a:solidFill>
            <a:prstDash val="solid"/>
            <a:tailEnd type="triangle"/>
          </a:ln>
        </p:spPr>
      </p:sp>
      <p:sp>
        <p:nvSpPr>
          <p:cNvPr id="7" name="Text 5"/>
          <p:cNvSpPr txBox="1"/>
          <p:nvPr/>
        </p:nvSpPr>
        <p:spPr>
          <a:xfrm>
            <a:off x="1995537" y="2361006"/>
            <a:ext cx="1617936" cy="214492"/>
          </a:xfrm>
          <a:prstGeom prst="rect">
            <a:avLst/>
          </a:prstGeom>
          <a:noFill/>
          <a:ln/>
        </p:spPr>
        <p:txBody>
          <a:bodyPr wrap="square" lIns="0" tIns="0" rIns="0" bIns="0" rtlCol="0" anchor="ctr"/>
          <a:lstStyle/>
          <a:p>
            <a:pPr algn="ctr" indent="0" marL="0">
              <a:lnSpc>
                <a:spcPct val="116000"/>
              </a:lnSpc>
              <a:buNone/>
            </a:pPr>
            <a:r>
              <a:rPr lang="en-US" sz="1456" dirty="0">
                <a:solidFill>
                  <a:srgbClr val="0072B2"/>
                </a:solidFill>
                <a:latin typeface="Arial" pitchFamily="34" charset="0"/>
                <a:ea typeface="Arial" pitchFamily="34" charset="-122"/>
                <a:cs typeface="Arial" pitchFamily="34" charset="-120"/>
              </a:rPr>
              <a:t>task specification</a:t>
            </a:r>
            <a:endParaRPr lang="en-US" sz="1456" dirty="0"/>
          </a:p>
        </p:txBody>
      </p:sp>
      <p:sp>
        <p:nvSpPr>
          <p:cNvPr id="8" name="Shape 6"/>
          <p:cNvSpPr/>
          <p:nvPr/>
        </p:nvSpPr>
        <p:spPr>
          <a:xfrm>
            <a:off x="4875462" y="3361353"/>
            <a:ext cx="246543" cy="0"/>
          </a:xfrm>
          <a:prstGeom prst="line">
            <a:avLst/>
          </a:prstGeom>
          <a:noFill/>
          <a:ln w="22860">
            <a:solidFill>
              <a:srgbClr val="009E73"/>
            </a:solidFill>
            <a:prstDash val="solid"/>
            <a:tailEnd type="triangle"/>
          </a:ln>
        </p:spPr>
      </p:sp>
      <p:sp>
        <p:nvSpPr>
          <p:cNvPr id="9" name="Text 7"/>
          <p:cNvSpPr txBox="1"/>
          <p:nvPr/>
        </p:nvSpPr>
        <p:spPr>
          <a:xfrm>
            <a:off x="4189765" y="2361006"/>
            <a:ext cx="1617936" cy="214492"/>
          </a:xfrm>
          <a:prstGeom prst="rect">
            <a:avLst/>
          </a:prstGeom>
          <a:noFill/>
          <a:ln/>
        </p:spPr>
        <p:txBody>
          <a:bodyPr wrap="square" lIns="0" tIns="0" rIns="0" bIns="0" rtlCol="0" anchor="ctr"/>
          <a:lstStyle/>
          <a:p>
            <a:pPr algn="ctr" indent="0" marL="0">
              <a:lnSpc>
                <a:spcPct val="116000"/>
              </a:lnSpc>
              <a:buNone/>
            </a:pPr>
            <a:r>
              <a:rPr lang="en-US" sz="1456" dirty="0">
                <a:solidFill>
                  <a:srgbClr val="0072B2"/>
                </a:solidFill>
                <a:latin typeface="Arial" pitchFamily="34" charset="0"/>
                <a:ea typeface="Arial" pitchFamily="34" charset="-122"/>
                <a:cs typeface="Arial" pitchFamily="34" charset="-120"/>
              </a:rPr>
              <a:t>requirements</a:t>
            </a:r>
            <a:endParaRPr lang="en-US" sz="1456" dirty="0"/>
          </a:p>
        </p:txBody>
      </p:sp>
      <p:sp>
        <p:nvSpPr>
          <p:cNvPr id="10" name="Shape 8"/>
          <p:cNvSpPr/>
          <p:nvPr/>
        </p:nvSpPr>
        <p:spPr>
          <a:xfrm>
            <a:off x="7069691" y="3361353"/>
            <a:ext cx="246543" cy="0"/>
          </a:xfrm>
          <a:prstGeom prst="line">
            <a:avLst/>
          </a:prstGeom>
          <a:noFill/>
          <a:ln w="22860">
            <a:solidFill>
              <a:srgbClr val="009E73"/>
            </a:solidFill>
            <a:prstDash val="solid"/>
            <a:tailEnd type="triangle"/>
          </a:ln>
        </p:spPr>
      </p:sp>
      <p:sp>
        <p:nvSpPr>
          <p:cNvPr id="11" name="Text 9"/>
          <p:cNvSpPr txBox="1"/>
          <p:nvPr/>
        </p:nvSpPr>
        <p:spPr>
          <a:xfrm>
            <a:off x="6383994" y="2361006"/>
            <a:ext cx="1617936" cy="214492"/>
          </a:xfrm>
          <a:prstGeom prst="rect">
            <a:avLst/>
          </a:prstGeom>
          <a:noFill/>
          <a:ln/>
        </p:spPr>
        <p:txBody>
          <a:bodyPr wrap="square" lIns="0" tIns="0" rIns="0" bIns="0" rtlCol="0" anchor="ctr"/>
          <a:lstStyle/>
          <a:p>
            <a:pPr algn="ctr" indent="0" marL="0">
              <a:lnSpc>
                <a:spcPct val="116000"/>
              </a:lnSpc>
              <a:buNone/>
            </a:pPr>
            <a:r>
              <a:rPr lang="en-US" sz="1456" dirty="0">
                <a:solidFill>
                  <a:srgbClr val="0072B2"/>
                </a:solidFill>
                <a:latin typeface="Arial" pitchFamily="34" charset="0"/>
                <a:ea typeface="Arial" pitchFamily="34" charset="-122"/>
                <a:cs typeface="Arial" pitchFamily="34" charset="-120"/>
              </a:rPr>
              <a:t>candidate IDs</a:t>
            </a:r>
            <a:endParaRPr lang="en-US" sz="1456" dirty="0"/>
          </a:p>
        </p:txBody>
      </p:sp>
      <p:sp>
        <p:nvSpPr>
          <p:cNvPr id="12" name="Shape 10"/>
          <p:cNvSpPr/>
          <p:nvPr/>
        </p:nvSpPr>
        <p:spPr>
          <a:xfrm>
            <a:off x="9263919" y="3361353"/>
            <a:ext cx="246543" cy="0"/>
          </a:xfrm>
          <a:prstGeom prst="line">
            <a:avLst/>
          </a:prstGeom>
          <a:noFill/>
          <a:ln w="22860">
            <a:solidFill>
              <a:srgbClr val="009E73"/>
            </a:solidFill>
            <a:prstDash val="solid"/>
            <a:tailEnd type="triangle"/>
          </a:ln>
        </p:spPr>
      </p:sp>
      <p:sp>
        <p:nvSpPr>
          <p:cNvPr id="13" name="Text 11"/>
          <p:cNvSpPr txBox="1"/>
          <p:nvPr/>
        </p:nvSpPr>
        <p:spPr>
          <a:xfrm>
            <a:off x="8578223" y="2361006"/>
            <a:ext cx="1617936" cy="214492"/>
          </a:xfrm>
          <a:prstGeom prst="rect">
            <a:avLst/>
          </a:prstGeom>
          <a:noFill/>
          <a:ln/>
        </p:spPr>
        <p:txBody>
          <a:bodyPr wrap="square" lIns="0" tIns="0" rIns="0" bIns="0" rtlCol="0" anchor="ctr"/>
          <a:lstStyle/>
          <a:p>
            <a:pPr algn="ctr" indent="0" marL="0">
              <a:lnSpc>
                <a:spcPct val="116000"/>
              </a:lnSpc>
              <a:buNone/>
            </a:pPr>
            <a:r>
              <a:rPr lang="en-US" sz="1456" dirty="0">
                <a:solidFill>
                  <a:srgbClr val="0072B2"/>
                </a:solidFill>
                <a:latin typeface="Arial" pitchFamily="34" charset="0"/>
                <a:ea typeface="Arial" pitchFamily="34" charset="-122"/>
                <a:cs typeface="Arial" pitchFamily="34" charset="-120"/>
              </a:rPr>
              <a:t>measured results</a:t>
            </a:r>
            <a:endParaRPr lang="en-US" sz="1456" dirty="0"/>
          </a:p>
        </p:txBody>
      </p:sp>
      <p:sp>
        <p:nvSpPr>
          <p:cNvPr id="14" name="Shape 12"/>
          <p:cNvSpPr/>
          <p:nvPr/>
        </p:nvSpPr>
        <p:spPr>
          <a:xfrm>
            <a:off x="733547" y="2637134"/>
            <a:ext cx="1947686" cy="1448438"/>
          </a:xfrm>
          <a:prstGeom prst="rect">
            <a:avLst/>
          </a:prstGeom>
          <a:solidFill>
            <a:srgbClr val="F2F4F5"/>
          </a:solidFill>
          <a:ln w="15240">
            <a:solidFill>
              <a:srgbClr val="626B73"/>
            </a:solidFill>
            <a:prstDash val="solid"/>
          </a:ln>
        </p:spPr>
      </p:sp>
      <p:sp>
        <p:nvSpPr>
          <p:cNvPr id="15" name="Text 13"/>
          <p:cNvSpPr txBox="1"/>
          <p:nvPr/>
        </p:nvSpPr>
        <p:spPr>
          <a:xfrm>
            <a:off x="795183" y="3099401"/>
            <a:ext cx="1824415" cy="232366"/>
          </a:xfrm>
          <a:prstGeom prst="rect">
            <a:avLst/>
          </a:prstGeom>
          <a:noFill/>
          <a:ln/>
        </p:spPr>
        <p:txBody>
          <a:bodyPr wrap="square" lIns="0" tIns="0" rIns="0" bIns="0" rtlCol="0" anchor="ctr"/>
          <a:lstStyle/>
          <a:p>
            <a:pPr algn="ctr" indent="0" marL="0">
              <a:lnSpc>
                <a:spcPct val="116000"/>
              </a:lnSpc>
              <a:buNone/>
            </a:pPr>
            <a:r>
              <a:rPr lang="en-US" sz="1577" b="1" dirty="0">
                <a:solidFill>
                  <a:srgbClr val="1E1B4B"/>
                </a:solidFill>
                <a:latin typeface="Arial" pitchFamily="34" charset="0"/>
                <a:ea typeface="Arial" pitchFamily="34" charset="-122"/>
                <a:cs typeface="Arial" pitchFamily="34" charset="-120"/>
              </a:rPr>
              <a:t>Specify task</a:t>
            </a:r>
            <a:endParaRPr lang="en-US" sz="1577" dirty="0"/>
          </a:p>
        </p:txBody>
      </p:sp>
      <p:sp>
        <p:nvSpPr>
          <p:cNvPr id="16" name="Text 14"/>
          <p:cNvSpPr txBox="1"/>
          <p:nvPr/>
        </p:nvSpPr>
        <p:spPr>
          <a:xfrm>
            <a:off x="795183" y="3408812"/>
            <a:ext cx="1824415" cy="214492"/>
          </a:xfrm>
          <a:prstGeom prst="rect">
            <a:avLst/>
          </a:prstGeom>
          <a:noFill/>
          <a:ln/>
        </p:spPr>
        <p:txBody>
          <a:bodyPr wrap="square" lIns="0" tIns="0" rIns="0" bIns="0" rtlCol="0" anchor="ctr"/>
          <a:lstStyle/>
          <a:p>
            <a:pPr algn="ctr" indent="0" marL="0">
              <a:lnSpc>
                <a:spcPct val="116000"/>
              </a:lnSpc>
              <a:buNone/>
            </a:pPr>
            <a:r>
              <a:rPr lang="en-US" sz="1456" dirty="0">
                <a:solidFill>
                  <a:srgbClr val="1F2937"/>
                </a:solidFill>
                <a:latin typeface="Arial" pitchFamily="34" charset="0"/>
                <a:ea typeface="Arial" pitchFamily="34" charset="-122"/>
                <a:cs typeface="Arial" pitchFamily="34" charset="-120"/>
              </a:rPr>
              <a:t>Inputs/outputs</a:t>
            </a:r>
            <a:endParaRPr lang="en-US" sz="1456" dirty="0"/>
          </a:p>
        </p:txBody>
      </p:sp>
      <p:sp>
        <p:nvSpPr>
          <p:cNvPr id="17" name="Shape 15"/>
          <p:cNvSpPr/>
          <p:nvPr/>
        </p:nvSpPr>
        <p:spPr>
          <a:xfrm>
            <a:off x="2927776" y="2637134"/>
            <a:ext cx="1947686" cy="1448438"/>
          </a:xfrm>
          <a:prstGeom prst="rect">
            <a:avLst/>
          </a:prstGeom>
          <a:solidFill>
            <a:srgbClr val="F2F4F5"/>
          </a:solidFill>
          <a:ln w="15240">
            <a:solidFill>
              <a:srgbClr val="626B73"/>
            </a:solidFill>
            <a:prstDash val="solid"/>
          </a:ln>
        </p:spPr>
      </p:sp>
      <p:sp>
        <p:nvSpPr>
          <p:cNvPr id="18" name="Text 16"/>
          <p:cNvSpPr txBox="1"/>
          <p:nvPr/>
        </p:nvSpPr>
        <p:spPr>
          <a:xfrm>
            <a:off x="2989411" y="3099401"/>
            <a:ext cx="1824415" cy="232366"/>
          </a:xfrm>
          <a:prstGeom prst="rect">
            <a:avLst/>
          </a:prstGeom>
          <a:noFill/>
          <a:ln/>
        </p:spPr>
        <p:txBody>
          <a:bodyPr wrap="square" lIns="0" tIns="0" rIns="0" bIns="0" rtlCol="0" anchor="ctr"/>
          <a:lstStyle/>
          <a:p>
            <a:pPr algn="ctr" indent="0" marL="0">
              <a:lnSpc>
                <a:spcPct val="116000"/>
              </a:lnSpc>
              <a:buNone/>
            </a:pPr>
            <a:r>
              <a:rPr lang="en-US" sz="1577" b="1" dirty="0">
                <a:solidFill>
                  <a:srgbClr val="1E1B4B"/>
                </a:solidFill>
                <a:latin typeface="Arial" pitchFamily="34" charset="0"/>
                <a:ea typeface="Arial" pitchFamily="34" charset="-122"/>
                <a:cs typeface="Arial" pitchFamily="34" charset="-120"/>
              </a:rPr>
              <a:t>Constraints</a:t>
            </a:r>
            <a:endParaRPr lang="en-US" sz="1577" dirty="0"/>
          </a:p>
        </p:txBody>
      </p:sp>
      <p:sp>
        <p:nvSpPr>
          <p:cNvPr id="19" name="Text 17"/>
          <p:cNvSpPr txBox="1"/>
          <p:nvPr/>
        </p:nvSpPr>
        <p:spPr>
          <a:xfrm>
            <a:off x="2989411" y="3408812"/>
            <a:ext cx="1824415" cy="214492"/>
          </a:xfrm>
          <a:prstGeom prst="rect">
            <a:avLst/>
          </a:prstGeom>
          <a:noFill/>
          <a:ln/>
        </p:spPr>
        <p:txBody>
          <a:bodyPr wrap="square" lIns="0" tIns="0" rIns="0" bIns="0" rtlCol="0" anchor="ctr"/>
          <a:lstStyle/>
          <a:p>
            <a:pPr algn="ctr" indent="0" marL="0">
              <a:lnSpc>
                <a:spcPct val="116000"/>
              </a:lnSpc>
              <a:buNone/>
            </a:pPr>
            <a:r>
              <a:rPr lang="en-US" sz="1456" dirty="0">
                <a:solidFill>
                  <a:srgbClr val="1F2937"/>
                </a:solidFill>
                <a:latin typeface="Arial" pitchFamily="34" charset="0"/>
                <a:ea typeface="Arial" pitchFamily="34" charset="-122"/>
                <a:cs typeface="Arial" pitchFamily="34" charset="-120"/>
              </a:rPr>
              <a:t>Privacy/budget</a:t>
            </a:r>
            <a:endParaRPr lang="en-US" sz="1456" dirty="0"/>
          </a:p>
        </p:txBody>
      </p:sp>
      <p:sp>
        <p:nvSpPr>
          <p:cNvPr id="20" name="Shape 18"/>
          <p:cNvSpPr/>
          <p:nvPr/>
        </p:nvSpPr>
        <p:spPr>
          <a:xfrm>
            <a:off x="5122004" y="2637134"/>
            <a:ext cx="1947686" cy="1448438"/>
          </a:xfrm>
          <a:prstGeom prst="rect">
            <a:avLst/>
          </a:prstGeom>
          <a:solidFill>
            <a:srgbClr val="F2F4F5"/>
          </a:solidFill>
          <a:ln w="15240">
            <a:solidFill>
              <a:srgbClr val="626B73"/>
            </a:solidFill>
            <a:prstDash val="solid"/>
          </a:ln>
        </p:spPr>
      </p:sp>
      <p:sp>
        <p:nvSpPr>
          <p:cNvPr id="21" name="Text 19"/>
          <p:cNvSpPr txBox="1"/>
          <p:nvPr/>
        </p:nvSpPr>
        <p:spPr>
          <a:xfrm>
            <a:off x="5183640" y="3099401"/>
            <a:ext cx="1824415" cy="232366"/>
          </a:xfrm>
          <a:prstGeom prst="rect">
            <a:avLst/>
          </a:prstGeom>
          <a:noFill/>
          <a:ln/>
        </p:spPr>
        <p:txBody>
          <a:bodyPr wrap="square" lIns="0" tIns="0" rIns="0" bIns="0" rtlCol="0" anchor="ctr"/>
          <a:lstStyle/>
          <a:p>
            <a:pPr algn="ctr" indent="0" marL="0">
              <a:lnSpc>
                <a:spcPct val="116000"/>
              </a:lnSpc>
              <a:buNone/>
            </a:pPr>
            <a:r>
              <a:rPr lang="en-US" sz="1577" b="1" dirty="0">
                <a:solidFill>
                  <a:srgbClr val="1E1B4B"/>
                </a:solidFill>
                <a:latin typeface="Arial" pitchFamily="34" charset="0"/>
                <a:ea typeface="Arial" pitchFamily="34" charset="-122"/>
                <a:cs typeface="Arial" pitchFamily="34" charset="-120"/>
              </a:rPr>
              <a:t>Shortlist</a:t>
            </a:r>
            <a:endParaRPr lang="en-US" sz="1577" dirty="0"/>
          </a:p>
        </p:txBody>
      </p:sp>
      <p:sp>
        <p:nvSpPr>
          <p:cNvPr id="22" name="Text 20"/>
          <p:cNvSpPr txBox="1"/>
          <p:nvPr/>
        </p:nvSpPr>
        <p:spPr>
          <a:xfrm>
            <a:off x="5183640" y="3408812"/>
            <a:ext cx="1824415" cy="214492"/>
          </a:xfrm>
          <a:prstGeom prst="rect">
            <a:avLst/>
          </a:prstGeom>
          <a:noFill/>
          <a:ln/>
        </p:spPr>
        <p:txBody>
          <a:bodyPr wrap="square" lIns="0" tIns="0" rIns="0" bIns="0" rtlCol="0" anchor="ctr"/>
          <a:lstStyle/>
          <a:p>
            <a:pPr algn="ctr" indent="0" marL="0">
              <a:lnSpc>
                <a:spcPct val="116000"/>
              </a:lnSpc>
              <a:buNone/>
            </a:pPr>
            <a:r>
              <a:rPr lang="en-US" sz="1456" dirty="0">
                <a:solidFill>
                  <a:srgbClr val="1F2937"/>
                </a:solidFill>
                <a:latin typeface="Arial" pitchFamily="34" charset="0"/>
                <a:ea typeface="Arial" pitchFamily="34" charset="-122"/>
                <a:cs typeface="Arial" pitchFamily="34" charset="-120"/>
              </a:rPr>
              <a:t>Candidate IDs</a:t>
            </a:r>
            <a:endParaRPr lang="en-US" sz="1456" dirty="0"/>
          </a:p>
        </p:txBody>
      </p:sp>
      <p:sp>
        <p:nvSpPr>
          <p:cNvPr id="23" name="Shape 21"/>
          <p:cNvSpPr/>
          <p:nvPr/>
        </p:nvSpPr>
        <p:spPr>
          <a:xfrm>
            <a:off x="7316233" y="2637134"/>
            <a:ext cx="1947686" cy="1448438"/>
          </a:xfrm>
          <a:prstGeom prst="roundRect">
            <a:avLst>
              <a:gd name="adj" fmla="val 5050"/>
            </a:avLst>
          </a:prstGeom>
          <a:solidFill>
            <a:srgbClr val="FFF0E6"/>
          </a:solidFill>
          <a:ln w="15240">
            <a:solidFill>
              <a:srgbClr val="D55E00"/>
            </a:solidFill>
            <a:prstDash val="solid"/>
          </a:ln>
        </p:spPr>
      </p:sp>
      <p:sp>
        <p:nvSpPr>
          <p:cNvPr id="24" name="Text 22"/>
          <p:cNvSpPr txBox="1"/>
          <p:nvPr/>
        </p:nvSpPr>
        <p:spPr>
          <a:xfrm>
            <a:off x="7377869" y="3099401"/>
            <a:ext cx="1824415" cy="232366"/>
          </a:xfrm>
          <a:prstGeom prst="rect">
            <a:avLst/>
          </a:prstGeom>
          <a:noFill/>
          <a:ln/>
        </p:spPr>
        <p:txBody>
          <a:bodyPr wrap="square" lIns="0" tIns="0" rIns="0" bIns="0" rtlCol="0" anchor="ctr"/>
          <a:lstStyle/>
          <a:p>
            <a:pPr algn="ctr" indent="0" marL="0">
              <a:lnSpc>
                <a:spcPct val="116000"/>
              </a:lnSpc>
              <a:buNone/>
            </a:pPr>
            <a:r>
              <a:rPr lang="en-US" sz="1577" b="1" dirty="0">
                <a:solidFill>
                  <a:srgbClr val="1E1B4B"/>
                </a:solidFill>
                <a:latin typeface="Arial" pitchFamily="34" charset="0"/>
                <a:ea typeface="Arial" pitchFamily="34" charset="-122"/>
                <a:cs typeface="Arial" pitchFamily="34" charset="-120"/>
              </a:rPr>
              <a:t>Evaluate</a:t>
            </a:r>
            <a:endParaRPr lang="en-US" sz="1577" dirty="0"/>
          </a:p>
        </p:txBody>
      </p:sp>
      <p:sp>
        <p:nvSpPr>
          <p:cNvPr id="25" name="Text 23"/>
          <p:cNvSpPr txBox="1"/>
          <p:nvPr/>
        </p:nvSpPr>
        <p:spPr>
          <a:xfrm>
            <a:off x="7377869" y="3408812"/>
            <a:ext cx="1824415" cy="214492"/>
          </a:xfrm>
          <a:prstGeom prst="rect">
            <a:avLst/>
          </a:prstGeom>
          <a:noFill/>
          <a:ln/>
        </p:spPr>
        <p:txBody>
          <a:bodyPr wrap="square" lIns="0" tIns="0" rIns="0" bIns="0" rtlCol="0" anchor="ctr"/>
          <a:lstStyle/>
          <a:p>
            <a:pPr algn="ctr" indent="0" marL="0">
              <a:lnSpc>
                <a:spcPct val="116000"/>
              </a:lnSpc>
              <a:buNone/>
            </a:pPr>
            <a:r>
              <a:rPr lang="en-US" sz="1456" dirty="0">
                <a:solidFill>
                  <a:srgbClr val="1F2937"/>
                </a:solidFill>
                <a:latin typeface="Arial" pitchFamily="34" charset="0"/>
                <a:ea typeface="Arial" pitchFamily="34" charset="-122"/>
                <a:cs typeface="Arial" pitchFamily="34" charset="-120"/>
              </a:rPr>
              <a:t>Held-out examples</a:t>
            </a:r>
            <a:endParaRPr lang="en-US" sz="1456" dirty="0"/>
          </a:p>
        </p:txBody>
      </p:sp>
      <p:sp>
        <p:nvSpPr>
          <p:cNvPr id="26" name="Shape 24"/>
          <p:cNvSpPr/>
          <p:nvPr/>
        </p:nvSpPr>
        <p:spPr>
          <a:xfrm>
            <a:off x="9510462" y="2637134"/>
            <a:ext cx="1947686" cy="1448438"/>
          </a:xfrm>
          <a:prstGeom prst="roundRect">
            <a:avLst>
              <a:gd name="adj" fmla="val 5050"/>
            </a:avLst>
          </a:prstGeom>
          <a:solidFill>
            <a:srgbClr val="FFF0E6"/>
          </a:solidFill>
          <a:ln w="15240">
            <a:solidFill>
              <a:srgbClr val="D55E00"/>
            </a:solidFill>
            <a:prstDash val="solid"/>
          </a:ln>
        </p:spPr>
      </p:sp>
      <p:sp>
        <p:nvSpPr>
          <p:cNvPr id="27" name="Text 25"/>
          <p:cNvSpPr txBox="1"/>
          <p:nvPr/>
        </p:nvSpPr>
        <p:spPr>
          <a:xfrm>
            <a:off x="9572098" y="3099401"/>
            <a:ext cx="1824415" cy="232366"/>
          </a:xfrm>
          <a:prstGeom prst="rect">
            <a:avLst/>
          </a:prstGeom>
          <a:noFill/>
          <a:ln/>
        </p:spPr>
        <p:txBody>
          <a:bodyPr wrap="square" lIns="0" tIns="0" rIns="0" bIns="0" rtlCol="0" anchor="ctr"/>
          <a:lstStyle/>
          <a:p>
            <a:pPr algn="ctr" indent="0" marL="0">
              <a:lnSpc>
                <a:spcPct val="116000"/>
              </a:lnSpc>
              <a:buNone/>
            </a:pPr>
            <a:r>
              <a:rPr lang="en-US" sz="1577" b="1" dirty="0">
                <a:solidFill>
                  <a:srgbClr val="1E1B4B"/>
                </a:solidFill>
                <a:latin typeface="Arial" pitchFamily="34" charset="0"/>
                <a:ea typeface="Arial" pitchFamily="34" charset="-122"/>
                <a:cs typeface="Arial" pitchFamily="34" charset="-120"/>
              </a:rPr>
              <a:t>Monitor</a:t>
            </a:r>
            <a:endParaRPr lang="en-US" sz="1577" dirty="0"/>
          </a:p>
        </p:txBody>
      </p:sp>
      <p:sp>
        <p:nvSpPr>
          <p:cNvPr id="28" name="Text 26"/>
          <p:cNvSpPr txBox="1"/>
          <p:nvPr/>
        </p:nvSpPr>
        <p:spPr>
          <a:xfrm>
            <a:off x="9572098" y="3408812"/>
            <a:ext cx="1824415" cy="214492"/>
          </a:xfrm>
          <a:prstGeom prst="rect">
            <a:avLst/>
          </a:prstGeom>
          <a:noFill/>
          <a:ln/>
        </p:spPr>
        <p:txBody>
          <a:bodyPr wrap="square" lIns="0" tIns="0" rIns="0" bIns="0" rtlCol="0" anchor="ctr"/>
          <a:lstStyle/>
          <a:p>
            <a:pPr algn="ctr" indent="0" marL="0">
              <a:lnSpc>
                <a:spcPct val="116000"/>
              </a:lnSpc>
              <a:buNone/>
            </a:pPr>
            <a:r>
              <a:rPr lang="en-US" sz="1456" dirty="0">
                <a:solidFill>
                  <a:srgbClr val="1F2937"/>
                </a:solidFill>
                <a:latin typeface="Arial" pitchFamily="34" charset="0"/>
                <a:ea typeface="Arial" pitchFamily="34" charset="-122"/>
                <a:cs typeface="Arial" pitchFamily="34" charset="-120"/>
              </a:rPr>
              <a:t>Changes</a:t>
            </a:r>
            <a:endParaRPr lang="en-US" sz="1456" dirty="0"/>
          </a:p>
        </p:txBody>
      </p:sp>
      <p:sp>
        <p:nvSpPr>
          <p:cNvPr id="29" name="Shape 27"/>
          <p:cNvSpPr/>
          <p:nvPr/>
        </p:nvSpPr>
        <p:spPr>
          <a:xfrm>
            <a:off x="733547" y="4355228"/>
            <a:ext cx="200316" cy="200316"/>
          </a:xfrm>
          <a:prstGeom prst="roundRect">
            <a:avLst>
              <a:gd name="adj" fmla="val 36518"/>
            </a:avLst>
          </a:prstGeom>
          <a:solidFill>
            <a:srgbClr val="FFF0E6"/>
          </a:solidFill>
          <a:ln w="15240">
            <a:solidFill>
              <a:srgbClr val="D55E00"/>
            </a:solidFill>
            <a:prstDash val="solid"/>
          </a:ln>
        </p:spPr>
      </p:sp>
      <p:sp>
        <p:nvSpPr>
          <p:cNvPr id="30" name="Text 28"/>
          <p:cNvSpPr txBox="1"/>
          <p:nvPr/>
        </p:nvSpPr>
        <p:spPr>
          <a:xfrm>
            <a:off x="995498" y="4332114"/>
            <a:ext cx="573185" cy="246543"/>
          </a:xfrm>
          <a:prstGeom prst="rect">
            <a:avLst/>
          </a:prstGeom>
          <a:noFill/>
          <a:ln/>
        </p:spPr>
        <p:txBody>
          <a:bodyPr wrap="square" lIns="0" tIns="0" rIns="0" bIns="0" rtlCol="0" anchor="ctr"/>
          <a:lstStyle/>
          <a:p>
            <a:pPr algn="l" indent="0" marL="0">
              <a:lnSpc>
                <a:spcPct val="116000"/>
              </a:lnSpc>
              <a:buNone/>
            </a:pPr>
            <a:r>
              <a:rPr lang="en-US" sz="1456" dirty="0">
                <a:solidFill>
                  <a:srgbClr val="1F2937"/>
                </a:solidFill>
                <a:latin typeface="Arial" pitchFamily="34" charset="0"/>
                <a:ea typeface="Arial" pitchFamily="34" charset="-122"/>
                <a:cs typeface="Arial" pitchFamily="34" charset="-120"/>
              </a:rPr>
              <a:t>Check</a:t>
            </a:r>
            <a:endParaRPr lang="en-US" sz="1456" dirty="0"/>
          </a:p>
        </p:txBody>
      </p:sp>
      <p:sp>
        <p:nvSpPr>
          <p:cNvPr id="31" name="Shape 29"/>
          <p:cNvSpPr/>
          <p:nvPr/>
        </p:nvSpPr>
        <p:spPr>
          <a:xfrm>
            <a:off x="1768999" y="4355228"/>
            <a:ext cx="200316" cy="200316"/>
          </a:xfrm>
          <a:prstGeom prst="rect">
            <a:avLst/>
          </a:prstGeom>
          <a:solidFill>
            <a:srgbClr val="F2F4F5"/>
          </a:solidFill>
          <a:ln w="15240">
            <a:solidFill>
              <a:srgbClr val="626B73"/>
            </a:solidFill>
            <a:prstDash val="solid"/>
          </a:ln>
        </p:spPr>
      </p:sp>
      <p:sp>
        <p:nvSpPr>
          <p:cNvPr id="32" name="Text 30"/>
          <p:cNvSpPr txBox="1"/>
          <p:nvPr/>
        </p:nvSpPr>
        <p:spPr>
          <a:xfrm>
            <a:off x="2030951" y="4332114"/>
            <a:ext cx="403049" cy="246543"/>
          </a:xfrm>
          <a:prstGeom prst="rect">
            <a:avLst/>
          </a:prstGeom>
          <a:noFill/>
          <a:ln/>
        </p:spPr>
        <p:txBody>
          <a:bodyPr wrap="square" lIns="0" tIns="0" rIns="0" bIns="0" rtlCol="0" anchor="ctr"/>
          <a:lstStyle/>
          <a:p>
            <a:pPr algn="l" indent="0" marL="0">
              <a:lnSpc>
                <a:spcPct val="116000"/>
              </a:lnSpc>
              <a:buNone/>
            </a:pPr>
            <a:r>
              <a:rPr lang="en-US" sz="1456" dirty="0">
                <a:solidFill>
                  <a:srgbClr val="1F2937"/>
                </a:solidFill>
                <a:latin typeface="Arial" pitchFamily="34" charset="0"/>
                <a:ea typeface="Arial" pitchFamily="34" charset="-122"/>
                <a:cs typeface="Arial" pitchFamily="34" charset="-120"/>
              </a:rPr>
              <a:t>Tool</a:t>
            </a:r>
            <a:endParaRPr lang="en-US" sz="1456" dirty="0"/>
          </a:p>
        </p:txBody>
      </p:sp>
      <p:sp>
        <p:nvSpPr>
          <p:cNvPr id="33" name="Shape 31"/>
          <p:cNvSpPr/>
          <p:nvPr/>
        </p:nvSpPr>
        <p:spPr>
          <a:xfrm>
            <a:off x="2634316" y="4455385"/>
            <a:ext cx="338996" cy="0"/>
          </a:xfrm>
          <a:prstGeom prst="line">
            <a:avLst/>
          </a:prstGeom>
          <a:noFill/>
          <a:ln w="22860">
            <a:solidFill>
              <a:srgbClr val="009E73"/>
            </a:solidFill>
            <a:prstDash val="solid"/>
            <a:tailEnd type="triangle"/>
          </a:ln>
        </p:spPr>
      </p:sp>
      <p:sp>
        <p:nvSpPr>
          <p:cNvPr id="34" name="Text 32"/>
          <p:cNvSpPr txBox="1"/>
          <p:nvPr/>
        </p:nvSpPr>
        <p:spPr>
          <a:xfrm>
            <a:off x="3034947" y="4332114"/>
            <a:ext cx="434818" cy="246543"/>
          </a:xfrm>
          <a:prstGeom prst="rect">
            <a:avLst/>
          </a:prstGeom>
          <a:noFill/>
          <a:ln/>
        </p:spPr>
        <p:txBody>
          <a:bodyPr wrap="square" lIns="0" tIns="0" rIns="0" bIns="0" rtlCol="0" anchor="ctr"/>
          <a:lstStyle/>
          <a:p>
            <a:pPr algn="l" indent="0" marL="0">
              <a:lnSpc>
                <a:spcPct val="116000"/>
              </a:lnSpc>
              <a:buNone/>
            </a:pPr>
            <a:r>
              <a:rPr lang="en-US" sz="1456" dirty="0">
                <a:solidFill>
                  <a:srgbClr val="1F2937"/>
                </a:solidFill>
                <a:latin typeface="Arial" pitchFamily="34" charset="0"/>
                <a:ea typeface="Arial" pitchFamily="34" charset="-122"/>
                <a:cs typeface="Arial" pitchFamily="34" charset="-120"/>
              </a:rPr>
              <a:t>Flow</a:t>
            </a:r>
            <a:endParaRPr lang="en-US" sz="1456" dirty="0"/>
          </a:p>
        </p:txBody>
      </p:sp>
      <p:sp>
        <p:nvSpPr>
          <p:cNvPr id="35" name="Shape 33"/>
          <p:cNvSpPr/>
          <p:nvPr/>
        </p:nvSpPr>
        <p:spPr>
          <a:xfrm>
            <a:off x="548640" y="5486400"/>
            <a:ext cx="11094415" cy="822960"/>
          </a:xfrm>
          <a:prstGeom prst="roundRect">
            <a:avLst>
              <a:gd name="adj" fmla="val 13333"/>
            </a:avLst>
          </a:prstGeom>
          <a:solidFill>
            <a:srgbClr val="FFF1E6"/>
          </a:solidFill>
          <a:ln w="12700">
            <a:solidFill>
              <a:srgbClr val="FFF1E6"/>
            </a:solidFill>
            <a:prstDash val="solid"/>
          </a:ln>
        </p:spPr>
      </p:sp>
      <p:sp>
        <p:nvSpPr>
          <p:cNvPr id="36" name="Text 34"/>
          <p:cNvSpPr txBox="1"/>
          <p:nvPr/>
        </p:nvSpPr>
        <p:spPr>
          <a:xfrm>
            <a:off x="777240" y="5486400"/>
            <a:ext cx="10637215" cy="822960"/>
          </a:xfrm>
          <a:prstGeom prst="rect">
            <a:avLst/>
          </a:prstGeom>
          <a:noFill/>
          <a:ln/>
        </p:spPr>
        <p:txBody>
          <a:bodyPr wrap="square" lIns="50800" tIns="50800" rIns="50800" bIns="50800" rtlCol="0" anchor="ctr"/>
          <a:lstStyle/>
          <a:p>
            <a:pPr indent="0" marL="0">
              <a:buNone/>
            </a:pPr>
            <a:r>
              <a:rPr lang="en-US" sz="2000" b="1" dirty="0">
                <a:solidFill>
                  <a:srgbClr val="EA580C"/>
                </a:solidFill>
                <a:latin typeface="Calibri" pitchFamily="34" charset="0"/>
                <a:ea typeface="Calibri" pitchFamily="34" charset="-122"/>
                <a:cs typeface="Calibri" pitchFamily="34" charset="-120"/>
              </a:rPr>
              <a:t>Key idea:  </a:t>
            </a:r>
            <a:pPr indent="0" marL="0">
              <a:buNone/>
            </a:pPr>
            <a:r>
              <a:rPr lang="en-US" sz="2000" dirty="0">
                <a:solidFill>
                  <a:srgbClr val="1F2937"/>
                </a:solidFill>
                <a:latin typeface="Calibri" pitchFamily="34" charset="0"/>
                <a:ea typeface="Calibri" pitchFamily="34" charset="-122"/>
                <a:cs typeface="Calibri" pitchFamily="34" charset="-120"/>
              </a:rPr>
              <a:t>Freeze choices before final testing.</a:t>
            </a:r>
            <a:endParaRPr lang="en-US" sz="2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06  ·  LARGE LANGUAGE MODELS (LLMS) AND FAMILIES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42</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Responsible AI lens: large language models</a:t>
            </a:r>
            <a:endParaRPr lang="en-US" sz="3200" dirty="0"/>
          </a:p>
        </p:txBody>
      </p:sp>
      <p:sp>
        <p:nvSpPr>
          <p:cNvPr id="6" name="Text 4"/>
          <p:cNvSpPr txBox="1"/>
          <p:nvPr/>
        </p:nvSpPr>
        <p:spPr>
          <a:xfrm>
            <a:off x="548640" y="1481328"/>
            <a:ext cx="4297680" cy="4828032"/>
          </a:xfrm>
          <a:prstGeom prst="rect">
            <a:avLst/>
          </a:prstGeom>
          <a:noFill/>
          <a:ln/>
        </p:spPr>
        <p:txBody>
          <a:bodyPr wrap="square" lIns="50800" tIns="50800" rIns="50800" bIns="50800" rtlCol="0" anchor="t"/>
          <a:lstStyle/>
          <a:p>
            <a:pPr marL="254000" indent="-254000">
              <a:spcAft>
                <a:spcPts val="800"/>
              </a:spcAft>
              <a:buSzPct val="100000"/>
              <a:buChar char="●"/>
            </a:pPr>
            <a:r>
              <a:rPr lang="en-US" sz="2600" dirty="0">
                <a:solidFill>
                  <a:srgbClr val="1F2937"/>
                </a:solidFill>
                <a:latin typeface="Calibri" pitchFamily="34" charset="0"/>
                <a:ea typeface="Calibri" pitchFamily="34" charset="-122"/>
                <a:cs typeface="Calibri" pitchFamily="34" charset="-120"/>
              </a:rPr>
              <a:t>Check data rights and licence.</a:t>
            </a:r>
            <a:endParaRPr lang="en-US" sz="2600" dirty="0"/>
          </a:p>
          <a:p>
            <a:pPr marL="254000" indent="-254000">
              <a:spcAft>
                <a:spcPts val="800"/>
              </a:spcAft>
              <a:buSzPct val="100000"/>
              <a:buChar char="●"/>
            </a:pPr>
            <a:r>
              <a:rPr lang="en-US" sz="2600" dirty="0">
                <a:solidFill>
                  <a:srgbClr val="1F2937"/>
                </a:solidFill>
                <a:latin typeface="Calibri" pitchFamily="34" charset="0"/>
                <a:ea typeface="Calibri" pitchFamily="34" charset="-122"/>
                <a:cs typeface="Calibri" pitchFamily="34" charset="-120"/>
              </a:rPr>
              <a:t>Record versions and review responsibility.</a:t>
            </a:r>
            <a:endParaRPr lang="en-US" sz="26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5257800" y="1481328"/>
          <a:ext cx="6385255" cy="914400"/>
        </p:xfrm>
        <a:graphic>
          <a:graphicData uri="http://schemas.openxmlformats.org/drawingml/2006/table">
            <a:tbl>
              <a:tblPr/>
              <a:tblGrid>
                <a:gridCol w="3192628"/>
                <a:gridCol w="3192628"/>
              </a:tblGrid>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Risk</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Check</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E1B4B"/>
                    </a:solidFill>
                  </a:tcPr>
                </a:tc>
              </a:tr>
              <a:tr h="0">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Bias</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Target groups</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r h="0">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Factual errors</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Verify claims</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0">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Privacy</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c>
                  <a:txBody>
                    <a:bodyPr/>
                    <a:lstStyle/>
                    <a:p>
                      <a:pPr indent="0" marL="0">
                        <a:buNone/>
                      </a:pPr>
                      <a:r>
                        <a:rPr lang="en-US" sz="2000" dirty="0">
                          <a:solidFill>
                            <a:srgbClr val="1F2937"/>
                          </a:solidFill>
                          <a:latin typeface="Calibri" pitchFamily="34" charset="0"/>
                          <a:ea typeface="Calibri" pitchFamily="34" charset="-122"/>
                          <a:cs typeface="Calibri" pitchFamily="34" charset="-120"/>
                        </a:rPr>
                        <a:t>Protect inputs</a:t>
                      </a:r>
                      <a:endParaRPr lang="en-US" sz="2000" dirty="0">
                        <a:latin typeface="Calibri" charset="0"/>
                        <a:ea typeface="Calibri" charset="0"/>
                        <a:cs typeface="Calibri" charset="0"/>
                      </a:endParaRPr>
                    </a:p>
                  </a:txBody>
                  <a:tcPr marL="73152" marR="73152" marT="73152" marB="7315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0FF"/>
                    </a:solidFill>
                  </a:tcPr>
                </a:tc>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06  ·  LARGE LANGUAGE MODELS (LLMS) AND FAMILIES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43</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Core generation and checking</a:t>
            </a:r>
            <a:endParaRPr lang="en-US" sz="3200" dirty="0"/>
          </a:p>
        </p:txBody>
      </p:sp>
      <p:sp>
        <p:nvSpPr>
          <p:cNvPr id="6" name="Text 4"/>
          <p:cNvSpPr txBox="1"/>
          <p:nvPr/>
        </p:nvSpPr>
        <p:spPr>
          <a:xfrm>
            <a:off x="548640" y="1463040"/>
            <a:ext cx="11094415" cy="384048"/>
          </a:xfrm>
          <a:prstGeom prst="rect">
            <a:avLst/>
          </a:prstGeom>
          <a:noFill/>
          <a:ln/>
        </p:spPr>
        <p:txBody>
          <a:bodyPr wrap="square" lIns="0" tIns="0" rIns="0" bIns="0" rtlCol="0" anchor="t"/>
          <a:lstStyle/>
          <a:p>
            <a:pPr indent="0" marL="0">
              <a:buNone/>
            </a:pPr>
            <a:r>
              <a:rPr lang="en-US" sz="1800" dirty="0">
                <a:solidFill>
                  <a:srgbClr val="6B7280"/>
                </a:solidFill>
                <a:latin typeface="Calibri" pitchFamily="34" charset="0"/>
                <a:ea typeface="Calibri" pitchFamily="34" charset="-122"/>
                <a:cs typeface="Calibri" pitchFamily="34" charset="-120"/>
              </a:rPr>
              <a:t>Fixed weights</a:t>
            </a:r>
            <a:endParaRPr lang="en-US" sz="1800" dirty="0"/>
          </a:p>
        </p:txBody>
      </p:sp>
      <p:sp>
        <p:nvSpPr>
          <p:cNvPr id="7" name="Shape 5"/>
          <p:cNvSpPr/>
          <p:nvPr/>
        </p:nvSpPr>
        <p:spPr>
          <a:xfrm>
            <a:off x="2095597" y="3838927"/>
            <a:ext cx="244024" cy="0"/>
          </a:xfrm>
          <a:prstGeom prst="line">
            <a:avLst/>
          </a:prstGeom>
          <a:noFill/>
          <a:ln w="22860">
            <a:solidFill>
              <a:srgbClr val="009E73"/>
            </a:solidFill>
            <a:prstDash val="solid"/>
            <a:tailEnd type="triangle"/>
          </a:ln>
        </p:spPr>
      </p:sp>
      <p:sp>
        <p:nvSpPr>
          <p:cNvPr id="8" name="Text 6"/>
          <p:cNvSpPr txBox="1"/>
          <p:nvPr/>
        </p:nvSpPr>
        <p:spPr>
          <a:xfrm>
            <a:off x="1464838" y="2665782"/>
            <a:ext cx="1505541"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text</a:t>
            </a:r>
            <a:endParaRPr lang="en-US" sz="1441" dirty="0"/>
          </a:p>
        </p:txBody>
      </p:sp>
      <p:sp>
        <p:nvSpPr>
          <p:cNvPr id="9" name="Shape 7"/>
          <p:cNvSpPr/>
          <p:nvPr/>
        </p:nvSpPr>
        <p:spPr>
          <a:xfrm>
            <a:off x="3646892" y="3838927"/>
            <a:ext cx="244024" cy="0"/>
          </a:xfrm>
          <a:prstGeom prst="line">
            <a:avLst/>
          </a:prstGeom>
          <a:noFill/>
          <a:ln w="22860">
            <a:solidFill>
              <a:srgbClr val="009E73"/>
            </a:solidFill>
            <a:prstDash val="solid"/>
            <a:tailEnd type="triangle"/>
          </a:ln>
        </p:spPr>
      </p:sp>
      <p:sp>
        <p:nvSpPr>
          <p:cNvPr id="10" name="Text 8"/>
          <p:cNvSpPr txBox="1"/>
          <p:nvPr/>
        </p:nvSpPr>
        <p:spPr>
          <a:xfrm>
            <a:off x="3016134" y="2665782"/>
            <a:ext cx="1505541"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IDs</a:t>
            </a:r>
            <a:endParaRPr lang="en-US" sz="1441" dirty="0"/>
          </a:p>
        </p:txBody>
      </p:sp>
      <p:sp>
        <p:nvSpPr>
          <p:cNvPr id="11" name="Shape 9"/>
          <p:cNvSpPr/>
          <p:nvPr/>
        </p:nvSpPr>
        <p:spPr>
          <a:xfrm>
            <a:off x="5198188" y="3838927"/>
            <a:ext cx="244024" cy="0"/>
          </a:xfrm>
          <a:prstGeom prst="line">
            <a:avLst/>
          </a:prstGeom>
          <a:noFill/>
          <a:ln w="22860">
            <a:solidFill>
              <a:srgbClr val="009E73"/>
            </a:solidFill>
            <a:prstDash val="solid"/>
            <a:tailEnd type="triangle"/>
          </a:ln>
        </p:spPr>
      </p:sp>
      <p:sp>
        <p:nvSpPr>
          <p:cNvPr id="12" name="Text 10"/>
          <p:cNvSpPr txBox="1"/>
          <p:nvPr/>
        </p:nvSpPr>
        <p:spPr>
          <a:xfrm>
            <a:off x="4567429" y="2665782"/>
            <a:ext cx="1505541"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scores</a:t>
            </a:r>
            <a:endParaRPr lang="en-US" sz="1441" dirty="0"/>
          </a:p>
        </p:txBody>
      </p:sp>
      <p:sp>
        <p:nvSpPr>
          <p:cNvPr id="13" name="Shape 11"/>
          <p:cNvSpPr/>
          <p:nvPr/>
        </p:nvSpPr>
        <p:spPr>
          <a:xfrm>
            <a:off x="6749483" y="3838927"/>
            <a:ext cx="244024" cy="0"/>
          </a:xfrm>
          <a:prstGeom prst="line">
            <a:avLst/>
          </a:prstGeom>
          <a:noFill/>
          <a:ln w="22860">
            <a:solidFill>
              <a:srgbClr val="009E73"/>
            </a:solidFill>
            <a:prstDash val="solid"/>
            <a:tailEnd type="triangle"/>
          </a:ln>
        </p:spPr>
      </p:sp>
      <p:sp>
        <p:nvSpPr>
          <p:cNvPr id="14" name="Text 12"/>
          <p:cNvSpPr txBox="1"/>
          <p:nvPr/>
        </p:nvSpPr>
        <p:spPr>
          <a:xfrm>
            <a:off x="6118725" y="2665782"/>
            <a:ext cx="1505541"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ID</a:t>
            </a:r>
            <a:endParaRPr lang="en-US" sz="1441" dirty="0"/>
          </a:p>
        </p:txBody>
      </p:sp>
      <p:sp>
        <p:nvSpPr>
          <p:cNvPr id="15" name="Shape 13"/>
          <p:cNvSpPr/>
          <p:nvPr/>
        </p:nvSpPr>
        <p:spPr>
          <a:xfrm>
            <a:off x="8300779" y="3838927"/>
            <a:ext cx="244024" cy="0"/>
          </a:xfrm>
          <a:prstGeom prst="line">
            <a:avLst/>
          </a:prstGeom>
          <a:noFill/>
          <a:ln w="22860">
            <a:solidFill>
              <a:srgbClr val="009E73"/>
            </a:solidFill>
            <a:prstDash val="solid"/>
            <a:tailEnd type="triangle"/>
          </a:ln>
        </p:spPr>
      </p:sp>
      <p:sp>
        <p:nvSpPr>
          <p:cNvPr id="16" name="Text 14"/>
          <p:cNvSpPr txBox="1"/>
          <p:nvPr/>
        </p:nvSpPr>
        <p:spPr>
          <a:xfrm>
            <a:off x="7670020" y="2665782"/>
            <a:ext cx="1505541"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prefix</a:t>
            </a:r>
            <a:endParaRPr lang="en-US" sz="1441" dirty="0"/>
          </a:p>
        </p:txBody>
      </p:sp>
      <p:sp>
        <p:nvSpPr>
          <p:cNvPr id="17" name="Shape 15"/>
          <p:cNvSpPr/>
          <p:nvPr/>
        </p:nvSpPr>
        <p:spPr>
          <a:xfrm>
            <a:off x="9852075" y="3838927"/>
            <a:ext cx="244024" cy="0"/>
          </a:xfrm>
          <a:prstGeom prst="line">
            <a:avLst/>
          </a:prstGeom>
          <a:noFill/>
          <a:ln w="22860">
            <a:solidFill>
              <a:srgbClr val="009E73"/>
            </a:solidFill>
            <a:prstDash val="solid"/>
            <a:tailEnd type="triangle"/>
          </a:ln>
        </p:spPr>
      </p:sp>
      <p:sp>
        <p:nvSpPr>
          <p:cNvPr id="18" name="Text 16"/>
          <p:cNvSpPr txBox="1"/>
          <p:nvPr/>
        </p:nvSpPr>
        <p:spPr>
          <a:xfrm>
            <a:off x="9221316" y="2665782"/>
            <a:ext cx="1505541" cy="212301"/>
          </a:xfrm>
          <a:prstGeom prst="rect">
            <a:avLst/>
          </a:prstGeom>
          <a:noFill/>
          <a:ln/>
        </p:spPr>
        <p:txBody>
          <a:bodyPr wrap="square" lIns="0" tIns="0" rIns="0" bIns="0" rtlCol="0" anchor="ctr"/>
          <a:lstStyle/>
          <a:p>
            <a:pPr algn="ctr" indent="0" marL="0">
              <a:lnSpc>
                <a:spcPct val="116000"/>
              </a:lnSpc>
              <a:buNone/>
            </a:pPr>
            <a:r>
              <a:rPr lang="en-US" sz="1441" dirty="0">
                <a:solidFill>
                  <a:srgbClr val="0072B2"/>
                </a:solidFill>
                <a:latin typeface="Arial" pitchFamily="34" charset="0"/>
                <a:ea typeface="Arial" pitchFamily="34" charset="-122"/>
                <a:cs typeface="Arial" pitchFamily="34" charset="-120"/>
              </a:rPr>
              <a:t>reply</a:t>
            </a:r>
            <a:endParaRPr lang="en-US" sz="1441" dirty="0"/>
          </a:p>
        </p:txBody>
      </p:sp>
      <p:sp>
        <p:nvSpPr>
          <p:cNvPr id="19" name="Shape 17"/>
          <p:cNvSpPr/>
          <p:nvPr/>
        </p:nvSpPr>
        <p:spPr>
          <a:xfrm flipV="1">
            <a:off x="7647143" y="2191765"/>
            <a:ext cx="0" cy="747324"/>
          </a:xfrm>
          <a:prstGeom prst="line">
            <a:avLst/>
          </a:prstGeom>
          <a:noFill/>
          <a:ln w="22860">
            <a:solidFill>
              <a:srgbClr val="D55E00"/>
            </a:solidFill>
            <a:prstDash val="dash"/>
          </a:ln>
        </p:spPr>
      </p:sp>
      <p:sp>
        <p:nvSpPr>
          <p:cNvPr id="20" name="Shape 18"/>
          <p:cNvSpPr/>
          <p:nvPr/>
        </p:nvSpPr>
        <p:spPr>
          <a:xfrm flipH="1">
            <a:off x="4544552" y="2191765"/>
            <a:ext cx="3102591" cy="0"/>
          </a:xfrm>
          <a:prstGeom prst="line">
            <a:avLst/>
          </a:prstGeom>
          <a:noFill/>
          <a:ln w="22860">
            <a:solidFill>
              <a:srgbClr val="D55E00"/>
            </a:solidFill>
            <a:prstDash val="dash"/>
          </a:ln>
        </p:spPr>
      </p:sp>
      <p:sp>
        <p:nvSpPr>
          <p:cNvPr id="21" name="Shape 19"/>
          <p:cNvSpPr/>
          <p:nvPr/>
        </p:nvSpPr>
        <p:spPr>
          <a:xfrm>
            <a:off x="4544552" y="2191765"/>
            <a:ext cx="0" cy="747324"/>
          </a:xfrm>
          <a:prstGeom prst="line">
            <a:avLst/>
          </a:prstGeom>
          <a:noFill/>
          <a:ln w="22860">
            <a:solidFill>
              <a:srgbClr val="D55E00"/>
            </a:solidFill>
            <a:prstDash val="dash"/>
            <a:tailEnd type="triangle"/>
          </a:ln>
        </p:spPr>
      </p:sp>
      <p:sp>
        <p:nvSpPr>
          <p:cNvPr id="22" name="Text 20"/>
          <p:cNvSpPr txBox="1"/>
          <p:nvPr/>
        </p:nvSpPr>
        <p:spPr>
          <a:xfrm>
            <a:off x="5759994" y="1917238"/>
            <a:ext cx="671708" cy="228773"/>
          </a:xfrm>
          <a:prstGeom prst="rect">
            <a:avLst/>
          </a:prstGeom>
          <a:noFill/>
          <a:ln/>
        </p:spPr>
        <p:txBody>
          <a:bodyPr wrap="square" lIns="0" tIns="0" rIns="0" bIns="0" rtlCol="0" anchor="ctr"/>
          <a:lstStyle/>
          <a:p>
            <a:pPr algn="ctr" indent="0" marL="0">
              <a:lnSpc>
                <a:spcPct val="116000"/>
              </a:lnSpc>
              <a:buNone/>
            </a:pPr>
            <a:r>
              <a:rPr lang="en-US" sz="1441" dirty="0">
                <a:solidFill>
                  <a:srgbClr val="A64200"/>
                </a:solidFill>
                <a:latin typeface="Arial" pitchFamily="34" charset="0"/>
                <a:ea typeface="Arial" pitchFamily="34" charset="-122"/>
                <a:cs typeface="Arial" pitchFamily="34" charset="-120"/>
              </a:rPr>
              <a:t>Repeat</a:t>
            </a:r>
            <a:endParaRPr lang="en-US" sz="1441" dirty="0"/>
          </a:p>
        </p:txBody>
      </p:sp>
      <p:sp>
        <p:nvSpPr>
          <p:cNvPr id="23" name="Shape 21"/>
          <p:cNvSpPr/>
          <p:nvPr/>
        </p:nvSpPr>
        <p:spPr>
          <a:xfrm>
            <a:off x="788325" y="2939089"/>
            <a:ext cx="1307272" cy="1799677"/>
          </a:xfrm>
          <a:prstGeom prst="roundRect">
            <a:avLst>
              <a:gd name="adj" fmla="val 5596"/>
            </a:avLst>
          </a:prstGeom>
          <a:solidFill>
            <a:srgbClr val="E4F2FB"/>
          </a:solidFill>
          <a:ln w="15240">
            <a:solidFill>
              <a:srgbClr val="0072B2"/>
            </a:solidFill>
            <a:prstDash val="solid"/>
          </a:ln>
        </p:spPr>
      </p:sp>
      <p:sp>
        <p:nvSpPr>
          <p:cNvPr id="24" name="Text 22"/>
          <p:cNvSpPr txBox="1"/>
          <p:nvPr/>
        </p:nvSpPr>
        <p:spPr>
          <a:xfrm>
            <a:off x="849331" y="3579652"/>
            <a:ext cx="1185260"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Text</a:t>
            </a:r>
            <a:endParaRPr lang="en-US" sz="1561" dirty="0"/>
          </a:p>
        </p:txBody>
      </p:sp>
      <p:sp>
        <p:nvSpPr>
          <p:cNvPr id="25" name="Text 23"/>
          <p:cNvSpPr txBox="1"/>
          <p:nvPr/>
        </p:nvSpPr>
        <p:spPr>
          <a:xfrm>
            <a:off x="849331" y="3885902"/>
            <a:ext cx="1185260"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fixed prompt</a:t>
            </a:r>
            <a:endParaRPr lang="en-US" sz="1441" dirty="0"/>
          </a:p>
        </p:txBody>
      </p:sp>
      <p:sp>
        <p:nvSpPr>
          <p:cNvPr id="26" name="Shape 24"/>
          <p:cNvSpPr/>
          <p:nvPr/>
        </p:nvSpPr>
        <p:spPr>
          <a:xfrm>
            <a:off x="2339621" y="2939089"/>
            <a:ext cx="1307272" cy="1799677"/>
          </a:xfrm>
          <a:prstGeom prst="rect">
            <a:avLst/>
          </a:prstGeom>
          <a:solidFill>
            <a:srgbClr val="F2F4F5"/>
          </a:solidFill>
          <a:ln w="15240">
            <a:solidFill>
              <a:srgbClr val="626B73"/>
            </a:solidFill>
            <a:prstDash val="solid"/>
          </a:ln>
        </p:spPr>
      </p:sp>
      <p:sp>
        <p:nvSpPr>
          <p:cNvPr id="27" name="Text 25"/>
          <p:cNvSpPr txBox="1"/>
          <p:nvPr/>
        </p:nvSpPr>
        <p:spPr>
          <a:xfrm>
            <a:off x="2400627" y="3579652"/>
            <a:ext cx="1185260"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Tokenise</a:t>
            </a:r>
            <a:endParaRPr lang="en-US" sz="1561" dirty="0"/>
          </a:p>
        </p:txBody>
      </p:sp>
      <p:sp>
        <p:nvSpPr>
          <p:cNvPr id="28" name="Text 26"/>
          <p:cNvSpPr txBox="1"/>
          <p:nvPr/>
        </p:nvSpPr>
        <p:spPr>
          <a:xfrm>
            <a:off x="2400627" y="3885902"/>
            <a:ext cx="1185260"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[1,L]</a:t>
            </a:r>
            <a:endParaRPr lang="en-US" sz="1441" dirty="0"/>
          </a:p>
        </p:txBody>
      </p:sp>
      <p:sp>
        <p:nvSpPr>
          <p:cNvPr id="29" name="Shape 27"/>
          <p:cNvSpPr/>
          <p:nvPr/>
        </p:nvSpPr>
        <p:spPr>
          <a:xfrm>
            <a:off x="3890916" y="2939089"/>
            <a:ext cx="1307272" cy="1799677"/>
          </a:xfrm>
          <a:prstGeom prst="rect">
            <a:avLst/>
          </a:prstGeom>
          <a:solidFill>
            <a:srgbClr val="E5F7EF"/>
          </a:solidFill>
          <a:ln w="15240">
            <a:solidFill>
              <a:srgbClr val="009E73"/>
            </a:solidFill>
            <a:prstDash val="solid"/>
          </a:ln>
        </p:spPr>
      </p:sp>
      <p:sp>
        <p:nvSpPr>
          <p:cNvPr id="30" name="Text 28"/>
          <p:cNvSpPr txBox="1"/>
          <p:nvPr/>
        </p:nvSpPr>
        <p:spPr>
          <a:xfrm>
            <a:off x="3951922" y="3442998"/>
            <a:ext cx="1185260"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Predict</a:t>
            </a:r>
            <a:endParaRPr lang="en-US" sz="1561" dirty="0"/>
          </a:p>
        </p:txBody>
      </p:sp>
      <p:sp>
        <p:nvSpPr>
          <p:cNvPr id="31" name="Text 29"/>
          <p:cNvSpPr txBox="1"/>
          <p:nvPr/>
        </p:nvSpPr>
        <p:spPr>
          <a:xfrm>
            <a:off x="3951922" y="3749248"/>
            <a:ext cx="1185260"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[V]</a:t>
            </a:r>
            <a:endParaRPr lang="en-US" sz="1441" dirty="0"/>
          </a:p>
        </p:txBody>
      </p:sp>
      <p:sp>
        <p:nvSpPr>
          <p:cNvPr id="32" name="Text 30"/>
          <p:cNvSpPr txBox="1"/>
          <p:nvPr/>
        </p:nvSpPr>
        <p:spPr>
          <a:xfrm>
            <a:off x="3913793" y="4022555"/>
            <a:ext cx="1261517" cy="212301"/>
          </a:xfrm>
          <a:prstGeom prst="rect">
            <a:avLst/>
          </a:prstGeom>
          <a:noFill/>
          <a:ln/>
        </p:spPr>
        <p:txBody>
          <a:bodyPr wrap="square" lIns="0" tIns="0" rIns="0" bIns="0" rtlCol="0" anchor="ctr"/>
          <a:lstStyle/>
          <a:p>
            <a:pPr algn="ctr" indent="0" marL="0">
              <a:lnSpc>
                <a:spcPct val="116000"/>
              </a:lnSpc>
              <a:buNone/>
            </a:pPr>
            <a:r>
              <a:rPr lang="en-US" sz="1441" dirty="0">
                <a:solidFill>
                  <a:srgbClr val="0F766E"/>
                </a:solidFill>
                <a:latin typeface="Arial" pitchFamily="34" charset="0"/>
                <a:ea typeface="Arial" pitchFamily="34" charset="-122"/>
                <a:cs typeface="Arial" pitchFamily="34" charset="-120"/>
              </a:rPr>
              <a:t>dec</a:t>
            </a:r>
            <a:endParaRPr lang="en-US" sz="1441" dirty="0"/>
          </a:p>
        </p:txBody>
      </p:sp>
      <p:sp>
        <p:nvSpPr>
          <p:cNvPr id="33" name="Shape 31"/>
          <p:cNvSpPr/>
          <p:nvPr/>
        </p:nvSpPr>
        <p:spPr>
          <a:xfrm>
            <a:off x="5442212" y="2939089"/>
            <a:ext cx="1307272" cy="1799677"/>
          </a:xfrm>
          <a:prstGeom prst="rect">
            <a:avLst/>
          </a:prstGeom>
          <a:solidFill>
            <a:srgbClr val="F2F4F5"/>
          </a:solidFill>
          <a:ln w="15240">
            <a:solidFill>
              <a:srgbClr val="626B73"/>
            </a:solidFill>
            <a:prstDash val="solid"/>
          </a:ln>
        </p:spPr>
      </p:sp>
      <p:sp>
        <p:nvSpPr>
          <p:cNvPr id="34" name="Text 32"/>
          <p:cNvSpPr txBox="1"/>
          <p:nvPr/>
        </p:nvSpPr>
        <p:spPr>
          <a:xfrm>
            <a:off x="5503218" y="3473501"/>
            <a:ext cx="1185260"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Select</a:t>
            </a:r>
            <a:endParaRPr lang="en-US" sz="1561" dirty="0"/>
          </a:p>
        </p:txBody>
      </p:sp>
      <p:sp>
        <p:nvSpPr>
          <p:cNvPr id="35" name="Text 33"/>
          <p:cNvSpPr txBox="1"/>
          <p:nvPr/>
        </p:nvSpPr>
        <p:spPr>
          <a:xfrm>
            <a:off x="5503218" y="3779751"/>
            <a:ext cx="1185260"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greedy or</a:t>
            </a:r>
            <a:endParaRPr lang="en-US" sz="1441" dirty="0"/>
          </a:p>
        </p:txBody>
      </p:sp>
      <p:sp>
        <p:nvSpPr>
          <p:cNvPr id="36" name="Text 34"/>
          <p:cNvSpPr txBox="1"/>
          <p:nvPr/>
        </p:nvSpPr>
        <p:spPr>
          <a:xfrm>
            <a:off x="5503218" y="3992052"/>
            <a:ext cx="1185260"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sample</a:t>
            </a:r>
            <a:endParaRPr lang="en-US" sz="1441" dirty="0"/>
          </a:p>
        </p:txBody>
      </p:sp>
      <p:sp>
        <p:nvSpPr>
          <p:cNvPr id="37" name="Shape 35"/>
          <p:cNvSpPr/>
          <p:nvPr/>
        </p:nvSpPr>
        <p:spPr>
          <a:xfrm>
            <a:off x="6993507" y="2939089"/>
            <a:ext cx="1307272" cy="1799677"/>
          </a:xfrm>
          <a:prstGeom prst="rect">
            <a:avLst/>
          </a:prstGeom>
          <a:solidFill>
            <a:srgbClr val="F2F4F5"/>
          </a:solidFill>
          <a:ln w="15240">
            <a:solidFill>
              <a:srgbClr val="626B73"/>
            </a:solidFill>
            <a:prstDash val="solid"/>
          </a:ln>
        </p:spPr>
      </p:sp>
      <p:sp>
        <p:nvSpPr>
          <p:cNvPr id="38" name="Text 36"/>
          <p:cNvSpPr txBox="1"/>
          <p:nvPr/>
        </p:nvSpPr>
        <p:spPr>
          <a:xfrm>
            <a:off x="7054513" y="3579652"/>
            <a:ext cx="1185260"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Append</a:t>
            </a:r>
            <a:endParaRPr lang="en-US" sz="1561" dirty="0"/>
          </a:p>
        </p:txBody>
      </p:sp>
      <p:sp>
        <p:nvSpPr>
          <p:cNvPr id="39" name="Text 37"/>
          <p:cNvSpPr txBox="1"/>
          <p:nvPr/>
        </p:nvSpPr>
        <p:spPr>
          <a:xfrm>
            <a:off x="7054513" y="3885902"/>
            <a:ext cx="1185260"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ID</a:t>
            </a:r>
            <a:endParaRPr lang="en-US" sz="1441" dirty="0"/>
          </a:p>
        </p:txBody>
      </p:sp>
      <p:sp>
        <p:nvSpPr>
          <p:cNvPr id="40" name="Shape 38"/>
          <p:cNvSpPr/>
          <p:nvPr/>
        </p:nvSpPr>
        <p:spPr>
          <a:xfrm>
            <a:off x="8544803" y="2939089"/>
            <a:ext cx="1307272" cy="1799677"/>
          </a:xfrm>
          <a:prstGeom prst="rect">
            <a:avLst/>
          </a:prstGeom>
          <a:solidFill>
            <a:srgbClr val="F2F4F5"/>
          </a:solidFill>
          <a:ln w="15240">
            <a:solidFill>
              <a:srgbClr val="626B73"/>
            </a:solidFill>
            <a:prstDash val="solid"/>
          </a:ln>
        </p:spPr>
      </p:sp>
      <p:sp>
        <p:nvSpPr>
          <p:cNvPr id="41" name="Text 39"/>
          <p:cNvSpPr txBox="1"/>
          <p:nvPr/>
        </p:nvSpPr>
        <p:spPr>
          <a:xfrm>
            <a:off x="8605809" y="3579652"/>
            <a:ext cx="1185260"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Decode</a:t>
            </a:r>
            <a:endParaRPr lang="en-US" sz="1561" dirty="0"/>
          </a:p>
        </p:txBody>
      </p:sp>
      <p:sp>
        <p:nvSpPr>
          <p:cNvPr id="42" name="Text 40"/>
          <p:cNvSpPr txBox="1"/>
          <p:nvPr/>
        </p:nvSpPr>
        <p:spPr>
          <a:xfrm>
            <a:off x="8605809" y="3885902"/>
            <a:ext cx="1185260"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text</a:t>
            </a:r>
            <a:endParaRPr lang="en-US" sz="1441" dirty="0"/>
          </a:p>
        </p:txBody>
      </p:sp>
      <p:sp>
        <p:nvSpPr>
          <p:cNvPr id="43" name="Shape 41"/>
          <p:cNvSpPr/>
          <p:nvPr/>
        </p:nvSpPr>
        <p:spPr>
          <a:xfrm>
            <a:off x="10096099" y="2939089"/>
            <a:ext cx="1307272" cy="1799677"/>
          </a:xfrm>
          <a:prstGeom prst="roundRect">
            <a:avLst>
              <a:gd name="adj" fmla="val 5596"/>
            </a:avLst>
          </a:prstGeom>
          <a:solidFill>
            <a:srgbClr val="FFF0E6"/>
          </a:solidFill>
          <a:ln w="15240">
            <a:solidFill>
              <a:srgbClr val="D55E00"/>
            </a:solidFill>
            <a:prstDash val="solid"/>
          </a:ln>
        </p:spPr>
      </p:sp>
      <p:sp>
        <p:nvSpPr>
          <p:cNvPr id="44" name="Text 42"/>
          <p:cNvSpPr txBox="1"/>
          <p:nvPr/>
        </p:nvSpPr>
        <p:spPr>
          <a:xfrm>
            <a:off x="10157105" y="3579652"/>
            <a:ext cx="1185260" cy="229993"/>
          </a:xfrm>
          <a:prstGeom prst="rect">
            <a:avLst/>
          </a:prstGeom>
          <a:noFill/>
          <a:ln/>
        </p:spPr>
        <p:txBody>
          <a:bodyPr wrap="square" lIns="0" tIns="0" rIns="0" bIns="0" rtlCol="0" anchor="ctr"/>
          <a:lstStyle/>
          <a:p>
            <a:pPr algn="ctr" indent="0" marL="0">
              <a:lnSpc>
                <a:spcPct val="116000"/>
              </a:lnSpc>
              <a:buNone/>
            </a:pPr>
            <a:r>
              <a:rPr lang="en-US" sz="1561" b="1" dirty="0">
                <a:solidFill>
                  <a:srgbClr val="1E1B4B"/>
                </a:solidFill>
                <a:latin typeface="Arial" pitchFamily="34" charset="0"/>
                <a:ea typeface="Arial" pitchFamily="34" charset="-122"/>
                <a:cs typeface="Arial" pitchFamily="34" charset="-120"/>
              </a:rPr>
              <a:t>Check</a:t>
            </a:r>
            <a:endParaRPr lang="en-US" sz="1561" dirty="0"/>
          </a:p>
        </p:txBody>
      </p:sp>
      <p:sp>
        <p:nvSpPr>
          <p:cNvPr id="45" name="Text 43"/>
          <p:cNvSpPr txBox="1"/>
          <p:nvPr/>
        </p:nvSpPr>
        <p:spPr>
          <a:xfrm>
            <a:off x="10157105" y="3885902"/>
            <a:ext cx="1185260" cy="212301"/>
          </a:xfrm>
          <a:prstGeom prst="rect">
            <a:avLst/>
          </a:prstGeom>
          <a:noFill/>
          <a:ln/>
        </p:spPr>
        <p:txBody>
          <a:bodyPr wrap="square" lIns="0" tIns="0" rIns="0" bIns="0" rtlCol="0" anchor="ctr"/>
          <a:lstStyle/>
          <a:p>
            <a:pPr algn="ctr" indent="0" marL="0">
              <a:lnSpc>
                <a:spcPct val="116000"/>
              </a:lnSpc>
              <a:buNone/>
            </a:pPr>
            <a:r>
              <a:rPr lang="en-US" sz="1441" dirty="0">
                <a:solidFill>
                  <a:srgbClr val="1F2937"/>
                </a:solidFill>
                <a:latin typeface="Arial" pitchFamily="34" charset="0"/>
                <a:ea typeface="Arial" pitchFamily="34" charset="-122"/>
                <a:cs typeface="Arial" pitchFamily="34" charset="-120"/>
              </a:rPr>
              <a:t>task fit</a:t>
            </a:r>
            <a:endParaRPr lang="en-US" sz="1441" dirty="0"/>
          </a:p>
        </p:txBody>
      </p:sp>
      <p:sp>
        <p:nvSpPr>
          <p:cNvPr id="46" name="Shape 44"/>
          <p:cNvSpPr/>
          <p:nvPr/>
        </p:nvSpPr>
        <p:spPr>
          <a:xfrm>
            <a:off x="788325" y="5630979"/>
            <a:ext cx="198270" cy="198270"/>
          </a:xfrm>
          <a:prstGeom prst="roundRect">
            <a:avLst>
              <a:gd name="adj" fmla="val 36895"/>
            </a:avLst>
          </a:prstGeom>
          <a:solidFill>
            <a:srgbClr val="E4F2FB"/>
          </a:solidFill>
          <a:ln w="15240">
            <a:solidFill>
              <a:srgbClr val="0072B2"/>
            </a:solidFill>
            <a:prstDash val="solid"/>
          </a:ln>
        </p:spPr>
      </p:sp>
      <p:sp>
        <p:nvSpPr>
          <p:cNvPr id="47" name="Text 45"/>
          <p:cNvSpPr txBox="1"/>
          <p:nvPr/>
        </p:nvSpPr>
        <p:spPr>
          <a:xfrm>
            <a:off x="1047600" y="5608101"/>
            <a:ext cx="430566"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Data</a:t>
            </a:r>
            <a:endParaRPr lang="en-US" sz="1441" dirty="0"/>
          </a:p>
        </p:txBody>
      </p:sp>
      <p:sp>
        <p:nvSpPr>
          <p:cNvPr id="48" name="Shape 46"/>
          <p:cNvSpPr/>
          <p:nvPr/>
        </p:nvSpPr>
        <p:spPr>
          <a:xfrm>
            <a:off x="1676436" y="5630979"/>
            <a:ext cx="198270" cy="198270"/>
          </a:xfrm>
          <a:prstGeom prst="rect">
            <a:avLst/>
          </a:prstGeom>
          <a:solidFill>
            <a:srgbClr val="E5F7EF"/>
          </a:solidFill>
          <a:ln w="15240">
            <a:solidFill>
              <a:srgbClr val="009E73"/>
            </a:solidFill>
            <a:prstDash val="solid"/>
          </a:ln>
        </p:spPr>
      </p:sp>
      <p:sp>
        <p:nvSpPr>
          <p:cNvPr id="49" name="Text 47"/>
          <p:cNvSpPr txBox="1"/>
          <p:nvPr/>
        </p:nvSpPr>
        <p:spPr>
          <a:xfrm>
            <a:off x="1935711" y="5608101"/>
            <a:ext cx="546304"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Model</a:t>
            </a:r>
            <a:endParaRPr lang="en-US" sz="1441" dirty="0"/>
          </a:p>
        </p:txBody>
      </p:sp>
      <p:sp>
        <p:nvSpPr>
          <p:cNvPr id="50" name="Shape 48"/>
          <p:cNvSpPr/>
          <p:nvPr/>
        </p:nvSpPr>
        <p:spPr>
          <a:xfrm>
            <a:off x="2680284" y="5630979"/>
            <a:ext cx="198270" cy="198270"/>
          </a:xfrm>
          <a:prstGeom prst="roundRect">
            <a:avLst>
              <a:gd name="adj" fmla="val 36895"/>
            </a:avLst>
          </a:prstGeom>
          <a:solidFill>
            <a:srgbClr val="FFF0E6"/>
          </a:solidFill>
          <a:ln w="15240">
            <a:solidFill>
              <a:srgbClr val="D55E00"/>
            </a:solidFill>
            <a:prstDash val="solid"/>
          </a:ln>
        </p:spPr>
      </p:sp>
      <p:sp>
        <p:nvSpPr>
          <p:cNvPr id="51" name="Text 49"/>
          <p:cNvSpPr txBox="1"/>
          <p:nvPr/>
        </p:nvSpPr>
        <p:spPr>
          <a:xfrm>
            <a:off x="2939560" y="5608101"/>
            <a:ext cx="567330"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Check</a:t>
            </a:r>
            <a:endParaRPr lang="en-US" sz="1441" dirty="0"/>
          </a:p>
        </p:txBody>
      </p:sp>
      <p:sp>
        <p:nvSpPr>
          <p:cNvPr id="52" name="Shape 50"/>
          <p:cNvSpPr/>
          <p:nvPr/>
        </p:nvSpPr>
        <p:spPr>
          <a:xfrm>
            <a:off x="3705159" y="5630979"/>
            <a:ext cx="198270" cy="198270"/>
          </a:xfrm>
          <a:prstGeom prst="rect">
            <a:avLst/>
          </a:prstGeom>
          <a:solidFill>
            <a:srgbClr val="F2F4F5"/>
          </a:solidFill>
          <a:ln w="15240">
            <a:solidFill>
              <a:srgbClr val="626B73"/>
            </a:solidFill>
            <a:prstDash val="solid"/>
          </a:ln>
        </p:spPr>
      </p:sp>
      <p:sp>
        <p:nvSpPr>
          <p:cNvPr id="53" name="Text 51"/>
          <p:cNvSpPr txBox="1"/>
          <p:nvPr/>
        </p:nvSpPr>
        <p:spPr>
          <a:xfrm>
            <a:off x="3964435" y="5608101"/>
            <a:ext cx="398932"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Tool</a:t>
            </a:r>
            <a:endParaRPr lang="en-US" sz="1441" dirty="0"/>
          </a:p>
        </p:txBody>
      </p:sp>
      <p:sp>
        <p:nvSpPr>
          <p:cNvPr id="54" name="Shape 52"/>
          <p:cNvSpPr/>
          <p:nvPr/>
        </p:nvSpPr>
        <p:spPr>
          <a:xfrm>
            <a:off x="4561636" y="5730113"/>
            <a:ext cx="335533" cy="0"/>
          </a:xfrm>
          <a:prstGeom prst="line">
            <a:avLst/>
          </a:prstGeom>
          <a:noFill/>
          <a:ln w="22860">
            <a:solidFill>
              <a:srgbClr val="009E73"/>
            </a:solidFill>
            <a:prstDash val="solid"/>
            <a:tailEnd type="triangle"/>
          </a:ln>
        </p:spPr>
      </p:sp>
      <p:sp>
        <p:nvSpPr>
          <p:cNvPr id="55" name="Text 53"/>
          <p:cNvSpPr txBox="1"/>
          <p:nvPr/>
        </p:nvSpPr>
        <p:spPr>
          <a:xfrm>
            <a:off x="4958175" y="5608101"/>
            <a:ext cx="430376"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Flow</a:t>
            </a:r>
            <a:endParaRPr lang="en-US" sz="1441" dirty="0"/>
          </a:p>
        </p:txBody>
      </p:sp>
      <p:sp>
        <p:nvSpPr>
          <p:cNvPr id="56" name="Shape 54"/>
          <p:cNvSpPr/>
          <p:nvPr/>
        </p:nvSpPr>
        <p:spPr>
          <a:xfrm>
            <a:off x="5586821" y="5730113"/>
            <a:ext cx="335533" cy="0"/>
          </a:xfrm>
          <a:prstGeom prst="line">
            <a:avLst/>
          </a:prstGeom>
          <a:noFill/>
          <a:ln w="22860">
            <a:solidFill>
              <a:srgbClr val="D55E00"/>
            </a:solidFill>
            <a:prstDash val="dash"/>
            <a:tailEnd type="triangle"/>
          </a:ln>
        </p:spPr>
      </p:sp>
      <p:sp>
        <p:nvSpPr>
          <p:cNvPr id="57" name="Text 55"/>
          <p:cNvSpPr txBox="1"/>
          <p:nvPr/>
        </p:nvSpPr>
        <p:spPr>
          <a:xfrm>
            <a:off x="5983360" y="5608101"/>
            <a:ext cx="641205" cy="244024"/>
          </a:xfrm>
          <a:prstGeom prst="rect">
            <a:avLst/>
          </a:prstGeom>
          <a:noFill/>
          <a:ln/>
        </p:spPr>
        <p:txBody>
          <a:bodyPr wrap="square" lIns="0" tIns="0" rIns="0" bIns="0" rtlCol="0" anchor="ctr"/>
          <a:lstStyle/>
          <a:p>
            <a:pPr algn="l" indent="0" marL="0">
              <a:lnSpc>
                <a:spcPct val="116000"/>
              </a:lnSpc>
              <a:buNone/>
            </a:pPr>
            <a:r>
              <a:rPr lang="en-US" sz="1441" dirty="0">
                <a:solidFill>
                  <a:srgbClr val="1F2937"/>
                </a:solidFill>
                <a:latin typeface="Arial" pitchFamily="34" charset="0"/>
                <a:ea typeface="Arial" pitchFamily="34" charset="-122"/>
                <a:cs typeface="Arial" pitchFamily="34" charset="-120"/>
              </a:rPr>
              <a:t>Repeat</a:t>
            </a:r>
            <a:endParaRPr lang="en-US" sz="1441" dirty="0"/>
          </a:p>
        </p:txBody>
      </p:sp>
      <p:sp>
        <p:nvSpPr>
          <p:cNvPr id="58" name="Text 56"/>
          <p:cNvSpPr txBox="1"/>
          <p:nvPr/>
        </p:nvSpPr>
        <p:spPr>
          <a:xfrm>
            <a:off x="548640" y="5925312"/>
            <a:ext cx="11094415" cy="475488"/>
          </a:xfrm>
          <a:prstGeom prst="rect">
            <a:avLst/>
          </a:prstGeom>
          <a:noFill/>
          <a:ln/>
        </p:spPr>
        <p:txBody>
          <a:bodyPr wrap="square" lIns="0" tIns="0" rIns="0" bIns="0" rtlCol="0" anchor="ctr"/>
          <a:lstStyle/>
          <a:p>
            <a:pPr indent="0" marL="0">
              <a:buNone/>
            </a:pPr>
            <a:r>
              <a:rPr lang="en-US" sz="1700" dirty="0">
                <a:solidFill>
                  <a:srgbClr val="1F2937"/>
                </a:solidFill>
                <a:latin typeface="Calibri" pitchFamily="34" charset="0"/>
                <a:ea typeface="Calibri" pitchFamily="34" charset="-122"/>
                <a:cs typeface="Calibri" pitchFamily="34" charset="-120"/>
              </a:rPr>
              <a:t>Check: Are weights updated?</a:t>
            </a:r>
            <a:endParaRPr lang="en-US" sz="17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06  ·  LARGE LANGUAGE MODELS (LLMS) AND FAMILIES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44</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Lab 6: compare LLM families and query a model</a:t>
            </a:r>
            <a:endParaRPr lang="en-US" sz="3200" dirty="0"/>
          </a:p>
        </p:txBody>
      </p:sp>
      <p:sp>
        <p:nvSpPr>
          <p:cNvPr id="6" name="Shape 4"/>
          <p:cNvSpPr/>
          <p:nvPr/>
        </p:nvSpPr>
        <p:spPr>
          <a:xfrm>
            <a:off x="548640" y="1527048"/>
            <a:ext cx="411480" cy="411480"/>
          </a:xfrm>
          <a:prstGeom prst="ellipse">
            <a:avLst/>
          </a:prstGeom>
          <a:solidFill>
            <a:srgbClr val="0F766E"/>
          </a:solidFill>
          <a:ln w="12700">
            <a:solidFill>
              <a:srgbClr val="0F766E"/>
            </a:solidFill>
            <a:prstDash val="solid"/>
          </a:ln>
        </p:spPr>
      </p:sp>
      <p:sp>
        <p:nvSpPr>
          <p:cNvPr id="7" name="Text 5"/>
          <p:cNvSpPr txBox="1"/>
          <p:nvPr/>
        </p:nvSpPr>
        <p:spPr>
          <a:xfrm>
            <a:off x="548640" y="1527048"/>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txBox="1"/>
          <p:nvPr/>
        </p:nvSpPr>
        <p:spPr>
          <a:xfrm>
            <a:off x="1143000" y="1481328"/>
            <a:ext cx="6583680" cy="868680"/>
          </a:xfrm>
          <a:prstGeom prst="rect">
            <a:avLst/>
          </a:prstGeom>
          <a:noFill/>
          <a:ln/>
        </p:spPr>
        <p:txBody>
          <a:bodyPr wrap="square" lIns="50800" tIns="50800" rIns="50800" bIns="50800" rtlCol="0" anchor="t"/>
          <a:lstStyle/>
          <a:p>
            <a:pPr indent="0" marL="0">
              <a:buNone/>
            </a:pPr>
            <a:r>
              <a:rPr lang="en-US" sz="2000" dirty="0">
                <a:solidFill>
                  <a:srgbClr val="1F2937"/>
                </a:solidFill>
                <a:latin typeface="Calibri" pitchFamily="34" charset="0"/>
                <a:ea typeface="Calibri" pitchFamily="34" charset="-122"/>
                <a:cs typeface="Calibri" pitchFamily="34" charset="-120"/>
              </a:rPr>
              <a:t>Count pieces.</a:t>
            </a:r>
            <a:endParaRPr lang="en-US" sz="2000" dirty="0"/>
          </a:p>
        </p:txBody>
      </p:sp>
      <p:sp>
        <p:nvSpPr>
          <p:cNvPr id="9" name="Shape 7"/>
          <p:cNvSpPr/>
          <p:nvPr/>
        </p:nvSpPr>
        <p:spPr>
          <a:xfrm>
            <a:off x="548640" y="2395728"/>
            <a:ext cx="411480" cy="411480"/>
          </a:xfrm>
          <a:prstGeom prst="ellipse">
            <a:avLst/>
          </a:prstGeom>
          <a:solidFill>
            <a:srgbClr val="0F766E"/>
          </a:solidFill>
          <a:ln w="12700">
            <a:solidFill>
              <a:srgbClr val="0F766E"/>
            </a:solidFill>
            <a:prstDash val="solid"/>
          </a:ln>
        </p:spPr>
      </p:sp>
      <p:sp>
        <p:nvSpPr>
          <p:cNvPr id="10" name="Text 8"/>
          <p:cNvSpPr txBox="1"/>
          <p:nvPr/>
        </p:nvSpPr>
        <p:spPr>
          <a:xfrm>
            <a:off x="548640" y="2395728"/>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txBox="1"/>
          <p:nvPr/>
        </p:nvSpPr>
        <p:spPr>
          <a:xfrm>
            <a:off x="1143000" y="2350008"/>
            <a:ext cx="6583680" cy="868680"/>
          </a:xfrm>
          <a:prstGeom prst="rect">
            <a:avLst/>
          </a:prstGeom>
          <a:noFill/>
          <a:ln/>
        </p:spPr>
        <p:txBody>
          <a:bodyPr wrap="square" lIns="50800" tIns="50800" rIns="50800" bIns="50800" rtlCol="0" anchor="t"/>
          <a:lstStyle/>
          <a:p>
            <a:pPr indent="0" marL="0">
              <a:buNone/>
            </a:pPr>
            <a:r>
              <a:rPr lang="en-US" sz="2000" dirty="0">
                <a:solidFill>
                  <a:srgbClr val="1F2937"/>
                </a:solidFill>
                <a:latin typeface="Calibri" pitchFamily="34" charset="0"/>
                <a:ea typeface="Calibri" pitchFamily="34" charset="-122"/>
                <a:cs typeface="Calibri" pitchFamily="34" charset="-120"/>
              </a:rPr>
              <a:t>Compare short replies.</a:t>
            </a:r>
            <a:endParaRPr lang="en-US" sz="2000" dirty="0"/>
          </a:p>
        </p:txBody>
      </p:sp>
      <p:sp>
        <p:nvSpPr>
          <p:cNvPr id="12" name="Shape 10"/>
          <p:cNvSpPr/>
          <p:nvPr/>
        </p:nvSpPr>
        <p:spPr>
          <a:xfrm>
            <a:off x="548640" y="3264408"/>
            <a:ext cx="411480" cy="411480"/>
          </a:xfrm>
          <a:prstGeom prst="ellipse">
            <a:avLst/>
          </a:prstGeom>
          <a:solidFill>
            <a:srgbClr val="0F766E"/>
          </a:solidFill>
          <a:ln w="12700">
            <a:solidFill>
              <a:srgbClr val="0F766E"/>
            </a:solidFill>
            <a:prstDash val="solid"/>
          </a:ln>
        </p:spPr>
      </p:sp>
      <p:sp>
        <p:nvSpPr>
          <p:cNvPr id="13" name="Text 11"/>
          <p:cNvSpPr txBox="1"/>
          <p:nvPr/>
        </p:nvSpPr>
        <p:spPr>
          <a:xfrm>
            <a:off x="548640" y="3264408"/>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txBox="1"/>
          <p:nvPr/>
        </p:nvSpPr>
        <p:spPr>
          <a:xfrm>
            <a:off x="1143000" y="3218688"/>
            <a:ext cx="6583680" cy="868680"/>
          </a:xfrm>
          <a:prstGeom prst="rect">
            <a:avLst/>
          </a:prstGeom>
          <a:noFill/>
          <a:ln/>
        </p:spPr>
        <p:txBody>
          <a:bodyPr wrap="square" lIns="50800" tIns="50800" rIns="50800" bIns="50800" rtlCol="0" anchor="t"/>
          <a:lstStyle/>
          <a:p>
            <a:pPr indent="0" marL="0">
              <a:buNone/>
            </a:pPr>
            <a:r>
              <a:rPr lang="en-US" sz="2000" dirty="0">
                <a:solidFill>
                  <a:srgbClr val="1F2937"/>
                </a:solidFill>
                <a:latin typeface="Calibri" pitchFamily="34" charset="0"/>
                <a:ea typeface="Calibri" pitchFamily="34" charset="-122"/>
                <a:cs typeface="Calibri" pitchFamily="34" charset="-120"/>
              </a:rPr>
              <a:t>Check decoding filters.</a:t>
            </a:r>
            <a:endParaRPr lang="en-US" sz="2000" dirty="0"/>
          </a:p>
        </p:txBody>
      </p:sp>
      <p:sp>
        <p:nvSpPr>
          <p:cNvPr id="15" name="Shape 13"/>
          <p:cNvSpPr/>
          <p:nvPr/>
        </p:nvSpPr>
        <p:spPr>
          <a:xfrm>
            <a:off x="548640" y="4133088"/>
            <a:ext cx="411480" cy="411480"/>
          </a:xfrm>
          <a:prstGeom prst="ellipse">
            <a:avLst/>
          </a:prstGeom>
          <a:solidFill>
            <a:srgbClr val="0F766E"/>
          </a:solidFill>
          <a:ln w="12700">
            <a:solidFill>
              <a:srgbClr val="0F766E"/>
            </a:solidFill>
            <a:prstDash val="solid"/>
          </a:ln>
        </p:spPr>
      </p:sp>
      <p:sp>
        <p:nvSpPr>
          <p:cNvPr id="16" name="Text 14"/>
          <p:cNvSpPr txBox="1"/>
          <p:nvPr/>
        </p:nvSpPr>
        <p:spPr>
          <a:xfrm>
            <a:off x="548640" y="4133088"/>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7" name="Text 15"/>
          <p:cNvSpPr txBox="1"/>
          <p:nvPr/>
        </p:nvSpPr>
        <p:spPr>
          <a:xfrm>
            <a:off x="1143000" y="4087368"/>
            <a:ext cx="6583680" cy="868680"/>
          </a:xfrm>
          <a:prstGeom prst="rect">
            <a:avLst/>
          </a:prstGeom>
          <a:noFill/>
          <a:ln/>
        </p:spPr>
        <p:txBody>
          <a:bodyPr wrap="square" lIns="50800" tIns="50800" rIns="50800" bIns="50800" rtlCol="0" anchor="t"/>
          <a:lstStyle/>
          <a:p>
            <a:pPr indent="0" marL="0">
              <a:buNone/>
            </a:pPr>
            <a:r>
              <a:rPr lang="en-US" sz="2000" dirty="0">
                <a:solidFill>
                  <a:srgbClr val="1F2937"/>
                </a:solidFill>
                <a:latin typeface="Calibri" pitchFamily="34" charset="0"/>
                <a:ea typeface="Calibri" pitchFamily="34" charset="-122"/>
                <a:cs typeface="Calibri" pitchFamily="34" charset="-120"/>
              </a:rPr>
              <a:t>Score held-out text.</a:t>
            </a:r>
            <a:endParaRPr lang="en-US" sz="2000" dirty="0"/>
          </a:p>
        </p:txBody>
      </p:sp>
      <p:sp>
        <p:nvSpPr>
          <p:cNvPr id="18" name="Shape 16"/>
          <p:cNvSpPr/>
          <p:nvPr/>
        </p:nvSpPr>
        <p:spPr>
          <a:xfrm>
            <a:off x="548640" y="5001768"/>
            <a:ext cx="411480" cy="411480"/>
          </a:xfrm>
          <a:prstGeom prst="ellipse">
            <a:avLst/>
          </a:prstGeom>
          <a:solidFill>
            <a:srgbClr val="0F766E"/>
          </a:solidFill>
          <a:ln w="12700">
            <a:solidFill>
              <a:srgbClr val="0F766E"/>
            </a:solidFill>
            <a:prstDash val="solid"/>
          </a:ln>
        </p:spPr>
      </p:sp>
      <p:sp>
        <p:nvSpPr>
          <p:cNvPr id="19" name="Text 17"/>
          <p:cNvSpPr txBox="1"/>
          <p:nvPr/>
        </p:nvSpPr>
        <p:spPr>
          <a:xfrm>
            <a:off x="548640" y="5001768"/>
            <a:ext cx="4114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0" name="Text 18"/>
          <p:cNvSpPr txBox="1"/>
          <p:nvPr/>
        </p:nvSpPr>
        <p:spPr>
          <a:xfrm>
            <a:off x="1143000" y="4956048"/>
            <a:ext cx="6583680" cy="868680"/>
          </a:xfrm>
          <a:prstGeom prst="rect">
            <a:avLst/>
          </a:prstGeom>
          <a:noFill/>
          <a:ln/>
        </p:spPr>
        <p:txBody>
          <a:bodyPr wrap="square" lIns="50800" tIns="50800" rIns="50800" bIns="50800" rtlCol="0" anchor="t"/>
          <a:lstStyle/>
          <a:p>
            <a:pPr indent="0" marL="0">
              <a:buNone/>
            </a:pPr>
            <a:r>
              <a:rPr lang="en-US" sz="2000" dirty="0">
                <a:solidFill>
                  <a:srgbClr val="1F2937"/>
                </a:solidFill>
                <a:latin typeface="Calibri" pitchFamily="34" charset="0"/>
                <a:ea typeface="Calibri" pitchFamily="34" charset="-122"/>
                <a:cs typeface="Calibri" pitchFamily="34" charset="-120"/>
              </a:rPr>
              <a:t>Verify completed answers.</a:t>
            </a:r>
            <a:endParaRPr lang="en-US" sz="2000" dirty="0"/>
          </a:p>
        </p:txBody>
      </p:sp>
      <p:sp>
        <p:nvSpPr>
          <p:cNvPr id="21" name="Shape 19"/>
          <p:cNvSpPr/>
          <p:nvPr/>
        </p:nvSpPr>
        <p:spPr>
          <a:xfrm>
            <a:off x="8046720" y="1481328"/>
            <a:ext cx="3596335" cy="4828032"/>
          </a:xfrm>
          <a:prstGeom prst="roundRect">
            <a:avLst>
              <a:gd name="adj" fmla="val 3051"/>
            </a:avLst>
          </a:prstGeom>
          <a:solidFill>
            <a:srgbClr val="E6F4F1"/>
          </a:solidFill>
          <a:ln w="12700">
            <a:solidFill>
              <a:srgbClr val="E6F4F1"/>
            </a:solidFill>
            <a:prstDash val="solid"/>
          </a:ln>
        </p:spPr>
      </p:sp>
      <p:sp>
        <p:nvSpPr>
          <p:cNvPr id="22" name="Shape 20"/>
          <p:cNvSpPr/>
          <p:nvPr/>
        </p:nvSpPr>
        <p:spPr>
          <a:xfrm>
            <a:off x="8229600" y="1709928"/>
            <a:ext cx="502920" cy="502920"/>
          </a:xfrm>
          <a:prstGeom prst="ellipse">
            <a:avLst/>
          </a:prstGeom>
          <a:solidFill>
            <a:srgbClr val="0F766E"/>
          </a:solidFill>
          <a:ln w="12700">
            <a:solidFill>
              <a:srgbClr val="0F766E"/>
            </a:solidFill>
            <a:prstDash val="solid"/>
          </a:ln>
        </p:spPr>
      </p:sp>
      <p:pic>
        <p:nvPicPr>
          <p:cNvPr id="23" name="Image 0" descr="preencoded.png">    </p:cNvPr>
          <p:cNvPicPr>
            <a:picLocks noChangeAspect="1"/>
          </p:cNvPicPr>
          <p:nvPr/>
        </p:nvPicPr>
        <p:blipFill>
          <a:blip r:embed="rId1"/>
          <a:stretch>
            <a:fillRect/>
          </a:stretch>
        </p:blipFill>
        <p:spPr>
          <a:xfrm>
            <a:off x="8350301" y="1830629"/>
            <a:ext cx="261518" cy="261518"/>
          </a:xfrm>
          <a:prstGeom prst="rect">
            <a:avLst/>
          </a:prstGeom>
        </p:spPr>
      </p:pic>
      <p:sp>
        <p:nvSpPr>
          <p:cNvPr id="24" name="Text 21"/>
          <p:cNvSpPr txBox="1"/>
          <p:nvPr/>
        </p:nvSpPr>
        <p:spPr>
          <a:xfrm>
            <a:off x="8869680" y="1664208"/>
            <a:ext cx="2681935" cy="365760"/>
          </a:xfrm>
          <a:prstGeom prst="rect">
            <a:avLst/>
          </a:prstGeom>
          <a:noFill/>
          <a:ln/>
        </p:spPr>
        <p:txBody>
          <a:bodyPr wrap="square" lIns="50800" tIns="50800" rIns="50800" bIns="50800" rtlCol="0" anchor="t"/>
          <a:lstStyle/>
          <a:p>
            <a:pPr indent="0" marL="0">
              <a:buNone/>
            </a:pPr>
            <a:r>
              <a:rPr lang="en-US" sz="1500" b="1" dirty="0">
                <a:solidFill>
                  <a:srgbClr val="1E1B4B"/>
                </a:solidFill>
                <a:latin typeface="Calibri" pitchFamily="34" charset="0"/>
                <a:ea typeface="Calibri" pitchFamily="34" charset="-122"/>
                <a:cs typeface="Calibri" pitchFamily="34" charset="-120"/>
              </a:rPr>
              <a:t>Runtime</a:t>
            </a:r>
            <a:endParaRPr lang="en-US" sz="1500" dirty="0"/>
          </a:p>
        </p:txBody>
      </p:sp>
      <p:sp>
        <p:nvSpPr>
          <p:cNvPr id="25" name="Text 22"/>
          <p:cNvSpPr txBox="1"/>
          <p:nvPr/>
        </p:nvSpPr>
        <p:spPr>
          <a:xfrm>
            <a:off x="8869680" y="2011680"/>
            <a:ext cx="2636215" cy="1106424"/>
          </a:xfrm>
          <a:prstGeom prst="rect">
            <a:avLst/>
          </a:prstGeom>
          <a:noFill/>
          <a:ln/>
        </p:spPr>
        <p:txBody>
          <a:bodyPr wrap="square" lIns="50800" tIns="50800" rIns="50800" bIns="50800" rtlCol="0" anchor="t"/>
          <a:lstStyle/>
          <a:p>
            <a:pPr indent="0" marL="0">
              <a:buNone/>
            </a:pPr>
            <a:r>
              <a:rPr lang="en-US" sz="1400" dirty="0">
                <a:solidFill>
                  <a:srgbClr val="1F2937"/>
                </a:solidFill>
                <a:latin typeface="Calibri" pitchFamily="34" charset="0"/>
                <a:ea typeface="Calibri" pitchFamily="34" charset="-122"/>
                <a:cs typeface="Calibri" pitchFamily="34" charset="-120"/>
              </a:rPr>
              <a:t>CPU core took 33 seconds. Additional models optional.</a:t>
            </a:r>
            <a:endParaRPr lang="en-US" sz="1400" dirty="0"/>
          </a:p>
        </p:txBody>
      </p:sp>
      <p:sp>
        <p:nvSpPr>
          <p:cNvPr id="26" name="Shape 23"/>
          <p:cNvSpPr/>
          <p:nvPr/>
        </p:nvSpPr>
        <p:spPr>
          <a:xfrm>
            <a:off x="8229600" y="3227832"/>
            <a:ext cx="502920" cy="502920"/>
          </a:xfrm>
          <a:prstGeom prst="ellipse">
            <a:avLst/>
          </a:prstGeom>
          <a:solidFill>
            <a:srgbClr val="0F766E"/>
          </a:solidFill>
          <a:ln w="12700">
            <a:solidFill>
              <a:srgbClr val="0F766E"/>
            </a:solidFill>
            <a:prstDash val="solid"/>
          </a:ln>
        </p:spPr>
      </p:sp>
      <p:pic>
        <p:nvPicPr>
          <p:cNvPr id="27" name="Image 1" descr="preencoded.png">    </p:cNvPr>
          <p:cNvPicPr>
            <a:picLocks noChangeAspect="1"/>
          </p:cNvPicPr>
          <p:nvPr/>
        </p:nvPicPr>
        <p:blipFill>
          <a:blip r:embed="rId2"/>
          <a:stretch>
            <a:fillRect/>
          </a:stretch>
        </p:blipFill>
        <p:spPr>
          <a:xfrm>
            <a:off x="8350301" y="3348533"/>
            <a:ext cx="261518" cy="261518"/>
          </a:xfrm>
          <a:prstGeom prst="rect">
            <a:avLst/>
          </a:prstGeom>
        </p:spPr>
      </p:pic>
      <p:sp>
        <p:nvSpPr>
          <p:cNvPr id="28" name="Text 24"/>
          <p:cNvSpPr txBox="1"/>
          <p:nvPr/>
        </p:nvSpPr>
        <p:spPr>
          <a:xfrm>
            <a:off x="8869680" y="3182112"/>
            <a:ext cx="2681935" cy="365760"/>
          </a:xfrm>
          <a:prstGeom prst="rect">
            <a:avLst/>
          </a:prstGeom>
          <a:noFill/>
          <a:ln/>
        </p:spPr>
        <p:txBody>
          <a:bodyPr wrap="square" lIns="50800" tIns="50800" rIns="50800" bIns="50800" rtlCol="0" anchor="t"/>
          <a:lstStyle/>
          <a:p>
            <a:pPr indent="0" marL="0">
              <a:buNone/>
            </a:pPr>
            <a:r>
              <a:rPr lang="en-US" sz="1500" b="1" dirty="0">
                <a:solidFill>
                  <a:srgbClr val="1E1B4B"/>
                </a:solidFill>
                <a:latin typeface="Calibri" pitchFamily="34" charset="0"/>
                <a:ea typeface="Calibri" pitchFamily="34" charset="-122"/>
                <a:cs typeface="Calibri" pitchFamily="34" charset="-120"/>
              </a:rPr>
              <a:t>Time</a:t>
            </a:r>
            <a:endParaRPr lang="en-US" sz="1500" dirty="0"/>
          </a:p>
        </p:txBody>
      </p:sp>
      <p:sp>
        <p:nvSpPr>
          <p:cNvPr id="29" name="Text 25"/>
          <p:cNvSpPr txBox="1"/>
          <p:nvPr/>
        </p:nvSpPr>
        <p:spPr>
          <a:xfrm>
            <a:off x="8869680" y="3529584"/>
            <a:ext cx="2636215" cy="1106424"/>
          </a:xfrm>
          <a:prstGeom prst="rect">
            <a:avLst/>
          </a:prstGeom>
          <a:noFill/>
          <a:ln/>
        </p:spPr>
        <p:txBody>
          <a:bodyPr wrap="square" lIns="50800" tIns="50800" rIns="50800" bIns="50800" rtlCol="0" anchor="t"/>
          <a:lstStyle/>
          <a:p>
            <a:pPr indent="0" marL="0">
              <a:buNone/>
            </a:pPr>
            <a:r>
              <a:rPr lang="en-US" sz="1400" dirty="0">
                <a:solidFill>
                  <a:srgbClr val="1F2937"/>
                </a:solidFill>
                <a:latin typeface="Calibri" pitchFamily="34" charset="0"/>
                <a:ea typeface="Calibri" pitchFamily="34" charset="-122"/>
                <a:cs typeface="Calibri" pitchFamily="34" charset="-120"/>
              </a:rPr>
              <a:t>2-hour lab</a:t>
            </a:r>
            <a:endParaRPr lang="en-US" sz="1400" dirty="0"/>
          </a:p>
        </p:txBody>
      </p:sp>
      <p:sp>
        <p:nvSpPr>
          <p:cNvPr id="30" name="Shape 26"/>
          <p:cNvSpPr/>
          <p:nvPr/>
        </p:nvSpPr>
        <p:spPr>
          <a:xfrm>
            <a:off x="8229600" y="4745736"/>
            <a:ext cx="502920" cy="502920"/>
          </a:xfrm>
          <a:prstGeom prst="ellipse">
            <a:avLst/>
          </a:prstGeom>
          <a:solidFill>
            <a:srgbClr val="0F766E"/>
          </a:solidFill>
          <a:ln w="12700">
            <a:solidFill>
              <a:srgbClr val="0F766E"/>
            </a:solidFill>
            <a:prstDash val="solid"/>
          </a:ln>
        </p:spPr>
      </p:sp>
      <p:pic>
        <p:nvPicPr>
          <p:cNvPr id="31" name="Image 2" descr="preencoded.png">    </p:cNvPr>
          <p:cNvPicPr>
            <a:picLocks noChangeAspect="1"/>
          </p:cNvPicPr>
          <p:nvPr/>
        </p:nvPicPr>
        <p:blipFill>
          <a:blip r:embed="rId3"/>
          <a:stretch>
            <a:fillRect/>
          </a:stretch>
        </p:blipFill>
        <p:spPr>
          <a:xfrm>
            <a:off x="8350301" y="4866437"/>
            <a:ext cx="261518" cy="261518"/>
          </a:xfrm>
          <a:prstGeom prst="rect">
            <a:avLst/>
          </a:prstGeom>
        </p:spPr>
      </p:pic>
      <p:sp>
        <p:nvSpPr>
          <p:cNvPr id="32" name="Text 27"/>
          <p:cNvSpPr txBox="1"/>
          <p:nvPr/>
        </p:nvSpPr>
        <p:spPr>
          <a:xfrm>
            <a:off x="8869680" y="4700016"/>
            <a:ext cx="2681935" cy="365760"/>
          </a:xfrm>
          <a:prstGeom prst="rect">
            <a:avLst/>
          </a:prstGeom>
          <a:noFill/>
          <a:ln/>
        </p:spPr>
        <p:txBody>
          <a:bodyPr wrap="square" lIns="50800" tIns="50800" rIns="50800" bIns="50800" rtlCol="0" anchor="t"/>
          <a:lstStyle/>
          <a:p>
            <a:pPr indent="0" marL="0">
              <a:buNone/>
            </a:pPr>
            <a:r>
              <a:rPr lang="en-US" sz="1500" b="1" dirty="0">
                <a:solidFill>
                  <a:srgbClr val="1E1B4B"/>
                </a:solidFill>
                <a:latin typeface="Calibri" pitchFamily="34" charset="0"/>
                <a:ea typeface="Calibri" pitchFamily="34" charset="-122"/>
                <a:cs typeface="Calibri" pitchFamily="34" charset="-120"/>
              </a:rPr>
              <a:t>Hand in</a:t>
            </a:r>
            <a:endParaRPr lang="en-US" sz="1500" dirty="0"/>
          </a:p>
        </p:txBody>
      </p:sp>
      <p:sp>
        <p:nvSpPr>
          <p:cNvPr id="33" name="Text 28"/>
          <p:cNvSpPr txBox="1"/>
          <p:nvPr/>
        </p:nvSpPr>
        <p:spPr>
          <a:xfrm>
            <a:off x="8869680" y="5047488"/>
            <a:ext cx="2636215" cy="1106424"/>
          </a:xfrm>
          <a:prstGeom prst="rect">
            <a:avLst/>
          </a:prstGeom>
          <a:noFill/>
          <a:ln/>
        </p:spPr>
        <p:txBody>
          <a:bodyPr wrap="square" lIns="50800" tIns="50800" rIns="50800" bIns="50800" rtlCol="0" anchor="t"/>
          <a:lstStyle/>
          <a:p>
            <a:pPr indent="0" marL="0">
              <a:buNone/>
            </a:pPr>
            <a:r>
              <a:rPr lang="en-US" sz="1400" dirty="0">
                <a:solidFill>
                  <a:srgbClr val="1F2937"/>
                </a:solidFill>
                <a:latin typeface="Calibri" pitchFamily="34" charset="0"/>
                <a:ea typeface="Calibri" pitchFamily="34" charset="-122"/>
                <a:cs typeface="Calibri" pitchFamily="34" charset="-120"/>
              </a:rPr>
              <a:t>Outputs, settings, scores and checked explanations</a:t>
            </a:r>
            <a:endParaRPr lang="en-US" sz="14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06  ·  LARGE LANGUAGE MODELS (LLMS) AND FAMILIES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45</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Read, watch, practise</a:t>
            </a:r>
            <a:endParaRPr lang="en-US" sz="3200" dirty="0"/>
          </a:p>
        </p:txBody>
      </p:sp>
      <p:sp>
        <p:nvSpPr>
          <p:cNvPr id="6" name="Shape 4"/>
          <p:cNvSpPr/>
          <p:nvPr/>
        </p:nvSpPr>
        <p:spPr>
          <a:xfrm>
            <a:off x="548640" y="1554480"/>
            <a:ext cx="457200" cy="457200"/>
          </a:xfrm>
          <a:prstGeom prst="ellipse">
            <a:avLst/>
          </a:prstGeom>
          <a:solidFill>
            <a:srgbClr val="DC2626"/>
          </a:solidFill>
          <a:ln w="12700">
            <a:solidFill>
              <a:srgbClr val="DC2626"/>
            </a:solidFill>
            <a:prstDash val="solid"/>
          </a:ln>
        </p:spPr>
      </p:sp>
      <p:pic>
        <p:nvPicPr>
          <p:cNvPr id="7" name="Image 0" descr="preencoded.png">    </p:cNvPr>
          <p:cNvPicPr>
            <a:picLocks noChangeAspect="1"/>
          </p:cNvPicPr>
          <p:nvPr/>
        </p:nvPicPr>
        <p:blipFill>
          <a:blip r:embed="rId1"/>
          <a:stretch>
            <a:fillRect/>
          </a:stretch>
        </p:blipFill>
        <p:spPr>
          <a:xfrm>
            <a:off x="658368" y="1664208"/>
            <a:ext cx="237744" cy="237744"/>
          </a:xfrm>
          <a:prstGeom prst="rect">
            <a:avLst/>
          </a:prstGeom>
        </p:spPr>
      </p:pic>
      <p:sp>
        <p:nvSpPr>
          <p:cNvPr id="8" name="Text 5"/>
          <p:cNvSpPr txBox="1"/>
          <p:nvPr/>
        </p:nvSpPr>
        <p:spPr>
          <a:xfrm>
            <a:off x="1143000" y="1481328"/>
            <a:ext cx="10454335" cy="777240"/>
          </a:xfrm>
          <a:prstGeom prst="rect">
            <a:avLst/>
          </a:prstGeom>
          <a:noFill/>
          <a:ln/>
        </p:spPr>
        <p:txBody>
          <a:bodyPr wrap="square" lIns="50800" tIns="50800" rIns="50800" bIns="50800" rtlCol="0" anchor="ctr"/>
          <a:lstStyle/>
          <a:p>
            <a:pPr indent="0" marL="0">
              <a:buNone/>
            </a:pPr>
            <a:r>
              <a:rPr lang="en-US" sz="1500" b="1" u="sng" dirty="0">
                <a:solidFill>
                  <a:srgbClr val="1E1B4B"/>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Karpathy: Intro to LLMs</a:t>
            </a:r>
            <a:endParaRPr lang="en-US" sz="1500" dirty="0"/>
          </a:p>
          <a:p>
            <a:pPr indent="0" marL="0">
              <a:buNone/>
            </a:pPr>
            <a:r>
              <a:rPr lang="en-US" sz="1400" dirty="0">
                <a:solidFill>
                  <a:srgbClr val="6B7280"/>
                </a:solidFill>
                <a:latin typeface="Calibri" pitchFamily="34" charset="0"/>
                <a:ea typeface="Calibri" pitchFamily="34" charset="-122"/>
                <a:cs typeface="Calibri" pitchFamily="34" charset="-120"/>
              </a:rPr>
              <a:t>Accessible overview</a:t>
            </a:r>
            <a:endParaRPr lang="en-US" sz="1500" dirty="0"/>
          </a:p>
        </p:txBody>
      </p:sp>
      <p:sp>
        <p:nvSpPr>
          <p:cNvPr id="9" name="Shape 6"/>
          <p:cNvSpPr/>
          <p:nvPr/>
        </p:nvSpPr>
        <p:spPr>
          <a:xfrm>
            <a:off x="548640" y="2377440"/>
            <a:ext cx="457200" cy="457200"/>
          </a:xfrm>
          <a:prstGeom prst="ellipse">
            <a:avLst/>
          </a:prstGeom>
          <a:solidFill>
            <a:srgbClr val="4F46E5"/>
          </a:solidFill>
          <a:ln w="12700">
            <a:solidFill>
              <a:srgbClr val="4F46E5"/>
            </a:solidFill>
            <a:prstDash val="solid"/>
          </a:ln>
        </p:spPr>
      </p:sp>
      <p:pic>
        <p:nvPicPr>
          <p:cNvPr id="10" name="Image 1" descr="preencoded.png">    </p:cNvPr>
          <p:cNvPicPr>
            <a:picLocks noChangeAspect="1"/>
          </p:cNvPicPr>
          <p:nvPr/>
        </p:nvPicPr>
        <p:blipFill>
          <a:blip r:embed="rId3"/>
          <a:stretch>
            <a:fillRect/>
          </a:stretch>
        </p:blipFill>
        <p:spPr>
          <a:xfrm>
            <a:off x="658368" y="2487168"/>
            <a:ext cx="237744" cy="237744"/>
          </a:xfrm>
          <a:prstGeom prst="rect">
            <a:avLst/>
          </a:prstGeom>
        </p:spPr>
      </p:pic>
      <p:sp>
        <p:nvSpPr>
          <p:cNvPr id="11" name="Text 7"/>
          <p:cNvSpPr txBox="1"/>
          <p:nvPr/>
        </p:nvSpPr>
        <p:spPr>
          <a:xfrm>
            <a:off x="1143000" y="2304288"/>
            <a:ext cx="10454335" cy="777240"/>
          </a:xfrm>
          <a:prstGeom prst="rect">
            <a:avLst/>
          </a:prstGeom>
          <a:noFill/>
          <a:ln/>
        </p:spPr>
        <p:txBody>
          <a:bodyPr wrap="square" lIns="50800" tIns="50800" rIns="50800" bIns="50800" rtlCol="0" anchor="ctr"/>
          <a:lstStyle/>
          <a:p>
            <a:pPr indent="0" marL="0">
              <a:buNone/>
            </a:pPr>
            <a:r>
              <a:rPr lang="en-US" sz="1500" b="1" u="sng" dirty="0">
                <a:solidFill>
                  <a:srgbClr val="1E1B4B"/>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HF LLM course</a:t>
            </a:r>
            <a:endParaRPr lang="en-US" sz="1500" dirty="0"/>
          </a:p>
          <a:p>
            <a:pPr indent="0" marL="0">
              <a:buNone/>
            </a:pPr>
            <a:r>
              <a:rPr lang="en-US" sz="1400" dirty="0">
                <a:solidFill>
                  <a:srgbClr val="6B7280"/>
                </a:solidFill>
                <a:latin typeface="Calibri" pitchFamily="34" charset="0"/>
                <a:ea typeface="Calibri" pitchFamily="34" charset="-122"/>
                <a:cs typeface="Calibri" pitchFamily="34" charset="-120"/>
              </a:rPr>
              <a:t>Model interfaces</a:t>
            </a:r>
            <a:endParaRPr lang="en-US" sz="1500" dirty="0"/>
          </a:p>
        </p:txBody>
      </p:sp>
      <p:sp>
        <p:nvSpPr>
          <p:cNvPr id="12" name="Shape 8"/>
          <p:cNvSpPr/>
          <p:nvPr/>
        </p:nvSpPr>
        <p:spPr>
          <a:xfrm>
            <a:off x="548640" y="3200400"/>
            <a:ext cx="457200" cy="457200"/>
          </a:xfrm>
          <a:prstGeom prst="ellipse">
            <a:avLst/>
          </a:prstGeom>
          <a:solidFill>
            <a:srgbClr val="4F46E5"/>
          </a:solidFill>
          <a:ln w="12700">
            <a:solidFill>
              <a:srgbClr val="4F46E5"/>
            </a:solidFill>
            <a:prstDash val="solid"/>
          </a:ln>
        </p:spPr>
      </p:sp>
      <p:pic>
        <p:nvPicPr>
          <p:cNvPr id="13" name="Image 2" descr="preencoded.png">    </p:cNvPr>
          <p:cNvPicPr>
            <a:picLocks noChangeAspect="1"/>
          </p:cNvPicPr>
          <p:nvPr/>
        </p:nvPicPr>
        <p:blipFill>
          <a:blip r:embed="rId5"/>
          <a:stretch>
            <a:fillRect/>
          </a:stretch>
        </p:blipFill>
        <p:spPr>
          <a:xfrm>
            <a:off x="658368" y="3310128"/>
            <a:ext cx="237744" cy="237744"/>
          </a:xfrm>
          <a:prstGeom prst="rect">
            <a:avLst/>
          </a:prstGeom>
        </p:spPr>
      </p:pic>
      <p:sp>
        <p:nvSpPr>
          <p:cNvPr id="14" name="Text 9"/>
          <p:cNvSpPr txBox="1"/>
          <p:nvPr/>
        </p:nvSpPr>
        <p:spPr>
          <a:xfrm>
            <a:off x="1143000" y="3127248"/>
            <a:ext cx="10454335" cy="777240"/>
          </a:xfrm>
          <a:prstGeom prst="rect">
            <a:avLst/>
          </a:prstGeom>
          <a:noFill/>
          <a:ln/>
        </p:spPr>
        <p:txBody>
          <a:bodyPr wrap="square" lIns="50800" tIns="50800" rIns="50800" bIns="50800" rtlCol="0" anchor="ctr"/>
          <a:lstStyle/>
          <a:p>
            <a:pPr indent="0" marL="0">
              <a:buNone/>
            </a:pPr>
            <a:r>
              <a:rPr lang="en-US" sz="1500" b="1" u="sng" dirty="0">
                <a:solidFill>
                  <a:srgbClr val="1E1B4B"/>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Chat templates</a:t>
            </a:r>
            <a:endParaRPr lang="en-US" sz="1500" dirty="0"/>
          </a:p>
          <a:p>
            <a:pPr indent="0" marL="0">
              <a:buNone/>
            </a:pPr>
            <a:r>
              <a:rPr lang="en-US" sz="1400" dirty="0">
                <a:solidFill>
                  <a:srgbClr val="6B7280"/>
                </a:solidFill>
                <a:latin typeface="Calibri" pitchFamily="34" charset="0"/>
                <a:ea typeface="Calibri" pitchFamily="34" charset="-122"/>
                <a:cs typeface="Calibri" pitchFamily="34" charset="-120"/>
              </a:rPr>
              <a:t>Exact formatting</a:t>
            </a:r>
            <a:endParaRPr lang="en-US" sz="1500" dirty="0"/>
          </a:p>
        </p:txBody>
      </p:sp>
      <p:sp>
        <p:nvSpPr>
          <p:cNvPr id="15" name="Shape 10"/>
          <p:cNvSpPr/>
          <p:nvPr/>
        </p:nvSpPr>
        <p:spPr>
          <a:xfrm>
            <a:off x="548640" y="4023360"/>
            <a:ext cx="457200" cy="457200"/>
          </a:xfrm>
          <a:prstGeom prst="ellipse">
            <a:avLst/>
          </a:prstGeom>
          <a:solidFill>
            <a:srgbClr val="4F46E5"/>
          </a:solidFill>
          <a:ln w="12700">
            <a:solidFill>
              <a:srgbClr val="4F46E5"/>
            </a:solidFill>
            <a:prstDash val="solid"/>
          </a:ln>
        </p:spPr>
      </p:sp>
      <p:pic>
        <p:nvPicPr>
          <p:cNvPr id="16" name="Image 3" descr="preencoded.png">    </p:cNvPr>
          <p:cNvPicPr>
            <a:picLocks noChangeAspect="1"/>
          </p:cNvPicPr>
          <p:nvPr/>
        </p:nvPicPr>
        <p:blipFill>
          <a:blip r:embed="rId7"/>
          <a:stretch>
            <a:fillRect/>
          </a:stretch>
        </p:blipFill>
        <p:spPr>
          <a:xfrm>
            <a:off x="658368" y="4133088"/>
            <a:ext cx="237744" cy="237744"/>
          </a:xfrm>
          <a:prstGeom prst="rect">
            <a:avLst/>
          </a:prstGeom>
        </p:spPr>
      </p:pic>
      <p:sp>
        <p:nvSpPr>
          <p:cNvPr id="17" name="Text 11"/>
          <p:cNvSpPr txBox="1"/>
          <p:nvPr/>
        </p:nvSpPr>
        <p:spPr>
          <a:xfrm>
            <a:off x="1143000" y="3950208"/>
            <a:ext cx="10454335" cy="777240"/>
          </a:xfrm>
          <a:prstGeom prst="rect">
            <a:avLst/>
          </a:prstGeom>
          <a:noFill/>
          <a:ln/>
        </p:spPr>
        <p:txBody>
          <a:bodyPr wrap="square" lIns="50800" tIns="50800" rIns="50800" bIns="50800" rtlCol="0" anchor="ctr"/>
          <a:lstStyle/>
          <a:p>
            <a:pPr indent="0" marL="0">
              <a:buNone/>
            </a:pPr>
            <a:r>
              <a:rPr lang="en-US" sz="1500" b="1" u="sng" dirty="0">
                <a:solidFill>
                  <a:srgbClr val="1E1B4B"/>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Perplexity guidance</a:t>
            </a:r>
            <a:endParaRPr lang="en-US" sz="1500" dirty="0"/>
          </a:p>
          <a:p>
            <a:pPr indent="0" marL="0">
              <a:buNone/>
            </a:pPr>
            <a:r>
              <a:rPr lang="en-US" sz="1400" dirty="0">
                <a:solidFill>
                  <a:srgbClr val="6B7280"/>
                </a:solidFill>
                <a:latin typeface="Calibri" pitchFamily="34" charset="0"/>
                <a:ea typeface="Calibri" pitchFamily="34" charset="-122"/>
                <a:cs typeface="Calibri" pitchFamily="34" charset="-120"/>
              </a:rPr>
              <a:t>Measurement limits</a:t>
            </a:r>
            <a:endParaRPr lang="en-US" sz="1500" dirty="0"/>
          </a:p>
        </p:txBody>
      </p:sp>
      <p:sp>
        <p:nvSpPr>
          <p:cNvPr id="18" name="Shape 12"/>
          <p:cNvSpPr/>
          <p:nvPr/>
        </p:nvSpPr>
        <p:spPr>
          <a:xfrm>
            <a:off x="548640" y="4846320"/>
            <a:ext cx="457200" cy="457200"/>
          </a:xfrm>
          <a:prstGeom prst="ellipse">
            <a:avLst/>
          </a:prstGeom>
          <a:solidFill>
            <a:srgbClr val="4F46E5"/>
          </a:solidFill>
          <a:ln w="12700">
            <a:solidFill>
              <a:srgbClr val="4F46E5"/>
            </a:solidFill>
            <a:prstDash val="solid"/>
          </a:ln>
        </p:spPr>
      </p:sp>
      <p:pic>
        <p:nvPicPr>
          <p:cNvPr id="19" name="Image 4" descr="preencoded.png">    </p:cNvPr>
          <p:cNvPicPr>
            <a:picLocks noChangeAspect="1"/>
          </p:cNvPicPr>
          <p:nvPr/>
        </p:nvPicPr>
        <p:blipFill>
          <a:blip r:embed="rId9"/>
          <a:stretch>
            <a:fillRect/>
          </a:stretch>
        </p:blipFill>
        <p:spPr>
          <a:xfrm>
            <a:off x="658368" y="4956048"/>
            <a:ext cx="237744" cy="237744"/>
          </a:xfrm>
          <a:prstGeom prst="rect">
            <a:avLst/>
          </a:prstGeom>
        </p:spPr>
      </p:pic>
      <p:sp>
        <p:nvSpPr>
          <p:cNvPr id="20" name="Text 13"/>
          <p:cNvSpPr txBox="1"/>
          <p:nvPr/>
        </p:nvSpPr>
        <p:spPr>
          <a:xfrm>
            <a:off x="1143000" y="4773168"/>
            <a:ext cx="10454335" cy="777240"/>
          </a:xfrm>
          <a:prstGeom prst="rect">
            <a:avLst/>
          </a:prstGeom>
          <a:noFill/>
          <a:ln/>
        </p:spPr>
        <p:txBody>
          <a:bodyPr wrap="square" lIns="50800" tIns="50800" rIns="50800" bIns="50800" rtlCol="0" anchor="ctr"/>
          <a:lstStyle/>
          <a:p>
            <a:pPr indent="0" marL="0">
              <a:buNone/>
            </a:pPr>
            <a:r>
              <a:rPr lang="en-US" sz="1500" b="1" u="sng" dirty="0">
                <a:solidFill>
                  <a:srgbClr val="1E1B4B"/>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Qwen3 model card</a:t>
            </a:r>
            <a:endParaRPr lang="en-US" sz="1500" dirty="0"/>
          </a:p>
          <a:p>
            <a:pPr indent="0" marL="0">
              <a:buNone/>
            </a:pPr>
            <a:r>
              <a:rPr lang="en-US" sz="1400" dirty="0">
                <a:solidFill>
                  <a:srgbClr val="6B7280"/>
                </a:solidFill>
                <a:latin typeface="Calibri" pitchFamily="34" charset="0"/>
                <a:ea typeface="Calibri" pitchFamily="34" charset="-122"/>
                <a:cs typeface="Calibri" pitchFamily="34" charset="-120"/>
              </a:rPr>
              <a:t>Thinking settings</a:t>
            </a:r>
            <a:endParaRPr lang="en-US" sz="15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56032"/>
            <a:ext cx="11094415" cy="292608"/>
          </a:xfrm>
          <a:prstGeom prst="rect">
            <a:avLst/>
          </a:prstGeom>
          <a:noFill/>
          <a:ln/>
        </p:spPr>
        <p:txBody>
          <a:bodyPr wrap="square" lIns="0" tIns="0" rIns="0" bIns="0" rtlCol="0" anchor="t"/>
          <a:lstStyle/>
          <a:p>
            <a:pPr indent="0" marL="0">
              <a:buNone/>
            </a:pPr>
            <a:r>
              <a:rPr lang="en-US" sz="1100" b="1" spc="100" kern="0" dirty="0">
                <a:solidFill>
                  <a:srgbClr val="4F46E5"/>
                </a:solidFill>
                <a:latin typeface="Calibri" pitchFamily="34" charset="0"/>
                <a:ea typeface="Calibri" pitchFamily="34" charset="-122"/>
                <a:cs typeface="Calibri" pitchFamily="34" charset="-120"/>
              </a:rPr>
              <a:t>WEEK 06  ·  LARGE LANGUAGE MODELS (LLMS) AND FAMILIES</a:t>
            </a:r>
            <a:endParaRPr lang="en-US" sz="1100" dirty="0"/>
          </a:p>
        </p:txBody>
      </p:sp>
      <p:sp>
        <p:nvSpPr>
          <p:cNvPr id="3" name="Text 1"/>
          <p:cNvSpPr txBox="1"/>
          <p:nvPr/>
        </p:nvSpPr>
        <p:spPr>
          <a:xfrm>
            <a:off x="548640" y="6446520"/>
            <a:ext cx="5486400" cy="274320"/>
          </a:xfrm>
          <a:prstGeom prst="rect">
            <a:avLst/>
          </a:prstGeom>
          <a:noFill/>
          <a:ln/>
        </p:spPr>
        <p:txBody>
          <a:bodyPr wrap="square" lIns="0" tIns="0" rIns="0" bIns="0" rtlCol="0" anchor="t"/>
          <a:lstStyle/>
          <a:p>
            <a:pPr indent="0" marL="0">
              <a:buNone/>
            </a:pPr>
            <a:r>
              <a:rPr lang="en-US" sz="1000" dirty="0">
                <a:solidFill>
                  <a:srgbClr val="6B7280"/>
                </a:solidFill>
                <a:latin typeface="Calibri" pitchFamily="34" charset="0"/>
                <a:ea typeface="Calibri" pitchFamily="34" charset="-122"/>
                <a:cs typeface="Calibri" pitchFamily="34" charset="-120"/>
              </a:rPr>
              <a:t>Generative AI  ·  MSc in Artificial Intelligence</a:t>
            </a:r>
            <a:endParaRPr lang="en-US" sz="1000" dirty="0"/>
          </a:p>
        </p:txBody>
      </p:sp>
      <p:sp>
        <p:nvSpPr>
          <p:cNvPr id="4" name="Text 2"/>
          <p:cNvSpPr txBox="1"/>
          <p:nvPr/>
        </p:nvSpPr>
        <p:spPr>
          <a:xfrm>
            <a:off x="10728655" y="6446520"/>
            <a:ext cx="914400" cy="274320"/>
          </a:xfrm>
          <a:prstGeom prst="rect">
            <a:avLst/>
          </a:prstGeom>
          <a:noFill/>
          <a:ln/>
        </p:spPr>
        <p:txBody>
          <a:bodyPr wrap="square" lIns="0" tIns="0" rIns="0" bIns="0" rtlCol="0" anchor="t"/>
          <a:lstStyle/>
          <a:p>
            <a:pPr algn="r" indent="0" marL="0">
              <a:buNone/>
            </a:pPr>
            <a:r>
              <a:rPr lang="en-US" sz="1000" dirty="0">
                <a:solidFill>
                  <a:srgbClr val="6B7280"/>
                </a:solidFill>
                <a:latin typeface="Calibri" pitchFamily="34" charset="0"/>
                <a:ea typeface="Calibri" pitchFamily="34" charset="-122"/>
                <a:cs typeface="Calibri" pitchFamily="34" charset="-120"/>
              </a:rPr>
              <a:t>46</a:t>
            </a:r>
            <a:endParaRPr lang="en-US" sz="1000" dirty="0"/>
          </a:p>
        </p:txBody>
      </p:sp>
      <p:sp>
        <p:nvSpPr>
          <p:cNvPr id="5" name="Text 3"/>
          <p:cNvSpPr txBox="1"/>
          <p:nvPr/>
        </p:nvSpPr>
        <p:spPr>
          <a:xfrm>
            <a:off x="548640" y="566928"/>
            <a:ext cx="11094415" cy="868680"/>
          </a:xfrm>
          <a:prstGeom prst="rect">
            <a:avLst/>
          </a:prstGeom>
          <a:noFill/>
          <a:ln/>
        </p:spPr>
        <p:txBody>
          <a:bodyPr wrap="square" lIns="0" tIns="0" rIns="0" bIns="0" rtlCol="0" anchor="ctr"/>
          <a:lstStyle/>
          <a:p>
            <a:pPr indent="0" marL="0">
              <a:buNone/>
            </a:pPr>
            <a:r>
              <a:rPr lang="en-US" sz="3200" b="1" dirty="0">
                <a:solidFill>
                  <a:srgbClr val="1E1B4B"/>
                </a:solidFill>
                <a:latin typeface="Calibri" pitchFamily="34" charset="0"/>
                <a:ea typeface="Calibri" pitchFamily="34" charset="-122"/>
                <a:cs typeface="Calibri" pitchFamily="34" charset="-120"/>
              </a:rPr>
              <a:t>What we learned: language models</a:t>
            </a:r>
            <a:endParaRPr lang="en-US" sz="3200" dirty="0"/>
          </a:p>
        </p:txBody>
      </p:sp>
      <p:sp>
        <p:nvSpPr>
          <p:cNvPr id="6" name="Shape 4"/>
          <p:cNvSpPr/>
          <p:nvPr/>
        </p:nvSpPr>
        <p:spPr>
          <a:xfrm>
            <a:off x="946879" y="1630142"/>
            <a:ext cx="3323515" cy="1376531"/>
          </a:xfrm>
          <a:prstGeom prst="rect">
            <a:avLst/>
          </a:prstGeom>
          <a:solidFill>
            <a:srgbClr val="E5F7EF"/>
          </a:solidFill>
          <a:ln w="15240">
            <a:solidFill>
              <a:srgbClr val="009E73"/>
            </a:solidFill>
            <a:prstDash val="solid"/>
          </a:ln>
        </p:spPr>
      </p:sp>
      <p:sp>
        <p:nvSpPr>
          <p:cNvPr id="7" name="Text 5"/>
          <p:cNvSpPr txBox="1"/>
          <p:nvPr/>
        </p:nvSpPr>
        <p:spPr>
          <a:xfrm>
            <a:off x="1080812" y="1674786"/>
            <a:ext cx="3055650" cy="535731"/>
          </a:xfrm>
          <a:prstGeom prst="rect">
            <a:avLst/>
          </a:prstGeom>
          <a:noFill/>
          <a:ln/>
        </p:spPr>
        <p:txBody>
          <a:bodyPr wrap="square" lIns="0" tIns="0" rIns="0" bIns="0" rtlCol="0" anchor="ctr"/>
          <a:lstStyle/>
          <a:p>
            <a:pPr algn="l" indent="0" marL="0">
              <a:lnSpc>
                <a:spcPct val="116000"/>
              </a:lnSpc>
              <a:buNone/>
            </a:pPr>
            <a:r>
              <a:rPr lang="en-US" sz="1758" b="1" dirty="0">
                <a:solidFill>
                  <a:srgbClr val="1E1B4B"/>
                </a:solidFill>
                <a:latin typeface="Arial" pitchFamily="34" charset="0"/>
                <a:ea typeface="Arial" pitchFamily="34" charset="-122"/>
                <a:cs typeface="Arial" pitchFamily="34" charset="-120"/>
              </a:rPr>
              <a:t>History</a:t>
            </a:r>
            <a:endParaRPr lang="en-US" sz="1758" dirty="0"/>
          </a:p>
        </p:txBody>
      </p:sp>
      <p:sp>
        <p:nvSpPr>
          <p:cNvPr id="8" name="Text 6"/>
          <p:cNvSpPr txBox="1"/>
          <p:nvPr/>
        </p:nvSpPr>
        <p:spPr>
          <a:xfrm>
            <a:off x="1080812" y="2232839"/>
            <a:ext cx="3055650" cy="699426"/>
          </a:xfrm>
          <a:prstGeom prst="rect">
            <a:avLst/>
          </a:prstGeom>
          <a:noFill/>
          <a:ln/>
        </p:spPr>
        <p:txBody>
          <a:bodyPr wrap="square" lIns="0" tIns="0" rIns="0" bIns="0" rtlCol="0" anchor="ctr"/>
          <a:lstStyle/>
          <a:p>
            <a:pPr algn="l" indent="0" marL="0">
              <a:lnSpc>
                <a:spcPct val="116000"/>
              </a:lnSpc>
              <a:buNone/>
            </a:pPr>
            <a:r>
              <a:rPr lang="en-US" sz="1523" dirty="0">
                <a:solidFill>
                  <a:srgbClr val="1F2937"/>
                </a:solidFill>
                <a:latin typeface="Arial" pitchFamily="34" charset="0"/>
                <a:ea typeface="Arial" pitchFamily="34" charset="-122"/>
                <a:cs typeface="Arial" pitchFamily="34" charset="-120"/>
              </a:rPr>
              <a:t>Contextual features</a:t>
            </a:r>
            <a:endParaRPr lang="en-US" sz="1523" dirty="0"/>
          </a:p>
        </p:txBody>
      </p:sp>
      <p:sp>
        <p:nvSpPr>
          <p:cNvPr id="9" name="Shape 7"/>
          <p:cNvSpPr/>
          <p:nvPr/>
        </p:nvSpPr>
        <p:spPr>
          <a:xfrm>
            <a:off x="4434090" y="1630142"/>
            <a:ext cx="3323515" cy="1376531"/>
          </a:xfrm>
          <a:prstGeom prst="roundRect">
            <a:avLst>
              <a:gd name="adj" fmla="val 5314"/>
            </a:avLst>
          </a:prstGeom>
          <a:solidFill>
            <a:srgbClr val="FFF0E6"/>
          </a:solidFill>
          <a:ln w="15240">
            <a:solidFill>
              <a:srgbClr val="D55E00"/>
            </a:solidFill>
            <a:prstDash val="solid"/>
          </a:ln>
        </p:spPr>
      </p:sp>
      <p:sp>
        <p:nvSpPr>
          <p:cNvPr id="10" name="Text 8"/>
          <p:cNvSpPr txBox="1"/>
          <p:nvPr/>
        </p:nvSpPr>
        <p:spPr>
          <a:xfrm>
            <a:off x="4568023" y="1674786"/>
            <a:ext cx="3055650" cy="535731"/>
          </a:xfrm>
          <a:prstGeom prst="rect">
            <a:avLst/>
          </a:prstGeom>
          <a:noFill/>
          <a:ln/>
        </p:spPr>
        <p:txBody>
          <a:bodyPr wrap="square" lIns="0" tIns="0" rIns="0" bIns="0" rtlCol="0" anchor="ctr"/>
          <a:lstStyle/>
          <a:p>
            <a:pPr algn="l" indent="0" marL="0">
              <a:lnSpc>
                <a:spcPct val="116000"/>
              </a:lnSpc>
              <a:buNone/>
            </a:pPr>
            <a:r>
              <a:rPr lang="en-US" sz="1758" b="1" dirty="0">
                <a:solidFill>
                  <a:srgbClr val="1E1B4B"/>
                </a:solidFill>
                <a:latin typeface="Arial" pitchFamily="34" charset="0"/>
                <a:ea typeface="Arial" pitchFamily="34" charset="-122"/>
                <a:cs typeface="Arial" pitchFamily="34" charset="-120"/>
              </a:rPr>
              <a:t>Training</a:t>
            </a:r>
            <a:endParaRPr lang="en-US" sz="1758" dirty="0"/>
          </a:p>
        </p:txBody>
      </p:sp>
      <p:sp>
        <p:nvSpPr>
          <p:cNvPr id="11" name="Text 9"/>
          <p:cNvSpPr txBox="1"/>
          <p:nvPr/>
        </p:nvSpPr>
        <p:spPr>
          <a:xfrm>
            <a:off x="4568023" y="2232839"/>
            <a:ext cx="3055650" cy="699426"/>
          </a:xfrm>
          <a:prstGeom prst="rect">
            <a:avLst/>
          </a:prstGeom>
          <a:noFill/>
          <a:ln/>
        </p:spPr>
        <p:txBody>
          <a:bodyPr wrap="square" lIns="0" tIns="0" rIns="0" bIns="0" rtlCol="0" anchor="ctr"/>
          <a:lstStyle/>
          <a:p>
            <a:pPr algn="l" indent="0" marL="0">
              <a:lnSpc>
                <a:spcPct val="116000"/>
              </a:lnSpc>
              <a:buNone/>
            </a:pPr>
            <a:r>
              <a:rPr lang="en-US" sz="1523" dirty="0">
                <a:solidFill>
                  <a:srgbClr val="1F2937"/>
                </a:solidFill>
                <a:latin typeface="Arial" pitchFamily="34" charset="0"/>
                <a:ea typeface="Arial" pitchFamily="34" charset="-122"/>
                <a:cs typeface="Arial" pitchFamily="34" charset="-120"/>
              </a:rPr>
              <a:t>Learned weights</a:t>
            </a:r>
            <a:endParaRPr lang="en-US" sz="1523" dirty="0"/>
          </a:p>
        </p:txBody>
      </p:sp>
      <p:sp>
        <p:nvSpPr>
          <p:cNvPr id="12" name="Shape 10"/>
          <p:cNvSpPr/>
          <p:nvPr/>
        </p:nvSpPr>
        <p:spPr>
          <a:xfrm>
            <a:off x="7921301" y="1630142"/>
            <a:ext cx="3323515" cy="1376531"/>
          </a:xfrm>
          <a:prstGeom prst="roundRect">
            <a:avLst>
              <a:gd name="adj" fmla="val 5314"/>
            </a:avLst>
          </a:prstGeom>
          <a:solidFill>
            <a:srgbClr val="E4F2FB"/>
          </a:solidFill>
          <a:ln w="15240">
            <a:solidFill>
              <a:srgbClr val="0072B2"/>
            </a:solidFill>
            <a:prstDash val="solid"/>
          </a:ln>
        </p:spPr>
      </p:sp>
      <p:sp>
        <p:nvSpPr>
          <p:cNvPr id="13" name="Text 11"/>
          <p:cNvSpPr txBox="1"/>
          <p:nvPr/>
        </p:nvSpPr>
        <p:spPr>
          <a:xfrm>
            <a:off x="8055233" y="1674786"/>
            <a:ext cx="3055650" cy="535731"/>
          </a:xfrm>
          <a:prstGeom prst="rect">
            <a:avLst/>
          </a:prstGeom>
          <a:noFill/>
          <a:ln/>
        </p:spPr>
        <p:txBody>
          <a:bodyPr wrap="square" lIns="0" tIns="0" rIns="0" bIns="0" rtlCol="0" anchor="ctr"/>
          <a:lstStyle/>
          <a:p>
            <a:pPr algn="l" indent="0" marL="0">
              <a:lnSpc>
                <a:spcPct val="116000"/>
              </a:lnSpc>
              <a:buNone/>
            </a:pPr>
            <a:r>
              <a:rPr lang="en-US" sz="1758" b="1" dirty="0">
                <a:solidFill>
                  <a:srgbClr val="1E1B4B"/>
                </a:solidFill>
                <a:latin typeface="Arial" pitchFamily="34" charset="0"/>
                <a:ea typeface="Arial" pitchFamily="34" charset="-122"/>
                <a:cs typeface="Arial" pitchFamily="34" charset="-120"/>
              </a:rPr>
              <a:t>Context</a:t>
            </a:r>
            <a:endParaRPr lang="en-US" sz="1758" dirty="0"/>
          </a:p>
        </p:txBody>
      </p:sp>
      <p:sp>
        <p:nvSpPr>
          <p:cNvPr id="14" name="Text 12"/>
          <p:cNvSpPr txBox="1"/>
          <p:nvPr/>
        </p:nvSpPr>
        <p:spPr>
          <a:xfrm>
            <a:off x="8055233" y="2232839"/>
            <a:ext cx="3055650" cy="699426"/>
          </a:xfrm>
          <a:prstGeom prst="rect">
            <a:avLst/>
          </a:prstGeom>
          <a:noFill/>
          <a:ln/>
        </p:spPr>
        <p:txBody>
          <a:bodyPr wrap="square" lIns="0" tIns="0" rIns="0" bIns="0" rtlCol="0" anchor="ctr"/>
          <a:lstStyle/>
          <a:p>
            <a:pPr algn="l" indent="0" marL="0">
              <a:lnSpc>
                <a:spcPct val="116000"/>
              </a:lnSpc>
              <a:buNone/>
            </a:pPr>
            <a:r>
              <a:rPr lang="en-US" sz="1523" dirty="0">
                <a:solidFill>
                  <a:srgbClr val="1F2937"/>
                </a:solidFill>
                <a:latin typeface="Arial" pitchFamily="34" charset="0"/>
                <a:ea typeface="Arial" pitchFamily="34" charset="-122"/>
                <a:cs typeface="Arial" pitchFamily="34" charset="-120"/>
              </a:rPr>
              <a:t>Finite tokens</a:t>
            </a:r>
            <a:endParaRPr lang="en-US" sz="1523" dirty="0"/>
          </a:p>
        </p:txBody>
      </p:sp>
      <p:sp>
        <p:nvSpPr>
          <p:cNvPr id="15" name="Shape 13"/>
          <p:cNvSpPr/>
          <p:nvPr/>
        </p:nvSpPr>
        <p:spPr>
          <a:xfrm>
            <a:off x="946879" y="3170368"/>
            <a:ext cx="3323515" cy="1376531"/>
          </a:xfrm>
          <a:prstGeom prst="rect">
            <a:avLst/>
          </a:prstGeom>
          <a:solidFill>
            <a:srgbClr val="E5F7EF"/>
          </a:solidFill>
          <a:ln w="15240">
            <a:solidFill>
              <a:srgbClr val="009E73"/>
            </a:solidFill>
            <a:prstDash val="solid"/>
          </a:ln>
        </p:spPr>
      </p:sp>
      <p:sp>
        <p:nvSpPr>
          <p:cNvPr id="16" name="Text 14"/>
          <p:cNvSpPr txBox="1"/>
          <p:nvPr/>
        </p:nvSpPr>
        <p:spPr>
          <a:xfrm>
            <a:off x="1080812" y="3215012"/>
            <a:ext cx="3055650" cy="535731"/>
          </a:xfrm>
          <a:prstGeom prst="rect">
            <a:avLst/>
          </a:prstGeom>
          <a:noFill/>
          <a:ln/>
        </p:spPr>
        <p:txBody>
          <a:bodyPr wrap="square" lIns="0" tIns="0" rIns="0" bIns="0" rtlCol="0" anchor="ctr"/>
          <a:lstStyle/>
          <a:p>
            <a:pPr algn="l" indent="0" marL="0">
              <a:lnSpc>
                <a:spcPct val="116000"/>
              </a:lnSpc>
              <a:buNone/>
            </a:pPr>
            <a:r>
              <a:rPr lang="en-US" sz="1758" b="1" dirty="0">
                <a:solidFill>
                  <a:srgbClr val="1E1B4B"/>
                </a:solidFill>
                <a:latin typeface="Arial" pitchFamily="34" charset="0"/>
                <a:ea typeface="Arial" pitchFamily="34" charset="-122"/>
                <a:cs typeface="Arial" pitchFamily="34" charset="-120"/>
              </a:rPr>
              <a:t>Decoding</a:t>
            </a:r>
            <a:endParaRPr lang="en-US" sz="1758" dirty="0"/>
          </a:p>
        </p:txBody>
      </p:sp>
      <p:sp>
        <p:nvSpPr>
          <p:cNvPr id="17" name="Text 15"/>
          <p:cNvSpPr txBox="1"/>
          <p:nvPr/>
        </p:nvSpPr>
        <p:spPr>
          <a:xfrm>
            <a:off x="1080812" y="3773065"/>
            <a:ext cx="3055650" cy="699426"/>
          </a:xfrm>
          <a:prstGeom prst="rect">
            <a:avLst/>
          </a:prstGeom>
          <a:noFill/>
          <a:ln/>
        </p:spPr>
        <p:txBody>
          <a:bodyPr wrap="square" lIns="0" tIns="0" rIns="0" bIns="0" rtlCol="0" anchor="ctr"/>
          <a:lstStyle/>
          <a:p>
            <a:pPr algn="l" indent="0" marL="0">
              <a:lnSpc>
                <a:spcPct val="116000"/>
              </a:lnSpc>
              <a:buNone/>
            </a:pPr>
            <a:r>
              <a:rPr lang="en-US" sz="1523" dirty="0">
                <a:solidFill>
                  <a:srgbClr val="1F2937"/>
                </a:solidFill>
                <a:latin typeface="Arial" pitchFamily="34" charset="0"/>
                <a:ea typeface="Arial" pitchFamily="34" charset="-122"/>
                <a:cs typeface="Arial" pitchFamily="34" charset="-120"/>
              </a:rPr>
              <a:t>Fixed weights</a:t>
            </a:r>
            <a:endParaRPr lang="en-US" sz="1523" dirty="0"/>
          </a:p>
        </p:txBody>
      </p:sp>
      <p:sp>
        <p:nvSpPr>
          <p:cNvPr id="18" name="Shape 16"/>
          <p:cNvSpPr/>
          <p:nvPr/>
        </p:nvSpPr>
        <p:spPr>
          <a:xfrm>
            <a:off x="4434090" y="3170368"/>
            <a:ext cx="3323515" cy="1376531"/>
          </a:xfrm>
          <a:prstGeom prst="roundRect">
            <a:avLst>
              <a:gd name="adj" fmla="val 5314"/>
            </a:avLst>
          </a:prstGeom>
          <a:solidFill>
            <a:srgbClr val="F9EAF4"/>
          </a:solidFill>
          <a:ln w="15240">
            <a:solidFill>
              <a:srgbClr val="CC79A7"/>
            </a:solidFill>
            <a:prstDash val="solid"/>
          </a:ln>
        </p:spPr>
      </p:sp>
      <p:sp>
        <p:nvSpPr>
          <p:cNvPr id="19" name="Text 17"/>
          <p:cNvSpPr txBox="1"/>
          <p:nvPr/>
        </p:nvSpPr>
        <p:spPr>
          <a:xfrm>
            <a:off x="4568023" y="3215012"/>
            <a:ext cx="3055650" cy="535731"/>
          </a:xfrm>
          <a:prstGeom prst="rect">
            <a:avLst/>
          </a:prstGeom>
          <a:noFill/>
          <a:ln/>
        </p:spPr>
        <p:txBody>
          <a:bodyPr wrap="square" lIns="0" tIns="0" rIns="0" bIns="0" rtlCol="0" anchor="ctr"/>
          <a:lstStyle/>
          <a:p>
            <a:pPr algn="l" indent="0" marL="0">
              <a:lnSpc>
                <a:spcPct val="116000"/>
              </a:lnSpc>
              <a:buNone/>
            </a:pPr>
            <a:r>
              <a:rPr lang="en-US" sz="1758" b="1" dirty="0">
                <a:solidFill>
                  <a:srgbClr val="1E1B4B"/>
                </a:solidFill>
                <a:latin typeface="Arial" pitchFamily="34" charset="0"/>
                <a:ea typeface="Arial" pitchFamily="34" charset="-122"/>
                <a:cs typeface="Arial" pitchFamily="34" charset="-120"/>
              </a:rPr>
              <a:t>Families</a:t>
            </a:r>
            <a:endParaRPr lang="en-US" sz="1758" dirty="0"/>
          </a:p>
        </p:txBody>
      </p:sp>
      <p:sp>
        <p:nvSpPr>
          <p:cNvPr id="20" name="Text 18"/>
          <p:cNvSpPr txBox="1"/>
          <p:nvPr/>
        </p:nvSpPr>
        <p:spPr>
          <a:xfrm>
            <a:off x="4568023" y="3773065"/>
            <a:ext cx="3055650" cy="699426"/>
          </a:xfrm>
          <a:prstGeom prst="rect">
            <a:avLst/>
          </a:prstGeom>
          <a:noFill/>
          <a:ln/>
        </p:spPr>
        <p:txBody>
          <a:bodyPr wrap="square" lIns="0" tIns="0" rIns="0" bIns="0" rtlCol="0" anchor="ctr"/>
          <a:lstStyle/>
          <a:p>
            <a:pPr algn="l" indent="0" marL="0">
              <a:lnSpc>
                <a:spcPct val="116000"/>
              </a:lnSpc>
              <a:buNone/>
            </a:pPr>
            <a:r>
              <a:rPr lang="en-US" sz="1523" dirty="0">
                <a:solidFill>
                  <a:srgbClr val="1F2937"/>
                </a:solidFill>
                <a:latin typeface="Arial" pitchFamily="34" charset="0"/>
                <a:ea typeface="Arial" pitchFamily="34" charset="-122"/>
                <a:cs typeface="Arial" pitchFamily="34" charset="-120"/>
              </a:rPr>
              <a:t>Different jobs</a:t>
            </a:r>
            <a:endParaRPr lang="en-US" sz="1523" dirty="0"/>
          </a:p>
        </p:txBody>
      </p:sp>
      <p:sp>
        <p:nvSpPr>
          <p:cNvPr id="21" name="Shape 19"/>
          <p:cNvSpPr/>
          <p:nvPr/>
        </p:nvSpPr>
        <p:spPr>
          <a:xfrm>
            <a:off x="7921301" y="3170368"/>
            <a:ext cx="3323515" cy="1376531"/>
          </a:xfrm>
          <a:prstGeom prst="rect">
            <a:avLst/>
          </a:prstGeom>
          <a:solidFill>
            <a:srgbClr val="F2F4F5"/>
          </a:solidFill>
          <a:ln w="15240">
            <a:solidFill>
              <a:srgbClr val="626B73"/>
            </a:solidFill>
            <a:prstDash val="solid"/>
          </a:ln>
        </p:spPr>
      </p:sp>
      <p:sp>
        <p:nvSpPr>
          <p:cNvPr id="22" name="Text 20"/>
          <p:cNvSpPr txBox="1"/>
          <p:nvPr/>
        </p:nvSpPr>
        <p:spPr>
          <a:xfrm>
            <a:off x="8055233" y="3215012"/>
            <a:ext cx="3055650" cy="535731"/>
          </a:xfrm>
          <a:prstGeom prst="rect">
            <a:avLst/>
          </a:prstGeom>
          <a:noFill/>
          <a:ln/>
        </p:spPr>
        <p:txBody>
          <a:bodyPr wrap="square" lIns="0" tIns="0" rIns="0" bIns="0" rtlCol="0" anchor="ctr"/>
          <a:lstStyle/>
          <a:p>
            <a:pPr algn="l" indent="0" marL="0">
              <a:lnSpc>
                <a:spcPct val="116000"/>
              </a:lnSpc>
              <a:buNone/>
            </a:pPr>
            <a:r>
              <a:rPr lang="en-US" sz="1758" b="1" dirty="0">
                <a:solidFill>
                  <a:srgbClr val="1E1B4B"/>
                </a:solidFill>
                <a:latin typeface="Arial" pitchFamily="34" charset="0"/>
                <a:ea typeface="Arial" pitchFamily="34" charset="-122"/>
                <a:cs typeface="Arial" pitchFamily="34" charset="-120"/>
              </a:rPr>
              <a:t>Evidence</a:t>
            </a:r>
            <a:endParaRPr lang="en-US" sz="1758" dirty="0"/>
          </a:p>
        </p:txBody>
      </p:sp>
      <p:sp>
        <p:nvSpPr>
          <p:cNvPr id="23" name="Text 21"/>
          <p:cNvSpPr txBox="1"/>
          <p:nvPr/>
        </p:nvSpPr>
        <p:spPr>
          <a:xfrm>
            <a:off x="8055233" y="3773065"/>
            <a:ext cx="3055650" cy="699426"/>
          </a:xfrm>
          <a:prstGeom prst="rect">
            <a:avLst/>
          </a:prstGeom>
          <a:noFill/>
          <a:ln/>
        </p:spPr>
        <p:txBody>
          <a:bodyPr wrap="square" lIns="0" tIns="0" rIns="0" bIns="0" rtlCol="0" anchor="ctr"/>
          <a:lstStyle/>
          <a:p>
            <a:pPr algn="l" indent="0" marL="0">
              <a:lnSpc>
                <a:spcPct val="116000"/>
              </a:lnSpc>
              <a:buNone/>
            </a:pPr>
            <a:r>
              <a:rPr lang="en-US" sz="1523" dirty="0">
                <a:solidFill>
                  <a:srgbClr val="1F2937"/>
                </a:solidFill>
                <a:latin typeface="Arial" pitchFamily="34" charset="0"/>
                <a:ea typeface="Arial" pitchFamily="34" charset="-122"/>
                <a:cs typeface="Arial" pitchFamily="34" charset="-120"/>
              </a:rPr>
              <a:t>Task tests</a:t>
            </a:r>
            <a:endParaRPr lang="en-US" sz="1523" dirty="0"/>
          </a:p>
        </p:txBody>
      </p:sp>
      <p:sp>
        <p:nvSpPr>
          <p:cNvPr id="24" name="Text 22"/>
          <p:cNvSpPr txBox="1"/>
          <p:nvPr/>
        </p:nvSpPr>
        <p:spPr>
          <a:xfrm>
            <a:off x="946879" y="4680832"/>
            <a:ext cx="10297937" cy="260425"/>
          </a:xfrm>
          <a:prstGeom prst="rect">
            <a:avLst/>
          </a:prstGeom>
          <a:noFill/>
          <a:ln/>
        </p:spPr>
        <p:txBody>
          <a:bodyPr wrap="square" lIns="0" tIns="0" rIns="0" bIns="0" rtlCol="0" anchor="ctr"/>
          <a:lstStyle/>
          <a:p>
            <a:pPr algn="l" indent="0" marL="0">
              <a:lnSpc>
                <a:spcPct val="116000"/>
              </a:lnSpc>
              <a:buNone/>
            </a:pPr>
            <a:r>
              <a:rPr lang="en-US" sz="1523" b="1" dirty="0">
                <a:solidFill>
                  <a:srgbClr val="1E1B4B"/>
                </a:solidFill>
                <a:latin typeface="Arial" pitchFamily="34" charset="0"/>
                <a:ea typeface="Arial" pitchFamily="34" charset="-122"/>
                <a:cs typeface="Arial" pitchFamily="34" charset="-120"/>
              </a:rPr>
              <a:t>Example to explain aloud</a:t>
            </a:r>
            <a:endParaRPr lang="en-US" sz="1523" dirty="0"/>
          </a:p>
        </p:txBody>
      </p:sp>
      <p:sp>
        <p:nvSpPr>
          <p:cNvPr id="25" name="Text 23"/>
          <p:cNvSpPr txBox="1"/>
          <p:nvPr/>
        </p:nvSpPr>
        <p:spPr>
          <a:xfrm>
            <a:off x="946879" y="4993341"/>
            <a:ext cx="10297937" cy="468764"/>
          </a:xfrm>
          <a:prstGeom prst="rect">
            <a:avLst/>
          </a:prstGeom>
          <a:noFill/>
          <a:ln/>
        </p:spPr>
        <p:txBody>
          <a:bodyPr wrap="square" lIns="0" tIns="0" rIns="0" bIns="0" rtlCol="0" anchor="ctr"/>
          <a:lstStyle/>
          <a:p>
            <a:pPr algn="l" indent="0" marL="0">
              <a:lnSpc>
                <a:spcPct val="116000"/>
              </a:lnSpc>
              <a:buNone/>
            </a:pPr>
            <a:r>
              <a:rPr lang="en-US" sz="1582" dirty="0">
                <a:solidFill>
                  <a:srgbClr val="1F2937"/>
                </a:solidFill>
                <a:latin typeface="Arial" pitchFamily="34" charset="0"/>
                <a:ea typeface="Arial" pitchFamily="34" charset="-122"/>
                <a:cs typeface="Arial" pitchFamily="34" charset="-120"/>
              </a:rPr>
              <a:t>Illustration: top-p .8 keeps three.</a:t>
            </a:r>
            <a:endParaRPr lang="en-US" sz="1582" dirty="0"/>
          </a:p>
        </p:txBody>
      </p:sp>
      <p:sp>
        <p:nvSpPr>
          <p:cNvPr id="26" name="Text 24"/>
          <p:cNvSpPr txBox="1"/>
          <p:nvPr/>
        </p:nvSpPr>
        <p:spPr>
          <a:xfrm>
            <a:off x="946879" y="5529072"/>
            <a:ext cx="10297937" cy="461324"/>
          </a:xfrm>
          <a:prstGeom prst="rect">
            <a:avLst/>
          </a:prstGeom>
          <a:noFill/>
          <a:ln/>
        </p:spPr>
        <p:txBody>
          <a:bodyPr wrap="square" lIns="0" tIns="0" rIns="0" bIns="0" rtlCol="0" anchor="ctr"/>
          <a:lstStyle/>
          <a:p>
            <a:pPr algn="l" indent="0" marL="0">
              <a:lnSpc>
                <a:spcPct val="116000"/>
              </a:lnSpc>
              <a:buNone/>
            </a:pPr>
            <a:r>
              <a:rPr lang="en-US" sz="1523" dirty="0">
                <a:solidFill>
                  <a:srgbClr val="1F2937"/>
                </a:solidFill>
                <a:latin typeface="Arial" pitchFamily="34" charset="0"/>
                <a:ea typeface="Arial" pitchFamily="34" charset="-122"/>
                <a:cs typeface="Arial" pitchFamily="34" charset="-120"/>
              </a:rPr>
              <a:t>Next: evaluate prompt changes.</a:t>
            </a:r>
            <a:endParaRPr lang="en-US" sz="1523" dirty="0"/>
          </a:p>
        </p:txBody>
      </p:sp>
      <p:sp>
        <p:nvSpPr>
          <p:cNvPr id="27" name="Text 25"/>
          <p:cNvSpPr txBox="1"/>
          <p:nvPr/>
        </p:nvSpPr>
        <p:spPr>
          <a:xfrm>
            <a:off x="548640" y="6044184"/>
            <a:ext cx="11094415" cy="338328"/>
          </a:xfrm>
          <a:prstGeom prst="rect">
            <a:avLst/>
          </a:prstGeom>
          <a:noFill/>
          <a:ln/>
        </p:spPr>
        <p:txBody>
          <a:bodyPr wrap="square" lIns="0" tIns="0" rIns="0" bIns="0" rtlCol="0" anchor="t"/>
          <a:lstStyle/>
          <a:p>
            <a:pPr indent="0" marL="0">
              <a:buNone/>
            </a:pPr>
            <a:r>
              <a:rPr lang="en-US" sz="1600" dirty="0">
                <a:solidFill>
                  <a:srgbClr val="1E1B4B"/>
                </a:solidFill>
                <a:latin typeface="Calibri" pitchFamily="34" charset="0"/>
                <a:ea typeface="Calibri" pitchFamily="34" charset="-122"/>
                <a:cs typeface="Calibri" pitchFamily="34" charset="-120"/>
              </a:rPr>
              <a:t>Exit question: Longer thinking proves correctness?</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6: Large Language Models (LLMs) and families</dc:title>
  <dc:subject>Generative AI (MSc in Artificial Intelligence)</dc:subject>
  <dc:creator>Generative AI module team</dc:creator>
  <cp:lastModifiedBy>Generative AI module team</cp:lastModifiedBy>
  <cp:revision>1</cp:revision>
  <dcterms:created xsi:type="dcterms:W3CDTF">2026-10-11T21:26:09Z</dcterms:created>
  <dcterms:modified xsi:type="dcterms:W3CDTF">2026-10-11T21:26:09Z</dcterms:modified>
</cp:coreProperties>
</file>