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assistants can give different answers to the same question. We will trace the causes: their training, inputs, token-selection rules and surrounding application. Analogy: two cooks can use different recipes and ingredients. Ask: could the same assistant also answer differently twice? Common mistake: the visible question is only part of a request; hidden instructions, sources, settings and model versions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By the end, explain one model request from text preparation to answer checking. Compare architectures, access and settings without relying on a brand name. Analogy: learn to read a tool’s datasheet before choosing it. Ask: what would you measure when choosing a student-support classifier? Common mistake: the biggest or best-known model need not meet your task, privacy, time and cost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Start with the history of the operation, then how training learns it, then how generation chooses outputs. Compare families only after understanding those differences. Finish with model cards, licences and actual task tests. Analogy: understand a vehicle’s engine before comparing models at a showroom. Ask: which part changes a weight: training or decoding? Common mistake: changing temperature changes selection, not stored knowledge.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Token ID: An integer identifying a text unit in one particular tokenizer's vocabulary. Check: Must two different tokenizers assign the same IDs to 'Dublin'? Answer: No. Each tokenizer has its own vocabulary and its own IDs. Probability distribution: Nonnegative probabilities for possible outcomes, adding to one. Check: Do [0.6, 0.3, 0.1] form a probability distribution? Answer: Yes. All values are non-negative and 0.6 + 0.3 + 0.1 = 1. Causal language model: A model predicting the next token from the tokens already present. Check: What input is available before the next answer token is generated? Answer: Only the prompt and any tokens already generated, never later tokens.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Collect answers for three minutes. Good answers: different model families and sizes; different pre-training data and cut-off dates; different post-training and safety policies; different system prompts; whether web search or other tools are used; and sampling randomness, which students met in week 1. Asking the same assistant twice can give different answers because of sampling, and even with the same settings because of server-side changes. Today's lecture explains each of these factors. Keep the list: it becomes a checklist for comparing models in the lab.
Analogy: Two weather services can forecast differently because they use different models, data and update times.
Ask: Which of your reasons still apply if the same assistant answers twice?
Answer: Sampling randomness and server-side changes. The model family, training data and cut-off date stay the same.
Common mistake: Blaming every difference on the model's knowledge. Decoding settings, hidden instructions and tools change answers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one is a short history of natural language processing, told as a sequence of ideas, each fixing a weakness of the previous one: counting word sequences, representing words as vectors, reading sequences with recurrent networks, attention, pre-training and scale. Students who understand this sequence can explain why today's LLMs are designed as they are. About twelve minutes.
Analogy: Counts are a phrasebook; word vectors are a thesaurus; attention reads the whole sentence before choosing a meaning.
Ask: Which came first: sharing knowledge between similar words, or using the surrounding sentence?
Answer: Sharing between similar words, with neural word vectors (2003 to 2013). Context-dependent vectors came with RNNs and then attention.
Common mistake: Reading the history as a list of products. Each step fixed a specific limitation of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chat interface hides several transformations. First, the user's question becomes a message with a role. A chat template adds the model-specific formatting that distinguishes user text from the assistant reply. The tokenizer converts that formatted input into IDs. The decoder then predicts successive tokens; its generation settings determine how each prediction is chosen. The returned tensor includes both the input and generated continuation, so the helper slices away the input before decoding the answer. No training happens during this call: the model's learned weights stay fixed. The lab compares this decoder workflow with BERT's masked-token prediction and Flan-T5's separate input encoder and output decoder. Those families perform different operations even when their demonstrations use similar questions. The token count and elapsed time describe this measured call, rather than guaranteeing answer quality.
Worked example:
The question 'What is the capital of Ireland?' is placed in a user message.
The chat template adds the role and assistant-start formatting expected by Qwen.
Generation repeatedly predicts another token until stopping or reaching its budget.
The code slices off the input so the returned answer contains new tokens only.
The same helper returns a token count and elapsed seconds for comparison.
Check: Why does chat slice the generated tensor at the original input length?
Answer: Because decoder generation returns input IDs followed by the continuation; the helper returns only the new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Walk along the timeline. Early systems used hand-written rules and statistics such as n-gram language models, which count how often word sequences occur. Word2vec in 2013 represented words as dense vectors learned from context, so similar words got similar vectors. Sequence-to-sequence RNNs in 2014, with attention added in 2015, made neural translation work. The transformer in 2017 removed recurrence. In 2018, BERT and GPT showed that pre-training on unlabelled text and then fine-tuning beats task-specific models. GPT-3 in 2020 showed that scale enables few-shot prompting. ChatGPT in 2022 added instruction and preference tuning. Since then: open weights, multimodality, reasoning models and agents.
Analogy: A family album shows each generation; the resemblance is clear, but each face is new.
Ask: In which year did pre-training on unlabelled text and then fine-tuning become the standard recipe?
Answer: 2018, with BERT and GPT.
Common mistake: Treating ChatGPT (2022) as the start of language modelling. It built on decades of earlier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n-gram model is exactly the bigram name model from the week 1 lab, applied to words. It works surprisingly well for short contexts and powered speech recognition and machine translation for decades. Its two fatal weaknesses motivate everything after it. First, sparsity: the number of possible word sequences explodes with n, so most are never observed and get zero probability. Second, words are atomic symbols, so knowledge about cat does not transfer to dog. Neural language models, starting with Bengio and colleagues in 2003, fixed both by representing words as learned vectors and predicting with a network that generalises.
Analogy: A phrasebook only helps with phrases it already contains.
Ask: The training text contains purple cat but never purple cat sat. What does the trigram estimate give sat after purple cat?
Answer: Zero, unless the model uses smoothing or falls back to shorter contexts.
Common mistake: Thinking more training text removes sparsity. The number of possible phrases grows much faster than any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table is a compact exam answer to 'describe the evolution of NLP'. Each row fixes the previous row's main limitation. Word embeddings gave similarity but one vector per word regardless of context, so bank by a river and bank with money were identical. RNNs gave context-dependent representations but were sequential and forgetful. Transformer LLMs give contextual representations over very long contexts with parallel training. The last column reminds students that LLMs have their own limitations, which we address in weeks 7, 8 and 12.
Analogy: A dictionary gives one entry per word; a reader uses the sentence to choose the right meaning.
Ask: What changes when bank appears beside river instead of money?
Answer: For word2vec, nothing: bank has one fixed vector. For a transformer, the vector for bank changes with its neighbours.
Common mistake: Treating a static word vector as a contextual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two explains what makes an LLM large and capable: the pre-training pipeline and its data, the compute budget, the empirical scaling laws that guided how big models and datasets should be, the phenomenon of in-context learning and the debate about emergent abilities, and the context window. About twenty-five minutes.
Analogy: Training is repeated practice; the context is the worksheet available during one attempt.
Ask: Does adding a document to this request increase the number of stored model parameters?
Answer: No. The document fills part of the context for this request only; the weights stay the same.
Common mistake: Treating context as memory. The model keeps nothing from a request once it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Pre-training learns general language patterns from text. The text supplies both input tokens and known next-token targets. A decoder with a causal mask predicts scores without reading future answers. Cross-entropy measures prediction error, and the optimiser adjusts the learned weights. Developers repeat this across many batches and check held-out text. Post-training then uses instruction examples and feedback to improve assistant behaviour. This is a conceptual process diagram, not a claim that the week 6 lab pre-trains an LLM. The lab loads published weights and compares inference behaviour. The target branch goes directly to the loss. The dashed loop belongs to the weight-update step; post-training happens after pre-training.
Worked example:
For a token sequence [A, B, C, D], inputs [A, B, C] pair with targets [B, C, D].
The first position predicts B using A. The second predicts C using A and B.
The training update changes weights. A later chat request uses those learned weights.
Two assistants can differ because of pre-training, post-training or the application around the model.
Check: Does the week 6 pipeline call learn new weights from your question?
Answer: No. It loads pretrained weights and runs inference. The diagram describes how developers trained those weights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expands the week 1 pipeline. Data collection draws on web crawls such as Common Crawl, books, code repositories, scientific papers and multilingual text. Cleaning is a major engineering effort: removing duplicates, which otherwise get memorised; filtering low-quality or unsafe pages, often with classifier models; and removing benchmark test sets to avoid contamination. A tokenizer is trained on the data. Pre-training runs next-token prediction on thousands of GPUs for weeks. Post-training, week 8, turns the base model into an assistant. Emphasise that the architecture is the one from last week, simply scaled up.
Analogy: A kitchen sorts and washes ingredients before cooking; one bad batch spoils every dish.
Ask: Why remove benchmark test questions from the training data?
Answer: Otherwise the model may have seen the answers, so its test score overstates its ability. This is called contamination.
Common mistake: Thinking an LLM needs a new architecture. It is last week's transformer, scaled up and trained on far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approximation from the scaling-law literature is worth memorising. Each parameter participates in about two floating-point operations per token in the forward pass and about four in the backward pass. Work through the example: seven billion parameters times two trillion tokens times six is about eight point four times ten to the twenty-two operations. Divide by an effective throughput of four hundred teraflops per second per GPU, allowing for real-world efficiency, and you get roughly fifty-eight thousand GPU-hours, or a thousand GPUs for about two and a half days. Frontier models use orders of magnitude more. This is why most organisations adapt existing models rather than pre-training.
Analogy: Estimating a building job: workers times days times work per worker per day.
Ask: Estimate the training compute for a 1 B-parameter model trained on 20 B tokens.
Answer: 6 × 10⁹ × 2 × 10¹⁰ = 1.2 × 10²⁰ operations.
Common mistake: Reading 6ND as a time. It counts operations; time depends on hardware throughput and 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Scaling laws fit how average language-model loss changes with size and training data in particular experimental setups. The Chinchilla result is a useful compute-planning guide, not a universal ratio. Later small models often train on more tokens because cheaper inference matters across many requests. Ask students to compute 20 tokens per parameter for a one-billion-parameter model: twenty billion training tokens. Then explain why deployment cost can justify a different choice.
Analogy: Scaling a recipe needs every ingredient in proportion; extra flour alone does not make a better cake.
Ask: Why do small modern models train on far more than 20 tokens per parameter?
Answer: A smaller model is cheaper to run, so extra training is worth it when the model will answer many requests.
Common mistake: Treating 20 tokens per parameter as a law. It is the compute-optimal result of one experimental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figures give a sense of the data scale. GPT-3 trained on about three hundred billion tokens. Chinchilla used one point four trillion for a seventy-billion-parameter model. Hugging Face's FineWeb, released openly in 2024, contains about fifteen trillion tokens of filtered web text, showing that open datasets now reach frontier scale. Meta reported more than fifteen trillion tokens for Llama 3. A trillion tokens is roughly seven hundred and fifty billion words, well over a hundred times the text of English Wikipedia. At this scale data quality, filtering and deduplication, not just quantity, determine model quality.
Analogy: A library far larger than anyone could read in many lifetimes.
Ask: Roughly how many English words are in 15 trillion tokens?
Answer: About 11 trillion, using about 0.75 English words per token.
Common mistake: Assuming more data always helps. Filtering and removing duplicates matter as much as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GPT-3's paper was titled Language Models are Few-Shot Learners: given a handful of input-output examples in the prompt, a large model continues the pattern for new inputs. This in-context learning is the foundation of prompt engineering next week. Researchers also reported emergent abilities that seemed to appear suddenly above some size. Schaeffer and colleagues showed that many such jumps are artefacts of all-or-nothing metrics such as exact match; measured with a continuous metric, performance often improves smoothly. The practical message is not to assume a capability from model size, but to test it.
Analogy: Showing a new colleague two completed forms before handing over a blank one.
Ask: In good → positive; awful → negative; great → ?, what does the model do, and does any weight change?
Answer: It continues the pattern with positive. No weight changes: the examples are only part of the input.
Common mistake: Calling in-context learning training. The examples are gone once the request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context window is the maximum number of tokens the model can attend to in one call, including the prompt, the conversation history, any documents or tool outputs, and the generated answer. It grew from a few thousand to over a million tokens thanks to rotary scaling and efficient attention from last week. Two caveats. Longer context costs more money and time, since attention and the KV cache scale with length. And models do not use long contexts uniformly: Liu and colleagues found in 2023 that information in the middle of a long input is used less reliably than information at the start or end. Selecting relevant context remains important.
Analogy: The context is a desk of fixed size: everything for this task must fit on it at once.
Ask: A model has an 8,000-token context. Instructions use 500 tokens and a document 7,000. How many tokens are left for the answer?
Answer: 500, so a long answer would be cut off.
Common mistake: Assuming the model uses a long context evenly. Details in the middle are used less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real counts computed for the lecture. The same English sentence, an Irish translation and a short Python function were tokenised with the tokenisers of GPT-2, BERT, Flan-T5, Qwen 2.5 and SmolLM2. English is cheap for all of them; Irish and code vary much more. Larger vocabularies trained on multilingual and code data, such as Qwen's, usually need fewer tokens for such text. Because pricing, speed and context limits are all measured in tokens, the tokeniser is a practical factor in model choice, not just a technical detail. Students repeat this comparison in the first part of the lab.
Analogy: The same journey can cost different fares on different transport systems.
Ask: Why might an Irish-language request cost more than the same request in English?
Answer: Irish text splits into more tokens with most of these tokenisers, and price, speed and context limits are counted in tokens.
Common mistake: Comparing token counts as if a token were the same unit in every tokeniser.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three returns to the decoding ideas from week 1 in more depth, now that we understand the model producing the probabilities. We compare the main strategies, look at real next-token distributions from a small open LLM, and check understanding with a quiz. About thirteen minutes.
Analogy: The model provides a menu of scores; decoding chooses from that menu.
Ask: With probabilities 0.56, 0.21, 0.12, 0.08, 0.03, how many candidates does top-p keep for p = 0.8?
Answer: Three. 0.56 + 0.21 = 0.77 is still below 0.8; adding 0.12 gives 0.89.
Common mistake: Thinking top-p keeps a percentage of vocabulary entries. It keeps a share of probability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neural model provides logits, unnormalised scores for all vocabulary tokens. Decoding is the policy used to turn those scores into a continuation. Greedy decoding chooses the highest-scoring token; the sample helper instead draws a token from probabilities. Temperature rescales logits: a lower positive value concentrates probability on stronger candidates, while a higher value spreads it. Top-k filtering uses a score threshold based on the kth candidate; ties at that threshold can retain additional tokens. Top-p filtering keeps enough leading candidates to reach a chosen cumulative probability, so its retained count depends on model confidence. The chosen token changes the next prefix and therefore the next prediction. A more diverse output is not necessarily more accurate. The manual loop runs its specified number of steps; it does not contain an explicit end-of-sequence stopping test.
Worked example:
The lab's five scores [2, 1, 0.5, 0.1, −1] give probabilities about [0.56, 0.21, 0.12, 0.08, 0.03].
Top-k with k=2 retains the two highest-scoring candidates in this example.
Top-p with p=0.8 instead retains three: their cumulative probability first exceeds 0.8.
Removed candidates get zero probability; retained probabilities are renormalised.
Sampling selects one ID, which is appended before the next model call.
Check: Why can top-p retain different numbers of candidates at successive positions?
Answer: The probability distribution changes with the prefix; a confident distribution needs fewer candidates to reach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Separate model prediction from token choice. Greedy picks the highest score. Beam keeps candidate sequences. Sampling can rescale scores with positive temperature, keep top-k candidates, or keep enough probability mass for top-p. Repetition penalties can harm necessary repeated names or code. Analogy: choose from a menu whose scores change after each choice. Ask: does top-p of 0.8 keep eighty percent of vocabulary entries? Common mistake: it keeps a leading group reaching eighty percent probability mass. Greedy selection can still be wrong, and hosted services may change even with fixed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figure shows next-token probabilities from a base model. A high score for a blank marker means that continuation is likely under this prefix. It does not establish the exact training examples responsible. Base training and assistant post-training optimise different behaviour. An instruction model may answer the factual question more directly, but its claim still needs verification. Ask students to distinguish a probability estimate from evidence that a fact is true.
Analogy: A weather forecast gives a chance of rain, not a promise.
Ask: The base model gives Dublin a probability of about 0.05 after The capital of Ireland is. Does that make Dublin unlikely to be the capital?
Answer: No. The score describes likely continuations of the text, such as a quiz blank, not whether a fact is true.
Common mistake: Reading a next-token probability as the model's confidence in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D. Extraction has one correct answer, so we want the most likely tokens, deterministically, and we should validate the output format, for example with a JSON schema, which is covered next week. A adds randomness and errors to a task that needs none. C is unnecessary, and a strong repetition penalty could corrupt numbers that legitimately repeat digits. B increases the chance of rare, wrong tokens. A good follow-up: for brainstorming marketing slogans, which setting would you pick instead? Higher temperature with top-p.
Analogy: Copying figures from an invoice needs accuracy, not creativity.
Ask: Why is output validation still needed with greedy decoding?
Answer: The most likely token can still be wrong, and the output can still break the JSON format.
Common mistake: Thinking greedy decoding guarantees a correct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Welcome back. Section four is the map of the model landscape. We organise models by architecture family, then by access, proprietary or open-weight, and then by the newer categories that matter for choosing a model: small language models, mixture-of-experts models and reasoning models. The goal is not to memorise product names, which change every month, but to be able to place any new model on this map.
Analogy: Sort tools by their job (reading, translating or continuing) before choosing a brand.
Ask: Which branch do GPT, BERT, LLaMA and T5 each belong to?
Answer: BERT is encoder-only; T5 is encoder–decoder; GPT and LLaMA are decoder-only.
Common mistake: Treating open weights as an architecture. Access and architecture are separate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modern language models descend from the 2017 transformer. The encoder-only branch, starting with BERT, produces representations: classification and embeddings for search; ModernBERT in 2024 showed this branch is still active. The encoder-decoder branch, T5 and BART, maps inputs to outputs; Whisper for speech is also here. The decoder-only branch is where almost all chat models sit: OpenAI's GPT family, Anthropic's Claude, Google's Gemini, Meta's Llama, Alibaba's Qwen, DeepSeek, Mistral, Microsoft's Phi, Ai2's OLMo, which releases its data too, and OpenAI's open-weight gpt-oss models released in 2025. Stress that the descriptor's GPT, BERT, LLaMA and T5 fall into three different branches.
Analogy: A family tree groups relatives by descent, not by fame.
Ask: Where does Whisper, the speech recogniser, sit on this tree?
Answer: In the encoder–decoder branch: the encoder reads audio features and the decoder writes the transcript.
Common mistake: Assuming every famous model is a chat model. BERT cannot write free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corresponds directly to the descriptor's tutorial activity, comparing outputs across families. In the lab students give the same inputs to all three. BERT, given the capital of Ireland is mask, ranks candidate words for the blank. Flan-T5, an instruction-tuned T5, answers questions, translates or summarises when the task is stated in the input. A decoder chat model answers in open-ended text. The teaching notes list the actual outputs we obtained when preparing the lecture. The key conceptual point is that these are different tools, not better or worse versions of the same thing.
Analogy: A highlighter, a translator and a writer can work on the same page but do different jobs.
Ask: In the lab, which model fills one blank, and which models write a new sequence?
Answer: BERT fills the blank; Flan-T5 and Qwen write new text.
Common mistake: Calling one family better than another. They are built for different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table maps the main families to their developers and access models; version numbers are deliberately omitted. Proprietary families are used through the developer's app or API. Open-weight families can be downloaded, but licences differ: Qwen and OLMo mostly use the permissive Apache 2.0 licence; DeepSeek's R1 used MIT; Llama uses a community licence with conditions and requires accepting it on Hugging Face; Gemma has its own terms. The line between the two worlds is blurred: Google has both Gemini and Gemma, OpenAI released gpt-oss, and Mistral offers both. Students must check the licence before using a model in a project or product.
Analogy: A published recipe versus a restaurant meal: you can cook the recipe yourself, but only under the author's terms.
Ask: Can you download GPT or Claude weights and run them locally?
Answer: No. Those are used through an API or app. OpenAI's separate gpt-oss models are open-weight.
Common mistake: Assuming open weights mean unrestricted use. Each release has its own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Beyond architecture and access, four categories guide real choices. Small language models have improved dramatically through better data and distillation; a well-trained few-billion-parameter model now matches much larger models of a few years ago on many tasks and can run locally, which helps privacy and cost. Mixture-of-experts models trade memory for speed, as we saw last week. Reasoning models spend extra compute at inference time. Multimodal LLMs are covered in weeks 9 and 10. A single product may combine several: a small model for routing, a reasoning model for hard cases.
Analogy: A toolbox holds a pocket knife, a drill and a tape measure; you pick by the job.
Ask: Mixtral 8×7B uses about 13 B parameters per token. How many must be held in memory?
Answer: All of them, about 47 B.
Common mistake: Thinking a mixture-of-experts model needs only the memory of its active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Measured (Qwen3-0.6B, 3 runs per mode, thinking off vs on): word problem: 3/3 vs 3/3 correct, ≈154 vs ≈783 tokens; scheduling puzzle: 1/3 vs 0/3 correct, ≈117 vs ≈2,048 tokens (thinking hit its 2,048-token limit every time). Extra thinking spends inference computation. Check final answers, completion, tokens and time. The stored Qwen3 experiment compares complete settings, including different sampling rules and output budgets. Read correctness, finished replies, tokens and time together; do not infer a universal gain from two problems. Its model card recommends sampling in thinking mode. Analogy: extra scratch-paper work can help a capable solver, but can also run out of time. Ask: did extra tokens buy a correct final answer in this recorded case? Common mistake: longer generated reasoning is neither guaranteed correctness nor a faithful account of internal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C. T5, the Text-to-Text Transfer Transformer, is an encoder-decoder model that casts every task, from translation to classification, as generating an output text from an input text. A is wrong: BERT is an encoder. B is wrong: most open-weight releases publish weights only; fully open models such as OLMo that also release data and code are the exception. D is the opposite of the truth: reasoning models spend more computation at inference time, so they are usually slower and more expensive per answer.
Ask: How would you correct option A?
Answer: BERT is an encoder that reads the whole input; GPT is a decoder that generates text.
Common mistake: Choosing B. Most open-weight releases share weights only; OLMo, which also releases data and code, is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section is practical. We look at what a model card should tell you, what licences allow, how to read benchmark tables critically, the trade-offs between calling an API and running a model locally, the code for both, typical applications, a process for choosing a model, and the responsible-AI issues specific to LLMs. This section feeds directly into the project, where groups must justify their model choice.
Analogy: A model card is a datasheet; your test set is the inspection before purchase.
Ask: What evidence would justify choosing a model for this particular task?
Answer: Results on your own test examples with fixed settings, plus checks of licence, cost and privacy.
Common mistake: Treating a leaderboard, a fluent answer or a longer reasoning trace as enough evidence of task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Model cards, proposed by Mitchell and colleagues in 2019, are the standard documentation for models on Hugging Face and elsewhere. Teach students to read them like a datasheet before using a model. Quality varies widely: some cards are detailed, others are a few lines. Missing information, such as undisclosed training data, is itself important information for a risk assessment. In the lab, students fill in this table for two models they use, and the project requires it for every model the group relies on.
Analogy: A medicine leaflet lists intended use, side effects and who should not take it.
Ask: A model card says nothing about training data. What should you do?
Answer: Record the gap as a risk, and test for problems unknown data could cause, such as weak languages or missing recent facts.
Common mistake: Treating a missing section as a sign that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Licences decide what students and their future employers may legally do with a model. Permissive licences such as Apache 2.0 and MIT allow commercial use and modification with attribution. Community licences such as Llama's and Gemma's allow broad free use but impose acceptable-use policies and, for Llama, require a separate licence for services with more than seven hundred million monthly users. OpenRAIL licences, used by Stable Diffusion 1.5, list prohibited uses. Research licences forbid commercial use. API terms govern data retention and outputs. The table simplifies; the project requires groups to quote the actual licence of each model they use.
Analogy: A tenancy agreement says what you may do in a flat; having the key does not permit everything.
Ask: May a start-up use a Llama model in a product with one million monthly users?
Answer: Usually yes, under the Llama community licence and its acceptable-use policy; the extra licence applies above 700 million monthly users. Read the exact release's licence.
Common mistake: Treating downloadable as free for any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Benchmark tables appear in every model release. Explain what the common ones measure and why caution is needed. Contamination: benchmark questions leak into web-scraped training data, inflating scores. Saturation: when all top models score above ninety percent, differences are noise. Prompt sensitivity: scores change with formatting and the number of examples. Arena-style human preference rankings capture real prompts but favour longer, more confident answers. The practical rule, developed next week, is to build a small evaluation set for your own task and test shortlisted models on it with fixed settings.
Analogy: A driving test checks some skills on one day; it does not show how someone drives in snow.
Ask: Two models score 92% and 93% on GSM8K. Is the second better for your task?
Answer: Not shown. GSM8K is near its ceiling, the gap may be noise, and your task may differ. Test both on your own examples.
Common mistake: Treating leaderboard rank as evidence of quality on your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choice appears in every project. Hosted APIs give the best capability without hardware, but send data to a provider and cost money per token; models may be updated or retired, which harms reproducibility. Running an open model locally gives privacy, control and a fixed version, and makes fine-tuning possible, but requires hardware and operational effort, and small local models are less capable. Many organisations use both. Week 11 covers deployment in detail; this week students try both routes in the lab, using free options.
Analogy: Renting a car versus owning one: renting needs no garage; owning gives control, but you do the maintenance.
Ask: A hospital cannot send patient notes outside its network. Which route fits?
Answer: A self-hosted open model, or a provider contract that keeps the data inside an approved environment.
Common mistake: Assuming a hosted model never changes. Record the model version and re-test after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Hugging Face Transformers library is the standard way to use open models in Python. The pipeline function hides the tokenizer, model and processing behind one call per task. For chat models we pass a list of messages with roles; the pipeline formats them with the model's chat template, the special tokens it was trained with, which we meet again in fine-tuning in week 8. Use deterministic decoding when comparing models, as here. In the lab students run these exact cells, and the notebook explains how to control device placement and generation settings.
Analogy: A pipeline is a vending machine: one button hides several steps.
Ask: Why does the chat example pass a list of messages rather than a plain string?
Answer: The pipeline applies the model's chat template, which marks each role with the special tokens the model was trained with.
Common mistake: Comparing models with sampling turned on. Use do_sample=False so that differences come from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local request applies the chat template and creates input IDs before generation. A hosted API accepts role/content messages and lets its provider format and run the model. These are alternative routes; the client does not normally send its locally tokenised IDs to a chat API. Local decoder outputs include the input prefix, which must be sliced away. Hosted chat responses already separate the answer message. Record model, settings, date, usage and time, then check correctness. Keep keys in secrets; availability and usage fields depend on the provider.
Worked example:
Send a user message asking for one sentence explaining tokens.
Set max_new_tokens to a small answer budget for the local call.
Compare the returned answer with the request. The original question should not appear as generated output.
Log local timing or hosted usage and keep the same prompt when comparing models.
Check: Why can token counts differ for the same question sent to two models?
Answer: The models may use different tokenizers and chat templates. Compare each model's actual formatted input and output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hosted request sends messages and settings to a provider. The documented InferenceClient chat-completion pattern is supported, but availability of a particular hosted model changes. Select a currently supported model and handle missing usage or provider errors. The local route remains available. Analogy: the API is a service counter with an agreed request form. Ask: which metadata would let someone repeat this comparison later? Common mistake: a token does not guarantee free access to every model, and an API-compatible shape does not guarantee identical provider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Summarise the applications. LLMs are excellent at transforming text: drafting, rewriting, summarising, translating, extracting information into structured formats, explaining and writing code. With tools, such as retrieval, code execution and search, they can answer questions over private documents and perform calculations reliably. They are weak at recalling rare or recent facts, producing exact citations, arithmetic without tools, and anything that depends on character-level details, because they see tokens rather than letters. High-stakes uses need human review. This framing prepares for weeks 7, 11 and 12.
Analogy: A writer with a calculator and a library card produces more reliable work than one without.
Ask: Why might an LLM miscount the letter r in strawberry?
Answer: It reads tokens, not letters, so character-level details are hidden from it.
Common mistake: Trusting a citation because it looks real. Check every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five-step process is what the project expects. Define the task precisely, including examples of good outputs. List constraints: data that cannot leave the organisation rules out some APIs; a mobile app needs a small model. Shortlist a few candidates across families and sizes. Evaluate them on your own test set with fixed prompts and settings, measuring quality, cost per request and latency. Decide, document the reasoning, and plan to re-test, because hosted models change and new models appear every month. Week 7 teaches how to build the evaluation set.
Analogy: Hiring: define the job, shortlist candidates, give them the same tasks, then keep reviewing.
Ask: Why must every shortlisted model use the same examples and settings?
Answer: Otherwise a difference could come from the test rather than the model.
Common mistake: Choosing a model once and never re-testing. Hosted models change and new ones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responsible-AI issues for LLMs combine what we have seen before with some specific points. Training-data transparency is poor across most of the industry, and legal cases about using copyrighted books and news continue. Bias shows up both as stereotyped content and as unequal quality across languages, connecting to tokenisation. Hallucination remains the central reliability risk. Memorisation can expose personal data from training sets. Open weights are a trade-off: they enable independent research, privacy-preserving local use and auditing, but also make safety measures easier to remove. The EU AI Act adds obligations for providers of general-purpose AI models.
Ask: Name one risk that open weights reduce and one they increase.
Answer: They allow independent audits and private local use; they also make safety measures easier to remove.
Common mistake: Assuming quality is the same in every language. Test the languages your users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is a sequence of comparison experiments, rather than one shared model pipeline. Token counts show how the same text becomes different pieces. The family demonstrations then expose different output interfaces: BERT ranks words for a blank, Flan-T5 transforms input text into output text, and Qwen continues a formatted conversation. Decoding experiments keep a story prefix fixed while changing how tokens are selected. Perplexity measures the predictability of supplied text, but differences in token boundaries prevent a direct per-token ranking across model families. The call log measures output length and elapsed time. Finally, the thinking experiment checks final numerical answers across sampled seeds, rather than trusting persuasive intermediate text. Different mode settings also use different token budgets and sampling parameters, so the comparison reflects the complete settings used, rather than isolating the thinking switch alone.
Worked example:
Count tokens for identical source text before comparing the models' outputs.
BERT fills [MASK]; T5 and Qwen generate text using different architectures.
Use the same story prefix for greedy, beam and sampled continuations.
Treat perplexity under different tokenisers as different prediction measurements.
For the scheduling puzzle, compare final-answer correctness, tokens and time across runs.
Check: Can lower perplexity from one tokenizer prove that its model answers questions better?
Answer: No. Tokenisers define different prediction units, and text predictability is not the same measurement as question-answer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lab implements the descriptor's tutorial for this week: use pretrained models, compare outputs across GPT, BERT and T5 style families, and query a GPT or LLaMA-family model through the Hugging Face API. We use Qwen, an openly licensed decoder family, because Llama downloads are gated behind a licence acceptance; students can optionally request Llama access. The decoding part asks them to implement top-k and top-p themselves. The API part works with a free Hugging Face token or falls back to a local model. The reasoning part makes test-time compute concrete.
Ask: Which part of the lab needs a key, and what happens without one?
Answer: The hosted API calls in Part 5. Without a key only the local row appears.
Common mistake: Comparing CPU results with the lecture's GPU numbers. The CPU path uses Flan-T5-small and shorter token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Karpathy's one-hour introduction is the best single overview; his longer deep dive covers reasoning models well. Google's short video is a gentle alternative. Chapters 1 and 2 of the Hugging Face LLM Course cover pipelines, models and tokenizers with runnable code. Tunstall and colleagues' chapters 1 and 5, and part one of Ozdemir's book, are the descriptor's readings. The Chinchilla paper is readable and important for the scaling discussion. All links were checked in September 2026.
Ask: Which resource would you start with if you have one hour?
Answer: Karpathy's one-hour introduction.
Common mistake: Watching videos without running code. The Hugging Face course chapters pair best with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Place today’s ideas along one request. Training created the weights earlier. The current message is formatted and tokenised, fits a context budget, and produces scores. Decoding chooses an output; checking establishes whether it met the task. Analogy: a tool’s design, availability and settings are separate entries on its datasheet. Ask students to contrast BERT mask filling, T5 text-to-text and a decoder continuation. Common mistake: an open-weight release is not automatically unrestricted or fully open source. Read the model card and exact licence, then evaluate accuracy, latency, token cost and failure cases. Extra thinking must earn its extra computation.
Exit question: Does a longer thinking trace prove a better answer?
Answer: No. Check final correctness, whether it finished, tokens and time on realistic examples.
Say: Recap the six points. Students should now be able to place any new model announcement on the map: which family, open or closed, how big, whether it reasons or is multimodal, and under what licence. Next week we move from choosing a model to using it well: prompt engineering, context engineering, structured outputs, and above all how to evaluate prompts and outputs systematically, which is also the core of MIMLO 4. Ask students to complete the lab and bring one prompt they use regularly.
Ask: A new model is announced tomorrow. Which questions place it on the map?
Answer: Which family, open or closed, how big, whether it reasons or is multimodal, and under what licence.
Common mistake: Choosing by brand name instead of measured task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youtube.com/watch?v=zjkBMFhNj_g" TargetMode="External"/><Relationship Id="rId4" Type="http://schemas.openxmlformats.org/officeDocument/2006/relationships/hyperlink" Target="https://www.youtube.com/watch?v=7xTGNNLPyMI" TargetMode="External"/><Relationship Id="rId6" Type="http://schemas.openxmlformats.org/officeDocument/2006/relationships/hyperlink" Target="https://www.youtube.com/watch?v=zizonToFXDs" TargetMode="External"/><Relationship Id="rId8" Type="http://schemas.openxmlformats.org/officeDocument/2006/relationships/hyperlink" Target="https://huggingface.co/learn/llm-course/chapter1/1" TargetMode="External"/><Relationship Id="rId10" Type="http://schemas.openxmlformats.org/officeDocument/2006/relationships/hyperlink" Target="https://developers.google.com/machine-learning/crash-course/llm" TargetMode="External"/><Relationship Id="rId12" Type="http://schemas.openxmlformats.org/officeDocument/2006/relationships/hyperlink" Target="https://www.oreilly.com/library/view/natural-language-processing/9781098136789/" TargetMode="External"/><Relationship Id="rId14" Type="http://schemas.openxmlformats.org/officeDocument/2006/relationships/hyperlink" Target="https://www.informit.com/store/quick-start-guide-to-large-language-models-strategies-9780138199197" TargetMode="External"/><Relationship Id="rId16" Type="http://schemas.openxmlformats.org/officeDocument/2006/relationships/hyperlink" Target="https://arxiv.org/abs/2203.15556"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06</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Large Language Models (LLMs) and families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language models learn, choose tokens and differ, and how to compare them for a task</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6\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how language modelling progressed.</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pre-training and post-training.</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Choose and explain token-selection settings.</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model architectures and access.</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model cards, licences and test results.</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Run a local model or hosted request.</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5</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FFF0E6"/>
          </a:solidFill>
          <a:ln w="15240">
            <a:solidFill>
              <a:srgbClr val="D55E00"/>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6: you are here</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Token ID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 integer identifying a text unit in one particular tokenizer's vocabulary.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Must two different tokenizers assign the same IDs to 'Dublin'?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Probability distribution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Nonnegative probabilities for possible outcomes, adding to 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 [0.6, 0.3, 0.1] form a probability distribution?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Causal language 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model predicting the next token from the tokens already present.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input is available before the next answer token is generated?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 ask two chat assistants the same question and get different answers. List every reason you can think of.</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Differences in the </a:t>
            </a:r>
            <a:pPr indent="0" marL="0">
              <a:buNone/>
            </a:pPr>
            <a:r>
              <a:rPr lang="en-US" sz="2200" b="1" dirty="0">
                <a:solidFill>
                  <a:srgbClr val="1F2937"/>
                </a:solidFill>
                <a:latin typeface="Calibri" pitchFamily="34" charset="0"/>
                <a:ea typeface="Calibri" pitchFamily="34" charset="-122"/>
                <a:cs typeface="Calibri" pitchFamily="34" charset="-120"/>
              </a:rPr>
              <a:t>model</a:t>
            </a:r>
            <a:pPr indent="0" marL="0">
              <a:buNone/>
            </a:pPr>
            <a:r>
              <a:rPr lang="en-US" sz="2200" dirty="0">
                <a:solidFill>
                  <a:srgbClr val="1F2937"/>
                </a:solidFill>
                <a:latin typeface="Calibri" pitchFamily="34" charset="0"/>
                <a:ea typeface="Calibri" pitchFamily="34" charset="-122"/>
                <a:cs typeface="Calibri" pitchFamily="34" charset="-120"/>
              </a:rPr>
              <a:t>? In the </a:t>
            </a:r>
            <a:pPr indent="0" marL="0">
              <a:buNone/>
            </a:pPr>
            <a:r>
              <a:rPr lang="en-US" sz="2200" b="1" dirty="0">
                <a:solidFill>
                  <a:srgbClr val="1F2937"/>
                </a:solidFill>
                <a:latin typeface="Calibri" pitchFamily="34" charset="0"/>
                <a:ea typeface="Calibri" pitchFamily="34" charset="-122"/>
                <a:cs typeface="Calibri" pitchFamily="34" charset="-120"/>
              </a:rPr>
              <a:t>training data</a:t>
            </a:r>
            <a:pPr indent="0" marL="0">
              <a:buNone/>
            </a:pPr>
            <a:r>
              <a:rPr lang="en-US" sz="2200" dirty="0">
                <a:solidFill>
                  <a:srgbClr val="1F2937"/>
                </a:solidFill>
                <a:latin typeface="Calibri" pitchFamily="34" charset="0"/>
                <a:ea typeface="Calibri" pitchFamily="34" charset="-122"/>
                <a:cs typeface="Calibri" pitchFamily="34" charset="-120"/>
              </a:rPr>
              <a:t>? In the </a:t>
            </a:r>
            <a:pPr indent="0" marL="0">
              <a:buNone/>
            </a:pPr>
            <a:r>
              <a:rPr lang="en-US" sz="2200" b="1" dirty="0">
                <a:solidFill>
                  <a:srgbClr val="1F2937"/>
                </a:solidFill>
                <a:latin typeface="Calibri" pitchFamily="34" charset="0"/>
                <a:ea typeface="Calibri" pitchFamily="34" charset="-122"/>
                <a:cs typeface="Calibri" pitchFamily="34" charset="-120"/>
              </a:rPr>
              <a:t>date</a:t>
            </a:r>
            <a:pPr indent="0" marL="0">
              <a:buNone/>
            </a:pPr>
            <a:r>
              <a:rPr lang="en-US" sz="2200" dirty="0">
                <a:solidFill>
                  <a:srgbClr val="1F2937"/>
                </a:solidFill>
                <a:latin typeface="Calibri" pitchFamily="34" charset="0"/>
                <a:ea typeface="Calibri" pitchFamily="34" charset="-122"/>
                <a:cs typeface="Calibri" pitchFamily="34" charset="-120"/>
              </a:rPr>
              <a:t> of training?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Differences in hidden </a:t>
            </a:r>
            <a:pPr indent="0" marL="0">
              <a:buNone/>
            </a:pPr>
            <a:r>
              <a:rPr lang="en-US" sz="2200" b="1" dirty="0">
                <a:solidFill>
                  <a:srgbClr val="1F2937"/>
                </a:solidFill>
                <a:latin typeface="Calibri" pitchFamily="34" charset="0"/>
                <a:ea typeface="Calibri" pitchFamily="34" charset="-122"/>
                <a:cs typeface="Calibri" pitchFamily="34" charset="-120"/>
              </a:rPr>
              <a:t>instructions</a:t>
            </a:r>
            <a:pPr indent="0" marL="0">
              <a:buNone/>
            </a:pPr>
            <a:r>
              <a:rPr lang="en-US" sz="2200" dirty="0">
                <a:solidFill>
                  <a:srgbClr val="1F2937"/>
                </a:solidFill>
                <a:latin typeface="Calibri" pitchFamily="34" charset="0"/>
                <a:ea typeface="Calibri" pitchFamily="34" charset="-122"/>
                <a:cs typeface="Calibri" pitchFamily="34" charset="-120"/>
              </a:rPr>
              <a:t>, </a:t>
            </a:r>
            <a:pPr indent="0" marL="0">
              <a:buNone/>
            </a:pPr>
            <a:r>
              <a:rPr lang="en-US" sz="2200" b="1" dirty="0">
                <a:solidFill>
                  <a:srgbClr val="1F2937"/>
                </a:solidFill>
                <a:latin typeface="Calibri" pitchFamily="34" charset="0"/>
                <a:ea typeface="Calibri" pitchFamily="34" charset="-122"/>
                <a:cs typeface="Calibri" pitchFamily="34" charset="-120"/>
              </a:rPr>
              <a:t>tools</a:t>
            </a:r>
            <a:pPr indent="0" marL="0">
              <a:buNone/>
            </a:pPr>
            <a:r>
              <a:rPr lang="en-US" sz="2200" dirty="0">
                <a:solidFill>
                  <a:srgbClr val="1F2937"/>
                </a:solidFill>
                <a:latin typeface="Calibri" pitchFamily="34" charset="0"/>
                <a:ea typeface="Calibri" pitchFamily="34" charset="-122"/>
                <a:cs typeface="Calibri" pitchFamily="34" charset="-120"/>
              </a:rPr>
              <a:t> (web search) or </a:t>
            </a:r>
            <a:pPr indent="0" marL="0">
              <a:buNone/>
            </a:pPr>
            <a:r>
              <a:rPr lang="en-US" sz="2200" b="1" dirty="0">
                <a:solidFill>
                  <a:srgbClr val="1F2937"/>
                </a:solidFill>
                <a:latin typeface="Calibri" pitchFamily="34" charset="0"/>
                <a:ea typeface="Calibri" pitchFamily="34" charset="-122"/>
                <a:cs typeface="Calibri" pitchFamily="34" charset="-120"/>
              </a:rPr>
              <a:t>decoding settings</a:t>
            </a:r>
            <a:pP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Would asking the </a:t>
            </a:r>
            <a:pPr indent="0" marL="0">
              <a:buNone/>
            </a:pPr>
            <a:r>
              <a:rPr lang="en-US" sz="2200" b="1" dirty="0">
                <a:solidFill>
                  <a:srgbClr val="1F2937"/>
                </a:solidFill>
                <a:latin typeface="Calibri" pitchFamily="34" charset="0"/>
                <a:ea typeface="Calibri" pitchFamily="34" charset="-122"/>
                <a:cs typeface="Calibri" pitchFamily="34" charset="-120"/>
              </a:rPr>
              <a:t>same</a:t>
            </a:r>
            <a:pPr indent="0" marL="0">
              <a:buNone/>
            </a:pPr>
            <a:r>
              <a:rPr lang="en-US" sz="2200" dirty="0">
                <a:solidFill>
                  <a:srgbClr val="1F2937"/>
                </a:solidFill>
                <a:latin typeface="Calibri" pitchFamily="34" charset="0"/>
                <a:ea typeface="Calibri" pitchFamily="34" charset="-122"/>
                <a:cs typeface="Calibri" pitchFamily="34" charset="-120"/>
              </a:rPr>
              <a:t> assistant twice give the same answer? Why or why not?</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evolution of NLP</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did we get from counting word pairs to chat assistants?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decoder chat request</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a user's question through the local model</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question + settings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formatted</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 [1,T]</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prefix + new IDs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IDs</a:t>
            </a:r>
            <a:endParaRPr lang="en-US" sz="1441" dirty="0"/>
          </a:p>
        </p:txBody>
      </p:sp>
      <p:sp>
        <p:nvSpPr>
          <p:cNvPr id="18" name="Shape 16"/>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19" name="Text 17"/>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User question</a:t>
            </a:r>
            <a:endParaRPr lang="en-US" sz="1561" dirty="0"/>
          </a:p>
        </p:txBody>
      </p:sp>
      <p:sp>
        <p:nvSpPr>
          <p:cNvPr id="20" name="Text 18"/>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Request +</a:t>
            </a:r>
            <a:endParaRPr lang="en-US" sz="1441" dirty="0"/>
          </a:p>
        </p:txBody>
      </p:sp>
      <p:sp>
        <p:nvSpPr>
          <p:cNvPr id="21" name="Text 19"/>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 budget</a:t>
            </a:r>
            <a:endParaRPr lang="en-US" sz="1441" dirty="0"/>
          </a:p>
        </p:txBody>
      </p:sp>
      <p:sp>
        <p:nvSpPr>
          <p:cNvPr id="22" name="Text 20"/>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23" name="Shape 21"/>
          <p:cNvSpPr/>
          <p:nvPr/>
        </p:nvSpPr>
        <p:spPr>
          <a:xfrm>
            <a:off x="2598170" y="2939089"/>
            <a:ext cx="1565821" cy="1799677"/>
          </a:xfrm>
          <a:prstGeom prst="rect">
            <a:avLst/>
          </a:prstGeom>
          <a:solidFill>
            <a:srgbClr val="E5F7EF"/>
          </a:solidFill>
          <a:ln w="15240">
            <a:solidFill>
              <a:srgbClr val="009E73"/>
            </a:solidFill>
            <a:prstDash val="solid"/>
          </a:ln>
        </p:spPr>
      </p:sp>
      <p:sp>
        <p:nvSpPr>
          <p:cNvPr id="24" name="Text 22"/>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Chat template</a:t>
            </a:r>
            <a:endParaRPr lang="en-US" sz="1561" dirty="0"/>
          </a:p>
        </p:txBody>
      </p:sp>
      <p:sp>
        <p:nvSpPr>
          <p:cNvPr id="25" name="Text 23"/>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role and</a:t>
            </a:r>
            <a:endParaRPr lang="en-US" sz="1441" dirty="0"/>
          </a:p>
        </p:txBody>
      </p:sp>
      <p:sp>
        <p:nvSpPr>
          <p:cNvPr id="26" name="Text 24"/>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turn markers</a:t>
            </a:r>
            <a:endParaRPr lang="en-US" sz="1441" dirty="0"/>
          </a:p>
        </p:txBody>
      </p:sp>
      <p:sp>
        <p:nvSpPr>
          <p:cNvPr id="27" name="Text 25"/>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inputs</a:t>
            </a:r>
            <a:endParaRPr lang="en-US" sz="1441" dirty="0"/>
          </a:p>
        </p:txBody>
      </p:sp>
      <p:sp>
        <p:nvSpPr>
          <p:cNvPr id="28" name="Shape 26"/>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29" name="Text 27"/>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 IDs</a:t>
            </a:r>
            <a:endParaRPr lang="en-US" sz="1561" dirty="0"/>
          </a:p>
        </p:txBody>
      </p:sp>
      <p:sp>
        <p:nvSpPr>
          <p:cNvPr id="30" name="Text 28"/>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Tokenise the</a:t>
            </a:r>
            <a:endParaRPr lang="en-US" sz="1441" dirty="0"/>
          </a:p>
        </p:txBody>
      </p:sp>
      <p:sp>
        <p:nvSpPr>
          <p:cNvPr id="31" name="Text 29"/>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conversation</a:t>
            </a:r>
            <a:endParaRPr lang="en-US" sz="1441" dirty="0"/>
          </a:p>
        </p:txBody>
      </p:sp>
      <p:sp>
        <p:nvSpPr>
          <p:cNvPr id="32" name="Text 30"/>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inputs</a:t>
            </a:r>
            <a:endParaRPr lang="en-US" sz="1441" dirty="0"/>
          </a:p>
        </p:txBody>
      </p:sp>
      <p:sp>
        <p:nvSpPr>
          <p:cNvPr id="33" name="Shape 31"/>
          <p:cNvSpPr/>
          <p:nvPr/>
        </p:nvSpPr>
        <p:spPr>
          <a:xfrm>
            <a:off x="6217860"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35" name="Text 33"/>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Choose tokens</a:t>
            </a:r>
            <a:endParaRPr lang="en-US" sz="1441" dirty="0"/>
          </a:p>
        </p:txBody>
      </p:sp>
      <p:sp>
        <p:nvSpPr>
          <p:cNvPr id="36" name="Text 34"/>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repeatedly</a:t>
            </a:r>
            <a:endParaRPr lang="en-US" sz="1441" dirty="0"/>
          </a:p>
        </p:txBody>
      </p:sp>
      <p:sp>
        <p:nvSpPr>
          <p:cNvPr id="37" name="Text 35"/>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model.generate</a:t>
            </a:r>
            <a:endParaRPr lang="en-US" sz="1441" dirty="0"/>
          </a:p>
        </p:txBody>
      </p:sp>
      <p:sp>
        <p:nvSpPr>
          <p:cNvPr id="38" name="Shape 36"/>
          <p:cNvSpPr/>
          <p:nvPr/>
        </p:nvSpPr>
        <p:spPr>
          <a:xfrm>
            <a:off x="8027705" y="2939089"/>
            <a:ext cx="1565821" cy="1799677"/>
          </a:xfrm>
          <a:prstGeom prst="rect">
            <a:avLst/>
          </a:prstGeom>
          <a:solidFill>
            <a:srgbClr val="E5F7EF"/>
          </a:solidFill>
          <a:ln w="15240">
            <a:solidFill>
              <a:srgbClr val="009E73"/>
            </a:solidFill>
            <a:prstDash val="solid"/>
          </a:ln>
        </p:spPr>
      </p:sp>
      <p:sp>
        <p:nvSpPr>
          <p:cNvPr id="39" name="Text 37"/>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Slice new IDs</a:t>
            </a:r>
            <a:endParaRPr lang="en-US" sz="1561" dirty="0"/>
          </a:p>
        </p:txBody>
      </p:sp>
      <p:sp>
        <p:nvSpPr>
          <p:cNvPr id="40" name="Text 38"/>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Remove the</a:t>
            </a:r>
            <a:endParaRPr lang="en-US" sz="1441" dirty="0"/>
          </a:p>
        </p:txBody>
      </p:sp>
      <p:sp>
        <p:nvSpPr>
          <p:cNvPr id="41" name="Text 39"/>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original prefix</a:t>
            </a:r>
            <a:endParaRPr lang="en-US" sz="1441" dirty="0"/>
          </a:p>
        </p:txBody>
      </p:sp>
      <p:sp>
        <p:nvSpPr>
          <p:cNvPr id="42" name="Text 40"/>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new</a:t>
            </a:r>
            <a:endParaRPr lang="en-US" sz="1441" dirty="0"/>
          </a:p>
        </p:txBody>
      </p:sp>
      <p:sp>
        <p:nvSpPr>
          <p:cNvPr id="43" name="Shape 41"/>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4" name="Text 42"/>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answer</a:t>
            </a:r>
            <a:endParaRPr lang="en-US" sz="1561" dirty="0"/>
          </a:p>
        </p:txBody>
      </p:sp>
      <p:sp>
        <p:nvSpPr>
          <p:cNvPr id="45" name="Text 43"/>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Decode; count</a:t>
            </a:r>
            <a:endParaRPr lang="en-US" sz="1441" dirty="0"/>
          </a:p>
        </p:txBody>
      </p:sp>
      <p:sp>
        <p:nvSpPr>
          <p:cNvPr id="46" name="Text 44"/>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tokens; time</a:t>
            </a:r>
            <a:endParaRPr lang="en-US" sz="1441" dirty="0"/>
          </a:p>
        </p:txBody>
      </p:sp>
      <p:sp>
        <p:nvSpPr>
          <p:cNvPr id="47" name="Text 45"/>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48" name="Shape 46"/>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9" name="Text 47"/>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0" name="Shape 48"/>
          <p:cNvSpPr/>
          <p:nvPr/>
        </p:nvSpPr>
        <p:spPr>
          <a:xfrm>
            <a:off x="2118929" y="5630979"/>
            <a:ext cx="198270" cy="198270"/>
          </a:xfrm>
          <a:prstGeom prst="rect">
            <a:avLst/>
          </a:prstGeom>
          <a:solidFill>
            <a:srgbClr val="E5F7EF"/>
          </a:solidFill>
          <a:ln w="15240">
            <a:solidFill>
              <a:srgbClr val="009E73"/>
            </a:solidFill>
            <a:prstDash val="solid"/>
          </a:ln>
        </p:spPr>
      </p:sp>
      <p:sp>
        <p:nvSpPr>
          <p:cNvPr id="51" name="Text 49"/>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2" name="Shape 50"/>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3" name="Text 51"/>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4" name="Shape 52"/>
          <p:cNvSpPr/>
          <p:nvPr/>
        </p:nvSpPr>
        <p:spPr>
          <a:xfrm>
            <a:off x="4179476" y="5730113"/>
            <a:ext cx="335533" cy="0"/>
          </a:xfrm>
          <a:prstGeom prst="line">
            <a:avLst/>
          </a:prstGeom>
          <a:noFill/>
          <a:ln w="22860">
            <a:solidFill>
              <a:srgbClr val="009E73"/>
            </a:solidFill>
            <a:prstDash val="solid"/>
            <a:tailEnd type="triangle"/>
          </a:ln>
        </p:spPr>
      </p:sp>
      <p:sp>
        <p:nvSpPr>
          <p:cNvPr id="55" name="Text 53"/>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6" name="Text 5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does chat slice the generated tensor at the original input length?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Forty years of NLP in one line</a:t>
            </a:r>
            <a:endParaRPr lang="en-US" sz="3200" dirty="0"/>
          </a:p>
        </p:txBody>
      </p:sp>
      <p:sp>
        <p:nvSpPr>
          <p:cNvPr id="6" name="Shape 4"/>
          <p:cNvSpPr/>
          <p:nvPr/>
        </p:nvSpPr>
        <p:spPr>
          <a:xfrm>
            <a:off x="10560923" y="3494238"/>
            <a:ext cx="0" cy="120332"/>
          </a:xfrm>
          <a:prstGeom prst="line">
            <a:avLst/>
          </a:prstGeom>
          <a:noFill/>
          <a:ln w="22860">
            <a:solidFill>
              <a:srgbClr val="4F46E5"/>
            </a:solidFill>
            <a:prstDash val="solid"/>
          </a:ln>
        </p:spPr>
      </p:sp>
      <p:sp>
        <p:nvSpPr>
          <p:cNvPr id="7" name="Shape 5"/>
          <p:cNvSpPr/>
          <p:nvPr/>
        </p:nvSpPr>
        <p:spPr>
          <a:xfrm flipH="1">
            <a:off x="852456" y="3614570"/>
            <a:ext cx="9708467" cy="0"/>
          </a:xfrm>
          <a:prstGeom prst="line">
            <a:avLst/>
          </a:prstGeom>
          <a:noFill/>
          <a:ln w="22860">
            <a:solidFill>
              <a:srgbClr val="4F46E5"/>
            </a:solidFill>
            <a:prstDash val="solid"/>
          </a:ln>
        </p:spPr>
      </p:sp>
      <p:sp>
        <p:nvSpPr>
          <p:cNvPr id="8" name="Shape 6"/>
          <p:cNvSpPr/>
          <p:nvPr/>
        </p:nvSpPr>
        <p:spPr>
          <a:xfrm>
            <a:off x="852456" y="3614570"/>
            <a:ext cx="0" cy="942599"/>
          </a:xfrm>
          <a:prstGeom prst="line">
            <a:avLst/>
          </a:prstGeom>
          <a:noFill/>
          <a:ln w="22860">
            <a:solidFill>
              <a:srgbClr val="4F46E5"/>
            </a:solidFill>
            <a:prstDash val="solid"/>
          </a:ln>
        </p:spPr>
      </p:sp>
      <p:sp>
        <p:nvSpPr>
          <p:cNvPr id="9" name="Shape 7"/>
          <p:cNvSpPr/>
          <p:nvPr/>
        </p:nvSpPr>
        <p:spPr>
          <a:xfrm>
            <a:off x="3269332" y="3032967"/>
            <a:ext cx="327712" cy="0"/>
          </a:xfrm>
          <a:prstGeom prst="line">
            <a:avLst/>
          </a:prstGeom>
          <a:noFill/>
          <a:ln w="22860">
            <a:solidFill>
              <a:srgbClr val="4F46E5"/>
            </a:solidFill>
            <a:prstDash val="solid"/>
            <a:tailEnd type="triangle"/>
          </a:ln>
        </p:spPr>
      </p:sp>
      <p:sp>
        <p:nvSpPr>
          <p:cNvPr id="10" name="Shape 8"/>
          <p:cNvSpPr/>
          <p:nvPr/>
        </p:nvSpPr>
        <p:spPr>
          <a:xfrm>
            <a:off x="5931992" y="3032967"/>
            <a:ext cx="327712" cy="0"/>
          </a:xfrm>
          <a:prstGeom prst="line">
            <a:avLst/>
          </a:prstGeom>
          <a:noFill/>
          <a:ln w="22860">
            <a:solidFill>
              <a:srgbClr val="4F46E5"/>
            </a:solidFill>
            <a:prstDash val="solid"/>
            <a:tailEnd type="triangle"/>
          </a:ln>
        </p:spPr>
      </p:sp>
      <p:sp>
        <p:nvSpPr>
          <p:cNvPr id="11" name="Shape 9"/>
          <p:cNvSpPr/>
          <p:nvPr/>
        </p:nvSpPr>
        <p:spPr>
          <a:xfrm>
            <a:off x="8594651" y="3032967"/>
            <a:ext cx="327712" cy="0"/>
          </a:xfrm>
          <a:prstGeom prst="line">
            <a:avLst/>
          </a:prstGeom>
          <a:noFill/>
          <a:ln w="22860">
            <a:solidFill>
              <a:srgbClr val="4F46E5"/>
            </a:solidFill>
            <a:prstDash val="solid"/>
            <a:tailEnd type="triangle"/>
          </a:ln>
        </p:spPr>
      </p:sp>
      <p:sp>
        <p:nvSpPr>
          <p:cNvPr id="12" name="Shape 10"/>
          <p:cNvSpPr/>
          <p:nvPr/>
        </p:nvSpPr>
        <p:spPr>
          <a:xfrm>
            <a:off x="3269332" y="4557169"/>
            <a:ext cx="327712" cy="0"/>
          </a:xfrm>
          <a:prstGeom prst="line">
            <a:avLst/>
          </a:prstGeom>
          <a:noFill/>
          <a:ln w="22860">
            <a:solidFill>
              <a:srgbClr val="4F46E5"/>
            </a:solidFill>
            <a:prstDash val="solid"/>
            <a:tailEnd type="triangle"/>
          </a:ln>
        </p:spPr>
      </p:sp>
      <p:sp>
        <p:nvSpPr>
          <p:cNvPr id="13" name="Shape 11"/>
          <p:cNvSpPr/>
          <p:nvPr/>
        </p:nvSpPr>
        <p:spPr>
          <a:xfrm>
            <a:off x="5931992" y="4557169"/>
            <a:ext cx="327712" cy="0"/>
          </a:xfrm>
          <a:prstGeom prst="line">
            <a:avLst/>
          </a:prstGeom>
          <a:noFill/>
          <a:ln w="22860">
            <a:solidFill>
              <a:srgbClr val="4F46E5"/>
            </a:solidFill>
            <a:prstDash val="solid"/>
            <a:tailEnd type="triangle"/>
          </a:ln>
        </p:spPr>
      </p:sp>
      <p:sp>
        <p:nvSpPr>
          <p:cNvPr id="14" name="Shape 12"/>
          <p:cNvSpPr/>
          <p:nvPr/>
        </p:nvSpPr>
        <p:spPr>
          <a:xfrm>
            <a:off x="8594651" y="4557169"/>
            <a:ext cx="327712" cy="0"/>
          </a:xfrm>
          <a:prstGeom prst="line">
            <a:avLst/>
          </a:prstGeom>
          <a:noFill/>
          <a:ln w="22860">
            <a:solidFill>
              <a:srgbClr val="4F46E5"/>
            </a:solidFill>
            <a:prstDash val="solid"/>
            <a:tailEnd type="triangle"/>
          </a:ln>
        </p:spPr>
      </p:sp>
      <p:sp>
        <p:nvSpPr>
          <p:cNvPr id="15" name="Shape 13"/>
          <p:cNvSpPr/>
          <p:nvPr/>
        </p:nvSpPr>
        <p:spPr>
          <a:xfrm>
            <a:off x="852456" y="4557169"/>
            <a:ext cx="81928" cy="0"/>
          </a:xfrm>
          <a:prstGeom prst="line">
            <a:avLst/>
          </a:prstGeom>
          <a:noFill/>
          <a:ln w="22860">
            <a:solidFill>
              <a:srgbClr val="4F46E5"/>
            </a:solidFill>
            <a:prstDash val="solid"/>
            <a:tailEnd type="triangle"/>
          </a:ln>
        </p:spPr>
      </p:sp>
      <p:sp>
        <p:nvSpPr>
          <p:cNvPr id="16" name="Shape 14"/>
          <p:cNvSpPr/>
          <p:nvPr/>
        </p:nvSpPr>
        <p:spPr>
          <a:xfrm>
            <a:off x="934384" y="2571695"/>
            <a:ext cx="2334948" cy="922543"/>
          </a:xfrm>
          <a:prstGeom prst="rect">
            <a:avLst/>
          </a:prstGeom>
          <a:solidFill>
            <a:srgbClr val="E5F7EF"/>
          </a:solidFill>
          <a:ln w="15240">
            <a:solidFill>
              <a:srgbClr val="009E73"/>
            </a:solidFill>
            <a:prstDash val="solid"/>
          </a:ln>
        </p:spPr>
      </p:sp>
      <p:sp>
        <p:nvSpPr>
          <p:cNvPr id="17" name="Shape 15"/>
          <p:cNvSpPr/>
          <p:nvPr/>
        </p:nvSpPr>
        <p:spPr>
          <a:xfrm>
            <a:off x="3597044" y="2571695"/>
            <a:ext cx="2334948" cy="922543"/>
          </a:xfrm>
          <a:prstGeom prst="rect">
            <a:avLst/>
          </a:prstGeom>
          <a:solidFill>
            <a:srgbClr val="E5F7EF"/>
          </a:solidFill>
          <a:ln w="15240">
            <a:solidFill>
              <a:srgbClr val="009E73"/>
            </a:solidFill>
            <a:prstDash val="solid"/>
          </a:ln>
        </p:spPr>
      </p:sp>
      <p:sp>
        <p:nvSpPr>
          <p:cNvPr id="18" name="Shape 16"/>
          <p:cNvSpPr/>
          <p:nvPr/>
        </p:nvSpPr>
        <p:spPr>
          <a:xfrm>
            <a:off x="6259704" y="2571695"/>
            <a:ext cx="2334948" cy="922543"/>
          </a:xfrm>
          <a:prstGeom prst="rect">
            <a:avLst/>
          </a:prstGeom>
          <a:solidFill>
            <a:srgbClr val="E5F7EF"/>
          </a:solidFill>
          <a:ln w="15240">
            <a:solidFill>
              <a:srgbClr val="009E73"/>
            </a:solidFill>
            <a:prstDash val="solid"/>
          </a:ln>
        </p:spPr>
      </p:sp>
      <p:sp>
        <p:nvSpPr>
          <p:cNvPr id="19" name="Shape 17"/>
          <p:cNvSpPr/>
          <p:nvPr/>
        </p:nvSpPr>
        <p:spPr>
          <a:xfrm>
            <a:off x="8922363" y="2571695"/>
            <a:ext cx="2334948" cy="922543"/>
          </a:xfrm>
          <a:prstGeom prst="rect">
            <a:avLst/>
          </a:prstGeom>
          <a:solidFill>
            <a:srgbClr val="E5F7EF"/>
          </a:solidFill>
          <a:ln w="15240">
            <a:solidFill>
              <a:srgbClr val="009E73"/>
            </a:solidFill>
            <a:prstDash val="solid"/>
          </a:ln>
        </p:spPr>
      </p:sp>
      <p:sp>
        <p:nvSpPr>
          <p:cNvPr id="20" name="Shape 18"/>
          <p:cNvSpPr/>
          <p:nvPr/>
        </p:nvSpPr>
        <p:spPr>
          <a:xfrm>
            <a:off x="934384" y="4095897"/>
            <a:ext cx="2334948" cy="922543"/>
          </a:xfrm>
          <a:prstGeom prst="rect">
            <a:avLst/>
          </a:prstGeom>
          <a:solidFill>
            <a:srgbClr val="E5F7EF"/>
          </a:solidFill>
          <a:ln w="15240">
            <a:solidFill>
              <a:srgbClr val="009E73"/>
            </a:solidFill>
            <a:prstDash val="solid"/>
          </a:ln>
        </p:spPr>
      </p:sp>
      <p:sp>
        <p:nvSpPr>
          <p:cNvPr id="21" name="Shape 19"/>
          <p:cNvSpPr/>
          <p:nvPr/>
        </p:nvSpPr>
        <p:spPr>
          <a:xfrm>
            <a:off x="3597044" y="4095897"/>
            <a:ext cx="2334948" cy="922543"/>
          </a:xfrm>
          <a:prstGeom prst="rect">
            <a:avLst/>
          </a:prstGeom>
          <a:solidFill>
            <a:srgbClr val="E5F7EF"/>
          </a:solidFill>
          <a:ln w="15240">
            <a:solidFill>
              <a:srgbClr val="009E73"/>
            </a:solidFill>
            <a:prstDash val="solid"/>
          </a:ln>
        </p:spPr>
      </p:sp>
      <p:sp>
        <p:nvSpPr>
          <p:cNvPr id="22" name="Shape 20"/>
          <p:cNvSpPr/>
          <p:nvPr/>
        </p:nvSpPr>
        <p:spPr>
          <a:xfrm>
            <a:off x="6259704" y="4095897"/>
            <a:ext cx="2334948" cy="922543"/>
          </a:xfrm>
          <a:prstGeom prst="rect">
            <a:avLst/>
          </a:prstGeom>
          <a:solidFill>
            <a:srgbClr val="E5F7EF"/>
          </a:solidFill>
          <a:ln w="15240">
            <a:solidFill>
              <a:srgbClr val="009E73"/>
            </a:solidFill>
            <a:prstDash val="solid"/>
          </a:ln>
        </p:spPr>
      </p:sp>
      <p:sp>
        <p:nvSpPr>
          <p:cNvPr id="23" name="Shape 21"/>
          <p:cNvSpPr/>
          <p:nvPr/>
        </p:nvSpPr>
        <p:spPr>
          <a:xfrm>
            <a:off x="8922363" y="4095897"/>
            <a:ext cx="2334948" cy="922543"/>
          </a:xfrm>
          <a:prstGeom prst="rect">
            <a:avLst/>
          </a:prstGeom>
          <a:solidFill>
            <a:srgbClr val="E5F7EF"/>
          </a:solidFill>
          <a:ln w="15240">
            <a:solidFill>
              <a:srgbClr val="009E73"/>
            </a:solidFill>
            <a:prstDash val="solid"/>
          </a:ln>
        </p:spPr>
      </p:sp>
      <p:sp>
        <p:nvSpPr>
          <p:cNvPr id="24" name="Text 22"/>
          <p:cNvSpPr txBox="1"/>
          <p:nvPr/>
        </p:nvSpPr>
        <p:spPr>
          <a:xfrm>
            <a:off x="1314560" y="2799225"/>
            <a:ext cx="157459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Count phrases</a:t>
            </a:r>
            <a:endParaRPr lang="en-US" sz="1587" dirty="0"/>
          </a:p>
        </p:txBody>
      </p:sp>
      <p:sp>
        <p:nvSpPr>
          <p:cNvPr id="25" name="Text 23"/>
          <p:cNvSpPr txBox="1"/>
          <p:nvPr/>
        </p:nvSpPr>
        <p:spPr>
          <a:xfrm>
            <a:off x="1314560" y="3032967"/>
            <a:ext cx="157459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n-grams</a:t>
            </a:r>
            <a:endParaRPr lang="en-US" sz="1587" dirty="0"/>
          </a:p>
        </p:txBody>
      </p:sp>
      <p:sp>
        <p:nvSpPr>
          <p:cNvPr id="26" name="Text 24"/>
          <p:cNvSpPr txBox="1"/>
          <p:nvPr/>
        </p:nvSpPr>
        <p:spPr>
          <a:xfrm>
            <a:off x="1769452" y="2233666"/>
            <a:ext cx="664811"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1990s</a:t>
            </a:r>
            <a:endParaRPr lang="en-US" sz="1587" dirty="0"/>
          </a:p>
        </p:txBody>
      </p:sp>
      <p:sp>
        <p:nvSpPr>
          <p:cNvPr id="27" name="Text 25"/>
          <p:cNvSpPr txBox="1"/>
          <p:nvPr/>
        </p:nvSpPr>
        <p:spPr>
          <a:xfrm>
            <a:off x="4045329" y="2799225"/>
            <a:ext cx="1438377"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Word vectors</a:t>
            </a:r>
            <a:endParaRPr lang="en-US" sz="1587" dirty="0"/>
          </a:p>
        </p:txBody>
      </p:sp>
      <p:sp>
        <p:nvSpPr>
          <p:cNvPr id="28" name="Text 26"/>
          <p:cNvSpPr txBox="1"/>
          <p:nvPr/>
        </p:nvSpPr>
        <p:spPr>
          <a:xfrm>
            <a:off x="4045329" y="3032967"/>
            <a:ext cx="1438377"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word2vec</a:t>
            </a:r>
            <a:endParaRPr lang="en-US" sz="1587" dirty="0"/>
          </a:p>
        </p:txBody>
      </p:sp>
      <p:sp>
        <p:nvSpPr>
          <p:cNvPr id="29" name="Text 27"/>
          <p:cNvSpPr txBox="1"/>
          <p:nvPr/>
        </p:nvSpPr>
        <p:spPr>
          <a:xfrm>
            <a:off x="4489526" y="2233666"/>
            <a:ext cx="54998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2013</a:t>
            </a:r>
            <a:endParaRPr lang="en-US" sz="1587" dirty="0"/>
          </a:p>
        </p:txBody>
      </p:sp>
      <p:sp>
        <p:nvSpPr>
          <p:cNvPr id="30" name="Text 28"/>
          <p:cNvSpPr txBox="1"/>
          <p:nvPr/>
        </p:nvSpPr>
        <p:spPr>
          <a:xfrm>
            <a:off x="6445556" y="2799225"/>
            <a:ext cx="196324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Sequence memory</a:t>
            </a:r>
            <a:endParaRPr lang="en-US" sz="1587" dirty="0"/>
          </a:p>
        </p:txBody>
      </p:sp>
      <p:sp>
        <p:nvSpPr>
          <p:cNvPr id="31" name="Text 29"/>
          <p:cNvSpPr txBox="1"/>
          <p:nvPr/>
        </p:nvSpPr>
        <p:spPr>
          <a:xfrm>
            <a:off x="6445556" y="3032967"/>
            <a:ext cx="196324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RNN + attention</a:t>
            </a:r>
            <a:endParaRPr lang="en-US" sz="1587" dirty="0"/>
          </a:p>
        </p:txBody>
      </p:sp>
      <p:sp>
        <p:nvSpPr>
          <p:cNvPr id="32" name="Text 30"/>
          <p:cNvSpPr txBox="1"/>
          <p:nvPr/>
        </p:nvSpPr>
        <p:spPr>
          <a:xfrm>
            <a:off x="6979944" y="2233666"/>
            <a:ext cx="89446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2014–15</a:t>
            </a:r>
            <a:endParaRPr lang="en-US" sz="1587" dirty="0"/>
          </a:p>
        </p:txBody>
      </p:sp>
      <p:sp>
        <p:nvSpPr>
          <p:cNvPr id="33" name="Text 31"/>
          <p:cNvSpPr txBox="1"/>
          <p:nvPr/>
        </p:nvSpPr>
        <p:spPr>
          <a:xfrm>
            <a:off x="9170046" y="2799225"/>
            <a:ext cx="183958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Context attention</a:t>
            </a:r>
            <a:endParaRPr lang="en-US" sz="1587" dirty="0"/>
          </a:p>
        </p:txBody>
      </p:sp>
      <p:sp>
        <p:nvSpPr>
          <p:cNvPr id="34" name="Text 32"/>
          <p:cNvSpPr txBox="1"/>
          <p:nvPr/>
        </p:nvSpPr>
        <p:spPr>
          <a:xfrm>
            <a:off x="9170046" y="3032967"/>
            <a:ext cx="183958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Transformer</a:t>
            </a:r>
            <a:endParaRPr lang="en-US" sz="1587" dirty="0"/>
          </a:p>
        </p:txBody>
      </p:sp>
      <p:sp>
        <p:nvSpPr>
          <p:cNvPr id="35" name="Text 33"/>
          <p:cNvSpPr txBox="1"/>
          <p:nvPr/>
        </p:nvSpPr>
        <p:spPr>
          <a:xfrm>
            <a:off x="9814845" y="2233666"/>
            <a:ext cx="54998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2017</a:t>
            </a:r>
            <a:endParaRPr lang="en-US" sz="1587" dirty="0"/>
          </a:p>
        </p:txBody>
      </p:sp>
      <p:sp>
        <p:nvSpPr>
          <p:cNvPr id="36" name="Text 34"/>
          <p:cNvSpPr txBox="1"/>
          <p:nvPr/>
        </p:nvSpPr>
        <p:spPr>
          <a:xfrm>
            <a:off x="1455886" y="4323427"/>
            <a:ext cx="129194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Pre-train</a:t>
            </a:r>
            <a:endParaRPr lang="en-US" sz="1587" dirty="0"/>
          </a:p>
        </p:txBody>
      </p:sp>
      <p:sp>
        <p:nvSpPr>
          <p:cNvPr id="37" name="Text 35"/>
          <p:cNvSpPr txBox="1"/>
          <p:nvPr/>
        </p:nvSpPr>
        <p:spPr>
          <a:xfrm>
            <a:off x="1455886" y="4557169"/>
            <a:ext cx="129194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BERT / GPT</a:t>
            </a:r>
            <a:endParaRPr lang="en-US" sz="1587" dirty="0"/>
          </a:p>
        </p:txBody>
      </p:sp>
      <p:sp>
        <p:nvSpPr>
          <p:cNvPr id="38" name="Text 36"/>
          <p:cNvSpPr txBox="1"/>
          <p:nvPr/>
        </p:nvSpPr>
        <p:spPr>
          <a:xfrm>
            <a:off x="1826866" y="3757868"/>
            <a:ext cx="54998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2018</a:t>
            </a:r>
            <a:endParaRPr lang="en-US" sz="1587" dirty="0"/>
          </a:p>
        </p:txBody>
      </p:sp>
      <p:sp>
        <p:nvSpPr>
          <p:cNvPr id="39" name="Text 37"/>
          <p:cNvSpPr txBox="1"/>
          <p:nvPr/>
        </p:nvSpPr>
        <p:spPr>
          <a:xfrm>
            <a:off x="3840310" y="4323427"/>
            <a:ext cx="184841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Prompt examples</a:t>
            </a:r>
            <a:endParaRPr lang="en-US" sz="1587" dirty="0"/>
          </a:p>
        </p:txBody>
      </p:sp>
      <p:sp>
        <p:nvSpPr>
          <p:cNvPr id="40" name="Text 38"/>
          <p:cNvSpPr txBox="1"/>
          <p:nvPr/>
        </p:nvSpPr>
        <p:spPr>
          <a:xfrm>
            <a:off x="3840310" y="4557169"/>
            <a:ext cx="184841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GPT-3</a:t>
            </a:r>
            <a:endParaRPr lang="en-US" sz="1587" dirty="0"/>
          </a:p>
        </p:txBody>
      </p:sp>
      <p:sp>
        <p:nvSpPr>
          <p:cNvPr id="41" name="Text 39"/>
          <p:cNvSpPr txBox="1"/>
          <p:nvPr/>
        </p:nvSpPr>
        <p:spPr>
          <a:xfrm>
            <a:off x="4489526" y="3757868"/>
            <a:ext cx="54998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2020</a:t>
            </a:r>
            <a:endParaRPr lang="en-US" sz="1587" dirty="0"/>
          </a:p>
        </p:txBody>
      </p:sp>
      <p:sp>
        <p:nvSpPr>
          <p:cNvPr id="42" name="Text 40"/>
          <p:cNvSpPr txBox="1"/>
          <p:nvPr/>
        </p:nvSpPr>
        <p:spPr>
          <a:xfrm>
            <a:off x="6547134" y="4323427"/>
            <a:ext cx="176008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Assistant tuning</a:t>
            </a:r>
            <a:endParaRPr lang="en-US" sz="1587" dirty="0"/>
          </a:p>
        </p:txBody>
      </p:sp>
      <p:sp>
        <p:nvSpPr>
          <p:cNvPr id="43" name="Text 41"/>
          <p:cNvSpPr txBox="1"/>
          <p:nvPr/>
        </p:nvSpPr>
        <p:spPr>
          <a:xfrm>
            <a:off x="6547134" y="4557169"/>
            <a:ext cx="176008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ChatGPT</a:t>
            </a:r>
            <a:endParaRPr lang="en-US" sz="1587" dirty="0"/>
          </a:p>
        </p:txBody>
      </p:sp>
      <p:sp>
        <p:nvSpPr>
          <p:cNvPr id="44" name="Text 42"/>
          <p:cNvSpPr txBox="1"/>
          <p:nvPr/>
        </p:nvSpPr>
        <p:spPr>
          <a:xfrm>
            <a:off x="7152185" y="3757868"/>
            <a:ext cx="54998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2022</a:t>
            </a:r>
            <a:endParaRPr lang="en-US" sz="1587" dirty="0"/>
          </a:p>
        </p:txBody>
      </p:sp>
      <p:sp>
        <p:nvSpPr>
          <p:cNvPr id="45" name="Text 43"/>
          <p:cNvSpPr txBox="1"/>
          <p:nvPr/>
        </p:nvSpPr>
        <p:spPr>
          <a:xfrm>
            <a:off x="9178879" y="4323427"/>
            <a:ext cx="182191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More input types</a:t>
            </a:r>
            <a:endParaRPr lang="en-US" sz="1587" dirty="0"/>
          </a:p>
        </p:txBody>
      </p:sp>
      <p:sp>
        <p:nvSpPr>
          <p:cNvPr id="46" name="Text 44"/>
          <p:cNvSpPr txBox="1"/>
          <p:nvPr/>
        </p:nvSpPr>
        <p:spPr>
          <a:xfrm>
            <a:off x="9178879" y="4557169"/>
            <a:ext cx="1821916"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Reasoning; tools</a:t>
            </a:r>
            <a:endParaRPr lang="en-US" sz="1587" dirty="0"/>
          </a:p>
        </p:txBody>
      </p:sp>
      <p:sp>
        <p:nvSpPr>
          <p:cNvPr id="47" name="Text 45"/>
          <p:cNvSpPr txBox="1"/>
          <p:nvPr/>
        </p:nvSpPr>
        <p:spPr>
          <a:xfrm>
            <a:off x="9753015" y="3757868"/>
            <a:ext cx="67364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2024+</a:t>
            </a:r>
            <a:endParaRPr lang="en-US" sz="1587" dirty="0"/>
          </a:p>
        </p:txBody>
      </p:sp>
      <p:sp>
        <p:nvSpPr>
          <p:cNvPr id="48" name="Text 46"/>
          <p:cNvSpPr txBox="1"/>
          <p:nvPr/>
        </p:nvSpPr>
        <p:spPr>
          <a:xfrm>
            <a:off x="934384" y="1668685"/>
            <a:ext cx="6399311" cy="261240"/>
          </a:xfrm>
          <a:prstGeom prst="rect">
            <a:avLst/>
          </a:prstGeom>
          <a:noFill/>
          <a:ln/>
        </p:spPr>
        <p:txBody>
          <a:bodyPr wrap="square" lIns="0" tIns="0" rIns="0" bIns="0" rtlCol="0" anchor="ctr"/>
          <a:lstStyle/>
          <a:p>
            <a:pPr algn="l" indent="0" marL="0">
              <a:lnSpc>
                <a:spcPct val="116000"/>
              </a:lnSpc>
              <a:buNone/>
            </a:pPr>
            <a:r>
              <a:rPr lang="en-US" sz="1773" b="1" dirty="0">
                <a:solidFill>
                  <a:srgbClr val="1E1B4B"/>
                </a:solidFill>
                <a:latin typeface="Arial" pitchFamily="34" charset="0"/>
                <a:ea typeface="Arial" pitchFamily="34" charset="-122"/>
                <a:cs typeface="Arial" pitchFamily="34" charset="-120"/>
              </a:rPr>
              <a:t>A sequence of ideas; earlier methods still have useful jobs</a:t>
            </a:r>
            <a:endParaRPr lang="en-US" sz="177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it started: n-gram language models</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ffcb2db10b7a1782.png">    </p:cNvPr>
          <p:cNvPicPr>
            <a:picLocks noChangeAspect="1"/>
          </p:cNvPicPr>
          <p:nvPr/>
        </p:nvPicPr>
        <p:blipFill>
          <a:blip r:embed="rId1"/>
          <a:stretch>
            <a:fillRect/>
          </a:stretch>
        </p:blipFill>
        <p:spPr>
          <a:xfrm>
            <a:off x="2679040" y="1766316"/>
            <a:ext cx="6833616" cy="755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n−1 previous words to predict the next from counts.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Trigram: count continuations after “the cat”.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Unseen phrases need smoothing; embeddings share clues.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n</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context size: n = 3 (a trigram) uses the two previous words</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count(...)</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how often a word sequence occurs in the training text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Each generation fixed a limitation of the last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26430"/>
                <a:gridCol w="3698138"/>
                <a:gridCol w="526984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Approach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uses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Weak spot (example)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n-gram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Counts of the previous n − 1 words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 unseen phrase gets probability 0: “the purple cat sat”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Word vectors (word2vec)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fixed vector per word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“bank” is the same in “river bank” and “bank loan”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RNN / LSTM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memory vector passed word by word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Early words fade; training runs one step at a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Transformer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Context-dependent vectors from attention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Cost grows with context; fluent text can still be false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From transformer to LLM: data, scale, context</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turns a transformer into a large language model?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pre-training learns a language model</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This is the developer's training process. This week's lab uses already trained models.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cleaned text</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IDs [B,T]</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logits [B,T,V]</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scalar loss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base weights</a:t>
            </a:r>
            <a:endParaRPr lang="en-US" sz="1441" dirty="0"/>
          </a:p>
        </p:txBody>
      </p:sp>
      <p:sp>
        <p:nvSpPr>
          <p:cNvPr id="17" name="Shape 15"/>
          <p:cNvSpPr/>
          <p:nvPr/>
        </p:nvSpPr>
        <p:spPr>
          <a:xfrm>
            <a:off x="3381080" y="4738766"/>
            <a:ext cx="0" cy="198270"/>
          </a:xfrm>
          <a:prstGeom prst="line">
            <a:avLst/>
          </a:prstGeom>
          <a:noFill/>
          <a:ln w="22860">
            <a:solidFill>
              <a:srgbClr val="0072B2"/>
            </a:solidFill>
            <a:prstDash val="solid"/>
          </a:ln>
        </p:spPr>
      </p:sp>
      <p:sp>
        <p:nvSpPr>
          <p:cNvPr id="18" name="Shape 16"/>
          <p:cNvSpPr/>
          <p:nvPr/>
        </p:nvSpPr>
        <p:spPr>
          <a:xfrm>
            <a:off x="3381080" y="4937035"/>
            <a:ext cx="3619690" cy="0"/>
          </a:xfrm>
          <a:prstGeom prst="line">
            <a:avLst/>
          </a:prstGeom>
          <a:noFill/>
          <a:ln w="22860">
            <a:solidFill>
              <a:srgbClr val="0072B2"/>
            </a:solidFill>
            <a:prstDash val="solid"/>
          </a:ln>
        </p:spPr>
      </p:sp>
      <p:sp>
        <p:nvSpPr>
          <p:cNvPr id="19" name="Shape 17"/>
          <p:cNvSpPr/>
          <p:nvPr/>
        </p:nvSpPr>
        <p:spPr>
          <a:xfrm flipV="1">
            <a:off x="7000770" y="4738766"/>
            <a:ext cx="0" cy="198270"/>
          </a:xfrm>
          <a:prstGeom prst="line">
            <a:avLst/>
          </a:prstGeom>
          <a:noFill/>
          <a:ln w="22860">
            <a:solidFill>
              <a:srgbClr val="0072B2"/>
            </a:solidFill>
            <a:prstDash val="solid"/>
            <a:tailEnd type="triangle"/>
          </a:ln>
        </p:spPr>
      </p:sp>
      <p:sp>
        <p:nvSpPr>
          <p:cNvPr id="20" name="Text 18"/>
          <p:cNvSpPr txBox="1"/>
          <p:nvPr/>
        </p:nvSpPr>
        <p:spPr>
          <a:xfrm>
            <a:off x="3875940" y="4967538"/>
            <a:ext cx="2629970"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next-token targets [B,T]</a:t>
            </a:r>
            <a:endParaRPr lang="en-US" sz="1441" dirty="0"/>
          </a:p>
        </p:txBody>
      </p:sp>
      <p:sp>
        <p:nvSpPr>
          <p:cNvPr id="21" name="Shape 19"/>
          <p:cNvSpPr/>
          <p:nvPr/>
        </p:nvSpPr>
        <p:spPr>
          <a:xfrm flipV="1">
            <a:off x="8810615" y="2191765"/>
            <a:ext cx="0" cy="747324"/>
          </a:xfrm>
          <a:prstGeom prst="line">
            <a:avLst/>
          </a:prstGeom>
          <a:noFill/>
          <a:ln w="22860">
            <a:solidFill>
              <a:srgbClr val="D55E00"/>
            </a:solidFill>
            <a:prstDash val="dash"/>
          </a:ln>
        </p:spPr>
      </p:sp>
      <p:sp>
        <p:nvSpPr>
          <p:cNvPr id="22" name="Shape 20"/>
          <p:cNvSpPr/>
          <p:nvPr/>
        </p:nvSpPr>
        <p:spPr>
          <a:xfrm flipH="1">
            <a:off x="5190925" y="2191765"/>
            <a:ext cx="3619690" cy="0"/>
          </a:xfrm>
          <a:prstGeom prst="line">
            <a:avLst/>
          </a:prstGeom>
          <a:noFill/>
          <a:ln w="22860">
            <a:solidFill>
              <a:srgbClr val="D55E00"/>
            </a:solidFill>
            <a:prstDash val="dash"/>
          </a:ln>
        </p:spPr>
      </p:sp>
      <p:sp>
        <p:nvSpPr>
          <p:cNvPr id="23" name="Shape 21"/>
          <p:cNvSpPr/>
          <p:nvPr/>
        </p:nvSpPr>
        <p:spPr>
          <a:xfrm>
            <a:off x="5190925" y="2191765"/>
            <a:ext cx="0" cy="747324"/>
          </a:xfrm>
          <a:prstGeom prst="line">
            <a:avLst/>
          </a:prstGeom>
          <a:noFill/>
          <a:ln w="22860">
            <a:solidFill>
              <a:srgbClr val="D55E00"/>
            </a:solidFill>
            <a:prstDash val="dash"/>
            <a:tailEnd type="triangle"/>
          </a:ln>
        </p:spPr>
      </p:sp>
      <p:sp>
        <p:nvSpPr>
          <p:cNvPr id="24" name="Text 22"/>
          <p:cNvSpPr txBox="1"/>
          <p:nvPr/>
        </p:nvSpPr>
        <p:spPr>
          <a:xfrm>
            <a:off x="4164524" y="1917238"/>
            <a:ext cx="567249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pre-training batches; the optimiser changes model weights.</a:t>
            </a:r>
            <a:endParaRPr lang="en-US" sz="1441" dirty="0"/>
          </a:p>
        </p:txBody>
      </p:sp>
      <p:sp>
        <p:nvSpPr>
          <p:cNvPr id="25" name="Shape 23"/>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6" name="Text 24"/>
          <p:cNvSpPr txBox="1"/>
          <p:nvPr/>
        </p:nvSpPr>
        <p:spPr>
          <a:xfrm>
            <a:off x="849331" y="34735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text</a:t>
            </a:r>
            <a:endParaRPr lang="en-US" sz="1561" dirty="0"/>
          </a:p>
        </p:txBody>
      </p:sp>
      <p:sp>
        <p:nvSpPr>
          <p:cNvPr id="27" name="Text 25"/>
          <p:cNvSpPr txBox="1"/>
          <p:nvPr/>
        </p:nvSpPr>
        <p:spPr>
          <a:xfrm>
            <a:off x="849331" y="3779751"/>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sources</a:t>
            </a:r>
            <a:endParaRPr lang="en-US" sz="1441" dirty="0"/>
          </a:p>
        </p:txBody>
      </p:sp>
      <p:sp>
        <p:nvSpPr>
          <p:cNvPr id="28" name="Text 26"/>
          <p:cNvSpPr txBox="1"/>
          <p:nvPr/>
        </p:nvSpPr>
        <p:spPr>
          <a:xfrm>
            <a:off x="849331" y="3992052"/>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duplicates</a:t>
            </a:r>
            <a:endParaRPr lang="en-US" sz="1441" dirty="0"/>
          </a:p>
        </p:txBody>
      </p:sp>
      <p:sp>
        <p:nvSpPr>
          <p:cNvPr id="29" name="Shape 27"/>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30" name="Text 28"/>
          <p:cNvSpPr txBox="1"/>
          <p:nvPr/>
        </p:nvSpPr>
        <p:spPr>
          <a:xfrm>
            <a:off x="2659176" y="34735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 + targets</a:t>
            </a:r>
            <a:endParaRPr lang="en-US" sz="1561" dirty="0"/>
          </a:p>
        </p:txBody>
      </p:sp>
      <p:sp>
        <p:nvSpPr>
          <p:cNvPr id="31" name="Text 29"/>
          <p:cNvSpPr txBox="1"/>
          <p:nvPr/>
        </p:nvSpPr>
        <p:spPr>
          <a:xfrm>
            <a:off x="2659176" y="3779751"/>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Shift IDs by one</a:t>
            </a:r>
            <a:endParaRPr lang="en-US" sz="1441" dirty="0"/>
          </a:p>
        </p:txBody>
      </p:sp>
      <p:sp>
        <p:nvSpPr>
          <p:cNvPr id="32" name="Text 30"/>
          <p:cNvSpPr txBox="1"/>
          <p:nvPr/>
        </p:nvSpPr>
        <p:spPr>
          <a:xfrm>
            <a:off x="2659176" y="3992052"/>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358505"/>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Decoder</a:t>
            </a:r>
            <a:endParaRPr lang="en-US" sz="1561" dirty="0"/>
          </a:p>
        </p:txBody>
      </p:sp>
      <p:sp>
        <p:nvSpPr>
          <p:cNvPr id="35" name="Text 33"/>
          <p:cNvSpPr txBox="1"/>
          <p:nvPr/>
        </p:nvSpPr>
        <p:spPr>
          <a:xfrm>
            <a:off x="4469021" y="358849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predicts</a:t>
            </a:r>
            <a:endParaRPr lang="en-US" sz="1561" dirty="0"/>
          </a:p>
        </p:txBody>
      </p:sp>
      <p:sp>
        <p:nvSpPr>
          <p:cNvPr id="36" name="Text 34"/>
          <p:cNvSpPr txBox="1"/>
          <p:nvPr/>
        </p:nvSpPr>
        <p:spPr>
          <a:xfrm>
            <a:off x="4469021" y="38947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Block later input</a:t>
            </a:r>
            <a:endParaRPr lang="en-US" sz="1441" dirty="0"/>
          </a:p>
        </p:txBody>
      </p:sp>
      <p:sp>
        <p:nvSpPr>
          <p:cNvPr id="37" name="Text 35"/>
          <p:cNvSpPr txBox="1"/>
          <p:nvPr/>
        </p:nvSpPr>
        <p:spPr>
          <a:xfrm>
            <a:off x="4469021" y="41070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positions</a:t>
            </a:r>
            <a:endParaRPr lang="en-US" sz="1441" dirty="0"/>
          </a:p>
        </p:txBody>
      </p:sp>
      <p:sp>
        <p:nvSpPr>
          <p:cNvPr id="38" name="Shape 36"/>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39" name="Text 37"/>
          <p:cNvSpPr txBox="1"/>
          <p:nvPr/>
        </p:nvSpPr>
        <p:spPr>
          <a:xfrm>
            <a:off x="6278866" y="34735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 error</a:t>
            </a:r>
            <a:endParaRPr lang="en-US" sz="1561" dirty="0"/>
          </a:p>
        </p:txBody>
      </p:sp>
      <p:sp>
        <p:nvSpPr>
          <p:cNvPr id="40" name="Text 38"/>
          <p:cNvSpPr txBox="1"/>
          <p:nvPr/>
        </p:nvSpPr>
        <p:spPr>
          <a:xfrm>
            <a:off x="6278866" y="3779751"/>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scores</a:t>
            </a:r>
            <a:endParaRPr lang="en-US" sz="1441" dirty="0"/>
          </a:p>
        </p:txBody>
      </p:sp>
      <p:sp>
        <p:nvSpPr>
          <p:cNvPr id="41" name="Text 39"/>
          <p:cNvSpPr txBox="1"/>
          <p:nvPr/>
        </p:nvSpPr>
        <p:spPr>
          <a:xfrm>
            <a:off x="6278866" y="3992052"/>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with targets</a:t>
            </a:r>
            <a:endParaRPr lang="en-US" sz="1441" dirty="0"/>
          </a:p>
        </p:txBody>
      </p:sp>
      <p:sp>
        <p:nvSpPr>
          <p:cNvPr id="42" name="Shape 40"/>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3" name="Text 41"/>
          <p:cNvSpPr txBox="1"/>
          <p:nvPr/>
        </p:nvSpPr>
        <p:spPr>
          <a:xfrm>
            <a:off x="8088711" y="3358505"/>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a:t>
            </a:r>
            <a:endParaRPr lang="en-US" sz="1561" dirty="0"/>
          </a:p>
        </p:txBody>
      </p:sp>
      <p:sp>
        <p:nvSpPr>
          <p:cNvPr id="44" name="Text 42"/>
          <p:cNvSpPr txBox="1"/>
          <p:nvPr/>
        </p:nvSpPr>
        <p:spPr>
          <a:xfrm>
            <a:off x="8088711" y="358849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weights</a:t>
            </a:r>
            <a:endParaRPr lang="en-US" sz="1561" dirty="0"/>
          </a:p>
        </p:txBody>
      </p:sp>
      <p:sp>
        <p:nvSpPr>
          <p:cNvPr id="45" name="Text 43"/>
          <p:cNvSpPr txBox="1"/>
          <p:nvPr/>
        </p:nvSpPr>
        <p:spPr>
          <a:xfrm>
            <a:off x="8088711" y="38947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gradients;</a:t>
            </a:r>
            <a:endParaRPr lang="en-US" sz="1441" dirty="0"/>
          </a:p>
        </p:txBody>
      </p:sp>
      <p:sp>
        <p:nvSpPr>
          <p:cNvPr id="46" name="Text 44"/>
          <p:cNvSpPr txBox="1"/>
          <p:nvPr/>
        </p:nvSpPr>
        <p:spPr>
          <a:xfrm>
            <a:off x="8088711" y="41070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validation</a:t>
            </a:r>
            <a:endParaRPr lang="en-US" sz="1441" dirty="0"/>
          </a:p>
        </p:txBody>
      </p:sp>
      <p:sp>
        <p:nvSpPr>
          <p:cNvPr id="47" name="Shape 45"/>
          <p:cNvSpPr/>
          <p:nvPr/>
        </p:nvSpPr>
        <p:spPr>
          <a:xfrm>
            <a:off x="9837549" y="2939089"/>
            <a:ext cx="1565821" cy="1799677"/>
          </a:xfrm>
          <a:prstGeom prst="rect">
            <a:avLst/>
          </a:prstGeom>
          <a:solidFill>
            <a:srgbClr val="E5F7EF"/>
          </a:solidFill>
          <a:ln w="15240">
            <a:solidFill>
              <a:srgbClr val="009E73"/>
            </a:solidFill>
            <a:prstDash val="solid"/>
          </a:ln>
        </p:spPr>
      </p:sp>
      <p:sp>
        <p:nvSpPr>
          <p:cNvPr id="48" name="Text 46"/>
          <p:cNvSpPr txBox="1"/>
          <p:nvPr/>
        </p:nvSpPr>
        <p:spPr>
          <a:xfrm>
            <a:off x="9898555" y="34735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Post-train</a:t>
            </a:r>
            <a:endParaRPr lang="en-US" sz="1561" dirty="0"/>
          </a:p>
        </p:txBody>
      </p:sp>
      <p:sp>
        <p:nvSpPr>
          <p:cNvPr id="49" name="Text 47"/>
          <p:cNvSpPr txBox="1"/>
          <p:nvPr/>
        </p:nvSpPr>
        <p:spPr>
          <a:xfrm>
            <a:off x="9898555" y="3779751"/>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Instructions; then</a:t>
            </a:r>
            <a:endParaRPr lang="en-US" sz="1441" dirty="0"/>
          </a:p>
        </p:txBody>
      </p:sp>
      <p:sp>
        <p:nvSpPr>
          <p:cNvPr id="50" name="Text 48"/>
          <p:cNvSpPr txBox="1"/>
          <p:nvPr/>
        </p:nvSpPr>
        <p:spPr>
          <a:xfrm>
            <a:off x="9898555" y="3992052"/>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preferences</a:t>
            </a:r>
            <a:endParaRPr lang="en-US" sz="1441" dirty="0"/>
          </a:p>
        </p:txBody>
      </p:sp>
      <p:sp>
        <p:nvSpPr>
          <p:cNvPr id="51" name="Shape 4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2" name="Text 5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3" name="Shape 51"/>
          <p:cNvSpPr/>
          <p:nvPr/>
        </p:nvSpPr>
        <p:spPr>
          <a:xfrm>
            <a:off x="2118929" y="5630979"/>
            <a:ext cx="198270" cy="198270"/>
          </a:xfrm>
          <a:prstGeom prst="rect">
            <a:avLst/>
          </a:prstGeom>
          <a:solidFill>
            <a:srgbClr val="E5F7EF"/>
          </a:solidFill>
          <a:ln w="15240">
            <a:solidFill>
              <a:srgbClr val="009E73"/>
            </a:solidFill>
            <a:prstDash val="solid"/>
          </a:ln>
        </p:spPr>
      </p:sp>
      <p:sp>
        <p:nvSpPr>
          <p:cNvPr id="54" name="Text 5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5" name="Shape 53"/>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6" name="Text 54"/>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7" name="Shape 55"/>
          <p:cNvSpPr/>
          <p:nvPr/>
        </p:nvSpPr>
        <p:spPr>
          <a:xfrm>
            <a:off x="4748126" y="5730113"/>
            <a:ext cx="335533" cy="0"/>
          </a:xfrm>
          <a:prstGeom prst="line">
            <a:avLst/>
          </a:prstGeom>
          <a:noFill/>
          <a:ln w="22860">
            <a:solidFill>
              <a:srgbClr val="009E73"/>
            </a:solidFill>
            <a:prstDash val="solid"/>
            <a:tailEnd type="triangle"/>
          </a:ln>
        </p:spPr>
      </p:sp>
      <p:sp>
        <p:nvSpPr>
          <p:cNvPr id="58" name="Text 56"/>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9" name="Shape 57"/>
          <p:cNvSpPr/>
          <p:nvPr/>
        </p:nvSpPr>
        <p:spPr>
          <a:xfrm>
            <a:off x="6131511" y="5730113"/>
            <a:ext cx="335533" cy="0"/>
          </a:xfrm>
          <a:prstGeom prst="line">
            <a:avLst/>
          </a:prstGeom>
          <a:noFill/>
          <a:ln w="22860">
            <a:solidFill>
              <a:srgbClr val="D55E00"/>
            </a:solidFill>
            <a:prstDash val="dash"/>
            <a:tailEnd type="triangle"/>
          </a:ln>
        </p:spPr>
      </p:sp>
      <p:sp>
        <p:nvSpPr>
          <p:cNvPr id="60" name="Text 58"/>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1" name="Text 5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the week 6 pipeline call learn new weights from your question?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LLM pipeline, in more detail</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Collect</a:t>
            </a:r>
            <a:endParaRPr lang="en-US" sz="21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Authorised text and code</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Clean</a:t>
            </a:r>
            <a:endParaRPr lang="en-US" sz="21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Remove duplicates and test overlap</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Tokenise</a:t>
            </a:r>
            <a:endParaRPr lang="en-US" sz="21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Assign vocabulary IDs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Pre-train</a:t>
            </a:r>
            <a:endParaRPr lang="en-US" sz="21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Predict known next tokens</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Post-train</a:t>
            </a:r>
            <a:endParaRPr lang="en-US" sz="21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Instructions and feedback</a:t>
            </a:r>
            <a:endParaRPr lang="en-US" sz="20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Data quality and mix affect the learned model.</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much compute does pre-training need?</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c28b5009352b3ea2.png">    </p:cNvPr>
          <p:cNvPicPr>
            <a:picLocks noChangeAspect="1"/>
          </p:cNvPicPr>
          <p:nvPr/>
        </p:nvPicPr>
        <p:blipFill>
          <a:blip r:embed="rId1"/>
          <a:stretch>
            <a:fillRect/>
          </a:stretch>
        </p:blipFill>
        <p:spPr>
          <a:xfrm>
            <a:off x="5449672" y="1969008"/>
            <a:ext cx="1292352" cy="35052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Rough dense-model estimate: six × parameters × training tokens.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7 B × 2 T × 6 ≈ 8.4 × 10²² operations.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Real time depends on throughput and utilisation.</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C</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training compute (floating-point operations)</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N</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number of parameters</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number of training tokens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Scaling laws: loss is predictable from size and data</a:t>
            </a:r>
            <a:endParaRPr lang="en-US" sz="3200" dirty="0"/>
          </a:p>
        </p:txBody>
      </p:sp>
      <p:pic>
        <p:nvPicPr>
          <p:cNvPr id="6" name="Image 0" descr="C:\Users\sudee\Downloads\Generative_AI_2027_Teaching_Pack\AI2027_Project\build\figures\week_06\scaling.png">    </p:cNvPr>
          <p:cNvPicPr>
            <a:picLocks noChangeAspect="1"/>
          </p:cNvPicPr>
          <p:nvPr/>
        </p:nvPicPr>
        <p:blipFill>
          <a:blip r:embed="rId1"/>
          <a:stretch>
            <a:fillRect/>
          </a:stretch>
        </p:blipFill>
        <p:spPr>
          <a:xfrm>
            <a:off x="1873448" y="1481328"/>
            <a:ext cx="8444799"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Loss often changes smoothly with size and data.</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Chinchilla: about 20 tokens per parameter in its setup.</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Training and later serving costs change the best balance.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scale of pre-training data</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300 B</a:t>
            </a:r>
            <a:endParaRPr lang="en-US" sz="60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used to train GPT-3 (2020)</a:t>
            </a:r>
            <a:endParaRPr lang="en-US" sz="19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1.4 T</a:t>
            </a:r>
            <a:endParaRPr lang="en-US" sz="60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for Chinchilla (2022), a 70 B model</a:t>
            </a:r>
            <a:endParaRPr lang="en-US" sz="19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in FineWeb (2024), an open, filtered web dataset from Hugging Face</a:t>
            </a:r>
            <a:endParaRPr lang="en-US" sz="19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used to pre-train Llama 3 (Meta, 2024)</a:t>
            </a:r>
            <a:endParaRPr lang="en-US" sz="19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One trillion tokens is roughly 750 billion English words, well over 100 times the text of English Wikipedia. Figures as reported by the developers.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In-context learning and 'emergent' abilities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Examples in the prompt guide the task; weights stay fixed.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good → positive; awful → negative; great → ?</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Scoring rules can make gradual gains look sudden.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the capability you need.</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Context windows: how much the model can see at once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Context is a token budget.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Instructions, history, sources and output may share it.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Long inputs can hide useful details.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Select relevant sources; check model-specific limits.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Tokenisers differ between model families</a:t>
            </a:r>
            <a:endParaRPr lang="en-US" sz="3200" dirty="0"/>
          </a:p>
        </p:txBody>
      </p:sp>
      <p:pic>
        <p:nvPicPr>
          <p:cNvPr id="6" name="Image 0" descr="C:\Users\sudee\Downloads\Generative_AI_2027_Teaching_Pack\AI2027_Project\build\figures\week_06\tokenizers.png">    </p:cNvPr>
          <p:cNvPicPr>
            <a:picLocks noChangeAspect="1"/>
          </p:cNvPicPr>
          <p:nvPr/>
        </p:nvPicPr>
        <p:blipFill>
          <a:blip r:embed="rId1"/>
          <a:stretch>
            <a:fillRect/>
          </a:stretch>
        </p:blipFill>
        <p:spPr>
          <a:xfrm>
            <a:off x="548640" y="1577638"/>
            <a:ext cx="11094415" cy="3174658"/>
          </a:xfrm>
          <a:prstGeom prst="rect">
            <a:avLst/>
          </a:prstGeom>
        </p:spPr>
      </p:pic>
      <p:sp>
        <p:nvSpPr>
          <p:cNvPr id="7" name="Text 4"/>
          <p:cNvSpPr txBox="1"/>
          <p:nvPr/>
        </p:nvSpPr>
        <p:spPr>
          <a:xfrm>
            <a:off x="548640" y="4935176"/>
            <a:ext cx="11094415" cy="1374184"/>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Same source text; different token pieces.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Count actual pieces for language and code.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Counts affect context, cost and speed.</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Decoding strategies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The model gives probabilities. How do we turn them into text?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Choose one next token</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model scores from the decoding policy</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 [1,T]</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scores [V]</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rescaled scores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kept probabilities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one token ID</a:t>
            </a:r>
            <a:endParaRPr lang="en-US" sz="1441" dirty="0"/>
          </a:p>
        </p:txBody>
      </p:sp>
      <p:sp>
        <p:nvSpPr>
          <p:cNvPr id="17" name="Shape 15"/>
          <p:cNvSpPr/>
          <p:nvPr/>
        </p:nvSpPr>
        <p:spPr>
          <a:xfrm flipV="1">
            <a:off x="10620460" y="2191765"/>
            <a:ext cx="0" cy="747324"/>
          </a:xfrm>
          <a:prstGeom prst="line">
            <a:avLst/>
          </a:prstGeom>
          <a:noFill/>
          <a:ln w="22860">
            <a:solidFill>
              <a:srgbClr val="D55E00"/>
            </a:solidFill>
            <a:prstDash val="dash"/>
          </a:ln>
        </p:spPr>
      </p:sp>
      <p:sp>
        <p:nvSpPr>
          <p:cNvPr id="18" name="Shape 16"/>
          <p:cNvSpPr/>
          <p:nvPr/>
        </p:nvSpPr>
        <p:spPr>
          <a:xfrm flipH="1">
            <a:off x="1571235" y="2191765"/>
            <a:ext cx="9049224" cy="0"/>
          </a:xfrm>
          <a:prstGeom prst="line">
            <a:avLst/>
          </a:prstGeom>
          <a:noFill/>
          <a:ln w="22860">
            <a:solidFill>
              <a:srgbClr val="D55E00"/>
            </a:solidFill>
            <a:prstDash val="dash"/>
          </a:ln>
        </p:spPr>
      </p:sp>
      <p:sp>
        <p:nvSpPr>
          <p:cNvPr id="19" name="Shape 17"/>
          <p:cNvSpPr/>
          <p:nvPr/>
        </p:nvSpPr>
        <p:spPr>
          <a:xfrm>
            <a:off x="1571235" y="2191765"/>
            <a:ext cx="0" cy="747324"/>
          </a:xfrm>
          <a:prstGeom prst="line">
            <a:avLst/>
          </a:prstGeom>
          <a:noFill/>
          <a:ln w="22860">
            <a:solidFill>
              <a:srgbClr val="D55E00"/>
            </a:solidFill>
            <a:prstDash val="dash"/>
            <a:tailEnd type="triangle"/>
          </a:ln>
        </p:spPr>
      </p:sp>
      <p:sp>
        <p:nvSpPr>
          <p:cNvPr id="20" name="Text 18"/>
          <p:cNvSpPr txBox="1"/>
          <p:nvPr/>
        </p:nvSpPr>
        <p:spPr>
          <a:xfrm>
            <a:off x="3601701" y="1917238"/>
            <a:ext cx="4988294"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from the extended prefix; model weights stay fixed.</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44299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Current prefix</a:t>
            </a:r>
            <a:endParaRPr lang="en-US" sz="1561" dirty="0"/>
          </a:p>
        </p:txBody>
      </p:sp>
      <p:sp>
        <p:nvSpPr>
          <p:cNvPr id="23" name="Text 21"/>
          <p:cNvSpPr txBox="1"/>
          <p:nvPr/>
        </p:nvSpPr>
        <p:spPr>
          <a:xfrm>
            <a:off x="84933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token IDs</a:t>
            </a:r>
            <a:endParaRPr lang="en-US" sz="1441" dirty="0"/>
          </a:p>
        </p:txBody>
      </p:sp>
      <p:sp>
        <p:nvSpPr>
          <p:cNvPr id="24" name="Text 22"/>
          <p:cNvSpPr txBox="1"/>
          <p:nvPr/>
        </p:nvSpPr>
        <p:spPr>
          <a:xfrm>
            <a:off x="811202" y="4022555"/>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ids</a:t>
            </a:r>
            <a:endParaRPr lang="en-US" sz="1441" dirty="0"/>
          </a:p>
        </p:txBody>
      </p:sp>
      <p:sp>
        <p:nvSpPr>
          <p:cNvPr id="25" name="Shape 23"/>
          <p:cNvSpPr/>
          <p:nvPr/>
        </p:nvSpPr>
        <p:spPr>
          <a:xfrm>
            <a:off x="2598170" y="2939089"/>
            <a:ext cx="1565821" cy="1799677"/>
          </a:xfrm>
          <a:prstGeom prst="rect">
            <a:avLst/>
          </a:prstGeom>
          <a:solidFill>
            <a:srgbClr val="E5F7EF"/>
          </a:solidFill>
          <a:ln w="15240">
            <a:solidFill>
              <a:srgbClr val="009E73"/>
            </a:solidFill>
            <a:prstDash val="solid"/>
          </a:ln>
        </p:spPr>
      </p:sp>
      <p:sp>
        <p:nvSpPr>
          <p:cNvPr id="26" name="Text 24"/>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Next-token</a:t>
            </a:r>
            <a:endParaRPr lang="en-US" sz="1561" dirty="0"/>
          </a:p>
        </p:txBody>
      </p:sp>
      <p:sp>
        <p:nvSpPr>
          <p:cNvPr id="27" name="Text 25"/>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logits</a:t>
            </a:r>
            <a:endParaRPr lang="en-US" sz="1561" dirty="0"/>
          </a:p>
        </p:txBody>
      </p:sp>
      <p:sp>
        <p:nvSpPr>
          <p:cNvPr id="28" name="Text 26"/>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the final</a:t>
            </a:r>
            <a:endParaRPr lang="en-US" sz="1441" dirty="0"/>
          </a:p>
        </p:txBody>
      </p:sp>
      <p:sp>
        <p:nvSpPr>
          <p:cNvPr id="29" name="Text 27"/>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vocabulary row</a:t>
            </a:r>
            <a:endParaRPr lang="en-US" sz="1441" dirty="0"/>
          </a:p>
        </p:txBody>
      </p:sp>
      <p:sp>
        <p:nvSpPr>
          <p:cNvPr id="30" name="Text 28"/>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dec(ids).logits</a:t>
            </a:r>
            <a:endParaRPr lang="en-US" sz="1441" dirty="0"/>
          </a:p>
        </p:txBody>
      </p:sp>
      <p:sp>
        <p:nvSpPr>
          <p:cNvPr id="31" name="Shape 29"/>
          <p:cNvSpPr/>
          <p:nvPr/>
        </p:nvSpPr>
        <p:spPr>
          <a:xfrm>
            <a:off x="4408015"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Temperature</a:t>
            </a:r>
            <a:endParaRPr lang="en-US" sz="1561" dirty="0"/>
          </a:p>
        </p:txBody>
      </p:sp>
      <p:sp>
        <p:nvSpPr>
          <p:cNvPr id="33" name="Text 31"/>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Divide scores by</a:t>
            </a:r>
            <a:endParaRPr lang="en-US" sz="1441" dirty="0"/>
          </a:p>
        </p:txBody>
      </p:sp>
      <p:sp>
        <p:nvSpPr>
          <p:cNvPr id="34" name="Text 32"/>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positive T</a:t>
            </a:r>
            <a:endParaRPr lang="en-US" sz="1441" dirty="0"/>
          </a:p>
        </p:txBody>
      </p:sp>
      <p:sp>
        <p:nvSpPr>
          <p:cNvPr id="35" name="Text 33"/>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a:t>
            </a:r>
            <a:endParaRPr lang="en-US" sz="1441" dirty="0"/>
          </a:p>
        </p:txBody>
      </p:sp>
      <p:sp>
        <p:nvSpPr>
          <p:cNvPr id="36" name="Shape 34"/>
          <p:cNvSpPr/>
          <p:nvPr/>
        </p:nvSpPr>
        <p:spPr>
          <a:xfrm>
            <a:off x="6217860" y="2939089"/>
            <a:ext cx="1565821" cy="1799677"/>
          </a:xfrm>
          <a:prstGeom prst="rect">
            <a:avLst/>
          </a:prstGeom>
          <a:solidFill>
            <a:srgbClr val="E5F7EF"/>
          </a:solidFill>
          <a:ln w="15240">
            <a:solidFill>
              <a:srgbClr val="009E73"/>
            </a:solidFill>
            <a:prstDash val="solid"/>
          </a:ln>
        </p:spPr>
      </p:sp>
      <p:sp>
        <p:nvSpPr>
          <p:cNvPr id="37" name="Text 35"/>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Filter</a:t>
            </a:r>
            <a:endParaRPr lang="en-US" sz="1561" dirty="0"/>
          </a:p>
        </p:txBody>
      </p:sp>
      <p:sp>
        <p:nvSpPr>
          <p:cNvPr id="38" name="Text 36"/>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candidates</a:t>
            </a:r>
            <a:endParaRPr lang="en-US" sz="1561" dirty="0"/>
          </a:p>
        </p:txBody>
      </p:sp>
      <p:sp>
        <p:nvSpPr>
          <p:cNvPr id="39" name="Text 37"/>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Top-k or top-p;</a:t>
            </a:r>
            <a:endParaRPr lang="en-US" sz="1441" dirty="0"/>
          </a:p>
        </p:txBody>
      </p:sp>
      <p:sp>
        <p:nvSpPr>
          <p:cNvPr id="40" name="Text 38"/>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renormalise</a:t>
            </a:r>
            <a:endParaRPr lang="en-US" sz="1441" dirty="0"/>
          </a:p>
        </p:txBody>
      </p:sp>
      <p:sp>
        <p:nvSpPr>
          <p:cNvPr id="41" name="Text 39"/>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top_p_filter</a:t>
            </a:r>
            <a:endParaRPr lang="en-US" sz="1441" dirty="0"/>
          </a:p>
        </p:txBody>
      </p:sp>
      <p:sp>
        <p:nvSpPr>
          <p:cNvPr id="42" name="Shape 40"/>
          <p:cNvSpPr/>
          <p:nvPr/>
        </p:nvSpPr>
        <p:spPr>
          <a:xfrm>
            <a:off x="8027705" y="2939089"/>
            <a:ext cx="1565821" cy="1799677"/>
          </a:xfrm>
          <a:prstGeom prst="rect">
            <a:avLst/>
          </a:prstGeom>
          <a:solidFill>
            <a:srgbClr val="E5F7EF"/>
          </a:solidFill>
          <a:ln w="15240">
            <a:solidFill>
              <a:srgbClr val="009E73"/>
            </a:solidFill>
            <a:prstDash val="solid"/>
          </a:ln>
        </p:spPr>
      </p:sp>
      <p:sp>
        <p:nvSpPr>
          <p:cNvPr id="43" name="Text 41"/>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one ID</a:t>
            </a:r>
            <a:endParaRPr lang="en-US" sz="1561" dirty="0"/>
          </a:p>
        </p:txBody>
      </p:sp>
      <p:sp>
        <p:nvSpPr>
          <p:cNvPr id="44" name="Text 42"/>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Draw from kept</a:t>
            </a:r>
            <a:endParaRPr lang="en-US" sz="1441" dirty="0"/>
          </a:p>
        </p:txBody>
      </p:sp>
      <p:sp>
        <p:nvSpPr>
          <p:cNvPr id="45" name="Text 43"/>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probabilities</a:t>
            </a:r>
            <a:endParaRPr lang="en-US" sz="1441" dirty="0"/>
          </a:p>
        </p:txBody>
      </p:sp>
      <p:sp>
        <p:nvSpPr>
          <p:cNvPr id="46" name="Text 44"/>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torch.multinomial</a:t>
            </a:r>
            <a:endParaRPr lang="en-US" sz="1441" dirty="0"/>
          </a:p>
        </p:txBody>
      </p:sp>
      <p:sp>
        <p:nvSpPr>
          <p:cNvPr id="47" name="Shape 45"/>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8" name="Text 46"/>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Append ID</a:t>
            </a:r>
            <a:endParaRPr lang="en-US" sz="1561" dirty="0"/>
          </a:p>
        </p:txBody>
      </p:sp>
      <p:sp>
        <p:nvSpPr>
          <p:cNvPr id="49" name="Text 47"/>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Extend the</a:t>
            </a:r>
            <a:endParaRPr lang="en-US" sz="1441" dirty="0"/>
          </a:p>
        </p:txBody>
      </p:sp>
      <p:sp>
        <p:nvSpPr>
          <p:cNvPr id="50" name="Text 48"/>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prefix</a:t>
            </a:r>
            <a:endParaRPr lang="en-US" sz="1441" dirty="0"/>
          </a:p>
        </p:txBody>
      </p:sp>
      <p:sp>
        <p:nvSpPr>
          <p:cNvPr id="51" name="Text 49"/>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a:t>
            </a:r>
            <a:endParaRPr lang="en-US" sz="1441" dirty="0"/>
          </a:p>
        </p:txBody>
      </p:sp>
      <p:sp>
        <p:nvSpPr>
          <p:cNvPr id="52" name="Shape 5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3" name="Text 5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4" name="Shape 52"/>
          <p:cNvSpPr/>
          <p:nvPr/>
        </p:nvSpPr>
        <p:spPr>
          <a:xfrm>
            <a:off x="2118929" y="5630979"/>
            <a:ext cx="198270" cy="198270"/>
          </a:xfrm>
          <a:prstGeom prst="rect">
            <a:avLst/>
          </a:prstGeom>
          <a:solidFill>
            <a:srgbClr val="E5F7EF"/>
          </a:solidFill>
          <a:ln w="15240">
            <a:solidFill>
              <a:srgbClr val="009E73"/>
            </a:solidFill>
            <a:prstDash val="solid"/>
          </a:ln>
        </p:spPr>
      </p:sp>
      <p:sp>
        <p:nvSpPr>
          <p:cNvPr id="55" name="Text 5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6" name="Shape 54"/>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7" name="Text 55"/>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8" name="Shape 56"/>
          <p:cNvSpPr/>
          <p:nvPr/>
        </p:nvSpPr>
        <p:spPr>
          <a:xfrm>
            <a:off x="4179476" y="5730113"/>
            <a:ext cx="335533" cy="0"/>
          </a:xfrm>
          <a:prstGeom prst="line">
            <a:avLst/>
          </a:prstGeom>
          <a:noFill/>
          <a:ln w="22860">
            <a:solidFill>
              <a:srgbClr val="009E73"/>
            </a:solidFill>
            <a:prstDash val="solid"/>
            <a:tailEnd type="triangle"/>
          </a:ln>
        </p:spPr>
      </p:sp>
      <p:sp>
        <p:nvSpPr>
          <p:cNvPr id="59" name="Text 57"/>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0" name="Shape 58"/>
          <p:cNvSpPr/>
          <p:nvPr/>
        </p:nvSpPr>
        <p:spPr>
          <a:xfrm>
            <a:off x="5562861" y="5730113"/>
            <a:ext cx="335533" cy="0"/>
          </a:xfrm>
          <a:prstGeom prst="line">
            <a:avLst/>
          </a:prstGeom>
          <a:noFill/>
          <a:ln w="22860">
            <a:solidFill>
              <a:srgbClr val="D55E00"/>
            </a:solidFill>
            <a:prstDash val="dash"/>
            <a:tailEnd type="triangle"/>
          </a:ln>
        </p:spPr>
      </p:sp>
      <p:sp>
        <p:nvSpPr>
          <p:cNvPr id="61" name="Text 59"/>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2" name="Text 6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can top-p retain different numbers of candidates at successive positions?</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Decoding strategies compared</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4786664"/>
                <a:gridCol w="4514512"/>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Rule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How it picks the next token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Watch for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Greedy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Always the highest-scoring token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Same output every time; can loop (“I think I think …”)</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Beam search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Keeps several best partial sequences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Safe but generic text; common in translation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Temperature 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Divides scores by T before softmax</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T &lt; 1 sharper, T &gt; 1 more varied; T must be positive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Top-k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Samples from the k highest-scoring tokens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 fixed k can be too many or too few</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Top-p (nucleus)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Samples from the smallest set whose probabilities reach p</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Keeps more candidates when the model is unsure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Repetition penalty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Lowers scores of tokens already used</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Can block needed repeats, such as names or code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next-token distributions from a small open LLM</a:t>
            </a:r>
            <a:endParaRPr lang="en-US" sz="3200" dirty="0"/>
          </a:p>
        </p:txBody>
      </p:sp>
      <p:pic>
        <p:nvPicPr>
          <p:cNvPr id="6" name="Image 0" descr="C:\Users\sudee\Downloads\Generative_AI_2027_Teaching_Pack\AI2027_Project\build\figures\week_06\next_token.png">    </p:cNvPr>
          <p:cNvPicPr>
            <a:picLocks noChangeAspect="1"/>
          </p:cNvPicPr>
          <p:nvPr/>
        </p:nvPicPr>
        <p:blipFill>
          <a:blip r:embed="rId1"/>
          <a:stretch>
            <a:fillRect/>
          </a:stretch>
        </p:blipFill>
        <p:spPr>
          <a:xfrm>
            <a:off x="769881" y="1481328"/>
            <a:ext cx="10651934"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Scores describe possible continuations.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 high-probability blank marker reflects a completion pattern.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Post-training shapes replies; verify every factual answer.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 build a tool that extracts invoice numbers and totals into JSON. Which decoding setting is most appropriate?</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Temperature 1.5 with top-p 0.95, for variety</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High top-k so rare tokens can appear</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Beam search with a large repetition penalty</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Greedy decoding (temperature 0) plus output validation</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LLM families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GPT, BERT, LLaMA, T5, Claude, Gemini, Qwen…: how do they relate?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family tree of transformer language models</a:t>
            </a:r>
            <a:endParaRPr lang="en-US" sz="3200" dirty="0"/>
          </a:p>
        </p:txBody>
      </p:sp>
      <p:sp>
        <p:nvSpPr>
          <p:cNvPr id="6" name="Shape 4"/>
          <p:cNvSpPr/>
          <p:nvPr/>
        </p:nvSpPr>
        <p:spPr>
          <a:xfrm>
            <a:off x="6095848" y="2571695"/>
            <a:ext cx="0" cy="160442"/>
          </a:xfrm>
          <a:prstGeom prst="line">
            <a:avLst/>
          </a:prstGeom>
          <a:noFill/>
          <a:ln w="22860">
            <a:solidFill>
              <a:srgbClr val="4F46E5"/>
            </a:solidFill>
            <a:prstDash val="solid"/>
          </a:ln>
        </p:spPr>
      </p:sp>
      <p:sp>
        <p:nvSpPr>
          <p:cNvPr id="7" name="Shape 5"/>
          <p:cNvSpPr/>
          <p:nvPr/>
        </p:nvSpPr>
        <p:spPr>
          <a:xfrm flipH="1">
            <a:off x="2572944" y="2732137"/>
            <a:ext cx="3522904" cy="0"/>
          </a:xfrm>
          <a:prstGeom prst="line">
            <a:avLst/>
          </a:prstGeom>
          <a:noFill/>
          <a:ln w="22860">
            <a:solidFill>
              <a:srgbClr val="4F46E5"/>
            </a:solidFill>
            <a:prstDash val="solid"/>
          </a:ln>
        </p:spPr>
      </p:sp>
      <p:sp>
        <p:nvSpPr>
          <p:cNvPr id="8" name="Shape 6"/>
          <p:cNvSpPr/>
          <p:nvPr/>
        </p:nvSpPr>
        <p:spPr>
          <a:xfrm>
            <a:off x="6095848" y="2571695"/>
            <a:ext cx="0" cy="160442"/>
          </a:xfrm>
          <a:prstGeom prst="line">
            <a:avLst/>
          </a:prstGeom>
          <a:noFill/>
          <a:ln w="22860">
            <a:solidFill>
              <a:srgbClr val="4F46E5"/>
            </a:solidFill>
            <a:prstDash val="solid"/>
          </a:ln>
        </p:spPr>
      </p:sp>
      <p:sp>
        <p:nvSpPr>
          <p:cNvPr id="9" name="Shape 7"/>
          <p:cNvSpPr/>
          <p:nvPr/>
        </p:nvSpPr>
        <p:spPr>
          <a:xfrm>
            <a:off x="6095848" y="2732137"/>
            <a:ext cx="0" cy="0"/>
          </a:xfrm>
          <a:prstGeom prst="line">
            <a:avLst/>
          </a:prstGeom>
          <a:noFill/>
          <a:ln w="22860">
            <a:solidFill>
              <a:srgbClr val="4F46E5"/>
            </a:solidFill>
            <a:prstDash val="solid"/>
          </a:ln>
        </p:spPr>
      </p:sp>
      <p:sp>
        <p:nvSpPr>
          <p:cNvPr id="10" name="Shape 8"/>
          <p:cNvSpPr/>
          <p:nvPr/>
        </p:nvSpPr>
        <p:spPr>
          <a:xfrm>
            <a:off x="6095848" y="2571695"/>
            <a:ext cx="0" cy="160442"/>
          </a:xfrm>
          <a:prstGeom prst="line">
            <a:avLst/>
          </a:prstGeom>
          <a:noFill/>
          <a:ln w="22860">
            <a:solidFill>
              <a:srgbClr val="4F46E5"/>
            </a:solidFill>
            <a:prstDash val="solid"/>
          </a:ln>
        </p:spPr>
      </p:sp>
      <p:sp>
        <p:nvSpPr>
          <p:cNvPr id="11" name="Shape 9"/>
          <p:cNvSpPr/>
          <p:nvPr/>
        </p:nvSpPr>
        <p:spPr>
          <a:xfrm>
            <a:off x="6095848" y="2732137"/>
            <a:ext cx="3522904" cy="0"/>
          </a:xfrm>
          <a:prstGeom prst="line">
            <a:avLst/>
          </a:prstGeom>
          <a:noFill/>
          <a:ln w="22860">
            <a:solidFill>
              <a:srgbClr val="4F46E5"/>
            </a:solidFill>
            <a:prstDash val="solid"/>
          </a:ln>
        </p:spPr>
      </p:sp>
      <p:sp>
        <p:nvSpPr>
          <p:cNvPr id="12" name="Shape 10"/>
          <p:cNvSpPr/>
          <p:nvPr/>
        </p:nvSpPr>
        <p:spPr>
          <a:xfrm>
            <a:off x="2572944" y="2732137"/>
            <a:ext cx="0" cy="200553"/>
          </a:xfrm>
          <a:prstGeom prst="line">
            <a:avLst/>
          </a:prstGeom>
          <a:noFill/>
          <a:ln w="22860">
            <a:solidFill>
              <a:srgbClr val="4F46E5"/>
            </a:solidFill>
            <a:prstDash val="solid"/>
            <a:tailEnd type="triangle"/>
          </a:ln>
        </p:spPr>
      </p:sp>
      <p:sp>
        <p:nvSpPr>
          <p:cNvPr id="13" name="Shape 11"/>
          <p:cNvSpPr/>
          <p:nvPr/>
        </p:nvSpPr>
        <p:spPr>
          <a:xfrm>
            <a:off x="6095848" y="2732137"/>
            <a:ext cx="0" cy="200553"/>
          </a:xfrm>
          <a:prstGeom prst="line">
            <a:avLst/>
          </a:prstGeom>
          <a:noFill/>
          <a:ln w="22860">
            <a:solidFill>
              <a:srgbClr val="4F46E5"/>
            </a:solidFill>
            <a:prstDash val="solid"/>
            <a:tailEnd type="triangle"/>
          </a:ln>
        </p:spPr>
      </p:sp>
      <p:sp>
        <p:nvSpPr>
          <p:cNvPr id="14" name="Shape 12"/>
          <p:cNvSpPr/>
          <p:nvPr/>
        </p:nvSpPr>
        <p:spPr>
          <a:xfrm>
            <a:off x="9618751" y="2732137"/>
            <a:ext cx="0" cy="200553"/>
          </a:xfrm>
          <a:prstGeom prst="line">
            <a:avLst/>
          </a:prstGeom>
          <a:noFill/>
          <a:ln w="22860">
            <a:solidFill>
              <a:srgbClr val="4F46E5"/>
            </a:solidFill>
            <a:prstDash val="solid"/>
            <a:tailEnd type="triangle"/>
          </a:ln>
        </p:spPr>
      </p:sp>
      <p:sp>
        <p:nvSpPr>
          <p:cNvPr id="15" name="Shape 13"/>
          <p:cNvSpPr/>
          <p:nvPr/>
        </p:nvSpPr>
        <p:spPr>
          <a:xfrm>
            <a:off x="4948856" y="2010147"/>
            <a:ext cx="2293984" cy="561548"/>
          </a:xfrm>
          <a:prstGeom prst="rect">
            <a:avLst/>
          </a:prstGeom>
          <a:solidFill>
            <a:srgbClr val="E5F7EF"/>
          </a:solidFill>
          <a:ln w="15240">
            <a:solidFill>
              <a:srgbClr val="009E73"/>
            </a:solidFill>
            <a:prstDash val="solid"/>
          </a:ln>
        </p:spPr>
      </p:sp>
      <p:sp>
        <p:nvSpPr>
          <p:cNvPr id="16" name="Shape 14"/>
          <p:cNvSpPr/>
          <p:nvPr/>
        </p:nvSpPr>
        <p:spPr>
          <a:xfrm>
            <a:off x="934384" y="2932690"/>
            <a:ext cx="3277120" cy="641769"/>
          </a:xfrm>
          <a:prstGeom prst="rect">
            <a:avLst/>
          </a:prstGeom>
          <a:solidFill>
            <a:srgbClr val="E5F7EF"/>
          </a:solidFill>
          <a:ln w="15240">
            <a:solidFill>
              <a:srgbClr val="009E73"/>
            </a:solidFill>
            <a:prstDash val="solid"/>
          </a:ln>
        </p:spPr>
      </p:sp>
      <p:sp>
        <p:nvSpPr>
          <p:cNvPr id="17" name="Shape 15"/>
          <p:cNvSpPr/>
          <p:nvPr/>
        </p:nvSpPr>
        <p:spPr>
          <a:xfrm>
            <a:off x="4457288" y="2932690"/>
            <a:ext cx="3277120" cy="641769"/>
          </a:xfrm>
          <a:prstGeom prst="rect">
            <a:avLst/>
          </a:prstGeom>
          <a:solidFill>
            <a:srgbClr val="E5F7EF"/>
          </a:solidFill>
          <a:ln w="15240">
            <a:solidFill>
              <a:srgbClr val="009E73"/>
            </a:solidFill>
            <a:prstDash val="solid"/>
          </a:ln>
        </p:spPr>
      </p:sp>
      <p:sp>
        <p:nvSpPr>
          <p:cNvPr id="18" name="Shape 16"/>
          <p:cNvSpPr/>
          <p:nvPr/>
        </p:nvSpPr>
        <p:spPr>
          <a:xfrm>
            <a:off x="7980191" y="2932690"/>
            <a:ext cx="3277120" cy="641769"/>
          </a:xfrm>
          <a:prstGeom prst="rect">
            <a:avLst/>
          </a:prstGeom>
          <a:solidFill>
            <a:srgbClr val="E5F7EF"/>
          </a:solidFill>
          <a:ln w="15240">
            <a:solidFill>
              <a:srgbClr val="009E73"/>
            </a:solidFill>
            <a:prstDash val="solid"/>
          </a:ln>
        </p:spPr>
      </p:sp>
      <p:sp>
        <p:nvSpPr>
          <p:cNvPr id="19" name="Text 17"/>
          <p:cNvSpPr txBox="1"/>
          <p:nvPr/>
        </p:nvSpPr>
        <p:spPr>
          <a:xfrm>
            <a:off x="5316144" y="2153426"/>
            <a:ext cx="1559407"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Transformer</a:t>
            </a:r>
            <a:endParaRPr lang="en-US" sz="1867" dirty="0"/>
          </a:p>
        </p:txBody>
      </p:sp>
      <p:sp>
        <p:nvSpPr>
          <p:cNvPr id="20" name="Text 18"/>
          <p:cNvSpPr txBox="1"/>
          <p:nvPr/>
        </p:nvSpPr>
        <p:spPr>
          <a:xfrm>
            <a:off x="1724648" y="3116080"/>
            <a:ext cx="1696592"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Encoder-only</a:t>
            </a:r>
            <a:endParaRPr lang="en-US" sz="1867" dirty="0"/>
          </a:p>
        </p:txBody>
      </p:sp>
      <p:sp>
        <p:nvSpPr>
          <p:cNvPr id="21" name="Text 19"/>
          <p:cNvSpPr txBox="1"/>
          <p:nvPr/>
        </p:nvSpPr>
        <p:spPr>
          <a:xfrm>
            <a:off x="1016312" y="3675352"/>
            <a:ext cx="1922577"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Read all supplied text</a:t>
            </a:r>
            <a:endParaRPr lang="en-US" sz="1493" dirty="0"/>
          </a:p>
        </p:txBody>
      </p:sp>
      <p:sp>
        <p:nvSpPr>
          <p:cNvPr id="22" name="Text 20"/>
          <p:cNvSpPr txBox="1"/>
          <p:nvPr/>
        </p:nvSpPr>
        <p:spPr>
          <a:xfrm>
            <a:off x="1016312" y="4092502"/>
            <a:ext cx="1920645"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BERT / ModernBERT</a:t>
            </a:r>
            <a:endParaRPr lang="en-US" sz="1493" dirty="0"/>
          </a:p>
        </p:txBody>
      </p:sp>
      <p:sp>
        <p:nvSpPr>
          <p:cNvPr id="23" name="Text 21"/>
          <p:cNvSpPr txBox="1"/>
          <p:nvPr/>
        </p:nvSpPr>
        <p:spPr>
          <a:xfrm>
            <a:off x="1016312" y="4509652"/>
            <a:ext cx="2399551"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Masks; labels; embeddings</a:t>
            </a:r>
            <a:endParaRPr lang="en-US" sz="1493" dirty="0"/>
          </a:p>
        </p:txBody>
      </p:sp>
      <p:sp>
        <p:nvSpPr>
          <p:cNvPr id="24" name="Text 22"/>
          <p:cNvSpPr txBox="1"/>
          <p:nvPr/>
        </p:nvSpPr>
        <p:spPr>
          <a:xfrm>
            <a:off x="4986982" y="3116080"/>
            <a:ext cx="221773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Encoder–decoder</a:t>
            </a:r>
            <a:endParaRPr lang="en-US" sz="1867" dirty="0"/>
          </a:p>
        </p:txBody>
      </p:sp>
      <p:sp>
        <p:nvSpPr>
          <p:cNvPr id="25" name="Text 23"/>
          <p:cNvSpPr txBox="1"/>
          <p:nvPr/>
        </p:nvSpPr>
        <p:spPr>
          <a:xfrm>
            <a:off x="4539216" y="3675352"/>
            <a:ext cx="261154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Read source; generate output</a:t>
            </a:r>
            <a:endParaRPr lang="en-US" sz="1493" dirty="0"/>
          </a:p>
        </p:txBody>
      </p:sp>
      <p:sp>
        <p:nvSpPr>
          <p:cNvPr id="26" name="Text 24"/>
          <p:cNvSpPr txBox="1"/>
          <p:nvPr/>
        </p:nvSpPr>
        <p:spPr>
          <a:xfrm>
            <a:off x="4539216" y="4092502"/>
            <a:ext cx="214339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T5 / Flan-T5: text → text</a:t>
            </a:r>
            <a:endParaRPr lang="en-US" sz="1493" dirty="0"/>
          </a:p>
        </p:txBody>
      </p:sp>
      <p:sp>
        <p:nvSpPr>
          <p:cNvPr id="27" name="Text 25"/>
          <p:cNvSpPr txBox="1"/>
          <p:nvPr/>
        </p:nvSpPr>
        <p:spPr>
          <a:xfrm>
            <a:off x="4539216" y="4509652"/>
            <a:ext cx="245254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Whisper: audio → transcript</a:t>
            </a:r>
            <a:endParaRPr lang="en-US" sz="1493" dirty="0"/>
          </a:p>
        </p:txBody>
      </p:sp>
      <p:sp>
        <p:nvSpPr>
          <p:cNvPr id="28" name="Text 26"/>
          <p:cNvSpPr txBox="1"/>
          <p:nvPr/>
        </p:nvSpPr>
        <p:spPr>
          <a:xfrm>
            <a:off x="8770455" y="3116080"/>
            <a:ext cx="1696592"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Decoder-only</a:t>
            </a:r>
            <a:endParaRPr lang="en-US" sz="1867" dirty="0"/>
          </a:p>
        </p:txBody>
      </p:sp>
      <p:sp>
        <p:nvSpPr>
          <p:cNvPr id="29" name="Text 27"/>
          <p:cNvSpPr txBox="1"/>
          <p:nvPr/>
        </p:nvSpPr>
        <p:spPr>
          <a:xfrm>
            <a:off x="8062119" y="3675352"/>
            <a:ext cx="205507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Continue a token prefix</a:t>
            </a:r>
            <a:endParaRPr lang="en-US" sz="1493" dirty="0"/>
          </a:p>
        </p:txBody>
      </p:sp>
      <p:sp>
        <p:nvSpPr>
          <p:cNvPr id="30" name="Text 28"/>
          <p:cNvSpPr txBox="1"/>
          <p:nvPr/>
        </p:nvSpPr>
        <p:spPr>
          <a:xfrm>
            <a:off x="8062119" y="4092502"/>
            <a:ext cx="2108067"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Qwen / Llama / Gemma</a:t>
            </a:r>
            <a:endParaRPr lang="en-US" sz="1493" dirty="0"/>
          </a:p>
        </p:txBody>
      </p:sp>
      <p:sp>
        <p:nvSpPr>
          <p:cNvPr id="31" name="Text 29"/>
          <p:cNvSpPr txBox="1"/>
          <p:nvPr/>
        </p:nvSpPr>
        <p:spPr>
          <a:xfrm>
            <a:off x="8062119" y="4509652"/>
            <a:ext cx="224746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GPT-style text generation</a:t>
            </a:r>
            <a:endParaRPr lang="en-US" sz="1493" dirty="0"/>
          </a:p>
        </p:txBody>
      </p:sp>
      <p:sp>
        <p:nvSpPr>
          <p:cNvPr id="32" name="Text 30"/>
          <p:cNvSpPr txBox="1"/>
          <p:nvPr/>
        </p:nvSpPr>
        <p:spPr>
          <a:xfrm>
            <a:off x="934384" y="5199554"/>
            <a:ext cx="6877812" cy="219992"/>
          </a:xfrm>
          <a:prstGeom prst="rect">
            <a:avLst/>
          </a:prstGeom>
          <a:noFill/>
          <a:ln/>
        </p:spPr>
        <p:txBody>
          <a:bodyPr wrap="square" lIns="0" tIns="0" rIns="0" bIns="0" rtlCol="0" anchor="ctr"/>
          <a:lstStyle/>
          <a:p>
            <a:pPr algn="l" indent="0" marL="0">
              <a:lnSpc>
                <a:spcPct val="116000"/>
              </a:lnSpc>
              <a:buNone/>
            </a:pPr>
            <a:r>
              <a:rPr lang="en-US" sz="1493" dirty="0">
                <a:solidFill>
                  <a:srgbClr val="6B7280"/>
                </a:solidFill>
                <a:latin typeface="Arial" pitchFamily="34" charset="0"/>
                <a:ea typeface="Arial" pitchFamily="34" charset="-122"/>
                <a:cs typeface="Arial" pitchFamily="34" charset="-120"/>
              </a:rPr>
              <a:t>Architecture and access are separate. Proprietary internals may be undisclosed.</a:t>
            </a:r>
            <a:endParaRPr lang="en-US" sz="1493"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BERT vs. T5 vs. GPT-style: same input, different jobs</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BERT (encoder)</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Reads the whole input in both directions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Fills a mask: “The capital of Ireland is [MASK].”</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Gives labels or embeddings, not free text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search and classification</a:t>
            </a:r>
            <a:endParaRPr lang="en-US" sz="22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T5 / Flan-T5 (enc–dec)</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encoder reads the source; the decoder writes new text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Every task is text to text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Example: “Translate English to German: How old are you?”</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translation and summaries</a:t>
            </a:r>
            <a:endParaRPr lang="en-US" sz="22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GPT-style (decoder)</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Continues the prefix one token at a time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Writes replies, stories or code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Chat needs its template and post-training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Example: Qwen2.5-Instruct in our lab</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Proprietary and open-weight families (examples, 2026)</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57247"/>
                <a:gridCol w="2773604"/>
                <a:gridCol w="6163564"/>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Family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Developer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you can use 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GPT / Claude / Gemini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OpenAI / Anthropic / Google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Through an API or app; weights not released (OpenAI’s separate gpt-oss models are open-weight)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Llama / Qwen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Meta / Alibaba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Download the weights under each release’s licence; many providers also host them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DeepSeek / Mistral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DeepSeek / Mistral AI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weights downloadable; the developers also run hosted APIs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Phi / OLMo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Microsoft / Ai2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Download the weights; OLMo also publishes its training data and code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Read each release’s model card, licence and access terms.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Newer categories that matter when choosing</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Small language models</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Up to a few billion parameters; can run on a laptop for narrow tasks. Example: Qwen2.5-0.5B in our lab.</a:t>
            </a:r>
            <a:endParaRPr lang="en-US" sz="20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Mixture-of-experts</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 router runs a few expert networks per token. Mixtral 8×7B uses about 13 B of its 47 B parameters per token, but all must be stored.</a:t>
            </a:r>
            <a:endParaRPr lang="en-US" sz="20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Reasoning models</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Spend extra tokens thinking before the answer. Measure the accuracy gain against tokens and seconds.</a:t>
            </a:r>
            <a:endParaRPr lang="en-US" sz="20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Multimodal LLMs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images, audio or video as well as text. Example: ask about a chart in a photo, then check the answer.</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Reasoning models and test-time compute</a:t>
            </a:r>
            <a:endParaRPr lang="en-US" sz="3200" dirty="0"/>
          </a:p>
        </p:txBody>
      </p:sp>
      <p:sp>
        <p:nvSpPr>
          <p:cNvPr id="6" name="Shape 4"/>
          <p:cNvSpPr/>
          <p:nvPr/>
        </p:nvSpPr>
        <p:spPr>
          <a:xfrm>
            <a:off x="2818728" y="3073077"/>
            <a:ext cx="1228920" cy="0"/>
          </a:xfrm>
          <a:prstGeom prst="line">
            <a:avLst/>
          </a:prstGeom>
          <a:noFill/>
          <a:ln w="22860">
            <a:solidFill>
              <a:srgbClr val="4F46E5"/>
            </a:solidFill>
            <a:prstDash val="solid"/>
            <a:tailEnd type="triangle"/>
          </a:ln>
        </p:spPr>
      </p:sp>
      <p:sp>
        <p:nvSpPr>
          <p:cNvPr id="7" name="Shape 5"/>
          <p:cNvSpPr/>
          <p:nvPr/>
        </p:nvSpPr>
        <p:spPr>
          <a:xfrm>
            <a:off x="7488623" y="3073077"/>
            <a:ext cx="1228920" cy="0"/>
          </a:xfrm>
          <a:prstGeom prst="line">
            <a:avLst/>
          </a:prstGeom>
          <a:noFill/>
          <a:ln w="22860">
            <a:solidFill>
              <a:srgbClr val="4F46E5"/>
            </a:solidFill>
            <a:prstDash val="solid"/>
            <a:tailEnd type="triangle"/>
          </a:ln>
        </p:spPr>
      </p:sp>
      <p:sp>
        <p:nvSpPr>
          <p:cNvPr id="8" name="Shape 6"/>
          <p:cNvSpPr/>
          <p:nvPr/>
        </p:nvSpPr>
        <p:spPr>
          <a:xfrm>
            <a:off x="2818728" y="4216229"/>
            <a:ext cx="1228920" cy="0"/>
          </a:xfrm>
          <a:prstGeom prst="line">
            <a:avLst/>
          </a:prstGeom>
          <a:noFill/>
          <a:ln w="22860">
            <a:solidFill>
              <a:srgbClr val="4F46E5"/>
            </a:solidFill>
            <a:prstDash val="solid"/>
            <a:tailEnd type="triangle"/>
          </a:ln>
        </p:spPr>
      </p:sp>
      <p:sp>
        <p:nvSpPr>
          <p:cNvPr id="9" name="Shape 7"/>
          <p:cNvSpPr/>
          <p:nvPr/>
        </p:nvSpPr>
        <p:spPr>
          <a:xfrm>
            <a:off x="7488623" y="4216229"/>
            <a:ext cx="1228920" cy="0"/>
          </a:xfrm>
          <a:prstGeom prst="line">
            <a:avLst/>
          </a:prstGeom>
          <a:noFill/>
          <a:ln w="22860">
            <a:solidFill>
              <a:srgbClr val="4F46E5"/>
            </a:solidFill>
            <a:prstDash val="solid"/>
            <a:tailEnd type="triangle"/>
          </a:ln>
        </p:spPr>
      </p:sp>
      <p:sp>
        <p:nvSpPr>
          <p:cNvPr id="10" name="Shape 8"/>
          <p:cNvSpPr/>
          <p:nvPr/>
        </p:nvSpPr>
        <p:spPr>
          <a:xfrm>
            <a:off x="934384" y="2732137"/>
            <a:ext cx="1884344" cy="681880"/>
          </a:xfrm>
          <a:prstGeom prst="roundRect">
            <a:avLst>
              <a:gd name="adj" fmla="val 10728"/>
            </a:avLst>
          </a:prstGeom>
          <a:solidFill>
            <a:srgbClr val="E4F2FB"/>
          </a:solidFill>
          <a:ln w="15240">
            <a:solidFill>
              <a:srgbClr val="0072B2"/>
            </a:solidFill>
            <a:prstDash val="solid"/>
          </a:ln>
        </p:spPr>
      </p:sp>
      <p:sp>
        <p:nvSpPr>
          <p:cNvPr id="11" name="Shape 9"/>
          <p:cNvSpPr/>
          <p:nvPr/>
        </p:nvSpPr>
        <p:spPr>
          <a:xfrm>
            <a:off x="4047648" y="2732137"/>
            <a:ext cx="3440976" cy="681880"/>
          </a:xfrm>
          <a:prstGeom prst="rect">
            <a:avLst/>
          </a:prstGeom>
          <a:solidFill>
            <a:srgbClr val="E5F7EF"/>
          </a:solidFill>
          <a:ln w="15240">
            <a:solidFill>
              <a:srgbClr val="009E73"/>
            </a:solidFill>
            <a:prstDash val="solid"/>
          </a:ln>
        </p:spPr>
      </p:sp>
      <p:sp>
        <p:nvSpPr>
          <p:cNvPr id="12" name="Shape 10"/>
          <p:cNvSpPr/>
          <p:nvPr/>
        </p:nvSpPr>
        <p:spPr>
          <a:xfrm>
            <a:off x="8717543" y="2732137"/>
            <a:ext cx="2293984" cy="681880"/>
          </a:xfrm>
          <a:prstGeom prst="roundRect">
            <a:avLst>
              <a:gd name="adj" fmla="val 10728"/>
            </a:avLst>
          </a:prstGeom>
          <a:solidFill>
            <a:srgbClr val="F9EAF4"/>
          </a:solidFill>
          <a:ln w="15240">
            <a:solidFill>
              <a:srgbClr val="CC79A7"/>
            </a:solidFill>
            <a:prstDash val="solid"/>
          </a:ln>
        </p:spPr>
      </p:sp>
      <p:sp>
        <p:nvSpPr>
          <p:cNvPr id="13" name="Shape 11"/>
          <p:cNvSpPr/>
          <p:nvPr/>
        </p:nvSpPr>
        <p:spPr>
          <a:xfrm>
            <a:off x="934384" y="3775012"/>
            <a:ext cx="1884344" cy="882433"/>
          </a:xfrm>
          <a:prstGeom prst="roundRect">
            <a:avLst>
              <a:gd name="adj" fmla="val 8290"/>
            </a:avLst>
          </a:prstGeom>
          <a:solidFill>
            <a:srgbClr val="E4F2FB"/>
          </a:solidFill>
          <a:ln w="15240">
            <a:solidFill>
              <a:srgbClr val="0072B2"/>
            </a:solidFill>
            <a:prstDash val="solid"/>
          </a:ln>
        </p:spPr>
      </p:sp>
      <p:sp>
        <p:nvSpPr>
          <p:cNvPr id="14" name="Shape 12"/>
          <p:cNvSpPr/>
          <p:nvPr/>
        </p:nvSpPr>
        <p:spPr>
          <a:xfrm>
            <a:off x="4047648" y="3775012"/>
            <a:ext cx="3440976" cy="882433"/>
          </a:xfrm>
          <a:prstGeom prst="rect">
            <a:avLst/>
          </a:prstGeom>
          <a:solidFill>
            <a:srgbClr val="E5F7EF"/>
          </a:solidFill>
          <a:ln w="15240">
            <a:solidFill>
              <a:srgbClr val="009E73"/>
            </a:solidFill>
            <a:prstDash val="solid"/>
          </a:ln>
        </p:spPr>
      </p:sp>
      <p:sp>
        <p:nvSpPr>
          <p:cNvPr id="15" name="Shape 13"/>
          <p:cNvSpPr/>
          <p:nvPr/>
        </p:nvSpPr>
        <p:spPr>
          <a:xfrm>
            <a:off x="8717543" y="3775012"/>
            <a:ext cx="2293984" cy="882433"/>
          </a:xfrm>
          <a:prstGeom prst="roundRect">
            <a:avLst>
              <a:gd name="adj" fmla="val 8290"/>
            </a:avLst>
          </a:prstGeom>
          <a:solidFill>
            <a:srgbClr val="F9EAF4"/>
          </a:solidFill>
          <a:ln w="15240">
            <a:solidFill>
              <a:srgbClr val="CC79A7"/>
            </a:solidFill>
            <a:prstDash val="solid"/>
          </a:ln>
        </p:spPr>
      </p:sp>
      <p:sp>
        <p:nvSpPr>
          <p:cNvPr id="16" name="Shape 14"/>
          <p:cNvSpPr/>
          <p:nvPr/>
        </p:nvSpPr>
        <p:spPr>
          <a:xfrm>
            <a:off x="852456" y="5523833"/>
            <a:ext cx="180242" cy="176487"/>
          </a:xfrm>
          <a:prstGeom prst="roundRect">
            <a:avLst>
              <a:gd name="adj" fmla="val 41449"/>
            </a:avLst>
          </a:prstGeom>
          <a:solidFill>
            <a:srgbClr val="E4F2FB"/>
          </a:solidFill>
          <a:ln w="15240">
            <a:solidFill>
              <a:srgbClr val="0072B2"/>
            </a:solidFill>
            <a:prstDash val="solid"/>
          </a:ln>
        </p:spPr>
      </p:sp>
      <p:sp>
        <p:nvSpPr>
          <p:cNvPr id="17" name="Shape 15"/>
          <p:cNvSpPr/>
          <p:nvPr/>
        </p:nvSpPr>
        <p:spPr>
          <a:xfrm>
            <a:off x="2982584" y="5523833"/>
            <a:ext cx="180242" cy="176487"/>
          </a:xfrm>
          <a:prstGeom prst="rect">
            <a:avLst/>
          </a:prstGeom>
          <a:solidFill>
            <a:srgbClr val="E5F7EF"/>
          </a:solidFill>
          <a:ln w="15240">
            <a:solidFill>
              <a:srgbClr val="009E73"/>
            </a:solidFill>
            <a:prstDash val="solid"/>
          </a:ln>
        </p:spPr>
      </p:sp>
      <p:sp>
        <p:nvSpPr>
          <p:cNvPr id="18" name="Shape 16"/>
          <p:cNvSpPr/>
          <p:nvPr/>
        </p:nvSpPr>
        <p:spPr>
          <a:xfrm>
            <a:off x="5112712" y="5523833"/>
            <a:ext cx="180242" cy="176487"/>
          </a:xfrm>
          <a:prstGeom prst="roundRect">
            <a:avLst>
              <a:gd name="adj" fmla="val 41449"/>
            </a:avLst>
          </a:prstGeom>
          <a:solidFill>
            <a:srgbClr val="F9EAF4"/>
          </a:solidFill>
          <a:ln w="15240">
            <a:solidFill>
              <a:srgbClr val="CC79A7"/>
            </a:solidFill>
            <a:prstDash val="solid"/>
          </a:ln>
        </p:spPr>
      </p:sp>
      <p:sp>
        <p:nvSpPr>
          <p:cNvPr id="19" name="Text 17"/>
          <p:cNvSpPr txBox="1"/>
          <p:nvPr/>
        </p:nvSpPr>
        <p:spPr>
          <a:xfrm>
            <a:off x="934384" y="1989570"/>
            <a:ext cx="5683712" cy="261240"/>
          </a:xfrm>
          <a:prstGeom prst="rect">
            <a:avLst/>
          </a:prstGeom>
          <a:noFill/>
          <a:ln/>
        </p:spPr>
        <p:txBody>
          <a:bodyPr wrap="square" lIns="0" tIns="0" rIns="0" bIns="0" rtlCol="0" anchor="ctr"/>
          <a:lstStyle/>
          <a:p>
            <a:pPr algn="l" indent="0" marL="0">
              <a:lnSpc>
                <a:spcPct val="116000"/>
              </a:lnSpc>
              <a:buNone/>
            </a:pPr>
            <a:r>
              <a:rPr lang="en-US" sz="1773" b="1" dirty="0">
                <a:solidFill>
                  <a:srgbClr val="1E1B4B"/>
                </a:solidFill>
                <a:latin typeface="Arial" pitchFamily="34" charset="0"/>
                <a:ea typeface="Arial" pitchFamily="34" charset="-122"/>
                <a:cs typeface="Arial" pitchFamily="34" charset="-120"/>
              </a:rPr>
              <a:t>Extra inference computation is a budget to evaluate</a:t>
            </a:r>
            <a:endParaRPr lang="en-US" sz="1773" dirty="0"/>
          </a:p>
        </p:txBody>
      </p:sp>
      <p:sp>
        <p:nvSpPr>
          <p:cNvPr id="20" name="Text 18"/>
          <p:cNvSpPr txBox="1"/>
          <p:nvPr/>
        </p:nvSpPr>
        <p:spPr>
          <a:xfrm>
            <a:off x="1370075" y="2928708"/>
            <a:ext cx="1012963"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Prompt</a:t>
            </a:r>
            <a:endParaRPr lang="en-US" sz="1960" dirty="0"/>
          </a:p>
        </p:txBody>
      </p:sp>
      <p:sp>
        <p:nvSpPr>
          <p:cNvPr id="21" name="Text 19"/>
          <p:cNvSpPr txBox="1"/>
          <p:nvPr/>
        </p:nvSpPr>
        <p:spPr>
          <a:xfrm>
            <a:off x="4678685" y="2928708"/>
            <a:ext cx="2178900"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Generate answer</a:t>
            </a:r>
            <a:endParaRPr lang="en-US" sz="1960" dirty="0"/>
          </a:p>
        </p:txBody>
      </p:sp>
      <p:sp>
        <p:nvSpPr>
          <p:cNvPr id="22" name="Text 20"/>
          <p:cNvSpPr txBox="1"/>
          <p:nvPr/>
        </p:nvSpPr>
        <p:spPr>
          <a:xfrm>
            <a:off x="8947326" y="2928708"/>
            <a:ext cx="1834419"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Check answer</a:t>
            </a:r>
            <a:endParaRPr lang="en-US" sz="1960" dirty="0"/>
          </a:p>
        </p:txBody>
      </p:sp>
      <p:sp>
        <p:nvSpPr>
          <p:cNvPr id="23" name="Text 21"/>
          <p:cNvSpPr txBox="1"/>
          <p:nvPr/>
        </p:nvSpPr>
        <p:spPr>
          <a:xfrm>
            <a:off x="1370075" y="4071859"/>
            <a:ext cx="1012963"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Prompt</a:t>
            </a:r>
            <a:endParaRPr lang="en-US" sz="1960" dirty="0"/>
          </a:p>
        </p:txBody>
      </p:sp>
      <p:sp>
        <p:nvSpPr>
          <p:cNvPr id="24" name="Text 22"/>
          <p:cNvSpPr txBox="1"/>
          <p:nvPr/>
        </p:nvSpPr>
        <p:spPr>
          <a:xfrm>
            <a:off x="4562109" y="3941239"/>
            <a:ext cx="2412054"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Extra computation</a:t>
            </a:r>
            <a:endParaRPr lang="en-US" sz="1867" dirty="0"/>
          </a:p>
        </p:txBody>
      </p:sp>
      <p:sp>
        <p:nvSpPr>
          <p:cNvPr id="25" name="Text 23"/>
          <p:cNvSpPr txBox="1"/>
          <p:nvPr/>
        </p:nvSpPr>
        <p:spPr>
          <a:xfrm>
            <a:off x="4562109" y="4216229"/>
            <a:ext cx="2412054"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(budgeted thinking)</a:t>
            </a:r>
            <a:endParaRPr lang="en-US" sz="1867" dirty="0"/>
          </a:p>
        </p:txBody>
      </p:sp>
      <p:sp>
        <p:nvSpPr>
          <p:cNvPr id="26" name="Text 24"/>
          <p:cNvSpPr txBox="1"/>
          <p:nvPr/>
        </p:nvSpPr>
        <p:spPr>
          <a:xfrm>
            <a:off x="9144316" y="3941239"/>
            <a:ext cx="144043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Check final</a:t>
            </a:r>
            <a:endParaRPr lang="en-US" sz="1867" dirty="0"/>
          </a:p>
        </p:txBody>
      </p:sp>
      <p:sp>
        <p:nvSpPr>
          <p:cNvPr id="27" name="Text 25"/>
          <p:cNvSpPr txBox="1"/>
          <p:nvPr/>
        </p:nvSpPr>
        <p:spPr>
          <a:xfrm>
            <a:off x="9144316" y="4216229"/>
            <a:ext cx="144043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answer</a:t>
            </a:r>
            <a:endParaRPr lang="en-US" sz="1867" dirty="0"/>
          </a:p>
        </p:txBody>
      </p:sp>
      <p:sp>
        <p:nvSpPr>
          <p:cNvPr id="28" name="Text 26"/>
          <p:cNvSpPr txBox="1"/>
          <p:nvPr/>
        </p:nvSpPr>
        <p:spPr>
          <a:xfrm>
            <a:off x="934384" y="4958891"/>
            <a:ext cx="6824815"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Check correctness, completion, tokens and seconds; more thinking can still fail.</a:t>
            </a:r>
            <a:endParaRPr lang="en-US" sz="1493" dirty="0"/>
          </a:p>
        </p:txBody>
      </p:sp>
      <p:sp>
        <p:nvSpPr>
          <p:cNvPr id="29" name="Text 27"/>
          <p:cNvSpPr txBox="1"/>
          <p:nvPr/>
        </p:nvSpPr>
        <p:spPr>
          <a:xfrm>
            <a:off x="1131011" y="5502081"/>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30" name="Text 28"/>
          <p:cNvSpPr txBox="1"/>
          <p:nvPr/>
        </p:nvSpPr>
        <p:spPr>
          <a:xfrm>
            <a:off x="3261139" y="5502081"/>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31" name="Text 29"/>
          <p:cNvSpPr txBox="1"/>
          <p:nvPr/>
        </p:nvSpPr>
        <p:spPr>
          <a:xfrm>
            <a:off x="5391267" y="5502081"/>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Which statement about model families is correct?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BERT and GPT are both decoder-only chat models</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Open-weight models always come with their training data and code</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T5 frames every task as text-to-text with an encoder–decoder</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Reasoning models are faster because they skip the thinking step</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Choosing and using models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pick the right model and use it responsibly?</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 model card should tell you</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4865090"/>
                <a:gridCol w="4436085"/>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Section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Questions to ask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Why it matters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Intended use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What task and which users is it for?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Uses outside this scope are untested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Training data</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sources, languages and cut-off date?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Shows what the model may not know</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Evaluation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tests, settings and prompt format?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Scores compare only under the same setup</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Limitations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failures and biases are known?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Plan checks for them in your task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Licence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uses are allowed?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Commercial use or user limits may apply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Technical</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Size, memory, context length, chat template?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Decides whether it runs on your hardware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Licences at a glance (always read the actual text)</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120304"/>
                <a:gridCol w="3380330"/>
                <a:gridCol w="459378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usually allows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MIT / Apache 2.0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Broad use, including commercial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Keep the licence text and notices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Community or custom (e.g. Llama)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Use with conditions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User limits, attribution and an acceptable-use policy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OpenRAIL (e.g. Stable Diffusion 1.5)</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Use except a listed set of harmful uses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use restrictions pass on to your users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Research-only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Study and experiments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 commercial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Hosted API terms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Access to a model, not its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Prices, rate limits, data retention and training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Benchmarks: useful, but read them critically</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97950"/>
                <a:gridCol w="4081907"/>
                <a:gridCol w="4814558"/>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Test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Measures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Read with care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MMLU / MMLU-Pro</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Multiple-choice subject knowledge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Questions may have leaked into training data</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GSM8K / MATH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School word problems; competition maths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Top models score near the ceiling on GSM8K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HumanEval / SWE-bench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Writing code; fixing real GitHub issues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Scores depend on the test harness and tools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GPQA</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Graduate-level science questions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Small test set: a few questions move the score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Preference arenas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Which answer people prefer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Style and length can win votes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Shortlist with benchmarks; decide using your own task.</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Calling an API vs. running an open model yourself</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Hosted API</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The provider runs the model on its hardware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You pay per token; rate limits apply</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Check whether your text is stored or used for training</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Record the model version: hosted models change</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Local / self-hosted</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You download the weights and run them</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You need the memory: a 7 B model at 16-bit needs about 14 GB</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Data stays on your machine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You decide when to update</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Using pretrained models with Hugging Face pipelines</a:t>
            </a:r>
            <a:endParaRPr lang="en-US" sz="3200" dirty="0"/>
          </a:p>
        </p:txBody>
      </p:sp>
      <p:sp>
        <p:nvSpPr>
          <p:cNvPr id="6" name="Shape 4"/>
          <p:cNvSpPr/>
          <p:nvPr/>
        </p:nvSpPr>
        <p:spPr>
          <a:xfrm>
            <a:off x="548640" y="1481328"/>
            <a:ext cx="6949440" cy="3059430"/>
          </a:xfrm>
          <a:prstGeom prst="roundRect">
            <a:avLst>
              <a:gd name="adj" fmla="val 2989"/>
            </a:avLst>
          </a:prstGeom>
          <a:solidFill>
            <a:srgbClr val="1E1E2E"/>
          </a:solidFill>
          <a:ln w="12700">
            <a:solidFill>
              <a:srgbClr val="1E1E2E"/>
            </a:solidFill>
            <a:prstDash val="solid"/>
          </a:ln>
        </p:spPr>
      </p:sp>
      <p:sp>
        <p:nvSpPr>
          <p:cNvPr id="7" name="Text 5"/>
          <p:cNvSpPr txBox="1"/>
          <p:nvPr/>
        </p:nvSpPr>
        <p:spPr>
          <a:xfrm>
            <a:off x="685800" y="1591056"/>
            <a:ext cx="6675120" cy="2839974"/>
          </a:xfrm>
          <a:prstGeom prst="rect">
            <a:avLst/>
          </a:prstGeom>
          <a:noFill/>
          <a:ln/>
        </p:spPr>
        <p:txBody>
          <a:bodyPr wrap="square" lIns="76200" tIns="76200" rIns="76200" bIns="76200" rtlCol="0" anchor="t"/>
          <a:lstStyle/>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from transformers import pipeline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fill = pipeline("fill-mask", model="bert-base-uncased")</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fill("The capital of Ireland is [MASK].")</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chat = pipeline("text-generation",</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model="Qwen/Qwen2.5-0.5B-Instruct")</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messages = [{"role": "user",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"content": "Explain tokens in one sentence."}]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out = chat(messages, max_new_tokens=60, do_sample=False)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print(out[0]["generated_text"][-1]["content"])</a:t>
            </a:r>
            <a:endParaRPr lang="en-US" sz="15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pipeline prepares input, runs a model and reads output.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Chat messages use the model’s template.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First use downloads the files.</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a local or hosted chat call end to end</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request contains messages and settings. The result includes text and usage evidence.</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messages +</a:t>
            </a:r>
            <a:endParaRPr lang="en-US" sz="1441" dirty="0"/>
          </a:p>
        </p:txBody>
      </p:sp>
      <p:sp>
        <p:nvSpPr>
          <p:cNvPr id="9" name="Text 7"/>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settings</a:t>
            </a:r>
            <a:endParaRPr lang="en-US" sz="1441" dirty="0"/>
          </a:p>
        </p:txBody>
      </p:sp>
      <p:sp>
        <p:nvSpPr>
          <p:cNvPr id="10" name="Shape 8"/>
          <p:cNvSpPr/>
          <p:nvPr/>
        </p:nvSpPr>
        <p:spPr>
          <a:xfrm>
            <a:off x="4887929" y="3838927"/>
            <a:ext cx="244024" cy="0"/>
          </a:xfrm>
          <a:prstGeom prst="line">
            <a:avLst/>
          </a:prstGeom>
          <a:noFill/>
          <a:ln w="22860">
            <a:solidFill>
              <a:srgbClr val="009E73"/>
            </a:solidFill>
            <a:prstDash val="solid"/>
            <a:tailEnd type="triangle"/>
          </a:ln>
        </p:spPr>
      </p:sp>
      <p:sp>
        <p:nvSpPr>
          <p:cNvPr id="11" name="Text 9"/>
          <p:cNvSpPr txBox="1"/>
          <p:nvPr/>
        </p:nvSpPr>
        <p:spPr>
          <a:xfrm>
            <a:off x="4209237"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local IDs or API</a:t>
            </a:r>
            <a:endParaRPr lang="en-US" sz="1441" dirty="0"/>
          </a:p>
        </p:txBody>
      </p:sp>
      <p:sp>
        <p:nvSpPr>
          <p:cNvPr id="12" name="Text 10"/>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request</a:t>
            </a:r>
            <a:endParaRPr lang="en-US" sz="1441" dirty="0"/>
          </a:p>
        </p:txBody>
      </p:sp>
      <p:sp>
        <p:nvSpPr>
          <p:cNvPr id="13" name="Shape 11"/>
          <p:cNvSpPr/>
          <p:nvPr/>
        </p:nvSpPr>
        <p:spPr>
          <a:xfrm>
            <a:off x="7059743" y="3838927"/>
            <a:ext cx="244024" cy="0"/>
          </a:xfrm>
          <a:prstGeom prst="line">
            <a:avLst/>
          </a:prstGeom>
          <a:noFill/>
          <a:ln w="22860">
            <a:solidFill>
              <a:srgbClr val="009E73"/>
            </a:solidFill>
            <a:prstDash val="solid"/>
            <a:tailEnd type="triangle"/>
          </a:ln>
        </p:spPr>
      </p:sp>
      <p:sp>
        <p:nvSpPr>
          <p:cNvPr id="14" name="Text 12"/>
          <p:cNvSpPr txBox="1"/>
          <p:nvPr/>
        </p:nvSpPr>
        <p:spPr>
          <a:xfrm>
            <a:off x="6381051"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new IDs or</a:t>
            </a:r>
            <a:endParaRPr lang="en-US" sz="1441" dirty="0"/>
          </a:p>
        </p:txBody>
      </p:sp>
      <p:sp>
        <p:nvSpPr>
          <p:cNvPr id="15" name="Text 13"/>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response</a:t>
            </a:r>
            <a:endParaRPr lang="en-US" sz="1441" dirty="0"/>
          </a:p>
        </p:txBody>
      </p:sp>
      <p:sp>
        <p:nvSpPr>
          <p:cNvPr id="16" name="Shape 14"/>
          <p:cNvSpPr/>
          <p:nvPr/>
        </p:nvSpPr>
        <p:spPr>
          <a:xfrm>
            <a:off x="9231556" y="3838927"/>
            <a:ext cx="244024" cy="0"/>
          </a:xfrm>
          <a:prstGeom prst="line">
            <a:avLst/>
          </a:prstGeom>
          <a:noFill/>
          <a:ln w="22860">
            <a:solidFill>
              <a:srgbClr val="009E73"/>
            </a:solidFill>
            <a:prstDash val="solid"/>
            <a:tailEnd type="triangle"/>
          </a:ln>
        </p:spPr>
      </p:sp>
      <p:sp>
        <p:nvSpPr>
          <p:cNvPr id="17" name="Text 15"/>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 + usage</a:t>
            </a:r>
            <a:endParaRPr lang="en-US" sz="1441" dirty="0"/>
          </a:p>
        </p:txBody>
      </p:sp>
      <p:sp>
        <p:nvSpPr>
          <p:cNvPr id="18" name="Shape 16"/>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9" name="Text 17"/>
          <p:cNvSpPr txBox="1"/>
          <p:nvPr/>
        </p:nvSpPr>
        <p:spPr>
          <a:xfrm>
            <a:off x="849331"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a:t>
            </a:r>
            <a:endParaRPr lang="en-US" sz="1561" dirty="0"/>
          </a:p>
        </p:txBody>
      </p:sp>
      <p:sp>
        <p:nvSpPr>
          <p:cNvPr id="20" name="Text 18"/>
          <p:cNvSpPr txBox="1"/>
          <p:nvPr/>
        </p:nvSpPr>
        <p:spPr>
          <a:xfrm>
            <a:off x="849331"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messages</a:t>
            </a:r>
            <a:endParaRPr lang="en-US" sz="1561" dirty="0"/>
          </a:p>
        </p:txBody>
      </p:sp>
      <p:sp>
        <p:nvSpPr>
          <p:cNvPr id="21" name="Text 19"/>
          <p:cNvSpPr txBox="1"/>
          <p:nvPr/>
        </p:nvSpPr>
        <p:spPr>
          <a:xfrm>
            <a:off x="849331"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Roles, source text</a:t>
            </a:r>
            <a:endParaRPr lang="en-US" sz="1441" dirty="0"/>
          </a:p>
        </p:txBody>
      </p:sp>
      <p:sp>
        <p:nvSpPr>
          <p:cNvPr id="22" name="Text 20"/>
          <p:cNvSpPr txBox="1"/>
          <p:nvPr/>
        </p:nvSpPr>
        <p:spPr>
          <a:xfrm>
            <a:off x="849331"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budget</a:t>
            </a:r>
            <a:endParaRPr lang="en-US" sz="1441" dirty="0"/>
          </a:p>
        </p:txBody>
      </p:sp>
      <p:sp>
        <p:nvSpPr>
          <p:cNvPr id="23" name="Text 21"/>
          <p:cNvSpPr txBox="1"/>
          <p:nvPr/>
        </p:nvSpPr>
        <p:spPr>
          <a:xfrm>
            <a:off x="811202"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messages</a:t>
            </a:r>
            <a:endParaRPr lang="en-US" sz="1441" dirty="0"/>
          </a:p>
        </p:txBody>
      </p:sp>
      <p:sp>
        <p:nvSpPr>
          <p:cNvPr id="24" name="Shape 22"/>
          <p:cNvSpPr/>
          <p:nvPr/>
        </p:nvSpPr>
        <p:spPr>
          <a:xfrm>
            <a:off x="2960139" y="2939089"/>
            <a:ext cx="1927790" cy="1799677"/>
          </a:xfrm>
          <a:prstGeom prst="rect">
            <a:avLst/>
          </a:prstGeom>
          <a:solidFill>
            <a:srgbClr val="F2F4F5"/>
          </a:solidFill>
          <a:ln w="15240">
            <a:solidFill>
              <a:srgbClr val="626B73"/>
            </a:solidFill>
            <a:prstDash val="solid"/>
          </a:ln>
        </p:spPr>
      </p:sp>
      <p:sp>
        <p:nvSpPr>
          <p:cNvPr id="25" name="Text 23"/>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route</a:t>
            </a:r>
            <a:endParaRPr lang="en-US" sz="1561" dirty="0"/>
          </a:p>
        </p:txBody>
      </p:sp>
      <p:sp>
        <p:nvSpPr>
          <p:cNvPr id="26" name="Text 24"/>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local or hosted</a:t>
            </a:r>
            <a:endParaRPr lang="en-US" sz="1441" dirty="0"/>
          </a:p>
        </p:txBody>
      </p:sp>
      <p:sp>
        <p:nvSpPr>
          <p:cNvPr id="27" name="Text 25"/>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inference</a:t>
            </a:r>
            <a:endParaRPr lang="en-US" sz="1441" dirty="0"/>
          </a:p>
        </p:txBody>
      </p:sp>
      <p:sp>
        <p:nvSpPr>
          <p:cNvPr id="28" name="Text 26"/>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29" name="Shape 27"/>
          <p:cNvSpPr/>
          <p:nvPr/>
        </p:nvSpPr>
        <p:spPr>
          <a:xfrm>
            <a:off x="5131953" y="2939089"/>
            <a:ext cx="1927790" cy="1799677"/>
          </a:xfrm>
          <a:prstGeom prst="rect">
            <a:avLst/>
          </a:prstGeom>
          <a:solidFill>
            <a:srgbClr val="E5F7EF"/>
          </a:solidFill>
          <a:ln w="15240">
            <a:solidFill>
              <a:srgbClr val="009E73"/>
            </a:solidFill>
            <a:prstDash val="solid"/>
          </a:ln>
        </p:spPr>
      </p:sp>
      <p:sp>
        <p:nvSpPr>
          <p:cNvPr id="30" name="Text 28"/>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fixed model</a:t>
            </a:r>
            <a:endParaRPr lang="en-US" sz="1561" dirty="0"/>
          </a:p>
        </p:txBody>
      </p:sp>
      <p:sp>
        <p:nvSpPr>
          <p:cNvPr id="31" name="Text 29"/>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Provider or runtime</a:t>
            </a:r>
            <a:endParaRPr lang="en-US" sz="1441" dirty="0"/>
          </a:p>
        </p:txBody>
      </p:sp>
      <p:sp>
        <p:nvSpPr>
          <p:cNvPr id="32" name="Text 30"/>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generates</a:t>
            </a:r>
            <a:endParaRPr lang="en-US" sz="1441" dirty="0"/>
          </a:p>
        </p:txBody>
      </p:sp>
      <p:sp>
        <p:nvSpPr>
          <p:cNvPr id="33" name="Text 31"/>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model.generate</a:t>
            </a:r>
            <a:endParaRPr lang="en-US" sz="1441" dirty="0"/>
          </a:p>
        </p:txBody>
      </p:sp>
      <p:sp>
        <p:nvSpPr>
          <p:cNvPr id="34" name="Shape 32"/>
          <p:cNvSpPr/>
          <p:nvPr/>
        </p:nvSpPr>
        <p:spPr>
          <a:xfrm>
            <a:off x="7303767" y="2939089"/>
            <a:ext cx="1927790" cy="1799677"/>
          </a:xfrm>
          <a:prstGeom prst="roundRect">
            <a:avLst>
              <a:gd name="adj" fmla="val 4065"/>
            </a:avLst>
          </a:prstGeom>
          <a:solidFill>
            <a:srgbClr val="F9EAF4"/>
          </a:solidFill>
          <a:ln w="15240">
            <a:solidFill>
              <a:srgbClr val="CC79A7"/>
            </a:solidFill>
            <a:prstDash val="solid"/>
          </a:ln>
        </p:spPr>
      </p:sp>
      <p:sp>
        <p:nvSpPr>
          <p:cNvPr id="35" name="Text 33"/>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answer</a:t>
            </a:r>
            <a:endParaRPr lang="en-US" sz="1561" dirty="0"/>
          </a:p>
        </p:txBody>
      </p:sp>
      <p:sp>
        <p:nvSpPr>
          <p:cNvPr id="36" name="Text 34"/>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Local slice or hosted</a:t>
            </a:r>
            <a:endParaRPr lang="en-US" sz="1441" dirty="0"/>
          </a:p>
        </p:txBody>
      </p:sp>
      <p:sp>
        <p:nvSpPr>
          <p:cNvPr id="37" name="Text 35"/>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message</a:t>
            </a:r>
            <a:endParaRPr lang="en-US" sz="1441" dirty="0"/>
          </a:p>
        </p:txBody>
      </p:sp>
      <p:sp>
        <p:nvSpPr>
          <p:cNvPr id="38" name="Text 36"/>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new</a:t>
            </a:r>
            <a:endParaRPr lang="en-US" sz="1441" dirty="0"/>
          </a:p>
        </p:txBody>
      </p:sp>
      <p:sp>
        <p:nvSpPr>
          <p:cNvPr id="39" name="Shape 37"/>
          <p:cNvSpPr/>
          <p:nvPr/>
        </p:nvSpPr>
        <p:spPr>
          <a:xfrm>
            <a:off x="9475580" y="2939089"/>
            <a:ext cx="1927790" cy="1799677"/>
          </a:xfrm>
          <a:prstGeom prst="rect">
            <a:avLst/>
          </a:prstGeom>
          <a:solidFill>
            <a:srgbClr val="F2F4F5"/>
          </a:solidFill>
          <a:ln w="15240">
            <a:solidFill>
              <a:srgbClr val="626B73"/>
            </a:solidFill>
            <a:prstDash val="solid"/>
          </a:ln>
        </p:spPr>
      </p:sp>
      <p:sp>
        <p:nvSpPr>
          <p:cNvPr id="40" name="Text 38"/>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Record + verify</a:t>
            </a:r>
            <a:endParaRPr lang="en-US" sz="1561" dirty="0"/>
          </a:p>
        </p:txBody>
      </p:sp>
      <p:sp>
        <p:nvSpPr>
          <p:cNvPr id="41" name="Text 39"/>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Measure usage;</a:t>
            </a:r>
            <a:endParaRPr lang="en-US" sz="1441" dirty="0"/>
          </a:p>
        </p:txBody>
      </p:sp>
      <p:sp>
        <p:nvSpPr>
          <p:cNvPr id="42" name="Text 40"/>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the reply</a:t>
            </a:r>
            <a:endParaRPr lang="en-US" sz="1441" dirty="0"/>
          </a:p>
        </p:txBody>
      </p:sp>
      <p:sp>
        <p:nvSpPr>
          <p:cNvPr id="43" name="Text 41"/>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log / reason_df</a:t>
            </a:r>
            <a:endParaRPr lang="en-US" sz="1441" dirty="0"/>
          </a:p>
        </p:txBody>
      </p:sp>
      <p:sp>
        <p:nvSpPr>
          <p:cNvPr id="44" name="Shape 42"/>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5" name="Text 43"/>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6" name="Shape 44"/>
          <p:cNvSpPr/>
          <p:nvPr/>
        </p:nvSpPr>
        <p:spPr>
          <a:xfrm>
            <a:off x="2118929" y="5630979"/>
            <a:ext cx="198270" cy="198270"/>
          </a:xfrm>
          <a:prstGeom prst="rect">
            <a:avLst/>
          </a:prstGeom>
          <a:solidFill>
            <a:srgbClr val="E5F7EF"/>
          </a:solidFill>
          <a:ln w="15240">
            <a:solidFill>
              <a:srgbClr val="009E73"/>
            </a:solidFill>
            <a:prstDash val="solid"/>
          </a:ln>
        </p:spPr>
      </p:sp>
      <p:sp>
        <p:nvSpPr>
          <p:cNvPr id="47" name="Text 45"/>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8" name="Shape 46"/>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9" name="Text 47"/>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0" name="Shape 48"/>
          <p:cNvSpPr/>
          <p:nvPr/>
        </p:nvSpPr>
        <p:spPr>
          <a:xfrm>
            <a:off x="4179476" y="5630979"/>
            <a:ext cx="198270" cy="198270"/>
          </a:xfrm>
          <a:prstGeom prst="rect">
            <a:avLst/>
          </a:prstGeom>
          <a:solidFill>
            <a:srgbClr val="F2F4F5"/>
          </a:solidFill>
          <a:ln w="15240">
            <a:solidFill>
              <a:srgbClr val="626B73"/>
            </a:solidFill>
            <a:prstDash val="solid"/>
          </a:ln>
        </p:spPr>
      </p:sp>
      <p:sp>
        <p:nvSpPr>
          <p:cNvPr id="51" name="Text 49"/>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2" name="Shape 50"/>
          <p:cNvSpPr/>
          <p:nvPr/>
        </p:nvSpPr>
        <p:spPr>
          <a:xfrm>
            <a:off x="5741367" y="5730113"/>
            <a:ext cx="335533" cy="0"/>
          </a:xfrm>
          <a:prstGeom prst="line">
            <a:avLst/>
          </a:prstGeom>
          <a:noFill/>
          <a:ln w="22860">
            <a:solidFill>
              <a:srgbClr val="009E73"/>
            </a:solidFill>
            <a:prstDash val="solid"/>
            <a:tailEnd type="triangle"/>
          </a:ln>
        </p:spPr>
      </p:sp>
      <p:sp>
        <p:nvSpPr>
          <p:cNvPr id="53" name="Text 51"/>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4" name="Text 52"/>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can token counts differ for the same question sent to two models?</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Querying a hosted model through an API</a:t>
            </a:r>
            <a:endParaRPr lang="en-US" sz="3200" dirty="0"/>
          </a:p>
        </p:txBody>
      </p:sp>
      <p:sp>
        <p:nvSpPr>
          <p:cNvPr id="6" name="Shape 4"/>
          <p:cNvSpPr/>
          <p:nvPr/>
        </p:nvSpPr>
        <p:spPr>
          <a:xfrm>
            <a:off x="548640" y="1481328"/>
            <a:ext cx="6949440" cy="3229864"/>
          </a:xfrm>
          <a:prstGeom prst="roundRect">
            <a:avLst>
              <a:gd name="adj" fmla="val 2831"/>
            </a:avLst>
          </a:prstGeom>
          <a:solidFill>
            <a:srgbClr val="1E1E2E"/>
          </a:solidFill>
          <a:ln w="12700">
            <a:solidFill>
              <a:srgbClr val="1E1E2E"/>
            </a:solidFill>
            <a:prstDash val="solid"/>
          </a:ln>
        </p:spPr>
      </p:sp>
      <p:sp>
        <p:nvSpPr>
          <p:cNvPr id="7" name="Text 5"/>
          <p:cNvSpPr txBox="1"/>
          <p:nvPr/>
        </p:nvSpPr>
        <p:spPr>
          <a:xfrm>
            <a:off x="685800" y="1591056"/>
            <a:ext cx="6675120" cy="3010408"/>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import os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from huggingface_hub import InferenceClient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client = InferenceClient(api_key=os.environ["HF_TOKEN"])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resp = client.chat.completions.create(</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model="Qwen/Qwen2.5-7B-Instruct",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messages=[{"role": "user",</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"content": "Name three LLM families."}],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max_tokens=100, temperature=0.2)</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print(resp.choices[0].message.content)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print(resp.usage)   # prompt and completion tokens</a:t>
            </a:r>
            <a:endParaRPr lang="en-US" sz="16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Send role/content messages and settings.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Read keys from secrets.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Log model, settings, date, tokens and time.</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LLMs are used for, and where they struggle</a:t>
            </a:r>
            <a:endParaRPr lang="en-US" sz="3200" dirty="0"/>
          </a:p>
        </p:txBody>
      </p:sp>
      <p:sp>
        <p:nvSpPr>
          <p:cNvPr id="6" name="Shape 4"/>
          <p:cNvSpPr/>
          <p:nvPr/>
        </p:nvSpPr>
        <p:spPr>
          <a:xfrm>
            <a:off x="548640" y="1481328"/>
            <a:ext cx="3515258" cy="4828032"/>
          </a:xfrm>
          <a:prstGeom prst="roundRect">
            <a:avLst>
              <a:gd name="adj" fmla="val 3121"/>
            </a:avLst>
          </a:prstGeom>
          <a:solidFill>
            <a:srgbClr val="EEF0FF"/>
          </a:solidFill>
          <a:ln w="12700">
            <a:solidFill>
              <a:srgbClr val="EEF0FF"/>
            </a:solidFill>
            <a:prstDash val="solid"/>
          </a:ln>
        </p:spPr>
      </p:sp>
      <p:sp>
        <p:nvSpPr>
          <p:cNvPr id="7" name="Shape 5"/>
          <p:cNvSpPr/>
          <p:nvPr/>
        </p:nvSpPr>
        <p:spPr>
          <a:xfrm>
            <a:off x="777240" y="1709928"/>
            <a:ext cx="685800" cy="68580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941832" y="1874520"/>
            <a:ext cx="356616" cy="356616"/>
          </a:xfrm>
          <a:prstGeom prst="rect">
            <a:avLst/>
          </a:prstGeom>
        </p:spPr>
      </p:pic>
      <p:sp>
        <p:nvSpPr>
          <p:cNvPr id="9" name="Text 6"/>
          <p:cNvSpPr txBox="1"/>
          <p:nvPr/>
        </p:nvSpPr>
        <p:spPr>
          <a:xfrm>
            <a:off x="731520" y="2487168"/>
            <a:ext cx="3149498" cy="54864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Strong</a:t>
            </a:r>
            <a:endParaRPr lang="en-US" sz="2100" dirty="0"/>
          </a:p>
        </p:txBody>
      </p:sp>
      <p:sp>
        <p:nvSpPr>
          <p:cNvPr id="10" name="Text 7"/>
          <p:cNvSpPr txBox="1"/>
          <p:nvPr/>
        </p:nvSpPr>
        <p:spPr>
          <a:xfrm>
            <a:off x="731520" y="3035808"/>
            <a:ext cx="3149498" cy="3227832"/>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Drafting, summarising, translating, extracting fields and writing code. Example: turn meeting notes into a summary, then check it against the notes.</a:t>
            </a:r>
            <a:endParaRPr lang="en-US" sz="2200" dirty="0"/>
          </a:p>
        </p:txBody>
      </p:sp>
      <p:sp>
        <p:nvSpPr>
          <p:cNvPr id="11" name="Shape 8"/>
          <p:cNvSpPr/>
          <p:nvPr/>
        </p:nvSpPr>
        <p:spPr>
          <a:xfrm>
            <a:off x="4338218" y="1481328"/>
            <a:ext cx="3515258" cy="4828032"/>
          </a:xfrm>
          <a:prstGeom prst="roundRect">
            <a:avLst>
              <a:gd name="adj" fmla="val 3121"/>
            </a:avLst>
          </a:prstGeom>
          <a:solidFill>
            <a:srgbClr val="F5F3FF"/>
          </a:solidFill>
          <a:ln w="12700">
            <a:solidFill>
              <a:srgbClr val="EEF0FF"/>
            </a:solidFill>
            <a:prstDash val="solid"/>
          </a:ln>
        </p:spPr>
      </p:sp>
      <p:sp>
        <p:nvSpPr>
          <p:cNvPr id="12" name="Shape 9"/>
          <p:cNvSpPr/>
          <p:nvPr/>
        </p:nvSpPr>
        <p:spPr>
          <a:xfrm>
            <a:off x="4566818" y="1709928"/>
            <a:ext cx="685800" cy="68580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731410" y="1874520"/>
            <a:ext cx="356616" cy="356616"/>
          </a:xfrm>
          <a:prstGeom prst="rect">
            <a:avLst/>
          </a:prstGeom>
        </p:spPr>
      </p:pic>
      <p:sp>
        <p:nvSpPr>
          <p:cNvPr id="14" name="Text 10"/>
          <p:cNvSpPr txBox="1"/>
          <p:nvPr/>
        </p:nvSpPr>
        <p:spPr>
          <a:xfrm>
            <a:off x="4521098" y="2487168"/>
            <a:ext cx="3149498" cy="54864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Strong with tools</a:t>
            </a:r>
            <a:endParaRPr lang="en-US" sz="2100" dirty="0"/>
          </a:p>
        </p:txBody>
      </p:sp>
      <p:sp>
        <p:nvSpPr>
          <p:cNvPr id="15" name="Text 11"/>
          <p:cNvSpPr txBox="1"/>
          <p:nvPr/>
        </p:nvSpPr>
        <p:spPr>
          <a:xfrm>
            <a:off x="4521098" y="3035808"/>
            <a:ext cx="3149498" cy="3227832"/>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With search or a calculator the model can cite sources and compute exactly. Example: fetch today’s exchange rate, then check what the tool returned.</a:t>
            </a:r>
            <a:endParaRPr lang="en-US" sz="2200" dirty="0"/>
          </a:p>
        </p:txBody>
      </p:sp>
      <p:sp>
        <p:nvSpPr>
          <p:cNvPr id="16" name="Shape 12"/>
          <p:cNvSpPr/>
          <p:nvPr/>
        </p:nvSpPr>
        <p:spPr>
          <a:xfrm>
            <a:off x="8127797" y="1481328"/>
            <a:ext cx="3515258" cy="4828032"/>
          </a:xfrm>
          <a:prstGeom prst="roundRect">
            <a:avLst>
              <a:gd name="adj" fmla="val 3121"/>
            </a:avLst>
          </a:prstGeom>
          <a:solidFill>
            <a:srgbClr val="EEF0FF"/>
          </a:solidFill>
          <a:ln w="12700">
            <a:solidFill>
              <a:srgbClr val="EEF0FF"/>
            </a:solidFill>
            <a:prstDash val="solid"/>
          </a:ln>
        </p:spPr>
      </p:sp>
      <p:sp>
        <p:nvSpPr>
          <p:cNvPr id="17" name="Shape 13"/>
          <p:cNvSpPr/>
          <p:nvPr/>
        </p:nvSpPr>
        <p:spPr>
          <a:xfrm>
            <a:off x="8356397" y="1709928"/>
            <a:ext cx="685800" cy="68580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520989" y="1874520"/>
            <a:ext cx="356616" cy="356616"/>
          </a:xfrm>
          <a:prstGeom prst="rect">
            <a:avLst/>
          </a:prstGeom>
        </p:spPr>
      </p:pic>
      <p:sp>
        <p:nvSpPr>
          <p:cNvPr id="19" name="Text 14"/>
          <p:cNvSpPr txBox="1"/>
          <p:nvPr/>
        </p:nvSpPr>
        <p:spPr>
          <a:xfrm>
            <a:off x="8310677" y="2487168"/>
            <a:ext cx="3149498" cy="54864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Weak or risky</a:t>
            </a:r>
            <a:endParaRPr lang="en-US" sz="2100" dirty="0"/>
          </a:p>
        </p:txBody>
      </p:sp>
      <p:sp>
        <p:nvSpPr>
          <p:cNvPr id="20" name="Text 15"/>
          <p:cNvSpPr txBox="1"/>
          <p:nvPr/>
        </p:nvSpPr>
        <p:spPr>
          <a:xfrm>
            <a:off x="8310677" y="3035808"/>
            <a:ext cx="3149498" cy="3227832"/>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Recent facts, exact citations, arithmetic without tools and high-stakes decisions. Example: a reference that looks real but does not exist.</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practical process for choosing a model</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Task</a:t>
            </a:r>
            <a:endParaRPr lang="en-US" sz="21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Define inputs and outputs</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Constraints</a:t>
            </a:r>
            <a:endParaRPr lang="en-US" sz="21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Privacy, licence, cost, time</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Shortlist</a:t>
            </a:r>
            <a:endParaRPr lang="en-US" sz="21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Two to four candidates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Evaluate</a:t>
            </a:r>
            <a:endParaRPr lang="en-US" sz="21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Same examples and settings</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Monitor</a:t>
            </a:r>
            <a:endParaRPr lang="en-US" sz="21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Record changes and re-test</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Choose a model that meets measured requirements.</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large language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data rights and licences.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languages, groups and factual claims.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Protect confidential inputs.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Record versions, errors and review responsibility.</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Compare models with evidence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Different experiments answer different comparison questions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counts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task replies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loss / PPL</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answers + cost</a:t>
            </a:r>
            <a:endParaRPr lang="en-US" sz="1441" dirty="0"/>
          </a:p>
        </p:txBody>
      </p:sp>
      <p:sp>
        <p:nvSpPr>
          <p:cNvPr id="17" name="Shape 15"/>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18" name="Text 16"/>
          <p:cNvSpPr txBox="1"/>
          <p:nvPr/>
        </p:nvSpPr>
        <p:spPr>
          <a:xfrm>
            <a:off x="84933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Count token</a:t>
            </a:r>
            <a:endParaRPr lang="en-US" sz="1561" dirty="0"/>
          </a:p>
        </p:txBody>
      </p:sp>
      <p:sp>
        <p:nvSpPr>
          <p:cNvPr id="19" name="Text 17"/>
          <p:cNvSpPr txBox="1"/>
          <p:nvPr/>
        </p:nvSpPr>
        <p:spPr>
          <a:xfrm>
            <a:off x="84933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pieces</a:t>
            </a:r>
            <a:endParaRPr lang="en-US" sz="1561" dirty="0"/>
          </a:p>
        </p:txBody>
      </p:sp>
      <p:sp>
        <p:nvSpPr>
          <p:cNvPr id="20" name="Text 18"/>
          <p:cNvSpPr txBox="1"/>
          <p:nvPr/>
        </p:nvSpPr>
        <p:spPr>
          <a:xfrm>
            <a:off x="84933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Same text;</a:t>
            </a:r>
            <a:endParaRPr lang="en-US" sz="1441" dirty="0"/>
          </a:p>
        </p:txBody>
      </p:sp>
      <p:sp>
        <p:nvSpPr>
          <p:cNvPr id="21" name="Text 19"/>
          <p:cNvSpPr txBox="1"/>
          <p:nvPr/>
        </p:nvSpPr>
        <p:spPr>
          <a:xfrm>
            <a:off x="84933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different</a:t>
            </a:r>
            <a:endParaRPr lang="en-US" sz="1441" dirty="0"/>
          </a:p>
        </p:txBody>
      </p:sp>
      <p:sp>
        <p:nvSpPr>
          <p:cNvPr id="22" name="Text 20"/>
          <p:cNvSpPr txBox="1"/>
          <p:nvPr/>
        </p:nvSpPr>
        <p:spPr>
          <a:xfrm>
            <a:off x="84933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tokenisers</a:t>
            </a:r>
            <a:endParaRPr lang="en-US" sz="1441" dirty="0"/>
          </a:p>
        </p:txBody>
      </p:sp>
      <p:sp>
        <p:nvSpPr>
          <p:cNvPr id="23" name="Text 21"/>
          <p:cNvSpPr txBox="1"/>
          <p:nvPr/>
        </p:nvSpPr>
        <p:spPr>
          <a:xfrm>
            <a:off x="81120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df_tok</a:t>
            </a:r>
            <a:endParaRPr lang="en-US" sz="1441" dirty="0"/>
          </a:p>
        </p:txBody>
      </p:sp>
      <p:sp>
        <p:nvSpPr>
          <p:cNvPr id="24" name="Shape 22"/>
          <p:cNvSpPr/>
          <p:nvPr/>
        </p:nvSpPr>
        <p:spPr>
          <a:xfrm>
            <a:off x="2598170" y="2939089"/>
            <a:ext cx="1565821" cy="1799677"/>
          </a:xfrm>
          <a:prstGeom prst="rect">
            <a:avLst/>
          </a:prstGeom>
          <a:solidFill>
            <a:srgbClr val="E5F7EF"/>
          </a:solidFill>
          <a:ln w="15240">
            <a:solidFill>
              <a:srgbClr val="009E73"/>
            </a:solidFill>
            <a:prstDash val="solid"/>
          </a:ln>
        </p:spPr>
      </p:sp>
      <p:sp>
        <p:nvSpPr>
          <p:cNvPr id="25" name="Text 23"/>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26" name="Text 24"/>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families</a:t>
            </a:r>
            <a:endParaRPr lang="en-US" sz="1561" dirty="0"/>
          </a:p>
        </p:txBody>
      </p:sp>
      <p:sp>
        <p:nvSpPr>
          <p:cNvPr id="27" name="Text 25"/>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Mask, transform</a:t>
            </a:r>
            <a:endParaRPr lang="en-US" sz="1441" dirty="0"/>
          </a:p>
        </p:txBody>
      </p:sp>
      <p:sp>
        <p:nvSpPr>
          <p:cNvPr id="28" name="Text 26"/>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or continue</a:t>
            </a:r>
            <a:endParaRPr lang="en-US" sz="1441" dirty="0"/>
          </a:p>
        </p:txBody>
      </p:sp>
      <p:sp>
        <p:nvSpPr>
          <p:cNvPr id="29" name="Text 27"/>
          <p:cNvSpPr txBox="1"/>
          <p:nvPr/>
        </p:nvSpPr>
        <p:spPr>
          <a:xfrm>
            <a:off x="2621047" y="413755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t5_generate /</a:t>
            </a:r>
            <a:endParaRPr lang="en-US" sz="1441" dirty="0"/>
          </a:p>
        </p:txBody>
      </p:sp>
      <p:sp>
        <p:nvSpPr>
          <p:cNvPr id="30" name="Text 28"/>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31" name="Shape 29"/>
          <p:cNvSpPr/>
          <p:nvPr/>
        </p:nvSpPr>
        <p:spPr>
          <a:xfrm>
            <a:off x="4408015"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Change</a:t>
            </a:r>
            <a:endParaRPr lang="en-US" sz="1561" dirty="0"/>
          </a:p>
        </p:txBody>
      </p:sp>
      <p:sp>
        <p:nvSpPr>
          <p:cNvPr id="33" name="Text 31"/>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decoding</a:t>
            </a:r>
            <a:endParaRPr lang="en-US" sz="1561" dirty="0"/>
          </a:p>
        </p:txBody>
      </p:sp>
      <p:sp>
        <p:nvSpPr>
          <p:cNvPr id="34" name="Text 32"/>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Hold the prefix</a:t>
            </a:r>
            <a:endParaRPr lang="en-US" sz="1441" dirty="0"/>
          </a:p>
        </p:txBody>
      </p:sp>
      <p:sp>
        <p:nvSpPr>
          <p:cNvPr id="35" name="Text 33"/>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model fixed</a:t>
            </a:r>
            <a:endParaRPr lang="en-US" sz="1441" dirty="0"/>
          </a:p>
        </p:txBody>
      </p:sp>
      <p:sp>
        <p:nvSpPr>
          <p:cNvPr id="36" name="Text 34"/>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a:t>
            </a:r>
            <a:endParaRPr lang="en-US" sz="1441" dirty="0"/>
          </a:p>
        </p:txBody>
      </p:sp>
      <p:sp>
        <p:nvSpPr>
          <p:cNvPr id="37" name="Shape 35"/>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38" name="Text 36"/>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a:t>
            </a:r>
            <a:endParaRPr lang="en-US" sz="1561" dirty="0"/>
          </a:p>
        </p:txBody>
      </p:sp>
      <p:sp>
        <p:nvSpPr>
          <p:cNvPr id="39" name="Text 37"/>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predictability</a:t>
            </a:r>
            <a:endParaRPr lang="en-US" sz="1561" dirty="0"/>
          </a:p>
        </p:txBody>
      </p:sp>
      <p:sp>
        <p:nvSpPr>
          <p:cNvPr id="40" name="Text 38"/>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loss within</a:t>
            </a:r>
            <a:endParaRPr lang="en-US" sz="1441" dirty="0"/>
          </a:p>
        </p:txBody>
      </p:sp>
      <p:sp>
        <p:nvSpPr>
          <p:cNvPr id="41" name="Text 39"/>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each model</a:t>
            </a:r>
            <a:endParaRPr lang="en-US" sz="1441" dirty="0"/>
          </a:p>
        </p:txBody>
      </p:sp>
      <p:sp>
        <p:nvSpPr>
          <p:cNvPr id="42" name="Text 40"/>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perplexity</a:t>
            </a:r>
            <a:endParaRPr lang="en-US" sz="1441" dirty="0"/>
          </a:p>
        </p:txBody>
      </p:sp>
      <p:sp>
        <p:nvSpPr>
          <p:cNvPr id="43" name="Shape 41"/>
          <p:cNvSpPr/>
          <p:nvPr/>
        </p:nvSpPr>
        <p:spPr>
          <a:xfrm>
            <a:off x="8027705" y="2939089"/>
            <a:ext cx="1565821" cy="1799677"/>
          </a:xfrm>
          <a:prstGeom prst="rect">
            <a:avLst/>
          </a:prstGeom>
          <a:solidFill>
            <a:srgbClr val="F2F4F5"/>
          </a:solidFill>
          <a:ln w="15240">
            <a:solidFill>
              <a:srgbClr val="626B73"/>
            </a:solidFill>
            <a:prstDash val="solid"/>
          </a:ln>
        </p:spPr>
      </p:sp>
      <p:sp>
        <p:nvSpPr>
          <p:cNvPr id="44" name="Text 42"/>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Log requests</a:t>
            </a:r>
            <a:endParaRPr lang="en-US" sz="1561" dirty="0"/>
          </a:p>
        </p:txBody>
      </p:sp>
      <p:sp>
        <p:nvSpPr>
          <p:cNvPr id="45" name="Text 43"/>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Record tokens</a:t>
            </a:r>
            <a:endParaRPr lang="en-US" sz="1441" dirty="0"/>
          </a:p>
        </p:txBody>
      </p:sp>
      <p:sp>
        <p:nvSpPr>
          <p:cNvPr id="46" name="Text 44"/>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seconds</a:t>
            </a:r>
            <a:endParaRPr lang="en-US" sz="1441" dirty="0"/>
          </a:p>
        </p:txBody>
      </p:sp>
      <p:sp>
        <p:nvSpPr>
          <p:cNvPr id="47" name="Text 45"/>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log</a:t>
            </a:r>
            <a:endParaRPr lang="en-US" sz="1441" dirty="0"/>
          </a:p>
        </p:txBody>
      </p:sp>
      <p:sp>
        <p:nvSpPr>
          <p:cNvPr id="48" name="Shape 46"/>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9" name="Text 47"/>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a:t>
            </a:r>
            <a:endParaRPr lang="en-US" sz="1561" dirty="0"/>
          </a:p>
        </p:txBody>
      </p:sp>
      <p:sp>
        <p:nvSpPr>
          <p:cNvPr id="50" name="Text 48"/>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thinking</a:t>
            </a:r>
            <a:endParaRPr lang="en-US" sz="1561" dirty="0"/>
          </a:p>
        </p:txBody>
      </p:sp>
      <p:sp>
        <p:nvSpPr>
          <p:cNvPr id="51" name="Text 49"/>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 finished</a:t>
            </a:r>
            <a:endParaRPr lang="en-US" sz="1441" dirty="0"/>
          </a:p>
        </p:txBody>
      </p:sp>
      <p:sp>
        <p:nvSpPr>
          <p:cNvPr id="52" name="Text 50"/>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final answers</a:t>
            </a:r>
            <a:endParaRPr lang="en-US" sz="1441" dirty="0"/>
          </a:p>
        </p:txBody>
      </p:sp>
      <p:sp>
        <p:nvSpPr>
          <p:cNvPr id="53" name="Text 51"/>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reason_df</a:t>
            </a:r>
            <a:endParaRPr lang="en-US" sz="1441" dirty="0"/>
          </a:p>
        </p:txBody>
      </p:sp>
      <p:sp>
        <p:nvSpPr>
          <p:cNvPr id="54" name="Shape 52"/>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5" name="Text 53"/>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6" name="Shape 54"/>
          <p:cNvSpPr/>
          <p:nvPr/>
        </p:nvSpPr>
        <p:spPr>
          <a:xfrm>
            <a:off x="2118929" y="5630979"/>
            <a:ext cx="198270" cy="198270"/>
          </a:xfrm>
          <a:prstGeom prst="rect">
            <a:avLst/>
          </a:prstGeom>
          <a:solidFill>
            <a:srgbClr val="E5F7EF"/>
          </a:solidFill>
          <a:ln w="15240">
            <a:solidFill>
              <a:srgbClr val="009E73"/>
            </a:solidFill>
            <a:prstDash val="solid"/>
          </a:ln>
        </p:spPr>
      </p:sp>
      <p:sp>
        <p:nvSpPr>
          <p:cNvPr id="57" name="Text 55"/>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8" name="Shape 56"/>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9" name="Text 57"/>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0" name="Shape 58"/>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1" name="Text 59"/>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2" name="Shape 60"/>
          <p:cNvSpPr/>
          <p:nvPr/>
        </p:nvSpPr>
        <p:spPr>
          <a:xfrm>
            <a:off x="5804824" y="5630979"/>
            <a:ext cx="198270" cy="198270"/>
          </a:xfrm>
          <a:prstGeom prst="rect">
            <a:avLst/>
          </a:prstGeom>
          <a:solidFill>
            <a:srgbClr val="F2F4F5"/>
          </a:solidFill>
          <a:ln w="15240">
            <a:solidFill>
              <a:srgbClr val="626B73"/>
            </a:solidFill>
            <a:prstDash val="solid"/>
          </a:ln>
        </p:spPr>
      </p:sp>
      <p:sp>
        <p:nvSpPr>
          <p:cNvPr id="63" name="Text 61"/>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4" name="Shape 62"/>
          <p:cNvSpPr/>
          <p:nvPr/>
        </p:nvSpPr>
        <p:spPr>
          <a:xfrm>
            <a:off x="7366714" y="5730113"/>
            <a:ext cx="335533" cy="0"/>
          </a:xfrm>
          <a:prstGeom prst="line">
            <a:avLst/>
          </a:prstGeom>
          <a:noFill/>
          <a:ln w="22860">
            <a:solidFill>
              <a:srgbClr val="009E73"/>
            </a:solidFill>
            <a:prstDash val="solid"/>
            <a:tailEnd type="triangle"/>
          </a:ln>
        </p:spPr>
      </p:sp>
      <p:sp>
        <p:nvSpPr>
          <p:cNvPr id="65" name="Text 63"/>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6" name="Text 6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lower perplexity from one tokenizer prove that its model answers questions better?</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6: compare LLM families and query a model</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Count token pieces.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BERT, T5 and decoder tasks.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Implement decoding filters.</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Measure predictability within each model.</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Log local or hosted calls.</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Check thinking-mode answers and costs.</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or CPU; API key optional. About 8 min on a laptop CPU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comparison tables, decoding implementation, perplexity results, API log and written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DC2626"/>
          </a:solidFill>
          <a:ln w="12700">
            <a:solidFill>
              <a:srgbClr val="DC2626"/>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Andrej Karpathy: Intro to Large Language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1 h overview: pre-training, post-training, risks</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Andrej Karpathy: Deep Dive into LLMs like ChatGPT</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3.5 h deep dive including reasoning models</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Cloud Tech: Introduction to large language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Short overview</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LLM Course, chapters 1–2</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Pipelines, models and tokenizers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Google ML Crash Course: Introduction to LLMs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Concise official module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Tunstall et al. (2022) NLP with Transformers, ch. 1 and 5</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Descriptor 7.9 reading</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Ozdemir (2023) Quick Start Guide to LLMs, part I</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Descriptor 7.9 supplementary</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Hoffmann et al. (2022) Training Compute-Optimal LLMs (Chinchilla)</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Scaling laws</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06  ·  LARGE LANGUAGE MODELS (LLMS) AND FAMILIES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we learned: language models</a:t>
            </a:r>
            <a:endParaRPr lang="en-US" sz="3200" dirty="0"/>
          </a:p>
        </p:txBody>
      </p:sp>
      <p:sp>
        <p:nvSpPr>
          <p:cNvPr id="6" name="Shape 4"/>
          <p:cNvSpPr/>
          <p:nvPr/>
        </p:nvSpPr>
        <p:spPr>
          <a:xfrm>
            <a:off x="946879" y="1630142"/>
            <a:ext cx="3323515" cy="1376531"/>
          </a:xfrm>
          <a:prstGeom prst="rect">
            <a:avLst/>
          </a:prstGeom>
          <a:solidFill>
            <a:srgbClr val="E5F7EF"/>
          </a:solidFill>
          <a:ln w="15240">
            <a:solidFill>
              <a:srgbClr val="009E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From counts to context</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Counts, vectors and recurrent</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memory led to contextual</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attention.</a:t>
            </a:r>
            <a:endParaRPr lang="en-US" sz="1523" dirty="0"/>
          </a:p>
        </p:txBody>
      </p:sp>
      <p:sp>
        <p:nvSpPr>
          <p:cNvPr id="11" name="Shape 9"/>
          <p:cNvSpPr/>
          <p:nvPr/>
        </p:nvSpPr>
        <p:spPr>
          <a:xfrm>
            <a:off x="4434090" y="1630142"/>
            <a:ext cx="3323515" cy="1376531"/>
          </a:xfrm>
          <a:prstGeom prst="roundRect">
            <a:avLst>
              <a:gd name="adj" fmla="val 5314"/>
            </a:avLst>
          </a:prstGeom>
          <a:solidFill>
            <a:srgbClr val="FFF0E6"/>
          </a:solidFill>
          <a:ln w="15240">
            <a:solidFill>
              <a:srgbClr val="D55E00"/>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Training stages</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Pre-training learns patterns;</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instructions and preferences</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shape replies.</a:t>
            </a:r>
            <a:endParaRPr lang="en-US" sz="1523" dirty="0"/>
          </a:p>
        </p:txBody>
      </p:sp>
      <p:sp>
        <p:nvSpPr>
          <p:cNvPr id="16" name="Shape 14"/>
          <p:cNvSpPr/>
          <p:nvPr/>
        </p:nvSpPr>
        <p:spPr>
          <a:xfrm>
            <a:off x="7921301" y="1630142"/>
            <a:ext cx="3323515" cy="1376531"/>
          </a:xfrm>
          <a:prstGeom prst="roundRect">
            <a:avLst>
              <a:gd name="adj" fmla="val 5314"/>
            </a:avLst>
          </a:prstGeom>
          <a:solidFill>
            <a:srgbClr val="E4F2FB"/>
          </a:solidFill>
          <a:ln w="15240">
            <a:solidFill>
              <a:srgbClr val="0072B2"/>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One request has limits</a:t>
            </a:r>
            <a:endParaRPr lang="en-US" sz="1758" dirty="0"/>
          </a:p>
        </p:txBody>
      </p:sp>
      <p:sp>
        <p:nvSpPr>
          <p:cNvPr id="18" name="Text 16"/>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Tokenisers differ; context and</a:t>
            </a:r>
            <a:endParaRPr lang="en-US" sz="1523" dirty="0"/>
          </a:p>
        </p:txBody>
      </p:sp>
      <p:sp>
        <p:nvSpPr>
          <p:cNvPr id="19" name="Text 17"/>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output budgets are finite.</a:t>
            </a:r>
            <a:endParaRPr lang="en-US" sz="1523" dirty="0"/>
          </a:p>
        </p:txBody>
      </p:sp>
      <p:sp>
        <p:nvSpPr>
          <p:cNvPr id="20" name="Shape 18"/>
          <p:cNvSpPr/>
          <p:nvPr/>
        </p:nvSpPr>
        <p:spPr>
          <a:xfrm>
            <a:off x="946879" y="3170368"/>
            <a:ext cx="3323515" cy="1376531"/>
          </a:xfrm>
          <a:prstGeom prst="rect">
            <a:avLst/>
          </a:prstGeom>
          <a:solidFill>
            <a:srgbClr val="E5F7EF"/>
          </a:solidFill>
          <a:ln w="15240">
            <a:solidFill>
              <a:srgbClr val="009E73"/>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Decode a next token</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Greedy, beam or sampling</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choose outputs from model</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scores.</a:t>
            </a:r>
            <a:endParaRPr lang="en-US" sz="1523" dirty="0"/>
          </a:p>
        </p:txBody>
      </p:sp>
      <p:sp>
        <p:nvSpPr>
          <p:cNvPr id="25" name="Shape 23"/>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Compare model families</a:t>
            </a:r>
            <a:endParaRPr lang="en-US" sz="1758" dirty="0"/>
          </a:p>
        </p:txBody>
      </p:sp>
      <p:sp>
        <p:nvSpPr>
          <p:cNvPr id="27" name="Text 25"/>
          <p:cNvSpPr txBox="1"/>
          <p:nvPr/>
        </p:nvSpPr>
        <p:spPr>
          <a:xfrm>
            <a:off x="456802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Architecture, access, size and</a:t>
            </a:r>
            <a:endParaRPr lang="en-US" sz="1523" dirty="0"/>
          </a:p>
        </p:txBody>
      </p:sp>
      <p:sp>
        <p:nvSpPr>
          <p:cNvPr id="28" name="Text 26"/>
          <p:cNvSpPr txBox="1"/>
          <p:nvPr/>
        </p:nvSpPr>
        <p:spPr>
          <a:xfrm>
            <a:off x="456802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thinking are different choices.</a:t>
            </a:r>
            <a:endParaRPr lang="en-US" sz="1523" dirty="0"/>
          </a:p>
        </p:txBody>
      </p:sp>
      <p:sp>
        <p:nvSpPr>
          <p:cNvPr id="29" name="Shape 27"/>
          <p:cNvSpPr/>
          <p:nvPr/>
        </p:nvSpPr>
        <p:spPr>
          <a:xfrm>
            <a:off x="7921301" y="3170368"/>
            <a:ext cx="3323515" cy="1376531"/>
          </a:xfrm>
          <a:prstGeom prst="rect">
            <a:avLst/>
          </a:prstGeom>
          <a:solidFill>
            <a:srgbClr val="F2F4F5"/>
          </a:solidFill>
          <a:ln w="15240">
            <a:solidFill>
              <a:srgbClr val="626B73"/>
            </a:solidFill>
            <a:prstDash val="solid"/>
          </a:ln>
        </p:spPr>
      </p:sp>
      <p:sp>
        <p:nvSpPr>
          <p:cNvPr id="30" name="Text 28"/>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Choose using evidence</a:t>
            </a:r>
            <a:endParaRPr lang="en-US" sz="1758" dirty="0"/>
          </a:p>
        </p:txBody>
      </p:sp>
      <p:sp>
        <p:nvSpPr>
          <p:cNvPr id="31" name="Text 29"/>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Read cards and licences;</a:t>
            </a:r>
            <a:endParaRPr lang="en-US" sz="1523" dirty="0"/>
          </a:p>
        </p:txBody>
      </p:sp>
      <p:sp>
        <p:nvSpPr>
          <p:cNvPr id="32" name="Text 30"/>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compare task quality, time, cost</a:t>
            </a:r>
            <a:endParaRPr lang="en-US" sz="1523" dirty="0"/>
          </a:p>
        </p:txBody>
      </p:sp>
      <p:sp>
        <p:nvSpPr>
          <p:cNvPr id="33" name="Text 31"/>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and failures.</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Top-p 0.8 keeps three candidates from [0.56, 0.21, 0.12, 0.08, 0.03].</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7 we write prompts and measure whether changes help.</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Does a longer thinking trace prove a better answer?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Large Language Models (LLMs) and families</dc:title>
  <dc:subject>Generative AI (MSc in Artificial Intelligence)</dc:subject>
  <dc:creator>Generative AI module team</dc:creator>
  <cp:lastModifiedBy>Generative AI module team</cp:lastModifiedBy>
  <cp:revision>1</cp:revision>
  <dcterms:created xsi:type="dcterms:W3CDTF">2026-10-10T07:30:56Z</dcterms:created>
  <dcterms:modified xsi:type="dcterms:W3CDTF">2026-10-10T07:30:56Z</dcterms:modified>
</cp:coreProperties>
</file>